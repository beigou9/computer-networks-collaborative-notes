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mp4" ContentType="video/mp4"/>
  <Default Extension="png" ContentType="image/png"/>
  <Default Extension="rels" ContentType="application/vnd.openxmlformats-package.relationships+xml"/>
  <Default Extension="svg" ContentType="image/svg+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notesSlides/notesSlide6.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1"/>
  </p:sldMasterIdLst>
  <p:notesMasterIdLst>
    <p:notesMasterId r:id="rId257"/>
  </p:notesMasterIdLst>
  <p:sldIdLst>
    <p:sldId id="1014" r:id="rId2"/>
    <p:sldId id="1015" r:id="rId3"/>
    <p:sldId id="1304" r:id="rId4"/>
    <p:sldId id="1506" r:id="rId5"/>
    <p:sldId id="1507" r:id="rId6"/>
    <p:sldId id="1508" r:id="rId7"/>
    <p:sldId id="1509" r:id="rId8"/>
    <p:sldId id="1510" r:id="rId9"/>
    <p:sldId id="1511" r:id="rId10"/>
    <p:sldId id="1512" r:id="rId11"/>
    <p:sldId id="1839" r:id="rId12"/>
    <p:sldId id="1840" r:id="rId13"/>
    <p:sldId id="1513" r:id="rId14"/>
    <p:sldId id="1514" r:id="rId15"/>
    <p:sldId id="1616" r:id="rId16"/>
    <p:sldId id="1617" r:id="rId17"/>
    <p:sldId id="1618" r:id="rId18"/>
    <p:sldId id="1619" r:id="rId19"/>
    <p:sldId id="1620" r:id="rId20"/>
    <p:sldId id="1623" r:id="rId21"/>
    <p:sldId id="1624" r:id="rId22"/>
    <p:sldId id="1625" r:id="rId23"/>
    <p:sldId id="1626" r:id="rId24"/>
    <p:sldId id="1627" r:id="rId25"/>
    <p:sldId id="1628" r:id="rId26"/>
    <p:sldId id="1629" r:id="rId27"/>
    <p:sldId id="1716" r:id="rId28"/>
    <p:sldId id="1717" r:id="rId29"/>
    <p:sldId id="1718" r:id="rId30"/>
    <p:sldId id="1719" r:id="rId31"/>
    <p:sldId id="1720" r:id="rId32"/>
    <p:sldId id="1721" r:id="rId33"/>
    <p:sldId id="1722" r:id="rId34"/>
    <p:sldId id="1723" r:id="rId35"/>
    <p:sldId id="1724" r:id="rId36"/>
    <p:sldId id="1725" r:id="rId37"/>
    <p:sldId id="1726" r:id="rId38"/>
    <p:sldId id="1727" r:id="rId39"/>
    <p:sldId id="1728" r:id="rId40"/>
    <p:sldId id="1729" r:id="rId41"/>
    <p:sldId id="1730" r:id="rId42"/>
    <p:sldId id="1731" r:id="rId43"/>
    <p:sldId id="1732" r:id="rId44"/>
    <p:sldId id="1733" r:id="rId45"/>
    <p:sldId id="1734" r:id="rId46"/>
    <p:sldId id="1735" r:id="rId47"/>
    <p:sldId id="1736" r:id="rId48"/>
    <p:sldId id="1737" r:id="rId49"/>
    <p:sldId id="1738" r:id="rId50"/>
    <p:sldId id="1739" r:id="rId51"/>
    <p:sldId id="1740" r:id="rId52"/>
    <p:sldId id="1741" r:id="rId53"/>
    <p:sldId id="1742" r:id="rId54"/>
    <p:sldId id="1743" r:id="rId55"/>
    <p:sldId id="1744" r:id="rId56"/>
    <p:sldId id="1745" r:id="rId57"/>
    <p:sldId id="1746" r:id="rId58"/>
    <p:sldId id="1747" r:id="rId59"/>
    <p:sldId id="1748" r:id="rId60"/>
    <p:sldId id="1749" r:id="rId61"/>
    <p:sldId id="1750" r:id="rId62"/>
    <p:sldId id="1751" r:id="rId63"/>
    <p:sldId id="1752" r:id="rId64"/>
    <p:sldId id="1753" r:id="rId65"/>
    <p:sldId id="1754" r:id="rId66"/>
    <p:sldId id="1755" r:id="rId67"/>
    <p:sldId id="1756" r:id="rId68"/>
    <p:sldId id="1757" r:id="rId69"/>
    <p:sldId id="1758" r:id="rId70"/>
    <p:sldId id="1759" r:id="rId71"/>
    <p:sldId id="1760" r:id="rId72"/>
    <p:sldId id="1761" r:id="rId73"/>
    <p:sldId id="1762" r:id="rId74"/>
    <p:sldId id="1763" r:id="rId75"/>
    <p:sldId id="1764" r:id="rId76"/>
    <p:sldId id="1765" r:id="rId77"/>
    <p:sldId id="1766" r:id="rId78"/>
    <p:sldId id="1767" r:id="rId79"/>
    <p:sldId id="1768" r:id="rId80"/>
    <p:sldId id="1769" r:id="rId81"/>
    <p:sldId id="1770" r:id="rId82"/>
    <p:sldId id="1771" r:id="rId83"/>
    <p:sldId id="1790" r:id="rId84"/>
    <p:sldId id="1796" r:id="rId85"/>
    <p:sldId id="1791" r:id="rId86"/>
    <p:sldId id="1787" r:id="rId87"/>
    <p:sldId id="1788" r:id="rId88"/>
    <p:sldId id="1789" r:id="rId89"/>
    <p:sldId id="1792" r:id="rId90"/>
    <p:sldId id="1793" r:id="rId91"/>
    <p:sldId id="1794" r:id="rId92"/>
    <p:sldId id="1772" r:id="rId93"/>
    <p:sldId id="1795" r:id="rId94"/>
    <p:sldId id="1773" r:id="rId95"/>
    <p:sldId id="1777" r:id="rId96"/>
    <p:sldId id="1778" r:id="rId97"/>
    <p:sldId id="1779" r:id="rId98"/>
    <p:sldId id="1783" r:id="rId99"/>
    <p:sldId id="1784" r:id="rId100"/>
    <p:sldId id="1785" r:id="rId101"/>
    <p:sldId id="1786" r:id="rId102"/>
    <p:sldId id="1797" r:id="rId103"/>
    <p:sldId id="1798" r:id="rId104"/>
    <p:sldId id="1831" r:id="rId105"/>
    <p:sldId id="1828" r:id="rId106"/>
    <p:sldId id="1832" r:id="rId107"/>
    <p:sldId id="1833" r:id="rId108"/>
    <p:sldId id="1834" r:id="rId109"/>
    <p:sldId id="1835" r:id="rId110"/>
    <p:sldId id="1836" r:id="rId111"/>
    <p:sldId id="1837" r:id="rId112"/>
    <p:sldId id="1829" r:id="rId113"/>
    <p:sldId id="1838" r:id="rId114"/>
    <p:sldId id="1830" r:id="rId115"/>
    <p:sldId id="1504" r:id="rId116"/>
    <p:sldId id="1464" r:id="rId117"/>
    <p:sldId id="1691" r:id="rId118"/>
    <p:sldId id="1692" r:id="rId119"/>
    <p:sldId id="1693" r:id="rId120"/>
    <p:sldId id="1468" r:id="rId121"/>
    <p:sldId id="1469" r:id="rId122"/>
    <p:sldId id="1694" r:id="rId123"/>
    <p:sldId id="1471" r:id="rId124"/>
    <p:sldId id="1472" r:id="rId125"/>
    <p:sldId id="1473" r:id="rId126"/>
    <p:sldId id="1505" r:id="rId127"/>
    <p:sldId id="1695" r:id="rId128"/>
    <p:sldId id="1476" r:id="rId129"/>
    <p:sldId id="1477" r:id="rId130"/>
    <p:sldId id="1478" r:id="rId131"/>
    <p:sldId id="1479" r:id="rId132"/>
    <p:sldId id="1480" r:id="rId133"/>
    <p:sldId id="1481" r:id="rId134"/>
    <p:sldId id="1482" r:id="rId135"/>
    <p:sldId id="1483" r:id="rId136"/>
    <p:sldId id="1484" r:id="rId137"/>
    <p:sldId id="1485" r:id="rId138"/>
    <p:sldId id="1486" r:id="rId139"/>
    <p:sldId id="1683" r:id="rId140"/>
    <p:sldId id="1488" r:id="rId141"/>
    <p:sldId id="1684" r:id="rId142"/>
    <p:sldId id="1685" r:id="rId143"/>
    <p:sldId id="1491" r:id="rId144"/>
    <p:sldId id="1492" r:id="rId145"/>
    <p:sldId id="1493" r:id="rId146"/>
    <p:sldId id="1494" r:id="rId147"/>
    <p:sldId id="1495" r:id="rId148"/>
    <p:sldId id="1496" r:id="rId149"/>
    <p:sldId id="1497" r:id="rId150"/>
    <p:sldId id="1498" r:id="rId151"/>
    <p:sldId id="1499" r:id="rId152"/>
    <p:sldId id="1500" r:id="rId153"/>
    <p:sldId id="1501" r:id="rId154"/>
    <p:sldId id="1686" r:id="rId155"/>
    <p:sldId id="1503" r:id="rId156"/>
    <p:sldId id="1567" r:id="rId157"/>
    <p:sldId id="1530" r:id="rId158"/>
    <p:sldId id="1531" r:id="rId159"/>
    <p:sldId id="1532" r:id="rId160"/>
    <p:sldId id="1533" r:id="rId161"/>
    <p:sldId id="1534" r:id="rId162"/>
    <p:sldId id="1535" r:id="rId163"/>
    <p:sldId id="1536" r:id="rId164"/>
    <p:sldId id="1537" r:id="rId165"/>
    <p:sldId id="1538" r:id="rId166"/>
    <p:sldId id="1539" r:id="rId167"/>
    <p:sldId id="1540" r:id="rId168"/>
    <p:sldId id="1541" r:id="rId169"/>
    <p:sldId id="1542" r:id="rId170"/>
    <p:sldId id="1543" r:id="rId171"/>
    <p:sldId id="1544" r:id="rId172"/>
    <p:sldId id="1545" r:id="rId173"/>
    <p:sldId id="1546" r:id="rId174"/>
    <p:sldId id="1547" r:id="rId175"/>
    <p:sldId id="1548" r:id="rId176"/>
    <p:sldId id="1687" r:id="rId177"/>
    <p:sldId id="1550" r:id="rId178"/>
    <p:sldId id="1551" r:id="rId179"/>
    <p:sldId id="1688" r:id="rId180"/>
    <p:sldId id="1689" r:id="rId181"/>
    <p:sldId id="1690" r:id="rId182"/>
    <p:sldId id="1555" r:id="rId183"/>
    <p:sldId id="1556" r:id="rId184"/>
    <p:sldId id="1557" r:id="rId185"/>
    <p:sldId id="1558" r:id="rId186"/>
    <p:sldId id="1696" r:id="rId187"/>
    <p:sldId id="1697" r:id="rId188"/>
    <p:sldId id="1698" r:id="rId189"/>
    <p:sldId id="1699" r:id="rId190"/>
    <p:sldId id="1700" r:id="rId191"/>
    <p:sldId id="1701" r:id="rId192"/>
    <p:sldId id="1565" r:id="rId193"/>
    <p:sldId id="1566" r:id="rId194"/>
    <p:sldId id="1407" r:id="rId195"/>
    <p:sldId id="1353" r:id="rId196"/>
    <p:sldId id="1354" r:id="rId197"/>
    <p:sldId id="1355" r:id="rId198"/>
    <p:sldId id="1356" r:id="rId199"/>
    <p:sldId id="1357" r:id="rId200"/>
    <p:sldId id="1358" r:id="rId201"/>
    <p:sldId id="1372" r:id="rId202"/>
    <p:sldId id="1799" r:id="rId203"/>
    <p:sldId id="1800" r:id="rId204"/>
    <p:sldId id="1801" r:id="rId205"/>
    <p:sldId id="1802" r:id="rId206"/>
    <p:sldId id="1803" r:id="rId207"/>
    <p:sldId id="1804" r:id="rId208"/>
    <p:sldId id="1805" r:id="rId209"/>
    <p:sldId id="1806" r:id="rId210"/>
    <p:sldId id="1807" r:id="rId211"/>
    <p:sldId id="1808" r:id="rId212"/>
    <p:sldId id="1809" r:id="rId213"/>
    <p:sldId id="1810" r:id="rId214"/>
    <p:sldId id="1811" r:id="rId215"/>
    <p:sldId id="1812" r:id="rId216"/>
    <p:sldId id="1813" r:id="rId217"/>
    <p:sldId id="1814" r:id="rId218"/>
    <p:sldId id="1815" r:id="rId219"/>
    <p:sldId id="1816" r:id="rId220"/>
    <p:sldId id="1817" r:id="rId221"/>
    <p:sldId id="1818" r:id="rId222"/>
    <p:sldId id="1819" r:id="rId223"/>
    <p:sldId id="1820" r:id="rId224"/>
    <p:sldId id="1821" r:id="rId225"/>
    <p:sldId id="1822" r:id="rId226"/>
    <p:sldId id="1823" r:id="rId227"/>
    <p:sldId id="1824" r:id="rId228"/>
    <p:sldId id="1825" r:id="rId229"/>
    <p:sldId id="1826" r:id="rId230"/>
    <p:sldId id="1827" r:id="rId231"/>
    <p:sldId id="1593" r:id="rId232"/>
    <p:sldId id="1569" r:id="rId233"/>
    <p:sldId id="1570" r:id="rId234"/>
    <p:sldId id="1571" r:id="rId235"/>
    <p:sldId id="1572" r:id="rId236"/>
    <p:sldId id="1573" r:id="rId237"/>
    <p:sldId id="1574" r:id="rId238"/>
    <p:sldId id="1575" r:id="rId239"/>
    <p:sldId id="1682" r:id="rId240"/>
    <p:sldId id="1577" r:id="rId241"/>
    <p:sldId id="1578" r:id="rId242"/>
    <p:sldId id="1579" r:id="rId243"/>
    <p:sldId id="1580" r:id="rId244"/>
    <p:sldId id="1581" r:id="rId245"/>
    <p:sldId id="1582" r:id="rId246"/>
    <p:sldId id="1583" r:id="rId247"/>
    <p:sldId id="1584" r:id="rId248"/>
    <p:sldId id="1585" r:id="rId249"/>
    <p:sldId id="1586" r:id="rId250"/>
    <p:sldId id="1587" r:id="rId251"/>
    <p:sldId id="1588" r:id="rId252"/>
    <p:sldId id="1589" r:id="rId253"/>
    <p:sldId id="1590" r:id="rId254"/>
    <p:sldId id="1591" r:id="rId255"/>
    <p:sldId id="1592" r:id="rId256"/>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66"/>
    <a:srgbClr val="5B307E"/>
    <a:srgbClr val="FDCB0B"/>
    <a:srgbClr val="FFD700"/>
    <a:srgbClr val="F9BC12"/>
    <a:srgbClr val="FFD801"/>
    <a:srgbClr val="EFB914"/>
    <a:srgbClr val="F5BD15"/>
    <a:srgbClr val="F8BF15"/>
    <a:srgbClr val="FEC60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1011" autoAdjust="0"/>
    <p:restoredTop sz="84552" autoAdjust="0"/>
  </p:normalViewPr>
  <p:slideViewPr>
    <p:cSldViewPr snapToGrid="0" snapToObjects="1">
      <p:cViewPr varScale="1">
        <p:scale>
          <a:sx n="50" d="100"/>
          <a:sy n="50" d="100"/>
        </p:scale>
        <p:origin x="28" y="980"/>
      </p:cViewPr>
      <p:guideLst/>
    </p:cSldViewPr>
  </p:slideViewPr>
  <p:outlineViewPr>
    <p:cViewPr>
      <p:scale>
        <a:sx n="33" d="100"/>
        <a:sy n="33" d="100"/>
      </p:scale>
      <p:origin x="0" y="-2640"/>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presProps" Target="pres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viewProps" Target="viewProps.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theme" Target="theme/theme1.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tableStyles" Target="tableStyles.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notesMaster" Target="notesMasters/notesMaster1.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5E8472-67E5-DE40-B53F-0C0FEA434AA0}" type="datetimeFigureOut">
              <a:rPr kumimoji="1" lang="zh-CN" altLang="en-US" smtClean="0"/>
              <a:t>2025/11/30</a:t>
            </a:fld>
            <a:endParaRPr kumimoji="1"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40B8802-914A-7C41-BC77-CC54DEE99EEF}" type="slidenum">
              <a:rPr kumimoji="1" lang="zh-CN" altLang="en-US" smtClean="0"/>
              <a:t>‹#›</a:t>
            </a:fld>
            <a:endParaRPr kumimoji="1" lang="zh-CN" altLang="en-US"/>
          </a:p>
        </p:txBody>
      </p:sp>
    </p:spTree>
    <p:extLst>
      <p:ext uri="{BB962C8B-B14F-4D97-AF65-F5344CB8AC3E}">
        <p14:creationId xmlns:p14="http://schemas.microsoft.com/office/powerpoint/2010/main" val="39560254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3" Type="http://schemas.openxmlformats.org/officeDocument/2006/relationships/hyperlink" Target="https://baike.baidu.com/item/%E8%B7%AF%E7%94%B1%E5%99%A8/108294" TargetMode="External"/><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3" Type="http://schemas.openxmlformats.org/officeDocument/2006/relationships/hyperlink" Target="https://baike.baidu.com/item/%E7%BD%91%E7%BB%9C%E6%A8%A1%E5%9E%8B" TargetMode="External"/><Relationship Id="rId2" Type="http://schemas.openxmlformats.org/officeDocument/2006/relationships/slide" Target="../slides/slide245.xml"/><Relationship Id="rId1" Type="http://schemas.openxmlformats.org/officeDocument/2006/relationships/notesMaster" Target="../notesMasters/notesMaster1.xml"/><Relationship Id="rId4" Type="http://schemas.openxmlformats.org/officeDocument/2006/relationships/hyperlink" Target="https://baike.baidu.com/item/%E6%95%B0%E6%8D%AE%E5%8C%85" TargetMode="Externa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3" Type="http://schemas.openxmlformats.org/officeDocument/2006/relationships/hyperlink" Target="https://baike.baidu.com/item/%E8%B7%AF%E7%94%B1%E5%99%A8" TargetMode="External"/><Relationship Id="rId2" Type="http://schemas.openxmlformats.org/officeDocument/2006/relationships/slide" Target="../slides/slide249.xml"/><Relationship Id="rId1" Type="http://schemas.openxmlformats.org/officeDocument/2006/relationships/notesMaster" Target="../notesMasters/notesMaster1.xml"/><Relationship Id="rId4" Type="http://schemas.openxmlformats.org/officeDocument/2006/relationships/hyperlink" Target="https://baike.baidu.com/item/%E9%98%B2%E7%81%AB%E5%A2%99/52767" TargetMode="Externa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a:t>
            </a:fld>
            <a:endParaRPr kumimoji="1" lang="zh-CN" altLang="en-US"/>
          </a:p>
        </p:txBody>
      </p:sp>
    </p:spTree>
    <p:extLst>
      <p:ext uri="{BB962C8B-B14F-4D97-AF65-F5344CB8AC3E}">
        <p14:creationId xmlns:p14="http://schemas.microsoft.com/office/powerpoint/2010/main" val="9094663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lvl="1">
              <a:lnSpc>
                <a:spcPct val="120000"/>
              </a:lnSpc>
              <a:buClr>
                <a:srgbClr val="0070C0"/>
              </a:buClr>
            </a:pPr>
            <a:r>
              <a:rPr lang="zh-CN" altLang="en-US" dirty="0">
                <a:latin typeface="+mn-ea"/>
              </a:rPr>
              <a:t>所传送的分组可能出错、丢失、重复和失序等差错 </a:t>
            </a:r>
          </a:p>
          <a:p>
            <a:pPr lvl="1">
              <a:lnSpc>
                <a:spcPct val="120000"/>
              </a:lnSpc>
              <a:buClr>
                <a:srgbClr val="0070C0"/>
              </a:buClr>
            </a:pPr>
            <a:r>
              <a:rPr lang="zh-CN" altLang="en-US" dirty="0">
                <a:latin typeface="+mn-ea"/>
              </a:rPr>
              <a:t>由网络的</a:t>
            </a:r>
            <a:r>
              <a:rPr lang="zh-CN" altLang="en-US" dirty="0">
                <a:solidFill>
                  <a:srgbClr val="0000FF"/>
                </a:solidFill>
                <a:latin typeface="+mn-ea"/>
              </a:rPr>
              <a:t>主机中的运输层负责可靠交付（包括差错处理、流量控制等）</a:t>
            </a:r>
            <a:endParaRPr lang="zh-CN" altLang="en-US" dirty="0">
              <a:latin typeface="+mn-ea"/>
            </a:endParaRP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a:t>
            </a:fld>
            <a:endParaRPr kumimoji="1" lang="zh-CN" altLang="en-US"/>
          </a:p>
        </p:txBody>
      </p:sp>
    </p:spTree>
    <p:extLst>
      <p:ext uri="{BB962C8B-B14F-4D97-AF65-F5344CB8AC3E}">
        <p14:creationId xmlns:p14="http://schemas.microsoft.com/office/powerpoint/2010/main" val="186812166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此图示意在某些特殊情况下（例如设备故障、状态改变、链路变化等），分组可能通过一些策略选择不同的路径到达目的地。</a:t>
            </a:r>
            <a:endParaRPr lang="en-US" altLang="zh-CN" dirty="0"/>
          </a:p>
          <a:p>
            <a:r>
              <a:rPr lang="zh-CN" altLang="en-US" dirty="0"/>
              <a:t>在网络不可靠的情况下，这种方法可能会显示出灵活性。</a:t>
            </a:r>
            <a:endParaRPr lang="en-US" altLang="zh-CN" dirty="0"/>
          </a:p>
          <a:p>
            <a:r>
              <a:rPr lang="zh-CN" altLang="en-US" dirty="0"/>
              <a:t>但不可避免的，会带来额外的开销（例如对路径的选择、对失序分组的重新排列等）。</a:t>
            </a:r>
            <a:endParaRPr lang="en-US" altLang="zh-CN" dirty="0"/>
          </a:p>
          <a:p>
            <a:r>
              <a:rPr lang="zh-CN" altLang="en-US" dirty="0"/>
              <a:t>所以一般情况下，路径仍然是相对固定的，并不会随意地向各个下一跳发送分组。</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11</a:t>
            </a:fld>
            <a:endParaRPr kumimoji="1" lang="zh-CN" altLang="en-US"/>
          </a:p>
        </p:txBody>
      </p:sp>
    </p:spTree>
    <p:extLst>
      <p:ext uri="{BB962C8B-B14F-4D97-AF65-F5344CB8AC3E}">
        <p14:creationId xmlns:p14="http://schemas.microsoft.com/office/powerpoint/2010/main" val="270494954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12</a:t>
            </a:fld>
            <a:endParaRPr kumimoji="1" lang="zh-CN" altLang="en-US"/>
          </a:p>
        </p:txBody>
      </p:sp>
    </p:spTree>
    <p:extLst>
      <p:ext uri="{BB962C8B-B14F-4D97-AF65-F5344CB8AC3E}">
        <p14:creationId xmlns:p14="http://schemas.microsoft.com/office/powerpoint/2010/main" val="169089045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第一种方法和第二种方法，主要体现转发策略的不同，以及理论上可能造成的转发结果。</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15</a:t>
            </a:fld>
            <a:endParaRPr kumimoji="1" lang="zh-CN" altLang="en-US"/>
          </a:p>
        </p:txBody>
      </p:sp>
    </p:spTree>
    <p:extLst>
      <p:ext uri="{BB962C8B-B14F-4D97-AF65-F5344CB8AC3E}">
        <p14:creationId xmlns:p14="http://schemas.microsoft.com/office/powerpoint/2010/main" val="13786781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面向连接的服务，以虚电路为例，有三个阶段</a:t>
            </a:r>
            <a:endParaRPr lang="en-US" altLang="zh-CN" dirty="0"/>
          </a:p>
          <a:p>
            <a:r>
              <a:rPr lang="en-US" altLang="zh-CN" dirty="0"/>
              <a:t>1</a:t>
            </a:r>
            <a:r>
              <a:rPr lang="zh-CN" altLang="en-US" dirty="0"/>
              <a:t>、建立连接</a:t>
            </a:r>
            <a:endParaRPr lang="en-US" altLang="zh-CN" dirty="0"/>
          </a:p>
          <a:p>
            <a:r>
              <a:rPr lang="en-US" altLang="zh-CN" dirty="0"/>
              <a:t>2</a:t>
            </a:r>
            <a:r>
              <a:rPr lang="zh-CN" altLang="en-US" dirty="0"/>
              <a:t>、发送数据</a:t>
            </a:r>
            <a:endParaRPr lang="en-US" altLang="zh-CN" dirty="0"/>
          </a:p>
          <a:p>
            <a:r>
              <a:rPr lang="en-US" altLang="zh-CN" dirty="0"/>
              <a:t>3</a:t>
            </a:r>
            <a:r>
              <a:rPr lang="zh-CN" altLang="en-US" dirty="0"/>
              <a:t>、释放连接</a:t>
            </a:r>
            <a:endParaRPr lang="en-US" altLang="zh-CN" dirty="0"/>
          </a:p>
          <a:p>
            <a:endParaRPr lang="en-US" altLang="zh-CN" dirty="0"/>
          </a:p>
          <a:p>
            <a:r>
              <a:rPr lang="zh-CN" altLang="en-US" dirty="0"/>
              <a:t>建立连接的目的，一方面是为了实现端到端的资源预留，在这种设定下，资源是专用的，即时空闲也不与其他连接共享；另一方面是在设备上生成端口对应的转发标签</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17</a:t>
            </a:fld>
            <a:endParaRPr kumimoji="1" lang="zh-CN" altLang="en-US"/>
          </a:p>
        </p:txBody>
      </p:sp>
    </p:spTree>
    <p:extLst>
      <p:ext uri="{BB962C8B-B14F-4D97-AF65-F5344CB8AC3E}">
        <p14:creationId xmlns:p14="http://schemas.microsoft.com/office/powerpoint/2010/main" val="6655874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第二阶段，发送数据，数据报根据标签进行转发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18</a:t>
            </a:fld>
            <a:endParaRPr kumimoji="1" lang="zh-CN" altLang="en-US"/>
          </a:p>
        </p:txBody>
      </p:sp>
    </p:spTree>
    <p:extLst>
      <p:ext uri="{BB962C8B-B14F-4D97-AF65-F5344CB8AC3E}">
        <p14:creationId xmlns:p14="http://schemas.microsoft.com/office/powerpoint/2010/main" val="41907726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第三阶段，释放连接，包括两个步骤：</a:t>
            </a:r>
            <a:endParaRPr lang="en-US" altLang="zh-CN" dirty="0"/>
          </a:p>
          <a:p>
            <a:r>
              <a:rPr lang="en-US" altLang="zh-CN" dirty="0"/>
              <a:t>1</a:t>
            </a:r>
            <a:r>
              <a:rPr lang="zh-CN" altLang="en-US" dirty="0"/>
              <a:t>、通过拆除分组发送释放连接的请求</a:t>
            </a:r>
            <a:endParaRPr lang="en-US" altLang="zh-CN" dirty="0"/>
          </a:p>
          <a:p>
            <a:r>
              <a:rPr lang="en-US" altLang="zh-CN" dirty="0"/>
              <a:t>2</a:t>
            </a:r>
            <a:r>
              <a:rPr lang="zh-CN" altLang="en-US" dirty="0"/>
              <a:t>、通过确认分组，确认释放连接</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a:t>
            </a:fld>
            <a:endParaRPr kumimoji="1" lang="zh-CN" altLang="en-US"/>
          </a:p>
        </p:txBody>
      </p:sp>
    </p:spTree>
    <p:extLst>
      <p:ext uri="{BB962C8B-B14F-4D97-AF65-F5344CB8AC3E}">
        <p14:creationId xmlns:p14="http://schemas.microsoft.com/office/powerpoint/2010/main" val="27000619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对比内容授课教师可根据不同资料进行增删</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a:t>
            </a:fld>
            <a:endParaRPr kumimoji="1" lang="zh-CN" altLang="en-US"/>
          </a:p>
        </p:txBody>
      </p:sp>
    </p:spTree>
    <p:extLst>
      <p:ext uri="{BB962C8B-B14F-4D97-AF65-F5344CB8AC3E}">
        <p14:creationId xmlns:p14="http://schemas.microsoft.com/office/powerpoint/2010/main" val="39710499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虚电路和数据报各有自身优点，必须在一定的条件下，才能对两种方法进行比较</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a:t>
            </a:fld>
            <a:endParaRPr kumimoji="1" lang="zh-CN" altLang="en-US"/>
          </a:p>
        </p:txBody>
      </p:sp>
    </p:spTree>
    <p:extLst>
      <p:ext uri="{BB962C8B-B14F-4D97-AF65-F5344CB8AC3E}">
        <p14:creationId xmlns:p14="http://schemas.microsoft.com/office/powerpoint/2010/main" val="241250793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第一个例子，从性能角度比较</a:t>
            </a:r>
            <a:endParaRPr lang="en-US" altLang="zh-CN" dirty="0"/>
          </a:p>
          <a:p>
            <a:r>
              <a:rPr lang="zh-CN" altLang="en-US" dirty="0"/>
              <a:t>恒定速率下，虚电路服务优势是比较明显的，服务质量可以得到保证。</a:t>
            </a:r>
            <a:endParaRPr lang="en-US" altLang="zh-CN" dirty="0"/>
          </a:p>
          <a:p>
            <a:r>
              <a:rPr lang="zh-CN" altLang="en-US" dirty="0"/>
              <a:t>由此可见，在流量恒定的情况下，虚电路服务的性能是更好的。</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22</a:t>
            </a:fld>
            <a:endParaRPr kumimoji="1" lang="zh-CN" altLang="en-US"/>
          </a:p>
        </p:txBody>
      </p:sp>
    </p:spTree>
    <p:extLst>
      <p:ext uri="{BB962C8B-B14F-4D97-AF65-F5344CB8AC3E}">
        <p14:creationId xmlns:p14="http://schemas.microsoft.com/office/powerpoint/2010/main" val="306104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但是在突发流量的情况下，使用虚电路服务则可能无法保证服务质量。在预留资源确定的情况下，一个选择是丢掉一部分数据。</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a:t>
            </a:fld>
            <a:endParaRPr kumimoji="1" lang="zh-CN" altLang="en-US"/>
          </a:p>
        </p:txBody>
      </p:sp>
    </p:spTree>
    <p:extLst>
      <p:ext uri="{BB962C8B-B14F-4D97-AF65-F5344CB8AC3E}">
        <p14:creationId xmlns:p14="http://schemas.microsoft.com/office/powerpoint/2010/main" val="158266391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在突发流量的情况下，如果采用数据报服务，对链路的分时复用可使得性能完全不受影响，每个突发流量都能得到足够的带宽。</a:t>
            </a:r>
            <a:endParaRPr lang="en-US" altLang="zh-CN" dirty="0"/>
          </a:p>
          <a:p>
            <a:r>
              <a:rPr lang="zh-CN" altLang="en-US" dirty="0"/>
              <a:t>由此可见，若网络中的突发流量情况较多，数据报服务更有优势。</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a:t>
            </a:fld>
            <a:endParaRPr kumimoji="1" lang="zh-CN" altLang="en-US"/>
          </a:p>
        </p:txBody>
      </p:sp>
    </p:spTree>
    <p:extLst>
      <p:ext uri="{BB962C8B-B14F-4D97-AF65-F5344CB8AC3E}">
        <p14:creationId xmlns:p14="http://schemas.microsoft.com/office/powerpoint/2010/main" val="8385747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第二个例子，从发送效率角度比较。</a:t>
            </a:r>
            <a:endParaRPr lang="en-US" altLang="zh-CN" dirty="0"/>
          </a:p>
          <a:p>
            <a:r>
              <a:rPr lang="zh-CN" altLang="en-US" dirty="0"/>
              <a:t>两种不同的方法，造成的时延是不相同的。</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a:t>
            </a:fld>
            <a:endParaRPr kumimoji="1" lang="zh-CN" altLang="en-US"/>
          </a:p>
        </p:txBody>
      </p:sp>
    </p:spTree>
    <p:extLst>
      <p:ext uri="{BB962C8B-B14F-4D97-AF65-F5344CB8AC3E}">
        <p14:creationId xmlns:p14="http://schemas.microsoft.com/office/powerpoint/2010/main" val="42186630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网络的发展、网络应用的发展，使得网络在选择采用面向连接的或无连接服务时，在不同时代有不同的倾向。</a:t>
            </a:r>
            <a:endParaRPr lang="en-US" altLang="zh-CN" dirty="0"/>
          </a:p>
          <a:p>
            <a:r>
              <a:rPr lang="zh-CN" altLang="en-US" dirty="0"/>
              <a:t>最终分组交换成为了默认的服务方式，但这并不代表面向连接的方式被淘汰了，因为服务质量变得越来越重要，人们必须在某些情况下使用面向连接的技术。</a:t>
            </a:r>
            <a:endParaRPr lang="en-US" altLang="zh-CN" dirty="0"/>
          </a:p>
          <a:p>
            <a:r>
              <a:rPr lang="zh-CN" altLang="en-US" dirty="0"/>
              <a:t>那么到底那种方式更好呢？可引导学生总结思考，在不同条件下的情况。</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26</a:t>
            </a:fld>
            <a:endParaRPr kumimoji="1" lang="zh-CN" altLang="en-US"/>
          </a:p>
        </p:txBody>
      </p:sp>
    </p:spTree>
    <p:extLst>
      <p:ext uri="{BB962C8B-B14F-4D97-AF65-F5344CB8AC3E}">
        <p14:creationId xmlns:p14="http://schemas.microsoft.com/office/powerpoint/2010/main" val="2011929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zh-CN" altLang="en-US" dirty="0"/>
              <a:t>路由 </a:t>
            </a:r>
            <a:r>
              <a:rPr lang="en-US" altLang="zh-CN" dirty="0"/>
              <a:t>VS. </a:t>
            </a:r>
            <a:r>
              <a:rPr lang="zh-CN" altLang="en-US" dirty="0"/>
              <a:t>转发 </a:t>
            </a:r>
          </a:p>
        </p:txBody>
      </p:sp>
    </p:spTree>
    <p:extLst>
      <p:ext uri="{BB962C8B-B14F-4D97-AF65-F5344CB8AC3E}">
        <p14:creationId xmlns:p14="http://schemas.microsoft.com/office/powerpoint/2010/main" val="12696746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marL="0" marR="0" lvl="1" indent="0" algn="l" defTabSz="914400" rtl="0" eaLnBrk="1" fontAlgn="auto" latinLnBrk="0" hangingPunct="1">
              <a:lnSpc>
                <a:spcPct val="100000"/>
              </a:lnSpc>
              <a:spcBef>
                <a:spcPts val="0"/>
              </a:spcBef>
              <a:spcAft>
                <a:spcPts val="0"/>
              </a:spcAft>
              <a:buClrTx/>
              <a:buSzTx/>
              <a:buFontTx/>
              <a:buNone/>
              <a:defRPr/>
            </a:pPr>
            <a:r>
              <a:rPr kumimoji="1" lang="zh-CN" altLang="en-US" dirty="0"/>
              <a:t>最优路径：若路由器</a:t>
            </a:r>
            <a:r>
              <a:rPr kumimoji="1" lang="en-US" altLang="zh-CN" dirty="0"/>
              <a:t>I</a:t>
            </a:r>
            <a:r>
              <a:rPr kumimoji="1" lang="zh-CN" altLang="en-US" dirty="0"/>
              <a:t>在从路由器</a:t>
            </a:r>
            <a:r>
              <a:rPr kumimoji="1" lang="en-US" altLang="zh-CN" dirty="0"/>
              <a:t>J</a:t>
            </a:r>
            <a:r>
              <a:rPr kumimoji="1" lang="zh-CN" altLang="en-US" dirty="0"/>
              <a:t>到路由器</a:t>
            </a:r>
            <a:r>
              <a:rPr kumimoji="1" lang="en-US" altLang="zh-CN" dirty="0"/>
              <a:t>K</a:t>
            </a:r>
            <a:r>
              <a:rPr kumimoji="1" lang="zh-CN" altLang="en-US" dirty="0"/>
              <a:t>的最优路径上，则从</a:t>
            </a:r>
            <a:r>
              <a:rPr kumimoji="1" lang="en-US" altLang="zh-CN" dirty="0"/>
              <a:t>I</a:t>
            </a:r>
            <a:r>
              <a:rPr kumimoji="1" lang="zh-CN" altLang="en-US" dirty="0"/>
              <a:t>到</a:t>
            </a:r>
            <a:r>
              <a:rPr kumimoji="1" lang="en-US" altLang="zh-CN" dirty="0"/>
              <a:t>K</a:t>
            </a:r>
            <a:r>
              <a:rPr kumimoji="1" lang="zh-CN" altLang="en-US" dirty="0"/>
              <a:t>的最优路径也必定遵循同样的路由</a:t>
            </a:r>
          </a:p>
          <a:p>
            <a:r>
              <a:rPr kumimoji="1" lang="zh-CN" altLang="en-US" dirty="0">
                <a:solidFill>
                  <a:schemeClr val="tx1"/>
                </a:solidFill>
              </a:rPr>
              <a:t>汇集树是</a:t>
            </a:r>
            <a:r>
              <a:rPr kumimoji="1" lang="zh-CN" altLang="en-US" dirty="0">
                <a:solidFill>
                  <a:srgbClr val="FF0000"/>
                </a:solidFill>
              </a:rPr>
              <a:t>最优化原则</a:t>
            </a:r>
            <a:r>
              <a:rPr kumimoji="1" lang="zh-CN" altLang="en-US" dirty="0">
                <a:solidFill>
                  <a:schemeClr val="tx1"/>
                </a:solidFill>
              </a:rPr>
              <a:t>的一个</a:t>
            </a:r>
            <a:r>
              <a:rPr kumimoji="1" lang="zh-CN" altLang="en-US" dirty="0">
                <a:solidFill>
                  <a:srgbClr val="FF0000"/>
                </a:solidFill>
              </a:rPr>
              <a:t>直接结果</a:t>
            </a:r>
            <a:r>
              <a:rPr kumimoji="1" lang="zh-CN" altLang="en-US" dirty="0">
                <a:solidFill>
                  <a:schemeClr val="tx1"/>
                </a:solidFill>
              </a:rPr>
              <a:t>。</a:t>
            </a:r>
            <a:endParaRPr kumimoji="1" lang="en-US" altLang="zh-CN" dirty="0">
              <a:solidFill>
                <a:schemeClr val="tx1"/>
              </a:solidFill>
            </a:endParaRPr>
          </a:p>
          <a:p>
            <a:endParaRPr kumimoji="1" lang="en-US" altLang="zh-CN" dirty="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defRPr/>
            </a:pPr>
            <a:r>
              <a:rPr lang="zh-CN" altLang="en-US" sz="1200" dirty="0">
                <a:latin typeface="微软雅黑" panose="020B0503020204020204" pitchFamily="34" charset="-122"/>
                <a:ea typeface="微软雅黑" panose="020B0503020204020204" pitchFamily="34" charset="-122"/>
                <a:sym typeface="+mn-ea"/>
              </a:rPr>
              <a:t>所有路由算法目标是为了所有路由器找到汇集树，并根据汇集树来转发数据包。最优化原则和汇集树为其他路由算法提供了一个测量标准</a:t>
            </a:r>
            <a:endParaRPr lang="zh-CN" altLang="en-US" sz="12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1287006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extLst>
      <p:ext uri="{BB962C8B-B14F-4D97-AF65-F5344CB8AC3E}">
        <p14:creationId xmlns:p14="http://schemas.microsoft.com/office/powerpoint/2010/main" val="363410981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fontAlgn="base">
              <a:lnSpc>
                <a:spcPct val="120000"/>
              </a:lnSpc>
            </a:pPr>
            <a:r>
              <a:rPr lang="zh-CN" altLang="en-US" dirty="0"/>
              <a:t>路径长度  第一种度量是</a:t>
            </a:r>
            <a:r>
              <a:rPr lang="zh-CN" altLang="en-US" dirty="0">
                <a:solidFill>
                  <a:srgbClr val="FF0000"/>
                </a:solidFill>
              </a:rPr>
              <a:t>跳数</a:t>
            </a:r>
            <a:r>
              <a:rPr lang="zh-CN" altLang="en-US" dirty="0"/>
              <a:t>，使用这个度量，如下图的路径</a:t>
            </a:r>
            <a:r>
              <a:rPr lang="en-US" altLang="zh-CN" dirty="0"/>
              <a:t>ABC</a:t>
            </a:r>
            <a:r>
              <a:rPr lang="zh-CN" altLang="en-US" dirty="0"/>
              <a:t>和</a:t>
            </a:r>
            <a:r>
              <a:rPr lang="en-US" altLang="zh-CN" dirty="0"/>
              <a:t>ABE</a:t>
            </a:r>
            <a:r>
              <a:rPr lang="zh-CN" altLang="en-US" dirty="0"/>
              <a:t>是等长。</a:t>
            </a:r>
          </a:p>
          <a:p>
            <a:pPr lvl="1" fontAlgn="base">
              <a:lnSpc>
                <a:spcPct val="120000"/>
              </a:lnSpc>
            </a:pPr>
            <a:r>
              <a:rPr lang="zh-CN" altLang="en-US" dirty="0"/>
              <a:t>第二种度量是</a:t>
            </a:r>
            <a:r>
              <a:rPr lang="zh-CN" altLang="en-US" dirty="0">
                <a:solidFill>
                  <a:srgbClr val="FF0000"/>
                </a:solidFill>
              </a:rPr>
              <a:t>以公里为单位的地理距离</a:t>
            </a:r>
            <a:r>
              <a:rPr lang="zh-CN" altLang="en-US" dirty="0"/>
              <a:t>，在这种情况下，ABC显然比ABE长得多（假设数据是按比例绘制的）</a:t>
            </a:r>
          </a:p>
          <a:p>
            <a:r>
              <a:rPr lang="zh-CN" altLang="en-US" sz="1600" dirty="0">
                <a:solidFill>
                  <a:schemeClr val="tx1"/>
                </a:solidFill>
              </a:rPr>
              <a:t>实心圆代表永久性的节点，红色的数字和字母代表该节点与字母节点之间的最短距离，橙色数字代表当前步骤更新的节点距离，箭头指向当前的工作节点</a:t>
            </a:r>
          </a:p>
          <a:p>
            <a:endParaRPr lang="en-US" altLang="zh-CN" sz="1600" dirty="0">
              <a:solidFill>
                <a:schemeClr val="tx1"/>
              </a:solidFill>
            </a:endParaRPr>
          </a:p>
        </p:txBody>
      </p:sp>
    </p:spTree>
    <p:extLst>
      <p:ext uri="{BB962C8B-B14F-4D97-AF65-F5344CB8AC3E}">
        <p14:creationId xmlns:p14="http://schemas.microsoft.com/office/powerpoint/2010/main" val="8360586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33</a:t>
            </a:fld>
            <a:endParaRPr kumimoji="1" lang="zh-CN" altLang="en-US"/>
          </a:p>
        </p:txBody>
      </p:sp>
    </p:spTree>
    <p:extLst>
      <p:ext uri="{BB962C8B-B14F-4D97-AF65-F5344CB8AC3E}">
        <p14:creationId xmlns:p14="http://schemas.microsoft.com/office/powerpoint/2010/main" val="251830056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35</a:t>
            </a:fld>
            <a:endParaRPr kumimoji="1" lang="zh-CN" altLang="en-US"/>
          </a:p>
        </p:txBody>
      </p:sp>
    </p:spTree>
    <p:extLst>
      <p:ext uri="{BB962C8B-B14F-4D97-AF65-F5344CB8AC3E}">
        <p14:creationId xmlns:p14="http://schemas.microsoft.com/office/powerpoint/2010/main" val="15419346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36</a:t>
            </a:fld>
            <a:endParaRPr kumimoji="1" lang="zh-CN" altLang="en-US"/>
          </a:p>
        </p:txBody>
      </p:sp>
    </p:spTree>
    <p:extLst>
      <p:ext uri="{BB962C8B-B14F-4D97-AF65-F5344CB8AC3E}">
        <p14:creationId xmlns:p14="http://schemas.microsoft.com/office/powerpoint/2010/main" val="3507242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t>
            </a:r>
            <a:r>
              <a:rPr lang="zh-CN" altLang="en-US" dirty="0"/>
              <a:t>动画部分，点一下会自动出现一部分网络和一部分路由表，再点一下出下一部分</a:t>
            </a:r>
            <a:endParaRPr lang="en-US" altLang="zh-CN" dirty="0"/>
          </a:p>
          <a:p>
            <a:endParaRPr lang="en-US" altLang="zh-CN" dirty="0"/>
          </a:p>
          <a:p>
            <a:r>
              <a:rPr lang="zh-CN" altLang="en-US" dirty="0"/>
              <a:t>通过一个例子说明为什么需要层次路由</a:t>
            </a:r>
            <a:r>
              <a:rPr lang="en-US" altLang="zh-CN" dirty="0"/>
              <a:t>——</a:t>
            </a:r>
          </a:p>
          <a:p>
            <a:endParaRPr lang="en-US" altLang="zh-CN" dirty="0"/>
          </a:p>
          <a:p>
            <a:r>
              <a:rPr lang="zh-CN" altLang="en-US" dirty="0"/>
              <a:t>基本情况是：网络在不断扩大，路由表也在扩展。</a:t>
            </a:r>
            <a:endParaRPr lang="en-US" altLang="zh-CN" dirty="0"/>
          </a:p>
          <a:p>
            <a:r>
              <a:rPr lang="zh-CN" altLang="en-US" dirty="0"/>
              <a:t>当网络很简单的时候，目的地比较少的时候，在路由表中罗列每个目的地是可能的，路由表也不会很复杂。</a:t>
            </a:r>
            <a:endParaRPr lang="en-US" altLang="zh-CN" dirty="0"/>
          </a:p>
          <a:p>
            <a:r>
              <a:rPr lang="zh-CN" altLang="en-US" dirty="0"/>
              <a:t>但当网络越来越大，用户越来越多时，列出所有用户最终导致路由表过于庞大，使得查表时间过长，甚至存储路由表会消耗掉设备的大部分内存。</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48</a:t>
            </a:fld>
            <a:endParaRPr kumimoji="1" lang="zh-CN" altLang="en-US"/>
          </a:p>
        </p:txBody>
      </p:sp>
    </p:spTree>
    <p:extLst>
      <p:ext uri="{BB962C8B-B14F-4D97-AF65-F5344CB8AC3E}">
        <p14:creationId xmlns:p14="http://schemas.microsoft.com/office/powerpoint/2010/main" val="258825572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在这种情况下，人们想到一些办法来减少路由条目和路由表存储空间，例如：可以把所有下一跳是</a:t>
            </a:r>
            <a:r>
              <a:rPr lang="en-US" altLang="zh-CN" dirty="0"/>
              <a:t>R3</a:t>
            </a:r>
            <a:r>
              <a:rPr lang="zh-CN" altLang="en-US" dirty="0"/>
              <a:t>的路由合并为一条</a:t>
            </a:r>
            <a:endParaRPr lang="en-US" altLang="zh-CN" dirty="0"/>
          </a:p>
          <a:p>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如果地址分配是连续的，还可以通过地址聚合进一步缩减路由条目</a:t>
            </a:r>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49</a:t>
            </a:fld>
            <a:endParaRPr kumimoji="1" lang="zh-CN" altLang="en-US"/>
          </a:p>
        </p:txBody>
      </p:sp>
    </p:spTree>
    <p:extLst>
      <p:ext uri="{BB962C8B-B14F-4D97-AF65-F5344CB8AC3E}">
        <p14:creationId xmlns:p14="http://schemas.microsoft.com/office/powerpoint/2010/main" val="42785883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可是现实情况是：</a:t>
            </a:r>
            <a:endParaRPr lang="en-US" altLang="zh-CN" dirty="0"/>
          </a:p>
          <a:p>
            <a:r>
              <a:rPr lang="en-US" altLang="zh-CN" dirty="0"/>
              <a:t>1</a:t>
            </a:r>
            <a:r>
              <a:rPr lang="zh-CN" altLang="en-US" dirty="0"/>
              <a:t>、地址分配不一定是连续的，可能难以聚合</a:t>
            </a:r>
            <a:endParaRPr lang="en-US" altLang="zh-CN" dirty="0"/>
          </a:p>
          <a:p>
            <a:r>
              <a:rPr lang="en-US" altLang="zh-CN" dirty="0"/>
              <a:t>2</a:t>
            </a:r>
            <a:r>
              <a:rPr lang="zh-CN" altLang="en-US" dirty="0"/>
              <a:t>、每个网络的网络管理员有自己的管理方法和思路，并不希望每个路由器都干涉本网络内部的地址分配等问题</a:t>
            </a:r>
            <a:endParaRPr lang="en-US" altLang="zh-CN" dirty="0"/>
          </a:p>
          <a:p>
            <a:endParaRPr lang="en-US" altLang="zh-CN" dirty="0"/>
          </a:p>
          <a:p>
            <a:r>
              <a:rPr lang="zh-CN" altLang="en-US" dirty="0"/>
              <a:t>所以层次路由可以解决：</a:t>
            </a:r>
            <a:endParaRPr lang="en-US" altLang="zh-CN" dirty="0"/>
          </a:p>
          <a:p>
            <a:r>
              <a:rPr lang="en-US" altLang="zh-CN" dirty="0"/>
              <a:t>1</a:t>
            </a:r>
            <a:r>
              <a:rPr lang="zh-CN" altLang="en-US" dirty="0"/>
              <a:t>、当网络扩大时，控制路由表条目和路由表存储空间</a:t>
            </a:r>
            <a:endParaRPr lang="en-US" altLang="zh-CN" dirty="0"/>
          </a:p>
          <a:p>
            <a:r>
              <a:rPr lang="en-US" altLang="zh-CN" dirty="0"/>
              <a:t>2</a:t>
            </a:r>
            <a:r>
              <a:rPr lang="zh-CN" altLang="en-US" dirty="0"/>
              <a:t>、给予每个网络充分的自治权力</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50</a:t>
            </a:fld>
            <a:endParaRPr kumimoji="1" lang="zh-CN" altLang="en-US"/>
          </a:p>
        </p:txBody>
      </p:sp>
    </p:spTree>
    <p:extLst>
      <p:ext uri="{BB962C8B-B14F-4D97-AF65-F5344CB8AC3E}">
        <p14:creationId xmlns:p14="http://schemas.microsoft.com/office/powerpoint/2010/main" val="410585144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51</a:t>
            </a:fld>
            <a:endParaRPr kumimoji="1" lang="zh-CN" altLang="en-US"/>
          </a:p>
        </p:txBody>
      </p:sp>
    </p:spTree>
    <p:extLst>
      <p:ext uri="{BB962C8B-B14F-4D97-AF65-F5344CB8AC3E}">
        <p14:creationId xmlns:p14="http://schemas.microsoft.com/office/powerpoint/2010/main" val="238866912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52</a:t>
            </a:fld>
            <a:endParaRPr kumimoji="1" lang="zh-CN" altLang="en-US"/>
          </a:p>
        </p:txBody>
      </p:sp>
    </p:spTree>
    <p:extLst>
      <p:ext uri="{BB962C8B-B14F-4D97-AF65-F5344CB8AC3E}">
        <p14:creationId xmlns:p14="http://schemas.microsoft.com/office/powerpoint/2010/main" val="103610377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层次路由的效果（不考虑直连路由的情况下）</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53</a:t>
            </a:fld>
            <a:endParaRPr kumimoji="1" lang="zh-CN" altLang="en-US"/>
          </a:p>
        </p:txBody>
      </p:sp>
    </p:spTree>
    <p:extLst>
      <p:ext uri="{BB962C8B-B14F-4D97-AF65-F5344CB8AC3E}">
        <p14:creationId xmlns:p14="http://schemas.microsoft.com/office/powerpoint/2010/main" val="387741544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人们希望将一些数据包发送给网络中的所有用户，以供其中一些有需要的人读取。</a:t>
            </a:r>
            <a:endParaRPr lang="en-US" altLang="zh-CN" dirty="0"/>
          </a:p>
          <a:p>
            <a:r>
              <a:rPr lang="zh-CN" altLang="en-US" dirty="0"/>
              <a:t>人们设想有</a:t>
            </a:r>
            <a:r>
              <a:rPr lang="en-US" altLang="zh-CN" dirty="0"/>
              <a:t>4</a:t>
            </a:r>
            <a:r>
              <a:rPr lang="zh-CN" altLang="en-US" dirty="0"/>
              <a:t>种办法：</a:t>
            </a:r>
            <a:endParaRPr lang="en-US" altLang="zh-CN" dirty="0"/>
          </a:p>
          <a:p>
            <a:r>
              <a:rPr lang="en-US" altLang="zh-CN" dirty="0"/>
              <a:t>1</a:t>
            </a:r>
            <a:r>
              <a:rPr lang="zh-CN" altLang="en-US" dirty="0"/>
              <a:t>、给每个人发送一个单播包</a:t>
            </a:r>
            <a:endParaRPr lang="en-US" altLang="zh-CN" dirty="0"/>
          </a:p>
          <a:p>
            <a:r>
              <a:rPr lang="en-US" altLang="zh-CN" dirty="0"/>
              <a:t>2</a:t>
            </a:r>
            <a:r>
              <a:rPr lang="zh-CN" altLang="en-US" dirty="0"/>
              <a:t>、路由器有目的的复制数据包给需要的人</a:t>
            </a:r>
            <a:endParaRPr lang="en-US" altLang="zh-CN" dirty="0"/>
          </a:p>
          <a:p>
            <a:r>
              <a:rPr lang="en-US" altLang="zh-CN" dirty="0"/>
              <a:t>3</a:t>
            </a:r>
            <a:r>
              <a:rPr lang="zh-CN" altLang="en-US" dirty="0"/>
              <a:t>、泛洪</a:t>
            </a:r>
            <a:endParaRPr lang="en-US" altLang="zh-CN" dirty="0"/>
          </a:p>
          <a:p>
            <a:r>
              <a:rPr lang="en-US" altLang="zh-CN" dirty="0"/>
              <a:t>4</a:t>
            </a:r>
            <a:r>
              <a:rPr lang="zh-CN" altLang="en-US" dirty="0"/>
              <a:t>、生成树</a:t>
            </a:r>
            <a:endParaRPr lang="en-US" altLang="zh-CN" dirty="0"/>
          </a:p>
          <a:p>
            <a:r>
              <a:rPr lang="zh-CN" altLang="en-US" dirty="0"/>
              <a:t>实际上数据包无法到达网络中的每个人，网络不允许发生这样的情况，否则网络资源会迅速耗尽。因此事实上方法</a:t>
            </a:r>
            <a:r>
              <a:rPr lang="en-US" altLang="zh-CN" dirty="0"/>
              <a:t>234</a:t>
            </a:r>
            <a:r>
              <a:rPr lang="zh-CN" altLang="en-US" dirty="0"/>
              <a:t>为后来的组播路由，提供了思路。</a:t>
            </a:r>
            <a:endParaRPr lang="en-US" altLang="zh-CN" dirty="0"/>
          </a:p>
          <a:p>
            <a:r>
              <a:rPr lang="zh-CN" altLang="en-US" dirty="0"/>
              <a:t>注：本节只说明基本思路，在具体路由算法中的实现，参考后面对应章节。</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54</a:t>
            </a:fld>
            <a:endParaRPr kumimoji="1" lang="zh-CN" altLang="en-US"/>
          </a:p>
        </p:txBody>
      </p:sp>
    </p:spTree>
    <p:extLst>
      <p:ext uri="{BB962C8B-B14F-4D97-AF65-F5344CB8AC3E}">
        <p14:creationId xmlns:p14="http://schemas.microsoft.com/office/powerpoint/2010/main" val="75161901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a:t>
            </a:r>
            <a:r>
              <a:rPr lang="en-US" altLang="zh-CN" dirty="0"/>
              <a:t>2</a:t>
            </a:r>
            <a:r>
              <a:rPr lang="zh-CN" altLang="en-US" dirty="0"/>
              <a:t>种方法都难以实现</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55</a:t>
            </a:fld>
            <a:endParaRPr kumimoji="1" lang="zh-CN" altLang="en-US"/>
          </a:p>
        </p:txBody>
      </p:sp>
    </p:spTree>
    <p:extLst>
      <p:ext uri="{BB962C8B-B14F-4D97-AF65-F5344CB8AC3E}">
        <p14:creationId xmlns:p14="http://schemas.microsoft.com/office/powerpoint/2010/main" val="33475072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61</a:t>
            </a:fld>
            <a:endParaRPr kumimoji="1" lang="zh-CN" altLang="en-US"/>
          </a:p>
        </p:txBody>
      </p:sp>
    </p:spTree>
    <p:extLst>
      <p:ext uri="{BB962C8B-B14F-4D97-AF65-F5344CB8AC3E}">
        <p14:creationId xmlns:p14="http://schemas.microsoft.com/office/powerpoint/2010/main" val="176759772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62</a:t>
            </a:fld>
            <a:endParaRPr kumimoji="1" lang="zh-CN" altLang="en-US"/>
          </a:p>
        </p:txBody>
      </p:sp>
    </p:spTree>
    <p:extLst>
      <p:ext uri="{BB962C8B-B14F-4D97-AF65-F5344CB8AC3E}">
        <p14:creationId xmlns:p14="http://schemas.microsoft.com/office/powerpoint/2010/main" val="13387032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确定组成员将在</a:t>
            </a:r>
            <a:r>
              <a:rPr lang="en-US" altLang="zh-CN" dirty="0"/>
              <a:t>5.6</a:t>
            </a:r>
            <a:r>
              <a:rPr lang="zh-CN" altLang="en-US" dirty="0"/>
              <a:t>节讨论</a:t>
            </a:r>
            <a:endParaRPr lang="en-US" altLang="zh-CN" dirty="0"/>
          </a:p>
          <a:p>
            <a:r>
              <a:rPr lang="zh-CN" altLang="en-US" dirty="0"/>
              <a:t>组播路由方案是建立在前一节广播路由方案的基础上的，为了将数据包传递给组成员，同时又有效利用带宽，数据包可以沿着生成树发送。</a:t>
            </a:r>
            <a:endParaRPr lang="en-US" altLang="zh-CN" dirty="0"/>
          </a:p>
          <a:p>
            <a:r>
              <a:rPr lang="zh-CN" altLang="en-US" dirty="0"/>
              <a:t>最佳生成树取决于组的密度分布：密集分布、稀疏分布</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63</a:t>
            </a:fld>
            <a:endParaRPr kumimoji="1" lang="zh-CN" altLang="en-US"/>
          </a:p>
        </p:txBody>
      </p:sp>
    </p:spTree>
    <p:extLst>
      <p:ext uri="{BB962C8B-B14F-4D97-AF65-F5344CB8AC3E}">
        <p14:creationId xmlns:p14="http://schemas.microsoft.com/office/powerpoint/2010/main" val="105568286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69515540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85923305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组播路由生成树的修剪方式有许多种，一种是基于源点树，一种是基于核心树。</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思路是通过修剪广播生成树，从而得到组播生成树。</a:t>
            </a:r>
          </a:p>
          <a:p>
            <a:r>
              <a:rPr lang="en-US" altLang="zh-CN" dirty="0"/>
              <a:t>1</a:t>
            </a:r>
            <a:r>
              <a:rPr lang="zh-CN" altLang="en-US" dirty="0"/>
              <a:t>、基于源点树的方法，是根据不同的路由算法，计算每个组播源的树。</a:t>
            </a:r>
            <a:endParaRPr lang="en-US" altLang="zh-CN" dirty="0"/>
          </a:p>
          <a:p>
            <a:r>
              <a:rPr lang="en-US" altLang="zh-CN" dirty="0"/>
              <a:t>2</a:t>
            </a:r>
            <a:r>
              <a:rPr lang="zh-CN" altLang="en-US" dirty="0"/>
              <a:t>、基于核心树的方法，是让多个组播源共享树。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66</a:t>
            </a:fld>
            <a:endParaRPr kumimoji="1" lang="zh-CN" altLang="en-US"/>
          </a:p>
        </p:txBody>
      </p:sp>
    </p:spTree>
    <p:extLst>
      <p:ext uri="{BB962C8B-B14F-4D97-AF65-F5344CB8AC3E}">
        <p14:creationId xmlns:p14="http://schemas.microsoft.com/office/powerpoint/2010/main" val="18084402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两种算法在修剪策略上有所区别。</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链路状态算法是按常规方法构造汇集树，再删除无关链路；</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距离向量算法是根据逆向路径转发，通过递归的方式来修剪生成树。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67</a:t>
            </a:fld>
            <a:endParaRPr kumimoji="1" lang="zh-CN" altLang="en-US"/>
          </a:p>
        </p:txBody>
      </p:sp>
    </p:spTree>
    <p:extLst>
      <p:ext uri="{BB962C8B-B14F-4D97-AF65-F5344CB8AC3E}">
        <p14:creationId xmlns:p14="http://schemas.microsoft.com/office/powerpoint/2010/main" val="114649611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举例说明每个组播源有独立的树，并列举链路状态算法和距离向量算法分别有哪些协议</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68</a:t>
            </a:fld>
            <a:endParaRPr kumimoji="1" lang="zh-CN" altLang="en-US"/>
          </a:p>
        </p:txBody>
      </p:sp>
    </p:spTree>
    <p:extLst>
      <p:ext uri="{BB962C8B-B14F-4D97-AF65-F5344CB8AC3E}">
        <p14:creationId xmlns:p14="http://schemas.microsoft.com/office/powerpoint/2010/main" val="417900694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69</a:t>
            </a:fld>
            <a:endParaRPr kumimoji="1" lang="zh-CN" altLang="en-US"/>
          </a:p>
        </p:txBody>
      </p:sp>
    </p:spTree>
    <p:extLst>
      <p:ext uri="{BB962C8B-B14F-4D97-AF65-F5344CB8AC3E}">
        <p14:creationId xmlns:p14="http://schemas.microsoft.com/office/powerpoint/2010/main" val="151927296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70</a:t>
            </a:fld>
            <a:endParaRPr kumimoji="1" lang="zh-CN" altLang="en-US"/>
          </a:p>
        </p:txBody>
      </p:sp>
    </p:spTree>
    <p:extLst>
      <p:ext uri="{BB962C8B-B14F-4D97-AF65-F5344CB8AC3E}">
        <p14:creationId xmlns:p14="http://schemas.microsoft.com/office/powerpoint/2010/main" val="245018970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71</a:t>
            </a:fld>
            <a:endParaRPr kumimoji="1" lang="zh-CN" altLang="en-US"/>
          </a:p>
        </p:txBody>
      </p:sp>
    </p:spTree>
    <p:extLst>
      <p:ext uri="{BB962C8B-B14F-4D97-AF65-F5344CB8AC3E}">
        <p14:creationId xmlns:p14="http://schemas.microsoft.com/office/powerpoint/2010/main" val="305346856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如图所示，例如，组播源</a:t>
            </a:r>
            <a:r>
              <a:rPr lang="en-US" altLang="zh-CN" dirty="0"/>
              <a:t>Server2</a:t>
            </a:r>
            <a:r>
              <a:rPr lang="zh-CN" altLang="en-US" dirty="0"/>
              <a:t>的数据如果采用基于源点树的方法，可能到达目的主机所需跳数更少</a:t>
            </a:r>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72</a:t>
            </a:fld>
            <a:endParaRPr kumimoji="1" lang="zh-CN" altLang="en-US"/>
          </a:p>
        </p:txBody>
      </p:sp>
    </p:spTree>
    <p:extLst>
      <p:ext uri="{BB962C8B-B14F-4D97-AF65-F5344CB8AC3E}">
        <p14:creationId xmlns:p14="http://schemas.microsoft.com/office/powerpoint/2010/main" val="372089519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76</a:t>
            </a:fld>
            <a:endParaRPr kumimoji="1" lang="zh-CN" altLang="en-US"/>
          </a:p>
        </p:txBody>
      </p:sp>
    </p:spTree>
    <p:extLst>
      <p:ext uri="{BB962C8B-B14F-4D97-AF65-F5344CB8AC3E}">
        <p14:creationId xmlns:p14="http://schemas.microsoft.com/office/powerpoint/2010/main" val="10925595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77</a:t>
            </a:fld>
            <a:endParaRPr kumimoji="1" lang="zh-CN" altLang="en-US"/>
          </a:p>
        </p:txBody>
      </p:sp>
    </p:spTree>
    <p:extLst>
      <p:ext uri="{BB962C8B-B14F-4D97-AF65-F5344CB8AC3E}">
        <p14:creationId xmlns:p14="http://schemas.microsoft.com/office/powerpoint/2010/main" val="114149477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80</a:t>
            </a:fld>
            <a:endParaRPr kumimoji="1" lang="zh-CN" altLang="en-US"/>
          </a:p>
        </p:txBody>
      </p:sp>
    </p:spTree>
    <p:extLst>
      <p:ext uri="{BB962C8B-B14F-4D97-AF65-F5344CB8AC3E}">
        <p14:creationId xmlns:p14="http://schemas.microsoft.com/office/powerpoint/2010/main" val="200995495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81</a:t>
            </a:fld>
            <a:endParaRPr kumimoji="1" lang="zh-CN" altLang="en-US"/>
          </a:p>
        </p:txBody>
      </p:sp>
    </p:spTree>
    <p:extLst>
      <p:ext uri="{BB962C8B-B14F-4D97-AF65-F5344CB8AC3E}">
        <p14:creationId xmlns:p14="http://schemas.microsoft.com/office/powerpoint/2010/main" val="227119980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合理分配缓冲区法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82</a:t>
            </a:fld>
            <a:endParaRPr kumimoji="1" lang="zh-CN" altLang="en-US"/>
          </a:p>
        </p:txBody>
      </p:sp>
    </p:spTree>
    <p:extLst>
      <p:ext uri="{BB962C8B-B14F-4D97-AF65-F5344CB8AC3E}">
        <p14:creationId xmlns:p14="http://schemas.microsoft.com/office/powerpoint/2010/main" val="315782666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合理分配缓冲区法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83</a:t>
            </a:fld>
            <a:endParaRPr kumimoji="1" lang="zh-CN" altLang="en-US"/>
          </a:p>
        </p:txBody>
      </p:sp>
    </p:spTree>
    <p:extLst>
      <p:ext uri="{BB962C8B-B14F-4D97-AF65-F5344CB8AC3E}">
        <p14:creationId xmlns:p14="http://schemas.microsoft.com/office/powerpoint/2010/main" val="1263532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合理分配缓冲区法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84</a:t>
            </a:fld>
            <a:endParaRPr kumimoji="1" lang="zh-CN" altLang="en-US"/>
          </a:p>
        </p:txBody>
      </p:sp>
    </p:spTree>
    <p:extLst>
      <p:ext uri="{BB962C8B-B14F-4D97-AF65-F5344CB8AC3E}">
        <p14:creationId xmlns:p14="http://schemas.microsoft.com/office/powerpoint/2010/main" val="183338582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合理分配缓冲区法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85</a:t>
            </a:fld>
            <a:endParaRPr kumimoji="1" lang="zh-CN" altLang="en-US"/>
          </a:p>
        </p:txBody>
      </p:sp>
    </p:spTree>
    <p:extLst>
      <p:ext uri="{BB962C8B-B14F-4D97-AF65-F5344CB8AC3E}">
        <p14:creationId xmlns:p14="http://schemas.microsoft.com/office/powerpoint/2010/main" val="399427518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86</a:t>
            </a:fld>
            <a:endParaRPr kumimoji="1" lang="zh-CN" altLang="en-US"/>
          </a:p>
        </p:txBody>
      </p:sp>
    </p:spTree>
    <p:extLst>
      <p:ext uri="{BB962C8B-B14F-4D97-AF65-F5344CB8AC3E}">
        <p14:creationId xmlns:p14="http://schemas.microsoft.com/office/powerpoint/2010/main" val="423240827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87</a:t>
            </a:fld>
            <a:endParaRPr kumimoji="1" lang="zh-CN" altLang="en-US"/>
          </a:p>
        </p:txBody>
      </p:sp>
    </p:spTree>
    <p:extLst>
      <p:ext uri="{BB962C8B-B14F-4D97-AF65-F5344CB8AC3E}">
        <p14:creationId xmlns:p14="http://schemas.microsoft.com/office/powerpoint/2010/main" val="133492860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88</a:t>
            </a:fld>
            <a:endParaRPr kumimoji="1" lang="zh-CN" altLang="en-US"/>
          </a:p>
        </p:txBody>
      </p:sp>
    </p:spTree>
    <p:extLst>
      <p:ext uri="{BB962C8B-B14F-4D97-AF65-F5344CB8AC3E}">
        <p14:creationId xmlns:p14="http://schemas.microsoft.com/office/powerpoint/2010/main" val="153336373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89</a:t>
            </a:fld>
            <a:endParaRPr kumimoji="1" lang="zh-CN" altLang="en-US"/>
          </a:p>
        </p:txBody>
      </p:sp>
    </p:spTree>
    <p:extLst>
      <p:ext uri="{BB962C8B-B14F-4D97-AF65-F5344CB8AC3E}">
        <p14:creationId xmlns:p14="http://schemas.microsoft.com/office/powerpoint/2010/main" val="37489844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90</a:t>
            </a:fld>
            <a:endParaRPr kumimoji="1" lang="zh-CN" altLang="en-US"/>
          </a:p>
        </p:txBody>
      </p:sp>
    </p:spTree>
    <p:extLst>
      <p:ext uri="{BB962C8B-B14F-4D97-AF65-F5344CB8AC3E}">
        <p14:creationId xmlns:p14="http://schemas.microsoft.com/office/powerpoint/2010/main" val="124933560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91</a:t>
            </a:fld>
            <a:endParaRPr kumimoji="1" lang="zh-CN" altLang="en-US"/>
          </a:p>
        </p:txBody>
      </p:sp>
    </p:spTree>
    <p:extLst>
      <p:ext uri="{BB962C8B-B14F-4D97-AF65-F5344CB8AC3E}">
        <p14:creationId xmlns:p14="http://schemas.microsoft.com/office/powerpoint/2010/main" val="31665327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92</a:t>
            </a:fld>
            <a:endParaRPr kumimoji="1" lang="zh-CN" altLang="en-US"/>
          </a:p>
        </p:txBody>
      </p:sp>
    </p:spTree>
    <p:extLst>
      <p:ext uri="{BB962C8B-B14F-4D97-AF65-F5344CB8AC3E}">
        <p14:creationId xmlns:p14="http://schemas.microsoft.com/office/powerpoint/2010/main" val="368147936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93</a:t>
            </a:fld>
            <a:endParaRPr kumimoji="1" lang="zh-CN" altLang="en-US"/>
          </a:p>
        </p:txBody>
      </p:sp>
    </p:spTree>
    <p:extLst>
      <p:ext uri="{BB962C8B-B14F-4D97-AF65-F5344CB8AC3E}">
        <p14:creationId xmlns:p14="http://schemas.microsoft.com/office/powerpoint/2010/main" val="269182102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94</a:t>
            </a:fld>
            <a:endParaRPr kumimoji="1" lang="zh-CN" altLang="en-US"/>
          </a:p>
        </p:txBody>
      </p:sp>
    </p:spTree>
    <p:extLst>
      <p:ext uri="{BB962C8B-B14F-4D97-AF65-F5344CB8AC3E}">
        <p14:creationId xmlns:p14="http://schemas.microsoft.com/office/powerpoint/2010/main" val="328202663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96</a:t>
            </a:fld>
            <a:endParaRPr kumimoji="1" lang="zh-CN" altLang="en-US"/>
          </a:p>
        </p:txBody>
      </p:sp>
    </p:spTree>
    <p:extLst>
      <p:ext uri="{BB962C8B-B14F-4D97-AF65-F5344CB8AC3E}">
        <p14:creationId xmlns:p14="http://schemas.microsoft.com/office/powerpoint/2010/main" val="69083924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97</a:t>
            </a:fld>
            <a:endParaRPr kumimoji="1" lang="zh-CN" altLang="en-US"/>
          </a:p>
        </p:txBody>
      </p:sp>
    </p:spTree>
    <p:extLst>
      <p:ext uri="{BB962C8B-B14F-4D97-AF65-F5344CB8AC3E}">
        <p14:creationId xmlns:p14="http://schemas.microsoft.com/office/powerpoint/2010/main" val="76810714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98</a:t>
            </a:fld>
            <a:endParaRPr kumimoji="1" lang="zh-CN" altLang="en-US"/>
          </a:p>
        </p:txBody>
      </p:sp>
    </p:spTree>
    <p:extLst>
      <p:ext uri="{BB962C8B-B14F-4D97-AF65-F5344CB8AC3E}">
        <p14:creationId xmlns:p14="http://schemas.microsoft.com/office/powerpoint/2010/main" val="335645281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99</a:t>
            </a:fld>
            <a:endParaRPr kumimoji="1" lang="zh-CN" altLang="en-US"/>
          </a:p>
        </p:txBody>
      </p:sp>
    </p:spTree>
    <p:extLst>
      <p:ext uri="{BB962C8B-B14F-4D97-AF65-F5344CB8AC3E}">
        <p14:creationId xmlns:p14="http://schemas.microsoft.com/office/powerpoint/2010/main" val="184305369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100</a:t>
            </a:fld>
            <a:endParaRPr kumimoji="1" lang="zh-CN" altLang="en-US"/>
          </a:p>
        </p:txBody>
      </p:sp>
    </p:spTree>
    <p:extLst>
      <p:ext uri="{BB962C8B-B14F-4D97-AF65-F5344CB8AC3E}">
        <p14:creationId xmlns:p14="http://schemas.microsoft.com/office/powerpoint/2010/main" val="131326893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101</a:t>
            </a:fld>
            <a:endParaRPr kumimoji="1" lang="zh-CN" altLang="en-US"/>
          </a:p>
        </p:txBody>
      </p:sp>
    </p:spTree>
    <p:extLst>
      <p:ext uri="{BB962C8B-B14F-4D97-AF65-F5344CB8AC3E}">
        <p14:creationId xmlns:p14="http://schemas.microsoft.com/office/powerpoint/2010/main" val="312972154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103</a:t>
            </a:fld>
            <a:endParaRPr kumimoji="1" lang="zh-CN" altLang="en-US"/>
          </a:p>
        </p:txBody>
      </p:sp>
    </p:spTree>
    <p:extLst>
      <p:ext uri="{BB962C8B-B14F-4D97-AF65-F5344CB8AC3E}">
        <p14:creationId xmlns:p14="http://schemas.microsoft.com/office/powerpoint/2010/main" val="266181097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104</a:t>
            </a:fld>
            <a:endParaRPr kumimoji="1" lang="zh-CN" altLang="en-US"/>
          </a:p>
        </p:txBody>
      </p:sp>
    </p:spTree>
    <p:extLst>
      <p:ext uri="{BB962C8B-B14F-4D97-AF65-F5344CB8AC3E}">
        <p14:creationId xmlns:p14="http://schemas.microsoft.com/office/powerpoint/2010/main" val="231306460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105</a:t>
            </a:fld>
            <a:endParaRPr kumimoji="1" lang="zh-CN" altLang="en-US"/>
          </a:p>
        </p:txBody>
      </p:sp>
    </p:spTree>
    <p:extLst>
      <p:ext uri="{BB962C8B-B14F-4D97-AF65-F5344CB8AC3E}">
        <p14:creationId xmlns:p14="http://schemas.microsoft.com/office/powerpoint/2010/main" val="375367323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106</a:t>
            </a:fld>
            <a:endParaRPr kumimoji="1" lang="zh-CN" altLang="en-US"/>
          </a:p>
        </p:txBody>
      </p:sp>
    </p:spTree>
    <p:extLst>
      <p:ext uri="{BB962C8B-B14F-4D97-AF65-F5344CB8AC3E}">
        <p14:creationId xmlns:p14="http://schemas.microsoft.com/office/powerpoint/2010/main" val="382068417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107</a:t>
            </a:fld>
            <a:endParaRPr kumimoji="1" lang="zh-CN" altLang="en-US"/>
          </a:p>
        </p:txBody>
      </p:sp>
    </p:spTree>
    <p:extLst>
      <p:ext uri="{BB962C8B-B14F-4D97-AF65-F5344CB8AC3E}">
        <p14:creationId xmlns:p14="http://schemas.microsoft.com/office/powerpoint/2010/main" val="328357285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以</a:t>
            </a:r>
            <a:r>
              <a:rPr lang="en-US" altLang="zh-CN" dirty="0" err="1"/>
              <a:t>Openflow</a:t>
            </a:r>
            <a:r>
              <a:rPr lang="zh-CN" altLang="en-US" dirty="0"/>
              <a:t>为例，此图是</a:t>
            </a:r>
            <a:r>
              <a:rPr lang="en-US" altLang="zh-CN" dirty="0" err="1"/>
              <a:t>openflow</a:t>
            </a:r>
            <a:r>
              <a:rPr lang="zh-CN" altLang="en-US" dirty="0"/>
              <a:t>节点的匹配过程</a:t>
            </a:r>
            <a:endParaRPr lang="en-US" altLang="zh-CN" dirty="0"/>
          </a:p>
          <a:p>
            <a:r>
              <a:rPr lang="zh-CN" altLang="en-US" dirty="0"/>
              <a:t>跟路由表类似，也有数据流规则表</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108</a:t>
            </a:fld>
            <a:endParaRPr kumimoji="1" lang="zh-CN" altLang="en-US"/>
          </a:p>
        </p:txBody>
      </p:sp>
    </p:spTree>
    <p:extLst>
      <p:ext uri="{BB962C8B-B14F-4D97-AF65-F5344CB8AC3E}">
        <p14:creationId xmlns:p14="http://schemas.microsoft.com/office/powerpoint/2010/main" val="317525934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err="1"/>
              <a:t>Openflow</a:t>
            </a:r>
            <a:r>
              <a:rPr lang="zh-CN" altLang="en-US" dirty="0"/>
              <a:t>交换机，匹配的就是数据帧中的各个重要字段，如</a:t>
            </a:r>
            <a:r>
              <a:rPr lang="en-US" altLang="zh-CN" dirty="0"/>
              <a:t>……</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109</a:t>
            </a:fld>
            <a:endParaRPr kumimoji="1" lang="zh-CN" altLang="en-US"/>
          </a:p>
        </p:txBody>
      </p:sp>
    </p:spTree>
    <p:extLst>
      <p:ext uri="{BB962C8B-B14F-4D97-AF65-F5344CB8AC3E}">
        <p14:creationId xmlns:p14="http://schemas.microsoft.com/office/powerpoint/2010/main" val="104475866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这是一个</a:t>
            </a:r>
            <a:r>
              <a:rPr lang="en-US" altLang="zh-CN" dirty="0" err="1"/>
              <a:t>Openflow</a:t>
            </a:r>
            <a:r>
              <a:rPr lang="zh-CN" altLang="en-US" dirty="0"/>
              <a:t>的例子</a:t>
            </a:r>
            <a:endParaRPr lang="en-US" altLang="zh-CN" dirty="0"/>
          </a:p>
          <a:p>
            <a:r>
              <a:rPr lang="zh-CN" altLang="en-US" dirty="0"/>
              <a:t>可以不按最短路径转发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110</a:t>
            </a:fld>
            <a:endParaRPr kumimoji="1" lang="zh-CN" altLang="en-US"/>
          </a:p>
        </p:txBody>
      </p:sp>
    </p:spTree>
    <p:extLst>
      <p:ext uri="{BB962C8B-B14F-4D97-AF65-F5344CB8AC3E}">
        <p14:creationId xmlns:p14="http://schemas.microsoft.com/office/powerpoint/2010/main" val="4471251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Open </a:t>
            </a:r>
            <a:r>
              <a:rPr lang="en-US" altLang="zh-CN" dirty="0" err="1"/>
              <a:t>floud</a:t>
            </a:r>
            <a:r>
              <a:rPr lang="zh-CN" altLang="en-US" dirty="0"/>
              <a:t>还可以做更多的配置</a:t>
            </a:r>
            <a:endParaRPr lang="en-US" altLang="zh-CN" dirty="0"/>
          </a:p>
          <a:p>
            <a:r>
              <a:rPr lang="zh-CN" altLang="en-US" dirty="0"/>
              <a:t>除正常最短路径转发外，还有包括防火墙、</a:t>
            </a:r>
            <a:r>
              <a:rPr lang="en-US" altLang="zh-CN" dirty="0"/>
              <a:t>2</a:t>
            </a:r>
            <a:r>
              <a:rPr lang="zh-CN" altLang="en-US" dirty="0"/>
              <a:t>层转发等</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111</a:t>
            </a:fld>
            <a:endParaRPr kumimoji="1" lang="zh-CN" altLang="en-US"/>
          </a:p>
        </p:txBody>
      </p:sp>
    </p:spTree>
    <p:extLst>
      <p:ext uri="{BB962C8B-B14F-4D97-AF65-F5344CB8AC3E}">
        <p14:creationId xmlns:p14="http://schemas.microsoft.com/office/powerpoint/2010/main" val="186505565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112</a:t>
            </a:fld>
            <a:endParaRPr kumimoji="1" lang="zh-CN" altLang="en-US"/>
          </a:p>
        </p:txBody>
      </p:sp>
    </p:spTree>
    <p:extLst>
      <p:ext uri="{BB962C8B-B14F-4D97-AF65-F5344CB8AC3E}">
        <p14:creationId xmlns:p14="http://schemas.microsoft.com/office/powerpoint/2010/main" val="4340313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113</a:t>
            </a:fld>
            <a:endParaRPr kumimoji="1" lang="zh-CN" altLang="en-US"/>
          </a:p>
        </p:txBody>
      </p:sp>
    </p:spTree>
    <p:extLst>
      <p:ext uri="{BB962C8B-B14F-4D97-AF65-F5344CB8AC3E}">
        <p14:creationId xmlns:p14="http://schemas.microsoft.com/office/powerpoint/2010/main" val="263399908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114</a:t>
            </a:fld>
            <a:endParaRPr kumimoji="1" lang="zh-CN" altLang="en-US"/>
          </a:p>
        </p:txBody>
      </p:sp>
    </p:spTree>
    <p:extLst>
      <p:ext uri="{BB962C8B-B14F-4D97-AF65-F5344CB8AC3E}">
        <p14:creationId xmlns:p14="http://schemas.microsoft.com/office/powerpoint/2010/main" val="155784608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en-US" altLang="zh-CN"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模块使用在</a:t>
            </a:r>
            <a:r>
              <a:rPr lang="en-US" altLang="zh-CN"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头部中携带的地址来给目的地址传送</a:t>
            </a:r>
            <a:r>
              <a:rPr lang="en-US" altLang="zh-CN"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数据报</a:t>
            </a:r>
            <a:r>
              <a:rPr lang="en-US" altLang="zh-CN" sz="1200" b="0" i="0" kern="1200" dirty="0">
                <a:solidFill>
                  <a:schemeClr val="tx1"/>
                </a:solidFill>
                <a:latin typeface="+mn-lt"/>
                <a:ea typeface="+mn-ea"/>
                <a:cs typeface="+mn-cs"/>
              </a:rPr>
              <a:t>.</a:t>
            </a:r>
            <a:r>
              <a:rPr lang="zh-CN" altLang="en-US" sz="1200" b="0" i="0" kern="1200" dirty="0">
                <a:solidFill>
                  <a:schemeClr val="tx1"/>
                </a:solidFill>
                <a:latin typeface="+mn-lt"/>
                <a:ea typeface="+mn-ea"/>
                <a:cs typeface="+mn-cs"/>
              </a:rPr>
              <a:t>传输路径的选择被称作选路</a:t>
            </a:r>
            <a:r>
              <a:rPr lang="en-US" altLang="zh-CN" sz="1200" b="0" i="0" kern="1200" dirty="0">
                <a:solidFill>
                  <a:schemeClr val="tx1"/>
                </a:solidFill>
                <a:latin typeface="+mn-lt"/>
                <a:ea typeface="+mn-ea"/>
                <a:cs typeface="+mn-cs"/>
              </a:rPr>
              <a:t>(routing)</a:t>
            </a:r>
          </a:p>
          <a:p>
            <a:r>
              <a:rPr lang="en-US"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模块使用</a:t>
            </a:r>
            <a:r>
              <a:rPr lang="en-US"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头部</a:t>
            </a:r>
            <a:r>
              <a:rPr lang="en-US" altLang="zh-CN" sz="1200" b="0" i="0" kern="1200" dirty="0">
                <a:solidFill>
                  <a:schemeClr val="tx1"/>
                </a:solidFill>
                <a:latin typeface="+mn-lt"/>
                <a:ea typeface="+mn-ea"/>
                <a:cs typeface="+mn-cs"/>
              </a:rPr>
              <a:t>5</a:t>
            </a:r>
            <a:r>
              <a:rPr lang="zh-CN" altLang="en-US" sz="1200" b="0" i="0" kern="1200" dirty="0">
                <a:solidFill>
                  <a:schemeClr val="tx1"/>
                </a:solidFill>
                <a:latin typeface="+mn-lt"/>
                <a:ea typeface="+mn-ea"/>
                <a:cs typeface="+mn-cs"/>
              </a:rPr>
              <a:t>的域来分片和重组</a:t>
            </a:r>
            <a:r>
              <a:rPr lang="en-US"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数据报</a:t>
            </a:r>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116</a:t>
            </a:fld>
            <a:endParaRPr kumimoji="1" lang="zh-CN" altLang="en-US"/>
          </a:p>
        </p:txBody>
      </p:sp>
    </p:spTree>
    <p:extLst>
      <p:ext uri="{BB962C8B-B14F-4D97-AF65-F5344CB8AC3E}">
        <p14:creationId xmlns:p14="http://schemas.microsoft.com/office/powerpoint/2010/main" val="28596319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118</a:t>
            </a:fld>
            <a:endParaRPr kumimoji="1" lang="zh-CN" altLang="en-US"/>
          </a:p>
        </p:txBody>
      </p:sp>
    </p:spTree>
    <p:extLst>
      <p:ext uri="{BB962C8B-B14F-4D97-AF65-F5344CB8AC3E}">
        <p14:creationId xmlns:p14="http://schemas.microsoft.com/office/powerpoint/2010/main" val="66447126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122</a:t>
            </a:fld>
            <a:endParaRPr kumimoji="1" lang="zh-CN" altLang="en-US"/>
          </a:p>
        </p:txBody>
      </p:sp>
    </p:spTree>
    <p:extLst>
      <p:ext uri="{BB962C8B-B14F-4D97-AF65-F5344CB8AC3E}">
        <p14:creationId xmlns:p14="http://schemas.microsoft.com/office/powerpoint/2010/main" val="128164605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129</a:t>
            </a:fld>
            <a:endParaRPr kumimoji="1" lang="zh-CN" altLang="en-US"/>
          </a:p>
        </p:txBody>
      </p:sp>
    </p:spTree>
    <p:extLst>
      <p:ext uri="{BB962C8B-B14F-4D97-AF65-F5344CB8AC3E}">
        <p14:creationId xmlns:p14="http://schemas.microsoft.com/office/powerpoint/2010/main" val="322942311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pPr>
            <a:r>
              <a:rPr lang="en-US" altLang="zh-CN" dirty="0">
                <a:latin typeface="微软雅黑" pitchFamily="34" charset="-122"/>
                <a:ea typeface="微软雅黑" pitchFamily="34" charset="-122"/>
                <a:sym typeface="Wingdings" pitchFamily="2" charset="2"/>
              </a:rPr>
              <a:t></a:t>
            </a:r>
            <a:r>
              <a:rPr lang="zh-CN" altLang="en-US" dirty="0">
                <a:latin typeface="微软雅黑" pitchFamily="34" charset="-122"/>
                <a:ea typeface="微软雅黑" pitchFamily="34" charset="-122"/>
              </a:rPr>
              <a:t>：</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服务器被动打开 </a:t>
            </a:r>
            <a:r>
              <a:rPr lang="en-US" altLang="zh-CN" dirty="0">
                <a:latin typeface="微软雅黑" pitchFamily="34" charset="-122"/>
                <a:ea typeface="微软雅黑" pitchFamily="34" charset="-122"/>
              </a:rPr>
              <a:t>UDP </a:t>
            </a:r>
            <a:r>
              <a:rPr lang="zh-CN" altLang="en-US" dirty="0">
                <a:latin typeface="微软雅黑" pitchFamily="34" charset="-122"/>
                <a:ea typeface="微软雅黑" pitchFamily="34" charset="-122"/>
              </a:rPr>
              <a:t>端口 </a:t>
            </a:r>
            <a:r>
              <a:rPr lang="en-US" altLang="zh-CN" dirty="0">
                <a:latin typeface="微软雅黑" pitchFamily="34" charset="-122"/>
                <a:ea typeface="微软雅黑" pitchFamily="34" charset="-122"/>
              </a:rPr>
              <a:t>67</a:t>
            </a:r>
            <a:r>
              <a:rPr lang="zh-CN" altLang="en-US" dirty="0">
                <a:latin typeface="微软雅黑" pitchFamily="34" charset="-122"/>
                <a:ea typeface="微软雅黑" pitchFamily="34" charset="-122"/>
              </a:rPr>
              <a:t>，等待客户端发来的报文。</a:t>
            </a:r>
            <a:endParaRPr lang="en-US" altLang="zh-CN" dirty="0">
              <a:latin typeface="微软雅黑" pitchFamily="34" charset="-122"/>
              <a:ea typeface="微软雅黑" pitchFamily="34" charset="-122"/>
            </a:endParaRPr>
          </a:p>
          <a:p>
            <a:pPr>
              <a:lnSpc>
                <a:spcPct val="120000"/>
              </a:lnSpc>
            </a:pPr>
            <a:r>
              <a:rPr lang="zh-CN" altLang="en-US" dirty="0">
                <a:latin typeface="微软雅黑" pitchFamily="34" charset="-122"/>
                <a:ea typeface="微软雅黑" pitchFamily="34" charset="-122"/>
              </a:rPr>
              <a:t>❷：</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客户从 </a:t>
            </a:r>
            <a:r>
              <a:rPr lang="en-US" altLang="zh-CN" dirty="0">
                <a:latin typeface="微软雅黑" pitchFamily="34" charset="-122"/>
                <a:ea typeface="微软雅黑" pitchFamily="34" charset="-122"/>
              </a:rPr>
              <a:t>UDP </a:t>
            </a:r>
            <a:r>
              <a:rPr lang="zh-CN" altLang="en-US" dirty="0">
                <a:latin typeface="微软雅黑" pitchFamily="34" charset="-122"/>
                <a:ea typeface="微软雅黑" pitchFamily="34" charset="-122"/>
              </a:rPr>
              <a:t>端口 </a:t>
            </a:r>
            <a:r>
              <a:rPr lang="en-US" altLang="zh-CN" dirty="0">
                <a:latin typeface="微软雅黑" pitchFamily="34" charset="-122"/>
                <a:ea typeface="微软雅黑" pitchFamily="34" charset="-122"/>
              </a:rPr>
              <a:t>68</a:t>
            </a:r>
            <a:r>
              <a:rPr lang="zh-CN" altLang="en-US" dirty="0">
                <a:latin typeface="微软雅黑" pitchFamily="34" charset="-122"/>
                <a:ea typeface="微软雅黑" pitchFamily="34" charset="-122"/>
              </a:rPr>
              <a:t>，发送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发现报文</a:t>
            </a:r>
            <a:r>
              <a:rPr lang="en-US" altLang="zh-CN" dirty="0">
                <a:latin typeface="微软雅黑" pitchFamily="34" charset="-122"/>
                <a:ea typeface="微软雅黑" pitchFamily="34" charset="-122"/>
              </a:rPr>
              <a:t>DHCPDISCOVER</a:t>
            </a:r>
            <a:r>
              <a:rPr lang="zh-CN" altLang="en-US" dirty="0">
                <a:latin typeface="微软雅黑" pitchFamily="34" charset="-122"/>
                <a:ea typeface="微软雅黑" pitchFamily="34" charset="-122"/>
              </a:rPr>
              <a:t>。</a:t>
            </a:r>
          </a:p>
          <a:p>
            <a:pPr>
              <a:lnSpc>
                <a:spcPct val="120000"/>
              </a:lnSpc>
            </a:pPr>
            <a:r>
              <a:rPr lang="zh-CN" altLang="en-US" dirty="0">
                <a:latin typeface="微软雅黑" pitchFamily="34" charset="-122"/>
                <a:ea typeface="微软雅黑" pitchFamily="34" charset="-122"/>
              </a:rPr>
              <a:t>❸：凡收到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发现报文的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服务器都发出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提供报文 </a:t>
            </a:r>
            <a:r>
              <a:rPr lang="en-US" altLang="zh-CN" dirty="0">
                <a:latin typeface="微软雅黑" pitchFamily="34" charset="-122"/>
                <a:ea typeface="微软雅黑" pitchFamily="34" charset="-122"/>
              </a:rPr>
              <a:t>DHCPOFFER</a:t>
            </a:r>
            <a:r>
              <a:rPr lang="zh-CN" altLang="en-US" dirty="0">
                <a:latin typeface="微软雅黑" pitchFamily="34" charset="-122"/>
                <a:ea typeface="微软雅黑" pitchFamily="34" charset="-122"/>
              </a:rPr>
              <a:t>，因此</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客户可能收到多个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提供报文 。</a:t>
            </a:r>
          </a:p>
          <a:p>
            <a:pPr>
              <a:lnSpc>
                <a:spcPct val="120000"/>
              </a:lnSpc>
            </a:pPr>
            <a:r>
              <a:rPr lang="zh-CN" altLang="en-US" dirty="0">
                <a:latin typeface="微软雅黑" pitchFamily="34" charset="-122"/>
                <a:ea typeface="微软雅黑" pitchFamily="34" charset="-122"/>
              </a:rPr>
              <a:t>❹：</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客户从几个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服务器中选择其中的一个，并向所选择的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服务器发送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a:t>
            </a:r>
            <a:endParaRPr lang="en-US" altLang="zh-CN" dirty="0">
              <a:latin typeface="微软雅黑" pitchFamily="34" charset="-122"/>
              <a:ea typeface="微软雅黑" pitchFamily="34" charset="-122"/>
            </a:endParaRPr>
          </a:p>
          <a:p>
            <a:pPr>
              <a:lnSpc>
                <a:spcPct val="120000"/>
              </a:lnSpc>
            </a:pPr>
            <a:r>
              <a:rPr lang="zh-CN" altLang="en-US" dirty="0">
                <a:latin typeface="微软雅黑" pitchFamily="34" charset="-122"/>
                <a:ea typeface="微软雅黑" pitchFamily="34" charset="-122"/>
              </a:rPr>
              <a:t>❺：被选择的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服务器发送确认报文</a:t>
            </a:r>
            <a:r>
              <a:rPr lang="en-US" altLang="zh-CN" dirty="0">
                <a:latin typeface="微软雅黑" pitchFamily="34" charset="-122"/>
                <a:ea typeface="微软雅黑" pitchFamily="34" charset="-122"/>
              </a:rPr>
              <a:t>DHCPACK</a:t>
            </a:r>
            <a:r>
              <a:rPr lang="zh-CN" altLang="en-US" dirty="0">
                <a:latin typeface="微软雅黑" pitchFamily="34" charset="-122"/>
                <a:ea typeface="微软雅黑" pitchFamily="34" charset="-122"/>
              </a:rPr>
              <a:t>，进入已绑定状态，并可开始使用得到的临时 </a:t>
            </a:r>
            <a:r>
              <a:rPr lang="en-US" altLang="zh-CN" dirty="0">
                <a:latin typeface="微软雅黑" pitchFamily="34" charset="-122"/>
                <a:ea typeface="微软雅黑" pitchFamily="34" charset="-122"/>
              </a:rPr>
              <a:t>IP </a:t>
            </a:r>
            <a:r>
              <a:rPr lang="zh-CN" altLang="en-US" dirty="0">
                <a:latin typeface="微软雅黑" pitchFamily="34" charset="-122"/>
                <a:ea typeface="微软雅黑" pitchFamily="34" charset="-122"/>
              </a:rPr>
              <a:t>地址了。</a:t>
            </a:r>
            <a:endParaRPr lang="en-US" altLang="zh-CN" dirty="0">
              <a:latin typeface="微软雅黑" pitchFamily="34" charset="-122"/>
              <a:ea typeface="微软雅黑" pitchFamily="34" charset="-122"/>
            </a:endParaRPr>
          </a:p>
          <a:p>
            <a:pPr>
              <a:lnSpc>
                <a:spcPct val="120000"/>
              </a:lnSpc>
            </a:pPr>
            <a:endParaRPr lang="zh-CN" altLang="en-US" dirty="0">
              <a:latin typeface="微软雅黑" pitchFamily="34" charset="-122"/>
              <a:ea typeface="微软雅黑" pitchFamily="34" charset="-122"/>
            </a:endParaRPr>
          </a:p>
          <a:p>
            <a:pPr>
              <a:lnSpc>
                <a:spcPct val="120000"/>
              </a:lnSpc>
            </a:pP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客户现在要根据服务器提供的租用期 </a:t>
            </a:r>
            <a:r>
              <a:rPr lang="en-US" altLang="zh-CN" dirty="0">
                <a:latin typeface="微软雅黑" pitchFamily="34" charset="-122"/>
                <a:ea typeface="微软雅黑" pitchFamily="34" charset="-122"/>
              </a:rPr>
              <a:t>T </a:t>
            </a:r>
            <a:r>
              <a:rPr lang="zh-CN" altLang="en-US" dirty="0">
                <a:latin typeface="微软雅黑" pitchFamily="34" charset="-122"/>
                <a:ea typeface="微软雅黑" pitchFamily="34" charset="-122"/>
              </a:rPr>
              <a:t>设置两个计时器 </a:t>
            </a:r>
            <a:r>
              <a:rPr lang="en-US" altLang="zh-CN" dirty="0">
                <a:latin typeface="微软雅黑" pitchFamily="34" charset="-122"/>
                <a:ea typeface="微软雅黑" pitchFamily="34" charset="-122"/>
              </a:rPr>
              <a:t>T1 </a:t>
            </a:r>
            <a:r>
              <a:rPr lang="zh-CN" altLang="en-US" dirty="0">
                <a:latin typeface="微软雅黑" pitchFamily="34" charset="-122"/>
                <a:ea typeface="微软雅黑" pitchFamily="34" charset="-122"/>
              </a:rPr>
              <a:t>和 </a:t>
            </a:r>
            <a:r>
              <a:rPr lang="en-US" altLang="zh-CN" dirty="0">
                <a:latin typeface="微软雅黑" pitchFamily="34" charset="-122"/>
                <a:ea typeface="微软雅黑" pitchFamily="34" charset="-122"/>
              </a:rPr>
              <a:t>T2</a:t>
            </a:r>
            <a:r>
              <a:rPr lang="zh-CN" altLang="en-US" dirty="0">
                <a:latin typeface="微软雅黑" pitchFamily="34" charset="-122"/>
                <a:ea typeface="微软雅黑" pitchFamily="34" charset="-122"/>
              </a:rPr>
              <a:t>，它们的超时时间分别是 </a:t>
            </a:r>
            <a:r>
              <a:rPr lang="en-US" altLang="zh-CN" dirty="0">
                <a:latin typeface="微软雅黑" pitchFamily="34" charset="-122"/>
                <a:ea typeface="微软雅黑" pitchFamily="34" charset="-122"/>
              </a:rPr>
              <a:t>0.5T </a:t>
            </a:r>
            <a:r>
              <a:rPr lang="zh-CN" altLang="en-US" dirty="0">
                <a:latin typeface="微软雅黑" pitchFamily="34" charset="-122"/>
                <a:ea typeface="微软雅黑" pitchFamily="34" charset="-122"/>
              </a:rPr>
              <a:t>和 </a:t>
            </a:r>
            <a:r>
              <a:rPr lang="en-US" altLang="zh-CN" dirty="0">
                <a:latin typeface="微软雅黑" pitchFamily="34" charset="-122"/>
                <a:ea typeface="微软雅黑" pitchFamily="34" charset="-122"/>
              </a:rPr>
              <a:t>0.875T</a:t>
            </a:r>
            <a:r>
              <a:rPr lang="zh-CN" altLang="en-US" dirty="0">
                <a:latin typeface="微软雅黑" pitchFamily="34" charset="-122"/>
                <a:ea typeface="微软雅黑" pitchFamily="34" charset="-122"/>
              </a:rPr>
              <a:t>。当超时时间到就要请求更新租用期。</a:t>
            </a:r>
            <a:endParaRPr lang="en-US" altLang="zh-CN" dirty="0">
              <a:latin typeface="微软雅黑" pitchFamily="34" charset="-122"/>
              <a:ea typeface="微软雅黑" pitchFamily="34" charset="-122"/>
            </a:endParaRPr>
          </a:p>
          <a:p>
            <a:pPr>
              <a:lnSpc>
                <a:spcPct val="120000"/>
              </a:lnSpc>
            </a:pPr>
            <a:endParaRPr lang="zh-CN" altLang="en-US" dirty="0">
              <a:latin typeface="微软雅黑" pitchFamily="34" charset="-122"/>
              <a:ea typeface="微软雅黑" pitchFamily="34" charset="-122"/>
            </a:endParaRPr>
          </a:p>
          <a:p>
            <a:pPr>
              <a:lnSpc>
                <a:spcPct val="120000"/>
              </a:lnSpc>
            </a:pPr>
            <a:r>
              <a:rPr lang="zh-CN" altLang="en-US" dirty="0">
                <a:latin typeface="微软雅黑" pitchFamily="34" charset="-122"/>
                <a:ea typeface="微软雅黑" pitchFamily="34" charset="-122"/>
              </a:rPr>
              <a:t>❻：租用期过了一半（</a:t>
            </a:r>
            <a:r>
              <a:rPr lang="en-US" altLang="zh-CN" dirty="0">
                <a:latin typeface="微软雅黑" pitchFamily="34" charset="-122"/>
                <a:ea typeface="微软雅黑" pitchFamily="34" charset="-122"/>
              </a:rPr>
              <a:t>T1 </a:t>
            </a:r>
            <a:r>
              <a:rPr lang="zh-CN" altLang="en-US" dirty="0">
                <a:latin typeface="微软雅黑" pitchFamily="34" charset="-122"/>
                <a:ea typeface="微软雅黑" pitchFamily="34" charset="-122"/>
              </a:rPr>
              <a:t>时间到），</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发送请求报文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，要求更新租用期。 </a:t>
            </a:r>
            <a:endParaRPr lang="en-US" altLang="zh-CN" dirty="0">
              <a:latin typeface="微软雅黑" pitchFamily="34" charset="-122"/>
              <a:ea typeface="微软雅黑" pitchFamily="34" charset="-122"/>
            </a:endParaRPr>
          </a:p>
          <a:p>
            <a:pPr>
              <a:lnSpc>
                <a:spcPct val="120000"/>
              </a:lnSpc>
            </a:pPr>
            <a:endParaRPr lang="en-US" altLang="zh-CN" dirty="0">
              <a:latin typeface="微软雅黑" pitchFamily="34" charset="-122"/>
              <a:ea typeface="微软雅黑" pitchFamily="34" charset="-122"/>
            </a:endParaRPr>
          </a:p>
          <a:p>
            <a:pPr>
              <a:lnSpc>
                <a:spcPct val="130000"/>
              </a:lnSpc>
            </a:pPr>
            <a:r>
              <a:rPr lang="zh-CN" altLang="en-US" dirty="0">
                <a:latin typeface="微软雅黑" pitchFamily="34" charset="-122"/>
                <a:ea typeface="微软雅黑" pitchFamily="34" charset="-122"/>
              </a:rPr>
              <a:t>❼：</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服务器若同意，则发回确认报文</a:t>
            </a:r>
            <a:r>
              <a:rPr lang="en-US" altLang="zh-CN" dirty="0">
                <a:latin typeface="微软雅黑" pitchFamily="34" charset="-122"/>
                <a:ea typeface="微软雅黑" pitchFamily="34" charset="-122"/>
              </a:rPr>
              <a:t>DHCPACK</a:t>
            </a:r>
            <a:r>
              <a:rPr lang="zh-CN" altLang="en-US" dirty="0">
                <a:latin typeface="微软雅黑" pitchFamily="34" charset="-122"/>
                <a:ea typeface="微软雅黑" pitchFamily="34" charset="-122"/>
              </a:rPr>
              <a:t>。</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客户得到了新的租用期，重新设置计时器。</a:t>
            </a:r>
          </a:p>
          <a:p>
            <a:pPr>
              <a:lnSpc>
                <a:spcPct val="130000"/>
              </a:lnSpc>
            </a:pPr>
            <a:r>
              <a:rPr lang="zh-CN" altLang="en-US" dirty="0">
                <a:latin typeface="微软雅黑" pitchFamily="34" charset="-122"/>
                <a:ea typeface="微软雅黑" pitchFamily="34" charset="-122"/>
              </a:rPr>
              <a:t>❽：</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服务器若不同意，则发回否认报 </a:t>
            </a:r>
            <a:r>
              <a:rPr lang="en-US" altLang="zh-CN" dirty="0">
                <a:latin typeface="微软雅黑" pitchFamily="34" charset="-122"/>
                <a:ea typeface="微软雅黑" pitchFamily="34" charset="-122"/>
              </a:rPr>
              <a:t>DHCPNACK</a:t>
            </a:r>
            <a:r>
              <a:rPr lang="zh-CN" altLang="en-US" dirty="0">
                <a:latin typeface="微软雅黑" pitchFamily="34" charset="-122"/>
                <a:ea typeface="微软雅黑" pitchFamily="34" charset="-122"/>
              </a:rPr>
              <a:t>。这时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客户必须立即停止使用原来的 </a:t>
            </a:r>
            <a:r>
              <a:rPr lang="en-US" altLang="zh-CN" dirty="0">
                <a:latin typeface="微软雅黑" pitchFamily="34" charset="-122"/>
                <a:ea typeface="微软雅黑" pitchFamily="34" charset="-122"/>
              </a:rPr>
              <a:t>IP </a:t>
            </a:r>
            <a:r>
              <a:rPr lang="zh-CN" altLang="en-US" dirty="0">
                <a:latin typeface="微软雅黑" pitchFamily="34" charset="-122"/>
                <a:ea typeface="微软雅黑" pitchFamily="34" charset="-122"/>
              </a:rPr>
              <a:t>地址，而必须重新申请 </a:t>
            </a:r>
            <a:r>
              <a:rPr lang="en-US" altLang="zh-CN" dirty="0">
                <a:latin typeface="微软雅黑" pitchFamily="34" charset="-122"/>
                <a:ea typeface="微软雅黑" pitchFamily="34" charset="-122"/>
              </a:rPr>
              <a:t>IP </a:t>
            </a:r>
            <a:r>
              <a:rPr lang="zh-CN" altLang="en-US" dirty="0">
                <a:latin typeface="微软雅黑" pitchFamily="34" charset="-122"/>
                <a:ea typeface="微软雅黑" pitchFamily="34" charset="-122"/>
              </a:rPr>
              <a:t>地址（回到步骤  ❷）。</a:t>
            </a:r>
            <a:endParaRPr lang="en-US" altLang="zh-CN" dirty="0">
              <a:latin typeface="微软雅黑" pitchFamily="34" charset="-122"/>
              <a:ea typeface="微软雅黑" pitchFamily="34" charset="-122"/>
            </a:endParaRPr>
          </a:p>
          <a:p>
            <a:pPr>
              <a:lnSpc>
                <a:spcPct val="130000"/>
              </a:lnSpc>
            </a:pPr>
            <a:endParaRPr lang="zh-CN" altLang="en-US" dirty="0">
              <a:latin typeface="微软雅黑" pitchFamily="34" charset="-122"/>
              <a:ea typeface="微软雅黑" pitchFamily="34" charset="-122"/>
            </a:endParaRPr>
          </a:p>
          <a:p>
            <a:pPr>
              <a:lnSpc>
                <a:spcPct val="130000"/>
              </a:lnSpc>
            </a:pPr>
            <a:r>
              <a:rPr lang="zh-CN" altLang="en-US" dirty="0">
                <a:latin typeface="微软雅黑" pitchFamily="34" charset="-122"/>
                <a:ea typeface="微软雅黑" pitchFamily="34" charset="-122"/>
              </a:rPr>
              <a:t>若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服务器不响应步骤  ❻ 的请求报文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，则在租用期过了 </a:t>
            </a:r>
            <a:r>
              <a:rPr lang="en-US" altLang="zh-CN" dirty="0">
                <a:latin typeface="微软雅黑" pitchFamily="34" charset="-122"/>
                <a:ea typeface="微软雅黑" pitchFamily="34" charset="-122"/>
              </a:rPr>
              <a:t>87.5% </a:t>
            </a:r>
            <a:r>
              <a:rPr lang="zh-CN" altLang="en-US" dirty="0">
                <a:latin typeface="微软雅黑" pitchFamily="34" charset="-122"/>
                <a:ea typeface="微软雅黑" pitchFamily="34" charset="-122"/>
              </a:rPr>
              <a:t>时，</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客户必须重新发送请求报文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（重复步骤  ❻），然后又继续后面的步骤。 </a:t>
            </a:r>
            <a:endParaRPr lang="en-US" altLang="zh-CN" dirty="0">
              <a:latin typeface="微软雅黑" pitchFamily="34" charset="-122"/>
              <a:ea typeface="微软雅黑" pitchFamily="34" charset="-122"/>
            </a:endParaRPr>
          </a:p>
          <a:p>
            <a:pPr>
              <a:lnSpc>
                <a:spcPct val="130000"/>
              </a:lnSpc>
            </a:pPr>
            <a:endParaRPr lang="en-US" altLang="zh-CN" dirty="0">
              <a:latin typeface="微软雅黑" pitchFamily="34" charset="-122"/>
              <a:ea typeface="微软雅黑" pitchFamily="34" charset="-122"/>
            </a:endParaRPr>
          </a:p>
          <a:p>
            <a:pPr>
              <a:lnSpc>
                <a:spcPct val="130000"/>
              </a:lnSpc>
            </a:pPr>
            <a:r>
              <a:rPr lang="zh-CN" altLang="en-US" dirty="0">
                <a:latin typeface="微软雅黑" pitchFamily="34" charset="-122"/>
                <a:ea typeface="微软雅黑" pitchFamily="34" charset="-122"/>
              </a:rPr>
              <a:t>❾：</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客户可随时提前终止服务器所提供的租用期，这时只需向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服务器发送释放报文 </a:t>
            </a:r>
            <a:r>
              <a:rPr lang="en-US" altLang="zh-CN" dirty="0">
                <a:latin typeface="微软雅黑" pitchFamily="34" charset="-122"/>
                <a:ea typeface="微软雅黑" pitchFamily="34" charset="-122"/>
              </a:rPr>
              <a:t>DHCPRELEASE </a:t>
            </a:r>
            <a:r>
              <a:rPr lang="zh-CN" altLang="en-US" dirty="0">
                <a:latin typeface="微软雅黑" pitchFamily="34" charset="-122"/>
                <a:ea typeface="微软雅黑" pitchFamily="34" charset="-122"/>
              </a:rPr>
              <a:t>即可。</a:t>
            </a:r>
          </a:p>
          <a:p>
            <a:pPr>
              <a:lnSpc>
                <a:spcPct val="120000"/>
              </a:lnSpc>
            </a:pPr>
            <a:endParaRPr lang="zh-CN" altLang="en-US"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138</a:t>
            </a:fld>
            <a:endParaRPr kumimoji="1" lang="zh-CN" altLang="en-US"/>
          </a:p>
        </p:txBody>
      </p:sp>
    </p:spTree>
    <p:extLst>
      <p:ext uri="{BB962C8B-B14F-4D97-AF65-F5344CB8AC3E}">
        <p14:creationId xmlns:p14="http://schemas.microsoft.com/office/powerpoint/2010/main" val="38753936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buClr>
                <a:srgbClr val="C00000"/>
              </a:buClr>
              <a:buSzPct val="90000"/>
            </a:pPr>
            <a:r>
              <a:rPr lang="zh-CN" altLang="en-US" dirty="0">
                <a:latin typeface="+mn-ea"/>
                <a:cs typeface="Times New Roman" panose="02020603050405020304" pitchFamily="18" charset="0"/>
              </a:rPr>
              <a:t>局域网上的每个</a:t>
            </a:r>
            <a:r>
              <a:rPr lang="en-US" altLang="zh-CN" dirty="0">
                <a:latin typeface="+mn-ea"/>
                <a:cs typeface="Times New Roman" panose="02020603050405020304" pitchFamily="18" charset="0"/>
              </a:rPr>
              <a:t>IP</a:t>
            </a:r>
            <a:r>
              <a:rPr lang="zh-CN" altLang="en-US" dirty="0">
                <a:latin typeface="+mn-ea"/>
                <a:cs typeface="Times New Roman" panose="02020603050405020304" pitchFamily="18" charset="0"/>
              </a:rPr>
              <a:t>节点（主机或路由器）都有</a:t>
            </a:r>
            <a:r>
              <a:rPr lang="en-US" altLang="zh-CN" dirty="0">
                <a:latin typeface="+mn-ea"/>
                <a:cs typeface="Times New Roman" panose="02020603050405020304" pitchFamily="18" charset="0"/>
              </a:rPr>
              <a:t>ARP</a:t>
            </a:r>
            <a:r>
              <a:rPr lang="zh-CN" altLang="en-US" dirty="0">
                <a:latin typeface="+mn-ea"/>
                <a:cs typeface="Times New Roman" panose="02020603050405020304" pitchFamily="18" charset="0"/>
              </a:rPr>
              <a:t>表</a:t>
            </a:r>
            <a:endParaRPr lang="en-US" altLang="zh-CN" dirty="0">
              <a:latin typeface="+mn-ea"/>
              <a:cs typeface="Times New Roman" panose="02020603050405020304" pitchFamily="18" charset="0"/>
            </a:endParaRPr>
          </a:p>
          <a:p>
            <a:pPr>
              <a:buClr>
                <a:srgbClr val="C00000"/>
              </a:buClr>
              <a:buSzPct val="90000"/>
            </a:pPr>
            <a:r>
              <a:rPr lang="en-US" altLang="zh-CN" dirty="0">
                <a:latin typeface="+mn-ea"/>
                <a:cs typeface="Times New Roman" panose="02020603050405020304" pitchFamily="18" charset="0"/>
              </a:rPr>
              <a:t>ARP</a:t>
            </a:r>
            <a:r>
              <a:rPr lang="zh-CN" altLang="en-US" dirty="0">
                <a:latin typeface="+mn-ea"/>
                <a:cs typeface="Times New Roman" panose="02020603050405020304" pitchFamily="18" charset="0"/>
              </a:rPr>
              <a:t>表缓存</a:t>
            </a:r>
            <a:r>
              <a:rPr lang="en-US" altLang="zh-CN" dirty="0">
                <a:latin typeface="+mn-ea"/>
                <a:cs typeface="Times New Roman" panose="02020603050405020304" pitchFamily="18" charset="0"/>
              </a:rPr>
              <a:t>IP</a:t>
            </a:r>
            <a:r>
              <a:rPr lang="zh-CN" altLang="en-US" dirty="0">
                <a:latin typeface="+mn-ea"/>
                <a:cs typeface="Times New Roman" panose="02020603050405020304" pitchFamily="18" charset="0"/>
              </a:rPr>
              <a:t>地址与</a:t>
            </a:r>
            <a:r>
              <a:rPr lang="en-US" altLang="zh-CN" dirty="0">
                <a:latin typeface="+mn-ea"/>
                <a:cs typeface="Times New Roman" panose="02020603050405020304" pitchFamily="18" charset="0"/>
              </a:rPr>
              <a:t>MAC</a:t>
            </a:r>
            <a:r>
              <a:rPr lang="zh-CN" altLang="en-US" dirty="0">
                <a:latin typeface="+mn-ea"/>
                <a:cs typeface="Times New Roman" panose="02020603050405020304" pitchFamily="18" charset="0"/>
              </a:rPr>
              <a:t>地址的映射关系：</a:t>
            </a:r>
            <a:endParaRPr lang="en-US" altLang="zh-CN" dirty="0">
              <a:latin typeface="+mn-ea"/>
              <a:cs typeface="Times New Roman" panose="02020603050405020304" pitchFamily="18" charset="0"/>
            </a:endParaRPr>
          </a:p>
          <a:p>
            <a:pPr fontAlgn="t"/>
            <a:r>
              <a:rPr lang="en-US" altLang="zh-CN" dirty="0">
                <a:latin typeface="+mn-ea"/>
              </a:rPr>
              <a:t>   IP</a:t>
            </a:r>
            <a:r>
              <a:rPr lang="zh-CN" altLang="zh-CN" dirty="0">
                <a:latin typeface="+mn-ea"/>
              </a:rPr>
              <a:t>地址</a:t>
            </a:r>
            <a:r>
              <a:rPr lang="en-US" altLang="zh-CN" dirty="0">
                <a:latin typeface="+mn-ea"/>
              </a:rPr>
              <a:t>     MAC</a:t>
            </a:r>
            <a:r>
              <a:rPr lang="zh-CN" altLang="zh-CN" dirty="0">
                <a:latin typeface="+mn-ea"/>
              </a:rPr>
              <a:t>地址</a:t>
            </a:r>
            <a:r>
              <a:rPr lang="en-US" altLang="zh-CN" dirty="0">
                <a:latin typeface="+mn-ea"/>
              </a:rPr>
              <a:t>     TTL</a:t>
            </a:r>
            <a:endParaRPr lang="zh-CN" altLang="zh-CN" dirty="0">
              <a:latin typeface="+mn-ea"/>
            </a:endParaRPr>
          </a:p>
          <a:p>
            <a:pPr>
              <a:buClr>
                <a:srgbClr val="C00000"/>
              </a:buClr>
              <a:buSzPct val="90000"/>
            </a:pPr>
            <a:endParaRPr lang="en-US" altLang="zh-CN" dirty="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140</a:t>
            </a:fld>
            <a:endParaRPr kumimoji="1" lang="zh-CN" altLang="en-US"/>
          </a:p>
        </p:txBody>
      </p:sp>
    </p:spTree>
    <p:extLst>
      <p:ext uri="{BB962C8B-B14F-4D97-AF65-F5344CB8AC3E}">
        <p14:creationId xmlns:p14="http://schemas.microsoft.com/office/powerpoint/2010/main" val="303980069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buClr>
                <a:srgbClr val="0070C0"/>
              </a:buClr>
            </a:pPr>
            <a:r>
              <a:rPr lang="en-US" altLang="zh-CN" dirty="0">
                <a:latin typeface="+mn-ea"/>
              </a:rPr>
              <a:t>ARP </a:t>
            </a:r>
            <a:r>
              <a:rPr lang="zh-CN" altLang="en-US" dirty="0">
                <a:latin typeface="+mn-ea"/>
              </a:rPr>
              <a:t>高速缓存的作用：</a:t>
            </a:r>
            <a:endParaRPr lang="en-US" altLang="zh-CN" dirty="0">
              <a:solidFill>
                <a:srgbClr val="0000FF"/>
              </a:solidFill>
              <a:latin typeface="+mn-ea"/>
            </a:endParaRPr>
          </a:p>
          <a:p>
            <a:pPr>
              <a:lnSpc>
                <a:spcPct val="120000"/>
              </a:lnSpc>
              <a:buClr>
                <a:srgbClr val="0070C0"/>
              </a:buClr>
            </a:pPr>
            <a:r>
              <a:rPr lang="zh-CN" altLang="en-US" dirty="0">
                <a:solidFill>
                  <a:srgbClr val="0000FF"/>
                </a:solidFill>
                <a:latin typeface="+mn-ea"/>
              </a:rPr>
              <a:t>存放最近获得的 </a:t>
            </a:r>
            <a:r>
              <a:rPr lang="en-US" altLang="zh-CN" dirty="0">
                <a:solidFill>
                  <a:srgbClr val="0000FF"/>
                </a:solidFill>
                <a:latin typeface="+mn-ea"/>
              </a:rPr>
              <a:t>IP </a:t>
            </a:r>
            <a:r>
              <a:rPr lang="zh-CN" altLang="en-US" dirty="0">
                <a:solidFill>
                  <a:srgbClr val="0000FF"/>
                </a:solidFill>
                <a:latin typeface="+mn-ea"/>
              </a:rPr>
              <a:t>地址到 </a:t>
            </a:r>
            <a:r>
              <a:rPr lang="en-US" altLang="zh-CN" dirty="0">
                <a:solidFill>
                  <a:srgbClr val="0000FF"/>
                </a:solidFill>
                <a:latin typeface="+mn-ea"/>
              </a:rPr>
              <a:t>MAC </a:t>
            </a:r>
            <a:r>
              <a:rPr lang="zh-CN" altLang="en-US" dirty="0">
                <a:solidFill>
                  <a:srgbClr val="0000FF"/>
                </a:solidFill>
                <a:latin typeface="+mn-ea"/>
              </a:rPr>
              <a:t>地址的绑定，以减少 </a:t>
            </a:r>
            <a:r>
              <a:rPr lang="en-US" altLang="zh-CN" dirty="0">
                <a:solidFill>
                  <a:srgbClr val="0000FF"/>
                </a:solidFill>
                <a:latin typeface="+mn-ea"/>
              </a:rPr>
              <a:t>ARP </a:t>
            </a:r>
            <a:r>
              <a:rPr lang="zh-CN" altLang="en-US" dirty="0">
                <a:solidFill>
                  <a:srgbClr val="0000FF"/>
                </a:solidFill>
                <a:latin typeface="+mn-ea"/>
              </a:rPr>
              <a:t>广播的数量</a:t>
            </a:r>
          </a:p>
          <a:p>
            <a:pPr>
              <a:lnSpc>
                <a:spcPct val="120000"/>
              </a:lnSpc>
              <a:buClr>
                <a:srgbClr val="0070C0"/>
              </a:buClr>
            </a:pPr>
            <a:r>
              <a:rPr lang="zh-CN" altLang="en-US" dirty="0">
                <a:latin typeface="+mn-ea"/>
              </a:rPr>
              <a:t>为了减少网络上的通信量，主机 </a:t>
            </a:r>
            <a:r>
              <a:rPr lang="en-US" altLang="zh-CN" dirty="0">
                <a:latin typeface="+mn-ea"/>
              </a:rPr>
              <a:t>A </a:t>
            </a:r>
            <a:r>
              <a:rPr lang="zh-CN" altLang="en-US" dirty="0">
                <a:latin typeface="+mn-ea"/>
              </a:rPr>
              <a:t>在发送其 </a:t>
            </a:r>
            <a:r>
              <a:rPr lang="en-US" altLang="zh-CN" dirty="0">
                <a:latin typeface="+mn-ea"/>
              </a:rPr>
              <a:t>ARP </a:t>
            </a:r>
            <a:r>
              <a:rPr lang="zh-CN" altLang="en-US" dirty="0">
                <a:latin typeface="+mn-ea"/>
              </a:rPr>
              <a:t>请求分组时，就将自己的 </a:t>
            </a:r>
            <a:r>
              <a:rPr lang="en-US" altLang="zh-CN" dirty="0">
                <a:latin typeface="+mn-ea"/>
              </a:rPr>
              <a:t>IP </a:t>
            </a:r>
            <a:r>
              <a:rPr lang="zh-CN" altLang="en-US" dirty="0">
                <a:latin typeface="+mn-ea"/>
              </a:rPr>
              <a:t>地址到硬件地址的映射写入 </a:t>
            </a:r>
            <a:r>
              <a:rPr lang="en-US" altLang="zh-CN" dirty="0">
                <a:latin typeface="+mn-ea"/>
              </a:rPr>
              <a:t>ARP </a:t>
            </a:r>
            <a:r>
              <a:rPr lang="zh-CN" altLang="en-US" dirty="0">
                <a:latin typeface="+mn-ea"/>
              </a:rPr>
              <a:t>请求分组</a:t>
            </a:r>
          </a:p>
          <a:p>
            <a:pPr>
              <a:lnSpc>
                <a:spcPct val="120000"/>
              </a:lnSpc>
              <a:buClr>
                <a:srgbClr val="0070C0"/>
              </a:buClr>
            </a:pPr>
            <a:r>
              <a:rPr lang="zh-CN" altLang="en-US" dirty="0">
                <a:latin typeface="+mn-ea"/>
              </a:rPr>
              <a:t>当主机 </a:t>
            </a:r>
            <a:r>
              <a:rPr lang="en-US" altLang="zh-CN" dirty="0">
                <a:latin typeface="+mn-ea"/>
              </a:rPr>
              <a:t>B </a:t>
            </a:r>
            <a:r>
              <a:rPr lang="zh-CN" altLang="en-US" dirty="0">
                <a:latin typeface="+mn-ea"/>
              </a:rPr>
              <a:t>收到 </a:t>
            </a:r>
            <a:r>
              <a:rPr lang="en-US" altLang="zh-CN" dirty="0">
                <a:latin typeface="+mn-ea"/>
              </a:rPr>
              <a:t>A </a:t>
            </a:r>
            <a:r>
              <a:rPr lang="zh-CN" altLang="en-US" dirty="0">
                <a:latin typeface="+mn-ea"/>
              </a:rPr>
              <a:t>的 </a:t>
            </a:r>
            <a:r>
              <a:rPr lang="en-US" altLang="zh-CN" dirty="0">
                <a:latin typeface="+mn-ea"/>
              </a:rPr>
              <a:t>ARP </a:t>
            </a:r>
            <a:r>
              <a:rPr lang="zh-CN" altLang="en-US" dirty="0">
                <a:latin typeface="+mn-ea"/>
              </a:rPr>
              <a:t>请求分组时，就将主机 </a:t>
            </a:r>
            <a:r>
              <a:rPr lang="en-US" altLang="zh-CN" dirty="0">
                <a:latin typeface="+mn-ea"/>
              </a:rPr>
              <a:t>A </a:t>
            </a:r>
            <a:r>
              <a:rPr lang="zh-CN" altLang="en-US" dirty="0">
                <a:latin typeface="+mn-ea"/>
              </a:rPr>
              <a:t>的这一地址映射写入主机 </a:t>
            </a:r>
            <a:r>
              <a:rPr lang="en-US" altLang="zh-CN" dirty="0">
                <a:latin typeface="+mn-ea"/>
              </a:rPr>
              <a:t>B </a:t>
            </a:r>
            <a:r>
              <a:rPr lang="zh-CN" altLang="en-US" dirty="0">
                <a:latin typeface="+mn-ea"/>
              </a:rPr>
              <a:t>自己的 </a:t>
            </a:r>
            <a:r>
              <a:rPr lang="en-US" altLang="zh-CN" dirty="0">
                <a:latin typeface="+mn-ea"/>
              </a:rPr>
              <a:t>ARP </a:t>
            </a:r>
            <a:r>
              <a:rPr lang="zh-CN" altLang="en-US" dirty="0">
                <a:latin typeface="+mn-ea"/>
              </a:rPr>
              <a:t>高速缓存中。这对主机 </a:t>
            </a:r>
            <a:r>
              <a:rPr lang="en-US" altLang="zh-CN" dirty="0">
                <a:latin typeface="+mn-ea"/>
              </a:rPr>
              <a:t>B </a:t>
            </a:r>
            <a:r>
              <a:rPr lang="zh-CN" altLang="en-US" dirty="0">
                <a:latin typeface="+mn-ea"/>
              </a:rPr>
              <a:t>以后向 </a:t>
            </a:r>
            <a:r>
              <a:rPr lang="en-US" altLang="zh-CN" dirty="0">
                <a:latin typeface="+mn-ea"/>
              </a:rPr>
              <a:t>A </a:t>
            </a:r>
            <a:r>
              <a:rPr lang="zh-CN" altLang="en-US" dirty="0">
                <a:latin typeface="+mn-ea"/>
              </a:rPr>
              <a:t>发送数据报时就更方便了</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141</a:t>
            </a:fld>
            <a:endParaRPr kumimoji="1" lang="zh-CN" altLang="en-US"/>
          </a:p>
        </p:txBody>
      </p:sp>
    </p:spTree>
    <p:extLst>
      <p:ext uri="{BB962C8B-B14F-4D97-AF65-F5344CB8AC3E}">
        <p14:creationId xmlns:p14="http://schemas.microsoft.com/office/powerpoint/2010/main" val="115946801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146</a:t>
            </a:fld>
            <a:endParaRPr kumimoji="1" lang="zh-CN" altLang="en-US"/>
          </a:p>
        </p:txBody>
      </p:sp>
    </p:spTree>
    <p:extLst>
      <p:ext uri="{BB962C8B-B14F-4D97-AF65-F5344CB8AC3E}">
        <p14:creationId xmlns:p14="http://schemas.microsoft.com/office/powerpoint/2010/main" val="299610446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注：根据</a:t>
            </a:r>
            <a:r>
              <a:rPr lang="en-US" altLang="zh-CN" dirty="0"/>
              <a:t>RFC 6633</a:t>
            </a:r>
            <a:r>
              <a:rPr lang="zh-CN" altLang="en-US" dirty="0"/>
              <a:t>规定，已不再使用类型值为</a:t>
            </a:r>
            <a:r>
              <a:rPr lang="en-US" altLang="zh-CN" dirty="0"/>
              <a:t>4</a:t>
            </a:r>
            <a:r>
              <a:rPr lang="zh-CN" altLang="en-US" dirty="0"/>
              <a:t>、</a:t>
            </a:r>
            <a:r>
              <a:rPr lang="en-US" altLang="zh-CN" dirty="0"/>
              <a:t>10</a:t>
            </a:r>
            <a:r>
              <a:rPr lang="zh-CN" altLang="en-US" dirty="0"/>
              <a:t>或</a:t>
            </a:r>
            <a:r>
              <a:rPr lang="en-US" altLang="zh-CN" dirty="0"/>
              <a:t>9</a:t>
            </a:r>
            <a:r>
              <a:rPr lang="zh-CN" altLang="en-US" dirty="0"/>
              <a:t>、</a:t>
            </a:r>
            <a:r>
              <a:rPr lang="en-US" altLang="zh-CN" dirty="0"/>
              <a:t>15</a:t>
            </a:r>
            <a:r>
              <a:rPr lang="zh-CN" altLang="en-US" dirty="0"/>
              <a:t>或</a:t>
            </a:r>
            <a:r>
              <a:rPr lang="en-US" altLang="zh-CN" dirty="0"/>
              <a:t>16</a:t>
            </a:r>
            <a:r>
              <a:rPr lang="zh-CN" altLang="en-US" dirty="0"/>
              <a:t>、</a:t>
            </a:r>
            <a:r>
              <a:rPr lang="en-US" altLang="zh-CN" dirty="0"/>
              <a:t>17</a:t>
            </a:r>
            <a:r>
              <a:rPr lang="zh-CN" altLang="en-US" dirty="0"/>
              <a:t>或</a:t>
            </a:r>
            <a:r>
              <a:rPr lang="en-US" altLang="zh-CN" dirty="0"/>
              <a:t>18</a:t>
            </a:r>
            <a:r>
              <a:rPr lang="zh-CN" altLang="en-US" dirty="0"/>
              <a:t>的报文。</a:t>
            </a:r>
          </a:p>
          <a:p>
            <a:pPr marL="0" lvl="2">
              <a:lnSpc>
                <a:spcPct val="150000"/>
              </a:lnSpc>
              <a:buClr>
                <a:srgbClr val="0070C0"/>
              </a:buClr>
            </a:pPr>
            <a:r>
              <a:rPr lang="zh-CN" altLang="en-US" dirty="0"/>
              <a:t>目前在使用的差错报告报文：</a:t>
            </a:r>
            <a:r>
              <a:rPr lang="zh-CN" altLang="en-US" dirty="0">
                <a:latin typeface="+mn-ea"/>
              </a:rPr>
              <a:t>终点不可达、时间超过、参数问题、</a:t>
            </a:r>
            <a:r>
              <a:rPr lang="zh-CN" altLang="en-US" dirty="0"/>
              <a:t>改变路由（重定向 </a:t>
            </a:r>
            <a:r>
              <a:rPr lang="en-US" altLang="zh-CN" dirty="0"/>
              <a:t>Redirect) </a:t>
            </a:r>
          </a:p>
          <a:p>
            <a:pPr marL="174625" lvl="2" indent="-174625">
              <a:lnSpc>
                <a:spcPct val="150000"/>
              </a:lnSpc>
              <a:buClr>
                <a:srgbClr val="0070C0"/>
              </a:buClr>
            </a:pPr>
            <a:r>
              <a:rPr lang="zh-CN" altLang="en-US" dirty="0"/>
              <a:t>目前在使用的询问报文：</a:t>
            </a:r>
            <a:r>
              <a:rPr lang="zh-CN" altLang="en-US" dirty="0">
                <a:latin typeface="+mn-ea"/>
              </a:rPr>
              <a:t>回送请求和回答报文、时间戳请求和回答报文</a:t>
            </a:r>
            <a:endParaRPr lang="en-US" altLang="zh-CN" dirty="0">
              <a:latin typeface="+mn-ea"/>
            </a:endParaRPr>
          </a:p>
          <a:p>
            <a:pPr marL="174625" lvl="2" indent="-174625">
              <a:lnSpc>
                <a:spcPct val="150000"/>
              </a:lnSpc>
              <a:buClr>
                <a:srgbClr val="0070C0"/>
              </a:buClr>
            </a:pPr>
            <a:endParaRPr lang="en-US" altLang="zh-CN" dirty="0"/>
          </a:p>
          <a:p>
            <a:pPr marL="174625" lvl="2" indent="-174625">
              <a:lnSpc>
                <a:spcPct val="150000"/>
              </a:lnSpc>
              <a:buClr>
                <a:srgbClr val="0070C0"/>
              </a:buClr>
            </a:pPr>
            <a:endParaRPr lang="en-US" altLang="zh-CN" dirty="0"/>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149</a:t>
            </a:fld>
            <a:endParaRPr kumimoji="1" lang="zh-CN" altLang="en-US"/>
          </a:p>
        </p:txBody>
      </p:sp>
    </p:spTree>
    <p:extLst>
      <p:ext uri="{BB962C8B-B14F-4D97-AF65-F5344CB8AC3E}">
        <p14:creationId xmlns:p14="http://schemas.microsoft.com/office/powerpoint/2010/main" val="138806446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lnSpc>
                <a:spcPct val="120000"/>
              </a:lnSpc>
              <a:buNone/>
            </a:pPr>
            <a:r>
              <a:rPr lang="zh-CN" altLang="en-US" sz="1200" b="1" dirty="0">
                <a:latin typeface="微软雅黑" pitchFamily="34" charset="-122"/>
                <a:ea typeface="微软雅黑" pitchFamily="34" charset="-122"/>
              </a:rPr>
              <a:t>不发送 </a:t>
            </a:r>
            <a:r>
              <a:rPr lang="en-US" altLang="zh-CN" sz="1200" b="1" dirty="0">
                <a:latin typeface="微软雅黑" pitchFamily="34" charset="-122"/>
                <a:ea typeface="微软雅黑" pitchFamily="34" charset="-122"/>
              </a:rPr>
              <a:t>ICMP </a:t>
            </a:r>
            <a:r>
              <a:rPr lang="zh-CN" altLang="en-US" sz="1200" b="1" dirty="0">
                <a:latin typeface="微软雅黑" pitchFamily="34" charset="-122"/>
                <a:ea typeface="微软雅黑" pitchFamily="34" charset="-122"/>
              </a:rPr>
              <a:t>差错报告报文的几种情况：</a:t>
            </a:r>
            <a:endParaRPr lang="en-US" altLang="zh-CN" sz="1200" b="1" dirty="0">
              <a:latin typeface="微软雅黑" pitchFamily="34" charset="-122"/>
              <a:ea typeface="微软雅黑" pitchFamily="34" charset="-122"/>
            </a:endParaRPr>
          </a:p>
          <a:p>
            <a:pPr marL="457200" lvl="1" indent="0">
              <a:lnSpc>
                <a:spcPct val="120000"/>
              </a:lnSpc>
              <a:buClr>
                <a:srgbClr val="0070C0"/>
              </a:buClr>
              <a:buNone/>
            </a:pPr>
            <a:r>
              <a:rPr lang="zh-CN" altLang="en-US" sz="1200" dirty="0">
                <a:latin typeface="微软雅黑" pitchFamily="34" charset="-122"/>
                <a:ea typeface="微软雅黑" pitchFamily="34" charset="-122"/>
              </a:rPr>
              <a:t>对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差错报告报文不再发送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对第一个分片的数据报片的所有后续数据报片都不发送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对具有多播地址的数据报都不发送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对具有特殊地址（如</a:t>
            </a:r>
            <a:r>
              <a:rPr lang="en-US" altLang="zh-CN" sz="1200" dirty="0">
                <a:latin typeface="微软雅黑" pitchFamily="34" charset="-122"/>
                <a:ea typeface="微软雅黑" pitchFamily="34" charset="-122"/>
              </a:rPr>
              <a:t>127.0.0.0 </a:t>
            </a:r>
            <a:r>
              <a:rPr lang="zh-CN" altLang="en-US" sz="1200" dirty="0">
                <a:latin typeface="微软雅黑" pitchFamily="34" charset="-122"/>
                <a:ea typeface="微软雅黑" pitchFamily="34" charset="-122"/>
              </a:rPr>
              <a:t>或 </a:t>
            </a:r>
            <a:r>
              <a:rPr lang="en-US" altLang="zh-CN" sz="1200" dirty="0">
                <a:latin typeface="微软雅黑" pitchFamily="34" charset="-122"/>
                <a:ea typeface="微软雅黑" pitchFamily="34" charset="-122"/>
              </a:rPr>
              <a:t>0.0.0.0</a:t>
            </a:r>
            <a:r>
              <a:rPr lang="zh-CN" altLang="en-US" sz="1200" dirty="0">
                <a:latin typeface="微软雅黑" pitchFamily="34" charset="-122"/>
                <a:ea typeface="微软雅黑" pitchFamily="34" charset="-122"/>
              </a:rPr>
              <a:t>）的数据报不发送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150</a:t>
            </a:fld>
            <a:endParaRPr kumimoji="1" lang="zh-CN" altLang="en-US"/>
          </a:p>
        </p:txBody>
      </p:sp>
    </p:spTree>
    <p:extLst>
      <p:ext uri="{BB962C8B-B14F-4D97-AF65-F5344CB8AC3E}">
        <p14:creationId xmlns:p14="http://schemas.microsoft.com/office/powerpoint/2010/main" val="28928502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40000"/>
              </a:lnSpc>
              <a:buClr>
                <a:srgbClr val="0070C0"/>
              </a:buClr>
            </a:pPr>
            <a:r>
              <a:rPr lang="zh-CN" altLang="en-US" dirty="0">
                <a:latin typeface="+mn-ea"/>
              </a:rPr>
              <a:t>根据</a:t>
            </a:r>
            <a:r>
              <a:rPr lang="en-US" altLang="zh-CN" dirty="0">
                <a:latin typeface="+mn-ea"/>
              </a:rPr>
              <a:t>RFC 6633</a:t>
            </a:r>
            <a:r>
              <a:rPr lang="zh-CN" altLang="en-US" dirty="0">
                <a:latin typeface="+mn-ea"/>
              </a:rPr>
              <a:t>规定下面的几种 </a:t>
            </a:r>
            <a:r>
              <a:rPr lang="en-US" altLang="zh-CN" dirty="0">
                <a:latin typeface="+mn-ea"/>
              </a:rPr>
              <a:t>ICMP </a:t>
            </a:r>
            <a:r>
              <a:rPr lang="zh-CN" altLang="en-US" dirty="0">
                <a:latin typeface="+mn-ea"/>
              </a:rPr>
              <a:t>报文不再使用</a:t>
            </a:r>
          </a:p>
          <a:p>
            <a:pPr lvl="1">
              <a:lnSpc>
                <a:spcPct val="140000"/>
              </a:lnSpc>
              <a:buClr>
                <a:srgbClr val="0070C0"/>
              </a:buClr>
            </a:pPr>
            <a:r>
              <a:rPr lang="zh-CN" altLang="en-US" dirty="0">
                <a:latin typeface="+mn-ea"/>
              </a:rPr>
              <a:t>信息请求与回答报文：</a:t>
            </a:r>
            <a:r>
              <a:rPr lang="en-US" altLang="zh-CN" dirty="0">
                <a:latin typeface="+mn-ea"/>
              </a:rPr>
              <a:t>15</a:t>
            </a:r>
            <a:r>
              <a:rPr lang="zh-CN" altLang="en-US" dirty="0">
                <a:latin typeface="+mn-ea"/>
              </a:rPr>
              <a:t>或</a:t>
            </a:r>
            <a:r>
              <a:rPr lang="en-US" altLang="zh-CN" dirty="0">
                <a:latin typeface="+mn-ea"/>
              </a:rPr>
              <a:t>16</a:t>
            </a:r>
            <a:endParaRPr lang="zh-CN" altLang="en-US" dirty="0">
              <a:latin typeface="+mn-ea"/>
            </a:endParaRPr>
          </a:p>
          <a:p>
            <a:pPr lvl="1">
              <a:lnSpc>
                <a:spcPct val="140000"/>
              </a:lnSpc>
              <a:buClr>
                <a:srgbClr val="0070C0"/>
              </a:buClr>
            </a:pPr>
            <a:r>
              <a:rPr lang="zh-CN" altLang="en-US" dirty="0">
                <a:latin typeface="+mn-ea"/>
              </a:rPr>
              <a:t>掩码地址请求和回答报文：</a:t>
            </a:r>
            <a:r>
              <a:rPr lang="en-US" altLang="zh-CN" dirty="0">
                <a:latin typeface="+mn-ea"/>
              </a:rPr>
              <a:t>17</a:t>
            </a:r>
            <a:r>
              <a:rPr lang="zh-CN" altLang="en-US" dirty="0">
                <a:latin typeface="+mn-ea"/>
              </a:rPr>
              <a:t>或</a:t>
            </a:r>
            <a:r>
              <a:rPr lang="en-US" altLang="zh-CN" dirty="0">
                <a:latin typeface="+mn-ea"/>
              </a:rPr>
              <a:t>18</a:t>
            </a:r>
            <a:endParaRPr lang="zh-CN" altLang="en-US" dirty="0">
              <a:latin typeface="+mn-ea"/>
            </a:endParaRPr>
          </a:p>
          <a:p>
            <a:pPr lvl="1">
              <a:lnSpc>
                <a:spcPct val="140000"/>
              </a:lnSpc>
              <a:buClr>
                <a:srgbClr val="0070C0"/>
              </a:buClr>
            </a:pPr>
            <a:r>
              <a:rPr lang="zh-CN" altLang="en-US" dirty="0">
                <a:latin typeface="+mn-ea"/>
              </a:rPr>
              <a:t>路由器询问和通告报文 ：</a:t>
            </a:r>
            <a:r>
              <a:rPr lang="en-US" altLang="zh-CN" dirty="0">
                <a:latin typeface="+mn-ea"/>
              </a:rPr>
              <a:t>10</a:t>
            </a:r>
            <a:r>
              <a:rPr lang="zh-CN" altLang="en-US" dirty="0">
                <a:latin typeface="+mn-ea"/>
              </a:rPr>
              <a:t>或</a:t>
            </a:r>
            <a:r>
              <a:rPr lang="en-US" altLang="zh-CN" dirty="0">
                <a:latin typeface="+mn-ea"/>
              </a:rPr>
              <a:t>9</a:t>
            </a:r>
            <a:endParaRPr lang="zh-CN" altLang="en-US" dirty="0">
              <a:latin typeface="+mn-ea"/>
            </a:endParaRPr>
          </a:p>
          <a:p>
            <a:pPr lvl="1">
              <a:lnSpc>
                <a:spcPct val="140000"/>
              </a:lnSpc>
              <a:buClr>
                <a:srgbClr val="0070C0"/>
              </a:buClr>
            </a:pPr>
            <a:r>
              <a:rPr lang="zh-CN" altLang="en-US" dirty="0">
                <a:latin typeface="+mn-ea"/>
              </a:rPr>
              <a:t>源点抑制报文：</a:t>
            </a:r>
            <a:r>
              <a:rPr lang="en-US" altLang="zh-CN" dirty="0">
                <a:latin typeface="+mn-ea"/>
              </a:rPr>
              <a:t>4</a:t>
            </a:r>
            <a:endParaRPr lang="zh-CN" altLang="en-US" dirty="0">
              <a:latin typeface="+mn-ea"/>
            </a:endParaRP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152</a:t>
            </a:fld>
            <a:endParaRPr kumimoji="1" lang="zh-CN" altLang="en-US"/>
          </a:p>
        </p:txBody>
      </p:sp>
    </p:spTree>
    <p:extLst>
      <p:ext uri="{BB962C8B-B14F-4D97-AF65-F5344CB8AC3E}">
        <p14:creationId xmlns:p14="http://schemas.microsoft.com/office/powerpoint/2010/main" val="387702757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默认操作系统的</a:t>
            </a:r>
            <a:r>
              <a:rPr lang="en-US" altLang="zh-CN" sz="1200" b="0" i="0" kern="1200" dirty="0">
                <a:solidFill>
                  <a:schemeClr val="tx1"/>
                </a:solidFill>
                <a:effectLst/>
                <a:latin typeface="+mn-lt"/>
                <a:ea typeface="+mn-ea"/>
                <a:cs typeface="+mn-cs"/>
              </a:rPr>
              <a:t>TTL</a:t>
            </a:r>
            <a:r>
              <a:rPr lang="zh-CN" altLang="en-US" sz="1200" b="0" i="0" kern="1200" dirty="0">
                <a:solidFill>
                  <a:schemeClr val="tx1"/>
                </a:solidFill>
                <a:effectLst/>
                <a:latin typeface="+mn-lt"/>
                <a:ea typeface="+mn-ea"/>
                <a:cs typeface="+mn-cs"/>
              </a:rPr>
              <a:t>值：</a:t>
            </a:r>
          </a:p>
          <a:p>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NT/2000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a:t>
            </a:r>
          </a:p>
          <a:p>
            <a:r>
              <a:rPr lang="en-US" altLang="zh-CN" sz="1200" b="0" i="0" kern="1200" dirty="0">
                <a:solidFill>
                  <a:schemeClr val="tx1"/>
                </a:solidFill>
                <a:effectLst/>
                <a:latin typeface="+mn-lt"/>
                <a:ea typeface="+mn-ea"/>
                <a:cs typeface="+mn-cs"/>
              </a:rPr>
              <a:t>2</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95/98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32</a:t>
            </a:r>
          </a:p>
          <a:p>
            <a:r>
              <a:rPr lang="en-US" altLang="zh-CN" sz="1200" b="0" i="0" kern="1200" dirty="0">
                <a:solidFill>
                  <a:schemeClr val="tx1"/>
                </a:solidFill>
                <a:effectLst/>
                <a:latin typeface="+mn-lt"/>
                <a:ea typeface="+mn-ea"/>
                <a:cs typeface="+mn-cs"/>
              </a:rPr>
              <a:t>3</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UNIX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255</a:t>
            </a:r>
          </a:p>
          <a:p>
            <a:r>
              <a:rPr lang="en-US" altLang="zh-CN" sz="1200" b="0" i="0" kern="1200" dirty="0">
                <a:solidFill>
                  <a:schemeClr val="tx1"/>
                </a:solidFill>
                <a:effectLst/>
                <a:latin typeface="+mn-lt"/>
                <a:ea typeface="+mn-ea"/>
                <a:cs typeface="+mn-cs"/>
              </a:rPr>
              <a:t>4</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LINUX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r>
              <a:rPr lang="en-US" altLang="zh-CN" sz="1200" b="0" i="0" kern="1200" dirty="0">
                <a:solidFill>
                  <a:schemeClr val="tx1"/>
                </a:solidFill>
                <a:effectLst/>
                <a:latin typeface="+mn-lt"/>
                <a:ea typeface="+mn-ea"/>
                <a:cs typeface="+mn-cs"/>
              </a:rPr>
              <a:t>5</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WIN7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153</a:t>
            </a:fld>
            <a:endParaRPr kumimoji="1" lang="zh-CN" altLang="en-US"/>
          </a:p>
        </p:txBody>
      </p:sp>
    </p:spTree>
    <p:extLst>
      <p:ext uri="{BB962C8B-B14F-4D97-AF65-F5344CB8AC3E}">
        <p14:creationId xmlns:p14="http://schemas.microsoft.com/office/powerpoint/2010/main" val="260465751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lvl="1">
              <a:lnSpc>
                <a:spcPct val="120000"/>
              </a:lnSpc>
              <a:buClr>
                <a:srgbClr val="0070C0"/>
              </a:buClr>
            </a:pPr>
            <a:r>
              <a:rPr lang="zh-CN" altLang="en-US" dirty="0">
                <a:latin typeface="+mn-ea"/>
              </a:rPr>
              <a:t>在 </a:t>
            </a:r>
            <a:r>
              <a:rPr lang="en-US" altLang="zh-CN" dirty="0">
                <a:latin typeface="+mn-ea"/>
              </a:rPr>
              <a:t>Windows </a:t>
            </a:r>
            <a:r>
              <a:rPr lang="zh-CN" altLang="en-US" dirty="0">
                <a:latin typeface="+mn-ea"/>
              </a:rPr>
              <a:t>操作系统中这个命令是 </a:t>
            </a:r>
            <a:r>
              <a:rPr lang="en-US" altLang="zh-CN" dirty="0" err="1">
                <a:latin typeface="+mn-ea"/>
              </a:rPr>
              <a:t>Tracert</a:t>
            </a:r>
            <a:r>
              <a:rPr lang="zh-CN" altLang="en-US" dirty="0">
                <a:latin typeface="+mn-ea"/>
              </a:rPr>
              <a:t>，在路由器上面的命令一般为：</a:t>
            </a:r>
            <a:r>
              <a:rPr lang="en-US" altLang="zh-CN" dirty="0" err="1">
                <a:latin typeface="+mn-ea"/>
              </a:rPr>
              <a:t>Traceroute</a:t>
            </a:r>
            <a:endParaRPr lang="zh-CN" altLang="en-US" dirty="0">
              <a:latin typeface="+mn-ea"/>
            </a:endParaRPr>
          </a:p>
          <a:p>
            <a:pPr marL="0" lvl="1">
              <a:lnSpc>
                <a:spcPct val="120000"/>
              </a:lnSpc>
              <a:buClr>
                <a:srgbClr val="0070C0"/>
              </a:buClr>
            </a:pPr>
            <a:r>
              <a:rPr lang="zh-CN" altLang="en-US" dirty="0">
                <a:solidFill>
                  <a:srgbClr val="0000FF"/>
                </a:solidFill>
                <a:latin typeface="+mn-ea"/>
              </a:rPr>
              <a:t>用来跟踪一个分组从源点到终点的路径</a:t>
            </a:r>
          </a:p>
          <a:p>
            <a:pPr marL="0" lvl="1">
              <a:lnSpc>
                <a:spcPct val="120000"/>
              </a:lnSpc>
              <a:buClr>
                <a:srgbClr val="0070C0"/>
              </a:buClr>
            </a:pPr>
            <a:r>
              <a:rPr lang="zh-CN" altLang="en-US" dirty="0">
                <a:latin typeface="+mn-ea"/>
              </a:rPr>
              <a:t>它利用 </a:t>
            </a:r>
            <a:r>
              <a:rPr lang="en-US" altLang="zh-CN" dirty="0">
                <a:latin typeface="+mn-ea"/>
              </a:rPr>
              <a:t>IP </a:t>
            </a:r>
            <a:r>
              <a:rPr lang="zh-CN" altLang="en-US" dirty="0">
                <a:latin typeface="+mn-ea"/>
              </a:rPr>
              <a:t>数据报中的 </a:t>
            </a:r>
            <a:r>
              <a:rPr lang="en-US" altLang="zh-CN" dirty="0">
                <a:latin typeface="+mn-ea"/>
              </a:rPr>
              <a:t>TTL </a:t>
            </a:r>
            <a:r>
              <a:rPr lang="zh-CN" altLang="en-US" dirty="0">
                <a:latin typeface="+mn-ea"/>
              </a:rPr>
              <a:t>字段和 </a:t>
            </a:r>
            <a:r>
              <a:rPr lang="en-US" altLang="zh-CN" dirty="0">
                <a:latin typeface="+mn-ea"/>
              </a:rPr>
              <a:t>ICMP </a:t>
            </a:r>
            <a:r>
              <a:rPr lang="zh-CN" altLang="en-US" dirty="0">
                <a:latin typeface="+mn-ea"/>
              </a:rPr>
              <a:t>时间超过差错报告报文实现对从源点到终点的路径的跟踪</a:t>
            </a: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154</a:t>
            </a:fld>
            <a:endParaRPr kumimoji="1" lang="zh-CN" altLang="en-US"/>
          </a:p>
        </p:txBody>
      </p:sp>
    </p:spTree>
    <p:extLst>
      <p:ext uri="{BB962C8B-B14F-4D97-AF65-F5344CB8AC3E}">
        <p14:creationId xmlns:p14="http://schemas.microsoft.com/office/powerpoint/2010/main" val="414344764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spcBef>
                <a:spcPts val="600"/>
              </a:spcBef>
            </a:pPr>
            <a:r>
              <a:rPr lang="zh-CN" altLang="en-US" sz="1200" dirty="0">
                <a:solidFill>
                  <a:srgbClr val="C00000"/>
                </a:solidFill>
                <a:latin typeface="微软雅黑" pitchFamily="34" charset="-122"/>
                <a:ea typeface="微软雅黑" pitchFamily="34" charset="-122"/>
              </a:rPr>
              <a:t>注意：</a:t>
            </a:r>
            <a:endParaRPr lang="en-US" altLang="zh-CN" sz="1200" dirty="0">
              <a:solidFill>
                <a:srgbClr val="C00000"/>
              </a:solidFill>
              <a:latin typeface="微软雅黑" pitchFamily="34" charset="-122"/>
              <a:ea typeface="微软雅黑" pitchFamily="34" charset="-122"/>
            </a:endParaRPr>
          </a:p>
          <a:p>
            <a:pPr>
              <a:lnSpc>
                <a:spcPct val="120000"/>
              </a:lnSpc>
              <a:spcBef>
                <a:spcPts val="600"/>
              </a:spcBef>
            </a:pPr>
            <a:r>
              <a:rPr lang="zh-CN" altLang="en-US" sz="1200" dirty="0">
                <a:solidFill>
                  <a:srgbClr val="C00000"/>
                </a:solidFill>
                <a:latin typeface="微软雅黑" pitchFamily="34" charset="-122"/>
                <a:ea typeface="微软雅黑" pitchFamily="34" charset="-122"/>
              </a:rPr>
              <a:t>利用</a:t>
            </a:r>
            <a:r>
              <a:rPr lang="en-US" altLang="zh-CN" sz="1200" dirty="0" err="1">
                <a:solidFill>
                  <a:srgbClr val="C00000"/>
                </a:solidFill>
                <a:latin typeface="微软雅黑" pitchFamily="34" charset="-122"/>
                <a:ea typeface="微软雅黑" pitchFamily="34" charset="-122"/>
              </a:rPr>
              <a:t>Tracert</a:t>
            </a:r>
            <a:r>
              <a:rPr lang="zh-CN" altLang="en-US" sz="1200" dirty="0">
                <a:solidFill>
                  <a:srgbClr val="C00000"/>
                </a:solidFill>
                <a:latin typeface="微软雅黑" pitchFamily="34" charset="-122"/>
                <a:ea typeface="微软雅黑" pitchFamily="34" charset="-122"/>
              </a:rPr>
              <a:t>命令，能查看中间节点信息，可能会带来安全隐患。</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155</a:t>
            </a:fld>
            <a:endParaRPr kumimoji="1" lang="zh-CN" altLang="en-US"/>
          </a:p>
        </p:txBody>
      </p:sp>
    </p:spTree>
    <p:extLst>
      <p:ext uri="{BB962C8B-B14F-4D97-AF65-F5344CB8AC3E}">
        <p14:creationId xmlns:p14="http://schemas.microsoft.com/office/powerpoint/2010/main" val="262281575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156</a:t>
            </a:fld>
            <a:endParaRPr kumimoji="1" lang="zh-CN" altLang="en-US"/>
          </a:p>
        </p:txBody>
      </p:sp>
    </p:spTree>
    <p:extLst>
      <p:ext uri="{BB962C8B-B14F-4D97-AF65-F5344CB8AC3E}">
        <p14:creationId xmlns:p14="http://schemas.microsoft.com/office/powerpoint/2010/main" val="198109068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159</a:t>
            </a:fld>
            <a:endParaRPr kumimoji="1" lang="zh-CN" altLang="en-US"/>
          </a:p>
        </p:txBody>
      </p:sp>
    </p:spTree>
    <p:extLst>
      <p:ext uri="{BB962C8B-B14F-4D97-AF65-F5344CB8AC3E}">
        <p14:creationId xmlns:p14="http://schemas.microsoft.com/office/powerpoint/2010/main" val="302830197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160</a:t>
            </a:fld>
            <a:endParaRPr kumimoji="1" lang="zh-CN" altLang="en-US"/>
          </a:p>
        </p:txBody>
      </p:sp>
    </p:spTree>
    <p:extLst>
      <p:ext uri="{BB962C8B-B14F-4D97-AF65-F5344CB8AC3E}">
        <p14:creationId xmlns:p14="http://schemas.microsoft.com/office/powerpoint/2010/main" val="363957869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161</a:t>
            </a:fld>
            <a:endParaRPr kumimoji="1" lang="zh-CN" altLang="en-US"/>
          </a:p>
        </p:txBody>
      </p:sp>
    </p:spTree>
    <p:extLst>
      <p:ext uri="{BB962C8B-B14F-4D97-AF65-F5344CB8AC3E}">
        <p14:creationId xmlns:p14="http://schemas.microsoft.com/office/powerpoint/2010/main" val="20593719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latin typeface="Arial" pitchFamily="34" charset="0"/>
              </a:rPr>
              <a:t>OSPF </a:t>
            </a:r>
            <a:r>
              <a:rPr lang="zh-CN" altLang="en-US" dirty="0">
                <a:latin typeface="Arial" pitchFamily="34" charset="0"/>
              </a:rPr>
              <a:t>有</a:t>
            </a:r>
            <a:r>
              <a:rPr lang="en-US" altLang="zh-CN" dirty="0">
                <a:latin typeface="Arial" pitchFamily="34" charset="0"/>
              </a:rPr>
              <a:t>5 </a:t>
            </a:r>
            <a:r>
              <a:rPr lang="zh-CN" altLang="en-US" dirty="0">
                <a:latin typeface="Arial" pitchFamily="34" charset="0"/>
              </a:rPr>
              <a:t>种报文类型，每种报文都使用相同的</a:t>
            </a:r>
            <a:r>
              <a:rPr lang="en-US" altLang="zh-CN" dirty="0">
                <a:latin typeface="Arial" pitchFamily="34" charset="0"/>
              </a:rPr>
              <a:t>OSPF </a:t>
            </a:r>
            <a:r>
              <a:rPr lang="zh-CN" altLang="en-US" dirty="0">
                <a:latin typeface="Arial" pitchFamily="34" charset="0"/>
              </a:rPr>
              <a:t>报文头。</a:t>
            </a:r>
            <a:r>
              <a:rPr lang="en-US" altLang="zh-CN" dirty="0">
                <a:latin typeface="Arial" pitchFamily="34" charset="0"/>
              </a:rPr>
              <a:t>OSPF </a:t>
            </a:r>
            <a:r>
              <a:rPr lang="zh-CN" altLang="en-US" dirty="0">
                <a:latin typeface="Arial" pitchFamily="34" charset="0"/>
              </a:rPr>
              <a:t>路由器通过这几种报文来发现和维护邻居关系，实现</a:t>
            </a:r>
            <a:r>
              <a:rPr lang="en-US" altLang="zh-CN" dirty="0">
                <a:latin typeface="Arial" pitchFamily="34" charset="0"/>
              </a:rPr>
              <a:t>LSDB</a:t>
            </a:r>
            <a:r>
              <a:rPr lang="zh-CN" altLang="en-US" dirty="0">
                <a:latin typeface="Arial" pitchFamily="34" charset="0"/>
              </a:rPr>
              <a:t>的同步和交互路由信息。以下分别介绍</a:t>
            </a:r>
            <a:r>
              <a:rPr lang="en-US" altLang="zh-CN" dirty="0">
                <a:latin typeface="Arial" pitchFamily="34" charset="0"/>
              </a:rPr>
              <a:t>5 </a:t>
            </a:r>
            <a:r>
              <a:rPr lang="zh-CN" altLang="en-US" dirty="0">
                <a:latin typeface="Arial" pitchFamily="34" charset="0"/>
              </a:rPr>
              <a:t>种报文。</a:t>
            </a:r>
          </a:p>
          <a:p>
            <a:r>
              <a:rPr lang="zh-CN" altLang="en-US" dirty="0">
                <a:latin typeface="Arial" pitchFamily="34" charset="0"/>
              </a:rPr>
              <a:t>（</a:t>
            </a:r>
            <a:r>
              <a:rPr lang="en-US" altLang="zh-CN" dirty="0">
                <a:latin typeface="Arial" pitchFamily="34" charset="0"/>
              </a:rPr>
              <a:t>1</a:t>
            </a:r>
            <a:r>
              <a:rPr lang="zh-CN" altLang="en-US" dirty="0">
                <a:latin typeface="Arial" pitchFamily="34" charset="0"/>
              </a:rPr>
              <a:t>）</a:t>
            </a:r>
            <a:r>
              <a:rPr lang="en-US" altLang="zh-CN" dirty="0">
                <a:latin typeface="Arial" pitchFamily="34" charset="0"/>
              </a:rPr>
              <a:t>Hello </a:t>
            </a:r>
            <a:r>
              <a:rPr lang="zh-CN" altLang="en-US" dirty="0">
                <a:latin typeface="Arial" pitchFamily="34" charset="0"/>
              </a:rPr>
              <a:t>报文。最常用的一种报文，用于发现、维护邻居关系，并在广播和</a:t>
            </a:r>
            <a:r>
              <a:rPr lang="en-US" altLang="zh-CN" dirty="0">
                <a:latin typeface="Arial" pitchFamily="34" charset="0"/>
              </a:rPr>
              <a:t>NBMA </a:t>
            </a:r>
            <a:r>
              <a:rPr lang="zh-CN" altLang="en-US" dirty="0">
                <a:latin typeface="Arial" pitchFamily="34" charset="0"/>
              </a:rPr>
              <a:t>类型的网络中选举指定路由器（</a:t>
            </a:r>
            <a:r>
              <a:rPr lang="en-US" altLang="en-US" dirty="0">
                <a:latin typeface="Arial" pitchFamily="34" charset="0"/>
                <a:ea typeface="等线" pitchFamily="2" charset="-122"/>
              </a:rPr>
              <a:t>Designated </a:t>
            </a:r>
            <a:r>
              <a:rPr lang="en-US" altLang="en-US" dirty="0" err="1">
                <a:latin typeface="Arial" pitchFamily="34" charset="0"/>
                <a:ea typeface="等线" pitchFamily="2" charset="-122"/>
              </a:rPr>
              <a:t>Router，DR</a:t>
            </a:r>
            <a:r>
              <a:rPr lang="en-US" altLang="en-US" dirty="0">
                <a:latin typeface="Arial" pitchFamily="34" charset="0"/>
                <a:ea typeface="等线" pitchFamily="2" charset="-122"/>
              </a:rPr>
              <a:t>）</a:t>
            </a:r>
            <a:r>
              <a:rPr lang="zh-CN" altLang="en-US" dirty="0">
                <a:latin typeface="Arial" pitchFamily="34" charset="0"/>
              </a:rPr>
              <a:t>和备份指定路由器（</a:t>
            </a:r>
            <a:r>
              <a:rPr lang="en-US" altLang="en-US" dirty="0">
                <a:latin typeface="Arial" pitchFamily="34" charset="0"/>
                <a:ea typeface="等线" pitchFamily="2" charset="-122"/>
              </a:rPr>
              <a:t>Backup Designated </a:t>
            </a:r>
            <a:r>
              <a:rPr lang="en-US" altLang="en-US" dirty="0" err="1">
                <a:latin typeface="Arial" pitchFamily="34" charset="0"/>
                <a:ea typeface="等线" pitchFamily="2" charset="-122"/>
              </a:rPr>
              <a:t>Router，BDR</a:t>
            </a:r>
            <a:r>
              <a:rPr lang="en-US" altLang="en-US" dirty="0">
                <a:latin typeface="Arial" pitchFamily="34" charset="0"/>
                <a:ea typeface="等线" pitchFamily="2" charset="-122"/>
              </a:rPr>
              <a:t>）。</a:t>
            </a:r>
          </a:p>
          <a:p>
            <a:r>
              <a:rPr lang="zh-CN" altLang="en-US" dirty="0">
                <a:latin typeface="Arial" pitchFamily="34" charset="0"/>
              </a:rPr>
              <a:t>（</a:t>
            </a:r>
            <a:r>
              <a:rPr lang="en-US" altLang="zh-CN" dirty="0">
                <a:latin typeface="Arial" pitchFamily="34" charset="0"/>
              </a:rPr>
              <a:t>2</a:t>
            </a:r>
            <a:r>
              <a:rPr lang="zh-CN" altLang="en-US" dirty="0">
                <a:latin typeface="Arial" pitchFamily="34" charset="0"/>
              </a:rPr>
              <a:t>）数据库描述（</a:t>
            </a:r>
            <a:r>
              <a:rPr lang="en-US" altLang="en-US" dirty="0">
                <a:latin typeface="Arial" pitchFamily="34" charset="0"/>
                <a:ea typeface="等线" pitchFamily="2" charset="-122"/>
              </a:rPr>
              <a:t>Database </a:t>
            </a:r>
            <a:r>
              <a:rPr lang="en-US" altLang="en-US" dirty="0" err="1">
                <a:latin typeface="Arial" pitchFamily="34" charset="0"/>
                <a:ea typeface="等线" pitchFamily="2" charset="-122"/>
              </a:rPr>
              <a:t>Description，DD</a:t>
            </a:r>
            <a:r>
              <a:rPr lang="en-US" altLang="en-US" dirty="0">
                <a:latin typeface="Arial" pitchFamily="34" charset="0"/>
                <a:ea typeface="等线" pitchFamily="2" charset="-122"/>
              </a:rPr>
              <a:t>）</a:t>
            </a:r>
            <a:r>
              <a:rPr lang="zh-CN" altLang="en-US" dirty="0">
                <a:latin typeface="Arial" pitchFamily="34" charset="0"/>
              </a:rPr>
              <a:t>报文。两台路由器进行</a:t>
            </a:r>
            <a:r>
              <a:rPr lang="en-US" altLang="en-US" dirty="0">
                <a:latin typeface="Arial" pitchFamily="34" charset="0"/>
                <a:ea typeface="等线" pitchFamily="2" charset="-122"/>
              </a:rPr>
              <a:t>LSDB </a:t>
            </a:r>
            <a:r>
              <a:rPr lang="zh-CN" altLang="en-US" dirty="0">
                <a:latin typeface="Arial" pitchFamily="34" charset="0"/>
              </a:rPr>
              <a:t>数据库同步时，用</a:t>
            </a:r>
            <a:r>
              <a:rPr lang="en-US" altLang="en-US" dirty="0">
                <a:latin typeface="Arial" pitchFamily="34" charset="0"/>
                <a:ea typeface="等线" pitchFamily="2" charset="-122"/>
              </a:rPr>
              <a:t>DD</a:t>
            </a:r>
            <a:r>
              <a:rPr lang="zh-CN" altLang="en-US" dirty="0">
                <a:latin typeface="Arial" pitchFamily="34" charset="0"/>
              </a:rPr>
              <a:t>报文来描述自己的</a:t>
            </a:r>
            <a:r>
              <a:rPr lang="en-US" altLang="zh-CN" dirty="0">
                <a:latin typeface="Arial" pitchFamily="34" charset="0"/>
              </a:rPr>
              <a:t>LSDB</a:t>
            </a:r>
            <a:r>
              <a:rPr lang="zh-CN" altLang="en-US" dirty="0">
                <a:latin typeface="Arial" pitchFamily="34" charset="0"/>
              </a:rPr>
              <a:t>。内容包括</a:t>
            </a:r>
            <a:r>
              <a:rPr lang="en-US" altLang="zh-CN" dirty="0">
                <a:latin typeface="Arial" pitchFamily="34" charset="0"/>
              </a:rPr>
              <a:t>LSDB </a:t>
            </a:r>
            <a:r>
              <a:rPr lang="zh-CN" altLang="en-US" dirty="0">
                <a:latin typeface="Arial" pitchFamily="34" charset="0"/>
              </a:rPr>
              <a:t>中每一条</a:t>
            </a:r>
            <a:r>
              <a:rPr lang="en-US" altLang="zh-CN" dirty="0">
                <a:latin typeface="Arial" pitchFamily="34" charset="0"/>
              </a:rPr>
              <a:t>LSA </a:t>
            </a:r>
            <a:r>
              <a:rPr lang="zh-CN" altLang="en-US" dirty="0">
                <a:latin typeface="Arial" pitchFamily="34" charset="0"/>
              </a:rPr>
              <a:t>的</a:t>
            </a:r>
            <a:r>
              <a:rPr lang="en-US" altLang="zh-CN" dirty="0">
                <a:latin typeface="Arial" pitchFamily="34" charset="0"/>
              </a:rPr>
              <a:t>Header </a:t>
            </a:r>
            <a:r>
              <a:rPr lang="zh-CN" altLang="en-US" dirty="0">
                <a:latin typeface="Arial" pitchFamily="34" charset="0"/>
              </a:rPr>
              <a:t>头部（</a:t>
            </a:r>
            <a:r>
              <a:rPr lang="en-US" altLang="zh-CN" dirty="0">
                <a:latin typeface="Arial" pitchFamily="34" charset="0"/>
              </a:rPr>
              <a:t>LSA </a:t>
            </a:r>
            <a:r>
              <a:rPr lang="zh-CN" altLang="en-US" dirty="0">
                <a:latin typeface="Arial" pitchFamily="34" charset="0"/>
              </a:rPr>
              <a:t>的</a:t>
            </a:r>
            <a:r>
              <a:rPr lang="en-US" altLang="zh-CN" dirty="0">
                <a:latin typeface="Arial" pitchFamily="34" charset="0"/>
              </a:rPr>
              <a:t>Header </a:t>
            </a:r>
            <a:r>
              <a:rPr lang="zh-CN" altLang="en-US" dirty="0">
                <a:latin typeface="Arial" pitchFamily="34" charset="0"/>
              </a:rPr>
              <a:t>可以唯一标识一条</a:t>
            </a:r>
            <a:r>
              <a:rPr lang="en-US" altLang="zh-CN" dirty="0">
                <a:latin typeface="Arial" pitchFamily="34" charset="0"/>
              </a:rPr>
              <a:t>LSA</a:t>
            </a:r>
            <a:r>
              <a:rPr lang="zh-CN" altLang="en-US" dirty="0">
                <a:latin typeface="Arial" pitchFamily="34" charset="0"/>
              </a:rPr>
              <a:t>）。</a:t>
            </a:r>
            <a:r>
              <a:rPr lang="en-US" altLang="zh-CN" dirty="0">
                <a:latin typeface="Arial" pitchFamily="34" charset="0"/>
              </a:rPr>
              <a:t>LSA Header </a:t>
            </a:r>
            <a:r>
              <a:rPr lang="zh-CN" altLang="en-US" dirty="0">
                <a:latin typeface="Arial" pitchFamily="34" charset="0"/>
              </a:rPr>
              <a:t>只占</a:t>
            </a:r>
            <a:r>
              <a:rPr lang="en-US" altLang="zh-CN" dirty="0">
                <a:latin typeface="Arial" pitchFamily="34" charset="0"/>
              </a:rPr>
              <a:t>LSA </a:t>
            </a:r>
            <a:r>
              <a:rPr lang="zh-CN" altLang="en-US" dirty="0">
                <a:latin typeface="Arial" pitchFamily="34" charset="0"/>
              </a:rPr>
              <a:t>的整个数据量的一小部分，这样可以减少路由器之间的协议报文流量，对端路由器根据</a:t>
            </a:r>
            <a:r>
              <a:rPr lang="en-US" altLang="en-US" dirty="0">
                <a:latin typeface="Arial" pitchFamily="34" charset="0"/>
                <a:ea typeface="等线" pitchFamily="2" charset="-122"/>
              </a:rPr>
              <a:t>LSA Header </a:t>
            </a:r>
            <a:r>
              <a:rPr lang="zh-CN" altLang="en-US" dirty="0">
                <a:latin typeface="Arial" pitchFamily="34" charset="0"/>
              </a:rPr>
              <a:t>就可以判断出是否已有这条</a:t>
            </a:r>
            <a:r>
              <a:rPr lang="en-US" altLang="en-US" dirty="0">
                <a:latin typeface="Arial" pitchFamily="34" charset="0"/>
                <a:ea typeface="等线" pitchFamily="2" charset="-122"/>
              </a:rPr>
              <a:t>LSA。</a:t>
            </a:r>
          </a:p>
          <a:p>
            <a:r>
              <a:rPr lang="zh-CN" altLang="en-US" dirty="0">
                <a:latin typeface="Arial" pitchFamily="34" charset="0"/>
              </a:rPr>
              <a:t>（</a:t>
            </a:r>
            <a:r>
              <a:rPr lang="en-US" altLang="zh-CN" dirty="0">
                <a:latin typeface="Arial" pitchFamily="34" charset="0"/>
              </a:rPr>
              <a:t>3</a:t>
            </a:r>
            <a:r>
              <a:rPr lang="zh-CN" altLang="en-US" dirty="0">
                <a:latin typeface="Arial" pitchFamily="34" charset="0"/>
              </a:rPr>
              <a:t>）链路状态请求（</a:t>
            </a:r>
            <a:r>
              <a:rPr lang="en-US" altLang="zh-CN" dirty="0">
                <a:latin typeface="Arial" pitchFamily="34" charset="0"/>
              </a:rPr>
              <a:t>LSA Request</a:t>
            </a:r>
            <a:r>
              <a:rPr lang="zh-CN" altLang="en-US" dirty="0">
                <a:latin typeface="Arial" pitchFamily="34" charset="0"/>
              </a:rPr>
              <a:t>，</a:t>
            </a:r>
            <a:r>
              <a:rPr lang="en-US" altLang="zh-CN" dirty="0">
                <a:latin typeface="Arial" pitchFamily="34" charset="0"/>
              </a:rPr>
              <a:t>LSR</a:t>
            </a:r>
            <a:r>
              <a:rPr lang="zh-CN" altLang="en-US" dirty="0">
                <a:latin typeface="Arial" pitchFamily="34" charset="0"/>
              </a:rPr>
              <a:t>）报文。两台路由器互相交换过</a:t>
            </a:r>
            <a:r>
              <a:rPr lang="en-US" altLang="zh-CN" dirty="0">
                <a:latin typeface="Arial" pitchFamily="34" charset="0"/>
              </a:rPr>
              <a:t>DD </a:t>
            </a:r>
            <a:r>
              <a:rPr lang="zh-CN" altLang="en-US" dirty="0">
                <a:latin typeface="Arial" pitchFamily="34" charset="0"/>
              </a:rPr>
              <a:t>报文之后，知道对端的路由器有哪些</a:t>
            </a:r>
            <a:r>
              <a:rPr lang="en-US" altLang="zh-CN" dirty="0">
                <a:latin typeface="Arial" pitchFamily="34" charset="0"/>
              </a:rPr>
              <a:t>LSA </a:t>
            </a:r>
            <a:r>
              <a:rPr lang="zh-CN" altLang="en-US" dirty="0">
                <a:latin typeface="Arial" pitchFamily="34" charset="0"/>
              </a:rPr>
              <a:t>是本地的</a:t>
            </a:r>
            <a:r>
              <a:rPr lang="en-US" altLang="zh-CN" dirty="0">
                <a:latin typeface="Arial" pitchFamily="34" charset="0"/>
              </a:rPr>
              <a:t>LSDB </a:t>
            </a:r>
            <a:r>
              <a:rPr lang="zh-CN" altLang="en-US" dirty="0">
                <a:latin typeface="Arial" pitchFamily="34" charset="0"/>
              </a:rPr>
              <a:t>所缺少的，这时需要发送</a:t>
            </a:r>
            <a:r>
              <a:rPr lang="en-US" altLang="zh-CN" dirty="0">
                <a:latin typeface="Arial" pitchFamily="34" charset="0"/>
              </a:rPr>
              <a:t>LSR </a:t>
            </a:r>
            <a:r>
              <a:rPr lang="zh-CN" altLang="en-US" dirty="0">
                <a:latin typeface="Arial" pitchFamily="34" charset="0"/>
              </a:rPr>
              <a:t>报文向对方请求缺少的</a:t>
            </a:r>
            <a:r>
              <a:rPr lang="en-US" altLang="zh-CN" dirty="0">
                <a:latin typeface="Arial" pitchFamily="34" charset="0"/>
              </a:rPr>
              <a:t>LSA</a:t>
            </a:r>
            <a:r>
              <a:rPr lang="zh-CN" altLang="en-US" dirty="0">
                <a:latin typeface="Arial" pitchFamily="34" charset="0"/>
              </a:rPr>
              <a:t>。内容包括所需要的</a:t>
            </a:r>
            <a:r>
              <a:rPr lang="en-US" altLang="en-US" dirty="0">
                <a:latin typeface="Arial" pitchFamily="34" charset="0"/>
                <a:ea typeface="等线" pitchFamily="2" charset="-122"/>
              </a:rPr>
              <a:t>LSA </a:t>
            </a:r>
            <a:r>
              <a:rPr lang="zh-CN" altLang="en-US" dirty="0">
                <a:latin typeface="Arial" pitchFamily="34" charset="0"/>
              </a:rPr>
              <a:t>的摘要。</a:t>
            </a:r>
          </a:p>
          <a:p>
            <a:r>
              <a:rPr lang="zh-CN" altLang="en-US" dirty="0">
                <a:latin typeface="Arial" pitchFamily="34" charset="0"/>
              </a:rPr>
              <a:t>（</a:t>
            </a:r>
            <a:r>
              <a:rPr lang="en-US" altLang="zh-CN" dirty="0">
                <a:latin typeface="Arial" pitchFamily="34" charset="0"/>
              </a:rPr>
              <a:t>4</a:t>
            </a:r>
            <a:r>
              <a:rPr lang="zh-CN" altLang="en-US" dirty="0">
                <a:latin typeface="Arial" pitchFamily="34" charset="0"/>
              </a:rPr>
              <a:t>）链路状态更新（</a:t>
            </a:r>
            <a:r>
              <a:rPr lang="en-US" altLang="zh-CN" dirty="0">
                <a:latin typeface="Arial" pitchFamily="34" charset="0"/>
              </a:rPr>
              <a:t>LSA Update</a:t>
            </a:r>
            <a:r>
              <a:rPr lang="zh-CN" altLang="en-US" dirty="0">
                <a:latin typeface="Arial" pitchFamily="34" charset="0"/>
              </a:rPr>
              <a:t>，</a:t>
            </a:r>
            <a:r>
              <a:rPr lang="en-US" altLang="zh-CN" dirty="0">
                <a:latin typeface="Arial" pitchFamily="34" charset="0"/>
              </a:rPr>
              <a:t>LSU</a:t>
            </a:r>
            <a:r>
              <a:rPr lang="zh-CN" altLang="en-US" dirty="0">
                <a:latin typeface="Arial" pitchFamily="34" charset="0"/>
              </a:rPr>
              <a:t>）报文。用来向对端路由器发送所需要的</a:t>
            </a:r>
            <a:r>
              <a:rPr lang="en-US" altLang="zh-CN" dirty="0">
                <a:latin typeface="Arial" pitchFamily="34" charset="0"/>
              </a:rPr>
              <a:t>LSA</a:t>
            </a:r>
            <a:r>
              <a:rPr lang="zh-CN" altLang="en-US" dirty="0">
                <a:latin typeface="Arial" pitchFamily="34" charset="0"/>
              </a:rPr>
              <a:t>，内容是多条</a:t>
            </a:r>
            <a:r>
              <a:rPr lang="en-US" altLang="zh-CN" dirty="0">
                <a:latin typeface="Arial" pitchFamily="34" charset="0"/>
              </a:rPr>
              <a:t>LSA</a:t>
            </a:r>
            <a:r>
              <a:rPr lang="zh-CN" altLang="en-US" dirty="0">
                <a:latin typeface="Arial" pitchFamily="34" charset="0"/>
              </a:rPr>
              <a:t>（全部内容）的集合。</a:t>
            </a:r>
          </a:p>
          <a:p>
            <a:r>
              <a:rPr lang="zh-CN" altLang="en-US" dirty="0">
                <a:latin typeface="Arial" pitchFamily="34" charset="0"/>
              </a:rPr>
              <a:t>（</a:t>
            </a:r>
            <a:r>
              <a:rPr lang="en-US" altLang="zh-CN" dirty="0">
                <a:latin typeface="Arial" pitchFamily="34" charset="0"/>
              </a:rPr>
              <a:t>5</a:t>
            </a:r>
            <a:r>
              <a:rPr lang="zh-CN" altLang="en-US" dirty="0">
                <a:latin typeface="Arial" pitchFamily="34" charset="0"/>
              </a:rPr>
              <a:t>）链路状态确认（</a:t>
            </a:r>
            <a:r>
              <a:rPr lang="en-US" altLang="en-US" dirty="0">
                <a:latin typeface="Arial" pitchFamily="34" charset="0"/>
                <a:ea typeface="等线" pitchFamily="2" charset="-122"/>
              </a:rPr>
              <a:t>Link State </a:t>
            </a:r>
            <a:r>
              <a:rPr lang="en-US" altLang="en-US" dirty="0" err="1">
                <a:latin typeface="Arial" pitchFamily="34" charset="0"/>
                <a:ea typeface="等线" pitchFamily="2" charset="-122"/>
              </a:rPr>
              <a:t>Acknowledgment，LSACK</a:t>
            </a:r>
            <a:r>
              <a:rPr lang="en-US" altLang="en-US" dirty="0">
                <a:latin typeface="Arial" pitchFamily="34" charset="0"/>
                <a:ea typeface="等线" pitchFamily="2" charset="-122"/>
              </a:rPr>
              <a:t>）</a:t>
            </a:r>
            <a:r>
              <a:rPr lang="zh-CN" altLang="en-US" dirty="0">
                <a:latin typeface="Arial" pitchFamily="34" charset="0"/>
              </a:rPr>
              <a:t>报文。用来对接收到的</a:t>
            </a:r>
            <a:r>
              <a:rPr lang="en-US" altLang="en-US" dirty="0">
                <a:latin typeface="Arial" pitchFamily="34" charset="0"/>
                <a:ea typeface="等线" pitchFamily="2" charset="-122"/>
              </a:rPr>
              <a:t>LSU </a:t>
            </a:r>
            <a:r>
              <a:rPr lang="zh-CN" altLang="en-US" dirty="0">
                <a:latin typeface="Arial" pitchFamily="34" charset="0"/>
              </a:rPr>
              <a:t>报文进行确认。</a:t>
            </a:r>
          </a:p>
          <a:p>
            <a:r>
              <a:rPr lang="en-US" altLang="zh-CN" dirty="0">
                <a:latin typeface="Arial" pitchFamily="34" charset="0"/>
              </a:rPr>
              <a:t>OSPF </a:t>
            </a:r>
            <a:r>
              <a:rPr lang="zh-CN" altLang="en-US" dirty="0">
                <a:latin typeface="Arial" pitchFamily="34" charset="0"/>
              </a:rPr>
              <a:t>的</a:t>
            </a:r>
            <a:r>
              <a:rPr lang="en-US" altLang="zh-CN" dirty="0">
                <a:latin typeface="Arial" pitchFamily="34" charset="0"/>
              </a:rPr>
              <a:t>5 </a:t>
            </a:r>
            <a:r>
              <a:rPr lang="zh-CN" altLang="en-US" dirty="0">
                <a:latin typeface="Arial" pitchFamily="34" charset="0"/>
              </a:rPr>
              <a:t>种报文中，</a:t>
            </a:r>
            <a:r>
              <a:rPr lang="en-US" altLang="zh-CN" dirty="0">
                <a:latin typeface="Arial" pitchFamily="34" charset="0"/>
              </a:rPr>
              <a:t>Hello </a:t>
            </a:r>
            <a:r>
              <a:rPr lang="zh-CN" altLang="en-US" dirty="0">
                <a:latin typeface="Arial" pitchFamily="34" charset="0"/>
              </a:rPr>
              <a:t>报文用来发现和维护邻居关系，只有在邻接关系建立完成后才会交互</a:t>
            </a:r>
            <a:r>
              <a:rPr lang="en-US" altLang="zh-CN" dirty="0">
                <a:latin typeface="Arial" pitchFamily="34" charset="0"/>
              </a:rPr>
              <a:t>DD</a:t>
            </a:r>
            <a:r>
              <a:rPr lang="zh-CN" altLang="en-US" dirty="0">
                <a:latin typeface="Arial" pitchFamily="34" charset="0"/>
              </a:rPr>
              <a:t>、</a:t>
            </a:r>
            <a:r>
              <a:rPr lang="en-US" altLang="zh-CN" dirty="0">
                <a:latin typeface="Arial" pitchFamily="34" charset="0"/>
              </a:rPr>
              <a:t>LSR</a:t>
            </a:r>
            <a:r>
              <a:rPr lang="zh-CN" altLang="en-US" dirty="0">
                <a:latin typeface="Arial" pitchFamily="34" charset="0"/>
              </a:rPr>
              <a:t>、</a:t>
            </a:r>
            <a:r>
              <a:rPr lang="en-US" altLang="zh-CN" dirty="0">
                <a:latin typeface="Arial" pitchFamily="34" charset="0"/>
              </a:rPr>
              <a:t>LSU </a:t>
            </a:r>
            <a:r>
              <a:rPr lang="zh-CN" altLang="en-US" dirty="0">
                <a:latin typeface="Arial" pitchFamily="34" charset="0"/>
              </a:rPr>
              <a:t>以及</a:t>
            </a:r>
            <a:r>
              <a:rPr lang="en-US" altLang="zh-CN" dirty="0" err="1">
                <a:latin typeface="Arial" pitchFamily="34" charset="0"/>
              </a:rPr>
              <a:t>LSAck</a:t>
            </a:r>
            <a:r>
              <a:rPr lang="en-US" altLang="zh-CN" dirty="0">
                <a:latin typeface="Arial" pitchFamily="34" charset="0"/>
              </a:rPr>
              <a:t> </a:t>
            </a:r>
            <a:r>
              <a:rPr lang="zh-CN" altLang="en-US" dirty="0">
                <a:latin typeface="Arial" pitchFamily="34" charset="0"/>
              </a:rPr>
              <a:t>报文。</a:t>
            </a:r>
            <a:endParaRPr lang="en-US" altLang="zh-CN" dirty="0"/>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162</a:t>
            </a:fld>
            <a:endParaRPr kumimoji="1" lang="zh-CN" altLang="en-US"/>
          </a:p>
        </p:txBody>
      </p:sp>
    </p:spTree>
    <p:extLst>
      <p:ext uri="{BB962C8B-B14F-4D97-AF65-F5344CB8AC3E}">
        <p14:creationId xmlns:p14="http://schemas.microsoft.com/office/powerpoint/2010/main" val="114554111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163</a:t>
            </a:fld>
            <a:endParaRPr kumimoji="1" lang="zh-CN" altLang="en-US"/>
          </a:p>
        </p:txBody>
      </p:sp>
    </p:spTree>
    <p:extLst>
      <p:ext uri="{BB962C8B-B14F-4D97-AF65-F5344CB8AC3E}">
        <p14:creationId xmlns:p14="http://schemas.microsoft.com/office/powerpoint/2010/main" val="304152312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164</a:t>
            </a:fld>
            <a:endParaRPr kumimoji="1" lang="zh-CN" altLang="en-US"/>
          </a:p>
        </p:txBody>
      </p:sp>
    </p:spTree>
    <p:extLst>
      <p:ext uri="{BB962C8B-B14F-4D97-AF65-F5344CB8AC3E}">
        <p14:creationId xmlns:p14="http://schemas.microsoft.com/office/powerpoint/2010/main" val="413775416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165</a:t>
            </a:fld>
            <a:endParaRPr kumimoji="1" lang="zh-CN" altLang="en-US"/>
          </a:p>
        </p:txBody>
      </p:sp>
    </p:spTree>
    <p:extLst>
      <p:ext uri="{BB962C8B-B14F-4D97-AF65-F5344CB8AC3E}">
        <p14:creationId xmlns:p14="http://schemas.microsoft.com/office/powerpoint/2010/main" val="44808520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166</a:t>
            </a:fld>
            <a:endParaRPr kumimoji="1" lang="zh-CN" altLang="en-US"/>
          </a:p>
        </p:txBody>
      </p:sp>
    </p:spTree>
    <p:extLst>
      <p:ext uri="{BB962C8B-B14F-4D97-AF65-F5344CB8AC3E}">
        <p14:creationId xmlns:p14="http://schemas.microsoft.com/office/powerpoint/2010/main" val="285679112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167</a:t>
            </a:fld>
            <a:endParaRPr kumimoji="1" lang="zh-CN" altLang="en-US"/>
          </a:p>
        </p:txBody>
      </p:sp>
    </p:spTree>
    <p:extLst>
      <p:ext uri="{BB962C8B-B14F-4D97-AF65-F5344CB8AC3E}">
        <p14:creationId xmlns:p14="http://schemas.microsoft.com/office/powerpoint/2010/main" val="126184884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168</a:t>
            </a:fld>
            <a:endParaRPr kumimoji="1" lang="zh-CN" altLang="en-US"/>
          </a:p>
        </p:txBody>
      </p:sp>
    </p:spTree>
    <p:extLst>
      <p:ext uri="{BB962C8B-B14F-4D97-AF65-F5344CB8AC3E}">
        <p14:creationId xmlns:p14="http://schemas.microsoft.com/office/powerpoint/2010/main" val="281931773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169</a:t>
            </a:fld>
            <a:endParaRPr kumimoji="1" lang="zh-CN" altLang="en-US"/>
          </a:p>
        </p:txBody>
      </p:sp>
    </p:spTree>
    <p:extLst>
      <p:ext uri="{BB962C8B-B14F-4D97-AF65-F5344CB8AC3E}">
        <p14:creationId xmlns:p14="http://schemas.microsoft.com/office/powerpoint/2010/main" val="370218421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170</a:t>
            </a:fld>
            <a:endParaRPr kumimoji="1" lang="zh-CN" altLang="en-US"/>
          </a:p>
        </p:txBody>
      </p:sp>
    </p:spTree>
    <p:extLst>
      <p:ext uri="{BB962C8B-B14F-4D97-AF65-F5344CB8AC3E}">
        <p14:creationId xmlns:p14="http://schemas.microsoft.com/office/powerpoint/2010/main" val="403116712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171</a:t>
            </a:fld>
            <a:endParaRPr kumimoji="1" lang="zh-CN" altLang="en-US"/>
          </a:p>
        </p:txBody>
      </p:sp>
    </p:spTree>
    <p:extLst>
      <p:ext uri="{BB962C8B-B14F-4D97-AF65-F5344CB8AC3E}">
        <p14:creationId xmlns:p14="http://schemas.microsoft.com/office/powerpoint/2010/main" val="43935524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172</a:t>
            </a:fld>
            <a:endParaRPr kumimoji="1" lang="zh-CN" altLang="en-US"/>
          </a:p>
        </p:txBody>
      </p:sp>
    </p:spTree>
    <p:extLst>
      <p:ext uri="{BB962C8B-B14F-4D97-AF65-F5344CB8AC3E}">
        <p14:creationId xmlns:p14="http://schemas.microsoft.com/office/powerpoint/2010/main" val="407799758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173</a:t>
            </a:fld>
            <a:endParaRPr kumimoji="1" lang="zh-CN" altLang="en-US"/>
          </a:p>
        </p:txBody>
      </p:sp>
    </p:spTree>
    <p:extLst>
      <p:ext uri="{BB962C8B-B14F-4D97-AF65-F5344CB8AC3E}">
        <p14:creationId xmlns:p14="http://schemas.microsoft.com/office/powerpoint/2010/main" val="244364086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936592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425095760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zh-CN" altLang="zh-CN" sz="2000" dirty="0"/>
              <a:t>“交换”也表示在转发时不再上升到第三层查找转发表，而是</a:t>
            </a:r>
            <a:r>
              <a:rPr lang="zh-CN" altLang="zh-CN" sz="2000" dirty="0">
                <a:solidFill>
                  <a:srgbClr val="C00000"/>
                </a:solidFill>
              </a:rPr>
              <a:t>根据标</a:t>
            </a:r>
            <a:r>
              <a:rPr lang="zh-CN" altLang="en-US" sz="2000" dirty="0">
                <a:solidFill>
                  <a:srgbClr val="C00000"/>
                </a:solidFill>
              </a:rPr>
              <a:t>签</a:t>
            </a:r>
            <a:r>
              <a:rPr lang="zh-CN" altLang="zh-CN" sz="2000" dirty="0">
                <a:solidFill>
                  <a:srgbClr val="C00000"/>
                </a:solidFill>
              </a:rPr>
              <a:t>在第二层（链路层）用硬件进行转发</a:t>
            </a:r>
            <a:endParaRPr lang="en-US" altLang="zh-CN" sz="2000" dirty="0"/>
          </a:p>
          <a:p>
            <a:endParaRPr lang="zh-CN" altLang="en-US" dirty="0"/>
          </a:p>
        </p:txBody>
      </p:sp>
    </p:spTree>
    <p:extLst>
      <p:ext uri="{BB962C8B-B14F-4D97-AF65-F5344CB8AC3E}">
        <p14:creationId xmlns:p14="http://schemas.microsoft.com/office/powerpoint/2010/main" val="169961610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60017222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01185988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8870127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zh-CN" altLang="en-US" dirty="0"/>
              <a:t>通过</a:t>
            </a:r>
            <a:r>
              <a:rPr lang="en-US" altLang="zh-CN" dirty="0"/>
              <a:t>MPLS </a:t>
            </a:r>
            <a:r>
              <a:rPr lang="zh-CN" altLang="en-US" dirty="0"/>
              <a:t>技术实现</a:t>
            </a:r>
            <a:r>
              <a:rPr lang="en-US" altLang="zh-CN" dirty="0"/>
              <a:t>VPN </a:t>
            </a:r>
            <a:r>
              <a:rPr lang="zh-CN" altLang="en-US" dirty="0"/>
              <a:t>的场景示例。借助</a:t>
            </a:r>
            <a:r>
              <a:rPr lang="en-US" altLang="zh-CN" dirty="0"/>
              <a:t>MPLS </a:t>
            </a:r>
            <a:r>
              <a:rPr lang="zh-CN" altLang="en-US" dirty="0"/>
              <a:t>转发不需要查找路由表的功能，可以将不同的分支点连接在一起，构建用户的私有网络。图中</a:t>
            </a:r>
            <a:r>
              <a:rPr lang="en-US" altLang="en-US" dirty="0"/>
              <a:t>CE </a:t>
            </a:r>
            <a:r>
              <a:rPr lang="zh-CN" altLang="en-US" dirty="0"/>
              <a:t>是用户边缘路由器（</a:t>
            </a:r>
            <a:r>
              <a:rPr lang="en-US" altLang="en-US" dirty="0"/>
              <a:t>Customer </a:t>
            </a:r>
            <a:r>
              <a:rPr lang="en-US" altLang="en-US" dirty="0" err="1"/>
              <a:t>Edge，CE</a:t>
            </a:r>
            <a:r>
              <a:rPr lang="en-US" altLang="en-US" dirty="0"/>
              <a:t>）。PE </a:t>
            </a:r>
            <a:r>
              <a:rPr lang="zh-CN" altLang="en-US" dirty="0"/>
              <a:t>是服务商边缘路由器（</a:t>
            </a:r>
            <a:r>
              <a:rPr lang="en-US" altLang="en-US" dirty="0"/>
              <a:t>Provider </a:t>
            </a:r>
            <a:r>
              <a:rPr lang="en-US" altLang="en-US" dirty="0" err="1"/>
              <a:t>Edge，PE</a:t>
            </a:r>
            <a:r>
              <a:rPr lang="en-US" altLang="en-US" dirty="0"/>
              <a:t>），</a:t>
            </a:r>
            <a:r>
              <a:rPr lang="zh-CN" altLang="en-US" dirty="0"/>
              <a:t>位于骨干网络。</a:t>
            </a:r>
            <a:r>
              <a:rPr lang="en-US" altLang="en-US" dirty="0"/>
              <a:t>P </a:t>
            </a:r>
            <a:r>
              <a:rPr lang="zh-CN" altLang="en-US" dirty="0"/>
              <a:t>是服务提供商网络中的骨干路由器（</a:t>
            </a:r>
            <a:r>
              <a:rPr lang="en-US" altLang="en-US" dirty="0" err="1"/>
              <a:t>Provider，P</a:t>
            </a:r>
            <a:r>
              <a:rPr lang="en-US" altLang="en-US" dirty="0"/>
              <a:t>），</a:t>
            </a:r>
            <a:r>
              <a:rPr lang="zh-CN" altLang="en-US" dirty="0"/>
              <a:t>不与</a:t>
            </a:r>
            <a:r>
              <a:rPr lang="en-US" altLang="en-US" dirty="0"/>
              <a:t>CE </a:t>
            </a:r>
            <a:r>
              <a:rPr lang="zh-CN" altLang="en-US" dirty="0"/>
              <a:t>直接相连。</a:t>
            </a:r>
            <a:r>
              <a:rPr lang="en-US" altLang="en-US" dirty="0"/>
              <a:t>CE </a:t>
            </a:r>
            <a:r>
              <a:rPr lang="zh-CN" altLang="en-US" dirty="0"/>
              <a:t>路由器维护用户的局域网路由信息，</a:t>
            </a:r>
            <a:r>
              <a:rPr lang="en-US" altLang="zh-CN" dirty="0"/>
              <a:t>PE </a:t>
            </a:r>
            <a:r>
              <a:rPr lang="zh-CN" altLang="en-US" dirty="0"/>
              <a:t>和</a:t>
            </a:r>
            <a:r>
              <a:rPr lang="en-US" altLang="zh-CN" dirty="0"/>
              <a:t>P </a:t>
            </a:r>
            <a:r>
              <a:rPr lang="zh-CN" altLang="en-US" dirty="0"/>
              <a:t>则维护运营商的公网路由信息，在用户需要在自己的两个私网分支结构之间进行数据通信的时候，可以在运营商的公网中创建一条</a:t>
            </a:r>
            <a:r>
              <a:rPr lang="en-US" altLang="zh-CN" dirty="0"/>
              <a:t>MPLS </a:t>
            </a:r>
            <a:r>
              <a:rPr lang="zh-CN" altLang="en-US" dirty="0"/>
              <a:t>的数据转发路径，将用户的私网数据封装在</a:t>
            </a:r>
            <a:r>
              <a:rPr lang="en-US" altLang="zh-CN" dirty="0"/>
              <a:t>MPLS </a:t>
            </a:r>
            <a:r>
              <a:rPr lang="zh-CN" altLang="en-US" dirty="0"/>
              <a:t>标签中透传到另一端的分支网络中。而数据在公网中进行传递的时候，只需要依据标签进行转发即可，不需要公网中的路由器维护用户的局域网路由信息。</a:t>
            </a:r>
          </a:p>
          <a:p>
            <a:endParaRPr lang="zh-CN" altLang="en-US" dirty="0"/>
          </a:p>
        </p:txBody>
      </p:sp>
    </p:spTree>
    <p:extLst>
      <p:ext uri="{BB962C8B-B14F-4D97-AF65-F5344CB8AC3E}">
        <p14:creationId xmlns:p14="http://schemas.microsoft.com/office/powerpoint/2010/main" val="381202107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如图是</a:t>
            </a:r>
            <a:r>
              <a:rPr lang="en-US" altLang="en-US" dirty="0"/>
              <a:t>MPLS </a:t>
            </a:r>
            <a:r>
              <a:rPr lang="zh-CN" altLang="en-US" dirty="0"/>
              <a:t>技术在流量工程中的应用。通过建立到达指定路径的标签交换路径进行资源预留，使网络流量能够依照规划好的路径进行转发，绕开了拥塞节点，从而达到了平衡网络流量的目的。如图所示，</a:t>
            </a:r>
            <a:r>
              <a:rPr lang="en-US" altLang="en-US" dirty="0"/>
              <a:t>Network A </a:t>
            </a:r>
            <a:r>
              <a:rPr lang="zh-CN" altLang="en-US" dirty="0"/>
              <a:t>到</a:t>
            </a:r>
            <a:r>
              <a:rPr lang="en-US" altLang="en-US" dirty="0"/>
              <a:t>Network C </a:t>
            </a:r>
            <a:r>
              <a:rPr lang="zh-CN" altLang="en-US" dirty="0"/>
              <a:t>的</a:t>
            </a:r>
            <a:r>
              <a:rPr lang="en-US" altLang="zh-CN" dirty="0"/>
              <a:t>70%</a:t>
            </a:r>
            <a:r>
              <a:rPr lang="zh-CN" altLang="en-US" dirty="0"/>
              <a:t>的流量通过路径</a:t>
            </a:r>
            <a:r>
              <a:rPr lang="en-US" altLang="en-US" dirty="0"/>
              <a:t>RTB-RTC-RTD </a:t>
            </a:r>
            <a:r>
              <a:rPr lang="zh-CN" altLang="en-US" dirty="0"/>
              <a:t>传递，</a:t>
            </a:r>
            <a:r>
              <a:rPr lang="en-US" altLang="zh-CN" dirty="0"/>
              <a:t>30%</a:t>
            </a:r>
            <a:r>
              <a:rPr lang="zh-CN" altLang="en-US" dirty="0"/>
              <a:t>的流量通过</a:t>
            </a:r>
            <a:r>
              <a:rPr lang="en-US" altLang="en-US" dirty="0"/>
              <a:t>RTB-RTGRTH-RTD </a:t>
            </a:r>
            <a:r>
              <a:rPr lang="zh-CN" altLang="en-US" dirty="0"/>
              <a:t>传递。</a:t>
            </a:r>
            <a:r>
              <a:rPr lang="en-US" altLang="en-US" dirty="0"/>
              <a:t>Network B </a:t>
            </a:r>
            <a:r>
              <a:rPr lang="zh-CN" altLang="en-US" dirty="0"/>
              <a:t>到</a:t>
            </a:r>
            <a:r>
              <a:rPr lang="en-US" altLang="en-US" dirty="0"/>
              <a:t>Network C </a:t>
            </a:r>
            <a:r>
              <a:rPr lang="zh-CN" altLang="en-US" dirty="0"/>
              <a:t>的流量类似。由此可以发现，</a:t>
            </a:r>
            <a:r>
              <a:rPr lang="en-US" altLang="en-US" dirty="0"/>
              <a:t>MPLS</a:t>
            </a:r>
            <a:r>
              <a:rPr lang="zh-CN" altLang="en-US" dirty="0"/>
              <a:t>流量工程技术可以很好地利用网络中闲置已久的备用路径来分担流量，达到设备资源利用最大化的目的。</a:t>
            </a:r>
          </a:p>
          <a:p>
            <a:endParaRPr lang="zh-CN" altLang="en-US" dirty="0"/>
          </a:p>
        </p:txBody>
      </p:sp>
    </p:spTree>
    <p:extLst>
      <p:ext uri="{BB962C8B-B14F-4D97-AF65-F5344CB8AC3E}">
        <p14:creationId xmlns:p14="http://schemas.microsoft.com/office/powerpoint/2010/main" val="372567033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195</a:t>
            </a:fld>
            <a:endParaRPr kumimoji="1" lang="zh-CN" altLang="en-US"/>
          </a:p>
        </p:txBody>
      </p:sp>
    </p:spTree>
    <p:extLst>
      <p:ext uri="{BB962C8B-B14F-4D97-AF65-F5344CB8AC3E}">
        <p14:creationId xmlns:p14="http://schemas.microsoft.com/office/powerpoint/2010/main" val="405075397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196</a:t>
            </a:fld>
            <a:endParaRPr kumimoji="1" lang="zh-CN" altLang="en-US"/>
          </a:p>
        </p:txBody>
      </p:sp>
    </p:spTree>
    <p:extLst>
      <p:ext uri="{BB962C8B-B14F-4D97-AF65-F5344CB8AC3E}">
        <p14:creationId xmlns:p14="http://schemas.microsoft.com/office/powerpoint/2010/main" val="101097685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197</a:t>
            </a:fld>
            <a:endParaRPr kumimoji="1" lang="zh-CN" altLang="en-US"/>
          </a:p>
        </p:txBody>
      </p:sp>
    </p:spTree>
    <p:extLst>
      <p:ext uri="{BB962C8B-B14F-4D97-AF65-F5344CB8AC3E}">
        <p14:creationId xmlns:p14="http://schemas.microsoft.com/office/powerpoint/2010/main" val="82015660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198</a:t>
            </a:fld>
            <a:endParaRPr kumimoji="1" lang="zh-CN" altLang="en-US"/>
          </a:p>
        </p:txBody>
      </p:sp>
    </p:spTree>
    <p:extLst>
      <p:ext uri="{BB962C8B-B14F-4D97-AF65-F5344CB8AC3E}">
        <p14:creationId xmlns:p14="http://schemas.microsoft.com/office/powerpoint/2010/main" val="279057747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199</a:t>
            </a:fld>
            <a:endParaRPr kumimoji="1" lang="zh-CN" altLang="en-US"/>
          </a:p>
        </p:txBody>
      </p:sp>
    </p:spTree>
    <p:extLst>
      <p:ext uri="{BB962C8B-B14F-4D97-AF65-F5344CB8AC3E}">
        <p14:creationId xmlns:p14="http://schemas.microsoft.com/office/powerpoint/2010/main" val="391315353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200</a:t>
            </a:fld>
            <a:endParaRPr kumimoji="1" lang="zh-CN" altLang="en-US"/>
          </a:p>
        </p:txBody>
      </p:sp>
    </p:spTree>
    <p:extLst>
      <p:ext uri="{BB962C8B-B14F-4D97-AF65-F5344CB8AC3E}">
        <p14:creationId xmlns:p14="http://schemas.microsoft.com/office/powerpoint/2010/main" val="119915650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201</a:t>
            </a:fld>
            <a:endParaRPr kumimoji="1" lang="zh-CN" altLang="en-US"/>
          </a:p>
        </p:txBody>
      </p:sp>
    </p:spTree>
    <p:extLst>
      <p:ext uri="{BB962C8B-B14F-4D97-AF65-F5344CB8AC3E}">
        <p14:creationId xmlns:p14="http://schemas.microsoft.com/office/powerpoint/2010/main" val="186145311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213</a:t>
            </a:fld>
            <a:endParaRPr kumimoji="1" lang="zh-CN" altLang="en-US"/>
          </a:p>
        </p:txBody>
      </p:sp>
    </p:spTree>
    <p:extLst>
      <p:ext uri="{BB962C8B-B14F-4D97-AF65-F5344CB8AC3E}">
        <p14:creationId xmlns:p14="http://schemas.microsoft.com/office/powerpoint/2010/main" val="2864193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232</a:t>
            </a:fld>
            <a:endParaRPr kumimoji="1" lang="zh-CN" altLang="en-US"/>
          </a:p>
        </p:txBody>
      </p:sp>
    </p:spTree>
    <p:extLst>
      <p:ext uri="{BB962C8B-B14F-4D97-AF65-F5344CB8AC3E}">
        <p14:creationId xmlns:p14="http://schemas.microsoft.com/office/powerpoint/2010/main" val="66701161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233</a:t>
            </a:fld>
            <a:endParaRPr kumimoji="1" lang="zh-CN" altLang="en-US"/>
          </a:p>
        </p:txBody>
      </p:sp>
    </p:spTree>
    <p:extLst>
      <p:ext uri="{BB962C8B-B14F-4D97-AF65-F5344CB8AC3E}">
        <p14:creationId xmlns:p14="http://schemas.microsoft.com/office/powerpoint/2010/main" val="336901455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右上图中绿色的</a:t>
            </a:r>
            <a:r>
              <a:rPr lang="en-US" altLang="zh-CN" dirty="0" err="1"/>
              <a:t>arp</a:t>
            </a:r>
            <a:r>
              <a:rPr lang="zh-CN" altLang="en-US" dirty="0"/>
              <a:t>报文会被目标是</a:t>
            </a:r>
            <a:r>
              <a:rPr lang="en-US" altLang="zh-CN" dirty="0" err="1"/>
              <a:t>ffff-ffff-ffff</a:t>
            </a:r>
            <a:r>
              <a:rPr lang="zh-CN" altLang="en-US" dirty="0"/>
              <a:t>的帧封装，因此所有路由器转发该帧</a:t>
            </a:r>
            <a:endParaRPr lang="en-US" altLang="zh-CN" dirty="0"/>
          </a:p>
          <a:p>
            <a:r>
              <a:rPr lang="zh-CN" altLang="en-US" dirty="0"/>
              <a:t>下图是</a:t>
            </a:r>
            <a:r>
              <a:rPr lang="en-US" altLang="zh-CN" dirty="0"/>
              <a:t>802.1d STP</a:t>
            </a:r>
            <a:r>
              <a:rPr lang="zh-CN" altLang="en-US" dirty="0"/>
              <a:t>协议周期性发出的用于维护</a:t>
            </a:r>
            <a:r>
              <a:rPr lang="en-US" altLang="zh-CN" dirty="0"/>
              <a:t>STP</a:t>
            </a:r>
            <a:r>
              <a:rPr lang="zh-CN" altLang="en-US" dirty="0"/>
              <a:t>状态的</a:t>
            </a:r>
            <a:r>
              <a:rPr lang="en-US" altLang="zh-CN" dirty="0"/>
              <a:t>BPDU</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234</a:t>
            </a:fld>
            <a:endParaRPr kumimoji="1" lang="zh-CN" altLang="en-US"/>
          </a:p>
        </p:txBody>
      </p:sp>
    </p:spTree>
    <p:extLst>
      <p:ext uri="{BB962C8B-B14F-4D97-AF65-F5344CB8AC3E}">
        <p14:creationId xmlns:p14="http://schemas.microsoft.com/office/powerpoint/2010/main" val="169339691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左上图中所有交换机</a:t>
            </a:r>
            <a:r>
              <a:rPr lang="en-US" altLang="zh-CN" dirty="0"/>
              <a:t>MAC</a:t>
            </a:r>
            <a:r>
              <a:rPr lang="zh-CN" altLang="en-US" dirty="0"/>
              <a:t>表被清空，当主机发出一个帧，会被洪泛</a:t>
            </a:r>
            <a:endParaRPr lang="en-US" altLang="zh-CN" dirty="0"/>
          </a:p>
          <a:p>
            <a:r>
              <a:rPr lang="zh-CN" altLang="en-US" dirty="0"/>
              <a:t>右上图中绿色的</a:t>
            </a:r>
            <a:r>
              <a:rPr lang="en-US" altLang="zh-CN" dirty="0" err="1"/>
              <a:t>arp</a:t>
            </a:r>
            <a:r>
              <a:rPr lang="zh-CN" altLang="en-US" dirty="0"/>
              <a:t>报文会被目标是</a:t>
            </a:r>
            <a:r>
              <a:rPr lang="en-US" altLang="zh-CN" dirty="0" err="1"/>
              <a:t>ffff-ffff-ffff</a:t>
            </a:r>
            <a:r>
              <a:rPr lang="zh-CN" altLang="en-US" dirty="0"/>
              <a:t>的帧封装，因此所有路由器转发该帧</a:t>
            </a:r>
            <a:endParaRPr lang="en-US" altLang="zh-CN" dirty="0"/>
          </a:p>
          <a:p>
            <a:r>
              <a:rPr lang="zh-CN" altLang="en-US" dirty="0"/>
              <a:t>下图是</a:t>
            </a:r>
            <a:r>
              <a:rPr lang="en-US" altLang="zh-CN" dirty="0"/>
              <a:t>802.1d STP</a:t>
            </a:r>
            <a:r>
              <a:rPr lang="zh-CN" altLang="en-US" dirty="0"/>
              <a:t>协议</a:t>
            </a:r>
            <a:r>
              <a:rPr lang="zh-CN" altLang="en-US"/>
              <a:t>周期性发出的</a:t>
            </a:r>
            <a:r>
              <a:rPr lang="zh-CN" altLang="en-US" dirty="0"/>
              <a:t>用于</a:t>
            </a:r>
            <a:r>
              <a:rPr lang="zh-CN" altLang="en-US"/>
              <a:t>维护</a:t>
            </a:r>
            <a:r>
              <a:rPr lang="en-US" altLang="zh-CN"/>
              <a:t>STP</a:t>
            </a:r>
            <a:r>
              <a:rPr lang="zh-CN" altLang="en-US"/>
              <a:t>状态的</a:t>
            </a:r>
            <a:r>
              <a:rPr lang="en-US" altLang="zh-CN" dirty="0"/>
              <a:t>BPDU</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235</a:t>
            </a:fld>
            <a:endParaRPr kumimoji="1" lang="zh-CN" altLang="en-US"/>
          </a:p>
        </p:txBody>
      </p:sp>
    </p:spTree>
    <p:extLst>
      <p:ext uri="{BB962C8B-B14F-4D97-AF65-F5344CB8AC3E}">
        <p14:creationId xmlns:p14="http://schemas.microsoft.com/office/powerpoint/2010/main" val="76331122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1.VLAN</a:t>
            </a:r>
            <a:r>
              <a:rPr lang="zh-CN" altLang="en-US" dirty="0"/>
              <a:t>虽然隔离了广播流量，也隔离了正常的数据通信，使得网络被划分为若干无法相互通信的信息孤岛</a:t>
            </a:r>
            <a:endParaRPr lang="en-US" altLang="zh-CN" dirty="0"/>
          </a:p>
          <a:p>
            <a:r>
              <a:rPr lang="en-US" altLang="zh-CN" dirty="0"/>
              <a:t>2.VLAN</a:t>
            </a:r>
            <a:r>
              <a:rPr lang="zh-CN" altLang="en-US" dirty="0"/>
              <a:t>之间可以通过第三层的通信技术实现互连互通</a:t>
            </a:r>
            <a:endParaRPr lang="en-US" altLang="zh-CN" dirty="0"/>
          </a:p>
          <a:p>
            <a:r>
              <a:rPr lang="en-US" altLang="zh-CN" dirty="0"/>
              <a:t>3.</a:t>
            </a:r>
            <a:r>
              <a:rPr lang="zh-CN" altLang="en-US" dirty="0"/>
              <a:t>跨物理位置的</a:t>
            </a:r>
            <a:r>
              <a:rPr lang="en-US" altLang="zh-CN" dirty="0"/>
              <a:t>VLAN</a:t>
            </a:r>
            <a:r>
              <a:rPr lang="zh-CN" altLang="en-US" dirty="0"/>
              <a:t>间路由会导致网络拓扑的混乱，造成网络物理设计的复杂性</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236</a:t>
            </a:fld>
            <a:endParaRPr kumimoji="1" lang="zh-CN" altLang="en-US"/>
          </a:p>
        </p:txBody>
      </p:sp>
    </p:spTree>
    <p:extLst>
      <p:ext uri="{BB962C8B-B14F-4D97-AF65-F5344CB8AC3E}">
        <p14:creationId xmlns:p14="http://schemas.microsoft.com/office/powerpoint/2010/main" val="190938400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使用路由器连接</a:t>
            </a:r>
            <a:r>
              <a:rPr lang="en-US" altLang="zh-CN" dirty="0"/>
              <a:t>VLAN</a:t>
            </a:r>
            <a:r>
              <a:rPr lang="zh-CN" altLang="en-US" dirty="0"/>
              <a:t>时，必须从物理上对</a:t>
            </a:r>
            <a:r>
              <a:rPr lang="en-US" altLang="zh-CN" dirty="0"/>
              <a:t>VLAN</a:t>
            </a:r>
            <a:r>
              <a:rPr lang="zh-CN" altLang="en-US" dirty="0"/>
              <a:t>进行隔离以保证广播域的隔离，因此导致每一个</a:t>
            </a:r>
            <a:r>
              <a:rPr lang="en-US" altLang="zh-CN" dirty="0"/>
              <a:t>VLAN</a:t>
            </a:r>
            <a:r>
              <a:rPr lang="zh-CN" altLang="en-US" dirty="0"/>
              <a:t>需要一个到达路由器的独立连接，增加网络拓扑的复杂性，增加网络部署成本</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237</a:t>
            </a:fld>
            <a:endParaRPr kumimoji="1" lang="zh-CN" altLang="en-US"/>
          </a:p>
        </p:txBody>
      </p:sp>
    </p:spTree>
    <p:extLst>
      <p:ext uri="{BB962C8B-B14F-4D97-AF65-F5344CB8AC3E}">
        <p14:creationId xmlns:p14="http://schemas.microsoft.com/office/powerpoint/2010/main" val="351583634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2.</a:t>
            </a:r>
            <a:r>
              <a:rPr lang="zh-CN" altLang="en-US" dirty="0"/>
              <a:t>使用单臂路由技术在交换机和路由器连接的接口上设置</a:t>
            </a:r>
            <a:r>
              <a:rPr lang="en-US" altLang="zh-CN" dirty="0"/>
              <a:t>trunk</a:t>
            </a:r>
            <a:r>
              <a:rPr lang="zh-CN" altLang="en-US" dirty="0"/>
              <a:t>模式和划分逻辑子接口，虽然可以简化物理拓扑，但是该低速串行连接成为网络间通信的瓶颈，不利于企业网内密集流量通信</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238</a:t>
            </a:fld>
            <a:endParaRPr kumimoji="1" lang="zh-CN" altLang="en-US"/>
          </a:p>
        </p:txBody>
      </p:sp>
    </p:spTree>
    <p:extLst>
      <p:ext uri="{BB962C8B-B14F-4D97-AF65-F5344CB8AC3E}">
        <p14:creationId xmlns:p14="http://schemas.microsoft.com/office/powerpoint/2010/main" val="259547071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作为第二层和第三层通信的桥梁，</a:t>
            </a:r>
            <a:r>
              <a:rPr lang="en-US" altLang="zh-CN" dirty="0" err="1"/>
              <a:t>arp</a:t>
            </a:r>
            <a:r>
              <a:rPr lang="zh-CN" altLang="en-US" dirty="0"/>
              <a:t>协议本质上并不参与互连而仅仅是用于数据转发，这样的设计使得二三层接口不够明晰，导致所有的数据转发都要影响到路由器接口</a:t>
            </a:r>
            <a:endParaRPr lang="en-US" altLang="zh-CN" dirty="0"/>
          </a:p>
          <a:p>
            <a:r>
              <a:rPr lang="en-US" altLang="zh-CN" dirty="0"/>
              <a:t>2.</a:t>
            </a:r>
            <a:r>
              <a:rPr lang="zh-CN" altLang="en-US" dirty="0"/>
              <a:t>当</a:t>
            </a:r>
            <a:r>
              <a:rPr lang="en-US" altLang="zh-CN" dirty="0"/>
              <a:t>PC1</a:t>
            </a:r>
            <a:r>
              <a:rPr lang="zh-CN" altLang="en-US" dirty="0"/>
              <a:t>第一次访问</a:t>
            </a:r>
            <a:r>
              <a:rPr lang="en-US" altLang="zh-CN" dirty="0"/>
              <a:t>PC2</a:t>
            </a:r>
            <a:r>
              <a:rPr lang="zh-CN" altLang="en-US" dirty="0"/>
              <a:t>时，会经历</a:t>
            </a:r>
            <a:r>
              <a:rPr lang="en-US" altLang="zh-CN" dirty="0"/>
              <a:t>2</a:t>
            </a:r>
            <a:r>
              <a:rPr lang="zh-CN" altLang="en-US" dirty="0"/>
              <a:t>次</a:t>
            </a:r>
            <a:r>
              <a:rPr lang="en-US" altLang="zh-CN" dirty="0"/>
              <a:t>ARP</a:t>
            </a:r>
            <a:r>
              <a:rPr lang="zh-CN" altLang="en-US" dirty="0"/>
              <a:t>过程，而且</a:t>
            </a:r>
            <a:r>
              <a:rPr lang="en-US" altLang="zh-CN" dirty="0"/>
              <a:t>2</a:t>
            </a:r>
            <a:r>
              <a:rPr lang="zh-CN" altLang="en-US" dirty="0"/>
              <a:t>次</a:t>
            </a:r>
            <a:r>
              <a:rPr lang="en-US" altLang="zh-CN" dirty="0"/>
              <a:t>ARP</a:t>
            </a:r>
            <a:r>
              <a:rPr lang="zh-CN" altLang="en-US" dirty="0"/>
              <a:t>过程路由器都会参与；此后</a:t>
            </a:r>
            <a:r>
              <a:rPr lang="en-US" altLang="zh-CN" dirty="0"/>
              <a:t>PC3</a:t>
            </a:r>
            <a:r>
              <a:rPr lang="zh-CN" altLang="en-US" dirty="0"/>
              <a:t>再访问</a:t>
            </a:r>
            <a:r>
              <a:rPr lang="en-US" altLang="zh-CN" dirty="0"/>
              <a:t>PC2</a:t>
            </a:r>
            <a:r>
              <a:rPr lang="zh-CN" altLang="en-US" dirty="0"/>
              <a:t>，路由器仍然需要响应</a:t>
            </a:r>
            <a:r>
              <a:rPr lang="en-US" altLang="zh-CN" dirty="0"/>
              <a:t>PC3</a:t>
            </a:r>
            <a:r>
              <a:rPr lang="zh-CN" altLang="en-US" dirty="0"/>
              <a:t>发出的</a:t>
            </a:r>
            <a:r>
              <a:rPr lang="en-US" altLang="zh-CN" dirty="0"/>
              <a:t>ARP</a:t>
            </a:r>
            <a:r>
              <a:rPr lang="zh-CN" altLang="en-US" dirty="0"/>
              <a:t>请求</a:t>
            </a:r>
            <a:endParaRPr lang="en-US" altLang="zh-CN" dirty="0"/>
          </a:p>
          <a:p>
            <a:r>
              <a:rPr lang="en-US" altLang="zh-CN" dirty="0"/>
              <a:t>3.</a:t>
            </a:r>
            <a:r>
              <a:rPr lang="zh-CN" altLang="en-US" dirty="0"/>
              <a:t>多次</a:t>
            </a:r>
            <a:r>
              <a:rPr lang="en-US" altLang="zh-CN" dirty="0"/>
              <a:t>ARP</a:t>
            </a:r>
            <a:r>
              <a:rPr lang="zh-CN" altLang="en-US" dirty="0"/>
              <a:t>的过程会大量消耗带宽</a:t>
            </a:r>
            <a:r>
              <a:rPr lang="zh-CN" altLang="en-US"/>
              <a:t>资源，特别是对单臂路由链路的通信负载影响，对</a:t>
            </a:r>
            <a:r>
              <a:rPr lang="zh-CN" altLang="en-US" dirty="0"/>
              <a:t>总通信时延造成影响</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239</a:t>
            </a:fld>
            <a:endParaRPr kumimoji="1" lang="zh-CN" altLang="en-US"/>
          </a:p>
        </p:txBody>
      </p:sp>
    </p:spTree>
    <p:extLst>
      <p:ext uri="{BB962C8B-B14F-4D97-AF65-F5344CB8AC3E}">
        <p14:creationId xmlns:p14="http://schemas.microsoft.com/office/powerpoint/2010/main" val="77676784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三层交换技术从 </a:t>
            </a:r>
            <a:r>
              <a:rPr lang="en-US" altLang="zh-CN" dirty="0"/>
              <a:t>1997 </a:t>
            </a:r>
            <a:r>
              <a:rPr lang="zh-CN" altLang="en-US" dirty="0"/>
              <a:t>年出现，主要是为了解决规模较大的网络中的广播域隔离问题。</a:t>
            </a:r>
            <a:endParaRPr lang="en-US" altLang="zh-CN" dirty="0"/>
          </a:p>
          <a:p>
            <a:r>
              <a:rPr lang="zh-CN" altLang="en-US" dirty="0"/>
              <a:t>通过将大的广播域分成若干个小的 </a:t>
            </a:r>
            <a:r>
              <a:rPr lang="en-US" altLang="zh-CN" dirty="0"/>
              <a:t>VLAN</a:t>
            </a:r>
            <a:r>
              <a:rPr lang="zh-CN" altLang="en-US" dirty="0"/>
              <a:t>，各个</a:t>
            </a:r>
            <a:r>
              <a:rPr lang="en-US" altLang="zh-CN" dirty="0"/>
              <a:t>VLAN </a:t>
            </a:r>
            <a:r>
              <a:rPr lang="zh-CN" altLang="en-US" dirty="0"/>
              <a:t>之间进行二层隔离、三层互通，从而解决了大的局域网中广播风暴的问题。</a:t>
            </a:r>
            <a:endParaRPr lang="en-US" altLang="zh-CN" dirty="0"/>
          </a:p>
          <a:p>
            <a:r>
              <a:rPr lang="zh-CN" altLang="en-US" b="0" i="0" dirty="0">
                <a:solidFill>
                  <a:srgbClr val="333333"/>
                </a:solidFill>
                <a:effectLst/>
                <a:latin typeface="arial" panose="020B0604020202020204" pitchFamily="34" charset="0"/>
              </a:rPr>
              <a:t>三层交换技术就是：二层交换技术</a:t>
            </a:r>
            <a:r>
              <a:rPr lang="en-US" altLang="zh-CN" b="0" i="0" dirty="0">
                <a:solidFill>
                  <a:srgbClr val="333333"/>
                </a:solidFill>
                <a:effectLst/>
                <a:latin typeface="arial" panose="020B0604020202020204" pitchFamily="34" charset="0"/>
              </a:rPr>
              <a:t>+</a:t>
            </a:r>
            <a:r>
              <a:rPr lang="zh-CN" altLang="en-US" b="0" i="0" dirty="0">
                <a:solidFill>
                  <a:srgbClr val="333333"/>
                </a:solidFill>
                <a:effectLst/>
                <a:latin typeface="arial" panose="020B0604020202020204" pitchFamily="34" charset="0"/>
              </a:rPr>
              <a:t>三层转发技术，解决了</a:t>
            </a:r>
            <a:r>
              <a:rPr lang="zh-CN" altLang="en-US" sz="1200" b="0" i="0" kern="1200" dirty="0">
                <a:solidFill>
                  <a:srgbClr val="333333"/>
                </a:solidFill>
                <a:effectLst/>
                <a:latin typeface="arial" panose="020B0604020202020204" pitchFamily="34" charset="0"/>
                <a:ea typeface="+mn-ea"/>
                <a:cs typeface="+mn-cs"/>
              </a:rPr>
              <a:t>子网划分后，子网间必须依赖</a:t>
            </a:r>
            <a:r>
              <a:rPr lang="zh-CN" altLang="en-US" sz="1200" b="0" i="0" kern="1200" dirty="0">
                <a:solidFill>
                  <a:srgbClr val="333333"/>
                </a:solidFill>
                <a:effectLst/>
                <a:latin typeface="arial" panose="020B0604020202020204" pitchFamily="34" charset="0"/>
                <a:ea typeface="+mn-ea"/>
                <a:cs typeface="+mn-cs"/>
                <a:hlinkClick r:id="rId3">
                  <a:extLst>
                    <a:ext uri="{A12FA001-AC4F-418D-AE19-62706E023703}">
                      <ahyp:hlinkClr xmlns:ahyp="http://schemas.microsoft.com/office/drawing/2018/hyperlinkcolor" val="tx"/>
                    </a:ext>
                  </a:extLst>
                </a:hlinkClick>
              </a:rPr>
              <a:t>路由器</a:t>
            </a:r>
            <a:r>
              <a:rPr lang="zh-CN" altLang="en-US" sz="1200" b="0" i="0" kern="1200" dirty="0">
                <a:solidFill>
                  <a:srgbClr val="333333"/>
                </a:solidFill>
                <a:effectLst/>
                <a:latin typeface="arial" panose="020B0604020202020204" pitchFamily="34" charset="0"/>
                <a:ea typeface="+mn-ea"/>
                <a:cs typeface="+mn-cs"/>
              </a:rPr>
              <a:t>进行管理的局面，解决了</a:t>
            </a:r>
            <a:r>
              <a:rPr lang="zh-CN" altLang="en-US" b="0" i="0" dirty="0">
                <a:solidFill>
                  <a:srgbClr val="333333"/>
                </a:solidFill>
                <a:effectLst/>
                <a:latin typeface="arial" panose="020B0604020202020204" pitchFamily="34" charset="0"/>
              </a:rPr>
              <a:t>传统路由器低速、复杂所造成的网络瓶颈问题。</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240</a:t>
            </a:fld>
            <a:endParaRPr kumimoji="1" lang="zh-CN" altLang="en-US"/>
          </a:p>
        </p:txBody>
      </p:sp>
    </p:spTree>
    <p:extLst>
      <p:ext uri="{BB962C8B-B14F-4D97-AF65-F5344CB8AC3E}">
        <p14:creationId xmlns:p14="http://schemas.microsoft.com/office/powerpoint/2010/main" val="325335426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241</a:t>
            </a:fld>
            <a:endParaRPr kumimoji="1" lang="zh-CN" altLang="en-US"/>
          </a:p>
        </p:txBody>
      </p:sp>
    </p:spTree>
    <p:extLst>
      <p:ext uri="{BB962C8B-B14F-4D97-AF65-F5344CB8AC3E}">
        <p14:creationId xmlns:p14="http://schemas.microsoft.com/office/powerpoint/2010/main" val="2705976625"/>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a:extLst>
              <a:ext uri="{FF2B5EF4-FFF2-40B4-BE49-F238E27FC236}">
                <a16:creationId xmlns:a16="http://schemas.microsoft.com/office/drawing/2014/main" id="{A0DACDBD-AC34-4A48-91A4-E72BE37A56C5}"/>
              </a:ext>
            </a:extLst>
          </p:cNvPr>
          <p:cNvSpPr>
            <a:spLocks noGrp="1" noChangeArrowheads="1"/>
          </p:cNvSpPr>
          <p:nvPr>
            <p:ph type="sldNum" sz="quarter" idx="5"/>
          </p:nvPr>
        </p:nvSpPr>
        <p:spPr>
          <a:ln/>
        </p:spPr>
        <p:txBody>
          <a:bodyPr/>
          <a:lstStyle/>
          <a:p>
            <a:fld id="{F3856220-A98D-434A-8158-C36FC014D4A3}" type="slidenum">
              <a:rPr lang="en-US" altLang="zh-CN"/>
              <a:pPr/>
              <a:t>242</a:t>
            </a:fld>
            <a:endParaRPr lang="en-US" altLang="zh-CN"/>
          </a:p>
        </p:txBody>
      </p:sp>
      <p:sp>
        <p:nvSpPr>
          <p:cNvPr id="1835010" name="Rectangle 2">
            <a:extLst>
              <a:ext uri="{FF2B5EF4-FFF2-40B4-BE49-F238E27FC236}">
                <a16:creationId xmlns:a16="http://schemas.microsoft.com/office/drawing/2014/main" id="{803D2170-41CE-4F30-9A67-E5AD52FE9738}"/>
              </a:ext>
            </a:extLst>
          </p:cNvPr>
          <p:cNvSpPr>
            <a:spLocks noGrp="1" noRot="1" noChangeAspect="1" noChangeArrowheads="1" noTextEdit="1"/>
          </p:cNvSpPr>
          <p:nvPr>
            <p:ph type="sldImg"/>
          </p:nvPr>
        </p:nvSpPr>
        <p:spPr>
          <a:ln/>
        </p:spPr>
      </p:sp>
      <p:sp>
        <p:nvSpPr>
          <p:cNvPr id="1835011" name="Rectangle 3">
            <a:extLst>
              <a:ext uri="{FF2B5EF4-FFF2-40B4-BE49-F238E27FC236}">
                <a16:creationId xmlns:a16="http://schemas.microsoft.com/office/drawing/2014/main" id="{479C84ED-E05B-4B4C-8AB0-AC31F9764952}"/>
              </a:ext>
            </a:extLst>
          </p:cNvPr>
          <p:cNvSpPr>
            <a:spLocks noGrp="1" noChangeArrowheads="1"/>
          </p:cNvSpPr>
          <p:nvPr>
            <p:ph type="body" idx="1"/>
          </p:nvPr>
        </p:nvSpPr>
        <p:spPr/>
        <p:txBody>
          <a:bodyPr/>
          <a:lstStyle/>
          <a:p>
            <a:pPr>
              <a:lnSpc>
                <a:spcPct val="150000"/>
              </a:lnSpc>
            </a:pPr>
            <a:r>
              <a:rPr lang="en-US" altLang="zh-CN" dirty="0">
                <a:latin typeface="Tahoma" panose="020B0604030504040204" pitchFamily="34" charset="0"/>
              </a:rPr>
              <a:t>1.</a:t>
            </a:r>
            <a:r>
              <a:rPr lang="zh-CN" altLang="en-US" dirty="0">
                <a:latin typeface="Tahoma" panose="020B0604030504040204" pitchFamily="34" charset="0"/>
              </a:rPr>
              <a:t>最初的三层交换机一般为机架式，二层交换与三层交换分别做在两个模块中，模块之间由系统总线相连。</a:t>
            </a:r>
            <a:endParaRPr lang="en-US" altLang="zh-CN" dirty="0">
              <a:latin typeface="Tahoma" panose="020B0604030504040204" pitchFamily="34" charset="0"/>
            </a:endParaRPr>
          </a:p>
          <a:p>
            <a:pPr>
              <a:lnSpc>
                <a:spcPct val="150000"/>
              </a:lnSpc>
            </a:pPr>
            <a:r>
              <a:rPr lang="en-US" altLang="zh-CN" dirty="0">
                <a:latin typeface="Tahoma" panose="020B0604030504040204" pitchFamily="34" charset="0"/>
              </a:rPr>
              <a:t>2.</a:t>
            </a:r>
            <a:r>
              <a:rPr lang="zh-CN" altLang="en-US" dirty="0">
                <a:latin typeface="Tahoma" panose="020B0604030504040204" pitchFamily="34" charset="0"/>
              </a:rPr>
              <a:t>自 </a:t>
            </a:r>
            <a:r>
              <a:rPr lang="en-US" altLang="zh-CN" dirty="0">
                <a:latin typeface="Tahoma" panose="020B0604030504040204" pitchFamily="34" charset="0"/>
              </a:rPr>
              <a:t>1998 </a:t>
            </a:r>
            <a:r>
              <a:rPr lang="zh-CN" altLang="en-US" dirty="0">
                <a:latin typeface="Tahoma" panose="020B0604030504040204" pitchFamily="34" charset="0"/>
              </a:rPr>
              <a:t>年，二层转发与三层转发开始集成到一个专用芯片</a:t>
            </a:r>
            <a:r>
              <a:rPr lang="en-US" altLang="zh-CN" dirty="0">
                <a:latin typeface="Tahoma" panose="020B0604030504040204" pitchFamily="34" charset="0"/>
              </a:rPr>
              <a:t>(ASIC)</a:t>
            </a:r>
            <a:r>
              <a:rPr lang="zh-CN" altLang="en-US" dirty="0">
                <a:latin typeface="Tahoma" panose="020B0604030504040204" pitchFamily="34" charset="0"/>
              </a:rPr>
              <a:t>中完成，出现了一些关键技术，如</a:t>
            </a:r>
            <a:r>
              <a:rPr lang="en-US" altLang="zh-CN" dirty="0">
                <a:latin typeface="Tahoma" panose="020B0604030504040204" pitchFamily="34" charset="0"/>
              </a:rPr>
              <a:t>Cross Bar</a:t>
            </a:r>
            <a:r>
              <a:rPr lang="zh-CN" altLang="en-US" dirty="0">
                <a:latin typeface="Tahoma" panose="020B0604030504040204" pitchFamily="34" charset="0"/>
              </a:rPr>
              <a:t>技术、基于硬件线速的访问控制技术、端到端 </a:t>
            </a:r>
            <a:r>
              <a:rPr lang="en-US" altLang="zh-CN" dirty="0">
                <a:latin typeface="Tahoma" panose="020B0604030504040204" pitchFamily="34" charset="0"/>
              </a:rPr>
              <a:t>QoS </a:t>
            </a:r>
            <a:r>
              <a:rPr lang="zh-CN" altLang="en-US" dirty="0">
                <a:latin typeface="Tahoma" panose="020B0604030504040204" pitchFamily="34" charset="0"/>
              </a:rPr>
              <a:t>技术等。同时软件体系结构与硬件体系结构也开始从集中式向分布式发展，各个模块的交互不在需要主控板的参与，从而显著的提高了转发效率，最大交换容量达到几百 </a:t>
            </a:r>
            <a:r>
              <a:rPr lang="en-US" altLang="zh-CN" dirty="0">
                <a:latin typeface="Tahoma" panose="020B0604030504040204" pitchFamily="34" charset="0"/>
              </a:rPr>
              <a:t>Gbps </a:t>
            </a:r>
            <a:r>
              <a:rPr lang="zh-CN" altLang="en-US" dirty="0">
                <a:latin typeface="Tahoma" panose="020B0604030504040204" pitchFamily="34" charset="0"/>
              </a:rPr>
              <a:t>左右。随后出现了网络处理器</a:t>
            </a:r>
            <a:r>
              <a:rPr lang="en-US" altLang="zh-CN" dirty="0">
                <a:latin typeface="Tahoma" panose="020B0604030504040204" pitchFamily="34" charset="0"/>
              </a:rPr>
              <a:t>(NP</a:t>
            </a:r>
            <a:r>
              <a:rPr lang="zh-CN" altLang="en-US" dirty="0">
                <a:latin typeface="Tahoma" panose="020B0604030504040204" pitchFamily="34" charset="0"/>
              </a:rPr>
              <a:t>，位于 </a:t>
            </a:r>
            <a:r>
              <a:rPr lang="en-US" altLang="zh-CN" dirty="0">
                <a:latin typeface="Tahoma" panose="020B0604030504040204" pitchFamily="34" charset="0"/>
              </a:rPr>
              <a:t>CPU </a:t>
            </a:r>
            <a:r>
              <a:rPr lang="zh-CN" altLang="en-US" dirty="0">
                <a:latin typeface="Tahoma" panose="020B0604030504040204" pitchFamily="34" charset="0"/>
              </a:rPr>
              <a:t>与 </a:t>
            </a:r>
            <a:r>
              <a:rPr lang="en-US" altLang="zh-CN" dirty="0">
                <a:latin typeface="Tahoma" panose="020B0604030504040204" pitchFamily="34" charset="0"/>
              </a:rPr>
              <a:t>ASIC </a:t>
            </a:r>
            <a:r>
              <a:rPr lang="zh-CN" altLang="en-US" dirty="0">
                <a:latin typeface="Tahoma" panose="020B0604030504040204" pitchFamily="34" charset="0"/>
              </a:rPr>
              <a:t>之间</a:t>
            </a:r>
            <a:r>
              <a:rPr lang="en-US" altLang="zh-CN" dirty="0">
                <a:latin typeface="Tahoma" panose="020B0604030504040204" pitchFamily="34" charset="0"/>
              </a:rPr>
              <a:t>)</a:t>
            </a:r>
            <a:r>
              <a:rPr lang="zh-CN" altLang="en-US" dirty="0">
                <a:latin typeface="Tahoma" panose="020B0604030504040204" pitchFamily="34" charset="0"/>
              </a:rPr>
              <a:t>技术，采用了硬件协处理器使一些复杂的操作，如如内存操作、路由表查找算法、</a:t>
            </a:r>
            <a:r>
              <a:rPr lang="en-US" altLang="zh-CN" dirty="0">
                <a:latin typeface="Tahoma" panose="020B0604030504040204" pitchFamily="34" charset="0"/>
              </a:rPr>
              <a:t>Q</a:t>
            </a:r>
          </a:p>
          <a:p>
            <a:pPr>
              <a:lnSpc>
                <a:spcPct val="150000"/>
              </a:lnSpc>
            </a:pPr>
            <a:r>
              <a:rPr lang="en-US" altLang="zh-CN" dirty="0">
                <a:latin typeface="Tahoma" panose="020B0604030504040204" pitchFamily="34" charset="0"/>
              </a:rPr>
              <a:t>o S </a:t>
            </a:r>
            <a:r>
              <a:rPr lang="zh-CN" altLang="en-US" dirty="0">
                <a:latin typeface="Tahoma" panose="020B0604030504040204" pitchFamily="34" charset="0"/>
              </a:rPr>
              <a:t>的拥塞控制算法、流量调度算法等，提高了运行效率，从而使整个交换机的交换容量进一步的提高。</a:t>
            </a:r>
            <a:endParaRPr lang="en-US" altLang="zh-CN" dirty="0">
              <a:latin typeface="Tahoma" panose="020B0604030504040204" pitchFamily="34" charset="0"/>
            </a:endParaRPr>
          </a:p>
          <a:p>
            <a:pPr>
              <a:lnSpc>
                <a:spcPct val="150000"/>
              </a:lnSpc>
            </a:pPr>
            <a:r>
              <a:rPr lang="en-US" altLang="zh-CN" dirty="0">
                <a:latin typeface="Tahoma" panose="020B0604030504040204" pitchFamily="34" charset="0"/>
              </a:rPr>
              <a:t>3.</a:t>
            </a:r>
            <a:r>
              <a:rPr lang="zh-CN" altLang="en-US" dirty="0">
                <a:latin typeface="Tahoma" panose="020B0604030504040204" pitchFamily="34" charset="0"/>
              </a:rPr>
              <a:t>对于数据包转发等规律性的过程由硬件高速实现，而象路由信息更新、路由表维护、路由计算、路由确定等功能，由软件实现。</a:t>
            </a:r>
            <a:endParaRPr lang="en-US" altLang="zh-CN" dirty="0">
              <a:latin typeface="Tahoma" panose="020B0604030504040204" pitchFamily="34" charset="0"/>
            </a:endParaRPr>
          </a:p>
          <a:p>
            <a:pPr marL="171450" indent="-171450">
              <a:lnSpc>
                <a:spcPct val="150000"/>
              </a:lnSpc>
              <a:buFont typeface="Arial" panose="020B0604020202020204" pitchFamily="34" charset="0"/>
              <a:buChar char="•"/>
            </a:pPr>
            <a:r>
              <a:rPr lang="zh-CN" altLang="en-US" dirty="0">
                <a:latin typeface="Tahoma" panose="020B0604030504040204" pitchFamily="34" charset="0"/>
              </a:rPr>
              <a:t>从硬件上看，将与路由有关的第三层路由硬件模块也插接在高速背板</a:t>
            </a:r>
            <a:r>
              <a:rPr lang="en-US" altLang="zh-CN" dirty="0">
                <a:latin typeface="Tahoma" panose="020B0604030504040204" pitchFamily="34" charset="0"/>
              </a:rPr>
              <a:t>/</a:t>
            </a:r>
            <a:r>
              <a:rPr lang="zh-CN" altLang="en-US" dirty="0">
                <a:latin typeface="Tahoma" panose="020B0604030504040204" pitchFamily="34" charset="0"/>
              </a:rPr>
              <a:t>总线上，突破了传统的外接路由器接口速率的限制，实现数据转发的加速</a:t>
            </a:r>
          </a:p>
          <a:p>
            <a:pPr marL="171450" indent="-171450">
              <a:lnSpc>
                <a:spcPct val="150000"/>
              </a:lnSpc>
              <a:buFont typeface="Arial" panose="020B0604020202020204" pitchFamily="34" charset="0"/>
              <a:buChar char="•"/>
            </a:pPr>
            <a:r>
              <a:rPr lang="zh-CN" altLang="en-US" dirty="0">
                <a:latin typeface="Tahoma" panose="020B0604030504040204" pitchFamily="34" charset="0"/>
              </a:rPr>
              <a:t>从软件上看，数据转发操作通过硬件得以高速实现，而路由信息的更新、路由表维护、路由计算、路由的确定等功能，用优化、高效的软件实现</a:t>
            </a:r>
          </a:p>
          <a:p>
            <a:pPr marL="171450" indent="-171450">
              <a:lnSpc>
                <a:spcPct val="150000"/>
              </a:lnSpc>
              <a:buFont typeface="Arial" panose="020B0604020202020204" pitchFamily="34" charset="0"/>
              <a:buChar char="•"/>
            </a:pPr>
            <a:r>
              <a:rPr lang="zh-CN" altLang="en-US" dirty="0">
                <a:latin typeface="Tahoma" panose="020B0604030504040204" pitchFamily="34" charset="0"/>
              </a:rPr>
              <a:t>除了必要的路由决策过程外</a:t>
            </a:r>
            <a:r>
              <a:rPr lang="en-US" altLang="zh-CN" dirty="0">
                <a:latin typeface="Tahoma" panose="020B0604030504040204" pitchFamily="34" charset="0"/>
              </a:rPr>
              <a:t>(</a:t>
            </a:r>
            <a:r>
              <a:rPr lang="zh-CN" altLang="en-US" dirty="0">
                <a:latin typeface="Tahoma" panose="020B0604030504040204" pitchFamily="34" charset="0"/>
              </a:rPr>
              <a:t>异网或异</a:t>
            </a:r>
            <a:r>
              <a:rPr lang="en-US" altLang="zh-CN" dirty="0">
                <a:latin typeface="Tahoma" panose="020B0604030504040204" pitchFamily="34" charset="0"/>
              </a:rPr>
              <a:t>VLAN)</a:t>
            </a:r>
            <a:r>
              <a:rPr lang="zh-CN" altLang="en-US" dirty="0">
                <a:latin typeface="Tahoma" panose="020B0604030504040204" pitchFamily="34" charset="0"/>
              </a:rPr>
              <a:t>，大部分数据转发过程均由第二层交换处理，如</a:t>
            </a:r>
            <a:r>
              <a:rPr lang="en-US" altLang="zh-CN" dirty="0">
                <a:latin typeface="Tahoma" panose="020B0604030504040204" pitchFamily="34" charset="0"/>
              </a:rPr>
              <a:t>ARP</a:t>
            </a:r>
            <a:r>
              <a:rPr lang="zh-CN" altLang="en-US" dirty="0">
                <a:latin typeface="Tahoma" panose="020B0604030504040204" pitchFamily="34" charset="0"/>
              </a:rPr>
              <a:t>的过程</a:t>
            </a:r>
            <a:endParaRPr lang="en-US" altLang="zh-CN" dirty="0">
              <a:latin typeface="Tahoma" panose="020B0604030504040204" pitchFamily="34" charset="0"/>
            </a:endParaRPr>
          </a:p>
          <a:p>
            <a:pPr marL="171450" indent="-171450">
              <a:lnSpc>
                <a:spcPct val="150000"/>
              </a:lnSpc>
              <a:buFont typeface="Arial" panose="020B0604020202020204" pitchFamily="34" charset="0"/>
              <a:buChar char="•"/>
            </a:pPr>
            <a:r>
              <a:rPr lang="zh-CN" altLang="en-US" dirty="0">
                <a:latin typeface="Tahoma" panose="020B0604030504040204" pitchFamily="34" charset="0"/>
              </a:rPr>
              <a:t>多个子网互连时只是与第三层交换模块的逻辑连接，不象传统的外接路由器那样需增加端口，保护了用户的投资</a:t>
            </a:r>
            <a:endParaRPr lang="zh-CN" altLang="en-US" dirty="0"/>
          </a:p>
          <a:p>
            <a:pPr>
              <a:lnSpc>
                <a:spcPct val="150000"/>
              </a:lnSpc>
            </a:pPr>
            <a:endParaRPr lang="en-US" altLang="zh-CN" dirty="0">
              <a:latin typeface="Tahoma" panose="020B0604030504040204" pitchFamily="34" charset="0"/>
            </a:endParaRPr>
          </a:p>
          <a:p>
            <a:endParaRPr lang="zh-CN" altLang="en-US" dirty="0"/>
          </a:p>
        </p:txBody>
      </p:sp>
    </p:spTree>
    <p:extLst>
      <p:ext uri="{BB962C8B-B14F-4D97-AF65-F5344CB8AC3E}">
        <p14:creationId xmlns:p14="http://schemas.microsoft.com/office/powerpoint/2010/main" val="43113057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报文到报文技术：基于尽可能地采用硬件的思路，从而实现线速路由。它对每一个分组都要经历第三层处理，数据流的转发也是第三层的。报文从物理传输介质进入参考模型的物理层，然后在数据链路层进行接收目的地址检查，在第三层对报文要进行路径确定、地址解析及某些特殊服务。第三层处理完报文后，报文再通过链路层和物理层传送到物理介质上。报文到报文的交换技术对每一个报文都进行路由处理，并基于第三层地址转发，该方法的优点是没有采用新的协议和专有技术，可以和现有网络设备完全兼容。</a:t>
            </a:r>
          </a:p>
          <a:p>
            <a:r>
              <a:rPr lang="en-US" altLang="zh-CN" dirty="0"/>
              <a:t>2.</a:t>
            </a:r>
            <a:r>
              <a:rPr lang="zh-CN" altLang="en-US" dirty="0"/>
              <a:t>流交换技术基于尽量地避免对所有报文的逐个进行路由处理的基本思路。分析第一个是否标识了一个“流”或者一组具有相同源地址和目的地址的报文。如果第一个报文符合条件，则记忆路由。该标识流中的后续报文将使用一种或几种捷径技术进行处理，不再进行路由，提高数据交换速率。由于后续报文无需路由选择而直接交换，所以流交换技术又称为“直通路由”技术。在设计上，它们都把路由处理工作分解成路由计算和报文转发两部分，并分别由软件和硬件来实现这两部分功能。这种实现手段克服了传统路由器的高成本、低性能的缺陷。</a:t>
            </a:r>
          </a:p>
          <a:p>
            <a:r>
              <a:rPr lang="en-US" altLang="zh-CN" dirty="0"/>
              <a:t>3.</a:t>
            </a:r>
            <a:r>
              <a:rPr lang="zh-CN" altLang="en-US" dirty="0"/>
              <a:t>传统路由器是一种典型的报文到报文交换技术的设备，报文到报文处理技术的显著特征是能够适应路由的拓扑变化。当网络故障或者拥塞时，标准协议对路由表维护更新，报文到报文交换设备可动态地重新路由报文，绕过拥塞节点和网络故障节点而无需等待高层的协议检测报文丢失。而流交换方法没有这些特征，因为后续报文采用捷径技术处理并没有经过第三层，它就不能识别标准协议对路由表的改变。因此，流交换方法可能需要另外的协议取得拓扑变化或拥塞信息，以便报文到达正确的目的地。</a:t>
            </a:r>
            <a:endParaRPr lang="en-US" altLang="zh-CN" dirty="0"/>
          </a:p>
          <a:p>
            <a:r>
              <a:rPr lang="en-US" altLang="zh-CN" dirty="0"/>
              <a:t>4.</a:t>
            </a:r>
            <a:r>
              <a:rPr lang="zh-CN" altLang="en-US" dirty="0"/>
              <a:t>由于三层交换机中的二层交换模块支持</a:t>
            </a:r>
            <a:r>
              <a:rPr lang="en-US" altLang="zh-CN" dirty="0"/>
              <a:t>VLAN</a:t>
            </a:r>
            <a:r>
              <a:rPr lang="zh-CN" altLang="en-US" dirty="0"/>
              <a:t>，在三层交换机中将所有与数据转发相关的协议都划归二层交换，所以</a:t>
            </a:r>
            <a:r>
              <a:rPr lang="en-US" altLang="zh-CN" dirty="0"/>
              <a:t>ARP</a:t>
            </a:r>
            <a:r>
              <a:rPr lang="zh-CN" altLang="en-US" dirty="0"/>
              <a:t>协议也在二层交换模块中，这样使得二层与三层的管理呈现为逻辑结构而非物理结构，所以</a:t>
            </a:r>
            <a:r>
              <a:rPr lang="en-US" altLang="zh-CN" dirty="0"/>
              <a:t>IP</a:t>
            </a:r>
            <a:r>
              <a:rPr lang="zh-CN" altLang="en-US" dirty="0"/>
              <a:t>子网的划分和管理与二层交换模块无关，因此在三层交换机中所有端口会共享同一个</a:t>
            </a:r>
            <a:r>
              <a:rPr lang="en-US" altLang="zh-CN" dirty="0"/>
              <a:t>ARP table</a:t>
            </a:r>
            <a:r>
              <a:rPr lang="zh-CN" altLang="en-US" dirty="0"/>
              <a:t>，这样当转发一个报文时可以使用直接其他</a:t>
            </a:r>
            <a:r>
              <a:rPr lang="en-US" altLang="zh-CN" dirty="0"/>
              <a:t>VLAN</a:t>
            </a:r>
            <a:r>
              <a:rPr lang="zh-CN" altLang="en-US" dirty="0"/>
              <a:t>主机之间通信过程中曾经产生的</a:t>
            </a:r>
            <a:r>
              <a:rPr lang="en-US" altLang="zh-CN" dirty="0"/>
              <a:t>ARP</a:t>
            </a:r>
            <a:r>
              <a:rPr lang="zh-CN" altLang="en-US" dirty="0"/>
              <a:t>记录，从而简化报文转发流程，提高转发效率。而路由器没有这个功能</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243</a:t>
            </a:fld>
            <a:endParaRPr kumimoji="1" lang="zh-CN" altLang="en-US"/>
          </a:p>
        </p:txBody>
      </p:sp>
    </p:spTree>
    <p:extLst>
      <p:ext uri="{BB962C8B-B14F-4D97-AF65-F5344CB8AC3E}">
        <p14:creationId xmlns:p14="http://schemas.microsoft.com/office/powerpoint/2010/main" val="153377260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244</a:t>
            </a:fld>
            <a:endParaRPr kumimoji="1" lang="zh-CN" altLang="en-US"/>
          </a:p>
        </p:txBody>
      </p:sp>
    </p:spTree>
    <p:extLst>
      <p:ext uri="{BB962C8B-B14F-4D97-AF65-F5344CB8AC3E}">
        <p14:creationId xmlns:p14="http://schemas.microsoft.com/office/powerpoint/2010/main" val="131422873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路由器对于收到的所有报文都会解析出三层地址，然后依据三层地址转发</a:t>
            </a:r>
            <a:endParaRPr lang="en-US" altLang="zh-CN" dirty="0"/>
          </a:p>
          <a:p>
            <a:r>
              <a:rPr lang="en-US" altLang="zh-CN" dirty="0"/>
              <a:t>2.</a:t>
            </a:r>
            <a:r>
              <a:rPr lang="zh-CN" altLang="en-US" dirty="0"/>
              <a:t>与</a:t>
            </a:r>
            <a:r>
              <a:rPr lang="zh-CN" altLang="en-US" sz="1200" kern="1200" dirty="0">
                <a:solidFill>
                  <a:schemeClr val="tx1"/>
                </a:solidFill>
                <a:latin typeface="+mn-lt"/>
                <a:ea typeface="+mn-ea"/>
                <a:cs typeface="+mn-cs"/>
              </a:rPr>
              <a:t>路由器不同，三层交换机中有完整的二层交换结构，所有以太网交换机能够实现的功能在二层交换引擎中都支持，而且不是所有的报文都会提交到三层路由引擎中，二层能够转发出去的（例如一个流的后续报文、同一</a:t>
            </a:r>
            <a:r>
              <a:rPr lang="en-US" altLang="zh-CN" sz="1200" kern="1200" dirty="0">
                <a:solidFill>
                  <a:schemeClr val="tx1"/>
                </a:solidFill>
                <a:latin typeface="+mn-lt"/>
                <a:ea typeface="+mn-ea"/>
                <a:cs typeface="+mn-cs"/>
              </a:rPr>
              <a:t>VLAN</a:t>
            </a:r>
            <a:r>
              <a:rPr lang="zh-CN" altLang="en-US" sz="1200" kern="1200" dirty="0">
                <a:solidFill>
                  <a:schemeClr val="tx1"/>
                </a:solidFill>
                <a:latin typeface="+mn-lt"/>
                <a:ea typeface="+mn-ea"/>
                <a:cs typeface="+mn-cs"/>
              </a:rPr>
              <a:t>间的报文）都不会交由三层路由引擎处理，在</a:t>
            </a:r>
            <a:r>
              <a:rPr lang="zh-CN" altLang="en-US" sz="1200" kern="1200" dirty="0">
                <a:solidFill>
                  <a:schemeClr val="tx1"/>
                </a:solidFill>
                <a:latin typeface="+mn-lt"/>
                <a:ea typeface="+mn-ea"/>
                <a:cs typeface="+mn-cs"/>
                <a:hlinkClick r:id="rId3">
                  <a:extLst>
                    <a:ext uri="{A12FA001-AC4F-418D-AE19-62706E023703}">
                      <ahyp:hlinkClr xmlns:ahyp="http://schemas.microsoft.com/office/drawing/2018/hyperlinkcolor" val="tx"/>
                    </a:ext>
                  </a:extLst>
                </a:hlinkClick>
              </a:rPr>
              <a:t>网络模型</a:t>
            </a:r>
            <a:r>
              <a:rPr lang="zh-CN" altLang="en-US" sz="1200" kern="1200" dirty="0">
                <a:solidFill>
                  <a:schemeClr val="tx1"/>
                </a:solidFill>
                <a:latin typeface="+mn-lt"/>
                <a:ea typeface="+mn-ea"/>
                <a:cs typeface="+mn-cs"/>
              </a:rPr>
              <a:t>中的第三层实现了</a:t>
            </a:r>
            <a:r>
              <a:rPr lang="zh-CN" altLang="en-US" sz="1200" kern="1200" dirty="0">
                <a:solidFill>
                  <a:schemeClr val="tx1"/>
                </a:solidFill>
                <a:latin typeface="+mn-lt"/>
                <a:ea typeface="+mn-ea"/>
                <a:cs typeface="+mn-cs"/>
                <a:hlinkClick r:id="rId4">
                  <a:extLst>
                    <a:ext uri="{A12FA001-AC4F-418D-AE19-62706E023703}">
                      <ahyp:hlinkClr xmlns:ahyp="http://schemas.microsoft.com/office/drawing/2018/hyperlinkcolor" val="tx"/>
                    </a:ext>
                  </a:extLst>
                </a:hlinkClick>
              </a:rPr>
              <a:t>数据包</a:t>
            </a:r>
            <a:r>
              <a:rPr lang="zh-CN" altLang="en-US" sz="1200" kern="1200" dirty="0">
                <a:solidFill>
                  <a:schemeClr val="tx1"/>
                </a:solidFill>
                <a:latin typeface="+mn-lt"/>
                <a:ea typeface="+mn-ea"/>
                <a:cs typeface="+mn-cs"/>
              </a:rPr>
              <a:t>的高速转发</a:t>
            </a:r>
            <a:endParaRPr lang="en-US" altLang="zh-CN" sz="1200" kern="1200" dirty="0">
              <a:solidFill>
                <a:schemeClr val="tx1"/>
              </a:solidFill>
              <a:latin typeface="+mn-lt"/>
              <a:ea typeface="+mn-ea"/>
              <a:cs typeface="+mn-cs"/>
            </a:endParaRPr>
          </a:p>
          <a:p>
            <a:r>
              <a:rPr lang="en-US" altLang="zh-CN" sz="1200" kern="1200" dirty="0">
                <a:solidFill>
                  <a:schemeClr val="tx1"/>
                </a:solidFill>
                <a:latin typeface="+mn-lt"/>
                <a:ea typeface="+mn-ea"/>
                <a:cs typeface="+mn-cs"/>
              </a:rPr>
              <a:t>3.</a:t>
            </a:r>
            <a:r>
              <a:rPr lang="zh-CN" altLang="en-US" sz="1200" kern="1200" dirty="0">
                <a:solidFill>
                  <a:schemeClr val="tx1"/>
                </a:solidFill>
                <a:latin typeface="+mn-lt"/>
                <a:ea typeface="+mn-ea"/>
                <a:cs typeface="+mn-cs"/>
              </a:rPr>
              <a:t>三层交换机的数据平面和控制平面更加清晰，耦合度更低</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245</a:t>
            </a:fld>
            <a:endParaRPr kumimoji="1" lang="zh-CN" altLang="en-US"/>
          </a:p>
        </p:txBody>
      </p:sp>
    </p:spTree>
    <p:extLst>
      <p:ext uri="{BB962C8B-B14F-4D97-AF65-F5344CB8AC3E}">
        <p14:creationId xmlns:p14="http://schemas.microsoft.com/office/powerpoint/2010/main" val="792655386"/>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1.PC0</a:t>
            </a:r>
            <a:r>
              <a:rPr lang="zh-CN" altLang="en-US" dirty="0"/>
              <a:t>与</a:t>
            </a:r>
            <a:r>
              <a:rPr lang="en-US" altLang="zh-CN" dirty="0"/>
              <a:t>PC2</a:t>
            </a:r>
            <a:r>
              <a:rPr lang="zh-CN" altLang="en-US" dirty="0"/>
              <a:t>不在同一子网内，则发送站</a:t>
            </a:r>
            <a:r>
              <a:rPr lang="en-US" altLang="zh-CN" dirty="0"/>
              <a:t>PC0</a:t>
            </a:r>
            <a:r>
              <a:rPr lang="zh-CN" altLang="en-US" dirty="0"/>
              <a:t>要向“缺省网关”发出</a:t>
            </a:r>
            <a:r>
              <a:rPr lang="en-US" altLang="zh-CN" dirty="0"/>
              <a:t>ARP(</a:t>
            </a:r>
            <a:r>
              <a:rPr lang="zh-CN" altLang="en-US" dirty="0"/>
              <a:t>地址解析</a:t>
            </a:r>
            <a:r>
              <a:rPr lang="en-US" altLang="zh-CN" dirty="0"/>
              <a:t>)</a:t>
            </a:r>
            <a:r>
              <a:rPr lang="zh-CN" altLang="en-US" dirty="0"/>
              <a:t>封包，而“缺省网关”的</a:t>
            </a:r>
            <a:r>
              <a:rPr lang="en-US" altLang="zh-CN" dirty="0"/>
              <a:t>IP</a:t>
            </a:r>
            <a:r>
              <a:rPr lang="zh-CN" altLang="en-US" dirty="0"/>
              <a:t>地址其实是三层交换机的三层交换模块。当发送站</a:t>
            </a:r>
            <a:r>
              <a:rPr lang="en-US" altLang="zh-CN" dirty="0"/>
              <a:t>PC0</a:t>
            </a:r>
            <a:r>
              <a:rPr lang="zh-CN" altLang="en-US" dirty="0"/>
              <a:t>对“缺省网关”的</a:t>
            </a:r>
            <a:r>
              <a:rPr lang="en-US" altLang="zh-CN" dirty="0"/>
              <a:t>IP</a:t>
            </a:r>
            <a:r>
              <a:rPr lang="zh-CN" altLang="en-US" dirty="0"/>
              <a:t>地址广播出一个</a:t>
            </a:r>
            <a:r>
              <a:rPr lang="en-US" altLang="zh-CN" dirty="0"/>
              <a:t>ARP</a:t>
            </a:r>
            <a:r>
              <a:rPr lang="zh-CN" altLang="en-US" dirty="0"/>
              <a:t>请求时，三层交换模块根据路由信息向</a:t>
            </a:r>
            <a:r>
              <a:rPr lang="en-US" altLang="zh-CN" dirty="0"/>
              <a:t>PC2</a:t>
            </a:r>
            <a:r>
              <a:rPr lang="zh-CN" altLang="en-US" dirty="0"/>
              <a:t>站广播一个</a:t>
            </a:r>
            <a:r>
              <a:rPr lang="en-US" altLang="zh-CN" dirty="0"/>
              <a:t>ARP</a:t>
            </a:r>
            <a:r>
              <a:rPr lang="zh-CN" altLang="en-US" dirty="0"/>
              <a:t>请求，</a:t>
            </a:r>
            <a:r>
              <a:rPr lang="en-US" altLang="zh-CN" dirty="0"/>
              <a:t>PC2</a:t>
            </a:r>
            <a:r>
              <a:rPr lang="zh-CN" altLang="en-US" dirty="0"/>
              <a:t>站得到此</a:t>
            </a:r>
            <a:r>
              <a:rPr lang="en-US" altLang="zh-CN" dirty="0"/>
              <a:t>ARP</a:t>
            </a:r>
            <a:r>
              <a:rPr lang="zh-CN" altLang="en-US" dirty="0"/>
              <a:t>请求后向三层交换模块回复其</a:t>
            </a:r>
            <a:r>
              <a:rPr lang="en-US" altLang="zh-CN" dirty="0"/>
              <a:t>MAC</a:t>
            </a:r>
            <a:r>
              <a:rPr lang="zh-CN" altLang="en-US" dirty="0"/>
              <a:t>地址，三层交换模块保存此地址并回复给发送站</a:t>
            </a:r>
            <a:r>
              <a:rPr lang="en-US" altLang="zh-CN" dirty="0"/>
              <a:t>PC0,</a:t>
            </a:r>
            <a:r>
              <a:rPr lang="zh-CN" altLang="en-US" dirty="0"/>
              <a:t>同时将</a:t>
            </a:r>
            <a:r>
              <a:rPr lang="en-US" altLang="zh-CN" dirty="0"/>
              <a:t>B</a:t>
            </a:r>
            <a:r>
              <a:rPr lang="zh-CN" altLang="en-US" dirty="0"/>
              <a:t>站的</a:t>
            </a:r>
            <a:r>
              <a:rPr lang="en-US" altLang="zh-CN" dirty="0"/>
              <a:t>MAC</a:t>
            </a:r>
            <a:r>
              <a:rPr lang="zh-CN" altLang="en-US" dirty="0"/>
              <a:t>地址发送到二层交换引擎的</a:t>
            </a:r>
            <a:r>
              <a:rPr lang="en-US" altLang="zh-CN" dirty="0"/>
              <a:t>MAC</a:t>
            </a:r>
            <a:r>
              <a:rPr lang="zh-CN" altLang="en-US" dirty="0"/>
              <a:t>地址表中。</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2.</a:t>
            </a:r>
            <a:r>
              <a:rPr lang="zh-CN" altLang="en-US" dirty="0"/>
              <a:t>当发送站</a:t>
            </a:r>
            <a:r>
              <a:rPr lang="en-US" altLang="zh-CN" dirty="0"/>
              <a:t>PC4</a:t>
            </a:r>
            <a:r>
              <a:rPr lang="zh-CN" altLang="en-US" dirty="0"/>
              <a:t>对“缺省网关”的</a:t>
            </a:r>
            <a:r>
              <a:rPr lang="en-US" altLang="zh-CN" dirty="0"/>
              <a:t>IP</a:t>
            </a:r>
            <a:r>
              <a:rPr lang="zh-CN" altLang="en-US" dirty="0"/>
              <a:t>地址广播出一个</a:t>
            </a:r>
            <a:r>
              <a:rPr lang="en-US" altLang="zh-CN" dirty="0"/>
              <a:t>ARP</a:t>
            </a:r>
            <a:r>
              <a:rPr lang="zh-CN" altLang="en-US" dirty="0"/>
              <a:t>请求时，三层交换模块在以前的通信过程中已经知道</a:t>
            </a:r>
            <a:r>
              <a:rPr lang="en-US" altLang="zh-CN" dirty="0"/>
              <a:t>PC2</a:t>
            </a:r>
            <a:r>
              <a:rPr lang="zh-CN" altLang="en-US" dirty="0"/>
              <a:t>站的</a:t>
            </a:r>
            <a:r>
              <a:rPr lang="en-US" altLang="zh-CN" dirty="0"/>
              <a:t>MAC</a:t>
            </a:r>
            <a:r>
              <a:rPr lang="zh-CN" altLang="en-US" dirty="0"/>
              <a:t>地址，则向发送站</a:t>
            </a:r>
            <a:r>
              <a:rPr lang="en-US" altLang="zh-CN" dirty="0"/>
              <a:t>PC4</a:t>
            </a:r>
            <a:r>
              <a:rPr lang="zh-CN" altLang="en-US" dirty="0"/>
              <a:t>回复</a:t>
            </a:r>
            <a:r>
              <a:rPr lang="en-US" altLang="zh-CN" dirty="0"/>
              <a:t>PC2</a:t>
            </a:r>
            <a:r>
              <a:rPr lang="zh-CN" altLang="en-US" dirty="0"/>
              <a:t>的</a:t>
            </a:r>
            <a:r>
              <a:rPr lang="en-US" altLang="zh-CN" dirty="0"/>
              <a:t>MAC</a:t>
            </a:r>
            <a:r>
              <a:rPr lang="zh-CN" altLang="en-US" dirty="0"/>
              <a:t>地址，此后的数据转发全部交给二层交换处理</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由于仅仅在路由过程中才需要三层处理，</a:t>
            </a:r>
            <a:r>
              <a:rPr lang="zh-CN" altLang="en-US" sz="1200" b="1" dirty="0">
                <a:solidFill>
                  <a:srgbClr val="C00000"/>
                </a:solidFill>
                <a:latin typeface="Arial" panose="020B0604020202020204" pitchFamily="34" charset="0"/>
              </a:rPr>
              <a:t>解析过程在高速机箱中，转发过程在高速背板上</a:t>
            </a:r>
            <a:r>
              <a:rPr lang="zh-CN" altLang="en-US" dirty="0"/>
              <a:t>，因此三层交换机的速度很快，接近二层交换机的速度，同时比相同路由器的价格低很多。 </a:t>
            </a:r>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246</a:t>
            </a:fld>
            <a:endParaRPr kumimoji="1" lang="zh-CN" altLang="en-US"/>
          </a:p>
        </p:txBody>
      </p:sp>
    </p:spTree>
    <p:extLst>
      <p:ext uri="{BB962C8B-B14F-4D97-AF65-F5344CB8AC3E}">
        <p14:creationId xmlns:p14="http://schemas.microsoft.com/office/powerpoint/2010/main" val="36547367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247</a:t>
            </a:fld>
            <a:endParaRPr kumimoji="1" lang="zh-CN" altLang="en-US"/>
          </a:p>
        </p:txBody>
      </p:sp>
    </p:spTree>
    <p:extLst>
      <p:ext uri="{BB962C8B-B14F-4D97-AF65-F5344CB8AC3E}">
        <p14:creationId xmlns:p14="http://schemas.microsoft.com/office/powerpoint/2010/main" val="58407637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800" dirty="0"/>
              <a:t>VPN</a:t>
            </a:r>
            <a:r>
              <a:rPr lang="zh-CN" altLang="en-US" sz="1800" dirty="0"/>
              <a:t>的技术背景：</a:t>
            </a:r>
            <a:endParaRPr lang="en-US" altLang="zh-CN" sz="1800" dirty="0"/>
          </a:p>
          <a:p>
            <a:r>
              <a:rPr lang="en-US" altLang="zh-CN" sz="1800" dirty="0"/>
              <a:t>   </a:t>
            </a:r>
            <a:r>
              <a:rPr lang="zh-CN" altLang="en-US" sz="1800" dirty="0"/>
              <a:t>跨越在多个地理区域的上的某些机构会有远程访问自己专用网络的需求，而且希望在远程访问中享受和专用网络内部一样的安全性。</a:t>
            </a:r>
            <a:endParaRPr lang="en-US" altLang="zh-CN" sz="1800" dirty="0"/>
          </a:p>
          <a:p>
            <a:r>
              <a:rPr lang="zh-CN" altLang="en-US" sz="1800" dirty="0"/>
              <a:t>为达到这样的目的，可以采用两种策略：一种是通过使用物理专线连接构建远程的专用网络（</a:t>
            </a:r>
            <a:r>
              <a:rPr lang="en-US" altLang="zh-CN" sz="1800" dirty="0"/>
              <a:t>Private Network</a:t>
            </a:r>
            <a:r>
              <a:rPr lang="zh-CN" altLang="en-US" sz="1800" dirty="0"/>
              <a:t>），该策略耗资巨大且维护困难；另一种策略是使用安全协议构建虚拟隧道（</a:t>
            </a:r>
            <a:r>
              <a:rPr lang="en-US" altLang="zh-CN" sz="1800" dirty="0"/>
              <a:t>Virtual Tunnel</a:t>
            </a:r>
            <a:r>
              <a:rPr lang="zh-CN" altLang="en-US" sz="1800" dirty="0"/>
              <a:t>），通过加密、认证等安全手段保证在公用网络如</a:t>
            </a:r>
            <a:r>
              <a:rPr lang="en-US" altLang="zh-CN" sz="1800" dirty="0"/>
              <a:t>Internet</a:t>
            </a:r>
            <a:r>
              <a:rPr lang="zh-CN" altLang="en-US" sz="1800" dirty="0"/>
              <a:t>中只有授权用户才可以解码并使用数据，这样使得在公用网络的特定用户群之间构建了一个安全私密的通信网络，这样的网络就是虚拟专用网（</a:t>
            </a:r>
            <a:r>
              <a:rPr lang="en-US" altLang="zh-CN" sz="1800" dirty="0"/>
              <a:t>Virtual Private Network</a:t>
            </a:r>
            <a:r>
              <a:rPr lang="zh-CN" altLang="en-US" sz="1800" dirty="0"/>
              <a:t>，</a:t>
            </a:r>
            <a:r>
              <a:rPr lang="en-US" altLang="zh-CN" sz="1800" dirty="0"/>
              <a:t>VPN</a:t>
            </a:r>
            <a:r>
              <a:rPr lang="zh-CN" altLang="en-US" sz="1800" dirty="0"/>
              <a:t>）。</a:t>
            </a:r>
            <a:endParaRPr lang="en-US" altLang="zh-CN" sz="1800" dirty="0"/>
          </a:p>
          <a:p>
            <a:pPr marL="285750" indent="-285750">
              <a:lnSpc>
                <a:spcPts val="3300"/>
              </a:lnSpc>
              <a:buClr>
                <a:srgbClr val="0070C0"/>
              </a:buClr>
              <a:buFont typeface="Wingdings" pitchFamily="2" charset="2"/>
              <a:buChar char="l"/>
            </a:pPr>
            <a:r>
              <a:rPr lang="zh-CN" altLang="en-US" sz="1800" b="1" dirty="0">
                <a:latin typeface="微软雅黑" pitchFamily="34" charset="-122"/>
                <a:ea typeface="微软雅黑" pitchFamily="34" charset="-122"/>
              </a:rPr>
              <a:t>“</a:t>
            </a:r>
            <a:r>
              <a:rPr lang="zh-CN" altLang="en-US" sz="1800" b="1" dirty="0">
                <a:solidFill>
                  <a:srgbClr val="0000FF"/>
                </a:solidFill>
                <a:latin typeface="微软雅黑" pitchFamily="34" charset="-122"/>
                <a:ea typeface="微软雅黑" pitchFamily="34" charset="-122"/>
              </a:rPr>
              <a:t>专用网</a:t>
            </a:r>
            <a:r>
              <a:rPr lang="zh-CN" altLang="en-US" sz="1800" b="1" dirty="0">
                <a:latin typeface="微软雅黑" pitchFamily="34" charset="-122"/>
                <a:ea typeface="微软雅黑" pitchFamily="34" charset="-122"/>
              </a:rPr>
              <a:t>”是因为这种网络是为本机构的主机用于机构内部的通信，而不是用于和网络外非本机构的主机通信。</a:t>
            </a:r>
          </a:p>
          <a:p>
            <a:pPr marL="285750" indent="-285750">
              <a:lnSpc>
                <a:spcPts val="3300"/>
              </a:lnSpc>
              <a:buClr>
                <a:srgbClr val="0070C0"/>
              </a:buClr>
              <a:buFont typeface="Wingdings" pitchFamily="2" charset="2"/>
              <a:buChar char="l"/>
            </a:pPr>
            <a:r>
              <a:rPr lang="zh-CN" altLang="en-US" sz="1800" b="1" dirty="0">
                <a:latin typeface="微软雅黑" pitchFamily="34" charset="-122"/>
                <a:ea typeface="微软雅黑" pitchFamily="34" charset="-122"/>
              </a:rPr>
              <a:t>“</a:t>
            </a:r>
            <a:r>
              <a:rPr lang="zh-CN" altLang="en-US" sz="1800" b="1" dirty="0">
                <a:solidFill>
                  <a:srgbClr val="0000FF"/>
                </a:solidFill>
                <a:latin typeface="微软雅黑" pitchFamily="34" charset="-122"/>
                <a:ea typeface="微软雅黑" pitchFamily="34" charset="-122"/>
              </a:rPr>
              <a:t>虚拟</a:t>
            </a:r>
            <a:r>
              <a:rPr lang="zh-CN" altLang="en-US" sz="1800" b="1" dirty="0">
                <a:latin typeface="微软雅黑" pitchFamily="34" charset="-122"/>
                <a:ea typeface="微软雅黑" pitchFamily="34" charset="-122"/>
              </a:rPr>
              <a:t>”表示“好像是”，但实际上并不是，因为现在</a:t>
            </a:r>
            <a:r>
              <a:rPr lang="zh-CN" altLang="en-US" sz="1800" b="1" dirty="0">
                <a:solidFill>
                  <a:srgbClr val="0000FF"/>
                </a:solidFill>
                <a:latin typeface="微软雅黑" pitchFamily="34" charset="-122"/>
                <a:ea typeface="微软雅黑" pitchFamily="34" charset="-122"/>
              </a:rPr>
              <a:t>并没有真正使用通信专线</a:t>
            </a:r>
            <a:r>
              <a:rPr lang="zh-CN" altLang="en-US" sz="1800" b="1" dirty="0">
                <a:latin typeface="微软雅黑" pitchFamily="34" charset="-122"/>
                <a:ea typeface="微软雅黑" pitchFamily="34" charset="-122"/>
              </a:rPr>
              <a:t>，而</a:t>
            </a:r>
            <a:r>
              <a:rPr lang="en-US" altLang="zh-CN" sz="1800" b="1" dirty="0">
                <a:latin typeface="微软雅黑" pitchFamily="34" charset="-122"/>
                <a:ea typeface="微软雅黑" pitchFamily="34" charset="-122"/>
              </a:rPr>
              <a:t>VPN</a:t>
            </a:r>
            <a:r>
              <a:rPr lang="zh-CN" altLang="en-US" sz="1800" b="1" dirty="0">
                <a:latin typeface="微软雅黑" pitchFamily="34" charset="-122"/>
                <a:ea typeface="微软雅黑" pitchFamily="34" charset="-122"/>
              </a:rPr>
              <a:t>只是在效果上和真正的专用网一样。</a:t>
            </a:r>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248</a:t>
            </a:fld>
            <a:endParaRPr kumimoji="1" lang="zh-CN" altLang="en-US"/>
          </a:p>
        </p:txBody>
      </p:sp>
    </p:spTree>
    <p:extLst>
      <p:ext uri="{BB962C8B-B14F-4D97-AF65-F5344CB8AC3E}">
        <p14:creationId xmlns:p14="http://schemas.microsoft.com/office/powerpoint/2010/main" val="27655395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800" dirty="0"/>
              <a:t>为了达到企业或机构用户的内部数据不会在公共网络上被窃取或破坏，一般会使用安全协议和算法来构建隧道，而为了避免企业内部网络被攻击并且节省</a:t>
            </a:r>
            <a:r>
              <a:rPr lang="en-US" altLang="zh-CN" sz="1800" dirty="0"/>
              <a:t>IP</a:t>
            </a:r>
            <a:r>
              <a:rPr lang="zh-CN" altLang="en-US" sz="1800" dirty="0"/>
              <a:t>地址消耗，所以</a:t>
            </a:r>
            <a:r>
              <a:rPr lang="en-US" altLang="zh-CN" sz="1800" dirty="0"/>
              <a:t>VPN</a:t>
            </a:r>
            <a:r>
              <a:rPr lang="zh-CN" altLang="en-US" sz="1800" dirty="0"/>
              <a:t>内部的本地网络一般会使用本地地址。</a:t>
            </a:r>
            <a:endParaRPr lang="en-US" altLang="zh-CN" sz="1800" dirty="0"/>
          </a:p>
          <a:p>
            <a:pPr algn="l"/>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的实现有很多种方法，常用的有以下四种：</a:t>
            </a:r>
          </a:p>
          <a:p>
            <a:pPr algn="l"/>
            <a:r>
              <a:rPr lang="en-US" altLang="zh-CN" sz="2800" b="0" i="0" dirty="0">
                <a:solidFill>
                  <a:srgbClr val="333333"/>
                </a:solidFill>
                <a:effectLst/>
                <a:latin typeface="arial" panose="020B0604020202020204" pitchFamily="34" charset="0"/>
              </a:rPr>
              <a:t>1</a:t>
            </a:r>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服务器：在大型局域网中，可以通过在网络中心搭建</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服务器的方法实现</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p>
          <a:p>
            <a:pPr algn="l"/>
            <a:r>
              <a:rPr lang="en-US" altLang="zh-CN" sz="2800" b="0" i="0" dirty="0">
                <a:solidFill>
                  <a:srgbClr val="333333"/>
                </a:solidFill>
                <a:effectLst/>
                <a:latin typeface="arial" panose="020B0604020202020204" pitchFamily="34" charset="0"/>
              </a:rPr>
              <a:t>2</a:t>
            </a:r>
            <a:r>
              <a:rPr lang="zh-CN" altLang="en-US" sz="2800" b="0" i="0" dirty="0">
                <a:solidFill>
                  <a:srgbClr val="333333"/>
                </a:solidFill>
                <a:effectLst/>
                <a:latin typeface="arial" panose="020B0604020202020204" pitchFamily="34" charset="0"/>
              </a:rPr>
              <a:t>．软件</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：可以通过专用的软件实现</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p>
          <a:p>
            <a:pPr algn="l"/>
            <a:r>
              <a:rPr lang="en-US" altLang="zh-CN" sz="2800" b="0" i="0" dirty="0">
                <a:solidFill>
                  <a:srgbClr val="333333"/>
                </a:solidFill>
                <a:effectLst/>
                <a:latin typeface="arial" panose="020B0604020202020204" pitchFamily="34" charset="0"/>
              </a:rPr>
              <a:t>3</a:t>
            </a:r>
            <a:r>
              <a:rPr lang="zh-CN" altLang="en-US" sz="2800" b="0" i="0" dirty="0">
                <a:solidFill>
                  <a:srgbClr val="333333"/>
                </a:solidFill>
                <a:effectLst/>
                <a:latin typeface="arial" panose="020B0604020202020204" pitchFamily="34" charset="0"/>
              </a:rPr>
              <a:t>．硬件</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：可以通过专用的硬件实现</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p>
          <a:p>
            <a:pPr algn="l"/>
            <a:r>
              <a:rPr lang="en-US" altLang="zh-CN" sz="2800" b="0" i="0" dirty="0">
                <a:solidFill>
                  <a:srgbClr val="333333"/>
                </a:solidFill>
                <a:effectLst/>
                <a:latin typeface="arial" panose="020B0604020202020204" pitchFamily="34" charset="0"/>
              </a:rPr>
              <a:t>4</a:t>
            </a:r>
            <a:r>
              <a:rPr lang="zh-CN" altLang="en-US" sz="2800" b="0" i="0" dirty="0">
                <a:solidFill>
                  <a:srgbClr val="333333"/>
                </a:solidFill>
                <a:effectLst/>
                <a:latin typeface="arial" panose="020B0604020202020204" pitchFamily="34" charset="0"/>
              </a:rPr>
              <a:t>．集成</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：某些</a:t>
            </a:r>
            <a:r>
              <a:rPr lang="zh-CN" altLang="en-US" sz="2800" b="0" i="0" kern="1200" dirty="0">
                <a:solidFill>
                  <a:srgbClr val="333333"/>
                </a:solidFill>
                <a:effectLst/>
                <a:latin typeface="arial" panose="020B0604020202020204" pitchFamily="34" charset="0"/>
                <a:ea typeface="+mn-ea"/>
                <a:cs typeface="+mn-cs"/>
              </a:rPr>
              <a:t>硬件设备，如</a:t>
            </a:r>
            <a:r>
              <a:rPr lang="zh-CN" altLang="en-US" sz="2800" b="0" i="0" kern="1200" dirty="0">
                <a:solidFill>
                  <a:srgbClr val="333333"/>
                </a:solidFill>
                <a:effectLst/>
                <a:latin typeface="arial" panose="020B0604020202020204" pitchFamily="34" charset="0"/>
                <a:ea typeface="+mn-ea"/>
                <a:cs typeface="+mn-cs"/>
                <a:hlinkClick r:id="rId3">
                  <a:extLst>
                    <a:ext uri="{A12FA001-AC4F-418D-AE19-62706E023703}">
                      <ahyp:hlinkClr xmlns:ahyp="http://schemas.microsoft.com/office/drawing/2018/hyperlinkcolor" val="tx"/>
                    </a:ext>
                  </a:extLst>
                </a:hlinkClick>
              </a:rPr>
              <a:t>路由器</a:t>
            </a:r>
            <a:r>
              <a:rPr lang="zh-CN" altLang="en-US" sz="2800" b="0" i="0" kern="1200" dirty="0">
                <a:solidFill>
                  <a:srgbClr val="333333"/>
                </a:solidFill>
                <a:effectLst/>
                <a:latin typeface="arial" panose="020B0604020202020204" pitchFamily="34" charset="0"/>
                <a:ea typeface="+mn-ea"/>
                <a:cs typeface="+mn-cs"/>
              </a:rPr>
              <a:t>、</a:t>
            </a:r>
            <a:r>
              <a:rPr lang="zh-CN" altLang="en-US" sz="2800" b="0" i="0" kern="1200" dirty="0">
                <a:solidFill>
                  <a:srgbClr val="333333"/>
                </a:solidFill>
                <a:effectLst/>
                <a:latin typeface="arial" panose="020B0604020202020204" pitchFamily="34" charset="0"/>
                <a:ea typeface="+mn-ea"/>
                <a:cs typeface="+mn-cs"/>
                <a:hlinkClick r:id="rId4">
                  <a:extLst>
                    <a:ext uri="{A12FA001-AC4F-418D-AE19-62706E023703}">
                      <ahyp:hlinkClr xmlns:ahyp="http://schemas.microsoft.com/office/drawing/2018/hyperlinkcolor" val="tx"/>
                    </a:ext>
                  </a:extLst>
                </a:hlinkClick>
              </a:rPr>
              <a:t>防火墙</a:t>
            </a:r>
            <a:r>
              <a:rPr lang="zh-CN" altLang="en-US" sz="2800" b="0" i="0" kern="1200" dirty="0">
                <a:solidFill>
                  <a:srgbClr val="333333"/>
                </a:solidFill>
                <a:effectLst/>
                <a:latin typeface="arial" panose="020B0604020202020204" pitchFamily="34" charset="0"/>
                <a:ea typeface="+mn-ea"/>
                <a:cs typeface="+mn-cs"/>
              </a:rPr>
              <a:t>等，都含有</a:t>
            </a:r>
            <a:r>
              <a:rPr lang="en-US" altLang="zh-CN" sz="2800" b="0" i="0" kern="1200" dirty="0">
                <a:solidFill>
                  <a:srgbClr val="333333"/>
                </a:solidFill>
                <a:effectLst/>
                <a:latin typeface="arial" panose="020B0604020202020204" pitchFamily="34" charset="0"/>
                <a:ea typeface="+mn-ea"/>
                <a:cs typeface="+mn-cs"/>
              </a:rPr>
              <a:t>VPN</a:t>
            </a:r>
            <a:r>
              <a:rPr lang="zh-CN" altLang="en-US" sz="2800" b="0" i="0" kern="1200" dirty="0">
                <a:solidFill>
                  <a:srgbClr val="333333"/>
                </a:solidFill>
                <a:effectLst/>
                <a:latin typeface="arial" panose="020B0604020202020204" pitchFamily="34" charset="0"/>
                <a:ea typeface="+mn-ea"/>
                <a:cs typeface="+mn-cs"/>
              </a:rPr>
              <a:t>功能，但是一般拥有</a:t>
            </a:r>
            <a:r>
              <a:rPr lang="en-US" altLang="zh-CN" sz="2800" b="0" i="0" kern="1200" dirty="0">
                <a:solidFill>
                  <a:srgbClr val="333333"/>
                </a:solidFill>
                <a:effectLst/>
                <a:latin typeface="arial" panose="020B0604020202020204" pitchFamily="34" charset="0"/>
                <a:ea typeface="+mn-ea"/>
                <a:cs typeface="+mn-cs"/>
              </a:rPr>
              <a:t>VPN</a:t>
            </a:r>
            <a:r>
              <a:rPr lang="zh-CN" altLang="en-US" sz="2800" b="0" i="0" kern="1200" dirty="0">
                <a:solidFill>
                  <a:srgbClr val="333333"/>
                </a:solidFill>
                <a:effectLst/>
                <a:latin typeface="arial" panose="020B0604020202020204" pitchFamily="34" charset="0"/>
                <a:ea typeface="+mn-ea"/>
                <a:cs typeface="+mn-cs"/>
              </a:rPr>
              <a:t>功能的硬件设备通常都比没有这一功能的要贵。</a:t>
            </a:r>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249</a:t>
            </a:fld>
            <a:endParaRPr kumimoji="1" lang="zh-CN" altLang="en-US"/>
          </a:p>
        </p:txBody>
      </p:sp>
    </p:spTree>
    <p:extLst>
      <p:ext uri="{BB962C8B-B14F-4D97-AF65-F5344CB8AC3E}">
        <p14:creationId xmlns:p14="http://schemas.microsoft.com/office/powerpoint/2010/main" val="323951837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在</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隧道的外部用户，由于没有获得授权，因此无法解读或者改变经过隧道协议封装的数据报文；</a:t>
            </a:r>
          </a:p>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在加密隧道情况下只能在报文的首部信息中获取隧道端点的地址信息，无法得到隧道内部保护的用户端的真实地址信息；</a:t>
            </a:r>
          </a:p>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经过隧道保护的数据通信在安全性上可以达到和使用物理专线通信一样的安全效果，但却可以使用和普通报文传送一样的网络链路，比物理专用网络的构建更灵活、更经济。</a:t>
            </a:r>
          </a:p>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网络设备提供商针对不同客户的需求，开发出不同的</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网络设备，主要为交换机、路由器和防火墙：</a:t>
            </a:r>
          </a:p>
          <a:p>
            <a:pPr lvl="1" algn="l"/>
            <a:r>
              <a:rPr lang="en-US" altLang="zh-CN" sz="2800" b="0" i="0" dirty="0">
                <a:solidFill>
                  <a:srgbClr val="333333"/>
                </a:solidFill>
                <a:effectLst/>
                <a:latin typeface="arial" panose="020B0604020202020204" pitchFamily="34" charset="0"/>
              </a:rPr>
              <a:t>1</a:t>
            </a:r>
            <a:r>
              <a:rPr lang="zh-CN" altLang="en-US" sz="2800" b="0" i="0" dirty="0">
                <a:solidFill>
                  <a:srgbClr val="333333"/>
                </a:solidFill>
                <a:effectLst/>
                <a:latin typeface="arial" panose="020B0604020202020204" pitchFamily="34" charset="0"/>
              </a:rPr>
              <a:t>）路由器式</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：路由器式</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部署较容易，只要在路由器上添加</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服务即可；</a:t>
            </a:r>
          </a:p>
          <a:p>
            <a:pPr lvl="1" algn="l"/>
            <a:r>
              <a:rPr lang="en-US" altLang="zh-CN" sz="2800" b="0" i="0" dirty="0">
                <a:solidFill>
                  <a:srgbClr val="333333"/>
                </a:solidFill>
                <a:effectLst/>
                <a:latin typeface="arial" panose="020B0604020202020204" pitchFamily="34" charset="0"/>
              </a:rPr>
              <a:t>2</a:t>
            </a:r>
            <a:r>
              <a:rPr lang="zh-CN" altLang="en-US" sz="2800" b="0" i="0" dirty="0">
                <a:solidFill>
                  <a:srgbClr val="333333"/>
                </a:solidFill>
                <a:effectLst/>
                <a:latin typeface="arial" panose="020B0604020202020204" pitchFamily="34" charset="0"/>
              </a:rPr>
              <a:t>）交换机式</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：主要应用于连接用户较少的</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网络。</a:t>
            </a:r>
            <a:endParaRPr lang="en-US" altLang="zh-CN" sz="2800" b="0" i="0" dirty="0">
              <a:solidFill>
                <a:srgbClr val="333333"/>
              </a:solidFill>
              <a:effectLst/>
              <a:latin typeface="arial" panose="020B0604020202020204" pitchFamily="34" charset="0"/>
            </a:endParaRPr>
          </a:p>
          <a:p>
            <a:pPr algn="l"/>
            <a:r>
              <a:rPr lang="en-US" altLang="zh-CN" sz="2800" b="1" i="0" dirty="0">
                <a:solidFill>
                  <a:srgbClr val="333333"/>
                </a:solidFill>
                <a:effectLst/>
                <a:latin typeface="arial" panose="020B0604020202020204" pitchFamily="34" charset="0"/>
              </a:rPr>
              <a:t>VPN</a:t>
            </a:r>
            <a:r>
              <a:rPr lang="zh-CN" altLang="en-US" sz="2800" b="1" i="0" dirty="0">
                <a:solidFill>
                  <a:srgbClr val="333333"/>
                </a:solidFill>
                <a:effectLst/>
                <a:latin typeface="arial" panose="020B0604020202020204" pitchFamily="34" charset="0"/>
              </a:rPr>
              <a:t>的</a:t>
            </a:r>
            <a:r>
              <a:rPr lang="zh-CN" altLang="en-US" sz="4000" b="1" i="0" dirty="0">
                <a:solidFill>
                  <a:srgbClr val="333333"/>
                </a:solidFill>
                <a:effectLst/>
                <a:latin typeface="Microsoft YaHei" panose="020B0503020204020204" pitchFamily="34" charset="-122"/>
                <a:ea typeface="Microsoft YaHei" panose="020B0503020204020204" pitchFamily="34" charset="-122"/>
              </a:rPr>
              <a:t>优点：</a:t>
            </a:r>
            <a:endParaRPr lang="en-US" altLang="zh-CN" sz="4000" b="1" i="0" dirty="0">
              <a:solidFill>
                <a:srgbClr val="333333"/>
              </a:solidFill>
              <a:effectLst/>
              <a:latin typeface="Microsoft YaHei" panose="020B0503020204020204" pitchFamily="34" charset="-122"/>
              <a:ea typeface="Microsoft YaHei" panose="020B0503020204020204" pitchFamily="34" charset="-122"/>
            </a:endParaRP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1</a:t>
            </a:r>
            <a:r>
              <a:rPr lang="zh-CN" altLang="en-US" sz="4000" b="0" i="0" dirty="0">
                <a:solidFill>
                  <a:srgbClr val="333333"/>
                </a:solidFill>
                <a:effectLst/>
                <a:latin typeface="Microsoft YaHei" panose="020B0503020204020204" pitchFamily="34" charset="-122"/>
                <a:ea typeface="Microsoft YaHei" panose="020B0503020204020204" pitchFamily="34" charset="-122"/>
              </a:rPr>
              <a:t>）</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能够让移动员工、远程员工、商务合作伙伴和其他人利用本地可用的高速宽带网连接（如</a:t>
            </a:r>
            <a:r>
              <a:rPr lang="en-US" altLang="zh-CN" sz="4000" b="0" i="0" dirty="0">
                <a:solidFill>
                  <a:srgbClr val="333333"/>
                </a:solidFill>
                <a:effectLst/>
                <a:latin typeface="Microsoft YaHei" panose="020B0503020204020204" pitchFamily="34" charset="-122"/>
                <a:ea typeface="Microsoft YaHei" panose="020B0503020204020204" pitchFamily="34" charset="-122"/>
              </a:rPr>
              <a:t>DSL</a:t>
            </a:r>
            <a:r>
              <a:rPr lang="zh-CN" altLang="en-US" sz="4000" b="0" i="0" dirty="0">
                <a:solidFill>
                  <a:srgbClr val="333333"/>
                </a:solidFill>
                <a:effectLst/>
                <a:latin typeface="Microsoft YaHei" panose="020B0503020204020204" pitchFamily="34" charset="-122"/>
                <a:ea typeface="Microsoft YaHei" panose="020B0503020204020204" pitchFamily="34" charset="-122"/>
              </a:rPr>
              <a:t>、有线电视或者</a:t>
            </a:r>
            <a:r>
              <a:rPr lang="en-US" altLang="zh-CN" sz="4000" b="0" i="0" dirty="0" err="1">
                <a:solidFill>
                  <a:srgbClr val="333333"/>
                </a:solidFill>
                <a:effectLst/>
                <a:latin typeface="Microsoft YaHei" panose="020B0503020204020204" pitchFamily="34" charset="-122"/>
                <a:ea typeface="Microsoft YaHei" panose="020B0503020204020204" pitchFamily="34" charset="-122"/>
              </a:rPr>
              <a:t>WiFi</a:t>
            </a:r>
            <a:r>
              <a:rPr lang="zh-CN" altLang="en-US" sz="4000" b="0" i="0" dirty="0">
                <a:solidFill>
                  <a:srgbClr val="333333"/>
                </a:solidFill>
                <a:effectLst/>
                <a:latin typeface="Microsoft YaHei" panose="020B0503020204020204" pitchFamily="34" charset="-122"/>
                <a:ea typeface="Microsoft YaHei" panose="020B0503020204020204" pitchFamily="34" charset="-122"/>
              </a:rPr>
              <a:t>网络）连接到企业网络。此外，高速宽带网连接提供一种成本效率高的连接远程办公室的方法。</a:t>
            </a: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2</a:t>
            </a:r>
            <a:r>
              <a:rPr lang="zh-CN" altLang="en-US" sz="4000" b="0" i="0" dirty="0">
                <a:solidFill>
                  <a:srgbClr val="333333"/>
                </a:solidFill>
                <a:effectLst/>
                <a:latin typeface="Microsoft YaHei" panose="020B0503020204020204" pitchFamily="34" charset="-122"/>
                <a:ea typeface="Microsoft YaHei" panose="020B0503020204020204" pitchFamily="34" charset="-122"/>
              </a:rPr>
              <a:t>）设计良好的宽带</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是模块化的和可升级的。</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能够让应用者使用一种很容易设置的互联网基础设施，让新的用户迅速和轻松地添加到这个网络。这种能力意味着企业不用增加额外的基础设施就可以提供大量的容量和应用。 </a:t>
            </a: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3</a:t>
            </a:r>
            <a:r>
              <a:rPr lang="zh-CN" altLang="en-US" sz="4000" b="0" i="0" dirty="0">
                <a:solidFill>
                  <a:srgbClr val="333333"/>
                </a:solidFill>
                <a:effectLst/>
                <a:latin typeface="Microsoft YaHei" panose="020B0503020204020204" pitchFamily="34" charset="-122"/>
                <a:ea typeface="Microsoft YaHei" panose="020B0503020204020204" pitchFamily="34" charset="-122"/>
              </a:rPr>
              <a:t>）</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能提供高水平的安全，使用高级的加密和身份识别协议保护数据避免受到窥探，阻止数据窃贼和其他非授权用户接触这种数据。 </a:t>
            </a: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4</a:t>
            </a:r>
            <a:r>
              <a:rPr lang="zh-CN" altLang="en-US" sz="4000" b="0" i="0" dirty="0">
                <a:solidFill>
                  <a:srgbClr val="333333"/>
                </a:solidFill>
                <a:effectLst/>
                <a:latin typeface="Microsoft YaHei" panose="020B0503020204020204" pitchFamily="34" charset="-122"/>
                <a:ea typeface="Microsoft YaHei" panose="020B0503020204020204" pitchFamily="34" charset="-122"/>
              </a:rPr>
              <a:t>）完全控制，虚拟专用网使用户可以利用</a:t>
            </a:r>
            <a:r>
              <a:rPr lang="en-US" altLang="zh-CN" sz="4000" b="0" i="0" dirty="0">
                <a:solidFill>
                  <a:srgbClr val="333333"/>
                </a:solidFill>
                <a:effectLst/>
                <a:latin typeface="Microsoft YaHei" panose="020B0503020204020204" pitchFamily="34" charset="-122"/>
                <a:ea typeface="Microsoft YaHei" panose="020B0503020204020204" pitchFamily="34" charset="-122"/>
              </a:rPr>
              <a:t>ISP</a:t>
            </a:r>
            <a:r>
              <a:rPr lang="zh-CN" altLang="en-US" sz="4000" b="0" i="0" dirty="0">
                <a:solidFill>
                  <a:srgbClr val="333333"/>
                </a:solidFill>
                <a:effectLst/>
                <a:latin typeface="Microsoft YaHei" panose="020B0503020204020204" pitchFamily="34" charset="-122"/>
                <a:ea typeface="Microsoft YaHei" panose="020B0503020204020204" pitchFamily="34" charset="-122"/>
              </a:rPr>
              <a:t>的设施和服务，同时又完全掌握着自己网络的控制权。用户只利用</a:t>
            </a:r>
            <a:r>
              <a:rPr lang="en-US" altLang="zh-CN" sz="4000" b="0" i="0" dirty="0">
                <a:solidFill>
                  <a:srgbClr val="333333"/>
                </a:solidFill>
                <a:effectLst/>
                <a:latin typeface="Microsoft YaHei" panose="020B0503020204020204" pitchFamily="34" charset="-122"/>
                <a:ea typeface="Microsoft YaHei" panose="020B0503020204020204" pitchFamily="34" charset="-122"/>
              </a:rPr>
              <a:t>ISP</a:t>
            </a:r>
            <a:r>
              <a:rPr lang="zh-CN" altLang="en-US" sz="4000" b="0" i="0" dirty="0">
                <a:solidFill>
                  <a:srgbClr val="333333"/>
                </a:solidFill>
                <a:effectLst/>
                <a:latin typeface="Microsoft YaHei" panose="020B0503020204020204" pitchFamily="34" charset="-122"/>
                <a:ea typeface="Microsoft YaHei" panose="020B0503020204020204" pitchFamily="34" charset="-122"/>
              </a:rPr>
              <a:t>提供的网络资源，对于其它的安全设置、网络管理变化可由自己管理。在企业内部也可以自己建立虚拟专用网。</a:t>
            </a:r>
            <a:endParaRPr lang="en-US" altLang="zh-CN" sz="4000" b="0" i="0" dirty="0">
              <a:solidFill>
                <a:srgbClr val="333333"/>
              </a:solidFill>
              <a:effectLst/>
              <a:latin typeface="Microsoft YaHei" panose="020B0503020204020204" pitchFamily="34" charset="-122"/>
              <a:ea typeface="Microsoft YaHei" panose="020B0503020204020204" pitchFamily="34" charset="-122"/>
            </a:endParaRPr>
          </a:p>
          <a:p>
            <a:pPr algn="l"/>
            <a:r>
              <a:rPr lang="en-US" altLang="zh-CN" sz="4000" b="1" i="0" dirty="0">
                <a:solidFill>
                  <a:srgbClr val="333333"/>
                </a:solidFill>
                <a:effectLst/>
                <a:latin typeface="Microsoft YaHei" panose="020B0503020204020204" pitchFamily="34" charset="-122"/>
                <a:ea typeface="Microsoft YaHei" panose="020B0503020204020204" pitchFamily="34" charset="-122"/>
              </a:rPr>
              <a:t>VPN</a:t>
            </a:r>
            <a:r>
              <a:rPr lang="zh-CN" altLang="en-US" sz="4000" b="1" i="0" dirty="0">
                <a:solidFill>
                  <a:srgbClr val="333333"/>
                </a:solidFill>
                <a:effectLst/>
                <a:latin typeface="Microsoft YaHei" panose="020B0503020204020204" pitchFamily="34" charset="-122"/>
                <a:ea typeface="Microsoft YaHei" panose="020B0503020204020204" pitchFamily="34" charset="-122"/>
              </a:rPr>
              <a:t>的缺点：</a:t>
            </a:r>
          </a:p>
          <a:p>
            <a:pPr algn="l">
              <a:buFont typeface="+mj-lt"/>
              <a:buNone/>
            </a:pPr>
            <a:r>
              <a:rPr lang="en-US" altLang="zh-CN" sz="4000" b="0" i="0" dirty="0">
                <a:solidFill>
                  <a:srgbClr val="333333"/>
                </a:solidFill>
                <a:effectLst/>
                <a:latin typeface="arial" panose="020B0604020202020204" pitchFamily="34" charset="0"/>
              </a:rPr>
              <a:t>1</a:t>
            </a:r>
            <a:r>
              <a:rPr lang="zh-CN" altLang="en-US" sz="4000" b="0" i="0" dirty="0">
                <a:solidFill>
                  <a:srgbClr val="333333"/>
                </a:solidFill>
                <a:effectLst/>
                <a:latin typeface="arial" panose="020B0604020202020204" pitchFamily="34" charset="0"/>
              </a:rPr>
              <a:t>）企业不能直接控制基于互联网的</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的可靠性和性能。机构必须依靠提供</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的互联网服务提供商保证服务的运行。这个因素使企业与互联网服务提供商签署一个服务级协议非常重要，要签署一个保证各种性能指标的协议。</a:t>
            </a:r>
            <a:r>
              <a:rPr lang="zh-CN" altLang="en-US" sz="4000" b="0" i="0" baseline="30000" dirty="0">
                <a:solidFill>
                  <a:srgbClr val="3366CC"/>
                </a:solidFill>
                <a:effectLst/>
                <a:latin typeface="arial" panose="020B0604020202020204" pitchFamily="34" charset="0"/>
              </a:rPr>
              <a:t> </a:t>
            </a:r>
            <a:r>
              <a:rPr lang="en-US" altLang="zh-CN" sz="4000" b="0" i="0" baseline="30000" dirty="0">
                <a:solidFill>
                  <a:srgbClr val="3366CC"/>
                </a:solidFill>
                <a:effectLst/>
                <a:latin typeface="arial" panose="020B0604020202020204" pitchFamily="34" charset="0"/>
              </a:rPr>
              <a:t> </a:t>
            </a:r>
            <a:endParaRPr lang="zh-CN" altLang="en-US" sz="4000" b="0" i="0" dirty="0">
              <a:solidFill>
                <a:srgbClr val="333333"/>
              </a:solidFill>
              <a:effectLst/>
              <a:latin typeface="arial" panose="020B0604020202020204" pitchFamily="34" charset="0"/>
            </a:endParaRPr>
          </a:p>
          <a:p>
            <a:pPr algn="l">
              <a:buFont typeface="+mj-lt"/>
              <a:buNone/>
            </a:pPr>
            <a:r>
              <a:rPr lang="en-US" altLang="zh-CN" sz="4000" b="0" i="0" dirty="0">
                <a:solidFill>
                  <a:srgbClr val="333333"/>
                </a:solidFill>
                <a:effectLst/>
                <a:latin typeface="arial" panose="020B0604020202020204" pitchFamily="34" charset="0"/>
              </a:rPr>
              <a:t>2</a:t>
            </a:r>
            <a:r>
              <a:rPr lang="zh-CN" altLang="en-US" sz="4000" b="0" i="0" dirty="0">
                <a:solidFill>
                  <a:srgbClr val="333333"/>
                </a:solidFill>
                <a:effectLst/>
                <a:latin typeface="arial" panose="020B0604020202020204" pitchFamily="34" charset="0"/>
              </a:rPr>
              <a:t>）企业创建和部署</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线路并不容易。这种技术需要高水平地理解网络和安全问题，需要认真的规划和配置。因此，选择互联网服务提供商负责运行</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的大多数事情是一个好主意。</a:t>
            </a:r>
            <a:endParaRPr lang="en-US" altLang="zh-CN" sz="4000" b="0" i="0" dirty="0">
              <a:solidFill>
                <a:srgbClr val="333333"/>
              </a:solidFill>
              <a:effectLst/>
              <a:latin typeface="arial" panose="020B0604020202020204" pitchFamily="34" charset="0"/>
            </a:endParaRPr>
          </a:p>
          <a:p>
            <a:pPr algn="l">
              <a:buFont typeface="+mj-lt"/>
              <a:buNone/>
            </a:pPr>
            <a:r>
              <a:rPr lang="en-US" altLang="zh-CN" sz="4000" b="0" i="0" dirty="0">
                <a:solidFill>
                  <a:srgbClr val="333333"/>
                </a:solidFill>
                <a:effectLst/>
                <a:latin typeface="arial" panose="020B0604020202020204" pitchFamily="34" charset="0"/>
              </a:rPr>
              <a:t>3</a:t>
            </a:r>
            <a:r>
              <a:rPr lang="zh-CN" altLang="en-US" sz="4000" b="0" i="0" dirty="0">
                <a:solidFill>
                  <a:srgbClr val="333333"/>
                </a:solidFill>
                <a:effectLst/>
                <a:latin typeface="arial" panose="020B0604020202020204" pitchFamily="34" charset="0"/>
              </a:rPr>
              <a:t>）不同厂商的</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产品和解决方案总是不兼容的，因为许多厂商不愿意或者不能遵守</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技术标准。因此，混合使用不同厂商的产品可能会出现技术问题。另一方面，使用一家供应商的设备可能会提高成本。</a:t>
            </a:r>
            <a:r>
              <a:rPr lang="en-US" altLang="zh-CN" sz="4000" b="0" i="0" baseline="30000" dirty="0">
                <a:solidFill>
                  <a:srgbClr val="3366CC"/>
                </a:solidFill>
                <a:effectLst/>
                <a:latin typeface="arial" panose="020B0604020202020204" pitchFamily="34" charset="0"/>
              </a:rPr>
              <a:t> </a:t>
            </a:r>
            <a:endParaRPr lang="zh-CN" altLang="en-US" sz="4000" b="0" i="0" dirty="0">
              <a:solidFill>
                <a:srgbClr val="333333"/>
              </a:solidFill>
              <a:effectLst/>
              <a:latin typeface="arial" panose="020B0604020202020204" pitchFamily="34" charset="0"/>
            </a:endParaRPr>
          </a:p>
          <a:p>
            <a:pPr algn="l">
              <a:buFont typeface="+mj-lt"/>
              <a:buNone/>
            </a:pPr>
            <a:r>
              <a:rPr lang="en-US" altLang="zh-CN" sz="4000" b="0" i="0" dirty="0">
                <a:solidFill>
                  <a:srgbClr val="333333"/>
                </a:solidFill>
                <a:effectLst/>
                <a:latin typeface="arial" panose="020B0604020202020204" pitchFamily="34" charset="0"/>
              </a:rPr>
              <a:t>4</a:t>
            </a:r>
            <a:r>
              <a:rPr lang="zh-CN" altLang="en-US" sz="4000" b="0" i="0" dirty="0">
                <a:solidFill>
                  <a:srgbClr val="333333"/>
                </a:solidFill>
                <a:effectLst/>
                <a:latin typeface="arial" panose="020B0604020202020204" pitchFamily="34" charset="0"/>
              </a:rPr>
              <a:t>）当使用无线设备时，</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有安全风险。在接入点之间漫游特别容易出问题。当用户在接入点之间漫游的时候，任何使用高级加密技术的解决方案都可能被攻破。</a:t>
            </a:r>
            <a:r>
              <a:rPr lang="zh-CN" altLang="en-US" sz="4000" b="0" i="0" baseline="30000" dirty="0">
                <a:solidFill>
                  <a:srgbClr val="3366CC"/>
                </a:solidFill>
                <a:effectLst/>
                <a:latin typeface="arial" panose="020B0604020202020204" pitchFamily="34" charset="0"/>
              </a:rPr>
              <a:t> </a:t>
            </a:r>
            <a:r>
              <a:rPr lang="en-US" altLang="zh-CN" sz="4000" b="0" i="0" baseline="30000" dirty="0">
                <a:solidFill>
                  <a:srgbClr val="3366CC"/>
                </a:solidFill>
                <a:effectLst/>
                <a:latin typeface="arial" panose="020B0604020202020204" pitchFamily="34" charset="0"/>
              </a:rPr>
              <a:t> </a:t>
            </a:r>
            <a:endParaRPr lang="zh-CN" altLang="en-US" sz="4000" b="0" i="0" dirty="0">
              <a:solidFill>
                <a:srgbClr val="333333"/>
              </a:solidFill>
              <a:effectLst/>
              <a:latin typeface="arial" panose="020B0604020202020204" pitchFamily="34" charset="0"/>
            </a:endParaRPr>
          </a:p>
          <a:p>
            <a:pPr algn="l"/>
            <a:endParaRPr lang="zh-CN" altLang="en-US" sz="2800" b="0" i="0" dirty="0">
              <a:solidFill>
                <a:srgbClr val="333333"/>
              </a:solidFill>
              <a:effectLst/>
              <a:latin typeface="arial" panose="020B0604020202020204" pitchFamily="34" charset="0"/>
            </a:endParaRPr>
          </a:p>
          <a:p>
            <a:pPr marL="0" indent="0">
              <a:buFont typeface="+mj-lt"/>
              <a:buNone/>
            </a:pPr>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250</a:t>
            </a:fld>
            <a:endParaRPr kumimoji="1" lang="zh-CN" altLang="en-US"/>
          </a:p>
        </p:txBody>
      </p:sp>
    </p:spTree>
    <p:extLst>
      <p:ext uri="{BB962C8B-B14F-4D97-AF65-F5344CB8AC3E}">
        <p14:creationId xmlns:p14="http://schemas.microsoft.com/office/powerpoint/2010/main" val="123402684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342900" indent="-342900">
              <a:buFont typeface="+mj-lt"/>
              <a:buAutoNum type="arabicPeriod"/>
            </a:pPr>
            <a:r>
              <a:rPr lang="zh-CN" altLang="en-US" sz="1200" dirty="0"/>
              <a:t>在</a:t>
            </a:r>
            <a:r>
              <a:rPr lang="en-US" altLang="zh-CN" sz="1200" dirty="0"/>
              <a:t>VPN</a:t>
            </a:r>
            <a:r>
              <a:rPr lang="zh-CN" altLang="en-US" sz="1200" dirty="0"/>
              <a:t>内部，由于授权用户可以恢复由隧道协议加密的数据报，并进行认证，因此可以读取源端发送的原始报文内容并对来源可信性进行认证；</a:t>
            </a:r>
            <a:endParaRPr lang="en-US" altLang="zh-CN" sz="1200" dirty="0"/>
          </a:p>
          <a:p>
            <a:pPr marL="342900" indent="-342900">
              <a:buFont typeface="+mj-lt"/>
              <a:buAutoNum type="arabicPeriod"/>
            </a:pPr>
            <a:r>
              <a:rPr lang="en-US" altLang="zh-CN" sz="1200" dirty="0"/>
              <a:t>VPN</a:t>
            </a:r>
            <a:r>
              <a:rPr lang="zh-CN" altLang="en-US" sz="1200" dirty="0"/>
              <a:t>的隧道端点可以是用户主机、安全网关路由器，视</a:t>
            </a:r>
            <a:r>
              <a:rPr lang="en-US" altLang="zh-CN" sz="1200" dirty="0"/>
              <a:t>VPN</a:t>
            </a:r>
            <a:r>
              <a:rPr lang="zh-CN" altLang="en-US" sz="1200" dirty="0"/>
              <a:t>的应用场景而定。</a:t>
            </a:r>
            <a:endParaRPr lang="en-US" altLang="zh-CN" sz="1200" dirty="0"/>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251</a:t>
            </a:fld>
            <a:endParaRPr kumimoji="1" lang="zh-CN" altLang="en-US"/>
          </a:p>
        </p:txBody>
      </p:sp>
    </p:spTree>
    <p:extLst>
      <p:ext uri="{BB962C8B-B14F-4D97-AF65-F5344CB8AC3E}">
        <p14:creationId xmlns:p14="http://schemas.microsoft.com/office/powerpoint/2010/main" val="363965354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zh-CN" altLang="en-US" sz="1800" dirty="0"/>
              <a:t>隧道协议加载在</a:t>
            </a:r>
            <a:r>
              <a:rPr lang="en-US" altLang="zh-CN" sz="1800" dirty="0"/>
              <a:t>VPN</a:t>
            </a:r>
            <a:r>
              <a:rPr lang="zh-CN" altLang="en-US" sz="1800" dirty="0"/>
              <a:t>网关上面，构建跨地域的专用网络，一般用于分支机构或者合作伙伴网络之间的安全通信</a:t>
            </a:r>
            <a:endParaRPr lang="en-US" altLang="zh-CN" sz="180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800" dirty="0">
                <a:latin typeface="微软雅黑" panose="020B0503020204020204" pitchFamily="34" charset="-122"/>
                <a:ea typeface="微软雅黑" panose="020B0503020204020204" pitchFamily="34" charset="-122"/>
              </a:rPr>
              <a:t>ISP</a:t>
            </a:r>
            <a:r>
              <a:rPr kumimoji="0" lang="zh-CN" altLang="en-US" sz="1800" dirty="0">
                <a:latin typeface="微软雅黑" panose="020B0503020204020204" pitchFamily="34" charset="-122"/>
                <a:ea typeface="微软雅黑" panose="020B0503020204020204" pitchFamily="34" charset="-122"/>
              </a:rPr>
              <a:t>网关必须支持隧道的承载协议</a:t>
            </a:r>
            <a:endParaRPr kumimoji="0" lang="en-US" altLang="zh-CN" sz="1800" dirty="0">
              <a:latin typeface="微软雅黑" panose="020B0503020204020204" pitchFamily="34" charset="-122"/>
              <a:ea typeface="微软雅黑" panose="020B0503020204020204" pitchFamily="34" charset="-122"/>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800" dirty="0"/>
              <a:t>VPN</a:t>
            </a:r>
            <a:r>
              <a:rPr kumimoji="0" lang="zh-CN" altLang="en-US" sz="1800" dirty="0">
                <a:latin typeface="微软雅黑" panose="020B0503020204020204" pitchFamily="34" charset="-122"/>
                <a:ea typeface="微软雅黑" panose="020B0503020204020204" pitchFamily="34" charset="-122"/>
              </a:rPr>
              <a:t>网关必须支持隧道的封装协议</a:t>
            </a:r>
            <a:endParaRPr kumimoji="0" lang="en-US" altLang="zh-CN" sz="1800" dirty="0">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sz="1800" dirty="0"/>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252</a:t>
            </a:fld>
            <a:endParaRPr kumimoji="1" lang="zh-CN" altLang="en-US"/>
          </a:p>
        </p:txBody>
      </p:sp>
    </p:spTree>
    <p:extLst>
      <p:ext uri="{BB962C8B-B14F-4D97-AF65-F5344CB8AC3E}">
        <p14:creationId xmlns:p14="http://schemas.microsoft.com/office/powerpoint/2010/main" val="141553593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buFont typeface="Arial" panose="020B0604020202020204" pitchFamily="34" charset="0"/>
              <a:buChar char="•"/>
            </a:pPr>
            <a:r>
              <a:rPr lang="zh-CN" altLang="en-US" sz="1800" dirty="0"/>
              <a:t>隧道协议加载在</a:t>
            </a:r>
            <a:r>
              <a:rPr lang="en-US" altLang="zh-CN" sz="1800" dirty="0"/>
              <a:t>VPN</a:t>
            </a:r>
            <a:r>
              <a:rPr lang="zh-CN" altLang="en-US" sz="1800" dirty="0"/>
              <a:t>主机上面，实现远程应用服务的安全访问，一般用于管理员的远程操作</a:t>
            </a:r>
            <a:endParaRPr lang="en-US" altLang="zh-CN" sz="1800" dirty="0"/>
          </a:p>
          <a:p>
            <a:pPr marL="285750" indent="-285750">
              <a:buFont typeface="Arial" panose="020B0604020202020204" pitchFamily="34" charset="0"/>
              <a:buChar char="•"/>
            </a:pPr>
            <a:r>
              <a:rPr lang="zh-CN" altLang="en-US" sz="1800" dirty="0"/>
              <a:t>这是一个隧道嵌套的例子，实际应用中，也可以不需要</a:t>
            </a:r>
            <a:r>
              <a:rPr lang="en-US" altLang="zh-CN" sz="1800" dirty="0"/>
              <a:t>VPN</a:t>
            </a:r>
            <a:r>
              <a:rPr lang="zh-CN" altLang="en-US" sz="1800" dirty="0"/>
              <a:t>网关，但是安全性会打折扣</a:t>
            </a:r>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253</a:t>
            </a:fld>
            <a:endParaRPr kumimoji="1" lang="zh-CN" altLang="en-US"/>
          </a:p>
        </p:txBody>
      </p:sp>
    </p:spTree>
    <p:extLst>
      <p:ext uri="{BB962C8B-B14F-4D97-AF65-F5344CB8AC3E}">
        <p14:creationId xmlns:p14="http://schemas.microsoft.com/office/powerpoint/2010/main" val="320192690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zh-CN" altLang="en-US" sz="1800" dirty="0"/>
              <a:t>隧道协议加载在</a:t>
            </a:r>
            <a:r>
              <a:rPr lang="en-US" altLang="zh-CN" sz="1800" dirty="0"/>
              <a:t>VPN</a:t>
            </a:r>
            <a:r>
              <a:rPr lang="zh-CN" altLang="en-US" sz="1800" dirty="0"/>
              <a:t>主机和</a:t>
            </a:r>
            <a:r>
              <a:rPr lang="en-US" altLang="zh-CN" sz="1800" dirty="0"/>
              <a:t>VPN</a:t>
            </a:r>
            <a:r>
              <a:rPr lang="zh-CN" altLang="en-US" sz="1800" dirty="0"/>
              <a:t>网关之间，实现远程网络的安全访问，一般用于分散的网络用户或者出差的员工远程办公</a:t>
            </a:r>
            <a:endParaRPr lang="en-US" altLang="zh-CN" sz="1800" dirty="0"/>
          </a:p>
          <a:p>
            <a:pPr marL="285750" indent="-285750">
              <a:buFont typeface="Arial" panose="020B0604020202020204" pitchFamily="34" charset="0"/>
              <a:buChar char="•"/>
            </a:pPr>
            <a:r>
              <a:rPr lang="en-US" altLang="zh-CN" sz="1800" dirty="0"/>
              <a:t>ISP</a:t>
            </a:r>
            <a:r>
              <a:rPr lang="zh-CN" altLang="en-US" sz="1800" dirty="0"/>
              <a:t>网关必须支持隧道承载协议</a:t>
            </a:r>
            <a:endParaRPr lang="en-US" altLang="zh-CN" sz="1800" dirty="0"/>
          </a:p>
          <a:p>
            <a:pPr marL="285750" indent="-285750">
              <a:buFont typeface="Arial" panose="020B0604020202020204" pitchFamily="34" charset="0"/>
              <a:buChar char="•"/>
            </a:pPr>
            <a:r>
              <a:rPr lang="en-US" altLang="zh-CN" sz="1800" dirty="0"/>
              <a:t>VPN</a:t>
            </a:r>
            <a:r>
              <a:rPr lang="zh-CN" altLang="en-US" sz="1800" dirty="0"/>
              <a:t>网关必须支持隧道封装协议</a:t>
            </a:r>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254</a:t>
            </a:fld>
            <a:endParaRPr kumimoji="1" lang="zh-CN" altLang="en-US"/>
          </a:p>
        </p:txBody>
      </p:sp>
    </p:spTree>
    <p:extLst>
      <p:ext uri="{BB962C8B-B14F-4D97-AF65-F5344CB8AC3E}">
        <p14:creationId xmlns:p14="http://schemas.microsoft.com/office/powerpoint/2010/main" val="427383407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800" dirty="0"/>
              <a:t>1.</a:t>
            </a:r>
            <a:r>
              <a:rPr lang="zh-CN" altLang="en-US" sz="4000" dirty="0"/>
              <a:t>按功能位置分类：</a:t>
            </a:r>
            <a:endParaRPr lang="en-US" altLang="zh-CN" sz="4000" dirty="0"/>
          </a:p>
          <a:p>
            <a:pPr lvl="0"/>
            <a:r>
              <a:rPr lang="en-US" altLang="zh-CN" sz="1800" kern="1200" dirty="0">
                <a:solidFill>
                  <a:schemeClr val="tx1"/>
                </a:solidFill>
                <a:latin typeface="+mn-lt"/>
                <a:ea typeface="+mn-ea"/>
                <a:cs typeface="+mn-cs"/>
              </a:rPr>
              <a:t>1</a:t>
            </a:r>
            <a:r>
              <a:rPr lang="zh-CN" altLang="en-US" sz="1800" kern="1200" dirty="0">
                <a:solidFill>
                  <a:schemeClr val="tx1"/>
                </a:solidFill>
                <a:latin typeface="+mn-lt"/>
                <a:ea typeface="+mn-ea"/>
                <a:cs typeface="+mn-cs"/>
              </a:rPr>
              <a:t>）</a:t>
            </a:r>
            <a:r>
              <a:rPr lang="en-US" altLang="zh-CN" sz="1800" kern="1200" dirty="0">
                <a:solidFill>
                  <a:schemeClr val="tx1"/>
                </a:solidFill>
                <a:latin typeface="+mn-lt"/>
                <a:ea typeface="+mn-ea"/>
                <a:cs typeface="+mn-cs"/>
              </a:rPr>
              <a:t>CPE-based VPN</a:t>
            </a:r>
            <a:r>
              <a:rPr lang="zh-CN" altLang="en-US" sz="1800" kern="1200" dirty="0">
                <a:solidFill>
                  <a:schemeClr val="tx1"/>
                </a:solidFill>
                <a:latin typeface="+mn-lt"/>
                <a:ea typeface="+mn-ea"/>
                <a:cs typeface="+mn-cs"/>
              </a:rPr>
              <a:t>（基于客户端设备）： 设备放置在用户侧</a:t>
            </a:r>
            <a:r>
              <a:rPr lang="en-US" altLang="zh-CN" sz="1800" kern="1200" dirty="0">
                <a:solidFill>
                  <a:schemeClr val="tx1"/>
                </a:solidFill>
                <a:latin typeface="+mn-lt"/>
                <a:ea typeface="+mn-ea"/>
                <a:cs typeface="+mn-cs"/>
              </a:rPr>
              <a:t>(Custom Premise Equipment)</a:t>
            </a:r>
            <a:r>
              <a:rPr lang="zh-CN" altLang="en-US" sz="1800" kern="1200" dirty="0">
                <a:solidFill>
                  <a:schemeClr val="tx1"/>
                </a:solidFill>
                <a:latin typeface="+mn-lt"/>
                <a:ea typeface="+mn-ea"/>
                <a:cs typeface="+mn-cs"/>
              </a:rPr>
              <a:t>由用户管理或委托运营商进行管理。通常使用软件</a:t>
            </a:r>
            <a:r>
              <a:rPr lang="zh-CN" altLang="en-US" sz="2800" b="0" i="0" dirty="0">
                <a:solidFill>
                  <a:srgbClr val="222222"/>
                </a:solidFill>
                <a:effectLst/>
                <a:latin typeface="microsoft yahei" panose="020B0503020204020204" pitchFamily="34" charset="-122"/>
                <a:ea typeface="microsoft yahei" panose="020B0503020204020204" pitchFamily="34" charset="-122"/>
              </a:rPr>
              <a:t>在单个用户和远程网络之间创建的虚拟专用网络，</a:t>
            </a:r>
            <a:r>
              <a:rPr lang="en-US" altLang="zh-CN" sz="2800" b="0" i="0" dirty="0">
                <a:solidFill>
                  <a:srgbClr val="222222"/>
                </a:solidFill>
                <a:effectLst/>
                <a:latin typeface="microsoft yahei" panose="020B0503020204020204" pitchFamily="34" charset="-122"/>
                <a:ea typeface="microsoft yahei" panose="020B0503020204020204" pitchFamily="34" charset="-122"/>
              </a:rPr>
              <a:t>Windows</a:t>
            </a:r>
            <a:r>
              <a:rPr lang="zh-CN" altLang="en-US" sz="2800" b="0" i="0" dirty="0">
                <a:solidFill>
                  <a:srgbClr val="222222"/>
                </a:solidFill>
                <a:effectLst/>
                <a:latin typeface="microsoft yahei" panose="020B0503020204020204" pitchFamily="34" charset="-122"/>
                <a:ea typeface="microsoft yahei" panose="020B0503020204020204" pitchFamily="34" charset="-122"/>
              </a:rPr>
              <a:t>，</a:t>
            </a:r>
            <a:r>
              <a:rPr lang="en-US" altLang="zh-CN" sz="2800" b="0" i="0" dirty="0">
                <a:solidFill>
                  <a:srgbClr val="222222"/>
                </a:solidFill>
                <a:effectLst/>
                <a:latin typeface="microsoft yahei" panose="020B0503020204020204" pitchFamily="34" charset="-122"/>
                <a:ea typeface="microsoft yahei" panose="020B0503020204020204" pitchFamily="34" charset="-122"/>
              </a:rPr>
              <a:t>Mac</a:t>
            </a:r>
            <a:r>
              <a:rPr lang="zh-CN" altLang="en-US" sz="2800" b="0" i="0" dirty="0">
                <a:solidFill>
                  <a:srgbClr val="222222"/>
                </a:solidFill>
                <a:effectLst/>
                <a:latin typeface="microsoft yahei" panose="020B0503020204020204" pitchFamily="34" charset="-122"/>
                <a:ea typeface="microsoft yahei" panose="020B0503020204020204" pitchFamily="34" charset="-122"/>
              </a:rPr>
              <a:t>和移动操作系统通常内置有基于标准的</a:t>
            </a:r>
            <a:r>
              <a:rPr lang="en-US" altLang="zh-CN" sz="2800" b="0" i="0" dirty="0">
                <a:solidFill>
                  <a:srgbClr val="222222"/>
                </a:solidFill>
                <a:effectLst/>
                <a:latin typeface="microsoft yahei" panose="020B0503020204020204" pitchFamily="34" charset="-122"/>
                <a:ea typeface="microsoft yahei" panose="020B0503020204020204" pitchFamily="34" charset="-122"/>
              </a:rPr>
              <a:t>VPN</a:t>
            </a:r>
            <a:r>
              <a:rPr lang="zh-CN" altLang="en-US" sz="2800" b="0" i="0" dirty="0">
                <a:solidFill>
                  <a:srgbClr val="222222"/>
                </a:solidFill>
                <a:effectLst/>
                <a:latin typeface="microsoft yahei" panose="020B0503020204020204" pitchFamily="34" charset="-122"/>
                <a:ea typeface="microsoft yahei" panose="020B0503020204020204" pitchFamily="34" charset="-122"/>
              </a:rPr>
              <a:t>客户端选项。常用的隧道协议有</a:t>
            </a:r>
            <a:r>
              <a:rPr lang="en-US" altLang="zh-CN" sz="2800" b="0" i="0" dirty="0">
                <a:solidFill>
                  <a:srgbClr val="222222"/>
                </a:solidFill>
                <a:effectLst/>
                <a:latin typeface="microsoft yahei" panose="020B0503020204020204" pitchFamily="34" charset="-122"/>
                <a:ea typeface="microsoft yahei" panose="020B0503020204020204" pitchFamily="34" charset="-122"/>
              </a:rPr>
              <a:t>L2TP</a:t>
            </a:r>
            <a:r>
              <a:rPr lang="zh-CN" altLang="en-US" sz="2800" b="0" i="0" dirty="0">
                <a:solidFill>
                  <a:srgbClr val="222222"/>
                </a:solidFill>
                <a:effectLst/>
                <a:latin typeface="microsoft yahei" panose="020B0503020204020204" pitchFamily="34" charset="-122"/>
                <a:ea typeface="microsoft yahei" panose="020B0503020204020204" pitchFamily="34" charset="-122"/>
              </a:rPr>
              <a:t>（拨号接入）、</a:t>
            </a:r>
            <a:r>
              <a:rPr lang="en-US" altLang="zh-CN" sz="2800" b="0" i="0" dirty="0">
                <a:solidFill>
                  <a:srgbClr val="222222"/>
                </a:solidFill>
                <a:effectLst/>
                <a:latin typeface="microsoft yahei" panose="020B0503020204020204" pitchFamily="34" charset="-122"/>
                <a:ea typeface="microsoft yahei" panose="020B0503020204020204" pitchFamily="34" charset="-122"/>
              </a:rPr>
              <a:t>SSL</a:t>
            </a:r>
            <a:r>
              <a:rPr lang="zh-CN" altLang="en-US" sz="2800" b="0" i="0" dirty="0">
                <a:solidFill>
                  <a:srgbClr val="222222"/>
                </a:solidFill>
                <a:effectLst/>
                <a:latin typeface="microsoft yahei" panose="020B0503020204020204" pitchFamily="34" charset="-122"/>
                <a:ea typeface="microsoft yahei" panose="020B0503020204020204" pitchFamily="34" charset="-122"/>
              </a:rPr>
              <a:t>（以太接入）等。</a:t>
            </a:r>
            <a:r>
              <a:rPr lang="zh-CN" altLang="en-US" sz="4000" b="0" i="0" dirty="0">
                <a:solidFill>
                  <a:srgbClr val="222222"/>
                </a:solidFill>
                <a:effectLst/>
                <a:latin typeface="microsoft yahei" panose="020B0503020204020204" pitchFamily="34" charset="-122"/>
                <a:ea typeface="microsoft yahei" panose="020B0503020204020204" pitchFamily="34" charset="-122"/>
              </a:rPr>
              <a:t>基于客户端的</a:t>
            </a:r>
            <a:r>
              <a:rPr lang="en-US" altLang="zh-CN" sz="4000" b="0" i="0" dirty="0">
                <a:solidFill>
                  <a:srgbClr val="222222"/>
                </a:solidFill>
                <a:effectLst/>
                <a:latin typeface="microsoft yahei" panose="020B0503020204020204" pitchFamily="34" charset="-122"/>
                <a:ea typeface="microsoft yahei" panose="020B0503020204020204" pitchFamily="34" charset="-122"/>
              </a:rPr>
              <a:t>VPN</a:t>
            </a:r>
            <a:r>
              <a:rPr lang="zh-CN" altLang="en-US" sz="4000" b="0" i="0" dirty="0">
                <a:solidFill>
                  <a:srgbClr val="222222"/>
                </a:solidFill>
                <a:effectLst/>
                <a:latin typeface="microsoft yahei" panose="020B0503020204020204" pitchFamily="34" charset="-122"/>
                <a:ea typeface="microsoft yahei" panose="020B0503020204020204" pitchFamily="34" charset="-122"/>
              </a:rPr>
              <a:t>应用程序使用户可以轻松地将笔记本电脑或移动设备从任何地方连接到您的私有资源。</a:t>
            </a:r>
            <a:endParaRPr lang="en-US" altLang="zh-CN" sz="2800" b="0" i="0" dirty="0">
              <a:solidFill>
                <a:srgbClr val="222222"/>
              </a:solidFill>
              <a:effectLst/>
              <a:latin typeface="microsoft yahei" panose="020B0503020204020204" pitchFamily="34" charset="-122"/>
              <a:ea typeface="microsoft yahei" panose="020B0503020204020204" pitchFamily="34" charset="-122"/>
            </a:endParaRPr>
          </a:p>
          <a:p>
            <a:pPr lvl="0"/>
            <a:r>
              <a:rPr lang="en-US" altLang="zh-CN" sz="1800" kern="1200" dirty="0">
                <a:solidFill>
                  <a:schemeClr val="tx1"/>
                </a:solidFill>
                <a:latin typeface="+mn-lt"/>
                <a:ea typeface="+mn-ea"/>
                <a:cs typeface="+mn-cs"/>
              </a:rPr>
              <a:t>2</a:t>
            </a:r>
            <a:r>
              <a:rPr lang="zh-CN" altLang="en-US" sz="1800" kern="1200" dirty="0">
                <a:solidFill>
                  <a:schemeClr val="tx1"/>
                </a:solidFill>
                <a:latin typeface="+mn-lt"/>
                <a:ea typeface="+mn-ea"/>
                <a:cs typeface="+mn-cs"/>
              </a:rPr>
              <a:t>）</a:t>
            </a:r>
            <a:r>
              <a:rPr lang="en-US" altLang="zh-CN" sz="1800" kern="1200" dirty="0">
                <a:solidFill>
                  <a:schemeClr val="tx1"/>
                </a:solidFill>
                <a:latin typeface="+mn-lt"/>
                <a:ea typeface="+mn-ea"/>
                <a:cs typeface="+mn-cs"/>
              </a:rPr>
              <a:t>Network-based VPN</a:t>
            </a:r>
            <a:r>
              <a:rPr lang="zh-CN" altLang="en-US" sz="1800" kern="1200" dirty="0">
                <a:solidFill>
                  <a:schemeClr val="tx1"/>
                </a:solidFill>
                <a:latin typeface="+mn-lt"/>
                <a:ea typeface="+mn-ea"/>
                <a:cs typeface="+mn-cs"/>
              </a:rPr>
              <a:t>（基于网络）：</a:t>
            </a:r>
            <a:r>
              <a:rPr lang="zh-CN" altLang="en-US" sz="4000" b="0" i="0" dirty="0">
                <a:solidFill>
                  <a:srgbClr val="454545"/>
                </a:solidFill>
                <a:effectLst/>
                <a:latin typeface="Microsoft Yahei" panose="020B0503020204020204" pitchFamily="34" charset="-122"/>
                <a:ea typeface="Microsoft Yahei" panose="020B0503020204020204" pitchFamily="34" charset="-122"/>
              </a:rPr>
              <a:t>设备放置在运营商网络侧，用户设备不需要感知</a:t>
            </a:r>
            <a:r>
              <a:rPr lang="en-US" altLang="zh-CN" sz="4000" b="0" i="0" dirty="0">
                <a:solidFill>
                  <a:srgbClr val="454545"/>
                </a:solidFill>
                <a:effectLst/>
                <a:latin typeface="Microsoft Yahei" panose="020B0503020204020204" pitchFamily="34" charset="-122"/>
                <a:ea typeface="Microsoft Yahei" panose="020B0503020204020204" pitchFamily="34" charset="-122"/>
              </a:rPr>
              <a:t>VPN</a:t>
            </a:r>
            <a:r>
              <a:rPr lang="zh-CN" altLang="en-US" sz="4000" b="0" i="0" dirty="0">
                <a:solidFill>
                  <a:srgbClr val="454545"/>
                </a:solidFill>
                <a:effectLst/>
                <a:latin typeface="Microsoft Yahei" panose="020B0503020204020204" pitchFamily="34" charset="-122"/>
                <a:ea typeface="Microsoft Yahei" panose="020B0503020204020204" pitchFamily="34" charset="-122"/>
              </a:rPr>
              <a:t>，由运营商管理，</a:t>
            </a:r>
            <a:r>
              <a:rPr lang="zh-CN" altLang="en-US" sz="2800" b="0" i="0" dirty="0">
                <a:solidFill>
                  <a:srgbClr val="222222"/>
                </a:solidFill>
                <a:effectLst/>
                <a:latin typeface="microsoft yahei" panose="020B0503020204020204" pitchFamily="34" charset="-122"/>
                <a:ea typeface="microsoft yahei" panose="020B0503020204020204" pitchFamily="34" charset="-122"/>
              </a:rPr>
              <a:t>可跨不信任的网络将两个网络安全地连接在一起。最常用的就是基于</a:t>
            </a:r>
            <a:r>
              <a:rPr lang="en-US" altLang="zh-CN" sz="2800" b="0" i="0" dirty="0" err="1">
                <a:solidFill>
                  <a:srgbClr val="222222"/>
                </a:solidFill>
                <a:effectLst/>
                <a:latin typeface="microsoft yahei" panose="020B0503020204020204" pitchFamily="34" charset="-122"/>
                <a:ea typeface="microsoft yahei" panose="020B0503020204020204" pitchFamily="34" charset="-122"/>
              </a:rPr>
              <a:t>IPSec</a:t>
            </a:r>
            <a:r>
              <a:rPr lang="zh-CN" altLang="en-US" sz="2800" b="0" i="0" dirty="0">
                <a:solidFill>
                  <a:srgbClr val="222222"/>
                </a:solidFill>
                <a:effectLst/>
                <a:latin typeface="microsoft yahei" panose="020B0503020204020204" pitchFamily="34" charset="-122"/>
                <a:ea typeface="microsoft yahei" panose="020B0503020204020204" pitchFamily="34" charset="-122"/>
              </a:rPr>
              <a:t>的</a:t>
            </a:r>
            <a:r>
              <a:rPr lang="en-US" altLang="zh-CN" sz="2800" b="0" i="0" dirty="0">
                <a:solidFill>
                  <a:srgbClr val="222222"/>
                </a:solidFill>
                <a:effectLst/>
                <a:latin typeface="microsoft yahei" panose="020B0503020204020204" pitchFamily="34" charset="-122"/>
                <a:ea typeface="microsoft yahei" panose="020B0503020204020204" pitchFamily="34" charset="-122"/>
              </a:rPr>
              <a:t>WAN</a:t>
            </a:r>
            <a:r>
              <a:rPr lang="zh-CN" altLang="en-US" sz="2800" b="0" i="0" dirty="0">
                <a:solidFill>
                  <a:srgbClr val="222222"/>
                </a:solidFill>
                <a:effectLst/>
                <a:latin typeface="microsoft yahei" panose="020B0503020204020204" pitchFamily="34" charset="-122"/>
                <a:ea typeface="microsoft yahei" panose="020B0503020204020204" pitchFamily="34" charset="-122"/>
              </a:rPr>
              <a:t>，也有用基于</a:t>
            </a:r>
            <a:r>
              <a:rPr lang="en-US" altLang="zh-CN" sz="2800" b="0" i="0" dirty="0">
                <a:solidFill>
                  <a:srgbClr val="222222"/>
                </a:solidFill>
                <a:effectLst/>
                <a:latin typeface="microsoft yahei" panose="020B0503020204020204" pitchFamily="34" charset="-122"/>
                <a:ea typeface="microsoft yahei" panose="020B0503020204020204" pitchFamily="34" charset="-122"/>
              </a:rPr>
              <a:t>GRE</a:t>
            </a:r>
            <a:r>
              <a:rPr lang="zh-CN" altLang="en-US" sz="2800" b="0" i="0" dirty="0">
                <a:solidFill>
                  <a:srgbClr val="222222"/>
                </a:solidFill>
                <a:effectLst/>
                <a:latin typeface="microsoft yahei" panose="020B0503020204020204" pitchFamily="34" charset="-122"/>
                <a:ea typeface="microsoft yahei" panose="020B0503020204020204" pitchFamily="34" charset="-122"/>
              </a:rPr>
              <a:t>或</a:t>
            </a:r>
            <a:r>
              <a:rPr lang="en-US" altLang="zh-CN" sz="2800" b="0" i="0" dirty="0">
                <a:solidFill>
                  <a:srgbClr val="222222"/>
                </a:solidFill>
                <a:effectLst/>
                <a:latin typeface="microsoft yahei" panose="020B0503020204020204" pitchFamily="34" charset="-122"/>
                <a:ea typeface="microsoft yahei" panose="020B0503020204020204" pitchFamily="34" charset="-122"/>
              </a:rPr>
              <a:t>MPLS</a:t>
            </a:r>
            <a:r>
              <a:rPr lang="zh-CN" altLang="en-US" sz="2800" b="0" i="0" dirty="0">
                <a:solidFill>
                  <a:srgbClr val="222222"/>
                </a:solidFill>
                <a:effectLst/>
                <a:latin typeface="microsoft yahei" panose="020B0503020204020204" pitchFamily="34" charset="-122"/>
                <a:ea typeface="microsoft yahei" panose="020B0503020204020204" pitchFamily="34" charset="-122"/>
              </a:rPr>
              <a:t>的隧道。</a:t>
            </a:r>
            <a:endParaRPr lang="zh-CN" altLang="en-US" sz="1800" kern="1200" dirty="0">
              <a:solidFill>
                <a:schemeClr val="tx1"/>
              </a:solidFill>
              <a:latin typeface="+mn-lt"/>
              <a:ea typeface="+mn-ea"/>
              <a:cs typeface="+mn-cs"/>
            </a:endParaRPr>
          </a:p>
          <a:p>
            <a:r>
              <a:rPr lang="en-US" altLang="zh-CN" sz="1800" dirty="0"/>
              <a:t>2.</a:t>
            </a:r>
            <a:r>
              <a:rPr lang="zh-CN" altLang="en-US" sz="1800" dirty="0"/>
              <a:t>按</a:t>
            </a:r>
            <a:r>
              <a:rPr lang="en-US" altLang="zh-CN" sz="1800" dirty="0"/>
              <a:t>VPN</a:t>
            </a:r>
            <a:r>
              <a:rPr lang="zh-CN" altLang="en-US" sz="1800" dirty="0"/>
              <a:t>的业务构成分类：</a:t>
            </a:r>
            <a:endParaRPr lang="en-US" altLang="zh-CN" sz="1800" dirty="0"/>
          </a:p>
          <a:p>
            <a:r>
              <a:rPr lang="en-US" altLang="zh-CN" sz="1800" dirty="0"/>
              <a:t>1) Access VPN</a:t>
            </a:r>
            <a:r>
              <a:rPr lang="zh-CN" altLang="en-US" sz="1800" dirty="0"/>
              <a:t>（远程接入</a:t>
            </a:r>
            <a:r>
              <a:rPr lang="en-US" altLang="zh-CN" sz="1800" dirty="0"/>
              <a:t>VPN</a:t>
            </a:r>
            <a:r>
              <a:rPr lang="zh-CN" altLang="en-US" sz="1800" dirty="0"/>
              <a:t>）：客户端到网关，使用公网作为骨干网在设备之间传输</a:t>
            </a:r>
            <a:r>
              <a:rPr lang="en-US" altLang="zh-CN" sz="1800" dirty="0"/>
              <a:t>VPN</a:t>
            </a:r>
            <a:r>
              <a:rPr lang="zh-CN" altLang="en-US" sz="1800" dirty="0"/>
              <a:t>的数据流量 </a:t>
            </a:r>
            <a:endParaRPr lang="en-US" altLang="zh-CN" sz="1800" dirty="0"/>
          </a:p>
          <a:p>
            <a:r>
              <a:rPr lang="en-US" altLang="zh-CN" sz="1800" dirty="0"/>
              <a:t>2) Intranet VPN</a:t>
            </a:r>
            <a:r>
              <a:rPr lang="zh-CN" altLang="en-US" sz="1800" dirty="0"/>
              <a:t>（内联网</a:t>
            </a:r>
            <a:r>
              <a:rPr lang="en-US" altLang="zh-CN" sz="1800" dirty="0"/>
              <a:t>VPN</a:t>
            </a:r>
            <a:r>
              <a:rPr lang="zh-CN" altLang="en-US" sz="1800" dirty="0"/>
              <a:t>）：网关到网关，通过公司的网络架构连接来自同公司的资源</a:t>
            </a:r>
            <a:endParaRPr lang="en-US" altLang="zh-CN" sz="1800" dirty="0"/>
          </a:p>
          <a:p>
            <a:r>
              <a:rPr lang="en-US" altLang="zh-CN" sz="1800" dirty="0"/>
              <a:t>3) Extranet VPN</a:t>
            </a:r>
            <a:r>
              <a:rPr lang="zh-CN" altLang="en-US" sz="1800" dirty="0"/>
              <a:t>（外联网</a:t>
            </a:r>
            <a:r>
              <a:rPr lang="en-US" altLang="zh-CN" sz="1800" dirty="0"/>
              <a:t>VPN</a:t>
            </a:r>
            <a:r>
              <a:rPr lang="zh-CN" altLang="en-US" sz="1800" dirty="0"/>
              <a:t>）：与合作伙伴企业网构成</a:t>
            </a:r>
            <a:r>
              <a:rPr lang="en-US" altLang="zh-CN" sz="1800" dirty="0"/>
              <a:t>Extranet,</a:t>
            </a:r>
            <a:r>
              <a:rPr lang="zh-CN" altLang="en-US" sz="1800" dirty="0"/>
              <a:t>将一个公司与另一个公司的资源进行连接 </a:t>
            </a:r>
            <a:endParaRPr lang="en-US" altLang="zh-CN" sz="1800" dirty="0"/>
          </a:p>
          <a:p>
            <a:r>
              <a:rPr lang="en-US" altLang="zh-CN" sz="1800" dirty="0"/>
              <a:t>3.</a:t>
            </a:r>
            <a:r>
              <a:rPr lang="zh-CN" altLang="en-US" sz="1800" dirty="0"/>
              <a:t>按实现层次分类：指构建隧道时使用的隧道封装协议是第几层的协议</a:t>
            </a:r>
            <a:endParaRPr lang="en-US" altLang="zh-CN" sz="1800" dirty="0"/>
          </a:p>
          <a:p>
            <a:r>
              <a:rPr lang="en-US" altLang="zh-CN" sz="1800" dirty="0"/>
              <a:t>4.</a:t>
            </a:r>
            <a:r>
              <a:rPr lang="zh-CN" altLang="en-US" sz="2800" dirty="0"/>
              <a:t>按组网模型分类：</a:t>
            </a:r>
            <a:endParaRPr lang="en-US" altLang="zh-CN" sz="2800" dirty="0"/>
          </a:p>
          <a:p>
            <a:pPr marL="0" indent="0">
              <a:buNone/>
            </a:pPr>
            <a:r>
              <a:rPr lang="en-US" altLang="zh-CN" sz="1800" dirty="0"/>
              <a:t>1)VPDN</a:t>
            </a:r>
            <a:r>
              <a:rPr lang="zh-CN" altLang="en-US" sz="1800" dirty="0"/>
              <a:t>：在中国宽带互联网基础上开放的基于拨号方式的虚拟专有网络业务。它向用户提供采用</a:t>
            </a:r>
            <a:r>
              <a:rPr lang="en-US" altLang="zh-CN" sz="1800" dirty="0"/>
              <a:t>PSTN</a:t>
            </a:r>
            <a:r>
              <a:rPr lang="zh-CN" altLang="en-US" sz="1800" dirty="0"/>
              <a:t>、</a:t>
            </a:r>
            <a:r>
              <a:rPr lang="en-US" altLang="zh-CN" sz="1800" dirty="0"/>
              <a:t>ISDN</a:t>
            </a:r>
            <a:r>
              <a:rPr lang="zh-CN" altLang="en-US" sz="1800" dirty="0"/>
              <a:t>、</a:t>
            </a:r>
            <a:r>
              <a:rPr lang="en-US" altLang="zh-CN" sz="1800" dirty="0"/>
              <a:t>XDSL</a:t>
            </a:r>
            <a:r>
              <a:rPr lang="zh-CN" altLang="en-US" sz="1800" dirty="0"/>
              <a:t>、电缆或无线以拨号方式接入中国宽带互联网，采用专用的网络加密和通信协议，可以使企业在公共网络上构建一条虚拟的、不受外界干扰的专用通道，从而安全访问企业网内部数据资源的业务。</a:t>
            </a:r>
            <a:endParaRPr lang="en-US" altLang="zh-CN" sz="1800" dirty="0"/>
          </a:p>
          <a:p>
            <a:pPr marL="457200" lvl="1" indent="0">
              <a:buNone/>
            </a:pPr>
            <a:r>
              <a:rPr lang="zh-CN" altLang="en-US" sz="1800" dirty="0"/>
              <a:t>特点：</a:t>
            </a:r>
            <a:endParaRPr lang="en-US" altLang="zh-CN" sz="1800" dirty="0"/>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1</a:t>
            </a:r>
            <a:r>
              <a:rPr lang="zh-CN" altLang="en-US" sz="2800" b="0" i="0" dirty="0">
                <a:solidFill>
                  <a:srgbClr val="333333"/>
                </a:solidFill>
                <a:effectLst/>
                <a:latin typeface="arial" panose="020B0604020202020204" pitchFamily="34" charset="0"/>
              </a:rPr>
              <a:t>）方便：企业总部业务平台搭建在互联网上，所属用户在能够登录互联网的地方使用</a:t>
            </a:r>
            <a:r>
              <a:rPr lang="en-US" altLang="zh-CN" sz="2800" b="0" i="0" dirty="0">
                <a:solidFill>
                  <a:srgbClr val="333333"/>
                </a:solidFill>
                <a:effectLst/>
                <a:latin typeface="arial" panose="020B0604020202020204" pitchFamily="34" charset="0"/>
              </a:rPr>
              <a:t>VPDN</a:t>
            </a:r>
            <a:r>
              <a:rPr lang="zh-CN" altLang="en-US" sz="2800" b="0" i="0" dirty="0">
                <a:solidFill>
                  <a:srgbClr val="333333"/>
                </a:solidFill>
                <a:effectLst/>
                <a:latin typeface="arial" panose="020B0604020202020204" pitchFamily="34" charset="0"/>
              </a:rPr>
              <a:t>业务，就能够登录企业内网进行办公。</a:t>
            </a:r>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2</a:t>
            </a:r>
            <a:r>
              <a:rPr lang="zh-CN" altLang="en-US" sz="2800" b="0" i="0" dirty="0">
                <a:solidFill>
                  <a:srgbClr val="333333"/>
                </a:solidFill>
                <a:effectLst/>
                <a:latin typeface="arial" panose="020B0604020202020204" pitchFamily="34" charset="0"/>
              </a:rPr>
              <a:t>）可靠：远端用户与企业网关之间是面向连接的，并且拨号接入服务器采用独立设备，保证</a:t>
            </a:r>
            <a:r>
              <a:rPr lang="en-US" altLang="zh-CN" sz="2800" b="0" i="0" dirty="0">
                <a:solidFill>
                  <a:srgbClr val="333333"/>
                </a:solidFill>
                <a:effectLst/>
                <a:latin typeface="arial" panose="020B0604020202020204" pitchFamily="34" charset="0"/>
              </a:rPr>
              <a:t>VPDN</a:t>
            </a:r>
            <a:r>
              <a:rPr lang="zh-CN" altLang="en-US" sz="2800" b="0" i="0" dirty="0">
                <a:solidFill>
                  <a:srgbClr val="333333"/>
                </a:solidFill>
                <a:effectLst/>
                <a:latin typeface="arial" panose="020B0604020202020204" pitchFamily="34" charset="0"/>
              </a:rPr>
              <a:t>连接稳定可靠。</a:t>
            </a:r>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3</a:t>
            </a:r>
            <a:r>
              <a:rPr lang="zh-CN" altLang="en-US" sz="2800" b="0" i="0" dirty="0">
                <a:solidFill>
                  <a:srgbClr val="333333"/>
                </a:solidFill>
                <a:effectLst/>
                <a:latin typeface="arial" panose="020B0604020202020204" pitchFamily="34" charset="0"/>
              </a:rPr>
              <a:t>）安全：由于采用了先进的虚拟通道技术和两次认证手段，所以传送的文件资料信息不会被人检测窃取。</a:t>
            </a:r>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4</a:t>
            </a:r>
            <a:r>
              <a:rPr lang="zh-CN" altLang="en-US" sz="2800" b="0" i="0" dirty="0">
                <a:solidFill>
                  <a:srgbClr val="333333"/>
                </a:solidFill>
                <a:effectLst/>
                <a:latin typeface="arial" panose="020B0604020202020204" pitchFamily="34" charset="0"/>
              </a:rPr>
              <a:t>）自助：企业可以自行管理所属拨号用户，进行开户、销户、设置用户权限的操作。</a:t>
            </a:r>
            <a:r>
              <a:rPr lang="en-US" altLang="zh-CN" sz="2800" b="0" i="0" baseline="30000" dirty="0">
                <a:solidFill>
                  <a:srgbClr val="3366CC"/>
                </a:solidFill>
                <a:effectLst/>
                <a:latin typeface="arial" panose="020B0604020202020204" pitchFamily="34" charset="0"/>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适用范围：</a:t>
            </a:r>
            <a:endParaRPr lang="en-US" altLang="zh-CN" sz="4000" b="0" i="0" dirty="0">
              <a:solidFill>
                <a:srgbClr val="000000"/>
              </a:solidFill>
              <a:effectLst/>
              <a:latin typeface="Microsoft YaHei" panose="020B0503020204020204" pitchFamily="34" charset="-122"/>
              <a:ea typeface="Microsoft YaHei" panose="020B0503020204020204" pitchFamily="34" charset="-122"/>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a:t>
            </a:r>
            <a:r>
              <a:rPr lang="en-US" altLang="zh-CN" sz="4000" b="0" i="0" dirty="0">
                <a:solidFill>
                  <a:srgbClr val="000000"/>
                </a:solidFill>
                <a:effectLst/>
                <a:latin typeface="Microsoft YaHei" panose="020B0503020204020204" pitchFamily="34" charset="-122"/>
                <a:ea typeface="Microsoft YaHei" panose="020B0503020204020204" pitchFamily="34" charset="-122"/>
              </a:rPr>
              <a:t>1</a:t>
            </a:r>
            <a:r>
              <a:rPr lang="zh-CN" altLang="en-US" sz="4000" b="0" i="0" dirty="0">
                <a:solidFill>
                  <a:srgbClr val="000000"/>
                </a:solidFill>
                <a:effectLst/>
                <a:latin typeface="Microsoft YaHei" panose="020B0503020204020204" pitchFamily="34" charset="-122"/>
                <a:ea typeface="Microsoft YaHei" panose="020B0503020204020204" pitchFamily="34" charset="-122"/>
              </a:rPr>
              <a:t>）企业、政府部门等远程接入和移动办公。</a:t>
            </a: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a:t>
            </a:r>
            <a:r>
              <a:rPr lang="en-US" altLang="zh-CN" sz="4000" b="0" i="0" dirty="0">
                <a:solidFill>
                  <a:srgbClr val="000000"/>
                </a:solidFill>
                <a:effectLst/>
                <a:latin typeface="Microsoft YaHei" panose="020B0503020204020204" pitchFamily="34" charset="-122"/>
                <a:ea typeface="Microsoft YaHei" panose="020B0503020204020204" pitchFamily="34" charset="-122"/>
              </a:rPr>
              <a:t>2</a:t>
            </a:r>
            <a:r>
              <a:rPr lang="zh-CN" altLang="en-US" sz="4000" b="0" i="0" dirty="0">
                <a:solidFill>
                  <a:srgbClr val="000000"/>
                </a:solidFill>
                <a:effectLst/>
                <a:latin typeface="Microsoft YaHei" panose="020B0503020204020204" pitchFamily="34" charset="-122"/>
                <a:ea typeface="Microsoft YaHei" panose="020B0503020204020204" pitchFamily="34" charset="-122"/>
              </a:rPr>
              <a:t>）企业利用中国电信网络组建最大范围的企业外联网。</a:t>
            </a: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a:t>
            </a:r>
            <a:r>
              <a:rPr lang="en-US" altLang="zh-CN" sz="4000" b="0" i="0" dirty="0">
                <a:solidFill>
                  <a:srgbClr val="000000"/>
                </a:solidFill>
                <a:effectLst/>
                <a:latin typeface="Microsoft YaHei" panose="020B0503020204020204" pitchFamily="34" charset="-122"/>
                <a:ea typeface="Microsoft YaHei" panose="020B0503020204020204" pitchFamily="34" charset="-122"/>
              </a:rPr>
              <a:t>3</a:t>
            </a:r>
            <a:r>
              <a:rPr lang="zh-CN" altLang="en-US" sz="4000" b="0" i="0" dirty="0">
                <a:solidFill>
                  <a:srgbClr val="000000"/>
                </a:solidFill>
                <a:effectLst/>
                <a:latin typeface="Microsoft YaHei" panose="020B0503020204020204" pitchFamily="34" charset="-122"/>
                <a:ea typeface="Microsoft YaHei" panose="020B0503020204020204" pitchFamily="34" charset="-122"/>
              </a:rPr>
              <a:t>）互联网接入服务商（</a:t>
            </a:r>
            <a:r>
              <a:rPr lang="en-US" altLang="zh-CN" sz="4000" b="0" i="0" dirty="0">
                <a:solidFill>
                  <a:srgbClr val="000000"/>
                </a:solidFill>
                <a:effectLst/>
                <a:latin typeface="Microsoft YaHei" panose="020B0503020204020204" pitchFamily="34" charset="-122"/>
                <a:ea typeface="Microsoft YaHei" panose="020B0503020204020204" pitchFamily="34" charset="-122"/>
              </a:rPr>
              <a:t>ISP</a:t>
            </a:r>
            <a:r>
              <a:rPr lang="zh-CN" altLang="en-US" sz="4000" b="0" i="0" dirty="0">
                <a:solidFill>
                  <a:srgbClr val="000000"/>
                </a:solidFill>
                <a:effectLst/>
                <a:latin typeface="Microsoft YaHei" panose="020B0503020204020204" pitchFamily="34" charset="-122"/>
                <a:ea typeface="Microsoft YaHei" panose="020B0503020204020204" pitchFamily="34" charset="-122"/>
              </a:rPr>
              <a:t>）、应用服务提供商（</a:t>
            </a:r>
            <a:r>
              <a:rPr lang="en-US" altLang="zh-CN" sz="4000" b="0" i="0" dirty="0">
                <a:solidFill>
                  <a:srgbClr val="000000"/>
                </a:solidFill>
                <a:effectLst/>
                <a:latin typeface="Microsoft YaHei" panose="020B0503020204020204" pitchFamily="34" charset="-122"/>
                <a:ea typeface="Microsoft YaHei" panose="020B0503020204020204" pitchFamily="34" charset="-122"/>
              </a:rPr>
              <a:t>ASP</a:t>
            </a:r>
            <a:r>
              <a:rPr lang="zh-CN" altLang="en-US" sz="4000" b="0" i="0" dirty="0">
                <a:solidFill>
                  <a:srgbClr val="000000"/>
                </a:solidFill>
                <a:effectLst/>
                <a:latin typeface="Microsoft YaHei" panose="020B0503020204020204" pitchFamily="34" charset="-122"/>
                <a:ea typeface="Microsoft YaHei" panose="020B0503020204020204" pitchFamily="34" charset="-122"/>
              </a:rPr>
              <a:t>）利用公共平台开展增值业务。</a:t>
            </a:r>
          </a:p>
          <a:p>
            <a:pPr marL="0" indent="0">
              <a:buNone/>
            </a:pPr>
            <a:endParaRPr lang="en-US" altLang="zh-CN" sz="1800" dirty="0"/>
          </a:p>
          <a:p>
            <a:pPr marL="0" indent="0">
              <a:buNone/>
            </a:pPr>
            <a:r>
              <a:rPr lang="en-US" altLang="zh-CN" sz="1800" dirty="0"/>
              <a:t>2) VPRN</a:t>
            </a:r>
            <a:r>
              <a:rPr lang="zh-CN" altLang="en-US" sz="1800" dirty="0"/>
              <a:t>：用于</a:t>
            </a:r>
            <a:r>
              <a:rPr lang="zh-CN" altLang="en-US" sz="2800" b="0" i="0" dirty="0">
                <a:solidFill>
                  <a:srgbClr val="333333"/>
                </a:solidFill>
                <a:effectLst/>
                <a:latin typeface="arial" panose="020B0604020202020204" pitchFamily="34" charset="0"/>
              </a:rPr>
              <a:t>企业内部互联</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和企业间互联</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r>
              <a:rPr lang="zh-CN" altLang="en-US" sz="1800" dirty="0"/>
              <a:t>数据转发决策基于网络层信息。对广域路由网的模拟，在</a:t>
            </a:r>
            <a:r>
              <a:rPr lang="en-US" altLang="zh-CN" sz="1800" dirty="0"/>
              <a:t>NSP</a:t>
            </a:r>
            <a:r>
              <a:rPr lang="zh-CN" altLang="en-US" sz="1800" dirty="0"/>
              <a:t>骨干网，</a:t>
            </a:r>
            <a:r>
              <a:rPr lang="en-US" altLang="zh-CN" sz="1800" dirty="0"/>
              <a:t>VPRN</a:t>
            </a:r>
            <a:r>
              <a:rPr lang="zh-CN" altLang="en-US" sz="1800" dirty="0"/>
              <a:t>包括执行路由转发功能的</a:t>
            </a:r>
            <a:r>
              <a:rPr lang="en-US" altLang="zh-CN" sz="1800" dirty="0"/>
              <a:t>PE</a:t>
            </a:r>
            <a:r>
              <a:rPr lang="zh-CN" altLang="en-US" sz="1800" dirty="0"/>
              <a:t>路由器，以及连接这些路由器的</a:t>
            </a:r>
            <a:r>
              <a:rPr lang="en-US" altLang="zh-CN" sz="1800" dirty="0"/>
              <a:t>IP</a:t>
            </a:r>
            <a:r>
              <a:rPr lang="zh-CN" altLang="en-US" sz="1800" dirty="0"/>
              <a:t>隧道构成的网格。</a:t>
            </a:r>
            <a:r>
              <a:rPr lang="en-US" altLang="zh-CN" sz="1800" dirty="0"/>
              <a:t>VPRN</a:t>
            </a:r>
            <a:r>
              <a:rPr lang="zh-CN" altLang="en-US" sz="1800" dirty="0"/>
              <a:t>有两种实现方式：</a:t>
            </a:r>
            <a:r>
              <a:rPr lang="en-US" altLang="zh-CN" sz="1800" dirty="0"/>
              <a:t>BGP/MPLS VPN</a:t>
            </a:r>
            <a:r>
              <a:rPr lang="zh-CN" altLang="en-US" sz="1800" dirty="0"/>
              <a:t>和虚拟路由器</a:t>
            </a:r>
            <a:r>
              <a:rPr lang="en-US" altLang="zh-CN" sz="1800" dirty="0"/>
              <a:t>VPN</a:t>
            </a:r>
            <a:r>
              <a:rPr lang="zh-CN" altLang="en-US" sz="1800" dirty="0"/>
              <a:t>。</a:t>
            </a:r>
            <a:endParaRPr lang="en-US" altLang="zh-CN" sz="1800" dirty="0"/>
          </a:p>
          <a:p>
            <a:pPr marL="457200" lvl="1" indent="0">
              <a:buNone/>
            </a:pPr>
            <a:r>
              <a:rPr lang="zh-CN" altLang="en-US" sz="1200" dirty="0"/>
              <a:t>特点：</a:t>
            </a:r>
            <a:endParaRPr lang="en-US" altLang="zh-CN" sz="1200" dirty="0"/>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1</a:t>
            </a:r>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VPN IP</a:t>
            </a:r>
            <a:r>
              <a:rPr lang="zh-CN" altLang="en-US" sz="1800" b="0" i="0" dirty="0">
                <a:solidFill>
                  <a:srgbClr val="333333"/>
                </a:solidFill>
                <a:effectLst/>
                <a:latin typeface="arial" panose="020B0604020202020204" pitchFamily="34" charset="0"/>
              </a:rPr>
              <a:t>地址空间专有问题，不同</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可以使用相同的</a:t>
            </a:r>
            <a:r>
              <a:rPr lang="en-US" altLang="zh-CN" sz="1800" b="0" i="0" dirty="0">
                <a:solidFill>
                  <a:srgbClr val="333333"/>
                </a:solidFill>
                <a:effectLst/>
                <a:latin typeface="arial" panose="020B0604020202020204" pitchFamily="34" charset="0"/>
              </a:rPr>
              <a:t>IP</a:t>
            </a:r>
            <a:r>
              <a:rPr lang="zh-CN" altLang="en-US" sz="1800" b="0" i="0" dirty="0">
                <a:solidFill>
                  <a:srgbClr val="333333"/>
                </a:solidFill>
                <a:effectLst/>
                <a:latin typeface="arial" panose="020B0604020202020204" pitchFamily="34" charset="0"/>
              </a:rPr>
              <a:t>地址，而且不需要</a:t>
            </a:r>
            <a:r>
              <a:rPr lang="en-US" altLang="zh-CN" sz="1800" b="0" i="0" dirty="0">
                <a:solidFill>
                  <a:srgbClr val="333333"/>
                </a:solidFill>
                <a:effectLst/>
                <a:latin typeface="arial" panose="020B0604020202020204" pitchFamily="34" charset="0"/>
              </a:rPr>
              <a:t>NAT</a:t>
            </a:r>
            <a:r>
              <a:rPr lang="zh-CN" altLang="en-US" sz="1800" b="0" i="0" dirty="0">
                <a:solidFill>
                  <a:srgbClr val="333333"/>
                </a:solidFill>
                <a:effectLst/>
                <a:latin typeface="arial" panose="020B0604020202020204" pitchFamily="34" charset="0"/>
              </a:rPr>
              <a:t>。</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2</a:t>
            </a:r>
            <a:r>
              <a:rPr lang="zh-CN" altLang="en-US" sz="1800" b="0" i="0" dirty="0">
                <a:solidFill>
                  <a:srgbClr val="333333"/>
                </a:solidFill>
                <a:effectLst/>
                <a:latin typeface="arial" panose="020B0604020202020204" pitchFamily="34" charset="0"/>
              </a:rPr>
              <a:t>）灵活配置</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拓扑：根据不同的应用需求，可以方便配置不同的</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内部拓扑。譬如：</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各节点流量分布均衡，则希望全连接拓扑。如果流量主要分布在总部与分部之间，而各分部之间流量很小，或出于其他考虑（譬如安全因素）需要分部之间流量经总部转发，那么希望</a:t>
            </a:r>
            <a:r>
              <a:rPr lang="en-US" altLang="zh-CN" sz="1800" b="0" i="0" dirty="0">
                <a:solidFill>
                  <a:srgbClr val="333333"/>
                </a:solidFill>
                <a:effectLst/>
                <a:latin typeface="arial" panose="020B0604020202020204" pitchFamily="34" charset="0"/>
              </a:rPr>
              <a:t>Hub-Spoke</a:t>
            </a:r>
            <a:r>
              <a:rPr lang="zh-CN" altLang="en-US" sz="1800" b="0" i="0" dirty="0">
                <a:solidFill>
                  <a:srgbClr val="333333"/>
                </a:solidFill>
                <a:effectLst/>
                <a:latin typeface="arial" panose="020B0604020202020204" pitchFamily="34" charset="0"/>
              </a:rPr>
              <a:t>拓扑。</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3</a:t>
            </a:r>
            <a:r>
              <a:rPr lang="zh-CN" altLang="en-US" sz="1800" b="0" i="0" dirty="0">
                <a:solidFill>
                  <a:srgbClr val="333333"/>
                </a:solidFill>
                <a:effectLst/>
                <a:latin typeface="arial" panose="020B0604020202020204" pitchFamily="34" charset="0"/>
              </a:rPr>
              <a:t>）保证不同</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数据包转发的隔离，</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内的数据不会泄漏到其他</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4</a:t>
            </a:r>
            <a:r>
              <a:rPr lang="zh-CN" altLang="en-US" sz="1800" b="0" i="0" dirty="0">
                <a:solidFill>
                  <a:srgbClr val="333333"/>
                </a:solidFill>
                <a:effectLst/>
                <a:latin typeface="arial" panose="020B0604020202020204" pitchFamily="34" charset="0"/>
              </a:rPr>
              <a:t>）方便构建企业间互联</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和适应多种接入模式，企业间互联</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配置简单而且能有效控制接入权限。可以支持用户节点与提供服务的骨干网的多种连接关系。</a:t>
            </a:r>
            <a:endParaRPr lang="en-US" altLang="zh-CN" sz="1800" b="0" i="0" dirty="0">
              <a:solidFill>
                <a:srgbClr val="333333"/>
              </a:solidFill>
              <a:effectLst/>
              <a:latin typeface="arial" panose="020B0604020202020204" pitchFamily="34" charset="0"/>
            </a:endParaRPr>
          </a:p>
          <a:p>
            <a:pPr lvl="1" algn="l"/>
            <a:r>
              <a:rPr lang="zh-CN" altLang="en-US" sz="2800" b="0" i="0" dirty="0">
                <a:solidFill>
                  <a:srgbClr val="000000"/>
                </a:solidFill>
                <a:effectLst/>
                <a:latin typeface="Microsoft YaHei" panose="020B0503020204020204" pitchFamily="34" charset="-122"/>
                <a:ea typeface="Microsoft YaHei" panose="020B0503020204020204" pitchFamily="34" charset="-122"/>
              </a:rPr>
              <a:t>适用范围：</a:t>
            </a:r>
            <a:r>
              <a:rPr lang="zh-CN" altLang="en-US" sz="2800" b="0" i="0" dirty="0">
                <a:solidFill>
                  <a:srgbClr val="333333"/>
                </a:solidFill>
                <a:effectLst/>
                <a:latin typeface="arial" panose="020B0604020202020204" pitchFamily="34" charset="0"/>
              </a:rPr>
              <a:t>企业内部互联或企业间互联</a:t>
            </a:r>
            <a:r>
              <a:rPr lang="en-US" altLang="zh-CN" sz="2800" b="0" i="0" dirty="0">
                <a:solidFill>
                  <a:srgbClr val="333333"/>
                </a:solidFill>
                <a:effectLst/>
                <a:latin typeface="arial" panose="020B0604020202020204" pitchFamily="34" charset="0"/>
              </a:rPr>
              <a:t>VPN</a:t>
            </a:r>
          </a:p>
          <a:p>
            <a:pPr marL="0" indent="0">
              <a:buNone/>
            </a:pPr>
            <a:r>
              <a:rPr lang="en-US" altLang="zh-CN" sz="1800" dirty="0"/>
              <a:t>3) VPLS</a:t>
            </a:r>
            <a:r>
              <a:rPr lang="zh-CN" altLang="en-US" sz="1800" dirty="0"/>
              <a:t>：</a:t>
            </a:r>
            <a:r>
              <a:rPr lang="zh-CN" altLang="en-US" sz="2800" b="0" i="0" dirty="0">
                <a:solidFill>
                  <a:srgbClr val="333333"/>
                </a:solidFill>
                <a:effectLst/>
                <a:latin typeface="arial" panose="020B0604020202020204" pitchFamily="34" charset="0"/>
              </a:rPr>
              <a:t>目前比较热门的一种</a:t>
            </a:r>
            <a:r>
              <a:rPr lang="en-US" altLang="zh-CN" sz="2800" b="0" i="0" dirty="0">
                <a:solidFill>
                  <a:srgbClr val="333333"/>
                </a:solidFill>
                <a:effectLst/>
                <a:latin typeface="arial" panose="020B0604020202020204" pitchFamily="34" charset="0"/>
              </a:rPr>
              <a:t>MPLS</a:t>
            </a:r>
            <a:r>
              <a:rPr lang="zh-CN" altLang="en-US" sz="2800" b="0" i="0" dirty="0">
                <a:solidFill>
                  <a:srgbClr val="333333"/>
                </a:solidFill>
                <a:effectLst/>
                <a:latin typeface="arial" panose="020B0604020202020204" pitchFamily="34" charset="0"/>
              </a:rPr>
              <a:t>二层</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技术。是分组交换网</a:t>
            </a:r>
            <a:r>
              <a:rPr lang="en-US" altLang="zh-CN" sz="2800" b="0" i="0" dirty="0">
                <a:solidFill>
                  <a:srgbClr val="333333"/>
                </a:solidFill>
                <a:effectLst/>
                <a:latin typeface="arial" panose="020B0604020202020204" pitchFamily="34" charset="0"/>
              </a:rPr>
              <a:t>(PSN)</a:t>
            </a:r>
            <a:r>
              <a:rPr lang="zh-CN" altLang="en-US" sz="2800" b="0" i="0" dirty="0">
                <a:solidFill>
                  <a:srgbClr val="333333"/>
                </a:solidFill>
                <a:effectLst/>
                <a:latin typeface="arial" panose="020B0604020202020204" pitchFamily="34" charset="0"/>
              </a:rPr>
              <a:t>提供的一项业务，旨在通过预先建立的隧道和隧道中的伪线连接为用户提供专用的局域网</a:t>
            </a:r>
            <a:r>
              <a:rPr lang="en-US" altLang="zh-CN" sz="2800" b="0" i="0" dirty="0">
                <a:solidFill>
                  <a:srgbClr val="333333"/>
                </a:solidFill>
                <a:effectLst/>
                <a:latin typeface="arial" panose="020B0604020202020204" pitchFamily="34" charset="0"/>
              </a:rPr>
              <a:t>(LAN)</a:t>
            </a:r>
            <a:r>
              <a:rPr lang="zh-CN" altLang="en-US" sz="2800" b="0" i="0" dirty="0">
                <a:solidFill>
                  <a:srgbClr val="333333"/>
                </a:solidFill>
                <a:effectLst/>
                <a:latin typeface="arial" panose="020B0604020202020204" pitchFamily="34" charset="0"/>
              </a:rPr>
              <a:t>互联服务，属于二层</a:t>
            </a:r>
            <a:r>
              <a:rPr lang="en-US" altLang="zh-CN" sz="2800" b="0" i="0" dirty="0">
                <a:solidFill>
                  <a:srgbClr val="333333"/>
                </a:solidFill>
                <a:effectLst/>
                <a:latin typeface="arial" panose="020B0604020202020204" pitchFamily="34" charset="0"/>
              </a:rPr>
              <a:t>VPN(L2VPN)</a:t>
            </a:r>
            <a:r>
              <a:rPr lang="zh-CN" altLang="en-US" sz="2800" b="0" i="0" dirty="0">
                <a:solidFill>
                  <a:srgbClr val="333333"/>
                </a:solidFill>
                <a:effectLst/>
                <a:latin typeface="arial" panose="020B0604020202020204" pitchFamily="34" charset="0"/>
              </a:rPr>
              <a:t>的范畴。目前业界有两个标准，一个标准以</a:t>
            </a:r>
            <a:r>
              <a:rPr lang="en-US" altLang="zh-CN" sz="2800" b="0" i="0" dirty="0">
                <a:solidFill>
                  <a:srgbClr val="333333"/>
                </a:solidFill>
                <a:effectLst/>
                <a:latin typeface="arial" panose="020B0604020202020204" pitchFamily="34" charset="0"/>
              </a:rPr>
              <a:t>LDP</a:t>
            </a:r>
            <a:r>
              <a:rPr lang="zh-CN" altLang="en-US" sz="2800" b="0" i="0" dirty="0">
                <a:solidFill>
                  <a:srgbClr val="333333"/>
                </a:solidFill>
                <a:effectLst/>
                <a:latin typeface="arial" panose="020B0604020202020204" pitchFamily="34" charset="0"/>
              </a:rPr>
              <a:t>作为信令协议，由</a:t>
            </a:r>
            <a:r>
              <a:rPr lang="en-US" altLang="zh-CN" sz="2800" b="0" i="0" dirty="0">
                <a:solidFill>
                  <a:srgbClr val="333333"/>
                </a:solidFill>
                <a:effectLst/>
                <a:latin typeface="arial" panose="020B0604020202020204" pitchFamily="34" charset="0"/>
              </a:rPr>
              <a:t>Alcatel</a:t>
            </a:r>
            <a:r>
              <a:rPr lang="zh-CN" altLang="en-US" sz="2800" b="0" i="0" dirty="0">
                <a:solidFill>
                  <a:srgbClr val="333333"/>
                </a:solidFill>
                <a:effectLst/>
                <a:latin typeface="arial" panose="020B0604020202020204" pitchFamily="34" charset="0"/>
              </a:rPr>
              <a:t>发起，得到业界大部分厂家的支持（包括</a:t>
            </a:r>
            <a:r>
              <a:rPr lang="en-US" altLang="zh-CN" sz="2800" b="0" i="0" dirty="0">
                <a:solidFill>
                  <a:srgbClr val="333333"/>
                </a:solidFill>
                <a:effectLst/>
                <a:latin typeface="arial" panose="020B0604020202020204" pitchFamily="34" charset="0"/>
              </a:rPr>
              <a:t>Cisco</a:t>
            </a:r>
            <a:r>
              <a:rPr lang="zh-CN" altLang="en-US" sz="2800" b="0" i="0" dirty="0">
                <a:solidFill>
                  <a:srgbClr val="333333"/>
                </a:solidFill>
                <a:effectLst/>
                <a:latin typeface="arial" panose="020B0604020202020204" pitchFamily="34" charset="0"/>
              </a:rPr>
              <a:t>）；另一个标准由</a:t>
            </a:r>
            <a:r>
              <a:rPr lang="en-US" altLang="zh-CN" sz="2800" b="0" i="0" dirty="0">
                <a:solidFill>
                  <a:srgbClr val="333333"/>
                </a:solidFill>
                <a:effectLst/>
                <a:latin typeface="arial" panose="020B0604020202020204" pitchFamily="34" charset="0"/>
              </a:rPr>
              <a:t>Juniper</a:t>
            </a:r>
            <a:r>
              <a:rPr lang="zh-CN" altLang="en-US" sz="2800" b="0" i="0" dirty="0">
                <a:solidFill>
                  <a:srgbClr val="333333"/>
                </a:solidFill>
                <a:effectLst/>
                <a:latin typeface="arial" panose="020B0604020202020204" pitchFamily="34" charset="0"/>
              </a:rPr>
              <a:t>发起，以</a:t>
            </a:r>
            <a:r>
              <a:rPr lang="en-US" altLang="zh-CN" sz="2800" b="0" i="0" dirty="0">
                <a:solidFill>
                  <a:srgbClr val="333333"/>
                </a:solidFill>
                <a:effectLst/>
                <a:latin typeface="arial" panose="020B0604020202020204" pitchFamily="34" charset="0"/>
              </a:rPr>
              <a:t>BGP</a:t>
            </a:r>
            <a:r>
              <a:rPr lang="zh-CN" altLang="en-US" sz="2800" b="0" i="0" dirty="0">
                <a:solidFill>
                  <a:srgbClr val="333333"/>
                </a:solidFill>
                <a:effectLst/>
                <a:latin typeface="arial" panose="020B0604020202020204" pitchFamily="34" charset="0"/>
              </a:rPr>
              <a:t>作为信令协议，目前只有</a:t>
            </a:r>
            <a:r>
              <a:rPr lang="en-US" altLang="zh-CN" sz="2800" b="0" i="0" dirty="0">
                <a:solidFill>
                  <a:srgbClr val="333333"/>
                </a:solidFill>
                <a:effectLst/>
                <a:latin typeface="arial" panose="020B0604020202020204" pitchFamily="34" charset="0"/>
              </a:rPr>
              <a:t>Juniper</a:t>
            </a:r>
            <a:r>
              <a:rPr lang="zh-CN" altLang="en-US" sz="2800" b="0" i="0" dirty="0">
                <a:solidFill>
                  <a:srgbClr val="333333"/>
                </a:solidFill>
                <a:effectLst/>
                <a:latin typeface="arial" panose="020B0604020202020204" pitchFamily="34" charset="0"/>
              </a:rPr>
              <a:t>和华为支持。</a:t>
            </a:r>
            <a:endParaRPr lang="en-US" altLang="zh-CN" sz="1800" dirty="0"/>
          </a:p>
          <a:p>
            <a:pPr marL="457200" lvl="1" indent="0">
              <a:buNone/>
            </a:pPr>
            <a:r>
              <a:rPr lang="zh-CN" altLang="en-US" sz="1200" dirty="0"/>
              <a:t>特点：</a:t>
            </a:r>
            <a:endParaRPr lang="en-US" altLang="zh-CN" sz="1200" dirty="0"/>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1</a:t>
            </a:r>
            <a:r>
              <a:rPr lang="zh-CN" altLang="en-US" sz="1800" b="0" i="0" dirty="0">
                <a:solidFill>
                  <a:srgbClr val="333333"/>
                </a:solidFill>
                <a:effectLst/>
                <a:latin typeface="arial" panose="020B0604020202020204" pitchFamily="34" charset="0"/>
              </a:rPr>
              <a:t>）简单、透明，可降低整体复杂性，并可增强网络的互操作性。</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2</a:t>
            </a:r>
            <a:r>
              <a:rPr lang="zh-CN" altLang="en-US" sz="1800" b="0" i="0" dirty="0">
                <a:solidFill>
                  <a:srgbClr val="333333"/>
                </a:solidFill>
                <a:effectLst/>
                <a:latin typeface="arial" panose="020B0604020202020204" pitchFamily="34" charset="0"/>
              </a:rPr>
              <a:t>）有效结合了互联网协议</a:t>
            </a:r>
            <a:r>
              <a:rPr lang="en-US" altLang="zh-CN" sz="1800" b="0" i="0" dirty="0">
                <a:solidFill>
                  <a:srgbClr val="333333"/>
                </a:solidFill>
                <a:effectLst/>
                <a:latin typeface="arial" panose="020B0604020202020204" pitchFamily="34" charset="0"/>
              </a:rPr>
              <a:t>/</a:t>
            </a:r>
            <a:r>
              <a:rPr lang="zh-CN" altLang="en-US" sz="1800" b="0" i="0" dirty="0">
                <a:solidFill>
                  <a:srgbClr val="333333"/>
                </a:solidFill>
                <a:effectLst/>
                <a:latin typeface="arial" panose="020B0604020202020204" pitchFamily="34" charset="0"/>
              </a:rPr>
              <a:t>多协议标签交换</a:t>
            </a:r>
            <a:r>
              <a:rPr lang="en-US" altLang="zh-CN" sz="1800" b="0" i="0" dirty="0">
                <a:solidFill>
                  <a:srgbClr val="333333"/>
                </a:solidFill>
                <a:effectLst/>
                <a:latin typeface="arial" panose="020B0604020202020204" pitchFamily="34" charset="0"/>
              </a:rPr>
              <a:t>(IP/MPLS)</a:t>
            </a:r>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和以太网交换等多种技术的特点，实现广域范围的多点到多点局域网</a:t>
            </a:r>
            <a:r>
              <a:rPr lang="en-US" altLang="zh-CN" sz="1800" b="0" i="0" dirty="0">
                <a:solidFill>
                  <a:srgbClr val="333333"/>
                </a:solidFill>
                <a:effectLst/>
                <a:latin typeface="arial" panose="020B0604020202020204" pitchFamily="34" charset="0"/>
              </a:rPr>
              <a:t>(LAN)</a:t>
            </a:r>
            <a:r>
              <a:rPr lang="zh-CN" altLang="en-US" sz="1800" b="0" i="0" dirty="0">
                <a:solidFill>
                  <a:srgbClr val="333333"/>
                </a:solidFill>
                <a:effectLst/>
                <a:latin typeface="arial" panose="020B0604020202020204" pitchFamily="34" charset="0"/>
              </a:rPr>
              <a:t>互连。</a:t>
            </a:r>
            <a:endParaRPr lang="en-US" altLang="zh-CN" sz="1800" b="0" i="0" dirty="0">
              <a:solidFill>
                <a:srgbClr val="333333"/>
              </a:solidFill>
              <a:effectLst/>
              <a:latin typeface="arial" panose="020B0604020202020204" pitchFamily="34" charset="0"/>
            </a:endParaRPr>
          </a:p>
          <a:p>
            <a:pPr lvl="1" algn="l"/>
            <a:r>
              <a:rPr lang="zh-CN" altLang="en-US" sz="2800" b="0" i="0" dirty="0">
                <a:solidFill>
                  <a:srgbClr val="000000"/>
                </a:solidFill>
                <a:effectLst/>
                <a:latin typeface="Microsoft YaHei" panose="020B0503020204020204" pitchFamily="34" charset="-122"/>
                <a:ea typeface="Microsoft YaHei" panose="020B0503020204020204" pitchFamily="34" charset="-122"/>
              </a:rPr>
              <a:t>适用范围：</a:t>
            </a:r>
            <a:r>
              <a:rPr lang="zh-CN" altLang="en-US" sz="2800" b="0" i="0" dirty="0">
                <a:solidFill>
                  <a:srgbClr val="333333"/>
                </a:solidFill>
                <a:effectLst/>
                <a:latin typeface="arial" panose="020B0604020202020204" pitchFamily="34" charset="0"/>
              </a:rPr>
              <a:t>可以提供大客户二层</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、城域基础网络建设、个人分布式业务等多个层次的应用。</a:t>
            </a:r>
            <a:endParaRPr lang="en-US" altLang="zh-CN" sz="2800" b="0" i="0" dirty="0">
              <a:solidFill>
                <a:srgbClr val="333333"/>
              </a:solidFill>
              <a:effectLst/>
              <a:latin typeface="arial" panose="020B0604020202020204" pitchFamily="34" charset="0"/>
            </a:endParaRPr>
          </a:p>
          <a:p>
            <a:pPr marL="0" indent="0">
              <a:buNone/>
            </a:pPr>
            <a:r>
              <a:rPr lang="en-US" altLang="zh-CN" sz="1800" dirty="0"/>
              <a:t>4) VLL</a:t>
            </a:r>
            <a:r>
              <a:rPr lang="zh-CN" altLang="en-US" sz="1800" dirty="0"/>
              <a:t>：</a:t>
            </a:r>
            <a:r>
              <a:rPr lang="zh-CN" altLang="en-US" sz="2800" b="0" i="0" dirty="0">
                <a:solidFill>
                  <a:srgbClr val="333333"/>
                </a:solidFill>
                <a:effectLst/>
                <a:latin typeface="arial" panose="020B0604020202020204" pitchFamily="34" charset="0"/>
              </a:rPr>
              <a:t>是对传统租用线业务的仿真，是一种点到点的虚拟专线技术，能够支持几乎所有的链路层协议，就好比在客户之间拉了一条网线。</a:t>
            </a:r>
            <a:r>
              <a:rPr lang="en-US" altLang="zh-CN" sz="2800" b="1" i="0" dirty="0">
                <a:solidFill>
                  <a:srgbClr val="000000"/>
                </a:solidFill>
                <a:effectLst/>
                <a:latin typeface="Microsoft YaHei" panose="020B0503020204020204" pitchFamily="34" charset="-122"/>
                <a:ea typeface="Microsoft YaHei" panose="020B0503020204020204" pitchFamily="34" charset="-122"/>
              </a:rPr>
              <a:t> </a:t>
            </a:r>
            <a:endParaRPr lang="en-US" altLang="zh-CN" sz="1800" dirty="0"/>
          </a:p>
          <a:p>
            <a:pPr lvl="1" algn="l"/>
            <a:r>
              <a:rPr lang="zh-CN" altLang="en-US" sz="2800" b="0" i="0" dirty="0">
                <a:solidFill>
                  <a:srgbClr val="000000"/>
                </a:solidFill>
                <a:effectLst/>
                <a:latin typeface="Microsoft YaHei" panose="020B0503020204020204" pitchFamily="34" charset="-122"/>
                <a:ea typeface="Microsoft YaHei" panose="020B0503020204020204" pitchFamily="34" charset="-122"/>
              </a:rPr>
              <a:t>适用范围：</a:t>
            </a:r>
            <a:r>
              <a:rPr lang="zh-CN" altLang="en-US" sz="2800" b="0" i="0" dirty="0">
                <a:solidFill>
                  <a:srgbClr val="333333"/>
                </a:solidFill>
                <a:effectLst/>
                <a:latin typeface="arial" panose="020B0604020202020204" pitchFamily="34" charset="0"/>
              </a:rPr>
              <a:t>运营商大量使用，为客户提供</a:t>
            </a:r>
            <a:r>
              <a:rPr lang="en-US" altLang="zh-CN" sz="2800" b="0" i="0" dirty="0">
                <a:solidFill>
                  <a:srgbClr val="333333"/>
                </a:solidFill>
                <a:effectLst/>
                <a:latin typeface="arial" panose="020B0604020202020204" pitchFamily="34" charset="0"/>
              </a:rPr>
              <a:t>L2VPN</a:t>
            </a:r>
            <a:r>
              <a:rPr lang="zh-CN" altLang="en-US" sz="2800" b="0" i="0" dirty="0">
                <a:solidFill>
                  <a:srgbClr val="333333"/>
                </a:solidFill>
                <a:effectLst/>
                <a:latin typeface="arial" panose="020B0604020202020204" pitchFamily="34" charset="0"/>
              </a:rPr>
              <a:t>服务。</a:t>
            </a:r>
            <a:endParaRPr lang="en-US" altLang="zh-CN" sz="2800" b="0" i="0" dirty="0">
              <a:solidFill>
                <a:srgbClr val="333333"/>
              </a:solidFill>
              <a:effectLst/>
              <a:latin typeface="arial" panose="020B0604020202020204" pitchFamily="34" charset="0"/>
            </a:endParaRPr>
          </a:p>
          <a:p>
            <a:pPr lvl="1" algn="l"/>
            <a:endParaRPr lang="en-US" altLang="zh-CN" sz="1800" dirty="0"/>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255</a:t>
            </a:fld>
            <a:endParaRPr kumimoji="1" lang="zh-CN" altLang="en-US"/>
          </a:p>
        </p:txBody>
      </p:sp>
    </p:spTree>
    <p:extLst>
      <p:ext uri="{BB962C8B-B14F-4D97-AF65-F5344CB8AC3E}">
        <p14:creationId xmlns:p14="http://schemas.microsoft.com/office/powerpoint/2010/main" val="216198293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CF97C75-78EB-4043-953B-95F867F42CEE}"/>
              </a:ext>
            </a:extLst>
          </p:cNvPr>
          <p:cNvSpPr>
            <a:spLocks noGrp="1"/>
          </p:cNvSpPr>
          <p:nvPr>
            <p:ph type="ctrTitle"/>
          </p:nvPr>
        </p:nvSpPr>
        <p:spPr>
          <a:xfrm>
            <a:off x="1524000" y="1122363"/>
            <a:ext cx="9144000" cy="2387600"/>
          </a:xfrm>
        </p:spPr>
        <p:txBody>
          <a:bodyPr anchor="b"/>
          <a:lstStyle>
            <a:lvl1pPr algn="ctr">
              <a:defRPr sz="6000"/>
            </a:lvl1pPr>
          </a:lstStyle>
          <a:p>
            <a:r>
              <a:rPr kumimoji="1" lang="zh-CN" altLang="en-US" dirty="0"/>
              <a:t>单击此处编辑母版标题样式</a:t>
            </a:r>
          </a:p>
        </p:txBody>
      </p:sp>
      <p:sp>
        <p:nvSpPr>
          <p:cNvPr id="3" name="副标题 2">
            <a:extLst>
              <a:ext uri="{FF2B5EF4-FFF2-40B4-BE49-F238E27FC236}">
                <a16:creationId xmlns:a16="http://schemas.microsoft.com/office/drawing/2014/main" id="{421C1163-5F70-9046-86B2-81951DCE1A9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zh-CN" altLang="en-US" dirty="0"/>
              <a:t>单击此处编辑母版副标题样式</a:t>
            </a:r>
          </a:p>
        </p:txBody>
      </p:sp>
      <p:sp>
        <p:nvSpPr>
          <p:cNvPr id="7" name="矩形 6">
            <a:extLst>
              <a:ext uri="{FF2B5EF4-FFF2-40B4-BE49-F238E27FC236}">
                <a16:creationId xmlns:a16="http://schemas.microsoft.com/office/drawing/2014/main" id="{B6F9E280-F138-8142-8DB1-324EA9F38324}"/>
              </a:ext>
            </a:extLst>
          </p:cNvPr>
          <p:cNvSpPr/>
          <p:nvPr userDrawn="1"/>
        </p:nvSpPr>
        <p:spPr>
          <a:xfrm>
            <a:off x="-9939" y="-8627"/>
            <a:ext cx="8641473" cy="567811"/>
          </a:xfrm>
          <a:prstGeom prst="rect">
            <a:avLst/>
          </a:prstGeom>
          <a:solidFill>
            <a:srgbClr val="0066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b="0" spc="600" dirty="0">
                <a:solidFill>
                  <a:schemeClr val="bg1"/>
                </a:solidFill>
                <a:latin typeface="微软雅黑" panose="020B0503020204020204" pitchFamily="34" charset="-122"/>
                <a:ea typeface="微软雅黑" panose="020B0503020204020204" pitchFamily="34" charset="-122"/>
              </a:rPr>
              <a:t>计算机网络</a:t>
            </a:r>
          </a:p>
        </p:txBody>
      </p:sp>
      <p:pic>
        <p:nvPicPr>
          <p:cNvPr id="23" name="图片 22"/>
          <p:cNvPicPr>
            <a:picLocks noChangeAspect="1"/>
          </p:cNvPicPr>
          <p:nvPr userDrawn="1"/>
        </p:nvPicPr>
        <p:blipFill>
          <a:blip r:embed="rId2">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8964619" y="4501"/>
            <a:ext cx="3086211" cy="556312"/>
          </a:xfrm>
          <a:prstGeom prst="rect">
            <a:avLst/>
          </a:prstGeom>
        </p:spPr>
      </p:pic>
    </p:spTree>
    <p:extLst>
      <p:ext uri="{BB962C8B-B14F-4D97-AF65-F5344CB8AC3E}">
        <p14:creationId xmlns:p14="http://schemas.microsoft.com/office/powerpoint/2010/main" val="84974403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39" name="矩形 38">
            <a:extLst>
              <a:ext uri="{FF2B5EF4-FFF2-40B4-BE49-F238E27FC236}">
                <a16:creationId xmlns:a16="http://schemas.microsoft.com/office/drawing/2014/main" id="{FBB5D1D6-FEDC-364E-ADD0-80C842FD6986}"/>
              </a:ext>
            </a:extLst>
          </p:cNvPr>
          <p:cNvSpPr/>
          <p:nvPr userDrawn="1"/>
        </p:nvSpPr>
        <p:spPr>
          <a:xfrm>
            <a:off x="667831" y="541554"/>
            <a:ext cx="509313" cy="498948"/>
          </a:xfrm>
          <a:prstGeom prst="rect">
            <a:avLst/>
          </a:prstGeom>
          <a:solidFill>
            <a:srgbClr val="0066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sp>
        <p:nvSpPr>
          <p:cNvPr id="2" name="标题 1">
            <a:extLst>
              <a:ext uri="{FF2B5EF4-FFF2-40B4-BE49-F238E27FC236}">
                <a16:creationId xmlns:a16="http://schemas.microsoft.com/office/drawing/2014/main" id="{223457C5-5D0E-4F46-9D0B-7EA2985DFFE7}"/>
              </a:ext>
            </a:extLst>
          </p:cNvPr>
          <p:cNvSpPr>
            <a:spLocks noGrp="1"/>
          </p:cNvSpPr>
          <p:nvPr>
            <p:ph type="title"/>
          </p:nvPr>
        </p:nvSpPr>
        <p:spPr/>
        <p:txBody>
          <a:bodyPr>
            <a:normAutofit/>
          </a:bodyPr>
          <a:lstStyle>
            <a:lvl1pPr>
              <a:defRPr sz="4000"/>
            </a:lvl1pPr>
          </a:lstStyle>
          <a:p>
            <a:r>
              <a:rPr kumimoji="1" lang="zh-CN" altLang="en-US" dirty="0"/>
              <a:t>单击此处编辑母版标题样式</a:t>
            </a:r>
          </a:p>
        </p:txBody>
      </p:sp>
      <p:sp>
        <p:nvSpPr>
          <p:cNvPr id="3" name="内容占位符 2">
            <a:extLst>
              <a:ext uri="{FF2B5EF4-FFF2-40B4-BE49-F238E27FC236}">
                <a16:creationId xmlns:a16="http://schemas.microsoft.com/office/drawing/2014/main" id="{D2FA45BE-434F-B44C-99F8-C563AC076A02}"/>
              </a:ext>
            </a:extLst>
          </p:cNvPr>
          <p:cNvSpPr>
            <a:spLocks noGrp="1"/>
          </p:cNvSpPr>
          <p:nvPr>
            <p:ph idx="1"/>
          </p:nvPr>
        </p:nvSpPr>
        <p:spPr>
          <a:xfrm>
            <a:off x="838200" y="1510758"/>
            <a:ext cx="10515600" cy="4586694"/>
          </a:xfrm>
        </p:spPr>
        <p:txBody>
          <a:bodyPr/>
          <a:lstStyle>
            <a:lvl1pPr marL="360363" indent="-360363">
              <a:lnSpc>
                <a:spcPct val="100000"/>
              </a:lnSpc>
              <a:spcBef>
                <a:spcPts val="600"/>
              </a:spcBef>
              <a:buFont typeface="Wingdings" pitchFamily="2" charset="2"/>
              <a:buChar char="Ø"/>
              <a:tabLst/>
              <a:defRPr/>
            </a:lvl1pPr>
            <a:lvl2pPr>
              <a:lnSpc>
                <a:spcPct val="100000"/>
              </a:lnSpc>
              <a:spcBef>
                <a:spcPts val="600"/>
              </a:spcBef>
              <a:buFont typeface="Arial" panose="020B0604020202020204" pitchFamily="34" charset="0"/>
              <a:buChar char="•"/>
              <a:defRPr/>
            </a:lvl2pPr>
            <a:lvl3pPr>
              <a:lnSpc>
                <a:spcPct val="100000"/>
              </a:lnSpc>
              <a:spcBef>
                <a:spcPts val="600"/>
              </a:spcBef>
              <a:defRPr/>
            </a:lvl3pPr>
            <a:lvl4pPr>
              <a:lnSpc>
                <a:spcPct val="100000"/>
              </a:lnSpc>
              <a:spcBef>
                <a:spcPts val="600"/>
              </a:spcBef>
              <a:defRPr/>
            </a:lvl4pPr>
            <a:lvl5pPr>
              <a:lnSpc>
                <a:spcPct val="100000"/>
              </a:lnSpc>
              <a:spcBef>
                <a:spcPts val="600"/>
              </a:spcBef>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日期占位符 3">
            <a:extLst>
              <a:ext uri="{FF2B5EF4-FFF2-40B4-BE49-F238E27FC236}">
                <a16:creationId xmlns:a16="http://schemas.microsoft.com/office/drawing/2014/main" id="{5A1C8C13-A111-E44B-BB6E-32C9AFF870A6}"/>
              </a:ext>
            </a:extLst>
          </p:cNvPr>
          <p:cNvSpPr>
            <a:spLocks noGrp="1"/>
          </p:cNvSpPr>
          <p:nvPr>
            <p:ph type="dt" sz="half" idx="10"/>
          </p:nvPr>
        </p:nvSpPr>
        <p:spPr>
          <a:xfrm>
            <a:off x="197335" y="6489303"/>
            <a:ext cx="27432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5" name="页脚占位符 4">
            <a:extLst>
              <a:ext uri="{FF2B5EF4-FFF2-40B4-BE49-F238E27FC236}">
                <a16:creationId xmlns:a16="http://schemas.microsoft.com/office/drawing/2014/main" id="{3A7B7B75-EEC1-2D4D-AB7C-5A3514969529}"/>
              </a:ext>
            </a:extLst>
          </p:cNvPr>
          <p:cNvSpPr>
            <a:spLocks noGrp="1"/>
          </p:cNvSpPr>
          <p:nvPr>
            <p:ph type="ftr" sz="quarter" idx="11"/>
          </p:nvPr>
        </p:nvSpPr>
        <p:spPr>
          <a:xfrm>
            <a:off x="4038600" y="6489303"/>
            <a:ext cx="4114800" cy="365125"/>
          </a:xfrm>
          <a:prstGeom prst="rect">
            <a:avLst/>
          </a:prstGeom>
        </p:spPr>
        <p:txBody>
          <a:bodyPr/>
          <a:lstStyle/>
          <a:p>
            <a:r>
              <a:rPr kumimoji="1" lang="zh-CN" altLang="en-US" dirty="0"/>
              <a:t>引自：</a:t>
            </a:r>
            <a:r>
              <a:rPr kumimoji="1" lang="en-US" altLang="zh-CN" dirty="0"/>
              <a:t>XXXXX</a:t>
            </a:r>
            <a:r>
              <a:rPr kumimoji="1" lang="zh-CN" altLang="en-US" dirty="0"/>
              <a:t>（如果需要）</a:t>
            </a:r>
          </a:p>
        </p:txBody>
      </p:sp>
      <p:sp>
        <p:nvSpPr>
          <p:cNvPr id="6" name="灯片编号占位符 5">
            <a:extLst>
              <a:ext uri="{FF2B5EF4-FFF2-40B4-BE49-F238E27FC236}">
                <a16:creationId xmlns:a16="http://schemas.microsoft.com/office/drawing/2014/main" id="{8FDBE6BC-6A1B-1944-BBB6-30FD8C33B360}"/>
              </a:ext>
            </a:extLst>
          </p:cNvPr>
          <p:cNvSpPr>
            <a:spLocks noGrp="1"/>
          </p:cNvSpPr>
          <p:nvPr>
            <p:ph type="sldNum" sz="quarter" idx="12"/>
          </p:nvPr>
        </p:nvSpPr>
        <p:spPr>
          <a:xfrm>
            <a:off x="8686810" y="6489303"/>
            <a:ext cx="3319670" cy="365125"/>
          </a:xfrm>
          <a:prstGeom prst="rect">
            <a:avLst/>
          </a:prstGeom>
        </p:spPr>
        <p:txBody>
          <a:bodyPr/>
          <a:lstStyle/>
          <a:p>
            <a:fld id="{8D4D1E41-7A09-AB4A-A4E1-09765ADA2698}" type="slidenum">
              <a:rPr kumimoji="1" lang="zh-CN" altLang="en-US" smtClean="0"/>
              <a:t>‹#›</a:t>
            </a:fld>
            <a:endParaRPr kumimoji="1" lang="zh-CN" altLang="en-US" dirty="0"/>
          </a:p>
        </p:txBody>
      </p:sp>
      <p:cxnSp>
        <p:nvCxnSpPr>
          <p:cNvPr id="40" name="直线连接符 39">
            <a:extLst>
              <a:ext uri="{FF2B5EF4-FFF2-40B4-BE49-F238E27FC236}">
                <a16:creationId xmlns:a16="http://schemas.microsoft.com/office/drawing/2014/main" id="{9E7AFED4-5702-094E-A3B8-21EB069F234E}"/>
              </a:ext>
            </a:extLst>
          </p:cNvPr>
          <p:cNvCxnSpPr>
            <a:cxnSpLocks/>
          </p:cNvCxnSpPr>
          <p:nvPr userDrawn="1"/>
        </p:nvCxnSpPr>
        <p:spPr>
          <a:xfrm>
            <a:off x="1314788" y="1244212"/>
            <a:ext cx="7295812" cy="0"/>
          </a:xfrm>
          <a:prstGeom prst="line">
            <a:avLst/>
          </a:prstGeom>
          <a:ln w="19050">
            <a:solidFill>
              <a:srgbClr val="006666"/>
            </a:solidFill>
          </a:ln>
        </p:spPr>
        <p:style>
          <a:lnRef idx="1">
            <a:schemeClr val="accent1"/>
          </a:lnRef>
          <a:fillRef idx="0">
            <a:schemeClr val="accent1"/>
          </a:fillRef>
          <a:effectRef idx="0">
            <a:schemeClr val="accent1"/>
          </a:effectRef>
          <a:fontRef idx="minor">
            <a:schemeClr val="tx1"/>
          </a:fontRef>
        </p:style>
      </p:cxnSp>
      <p:grpSp>
        <p:nvGrpSpPr>
          <p:cNvPr id="71" name="组合 70">
            <a:extLst>
              <a:ext uri="{FF2B5EF4-FFF2-40B4-BE49-F238E27FC236}">
                <a16:creationId xmlns:a16="http://schemas.microsoft.com/office/drawing/2014/main" id="{C1D75728-DE08-814F-9EF0-7E9AFB999FE6}"/>
              </a:ext>
            </a:extLst>
          </p:cNvPr>
          <p:cNvGrpSpPr/>
          <p:nvPr userDrawn="1"/>
        </p:nvGrpSpPr>
        <p:grpSpPr>
          <a:xfrm>
            <a:off x="715452" y="634525"/>
            <a:ext cx="403039" cy="321898"/>
            <a:chOff x="1368170" y="664579"/>
            <a:chExt cx="550582" cy="439737"/>
          </a:xfrm>
          <a:solidFill>
            <a:schemeClr val="bg1"/>
          </a:solidFill>
        </p:grpSpPr>
        <p:sp>
          <p:nvSpPr>
            <p:cNvPr id="72" name="Freeform 1">
              <a:extLst>
                <a:ext uri="{FF2B5EF4-FFF2-40B4-BE49-F238E27FC236}">
                  <a16:creationId xmlns:a16="http://schemas.microsoft.com/office/drawing/2014/main" id="{53F1A011-1E52-3140-9C21-8911AB32201B}"/>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3" name="Freeform 2">
              <a:extLst>
                <a:ext uri="{FF2B5EF4-FFF2-40B4-BE49-F238E27FC236}">
                  <a16:creationId xmlns:a16="http://schemas.microsoft.com/office/drawing/2014/main" id="{364873AD-F7AE-3D48-84F0-C71836518975}"/>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4" name="Freeform 3">
              <a:extLst>
                <a:ext uri="{FF2B5EF4-FFF2-40B4-BE49-F238E27FC236}">
                  <a16:creationId xmlns:a16="http://schemas.microsoft.com/office/drawing/2014/main" id="{5B03D593-4A0D-DF4E-8474-4FAD50C6BCB7}"/>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5" name="Freeform 4">
              <a:extLst>
                <a:ext uri="{FF2B5EF4-FFF2-40B4-BE49-F238E27FC236}">
                  <a16:creationId xmlns:a16="http://schemas.microsoft.com/office/drawing/2014/main" id="{1A0E5E70-2235-6044-9E4C-A8D32092980C}"/>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6" name="Freeform 5">
              <a:extLst>
                <a:ext uri="{FF2B5EF4-FFF2-40B4-BE49-F238E27FC236}">
                  <a16:creationId xmlns:a16="http://schemas.microsoft.com/office/drawing/2014/main" id="{9F25C08B-5CAA-1D40-B768-CF07CC9095C1}"/>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7" name="Freeform 6">
              <a:extLst>
                <a:ext uri="{FF2B5EF4-FFF2-40B4-BE49-F238E27FC236}">
                  <a16:creationId xmlns:a16="http://schemas.microsoft.com/office/drawing/2014/main" id="{A1A66D2D-2EC2-AA45-8DA4-4B543D6DB3C7}"/>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8" name="Freeform 7">
              <a:extLst>
                <a:ext uri="{FF2B5EF4-FFF2-40B4-BE49-F238E27FC236}">
                  <a16:creationId xmlns:a16="http://schemas.microsoft.com/office/drawing/2014/main" id="{BF5A2635-9D3C-B746-B7BB-00E1B5440D84}"/>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9" name="Freeform 8">
              <a:extLst>
                <a:ext uri="{FF2B5EF4-FFF2-40B4-BE49-F238E27FC236}">
                  <a16:creationId xmlns:a16="http://schemas.microsoft.com/office/drawing/2014/main" id="{9A427AEE-5F0B-1D43-8127-A5A07CDC3AC8}"/>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0" name="Freeform 9">
              <a:extLst>
                <a:ext uri="{FF2B5EF4-FFF2-40B4-BE49-F238E27FC236}">
                  <a16:creationId xmlns:a16="http://schemas.microsoft.com/office/drawing/2014/main" id="{E60E42BA-4A46-4D41-AA72-E2F725048BE0}"/>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1" name="Freeform 10">
              <a:extLst>
                <a:ext uri="{FF2B5EF4-FFF2-40B4-BE49-F238E27FC236}">
                  <a16:creationId xmlns:a16="http://schemas.microsoft.com/office/drawing/2014/main" id="{5B1734EF-4E6E-164F-849F-5F01256562DA}"/>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2" name="Freeform 11">
              <a:extLst>
                <a:ext uri="{FF2B5EF4-FFF2-40B4-BE49-F238E27FC236}">
                  <a16:creationId xmlns:a16="http://schemas.microsoft.com/office/drawing/2014/main" id="{8623BE8B-4483-AE4A-A6EA-432CBE50BCAC}"/>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pic>
        <p:nvPicPr>
          <p:cNvPr id="83" name="Picture 2" descr="https://i1.hdslb.com/bfs/archive/4b21da76a28b1211647c8bdb58fbdace9316b777.jpg"/>
          <p:cNvPicPr>
            <a:picLocks noChangeAspect="1" noChangeArrowheads="1"/>
          </p:cNvPicPr>
          <p:nvPr userDrawn="1"/>
        </p:nvPicPr>
        <p:blipFill rotWithShape="1">
          <a:blip r:embed="rId2">
            <a:extLst>
              <a:ext uri="{28A0092B-C50C-407E-A947-70E740481C1C}">
                <a14:useLocalDpi xmlns:a14="http://schemas.microsoft.com/office/drawing/2010/main" val="0"/>
              </a:ext>
            </a:extLst>
          </a:blip>
          <a:srcRect t="19905" b="20473"/>
          <a:stretch/>
        </p:blipFill>
        <p:spPr bwMode="auto">
          <a:xfrm>
            <a:off x="9715063" y="333286"/>
            <a:ext cx="2410016" cy="8973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402532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4CA6BC-3A36-834A-8A46-510CF743F360}"/>
              </a:ext>
            </a:extLst>
          </p:cNvPr>
          <p:cNvSpPr>
            <a:spLocks noGrp="1"/>
          </p:cNvSpPr>
          <p:nvPr>
            <p:ph type="title"/>
          </p:nvPr>
        </p:nvSpPr>
        <p:spPr/>
        <p:txBody>
          <a:bodyPr/>
          <a:lstStyle/>
          <a:p>
            <a:r>
              <a:rPr kumimoji="1" lang="zh-CN" altLang="en-US"/>
              <a:t>单击此处编辑母版标题样式</a:t>
            </a:r>
          </a:p>
        </p:txBody>
      </p:sp>
      <p:sp>
        <p:nvSpPr>
          <p:cNvPr id="3" name="内容占位符 2">
            <a:extLst>
              <a:ext uri="{FF2B5EF4-FFF2-40B4-BE49-F238E27FC236}">
                <a16:creationId xmlns:a16="http://schemas.microsoft.com/office/drawing/2014/main" id="{E9F4A777-4880-8640-83A6-327323A56F12}"/>
              </a:ext>
            </a:extLst>
          </p:cNvPr>
          <p:cNvSpPr>
            <a:spLocks noGrp="1"/>
          </p:cNvSpPr>
          <p:nvPr>
            <p:ph sz="half" idx="1"/>
          </p:nvPr>
        </p:nvSpPr>
        <p:spPr>
          <a:xfrm>
            <a:off x="838200" y="1825625"/>
            <a:ext cx="51816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内容占位符 3">
            <a:extLst>
              <a:ext uri="{FF2B5EF4-FFF2-40B4-BE49-F238E27FC236}">
                <a16:creationId xmlns:a16="http://schemas.microsoft.com/office/drawing/2014/main" id="{27E2510C-46FB-B140-83A3-4B9EF1B4C9DF}"/>
              </a:ext>
            </a:extLst>
          </p:cNvPr>
          <p:cNvSpPr>
            <a:spLocks noGrp="1"/>
          </p:cNvSpPr>
          <p:nvPr>
            <p:ph sz="half" idx="2"/>
          </p:nvPr>
        </p:nvSpPr>
        <p:spPr>
          <a:xfrm>
            <a:off x="6172200" y="1825625"/>
            <a:ext cx="51816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5" name="日期占位符 4">
            <a:extLst>
              <a:ext uri="{FF2B5EF4-FFF2-40B4-BE49-F238E27FC236}">
                <a16:creationId xmlns:a16="http://schemas.microsoft.com/office/drawing/2014/main" id="{C459310F-E4CA-E54F-B1B1-7656B1F4AAA8}"/>
              </a:ext>
            </a:extLst>
          </p:cNvPr>
          <p:cNvSpPr>
            <a:spLocks noGrp="1"/>
          </p:cNvSpPr>
          <p:nvPr>
            <p:ph type="dt" sz="half" idx="10"/>
          </p:nvPr>
        </p:nvSpPr>
        <p:spPr>
          <a:xfrm>
            <a:off x="158699" y="6498018"/>
            <a:ext cx="27432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6" name="页脚占位符 5">
            <a:extLst>
              <a:ext uri="{FF2B5EF4-FFF2-40B4-BE49-F238E27FC236}">
                <a16:creationId xmlns:a16="http://schemas.microsoft.com/office/drawing/2014/main" id="{D8A41358-8B3C-CE4B-B391-06B0FF85E814}"/>
              </a:ext>
            </a:extLst>
          </p:cNvPr>
          <p:cNvSpPr>
            <a:spLocks noGrp="1"/>
          </p:cNvSpPr>
          <p:nvPr>
            <p:ph type="ftr" sz="quarter" idx="11"/>
          </p:nvPr>
        </p:nvSpPr>
        <p:spPr>
          <a:xfrm>
            <a:off x="4038600" y="6498019"/>
            <a:ext cx="4114800" cy="365125"/>
          </a:xfrm>
          <a:prstGeom prst="rect">
            <a:avLst/>
          </a:prstGeom>
        </p:spPr>
        <p:txBody>
          <a:bodyPr/>
          <a:lstStyle/>
          <a:p>
            <a:r>
              <a:rPr kumimoji="1" lang="zh-CN" altLang="en-US"/>
              <a:t>引自：</a:t>
            </a:r>
            <a:r>
              <a:rPr kumimoji="1" lang="en-US" altLang="zh-CN"/>
              <a:t>XXXXX</a:t>
            </a:r>
            <a:r>
              <a:rPr kumimoji="1" lang="zh-CN" altLang="en-US"/>
              <a:t>（如果需要）</a:t>
            </a:r>
          </a:p>
        </p:txBody>
      </p:sp>
      <p:sp>
        <p:nvSpPr>
          <p:cNvPr id="7" name="灯片编号占位符 6">
            <a:extLst>
              <a:ext uri="{FF2B5EF4-FFF2-40B4-BE49-F238E27FC236}">
                <a16:creationId xmlns:a16="http://schemas.microsoft.com/office/drawing/2014/main" id="{FDFB6C4E-D29D-9647-82C6-2B183C588D14}"/>
              </a:ext>
            </a:extLst>
          </p:cNvPr>
          <p:cNvSpPr>
            <a:spLocks noGrp="1"/>
          </p:cNvSpPr>
          <p:nvPr>
            <p:ph type="sldNum" sz="quarter" idx="12"/>
          </p:nvPr>
        </p:nvSpPr>
        <p:spPr>
          <a:xfrm>
            <a:off x="8610600" y="6498019"/>
            <a:ext cx="3319670" cy="365125"/>
          </a:xfrm>
          <a:prstGeom prst="rect">
            <a:avLst/>
          </a:prstGeom>
        </p:spPr>
        <p:txBody>
          <a:bodyPr/>
          <a:lstStyle/>
          <a:p>
            <a:fld id="{8D4D1E41-7A09-AB4A-A4E1-09765ADA2698}" type="slidenum">
              <a:rPr kumimoji="1" lang="zh-CN" altLang="en-US" smtClean="0"/>
              <a:t>‹#›</a:t>
            </a:fld>
            <a:endParaRPr kumimoji="1" lang="zh-CN" altLang="en-US"/>
          </a:p>
        </p:txBody>
      </p:sp>
      <p:sp>
        <p:nvSpPr>
          <p:cNvPr id="8" name="矩形 7">
            <a:extLst>
              <a:ext uri="{FF2B5EF4-FFF2-40B4-BE49-F238E27FC236}">
                <a16:creationId xmlns:a16="http://schemas.microsoft.com/office/drawing/2014/main" id="{6EA401A9-3F89-014C-9A94-02FD1A5217FC}"/>
              </a:ext>
            </a:extLst>
          </p:cNvPr>
          <p:cNvSpPr/>
          <p:nvPr userDrawn="1"/>
        </p:nvSpPr>
        <p:spPr>
          <a:xfrm>
            <a:off x="667831" y="553426"/>
            <a:ext cx="509313" cy="498948"/>
          </a:xfrm>
          <a:prstGeom prst="rect">
            <a:avLst/>
          </a:prstGeom>
          <a:solidFill>
            <a:srgbClr val="0066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cxnSp>
        <p:nvCxnSpPr>
          <p:cNvPr id="9" name="直线连接符 8">
            <a:extLst>
              <a:ext uri="{FF2B5EF4-FFF2-40B4-BE49-F238E27FC236}">
                <a16:creationId xmlns:a16="http://schemas.microsoft.com/office/drawing/2014/main" id="{2D64F221-C9B8-444F-9076-736EED2DA56E}"/>
              </a:ext>
            </a:extLst>
          </p:cNvPr>
          <p:cNvCxnSpPr>
            <a:cxnSpLocks/>
          </p:cNvCxnSpPr>
          <p:nvPr userDrawn="1"/>
        </p:nvCxnSpPr>
        <p:spPr>
          <a:xfrm>
            <a:off x="1314788" y="1244212"/>
            <a:ext cx="7295812" cy="0"/>
          </a:xfrm>
          <a:prstGeom prst="line">
            <a:avLst/>
          </a:prstGeom>
          <a:ln w="19050">
            <a:solidFill>
              <a:srgbClr val="006666"/>
            </a:solidFill>
          </a:ln>
        </p:spPr>
        <p:style>
          <a:lnRef idx="1">
            <a:schemeClr val="accent1"/>
          </a:lnRef>
          <a:fillRef idx="0">
            <a:schemeClr val="accent1"/>
          </a:fillRef>
          <a:effectRef idx="0">
            <a:schemeClr val="accent1"/>
          </a:effectRef>
          <a:fontRef idx="minor">
            <a:schemeClr val="tx1"/>
          </a:fontRef>
        </p:style>
      </p:cxnSp>
      <p:grpSp>
        <p:nvGrpSpPr>
          <p:cNvPr id="40" name="组合 39">
            <a:extLst>
              <a:ext uri="{FF2B5EF4-FFF2-40B4-BE49-F238E27FC236}">
                <a16:creationId xmlns:a16="http://schemas.microsoft.com/office/drawing/2014/main" id="{7BC00378-4A1A-AF4A-9DA5-0E40AABBEE09}"/>
              </a:ext>
            </a:extLst>
          </p:cNvPr>
          <p:cNvGrpSpPr/>
          <p:nvPr userDrawn="1"/>
        </p:nvGrpSpPr>
        <p:grpSpPr>
          <a:xfrm>
            <a:off x="715452" y="646397"/>
            <a:ext cx="403039" cy="321898"/>
            <a:chOff x="1368170" y="664579"/>
            <a:chExt cx="550582" cy="439737"/>
          </a:xfrm>
          <a:solidFill>
            <a:schemeClr val="bg1"/>
          </a:solidFill>
        </p:grpSpPr>
        <p:sp>
          <p:nvSpPr>
            <p:cNvPr id="41" name="Freeform 1">
              <a:extLst>
                <a:ext uri="{FF2B5EF4-FFF2-40B4-BE49-F238E27FC236}">
                  <a16:creationId xmlns:a16="http://schemas.microsoft.com/office/drawing/2014/main" id="{219E963A-769E-B14C-9175-00DF37C8C685}"/>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2" name="Freeform 2">
              <a:extLst>
                <a:ext uri="{FF2B5EF4-FFF2-40B4-BE49-F238E27FC236}">
                  <a16:creationId xmlns:a16="http://schemas.microsoft.com/office/drawing/2014/main" id="{935EF8B9-88D2-6C42-BF9B-2AD28DBBD77F}"/>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3" name="Freeform 3">
              <a:extLst>
                <a:ext uri="{FF2B5EF4-FFF2-40B4-BE49-F238E27FC236}">
                  <a16:creationId xmlns:a16="http://schemas.microsoft.com/office/drawing/2014/main" id="{10E28FF9-5CED-394E-AF38-301649539D3C}"/>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4" name="Freeform 4">
              <a:extLst>
                <a:ext uri="{FF2B5EF4-FFF2-40B4-BE49-F238E27FC236}">
                  <a16:creationId xmlns:a16="http://schemas.microsoft.com/office/drawing/2014/main" id="{6E5EA531-DEFC-144D-8545-1DECEBA97224}"/>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5">
              <a:extLst>
                <a:ext uri="{FF2B5EF4-FFF2-40B4-BE49-F238E27FC236}">
                  <a16:creationId xmlns:a16="http://schemas.microsoft.com/office/drawing/2014/main" id="{F39A9FAC-3BBF-CD45-BC62-06EF846D77A9}"/>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6">
              <a:extLst>
                <a:ext uri="{FF2B5EF4-FFF2-40B4-BE49-F238E27FC236}">
                  <a16:creationId xmlns:a16="http://schemas.microsoft.com/office/drawing/2014/main" id="{4A2E4B78-1C39-A943-B2AE-B76B55EBA492}"/>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7">
              <a:extLst>
                <a:ext uri="{FF2B5EF4-FFF2-40B4-BE49-F238E27FC236}">
                  <a16:creationId xmlns:a16="http://schemas.microsoft.com/office/drawing/2014/main" id="{E34B0E8F-7C29-3241-8B05-8DB5DF4ED827}"/>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8">
              <a:extLst>
                <a:ext uri="{FF2B5EF4-FFF2-40B4-BE49-F238E27FC236}">
                  <a16:creationId xmlns:a16="http://schemas.microsoft.com/office/drawing/2014/main" id="{08D4B6E4-213B-E84A-9B55-3121DC89C5CA}"/>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9">
              <a:extLst>
                <a:ext uri="{FF2B5EF4-FFF2-40B4-BE49-F238E27FC236}">
                  <a16:creationId xmlns:a16="http://schemas.microsoft.com/office/drawing/2014/main" id="{3073A429-8658-EC43-92EE-0AD58A5391AE}"/>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0">
              <a:extLst>
                <a:ext uri="{FF2B5EF4-FFF2-40B4-BE49-F238E27FC236}">
                  <a16:creationId xmlns:a16="http://schemas.microsoft.com/office/drawing/2014/main" id="{7B9CB57C-5EF1-7045-A70B-14CD6B5A98B9}"/>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1">
              <a:extLst>
                <a:ext uri="{FF2B5EF4-FFF2-40B4-BE49-F238E27FC236}">
                  <a16:creationId xmlns:a16="http://schemas.microsoft.com/office/drawing/2014/main" id="{9187B6AA-F9BB-264E-BDCA-C7E0AC3A676B}"/>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pic>
        <p:nvPicPr>
          <p:cNvPr id="52" name="Picture 2" descr="https://i1.hdslb.com/bfs/archive/4b21da76a28b1211647c8bdb58fbdace9316b777.jpg"/>
          <p:cNvPicPr>
            <a:picLocks noChangeAspect="1" noChangeArrowheads="1"/>
          </p:cNvPicPr>
          <p:nvPr userDrawn="1"/>
        </p:nvPicPr>
        <p:blipFill rotWithShape="1">
          <a:blip r:embed="rId2">
            <a:extLst>
              <a:ext uri="{28A0092B-C50C-407E-A947-70E740481C1C}">
                <a14:useLocalDpi xmlns:a14="http://schemas.microsoft.com/office/drawing/2010/main" val="0"/>
              </a:ext>
            </a:extLst>
          </a:blip>
          <a:srcRect t="19905" b="20473"/>
          <a:stretch/>
        </p:blipFill>
        <p:spPr bwMode="auto">
          <a:xfrm>
            <a:off x="9715063" y="333286"/>
            <a:ext cx="2410016" cy="8973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87275698"/>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2AAAA80D-F069-DE49-8F34-B637A12CB530}"/>
              </a:ext>
            </a:extLst>
          </p:cNvPr>
          <p:cNvSpPr>
            <a:spLocks noGrp="1"/>
          </p:cNvSpPr>
          <p:nvPr>
            <p:ph type="title"/>
          </p:nvPr>
        </p:nvSpPr>
        <p:spPr>
          <a:xfrm>
            <a:off x="1307508" y="365126"/>
            <a:ext cx="8220812" cy="879086"/>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a:extLst>
              <a:ext uri="{FF2B5EF4-FFF2-40B4-BE49-F238E27FC236}">
                <a16:creationId xmlns:a16="http://schemas.microsoft.com/office/drawing/2014/main" id="{A2AAAE3F-F071-E445-8B18-8EAF3979328E}"/>
              </a:ext>
            </a:extLst>
          </p:cNvPr>
          <p:cNvSpPr>
            <a:spLocks noGrp="1"/>
          </p:cNvSpPr>
          <p:nvPr>
            <p:ph type="body" idx="1"/>
          </p:nvPr>
        </p:nvSpPr>
        <p:spPr>
          <a:xfrm>
            <a:off x="838200" y="1590270"/>
            <a:ext cx="10515600" cy="4586694"/>
          </a:xfrm>
          <a:prstGeom prst="rect">
            <a:avLst/>
          </a:prstGeom>
        </p:spPr>
        <p:txBody>
          <a:bodyPr vert="horz" lIns="91440" tIns="45720" rIns="91440" bIns="45720" rtlCol="0">
            <a:normAutofit/>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7" name="日期占位符 3">
            <a:extLst>
              <a:ext uri="{FF2B5EF4-FFF2-40B4-BE49-F238E27FC236}">
                <a16:creationId xmlns:a16="http://schemas.microsoft.com/office/drawing/2014/main" id="{EB21E25C-9464-224B-A47F-E3D24E9CD74A}"/>
              </a:ext>
            </a:extLst>
          </p:cNvPr>
          <p:cNvSpPr>
            <a:spLocks noGrp="1"/>
          </p:cNvSpPr>
          <p:nvPr>
            <p:ph type="dt" sz="half" idx="2"/>
          </p:nvPr>
        </p:nvSpPr>
        <p:spPr>
          <a:xfrm>
            <a:off x="158698" y="6476424"/>
            <a:ext cx="2743200" cy="365125"/>
          </a:xfrm>
          <a:prstGeom prst="rect">
            <a:avLst/>
          </a:prstGeom>
        </p:spPr>
        <p:txBody>
          <a:bodyPr/>
          <a:lstStyle>
            <a:lvl1pPr>
              <a:defRPr sz="16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en-US" altLang="zh-CN"/>
              <a:t>5.3 </a:t>
            </a:r>
            <a:r>
              <a:rPr kumimoji="1" lang="zh-CN" altLang="en-US"/>
              <a:t>网络互联</a:t>
            </a:r>
            <a:endParaRPr kumimoji="1" lang="zh-CN" altLang="en-US" dirty="0"/>
          </a:p>
        </p:txBody>
      </p:sp>
      <p:sp>
        <p:nvSpPr>
          <p:cNvPr id="8" name="页脚占位符 4">
            <a:extLst>
              <a:ext uri="{FF2B5EF4-FFF2-40B4-BE49-F238E27FC236}">
                <a16:creationId xmlns:a16="http://schemas.microsoft.com/office/drawing/2014/main" id="{A9B84893-18EE-FF43-9533-BF8DF0782CA4}"/>
              </a:ext>
            </a:extLst>
          </p:cNvPr>
          <p:cNvSpPr>
            <a:spLocks noGrp="1"/>
          </p:cNvSpPr>
          <p:nvPr>
            <p:ph type="ftr" sz="quarter" idx="3"/>
          </p:nvPr>
        </p:nvSpPr>
        <p:spPr>
          <a:xfrm>
            <a:off x="4038600" y="6476424"/>
            <a:ext cx="4114800" cy="365125"/>
          </a:xfrm>
          <a:prstGeom prst="rect">
            <a:avLst/>
          </a:prstGeom>
        </p:spPr>
        <p:txBody>
          <a:bodyPr/>
          <a:lstStyle>
            <a:lvl1pPr algn="ctr">
              <a:defRPr sz="16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zh-CN" altLang="en-US"/>
              <a:t>引自：</a:t>
            </a:r>
            <a:r>
              <a:rPr kumimoji="1" lang="en-US" altLang="zh-CN"/>
              <a:t>XXXXX</a:t>
            </a:r>
            <a:r>
              <a:rPr kumimoji="1" lang="zh-CN" altLang="en-US"/>
              <a:t>（如果需要）</a:t>
            </a:r>
            <a:endParaRPr kumimoji="1" lang="zh-CN" altLang="en-US" dirty="0"/>
          </a:p>
        </p:txBody>
      </p:sp>
      <p:sp>
        <p:nvSpPr>
          <p:cNvPr id="9" name="灯片编号占位符 5">
            <a:extLst>
              <a:ext uri="{FF2B5EF4-FFF2-40B4-BE49-F238E27FC236}">
                <a16:creationId xmlns:a16="http://schemas.microsoft.com/office/drawing/2014/main" id="{A375705C-8722-064B-8FCF-B9180D154A69}"/>
              </a:ext>
            </a:extLst>
          </p:cNvPr>
          <p:cNvSpPr>
            <a:spLocks noGrp="1"/>
          </p:cNvSpPr>
          <p:nvPr>
            <p:ph type="sldNum" sz="quarter" idx="4"/>
          </p:nvPr>
        </p:nvSpPr>
        <p:spPr>
          <a:xfrm>
            <a:off x="8686810" y="6476424"/>
            <a:ext cx="3319670" cy="365125"/>
          </a:xfrm>
          <a:prstGeom prst="rect">
            <a:avLst/>
          </a:prstGeom>
        </p:spPr>
        <p:txBody>
          <a:bodyPr/>
          <a:lstStyle>
            <a:lvl1pPr algn="r">
              <a:defRPr sz="1600">
                <a:solidFill>
                  <a:schemeClr val="bg1">
                    <a:lumMod val="65000"/>
                  </a:schemeClr>
                </a:solidFill>
                <a:latin typeface="Microsoft YaHei" panose="020B0503020204020204" pitchFamily="34" charset="-122"/>
                <a:ea typeface="Microsoft YaHei" panose="020B0503020204020204" pitchFamily="34" charset="-122"/>
              </a:defRPr>
            </a:lvl1pPr>
          </a:lstStyle>
          <a:p>
            <a:fld id="{8D4D1E41-7A09-AB4A-A4E1-09765ADA2698}" type="slidenum">
              <a:rPr kumimoji="1" lang="zh-CN" altLang="en-US" smtClean="0"/>
              <a:pPr/>
              <a:t>‹#›</a:t>
            </a:fld>
            <a:endParaRPr kumimoji="1" lang="zh-CN" altLang="en-US" dirty="0"/>
          </a:p>
        </p:txBody>
      </p:sp>
    </p:spTree>
    <p:extLst>
      <p:ext uri="{BB962C8B-B14F-4D97-AF65-F5344CB8AC3E}">
        <p14:creationId xmlns:p14="http://schemas.microsoft.com/office/powerpoint/2010/main" val="226653481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Lst>
  <p:hf hdr="0" ftr="0"/>
  <p:txStyles>
    <p:titleStyle>
      <a:lvl1pPr algn="l" defTabSz="914400" rtl="0" eaLnBrk="1" latinLnBrk="0" hangingPunct="1">
        <a:lnSpc>
          <a:spcPct val="90000"/>
        </a:lnSpc>
        <a:spcBef>
          <a:spcPct val="0"/>
        </a:spcBef>
        <a:buNone/>
        <a:defRPr sz="4400" kern="1200">
          <a:solidFill>
            <a:schemeClr val="tx1"/>
          </a:solidFill>
          <a:latin typeface="Microsoft YaHei" panose="020B0503020204020204" pitchFamily="34" charset="-122"/>
          <a:ea typeface="Microsoft YaHei" panose="020B0503020204020204" pitchFamily="34" charset="-122"/>
          <a:cs typeface="+mj-cs"/>
        </a:defRPr>
      </a:lvl1pPr>
    </p:titleStyle>
    <p:bodyStyle>
      <a:lvl1pPr marL="228600" indent="-228600" algn="l" defTabSz="914400" rtl="0" eaLnBrk="1" latinLnBrk="0" hangingPunct="1">
        <a:lnSpc>
          <a:spcPct val="100000"/>
        </a:lnSpc>
        <a:spcBef>
          <a:spcPts val="600"/>
        </a:spcBef>
        <a:buFont typeface="Arial" panose="020B060402020202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notesSlide" Target="../notesSlides/notesSlide1.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30.png"/></Relationships>
</file>

<file path=ppt/slides/_rels/slide1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30.png"/></Relationships>
</file>

<file path=ppt/slides/_rels/slide13.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30.png"/></Relationships>
</file>

<file path=ppt/slides/_rels/slide16.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tags" Target="../tags/tag3.xml"/><Relationship Id="rId7" Type="http://schemas.openxmlformats.org/officeDocument/2006/relationships/image" Target="../media/image30.png"/><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image" Target="../media/image29.png"/><Relationship Id="rId5" Type="http://schemas.openxmlformats.org/officeDocument/2006/relationships/notesSlide" Target="../notesSlides/notesSlide6.xml"/><Relationship Id="rId4"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tags" Target="../tags/tag6.xml"/><Relationship Id="rId7" Type="http://schemas.openxmlformats.org/officeDocument/2006/relationships/image" Target="../media/image30.png"/><Relationship Id="rId2" Type="http://schemas.openxmlformats.org/officeDocument/2006/relationships/tags" Target="../tags/tag5.xml"/><Relationship Id="rId1" Type="http://schemas.openxmlformats.org/officeDocument/2006/relationships/tags" Target="../tags/tag4.xml"/><Relationship Id="rId6" Type="http://schemas.openxmlformats.org/officeDocument/2006/relationships/image" Target="../media/image29.png"/><Relationship Id="rId5" Type="http://schemas.openxmlformats.org/officeDocument/2006/relationships/notesSlide" Target="../notesSlides/notesSlide7.xml"/><Relationship Id="rId4"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8.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30.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30.png"/></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32.sv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image" Target="../media/image29.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3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33.wmf"/></Relationships>
</file>

<file path=ppt/slides/_rels/slide3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2.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33.wmf"/></Relationships>
</file>

<file path=ppt/slides/_rels/slide37.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image" Target="../media/image29.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3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3.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3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3.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4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3.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4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image" Target="../media/image29.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43.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4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4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9.png"/><Relationship Id="rId4" Type="http://schemas.openxmlformats.org/officeDocument/2006/relationships/image" Target="../media/image30.png"/></Relationships>
</file>

<file path=ppt/slides/_rels/slide49.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9.png"/><Relationship Id="rId4" Type="http://schemas.openxmlformats.org/officeDocument/2006/relationships/image" Target="../media/image30.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27.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29.png"/></Relationships>
</file>

<file path=ppt/slides/_rels/slide53.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28.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29.png"/></Relationships>
</file>

<file path=ppt/slides/_rels/slide54.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55.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3.wmf"/><Relationship Id="rId1" Type="http://schemas.openxmlformats.org/officeDocument/2006/relationships/slideLayout" Target="../slideLayouts/slideLayout2.xml"/><Relationship Id="rId5" Type="http://schemas.openxmlformats.org/officeDocument/2006/relationships/image" Target="../media/image34.png"/><Relationship Id="rId4" Type="http://schemas.openxmlformats.org/officeDocument/2006/relationships/image" Target="../media/image30.png"/></Relationships>
</file>

<file path=ppt/slides/_rels/slide58.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8" Type="http://schemas.openxmlformats.org/officeDocument/2006/relationships/image" Target="../media/image36.jpeg"/><Relationship Id="rId3" Type="http://schemas.openxmlformats.org/officeDocument/2006/relationships/image" Target="../media/image33.wmf"/><Relationship Id="rId7" Type="http://schemas.openxmlformats.org/officeDocument/2006/relationships/image" Target="../media/image35.jpeg"/><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62.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63.xml.rels><?xml version="1.0" encoding="UTF-8" standalone="yes"?>
<Relationships xmlns="http://schemas.openxmlformats.org/package/2006/relationships"><Relationship Id="rId8" Type="http://schemas.openxmlformats.org/officeDocument/2006/relationships/image" Target="../media/image36.jpeg"/><Relationship Id="rId3" Type="http://schemas.openxmlformats.org/officeDocument/2006/relationships/image" Target="../media/image33.wmf"/><Relationship Id="rId7" Type="http://schemas.openxmlformats.org/officeDocument/2006/relationships/image" Target="../media/image35.jpe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64.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37.wmf"/></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0.png"/><Relationship Id="rId4" Type="http://schemas.openxmlformats.org/officeDocument/2006/relationships/image" Target="../media/image29.png"/></Relationships>
</file>

<file path=ppt/slides/_rels/slide7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33.wmf"/><Relationship Id="rId1" Type="http://schemas.openxmlformats.org/officeDocument/2006/relationships/slideLayout" Target="../slideLayouts/slideLayout2.xml"/><Relationship Id="rId4" Type="http://schemas.openxmlformats.org/officeDocument/2006/relationships/image" Target="../media/image29.png"/></Relationships>
</file>

<file path=ppt/slides/_rels/slide7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Layout" Target="../slideLayouts/slideLayout2.xml"/><Relationship Id="rId5" Type="http://schemas.openxmlformats.org/officeDocument/2006/relationships/image" Target="../media/image41.jpeg"/><Relationship Id="rId4" Type="http://schemas.openxmlformats.org/officeDocument/2006/relationships/image" Target="../media/image40.jpeg"/></Relationships>
</file>

<file path=ppt/slides/_rels/slide75.xml.rels><?xml version="1.0" encoding="UTF-8" standalone="yes"?>
<Relationships xmlns="http://schemas.openxmlformats.org/package/2006/relationships"><Relationship Id="rId8" Type="http://schemas.openxmlformats.org/officeDocument/2006/relationships/image" Target="../media/image48.png"/><Relationship Id="rId13" Type="http://schemas.openxmlformats.org/officeDocument/2006/relationships/image" Target="../media/image53.svg"/><Relationship Id="rId3" Type="http://schemas.openxmlformats.org/officeDocument/2006/relationships/image" Target="../media/image43.png"/><Relationship Id="rId7" Type="http://schemas.openxmlformats.org/officeDocument/2006/relationships/image" Target="../media/image47.svg"/><Relationship Id="rId12" Type="http://schemas.openxmlformats.org/officeDocument/2006/relationships/image" Target="../media/image52.png"/><Relationship Id="rId2" Type="http://schemas.openxmlformats.org/officeDocument/2006/relationships/image" Target="../media/image42.png"/><Relationship Id="rId1" Type="http://schemas.openxmlformats.org/officeDocument/2006/relationships/slideLayout" Target="../slideLayouts/slideLayout2.xml"/><Relationship Id="rId6" Type="http://schemas.openxmlformats.org/officeDocument/2006/relationships/image" Target="../media/image46.png"/><Relationship Id="rId11" Type="http://schemas.openxmlformats.org/officeDocument/2006/relationships/image" Target="../media/image51.svg"/><Relationship Id="rId5" Type="http://schemas.openxmlformats.org/officeDocument/2006/relationships/image" Target="../media/image45.svg"/><Relationship Id="rId10" Type="http://schemas.openxmlformats.org/officeDocument/2006/relationships/image" Target="../media/image50.png"/><Relationship Id="rId4" Type="http://schemas.openxmlformats.org/officeDocument/2006/relationships/image" Target="../media/image44.png"/><Relationship Id="rId9" Type="http://schemas.openxmlformats.org/officeDocument/2006/relationships/image" Target="../media/image49.svg"/></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8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image" Target="../media/image61.svg"/></Relationships>
</file>

<file path=ppt/slides/_rels/slide105.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3.xml"/><Relationship Id="rId1" Type="http://schemas.openxmlformats.org/officeDocument/2006/relationships/slideLayout" Target="../slideLayouts/slideLayout2.xml"/><Relationship Id="rId4" Type="http://schemas.openxmlformats.org/officeDocument/2006/relationships/image" Target="../media/image65.png"/></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8" Type="http://schemas.openxmlformats.org/officeDocument/2006/relationships/image" Target="../media/image71.png"/><Relationship Id="rId3" Type="http://schemas.openxmlformats.org/officeDocument/2006/relationships/image" Target="../media/image67.emf"/><Relationship Id="rId7" Type="http://schemas.openxmlformats.org/officeDocument/2006/relationships/image" Target="../media/image70.emf"/><Relationship Id="rId2" Type="http://schemas.openxmlformats.org/officeDocument/2006/relationships/oleObject" Target="../embeddings/oleObject1.bin"/><Relationship Id="rId1" Type="http://schemas.openxmlformats.org/officeDocument/2006/relationships/slideLayout" Target="../slideLayouts/slideLayout2.xml"/><Relationship Id="rId6" Type="http://schemas.openxmlformats.org/officeDocument/2006/relationships/image" Target="../media/image69.emf"/><Relationship Id="rId5" Type="http://schemas.openxmlformats.org/officeDocument/2006/relationships/image" Target="../media/image68.emf"/><Relationship Id="rId4" Type="http://schemas.openxmlformats.org/officeDocument/2006/relationships/oleObject" Target="???" TargetMode="External"/><Relationship Id="rId9" Type="http://schemas.openxmlformats.org/officeDocument/2006/relationships/image" Target="../media/image26.png"/></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73.png"/><Relationship Id="rId7" Type="http://schemas.openxmlformats.org/officeDocument/2006/relationships/image" Target="../media/image26.png"/><Relationship Id="rId2" Type="http://schemas.openxmlformats.org/officeDocument/2006/relationships/image" Target="../media/image72.png"/><Relationship Id="rId1" Type="http://schemas.openxmlformats.org/officeDocument/2006/relationships/slideLayout" Target="../slideLayouts/slideLayout2.xml"/><Relationship Id="rId6" Type="http://schemas.openxmlformats.org/officeDocument/2006/relationships/image" Target="../media/image75.jpeg"/><Relationship Id="rId5" Type="http://schemas.openxmlformats.org/officeDocument/2006/relationships/image" Target="../media/image27.wmf"/><Relationship Id="rId4" Type="http://schemas.openxmlformats.org/officeDocument/2006/relationships/image" Target="../media/image74.png"/></Relationships>
</file>

<file path=ppt/slides/_rels/slide12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76.jpeg"/><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78.wmf"/><Relationship Id="rId2" Type="http://schemas.openxmlformats.org/officeDocument/2006/relationships/image" Target="../media/image77.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3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78.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3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27.wmf"/><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40.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83.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84.png"/></Relationships>
</file>

<file path=ppt/slides/_rels/slide14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3" Type="http://schemas.openxmlformats.org/officeDocument/2006/relationships/image" Target="../media/image85.wmf"/><Relationship Id="rId2" Type="http://schemas.openxmlformats.org/officeDocument/2006/relationships/oleObject" Target="../embeddings/oleObject2.bin"/><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oleObject" Target="../embeddings/oleObject4.bin"/><Relationship Id="rId4" Type="http://schemas.openxmlformats.org/officeDocument/2006/relationships/oleObject" Target="../embeddings/oleObject3.bin"/></Relationships>
</file>

<file path=ppt/slides/_rels/slide14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86.png"/><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85.wmf"/><Relationship Id="rId2" Type="http://schemas.openxmlformats.org/officeDocument/2006/relationships/oleObject" Target="../embeddings/oleObject5.bin"/><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87.png"/></Relationships>
</file>

<file path=ppt/slides/_rels/slide146.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85.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85.wmf"/></Relationships>
</file>

<file path=ppt/slides/_rels/slide14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88.png"/><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notesSlide" Target="../notesSlides/notesSlide90.xml"/><Relationship Id="rId1" Type="http://schemas.openxmlformats.org/officeDocument/2006/relationships/slideLayout" Target="../slideLayouts/slideLayout2.xml"/><Relationship Id="rId4" Type="http://schemas.openxmlformats.org/officeDocument/2006/relationships/image" Target="../media/image85.wmf"/></Relationships>
</file>

<file path=ppt/slides/_rels/slide155.xml.rels><?xml version="1.0" encoding="UTF-8" standalone="yes"?>
<Relationships xmlns="http://schemas.openxmlformats.org/package/2006/relationships"><Relationship Id="rId3" Type="http://schemas.openxmlformats.org/officeDocument/2006/relationships/hyperlink" Target="http://www.taobao.com/" TargetMode="External"/><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95.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62.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96.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6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98.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92.png"/></Relationships>
</file>

<file path=ppt/slides/_rels/slide165.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99.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66.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3" Type="http://schemas.openxmlformats.org/officeDocument/2006/relationships/image" Target="../media/image95.png"/><Relationship Id="rId7" Type="http://schemas.openxmlformats.org/officeDocument/2006/relationships/image" Target="../media/image26.png"/><Relationship Id="rId2" Type="http://schemas.openxmlformats.org/officeDocument/2006/relationships/notesSlide" Target="../notesSlides/notesSlide103.xml"/><Relationship Id="rId1" Type="http://schemas.openxmlformats.org/officeDocument/2006/relationships/slideLayout" Target="../slideLayouts/slideLayout2.xml"/><Relationship Id="rId6" Type="http://schemas.openxmlformats.org/officeDocument/2006/relationships/image" Target="../media/image98.png"/><Relationship Id="rId5" Type="http://schemas.openxmlformats.org/officeDocument/2006/relationships/image" Target="../media/image97.png"/><Relationship Id="rId4" Type="http://schemas.openxmlformats.org/officeDocument/2006/relationships/image" Target="../media/image96.png"/></Relationships>
</file>

<file path=ppt/slides/_rels/slide170.xml.rels><?xml version="1.0" encoding="UTF-8" standalone="yes"?>
<Relationships xmlns="http://schemas.openxmlformats.org/package/2006/relationships"><Relationship Id="rId8" Type="http://schemas.openxmlformats.org/officeDocument/2006/relationships/image" Target="../media/image100.png"/><Relationship Id="rId13" Type="http://schemas.openxmlformats.org/officeDocument/2006/relationships/image" Target="../media/image26.png"/><Relationship Id="rId3" Type="http://schemas.openxmlformats.org/officeDocument/2006/relationships/image" Target="../media/image95.png"/><Relationship Id="rId7" Type="http://schemas.openxmlformats.org/officeDocument/2006/relationships/image" Target="../media/image99.png"/><Relationship Id="rId12" Type="http://schemas.openxmlformats.org/officeDocument/2006/relationships/image" Target="../media/image104.png"/><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image" Target="../media/image98.png"/><Relationship Id="rId11" Type="http://schemas.openxmlformats.org/officeDocument/2006/relationships/image" Target="../media/image103.png"/><Relationship Id="rId5" Type="http://schemas.openxmlformats.org/officeDocument/2006/relationships/image" Target="../media/image97.png"/><Relationship Id="rId10" Type="http://schemas.openxmlformats.org/officeDocument/2006/relationships/image" Target="../media/image102.png"/><Relationship Id="rId4" Type="http://schemas.openxmlformats.org/officeDocument/2006/relationships/image" Target="../media/image96.png"/><Relationship Id="rId9" Type="http://schemas.openxmlformats.org/officeDocument/2006/relationships/image" Target="../media/image101.png"/></Relationships>
</file>

<file path=ppt/slides/_rels/slide17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05.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image" Target="../media/image107.wmf"/><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10.xml"/><Relationship Id="rId1" Type="http://schemas.openxmlformats.org/officeDocument/2006/relationships/slideLayout" Target="../slideLayouts/slideLayout2.xml"/><Relationship Id="rId4" Type="http://schemas.openxmlformats.org/officeDocument/2006/relationships/image" Target="../media/image111.png"/></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121.xml"/><Relationship Id="rId1" Type="http://schemas.openxmlformats.org/officeDocument/2006/relationships/slideLayout" Target="../slideLayouts/slideLayout2.xml"/><Relationship Id="rId5" Type="http://schemas.openxmlformats.org/officeDocument/2006/relationships/image" Target="../media/image117.png"/><Relationship Id="rId4" Type="http://schemas.openxmlformats.org/officeDocument/2006/relationships/image" Target="../media/image116.png"/></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image" Target="../media/image118.emf"/><Relationship Id="rId1" Type="http://schemas.openxmlformats.org/officeDocument/2006/relationships/slideLayout" Target="../slideLayouts/slideLayout2.xml"/><Relationship Id="rId4" Type="http://schemas.openxmlformats.org/officeDocument/2006/relationships/image" Target="../media/image119.emf"/></Relationships>
</file>

<file path=ppt/slides/_rels/slide213.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notesSlide" Target="../notesSlides/notesSlide123.xml"/><Relationship Id="rId1" Type="http://schemas.openxmlformats.org/officeDocument/2006/relationships/slideLayout" Target="../slideLayouts/slideLayout2.xml"/><Relationship Id="rId5" Type="http://schemas.openxmlformats.org/officeDocument/2006/relationships/image" Target="../media/image118.emf"/><Relationship Id="rId4" Type="http://schemas.openxmlformats.org/officeDocument/2006/relationships/image" Target="../media/image119.emf"/></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image" Target="../media/image118.emf"/><Relationship Id="rId1" Type="http://schemas.openxmlformats.org/officeDocument/2006/relationships/slideLayout" Target="../slideLayouts/slideLayout2.xml"/><Relationship Id="rId4" Type="http://schemas.openxmlformats.org/officeDocument/2006/relationships/image" Target="../media/image119.emf"/></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20.png"/><Relationship Id="rId1" Type="http://schemas.openxmlformats.org/officeDocument/2006/relationships/slideLayout" Target="../slideLayouts/slideLayout2.xml"/><Relationship Id="rId4" Type="http://schemas.openxmlformats.org/officeDocument/2006/relationships/image" Target="../media/image122.jpeg"/></Relationships>
</file>

<file path=ppt/slides/_rels/slide218.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8.xml"/><Relationship Id="rId1" Type="http://schemas.openxmlformats.org/officeDocument/2006/relationships/tags" Target="../tags/tag7.xml"/><Relationship Id="rId5" Type="http://schemas.openxmlformats.org/officeDocument/2006/relationships/image" Target="../media/image126.emf"/><Relationship Id="rId4" Type="http://schemas.openxmlformats.org/officeDocument/2006/relationships/image" Target="../media/image125.emf"/></Relationships>
</file>

<file path=ppt/slides/_rels/slide220.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2.xml"/><Relationship Id="rId6" Type="http://schemas.openxmlformats.org/officeDocument/2006/relationships/image" Target="../media/image131.png"/><Relationship Id="rId5" Type="http://schemas.openxmlformats.org/officeDocument/2006/relationships/image" Target="../media/image130.png"/><Relationship Id="rId4" Type="http://schemas.openxmlformats.org/officeDocument/2006/relationships/image" Target="../media/image129.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image" Target="../media/image132.emf"/><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image" Target="../media/image135.emf"/><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image" Target="../media/image136.png"/><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image" Target="../media/image137.emf"/><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8" Type="http://schemas.openxmlformats.org/officeDocument/2006/relationships/image" Target="../media/image142.png"/><Relationship Id="rId13" Type="http://schemas.openxmlformats.org/officeDocument/2006/relationships/image" Target="../media/image146.png"/><Relationship Id="rId3" Type="http://schemas.openxmlformats.org/officeDocument/2006/relationships/slideLayout" Target="../slideLayouts/slideLayout2.xml"/><Relationship Id="rId7" Type="http://schemas.openxmlformats.org/officeDocument/2006/relationships/image" Target="../media/image141.wmf"/><Relationship Id="rId12" Type="http://schemas.openxmlformats.org/officeDocument/2006/relationships/image" Target="../media/image145.png"/><Relationship Id="rId2" Type="http://schemas.openxmlformats.org/officeDocument/2006/relationships/tags" Target="../tags/tag10.xml"/><Relationship Id="rId1" Type="http://schemas.openxmlformats.org/officeDocument/2006/relationships/tags" Target="../tags/tag9.xml"/><Relationship Id="rId6" Type="http://schemas.openxmlformats.org/officeDocument/2006/relationships/image" Target="../media/image140.png"/><Relationship Id="rId11" Type="http://schemas.openxmlformats.org/officeDocument/2006/relationships/image" Target="../media/image144.emf"/><Relationship Id="rId5" Type="http://schemas.openxmlformats.org/officeDocument/2006/relationships/image" Target="../media/image139.png"/><Relationship Id="rId10" Type="http://schemas.openxmlformats.org/officeDocument/2006/relationships/image" Target="../media/image143.emf"/><Relationship Id="rId4" Type="http://schemas.openxmlformats.org/officeDocument/2006/relationships/image" Target="../media/image138.wmf"/><Relationship Id="rId9" Type="http://schemas.openxmlformats.org/officeDocument/2006/relationships/oleObject" Target="../embeddings/oleObject9.bin"/></Relationships>
</file>

<file path=ppt/slides/_rels/slide230.xml.rels><?xml version="1.0" encoding="UTF-8" standalone="yes"?>
<Relationships xmlns="http://schemas.openxmlformats.org/package/2006/relationships"><Relationship Id="rId26" Type="http://schemas.openxmlformats.org/officeDocument/2006/relationships/tags" Target="../tags/tag36.xml"/><Relationship Id="rId21" Type="http://schemas.openxmlformats.org/officeDocument/2006/relationships/tags" Target="../tags/tag31.xml"/><Relationship Id="rId42" Type="http://schemas.openxmlformats.org/officeDocument/2006/relationships/tags" Target="../tags/tag52.xml"/><Relationship Id="rId47" Type="http://schemas.openxmlformats.org/officeDocument/2006/relationships/tags" Target="../tags/tag57.xml"/><Relationship Id="rId63" Type="http://schemas.openxmlformats.org/officeDocument/2006/relationships/tags" Target="../tags/tag73.xml"/><Relationship Id="rId68" Type="http://schemas.openxmlformats.org/officeDocument/2006/relationships/tags" Target="../tags/tag78.xml"/><Relationship Id="rId84" Type="http://schemas.openxmlformats.org/officeDocument/2006/relationships/tags" Target="../tags/tag94.xml"/><Relationship Id="rId89" Type="http://schemas.openxmlformats.org/officeDocument/2006/relationships/tags" Target="../tags/tag99.xml"/><Relationship Id="rId16" Type="http://schemas.openxmlformats.org/officeDocument/2006/relationships/tags" Target="../tags/tag26.xml"/><Relationship Id="rId11" Type="http://schemas.openxmlformats.org/officeDocument/2006/relationships/tags" Target="../tags/tag21.xml"/><Relationship Id="rId32" Type="http://schemas.openxmlformats.org/officeDocument/2006/relationships/tags" Target="../tags/tag42.xml"/><Relationship Id="rId37" Type="http://schemas.openxmlformats.org/officeDocument/2006/relationships/tags" Target="../tags/tag47.xml"/><Relationship Id="rId53" Type="http://schemas.openxmlformats.org/officeDocument/2006/relationships/tags" Target="../tags/tag63.xml"/><Relationship Id="rId58" Type="http://schemas.openxmlformats.org/officeDocument/2006/relationships/tags" Target="../tags/tag68.xml"/><Relationship Id="rId74" Type="http://schemas.openxmlformats.org/officeDocument/2006/relationships/tags" Target="../tags/tag84.xml"/><Relationship Id="rId79" Type="http://schemas.openxmlformats.org/officeDocument/2006/relationships/tags" Target="../tags/tag89.xml"/><Relationship Id="rId5" Type="http://schemas.openxmlformats.org/officeDocument/2006/relationships/tags" Target="../tags/tag15.xml"/><Relationship Id="rId90" Type="http://schemas.openxmlformats.org/officeDocument/2006/relationships/tags" Target="../tags/tag100.xml"/><Relationship Id="rId95" Type="http://schemas.openxmlformats.org/officeDocument/2006/relationships/tags" Target="../tags/tag105.xml"/><Relationship Id="rId22" Type="http://schemas.openxmlformats.org/officeDocument/2006/relationships/tags" Target="../tags/tag32.xml"/><Relationship Id="rId27" Type="http://schemas.openxmlformats.org/officeDocument/2006/relationships/tags" Target="../tags/tag37.xml"/><Relationship Id="rId43" Type="http://schemas.openxmlformats.org/officeDocument/2006/relationships/tags" Target="../tags/tag53.xml"/><Relationship Id="rId48" Type="http://schemas.openxmlformats.org/officeDocument/2006/relationships/tags" Target="../tags/tag58.xml"/><Relationship Id="rId64" Type="http://schemas.openxmlformats.org/officeDocument/2006/relationships/tags" Target="../tags/tag74.xml"/><Relationship Id="rId69" Type="http://schemas.openxmlformats.org/officeDocument/2006/relationships/tags" Target="../tags/tag79.xml"/><Relationship Id="rId80" Type="http://schemas.openxmlformats.org/officeDocument/2006/relationships/tags" Target="../tags/tag90.xml"/><Relationship Id="rId85" Type="http://schemas.openxmlformats.org/officeDocument/2006/relationships/tags" Target="../tags/tag95.xml"/><Relationship Id="rId3" Type="http://schemas.openxmlformats.org/officeDocument/2006/relationships/tags" Target="../tags/tag13.xml"/><Relationship Id="rId12" Type="http://schemas.openxmlformats.org/officeDocument/2006/relationships/tags" Target="../tags/tag22.xml"/><Relationship Id="rId17" Type="http://schemas.openxmlformats.org/officeDocument/2006/relationships/tags" Target="../tags/tag27.xml"/><Relationship Id="rId25" Type="http://schemas.openxmlformats.org/officeDocument/2006/relationships/tags" Target="../tags/tag35.xml"/><Relationship Id="rId33" Type="http://schemas.openxmlformats.org/officeDocument/2006/relationships/tags" Target="../tags/tag43.xml"/><Relationship Id="rId38" Type="http://schemas.openxmlformats.org/officeDocument/2006/relationships/tags" Target="../tags/tag48.xml"/><Relationship Id="rId46" Type="http://schemas.openxmlformats.org/officeDocument/2006/relationships/tags" Target="../tags/tag56.xml"/><Relationship Id="rId59" Type="http://schemas.openxmlformats.org/officeDocument/2006/relationships/tags" Target="../tags/tag69.xml"/><Relationship Id="rId67" Type="http://schemas.openxmlformats.org/officeDocument/2006/relationships/tags" Target="../tags/tag77.xml"/><Relationship Id="rId20" Type="http://schemas.openxmlformats.org/officeDocument/2006/relationships/tags" Target="../tags/tag30.xml"/><Relationship Id="rId41" Type="http://schemas.openxmlformats.org/officeDocument/2006/relationships/tags" Target="../tags/tag51.xml"/><Relationship Id="rId54" Type="http://schemas.openxmlformats.org/officeDocument/2006/relationships/tags" Target="../tags/tag64.xml"/><Relationship Id="rId62" Type="http://schemas.openxmlformats.org/officeDocument/2006/relationships/tags" Target="../tags/tag72.xml"/><Relationship Id="rId70" Type="http://schemas.openxmlformats.org/officeDocument/2006/relationships/tags" Target="../tags/tag80.xml"/><Relationship Id="rId75" Type="http://schemas.openxmlformats.org/officeDocument/2006/relationships/tags" Target="../tags/tag85.xml"/><Relationship Id="rId83" Type="http://schemas.openxmlformats.org/officeDocument/2006/relationships/tags" Target="../tags/tag93.xml"/><Relationship Id="rId88" Type="http://schemas.openxmlformats.org/officeDocument/2006/relationships/tags" Target="../tags/tag98.xml"/><Relationship Id="rId91" Type="http://schemas.openxmlformats.org/officeDocument/2006/relationships/tags" Target="../tags/tag101.xml"/><Relationship Id="rId96" Type="http://schemas.openxmlformats.org/officeDocument/2006/relationships/slideLayout" Target="../slideLayouts/slideLayout2.xml"/><Relationship Id="rId1" Type="http://schemas.openxmlformats.org/officeDocument/2006/relationships/tags" Target="../tags/tag11.xml"/><Relationship Id="rId6" Type="http://schemas.openxmlformats.org/officeDocument/2006/relationships/tags" Target="../tags/tag16.xml"/><Relationship Id="rId15" Type="http://schemas.openxmlformats.org/officeDocument/2006/relationships/tags" Target="../tags/tag25.xml"/><Relationship Id="rId23" Type="http://schemas.openxmlformats.org/officeDocument/2006/relationships/tags" Target="../tags/tag33.xml"/><Relationship Id="rId28" Type="http://schemas.openxmlformats.org/officeDocument/2006/relationships/tags" Target="../tags/tag38.xml"/><Relationship Id="rId36" Type="http://schemas.openxmlformats.org/officeDocument/2006/relationships/tags" Target="../tags/tag46.xml"/><Relationship Id="rId49" Type="http://schemas.openxmlformats.org/officeDocument/2006/relationships/tags" Target="../tags/tag59.xml"/><Relationship Id="rId57" Type="http://schemas.openxmlformats.org/officeDocument/2006/relationships/tags" Target="../tags/tag67.xml"/><Relationship Id="rId10" Type="http://schemas.openxmlformats.org/officeDocument/2006/relationships/tags" Target="../tags/tag20.xml"/><Relationship Id="rId31" Type="http://schemas.openxmlformats.org/officeDocument/2006/relationships/tags" Target="../tags/tag41.xml"/><Relationship Id="rId44" Type="http://schemas.openxmlformats.org/officeDocument/2006/relationships/tags" Target="../tags/tag54.xml"/><Relationship Id="rId52" Type="http://schemas.openxmlformats.org/officeDocument/2006/relationships/tags" Target="../tags/tag62.xml"/><Relationship Id="rId60" Type="http://schemas.openxmlformats.org/officeDocument/2006/relationships/tags" Target="../tags/tag70.xml"/><Relationship Id="rId65" Type="http://schemas.openxmlformats.org/officeDocument/2006/relationships/tags" Target="../tags/tag75.xml"/><Relationship Id="rId73" Type="http://schemas.openxmlformats.org/officeDocument/2006/relationships/tags" Target="../tags/tag83.xml"/><Relationship Id="rId78" Type="http://schemas.openxmlformats.org/officeDocument/2006/relationships/tags" Target="../tags/tag88.xml"/><Relationship Id="rId81" Type="http://schemas.openxmlformats.org/officeDocument/2006/relationships/tags" Target="../tags/tag91.xml"/><Relationship Id="rId86" Type="http://schemas.openxmlformats.org/officeDocument/2006/relationships/tags" Target="../tags/tag96.xml"/><Relationship Id="rId94" Type="http://schemas.openxmlformats.org/officeDocument/2006/relationships/tags" Target="../tags/tag104.xml"/><Relationship Id="rId4" Type="http://schemas.openxmlformats.org/officeDocument/2006/relationships/tags" Target="../tags/tag14.xml"/><Relationship Id="rId9" Type="http://schemas.openxmlformats.org/officeDocument/2006/relationships/tags" Target="../tags/tag19.xml"/><Relationship Id="rId13" Type="http://schemas.openxmlformats.org/officeDocument/2006/relationships/tags" Target="../tags/tag23.xml"/><Relationship Id="rId18" Type="http://schemas.openxmlformats.org/officeDocument/2006/relationships/tags" Target="../tags/tag28.xml"/><Relationship Id="rId39" Type="http://schemas.openxmlformats.org/officeDocument/2006/relationships/tags" Target="../tags/tag49.xml"/><Relationship Id="rId34" Type="http://schemas.openxmlformats.org/officeDocument/2006/relationships/tags" Target="../tags/tag44.xml"/><Relationship Id="rId50" Type="http://schemas.openxmlformats.org/officeDocument/2006/relationships/tags" Target="../tags/tag60.xml"/><Relationship Id="rId55" Type="http://schemas.openxmlformats.org/officeDocument/2006/relationships/tags" Target="../tags/tag65.xml"/><Relationship Id="rId76" Type="http://schemas.openxmlformats.org/officeDocument/2006/relationships/tags" Target="../tags/tag86.xml"/><Relationship Id="rId97" Type="http://schemas.openxmlformats.org/officeDocument/2006/relationships/image" Target="../media/image147.png"/><Relationship Id="rId7" Type="http://schemas.openxmlformats.org/officeDocument/2006/relationships/tags" Target="../tags/tag17.xml"/><Relationship Id="rId71" Type="http://schemas.openxmlformats.org/officeDocument/2006/relationships/tags" Target="../tags/tag81.xml"/><Relationship Id="rId92" Type="http://schemas.openxmlformats.org/officeDocument/2006/relationships/tags" Target="../tags/tag102.xml"/><Relationship Id="rId2" Type="http://schemas.openxmlformats.org/officeDocument/2006/relationships/tags" Target="../tags/tag12.xml"/><Relationship Id="rId29" Type="http://schemas.openxmlformats.org/officeDocument/2006/relationships/tags" Target="../tags/tag39.xml"/><Relationship Id="rId24" Type="http://schemas.openxmlformats.org/officeDocument/2006/relationships/tags" Target="../tags/tag34.xml"/><Relationship Id="rId40" Type="http://schemas.openxmlformats.org/officeDocument/2006/relationships/tags" Target="../tags/tag50.xml"/><Relationship Id="rId45" Type="http://schemas.openxmlformats.org/officeDocument/2006/relationships/tags" Target="../tags/tag55.xml"/><Relationship Id="rId66" Type="http://schemas.openxmlformats.org/officeDocument/2006/relationships/tags" Target="../tags/tag76.xml"/><Relationship Id="rId87" Type="http://schemas.openxmlformats.org/officeDocument/2006/relationships/tags" Target="../tags/tag97.xml"/><Relationship Id="rId61" Type="http://schemas.openxmlformats.org/officeDocument/2006/relationships/tags" Target="../tags/tag71.xml"/><Relationship Id="rId82" Type="http://schemas.openxmlformats.org/officeDocument/2006/relationships/tags" Target="../tags/tag92.xml"/><Relationship Id="rId19" Type="http://schemas.openxmlformats.org/officeDocument/2006/relationships/tags" Target="../tags/tag29.xml"/><Relationship Id="rId14" Type="http://schemas.openxmlformats.org/officeDocument/2006/relationships/tags" Target="../tags/tag24.xml"/><Relationship Id="rId30" Type="http://schemas.openxmlformats.org/officeDocument/2006/relationships/tags" Target="../tags/tag40.xml"/><Relationship Id="rId35" Type="http://schemas.openxmlformats.org/officeDocument/2006/relationships/tags" Target="../tags/tag45.xml"/><Relationship Id="rId56" Type="http://schemas.openxmlformats.org/officeDocument/2006/relationships/tags" Target="../tags/tag66.xml"/><Relationship Id="rId77" Type="http://schemas.openxmlformats.org/officeDocument/2006/relationships/tags" Target="../tags/tag87.xml"/><Relationship Id="rId8" Type="http://schemas.openxmlformats.org/officeDocument/2006/relationships/tags" Target="../tags/tag18.xml"/><Relationship Id="rId51" Type="http://schemas.openxmlformats.org/officeDocument/2006/relationships/tags" Target="../tags/tag61.xml"/><Relationship Id="rId72" Type="http://schemas.openxmlformats.org/officeDocument/2006/relationships/tags" Target="../tags/tag82.xml"/><Relationship Id="rId93" Type="http://schemas.openxmlformats.org/officeDocument/2006/relationships/tags" Target="../tags/tag103.xml"/><Relationship Id="rId98" Type="http://schemas.microsoft.com/office/2007/relationships/hdphoto" Target="../media/hdphoto1.wdp"/></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48.png"/><Relationship Id="rId4" Type="http://schemas.openxmlformats.org/officeDocument/2006/relationships/notesSlide" Target="../notesSlides/notesSlide125.xml"/></Relationships>
</file>

<file path=ppt/slides/_rels/slide23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mp4"/><Relationship Id="rId1" Type="http://schemas.microsoft.com/office/2007/relationships/media" Target="../media/media2.mp4"/><Relationship Id="rId5" Type="http://schemas.openxmlformats.org/officeDocument/2006/relationships/image" Target="../media/image149.png"/><Relationship Id="rId4" Type="http://schemas.openxmlformats.org/officeDocument/2006/relationships/notesSlide" Target="../notesSlides/notesSlide126.xml"/></Relationships>
</file>

<file path=ppt/slides/_rels/slide23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3.mp4"/><Relationship Id="rId1" Type="http://schemas.microsoft.com/office/2007/relationships/media" Target="../media/media3.mp4"/><Relationship Id="rId5" Type="http://schemas.openxmlformats.org/officeDocument/2006/relationships/image" Target="../media/image150.png"/><Relationship Id="rId4" Type="http://schemas.openxmlformats.org/officeDocument/2006/relationships/notesSlide" Target="../notesSlides/notesSlide127.xml"/></Relationships>
</file>

<file path=ppt/slides/_rels/slide236.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128.xml"/><Relationship Id="rId1" Type="http://schemas.openxmlformats.org/officeDocument/2006/relationships/slideLayout" Target="../slideLayouts/slideLayout2.xml"/><Relationship Id="rId5" Type="http://schemas.openxmlformats.org/officeDocument/2006/relationships/image" Target="../media/image153.png"/><Relationship Id="rId4" Type="http://schemas.openxmlformats.org/officeDocument/2006/relationships/image" Target="../media/image152.png"/></Relationships>
</file>

<file path=ppt/slides/_rels/slide237.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29.xml"/><Relationship Id="rId1" Type="http://schemas.openxmlformats.org/officeDocument/2006/relationships/slideLayout" Target="../slideLayouts/slideLayout2.xml"/><Relationship Id="rId5" Type="http://schemas.openxmlformats.org/officeDocument/2006/relationships/image" Target="../media/image152.png"/><Relationship Id="rId4" Type="http://schemas.openxmlformats.org/officeDocument/2006/relationships/image" Target="../media/image151.png"/></Relationships>
</file>

<file path=ppt/slides/_rels/slide238.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30.xml"/><Relationship Id="rId1" Type="http://schemas.openxmlformats.org/officeDocument/2006/relationships/slideLayout" Target="../slideLayouts/slideLayout2.xml"/><Relationship Id="rId5" Type="http://schemas.openxmlformats.org/officeDocument/2006/relationships/image" Target="../media/image152.png"/><Relationship Id="rId4" Type="http://schemas.openxmlformats.org/officeDocument/2006/relationships/image" Target="../media/image151.png"/></Relationships>
</file>

<file path=ppt/slides/_rels/slide239.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31.xml"/><Relationship Id="rId1" Type="http://schemas.openxmlformats.org/officeDocument/2006/relationships/slideLayout" Target="../slideLayouts/slideLayout2.xml"/><Relationship Id="rId5" Type="http://schemas.openxmlformats.org/officeDocument/2006/relationships/image" Target="../media/image152.png"/><Relationship Id="rId4" Type="http://schemas.openxmlformats.org/officeDocument/2006/relationships/image" Target="../media/image151.png"/></Relationships>
</file>

<file path=ppt/slides/_rels/slide240.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32.xml"/><Relationship Id="rId1" Type="http://schemas.openxmlformats.org/officeDocument/2006/relationships/slideLayout" Target="../slideLayouts/slideLayout2.xml"/><Relationship Id="rId6" Type="http://schemas.openxmlformats.org/officeDocument/2006/relationships/image" Target="../media/image154.png"/><Relationship Id="rId5" Type="http://schemas.openxmlformats.org/officeDocument/2006/relationships/image" Target="../media/image152.png"/><Relationship Id="rId4" Type="http://schemas.openxmlformats.org/officeDocument/2006/relationships/image" Target="../media/image151.png"/></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136.xml"/><Relationship Id="rId1" Type="http://schemas.openxmlformats.org/officeDocument/2006/relationships/slideLayout" Target="../slideLayouts/slideLayout2.xml"/><Relationship Id="rId4" Type="http://schemas.openxmlformats.org/officeDocument/2006/relationships/image" Target="../media/image157.png"/></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8" Type="http://schemas.openxmlformats.org/officeDocument/2006/relationships/image" Target="../media/image159.png"/><Relationship Id="rId3" Type="http://schemas.microsoft.com/office/2007/relationships/media" Target="../media/media5.mp4"/><Relationship Id="rId7" Type="http://schemas.openxmlformats.org/officeDocument/2006/relationships/image" Target="../media/image158.png"/><Relationship Id="rId2" Type="http://schemas.openxmlformats.org/officeDocument/2006/relationships/video" Target="../media/media4.mp4"/><Relationship Id="rId1" Type="http://schemas.microsoft.com/office/2007/relationships/media" Target="../media/media4.mp4"/><Relationship Id="rId6" Type="http://schemas.openxmlformats.org/officeDocument/2006/relationships/notesSlide" Target="../notesSlides/notesSlide138.xml"/><Relationship Id="rId5" Type="http://schemas.openxmlformats.org/officeDocument/2006/relationships/slideLayout" Target="../slideLayouts/slideLayout2.xml"/><Relationship Id="rId4" Type="http://schemas.openxmlformats.org/officeDocument/2006/relationships/video" Target="../media/media5.mp4"/></Relationships>
</file>

<file path=ppt/slides/_rels/slide247.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8" Type="http://schemas.openxmlformats.org/officeDocument/2006/relationships/image" Target="../media/image164.jpeg"/><Relationship Id="rId3" Type="http://schemas.openxmlformats.org/officeDocument/2006/relationships/image" Target="../media/image160.wmf"/><Relationship Id="rId7" Type="http://schemas.openxmlformats.org/officeDocument/2006/relationships/image" Target="../media/image163.wmf"/><Relationship Id="rId2" Type="http://schemas.openxmlformats.org/officeDocument/2006/relationships/notesSlide" Target="../notesSlides/notesSlide140.xml"/><Relationship Id="rId1" Type="http://schemas.openxmlformats.org/officeDocument/2006/relationships/slideLayout" Target="../slideLayouts/slideLayout2.xml"/><Relationship Id="rId6" Type="http://schemas.openxmlformats.org/officeDocument/2006/relationships/image" Target="../media/image162.emf"/><Relationship Id="rId11" Type="http://schemas.openxmlformats.org/officeDocument/2006/relationships/image" Target="../media/image26.png"/><Relationship Id="rId5" Type="http://schemas.openxmlformats.org/officeDocument/2006/relationships/image" Target="../media/image161.wmf"/><Relationship Id="rId10" Type="http://schemas.openxmlformats.org/officeDocument/2006/relationships/image" Target="../media/image166.wmf"/><Relationship Id="rId4" Type="http://schemas.openxmlformats.org/officeDocument/2006/relationships/image" Target="../media/image153.png"/><Relationship Id="rId9" Type="http://schemas.openxmlformats.org/officeDocument/2006/relationships/image" Target="../media/image165.wmf"/></Relationships>
</file>

<file path=ppt/slides/_rels/slide249.xml.rels><?xml version="1.0" encoding="UTF-8" standalone="yes"?>
<Relationships xmlns="http://schemas.openxmlformats.org/package/2006/relationships"><Relationship Id="rId3" Type="http://schemas.openxmlformats.org/officeDocument/2006/relationships/image" Target="../media/image167.png"/><Relationship Id="rId7" Type="http://schemas.openxmlformats.org/officeDocument/2006/relationships/image" Target="../media/image26.png"/><Relationship Id="rId2" Type="http://schemas.openxmlformats.org/officeDocument/2006/relationships/notesSlide" Target="../notesSlides/notesSlide141.xml"/><Relationship Id="rId1" Type="http://schemas.openxmlformats.org/officeDocument/2006/relationships/slideLayout" Target="../slideLayouts/slideLayout2.xml"/><Relationship Id="rId6" Type="http://schemas.openxmlformats.org/officeDocument/2006/relationships/image" Target="../media/image153.png"/><Relationship Id="rId5" Type="http://schemas.openxmlformats.org/officeDocument/2006/relationships/image" Target="../media/image168.wmf"/><Relationship Id="rId4" Type="http://schemas.openxmlformats.org/officeDocument/2006/relationships/oleObject" Target="../embeddings/oleObject10.bin"/></Relationships>
</file>

<file path=ppt/slides/_rels/slide250.xml.rels><?xml version="1.0" encoding="UTF-8" standalone="yes"?>
<Relationships xmlns="http://schemas.openxmlformats.org/package/2006/relationships"><Relationship Id="rId3" Type="http://schemas.openxmlformats.org/officeDocument/2006/relationships/image" Target="../media/image167.png"/><Relationship Id="rId7" Type="http://schemas.openxmlformats.org/officeDocument/2006/relationships/image" Target="../media/image26.png"/><Relationship Id="rId2" Type="http://schemas.openxmlformats.org/officeDocument/2006/relationships/notesSlide" Target="../notesSlides/notesSlide142.xml"/><Relationship Id="rId1" Type="http://schemas.openxmlformats.org/officeDocument/2006/relationships/slideLayout" Target="../slideLayouts/slideLayout2.xml"/><Relationship Id="rId6" Type="http://schemas.openxmlformats.org/officeDocument/2006/relationships/image" Target="../media/image153.png"/><Relationship Id="rId5" Type="http://schemas.openxmlformats.org/officeDocument/2006/relationships/image" Target="../media/image168.wmf"/><Relationship Id="rId4" Type="http://schemas.openxmlformats.org/officeDocument/2006/relationships/oleObject" Target="../embeddings/oleObject10.bin"/></Relationships>
</file>

<file path=ppt/slides/_rels/slide251.xml.rels><?xml version="1.0" encoding="UTF-8" standalone="yes"?>
<Relationships xmlns="http://schemas.openxmlformats.org/package/2006/relationships"><Relationship Id="rId8" Type="http://schemas.openxmlformats.org/officeDocument/2006/relationships/image" Target="../media/image151.png"/><Relationship Id="rId3" Type="http://schemas.openxmlformats.org/officeDocument/2006/relationships/image" Target="../media/image169.wmf"/><Relationship Id="rId7" Type="http://schemas.openxmlformats.org/officeDocument/2006/relationships/image" Target="../media/image173.wmf"/><Relationship Id="rId2" Type="http://schemas.openxmlformats.org/officeDocument/2006/relationships/notesSlide" Target="../notesSlides/notesSlide143.xml"/><Relationship Id="rId1" Type="http://schemas.openxmlformats.org/officeDocument/2006/relationships/slideLayout" Target="../slideLayouts/slideLayout2.xml"/><Relationship Id="rId6" Type="http://schemas.openxmlformats.org/officeDocument/2006/relationships/image" Target="../media/image172.wmf"/><Relationship Id="rId5" Type="http://schemas.openxmlformats.org/officeDocument/2006/relationships/image" Target="../media/image171.wmf"/><Relationship Id="rId10" Type="http://schemas.openxmlformats.org/officeDocument/2006/relationships/image" Target="../media/image26.png"/><Relationship Id="rId4" Type="http://schemas.openxmlformats.org/officeDocument/2006/relationships/image" Target="../media/image170.wmf"/><Relationship Id="rId9" Type="http://schemas.openxmlformats.org/officeDocument/2006/relationships/image" Target="../media/image153.png"/></Relationships>
</file>

<file path=ppt/slides/_rels/slide252.xml.rels><?xml version="1.0" encoding="UTF-8" standalone="yes"?>
<Relationships xmlns="http://schemas.openxmlformats.org/package/2006/relationships"><Relationship Id="rId8" Type="http://schemas.openxmlformats.org/officeDocument/2006/relationships/image" Target="../media/image176.wmf"/><Relationship Id="rId13" Type="http://schemas.openxmlformats.org/officeDocument/2006/relationships/image" Target="../media/image180.wmf"/><Relationship Id="rId3" Type="http://schemas.openxmlformats.org/officeDocument/2006/relationships/oleObject" Target="../embeddings/oleObject11.bin"/><Relationship Id="rId7" Type="http://schemas.openxmlformats.org/officeDocument/2006/relationships/image" Target="../media/image175.wmf"/><Relationship Id="rId12" Type="http://schemas.openxmlformats.org/officeDocument/2006/relationships/image" Target="../media/image179.png"/><Relationship Id="rId2" Type="http://schemas.openxmlformats.org/officeDocument/2006/relationships/notesSlide" Target="../notesSlides/notesSlide144.xml"/><Relationship Id="rId1" Type="http://schemas.openxmlformats.org/officeDocument/2006/relationships/slideLayout" Target="../slideLayouts/slideLayout2.xml"/><Relationship Id="rId6" Type="http://schemas.openxmlformats.org/officeDocument/2006/relationships/oleObject" Target="../embeddings/oleObject12.bin"/><Relationship Id="rId11" Type="http://schemas.openxmlformats.org/officeDocument/2006/relationships/image" Target="../media/image178.wmf"/><Relationship Id="rId5" Type="http://schemas.openxmlformats.org/officeDocument/2006/relationships/image" Target="../media/image169.wmf"/><Relationship Id="rId10" Type="http://schemas.openxmlformats.org/officeDocument/2006/relationships/oleObject" Target="../embeddings/oleObject13.bin"/><Relationship Id="rId4" Type="http://schemas.openxmlformats.org/officeDocument/2006/relationships/image" Target="../media/image174.wmf"/><Relationship Id="rId9" Type="http://schemas.openxmlformats.org/officeDocument/2006/relationships/image" Target="../media/image177.wmf"/><Relationship Id="rId14" Type="http://schemas.openxmlformats.org/officeDocument/2006/relationships/image" Target="../media/image26.png"/></Relationships>
</file>

<file path=ppt/slides/_rels/slide253.xml.rels><?xml version="1.0" encoding="UTF-8" standalone="yes"?>
<Relationships xmlns="http://schemas.openxmlformats.org/package/2006/relationships"><Relationship Id="rId8" Type="http://schemas.openxmlformats.org/officeDocument/2006/relationships/image" Target="../media/image176.wmf"/><Relationship Id="rId13" Type="http://schemas.openxmlformats.org/officeDocument/2006/relationships/image" Target="../media/image180.wmf"/><Relationship Id="rId3" Type="http://schemas.openxmlformats.org/officeDocument/2006/relationships/oleObject" Target="../embeddings/oleObject11.bin"/><Relationship Id="rId7" Type="http://schemas.openxmlformats.org/officeDocument/2006/relationships/image" Target="../media/image175.wmf"/><Relationship Id="rId12" Type="http://schemas.openxmlformats.org/officeDocument/2006/relationships/image" Target="../media/image179.png"/><Relationship Id="rId2" Type="http://schemas.openxmlformats.org/officeDocument/2006/relationships/notesSlide" Target="../notesSlides/notesSlide145.xml"/><Relationship Id="rId1" Type="http://schemas.openxmlformats.org/officeDocument/2006/relationships/slideLayout" Target="../slideLayouts/slideLayout2.xml"/><Relationship Id="rId6" Type="http://schemas.openxmlformats.org/officeDocument/2006/relationships/oleObject" Target="../embeddings/oleObject12.bin"/><Relationship Id="rId11" Type="http://schemas.openxmlformats.org/officeDocument/2006/relationships/image" Target="../media/image178.wmf"/><Relationship Id="rId5" Type="http://schemas.openxmlformats.org/officeDocument/2006/relationships/image" Target="../media/image169.wmf"/><Relationship Id="rId10" Type="http://schemas.openxmlformats.org/officeDocument/2006/relationships/oleObject" Target="../embeddings/oleObject13.bin"/><Relationship Id="rId4" Type="http://schemas.openxmlformats.org/officeDocument/2006/relationships/image" Target="../media/image174.wmf"/><Relationship Id="rId9" Type="http://schemas.openxmlformats.org/officeDocument/2006/relationships/image" Target="../media/image177.wmf"/><Relationship Id="rId14" Type="http://schemas.openxmlformats.org/officeDocument/2006/relationships/image" Target="../media/image26.png"/></Relationships>
</file>

<file path=ppt/slides/_rels/slide254.xml.rels><?xml version="1.0" encoding="UTF-8" standalone="yes"?>
<Relationships xmlns="http://schemas.openxmlformats.org/package/2006/relationships"><Relationship Id="rId8" Type="http://schemas.openxmlformats.org/officeDocument/2006/relationships/image" Target="../media/image175.wmf"/><Relationship Id="rId13" Type="http://schemas.openxmlformats.org/officeDocument/2006/relationships/image" Target="../media/image181.wmf"/><Relationship Id="rId3" Type="http://schemas.openxmlformats.org/officeDocument/2006/relationships/image" Target="../media/image180.wmf"/><Relationship Id="rId7" Type="http://schemas.openxmlformats.org/officeDocument/2006/relationships/oleObject" Target="../embeddings/oleObject12.bin"/><Relationship Id="rId12" Type="http://schemas.openxmlformats.org/officeDocument/2006/relationships/image" Target="../media/image178.wmf"/><Relationship Id="rId2" Type="http://schemas.openxmlformats.org/officeDocument/2006/relationships/notesSlide" Target="../notesSlides/notesSlide146.xml"/><Relationship Id="rId1" Type="http://schemas.openxmlformats.org/officeDocument/2006/relationships/slideLayout" Target="../slideLayouts/slideLayout2.xml"/><Relationship Id="rId6" Type="http://schemas.openxmlformats.org/officeDocument/2006/relationships/image" Target="../media/image169.wmf"/><Relationship Id="rId11" Type="http://schemas.openxmlformats.org/officeDocument/2006/relationships/oleObject" Target="../embeddings/oleObject13.bin"/><Relationship Id="rId5" Type="http://schemas.openxmlformats.org/officeDocument/2006/relationships/image" Target="../media/image174.wmf"/><Relationship Id="rId15" Type="http://schemas.openxmlformats.org/officeDocument/2006/relationships/image" Target="../media/image26.png"/><Relationship Id="rId10" Type="http://schemas.openxmlformats.org/officeDocument/2006/relationships/image" Target="../media/image177.wmf"/><Relationship Id="rId4" Type="http://schemas.openxmlformats.org/officeDocument/2006/relationships/oleObject" Target="../embeddings/oleObject11.bin"/><Relationship Id="rId9" Type="http://schemas.openxmlformats.org/officeDocument/2006/relationships/image" Target="../media/image176.wmf"/><Relationship Id="rId14" Type="http://schemas.openxmlformats.org/officeDocument/2006/relationships/image" Target="../media/image153.png"/></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1BF4557-9C48-9D4D-A8AC-E1BCC4493B84}"/>
              </a:ext>
            </a:extLst>
          </p:cNvPr>
          <p:cNvSpPr>
            <a:spLocks noGrp="1"/>
          </p:cNvSpPr>
          <p:nvPr>
            <p:ph type="ctrTitle"/>
          </p:nvPr>
        </p:nvSpPr>
        <p:spPr>
          <a:xfrm>
            <a:off x="1524000" y="891254"/>
            <a:ext cx="9144000" cy="2002674"/>
          </a:xfrm>
        </p:spPr>
        <p:txBody>
          <a:bodyPr/>
          <a:lstStyle/>
          <a:p>
            <a:r>
              <a:rPr kumimoji="1" lang="zh-CN" altLang="en-US" dirty="0"/>
              <a:t>第五章 网络层</a:t>
            </a:r>
          </a:p>
        </p:txBody>
      </p:sp>
      <p:sp>
        <p:nvSpPr>
          <p:cNvPr id="3" name="副标题 2">
            <a:extLst>
              <a:ext uri="{FF2B5EF4-FFF2-40B4-BE49-F238E27FC236}">
                <a16:creationId xmlns:a16="http://schemas.microsoft.com/office/drawing/2014/main" id="{1BAADDAC-3DB3-ED4C-BCFE-CFA6839907EE}"/>
              </a:ext>
            </a:extLst>
          </p:cNvPr>
          <p:cNvSpPr>
            <a:spLocks noGrp="1"/>
          </p:cNvSpPr>
          <p:nvPr>
            <p:ph type="subTitle" idx="1"/>
          </p:nvPr>
        </p:nvSpPr>
        <p:spPr>
          <a:xfrm>
            <a:off x="1524000" y="3727942"/>
            <a:ext cx="9144000" cy="1657977"/>
          </a:xfrm>
        </p:spPr>
        <p:txBody>
          <a:bodyPr>
            <a:normAutofit/>
          </a:bodyPr>
          <a:lstStyle/>
          <a:p>
            <a:pPr>
              <a:lnSpc>
                <a:spcPct val="150000"/>
              </a:lnSpc>
            </a:pPr>
            <a:r>
              <a:rPr kumimoji="1" lang="zh-CN" altLang="en-US" sz="3200"/>
              <a:t>计算机网络课程组</a:t>
            </a:r>
            <a:endParaRPr kumimoji="1" lang="en-US" altLang="zh-CN" sz="3200" dirty="0"/>
          </a:p>
        </p:txBody>
      </p:sp>
    </p:spTree>
    <p:extLst>
      <p:ext uri="{BB962C8B-B14F-4D97-AF65-F5344CB8AC3E}">
        <p14:creationId xmlns:p14="http://schemas.microsoft.com/office/powerpoint/2010/main" val="262015687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7DCC7AC-475E-1E4C-8CD6-1AECBEC28035}"/>
              </a:ext>
            </a:extLst>
          </p:cNvPr>
          <p:cNvSpPr>
            <a:spLocks noGrp="1"/>
          </p:cNvSpPr>
          <p:nvPr>
            <p:ph type="title"/>
          </p:nvPr>
        </p:nvSpPr>
        <p:spPr/>
        <p:txBody>
          <a:bodyPr/>
          <a:lstStyle/>
          <a:p>
            <a:r>
              <a:rPr lang="zh-CN" altLang="en-US" dirty="0"/>
              <a:t>本章目标</a:t>
            </a:r>
            <a:endParaRPr kumimoji="1" lang="zh-CN" altLang="en-US" dirty="0"/>
          </a:p>
        </p:txBody>
      </p:sp>
      <p:sp>
        <p:nvSpPr>
          <p:cNvPr id="3" name="内容占位符 2">
            <a:extLst>
              <a:ext uri="{FF2B5EF4-FFF2-40B4-BE49-F238E27FC236}">
                <a16:creationId xmlns:a16="http://schemas.microsoft.com/office/drawing/2014/main" id="{ED1732F0-50F7-8947-81D6-CBBAE8232DE9}"/>
              </a:ext>
            </a:extLst>
          </p:cNvPr>
          <p:cNvSpPr>
            <a:spLocks noGrp="1"/>
          </p:cNvSpPr>
          <p:nvPr>
            <p:ph idx="1"/>
          </p:nvPr>
        </p:nvSpPr>
        <p:spPr>
          <a:xfrm>
            <a:off x="838200" y="1510758"/>
            <a:ext cx="10515600" cy="5079228"/>
          </a:xfrm>
        </p:spPr>
        <p:txBody>
          <a:bodyPr>
            <a:normAutofit fontScale="92500"/>
          </a:bodyPr>
          <a:lstStyle/>
          <a:p>
            <a:pPr marL="514350" indent="-514350">
              <a:lnSpc>
                <a:spcPct val="120000"/>
              </a:lnSpc>
              <a:buFont typeface="+mj-lt"/>
              <a:buAutoNum type="arabicPeriod"/>
            </a:pPr>
            <a:r>
              <a:rPr kumimoji="1" lang="zh-CN" altLang="en-US" dirty="0"/>
              <a:t>学习网络层服务：</a:t>
            </a:r>
            <a:r>
              <a:rPr kumimoji="1" lang="zh-CN" altLang="en-US" dirty="0">
                <a:solidFill>
                  <a:srgbClr val="C00000"/>
                </a:solidFill>
              </a:rPr>
              <a:t>无连接和面向连接服务</a:t>
            </a:r>
            <a:r>
              <a:rPr kumimoji="1" lang="zh-CN" altLang="en-US" dirty="0"/>
              <a:t>，数据报和虚电路网络</a:t>
            </a:r>
            <a:endParaRPr kumimoji="1" lang="en-US" altLang="zh-CN" dirty="0"/>
          </a:p>
          <a:p>
            <a:pPr marL="514350" indent="-514350">
              <a:lnSpc>
                <a:spcPct val="120000"/>
              </a:lnSpc>
              <a:buFont typeface="+mj-lt"/>
              <a:buAutoNum type="arabicPeriod"/>
            </a:pPr>
            <a:r>
              <a:rPr kumimoji="1" lang="zh-CN" altLang="en-US" dirty="0"/>
              <a:t>学习</a:t>
            </a:r>
            <a:r>
              <a:rPr kumimoji="1" lang="en-US" altLang="zh-CN" dirty="0"/>
              <a:t>Internet</a:t>
            </a:r>
            <a:r>
              <a:rPr kumimoji="1" lang="zh-CN" altLang="en-US" dirty="0"/>
              <a:t>网络层协议：</a:t>
            </a:r>
            <a:r>
              <a:rPr kumimoji="1" lang="en-US" altLang="zh-CN" dirty="0">
                <a:solidFill>
                  <a:srgbClr val="C00000"/>
                </a:solidFill>
              </a:rPr>
              <a:t>IPv4/IPv6, ICMP, DHCP, NAT, ARP</a:t>
            </a:r>
          </a:p>
          <a:p>
            <a:pPr marL="514350" indent="-514350">
              <a:lnSpc>
                <a:spcPct val="120000"/>
              </a:lnSpc>
              <a:buFont typeface="+mj-lt"/>
              <a:buAutoNum type="arabicPeriod"/>
            </a:pPr>
            <a:r>
              <a:rPr kumimoji="1" lang="zh-CN" altLang="en-US" dirty="0"/>
              <a:t>掌握</a:t>
            </a:r>
            <a:r>
              <a:rPr kumimoji="1" lang="zh-CN" altLang="en-US" dirty="0">
                <a:solidFill>
                  <a:srgbClr val="C00000"/>
                </a:solidFill>
              </a:rPr>
              <a:t>链路状态、距离矢量</a:t>
            </a:r>
            <a:r>
              <a:rPr kumimoji="1" lang="zh-CN" altLang="en-US" dirty="0"/>
              <a:t>等路由算法，了解层次路由结构</a:t>
            </a:r>
            <a:endParaRPr kumimoji="1" lang="en-US" altLang="zh-CN" dirty="0"/>
          </a:p>
          <a:p>
            <a:pPr marL="514350" indent="-514350">
              <a:lnSpc>
                <a:spcPct val="120000"/>
              </a:lnSpc>
              <a:buFont typeface="+mj-lt"/>
              <a:buAutoNum type="arabicPeriod"/>
            </a:pPr>
            <a:r>
              <a:rPr kumimoji="1" lang="zh-CN" altLang="en-US" dirty="0"/>
              <a:t>掌握</a:t>
            </a:r>
            <a:r>
              <a:rPr kumimoji="1" lang="en-US" altLang="zh-CN" dirty="0"/>
              <a:t>Internet</a:t>
            </a:r>
            <a:r>
              <a:rPr kumimoji="1" lang="zh-CN" altLang="en-US" dirty="0"/>
              <a:t>路由协议：</a:t>
            </a:r>
            <a:r>
              <a:rPr kumimoji="1" lang="en-US" altLang="zh-CN" dirty="0">
                <a:solidFill>
                  <a:srgbClr val="C00000"/>
                </a:solidFill>
              </a:rPr>
              <a:t>OSPF</a:t>
            </a:r>
            <a:r>
              <a:rPr kumimoji="1" lang="zh-CN" altLang="en-US" dirty="0">
                <a:solidFill>
                  <a:srgbClr val="C00000"/>
                </a:solidFill>
              </a:rPr>
              <a:t>、</a:t>
            </a:r>
            <a:r>
              <a:rPr kumimoji="1" lang="en-US" altLang="zh-CN" dirty="0">
                <a:solidFill>
                  <a:srgbClr val="C00000"/>
                </a:solidFill>
              </a:rPr>
              <a:t>RIP</a:t>
            </a:r>
            <a:r>
              <a:rPr kumimoji="1" lang="zh-CN" altLang="en-US" dirty="0">
                <a:solidFill>
                  <a:srgbClr val="C00000"/>
                </a:solidFill>
              </a:rPr>
              <a:t>、</a:t>
            </a:r>
            <a:r>
              <a:rPr kumimoji="1" lang="en-US" altLang="zh-CN" dirty="0">
                <a:solidFill>
                  <a:srgbClr val="C00000"/>
                </a:solidFill>
              </a:rPr>
              <a:t>BGP</a:t>
            </a:r>
            <a:r>
              <a:rPr kumimoji="1" lang="zh-CN" altLang="en-US" dirty="0"/>
              <a:t>，了解</a:t>
            </a:r>
            <a:r>
              <a:rPr kumimoji="1" lang="en-US" altLang="zh-CN" dirty="0"/>
              <a:t>MPLS</a:t>
            </a:r>
            <a:endParaRPr kumimoji="1" lang="zh-CN" altLang="en-US" dirty="0"/>
          </a:p>
          <a:p>
            <a:pPr marL="514350" indent="-514350">
              <a:lnSpc>
                <a:spcPct val="120000"/>
              </a:lnSpc>
              <a:buFont typeface="+mj-lt"/>
              <a:buAutoNum type="arabicPeriod"/>
            </a:pPr>
            <a:r>
              <a:rPr kumimoji="1" lang="zh-CN" altLang="en-US" dirty="0"/>
              <a:t>了解</a:t>
            </a:r>
            <a:r>
              <a:rPr kumimoji="1" lang="zh-CN" altLang="en-US" dirty="0">
                <a:solidFill>
                  <a:srgbClr val="C00000"/>
                </a:solidFill>
              </a:rPr>
              <a:t>路由器工作原理</a:t>
            </a:r>
            <a:r>
              <a:rPr kumimoji="1" lang="zh-CN" altLang="en-US" dirty="0"/>
              <a:t>：控制层和数据层，报文转发机制，交换结构</a:t>
            </a:r>
            <a:endParaRPr kumimoji="1" lang="zh-CN" altLang="en-US" dirty="0">
              <a:solidFill>
                <a:srgbClr val="C00000"/>
              </a:solidFill>
            </a:endParaRPr>
          </a:p>
          <a:p>
            <a:pPr marL="514350" indent="-514350">
              <a:lnSpc>
                <a:spcPct val="120000"/>
              </a:lnSpc>
              <a:buFont typeface="+mj-lt"/>
              <a:buAutoNum type="arabicPeriod"/>
            </a:pPr>
            <a:r>
              <a:rPr kumimoji="1" lang="zh-CN" altLang="en-US" dirty="0"/>
              <a:t>了解网络拥塞及</a:t>
            </a:r>
            <a:r>
              <a:rPr kumimoji="1" lang="zh-CN" altLang="en-US" dirty="0">
                <a:solidFill>
                  <a:srgbClr val="C00000"/>
                </a:solidFill>
              </a:rPr>
              <a:t>拥塞控制</a:t>
            </a:r>
            <a:r>
              <a:rPr kumimoji="1" lang="zh-CN" altLang="en-US" dirty="0"/>
              <a:t>思想</a:t>
            </a:r>
          </a:p>
          <a:p>
            <a:pPr marL="514350" indent="-514350">
              <a:lnSpc>
                <a:spcPct val="120000"/>
              </a:lnSpc>
              <a:buFont typeface="+mj-lt"/>
              <a:buAutoNum type="arabicPeriod"/>
            </a:pPr>
            <a:r>
              <a:rPr kumimoji="1" lang="zh-CN" altLang="en-US" dirty="0"/>
              <a:t>了解网络</a:t>
            </a:r>
            <a:r>
              <a:rPr kumimoji="1" lang="zh-CN" altLang="en-US" dirty="0">
                <a:solidFill>
                  <a:srgbClr val="C00000"/>
                </a:solidFill>
              </a:rPr>
              <a:t>服务质量</a:t>
            </a:r>
            <a:r>
              <a:rPr kumimoji="1" lang="zh-CN" altLang="en-US" dirty="0"/>
              <a:t>及设计思想</a:t>
            </a:r>
            <a:endParaRPr kumimoji="1" lang="en-US" altLang="zh-CN" dirty="0"/>
          </a:p>
          <a:p>
            <a:pPr marL="514350" indent="-514350">
              <a:lnSpc>
                <a:spcPct val="120000"/>
              </a:lnSpc>
              <a:buFont typeface="+mj-lt"/>
              <a:buAutoNum type="arabicPeriod"/>
            </a:pPr>
            <a:r>
              <a:rPr kumimoji="1" lang="zh-CN" altLang="en-US" dirty="0"/>
              <a:t>了解其它重要的网络层相关机制：</a:t>
            </a:r>
            <a:r>
              <a:rPr kumimoji="1" lang="zh-CN" altLang="en-US" dirty="0">
                <a:solidFill>
                  <a:srgbClr val="C00000"/>
                </a:solidFill>
              </a:rPr>
              <a:t>三层交换、</a:t>
            </a:r>
            <a:r>
              <a:rPr kumimoji="1" lang="en-US" altLang="zh-CN" dirty="0">
                <a:solidFill>
                  <a:srgbClr val="C00000"/>
                </a:solidFill>
              </a:rPr>
              <a:t>VPN</a:t>
            </a:r>
          </a:p>
          <a:p>
            <a:pPr marL="514350" indent="-514350">
              <a:lnSpc>
                <a:spcPct val="120000"/>
              </a:lnSpc>
              <a:buFont typeface="+mj-lt"/>
              <a:buAutoNum type="arabicPeriod"/>
            </a:pPr>
            <a:r>
              <a:rPr kumimoji="1" lang="zh-CN" altLang="en-US" dirty="0"/>
              <a:t>了解</a:t>
            </a:r>
            <a:r>
              <a:rPr kumimoji="1" lang="en-US" altLang="zh-CN" dirty="0">
                <a:solidFill>
                  <a:srgbClr val="C00000"/>
                </a:solidFill>
              </a:rPr>
              <a:t>IPv6</a:t>
            </a:r>
            <a:r>
              <a:rPr kumimoji="1" lang="zh-CN" altLang="en-US" dirty="0"/>
              <a:t>相关机制</a:t>
            </a:r>
          </a:p>
        </p:txBody>
      </p:sp>
      <p:sp>
        <p:nvSpPr>
          <p:cNvPr id="10" name="灯片编号占位符 9">
            <a:extLst>
              <a:ext uri="{FF2B5EF4-FFF2-40B4-BE49-F238E27FC236}">
                <a16:creationId xmlns:a16="http://schemas.microsoft.com/office/drawing/2014/main" id="{E4DA8857-A0B9-004B-97F3-80764C9D31C3}"/>
              </a:ext>
            </a:extLst>
          </p:cNvPr>
          <p:cNvSpPr>
            <a:spLocks noGrp="1"/>
          </p:cNvSpPr>
          <p:nvPr>
            <p:ph type="sldNum" sz="quarter" idx="12"/>
          </p:nvPr>
        </p:nvSpPr>
        <p:spPr/>
        <p:txBody>
          <a:bodyPr/>
          <a:lstStyle/>
          <a:p>
            <a:fld id="{8D4D1E41-7A09-AB4A-A4E1-09765ADA2698}" type="slidenum">
              <a:rPr kumimoji="1" lang="zh-CN" altLang="en-US" smtClean="0"/>
              <a:t>2</a:t>
            </a:fld>
            <a:endParaRPr kumimoji="1" lang="zh-CN" altLang="en-US" dirty="0"/>
          </a:p>
        </p:txBody>
      </p:sp>
    </p:spTree>
    <p:extLst>
      <p:ext uri="{BB962C8B-B14F-4D97-AF65-F5344CB8AC3E}">
        <p14:creationId xmlns:p14="http://schemas.microsoft.com/office/powerpoint/2010/main" val="13426203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3</a:t>
            </a:fld>
            <a:endParaRPr kumimoji="1" lang="zh-CN" altLang="en-US" dirty="0"/>
          </a:p>
        </p:txBody>
      </p:sp>
    </p:spTree>
    <p:extLst>
      <p:ext uri="{BB962C8B-B14F-4D97-AF65-F5344CB8AC3E}">
        <p14:creationId xmlns:p14="http://schemas.microsoft.com/office/powerpoint/2010/main" val="9725015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solidFill>
                  <a:srgbClr val="C00000"/>
                </a:solidFill>
              </a:rPr>
              <a:t>5.1 </a:t>
            </a:r>
            <a:r>
              <a:rPr lang="zh-CN" altLang="zh-CN" dirty="0">
                <a:solidFill>
                  <a:srgbClr val="C00000"/>
                </a:solidFill>
                <a:sym typeface="+mn-ea"/>
              </a:rPr>
              <a:t>网络层服务</a:t>
            </a:r>
            <a:endParaRPr kumimoji="1" lang="zh-CN" altLang="en-US" dirty="0">
              <a:solidFill>
                <a:srgbClr val="C00000"/>
              </a:solidFill>
            </a:endParaRPr>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4</a:t>
            </a:fld>
            <a:endParaRPr kumimoji="1" lang="zh-CN" altLang="en-US" dirty="0"/>
          </a:p>
        </p:txBody>
      </p:sp>
      <p:sp>
        <p:nvSpPr>
          <p:cNvPr id="6" name="矩形标注 5"/>
          <p:cNvSpPr/>
          <p:nvPr/>
        </p:nvSpPr>
        <p:spPr>
          <a:xfrm>
            <a:off x="5179052" y="1510758"/>
            <a:ext cx="4556097" cy="2182136"/>
          </a:xfrm>
          <a:prstGeom prst="wedgeRectCallout">
            <a:avLst>
              <a:gd name="adj1" fmla="val -79688"/>
              <a:gd name="adj2" fmla="val -37441"/>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587375" indent="-438150">
              <a:lnSpc>
                <a:spcPct val="120000"/>
              </a:lnSpc>
              <a:spcBef>
                <a:spcPts val="600"/>
              </a:spcBef>
              <a:buFont typeface="+mj-lt"/>
              <a:buAutoNum type="arabicPeriod"/>
            </a:pPr>
            <a:r>
              <a:rPr kumimoji="1" lang="zh-CN" altLang="en-US" sz="2400" dirty="0">
                <a:solidFill>
                  <a:prstClr val="black"/>
                </a:solidFill>
                <a:latin typeface="微软雅黑" panose="020B0503020204020204" pitchFamily="34" charset="-122"/>
                <a:ea typeface="微软雅黑" panose="020B0503020204020204" pitchFamily="34" charset="-122"/>
              </a:rPr>
              <a:t>网络层服务概述</a:t>
            </a:r>
            <a:endParaRPr kumimoji="1" lang="en-US" altLang="zh-CN" sz="2400" dirty="0">
              <a:solidFill>
                <a:prstClr val="black"/>
              </a:solidFill>
              <a:latin typeface="微软雅黑" panose="020B0503020204020204" pitchFamily="34" charset="-122"/>
              <a:ea typeface="微软雅黑" panose="020B0503020204020204" pitchFamily="34" charset="-122"/>
            </a:endParaRPr>
          </a:p>
          <a:p>
            <a:pPr marL="587375" indent="-438150">
              <a:lnSpc>
                <a:spcPct val="120000"/>
              </a:lnSpc>
              <a:spcBef>
                <a:spcPts val="600"/>
              </a:spcBef>
              <a:buFont typeface="+mj-lt"/>
              <a:buAutoNum type="arabicPeriod"/>
            </a:pPr>
            <a:r>
              <a:rPr kumimoji="1" lang="zh-CN" altLang="zh-CN" sz="2400" dirty="0">
                <a:solidFill>
                  <a:prstClr val="black"/>
                </a:solidFill>
                <a:latin typeface="微软雅黑" panose="020B0503020204020204" pitchFamily="34" charset="-122"/>
                <a:ea typeface="微软雅黑" panose="020B0503020204020204" pitchFamily="34" charset="-122"/>
              </a:rPr>
              <a:t>无连接服务的实现</a:t>
            </a:r>
          </a:p>
          <a:p>
            <a:pPr marL="587375" indent="-438150">
              <a:lnSpc>
                <a:spcPct val="120000"/>
              </a:lnSpc>
              <a:spcBef>
                <a:spcPts val="600"/>
              </a:spcBef>
              <a:buFont typeface="+mj-lt"/>
              <a:buAutoNum type="arabicPeriod"/>
            </a:pPr>
            <a:r>
              <a:rPr kumimoji="1" lang="zh-CN" altLang="zh-CN" sz="2400" dirty="0">
                <a:solidFill>
                  <a:prstClr val="black"/>
                </a:solidFill>
                <a:latin typeface="微软雅黑" panose="020B0503020204020204" pitchFamily="34" charset="-122"/>
                <a:ea typeface="微软雅黑" panose="020B0503020204020204" pitchFamily="34" charset="-122"/>
              </a:rPr>
              <a:t>面向连接服务的实现</a:t>
            </a:r>
          </a:p>
          <a:p>
            <a:pPr marL="587375" indent="-438150">
              <a:lnSpc>
                <a:spcPct val="120000"/>
              </a:lnSpc>
              <a:spcBef>
                <a:spcPts val="600"/>
              </a:spcBef>
              <a:buFont typeface="+mj-lt"/>
              <a:buAutoNum type="arabicPeriod"/>
            </a:pPr>
            <a:r>
              <a:rPr kumimoji="1" lang="zh-CN" altLang="zh-CN" sz="2400" dirty="0">
                <a:solidFill>
                  <a:prstClr val="black"/>
                </a:solidFill>
                <a:latin typeface="微软雅黑" panose="020B0503020204020204" pitchFamily="34" charset="-122"/>
                <a:ea typeface="微软雅黑" panose="020B0503020204020204" pitchFamily="34" charset="-122"/>
              </a:rPr>
              <a:t>虚电路与数据报网络的比较</a:t>
            </a:r>
          </a:p>
          <a:p>
            <a:pPr marL="587375" indent="-438150">
              <a:lnSpc>
                <a:spcPct val="120000"/>
              </a:lnSpc>
              <a:spcBef>
                <a:spcPts val="600"/>
              </a:spcBef>
              <a:buFont typeface="+mj-lt"/>
              <a:buAutoNum type="arabicPeriod"/>
            </a:pPr>
            <a:endParaRPr kumimoji="1" lang="zh-CN" altLang="en-US" sz="2400" dirty="0">
              <a:solidFill>
                <a:prstClr val="black"/>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4758935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l">
              <a:buClrTx/>
              <a:buSzTx/>
              <a:buFontTx/>
            </a:pPr>
            <a:r>
              <a:rPr kumimoji="1" lang="zh-CN" altLang="en-US" dirty="0">
                <a:sym typeface="+mn-ea"/>
              </a:rPr>
              <a:t>网络层服务概述</a:t>
            </a:r>
          </a:p>
        </p:txBody>
      </p:sp>
      <p:sp>
        <p:nvSpPr>
          <p:cNvPr id="4" name="灯片编号占位符 3"/>
          <p:cNvSpPr>
            <a:spLocks noGrp="1"/>
          </p:cNvSpPr>
          <p:nvPr>
            <p:ph type="sldNum" sz="quarter" idx="12"/>
          </p:nvPr>
        </p:nvSpPr>
        <p:spPr>
          <a:xfrm>
            <a:off x="9299575" y="6499860"/>
            <a:ext cx="2743200" cy="365125"/>
          </a:xfrm>
        </p:spPr>
        <p:txBody>
          <a:bodyPr/>
          <a:lstStyle/>
          <a:p>
            <a:fld id="{8D4D1E41-7A09-AB4A-A4E1-09765ADA2698}" type="slidenum">
              <a:rPr kumimoji="1" lang="zh-CN" altLang="en-US" smtClean="0"/>
              <a:t>5</a:t>
            </a:fld>
            <a:endParaRPr kumimoji="1" lang="zh-CN" altLang="en-US" dirty="0"/>
          </a:p>
        </p:txBody>
      </p:sp>
      <p:sp>
        <p:nvSpPr>
          <p:cNvPr id="62" name="Line 27"/>
          <p:cNvSpPr>
            <a:spLocks noChangeShapeType="1"/>
          </p:cNvSpPr>
          <p:nvPr/>
        </p:nvSpPr>
        <p:spPr bwMode="auto">
          <a:xfrm>
            <a:off x="3458210" y="42344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3" name="Line 28"/>
          <p:cNvSpPr>
            <a:spLocks noChangeShapeType="1"/>
          </p:cNvSpPr>
          <p:nvPr/>
        </p:nvSpPr>
        <p:spPr bwMode="auto">
          <a:xfrm>
            <a:off x="3458210" y="47678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5" name="Line 29"/>
          <p:cNvSpPr>
            <a:spLocks noChangeShapeType="1"/>
          </p:cNvSpPr>
          <p:nvPr/>
        </p:nvSpPr>
        <p:spPr bwMode="auto">
          <a:xfrm>
            <a:off x="3458210" y="53012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6" name="Line 30"/>
          <p:cNvSpPr>
            <a:spLocks noChangeShapeType="1"/>
          </p:cNvSpPr>
          <p:nvPr/>
        </p:nvSpPr>
        <p:spPr bwMode="auto">
          <a:xfrm>
            <a:off x="7877810" y="42344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7" name="Line 31"/>
          <p:cNvSpPr>
            <a:spLocks noChangeShapeType="1"/>
          </p:cNvSpPr>
          <p:nvPr/>
        </p:nvSpPr>
        <p:spPr bwMode="auto">
          <a:xfrm>
            <a:off x="7877810" y="47678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8" name="Line 32"/>
          <p:cNvSpPr>
            <a:spLocks noChangeShapeType="1"/>
          </p:cNvSpPr>
          <p:nvPr/>
        </p:nvSpPr>
        <p:spPr bwMode="auto">
          <a:xfrm>
            <a:off x="7877810" y="53012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9" name="Line 33"/>
          <p:cNvSpPr>
            <a:spLocks noChangeShapeType="1"/>
          </p:cNvSpPr>
          <p:nvPr/>
        </p:nvSpPr>
        <p:spPr bwMode="auto">
          <a:xfrm>
            <a:off x="2653358" y="5917247"/>
            <a:ext cx="154462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0" name="Line 34"/>
          <p:cNvSpPr>
            <a:spLocks noChangeShapeType="1"/>
          </p:cNvSpPr>
          <p:nvPr/>
        </p:nvSpPr>
        <p:spPr bwMode="auto">
          <a:xfrm flipV="1">
            <a:off x="5144134" y="5899786"/>
            <a:ext cx="1357311" cy="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1" name="Line 35"/>
          <p:cNvSpPr>
            <a:spLocks noChangeShapeType="1"/>
          </p:cNvSpPr>
          <p:nvPr/>
        </p:nvSpPr>
        <p:spPr bwMode="auto">
          <a:xfrm>
            <a:off x="7442832" y="5899786"/>
            <a:ext cx="156684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2" name="Line 36"/>
          <p:cNvSpPr>
            <a:spLocks noChangeShapeType="1"/>
          </p:cNvSpPr>
          <p:nvPr/>
        </p:nvSpPr>
        <p:spPr bwMode="auto">
          <a:xfrm flipV="1">
            <a:off x="2653358" y="5606098"/>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3" name="Line 37"/>
          <p:cNvSpPr>
            <a:spLocks noChangeShapeType="1"/>
          </p:cNvSpPr>
          <p:nvPr/>
        </p:nvSpPr>
        <p:spPr bwMode="auto">
          <a:xfrm flipV="1">
            <a:off x="4197985" y="5594986"/>
            <a:ext cx="0" cy="32861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4" name="Line 38"/>
          <p:cNvSpPr>
            <a:spLocks noChangeShapeType="1"/>
          </p:cNvSpPr>
          <p:nvPr/>
        </p:nvSpPr>
        <p:spPr bwMode="auto">
          <a:xfrm flipV="1">
            <a:off x="5144135" y="5606098"/>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5" name="Line 39"/>
          <p:cNvSpPr>
            <a:spLocks noChangeShapeType="1"/>
          </p:cNvSpPr>
          <p:nvPr/>
        </p:nvSpPr>
        <p:spPr bwMode="auto">
          <a:xfrm flipV="1">
            <a:off x="6501448" y="5594986"/>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6" name="Line 40"/>
          <p:cNvSpPr>
            <a:spLocks noChangeShapeType="1"/>
          </p:cNvSpPr>
          <p:nvPr/>
        </p:nvSpPr>
        <p:spPr bwMode="auto">
          <a:xfrm flipV="1">
            <a:off x="7442835" y="5594986"/>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8" name="Text Box 46"/>
          <p:cNvSpPr txBox="1">
            <a:spLocks noChangeArrowheads="1"/>
          </p:cNvSpPr>
          <p:nvPr/>
        </p:nvSpPr>
        <p:spPr bwMode="auto">
          <a:xfrm>
            <a:off x="4197985" y="3610610"/>
            <a:ext cx="948690"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spcBef>
                <a:spcPct val="0"/>
              </a:spcBef>
              <a:buFontTx/>
              <a:buNone/>
            </a:pPr>
            <a:r>
              <a:rPr kumimoji="0" lang="zh-CN" altLang="en-US" sz="2000" b="1" dirty="0">
                <a:solidFill>
                  <a:srgbClr val="000099"/>
                </a:solidFill>
                <a:latin typeface="微软雅黑" panose="020B0503020204020204" pitchFamily="34" charset="-122"/>
                <a:ea typeface="微软雅黑" panose="020B0503020204020204" pitchFamily="34" charset="-122"/>
              </a:rPr>
              <a:t>路由器</a:t>
            </a:r>
          </a:p>
        </p:txBody>
      </p:sp>
      <p:sp>
        <p:nvSpPr>
          <p:cNvPr id="81" name="Rectangle 9"/>
          <p:cNvSpPr>
            <a:spLocks noChangeArrowheads="1"/>
          </p:cNvSpPr>
          <p:nvPr/>
        </p:nvSpPr>
        <p:spPr bwMode="auto">
          <a:xfrm>
            <a:off x="1799282" y="1883410"/>
            <a:ext cx="1676400" cy="1589088"/>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应用层</a:t>
            </a:r>
          </a:p>
        </p:txBody>
      </p:sp>
      <p:sp>
        <p:nvSpPr>
          <p:cNvPr id="82" name="Rectangle 11"/>
          <p:cNvSpPr>
            <a:spLocks noChangeArrowheads="1"/>
          </p:cNvSpPr>
          <p:nvPr/>
        </p:nvSpPr>
        <p:spPr bwMode="auto">
          <a:xfrm>
            <a:off x="1799282" y="3472498"/>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传输层</a:t>
            </a:r>
          </a:p>
        </p:txBody>
      </p:sp>
      <p:sp>
        <p:nvSpPr>
          <p:cNvPr id="83" name="Rectangle 12"/>
          <p:cNvSpPr>
            <a:spLocks noChangeArrowheads="1"/>
          </p:cNvSpPr>
          <p:nvPr/>
        </p:nvSpPr>
        <p:spPr bwMode="auto">
          <a:xfrm>
            <a:off x="1799282" y="4005898"/>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84" name="Rectangle 13"/>
          <p:cNvSpPr>
            <a:spLocks noChangeArrowheads="1"/>
          </p:cNvSpPr>
          <p:nvPr/>
        </p:nvSpPr>
        <p:spPr bwMode="auto">
          <a:xfrm>
            <a:off x="1799282" y="4539298"/>
            <a:ext cx="1676400" cy="1066800"/>
          </a:xfrm>
          <a:prstGeom prst="rect">
            <a:avLst/>
          </a:prstGeom>
          <a:solidFill>
            <a:schemeClr val="accent2">
              <a:lumMod val="20000"/>
              <a:lumOff val="8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85" name="Rectangle 9"/>
          <p:cNvSpPr>
            <a:spLocks noChangeArrowheads="1"/>
          </p:cNvSpPr>
          <p:nvPr/>
        </p:nvSpPr>
        <p:spPr bwMode="auto">
          <a:xfrm>
            <a:off x="8166726" y="1886585"/>
            <a:ext cx="1676400" cy="1589088"/>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应用层</a:t>
            </a:r>
          </a:p>
        </p:txBody>
      </p:sp>
      <p:sp>
        <p:nvSpPr>
          <p:cNvPr id="86" name="Rectangle 11"/>
          <p:cNvSpPr>
            <a:spLocks noChangeArrowheads="1"/>
          </p:cNvSpPr>
          <p:nvPr/>
        </p:nvSpPr>
        <p:spPr bwMode="auto">
          <a:xfrm>
            <a:off x="8166726" y="3475673"/>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传输层</a:t>
            </a:r>
          </a:p>
        </p:txBody>
      </p:sp>
      <p:sp>
        <p:nvSpPr>
          <p:cNvPr id="87" name="Rectangle 12"/>
          <p:cNvSpPr>
            <a:spLocks noChangeArrowheads="1"/>
          </p:cNvSpPr>
          <p:nvPr/>
        </p:nvSpPr>
        <p:spPr bwMode="auto">
          <a:xfrm>
            <a:off x="8166726" y="4009073"/>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88" name="Rectangle 13"/>
          <p:cNvSpPr>
            <a:spLocks noChangeArrowheads="1"/>
          </p:cNvSpPr>
          <p:nvPr/>
        </p:nvSpPr>
        <p:spPr bwMode="auto">
          <a:xfrm>
            <a:off x="8166726" y="4542473"/>
            <a:ext cx="1676400" cy="1066800"/>
          </a:xfrm>
          <a:prstGeom prst="rect">
            <a:avLst/>
          </a:prstGeom>
          <a:solidFill>
            <a:schemeClr val="accent4">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89" name="Line 40"/>
          <p:cNvSpPr>
            <a:spLocks noChangeShapeType="1"/>
          </p:cNvSpPr>
          <p:nvPr/>
        </p:nvSpPr>
        <p:spPr bwMode="auto">
          <a:xfrm flipV="1">
            <a:off x="9011285" y="5606098"/>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grpSp>
        <p:nvGrpSpPr>
          <p:cNvPr id="97" name="组合 96"/>
          <p:cNvGrpSpPr/>
          <p:nvPr/>
        </p:nvGrpSpPr>
        <p:grpSpPr>
          <a:xfrm>
            <a:off x="5601461" y="4240055"/>
            <a:ext cx="433189" cy="1066800"/>
            <a:chOff x="4668856" y="4067970"/>
            <a:chExt cx="304800" cy="1066800"/>
          </a:xfrm>
        </p:grpSpPr>
        <p:sp>
          <p:nvSpPr>
            <p:cNvPr id="98" name="Line 30"/>
            <p:cNvSpPr>
              <a:spLocks noChangeShapeType="1"/>
            </p:cNvSpPr>
            <p:nvPr/>
          </p:nvSpPr>
          <p:spPr bwMode="auto">
            <a:xfrm>
              <a:off x="4668856" y="40679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106" name="Line 31"/>
            <p:cNvSpPr>
              <a:spLocks noChangeShapeType="1"/>
            </p:cNvSpPr>
            <p:nvPr/>
          </p:nvSpPr>
          <p:spPr bwMode="auto">
            <a:xfrm>
              <a:off x="4668856" y="46013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107" name="Line 32"/>
            <p:cNvSpPr>
              <a:spLocks noChangeShapeType="1"/>
            </p:cNvSpPr>
            <p:nvPr/>
          </p:nvSpPr>
          <p:spPr bwMode="auto">
            <a:xfrm>
              <a:off x="4668856" y="51347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grpSp>
      <p:sp>
        <p:nvSpPr>
          <p:cNvPr id="108" name="Rectangle 12"/>
          <p:cNvSpPr>
            <a:spLocks noChangeArrowheads="1"/>
          </p:cNvSpPr>
          <p:nvPr/>
        </p:nvSpPr>
        <p:spPr bwMode="auto">
          <a:xfrm>
            <a:off x="3759919" y="4005898"/>
            <a:ext cx="1844633"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109" name="Rectangle 13"/>
          <p:cNvSpPr>
            <a:spLocks noChangeArrowheads="1"/>
          </p:cNvSpPr>
          <p:nvPr/>
        </p:nvSpPr>
        <p:spPr bwMode="auto">
          <a:xfrm>
            <a:off x="3759920" y="4539298"/>
            <a:ext cx="928692" cy="1066800"/>
          </a:xfrm>
          <a:prstGeom prst="rect">
            <a:avLst/>
          </a:prstGeom>
          <a:solidFill>
            <a:schemeClr val="accent2">
              <a:lumMod val="20000"/>
              <a:lumOff val="8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2" name="Rectangle 13"/>
          <p:cNvSpPr>
            <a:spLocks noChangeArrowheads="1"/>
          </p:cNvSpPr>
          <p:nvPr/>
        </p:nvSpPr>
        <p:spPr bwMode="auto">
          <a:xfrm>
            <a:off x="4677477" y="4539298"/>
            <a:ext cx="928692" cy="1066800"/>
          </a:xfrm>
          <a:prstGeom prst="rect">
            <a:avLst/>
          </a:prstGeom>
          <a:solidFill>
            <a:schemeClr val="accent6">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3" name="Rectangle 12"/>
          <p:cNvSpPr>
            <a:spLocks noChangeArrowheads="1"/>
          </p:cNvSpPr>
          <p:nvPr/>
        </p:nvSpPr>
        <p:spPr bwMode="auto">
          <a:xfrm>
            <a:off x="6036268" y="4009074"/>
            <a:ext cx="1844633"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114" name="Rectangle 13"/>
          <p:cNvSpPr>
            <a:spLocks noChangeArrowheads="1"/>
          </p:cNvSpPr>
          <p:nvPr/>
        </p:nvSpPr>
        <p:spPr bwMode="auto">
          <a:xfrm>
            <a:off x="6036269" y="4542474"/>
            <a:ext cx="928692" cy="1066800"/>
          </a:xfrm>
          <a:prstGeom prst="rect">
            <a:avLst/>
          </a:prstGeom>
          <a:solidFill>
            <a:schemeClr val="accent6">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5" name="Rectangle 13"/>
          <p:cNvSpPr>
            <a:spLocks noChangeArrowheads="1"/>
          </p:cNvSpPr>
          <p:nvPr/>
        </p:nvSpPr>
        <p:spPr bwMode="auto">
          <a:xfrm>
            <a:off x="6953826" y="4542474"/>
            <a:ext cx="928692" cy="1066800"/>
          </a:xfrm>
          <a:prstGeom prst="rect">
            <a:avLst/>
          </a:prstGeom>
          <a:solidFill>
            <a:schemeClr val="accent4">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6" name="Text Box 46"/>
          <p:cNvSpPr txBox="1">
            <a:spLocks noChangeArrowheads="1"/>
          </p:cNvSpPr>
          <p:nvPr/>
        </p:nvSpPr>
        <p:spPr bwMode="auto">
          <a:xfrm>
            <a:off x="6471200" y="3626428"/>
            <a:ext cx="948690"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spcBef>
                <a:spcPct val="0"/>
              </a:spcBef>
              <a:buFontTx/>
              <a:buNone/>
            </a:pPr>
            <a:r>
              <a:rPr kumimoji="0" lang="zh-CN" altLang="en-US" sz="2000" b="1" dirty="0">
                <a:solidFill>
                  <a:srgbClr val="000099"/>
                </a:solidFill>
                <a:latin typeface="微软雅黑" panose="020B0503020204020204" pitchFamily="34" charset="-122"/>
                <a:ea typeface="微软雅黑" panose="020B0503020204020204" pitchFamily="34" charset="-122"/>
              </a:rPr>
              <a:t>路由器</a:t>
            </a:r>
          </a:p>
        </p:txBody>
      </p:sp>
      <p:sp>
        <p:nvSpPr>
          <p:cNvPr id="117" name="Text Box 42"/>
          <p:cNvSpPr txBox="1">
            <a:spLocks noChangeArrowheads="1"/>
          </p:cNvSpPr>
          <p:nvPr/>
        </p:nvSpPr>
        <p:spPr bwMode="auto">
          <a:xfrm>
            <a:off x="1875247" y="1400730"/>
            <a:ext cx="1517875"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solidFill>
                  <a:schemeClr val="accent1">
                    <a:lumMod val="75000"/>
                  </a:schemeClr>
                </a:solidFill>
                <a:latin typeface="微软雅黑" panose="020B0503020204020204" pitchFamily="34" charset="-122"/>
                <a:ea typeface="微软雅黑" panose="020B0503020204020204" pitchFamily="34" charset="-122"/>
              </a:rPr>
              <a:t>主机</a:t>
            </a:r>
            <a:r>
              <a:rPr kumimoji="0" lang="en-US" altLang="zh-CN" sz="2000" b="1" dirty="0">
                <a:solidFill>
                  <a:schemeClr val="accent1">
                    <a:lumMod val="75000"/>
                  </a:schemeClr>
                </a:solidFill>
                <a:latin typeface="微软雅黑" panose="020B0503020204020204" pitchFamily="34" charset="-122"/>
                <a:ea typeface="微软雅黑" panose="020B0503020204020204" pitchFamily="34" charset="-122"/>
              </a:rPr>
              <a:t>A</a:t>
            </a:r>
          </a:p>
        </p:txBody>
      </p:sp>
      <p:sp>
        <p:nvSpPr>
          <p:cNvPr id="118" name="Text Box 42"/>
          <p:cNvSpPr txBox="1">
            <a:spLocks noChangeArrowheads="1"/>
          </p:cNvSpPr>
          <p:nvPr/>
        </p:nvSpPr>
        <p:spPr bwMode="auto">
          <a:xfrm>
            <a:off x="8226256" y="1410180"/>
            <a:ext cx="1517875"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solidFill>
                  <a:schemeClr val="accent1">
                    <a:lumMod val="75000"/>
                  </a:schemeClr>
                </a:solidFill>
                <a:latin typeface="微软雅黑" panose="020B0503020204020204" pitchFamily="34" charset="-122"/>
                <a:ea typeface="微软雅黑" panose="020B0503020204020204" pitchFamily="34" charset="-122"/>
              </a:rPr>
              <a:t>主机</a:t>
            </a:r>
            <a:r>
              <a:rPr kumimoji="0" lang="en-US" altLang="zh-CN" sz="2000" b="1" dirty="0">
                <a:solidFill>
                  <a:schemeClr val="accent1">
                    <a:lumMod val="75000"/>
                  </a:schemeClr>
                </a:solidFill>
                <a:latin typeface="微软雅黑" panose="020B0503020204020204" pitchFamily="34" charset="-122"/>
                <a:ea typeface="微软雅黑" panose="020B0503020204020204" pitchFamily="34" charset="-122"/>
              </a:rPr>
              <a:t>B</a:t>
            </a:r>
          </a:p>
        </p:txBody>
      </p:sp>
      <p:sp>
        <p:nvSpPr>
          <p:cNvPr id="120" name="矩形 119"/>
          <p:cNvSpPr/>
          <p:nvPr/>
        </p:nvSpPr>
        <p:spPr bwMode="auto">
          <a:xfrm>
            <a:off x="1770576" y="4013294"/>
            <a:ext cx="8094958" cy="540836"/>
          </a:xfrm>
          <a:prstGeom prst="rect">
            <a:avLst/>
          </a:prstGeom>
          <a:solidFill>
            <a:schemeClr val="accent6">
              <a:lumMod val="75000"/>
              <a:alpha val="32000"/>
            </a:schemeClr>
          </a:solidFill>
          <a:ln w="28575" cap="flat" cmpd="sng" algn="ctr">
            <a:solidFill>
              <a:srgbClr val="C00000"/>
            </a:solidFill>
            <a:prstDash val="solid"/>
            <a:round/>
            <a:headEnd type="none" w="med" len="med"/>
            <a:tailEnd type="none" w="med" len="med"/>
          </a:ln>
          <a:effectLst/>
        </p:spPr>
        <p:txBody>
          <a:bodyPr vert="horz" wrap="square" lIns="91440" tIns="45720" rIns="91440" bIns="45720" numCol="1" rtlCol="0" anchor="t" anchorCtr="0" compatLnSpc="1"/>
          <a:lstStyle/>
          <a:p>
            <a:pPr marL="342900" marR="0" indent="-342900" algn="ctr" defTabSz="914400" rtl="0" eaLnBrk="1" fontAlgn="base" latinLnBrk="0" hangingPunct="1">
              <a:lnSpc>
                <a:spcPct val="120000"/>
              </a:lnSpc>
              <a:spcBef>
                <a:spcPct val="10000"/>
              </a:spcBef>
              <a:spcAft>
                <a:spcPct val="0"/>
              </a:spcAft>
              <a:buClr>
                <a:schemeClr val="tx1"/>
              </a:buClr>
              <a:buSzTx/>
              <a:buFont typeface="Symbol" panose="05050102010706020507" pitchFamily="18" charset="2"/>
              <a:buBlip>
                <a:blip r:embed="rId2"/>
              </a:buBlip>
            </a:pPr>
            <a:endParaRPr kumimoji="1" lang="zh-CN" altLang="en-US" sz="28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p:txBody>
      </p:sp>
      <p:sp>
        <p:nvSpPr>
          <p:cNvPr id="5" name="矩形 4"/>
          <p:cNvSpPr/>
          <p:nvPr/>
        </p:nvSpPr>
        <p:spPr bwMode="auto">
          <a:xfrm>
            <a:off x="1951152" y="3418533"/>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marR="0" indent="-342900" algn="ctr" defTabSz="914400" rtl="0" eaLnBrk="1" fontAlgn="base" latinLnBrk="0" hangingPunct="1">
              <a:lnSpc>
                <a:spcPct val="120000"/>
              </a:lnSpc>
              <a:spcBef>
                <a:spcPct val="10000"/>
              </a:spcBef>
              <a:spcAft>
                <a:spcPct val="0"/>
              </a:spcAft>
              <a:buClr>
                <a:schemeClr val="tx1"/>
              </a:buClr>
              <a:buSzTx/>
              <a:buFont typeface="Symbol" panose="05050102010706020507" pitchFamily="18" charset="2"/>
              <a:buBlip>
                <a:blip r:embed="rId2"/>
              </a:buBlip>
            </a:pPr>
            <a:endParaRPr kumimoji="1" lang="zh-CN" altLang="en-US" sz="28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p:txBody>
      </p:sp>
      <p:sp>
        <p:nvSpPr>
          <p:cNvPr id="6" name="矩形 5"/>
          <p:cNvSpPr/>
          <p:nvPr/>
        </p:nvSpPr>
        <p:spPr bwMode="auto">
          <a:xfrm>
            <a:off x="2696637" y="3416344"/>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7" name="矩形 6"/>
          <p:cNvSpPr/>
          <p:nvPr/>
        </p:nvSpPr>
        <p:spPr bwMode="auto">
          <a:xfrm>
            <a:off x="3074481" y="3413771"/>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8" name="矩形 7"/>
          <p:cNvSpPr/>
          <p:nvPr/>
        </p:nvSpPr>
        <p:spPr bwMode="auto">
          <a:xfrm>
            <a:off x="2326750" y="3413771"/>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9" name="矩形 8"/>
          <p:cNvSpPr/>
          <p:nvPr/>
        </p:nvSpPr>
        <p:spPr bwMode="auto">
          <a:xfrm>
            <a:off x="8340685" y="3416555"/>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0" name="矩形 9"/>
          <p:cNvSpPr/>
          <p:nvPr/>
        </p:nvSpPr>
        <p:spPr bwMode="auto">
          <a:xfrm>
            <a:off x="9086170" y="3414366"/>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1" name="矩形 10"/>
          <p:cNvSpPr/>
          <p:nvPr/>
        </p:nvSpPr>
        <p:spPr bwMode="auto">
          <a:xfrm>
            <a:off x="9464014" y="3411793"/>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2" name="矩形 11"/>
          <p:cNvSpPr/>
          <p:nvPr/>
        </p:nvSpPr>
        <p:spPr bwMode="auto">
          <a:xfrm>
            <a:off x="8716283" y="3411793"/>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3" name="矩形 12"/>
          <p:cNvSpPr/>
          <p:nvPr/>
        </p:nvSpPr>
        <p:spPr>
          <a:xfrm>
            <a:off x="3671060" y="6190298"/>
            <a:ext cx="3860800" cy="368300"/>
          </a:xfrm>
          <a:prstGeom prst="rect">
            <a:avLst/>
          </a:prstGeom>
          <a:solidFill>
            <a:schemeClr val="accent1">
              <a:lumMod val="40000"/>
              <a:lumOff val="60000"/>
            </a:schemeClr>
          </a:solidFill>
          <a:ln>
            <a:solidFill>
              <a:schemeClr val="accent2"/>
            </a:solidFill>
          </a:ln>
        </p:spPr>
        <p:txBody>
          <a:bodyPr wrap="none">
            <a:spAutoFit/>
          </a:bodyPr>
          <a:lstStyle/>
          <a:p>
            <a:pPr algn="ctr">
              <a:spcBef>
                <a:spcPct val="0"/>
              </a:spcBef>
              <a:buNone/>
            </a:pPr>
            <a:r>
              <a:rPr lang="zh-CN" altLang="en-US" b="1" dirty="0">
                <a:latin typeface="微软雅黑" panose="020B0503020204020204" pitchFamily="34" charset="-122"/>
                <a:ea typeface="微软雅黑" panose="020B0503020204020204" pitchFamily="34" charset="-122"/>
              </a:rPr>
              <a:t>接口层通常包括数据链路层和物理层</a:t>
            </a:r>
          </a:p>
        </p:txBody>
      </p:sp>
      <p:sp>
        <p:nvSpPr>
          <p:cNvPr id="3" name="日期占位符 9"/>
          <p:cNvSpPr>
            <a:spLocks noGrp="1"/>
          </p:cNvSpPr>
          <p:nvPr>
            <p:ph type="dt" sz="half" idx="10"/>
          </p:nvPr>
        </p:nvSpPr>
        <p:spPr>
          <a:xfrm>
            <a:off x="197335" y="6489303"/>
            <a:ext cx="2743200" cy="365125"/>
          </a:xfrm>
        </p:spPr>
        <p:txBody>
          <a:bodyPr/>
          <a:lstStyle/>
          <a:p>
            <a:r>
              <a:rPr kumimoji="1" lang="en-US" altLang="zh-CN" dirty="0">
                <a:sym typeface="+mn-ea"/>
              </a:rPr>
              <a:t>5.1.1 </a:t>
            </a:r>
            <a:r>
              <a:rPr kumimoji="1" lang="zh-CN" altLang="en-US" dirty="0">
                <a:sym typeface="+mn-ea"/>
              </a:rPr>
              <a:t>网络层服务概述</a:t>
            </a:r>
            <a:endParaRPr kumimoji="1" lang="zh-CN" altLang="en-US" dirty="0"/>
          </a:p>
        </p:txBody>
      </p:sp>
    </p:spTree>
    <p:extLst>
      <p:ext uri="{BB962C8B-B14F-4D97-AF65-F5344CB8AC3E}">
        <p14:creationId xmlns:p14="http://schemas.microsoft.com/office/powerpoint/2010/main" val="1038718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bldLvl="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algn="l">
              <a:buClrTx/>
              <a:buSzTx/>
              <a:buFontTx/>
            </a:pPr>
            <a:r>
              <a:rPr kumimoji="1" lang="zh-CN" altLang="zh-CN" dirty="0">
                <a:solidFill>
                  <a:prstClr val="black"/>
                </a:solidFill>
                <a:sym typeface="+mn-ea"/>
              </a:rPr>
              <a:t>网络层服务的实现</a:t>
            </a:r>
            <a:endParaRPr kumimoji="1" lang="zh-CN" altLang="en-US" dirty="0"/>
          </a:p>
        </p:txBody>
      </p:sp>
      <p:sp>
        <p:nvSpPr>
          <p:cNvPr id="4" name="灯片编号占位符 3"/>
          <p:cNvSpPr>
            <a:spLocks noGrp="1"/>
          </p:cNvSpPr>
          <p:nvPr>
            <p:ph type="sldNum" sz="quarter" idx="12"/>
          </p:nvPr>
        </p:nvSpPr>
        <p:spPr>
          <a:xfrm>
            <a:off x="9317990" y="6551930"/>
            <a:ext cx="2743200" cy="365125"/>
          </a:xfrm>
        </p:spPr>
        <p:txBody>
          <a:bodyPr/>
          <a:lstStyle/>
          <a:p>
            <a:fld id="{8D4D1E41-7A09-AB4A-A4E1-09765ADA2698}" type="slidenum">
              <a:rPr kumimoji="1" lang="zh-CN" altLang="en-US" smtClean="0"/>
              <a:t>6</a:t>
            </a:fld>
            <a:endParaRPr kumimoji="1" lang="zh-CN" altLang="en-US" dirty="0"/>
          </a:p>
        </p:txBody>
      </p:sp>
      <p:sp>
        <p:nvSpPr>
          <p:cNvPr id="5" name="Freeform 1285"/>
          <p:cNvSpPr/>
          <p:nvPr/>
        </p:nvSpPr>
        <p:spPr bwMode="auto">
          <a:xfrm>
            <a:off x="8749465" y="4017328"/>
            <a:ext cx="1314450" cy="674687"/>
          </a:xfrm>
          <a:custGeom>
            <a:avLst/>
            <a:gdLst>
              <a:gd name="T0" fmla="*/ 2147483647 w 828"/>
              <a:gd name="T1" fmla="*/ 2147483647 h 425"/>
              <a:gd name="T2" fmla="*/ 2147483647 w 828"/>
              <a:gd name="T3" fmla="*/ 2147483647 h 425"/>
              <a:gd name="T4" fmla="*/ 2147483647 w 828"/>
              <a:gd name="T5" fmla="*/ 2147483647 h 425"/>
              <a:gd name="T6" fmla="*/ 2147483647 w 828"/>
              <a:gd name="T7" fmla="*/ 2147483647 h 425"/>
              <a:gd name="T8" fmla="*/ 2147483647 w 828"/>
              <a:gd name="T9" fmla="*/ 2147483647 h 425"/>
              <a:gd name="T10" fmla="*/ 2147483647 w 828"/>
              <a:gd name="T11" fmla="*/ 2147483647 h 425"/>
              <a:gd name="T12" fmla="*/ 2147483647 w 828"/>
              <a:gd name="T13" fmla="*/ 2147483647 h 425"/>
              <a:gd name="T14" fmla="*/ 2147483647 w 828"/>
              <a:gd name="T15" fmla="*/ 2147483647 h 425"/>
              <a:gd name="T16" fmla="*/ 2147483647 w 828"/>
              <a:gd name="T17" fmla="*/ 2147483647 h 425"/>
              <a:gd name="T18" fmla="*/ 2147483647 w 828"/>
              <a:gd name="T19" fmla="*/ 2147483647 h 425"/>
              <a:gd name="T20" fmla="*/ 2147483647 w 828"/>
              <a:gd name="T21" fmla="*/ 2147483647 h 425"/>
              <a:gd name="T22" fmla="*/ 2147483647 w 828"/>
              <a:gd name="T23" fmla="*/ 2147483647 h 4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8"/>
              <a:gd name="T37" fmla="*/ 0 h 425"/>
              <a:gd name="T38" fmla="*/ 828 w 828"/>
              <a:gd name="T39" fmla="*/ 425 h 4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6" name="Freeform 1286"/>
          <p:cNvSpPr/>
          <p:nvPr/>
        </p:nvSpPr>
        <p:spPr bwMode="auto">
          <a:xfrm>
            <a:off x="8768515" y="2491740"/>
            <a:ext cx="1730375" cy="1125538"/>
          </a:xfrm>
          <a:custGeom>
            <a:avLst/>
            <a:gdLst>
              <a:gd name="T0" fmla="*/ 2147483647 w 765"/>
              <a:gd name="T1" fmla="*/ 2147483647 h 459"/>
              <a:gd name="T2" fmla="*/ 2147483647 w 765"/>
              <a:gd name="T3" fmla="*/ 2147483647 h 459"/>
              <a:gd name="T4" fmla="*/ 2147483647 w 765"/>
              <a:gd name="T5" fmla="*/ 2147483647 h 459"/>
              <a:gd name="T6" fmla="*/ 2147483647 w 765"/>
              <a:gd name="T7" fmla="*/ 2147483647 h 459"/>
              <a:gd name="T8" fmla="*/ 2147483647 w 765"/>
              <a:gd name="T9" fmla="*/ 2147483647 h 459"/>
              <a:gd name="T10" fmla="*/ 2147483647 w 765"/>
              <a:gd name="T11" fmla="*/ 2147483647 h 459"/>
              <a:gd name="T12" fmla="*/ 2147483647 w 765"/>
              <a:gd name="T13" fmla="*/ 2147483647 h 459"/>
              <a:gd name="T14" fmla="*/ 2147483647 w 765"/>
              <a:gd name="T15" fmla="*/ 2147483647 h 459"/>
              <a:gd name="T16" fmla="*/ 2147483647 w 765"/>
              <a:gd name="T17" fmla="*/ 2147483647 h 459"/>
              <a:gd name="T18" fmla="*/ 2147483647 w 765"/>
              <a:gd name="T19" fmla="*/ 2147483647 h 459"/>
              <a:gd name="T20" fmla="*/ 2147483647 w 765"/>
              <a:gd name="T21" fmla="*/ 2147483647 h 459"/>
              <a:gd name="T22" fmla="*/ 2147483647 w 765"/>
              <a:gd name="T23" fmla="*/ 2147483647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00CCFF"/>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7" name="Freeform 1287"/>
          <p:cNvSpPr/>
          <p:nvPr/>
        </p:nvSpPr>
        <p:spPr bwMode="auto">
          <a:xfrm>
            <a:off x="6947652" y="2199640"/>
            <a:ext cx="1736725" cy="107156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8" name="Group 1288"/>
          <p:cNvGrpSpPr/>
          <p:nvPr/>
        </p:nvGrpSpPr>
        <p:grpSpPr bwMode="auto">
          <a:xfrm>
            <a:off x="7023852" y="3464878"/>
            <a:ext cx="1458913" cy="933450"/>
            <a:chOff x="2889" y="1631"/>
            <a:chExt cx="980" cy="743"/>
          </a:xfrm>
        </p:grpSpPr>
        <p:sp>
          <p:nvSpPr>
            <p:cNvPr id="9" name="Rectangle 1289"/>
            <p:cNvSpPr>
              <a:spLocks noChangeArrowheads="1"/>
            </p:cNvSpPr>
            <p:nvPr/>
          </p:nvSpPr>
          <p:spPr bwMode="auto">
            <a:xfrm>
              <a:off x="3046" y="1841"/>
              <a:ext cx="663" cy="533"/>
            </a:xfrm>
            <a:prstGeom prst="rect">
              <a:avLst/>
            </a:prstGeom>
            <a:solidFill>
              <a:srgbClr val="00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10" name="AutoShape 1290"/>
            <p:cNvSpPr>
              <a:spLocks noChangeArrowheads="1"/>
            </p:cNvSpPr>
            <p:nvPr/>
          </p:nvSpPr>
          <p:spPr bwMode="auto">
            <a:xfrm>
              <a:off x="2889" y="1631"/>
              <a:ext cx="980" cy="253"/>
            </a:xfrm>
            <a:prstGeom prst="triangle">
              <a:avLst>
                <a:gd name="adj" fmla="val 50000"/>
              </a:avLst>
            </a:prstGeom>
            <a:solidFill>
              <a:srgbClr val="00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solidFill>
                  <a:srgbClr val="00CCFF"/>
                </a:solidFill>
              </a:endParaRPr>
            </a:p>
          </p:txBody>
        </p:sp>
      </p:grpSp>
      <p:sp>
        <p:nvSpPr>
          <p:cNvPr id="11" name="Line 1291"/>
          <p:cNvSpPr>
            <a:spLocks noChangeShapeType="1"/>
          </p:cNvSpPr>
          <p:nvPr/>
        </p:nvSpPr>
        <p:spPr bwMode="auto">
          <a:xfrm>
            <a:off x="9141577" y="4303078"/>
            <a:ext cx="163513" cy="1206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2" name="Line 1292"/>
          <p:cNvSpPr>
            <a:spLocks noChangeShapeType="1"/>
          </p:cNvSpPr>
          <p:nvPr/>
        </p:nvSpPr>
        <p:spPr bwMode="auto">
          <a:xfrm>
            <a:off x="9238415" y="4223703"/>
            <a:ext cx="2794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3" name="Line 1293"/>
          <p:cNvSpPr>
            <a:spLocks noChangeShapeType="1"/>
          </p:cNvSpPr>
          <p:nvPr/>
        </p:nvSpPr>
        <p:spPr bwMode="auto">
          <a:xfrm flipV="1">
            <a:off x="9474952" y="4309428"/>
            <a:ext cx="134938" cy="1047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4" name="Line 1294"/>
          <p:cNvSpPr>
            <a:spLocks noChangeShapeType="1"/>
          </p:cNvSpPr>
          <p:nvPr/>
        </p:nvSpPr>
        <p:spPr bwMode="auto">
          <a:xfrm>
            <a:off x="8173202" y="4230053"/>
            <a:ext cx="67945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5" name="Line 1295"/>
          <p:cNvSpPr>
            <a:spLocks noChangeShapeType="1"/>
          </p:cNvSpPr>
          <p:nvPr/>
        </p:nvSpPr>
        <p:spPr bwMode="auto">
          <a:xfrm>
            <a:off x="8468477" y="3077528"/>
            <a:ext cx="509588"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6" name="Line 1296"/>
          <p:cNvSpPr>
            <a:spLocks noChangeShapeType="1"/>
          </p:cNvSpPr>
          <p:nvPr/>
        </p:nvSpPr>
        <p:spPr bwMode="auto">
          <a:xfrm>
            <a:off x="8035090" y="2893378"/>
            <a:ext cx="152400" cy="952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7" name="Freeform 1297"/>
          <p:cNvSpPr/>
          <p:nvPr/>
        </p:nvSpPr>
        <p:spPr bwMode="auto">
          <a:xfrm>
            <a:off x="7242927" y="4868228"/>
            <a:ext cx="3079750" cy="1665287"/>
          </a:xfrm>
          <a:custGeom>
            <a:avLst/>
            <a:gdLst>
              <a:gd name="T0" fmla="*/ 2147483647 w 1940"/>
              <a:gd name="T1" fmla="*/ 2147483647 h 1049"/>
              <a:gd name="T2" fmla="*/ 2147483647 w 1940"/>
              <a:gd name="T3" fmla="*/ 2147483647 h 1049"/>
              <a:gd name="T4" fmla="*/ 2147483647 w 1940"/>
              <a:gd name="T5" fmla="*/ 2147483647 h 1049"/>
              <a:gd name="T6" fmla="*/ 2147483647 w 1940"/>
              <a:gd name="T7" fmla="*/ 2147483647 h 1049"/>
              <a:gd name="T8" fmla="*/ 2147483647 w 1940"/>
              <a:gd name="T9" fmla="*/ 2147483647 h 1049"/>
              <a:gd name="T10" fmla="*/ 2147483647 w 1940"/>
              <a:gd name="T11" fmla="*/ 2147483647 h 1049"/>
              <a:gd name="T12" fmla="*/ 2147483647 w 1940"/>
              <a:gd name="T13" fmla="*/ 2147483647 h 1049"/>
              <a:gd name="T14" fmla="*/ 2147483647 w 1940"/>
              <a:gd name="T15" fmla="*/ 2147483647 h 1049"/>
              <a:gd name="T16" fmla="*/ 2147483647 w 1940"/>
              <a:gd name="T17" fmla="*/ 2147483647 h 1049"/>
              <a:gd name="T18" fmla="*/ 2147483647 w 1940"/>
              <a:gd name="T19" fmla="*/ 2147483647 h 1049"/>
              <a:gd name="T20" fmla="*/ 2147483647 w 1940"/>
              <a:gd name="T21" fmla="*/ 2147483647 h 1049"/>
              <a:gd name="T22" fmla="*/ 2147483647 w 1940"/>
              <a:gd name="T23" fmla="*/ 2147483647 h 1049"/>
              <a:gd name="T24" fmla="*/ 2147483647 w 1940"/>
              <a:gd name="T25" fmla="*/ 2147483647 h 1049"/>
              <a:gd name="T26" fmla="*/ 2147483647 w 1940"/>
              <a:gd name="T27" fmla="*/ 2147483647 h 1049"/>
              <a:gd name="T28" fmla="*/ 2147483647 w 1940"/>
              <a:gd name="T29" fmla="*/ 2147483647 h 1049"/>
              <a:gd name="T30" fmla="*/ 2147483647 w 1940"/>
              <a:gd name="T31" fmla="*/ 2147483647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8" name="Line 1298"/>
          <p:cNvSpPr>
            <a:spLocks noChangeShapeType="1"/>
          </p:cNvSpPr>
          <p:nvPr/>
        </p:nvSpPr>
        <p:spPr bwMode="auto">
          <a:xfrm rot="16200000" flipV="1">
            <a:off x="9542421" y="5740559"/>
            <a:ext cx="474662" cy="63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19" name="Line 1299"/>
          <p:cNvSpPr>
            <a:spLocks noChangeShapeType="1"/>
          </p:cNvSpPr>
          <p:nvPr/>
        </p:nvSpPr>
        <p:spPr bwMode="auto">
          <a:xfrm rot="5400000" flipV="1">
            <a:off x="9736890" y="5930265"/>
            <a:ext cx="3175" cy="85725"/>
          </a:xfrm>
          <a:prstGeom prst="line">
            <a:avLst/>
          </a:prstGeom>
          <a:noFill/>
          <a:ln w="12700">
            <a:solidFill>
              <a:schemeClr val="bg2"/>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20" name="Line 1300"/>
          <p:cNvSpPr>
            <a:spLocks noChangeShapeType="1"/>
          </p:cNvSpPr>
          <p:nvPr/>
        </p:nvSpPr>
        <p:spPr bwMode="auto">
          <a:xfrm rot="16200000" flipH="1">
            <a:off x="9844839" y="5528628"/>
            <a:ext cx="193675" cy="762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21" name="Line 1301"/>
          <p:cNvSpPr>
            <a:spLocks noChangeShapeType="1"/>
          </p:cNvSpPr>
          <p:nvPr/>
        </p:nvSpPr>
        <p:spPr bwMode="auto">
          <a:xfrm>
            <a:off x="9103477" y="5187315"/>
            <a:ext cx="390525" cy="1841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2" name="Line 1302"/>
          <p:cNvSpPr>
            <a:spLocks noChangeShapeType="1"/>
          </p:cNvSpPr>
          <p:nvPr/>
        </p:nvSpPr>
        <p:spPr bwMode="auto">
          <a:xfrm flipV="1">
            <a:off x="8482765" y="5174615"/>
            <a:ext cx="322262" cy="19843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3" name="Line 1303"/>
          <p:cNvSpPr>
            <a:spLocks noChangeShapeType="1"/>
          </p:cNvSpPr>
          <p:nvPr/>
        </p:nvSpPr>
        <p:spPr bwMode="auto">
          <a:xfrm flipV="1">
            <a:off x="8525627" y="5466715"/>
            <a:ext cx="97155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4" name="Line 1305"/>
          <p:cNvSpPr>
            <a:spLocks noChangeShapeType="1"/>
          </p:cNvSpPr>
          <p:nvPr/>
        </p:nvSpPr>
        <p:spPr bwMode="auto">
          <a:xfrm>
            <a:off x="7846177" y="5263515"/>
            <a:ext cx="233363" cy="952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5" name="Line 1306"/>
          <p:cNvSpPr>
            <a:spLocks noChangeShapeType="1"/>
          </p:cNvSpPr>
          <p:nvPr/>
        </p:nvSpPr>
        <p:spPr bwMode="auto">
          <a:xfrm flipV="1">
            <a:off x="7587415" y="5500053"/>
            <a:ext cx="403225" cy="10001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6" name="Line 1309"/>
          <p:cNvSpPr>
            <a:spLocks noChangeShapeType="1"/>
          </p:cNvSpPr>
          <p:nvPr/>
        </p:nvSpPr>
        <p:spPr bwMode="auto">
          <a:xfrm flipH="1">
            <a:off x="8012865" y="5555615"/>
            <a:ext cx="177800" cy="203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7" name="Line 1310"/>
          <p:cNvSpPr>
            <a:spLocks noChangeShapeType="1"/>
          </p:cNvSpPr>
          <p:nvPr/>
        </p:nvSpPr>
        <p:spPr bwMode="auto">
          <a:xfrm flipH="1" flipV="1">
            <a:off x="8406565" y="5539740"/>
            <a:ext cx="1587" cy="2206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8" name="Line 1311"/>
          <p:cNvSpPr>
            <a:spLocks noChangeShapeType="1"/>
          </p:cNvSpPr>
          <p:nvPr/>
        </p:nvSpPr>
        <p:spPr bwMode="auto">
          <a:xfrm>
            <a:off x="8489115" y="5542915"/>
            <a:ext cx="503237" cy="2698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9" name="Line 1313"/>
          <p:cNvSpPr>
            <a:spLocks noChangeShapeType="1"/>
          </p:cNvSpPr>
          <p:nvPr/>
        </p:nvSpPr>
        <p:spPr bwMode="auto">
          <a:xfrm>
            <a:off x="8027152" y="4012565"/>
            <a:ext cx="0" cy="1317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0" name="Line 1314"/>
          <p:cNvSpPr>
            <a:spLocks noChangeShapeType="1"/>
          </p:cNvSpPr>
          <p:nvPr/>
        </p:nvSpPr>
        <p:spPr bwMode="auto">
          <a:xfrm flipV="1">
            <a:off x="9322552" y="2982278"/>
            <a:ext cx="123825" cy="8731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1" name="Line 1315"/>
          <p:cNvSpPr>
            <a:spLocks noChangeShapeType="1"/>
          </p:cNvSpPr>
          <p:nvPr/>
        </p:nvSpPr>
        <p:spPr bwMode="auto">
          <a:xfrm>
            <a:off x="9151102" y="3155315"/>
            <a:ext cx="0" cy="825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2" name="Line 1316"/>
          <p:cNvSpPr>
            <a:spLocks noChangeShapeType="1"/>
          </p:cNvSpPr>
          <p:nvPr/>
        </p:nvSpPr>
        <p:spPr bwMode="auto">
          <a:xfrm flipV="1">
            <a:off x="9322552" y="3052128"/>
            <a:ext cx="263525" cy="2889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3" name="Line 1317"/>
          <p:cNvSpPr>
            <a:spLocks noChangeShapeType="1"/>
          </p:cNvSpPr>
          <p:nvPr/>
        </p:nvSpPr>
        <p:spPr bwMode="auto">
          <a:xfrm>
            <a:off x="9687677" y="3050540"/>
            <a:ext cx="0" cy="1968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4" name="Line 1318"/>
          <p:cNvSpPr>
            <a:spLocks noChangeShapeType="1"/>
          </p:cNvSpPr>
          <p:nvPr/>
        </p:nvSpPr>
        <p:spPr bwMode="auto">
          <a:xfrm>
            <a:off x="9341602" y="3356928"/>
            <a:ext cx="188913"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5" name="Line 1319"/>
          <p:cNvSpPr>
            <a:spLocks noChangeShapeType="1"/>
          </p:cNvSpPr>
          <p:nvPr/>
        </p:nvSpPr>
        <p:spPr bwMode="auto">
          <a:xfrm flipV="1">
            <a:off x="7636627" y="4223703"/>
            <a:ext cx="168275"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6" name="Line 1320"/>
          <p:cNvSpPr>
            <a:spLocks noChangeShapeType="1"/>
          </p:cNvSpPr>
          <p:nvPr/>
        </p:nvSpPr>
        <p:spPr bwMode="auto">
          <a:xfrm>
            <a:off x="9895640" y="3347403"/>
            <a:ext cx="1778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7" name="Line 1321"/>
          <p:cNvSpPr>
            <a:spLocks noChangeShapeType="1"/>
          </p:cNvSpPr>
          <p:nvPr/>
        </p:nvSpPr>
        <p:spPr bwMode="auto">
          <a:xfrm flipH="1">
            <a:off x="9041565" y="3423603"/>
            <a:ext cx="98425" cy="7048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8" name="Line 1322"/>
          <p:cNvSpPr>
            <a:spLocks noChangeShapeType="1"/>
          </p:cNvSpPr>
          <p:nvPr/>
        </p:nvSpPr>
        <p:spPr bwMode="auto">
          <a:xfrm flipH="1">
            <a:off x="9633702" y="3423603"/>
            <a:ext cx="111125" cy="7270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9" name="Line 1323"/>
          <p:cNvSpPr>
            <a:spLocks noChangeShapeType="1"/>
          </p:cNvSpPr>
          <p:nvPr/>
        </p:nvSpPr>
        <p:spPr bwMode="auto">
          <a:xfrm flipV="1">
            <a:off x="9017752" y="4565015"/>
            <a:ext cx="227013" cy="4365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nvGrpSpPr>
          <p:cNvPr id="40" name="Group 1324"/>
          <p:cNvGrpSpPr/>
          <p:nvPr/>
        </p:nvGrpSpPr>
        <p:grpSpPr bwMode="auto">
          <a:xfrm flipH="1">
            <a:off x="7520740" y="5023803"/>
            <a:ext cx="414337" cy="373062"/>
            <a:chOff x="2839" y="3501"/>
            <a:chExt cx="755" cy="803"/>
          </a:xfrm>
        </p:grpSpPr>
        <p:pic>
          <p:nvPicPr>
            <p:cNvPr id="41" name="Picture 1325" descr="desktop_computer_stylized_mediu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1326"/>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43" name="Group 1327"/>
          <p:cNvGrpSpPr/>
          <p:nvPr/>
        </p:nvGrpSpPr>
        <p:grpSpPr bwMode="auto">
          <a:xfrm flipH="1">
            <a:off x="7203240" y="5444490"/>
            <a:ext cx="482600" cy="406400"/>
            <a:chOff x="2839" y="3501"/>
            <a:chExt cx="755" cy="803"/>
          </a:xfrm>
        </p:grpSpPr>
        <p:pic>
          <p:nvPicPr>
            <p:cNvPr id="44" name="Picture 1328" descr="desktop_computer_stylized_mediu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1329"/>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46" name="Group 1330"/>
          <p:cNvGrpSpPr/>
          <p:nvPr/>
        </p:nvGrpSpPr>
        <p:grpSpPr bwMode="auto">
          <a:xfrm flipH="1">
            <a:off x="7681077" y="5746115"/>
            <a:ext cx="427038" cy="349250"/>
            <a:chOff x="2839" y="3501"/>
            <a:chExt cx="755" cy="803"/>
          </a:xfrm>
        </p:grpSpPr>
        <p:pic>
          <p:nvPicPr>
            <p:cNvPr id="47" name="Picture 1331" descr="desktop_computer_stylized_mediu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133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49" name="Group 1333"/>
          <p:cNvGrpSpPr/>
          <p:nvPr/>
        </p:nvGrpSpPr>
        <p:grpSpPr bwMode="auto">
          <a:xfrm>
            <a:off x="8295440" y="5728653"/>
            <a:ext cx="427037" cy="350837"/>
            <a:chOff x="2839" y="3501"/>
            <a:chExt cx="755" cy="803"/>
          </a:xfrm>
        </p:grpSpPr>
        <p:pic>
          <p:nvPicPr>
            <p:cNvPr id="50" name="Picture 1334" descr="desktop_computer_stylized_mediu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Freeform 1335"/>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pic>
        <p:nvPicPr>
          <p:cNvPr id="52" name="Picture 1336" descr="car_icon_small"/>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87477" y="2210753"/>
            <a:ext cx="849313"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 name="Group 1337"/>
          <p:cNvGrpSpPr/>
          <p:nvPr/>
        </p:nvGrpSpPr>
        <p:grpSpPr bwMode="auto">
          <a:xfrm>
            <a:off x="7358815" y="2036128"/>
            <a:ext cx="415925" cy="385762"/>
            <a:chOff x="2751" y="1851"/>
            <a:chExt cx="462" cy="478"/>
          </a:xfrm>
        </p:grpSpPr>
        <p:pic>
          <p:nvPicPr>
            <p:cNvPr id="54" name="Picture 1338" descr="iphone_stylized_small"/>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1339" descr="antenna_radiation_stylize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6" name="Group 1340"/>
          <p:cNvGrpSpPr/>
          <p:nvPr/>
        </p:nvGrpSpPr>
        <p:grpSpPr bwMode="auto">
          <a:xfrm>
            <a:off x="9435265" y="2885440"/>
            <a:ext cx="390525" cy="169863"/>
            <a:chOff x="4650" y="1129"/>
            <a:chExt cx="246" cy="95"/>
          </a:xfrm>
        </p:grpSpPr>
        <p:sp>
          <p:nvSpPr>
            <p:cNvPr id="57"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58"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59"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60" name="Group 1344"/>
            <p:cNvGrpSpPr/>
            <p:nvPr/>
          </p:nvGrpSpPr>
          <p:grpSpPr bwMode="auto">
            <a:xfrm>
              <a:off x="4699" y="1145"/>
              <a:ext cx="138" cy="29"/>
              <a:chOff x="2468" y="1332"/>
              <a:chExt cx="310" cy="60"/>
            </a:xfrm>
          </p:grpSpPr>
          <p:sp>
            <p:nvSpPr>
              <p:cNvPr id="61" name="Freeform 1345"/>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62" name="Freeform 1346"/>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63" name="Line 1347"/>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64" name="Line 1348"/>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65" name="Group 1349"/>
          <p:cNvGrpSpPr/>
          <p:nvPr/>
        </p:nvGrpSpPr>
        <p:grpSpPr bwMode="auto">
          <a:xfrm>
            <a:off x="9508290" y="3247390"/>
            <a:ext cx="390525" cy="176213"/>
            <a:chOff x="4650" y="1129"/>
            <a:chExt cx="246" cy="95"/>
          </a:xfrm>
        </p:grpSpPr>
        <p:sp>
          <p:nvSpPr>
            <p:cNvPr id="66"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67"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68"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69" name="Group 1353"/>
            <p:cNvGrpSpPr/>
            <p:nvPr/>
          </p:nvGrpSpPr>
          <p:grpSpPr bwMode="auto">
            <a:xfrm>
              <a:off x="4699" y="1145"/>
              <a:ext cx="138" cy="29"/>
              <a:chOff x="2468" y="1332"/>
              <a:chExt cx="310" cy="60"/>
            </a:xfrm>
          </p:grpSpPr>
          <p:sp>
            <p:nvSpPr>
              <p:cNvPr id="70" name="Freeform 1354"/>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71" name="Freeform 1355"/>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72" name="Line 1356"/>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73" name="Line 1357"/>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74" name="Group 1358"/>
          <p:cNvGrpSpPr/>
          <p:nvPr/>
        </p:nvGrpSpPr>
        <p:grpSpPr bwMode="auto">
          <a:xfrm>
            <a:off x="8949490" y="2983865"/>
            <a:ext cx="390525" cy="169863"/>
            <a:chOff x="4650" y="1129"/>
            <a:chExt cx="246" cy="95"/>
          </a:xfrm>
        </p:grpSpPr>
        <p:sp>
          <p:nvSpPr>
            <p:cNvPr id="75"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76"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77"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78" name="Group 1362"/>
            <p:cNvGrpSpPr/>
            <p:nvPr/>
          </p:nvGrpSpPr>
          <p:grpSpPr bwMode="auto">
            <a:xfrm>
              <a:off x="4699" y="1145"/>
              <a:ext cx="138" cy="29"/>
              <a:chOff x="2468" y="1332"/>
              <a:chExt cx="310" cy="60"/>
            </a:xfrm>
          </p:grpSpPr>
          <p:sp>
            <p:nvSpPr>
              <p:cNvPr id="79" name="Freeform 1363"/>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80" name="Freeform 1364"/>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81" name="Line 1365"/>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82" name="Line 1366"/>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83" name="Group 1367"/>
          <p:cNvGrpSpPr/>
          <p:nvPr/>
        </p:nvGrpSpPr>
        <p:grpSpPr bwMode="auto">
          <a:xfrm>
            <a:off x="8960602" y="3247390"/>
            <a:ext cx="390525" cy="169863"/>
            <a:chOff x="4650" y="1129"/>
            <a:chExt cx="246" cy="95"/>
          </a:xfrm>
        </p:grpSpPr>
        <p:sp>
          <p:nvSpPr>
            <p:cNvPr id="84"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85"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86"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87" name="Group 1371"/>
            <p:cNvGrpSpPr/>
            <p:nvPr/>
          </p:nvGrpSpPr>
          <p:grpSpPr bwMode="auto">
            <a:xfrm>
              <a:off x="4699" y="1145"/>
              <a:ext cx="138" cy="29"/>
              <a:chOff x="2468" y="1332"/>
              <a:chExt cx="310" cy="60"/>
            </a:xfrm>
          </p:grpSpPr>
          <p:sp>
            <p:nvSpPr>
              <p:cNvPr id="88" name="Freeform 137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89" name="Freeform 137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90" name="Line 1374"/>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91" name="Line 1375"/>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sp>
        <p:nvSpPr>
          <p:cNvPr id="92" name="Line 1376"/>
          <p:cNvSpPr>
            <a:spLocks noChangeShapeType="1"/>
          </p:cNvSpPr>
          <p:nvPr/>
        </p:nvSpPr>
        <p:spPr bwMode="auto">
          <a:xfrm>
            <a:off x="10090902" y="3345815"/>
            <a:ext cx="177800" cy="0"/>
          </a:xfrm>
          <a:prstGeom prst="line">
            <a:avLst/>
          </a:prstGeom>
          <a:noFill/>
          <a:ln w="9525">
            <a:solidFill>
              <a:schemeClr val="bg2"/>
            </a:solidFill>
            <a:prstDash val="dash"/>
            <a:round/>
          </a:ln>
          <a:extLst>
            <a:ext uri="{909E8E84-426E-40DD-AFC4-6F175D3DCCD1}">
              <a14:hiddenFill xmlns:a14="http://schemas.microsoft.com/office/drawing/2010/main">
                <a:noFill/>
              </a14:hiddenFill>
            </a:ext>
          </a:extLst>
        </p:spPr>
        <p:txBody>
          <a:bodyPr/>
          <a:lstStyle/>
          <a:p>
            <a:endParaRPr lang="zh-CN" altLang="en-US" sz="900"/>
          </a:p>
        </p:txBody>
      </p:sp>
      <p:grpSp>
        <p:nvGrpSpPr>
          <p:cNvPr id="93" name="Group 1377"/>
          <p:cNvGrpSpPr/>
          <p:nvPr/>
        </p:nvGrpSpPr>
        <p:grpSpPr bwMode="auto">
          <a:xfrm>
            <a:off x="9146340" y="4401503"/>
            <a:ext cx="485775" cy="203200"/>
            <a:chOff x="4650" y="1129"/>
            <a:chExt cx="246" cy="95"/>
          </a:xfrm>
        </p:grpSpPr>
        <p:sp>
          <p:nvSpPr>
            <p:cNvPr id="94"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95"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96"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97" name="Group 1381"/>
            <p:cNvGrpSpPr/>
            <p:nvPr/>
          </p:nvGrpSpPr>
          <p:grpSpPr bwMode="auto">
            <a:xfrm>
              <a:off x="4699" y="1145"/>
              <a:ext cx="138" cy="29"/>
              <a:chOff x="2468" y="1332"/>
              <a:chExt cx="310" cy="60"/>
            </a:xfrm>
          </p:grpSpPr>
          <p:sp>
            <p:nvSpPr>
              <p:cNvPr id="98" name="Freeform 138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99" name="Freeform 138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00" name="Line 1384"/>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01" name="Line 1385"/>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02" name="Group 1386"/>
          <p:cNvGrpSpPr/>
          <p:nvPr/>
        </p:nvGrpSpPr>
        <p:grpSpPr bwMode="auto">
          <a:xfrm>
            <a:off x="8827252" y="4120515"/>
            <a:ext cx="485775" cy="203200"/>
            <a:chOff x="4650" y="1129"/>
            <a:chExt cx="246" cy="95"/>
          </a:xfrm>
        </p:grpSpPr>
        <p:sp>
          <p:nvSpPr>
            <p:cNvPr id="103"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04"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05"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06" name="Group 1390"/>
            <p:cNvGrpSpPr/>
            <p:nvPr/>
          </p:nvGrpSpPr>
          <p:grpSpPr bwMode="auto">
            <a:xfrm>
              <a:off x="4699" y="1145"/>
              <a:ext cx="138" cy="29"/>
              <a:chOff x="2468" y="1332"/>
              <a:chExt cx="310" cy="60"/>
            </a:xfrm>
          </p:grpSpPr>
          <p:sp>
            <p:nvSpPr>
              <p:cNvPr id="107" name="Freeform 1391"/>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08" name="Freeform 1392"/>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09" name="Line 1393"/>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10" name="Line 1394"/>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11" name="Group 1395"/>
          <p:cNvGrpSpPr/>
          <p:nvPr/>
        </p:nvGrpSpPr>
        <p:grpSpPr bwMode="auto">
          <a:xfrm>
            <a:off x="9489240" y="4133215"/>
            <a:ext cx="485775" cy="203200"/>
            <a:chOff x="4650" y="1129"/>
            <a:chExt cx="246" cy="95"/>
          </a:xfrm>
        </p:grpSpPr>
        <p:sp>
          <p:nvSpPr>
            <p:cNvPr id="112"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13"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14"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15" name="Group 1399"/>
            <p:cNvGrpSpPr/>
            <p:nvPr/>
          </p:nvGrpSpPr>
          <p:grpSpPr bwMode="auto">
            <a:xfrm>
              <a:off x="4699" y="1145"/>
              <a:ext cx="138" cy="29"/>
              <a:chOff x="2468" y="1332"/>
              <a:chExt cx="310" cy="60"/>
            </a:xfrm>
          </p:grpSpPr>
          <p:sp>
            <p:nvSpPr>
              <p:cNvPr id="116" name="Freeform 1400"/>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17" name="Freeform 1401"/>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18" name="Line 1402"/>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19" name="Line 1403"/>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20" name="Group 1404"/>
          <p:cNvGrpSpPr/>
          <p:nvPr/>
        </p:nvGrpSpPr>
        <p:grpSpPr bwMode="auto">
          <a:xfrm>
            <a:off x="8708190" y="4995228"/>
            <a:ext cx="619125" cy="242887"/>
            <a:chOff x="4650" y="1129"/>
            <a:chExt cx="246" cy="95"/>
          </a:xfrm>
        </p:grpSpPr>
        <p:sp>
          <p:nvSpPr>
            <p:cNvPr id="121"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22"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23"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24" name="Group 1408"/>
            <p:cNvGrpSpPr/>
            <p:nvPr/>
          </p:nvGrpSpPr>
          <p:grpSpPr bwMode="auto">
            <a:xfrm>
              <a:off x="4699" y="1145"/>
              <a:ext cx="138" cy="29"/>
              <a:chOff x="2468" y="1332"/>
              <a:chExt cx="310" cy="60"/>
            </a:xfrm>
          </p:grpSpPr>
          <p:sp>
            <p:nvSpPr>
              <p:cNvPr id="125" name="Freeform 1409"/>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26" name="Freeform 1410"/>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27" name="Line 1411"/>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28" name="Line 1412"/>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29" name="Group 1413"/>
          <p:cNvGrpSpPr/>
          <p:nvPr/>
        </p:nvGrpSpPr>
        <p:grpSpPr bwMode="auto">
          <a:xfrm>
            <a:off x="9341602" y="5293678"/>
            <a:ext cx="619125" cy="242887"/>
            <a:chOff x="4650" y="1129"/>
            <a:chExt cx="246" cy="95"/>
          </a:xfrm>
        </p:grpSpPr>
        <p:sp>
          <p:nvSpPr>
            <p:cNvPr id="130"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31"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32"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33" name="Group 1417"/>
            <p:cNvGrpSpPr/>
            <p:nvPr/>
          </p:nvGrpSpPr>
          <p:grpSpPr bwMode="auto">
            <a:xfrm>
              <a:off x="4699" y="1145"/>
              <a:ext cx="138" cy="29"/>
              <a:chOff x="2468" y="1332"/>
              <a:chExt cx="310" cy="60"/>
            </a:xfrm>
          </p:grpSpPr>
          <p:sp>
            <p:nvSpPr>
              <p:cNvPr id="134" name="Freeform 141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35" name="Freeform 141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36" name="Line 1420"/>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37" name="Line 1421"/>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38" name="Group 1422"/>
          <p:cNvGrpSpPr/>
          <p:nvPr/>
        </p:nvGrpSpPr>
        <p:grpSpPr bwMode="auto">
          <a:xfrm>
            <a:off x="7992227" y="5338128"/>
            <a:ext cx="619125" cy="242887"/>
            <a:chOff x="4650" y="1129"/>
            <a:chExt cx="246" cy="95"/>
          </a:xfrm>
        </p:grpSpPr>
        <p:sp>
          <p:nvSpPr>
            <p:cNvPr id="139"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40"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41"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42" name="Group 1426"/>
            <p:cNvGrpSpPr/>
            <p:nvPr/>
          </p:nvGrpSpPr>
          <p:grpSpPr bwMode="auto">
            <a:xfrm>
              <a:off x="4699" y="1145"/>
              <a:ext cx="138" cy="29"/>
              <a:chOff x="2468" y="1332"/>
              <a:chExt cx="310" cy="60"/>
            </a:xfrm>
          </p:grpSpPr>
          <p:sp>
            <p:nvSpPr>
              <p:cNvPr id="143" name="Freeform 1427"/>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44" name="Freeform 1428"/>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45" name="Line 1429"/>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46" name="Line 1430"/>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47" name="Group 1431"/>
          <p:cNvGrpSpPr/>
          <p:nvPr/>
        </p:nvGrpSpPr>
        <p:grpSpPr bwMode="auto">
          <a:xfrm>
            <a:off x="7798552" y="4130040"/>
            <a:ext cx="390525" cy="169863"/>
            <a:chOff x="4650" y="1129"/>
            <a:chExt cx="246" cy="95"/>
          </a:xfrm>
        </p:grpSpPr>
        <p:sp>
          <p:nvSpPr>
            <p:cNvPr id="148"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49"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50"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51" name="Group 1435"/>
            <p:cNvGrpSpPr/>
            <p:nvPr/>
          </p:nvGrpSpPr>
          <p:grpSpPr bwMode="auto">
            <a:xfrm>
              <a:off x="4699" y="1145"/>
              <a:ext cx="138" cy="29"/>
              <a:chOff x="2468" y="1332"/>
              <a:chExt cx="310" cy="60"/>
            </a:xfrm>
          </p:grpSpPr>
          <p:sp>
            <p:nvSpPr>
              <p:cNvPr id="152" name="Freeform 1436"/>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53" name="Freeform 1437"/>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54" name="Line 1438"/>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55" name="Line 1439"/>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56" name="Group 1440"/>
          <p:cNvGrpSpPr/>
          <p:nvPr/>
        </p:nvGrpSpPr>
        <p:grpSpPr bwMode="auto">
          <a:xfrm>
            <a:off x="8098590" y="2977515"/>
            <a:ext cx="390525" cy="169863"/>
            <a:chOff x="4650" y="1129"/>
            <a:chExt cx="246" cy="95"/>
          </a:xfrm>
        </p:grpSpPr>
        <p:sp>
          <p:nvSpPr>
            <p:cNvPr id="157"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58"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59"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60" name="Group 1444"/>
            <p:cNvGrpSpPr/>
            <p:nvPr/>
          </p:nvGrpSpPr>
          <p:grpSpPr bwMode="auto">
            <a:xfrm>
              <a:off x="4699" y="1145"/>
              <a:ext cx="138" cy="29"/>
              <a:chOff x="2468" y="1332"/>
              <a:chExt cx="310" cy="60"/>
            </a:xfrm>
          </p:grpSpPr>
          <p:sp>
            <p:nvSpPr>
              <p:cNvPr id="161" name="Freeform 1445"/>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62" name="Freeform 1446"/>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63" name="Line 1447"/>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64" name="Line 1448"/>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65" name="Group 1449"/>
          <p:cNvGrpSpPr/>
          <p:nvPr/>
        </p:nvGrpSpPr>
        <p:grpSpPr bwMode="auto">
          <a:xfrm>
            <a:off x="7357227" y="3990340"/>
            <a:ext cx="506413" cy="352425"/>
            <a:chOff x="2967" y="478"/>
            <a:chExt cx="788" cy="625"/>
          </a:xfrm>
        </p:grpSpPr>
        <p:pic>
          <p:nvPicPr>
            <p:cNvPr id="166" name="Picture 1450" descr="access_point_stylized_small"/>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451" descr="antenna_radiation_stylized"/>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8" name="Group 1452"/>
          <p:cNvGrpSpPr/>
          <p:nvPr/>
        </p:nvGrpSpPr>
        <p:grpSpPr bwMode="auto">
          <a:xfrm>
            <a:off x="8878052" y="5493703"/>
            <a:ext cx="563563" cy="420687"/>
            <a:chOff x="2967" y="478"/>
            <a:chExt cx="788" cy="625"/>
          </a:xfrm>
        </p:grpSpPr>
        <p:pic>
          <p:nvPicPr>
            <p:cNvPr id="169" name="Picture 1453" descr="access_point_stylized_small"/>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454" descr="antenna_radiation_stylized"/>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1" name="Group 1455"/>
          <p:cNvGrpSpPr/>
          <p:nvPr/>
        </p:nvGrpSpPr>
        <p:grpSpPr bwMode="auto">
          <a:xfrm>
            <a:off x="7806490" y="2334578"/>
            <a:ext cx="457200" cy="631825"/>
            <a:chOff x="742" y="2409"/>
            <a:chExt cx="576" cy="881"/>
          </a:xfrm>
        </p:grpSpPr>
        <p:grpSp>
          <p:nvGrpSpPr>
            <p:cNvPr id="172" name="Group 1456"/>
            <p:cNvGrpSpPr/>
            <p:nvPr/>
          </p:nvGrpSpPr>
          <p:grpSpPr bwMode="auto">
            <a:xfrm>
              <a:off x="832" y="2643"/>
              <a:ext cx="376" cy="647"/>
              <a:chOff x="3130" y="3288"/>
              <a:chExt cx="410" cy="742"/>
            </a:xfrm>
          </p:grpSpPr>
          <p:sp>
            <p:nvSpPr>
              <p:cNvPr id="173" name="Line 270"/>
              <p:cNvSpPr>
                <a:spLocks noChangeShapeType="1"/>
              </p:cNvSpPr>
              <p:nvPr/>
            </p:nvSpPr>
            <p:spPr bwMode="auto">
              <a:xfrm flipH="1">
                <a:off x="3130" y="3288"/>
                <a:ext cx="205" cy="6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4" name="Line 271"/>
              <p:cNvSpPr>
                <a:spLocks noChangeShapeType="1"/>
              </p:cNvSpPr>
              <p:nvPr/>
            </p:nvSpPr>
            <p:spPr bwMode="auto">
              <a:xfrm>
                <a:off x="3335" y="3288"/>
                <a:ext cx="205" cy="6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5" name="Line 272"/>
              <p:cNvSpPr>
                <a:spLocks noChangeShapeType="1"/>
              </p:cNvSpPr>
              <p:nvPr/>
            </p:nvSpPr>
            <p:spPr bwMode="auto">
              <a:xfrm>
                <a:off x="3130"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6" name="Line 273"/>
              <p:cNvSpPr>
                <a:spLocks noChangeShapeType="1"/>
              </p:cNvSpPr>
              <p:nvPr/>
            </p:nvSpPr>
            <p:spPr bwMode="auto">
              <a:xfrm flipH="1">
                <a:off x="3335"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7" name="Line 274"/>
              <p:cNvSpPr>
                <a:spLocks noChangeShapeType="1"/>
              </p:cNvSpPr>
              <p:nvPr/>
            </p:nvSpPr>
            <p:spPr bwMode="auto">
              <a:xfrm>
                <a:off x="3335" y="3303"/>
                <a:ext cx="0" cy="7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8" name="Line 275"/>
              <p:cNvSpPr>
                <a:spLocks noChangeShapeType="1"/>
              </p:cNvSpPr>
              <p:nvPr/>
            </p:nvSpPr>
            <p:spPr bwMode="auto">
              <a:xfrm flipV="1">
                <a:off x="3130" y="3888"/>
                <a:ext cx="205" cy="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9" name="Line 276"/>
              <p:cNvSpPr>
                <a:spLocks noChangeShapeType="1"/>
              </p:cNvSpPr>
              <p:nvPr/>
            </p:nvSpPr>
            <p:spPr bwMode="auto">
              <a:xfrm flipH="1" flipV="1">
                <a:off x="3335" y="3888"/>
                <a:ext cx="205" cy="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0" name="Line 277"/>
              <p:cNvSpPr>
                <a:spLocks noChangeShapeType="1"/>
              </p:cNvSpPr>
              <p:nvPr/>
            </p:nvSpPr>
            <p:spPr bwMode="auto">
              <a:xfrm>
                <a:off x="3217" y="3668"/>
                <a:ext cx="118"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1" name="Line 278"/>
              <p:cNvSpPr>
                <a:spLocks noChangeShapeType="1"/>
              </p:cNvSpPr>
              <p:nvPr/>
            </p:nvSpPr>
            <p:spPr bwMode="auto">
              <a:xfrm flipV="1">
                <a:off x="3335" y="3668"/>
                <a:ext cx="124"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2" name="Line 279"/>
              <p:cNvSpPr>
                <a:spLocks noChangeShapeType="1"/>
              </p:cNvSpPr>
              <p:nvPr/>
            </p:nvSpPr>
            <p:spPr bwMode="auto">
              <a:xfrm>
                <a:off x="3178" y="3766"/>
                <a:ext cx="152" cy="7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3" name="Line 280"/>
              <p:cNvSpPr>
                <a:spLocks noChangeShapeType="1"/>
              </p:cNvSpPr>
              <p:nvPr/>
            </p:nvSpPr>
            <p:spPr bwMode="auto">
              <a:xfrm flipV="1">
                <a:off x="3335" y="3781"/>
                <a:ext cx="153" cy="6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4" name="Line 281"/>
              <p:cNvSpPr>
                <a:spLocks noChangeShapeType="1"/>
              </p:cNvSpPr>
              <p:nvPr/>
            </p:nvSpPr>
            <p:spPr bwMode="auto">
              <a:xfrm flipV="1">
                <a:off x="3335" y="3567"/>
                <a:ext cx="78" cy="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5" name="Line 282"/>
              <p:cNvSpPr>
                <a:spLocks noChangeShapeType="1"/>
              </p:cNvSpPr>
              <p:nvPr/>
            </p:nvSpPr>
            <p:spPr bwMode="auto">
              <a:xfrm flipV="1">
                <a:off x="3335" y="3428"/>
                <a:ext cx="49" cy="2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6" name="Line 283"/>
              <p:cNvSpPr>
                <a:spLocks noChangeShapeType="1"/>
              </p:cNvSpPr>
              <p:nvPr/>
            </p:nvSpPr>
            <p:spPr bwMode="auto">
              <a:xfrm>
                <a:off x="3247" y="3558"/>
                <a:ext cx="9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7" name="Line 284"/>
              <p:cNvSpPr>
                <a:spLocks noChangeShapeType="1"/>
              </p:cNvSpPr>
              <p:nvPr/>
            </p:nvSpPr>
            <p:spPr bwMode="auto">
              <a:xfrm>
                <a:off x="3289" y="3422"/>
                <a:ext cx="5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grpSp>
        <p:pic>
          <p:nvPicPr>
            <p:cNvPr id="188" name="Picture 1472" descr="cell_tower_radiation copy"/>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2" y="2409"/>
              <a:ext cx="5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Oval 1473"/>
            <p:cNvSpPr>
              <a:spLocks noChangeArrowheads="1"/>
            </p:cNvSpPr>
            <p:nvPr/>
          </p:nvSpPr>
          <p:spPr bwMode="auto">
            <a:xfrm>
              <a:off x="986" y="2597"/>
              <a:ext cx="66" cy="69"/>
            </a:xfrm>
            <a:prstGeom prst="ellipse">
              <a:avLst/>
            </a:prstGeom>
            <a:solidFill>
              <a:schemeClr val="tx2"/>
            </a:soli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grpSp>
        <p:nvGrpSpPr>
          <p:cNvPr id="190" name="Group 1474"/>
          <p:cNvGrpSpPr/>
          <p:nvPr/>
        </p:nvGrpSpPr>
        <p:grpSpPr bwMode="auto">
          <a:xfrm>
            <a:off x="9986127" y="5492115"/>
            <a:ext cx="227013" cy="481013"/>
            <a:chOff x="4140" y="429"/>
            <a:chExt cx="1425" cy="2396"/>
          </a:xfrm>
        </p:grpSpPr>
        <p:sp>
          <p:nvSpPr>
            <p:cNvPr id="191" name="Freeform 1475"/>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92" name="Rectangle 1476"/>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193" name="Freeform 1477"/>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94" name="Freeform 1478"/>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95" name="Rectangle 1479"/>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196" name="Group 1480"/>
            <p:cNvGrpSpPr/>
            <p:nvPr/>
          </p:nvGrpSpPr>
          <p:grpSpPr bwMode="auto">
            <a:xfrm>
              <a:off x="4749" y="668"/>
              <a:ext cx="581" cy="145"/>
              <a:chOff x="614" y="2568"/>
              <a:chExt cx="725" cy="139"/>
            </a:xfrm>
          </p:grpSpPr>
          <p:sp>
            <p:nvSpPr>
              <p:cNvPr id="197" name="AutoShape 1481"/>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198" name="AutoShape 1482"/>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199" name="Rectangle 1483"/>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00" name="Group 1484"/>
            <p:cNvGrpSpPr/>
            <p:nvPr/>
          </p:nvGrpSpPr>
          <p:grpSpPr bwMode="auto">
            <a:xfrm>
              <a:off x="4747" y="994"/>
              <a:ext cx="581" cy="134"/>
              <a:chOff x="614" y="2568"/>
              <a:chExt cx="725" cy="139"/>
            </a:xfrm>
          </p:grpSpPr>
          <p:sp>
            <p:nvSpPr>
              <p:cNvPr id="201" name="AutoShape 1485"/>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02" name="AutoShape 1486"/>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03" name="Rectangle 1487"/>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04" name="Rectangle 1488"/>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05" name="Group 1489"/>
            <p:cNvGrpSpPr/>
            <p:nvPr/>
          </p:nvGrpSpPr>
          <p:grpSpPr bwMode="auto">
            <a:xfrm>
              <a:off x="4735" y="1627"/>
              <a:ext cx="582" cy="151"/>
              <a:chOff x="614" y="2568"/>
              <a:chExt cx="725" cy="139"/>
            </a:xfrm>
          </p:grpSpPr>
          <p:sp>
            <p:nvSpPr>
              <p:cNvPr id="206" name="AutoShape 1490"/>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07" name="AutoShape 1491"/>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08" name="Freeform 1492"/>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09" name="Group 1493"/>
            <p:cNvGrpSpPr/>
            <p:nvPr/>
          </p:nvGrpSpPr>
          <p:grpSpPr bwMode="auto">
            <a:xfrm>
              <a:off x="4739" y="1327"/>
              <a:ext cx="582" cy="139"/>
              <a:chOff x="614" y="2568"/>
              <a:chExt cx="725" cy="139"/>
            </a:xfrm>
          </p:grpSpPr>
          <p:sp>
            <p:nvSpPr>
              <p:cNvPr id="210" name="AutoShape 1494"/>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1" name="AutoShape 1495"/>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12" name="Rectangle 1496"/>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3" name="Freeform 1497"/>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14" name="Freeform 1498"/>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15" name="Oval 1499"/>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6" name="Freeform 1500"/>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17" name="AutoShape 1501"/>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8" name="AutoShape 1502"/>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9" name="Oval 1503"/>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20" name="Oval 1504"/>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hangingPunct="1"/>
              <a:endParaRPr lang="zh-CN" altLang="zh-CN" sz="900">
                <a:solidFill>
                  <a:srgbClr val="FF0000"/>
                </a:solidFill>
                <a:cs typeface="Arial" panose="020B0604020202020204" pitchFamily="34" charset="0"/>
              </a:endParaRPr>
            </a:p>
          </p:txBody>
        </p:sp>
        <p:sp>
          <p:nvSpPr>
            <p:cNvPr id="221" name="Oval 1505"/>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22" name="Rectangle 1506"/>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grpSp>
        <p:nvGrpSpPr>
          <p:cNvPr id="223" name="Group 1507"/>
          <p:cNvGrpSpPr/>
          <p:nvPr/>
        </p:nvGrpSpPr>
        <p:grpSpPr bwMode="auto">
          <a:xfrm>
            <a:off x="9670215" y="5793740"/>
            <a:ext cx="227012" cy="481013"/>
            <a:chOff x="4140" y="429"/>
            <a:chExt cx="1425" cy="2396"/>
          </a:xfrm>
        </p:grpSpPr>
        <p:sp>
          <p:nvSpPr>
            <p:cNvPr id="224" name="Freeform 1508"/>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25"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26" name="Freeform 1510"/>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27" name="Freeform 1511"/>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28"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29" name="Group 1513"/>
            <p:cNvGrpSpPr/>
            <p:nvPr/>
          </p:nvGrpSpPr>
          <p:grpSpPr bwMode="auto">
            <a:xfrm>
              <a:off x="4749" y="668"/>
              <a:ext cx="581" cy="145"/>
              <a:chOff x="614" y="2568"/>
              <a:chExt cx="725" cy="139"/>
            </a:xfrm>
          </p:grpSpPr>
          <p:sp>
            <p:nvSpPr>
              <p:cNvPr id="230"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31"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32"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33" name="Group 1517"/>
            <p:cNvGrpSpPr/>
            <p:nvPr/>
          </p:nvGrpSpPr>
          <p:grpSpPr bwMode="auto">
            <a:xfrm>
              <a:off x="4747" y="994"/>
              <a:ext cx="581" cy="134"/>
              <a:chOff x="614" y="2568"/>
              <a:chExt cx="725" cy="139"/>
            </a:xfrm>
          </p:grpSpPr>
          <p:sp>
            <p:nvSpPr>
              <p:cNvPr id="234"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35"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36"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37"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38" name="Group 1522"/>
            <p:cNvGrpSpPr/>
            <p:nvPr/>
          </p:nvGrpSpPr>
          <p:grpSpPr bwMode="auto">
            <a:xfrm>
              <a:off x="4735" y="1627"/>
              <a:ext cx="582" cy="151"/>
              <a:chOff x="614" y="2568"/>
              <a:chExt cx="725" cy="139"/>
            </a:xfrm>
          </p:grpSpPr>
          <p:sp>
            <p:nvSpPr>
              <p:cNvPr id="239"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0"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41" name="Freeform 1525"/>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42" name="Group 1526"/>
            <p:cNvGrpSpPr/>
            <p:nvPr/>
          </p:nvGrpSpPr>
          <p:grpSpPr bwMode="auto">
            <a:xfrm>
              <a:off x="4739" y="1327"/>
              <a:ext cx="582" cy="139"/>
              <a:chOff x="614" y="2568"/>
              <a:chExt cx="725" cy="139"/>
            </a:xfrm>
          </p:grpSpPr>
          <p:sp>
            <p:nvSpPr>
              <p:cNvPr id="243"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4"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4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6" name="Freeform 1530"/>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47" name="Freeform 1531"/>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48"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9" name="Freeform 1533"/>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5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2"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3"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hangingPunct="1"/>
              <a:endParaRPr lang="zh-CN" altLang="zh-CN" sz="900">
                <a:solidFill>
                  <a:srgbClr val="FF0000"/>
                </a:solidFill>
                <a:cs typeface="Arial" panose="020B0604020202020204" pitchFamily="34" charset="0"/>
              </a:endParaRPr>
            </a:p>
          </p:txBody>
        </p:sp>
        <p:sp>
          <p:nvSpPr>
            <p:cNvPr id="254"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grpSp>
        <p:nvGrpSpPr>
          <p:cNvPr id="256" name="Group 1540"/>
          <p:cNvGrpSpPr/>
          <p:nvPr/>
        </p:nvGrpSpPr>
        <p:grpSpPr bwMode="auto">
          <a:xfrm>
            <a:off x="7047665" y="2533015"/>
            <a:ext cx="534987" cy="407988"/>
            <a:chOff x="877" y="1008"/>
            <a:chExt cx="2747" cy="2591"/>
          </a:xfrm>
        </p:grpSpPr>
        <p:pic>
          <p:nvPicPr>
            <p:cNvPr id="257" name="Picture 1541" descr="antenna_stylized"/>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1542" descr="laptop_keyboard"/>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Freeform 1543"/>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260" name="Picture 1544" descr="screen"/>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1" name="Freeform 1545"/>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2" name="Freeform 1546"/>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3" name="Freeform 1547"/>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4" name="Freeform 1548"/>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5" name="Freeform 1549"/>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6" name="Freeform 1550"/>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67" name="Group 1551"/>
            <p:cNvGrpSpPr/>
            <p:nvPr/>
          </p:nvGrpSpPr>
          <p:grpSpPr bwMode="auto">
            <a:xfrm>
              <a:off x="1709" y="3008"/>
              <a:ext cx="507" cy="234"/>
              <a:chOff x="1740" y="2642"/>
              <a:chExt cx="752" cy="327"/>
            </a:xfrm>
          </p:grpSpPr>
          <p:sp>
            <p:nvSpPr>
              <p:cNvPr id="268" name="Freeform 1552"/>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9" name="Freeform 1553"/>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0" name="Freeform 1554"/>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1" name="Freeform 1555"/>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2" name="Freeform 1556"/>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3" name="Freeform 1557"/>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274" name="Freeform 1558"/>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5" name="Freeform 1559"/>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6" name="Freeform 1560"/>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7" name="Freeform 1561"/>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8" name="Freeform 1562"/>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9" name="Freeform 1563"/>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grpSp>
        <p:nvGrpSpPr>
          <p:cNvPr id="280" name="Group 1564"/>
          <p:cNvGrpSpPr/>
          <p:nvPr/>
        </p:nvGrpSpPr>
        <p:grpSpPr bwMode="auto">
          <a:xfrm>
            <a:off x="8617702" y="5976303"/>
            <a:ext cx="474663" cy="407987"/>
            <a:chOff x="877" y="1008"/>
            <a:chExt cx="2747" cy="2591"/>
          </a:xfrm>
        </p:grpSpPr>
        <p:pic>
          <p:nvPicPr>
            <p:cNvPr id="281" name="Picture 1565"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2" name="Picture 1566"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5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284" name="Picture 1568"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15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6" name="Freeform 15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7" name="Freeform 15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8" name="Freeform 15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9" name="Freeform 15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0" name="Freeform 15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91" name="Group 1575"/>
            <p:cNvGrpSpPr/>
            <p:nvPr/>
          </p:nvGrpSpPr>
          <p:grpSpPr bwMode="auto">
            <a:xfrm>
              <a:off x="1709" y="3008"/>
              <a:ext cx="507" cy="234"/>
              <a:chOff x="1740" y="2642"/>
              <a:chExt cx="752" cy="327"/>
            </a:xfrm>
          </p:grpSpPr>
          <p:sp>
            <p:nvSpPr>
              <p:cNvPr id="292" name="Freeform 15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3" name="Freeform 15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4" name="Freeform 15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5" name="Freeform 15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6" name="Freeform 15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7" name="Freeform 15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298" name="Freeform 15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9" name="Freeform 15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0" name="Freeform 15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1" name="Freeform 15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2" name="Freeform 15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3" name="Freeform 15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grpSp>
        <p:nvGrpSpPr>
          <p:cNvPr id="304" name="Group 1588"/>
          <p:cNvGrpSpPr/>
          <p:nvPr/>
        </p:nvGrpSpPr>
        <p:grpSpPr bwMode="auto">
          <a:xfrm>
            <a:off x="7306427" y="3531553"/>
            <a:ext cx="444500" cy="407987"/>
            <a:chOff x="877" y="1008"/>
            <a:chExt cx="2747" cy="2591"/>
          </a:xfrm>
        </p:grpSpPr>
        <p:pic>
          <p:nvPicPr>
            <p:cNvPr id="305" name="Picture 1589" descr="antenna_stylized"/>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6" name="Picture 1590" descr="laptop_keyboard"/>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1591"/>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308" name="Picture 1592" descr="screen"/>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Freeform 1593"/>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0" name="Freeform 1594"/>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1" name="Freeform 1595"/>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2" name="Freeform 1596"/>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3" name="Freeform 1597"/>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4" name="Freeform 1598"/>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315" name="Group 1599"/>
            <p:cNvGrpSpPr/>
            <p:nvPr/>
          </p:nvGrpSpPr>
          <p:grpSpPr bwMode="auto">
            <a:xfrm>
              <a:off x="1709" y="3008"/>
              <a:ext cx="507" cy="234"/>
              <a:chOff x="1740" y="2642"/>
              <a:chExt cx="752" cy="327"/>
            </a:xfrm>
          </p:grpSpPr>
          <p:sp>
            <p:nvSpPr>
              <p:cNvPr id="316" name="Freeform 1600"/>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7" name="Freeform 1601"/>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8" name="Freeform 1602"/>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9" name="Freeform 1603"/>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0" name="Freeform 1604"/>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1" name="Freeform 1605"/>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322" name="Freeform 1606"/>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3" name="Freeform 1607"/>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4" name="Freeform 1608"/>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5" name="Freeform 1609"/>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6" name="Freeform 1610"/>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7" name="Freeform 1611"/>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grpSp>
        <p:nvGrpSpPr>
          <p:cNvPr id="328" name="Group 1612"/>
          <p:cNvGrpSpPr/>
          <p:nvPr/>
        </p:nvGrpSpPr>
        <p:grpSpPr bwMode="auto">
          <a:xfrm flipH="1">
            <a:off x="7685840" y="3712528"/>
            <a:ext cx="414337" cy="373062"/>
            <a:chOff x="2839" y="3501"/>
            <a:chExt cx="755" cy="803"/>
          </a:xfrm>
        </p:grpSpPr>
        <p:pic>
          <p:nvPicPr>
            <p:cNvPr id="329" name="Picture 1613" descr="desktop_computer_stylized_mediu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0" name="Freeform 1614"/>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331" name="Group 1615"/>
          <p:cNvGrpSpPr/>
          <p:nvPr/>
        </p:nvGrpSpPr>
        <p:grpSpPr bwMode="auto">
          <a:xfrm>
            <a:off x="9052677" y="5912803"/>
            <a:ext cx="474663" cy="407987"/>
            <a:chOff x="877" y="1008"/>
            <a:chExt cx="2747" cy="2591"/>
          </a:xfrm>
        </p:grpSpPr>
        <p:pic>
          <p:nvPicPr>
            <p:cNvPr id="332" name="Picture 1616"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3" name="Picture 1617"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4" name="Freeform 1618"/>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335" name="Picture 1619"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6" name="Freeform 1620"/>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37" name="Freeform 1621"/>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38" name="Freeform 1622"/>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39" name="Freeform 1623"/>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0" name="Freeform 1624"/>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1" name="Freeform 1625"/>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342" name="Group 1626"/>
            <p:cNvGrpSpPr/>
            <p:nvPr/>
          </p:nvGrpSpPr>
          <p:grpSpPr bwMode="auto">
            <a:xfrm>
              <a:off x="1709" y="3008"/>
              <a:ext cx="507" cy="234"/>
              <a:chOff x="1740" y="2642"/>
              <a:chExt cx="752" cy="327"/>
            </a:xfrm>
          </p:grpSpPr>
          <p:sp>
            <p:nvSpPr>
              <p:cNvPr id="343" name="Freeform 1627"/>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4" name="Freeform 1628"/>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5" name="Freeform 1629"/>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6" name="Freeform 1630"/>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7" name="Freeform 1631"/>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8" name="Freeform 1632"/>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349" name="Freeform 1633"/>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0" name="Freeform 1634"/>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1" name="Freeform 1635"/>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2" name="Freeform 1636"/>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3" name="Freeform 1637"/>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4" name="Freeform 1638"/>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355" name="Rectangle 3"/>
          <p:cNvSpPr>
            <a:spLocks noGrp="1" noChangeArrowheads="1"/>
          </p:cNvSpPr>
          <p:nvPr/>
        </p:nvSpPr>
        <p:spPr>
          <a:xfrm>
            <a:off x="413385" y="1517015"/>
            <a:ext cx="6175317" cy="501650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lnSpc>
                <a:spcPct val="120000"/>
              </a:lnSpc>
              <a:spcBef>
                <a:spcPts val="600"/>
              </a:spcBef>
              <a:buFont typeface="Wingdings" panose="05000000000000000000" pitchFamily="2" charset="2"/>
              <a:buChar char="Ø"/>
            </a:pPr>
            <a:r>
              <a:rPr lang="zh-CN" altLang="en-US" dirty="0">
                <a:latin typeface="微软雅黑" panose="020B0503020204020204" pitchFamily="34" charset="-122"/>
                <a:ea typeface="微软雅黑" panose="020B0503020204020204" pitchFamily="34" charset="-122"/>
              </a:rPr>
              <a:t>网络层实现端系统间</a:t>
            </a:r>
            <a:r>
              <a:rPr lang="zh-CN" altLang="en-US" dirty="0">
                <a:solidFill>
                  <a:srgbClr val="C00000"/>
                </a:solidFill>
                <a:latin typeface="微软雅黑" panose="020B0503020204020204" pitchFamily="34" charset="-122"/>
                <a:ea typeface="微软雅黑" panose="020B0503020204020204" pitchFamily="34" charset="-122"/>
              </a:rPr>
              <a:t>多跳传输</a:t>
            </a:r>
            <a:r>
              <a:rPr lang="zh-CN" altLang="en-US" dirty="0">
                <a:latin typeface="微软雅黑" panose="020B0503020204020204" pitchFamily="34" charset="-122"/>
                <a:ea typeface="微软雅黑" panose="020B0503020204020204" pitchFamily="34" charset="-122"/>
              </a:rPr>
              <a:t>可达</a:t>
            </a:r>
            <a:endParaRPr lang="en-US" altLang="zh-CN" sz="2800" dirty="0">
              <a:latin typeface="微软雅黑" panose="020B0503020204020204" pitchFamily="34" charset="-122"/>
              <a:ea typeface="微软雅黑" panose="020B0503020204020204" pitchFamily="34" charset="-122"/>
            </a:endParaRPr>
          </a:p>
          <a:p>
            <a:pPr algn="l" fontAlgn="base">
              <a:lnSpc>
                <a:spcPct val="120000"/>
              </a:lnSpc>
              <a:spcBef>
                <a:spcPts val="600"/>
              </a:spcBef>
              <a:buClrTx/>
              <a:buSzTx/>
              <a:buFont typeface="Wingdings" panose="05000000000000000000" pitchFamily="2" charset="2"/>
              <a:buChar char="Ø"/>
            </a:pPr>
            <a:r>
              <a:rPr lang="zh-CN" altLang="en-US" sz="2800" dirty="0">
                <a:latin typeface="微软雅黑" panose="020B0503020204020204" pitchFamily="34" charset="-122"/>
                <a:ea typeface="微软雅黑" panose="020B0503020204020204" pitchFamily="34" charset="-122"/>
              </a:rPr>
              <a:t>网络层功能存在每台主机和路由器</a:t>
            </a:r>
            <a:r>
              <a:rPr lang="zh-CN" altLang="en-US" dirty="0">
                <a:latin typeface="微软雅黑" panose="020B0503020204020204" pitchFamily="34" charset="-122"/>
                <a:ea typeface="微软雅黑" panose="020B0503020204020204" pitchFamily="34" charset="-122"/>
              </a:rPr>
              <a:t>中</a:t>
            </a:r>
            <a:endParaRPr lang="zh-CN" altLang="en-US" sz="2800" dirty="0">
              <a:latin typeface="微软雅黑" panose="020B0503020204020204" pitchFamily="34" charset="-122"/>
              <a:ea typeface="微软雅黑" panose="020B0503020204020204" pitchFamily="34" charset="-122"/>
            </a:endParaRPr>
          </a:p>
          <a:p>
            <a:pPr lvl="1" algn="l">
              <a:lnSpc>
                <a:spcPct val="160000"/>
              </a:lnSpc>
              <a:spcBef>
                <a:spcPts val="600"/>
              </a:spcBef>
              <a:buClrTx/>
              <a:buSzTx/>
            </a:pPr>
            <a:r>
              <a:rPr kumimoji="1" lang="zh-CN" altLang="en-US" dirty="0">
                <a:solidFill>
                  <a:srgbClr val="C00000"/>
                </a:solidFill>
                <a:latin typeface="微软雅黑" panose="020B0503020204020204" pitchFamily="34" charset="-122"/>
                <a:ea typeface="微软雅黑" panose="020B0503020204020204" pitchFamily="34" charset="-122"/>
              </a:rPr>
              <a:t>发送端：</a:t>
            </a:r>
            <a:r>
              <a:rPr lang="zh-CN" altLang="en-US" dirty="0">
                <a:latin typeface="微软雅黑" panose="020B0503020204020204" pitchFamily="34" charset="-122"/>
                <a:ea typeface="微软雅黑" panose="020B0503020204020204" pitchFamily="34" charset="-122"/>
              </a:rPr>
              <a:t>将传输层数据单元封装在数据包中</a:t>
            </a:r>
          </a:p>
          <a:p>
            <a:pPr lvl="1" algn="l">
              <a:lnSpc>
                <a:spcPct val="160000"/>
              </a:lnSpc>
              <a:spcBef>
                <a:spcPts val="600"/>
              </a:spcBef>
              <a:buClrTx/>
              <a:buSzTx/>
            </a:pPr>
            <a:r>
              <a:rPr kumimoji="1" lang="zh-CN" altLang="en-US" dirty="0">
                <a:solidFill>
                  <a:srgbClr val="C00000"/>
                </a:solidFill>
                <a:latin typeface="微软雅黑" panose="020B0503020204020204" pitchFamily="34" charset="-122"/>
                <a:ea typeface="微软雅黑" panose="020B0503020204020204" pitchFamily="34" charset="-122"/>
              </a:rPr>
              <a:t>接收端：</a:t>
            </a:r>
            <a:r>
              <a:rPr lang="zh-CN" altLang="en-US" dirty="0">
                <a:latin typeface="微软雅黑" panose="020B0503020204020204" pitchFamily="34" charset="-122"/>
                <a:ea typeface="微软雅黑" panose="020B0503020204020204" pitchFamily="34" charset="-122"/>
              </a:rPr>
              <a:t>解析接收的数据包中，取出传输层数据单元，交付给传输层</a:t>
            </a:r>
          </a:p>
          <a:p>
            <a:pPr lvl="1" algn="l">
              <a:lnSpc>
                <a:spcPct val="160000"/>
              </a:lnSpc>
              <a:spcBef>
                <a:spcPts val="600"/>
              </a:spcBef>
              <a:buClrTx/>
              <a:buSzTx/>
            </a:pPr>
            <a:r>
              <a:rPr kumimoji="1" lang="zh-CN" altLang="en-US" dirty="0">
                <a:solidFill>
                  <a:srgbClr val="C00000"/>
                </a:solidFill>
                <a:latin typeface="微软雅黑" panose="020B0503020204020204" pitchFamily="34" charset="-122"/>
                <a:ea typeface="微软雅黑" panose="020B0503020204020204" pitchFamily="34" charset="-122"/>
              </a:rPr>
              <a:t>路由器：</a:t>
            </a:r>
            <a:r>
              <a:rPr lang="zh-CN" altLang="en-US" dirty="0">
                <a:latin typeface="微软雅黑" panose="020B0503020204020204" pitchFamily="34" charset="-122"/>
                <a:ea typeface="微软雅黑" panose="020B0503020204020204" pitchFamily="34" charset="-122"/>
              </a:rPr>
              <a:t>检查数据包首部，转发数据包</a:t>
            </a:r>
          </a:p>
        </p:txBody>
      </p:sp>
      <p:grpSp>
        <p:nvGrpSpPr>
          <p:cNvPr id="356" name="Group 1046"/>
          <p:cNvGrpSpPr/>
          <p:nvPr/>
        </p:nvGrpSpPr>
        <p:grpSpPr bwMode="auto">
          <a:xfrm>
            <a:off x="7401677" y="1642428"/>
            <a:ext cx="1047750" cy="996950"/>
            <a:chOff x="3402" y="719"/>
            <a:chExt cx="660" cy="628"/>
          </a:xfrm>
        </p:grpSpPr>
        <p:sp>
          <p:nvSpPr>
            <p:cNvPr id="357" name="Freeform 1030"/>
            <p:cNvSpPr/>
            <p:nvPr/>
          </p:nvSpPr>
          <p:spPr bwMode="auto">
            <a:xfrm>
              <a:off x="3402" y="753"/>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prstDash val="solid"/>
                  <a:round/>
                </a14:hiddenLine>
              </a:ext>
            </a:extLst>
          </p:spPr>
          <p:txBody>
            <a:bodyPr/>
            <a:lstStyle/>
            <a:p>
              <a:endParaRPr lang="zh-CN" altLang="en-US" sz="900"/>
            </a:p>
          </p:txBody>
        </p:sp>
        <p:grpSp>
          <p:nvGrpSpPr>
            <p:cNvPr id="358" name="Group 310"/>
            <p:cNvGrpSpPr/>
            <p:nvPr/>
          </p:nvGrpSpPr>
          <p:grpSpPr bwMode="auto">
            <a:xfrm>
              <a:off x="3549" y="719"/>
              <a:ext cx="513" cy="552"/>
              <a:chOff x="2956" y="969"/>
              <a:chExt cx="513" cy="552"/>
            </a:xfrm>
          </p:grpSpPr>
          <p:sp>
            <p:nvSpPr>
              <p:cNvPr id="359" name="Rectangle 311"/>
              <p:cNvSpPr>
                <a:spLocks noChangeArrowheads="1"/>
              </p:cNvSpPr>
              <p:nvPr/>
            </p:nvSpPr>
            <p:spPr bwMode="auto">
              <a:xfrm>
                <a:off x="3018" y="969"/>
                <a:ext cx="426" cy="489"/>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60" name="Rectangle 312"/>
              <p:cNvSpPr>
                <a:spLocks noChangeArrowheads="1"/>
              </p:cNvSpPr>
              <p:nvPr/>
            </p:nvSpPr>
            <p:spPr bwMode="auto">
              <a:xfrm>
                <a:off x="2997" y="984"/>
                <a:ext cx="435" cy="504"/>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61" name="Rectangle 313"/>
              <p:cNvSpPr>
                <a:spLocks noChangeArrowheads="1"/>
              </p:cNvSpPr>
              <p:nvPr/>
            </p:nvSpPr>
            <p:spPr bwMode="auto">
              <a:xfrm>
                <a:off x="3000" y="1185"/>
                <a:ext cx="432" cy="10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62" name="Text Box 314"/>
              <p:cNvSpPr txBox="1">
                <a:spLocks noChangeArrowheads="1"/>
              </p:cNvSpPr>
              <p:nvPr/>
            </p:nvSpPr>
            <p:spPr bwMode="auto">
              <a:xfrm>
                <a:off x="2956" y="978"/>
                <a:ext cx="513"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zh-CN" altLang="en-US" sz="900" dirty="0"/>
                  <a:t>应用层</a:t>
                </a:r>
                <a:endParaRPr lang="en-US" altLang="zh-CN" sz="900" dirty="0"/>
              </a:p>
              <a:p>
                <a:pPr algn="ctr"/>
                <a:r>
                  <a:rPr lang="zh-CN" altLang="en-US" sz="900" dirty="0"/>
                  <a:t>传输层</a:t>
                </a: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sp>
            <p:nvSpPr>
              <p:cNvPr id="363" name="Line 315"/>
              <p:cNvSpPr>
                <a:spLocks noChangeShapeType="1"/>
              </p:cNvSpPr>
              <p:nvPr/>
            </p:nvSpPr>
            <p:spPr bwMode="auto">
              <a:xfrm>
                <a:off x="2997" y="119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64" name="Line 316"/>
              <p:cNvSpPr>
                <a:spLocks noChangeShapeType="1"/>
              </p:cNvSpPr>
              <p:nvPr/>
            </p:nvSpPr>
            <p:spPr bwMode="auto">
              <a:xfrm>
                <a:off x="3003" y="1290"/>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65" name="Line 317"/>
              <p:cNvSpPr>
                <a:spLocks noChangeShapeType="1"/>
              </p:cNvSpPr>
              <p:nvPr/>
            </p:nvSpPr>
            <p:spPr bwMode="auto">
              <a:xfrm>
                <a:off x="3003" y="137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66" name="Line 318"/>
              <p:cNvSpPr>
                <a:spLocks noChangeShapeType="1"/>
              </p:cNvSpPr>
              <p:nvPr/>
            </p:nvSpPr>
            <p:spPr bwMode="auto">
              <a:xfrm>
                <a:off x="3003" y="1092"/>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grpSp>
        <p:nvGrpSpPr>
          <p:cNvPr id="367" name="Group 1047"/>
          <p:cNvGrpSpPr/>
          <p:nvPr/>
        </p:nvGrpSpPr>
        <p:grpSpPr bwMode="auto">
          <a:xfrm>
            <a:off x="10097252" y="4649153"/>
            <a:ext cx="1047750" cy="996950"/>
            <a:chOff x="3402" y="719"/>
            <a:chExt cx="660" cy="628"/>
          </a:xfrm>
        </p:grpSpPr>
        <p:sp>
          <p:nvSpPr>
            <p:cNvPr id="368" name="Freeform 1048"/>
            <p:cNvSpPr/>
            <p:nvPr/>
          </p:nvSpPr>
          <p:spPr bwMode="auto">
            <a:xfrm>
              <a:off x="3402" y="753"/>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prstDash val="solid"/>
                  <a:round/>
                </a14:hiddenLine>
              </a:ext>
            </a:extLst>
          </p:spPr>
          <p:txBody>
            <a:bodyPr/>
            <a:lstStyle/>
            <a:p>
              <a:endParaRPr lang="zh-CN" altLang="en-US" sz="900"/>
            </a:p>
          </p:txBody>
        </p:sp>
        <p:grpSp>
          <p:nvGrpSpPr>
            <p:cNvPr id="369" name="Group 1049"/>
            <p:cNvGrpSpPr/>
            <p:nvPr/>
          </p:nvGrpSpPr>
          <p:grpSpPr bwMode="auto">
            <a:xfrm>
              <a:off x="3549" y="719"/>
              <a:ext cx="513" cy="552"/>
              <a:chOff x="2956" y="969"/>
              <a:chExt cx="513" cy="552"/>
            </a:xfrm>
          </p:grpSpPr>
          <p:sp>
            <p:nvSpPr>
              <p:cNvPr id="370" name="Rectangle 1050"/>
              <p:cNvSpPr>
                <a:spLocks noChangeArrowheads="1"/>
              </p:cNvSpPr>
              <p:nvPr/>
            </p:nvSpPr>
            <p:spPr bwMode="auto">
              <a:xfrm>
                <a:off x="3018" y="969"/>
                <a:ext cx="426" cy="489"/>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71" name="Rectangle 1051"/>
              <p:cNvSpPr>
                <a:spLocks noChangeArrowheads="1"/>
              </p:cNvSpPr>
              <p:nvPr/>
            </p:nvSpPr>
            <p:spPr bwMode="auto">
              <a:xfrm>
                <a:off x="2997" y="984"/>
                <a:ext cx="435" cy="504"/>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72" name="Rectangle 1052"/>
              <p:cNvSpPr>
                <a:spLocks noChangeArrowheads="1"/>
              </p:cNvSpPr>
              <p:nvPr/>
            </p:nvSpPr>
            <p:spPr bwMode="auto">
              <a:xfrm>
                <a:off x="3000" y="1185"/>
                <a:ext cx="432" cy="10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73" name="Text Box 1053"/>
              <p:cNvSpPr txBox="1">
                <a:spLocks noChangeArrowheads="1"/>
              </p:cNvSpPr>
              <p:nvPr/>
            </p:nvSpPr>
            <p:spPr bwMode="auto">
              <a:xfrm>
                <a:off x="2956" y="978"/>
                <a:ext cx="513"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zh-CN" altLang="en-US" sz="900" dirty="0"/>
                  <a:t>应用层</a:t>
                </a:r>
                <a:endParaRPr lang="en-US" altLang="zh-CN" sz="900" dirty="0"/>
              </a:p>
              <a:p>
                <a:pPr algn="ctr"/>
                <a:r>
                  <a:rPr lang="zh-CN" altLang="en-US" sz="900" dirty="0"/>
                  <a:t>传输层</a:t>
                </a: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sp>
            <p:nvSpPr>
              <p:cNvPr id="374" name="Line 1054"/>
              <p:cNvSpPr>
                <a:spLocks noChangeShapeType="1"/>
              </p:cNvSpPr>
              <p:nvPr/>
            </p:nvSpPr>
            <p:spPr bwMode="auto">
              <a:xfrm>
                <a:off x="2997" y="119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75" name="Line 1055"/>
              <p:cNvSpPr>
                <a:spLocks noChangeShapeType="1"/>
              </p:cNvSpPr>
              <p:nvPr/>
            </p:nvSpPr>
            <p:spPr bwMode="auto">
              <a:xfrm>
                <a:off x="3003" y="1290"/>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76" name="Line 1056"/>
              <p:cNvSpPr>
                <a:spLocks noChangeShapeType="1"/>
              </p:cNvSpPr>
              <p:nvPr/>
            </p:nvSpPr>
            <p:spPr bwMode="auto">
              <a:xfrm>
                <a:off x="3003" y="137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77" name="Line 1057"/>
              <p:cNvSpPr>
                <a:spLocks noChangeShapeType="1"/>
              </p:cNvSpPr>
              <p:nvPr/>
            </p:nvSpPr>
            <p:spPr bwMode="auto">
              <a:xfrm>
                <a:off x="3003" y="1092"/>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grpSp>
        <p:nvGrpSpPr>
          <p:cNvPr id="378" name="Group 1278"/>
          <p:cNvGrpSpPr/>
          <p:nvPr/>
        </p:nvGrpSpPr>
        <p:grpSpPr bwMode="auto">
          <a:xfrm>
            <a:off x="7854115" y="2240918"/>
            <a:ext cx="2546350" cy="3475040"/>
            <a:chOff x="3674" y="1133"/>
            <a:chExt cx="1604" cy="2189"/>
          </a:xfrm>
        </p:grpSpPr>
        <p:grpSp>
          <p:nvGrpSpPr>
            <p:cNvPr id="379" name="Group 433"/>
            <p:cNvGrpSpPr/>
            <p:nvPr/>
          </p:nvGrpSpPr>
          <p:grpSpPr bwMode="auto">
            <a:xfrm>
              <a:off x="3701" y="1305"/>
              <a:ext cx="513" cy="456"/>
              <a:chOff x="3937" y="633"/>
              <a:chExt cx="513" cy="456"/>
            </a:xfrm>
          </p:grpSpPr>
          <p:sp>
            <p:nvSpPr>
              <p:cNvPr id="380" name="Line 434"/>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1" name="Line 435"/>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2" name="Oval 436"/>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83" name="Line 437"/>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4" name="Line 438"/>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5" name="Rectangle 439"/>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386" name="Oval 440"/>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387" name="Group 441"/>
              <p:cNvGrpSpPr/>
              <p:nvPr/>
            </p:nvGrpSpPr>
            <p:grpSpPr bwMode="auto">
              <a:xfrm>
                <a:off x="4120" y="809"/>
                <a:ext cx="156" cy="55"/>
                <a:chOff x="2848" y="848"/>
                <a:chExt cx="140" cy="98"/>
              </a:xfrm>
            </p:grpSpPr>
            <p:sp>
              <p:nvSpPr>
                <p:cNvPr id="388" name="Line 44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9" name="Line 44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0" name="Line 44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391" name="Group 445"/>
              <p:cNvGrpSpPr/>
              <p:nvPr/>
            </p:nvGrpSpPr>
            <p:grpSpPr bwMode="auto">
              <a:xfrm flipV="1">
                <a:off x="4120" y="808"/>
                <a:ext cx="156" cy="56"/>
                <a:chOff x="2848" y="848"/>
                <a:chExt cx="140" cy="98"/>
              </a:xfrm>
            </p:grpSpPr>
            <p:sp>
              <p:nvSpPr>
                <p:cNvPr id="392" name="Line 44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3" name="Line 44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4" name="Line 44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395" name="Rectangle 449"/>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96" name="Rectangle 450"/>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97" name="Line 451"/>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8" name="Line 452"/>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9" name="Rectangle 453"/>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solidFill>
                    <a:srgbClr val="CC0000"/>
                  </a:solidFill>
                  <a:latin typeface="Comic Sans MS" panose="030F0702030302020204" pitchFamily="66" charset="0"/>
                </a:endParaRPr>
              </a:p>
            </p:txBody>
          </p:sp>
          <p:sp>
            <p:nvSpPr>
              <p:cNvPr id="400" name="Text Box 454"/>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01" name="Group 1058"/>
            <p:cNvGrpSpPr/>
            <p:nvPr/>
          </p:nvGrpSpPr>
          <p:grpSpPr bwMode="auto">
            <a:xfrm>
              <a:off x="4207" y="1532"/>
              <a:ext cx="513" cy="456"/>
              <a:chOff x="3937" y="633"/>
              <a:chExt cx="513" cy="456"/>
            </a:xfrm>
          </p:grpSpPr>
          <p:sp>
            <p:nvSpPr>
              <p:cNvPr id="402" name="Line 1059"/>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3" name="Line 1060"/>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4" name="Oval 1061"/>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05" name="Line 1062"/>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6" name="Line 1063"/>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7" name="Rectangle 1064"/>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08" name="Oval 1065"/>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09" name="Group 1066"/>
              <p:cNvGrpSpPr/>
              <p:nvPr/>
            </p:nvGrpSpPr>
            <p:grpSpPr bwMode="auto">
              <a:xfrm>
                <a:off x="4120" y="809"/>
                <a:ext cx="156" cy="55"/>
                <a:chOff x="2848" y="848"/>
                <a:chExt cx="140" cy="98"/>
              </a:xfrm>
            </p:grpSpPr>
            <p:sp>
              <p:nvSpPr>
                <p:cNvPr id="410" name="Line 106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1" name="Line 106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2" name="Line 106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13" name="Group 1070"/>
              <p:cNvGrpSpPr/>
              <p:nvPr/>
            </p:nvGrpSpPr>
            <p:grpSpPr bwMode="auto">
              <a:xfrm flipV="1">
                <a:off x="4120" y="808"/>
                <a:ext cx="156" cy="56"/>
                <a:chOff x="2848" y="848"/>
                <a:chExt cx="140" cy="98"/>
              </a:xfrm>
            </p:grpSpPr>
            <p:sp>
              <p:nvSpPr>
                <p:cNvPr id="414" name="Line 107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5" name="Line 107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6" name="Line 107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17" name="Rectangle 1074"/>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18" name="Rectangle 1075"/>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19" name="Line 1076"/>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0" name="Line 1077"/>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1" name="Rectangle 1078"/>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22" name="Text Box 1079"/>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23" name="Group 1080"/>
            <p:cNvGrpSpPr/>
            <p:nvPr/>
          </p:nvGrpSpPr>
          <p:grpSpPr bwMode="auto">
            <a:xfrm>
              <a:off x="4661" y="1133"/>
              <a:ext cx="513" cy="465"/>
              <a:chOff x="3937" y="618"/>
              <a:chExt cx="513" cy="465"/>
            </a:xfrm>
          </p:grpSpPr>
          <p:sp>
            <p:nvSpPr>
              <p:cNvPr id="424" name="Line 1081"/>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5" name="Line 1082"/>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6" name="Oval 1083"/>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27" name="Line 1084"/>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8" name="Line 1085"/>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9" name="Rectangle 1086"/>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30" name="Oval 1087"/>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31" name="Group 1088"/>
              <p:cNvGrpSpPr/>
              <p:nvPr/>
            </p:nvGrpSpPr>
            <p:grpSpPr bwMode="auto">
              <a:xfrm>
                <a:off x="4120" y="809"/>
                <a:ext cx="156" cy="55"/>
                <a:chOff x="2848" y="848"/>
                <a:chExt cx="140" cy="98"/>
              </a:xfrm>
            </p:grpSpPr>
            <p:sp>
              <p:nvSpPr>
                <p:cNvPr id="432" name="Line 108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3" name="Line 109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4" name="Line 109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35" name="Group 1092"/>
              <p:cNvGrpSpPr/>
              <p:nvPr/>
            </p:nvGrpSpPr>
            <p:grpSpPr bwMode="auto">
              <a:xfrm flipV="1">
                <a:off x="4120" y="808"/>
                <a:ext cx="156" cy="56"/>
                <a:chOff x="2848" y="848"/>
                <a:chExt cx="140" cy="98"/>
              </a:xfrm>
            </p:grpSpPr>
            <p:sp>
              <p:nvSpPr>
                <p:cNvPr id="436" name="Line 109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7" name="Line 109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8" name="Line 109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39" name="Rectangle 1096"/>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0" name="Rectangle 1097"/>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1" name="Line 1098"/>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2" name="Line 1099"/>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3" name="Rectangle 1100"/>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4" name="Text Box 1101"/>
              <p:cNvSpPr txBox="1">
                <a:spLocks noChangeArrowheads="1"/>
              </p:cNvSpPr>
              <p:nvPr/>
            </p:nvSpPr>
            <p:spPr bwMode="auto">
              <a:xfrm>
                <a:off x="3937" y="618"/>
                <a:ext cx="5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45" name="Group 1102"/>
            <p:cNvGrpSpPr/>
            <p:nvPr/>
          </p:nvGrpSpPr>
          <p:grpSpPr bwMode="auto">
            <a:xfrm>
              <a:off x="4702" y="1523"/>
              <a:ext cx="513" cy="456"/>
              <a:chOff x="3937" y="633"/>
              <a:chExt cx="513" cy="456"/>
            </a:xfrm>
          </p:grpSpPr>
          <p:sp>
            <p:nvSpPr>
              <p:cNvPr id="446" name="Line 1103"/>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7" name="Line 1104"/>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8" name="Oval 1105"/>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9" name="Line 1106"/>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0" name="Line 1107"/>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1" name="Rectangle 1108"/>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52" name="Oval 1109"/>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53" name="Group 1110"/>
              <p:cNvGrpSpPr/>
              <p:nvPr/>
            </p:nvGrpSpPr>
            <p:grpSpPr bwMode="auto">
              <a:xfrm>
                <a:off x="4120" y="809"/>
                <a:ext cx="156" cy="55"/>
                <a:chOff x="2848" y="848"/>
                <a:chExt cx="140" cy="98"/>
              </a:xfrm>
            </p:grpSpPr>
            <p:sp>
              <p:nvSpPr>
                <p:cNvPr id="454" name="Line 111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5" name="Line 111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6" name="Line 111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57" name="Group 1114"/>
              <p:cNvGrpSpPr/>
              <p:nvPr/>
            </p:nvGrpSpPr>
            <p:grpSpPr bwMode="auto">
              <a:xfrm flipV="1">
                <a:off x="4120" y="808"/>
                <a:ext cx="156" cy="56"/>
                <a:chOff x="2848" y="848"/>
                <a:chExt cx="140" cy="98"/>
              </a:xfrm>
            </p:grpSpPr>
            <p:sp>
              <p:nvSpPr>
                <p:cNvPr id="458" name="Line 111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9" name="Line 111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0" name="Line 111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61" name="Rectangle 1118"/>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62" name="Rectangle 1119"/>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63" name="Line 1120"/>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4" name="Line 1121"/>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5" name="Rectangle 1122"/>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66" name="Text Box 1123"/>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67" name="Group 1124"/>
            <p:cNvGrpSpPr/>
            <p:nvPr/>
          </p:nvGrpSpPr>
          <p:grpSpPr bwMode="auto">
            <a:xfrm>
              <a:off x="4197" y="1139"/>
              <a:ext cx="513" cy="465"/>
              <a:chOff x="3937" y="615"/>
              <a:chExt cx="513" cy="465"/>
            </a:xfrm>
          </p:grpSpPr>
          <p:sp>
            <p:nvSpPr>
              <p:cNvPr id="468" name="Line 1125"/>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9" name="Line 1126"/>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0" name="Oval 1127"/>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71" name="Line 1128"/>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2" name="Line 1129"/>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3" name="Rectangle 1130"/>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74" name="Oval 1131"/>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75" name="Group 1132"/>
              <p:cNvGrpSpPr/>
              <p:nvPr/>
            </p:nvGrpSpPr>
            <p:grpSpPr bwMode="auto">
              <a:xfrm>
                <a:off x="4120" y="809"/>
                <a:ext cx="156" cy="55"/>
                <a:chOff x="2848" y="848"/>
                <a:chExt cx="140" cy="98"/>
              </a:xfrm>
            </p:grpSpPr>
            <p:sp>
              <p:nvSpPr>
                <p:cNvPr id="476" name="Line 113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7" name="Line 113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8" name="Line 113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79" name="Group 1136"/>
              <p:cNvGrpSpPr/>
              <p:nvPr/>
            </p:nvGrpSpPr>
            <p:grpSpPr bwMode="auto">
              <a:xfrm flipV="1">
                <a:off x="4120" y="808"/>
                <a:ext cx="156" cy="56"/>
                <a:chOff x="2848" y="848"/>
                <a:chExt cx="140" cy="98"/>
              </a:xfrm>
            </p:grpSpPr>
            <p:sp>
              <p:nvSpPr>
                <p:cNvPr id="480" name="Line 113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1" name="Line 113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2" name="Line 113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83" name="Rectangle 1140"/>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84" name="Rectangle 1141"/>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85" name="Line 1142"/>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6" name="Line 1143"/>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7" name="Rectangle 1144"/>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88" name="Text Box 1145"/>
              <p:cNvSpPr txBox="1">
                <a:spLocks noChangeArrowheads="1"/>
              </p:cNvSpPr>
              <p:nvPr/>
            </p:nvSpPr>
            <p:spPr bwMode="auto">
              <a:xfrm>
                <a:off x="3937" y="615"/>
                <a:ext cx="5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89" name="Group 1146"/>
            <p:cNvGrpSpPr/>
            <p:nvPr/>
          </p:nvGrpSpPr>
          <p:grpSpPr bwMode="auto">
            <a:xfrm>
              <a:off x="4389" y="2239"/>
              <a:ext cx="513" cy="456"/>
              <a:chOff x="3937" y="633"/>
              <a:chExt cx="513" cy="456"/>
            </a:xfrm>
          </p:grpSpPr>
          <p:sp>
            <p:nvSpPr>
              <p:cNvPr id="490" name="Line 1147"/>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1" name="Line 1148"/>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2" name="Oval 1149"/>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93" name="Line 1150"/>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4" name="Line 1151"/>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5" name="Rectangle 1152"/>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96" name="Oval 1153"/>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97" name="Group 1154"/>
              <p:cNvGrpSpPr/>
              <p:nvPr/>
            </p:nvGrpSpPr>
            <p:grpSpPr bwMode="auto">
              <a:xfrm>
                <a:off x="4120" y="809"/>
                <a:ext cx="156" cy="55"/>
                <a:chOff x="2848" y="848"/>
                <a:chExt cx="140" cy="98"/>
              </a:xfrm>
            </p:grpSpPr>
            <p:sp>
              <p:nvSpPr>
                <p:cNvPr id="498" name="Line 115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9" name="Line 115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0" name="Line 115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01" name="Group 1158"/>
              <p:cNvGrpSpPr/>
              <p:nvPr/>
            </p:nvGrpSpPr>
            <p:grpSpPr bwMode="auto">
              <a:xfrm flipV="1">
                <a:off x="4120" y="808"/>
                <a:ext cx="156" cy="56"/>
                <a:chOff x="2848" y="848"/>
                <a:chExt cx="140" cy="98"/>
              </a:xfrm>
            </p:grpSpPr>
            <p:sp>
              <p:nvSpPr>
                <p:cNvPr id="502" name="Line 115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3" name="Line 116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4" name="Line 116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05" name="Rectangle 1162"/>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06" name="Rectangle 1163"/>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07" name="Line 1164"/>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8" name="Line 1165"/>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9" name="Rectangle 1166"/>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10" name="Text Box 1167"/>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11" name="Group 1168"/>
            <p:cNvGrpSpPr/>
            <p:nvPr/>
          </p:nvGrpSpPr>
          <p:grpSpPr bwMode="auto">
            <a:xfrm>
              <a:off x="4765" y="1995"/>
              <a:ext cx="513" cy="456"/>
              <a:chOff x="3937" y="633"/>
              <a:chExt cx="513" cy="456"/>
            </a:xfrm>
          </p:grpSpPr>
          <p:sp>
            <p:nvSpPr>
              <p:cNvPr id="512" name="Line 1169"/>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3" name="Line 1170"/>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4" name="Oval 1171"/>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15" name="Line 1172"/>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6" name="Line 1173"/>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7" name="Rectangle 1174"/>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18" name="Oval 1175"/>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19" name="Group 1176"/>
              <p:cNvGrpSpPr/>
              <p:nvPr/>
            </p:nvGrpSpPr>
            <p:grpSpPr bwMode="auto">
              <a:xfrm>
                <a:off x="4120" y="809"/>
                <a:ext cx="156" cy="55"/>
                <a:chOff x="2848" y="848"/>
                <a:chExt cx="140" cy="98"/>
              </a:xfrm>
            </p:grpSpPr>
            <p:sp>
              <p:nvSpPr>
                <p:cNvPr id="520" name="Line 117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1" name="Line 117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2" name="Line 117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23" name="Group 1180"/>
              <p:cNvGrpSpPr/>
              <p:nvPr/>
            </p:nvGrpSpPr>
            <p:grpSpPr bwMode="auto">
              <a:xfrm flipV="1">
                <a:off x="4120" y="808"/>
                <a:ext cx="156" cy="56"/>
                <a:chOff x="2848" y="848"/>
                <a:chExt cx="140" cy="98"/>
              </a:xfrm>
            </p:grpSpPr>
            <p:sp>
              <p:nvSpPr>
                <p:cNvPr id="524" name="Line 118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5" name="Line 118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6" name="Line 118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27" name="Rectangle 1184"/>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28" name="Rectangle 1185"/>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29" name="Line 1186"/>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0" name="Line 1187"/>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1" name="Rectangle 1188"/>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32" name="Text Box 1189"/>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33" name="Group 1190"/>
            <p:cNvGrpSpPr/>
            <p:nvPr/>
          </p:nvGrpSpPr>
          <p:grpSpPr bwMode="auto">
            <a:xfrm>
              <a:off x="4128" y="2003"/>
              <a:ext cx="513" cy="456"/>
              <a:chOff x="3937" y="633"/>
              <a:chExt cx="513" cy="456"/>
            </a:xfrm>
          </p:grpSpPr>
          <p:sp>
            <p:nvSpPr>
              <p:cNvPr id="534" name="Line 1191"/>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5" name="Line 1192"/>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6" name="Oval 1193"/>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37" name="Line 1194"/>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8" name="Line 1195"/>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9" name="Rectangle 1196"/>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40" name="Oval 1197"/>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41" name="Group 1198"/>
              <p:cNvGrpSpPr/>
              <p:nvPr/>
            </p:nvGrpSpPr>
            <p:grpSpPr bwMode="auto">
              <a:xfrm>
                <a:off x="4120" y="809"/>
                <a:ext cx="156" cy="55"/>
                <a:chOff x="2848" y="848"/>
                <a:chExt cx="140" cy="98"/>
              </a:xfrm>
            </p:grpSpPr>
            <p:sp>
              <p:nvSpPr>
                <p:cNvPr id="542" name="Line 119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3" name="Line 120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4" name="Line 120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45" name="Group 1202"/>
              <p:cNvGrpSpPr/>
              <p:nvPr/>
            </p:nvGrpSpPr>
            <p:grpSpPr bwMode="auto">
              <a:xfrm flipV="1">
                <a:off x="4120" y="808"/>
                <a:ext cx="156" cy="56"/>
                <a:chOff x="2848" y="848"/>
                <a:chExt cx="140" cy="98"/>
              </a:xfrm>
            </p:grpSpPr>
            <p:sp>
              <p:nvSpPr>
                <p:cNvPr id="546" name="Line 120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7" name="Line 120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8" name="Line 120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49" name="Rectangle 1206"/>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0" name="Rectangle 1207"/>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1" name="Line 1208"/>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2" name="Line 1209"/>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3" name="Rectangle 1210"/>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4" name="Text Box 1211"/>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55" name="Group 1212"/>
            <p:cNvGrpSpPr/>
            <p:nvPr/>
          </p:nvGrpSpPr>
          <p:grpSpPr bwMode="auto">
            <a:xfrm>
              <a:off x="4608" y="2771"/>
              <a:ext cx="513" cy="456"/>
              <a:chOff x="3937" y="633"/>
              <a:chExt cx="513" cy="456"/>
            </a:xfrm>
          </p:grpSpPr>
          <p:sp>
            <p:nvSpPr>
              <p:cNvPr id="556" name="Line 1213"/>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7" name="Line 1214"/>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8" name="Oval 1215"/>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9" name="Line 1216"/>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0" name="Line 1217"/>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1" name="Rectangle 1218"/>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62" name="Oval 1219"/>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63" name="Group 1220"/>
              <p:cNvGrpSpPr/>
              <p:nvPr/>
            </p:nvGrpSpPr>
            <p:grpSpPr bwMode="auto">
              <a:xfrm>
                <a:off x="4120" y="809"/>
                <a:ext cx="156" cy="55"/>
                <a:chOff x="2848" y="848"/>
                <a:chExt cx="140" cy="98"/>
              </a:xfrm>
            </p:grpSpPr>
            <p:sp>
              <p:nvSpPr>
                <p:cNvPr id="564" name="Line 122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5" name="Line 122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6" name="Line 122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67" name="Group 1224"/>
              <p:cNvGrpSpPr/>
              <p:nvPr/>
            </p:nvGrpSpPr>
            <p:grpSpPr bwMode="auto">
              <a:xfrm flipV="1">
                <a:off x="4120" y="808"/>
                <a:ext cx="156" cy="56"/>
                <a:chOff x="2848" y="848"/>
                <a:chExt cx="140" cy="98"/>
              </a:xfrm>
            </p:grpSpPr>
            <p:sp>
              <p:nvSpPr>
                <p:cNvPr id="568" name="Line 122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9" name="Line 122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0" name="Line 122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71" name="Rectangle 1228"/>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72" name="Rectangle 1229"/>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73" name="Line 1230"/>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4" name="Line 1231"/>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5" name="Rectangle 1232"/>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76" name="Text Box 1233"/>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77" name="Group 1234"/>
            <p:cNvGrpSpPr/>
            <p:nvPr/>
          </p:nvGrpSpPr>
          <p:grpSpPr bwMode="auto">
            <a:xfrm>
              <a:off x="4119" y="2640"/>
              <a:ext cx="513" cy="456"/>
              <a:chOff x="3937" y="633"/>
              <a:chExt cx="513" cy="456"/>
            </a:xfrm>
          </p:grpSpPr>
          <p:sp>
            <p:nvSpPr>
              <p:cNvPr id="578" name="Line 1235"/>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9" name="Line 1236"/>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0" name="Oval 1237"/>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81" name="Line 1238"/>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2" name="Line 1239"/>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3" name="Rectangle 1240"/>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84" name="Oval 1241"/>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85" name="Group 1242"/>
              <p:cNvGrpSpPr/>
              <p:nvPr/>
            </p:nvGrpSpPr>
            <p:grpSpPr bwMode="auto">
              <a:xfrm>
                <a:off x="4120" y="809"/>
                <a:ext cx="156" cy="55"/>
                <a:chOff x="2848" y="848"/>
                <a:chExt cx="140" cy="98"/>
              </a:xfrm>
            </p:grpSpPr>
            <p:sp>
              <p:nvSpPr>
                <p:cNvPr id="586" name="Line 124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7" name="Line 124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8" name="Line 124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89" name="Group 1246"/>
              <p:cNvGrpSpPr/>
              <p:nvPr/>
            </p:nvGrpSpPr>
            <p:grpSpPr bwMode="auto">
              <a:xfrm flipV="1">
                <a:off x="4120" y="808"/>
                <a:ext cx="156" cy="56"/>
                <a:chOff x="2848" y="848"/>
                <a:chExt cx="140" cy="98"/>
              </a:xfrm>
            </p:grpSpPr>
            <p:sp>
              <p:nvSpPr>
                <p:cNvPr id="590" name="Line 124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1" name="Line 124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2" name="Line 124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93" name="Rectangle 1250"/>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94" name="Rectangle 1251"/>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95" name="Line 1252"/>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6" name="Line 1253"/>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7" name="Rectangle 1254"/>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98" name="Text Box 1255"/>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99" name="Group 1256"/>
            <p:cNvGrpSpPr/>
            <p:nvPr/>
          </p:nvGrpSpPr>
          <p:grpSpPr bwMode="auto">
            <a:xfrm>
              <a:off x="3674" y="2866"/>
              <a:ext cx="513" cy="456"/>
              <a:chOff x="3937" y="633"/>
              <a:chExt cx="513" cy="456"/>
            </a:xfrm>
          </p:grpSpPr>
          <p:sp>
            <p:nvSpPr>
              <p:cNvPr id="600" name="Line 1257"/>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1" name="Line 1258"/>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2" name="Oval 1259"/>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03" name="Line 1260"/>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4" name="Line 1261"/>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5" name="Rectangle 1262"/>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606" name="Oval 1263"/>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607" name="Group 1264"/>
              <p:cNvGrpSpPr/>
              <p:nvPr/>
            </p:nvGrpSpPr>
            <p:grpSpPr bwMode="auto">
              <a:xfrm>
                <a:off x="4120" y="809"/>
                <a:ext cx="156" cy="55"/>
                <a:chOff x="2848" y="848"/>
                <a:chExt cx="140" cy="98"/>
              </a:xfrm>
            </p:grpSpPr>
            <p:sp>
              <p:nvSpPr>
                <p:cNvPr id="608" name="Line 126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9" name="Line 126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0" name="Line 126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611" name="Group 1268"/>
              <p:cNvGrpSpPr/>
              <p:nvPr/>
            </p:nvGrpSpPr>
            <p:grpSpPr bwMode="auto">
              <a:xfrm flipV="1">
                <a:off x="4120" y="808"/>
                <a:ext cx="156" cy="56"/>
                <a:chOff x="2848" y="848"/>
                <a:chExt cx="140" cy="98"/>
              </a:xfrm>
            </p:grpSpPr>
            <p:sp>
              <p:nvSpPr>
                <p:cNvPr id="612" name="Line 126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3" name="Line 127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4" name="Line 127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615" name="Rectangle 1272"/>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16" name="Rectangle 1273"/>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17" name="Line 1274"/>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8" name="Line 1275"/>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9" name="Rectangle 1276"/>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20" name="Text Box 1277"/>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sp>
        <p:nvSpPr>
          <p:cNvPr id="621" name="Rectangle 1280"/>
          <p:cNvSpPr>
            <a:spLocks noChangeArrowheads="1"/>
          </p:cNvSpPr>
          <p:nvPr/>
        </p:nvSpPr>
        <p:spPr bwMode="auto">
          <a:xfrm>
            <a:off x="7722352" y="1359853"/>
            <a:ext cx="388938" cy="138112"/>
          </a:xfrm>
          <a:prstGeom prst="rect">
            <a:avLst/>
          </a:prstGeom>
          <a:solidFill>
            <a:schemeClr val="accent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22" name="Rectangle 1281"/>
          <p:cNvSpPr>
            <a:spLocks noChangeArrowheads="1"/>
          </p:cNvSpPr>
          <p:nvPr/>
        </p:nvSpPr>
        <p:spPr bwMode="auto">
          <a:xfrm>
            <a:off x="7652502" y="2010728"/>
            <a:ext cx="596900" cy="138112"/>
          </a:xfrm>
          <a:prstGeom prst="rect">
            <a:avLst/>
          </a:prstGeom>
          <a:solidFill>
            <a:schemeClr val="accent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23" name="Rectangle 1282"/>
          <p:cNvSpPr>
            <a:spLocks noChangeArrowheads="1"/>
          </p:cNvSpPr>
          <p:nvPr/>
        </p:nvSpPr>
        <p:spPr bwMode="auto">
          <a:xfrm>
            <a:off x="10478252" y="4988878"/>
            <a:ext cx="388938" cy="138112"/>
          </a:xfrm>
          <a:prstGeom prst="rect">
            <a:avLst/>
          </a:prstGeom>
          <a:solidFill>
            <a:schemeClr val="accent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 name="日期占位符 9"/>
          <p:cNvSpPr>
            <a:spLocks noGrp="1"/>
          </p:cNvSpPr>
          <p:nvPr>
            <p:ph type="dt" sz="half" idx="10"/>
          </p:nvPr>
        </p:nvSpPr>
        <p:spPr>
          <a:xfrm>
            <a:off x="197335" y="6489303"/>
            <a:ext cx="2743200" cy="365125"/>
          </a:xfrm>
        </p:spPr>
        <p:txBody>
          <a:bodyPr/>
          <a:lstStyle/>
          <a:p>
            <a:r>
              <a:rPr kumimoji="1" lang="en-US" altLang="zh-CN" dirty="0">
                <a:sym typeface="+mn-ea"/>
              </a:rPr>
              <a:t>5.1.1 </a:t>
            </a:r>
            <a:r>
              <a:rPr kumimoji="1" lang="zh-CN" altLang="en-US" dirty="0">
                <a:sym typeface="+mn-ea"/>
              </a:rPr>
              <a:t>网络层服务概述</a:t>
            </a:r>
            <a:endParaRPr kumimoji="1" lang="zh-CN" altLang="en-US" dirty="0"/>
          </a:p>
        </p:txBody>
      </p:sp>
    </p:spTree>
    <p:extLst>
      <p:ext uri="{BB962C8B-B14F-4D97-AF65-F5344CB8AC3E}">
        <p14:creationId xmlns:p14="http://schemas.microsoft.com/office/powerpoint/2010/main" val="509968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6"/>
                                        </p:tgtEl>
                                        <p:attrNameLst>
                                          <p:attrName>style.visibility</p:attrName>
                                        </p:attrNameLst>
                                      </p:cBhvr>
                                      <p:to>
                                        <p:strVal val="visible"/>
                                      </p:to>
                                    </p:set>
                                    <p:animEffect transition="in" filter="wipe(left)">
                                      <p:cBhvr>
                                        <p:cTn id="7" dur="500"/>
                                        <p:tgtEl>
                                          <p:spTgt spid="356"/>
                                        </p:tgtEl>
                                      </p:cBhvr>
                                    </p:animEffect>
                                  </p:childTnLst>
                                </p:cTn>
                              </p:par>
                              <p:par>
                                <p:cTn id="8" presetID="22" presetClass="entr" presetSubtype="8" fill="hold" nodeType="withEffect">
                                  <p:stCondLst>
                                    <p:cond delay="0"/>
                                  </p:stCondLst>
                                  <p:childTnLst>
                                    <p:set>
                                      <p:cBhvr>
                                        <p:cTn id="9" dur="1" fill="hold">
                                          <p:stCondLst>
                                            <p:cond delay="0"/>
                                          </p:stCondLst>
                                        </p:cTn>
                                        <p:tgtEl>
                                          <p:spTgt spid="367"/>
                                        </p:tgtEl>
                                        <p:attrNameLst>
                                          <p:attrName>style.visibility</p:attrName>
                                        </p:attrNameLst>
                                      </p:cBhvr>
                                      <p:to>
                                        <p:strVal val="visible"/>
                                      </p:to>
                                    </p:set>
                                    <p:animEffect transition="in" filter="wipe(left)">
                                      <p:cBhvr>
                                        <p:cTn id="10" dur="500"/>
                                        <p:tgtEl>
                                          <p:spTgt spid="36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78"/>
                                        </p:tgtEl>
                                        <p:attrNameLst>
                                          <p:attrName>style.visibility</p:attrName>
                                        </p:attrNameLst>
                                      </p:cBhvr>
                                      <p:to>
                                        <p:strVal val="visible"/>
                                      </p:to>
                                    </p:set>
                                    <p:animEffect transition="in" filter="dissolve">
                                      <p:cBhvr>
                                        <p:cTn id="15" dur="1000"/>
                                        <p:tgtEl>
                                          <p:spTgt spid="378"/>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1"/>
                                        </p:tgtEl>
                                        <p:attrNameLst>
                                          <p:attrName>style.visibility</p:attrName>
                                        </p:attrNameLst>
                                      </p:cBhvr>
                                      <p:to>
                                        <p:strVal val="visible"/>
                                      </p:to>
                                    </p:set>
                                  </p:childTnLst>
                                </p:cTn>
                              </p:par>
                            </p:childTnLst>
                          </p:cTn>
                        </p:par>
                        <p:par>
                          <p:cTn id="20" fill="hold">
                            <p:stCondLst>
                              <p:cond delay="0"/>
                            </p:stCondLst>
                            <p:childTnLst>
                              <p:par>
                                <p:cTn id="21" presetID="42" presetClass="path" presetSubtype="0" accel="50000" decel="50000" fill="hold" grpId="1" nodeType="afterEffect">
                                  <p:stCondLst>
                                    <p:cond delay="0"/>
                                  </p:stCondLst>
                                  <p:childTnLst>
                                    <p:animMotion origin="layout" path="M 0.00244 0.01227 L 0.00382 0.0949 " pathEditMode="relative" rAng="0" ptsTypes="AA">
                                      <p:cBhvr>
                                        <p:cTn id="22" dur="2000" fill="hold"/>
                                        <p:tgtEl>
                                          <p:spTgt spid="621"/>
                                        </p:tgtEl>
                                        <p:attrNameLst>
                                          <p:attrName>ppt_x</p:attrName>
                                          <p:attrName>ppt_y</p:attrName>
                                        </p:attrNameLst>
                                      </p:cBhvr>
                                      <p:rCtr x="69" y="4120"/>
                                    </p:animMotion>
                                  </p:childTnLst>
                                </p:cTn>
                              </p:par>
                            </p:childTnLst>
                          </p:cTn>
                        </p:par>
                        <p:par>
                          <p:cTn id="23" fill="hold">
                            <p:stCondLst>
                              <p:cond delay="2000"/>
                            </p:stCondLst>
                            <p:childTnLst>
                              <p:par>
                                <p:cTn id="24" presetID="1" presetClass="exit" presetSubtype="0" fill="hold" grpId="2" nodeType="afterEffect">
                                  <p:stCondLst>
                                    <p:cond delay="0"/>
                                  </p:stCondLst>
                                  <p:childTnLst>
                                    <p:set>
                                      <p:cBhvr>
                                        <p:cTn id="25" dur="1" fill="hold">
                                          <p:stCondLst>
                                            <p:cond delay="0"/>
                                          </p:stCondLst>
                                        </p:cTn>
                                        <p:tgtEl>
                                          <p:spTgt spid="621"/>
                                        </p:tgtEl>
                                        <p:attrNameLst>
                                          <p:attrName>style.visibility</p:attrName>
                                        </p:attrNameLst>
                                      </p:cBhvr>
                                      <p:to>
                                        <p:strVal val="hidden"/>
                                      </p:to>
                                    </p:set>
                                  </p:childTnLst>
                                </p:cTn>
                              </p:par>
                            </p:childTnLst>
                          </p:cTn>
                        </p:par>
                        <p:par>
                          <p:cTn id="26" fill="hold">
                            <p:stCondLst>
                              <p:cond delay="2000"/>
                            </p:stCondLst>
                            <p:childTnLst>
                              <p:par>
                                <p:cTn id="27" presetID="1" presetClass="entr" presetSubtype="0" fill="hold" grpId="0" nodeType="afterEffect">
                                  <p:stCondLst>
                                    <p:cond delay="0"/>
                                  </p:stCondLst>
                                  <p:childTnLst>
                                    <p:set>
                                      <p:cBhvr>
                                        <p:cTn id="28" dur="1" fill="hold">
                                          <p:stCondLst>
                                            <p:cond delay="0"/>
                                          </p:stCondLst>
                                        </p:cTn>
                                        <p:tgtEl>
                                          <p:spTgt spid="622"/>
                                        </p:tgtEl>
                                        <p:attrNameLst>
                                          <p:attrName>style.visibility</p:attrName>
                                        </p:attrNameLst>
                                      </p:cBhvr>
                                      <p:to>
                                        <p:strVal val="visible"/>
                                      </p:to>
                                    </p:set>
                                  </p:childTnLst>
                                </p:cTn>
                              </p:par>
                            </p:childTnLst>
                          </p:cTn>
                        </p:par>
                        <p:par>
                          <p:cTn id="29" fill="hold">
                            <p:stCondLst>
                              <p:cond delay="2000"/>
                            </p:stCondLst>
                            <p:childTnLst>
                              <p:par>
                                <p:cTn id="30" presetID="0" presetClass="path" presetSubtype="0" accel="50000" decel="50000" fill="hold" grpId="1" nodeType="afterEffect">
                                  <p:stCondLst>
                                    <p:cond delay="0"/>
                                  </p:stCondLst>
                                  <p:childTnLst>
                                    <p:animMotion origin="layout" path="M 2.5E-6 -1.48148E-6 L 2.5E-6 0.07269 L 0.02726 0.18982 L 0.02726 0.1132 L 0.07118 0.11112 L 0.07257 0.18982 L 0.11667 0.14144 L 0.11667 0.07871 L 0.16059 0.07686 L 0.10903 0.23426 L 0.11511 0.15949 L 0.1559 0.15949 L 0.15747 0.23635 L 0.1059 0.34537 L 0.10295 0.27061 L 0.14236 0.26875 L 0.14688 0.39584 L 0.1559 0.3213 L 0.19236 0.31922 L 0.19688 0.39792 L 0.1059 0.49908 L 0.1059 0.41621 L 0.14236 0.41621 L 0.14236 0.49699 L 0.18785 0.53542 L 0.18785 0.44653 L 0.2257 0.44653 L 0.22865 0.52732 L 0.31198 0.50301 L 0.31198 0.43843 " pathEditMode="relative" ptsTypes="AAAAAAAAAAAAAAAAAAAAAAAAAAAAAA">
                                      <p:cBhvr>
                                        <p:cTn id="31" dur="5000" fill="hold"/>
                                        <p:tgtEl>
                                          <p:spTgt spid="622"/>
                                        </p:tgtEl>
                                        <p:attrNameLst>
                                          <p:attrName>ppt_x</p:attrName>
                                          <p:attrName>ppt_y</p:attrName>
                                        </p:attrNameLst>
                                      </p:cBhvr>
                                    </p:animMotion>
                                  </p:childTnLst>
                                </p:cTn>
                              </p:par>
                            </p:childTnLst>
                          </p:cTn>
                        </p:par>
                        <p:par>
                          <p:cTn id="32" fill="hold">
                            <p:stCondLst>
                              <p:cond delay="7000"/>
                            </p:stCondLst>
                            <p:childTnLst>
                              <p:par>
                                <p:cTn id="33" presetID="1" presetClass="exit" presetSubtype="0" fill="hold" grpId="2" nodeType="afterEffect">
                                  <p:stCondLst>
                                    <p:cond delay="0"/>
                                  </p:stCondLst>
                                  <p:childTnLst>
                                    <p:set>
                                      <p:cBhvr>
                                        <p:cTn id="34" dur="1" fill="hold">
                                          <p:stCondLst>
                                            <p:cond delay="0"/>
                                          </p:stCondLst>
                                        </p:cTn>
                                        <p:tgtEl>
                                          <p:spTgt spid="622"/>
                                        </p:tgtEl>
                                        <p:attrNameLst>
                                          <p:attrName>style.visibility</p:attrName>
                                        </p:attrNameLst>
                                      </p:cBhvr>
                                      <p:to>
                                        <p:strVal val="hidden"/>
                                      </p:to>
                                    </p:set>
                                  </p:childTnLst>
                                </p:cTn>
                              </p:par>
                            </p:childTnLst>
                          </p:cTn>
                        </p:par>
                        <p:par>
                          <p:cTn id="35" fill="hold">
                            <p:stCondLst>
                              <p:cond delay="7000"/>
                            </p:stCondLst>
                            <p:childTnLst>
                              <p:par>
                                <p:cTn id="36" presetID="1" presetClass="entr" presetSubtype="0" fill="hold" grpId="0" nodeType="afterEffect">
                                  <p:stCondLst>
                                    <p:cond delay="0"/>
                                  </p:stCondLst>
                                  <p:childTnLst>
                                    <p:set>
                                      <p:cBhvr>
                                        <p:cTn id="37" dur="1" fill="hold">
                                          <p:stCondLst>
                                            <p:cond delay="0"/>
                                          </p:stCondLst>
                                        </p:cTn>
                                        <p:tgtEl>
                                          <p:spTgt spid="623"/>
                                        </p:tgtEl>
                                        <p:attrNameLst>
                                          <p:attrName>style.visibility</p:attrName>
                                        </p:attrNameLst>
                                      </p:cBhvr>
                                      <p:to>
                                        <p:strVal val="visible"/>
                                      </p:to>
                                    </p:set>
                                  </p:childTnLst>
                                </p:cTn>
                              </p:par>
                            </p:childTnLst>
                          </p:cTn>
                        </p:par>
                        <p:par>
                          <p:cTn id="38" fill="hold">
                            <p:stCondLst>
                              <p:cond delay="7000"/>
                            </p:stCondLst>
                            <p:childTnLst>
                              <p:par>
                                <p:cTn id="39" presetID="1" presetClass="entr" presetSubtype="0" fill="hold" grpId="1" nodeType="afterEffect">
                                  <p:stCondLst>
                                    <p:cond delay="0"/>
                                  </p:stCondLst>
                                  <p:childTnLst>
                                    <p:set>
                                      <p:cBhvr>
                                        <p:cTn id="40" dur="1" fill="hold">
                                          <p:stCondLst>
                                            <p:cond delay="0"/>
                                          </p:stCondLst>
                                        </p:cTn>
                                        <p:tgtEl>
                                          <p:spTgt spid="623"/>
                                        </p:tgtEl>
                                        <p:attrNameLst>
                                          <p:attrName>style.visibility</p:attrName>
                                        </p:attrNameLst>
                                      </p:cBhvr>
                                      <p:to>
                                        <p:strVal val="visible"/>
                                      </p:to>
                                    </p:set>
                                  </p:childTnLst>
                                </p:cTn>
                              </p:par>
                            </p:childTnLst>
                          </p:cTn>
                        </p:par>
                        <p:par>
                          <p:cTn id="41" fill="hold">
                            <p:stCondLst>
                              <p:cond delay="7000"/>
                            </p:stCondLst>
                            <p:childTnLst>
                              <p:par>
                                <p:cTn id="42" presetID="42" presetClass="path" presetSubtype="0" accel="50000" decel="50000" fill="hold" grpId="2" nodeType="afterEffect">
                                  <p:stCondLst>
                                    <p:cond delay="0"/>
                                  </p:stCondLst>
                                  <p:childTnLst>
                                    <p:animMotion origin="layout" path="M -3.05556E-6 0 L -0.00156 -0.07106 " pathEditMode="relative" rAng="0" ptsTypes="AA">
                                      <p:cBhvr>
                                        <p:cTn id="43" dur="2000" fill="hold"/>
                                        <p:tgtEl>
                                          <p:spTgt spid="623"/>
                                        </p:tgtEl>
                                        <p:attrNameLst>
                                          <p:attrName>ppt_x</p:attrName>
                                          <p:attrName>ppt_y</p:attrName>
                                        </p:attrNameLst>
                                      </p:cBhvr>
                                      <p:rCtr x="-87" y="-356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1" grpId="0" bldLvl="0" animBg="1"/>
      <p:bldP spid="621" grpId="1" bldLvl="0" animBg="1"/>
      <p:bldP spid="621" grpId="2" bldLvl="0" animBg="1"/>
      <p:bldP spid="622" grpId="0" bldLvl="0" animBg="1"/>
      <p:bldP spid="622" grpId="1" bldLvl="0" animBg="1"/>
      <p:bldP spid="622" grpId="2" bldLvl="0" animBg="1"/>
      <p:bldP spid="623" grpId="0" bldLvl="0" animBg="1"/>
      <p:bldP spid="623" grpId="1" bldLvl="0" animBg="1"/>
      <p:bldP spid="623" grpId="2" bldLvl="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algn="l">
              <a:buClrTx/>
              <a:buSzTx/>
              <a:buFontTx/>
            </a:pPr>
            <a:r>
              <a:rPr kumimoji="1" lang="zh-CN" altLang="en-US" dirty="0">
                <a:sym typeface="+mn-ea"/>
              </a:rPr>
              <a:t>网络层关键功能</a:t>
            </a:r>
            <a:endParaRPr kumimoji="1" lang="zh-CN" altLang="en-US" dirty="0"/>
          </a:p>
        </p:txBody>
      </p:sp>
      <p:sp>
        <p:nvSpPr>
          <p:cNvPr id="4" name="灯片编号占位符 3"/>
          <p:cNvSpPr>
            <a:spLocks noGrp="1"/>
          </p:cNvSpPr>
          <p:nvPr>
            <p:ph type="sldNum" sz="quarter" idx="12"/>
          </p:nvPr>
        </p:nvSpPr>
        <p:spPr>
          <a:xfrm>
            <a:off x="9308465" y="6478905"/>
            <a:ext cx="2743200" cy="365125"/>
          </a:xfrm>
        </p:spPr>
        <p:txBody>
          <a:bodyPr/>
          <a:lstStyle/>
          <a:p>
            <a:fld id="{8D4D1E41-7A09-AB4A-A4E1-09765ADA2698}" type="slidenum">
              <a:rPr kumimoji="1" lang="zh-CN" altLang="en-US" smtClean="0"/>
              <a:t>7</a:t>
            </a:fld>
            <a:endParaRPr kumimoji="1" lang="zh-CN" altLang="en-US" dirty="0"/>
          </a:p>
        </p:txBody>
      </p:sp>
      <p:grpSp>
        <p:nvGrpSpPr>
          <p:cNvPr id="7" name="Group 166"/>
          <p:cNvGrpSpPr/>
          <p:nvPr/>
        </p:nvGrpSpPr>
        <p:grpSpPr bwMode="auto">
          <a:xfrm>
            <a:off x="6009957" y="1380773"/>
            <a:ext cx="5300663" cy="5111750"/>
            <a:chOff x="543" y="213"/>
            <a:chExt cx="3339" cy="3220"/>
          </a:xfrm>
        </p:grpSpPr>
        <p:sp>
          <p:nvSpPr>
            <p:cNvPr id="8" name="Freeform 2"/>
            <p:cNvSpPr/>
            <p:nvPr/>
          </p:nvSpPr>
          <p:spPr bwMode="auto">
            <a:xfrm>
              <a:off x="2031" y="2058"/>
              <a:ext cx="1794" cy="933"/>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9" name="Freeform 3"/>
            <p:cNvSpPr/>
            <p:nvPr/>
          </p:nvSpPr>
          <p:spPr bwMode="auto">
            <a:xfrm>
              <a:off x="1090" y="1594"/>
              <a:ext cx="1443" cy="816"/>
            </a:xfrm>
            <a:custGeom>
              <a:avLst/>
              <a:gdLst>
                <a:gd name="T0" fmla="*/ 0 w 1443"/>
                <a:gd name="T1" fmla="*/ 0 h 816"/>
                <a:gd name="T2" fmla="*/ 1076 w 1443"/>
                <a:gd name="T3" fmla="*/ 782 h 816"/>
                <a:gd name="T4" fmla="*/ 1320 w 1443"/>
                <a:gd name="T5" fmla="*/ 788 h 816"/>
                <a:gd name="T6" fmla="*/ 1443 w 1443"/>
                <a:gd name="T7" fmla="*/ 5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0" name="Rectangle 4"/>
            <p:cNvSpPr>
              <a:spLocks noChangeArrowheads="1"/>
            </p:cNvSpPr>
            <p:nvPr/>
          </p:nvSpPr>
          <p:spPr bwMode="auto">
            <a:xfrm>
              <a:off x="1084" y="213"/>
              <a:ext cx="1460" cy="1386"/>
            </a:xfrm>
            <a:prstGeom prst="rect">
              <a:avLst/>
            </a:prstGeom>
            <a:solidFill>
              <a:schemeClr val="accent1"/>
            </a:solidFill>
            <a:ln w="19050">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1" name="Oval 5"/>
            <p:cNvSpPr>
              <a:spLocks noChangeArrowheads="1"/>
            </p:cNvSpPr>
            <p:nvPr/>
          </p:nvSpPr>
          <p:spPr bwMode="auto">
            <a:xfrm>
              <a:off x="1163" y="258"/>
              <a:ext cx="1320" cy="285"/>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2" name="Freeform 6"/>
            <p:cNvSpPr/>
            <p:nvPr/>
          </p:nvSpPr>
          <p:spPr bwMode="auto">
            <a:xfrm>
              <a:off x="2433" y="2249"/>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grpSp>
          <p:nvGrpSpPr>
            <p:cNvPr id="13" name="Group 7"/>
            <p:cNvGrpSpPr/>
            <p:nvPr/>
          </p:nvGrpSpPr>
          <p:grpSpPr bwMode="auto">
            <a:xfrm>
              <a:off x="2122" y="2359"/>
              <a:ext cx="316" cy="147"/>
              <a:chOff x="3600" y="219"/>
              <a:chExt cx="360" cy="175"/>
            </a:xfrm>
          </p:grpSpPr>
          <p:sp>
            <p:nvSpPr>
              <p:cNvPr id="158" name="Oval 8"/>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59" name="Line 9"/>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 name="Line 10"/>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1" name="Rectangle 11"/>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62" name="Oval 12"/>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63" name="Group 13"/>
              <p:cNvGrpSpPr/>
              <p:nvPr/>
            </p:nvGrpSpPr>
            <p:grpSpPr bwMode="auto">
              <a:xfrm>
                <a:off x="3686" y="244"/>
                <a:ext cx="177" cy="66"/>
                <a:chOff x="2848" y="848"/>
                <a:chExt cx="140" cy="98"/>
              </a:xfrm>
            </p:grpSpPr>
            <p:sp>
              <p:nvSpPr>
                <p:cNvPr id="168" name="Line 1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 name="Line 1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0" name="Line 1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4" name="Group 17"/>
              <p:cNvGrpSpPr/>
              <p:nvPr/>
            </p:nvGrpSpPr>
            <p:grpSpPr bwMode="auto">
              <a:xfrm flipV="1">
                <a:off x="3686" y="243"/>
                <a:ext cx="177" cy="66"/>
                <a:chOff x="2848" y="848"/>
                <a:chExt cx="140" cy="98"/>
              </a:xfrm>
            </p:grpSpPr>
            <p:sp>
              <p:nvSpPr>
                <p:cNvPr id="165" name="Line 1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 name="Line 1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 name="Line 2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4" name="Group 21"/>
            <p:cNvGrpSpPr/>
            <p:nvPr/>
          </p:nvGrpSpPr>
          <p:grpSpPr bwMode="auto">
            <a:xfrm>
              <a:off x="2344" y="2761"/>
              <a:ext cx="316" cy="147"/>
              <a:chOff x="3600" y="219"/>
              <a:chExt cx="360" cy="175"/>
            </a:xfrm>
          </p:grpSpPr>
          <p:sp>
            <p:nvSpPr>
              <p:cNvPr id="145" name="Oval 22"/>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46" name="Line 23"/>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7" name="Line 24"/>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 name="Rectangle 25"/>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49" name="Oval 26"/>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50" name="Group 27"/>
              <p:cNvGrpSpPr/>
              <p:nvPr/>
            </p:nvGrpSpPr>
            <p:grpSpPr bwMode="auto">
              <a:xfrm>
                <a:off x="3686" y="244"/>
                <a:ext cx="177" cy="66"/>
                <a:chOff x="2848" y="848"/>
                <a:chExt cx="140" cy="98"/>
              </a:xfrm>
            </p:grpSpPr>
            <p:sp>
              <p:nvSpPr>
                <p:cNvPr id="155" name="Line 2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 name="Line 2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7" name="Line 3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1" name="Group 31"/>
              <p:cNvGrpSpPr/>
              <p:nvPr/>
            </p:nvGrpSpPr>
            <p:grpSpPr bwMode="auto">
              <a:xfrm flipV="1">
                <a:off x="3686" y="243"/>
                <a:ext cx="177" cy="66"/>
                <a:chOff x="2848" y="848"/>
                <a:chExt cx="140" cy="98"/>
              </a:xfrm>
            </p:grpSpPr>
            <p:sp>
              <p:nvSpPr>
                <p:cNvPr id="152" name="Line 3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3" name="Line 3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4" name="Line 3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5" name="Group 35"/>
            <p:cNvGrpSpPr/>
            <p:nvPr/>
          </p:nvGrpSpPr>
          <p:grpSpPr bwMode="auto">
            <a:xfrm>
              <a:off x="2769" y="2167"/>
              <a:ext cx="316" cy="147"/>
              <a:chOff x="3600" y="219"/>
              <a:chExt cx="360" cy="175"/>
            </a:xfrm>
          </p:grpSpPr>
          <p:sp>
            <p:nvSpPr>
              <p:cNvPr id="132" name="Oval 36"/>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33" name="Line 37"/>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 name="Line 38"/>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5" name="Rectangle 39"/>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36" name="Oval 40"/>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37" name="Group 41"/>
              <p:cNvGrpSpPr/>
              <p:nvPr/>
            </p:nvGrpSpPr>
            <p:grpSpPr bwMode="auto">
              <a:xfrm>
                <a:off x="3686" y="244"/>
                <a:ext cx="177" cy="66"/>
                <a:chOff x="2848" y="848"/>
                <a:chExt cx="140" cy="98"/>
              </a:xfrm>
            </p:grpSpPr>
            <p:sp>
              <p:nvSpPr>
                <p:cNvPr id="142" name="Line 4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3" name="Line 4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4" name="Line 4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38" name="Group 45"/>
              <p:cNvGrpSpPr/>
              <p:nvPr/>
            </p:nvGrpSpPr>
            <p:grpSpPr bwMode="auto">
              <a:xfrm flipV="1">
                <a:off x="3686" y="243"/>
                <a:ext cx="177" cy="66"/>
                <a:chOff x="2848" y="848"/>
                <a:chExt cx="140" cy="98"/>
              </a:xfrm>
            </p:grpSpPr>
            <p:sp>
              <p:nvSpPr>
                <p:cNvPr id="139" name="Line 4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4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1" name="Line 4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6" name="Group 49"/>
            <p:cNvGrpSpPr/>
            <p:nvPr/>
          </p:nvGrpSpPr>
          <p:grpSpPr bwMode="auto">
            <a:xfrm>
              <a:off x="2720" y="2586"/>
              <a:ext cx="315" cy="147"/>
              <a:chOff x="3600" y="219"/>
              <a:chExt cx="360" cy="175"/>
            </a:xfrm>
          </p:grpSpPr>
          <p:sp>
            <p:nvSpPr>
              <p:cNvPr id="119" name="Oval 50"/>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20" name="Line 51"/>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 name="Line 52"/>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 name="Rectangle 53"/>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23" name="Oval 54"/>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24" name="Group 55"/>
              <p:cNvGrpSpPr/>
              <p:nvPr/>
            </p:nvGrpSpPr>
            <p:grpSpPr bwMode="auto">
              <a:xfrm>
                <a:off x="3686" y="244"/>
                <a:ext cx="177" cy="66"/>
                <a:chOff x="2848" y="848"/>
                <a:chExt cx="140" cy="98"/>
              </a:xfrm>
            </p:grpSpPr>
            <p:sp>
              <p:nvSpPr>
                <p:cNvPr id="129" name="Line 5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 name="Line 5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1" name="Line 5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25" name="Group 59"/>
              <p:cNvGrpSpPr/>
              <p:nvPr/>
            </p:nvGrpSpPr>
            <p:grpSpPr bwMode="auto">
              <a:xfrm flipV="1">
                <a:off x="3686" y="243"/>
                <a:ext cx="177" cy="66"/>
                <a:chOff x="2848" y="848"/>
                <a:chExt cx="140" cy="98"/>
              </a:xfrm>
            </p:grpSpPr>
            <p:sp>
              <p:nvSpPr>
                <p:cNvPr id="126" name="Line 6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 name="Line 6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6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7" name="Group 63"/>
            <p:cNvGrpSpPr/>
            <p:nvPr/>
          </p:nvGrpSpPr>
          <p:grpSpPr bwMode="auto">
            <a:xfrm>
              <a:off x="3120" y="2773"/>
              <a:ext cx="316" cy="147"/>
              <a:chOff x="3600" y="219"/>
              <a:chExt cx="360" cy="175"/>
            </a:xfrm>
          </p:grpSpPr>
          <p:sp>
            <p:nvSpPr>
              <p:cNvPr id="106" name="Oval 64"/>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07" name="Line 65"/>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8" name="Line 66"/>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9" name="Rectangle 67"/>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10" name="Oval 68"/>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11" name="Group 69"/>
              <p:cNvGrpSpPr/>
              <p:nvPr/>
            </p:nvGrpSpPr>
            <p:grpSpPr bwMode="auto">
              <a:xfrm>
                <a:off x="3686" y="244"/>
                <a:ext cx="177" cy="66"/>
                <a:chOff x="2848" y="848"/>
                <a:chExt cx="140" cy="98"/>
              </a:xfrm>
            </p:grpSpPr>
            <p:sp>
              <p:nvSpPr>
                <p:cNvPr id="116" name="Line 7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 name="Line 7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 name="Line 7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12" name="Group 73"/>
              <p:cNvGrpSpPr/>
              <p:nvPr/>
            </p:nvGrpSpPr>
            <p:grpSpPr bwMode="auto">
              <a:xfrm flipV="1">
                <a:off x="3686" y="243"/>
                <a:ext cx="177" cy="66"/>
                <a:chOff x="2848" y="848"/>
                <a:chExt cx="140" cy="98"/>
              </a:xfrm>
            </p:grpSpPr>
            <p:sp>
              <p:nvSpPr>
                <p:cNvPr id="113" name="Line 7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4" name="Line 7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 name="Line 7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8" name="Group 77"/>
            <p:cNvGrpSpPr/>
            <p:nvPr/>
          </p:nvGrpSpPr>
          <p:grpSpPr bwMode="auto">
            <a:xfrm>
              <a:off x="3400" y="2360"/>
              <a:ext cx="316" cy="147"/>
              <a:chOff x="3600" y="219"/>
              <a:chExt cx="360" cy="175"/>
            </a:xfrm>
          </p:grpSpPr>
          <p:sp>
            <p:nvSpPr>
              <p:cNvPr id="93" name="Oval 78"/>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94" name="Line 79"/>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 name="Line 80"/>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 name="Rectangle 81"/>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97" name="Oval 82"/>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98" name="Group 83"/>
              <p:cNvGrpSpPr/>
              <p:nvPr/>
            </p:nvGrpSpPr>
            <p:grpSpPr bwMode="auto">
              <a:xfrm>
                <a:off x="3686" y="244"/>
                <a:ext cx="177" cy="66"/>
                <a:chOff x="2848" y="848"/>
                <a:chExt cx="140" cy="98"/>
              </a:xfrm>
            </p:grpSpPr>
            <p:sp>
              <p:nvSpPr>
                <p:cNvPr id="103" name="Line 8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 name="Line 8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5" name="Line 8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99" name="Group 87"/>
              <p:cNvGrpSpPr/>
              <p:nvPr/>
            </p:nvGrpSpPr>
            <p:grpSpPr bwMode="auto">
              <a:xfrm flipV="1">
                <a:off x="3686" y="243"/>
                <a:ext cx="177" cy="66"/>
                <a:chOff x="2848" y="848"/>
                <a:chExt cx="140" cy="98"/>
              </a:xfrm>
            </p:grpSpPr>
            <p:sp>
              <p:nvSpPr>
                <p:cNvPr id="100" name="Line 8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1" name="Line 8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2" name="Line 9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9" name="Freeform 91"/>
            <p:cNvSpPr/>
            <p:nvPr/>
          </p:nvSpPr>
          <p:spPr bwMode="auto">
            <a:xfrm>
              <a:off x="3089" y="2245"/>
              <a:ext cx="318" cy="194"/>
            </a:xfrm>
            <a:custGeom>
              <a:avLst/>
              <a:gdLst>
                <a:gd name="T0" fmla="*/ 0 w 318"/>
                <a:gd name="T1" fmla="*/ 0 h 194"/>
                <a:gd name="T2" fmla="*/ 318 w 318"/>
                <a:gd name="T3" fmla="*/ 194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0" name="Freeform 92"/>
            <p:cNvSpPr/>
            <p:nvPr/>
          </p:nvSpPr>
          <p:spPr bwMode="auto">
            <a:xfrm>
              <a:off x="2418" y="2492"/>
              <a:ext cx="303" cy="150"/>
            </a:xfrm>
            <a:custGeom>
              <a:avLst/>
              <a:gdLst>
                <a:gd name="T0" fmla="*/ 0 w 294"/>
                <a:gd name="T1" fmla="*/ 0 h 174"/>
                <a:gd name="T2" fmla="*/ 570 w 294"/>
                <a:gd name="T3" fmla="*/ 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1" name="Freeform 93"/>
            <p:cNvSpPr/>
            <p:nvPr/>
          </p:nvSpPr>
          <p:spPr bwMode="auto">
            <a:xfrm>
              <a:off x="3015" y="2477"/>
              <a:ext cx="396" cy="156"/>
            </a:xfrm>
            <a:custGeom>
              <a:avLst/>
              <a:gdLst>
                <a:gd name="T0" fmla="*/ 0 w 378"/>
                <a:gd name="T1" fmla="*/ 16 h 174"/>
                <a:gd name="T2" fmla="*/ 105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 name="Freeform 94"/>
            <p:cNvSpPr/>
            <p:nvPr/>
          </p:nvSpPr>
          <p:spPr bwMode="auto">
            <a:xfrm>
              <a:off x="3435" y="2511"/>
              <a:ext cx="130" cy="320"/>
            </a:xfrm>
            <a:custGeom>
              <a:avLst/>
              <a:gdLst>
                <a:gd name="T0" fmla="*/ 0 w 118"/>
                <a:gd name="T1" fmla="*/ 1 h 500"/>
                <a:gd name="T2" fmla="*/ 1003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3" name="Freeform 95"/>
            <p:cNvSpPr/>
            <p:nvPr/>
          </p:nvSpPr>
          <p:spPr bwMode="auto">
            <a:xfrm>
              <a:off x="2657" y="2847"/>
              <a:ext cx="464" cy="47"/>
            </a:xfrm>
            <a:custGeom>
              <a:avLst/>
              <a:gdLst>
                <a:gd name="T0" fmla="*/ 53780 w 370"/>
                <a:gd name="T1" fmla="*/ 149780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4" name="Freeform 96"/>
            <p:cNvSpPr/>
            <p:nvPr/>
          </p:nvSpPr>
          <p:spPr bwMode="auto">
            <a:xfrm>
              <a:off x="2319" y="2507"/>
              <a:ext cx="122" cy="268"/>
            </a:xfrm>
            <a:custGeom>
              <a:avLst/>
              <a:gdLst>
                <a:gd name="T0" fmla="*/ 1 w 176"/>
                <a:gd name="T1" fmla="*/ 1 h 412"/>
                <a:gd name="T2" fmla="*/ 1 w 176"/>
                <a:gd name="T3" fmla="*/ 1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5" name="Rectangle 97"/>
            <p:cNvSpPr>
              <a:spLocks noChangeArrowheads="1"/>
            </p:cNvSpPr>
            <p:nvPr/>
          </p:nvSpPr>
          <p:spPr bwMode="auto">
            <a:xfrm>
              <a:off x="1128" y="2264"/>
              <a:ext cx="728" cy="150"/>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26" name="Rectangle 98"/>
            <p:cNvSpPr>
              <a:spLocks noChangeArrowheads="1"/>
            </p:cNvSpPr>
            <p:nvPr/>
          </p:nvSpPr>
          <p:spPr bwMode="auto">
            <a:xfrm>
              <a:off x="1113" y="2279"/>
              <a:ext cx="723" cy="150"/>
            </a:xfrm>
            <a:prstGeom prst="rect">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27" name="Line 99"/>
            <p:cNvSpPr>
              <a:spLocks noChangeShapeType="1"/>
            </p:cNvSpPr>
            <p:nvPr/>
          </p:nvSpPr>
          <p:spPr bwMode="auto">
            <a:xfrm>
              <a:off x="1759" y="2362"/>
              <a:ext cx="266" cy="0"/>
            </a:xfrm>
            <a:prstGeom prst="line">
              <a:avLst/>
            </a:prstGeom>
            <a:noFill/>
            <a:ln w="9525">
              <a:solidFill>
                <a:schemeClr val="accent2"/>
              </a:solidFill>
              <a:rou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 name="Text Box 100"/>
            <p:cNvSpPr txBox="1">
              <a:spLocks noChangeArrowheads="1"/>
            </p:cNvSpPr>
            <p:nvPr/>
          </p:nvSpPr>
          <p:spPr bwMode="auto">
            <a:xfrm>
              <a:off x="2394" y="2183"/>
              <a:ext cx="18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600">
                  <a:latin typeface="Arial" panose="020B0604020202020204" pitchFamily="34" charset="0"/>
                </a:rPr>
                <a:t>1</a:t>
              </a:r>
            </a:p>
          </p:txBody>
        </p:sp>
        <p:sp>
          <p:nvSpPr>
            <p:cNvPr id="29" name="Text Box 101"/>
            <p:cNvSpPr txBox="1">
              <a:spLocks noChangeArrowheads="1"/>
            </p:cNvSpPr>
            <p:nvPr/>
          </p:nvSpPr>
          <p:spPr bwMode="auto">
            <a:xfrm>
              <a:off x="2335" y="2459"/>
              <a:ext cx="18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600">
                  <a:latin typeface="Arial" panose="020B0604020202020204" pitchFamily="34" charset="0"/>
                </a:rPr>
                <a:t>2</a:t>
              </a:r>
            </a:p>
          </p:txBody>
        </p:sp>
        <p:sp>
          <p:nvSpPr>
            <p:cNvPr id="30" name="Text Box 102"/>
            <p:cNvSpPr txBox="1">
              <a:spLocks noChangeArrowheads="1"/>
            </p:cNvSpPr>
            <p:nvPr/>
          </p:nvSpPr>
          <p:spPr bwMode="auto">
            <a:xfrm>
              <a:off x="2177" y="2505"/>
              <a:ext cx="18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600">
                  <a:latin typeface="Arial" panose="020B0604020202020204" pitchFamily="34" charset="0"/>
                </a:rPr>
                <a:t>3</a:t>
              </a:r>
            </a:p>
          </p:txBody>
        </p:sp>
        <p:sp>
          <p:nvSpPr>
            <p:cNvPr id="31" name="Rectangle 104"/>
            <p:cNvSpPr>
              <a:spLocks noChangeArrowheads="1"/>
            </p:cNvSpPr>
            <p:nvPr/>
          </p:nvSpPr>
          <p:spPr bwMode="auto">
            <a:xfrm>
              <a:off x="1509" y="2281"/>
              <a:ext cx="269" cy="151"/>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32" name="Text Box 105"/>
            <p:cNvSpPr txBox="1">
              <a:spLocks noChangeArrowheads="1"/>
            </p:cNvSpPr>
            <p:nvPr/>
          </p:nvSpPr>
          <p:spPr bwMode="auto">
            <a:xfrm>
              <a:off x="1485" y="2264"/>
              <a:ext cx="316"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200">
                  <a:latin typeface="Arial" panose="020B0604020202020204" pitchFamily="34" charset="0"/>
                </a:rPr>
                <a:t>0111</a:t>
              </a:r>
            </a:p>
          </p:txBody>
        </p:sp>
        <p:sp>
          <p:nvSpPr>
            <p:cNvPr id="33" name="Text Box 106"/>
            <p:cNvSpPr txBox="1">
              <a:spLocks noChangeArrowheads="1"/>
            </p:cNvSpPr>
            <p:nvPr/>
          </p:nvSpPr>
          <p:spPr bwMode="auto">
            <a:xfrm>
              <a:off x="543" y="2669"/>
              <a:ext cx="1150" cy="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600" dirty="0">
                  <a:latin typeface="Arial" panose="020B0604020202020204" pitchFamily="34" charset="0"/>
                </a:rPr>
                <a:t>到达的数据包首部</a:t>
              </a:r>
              <a:endParaRPr lang="en-US" altLang="zh-CN" sz="1600" dirty="0">
                <a:latin typeface="Arial" panose="020B0604020202020204" pitchFamily="34" charset="0"/>
              </a:endParaRPr>
            </a:p>
            <a:p>
              <a:pPr algn="ctr" eaLnBrk="1" hangingPunct="1">
                <a:lnSpc>
                  <a:spcPct val="120000"/>
                </a:lnSpc>
                <a:spcBef>
                  <a:spcPct val="10000"/>
                </a:spcBef>
                <a:buClr>
                  <a:schemeClr val="tx1"/>
                </a:buClr>
                <a:buFont typeface="Symbol" panose="05050102010706020507" pitchFamily="18" charset="2"/>
                <a:buNone/>
              </a:pPr>
              <a:r>
                <a:rPr lang="zh-CN" altLang="en-US" sz="1600" dirty="0">
                  <a:latin typeface="Arial" panose="020B0604020202020204" pitchFamily="34" charset="0"/>
                </a:rPr>
                <a:t>寻址信息</a:t>
              </a:r>
              <a:endParaRPr lang="en-US" altLang="zh-CN" sz="1600" dirty="0">
                <a:latin typeface="Arial" panose="020B0604020202020204" pitchFamily="34" charset="0"/>
              </a:endParaRPr>
            </a:p>
          </p:txBody>
        </p:sp>
        <p:sp>
          <p:nvSpPr>
            <p:cNvPr id="34" name="Line 107"/>
            <p:cNvSpPr>
              <a:spLocks noChangeShapeType="1"/>
            </p:cNvSpPr>
            <p:nvPr/>
          </p:nvSpPr>
          <p:spPr bwMode="auto">
            <a:xfrm flipH="1" flipV="1">
              <a:off x="1090" y="2452"/>
              <a:ext cx="1026" cy="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5" name="Text Box 108"/>
            <p:cNvSpPr txBox="1">
              <a:spLocks noChangeArrowheads="1"/>
            </p:cNvSpPr>
            <p:nvPr/>
          </p:nvSpPr>
          <p:spPr bwMode="auto">
            <a:xfrm>
              <a:off x="1233" y="292"/>
              <a:ext cx="1174"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路由算法</a:t>
              </a:r>
              <a:endParaRPr lang="en-US" altLang="zh-CN" sz="1400" dirty="0">
                <a:latin typeface="Arial" panose="020B0604020202020204" pitchFamily="34" charset="0"/>
              </a:endParaRPr>
            </a:p>
          </p:txBody>
        </p:sp>
        <p:sp>
          <p:nvSpPr>
            <p:cNvPr id="36" name="Rectangle 109"/>
            <p:cNvSpPr>
              <a:spLocks noChangeArrowheads="1"/>
            </p:cNvSpPr>
            <p:nvPr/>
          </p:nvSpPr>
          <p:spPr bwMode="auto">
            <a:xfrm>
              <a:off x="1197" y="732"/>
              <a:ext cx="1263" cy="80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37" name="Text Box 110"/>
            <p:cNvSpPr txBox="1">
              <a:spLocks noChangeArrowheads="1"/>
            </p:cNvSpPr>
            <p:nvPr/>
          </p:nvSpPr>
          <p:spPr bwMode="auto">
            <a:xfrm>
              <a:off x="1606" y="696"/>
              <a:ext cx="456"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转发表</a:t>
              </a:r>
              <a:endParaRPr lang="en-US" altLang="zh-CN" sz="1400" dirty="0">
                <a:latin typeface="Arial" panose="020B0604020202020204" pitchFamily="34" charset="0"/>
              </a:endParaRPr>
            </a:p>
          </p:txBody>
        </p:sp>
        <p:sp>
          <p:nvSpPr>
            <p:cNvPr id="38" name="Text Box 111"/>
            <p:cNvSpPr txBox="1">
              <a:spLocks noChangeArrowheads="1"/>
            </p:cNvSpPr>
            <p:nvPr/>
          </p:nvSpPr>
          <p:spPr bwMode="auto">
            <a:xfrm>
              <a:off x="1150" y="846"/>
              <a:ext cx="788"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首部寻址信息</a:t>
              </a:r>
              <a:endParaRPr lang="en-US" altLang="zh-CN" sz="1400" dirty="0">
                <a:latin typeface="Arial" panose="020B0604020202020204" pitchFamily="34" charset="0"/>
              </a:endParaRPr>
            </a:p>
          </p:txBody>
        </p:sp>
        <p:sp>
          <p:nvSpPr>
            <p:cNvPr id="39" name="Text Box 112"/>
            <p:cNvSpPr txBox="1">
              <a:spLocks noChangeArrowheads="1"/>
            </p:cNvSpPr>
            <p:nvPr/>
          </p:nvSpPr>
          <p:spPr bwMode="auto">
            <a:xfrm>
              <a:off x="1846" y="844"/>
              <a:ext cx="656"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输出链路</a:t>
              </a:r>
              <a:endParaRPr lang="en-US" altLang="zh-CN" sz="1400" dirty="0">
                <a:latin typeface="Arial" panose="020B0604020202020204" pitchFamily="34" charset="0"/>
              </a:endParaRPr>
            </a:p>
          </p:txBody>
        </p:sp>
        <p:sp>
          <p:nvSpPr>
            <p:cNvPr id="40" name="Line 113"/>
            <p:cNvSpPr>
              <a:spLocks noChangeShapeType="1"/>
            </p:cNvSpPr>
            <p:nvPr/>
          </p:nvSpPr>
          <p:spPr bwMode="auto">
            <a:xfrm>
              <a:off x="1908" y="866"/>
              <a:ext cx="5" cy="67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1" name="Text Box 114"/>
            <p:cNvSpPr txBox="1">
              <a:spLocks noChangeArrowheads="1"/>
            </p:cNvSpPr>
            <p:nvPr/>
          </p:nvSpPr>
          <p:spPr bwMode="auto">
            <a:xfrm>
              <a:off x="1369" y="1037"/>
              <a:ext cx="408"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0100</a:t>
              </a:r>
            </a:p>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0101</a:t>
              </a:r>
            </a:p>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0111</a:t>
              </a:r>
            </a:p>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1001</a:t>
              </a:r>
            </a:p>
          </p:txBody>
        </p:sp>
        <p:sp>
          <p:nvSpPr>
            <p:cNvPr id="42" name="Text Box 115"/>
            <p:cNvSpPr txBox="1">
              <a:spLocks noChangeArrowheads="1"/>
            </p:cNvSpPr>
            <p:nvPr/>
          </p:nvSpPr>
          <p:spPr bwMode="auto">
            <a:xfrm>
              <a:off x="2050" y="1029"/>
              <a:ext cx="170"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3</a:t>
              </a:r>
            </a:p>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2</a:t>
              </a:r>
            </a:p>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2</a:t>
              </a:r>
            </a:p>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1</a:t>
              </a:r>
            </a:p>
          </p:txBody>
        </p:sp>
        <p:sp>
          <p:nvSpPr>
            <p:cNvPr id="43" name="Line 116"/>
            <p:cNvSpPr>
              <a:spLocks noChangeShapeType="1"/>
            </p:cNvSpPr>
            <p:nvPr/>
          </p:nvSpPr>
          <p:spPr bwMode="auto">
            <a:xfrm>
              <a:off x="1197" y="1028"/>
              <a:ext cx="126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4" name="Line 117"/>
            <p:cNvSpPr>
              <a:spLocks noChangeShapeType="1"/>
            </p:cNvSpPr>
            <p:nvPr/>
          </p:nvSpPr>
          <p:spPr bwMode="auto">
            <a:xfrm>
              <a:off x="1192" y="872"/>
              <a:ext cx="126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5" name="AutoShape 118"/>
            <p:cNvSpPr>
              <a:spLocks noChangeArrowheads="1"/>
            </p:cNvSpPr>
            <p:nvPr/>
          </p:nvSpPr>
          <p:spPr bwMode="auto">
            <a:xfrm rot="5400000">
              <a:off x="1763" y="548"/>
              <a:ext cx="151" cy="172"/>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46" name="Line 119"/>
            <p:cNvSpPr>
              <a:spLocks noChangeShapeType="1"/>
            </p:cNvSpPr>
            <p:nvPr/>
          </p:nvSpPr>
          <p:spPr bwMode="auto">
            <a:xfrm flipV="1">
              <a:off x="1285" y="2432"/>
              <a:ext cx="319" cy="26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7" name="Freeform 120"/>
            <p:cNvSpPr/>
            <p:nvPr/>
          </p:nvSpPr>
          <p:spPr bwMode="auto">
            <a:xfrm>
              <a:off x="2047" y="2395"/>
              <a:ext cx="554" cy="167"/>
            </a:xfrm>
            <a:custGeom>
              <a:avLst/>
              <a:gdLst>
                <a:gd name="T0" fmla="*/ 0 w 554"/>
                <a:gd name="T1" fmla="*/ 10 h 167"/>
                <a:gd name="T2" fmla="*/ 324 w 554"/>
                <a:gd name="T3" fmla="*/ 26 h 167"/>
                <a:gd name="T4" fmla="*/ 554 w 554"/>
                <a:gd name="T5" fmla="*/ 16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a:solidFill>
                <a:srgbClr val="FF3300"/>
              </a:solidFill>
              <a:roun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 name="Freeform 121"/>
            <p:cNvSpPr/>
            <p:nvPr/>
          </p:nvSpPr>
          <p:spPr bwMode="auto">
            <a:xfrm flipH="1">
              <a:off x="3518" y="2127"/>
              <a:ext cx="364"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9" name="Freeform 122"/>
            <p:cNvSpPr/>
            <p:nvPr/>
          </p:nvSpPr>
          <p:spPr bwMode="auto">
            <a:xfrm flipH="1">
              <a:off x="2881" y="1948"/>
              <a:ext cx="364"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0" name="Freeform 123"/>
            <p:cNvSpPr/>
            <p:nvPr/>
          </p:nvSpPr>
          <p:spPr bwMode="auto">
            <a:xfrm flipH="1" flipV="1">
              <a:off x="3302" y="2922"/>
              <a:ext cx="342"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1" name="Freeform 124"/>
            <p:cNvSpPr/>
            <p:nvPr/>
          </p:nvSpPr>
          <p:spPr bwMode="auto">
            <a:xfrm flipH="1" flipV="1">
              <a:off x="2452" y="2912"/>
              <a:ext cx="342"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2" name="Freeform 125"/>
            <p:cNvSpPr/>
            <p:nvPr/>
          </p:nvSpPr>
          <p:spPr bwMode="auto">
            <a:xfrm flipH="1" flipV="1">
              <a:off x="2855" y="2728"/>
              <a:ext cx="342" cy="285"/>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nvGrpSpPr>
            <p:cNvPr id="53" name="Group 126"/>
            <p:cNvGrpSpPr/>
            <p:nvPr/>
          </p:nvGrpSpPr>
          <p:grpSpPr bwMode="auto">
            <a:xfrm>
              <a:off x="2886" y="1668"/>
              <a:ext cx="347" cy="285"/>
              <a:chOff x="2886" y="1668"/>
              <a:chExt cx="347" cy="285"/>
            </a:xfrm>
          </p:grpSpPr>
          <p:sp>
            <p:nvSpPr>
              <p:cNvPr id="86" name="Rectangle 127"/>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7" name="Oval 128"/>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8" name="Rectangle 129"/>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9" name="Line 130"/>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90" name="Line 131"/>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91" name="Line 132"/>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92" name="AutoShape 133"/>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4" name="Group 134"/>
            <p:cNvGrpSpPr/>
            <p:nvPr/>
          </p:nvGrpSpPr>
          <p:grpSpPr bwMode="auto">
            <a:xfrm>
              <a:off x="3524" y="1840"/>
              <a:ext cx="347" cy="285"/>
              <a:chOff x="2886" y="1668"/>
              <a:chExt cx="347" cy="285"/>
            </a:xfrm>
          </p:grpSpPr>
          <p:sp>
            <p:nvSpPr>
              <p:cNvPr id="79" name="Rectangle 135"/>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0" name="Oval 136"/>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1" name="Rectangle 137"/>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2" name="Line 138"/>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83" name="Line 139"/>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84" name="Line 140"/>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 name="AutoShape 141"/>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5" name="Group 142"/>
            <p:cNvGrpSpPr/>
            <p:nvPr/>
          </p:nvGrpSpPr>
          <p:grpSpPr bwMode="auto">
            <a:xfrm>
              <a:off x="3291" y="3148"/>
              <a:ext cx="347" cy="285"/>
              <a:chOff x="2886" y="1668"/>
              <a:chExt cx="347" cy="285"/>
            </a:xfrm>
          </p:grpSpPr>
          <p:sp>
            <p:nvSpPr>
              <p:cNvPr id="72" name="Rectangle 143"/>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73" name="Oval 144"/>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74" name="Rectangle 145"/>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75" name="Line 146"/>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6" name="Line 147"/>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7" name="Line 148"/>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8" name="AutoShape 149"/>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6" name="Group 150"/>
            <p:cNvGrpSpPr/>
            <p:nvPr/>
          </p:nvGrpSpPr>
          <p:grpSpPr bwMode="auto">
            <a:xfrm>
              <a:off x="2853" y="3010"/>
              <a:ext cx="347" cy="285"/>
              <a:chOff x="2886" y="1668"/>
              <a:chExt cx="347" cy="285"/>
            </a:xfrm>
          </p:grpSpPr>
          <p:sp>
            <p:nvSpPr>
              <p:cNvPr id="65" name="Rectangle 151"/>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6" name="Oval 152"/>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7" name="Rectangle 153"/>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8" name="Line 154"/>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9" name="Line 155"/>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0" name="Line 156"/>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1" name="AutoShape 157"/>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7" name="Group 158"/>
            <p:cNvGrpSpPr/>
            <p:nvPr/>
          </p:nvGrpSpPr>
          <p:grpSpPr bwMode="auto">
            <a:xfrm>
              <a:off x="2440" y="3131"/>
              <a:ext cx="347" cy="285"/>
              <a:chOff x="2886" y="1668"/>
              <a:chExt cx="347" cy="285"/>
            </a:xfrm>
          </p:grpSpPr>
          <p:sp>
            <p:nvSpPr>
              <p:cNvPr id="58" name="Rectangle 159"/>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59" name="Oval 160"/>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0" name="Rectangle 161"/>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1" name="Line 162"/>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2" name="Line 163"/>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3" name="Line 164"/>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4" name="AutoShape 165"/>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sp>
        <p:nvSpPr>
          <p:cNvPr id="6" name="内容占位符 5"/>
          <p:cNvSpPr>
            <a:spLocks noGrp="1"/>
          </p:cNvSpPr>
          <p:nvPr>
            <p:ph idx="1"/>
          </p:nvPr>
        </p:nvSpPr>
        <p:spPr>
          <a:xfrm>
            <a:off x="751840" y="1339215"/>
            <a:ext cx="6085840" cy="4758055"/>
          </a:xfrm>
        </p:spPr>
        <p:txBody>
          <a:bodyPr/>
          <a:lstStyle/>
          <a:p>
            <a:pPr>
              <a:lnSpc>
                <a:spcPct val="160000"/>
              </a:lnSpc>
            </a:pPr>
            <a:r>
              <a:rPr lang="en-US" altLang="zh-CN" dirty="0">
                <a:sym typeface="+mn-ea"/>
              </a:rPr>
              <a:t>路由</a:t>
            </a:r>
            <a:r>
              <a:rPr lang="zh-CN" altLang="en-US" dirty="0">
                <a:sym typeface="+mn-ea"/>
              </a:rPr>
              <a:t>（控制面）</a:t>
            </a:r>
            <a:endParaRPr lang="en-US" altLang="zh-CN" dirty="0"/>
          </a:p>
          <a:p>
            <a:pPr lvl="1" algn="l">
              <a:lnSpc>
                <a:spcPct val="160000"/>
              </a:lnSpc>
              <a:buClrTx/>
              <a:buSzTx/>
            </a:pPr>
            <a:r>
              <a:rPr lang="zh-CN" altLang="en-US" dirty="0">
                <a:sym typeface="+mn-ea"/>
              </a:rPr>
              <a:t>选择数据报从源端到目的端的路径</a:t>
            </a:r>
          </a:p>
          <a:p>
            <a:pPr lvl="1" algn="l">
              <a:lnSpc>
                <a:spcPct val="160000"/>
              </a:lnSpc>
              <a:buClrTx/>
              <a:buSzTx/>
            </a:pPr>
            <a:r>
              <a:rPr kumimoji="1" lang="zh-CN" altLang="en-US" dirty="0">
                <a:sym typeface="+mn-ea"/>
              </a:rPr>
              <a:t>核心</a:t>
            </a:r>
            <a:r>
              <a:rPr lang="zh-CN" altLang="en-US" dirty="0">
                <a:sym typeface="+mn-ea"/>
              </a:rPr>
              <a:t>：</a:t>
            </a:r>
            <a:r>
              <a:rPr lang="zh-CN" altLang="en-US" dirty="0">
                <a:solidFill>
                  <a:srgbClr val="C00000"/>
                </a:solidFill>
                <a:sym typeface="+mn-ea"/>
              </a:rPr>
              <a:t>路由算法与协议</a:t>
            </a:r>
            <a:endParaRPr lang="zh-CN" altLang="en-US" dirty="0">
              <a:solidFill>
                <a:srgbClr val="C00000"/>
              </a:solidFill>
            </a:endParaRPr>
          </a:p>
          <a:p>
            <a:pPr algn="l">
              <a:lnSpc>
                <a:spcPct val="160000"/>
              </a:lnSpc>
              <a:buClrTx/>
              <a:buSzTx/>
            </a:pPr>
            <a:r>
              <a:rPr lang="zh-CN" altLang="en-US" dirty="0">
                <a:sym typeface="+mn-ea"/>
              </a:rPr>
              <a:t>转发（数据面）</a:t>
            </a:r>
            <a:endParaRPr lang="zh-CN" altLang="en-US" dirty="0"/>
          </a:p>
          <a:p>
            <a:pPr lvl="1" algn="l">
              <a:lnSpc>
                <a:spcPct val="160000"/>
              </a:lnSpc>
              <a:buClrTx/>
              <a:buSzTx/>
            </a:pPr>
            <a:r>
              <a:rPr lang="zh-CN" altLang="en-US" dirty="0">
                <a:sym typeface="+mn-ea"/>
              </a:rPr>
              <a:t>将数据报从路由器的输入接口传送到正确的输出接口</a:t>
            </a:r>
            <a:endParaRPr lang="zh-CN" altLang="en-US" dirty="0"/>
          </a:p>
          <a:p>
            <a:pPr marL="457200" lvl="1" indent="0" algn="l">
              <a:lnSpc>
                <a:spcPct val="160000"/>
              </a:lnSpc>
              <a:buClrTx/>
              <a:buSzTx/>
              <a:buNone/>
            </a:pPr>
            <a:endParaRPr lang="zh-CN" altLang="en-US" dirty="0"/>
          </a:p>
          <a:p>
            <a:pPr marL="0" indent="0">
              <a:buNone/>
            </a:pPr>
            <a:endParaRPr kumimoji="1" lang="zh-CN" altLang="en-US" dirty="0"/>
          </a:p>
        </p:txBody>
      </p:sp>
      <p:sp>
        <p:nvSpPr>
          <p:cNvPr id="171" name="日期占位符 9"/>
          <p:cNvSpPr>
            <a:spLocks noGrp="1"/>
          </p:cNvSpPr>
          <p:nvPr>
            <p:ph type="dt" sz="half" idx="10"/>
          </p:nvPr>
        </p:nvSpPr>
        <p:spPr>
          <a:xfrm>
            <a:off x="197335" y="6489303"/>
            <a:ext cx="2743200" cy="365125"/>
          </a:xfrm>
        </p:spPr>
        <p:txBody>
          <a:bodyPr/>
          <a:lstStyle/>
          <a:p>
            <a:r>
              <a:rPr kumimoji="1" lang="en-US" altLang="zh-CN" dirty="0">
                <a:sym typeface="+mn-ea"/>
              </a:rPr>
              <a:t>5.1.1 </a:t>
            </a:r>
            <a:r>
              <a:rPr kumimoji="1" lang="zh-CN" altLang="en-US" dirty="0">
                <a:sym typeface="+mn-ea"/>
              </a:rPr>
              <a:t>网络层服务概述</a:t>
            </a:r>
            <a:endParaRPr kumimoji="1" lang="zh-CN" altLang="en-US" dirty="0"/>
          </a:p>
        </p:txBody>
      </p:sp>
      <p:pic>
        <p:nvPicPr>
          <p:cNvPr id="172" name="Picture 28" descr="015">
            <a:extLst>
              <a:ext uri="{FF2B5EF4-FFF2-40B4-BE49-F238E27FC236}">
                <a16:creationId xmlns:a16="http://schemas.microsoft.com/office/drawing/2014/main" id="{B2A69A92-D760-4698-879A-50FA4A77DBC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85963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algn="l">
              <a:buClrTx/>
              <a:buSzTx/>
              <a:buFontTx/>
            </a:pPr>
            <a:r>
              <a:rPr kumimoji="1" lang="zh-CN" altLang="zh-CN" dirty="0">
                <a:solidFill>
                  <a:prstClr val="black"/>
                </a:solidFill>
                <a:sym typeface="+mn-ea"/>
              </a:rPr>
              <a:t>提供给传输层的服务</a:t>
            </a:r>
            <a:endParaRPr kumimoji="1" lang="zh-CN" altLang="en-US" dirty="0"/>
          </a:p>
        </p:txBody>
      </p:sp>
      <p:sp>
        <p:nvSpPr>
          <p:cNvPr id="3" name="内容占位符 2"/>
          <p:cNvSpPr>
            <a:spLocks noGrp="1"/>
          </p:cNvSpPr>
          <p:nvPr>
            <p:ph idx="1"/>
          </p:nvPr>
        </p:nvSpPr>
        <p:spPr/>
        <p:txBody>
          <a:bodyPr/>
          <a:lstStyle/>
          <a:p>
            <a:pPr>
              <a:lnSpc>
                <a:spcPct val="210000"/>
              </a:lnSpc>
            </a:pPr>
            <a:r>
              <a:rPr lang="zh-CN" altLang="en-US" dirty="0">
                <a:sym typeface="+mn-ea"/>
              </a:rPr>
              <a:t>网络通信的可靠交付服务，</a:t>
            </a:r>
            <a:r>
              <a:rPr kumimoji="1" lang="zh-CN" altLang="en-US" dirty="0">
                <a:solidFill>
                  <a:srgbClr val="C00000"/>
                </a:solidFill>
                <a:sym typeface="+mn-ea"/>
              </a:rPr>
              <a:t>谁来负责？</a:t>
            </a:r>
            <a:endParaRPr lang="zh-CN" altLang="en-US" dirty="0">
              <a:solidFill>
                <a:schemeClr val="hlink"/>
              </a:solidFill>
              <a:sym typeface="+mn-ea"/>
            </a:endParaRPr>
          </a:p>
          <a:p>
            <a:pPr marL="0" indent="0">
              <a:lnSpc>
                <a:spcPct val="210000"/>
              </a:lnSpc>
              <a:buNone/>
            </a:pPr>
            <a:r>
              <a:rPr lang="zh-CN" altLang="en-US" dirty="0">
                <a:solidFill>
                  <a:schemeClr val="hlink"/>
                </a:solidFill>
                <a:sym typeface="+mn-ea"/>
              </a:rPr>
              <a:t>   </a:t>
            </a:r>
            <a:r>
              <a:rPr kumimoji="1" lang="zh-CN" altLang="en-US" b="1" dirty="0">
                <a:solidFill>
                  <a:srgbClr val="5B307E"/>
                </a:solidFill>
                <a:sym typeface="+mn-ea"/>
              </a:rPr>
              <a:t>“</a:t>
            </a:r>
            <a:r>
              <a:rPr kumimoji="1" lang="zh-CN" altLang="en-US" sz="2800" b="1" dirty="0">
                <a:solidFill>
                  <a:srgbClr val="5B307E"/>
                </a:solidFill>
                <a:sym typeface="+mn-ea"/>
              </a:rPr>
              <a:t>网络</a:t>
            </a:r>
            <a:r>
              <a:rPr kumimoji="1" lang="zh-CN" altLang="en-US" b="1" dirty="0">
                <a:solidFill>
                  <a:srgbClr val="5B307E"/>
                </a:solidFill>
                <a:sym typeface="+mn-ea"/>
              </a:rPr>
              <a:t>”</a:t>
            </a:r>
            <a:r>
              <a:rPr lang="en-US" altLang="zh-CN" dirty="0">
                <a:sym typeface="+mn-ea"/>
              </a:rPr>
              <a:t>OR</a:t>
            </a:r>
            <a:r>
              <a:rPr kumimoji="1" lang="zh-CN" altLang="en-US" b="1" dirty="0">
                <a:solidFill>
                  <a:srgbClr val="5B307E"/>
                </a:solidFill>
                <a:sym typeface="+mn-ea"/>
              </a:rPr>
              <a:t>“端系统”</a:t>
            </a:r>
            <a:endParaRPr lang="zh-CN" altLang="en-US" dirty="0">
              <a:sym typeface="+mn-ea"/>
            </a:endParaRPr>
          </a:p>
          <a:p>
            <a:pPr>
              <a:lnSpc>
                <a:spcPct val="210000"/>
              </a:lnSpc>
            </a:pPr>
            <a:r>
              <a:rPr lang="zh-CN" altLang="en-US" dirty="0">
                <a:sym typeface="+mn-ea"/>
              </a:rPr>
              <a:t>网络层应该向运输层提供怎样的服务？</a:t>
            </a:r>
          </a:p>
          <a:p>
            <a:pPr marL="0" indent="0">
              <a:lnSpc>
                <a:spcPct val="210000"/>
              </a:lnSpc>
              <a:buNone/>
            </a:pPr>
            <a:r>
              <a:rPr lang="zh-CN" altLang="en-US" dirty="0">
                <a:sym typeface="+mn-ea"/>
              </a:rPr>
              <a:t>   </a:t>
            </a:r>
            <a:r>
              <a:rPr kumimoji="1" lang="zh-CN" altLang="en-US" b="1" dirty="0">
                <a:solidFill>
                  <a:srgbClr val="5B307E"/>
                </a:solidFill>
                <a:sym typeface="+mn-ea"/>
              </a:rPr>
              <a:t>“面向连接”</a:t>
            </a:r>
            <a:r>
              <a:rPr kumimoji="1" lang="zh-CN" altLang="en-US" dirty="0">
                <a:solidFill>
                  <a:srgbClr val="C00000"/>
                </a:solidFill>
                <a:sym typeface="+mn-ea"/>
              </a:rPr>
              <a:t>(虚电路）</a:t>
            </a:r>
            <a:r>
              <a:rPr lang="en-US" altLang="zh-CN" dirty="0">
                <a:sym typeface="+mn-ea"/>
              </a:rPr>
              <a:t>OR</a:t>
            </a:r>
            <a:r>
              <a:rPr kumimoji="1" lang="zh-CN" altLang="en-US" b="1" dirty="0">
                <a:solidFill>
                  <a:srgbClr val="5B307E"/>
                </a:solidFill>
                <a:sym typeface="+mn-ea"/>
              </a:rPr>
              <a:t>“无连接“</a:t>
            </a:r>
            <a:r>
              <a:rPr kumimoji="1" lang="zh-CN" altLang="en-US" dirty="0">
                <a:solidFill>
                  <a:srgbClr val="C00000"/>
                </a:solidFill>
                <a:sym typeface="+mn-ea"/>
              </a:rPr>
              <a:t>（数据报）</a:t>
            </a:r>
            <a:endParaRPr lang="zh-CN" altLang="en-US" dirty="0">
              <a:sym typeface="+mn-ea"/>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8</a:t>
            </a:fld>
            <a:endParaRPr kumimoji="1" lang="zh-CN" altLang="en-US" dirty="0"/>
          </a:p>
        </p:txBody>
      </p:sp>
      <p:sp>
        <p:nvSpPr>
          <p:cNvPr id="6" name="日期占位符 9"/>
          <p:cNvSpPr>
            <a:spLocks noGrp="1"/>
          </p:cNvSpPr>
          <p:nvPr>
            <p:ph type="dt" sz="half" idx="10"/>
          </p:nvPr>
        </p:nvSpPr>
        <p:spPr>
          <a:xfrm>
            <a:off x="197335" y="6489303"/>
            <a:ext cx="2743200" cy="365125"/>
          </a:xfrm>
        </p:spPr>
        <p:txBody>
          <a:bodyPr/>
          <a:lstStyle/>
          <a:p>
            <a:r>
              <a:rPr kumimoji="1" lang="en-US" altLang="zh-CN" dirty="0"/>
              <a:t>5.1.1 </a:t>
            </a:r>
            <a:r>
              <a:rPr kumimoji="1" lang="zh-CN" altLang="en-US" dirty="0"/>
              <a:t>网络层服务概述</a:t>
            </a:r>
          </a:p>
        </p:txBody>
      </p:sp>
    </p:spTree>
    <p:extLst>
      <p:ext uri="{BB962C8B-B14F-4D97-AF65-F5344CB8AC3E}">
        <p14:creationId xmlns:p14="http://schemas.microsoft.com/office/powerpoint/2010/main" val="3063659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0"/>
            <a:r>
              <a:rPr lang="en-US" altLang="zh-CN" dirty="0" err="1">
                <a:solidFill>
                  <a:schemeClr val="dk1"/>
                </a:solidFill>
              </a:rPr>
              <a:t>无连接服务的实现</a:t>
            </a:r>
            <a:endParaRPr lang="zh-CN" altLang="en-US" dirty="0"/>
          </a:p>
        </p:txBody>
      </p:sp>
      <p:sp>
        <p:nvSpPr>
          <p:cNvPr id="3" name="内容占位符 2"/>
          <p:cNvSpPr>
            <a:spLocks noGrp="1"/>
          </p:cNvSpPr>
          <p:nvPr>
            <p:ph idx="1"/>
          </p:nvPr>
        </p:nvSpPr>
        <p:spPr/>
        <p:txBody>
          <a:bodyPr>
            <a:normAutofit fontScale="92500" lnSpcReduction="10000"/>
          </a:bodyPr>
          <a:lstStyle/>
          <a:p>
            <a:pPr marL="228600" lvl="1">
              <a:lnSpc>
                <a:spcPct val="120000"/>
              </a:lnSpc>
              <a:buFont typeface="Wingdings" panose="05000000000000000000" pitchFamily="2" charset="2"/>
              <a:buChar char="Ø"/>
            </a:pPr>
            <a:r>
              <a:rPr lang="zh-CN" altLang="en-US" sz="2600" dirty="0">
                <a:cs typeface="Times New Roman" panose="02020603050405020304" pitchFamily="18" charset="0"/>
                <a:sym typeface="Symbol" panose="05050102010706020507" pitchFamily="18" charset="2"/>
              </a:rPr>
              <a:t>无连接服务：如寄信</a:t>
            </a:r>
            <a:endParaRPr lang="en-US" altLang="zh-CN" sz="2600" dirty="0">
              <a:cs typeface="Times New Roman" panose="02020603050405020304" pitchFamily="18" charset="0"/>
              <a:sym typeface="Symbol" panose="05050102010706020507" pitchFamily="18" charset="2"/>
            </a:endParaRPr>
          </a:p>
          <a:p>
            <a:pPr lvl="1">
              <a:lnSpc>
                <a:spcPct val="120000"/>
              </a:lnSpc>
            </a:pPr>
            <a:r>
              <a:rPr lang="zh-CN" altLang="en-US" dirty="0"/>
              <a:t>不需要提前建立连接</a:t>
            </a:r>
            <a:endParaRPr lang="en-US" altLang="zh-CN" dirty="0"/>
          </a:p>
          <a:p>
            <a:pPr marL="228600" lvl="1">
              <a:lnSpc>
                <a:spcPct val="120000"/>
              </a:lnSpc>
              <a:buFont typeface="Wingdings" panose="05000000000000000000" pitchFamily="2" charset="2"/>
              <a:buChar char="Ø"/>
            </a:pPr>
            <a:r>
              <a:rPr lang="zh-CN" altLang="en-US" sz="2600" dirty="0">
                <a:cs typeface="Times New Roman" panose="02020603050405020304" pitchFamily="18" charset="0"/>
              </a:rPr>
              <a:t>数据报服务</a:t>
            </a:r>
            <a:endParaRPr lang="en-US" altLang="zh-CN" sz="2600" dirty="0">
              <a:cs typeface="Times New Roman" panose="02020603050405020304" pitchFamily="18" charset="0"/>
            </a:endParaRPr>
          </a:p>
          <a:p>
            <a:pPr lvl="1">
              <a:lnSpc>
                <a:spcPct val="120000"/>
              </a:lnSpc>
            </a:pPr>
            <a:r>
              <a:rPr lang="zh-CN" altLang="en-US" dirty="0"/>
              <a:t>网络层向上只提供简单灵活</a:t>
            </a:r>
            <a:r>
              <a:rPr lang="zh-CN" altLang="en-US" dirty="0">
                <a:solidFill>
                  <a:srgbClr val="C00000"/>
                </a:solidFill>
              </a:rPr>
              <a:t>无连接的、尽最大努力交付</a:t>
            </a:r>
            <a:r>
              <a:rPr lang="zh-CN" altLang="en-US" dirty="0"/>
              <a:t>的</a:t>
            </a:r>
            <a:r>
              <a:rPr lang="zh-CN" altLang="en-US" dirty="0">
                <a:solidFill>
                  <a:srgbClr val="C00000"/>
                </a:solidFill>
              </a:rPr>
              <a:t>数据报服务</a:t>
            </a:r>
          </a:p>
          <a:p>
            <a:pPr lvl="1">
              <a:lnSpc>
                <a:spcPct val="120000"/>
              </a:lnSpc>
            </a:pPr>
            <a:r>
              <a:rPr lang="zh-CN" altLang="en-US" dirty="0"/>
              <a:t>发送分组时不需要先建立连接，每个分组独立发送</a:t>
            </a:r>
            <a:endParaRPr lang="en-US" altLang="zh-CN" dirty="0"/>
          </a:p>
          <a:p>
            <a:pPr lvl="1">
              <a:lnSpc>
                <a:spcPct val="120000"/>
              </a:lnSpc>
            </a:pPr>
            <a:r>
              <a:rPr lang="zh-CN" altLang="en-US" dirty="0"/>
              <a:t>数据报独立转发，相同源-目的的数据报可能经过不同的路径</a:t>
            </a:r>
          </a:p>
          <a:p>
            <a:pPr lvl="1">
              <a:lnSpc>
                <a:spcPct val="120000"/>
              </a:lnSpc>
              <a:buClr>
                <a:schemeClr val="tx1"/>
              </a:buClr>
            </a:pPr>
            <a:r>
              <a:rPr lang="zh-CN" altLang="en-US" dirty="0">
                <a:solidFill>
                  <a:srgbClr val="C00000"/>
                </a:solidFill>
              </a:rPr>
              <a:t>网络层不提供服务质量的承诺 </a:t>
            </a:r>
          </a:p>
          <a:p>
            <a:pPr marL="228600" lvl="1">
              <a:lnSpc>
                <a:spcPct val="120000"/>
              </a:lnSpc>
              <a:buFont typeface="Wingdings" panose="05000000000000000000" pitchFamily="2" charset="2"/>
              <a:buChar char="Ø"/>
            </a:pPr>
            <a:r>
              <a:rPr lang="zh-CN" altLang="en-US" sz="2600" dirty="0">
                <a:cs typeface="Times New Roman" panose="02020603050405020304" pitchFamily="18" charset="0"/>
              </a:rPr>
              <a:t>尽力而为交付</a:t>
            </a:r>
            <a:endParaRPr lang="en-US" altLang="zh-CN" sz="2600" dirty="0">
              <a:cs typeface="Times New Roman" panose="02020603050405020304" pitchFamily="18" charset="0"/>
            </a:endParaRPr>
          </a:p>
          <a:p>
            <a:pPr lvl="1">
              <a:lnSpc>
                <a:spcPct val="120000"/>
              </a:lnSpc>
            </a:pPr>
            <a:r>
              <a:rPr lang="zh-CN" altLang="en-US" dirty="0"/>
              <a:t>传输网络</a:t>
            </a:r>
            <a:r>
              <a:rPr lang="zh-CN" altLang="en-US" dirty="0">
                <a:solidFill>
                  <a:srgbClr val="C00000"/>
                </a:solidFill>
              </a:rPr>
              <a:t>不提供端</a:t>
            </a:r>
            <a:r>
              <a:rPr lang="zh-CN" altLang="en-US" dirty="0"/>
              <a:t>到端的可靠传输服务：丢包、乱序、错误</a:t>
            </a:r>
            <a:endParaRPr lang="en-US" altLang="zh-CN" dirty="0"/>
          </a:p>
          <a:p>
            <a:pPr lvl="1">
              <a:lnSpc>
                <a:spcPct val="120000"/>
              </a:lnSpc>
            </a:pPr>
            <a:r>
              <a:rPr lang="zh-CN" altLang="en-US" dirty="0">
                <a:latin typeface="+mn-ea"/>
              </a:rPr>
              <a:t>优点：</a:t>
            </a:r>
            <a:r>
              <a:rPr lang="zh-CN" altLang="en-US" dirty="0">
                <a:solidFill>
                  <a:srgbClr val="C00000"/>
                </a:solidFill>
              </a:rPr>
              <a:t>网络的造价大大降低，运行方式灵活，能够适应多种应用</a:t>
            </a:r>
            <a:endParaRPr lang="en-US" altLang="zh-CN" dirty="0">
              <a:solidFill>
                <a:srgbClr val="C00000"/>
              </a:solidFill>
            </a:endParaRPr>
          </a:p>
          <a:p>
            <a:pPr marL="0" lvl="1" indent="0">
              <a:buNone/>
            </a:pPr>
            <a:endParaRPr lang="en-US" altLang="zh-CN" sz="2600" dirty="0">
              <a:cs typeface="Times New Roman" panose="02020603050405020304" pitchFamily="18" charset="0"/>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9</a:t>
            </a:fld>
            <a:endParaRPr kumimoji="1" lang="zh-CN" altLang="en-US" dirty="0"/>
          </a:p>
        </p:txBody>
      </p:sp>
      <p:sp>
        <p:nvSpPr>
          <p:cNvPr id="5" name="日期占位符 4"/>
          <p:cNvSpPr>
            <a:spLocks noGrp="1"/>
          </p:cNvSpPr>
          <p:nvPr>
            <p:ph type="dt" sz="half" idx="10"/>
          </p:nvPr>
        </p:nvSpPr>
        <p:spPr/>
        <p:txBody>
          <a:bodyPr/>
          <a:lstStyle/>
          <a:p>
            <a:r>
              <a:rPr kumimoji="1" lang="en-US" altLang="zh-CN" dirty="0"/>
              <a:t>5.1.2 </a:t>
            </a:r>
            <a:r>
              <a:rPr kumimoji="1" lang="zh-CN" altLang="en-US" dirty="0"/>
              <a:t>无连接服务的实现</a:t>
            </a:r>
          </a:p>
        </p:txBody>
      </p:sp>
      <p:pic>
        <p:nvPicPr>
          <p:cNvPr id="6" name="Picture 28" descr="015">
            <a:extLst>
              <a:ext uri="{FF2B5EF4-FFF2-40B4-BE49-F238E27FC236}">
                <a16:creationId xmlns:a16="http://schemas.microsoft.com/office/drawing/2014/main" id="{EAD9E977-3F9A-47FD-9BCC-C683D1220EF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1055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solidFill>
                  <a:schemeClr val="dk1"/>
                </a:solidFill>
              </a:rPr>
              <a:t>无连接服务的实现</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10</a:t>
            </a:fld>
            <a:endParaRPr kumimoji="1" lang="zh-CN" altLang="en-US" dirty="0"/>
          </a:p>
        </p:txBody>
      </p:sp>
      <p:sp>
        <p:nvSpPr>
          <p:cNvPr id="5" name="Rectangle 10"/>
          <p:cNvSpPr>
            <a:spLocks noChangeArrowheads="1"/>
          </p:cNvSpPr>
          <p:nvPr/>
        </p:nvSpPr>
        <p:spPr bwMode="auto">
          <a:xfrm>
            <a:off x="1564982" y="2586713"/>
            <a:ext cx="1606303" cy="1673195"/>
          </a:xfrm>
          <a:prstGeom prst="rect">
            <a:avLst/>
          </a:prstGeom>
          <a:solidFill>
            <a:srgbClr val="99FFCC"/>
          </a:solidFill>
          <a:ln w="2857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6" name="Rectangle 15"/>
          <p:cNvSpPr>
            <a:spLocks noChangeArrowheads="1"/>
          </p:cNvSpPr>
          <p:nvPr/>
        </p:nvSpPr>
        <p:spPr bwMode="auto">
          <a:xfrm>
            <a:off x="9186693" y="2685033"/>
            <a:ext cx="1604301" cy="1673195"/>
          </a:xfrm>
          <a:prstGeom prst="rect">
            <a:avLst/>
          </a:prstGeom>
          <a:solidFill>
            <a:srgbClr val="00FFFF"/>
          </a:solidFill>
          <a:ln w="2857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7" name="Rectangle 2"/>
          <p:cNvSpPr>
            <a:spLocks noChangeArrowheads="1"/>
          </p:cNvSpPr>
          <p:nvPr/>
        </p:nvSpPr>
        <p:spPr bwMode="auto">
          <a:xfrm>
            <a:off x="9207761" y="3360982"/>
            <a:ext cx="1564293" cy="354653"/>
          </a:xfrm>
          <a:prstGeom prst="rect">
            <a:avLst/>
          </a:prstGeom>
          <a:solidFill>
            <a:srgbClr val="FFFF00"/>
          </a:solidFill>
          <a:ln>
            <a:noFill/>
          </a:ln>
          <a:effec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8" name="Rectangle 4"/>
          <p:cNvSpPr>
            <a:spLocks noChangeArrowheads="1"/>
          </p:cNvSpPr>
          <p:nvPr/>
        </p:nvSpPr>
        <p:spPr bwMode="auto">
          <a:xfrm>
            <a:off x="1587808" y="3262662"/>
            <a:ext cx="1564293" cy="354653"/>
          </a:xfrm>
          <a:prstGeom prst="rect">
            <a:avLst/>
          </a:prstGeom>
          <a:solidFill>
            <a:srgbClr val="FFFF00"/>
          </a:solidFill>
          <a:ln>
            <a:noFill/>
          </a:ln>
          <a:effec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9" name="Line 7"/>
          <p:cNvSpPr>
            <a:spLocks noChangeShapeType="1"/>
          </p:cNvSpPr>
          <p:nvPr/>
        </p:nvSpPr>
        <p:spPr bwMode="auto">
          <a:xfrm>
            <a:off x="6237097" y="2834269"/>
            <a:ext cx="59695" cy="642591"/>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0" name="AutoShape 8"/>
          <p:cNvSpPr>
            <a:spLocks noChangeArrowheads="1"/>
          </p:cNvSpPr>
          <p:nvPr/>
        </p:nvSpPr>
        <p:spPr bwMode="auto">
          <a:xfrm>
            <a:off x="5136985" y="4062609"/>
            <a:ext cx="904131" cy="840109"/>
          </a:xfrm>
          <a:prstGeom prst="irregularSeal2">
            <a:avLst/>
          </a:prstGeom>
          <a:solidFill>
            <a:srgbClr val="00FFFF"/>
          </a:solidFill>
          <a:ln w="9525">
            <a:solidFill>
              <a:srgbClr val="000000"/>
            </a:solidFill>
            <a:miter lim="800000"/>
          </a:ln>
          <a:effec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11" name="Line 9"/>
          <p:cNvSpPr>
            <a:spLocks noChangeShapeType="1"/>
          </p:cNvSpPr>
          <p:nvPr/>
        </p:nvSpPr>
        <p:spPr bwMode="auto">
          <a:xfrm>
            <a:off x="3517500" y="3828002"/>
            <a:ext cx="528469" cy="29671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2" name="Line 11"/>
          <p:cNvSpPr>
            <a:spLocks noChangeShapeType="1"/>
          </p:cNvSpPr>
          <p:nvPr/>
        </p:nvSpPr>
        <p:spPr bwMode="auto">
          <a:xfrm>
            <a:off x="1564982" y="2943123"/>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3" name="Line 12"/>
          <p:cNvSpPr>
            <a:spLocks noChangeShapeType="1"/>
          </p:cNvSpPr>
          <p:nvPr/>
        </p:nvSpPr>
        <p:spPr bwMode="auto">
          <a:xfrm>
            <a:off x="1564982" y="3273197"/>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4" name="Line 13"/>
          <p:cNvSpPr>
            <a:spLocks noChangeShapeType="1"/>
          </p:cNvSpPr>
          <p:nvPr/>
        </p:nvSpPr>
        <p:spPr bwMode="auto">
          <a:xfrm>
            <a:off x="1564982" y="3603270"/>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5" name="Line 14"/>
          <p:cNvSpPr>
            <a:spLocks noChangeShapeType="1"/>
          </p:cNvSpPr>
          <p:nvPr/>
        </p:nvSpPr>
        <p:spPr bwMode="auto">
          <a:xfrm>
            <a:off x="1564982" y="3936855"/>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6" name="Line 16"/>
          <p:cNvSpPr>
            <a:spLocks noChangeShapeType="1"/>
          </p:cNvSpPr>
          <p:nvPr/>
        </p:nvSpPr>
        <p:spPr bwMode="auto">
          <a:xfrm>
            <a:off x="9186693" y="3041442"/>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7" name="Line 17"/>
          <p:cNvSpPr>
            <a:spLocks noChangeShapeType="1"/>
          </p:cNvSpPr>
          <p:nvPr/>
        </p:nvSpPr>
        <p:spPr bwMode="auto">
          <a:xfrm>
            <a:off x="9186693" y="3371517"/>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8" name="Line 18"/>
          <p:cNvSpPr>
            <a:spLocks noChangeShapeType="1"/>
          </p:cNvSpPr>
          <p:nvPr/>
        </p:nvSpPr>
        <p:spPr bwMode="auto">
          <a:xfrm>
            <a:off x="9186693" y="3701590"/>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9" name="Line 19"/>
          <p:cNvSpPr>
            <a:spLocks noChangeShapeType="1"/>
          </p:cNvSpPr>
          <p:nvPr/>
        </p:nvSpPr>
        <p:spPr bwMode="auto">
          <a:xfrm>
            <a:off x="9186693" y="4035175"/>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20" name="Text Box 20"/>
          <p:cNvSpPr txBox="1">
            <a:spLocks noChangeArrowheads="1"/>
          </p:cNvSpPr>
          <p:nvPr/>
        </p:nvSpPr>
        <p:spPr bwMode="auto">
          <a:xfrm>
            <a:off x="3341927" y="2709173"/>
            <a:ext cx="58392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H</a:t>
            </a:r>
            <a:r>
              <a:rPr lang="en-US" altLang="zh-CN" sz="2100" b="1" kern="0" baseline="-25000" dirty="0">
                <a:latin typeface="微软雅黑" panose="020B0503020204020204" pitchFamily="34" charset="-122"/>
                <a:ea typeface="微软雅黑" panose="020B0503020204020204" pitchFamily="34" charset="-122"/>
              </a:rPr>
              <a:t>1</a:t>
            </a:r>
          </a:p>
        </p:txBody>
      </p:sp>
      <p:sp>
        <p:nvSpPr>
          <p:cNvPr id="21" name="Line 22"/>
          <p:cNvSpPr>
            <a:spLocks noChangeShapeType="1"/>
          </p:cNvSpPr>
          <p:nvPr/>
        </p:nvSpPr>
        <p:spPr bwMode="auto">
          <a:xfrm>
            <a:off x="4397110" y="4124717"/>
            <a:ext cx="1671437" cy="69350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2" name="Line 23"/>
          <p:cNvSpPr>
            <a:spLocks noChangeShapeType="1"/>
          </p:cNvSpPr>
          <p:nvPr/>
        </p:nvSpPr>
        <p:spPr bwMode="auto">
          <a:xfrm flipV="1">
            <a:off x="4309325" y="3627851"/>
            <a:ext cx="1936551" cy="49686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3" name="Line 24"/>
          <p:cNvSpPr>
            <a:spLocks noChangeShapeType="1"/>
          </p:cNvSpPr>
          <p:nvPr/>
        </p:nvSpPr>
        <p:spPr bwMode="auto">
          <a:xfrm>
            <a:off x="6419690" y="3627851"/>
            <a:ext cx="1585408" cy="59518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4" name="Line 25"/>
          <p:cNvSpPr>
            <a:spLocks noChangeShapeType="1"/>
          </p:cNvSpPr>
          <p:nvPr/>
        </p:nvSpPr>
        <p:spPr bwMode="auto">
          <a:xfrm flipV="1">
            <a:off x="6245875" y="4323113"/>
            <a:ext cx="1759224" cy="49511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5" name="Line 26"/>
          <p:cNvSpPr>
            <a:spLocks noChangeShapeType="1"/>
          </p:cNvSpPr>
          <p:nvPr/>
        </p:nvSpPr>
        <p:spPr bwMode="auto">
          <a:xfrm flipV="1">
            <a:off x="8091129" y="3828002"/>
            <a:ext cx="704041" cy="39503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6" name="Text Box 28"/>
          <p:cNvSpPr txBox="1">
            <a:spLocks noChangeArrowheads="1"/>
          </p:cNvSpPr>
          <p:nvPr/>
        </p:nvSpPr>
        <p:spPr bwMode="auto">
          <a:xfrm>
            <a:off x="8399021" y="2709174"/>
            <a:ext cx="664899" cy="4506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 H</a:t>
            </a:r>
            <a:r>
              <a:rPr lang="en-US" altLang="zh-CN" sz="2100" b="1" kern="0" baseline="-25000" dirty="0">
                <a:latin typeface="微软雅黑" panose="020B0503020204020204" pitchFamily="34" charset="-122"/>
                <a:ea typeface="微软雅黑" panose="020B0503020204020204" pitchFamily="34" charset="-122"/>
              </a:rPr>
              <a:t>2</a:t>
            </a:r>
          </a:p>
        </p:txBody>
      </p:sp>
      <p:sp>
        <p:nvSpPr>
          <p:cNvPr id="27" name="Line 30"/>
          <p:cNvSpPr>
            <a:spLocks noChangeShapeType="1"/>
          </p:cNvSpPr>
          <p:nvPr/>
        </p:nvSpPr>
        <p:spPr bwMode="auto">
          <a:xfrm flipV="1">
            <a:off x="4309326" y="2735949"/>
            <a:ext cx="1847009" cy="129044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331905" y="2735949"/>
            <a:ext cx="1759224" cy="138876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pic>
        <p:nvPicPr>
          <p:cNvPr id="29"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37114" y="3926322"/>
            <a:ext cx="635568" cy="395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0"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80763" y="3431211"/>
            <a:ext cx="637324" cy="396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1"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05191" y="4621583"/>
            <a:ext cx="635568" cy="395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39987" y="4026397"/>
            <a:ext cx="637324" cy="395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91222" y="2537553"/>
            <a:ext cx="637323" cy="395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4" name="Group 37"/>
          <p:cNvGrpSpPr/>
          <p:nvPr/>
        </p:nvGrpSpPr>
        <p:grpSpPr bwMode="auto">
          <a:xfrm rot="1386369">
            <a:off x="3605285" y="4024641"/>
            <a:ext cx="331829" cy="143968"/>
            <a:chOff x="2064" y="1776"/>
            <a:chExt cx="171" cy="66"/>
          </a:xfrm>
          <a:solidFill>
            <a:srgbClr val="CC00CC"/>
          </a:solidFill>
        </p:grpSpPr>
        <p:sp>
          <p:nvSpPr>
            <p:cNvPr id="35" name="Rectangle 38"/>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36" name="Line 39"/>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37" name="Group 40"/>
          <p:cNvGrpSpPr/>
          <p:nvPr/>
        </p:nvGrpSpPr>
        <p:grpSpPr bwMode="auto">
          <a:xfrm rot="20724003">
            <a:off x="6772589" y="4421433"/>
            <a:ext cx="331829" cy="143968"/>
            <a:chOff x="2064" y="1776"/>
            <a:chExt cx="171" cy="66"/>
          </a:xfrm>
          <a:solidFill>
            <a:srgbClr val="CC00CC"/>
          </a:solidFill>
        </p:grpSpPr>
        <p:sp>
          <p:nvSpPr>
            <p:cNvPr id="38" name="Rectangle 41"/>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39" name="Line 42"/>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0" name="Group 43"/>
          <p:cNvGrpSpPr/>
          <p:nvPr/>
        </p:nvGrpSpPr>
        <p:grpSpPr bwMode="auto">
          <a:xfrm rot="20084499">
            <a:off x="8268456" y="3828002"/>
            <a:ext cx="331829" cy="143968"/>
            <a:chOff x="2064" y="1776"/>
            <a:chExt cx="171" cy="66"/>
          </a:xfrm>
          <a:solidFill>
            <a:srgbClr val="CC00CC"/>
          </a:solidFill>
        </p:grpSpPr>
        <p:sp>
          <p:nvSpPr>
            <p:cNvPr id="41" name="Rectangle 44"/>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42" name="Line 45"/>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3" name="Group 46"/>
          <p:cNvGrpSpPr/>
          <p:nvPr/>
        </p:nvGrpSpPr>
        <p:grpSpPr bwMode="auto">
          <a:xfrm rot="19662556">
            <a:off x="5013366" y="3132739"/>
            <a:ext cx="331829" cy="143968"/>
            <a:chOff x="2064" y="1776"/>
            <a:chExt cx="171" cy="66"/>
          </a:xfrm>
          <a:solidFill>
            <a:srgbClr val="CC00CC"/>
          </a:solidFill>
        </p:grpSpPr>
        <p:sp>
          <p:nvSpPr>
            <p:cNvPr id="44" name="Rectangle 47"/>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45" name="Line 48"/>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6" name="Group 49"/>
          <p:cNvGrpSpPr/>
          <p:nvPr/>
        </p:nvGrpSpPr>
        <p:grpSpPr bwMode="auto">
          <a:xfrm rot="2078388">
            <a:off x="6860374" y="3032664"/>
            <a:ext cx="331829" cy="145724"/>
            <a:chOff x="2064" y="1776"/>
            <a:chExt cx="171" cy="66"/>
          </a:xfrm>
          <a:solidFill>
            <a:srgbClr val="CC00CC"/>
          </a:solidFill>
        </p:grpSpPr>
        <p:sp>
          <p:nvSpPr>
            <p:cNvPr id="47" name="Rectangle 50"/>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48" name="Line 51"/>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9" name="Group 52"/>
          <p:cNvGrpSpPr/>
          <p:nvPr/>
        </p:nvGrpSpPr>
        <p:grpSpPr bwMode="auto">
          <a:xfrm rot="1117181">
            <a:off x="5452294" y="4421433"/>
            <a:ext cx="331829" cy="143968"/>
            <a:chOff x="2064" y="1776"/>
            <a:chExt cx="171" cy="66"/>
          </a:xfrm>
          <a:solidFill>
            <a:srgbClr val="CC00CC"/>
          </a:solidFill>
        </p:grpSpPr>
        <p:sp>
          <p:nvSpPr>
            <p:cNvPr id="50" name="Rectangle 53"/>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51" name="Line 54"/>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52" name="Group 55"/>
          <p:cNvGrpSpPr/>
          <p:nvPr/>
        </p:nvGrpSpPr>
        <p:grpSpPr bwMode="auto">
          <a:xfrm rot="20669726">
            <a:off x="5561148" y="3529530"/>
            <a:ext cx="330073" cy="143968"/>
            <a:chOff x="2064" y="1776"/>
            <a:chExt cx="171" cy="66"/>
          </a:xfrm>
          <a:solidFill>
            <a:srgbClr val="CC00CC"/>
          </a:solidFill>
        </p:grpSpPr>
        <p:sp>
          <p:nvSpPr>
            <p:cNvPr id="53" name="Rectangle 56"/>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54" name="Line 57"/>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55" name="Group 58"/>
          <p:cNvGrpSpPr/>
          <p:nvPr/>
        </p:nvGrpSpPr>
        <p:grpSpPr bwMode="auto">
          <a:xfrm rot="1197535">
            <a:off x="4750009" y="4124717"/>
            <a:ext cx="331829" cy="143968"/>
            <a:chOff x="2064" y="1776"/>
            <a:chExt cx="171" cy="66"/>
          </a:xfrm>
          <a:solidFill>
            <a:srgbClr val="CC00CC"/>
          </a:solidFill>
        </p:grpSpPr>
        <p:sp>
          <p:nvSpPr>
            <p:cNvPr id="56" name="Rectangle 59"/>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57" name="Line 60"/>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sp>
        <p:nvSpPr>
          <p:cNvPr id="58" name="Line 61"/>
          <p:cNvSpPr>
            <a:spLocks noChangeShapeType="1"/>
          </p:cNvSpPr>
          <p:nvPr/>
        </p:nvSpPr>
        <p:spPr bwMode="auto">
          <a:xfrm>
            <a:off x="2786958" y="3529531"/>
            <a:ext cx="774432" cy="536252"/>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grpSp>
        <p:nvGrpSpPr>
          <p:cNvPr id="59" name="Group 62"/>
          <p:cNvGrpSpPr/>
          <p:nvPr/>
        </p:nvGrpSpPr>
        <p:grpSpPr bwMode="auto">
          <a:xfrm rot="1022761">
            <a:off x="7035946" y="3726170"/>
            <a:ext cx="331829" cy="143968"/>
            <a:chOff x="2064" y="1776"/>
            <a:chExt cx="171" cy="66"/>
          </a:xfrm>
          <a:solidFill>
            <a:srgbClr val="CC00CC"/>
          </a:solidFill>
        </p:grpSpPr>
        <p:sp>
          <p:nvSpPr>
            <p:cNvPr id="60" name="Rectangle 63"/>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61" name="Line 64"/>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sp>
        <p:nvSpPr>
          <p:cNvPr id="62" name="Line 65"/>
          <p:cNvSpPr>
            <a:spLocks noChangeShapeType="1"/>
          </p:cNvSpPr>
          <p:nvPr/>
        </p:nvSpPr>
        <p:spPr bwMode="auto">
          <a:xfrm flipV="1">
            <a:off x="8268456" y="3529531"/>
            <a:ext cx="1144724" cy="791825"/>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63" name="Text Box 66"/>
          <p:cNvSpPr txBox="1">
            <a:spLocks noChangeArrowheads="1"/>
          </p:cNvSpPr>
          <p:nvPr/>
        </p:nvSpPr>
        <p:spPr bwMode="auto">
          <a:xfrm>
            <a:off x="4226807" y="2714881"/>
            <a:ext cx="141962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IP </a:t>
            </a:r>
            <a:r>
              <a:rPr lang="zh-CN" altLang="en-US" sz="2100" kern="0" dirty="0">
                <a:latin typeface="微软雅黑" panose="020B0503020204020204" pitchFamily="34" charset="-122"/>
                <a:ea typeface="微软雅黑" panose="020B0503020204020204" pitchFamily="34" charset="-122"/>
              </a:rPr>
              <a:t>数据报</a:t>
            </a:r>
            <a:endParaRPr lang="zh-CN" altLang="en-US" sz="2100" kern="0" baseline="-25000" dirty="0">
              <a:latin typeface="微软雅黑" panose="020B0503020204020204" pitchFamily="34" charset="-122"/>
              <a:ea typeface="微软雅黑" panose="020B0503020204020204" pitchFamily="34" charset="-122"/>
            </a:endParaRPr>
          </a:p>
        </p:txBody>
      </p:sp>
      <p:sp>
        <p:nvSpPr>
          <p:cNvPr id="64" name="Text Box 67"/>
          <p:cNvSpPr txBox="1">
            <a:spLocks noChangeArrowheads="1"/>
          </p:cNvSpPr>
          <p:nvPr/>
        </p:nvSpPr>
        <p:spPr bwMode="auto">
          <a:xfrm>
            <a:off x="5875420" y="4100137"/>
            <a:ext cx="79338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zh-CN" altLang="en-US" sz="2100" kern="0" dirty="0">
                <a:latin typeface="微软雅黑" panose="020B0503020204020204" pitchFamily="34" charset="-122"/>
                <a:ea typeface="微软雅黑" panose="020B0503020204020204" pitchFamily="34" charset="-122"/>
              </a:rPr>
              <a:t>丢失</a:t>
            </a:r>
          </a:p>
        </p:txBody>
      </p:sp>
      <p:grpSp>
        <p:nvGrpSpPr>
          <p:cNvPr id="65" name="Group 68"/>
          <p:cNvGrpSpPr/>
          <p:nvPr/>
        </p:nvGrpSpPr>
        <p:grpSpPr bwMode="auto">
          <a:xfrm rot="5035623">
            <a:off x="6200228" y="3099381"/>
            <a:ext cx="373967" cy="128167"/>
            <a:chOff x="2064" y="1776"/>
            <a:chExt cx="171" cy="66"/>
          </a:xfrm>
          <a:solidFill>
            <a:srgbClr val="CC00CC"/>
          </a:solidFill>
        </p:grpSpPr>
        <p:sp>
          <p:nvSpPr>
            <p:cNvPr id="66" name="Rectangle 69"/>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67" name="Line 70"/>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sp>
        <p:nvSpPr>
          <p:cNvPr id="68" name="Text Box 5"/>
          <p:cNvSpPr txBox="1">
            <a:spLocks noChangeArrowheads="1"/>
          </p:cNvSpPr>
          <p:nvPr/>
        </p:nvSpPr>
        <p:spPr bwMode="auto">
          <a:xfrm>
            <a:off x="1472644" y="2588908"/>
            <a:ext cx="1858724" cy="174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2000" kern="0" dirty="0">
                <a:latin typeface="微软雅黑" panose="020B0503020204020204" pitchFamily="34" charset="-122"/>
                <a:ea typeface="微软雅黑" panose="020B0503020204020204" pitchFamily="34" charset="-122"/>
              </a:rPr>
              <a:t>网络层</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p:txBody>
      </p:sp>
      <p:pic>
        <p:nvPicPr>
          <p:cNvPr id="6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28773" y="3106650"/>
            <a:ext cx="761800" cy="761800"/>
          </a:xfrm>
          <a:prstGeom prst="rect">
            <a:avLst/>
          </a:prstGeom>
          <a:noFill/>
          <a:extLst>
            <a:ext uri="{909E8E84-426E-40DD-AFC4-6F175D3DCCD1}">
              <a14:hiddenFill xmlns:a14="http://schemas.microsoft.com/office/drawing/2010/main">
                <a:solidFill>
                  <a:srgbClr val="FFFFFF"/>
                </a:solidFill>
              </a14:hiddenFill>
            </a:ext>
          </a:extLst>
        </p:spPr>
      </p:pic>
      <p:pic>
        <p:nvPicPr>
          <p:cNvPr id="7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71019" y="3106650"/>
            <a:ext cx="761800" cy="761800"/>
          </a:xfrm>
          <a:prstGeom prst="rect">
            <a:avLst/>
          </a:prstGeom>
          <a:noFill/>
          <a:extLst>
            <a:ext uri="{909E8E84-426E-40DD-AFC4-6F175D3DCCD1}">
              <a14:hiddenFill xmlns:a14="http://schemas.microsoft.com/office/drawing/2010/main">
                <a:solidFill>
                  <a:srgbClr val="FFFFFF"/>
                </a:solidFill>
              </a14:hiddenFill>
            </a:ext>
          </a:extLst>
        </p:spPr>
      </p:pic>
      <p:sp>
        <p:nvSpPr>
          <p:cNvPr id="71" name="Text Box 3"/>
          <p:cNvSpPr txBox="1">
            <a:spLocks noChangeArrowheads="1"/>
          </p:cNvSpPr>
          <p:nvPr/>
        </p:nvSpPr>
        <p:spPr bwMode="auto">
          <a:xfrm>
            <a:off x="9090841" y="2669671"/>
            <a:ext cx="1858724" cy="174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2000" kern="0" dirty="0">
                <a:latin typeface="微软雅黑" panose="020B0503020204020204" pitchFamily="34" charset="-122"/>
                <a:ea typeface="微软雅黑" panose="020B0503020204020204" pitchFamily="34" charset="-122"/>
              </a:rPr>
              <a:t>网络层</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p:txBody>
      </p:sp>
      <p:sp>
        <p:nvSpPr>
          <p:cNvPr id="72" name="Text Box 38"/>
          <p:cNvSpPr txBox="1">
            <a:spLocks noChangeArrowheads="1"/>
          </p:cNvSpPr>
          <p:nvPr/>
        </p:nvSpPr>
        <p:spPr bwMode="auto">
          <a:xfrm>
            <a:off x="3408368" y="5373469"/>
            <a:ext cx="5375826" cy="738660"/>
          </a:xfrm>
          <a:prstGeom prst="rect">
            <a:avLst/>
          </a:prstGeom>
          <a:noFill/>
          <a:ln w="9525">
            <a:solidFill>
              <a:srgbClr val="3333CC"/>
            </a:solidFill>
            <a:miter lim="800000"/>
          </a:ln>
          <a:effectLst/>
        </p:spPr>
        <p:txBody>
          <a:bodyPr wrap="none" lIns="121917" tIns="60958" rIns="121917" bIns="60958">
            <a:spAutoFit/>
          </a:bodyPr>
          <a:lstStyle/>
          <a:p>
            <a:pPr lvl="0" algn="ctr">
              <a:defRPr/>
            </a:pPr>
            <a:r>
              <a:rPr lang="en-US" altLang="zh-CN" sz="2000" kern="0" dirty="0">
                <a:latin typeface="微软雅黑" panose="020B0503020204020204" pitchFamily="34" charset="-122"/>
                <a:ea typeface="微软雅黑" panose="020B0503020204020204" pitchFamily="34" charset="-122"/>
              </a:rPr>
              <a:t>H1 </a:t>
            </a:r>
            <a:r>
              <a:rPr lang="zh-CN" altLang="en-US" sz="2000" kern="0" dirty="0">
                <a:latin typeface="微软雅黑" panose="020B0503020204020204" pitchFamily="34" charset="-122"/>
                <a:ea typeface="微软雅黑" panose="020B0503020204020204" pitchFamily="34" charset="-122"/>
              </a:rPr>
              <a:t>发送给 </a:t>
            </a:r>
            <a:r>
              <a:rPr lang="en-US" altLang="zh-CN" sz="2000" kern="0" dirty="0">
                <a:latin typeface="微软雅黑" panose="020B0503020204020204" pitchFamily="34" charset="-122"/>
                <a:ea typeface="微软雅黑" panose="020B0503020204020204" pitchFamily="34" charset="-122"/>
              </a:rPr>
              <a:t>H2 </a:t>
            </a:r>
            <a:r>
              <a:rPr lang="zh-CN" altLang="en-US" sz="2000" kern="0" dirty="0">
                <a:latin typeface="微软雅黑" panose="020B0503020204020204" pitchFamily="34" charset="-122"/>
                <a:ea typeface="微软雅黑" panose="020B0503020204020204" pitchFamily="34" charset="-122"/>
              </a:rPr>
              <a:t>的分组可能沿着不同路径传送</a:t>
            </a:r>
            <a:endParaRPr lang="en-US" altLang="zh-CN" sz="2000" kern="0" dirty="0">
              <a:latin typeface="微软雅黑" panose="020B0503020204020204" pitchFamily="34" charset="-122"/>
              <a:ea typeface="微软雅黑" panose="020B0503020204020204" pitchFamily="34" charset="-122"/>
            </a:endParaRPr>
          </a:p>
          <a:p>
            <a:pPr lvl="0" algn="ctr">
              <a:defRPr/>
            </a:pPr>
            <a:r>
              <a:rPr lang="zh-CN" altLang="en-US" sz="2000" kern="0" dirty="0">
                <a:latin typeface="微软雅黑" panose="020B0503020204020204" pitchFamily="34" charset="-122"/>
                <a:ea typeface="微软雅黑" panose="020B0503020204020204" pitchFamily="34" charset="-122"/>
              </a:rPr>
              <a:t>在数据包分片的情况下，尽量还是沿相同路径</a:t>
            </a:r>
          </a:p>
        </p:txBody>
      </p:sp>
      <p:sp>
        <p:nvSpPr>
          <p:cNvPr id="73" name="日期占位符 72"/>
          <p:cNvSpPr>
            <a:spLocks noGrp="1"/>
          </p:cNvSpPr>
          <p:nvPr>
            <p:ph type="dt" sz="half" idx="10"/>
          </p:nvPr>
        </p:nvSpPr>
        <p:spPr/>
        <p:txBody>
          <a:bodyPr/>
          <a:lstStyle/>
          <a:p>
            <a:r>
              <a:rPr kumimoji="1" lang="en-US" altLang="zh-CN" dirty="0"/>
              <a:t>5.1.2 </a:t>
            </a:r>
            <a:r>
              <a:rPr kumimoji="1" lang="zh-CN" altLang="en-US" dirty="0"/>
              <a:t>无连接服务的实现</a:t>
            </a:r>
          </a:p>
        </p:txBody>
      </p:sp>
      <p:pic>
        <p:nvPicPr>
          <p:cNvPr id="74" name="Picture 28" descr="015">
            <a:extLst>
              <a:ext uri="{FF2B5EF4-FFF2-40B4-BE49-F238E27FC236}">
                <a16:creationId xmlns:a16="http://schemas.microsoft.com/office/drawing/2014/main" id="{372A3013-6DDC-4217-824E-7ECC40FE1D6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58183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6"/>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9"/>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0"/>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1"/>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2"/>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3"/>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4"/>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7"/>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40"/>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43"/>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46"/>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49"/>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52"/>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55"/>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58"/>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59"/>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62"/>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63"/>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64"/>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65"/>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68"/>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69"/>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70"/>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71"/>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ldLvl="0" animBg="1"/>
      <p:bldP spid="6" grpId="0" bldLvl="0" animBg="1"/>
      <p:bldP spid="7" grpId="0" bldLvl="0" animBg="1"/>
      <p:bldP spid="8" grpId="0" bldLvl="0" animBg="1"/>
      <p:bldP spid="9" grpId="0" bldLvl="0" animBg="1"/>
      <p:bldP spid="10" grpId="0" bldLvl="0" animBg="1"/>
      <p:bldP spid="11" grpId="0" bldLvl="0" animBg="1"/>
      <p:bldP spid="12" grpId="0" bldLvl="0" animBg="1"/>
      <p:bldP spid="13" grpId="0" bldLvl="0" animBg="1"/>
      <p:bldP spid="14" grpId="0" bldLvl="0" animBg="1"/>
      <p:bldP spid="15" grpId="0" bldLvl="0" animBg="1"/>
      <p:bldP spid="16" grpId="0" bldLvl="0" animBg="1"/>
      <p:bldP spid="17" grpId="0" bldLvl="0" animBg="1"/>
      <p:bldP spid="18" grpId="0" bldLvl="0" animBg="1"/>
      <p:bldP spid="19" grpId="0" bldLvl="0" animBg="1"/>
      <p:bldP spid="20" grpId="0" bldLvl="0" animBg="1"/>
      <p:bldP spid="21" grpId="0" bldLvl="0" animBg="1"/>
      <p:bldP spid="22" grpId="0" bldLvl="0" animBg="1"/>
      <p:bldP spid="23" grpId="0" bldLvl="0" animBg="1"/>
      <p:bldP spid="24" grpId="0" bldLvl="0" animBg="1"/>
      <p:bldP spid="25" grpId="0" bldLvl="0" animBg="1"/>
      <p:bldP spid="26" grpId="0" bldLvl="0" animBg="1"/>
      <p:bldP spid="27" grpId="0" bldLvl="0" animBg="1"/>
      <p:bldP spid="28" grpId="0" bldLvl="0" animBg="1"/>
      <p:bldP spid="58" grpId="0" bldLvl="0" animBg="1"/>
      <p:bldP spid="62" grpId="0" bldLvl="0" animBg="1"/>
      <p:bldP spid="63" grpId="0" bldLvl="0" animBg="1"/>
      <p:bldP spid="64" grpId="0" bldLvl="0" animBg="1"/>
      <p:bldP spid="68" grpId="0" bldLvl="0" animBg="1"/>
      <p:bldP spid="71" grpId="0" bldLvl="0" animBg="1"/>
      <p:bldP spid="72" grpId="0" bldLvl="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996950" y="2149475"/>
            <a:ext cx="10153650" cy="3000375"/>
            <a:chOff x="1570" y="3369"/>
            <a:chExt cx="15990" cy="4725"/>
          </a:xfrm>
        </p:grpSpPr>
        <p:grpSp>
          <p:nvGrpSpPr>
            <p:cNvPr id="55" name="组合 54"/>
            <p:cNvGrpSpPr/>
            <p:nvPr/>
          </p:nvGrpSpPr>
          <p:grpSpPr>
            <a:xfrm>
              <a:off x="1570" y="3369"/>
              <a:ext cx="1933" cy="3057"/>
              <a:chOff x="357711" y="2619024"/>
              <a:chExt cx="1227578" cy="1940916"/>
            </a:xfrm>
          </p:grpSpPr>
          <p:sp>
            <p:nvSpPr>
              <p:cNvPr id="56" name="矩形 5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矩形 56"/>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8" name="矩形 57"/>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9" name="矩形 58"/>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61" name="矩形 60"/>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63" name="矩形 62"/>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64" name="矩形 63"/>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65" name="组合 64"/>
            <p:cNvGrpSpPr/>
            <p:nvPr/>
          </p:nvGrpSpPr>
          <p:grpSpPr>
            <a:xfrm>
              <a:off x="15627" y="3543"/>
              <a:ext cx="1933" cy="3057"/>
              <a:chOff x="357711" y="2619024"/>
              <a:chExt cx="1227578" cy="1940916"/>
            </a:xfrm>
          </p:grpSpPr>
          <p:sp>
            <p:nvSpPr>
              <p:cNvPr id="66" name="矩形 6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矩形 67"/>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0" name="矩形 69"/>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3" name="矩形 72"/>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6" name="矩形 75"/>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7" name="矩形 76"/>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8" name="矩形 77"/>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79" name="组合 78"/>
            <p:cNvGrpSpPr/>
            <p:nvPr/>
          </p:nvGrpSpPr>
          <p:grpSpPr>
            <a:xfrm>
              <a:off x="3333" y="3816"/>
              <a:ext cx="12445" cy="4278"/>
              <a:chOff x="1280664" y="3160857"/>
              <a:chExt cx="9581222" cy="3333678"/>
            </a:xfrm>
          </p:grpSpPr>
          <p:grpSp>
            <p:nvGrpSpPr>
              <p:cNvPr id="80" name="组合 79"/>
              <p:cNvGrpSpPr/>
              <p:nvPr/>
            </p:nvGrpSpPr>
            <p:grpSpPr>
              <a:xfrm>
                <a:off x="1546275" y="3160857"/>
                <a:ext cx="9041239" cy="2843922"/>
                <a:chOff x="1546275" y="3160857"/>
                <a:chExt cx="9041239" cy="2843922"/>
              </a:xfrm>
            </p:grpSpPr>
            <p:cxnSp>
              <p:nvCxnSpPr>
                <p:cNvPr id="81" name="直接连接符 80"/>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82" name="直接连接符 81"/>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84" name="直接连接符 83"/>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85" name="直接连接符 84"/>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86" name="直接连接符 85"/>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87" name="直接连接符 86"/>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88" name="直接连接符 87"/>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89" name="直接连接符 88"/>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90"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97" name="文本框 96"/>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98" name="文本框 97"/>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99" name="文本框 98"/>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100" name="文本框 99"/>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01" name="文本框 100"/>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102" name="文本框 101"/>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103" name="文本框 102"/>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normAutofit/>
          </a:bodyPr>
          <a:lstStyle/>
          <a:p>
            <a:r>
              <a:rPr kumimoji="1" lang="zh-CN" altLang="en-US" dirty="0"/>
              <a:t>无连接的数据报</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11</a:t>
            </a:fld>
            <a:endParaRPr kumimoji="1" lang="zh-CN" altLang="en-US" dirty="0"/>
          </a:p>
        </p:txBody>
      </p:sp>
      <p:grpSp>
        <p:nvGrpSpPr>
          <p:cNvPr id="74" name="组合 73"/>
          <p:cNvGrpSpPr/>
          <p:nvPr/>
        </p:nvGrpSpPr>
        <p:grpSpPr>
          <a:xfrm>
            <a:off x="2406650" y="2592705"/>
            <a:ext cx="7208520" cy="2092325"/>
            <a:chOff x="1555630" y="2663153"/>
            <a:chExt cx="9022580" cy="2204325"/>
          </a:xfrm>
        </p:grpSpPr>
        <p:cxnSp>
          <p:nvCxnSpPr>
            <p:cNvPr id="71" name="直接箭头连接符 70"/>
            <p:cNvCxnSpPr/>
            <p:nvPr/>
          </p:nvCxnSpPr>
          <p:spPr>
            <a:xfrm>
              <a:off x="6877617" y="2663153"/>
              <a:ext cx="1026088" cy="624838"/>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2" name="直接箭头连接符 71"/>
            <p:cNvCxnSpPr/>
            <p:nvPr/>
          </p:nvCxnSpPr>
          <p:spPr>
            <a:xfrm>
              <a:off x="6528699" y="3539531"/>
              <a:ext cx="1243863" cy="0"/>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67" name="直接箭头连接符 66"/>
            <p:cNvCxnSpPr/>
            <p:nvPr/>
          </p:nvCxnSpPr>
          <p:spPr>
            <a:xfrm flipV="1">
              <a:off x="4297693" y="2725369"/>
              <a:ext cx="1437795" cy="528503"/>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69" name="直接箭头连接符 68"/>
            <p:cNvCxnSpPr/>
            <p:nvPr/>
          </p:nvCxnSpPr>
          <p:spPr>
            <a:xfrm>
              <a:off x="4414119" y="3530514"/>
              <a:ext cx="1204987" cy="8483"/>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21" name="直接箭头连接符 20"/>
            <p:cNvCxnSpPr/>
            <p:nvPr/>
          </p:nvCxnSpPr>
          <p:spPr>
            <a:xfrm>
              <a:off x="1555630" y="3249858"/>
              <a:ext cx="1990976" cy="624169"/>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47" name="直接箭头连接符 46"/>
            <p:cNvCxnSpPr/>
            <p:nvPr/>
          </p:nvCxnSpPr>
          <p:spPr>
            <a:xfrm>
              <a:off x="4187216" y="4164135"/>
              <a:ext cx="1180279" cy="703343"/>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48" name="直接箭头连接符 47"/>
            <p:cNvCxnSpPr/>
            <p:nvPr/>
          </p:nvCxnSpPr>
          <p:spPr>
            <a:xfrm flipV="1">
              <a:off x="6422196" y="4159285"/>
              <a:ext cx="1224788" cy="645828"/>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49" name="直接箭头连接符 48"/>
            <p:cNvCxnSpPr/>
            <p:nvPr/>
          </p:nvCxnSpPr>
          <p:spPr>
            <a:xfrm flipV="1">
              <a:off x="8545109" y="3358929"/>
              <a:ext cx="2033101" cy="48991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pSp>
      <p:sp>
        <p:nvSpPr>
          <p:cNvPr id="50" name="矩形 49"/>
          <p:cNvSpPr/>
          <p:nvPr/>
        </p:nvSpPr>
        <p:spPr>
          <a:xfrm>
            <a:off x="3790104" y="3266506"/>
            <a:ext cx="189902" cy="317060"/>
          </a:xfrm>
          <a:prstGeom prst="rect">
            <a:avLst/>
          </a:prstGeom>
          <a:solidFill>
            <a:srgbClr val="FAF4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1</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1" name="矩形 50"/>
          <p:cNvSpPr/>
          <p:nvPr/>
        </p:nvSpPr>
        <p:spPr>
          <a:xfrm>
            <a:off x="3456032" y="3149605"/>
            <a:ext cx="189902" cy="317060"/>
          </a:xfrm>
          <a:prstGeom prst="rect">
            <a:avLst/>
          </a:prstGeom>
          <a:solidFill>
            <a:srgbClr val="E7D1E7"/>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2</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2" name="矩形 51"/>
          <p:cNvSpPr/>
          <p:nvPr/>
        </p:nvSpPr>
        <p:spPr>
          <a:xfrm>
            <a:off x="3143346" y="3012642"/>
            <a:ext cx="189902" cy="317060"/>
          </a:xfrm>
          <a:prstGeom prst="rect">
            <a:avLst/>
          </a:prstGeom>
          <a:solidFill>
            <a:srgbClr val="D9A9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3</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3" name="矩形 52"/>
          <p:cNvSpPr/>
          <p:nvPr/>
        </p:nvSpPr>
        <p:spPr>
          <a:xfrm>
            <a:off x="2824119" y="2868885"/>
            <a:ext cx="189902" cy="317060"/>
          </a:xfrm>
          <a:prstGeom prst="rect">
            <a:avLst/>
          </a:prstGeom>
          <a:solidFill>
            <a:srgbClr val="5C307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4</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75" name="文本框 74"/>
          <p:cNvSpPr txBox="1"/>
          <p:nvPr/>
        </p:nvSpPr>
        <p:spPr>
          <a:xfrm>
            <a:off x="8189726" y="2592895"/>
            <a:ext cx="697627"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失序</a:t>
            </a:r>
          </a:p>
        </p:txBody>
      </p:sp>
      <p:sp>
        <p:nvSpPr>
          <p:cNvPr id="60" name="日期占位符 9"/>
          <p:cNvSpPr>
            <a:spLocks noGrp="1"/>
          </p:cNvSpPr>
          <p:nvPr>
            <p:ph type="dt" sz="half" idx="10"/>
          </p:nvPr>
        </p:nvSpPr>
        <p:spPr>
          <a:xfrm>
            <a:off x="197485" y="6489065"/>
            <a:ext cx="3448685" cy="365125"/>
          </a:xfrm>
        </p:spPr>
        <p:txBody>
          <a:bodyPr/>
          <a:lstStyle/>
          <a:p>
            <a:r>
              <a:rPr kumimoji="1" lang="en-US" altLang="zh-CN" dirty="0"/>
              <a:t>5.1.4 </a:t>
            </a:r>
            <a:r>
              <a:rPr kumimoji="1" lang="zh-CN" altLang="en-US" dirty="0"/>
              <a:t>虚电路与数据报网络的比较</a:t>
            </a:r>
          </a:p>
        </p:txBody>
      </p:sp>
      <p:sp>
        <p:nvSpPr>
          <p:cNvPr id="54" name="文本框 53"/>
          <p:cNvSpPr txBox="1"/>
          <p:nvPr/>
        </p:nvSpPr>
        <p:spPr>
          <a:xfrm>
            <a:off x="1609090" y="5152390"/>
            <a:ext cx="9116695" cy="1087755"/>
          </a:xfrm>
          <a:prstGeom prst="rect">
            <a:avLst/>
          </a:prstGeom>
          <a:noFill/>
          <a:ln>
            <a:solidFill>
              <a:srgbClr val="5C307E"/>
            </a:solidFill>
          </a:ln>
        </p:spPr>
        <p:txBody>
          <a:bodyPr wrap="square" rtlCol="0">
            <a:spAutoFit/>
          </a:bodyPr>
          <a:lstStyle/>
          <a:p>
            <a:pPr algn="just">
              <a:lnSpc>
                <a:spcPct val="120000"/>
              </a:lnSpc>
            </a:pPr>
            <a:r>
              <a:rPr kumimoji="1" lang="zh-CN" altLang="en-US" dirty="0">
                <a:latin typeface="微软雅黑" panose="020B0503020204020204" pitchFamily="34" charset="-122"/>
                <a:ea typeface="微软雅黑" panose="020B0503020204020204" pitchFamily="34" charset="-122"/>
              </a:rPr>
              <a:t>无连接的方法允许分组有选择不同路径的可能性，但这样可能会导致接收数据的失序；</a:t>
            </a:r>
            <a:endParaRPr kumimoji="1" lang="en-US" altLang="zh-CN" dirty="0">
              <a:latin typeface="微软雅黑" panose="020B0503020204020204" pitchFamily="34" charset="-122"/>
              <a:ea typeface="微软雅黑" panose="020B0503020204020204" pitchFamily="34" charset="-122"/>
            </a:endParaRPr>
          </a:p>
          <a:p>
            <a:pPr algn="just">
              <a:lnSpc>
                <a:spcPct val="120000"/>
              </a:lnSpc>
            </a:pPr>
            <a:r>
              <a:rPr kumimoji="1" lang="zh-CN" altLang="en-US" dirty="0">
                <a:latin typeface="微软雅黑" panose="020B0503020204020204" pitchFamily="34" charset="-122"/>
                <a:ea typeface="微软雅黑" panose="020B0503020204020204" pitchFamily="34" charset="-122"/>
              </a:rPr>
              <a:t>需要说明的是，为避免增加额外的开销进行数据排序，网络并不会完全随意地发送数据，</a:t>
            </a:r>
            <a:endParaRPr kumimoji="1" lang="en-US" altLang="zh-CN" dirty="0">
              <a:latin typeface="微软雅黑" panose="020B0503020204020204" pitchFamily="34" charset="-122"/>
              <a:ea typeface="微软雅黑" panose="020B0503020204020204" pitchFamily="34" charset="-122"/>
            </a:endParaRPr>
          </a:p>
          <a:p>
            <a:pPr marL="342900" indent="-342900" algn="just">
              <a:lnSpc>
                <a:spcPct val="120000"/>
              </a:lnSpc>
            </a:pPr>
            <a:r>
              <a:rPr kumimoji="1" lang="zh-CN" altLang="en-US" dirty="0">
                <a:latin typeface="微软雅黑" panose="020B0503020204020204" pitchFamily="34" charset="-122"/>
                <a:ea typeface="微软雅黑" panose="020B0503020204020204" pitchFamily="34" charset="-122"/>
              </a:rPr>
              <a:t>在大多数情况下，仍然是会尽量沿着某一条路径发送。</a:t>
            </a:r>
          </a:p>
        </p:txBody>
      </p:sp>
      <p:sp>
        <p:nvSpPr>
          <p:cNvPr id="62" name="内容占位符 2"/>
          <p:cNvSpPr txBox="1"/>
          <p:nvPr/>
        </p:nvSpPr>
        <p:spPr>
          <a:xfrm>
            <a:off x="838200" y="1417272"/>
            <a:ext cx="10515600" cy="873457"/>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kumimoji="1" lang="zh-CN" altLang="en-US" sz="2400" dirty="0">
                <a:solidFill>
                  <a:srgbClr val="C00000"/>
                </a:solidFill>
              </a:rPr>
              <a:t>数据报（</a:t>
            </a:r>
            <a:r>
              <a:rPr kumimoji="1" lang="en-US" altLang="zh-CN" sz="2400" dirty="0">
                <a:solidFill>
                  <a:srgbClr val="C00000"/>
                </a:solidFill>
              </a:rPr>
              <a:t>datagram</a:t>
            </a:r>
            <a:r>
              <a:rPr kumimoji="1" lang="zh-CN" altLang="en-US" sz="2400" dirty="0">
                <a:solidFill>
                  <a:srgbClr val="C00000"/>
                </a:solidFill>
              </a:rPr>
              <a:t>）</a:t>
            </a:r>
            <a:r>
              <a:rPr kumimoji="1" lang="zh-CN" altLang="en-US" sz="2400" dirty="0"/>
              <a:t>：无连接的方法</a:t>
            </a:r>
            <a:endParaRPr kumimoji="1" lang="en-US" altLang="zh-CN" sz="2400" dirty="0"/>
          </a:p>
        </p:txBody>
      </p:sp>
      <p:pic>
        <p:nvPicPr>
          <p:cNvPr id="104" name="Picture 28" descr="015">
            <a:extLst>
              <a:ext uri="{FF2B5EF4-FFF2-40B4-BE49-F238E27FC236}">
                <a16:creationId xmlns:a16="http://schemas.microsoft.com/office/drawing/2014/main" id="{EA18B33B-85CA-4D5A-A4D9-442E48FE2CB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62142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2000"/>
                                        <p:tgtEl>
                                          <p:spTgt spid="74"/>
                                        </p:tgtEl>
                                      </p:cBhvr>
                                    </p:animEffect>
                                  </p:childTnLst>
                                </p:cTn>
                              </p:par>
                              <p:par>
                                <p:cTn id="8" presetID="0" presetClass="path" presetSubtype="0" accel="50000" decel="50000" fill="hold" grpId="0" nodeType="withEffect">
                                  <p:stCondLst>
                                    <p:cond delay="0"/>
                                  </p:stCondLst>
                                  <p:childTnLst>
                                    <p:animMotion origin="layout" path="M 2.08333E-7 4.44444E-6 L 2.08333E-7 0.00023 C 0.00456 0.0155 0.00169 0.0125 0.00599 0.0155 C 0.0069 0.01689 0.00768 0.01805 0.00859 0.01944 C 0.00898 0.02013 0.00937 0.02129 0.00977 0.02199 C 0.01055 0.02314 0.01133 0.02361 0.01211 0.02453 C 0.01406 0.02685 0.01419 0.02847 0.01641 0.02847 L 0.15182 0.02986 C 0.16341 0.03472 0.1513 0.02986 0.17943 0.0324 C 0.18138 0.03263 0.1832 0.03333 0.18516 0.03379 L 0.29388 0.0324 C 0.29479 0.0324 0.29557 0.03148 0.29648 0.03101 C 0.29805 0.03055 0.29974 0.03032 0.30143 0.02986 L 0.30573 0.02847 C 0.30924 0.02592 0.30586 0.02824 0.3112 0.02592 C 0.32161 0.02152 0.31224 0.02384 0.32721 0.02199 C 0.32878 0.02152 0.33047 0.02129 0.33203 0.02083 C 0.33398 0.02013 0.33568 0.01875 0.3375 0.01805 C 0.33997 0.01736 0.34219 0.01736 0.3444 0.01689 C 0.34557 0.01666 0.34687 0.01597 0.34818 0.0155 C 0.34987 0.01504 0.35182 0.01481 0.35365 0.01435 C 0.35807 0.01111 0.3526 0.01504 0.35794 0.01157 C 0.35859 0.01134 0.35911 0.01064 0.3599 0.01041 C 0.36081 0.00995 0.36185 0.00972 0.36289 0.00902 C 0.36341 0.00879 0.36419 0.0081 0.36484 0.00787 C 0.36615 0.00717 0.36758 0.00694 0.36914 0.00648 C 0.37005 0.00625 0.37096 0.00555 0.37214 0.00532 C 0.37253 0.00439 0.37279 0.003 0.37344 0.00254 C 0.37773 -0.00116 0.37552 0.00463 0.38008 -0.00116 C 0.38125 -0.00255 0.38203 -0.00417 0.3832 -0.0051 C 0.38437 -0.00625 0.38568 -0.00695 0.38685 -0.00764 L 0.38867 -0.00903 C 0.38906 -0.00996 0.38932 -0.01088 0.38997 -0.01158 C 0.39102 -0.01274 0.39349 -0.01459 0.39492 -0.01551 C 0.39661 -0.01899 0.39544 -0.01806 0.39805 -0.01806 " pathEditMode="relative" rAng="0" ptsTypes="AAAAAAAAAAAAAAAAAAAAAAAAAAAAAAAAAAA">
                                      <p:cBhvr>
                                        <p:cTn id="9" dur="2600" fill="hold"/>
                                        <p:tgtEl>
                                          <p:spTgt spid="50"/>
                                        </p:tgtEl>
                                        <p:attrNameLst>
                                          <p:attrName>ppt_x</p:attrName>
                                          <p:attrName>ppt_y</p:attrName>
                                        </p:attrNameLst>
                                      </p:cBhvr>
                                      <p:rCtr x="19896" y="764"/>
                                    </p:animMotion>
                                  </p:childTnLst>
                                </p:cTn>
                              </p:par>
                              <p:par>
                                <p:cTn id="10" presetID="0" presetClass="path" presetSubtype="0" accel="50000" decel="50000" fill="hold" grpId="0" nodeType="withEffect">
                                  <p:stCondLst>
                                    <p:cond delay="400"/>
                                  </p:stCondLst>
                                  <p:childTnLst>
                                    <p:animMotion origin="layout" path="M 0.0026 -0.01227 L 0.0026 -0.01204 C 0.01393 -0.00047 0.00312 -0.0125 0.01185 -0.00047 C 0.01679 0.00602 0.01302 0.00023 0.0181 0.00532 C 0.0194 0.00671 0.02044 0.00926 0.02187 0.00995 L 0.02565 0.01227 C 0.02604 0.01319 0.02643 0.01435 0.02695 0.01481 C 0.04062 0.02754 0.02851 0.01551 0.03567 0.0206 C 0.03658 0.02129 0.03724 0.02268 0.03802 0.02291 C 0.04101 0.02407 0.04401 0.02453 0.04687 0.02546 C 0.05286 0.02477 0.05963 0.02523 0.06562 0.02176 C 0.06705 0.02106 0.0681 0.01944 0.0694 0.01828 C 0.0707 0.01713 0.072 0.0169 0.07304 0.01597 C 0.075 0.01458 0.07643 0.0125 0.07812 0.01111 C 0.07929 0.01041 0.08033 0.00972 0.08125 0.00879 C 0.08255 0.00764 0.08385 0.00625 0.08515 0.00532 C 0.08645 0.0044 0.08789 0.00393 0.08945 0.00301 C 0.09036 0.00231 0.09101 0.00115 0.09192 0.00046 C 0.09349 -0.00047 0.09687 -0.00139 0.09817 -0.00185 C 0.10169 -0.00625 0.09974 -0.00417 0.10638 -0.00764 C 0.11106 -0.01019 0.11093 -0.00972 0.11497 -0.01111 C 0.11653 -0.01227 0.11796 -0.01366 0.1194 -0.01482 C 0.12109 -0.01574 0.12291 -0.01597 0.12448 -0.01713 C 0.1263 -0.01829 0.12773 -0.02037 0.12955 -0.02176 C 0.13099 -0.02315 0.13242 -0.02431 0.13385 -0.02547 C 0.1358 -0.02685 0.13632 -0.02593 0.13828 -0.02778 C 0.14075 -0.0301 0.14336 -0.03241 0.1457 -0.03496 C 0.147 -0.03588 0.1483 -0.03704 0.14948 -0.0382 C 0.15924 -0.04931 0.14713 -0.03565 0.15507 -0.04422 C 0.15625 -0.04537 0.15716 -0.04676 0.1582 -0.04769 C 0.16237 -0.0507 0.16367 -0.04908 0.16757 -0.05232 C 0.16914 -0.05371 0.17044 -0.05579 0.172 -0.05718 C 0.17356 -0.05857 0.17539 -0.05926 0.17708 -0.06088 C 0.17877 -0.06204 0.18033 -0.06412 0.18203 -0.06551 C 0.18385 -0.0669 0.1858 -0.0676 0.18776 -0.06898 C 0.18893 -0.06991 0.1901 -0.07153 0.19127 -0.07269 C 0.19283 -0.07338 0.19427 -0.07408 0.19583 -0.075 C 0.19908 -0.07639 0.2026 -0.07755 0.20586 -0.07963 C 0.20872 -0.08125 0.21276 -0.08334 0.21588 -0.08542 C 0.21692 -0.08611 0.21783 -0.08704 0.21888 -0.08773 C 0.22031 -0.08866 0.22187 -0.08935 0.2233 -0.09005 C 0.22421 -0.09051 0.225 -0.09074 0.22578 -0.09144 C 0.22669 -0.0919 0.22747 -0.09306 0.22838 -0.09375 C 0.22981 -0.09468 0.23242 -0.09537 0.23398 -0.09607 C 0.23515 -0.09653 0.23645 -0.09769 0.23776 -0.09838 C 0.24557 -0.09699 0.25937 -0.09861 0.26823 -0.09005 C 0.26914 -0.08935 0.27408 -0.08264 0.27526 -0.08195 C 0.27682 -0.08079 0.27825 -0.0801 0.27968 -0.07824 C 0.28151 -0.0757 0.28333 -0.07269 0.28515 -0.07014 C 0.28645 -0.06852 0.28776 -0.06713 0.28906 -0.06551 C 0.28984 -0.06389 0.29049 -0.06204 0.29153 -0.06088 C 0.29231 -0.05972 0.29323 -0.05926 0.29401 -0.05834 C 0.29596 -0.05602 0.29791 -0.05371 0.29961 -0.05139 C 0.30065 -0.04954 0.30169 -0.04792 0.30273 -0.04676 C 0.3039 -0.04514 0.30533 -0.04445 0.30651 -0.04306 C 0.30807 -0.04097 0.30937 -0.0382 0.31093 -0.03588 C 0.31614 -0.02847 0.31302 -0.0338 0.31849 -0.02778 C 0.32278 -0.02292 0.31927 -0.0257 0.32278 -0.0206 C 0.3233 -0.01991 0.32877 -0.0132 0.32968 -0.01227 C 0.33073 -0.01158 0.33164 -0.01111 0.33281 -0.00996 C 0.34062 -0.00255 0.33242 -0.00972 0.33776 -0.00417 C 0.3427 0.00092 0.3414 2.59259E-6 0.34518 0.00185 C 0.34622 0.00301 0.347 0.0044 0.34791 0.00532 C 0.34856 0.00625 0.34948 0.00671 0.35039 0.00764 C 0.35455 0.01319 0.35 0.00995 0.3539 0.01227 C 0.35468 0.01319 0.35533 0.01412 0.35599 0.01481 C 0.35651 0.01528 0.35729 0.01528 0.35781 0.01597 C 0.35859 0.0169 0.35911 0.01828 0.35976 0.01944 C 0.3681 0.01921 0.3763 0.01944 0.38463 0.01828 C 0.3858 0.01805 0.39166 0.01435 0.39283 0.01365 C 0.40208 0.0081 0.39205 0.01435 0.40221 0.00879 C 0.41276 0.00301 0.40078 0.00903 0.40846 0.00532 C 0.4095 0.00416 0.41054 0.00254 0.41158 0.00185 C 0.41289 0.00092 0.41458 0.00092 0.41601 0.00046 C 0.41718 0.00023 0.41849 -0.00023 0.41979 -0.00047 C 0.42304 -0.00301 0.42395 -0.00417 0.42786 -0.00533 C 0.42994 -0.00602 0.43216 -0.00625 0.43411 -0.00648 C 0.43997 -0.01019 0.43567 -0.00787 0.44101 -0.00996 C 0.44283 -0.01088 0.44479 -0.01204 0.44661 -0.01227 C 0.44752 -0.0125 0.4483 -0.01227 0.44921 -0.01227 " pathEditMode="relative" rAng="0" ptsTypes="AAAAAAAAAAAAAAAAAAAAAAAAAAAAAAAAAAAAAAAAAAAAAAAAAAAAAAAAAAAAAAAAAAAAAAAAAAAAAAAA">
                                      <p:cBhvr>
                                        <p:cTn id="11" dur="2000" fill="hold"/>
                                        <p:tgtEl>
                                          <p:spTgt spid="51"/>
                                        </p:tgtEl>
                                        <p:attrNameLst>
                                          <p:attrName>ppt_x</p:attrName>
                                          <p:attrName>ppt_y</p:attrName>
                                        </p:attrNameLst>
                                      </p:cBhvr>
                                      <p:rCtr x="22331" y="-2431"/>
                                    </p:animMotion>
                                  </p:childTnLst>
                                </p:cTn>
                              </p:par>
                              <p:par>
                                <p:cTn id="12" presetID="0" presetClass="path" presetSubtype="0" accel="50000" decel="50000" fill="hold" grpId="0" nodeType="withEffect">
                                  <p:stCondLst>
                                    <p:cond delay="800"/>
                                  </p:stCondLst>
                                  <p:childTnLst>
                                    <p:animMotion origin="layout" path="M -0.0013 0.00092 C 0.00156 0.00162 0.00443 0.00185 0.0073 0.00324 C 0.00821 0.0037 0.00873 0.00579 0.00964 0.00648 C 0.01133 0.00833 0.01329 0.00972 0.01511 0.01134 C 0.02318 0.01829 0.0168 0.01389 0.02553 0.01944 C 0.02943 0.0243 0.03425 0.03055 0.03829 0.03333 C 0.04076 0.03495 0.04336 0.03588 0.04571 0.03796 C 0.04753 0.03958 0.04935 0.0412 0.05105 0.04259 C 0.0517 0.04305 0.05235 0.04329 0.053 0.04375 C 0.05717 0.04768 0.05222 0.04491 0.05717 0.04722 C 0.05847 0.04884 0.05964 0.05046 0.06094 0.05185 C 0.06224 0.05324 0.06381 0.05417 0.06524 0.05532 C 0.06641 0.05648 0.06771 0.05741 0.06889 0.05879 C 0.07071 0.06065 0.07253 0.06296 0.07435 0.06458 C 0.08321 0.07292 0.07396 0.06319 0.08347 0.07153 C 0.0849 0.07292 0.08633 0.07454 0.08777 0.07616 C 0.08868 0.07708 0.08933 0.07893 0.09011 0.07963 C 0.09089 0.08032 0.0918 0.08055 0.09271 0.08079 C 0.09428 0.08241 0.09584 0.08403 0.09753 0.08542 C 0.09896 0.0868 0.1004 0.0875 0.10183 0.08889 C 0.11784 0.10509 0.10118 0.08866 0.11107 0.10046 C 0.11211 0.10185 0.11355 0.10254 0.11459 0.10393 C 0.11589 0.10579 0.11706 0.1081 0.11836 0.10972 C 0.11902 0.11065 0.11993 0.11111 0.12071 0.11227 C 0.12188 0.11342 0.12266 0.11551 0.12383 0.11667 C 0.12527 0.11852 0.12722 0.11944 0.12865 0.12129 C 0.12995 0.12292 0.13099 0.12546 0.1323 0.12708 C 0.13555 0.13171 0.13933 0.13449 0.14206 0.13981 C 0.14727 0.14977 0.1448 0.14537 0.153 0.15833 C 0.15417 0.15995 0.15508 0.16134 0.15612 0.16319 C 0.15743 0.16504 0.15834 0.16736 0.15977 0.16898 C 0.16081 0.16991 0.16185 0.17106 0.1629 0.17245 C 0.16368 0.17361 0.16433 0.17569 0.16524 0.17708 C 0.16654 0.17893 0.16823 0.17986 0.16954 0.18148 C 0.17175 0.18449 0.17357 0.18796 0.17566 0.19097 C 0.17709 0.19282 0.17852 0.19467 0.17982 0.19676 C 0.18047 0.19722 0.1806 0.19838 0.18126 0.19884 C 0.18321 0.20139 0.18529 0.20324 0.18724 0.20602 C 0.18803 0.20694 0.18894 0.2081 0.18972 0.20949 C 0.19037 0.21065 0.19076 0.21204 0.19154 0.21273 C 0.19232 0.21389 0.19323 0.21435 0.19402 0.21528 C 0.19584 0.21713 0.19597 0.21852 0.19818 0.21991 C 0.19922 0.22037 0.20027 0.2206 0.20131 0.22106 C 0.20547 0.21898 0.20248 0.22129 0.20612 0.21528 C 0.20821 0.21204 0.20769 0.21412 0.20925 0.21065 C 0.20964 0.20949 0.21003 0.20833 0.21042 0.20694 C 0.2112 0.20509 0.21211 0.20324 0.2129 0.20116 C 0.21303 0.19977 0.21316 0.19815 0.21355 0.19676 C 0.21381 0.19537 0.21459 0.19467 0.21472 0.19305 C 0.21524 0.18773 0.21498 0.18241 0.21537 0.17708 C 0.21602 0.16528 0.21628 0.16157 0.21771 0.15162 C 0.21849 0.14606 0.21902 0.14051 0.22032 0.13518 C 0.22383 0.11805 0.21862 0.14352 0.22266 0.12129 C 0.2237 0.11504 0.22631 0.10278 0.22631 0.10301 C 0.22735 0.0912 0.22605 0.10023 0.22878 0.09004 C 0.23034 0.08449 0.22943 0.08426 0.23178 0.07963 C 0.23399 0.07546 0.23594 0.07685 0.2392 0.07616 C 0.24154 0.07546 0.24389 0.07384 0.24649 0.07384 L 0.28737 0.07268 L 0.3142 0.07153 C 0.31667 0.07083 0.31902 0.06967 0.32149 0.06921 C 0.32474 0.06852 0.32813 0.06852 0.33126 0.06805 L 0.33985 0.0669 C 0.35105 0.06088 0.33425 0.06944 0.35508 0.06227 C 0.36342 0.05926 0.35951 0.06042 0.36667 0.05879 C 0.36745 0.05833 0.36836 0.05787 0.36915 0.05764 C 0.3724 0.05648 0.37422 0.05625 0.37761 0.05532 C 0.38204 0.05417 0.38672 0.05347 0.39102 0.05185 C 0.39558 0.05 0.3931 0.05092 0.39844 0.0493 C 0.40196 0.04606 0.40001 0.04722 0.40456 0.04722 " pathEditMode="relative" rAng="0" ptsTypes="AAAAAAAAAAAAAAAAAAAAAAAAAAAAAAAAAAAAAAAAAAAAAAAAAAAAAAAAAAAAAAAAAAAAAA">
                                      <p:cBhvr>
                                        <p:cTn id="13" dur="2700" fill="hold"/>
                                        <p:tgtEl>
                                          <p:spTgt spid="52"/>
                                        </p:tgtEl>
                                        <p:attrNameLst>
                                          <p:attrName>ppt_x</p:attrName>
                                          <p:attrName>ppt_y</p:attrName>
                                        </p:attrNameLst>
                                      </p:cBhvr>
                                      <p:rCtr x="20286" y="10995"/>
                                    </p:animMotion>
                                  </p:childTnLst>
                                </p:cTn>
                              </p:par>
                              <p:par>
                                <p:cTn id="14" presetID="0" presetClass="path" presetSubtype="0" accel="50000" decel="50000" fill="hold" grpId="0" nodeType="withEffect">
                                  <p:stCondLst>
                                    <p:cond delay="1100"/>
                                  </p:stCondLst>
                                  <p:childTnLst>
                                    <p:animMotion origin="layout" path="M -0.0013 -0.00996 L -0.0013 -0.00973 C 0.00118 -0.00811 0.00352 -0.00602 0.00612 -0.00417 C 0.0069 -0.00325 0.00769 -0.00232 0.0086 -0.00139 C 0.01094 0.00046 0.01354 0.00254 0.01602 0.00462 C 0.01758 0.00601 0.0194 0.0081 0.0211 0.00949 C 0.02422 0.01273 0.02748 0.01597 0.03086 0.01805 C 0.03151 0.01851 0.03229 0.01875 0.03282 0.01944 L 0.05026 0.03425 C 0.05235 0.03611 0.05456 0.03703 0.05651 0.03912 C 0.05808 0.04097 0.05964 0.04305 0.06146 0.04421 C 0.06354 0.0456 0.06615 0.0456 0.06836 0.04652 C 0.07097 0.04791 0.07383 0.04953 0.07644 0.05138 C 0.0793 0.0537 0.08229 0.05578 0.08503 0.05902 C 0.08737 0.06134 0.08946 0.06412 0.0918 0.0662 C 0.09506 0.06875 0.0987 0.06967 0.10183 0.07245 C 0.10404 0.0743 0.10599 0.07754 0.10808 0.07986 C 0.1099 0.08194 0.11172 0.08379 0.11368 0.08611 C 0.11472 0.08726 0.11563 0.08888 0.1168 0.08958 C 0.11927 0.09143 0.11966 0.09143 0.1224 0.09467 C 0.13308 0.10717 0.12735 0.10416 0.13425 0.10694 C 0.13568 0.10995 0.13685 0.11296 0.13868 0.1155 C 0.14024 0.11851 0.14232 0.12037 0.14414 0.12291 C 0.15248 0.13472 0.14571 0.12638 0.15352 0.13518 C 0.15521 0.14074 0.15469 0.13935 0.15782 0.14513 C 0.15938 0.14768 0.16081 0.14976 0.16211 0.15254 C 0.16276 0.15347 0.16289 0.15532 0.16341 0.15625 C 0.16537 0.15995 0.16563 0.15972 0.16784 0.16111 C 0.16888 0.16319 0.16966 0.1655 0.17084 0.16736 C 0.17136 0.16805 0.17227 0.16805 0.17279 0.16851 C 0.1737 0.16944 0.17435 0.17013 0.17526 0.17083 C 0.17631 0.17222 0.17722 0.17384 0.17839 0.17453 C 0.17917 0.17523 0.18008 0.17546 0.18086 0.17592 C 0.1819 0.17754 0.18282 0.17939 0.18399 0.18078 C 0.18555 0.18287 0.18763 0.18333 0.18894 0.18587 C 0.18998 0.18796 0.19076 0.19027 0.19219 0.19212 C 0.19349 0.19398 0.19545 0.19513 0.19688 0.19699 C 0.19805 0.19791 0.19909 0.1993 0.20013 0.20069 C 0.20104 0.20162 0.20183 0.20208 0.20261 0.203 C 0.2043 0.20532 0.20586 0.20856 0.20756 0.21041 L 0.21263 0.2155 C 0.21563 0.22152 0.21159 0.21435 0.21563 0.21921 C 0.21615 0.21967 0.21641 0.22083 0.2168 0.22152 C 0.21745 0.22245 0.2181 0.22314 0.21888 0.22407 C 0.21927 0.22476 0.21953 0.22569 0.22006 0.22638 C 0.22058 0.22708 0.22136 0.22731 0.22188 0.22777 C 0.22644 0.23101 0.22331 0.22962 0.22813 0.23148 L 0.25482 0.22777 C 0.2569 0.22731 0.25912 0.22754 0.26107 0.22638 C 0.26224 0.22569 0.26315 0.22384 0.26407 0.22268 C 0.26706 0.22013 0.26784 0.21944 0.27032 0.21782 C 0.28086 0.20393 0.26537 0.2243 0.28047 0.20694 C 0.28086 0.20625 0.28099 0.20486 0.28164 0.20416 C 0.29076 0.19629 0.28086 0.20879 0.29089 0.19699 C 0.29258 0.19513 0.29375 0.19282 0.29532 0.19074 C 0.29831 0.1868 0.30157 0.18333 0.30456 0.17962 C 0.30612 0.178 0.30769 0.17662 0.30899 0.17453 C 0.31055 0.17222 0.31211 0.16898 0.31407 0.16736 C 0.31537 0.16597 0.3168 0.16504 0.31836 0.16365 C 0.31901 0.16296 0.31953 0.1618 0.32019 0.16111 C 0.32175 0.15972 0.32357 0.15925 0.32513 0.1574 C 0.32696 0.15555 0.32839 0.15231 0.33008 0.15 C 0.33177 0.14768 0.33334 0.14583 0.33516 0.14375 C 0.33568 0.14328 0.33633 0.14328 0.33698 0.14259 C 0.33854 0.1412 0.33998 0.13958 0.34141 0.13796 C 0.34271 0.13587 0.34401 0.13333 0.34571 0.13171 C 0.34883 0.128 0.35235 0.125 0.3556 0.12175 C 0.35638 0.12083 0.35716 0.1199 0.35808 0.11944 C 0.35912 0.11851 0.36016 0.11759 0.3612 0.11666 C 0.36185 0.1162 0.3625 0.1162 0.36302 0.1155 C 0.36407 0.11458 0.36524 0.11296 0.36615 0.1118 C 0.36784 0.11018 0.3694 0.10949 0.3711 0.1081 C 0.37383 0.10578 0.37409 0.10486 0.3767 0.10185 C 0.37839 0.10023 0.38021 0.09884 0.38177 0.09699 C 0.38282 0.09606 0.38373 0.09444 0.38477 0.09328 C 0.38607 0.09189 0.38737 0.0912 0.38854 0.08958 C 0.39024 0.08773 0.39193 0.08541 0.39349 0.08333 C 0.40222 0.0743 0.39401 0.08356 0.40104 0.07847 C 0.41563 0.06805 0.4069 0.07152 0.41524 0.06875 C 0.41628 0.06805 0.4224 0.06342 0.42396 0.0625 C 0.42552 0.0618 0.42696 0.0618 0.42839 0.06134 C 0.42982 0.05995 0.43112 0.05833 0.43282 0.05763 C 0.43451 0.05671 0.43646 0.05694 0.43841 0.05625 C 0.44753 0.05347 0.4418 0.05532 0.44649 0.05277 C 0.4474 0.05208 0.44974 0.05115 0.45078 0.05023 C 0.45091 0.05 0.45118 0.04953 0.45157 0.04907 " pathEditMode="relative" rAng="0" ptsTypes="AAAAAAAAAAAAAAAAAAAAAAAAAAAAAAAAAAAAAAAAAAAAAAAAAAAAAAAAAAAAAAAAAAAAAAAAAAAAAAAAAAAAAA">
                                      <p:cBhvr>
                                        <p:cTn id="15" dur="2000" fill="hold"/>
                                        <p:tgtEl>
                                          <p:spTgt spid="53"/>
                                        </p:tgtEl>
                                        <p:attrNameLst>
                                          <p:attrName>ppt_x</p:attrName>
                                          <p:attrName>ppt_y</p:attrName>
                                        </p:attrNameLst>
                                      </p:cBhvr>
                                      <p:rCtr x="22643" y="12060"/>
                                    </p:animMotion>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75"/>
                                        </p:tgtEl>
                                        <p:attrNameLst>
                                          <p:attrName>style.visibility</p:attrName>
                                        </p:attrNameLst>
                                      </p:cBhvr>
                                      <p:to>
                                        <p:strVal val="visible"/>
                                      </p:to>
                                    </p:set>
                                    <p:animEffect transition="in" filter="fade">
                                      <p:cBhvr>
                                        <p:cTn id="19" dur="500"/>
                                        <p:tgtEl>
                                          <p:spTgt spid="75"/>
                                        </p:tgtEl>
                                      </p:cBhvr>
                                    </p:animEffect>
                                  </p:childTnLst>
                                </p:cTn>
                              </p:par>
                            </p:childTnLst>
                          </p:cTn>
                        </p:par>
                      </p:childTnLst>
                    </p:cTn>
                  </p:par>
                  <p:par>
                    <p:cTn id="20" fill="hold">
                      <p:stCondLst>
                        <p:cond delay="indefinite"/>
                      </p:stCondLst>
                      <p:childTnLst>
                        <p:par>
                          <p:cTn id="21" fill="hold">
                            <p:stCondLst>
                              <p:cond delay="0"/>
                            </p:stCondLst>
                            <p:childTnLst>
                              <p:par>
                                <p:cTn id="22" presetID="3" presetClass="entr" presetSubtype="10" fill="hold" grpId="0" nodeType="clickEffect">
                                  <p:stCondLst>
                                    <p:cond delay="0"/>
                                  </p:stCondLst>
                                  <p:childTnLst>
                                    <p:set>
                                      <p:cBhvr>
                                        <p:cTn id="23" dur="1" fill="hold">
                                          <p:stCondLst>
                                            <p:cond delay="0"/>
                                          </p:stCondLst>
                                        </p:cTn>
                                        <p:tgtEl>
                                          <p:spTgt spid="54"/>
                                        </p:tgtEl>
                                        <p:attrNameLst>
                                          <p:attrName>style.visibility</p:attrName>
                                        </p:attrNameLst>
                                      </p:cBhvr>
                                      <p:to>
                                        <p:strVal val="visible"/>
                                      </p:to>
                                    </p:set>
                                    <p:animEffect transition="in" filter="blinds(horizontal)">
                                      <p:cBhvr>
                                        <p:cTn id="2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bldLvl="0" animBg="1"/>
      <p:bldP spid="51" grpId="0" bldLvl="0" animBg="1"/>
      <p:bldP spid="52" grpId="0" bldLvl="0" animBg="1"/>
      <p:bldP spid="53" grpId="0" bldLvl="0" animBg="1"/>
      <p:bldP spid="75" grpId="0"/>
      <p:bldP spid="54" grpId="0" bldLvl="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数据报的转发策略</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12</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数据报转发策略：数据报转发决策基于分组的目的地址</a:t>
            </a:r>
            <a:endParaRPr kumimoji="1" lang="en-US" altLang="zh-CN" sz="2400" dirty="0"/>
          </a:p>
        </p:txBody>
      </p:sp>
      <p:cxnSp>
        <p:nvCxnSpPr>
          <p:cNvPr id="71" name="直接箭头连接符 70"/>
          <p:cNvCxnSpPr/>
          <p:nvPr/>
        </p:nvCxnSpPr>
        <p:spPr>
          <a:xfrm>
            <a:off x="4574540" y="3970655"/>
            <a:ext cx="908685" cy="64325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233323" y="3886500"/>
            <a:ext cx="1204526" cy="727857"/>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122" name="表格 121"/>
          <p:cNvGraphicFramePr>
            <a:graphicFrameLocks noGrp="1"/>
          </p:cNvGraphicFramePr>
          <p:nvPr/>
        </p:nvGraphicFramePr>
        <p:xfrm>
          <a:off x="4586826" y="5221059"/>
          <a:ext cx="2948372" cy="1112520"/>
        </p:xfrm>
        <a:graphic>
          <a:graphicData uri="http://schemas.openxmlformats.org/drawingml/2006/table">
            <a:tbl>
              <a:tblPr firstRow="1" bandRow="1">
                <a:tableStyleId>{5C22544A-7EE6-4342-B048-85BDC9FD1C3A}</a:tableStyleId>
              </a:tblPr>
              <a:tblGrid>
                <a:gridCol w="1474186">
                  <a:extLst>
                    <a:ext uri="{9D8B030D-6E8A-4147-A177-3AD203B41FA5}">
                      <a16:colId xmlns:a16="http://schemas.microsoft.com/office/drawing/2014/main" val="20000"/>
                    </a:ext>
                  </a:extLst>
                </a:gridCol>
                <a:gridCol w="1474186">
                  <a:extLst>
                    <a:ext uri="{9D8B030D-6E8A-4147-A177-3AD203B41FA5}">
                      <a16:colId xmlns:a16="http://schemas.microsoft.com/office/drawing/2014/main" val="20001"/>
                    </a:ext>
                  </a:extLst>
                </a:gridCol>
              </a:tblGrid>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A</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B</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cxnSp>
        <p:nvCxnSpPr>
          <p:cNvPr id="138" name="连接符: 肘形 137"/>
          <p:cNvCxnSpPr/>
          <p:nvPr/>
        </p:nvCxnSpPr>
        <p:spPr>
          <a:xfrm rot="16200000" flipH="1">
            <a:off x="3183873" y="4844494"/>
            <a:ext cx="1599048" cy="1163678"/>
          </a:xfrm>
          <a:prstGeom prst="bentConnector3">
            <a:avLst>
              <a:gd name="adj1" fmla="val 99967"/>
            </a:avLst>
          </a:prstGeom>
          <a:ln w="28575">
            <a:tailEnd type="triangle"/>
          </a:ln>
        </p:spPr>
        <p:style>
          <a:lnRef idx="1">
            <a:schemeClr val="dk1"/>
          </a:lnRef>
          <a:fillRef idx="0">
            <a:schemeClr val="dk1"/>
          </a:fillRef>
          <a:effectRef idx="0">
            <a:schemeClr val="dk1"/>
          </a:effectRef>
          <a:fontRef idx="minor">
            <a:schemeClr val="tx1"/>
          </a:fontRef>
        </p:style>
      </p:cxnSp>
      <p:cxnSp>
        <p:nvCxnSpPr>
          <p:cNvPr id="141" name="连接符: 肘形 140"/>
          <p:cNvCxnSpPr/>
          <p:nvPr/>
        </p:nvCxnSpPr>
        <p:spPr>
          <a:xfrm rot="5400000" flipH="1" flipV="1">
            <a:off x="7215214" y="5016700"/>
            <a:ext cx="1480054" cy="819515"/>
          </a:xfrm>
          <a:prstGeom prst="bentConnector3">
            <a:avLst>
              <a:gd name="adj1" fmla="val -385"/>
            </a:avLst>
          </a:prstGeom>
          <a:ln w="28575">
            <a:tailEnd type="triangle"/>
          </a:ln>
        </p:spPr>
        <p:style>
          <a:lnRef idx="1">
            <a:schemeClr val="dk1"/>
          </a:lnRef>
          <a:fillRef idx="0">
            <a:schemeClr val="dk1"/>
          </a:fillRef>
          <a:effectRef idx="0">
            <a:schemeClr val="dk1"/>
          </a:effectRef>
          <a:fontRef idx="minor">
            <a:schemeClr val="tx1"/>
          </a:fontRef>
        </p:style>
      </p:cxnSp>
      <p:sp>
        <p:nvSpPr>
          <p:cNvPr id="70" name="日期占位符 9"/>
          <p:cNvSpPr>
            <a:spLocks noGrp="1"/>
          </p:cNvSpPr>
          <p:nvPr>
            <p:ph type="dt" sz="half" idx="10"/>
          </p:nvPr>
        </p:nvSpPr>
        <p:spPr>
          <a:xfrm>
            <a:off x="197485" y="6489065"/>
            <a:ext cx="3204845" cy="365125"/>
          </a:xfrm>
        </p:spPr>
        <p:txBody>
          <a:bodyPr/>
          <a:lstStyle/>
          <a:p>
            <a:r>
              <a:rPr kumimoji="1" lang="en-US" altLang="zh-CN" dirty="0"/>
              <a:t>5.1.4 </a:t>
            </a:r>
            <a:r>
              <a:rPr kumimoji="1" lang="zh-CN" altLang="en-US" dirty="0"/>
              <a:t>虚电路与数据报网络的比较</a:t>
            </a:r>
          </a:p>
        </p:txBody>
      </p:sp>
      <p:grpSp>
        <p:nvGrpSpPr>
          <p:cNvPr id="15" name="组合 14"/>
          <p:cNvGrpSpPr/>
          <p:nvPr/>
        </p:nvGrpSpPr>
        <p:grpSpPr>
          <a:xfrm>
            <a:off x="996950" y="2149475"/>
            <a:ext cx="10153015" cy="3000375"/>
            <a:chOff x="1570" y="3369"/>
            <a:chExt cx="15989" cy="4725"/>
          </a:xfrm>
        </p:grpSpPr>
        <p:sp>
          <p:nvSpPr>
            <p:cNvPr id="3" name="文本框 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0" name="文本框 9"/>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3" name="文本框 12"/>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18" name="组合 17"/>
            <p:cNvGrpSpPr/>
            <p:nvPr/>
          </p:nvGrpSpPr>
          <p:grpSpPr>
            <a:xfrm>
              <a:off x="1570" y="3369"/>
              <a:ext cx="1933" cy="3057"/>
              <a:chOff x="357711" y="2619024"/>
              <a:chExt cx="1227578" cy="1940916"/>
            </a:xfrm>
          </p:grpSpPr>
          <p:sp>
            <p:nvSpPr>
              <p:cNvPr id="20" name="矩形 1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6" name="矩形 25"/>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7" name="矩形 26"/>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1" name="组合 30"/>
            <p:cNvGrpSpPr/>
            <p:nvPr/>
          </p:nvGrpSpPr>
          <p:grpSpPr>
            <a:xfrm>
              <a:off x="15627" y="3543"/>
              <a:ext cx="1933" cy="3057"/>
              <a:chOff x="357711" y="2619024"/>
              <a:chExt cx="1227578" cy="1940916"/>
            </a:xfrm>
          </p:grpSpPr>
          <p:sp>
            <p:nvSpPr>
              <p:cNvPr id="33" name="矩形 32"/>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6" name="矩形 35"/>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7" name="矩形 36"/>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4" name="矩形 4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5" name="矩形 4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58" name="组合 57"/>
            <p:cNvGrpSpPr/>
            <p:nvPr/>
          </p:nvGrpSpPr>
          <p:grpSpPr>
            <a:xfrm>
              <a:off x="3333" y="3816"/>
              <a:ext cx="12445" cy="4278"/>
              <a:chOff x="1280664" y="3160857"/>
              <a:chExt cx="9581222" cy="3333678"/>
            </a:xfrm>
          </p:grpSpPr>
          <p:grpSp>
            <p:nvGrpSpPr>
              <p:cNvPr id="59" name="组合 58"/>
              <p:cNvGrpSpPr/>
              <p:nvPr/>
            </p:nvGrpSpPr>
            <p:grpSpPr>
              <a:xfrm>
                <a:off x="1546275" y="3160857"/>
                <a:ext cx="9041239" cy="2843922"/>
                <a:chOff x="1546275" y="3160857"/>
                <a:chExt cx="9041239" cy="2843922"/>
              </a:xfrm>
            </p:grpSpPr>
            <p:cxnSp>
              <p:nvCxnSpPr>
                <p:cNvPr id="60" name="直接连接符 59"/>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61" name="直接连接符 60"/>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72" name="直接连接符 71"/>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74" name="直接连接符 73"/>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75" name="直接连接符 74"/>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76" name="直接连接符 75"/>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8" name="直接连接符 77"/>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9" name="直接连接符 78"/>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81"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88" name="文本框 87"/>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89" name="文本框 88"/>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90" name="文本框 89"/>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91" name="文本框 90"/>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2" name="文本框 91"/>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93" name="文本框 92"/>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94" name="文本框 93"/>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graphicFrame>
        <p:nvGraphicFramePr>
          <p:cNvPr id="64" name="表格 63"/>
          <p:cNvGraphicFramePr>
            <a:graphicFrameLocks noGrp="1"/>
          </p:cNvGraphicFramePr>
          <p:nvPr/>
        </p:nvGraphicFramePr>
        <p:xfrm>
          <a:off x="2307023" y="4254782"/>
          <a:ext cx="2568824"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val="20000"/>
                    </a:ext>
                  </a:extLst>
                </a:gridCol>
                <a:gridCol w="1040860">
                  <a:extLst>
                    <a:ext uri="{9D8B030D-6E8A-4147-A177-3AD203B41FA5}">
                      <a16:colId xmlns:a16="http://schemas.microsoft.com/office/drawing/2014/main" val="20001"/>
                    </a:ext>
                  </a:extLst>
                </a:gridCol>
                <a:gridCol w="846306">
                  <a:extLst>
                    <a:ext uri="{9D8B030D-6E8A-4147-A177-3AD203B41FA5}">
                      <a16:colId xmlns:a16="http://schemas.microsoft.com/office/drawing/2014/main" val="20002"/>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65" name="表格 64"/>
          <p:cNvGraphicFramePr>
            <a:graphicFrameLocks noGrp="1"/>
          </p:cNvGraphicFramePr>
          <p:nvPr/>
        </p:nvGraphicFramePr>
        <p:xfrm>
          <a:off x="6887152" y="4297027"/>
          <a:ext cx="2568824"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val="20000"/>
                    </a:ext>
                  </a:extLst>
                </a:gridCol>
                <a:gridCol w="1040860">
                  <a:extLst>
                    <a:ext uri="{9D8B030D-6E8A-4147-A177-3AD203B41FA5}">
                      <a16:colId xmlns:a16="http://schemas.microsoft.com/office/drawing/2014/main" val="20001"/>
                    </a:ext>
                  </a:extLst>
                </a:gridCol>
                <a:gridCol w="846306">
                  <a:extLst>
                    <a:ext uri="{9D8B030D-6E8A-4147-A177-3AD203B41FA5}">
                      <a16:colId xmlns:a16="http://schemas.microsoft.com/office/drawing/2014/main" val="20002"/>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pic>
        <p:nvPicPr>
          <p:cNvPr id="62" name="Picture 28" descr="015">
            <a:extLst>
              <a:ext uri="{FF2B5EF4-FFF2-40B4-BE49-F238E27FC236}">
                <a16:creationId xmlns:a16="http://schemas.microsoft.com/office/drawing/2014/main" id="{3C6EF26A-D095-4E5B-BF79-C0195D7E202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5871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wipe(left)">
                                      <p:cBhvr>
                                        <p:cTn id="7" dur="500"/>
                                        <p:tgtEl>
                                          <p:spTgt spid="71"/>
                                        </p:tgtEl>
                                      </p:cBhvr>
                                    </p:animEffect>
                                  </p:childTnLst>
                                </p:cTn>
                              </p:par>
                              <p:par>
                                <p:cTn id="8" presetID="22" presetClass="entr" presetSubtype="2" fill="hold" nodeType="with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wipe(right)">
                                      <p:cBhvr>
                                        <p:cTn id="10" dur="500"/>
                                        <p:tgtEl>
                                          <p:spTgt spid="6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38"/>
                                        </p:tgtEl>
                                        <p:attrNameLst>
                                          <p:attrName>style.visibility</p:attrName>
                                        </p:attrNameLst>
                                      </p:cBhvr>
                                      <p:to>
                                        <p:strVal val="visible"/>
                                      </p:to>
                                    </p:set>
                                    <p:animEffect transition="in" filter="wipe(left)">
                                      <p:cBhvr>
                                        <p:cTn id="15" dur="500"/>
                                        <p:tgtEl>
                                          <p:spTgt spid="138"/>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22"/>
                                        </p:tgtEl>
                                        <p:attrNameLst>
                                          <p:attrName>style.visibility</p:attrName>
                                        </p:attrNameLst>
                                      </p:cBhvr>
                                      <p:to>
                                        <p:strVal val="visible"/>
                                      </p:to>
                                    </p:set>
                                    <p:animEffect transition="in" filter="wipe(left)">
                                      <p:cBhvr>
                                        <p:cTn id="19" dur="500"/>
                                        <p:tgtEl>
                                          <p:spTgt spid="12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73"/>
                                        </p:tgtEl>
                                        <p:attrNameLst>
                                          <p:attrName>style.visibility</p:attrName>
                                        </p:attrNameLst>
                                      </p:cBhvr>
                                      <p:to>
                                        <p:strVal val="visible"/>
                                      </p:to>
                                    </p:set>
                                    <p:animEffect transition="in" filter="wipe(left)">
                                      <p:cBhvr>
                                        <p:cTn id="24" dur="500"/>
                                        <p:tgtEl>
                                          <p:spTgt spid="73"/>
                                        </p:tgtEl>
                                      </p:cBhvr>
                                    </p:animEffect>
                                  </p:childTnLst>
                                </p:cTn>
                              </p:par>
                              <p:par>
                                <p:cTn id="25" presetID="22" presetClass="entr" presetSubtype="8" fill="hold" nodeType="withEffect">
                                  <p:stCondLst>
                                    <p:cond delay="0"/>
                                  </p:stCondLst>
                                  <p:childTnLst>
                                    <p:set>
                                      <p:cBhvr>
                                        <p:cTn id="26" dur="1" fill="hold">
                                          <p:stCondLst>
                                            <p:cond delay="0"/>
                                          </p:stCondLst>
                                        </p:cTn>
                                        <p:tgtEl>
                                          <p:spTgt spid="141"/>
                                        </p:tgtEl>
                                        <p:attrNameLst>
                                          <p:attrName>style.visibility</p:attrName>
                                        </p:attrNameLst>
                                      </p:cBhvr>
                                      <p:to>
                                        <p:strVal val="visible"/>
                                      </p:to>
                                    </p:set>
                                    <p:animEffect transition="in" filter="wipe(left)">
                                      <p:cBhvr>
                                        <p:cTn id="27" dur="500"/>
                                        <p:tgtEl>
                                          <p:spTgt spid="141"/>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wipe(right)">
                                      <p:cBhvr>
                                        <p:cTn id="3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solidFill>
                  <a:schemeClr val="dk1"/>
                </a:solidFill>
              </a:rPr>
              <a:t>面向连接服务的实现</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a:t>
            </a:fld>
            <a:endParaRPr kumimoji="1" lang="zh-CN" altLang="en-US" dirty="0"/>
          </a:p>
        </p:txBody>
      </p:sp>
      <p:sp>
        <p:nvSpPr>
          <p:cNvPr id="73" name="内容占位符 2"/>
          <p:cNvSpPr>
            <a:spLocks noGrp="1"/>
          </p:cNvSpPr>
          <p:nvPr>
            <p:ph idx="1"/>
          </p:nvPr>
        </p:nvSpPr>
        <p:spPr>
          <a:xfrm>
            <a:off x="838200" y="1510758"/>
            <a:ext cx="10515600" cy="4586694"/>
          </a:xfrm>
        </p:spPr>
        <p:txBody>
          <a:bodyPr>
            <a:normAutofit/>
          </a:bodyPr>
          <a:lstStyle/>
          <a:p>
            <a:pPr>
              <a:lnSpc>
                <a:spcPct val="140000"/>
              </a:lnSpc>
            </a:pPr>
            <a:r>
              <a:rPr lang="zh-CN" altLang="en-US" sz="2400" dirty="0"/>
              <a:t>面向连接服务：如打电话</a:t>
            </a:r>
            <a:endParaRPr lang="en-US" altLang="zh-CN" sz="2400" dirty="0"/>
          </a:p>
          <a:p>
            <a:pPr lvl="1">
              <a:lnSpc>
                <a:spcPct val="140000"/>
              </a:lnSpc>
            </a:pPr>
            <a:r>
              <a:rPr lang="zh-CN" altLang="en-US" sz="2200" dirty="0"/>
              <a:t>通信之间先建立</a:t>
            </a:r>
            <a:r>
              <a:rPr lang="zh-CN" altLang="en-US" sz="2200" dirty="0">
                <a:solidFill>
                  <a:srgbClr val="C00000"/>
                </a:solidFill>
              </a:rPr>
              <a:t>逻辑连接：</a:t>
            </a:r>
            <a:r>
              <a:rPr lang="zh-CN" altLang="en-US" sz="2200" dirty="0"/>
              <a:t>在此过程中，如有需要，可以预留网络资源</a:t>
            </a:r>
          </a:p>
          <a:p>
            <a:pPr lvl="1">
              <a:lnSpc>
                <a:spcPct val="140000"/>
              </a:lnSpc>
            </a:pPr>
            <a:r>
              <a:rPr lang="zh-CN" altLang="en-US" sz="2200" dirty="0"/>
              <a:t>结合使用可靠传输的网络协议，保证所发送的分组无差错按序到达终点</a:t>
            </a:r>
            <a:endParaRPr lang="en-US" altLang="zh-CN" sz="2200" dirty="0"/>
          </a:p>
          <a:p>
            <a:pPr>
              <a:lnSpc>
                <a:spcPct val="140000"/>
              </a:lnSpc>
            </a:pPr>
            <a:r>
              <a:rPr lang="zh-CN" altLang="en-US" sz="2400" dirty="0"/>
              <a:t>虚电路是逻辑连接</a:t>
            </a:r>
            <a:endParaRPr lang="en-US" altLang="zh-CN" sz="2400" dirty="0"/>
          </a:p>
          <a:p>
            <a:pPr lvl="1">
              <a:lnSpc>
                <a:spcPct val="140000"/>
              </a:lnSpc>
            </a:pPr>
            <a:r>
              <a:rPr lang="zh-CN" altLang="en-US" sz="2200" dirty="0"/>
              <a:t>虚电路表示这只是一条</a:t>
            </a:r>
            <a:r>
              <a:rPr lang="zh-CN" altLang="en-US" sz="2200" dirty="0">
                <a:solidFill>
                  <a:srgbClr val="C00000"/>
                </a:solidFill>
              </a:rPr>
              <a:t>逻辑上的连接</a:t>
            </a:r>
            <a:r>
              <a:rPr lang="zh-CN" altLang="en-US" sz="2200" dirty="0"/>
              <a:t>，分组都沿着这条逻辑连接</a:t>
            </a:r>
            <a:r>
              <a:rPr lang="zh-CN" altLang="en-US" sz="2200" dirty="0">
                <a:solidFill>
                  <a:srgbClr val="C00000"/>
                </a:solidFill>
              </a:rPr>
              <a:t>按照存储转发方式传送</a:t>
            </a:r>
            <a:r>
              <a:rPr lang="zh-CN" altLang="en-US" sz="2200" dirty="0"/>
              <a:t>，而并不是真正建立了一条物理连接</a:t>
            </a:r>
          </a:p>
          <a:p>
            <a:pPr lvl="1">
              <a:lnSpc>
                <a:spcPct val="140000"/>
              </a:lnSpc>
            </a:pPr>
            <a:r>
              <a:rPr lang="zh-CN" altLang="en-US" sz="2200" dirty="0"/>
              <a:t>注意，电路交换的电话通信是先建立了一条</a:t>
            </a:r>
            <a:r>
              <a:rPr lang="zh-CN" altLang="en-US" sz="2200" dirty="0">
                <a:solidFill>
                  <a:srgbClr val="C00000"/>
                </a:solidFill>
              </a:rPr>
              <a:t>真正的连接</a:t>
            </a:r>
          </a:p>
          <a:p>
            <a:pPr lvl="1">
              <a:lnSpc>
                <a:spcPct val="140000"/>
              </a:lnSpc>
            </a:pPr>
            <a:r>
              <a:rPr lang="zh-CN" altLang="en-US" sz="2200" dirty="0"/>
              <a:t>因此分组交换的虚连接和电路交换的连接只是类似，但并不完全相同</a:t>
            </a:r>
            <a:endParaRPr lang="en-US" altLang="zh-CN" sz="2200" dirty="0"/>
          </a:p>
          <a:p>
            <a:endParaRPr lang="en-US" altLang="zh-CN" dirty="0"/>
          </a:p>
          <a:p>
            <a:endParaRPr lang="zh-CN" altLang="en-US" dirty="0"/>
          </a:p>
        </p:txBody>
      </p:sp>
      <p:sp>
        <p:nvSpPr>
          <p:cNvPr id="5" name="日期占位符 4"/>
          <p:cNvSpPr>
            <a:spLocks noGrp="1"/>
          </p:cNvSpPr>
          <p:nvPr>
            <p:ph type="dt" sz="half" idx="10"/>
          </p:nvPr>
        </p:nvSpPr>
        <p:spPr/>
        <p:txBody>
          <a:bodyPr/>
          <a:lstStyle/>
          <a:p>
            <a:r>
              <a:rPr kumimoji="1" lang="en-US" altLang="zh-CN" dirty="0"/>
              <a:t>5.1.3 </a:t>
            </a:r>
            <a:r>
              <a:rPr kumimoji="1" lang="zh-CN" altLang="en-US" dirty="0"/>
              <a:t>面向连接服务的实现</a:t>
            </a:r>
          </a:p>
        </p:txBody>
      </p:sp>
      <p:pic>
        <p:nvPicPr>
          <p:cNvPr id="6" name="Picture 28" descr="015">
            <a:extLst>
              <a:ext uri="{FF2B5EF4-FFF2-40B4-BE49-F238E27FC236}">
                <a16:creationId xmlns:a16="http://schemas.microsoft.com/office/drawing/2014/main" id="{AEB48108-5FCE-431B-B4AB-30F17808459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7316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7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7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solidFill>
                  <a:schemeClr val="dk1"/>
                </a:solidFill>
              </a:rPr>
              <a:t>面向连接服务的实现</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a:t>
            </a:fld>
            <a:endParaRPr kumimoji="1" lang="zh-CN" altLang="en-US" dirty="0"/>
          </a:p>
        </p:txBody>
      </p:sp>
      <p:sp>
        <p:nvSpPr>
          <p:cNvPr id="7" name="Rectangle 14"/>
          <p:cNvSpPr>
            <a:spLocks noChangeArrowheads="1"/>
          </p:cNvSpPr>
          <p:nvPr/>
        </p:nvSpPr>
        <p:spPr bwMode="auto">
          <a:xfrm>
            <a:off x="8963763" y="2830431"/>
            <a:ext cx="1551500" cy="1537408"/>
          </a:xfrm>
          <a:prstGeom prst="rect">
            <a:avLst/>
          </a:prstGeom>
          <a:solidFill>
            <a:srgbClr val="00FFFF"/>
          </a:solidFill>
          <a:ln w="28575">
            <a:solidFill>
              <a:srgbClr val="3333CC"/>
            </a:solidFill>
            <a:miter lim="800000"/>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8" name="Rectangle 9"/>
          <p:cNvSpPr>
            <a:spLocks noChangeArrowheads="1"/>
          </p:cNvSpPr>
          <p:nvPr/>
        </p:nvSpPr>
        <p:spPr bwMode="auto">
          <a:xfrm>
            <a:off x="1561043" y="2759300"/>
            <a:ext cx="1551503" cy="1521241"/>
          </a:xfrm>
          <a:prstGeom prst="rect">
            <a:avLst/>
          </a:prstGeom>
          <a:solidFill>
            <a:srgbClr val="99FFCC"/>
          </a:solidFill>
          <a:ln w="28575">
            <a:solidFill>
              <a:srgbClr val="3333CC"/>
            </a:solidFill>
            <a:miter lim="800000"/>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9" name="Rectangle 2"/>
          <p:cNvSpPr>
            <a:spLocks noChangeArrowheads="1"/>
          </p:cNvSpPr>
          <p:nvPr/>
        </p:nvSpPr>
        <p:spPr bwMode="auto">
          <a:xfrm>
            <a:off x="8984778" y="3490013"/>
            <a:ext cx="1530485" cy="305541"/>
          </a:xfrm>
          <a:prstGeom prst="rect">
            <a:avLst/>
          </a:prstGeom>
          <a:solidFill>
            <a:srgbClr val="FFFF00"/>
          </a:solidFill>
          <a:ln>
            <a:noFill/>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0" name="Rectangle 4"/>
          <p:cNvSpPr>
            <a:spLocks noChangeArrowheads="1"/>
          </p:cNvSpPr>
          <p:nvPr/>
        </p:nvSpPr>
        <p:spPr bwMode="auto">
          <a:xfrm>
            <a:off x="1582059" y="3402715"/>
            <a:ext cx="1511485" cy="305541"/>
          </a:xfrm>
          <a:prstGeom prst="rect">
            <a:avLst/>
          </a:prstGeom>
          <a:solidFill>
            <a:srgbClr val="FFFF00"/>
          </a:solidFill>
          <a:ln>
            <a:noFill/>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1" name="Line 7"/>
          <p:cNvSpPr>
            <a:spLocks noChangeShapeType="1"/>
          </p:cNvSpPr>
          <p:nvPr/>
        </p:nvSpPr>
        <p:spPr bwMode="auto">
          <a:xfrm>
            <a:off x="6052224" y="3013109"/>
            <a:ext cx="59816" cy="572284"/>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2" name="Line 8"/>
          <p:cNvSpPr>
            <a:spLocks noChangeShapeType="1"/>
          </p:cNvSpPr>
          <p:nvPr/>
        </p:nvSpPr>
        <p:spPr bwMode="auto">
          <a:xfrm>
            <a:off x="3412281" y="3895785"/>
            <a:ext cx="517319" cy="26351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3" name="Line 10"/>
          <p:cNvSpPr>
            <a:spLocks noChangeShapeType="1"/>
          </p:cNvSpPr>
          <p:nvPr/>
        </p:nvSpPr>
        <p:spPr bwMode="auto">
          <a:xfrm>
            <a:off x="1561043" y="3108490"/>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4" name="Line 11"/>
          <p:cNvSpPr>
            <a:spLocks noChangeShapeType="1"/>
          </p:cNvSpPr>
          <p:nvPr/>
        </p:nvSpPr>
        <p:spPr bwMode="auto">
          <a:xfrm>
            <a:off x="1561043" y="3402715"/>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5" name="Line 12"/>
          <p:cNvSpPr>
            <a:spLocks noChangeShapeType="1"/>
          </p:cNvSpPr>
          <p:nvPr/>
        </p:nvSpPr>
        <p:spPr bwMode="auto">
          <a:xfrm>
            <a:off x="1561043" y="3696940"/>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6" name="Line 13"/>
          <p:cNvSpPr>
            <a:spLocks noChangeShapeType="1"/>
          </p:cNvSpPr>
          <p:nvPr/>
        </p:nvSpPr>
        <p:spPr bwMode="auto">
          <a:xfrm>
            <a:off x="1561043" y="3991166"/>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7" name="Line 15"/>
          <p:cNvSpPr>
            <a:spLocks noChangeShapeType="1"/>
          </p:cNvSpPr>
          <p:nvPr/>
        </p:nvSpPr>
        <p:spPr bwMode="auto">
          <a:xfrm>
            <a:off x="8963763" y="3195787"/>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8" name="Line 16"/>
          <p:cNvSpPr>
            <a:spLocks noChangeShapeType="1"/>
          </p:cNvSpPr>
          <p:nvPr/>
        </p:nvSpPr>
        <p:spPr bwMode="auto">
          <a:xfrm>
            <a:off x="8963763" y="3490012"/>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9" name="Line 17"/>
          <p:cNvSpPr>
            <a:spLocks noChangeShapeType="1"/>
          </p:cNvSpPr>
          <p:nvPr/>
        </p:nvSpPr>
        <p:spPr bwMode="auto">
          <a:xfrm>
            <a:off x="8963763" y="3784238"/>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0" name="Line 18"/>
          <p:cNvSpPr>
            <a:spLocks noChangeShapeType="1"/>
          </p:cNvSpPr>
          <p:nvPr/>
        </p:nvSpPr>
        <p:spPr bwMode="auto">
          <a:xfrm>
            <a:off x="8963763" y="4078463"/>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1" name="Text Box 19"/>
          <p:cNvSpPr txBox="1">
            <a:spLocks noChangeArrowheads="1"/>
          </p:cNvSpPr>
          <p:nvPr/>
        </p:nvSpPr>
        <p:spPr bwMode="auto">
          <a:xfrm>
            <a:off x="3276913" y="2798746"/>
            <a:ext cx="58392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H</a:t>
            </a:r>
            <a:r>
              <a:rPr lang="en-US" altLang="zh-CN" sz="2100" b="1" kern="0" baseline="-25000" dirty="0">
                <a:latin typeface="微软雅黑" panose="020B0503020204020204" pitchFamily="34" charset="-122"/>
                <a:ea typeface="微软雅黑" panose="020B0503020204020204" pitchFamily="34" charset="-122"/>
              </a:rPr>
              <a:t>1</a:t>
            </a:r>
          </a:p>
        </p:txBody>
      </p:sp>
      <p:sp>
        <p:nvSpPr>
          <p:cNvPr id="22" name="Line 21"/>
          <p:cNvSpPr>
            <a:spLocks noChangeShapeType="1"/>
          </p:cNvSpPr>
          <p:nvPr/>
        </p:nvSpPr>
        <p:spPr bwMode="auto">
          <a:xfrm>
            <a:off x="4272323" y="4159296"/>
            <a:ext cx="1637639" cy="61755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V="1">
            <a:off x="4186641" y="3717956"/>
            <a:ext cx="1896299" cy="441339"/>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6254303" y="3717957"/>
            <a:ext cx="1551957" cy="528636"/>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V="1">
            <a:off x="6082940" y="4337124"/>
            <a:ext cx="1723320" cy="43972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flipV="1">
            <a:off x="7891942" y="3895784"/>
            <a:ext cx="688681" cy="35080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7" name="Text Box 27"/>
          <p:cNvSpPr txBox="1">
            <a:spLocks noChangeArrowheads="1"/>
          </p:cNvSpPr>
          <p:nvPr/>
        </p:nvSpPr>
        <p:spPr bwMode="auto">
          <a:xfrm>
            <a:off x="8128412" y="2796442"/>
            <a:ext cx="665459" cy="4521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 H</a:t>
            </a:r>
            <a:r>
              <a:rPr lang="en-US" altLang="zh-CN" sz="2100" b="1" kern="0" baseline="-25000" dirty="0">
                <a:latin typeface="微软雅黑" panose="020B0503020204020204" pitchFamily="34" charset="-122"/>
                <a:ea typeface="微软雅黑" panose="020B0503020204020204" pitchFamily="34" charset="-122"/>
              </a:rPr>
              <a:t>2</a:t>
            </a:r>
          </a:p>
        </p:txBody>
      </p:sp>
      <p:sp>
        <p:nvSpPr>
          <p:cNvPr id="28" name="Line 29"/>
          <p:cNvSpPr>
            <a:spLocks noChangeShapeType="1"/>
          </p:cNvSpPr>
          <p:nvPr/>
        </p:nvSpPr>
        <p:spPr bwMode="auto">
          <a:xfrm flipV="1">
            <a:off x="4186642" y="2924195"/>
            <a:ext cx="1809001" cy="114780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9" name="Line 30"/>
          <p:cNvSpPr>
            <a:spLocks noChangeShapeType="1"/>
          </p:cNvSpPr>
          <p:nvPr/>
        </p:nvSpPr>
        <p:spPr bwMode="auto">
          <a:xfrm>
            <a:off x="6168621" y="2924196"/>
            <a:ext cx="1723320" cy="123510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pic>
        <p:nvPicPr>
          <p:cNvPr id="30"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2902" y="3983082"/>
            <a:ext cx="622399" cy="3524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1"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24281" y="3541744"/>
            <a:ext cx="624016" cy="354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1301" y="4600633"/>
            <a:ext cx="624016" cy="3540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47600" y="4071998"/>
            <a:ext cx="624016" cy="3524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4"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36983" y="2746366"/>
            <a:ext cx="624016" cy="3524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 name="Freeform 36"/>
          <p:cNvSpPr/>
          <p:nvPr/>
        </p:nvSpPr>
        <p:spPr bwMode="auto">
          <a:xfrm>
            <a:off x="2890112" y="3565994"/>
            <a:ext cx="6295129" cy="843877"/>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57150" cmpd="sng">
            <a:solidFill>
              <a:srgbClr val="FF00FF"/>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36" name="Text Box 37"/>
          <p:cNvSpPr txBox="1">
            <a:spLocks noChangeArrowheads="1"/>
          </p:cNvSpPr>
          <p:nvPr/>
        </p:nvSpPr>
        <p:spPr bwMode="auto">
          <a:xfrm>
            <a:off x="5565191" y="3992782"/>
            <a:ext cx="1073372"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zh-CN" altLang="en-US" sz="2100" kern="0" dirty="0">
                <a:latin typeface="微软雅黑" panose="020B0503020204020204" pitchFamily="34" charset="-122"/>
                <a:ea typeface="微软雅黑" panose="020B0503020204020204" pitchFamily="34" charset="-122"/>
              </a:rPr>
              <a:t>虚电路</a:t>
            </a:r>
            <a:endParaRPr lang="zh-CN" altLang="en-US" sz="2100" kern="0" baseline="-25000" dirty="0">
              <a:latin typeface="微软雅黑" panose="020B0503020204020204" pitchFamily="34" charset="-122"/>
              <a:ea typeface="微软雅黑" panose="020B0503020204020204" pitchFamily="34" charset="-122"/>
            </a:endParaRPr>
          </a:p>
        </p:txBody>
      </p:sp>
      <p:sp>
        <p:nvSpPr>
          <p:cNvPr id="37" name="Text Box 38"/>
          <p:cNvSpPr txBox="1">
            <a:spLocks noChangeArrowheads="1"/>
          </p:cNvSpPr>
          <p:nvPr/>
        </p:nvSpPr>
        <p:spPr bwMode="auto">
          <a:xfrm>
            <a:off x="3091650" y="5319790"/>
            <a:ext cx="5944891" cy="430883"/>
          </a:xfrm>
          <a:prstGeom prst="rect">
            <a:avLst/>
          </a:prstGeom>
          <a:noFill/>
          <a:ln w="9525">
            <a:solidFill>
              <a:srgbClr val="3333CC"/>
            </a:solidFill>
            <a:miter lim="800000"/>
          </a:ln>
          <a:effectLst/>
        </p:spPr>
        <p:txBody>
          <a:bodyPr wrap="none" lIns="121917" tIns="60958" rIns="121917" bIns="60958">
            <a:spAutoFit/>
          </a:bodyPr>
          <a:lstStyle/>
          <a:p>
            <a:pPr defTabSz="1219200">
              <a:defRPr/>
            </a:pPr>
            <a:r>
              <a:rPr lang="en-US" altLang="zh-CN" sz="2000" kern="0" dirty="0">
                <a:latin typeface="微软雅黑" panose="020B0503020204020204" pitchFamily="34" charset="-122"/>
                <a:ea typeface="微软雅黑" panose="020B0503020204020204" pitchFamily="34" charset="-122"/>
              </a:rPr>
              <a:t>H</a:t>
            </a:r>
            <a:r>
              <a:rPr lang="en-US" altLang="zh-CN" sz="2000" kern="0" baseline="-25000" dirty="0">
                <a:latin typeface="微软雅黑" panose="020B0503020204020204" pitchFamily="34" charset="-122"/>
                <a:ea typeface="微软雅黑" panose="020B0503020204020204" pitchFamily="34" charset="-122"/>
              </a:rPr>
              <a:t>1</a:t>
            </a:r>
            <a:r>
              <a:rPr lang="en-US" altLang="zh-CN" sz="2000" kern="0" dirty="0">
                <a:latin typeface="微软雅黑" panose="020B0503020204020204" pitchFamily="34" charset="-122"/>
                <a:ea typeface="微软雅黑" panose="020B0503020204020204" pitchFamily="34" charset="-122"/>
              </a:rPr>
              <a:t> </a:t>
            </a:r>
            <a:r>
              <a:rPr lang="zh-CN" altLang="en-US" sz="2000" kern="0" dirty="0">
                <a:latin typeface="微软雅黑" panose="020B0503020204020204" pitchFamily="34" charset="-122"/>
                <a:ea typeface="微软雅黑" panose="020B0503020204020204" pitchFamily="34" charset="-122"/>
              </a:rPr>
              <a:t>发送给 </a:t>
            </a:r>
            <a:r>
              <a:rPr lang="en-US" altLang="zh-CN" sz="2000" kern="0" dirty="0">
                <a:latin typeface="微软雅黑" panose="020B0503020204020204" pitchFamily="34" charset="-122"/>
                <a:ea typeface="微软雅黑" panose="020B0503020204020204" pitchFamily="34" charset="-122"/>
              </a:rPr>
              <a:t>H</a:t>
            </a:r>
            <a:r>
              <a:rPr lang="en-US" altLang="zh-CN" sz="2000" kern="0" baseline="-25000" dirty="0">
                <a:latin typeface="微软雅黑" panose="020B0503020204020204" pitchFamily="34" charset="-122"/>
                <a:ea typeface="微软雅黑" panose="020B0503020204020204" pitchFamily="34" charset="-122"/>
              </a:rPr>
              <a:t>2</a:t>
            </a:r>
            <a:r>
              <a:rPr lang="en-US" altLang="zh-CN" sz="2000" kern="0" dirty="0">
                <a:latin typeface="微软雅黑" panose="020B0503020204020204" pitchFamily="34" charset="-122"/>
                <a:ea typeface="微软雅黑" panose="020B0503020204020204" pitchFamily="34" charset="-122"/>
              </a:rPr>
              <a:t> </a:t>
            </a:r>
            <a:r>
              <a:rPr lang="zh-CN" altLang="en-US" sz="2000" kern="0" dirty="0">
                <a:latin typeface="微软雅黑" panose="020B0503020204020204" pitchFamily="34" charset="-122"/>
                <a:ea typeface="微软雅黑" panose="020B0503020204020204" pitchFamily="34" charset="-122"/>
              </a:rPr>
              <a:t>的所有分组都沿着同一条虚电路传送</a:t>
            </a:r>
          </a:p>
        </p:txBody>
      </p:sp>
      <p:pic>
        <p:nvPicPr>
          <p:cNvPr id="3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67799" y="3205550"/>
            <a:ext cx="761800" cy="76180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28412" y="3205550"/>
            <a:ext cx="761800" cy="761800"/>
          </a:xfrm>
          <a:prstGeom prst="rect">
            <a:avLst/>
          </a:prstGeom>
          <a:noFill/>
          <a:extLst>
            <a:ext uri="{909E8E84-426E-40DD-AFC4-6F175D3DCCD1}">
              <a14:hiddenFill xmlns:a14="http://schemas.microsoft.com/office/drawing/2010/main">
                <a:solidFill>
                  <a:srgbClr val="FFFFFF"/>
                </a:solidFill>
              </a14:hiddenFill>
            </a:ext>
          </a:extLst>
        </p:spPr>
      </p:pic>
      <p:sp>
        <p:nvSpPr>
          <p:cNvPr id="40" name="Text Box 5"/>
          <p:cNvSpPr txBox="1">
            <a:spLocks noChangeArrowheads="1"/>
          </p:cNvSpPr>
          <p:nvPr/>
        </p:nvSpPr>
        <p:spPr bwMode="auto">
          <a:xfrm>
            <a:off x="1518053" y="2722647"/>
            <a:ext cx="1690076" cy="16619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2000" kern="0" dirty="0">
                <a:latin typeface="微软雅黑" panose="020B0503020204020204" pitchFamily="34" charset="-122"/>
                <a:ea typeface="微软雅黑" panose="020B0503020204020204" pitchFamily="34" charset="-122"/>
              </a:rPr>
              <a:t>网络层</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p:txBody>
      </p:sp>
      <p:sp>
        <p:nvSpPr>
          <p:cNvPr id="41" name="Text Box 3"/>
          <p:cNvSpPr txBox="1">
            <a:spLocks noChangeArrowheads="1"/>
          </p:cNvSpPr>
          <p:nvPr/>
        </p:nvSpPr>
        <p:spPr bwMode="auto">
          <a:xfrm>
            <a:off x="8920771" y="2809944"/>
            <a:ext cx="1690076" cy="16619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2000" kern="0" dirty="0">
                <a:latin typeface="微软雅黑" panose="020B0503020204020204" pitchFamily="34" charset="-122"/>
                <a:ea typeface="微软雅黑" panose="020B0503020204020204" pitchFamily="34" charset="-122"/>
              </a:rPr>
              <a:t>网络层</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p:txBody>
      </p:sp>
      <p:sp>
        <p:nvSpPr>
          <p:cNvPr id="5" name="日期占位符 4"/>
          <p:cNvSpPr>
            <a:spLocks noGrp="1"/>
          </p:cNvSpPr>
          <p:nvPr>
            <p:ph type="dt" sz="half" idx="10"/>
          </p:nvPr>
        </p:nvSpPr>
        <p:spPr/>
        <p:txBody>
          <a:bodyPr/>
          <a:lstStyle/>
          <a:p>
            <a:r>
              <a:rPr kumimoji="1" lang="en-US" altLang="zh-CN" dirty="0"/>
              <a:t>5.1.3 </a:t>
            </a:r>
            <a:r>
              <a:rPr kumimoji="1" lang="zh-CN" altLang="en-US" dirty="0"/>
              <a:t>面向连接服务的实现</a:t>
            </a:r>
          </a:p>
        </p:txBody>
      </p:sp>
      <p:pic>
        <p:nvPicPr>
          <p:cNvPr id="42" name="Picture 28" descr="015">
            <a:extLst>
              <a:ext uri="{FF2B5EF4-FFF2-40B4-BE49-F238E27FC236}">
                <a16:creationId xmlns:a16="http://schemas.microsoft.com/office/drawing/2014/main" id="{7A1CB77C-790F-4899-9F82-E47ABEF2F81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9785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0"/>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1"/>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4"/>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5"/>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8"/>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9"/>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0"/>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8" grpId="0" bldLvl="0" animBg="1"/>
      <p:bldP spid="9" grpId="0" bldLvl="0" animBg="1"/>
      <p:bldP spid="10" grpId="0" bldLvl="0" animBg="1"/>
      <p:bldP spid="11" grpId="0" bldLvl="0" animBg="1"/>
      <p:bldP spid="12" grpId="0" bldLvl="0" animBg="1"/>
      <p:bldP spid="13" grpId="0" bldLvl="0" animBg="1"/>
      <p:bldP spid="14" grpId="0" bldLvl="0" animBg="1"/>
      <p:bldP spid="15" grpId="0" bldLvl="0" animBg="1"/>
      <p:bldP spid="16" grpId="0" bldLvl="0" animBg="1"/>
      <p:bldP spid="17" grpId="0" bldLvl="0" animBg="1"/>
      <p:bldP spid="18" grpId="0" bldLvl="0" animBg="1"/>
      <p:bldP spid="19" grpId="0" bldLvl="0" animBg="1"/>
      <p:bldP spid="20" grpId="0" bldLvl="0" animBg="1"/>
      <p:bldP spid="21" grpId="0" bldLvl="0" animBg="1"/>
      <p:bldP spid="22" grpId="0" bldLvl="0" animBg="1"/>
      <p:bldP spid="23" grpId="0" bldLvl="0" animBg="1"/>
      <p:bldP spid="24" grpId="0" bldLvl="0" animBg="1"/>
      <p:bldP spid="25" grpId="0" bldLvl="0" animBg="1"/>
      <p:bldP spid="26" grpId="0" bldLvl="0" animBg="1"/>
      <p:bldP spid="27" grpId="0" bldLvl="0" animBg="1"/>
      <p:bldP spid="28" grpId="0" bldLvl="0" animBg="1"/>
      <p:bldP spid="29" grpId="0" bldLvl="0" animBg="1"/>
      <p:bldP spid="35" grpId="0" bldLvl="0" animBg="1"/>
      <p:bldP spid="36" grpId="0" bldLvl="0" animBg="1"/>
      <p:bldP spid="37" grpId="0" bldLvl="0" animBg="1"/>
      <p:bldP spid="40" grpId="0" bldLvl="0" animBg="1"/>
      <p:bldP spid="41" grpId="0" bldLvl="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kumimoji="1" lang="zh-CN" altLang="en-US" dirty="0"/>
              <a:t>面向连接的虚电路</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a:t>
            </a:fld>
            <a:endParaRPr kumimoji="1" lang="zh-CN" altLang="en-US" dirty="0"/>
          </a:p>
        </p:txBody>
      </p:sp>
      <p:grpSp>
        <p:nvGrpSpPr>
          <p:cNvPr id="47" name="组合 46"/>
          <p:cNvGrpSpPr/>
          <p:nvPr/>
        </p:nvGrpSpPr>
        <p:grpSpPr>
          <a:xfrm>
            <a:off x="997032" y="2139479"/>
            <a:ext cx="1227578" cy="1940916"/>
            <a:chOff x="357711" y="2619024"/>
            <a:chExt cx="1227578" cy="1940916"/>
          </a:xfrm>
        </p:grpSpPr>
        <p:sp>
          <p:nvSpPr>
            <p:cNvPr id="38" name="矩形 37"/>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1" name="矩形 40"/>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2" name="矩形 41"/>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3" name="矩形 4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6" name="矩形 45"/>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9" name="矩形 38"/>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48" name="组合 47"/>
          <p:cNvGrpSpPr/>
          <p:nvPr/>
        </p:nvGrpSpPr>
        <p:grpSpPr>
          <a:xfrm>
            <a:off x="9923308" y="2249502"/>
            <a:ext cx="1227578" cy="1940916"/>
            <a:chOff x="357711" y="2619024"/>
            <a:chExt cx="1227578" cy="1940916"/>
          </a:xfrm>
        </p:grpSpPr>
        <p:sp>
          <p:nvSpPr>
            <p:cNvPr id="49" name="矩形 48"/>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1" name="矩形 50"/>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2" name="矩形 51"/>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3" name="矩形 5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4" name="矩形 5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5" name="矩形 5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solidFill>
                  <a:srgbClr val="C00000"/>
                </a:solidFill>
              </a:rPr>
              <a:t>虚电路（</a:t>
            </a:r>
            <a:r>
              <a:rPr kumimoji="1" lang="en-US" altLang="zh-CN" sz="2400" dirty="0">
                <a:solidFill>
                  <a:srgbClr val="C00000"/>
                </a:solidFill>
              </a:rPr>
              <a:t>virtual circuit</a:t>
            </a:r>
            <a:r>
              <a:rPr kumimoji="1" lang="zh-CN" altLang="en-US" sz="2400" dirty="0">
                <a:solidFill>
                  <a:srgbClr val="C00000"/>
                </a:solidFill>
              </a:rPr>
              <a:t>）</a:t>
            </a:r>
            <a:r>
              <a:rPr kumimoji="1" lang="zh-CN" altLang="en-US" sz="2400" dirty="0"/>
              <a:t>：面向连接的方法</a:t>
            </a:r>
            <a:endParaRPr kumimoji="1" lang="en-US" altLang="zh-CN" sz="2400" dirty="0"/>
          </a:p>
        </p:txBody>
      </p:sp>
      <p:grpSp>
        <p:nvGrpSpPr>
          <p:cNvPr id="69" name="组合 68"/>
          <p:cNvGrpSpPr/>
          <p:nvPr/>
        </p:nvGrpSpPr>
        <p:grpSpPr>
          <a:xfrm>
            <a:off x="2116454" y="2423160"/>
            <a:ext cx="7902576" cy="2716530"/>
            <a:chOff x="1280664" y="3160857"/>
            <a:chExt cx="9581222" cy="3333678"/>
          </a:xfrm>
        </p:grpSpPr>
        <p:grpSp>
          <p:nvGrpSpPr>
            <p:cNvPr id="56" name="组合 55"/>
            <p:cNvGrpSpPr/>
            <p:nvPr/>
          </p:nvGrpSpPr>
          <p:grpSpPr>
            <a:xfrm>
              <a:off x="1546275" y="3160857"/>
              <a:ext cx="9041239" cy="2843922"/>
              <a:chOff x="1546275" y="3160857"/>
              <a:chExt cx="9041239" cy="2843922"/>
            </a:xfrm>
          </p:grpSpPr>
          <p:cxnSp>
            <p:nvCxnSpPr>
              <p:cNvPr id="14" name="直接连接符 13"/>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16" name="直接连接符 15"/>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17" name="直接连接符 16"/>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19" name="直接连接符 18"/>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22" name="直接连接符 21"/>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24" name="直接连接符 23"/>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28" name="直接连接符 27"/>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30" name="直接连接符 29"/>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32" name="直接连接符 31"/>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62" name="文本框 61"/>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63" name="文本框 62"/>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64" name="文本框 63"/>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65" name="文本框 64"/>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66" name="文本框 65"/>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67" name="文本框 66"/>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68" name="文本框 67"/>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nvGrpSpPr>
          <p:cNvPr id="10" name="组合 9"/>
          <p:cNvGrpSpPr/>
          <p:nvPr/>
        </p:nvGrpSpPr>
        <p:grpSpPr>
          <a:xfrm>
            <a:off x="2261235" y="3050540"/>
            <a:ext cx="7520940" cy="1529080"/>
            <a:chOff x="3561" y="4804"/>
            <a:chExt cx="11844" cy="2408"/>
          </a:xfrm>
        </p:grpSpPr>
        <p:cxnSp>
          <p:nvCxnSpPr>
            <p:cNvPr id="61" name="直接箭头连接符 60"/>
            <p:cNvCxnSpPr/>
            <p:nvPr/>
          </p:nvCxnSpPr>
          <p:spPr>
            <a:xfrm>
              <a:off x="3561" y="4804"/>
              <a:ext cx="2735" cy="1011"/>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1" name="直接箭头连接符 70"/>
            <p:cNvCxnSpPr/>
            <p:nvPr/>
          </p:nvCxnSpPr>
          <p:spPr>
            <a:xfrm>
              <a:off x="7106" y="6242"/>
              <a:ext cx="1422" cy="970"/>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9971" y="6237"/>
              <a:ext cx="1587" cy="914"/>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5" name="直接箭头连接符 74"/>
            <p:cNvCxnSpPr/>
            <p:nvPr/>
          </p:nvCxnSpPr>
          <p:spPr>
            <a:xfrm flipV="1">
              <a:off x="12639" y="5042"/>
              <a:ext cx="2766" cy="717"/>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pSp>
      <p:sp>
        <p:nvSpPr>
          <p:cNvPr id="89" name="矩形 88"/>
          <p:cNvSpPr/>
          <p:nvPr/>
        </p:nvSpPr>
        <p:spPr>
          <a:xfrm>
            <a:off x="3807884" y="3194751"/>
            <a:ext cx="189902" cy="317060"/>
          </a:xfrm>
          <a:prstGeom prst="rect">
            <a:avLst/>
          </a:prstGeom>
          <a:solidFill>
            <a:srgbClr val="FAF4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1</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0" name="矩形 89"/>
          <p:cNvSpPr/>
          <p:nvPr/>
        </p:nvSpPr>
        <p:spPr>
          <a:xfrm>
            <a:off x="3473812" y="3077850"/>
            <a:ext cx="189902" cy="317060"/>
          </a:xfrm>
          <a:prstGeom prst="rect">
            <a:avLst/>
          </a:prstGeom>
          <a:solidFill>
            <a:srgbClr val="E7D1E7"/>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2</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1" name="矩形 90"/>
          <p:cNvSpPr/>
          <p:nvPr/>
        </p:nvSpPr>
        <p:spPr>
          <a:xfrm>
            <a:off x="3161126" y="2940887"/>
            <a:ext cx="189902" cy="317060"/>
          </a:xfrm>
          <a:prstGeom prst="rect">
            <a:avLst/>
          </a:prstGeom>
          <a:solidFill>
            <a:srgbClr val="D9A9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3</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2" name="矩形 91"/>
          <p:cNvSpPr/>
          <p:nvPr/>
        </p:nvSpPr>
        <p:spPr>
          <a:xfrm>
            <a:off x="2841899" y="2797130"/>
            <a:ext cx="189902" cy="317060"/>
          </a:xfrm>
          <a:prstGeom prst="rect">
            <a:avLst/>
          </a:prstGeom>
          <a:solidFill>
            <a:srgbClr val="5C307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4</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8" name="日期占位符 9"/>
          <p:cNvSpPr>
            <a:spLocks noGrp="1"/>
          </p:cNvSpPr>
          <p:nvPr>
            <p:ph type="dt" sz="half" idx="10"/>
          </p:nvPr>
        </p:nvSpPr>
        <p:spPr>
          <a:xfrm>
            <a:off x="197485" y="6489065"/>
            <a:ext cx="3467100" cy="365125"/>
          </a:xfrm>
        </p:spPr>
        <p:txBody>
          <a:bodyPr/>
          <a:lstStyle/>
          <a:p>
            <a:r>
              <a:rPr kumimoji="1" lang="en-US" altLang="zh-CN" dirty="0"/>
              <a:t>5.1.4 </a:t>
            </a:r>
            <a:r>
              <a:rPr kumimoji="1" lang="zh-CN" altLang="en-US" dirty="0"/>
              <a:t>虚电路与数据报网络的比较</a:t>
            </a:r>
          </a:p>
        </p:txBody>
      </p:sp>
      <p:sp>
        <p:nvSpPr>
          <p:cNvPr id="59" name="文本框 58"/>
          <p:cNvSpPr txBox="1"/>
          <p:nvPr/>
        </p:nvSpPr>
        <p:spPr>
          <a:xfrm>
            <a:off x="941220" y="5420894"/>
            <a:ext cx="10221082" cy="830997"/>
          </a:xfrm>
          <a:prstGeom prst="rect">
            <a:avLst/>
          </a:prstGeom>
          <a:noFill/>
          <a:ln>
            <a:solidFill>
              <a:srgbClr val="5C307E"/>
            </a:solidFill>
          </a:ln>
        </p:spPr>
        <p:txBody>
          <a:bodyPr wrap="square" rtlCol="0">
            <a:spAutoFit/>
          </a:bodyPr>
          <a:lstStyle/>
          <a:p>
            <a:pPr algn="l">
              <a:lnSpc>
                <a:spcPct val="120000"/>
              </a:lnSpc>
            </a:pPr>
            <a:r>
              <a:rPr kumimoji="1" lang="zh-CN" altLang="en-US" sz="2000" dirty="0">
                <a:latin typeface="微软雅黑" panose="020B0503020204020204" pitchFamily="34" charset="-122"/>
                <a:ea typeface="微软雅黑" panose="020B0503020204020204" pitchFamily="34" charset="-122"/>
              </a:rPr>
              <a:t>面向连接的方法也不一定能完全保证数据的可靠传输，链路中的任何一个组成环节仍有可能失效，而这种失效是严重的，可能导致所有数据丢失</a:t>
            </a:r>
          </a:p>
        </p:txBody>
      </p:sp>
      <p:sp>
        <p:nvSpPr>
          <p:cNvPr id="60" name="文本框 59"/>
          <p:cNvSpPr txBox="1"/>
          <p:nvPr/>
        </p:nvSpPr>
        <p:spPr>
          <a:xfrm>
            <a:off x="7915718" y="2544456"/>
            <a:ext cx="121058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按序到达</a:t>
            </a:r>
          </a:p>
        </p:txBody>
      </p:sp>
      <p:pic>
        <p:nvPicPr>
          <p:cNvPr id="70" name="Picture 28" descr="015">
            <a:extLst>
              <a:ext uri="{FF2B5EF4-FFF2-40B4-BE49-F238E27FC236}">
                <a16:creationId xmlns:a16="http://schemas.microsoft.com/office/drawing/2014/main" id="{1C3174DF-FBE0-45A2-90D0-9904F70E3B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08469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02384 -0.003741 C 0.000426 -0.001961 0.003452 -0.000845 0.006038 0.001829 C 0.007047 0.002724 0.007943 0.003830 0.008952 0.004725 C 0.010305 0.005610 0.011986 0.005841 0.013218 0.007399 C 0.013892 0.008285 0.014563 0.009622 0.015357 0.010295 C 0.016254 0.010959 0.017262 0.011180 0.018159 0.011623 C 0.018831 0.012075 0.019616 0.012517 0.020296 0.013191 C 0.021755 0.014971 0.022986 0.017193 0.024554 0.018751 C 0.025452 0.019646 0.026469 0.020531 0.027366 0.021647 C 0.028822 0.023206 0.030166 0.025659 0.031633 0.027217 C 0.033538 0.028997 0.035555 0.030555 0.037357 0.032787 C 0.039823 0.036126 0.041736 0.039021 0.044426 0.041243 C 0.045882 0.042359 0.048693 0.044139 0.048693 0.044139 C 0.052512 0.051489 0.049029 0.045476 0.053744 0.051046 C 0.059804 0.058396 0.055762 0.055279 0.060028 0.058165 C 0.060814 0.059060 0.061486 0.060176 0.062158 0.061061 C 0.066874 0.065737 0.061710 0.058618 0.066426 0.065294 C 0.067434 0.066631 0.068331 0.068190 0.069348 0.069527 C 0.070020 0.070422 0.070805 0.071307 0.071478 0.072423 C 0.072934 0.074424 0.074736 0.077541 0.076417 0.079330 C 0.077313 0.080436 0.078322 0.081110 0.079218 0.082216 C 0.086633 0.091355 0.077762 0.081995 0.084951 0.089345 C 0.088985 0.101370 0.083598 0.087122 0.088536 0.094915 C 0.089210 0.096031 0.089322 0.097810 0.089882 0.099148 C 0.091349 0.101812 0.092468 0.102265 0.094149 0.103381 C 0.100659 0.111837 0.090451 0.098474 0.099874 0.110500 C 0.105261 0.117186 0.102348 0.114732 0.106271 0.117407 C 0.113684 0.132107 0.103580 0.112731 0.110537 0.124535 C 0.111546 0.126315 0.112227 0.128759 0.113349 0.130096 C 0.114469 0.131433 0.115813 0.131876 0.116935 0.132992 C 0.121536 0.137667 0.116487 0.133665 0.121201 0.140120 C 0.121761 0.140784 0.122554 0.141015 0.123338 0.141457 C 0.124234 0.142795 0.125245 0.144132 0.126141 0.145690 C 0.126925 0.147028 0.127485 0.148807 0.128279 0.149914 C 0.128951 0.150808 0.129735 0.150808 0.130408 0.151251 C 0.132873 0.156157 0.132313 0.155484 0.135347 0.159717 C 0.136805 0.161718 0.138260 0.163507 0.139614 0.165508 C 0.140399 0.166393 0.141183 0.167067 0.141744 0.168182 C 0.142528 0.169741 0.143089 0.171299 0.143872 0.172406 C 0.148924 0.179534 0.144779 0.171963 0.148924 0.176639 C 0.157682 0.186442 0.149373 0.179756 0.156002 0.183767 C 0.157459 0.184662 0.160269 0.186663 0.160269 0.186663 C 0.162847 0.185990 0.165537 0.186220 0.168123 0.185104 C 0.169132 0.184662 0.169916 0.183103 0.170924 0.182430 C 0.171607 0.181766 0.172391 0.181314 0.173062 0.180872 L 0.177331 0.172406 C 0.178003 0.171078 0.178451 0.168625 0.179459 0.168182 L 0.182270 0.166845 C 0.186081 0.161718 0.183503 0.164392 0.190123 0.162612 C 0.193381 0.161718 0.195511 0.161275 0.198657 0.159717 C 0.200563 0.158822 0.202468 0.158379 0.204269 0.157042 C 0.205503 0.155926 0.206735 0.155262 0.207854 0.154147 C 0.207854 0.154147 0.213243 0.147028 0.214261 0.145690 C 0.214933 0.144796 0.215605 0.143680 0.216390 0.142795 C 0.219872 0.139456 0.218183 0.140563 0.221330 0.138562 C 0.222114 0.137225 0.222675 0.135666 0.223459 0.134329 C 0.225933 0.130317 0.225148 0.132328 0.227727 0.130096 C 0.233898 0.124978 0.227727 0.129211 0.232778 0.125863 C 0.239174 0.112953 0.234459 0.120745 0.239847 0.114732 C 0.240519 0.113838 0.241201 0.112510 0.241986 0.111837 C 0.243330 0.110500 0.246243 0.108941 0.246243 0.108941 C 0.246925 0.108056 0.247709 0.107161 0.248381 0.106267 C 0.249277 0.104708 0.250174 0.102928 0.251183 0.102043 C 0.252088 0.101149 0.253097 0.100927 0.253993 0.100485 C 0.254778 0.099590 0.255338 0.098474 0.256123 0.097810 C 0.257589 0.096473 0.259044 0.096252 0.260389 0.094915 L 0.263312 0.092019 C 0.263984 0.090682 0.264545 0.088902 0.265442 0.087786 C 0.266674 0.086449 0.269708 0.085112 0.269708 0.085112 C 0.271388 0.082668 0.273638 0.079551 0.275320 0.077993 C 0.275993 0.077319 0.276778 0.077098 0.277451 0.076656 C 0.278234 0.075097 0.278803 0.073317 0.279587 0.072423 C 0.280484 0.071307 0.281493 0.071528 0.282501 0.070864 C 0.284864 0.069084 0.285423 0.067747 0.287441 0.065294 C 0.288561 0.063736 0.289691 0.062177 0.291035 0.061061 C 0.292380 0.059724 0.295304 0.058165 0.295304 0.058165 C 0.300691 0.050152 0.295527 0.057280 0.300915 0.051046 C 0.301699 0.050373 0.302372 0.049267 0.303044 0.048372 C 0.305284 0.045919 0.306190 0.045919 0.308097 0.042802 C 0.308768 0.041465 0.309441 0.039685 0.310113 0.038569 C 0.310785 0.037463 0.311691 0.036789 0.312251 0.035673 C 0.313035 0.034346 0.313597 0.032335 0.314381 0.031450 C 0.315277 0.030555 0.316285 0.030555 0.317303 0.030113 C 0.317975 0.029661 0.318647 0.028997 0.319432 0.028554 C 0.324372 0.021868 0.318087 0.029661 0.325044 0.024321 C 0.325941 0.023648 0.326389 0.022090 0.327174 0.021647 C 0.328639 0.020531 0.330097 0.020531 0.331441 0.020089 C 0.336156 0.016972 0.330880 0.020310 0.339302 0.017414 C 0.342889 0.016077 0.346483 0.015413 0.349967 0.013191 C 0.350639 0.012517 0.351312 0.011854 0.352095 0.011623 C 0.354001 0.010959 0.355914 0.010738 0.357820 0.010295 C 0.362648 0.006947 0.356588 0.010738 0.363432 0.007399 C 0.368932 0.004725 0.361303 0.006062 0.371967 0.003167 C 0.374993 0.002272 0.378139 0.002272 0.381173 0.001829 C 0.381957 0.001387 0.382630 0.000935 0.383302 0.000492 C 0.384198 -0.000172 0.387681 -0.003289 0.389026 -0.003741 C 0.390484 -0.004405 0.391828 -0.004626 0.393293 -0.005299 C 0.394303 -0.005742 0.395199 -0.006184 0.396096 -0.006636 C 0.397897 -0.009080 0.399018 -0.010860 0.401147 -0.012197 C 0.402043 -0.013092 0.403061 -0.013313 0.403957 -0.013755 C 0.407879 -0.019104 0.404069 -0.014650 0.409681 -0.017988 C 0.410130 -0.018210 0.414173 -0.021779 0.415294 -0.022221 C 0.418431 -0.023337 0.422139 -0.023558 0.425286 -0.025117 C 0.426741 -0.025781 0.428086 -0.026897 0.429544 -0.027791 C 0.430225 -0.028234 0.430897 -0.029129 0.431681 -0.029129 L 0.433139 -0.029129 " pathEditMode="relative" rAng="0" ptsTypes="AAAAAAAAAAAAAAAAAAAAAAAAAAAAAAAAAAAAAAAAAAAAAAAAAAAAAAAAAAAAAAAAAAAAAAAAAAAAAAAAAAAAAAAAAAAAAAAAAAAAAAAAAAA">
                                      <p:cBhvr>
                                        <p:cTn id="6" dur="2000" fill="hold"/>
                                        <p:tgtEl>
                                          <p:spTgt spid="89"/>
                                        </p:tgtEl>
                                        <p:attrNameLst>
                                          <p:attrName>ppt_x</p:attrName>
                                          <p:attrName>ppt_y</p:attrName>
                                        </p:attrNameLst>
                                      </p:cBhvr>
                                      <p:rCtr x="21800" y="8300"/>
                                    </p:animMotion>
                                  </p:childTnLst>
                                </p:cTn>
                              </p:par>
                              <p:par>
                                <p:cTn id="7" presetID="0" presetClass="path" presetSubtype="0" fill="hold" grpId="0" nodeType="withEffect">
                                  <p:stCondLst>
                                    <p:cond delay="400"/>
                                  </p:stCondLst>
                                  <p:childTnLst>
                                    <p:animMotion origin="layout" path="M -0.000526 -0.009068 C 0.001500 -0.008173 0.003743 -0.007952 0.005761 -0.006395 C 0.007450 -0.005058 0.008683 -0.002606 0.010029 -0.000828 L 0.012168 0.002067 C 0.012951 0.002951 0.013512 0.004288 0.014297 0.004961 L 0.016427 0.006297 C 0.019461 0.010739 0.019238 0.011191 0.022833 0.013412 C 0.024739 0.014528 0.028559 0.016085 0.028559 0.016085 C 0.034845 0.024547 0.024851 0.011855 0.034956 0.021874 C 0.038889 0.025652 0.036750 0.024325 0.041356 0.026104 C 0.042028 0.026989 0.042700 0.027883 0.043485 0.028768 C 0.045736 0.031662 0.047529 0.033892 0.049892 0.035892 C 0.051013 0.037008 0.052246 0.037671 0.053479 0.038787 C 0.058643 0.043459 0.054040 0.040123 0.058420 0.043017 C 0.063249 0.049469 0.057187 0.041460 0.064033 0.049921 C 0.064819 0.050805 0.065491 0.051921 0.066172 0.052805 C 0.067180 0.053921 0.068077 0.054594 0.069086 0.055699 C 0.070207 0.057036 0.071448 0.058372 0.072569 0.059930 C 0.073354 0.060824 0.074027 0.061940 0.074700 0.062603 C 0.075932 0.063718 0.077062 0.064603 0.078296 0.065497 C 0.079528 0.068391 0.080425 0.071507 0.081890 0.073958 C 0.082675 0.075285 0.083796 0.075737 0.084693 0.076843 C 0.092099 0.085977 0.083123 0.076622 0.090419 0.083747 C 0.091092 0.085304 0.091651 0.086862 0.092558 0.087977 C 0.093117 0.088862 0.093902 0.088862 0.094687 0.089535 C 0.095583 0.090198 0.096593 0.091093 0.097489 0.092208 C 0.099291 0.094650 0.102767 0.100881 0.104569 0.102217 L 0.106699 0.103554 C 0.112313 0.111794 0.106475 0.104227 0.113769 0.110678 C 0.114563 0.111342 0.115234 0.112457 0.115908 0.113351 C 0.118710 0.117351 0.119158 0.118688 0.122305 0.121803 C 0.122978 0.122476 0.123763 0.122697 0.124436 0.123361 C 0.125677 0.124476 0.126797 0.126255 0.128031 0.127591 C 0.128927 0.128486 0.129937 0.129149 0.130842 0.130264 C 0.131851 0.131601 0.132747 0.133380 0.133757 0.134495 C 0.134653 0.135610 0.135671 0.136274 0.136567 0.137389 C 0.137352 0.138274 0.137913 0.139389 0.138697 0.140283 C 0.144536 0.146071 0.136903 0.136274 0.142967 0.144514 C 0.143415 0.145841 0.143638 0.147629 0.144422 0.148735 C 0.146104 0.150966 0.150036 0.154302 0.150036 0.154302 C 0.151606 0.158533 0.152399 0.160975 0.154304 0.164100 C 0.154978 0.165205 0.155763 0.165879 0.156434 0.166984 C 0.157228 0.168321 0.157788 0.169878 0.158573 0.171215 C 0.159469 0.172772 0.160590 0.173888 0.161487 0.175445 C 0.162160 0.176782 0.162730 0.178340 0.163513 0.179676 C 0.167213 0.185243 0.166765 0.184570 0.169911 0.186801 C 0.176085 0.194810 0.168343 0.185013 0.174180 0.191022 C 0.179793 0.196368 0.173162 0.191695 0.178440 0.195253 C 0.181363 0.198820 0.180354 0.197926 0.184173 0.200820 C 0.185631 0.201714 0.188434 0.203714 0.188434 0.203714 C 0.193374 0.203041 0.198428 0.203272 0.203368 0.202156 C 0.205050 0.201935 0.206628 0.200156 0.208309 0.199483 C 0.210215 0.198368 0.212128 0.197483 0.214035 0.196589 C 0.217518 0.191916 0.214819 0.194810 0.219648 0.192358 C 0.222347 0.191022 0.221778 0.190580 0.224701 0.188137 C 0.225373 0.187464 0.226158 0.187243 0.226831 0.186801 C 0.232902 0.181455 0.226383 0.186580 0.232444 0.179676 C 0.233126 0.179003 0.233910 0.178782 0.234582 0.178340 C 0.245025 0.164542 0.234133 0.178340 0.241764 0.169878 C 0.243455 0.167878 0.245137 0.164984 0.246706 0.162763 C 0.247379 0.161648 0.248052 0.160754 0.248845 0.159869 C 0.249965 0.158754 0.251199 0.158090 0.252431 0.157196 C 0.257596 0.146735 0.250862 0.158754 0.258044 0.151408 C 0.258942 0.150523 0.259278 0.148071 0.260183 0.147177 C 0.261753 0.145620 0.263547 0.145398 0.265236 0.144514 C 0.265908 0.143398 0.266694 0.142725 0.267367 0.141620 C 0.268038 0.140283 0.268600 0.138504 0.269496 0.137389 C 0.270962 0.135158 0.272643 0.134274 0.274437 0.133158 C 0.275109 0.132264 0.275903 0.131380 0.276576 0.130264 C 0.277360 0.129149 0.277808 0.126928 0.278705 0.126034 C 0.280498 0.124476 0.284318 0.123361 0.284318 0.123361 C 0.285551 0.121361 0.286681 0.119361 0.287914 0.117582 C 0.288586 0.116688 0.289371 0.116024 0.290044 0.114909 C 0.290828 0.113573 0.291389 0.112015 0.292183 0.110678 C 0.293304 0.108678 0.294648 0.106890 0.295771 0.104890 C 0.296441 0.103554 0.297114 0.101996 0.297908 0.100660 C 0.302168 0.093314 0.299028 0.099323 0.303521 0.093765 C 0.304531 0.092429 0.305315 0.090650 0.306435 0.089535 C 0.306997 0.088641 0.307894 0.088641 0.308574 0.087977 C 0.315309 0.081295 0.303970 0.089756 0.314972 0.082410 C 0.315869 0.081074 0.316765 0.079516 0.317775 0.078179 C 0.319801 0.075737 0.320697 0.075285 0.322715 0.073958 C 0.323948 0.072170 0.325191 0.070391 0.326311 0.068391 C 0.327320 0.066613 0.327992 0.064161 0.329113 0.062603 C 0.329794 0.061940 0.330579 0.061709 0.331253 0.061267 C 0.331925 0.060382 0.332597 0.059267 0.333382 0.058372 C 0.334054 0.057709 0.334838 0.057709 0.335521 0.057036 C 0.342815 0.049027 0.337091 0.053257 0.341918 0.049921 C 0.342591 0.049027 0.343264 0.047911 0.344048 0.047248 C 0.345394 0.045911 0.347084 0.045911 0.348316 0.044354 C 0.348989 0.043459 0.349662 0.041902 0.350447 0.041460 C 0.352249 0.040565 0.354266 0.040786 0.356172 0.040123 C 0.357077 0.039902 0.357974 0.039008 0.358983 0.038787 C 0.360664 0.038123 0.362355 0.037902 0.363924 0.037229 C 0.366053 0.036565 0.368193 0.035450 0.370322 0.034556 C 0.371107 0.034114 0.371779 0.033219 0.372452 0.032998 C 0.375822 0.032335 0.379082 0.032114 0.382445 0.031662 C 0.384360 0.030777 0.386153 0.029220 0.388059 0.028768 C 0.397605 0.027210 0.393335 0.028104 0.400863 0.026104 C 0.402321 0.025210 0.403778 0.024325 0.405131 0.023210 C 0.406364 0.022316 0.407486 0.021201 0.408719 0.020316 C 0.409840 0.019643 0.411082 0.019643 0.412315 0.018979 C 0.412987 0.018758 0.413660 0.018085 0.414444 0.017643 C 0.415341 0.016980 0.416358 0.016749 0.417256 0.016085 C 0.418712 0.015422 0.420057 0.013864 0.421524 0.013412 C 0.422644 0.012970 0.423877 0.012528 0.425111 0.011855 C 0.425784 0.011634 0.426456 0.010970 0.427249 0.010518 C 0.428146 0.010076 0.429043 0.009634 0.430051 0.009182 C 0.431957 0.006518 0.432751 0.005403 0.434993 0.003403 C 0.435217 0.003403 0.435441 0.003403 0.435777 0.003403 " pathEditMode="relative" rAng="0" ptsTypes="AAAAAAAAAAAAAAAAAAAAAAAAAAAAAAAAAAAAAAAAAAAAAAAAAAAAAAAAAAAAAAAAAAAAAAAAAAAAAAAAAAAAAAAAAAAAAAAAAAAAAAAAAAAAAAA">
                                      <p:cBhvr>
                                        <p:cTn id="8" dur="2000" fill="hold"/>
                                        <p:tgtEl>
                                          <p:spTgt spid="90"/>
                                        </p:tgtEl>
                                        <p:attrNameLst>
                                          <p:attrName>ppt_x</p:attrName>
                                          <p:attrName>ppt_y</p:attrName>
                                        </p:attrNameLst>
                                      </p:cBhvr>
                                      <p:rCtr x="21800" y="10600"/>
                                    </p:animMotion>
                                  </p:childTnLst>
                                </p:cTn>
                              </p:par>
                              <p:par>
                                <p:cTn id="9" presetID="0" presetClass="path" presetSubtype="0" fill="hold" grpId="0" nodeType="withEffect">
                                  <p:stCondLst>
                                    <p:cond delay="800"/>
                                  </p:stCondLst>
                                  <p:childTnLst>
                                    <p:animMotion origin="layout" path="M -0.001292 -0.009741 C 0.001061 -0.009297 0.003423 -0.008844 0.005776 -0.008400 C 0.010042 -0.007734 0.014308 -0.007734 0.018574 -0.007058 C 0.024297 -0.005939 0.020143 -0.005051 0.026313 -0.002812 C 0.028675 -0.001925 0.031139 -0.001925 0.033492 -0.001471 C 0.038768 0.002099 0.032260 -0.002590 0.037758 0.002765 C 0.038430 0.003441 0.039112 0.003663 0.039896 0.004328 C 0.041017 0.005226 0.042249 0.005892 0.043369 0.007011 C 0.044154 0.007909 0.044723 0.009250 0.045507 0.009916 C 0.046851 0.011257 0.048420 0.011479 0.049765 0.012820 C 0.051117 0.013940 0.053695 0.018630 0.054815 0.019749 C 0.056056 0.021312 0.058857 0.023097 0.060425 0.023985 C 0.062115 0.027343 0.063347 0.030248 0.065475 0.032477 C 0.066044 0.033375 0.066829 0.033597 0.067614 0.034040 C 0.068062 0.035382 0.068398 0.036945 0.068958 0.038286 C 0.070302 0.040969 0.071544 0.041413 0.073224 0.042532 C 0.074681 0.044318 0.076136 0.046103 0.077490 0.048110 C 0.078499 0.049451 0.079395 0.051015 0.080291 0.052356 C 0.081748 0.054373 0.083437 0.055714 0.084557 0.057943 C 0.085341 0.059506 0.086014 0.061070 0.086686 0.062189 C 0.087591 0.063752 0.088487 0.065538 0.089608 0.066435 C 0.090952 0.067776 0.093873 0.069340 0.093873 0.069340 C 0.097011 0.075593 0.097011 0.076037 0.100941 0.082068 C 0.101614 0.083187 0.102397 0.083853 0.103069 0.084972 C 0.104086 0.086536 0.104871 0.088765 0.105880 0.090560 C 0.106551 0.091669 0.107336 0.092345 0.108009 0.093464 C 0.109016 0.094796 0.110034 0.096137 0.110930 0.097701 C 0.111603 0.099042 0.112274 0.100605 0.113058 0.101946 C 0.114861 0.104851 0.116989 0.107090 0.118669 0.110438 C 0.123047 0.118921 0.118333 0.110216 0.125065 0.120262 C 0.131355 0.129651 0.128545 0.127191 0.132924 0.130095 C 0.133596 0.131658 0.134269 0.133222 0.135054 0.134341 C 0.138199 0.139253 0.141793 0.142601 0.144930 0.147069 C 0.152342 0.157568 0.142241 0.143943 0.152109 0.157124 C 0.152791 0.158012 0.153462 0.159353 0.154246 0.159807 L 0.156375 0.161370 C 0.159521 0.170750 0.155815 0.161370 0.159857 0.166948 C 0.160753 0.168067 0.161313 0.169853 0.161986 0.171194 C 0.162882 0.172757 0.163900 0.174099 0.164907 0.175440 C 0.172647 0.186161 0.166027 0.177003 0.171974 0.183932 C 0.172759 0.184819 0.173432 0.185717 0.174112 0.186827 C 0.175120 0.188168 0.175904 0.189731 0.176913 0.191073 C 0.177585 0.191748 0.178370 0.191748 0.179042 0.192414 C 0.180058 0.193311 0.180955 0.194431 0.181963 0.195319 C 0.182636 0.195762 0.183420 0.195994 0.184093 0.196660 C 0.185332 0.197779 0.186341 0.199564 0.187574 0.200906 C 0.189031 0.202469 0.190496 0.203588 0.191841 0.205152 C 0.194082 0.207825 0.196107 0.210729 0.198235 0.213634 C 0.199020 0.214531 0.199579 0.215873 0.200364 0.216539 C 0.201157 0.216982 0.201830 0.217436 0.202501 0.217880 C 0.203733 0.218324 0.204966 0.218555 0.206095 0.219221 C 0.208223 0.220563 0.210352 0.222126 0.212490 0.223467 L 0.214618 0.225030 C 0.219556 0.224355 0.224607 0.225030 0.229545 0.223467 C 0.232011 0.222792 0.234260 0.219443 0.236613 0.217880 L 0.238750 0.216539 C 0.242224 0.209620 0.239312 0.214309 0.243680 0.209388 C 0.244473 0.208500 0.245146 0.207381 0.245818 0.206493 C 0.246490 0.205818 0.247274 0.205596 0.247946 0.205152 C 0.256142 0.200230 0.250308 0.204032 0.255135 0.200906 C 0.262425 0.191073 0.251092 0.206040 0.260073 0.195319 C 0.264106 0.190407 0.263770 0.190185 0.267140 0.185263 C 0.267811 0.184376 0.268596 0.183478 0.269269 0.182590 C 0.272862 0.171869 0.268260 0.184819 0.272862 0.174099 C 0.273423 0.172757 0.273647 0.170972 0.274319 0.169853 C 0.276000 0.166504 0.278026 0.164043 0.279929 0.161370 L 0.282852 0.157124 C 0.283748 0.155561 0.284645 0.153998 0.285652 0.152878 C 0.286325 0.151759 0.287118 0.151093 0.287791 0.149974 C 0.289806 0.146403 0.291375 0.141935 0.293400 0.138577 C 0.294633 0.136792 0.295753 0.134785 0.296985 0.133000 C 0.297667 0.131880 0.298451 0.131215 0.299123 0.130095 C 0.302597 0.124286 0.299908 0.126969 0.304061 0.121603 C 0.304957 0.120484 0.306077 0.120040 0.306974 0.118921 C 0.313034 0.111558 0.309001 0.114231 0.314050 0.111780 C 0.314722 0.110882 0.315394 0.109763 0.316180 0.108875 C 0.322686 0.102390 0.316739 0.109994 0.324030 0.103288 C 0.333236 0.095028 0.323471 0.101725 0.329642 0.097701 C 0.330434 0.096591 0.330994 0.095471 0.331778 0.094796 C 0.335028 0.092123 0.334018 0.094796 0.336829 0.091901 C 0.337501 0.091225 0.338174 0.089884 0.338958 0.089218 C 0.341880 0.086536 0.343672 0.086092 0.346706 0.084972 C 0.349171 0.081170 0.349620 0.080061 0.352428 0.077822 C 0.353772 0.076702 0.355342 0.076259 0.356686 0.074917 C 0.357591 0.074029 0.358488 0.072910 0.359496 0.072235 C 0.361401 0.070903 0.365219 0.069340 0.365219 0.069340 C 0.369597 0.063530 0.364770 0.069108 0.370829 0.065094 C 0.377000 0.061070 0.370941 0.063308 0.375879 0.060848 C 0.377000 0.060172 0.378233 0.060172 0.379362 0.059506 C 0.380817 0.058609 0.382161 0.057277 0.383619 0.056602 C 0.384635 0.056158 0.385532 0.055714 0.386540 0.055260 C 0.387660 0.054373 0.388782 0.053031 0.390022 0.052356 C 0.391254 0.051690 0.392488 0.051468 0.393608 0.051015 C 0.394280 0.050571 0.395074 0.049905 0.395745 0.049451 C 0.396866 0.049007 0.398099 0.048785 0.399330 0.048110 C 0.400794 0.047444 0.402140 0.046103 0.403597 0.045215 C 0.404493 0.044761 0.405398 0.044318 0.406406 0.043874 C 0.407527 0.043420 0.408759 0.042976 0.409992 0.042532 C 0.410664 0.042079 0.411344 0.041413 0.412129 0.040969 C 0.413921 0.040072 0.415937 0.039406 0.417740 0.038286 L 0.422006 0.035382 C 0.422789 0.034938 0.423462 0.034262 0.424133 0.034040 C 0.430976 0.032255 0.427953 0.032477 0.433450 0.032477 " pathEditMode="relative" rAng="0" ptsTypes="AAAAAAAAAAAAAAAAAAAAAAAAAAAAAAAAAAAAAAAAAAAAAAAAAAAAAAAAAAAAAAAAAAAAAAAAAAAAAAAAAAAAAAAAAAAAAAAAAAAAAAAA">
                                      <p:cBhvr>
                                        <p:cTn id="10" dur="2000" fill="hold"/>
                                        <p:tgtEl>
                                          <p:spTgt spid="91"/>
                                        </p:tgtEl>
                                        <p:attrNameLst>
                                          <p:attrName>ppt_x</p:attrName>
                                          <p:attrName>ppt_y</p:attrName>
                                        </p:attrNameLst>
                                      </p:cBhvr>
                                      <p:rCtr x="21700" y="11700"/>
                                    </p:animMotion>
                                  </p:childTnLst>
                                </p:cTn>
                              </p:par>
                              <p:par>
                                <p:cTn id="11" presetID="0" presetClass="path" presetSubtype="0" fill="hold" grpId="0" nodeType="withEffect">
                                  <p:stCondLst>
                                    <p:cond delay="1300"/>
                                  </p:stCondLst>
                                  <p:childTnLst>
                                    <p:animMotion origin="layout" path="M -0.001506 -0.008989 C 0.001294 -0.008543 0.004104 -0.008543 0.006905 -0.007643 C 0.007690 -0.007420 0.008370 -0.006743 0.009042 -0.006297 C 0.010275 -0.005407 0.011396 -0.004284 0.012628 -0.003383 C 0.013533 -0.002716 0.014541 -0.002493 0.015437 -0.002038 C 0.020600 0.004680 0.018126 0.002890 0.022616 0.005126 C 0.028003 0.012299 0.025202 0.010285 0.031149 0.012076 C 0.036423 0.019250 0.029692 0.010953 0.036088 0.016336 C 0.036871 0.017004 0.037432 0.018349 0.038217 0.019250 C 0.039113 0.020363 0.040130 0.021263 0.041026 0.022164 C 0.042482 0.023277 0.043938 0.023954 0.045282 0.024845 L 0.047420 0.026413 C 0.048877 0.028214 0.050109 0.030895 0.051686 0.032018 C 0.054151 0.033587 0.054263 0.033587 0.056737 0.036278 C 0.057409 0.037178 0.058082 0.038514 0.058865 0.039192 C 0.060883 0.040760 0.063132 0.041883 0.065261 0.043451 C 0.065932 0.043896 0.066605 0.044342 0.067397 0.044797 C 0.068518 0.045687 0.069752 0.046588 0.070872 0.047711 C 0.079179 0.055329 0.073905 0.051515 0.078731 0.054651 C 0.083100 0.060479 0.078282 0.054874 0.084342 0.058911 C 0.085350 0.059579 0.086246 0.060924 0.087256 0.061825 C 0.089617 0.063838 0.091857 0.066307 0.094330 0.067430 C 0.097916 0.069221 0.098813 0.069443 0.102854 0.073248 C 0.103639 0.073925 0.104199 0.075271 0.104993 0.075939 C 0.109810 0.080866 0.104087 0.072803 0.109922 0.080198 C 0.110938 0.081544 0.111834 0.083335 0.112844 0.084458 C 0.114299 0.086471 0.116437 0.087594 0.117782 0.090286 C 0.118567 0.091854 0.119015 0.094313 0.119911 0.095881 C 0.125297 0.105300 0.121599 0.094990 0.126314 0.104400 C 0.126873 0.105523 0.127099 0.107314 0.127770 0.108659 C 0.128332 0.109782 0.129114 0.110450 0.129899 0.111573 C 0.130795 0.112919 0.131701 0.114264 0.132708 0.115833 C 0.134053 0.117623 0.135510 0.119414 0.136966 0.121428 L 0.139103 0.124119 C 0.139776 0.126133 0.140336 0.128379 0.141232 0.129947 C 0.142016 0.131292 0.143145 0.131738 0.144042 0.132638 C 0.145499 0.134429 0.146956 0.136442 0.148309 0.138466 C 0.150212 0.141147 0.152118 0.144061 0.154031 0.146975 C 0.155151 0.148766 0.156159 0.151234 0.157504 0.152580 C 0.166148 0.161099 0.155487 0.150334 0.162555 0.158185 C 0.163451 0.159298 0.164468 0.159976 0.165364 0.161099 C 0.169286 0.165571 0.165699 0.162890 0.171086 0.168263 C 0.172207 0.169385 0.173440 0.169831 0.174559 0.170954 C 0.180058 0.176559 0.173551 0.171622 0.178826 0.175213 C 0.179610 0.176781 0.180179 0.178572 0.180964 0.179473 C 0.182084 0.180818 0.183428 0.181263 0.184548 0.182386 C 0.185791 0.183722 0.186910 0.185300 0.188142 0.186636 C 0.189263 0.187759 0.190497 0.188437 0.191625 0.189550 C 0.192969 0.190673 0.195658 0.195378 0.196675 0.196501 C 0.197796 0.198069 0.199027 0.199415 0.200148 0.200760 C 0.200933 0.201651 0.201492 0.202996 0.202286 0.203674 C 0.203182 0.204342 0.204190 0.204565 0.205199 0.205020 C 0.208344 0.214652 0.204639 0.205242 0.208680 0.210838 C 0.214067 0.217788 0.207896 0.213083 0.212946 0.216443 C 0.213954 0.217788 0.214739 0.219357 0.215749 0.220702 C 0.222590 0.228766 0.217764 0.221602 0.222142 0.227875 C 0.223607 0.229889 0.228089 0.236840 0.229331 0.237730 C 0.230003 0.238175 0.230787 0.238408 0.231458 0.239076 C 0.232243 0.239976 0.232803 0.241322 0.233587 0.241990 C 0.234716 0.242890 0.235949 0.242890 0.237070 0.243335 C 0.238302 0.245126 0.240327 0.249163 0.242120 0.249163 C 0.243577 0.249163 0.244929 0.248263 0.246386 0.247595 C 0.253565 0.244903 0.251324 0.246249 0.255591 0.243335 C 0.256487 0.241990 0.257383 0.240199 0.258392 0.239076 C 0.259288 0.238175 0.260296 0.238175 0.261314 0.237730 C 0.261985 0.237285 0.262658 0.236840 0.263442 0.236385 C 0.264787 0.234371 0.266243 0.232357 0.267709 0.230557 C 0.268829 0.229221 0.270285 0.228321 0.271181 0.226307 C 0.273991 0.220925 0.272535 0.223171 0.275448 0.219357 C 0.275896 0.217788 0.276232 0.215997 0.276903 0.215097 C 0.277698 0.213751 0.278817 0.213306 0.279713 0.212183 C 0.280498 0.211293 0.281171 0.210392 0.281842 0.209269 C 0.288471 0.199860 0.280610 0.210392 0.288246 0.200760 C 0.289030 0.199860 0.289590 0.198737 0.290374 0.198069 C 0.291047 0.197401 0.291832 0.196946 0.292504 0.196501 C 0.292953 0.195155 0.293296 0.193587 0.293969 0.192241 C 0.294305 0.191573 0.298114 0.185968 0.298908 0.185300 C 0.299915 0.184177 0.302941 0.182832 0.303837 0.182386 C 0.305078 0.180586 0.306087 0.178350 0.307431 0.176781 C 0.308552 0.175436 0.309792 0.174768 0.311025 0.173868 C 0.313041 0.172299 0.313713 0.172077 0.315963 0.170954 C 0.320454 0.165126 0.315852 0.170731 0.320230 0.166694 C 0.322695 0.164458 0.325383 0.161099 0.328081 0.159753 C 0.329425 0.158853 0.330882 0.158853 0.332346 0.158185 C 0.336044 0.154594 0.336949 0.153025 0.340086 0.151234 C 0.341095 0.150566 0.341999 0.150334 0.343008 0.149666 C 0.343679 0.148766 0.344352 0.147653 0.345138 0.146975 C 0.345809 0.146307 0.346593 0.146307 0.347274 0.145407 C 0.353556 0.137120 0.343679 0.144961 0.353668 0.138466 C 0.354789 0.136665 0.357142 0.133083 0.358607 0.131292 C 0.359504 0.130169 0.360512 0.129502 0.361408 0.128379 C 0.361408 0.128379 0.366795 0.121428 0.367803 0.120082 C 0.368475 0.118969 0.369380 0.118291 0.369941 0.117169 C 0.370613 0.115833 0.371286 0.114032 0.372069 0.112919 C 0.374095 0.110005 0.375439 0.109782 0.377792 0.108659 C 0.378689 0.107314 0.379593 0.105523 0.380602 0.104400 C 0.381274 0.103732 0.382058 0.103500 0.382730 0.103054 C 0.383739 0.102164 0.384635 0.101041 0.385540 0.100140 C 0.386324 0.099472 0.386995 0.099250 0.387669 0.098795 C 0.396425 0.091176 0.385540 0.100140 0.392718 0.092967 C 0.395407 0.090286 0.396312 0.090063 0.399114 0.088717 C 0.400010 0.087817 0.400906 0.086694 0.401923 0.086026 C 0.403828 0.084235 0.405509 0.084013 0.407647 0.083112 C 0.409327 0.081321 0.410671 0.079753 0.412585 0.078853 C 0.413929 0.078185 0.415386 0.077962 0.416842 0.077507 C 0.427503 0.073480 0.420211 0.075494 0.430313 0.073248 C 0.432778 0.071457 0.431881 0.072803 0.433226 0.070344 " pathEditMode="relative" rAng="0" ptsTypes="AAAAAAAAAAAAAAAAAAAAAAAAAAAAAAAAAAAAAAAAAAAAAAAAAAAAAAAAAAAAAAAAAAAAAAAAAAAAAAAAAAAAAAAAAAAAAAAAAAAAAAAAAAAA">
                                      <p:cBhvr>
                                        <p:cTn id="12" dur="2000" fill="hold"/>
                                        <p:tgtEl>
                                          <p:spTgt spid="92"/>
                                        </p:tgtEl>
                                        <p:attrNameLst>
                                          <p:attrName>ppt_x</p:attrName>
                                          <p:attrName>ppt_y</p:attrName>
                                        </p:attrNameLst>
                                      </p:cBhvr>
                                      <p:rCtr x="21700" y="12900"/>
                                    </p:animMotion>
                                  </p:childTnLst>
                                </p:cTn>
                              </p:par>
                            </p:childTnLst>
                          </p:cTn>
                        </p:par>
                        <p:par>
                          <p:cTn id="13" fill="hold">
                            <p:stCondLst>
                              <p:cond delay="2000"/>
                            </p:stCondLst>
                            <p:childTnLst>
                              <p:par>
                                <p:cTn id="14" presetID="10" presetClass="entr" presetSubtype="0" fill="hold" grpId="0" nodeType="afterEffect">
                                  <p:stCondLst>
                                    <p:cond delay="0"/>
                                  </p:stCondLst>
                                  <p:childTnLst>
                                    <p:set>
                                      <p:cBhvr>
                                        <p:cTn id="15" dur="1" fill="hold">
                                          <p:stCondLst>
                                            <p:cond delay="0"/>
                                          </p:stCondLst>
                                        </p:cTn>
                                        <p:tgtEl>
                                          <p:spTgt spid="60"/>
                                        </p:tgtEl>
                                        <p:attrNameLst>
                                          <p:attrName>style.visibility</p:attrName>
                                        </p:attrNameLst>
                                      </p:cBhvr>
                                      <p:to>
                                        <p:strVal val="visible"/>
                                      </p:to>
                                    </p:set>
                                    <p:animEffect transition="in" filter="fade">
                                      <p:cBhvr>
                                        <p:cTn id="16" dur="500"/>
                                        <p:tgtEl>
                                          <p:spTgt spid="60"/>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blinds(horizontal)">
                                      <p:cBhvr>
                                        <p:cTn id="21"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bldLvl="0" animBg="1"/>
      <p:bldP spid="90" grpId="0" bldLvl="0" animBg="1"/>
      <p:bldP spid="91" grpId="0" bldLvl="0" animBg="1"/>
      <p:bldP spid="92" grpId="0" bldLvl="0" animBg="1"/>
      <p:bldP spid="59" grpId="0" bldLvl="0" animBg="1"/>
      <p:bldP spid="6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虚电路转发策略</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16</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虚电路的转发策略：虚电路转发决策基于分组标签，即虚电路号</a:t>
            </a:r>
            <a:endParaRPr kumimoji="1" lang="en-US" altLang="zh-CN" sz="2400" dirty="0"/>
          </a:p>
        </p:txBody>
      </p:sp>
      <p:cxnSp>
        <p:nvCxnSpPr>
          <p:cNvPr id="71" name="直接箭头连接符 70"/>
          <p:cNvCxnSpPr/>
          <p:nvPr/>
        </p:nvCxnSpPr>
        <p:spPr>
          <a:xfrm>
            <a:off x="4615815" y="3985260"/>
            <a:ext cx="821690" cy="581660"/>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288405" y="3960495"/>
            <a:ext cx="1006475" cy="60642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122" name="表格 121"/>
          <p:cNvGraphicFramePr>
            <a:graphicFrameLocks noGrp="1"/>
          </p:cNvGraphicFramePr>
          <p:nvPr/>
        </p:nvGraphicFramePr>
        <p:xfrm>
          <a:off x="4414106" y="5174069"/>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L1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L2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cxnSp>
        <p:nvCxnSpPr>
          <p:cNvPr id="138" name="连接符: 肘形 137"/>
          <p:cNvCxnSpPr/>
          <p:nvPr/>
        </p:nvCxnSpPr>
        <p:spPr>
          <a:xfrm rot="16200000" flipH="1">
            <a:off x="3032743" y="4784169"/>
            <a:ext cx="1599048" cy="1163678"/>
          </a:xfrm>
          <a:prstGeom prst="bentConnector3">
            <a:avLst>
              <a:gd name="adj1" fmla="val 99967"/>
            </a:avLst>
          </a:prstGeom>
          <a:ln w="28575">
            <a:tailEnd type="triangle"/>
          </a:ln>
        </p:spPr>
        <p:style>
          <a:lnRef idx="1">
            <a:schemeClr val="dk1"/>
          </a:lnRef>
          <a:fillRef idx="0">
            <a:schemeClr val="dk1"/>
          </a:fillRef>
          <a:effectRef idx="0">
            <a:schemeClr val="dk1"/>
          </a:effectRef>
          <a:fontRef idx="minor">
            <a:schemeClr val="tx1"/>
          </a:fontRef>
        </p:style>
      </p:cxnSp>
      <p:cxnSp>
        <p:nvCxnSpPr>
          <p:cNvPr id="141" name="连接符: 肘形 140"/>
          <p:cNvCxnSpPr/>
          <p:nvPr/>
        </p:nvCxnSpPr>
        <p:spPr>
          <a:xfrm rot="5400000" flipH="1" flipV="1">
            <a:off x="7042494" y="4969710"/>
            <a:ext cx="1480054" cy="819515"/>
          </a:xfrm>
          <a:prstGeom prst="bentConnector3">
            <a:avLst>
              <a:gd name="adj1" fmla="val -385"/>
            </a:avLst>
          </a:prstGeom>
          <a:ln w="28575">
            <a:tailEnd type="triangle"/>
          </a:ln>
        </p:spPr>
        <p:style>
          <a:lnRef idx="1">
            <a:schemeClr val="dk1"/>
          </a:lnRef>
          <a:fillRef idx="0">
            <a:schemeClr val="dk1"/>
          </a:fillRef>
          <a:effectRef idx="0">
            <a:schemeClr val="dk1"/>
          </a:effectRef>
          <a:fontRef idx="minor">
            <a:schemeClr val="tx1"/>
          </a:fontRef>
        </p:style>
      </p:cxnSp>
      <p:sp>
        <p:nvSpPr>
          <p:cNvPr id="70" name="日期占位符 9"/>
          <p:cNvSpPr>
            <a:spLocks noGrp="1"/>
          </p:cNvSpPr>
          <p:nvPr>
            <p:ph type="dt" sz="half" idx="10"/>
          </p:nvPr>
        </p:nvSpPr>
        <p:spPr>
          <a:xfrm>
            <a:off x="197485" y="6489065"/>
            <a:ext cx="3283585" cy="365125"/>
          </a:xfrm>
        </p:spPr>
        <p:txBody>
          <a:bodyPr/>
          <a:lstStyle/>
          <a:p>
            <a:r>
              <a:rPr kumimoji="1" lang="en-US" altLang="zh-CN" dirty="0"/>
              <a:t>5.1.4 </a:t>
            </a:r>
            <a:r>
              <a:rPr kumimoji="1" lang="zh-CN" altLang="en-US" dirty="0"/>
              <a:t>虚电路与数据报网络的比较</a:t>
            </a:r>
          </a:p>
        </p:txBody>
      </p:sp>
      <p:grpSp>
        <p:nvGrpSpPr>
          <p:cNvPr id="98" name="组合 97"/>
          <p:cNvGrpSpPr/>
          <p:nvPr/>
        </p:nvGrpSpPr>
        <p:grpSpPr>
          <a:xfrm>
            <a:off x="996950" y="2139315"/>
            <a:ext cx="10153015" cy="3000375"/>
            <a:chOff x="1570" y="3369"/>
            <a:chExt cx="15989" cy="4725"/>
          </a:xfrm>
        </p:grpSpPr>
        <p:sp>
          <p:nvSpPr>
            <p:cNvPr id="123" name="文本框 12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24" name="文本框 123"/>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25" name="文本框 124"/>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3" name="组合 2"/>
            <p:cNvGrpSpPr/>
            <p:nvPr/>
          </p:nvGrpSpPr>
          <p:grpSpPr>
            <a:xfrm>
              <a:off x="1570" y="3369"/>
              <a:ext cx="1933" cy="3057"/>
              <a:chOff x="357711" y="2619024"/>
              <a:chExt cx="1227578" cy="1940916"/>
            </a:xfrm>
          </p:grpSpPr>
          <p:sp>
            <p:nvSpPr>
              <p:cNvPr id="10" name="矩形 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25" name="组合 24"/>
            <p:cNvGrpSpPr/>
            <p:nvPr/>
          </p:nvGrpSpPr>
          <p:grpSpPr>
            <a:xfrm>
              <a:off x="15627" y="3543"/>
              <a:ext cx="1933" cy="3057"/>
              <a:chOff x="357711" y="2619024"/>
              <a:chExt cx="1227578" cy="1940916"/>
            </a:xfrm>
          </p:grpSpPr>
          <p:sp>
            <p:nvSpPr>
              <p:cNvPr id="26" name="矩形 2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1" name="矩形 30"/>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3" name="矩形 3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4" name="矩形 3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6" name="组合 35"/>
            <p:cNvGrpSpPr/>
            <p:nvPr/>
          </p:nvGrpSpPr>
          <p:grpSpPr>
            <a:xfrm>
              <a:off x="3333" y="3816"/>
              <a:ext cx="12445" cy="4278"/>
              <a:chOff x="1280664" y="3160857"/>
              <a:chExt cx="9581222" cy="3333678"/>
            </a:xfrm>
          </p:grpSpPr>
          <p:grpSp>
            <p:nvGrpSpPr>
              <p:cNvPr id="37" name="组合 36"/>
              <p:cNvGrpSpPr/>
              <p:nvPr/>
            </p:nvGrpSpPr>
            <p:grpSpPr>
              <a:xfrm>
                <a:off x="1546275" y="3160857"/>
                <a:ext cx="9041239" cy="2843922"/>
                <a:chOff x="1546275" y="3160857"/>
                <a:chExt cx="9041239" cy="2843922"/>
              </a:xfrm>
            </p:grpSpPr>
            <p:cxnSp>
              <p:nvCxnSpPr>
                <p:cNvPr id="44" name="直接连接符 43"/>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45" name="直接连接符 44"/>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58" name="直接连接符 57"/>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61" name="直接连接符 60"/>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2" name="直接连接符 71"/>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4" name="直接连接符 73"/>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75" name="直接连接符 74"/>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76"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9" descr="服务器终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83" name="文本框 82"/>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84" name="文本框 83"/>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85" name="文本框 84"/>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86" name="文本框 85"/>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87" name="文本框 86"/>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88" name="文本框 87"/>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89" name="文本框 88"/>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graphicFrame>
        <p:nvGraphicFramePr>
          <p:cNvPr id="5" name="表格 4"/>
          <p:cNvGraphicFramePr>
            <a:graphicFrameLocks noGrp="1"/>
          </p:cNvGraphicFramePr>
          <p:nvPr/>
        </p:nvGraphicFramePr>
        <p:xfrm>
          <a:off x="2100431" y="4180365"/>
          <a:ext cx="3019088"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val="20000"/>
                    </a:ext>
                  </a:extLst>
                </a:gridCol>
                <a:gridCol w="1040860">
                  <a:extLst>
                    <a:ext uri="{9D8B030D-6E8A-4147-A177-3AD203B41FA5}">
                      <a16:colId xmlns:a16="http://schemas.microsoft.com/office/drawing/2014/main" val="20001"/>
                    </a:ext>
                  </a:extLst>
                </a:gridCol>
                <a:gridCol w="846306">
                  <a:extLst>
                    <a:ext uri="{9D8B030D-6E8A-4147-A177-3AD203B41FA5}">
                      <a16:colId xmlns:a16="http://schemas.microsoft.com/office/drawing/2014/main" val="20002"/>
                    </a:ext>
                  </a:extLst>
                </a:gridCol>
                <a:gridCol w="450264">
                  <a:extLst>
                    <a:ext uri="{9D8B030D-6E8A-4147-A177-3AD203B41FA5}">
                      <a16:colId xmlns:a16="http://schemas.microsoft.com/office/drawing/2014/main" val="20003"/>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en-US" altLang="zh-CN" sz="1600" b="0" kern="1200" dirty="0">
                          <a:solidFill>
                            <a:schemeClr val="tx1"/>
                          </a:solidFill>
                          <a:latin typeface="微软雅黑" panose="020B0503020204020204" pitchFamily="34" charset="-122"/>
                          <a:ea typeface="微软雅黑" panose="020B0503020204020204" pitchFamily="34" charset="-122"/>
                          <a:cs typeface="+mn-cs"/>
                        </a:rPr>
                        <a:t>L1</a:t>
                      </a:r>
                      <a:endParaRPr lang="zh-CN" altLang="en-US" sz="1600" b="0" kern="1200" dirty="0">
                        <a:solidFill>
                          <a:schemeClr val="tx1"/>
                        </a:solidFill>
                        <a:latin typeface="微软雅黑" panose="020B0503020204020204" pitchFamily="34" charset="-122"/>
                        <a:ea typeface="微软雅黑" panose="020B0503020204020204" pitchFamily="34" charset="-122"/>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99" name="表格 98"/>
          <p:cNvGraphicFramePr>
            <a:graphicFrameLocks noGrp="1"/>
          </p:cNvGraphicFramePr>
          <p:nvPr/>
        </p:nvGraphicFramePr>
        <p:xfrm>
          <a:off x="6664196" y="4251642"/>
          <a:ext cx="3019088"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val="20000"/>
                    </a:ext>
                  </a:extLst>
                </a:gridCol>
                <a:gridCol w="1040860">
                  <a:extLst>
                    <a:ext uri="{9D8B030D-6E8A-4147-A177-3AD203B41FA5}">
                      <a16:colId xmlns:a16="http://schemas.microsoft.com/office/drawing/2014/main" val="20001"/>
                    </a:ext>
                  </a:extLst>
                </a:gridCol>
                <a:gridCol w="846306">
                  <a:extLst>
                    <a:ext uri="{9D8B030D-6E8A-4147-A177-3AD203B41FA5}">
                      <a16:colId xmlns:a16="http://schemas.microsoft.com/office/drawing/2014/main" val="20002"/>
                    </a:ext>
                  </a:extLst>
                </a:gridCol>
                <a:gridCol w="450264">
                  <a:extLst>
                    <a:ext uri="{9D8B030D-6E8A-4147-A177-3AD203B41FA5}">
                      <a16:colId xmlns:a16="http://schemas.microsoft.com/office/drawing/2014/main" val="20003"/>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en-US" altLang="zh-CN" sz="1600" b="0" kern="1200" dirty="0">
                          <a:solidFill>
                            <a:schemeClr val="tx1"/>
                          </a:solidFill>
                          <a:latin typeface="微软雅黑" panose="020B0503020204020204" pitchFamily="34" charset="-122"/>
                          <a:ea typeface="微软雅黑" panose="020B0503020204020204" pitchFamily="34" charset="-122"/>
                          <a:cs typeface="+mn-cs"/>
                        </a:rPr>
                        <a:t>L2</a:t>
                      </a:r>
                      <a:endParaRPr lang="zh-CN" altLang="en-US" sz="1600" b="0" kern="1200" dirty="0">
                        <a:solidFill>
                          <a:schemeClr val="tx1"/>
                        </a:solidFill>
                        <a:latin typeface="微软雅黑" panose="020B0503020204020204" pitchFamily="34" charset="-122"/>
                        <a:ea typeface="微软雅黑" panose="020B0503020204020204" pitchFamily="34" charset="-122"/>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pic>
        <p:nvPicPr>
          <p:cNvPr id="62" name="Picture 28" descr="015">
            <a:extLst>
              <a:ext uri="{FF2B5EF4-FFF2-40B4-BE49-F238E27FC236}">
                <a16:creationId xmlns:a16="http://schemas.microsoft.com/office/drawing/2014/main" id="{5F49A69F-8B4D-4FC2-A269-31D822EB99C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4900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wipe(left)">
                                      <p:cBhvr>
                                        <p:cTn id="7" dur="500"/>
                                        <p:tgtEl>
                                          <p:spTgt spid="71"/>
                                        </p:tgtEl>
                                      </p:cBhvr>
                                    </p:animEffect>
                                  </p:childTnLst>
                                </p:cTn>
                              </p:par>
                              <p:par>
                                <p:cTn id="8" presetID="22" presetClass="entr" presetSubtype="2"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right)">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38"/>
                                        </p:tgtEl>
                                        <p:attrNameLst>
                                          <p:attrName>style.visibility</p:attrName>
                                        </p:attrNameLst>
                                      </p:cBhvr>
                                      <p:to>
                                        <p:strVal val="visible"/>
                                      </p:to>
                                    </p:set>
                                    <p:animEffect transition="in" filter="wipe(left)">
                                      <p:cBhvr>
                                        <p:cTn id="15" dur="500"/>
                                        <p:tgtEl>
                                          <p:spTgt spid="138"/>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22"/>
                                        </p:tgtEl>
                                        <p:attrNameLst>
                                          <p:attrName>style.visibility</p:attrName>
                                        </p:attrNameLst>
                                      </p:cBhvr>
                                      <p:to>
                                        <p:strVal val="visible"/>
                                      </p:to>
                                    </p:set>
                                    <p:animEffect transition="in" filter="wipe(left)">
                                      <p:cBhvr>
                                        <p:cTn id="19" dur="500"/>
                                        <p:tgtEl>
                                          <p:spTgt spid="12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73"/>
                                        </p:tgtEl>
                                        <p:attrNameLst>
                                          <p:attrName>style.visibility</p:attrName>
                                        </p:attrNameLst>
                                      </p:cBhvr>
                                      <p:to>
                                        <p:strVal val="visible"/>
                                      </p:to>
                                    </p:set>
                                    <p:animEffect transition="in" filter="wipe(left)">
                                      <p:cBhvr>
                                        <p:cTn id="24" dur="500"/>
                                        <p:tgtEl>
                                          <p:spTgt spid="7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41"/>
                                        </p:tgtEl>
                                        <p:attrNameLst>
                                          <p:attrName>style.visibility</p:attrName>
                                        </p:attrNameLst>
                                      </p:cBhvr>
                                      <p:to>
                                        <p:strVal val="visible"/>
                                      </p:to>
                                    </p:set>
                                    <p:animEffect transition="in" filter="wipe(left)">
                                      <p:cBhvr>
                                        <p:cTn id="28" dur="500"/>
                                        <p:tgtEl>
                                          <p:spTgt spid="141"/>
                                        </p:tgtEl>
                                      </p:cBhvr>
                                    </p:animEffect>
                                  </p:childTnLst>
                                </p:cTn>
                              </p:par>
                            </p:childTnLst>
                          </p:cTn>
                        </p:par>
                        <p:par>
                          <p:cTn id="29" fill="hold">
                            <p:stCondLst>
                              <p:cond delay="1000"/>
                            </p:stCondLst>
                            <p:childTnLst>
                              <p:par>
                                <p:cTn id="30" presetID="22" presetClass="entr" presetSubtype="2" fill="hold" nodeType="after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right)">
                                      <p:cBhvr>
                                        <p:cTn id="32"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 name="组合 97"/>
          <p:cNvGrpSpPr/>
          <p:nvPr/>
        </p:nvGrpSpPr>
        <p:grpSpPr>
          <a:xfrm>
            <a:off x="996950" y="2231675"/>
            <a:ext cx="10153015" cy="3000375"/>
            <a:chOff x="1570" y="3369"/>
            <a:chExt cx="15989" cy="4725"/>
          </a:xfrm>
        </p:grpSpPr>
        <p:sp>
          <p:nvSpPr>
            <p:cNvPr id="3" name="文本框 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0" name="文本框 9"/>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3" name="文本框 12"/>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15" name="组合 14"/>
            <p:cNvGrpSpPr/>
            <p:nvPr/>
          </p:nvGrpSpPr>
          <p:grpSpPr>
            <a:xfrm>
              <a:off x="1570" y="3369"/>
              <a:ext cx="1933" cy="3057"/>
              <a:chOff x="357711" y="2619024"/>
              <a:chExt cx="1227578" cy="1940916"/>
            </a:xfrm>
          </p:grpSpPr>
          <p:sp>
            <p:nvSpPr>
              <p:cNvPr id="18" name="矩形 17"/>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6" name="矩形 25"/>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7" name="矩形 26"/>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29" name="组合 28"/>
            <p:cNvGrpSpPr/>
            <p:nvPr/>
          </p:nvGrpSpPr>
          <p:grpSpPr>
            <a:xfrm>
              <a:off x="15627" y="3543"/>
              <a:ext cx="1933" cy="3057"/>
              <a:chOff x="357711" y="2619024"/>
              <a:chExt cx="1227578" cy="1940916"/>
            </a:xfrm>
          </p:grpSpPr>
          <p:sp>
            <p:nvSpPr>
              <p:cNvPr id="31" name="矩形 30"/>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6" name="矩形 35"/>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7" name="矩形 36"/>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4" name="矩形 4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5" name="矩形 4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80" name="组合 79"/>
            <p:cNvGrpSpPr/>
            <p:nvPr/>
          </p:nvGrpSpPr>
          <p:grpSpPr>
            <a:xfrm>
              <a:off x="3333" y="3816"/>
              <a:ext cx="12445" cy="4278"/>
              <a:chOff x="1280664" y="3160857"/>
              <a:chExt cx="9581222" cy="3333678"/>
            </a:xfrm>
          </p:grpSpPr>
          <p:grpSp>
            <p:nvGrpSpPr>
              <p:cNvPr id="81" name="组合 80"/>
              <p:cNvGrpSpPr/>
              <p:nvPr/>
            </p:nvGrpSpPr>
            <p:grpSpPr>
              <a:xfrm>
                <a:off x="1546275" y="3160857"/>
                <a:ext cx="9041239" cy="2843922"/>
                <a:chOff x="1546275" y="3160857"/>
                <a:chExt cx="9041239" cy="2843922"/>
              </a:xfrm>
            </p:grpSpPr>
            <p:cxnSp>
              <p:nvCxnSpPr>
                <p:cNvPr id="95" name="直接连接符 94"/>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96" name="直接连接符 95"/>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97" name="直接连接符 96"/>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99" name="直接连接符 98"/>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100" name="直接连接符 99"/>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101" name="直接连接符 100"/>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102" name="直接连接符 101"/>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103" name="直接连接符 102"/>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104" name="直接连接符 103"/>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105"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06"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107"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108"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11"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112" name="文本框 111"/>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113" name="文本框 112"/>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114" name="文本框 113"/>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115" name="文本框 114"/>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16" name="文本框 115"/>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117" name="文本框 116"/>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118" name="文本框 117"/>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lstStyle/>
          <a:p>
            <a:r>
              <a:rPr kumimoji="1" lang="zh-CN" altLang="en-US" dirty="0"/>
              <a:t>面向连接的虚电路</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a:t>
            </a:fld>
            <a:endParaRPr kumimoji="1" lang="zh-CN" altLang="en-US" dirty="0"/>
          </a:p>
        </p:txBody>
      </p:sp>
      <p:cxnSp>
        <p:nvCxnSpPr>
          <p:cNvPr id="71" name="直接箭头连接符 70"/>
          <p:cNvCxnSpPr/>
          <p:nvPr/>
        </p:nvCxnSpPr>
        <p:spPr>
          <a:xfrm>
            <a:off x="4429125" y="4093495"/>
            <a:ext cx="1068705" cy="815340"/>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242050" y="4108100"/>
            <a:ext cx="1250950" cy="80073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122" name="表格 121"/>
          <p:cNvGraphicFramePr>
            <a:graphicFrameLocks noGrp="1"/>
          </p:cNvGraphicFramePr>
          <p:nvPr>
            <p:custDataLst>
              <p:tags r:id="rId1"/>
            </p:custDataLst>
          </p:nvPr>
        </p:nvGraphicFramePr>
        <p:xfrm>
          <a:off x="4419186" y="5232139"/>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cxnSp>
        <p:nvCxnSpPr>
          <p:cNvPr id="58" name="直接箭头连接符 57"/>
          <p:cNvCxnSpPr/>
          <p:nvPr/>
        </p:nvCxnSpPr>
        <p:spPr>
          <a:xfrm>
            <a:off x="2178878" y="3262947"/>
            <a:ext cx="1903474" cy="70531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59" name="直接箭头连接符 58"/>
          <p:cNvCxnSpPr/>
          <p:nvPr/>
        </p:nvCxnSpPr>
        <p:spPr>
          <a:xfrm flipV="1">
            <a:off x="8015605" y="3378485"/>
            <a:ext cx="1784985" cy="45910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60" name="表格 59"/>
          <p:cNvGraphicFramePr>
            <a:graphicFrameLocks noGrp="1"/>
          </p:cNvGraphicFramePr>
          <p:nvPr>
            <p:custDataLst>
              <p:tags r:id="rId2"/>
            </p:custDataLst>
          </p:nvPr>
        </p:nvGraphicFramePr>
        <p:xfrm>
          <a:off x="2398586" y="2046387"/>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11</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61" name="表格 60"/>
          <p:cNvGraphicFramePr>
            <a:graphicFrameLocks noGrp="1"/>
          </p:cNvGraphicFramePr>
          <p:nvPr>
            <p:custDataLst>
              <p:tags r:id="rId3"/>
            </p:custDataLst>
          </p:nvPr>
        </p:nvGraphicFramePr>
        <p:xfrm>
          <a:off x="8202246" y="3874958"/>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44</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82" name="日期占位符 9"/>
          <p:cNvSpPr>
            <a:spLocks noGrp="1"/>
          </p:cNvSpPr>
          <p:nvPr>
            <p:ph type="dt" sz="half" idx="10"/>
          </p:nvPr>
        </p:nvSpPr>
        <p:spPr>
          <a:xfrm>
            <a:off x="197485" y="6489065"/>
            <a:ext cx="3204845" cy="365125"/>
          </a:xfrm>
        </p:spPr>
        <p:txBody>
          <a:bodyPr/>
          <a:lstStyle/>
          <a:p>
            <a:r>
              <a:rPr kumimoji="1" lang="en-US" altLang="zh-CN" dirty="0"/>
              <a:t>5.1.4 </a:t>
            </a:r>
            <a:r>
              <a:rPr kumimoji="1" lang="zh-CN" altLang="en-US" dirty="0"/>
              <a:t>虚电路与数据报网络的比较</a:t>
            </a:r>
          </a:p>
        </p:txBody>
      </p:sp>
      <p:sp>
        <p:nvSpPr>
          <p:cNvPr id="83" name="矩形 82"/>
          <p:cNvSpPr/>
          <p:nvPr/>
        </p:nvSpPr>
        <p:spPr>
          <a:xfrm>
            <a:off x="10582752" y="4652016"/>
            <a:ext cx="544518" cy="3165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矩形 83"/>
          <p:cNvSpPr/>
          <p:nvPr/>
        </p:nvSpPr>
        <p:spPr>
          <a:xfrm>
            <a:off x="6736692" y="6028810"/>
            <a:ext cx="544518" cy="2453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p:cNvSpPr/>
          <p:nvPr/>
        </p:nvSpPr>
        <p:spPr>
          <a:xfrm>
            <a:off x="4693980" y="2810676"/>
            <a:ext cx="544518" cy="33001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6" name="直接箭头连接符 85"/>
          <p:cNvCxnSpPr/>
          <p:nvPr/>
        </p:nvCxnSpPr>
        <p:spPr>
          <a:xfrm>
            <a:off x="4450715" y="4108100"/>
            <a:ext cx="1047115" cy="800735"/>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87" name="直接箭头连接符 86"/>
          <p:cNvCxnSpPr/>
          <p:nvPr/>
        </p:nvCxnSpPr>
        <p:spPr>
          <a:xfrm flipV="1">
            <a:off x="6234430" y="4108100"/>
            <a:ext cx="1258570" cy="802640"/>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88" name="直接箭头连接符 87"/>
          <p:cNvCxnSpPr/>
          <p:nvPr/>
        </p:nvCxnSpPr>
        <p:spPr>
          <a:xfrm>
            <a:off x="2178685" y="3262915"/>
            <a:ext cx="1728470" cy="645160"/>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89" name="直接箭头连接符 88"/>
          <p:cNvCxnSpPr/>
          <p:nvPr/>
        </p:nvCxnSpPr>
        <p:spPr>
          <a:xfrm flipV="1">
            <a:off x="8025765" y="3378485"/>
            <a:ext cx="1774825" cy="450215"/>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grpSp>
        <p:nvGrpSpPr>
          <p:cNvPr id="90" name="组合 89"/>
          <p:cNvGrpSpPr/>
          <p:nvPr/>
        </p:nvGrpSpPr>
        <p:grpSpPr>
          <a:xfrm>
            <a:off x="8363805" y="1416347"/>
            <a:ext cx="1795049" cy="736781"/>
            <a:chOff x="9396433" y="1323987"/>
            <a:chExt cx="1795049" cy="736781"/>
          </a:xfrm>
        </p:grpSpPr>
        <p:cxnSp>
          <p:nvCxnSpPr>
            <p:cNvPr id="91" name="直接箭头连接符 90"/>
            <p:cNvCxnSpPr/>
            <p:nvPr/>
          </p:nvCxnSpPr>
          <p:spPr>
            <a:xfrm>
              <a:off x="9396433" y="1872640"/>
              <a:ext cx="530178" cy="0"/>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sp>
          <p:nvSpPr>
            <p:cNvPr id="92" name="文本框 91"/>
            <p:cNvSpPr txBox="1"/>
            <p:nvPr/>
          </p:nvSpPr>
          <p:spPr>
            <a:xfrm>
              <a:off x="9979978" y="1660658"/>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确认分组</a:t>
              </a:r>
            </a:p>
          </p:txBody>
        </p:sp>
        <p:cxnSp>
          <p:nvCxnSpPr>
            <p:cNvPr id="93" name="直接箭头连接符 92"/>
            <p:cNvCxnSpPr/>
            <p:nvPr/>
          </p:nvCxnSpPr>
          <p:spPr>
            <a:xfrm>
              <a:off x="9397349" y="1535969"/>
              <a:ext cx="530178" cy="0"/>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sp>
          <p:nvSpPr>
            <p:cNvPr id="94" name="文本框 93"/>
            <p:cNvSpPr txBox="1"/>
            <p:nvPr/>
          </p:nvSpPr>
          <p:spPr>
            <a:xfrm>
              <a:off x="9980894" y="1323987"/>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请求分组</a:t>
              </a:r>
            </a:p>
          </p:txBody>
        </p:sp>
      </p:grpSp>
      <p:sp>
        <p:nvSpPr>
          <p:cNvPr id="70" name="内容占位符 2"/>
          <p:cNvSpPr txBox="1"/>
          <p:nvPr/>
        </p:nvSpPr>
        <p:spPr>
          <a:xfrm>
            <a:off x="838200" y="1417272"/>
            <a:ext cx="10515600" cy="873457"/>
          </a:xfrm>
          <a:prstGeom prst="rect">
            <a:avLst/>
          </a:prstGeom>
        </p:spPr>
        <p:txBody>
          <a:bodyPr vert="horz" lIns="91440" tIns="45720" rIns="91440" bIns="45720" rtlCol="0">
            <a:normAutofit/>
          </a:bodyPr>
          <a:lstStyle>
            <a:lvl1pPr marL="360680" indent="-36068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kumimoji="1" lang="zh-CN" altLang="en-US" sz="2400" dirty="0"/>
              <a:t>面向连接的服务第一阶段：建立连接</a:t>
            </a:r>
            <a:endParaRPr kumimoji="1" lang="en-US" altLang="zh-CN" sz="2400" dirty="0"/>
          </a:p>
        </p:txBody>
      </p:sp>
      <p:pic>
        <p:nvPicPr>
          <p:cNvPr id="72" name="Picture 28" descr="015">
            <a:extLst>
              <a:ext uri="{FF2B5EF4-FFF2-40B4-BE49-F238E27FC236}">
                <a16:creationId xmlns:a16="http://schemas.microsoft.com/office/drawing/2014/main" id="{9C23D4BF-0217-4A56-9A19-8781ECCE367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63778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wipe(down)">
                                      <p:cBhvr>
                                        <p:cTn id="12" dur="500"/>
                                        <p:tgtEl>
                                          <p:spTgt spid="60"/>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wipe(left)">
                                      <p:cBhvr>
                                        <p:cTn id="16" dur="500"/>
                                        <p:tgtEl>
                                          <p:spTgt spid="7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122"/>
                                        </p:tgtEl>
                                        <p:attrNameLst>
                                          <p:attrName>style.visibility</p:attrName>
                                        </p:attrNameLst>
                                      </p:cBhvr>
                                      <p:to>
                                        <p:strVal val="visible"/>
                                      </p:to>
                                    </p:set>
                                    <p:animEffect transition="in" filter="wipe(up)">
                                      <p:cBhvr>
                                        <p:cTn id="21" dur="500"/>
                                        <p:tgtEl>
                                          <p:spTgt spid="122"/>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73"/>
                                        </p:tgtEl>
                                        <p:attrNameLst>
                                          <p:attrName>style.visibility</p:attrName>
                                        </p:attrNameLst>
                                      </p:cBhvr>
                                      <p:to>
                                        <p:strVal val="visible"/>
                                      </p:to>
                                    </p:set>
                                    <p:animEffect transition="in" filter="wipe(left)">
                                      <p:cBhvr>
                                        <p:cTn id="25" dur="500"/>
                                        <p:tgtEl>
                                          <p:spTgt spid="7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61"/>
                                        </p:tgtEl>
                                        <p:attrNameLst>
                                          <p:attrName>style.visibility</p:attrName>
                                        </p:attrNameLst>
                                      </p:cBhvr>
                                      <p:to>
                                        <p:strVal val="visible"/>
                                      </p:to>
                                    </p:set>
                                    <p:animEffect transition="in" filter="wipe(up)">
                                      <p:cBhvr>
                                        <p:cTn id="30" dur="500"/>
                                        <p:tgtEl>
                                          <p:spTgt spid="61"/>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wipe(left)">
                                      <p:cBhvr>
                                        <p:cTn id="34" dur="500"/>
                                        <p:tgtEl>
                                          <p:spTgt spid="59"/>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nodeType="clickEffect">
                                  <p:stCondLst>
                                    <p:cond delay="0"/>
                                  </p:stCondLst>
                                  <p:childTnLst>
                                    <p:set>
                                      <p:cBhvr>
                                        <p:cTn id="38" dur="1" fill="hold">
                                          <p:stCondLst>
                                            <p:cond delay="0"/>
                                          </p:stCondLst>
                                        </p:cTn>
                                        <p:tgtEl>
                                          <p:spTgt spid="58"/>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71"/>
                                        </p:tgtEl>
                                        <p:attrNameLst>
                                          <p:attrName>style.visibility</p:attrName>
                                        </p:attrNameLst>
                                      </p:cBhvr>
                                      <p:to>
                                        <p:strVal val="hidden"/>
                                      </p:to>
                                    </p:set>
                                  </p:childTnLst>
                                </p:cTn>
                              </p:par>
                              <p:par>
                                <p:cTn id="41" presetID="1" presetClass="exit" presetSubtype="0" fill="hold" nodeType="withEffect">
                                  <p:stCondLst>
                                    <p:cond delay="0"/>
                                  </p:stCondLst>
                                  <p:childTnLst>
                                    <p:set>
                                      <p:cBhvr>
                                        <p:cTn id="42" dur="1" fill="hold">
                                          <p:stCondLst>
                                            <p:cond delay="0"/>
                                          </p:stCondLst>
                                        </p:cTn>
                                        <p:tgtEl>
                                          <p:spTgt spid="73"/>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59"/>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89"/>
                                        </p:tgtEl>
                                        <p:attrNameLst>
                                          <p:attrName>style.visibility</p:attrName>
                                        </p:attrNameLst>
                                      </p:cBhvr>
                                      <p:to>
                                        <p:strVal val="visible"/>
                                      </p:to>
                                    </p:set>
                                    <p:animEffect transition="in" filter="wipe(right)">
                                      <p:cBhvr>
                                        <p:cTn id="47" dur="500"/>
                                        <p:tgtEl>
                                          <p:spTgt spid="89"/>
                                        </p:tgtEl>
                                      </p:cBhvr>
                                    </p:animEffect>
                                  </p:childTnLst>
                                </p:cTn>
                              </p:par>
                            </p:childTnLst>
                          </p:cTn>
                        </p:par>
                        <p:par>
                          <p:cTn id="48" fill="hold">
                            <p:stCondLst>
                              <p:cond delay="0"/>
                            </p:stCondLst>
                            <p:childTnLst>
                              <p:par>
                                <p:cTn id="49" presetID="22" presetClass="exit" presetSubtype="4" fill="hold" grpId="0" nodeType="afterEffect">
                                  <p:stCondLst>
                                    <p:cond delay="0"/>
                                  </p:stCondLst>
                                  <p:childTnLst>
                                    <p:animEffect transition="out" filter="wipe(down)">
                                      <p:cBhvr>
                                        <p:cTn id="50" dur="500"/>
                                        <p:tgtEl>
                                          <p:spTgt spid="83"/>
                                        </p:tgtEl>
                                      </p:cBhvr>
                                    </p:animEffect>
                                    <p:set>
                                      <p:cBhvr>
                                        <p:cTn id="51" dur="1" fill="hold">
                                          <p:stCondLst>
                                            <p:cond delay="499"/>
                                          </p:stCondLst>
                                        </p:cTn>
                                        <p:tgtEl>
                                          <p:spTgt spid="83"/>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2" fill="hold" nodeType="clickEffect">
                                  <p:stCondLst>
                                    <p:cond delay="0"/>
                                  </p:stCondLst>
                                  <p:childTnLst>
                                    <p:set>
                                      <p:cBhvr>
                                        <p:cTn id="55" dur="1" fill="hold">
                                          <p:stCondLst>
                                            <p:cond delay="0"/>
                                          </p:stCondLst>
                                        </p:cTn>
                                        <p:tgtEl>
                                          <p:spTgt spid="87"/>
                                        </p:tgtEl>
                                        <p:attrNameLst>
                                          <p:attrName>style.visibility</p:attrName>
                                        </p:attrNameLst>
                                      </p:cBhvr>
                                      <p:to>
                                        <p:strVal val="visible"/>
                                      </p:to>
                                    </p:set>
                                    <p:animEffect transition="in" filter="wipe(right)">
                                      <p:cBhvr>
                                        <p:cTn id="56" dur="500"/>
                                        <p:tgtEl>
                                          <p:spTgt spid="87"/>
                                        </p:tgtEl>
                                      </p:cBhvr>
                                    </p:animEffect>
                                  </p:childTnLst>
                                </p:cTn>
                              </p:par>
                            </p:childTnLst>
                          </p:cTn>
                        </p:par>
                        <p:par>
                          <p:cTn id="57" fill="hold">
                            <p:stCondLst>
                              <p:cond delay="500"/>
                            </p:stCondLst>
                            <p:childTnLst>
                              <p:par>
                                <p:cTn id="58" presetID="22" presetClass="exit" presetSubtype="4" fill="hold" grpId="0" nodeType="afterEffect">
                                  <p:stCondLst>
                                    <p:cond delay="0"/>
                                  </p:stCondLst>
                                  <p:childTnLst>
                                    <p:animEffect transition="out" filter="wipe(down)">
                                      <p:cBhvr>
                                        <p:cTn id="59" dur="500"/>
                                        <p:tgtEl>
                                          <p:spTgt spid="84"/>
                                        </p:tgtEl>
                                      </p:cBhvr>
                                    </p:animEffect>
                                    <p:set>
                                      <p:cBhvr>
                                        <p:cTn id="60" dur="1" fill="hold">
                                          <p:stCondLst>
                                            <p:cond delay="499"/>
                                          </p:stCondLst>
                                        </p:cTn>
                                        <p:tgtEl>
                                          <p:spTgt spid="8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2" presetClass="entr" presetSubtype="2" fill="hold" nodeType="clickEffect">
                                  <p:stCondLst>
                                    <p:cond delay="0"/>
                                  </p:stCondLst>
                                  <p:childTnLst>
                                    <p:set>
                                      <p:cBhvr>
                                        <p:cTn id="64" dur="1" fill="hold">
                                          <p:stCondLst>
                                            <p:cond delay="0"/>
                                          </p:stCondLst>
                                        </p:cTn>
                                        <p:tgtEl>
                                          <p:spTgt spid="86"/>
                                        </p:tgtEl>
                                        <p:attrNameLst>
                                          <p:attrName>style.visibility</p:attrName>
                                        </p:attrNameLst>
                                      </p:cBhvr>
                                      <p:to>
                                        <p:strVal val="visible"/>
                                      </p:to>
                                    </p:set>
                                    <p:animEffect transition="in" filter="wipe(right)">
                                      <p:cBhvr>
                                        <p:cTn id="65" dur="500"/>
                                        <p:tgtEl>
                                          <p:spTgt spid="86"/>
                                        </p:tgtEl>
                                      </p:cBhvr>
                                    </p:animEffect>
                                  </p:childTnLst>
                                </p:cTn>
                              </p:par>
                            </p:childTnLst>
                          </p:cTn>
                        </p:par>
                        <p:par>
                          <p:cTn id="66" fill="hold">
                            <p:stCondLst>
                              <p:cond delay="500"/>
                            </p:stCondLst>
                            <p:childTnLst>
                              <p:par>
                                <p:cTn id="67" presetID="22" presetClass="exit" presetSubtype="4" fill="hold" grpId="0" nodeType="afterEffect">
                                  <p:stCondLst>
                                    <p:cond delay="0"/>
                                  </p:stCondLst>
                                  <p:childTnLst>
                                    <p:animEffect transition="out" filter="wipe(down)">
                                      <p:cBhvr>
                                        <p:cTn id="68" dur="500"/>
                                        <p:tgtEl>
                                          <p:spTgt spid="85"/>
                                        </p:tgtEl>
                                      </p:cBhvr>
                                    </p:animEffect>
                                    <p:set>
                                      <p:cBhvr>
                                        <p:cTn id="69" dur="1" fill="hold">
                                          <p:stCondLst>
                                            <p:cond delay="499"/>
                                          </p:stCondLst>
                                        </p:cTn>
                                        <p:tgtEl>
                                          <p:spTgt spid="85"/>
                                        </p:tgtEl>
                                        <p:attrNameLst>
                                          <p:attrName>style.visibility</p:attrName>
                                        </p:attrNameLst>
                                      </p:cBhvr>
                                      <p:to>
                                        <p:strVal val="hidden"/>
                                      </p:to>
                                    </p:set>
                                  </p:childTnLst>
                                </p:cTn>
                              </p:par>
                            </p:childTnLst>
                          </p:cTn>
                        </p:par>
                        <p:par>
                          <p:cTn id="70" fill="hold">
                            <p:stCondLst>
                              <p:cond delay="1000"/>
                            </p:stCondLst>
                            <p:childTnLst>
                              <p:par>
                                <p:cTn id="71" presetID="22" presetClass="entr" presetSubtype="2" fill="hold" nodeType="afterEffect">
                                  <p:stCondLst>
                                    <p:cond delay="0"/>
                                  </p:stCondLst>
                                  <p:childTnLst>
                                    <p:set>
                                      <p:cBhvr>
                                        <p:cTn id="72" dur="1" fill="hold">
                                          <p:stCondLst>
                                            <p:cond delay="0"/>
                                          </p:stCondLst>
                                        </p:cTn>
                                        <p:tgtEl>
                                          <p:spTgt spid="88"/>
                                        </p:tgtEl>
                                        <p:attrNameLst>
                                          <p:attrName>style.visibility</p:attrName>
                                        </p:attrNameLst>
                                      </p:cBhvr>
                                      <p:to>
                                        <p:strVal val="visible"/>
                                      </p:to>
                                    </p:set>
                                    <p:animEffect transition="in" filter="wipe(right)">
                                      <p:cBhvr>
                                        <p:cTn id="73"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bldLvl="0" animBg="1"/>
      <p:bldP spid="84" grpId="0" bldLvl="0" animBg="1"/>
      <p:bldP spid="85" grpId="0" bldLvl="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996950" y="2230755"/>
            <a:ext cx="10153015" cy="3000375"/>
            <a:chOff x="1570" y="3369"/>
            <a:chExt cx="15989" cy="4725"/>
          </a:xfrm>
        </p:grpSpPr>
        <p:sp>
          <p:nvSpPr>
            <p:cNvPr id="123" name="文本框 12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24" name="文本框 123"/>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25" name="文本框 124"/>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6" name="组合 5"/>
            <p:cNvGrpSpPr/>
            <p:nvPr/>
          </p:nvGrpSpPr>
          <p:grpSpPr>
            <a:xfrm>
              <a:off x="1570" y="3369"/>
              <a:ext cx="1933" cy="3057"/>
              <a:chOff x="357711" y="2619024"/>
              <a:chExt cx="1227578" cy="1940916"/>
            </a:xfrm>
          </p:grpSpPr>
          <p:sp>
            <p:nvSpPr>
              <p:cNvPr id="10" name="矩形 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25" name="组合 24"/>
            <p:cNvGrpSpPr/>
            <p:nvPr/>
          </p:nvGrpSpPr>
          <p:grpSpPr>
            <a:xfrm>
              <a:off x="15627" y="3543"/>
              <a:ext cx="1933" cy="3057"/>
              <a:chOff x="357711" y="2619024"/>
              <a:chExt cx="1227578" cy="1940916"/>
            </a:xfrm>
          </p:grpSpPr>
          <p:sp>
            <p:nvSpPr>
              <p:cNvPr id="26" name="矩形 2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1" name="矩形 30"/>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3" name="矩形 3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4" name="矩形 3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6" name="组合 35"/>
            <p:cNvGrpSpPr/>
            <p:nvPr/>
          </p:nvGrpSpPr>
          <p:grpSpPr>
            <a:xfrm>
              <a:off x="3333" y="3816"/>
              <a:ext cx="12445" cy="4278"/>
              <a:chOff x="1280664" y="3160857"/>
              <a:chExt cx="9581222" cy="3333678"/>
            </a:xfrm>
          </p:grpSpPr>
          <p:grpSp>
            <p:nvGrpSpPr>
              <p:cNvPr id="37" name="组合 36"/>
              <p:cNvGrpSpPr/>
              <p:nvPr/>
            </p:nvGrpSpPr>
            <p:grpSpPr>
              <a:xfrm>
                <a:off x="1546275" y="3160857"/>
                <a:ext cx="9041239" cy="2843922"/>
                <a:chOff x="1546275" y="3160857"/>
                <a:chExt cx="9041239" cy="2843922"/>
              </a:xfrm>
            </p:grpSpPr>
            <p:cxnSp>
              <p:nvCxnSpPr>
                <p:cNvPr id="44" name="直接连接符 43"/>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45" name="直接连接符 44"/>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7" name="直接连接符 6"/>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8" name="直接连接符 7"/>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9" name="直接连接符 8"/>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11" name="直接连接符 10"/>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2" name="直接连接符 71"/>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4" name="直接连接符 73"/>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75" name="直接连接符 74"/>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12"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16" name="文本框 15"/>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17" name="文本框 16"/>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19" name="文本框 18"/>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22" name="文本框 21"/>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24" name="文本框 23"/>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28" name="文本框 27"/>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30" name="文本框 29"/>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lstStyle/>
          <a:p>
            <a:r>
              <a:rPr kumimoji="1" lang="zh-CN" altLang="en-US" dirty="0"/>
              <a:t>面向连接的虚电路</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面向连接的服务第二阶段：发送数据</a:t>
            </a:r>
            <a:endParaRPr kumimoji="1" lang="en-US" altLang="zh-CN" sz="2400" dirty="0"/>
          </a:p>
        </p:txBody>
      </p:sp>
      <p:cxnSp>
        <p:nvCxnSpPr>
          <p:cNvPr id="71" name="直接箭头连接符 70"/>
          <p:cNvCxnSpPr/>
          <p:nvPr/>
        </p:nvCxnSpPr>
        <p:spPr>
          <a:xfrm>
            <a:off x="4550410" y="4112895"/>
            <a:ext cx="901065" cy="640080"/>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341110" y="4087495"/>
            <a:ext cx="988695" cy="58356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58" name="直接箭头连接符 57"/>
          <p:cNvCxnSpPr/>
          <p:nvPr/>
        </p:nvCxnSpPr>
        <p:spPr>
          <a:xfrm>
            <a:off x="2261235" y="3242310"/>
            <a:ext cx="1652270" cy="58102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59" name="直接箭头连接符 58"/>
          <p:cNvCxnSpPr/>
          <p:nvPr/>
        </p:nvCxnSpPr>
        <p:spPr>
          <a:xfrm flipV="1">
            <a:off x="8025765" y="3326130"/>
            <a:ext cx="1848485" cy="48323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sp>
        <p:nvSpPr>
          <p:cNvPr id="107" name="文本框 106"/>
          <p:cNvSpPr txBox="1"/>
          <p:nvPr/>
        </p:nvSpPr>
        <p:spPr>
          <a:xfrm>
            <a:off x="11031711" y="1404772"/>
            <a:ext cx="697627"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分组</a:t>
            </a:r>
          </a:p>
        </p:txBody>
      </p:sp>
      <p:sp>
        <p:nvSpPr>
          <p:cNvPr id="108" name="日期占位符 9"/>
          <p:cNvSpPr>
            <a:spLocks noGrp="1"/>
          </p:cNvSpPr>
          <p:nvPr>
            <p:ph type="dt" sz="half" idx="10"/>
          </p:nvPr>
        </p:nvSpPr>
        <p:spPr>
          <a:xfrm>
            <a:off x="197485" y="6489065"/>
            <a:ext cx="3319780" cy="365125"/>
          </a:xfrm>
        </p:spPr>
        <p:txBody>
          <a:bodyPr/>
          <a:lstStyle/>
          <a:p>
            <a:r>
              <a:rPr kumimoji="1" lang="en-US" altLang="zh-CN" dirty="0"/>
              <a:t>5.1.4 </a:t>
            </a:r>
            <a:r>
              <a:rPr kumimoji="1" lang="zh-CN" altLang="en-US" dirty="0"/>
              <a:t>虚电路与数据报网络的比较</a:t>
            </a:r>
          </a:p>
        </p:txBody>
      </p:sp>
      <p:graphicFrame>
        <p:nvGraphicFramePr>
          <p:cNvPr id="3" name="表格 2"/>
          <p:cNvGraphicFramePr>
            <a:graphicFrameLocks noGrp="1"/>
          </p:cNvGraphicFramePr>
          <p:nvPr/>
        </p:nvGraphicFramePr>
        <p:xfrm>
          <a:off x="1714299" y="3372143"/>
          <a:ext cx="1803508" cy="335280"/>
        </p:xfrm>
        <a:graphic>
          <a:graphicData uri="http://schemas.openxmlformats.org/drawingml/2006/table">
            <a:tbl>
              <a:tblPr firstRow="1" bandRow="1">
                <a:tableStyleId>{5C22544A-7EE6-4342-B048-85BDC9FD1C3A}</a:tableStyleId>
              </a:tblPr>
              <a:tblGrid>
                <a:gridCol w="630752">
                  <a:extLst>
                    <a:ext uri="{9D8B030D-6E8A-4147-A177-3AD203B41FA5}">
                      <a16:colId xmlns:a16="http://schemas.microsoft.com/office/drawing/2014/main" val="20000"/>
                    </a:ext>
                  </a:extLst>
                </a:gridCol>
                <a:gridCol w="348343">
                  <a:extLst>
                    <a:ext uri="{9D8B030D-6E8A-4147-A177-3AD203B41FA5}">
                      <a16:colId xmlns:a16="http://schemas.microsoft.com/office/drawing/2014/main" val="20001"/>
                    </a:ext>
                  </a:extLst>
                </a:gridCol>
                <a:gridCol w="373536">
                  <a:extLst>
                    <a:ext uri="{9D8B030D-6E8A-4147-A177-3AD203B41FA5}">
                      <a16:colId xmlns:a16="http://schemas.microsoft.com/office/drawing/2014/main" val="20002"/>
                    </a:ext>
                  </a:extLst>
                </a:gridCol>
                <a:gridCol w="450877">
                  <a:extLst>
                    <a:ext uri="{9D8B030D-6E8A-4147-A177-3AD203B41FA5}">
                      <a16:colId xmlns:a16="http://schemas.microsoft.com/office/drawing/2014/main"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11</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0000"/>
                  </a:ext>
                </a:extLst>
              </a:tr>
            </a:tbl>
          </a:graphicData>
        </a:graphic>
      </p:graphicFrame>
      <p:graphicFrame>
        <p:nvGraphicFramePr>
          <p:cNvPr id="109" name="表格 108"/>
          <p:cNvGraphicFramePr>
            <a:graphicFrameLocks noGrp="1"/>
          </p:cNvGraphicFramePr>
          <p:nvPr/>
        </p:nvGraphicFramePr>
        <p:xfrm>
          <a:off x="3292726" y="4361257"/>
          <a:ext cx="1803508" cy="335280"/>
        </p:xfrm>
        <a:graphic>
          <a:graphicData uri="http://schemas.openxmlformats.org/drawingml/2006/table">
            <a:tbl>
              <a:tblPr firstRow="1" bandRow="1">
                <a:tableStyleId>{5C22544A-7EE6-4342-B048-85BDC9FD1C3A}</a:tableStyleId>
              </a:tblPr>
              <a:tblGrid>
                <a:gridCol w="630752">
                  <a:extLst>
                    <a:ext uri="{9D8B030D-6E8A-4147-A177-3AD203B41FA5}">
                      <a16:colId xmlns:a16="http://schemas.microsoft.com/office/drawing/2014/main" val="20000"/>
                    </a:ext>
                  </a:extLst>
                </a:gridCol>
                <a:gridCol w="348343">
                  <a:extLst>
                    <a:ext uri="{9D8B030D-6E8A-4147-A177-3AD203B41FA5}">
                      <a16:colId xmlns:a16="http://schemas.microsoft.com/office/drawing/2014/main" val="20001"/>
                    </a:ext>
                  </a:extLst>
                </a:gridCol>
                <a:gridCol w="373536">
                  <a:extLst>
                    <a:ext uri="{9D8B030D-6E8A-4147-A177-3AD203B41FA5}">
                      <a16:colId xmlns:a16="http://schemas.microsoft.com/office/drawing/2014/main" val="20002"/>
                    </a:ext>
                  </a:extLst>
                </a:gridCol>
                <a:gridCol w="450877">
                  <a:extLst>
                    <a:ext uri="{9D8B030D-6E8A-4147-A177-3AD203B41FA5}">
                      <a16:colId xmlns:a16="http://schemas.microsoft.com/office/drawing/2014/main"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22</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0000"/>
                  </a:ext>
                </a:extLst>
              </a:tr>
            </a:tbl>
          </a:graphicData>
        </a:graphic>
      </p:graphicFrame>
      <p:graphicFrame>
        <p:nvGraphicFramePr>
          <p:cNvPr id="111" name="表格 110"/>
          <p:cNvGraphicFramePr>
            <a:graphicFrameLocks noGrp="1"/>
          </p:cNvGraphicFramePr>
          <p:nvPr/>
        </p:nvGraphicFramePr>
        <p:xfrm>
          <a:off x="8119501" y="3233690"/>
          <a:ext cx="1803508" cy="335280"/>
        </p:xfrm>
        <a:graphic>
          <a:graphicData uri="http://schemas.openxmlformats.org/drawingml/2006/table">
            <a:tbl>
              <a:tblPr firstRow="1" bandRow="1">
                <a:tableStyleId>{5C22544A-7EE6-4342-B048-85BDC9FD1C3A}</a:tableStyleId>
              </a:tblPr>
              <a:tblGrid>
                <a:gridCol w="630752">
                  <a:extLst>
                    <a:ext uri="{9D8B030D-6E8A-4147-A177-3AD203B41FA5}">
                      <a16:colId xmlns:a16="http://schemas.microsoft.com/office/drawing/2014/main" val="20000"/>
                    </a:ext>
                  </a:extLst>
                </a:gridCol>
                <a:gridCol w="348343">
                  <a:extLst>
                    <a:ext uri="{9D8B030D-6E8A-4147-A177-3AD203B41FA5}">
                      <a16:colId xmlns:a16="http://schemas.microsoft.com/office/drawing/2014/main" val="20001"/>
                    </a:ext>
                  </a:extLst>
                </a:gridCol>
                <a:gridCol w="373536">
                  <a:extLst>
                    <a:ext uri="{9D8B030D-6E8A-4147-A177-3AD203B41FA5}">
                      <a16:colId xmlns:a16="http://schemas.microsoft.com/office/drawing/2014/main" val="20002"/>
                    </a:ext>
                  </a:extLst>
                </a:gridCol>
                <a:gridCol w="450877">
                  <a:extLst>
                    <a:ext uri="{9D8B030D-6E8A-4147-A177-3AD203B41FA5}">
                      <a16:colId xmlns:a16="http://schemas.microsoft.com/office/drawing/2014/main"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44</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0000"/>
                  </a:ext>
                </a:extLst>
              </a:tr>
            </a:tbl>
          </a:graphicData>
        </a:graphic>
      </p:graphicFrame>
      <p:graphicFrame>
        <p:nvGraphicFramePr>
          <p:cNvPr id="32" name="表格 31"/>
          <p:cNvGraphicFramePr>
            <a:graphicFrameLocks noGrp="1"/>
          </p:cNvGraphicFramePr>
          <p:nvPr>
            <p:custDataLst>
              <p:tags r:id="rId1"/>
            </p:custDataLst>
          </p:nvPr>
        </p:nvGraphicFramePr>
        <p:xfrm>
          <a:off x="4419186" y="5231219"/>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8" name="表格 37"/>
          <p:cNvGraphicFramePr>
            <a:graphicFrameLocks noGrp="1"/>
          </p:cNvGraphicFramePr>
          <p:nvPr>
            <p:custDataLst>
              <p:tags r:id="rId2"/>
            </p:custDataLst>
          </p:nvPr>
        </p:nvGraphicFramePr>
        <p:xfrm>
          <a:off x="2398586" y="2056897"/>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11</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9" name="表格 38"/>
          <p:cNvGraphicFramePr>
            <a:graphicFrameLocks noGrp="1"/>
          </p:cNvGraphicFramePr>
          <p:nvPr>
            <p:custDataLst>
              <p:tags r:id="rId3"/>
            </p:custDataLst>
          </p:nvPr>
        </p:nvGraphicFramePr>
        <p:xfrm>
          <a:off x="8202246" y="3876578"/>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val="20000"/>
                    </a:ext>
                  </a:extLst>
                </a:gridCol>
                <a:gridCol w="737093">
                  <a:extLst>
                    <a:ext uri="{9D8B030D-6E8A-4147-A177-3AD203B41FA5}">
                      <a16:colId xmlns:a16="http://schemas.microsoft.com/office/drawing/2014/main" val="20001"/>
                    </a:ext>
                  </a:extLst>
                </a:gridCol>
                <a:gridCol w="737093">
                  <a:extLst>
                    <a:ext uri="{9D8B030D-6E8A-4147-A177-3AD203B41FA5}">
                      <a16:colId xmlns:a16="http://schemas.microsoft.com/office/drawing/2014/main" val="20002"/>
                    </a:ext>
                  </a:extLst>
                </a:gridCol>
                <a:gridCol w="737093">
                  <a:extLst>
                    <a:ext uri="{9D8B030D-6E8A-4147-A177-3AD203B41FA5}">
                      <a16:colId xmlns:a16="http://schemas.microsoft.com/office/drawing/2014/main"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44</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110" name="表格 109"/>
          <p:cNvGraphicFramePr>
            <a:graphicFrameLocks noGrp="1"/>
          </p:cNvGraphicFramePr>
          <p:nvPr/>
        </p:nvGraphicFramePr>
        <p:xfrm>
          <a:off x="6373461" y="4361198"/>
          <a:ext cx="1803508" cy="335280"/>
        </p:xfrm>
        <a:graphic>
          <a:graphicData uri="http://schemas.openxmlformats.org/drawingml/2006/table">
            <a:tbl>
              <a:tblPr firstRow="1" bandRow="1">
                <a:tableStyleId>{5C22544A-7EE6-4342-B048-85BDC9FD1C3A}</a:tableStyleId>
              </a:tblPr>
              <a:tblGrid>
                <a:gridCol w="630555">
                  <a:extLst>
                    <a:ext uri="{9D8B030D-6E8A-4147-A177-3AD203B41FA5}">
                      <a16:colId xmlns:a16="http://schemas.microsoft.com/office/drawing/2014/main" val="20000"/>
                    </a:ext>
                  </a:extLst>
                </a:gridCol>
                <a:gridCol w="348540">
                  <a:extLst>
                    <a:ext uri="{9D8B030D-6E8A-4147-A177-3AD203B41FA5}">
                      <a16:colId xmlns:a16="http://schemas.microsoft.com/office/drawing/2014/main" val="20001"/>
                    </a:ext>
                  </a:extLst>
                </a:gridCol>
                <a:gridCol w="373536">
                  <a:extLst>
                    <a:ext uri="{9D8B030D-6E8A-4147-A177-3AD203B41FA5}">
                      <a16:colId xmlns:a16="http://schemas.microsoft.com/office/drawing/2014/main" val="20002"/>
                    </a:ext>
                  </a:extLst>
                </a:gridCol>
                <a:gridCol w="450877">
                  <a:extLst>
                    <a:ext uri="{9D8B030D-6E8A-4147-A177-3AD203B41FA5}">
                      <a16:colId xmlns:a16="http://schemas.microsoft.com/office/drawing/2014/main"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33</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0000"/>
                  </a:ext>
                </a:extLst>
              </a:tr>
            </a:tbl>
          </a:graphicData>
        </a:graphic>
      </p:graphicFrame>
      <p:graphicFrame>
        <p:nvGraphicFramePr>
          <p:cNvPr id="40" name="表格 39"/>
          <p:cNvGraphicFramePr>
            <a:graphicFrameLocks noGrp="1"/>
          </p:cNvGraphicFramePr>
          <p:nvPr/>
        </p:nvGraphicFramePr>
        <p:xfrm>
          <a:off x="7858125" y="1469390"/>
          <a:ext cx="3171825" cy="335280"/>
        </p:xfrm>
        <a:graphic>
          <a:graphicData uri="http://schemas.openxmlformats.org/drawingml/2006/table">
            <a:tbl>
              <a:tblPr firstRow="1" bandRow="1">
                <a:tableStyleId>{5C22544A-7EE6-4342-B048-85BDC9FD1C3A}</a:tableStyleId>
              </a:tblPr>
              <a:tblGrid>
                <a:gridCol w="692785">
                  <a:extLst>
                    <a:ext uri="{9D8B030D-6E8A-4147-A177-3AD203B41FA5}">
                      <a16:colId xmlns:a16="http://schemas.microsoft.com/office/drawing/2014/main" val="20000"/>
                    </a:ext>
                  </a:extLst>
                </a:gridCol>
                <a:gridCol w="1029335">
                  <a:extLst>
                    <a:ext uri="{9D8B030D-6E8A-4147-A177-3AD203B41FA5}">
                      <a16:colId xmlns:a16="http://schemas.microsoft.com/office/drawing/2014/main" val="20001"/>
                    </a:ext>
                  </a:extLst>
                </a:gridCol>
                <a:gridCol w="855345">
                  <a:extLst>
                    <a:ext uri="{9D8B030D-6E8A-4147-A177-3AD203B41FA5}">
                      <a16:colId xmlns:a16="http://schemas.microsoft.com/office/drawing/2014/main" val="20002"/>
                    </a:ext>
                  </a:extLst>
                </a:gridCol>
                <a:gridCol w="594360">
                  <a:extLst>
                    <a:ext uri="{9D8B030D-6E8A-4147-A177-3AD203B41FA5}">
                      <a16:colId xmlns:a16="http://schemas.microsoft.com/office/drawing/2014/main"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sz="1600" b="0" dirty="0">
                          <a:solidFill>
                            <a:schemeClr val="tx1"/>
                          </a:solidFill>
                          <a:latin typeface="微软雅黑" panose="020B0503020204020204" pitchFamily="34" charset="-122"/>
                          <a:ea typeface="微软雅黑" panose="020B0503020204020204" pitchFamily="34" charset="-122"/>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sz="1600"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0000"/>
                  </a:ext>
                </a:extLst>
              </a:tr>
            </a:tbl>
          </a:graphicData>
        </a:graphic>
      </p:graphicFrame>
      <p:pic>
        <p:nvPicPr>
          <p:cNvPr id="64" name="Picture 28" descr="015">
            <a:extLst>
              <a:ext uri="{FF2B5EF4-FFF2-40B4-BE49-F238E27FC236}">
                <a16:creationId xmlns:a16="http://schemas.microsoft.com/office/drawing/2014/main" id="{59C78086-099B-4F0D-9201-86AFAAD7454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22205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par>
                                <p:cTn id="8" presetID="1"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3"/>
                                        </p:tgtEl>
                                        <p:attrNameLst>
                                          <p:attrName>style.visibility</p:attrName>
                                        </p:attrNameLst>
                                      </p:cBhvr>
                                      <p:to>
                                        <p:strVal val="hidden"/>
                                      </p:to>
                                    </p:set>
                                  </p:childTnLst>
                                </p:cTn>
                              </p:par>
                            </p:childTnLst>
                          </p:cTn>
                        </p:par>
                        <p:par>
                          <p:cTn id="14" fill="hold">
                            <p:stCondLst>
                              <p:cond delay="0"/>
                            </p:stCondLst>
                            <p:childTnLst>
                              <p:par>
                                <p:cTn id="15" presetID="22" presetClass="entr" presetSubtype="8" fill="hold" nodeType="afterEffect">
                                  <p:stCondLst>
                                    <p:cond delay="0"/>
                                  </p:stCondLst>
                                  <p:childTnLst>
                                    <p:set>
                                      <p:cBhvr>
                                        <p:cTn id="16" dur="1" fill="hold">
                                          <p:stCondLst>
                                            <p:cond delay="0"/>
                                          </p:stCondLst>
                                        </p:cTn>
                                        <p:tgtEl>
                                          <p:spTgt spid="71"/>
                                        </p:tgtEl>
                                        <p:attrNameLst>
                                          <p:attrName>style.visibility</p:attrName>
                                        </p:attrNameLst>
                                      </p:cBhvr>
                                      <p:to>
                                        <p:strVal val="visible"/>
                                      </p:to>
                                    </p:set>
                                    <p:animEffect transition="in" filter="wipe(left)">
                                      <p:cBhvr>
                                        <p:cTn id="17" dur="500"/>
                                        <p:tgtEl>
                                          <p:spTgt spid="71"/>
                                        </p:tgtEl>
                                      </p:cBhvr>
                                    </p:animEffect>
                                  </p:childTnLst>
                                </p:cTn>
                              </p:par>
                              <p:par>
                                <p:cTn id="18" presetID="1" presetClass="entr" presetSubtype="0" fill="hold" nodeType="withEffect">
                                  <p:stCondLst>
                                    <p:cond delay="0"/>
                                  </p:stCondLst>
                                  <p:childTnLst>
                                    <p:set>
                                      <p:cBhvr>
                                        <p:cTn id="19" dur="1" fill="hold">
                                          <p:stCondLst>
                                            <p:cond delay="0"/>
                                          </p:stCondLst>
                                        </p:cTn>
                                        <p:tgtEl>
                                          <p:spTgt spid="10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nodeType="clickEffect">
                                  <p:stCondLst>
                                    <p:cond delay="0"/>
                                  </p:stCondLst>
                                  <p:childTnLst>
                                    <p:set>
                                      <p:cBhvr>
                                        <p:cTn id="23" dur="1" fill="hold">
                                          <p:stCondLst>
                                            <p:cond delay="0"/>
                                          </p:stCondLst>
                                        </p:cTn>
                                        <p:tgtEl>
                                          <p:spTgt spid="109"/>
                                        </p:tgtEl>
                                        <p:attrNameLst>
                                          <p:attrName>style.visibility</p:attrName>
                                        </p:attrNameLst>
                                      </p:cBhvr>
                                      <p:to>
                                        <p:strVal val="hidden"/>
                                      </p:to>
                                    </p:set>
                                  </p:childTnLst>
                                </p:cTn>
                              </p:par>
                            </p:childTnLst>
                          </p:cTn>
                        </p:par>
                        <p:par>
                          <p:cTn id="24" fill="hold">
                            <p:stCondLst>
                              <p:cond delay="0"/>
                            </p:stCondLst>
                            <p:childTnLst>
                              <p:par>
                                <p:cTn id="25" presetID="22" presetClass="entr" presetSubtype="8" fill="hold" nodeType="after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left)">
                                      <p:cBhvr>
                                        <p:cTn id="27" dur="500"/>
                                        <p:tgtEl>
                                          <p:spTgt spid="73"/>
                                        </p:tgtEl>
                                      </p:cBhvr>
                                    </p:animEffect>
                                  </p:childTnLst>
                                </p:cTn>
                              </p:par>
                              <p:par>
                                <p:cTn id="28" presetID="1" presetClass="entr" presetSubtype="0" fill="hold" nodeType="withEffect">
                                  <p:stCondLst>
                                    <p:cond delay="0"/>
                                  </p:stCondLst>
                                  <p:childTnLst>
                                    <p:set>
                                      <p:cBhvr>
                                        <p:cTn id="29" dur="1" fill="hold">
                                          <p:stCondLst>
                                            <p:cond delay="0"/>
                                          </p:stCondLst>
                                        </p:cTn>
                                        <p:tgtEl>
                                          <p:spTgt spid="110"/>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110"/>
                                        </p:tgtEl>
                                        <p:attrNameLst>
                                          <p:attrName>style.visibility</p:attrName>
                                        </p:attrNameLst>
                                      </p:cBhvr>
                                      <p:to>
                                        <p:strVal val="hidden"/>
                                      </p:to>
                                    </p:set>
                                  </p:childTnLst>
                                </p:cTn>
                              </p:par>
                              <p:par>
                                <p:cTn id="34" presetID="1" presetClass="entr" presetSubtype="0" fill="hold" nodeType="withEffect">
                                  <p:stCondLst>
                                    <p:cond delay="0"/>
                                  </p:stCondLst>
                                  <p:childTnLst>
                                    <p:set>
                                      <p:cBhvr>
                                        <p:cTn id="35" dur="1" fill="hold">
                                          <p:stCondLst>
                                            <p:cond delay="0"/>
                                          </p:stCondLst>
                                        </p:cTn>
                                        <p:tgtEl>
                                          <p:spTgt spid="111"/>
                                        </p:tgtEl>
                                        <p:attrNameLst>
                                          <p:attrName>style.visibility</p:attrName>
                                        </p:attrNameLst>
                                      </p:cBhvr>
                                      <p:to>
                                        <p:strVal val="visible"/>
                                      </p:to>
                                    </p:set>
                                  </p:childTnLst>
                                </p:cTn>
                              </p:par>
                            </p:childTnLst>
                          </p:cTn>
                        </p:par>
                        <p:par>
                          <p:cTn id="36" fill="hold">
                            <p:stCondLst>
                              <p:cond delay="0"/>
                            </p:stCondLst>
                            <p:childTnLst>
                              <p:par>
                                <p:cTn id="37" presetID="22" presetClass="entr" presetSubtype="4" fill="hold" nodeType="afterEffect">
                                  <p:stCondLst>
                                    <p:cond delay="0"/>
                                  </p:stCondLst>
                                  <p:childTnLst>
                                    <p:set>
                                      <p:cBhvr>
                                        <p:cTn id="38" dur="1" fill="hold">
                                          <p:stCondLst>
                                            <p:cond delay="0"/>
                                          </p:stCondLst>
                                        </p:cTn>
                                        <p:tgtEl>
                                          <p:spTgt spid="59"/>
                                        </p:tgtEl>
                                        <p:attrNameLst>
                                          <p:attrName>style.visibility</p:attrName>
                                        </p:attrNameLst>
                                      </p:cBhvr>
                                      <p:to>
                                        <p:strVal val="visible"/>
                                      </p:to>
                                    </p:set>
                                    <p:animEffect transition="in" filter="wipe(down)">
                                      <p:cBhvr>
                                        <p:cTn id="3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a:off x="996950" y="2220595"/>
            <a:ext cx="10153015" cy="3000375"/>
            <a:chOff x="1570" y="3369"/>
            <a:chExt cx="15989" cy="4725"/>
          </a:xfrm>
        </p:grpSpPr>
        <p:sp>
          <p:nvSpPr>
            <p:cNvPr id="123" name="文本框 12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24" name="文本框 123"/>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25" name="文本框 124"/>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18" name="组合 17"/>
            <p:cNvGrpSpPr/>
            <p:nvPr/>
          </p:nvGrpSpPr>
          <p:grpSpPr>
            <a:xfrm>
              <a:off x="1570" y="3369"/>
              <a:ext cx="1933" cy="3057"/>
              <a:chOff x="357711" y="2619024"/>
              <a:chExt cx="1227578" cy="1940916"/>
            </a:xfrm>
          </p:grpSpPr>
          <p:sp>
            <p:nvSpPr>
              <p:cNvPr id="20" name="矩形 1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6" name="矩形 25"/>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7" name="矩形 26"/>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1" name="组合 30"/>
            <p:cNvGrpSpPr/>
            <p:nvPr/>
          </p:nvGrpSpPr>
          <p:grpSpPr>
            <a:xfrm>
              <a:off x="15627" y="3543"/>
              <a:ext cx="1933" cy="3057"/>
              <a:chOff x="357711" y="2619024"/>
              <a:chExt cx="1227578" cy="1940916"/>
            </a:xfrm>
          </p:grpSpPr>
          <p:sp>
            <p:nvSpPr>
              <p:cNvPr id="33" name="矩形 32"/>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6" name="矩形 35"/>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7" name="矩形 36"/>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4" name="矩形 4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5" name="矩形 4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58" name="组合 57"/>
            <p:cNvGrpSpPr/>
            <p:nvPr/>
          </p:nvGrpSpPr>
          <p:grpSpPr>
            <a:xfrm>
              <a:off x="3333" y="3816"/>
              <a:ext cx="12445" cy="4278"/>
              <a:chOff x="1280664" y="3160857"/>
              <a:chExt cx="9581222" cy="3333678"/>
            </a:xfrm>
          </p:grpSpPr>
          <p:grpSp>
            <p:nvGrpSpPr>
              <p:cNvPr id="59" name="组合 58"/>
              <p:cNvGrpSpPr/>
              <p:nvPr/>
            </p:nvGrpSpPr>
            <p:grpSpPr>
              <a:xfrm>
                <a:off x="1546275" y="3160857"/>
                <a:ext cx="9041239" cy="2843922"/>
                <a:chOff x="1546275" y="3160857"/>
                <a:chExt cx="9041239" cy="2843922"/>
              </a:xfrm>
            </p:grpSpPr>
            <p:cxnSp>
              <p:nvCxnSpPr>
                <p:cNvPr id="60" name="直接连接符 59"/>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61" name="直接连接符 60"/>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69" name="直接连接符 68"/>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71" name="直接连接符 70"/>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73" name="直接连接符 72"/>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8" name="直接连接符 77"/>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9" name="直接连接符 78"/>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81"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88" name="文本框 87"/>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89" name="文本框 88"/>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90" name="文本框 89"/>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91" name="文本框 90"/>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2" name="文本框 91"/>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93" name="文本框 92"/>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94" name="文本框 93"/>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lstStyle/>
          <a:p>
            <a:r>
              <a:rPr kumimoji="1" lang="zh-CN" altLang="en-US" dirty="0"/>
              <a:t>面向连接的虚电路</a:t>
            </a:r>
          </a:p>
        </p:txBody>
      </p:sp>
      <p:sp>
        <p:nvSpPr>
          <p:cNvPr id="4" name="灯片编号占位符 3"/>
          <p:cNvSpPr>
            <a:spLocks noGrp="1"/>
          </p:cNvSpPr>
          <p:nvPr>
            <p:ph type="sldNum" sz="quarter" idx="12"/>
          </p:nvPr>
        </p:nvSpPr>
        <p:spPr>
          <a:xfrm>
            <a:off x="9265285" y="6489065"/>
            <a:ext cx="2743200" cy="365125"/>
          </a:xfrm>
        </p:spPr>
        <p:txBody>
          <a:bodyPr/>
          <a:lstStyle/>
          <a:p>
            <a:fld id="{8D4D1E41-7A09-AB4A-A4E1-09765ADA2698}" type="slidenum">
              <a:rPr kumimoji="1" lang="zh-CN" altLang="en-US" smtClean="0"/>
              <a:t>19</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面向连接的服务第三阶段：释放连接</a:t>
            </a:r>
            <a:endParaRPr kumimoji="1" lang="en-US" altLang="zh-CN" sz="2400" dirty="0"/>
          </a:p>
        </p:txBody>
      </p:sp>
      <p:sp>
        <p:nvSpPr>
          <p:cNvPr id="3" name="矩形 2"/>
          <p:cNvSpPr/>
          <p:nvPr/>
        </p:nvSpPr>
        <p:spPr>
          <a:xfrm>
            <a:off x="2335459" y="2825983"/>
            <a:ext cx="1216241" cy="3666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拆除分组</a:t>
            </a:r>
          </a:p>
        </p:txBody>
      </p:sp>
      <p:sp>
        <p:nvSpPr>
          <p:cNvPr id="72" name="矩形 71"/>
          <p:cNvSpPr/>
          <p:nvPr/>
        </p:nvSpPr>
        <p:spPr>
          <a:xfrm>
            <a:off x="9114633" y="2825796"/>
            <a:ext cx="766953" cy="3666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确认</a:t>
            </a:r>
          </a:p>
        </p:txBody>
      </p:sp>
      <p:sp>
        <p:nvSpPr>
          <p:cNvPr id="56" name="日期占位符 9"/>
          <p:cNvSpPr>
            <a:spLocks noGrp="1"/>
          </p:cNvSpPr>
          <p:nvPr>
            <p:ph type="dt" sz="half" idx="10"/>
          </p:nvPr>
        </p:nvSpPr>
        <p:spPr>
          <a:xfrm>
            <a:off x="197485" y="6489065"/>
            <a:ext cx="3204845" cy="365125"/>
          </a:xfrm>
        </p:spPr>
        <p:txBody>
          <a:bodyPr/>
          <a:lstStyle/>
          <a:p>
            <a:r>
              <a:rPr kumimoji="1" lang="en-US" altLang="zh-CN" dirty="0"/>
              <a:t>5.1.4 </a:t>
            </a:r>
            <a:r>
              <a:rPr kumimoji="1" lang="zh-CN" altLang="en-US" dirty="0"/>
              <a:t>虚电路与数据报网络的比较</a:t>
            </a:r>
          </a:p>
        </p:txBody>
      </p:sp>
      <p:pic>
        <p:nvPicPr>
          <p:cNvPr id="53" name="Picture 28" descr="015">
            <a:extLst>
              <a:ext uri="{FF2B5EF4-FFF2-40B4-BE49-F238E27FC236}">
                <a16:creationId xmlns:a16="http://schemas.microsoft.com/office/drawing/2014/main" id="{3866CD9F-ECD4-4FE6-876C-78857D2EAF6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66702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2"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0" presetClass="path" presetSubtype="0" fill="hold" grpId="0" nodeType="afterEffect">
                                  <p:stCondLst>
                                    <p:cond delay="0"/>
                                  </p:stCondLst>
                                  <p:childTnLst>
                                    <p:animMotion origin="layout" path="M 0.00091 2.59259E-6 L 0.00091 0.00023 C 0.00273 0.00069 0.00455 0.00092 0.00638 0.00208 C 0.01002 0.00416 0.00742 0.00463 0.0108 0.00764 C 0.0125 0.00903 0.01419 0.00972 0.01588 0.01088 C 0.02213 0.01597 0.0164 0.01319 0.022 0.01528 C 0.02304 0.01643 0.02422 0.01782 0.02539 0.01875 C 0.02617 0.01921 0.02721 0.01921 0.02812 0.01967 C 0.02968 0.02083 0.03099 0.02315 0.03255 0.0243 C 0.03437 0.02523 0.03515 0.02592 0.03698 0.02731 C 0.03802 0.02847 0.03919 0.02986 0.04036 0.03078 C 0.04114 0.03125 0.04218 0.03148 0.0431 0.03194 C 0.04427 0.03287 0.04531 0.03403 0.04648 0.03518 C 0.04739 0.03611 0.04935 0.0368 0.05026 0.0375 C 0.0526 0.04421 0.04987 0.03773 0.05416 0.04305 C 0.05481 0.04375 0.05533 0.04537 0.05586 0.04606 C 0.0569 0.04791 0.0582 0.04861 0.05924 0.05069 C 0.05976 0.05162 0.06028 0.05301 0.0608 0.05393 C 0.06172 0.05509 0.06276 0.05509 0.06367 0.05625 C 0.06849 0.06157 0.06276 0.05856 0.06979 0.06041 C 0.075 0.06412 0.06536 0.05787 0.07747 0.06273 C 0.07929 0.06342 0.08086 0.06504 0.08255 0.06597 L 0.08593 0.06828 L 0.08763 0.06944 C 0.08828 0.0706 0.08893 0.07199 0.08971 0.07268 C 0.09088 0.07384 0.0931 0.075 0.0931 0.07523 C 0.09544 0.0794 0.09362 0.07662 0.09922 0.07916 C 0.10247 0.08078 0.10065 0.08009 0.10429 0.08264 C 0.10481 0.0831 0.10533 0.0831 0.10586 0.08379 C 0.10651 0.08449 0.1069 0.08541 0.10755 0.08588 C 0.10859 0.08703 0.11093 0.08819 0.11093 0.08842 C 0.11185 0.09004 0.11289 0.09236 0.11419 0.09375 C 0.11484 0.09421 0.11562 0.09444 0.11653 0.0949 C 0.11692 0.09537 0.11744 0.09629 0.1181 0.09699 C 0.11862 0.09745 0.11927 0.09768 0.11979 0.09791 C 0.12057 0.09884 0.12122 0.09953 0.122 0.10046 C 0.12408 0.10671 0.12174 0.10115 0.12539 0.10463 C 0.12578 0.10509 0.12604 0.10648 0.12643 0.10694 C 0.12747 0.10787 0.12981 0.10903 0.12981 0.10926 C 0.13033 0.11018 0.13073 0.11157 0.13151 0.11227 C 0.13203 0.11296 0.13268 0.1125 0.13307 0.11365 C 0.13606 0.11921 0.13086 0.11504 0.13541 0.11782 C 0.1358 0.11875 0.13619 0.11921 0.13645 0.12014 C 0.13685 0.12106 0.13711 0.12268 0.1375 0.12338 C 0.13802 0.1243 0.13867 0.1243 0.13919 0.12453 C 0.13997 0.12662 0.14088 0.1294 0.14205 0.13102 C 0.14257 0.13194 0.14323 0.1324 0.14375 0.13333 C 0.14427 0.13426 0.14479 0.13565 0.14544 0.13657 C 0.14609 0.13773 0.14687 0.13889 0.14752 0.14004 C 0.14856 0.14166 0.14961 0.14328 0.15039 0.1456 C 0.15078 0.14653 0.15091 0.14815 0.15143 0.14884 C 0.15208 0.14953 0.15299 0.14953 0.15364 0.14977 C 0.15429 0.15092 0.15468 0.15208 0.15533 0.15324 C 0.15586 0.15393 0.15664 0.1544 0.15703 0.15532 C 0.15924 0.16065 0.1556 0.1574 0.15924 0.15995 C 0.16185 0.16481 0.15846 0.15879 0.16263 0.16412 C 0.16302 0.16481 0.16328 0.16574 0.16367 0.16643 C 0.16471 0.16805 0.16588 0.16944 0.16705 0.17083 C 0.16757 0.17153 0.16823 0.17222 0.16862 0.17315 C 0.16927 0.17407 0.16979 0.17523 0.17031 0.17615 C 0.17083 0.17731 0.17148 0.17754 0.172 0.1787 C 0.17643 0.18634 0.17291 0.18217 0.17695 0.18634 C 0.17734 0.18773 0.1776 0.18935 0.17812 0.19074 C 0.17864 0.1919 0.17968 0.19213 0.18033 0.19282 C 0.18112 0.19375 0.1819 0.1949 0.18255 0.19606 C 0.18294 0.19699 0.1832 0.19768 0.18359 0.19838 C 0.18424 0.1993 0.18489 0.19977 0.18528 0.20069 C 0.18593 0.20162 0.18632 0.20301 0.18698 0.20393 C 0.1875 0.20463 0.18815 0.20463 0.18867 0.20509 C 0.19218 0.21203 0.18658 0.20139 0.19205 0.20833 C 0.19283 0.20926 0.19336 0.21157 0.19427 0.21273 C 0.19479 0.21342 0.19739 0.21736 0.19817 0.21828 C 0.19869 0.21875 0.19922 0.21898 0.19987 0.21944 C 0.20052 0.22083 0.20117 0.22268 0.20208 0.22384 C 0.20312 0.22523 0.20442 0.22639 0.20533 0.22801 C 0.20794 0.23333 0.20455 0.22708 0.20807 0.23264 C 0.20859 0.23333 0.20872 0.23426 0.20924 0.23472 C 0.20976 0.23541 0.21041 0.23541 0.21093 0.23588 C 0.21575 0.23981 0.21093 0.23657 0.21484 0.23912 C 0.2151 0.23981 0.21549 0.24097 0.21588 0.24143 C 0.21797 0.24398 0.2181 0.24352 0.22031 0.24467 C 0.22148 0.24537 0.22369 0.24699 0.22369 0.24722 C 0.23112 0.24653 0.23854 0.24653 0.24596 0.24583 C 0.24882 0.2456 0.24752 0.24444 0.24987 0.24259 C 0.25091 0.24143 0.25312 0.24028 0.25312 0.24051 C 0.25859 0.23217 0.25286 0.24004 0.25703 0.23588 C 0.25768 0.23541 0.25807 0.23426 0.25872 0.23356 C 0.25976 0.23287 0.26093 0.23217 0.26211 0.23148 L 0.26367 0.23055 C 0.26744 0.22523 0.26575 0.22662 0.26862 0.225 C 0.26914 0.22407 0.2694 0.22338 0.26979 0.22268 C 0.27122 0.22037 0.27474 0.2169 0.27591 0.21597 C 0.27643 0.21574 0.27708 0.21551 0.2776 0.21481 C 0.27838 0.21435 0.27916 0.21342 0.27968 0.21273 C 0.28411 0.20787 0.28411 0.2081 0.28711 0.20393 C 0.28906 0.19791 0.28698 0.20278 0.29088 0.19838 C 0.29179 0.19745 0.29231 0.19606 0.2931 0.19514 C 0.29375 0.19444 0.29427 0.19352 0.29479 0.19282 C 0.29557 0.19213 0.29635 0.19166 0.297 0.19074 C 0.29765 0.18981 0.29817 0.18842 0.29869 0.18727 C 0.30026 0.18495 0.30104 0.18449 0.30312 0.18287 C 0.30846 0.17245 0.30169 0.18495 0.30638 0.1787 C 0.30833 0.17615 0.30781 0.17477 0.30989 0.17315 C 0.31067 0.17222 0.31158 0.17222 0.3125 0.17199 C 0.31406 0.16736 0.31341 0.16828 0.31653 0.16551 C 0.31901 0.16273 0.31953 0.16574 0.32252 0.15995 C 0.32382 0.1574 0.32369 0.1574 0.32539 0.15532 C 0.32617 0.15463 0.32695 0.15393 0.3276 0.15324 C 0.32825 0.15254 0.32877 0.15162 0.32929 0.15092 C 0.33164 0.14861 0.33216 0.14861 0.33489 0.14768 C 0.3375 0.14259 0.33411 0.14838 0.33815 0.14421 C 0.33867 0.14398 0.3388 0.14282 0.33919 0.14213 C 0.33997 0.1412 0.34075 0.14074 0.34153 0.14004 C 0.34466 0.13356 0.3414 0.13889 0.34596 0.13565 C 0.34661 0.13495 0.347 0.13379 0.34765 0.13333 C 0.34804 0.13287 0.34882 0.13287 0.34935 0.13217 C 0.35052 0.13102 0.35143 0.1294 0.3526 0.12778 C 0.35312 0.12708 0.35377 0.12639 0.35429 0.12569 C 0.36067 0.1162 0.3526 0.12778 0.35872 0.12014 C 0.3595 0.11898 0.36015 0.11759 0.36093 0.11666 C 0.36185 0.11597 0.36276 0.11528 0.36367 0.11458 C 0.36445 0.11389 0.36523 0.11319 0.36601 0.11227 C 0.36692 0.11134 0.36783 0.11018 0.36875 0.10903 C 0.3694 0.1081 0.37018 0.10671 0.37096 0.10555 C 0.37239 0.10416 0.37395 0.10301 0.37539 0.10139 C 0.37617 0.10046 0.37682 0.09977 0.3776 0.09907 C 0.37929 0.09791 0.38086 0.09653 0.38255 0.09583 C 0.38593 0.09421 0.38411 0.09514 0.38815 0.09236 L 0.38984 0.09143 C 0.39036 0.09097 0.39101 0.09097 0.39153 0.09028 C 0.39283 0.08935 0.39401 0.08796 0.39544 0.08703 C 0.39648 0.08634 0.4026 0.08495 0.40312 0.08472 C 0.40573 0.07986 0.40338 0.08333 0.40976 0.08148 C 0.41041 0.08148 0.41093 0.08078 0.41145 0.08032 C 0.41432 0.0787 0.41549 0.07801 0.4181 0.07708 C 0.4194 0.07662 0.4207 0.07639 0.42213 0.07592 L 0.42877 0.07384 C 0.42981 0.07338 0.43099 0.07338 0.43203 0.07268 C 0.43268 0.07245 0.4332 0.07199 0.43372 0.07153 C 0.43437 0.07106 0.43528 0.07106 0.43593 0.0706 C 0.43698 0.06967 0.43776 0.06875 0.43867 0.06828 C 0.44023 0.06736 0.44166 0.0669 0.44323 0.06597 C 0.44375 0.06574 0.44427 0.06528 0.44492 0.06504 C 0.44557 0.06435 0.44635 0.06435 0.447 0.06389 C 0.45403 0.05926 0.44895 0.06134 0.45547 0.05949 C 0.45924 0.05555 0.45651 0.05787 0.46263 0.05509 C 0.46927 0.05185 0.46471 0.0537 0.47044 0.05162 C 0.47109 0.05115 0.47187 0.05 0.47252 0.04953 C 0.47369 0.04861 0.47487 0.04815 0.47591 0.04722 L 0.47929 0.04514 L 0.48099 0.04398 C 0.48203 0.04328 0.48307 0.04213 0.48437 0.0419 C 0.48906 0.04051 0.48685 0.0412 0.49101 0.03958 C 0.49231 0.03819 0.49336 0.03703 0.49479 0.03634 C 0.49674 0.03541 0.49856 0.03495 0.50039 0.03403 C 0.50104 0.03379 0.50156 0.03333 0.50208 0.03287 C 0.50299 0.03264 0.50403 0.0324 0.50494 0.03194 C 0.50755 0.03032 0.50742 0.03032 0.50924 0.02847 " pathEditMode="relative" rAng="0" ptsTypes="AAAAAAAAAAAAAAAAAAAAAAAAAAAAAAAAAAAAAAAAAAAAAAAAAAAAAAAAAAAAAAAAAAAAAAAAAAAAAAAAAAAAAAAAAAAAAAAAAAAAAAAAAAAAAAAAAAAAAAAAAAAAAAAAAAAAAAAAAAAAAAAAAAAAAAAAAAAAAA">
                                      <p:cBhvr>
                                        <p:cTn id="9" dur="3000" fill="hold"/>
                                        <p:tgtEl>
                                          <p:spTgt spid="3"/>
                                        </p:tgtEl>
                                        <p:attrNameLst>
                                          <p:attrName>ppt_x</p:attrName>
                                          <p:attrName>ppt_y</p:attrName>
                                        </p:attrNameLst>
                                      </p:cBhvr>
                                      <p:rCtr x="25417" y="12361"/>
                                    </p:animMotion>
                                  </p:childTnLst>
                                </p:cTn>
                              </p:par>
                            </p:childTnLst>
                          </p:cTn>
                        </p:par>
                        <p:par>
                          <p:cTn id="10" fill="hold">
                            <p:stCondLst>
                              <p:cond delay="3000"/>
                            </p:stCondLst>
                            <p:childTnLst>
                              <p:par>
                                <p:cTn id="11" presetID="1" presetClass="exit" presetSubtype="0" fill="hold" grpId="1" nodeType="afterEffect">
                                  <p:stCondLst>
                                    <p:cond delay="600"/>
                                  </p:stCondLst>
                                  <p:childTnLst>
                                    <p:set>
                                      <p:cBhvr>
                                        <p:cTn id="12" dur="1" fill="hold">
                                          <p:stCondLst>
                                            <p:cond delay="0"/>
                                          </p:stCondLst>
                                        </p:cTn>
                                        <p:tgtEl>
                                          <p:spTgt spid="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2"/>
                                        </p:tgtEl>
                                        <p:attrNameLst>
                                          <p:attrName>style.visibility</p:attrName>
                                        </p:attrNameLst>
                                      </p:cBhvr>
                                      <p:to>
                                        <p:strVal val="visible"/>
                                      </p:to>
                                    </p:set>
                                  </p:childTnLst>
                                </p:cTn>
                              </p:par>
                            </p:childTnLst>
                          </p:cTn>
                        </p:par>
                        <p:par>
                          <p:cTn id="17" fill="hold">
                            <p:stCondLst>
                              <p:cond delay="0"/>
                            </p:stCondLst>
                            <p:childTnLst>
                              <p:par>
                                <p:cTn id="18" presetID="0" presetClass="path" presetSubtype="0" fill="hold" grpId="1" nodeType="afterEffect">
                                  <p:stCondLst>
                                    <p:cond delay="0"/>
                                  </p:stCondLst>
                                  <p:childTnLst>
                                    <p:animMotion origin="layout" path="M -0.01667 0.01365 L -0.02409 0.01852 C -0.02474 0.01898 -0.02539 0.01921 -0.02591 0.01944 C -0.02774 0.02037 -0.02982 0.02106 -0.03151 0.02222 C -0.03776 0.02592 -0.03269 0.02361 -0.03828 0.02569 C -0.04297 0.03194 -0.03711 0.02453 -0.04258 0.0294 C -0.04336 0.03009 -0.04388 0.03148 -0.04453 0.03194 C -0.04792 0.03495 -0.04805 0.03426 -0.05144 0.03565 C -0.05196 0.03611 -0.05261 0.03657 -0.05313 0.03703 C -0.0556 0.03819 -0.05821 0.03889 -0.06068 0.03958 C -0.06146 0.04028 -0.06224 0.0412 -0.06315 0.0419 C -0.0642 0.04282 -0.06771 0.04398 -0.06862 0.04444 C -0.07032 0.04514 -0.07214 0.0456 -0.0737 0.04676 C -0.07461 0.04768 -0.07565 0.04884 -0.0767 0.04953 C -0.078 0.05 -0.07917 0.05 -0.08047 0.05046 C -0.08881 0.0537 -0.07969 0.05 -0.08542 0.05301 C -0.08633 0.0537 -0.0875 0.05393 -0.08855 0.0544 C -0.09011 0.05509 -0.0918 0.05602 -0.09349 0.05671 L -0.09961 0.05926 C -0.10013 0.06018 -0.10039 0.06111 -0.10091 0.06157 C -0.10209 0.06319 -0.10534 0.06574 -0.10638 0.06666 C -0.10769 0.06759 -0.10899 0.06828 -0.11016 0.06921 C -0.1112 0.07014 -0.11224 0.07106 -0.11328 0.07153 C -0.11446 0.07222 -0.11576 0.07222 -0.11693 0.07291 C -0.11758 0.07315 -0.11823 0.07361 -0.11888 0.07407 C -0.11953 0.075 -0.12006 0.07592 -0.12071 0.07662 C -0.12149 0.07731 -0.12253 0.07708 -0.12318 0.07778 C -0.1237 0.07824 -0.12396 0.07986 -0.12448 0.08032 C -0.125 0.08102 -0.12565 0.08102 -0.12631 0.08148 C -0.12644 0.08264 -0.12631 0.08449 -0.12696 0.08541 C -0.12761 0.08634 -0.12852 0.08611 -0.1293 0.08634 C -0.13373 0.08912 -0.128 0.08634 -0.13438 0.08889 C -0.13959 0.09606 -0.13295 0.0875 -0.13815 0.09259 C -0.14232 0.09676 -0.13724 0.09375 -0.14245 0.09653 C -0.14362 0.09768 -0.1448 0.09907 -0.1461 0.10023 C -0.14818 0.10185 -0.15026 0.10301 -0.15222 0.10509 C -0.15547 0.10833 -0.15391 0.10694 -0.1573 0.10879 C -0.15795 0.10972 -0.15847 0.11065 -0.15912 0.11134 C -0.16029 0.11227 -0.16185 0.11227 -0.16276 0.11365 C -0.16341 0.11458 -0.16407 0.11551 -0.16472 0.1162 C -0.16797 0.11944 -0.16511 0.11481 -0.16901 0.1199 C -0.16953 0.1206 -0.1698 0.12176 -0.17019 0.12245 C -0.17097 0.12338 -0.17188 0.12407 -0.17279 0.12477 C -0.17578 0.12754 -0.17565 0.12685 -0.17826 0.12986 C -0.17891 0.13055 -0.17956 0.13148 -0.18021 0.1324 C -0.1806 0.13287 -0.18086 0.13426 -0.18138 0.13472 C -0.18243 0.13565 -0.18347 0.13565 -0.18451 0.13611 C -0.18542 0.13727 -0.18607 0.13865 -0.18698 0.13981 C -0.18763 0.14028 -0.18828 0.14028 -0.18881 0.14097 C -0.18985 0.14236 -0.19037 0.14467 -0.19141 0.14583 C -0.19206 0.14699 -0.19297 0.14676 -0.19375 0.14722 C -0.1944 0.14768 -0.19506 0.14815 -0.19571 0.14838 C -0.19597 0.14907 -0.19649 0.15023 -0.19688 0.15092 C -0.20482 0.16342 -0.19935 0.1544 -0.20365 0.16065 C -0.20456 0.16203 -0.20521 0.16365 -0.20625 0.16435 C -0.2073 0.16574 -0.2086 0.1662 -0.2099 0.1669 C -0.21368 0.17453 -0.20821 0.16412 -0.21289 0.1706 C -0.21758 0.17685 -0.21224 0.17268 -0.21667 0.17569 C -0.21732 0.17639 -0.21797 0.17754 -0.21862 0.17824 C -0.21914 0.1787 -0.2198 0.17893 -0.22032 0.1794 C -0.22292 0.18125 -0.22539 0.18356 -0.22787 0.18541 C -0.23295 0.19166 -0.22995 0.18819 -0.23711 0.19537 C -0.23802 0.19629 -0.23881 0.19745 -0.23959 0.19791 C -0.24089 0.19884 -0.24219 0.1993 -0.24323 0.20023 L -0.24831 0.20532 C -0.24922 0.20602 -0.24987 0.20717 -0.25078 0.20787 C -0.25222 0.20879 -0.25339 0.20903 -0.25443 0.21041 C -0.25664 0.21273 -0.25808 0.21481 -0.26003 0.21643 C -0.26068 0.2169 -0.26133 0.21713 -0.26185 0.21782 C -0.2625 0.21852 -0.26315 0.21967 -0.26394 0.22037 C -0.26472 0.22106 -0.26589 0.22153 -0.26693 0.22268 C -0.26797 0.22384 -0.26888 0.22546 -0.26993 0.22639 C -0.27097 0.22731 -0.27214 0.22801 -0.27305 0.22893 C -0.27383 0.22963 -0.27474 0.23078 -0.27565 0.23125 C -0.27982 0.23518 -0.27722 0.23264 -0.28047 0.23518 C -0.28151 0.23588 -0.28256 0.23657 -0.28373 0.2375 C -0.28451 0.23819 -0.28516 0.23958 -0.28607 0.24004 C -0.28698 0.24074 -0.28815 0.24097 -0.2892 0.2412 C -0.29662 0.24467 -0.28373 0.23981 -0.29909 0.24514 C -0.30391 0.24467 -0.3086 0.24514 -0.31328 0.24375 C -0.31472 0.24328 -0.31576 0.2412 -0.31706 0.24004 C -0.31823 0.23912 -0.32071 0.2375 -0.32071 0.23773 C -0.32461 0.2324 -0.32058 0.23727 -0.32448 0.23379 C -0.32565 0.23264 -0.32696 0.23125 -0.32813 0.23009 C -0.32878 0.22963 -0.32943 0.2294 -0.32995 0.22893 C -0.33086 0.22801 -0.33243 0.22569 -0.33308 0.22384 C -0.33581 0.21643 -0.33412 0.21921 -0.33685 0.21273 C -0.33763 0.21088 -0.33868 0.20972 -0.33933 0.20787 C -0.33985 0.20625 -0.33998 0.2044 -0.3405 0.20278 C -0.34206 0.19884 -0.34245 0.19977 -0.34427 0.19676 C -0.34662 0.19282 -0.34466 0.19375 -0.34857 0.18935 C -0.34935 0.18842 -0.35026 0.18842 -0.35105 0.18796 C -0.35547 0.18217 -0.35 0.18958 -0.35547 0.18194 C -0.35599 0.18102 -0.35664 0.18009 -0.3573 0.1794 C -0.35808 0.17824 -0.35873 0.17639 -0.35977 0.17569 C -0.36068 0.17477 -0.36172 0.17477 -0.36289 0.1743 C -0.36341 0.17315 -0.36394 0.17176 -0.36472 0.1706 C -0.36524 0.1699 -0.36602 0.1699 -0.36654 0.16944 C -0.36797 0.16828 -0.3694 0.1669 -0.37084 0.16574 C -0.37149 0.16528 -0.37214 0.16504 -0.37279 0.16435 C -0.37344 0.16365 -0.37396 0.16273 -0.37461 0.16203 C -0.37539 0.16111 -0.37631 0.16041 -0.37709 0.15949 C -0.378 0.15856 -0.37865 0.15671 -0.37956 0.15578 C -0.38047 0.15486 -0.38164 0.15486 -0.38269 0.15463 C -0.38516 0.14953 -0.38568 0.14768 -0.38828 0.14467 C -0.38907 0.14375 -0.38985 0.14305 -0.39063 0.14236 C -0.39427 0.13495 -0.3905 0.14166 -0.39571 0.13611 C -0.40248 0.1287 -0.39688 0.13287 -0.40118 0.12986 C -0.40769 0.11944 -0.40078 0.12893 -0.40808 0.12361 C -0.40912 0.12268 -0.41003 0.12106 -0.4112 0.1199 C -0.41172 0.11921 -0.41237 0.11921 -0.41302 0.11852 C -0.41836 0.11319 -0.41381 0.1162 -0.41862 0.11365 C -0.42292 0.10949 -0.42357 0.10856 -0.42787 0.10509 C -0.42839 0.10463 -0.42904 0.10416 -0.42982 0.1037 C -0.43125 0.10324 -0.43269 0.10301 -0.43412 0.10254 C -0.43646 0.09768 -0.43399 0.10208 -0.43724 0.09884 C -0.43789 0.09815 -0.43841 0.09699 -0.43907 0.09653 C -0.43998 0.0956 -0.44258 0.09444 -0.44336 0.09398 C -0.44388 0.09305 -0.44453 0.09213 -0.44519 0.09143 C -0.4461 0.09074 -0.4487 0.08935 -0.44961 0.08889 C -0.45013 0.08773 -0.45052 0.08611 -0.45131 0.08541 C -0.45417 0.08264 -0.45769 0.08148 -0.46068 0.08032 C -0.46159 0.07963 -0.46237 0.0787 -0.46315 0.07778 C -0.46381 0.07708 -0.46433 0.07592 -0.46498 0.07546 C -0.46576 0.07477 -0.46667 0.07453 -0.46758 0.07407 C -0.46849 0.07291 -0.46953 0.07106 -0.47058 0.0706 C -0.47175 0.06967 -0.47305 0.06967 -0.47422 0.06921 C -0.47539 0.06875 -0.47644 0.06852 -0.47735 0.06782 C -0.478 0.06759 -0.47865 0.0669 -0.4793 0.06666 C -0.48073 0.06574 -0.48216 0.06504 -0.4836 0.06435 C -0.48451 0.06389 -0.48529 0.06342 -0.48607 0.06296 C -0.48737 0.06227 -0.48855 0.06134 -0.48972 0.06041 C -0.4905 0.06018 -0.49102 0.05949 -0.49167 0.05926 C -0.49284 0.05879 -0.49414 0.05856 -0.49532 0.0581 C -0.49701 0.05717 -0.4987 0.05648 -0.50026 0.05555 L -0.50769 0.05046 C -0.50899 0.04977 -0.51029 0.04884 -0.51146 0.04815 C -0.51289 0.04722 -0.51433 0.04629 -0.51576 0.0456 C -0.5168 0.0449 -0.51797 0.0449 -0.51888 0.04444 C -0.51966 0.04421 -0.52058 0.04352 -0.52136 0.04328 C -0.52344 0.04236 -0.52552 0.04166 -0.52748 0.04051 L -0.53685 0.03565 C -0.53776 0.03518 -0.53855 0.03472 -0.53946 0.03449 L -0.54375 0.03333 C -0.54427 0.03287 -0.54493 0.0324 -0.54545 0.03194 C -0.54636 0.03148 -0.54727 0.03125 -0.54805 0.03078 C -0.55078 0.0287 -0.54974 0.02824 -0.55235 0.02708 C -0.55352 0.02662 -0.55599 0.02569 -0.55599 0.02592 " pathEditMode="relative" rAng="0" ptsTypes="AAAAAAAAAAAAAAAAAAAAAAAAAAAAAAAAAAAAAAAAAAAAAAAAAAAAAAAAAAAAAAAAAAAAAAAAAAAAAAAAAAAAAAAAAAAAAAAAAAAAAAAAAAAAAAAAAAAAAAAAAAAAAAAAAAAAAAAAAAAAAAAAAAAA">
                                      <p:cBhvr>
                                        <p:cTn id="19" dur="3000" fill="hold"/>
                                        <p:tgtEl>
                                          <p:spTgt spid="72"/>
                                        </p:tgtEl>
                                        <p:attrNameLst>
                                          <p:attrName>ppt_x</p:attrName>
                                          <p:attrName>ppt_y</p:attrName>
                                        </p:attrNameLst>
                                      </p:cBhvr>
                                      <p:rCtr x="-26966" y="11574"/>
                                    </p:animMotion>
                                  </p:childTnLst>
                                </p:cTn>
                              </p:par>
                            </p:childTnLst>
                          </p:cTn>
                        </p:par>
                        <p:par>
                          <p:cTn id="20" fill="hold">
                            <p:stCondLst>
                              <p:cond delay="3000"/>
                            </p:stCondLst>
                            <p:childTnLst>
                              <p:par>
                                <p:cTn id="21" presetID="1" presetClass="exit" presetSubtype="0" fill="hold" grpId="2" nodeType="afterEffect">
                                  <p:stCondLst>
                                    <p:cond delay="900"/>
                                  </p:stCondLst>
                                  <p:childTnLst>
                                    <p:set>
                                      <p:cBhvr>
                                        <p:cTn id="22" dur="1" fill="hold">
                                          <p:stCondLst>
                                            <p:cond delay="0"/>
                                          </p:stCondLst>
                                        </p:cTn>
                                        <p:tgtEl>
                                          <p:spTgt spid="7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ldLvl="0" animBg="1"/>
      <p:bldP spid="3" grpId="1" bldLvl="0" animBg="1"/>
      <p:bldP spid="3" grpId="2" bldLvl="0" animBg="1"/>
      <p:bldP spid="72" grpId="0" bldLvl="0" animBg="1"/>
      <p:bldP spid="72" grpId="1" bldLvl="0" animBg="1"/>
      <p:bldP spid="72" grpId="2" bldLvl="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kumimoji="1" lang="zh-CN" altLang="en-US" dirty="0"/>
              <a:t>虚电路与数据报网络的比较</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20</a:t>
            </a:fld>
            <a:endParaRPr kumimoji="1" lang="zh-CN" altLang="en-US" dirty="0"/>
          </a:p>
        </p:txBody>
      </p:sp>
      <p:graphicFrame>
        <p:nvGraphicFramePr>
          <p:cNvPr id="10" name="表格 6"/>
          <p:cNvGraphicFramePr/>
          <p:nvPr/>
        </p:nvGraphicFramePr>
        <p:xfrm>
          <a:off x="612396" y="1435395"/>
          <a:ext cx="11123801" cy="4773679"/>
        </p:xfrm>
        <a:graphic>
          <a:graphicData uri="http://schemas.openxmlformats.org/drawingml/2006/table">
            <a:tbl>
              <a:tblPr firstRow="1" bandRow="1">
                <a:tableStyleId>{21E4AEA4-8DFA-4A89-87EB-49C32662AFE0}</a:tableStyleId>
              </a:tblPr>
              <a:tblGrid>
                <a:gridCol w="2273417">
                  <a:extLst>
                    <a:ext uri="{9D8B030D-6E8A-4147-A177-3AD203B41FA5}">
                      <a16:colId xmlns:a16="http://schemas.microsoft.com/office/drawing/2014/main" val="20000"/>
                    </a:ext>
                  </a:extLst>
                </a:gridCol>
                <a:gridCol w="4278385">
                  <a:extLst>
                    <a:ext uri="{9D8B030D-6E8A-4147-A177-3AD203B41FA5}">
                      <a16:colId xmlns:a16="http://schemas.microsoft.com/office/drawing/2014/main" val="20001"/>
                    </a:ext>
                  </a:extLst>
                </a:gridCol>
                <a:gridCol w="4571999">
                  <a:extLst>
                    <a:ext uri="{9D8B030D-6E8A-4147-A177-3AD203B41FA5}">
                      <a16:colId xmlns:a16="http://schemas.microsoft.com/office/drawing/2014/main" val="20002"/>
                    </a:ext>
                  </a:extLst>
                </a:gridCol>
              </a:tblGrid>
              <a:tr h="478783">
                <a:tc>
                  <a:txBody>
                    <a:bodyPr/>
                    <a:lstStyle/>
                    <a:p>
                      <a:pPr algn="ct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对比内容</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tc>
                  <a:txBody>
                    <a:bodyPr/>
                    <a:lstStyle/>
                    <a:p>
                      <a:pPr algn="ct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虚电路服务</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tc>
                  <a:txBody>
                    <a:bodyPr/>
                    <a:lstStyle/>
                    <a:p>
                      <a:pPr algn="ct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数据报服务</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extLst>
                  <a:ext uri="{0D108BD9-81ED-4DB2-BD59-A6C34878D82A}">
                    <a16:rowId xmlns:a16="http://schemas.microsoft.com/office/drawing/2014/main" val="10000"/>
                  </a:ext>
                </a:extLst>
              </a:tr>
              <a:tr h="478783">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可靠传输的保证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可靠通信由网络保证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可靠通信由主机保证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连接的建立</a:t>
                      </a:r>
                      <a:endParaRPr lang="en-US" altLang="zh-CN" sz="1800" b="0" dirty="0">
                        <a:latin typeface="微软雅黑" panose="020B0503020204020204" pitchFamily="34" charset="-122"/>
                        <a:ea typeface="微软雅黑" panose="020B0503020204020204" pitchFamily="34" charset="-122"/>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必须要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不需要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2"/>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每个分组含有一个短的虚电路号</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每个分组需要有源地址和目的地址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78783">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状态信息</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建立好的虚电路要占用子网表空间</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子网不存储状态信息</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4"/>
                  </a:ext>
                </a:extLst>
              </a:tr>
              <a:tr h="478783">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路由选择</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分组必须经过建立好的路由发送</a:t>
                      </a:r>
                      <a:endParaRPr lang="en-US" altLang="zh-CN" sz="1800" b="0" dirty="0">
                        <a:latin typeface="微软雅黑" panose="020B0503020204020204" pitchFamily="34" charset="-122"/>
                        <a:ea typeface="微软雅黑" panose="020B0503020204020204" pitchFamily="34" charset="-122"/>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每个分组独立选择路由</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分组顺序</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总是按序到达</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可能乱序</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6"/>
                  </a:ext>
                </a:extLst>
              </a:tr>
              <a:tr h="464632">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路由器失效</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所有经过失效路由器的虚电路都要终止</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失效结点可能丢失分组</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差错处理和流量控制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网络或用户主机负责</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用户主机负责</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8"/>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拥塞控制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容易控制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难控制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sp>
        <p:nvSpPr>
          <p:cNvPr id="5" name="日期占位符 9"/>
          <p:cNvSpPr>
            <a:spLocks noGrp="1"/>
          </p:cNvSpPr>
          <p:nvPr>
            <p:ph type="dt" sz="half" idx="10"/>
          </p:nvPr>
        </p:nvSpPr>
        <p:spPr>
          <a:xfrm>
            <a:off x="197485" y="6489065"/>
            <a:ext cx="356362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1847386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linds(horizontal)">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虚电路与数据报网络的比较</a:t>
            </a:r>
          </a:p>
        </p:txBody>
      </p:sp>
      <p:sp>
        <p:nvSpPr>
          <p:cNvPr id="3" name="内容占位符 2"/>
          <p:cNvSpPr>
            <a:spLocks noGrp="1"/>
          </p:cNvSpPr>
          <p:nvPr>
            <p:ph idx="1"/>
          </p:nvPr>
        </p:nvSpPr>
        <p:spPr>
          <a:xfrm>
            <a:off x="838200" y="1417272"/>
            <a:ext cx="10515600" cy="5131205"/>
          </a:xfrm>
        </p:spPr>
        <p:txBody>
          <a:bodyPr>
            <a:normAutofit/>
          </a:bodyPr>
          <a:lstStyle/>
          <a:p>
            <a:pPr>
              <a:lnSpc>
                <a:spcPct val="120000"/>
              </a:lnSpc>
            </a:pPr>
            <a:r>
              <a:rPr kumimoji="1" lang="zh-CN" altLang="en-US" dirty="0"/>
              <a:t>虚电路 </a:t>
            </a:r>
            <a:r>
              <a:rPr kumimoji="1" lang="en-US" altLang="zh-CN" i="1" dirty="0"/>
              <a:t>vs. </a:t>
            </a:r>
            <a:r>
              <a:rPr kumimoji="1" lang="zh-CN" altLang="en-US" dirty="0"/>
              <a:t>数据报：哪种方法更好？</a:t>
            </a:r>
            <a:endParaRPr kumimoji="1" lang="en-US" altLang="zh-CN" dirty="0"/>
          </a:p>
          <a:p>
            <a:pPr>
              <a:lnSpc>
                <a:spcPct val="120000"/>
              </a:lnSpc>
            </a:pPr>
            <a:r>
              <a:rPr kumimoji="1" lang="zh-CN" altLang="en-US" dirty="0"/>
              <a:t>取决于从什么角度进行比较</a:t>
            </a:r>
            <a:endParaRPr kumimoji="1" lang="en-US" altLang="zh-CN" dirty="0"/>
          </a:p>
          <a:p>
            <a:pPr lvl="1">
              <a:lnSpc>
                <a:spcPct val="120000"/>
              </a:lnSpc>
            </a:pPr>
            <a:r>
              <a:rPr kumimoji="1" lang="zh-CN" altLang="en-US" dirty="0"/>
              <a:t>性能</a:t>
            </a:r>
            <a:endParaRPr kumimoji="1" lang="en-US" altLang="zh-CN" dirty="0"/>
          </a:p>
          <a:p>
            <a:pPr lvl="1">
              <a:lnSpc>
                <a:spcPct val="120000"/>
              </a:lnSpc>
            </a:pPr>
            <a:r>
              <a:rPr kumimoji="1" lang="zh-CN" altLang="en-US" dirty="0"/>
              <a:t>效率</a:t>
            </a:r>
            <a:endParaRPr kumimoji="1" lang="en-US" altLang="zh-CN" dirty="0"/>
          </a:p>
          <a:p>
            <a:pPr lvl="1">
              <a:lnSpc>
                <a:spcPct val="120000"/>
              </a:lnSpc>
            </a:pPr>
            <a:r>
              <a:rPr kumimoji="1" lang="zh-CN" altLang="en-US" dirty="0"/>
              <a:t>对失败的控制</a:t>
            </a:r>
            <a:endParaRPr kumimoji="1" lang="en-US" altLang="zh-CN" dirty="0"/>
          </a:p>
          <a:p>
            <a:pPr lvl="1">
              <a:lnSpc>
                <a:spcPct val="120000"/>
              </a:lnSpc>
            </a:pPr>
            <a:r>
              <a:rPr kumimoji="1" lang="zh-CN" altLang="en-US" dirty="0"/>
              <a:t>实现的复杂性</a:t>
            </a:r>
            <a:endParaRPr kumimoji="1" lang="en-US" altLang="zh-CN" dirty="0"/>
          </a:p>
          <a:p>
            <a:pPr lvl="1">
              <a:lnSpc>
                <a:spcPct val="120000"/>
              </a:lnSpc>
            </a:pPr>
            <a:r>
              <a:rPr kumimoji="1" lang="en-US" altLang="zh-CN" dirty="0"/>
              <a:t>……</a:t>
            </a:r>
            <a:endParaRPr kumimoji="1"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21</a:t>
            </a:fld>
            <a:endParaRPr kumimoji="1" lang="zh-CN" altLang="en-US" dirty="0"/>
          </a:p>
        </p:txBody>
      </p:sp>
      <p:sp>
        <p:nvSpPr>
          <p:cNvPr id="5" name="日期占位符 9"/>
          <p:cNvSpPr>
            <a:spLocks noGrp="1"/>
          </p:cNvSpPr>
          <p:nvPr>
            <p:ph type="dt" sz="half" idx="10"/>
          </p:nvPr>
        </p:nvSpPr>
        <p:spPr>
          <a:xfrm>
            <a:off x="197485" y="6489065"/>
            <a:ext cx="3752215"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3690283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blinds(horizontal)">
                                      <p:cBhvr>
                                        <p:cTn id="7" dur="500"/>
                                        <p:tgtEl>
                                          <p:spTgt spid="3">
                                            <p:txEl>
                                              <p:pRg st="1" end="1"/>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2" end="2"/>
                                            </p:txEl>
                                          </p:spTgt>
                                        </p:tgtEl>
                                        <p:attrNameLst>
                                          <p:attrName>style.visibility</p:attrName>
                                        </p:attrNameLst>
                                      </p:cBhvr>
                                      <p:to>
                                        <p:strVal val="visible"/>
                                      </p:to>
                                    </p:set>
                                    <p:animEffect transition="in" filter="blinds(horizontal)">
                                      <p:cBhvr>
                                        <p:cTn id="10" dur="500"/>
                                        <p:tgtEl>
                                          <p:spTgt spid="3">
                                            <p:txEl>
                                              <p:pRg st="2" end="2"/>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Effect transition="in" filter="blinds(horizontal)">
                                      <p:cBhvr>
                                        <p:cTn id="13" dur="500"/>
                                        <p:tgtEl>
                                          <p:spTgt spid="3">
                                            <p:txEl>
                                              <p:pRg st="3" end="3"/>
                                            </p:txEl>
                                          </p:spTgt>
                                        </p:tgtEl>
                                      </p:cBhvr>
                                    </p:animEffect>
                                  </p:childTnLst>
                                </p:cTn>
                              </p:par>
                              <p:par>
                                <p:cTn id="14" presetID="3" presetClass="entr" presetSubtype="10" fill="hold" nodeType="withEffect">
                                  <p:stCondLst>
                                    <p:cond delay="0"/>
                                  </p:stCondLst>
                                  <p:childTnLst>
                                    <p:set>
                                      <p:cBhvr>
                                        <p:cTn id="15" dur="1" fill="hold">
                                          <p:stCondLst>
                                            <p:cond delay="0"/>
                                          </p:stCondLst>
                                        </p:cTn>
                                        <p:tgtEl>
                                          <p:spTgt spid="3">
                                            <p:txEl>
                                              <p:pRg st="4" end="4"/>
                                            </p:txEl>
                                          </p:spTgt>
                                        </p:tgtEl>
                                        <p:attrNameLst>
                                          <p:attrName>style.visibility</p:attrName>
                                        </p:attrNameLst>
                                      </p:cBhvr>
                                      <p:to>
                                        <p:strVal val="visible"/>
                                      </p:to>
                                    </p:set>
                                    <p:animEffect transition="in" filter="blinds(horizontal)">
                                      <p:cBhvr>
                                        <p:cTn id="16" dur="500"/>
                                        <p:tgtEl>
                                          <p:spTgt spid="3">
                                            <p:txEl>
                                              <p:pRg st="4" end="4"/>
                                            </p:txEl>
                                          </p:spTgt>
                                        </p:tgtEl>
                                      </p:cBhvr>
                                    </p:animEffect>
                                  </p:childTnLst>
                                </p:cTn>
                              </p:par>
                              <p:par>
                                <p:cTn id="17" presetID="3" presetClass="entr" presetSubtype="1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Effect transition="in" filter="blinds(horizontal)">
                                      <p:cBhvr>
                                        <p:cTn id="19" dur="500"/>
                                        <p:tgtEl>
                                          <p:spTgt spid="3">
                                            <p:txEl>
                                              <p:pRg st="5" end="5"/>
                                            </p:txEl>
                                          </p:spTgt>
                                        </p:tgtEl>
                                      </p:cBhvr>
                                    </p:animEffect>
                                  </p:childTnLst>
                                </p:cTn>
                              </p:par>
                              <p:par>
                                <p:cTn id="20" presetID="3" presetClass="entr" presetSubtype="10" fill="hold" nodeType="with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animEffect transition="in" filter="blinds(horizontal)">
                                      <p:cBhvr>
                                        <p:cTn id="2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虚电路与数据报网络的性能比较</a:t>
            </a:r>
            <a:endParaRPr lang="zh-CN" altLang="en-US" dirty="0"/>
          </a:p>
        </p:txBody>
      </p:sp>
      <p:sp>
        <p:nvSpPr>
          <p:cNvPr id="3" name="内容占位符 2"/>
          <p:cNvSpPr>
            <a:spLocks noGrp="1"/>
          </p:cNvSpPr>
          <p:nvPr>
            <p:ph idx="1"/>
          </p:nvPr>
        </p:nvSpPr>
        <p:spPr>
          <a:xfrm>
            <a:off x="838200" y="1510758"/>
            <a:ext cx="10515600" cy="1595513"/>
          </a:xfrm>
        </p:spPr>
        <p:txBody>
          <a:bodyPr>
            <a:normAutofit/>
          </a:bodyPr>
          <a:lstStyle/>
          <a:p>
            <a:r>
              <a:rPr lang="zh-CN" altLang="en-US" sz="2400" dirty="0"/>
              <a:t>例</a:t>
            </a:r>
            <a:r>
              <a:rPr lang="en-US" altLang="zh-CN" sz="2400" dirty="0"/>
              <a:t>1</a:t>
            </a:r>
            <a:r>
              <a:rPr lang="zh-CN" altLang="en-US" sz="2400" dirty="0"/>
              <a:t>：从性能角度比较</a:t>
            </a:r>
            <a:endParaRPr lang="en-US" altLang="zh-CN" sz="2400" dirty="0"/>
          </a:p>
          <a:p>
            <a:pPr lvl="1"/>
            <a:r>
              <a:rPr lang="zh-CN" altLang="en-US" sz="2000" dirty="0"/>
              <a:t>假设总带宽</a:t>
            </a:r>
            <a:r>
              <a:rPr lang="en-US" altLang="zh-CN" sz="2000" dirty="0"/>
              <a:t>100Mbps</a:t>
            </a:r>
            <a:r>
              <a:rPr lang="zh-CN" altLang="en-US" sz="2000" dirty="0"/>
              <a:t>，有</a:t>
            </a:r>
            <a:r>
              <a:rPr lang="en-US" altLang="zh-CN" sz="2000" dirty="0"/>
              <a:t>2</a:t>
            </a:r>
            <a:r>
              <a:rPr lang="zh-CN" altLang="en-US" sz="2000" dirty="0"/>
              <a:t>个数据源共享带宽</a:t>
            </a:r>
            <a:endParaRPr lang="en-US" altLang="zh-CN" sz="2000" dirty="0"/>
          </a:p>
          <a:p>
            <a:pPr lvl="1"/>
            <a:r>
              <a:rPr lang="zh-CN" altLang="en-US" sz="2000" dirty="0"/>
              <a:t>如果每个数据源按</a:t>
            </a:r>
            <a:r>
              <a:rPr lang="en-US" altLang="zh-CN" sz="2000" dirty="0"/>
              <a:t>50Mbps</a:t>
            </a:r>
            <a:r>
              <a:rPr lang="zh-CN" altLang="en-US" sz="2000" dirty="0"/>
              <a:t>的</a:t>
            </a:r>
            <a:r>
              <a:rPr lang="zh-CN" altLang="en-US" sz="2000" b="1" dirty="0">
                <a:solidFill>
                  <a:srgbClr val="5C307E"/>
                </a:solidFill>
              </a:rPr>
              <a:t>恒定速率</a:t>
            </a:r>
            <a:r>
              <a:rPr lang="zh-CN" altLang="en-US" sz="2000" dirty="0"/>
              <a:t>发送数据，</a:t>
            </a:r>
            <a:r>
              <a:rPr lang="zh-CN" altLang="en-US" sz="2000" dirty="0">
                <a:solidFill>
                  <a:srgbClr val="C00000"/>
                </a:solidFill>
              </a:rPr>
              <a:t>使用虚电路服务</a:t>
            </a:r>
            <a:r>
              <a:rPr lang="zh-CN" altLang="en-US" sz="2000" dirty="0"/>
              <a:t>，结果如何？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22</a:t>
            </a:fld>
            <a:endParaRPr kumimoji="1" lang="zh-CN" altLang="en-US" dirty="0"/>
          </a:p>
        </p:txBody>
      </p: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7914" y="4246627"/>
            <a:ext cx="657604" cy="484683"/>
          </a:xfrm>
          <a:prstGeom prst="rect">
            <a:avLst/>
          </a:prstGeom>
          <a:noFill/>
          <a:extLst>
            <a:ext uri="{909E8E84-426E-40DD-AFC4-6F175D3DCCD1}">
              <a14:hiddenFill xmlns:a14="http://schemas.microsoft.com/office/drawing/2010/main">
                <a:solidFill>
                  <a:srgbClr val="FFFFFF"/>
                </a:solidFill>
              </a14:hiddenFill>
            </a:ext>
          </a:extLst>
        </p:spPr>
      </p:pic>
      <p:grpSp>
        <p:nvGrpSpPr>
          <p:cNvPr id="24" name="组合 23"/>
          <p:cNvGrpSpPr/>
          <p:nvPr/>
        </p:nvGrpSpPr>
        <p:grpSpPr>
          <a:xfrm>
            <a:off x="7366457" y="3984755"/>
            <a:ext cx="1967698" cy="925974"/>
            <a:chOff x="7366457" y="3984755"/>
            <a:chExt cx="1967698" cy="925974"/>
          </a:xfrm>
        </p:grpSpPr>
        <p:sp>
          <p:nvSpPr>
            <p:cNvPr id="8" name="矩形 7"/>
            <p:cNvSpPr/>
            <p:nvPr/>
          </p:nvSpPr>
          <p:spPr>
            <a:xfrm>
              <a:off x="7366458" y="3984755"/>
              <a:ext cx="1967697" cy="462987"/>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7366457" y="4447742"/>
              <a:ext cx="1967697" cy="462987"/>
            </a:xfrm>
            <a:prstGeom prst="rec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13" name="文本框 12"/>
            <p:cNvSpPr txBox="1"/>
            <p:nvPr/>
          </p:nvSpPr>
          <p:spPr>
            <a:xfrm>
              <a:off x="7718886" y="4284693"/>
              <a:ext cx="1217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100Mbps</a:t>
              </a:r>
              <a:endParaRPr lang="zh-CN" altLang="en-US" dirty="0">
                <a:latin typeface="微软雅黑" panose="020B0503020204020204" pitchFamily="34" charset="-122"/>
                <a:ea typeface="微软雅黑" panose="020B0503020204020204" pitchFamily="34" charset="-122"/>
              </a:endParaRPr>
            </a:p>
          </p:txBody>
        </p:sp>
      </p:grpSp>
      <p:grpSp>
        <p:nvGrpSpPr>
          <p:cNvPr id="23" name="组合 22"/>
          <p:cNvGrpSpPr/>
          <p:nvPr/>
        </p:nvGrpSpPr>
        <p:grpSpPr>
          <a:xfrm>
            <a:off x="2511704" y="3751730"/>
            <a:ext cx="2674235" cy="1302151"/>
            <a:chOff x="2511704" y="3751730"/>
            <a:chExt cx="2674235" cy="1302151"/>
          </a:xfrm>
        </p:grpSpPr>
        <p:sp>
          <p:nvSpPr>
            <p:cNvPr id="6" name="矩形 5"/>
            <p:cNvSpPr/>
            <p:nvPr/>
          </p:nvSpPr>
          <p:spPr>
            <a:xfrm>
              <a:off x="2511704" y="3751730"/>
              <a:ext cx="1967697" cy="462987"/>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50Mbps</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7" name="矩形 6"/>
            <p:cNvSpPr/>
            <p:nvPr/>
          </p:nvSpPr>
          <p:spPr>
            <a:xfrm>
              <a:off x="2511705" y="4590894"/>
              <a:ext cx="1967697" cy="462987"/>
            </a:xfrm>
            <a:prstGeom prst="rec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50Mbps</a:t>
              </a:r>
              <a:endParaRPr lang="zh-CN" altLang="en-US" dirty="0">
                <a:solidFill>
                  <a:schemeClr val="tx1"/>
                </a:solidFill>
                <a:latin typeface="微软雅黑" panose="020B0503020204020204" pitchFamily="34" charset="-122"/>
                <a:ea typeface="微软雅黑" panose="020B0503020204020204" pitchFamily="34" charset="-122"/>
              </a:endParaRPr>
            </a:p>
          </p:txBody>
        </p:sp>
        <p:cxnSp>
          <p:nvCxnSpPr>
            <p:cNvPr id="15" name="直接箭头连接符 14"/>
            <p:cNvCxnSpPr/>
            <p:nvPr/>
          </p:nvCxnSpPr>
          <p:spPr>
            <a:xfrm>
              <a:off x="4699322" y="3983223"/>
              <a:ext cx="474562" cy="263404"/>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6" name="直接箭头连接符 15"/>
            <p:cNvCxnSpPr/>
            <p:nvPr/>
          </p:nvCxnSpPr>
          <p:spPr>
            <a:xfrm flipV="1">
              <a:off x="4711377" y="4599608"/>
              <a:ext cx="474562" cy="190869"/>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sp>
        <p:nvSpPr>
          <p:cNvPr id="21" name="文本框 20"/>
          <p:cNvSpPr txBox="1"/>
          <p:nvPr/>
        </p:nvSpPr>
        <p:spPr>
          <a:xfrm>
            <a:off x="3197849" y="5562064"/>
            <a:ext cx="5216576" cy="707886"/>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带宽不浪费</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每个数据源发送数据的带宽都可被保证</a:t>
            </a:r>
          </a:p>
        </p:txBody>
      </p:sp>
      <p:grpSp>
        <p:nvGrpSpPr>
          <p:cNvPr id="26" name="组合 25"/>
          <p:cNvGrpSpPr/>
          <p:nvPr/>
        </p:nvGrpSpPr>
        <p:grpSpPr>
          <a:xfrm>
            <a:off x="6223527" y="3358719"/>
            <a:ext cx="3434717" cy="1565036"/>
            <a:chOff x="6223527" y="3358719"/>
            <a:chExt cx="3434717" cy="1565036"/>
          </a:xfrm>
        </p:grpSpPr>
        <p:cxnSp>
          <p:nvCxnSpPr>
            <p:cNvPr id="18" name="直接箭头连接符 17"/>
            <p:cNvCxnSpPr/>
            <p:nvPr/>
          </p:nvCxnSpPr>
          <p:spPr>
            <a:xfrm>
              <a:off x="6223527" y="4527073"/>
              <a:ext cx="474562" cy="0"/>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nvGrpSpPr>
            <p:cNvPr id="25" name="组合 24"/>
            <p:cNvGrpSpPr/>
            <p:nvPr/>
          </p:nvGrpSpPr>
          <p:grpSpPr>
            <a:xfrm>
              <a:off x="7019447" y="3358719"/>
              <a:ext cx="2638797" cy="1565036"/>
              <a:chOff x="7019447" y="3358719"/>
              <a:chExt cx="2638797" cy="1565036"/>
            </a:xfrm>
          </p:grpSpPr>
          <p:cxnSp>
            <p:nvCxnSpPr>
              <p:cNvPr id="11" name="直接连接符 10"/>
              <p:cNvCxnSpPr/>
              <p:nvPr/>
            </p:nvCxnSpPr>
            <p:spPr>
              <a:xfrm>
                <a:off x="7019447" y="3963137"/>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cxnSp>
            <p:nvCxnSpPr>
              <p:cNvPr id="12" name="直接连接符 11"/>
              <p:cNvCxnSpPr/>
              <p:nvPr/>
            </p:nvCxnSpPr>
            <p:spPr>
              <a:xfrm>
                <a:off x="7042366" y="4923755"/>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sp>
            <p:nvSpPr>
              <p:cNvPr id="22" name="文本框 21"/>
              <p:cNvSpPr txBox="1"/>
              <p:nvPr/>
            </p:nvSpPr>
            <p:spPr>
              <a:xfrm>
                <a:off x="7680891" y="3358719"/>
                <a:ext cx="146706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虚电路服务</a:t>
                </a:r>
              </a:p>
            </p:txBody>
          </p:sp>
        </p:grpSp>
      </p:grpSp>
      <p:sp>
        <p:nvSpPr>
          <p:cNvPr id="27" name="日期占位符 9"/>
          <p:cNvSpPr>
            <a:spLocks noGrp="1"/>
          </p:cNvSpPr>
          <p:nvPr>
            <p:ph type="dt" sz="half" idx="10"/>
          </p:nvPr>
        </p:nvSpPr>
        <p:spPr>
          <a:xfrm>
            <a:off x="197485" y="6489065"/>
            <a:ext cx="331089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3720779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wipe(left)">
                                      <p:cBhvr>
                                        <p:cTn id="15" dur="500"/>
                                        <p:tgtEl>
                                          <p:spTgt spid="2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blinds(horizontal)">
                                      <p:cBhvr>
                                        <p:cTn id="2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ldLvl="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p:cNvGrpSpPr/>
          <p:nvPr/>
        </p:nvGrpSpPr>
        <p:grpSpPr>
          <a:xfrm>
            <a:off x="7560986" y="3670731"/>
            <a:ext cx="1586535" cy="1237358"/>
            <a:chOff x="7589267" y="3670731"/>
            <a:chExt cx="1586535" cy="1237358"/>
          </a:xfrm>
        </p:grpSpPr>
        <p:grpSp>
          <p:nvGrpSpPr>
            <p:cNvPr id="47" name="组合 46"/>
            <p:cNvGrpSpPr/>
            <p:nvPr/>
          </p:nvGrpSpPr>
          <p:grpSpPr>
            <a:xfrm>
              <a:off x="7589267" y="4315894"/>
              <a:ext cx="1579045" cy="592195"/>
              <a:chOff x="6480770" y="5691031"/>
              <a:chExt cx="1579045" cy="577278"/>
            </a:xfrm>
          </p:grpSpPr>
          <p:grpSp>
            <p:nvGrpSpPr>
              <p:cNvPr id="56" name="组合 55"/>
              <p:cNvGrpSpPr/>
              <p:nvPr/>
            </p:nvGrpSpPr>
            <p:grpSpPr>
              <a:xfrm>
                <a:off x="6480770" y="5691031"/>
                <a:ext cx="1579045" cy="577278"/>
                <a:chOff x="439838" y="5345724"/>
                <a:chExt cx="1579045" cy="577278"/>
              </a:xfrm>
            </p:grpSpPr>
            <p:sp>
              <p:nvSpPr>
                <p:cNvPr id="58" name="流程图: 文档 57"/>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流程图: 文档 58"/>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57" name="文本框 56"/>
              <p:cNvSpPr txBox="1"/>
              <p:nvPr/>
            </p:nvSpPr>
            <p:spPr>
              <a:xfrm>
                <a:off x="6722716" y="5840468"/>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50Mbps</a:t>
                </a:r>
                <a:endParaRPr lang="zh-CN" altLang="en-US" dirty="0">
                  <a:latin typeface="微软雅黑" panose="020B0503020204020204" pitchFamily="34" charset="-122"/>
                  <a:ea typeface="微软雅黑" panose="020B0503020204020204" pitchFamily="34" charset="-122"/>
                </a:endParaRPr>
              </a:p>
            </p:txBody>
          </p:sp>
        </p:grpSp>
        <p:grpSp>
          <p:nvGrpSpPr>
            <p:cNvPr id="48" name="组合 47"/>
            <p:cNvGrpSpPr/>
            <p:nvPr/>
          </p:nvGrpSpPr>
          <p:grpSpPr>
            <a:xfrm>
              <a:off x="7589267" y="3670731"/>
              <a:ext cx="1586535" cy="761478"/>
              <a:chOff x="7589267" y="3670731"/>
              <a:chExt cx="1586535" cy="761478"/>
            </a:xfrm>
          </p:grpSpPr>
          <p:grpSp>
            <p:nvGrpSpPr>
              <p:cNvPr id="49" name="组合 48"/>
              <p:cNvGrpSpPr/>
              <p:nvPr/>
            </p:nvGrpSpPr>
            <p:grpSpPr>
              <a:xfrm>
                <a:off x="7589267" y="3856449"/>
                <a:ext cx="1586535" cy="575760"/>
                <a:chOff x="7558862" y="4320754"/>
                <a:chExt cx="1586535" cy="575760"/>
              </a:xfrm>
            </p:grpSpPr>
            <p:grpSp>
              <p:nvGrpSpPr>
                <p:cNvPr id="51" name="组合 50"/>
                <p:cNvGrpSpPr/>
                <p:nvPr/>
              </p:nvGrpSpPr>
              <p:grpSpPr>
                <a:xfrm>
                  <a:off x="7558862" y="4320754"/>
                  <a:ext cx="1586535" cy="575760"/>
                  <a:chOff x="439838" y="4214717"/>
                  <a:chExt cx="1586535" cy="575760"/>
                </a:xfrm>
              </p:grpSpPr>
              <p:sp>
                <p:nvSpPr>
                  <p:cNvPr id="53" name="流程图: 文档 52"/>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流程图: 文档 53"/>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5" name="流程图: 文档 54"/>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2" name="文本框 51"/>
                <p:cNvSpPr txBox="1"/>
                <p:nvPr/>
              </p:nvSpPr>
              <p:spPr>
                <a:xfrm>
                  <a:off x="7772936" y="4512265"/>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50Mbps</a:t>
                  </a:r>
                  <a:endParaRPr lang="zh-CN" altLang="en-US" dirty="0">
                    <a:latin typeface="微软雅黑" panose="020B0503020204020204" pitchFamily="34" charset="-122"/>
                    <a:ea typeface="微软雅黑" panose="020B0503020204020204" pitchFamily="34" charset="-122"/>
                  </a:endParaRPr>
                </a:p>
              </p:txBody>
            </p:sp>
          </p:grpSp>
          <p:sp>
            <p:nvSpPr>
              <p:cNvPr id="50" name="矩形 49"/>
              <p:cNvSpPr/>
              <p:nvPr/>
            </p:nvSpPr>
            <p:spPr>
              <a:xfrm>
                <a:off x="7589267" y="3670731"/>
                <a:ext cx="1107777" cy="30022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
        <p:nvSpPr>
          <p:cNvPr id="2" name="标题 1"/>
          <p:cNvSpPr>
            <a:spLocks noGrp="1"/>
          </p:cNvSpPr>
          <p:nvPr>
            <p:ph type="title"/>
          </p:nvPr>
        </p:nvSpPr>
        <p:spPr/>
        <p:txBody>
          <a:bodyPr/>
          <a:lstStyle/>
          <a:p>
            <a:r>
              <a:rPr kumimoji="1" lang="zh-CN" altLang="en-US" dirty="0"/>
              <a:t>虚电路与数据报网络的性能比较</a:t>
            </a:r>
            <a:endParaRPr lang="zh-CN" altLang="en-US" dirty="0"/>
          </a:p>
        </p:txBody>
      </p:sp>
      <p:sp>
        <p:nvSpPr>
          <p:cNvPr id="3" name="内容占位符 2"/>
          <p:cNvSpPr>
            <a:spLocks noGrp="1"/>
          </p:cNvSpPr>
          <p:nvPr>
            <p:ph idx="1"/>
          </p:nvPr>
        </p:nvSpPr>
        <p:spPr>
          <a:xfrm>
            <a:off x="838200" y="1510758"/>
            <a:ext cx="10515600" cy="1918242"/>
          </a:xfrm>
        </p:spPr>
        <p:txBody>
          <a:bodyPr>
            <a:normAutofit/>
          </a:bodyPr>
          <a:lstStyle/>
          <a:p>
            <a:r>
              <a:rPr lang="zh-CN" altLang="en-US" sz="2400" dirty="0"/>
              <a:t>例</a:t>
            </a:r>
            <a:r>
              <a:rPr lang="en-US" altLang="zh-CN" sz="2400" dirty="0"/>
              <a:t>1</a:t>
            </a:r>
            <a:r>
              <a:rPr lang="zh-CN" altLang="en-US" sz="2400" dirty="0"/>
              <a:t>：从性能角度比较</a:t>
            </a:r>
            <a:endParaRPr lang="en-US" altLang="zh-CN" sz="2400" dirty="0"/>
          </a:p>
          <a:p>
            <a:pPr lvl="1"/>
            <a:r>
              <a:rPr lang="zh-CN" altLang="en-US" sz="2000" dirty="0"/>
              <a:t>假设总带宽</a:t>
            </a:r>
            <a:r>
              <a:rPr lang="en-US" altLang="zh-CN" sz="2000" dirty="0"/>
              <a:t>100Mbps</a:t>
            </a:r>
            <a:r>
              <a:rPr lang="zh-CN" altLang="en-US" sz="2000" dirty="0"/>
              <a:t>，有</a:t>
            </a:r>
            <a:r>
              <a:rPr lang="en-US" altLang="zh-CN" sz="2000" dirty="0"/>
              <a:t>2</a:t>
            </a:r>
            <a:r>
              <a:rPr lang="zh-CN" altLang="en-US" sz="2000" dirty="0"/>
              <a:t>个数据源共享带宽</a:t>
            </a:r>
            <a:endParaRPr lang="en-US" altLang="zh-CN" sz="2000" dirty="0"/>
          </a:p>
          <a:p>
            <a:pPr lvl="1"/>
            <a:r>
              <a:rPr lang="zh-CN" altLang="en-US" sz="2000" dirty="0"/>
              <a:t>如果每个数据源都是</a:t>
            </a:r>
            <a:r>
              <a:rPr lang="zh-CN" altLang="en-US" sz="2000" b="1" dirty="0">
                <a:solidFill>
                  <a:srgbClr val="5C307E"/>
                </a:solidFill>
              </a:rPr>
              <a:t>突发流量</a:t>
            </a:r>
            <a:r>
              <a:rPr lang="zh-CN" altLang="en-US" sz="2000" dirty="0"/>
              <a:t>，且最高可达</a:t>
            </a:r>
            <a:r>
              <a:rPr lang="en-US" altLang="zh-CN" sz="2000" dirty="0"/>
              <a:t>70Mbps</a:t>
            </a:r>
            <a:r>
              <a:rPr lang="zh-CN" altLang="en-US" sz="2000" dirty="0"/>
              <a:t>，</a:t>
            </a:r>
            <a:r>
              <a:rPr lang="zh-CN" altLang="en-US" sz="2000" dirty="0">
                <a:solidFill>
                  <a:srgbClr val="C00000"/>
                </a:solidFill>
              </a:rPr>
              <a:t>使用虚电路服务</a:t>
            </a:r>
            <a:r>
              <a:rPr lang="zh-CN" altLang="en-US" sz="2000" dirty="0"/>
              <a:t>，结果如何？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23</a:t>
            </a:fld>
            <a:endParaRPr kumimoji="1" lang="zh-CN" altLang="en-US" dirty="0"/>
          </a:p>
        </p:txBody>
      </p: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7914" y="4246627"/>
            <a:ext cx="657604" cy="484683"/>
          </a:xfrm>
          <a:prstGeom prst="rect">
            <a:avLst/>
          </a:prstGeom>
          <a:noFill/>
          <a:extLst>
            <a:ext uri="{909E8E84-426E-40DD-AFC4-6F175D3DCCD1}">
              <a14:hiddenFill xmlns:a14="http://schemas.microsoft.com/office/drawing/2010/main">
                <a:solidFill>
                  <a:srgbClr val="FFFFFF"/>
                </a:solidFill>
              </a14:hiddenFill>
            </a:ext>
          </a:extLst>
        </p:spPr>
      </p:pic>
      <p:grpSp>
        <p:nvGrpSpPr>
          <p:cNvPr id="40" name="组合 39"/>
          <p:cNvGrpSpPr/>
          <p:nvPr/>
        </p:nvGrpSpPr>
        <p:grpSpPr>
          <a:xfrm>
            <a:off x="2734532" y="3437688"/>
            <a:ext cx="2451407" cy="1708285"/>
            <a:chOff x="2734532" y="3437688"/>
            <a:chExt cx="2451407" cy="1708285"/>
          </a:xfrm>
        </p:grpSpPr>
        <p:cxnSp>
          <p:nvCxnSpPr>
            <p:cNvPr id="14" name="直接箭头连接符 13"/>
            <p:cNvCxnSpPr/>
            <p:nvPr/>
          </p:nvCxnSpPr>
          <p:spPr>
            <a:xfrm>
              <a:off x="4699322" y="3983223"/>
              <a:ext cx="474562" cy="263404"/>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5" name="直接箭头连接符 14"/>
            <p:cNvCxnSpPr/>
            <p:nvPr/>
          </p:nvCxnSpPr>
          <p:spPr>
            <a:xfrm flipV="1">
              <a:off x="4711377" y="4599608"/>
              <a:ext cx="474562" cy="190869"/>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nvGrpSpPr>
            <p:cNvPr id="23" name="组合 22"/>
            <p:cNvGrpSpPr/>
            <p:nvPr/>
          </p:nvGrpSpPr>
          <p:grpSpPr>
            <a:xfrm>
              <a:off x="2734532" y="4568695"/>
              <a:ext cx="1579045" cy="577278"/>
              <a:chOff x="439838" y="5345724"/>
              <a:chExt cx="1579045" cy="577278"/>
            </a:xfrm>
          </p:grpSpPr>
          <p:sp>
            <p:nvSpPr>
              <p:cNvPr id="18" name="流程图: 文档 17"/>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流程图: 文档 18"/>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2" name="组合 21"/>
            <p:cNvGrpSpPr/>
            <p:nvPr/>
          </p:nvGrpSpPr>
          <p:grpSpPr>
            <a:xfrm>
              <a:off x="2734532" y="3437688"/>
              <a:ext cx="1586535" cy="575760"/>
              <a:chOff x="439838" y="4214717"/>
              <a:chExt cx="1586535" cy="575760"/>
            </a:xfrm>
          </p:grpSpPr>
          <p:sp>
            <p:nvSpPr>
              <p:cNvPr id="17" name="流程图: 文档 1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流程图: 文档 19"/>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流程图: 文档 20"/>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4" name="文本框 23"/>
            <p:cNvSpPr txBox="1"/>
            <p:nvPr/>
          </p:nvSpPr>
          <p:spPr>
            <a:xfrm>
              <a:off x="2948606" y="3629199"/>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2976478" y="4718132"/>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nvGrpSpPr>
          <p:cNvPr id="42" name="组合 41"/>
          <p:cNvGrpSpPr/>
          <p:nvPr/>
        </p:nvGrpSpPr>
        <p:grpSpPr>
          <a:xfrm>
            <a:off x="7558862" y="4329990"/>
            <a:ext cx="1586535" cy="575760"/>
            <a:chOff x="7558862" y="4329990"/>
            <a:chExt cx="1586535" cy="575760"/>
          </a:xfrm>
        </p:grpSpPr>
        <p:grpSp>
          <p:nvGrpSpPr>
            <p:cNvPr id="26" name="组合 25"/>
            <p:cNvGrpSpPr/>
            <p:nvPr/>
          </p:nvGrpSpPr>
          <p:grpSpPr>
            <a:xfrm>
              <a:off x="7558862" y="4329990"/>
              <a:ext cx="1586535" cy="575760"/>
              <a:chOff x="439838" y="4214717"/>
              <a:chExt cx="1586535" cy="575760"/>
            </a:xfrm>
          </p:grpSpPr>
          <p:sp>
            <p:nvSpPr>
              <p:cNvPr id="27" name="流程图: 文档 2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流程图: 文档 27"/>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9" name="流程图: 文档 28"/>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0" name="文本框 29"/>
            <p:cNvSpPr txBox="1"/>
            <p:nvPr/>
          </p:nvSpPr>
          <p:spPr>
            <a:xfrm>
              <a:off x="7772936" y="4512265"/>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nvGrpSpPr>
          <p:cNvPr id="44" name="组合 43"/>
          <p:cNvGrpSpPr/>
          <p:nvPr/>
        </p:nvGrpSpPr>
        <p:grpSpPr>
          <a:xfrm>
            <a:off x="6006207" y="4881597"/>
            <a:ext cx="2053608" cy="1386712"/>
            <a:chOff x="6006207" y="4881597"/>
            <a:chExt cx="2053608" cy="1386712"/>
          </a:xfrm>
        </p:grpSpPr>
        <p:grpSp>
          <p:nvGrpSpPr>
            <p:cNvPr id="31" name="组合 30"/>
            <p:cNvGrpSpPr/>
            <p:nvPr/>
          </p:nvGrpSpPr>
          <p:grpSpPr>
            <a:xfrm>
              <a:off x="6480770" y="5691031"/>
              <a:ext cx="1579045" cy="577278"/>
              <a:chOff x="439838" y="5345724"/>
              <a:chExt cx="1579045" cy="577278"/>
            </a:xfrm>
          </p:grpSpPr>
          <p:sp>
            <p:nvSpPr>
              <p:cNvPr id="32" name="流程图: 文档 31"/>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流程图: 文档 32"/>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34" name="文本框 33"/>
            <p:cNvSpPr txBox="1"/>
            <p:nvPr/>
          </p:nvSpPr>
          <p:spPr>
            <a:xfrm>
              <a:off x="6722716" y="5840468"/>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cxnSp>
          <p:nvCxnSpPr>
            <p:cNvPr id="35" name="直接箭头连接符 34"/>
            <p:cNvCxnSpPr/>
            <p:nvPr/>
          </p:nvCxnSpPr>
          <p:spPr>
            <a:xfrm>
              <a:off x="6006207" y="4881597"/>
              <a:ext cx="474562" cy="619793"/>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sp>
        <p:nvSpPr>
          <p:cNvPr id="37" name="十字形 36"/>
          <p:cNvSpPr/>
          <p:nvPr/>
        </p:nvSpPr>
        <p:spPr>
          <a:xfrm rot="2613053">
            <a:off x="7123503" y="5407478"/>
            <a:ext cx="1283994" cy="1265147"/>
          </a:xfrm>
          <a:prstGeom prst="plus">
            <a:avLst>
              <a:gd name="adj" fmla="val 41316"/>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p:cNvSpPr txBox="1"/>
          <p:nvPr/>
        </p:nvSpPr>
        <p:spPr>
          <a:xfrm>
            <a:off x="1778960" y="5728957"/>
            <a:ext cx="3477383" cy="400110"/>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选择</a:t>
            </a:r>
            <a:r>
              <a:rPr lang="en-US" altLang="zh-CN" sz="2000" dirty="0">
                <a:latin typeface="微软雅黑" panose="020B0503020204020204" pitchFamily="34" charset="-122"/>
                <a:ea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rPr>
              <a:t>：丢掉一部分数据</a:t>
            </a:r>
          </a:p>
        </p:txBody>
      </p:sp>
      <p:grpSp>
        <p:nvGrpSpPr>
          <p:cNvPr id="41" name="组合 40"/>
          <p:cNvGrpSpPr/>
          <p:nvPr/>
        </p:nvGrpSpPr>
        <p:grpSpPr>
          <a:xfrm>
            <a:off x="6223527" y="3358719"/>
            <a:ext cx="3434717" cy="1565036"/>
            <a:chOff x="6223527" y="3358719"/>
            <a:chExt cx="3434717" cy="1565036"/>
          </a:xfrm>
        </p:grpSpPr>
        <p:cxnSp>
          <p:nvCxnSpPr>
            <p:cNvPr id="12" name="直接连接符 11"/>
            <p:cNvCxnSpPr/>
            <p:nvPr/>
          </p:nvCxnSpPr>
          <p:spPr>
            <a:xfrm>
              <a:off x="7042366" y="4923755"/>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cxnSp>
          <p:nvCxnSpPr>
            <p:cNvPr id="16" name="直接箭头连接符 15"/>
            <p:cNvCxnSpPr/>
            <p:nvPr/>
          </p:nvCxnSpPr>
          <p:spPr>
            <a:xfrm>
              <a:off x="6223527" y="4527073"/>
              <a:ext cx="474562" cy="0"/>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sp>
          <p:nvSpPr>
            <p:cNvPr id="39" name="文本框 38"/>
            <p:cNvSpPr txBox="1"/>
            <p:nvPr/>
          </p:nvSpPr>
          <p:spPr>
            <a:xfrm>
              <a:off x="7680891" y="3358719"/>
              <a:ext cx="146706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虚电路服务</a:t>
              </a:r>
            </a:p>
          </p:txBody>
        </p:sp>
        <p:cxnSp>
          <p:nvCxnSpPr>
            <p:cNvPr id="11" name="直接连接符 10"/>
            <p:cNvCxnSpPr/>
            <p:nvPr/>
          </p:nvCxnSpPr>
          <p:spPr>
            <a:xfrm>
              <a:off x="7019447" y="3963137"/>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grpSp>
      <p:sp>
        <p:nvSpPr>
          <p:cNvPr id="43" name="日期占位符 9"/>
          <p:cNvSpPr>
            <a:spLocks noGrp="1"/>
          </p:cNvSpPr>
          <p:nvPr>
            <p:ph type="dt" sz="half" idx="10"/>
          </p:nvPr>
        </p:nvSpPr>
        <p:spPr>
          <a:xfrm>
            <a:off x="197485" y="6489065"/>
            <a:ext cx="3555365"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
        <p:nvSpPr>
          <p:cNvPr id="45" name="文本框 44"/>
          <p:cNvSpPr txBox="1"/>
          <p:nvPr/>
        </p:nvSpPr>
        <p:spPr>
          <a:xfrm>
            <a:off x="3209095" y="5505393"/>
            <a:ext cx="5242810" cy="707886"/>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选择</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：按预留带宽提供服务，</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若频繁流量突发，必定导致频繁过载</a:t>
            </a:r>
          </a:p>
        </p:txBody>
      </p:sp>
    </p:spTree>
    <p:extLst>
      <p:ext uri="{BB962C8B-B14F-4D97-AF65-F5344CB8AC3E}">
        <p14:creationId xmlns:p14="http://schemas.microsoft.com/office/powerpoint/2010/main" val="934214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wipe(left)">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wipe(left)">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wipe(left)">
                                      <p:cBhvr>
                                        <p:cTn id="22" dur="500"/>
                                        <p:tgtEl>
                                          <p:spTgt spid="44"/>
                                        </p:tgtEl>
                                      </p:cBhvr>
                                    </p:animEffect>
                                  </p:childTnLst>
                                </p:cTn>
                              </p:par>
                            </p:childTnLst>
                          </p:cTn>
                        </p:par>
                        <p:par>
                          <p:cTn id="23" fill="hold">
                            <p:stCondLst>
                              <p:cond delay="500"/>
                            </p:stCondLst>
                            <p:childTnLst>
                              <p:par>
                                <p:cTn id="24" presetID="1" presetClass="entr" presetSubtype="0" fill="hold" grpId="0" nodeType="afterEffect">
                                  <p:stCondLst>
                                    <p:cond delay="0"/>
                                  </p:stCondLst>
                                  <p:childTnLst>
                                    <p:set>
                                      <p:cBhvr>
                                        <p:cTn id="25" dur="1" fill="hold">
                                          <p:stCondLst>
                                            <p:cond delay="0"/>
                                          </p:stCondLst>
                                        </p:cTn>
                                        <p:tgtEl>
                                          <p:spTgt spid="37"/>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grpId="0" nodeType="click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blinds(horizontal)">
                                      <p:cBhvr>
                                        <p:cTn id="30" dur="500"/>
                                        <p:tgtEl>
                                          <p:spTgt spid="38"/>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nodeType="clickEffect">
                                  <p:stCondLst>
                                    <p:cond delay="0"/>
                                  </p:stCondLst>
                                  <p:childTnLst>
                                    <p:set>
                                      <p:cBhvr>
                                        <p:cTn id="34" dur="1" fill="hold">
                                          <p:stCondLst>
                                            <p:cond delay="0"/>
                                          </p:stCondLst>
                                        </p:cTn>
                                        <p:tgtEl>
                                          <p:spTgt spid="42"/>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44"/>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37"/>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38"/>
                                        </p:tgtEl>
                                        <p:attrNameLst>
                                          <p:attrName>style.visibility</p:attrName>
                                        </p:attrNameLst>
                                      </p:cBhvr>
                                      <p:to>
                                        <p:strVal val="hidden"/>
                                      </p:to>
                                    </p:set>
                                  </p:childTnLst>
                                </p:cTn>
                              </p:par>
                              <p:par>
                                <p:cTn id="41" presetID="22" presetClass="entr" presetSubtype="8" fill="hold" nodeType="withEffect">
                                  <p:stCondLst>
                                    <p:cond delay="0"/>
                                  </p:stCondLst>
                                  <p:childTnLst>
                                    <p:set>
                                      <p:cBhvr>
                                        <p:cTn id="42" dur="1" fill="hold">
                                          <p:stCondLst>
                                            <p:cond delay="0"/>
                                          </p:stCondLst>
                                        </p:cTn>
                                        <p:tgtEl>
                                          <p:spTgt spid="46"/>
                                        </p:tgtEl>
                                        <p:attrNameLst>
                                          <p:attrName>style.visibility</p:attrName>
                                        </p:attrNameLst>
                                      </p:cBhvr>
                                      <p:to>
                                        <p:strVal val="visible"/>
                                      </p:to>
                                    </p:set>
                                    <p:animEffect transition="in" filter="wipe(left)">
                                      <p:cBhvr>
                                        <p:cTn id="43" dur="500"/>
                                        <p:tgtEl>
                                          <p:spTgt spid="46"/>
                                        </p:tgtEl>
                                      </p:cBhvr>
                                    </p:animEffec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45"/>
                                        </p:tgtEl>
                                        <p:attrNameLst>
                                          <p:attrName>style.visibility</p:attrName>
                                        </p:attrNameLst>
                                      </p:cBhvr>
                                      <p:to>
                                        <p:strVal val="visible"/>
                                      </p:to>
                                    </p:set>
                                    <p:animEffect transition="in" filter="blinds(horizontal)">
                                      <p:cBhvr>
                                        <p:cTn id="48"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bldLvl="0" animBg="1"/>
      <p:bldP spid="37" grpId="1" bldLvl="0" animBg="1"/>
      <p:bldP spid="38" grpId="0" bldLvl="0" animBg="1"/>
      <p:bldP spid="38" grpId="1" bldLvl="0" animBg="1"/>
      <p:bldP spid="45" grpId="0" bldLvl="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虚电路与数据报网络的性能比较</a:t>
            </a:r>
            <a:endParaRPr lang="zh-CN" altLang="en-US" dirty="0"/>
          </a:p>
        </p:txBody>
      </p:sp>
      <p:sp>
        <p:nvSpPr>
          <p:cNvPr id="3" name="内容占位符 2"/>
          <p:cNvSpPr>
            <a:spLocks noGrp="1"/>
          </p:cNvSpPr>
          <p:nvPr>
            <p:ph idx="1"/>
          </p:nvPr>
        </p:nvSpPr>
        <p:spPr>
          <a:xfrm>
            <a:off x="838200" y="1510758"/>
            <a:ext cx="10515600" cy="1918242"/>
          </a:xfrm>
        </p:spPr>
        <p:txBody>
          <a:bodyPr>
            <a:normAutofit/>
          </a:bodyPr>
          <a:lstStyle/>
          <a:p>
            <a:r>
              <a:rPr lang="zh-CN" altLang="en-US" sz="2400" dirty="0"/>
              <a:t>例</a:t>
            </a:r>
            <a:r>
              <a:rPr lang="en-US" altLang="zh-CN" sz="2400" dirty="0"/>
              <a:t>1</a:t>
            </a:r>
            <a:r>
              <a:rPr lang="zh-CN" altLang="en-US" sz="2400" dirty="0"/>
              <a:t>：从性能角度比较</a:t>
            </a:r>
            <a:endParaRPr lang="en-US" altLang="zh-CN" sz="2400" dirty="0"/>
          </a:p>
          <a:p>
            <a:pPr lvl="1"/>
            <a:r>
              <a:rPr lang="zh-CN" altLang="en-US" sz="2000" dirty="0"/>
              <a:t>假设总带宽</a:t>
            </a:r>
            <a:r>
              <a:rPr lang="en-US" altLang="zh-CN" sz="2000" dirty="0"/>
              <a:t>100Mbps</a:t>
            </a:r>
            <a:r>
              <a:rPr lang="zh-CN" altLang="en-US" sz="2000" dirty="0"/>
              <a:t>，有</a:t>
            </a:r>
            <a:r>
              <a:rPr lang="en-US" altLang="zh-CN" sz="2000" dirty="0"/>
              <a:t>2</a:t>
            </a:r>
            <a:r>
              <a:rPr lang="zh-CN" altLang="en-US" sz="2000" dirty="0"/>
              <a:t>个数据源共享带宽</a:t>
            </a:r>
            <a:endParaRPr lang="en-US" altLang="zh-CN" sz="2000" dirty="0"/>
          </a:p>
          <a:p>
            <a:pPr lvl="1"/>
            <a:r>
              <a:rPr lang="zh-CN" altLang="en-US" sz="2000" dirty="0"/>
              <a:t>如果每个数据源都是</a:t>
            </a:r>
            <a:r>
              <a:rPr lang="zh-CN" altLang="en-US" sz="2000" b="1" dirty="0">
                <a:solidFill>
                  <a:srgbClr val="5C307E"/>
                </a:solidFill>
              </a:rPr>
              <a:t>突发流量</a:t>
            </a:r>
            <a:r>
              <a:rPr lang="zh-CN" altLang="en-US" sz="2000" dirty="0"/>
              <a:t>，且最高可达</a:t>
            </a:r>
            <a:r>
              <a:rPr lang="en-US" altLang="zh-CN" sz="2000" dirty="0"/>
              <a:t>70Mbps</a:t>
            </a:r>
            <a:r>
              <a:rPr lang="zh-CN" altLang="en-US" sz="2000" dirty="0"/>
              <a:t>，</a:t>
            </a:r>
            <a:r>
              <a:rPr lang="zh-CN" altLang="en-US" sz="2000" dirty="0">
                <a:solidFill>
                  <a:srgbClr val="C00000"/>
                </a:solidFill>
              </a:rPr>
              <a:t>使用数据报服务</a:t>
            </a:r>
            <a:r>
              <a:rPr lang="zh-CN" altLang="en-US" sz="2000" dirty="0"/>
              <a:t>，结果如何？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24</a:t>
            </a:fld>
            <a:endParaRPr kumimoji="1" lang="zh-CN" altLang="en-US" dirty="0"/>
          </a:p>
        </p:txBody>
      </p: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7914" y="4246627"/>
            <a:ext cx="657604" cy="484683"/>
          </a:xfrm>
          <a:prstGeom prst="rect">
            <a:avLst/>
          </a:prstGeom>
          <a:noFill/>
          <a:extLst>
            <a:ext uri="{909E8E84-426E-40DD-AFC4-6F175D3DCCD1}">
              <a14:hiddenFill xmlns:a14="http://schemas.microsoft.com/office/drawing/2010/main">
                <a:solidFill>
                  <a:srgbClr val="FFFFFF"/>
                </a:solidFill>
              </a14:hiddenFill>
            </a:ext>
          </a:extLst>
        </p:spPr>
      </p:pic>
      <p:cxnSp>
        <p:nvCxnSpPr>
          <p:cNvPr id="12" name="直接连接符 11"/>
          <p:cNvCxnSpPr/>
          <p:nvPr/>
        </p:nvCxnSpPr>
        <p:spPr>
          <a:xfrm>
            <a:off x="7042366" y="4923755"/>
            <a:ext cx="3975404"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cxnSp>
        <p:nvCxnSpPr>
          <p:cNvPr id="14" name="直接箭头连接符 13"/>
          <p:cNvCxnSpPr/>
          <p:nvPr/>
        </p:nvCxnSpPr>
        <p:spPr>
          <a:xfrm>
            <a:off x="4699322" y="3983223"/>
            <a:ext cx="474562" cy="263404"/>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5" name="直接箭头连接符 14"/>
          <p:cNvCxnSpPr/>
          <p:nvPr/>
        </p:nvCxnSpPr>
        <p:spPr>
          <a:xfrm flipV="1">
            <a:off x="4711377" y="4599608"/>
            <a:ext cx="474562" cy="190869"/>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6" name="直接箭头连接符 15"/>
          <p:cNvCxnSpPr/>
          <p:nvPr/>
        </p:nvCxnSpPr>
        <p:spPr>
          <a:xfrm>
            <a:off x="6223527" y="4527073"/>
            <a:ext cx="474562" cy="0"/>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nvGrpSpPr>
          <p:cNvPr id="23" name="组合 22"/>
          <p:cNvGrpSpPr/>
          <p:nvPr/>
        </p:nvGrpSpPr>
        <p:grpSpPr>
          <a:xfrm>
            <a:off x="2734532" y="4568695"/>
            <a:ext cx="1579045" cy="577278"/>
            <a:chOff x="439838" y="5345724"/>
            <a:chExt cx="1579045" cy="577278"/>
          </a:xfrm>
        </p:grpSpPr>
        <p:sp>
          <p:nvSpPr>
            <p:cNvPr id="18" name="流程图: 文档 17"/>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流程图: 文档 18"/>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2" name="组合 21"/>
          <p:cNvGrpSpPr/>
          <p:nvPr/>
        </p:nvGrpSpPr>
        <p:grpSpPr>
          <a:xfrm>
            <a:off x="2734532" y="3437688"/>
            <a:ext cx="1586535" cy="575760"/>
            <a:chOff x="439838" y="4214717"/>
            <a:chExt cx="1586535" cy="575760"/>
          </a:xfrm>
        </p:grpSpPr>
        <p:sp>
          <p:nvSpPr>
            <p:cNvPr id="17" name="流程图: 文档 1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流程图: 文档 19"/>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流程图: 文档 20"/>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4" name="文本框 23"/>
          <p:cNvSpPr txBox="1"/>
          <p:nvPr/>
        </p:nvSpPr>
        <p:spPr>
          <a:xfrm>
            <a:off x="2948606" y="3629199"/>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2976478" y="4718132"/>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sp>
        <p:nvSpPr>
          <p:cNvPr id="38" name="文本框 37"/>
          <p:cNvSpPr txBox="1"/>
          <p:nvPr/>
        </p:nvSpPr>
        <p:spPr>
          <a:xfrm>
            <a:off x="4071344" y="5552511"/>
            <a:ext cx="3350743" cy="707886"/>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性能完全不受影响</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也不会过载</a:t>
            </a:r>
          </a:p>
        </p:txBody>
      </p:sp>
      <p:grpSp>
        <p:nvGrpSpPr>
          <p:cNvPr id="39" name="组合 38"/>
          <p:cNvGrpSpPr/>
          <p:nvPr/>
        </p:nvGrpSpPr>
        <p:grpSpPr>
          <a:xfrm>
            <a:off x="7589267" y="4332630"/>
            <a:ext cx="3269157" cy="579793"/>
            <a:chOff x="7589267" y="4332630"/>
            <a:chExt cx="3269157" cy="579793"/>
          </a:xfrm>
        </p:grpSpPr>
        <p:grpSp>
          <p:nvGrpSpPr>
            <p:cNvPr id="7" name="组合 6"/>
            <p:cNvGrpSpPr/>
            <p:nvPr/>
          </p:nvGrpSpPr>
          <p:grpSpPr>
            <a:xfrm>
              <a:off x="7589267" y="4335145"/>
              <a:ext cx="1579045" cy="577278"/>
              <a:chOff x="6480770" y="5691031"/>
              <a:chExt cx="1579045" cy="577278"/>
            </a:xfrm>
          </p:grpSpPr>
          <p:grpSp>
            <p:nvGrpSpPr>
              <p:cNvPr id="31" name="组合 30"/>
              <p:cNvGrpSpPr/>
              <p:nvPr/>
            </p:nvGrpSpPr>
            <p:grpSpPr>
              <a:xfrm>
                <a:off x="6480770" y="5691031"/>
                <a:ext cx="1579045" cy="577278"/>
                <a:chOff x="439838" y="5345724"/>
                <a:chExt cx="1579045" cy="577278"/>
              </a:xfrm>
            </p:grpSpPr>
            <p:sp>
              <p:nvSpPr>
                <p:cNvPr id="32" name="流程图: 文档 31"/>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流程图: 文档 32"/>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34" name="文本框 33"/>
              <p:cNvSpPr txBox="1"/>
              <p:nvPr/>
            </p:nvSpPr>
            <p:spPr>
              <a:xfrm>
                <a:off x="6722716" y="5840468"/>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nvGrpSpPr>
            <p:cNvPr id="6" name="组合 5"/>
            <p:cNvGrpSpPr/>
            <p:nvPr/>
          </p:nvGrpSpPr>
          <p:grpSpPr>
            <a:xfrm>
              <a:off x="9271889" y="4332630"/>
              <a:ext cx="1586535" cy="575760"/>
              <a:chOff x="7558862" y="4320754"/>
              <a:chExt cx="1586535" cy="575760"/>
            </a:xfrm>
          </p:grpSpPr>
          <p:grpSp>
            <p:nvGrpSpPr>
              <p:cNvPr id="26" name="组合 25"/>
              <p:cNvGrpSpPr/>
              <p:nvPr/>
            </p:nvGrpSpPr>
            <p:grpSpPr>
              <a:xfrm>
                <a:off x="7558862" y="4320754"/>
                <a:ext cx="1586535" cy="575760"/>
                <a:chOff x="439838" y="4214717"/>
                <a:chExt cx="1586535" cy="575760"/>
              </a:xfrm>
            </p:grpSpPr>
            <p:sp>
              <p:nvSpPr>
                <p:cNvPr id="27" name="流程图: 文档 2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流程图: 文档 27"/>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9" name="流程图: 文档 28"/>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0" name="文本框 29"/>
              <p:cNvSpPr txBox="1"/>
              <p:nvPr/>
            </p:nvSpPr>
            <p:spPr>
              <a:xfrm>
                <a:off x="7772936" y="4512265"/>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cxnSp>
        <p:nvCxnSpPr>
          <p:cNvPr id="11" name="直接连接符 10"/>
          <p:cNvCxnSpPr/>
          <p:nvPr/>
        </p:nvCxnSpPr>
        <p:spPr>
          <a:xfrm>
            <a:off x="7019447" y="3963137"/>
            <a:ext cx="3998323"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sp>
        <p:nvSpPr>
          <p:cNvPr id="35" name="文本框 34"/>
          <p:cNvSpPr txBox="1"/>
          <p:nvPr/>
        </p:nvSpPr>
        <p:spPr>
          <a:xfrm>
            <a:off x="8494555" y="3374210"/>
            <a:ext cx="146706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数据报服务</a:t>
            </a:r>
          </a:p>
        </p:txBody>
      </p:sp>
      <p:sp>
        <p:nvSpPr>
          <p:cNvPr id="36" name="日期占位符 9"/>
          <p:cNvSpPr>
            <a:spLocks noGrp="1"/>
          </p:cNvSpPr>
          <p:nvPr>
            <p:ph type="dt" sz="half" idx="10"/>
          </p:nvPr>
        </p:nvSpPr>
        <p:spPr>
          <a:xfrm>
            <a:off x="197485" y="6489065"/>
            <a:ext cx="3644265"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2161273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right)">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blinds(horizontal)">
                                      <p:cBhvr>
                                        <p:cTn id="1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bldLvl="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虚电路与数据报网络的效率比较</a:t>
            </a:r>
            <a:endParaRPr lang="zh-CN" altLang="en-US" dirty="0"/>
          </a:p>
        </p:txBody>
      </p:sp>
      <p:sp>
        <p:nvSpPr>
          <p:cNvPr id="3" name="内容占位符 2"/>
          <p:cNvSpPr>
            <a:spLocks noGrp="1"/>
          </p:cNvSpPr>
          <p:nvPr>
            <p:ph idx="1"/>
          </p:nvPr>
        </p:nvSpPr>
        <p:spPr>
          <a:xfrm>
            <a:off x="838200" y="1510758"/>
            <a:ext cx="10515600" cy="1213969"/>
          </a:xfrm>
        </p:spPr>
        <p:txBody>
          <a:bodyPr>
            <a:normAutofit/>
          </a:bodyPr>
          <a:lstStyle/>
          <a:p>
            <a:r>
              <a:rPr lang="zh-CN" altLang="en-US" sz="2400" dirty="0"/>
              <a:t>例</a:t>
            </a:r>
            <a:r>
              <a:rPr lang="en-US" altLang="zh-CN" sz="2400" dirty="0"/>
              <a:t>2</a:t>
            </a:r>
            <a:r>
              <a:rPr lang="zh-CN" altLang="en-US" sz="2400" dirty="0"/>
              <a:t>：从效率角度比较</a:t>
            </a:r>
            <a:endParaRPr lang="en-US" altLang="zh-CN" sz="2400" dirty="0"/>
          </a:p>
          <a:p>
            <a:pPr lvl="1"/>
            <a:r>
              <a:rPr lang="zh-CN" altLang="en-US" sz="2000" dirty="0"/>
              <a:t>假设不考虑过载，发送同样多的数据，消耗的时间比较</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25</a:t>
            </a:fld>
            <a:endParaRPr kumimoji="1" lang="zh-CN" altLang="en-US" dirty="0"/>
          </a:p>
        </p:txBody>
      </p:sp>
      <p:grpSp>
        <p:nvGrpSpPr>
          <p:cNvPr id="5" name="组合 4"/>
          <p:cNvGrpSpPr/>
          <p:nvPr/>
        </p:nvGrpSpPr>
        <p:grpSpPr>
          <a:xfrm>
            <a:off x="3163160" y="2484578"/>
            <a:ext cx="5865680" cy="2009855"/>
            <a:chOff x="1119519" y="3160857"/>
            <a:chExt cx="9961478" cy="3302789"/>
          </a:xfrm>
        </p:grpSpPr>
        <p:grpSp>
          <p:nvGrpSpPr>
            <p:cNvPr id="6" name="组合 5"/>
            <p:cNvGrpSpPr/>
            <p:nvPr/>
          </p:nvGrpSpPr>
          <p:grpSpPr>
            <a:xfrm>
              <a:off x="1546275" y="3160857"/>
              <a:ext cx="9041239" cy="2843922"/>
              <a:chOff x="1546275" y="3160857"/>
              <a:chExt cx="9041239" cy="2843922"/>
            </a:xfrm>
          </p:grpSpPr>
          <p:cxnSp>
            <p:nvCxnSpPr>
              <p:cNvPr id="14" name="直接连接符 13"/>
              <p:cNvCxnSpPr/>
              <p:nvPr/>
            </p:nvCxnSpPr>
            <p:spPr>
              <a:xfrm>
                <a:off x="2042438" y="3866383"/>
                <a:ext cx="1858443" cy="677352"/>
              </a:xfrm>
              <a:prstGeom prst="line">
                <a:avLst/>
              </a:prstGeom>
              <a:ln w="12700"/>
            </p:spPr>
            <p:style>
              <a:lnRef idx="1">
                <a:schemeClr val="dk1"/>
              </a:lnRef>
              <a:fillRef idx="0">
                <a:schemeClr val="dk1"/>
              </a:fillRef>
              <a:effectRef idx="0">
                <a:schemeClr val="dk1"/>
              </a:effectRef>
              <a:fontRef idx="minor">
                <a:schemeClr val="tx1"/>
              </a:fontRef>
            </p:style>
          </p:cxnSp>
          <p:cxnSp>
            <p:nvCxnSpPr>
              <p:cNvPr id="15" name="直接连接符 14"/>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16" name="直接连接符 15"/>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17" name="直接连接符 16"/>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18" name="直接连接符 17"/>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19" name="直接连接符 18"/>
              <p:cNvCxnSpPr/>
              <p:nvPr/>
            </p:nvCxnSpPr>
            <p:spPr>
              <a:xfrm flipV="1">
                <a:off x="8047601" y="3964096"/>
                <a:ext cx="2038167" cy="568185"/>
              </a:xfrm>
              <a:prstGeom prst="line">
                <a:avLst/>
              </a:prstGeom>
              <a:ln w="12700"/>
            </p:spPr>
            <p:style>
              <a:lnRef idx="1">
                <a:schemeClr val="dk1"/>
              </a:lnRef>
              <a:fillRef idx="0">
                <a:schemeClr val="dk1"/>
              </a:fillRef>
              <a:effectRef idx="0">
                <a:schemeClr val="dk1"/>
              </a:effectRef>
              <a:fontRef idx="minor">
                <a:schemeClr val="tx1"/>
              </a:fontRef>
            </p:style>
          </p:cxnSp>
          <p:cxnSp>
            <p:nvCxnSpPr>
              <p:cNvPr id="20" name="直接连接符 19"/>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直接连接符 20"/>
              <p:cNvCxnSpPr/>
              <p:nvPr/>
            </p:nvCxnSpPr>
            <p:spPr>
              <a:xfrm>
                <a:off x="3972587" y="4584299"/>
                <a:ext cx="1676794" cy="1198169"/>
              </a:xfrm>
              <a:prstGeom prst="line">
                <a:avLst/>
              </a:prstGeom>
              <a:ln w="12700"/>
            </p:spPr>
            <p:style>
              <a:lnRef idx="1">
                <a:schemeClr val="dk1"/>
              </a:lnRef>
              <a:fillRef idx="0">
                <a:schemeClr val="dk1"/>
              </a:fillRef>
              <a:effectRef idx="0">
                <a:schemeClr val="dk1"/>
              </a:effectRef>
              <a:fontRef idx="minor">
                <a:schemeClr val="tx1"/>
              </a:fontRef>
            </p:style>
          </p:cxnSp>
          <p:cxnSp>
            <p:nvCxnSpPr>
              <p:cNvPr id="22" name="直接连接符 21"/>
              <p:cNvCxnSpPr/>
              <p:nvPr/>
            </p:nvCxnSpPr>
            <p:spPr>
              <a:xfrm flipV="1">
                <a:off x="5793465" y="4532281"/>
                <a:ext cx="2189526" cy="1274527"/>
              </a:xfrm>
              <a:prstGeom prst="line">
                <a:avLst/>
              </a:prstGeom>
              <a:ln w="12700"/>
            </p:spPr>
            <p:style>
              <a:lnRef idx="1">
                <a:schemeClr val="dk1"/>
              </a:lnRef>
              <a:fillRef idx="0">
                <a:schemeClr val="dk1"/>
              </a:fillRef>
              <a:effectRef idx="0">
                <a:schemeClr val="dk1"/>
              </a:effectRef>
              <a:fontRef idx="minor">
                <a:schemeClr val="tx1"/>
              </a:fontRef>
            </p:style>
          </p:cxnSp>
          <p:pic>
            <p:nvPicPr>
              <p:cNvPr id="23"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7" name="文本框 6"/>
            <p:cNvSpPr txBox="1"/>
            <p:nvPr/>
          </p:nvSpPr>
          <p:spPr>
            <a:xfrm>
              <a:off x="1119519" y="4390857"/>
              <a:ext cx="1764611" cy="60692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发送方</a:t>
              </a:r>
              <a:r>
                <a:rPr lang="en-US" altLang="zh-CN" dirty="0">
                  <a:latin typeface="微软雅黑" panose="020B0503020204020204" pitchFamily="34" charset="-122"/>
                  <a:ea typeface="微软雅黑" panose="020B0503020204020204" pitchFamily="34" charset="-122"/>
                </a:rPr>
                <a:t>A</a:t>
              </a:r>
              <a:endParaRPr lang="zh-CN" altLang="en-US" dirty="0">
                <a:latin typeface="微软雅黑" panose="020B0503020204020204" pitchFamily="34" charset="-122"/>
                <a:ea typeface="微软雅黑" panose="020B0503020204020204" pitchFamily="34" charset="-122"/>
              </a:endParaRPr>
            </a:p>
          </p:txBody>
        </p:sp>
        <p:sp>
          <p:nvSpPr>
            <p:cNvPr id="8" name="文本框 7"/>
            <p:cNvSpPr txBox="1"/>
            <p:nvPr/>
          </p:nvSpPr>
          <p:spPr>
            <a:xfrm>
              <a:off x="9346333" y="4483430"/>
              <a:ext cx="1734664" cy="60692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接收方</a:t>
              </a:r>
              <a:r>
                <a:rPr lang="en-US" altLang="zh-CN" dirty="0">
                  <a:latin typeface="微软雅黑" panose="020B0503020204020204" pitchFamily="34" charset="-122"/>
                  <a:ea typeface="微软雅黑" panose="020B0503020204020204" pitchFamily="34" charset="-122"/>
                </a:rPr>
                <a:t>B</a:t>
              </a:r>
              <a:endParaRPr lang="zh-CN" altLang="en-US" dirty="0">
                <a:latin typeface="微软雅黑" panose="020B0503020204020204" pitchFamily="34" charset="-122"/>
                <a:ea typeface="微软雅黑" panose="020B0503020204020204" pitchFamily="34" charset="-122"/>
              </a:endParaRPr>
            </a:p>
          </p:txBody>
        </p:sp>
        <p:sp>
          <p:nvSpPr>
            <p:cNvPr id="9" name="文本框 8"/>
            <p:cNvSpPr txBox="1"/>
            <p:nvPr/>
          </p:nvSpPr>
          <p:spPr>
            <a:xfrm>
              <a:off x="3727395" y="4773209"/>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10" name="文本框 9"/>
            <p:cNvSpPr txBox="1"/>
            <p:nvPr/>
          </p:nvSpPr>
          <p:spPr>
            <a:xfrm>
              <a:off x="6050231" y="3645539"/>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11" name="文本框 10"/>
            <p:cNvSpPr txBox="1"/>
            <p:nvPr/>
          </p:nvSpPr>
          <p:spPr>
            <a:xfrm>
              <a:off x="6119774" y="4705466"/>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12" name="文本框 11"/>
            <p:cNvSpPr txBox="1"/>
            <p:nvPr/>
          </p:nvSpPr>
          <p:spPr>
            <a:xfrm>
              <a:off x="5956255" y="5856724"/>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7816149" y="4768684"/>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grpSp>
      <p:grpSp>
        <p:nvGrpSpPr>
          <p:cNvPr id="49" name="组合 48"/>
          <p:cNvGrpSpPr/>
          <p:nvPr/>
        </p:nvGrpSpPr>
        <p:grpSpPr>
          <a:xfrm>
            <a:off x="3959735" y="3153545"/>
            <a:ext cx="4260186" cy="939720"/>
            <a:chOff x="3959735" y="3153545"/>
            <a:chExt cx="4260186" cy="939720"/>
          </a:xfrm>
        </p:grpSpPr>
        <p:cxnSp>
          <p:nvCxnSpPr>
            <p:cNvPr id="30" name="直接箭头连接符 29"/>
            <p:cNvCxnSpPr/>
            <p:nvPr/>
          </p:nvCxnSpPr>
          <p:spPr>
            <a:xfrm>
              <a:off x="3959735" y="3153545"/>
              <a:ext cx="542441" cy="197244"/>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32" name="直接箭头连接符 31"/>
            <p:cNvCxnSpPr/>
            <p:nvPr/>
          </p:nvCxnSpPr>
          <p:spPr>
            <a:xfrm>
              <a:off x="5116345" y="3698076"/>
              <a:ext cx="436934" cy="34941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34" name="直接箭头连接符 33"/>
            <p:cNvCxnSpPr/>
            <p:nvPr/>
          </p:nvCxnSpPr>
          <p:spPr>
            <a:xfrm flipV="1">
              <a:off x="6246206" y="3620533"/>
              <a:ext cx="758861" cy="472732"/>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36" name="直接箭头连接符 35"/>
            <p:cNvCxnSpPr/>
            <p:nvPr/>
          </p:nvCxnSpPr>
          <p:spPr>
            <a:xfrm flipV="1">
              <a:off x="7478421" y="3185795"/>
              <a:ext cx="741500" cy="238729"/>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pSp>
      <p:sp>
        <p:nvSpPr>
          <p:cNvPr id="39" name="内容占位符 2"/>
          <p:cNvSpPr txBox="1"/>
          <p:nvPr/>
        </p:nvSpPr>
        <p:spPr>
          <a:xfrm>
            <a:off x="838200" y="4413060"/>
            <a:ext cx="10695810" cy="2128148"/>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lnSpc>
                <a:spcPct val="110000"/>
              </a:lnSpc>
            </a:pPr>
            <a:r>
              <a:rPr lang="zh-CN" altLang="en-US" sz="2400" dirty="0"/>
              <a:t>假设不考虑</a:t>
            </a:r>
            <a:r>
              <a:rPr lang="en-US" altLang="zh-CN" sz="2400" dirty="0"/>
              <a:t>A</a:t>
            </a:r>
            <a:r>
              <a:rPr lang="zh-CN" altLang="en-US" sz="2400" dirty="0"/>
              <a:t>的发送时延和链路传播时延，在上图</a:t>
            </a:r>
            <a:r>
              <a:rPr lang="en-US" altLang="zh-CN" sz="2400" dirty="0"/>
              <a:t>3</a:t>
            </a:r>
            <a:r>
              <a:rPr lang="zh-CN" altLang="en-US" sz="2400" dirty="0"/>
              <a:t>个转接节点的情况下，链路上的数据传输速率</a:t>
            </a:r>
            <a:r>
              <a:rPr lang="en-US" altLang="zh-CN" sz="2400" i="1" dirty="0">
                <a:solidFill>
                  <a:srgbClr val="C00000"/>
                </a:solidFill>
              </a:rPr>
              <a:t>B </a:t>
            </a:r>
            <a:r>
              <a:rPr lang="en-US" altLang="zh-CN" sz="2400" dirty="0"/>
              <a:t>bps</a:t>
            </a:r>
            <a:r>
              <a:rPr lang="zh-CN" altLang="en-US" sz="2400" dirty="0"/>
              <a:t>，每个分组的长度</a:t>
            </a:r>
            <a:r>
              <a:rPr lang="en-US" altLang="zh-CN" sz="2400" i="1" dirty="0">
                <a:solidFill>
                  <a:srgbClr val="C00000"/>
                </a:solidFill>
              </a:rPr>
              <a:t>P </a:t>
            </a:r>
            <a:r>
              <a:rPr lang="en-US" altLang="zh-CN" sz="2400" dirty="0"/>
              <a:t>bit</a:t>
            </a:r>
            <a:r>
              <a:rPr lang="zh-CN" altLang="en-US" sz="2400" dirty="0"/>
              <a:t>，每个分组的开销</a:t>
            </a:r>
            <a:r>
              <a:rPr lang="en-US" altLang="zh-CN" sz="2400" i="1" dirty="0">
                <a:solidFill>
                  <a:srgbClr val="C00000"/>
                </a:solidFill>
              </a:rPr>
              <a:t>H </a:t>
            </a:r>
            <a:r>
              <a:rPr lang="en-US" altLang="zh-CN" sz="2400" dirty="0"/>
              <a:t>bit</a:t>
            </a:r>
            <a:r>
              <a:rPr lang="zh-CN" altLang="en-US" sz="2400" dirty="0"/>
              <a:t>，虚电路分组交换的呼叫建立时间</a:t>
            </a:r>
            <a:r>
              <a:rPr lang="en-US" altLang="zh-CN" sz="2400" i="1" dirty="0">
                <a:solidFill>
                  <a:srgbClr val="C00000"/>
                </a:solidFill>
              </a:rPr>
              <a:t>S </a:t>
            </a:r>
            <a:r>
              <a:rPr lang="en-US" altLang="zh-CN" sz="2400" dirty="0" err="1"/>
              <a:t>s</a:t>
            </a:r>
            <a:r>
              <a:rPr lang="zh-CN" altLang="en-US" sz="2400" dirty="0"/>
              <a:t>，每个转接点的转接延迟时间</a:t>
            </a:r>
            <a:r>
              <a:rPr lang="en-US" altLang="zh-CN" sz="2400" i="1" dirty="0">
                <a:solidFill>
                  <a:srgbClr val="C00000"/>
                </a:solidFill>
              </a:rPr>
              <a:t>D </a:t>
            </a:r>
            <a:r>
              <a:rPr lang="en-US" altLang="zh-CN" sz="2400" dirty="0"/>
              <a:t>s</a:t>
            </a:r>
            <a:r>
              <a:rPr lang="zh-CN" altLang="en-US" sz="2400" dirty="0"/>
              <a:t>，则：</a:t>
            </a:r>
            <a:endParaRPr lang="en-US" altLang="zh-CN" sz="2400" dirty="0"/>
          </a:p>
          <a:p>
            <a:pPr marL="800100" lvl="1" indent="-342900">
              <a:lnSpc>
                <a:spcPct val="110000"/>
              </a:lnSpc>
            </a:pPr>
            <a:r>
              <a:rPr lang="zh-CN" altLang="en-US" sz="2000" dirty="0"/>
              <a:t>虚电路分组交换总时延</a:t>
            </a:r>
            <a:r>
              <a:rPr lang="en-US" altLang="zh-CN" sz="2000" dirty="0"/>
              <a:t>T=S+3[D+</a:t>
            </a:r>
            <a:r>
              <a:rPr lang="zh-CN" altLang="en-US" sz="2000" dirty="0"/>
              <a:t>（</a:t>
            </a:r>
            <a:r>
              <a:rPr lang="en-US" altLang="zh-CN" sz="2000" dirty="0"/>
              <a:t>P+H</a:t>
            </a:r>
            <a:r>
              <a:rPr lang="zh-CN" altLang="en-US" sz="2000" dirty="0"/>
              <a:t>）</a:t>
            </a:r>
            <a:r>
              <a:rPr lang="en-US" altLang="zh-CN" sz="2000" dirty="0"/>
              <a:t>/B] </a:t>
            </a:r>
          </a:p>
          <a:p>
            <a:pPr marL="800100" lvl="1" indent="-342900">
              <a:lnSpc>
                <a:spcPct val="110000"/>
              </a:lnSpc>
            </a:pPr>
            <a:r>
              <a:rPr lang="zh-CN" altLang="en-US" sz="2000" dirty="0"/>
              <a:t>数据报分组交换总时延 </a:t>
            </a:r>
            <a:r>
              <a:rPr lang="en-US" altLang="zh-CN" sz="2000" dirty="0"/>
              <a:t>T=3[D+</a:t>
            </a:r>
            <a:r>
              <a:rPr lang="zh-CN" altLang="en-US" sz="2000" dirty="0"/>
              <a:t>（</a:t>
            </a:r>
            <a:r>
              <a:rPr lang="en-US" altLang="zh-CN" sz="2000" dirty="0"/>
              <a:t>P+H</a:t>
            </a:r>
            <a:r>
              <a:rPr lang="zh-CN" altLang="en-US" sz="2000" dirty="0"/>
              <a:t>）</a:t>
            </a:r>
            <a:r>
              <a:rPr lang="en-US" altLang="zh-CN" sz="2000" dirty="0"/>
              <a:t>/B]</a:t>
            </a:r>
          </a:p>
        </p:txBody>
      </p:sp>
      <p:sp>
        <p:nvSpPr>
          <p:cNvPr id="37" name="日期占位符 9"/>
          <p:cNvSpPr>
            <a:spLocks noGrp="1"/>
          </p:cNvSpPr>
          <p:nvPr>
            <p:ph type="dt" sz="half" idx="10"/>
          </p:nvPr>
        </p:nvSpPr>
        <p:spPr>
          <a:xfrm>
            <a:off x="197485" y="6489065"/>
            <a:ext cx="321691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2502255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left)">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blinds(horizontal)">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虚电路与数据报网络的发展历史</a:t>
            </a:r>
            <a:endParaRPr lang="zh-CN" altLang="en-US" dirty="0"/>
          </a:p>
        </p:txBody>
      </p:sp>
      <p:sp>
        <p:nvSpPr>
          <p:cNvPr id="3" name="内容占位符 2"/>
          <p:cNvSpPr>
            <a:spLocks noGrp="1"/>
          </p:cNvSpPr>
          <p:nvPr>
            <p:ph idx="1"/>
          </p:nvPr>
        </p:nvSpPr>
        <p:spPr>
          <a:xfrm>
            <a:off x="838200" y="1493339"/>
            <a:ext cx="10515600" cy="5210717"/>
          </a:xfrm>
        </p:spPr>
        <p:txBody>
          <a:bodyPr>
            <a:normAutofit/>
          </a:bodyPr>
          <a:lstStyle/>
          <a:p>
            <a:pPr>
              <a:lnSpc>
                <a:spcPct val="110000"/>
              </a:lnSpc>
            </a:pPr>
            <a:r>
              <a:rPr lang="en-US" altLang="zh-CN" sz="2400" dirty="0"/>
              <a:t>70-80</a:t>
            </a:r>
            <a:r>
              <a:rPr lang="zh-CN" altLang="en-US" sz="2400" dirty="0"/>
              <a:t>年代：分组交换</a:t>
            </a:r>
            <a:endParaRPr lang="en-US" altLang="zh-CN" sz="2400" dirty="0"/>
          </a:p>
          <a:p>
            <a:pPr lvl="1">
              <a:lnSpc>
                <a:spcPct val="110000"/>
              </a:lnSpc>
            </a:pPr>
            <a:r>
              <a:rPr lang="en-US" altLang="zh-CN" sz="2000" dirty="0"/>
              <a:t>X.25</a:t>
            </a:r>
            <a:r>
              <a:rPr lang="zh-CN" altLang="en-US" sz="2000" dirty="0"/>
              <a:t>，帧中继</a:t>
            </a:r>
            <a:endParaRPr lang="en-US" altLang="zh-CN" sz="2000" dirty="0"/>
          </a:p>
          <a:p>
            <a:pPr>
              <a:lnSpc>
                <a:spcPct val="110000"/>
              </a:lnSpc>
            </a:pPr>
            <a:r>
              <a:rPr lang="en-US" altLang="zh-CN" sz="2400" dirty="0"/>
              <a:t>80</a:t>
            </a:r>
            <a:r>
              <a:rPr lang="zh-CN" altLang="en-US" sz="2400" dirty="0"/>
              <a:t>年代末</a:t>
            </a:r>
            <a:r>
              <a:rPr lang="en-US" altLang="zh-CN" sz="2400" dirty="0"/>
              <a:t>-90</a:t>
            </a:r>
            <a:r>
              <a:rPr lang="zh-CN" altLang="en-US" sz="2400" dirty="0"/>
              <a:t>年代：研究人员和工业应用认为电路交换更好</a:t>
            </a:r>
            <a:endParaRPr lang="en-US" altLang="zh-CN" sz="2400" dirty="0"/>
          </a:p>
          <a:p>
            <a:pPr lvl="1">
              <a:lnSpc>
                <a:spcPct val="110000"/>
              </a:lnSpc>
            </a:pPr>
            <a:r>
              <a:rPr lang="zh-CN" altLang="en-US" sz="2000" dirty="0"/>
              <a:t>认为语音</a:t>
            </a:r>
            <a:r>
              <a:rPr lang="en-US" altLang="zh-CN" sz="2000" dirty="0"/>
              <a:t>/</a:t>
            </a:r>
            <a:r>
              <a:rPr lang="zh-CN" altLang="en-US" sz="2000" dirty="0"/>
              <a:t>电视直播将成为互联网真正的杀手级应用</a:t>
            </a:r>
            <a:endParaRPr lang="en-US" altLang="zh-CN" sz="2000" dirty="0"/>
          </a:p>
          <a:p>
            <a:pPr>
              <a:lnSpc>
                <a:spcPct val="110000"/>
              </a:lnSpc>
            </a:pPr>
            <a:r>
              <a:rPr lang="zh-CN" altLang="en-US" sz="2400" dirty="0"/>
              <a:t>分组交换已经成为互联网的实际服务方式，电路交换最终没有广泛应用于互联网</a:t>
            </a:r>
            <a:r>
              <a:rPr lang="en-US" altLang="zh-CN" sz="2400" dirty="0"/>
              <a:t>…Why</a:t>
            </a:r>
            <a:r>
              <a:rPr lang="zh-CN" altLang="en-US" sz="2400" dirty="0"/>
              <a:t>？</a:t>
            </a:r>
            <a:endParaRPr lang="en-US" altLang="zh-CN" sz="2400" dirty="0"/>
          </a:p>
          <a:p>
            <a:pPr lvl="1">
              <a:lnSpc>
                <a:spcPct val="110000"/>
              </a:lnSpc>
            </a:pPr>
            <a:r>
              <a:rPr lang="zh-CN" altLang="en-US" sz="2000" dirty="0"/>
              <a:t>人们重新编写应用程序以适应网络（应用程序并不需要保证带宽</a:t>
            </a:r>
            <a:r>
              <a:rPr lang="en-US" altLang="zh-CN" sz="2000" dirty="0"/>
              <a:t>)</a:t>
            </a:r>
          </a:p>
          <a:p>
            <a:pPr lvl="1">
              <a:lnSpc>
                <a:spcPct val="110000"/>
              </a:lnSpc>
            </a:pPr>
            <a:r>
              <a:rPr lang="en-US" altLang="zh-CN" sz="2000" dirty="0"/>
              <a:t>Email</a:t>
            </a:r>
            <a:r>
              <a:rPr lang="zh-CN" altLang="en-US" sz="2000" dirty="0"/>
              <a:t>和</a:t>
            </a:r>
            <a:r>
              <a:rPr lang="en-US" altLang="zh-CN" sz="2000" dirty="0"/>
              <a:t>Web</a:t>
            </a:r>
            <a:r>
              <a:rPr lang="zh-CN" altLang="en-US" sz="2000" dirty="0"/>
              <a:t>广泛应用（突发流量）</a:t>
            </a:r>
            <a:endParaRPr lang="en-US" altLang="zh-CN" sz="2000" dirty="0"/>
          </a:p>
          <a:p>
            <a:pPr>
              <a:lnSpc>
                <a:spcPct val="110000"/>
              </a:lnSpc>
            </a:pPr>
            <a:r>
              <a:rPr lang="zh-CN" altLang="en-US" sz="2400" dirty="0"/>
              <a:t>虚电路仍有使用（</a:t>
            </a:r>
            <a:r>
              <a:rPr lang="en-US" altLang="zh-CN" sz="2400" dirty="0"/>
              <a:t>MPLS</a:t>
            </a:r>
            <a:r>
              <a:rPr lang="zh-CN" altLang="en-US" sz="2400" dirty="0"/>
              <a:t>，租用专线等）</a:t>
            </a:r>
            <a:endParaRPr lang="en-US" altLang="zh-CN" sz="2400" dirty="0"/>
          </a:p>
          <a:p>
            <a:pPr lvl="1">
              <a:lnSpc>
                <a:spcPct val="110000"/>
              </a:lnSpc>
            </a:pPr>
            <a:r>
              <a:rPr lang="zh-CN" altLang="en-US" sz="2000" dirty="0"/>
              <a:t>企业分支结构之间，昂贵，通常是静态设置（而非最初所希望的动态预留资源）</a:t>
            </a:r>
            <a:endParaRPr lang="en-US" altLang="zh-CN" sz="20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26</a:t>
            </a:fld>
            <a:endParaRPr kumimoji="1" lang="zh-CN" altLang="en-US" dirty="0"/>
          </a:p>
        </p:txBody>
      </p:sp>
      <p:sp>
        <p:nvSpPr>
          <p:cNvPr id="5" name="日期占位符 9"/>
          <p:cNvSpPr>
            <a:spLocks noGrp="1"/>
          </p:cNvSpPr>
          <p:nvPr>
            <p:ph type="dt" sz="half" idx="10"/>
          </p:nvPr>
        </p:nvSpPr>
        <p:spPr>
          <a:xfrm>
            <a:off x="197485" y="6489065"/>
            <a:ext cx="337312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
        <p:nvSpPr>
          <p:cNvPr id="7" name="文本框 6"/>
          <p:cNvSpPr txBox="1"/>
          <p:nvPr/>
        </p:nvSpPr>
        <p:spPr>
          <a:xfrm>
            <a:off x="8032568" y="1322008"/>
            <a:ext cx="2954655" cy="941155"/>
          </a:xfrm>
          <a:prstGeom prst="rect">
            <a:avLst/>
          </a:prstGeom>
          <a:noFill/>
          <a:ln>
            <a:solidFill>
              <a:srgbClr val="5C307E"/>
            </a:solidFill>
          </a:ln>
        </p:spPr>
        <p:txBody>
          <a:bodyPr wrap="none" rtlCol="0">
            <a:spAutoFit/>
          </a:bodyPr>
          <a:lstStyle/>
          <a:p>
            <a:pPr marL="342900" indent="-342900">
              <a:lnSpc>
                <a:spcPct val="120000"/>
              </a:lnSpc>
            </a:pPr>
            <a:r>
              <a:rPr kumimoji="1" lang="zh-CN" altLang="en-US" sz="2400" dirty="0">
                <a:solidFill>
                  <a:srgbClr val="C00000"/>
                </a:solidFill>
                <a:latin typeface="微软雅黑" panose="020B0503020204020204" pitchFamily="34" charset="-122"/>
                <a:ea typeface="微软雅黑" panose="020B0503020204020204" pitchFamily="34" charset="-122"/>
              </a:rPr>
              <a:t>思考：</a:t>
            </a:r>
            <a:endParaRPr kumimoji="1" lang="en-US" altLang="zh-CN" sz="2400" dirty="0">
              <a:solidFill>
                <a:srgbClr val="C00000"/>
              </a:solidFill>
              <a:latin typeface="微软雅黑" panose="020B0503020204020204" pitchFamily="34" charset="-122"/>
              <a:ea typeface="微软雅黑" panose="020B0503020204020204" pitchFamily="34" charset="-122"/>
            </a:endParaRPr>
          </a:p>
          <a:p>
            <a:pPr marL="342900" indent="-342900">
              <a:lnSpc>
                <a:spcPct val="120000"/>
              </a:lnSpc>
            </a:pPr>
            <a:r>
              <a:rPr kumimoji="1" lang="zh-CN" altLang="en-US" sz="2400" dirty="0">
                <a:solidFill>
                  <a:srgbClr val="C00000"/>
                </a:solidFill>
                <a:latin typeface="微软雅黑" panose="020B0503020204020204" pitchFamily="34" charset="-122"/>
                <a:ea typeface="微软雅黑" panose="020B0503020204020204" pitchFamily="34" charset="-122"/>
              </a:rPr>
              <a:t>到底哪种方法更好？</a:t>
            </a:r>
          </a:p>
        </p:txBody>
      </p:sp>
      <p:pic>
        <p:nvPicPr>
          <p:cNvPr id="9" name="图形 8" descr="问号"/>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824754" y="1574870"/>
            <a:ext cx="1058091" cy="1058091"/>
          </a:xfrm>
          <a:prstGeom prst="rect">
            <a:avLst/>
          </a:prstGeom>
        </p:spPr>
      </p:pic>
    </p:spTree>
    <p:extLst>
      <p:ext uri="{BB962C8B-B14F-4D97-AF65-F5344CB8AC3E}">
        <p14:creationId xmlns:p14="http://schemas.microsoft.com/office/powerpoint/2010/main" val="3164425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par>
                                <p:cTn id="8" presetID="3" presetClass="entr" presetSubtype="1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blinds(horizontal)">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olidFill>
                  <a:srgbClr val="C00000"/>
                </a:solidFill>
                <a:sym typeface="+mn-ea"/>
              </a:rPr>
              <a:t>5.2</a:t>
            </a:r>
            <a:r>
              <a:rPr kumimoji="1" lang="zh-CN" altLang="en-US" dirty="0">
                <a:solidFill>
                  <a:srgbClr val="C00000"/>
                </a:solidFill>
                <a:sym typeface="+mn-ea"/>
              </a:rPr>
              <a:t> 路由算法</a:t>
            </a:r>
            <a:endParaRPr kumimoji="1" lang="en-US" altLang="zh-CN" dirty="0">
              <a:solidFill>
                <a:srgbClr val="C00000"/>
              </a:solidFill>
            </a:endParaRPr>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pPr/>
              <a:t>27</a:t>
            </a:fld>
            <a:endParaRPr kumimoji="1" lang="zh-CN" altLang="en-US" dirty="0"/>
          </a:p>
        </p:txBody>
      </p:sp>
      <p:sp>
        <p:nvSpPr>
          <p:cNvPr id="6" name="矩形标注 5">
            <a:extLst>
              <a:ext uri="{FF2B5EF4-FFF2-40B4-BE49-F238E27FC236}">
                <a16:creationId xmlns:a16="http://schemas.microsoft.com/office/drawing/2014/main" id="{981187B3-3584-BA4E-A14C-4B26773516C6}"/>
              </a:ext>
            </a:extLst>
          </p:cNvPr>
          <p:cNvSpPr/>
          <p:nvPr/>
        </p:nvSpPr>
        <p:spPr>
          <a:xfrm>
            <a:off x="5930200" y="1507573"/>
            <a:ext cx="3466686" cy="4893117"/>
          </a:xfrm>
          <a:prstGeom prst="wedgeRectCallout">
            <a:avLst>
              <a:gd name="adj1" fmla="val -119033"/>
              <a:gd name="adj2" fmla="val -33955"/>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优化原则</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最短路径算法</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距离向量路由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链路状态路由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层次路由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广播路由（可选）</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组播路由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选播路由（可选）</a:t>
            </a:r>
          </a:p>
        </p:txBody>
      </p:sp>
    </p:spTree>
    <p:extLst>
      <p:ext uri="{BB962C8B-B14F-4D97-AF65-F5344CB8AC3E}">
        <p14:creationId xmlns:p14="http://schemas.microsoft.com/office/powerpoint/2010/main" val="49904096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路由算法</a:t>
            </a:r>
          </a:p>
        </p:txBody>
      </p:sp>
      <p:sp>
        <p:nvSpPr>
          <p:cNvPr id="3" name="内容占位符 2"/>
          <p:cNvSpPr>
            <a:spLocks noGrp="1"/>
          </p:cNvSpPr>
          <p:nvPr>
            <p:ph idx="1"/>
          </p:nvPr>
        </p:nvSpPr>
        <p:spPr>
          <a:xfrm>
            <a:off x="838200" y="1417272"/>
            <a:ext cx="10515600" cy="5131205"/>
          </a:xfrm>
        </p:spPr>
        <p:txBody>
          <a:bodyPr>
            <a:normAutofit lnSpcReduction="10000"/>
          </a:bodyPr>
          <a:lstStyle/>
          <a:p>
            <a:pPr>
              <a:lnSpc>
                <a:spcPct val="120000"/>
              </a:lnSpc>
            </a:pPr>
            <a:r>
              <a:rPr kumimoji="1" lang="zh-CN" altLang="en-US" dirty="0"/>
              <a:t>路由算法须满足的特性：</a:t>
            </a:r>
          </a:p>
          <a:p>
            <a:pPr lvl="1">
              <a:lnSpc>
                <a:spcPct val="120000"/>
              </a:lnSpc>
            </a:pPr>
            <a:r>
              <a:rPr kumimoji="1" lang="zh-CN" altLang="en-US" dirty="0"/>
              <a:t>正确性</a:t>
            </a:r>
            <a:endParaRPr kumimoji="1" lang="en-US" altLang="zh-CN" dirty="0"/>
          </a:p>
          <a:p>
            <a:pPr lvl="1">
              <a:lnSpc>
                <a:spcPct val="120000"/>
              </a:lnSpc>
            </a:pPr>
            <a:r>
              <a:rPr kumimoji="1" lang="zh-CN" altLang="en-US" dirty="0"/>
              <a:t>简单性</a:t>
            </a:r>
            <a:endParaRPr kumimoji="1" lang="en-US" altLang="zh-CN" dirty="0"/>
          </a:p>
          <a:p>
            <a:pPr lvl="1">
              <a:lnSpc>
                <a:spcPct val="120000"/>
              </a:lnSpc>
            </a:pPr>
            <a:r>
              <a:rPr kumimoji="1" lang="zh-CN" altLang="en-US" dirty="0"/>
              <a:t>鲁棒性</a:t>
            </a:r>
            <a:endParaRPr kumimoji="1" lang="en-US" altLang="zh-CN" dirty="0"/>
          </a:p>
          <a:p>
            <a:pPr lvl="1">
              <a:lnSpc>
                <a:spcPct val="120000"/>
              </a:lnSpc>
            </a:pPr>
            <a:r>
              <a:rPr kumimoji="1" lang="zh-CN" altLang="en-US" dirty="0"/>
              <a:t>稳定性</a:t>
            </a:r>
            <a:endParaRPr kumimoji="1" lang="en-US" altLang="zh-CN" dirty="0"/>
          </a:p>
          <a:p>
            <a:pPr lvl="1">
              <a:lnSpc>
                <a:spcPct val="120000"/>
              </a:lnSpc>
            </a:pPr>
            <a:r>
              <a:rPr kumimoji="1" lang="zh-CN" altLang="en-US" dirty="0"/>
              <a:t>公平性</a:t>
            </a:r>
            <a:endParaRPr kumimoji="1" lang="en-US" altLang="zh-CN" dirty="0"/>
          </a:p>
          <a:p>
            <a:pPr lvl="1">
              <a:lnSpc>
                <a:spcPct val="120000"/>
              </a:lnSpc>
            </a:pPr>
            <a:r>
              <a:rPr kumimoji="1" lang="zh-CN" altLang="en-US" dirty="0"/>
              <a:t>有效性</a:t>
            </a:r>
          </a:p>
          <a:p>
            <a:pPr>
              <a:lnSpc>
                <a:spcPct val="120000"/>
              </a:lnSpc>
            </a:pPr>
            <a:r>
              <a:rPr kumimoji="1" lang="zh-CN" altLang="en-US" dirty="0"/>
              <a:t>根据路由算法是否随网络的通信量或拓扑自适应划分</a:t>
            </a:r>
          </a:p>
          <a:p>
            <a:pPr lvl="1">
              <a:lnSpc>
                <a:spcPct val="120000"/>
              </a:lnSpc>
            </a:pPr>
            <a:r>
              <a:rPr kumimoji="1" lang="zh-CN" altLang="en-US" dirty="0"/>
              <a:t>静态路由选择策略（非自适应路由选择）</a:t>
            </a:r>
            <a:endParaRPr kumimoji="1" lang="en-US" altLang="zh-CN" dirty="0"/>
          </a:p>
          <a:p>
            <a:pPr lvl="1">
              <a:lnSpc>
                <a:spcPct val="120000"/>
              </a:lnSpc>
            </a:pPr>
            <a:r>
              <a:rPr kumimoji="1" lang="zh-CN" altLang="en-US" dirty="0"/>
              <a:t>动态路由选择策略（自适应路由选择）</a:t>
            </a:r>
          </a:p>
          <a:p>
            <a:pPr marL="0" indent="0">
              <a:lnSpc>
                <a:spcPct val="120000"/>
              </a:lnSpc>
              <a:buNone/>
            </a:pPr>
            <a:endParaRPr kumimoji="1" lang="zh-CN" altLang="en-US" dirty="0"/>
          </a:p>
        </p:txBody>
      </p:sp>
      <p:cxnSp>
        <p:nvCxnSpPr>
          <p:cNvPr id="19" name="直接连接符 18"/>
          <p:cNvCxnSpPr/>
          <p:nvPr/>
        </p:nvCxnSpPr>
        <p:spPr>
          <a:xfrm flipH="1" flipV="1">
            <a:off x="5811520" y="5961380"/>
            <a:ext cx="29845" cy="6985"/>
          </a:xfrm>
          <a:prstGeom prst="line">
            <a:avLst/>
          </a:prstGeom>
        </p:spPr>
        <p:style>
          <a:lnRef idx="3">
            <a:schemeClr val="accent4"/>
          </a:lnRef>
          <a:fillRef idx="0">
            <a:schemeClr val="accent4"/>
          </a:fillRef>
          <a:effectRef idx="2">
            <a:schemeClr val="accent4"/>
          </a:effectRef>
          <a:fontRef idx="minor">
            <a:schemeClr val="tx1"/>
          </a:fontRef>
        </p:style>
      </p:cxnSp>
      <p:sp>
        <p:nvSpPr>
          <p:cNvPr id="6"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 </a:t>
            </a:r>
            <a:r>
              <a:rPr kumimoji="1" lang="zh-CN" altLang="en-US" dirty="0"/>
              <a:t>路由算法</a:t>
            </a:r>
          </a:p>
        </p:txBody>
      </p:sp>
      <p:sp>
        <p:nvSpPr>
          <p:cNvPr id="7" name="灯片编号占位符 3">
            <a:extLst>
              <a:ext uri="{FF2B5EF4-FFF2-40B4-BE49-F238E27FC236}">
                <a16:creationId xmlns:a16="http://schemas.microsoft.com/office/drawing/2014/main" id="{E45CFB9C-E507-844B-BE18-1131E8DE071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28</a:t>
            </a:fld>
            <a:endParaRPr kumimoji="1" lang="zh-CN" altLang="en-US" dirty="0"/>
          </a:p>
        </p:txBody>
      </p:sp>
    </p:spTree>
    <p:extLst>
      <p:ext uri="{BB962C8B-B14F-4D97-AF65-F5344CB8AC3E}">
        <p14:creationId xmlns:p14="http://schemas.microsoft.com/office/powerpoint/2010/main" val="37434421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sym typeface="+mn-ea"/>
              </a:rPr>
              <a:t>优化原则</a:t>
            </a:r>
            <a:endParaRPr kumimoji="1" lang="zh-CN" altLang="en-US" dirty="0"/>
          </a:p>
        </p:txBody>
      </p:sp>
      <p:sp>
        <p:nvSpPr>
          <p:cNvPr id="3" name="内容占位符 2"/>
          <p:cNvSpPr>
            <a:spLocks noGrp="1"/>
          </p:cNvSpPr>
          <p:nvPr>
            <p:ph idx="1"/>
          </p:nvPr>
        </p:nvSpPr>
        <p:spPr>
          <a:xfrm>
            <a:off x="838200" y="1417320"/>
            <a:ext cx="10515600" cy="2239010"/>
          </a:xfrm>
        </p:spPr>
        <p:txBody>
          <a:bodyPr>
            <a:normAutofit/>
          </a:bodyPr>
          <a:lstStyle/>
          <a:p>
            <a:pPr>
              <a:lnSpc>
                <a:spcPct val="120000"/>
              </a:lnSpc>
            </a:pPr>
            <a:r>
              <a:rPr kumimoji="1" lang="zh-CN" altLang="en-US" dirty="0"/>
              <a:t>汇集树</a:t>
            </a:r>
            <a:r>
              <a:rPr kumimoji="1" lang="en-US" altLang="zh-CN" dirty="0"/>
              <a:t>(Sink Tree)</a:t>
            </a:r>
            <a:endParaRPr kumimoji="1" lang="zh-CN" altLang="en-US" dirty="0"/>
          </a:p>
          <a:p>
            <a:pPr lvl="1">
              <a:lnSpc>
                <a:spcPct val="120000"/>
              </a:lnSpc>
            </a:pPr>
            <a:r>
              <a:rPr kumimoji="1" lang="zh-CN" altLang="en-US" dirty="0">
                <a:solidFill>
                  <a:schemeClr val="tx1"/>
                </a:solidFill>
              </a:rPr>
              <a:t>所有的源节点到一个指定目标节点的最优路径的集合构成一棵以目标节点为根的树</a:t>
            </a:r>
          </a:p>
          <a:p>
            <a:pPr lvl="1">
              <a:lnSpc>
                <a:spcPct val="120000"/>
              </a:lnSpc>
            </a:pPr>
            <a:r>
              <a:rPr kumimoji="1" lang="zh-CN" altLang="en-US" dirty="0"/>
              <a:t>一棵</a:t>
            </a:r>
            <a:r>
              <a:rPr kumimoji="1" lang="zh-CN" altLang="en-US" dirty="0">
                <a:solidFill>
                  <a:srgbClr val="FF0000"/>
                </a:solidFill>
              </a:rPr>
              <a:t>路由器</a:t>
            </a:r>
            <a:r>
              <a:rPr kumimoji="1" lang="en-US" altLang="zh-CN" dirty="0">
                <a:solidFill>
                  <a:srgbClr val="FF0000"/>
                </a:solidFill>
              </a:rPr>
              <a:t>B</a:t>
            </a:r>
            <a:r>
              <a:rPr kumimoji="1" lang="zh-CN" altLang="en-US" dirty="0">
                <a:solidFill>
                  <a:srgbClr val="FF0000"/>
                </a:solidFill>
              </a:rPr>
              <a:t>的汇集树</a:t>
            </a:r>
            <a:r>
              <a:rPr kumimoji="1" lang="zh-CN" altLang="en-US" dirty="0"/>
              <a:t>（距离度量单位：步长数）</a:t>
            </a:r>
          </a:p>
          <a:p>
            <a:pPr marL="0" indent="0">
              <a:lnSpc>
                <a:spcPct val="120000"/>
              </a:lnSpc>
              <a:buNone/>
            </a:pPr>
            <a:endParaRPr kumimoji="1" lang="zh-CN" altLang="en-US" dirty="0"/>
          </a:p>
        </p:txBody>
      </p:sp>
      <p:sp>
        <p:nvSpPr>
          <p:cNvPr id="7" name="矩形 6"/>
          <p:cNvSpPr/>
          <p:nvPr/>
        </p:nvSpPr>
        <p:spPr>
          <a:xfrm>
            <a:off x="5414010" y="1417320"/>
            <a:ext cx="4625975" cy="460375"/>
          </a:xfrm>
          <a:prstGeom prst="rect">
            <a:avLst/>
          </a:prstGeom>
          <a:ln w="19050">
            <a:solidFill>
              <a:srgbClr val="7030A0"/>
            </a:solidFill>
          </a:ln>
        </p:spPr>
        <p:txBody>
          <a:bodyPr wrap="square">
            <a:spAutoFit/>
          </a:bodyPr>
          <a:lstStyle/>
          <a:p>
            <a:pPr algn="ctr"/>
            <a:r>
              <a:rPr lang="zh-CN" altLang="en-US" sz="2400" dirty="0">
                <a:latin typeface="微软雅黑" panose="020B0503020204020204" pitchFamily="34" charset="-122"/>
                <a:ea typeface="微软雅黑" panose="020B0503020204020204" pitchFamily="34" charset="-122"/>
              </a:rPr>
              <a:t>汇集树不是唯一的</a:t>
            </a:r>
          </a:p>
        </p:txBody>
      </p:sp>
      <p:cxnSp>
        <p:nvCxnSpPr>
          <p:cNvPr id="15" name="直接连接符 14"/>
          <p:cNvCxnSpPr/>
          <p:nvPr/>
        </p:nvCxnSpPr>
        <p:spPr>
          <a:xfrm flipH="1" flipV="1">
            <a:off x="869167" y="5427974"/>
            <a:ext cx="29845" cy="6985"/>
          </a:xfrm>
          <a:prstGeom prst="line">
            <a:avLst/>
          </a:prstGeom>
        </p:spPr>
        <p:style>
          <a:lnRef idx="3">
            <a:schemeClr val="accent4"/>
          </a:lnRef>
          <a:fillRef idx="0">
            <a:schemeClr val="accent4"/>
          </a:fillRef>
          <a:effectRef idx="2">
            <a:schemeClr val="accent4"/>
          </a:effectRef>
          <a:fontRef idx="minor">
            <a:schemeClr val="tx1"/>
          </a:fontRef>
        </p:style>
      </p:cxnSp>
      <p:sp>
        <p:nvSpPr>
          <p:cNvPr id="22" name="椭圆 21"/>
          <p:cNvSpPr/>
          <p:nvPr/>
        </p:nvSpPr>
        <p:spPr>
          <a:xfrm>
            <a:off x="1499722" y="41713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23" name="直接连接符 22"/>
          <p:cNvCxnSpPr>
            <a:stCxn id="22" idx="7"/>
            <a:endCxn id="35" idx="2"/>
          </p:cNvCxnSpPr>
          <p:nvPr/>
        </p:nvCxnSpPr>
        <p:spPr>
          <a:xfrm flipV="1">
            <a:off x="1692127" y="3835435"/>
            <a:ext cx="1336040" cy="362585"/>
          </a:xfrm>
          <a:prstGeom prst="line">
            <a:avLst/>
          </a:prstGeom>
        </p:spPr>
        <p:style>
          <a:lnRef idx="3">
            <a:schemeClr val="dk1"/>
          </a:lnRef>
          <a:fillRef idx="0">
            <a:schemeClr val="dk1"/>
          </a:fillRef>
          <a:effectRef idx="2">
            <a:schemeClr val="dk1"/>
          </a:effectRef>
          <a:fontRef idx="minor">
            <a:schemeClr val="tx1"/>
          </a:fontRef>
        </p:style>
      </p:cxnSp>
      <p:cxnSp>
        <p:nvCxnSpPr>
          <p:cNvPr id="24" name="直接连接符 23"/>
          <p:cNvCxnSpPr>
            <a:stCxn id="22" idx="4"/>
            <a:endCxn id="37" idx="0"/>
          </p:cNvCxnSpPr>
          <p:nvPr/>
        </p:nvCxnSpPr>
        <p:spPr>
          <a:xfrm flipH="1">
            <a:off x="1281282" y="4354865"/>
            <a:ext cx="331470" cy="678815"/>
          </a:xfrm>
          <a:prstGeom prst="line">
            <a:avLst/>
          </a:prstGeom>
          <a:ln w="57150"/>
        </p:spPr>
        <p:style>
          <a:lnRef idx="3">
            <a:schemeClr val="accent1"/>
          </a:lnRef>
          <a:fillRef idx="0">
            <a:schemeClr val="accent1"/>
          </a:fillRef>
          <a:effectRef idx="2">
            <a:schemeClr val="accent1"/>
          </a:effectRef>
          <a:fontRef idx="minor">
            <a:schemeClr val="tx1"/>
          </a:fontRef>
        </p:style>
      </p:cxnSp>
      <p:cxnSp>
        <p:nvCxnSpPr>
          <p:cNvPr id="25" name="直接连接符 24"/>
          <p:cNvCxnSpPr>
            <a:stCxn id="39" idx="4"/>
            <a:endCxn id="41" idx="0"/>
          </p:cNvCxnSpPr>
          <p:nvPr/>
        </p:nvCxnSpPr>
        <p:spPr>
          <a:xfrm>
            <a:off x="5148432" y="4083720"/>
            <a:ext cx="225425" cy="501650"/>
          </a:xfrm>
          <a:prstGeom prst="line">
            <a:avLst/>
          </a:prstGeom>
        </p:spPr>
        <p:style>
          <a:lnRef idx="3">
            <a:schemeClr val="dk1"/>
          </a:lnRef>
          <a:fillRef idx="0">
            <a:schemeClr val="dk1"/>
          </a:fillRef>
          <a:effectRef idx="2">
            <a:schemeClr val="dk1"/>
          </a:effectRef>
          <a:fontRef idx="minor">
            <a:schemeClr val="tx1"/>
          </a:fontRef>
        </p:style>
      </p:cxnSp>
      <p:cxnSp>
        <p:nvCxnSpPr>
          <p:cNvPr id="26" name="直接连接符 25"/>
          <p:cNvCxnSpPr>
            <a:stCxn id="35" idx="6"/>
            <a:endCxn id="39" idx="1"/>
          </p:cNvCxnSpPr>
          <p:nvPr/>
        </p:nvCxnSpPr>
        <p:spPr>
          <a:xfrm>
            <a:off x="3253592" y="3835435"/>
            <a:ext cx="1814830" cy="91440"/>
          </a:xfrm>
          <a:prstGeom prst="line">
            <a:avLst/>
          </a:prstGeom>
        </p:spPr>
        <p:style>
          <a:lnRef idx="3">
            <a:schemeClr val="dk1"/>
          </a:lnRef>
          <a:fillRef idx="0">
            <a:schemeClr val="dk1"/>
          </a:fillRef>
          <a:effectRef idx="2">
            <a:schemeClr val="dk1"/>
          </a:effectRef>
          <a:fontRef idx="minor">
            <a:schemeClr val="tx1"/>
          </a:fontRef>
        </p:style>
      </p:cxnSp>
      <p:sp>
        <p:nvSpPr>
          <p:cNvPr id="27" name="文本框 37"/>
          <p:cNvSpPr txBox="1"/>
          <p:nvPr/>
        </p:nvSpPr>
        <p:spPr>
          <a:xfrm>
            <a:off x="1062207" y="40329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28" name="文本框 38"/>
          <p:cNvSpPr txBox="1"/>
          <p:nvPr/>
        </p:nvSpPr>
        <p:spPr>
          <a:xfrm>
            <a:off x="2859892" y="3375060"/>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B</a:t>
            </a:r>
          </a:p>
        </p:txBody>
      </p:sp>
      <p:sp>
        <p:nvSpPr>
          <p:cNvPr id="29" name="文本框 39"/>
          <p:cNvSpPr txBox="1"/>
          <p:nvPr/>
        </p:nvSpPr>
        <p:spPr>
          <a:xfrm>
            <a:off x="5187802" y="373764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30" name="文本框 40"/>
          <p:cNvSpPr txBox="1"/>
          <p:nvPr/>
        </p:nvSpPr>
        <p:spPr>
          <a:xfrm>
            <a:off x="2663677" y="4151665"/>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D</a:t>
            </a:r>
          </a:p>
        </p:txBody>
      </p:sp>
      <p:sp>
        <p:nvSpPr>
          <p:cNvPr id="31" name="文本框 41"/>
          <p:cNvSpPr txBox="1"/>
          <p:nvPr/>
        </p:nvSpPr>
        <p:spPr>
          <a:xfrm>
            <a:off x="843767" y="49873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32" name="文本框 42"/>
          <p:cNvSpPr txBox="1"/>
          <p:nvPr/>
        </p:nvSpPr>
        <p:spPr>
          <a:xfrm>
            <a:off x="4020672" y="38176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33" name="文本框 43"/>
          <p:cNvSpPr txBox="1"/>
          <p:nvPr/>
        </p:nvSpPr>
        <p:spPr>
          <a:xfrm>
            <a:off x="1990577" y="48952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34" name="文本框 44"/>
          <p:cNvSpPr txBox="1"/>
          <p:nvPr/>
        </p:nvSpPr>
        <p:spPr>
          <a:xfrm>
            <a:off x="3297407" y="55620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35" name="椭圆 34"/>
          <p:cNvSpPr/>
          <p:nvPr/>
        </p:nvSpPr>
        <p:spPr>
          <a:xfrm>
            <a:off x="3028167" y="374336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6" name="椭圆 35"/>
          <p:cNvSpPr/>
          <p:nvPr/>
        </p:nvSpPr>
        <p:spPr>
          <a:xfrm>
            <a:off x="2769722" y="44932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7" name="椭圆 36"/>
          <p:cNvSpPr/>
          <p:nvPr/>
        </p:nvSpPr>
        <p:spPr>
          <a:xfrm>
            <a:off x="1168252" y="503368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8" name="椭圆 37"/>
          <p:cNvSpPr/>
          <p:nvPr/>
        </p:nvSpPr>
        <p:spPr>
          <a:xfrm>
            <a:off x="4343887" y="48952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9" name="椭圆 38"/>
          <p:cNvSpPr/>
          <p:nvPr/>
        </p:nvSpPr>
        <p:spPr>
          <a:xfrm>
            <a:off x="5035402" y="390020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40" name="椭圆 39"/>
          <p:cNvSpPr/>
          <p:nvPr/>
        </p:nvSpPr>
        <p:spPr>
          <a:xfrm>
            <a:off x="4151482" y="41713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41" name="椭圆 40"/>
          <p:cNvSpPr/>
          <p:nvPr/>
        </p:nvSpPr>
        <p:spPr>
          <a:xfrm>
            <a:off x="5260827" y="458537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42" name="直接连接符 41"/>
          <p:cNvCxnSpPr>
            <a:stCxn id="22" idx="5"/>
            <a:endCxn id="36" idx="2"/>
          </p:cNvCxnSpPr>
          <p:nvPr/>
        </p:nvCxnSpPr>
        <p:spPr>
          <a:xfrm>
            <a:off x="1692127" y="4328195"/>
            <a:ext cx="1077595" cy="257175"/>
          </a:xfrm>
          <a:prstGeom prst="line">
            <a:avLst/>
          </a:prstGeom>
          <a:ln w="57150"/>
        </p:spPr>
        <p:style>
          <a:lnRef idx="3">
            <a:schemeClr val="accent1"/>
          </a:lnRef>
          <a:fillRef idx="0">
            <a:schemeClr val="accent1"/>
          </a:fillRef>
          <a:effectRef idx="2">
            <a:schemeClr val="accent1"/>
          </a:effectRef>
          <a:fontRef idx="minor">
            <a:schemeClr val="tx1"/>
          </a:fontRef>
        </p:style>
      </p:cxnSp>
      <p:cxnSp>
        <p:nvCxnSpPr>
          <p:cNvPr id="43" name="直接连接符 42"/>
          <p:cNvCxnSpPr>
            <a:stCxn id="36" idx="5"/>
          </p:cNvCxnSpPr>
          <p:nvPr/>
        </p:nvCxnSpPr>
        <p:spPr>
          <a:xfrm>
            <a:off x="2962127" y="4650140"/>
            <a:ext cx="1381760" cy="337185"/>
          </a:xfrm>
          <a:prstGeom prst="line">
            <a:avLst/>
          </a:prstGeom>
          <a:ln w="57150"/>
        </p:spPr>
        <p:style>
          <a:lnRef idx="3">
            <a:schemeClr val="accent1"/>
          </a:lnRef>
          <a:fillRef idx="0">
            <a:schemeClr val="accent1"/>
          </a:fillRef>
          <a:effectRef idx="2">
            <a:schemeClr val="accent1"/>
          </a:effectRef>
          <a:fontRef idx="minor">
            <a:schemeClr val="tx1"/>
          </a:fontRef>
        </p:style>
      </p:cxnSp>
      <p:sp>
        <p:nvSpPr>
          <p:cNvPr id="44" name="文本框 66"/>
          <p:cNvSpPr txBox="1"/>
          <p:nvPr/>
        </p:nvSpPr>
        <p:spPr>
          <a:xfrm>
            <a:off x="1553062" y="640210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K</a:t>
            </a:r>
          </a:p>
        </p:txBody>
      </p:sp>
      <p:sp>
        <p:nvSpPr>
          <p:cNvPr id="45" name="文本框 67"/>
          <p:cNvSpPr txBox="1"/>
          <p:nvPr/>
        </p:nvSpPr>
        <p:spPr>
          <a:xfrm>
            <a:off x="2766547" y="553914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L</a:t>
            </a:r>
          </a:p>
        </p:txBody>
      </p:sp>
      <p:sp>
        <p:nvSpPr>
          <p:cNvPr id="46" name="文本框 68"/>
          <p:cNvSpPr txBox="1"/>
          <p:nvPr/>
        </p:nvSpPr>
        <p:spPr>
          <a:xfrm>
            <a:off x="3906372" y="630431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M</a:t>
            </a:r>
          </a:p>
        </p:txBody>
      </p:sp>
      <p:sp>
        <p:nvSpPr>
          <p:cNvPr id="47" name="文本框 69"/>
          <p:cNvSpPr txBox="1"/>
          <p:nvPr/>
        </p:nvSpPr>
        <p:spPr>
          <a:xfrm>
            <a:off x="5834367" y="5102260"/>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N</a:t>
            </a:r>
          </a:p>
        </p:txBody>
      </p:sp>
      <p:sp>
        <p:nvSpPr>
          <p:cNvPr id="48" name="文本框 70"/>
          <p:cNvSpPr txBox="1"/>
          <p:nvPr/>
        </p:nvSpPr>
        <p:spPr>
          <a:xfrm>
            <a:off x="5330677" y="61208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O</a:t>
            </a:r>
          </a:p>
        </p:txBody>
      </p:sp>
      <p:sp>
        <p:nvSpPr>
          <p:cNvPr id="49" name="椭圆 48"/>
          <p:cNvSpPr/>
          <p:nvPr/>
        </p:nvSpPr>
        <p:spPr>
          <a:xfrm>
            <a:off x="2428092" y="50520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0" name="椭圆 49"/>
          <p:cNvSpPr/>
          <p:nvPr/>
        </p:nvSpPr>
        <p:spPr>
          <a:xfrm>
            <a:off x="3403452" y="53556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1" name="椭圆 50"/>
          <p:cNvSpPr/>
          <p:nvPr/>
        </p:nvSpPr>
        <p:spPr>
          <a:xfrm>
            <a:off x="2577317" y="59303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2" name="椭圆 51"/>
          <p:cNvSpPr/>
          <p:nvPr/>
        </p:nvSpPr>
        <p:spPr>
          <a:xfrm>
            <a:off x="3987652" y="61208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3" name="椭圆 52"/>
          <p:cNvSpPr/>
          <p:nvPr/>
        </p:nvSpPr>
        <p:spPr>
          <a:xfrm>
            <a:off x="5293847" y="589601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4" name="椭圆 53"/>
          <p:cNvSpPr/>
          <p:nvPr/>
        </p:nvSpPr>
        <p:spPr>
          <a:xfrm>
            <a:off x="5578962" y="53556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5" name="椭圆 54"/>
          <p:cNvSpPr/>
          <p:nvPr/>
        </p:nvSpPr>
        <p:spPr>
          <a:xfrm>
            <a:off x="1941047" y="637543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56" name="直接连接符 55"/>
          <p:cNvCxnSpPr>
            <a:stCxn id="37" idx="4"/>
            <a:endCxn id="55" idx="1"/>
          </p:cNvCxnSpPr>
          <p:nvPr/>
        </p:nvCxnSpPr>
        <p:spPr>
          <a:xfrm>
            <a:off x="1281282" y="5217195"/>
            <a:ext cx="692785" cy="1184910"/>
          </a:xfrm>
          <a:prstGeom prst="line">
            <a:avLst/>
          </a:prstGeom>
          <a:ln w="57150"/>
        </p:spPr>
        <p:style>
          <a:lnRef idx="3">
            <a:schemeClr val="accent1"/>
          </a:lnRef>
          <a:fillRef idx="0">
            <a:schemeClr val="accent1"/>
          </a:fillRef>
          <a:effectRef idx="2">
            <a:schemeClr val="accent1"/>
          </a:effectRef>
          <a:fontRef idx="minor">
            <a:schemeClr val="tx1"/>
          </a:fontRef>
        </p:style>
      </p:cxnSp>
      <p:cxnSp>
        <p:nvCxnSpPr>
          <p:cNvPr id="57" name="直接连接符 56"/>
          <p:cNvCxnSpPr>
            <a:stCxn id="36" idx="3"/>
            <a:endCxn id="49" idx="0"/>
          </p:cNvCxnSpPr>
          <p:nvPr/>
        </p:nvCxnSpPr>
        <p:spPr>
          <a:xfrm flipH="1">
            <a:off x="2541122" y="4650140"/>
            <a:ext cx="261620" cy="401955"/>
          </a:xfrm>
          <a:prstGeom prst="line">
            <a:avLst/>
          </a:prstGeom>
        </p:spPr>
        <p:style>
          <a:lnRef idx="3">
            <a:schemeClr val="dk1"/>
          </a:lnRef>
          <a:fillRef idx="0">
            <a:schemeClr val="dk1"/>
          </a:fillRef>
          <a:effectRef idx="2">
            <a:schemeClr val="dk1"/>
          </a:effectRef>
          <a:fontRef idx="minor">
            <a:schemeClr val="tx1"/>
          </a:fontRef>
        </p:style>
      </p:cxnSp>
      <p:cxnSp>
        <p:nvCxnSpPr>
          <p:cNvPr id="58" name="直接连接符 57"/>
          <p:cNvCxnSpPr>
            <a:stCxn id="49" idx="5"/>
            <a:endCxn id="51" idx="0"/>
          </p:cNvCxnSpPr>
          <p:nvPr/>
        </p:nvCxnSpPr>
        <p:spPr>
          <a:xfrm>
            <a:off x="2620497" y="5208940"/>
            <a:ext cx="69850" cy="721360"/>
          </a:xfrm>
          <a:prstGeom prst="line">
            <a:avLst/>
          </a:prstGeom>
        </p:spPr>
        <p:style>
          <a:lnRef idx="3">
            <a:schemeClr val="dk1"/>
          </a:lnRef>
          <a:fillRef idx="0">
            <a:schemeClr val="dk1"/>
          </a:fillRef>
          <a:effectRef idx="2">
            <a:schemeClr val="dk1"/>
          </a:effectRef>
          <a:fontRef idx="minor">
            <a:schemeClr val="tx1"/>
          </a:fontRef>
        </p:style>
      </p:cxnSp>
      <p:cxnSp>
        <p:nvCxnSpPr>
          <p:cNvPr id="59" name="直接连接符 58"/>
          <p:cNvCxnSpPr>
            <a:stCxn id="55" idx="7"/>
            <a:endCxn id="51" idx="2"/>
          </p:cNvCxnSpPr>
          <p:nvPr/>
        </p:nvCxnSpPr>
        <p:spPr>
          <a:xfrm flipV="1">
            <a:off x="2133452" y="6022375"/>
            <a:ext cx="443865" cy="379730"/>
          </a:xfrm>
          <a:prstGeom prst="line">
            <a:avLst/>
          </a:prstGeom>
        </p:spPr>
        <p:style>
          <a:lnRef idx="3">
            <a:schemeClr val="dk1"/>
          </a:lnRef>
          <a:fillRef idx="0">
            <a:schemeClr val="dk1"/>
          </a:fillRef>
          <a:effectRef idx="2">
            <a:schemeClr val="dk1"/>
          </a:effectRef>
          <a:fontRef idx="minor">
            <a:schemeClr val="tx1"/>
          </a:fontRef>
        </p:style>
      </p:cxnSp>
      <p:cxnSp>
        <p:nvCxnSpPr>
          <p:cNvPr id="60" name="直接连接符 59"/>
          <p:cNvCxnSpPr>
            <a:stCxn id="36" idx="5"/>
            <a:endCxn id="50" idx="1"/>
          </p:cNvCxnSpPr>
          <p:nvPr/>
        </p:nvCxnSpPr>
        <p:spPr>
          <a:xfrm>
            <a:off x="2962127" y="4650140"/>
            <a:ext cx="474345" cy="732155"/>
          </a:xfrm>
          <a:prstGeom prst="line">
            <a:avLst/>
          </a:prstGeom>
        </p:spPr>
        <p:style>
          <a:lnRef idx="3">
            <a:schemeClr val="dk1"/>
          </a:lnRef>
          <a:fillRef idx="0">
            <a:schemeClr val="dk1"/>
          </a:fillRef>
          <a:effectRef idx="2">
            <a:schemeClr val="dk1"/>
          </a:effectRef>
          <a:fontRef idx="minor">
            <a:schemeClr val="tx1"/>
          </a:fontRef>
        </p:style>
      </p:cxnSp>
      <p:cxnSp>
        <p:nvCxnSpPr>
          <p:cNvPr id="61" name="直接连接符 60"/>
          <p:cNvCxnSpPr/>
          <p:nvPr/>
        </p:nvCxnSpPr>
        <p:spPr>
          <a:xfrm flipH="1">
            <a:off x="3591412" y="4323750"/>
            <a:ext cx="588645" cy="1054100"/>
          </a:xfrm>
          <a:prstGeom prst="line">
            <a:avLst/>
          </a:prstGeom>
        </p:spPr>
        <p:style>
          <a:lnRef idx="3">
            <a:schemeClr val="dk1"/>
          </a:lnRef>
          <a:fillRef idx="0">
            <a:schemeClr val="dk1"/>
          </a:fillRef>
          <a:effectRef idx="2">
            <a:schemeClr val="dk1"/>
          </a:effectRef>
          <a:fontRef idx="minor">
            <a:schemeClr val="tx1"/>
          </a:fontRef>
        </p:style>
      </p:cxnSp>
      <p:cxnSp>
        <p:nvCxnSpPr>
          <p:cNvPr id="62" name="直接连接符 61"/>
          <p:cNvCxnSpPr>
            <a:stCxn id="40" idx="6"/>
            <a:endCxn id="41" idx="1"/>
          </p:cNvCxnSpPr>
          <p:nvPr/>
        </p:nvCxnSpPr>
        <p:spPr>
          <a:xfrm>
            <a:off x="4376907" y="4263425"/>
            <a:ext cx="916940" cy="348615"/>
          </a:xfrm>
          <a:prstGeom prst="line">
            <a:avLst/>
          </a:prstGeom>
        </p:spPr>
        <p:style>
          <a:lnRef idx="3">
            <a:schemeClr val="dk1"/>
          </a:lnRef>
          <a:fillRef idx="0">
            <a:schemeClr val="dk1"/>
          </a:fillRef>
          <a:effectRef idx="2">
            <a:schemeClr val="dk1"/>
          </a:effectRef>
          <a:fontRef idx="minor">
            <a:schemeClr val="tx1"/>
          </a:fontRef>
        </p:style>
      </p:cxnSp>
      <p:cxnSp>
        <p:nvCxnSpPr>
          <p:cNvPr id="63" name="直接连接符 62"/>
          <p:cNvCxnSpPr>
            <a:stCxn id="39" idx="3"/>
          </p:cNvCxnSpPr>
          <p:nvPr/>
        </p:nvCxnSpPr>
        <p:spPr>
          <a:xfrm flipH="1">
            <a:off x="4536292" y="4057050"/>
            <a:ext cx="532130" cy="838200"/>
          </a:xfrm>
          <a:prstGeom prst="line">
            <a:avLst/>
          </a:prstGeom>
        </p:spPr>
        <p:style>
          <a:lnRef idx="3">
            <a:schemeClr val="dk1"/>
          </a:lnRef>
          <a:fillRef idx="0">
            <a:schemeClr val="dk1"/>
          </a:fillRef>
          <a:effectRef idx="2">
            <a:schemeClr val="dk1"/>
          </a:effectRef>
          <a:fontRef idx="minor">
            <a:schemeClr val="tx1"/>
          </a:fontRef>
        </p:style>
      </p:cxnSp>
      <p:cxnSp>
        <p:nvCxnSpPr>
          <p:cNvPr id="64" name="直接连接符 63"/>
          <p:cNvCxnSpPr>
            <a:stCxn id="52" idx="7"/>
            <a:endCxn id="54" idx="3"/>
          </p:cNvCxnSpPr>
          <p:nvPr/>
        </p:nvCxnSpPr>
        <p:spPr>
          <a:xfrm flipV="1">
            <a:off x="4180057" y="5512470"/>
            <a:ext cx="1431925" cy="635000"/>
          </a:xfrm>
          <a:prstGeom prst="line">
            <a:avLst/>
          </a:prstGeom>
        </p:spPr>
        <p:style>
          <a:lnRef idx="3">
            <a:schemeClr val="dk1"/>
          </a:lnRef>
          <a:fillRef idx="0">
            <a:schemeClr val="dk1"/>
          </a:fillRef>
          <a:effectRef idx="2">
            <a:schemeClr val="dk1"/>
          </a:effectRef>
          <a:fontRef idx="minor">
            <a:schemeClr val="tx1"/>
          </a:fontRef>
        </p:style>
      </p:cxnSp>
      <p:cxnSp>
        <p:nvCxnSpPr>
          <p:cNvPr id="65" name="直接连接符 64"/>
          <p:cNvCxnSpPr>
            <a:stCxn id="41" idx="5"/>
            <a:endCxn id="54" idx="0"/>
          </p:cNvCxnSpPr>
          <p:nvPr/>
        </p:nvCxnSpPr>
        <p:spPr>
          <a:xfrm>
            <a:off x="5453232" y="4742215"/>
            <a:ext cx="238760" cy="613410"/>
          </a:xfrm>
          <a:prstGeom prst="line">
            <a:avLst/>
          </a:prstGeom>
        </p:spPr>
        <p:style>
          <a:lnRef idx="3">
            <a:schemeClr val="dk1"/>
          </a:lnRef>
          <a:fillRef idx="0">
            <a:schemeClr val="dk1"/>
          </a:fillRef>
          <a:effectRef idx="2">
            <a:schemeClr val="dk1"/>
          </a:effectRef>
          <a:fontRef idx="minor">
            <a:schemeClr val="tx1"/>
          </a:fontRef>
        </p:style>
      </p:cxnSp>
      <p:cxnSp>
        <p:nvCxnSpPr>
          <p:cNvPr id="66" name="直接连接符 65"/>
          <p:cNvCxnSpPr>
            <a:stCxn id="37" idx="4"/>
            <a:endCxn id="50" idx="2"/>
          </p:cNvCxnSpPr>
          <p:nvPr/>
        </p:nvCxnSpPr>
        <p:spPr>
          <a:xfrm>
            <a:off x="1281282" y="5217195"/>
            <a:ext cx="2122170" cy="230505"/>
          </a:xfrm>
          <a:prstGeom prst="line">
            <a:avLst/>
          </a:prstGeom>
        </p:spPr>
        <p:style>
          <a:lnRef idx="3">
            <a:schemeClr val="dk1"/>
          </a:lnRef>
          <a:fillRef idx="0">
            <a:schemeClr val="dk1"/>
          </a:fillRef>
          <a:effectRef idx="2">
            <a:schemeClr val="dk1"/>
          </a:effectRef>
          <a:fontRef idx="minor">
            <a:schemeClr val="tx1"/>
          </a:fontRef>
        </p:style>
      </p:cxnSp>
      <p:cxnSp>
        <p:nvCxnSpPr>
          <p:cNvPr id="67" name="直接连接符 66"/>
          <p:cNvCxnSpPr>
            <a:stCxn id="50" idx="6"/>
            <a:endCxn id="53" idx="2"/>
          </p:cNvCxnSpPr>
          <p:nvPr/>
        </p:nvCxnSpPr>
        <p:spPr>
          <a:xfrm>
            <a:off x="3628877" y="5447700"/>
            <a:ext cx="1664970" cy="540385"/>
          </a:xfrm>
          <a:prstGeom prst="line">
            <a:avLst/>
          </a:prstGeom>
        </p:spPr>
        <p:style>
          <a:lnRef idx="3">
            <a:schemeClr val="dk1"/>
          </a:lnRef>
          <a:fillRef idx="0">
            <a:schemeClr val="dk1"/>
          </a:fillRef>
          <a:effectRef idx="2">
            <a:schemeClr val="dk1"/>
          </a:effectRef>
          <a:fontRef idx="minor">
            <a:schemeClr val="tx1"/>
          </a:fontRef>
        </p:style>
      </p:cxnSp>
      <p:cxnSp>
        <p:nvCxnSpPr>
          <p:cNvPr id="68" name="直接连接符 67"/>
          <p:cNvCxnSpPr>
            <a:stCxn id="54" idx="4"/>
            <a:endCxn id="53" idx="0"/>
          </p:cNvCxnSpPr>
          <p:nvPr/>
        </p:nvCxnSpPr>
        <p:spPr>
          <a:xfrm flipH="1">
            <a:off x="5406877" y="5539140"/>
            <a:ext cx="285115" cy="356870"/>
          </a:xfrm>
          <a:prstGeom prst="line">
            <a:avLst/>
          </a:prstGeom>
        </p:spPr>
        <p:style>
          <a:lnRef idx="3">
            <a:schemeClr val="dk1"/>
          </a:lnRef>
          <a:fillRef idx="0">
            <a:schemeClr val="dk1"/>
          </a:fillRef>
          <a:effectRef idx="2">
            <a:schemeClr val="dk1"/>
          </a:effectRef>
          <a:fontRef idx="minor">
            <a:schemeClr val="tx1"/>
          </a:fontRef>
        </p:style>
      </p:cxnSp>
      <p:cxnSp>
        <p:nvCxnSpPr>
          <p:cNvPr id="69" name="直接连接符 68"/>
          <p:cNvCxnSpPr>
            <a:stCxn id="51" idx="5"/>
            <a:endCxn id="52" idx="3"/>
          </p:cNvCxnSpPr>
          <p:nvPr/>
        </p:nvCxnSpPr>
        <p:spPr>
          <a:xfrm>
            <a:off x="2769722" y="6087145"/>
            <a:ext cx="1250950" cy="190500"/>
          </a:xfrm>
          <a:prstGeom prst="line">
            <a:avLst/>
          </a:prstGeom>
        </p:spPr>
        <p:style>
          <a:lnRef idx="3">
            <a:schemeClr val="dk1"/>
          </a:lnRef>
          <a:fillRef idx="0">
            <a:schemeClr val="dk1"/>
          </a:fillRef>
          <a:effectRef idx="2">
            <a:schemeClr val="dk1"/>
          </a:effectRef>
          <a:fontRef idx="minor">
            <a:schemeClr val="tx1"/>
          </a:fontRef>
        </p:style>
      </p:cxnSp>
      <p:cxnSp>
        <p:nvCxnSpPr>
          <p:cNvPr id="70" name="直接连接符 69"/>
          <p:cNvCxnSpPr>
            <a:endCxn id="41" idx="3"/>
          </p:cNvCxnSpPr>
          <p:nvPr/>
        </p:nvCxnSpPr>
        <p:spPr>
          <a:xfrm flipV="1">
            <a:off x="4569312" y="4742215"/>
            <a:ext cx="724535" cy="245110"/>
          </a:xfrm>
          <a:prstGeom prst="line">
            <a:avLst/>
          </a:prstGeom>
          <a:ln w="57150"/>
        </p:spPr>
        <p:style>
          <a:lnRef idx="3">
            <a:schemeClr val="accent1"/>
          </a:lnRef>
          <a:fillRef idx="0">
            <a:schemeClr val="accent1"/>
          </a:fillRef>
          <a:effectRef idx="2">
            <a:schemeClr val="accent1"/>
          </a:effectRef>
          <a:fontRef idx="minor">
            <a:schemeClr val="tx1"/>
          </a:fontRef>
        </p:style>
      </p:cxnSp>
      <p:sp>
        <p:nvSpPr>
          <p:cNvPr id="71" name="文本框 94"/>
          <p:cNvSpPr txBox="1"/>
          <p:nvPr/>
        </p:nvSpPr>
        <p:spPr>
          <a:xfrm>
            <a:off x="5599282" y="44348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J</a:t>
            </a:r>
          </a:p>
        </p:txBody>
      </p:sp>
      <p:sp>
        <p:nvSpPr>
          <p:cNvPr id="72" name="文本框 150"/>
          <p:cNvSpPr txBox="1"/>
          <p:nvPr/>
        </p:nvSpPr>
        <p:spPr>
          <a:xfrm>
            <a:off x="4315947" y="50368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I</a:t>
            </a:r>
          </a:p>
        </p:txBody>
      </p:sp>
      <p:cxnSp>
        <p:nvCxnSpPr>
          <p:cNvPr id="73" name="直接连接符 72"/>
          <p:cNvCxnSpPr/>
          <p:nvPr/>
        </p:nvCxnSpPr>
        <p:spPr>
          <a:xfrm>
            <a:off x="2962127" y="4650140"/>
            <a:ext cx="1353820" cy="337185"/>
          </a:xfrm>
          <a:prstGeom prst="line">
            <a:avLst/>
          </a:prstGeom>
          <a:ln w="57150">
            <a:solidFill>
              <a:schemeClr val="accent2"/>
            </a:solidFill>
          </a:ln>
        </p:spPr>
        <p:style>
          <a:lnRef idx="1">
            <a:schemeClr val="accent2"/>
          </a:lnRef>
          <a:fillRef idx="0">
            <a:schemeClr val="accent2"/>
          </a:fillRef>
          <a:effectRef idx="0">
            <a:schemeClr val="accent2"/>
          </a:effectRef>
          <a:fontRef idx="minor">
            <a:schemeClr val="tx1"/>
          </a:fontRef>
        </p:style>
      </p:cxnSp>
      <p:cxnSp>
        <p:nvCxnSpPr>
          <p:cNvPr id="74" name="直接连接符 73"/>
          <p:cNvCxnSpPr>
            <a:stCxn id="22" idx="5"/>
            <a:endCxn id="36" idx="2"/>
          </p:cNvCxnSpPr>
          <p:nvPr/>
        </p:nvCxnSpPr>
        <p:spPr>
          <a:xfrm>
            <a:off x="1692127" y="4328195"/>
            <a:ext cx="1077595" cy="257175"/>
          </a:xfrm>
          <a:prstGeom prst="line">
            <a:avLst/>
          </a:prstGeom>
          <a:ln w="57150"/>
        </p:spPr>
        <p:style>
          <a:lnRef idx="1">
            <a:schemeClr val="accent2"/>
          </a:lnRef>
          <a:fillRef idx="0">
            <a:schemeClr val="accent2"/>
          </a:fillRef>
          <a:effectRef idx="0">
            <a:schemeClr val="accent2"/>
          </a:effectRef>
          <a:fontRef idx="minor">
            <a:schemeClr val="tx1"/>
          </a:fontRef>
        </p:style>
      </p:cxnSp>
      <p:cxnSp>
        <p:nvCxnSpPr>
          <p:cNvPr id="75" name="直接连接符 74"/>
          <p:cNvCxnSpPr>
            <a:stCxn id="37" idx="0"/>
          </p:cNvCxnSpPr>
          <p:nvPr/>
        </p:nvCxnSpPr>
        <p:spPr>
          <a:xfrm flipV="1">
            <a:off x="1281282" y="4354865"/>
            <a:ext cx="331470" cy="678815"/>
          </a:xfrm>
          <a:prstGeom prst="line">
            <a:avLst/>
          </a:prstGeom>
          <a:ln w="57150"/>
        </p:spPr>
        <p:style>
          <a:lnRef idx="1">
            <a:schemeClr val="accent2"/>
          </a:lnRef>
          <a:fillRef idx="0">
            <a:schemeClr val="accent2"/>
          </a:fillRef>
          <a:effectRef idx="0">
            <a:schemeClr val="accent2"/>
          </a:effectRef>
          <a:fontRef idx="minor">
            <a:schemeClr val="tx1"/>
          </a:fontRef>
        </p:style>
      </p:cxnSp>
      <p:cxnSp>
        <p:nvCxnSpPr>
          <p:cNvPr id="76" name="直接连接符 75"/>
          <p:cNvCxnSpPr>
            <a:endCxn id="55" idx="1"/>
          </p:cNvCxnSpPr>
          <p:nvPr/>
        </p:nvCxnSpPr>
        <p:spPr>
          <a:xfrm>
            <a:off x="1281282" y="5235610"/>
            <a:ext cx="692785" cy="1166495"/>
          </a:xfrm>
          <a:prstGeom prst="line">
            <a:avLst/>
          </a:prstGeom>
          <a:ln w="57150"/>
        </p:spPr>
        <p:style>
          <a:lnRef idx="1">
            <a:schemeClr val="accent2"/>
          </a:lnRef>
          <a:fillRef idx="0">
            <a:schemeClr val="accent2"/>
          </a:fillRef>
          <a:effectRef idx="0">
            <a:schemeClr val="accent2"/>
          </a:effectRef>
          <a:fontRef idx="minor">
            <a:schemeClr val="tx1"/>
          </a:fontRef>
        </p:style>
      </p:cxnSp>
      <p:sp>
        <p:nvSpPr>
          <p:cNvPr id="77" name="椭圆 76"/>
          <p:cNvSpPr/>
          <p:nvPr/>
        </p:nvSpPr>
        <p:spPr>
          <a:xfrm>
            <a:off x="7058433" y="40641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78" name="直接连接符 77"/>
          <p:cNvCxnSpPr>
            <a:stCxn id="77" idx="7"/>
            <a:endCxn id="90" idx="2"/>
          </p:cNvCxnSpPr>
          <p:nvPr/>
        </p:nvCxnSpPr>
        <p:spPr>
          <a:xfrm flipV="1">
            <a:off x="7250838" y="3728235"/>
            <a:ext cx="1336040" cy="362585"/>
          </a:xfrm>
          <a:prstGeom prst="line">
            <a:avLst/>
          </a:prstGeom>
        </p:spPr>
        <p:style>
          <a:lnRef idx="3">
            <a:schemeClr val="dk1"/>
          </a:lnRef>
          <a:fillRef idx="0">
            <a:schemeClr val="dk1"/>
          </a:fillRef>
          <a:effectRef idx="2">
            <a:schemeClr val="dk1"/>
          </a:effectRef>
          <a:fontRef idx="minor">
            <a:schemeClr val="tx1"/>
          </a:fontRef>
        </p:style>
      </p:cxnSp>
      <p:cxnSp>
        <p:nvCxnSpPr>
          <p:cNvPr id="79" name="直接连接符 78"/>
          <p:cNvCxnSpPr>
            <a:stCxn id="77" idx="4"/>
            <a:endCxn id="92" idx="0"/>
          </p:cNvCxnSpPr>
          <p:nvPr/>
        </p:nvCxnSpPr>
        <p:spPr>
          <a:xfrm flipH="1">
            <a:off x="6839993" y="4247665"/>
            <a:ext cx="331470" cy="678815"/>
          </a:xfrm>
          <a:prstGeom prst="line">
            <a:avLst/>
          </a:prstGeom>
        </p:spPr>
        <p:style>
          <a:lnRef idx="3">
            <a:schemeClr val="dk1"/>
          </a:lnRef>
          <a:fillRef idx="0">
            <a:schemeClr val="dk1"/>
          </a:fillRef>
          <a:effectRef idx="2">
            <a:schemeClr val="dk1"/>
          </a:effectRef>
          <a:fontRef idx="minor">
            <a:schemeClr val="tx1"/>
          </a:fontRef>
        </p:style>
      </p:cxnSp>
      <p:cxnSp>
        <p:nvCxnSpPr>
          <p:cNvPr id="80" name="直接连接符 79"/>
          <p:cNvCxnSpPr>
            <a:stCxn id="94" idx="4"/>
            <a:endCxn id="96" idx="0"/>
          </p:cNvCxnSpPr>
          <p:nvPr/>
        </p:nvCxnSpPr>
        <p:spPr>
          <a:xfrm>
            <a:off x="10707143" y="3976520"/>
            <a:ext cx="225425" cy="501650"/>
          </a:xfrm>
          <a:prstGeom prst="line">
            <a:avLst/>
          </a:prstGeom>
        </p:spPr>
        <p:style>
          <a:lnRef idx="3">
            <a:schemeClr val="dk1"/>
          </a:lnRef>
          <a:fillRef idx="0">
            <a:schemeClr val="dk1"/>
          </a:fillRef>
          <a:effectRef idx="2">
            <a:schemeClr val="dk1"/>
          </a:effectRef>
          <a:fontRef idx="minor">
            <a:schemeClr val="tx1"/>
          </a:fontRef>
        </p:style>
      </p:cxnSp>
      <p:cxnSp>
        <p:nvCxnSpPr>
          <p:cNvPr id="81" name="直接连接符 80"/>
          <p:cNvCxnSpPr>
            <a:stCxn id="90" idx="6"/>
            <a:endCxn id="94" idx="1"/>
          </p:cNvCxnSpPr>
          <p:nvPr/>
        </p:nvCxnSpPr>
        <p:spPr>
          <a:xfrm>
            <a:off x="8812303" y="3728235"/>
            <a:ext cx="1814830" cy="91440"/>
          </a:xfrm>
          <a:prstGeom prst="line">
            <a:avLst/>
          </a:prstGeom>
        </p:spPr>
        <p:style>
          <a:lnRef idx="3">
            <a:schemeClr val="dk1"/>
          </a:lnRef>
          <a:fillRef idx="0">
            <a:schemeClr val="dk1"/>
          </a:fillRef>
          <a:effectRef idx="2">
            <a:schemeClr val="dk1"/>
          </a:effectRef>
          <a:fontRef idx="minor">
            <a:schemeClr val="tx1"/>
          </a:fontRef>
        </p:style>
      </p:cxnSp>
      <p:sp>
        <p:nvSpPr>
          <p:cNvPr id="82" name="文本框 102"/>
          <p:cNvSpPr txBox="1"/>
          <p:nvPr/>
        </p:nvSpPr>
        <p:spPr>
          <a:xfrm>
            <a:off x="6620918" y="39257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83" name="文本框 103"/>
          <p:cNvSpPr txBox="1"/>
          <p:nvPr/>
        </p:nvSpPr>
        <p:spPr>
          <a:xfrm>
            <a:off x="8448583" y="3267860"/>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B</a:t>
            </a:r>
          </a:p>
        </p:txBody>
      </p:sp>
      <p:sp>
        <p:nvSpPr>
          <p:cNvPr id="84" name="文本框 104"/>
          <p:cNvSpPr txBox="1"/>
          <p:nvPr/>
        </p:nvSpPr>
        <p:spPr>
          <a:xfrm>
            <a:off x="10746513" y="363044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85" name="文本框 105"/>
          <p:cNvSpPr txBox="1"/>
          <p:nvPr/>
        </p:nvSpPr>
        <p:spPr>
          <a:xfrm>
            <a:off x="8222388" y="404446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86" name="文本框 106"/>
          <p:cNvSpPr txBox="1"/>
          <p:nvPr/>
        </p:nvSpPr>
        <p:spPr>
          <a:xfrm>
            <a:off x="6402478" y="494489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87" name="文本框 107"/>
          <p:cNvSpPr txBox="1"/>
          <p:nvPr/>
        </p:nvSpPr>
        <p:spPr>
          <a:xfrm>
            <a:off x="9579383" y="37104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88" name="文本框 108"/>
          <p:cNvSpPr txBox="1"/>
          <p:nvPr/>
        </p:nvSpPr>
        <p:spPr>
          <a:xfrm>
            <a:off x="7549288" y="47880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89" name="文本框 109"/>
          <p:cNvSpPr txBox="1"/>
          <p:nvPr/>
        </p:nvSpPr>
        <p:spPr>
          <a:xfrm>
            <a:off x="8856118" y="54548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90" name="椭圆 89"/>
          <p:cNvSpPr/>
          <p:nvPr/>
        </p:nvSpPr>
        <p:spPr>
          <a:xfrm>
            <a:off x="8586878" y="363616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1" name="椭圆 90"/>
          <p:cNvSpPr/>
          <p:nvPr/>
        </p:nvSpPr>
        <p:spPr>
          <a:xfrm>
            <a:off x="8328433" y="43860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2" name="椭圆 91"/>
          <p:cNvSpPr/>
          <p:nvPr/>
        </p:nvSpPr>
        <p:spPr>
          <a:xfrm>
            <a:off x="6726963" y="492648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3" name="椭圆 92"/>
          <p:cNvSpPr/>
          <p:nvPr/>
        </p:nvSpPr>
        <p:spPr>
          <a:xfrm>
            <a:off x="9902598" y="47880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4" name="椭圆 93"/>
          <p:cNvSpPr/>
          <p:nvPr/>
        </p:nvSpPr>
        <p:spPr>
          <a:xfrm>
            <a:off x="10594113" y="379300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5" name="椭圆 94"/>
          <p:cNvSpPr/>
          <p:nvPr/>
        </p:nvSpPr>
        <p:spPr>
          <a:xfrm>
            <a:off x="9710193" y="40641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6" name="椭圆 95"/>
          <p:cNvSpPr/>
          <p:nvPr/>
        </p:nvSpPr>
        <p:spPr>
          <a:xfrm>
            <a:off x="10819538" y="447817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97" name="直接连接符 96"/>
          <p:cNvCxnSpPr>
            <a:stCxn id="77" idx="5"/>
            <a:endCxn id="91" idx="2"/>
          </p:cNvCxnSpPr>
          <p:nvPr/>
        </p:nvCxnSpPr>
        <p:spPr>
          <a:xfrm>
            <a:off x="7250838" y="4220995"/>
            <a:ext cx="1077595" cy="257175"/>
          </a:xfrm>
          <a:prstGeom prst="line">
            <a:avLst/>
          </a:prstGeom>
        </p:spPr>
        <p:style>
          <a:lnRef idx="3">
            <a:schemeClr val="dk1"/>
          </a:lnRef>
          <a:fillRef idx="0">
            <a:schemeClr val="dk1"/>
          </a:fillRef>
          <a:effectRef idx="2">
            <a:schemeClr val="dk1"/>
          </a:effectRef>
          <a:fontRef idx="minor">
            <a:schemeClr val="tx1"/>
          </a:fontRef>
        </p:style>
      </p:cxnSp>
      <p:sp>
        <p:nvSpPr>
          <p:cNvPr id="98" name="文本框 119"/>
          <p:cNvSpPr txBox="1"/>
          <p:nvPr/>
        </p:nvSpPr>
        <p:spPr>
          <a:xfrm>
            <a:off x="7058433" y="64739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K</a:t>
            </a:r>
          </a:p>
        </p:txBody>
      </p:sp>
      <p:sp>
        <p:nvSpPr>
          <p:cNvPr id="99" name="文本框 120"/>
          <p:cNvSpPr txBox="1"/>
          <p:nvPr/>
        </p:nvSpPr>
        <p:spPr>
          <a:xfrm>
            <a:off x="8325258" y="543194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L</a:t>
            </a:r>
          </a:p>
        </p:txBody>
      </p:sp>
      <p:sp>
        <p:nvSpPr>
          <p:cNvPr id="100" name="文本框 121"/>
          <p:cNvSpPr txBox="1"/>
          <p:nvPr/>
        </p:nvSpPr>
        <p:spPr>
          <a:xfrm>
            <a:off x="9465083" y="619711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M</a:t>
            </a:r>
          </a:p>
        </p:txBody>
      </p:sp>
      <p:sp>
        <p:nvSpPr>
          <p:cNvPr id="101" name="文本框 122"/>
          <p:cNvSpPr txBox="1"/>
          <p:nvPr/>
        </p:nvSpPr>
        <p:spPr>
          <a:xfrm>
            <a:off x="11363098" y="499506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N</a:t>
            </a:r>
          </a:p>
        </p:txBody>
      </p:sp>
      <p:sp>
        <p:nvSpPr>
          <p:cNvPr id="102" name="文本框 123"/>
          <p:cNvSpPr txBox="1"/>
          <p:nvPr/>
        </p:nvSpPr>
        <p:spPr>
          <a:xfrm>
            <a:off x="10889388" y="60136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O</a:t>
            </a:r>
          </a:p>
        </p:txBody>
      </p:sp>
      <p:sp>
        <p:nvSpPr>
          <p:cNvPr id="103" name="椭圆 102"/>
          <p:cNvSpPr/>
          <p:nvPr/>
        </p:nvSpPr>
        <p:spPr>
          <a:xfrm>
            <a:off x="7986803" y="49448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4" name="椭圆 103"/>
          <p:cNvSpPr/>
          <p:nvPr/>
        </p:nvSpPr>
        <p:spPr>
          <a:xfrm>
            <a:off x="8962163" y="52484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5" name="椭圆 104"/>
          <p:cNvSpPr/>
          <p:nvPr/>
        </p:nvSpPr>
        <p:spPr>
          <a:xfrm>
            <a:off x="8136028" y="58231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6" name="椭圆 105"/>
          <p:cNvSpPr/>
          <p:nvPr/>
        </p:nvSpPr>
        <p:spPr>
          <a:xfrm>
            <a:off x="9546363" y="60136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7" name="椭圆 106"/>
          <p:cNvSpPr/>
          <p:nvPr/>
        </p:nvSpPr>
        <p:spPr>
          <a:xfrm>
            <a:off x="10852558" y="578881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8" name="椭圆 107"/>
          <p:cNvSpPr/>
          <p:nvPr/>
        </p:nvSpPr>
        <p:spPr>
          <a:xfrm>
            <a:off x="11137673" y="52484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9" name="椭圆 108"/>
          <p:cNvSpPr/>
          <p:nvPr/>
        </p:nvSpPr>
        <p:spPr>
          <a:xfrm>
            <a:off x="7499758" y="626823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10" name="直接连接符 109"/>
          <p:cNvCxnSpPr>
            <a:stCxn id="92" idx="4"/>
            <a:endCxn id="109" idx="1"/>
          </p:cNvCxnSpPr>
          <p:nvPr/>
        </p:nvCxnSpPr>
        <p:spPr>
          <a:xfrm>
            <a:off x="6839993" y="5109995"/>
            <a:ext cx="692785" cy="1184910"/>
          </a:xfrm>
          <a:prstGeom prst="line">
            <a:avLst/>
          </a:prstGeom>
        </p:spPr>
        <p:style>
          <a:lnRef idx="3">
            <a:schemeClr val="dk1"/>
          </a:lnRef>
          <a:fillRef idx="0">
            <a:schemeClr val="dk1"/>
          </a:fillRef>
          <a:effectRef idx="2">
            <a:schemeClr val="dk1"/>
          </a:effectRef>
          <a:fontRef idx="minor">
            <a:schemeClr val="tx1"/>
          </a:fontRef>
        </p:style>
      </p:cxnSp>
      <p:cxnSp>
        <p:nvCxnSpPr>
          <p:cNvPr id="111" name="直接连接符 110"/>
          <p:cNvCxnSpPr>
            <a:stCxn id="91" idx="3"/>
            <a:endCxn id="103" idx="0"/>
          </p:cNvCxnSpPr>
          <p:nvPr/>
        </p:nvCxnSpPr>
        <p:spPr>
          <a:xfrm flipH="1">
            <a:off x="8099833" y="4542940"/>
            <a:ext cx="261620" cy="401955"/>
          </a:xfrm>
          <a:prstGeom prst="line">
            <a:avLst/>
          </a:prstGeom>
        </p:spPr>
        <p:style>
          <a:lnRef idx="3">
            <a:schemeClr val="dk1"/>
          </a:lnRef>
          <a:fillRef idx="0">
            <a:schemeClr val="dk1"/>
          </a:fillRef>
          <a:effectRef idx="2">
            <a:schemeClr val="dk1"/>
          </a:effectRef>
          <a:fontRef idx="minor">
            <a:schemeClr val="tx1"/>
          </a:fontRef>
        </p:style>
      </p:cxnSp>
      <p:cxnSp>
        <p:nvCxnSpPr>
          <p:cNvPr id="112" name="直接连接符 111"/>
          <p:cNvCxnSpPr>
            <a:stCxn id="109" idx="7"/>
            <a:endCxn id="105" idx="2"/>
          </p:cNvCxnSpPr>
          <p:nvPr/>
        </p:nvCxnSpPr>
        <p:spPr>
          <a:xfrm flipV="1">
            <a:off x="7692163" y="5915175"/>
            <a:ext cx="443865" cy="379730"/>
          </a:xfrm>
          <a:prstGeom prst="line">
            <a:avLst/>
          </a:prstGeom>
        </p:spPr>
        <p:style>
          <a:lnRef idx="3">
            <a:schemeClr val="dk1"/>
          </a:lnRef>
          <a:fillRef idx="0">
            <a:schemeClr val="dk1"/>
          </a:fillRef>
          <a:effectRef idx="2">
            <a:schemeClr val="dk1"/>
          </a:effectRef>
          <a:fontRef idx="minor">
            <a:schemeClr val="tx1"/>
          </a:fontRef>
        </p:style>
      </p:cxnSp>
      <p:cxnSp>
        <p:nvCxnSpPr>
          <p:cNvPr id="113" name="直接连接符 112"/>
          <p:cNvCxnSpPr>
            <a:stCxn id="91" idx="5"/>
            <a:endCxn id="104" idx="1"/>
          </p:cNvCxnSpPr>
          <p:nvPr/>
        </p:nvCxnSpPr>
        <p:spPr>
          <a:xfrm>
            <a:off x="8520838" y="4542940"/>
            <a:ext cx="474345" cy="732155"/>
          </a:xfrm>
          <a:prstGeom prst="line">
            <a:avLst/>
          </a:prstGeom>
        </p:spPr>
        <p:style>
          <a:lnRef idx="3">
            <a:schemeClr val="dk1"/>
          </a:lnRef>
          <a:fillRef idx="0">
            <a:schemeClr val="dk1"/>
          </a:fillRef>
          <a:effectRef idx="2">
            <a:schemeClr val="dk1"/>
          </a:effectRef>
          <a:fontRef idx="minor">
            <a:schemeClr val="tx1"/>
          </a:fontRef>
        </p:style>
      </p:cxnSp>
      <p:cxnSp>
        <p:nvCxnSpPr>
          <p:cNvPr id="114" name="直接连接符 113"/>
          <p:cNvCxnSpPr>
            <a:stCxn id="95" idx="6"/>
            <a:endCxn id="96" idx="1"/>
          </p:cNvCxnSpPr>
          <p:nvPr/>
        </p:nvCxnSpPr>
        <p:spPr>
          <a:xfrm>
            <a:off x="9935618" y="4156225"/>
            <a:ext cx="916940" cy="348615"/>
          </a:xfrm>
          <a:prstGeom prst="line">
            <a:avLst/>
          </a:prstGeom>
        </p:spPr>
        <p:style>
          <a:lnRef idx="3">
            <a:schemeClr val="dk1"/>
          </a:lnRef>
          <a:fillRef idx="0">
            <a:schemeClr val="dk1"/>
          </a:fillRef>
          <a:effectRef idx="2">
            <a:schemeClr val="dk1"/>
          </a:effectRef>
          <a:fontRef idx="minor">
            <a:schemeClr val="tx1"/>
          </a:fontRef>
        </p:style>
      </p:cxnSp>
      <p:cxnSp>
        <p:nvCxnSpPr>
          <p:cNvPr id="115" name="直接连接符 114"/>
          <p:cNvCxnSpPr>
            <a:stCxn id="94" idx="3"/>
          </p:cNvCxnSpPr>
          <p:nvPr/>
        </p:nvCxnSpPr>
        <p:spPr>
          <a:xfrm flipH="1">
            <a:off x="10095003" y="3949850"/>
            <a:ext cx="532130" cy="838200"/>
          </a:xfrm>
          <a:prstGeom prst="line">
            <a:avLst/>
          </a:prstGeom>
        </p:spPr>
        <p:style>
          <a:lnRef idx="3">
            <a:schemeClr val="dk1"/>
          </a:lnRef>
          <a:fillRef idx="0">
            <a:schemeClr val="dk1"/>
          </a:fillRef>
          <a:effectRef idx="2">
            <a:schemeClr val="dk1"/>
          </a:effectRef>
          <a:fontRef idx="minor">
            <a:schemeClr val="tx1"/>
          </a:fontRef>
        </p:style>
      </p:cxnSp>
      <p:cxnSp>
        <p:nvCxnSpPr>
          <p:cNvPr id="116" name="直接连接符 115"/>
          <p:cNvCxnSpPr>
            <a:stCxn id="106" idx="7"/>
            <a:endCxn id="108" idx="3"/>
          </p:cNvCxnSpPr>
          <p:nvPr/>
        </p:nvCxnSpPr>
        <p:spPr>
          <a:xfrm flipV="1">
            <a:off x="9738768" y="5405270"/>
            <a:ext cx="1431925" cy="635000"/>
          </a:xfrm>
          <a:prstGeom prst="line">
            <a:avLst/>
          </a:prstGeom>
        </p:spPr>
        <p:style>
          <a:lnRef idx="3">
            <a:schemeClr val="dk1"/>
          </a:lnRef>
          <a:fillRef idx="0">
            <a:schemeClr val="dk1"/>
          </a:fillRef>
          <a:effectRef idx="2">
            <a:schemeClr val="dk1"/>
          </a:effectRef>
          <a:fontRef idx="minor">
            <a:schemeClr val="tx1"/>
          </a:fontRef>
        </p:style>
      </p:cxnSp>
      <p:cxnSp>
        <p:nvCxnSpPr>
          <p:cNvPr id="117" name="直接连接符 116"/>
          <p:cNvCxnSpPr>
            <a:stCxn id="96" idx="5"/>
            <a:endCxn id="108" idx="0"/>
          </p:cNvCxnSpPr>
          <p:nvPr/>
        </p:nvCxnSpPr>
        <p:spPr>
          <a:xfrm>
            <a:off x="11011943" y="4635015"/>
            <a:ext cx="238760" cy="613410"/>
          </a:xfrm>
          <a:prstGeom prst="line">
            <a:avLst/>
          </a:prstGeom>
        </p:spPr>
        <p:style>
          <a:lnRef idx="3">
            <a:schemeClr val="dk1"/>
          </a:lnRef>
          <a:fillRef idx="0">
            <a:schemeClr val="dk1"/>
          </a:fillRef>
          <a:effectRef idx="2">
            <a:schemeClr val="dk1"/>
          </a:effectRef>
          <a:fontRef idx="minor">
            <a:schemeClr val="tx1"/>
          </a:fontRef>
        </p:style>
      </p:cxnSp>
      <p:cxnSp>
        <p:nvCxnSpPr>
          <p:cNvPr id="118" name="直接连接符 117"/>
          <p:cNvCxnSpPr>
            <a:stCxn id="108" idx="4"/>
            <a:endCxn id="107" idx="0"/>
          </p:cNvCxnSpPr>
          <p:nvPr/>
        </p:nvCxnSpPr>
        <p:spPr>
          <a:xfrm flipH="1">
            <a:off x="10965588" y="5431940"/>
            <a:ext cx="285115" cy="356870"/>
          </a:xfrm>
          <a:prstGeom prst="line">
            <a:avLst/>
          </a:prstGeom>
        </p:spPr>
        <p:style>
          <a:lnRef idx="3">
            <a:schemeClr val="dk1"/>
          </a:lnRef>
          <a:fillRef idx="0">
            <a:schemeClr val="dk1"/>
          </a:fillRef>
          <a:effectRef idx="2">
            <a:schemeClr val="dk1"/>
          </a:effectRef>
          <a:fontRef idx="minor">
            <a:schemeClr val="tx1"/>
          </a:fontRef>
        </p:style>
      </p:cxnSp>
      <p:sp>
        <p:nvSpPr>
          <p:cNvPr id="119" name="文本框 146"/>
          <p:cNvSpPr txBox="1"/>
          <p:nvPr/>
        </p:nvSpPr>
        <p:spPr>
          <a:xfrm>
            <a:off x="11157993" y="43276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J</a:t>
            </a:r>
          </a:p>
        </p:txBody>
      </p:sp>
      <p:sp>
        <p:nvSpPr>
          <p:cNvPr id="120" name="文本框 150"/>
          <p:cNvSpPr txBox="1"/>
          <p:nvPr/>
        </p:nvSpPr>
        <p:spPr>
          <a:xfrm>
            <a:off x="9894343" y="491060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I</a:t>
            </a:r>
          </a:p>
        </p:txBody>
      </p:sp>
      <p:sp>
        <p:nvSpPr>
          <p:cNvPr id="122"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5.2.1 </a:t>
            </a:r>
            <a:r>
              <a:rPr kumimoji="1" lang="zh-CN" altLang="en-US" dirty="0"/>
              <a:t>优化原则</a:t>
            </a:r>
          </a:p>
        </p:txBody>
      </p:sp>
      <p:sp>
        <p:nvSpPr>
          <p:cNvPr id="121" name="灯片编号占位符 3">
            <a:extLst>
              <a:ext uri="{FF2B5EF4-FFF2-40B4-BE49-F238E27FC236}">
                <a16:creationId xmlns:a16="http://schemas.microsoft.com/office/drawing/2014/main" id="{E564528D-F198-8441-BAE3-BEF2C239A24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29</a:t>
            </a:fld>
            <a:endParaRPr kumimoji="1" lang="zh-CN" altLang="en-US" dirty="0"/>
          </a:p>
        </p:txBody>
      </p:sp>
      <p:pic>
        <p:nvPicPr>
          <p:cNvPr id="123" name="Picture 28" descr="015">
            <a:extLst>
              <a:ext uri="{FF2B5EF4-FFF2-40B4-BE49-F238E27FC236}">
                <a16:creationId xmlns:a16="http://schemas.microsoft.com/office/drawing/2014/main" id="{880BC8FA-1F06-4315-8B4D-3894502B755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51188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checkerboard(across)">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最短路径算法</a:t>
            </a:r>
          </a:p>
        </p:txBody>
      </p:sp>
      <p:sp>
        <p:nvSpPr>
          <p:cNvPr id="3" name="内容占位符 2"/>
          <p:cNvSpPr>
            <a:spLocks noGrp="1"/>
          </p:cNvSpPr>
          <p:nvPr>
            <p:ph idx="1"/>
          </p:nvPr>
        </p:nvSpPr>
        <p:spPr>
          <a:xfrm>
            <a:off x="838200" y="1376625"/>
            <a:ext cx="10515600" cy="5215094"/>
          </a:xfrm>
        </p:spPr>
        <p:txBody>
          <a:bodyPr>
            <a:normAutofit/>
          </a:bodyPr>
          <a:lstStyle/>
          <a:p>
            <a:pPr fontAlgn="base">
              <a:lnSpc>
                <a:spcPct val="120000"/>
              </a:lnSpc>
            </a:pPr>
            <a:r>
              <a:rPr lang="zh-CN" altLang="en-US" dirty="0"/>
              <a:t>定义</a:t>
            </a:r>
          </a:p>
          <a:p>
            <a:pPr lvl="1" fontAlgn="base">
              <a:lnSpc>
                <a:spcPct val="120000"/>
              </a:lnSpc>
            </a:pPr>
            <a:r>
              <a:rPr lang="en-US" altLang="zh-CN" dirty="0"/>
              <a:t>用于计算一个节点到其他所有节点的最短路径</a:t>
            </a:r>
            <a:r>
              <a:rPr lang="zh-CN" altLang="en-US" dirty="0"/>
              <a:t>，</a:t>
            </a:r>
            <a:r>
              <a:rPr lang="en-US" altLang="zh-CN" dirty="0" err="1"/>
              <a:t>主要特点是以起始点为中心向外</a:t>
            </a:r>
            <a:r>
              <a:rPr lang="zh-CN" altLang="en-US" dirty="0"/>
              <a:t>逐</a:t>
            </a:r>
            <a:r>
              <a:rPr lang="en-US" altLang="zh-CN" dirty="0" err="1"/>
              <a:t>层扩展，直到扩展到终点为止</a:t>
            </a:r>
            <a:endParaRPr lang="en-US" altLang="zh-CN" dirty="0"/>
          </a:p>
          <a:p>
            <a:pPr fontAlgn="base">
              <a:lnSpc>
                <a:spcPct val="120000"/>
              </a:lnSpc>
            </a:pPr>
            <a:r>
              <a:rPr lang="zh-CN" altLang="en-US" dirty="0"/>
              <a:t>Dijkstra算法思想</a:t>
            </a:r>
            <a:endParaRPr lang="en-US" altLang="zh-CN" dirty="0"/>
          </a:p>
          <a:p>
            <a:pPr lvl="1" fontAlgn="base">
              <a:lnSpc>
                <a:spcPct val="120000"/>
              </a:lnSpc>
            </a:pPr>
            <a:r>
              <a:rPr lang="zh-CN" altLang="en-US" dirty="0"/>
              <a:t>建立网络图</a:t>
            </a:r>
            <a:endParaRPr lang="en-US" altLang="zh-CN" dirty="0"/>
          </a:p>
          <a:p>
            <a:pPr lvl="2" fontAlgn="base">
              <a:lnSpc>
                <a:spcPct val="120000"/>
              </a:lnSpc>
            </a:pPr>
            <a:r>
              <a:rPr lang="zh-CN" altLang="en-US" dirty="0"/>
              <a:t>节点表示路由器</a:t>
            </a:r>
            <a:endParaRPr lang="en-US" altLang="zh-CN" dirty="0"/>
          </a:p>
          <a:p>
            <a:pPr lvl="2" fontAlgn="base">
              <a:lnSpc>
                <a:spcPct val="120000"/>
              </a:lnSpc>
            </a:pPr>
            <a:r>
              <a:rPr lang="zh-CN" altLang="en-US" dirty="0"/>
              <a:t>边表示通信线路</a:t>
            </a:r>
            <a:r>
              <a:rPr lang="en-US" altLang="zh-CN" dirty="0"/>
              <a:t>/</a:t>
            </a:r>
            <a:r>
              <a:rPr lang="zh-CN" altLang="en-US" dirty="0"/>
              <a:t>链路</a:t>
            </a:r>
            <a:endParaRPr lang="en-US" altLang="zh-CN" dirty="0"/>
          </a:p>
          <a:p>
            <a:pPr lvl="2" fontAlgn="base">
              <a:lnSpc>
                <a:spcPct val="120000"/>
              </a:lnSpc>
            </a:pPr>
            <a:r>
              <a:rPr lang="zh-CN" altLang="en-US" dirty="0"/>
              <a:t>链路代价表示链路上的距离、信道宽度或通信开销等参数</a:t>
            </a:r>
          </a:p>
          <a:p>
            <a:pPr lvl="1" fontAlgn="base">
              <a:lnSpc>
                <a:spcPct val="120000"/>
              </a:lnSpc>
            </a:pPr>
            <a:r>
              <a:rPr lang="zh-CN" altLang="en-US" dirty="0">
                <a:effectLst/>
              </a:rPr>
              <a:t>根据算法在网络图上为</a:t>
            </a:r>
            <a:r>
              <a:rPr lang="zh-CN" altLang="en-US" dirty="0"/>
              <a:t>某一对路由器找之间</a:t>
            </a:r>
            <a:r>
              <a:rPr lang="zh-CN" altLang="en-US" dirty="0">
                <a:effectLst/>
              </a:rPr>
              <a:t>的最短路径</a:t>
            </a:r>
          </a:p>
          <a:p>
            <a:pPr>
              <a:lnSpc>
                <a:spcPct val="120000"/>
              </a:lnSpc>
            </a:pPr>
            <a:endParaRPr kumimoji="1"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30</a:t>
            </a:fld>
            <a:endParaRPr kumimoji="1" lang="zh-CN" altLang="en-US" dirty="0"/>
          </a:p>
        </p:txBody>
      </p:sp>
      <p:sp>
        <p:nvSpPr>
          <p:cNvPr id="6"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5.2.2 </a:t>
            </a:r>
            <a:r>
              <a:rPr kumimoji="1" lang="zh-CN" altLang="en-US" dirty="0"/>
              <a:t>最短路径算法</a:t>
            </a:r>
          </a:p>
        </p:txBody>
      </p:sp>
      <p:pic>
        <p:nvPicPr>
          <p:cNvPr id="7" name="Picture 28" descr="015">
            <a:extLst>
              <a:ext uri="{FF2B5EF4-FFF2-40B4-BE49-F238E27FC236}">
                <a16:creationId xmlns:a16="http://schemas.microsoft.com/office/drawing/2014/main" id="{171CDD76-CAA4-4DA1-859E-26E2E3517FF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2136975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最短路径算法</a:t>
            </a:r>
          </a:p>
        </p:txBody>
      </p:sp>
      <p:sp>
        <p:nvSpPr>
          <p:cNvPr id="3" name="内容占位符 2"/>
          <p:cNvSpPr>
            <a:spLocks noGrp="1"/>
          </p:cNvSpPr>
          <p:nvPr>
            <p:ph idx="1"/>
          </p:nvPr>
        </p:nvSpPr>
        <p:spPr>
          <a:xfrm>
            <a:off x="838200" y="1376625"/>
            <a:ext cx="10515600" cy="5215094"/>
          </a:xfrm>
        </p:spPr>
        <p:txBody>
          <a:bodyPr>
            <a:normAutofit/>
          </a:bodyPr>
          <a:lstStyle/>
          <a:p>
            <a:pPr fontAlgn="base">
              <a:lnSpc>
                <a:spcPct val="120000"/>
              </a:lnSpc>
            </a:pPr>
            <a:r>
              <a:rPr lang="zh-CN" altLang="en-US" dirty="0"/>
              <a:t>具体例子（</a:t>
            </a:r>
            <a:r>
              <a:rPr lang="en-US" altLang="zh-CN" dirty="0"/>
              <a:t>A</a:t>
            </a:r>
            <a:r>
              <a:rPr lang="zh-CN" altLang="en-US" dirty="0"/>
              <a:t>到</a:t>
            </a:r>
            <a:r>
              <a:rPr lang="en-US" altLang="zh-CN" dirty="0"/>
              <a:t>D</a:t>
            </a:r>
            <a:r>
              <a:rPr lang="zh-CN" altLang="en-US" dirty="0"/>
              <a:t>的最短路径过程）</a:t>
            </a:r>
          </a:p>
          <a:p>
            <a:pPr marL="0" indent="0">
              <a:lnSpc>
                <a:spcPct val="120000"/>
              </a:lnSpc>
              <a:buNone/>
            </a:pPr>
            <a:endParaRPr kumimoji="1" lang="zh-CN" altLang="en-US" dirty="0"/>
          </a:p>
          <a:p>
            <a:pPr lvl="1" algn="l">
              <a:lnSpc>
                <a:spcPct val="120000"/>
              </a:lnSpc>
              <a:buClrTx/>
              <a:buSzTx/>
              <a:buFont typeface="Arial" panose="020B0604020202020204" pitchFamily="34" charset="0"/>
            </a:pPr>
            <a:endParaRPr kumimoji="1"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31</a:t>
            </a:fld>
            <a:endParaRPr kumimoji="1" lang="zh-CN" altLang="en-US" dirty="0"/>
          </a:p>
        </p:txBody>
      </p:sp>
      <p:sp>
        <p:nvSpPr>
          <p:cNvPr id="5" name="椭圆 4"/>
          <p:cNvSpPr/>
          <p:nvPr/>
        </p:nvSpPr>
        <p:spPr>
          <a:xfrm>
            <a:off x="1181100" y="290449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6" name="椭圆 5"/>
          <p:cNvSpPr/>
          <p:nvPr/>
        </p:nvSpPr>
        <p:spPr>
          <a:xfrm>
            <a:off x="1773555" y="232791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7" name="椭圆 6"/>
          <p:cNvSpPr/>
          <p:nvPr/>
        </p:nvSpPr>
        <p:spPr>
          <a:xfrm>
            <a:off x="1773555" y="347408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8" name="椭圆 7"/>
          <p:cNvSpPr/>
          <p:nvPr/>
        </p:nvSpPr>
        <p:spPr>
          <a:xfrm>
            <a:off x="2353310" y="290449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 name="椭圆 8"/>
          <p:cNvSpPr/>
          <p:nvPr/>
        </p:nvSpPr>
        <p:spPr>
          <a:xfrm>
            <a:off x="3659505" y="290449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 name="椭圆 17"/>
          <p:cNvSpPr/>
          <p:nvPr/>
        </p:nvSpPr>
        <p:spPr>
          <a:xfrm>
            <a:off x="4369435" y="232791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9" name="椭圆 18"/>
          <p:cNvSpPr/>
          <p:nvPr/>
        </p:nvSpPr>
        <p:spPr>
          <a:xfrm>
            <a:off x="4356735" y="347408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0" name="椭圆 19"/>
          <p:cNvSpPr/>
          <p:nvPr/>
        </p:nvSpPr>
        <p:spPr>
          <a:xfrm>
            <a:off x="4935220" y="292100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21" name="直接连接符 20"/>
          <p:cNvCxnSpPr>
            <a:stCxn id="5" idx="7"/>
            <a:endCxn id="6" idx="3"/>
          </p:cNvCxnSpPr>
          <p:nvPr/>
        </p:nvCxnSpPr>
        <p:spPr>
          <a:xfrm flipV="1">
            <a:off x="1373505" y="2498725"/>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22" name="直接连接符 21"/>
          <p:cNvCxnSpPr>
            <a:stCxn id="5" idx="5"/>
            <a:endCxn id="7" idx="1"/>
          </p:cNvCxnSpPr>
          <p:nvPr/>
        </p:nvCxnSpPr>
        <p:spPr>
          <a:xfrm>
            <a:off x="1373505" y="3075305"/>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32" name="直接连接符 31"/>
          <p:cNvCxnSpPr>
            <a:stCxn id="6" idx="5"/>
            <a:endCxn id="8" idx="1"/>
          </p:cNvCxnSpPr>
          <p:nvPr/>
        </p:nvCxnSpPr>
        <p:spPr>
          <a:xfrm>
            <a:off x="1965960" y="2498725"/>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59" name="直接连接符 58"/>
          <p:cNvCxnSpPr>
            <a:stCxn id="8" idx="3"/>
            <a:endCxn id="7" idx="7"/>
          </p:cNvCxnSpPr>
          <p:nvPr/>
        </p:nvCxnSpPr>
        <p:spPr>
          <a:xfrm flipH="1">
            <a:off x="1965960" y="3075305"/>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61" name="直接连接符 60"/>
          <p:cNvCxnSpPr>
            <a:stCxn id="8" idx="6"/>
            <a:endCxn id="9" idx="2"/>
          </p:cNvCxnSpPr>
          <p:nvPr/>
        </p:nvCxnSpPr>
        <p:spPr>
          <a:xfrm>
            <a:off x="2578735" y="3010535"/>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68" name="直接连接符 67"/>
          <p:cNvCxnSpPr>
            <a:stCxn id="18" idx="5"/>
          </p:cNvCxnSpPr>
          <p:nvPr/>
        </p:nvCxnSpPr>
        <p:spPr>
          <a:xfrm>
            <a:off x="4561840" y="2498725"/>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79" name="直接连接符 78"/>
          <p:cNvCxnSpPr>
            <a:stCxn id="18" idx="3"/>
            <a:endCxn id="9" idx="7"/>
          </p:cNvCxnSpPr>
          <p:nvPr/>
        </p:nvCxnSpPr>
        <p:spPr>
          <a:xfrm flipH="1">
            <a:off x="3851910" y="2498725"/>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86" name="直接连接符 85"/>
          <p:cNvCxnSpPr>
            <a:stCxn id="20" idx="4"/>
            <a:endCxn id="19" idx="6"/>
          </p:cNvCxnSpPr>
          <p:nvPr/>
        </p:nvCxnSpPr>
        <p:spPr>
          <a:xfrm flipH="1">
            <a:off x="4582160" y="3118485"/>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87" name="直接连接符 86"/>
          <p:cNvCxnSpPr>
            <a:stCxn id="9" idx="5"/>
            <a:endCxn id="19" idx="1"/>
          </p:cNvCxnSpPr>
          <p:nvPr/>
        </p:nvCxnSpPr>
        <p:spPr>
          <a:xfrm>
            <a:off x="3851910" y="3075305"/>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88" name="直接连接符 87"/>
          <p:cNvCxnSpPr/>
          <p:nvPr/>
        </p:nvCxnSpPr>
        <p:spPr>
          <a:xfrm>
            <a:off x="1998980" y="2386330"/>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89" name="直接连接符 88"/>
          <p:cNvCxnSpPr>
            <a:endCxn id="19" idx="2"/>
          </p:cNvCxnSpPr>
          <p:nvPr/>
        </p:nvCxnSpPr>
        <p:spPr>
          <a:xfrm flipV="1">
            <a:off x="2023745" y="3580130"/>
            <a:ext cx="2332990" cy="0"/>
          </a:xfrm>
          <a:prstGeom prst="line">
            <a:avLst/>
          </a:prstGeom>
        </p:spPr>
        <p:style>
          <a:lnRef idx="3">
            <a:schemeClr val="dk1"/>
          </a:lnRef>
          <a:fillRef idx="0">
            <a:schemeClr val="dk1"/>
          </a:fillRef>
          <a:effectRef idx="2">
            <a:schemeClr val="dk1"/>
          </a:effectRef>
          <a:fontRef idx="minor">
            <a:schemeClr val="tx1"/>
          </a:fontRef>
        </p:style>
      </p:cxnSp>
      <p:sp>
        <p:nvSpPr>
          <p:cNvPr id="90" name="文本框 89"/>
          <p:cNvSpPr txBox="1"/>
          <p:nvPr/>
        </p:nvSpPr>
        <p:spPr>
          <a:xfrm>
            <a:off x="743585" y="276606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91" name="文本框 90"/>
          <p:cNvSpPr txBox="1"/>
          <p:nvPr/>
        </p:nvSpPr>
        <p:spPr>
          <a:xfrm>
            <a:off x="1628140" y="18510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92" name="文本框 91"/>
          <p:cNvSpPr txBox="1"/>
          <p:nvPr/>
        </p:nvSpPr>
        <p:spPr>
          <a:xfrm>
            <a:off x="4250690" y="186753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93" name="文本框 92"/>
          <p:cNvSpPr txBox="1"/>
          <p:nvPr/>
        </p:nvSpPr>
        <p:spPr>
          <a:xfrm>
            <a:off x="5146040" y="27971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94" name="文本框 93"/>
          <p:cNvSpPr txBox="1"/>
          <p:nvPr/>
        </p:nvSpPr>
        <p:spPr>
          <a:xfrm>
            <a:off x="3351530" y="253619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95" name="文本框 94"/>
          <p:cNvSpPr txBox="1"/>
          <p:nvPr/>
        </p:nvSpPr>
        <p:spPr>
          <a:xfrm>
            <a:off x="2353310" y="252793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96" name="文本框 95"/>
          <p:cNvSpPr txBox="1"/>
          <p:nvPr/>
        </p:nvSpPr>
        <p:spPr>
          <a:xfrm>
            <a:off x="1671955" y="362839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97" name="文本框 96"/>
          <p:cNvSpPr txBox="1"/>
          <p:nvPr/>
        </p:nvSpPr>
        <p:spPr>
          <a:xfrm>
            <a:off x="4389755" y="36576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98" name="文本框 97"/>
          <p:cNvSpPr txBox="1"/>
          <p:nvPr/>
        </p:nvSpPr>
        <p:spPr>
          <a:xfrm>
            <a:off x="1181100" y="238633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99" name="文本框 98"/>
          <p:cNvSpPr txBox="1"/>
          <p:nvPr/>
        </p:nvSpPr>
        <p:spPr>
          <a:xfrm>
            <a:off x="1181100" y="334073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6</a:t>
            </a:r>
          </a:p>
        </p:txBody>
      </p:sp>
      <p:sp>
        <p:nvSpPr>
          <p:cNvPr id="100" name="文本框 99"/>
          <p:cNvSpPr txBox="1"/>
          <p:nvPr/>
        </p:nvSpPr>
        <p:spPr>
          <a:xfrm>
            <a:off x="2914015" y="186753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7</a:t>
            </a:r>
          </a:p>
        </p:txBody>
      </p:sp>
      <p:sp>
        <p:nvSpPr>
          <p:cNvPr id="101" name="文本框 100"/>
          <p:cNvSpPr txBox="1"/>
          <p:nvPr/>
        </p:nvSpPr>
        <p:spPr>
          <a:xfrm>
            <a:off x="2900045" y="266573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2" name="文本框 101"/>
          <p:cNvSpPr txBox="1"/>
          <p:nvPr/>
        </p:nvSpPr>
        <p:spPr>
          <a:xfrm>
            <a:off x="2900045" y="365760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4</a:t>
            </a:r>
          </a:p>
        </p:txBody>
      </p:sp>
      <p:sp>
        <p:nvSpPr>
          <p:cNvPr id="103" name="文本框 102"/>
          <p:cNvSpPr txBox="1"/>
          <p:nvPr/>
        </p:nvSpPr>
        <p:spPr>
          <a:xfrm>
            <a:off x="4750435" y="318389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4" name="文本框 103"/>
          <p:cNvSpPr txBox="1"/>
          <p:nvPr/>
        </p:nvSpPr>
        <p:spPr>
          <a:xfrm>
            <a:off x="4723130" y="238633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3</a:t>
            </a:r>
          </a:p>
        </p:txBody>
      </p:sp>
      <p:sp>
        <p:nvSpPr>
          <p:cNvPr id="105" name="文本框 104"/>
          <p:cNvSpPr txBox="1"/>
          <p:nvPr/>
        </p:nvSpPr>
        <p:spPr>
          <a:xfrm>
            <a:off x="3858895" y="235648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3</a:t>
            </a:r>
          </a:p>
        </p:txBody>
      </p:sp>
      <p:sp>
        <p:nvSpPr>
          <p:cNvPr id="106" name="文本框 105"/>
          <p:cNvSpPr txBox="1"/>
          <p:nvPr/>
        </p:nvSpPr>
        <p:spPr>
          <a:xfrm>
            <a:off x="3789045" y="312610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7" name="文本框 106"/>
          <p:cNvSpPr txBox="1"/>
          <p:nvPr/>
        </p:nvSpPr>
        <p:spPr>
          <a:xfrm>
            <a:off x="1862455" y="255651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8" name="文本框 107"/>
          <p:cNvSpPr txBox="1"/>
          <p:nvPr/>
        </p:nvSpPr>
        <p:spPr>
          <a:xfrm>
            <a:off x="1862455" y="301688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1</a:t>
            </a:r>
          </a:p>
        </p:txBody>
      </p:sp>
      <p:sp>
        <p:nvSpPr>
          <p:cNvPr id="109" name="椭圆 108"/>
          <p:cNvSpPr/>
          <p:nvPr/>
        </p:nvSpPr>
        <p:spPr>
          <a:xfrm>
            <a:off x="6518910" y="288544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0" name="椭圆 109"/>
          <p:cNvSpPr/>
          <p:nvPr/>
        </p:nvSpPr>
        <p:spPr>
          <a:xfrm>
            <a:off x="7111365" y="230886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1" name="椭圆 110"/>
          <p:cNvSpPr/>
          <p:nvPr/>
        </p:nvSpPr>
        <p:spPr>
          <a:xfrm>
            <a:off x="7111365" y="345503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2" name="椭圆 111"/>
          <p:cNvSpPr/>
          <p:nvPr/>
        </p:nvSpPr>
        <p:spPr>
          <a:xfrm>
            <a:off x="7691120" y="288544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3" name="椭圆 112"/>
          <p:cNvSpPr/>
          <p:nvPr/>
        </p:nvSpPr>
        <p:spPr>
          <a:xfrm>
            <a:off x="8997315" y="288544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4" name="椭圆 113"/>
          <p:cNvSpPr/>
          <p:nvPr/>
        </p:nvSpPr>
        <p:spPr>
          <a:xfrm>
            <a:off x="9707245" y="230886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5" name="椭圆 114"/>
          <p:cNvSpPr/>
          <p:nvPr/>
        </p:nvSpPr>
        <p:spPr>
          <a:xfrm>
            <a:off x="9694545" y="345503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6" name="椭圆 115"/>
          <p:cNvSpPr/>
          <p:nvPr/>
        </p:nvSpPr>
        <p:spPr>
          <a:xfrm>
            <a:off x="10273030" y="290195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17" name="直接连接符 116"/>
          <p:cNvCxnSpPr>
            <a:stCxn id="109" idx="7"/>
            <a:endCxn id="110" idx="3"/>
          </p:cNvCxnSpPr>
          <p:nvPr/>
        </p:nvCxnSpPr>
        <p:spPr>
          <a:xfrm flipV="1">
            <a:off x="6711315" y="2479675"/>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118" name="直接连接符 117"/>
          <p:cNvCxnSpPr>
            <a:stCxn id="109" idx="5"/>
            <a:endCxn id="111" idx="1"/>
          </p:cNvCxnSpPr>
          <p:nvPr/>
        </p:nvCxnSpPr>
        <p:spPr>
          <a:xfrm>
            <a:off x="6711315" y="3056255"/>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119" name="直接连接符 118"/>
          <p:cNvCxnSpPr>
            <a:stCxn id="110" idx="5"/>
            <a:endCxn id="112" idx="1"/>
          </p:cNvCxnSpPr>
          <p:nvPr/>
        </p:nvCxnSpPr>
        <p:spPr>
          <a:xfrm>
            <a:off x="7303770" y="2479675"/>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120" name="直接连接符 119"/>
          <p:cNvCxnSpPr>
            <a:stCxn id="112" idx="3"/>
            <a:endCxn id="111" idx="7"/>
          </p:cNvCxnSpPr>
          <p:nvPr/>
        </p:nvCxnSpPr>
        <p:spPr>
          <a:xfrm flipH="1">
            <a:off x="7303770" y="3056255"/>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121" name="直接连接符 120"/>
          <p:cNvCxnSpPr>
            <a:stCxn id="112" idx="6"/>
            <a:endCxn id="113" idx="2"/>
          </p:cNvCxnSpPr>
          <p:nvPr/>
        </p:nvCxnSpPr>
        <p:spPr>
          <a:xfrm>
            <a:off x="7916545" y="2991485"/>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122" name="直接连接符 121"/>
          <p:cNvCxnSpPr>
            <a:stCxn id="114" idx="5"/>
          </p:cNvCxnSpPr>
          <p:nvPr/>
        </p:nvCxnSpPr>
        <p:spPr>
          <a:xfrm>
            <a:off x="9899650" y="2479675"/>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123" name="直接连接符 122"/>
          <p:cNvCxnSpPr>
            <a:stCxn id="114" idx="3"/>
            <a:endCxn id="113" idx="7"/>
          </p:cNvCxnSpPr>
          <p:nvPr/>
        </p:nvCxnSpPr>
        <p:spPr>
          <a:xfrm flipH="1">
            <a:off x="9189720" y="2479675"/>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124" name="直接连接符 123"/>
          <p:cNvCxnSpPr>
            <a:stCxn id="116" idx="4"/>
            <a:endCxn id="115" idx="6"/>
          </p:cNvCxnSpPr>
          <p:nvPr/>
        </p:nvCxnSpPr>
        <p:spPr>
          <a:xfrm flipH="1">
            <a:off x="9919970" y="3099435"/>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125" name="直接连接符 124"/>
          <p:cNvCxnSpPr>
            <a:stCxn id="113" idx="5"/>
            <a:endCxn id="115" idx="1"/>
          </p:cNvCxnSpPr>
          <p:nvPr/>
        </p:nvCxnSpPr>
        <p:spPr>
          <a:xfrm>
            <a:off x="9189720" y="3056255"/>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126" name="直接连接符 125"/>
          <p:cNvCxnSpPr/>
          <p:nvPr/>
        </p:nvCxnSpPr>
        <p:spPr>
          <a:xfrm>
            <a:off x="7336790" y="2367280"/>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127" name="直接连接符 126"/>
          <p:cNvCxnSpPr>
            <a:endCxn id="115" idx="2"/>
          </p:cNvCxnSpPr>
          <p:nvPr/>
        </p:nvCxnSpPr>
        <p:spPr>
          <a:xfrm flipV="1">
            <a:off x="7361555" y="3561080"/>
            <a:ext cx="2332990" cy="0"/>
          </a:xfrm>
          <a:prstGeom prst="line">
            <a:avLst/>
          </a:prstGeom>
        </p:spPr>
        <p:style>
          <a:lnRef idx="3">
            <a:schemeClr val="dk1"/>
          </a:lnRef>
          <a:fillRef idx="0">
            <a:schemeClr val="dk1"/>
          </a:fillRef>
          <a:effectRef idx="2">
            <a:schemeClr val="dk1"/>
          </a:effectRef>
          <a:fontRef idx="minor">
            <a:schemeClr val="tx1"/>
          </a:fontRef>
        </p:style>
      </p:cxnSp>
      <p:sp>
        <p:nvSpPr>
          <p:cNvPr id="128" name="文本框 127"/>
          <p:cNvSpPr txBox="1"/>
          <p:nvPr/>
        </p:nvSpPr>
        <p:spPr>
          <a:xfrm>
            <a:off x="6081395" y="274701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129" name="文本框 128"/>
          <p:cNvSpPr txBox="1"/>
          <p:nvPr/>
        </p:nvSpPr>
        <p:spPr>
          <a:xfrm>
            <a:off x="6979920" y="185293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130" name="文本框 129"/>
          <p:cNvSpPr txBox="1"/>
          <p:nvPr/>
        </p:nvSpPr>
        <p:spPr>
          <a:xfrm>
            <a:off x="9588500" y="184848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131" name="文本框 130"/>
          <p:cNvSpPr txBox="1"/>
          <p:nvPr/>
        </p:nvSpPr>
        <p:spPr>
          <a:xfrm>
            <a:off x="10581640" y="27781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132" name="文本框 131"/>
          <p:cNvSpPr txBox="1"/>
          <p:nvPr/>
        </p:nvSpPr>
        <p:spPr>
          <a:xfrm>
            <a:off x="9225915" y="272351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133" name="文本框 132"/>
          <p:cNvSpPr txBox="1"/>
          <p:nvPr/>
        </p:nvSpPr>
        <p:spPr>
          <a:xfrm>
            <a:off x="7551420" y="250888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134" name="文本框 133"/>
          <p:cNvSpPr txBox="1"/>
          <p:nvPr/>
        </p:nvSpPr>
        <p:spPr>
          <a:xfrm>
            <a:off x="7009765" y="360934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135" name="文本框 134"/>
          <p:cNvSpPr txBox="1"/>
          <p:nvPr/>
        </p:nvSpPr>
        <p:spPr>
          <a:xfrm>
            <a:off x="9727565" y="36385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136" name="文本框 135"/>
          <p:cNvSpPr txBox="1"/>
          <p:nvPr/>
        </p:nvSpPr>
        <p:spPr>
          <a:xfrm>
            <a:off x="7192010" y="183451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2,A</a:t>
            </a:r>
            <a:r>
              <a:rPr lang="en-US" altLang="zh-CN" sz="2400" b="1">
                <a:latin typeface="微软雅黑" panose="020B0503020204020204" pitchFamily="34" charset="-122"/>
                <a:ea typeface="微软雅黑" panose="020B0503020204020204" pitchFamily="34" charset="-122"/>
              </a:rPr>
              <a:t>)</a:t>
            </a:r>
          </a:p>
        </p:txBody>
      </p:sp>
      <p:sp>
        <p:nvSpPr>
          <p:cNvPr id="137" name="文本框 136"/>
          <p:cNvSpPr txBox="1"/>
          <p:nvPr/>
        </p:nvSpPr>
        <p:spPr>
          <a:xfrm>
            <a:off x="9829800" y="185102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38" name="文本框 137"/>
          <p:cNvSpPr txBox="1"/>
          <p:nvPr/>
        </p:nvSpPr>
        <p:spPr>
          <a:xfrm>
            <a:off x="7277735" y="36004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6,A</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139" name="文本框 138"/>
          <p:cNvSpPr txBox="1"/>
          <p:nvPr/>
        </p:nvSpPr>
        <p:spPr>
          <a:xfrm>
            <a:off x="9973310" y="360934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40" name="文本框 139"/>
          <p:cNvSpPr txBox="1"/>
          <p:nvPr/>
        </p:nvSpPr>
        <p:spPr>
          <a:xfrm>
            <a:off x="10921365" y="276352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41" name="文本框 140"/>
          <p:cNvSpPr txBox="1"/>
          <p:nvPr/>
        </p:nvSpPr>
        <p:spPr>
          <a:xfrm>
            <a:off x="7724140" y="251714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42" name="文本框 141"/>
          <p:cNvSpPr txBox="1"/>
          <p:nvPr/>
        </p:nvSpPr>
        <p:spPr>
          <a:xfrm>
            <a:off x="9367520" y="272351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cxnSp>
        <p:nvCxnSpPr>
          <p:cNvPr id="143" name="直接箭头连接符 142"/>
          <p:cNvCxnSpPr/>
          <p:nvPr/>
        </p:nvCxnSpPr>
        <p:spPr>
          <a:xfrm flipV="1">
            <a:off x="6431915" y="2415540"/>
            <a:ext cx="490855" cy="8890"/>
          </a:xfrm>
          <a:prstGeom prst="straightConnector1">
            <a:avLst/>
          </a:prstGeom>
          <a:ln>
            <a:tailEnd type="arrow" w="med" len="med"/>
          </a:ln>
        </p:spPr>
        <p:style>
          <a:lnRef idx="3">
            <a:schemeClr val="dk1"/>
          </a:lnRef>
          <a:fillRef idx="0">
            <a:schemeClr val="dk1"/>
          </a:fillRef>
          <a:effectRef idx="2">
            <a:schemeClr val="dk1"/>
          </a:effectRef>
          <a:fontRef idx="minor">
            <a:schemeClr val="tx1"/>
          </a:fontRef>
        </p:style>
      </p:cxnSp>
      <p:sp>
        <p:nvSpPr>
          <p:cNvPr id="144" name="椭圆 143"/>
          <p:cNvSpPr/>
          <p:nvPr/>
        </p:nvSpPr>
        <p:spPr>
          <a:xfrm>
            <a:off x="7111365" y="231330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5" name="文本框 144"/>
          <p:cNvSpPr txBox="1"/>
          <p:nvPr/>
        </p:nvSpPr>
        <p:spPr>
          <a:xfrm>
            <a:off x="7194550" y="18351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2,A</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146" name="椭圆 145"/>
          <p:cNvSpPr/>
          <p:nvPr/>
        </p:nvSpPr>
        <p:spPr>
          <a:xfrm>
            <a:off x="1148080" y="522287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7" name="椭圆 146"/>
          <p:cNvSpPr/>
          <p:nvPr/>
        </p:nvSpPr>
        <p:spPr>
          <a:xfrm>
            <a:off x="1740535" y="464629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8" name="椭圆 147"/>
          <p:cNvSpPr/>
          <p:nvPr/>
        </p:nvSpPr>
        <p:spPr>
          <a:xfrm>
            <a:off x="1740535" y="579247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9" name="椭圆 148"/>
          <p:cNvSpPr/>
          <p:nvPr/>
        </p:nvSpPr>
        <p:spPr>
          <a:xfrm>
            <a:off x="2320290" y="52228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0" name="椭圆 149"/>
          <p:cNvSpPr/>
          <p:nvPr/>
        </p:nvSpPr>
        <p:spPr>
          <a:xfrm>
            <a:off x="3626485" y="52228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1" name="椭圆 150"/>
          <p:cNvSpPr/>
          <p:nvPr/>
        </p:nvSpPr>
        <p:spPr>
          <a:xfrm>
            <a:off x="4336415" y="464629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2" name="椭圆 151"/>
          <p:cNvSpPr/>
          <p:nvPr/>
        </p:nvSpPr>
        <p:spPr>
          <a:xfrm>
            <a:off x="4323715" y="579247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3" name="椭圆 152"/>
          <p:cNvSpPr/>
          <p:nvPr/>
        </p:nvSpPr>
        <p:spPr>
          <a:xfrm>
            <a:off x="4902200" y="523938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54" name="直接连接符 153"/>
          <p:cNvCxnSpPr>
            <a:stCxn id="146" idx="7"/>
            <a:endCxn id="147" idx="3"/>
          </p:cNvCxnSpPr>
          <p:nvPr/>
        </p:nvCxnSpPr>
        <p:spPr>
          <a:xfrm flipV="1">
            <a:off x="1340485" y="4789170"/>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155" name="直接连接符 154"/>
          <p:cNvCxnSpPr>
            <a:stCxn id="146" idx="5"/>
            <a:endCxn id="148" idx="1"/>
          </p:cNvCxnSpPr>
          <p:nvPr/>
        </p:nvCxnSpPr>
        <p:spPr>
          <a:xfrm>
            <a:off x="1340485" y="5365750"/>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156" name="直接连接符 155"/>
          <p:cNvCxnSpPr>
            <a:stCxn id="147" idx="5"/>
            <a:endCxn id="149" idx="1"/>
          </p:cNvCxnSpPr>
          <p:nvPr/>
        </p:nvCxnSpPr>
        <p:spPr>
          <a:xfrm>
            <a:off x="1932940" y="4789170"/>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157" name="直接连接符 156"/>
          <p:cNvCxnSpPr>
            <a:stCxn id="149" idx="3"/>
            <a:endCxn id="148" idx="7"/>
          </p:cNvCxnSpPr>
          <p:nvPr/>
        </p:nvCxnSpPr>
        <p:spPr>
          <a:xfrm flipH="1">
            <a:off x="1932940" y="5365750"/>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158" name="直接连接符 157"/>
          <p:cNvCxnSpPr>
            <a:stCxn id="149" idx="6"/>
            <a:endCxn id="150" idx="2"/>
          </p:cNvCxnSpPr>
          <p:nvPr/>
        </p:nvCxnSpPr>
        <p:spPr>
          <a:xfrm>
            <a:off x="2545715" y="5300980"/>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159" name="直接连接符 158"/>
          <p:cNvCxnSpPr>
            <a:stCxn id="151" idx="5"/>
          </p:cNvCxnSpPr>
          <p:nvPr/>
        </p:nvCxnSpPr>
        <p:spPr>
          <a:xfrm>
            <a:off x="4528820" y="4789170"/>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160" name="直接连接符 159"/>
          <p:cNvCxnSpPr>
            <a:stCxn id="151" idx="3"/>
            <a:endCxn id="150" idx="7"/>
          </p:cNvCxnSpPr>
          <p:nvPr/>
        </p:nvCxnSpPr>
        <p:spPr>
          <a:xfrm flipH="1">
            <a:off x="3818890" y="4789170"/>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161" name="直接连接符 160"/>
          <p:cNvCxnSpPr>
            <a:stCxn id="153" idx="4"/>
            <a:endCxn id="152" idx="6"/>
          </p:cNvCxnSpPr>
          <p:nvPr/>
        </p:nvCxnSpPr>
        <p:spPr>
          <a:xfrm flipH="1">
            <a:off x="4549140" y="5408930"/>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162" name="直接连接符 161"/>
          <p:cNvCxnSpPr>
            <a:stCxn id="150" idx="5"/>
            <a:endCxn id="152" idx="1"/>
          </p:cNvCxnSpPr>
          <p:nvPr/>
        </p:nvCxnSpPr>
        <p:spPr>
          <a:xfrm>
            <a:off x="3818890" y="5365750"/>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163" name="直接连接符 162"/>
          <p:cNvCxnSpPr/>
          <p:nvPr/>
        </p:nvCxnSpPr>
        <p:spPr>
          <a:xfrm>
            <a:off x="1965960" y="4704715"/>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164" name="直接连接符 163"/>
          <p:cNvCxnSpPr>
            <a:endCxn id="152" idx="2"/>
          </p:cNvCxnSpPr>
          <p:nvPr/>
        </p:nvCxnSpPr>
        <p:spPr>
          <a:xfrm flipV="1">
            <a:off x="1990725" y="5870575"/>
            <a:ext cx="2332990" cy="0"/>
          </a:xfrm>
          <a:prstGeom prst="line">
            <a:avLst/>
          </a:prstGeom>
        </p:spPr>
        <p:style>
          <a:lnRef idx="3">
            <a:schemeClr val="dk1"/>
          </a:lnRef>
          <a:fillRef idx="0">
            <a:schemeClr val="dk1"/>
          </a:fillRef>
          <a:effectRef idx="2">
            <a:schemeClr val="dk1"/>
          </a:effectRef>
          <a:fontRef idx="minor">
            <a:schemeClr val="tx1"/>
          </a:fontRef>
        </p:style>
      </p:cxnSp>
      <p:sp>
        <p:nvSpPr>
          <p:cNvPr id="165" name="文本框 164"/>
          <p:cNvSpPr txBox="1"/>
          <p:nvPr/>
        </p:nvSpPr>
        <p:spPr>
          <a:xfrm>
            <a:off x="710565" y="508444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166" name="文本框 165"/>
          <p:cNvSpPr txBox="1"/>
          <p:nvPr/>
        </p:nvSpPr>
        <p:spPr>
          <a:xfrm>
            <a:off x="1609090" y="419036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167" name="文本框 166"/>
          <p:cNvSpPr txBox="1"/>
          <p:nvPr/>
        </p:nvSpPr>
        <p:spPr>
          <a:xfrm>
            <a:off x="4217670" y="41859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168" name="文本框 167"/>
          <p:cNvSpPr txBox="1"/>
          <p:nvPr/>
        </p:nvSpPr>
        <p:spPr>
          <a:xfrm>
            <a:off x="5029200" y="511556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169" name="文本框 168"/>
          <p:cNvSpPr txBox="1"/>
          <p:nvPr/>
        </p:nvSpPr>
        <p:spPr>
          <a:xfrm>
            <a:off x="3855085" y="50609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170" name="文本框 169"/>
          <p:cNvSpPr txBox="1"/>
          <p:nvPr/>
        </p:nvSpPr>
        <p:spPr>
          <a:xfrm>
            <a:off x="2180590" y="48463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171" name="文本框 170"/>
          <p:cNvSpPr txBox="1"/>
          <p:nvPr/>
        </p:nvSpPr>
        <p:spPr>
          <a:xfrm>
            <a:off x="1638935" y="59467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172" name="文本框 171"/>
          <p:cNvSpPr txBox="1"/>
          <p:nvPr/>
        </p:nvSpPr>
        <p:spPr>
          <a:xfrm>
            <a:off x="4356735" y="597598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173" name="文本框 172"/>
          <p:cNvSpPr txBox="1"/>
          <p:nvPr/>
        </p:nvSpPr>
        <p:spPr>
          <a:xfrm>
            <a:off x="1821180" y="41719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2,A</a:t>
            </a:r>
            <a:r>
              <a:rPr lang="en-US" altLang="zh-CN" sz="2400" b="1">
                <a:latin typeface="微软雅黑" panose="020B0503020204020204" pitchFamily="34" charset="-122"/>
                <a:ea typeface="微软雅黑" panose="020B0503020204020204" pitchFamily="34" charset="-122"/>
              </a:rPr>
              <a:t>)</a:t>
            </a:r>
          </a:p>
        </p:txBody>
      </p:sp>
      <p:sp>
        <p:nvSpPr>
          <p:cNvPr id="174" name="文本框 173"/>
          <p:cNvSpPr txBox="1"/>
          <p:nvPr/>
        </p:nvSpPr>
        <p:spPr>
          <a:xfrm>
            <a:off x="4458970" y="418846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9,B</a:t>
            </a:r>
            <a:r>
              <a:rPr lang="en-US" altLang="zh-CN" sz="2400" b="1">
                <a:latin typeface="微软雅黑" panose="020B0503020204020204" pitchFamily="34" charset="-122"/>
                <a:ea typeface="微软雅黑" panose="020B0503020204020204" pitchFamily="34" charset="-122"/>
              </a:rPr>
              <a:t>)</a:t>
            </a:r>
          </a:p>
        </p:txBody>
      </p:sp>
      <p:sp>
        <p:nvSpPr>
          <p:cNvPr id="175" name="文本框 174"/>
          <p:cNvSpPr txBox="1"/>
          <p:nvPr/>
        </p:nvSpPr>
        <p:spPr>
          <a:xfrm>
            <a:off x="1906905" y="593788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(6</a:t>
            </a:r>
            <a:r>
              <a:rPr lang="en-US" altLang="zh-CN" sz="2400" b="1">
                <a:solidFill>
                  <a:schemeClr val="tx1"/>
                </a:solidFill>
                <a:latin typeface="微软雅黑" panose="020B0503020204020204" pitchFamily="34" charset="-122"/>
                <a:ea typeface="微软雅黑" panose="020B0503020204020204" pitchFamily="34" charset="-122"/>
              </a:rPr>
              <a:t>,A)</a:t>
            </a:r>
          </a:p>
        </p:txBody>
      </p:sp>
      <p:sp>
        <p:nvSpPr>
          <p:cNvPr id="176" name="文本框 175"/>
          <p:cNvSpPr txBox="1"/>
          <p:nvPr/>
        </p:nvSpPr>
        <p:spPr>
          <a:xfrm>
            <a:off x="4602480" y="594677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77" name="文本框 176"/>
          <p:cNvSpPr txBox="1"/>
          <p:nvPr/>
        </p:nvSpPr>
        <p:spPr>
          <a:xfrm>
            <a:off x="2353310" y="485457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4,B</a:t>
            </a:r>
            <a:r>
              <a:rPr lang="en-US" altLang="zh-CN" sz="2400" b="1">
                <a:latin typeface="微软雅黑" panose="020B0503020204020204" pitchFamily="34" charset="-122"/>
                <a:ea typeface="微软雅黑" panose="020B0503020204020204" pitchFamily="34" charset="-122"/>
              </a:rPr>
              <a:t>)</a:t>
            </a:r>
          </a:p>
        </p:txBody>
      </p:sp>
      <p:sp>
        <p:nvSpPr>
          <p:cNvPr id="178" name="文本框 177"/>
          <p:cNvSpPr txBox="1"/>
          <p:nvPr/>
        </p:nvSpPr>
        <p:spPr>
          <a:xfrm>
            <a:off x="3996690" y="50609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cxnSp>
        <p:nvCxnSpPr>
          <p:cNvPr id="179" name="直接箭头连接符 178"/>
          <p:cNvCxnSpPr/>
          <p:nvPr/>
        </p:nvCxnSpPr>
        <p:spPr>
          <a:xfrm flipV="1">
            <a:off x="1671955" y="5295265"/>
            <a:ext cx="490855" cy="8890"/>
          </a:xfrm>
          <a:prstGeom prst="straightConnector1">
            <a:avLst/>
          </a:prstGeom>
          <a:ln>
            <a:tailEnd type="arrow" w="med" len="med"/>
          </a:ln>
        </p:spPr>
        <p:style>
          <a:lnRef idx="3">
            <a:schemeClr val="dk1"/>
          </a:lnRef>
          <a:fillRef idx="0">
            <a:schemeClr val="dk1"/>
          </a:fillRef>
          <a:effectRef idx="2">
            <a:schemeClr val="dk1"/>
          </a:effectRef>
          <a:fontRef idx="minor">
            <a:schemeClr val="tx1"/>
          </a:fontRef>
        </p:style>
      </p:cxnSp>
      <p:sp>
        <p:nvSpPr>
          <p:cNvPr id="180" name="椭圆 179"/>
          <p:cNvSpPr/>
          <p:nvPr/>
        </p:nvSpPr>
        <p:spPr>
          <a:xfrm>
            <a:off x="2320290" y="522287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1" name="文本框 180"/>
          <p:cNvSpPr txBox="1"/>
          <p:nvPr/>
        </p:nvSpPr>
        <p:spPr>
          <a:xfrm>
            <a:off x="2361565" y="485457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4,B</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182" name="椭圆 181"/>
          <p:cNvSpPr/>
          <p:nvPr/>
        </p:nvSpPr>
        <p:spPr>
          <a:xfrm>
            <a:off x="1734185" y="465074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3" name="文本框 182"/>
          <p:cNvSpPr txBox="1"/>
          <p:nvPr/>
        </p:nvSpPr>
        <p:spPr>
          <a:xfrm>
            <a:off x="5271135" y="511556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84" name="椭圆 183"/>
          <p:cNvSpPr/>
          <p:nvPr/>
        </p:nvSpPr>
        <p:spPr>
          <a:xfrm>
            <a:off x="6586220" y="527558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5" name="椭圆 184"/>
          <p:cNvSpPr/>
          <p:nvPr/>
        </p:nvSpPr>
        <p:spPr>
          <a:xfrm>
            <a:off x="7178675" y="469900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6" name="椭圆 185"/>
          <p:cNvSpPr/>
          <p:nvPr/>
        </p:nvSpPr>
        <p:spPr>
          <a:xfrm>
            <a:off x="7178675" y="58451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7" name="椭圆 186"/>
          <p:cNvSpPr/>
          <p:nvPr/>
        </p:nvSpPr>
        <p:spPr>
          <a:xfrm>
            <a:off x="7758430" y="527558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8" name="椭圆 187"/>
          <p:cNvSpPr/>
          <p:nvPr/>
        </p:nvSpPr>
        <p:spPr>
          <a:xfrm>
            <a:off x="9064625" y="527558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9" name="椭圆 188"/>
          <p:cNvSpPr/>
          <p:nvPr/>
        </p:nvSpPr>
        <p:spPr>
          <a:xfrm>
            <a:off x="9774555" y="469900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90" name="椭圆 189"/>
          <p:cNvSpPr/>
          <p:nvPr/>
        </p:nvSpPr>
        <p:spPr>
          <a:xfrm>
            <a:off x="9761855" y="58451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91" name="椭圆 190"/>
          <p:cNvSpPr/>
          <p:nvPr/>
        </p:nvSpPr>
        <p:spPr>
          <a:xfrm>
            <a:off x="10340340" y="529209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92" name="直接连接符 191"/>
          <p:cNvCxnSpPr>
            <a:stCxn id="184" idx="7"/>
            <a:endCxn id="185" idx="3"/>
          </p:cNvCxnSpPr>
          <p:nvPr/>
        </p:nvCxnSpPr>
        <p:spPr>
          <a:xfrm flipV="1">
            <a:off x="6778625" y="4841875"/>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193" name="直接连接符 192"/>
          <p:cNvCxnSpPr>
            <a:stCxn id="184" idx="5"/>
            <a:endCxn id="186" idx="1"/>
          </p:cNvCxnSpPr>
          <p:nvPr/>
        </p:nvCxnSpPr>
        <p:spPr>
          <a:xfrm>
            <a:off x="6778625" y="5418455"/>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194" name="直接连接符 193"/>
          <p:cNvCxnSpPr>
            <a:stCxn id="185" idx="5"/>
            <a:endCxn id="187" idx="1"/>
          </p:cNvCxnSpPr>
          <p:nvPr/>
        </p:nvCxnSpPr>
        <p:spPr>
          <a:xfrm>
            <a:off x="7371080" y="4841875"/>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195" name="直接连接符 194"/>
          <p:cNvCxnSpPr>
            <a:stCxn id="187" idx="3"/>
            <a:endCxn id="186" idx="7"/>
          </p:cNvCxnSpPr>
          <p:nvPr/>
        </p:nvCxnSpPr>
        <p:spPr>
          <a:xfrm flipH="1">
            <a:off x="7371080" y="5418455"/>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196" name="直接连接符 195"/>
          <p:cNvCxnSpPr>
            <a:stCxn id="187" idx="6"/>
            <a:endCxn id="188" idx="2"/>
          </p:cNvCxnSpPr>
          <p:nvPr/>
        </p:nvCxnSpPr>
        <p:spPr>
          <a:xfrm>
            <a:off x="7983855" y="5353685"/>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197" name="直接连接符 196"/>
          <p:cNvCxnSpPr>
            <a:stCxn id="189" idx="5"/>
          </p:cNvCxnSpPr>
          <p:nvPr/>
        </p:nvCxnSpPr>
        <p:spPr>
          <a:xfrm>
            <a:off x="9966960" y="4841875"/>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198" name="直接连接符 197"/>
          <p:cNvCxnSpPr>
            <a:stCxn id="189" idx="3"/>
            <a:endCxn id="188" idx="7"/>
          </p:cNvCxnSpPr>
          <p:nvPr/>
        </p:nvCxnSpPr>
        <p:spPr>
          <a:xfrm flipH="1">
            <a:off x="9257030" y="4841875"/>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199" name="直接连接符 198"/>
          <p:cNvCxnSpPr>
            <a:stCxn id="191" idx="4"/>
            <a:endCxn id="190" idx="6"/>
          </p:cNvCxnSpPr>
          <p:nvPr/>
        </p:nvCxnSpPr>
        <p:spPr>
          <a:xfrm flipH="1">
            <a:off x="9987280" y="5461635"/>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200" name="直接连接符 199"/>
          <p:cNvCxnSpPr>
            <a:stCxn id="188" idx="5"/>
            <a:endCxn id="190" idx="1"/>
          </p:cNvCxnSpPr>
          <p:nvPr/>
        </p:nvCxnSpPr>
        <p:spPr>
          <a:xfrm>
            <a:off x="9257030" y="5418455"/>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201" name="直接连接符 200"/>
          <p:cNvCxnSpPr/>
          <p:nvPr/>
        </p:nvCxnSpPr>
        <p:spPr>
          <a:xfrm>
            <a:off x="7404100" y="4757420"/>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202" name="直接连接符 201"/>
          <p:cNvCxnSpPr>
            <a:endCxn id="190" idx="2"/>
          </p:cNvCxnSpPr>
          <p:nvPr/>
        </p:nvCxnSpPr>
        <p:spPr>
          <a:xfrm flipV="1">
            <a:off x="7428865" y="5923280"/>
            <a:ext cx="2332990" cy="0"/>
          </a:xfrm>
          <a:prstGeom prst="line">
            <a:avLst/>
          </a:prstGeom>
        </p:spPr>
        <p:style>
          <a:lnRef idx="3">
            <a:schemeClr val="dk1"/>
          </a:lnRef>
          <a:fillRef idx="0">
            <a:schemeClr val="dk1"/>
          </a:fillRef>
          <a:effectRef idx="2">
            <a:schemeClr val="dk1"/>
          </a:effectRef>
          <a:fontRef idx="minor">
            <a:schemeClr val="tx1"/>
          </a:fontRef>
        </p:style>
      </p:cxnSp>
      <p:sp>
        <p:nvSpPr>
          <p:cNvPr id="203" name="文本框 202"/>
          <p:cNvSpPr txBox="1"/>
          <p:nvPr/>
        </p:nvSpPr>
        <p:spPr>
          <a:xfrm>
            <a:off x="6148705" y="51371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204" name="文本框 203"/>
          <p:cNvSpPr txBox="1"/>
          <p:nvPr/>
        </p:nvSpPr>
        <p:spPr>
          <a:xfrm>
            <a:off x="7047230" y="424307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205" name="文本框 204"/>
          <p:cNvSpPr txBox="1"/>
          <p:nvPr/>
        </p:nvSpPr>
        <p:spPr>
          <a:xfrm>
            <a:off x="9655810" y="42386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206" name="文本框 205"/>
          <p:cNvSpPr txBox="1"/>
          <p:nvPr/>
        </p:nvSpPr>
        <p:spPr>
          <a:xfrm>
            <a:off x="10467340" y="516826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207" name="文本框 206"/>
          <p:cNvSpPr txBox="1"/>
          <p:nvPr/>
        </p:nvSpPr>
        <p:spPr>
          <a:xfrm>
            <a:off x="9293225" y="51136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208" name="文本框 207"/>
          <p:cNvSpPr txBox="1"/>
          <p:nvPr/>
        </p:nvSpPr>
        <p:spPr>
          <a:xfrm>
            <a:off x="7618730" y="48990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209" name="文本框 208"/>
          <p:cNvSpPr txBox="1"/>
          <p:nvPr/>
        </p:nvSpPr>
        <p:spPr>
          <a:xfrm>
            <a:off x="7077075" y="599948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210" name="文本框 209"/>
          <p:cNvSpPr txBox="1"/>
          <p:nvPr/>
        </p:nvSpPr>
        <p:spPr>
          <a:xfrm>
            <a:off x="9794875" y="602869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211" name="文本框 210"/>
          <p:cNvSpPr txBox="1"/>
          <p:nvPr/>
        </p:nvSpPr>
        <p:spPr>
          <a:xfrm>
            <a:off x="7259320" y="422465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2,A</a:t>
            </a:r>
            <a:r>
              <a:rPr lang="en-US" altLang="zh-CN" sz="2400" b="1">
                <a:latin typeface="微软雅黑" panose="020B0503020204020204" pitchFamily="34" charset="-122"/>
                <a:ea typeface="微软雅黑" panose="020B0503020204020204" pitchFamily="34" charset="-122"/>
              </a:rPr>
              <a:t>)</a:t>
            </a:r>
          </a:p>
        </p:txBody>
      </p:sp>
      <p:sp>
        <p:nvSpPr>
          <p:cNvPr id="212" name="文本框 211"/>
          <p:cNvSpPr txBox="1"/>
          <p:nvPr/>
        </p:nvSpPr>
        <p:spPr>
          <a:xfrm>
            <a:off x="9897110" y="424116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(9</a:t>
            </a:r>
            <a:r>
              <a:rPr lang="en-US" altLang="zh-CN" sz="2400" b="1">
                <a:solidFill>
                  <a:schemeClr val="tx1"/>
                </a:solidFill>
                <a:latin typeface="微软雅黑" panose="020B0503020204020204" pitchFamily="34" charset="-122"/>
                <a:ea typeface="微软雅黑" panose="020B0503020204020204" pitchFamily="34" charset="-122"/>
              </a:rPr>
              <a:t>,B</a:t>
            </a:r>
            <a:r>
              <a:rPr lang="en-US" altLang="zh-CN" sz="2400" b="1">
                <a:latin typeface="微软雅黑" panose="020B0503020204020204" pitchFamily="34" charset="-122"/>
                <a:ea typeface="微软雅黑" panose="020B0503020204020204" pitchFamily="34" charset="-122"/>
              </a:rPr>
              <a:t>)</a:t>
            </a:r>
          </a:p>
        </p:txBody>
      </p:sp>
      <p:sp>
        <p:nvSpPr>
          <p:cNvPr id="213" name="文本框 212"/>
          <p:cNvSpPr txBox="1"/>
          <p:nvPr/>
        </p:nvSpPr>
        <p:spPr>
          <a:xfrm>
            <a:off x="7306310" y="60007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5,E</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214" name="文本框 213"/>
          <p:cNvSpPr txBox="1"/>
          <p:nvPr/>
        </p:nvSpPr>
        <p:spPr>
          <a:xfrm>
            <a:off x="10040620" y="599948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215" name="文本框 214"/>
          <p:cNvSpPr txBox="1"/>
          <p:nvPr/>
        </p:nvSpPr>
        <p:spPr>
          <a:xfrm>
            <a:off x="7791450" y="490728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4,B</a:t>
            </a:r>
            <a:r>
              <a:rPr lang="en-US" altLang="zh-CN" sz="2400" b="1">
                <a:latin typeface="微软雅黑" panose="020B0503020204020204" pitchFamily="34" charset="-122"/>
                <a:ea typeface="微软雅黑" panose="020B0503020204020204" pitchFamily="34" charset="-122"/>
              </a:rPr>
              <a:t>)</a:t>
            </a:r>
          </a:p>
        </p:txBody>
      </p:sp>
      <p:sp>
        <p:nvSpPr>
          <p:cNvPr id="216" name="文本框 215"/>
          <p:cNvSpPr txBox="1"/>
          <p:nvPr/>
        </p:nvSpPr>
        <p:spPr>
          <a:xfrm>
            <a:off x="9434830" y="511365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6,E</a:t>
            </a:r>
            <a:r>
              <a:rPr lang="en-US" altLang="zh-CN" sz="2400" b="1">
                <a:latin typeface="微软雅黑" panose="020B0503020204020204" pitchFamily="34" charset="-122"/>
                <a:ea typeface="微软雅黑" panose="020B0503020204020204" pitchFamily="34" charset="-122"/>
              </a:rPr>
              <a:t>)</a:t>
            </a:r>
          </a:p>
        </p:txBody>
      </p:sp>
      <p:cxnSp>
        <p:nvCxnSpPr>
          <p:cNvPr id="217" name="直接箭头连接符 216"/>
          <p:cNvCxnSpPr/>
          <p:nvPr/>
        </p:nvCxnSpPr>
        <p:spPr>
          <a:xfrm flipV="1">
            <a:off x="6453505" y="5967095"/>
            <a:ext cx="490855" cy="8890"/>
          </a:xfrm>
          <a:prstGeom prst="straightConnector1">
            <a:avLst/>
          </a:prstGeom>
          <a:ln>
            <a:tailEnd type="arrow" w="med" len="med"/>
          </a:ln>
        </p:spPr>
        <p:style>
          <a:lnRef idx="3">
            <a:schemeClr val="dk1"/>
          </a:lnRef>
          <a:fillRef idx="0">
            <a:schemeClr val="dk1"/>
          </a:fillRef>
          <a:effectRef idx="2">
            <a:schemeClr val="dk1"/>
          </a:effectRef>
          <a:fontRef idx="minor">
            <a:schemeClr val="tx1"/>
          </a:fontRef>
        </p:style>
      </p:cxnSp>
      <p:sp>
        <p:nvSpPr>
          <p:cNvPr id="218" name="椭圆 217"/>
          <p:cNvSpPr/>
          <p:nvPr/>
        </p:nvSpPr>
        <p:spPr>
          <a:xfrm>
            <a:off x="7178040" y="584263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19" name="文本框 218"/>
          <p:cNvSpPr txBox="1"/>
          <p:nvPr/>
        </p:nvSpPr>
        <p:spPr>
          <a:xfrm>
            <a:off x="7308850" y="601472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5,E</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220" name="椭圆 219"/>
          <p:cNvSpPr/>
          <p:nvPr/>
        </p:nvSpPr>
        <p:spPr>
          <a:xfrm>
            <a:off x="7172325" y="470344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21" name="文本框 220"/>
          <p:cNvSpPr txBox="1"/>
          <p:nvPr/>
        </p:nvSpPr>
        <p:spPr>
          <a:xfrm>
            <a:off x="10709275" y="516826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222" name="椭圆 221"/>
          <p:cNvSpPr/>
          <p:nvPr/>
        </p:nvSpPr>
        <p:spPr>
          <a:xfrm>
            <a:off x="7758430" y="528066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24"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5.2.2 </a:t>
            </a:r>
            <a:r>
              <a:rPr kumimoji="1" lang="zh-CN" altLang="en-US" dirty="0"/>
              <a:t>最短路径算法</a:t>
            </a:r>
          </a:p>
        </p:txBody>
      </p:sp>
      <p:pic>
        <p:nvPicPr>
          <p:cNvPr id="223" name="Picture 28" descr="015">
            <a:extLst>
              <a:ext uri="{FF2B5EF4-FFF2-40B4-BE49-F238E27FC236}">
                <a16:creationId xmlns:a16="http://schemas.microsoft.com/office/drawing/2014/main" id="{CEEB957D-BF03-4D63-A93A-70477A50E70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6467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110"/>
                                        </p:tgtEl>
                                        <p:attrNameLst>
                                          <p:attrName>style.visibility</p:attrName>
                                        </p:attrNameLst>
                                      </p:cBhvr>
                                      <p:to>
                                        <p:strVal val="visible"/>
                                      </p:to>
                                    </p:set>
                                  </p:childTnLst>
                                </p:cTn>
                              </p:par>
                              <p:par>
                                <p:cTn id="9" presetID="1" presetClass="entr" presetSubtype="0" fill="hold" grpId="1" nodeType="withEffect">
                                  <p:stCondLst>
                                    <p:cond delay="0"/>
                                  </p:stCondLst>
                                  <p:childTnLst>
                                    <p:set>
                                      <p:cBhvr>
                                        <p:cTn id="10" dur="1" fill="hold">
                                          <p:stCondLst>
                                            <p:cond delay="0"/>
                                          </p:stCondLst>
                                        </p:cTn>
                                        <p:tgtEl>
                                          <p:spTgt spid="111"/>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112"/>
                                        </p:tgtEl>
                                        <p:attrNameLst>
                                          <p:attrName>style.visibility</p:attrName>
                                        </p:attrNameLst>
                                      </p:cBhvr>
                                      <p:to>
                                        <p:strVal val="visible"/>
                                      </p:to>
                                    </p:set>
                                  </p:childTnLst>
                                </p:cTn>
                              </p:par>
                              <p:par>
                                <p:cTn id="13" presetID="1" presetClass="entr" presetSubtype="0" fill="hold" grpId="1" nodeType="withEffect">
                                  <p:stCondLst>
                                    <p:cond delay="0"/>
                                  </p:stCondLst>
                                  <p:childTnLst>
                                    <p:set>
                                      <p:cBhvr>
                                        <p:cTn id="14" dur="1" fill="hold">
                                          <p:stCondLst>
                                            <p:cond delay="0"/>
                                          </p:stCondLst>
                                        </p:cTn>
                                        <p:tgtEl>
                                          <p:spTgt spid="113"/>
                                        </p:tgtEl>
                                        <p:attrNameLst>
                                          <p:attrName>style.visibility</p:attrName>
                                        </p:attrNameLst>
                                      </p:cBhvr>
                                      <p:to>
                                        <p:strVal val="visible"/>
                                      </p:to>
                                    </p:set>
                                  </p:childTnLst>
                                </p:cTn>
                              </p:par>
                              <p:par>
                                <p:cTn id="15" presetID="1" presetClass="entr" presetSubtype="0" fill="hold" grpId="1" nodeType="withEffect">
                                  <p:stCondLst>
                                    <p:cond delay="0"/>
                                  </p:stCondLst>
                                  <p:childTnLst>
                                    <p:set>
                                      <p:cBhvr>
                                        <p:cTn id="16" dur="1" fill="hold">
                                          <p:stCondLst>
                                            <p:cond delay="0"/>
                                          </p:stCondLst>
                                        </p:cTn>
                                        <p:tgtEl>
                                          <p:spTgt spid="114"/>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115"/>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116"/>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1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1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1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20"/>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21"/>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22"/>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2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24"/>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2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26"/>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27"/>
                                        </p:tgtEl>
                                        <p:attrNameLst>
                                          <p:attrName>style.visibility</p:attrName>
                                        </p:attrNameLst>
                                      </p:cBhvr>
                                      <p:to>
                                        <p:strVal val="visible"/>
                                      </p:to>
                                    </p:set>
                                  </p:childTnLst>
                                </p:cTn>
                              </p:par>
                              <p:par>
                                <p:cTn id="43" presetID="1" presetClass="entr" presetSubtype="0" fill="hold" grpId="1" nodeType="withEffect">
                                  <p:stCondLst>
                                    <p:cond delay="0"/>
                                  </p:stCondLst>
                                  <p:childTnLst>
                                    <p:set>
                                      <p:cBhvr>
                                        <p:cTn id="44" dur="1" fill="hold">
                                          <p:stCondLst>
                                            <p:cond delay="0"/>
                                          </p:stCondLst>
                                        </p:cTn>
                                        <p:tgtEl>
                                          <p:spTgt spid="128"/>
                                        </p:tgtEl>
                                        <p:attrNameLst>
                                          <p:attrName>style.visibility</p:attrName>
                                        </p:attrNameLst>
                                      </p:cBhvr>
                                      <p:to>
                                        <p:strVal val="visible"/>
                                      </p:to>
                                    </p:set>
                                  </p:childTnLst>
                                </p:cTn>
                              </p:par>
                              <p:par>
                                <p:cTn id="45" presetID="1" presetClass="entr" presetSubtype="0" fill="hold" grpId="1" nodeType="withEffect">
                                  <p:stCondLst>
                                    <p:cond delay="0"/>
                                  </p:stCondLst>
                                  <p:childTnLst>
                                    <p:set>
                                      <p:cBhvr>
                                        <p:cTn id="46" dur="1" fill="hold">
                                          <p:stCondLst>
                                            <p:cond delay="0"/>
                                          </p:stCondLst>
                                        </p:cTn>
                                        <p:tgtEl>
                                          <p:spTgt spid="129"/>
                                        </p:tgtEl>
                                        <p:attrNameLst>
                                          <p:attrName>style.visibility</p:attrName>
                                        </p:attrNameLst>
                                      </p:cBhvr>
                                      <p:to>
                                        <p:strVal val="visible"/>
                                      </p:to>
                                    </p:set>
                                  </p:childTnLst>
                                </p:cTn>
                              </p:par>
                              <p:par>
                                <p:cTn id="47" presetID="1" presetClass="entr" presetSubtype="0" fill="hold" grpId="1" nodeType="withEffect">
                                  <p:stCondLst>
                                    <p:cond delay="0"/>
                                  </p:stCondLst>
                                  <p:childTnLst>
                                    <p:set>
                                      <p:cBhvr>
                                        <p:cTn id="48" dur="1" fill="hold">
                                          <p:stCondLst>
                                            <p:cond delay="0"/>
                                          </p:stCondLst>
                                        </p:cTn>
                                        <p:tgtEl>
                                          <p:spTgt spid="130"/>
                                        </p:tgtEl>
                                        <p:attrNameLst>
                                          <p:attrName>style.visibility</p:attrName>
                                        </p:attrNameLst>
                                      </p:cBhvr>
                                      <p:to>
                                        <p:strVal val="visible"/>
                                      </p:to>
                                    </p:set>
                                  </p:childTnLst>
                                </p:cTn>
                              </p:par>
                              <p:par>
                                <p:cTn id="49" presetID="1" presetClass="entr" presetSubtype="0" fill="hold" grpId="1" nodeType="withEffect">
                                  <p:stCondLst>
                                    <p:cond delay="0"/>
                                  </p:stCondLst>
                                  <p:childTnLst>
                                    <p:set>
                                      <p:cBhvr>
                                        <p:cTn id="50" dur="1" fill="hold">
                                          <p:stCondLst>
                                            <p:cond delay="0"/>
                                          </p:stCondLst>
                                        </p:cTn>
                                        <p:tgtEl>
                                          <p:spTgt spid="131"/>
                                        </p:tgtEl>
                                        <p:attrNameLst>
                                          <p:attrName>style.visibility</p:attrName>
                                        </p:attrNameLst>
                                      </p:cBhvr>
                                      <p:to>
                                        <p:strVal val="visible"/>
                                      </p:to>
                                    </p:set>
                                  </p:childTnLst>
                                </p:cTn>
                              </p:par>
                              <p:par>
                                <p:cTn id="51" presetID="1" presetClass="entr" presetSubtype="0" fill="hold" grpId="1" nodeType="withEffect">
                                  <p:stCondLst>
                                    <p:cond delay="0"/>
                                  </p:stCondLst>
                                  <p:childTnLst>
                                    <p:set>
                                      <p:cBhvr>
                                        <p:cTn id="52" dur="1" fill="hold">
                                          <p:stCondLst>
                                            <p:cond delay="0"/>
                                          </p:stCondLst>
                                        </p:cTn>
                                        <p:tgtEl>
                                          <p:spTgt spid="132"/>
                                        </p:tgtEl>
                                        <p:attrNameLst>
                                          <p:attrName>style.visibility</p:attrName>
                                        </p:attrNameLst>
                                      </p:cBhvr>
                                      <p:to>
                                        <p:strVal val="visible"/>
                                      </p:to>
                                    </p:set>
                                  </p:childTnLst>
                                </p:cTn>
                              </p:par>
                              <p:par>
                                <p:cTn id="53" presetID="1" presetClass="entr" presetSubtype="0" fill="hold" grpId="1" nodeType="withEffect">
                                  <p:stCondLst>
                                    <p:cond delay="0"/>
                                  </p:stCondLst>
                                  <p:childTnLst>
                                    <p:set>
                                      <p:cBhvr>
                                        <p:cTn id="54" dur="1" fill="hold">
                                          <p:stCondLst>
                                            <p:cond delay="0"/>
                                          </p:stCondLst>
                                        </p:cTn>
                                        <p:tgtEl>
                                          <p:spTgt spid="133"/>
                                        </p:tgtEl>
                                        <p:attrNameLst>
                                          <p:attrName>style.visibility</p:attrName>
                                        </p:attrNameLst>
                                      </p:cBhvr>
                                      <p:to>
                                        <p:strVal val="visible"/>
                                      </p:to>
                                    </p:set>
                                  </p:childTnLst>
                                </p:cTn>
                              </p:par>
                              <p:par>
                                <p:cTn id="55" presetID="1" presetClass="entr" presetSubtype="0" fill="hold" grpId="1" nodeType="withEffect">
                                  <p:stCondLst>
                                    <p:cond delay="0"/>
                                  </p:stCondLst>
                                  <p:childTnLst>
                                    <p:set>
                                      <p:cBhvr>
                                        <p:cTn id="56" dur="1" fill="hold">
                                          <p:stCondLst>
                                            <p:cond delay="0"/>
                                          </p:stCondLst>
                                        </p:cTn>
                                        <p:tgtEl>
                                          <p:spTgt spid="134"/>
                                        </p:tgtEl>
                                        <p:attrNameLst>
                                          <p:attrName>style.visibility</p:attrName>
                                        </p:attrNameLst>
                                      </p:cBhvr>
                                      <p:to>
                                        <p:strVal val="visible"/>
                                      </p:to>
                                    </p:set>
                                  </p:childTnLst>
                                </p:cTn>
                              </p:par>
                              <p:par>
                                <p:cTn id="57" presetID="1" presetClass="entr" presetSubtype="0" fill="hold" grpId="1" nodeType="withEffect">
                                  <p:stCondLst>
                                    <p:cond delay="0"/>
                                  </p:stCondLst>
                                  <p:childTnLst>
                                    <p:set>
                                      <p:cBhvr>
                                        <p:cTn id="58" dur="1" fill="hold">
                                          <p:stCondLst>
                                            <p:cond delay="0"/>
                                          </p:stCondLst>
                                        </p:cTn>
                                        <p:tgtEl>
                                          <p:spTgt spid="135"/>
                                        </p:tgtEl>
                                        <p:attrNameLst>
                                          <p:attrName>style.visibility</p:attrName>
                                        </p:attrNameLst>
                                      </p:cBhvr>
                                      <p:to>
                                        <p:strVal val="visible"/>
                                      </p:to>
                                    </p:set>
                                  </p:childTnLst>
                                </p:cTn>
                              </p:par>
                              <p:par>
                                <p:cTn id="59" presetID="1" presetClass="entr" presetSubtype="0" fill="hold" grpId="2" nodeType="withEffect">
                                  <p:stCondLst>
                                    <p:cond delay="0"/>
                                  </p:stCondLst>
                                  <p:childTnLst>
                                    <p:set>
                                      <p:cBhvr>
                                        <p:cTn id="60" dur="1" fill="hold">
                                          <p:stCondLst>
                                            <p:cond delay="0"/>
                                          </p:stCondLst>
                                        </p:cTn>
                                        <p:tgtEl>
                                          <p:spTgt spid="136"/>
                                        </p:tgtEl>
                                        <p:attrNameLst>
                                          <p:attrName>style.visibility</p:attrName>
                                        </p:attrNameLst>
                                      </p:cBhvr>
                                      <p:to>
                                        <p:strVal val="visible"/>
                                      </p:to>
                                    </p:set>
                                  </p:childTnLst>
                                </p:cTn>
                              </p:par>
                              <p:par>
                                <p:cTn id="61" presetID="1" presetClass="entr" presetSubtype="0" fill="hold" grpId="2" nodeType="withEffect">
                                  <p:stCondLst>
                                    <p:cond delay="0"/>
                                  </p:stCondLst>
                                  <p:childTnLst>
                                    <p:set>
                                      <p:cBhvr>
                                        <p:cTn id="62" dur="1" fill="hold">
                                          <p:stCondLst>
                                            <p:cond delay="0"/>
                                          </p:stCondLst>
                                        </p:cTn>
                                        <p:tgtEl>
                                          <p:spTgt spid="137"/>
                                        </p:tgtEl>
                                        <p:attrNameLst>
                                          <p:attrName>style.visibility</p:attrName>
                                        </p:attrNameLst>
                                      </p:cBhvr>
                                      <p:to>
                                        <p:strVal val="visible"/>
                                      </p:to>
                                    </p:set>
                                  </p:childTnLst>
                                </p:cTn>
                              </p:par>
                              <p:par>
                                <p:cTn id="63" presetID="1" presetClass="entr" presetSubtype="0" fill="hold" grpId="2" nodeType="withEffect">
                                  <p:stCondLst>
                                    <p:cond delay="0"/>
                                  </p:stCondLst>
                                  <p:childTnLst>
                                    <p:set>
                                      <p:cBhvr>
                                        <p:cTn id="64" dur="1" fill="hold">
                                          <p:stCondLst>
                                            <p:cond delay="0"/>
                                          </p:stCondLst>
                                        </p:cTn>
                                        <p:tgtEl>
                                          <p:spTgt spid="138"/>
                                        </p:tgtEl>
                                        <p:attrNameLst>
                                          <p:attrName>style.visibility</p:attrName>
                                        </p:attrNameLst>
                                      </p:cBhvr>
                                      <p:to>
                                        <p:strVal val="visible"/>
                                      </p:to>
                                    </p:set>
                                  </p:childTnLst>
                                </p:cTn>
                              </p:par>
                              <p:par>
                                <p:cTn id="65" presetID="1" presetClass="entr" presetSubtype="0" fill="hold" grpId="2" nodeType="withEffect">
                                  <p:stCondLst>
                                    <p:cond delay="0"/>
                                  </p:stCondLst>
                                  <p:childTnLst>
                                    <p:set>
                                      <p:cBhvr>
                                        <p:cTn id="66" dur="1" fill="hold">
                                          <p:stCondLst>
                                            <p:cond delay="0"/>
                                          </p:stCondLst>
                                        </p:cTn>
                                        <p:tgtEl>
                                          <p:spTgt spid="139"/>
                                        </p:tgtEl>
                                        <p:attrNameLst>
                                          <p:attrName>style.visibility</p:attrName>
                                        </p:attrNameLst>
                                      </p:cBhvr>
                                      <p:to>
                                        <p:strVal val="visible"/>
                                      </p:to>
                                    </p:set>
                                  </p:childTnLst>
                                </p:cTn>
                              </p:par>
                              <p:par>
                                <p:cTn id="67" presetID="1" presetClass="entr" presetSubtype="0" fill="hold" grpId="2" nodeType="withEffect">
                                  <p:stCondLst>
                                    <p:cond delay="0"/>
                                  </p:stCondLst>
                                  <p:childTnLst>
                                    <p:set>
                                      <p:cBhvr>
                                        <p:cTn id="68" dur="1" fill="hold">
                                          <p:stCondLst>
                                            <p:cond delay="0"/>
                                          </p:stCondLst>
                                        </p:cTn>
                                        <p:tgtEl>
                                          <p:spTgt spid="140"/>
                                        </p:tgtEl>
                                        <p:attrNameLst>
                                          <p:attrName>style.visibility</p:attrName>
                                        </p:attrNameLst>
                                      </p:cBhvr>
                                      <p:to>
                                        <p:strVal val="visible"/>
                                      </p:to>
                                    </p:set>
                                  </p:childTnLst>
                                </p:cTn>
                              </p:par>
                              <p:par>
                                <p:cTn id="69" presetID="1" presetClass="entr" presetSubtype="0" fill="hold" grpId="2" nodeType="withEffect">
                                  <p:stCondLst>
                                    <p:cond delay="0"/>
                                  </p:stCondLst>
                                  <p:childTnLst>
                                    <p:set>
                                      <p:cBhvr>
                                        <p:cTn id="70" dur="1" fill="hold">
                                          <p:stCondLst>
                                            <p:cond delay="0"/>
                                          </p:stCondLst>
                                        </p:cTn>
                                        <p:tgtEl>
                                          <p:spTgt spid="141"/>
                                        </p:tgtEl>
                                        <p:attrNameLst>
                                          <p:attrName>style.visibility</p:attrName>
                                        </p:attrNameLst>
                                      </p:cBhvr>
                                      <p:to>
                                        <p:strVal val="visible"/>
                                      </p:to>
                                    </p:set>
                                  </p:childTnLst>
                                </p:cTn>
                              </p:par>
                              <p:par>
                                <p:cTn id="71" presetID="1" presetClass="entr" presetSubtype="0" fill="hold" grpId="2" nodeType="withEffect">
                                  <p:stCondLst>
                                    <p:cond delay="0"/>
                                  </p:stCondLst>
                                  <p:childTnLst>
                                    <p:set>
                                      <p:cBhvr>
                                        <p:cTn id="72" dur="1" fill="hold">
                                          <p:stCondLst>
                                            <p:cond delay="0"/>
                                          </p:stCondLst>
                                        </p:cTn>
                                        <p:tgtEl>
                                          <p:spTgt spid="142"/>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2" nodeType="clickEffect">
                                  <p:stCondLst>
                                    <p:cond delay="0"/>
                                  </p:stCondLst>
                                  <p:childTnLst>
                                    <p:set>
                                      <p:cBhvr>
                                        <p:cTn id="76" dur="1" fill="hold">
                                          <p:stCondLst>
                                            <p:cond delay="0"/>
                                          </p:stCondLst>
                                        </p:cTn>
                                        <p:tgtEl>
                                          <p:spTgt spid="145"/>
                                        </p:tgtEl>
                                        <p:attrNameLst>
                                          <p:attrName>style.visibility</p:attrName>
                                        </p:attrNameLst>
                                      </p:cBhvr>
                                      <p:to>
                                        <p:strVal val="visible"/>
                                      </p:to>
                                    </p:set>
                                  </p:childTnLst>
                                </p:cTn>
                              </p:par>
                              <p:par>
                                <p:cTn id="77" presetID="1" presetClass="entr" presetSubtype="0" fill="hold" grpId="1" nodeType="withEffect">
                                  <p:stCondLst>
                                    <p:cond delay="0"/>
                                  </p:stCondLst>
                                  <p:childTnLst>
                                    <p:set>
                                      <p:cBhvr>
                                        <p:cTn id="78" dur="1" fill="hold">
                                          <p:stCondLst>
                                            <p:cond delay="0"/>
                                          </p:stCondLst>
                                        </p:cTn>
                                        <p:tgtEl>
                                          <p:spTgt spid="144"/>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143"/>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1" nodeType="clickEffect">
                                  <p:stCondLst>
                                    <p:cond delay="0"/>
                                  </p:stCondLst>
                                  <p:childTnLst>
                                    <p:set>
                                      <p:cBhvr>
                                        <p:cTn id="84" dur="1" fill="hold">
                                          <p:stCondLst>
                                            <p:cond delay="0"/>
                                          </p:stCondLst>
                                        </p:cTn>
                                        <p:tgtEl>
                                          <p:spTgt spid="146"/>
                                        </p:tgtEl>
                                        <p:attrNameLst>
                                          <p:attrName>style.visibility</p:attrName>
                                        </p:attrNameLst>
                                      </p:cBhvr>
                                      <p:to>
                                        <p:strVal val="visible"/>
                                      </p:to>
                                    </p:set>
                                  </p:childTnLst>
                                </p:cTn>
                              </p:par>
                              <p:par>
                                <p:cTn id="85" presetID="1" presetClass="entr" presetSubtype="0" fill="hold" grpId="1" nodeType="withEffect">
                                  <p:stCondLst>
                                    <p:cond delay="0"/>
                                  </p:stCondLst>
                                  <p:childTnLst>
                                    <p:set>
                                      <p:cBhvr>
                                        <p:cTn id="86" dur="1" fill="hold">
                                          <p:stCondLst>
                                            <p:cond delay="0"/>
                                          </p:stCondLst>
                                        </p:cTn>
                                        <p:tgtEl>
                                          <p:spTgt spid="147"/>
                                        </p:tgtEl>
                                        <p:attrNameLst>
                                          <p:attrName>style.visibility</p:attrName>
                                        </p:attrNameLst>
                                      </p:cBhvr>
                                      <p:to>
                                        <p:strVal val="visible"/>
                                      </p:to>
                                    </p:set>
                                  </p:childTnLst>
                                </p:cTn>
                              </p:par>
                              <p:par>
                                <p:cTn id="87" presetID="1" presetClass="entr" presetSubtype="0" fill="hold" grpId="1" nodeType="withEffect">
                                  <p:stCondLst>
                                    <p:cond delay="0"/>
                                  </p:stCondLst>
                                  <p:childTnLst>
                                    <p:set>
                                      <p:cBhvr>
                                        <p:cTn id="88" dur="1" fill="hold">
                                          <p:stCondLst>
                                            <p:cond delay="0"/>
                                          </p:stCondLst>
                                        </p:cTn>
                                        <p:tgtEl>
                                          <p:spTgt spid="148"/>
                                        </p:tgtEl>
                                        <p:attrNameLst>
                                          <p:attrName>style.visibility</p:attrName>
                                        </p:attrNameLst>
                                      </p:cBhvr>
                                      <p:to>
                                        <p:strVal val="visible"/>
                                      </p:to>
                                    </p:set>
                                  </p:childTnLst>
                                </p:cTn>
                              </p:par>
                              <p:par>
                                <p:cTn id="89" presetID="1" presetClass="entr" presetSubtype="0" fill="hold" grpId="1" nodeType="withEffect">
                                  <p:stCondLst>
                                    <p:cond delay="0"/>
                                  </p:stCondLst>
                                  <p:childTnLst>
                                    <p:set>
                                      <p:cBhvr>
                                        <p:cTn id="90" dur="1" fill="hold">
                                          <p:stCondLst>
                                            <p:cond delay="0"/>
                                          </p:stCondLst>
                                        </p:cTn>
                                        <p:tgtEl>
                                          <p:spTgt spid="149"/>
                                        </p:tgtEl>
                                        <p:attrNameLst>
                                          <p:attrName>style.visibility</p:attrName>
                                        </p:attrNameLst>
                                      </p:cBhvr>
                                      <p:to>
                                        <p:strVal val="visible"/>
                                      </p:to>
                                    </p:set>
                                  </p:childTnLst>
                                </p:cTn>
                              </p:par>
                              <p:par>
                                <p:cTn id="91" presetID="1" presetClass="entr" presetSubtype="0" fill="hold" grpId="1" nodeType="withEffect">
                                  <p:stCondLst>
                                    <p:cond delay="0"/>
                                  </p:stCondLst>
                                  <p:childTnLst>
                                    <p:set>
                                      <p:cBhvr>
                                        <p:cTn id="92" dur="1" fill="hold">
                                          <p:stCondLst>
                                            <p:cond delay="0"/>
                                          </p:stCondLst>
                                        </p:cTn>
                                        <p:tgtEl>
                                          <p:spTgt spid="150"/>
                                        </p:tgtEl>
                                        <p:attrNameLst>
                                          <p:attrName>style.visibility</p:attrName>
                                        </p:attrNameLst>
                                      </p:cBhvr>
                                      <p:to>
                                        <p:strVal val="visible"/>
                                      </p:to>
                                    </p:set>
                                  </p:childTnLst>
                                </p:cTn>
                              </p:par>
                              <p:par>
                                <p:cTn id="93" presetID="1" presetClass="entr" presetSubtype="0" fill="hold" grpId="1" nodeType="withEffect">
                                  <p:stCondLst>
                                    <p:cond delay="0"/>
                                  </p:stCondLst>
                                  <p:childTnLst>
                                    <p:set>
                                      <p:cBhvr>
                                        <p:cTn id="94" dur="1" fill="hold">
                                          <p:stCondLst>
                                            <p:cond delay="0"/>
                                          </p:stCondLst>
                                        </p:cTn>
                                        <p:tgtEl>
                                          <p:spTgt spid="151"/>
                                        </p:tgtEl>
                                        <p:attrNameLst>
                                          <p:attrName>style.visibility</p:attrName>
                                        </p:attrNameLst>
                                      </p:cBhvr>
                                      <p:to>
                                        <p:strVal val="visible"/>
                                      </p:to>
                                    </p:set>
                                  </p:childTnLst>
                                </p:cTn>
                              </p:par>
                              <p:par>
                                <p:cTn id="95" presetID="1" presetClass="entr" presetSubtype="0" fill="hold" grpId="1" nodeType="withEffect">
                                  <p:stCondLst>
                                    <p:cond delay="0"/>
                                  </p:stCondLst>
                                  <p:childTnLst>
                                    <p:set>
                                      <p:cBhvr>
                                        <p:cTn id="96" dur="1" fill="hold">
                                          <p:stCondLst>
                                            <p:cond delay="0"/>
                                          </p:stCondLst>
                                        </p:cTn>
                                        <p:tgtEl>
                                          <p:spTgt spid="152"/>
                                        </p:tgtEl>
                                        <p:attrNameLst>
                                          <p:attrName>style.visibility</p:attrName>
                                        </p:attrNameLst>
                                      </p:cBhvr>
                                      <p:to>
                                        <p:strVal val="visible"/>
                                      </p:to>
                                    </p:set>
                                  </p:childTnLst>
                                </p:cTn>
                              </p:par>
                              <p:par>
                                <p:cTn id="97" presetID="1" presetClass="entr" presetSubtype="0" fill="hold" grpId="1" nodeType="withEffect">
                                  <p:stCondLst>
                                    <p:cond delay="0"/>
                                  </p:stCondLst>
                                  <p:childTnLst>
                                    <p:set>
                                      <p:cBhvr>
                                        <p:cTn id="98" dur="1" fill="hold">
                                          <p:stCondLst>
                                            <p:cond delay="0"/>
                                          </p:stCondLst>
                                        </p:cTn>
                                        <p:tgtEl>
                                          <p:spTgt spid="153"/>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154"/>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155"/>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56"/>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157"/>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158"/>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159"/>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160"/>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161"/>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162"/>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163"/>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164"/>
                                        </p:tgtEl>
                                        <p:attrNameLst>
                                          <p:attrName>style.visibility</p:attrName>
                                        </p:attrNameLst>
                                      </p:cBhvr>
                                      <p:to>
                                        <p:strVal val="visible"/>
                                      </p:to>
                                    </p:set>
                                  </p:childTnLst>
                                </p:cTn>
                              </p:par>
                              <p:par>
                                <p:cTn id="121" presetID="1" presetClass="entr" presetSubtype="0" fill="hold" grpId="1" nodeType="withEffect">
                                  <p:stCondLst>
                                    <p:cond delay="0"/>
                                  </p:stCondLst>
                                  <p:childTnLst>
                                    <p:set>
                                      <p:cBhvr>
                                        <p:cTn id="122" dur="1" fill="hold">
                                          <p:stCondLst>
                                            <p:cond delay="0"/>
                                          </p:stCondLst>
                                        </p:cTn>
                                        <p:tgtEl>
                                          <p:spTgt spid="165"/>
                                        </p:tgtEl>
                                        <p:attrNameLst>
                                          <p:attrName>style.visibility</p:attrName>
                                        </p:attrNameLst>
                                      </p:cBhvr>
                                      <p:to>
                                        <p:strVal val="visible"/>
                                      </p:to>
                                    </p:set>
                                  </p:childTnLst>
                                </p:cTn>
                              </p:par>
                              <p:par>
                                <p:cTn id="123" presetID="1" presetClass="entr" presetSubtype="0" fill="hold" grpId="1" nodeType="withEffect">
                                  <p:stCondLst>
                                    <p:cond delay="0"/>
                                  </p:stCondLst>
                                  <p:childTnLst>
                                    <p:set>
                                      <p:cBhvr>
                                        <p:cTn id="124" dur="1" fill="hold">
                                          <p:stCondLst>
                                            <p:cond delay="0"/>
                                          </p:stCondLst>
                                        </p:cTn>
                                        <p:tgtEl>
                                          <p:spTgt spid="166"/>
                                        </p:tgtEl>
                                        <p:attrNameLst>
                                          <p:attrName>style.visibility</p:attrName>
                                        </p:attrNameLst>
                                      </p:cBhvr>
                                      <p:to>
                                        <p:strVal val="visible"/>
                                      </p:to>
                                    </p:set>
                                  </p:childTnLst>
                                </p:cTn>
                              </p:par>
                              <p:par>
                                <p:cTn id="125" presetID="1" presetClass="entr" presetSubtype="0" fill="hold" grpId="1" nodeType="withEffect">
                                  <p:stCondLst>
                                    <p:cond delay="0"/>
                                  </p:stCondLst>
                                  <p:childTnLst>
                                    <p:set>
                                      <p:cBhvr>
                                        <p:cTn id="126" dur="1" fill="hold">
                                          <p:stCondLst>
                                            <p:cond delay="0"/>
                                          </p:stCondLst>
                                        </p:cTn>
                                        <p:tgtEl>
                                          <p:spTgt spid="167"/>
                                        </p:tgtEl>
                                        <p:attrNameLst>
                                          <p:attrName>style.visibility</p:attrName>
                                        </p:attrNameLst>
                                      </p:cBhvr>
                                      <p:to>
                                        <p:strVal val="visible"/>
                                      </p:to>
                                    </p:set>
                                  </p:childTnLst>
                                </p:cTn>
                              </p:par>
                              <p:par>
                                <p:cTn id="127" presetID="1" presetClass="entr" presetSubtype="0" fill="hold" grpId="1" nodeType="withEffect">
                                  <p:stCondLst>
                                    <p:cond delay="0"/>
                                  </p:stCondLst>
                                  <p:childTnLst>
                                    <p:set>
                                      <p:cBhvr>
                                        <p:cTn id="128" dur="1" fill="hold">
                                          <p:stCondLst>
                                            <p:cond delay="0"/>
                                          </p:stCondLst>
                                        </p:cTn>
                                        <p:tgtEl>
                                          <p:spTgt spid="168"/>
                                        </p:tgtEl>
                                        <p:attrNameLst>
                                          <p:attrName>style.visibility</p:attrName>
                                        </p:attrNameLst>
                                      </p:cBhvr>
                                      <p:to>
                                        <p:strVal val="visible"/>
                                      </p:to>
                                    </p:set>
                                  </p:childTnLst>
                                </p:cTn>
                              </p:par>
                              <p:par>
                                <p:cTn id="129" presetID="1" presetClass="entr" presetSubtype="0" fill="hold" grpId="1" nodeType="withEffect">
                                  <p:stCondLst>
                                    <p:cond delay="0"/>
                                  </p:stCondLst>
                                  <p:childTnLst>
                                    <p:set>
                                      <p:cBhvr>
                                        <p:cTn id="130" dur="1" fill="hold">
                                          <p:stCondLst>
                                            <p:cond delay="0"/>
                                          </p:stCondLst>
                                        </p:cTn>
                                        <p:tgtEl>
                                          <p:spTgt spid="169"/>
                                        </p:tgtEl>
                                        <p:attrNameLst>
                                          <p:attrName>style.visibility</p:attrName>
                                        </p:attrNameLst>
                                      </p:cBhvr>
                                      <p:to>
                                        <p:strVal val="visible"/>
                                      </p:to>
                                    </p:set>
                                  </p:childTnLst>
                                </p:cTn>
                              </p:par>
                              <p:par>
                                <p:cTn id="131" presetID="1" presetClass="entr" presetSubtype="0" fill="hold" grpId="1" nodeType="withEffect">
                                  <p:stCondLst>
                                    <p:cond delay="0"/>
                                  </p:stCondLst>
                                  <p:childTnLst>
                                    <p:set>
                                      <p:cBhvr>
                                        <p:cTn id="132" dur="1" fill="hold">
                                          <p:stCondLst>
                                            <p:cond delay="0"/>
                                          </p:stCondLst>
                                        </p:cTn>
                                        <p:tgtEl>
                                          <p:spTgt spid="170"/>
                                        </p:tgtEl>
                                        <p:attrNameLst>
                                          <p:attrName>style.visibility</p:attrName>
                                        </p:attrNameLst>
                                      </p:cBhvr>
                                      <p:to>
                                        <p:strVal val="visible"/>
                                      </p:to>
                                    </p:set>
                                  </p:childTnLst>
                                </p:cTn>
                              </p:par>
                              <p:par>
                                <p:cTn id="133" presetID="1" presetClass="entr" presetSubtype="0" fill="hold" grpId="1" nodeType="withEffect">
                                  <p:stCondLst>
                                    <p:cond delay="0"/>
                                  </p:stCondLst>
                                  <p:childTnLst>
                                    <p:set>
                                      <p:cBhvr>
                                        <p:cTn id="134" dur="1" fill="hold">
                                          <p:stCondLst>
                                            <p:cond delay="0"/>
                                          </p:stCondLst>
                                        </p:cTn>
                                        <p:tgtEl>
                                          <p:spTgt spid="171"/>
                                        </p:tgtEl>
                                        <p:attrNameLst>
                                          <p:attrName>style.visibility</p:attrName>
                                        </p:attrNameLst>
                                      </p:cBhvr>
                                      <p:to>
                                        <p:strVal val="visible"/>
                                      </p:to>
                                    </p:set>
                                  </p:childTnLst>
                                </p:cTn>
                              </p:par>
                              <p:par>
                                <p:cTn id="135" presetID="1" presetClass="entr" presetSubtype="0" fill="hold" grpId="1" nodeType="withEffect">
                                  <p:stCondLst>
                                    <p:cond delay="0"/>
                                  </p:stCondLst>
                                  <p:childTnLst>
                                    <p:set>
                                      <p:cBhvr>
                                        <p:cTn id="136" dur="1" fill="hold">
                                          <p:stCondLst>
                                            <p:cond delay="0"/>
                                          </p:stCondLst>
                                        </p:cTn>
                                        <p:tgtEl>
                                          <p:spTgt spid="172"/>
                                        </p:tgtEl>
                                        <p:attrNameLst>
                                          <p:attrName>style.visibility</p:attrName>
                                        </p:attrNameLst>
                                      </p:cBhvr>
                                      <p:to>
                                        <p:strVal val="visible"/>
                                      </p:to>
                                    </p:set>
                                  </p:childTnLst>
                                </p:cTn>
                              </p:par>
                              <p:par>
                                <p:cTn id="137" presetID="1" presetClass="entr" presetSubtype="0" fill="hold" grpId="2" nodeType="withEffect">
                                  <p:stCondLst>
                                    <p:cond delay="0"/>
                                  </p:stCondLst>
                                  <p:childTnLst>
                                    <p:set>
                                      <p:cBhvr>
                                        <p:cTn id="138" dur="1" fill="hold">
                                          <p:stCondLst>
                                            <p:cond delay="0"/>
                                          </p:stCondLst>
                                        </p:cTn>
                                        <p:tgtEl>
                                          <p:spTgt spid="173"/>
                                        </p:tgtEl>
                                        <p:attrNameLst>
                                          <p:attrName>style.visibility</p:attrName>
                                        </p:attrNameLst>
                                      </p:cBhvr>
                                      <p:to>
                                        <p:strVal val="visible"/>
                                      </p:to>
                                    </p:set>
                                  </p:childTnLst>
                                </p:cTn>
                              </p:par>
                              <p:par>
                                <p:cTn id="139" presetID="1" presetClass="entr" presetSubtype="0" fill="hold" grpId="2" nodeType="withEffect">
                                  <p:stCondLst>
                                    <p:cond delay="0"/>
                                  </p:stCondLst>
                                  <p:childTnLst>
                                    <p:set>
                                      <p:cBhvr>
                                        <p:cTn id="140" dur="1" fill="hold">
                                          <p:stCondLst>
                                            <p:cond delay="0"/>
                                          </p:stCondLst>
                                        </p:cTn>
                                        <p:tgtEl>
                                          <p:spTgt spid="174"/>
                                        </p:tgtEl>
                                        <p:attrNameLst>
                                          <p:attrName>style.visibility</p:attrName>
                                        </p:attrNameLst>
                                      </p:cBhvr>
                                      <p:to>
                                        <p:strVal val="visible"/>
                                      </p:to>
                                    </p:set>
                                  </p:childTnLst>
                                </p:cTn>
                              </p:par>
                              <p:par>
                                <p:cTn id="141" presetID="1" presetClass="entr" presetSubtype="0" fill="hold" grpId="2" nodeType="withEffect">
                                  <p:stCondLst>
                                    <p:cond delay="0"/>
                                  </p:stCondLst>
                                  <p:childTnLst>
                                    <p:set>
                                      <p:cBhvr>
                                        <p:cTn id="142" dur="1" fill="hold">
                                          <p:stCondLst>
                                            <p:cond delay="0"/>
                                          </p:stCondLst>
                                        </p:cTn>
                                        <p:tgtEl>
                                          <p:spTgt spid="175"/>
                                        </p:tgtEl>
                                        <p:attrNameLst>
                                          <p:attrName>style.visibility</p:attrName>
                                        </p:attrNameLst>
                                      </p:cBhvr>
                                      <p:to>
                                        <p:strVal val="visible"/>
                                      </p:to>
                                    </p:set>
                                  </p:childTnLst>
                                </p:cTn>
                              </p:par>
                              <p:par>
                                <p:cTn id="143" presetID="1" presetClass="entr" presetSubtype="0" fill="hold" grpId="2" nodeType="withEffect">
                                  <p:stCondLst>
                                    <p:cond delay="0"/>
                                  </p:stCondLst>
                                  <p:childTnLst>
                                    <p:set>
                                      <p:cBhvr>
                                        <p:cTn id="144" dur="1" fill="hold">
                                          <p:stCondLst>
                                            <p:cond delay="0"/>
                                          </p:stCondLst>
                                        </p:cTn>
                                        <p:tgtEl>
                                          <p:spTgt spid="176"/>
                                        </p:tgtEl>
                                        <p:attrNameLst>
                                          <p:attrName>style.visibility</p:attrName>
                                        </p:attrNameLst>
                                      </p:cBhvr>
                                      <p:to>
                                        <p:strVal val="visible"/>
                                      </p:to>
                                    </p:set>
                                  </p:childTnLst>
                                </p:cTn>
                              </p:par>
                              <p:par>
                                <p:cTn id="145" presetID="1" presetClass="entr" presetSubtype="0" fill="hold" grpId="2" nodeType="withEffect">
                                  <p:stCondLst>
                                    <p:cond delay="0"/>
                                  </p:stCondLst>
                                  <p:childTnLst>
                                    <p:set>
                                      <p:cBhvr>
                                        <p:cTn id="146" dur="1" fill="hold">
                                          <p:stCondLst>
                                            <p:cond delay="0"/>
                                          </p:stCondLst>
                                        </p:cTn>
                                        <p:tgtEl>
                                          <p:spTgt spid="177"/>
                                        </p:tgtEl>
                                        <p:attrNameLst>
                                          <p:attrName>style.visibility</p:attrName>
                                        </p:attrNameLst>
                                      </p:cBhvr>
                                      <p:to>
                                        <p:strVal val="visible"/>
                                      </p:to>
                                    </p:set>
                                  </p:childTnLst>
                                </p:cTn>
                              </p:par>
                              <p:par>
                                <p:cTn id="147" presetID="1" presetClass="entr" presetSubtype="0" fill="hold" grpId="2" nodeType="withEffect">
                                  <p:stCondLst>
                                    <p:cond delay="0"/>
                                  </p:stCondLst>
                                  <p:childTnLst>
                                    <p:set>
                                      <p:cBhvr>
                                        <p:cTn id="148" dur="1" fill="hold">
                                          <p:stCondLst>
                                            <p:cond delay="0"/>
                                          </p:stCondLst>
                                        </p:cTn>
                                        <p:tgtEl>
                                          <p:spTgt spid="178"/>
                                        </p:tgtEl>
                                        <p:attrNameLst>
                                          <p:attrName>style.visibility</p:attrName>
                                        </p:attrNameLst>
                                      </p:cBhvr>
                                      <p:to>
                                        <p:strVal val="visible"/>
                                      </p:to>
                                    </p:set>
                                  </p:childTnLst>
                                </p:cTn>
                              </p:par>
                              <p:par>
                                <p:cTn id="149" presetID="1" presetClass="entr" presetSubtype="0" fill="hold" grpId="0" nodeType="withEffect">
                                  <p:stCondLst>
                                    <p:cond delay="0"/>
                                  </p:stCondLst>
                                  <p:childTnLst>
                                    <p:set>
                                      <p:cBhvr>
                                        <p:cTn id="150" dur="1" fill="hold">
                                          <p:stCondLst>
                                            <p:cond delay="0"/>
                                          </p:stCondLst>
                                        </p:cTn>
                                        <p:tgtEl>
                                          <p:spTgt spid="182"/>
                                        </p:tgtEl>
                                        <p:attrNameLst>
                                          <p:attrName>style.visibility</p:attrName>
                                        </p:attrNameLst>
                                      </p:cBhvr>
                                      <p:to>
                                        <p:strVal val="visible"/>
                                      </p:to>
                                    </p:set>
                                  </p:childTnLst>
                                </p:cTn>
                              </p:par>
                              <p:par>
                                <p:cTn id="151" presetID="1" presetClass="entr" presetSubtype="0" fill="hold" grpId="2" nodeType="withEffect">
                                  <p:stCondLst>
                                    <p:cond delay="0"/>
                                  </p:stCondLst>
                                  <p:childTnLst>
                                    <p:set>
                                      <p:cBhvr>
                                        <p:cTn id="152" dur="1" fill="hold">
                                          <p:stCondLst>
                                            <p:cond delay="0"/>
                                          </p:stCondLst>
                                        </p:cTn>
                                        <p:tgtEl>
                                          <p:spTgt spid="183"/>
                                        </p:tgtEl>
                                        <p:attrNameLst>
                                          <p:attrName>style.visibility</p:attrName>
                                        </p:attrNameLst>
                                      </p:cBhvr>
                                      <p:to>
                                        <p:strVal val="visible"/>
                                      </p:to>
                                    </p:set>
                                  </p:childTnLst>
                                </p:cTn>
                              </p:par>
                            </p:childTnLst>
                          </p:cTn>
                        </p:par>
                      </p:childTnLst>
                    </p:cTn>
                  </p:par>
                  <p:par>
                    <p:cTn id="153" fill="hold">
                      <p:stCondLst>
                        <p:cond delay="indefinite"/>
                      </p:stCondLst>
                      <p:childTnLst>
                        <p:par>
                          <p:cTn id="154" fill="hold">
                            <p:stCondLst>
                              <p:cond delay="0"/>
                            </p:stCondLst>
                            <p:childTnLst>
                              <p:par>
                                <p:cTn id="155" presetID="1" presetClass="entr" presetSubtype="0" fill="hold" grpId="2" nodeType="clickEffect">
                                  <p:stCondLst>
                                    <p:cond delay="0"/>
                                  </p:stCondLst>
                                  <p:childTnLst>
                                    <p:set>
                                      <p:cBhvr>
                                        <p:cTn id="156" dur="1" fill="hold">
                                          <p:stCondLst>
                                            <p:cond delay="0"/>
                                          </p:stCondLst>
                                        </p:cTn>
                                        <p:tgtEl>
                                          <p:spTgt spid="181"/>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180"/>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179"/>
                                        </p:tgtEl>
                                        <p:attrNameLst>
                                          <p:attrName>style.visibility</p:attrName>
                                        </p:attrNameLst>
                                      </p:cBhvr>
                                      <p:to>
                                        <p:strVal val="visible"/>
                                      </p:to>
                                    </p:set>
                                  </p:childTnLst>
                                </p:cTn>
                              </p:par>
                            </p:childTnLst>
                          </p:cTn>
                        </p:par>
                      </p:childTnLst>
                    </p:cTn>
                  </p:par>
                  <p:par>
                    <p:cTn id="161" fill="hold">
                      <p:stCondLst>
                        <p:cond delay="indefinite"/>
                      </p:stCondLst>
                      <p:childTnLst>
                        <p:par>
                          <p:cTn id="162" fill="hold">
                            <p:stCondLst>
                              <p:cond delay="0"/>
                            </p:stCondLst>
                            <p:childTnLst>
                              <p:par>
                                <p:cTn id="163" presetID="1" presetClass="entr" presetSubtype="0" fill="hold" grpId="1" nodeType="clickEffect">
                                  <p:stCondLst>
                                    <p:cond delay="0"/>
                                  </p:stCondLst>
                                  <p:childTnLst>
                                    <p:set>
                                      <p:cBhvr>
                                        <p:cTn id="164" dur="1" fill="hold">
                                          <p:stCondLst>
                                            <p:cond delay="0"/>
                                          </p:stCondLst>
                                        </p:cTn>
                                        <p:tgtEl>
                                          <p:spTgt spid="184"/>
                                        </p:tgtEl>
                                        <p:attrNameLst>
                                          <p:attrName>style.visibility</p:attrName>
                                        </p:attrNameLst>
                                      </p:cBhvr>
                                      <p:to>
                                        <p:strVal val="visible"/>
                                      </p:to>
                                    </p:set>
                                  </p:childTnLst>
                                </p:cTn>
                              </p:par>
                              <p:par>
                                <p:cTn id="165" presetID="1" presetClass="entr" presetSubtype="0" fill="hold" grpId="1" nodeType="withEffect">
                                  <p:stCondLst>
                                    <p:cond delay="0"/>
                                  </p:stCondLst>
                                  <p:childTnLst>
                                    <p:set>
                                      <p:cBhvr>
                                        <p:cTn id="166" dur="1" fill="hold">
                                          <p:stCondLst>
                                            <p:cond delay="0"/>
                                          </p:stCondLst>
                                        </p:cTn>
                                        <p:tgtEl>
                                          <p:spTgt spid="185"/>
                                        </p:tgtEl>
                                        <p:attrNameLst>
                                          <p:attrName>style.visibility</p:attrName>
                                        </p:attrNameLst>
                                      </p:cBhvr>
                                      <p:to>
                                        <p:strVal val="visible"/>
                                      </p:to>
                                    </p:set>
                                  </p:childTnLst>
                                </p:cTn>
                              </p:par>
                              <p:par>
                                <p:cTn id="167" presetID="1" presetClass="entr" presetSubtype="0" fill="hold" grpId="1" nodeType="withEffect">
                                  <p:stCondLst>
                                    <p:cond delay="0"/>
                                  </p:stCondLst>
                                  <p:childTnLst>
                                    <p:set>
                                      <p:cBhvr>
                                        <p:cTn id="168" dur="1" fill="hold">
                                          <p:stCondLst>
                                            <p:cond delay="0"/>
                                          </p:stCondLst>
                                        </p:cTn>
                                        <p:tgtEl>
                                          <p:spTgt spid="186"/>
                                        </p:tgtEl>
                                        <p:attrNameLst>
                                          <p:attrName>style.visibility</p:attrName>
                                        </p:attrNameLst>
                                      </p:cBhvr>
                                      <p:to>
                                        <p:strVal val="visible"/>
                                      </p:to>
                                    </p:set>
                                  </p:childTnLst>
                                </p:cTn>
                              </p:par>
                              <p:par>
                                <p:cTn id="169" presetID="1" presetClass="entr" presetSubtype="0" fill="hold" grpId="1" nodeType="withEffect">
                                  <p:stCondLst>
                                    <p:cond delay="0"/>
                                  </p:stCondLst>
                                  <p:childTnLst>
                                    <p:set>
                                      <p:cBhvr>
                                        <p:cTn id="170" dur="1" fill="hold">
                                          <p:stCondLst>
                                            <p:cond delay="0"/>
                                          </p:stCondLst>
                                        </p:cTn>
                                        <p:tgtEl>
                                          <p:spTgt spid="187"/>
                                        </p:tgtEl>
                                        <p:attrNameLst>
                                          <p:attrName>style.visibility</p:attrName>
                                        </p:attrNameLst>
                                      </p:cBhvr>
                                      <p:to>
                                        <p:strVal val="visible"/>
                                      </p:to>
                                    </p:set>
                                  </p:childTnLst>
                                </p:cTn>
                              </p:par>
                              <p:par>
                                <p:cTn id="171" presetID="1" presetClass="entr" presetSubtype="0" fill="hold" grpId="1" nodeType="withEffect">
                                  <p:stCondLst>
                                    <p:cond delay="0"/>
                                  </p:stCondLst>
                                  <p:childTnLst>
                                    <p:set>
                                      <p:cBhvr>
                                        <p:cTn id="172" dur="1" fill="hold">
                                          <p:stCondLst>
                                            <p:cond delay="0"/>
                                          </p:stCondLst>
                                        </p:cTn>
                                        <p:tgtEl>
                                          <p:spTgt spid="188"/>
                                        </p:tgtEl>
                                        <p:attrNameLst>
                                          <p:attrName>style.visibility</p:attrName>
                                        </p:attrNameLst>
                                      </p:cBhvr>
                                      <p:to>
                                        <p:strVal val="visible"/>
                                      </p:to>
                                    </p:set>
                                  </p:childTnLst>
                                </p:cTn>
                              </p:par>
                              <p:par>
                                <p:cTn id="173" presetID="1" presetClass="entr" presetSubtype="0" fill="hold" grpId="1" nodeType="withEffect">
                                  <p:stCondLst>
                                    <p:cond delay="0"/>
                                  </p:stCondLst>
                                  <p:childTnLst>
                                    <p:set>
                                      <p:cBhvr>
                                        <p:cTn id="174" dur="1" fill="hold">
                                          <p:stCondLst>
                                            <p:cond delay="0"/>
                                          </p:stCondLst>
                                        </p:cTn>
                                        <p:tgtEl>
                                          <p:spTgt spid="189"/>
                                        </p:tgtEl>
                                        <p:attrNameLst>
                                          <p:attrName>style.visibility</p:attrName>
                                        </p:attrNameLst>
                                      </p:cBhvr>
                                      <p:to>
                                        <p:strVal val="visible"/>
                                      </p:to>
                                    </p:set>
                                  </p:childTnLst>
                                </p:cTn>
                              </p:par>
                              <p:par>
                                <p:cTn id="175" presetID="1" presetClass="entr" presetSubtype="0" fill="hold" grpId="1" nodeType="withEffect">
                                  <p:stCondLst>
                                    <p:cond delay="0"/>
                                  </p:stCondLst>
                                  <p:childTnLst>
                                    <p:set>
                                      <p:cBhvr>
                                        <p:cTn id="176" dur="1" fill="hold">
                                          <p:stCondLst>
                                            <p:cond delay="0"/>
                                          </p:stCondLst>
                                        </p:cTn>
                                        <p:tgtEl>
                                          <p:spTgt spid="190"/>
                                        </p:tgtEl>
                                        <p:attrNameLst>
                                          <p:attrName>style.visibility</p:attrName>
                                        </p:attrNameLst>
                                      </p:cBhvr>
                                      <p:to>
                                        <p:strVal val="visible"/>
                                      </p:to>
                                    </p:set>
                                  </p:childTnLst>
                                </p:cTn>
                              </p:par>
                              <p:par>
                                <p:cTn id="177" presetID="1" presetClass="entr" presetSubtype="0" fill="hold" grpId="1" nodeType="withEffect">
                                  <p:stCondLst>
                                    <p:cond delay="0"/>
                                  </p:stCondLst>
                                  <p:childTnLst>
                                    <p:set>
                                      <p:cBhvr>
                                        <p:cTn id="178" dur="1" fill="hold">
                                          <p:stCondLst>
                                            <p:cond delay="0"/>
                                          </p:stCondLst>
                                        </p:cTn>
                                        <p:tgtEl>
                                          <p:spTgt spid="191"/>
                                        </p:tgtEl>
                                        <p:attrNameLst>
                                          <p:attrName>style.visibility</p:attrName>
                                        </p:attrNameLst>
                                      </p:cBhvr>
                                      <p:to>
                                        <p:strVal val="visible"/>
                                      </p:to>
                                    </p:set>
                                  </p:childTnLst>
                                </p:cTn>
                              </p:par>
                              <p:par>
                                <p:cTn id="179" presetID="1" presetClass="entr" presetSubtype="0" fill="hold" nodeType="withEffect">
                                  <p:stCondLst>
                                    <p:cond delay="0"/>
                                  </p:stCondLst>
                                  <p:childTnLst>
                                    <p:set>
                                      <p:cBhvr>
                                        <p:cTn id="180" dur="1" fill="hold">
                                          <p:stCondLst>
                                            <p:cond delay="0"/>
                                          </p:stCondLst>
                                        </p:cTn>
                                        <p:tgtEl>
                                          <p:spTgt spid="192"/>
                                        </p:tgtEl>
                                        <p:attrNameLst>
                                          <p:attrName>style.visibility</p:attrName>
                                        </p:attrNameLst>
                                      </p:cBhvr>
                                      <p:to>
                                        <p:strVal val="visible"/>
                                      </p:to>
                                    </p:set>
                                  </p:childTnLst>
                                </p:cTn>
                              </p:par>
                              <p:par>
                                <p:cTn id="181" presetID="1" presetClass="entr" presetSubtype="0" fill="hold" nodeType="withEffect">
                                  <p:stCondLst>
                                    <p:cond delay="0"/>
                                  </p:stCondLst>
                                  <p:childTnLst>
                                    <p:set>
                                      <p:cBhvr>
                                        <p:cTn id="182" dur="1" fill="hold">
                                          <p:stCondLst>
                                            <p:cond delay="0"/>
                                          </p:stCondLst>
                                        </p:cTn>
                                        <p:tgtEl>
                                          <p:spTgt spid="193"/>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194"/>
                                        </p:tgtEl>
                                        <p:attrNameLst>
                                          <p:attrName>style.visibility</p:attrName>
                                        </p:attrNameLst>
                                      </p:cBhvr>
                                      <p:to>
                                        <p:strVal val="visible"/>
                                      </p:to>
                                    </p:set>
                                  </p:childTnLst>
                                </p:cTn>
                              </p:par>
                              <p:par>
                                <p:cTn id="185" presetID="1" presetClass="entr" presetSubtype="0" fill="hold" nodeType="withEffect">
                                  <p:stCondLst>
                                    <p:cond delay="0"/>
                                  </p:stCondLst>
                                  <p:childTnLst>
                                    <p:set>
                                      <p:cBhvr>
                                        <p:cTn id="186" dur="1" fill="hold">
                                          <p:stCondLst>
                                            <p:cond delay="0"/>
                                          </p:stCondLst>
                                        </p:cTn>
                                        <p:tgtEl>
                                          <p:spTgt spid="195"/>
                                        </p:tgtEl>
                                        <p:attrNameLst>
                                          <p:attrName>style.visibility</p:attrName>
                                        </p:attrNameLst>
                                      </p:cBhvr>
                                      <p:to>
                                        <p:strVal val="visible"/>
                                      </p:to>
                                    </p:set>
                                  </p:childTnLst>
                                </p:cTn>
                              </p:par>
                              <p:par>
                                <p:cTn id="187" presetID="1" presetClass="entr" presetSubtype="0" fill="hold" nodeType="withEffect">
                                  <p:stCondLst>
                                    <p:cond delay="0"/>
                                  </p:stCondLst>
                                  <p:childTnLst>
                                    <p:set>
                                      <p:cBhvr>
                                        <p:cTn id="188" dur="1" fill="hold">
                                          <p:stCondLst>
                                            <p:cond delay="0"/>
                                          </p:stCondLst>
                                        </p:cTn>
                                        <p:tgtEl>
                                          <p:spTgt spid="196"/>
                                        </p:tgtEl>
                                        <p:attrNameLst>
                                          <p:attrName>style.visibility</p:attrName>
                                        </p:attrNameLst>
                                      </p:cBhvr>
                                      <p:to>
                                        <p:strVal val="visible"/>
                                      </p:to>
                                    </p:set>
                                  </p:childTnLst>
                                </p:cTn>
                              </p:par>
                              <p:par>
                                <p:cTn id="189" presetID="1" presetClass="entr" presetSubtype="0" fill="hold" nodeType="withEffect">
                                  <p:stCondLst>
                                    <p:cond delay="0"/>
                                  </p:stCondLst>
                                  <p:childTnLst>
                                    <p:set>
                                      <p:cBhvr>
                                        <p:cTn id="190" dur="1" fill="hold">
                                          <p:stCondLst>
                                            <p:cond delay="0"/>
                                          </p:stCondLst>
                                        </p:cTn>
                                        <p:tgtEl>
                                          <p:spTgt spid="197"/>
                                        </p:tgtEl>
                                        <p:attrNameLst>
                                          <p:attrName>style.visibility</p:attrName>
                                        </p:attrNameLst>
                                      </p:cBhvr>
                                      <p:to>
                                        <p:strVal val="visible"/>
                                      </p:to>
                                    </p:set>
                                  </p:childTnLst>
                                </p:cTn>
                              </p:par>
                              <p:par>
                                <p:cTn id="191" presetID="1" presetClass="entr" presetSubtype="0" fill="hold" nodeType="withEffect">
                                  <p:stCondLst>
                                    <p:cond delay="0"/>
                                  </p:stCondLst>
                                  <p:childTnLst>
                                    <p:set>
                                      <p:cBhvr>
                                        <p:cTn id="192" dur="1" fill="hold">
                                          <p:stCondLst>
                                            <p:cond delay="0"/>
                                          </p:stCondLst>
                                        </p:cTn>
                                        <p:tgtEl>
                                          <p:spTgt spid="198"/>
                                        </p:tgtEl>
                                        <p:attrNameLst>
                                          <p:attrName>style.visibility</p:attrName>
                                        </p:attrNameLst>
                                      </p:cBhvr>
                                      <p:to>
                                        <p:strVal val="visible"/>
                                      </p:to>
                                    </p:set>
                                  </p:childTnLst>
                                </p:cTn>
                              </p:par>
                              <p:par>
                                <p:cTn id="193" presetID="1" presetClass="entr" presetSubtype="0" fill="hold" nodeType="withEffect">
                                  <p:stCondLst>
                                    <p:cond delay="0"/>
                                  </p:stCondLst>
                                  <p:childTnLst>
                                    <p:set>
                                      <p:cBhvr>
                                        <p:cTn id="194" dur="1" fill="hold">
                                          <p:stCondLst>
                                            <p:cond delay="0"/>
                                          </p:stCondLst>
                                        </p:cTn>
                                        <p:tgtEl>
                                          <p:spTgt spid="199"/>
                                        </p:tgtEl>
                                        <p:attrNameLst>
                                          <p:attrName>style.visibility</p:attrName>
                                        </p:attrNameLst>
                                      </p:cBhvr>
                                      <p:to>
                                        <p:strVal val="visible"/>
                                      </p:to>
                                    </p:set>
                                  </p:childTnLst>
                                </p:cTn>
                              </p:par>
                              <p:par>
                                <p:cTn id="195" presetID="1" presetClass="entr" presetSubtype="0" fill="hold" nodeType="withEffect">
                                  <p:stCondLst>
                                    <p:cond delay="0"/>
                                  </p:stCondLst>
                                  <p:childTnLst>
                                    <p:set>
                                      <p:cBhvr>
                                        <p:cTn id="196" dur="1" fill="hold">
                                          <p:stCondLst>
                                            <p:cond delay="0"/>
                                          </p:stCondLst>
                                        </p:cTn>
                                        <p:tgtEl>
                                          <p:spTgt spid="200"/>
                                        </p:tgtEl>
                                        <p:attrNameLst>
                                          <p:attrName>style.visibility</p:attrName>
                                        </p:attrNameLst>
                                      </p:cBhvr>
                                      <p:to>
                                        <p:strVal val="visible"/>
                                      </p:to>
                                    </p:set>
                                  </p:childTnLst>
                                </p:cTn>
                              </p:par>
                              <p:par>
                                <p:cTn id="197" presetID="1" presetClass="entr" presetSubtype="0" fill="hold" nodeType="withEffect">
                                  <p:stCondLst>
                                    <p:cond delay="0"/>
                                  </p:stCondLst>
                                  <p:childTnLst>
                                    <p:set>
                                      <p:cBhvr>
                                        <p:cTn id="198" dur="1" fill="hold">
                                          <p:stCondLst>
                                            <p:cond delay="0"/>
                                          </p:stCondLst>
                                        </p:cTn>
                                        <p:tgtEl>
                                          <p:spTgt spid="201"/>
                                        </p:tgtEl>
                                        <p:attrNameLst>
                                          <p:attrName>style.visibility</p:attrName>
                                        </p:attrNameLst>
                                      </p:cBhvr>
                                      <p:to>
                                        <p:strVal val="visible"/>
                                      </p:to>
                                    </p:set>
                                  </p:childTnLst>
                                </p:cTn>
                              </p:par>
                              <p:par>
                                <p:cTn id="199" presetID="1" presetClass="entr" presetSubtype="0" fill="hold" nodeType="withEffect">
                                  <p:stCondLst>
                                    <p:cond delay="0"/>
                                  </p:stCondLst>
                                  <p:childTnLst>
                                    <p:set>
                                      <p:cBhvr>
                                        <p:cTn id="200" dur="1" fill="hold">
                                          <p:stCondLst>
                                            <p:cond delay="0"/>
                                          </p:stCondLst>
                                        </p:cTn>
                                        <p:tgtEl>
                                          <p:spTgt spid="202"/>
                                        </p:tgtEl>
                                        <p:attrNameLst>
                                          <p:attrName>style.visibility</p:attrName>
                                        </p:attrNameLst>
                                      </p:cBhvr>
                                      <p:to>
                                        <p:strVal val="visible"/>
                                      </p:to>
                                    </p:set>
                                  </p:childTnLst>
                                </p:cTn>
                              </p:par>
                              <p:par>
                                <p:cTn id="201" presetID="1" presetClass="entr" presetSubtype="0" fill="hold" grpId="1" nodeType="withEffect">
                                  <p:stCondLst>
                                    <p:cond delay="0"/>
                                  </p:stCondLst>
                                  <p:childTnLst>
                                    <p:set>
                                      <p:cBhvr>
                                        <p:cTn id="202" dur="1" fill="hold">
                                          <p:stCondLst>
                                            <p:cond delay="0"/>
                                          </p:stCondLst>
                                        </p:cTn>
                                        <p:tgtEl>
                                          <p:spTgt spid="203"/>
                                        </p:tgtEl>
                                        <p:attrNameLst>
                                          <p:attrName>style.visibility</p:attrName>
                                        </p:attrNameLst>
                                      </p:cBhvr>
                                      <p:to>
                                        <p:strVal val="visible"/>
                                      </p:to>
                                    </p:set>
                                  </p:childTnLst>
                                </p:cTn>
                              </p:par>
                              <p:par>
                                <p:cTn id="203" presetID="1" presetClass="entr" presetSubtype="0" fill="hold" grpId="1" nodeType="withEffect">
                                  <p:stCondLst>
                                    <p:cond delay="0"/>
                                  </p:stCondLst>
                                  <p:childTnLst>
                                    <p:set>
                                      <p:cBhvr>
                                        <p:cTn id="204" dur="1" fill="hold">
                                          <p:stCondLst>
                                            <p:cond delay="0"/>
                                          </p:stCondLst>
                                        </p:cTn>
                                        <p:tgtEl>
                                          <p:spTgt spid="204"/>
                                        </p:tgtEl>
                                        <p:attrNameLst>
                                          <p:attrName>style.visibility</p:attrName>
                                        </p:attrNameLst>
                                      </p:cBhvr>
                                      <p:to>
                                        <p:strVal val="visible"/>
                                      </p:to>
                                    </p:set>
                                  </p:childTnLst>
                                </p:cTn>
                              </p:par>
                              <p:par>
                                <p:cTn id="205" presetID="1" presetClass="entr" presetSubtype="0" fill="hold" grpId="1" nodeType="withEffect">
                                  <p:stCondLst>
                                    <p:cond delay="0"/>
                                  </p:stCondLst>
                                  <p:childTnLst>
                                    <p:set>
                                      <p:cBhvr>
                                        <p:cTn id="206" dur="1" fill="hold">
                                          <p:stCondLst>
                                            <p:cond delay="0"/>
                                          </p:stCondLst>
                                        </p:cTn>
                                        <p:tgtEl>
                                          <p:spTgt spid="205"/>
                                        </p:tgtEl>
                                        <p:attrNameLst>
                                          <p:attrName>style.visibility</p:attrName>
                                        </p:attrNameLst>
                                      </p:cBhvr>
                                      <p:to>
                                        <p:strVal val="visible"/>
                                      </p:to>
                                    </p:set>
                                  </p:childTnLst>
                                </p:cTn>
                              </p:par>
                              <p:par>
                                <p:cTn id="207" presetID="1" presetClass="entr" presetSubtype="0" fill="hold" grpId="1" nodeType="withEffect">
                                  <p:stCondLst>
                                    <p:cond delay="0"/>
                                  </p:stCondLst>
                                  <p:childTnLst>
                                    <p:set>
                                      <p:cBhvr>
                                        <p:cTn id="208" dur="1" fill="hold">
                                          <p:stCondLst>
                                            <p:cond delay="0"/>
                                          </p:stCondLst>
                                        </p:cTn>
                                        <p:tgtEl>
                                          <p:spTgt spid="206"/>
                                        </p:tgtEl>
                                        <p:attrNameLst>
                                          <p:attrName>style.visibility</p:attrName>
                                        </p:attrNameLst>
                                      </p:cBhvr>
                                      <p:to>
                                        <p:strVal val="visible"/>
                                      </p:to>
                                    </p:set>
                                  </p:childTnLst>
                                </p:cTn>
                              </p:par>
                              <p:par>
                                <p:cTn id="209" presetID="1" presetClass="entr" presetSubtype="0" fill="hold" grpId="1" nodeType="withEffect">
                                  <p:stCondLst>
                                    <p:cond delay="0"/>
                                  </p:stCondLst>
                                  <p:childTnLst>
                                    <p:set>
                                      <p:cBhvr>
                                        <p:cTn id="210" dur="1" fill="hold">
                                          <p:stCondLst>
                                            <p:cond delay="0"/>
                                          </p:stCondLst>
                                        </p:cTn>
                                        <p:tgtEl>
                                          <p:spTgt spid="207"/>
                                        </p:tgtEl>
                                        <p:attrNameLst>
                                          <p:attrName>style.visibility</p:attrName>
                                        </p:attrNameLst>
                                      </p:cBhvr>
                                      <p:to>
                                        <p:strVal val="visible"/>
                                      </p:to>
                                    </p:set>
                                  </p:childTnLst>
                                </p:cTn>
                              </p:par>
                              <p:par>
                                <p:cTn id="211" presetID="1" presetClass="entr" presetSubtype="0" fill="hold" grpId="1" nodeType="withEffect">
                                  <p:stCondLst>
                                    <p:cond delay="0"/>
                                  </p:stCondLst>
                                  <p:childTnLst>
                                    <p:set>
                                      <p:cBhvr>
                                        <p:cTn id="212" dur="1" fill="hold">
                                          <p:stCondLst>
                                            <p:cond delay="0"/>
                                          </p:stCondLst>
                                        </p:cTn>
                                        <p:tgtEl>
                                          <p:spTgt spid="208"/>
                                        </p:tgtEl>
                                        <p:attrNameLst>
                                          <p:attrName>style.visibility</p:attrName>
                                        </p:attrNameLst>
                                      </p:cBhvr>
                                      <p:to>
                                        <p:strVal val="visible"/>
                                      </p:to>
                                    </p:set>
                                  </p:childTnLst>
                                </p:cTn>
                              </p:par>
                              <p:par>
                                <p:cTn id="213" presetID="1" presetClass="entr" presetSubtype="0" fill="hold" grpId="1" nodeType="withEffect">
                                  <p:stCondLst>
                                    <p:cond delay="0"/>
                                  </p:stCondLst>
                                  <p:childTnLst>
                                    <p:set>
                                      <p:cBhvr>
                                        <p:cTn id="214" dur="1" fill="hold">
                                          <p:stCondLst>
                                            <p:cond delay="0"/>
                                          </p:stCondLst>
                                        </p:cTn>
                                        <p:tgtEl>
                                          <p:spTgt spid="209"/>
                                        </p:tgtEl>
                                        <p:attrNameLst>
                                          <p:attrName>style.visibility</p:attrName>
                                        </p:attrNameLst>
                                      </p:cBhvr>
                                      <p:to>
                                        <p:strVal val="visible"/>
                                      </p:to>
                                    </p:set>
                                  </p:childTnLst>
                                </p:cTn>
                              </p:par>
                              <p:par>
                                <p:cTn id="215" presetID="1" presetClass="entr" presetSubtype="0" fill="hold" grpId="1" nodeType="withEffect">
                                  <p:stCondLst>
                                    <p:cond delay="0"/>
                                  </p:stCondLst>
                                  <p:childTnLst>
                                    <p:set>
                                      <p:cBhvr>
                                        <p:cTn id="216" dur="1" fill="hold">
                                          <p:stCondLst>
                                            <p:cond delay="0"/>
                                          </p:stCondLst>
                                        </p:cTn>
                                        <p:tgtEl>
                                          <p:spTgt spid="210"/>
                                        </p:tgtEl>
                                        <p:attrNameLst>
                                          <p:attrName>style.visibility</p:attrName>
                                        </p:attrNameLst>
                                      </p:cBhvr>
                                      <p:to>
                                        <p:strVal val="visible"/>
                                      </p:to>
                                    </p:set>
                                  </p:childTnLst>
                                </p:cTn>
                              </p:par>
                              <p:par>
                                <p:cTn id="217" presetID="1" presetClass="entr" presetSubtype="0" fill="hold" grpId="2" nodeType="withEffect">
                                  <p:stCondLst>
                                    <p:cond delay="0"/>
                                  </p:stCondLst>
                                  <p:childTnLst>
                                    <p:set>
                                      <p:cBhvr>
                                        <p:cTn id="218" dur="1" fill="hold">
                                          <p:stCondLst>
                                            <p:cond delay="0"/>
                                          </p:stCondLst>
                                        </p:cTn>
                                        <p:tgtEl>
                                          <p:spTgt spid="211"/>
                                        </p:tgtEl>
                                        <p:attrNameLst>
                                          <p:attrName>style.visibility</p:attrName>
                                        </p:attrNameLst>
                                      </p:cBhvr>
                                      <p:to>
                                        <p:strVal val="visible"/>
                                      </p:to>
                                    </p:set>
                                  </p:childTnLst>
                                </p:cTn>
                              </p:par>
                              <p:par>
                                <p:cTn id="219" presetID="1" presetClass="entr" presetSubtype="0" fill="hold" grpId="2" nodeType="withEffect">
                                  <p:stCondLst>
                                    <p:cond delay="0"/>
                                  </p:stCondLst>
                                  <p:childTnLst>
                                    <p:set>
                                      <p:cBhvr>
                                        <p:cTn id="220" dur="1" fill="hold">
                                          <p:stCondLst>
                                            <p:cond delay="0"/>
                                          </p:stCondLst>
                                        </p:cTn>
                                        <p:tgtEl>
                                          <p:spTgt spid="212"/>
                                        </p:tgtEl>
                                        <p:attrNameLst>
                                          <p:attrName>style.visibility</p:attrName>
                                        </p:attrNameLst>
                                      </p:cBhvr>
                                      <p:to>
                                        <p:strVal val="visible"/>
                                      </p:to>
                                    </p:set>
                                  </p:childTnLst>
                                </p:cTn>
                              </p:par>
                              <p:par>
                                <p:cTn id="221" presetID="1" presetClass="entr" presetSubtype="0" fill="hold" grpId="2" nodeType="withEffect">
                                  <p:stCondLst>
                                    <p:cond delay="0"/>
                                  </p:stCondLst>
                                  <p:childTnLst>
                                    <p:set>
                                      <p:cBhvr>
                                        <p:cTn id="222" dur="1" fill="hold">
                                          <p:stCondLst>
                                            <p:cond delay="0"/>
                                          </p:stCondLst>
                                        </p:cTn>
                                        <p:tgtEl>
                                          <p:spTgt spid="213"/>
                                        </p:tgtEl>
                                        <p:attrNameLst>
                                          <p:attrName>style.visibility</p:attrName>
                                        </p:attrNameLst>
                                      </p:cBhvr>
                                      <p:to>
                                        <p:strVal val="visible"/>
                                      </p:to>
                                    </p:set>
                                  </p:childTnLst>
                                </p:cTn>
                              </p:par>
                              <p:par>
                                <p:cTn id="223" presetID="1" presetClass="entr" presetSubtype="0" fill="hold" grpId="2" nodeType="withEffect">
                                  <p:stCondLst>
                                    <p:cond delay="0"/>
                                  </p:stCondLst>
                                  <p:childTnLst>
                                    <p:set>
                                      <p:cBhvr>
                                        <p:cTn id="224" dur="1" fill="hold">
                                          <p:stCondLst>
                                            <p:cond delay="0"/>
                                          </p:stCondLst>
                                        </p:cTn>
                                        <p:tgtEl>
                                          <p:spTgt spid="214"/>
                                        </p:tgtEl>
                                        <p:attrNameLst>
                                          <p:attrName>style.visibility</p:attrName>
                                        </p:attrNameLst>
                                      </p:cBhvr>
                                      <p:to>
                                        <p:strVal val="visible"/>
                                      </p:to>
                                    </p:set>
                                  </p:childTnLst>
                                </p:cTn>
                              </p:par>
                              <p:par>
                                <p:cTn id="225" presetID="1" presetClass="entr" presetSubtype="0" fill="hold" grpId="2" nodeType="withEffect">
                                  <p:stCondLst>
                                    <p:cond delay="0"/>
                                  </p:stCondLst>
                                  <p:childTnLst>
                                    <p:set>
                                      <p:cBhvr>
                                        <p:cTn id="226" dur="1" fill="hold">
                                          <p:stCondLst>
                                            <p:cond delay="0"/>
                                          </p:stCondLst>
                                        </p:cTn>
                                        <p:tgtEl>
                                          <p:spTgt spid="215"/>
                                        </p:tgtEl>
                                        <p:attrNameLst>
                                          <p:attrName>style.visibility</p:attrName>
                                        </p:attrNameLst>
                                      </p:cBhvr>
                                      <p:to>
                                        <p:strVal val="visible"/>
                                      </p:to>
                                    </p:set>
                                  </p:childTnLst>
                                </p:cTn>
                              </p:par>
                              <p:par>
                                <p:cTn id="227" presetID="1" presetClass="entr" presetSubtype="0" fill="hold" grpId="2" nodeType="withEffect">
                                  <p:stCondLst>
                                    <p:cond delay="0"/>
                                  </p:stCondLst>
                                  <p:childTnLst>
                                    <p:set>
                                      <p:cBhvr>
                                        <p:cTn id="228" dur="1" fill="hold">
                                          <p:stCondLst>
                                            <p:cond delay="0"/>
                                          </p:stCondLst>
                                        </p:cTn>
                                        <p:tgtEl>
                                          <p:spTgt spid="216"/>
                                        </p:tgtEl>
                                        <p:attrNameLst>
                                          <p:attrName>style.visibility</p:attrName>
                                        </p:attrNameLst>
                                      </p:cBhvr>
                                      <p:to>
                                        <p:strVal val="visible"/>
                                      </p:to>
                                    </p:set>
                                  </p:childTnLst>
                                </p:cTn>
                              </p:par>
                              <p:par>
                                <p:cTn id="229" presetID="1" presetClass="entr" presetSubtype="0" fill="hold" grpId="0" nodeType="withEffect">
                                  <p:stCondLst>
                                    <p:cond delay="0"/>
                                  </p:stCondLst>
                                  <p:childTnLst>
                                    <p:set>
                                      <p:cBhvr>
                                        <p:cTn id="230" dur="1" fill="hold">
                                          <p:stCondLst>
                                            <p:cond delay="0"/>
                                          </p:stCondLst>
                                        </p:cTn>
                                        <p:tgtEl>
                                          <p:spTgt spid="222"/>
                                        </p:tgtEl>
                                        <p:attrNameLst>
                                          <p:attrName>style.visibility</p:attrName>
                                        </p:attrNameLst>
                                      </p:cBhvr>
                                      <p:to>
                                        <p:strVal val="visible"/>
                                      </p:to>
                                    </p:set>
                                  </p:childTnLst>
                                </p:cTn>
                              </p:par>
                              <p:par>
                                <p:cTn id="231" presetID="1" presetClass="entr" presetSubtype="0" fill="hold" grpId="0" nodeType="withEffect">
                                  <p:stCondLst>
                                    <p:cond delay="0"/>
                                  </p:stCondLst>
                                  <p:childTnLst>
                                    <p:set>
                                      <p:cBhvr>
                                        <p:cTn id="232" dur="1" fill="hold">
                                          <p:stCondLst>
                                            <p:cond delay="0"/>
                                          </p:stCondLst>
                                        </p:cTn>
                                        <p:tgtEl>
                                          <p:spTgt spid="220"/>
                                        </p:tgtEl>
                                        <p:attrNameLst>
                                          <p:attrName>style.visibility</p:attrName>
                                        </p:attrNameLst>
                                      </p:cBhvr>
                                      <p:to>
                                        <p:strVal val="visible"/>
                                      </p:to>
                                    </p:set>
                                  </p:childTnLst>
                                </p:cTn>
                              </p:par>
                              <p:par>
                                <p:cTn id="233" presetID="1" presetClass="entr" presetSubtype="0" fill="hold" grpId="2" nodeType="withEffect">
                                  <p:stCondLst>
                                    <p:cond delay="0"/>
                                  </p:stCondLst>
                                  <p:childTnLst>
                                    <p:set>
                                      <p:cBhvr>
                                        <p:cTn id="234" dur="1" fill="hold">
                                          <p:stCondLst>
                                            <p:cond delay="0"/>
                                          </p:stCondLst>
                                        </p:cTn>
                                        <p:tgtEl>
                                          <p:spTgt spid="221"/>
                                        </p:tgtEl>
                                        <p:attrNameLst>
                                          <p:attrName>style.visibility</p:attrName>
                                        </p:attrNameLst>
                                      </p:cBhvr>
                                      <p:to>
                                        <p:strVal val="visible"/>
                                      </p:to>
                                    </p:set>
                                  </p:childTnLst>
                                </p:cTn>
                              </p:par>
                            </p:childTnLst>
                          </p:cTn>
                        </p:par>
                      </p:childTnLst>
                    </p:cTn>
                  </p:par>
                  <p:par>
                    <p:cTn id="235" fill="hold">
                      <p:stCondLst>
                        <p:cond delay="indefinite"/>
                      </p:stCondLst>
                      <p:childTnLst>
                        <p:par>
                          <p:cTn id="236" fill="hold">
                            <p:stCondLst>
                              <p:cond delay="0"/>
                            </p:stCondLst>
                            <p:childTnLst>
                              <p:par>
                                <p:cTn id="237" presetID="1" presetClass="entr" presetSubtype="0" fill="hold" grpId="2" nodeType="clickEffect">
                                  <p:stCondLst>
                                    <p:cond delay="0"/>
                                  </p:stCondLst>
                                  <p:childTnLst>
                                    <p:set>
                                      <p:cBhvr>
                                        <p:cTn id="238" dur="1" fill="hold">
                                          <p:stCondLst>
                                            <p:cond delay="0"/>
                                          </p:stCondLst>
                                        </p:cTn>
                                        <p:tgtEl>
                                          <p:spTgt spid="219"/>
                                        </p:tgtEl>
                                        <p:attrNameLst>
                                          <p:attrName>style.visibility</p:attrName>
                                        </p:attrNameLst>
                                      </p:cBhvr>
                                      <p:to>
                                        <p:strVal val="visible"/>
                                      </p:to>
                                    </p:set>
                                  </p:childTnLst>
                                </p:cTn>
                              </p:par>
                              <p:par>
                                <p:cTn id="239" presetID="1" presetClass="entr" presetSubtype="0" fill="hold" grpId="0" nodeType="withEffect">
                                  <p:stCondLst>
                                    <p:cond delay="0"/>
                                  </p:stCondLst>
                                  <p:childTnLst>
                                    <p:set>
                                      <p:cBhvr>
                                        <p:cTn id="240" dur="1" fill="hold">
                                          <p:stCondLst>
                                            <p:cond delay="0"/>
                                          </p:stCondLst>
                                        </p:cTn>
                                        <p:tgtEl>
                                          <p:spTgt spid="218"/>
                                        </p:tgtEl>
                                        <p:attrNameLst>
                                          <p:attrName>style.visibility</p:attrName>
                                        </p:attrNameLst>
                                      </p:cBhvr>
                                      <p:to>
                                        <p:strVal val="visible"/>
                                      </p:to>
                                    </p:set>
                                  </p:childTnLst>
                                </p:cTn>
                              </p:par>
                              <p:par>
                                <p:cTn id="241" presetID="1" presetClass="entr" presetSubtype="0" fill="hold" nodeType="withEffect">
                                  <p:stCondLst>
                                    <p:cond delay="0"/>
                                  </p:stCondLst>
                                  <p:childTnLst>
                                    <p:set>
                                      <p:cBhvr>
                                        <p:cTn id="242" dur="1" fill="hold">
                                          <p:stCondLst>
                                            <p:cond delay="0"/>
                                          </p:stCondLst>
                                        </p:cTn>
                                        <p:tgtEl>
                                          <p:spTgt spid="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P spid="98" grpId="1"/>
      <p:bldP spid="99" grpId="0"/>
      <p:bldP spid="99" grpId="1"/>
      <p:bldP spid="100" grpId="0"/>
      <p:bldP spid="101" grpId="0"/>
      <p:bldP spid="102" grpId="0"/>
      <p:bldP spid="103" grpId="0"/>
      <p:bldP spid="104" grpId="0"/>
      <p:bldP spid="105" grpId="0"/>
      <p:bldP spid="106" grpId="0"/>
      <p:bldP spid="107" grpId="0"/>
      <p:bldP spid="108" grpId="0"/>
      <p:bldP spid="109" grpId="0" animBg="1"/>
      <p:bldP spid="109" grpId="1" bldLvl="0" animBg="1"/>
      <p:bldP spid="110" grpId="0" animBg="1"/>
      <p:bldP spid="110" grpId="1" bldLvl="0" animBg="1"/>
      <p:bldP spid="111" grpId="0" animBg="1"/>
      <p:bldP spid="111" grpId="1" bldLvl="0" animBg="1"/>
      <p:bldP spid="112" grpId="0" animBg="1"/>
      <p:bldP spid="112" grpId="1" bldLvl="0" animBg="1"/>
      <p:bldP spid="113" grpId="0" animBg="1"/>
      <p:bldP spid="113" grpId="1" bldLvl="0" animBg="1"/>
      <p:bldP spid="114" grpId="0" animBg="1"/>
      <p:bldP spid="114" grpId="1" bldLvl="0" animBg="1"/>
      <p:bldP spid="115" grpId="0" animBg="1"/>
      <p:bldP spid="115" grpId="1" bldLvl="0" animBg="1"/>
      <p:bldP spid="116" grpId="0" animBg="1"/>
      <p:bldP spid="116" grpId="1" bldLvl="0" animBg="1"/>
      <p:bldP spid="128" grpId="0"/>
      <p:bldP spid="128" grpId="1"/>
      <p:bldP spid="129" grpId="0"/>
      <p:bldP spid="129" grpId="1"/>
      <p:bldP spid="130" grpId="0"/>
      <p:bldP spid="130" grpId="1"/>
      <p:bldP spid="131" grpId="0"/>
      <p:bldP spid="131" grpId="1"/>
      <p:bldP spid="132" grpId="0"/>
      <p:bldP spid="132" grpId="1"/>
      <p:bldP spid="133" grpId="0"/>
      <p:bldP spid="133" grpId="1"/>
      <p:bldP spid="134" grpId="0"/>
      <p:bldP spid="134" grpId="1"/>
      <p:bldP spid="135" grpId="0"/>
      <p:bldP spid="135" grpId="1"/>
      <p:bldP spid="136" grpId="0"/>
      <p:bldP spid="136" grpId="1"/>
      <p:bldP spid="136" grpId="2"/>
      <p:bldP spid="137" grpId="0"/>
      <p:bldP spid="137" grpId="1"/>
      <p:bldP spid="137" grpId="2"/>
      <p:bldP spid="138" grpId="0"/>
      <p:bldP spid="138" grpId="1"/>
      <p:bldP spid="138" grpId="2"/>
      <p:bldP spid="139" grpId="0"/>
      <p:bldP spid="139" grpId="1"/>
      <p:bldP spid="139" grpId="2"/>
      <p:bldP spid="140" grpId="0"/>
      <p:bldP spid="140" grpId="1"/>
      <p:bldP spid="140" grpId="2"/>
      <p:bldP spid="141" grpId="0"/>
      <p:bldP spid="141" grpId="1"/>
      <p:bldP spid="141" grpId="2"/>
      <p:bldP spid="142" grpId="0"/>
      <p:bldP spid="142" grpId="1"/>
      <p:bldP spid="142" grpId="2"/>
      <p:bldP spid="144" grpId="0" animBg="1"/>
      <p:bldP spid="144" grpId="1" bldLvl="0" animBg="1"/>
      <p:bldP spid="145" grpId="0"/>
      <p:bldP spid="145" grpId="1"/>
      <p:bldP spid="145" grpId="2"/>
      <p:bldP spid="146" grpId="0" bldLvl="0" animBg="1"/>
      <p:bldP spid="146" grpId="1" bldLvl="0" animBg="1"/>
      <p:bldP spid="147" grpId="0" bldLvl="0" animBg="1"/>
      <p:bldP spid="147" grpId="1" bldLvl="0" animBg="1"/>
      <p:bldP spid="148" grpId="0" bldLvl="0" animBg="1"/>
      <p:bldP spid="148" grpId="1" bldLvl="0" animBg="1"/>
      <p:bldP spid="149" grpId="0" bldLvl="0" animBg="1"/>
      <p:bldP spid="149" grpId="1" bldLvl="0" animBg="1"/>
      <p:bldP spid="150" grpId="0" bldLvl="0" animBg="1"/>
      <p:bldP spid="150" grpId="1" bldLvl="0" animBg="1"/>
      <p:bldP spid="151" grpId="0" bldLvl="0" animBg="1"/>
      <p:bldP spid="151" grpId="1" bldLvl="0" animBg="1"/>
      <p:bldP spid="152" grpId="0" bldLvl="0" animBg="1"/>
      <p:bldP spid="152" grpId="1" bldLvl="0" animBg="1"/>
      <p:bldP spid="153" grpId="0" bldLvl="0" animBg="1"/>
      <p:bldP spid="153" grpId="1" bldLvl="0" animBg="1"/>
      <p:bldP spid="165" grpId="0"/>
      <p:bldP spid="165" grpId="1"/>
      <p:bldP spid="166" grpId="0"/>
      <p:bldP spid="166" grpId="1"/>
      <p:bldP spid="167" grpId="0"/>
      <p:bldP spid="167" grpId="1"/>
      <p:bldP spid="168" grpId="0"/>
      <p:bldP spid="168" grpId="1"/>
      <p:bldP spid="169" grpId="0"/>
      <p:bldP spid="169" grpId="1"/>
      <p:bldP spid="170" grpId="0"/>
      <p:bldP spid="170" grpId="1"/>
      <p:bldP spid="171" grpId="0"/>
      <p:bldP spid="171" grpId="1"/>
      <p:bldP spid="172" grpId="0"/>
      <p:bldP spid="172" grpId="1"/>
      <p:bldP spid="173" grpId="0"/>
      <p:bldP spid="173" grpId="1"/>
      <p:bldP spid="173" grpId="2"/>
      <p:bldP spid="174" grpId="0"/>
      <p:bldP spid="174" grpId="1"/>
      <p:bldP spid="174" grpId="2"/>
      <p:bldP spid="175" grpId="0"/>
      <p:bldP spid="175" grpId="1"/>
      <p:bldP spid="175" grpId="2"/>
      <p:bldP spid="176" grpId="0"/>
      <p:bldP spid="176" grpId="1"/>
      <p:bldP spid="176" grpId="2"/>
      <p:bldP spid="177" grpId="0"/>
      <p:bldP spid="177" grpId="1"/>
      <p:bldP spid="177" grpId="2"/>
      <p:bldP spid="178" grpId="0"/>
      <p:bldP spid="178" grpId="1"/>
      <p:bldP spid="178" grpId="2"/>
      <p:bldP spid="180" grpId="0" bldLvl="0" animBg="1"/>
      <p:bldP spid="181" grpId="0"/>
      <p:bldP spid="181" grpId="1"/>
      <p:bldP spid="181" grpId="2"/>
      <p:bldP spid="182" grpId="0" bldLvl="0" animBg="1"/>
      <p:bldP spid="183" grpId="0"/>
      <p:bldP spid="183" grpId="1"/>
      <p:bldP spid="183" grpId="2"/>
      <p:bldP spid="184" grpId="0" bldLvl="0" animBg="1"/>
      <p:bldP spid="184" grpId="1" bldLvl="0" animBg="1"/>
      <p:bldP spid="185" grpId="0" bldLvl="0" animBg="1"/>
      <p:bldP spid="185" grpId="1" bldLvl="0" animBg="1"/>
      <p:bldP spid="186" grpId="0" bldLvl="0" animBg="1"/>
      <p:bldP spid="186" grpId="1" bldLvl="0" animBg="1"/>
      <p:bldP spid="187" grpId="0" bldLvl="0" animBg="1"/>
      <p:bldP spid="187" grpId="1" bldLvl="0" animBg="1"/>
      <p:bldP spid="188" grpId="0" bldLvl="0" animBg="1"/>
      <p:bldP spid="188" grpId="1" bldLvl="0" animBg="1"/>
      <p:bldP spid="189" grpId="0" bldLvl="0" animBg="1"/>
      <p:bldP spid="189" grpId="1" bldLvl="0" animBg="1"/>
      <p:bldP spid="190" grpId="0" bldLvl="0" animBg="1"/>
      <p:bldP spid="190" grpId="1" bldLvl="0" animBg="1"/>
      <p:bldP spid="191" grpId="0" bldLvl="0" animBg="1"/>
      <p:bldP spid="191" grpId="1" bldLvl="0" animBg="1"/>
      <p:bldP spid="203" grpId="0"/>
      <p:bldP spid="203" grpId="1"/>
      <p:bldP spid="204" grpId="0"/>
      <p:bldP spid="204" grpId="1"/>
      <p:bldP spid="205" grpId="0"/>
      <p:bldP spid="205" grpId="1"/>
      <p:bldP spid="206" grpId="0"/>
      <p:bldP spid="206" grpId="1"/>
      <p:bldP spid="207" grpId="0"/>
      <p:bldP spid="207" grpId="1"/>
      <p:bldP spid="208" grpId="0"/>
      <p:bldP spid="208" grpId="1"/>
      <p:bldP spid="209" grpId="0"/>
      <p:bldP spid="209" grpId="1"/>
      <p:bldP spid="210" grpId="0"/>
      <p:bldP spid="210" grpId="1"/>
      <p:bldP spid="211" grpId="0"/>
      <p:bldP spid="211" grpId="1"/>
      <p:bldP spid="211" grpId="2"/>
      <p:bldP spid="212" grpId="0"/>
      <p:bldP spid="212" grpId="1"/>
      <p:bldP spid="212" grpId="2"/>
      <p:bldP spid="213" grpId="0"/>
      <p:bldP spid="213" grpId="1"/>
      <p:bldP spid="213" grpId="2"/>
      <p:bldP spid="214" grpId="0"/>
      <p:bldP spid="214" grpId="1"/>
      <p:bldP spid="214" grpId="2"/>
      <p:bldP spid="215" grpId="0"/>
      <p:bldP spid="215" grpId="1"/>
      <p:bldP spid="215" grpId="2"/>
      <p:bldP spid="216" grpId="0"/>
      <p:bldP spid="216" grpId="1"/>
      <p:bldP spid="216" grpId="2"/>
      <p:bldP spid="218" grpId="0" bldLvl="0" animBg="1"/>
      <p:bldP spid="219" grpId="0"/>
      <p:bldP spid="219" grpId="1"/>
      <p:bldP spid="219" grpId="2"/>
      <p:bldP spid="220" grpId="0" bldLvl="0" animBg="1"/>
      <p:bldP spid="221" grpId="0"/>
      <p:bldP spid="221" grpId="1"/>
      <p:bldP spid="221" grpId="2"/>
      <p:bldP spid="222" grpId="0" bldLvl="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normAutofit fontScale="92500" lnSpcReduction="20000"/>
          </a:bodyPr>
          <a:lstStyle/>
          <a:p>
            <a:pPr>
              <a:lnSpc>
                <a:spcPct val="120000"/>
              </a:lnSpc>
            </a:pPr>
            <a:r>
              <a:rPr lang="en-US" altLang="zh-CN" sz="3000" dirty="0">
                <a:latin typeface="Times New Roman" panose="02020603050405020304" pitchFamily="18" charset="0"/>
                <a:ea typeface="微软雅黑" panose="020B0503020204020204" pitchFamily="34" charset="-122"/>
                <a:cs typeface="Times New Roman" panose="02020603050405020304" pitchFamily="18" charset="0"/>
              </a:rPr>
              <a:t>Bellman-Ford </a:t>
            </a:r>
            <a:r>
              <a:rPr lang="zh-CN" altLang="en-US" sz="3000" dirty="0">
                <a:latin typeface="Times New Roman" panose="02020603050405020304" pitchFamily="18" charset="0"/>
                <a:ea typeface="微软雅黑" panose="020B0503020204020204" pitchFamily="34" charset="-122"/>
                <a:cs typeface="Times New Roman" panose="02020603050405020304" pitchFamily="18" charset="0"/>
              </a:rPr>
              <a:t>方程</a:t>
            </a:r>
            <a:endParaRPr lang="en-US" altLang="zh-CN" sz="3000" dirty="0">
              <a:latin typeface="Times New Roman" panose="02020603050405020304" pitchFamily="18" charset="0"/>
              <a:ea typeface="微软雅黑" panose="020B0503020204020204" pitchFamily="34" charset="-122"/>
              <a:cs typeface="Times New Roman" panose="02020603050405020304" pitchFamily="18" charset="0"/>
            </a:endParaRPr>
          </a:p>
          <a:p>
            <a:pPr lvl="1">
              <a:lnSpc>
                <a:spcPct val="120000"/>
              </a:lnSpc>
            </a:pPr>
            <a:r>
              <a:rPr lang="zh-CN" altLang="en-US" sz="2200" dirty="0">
                <a:cs typeface="Times New Roman" panose="02020603050405020304" pitchFamily="18" charset="0"/>
              </a:rPr>
              <a:t>假设</a:t>
            </a:r>
            <a:r>
              <a:rPr lang="en-US" altLang="zh-CN" sz="2200" dirty="0" err="1">
                <a:cs typeface="Times New Roman" panose="02020603050405020304" pitchFamily="18" charset="0"/>
              </a:rPr>
              <a:t>D</a:t>
            </a:r>
            <a:r>
              <a:rPr lang="en-US" altLang="zh-CN" sz="2200" baseline="-25000" dirty="0" err="1">
                <a:cs typeface="Times New Roman" panose="02020603050405020304" pitchFamily="18" charset="0"/>
              </a:rPr>
              <a:t>x</a:t>
            </a:r>
            <a:r>
              <a:rPr lang="en-US" altLang="zh-CN" sz="2200" dirty="0">
                <a:cs typeface="Times New Roman" panose="02020603050405020304" pitchFamily="18" charset="0"/>
              </a:rPr>
              <a:t>(y) </a:t>
            </a:r>
            <a:r>
              <a:rPr lang="zh-CN" altLang="en-US" sz="2200" dirty="0">
                <a:cs typeface="Times New Roman" panose="02020603050405020304" pitchFamily="18" charset="0"/>
              </a:rPr>
              <a:t>是</a:t>
            </a:r>
            <a:r>
              <a:rPr lang="en-US" altLang="zh-CN" sz="2200" dirty="0">
                <a:cs typeface="Times New Roman" panose="02020603050405020304" pitchFamily="18" charset="0"/>
              </a:rPr>
              <a:t> </a:t>
            </a:r>
            <a:r>
              <a:rPr lang="zh-CN" altLang="en-US" sz="2200" dirty="0">
                <a:cs typeface="Times New Roman" panose="02020603050405020304" pitchFamily="18" charset="0"/>
              </a:rPr>
              <a:t>从</a:t>
            </a:r>
            <a:r>
              <a:rPr lang="en-US" altLang="zh-CN" sz="2200" dirty="0">
                <a:cs typeface="Times New Roman" panose="02020603050405020304" pitchFamily="18" charset="0"/>
              </a:rPr>
              <a:t>x</a:t>
            </a:r>
            <a:r>
              <a:rPr lang="zh-CN" altLang="en-US" sz="2200" dirty="0">
                <a:cs typeface="Times New Roman" panose="02020603050405020304" pitchFamily="18" charset="0"/>
              </a:rPr>
              <a:t>到</a:t>
            </a:r>
            <a:r>
              <a:rPr lang="en-US" altLang="zh-CN" sz="2200" dirty="0">
                <a:cs typeface="Times New Roman" panose="02020603050405020304" pitchFamily="18" charset="0"/>
              </a:rPr>
              <a:t>y</a:t>
            </a:r>
            <a:r>
              <a:rPr lang="zh-CN" altLang="en-US" sz="2200" dirty="0">
                <a:cs typeface="Times New Roman" panose="02020603050405020304" pitchFamily="18" charset="0"/>
              </a:rPr>
              <a:t>最小代价路径的代价值</a:t>
            </a:r>
            <a:endParaRPr lang="en-US" altLang="zh-CN" sz="2200" dirty="0">
              <a:cs typeface="Times New Roman" panose="02020603050405020304" pitchFamily="18" charset="0"/>
            </a:endParaRPr>
          </a:p>
          <a:p>
            <a:pPr lvl="1">
              <a:lnSpc>
                <a:spcPct val="120000"/>
              </a:lnSpc>
            </a:pPr>
            <a:r>
              <a:rPr lang="zh-CN" altLang="en-US" sz="2600" dirty="0">
                <a:cs typeface="Times New Roman" panose="02020603050405020304" pitchFamily="18" charset="0"/>
              </a:rPr>
              <a:t>则：</a:t>
            </a:r>
            <a:r>
              <a:rPr lang="en-US" altLang="zh-CN" sz="2600" dirty="0" err="1">
                <a:cs typeface="Times New Roman" panose="02020603050405020304" pitchFamily="18" charset="0"/>
              </a:rPr>
              <a:t>D</a:t>
            </a:r>
            <a:r>
              <a:rPr lang="en-US" altLang="zh-CN" sz="2600" baseline="-25000" dirty="0" err="1">
                <a:cs typeface="Times New Roman" panose="02020603050405020304" pitchFamily="18" charset="0"/>
              </a:rPr>
              <a:t>x</a:t>
            </a:r>
            <a:r>
              <a:rPr lang="en-US" altLang="zh-CN" sz="2600" dirty="0">
                <a:cs typeface="Times New Roman" panose="02020603050405020304" pitchFamily="18" charset="0"/>
              </a:rPr>
              <a:t>(y) = min {c(</a:t>
            </a:r>
            <a:r>
              <a:rPr lang="en-US" altLang="zh-CN" sz="2600" dirty="0" err="1">
                <a:cs typeface="Times New Roman" panose="02020603050405020304" pitchFamily="18" charset="0"/>
              </a:rPr>
              <a:t>x,m</a:t>
            </a:r>
            <a:r>
              <a:rPr lang="en-US" altLang="zh-CN" sz="2600" dirty="0">
                <a:cs typeface="Times New Roman" panose="02020603050405020304" pitchFamily="18" charset="0"/>
              </a:rPr>
              <a:t>) + </a:t>
            </a:r>
            <a:r>
              <a:rPr lang="en-US" altLang="zh-CN" sz="2600" dirty="0" err="1">
                <a:cs typeface="Times New Roman" panose="02020603050405020304" pitchFamily="18" charset="0"/>
              </a:rPr>
              <a:t>D</a:t>
            </a:r>
            <a:r>
              <a:rPr lang="en-US" altLang="zh-CN" sz="2600" baseline="-25000" dirty="0" err="1">
                <a:cs typeface="Times New Roman" panose="02020603050405020304" pitchFamily="18" charset="0"/>
              </a:rPr>
              <a:t>m</a:t>
            </a:r>
            <a:r>
              <a:rPr lang="en-US" altLang="zh-CN" sz="2600" dirty="0">
                <a:cs typeface="Times New Roman" panose="02020603050405020304" pitchFamily="18" charset="0"/>
              </a:rPr>
              <a:t>(y) }</a:t>
            </a:r>
          </a:p>
          <a:p>
            <a:pPr marL="914400" lvl="2" indent="0">
              <a:lnSpc>
                <a:spcPct val="120000"/>
              </a:lnSpc>
              <a:buNone/>
            </a:pPr>
            <a:r>
              <a:rPr lang="zh-CN" altLang="en-US" sz="2600" dirty="0">
                <a:cs typeface="Times New Roman" panose="02020603050405020304" pitchFamily="18" charset="0"/>
              </a:rPr>
              <a:t>其中</a:t>
            </a:r>
            <a:r>
              <a:rPr lang="en-US" altLang="zh-CN" sz="2600" dirty="0">
                <a:cs typeface="Times New Roman" panose="02020603050405020304" pitchFamily="18" charset="0"/>
              </a:rPr>
              <a:t>m</a:t>
            </a:r>
            <a:r>
              <a:rPr lang="zh-CN" altLang="en-US" sz="2600" dirty="0">
                <a:cs typeface="Times New Roman" panose="02020603050405020304" pitchFamily="18" charset="0"/>
              </a:rPr>
              <a:t>为</a:t>
            </a:r>
            <a:r>
              <a:rPr lang="en-US" altLang="zh-CN" sz="2600" dirty="0">
                <a:cs typeface="Times New Roman" panose="02020603050405020304" pitchFamily="18" charset="0"/>
              </a:rPr>
              <a:t>x</a:t>
            </a:r>
            <a:r>
              <a:rPr lang="zh-CN" altLang="en-US" sz="2600" dirty="0">
                <a:cs typeface="Times New Roman" panose="02020603050405020304" pitchFamily="18" charset="0"/>
              </a:rPr>
              <a:t>的邻居</a:t>
            </a:r>
            <a:r>
              <a:rPr lang="en-US" altLang="zh-CN" sz="2600" dirty="0">
                <a:cs typeface="Times New Roman" panose="02020603050405020304" pitchFamily="18" charset="0"/>
              </a:rPr>
              <a:t>, c(</a:t>
            </a:r>
            <a:r>
              <a:rPr lang="en-US" altLang="zh-CN" sz="2600" dirty="0" err="1">
                <a:cs typeface="Times New Roman" panose="02020603050405020304" pitchFamily="18" charset="0"/>
              </a:rPr>
              <a:t>x,m</a:t>
            </a:r>
            <a:r>
              <a:rPr lang="en-US" altLang="zh-CN" sz="2600" dirty="0">
                <a:cs typeface="Times New Roman" panose="02020603050405020304" pitchFamily="18" charset="0"/>
              </a:rPr>
              <a:t>)</a:t>
            </a:r>
            <a:r>
              <a:rPr lang="zh-CN" altLang="en-US" sz="2600" dirty="0">
                <a:cs typeface="Times New Roman" panose="02020603050405020304" pitchFamily="18" charset="0"/>
              </a:rPr>
              <a:t>为</a:t>
            </a:r>
            <a:r>
              <a:rPr lang="en-US" altLang="zh-CN" sz="2600" dirty="0">
                <a:cs typeface="Times New Roman" panose="02020603050405020304" pitchFamily="18" charset="0"/>
              </a:rPr>
              <a:t>m</a:t>
            </a:r>
            <a:r>
              <a:rPr lang="zh-CN" altLang="en-US" sz="2600" dirty="0">
                <a:cs typeface="Times New Roman" panose="02020603050405020304" pitchFamily="18" charset="0"/>
              </a:rPr>
              <a:t>到</a:t>
            </a:r>
            <a:r>
              <a:rPr lang="en-US" altLang="zh-CN" sz="2600" dirty="0">
                <a:cs typeface="Times New Roman" panose="02020603050405020304" pitchFamily="18" charset="0"/>
              </a:rPr>
              <a:t>X</a:t>
            </a:r>
            <a:r>
              <a:rPr lang="zh-CN" altLang="en-US" sz="2600" dirty="0">
                <a:cs typeface="Times New Roman" panose="02020603050405020304" pitchFamily="18" charset="0"/>
              </a:rPr>
              <a:t>的距离</a:t>
            </a:r>
            <a:endParaRPr lang="en-US" altLang="zh-CN" sz="2600" dirty="0">
              <a:cs typeface="Times New Roman" panose="02020603050405020304" pitchFamily="18" charset="0"/>
            </a:endParaRPr>
          </a:p>
          <a:p>
            <a:pPr lvl="1">
              <a:lnSpc>
                <a:spcPct val="120000"/>
              </a:lnSpc>
              <a:spcBef>
                <a:spcPts val="1800"/>
              </a:spcBef>
            </a:pPr>
            <a:r>
              <a:rPr lang="zh-CN" altLang="en-US" sz="2600" dirty="0">
                <a:cs typeface="Times New Roman" panose="02020603050405020304" pitchFamily="18" charset="0"/>
              </a:rPr>
              <a:t>示例：</a:t>
            </a:r>
            <a:endParaRPr lang="en-US" altLang="zh-CN" sz="2600" dirty="0">
              <a:cs typeface="Times New Roman" panose="02020603050405020304" pitchFamily="18" charset="0"/>
            </a:endParaRPr>
          </a:p>
          <a:p>
            <a:pPr lvl="2">
              <a:lnSpc>
                <a:spcPct val="120000"/>
              </a:lnSpc>
            </a:pPr>
            <a:r>
              <a:rPr lang="zh-CN" altLang="en-US" dirty="0">
                <a:cs typeface="Times New Roman" panose="02020603050405020304" pitchFamily="18" charset="0"/>
              </a:rPr>
              <a:t>已获知</a:t>
            </a:r>
            <a:r>
              <a:rPr lang="en-US" altLang="zh-CN" dirty="0" err="1">
                <a:cs typeface="Times New Roman" panose="02020603050405020304" pitchFamily="18" charset="0"/>
              </a:rPr>
              <a:t>D</a:t>
            </a:r>
            <a:r>
              <a:rPr lang="en-US" altLang="zh-CN" baseline="-25000" dirty="0" err="1">
                <a:cs typeface="Times New Roman" panose="02020603050405020304" pitchFamily="18" charset="0"/>
              </a:rPr>
              <a:t>v</a:t>
            </a:r>
            <a:r>
              <a:rPr lang="en-US" altLang="zh-CN" dirty="0">
                <a:cs typeface="Times New Roman" panose="02020603050405020304" pitchFamily="18" charset="0"/>
              </a:rPr>
              <a:t>(z) = 5, </a:t>
            </a:r>
            <a:r>
              <a:rPr lang="en-US" altLang="zh-CN" dirty="0" err="1">
                <a:cs typeface="Times New Roman" panose="02020603050405020304" pitchFamily="18" charset="0"/>
              </a:rPr>
              <a:t>D</a:t>
            </a:r>
            <a:r>
              <a:rPr lang="en-US" altLang="zh-CN" baseline="-25000" dirty="0" err="1">
                <a:cs typeface="Times New Roman" panose="02020603050405020304" pitchFamily="18" charset="0"/>
              </a:rPr>
              <a:t>x</a:t>
            </a:r>
            <a:r>
              <a:rPr lang="en-US" altLang="zh-CN" dirty="0">
                <a:cs typeface="Times New Roman" panose="02020603050405020304" pitchFamily="18" charset="0"/>
              </a:rPr>
              <a:t>(z) = 3, </a:t>
            </a:r>
            <a:r>
              <a:rPr lang="en-US" altLang="zh-CN" dirty="0" err="1">
                <a:cs typeface="Times New Roman" panose="02020603050405020304" pitchFamily="18" charset="0"/>
              </a:rPr>
              <a:t>D</a:t>
            </a:r>
            <a:r>
              <a:rPr lang="en-US" altLang="zh-CN" baseline="-25000" dirty="0" err="1">
                <a:cs typeface="Times New Roman" panose="02020603050405020304" pitchFamily="18" charset="0"/>
              </a:rPr>
              <a:t>w</a:t>
            </a:r>
            <a:r>
              <a:rPr lang="en-US" altLang="zh-CN" dirty="0">
                <a:cs typeface="Times New Roman" panose="02020603050405020304" pitchFamily="18" charset="0"/>
              </a:rPr>
              <a:t>(z) = 3</a:t>
            </a:r>
          </a:p>
          <a:p>
            <a:pPr lvl="2">
              <a:lnSpc>
                <a:spcPct val="1200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aseline="-25000" dirty="0">
                <a:latin typeface="Arial Unicode MS" panose="020B0604020202020204" pitchFamily="34" charset="-122"/>
                <a:ea typeface="Arial Unicode MS" panose="020B0604020202020204" pitchFamily="34" charset="-122"/>
                <a:cs typeface="Arial Unicode MS" panose="020B0604020202020204" pitchFamily="34" charset="-122"/>
              </a:rPr>
              <a:t>u</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sz="10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min { c(</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u,v</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v</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c(</a:t>
            </a:r>
            <a:r>
              <a:rPr lang="en-US" altLang="zh-CN" b="1"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u,x</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1" baseline="-25000"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x</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b="1"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c(</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u,w</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w</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(z) }</a:t>
            </a:r>
          </a:p>
          <a:p>
            <a:pPr marL="914400" lvl="2" indent="0">
              <a:lnSpc>
                <a:spcPct val="120000"/>
              </a:lnSpc>
              <a:buNone/>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min {2 + 5,</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1 + 3</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5 + 3}  </a:t>
            </a:r>
          </a:p>
          <a:p>
            <a:pPr marL="914400" lvl="2" indent="0">
              <a:lnSpc>
                <a:spcPct val="120000"/>
              </a:lnSpc>
              <a:buNone/>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4</a:t>
            </a:r>
          </a:p>
          <a:p>
            <a:pPr lvl="1">
              <a:lnSpc>
                <a:spcPct val="120000"/>
              </a:lnSpc>
              <a:spcBef>
                <a:spcPts val="1800"/>
              </a:spcBef>
              <a:buClrTx/>
              <a:buSzTx/>
            </a:pPr>
            <a:r>
              <a:rPr lang="zh-CN" altLang="en-US" sz="2600" dirty="0">
                <a:cs typeface="Times New Roman" panose="02020603050405020304" pitchFamily="18" charset="0"/>
              </a:rPr>
              <a:t>计算出代价最小的节点，也就得到了对应转发项从</a:t>
            </a:r>
            <a:r>
              <a:rPr lang="en-US" altLang="zh-CN" sz="2600" dirty="0">
                <a:cs typeface="Times New Roman" panose="02020603050405020304" pitchFamily="18" charset="0"/>
              </a:rPr>
              <a:t>u</a:t>
            </a:r>
            <a:r>
              <a:rPr lang="zh-CN" altLang="en-US" sz="2600" dirty="0">
                <a:cs typeface="Times New Roman" panose="02020603050405020304" pitchFamily="18" charset="0"/>
              </a:rPr>
              <a:t>去往</a:t>
            </a:r>
            <a:r>
              <a:rPr lang="en-US" altLang="zh-CN" sz="2600" dirty="0">
                <a:cs typeface="Times New Roman" panose="02020603050405020304" pitchFamily="18" charset="0"/>
              </a:rPr>
              <a:t>z</a:t>
            </a:r>
            <a:r>
              <a:rPr lang="zh-CN" altLang="en-US" sz="2600" dirty="0">
                <a:cs typeface="Times New Roman" panose="02020603050405020304" pitchFamily="18" charset="0"/>
              </a:rPr>
              <a:t>，应从</a:t>
            </a:r>
            <a:r>
              <a:rPr lang="en-US" altLang="zh-CN" sz="2600" dirty="0">
                <a:cs typeface="Times New Roman" panose="02020603050405020304" pitchFamily="18" charset="0"/>
              </a:rPr>
              <a:t>x</a:t>
            </a:r>
            <a:r>
              <a:rPr lang="zh-CN" altLang="en-US" sz="2600" dirty="0">
                <a:cs typeface="Times New Roman" panose="02020603050405020304" pitchFamily="18" charset="0"/>
              </a:rPr>
              <a:t>转发</a:t>
            </a:r>
          </a:p>
          <a:p>
            <a:pPr marL="0" indent="0">
              <a:lnSpc>
                <a:spcPct val="150000"/>
              </a:lnSpc>
              <a:buNone/>
            </a:pPr>
            <a:endParaRPr lang="en-US" altLang="zh-CN" sz="2400" dirty="0">
              <a:cs typeface="Times New Roman" panose="02020603050405020304" pitchFamily="18" charset="0"/>
            </a:endParaRPr>
          </a:p>
          <a:p>
            <a:pPr marL="0" indent="0">
              <a:lnSpc>
                <a:spcPts val="3300"/>
              </a:lnSpc>
              <a:buClr>
                <a:srgbClr val="0070C0"/>
              </a:buClr>
              <a:buNone/>
            </a:pPr>
            <a:endPar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32</a:t>
            </a:fld>
            <a:endParaRPr kumimoji="1" lang="zh-CN" altLang="en-US" dirty="0"/>
          </a:p>
        </p:txBody>
      </p:sp>
      <p:grpSp>
        <p:nvGrpSpPr>
          <p:cNvPr id="5" name="组合 78">
            <a:extLst>
              <a:ext uri="{FF2B5EF4-FFF2-40B4-BE49-F238E27FC236}">
                <a16:creationId xmlns:a16="http://schemas.microsoft.com/office/drawing/2014/main" id="{DBBA397F-7582-4C40-948F-4D266D32AE94}"/>
              </a:ext>
            </a:extLst>
          </p:cNvPr>
          <p:cNvGrpSpPr>
            <a:grpSpLocks/>
          </p:cNvGrpSpPr>
          <p:nvPr/>
        </p:nvGrpSpPr>
        <p:grpSpPr bwMode="auto">
          <a:xfrm>
            <a:off x="7785852" y="1832409"/>
            <a:ext cx="3571875" cy="2236787"/>
            <a:chOff x="5019675" y="1700213"/>
            <a:chExt cx="3571875" cy="2236787"/>
          </a:xfrm>
        </p:grpSpPr>
        <p:sp>
          <p:nvSpPr>
            <p:cNvPr id="6" name="Freeform 9">
              <a:extLst>
                <a:ext uri="{FF2B5EF4-FFF2-40B4-BE49-F238E27FC236}">
                  <a16:creationId xmlns:a16="http://schemas.microsoft.com/office/drawing/2014/main" id="{9CC34A6E-3834-4872-85DD-3149A8533C9D}"/>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solidFill>
                  <a:schemeClr val="bg1"/>
                </a:solidFill>
              </a:endParaRPr>
            </a:p>
          </p:txBody>
        </p:sp>
        <p:sp>
          <p:nvSpPr>
            <p:cNvPr id="7" name="Freeform 10">
              <a:extLst>
                <a:ext uri="{FF2B5EF4-FFF2-40B4-BE49-F238E27FC236}">
                  <a16:creationId xmlns:a16="http://schemas.microsoft.com/office/drawing/2014/main" id="{EB5C6171-2126-40AB-9FDD-EF62F464BAC6}"/>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 name="Oval 11">
              <a:extLst>
                <a:ext uri="{FF2B5EF4-FFF2-40B4-BE49-F238E27FC236}">
                  <a16:creationId xmlns:a16="http://schemas.microsoft.com/office/drawing/2014/main" id="{F0B42B05-2C15-4C0A-8747-CF73CAA56FC2}"/>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 name="Line 12">
              <a:extLst>
                <a:ext uri="{FF2B5EF4-FFF2-40B4-BE49-F238E27FC236}">
                  <a16:creationId xmlns:a16="http://schemas.microsoft.com/office/drawing/2014/main" id="{4C4CA8FC-3796-4CA2-89EF-51F8283AD03F}"/>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0" name="Line 13">
              <a:extLst>
                <a:ext uri="{FF2B5EF4-FFF2-40B4-BE49-F238E27FC236}">
                  <a16:creationId xmlns:a16="http://schemas.microsoft.com/office/drawing/2014/main" id="{DA444CB2-55AE-4ACD-95F5-A394E02E80BF}"/>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1" name="Rectangle 14">
              <a:extLst>
                <a:ext uri="{FF2B5EF4-FFF2-40B4-BE49-F238E27FC236}">
                  <a16:creationId xmlns:a16="http://schemas.microsoft.com/office/drawing/2014/main" id="{5F22FFFD-048E-4572-BE22-F52B48EBDB4F}"/>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 name="Oval 15">
              <a:extLst>
                <a:ext uri="{FF2B5EF4-FFF2-40B4-BE49-F238E27FC236}">
                  <a16:creationId xmlns:a16="http://schemas.microsoft.com/office/drawing/2014/main" id="{66F4F793-425D-4F2C-BECE-53A86FA32728}"/>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 name="Oval 16">
              <a:extLst>
                <a:ext uri="{FF2B5EF4-FFF2-40B4-BE49-F238E27FC236}">
                  <a16:creationId xmlns:a16="http://schemas.microsoft.com/office/drawing/2014/main" id="{1014CE20-03BB-4779-A8DB-288EF106E449}"/>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4" name="Line 17">
              <a:extLst>
                <a:ext uri="{FF2B5EF4-FFF2-40B4-BE49-F238E27FC236}">
                  <a16:creationId xmlns:a16="http://schemas.microsoft.com/office/drawing/2014/main" id="{D9C10A8C-3272-4DAA-8737-E4A61660EE14}"/>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5" name="Line 18">
              <a:extLst>
                <a:ext uri="{FF2B5EF4-FFF2-40B4-BE49-F238E27FC236}">
                  <a16:creationId xmlns:a16="http://schemas.microsoft.com/office/drawing/2014/main" id="{E51DCFAB-6243-41A7-9AA4-11D61D32A591}"/>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6" name="Rectangle 19">
              <a:extLst>
                <a:ext uri="{FF2B5EF4-FFF2-40B4-BE49-F238E27FC236}">
                  <a16:creationId xmlns:a16="http://schemas.microsoft.com/office/drawing/2014/main" id="{DF802B28-39ED-4D27-8D54-5E5848AE044D}"/>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7" name="Oval 20">
              <a:extLst>
                <a:ext uri="{FF2B5EF4-FFF2-40B4-BE49-F238E27FC236}">
                  <a16:creationId xmlns:a16="http://schemas.microsoft.com/office/drawing/2014/main" id="{32A0D087-F570-42A5-A96E-AB7FBE91003F}"/>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8" name="Oval 21">
              <a:extLst>
                <a:ext uri="{FF2B5EF4-FFF2-40B4-BE49-F238E27FC236}">
                  <a16:creationId xmlns:a16="http://schemas.microsoft.com/office/drawing/2014/main" id="{2F8C836E-7CD9-4A9A-8F1A-7F79EC7F575F}"/>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 name="Line 22">
              <a:extLst>
                <a:ext uri="{FF2B5EF4-FFF2-40B4-BE49-F238E27FC236}">
                  <a16:creationId xmlns:a16="http://schemas.microsoft.com/office/drawing/2014/main" id="{D7540300-FA49-4FAA-A3A4-CCB004C1D7D9}"/>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0" name="Line 23">
              <a:extLst>
                <a:ext uri="{FF2B5EF4-FFF2-40B4-BE49-F238E27FC236}">
                  <a16:creationId xmlns:a16="http://schemas.microsoft.com/office/drawing/2014/main" id="{FE403ACE-4CBC-4F1F-A9DE-2945BF713A4A}"/>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1" name="Rectangle 24">
              <a:extLst>
                <a:ext uri="{FF2B5EF4-FFF2-40B4-BE49-F238E27FC236}">
                  <a16:creationId xmlns:a16="http://schemas.microsoft.com/office/drawing/2014/main" id="{840E2C0D-891A-43F4-A467-7E691FAB5517}"/>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2" name="Oval 25">
              <a:extLst>
                <a:ext uri="{FF2B5EF4-FFF2-40B4-BE49-F238E27FC236}">
                  <a16:creationId xmlns:a16="http://schemas.microsoft.com/office/drawing/2014/main" id="{F9BEA45D-C48D-40CF-9ABD-8B9E99DEE4E0}"/>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3" name="Oval 26">
              <a:extLst>
                <a:ext uri="{FF2B5EF4-FFF2-40B4-BE49-F238E27FC236}">
                  <a16:creationId xmlns:a16="http://schemas.microsoft.com/office/drawing/2014/main" id="{D16E0190-BDCC-4F99-B7C5-50BE220D5B47}"/>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4" name="Line 27">
              <a:extLst>
                <a:ext uri="{FF2B5EF4-FFF2-40B4-BE49-F238E27FC236}">
                  <a16:creationId xmlns:a16="http://schemas.microsoft.com/office/drawing/2014/main" id="{33BB7082-FCB5-4E26-A562-2874F76EE8DA}"/>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5" name="Line 28">
              <a:extLst>
                <a:ext uri="{FF2B5EF4-FFF2-40B4-BE49-F238E27FC236}">
                  <a16:creationId xmlns:a16="http://schemas.microsoft.com/office/drawing/2014/main" id="{4796A46B-F82F-486E-B620-70EC3DE8B149}"/>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6" name="Rectangle 29">
              <a:extLst>
                <a:ext uri="{FF2B5EF4-FFF2-40B4-BE49-F238E27FC236}">
                  <a16:creationId xmlns:a16="http://schemas.microsoft.com/office/drawing/2014/main" id="{65CB4D9E-A564-4454-8516-99F7979D6B13}"/>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7" name="Oval 30">
              <a:extLst>
                <a:ext uri="{FF2B5EF4-FFF2-40B4-BE49-F238E27FC236}">
                  <a16:creationId xmlns:a16="http://schemas.microsoft.com/office/drawing/2014/main" id="{286D0597-528E-45BD-95DE-7C6D490D2067}"/>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8" name="Oval 31">
              <a:extLst>
                <a:ext uri="{FF2B5EF4-FFF2-40B4-BE49-F238E27FC236}">
                  <a16:creationId xmlns:a16="http://schemas.microsoft.com/office/drawing/2014/main" id="{F016FD59-DDA3-4230-8223-99BF3807DC7C}"/>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9" name="Line 32">
              <a:extLst>
                <a:ext uri="{FF2B5EF4-FFF2-40B4-BE49-F238E27FC236}">
                  <a16:creationId xmlns:a16="http://schemas.microsoft.com/office/drawing/2014/main" id="{5F1F342C-6CE1-40E7-8AE4-0768458B85FD}"/>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0" name="Line 33">
              <a:extLst>
                <a:ext uri="{FF2B5EF4-FFF2-40B4-BE49-F238E27FC236}">
                  <a16:creationId xmlns:a16="http://schemas.microsoft.com/office/drawing/2014/main" id="{AA91E514-F3AC-406F-B7EA-394B6588EAE7}"/>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1" name="Rectangle 34">
              <a:extLst>
                <a:ext uri="{FF2B5EF4-FFF2-40B4-BE49-F238E27FC236}">
                  <a16:creationId xmlns:a16="http://schemas.microsoft.com/office/drawing/2014/main" id="{625A0985-BB2D-4788-9EE9-E52E0A07C485}"/>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2" name="Oval 35">
              <a:extLst>
                <a:ext uri="{FF2B5EF4-FFF2-40B4-BE49-F238E27FC236}">
                  <a16:creationId xmlns:a16="http://schemas.microsoft.com/office/drawing/2014/main" id="{A5B95350-8A71-4B5A-9F8A-1A992E5213A6}"/>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3" name="Oval 36">
              <a:extLst>
                <a:ext uri="{FF2B5EF4-FFF2-40B4-BE49-F238E27FC236}">
                  <a16:creationId xmlns:a16="http://schemas.microsoft.com/office/drawing/2014/main" id="{15A5E33A-530E-4EDC-9499-5BAF15D94CDB}"/>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4" name="Line 37">
              <a:extLst>
                <a:ext uri="{FF2B5EF4-FFF2-40B4-BE49-F238E27FC236}">
                  <a16:creationId xmlns:a16="http://schemas.microsoft.com/office/drawing/2014/main" id="{E8BF19CE-CC61-47C0-8DF0-D9A67E5FF0EB}"/>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5" name="Line 38">
              <a:extLst>
                <a:ext uri="{FF2B5EF4-FFF2-40B4-BE49-F238E27FC236}">
                  <a16:creationId xmlns:a16="http://schemas.microsoft.com/office/drawing/2014/main" id="{E3C19A8A-1840-4AEF-87DC-4DDA9DE0E94D}"/>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6" name="Rectangle 39">
              <a:extLst>
                <a:ext uri="{FF2B5EF4-FFF2-40B4-BE49-F238E27FC236}">
                  <a16:creationId xmlns:a16="http://schemas.microsoft.com/office/drawing/2014/main" id="{4D57E69B-D9E8-4038-B34B-BC5239CC56DF}"/>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7" name="Oval 40">
              <a:extLst>
                <a:ext uri="{FF2B5EF4-FFF2-40B4-BE49-F238E27FC236}">
                  <a16:creationId xmlns:a16="http://schemas.microsoft.com/office/drawing/2014/main" id="{419B4A40-66B2-4A2F-93CC-295B9BF1DBF3}"/>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8" name="Freeform 41">
              <a:extLst>
                <a:ext uri="{FF2B5EF4-FFF2-40B4-BE49-F238E27FC236}">
                  <a16:creationId xmlns:a16="http://schemas.microsoft.com/office/drawing/2014/main" id="{9CE5C7C6-B24A-4467-A29B-1E0842EEA6D6}"/>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39" name="Freeform 42">
              <a:extLst>
                <a:ext uri="{FF2B5EF4-FFF2-40B4-BE49-F238E27FC236}">
                  <a16:creationId xmlns:a16="http://schemas.microsoft.com/office/drawing/2014/main" id="{25053EA3-EF7E-41E4-8D11-F856A039B0D3}"/>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0" name="Freeform 43">
              <a:extLst>
                <a:ext uri="{FF2B5EF4-FFF2-40B4-BE49-F238E27FC236}">
                  <a16:creationId xmlns:a16="http://schemas.microsoft.com/office/drawing/2014/main" id="{D4CF10D5-93F8-46C8-A8C4-BFF226590AFA}"/>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1" name="Freeform 44">
              <a:extLst>
                <a:ext uri="{FF2B5EF4-FFF2-40B4-BE49-F238E27FC236}">
                  <a16:creationId xmlns:a16="http://schemas.microsoft.com/office/drawing/2014/main" id="{F3240A99-C17E-40BB-8FF5-5BBB2DCD39C1}"/>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2" name="Freeform 45">
              <a:extLst>
                <a:ext uri="{FF2B5EF4-FFF2-40B4-BE49-F238E27FC236}">
                  <a16:creationId xmlns:a16="http://schemas.microsoft.com/office/drawing/2014/main" id="{843644D9-7AB8-48A9-AA0D-4C70978367DA}"/>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3" name="Freeform 46">
              <a:extLst>
                <a:ext uri="{FF2B5EF4-FFF2-40B4-BE49-F238E27FC236}">
                  <a16:creationId xmlns:a16="http://schemas.microsoft.com/office/drawing/2014/main" id="{68366EED-0006-48DD-A30E-5D0843F1C825}"/>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4" name="Freeform 47">
              <a:extLst>
                <a:ext uri="{FF2B5EF4-FFF2-40B4-BE49-F238E27FC236}">
                  <a16:creationId xmlns:a16="http://schemas.microsoft.com/office/drawing/2014/main" id="{958A4C70-432A-4CA4-AE04-44F75AC0CDAC}"/>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5" name="Freeform 48">
              <a:extLst>
                <a:ext uri="{FF2B5EF4-FFF2-40B4-BE49-F238E27FC236}">
                  <a16:creationId xmlns:a16="http://schemas.microsoft.com/office/drawing/2014/main" id="{3E0BC0CD-B77B-4E3E-8517-998F95C0B8F0}"/>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6" name="Freeform 49">
              <a:extLst>
                <a:ext uri="{FF2B5EF4-FFF2-40B4-BE49-F238E27FC236}">
                  <a16:creationId xmlns:a16="http://schemas.microsoft.com/office/drawing/2014/main" id="{513E34F0-832E-413F-A853-3FAB7CBA09DF}"/>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grpSp>
          <p:nvGrpSpPr>
            <p:cNvPr id="47" name="Group 50">
              <a:extLst>
                <a:ext uri="{FF2B5EF4-FFF2-40B4-BE49-F238E27FC236}">
                  <a16:creationId xmlns:a16="http://schemas.microsoft.com/office/drawing/2014/main" id="{0C3B8268-B637-4021-9EF2-BCC9BB42ED9B}"/>
                </a:ext>
              </a:extLst>
            </p:cNvPr>
            <p:cNvGrpSpPr>
              <a:grpSpLocks/>
            </p:cNvGrpSpPr>
            <p:nvPr/>
          </p:nvGrpSpPr>
          <p:grpSpPr bwMode="auto">
            <a:xfrm>
              <a:off x="5217838" y="2740029"/>
              <a:ext cx="327570" cy="400050"/>
              <a:chOff x="2954" y="2407"/>
              <a:chExt cx="209" cy="252"/>
            </a:xfrm>
          </p:grpSpPr>
          <p:sp>
            <p:nvSpPr>
              <p:cNvPr id="73" name="Rectangle 51">
                <a:extLst>
                  <a:ext uri="{FF2B5EF4-FFF2-40B4-BE49-F238E27FC236}">
                    <a16:creationId xmlns:a16="http://schemas.microsoft.com/office/drawing/2014/main" id="{FB20E169-3203-4D01-994F-093DEF0080A2}"/>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4" name="Text Box 52">
                <a:extLst>
                  <a:ext uri="{FF2B5EF4-FFF2-40B4-BE49-F238E27FC236}">
                    <a16:creationId xmlns:a16="http://schemas.microsoft.com/office/drawing/2014/main" id="{3622DE65-4E58-4FB1-ACBD-EA01579A8CE5}"/>
                  </a:ext>
                </a:extLst>
              </p:cNvPr>
              <p:cNvSpPr txBox="1">
                <a:spLocks noChangeArrowheads="1"/>
              </p:cNvSpPr>
              <p:nvPr/>
            </p:nvSpPr>
            <p:spPr bwMode="auto">
              <a:xfrm>
                <a:off x="2954" y="2407"/>
                <a:ext cx="20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b="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u</a:t>
                </a:r>
                <a:endParaRPr lang="en-US" altLang="zh-CN" sz="2400" b="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48" name="Group 53">
              <a:extLst>
                <a:ext uri="{FF2B5EF4-FFF2-40B4-BE49-F238E27FC236}">
                  <a16:creationId xmlns:a16="http://schemas.microsoft.com/office/drawing/2014/main" id="{FFBAD6C0-AB67-431B-881D-ADFE460E3A82}"/>
                </a:ext>
              </a:extLst>
            </p:cNvPr>
            <p:cNvGrpSpPr>
              <a:grpSpLocks/>
            </p:cNvGrpSpPr>
            <p:nvPr/>
          </p:nvGrpSpPr>
          <p:grpSpPr bwMode="auto">
            <a:xfrm>
              <a:off x="7078475" y="3384554"/>
              <a:ext cx="317847" cy="400050"/>
              <a:chOff x="2956" y="2429"/>
              <a:chExt cx="203" cy="252"/>
            </a:xfrm>
          </p:grpSpPr>
          <p:sp>
            <p:nvSpPr>
              <p:cNvPr id="71" name="Rectangle 54">
                <a:extLst>
                  <a:ext uri="{FF2B5EF4-FFF2-40B4-BE49-F238E27FC236}">
                    <a16:creationId xmlns:a16="http://schemas.microsoft.com/office/drawing/2014/main" id="{A3E3DE69-3D13-44EC-B3CA-43B2AE39898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Text Box 55">
                <a:extLst>
                  <a:ext uri="{FF2B5EF4-FFF2-40B4-BE49-F238E27FC236}">
                    <a16:creationId xmlns:a16="http://schemas.microsoft.com/office/drawing/2014/main" id="{E9B87707-6D57-4DCA-BE9F-16D57B23FE56}"/>
                  </a:ext>
                </a:extLst>
              </p:cNvPr>
              <p:cNvSpPr txBox="1">
                <a:spLocks noChangeArrowheads="1"/>
              </p:cNvSpPr>
              <p:nvPr/>
            </p:nvSpPr>
            <p:spPr bwMode="auto">
              <a:xfrm>
                <a:off x="2956" y="2429"/>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y</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49" name="Group 56">
              <a:extLst>
                <a:ext uri="{FF2B5EF4-FFF2-40B4-BE49-F238E27FC236}">
                  <a16:creationId xmlns:a16="http://schemas.microsoft.com/office/drawing/2014/main" id="{F9A3B716-6B83-43F5-BAB4-AB0065A6D141}"/>
                </a:ext>
              </a:extLst>
            </p:cNvPr>
            <p:cNvGrpSpPr>
              <a:grpSpLocks/>
            </p:cNvGrpSpPr>
            <p:nvPr/>
          </p:nvGrpSpPr>
          <p:grpSpPr bwMode="auto">
            <a:xfrm>
              <a:off x="6000404" y="3379792"/>
              <a:ext cx="313429" cy="400050"/>
              <a:chOff x="2958" y="2429"/>
              <a:chExt cx="200" cy="252"/>
            </a:xfrm>
          </p:grpSpPr>
          <p:sp>
            <p:nvSpPr>
              <p:cNvPr id="69" name="Rectangle 57">
                <a:extLst>
                  <a:ext uri="{FF2B5EF4-FFF2-40B4-BE49-F238E27FC236}">
                    <a16:creationId xmlns:a16="http://schemas.microsoft.com/office/drawing/2014/main" id="{5CE34FF6-82B3-4151-AA12-E52601E8217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0" name="Text Box 58">
                <a:extLst>
                  <a:ext uri="{FF2B5EF4-FFF2-40B4-BE49-F238E27FC236}">
                    <a16:creationId xmlns:a16="http://schemas.microsoft.com/office/drawing/2014/main" id="{01CFA69D-406F-4124-83D7-B55DF27666A1}"/>
                  </a:ext>
                </a:extLst>
              </p:cNvPr>
              <p:cNvSpPr txBox="1">
                <a:spLocks noChangeArrowheads="1"/>
              </p:cNvSpPr>
              <p:nvPr/>
            </p:nvSpPr>
            <p:spPr bwMode="auto">
              <a:xfrm>
                <a:off x="2958" y="2429"/>
                <a:ext cx="2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x</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50" name="Group 59">
              <a:extLst>
                <a:ext uri="{FF2B5EF4-FFF2-40B4-BE49-F238E27FC236}">
                  <a16:creationId xmlns:a16="http://schemas.microsoft.com/office/drawing/2014/main" id="{22172C8D-44B2-4269-BD77-5810CF7CA9EB}"/>
                </a:ext>
              </a:extLst>
            </p:cNvPr>
            <p:cNvGrpSpPr>
              <a:grpSpLocks/>
            </p:cNvGrpSpPr>
            <p:nvPr/>
          </p:nvGrpSpPr>
          <p:grpSpPr bwMode="auto">
            <a:xfrm>
              <a:off x="7043951" y="2289179"/>
              <a:ext cx="370987" cy="400050"/>
              <a:chOff x="2940" y="2429"/>
              <a:chExt cx="237" cy="252"/>
            </a:xfrm>
          </p:grpSpPr>
          <p:sp>
            <p:nvSpPr>
              <p:cNvPr id="67" name="Rectangle 60">
                <a:extLst>
                  <a:ext uri="{FF2B5EF4-FFF2-40B4-BE49-F238E27FC236}">
                    <a16:creationId xmlns:a16="http://schemas.microsoft.com/office/drawing/2014/main" id="{9D4AF961-3337-452B-8820-29574CD87A8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8" name="Text Box 61">
                <a:extLst>
                  <a:ext uri="{FF2B5EF4-FFF2-40B4-BE49-F238E27FC236}">
                    <a16:creationId xmlns:a16="http://schemas.microsoft.com/office/drawing/2014/main" id="{1DD528D5-4CFA-4CFD-97CC-C5A360444FAA}"/>
                  </a:ext>
                </a:extLst>
              </p:cNvPr>
              <p:cNvSpPr txBox="1">
                <a:spLocks noChangeArrowheads="1"/>
              </p:cNvSpPr>
              <p:nvPr/>
            </p:nvSpPr>
            <p:spPr bwMode="auto">
              <a:xfrm>
                <a:off x="2940" y="2429"/>
                <a:ext cx="23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w</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51" name="Group 62">
              <a:extLst>
                <a:ext uri="{FF2B5EF4-FFF2-40B4-BE49-F238E27FC236}">
                  <a16:creationId xmlns:a16="http://schemas.microsoft.com/office/drawing/2014/main" id="{1D3CDC73-C279-4C24-A35E-788A39574224}"/>
                </a:ext>
              </a:extLst>
            </p:cNvPr>
            <p:cNvGrpSpPr>
              <a:grpSpLocks/>
            </p:cNvGrpSpPr>
            <p:nvPr/>
          </p:nvGrpSpPr>
          <p:grpSpPr bwMode="auto">
            <a:xfrm>
              <a:off x="5987808" y="2289179"/>
              <a:ext cx="310038" cy="400050"/>
              <a:chOff x="2959" y="2429"/>
              <a:chExt cx="198" cy="252"/>
            </a:xfrm>
          </p:grpSpPr>
          <p:sp>
            <p:nvSpPr>
              <p:cNvPr id="65" name="Rectangle 63">
                <a:extLst>
                  <a:ext uri="{FF2B5EF4-FFF2-40B4-BE49-F238E27FC236}">
                    <a16:creationId xmlns:a16="http://schemas.microsoft.com/office/drawing/2014/main" id="{D7B98E7B-66C6-4939-9A9B-730D9D5517C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6" name="Text Box 64">
                <a:extLst>
                  <a:ext uri="{FF2B5EF4-FFF2-40B4-BE49-F238E27FC236}">
                    <a16:creationId xmlns:a16="http://schemas.microsoft.com/office/drawing/2014/main" id="{AF5448AE-45FD-4AA1-9A7D-8FF5C3777492}"/>
                  </a:ext>
                </a:extLst>
              </p:cNvPr>
              <p:cNvSpPr txBox="1">
                <a:spLocks noChangeArrowheads="1"/>
              </p:cNvSpPr>
              <p:nvPr/>
            </p:nvSpPr>
            <p:spPr bwMode="auto">
              <a:xfrm>
                <a:off x="2959" y="2429"/>
                <a:ext cx="19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v</a:t>
                </a:r>
                <a:endPar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52" name="Group 65">
              <a:extLst>
                <a:ext uri="{FF2B5EF4-FFF2-40B4-BE49-F238E27FC236}">
                  <a16:creationId xmlns:a16="http://schemas.microsoft.com/office/drawing/2014/main" id="{D9C6EE26-DFF5-4AD6-AC14-89F2B893B38D}"/>
                </a:ext>
              </a:extLst>
            </p:cNvPr>
            <p:cNvGrpSpPr>
              <a:grpSpLocks/>
            </p:cNvGrpSpPr>
            <p:nvPr/>
          </p:nvGrpSpPr>
          <p:grpSpPr bwMode="auto">
            <a:xfrm>
              <a:off x="7985023" y="2841629"/>
              <a:ext cx="322483" cy="400050"/>
              <a:chOff x="2954" y="2429"/>
              <a:chExt cx="206" cy="252"/>
            </a:xfrm>
          </p:grpSpPr>
          <p:sp>
            <p:nvSpPr>
              <p:cNvPr id="63" name="Rectangle 66">
                <a:extLst>
                  <a:ext uri="{FF2B5EF4-FFF2-40B4-BE49-F238E27FC236}">
                    <a16:creationId xmlns:a16="http://schemas.microsoft.com/office/drawing/2014/main" id="{B84CDCFF-D786-460B-8091-361E4771DCF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4" name="Text Box 67">
                <a:extLst>
                  <a:ext uri="{FF2B5EF4-FFF2-40B4-BE49-F238E27FC236}">
                    <a16:creationId xmlns:a16="http://schemas.microsoft.com/office/drawing/2014/main" id="{E3C5B231-04D0-4DDB-9F0F-F114AFD7C884}"/>
                  </a:ext>
                </a:extLst>
              </p:cNvPr>
              <p:cNvSpPr txBox="1">
                <a:spLocks noChangeArrowheads="1"/>
              </p:cNvSpPr>
              <p:nvPr/>
            </p:nvSpPr>
            <p:spPr bwMode="auto">
              <a:xfrm>
                <a:off x="2954" y="2429"/>
                <a:ext cx="20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z</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sp>
          <p:nvSpPr>
            <p:cNvPr id="53" name="Text Box 68">
              <a:extLst>
                <a:ext uri="{FF2B5EF4-FFF2-40B4-BE49-F238E27FC236}">
                  <a16:creationId xmlns:a16="http://schemas.microsoft.com/office/drawing/2014/main" id="{AAEA89BB-920C-4441-9A6B-0FF65B7890FF}"/>
                </a:ext>
              </a:extLst>
            </p:cNvPr>
            <p:cNvSpPr txBox="1">
              <a:spLocks noChangeArrowheads="1"/>
            </p:cNvSpPr>
            <p:nvPr/>
          </p:nvSpPr>
          <p:spPr bwMode="auto">
            <a:xfrm>
              <a:off x="5538788" y="24939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4" name="Text Box 69">
              <a:extLst>
                <a:ext uri="{FF2B5EF4-FFF2-40B4-BE49-F238E27FC236}">
                  <a16:creationId xmlns:a16="http://schemas.microsoft.com/office/drawing/2014/main" id="{73DBB368-1564-4CB9-A417-0D520B58DAC7}"/>
                </a:ext>
              </a:extLst>
            </p:cNvPr>
            <p:cNvSpPr txBox="1">
              <a:spLocks noChangeArrowheads="1"/>
            </p:cNvSpPr>
            <p:nvPr/>
          </p:nvSpPr>
          <p:spPr bwMode="auto">
            <a:xfrm>
              <a:off x="6091238" y="28416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5" name="Text Box 70">
              <a:extLst>
                <a:ext uri="{FF2B5EF4-FFF2-40B4-BE49-F238E27FC236}">
                  <a16:creationId xmlns:a16="http://schemas.microsoft.com/office/drawing/2014/main" id="{C7F4441A-B9D8-48ED-BBDD-1A869FACA581}"/>
                </a:ext>
              </a:extLst>
            </p:cNvPr>
            <p:cNvSpPr txBox="1">
              <a:spLocks noChangeArrowheads="1"/>
            </p:cNvSpPr>
            <p:nvPr/>
          </p:nvSpPr>
          <p:spPr bwMode="auto">
            <a:xfrm>
              <a:off x="5405353" y="3179763"/>
              <a:ext cx="312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6" name="Text Box 71">
              <a:extLst>
                <a:ext uri="{FF2B5EF4-FFF2-40B4-BE49-F238E27FC236}">
                  <a16:creationId xmlns:a16="http://schemas.microsoft.com/office/drawing/2014/main" id="{8CF25E4A-21F3-4C84-A01E-86231D417C1D}"/>
                </a:ext>
              </a:extLst>
            </p:cNvPr>
            <p:cNvSpPr txBox="1">
              <a:spLocks noChangeArrowheads="1"/>
            </p:cNvSpPr>
            <p:nvPr/>
          </p:nvSpPr>
          <p:spPr bwMode="auto">
            <a:xfrm>
              <a:off x="6700838" y="29892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endPar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7" name="Text Box 72">
              <a:extLst>
                <a:ext uri="{FF2B5EF4-FFF2-40B4-BE49-F238E27FC236}">
                  <a16:creationId xmlns:a16="http://schemas.microsoft.com/office/drawing/2014/main" id="{22856281-3F71-49B4-B7D3-46CB0B9B2F52}"/>
                </a:ext>
              </a:extLst>
            </p:cNvPr>
            <p:cNvSpPr txBox="1">
              <a:spLocks noChangeArrowheads="1"/>
            </p:cNvSpPr>
            <p:nvPr/>
          </p:nvSpPr>
          <p:spPr bwMode="auto">
            <a:xfrm>
              <a:off x="6605503" y="3551238"/>
              <a:ext cx="312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8" name="Text Box 73">
              <a:extLst>
                <a:ext uri="{FF2B5EF4-FFF2-40B4-BE49-F238E27FC236}">
                  <a16:creationId xmlns:a16="http://schemas.microsoft.com/office/drawing/2014/main" id="{D9ECFD84-A970-4446-91EF-8ABD7DE8AAD1}"/>
                </a:ext>
              </a:extLst>
            </p:cNvPr>
            <p:cNvSpPr txBox="1">
              <a:spLocks noChangeArrowheads="1"/>
            </p:cNvSpPr>
            <p:nvPr/>
          </p:nvSpPr>
          <p:spPr bwMode="auto">
            <a:xfrm>
              <a:off x="7177003" y="2870200"/>
              <a:ext cx="312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9" name="Text Box 74">
              <a:extLst>
                <a:ext uri="{FF2B5EF4-FFF2-40B4-BE49-F238E27FC236}">
                  <a16:creationId xmlns:a16="http://schemas.microsoft.com/office/drawing/2014/main" id="{306DEE31-27B6-4827-AC95-5A18D85C125C}"/>
                </a:ext>
              </a:extLst>
            </p:cNvPr>
            <p:cNvSpPr txBox="1">
              <a:spLocks noChangeArrowheads="1"/>
            </p:cNvSpPr>
            <p:nvPr/>
          </p:nvSpPr>
          <p:spPr bwMode="auto">
            <a:xfrm>
              <a:off x="7743825" y="3289300"/>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0" name="Text Box 75">
              <a:extLst>
                <a:ext uri="{FF2B5EF4-FFF2-40B4-BE49-F238E27FC236}">
                  <a16:creationId xmlns:a16="http://schemas.microsoft.com/office/drawing/2014/main" id="{2A8198C0-49A0-456B-8CC1-95210F52BB4A}"/>
                </a:ext>
              </a:extLst>
            </p:cNvPr>
            <p:cNvSpPr txBox="1">
              <a:spLocks noChangeArrowheads="1"/>
            </p:cNvSpPr>
            <p:nvPr/>
          </p:nvSpPr>
          <p:spPr bwMode="auto">
            <a:xfrm>
              <a:off x="7700963" y="243681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1" name="Text Box 76">
              <a:extLst>
                <a:ext uri="{FF2B5EF4-FFF2-40B4-BE49-F238E27FC236}">
                  <a16:creationId xmlns:a16="http://schemas.microsoft.com/office/drawing/2014/main" id="{B1C95FB4-D7EA-4404-8D07-581FE4A0A0A7}"/>
                </a:ext>
              </a:extLst>
            </p:cNvPr>
            <p:cNvSpPr txBox="1">
              <a:spLocks noChangeArrowheads="1"/>
            </p:cNvSpPr>
            <p:nvPr/>
          </p:nvSpPr>
          <p:spPr bwMode="auto">
            <a:xfrm>
              <a:off x="6534150" y="2198688"/>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2" name="Text Box 77">
              <a:extLst>
                <a:ext uri="{FF2B5EF4-FFF2-40B4-BE49-F238E27FC236}">
                  <a16:creationId xmlns:a16="http://schemas.microsoft.com/office/drawing/2014/main" id="{6D0CF229-145C-40C7-97A2-4F61ECF1E763}"/>
                </a:ext>
              </a:extLst>
            </p:cNvPr>
            <p:cNvSpPr txBox="1">
              <a:spLocks noChangeArrowheads="1"/>
            </p:cNvSpPr>
            <p:nvPr/>
          </p:nvSpPr>
          <p:spPr bwMode="auto">
            <a:xfrm>
              <a:off x="5976938" y="17748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sp>
        <p:nvSpPr>
          <p:cNvPr id="75" name="矩形 74"/>
          <p:cNvSpPr/>
          <p:nvPr/>
        </p:nvSpPr>
        <p:spPr>
          <a:xfrm>
            <a:off x="1475160" y="5990187"/>
            <a:ext cx="6096000" cy="369332"/>
          </a:xfrm>
          <a:prstGeom prst="rect">
            <a:avLst/>
          </a:prstGeom>
        </p:spPr>
        <p:txBody>
          <a:bodyPr>
            <a:spAutoFit/>
          </a:bodyPr>
          <a:lstStyle/>
          <a:p>
            <a:pPr>
              <a:spcBef>
                <a:spcPct val="0"/>
              </a:spcBef>
              <a:buClrTx/>
              <a:buSzTx/>
              <a:buFontTx/>
              <a:buNone/>
            </a:pPr>
            <a:endParaRPr lang="zh-CN" altLang="en-US" dirty="0">
              <a:solidFill>
                <a:srgbClr val="0000CC"/>
              </a:solidFill>
              <a:ea typeface="宋体" panose="02010600030101010101" pitchFamily="2" charset="-122"/>
            </a:endParaRPr>
          </a:p>
        </p:txBody>
      </p:sp>
      <p:sp>
        <p:nvSpPr>
          <p:cNvPr id="78"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pic>
        <p:nvPicPr>
          <p:cNvPr id="77" name="Picture 28" descr="015">
            <a:extLst>
              <a:ext uri="{FF2B5EF4-FFF2-40B4-BE49-F238E27FC236}">
                <a16:creationId xmlns:a16="http://schemas.microsoft.com/office/drawing/2014/main" id="{4B222A6E-67F8-4123-940C-572D2002B5E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1968517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a:xfrm>
            <a:off x="838200" y="1510758"/>
            <a:ext cx="10515600" cy="5072922"/>
          </a:xfrm>
        </p:spPr>
        <p:txBody>
          <a:bodyPr>
            <a:normAutofit/>
          </a:bodyPr>
          <a:lstStyle/>
          <a:p>
            <a:pPr>
              <a:defRPr/>
            </a:pPr>
            <a:r>
              <a:rPr lang="zh-CN" altLang="en-US" dirty="0">
                <a:latin typeface="微软雅黑" panose="020B0503020204020204" pitchFamily="34" charset="-122"/>
                <a:ea typeface="微软雅黑" panose="020B0503020204020204" pitchFamily="34" charset="-122"/>
              </a:rPr>
              <a:t>距离向量</a:t>
            </a:r>
            <a:r>
              <a:rPr kumimoji="1" lang="zh-CN" altLang="en-US" dirty="0"/>
              <a:t>（</a:t>
            </a:r>
            <a:r>
              <a:rPr lang="en-US" altLang="zh-CN" dirty="0"/>
              <a:t>Distance Vector</a:t>
            </a:r>
            <a:r>
              <a:rPr kumimoji="1" lang="zh-CN" altLang="en-US" dirty="0"/>
              <a:t>）</a:t>
            </a:r>
            <a:r>
              <a:rPr lang="zh-CN" altLang="en-US" dirty="0">
                <a:latin typeface="微软雅黑" panose="020B0503020204020204" pitchFamily="34" charset="-122"/>
                <a:ea typeface="微软雅黑" panose="020B0503020204020204" pitchFamily="34" charset="-122"/>
              </a:rPr>
              <a:t>算法基本思想</a:t>
            </a:r>
            <a:r>
              <a:rPr lang="en-US" altLang="zh-CN" dirty="0">
                <a:latin typeface="微软雅黑" panose="020B0503020204020204" pitchFamily="34" charset="-122"/>
                <a:ea typeface="微软雅黑" panose="020B0503020204020204" pitchFamily="34" charset="-122"/>
              </a:rPr>
              <a:t>: </a:t>
            </a:r>
          </a:p>
          <a:p>
            <a:pPr lvl="1">
              <a:defRPr/>
            </a:pPr>
            <a:r>
              <a:rPr lang="zh-CN" altLang="en-US" dirty="0">
                <a:latin typeface="微软雅黑" panose="020B0503020204020204" pitchFamily="34" charset="-122"/>
                <a:ea typeface="微软雅黑" panose="020B0503020204020204" pitchFamily="34" charset="-122"/>
              </a:rPr>
              <a:t>每个节点周期性地向邻居发送它自己到某些节点的距离向量；</a:t>
            </a: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当节点</a:t>
            </a:r>
            <a:r>
              <a:rPr lang="en-US" altLang="zh-CN" dirty="0">
                <a:latin typeface="微软雅黑" panose="020B0503020204020204" pitchFamily="34" charset="-122"/>
                <a:ea typeface="微软雅黑" panose="020B0503020204020204" pitchFamily="34" charset="-122"/>
              </a:rPr>
              <a:t>x</a:t>
            </a:r>
            <a:r>
              <a:rPr lang="zh-CN" altLang="en-US" dirty="0">
                <a:latin typeface="微软雅黑" panose="020B0503020204020204" pitchFamily="34" charset="-122"/>
                <a:ea typeface="微软雅黑" panose="020B0503020204020204" pitchFamily="34" charset="-122"/>
              </a:rPr>
              <a:t>接收到来自邻居的新</a:t>
            </a:r>
            <a:r>
              <a:rPr lang="en-US" altLang="zh-CN" dirty="0">
                <a:latin typeface="微软雅黑" panose="020B0503020204020204" pitchFamily="34" charset="-122"/>
                <a:ea typeface="微软雅黑" panose="020B0503020204020204" pitchFamily="34" charset="-122"/>
              </a:rPr>
              <a:t>DV</a:t>
            </a:r>
            <a:r>
              <a:rPr lang="zh-CN" altLang="en-US" dirty="0">
                <a:latin typeface="微软雅黑" panose="020B0503020204020204" pitchFamily="34" charset="-122"/>
                <a:ea typeface="微软雅黑" panose="020B0503020204020204" pitchFamily="34" charset="-122"/>
              </a:rPr>
              <a:t>估计，它使用</a:t>
            </a:r>
            <a:r>
              <a:rPr lang="en-US" altLang="zh-CN" dirty="0">
                <a:latin typeface="微软雅黑" panose="020B0503020204020204" pitchFamily="34" charset="-122"/>
                <a:ea typeface="微软雅黑" panose="020B0503020204020204" pitchFamily="34" charset="-122"/>
              </a:rPr>
              <a:t>B-F</a:t>
            </a:r>
            <a:r>
              <a:rPr lang="zh-CN" altLang="en-US" dirty="0">
                <a:latin typeface="微软雅黑" panose="020B0503020204020204" pitchFamily="34" charset="-122"/>
                <a:ea typeface="微软雅黑" panose="020B0503020204020204" pitchFamily="34" charset="-122"/>
              </a:rPr>
              <a:t>方程更新其自己的</a:t>
            </a:r>
            <a:r>
              <a:rPr lang="en-US" altLang="zh-CN" dirty="0">
                <a:latin typeface="微软雅黑" panose="020B0503020204020204" pitchFamily="34" charset="-122"/>
                <a:ea typeface="微软雅黑" panose="020B0503020204020204" pitchFamily="34" charset="-122"/>
              </a:rPr>
              <a:t>DV :</a:t>
            </a:r>
          </a:p>
          <a:p>
            <a:pPr lvl="1">
              <a:defRPr/>
            </a:pPr>
            <a:endParaRPr lang="en-US" altLang="zh-CN" dirty="0">
              <a:ea typeface="宋体" charset="-122"/>
            </a:endParaRPr>
          </a:p>
          <a:p>
            <a:pPr lvl="1">
              <a:defRPr/>
            </a:pPr>
            <a:endParaRPr lang="en-US" altLang="zh-CN" dirty="0">
              <a:ea typeface="宋体" charset="-122"/>
            </a:endParaRPr>
          </a:p>
          <a:p>
            <a:pPr lvl="1">
              <a:defRPr/>
            </a:pP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上述过程迭代执行，</a:t>
            </a:r>
            <a:r>
              <a:rPr lang="en-US" altLang="zh-CN" i="1" dirty="0" err="1">
                <a:latin typeface="微软雅黑" panose="020B0503020204020204" pitchFamily="34" charset="-122"/>
                <a:ea typeface="微软雅黑" panose="020B0503020204020204" pitchFamily="34" charset="-122"/>
                <a:cs typeface="Times New Roman" pitchFamily="18" charset="0"/>
              </a:rPr>
              <a:t>D</a:t>
            </a:r>
            <a:r>
              <a:rPr lang="en-US" altLang="zh-CN" i="1" baseline="-30000" dirty="0" err="1">
                <a:latin typeface="微软雅黑" panose="020B0503020204020204" pitchFamily="34" charset="-122"/>
                <a:ea typeface="微软雅黑" panose="020B0503020204020204" pitchFamily="34" charset="-122"/>
                <a:cs typeface="Times New Roman" pitchFamily="18" charset="0"/>
              </a:rPr>
              <a:t>x</a:t>
            </a:r>
            <a:r>
              <a:rPr lang="en-US" altLang="zh-CN" i="1" dirty="0">
                <a:latin typeface="微软雅黑" panose="020B0503020204020204" pitchFamily="34" charset="-122"/>
                <a:ea typeface="微软雅黑" panose="020B0503020204020204" pitchFamily="34" charset="-122"/>
                <a:cs typeface="Times New Roman" pitchFamily="18" charset="0"/>
              </a:rPr>
              <a:t>(y)</a:t>
            </a:r>
            <a:r>
              <a:rPr lang="zh-CN" altLang="en-US" i="1" dirty="0">
                <a:latin typeface="微软雅黑" panose="020B0503020204020204" pitchFamily="34" charset="-122"/>
                <a:ea typeface="微软雅黑" panose="020B0503020204020204" pitchFamily="34" charset="-122"/>
                <a:cs typeface="Times New Roman" pitchFamily="18" charset="0"/>
              </a:rPr>
              <a:t>收敛为实际最小费用 </a:t>
            </a:r>
            <a:r>
              <a:rPr lang="en-US" altLang="zh-CN" dirty="0">
                <a:latin typeface="微软雅黑" panose="020B0503020204020204" pitchFamily="34" charset="-122"/>
                <a:ea typeface="微软雅黑" panose="020B0503020204020204" pitchFamily="34" charset="-122"/>
              </a:rPr>
              <a:t>d</a:t>
            </a:r>
            <a:r>
              <a:rPr lang="en-US" altLang="zh-CN" baseline="-25000" dirty="0">
                <a:latin typeface="微软雅黑" panose="020B0503020204020204" pitchFamily="34" charset="-122"/>
                <a:ea typeface="微软雅黑" panose="020B0503020204020204" pitchFamily="34" charset="-122"/>
              </a:rPr>
              <a:t>x</a:t>
            </a:r>
            <a:r>
              <a:rPr lang="en-US" altLang="zh-CN" dirty="0">
                <a:latin typeface="微软雅黑" panose="020B0503020204020204" pitchFamily="34" charset="-122"/>
                <a:ea typeface="微软雅黑" panose="020B0503020204020204" pitchFamily="34" charset="-122"/>
              </a:rPr>
              <a:t>(y)</a:t>
            </a:r>
          </a:p>
          <a:p>
            <a:pPr>
              <a:defRPr/>
            </a:pPr>
            <a:endParaRPr lang="en-US" altLang="zh-CN" dirty="0">
              <a:latin typeface="微软雅黑" panose="020B0503020204020204" pitchFamily="34" charset="-122"/>
              <a:ea typeface="微软雅黑" panose="020B0503020204020204" pitchFamily="34" charset="-122"/>
            </a:endParaRPr>
          </a:p>
          <a:p>
            <a:pPr>
              <a:defRPr/>
            </a:pPr>
            <a:r>
              <a:rPr lang="zh-CN" altLang="en-US" dirty="0">
                <a:latin typeface="微软雅黑" panose="020B0503020204020204" pitchFamily="34" charset="-122"/>
                <a:ea typeface="微软雅黑" panose="020B0503020204020204" pitchFamily="34" charset="-122"/>
              </a:rPr>
              <a:t>距离向量算法特点：迭代的、分布式的</a:t>
            </a: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每次本地迭代由下列引起</a:t>
            </a:r>
            <a:r>
              <a:rPr lang="en-US" altLang="zh-CN" dirty="0">
                <a:latin typeface="微软雅黑" panose="020B0503020204020204" pitchFamily="34" charset="-122"/>
                <a:ea typeface="微软雅黑" panose="020B0503020204020204" pitchFamily="34" charset="-122"/>
              </a:rPr>
              <a:t>: </a:t>
            </a:r>
            <a:r>
              <a:rPr lang="zh-CN" altLang="en-US" dirty="0">
                <a:latin typeface="微软雅黑" panose="020B0503020204020204" pitchFamily="34" charset="-122"/>
                <a:ea typeface="微软雅黑" panose="020B0503020204020204" pitchFamily="34" charset="-122"/>
              </a:rPr>
              <a:t>本地链路费用改变、邻居更新报文</a:t>
            </a: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分布式</a:t>
            </a:r>
            <a:r>
              <a:rPr lang="en-US" altLang="zh-CN" dirty="0">
                <a:latin typeface="微软雅黑" panose="020B0503020204020204" pitchFamily="34" charset="-122"/>
                <a:ea typeface="微软雅黑" panose="020B0503020204020204" pitchFamily="34" charset="-122"/>
              </a:rPr>
              <a:t>:</a:t>
            </a:r>
            <a:r>
              <a:rPr lang="zh-CN" altLang="en-US" dirty="0">
                <a:latin typeface="微软雅黑" panose="020B0503020204020204" pitchFamily="34" charset="-122"/>
                <a:ea typeface="微软雅黑" panose="020B0503020204020204" pitchFamily="34" charset="-122"/>
              </a:rPr>
              <a:t>各节点依次计算，相互依赖</a:t>
            </a:r>
            <a:endParaRPr lang="en-US" altLang="zh-CN" dirty="0">
              <a:latin typeface="微软雅黑" panose="020B0503020204020204" pitchFamily="34" charset="-122"/>
              <a:ea typeface="微软雅黑" panose="020B0503020204020204" pitchFamily="34" charset="-122"/>
            </a:endParaRPr>
          </a:p>
          <a:p>
            <a:pPr lvl="1">
              <a:defRPr/>
            </a:pPr>
            <a:endParaRPr lang="en-US" altLang="zh-CN" dirty="0">
              <a:ea typeface="宋体" charset="-122"/>
            </a:endParaRPr>
          </a:p>
          <a:p>
            <a:pPr lvl="1"/>
            <a:endParaRPr lang="zh-CN" altLang="en-US" sz="40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33</a:t>
            </a:fld>
            <a:endParaRPr kumimoji="1" lang="zh-CN" altLang="en-US" dirty="0"/>
          </a:p>
        </p:txBody>
      </p:sp>
      <p:sp>
        <p:nvSpPr>
          <p:cNvPr id="5" name="Rectangle 4"/>
          <p:cNvSpPr>
            <a:spLocks noChangeArrowheads="1"/>
          </p:cNvSpPr>
          <p:nvPr/>
        </p:nvSpPr>
        <p:spPr bwMode="auto">
          <a:xfrm>
            <a:off x="1803318" y="3297953"/>
            <a:ext cx="65357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i="1" dirty="0" err="1">
                <a:latin typeface="Times" panose="02020603050405020304" pitchFamily="18" charset="0"/>
                <a:ea typeface="宋体" panose="02010600030101010101" pitchFamily="2" charset="-122"/>
                <a:cs typeface="Times New Roman" panose="02020603050405020304" pitchFamily="18" charset="0"/>
              </a:rPr>
              <a:t>D</a:t>
            </a:r>
            <a:r>
              <a:rPr lang="en-US" altLang="zh-CN" sz="2400" i="1" baseline="-30000" dirty="0" err="1">
                <a:latin typeface="Times" panose="02020603050405020304" pitchFamily="18" charset="0"/>
                <a:ea typeface="宋体" panose="02010600030101010101" pitchFamily="2" charset="-122"/>
                <a:cs typeface="Times New Roman" panose="02020603050405020304" pitchFamily="18" charset="0"/>
              </a:rPr>
              <a:t>x</a:t>
            </a:r>
            <a:r>
              <a:rPr lang="en-US" altLang="zh-CN" sz="2400" i="1" dirty="0">
                <a:latin typeface="Times" panose="02020603050405020304" pitchFamily="18" charset="0"/>
                <a:ea typeface="宋体" panose="02010600030101010101" pitchFamily="2" charset="-122"/>
                <a:cs typeface="Times New Roman" panose="02020603050405020304" pitchFamily="18" charset="0"/>
              </a:rPr>
              <a:t>(y) </a:t>
            </a:r>
            <a:r>
              <a:rPr lang="en-US" altLang="zh-CN" sz="2400" i="1" dirty="0">
                <a:latin typeface="Times" panose="02020603050405020304" pitchFamily="18" charset="0"/>
                <a:ea typeface="宋体" panose="02010600030101010101" pitchFamily="2" charset="-122"/>
                <a:cs typeface="Times" panose="02020603050405020304" pitchFamily="18" charset="0"/>
              </a:rPr>
              <a:t>←</a:t>
            </a:r>
            <a:r>
              <a:rPr lang="en-US" altLang="zh-CN" sz="2400" i="1" dirty="0">
                <a:latin typeface="Times" panose="02020603050405020304" pitchFamily="18" charset="0"/>
                <a:ea typeface="宋体" panose="02010600030101010101" pitchFamily="2" charset="-122"/>
                <a:cs typeface="Times New Roman" panose="02020603050405020304" pitchFamily="18" charset="0"/>
              </a:rPr>
              <a:t> </a:t>
            </a:r>
            <a:r>
              <a:rPr lang="en-US" altLang="zh-CN" sz="2400" i="1" dirty="0" err="1">
                <a:latin typeface="Times" panose="02020603050405020304" pitchFamily="18" charset="0"/>
                <a:ea typeface="宋体" panose="02010600030101010101" pitchFamily="2" charset="-122"/>
                <a:cs typeface="Times New Roman" panose="02020603050405020304" pitchFamily="18" charset="0"/>
              </a:rPr>
              <a:t>min</a:t>
            </a:r>
            <a:r>
              <a:rPr lang="en-US" altLang="zh-CN" sz="2400" i="1" baseline="-30000" dirty="0" err="1">
                <a:latin typeface="Times" panose="02020603050405020304" pitchFamily="18" charset="0"/>
                <a:ea typeface="宋体" panose="02010600030101010101" pitchFamily="2" charset="-122"/>
                <a:cs typeface="Times New Roman" panose="02020603050405020304" pitchFamily="18" charset="0"/>
              </a:rPr>
              <a:t>v</a:t>
            </a:r>
            <a:r>
              <a:rPr lang="en-US" altLang="zh-CN" sz="2400" i="1" dirty="0">
                <a:latin typeface="Times" panose="02020603050405020304" pitchFamily="18" charset="0"/>
                <a:ea typeface="宋体" panose="02010600030101010101" pitchFamily="2" charset="-122"/>
                <a:cs typeface="Times New Roman" panose="02020603050405020304" pitchFamily="18" charset="0"/>
              </a:rPr>
              <a:t>{c(</a:t>
            </a:r>
            <a:r>
              <a:rPr lang="en-US" altLang="zh-CN" sz="2400" i="1" dirty="0" err="1">
                <a:latin typeface="Times" panose="02020603050405020304" pitchFamily="18" charset="0"/>
                <a:ea typeface="宋体" panose="02010600030101010101" pitchFamily="2" charset="-122"/>
                <a:cs typeface="Times New Roman" panose="02020603050405020304" pitchFamily="18" charset="0"/>
              </a:rPr>
              <a:t>x,v</a:t>
            </a:r>
            <a:r>
              <a:rPr lang="en-US" altLang="zh-CN" sz="2400" i="1" dirty="0">
                <a:latin typeface="Times" panose="02020603050405020304" pitchFamily="18" charset="0"/>
                <a:ea typeface="宋体" panose="02010600030101010101" pitchFamily="2" charset="-122"/>
                <a:cs typeface="Times New Roman" panose="02020603050405020304" pitchFamily="18" charset="0"/>
              </a:rPr>
              <a:t>) + </a:t>
            </a:r>
            <a:r>
              <a:rPr lang="en-US" altLang="zh-CN" sz="2400" i="1" dirty="0" err="1">
                <a:latin typeface="Times" panose="02020603050405020304" pitchFamily="18" charset="0"/>
                <a:ea typeface="宋体" panose="02010600030101010101" pitchFamily="2" charset="-122"/>
                <a:cs typeface="Times New Roman" panose="02020603050405020304" pitchFamily="18" charset="0"/>
              </a:rPr>
              <a:t>D</a:t>
            </a:r>
            <a:r>
              <a:rPr lang="en-US" altLang="zh-CN" sz="2400" i="1" baseline="-30000" dirty="0" err="1">
                <a:latin typeface="Times" panose="02020603050405020304" pitchFamily="18" charset="0"/>
                <a:ea typeface="宋体" panose="02010600030101010101" pitchFamily="2" charset="-122"/>
                <a:cs typeface="Times New Roman" panose="02020603050405020304" pitchFamily="18" charset="0"/>
              </a:rPr>
              <a:t>v</a:t>
            </a:r>
            <a:r>
              <a:rPr lang="en-US" altLang="zh-CN" sz="2400" i="1" dirty="0">
                <a:latin typeface="Times" panose="02020603050405020304" pitchFamily="18" charset="0"/>
                <a:ea typeface="宋体" panose="02010600030101010101" pitchFamily="2" charset="-122"/>
                <a:cs typeface="Times New Roman" panose="02020603050405020304" pitchFamily="18" charset="0"/>
              </a:rPr>
              <a:t>(y)}    for each node y </a:t>
            </a:r>
            <a:r>
              <a:rPr lang="en-US" altLang="zh-CN" sz="2400" i="1" dirty="0">
                <a:latin typeface="MS Mincho" panose="02020609040205080304" pitchFamily="49" charset="-128"/>
                <a:ea typeface="宋体" panose="02010600030101010101" pitchFamily="2" charset="-122"/>
              </a:rPr>
              <a:t>∊</a:t>
            </a:r>
            <a:r>
              <a:rPr lang="en-US" altLang="zh-CN" sz="2400" i="1" dirty="0">
                <a:latin typeface="Times" panose="02020603050405020304" pitchFamily="18" charset="0"/>
                <a:ea typeface="宋体" panose="02010600030101010101" pitchFamily="2" charset="-122"/>
              </a:rPr>
              <a:t> N</a:t>
            </a:r>
          </a:p>
        </p:txBody>
      </p:sp>
      <p:grpSp>
        <p:nvGrpSpPr>
          <p:cNvPr id="6" name="Group 3"/>
          <p:cNvGrpSpPr>
            <a:grpSpLocks/>
          </p:cNvGrpSpPr>
          <p:nvPr/>
        </p:nvGrpSpPr>
        <p:grpSpPr bwMode="auto">
          <a:xfrm>
            <a:off x="8496843" y="2820359"/>
            <a:ext cx="3711575" cy="2532062"/>
            <a:chOff x="3162" y="1071"/>
            <a:chExt cx="2250" cy="1409"/>
          </a:xfrm>
        </p:grpSpPr>
        <p:sp>
          <p:nvSpPr>
            <p:cNvPr id="7" name="Freeform 4"/>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9"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0"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13"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4"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5"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18"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9"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0"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23"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4"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5"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7"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28"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9"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0"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1"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2"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33"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4"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5"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6"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7"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38"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9"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0"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1" name="Freeform 38"/>
            <p:cNvSpPr>
              <a:spLocks/>
            </p:cNvSpPr>
            <p:nvPr/>
          </p:nvSpPr>
          <p:spPr bwMode="auto">
            <a:xfrm>
              <a:off x="4029" y="1638"/>
              <a:ext cx="504" cy="600"/>
            </a:xfrm>
            <a:custGeom>
              <a:avLst/>
              <a:gdLst>
                <a:gd name="T0" fmla="*/ 0 w 378"/>
                <a:gd name="T1" fmla="*/ 2147483646 h 174"/>
                <a:gd name="T2" fmla="*/ 21193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2"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3"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4"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6"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7"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grpSp>
          <p:nvGrpSpPr>
            <p:cNvPr id="48" name="Group 45"/>
            <p:cNvGrpSpPr>
              <a:grpSpLocks/>
            </p:cNvGrpSpPr>
            <p:nvPr/>
          </p:nvGrpSpPr>
          <p:grpSpPr bwMode="auto">
            <a:xfrm>
              <a:off x="3281" y="1721"/>
              <a:ext cx="217" cy="291"/>
              <a:chOff x="2944" y="2402"/>
              <a:chExt cx="220" cy="291"/>
            </a:xfrm>
          </p:grpSpPr>
          <p:sp>
            <p:nvSpPr>
              <p:cNvPr id="74"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5" name="Text Box 47"/>
              <p:cNvSpPr txBox="1">
                <a:spLocks noChangeArrowheads="1"/>
              </p:cNvSpPr>
              <p:nvPr/>
            </p:nvSpPr>
            <p:spPr bwMode="auto">
              <a:xfrm>
                <a:off x="2944" y="2402"/>
                <a:ext cx="22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a:solidFill>
                      <a:srgbClr val="C00000"/>
                    </a:solidFill>
                    <a:ea typeface="宋体" panose="02010600030101010101" pitchFamily="2" charset="-122"/>
                  </a:rPr>
                  <a:t>u</a:t>
                </a:r>
                <a:endParaRPr lang="en-US" altLang="zh-CN" sz="2400">
                  <a:solidFill>
                    <a:srgbClr val="C00000"/>
                  </a:solidFill>
                  <a:latin typeface="Times New Roman" panose="02020603050405020304" pitchFamily="18" charset="0"/>
                  <a:ea typeface="宋体" panose="02010600030101010101" pitchFamily="2" charset="-122"/>
                </a:endParaRPr>
              </a:p>
            </p:txBody>
          </p:sp>
        </p:grpSp>
        <p:grpSp>
          <p:nvGrpSpPr>
            <p:cNvPr id="49" name="Group 48"/>
            <p:cNvGrpSpPr>
              <a:grpSpLocks/>
            </p:cNvGrpSpPr>
            <p:nvPr/>
          </p:nvGrpSpPr>
          <p:grpSpPr bwMode="auto">
            <a:xfrm>
              <a:off x="4460" y="2132"/>
              <a:ext cx="199" cy="250"/>
              <a:chOff x="2957" y="2429"/>
              <a:chExt cx="202" cy="250"/>
            </a:xfrm>
          </p:grpSpPr>
          <p:sp>
            <p:nvSpPr>
              <p:cNvPr id="72" name="Rectangle 4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3" name="Text Box 50"/>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a:ea typeface="宋体" panose="02010600030101010101" pitchFamily="2" charset="-122"/>
                  </a:rPr>
                  <a:t>y</a:t>
                </a:r>
                <a:endParaRPr lang="en-US" altLang="zh-CN" sz="2400">
                  <a:latin typeface="Times New Roman" panose="02020603050405020304" pitchFamily="18" charset="0"/>
                  <a:ea typeface="宋体" panose="02010600030101010101" pitchFamily="2" charset="-122"/>
                </a:endParaRPr>
              </a:p>
            </p:txBody>
          </p:sp>
        </p:grpSp>
        <p:grpSp>
          <p:nvGrpSpPr>
            <p:cNvPr id="50" name="Group 51"/>
            <p:cNvGrpSpPr>
              <a:grpSpLocks/>
            </p:cNvGrpSpPr>
            <p:nvPr/>
          </p:nvGrpSpPr>
          <p:grpSpPr bwMode="auto">
            <a:xfrm>
              <a:off x="3764" y="2099"/>
              <a:ext cx="229" cy="288"/>
              <a:chOff x="2943" y="2399"/>
              <a:chExt cx="230" cy="288"/>
            </a:xfrm>
          </p:grpSpPr>
          <p:sp>
            <p:nvSpPr>
              <p:cNvPr id="70"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1" name="Text Box 53"/>
              <p:cNvSpPr txBox="1">
                <a:spLocks noChangeArrowheads="1"/>
              </p:cNvSpPr>
              <p:nvPr/>
            </p:nvSpPr>
            <p:spPr bwMode="auto">
              <a:xfrm>
                <a:off x="2943" y="2399"/>
                <a:ext cx="2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a:ea typeface="宋体" panose="02010600030101010101" pitchFamily="2" charset="-122"/>
                  </a:rPr>
                  <a:t>x</a:t>
                </a:r>
              </a:p>
            </p:txBody>
          </p:sp>
        </p:grpSp>
        <p:grpSp>
          <p:nvGrpSpPr>
            <p:cNvPr id="51" name="Group 54"/>
            <p:cNvGrpSpPr>
              <a:grpSpLocks/>
            </p:cNvGrpSpPr>
            <p:nvPr/>
          </p:nvGrpSpPr>
          <p:grpSpPr bwMode="auto">
            <a:xfrm>
              <a:off x="4441" y="1442"/>
              <a:ext cx="225" cy="250"/>
              <a:chOff x="2944" y="2429"/>
              <a:chExt cx="228" cy="250"/>
            </a:xfrm>
          </p:grpSpPr>
          <p:sp>
            <p:nvSpPr>
              <p:cNvPr id="68" name="Rectangle 5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69" name="Text Box 56"/>
              <p:cNvSpPr txBox="1">
                <a:spLocks noChangeArrowheads="1"/>
              </p:cNvSpPr>
              <p:nvPr/>
            </p:nvSpPr>
            <p:spPr bwMode="auto">
              <a:xfrm>
                <a:off x="2944" y="2429"/>
                <a:ext cx="22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a:ea typeface="宋体" panose="02010600030101010101" pitchFamily="2" charset="-122"/>
                  </a:rPr>
                  <a:t>w</a:t>
                </a:r>
                <a:endParaRPr lang="en-US" altLang="zh-CN" sz="2400">
                  <a:latin typeface="Times New Roman" panose="02020603050405020304" pitchFamily="18" charset="0"/>
                  <a:ea typeface="宋体" panose="02010600030101010101" pitchFamily="2" charset="-122"/>
                </a:endParaRPr>
              </a:p>
            </p:txBody>
          </p:sp>
        </p:grpSp>
        <p:grpSp>
          <p:nvGrpSpPr>
            <p:cNvPr id="52" name="Group 57"/>
            <p:cNvGrpSpPr>
              <a:grpSpLocks/>
            </p:cNvGrpSpPr>
            <p:nvPr/>
          </p:nvGrpSpPr>
          <p:grpSpPr bwMode="auto">
            <a:xfrm>
              <a:off x="3772" y="1442"/>
              <a:ext cx="194" cy="250"/>
              <a:chOff x="2959" y="2429"/>
              <a:chExt cx="197" cy="250"/>
            </a:xfrm>
          </p:grpSpPr>
          <p:sp>
            <p:nvSpPr>
              <p:cNvPr id="66" name="Rectangle 5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67" name="Text Box 59"/>
              <p:cNvSpPr txBox="1">
                <a:spLocks noChangeArrowheads="1"/>
              </p:cNvSpPr>
              <p:nvPr/>
            </p:nvSpPr>
            <p:spPr bwMode="auto">
              <a:xfrm>
                <a:off x="2959" y="2429"/>
                <a:ext cx="19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ea typeface="宋体" panose="02010600030101010101" pitchFamily="2" charset="-122"/>
                  </a:rPr>
                  <a:t>v</a:t>
                </a:r>
                <a:endParaRPr lang="en-US" altLang="zh-CN" sz="2400" dirty="0">
                  <a:latin typeface="Times New Roman" panose="02020603050405020304" pitchFamily="18" charset="0"/>
                  <a:ea typeface="宋体" panose="02010600030101010101" pitchFamily="2" charset="-122"/>
                </a:endParaRPr>
              </a:p>
            </p:txBody>
          </p:sp>
        </p:grpSp>
        <p:grpSp>
          <p:nvGrpSpPr>
            <p:cNvPr id="53" name="Group 60"/>
            <p:cNvGrpSpPr>
              <a:grpSpLocks/>
            </p:cNvGrpSpPr>
            <p:nvPr/>
          </p:nvGrpSpPr>
          <p:grpSpPr bwMode="auto">
            <a:xfrm>
              <a:off x="5022" y="1760"/>
              <a:ext cx="219" cy="288"/>
              <a:chOff x="2946" y="2399"/>
              <a:chExt cx="221" cy="288"/>
            </a:xfrm>
          </p:grpSpPr>
          <p:sp>
            <p:nvSpPr>
              <p:cNvPr id="64" name="Rectangle 6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65" name="Text Box 62"/>
              <p:cNvSpPr txBox="1">
                <a:spLocks noChangeArrowheads="1"/>
              </p:cNvSpPr>
              <p:nvPr/>
            </p:nvSpPr>
            <p:spPr bwMode="auto">
              <a:xfrm>
                <a:off x="2946" y="2399"/>
                <a:ext cx="22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a:ea typeface="宋体" panose="02010600030101010101" pitchFamily="2" charset="-122"/>
                  </a:rPr>
                  <a:t>z</a:t>
                </a:r>
              </a:p>
            </p:txBody>
          </p:sp>
        </p:grpSp>
        <p:sp>
          <p:nvSpPr>
            <p:cNvPr id="54" name="Text Box 63"/>
            <p:cNvSpPr txBox="1">
              <a:spLocks noChangeArrowheads="1"/>
            </p:cNvSpPr>
            <p:nvPr/>
          </p:nvSpPr>
          <p:spPr bwMode="auto">
            <a:xfrm>
              <a:off x="3489" y="1571"/>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ea typeface="宋体" panose="02010600030101010101" pitchFamily="2" charset="-122"/>
                </a:rPr>
                <a:t>2</a:t>
              </a:r>
              <a:endParaRPr lang="en-US" altLang="zh-CN" sz="2400" dirty="0">
                <a:latin typeface="Times New Roman" panose="02020603050405020304" pitchFamily="18" charset="0"/>
                <a:ea typeface="宋体" panose="02010600030101010101" pitchFamily="2" charset="-122"/>
              </a:endParaRPr>
            </a:p>
          </p:txBody>
        </p:sp>
        <p:sp>
          <p:nvSpPr>
            <p:cNvPr id="55" name="Text Box 64"/>
            <p:cNvSpPr txBox="1">
              <a:spLocks noChangeArrowheads="1"/>
            </p:cNvSpPr>
            <p:nvPr/>
          </p:nvSpPr>
          <p:spPr bwMode="auto">
            <a:xfrm>
              <a:off x="3837" y="1790"/>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2</a:t>
              </a:r>
              <a:endParaRPr lang="en-US" altLang="zh-CN" sz="2400">
                <a:latin typeface="Times New Roman" panose="02020603050405020304" pitchFamily="18" charset="0"/>
                <a:ea typeface="宋体" panose="02010600030101010101" pitchFamily="2" charset="-122"/>
              </a:endParaRPr>
            </a:p>
          </p:txBody>
        </p:sp>
        <p:sp>
          <p:nvSpPr>
            <p:cNvPr id="56" name="Text Box 65"/>
            <p:cNvSpPr txBox="1">
              <a:spLocks noChangeArrowheads="1"/>
            </p:cNvSpPr>
            <p:nvPr/>
          </p:nvSpPr>
          <p:spPr bwMode="auto">
            <a:xfrm>
              <a:off x="3413" y="2003"/>
              <a:ext cx="18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1</a:t>
              </a:r>
              <a:endParaRPr lang="en-US" altLang="zh-CN" sz="2400">
                <a:latin typeface="Times New Roman" panose="02020603050405020304" pitchFamily="18" charset="0"/>
                <a:ea typeface="宋体" panose="02010600030101010101" pitchFamily="2" charset="-122"/>
              </a:endParaRPr>
            </a:p>
          </p:txBody>
        </p:sp>
        <p:sp>
          <p:nvSpPr>
            <p:cNvPr id="57" name="Text Box 66"/>
            <p:cNvSpPr txBox="1">
              <a:spLocks noChangeArrowheads="1"/>
            </p:cNvSpPr>
            <p:nvPr/>
          </p:nvSpPr>
          <p:spPr bwMode="auto">
            <a:xfrm>
              <a:off x="4221" y="1883"/>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3</a:t>
              </a:r>
              <a:endParaRPr lang="en-US" altLang="zh-CN" sz="2400">
                <a:latin typeface="Times New Roman" panose="02020603050405020304" pitchFamily="18" charset="0"/>
                <a:ea typeface="宋体" panose="02010600030101010101" pitchFamily="2" charset="-122"/>
              </a:endParaRPr>
            </a:p>
          </p:txBody>
        </p:sp>
        <p:sp>
          <p:nvSpPr>
            <p:cNvPr id="58" name="Text Box 67"/>
            <p:cNvSpPr txBox="1">
              <a:spLocks noChangeArrowheads="1"/>
            </p:cNvSpPr>
            <p:nvPr/>
          </p:nvSpPr>
          <p:spPr bwMode="auto">
            <a:xfrm>
              <a:off x="4169" y="2237"/>
              <a:ext cx="18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ea typeface="宋体" panose="02010600030101010101" pitchFamily="2" charset="-122"/>
                </a:rPr>
                <a:t>1</a:t>
              </a:r>
              <a:endParaRPr lang="en-US" altLang="zh-CN" sz="2400" dirty="0">
                <a:latin typeface="Times New Roman" panose="02020603050405020304" pitchFamily="18" charset="0"/>
                <a:ea typeface="宋体" panose="02010600030101010101" pitchFamily="2" charset="-122"/>
              </a:endParaRPr>
            </a:p>
          </p:txBody>
        </p:sp>
        <p:sp>
          <p:nvSpPr>
            <p:cNvPr id="59" name="Text Box 68"/>
            <p:cNvSpPr txBox="1">
              <a:spLocks noChangeArrowheads="1"/>
            </p:cNvSpPr>
            <p:nvPr/>
          </p:nvSpPr>
          <p:spPr bwMode="auto">
            <a:xfrm>
              <a:off x="4529" y="1808"/>
              <a:ext cx="18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1</a:t>
              </a:r>
              <a:endParaRPr lang="en-US" altLang="zh-CN" sz="2400">
                <a:latin typeface="Times New Roman" panose="02020603050405020304" pitchFamily="18" charset="0"/>
                <a:ea typeface="宋体" panose="02010600030101010101" pitchFamily="2" charset="-122"/>
              </a:endParaRPr>
            </a:p>
          </p:txBody>
        </p:sp>
        <p:sp>
          <p:nvSpPr>
            <p:cNvPr id="60" name="Text Box 69"/>
            <p:cNvSpPr txBox="1">
              <a:spLocks noChangeArrowheads="1"/>
            </p:cNvSpPr>
            <p:nvPr/>
          </p:nvSpPr>
          <p:spPr bwMode="auto">
            <a:xfrm>
              <a:off x="4878" y="2072"/>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2</a:t>
              </a:r>
              <a:endParaRPr lang="en-US" altLang="zh-CN" sz="2400">
                <a:latin typeface="Times New Roman" panose="02020603050405020304" pitchFamily="18" charset="0"/>
                <a:ea typeface="宋体" panose="02010600030101010101" pitchFamily="2" charset="-122"/>
              </a:endParaRPr>
            </a:p>
          </p:txBody>
        </p:sp>
        <p:sp>
          <p:nvSpPr>
            <p:cNvPr id="61" name="Text Box 70"/>
            <p:cNvSpPr txBox="1">
              <a:spLocks noChangeArrowheads="1"/>
            </p:cNvSpPr>
            <p:nvPr/>
          </p:nvSpPr>
          <p:spPr bwMode="auto">
            <a:xfrm>
              <a:off x="4851" y="1535"/>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5</a:t>
              </a:r>
              <a:endParaRPr lang="en-US" altLang="zh-CN" sz="2400">
                <a:latin typeface="Times New Roman" panose="02020603050405020304" pitchFamily="18" charset="0"/>
                <a:ea typeface="宋体" panose="02010600030101010101" pitchFamily="2" charset="-122"/>
              </a:endParaRPr>
            </a:p>
          </p:txBody>
        </p:sp>
        <p:sp>
          <p:nvSpPr>
            <p:cNvPr id="62" name="Text Box 71"/>
            <p:cNvSpPr txBox="1">
              <a:spLocks noChangeArrowheads="1"/>
            </p:cNvSpPr>
            <p:nvPr/>
          </p:nvSpPr>
          <p:spPr bwMode="auto">
            <a:xfrm>
              <a:off x="4116" y="1385"/>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3</a:t>
              </a:r>
              <a:endParaRPr lang="en-US" altLang="zh-CN" sz="2400">
                <a:latin typeface="Times New Roman" panose="02020603050405020304" pitchFamily="18" charset="0"/>
                <a:ea typeface="宋体" panose="02010600030101010101" pitchFamily="2" charset="-122"/>
              </a:endParaRPr>
            </a:p>
          </p:txBody>
        </p:sp>
        <p:sp>
          <p:nvSpPr>
            <p:cNvPr id="63" name="Text Box 72"/>
            <p:cNvSpPr txBox="1">
              <a:spLocks noChangeArrowheads="1"/>
            </p:cNvSpPr>
            <p:nvPr/>
          </p:nvSpPr>
          <p:spPr bwMode="auto">
            <a:xfrm>
              <a:off x="3765" y="1118"/>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5</a:t>
              </a:r>
              <a:endParaRPr lang="en-US" altLang="zh-CN" sz="2400">
                <a:latin typeface="Times New Roman" panose="02020603050405020304" pitchFamily="18" charset="0"/>
                <a:ea typeface="宋体" panose="02010600030101010101" pitchFamily="2" charset="-122"/>
              </a:endParaRPr>
            </a:p>
          </p:txBody>
        </p:sp>
      </p:grpSp>
      <p:sp>
        <p:nvSpPr>
          <p:cNvPr id="77"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pic>
        <p:nvPicPr>
          <p:cNvPr id="78" name="Picture 28" descr="015">
            <a:extLst>
              <a:ext uri="{FF2B5EF4-FFF2-40B4-BE49-F238E27FC236}">
                <a16:creationId xmlns:a16="http://schemas.microsoft.com/office/drawing/2014/main" id="{400AB202-5171-4AC9-A6A6-1FD2023368A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94819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3">
                                            <p:txEl>
                                              <p:pRg st="8" end="8"/>
                                            </p:txEl>
                                          </p:spTgt>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3">
                                            <p:txEl>
                                              <p:pRg st="9" end="9"/>
                                            </p:txEl>
                                          </p:spTgt>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1307508" y="365126"/>
            <a:ext cx="8458830" cy="879086"/>
          </a:xfrm>
        </p:spPr>
        <p:txBody>
          <a:bodyPr>
            <a:normAutofit/>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路由器启动时初始化自己的路由表</a:t>
            </a:r>
          </a:p>
          <a:p>
            <a:pPr lvl="1"/>
            <a:r>
              <a:rPr lang="zh-CN" altLang="en-US" dirty="0">
                <a:latin typeface="Times New Roman" panose="02020603050405020304" pitchFamily="18" charset="0"/>
                <a:ea typeface="微软雅黑" panose="020B0503020204020204" pitchFamily="34" charset="-122"/>
                <a:cs typeface="Times New Roman" panose="02020603050405020304" pitchFamily="18" charset="0"/>
              </a:rPr>
              <a:t>初始路由表包含所有直接相连的网络路径，距离均为</a:t>
            </a:r>
            <a:r>
              <a:rPr lang="en-US" altLang="zh-CN" dirty="0">
                <a:latin typeface="Times New Roman" panose="02020603050405020304" pitchFamily="18" charset="0"/>
                <a:ea typeface="微软雅黑" panose="020B0503020204020204" pitchFamily="34" charset="-122"/>
                <a:cs typeface="Times New Roman" panose="02020603050405020304" pitchFamily="18" charset="0"/>
              </a:rPr>
              <a:t>0</a:t>
            </a:r>
            <a:endParaRPr lang="zh-CN" altLang="en-US" dirty="0">
              <a:latin typeface="Times New Roman" panose="02020603050405020304" pitchFamily="18" charset="0"/>
              <a:ea typeface="微软雅黑" panose="020B0503020204020204" pitchFamily="34" charset="-122"/>
              <a:cs typeface="Times New Roman" panose="02020603050405020304" pitchFamily="18" charset="0"/>
            </a:endParaRPr>
          </a:p>
          <a:p>
            <a:endParaRPr lang="zh-CN" altLang="en-US" dirty="0"/>
          </a:p>
        </p:txBody>
      </p:sp>
      <p:grpSp>
        <p:nvGrpSpPr>
          <p:cNvPr id="5" name="组合 4"/>
          <p:cNvGrpSpPr/>
          <p:nvPr/>
        </p:nvGrpSpPr>
        <p:grpSpPr>
          <a:xfrm>
            <a:off x="1725224" y="2724853"/>
            <a:ext cx="8485252" cy="2055338"/>
            <a:chOff x="226898" y="3749508"/>
            <a:chExt cx="8485252" cy="2055338"/>
          </a:xfrm>
        </p:grpSpPr>
        <p:sp>
          <p:nvSpPr>
            <p:cNvPr id="6" name="等腰三角形 5">
              <a:extLst>
                <a:ext uri="{FF2B5EF4-FFF2-40B4-BE49-F238E27FC236}">
                  <a16:creationId xmlns:a16="http://schemas.microsoft.com/office/drawing/2014/main" id="{76275D96-F6C9-4116-B972-EF65266DA46A}"/>
                </a:ext>
              </a:extLst>
            </p:cNvPr>
            <p:cNvSpPr/>
            <p:nvPr/>
          </p:nvSpPr>
          <p:spPr>
            <a:xfrm>
              <a:off x="5136477" y="4000558"/>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7" name="文本框 6">
              <a:extLst>
                <a:ext uri="{FF2B5EF4-FFF2-40B4-BE49-F238E27FC236}">
                  <a16:creationId xmlns:a16="http://schemas.microsoft.com/office/drawing/2014/main"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27" name="直接连接符 26">
                <a:extLst>
                  <a:ext uri="{FF2B5EF4-FFF2-40B4-BE49-F238E27FC236}">
                    <a16:creationId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8"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组合 8">
              <a:extLst>
                <a:ext uri="{FF2B5EF4-FFF2-40B4-BE49-F238E27FC236}">
                  <a16:creationId xmlns:a16="http://schemas.microsoft.com/office/drawing/2014/main" id="{E3FB6F0E-FD32-40AB-90A7-0C7D39E2B023}"/>
                </a:ext>
              </a:extLst>
            </p:cNvPr>
            <p:cNvGrpSpPr/>
            <p:nvPr/>
          </p:nvGrpSpPr>
          <p:grpSpPr>
            <a:xfrm>
              <a:off x="6969468" y="3749508"/>
              <a:ext cx="1686270" cy="1481902"/>
              <a:chOff x="7402009" y="532714"/>
              <a:chExt cx="2839102" cy="1816458"/>
            </a:xfrm>
          </p:grpSpPr>
          <p:cxnSp>
            <p:nvCxnSpPr>
              <p:cNvPr id="23" name="直接连接符 22">
                <a:extLst>
                  <a:ext uri="{FF2B5EF4-FFF2-40B4-BE49-F238E27FC236}">
                    <a16:creationId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4" name="文本框 23">
                <a:extLst>
                  <a:ext uri="{FF2B5EF4-FFF2-40B4-BE49-F238E27FC236}">
                    <a16:creationId xmlns:a16="http://schemas.microsoft.com/office/drawing/2014/main" id="{C9D2448E-4DF6-4F3D-94D3-4044F9D944E6}"/>
                  </a:ext>
                </a:extLst>
              </p:cNvPr>
              <p:cNvSpPr txBox="1"/>
              <p:nvPr/>
            </p:nvSpPr>
            <p:spPr>
              <a:xfrm>
                <a:off x="9395812"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5"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文本框 25">
                <a:extLst>
                  <a:ext uri="{FF2B5EF4-FFF2-40B4-BE49-F238E27FC236}">
                    <a16:creationId xmlns:a16="http://schemas.microsoft.com/office/drawing/2014/main" id="{0D4EC4C3-F2D0-4F3E-A7FD-03A7DC507C18}"/>
                  </a:ext>
                </a:extLst>
              </p:cNvPr>
              <p:cNvSpPr txBox="1"/>
              <p:nvPr/>
            </p:nvSpPr>
            <p:spPr>
              <a:xfrm>
                <a:off x="8238056" y="693598"/>
                <a:ext cx="1296563" cy="490439"/>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10"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a:extLst>
                <a:ext uri="{FF2B5EF4-FFF2-40B4-BE49-F238E27FC236}">
                  <a16:creationId xmlns:a16="http://schemas.microsoft.com/office/drawing/2014/main" id="{6371D84A-E35B-4B3D-923C-05925905383F}"/>
                </a:ext>
              </a:extLst>
            </p:cNvPr>
            <p:cNvCxnSpPr>
              <a:cxnSpLocks/>
              <a:stCxn id="25"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文本框 13">
              <a:extLst>
                <a:ext uri="{FF2B5EF4-FFF2-40B4-BE49-F238E27FC236}">
                  <a16:creationId xmlns:a16="http://schemas.microsoft.com/office/drawing/2014/main"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6"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文本框 16">
              <a:extLst>
                <a:ext uri="{FF2B5EF4-FFF2-40B4-BE49-F238E27FC236}">
                  <a16:creationId xmlns:a16="http://schemas.microsoft.com/office/drawing/2014/main"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18" name="组合 17">
              <a:extLst>
                <a:ext uri="{FF2B5EF4-FFF2-40B4-BE49-F238E27FC236}">
                  <a16:creationId xmlns:a16="http://schemas.microsoft.com/office/drawing/2014/main" id="{E3FB6F0E-FD32-40AB-90A7-0C7D39E2B023}"/>
                </a:ext>
              </a:extLst>
            </p:cNvPr>
            <p:cNvGrpSpPr/>
            <p:nvPr/>
          </p:nvGrpSpPr>
          <p:grpSpPr>
            <a:xfrm>
              <a:off x="226898" y="4000559"/>
              <a:ext cx="1686270" cy="1106090"/>
              <a:chOff x="7402009" y="852917"/>
              <a:chExt cx="2839102" cy="1355798"/>
            </a:xfrm>
          </p:grpSpPr>
          <p:sp>
            <p:nvSpPr>
              <p:cNvPr id="20" name="文本框 19">
                <a:extLst>
                  <a:ext uri="{FF2B5EF4-FFF2-40B4-BE49-F238E27FC236}">
                    <a16:creationId xmlns:a16="http://schemas.microsoft.com/office/drawing/2014/main"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21"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文本框 21">
                <a:extLst>
                  <a:ext uri="{FF2B5EF4-FFF2-40B4-BE49-F238E27FC236}">
                    <a16:creationId xmlns:a16="http://schemas.microsoft.com/office/drawing/2014/main"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19" name="直接连接符 18">
              <a:extLst>
                <a:ext uri="{FF2B5EF4-FFF2-40B4-BE49-F238E27FC236}">
                  <a16:creationId xmlns:a16="http://schemas.microsoft.com/office/drawing/2014/main"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36" name="表格 35"/>
          <p:cNvGraphicFramePr>
            <a:graphicFrameLocks noGrp="1"/>
          </p:cNvGraphicFramePr>
          <p:nvPr/>
        </p:nvGraphicFramePr>
        <p:xfrm>
          <a:off x="1148081" y="4958305"/>
          <a:ext cx="2897438" cy="1188720"/>
        </p:xfrm>
        <a:graphic>
          <a:graphicData uri="http://schemas.openxmlformats.org/drawingml/2006/table">
            <a:tbl>
              <a:tblPr firstRow="1" bandRow="1">
                <a:tableStyleId>{69C7853C-536D-4A76-A0AE-DD22124D55A5}</a:tableStyleId>
              </a:tblPr>
              <a:tblGrid>
                <a:gridCol w="1119782">
                  <a:extLst>
                    <a:ext uri="{9D8B030D-6E8A-4147-A177-3AD203B41FA5}">
                      <a16:colId xmlns:a16="http://schemas.microsoft.com/office/drawing/2014/main" val="1374052009"/>
                    </a:ext>
                  </a:extLst>
                </a:gridCol>
                <a:gridCol w="714547">
                  <a:extLst>
                    <a:ext uri="{9D8B030D-6E8A-4147-A177-3AD203B41FA5}">
                      <a16:colId xmlns:a16="http://schemas.microsoft.com/office/drawing/2014/main" val="3577726301"/>
                    </a:ext>
                  </a:extLst>
                </a:gridCol>
                <a:gridCol w="1063109">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307701">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bl>
          </a:graphicData>
        </a:graphic>
      </p:graphicFrame>
      <p:graphicFrame>
        <p:nvGraphicFramePr>
          <p:cNvPr id="37" name="表格 36"/>
          <p:cNvGraphicFramePr>
            <a:graphicFrameLocks noGrp="1"/>
          </p:cNvGraphicFramePr>
          <p:nvPr/>
        </p:nvGraphicFramePr>
        <p:xfrm>
          <a:off x="5150536" y="4950004"/>
          <a:ext cx="2818268" cy="1188720"/>
        </p:xfrm>
        <a:graphic>
          <a:graphicData uri="http://schemas.openxmlformats.org/drawingml/2006/table">
            <a:tbl>
              <a:tblPr firstRow="1" bandRow="1">
                <a:tableStyleId>{69C7853C-536D-4A76-A0AE-DD22124D55A5}</a:tableStyleId>
              </a:tblPr>
              <a:tblGrid>
                <a:gridCol w="1089185">
                  <a:extLst>
                    <a:ext uri="{9D8B030D-6E8A-4147-A177-3AD203B41FA5}">
                      <a16:colId xmlns:a16="http://schemas.microsoft.com/office/drawing/2014/main" val="1374052009"/>
                    </a:ext>
                  </a:extLst>
                </a:gridCol>
                <a:gridCol w="695023">
                  <a:extLst>
                    <a:ext uri="{9D8B030D-6E8A-4147-A177-3AD203B41FA5}">
                      <a16:colId xmlns:a16="http://schemas.microsoft.com/office/drawing/2014/main" val="3577726301"/>
                    </a:ext>
                  </a:extLst>
                </a:gridCol>
                <a:gridCol w="1034060">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bl>
          </a:graphicData>
        </a:graphic>
      </p:graphicFrame>
      <p:graphicFrame>
        <p:nvGraphicFramePr>
          <p:cNvPr id="38" name="表格 37"/>
          <p:cNvGraphicFramePr>
            <a:graphicFrameLocks noGrp="1"/>
          </p:cNvGraphicFramePr>
          <p:nvPr/>
        </p:nvGraphicFramePr>
        <p:xfrm>
          <a:off x="8818882" y="4962248"/>
          <a:ext cx="2987038" cy="1188720"/>
        </p:xfrm>
        <a:graphic>
          <a:graphicData uri="http://schemas.openxmlformats.org/drawingml/2006/table">
            <a:tbl>
              <a:tblPr firstRow="1" bandRow="1">
                <a:tableStyleId>{69C7853C-536D-4A76-A0AE-DD22124D55A5}</a:tableStyleId>
              </a:tblPr>
              <a:tblGrid>
                <a:gridCol w="1154410">
                  <a:extLst>
                    <a:ext uri="{9D8B030D-6E8A-4147-A177-3AD203B41FA5}">
                      <a16:colId xmlns:a16="http://schemas.microsoft.com/office/drawing/2014/main" val="1374052009"/>
                    </a:ext>
                  </a:extLst>
                </a:gridCol>
                <a:gridCol w="736644">
                  <a:extLst>
                    <a:ext uri="{9D8B030D-6E8A-4147-A177-3AD203B41FA5}">
                      <a16:colId xmlns:a16="http://schemas.microsoft.com/office/drawing/2014/main" val="3577726301"/>
                    </a:ext>
                  </a:extLst>
                </a:gridCol>
                <a:gridCol w="1095984">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307701">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bl>
          </a:graphicData>
        </a:graphic>
      </p:graphicFrame>
      <p:sp>
        <p:nvSpPr>
          <p:cNvPr id="33"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sp>
        <p:nvSpPr>
          <p:cNvPr id="34" name="灯片编号占位符 3">
            <a:extLst>
              <a:ext uri="{FF2B5EF4-FFF2-40B4-BE49-F238E27FC236}">
                <a16:creationId xmlns:a16="http://schemas.microsoft.com/office/drawing/2014/main" id="{7D5B008F-81BF-EC4D-937B-567F983C8F24}"/>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34</a:t>
            </a:fld>
            <a:endParaRPr kumimoji="1" lang="zh-CN" altLang="en-US" dirty="0"/>
          </a:p>
        </p:txBody>
      </p:sp>
      <p:pic>
        <p:nvPicPr>
          <p:cNvPr id="35" name="Picture 28" descr="015">
            <a:extLst>
              <a:ext uri="{FF2B5EF4-FFF2-40B4-BE49-F238E27FC236}">
                <a16:creationId xmlns:a16="http://schemas.microsoft.com/office/drawing/2014/main" id="{ACA73463-B9ED-4BD3-85F6-58002E10A46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132776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路由器周期性地向其相邻路由器广播自己知道的路由信息</a:t>
            </a:r>
            <a:endParaRPr lang="en-US" altLang="zh-CN"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endParaRPr>
          </a:p>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相邻路由器可以根据收到的路由信息修改和刷新自己的路由表</a:t>
            </a:r>
          </a:p>
        </p:txBody>
      </p:sp>
      <p:grpSp>
        <p:nvGrpSpPr>
          <p:cNvPr id="4" name="组合 69"/>
          <p:cNvGrpSpPr/>
          <p:nvPr/>
        </p:nvGrpSpPr>
        <p:grpSpPr>
          <a:xfrm>
            <a:off x="1416691" y="2570414"/>
            <a:ext cx="8485252" cy="1832912"/>
            <a:chOff x="226898" y="3971934"/>
            <a:chExt cx="8485252" cy="1832912"/>
          </a:xfrm>
        </p:grpSpPr>
        <p:sp>
          <p:nvSpPr>
            <p:cNvPr id="15" name="文本框 14">
              <a:extLst>
                <a:ext uri="{FF2B5EF4-FFF2-40B4-BE49-F238E27FC236}">
                  <a16:creationId xmlns:a16="http://schemas.microsoft.com/office/drawing/2014/main"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5" name="组合 15">
              <a:extLst>
                <a:ext uri="{FF2B5EF4-FFF2-40B4-BE49-F238E27FC236}">
                  <a16:creationId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17" name="直接连接符 16">
                <a:extLst>
                  <a:ext uri="{FF2B5EF4-FFF2-40B4-BE49-F238E27FC236}">
                    <a16:creationId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9"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6" name="组合 24">
              <a:extLst>
                <a:ext uri="{FF2B5EF4-FFF2-40B4-BE49-F238E27FC236}">
                  <a16:creationId xmlns:a16="http://schemas.microsoft.com/office/drawing/2014/main" id="{E3FB6F0E-FD32-40AB-90A7-0C7D39E2B023}"/>
                </a:ext>
              </a:extLst>
            </p:cNvPr>
            <p:cNvGrpSpPr/>
            <p:nvPr/>
          </p:nvGrpSpPr>
          <p:grpSpPr>
            <a:xfrm>
              <a:off x="6969468" y="3971934"/>
              <a:ext cx="1686269" cy="1259476"/>
              <a:chOff x="7402010" y="805358"/>
              <a:chExt cx="2839101" cy="1543814"/>
            </a:xfrm>
          </p:grpSpPr>
          <p:cxnSp>
            <p:nvCxnSpPr>
              <p:cNvPr id="26" name="直接连接符 25">
                <a:extLst>
                  <a:ext uri="{FF2B5EF4-FFF2-40B4-BE49-F238E27FC236}">
                    <a16:creationId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7" name="文本框 26">
                <a:extLst>
                  <a:ext uri="{FF2B5EF4-FFF2-40B4-BE49-F238E27FC236}">
                    <a16:creationId xmlns:a16="http://schemas.microsoft.com/office/drawing/2014/main" id="{C9D2448E-4DF6-4F3D-94D3-4044F9D944E6}"/>
                  </a:ext>
                </a:extLst>
              </p:cNvPr>
              <p:cNvSpPr txBox="1"/>
              <p:nvPr/>
            </p:nvSpPr>
            <p:spPr>
              <a:xfrm>
                <a:off x="9395812"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8" name="Picture 14">
                <a:extLst>
                  <a:ext uri="{FF2B5EF4-FFF2-40B4-BE49-F238E27FC236}">
                    <a16:creationId xmlns:a16="http://schemas.microsoft.com/office/drawing/2014/main"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10" y="805358"/>
                <a:ext cx="2665674" cy="933532"/>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文本框 31">
                <a:extLst>
                  <a:ext uri="{FF2B5EF4-FFF2-40B4-BE49-F238E27FC236}">
                    <a16:creationId xmlns:a16="http://schemas.microsoft.com/office/drawing/2014/main" id="{0D4EC4C3-F2D0-4F3E-A7FD-03A7DC507C18}"/>
                  </a:ext>
                </a:extLst>
              </p:cNvPr>
              <p:cNvSpPr txBox="1"/>
              <p:nvPr/>
            </p:nvSpPr>
            <p:spPr>
              <a:xfrm>
                <a:off x="8127798" y="1041426"/>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43"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46" name="直接连接符 45">
              <a:extLst>
                <a:ext uri="{FF2B5EF4-FFF2-40B4-BE49-F238E27FC236}">
                  <a16:creationId xmlns:a16="http://schemas.microsoft.com/office/drawing/2014/main" id="{6371D84A-E35B-4B3D-923C-05925905383F}"/>
                </a:ext>
              </a:extLst>
            </p:cNvPr>
            <p:cNvCxnSpPr>
              <a:cxnSpLocks/>
              <a:stCxn id="28" idx="2"/>
            </p:cNvCxnSpPr>
            <p:nvPr/>
          </p:nvCxnSpPr>
          <p:spPr>
            <a:xfrm>
              <a:off x="7761099" y="4733528"/>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48"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14">
              <a:extLst>
                <a:ext uri="{FF2B5EF4-FFF2-40B4-BE49-F238E27FC236}">
                  <a16:creationId xmlns:a16="http://schemas.microsoft.com/office/drawing/2014/main"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文本框 55">
              <a:extLst>
                <a:ext uri="{FF2B5EF4-FFF2-40B4-BE49-F238E27FC236}">
                  <a16:creationId xmlns:a16="http://schemas.microsoft.com/office/drawing/2014/main"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58" name="直接连接符 57">
              <a:extLst>
                <a:ext uri="{FF2B5EF4-FFF2-40B4-BE49-F238E27FC236}">
                  <a16:creationId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60" name="Picture 14">
              <a:extLst>
                <a:ext uri="{FF2B5EF4-FFF2-40B4-BE49-F238E27FC236}">
                  <a16:creationId xmlns:a16="http://schemas.microsoft.com/office/drawing/2014/main" id="{1F0082C8-E1D0-4631-AFFC-26FD52012009}"/>
                </a:ext>
              </a:extLst>
            </p:cNvPr>
            <p:cNvPicPr>
              <a:picLocks noChangeArrowheads="1"/>
            </p:cNvPicPr>
            <p:nvPr/>
          </p:nvPicPr>
          <p:blipFill>
            <a:blip r:embed="rId4">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 name="文本框 60">
              <a:extLst>
                <a:ext uri="{FF2B5EF4-FFF2-40B4-BE49-F238E27FC236}">
                  <a16:creationId xmlns:a16="http://schemas.microsoft.com/office/drawing/2014/main"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7" name="组合 62">
              <a:extLst>
                <a:ext uri="{FF2B5EF4-FFF2-40B4-BE49-F238E27FC236}">
                  <a16:creationId xmlns:a16="http://schemas.microsoft.com/office/drawing/2014/main" id="{E3FB6F0E-FD32-40AB-90A7-0C7D39E2B023}"/>
                </a:ext>
              </a:extLst>
            </p:cNvPr>
            <p:cNvGrpSpPr/>
            <p:nvPr/>
          </p:nvGrpSpPr>
          <p:grpSpPr>
            <a:xfrm>
              <a:off x="226898" y="4000559"/>
              <a:ext cx="1686270" cy="1106090"/>
              <a:chOff x="7402009" y="852917"/>
              <a:chExt cx="2839102" cy="1355798"/>
            </a:xfrm>
          </p:grpSpPr>
          <p:sp>
            <p:nvSpPr>
              <p:cNvPr id="65" name="文本框 64">
                <a:extLst>
                  <a:ext uri="{FF2B5EF4-FFF2-40B4-BE49-F238E27FC236}">
                    <a16:creationId xmlns:a16="http://schemas.microsoft.com/office/drawing/2014/main"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66" name="Picture 14">
                <a:extLst>
                  <a:ext uri="{FF2B5EF4-FFF2-40B4-BE49-F238E27FC236}">
                    <a16:creationId xmlns:a16="http://schemas.microsoft.com/office/drawing/2014/main"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文本框 66">
                <a:extLst>
                  <a:ext uri="{FF2B5EF4-FFF2-40B4-BE49-F238E27FC236}">
                    <a16:creationId xmlns:a16="http://schemas.microsoft.com/office/drawing/2014/main"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68" name="直接连接符 67">
              <a:extLst>
                <a:ext uri="{FF2B5EF4-FFF2-40B4-BE49-F238E27FC236}">
                  <a16:creationId xmlns:a16="http://schemas.microsoft.com/office/drawing/2014/main"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pSp>
        <p:nvGrpSpPr>
          <p:cNvPr id="8" name="组合 102"/>
          <p:cNvGrpSpPr/>
          <p:nvPr/>
        </p:nvGrpSpPr>
        <p:grpSpPr>
          <a:xfrm>
            <a:off x="2592308" y="4479284"/>
            <a:ext cx="1814196" cy="2088685"/>
            <a:chOff x="5970295" y="4855165"/>
            <a:chExt cx="1560339" cy="1921796"/>
          </a:xfrm>
        </p:grpSpPr>
        <p:sp>
          <p:nvSpPr>
            <p:cNvPr id="93" name="文本框 92">
              <a:extLst>
                <a:ext uri="{FF2B5EF4-FFF2-40B4-BE49-F238E27FC236}">
                  <a16:creationId xmlns:a16="http://schemas.microsoft.com/office/drawing/2014/main" id="{0D4EC4C3-F2D0-4F3E-A7FD-03A7DC507C18}"/>
                </a:ext>
              </a:extLst>
            </p:cNvPr>
            <p:cNvSpPr txBox="1"/>
            <p:nvPr/>
          </p:nvSpPr>
          <p:spPr>
            <a:xfrm>
              <a:off x="6153382" y="5957657"/>
              <a:ext cx="1343843" cy="651324"/>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r>
                <a:rPr lang="zh-CN" altLang="en-US" sz="2000" dirty="0">
                  <a:latin typeface="微软雅黑" panose="020B0503020204020204" pitchFamily="34" charset="-122"/>
                  <a:ea typeface="微软雅黑" panose="020B0503020204020204" pitchFamily="34" charset="-122"/>
                </a:rPr>
                <a:t>将路由信息发送给</a:t>
              </a:r>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94" name="椭圆形标注 93"/>
            <p:cNvSpPr/>
            <p:nvPr/>
          </p:nvSpPr>
          <p:spPr>
            <a:xfrm>
              <a:off x="5970295" y="5802924"/>
              <a:ext cx="1560339" cy="974037"/>
            </a:xfrm>
            <a:prstGeom prst="wedgeEllipseCallout">
              <a:avLst>
                <a:gd name="adj1" fmla="val 3789"/>
                <a:gd name="adj2" fmla="val -88399"/>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文本框 94">
              <a:extLst>
                <a:ext uri="{FF2B5EF4-FFF2-40B4-BE49-F238E27FC236}">
                  <a16:creationId xmlns:a16="http://schemas.microsoft.com/office/drawing/2014/main" id="{0D4EC4C3-F2D0-4F3E-A7FD-03A7DC507C18}"/>
                </a:ext>
              </a:extLst>
            </p:cNvPr>
            <p:cNvSpPr txBox="1"/>
            <p:nvPr/>
          </p:nvSpPr>
          <p:spPr>
            <a:xfrm>
              <a:off x="6633410" y="4855165"/>
              <a:ext cx="736322" cy="369332"/>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①</a:t>
              </a:r>
              <a:endParaRPr lang="zh-CN" altLang="en-US" sz="2000" dirty="0">
                <a:latin typeface="微软雅黑" panose="020B0503020204020204" pitchFamily="34" charset="-122"/>
                <a:ea typeface="微软雅黑" panose="020B0503020204020204" pitchFamily="34" charset="-122"/>
              </a:endParaRPr>
            </a:p>
          </p:txBody>
        </p:sp>
      </p:grpSp>
      <p:grpSp>
        <p:nvGrpSpPr>
          <p:cNvPr id="9" name="组合 103"/>
          <p:cNvGrpSpPr/>
          <p:nvPr/>
        </p:nvGrpSpPr>
        <p:grpSpPr>
          <a:xfrm>
            <a:off x="9901940" y="2832306"/>
            <a:ext cx="2371613" cy="1515243"/>
            <a:chOff x="9154784" y="3576232"/>
            <a:chExt cx="1992191" cy="1515243"/>
          </a:xfrm>
        </p:grpSpPr>
        <p:sp>
          <p:nvSpPr>
            <p:cNvPr id="96" name="椭圆形标注 95"/>
            <p:cNvSpPr/>
            <p:nvPr/>
          </p:nvSpPr>
          <p:spPr>
            <a:xfrm>
              <a:off x="9154784" y="3576232"/>
              <a:ext cx="1873558" cy="951150"/>
            </a:xfrm>
            <a:prstGeom prst="wedgeEllipseCallout">
              <a:avLst>
                <a:gd name="adj1" fmla="val -32783"/>
                <a:gd name="adj2" fmla="val 7414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97" name="文本框 96">
              <a:extLst>
                <a:ext uri="{FF2B5EF4-FFF2-40B4-BE49-F238E27FC236}">
                  <a16:creationId xmlns:a16="http://schemas.microsoft.com/office/drawing/2014/main" id="{0D4EC4C3-F2D0-4F3E-A7FD-03A7DC507C18}"/>
                </a:ext>
              </a:extLst>
            </p:cNvPr>
            <p:cNvSpPr txBox="1"/>
            <p:nvPr/>
          </p:nvSpPr>
          <p:spPr>
            <a:xfrm>
              <a:off x="9274816" y="4691365"/>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④</a:t>
              </a:r>
              <a:endParaRPr lang="zh-CN" altLang="en-US" sz="2000" dirty="0">
                <a:latin typeface="微软雅黑" panose="020B0503020204020204" pitchFamily="34" charset="-122"/>
                <a:ea typeface="微软雅黑" panose="020B0503020204020204" pitchFamily="34" charset="-122"/>
              </a:endParaRPr>
            </a:p>
          </p:txBody>
        </p:sp>
        <p:sp>
          <p:nvSpPr>
            <p:cNvPr id="99" name="文本框 98">
              <a:extLst>
                <a:ext uri="{FF2B5EF4-FFF2-40B4-BE49-F238E27FC236}">
                  <a16:creationId xmlns:a16="http://schemas.microsoft.com/office/drawing/2014/main" id="{0D4EC4C3-F2D0-4F3E-A7FD-03A7DC507C18}"/>
                </a:ext>
              </a:extLst>
            </p:cNvPr>
            <p:cNvSpPr txBox="1"/>
            <p:nvPr/>
          </p:nvSpPr>
          <p:spPr>
            <a:xfrm>
              <a:off x="9293212" y="3728812"/>
              <a:ext cx="1853763" cy="70788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r>
                <a:rPr lang="zh-CN" altLang="en-US" sz="2000" dirty="0">
                  <a:latin typeface="微软雅黑" panose="020B0503020204020204" pitchFamily="34" charset="-122"/>
                  <a:ea typeface="微软雅黑" panose="020B0503020204020204" pitchFamily="34" charset="-122"/>
                </a:rPr>
                <a:t>收到路由信息后刷新路由表</a:t>
              </a:r>
            </a:p>
          </p:txBody>
        </p:sp>
      </p:grpSp>
      <p:grpSp>
        <p:nvGrpSpPr>
          <p:cNvPr id="10" name="组合 105"/>
          <p:cNvGrpSpPr/>
          <p:nvPr/>
        </p:nvGrpSpPr>
        <p:grpSpPr>
          <a:xfrm>
            <a:off x="7508570" y="4403817"/>
            <a:ext cx="1876763" cy="1624727"/>
            <a:chOff x="7219584" y="5110360"/>
            <a:chExt cx="1876763" cy="1624727"/>
          </a:xfrm>
        </p:grpSpPr>
        <p:sp>
          <p:nvSpPr>
            <p:cNvPr id="107" name="文本框 106">
              <a:extLst>
                <a:ext uri="{FF2B5EF4-FFF2-40B4-BE49-F238E27FC236}">
                  <a16:creationId xmlns:a16="http://schemas.microsoft.com/office/drawing/2014/main" id="{0D4EC4C3-F2D0-4F3E-A7FD-03A7DC507C18}"/>
                </a:ext>
              </a:extLst>
            </p:cNvPr>
            <p:cNvSpPr txBox="1"/>
            <p:nvPr/>
          </p:nvSpPr>
          <p:spPr>
            <a:xfrm>
              <a:off x="7383137" y="6006733"/>
              <a:ext cx="1574137" cy="70788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r>
                <a:rPr lang="zh-CN" altLang="en-US" sz="2000" dirty="0">
                  <a:latin typeface="微软雅黑" panose="020B0503020204020204" pitchFamily="34" charset="-122"/>
                  <a:ea typeface="微软雅黑" panose="020B0503020204020204" pitchFamily="34" charset="-122"/>
                </a:rPr>
                <a:t>将路由信息发送给</a:t>
              </a:r>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108" name="椭圆形标注 107"/>
            <p:cNvSpPr/>
            <p:nvPr/>
          </p:nvSpPr>
          <p:spPr>
            <a:xfrm>
              <a:off x="7219584" y="5946457"/>
              <a:ext cx="1876763" cy="788630"/>
            </a:xfrm>
            <a:prstGeom prst="wedgeEllipseCallout">
              <a:avLst>
                <a:gd name="adj1" fmla="val -16259"/>
                <a:gd name="adj2" fmla="val -8689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文本框 108">
              <a:extLst>
                <a:ext uri="{FF2B5EF4-FFF2-40B4-BE49-F238E27FC236}">
                  <a16:creationId xmlns:a16="http://schemas.microsoft.com/office/drawing/2014/main" id="{0D4EC4C3-F2D0-4F3E-A7FD-03A7DC507C18}"/>
                </a:ext>
              </a:extLst>
            </p:cNvPr>
            <p:cNvSpPr txBox="1"/>
            <p:nvPr/>
          </p:nvSpPr>
          <p:spPr>
            <a:xfrm>
              <a:off x="7634660" y="5110360"/>
              <a:ext cx="523305"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③</a:t>
              </a:r>
              <a:endParaRPr lang="zh-CN" altLang="en-US" sz="2000" dirty="0">
                <a:latin typeface="微软雅黑" panose="020B0503020204020204" pitchFamily="34" charset="-122"/>
                <a:ea typeface="微软雅黑" panose="020B0503020204020204" pitchFamily="34" charset="-122"/>
              </a:endParaRPr>
            </a:p>
          </p:txBody>
        </p:sp>
      </p:grpSp>
      <p:grpSp>
        <p:nvGrpSpPr>
          <p:cNvPr id="11" name="组合 116"/>
          <p:cNvGrpSpPr/>
          <p:nvPr/>
        </p:nvGrpSpPr>
        <p:grpSpPr>
          <a:xfrm>
            <a:off x="5408181" y="5874688"/>
            <a:ext cx="3100556" cy="878791"/>
            <a:chOff x="4471926" y="5614341"/>
            <a:chExt cx="1851930" cy="764319"/>
          </a:xfrm>
        </p:grpSpPr>
        <p:sp>
          <p:nvSpPr>
            <p:cNvPr id="114" name="椭圆形标注 113"/>
            <p:cNvSpPr/>
            <p:nvPr/>
          </p:nvSpPr>
          <p:spPr>
            <a:xfrm>
              <a:off x="4792249" y="5687194"/>
              <a:ext cx="1531607" cy="691466"/>
            </a:xfrm>
            <a:prstGeom prst="wedgeEllipseCallout">
              <a:avLst>
                <a:gd name="adj1" fmla="val -57360"/>
                <a:gd name="adj2" fmla="val -3007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p>
          </p:txBody>
        </p:sp>
        <p:sp>
          <p:nvSpPr>
            <p:cNvPr id="115" name="文本框 114">
              <a:extLst>
                <a:ext uri="{FF2B5EF4-FFF2-40B4-BE49-F238E27FC236}">
                  <a16:creationId xmlns:a16="http://schemas.microsoft.com/office/drawing/2014/main" id="{0D4EC4C3-F2D0-4F3E-A7FD-03A7DC507C18}"/>
                </a:ext>
              </a:extLst>
            </p:cNvPr>
            <p:cNvSpPr txBox="1"/>
            <p:nvPr/>
          </p:nvSpPr>
          <p:spPr>
            <a:xfrm>
              <a:off x="4471926" y="5614341"/>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②</a:t>
              </a:r>
              <a:endParaRPr lang="zh-CN" altLang="en-US" sz="2000" dirty="0">
                <a:latin typeface="微软雅黑" panose="020B0503020204020204" pitchFamily="34" charset="-122"/>
                <a:ea typeface="微软雅黑" panose="020B0503020204020204" pitchFamily="34" charset="-122"/>
              </a:endParaRPr>
            </a:p>
          </p:txBody>
        </p:sp>
        <p:sp>
          <p:nvSpPr>
            <p:cNvPr id="116" name="文本框 115">
              <a:extLst>
                <a:ext uri="{FF2B5EF4-FFF2-40B4-BE49-F238E27FC236}">
                  <a16:creationId xmlns:a16="http://schemas.microsoft.com/office/drawing/2014/main" id="{0D4EC4C3-F2D0-4F3E-A7FD-03A7DC507C18}"/>
                </a:ext>
              </a:extLst>
            </p:cNvPr>
            <p:cNvSpPr txBox="1"/>
            <p:nvPr/>
          </p:nvSpPr>
          <p:spPr>
            <a:xfrm>
              <a:off x="5008192" y="5750692"/>
              <a:ext cx="1176904" cy="6156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r>
                <a:rPr lang="zh-CN" altLang="en-US" sz="2000" dirty="0">
                  <a:latin typeface="微软雅黑" panose="020B0503020204020204" pitchFamily="34" charset="-122"/>
                  <a:ea typeface="微软雅黑" panose="020B0503020204020204" pitchFamily="34" charset="-122"/>
                </a:rPr>
                <a:t>收到路由信息后刷新路由表</a:t>
              </a:r>
            </a:p>
          </p:txBody>
        </p:sp>
      </p:grpSp>
      <p:graphicFrame>
        <p:nvGraphicFramePr>
          <p:cNvPr id="119" name="表格 118"/>
          <p:cNvGraphicFramePr>
            <a:graphicFrameLocks noGrp="1"/>
          </p:cNvGraphicFramePr>
          <p:nvPr/>
        </p:nvGraphicFramePr>
        <p:xfrm>
          <a:off x="4600016" y="4353726"/>
          <a:ext cx="2706130" cy="1188720"/>
        </p:xfrm>
        <a:graphic>
          <a:graphicData uri="http://schemas.openxmlformats.org/drawingml/2006/table">
            <a:tbl>
              <a:tblPr firstRow="1" bandRow="1">
                <a:tableStyleId>{69C7853C-536D-4A76-A0AE-DD22124D55A5}</a:tableStyleId>
              </a:tblPr>
              <a:tblGrid>
                <a:gridCol w="1136822">
                  <a:extLst>
                    <a:ext uri="{9D8B030D-6E8A-4147-A177-3AD203B41FA5}">
                      <a16:colId xmlns:a16="http://schemas.microsoft.com/office/drawing/2014/main" val="1374052009"/>
                    </a:ext>
                  </a:extLst>
                </a:gridCol>
                <a:gridCol w="630195">
                  <a:extLst>
                    <a:ext uri="{9D8B030D-6E8A-4147-A177-3AD203B41FA5}">
                      <a16:colId xmlns:a16="http://schemas.microsoft.com/office/drawing/2014/main" val="3577726301"/>
                    </a:ext>
                  </a:extLst>
                </a:gridCol>
                <a:gridCol w="939113">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bl>
          </a:graphicData>
        </a:graphic>
      </p:graphicFrame>
      <p:graphicFrame>
        <p:nvGraphicFramePr>
          <p:cNvPr id="120" name="表格 119"/>
          <p:cNvGraphicFramePr>
            <a:graphicFrameLocks noGrp="1"/>
          </p:cNvGraphicFramePr>
          <p:nvPr/>
        </p:nvGraphicFramePr>
        <p:xfrm>
          <a:off x="9446807" y="4378612"/>
          <a:ext cx="2551603" cy="1188720"/>
        </p:xfrm>
        <a:graphic>
          <a:graphicData uri="http://schemas.openxmlformats.org/drawingml/2006/table">
            <a:tbl>
              <a:tblPr firstRow="1" bandRow="1">
                <a:tableStyleId>{69C7853C-536D-4A76-A0AE-DD22124D55A5}</a:tableStyleId>
              </a:tblPr>
              <a:tblGrid>
                <a:gridCol w="1105862">
                  <a:extLst>
                    <a:ext uri="{9D8B030D-6E8A-4147-A177-3AD203B41FA5}">
                      <a16:colId xmlns:a16="http://schemas.microsoft.com/office/drawing/2014/main" val="1374052009"/>
                    </a:ext>
                  </a:extLst>
                </a:gridCol>
                <a:gridCol w="580768">
                  <a:extLst>
                    <a:ext uri="{9D8B030D-6E8A-4147-A177-3AD203B41FA5}">
                      <a16:colId xmlns:a16="http://schemas.microsoft.com/office/drawing/2014/main" val="3577726301"/>
                    </a:ext>
                  </a:extLst>
                </a:gridCol>
                <a:gridCol w="864973">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307701">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bl>
          </a:graphicData>
        </a:graphic>
      </p:graphicFrame>
      <p:graphicFrame>
        <p:nvGraphicFramePr>
          <p:cNvPr id="121" name="表格 120"/>
          <p:cNvGraphicFramePr>
            <a:graphicFrameLocks noGrp="1"/>
          </p:cNvGraphicFramePr>
          <p:nvPr/>
        </p:nvGraphicFramePr>
        <p:xfrm>
          <a:off x="4602472" y="4356800"/>
          <a:ext cx="2712728" cy="1584960"/>
        </p:xfrm>
        <a:graphic>
          <a:graphicData uri="http://schemas.openxmlformats.org/drawingml/2006/table">
            <a:tbl>
              <a:tblPr firstRow="1" bandRow="1">
                <a:tableStyleId>{69C7853C-536D-4A76-A0AE-DD22124D55A5}</a:tableStyleId>
              </a:tblPr>
              <a:tblGrid>
                <a:gridCol w="1119490">
                  <a:extLst>
                    <a:ext uri="{9D8B030D-6E8A-4147-A177-3AD203B41FA5}">
                      <a16:colId xmlns:a16="http://schemas.microsoft.com/office/drawing/2014/main" val="1374052009"/>
                    </a:ext>
                  </a:extLst>
                </a:gridCol>
                <a:gridCol w="640068">
                  <a:extLst>
                    <a:ext uri="{9D8B030D-6E8A-4147-A177-3AD203B41FA5}">
                      <a16:colId xmlns:a16="http://schemas.microsoft.com/office/drawing/2014/main" val="3577726301"/>
                    </a:ext>
                  </a:extLst>
                </a:gridCol>
                <a:gridCol w="953170">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15385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r h="153851">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R2</a:t>
                      </a:r>
                      <a:endParaRPr lang="zh-CN" altLang="en-US" sz="2000" dirty="0"/>
                    </a:p>
                  </a:txBody>
                  <a:tcPr marL="36000" marR="36000"/>
                </a:tc>
                <a:extLst>
                  <a:ext uri="{0D108BD9-81ED-4DB2-BD59-A6C34878D82A}">
                    <a16:rowId xmlns:a16="http://schemas.microsoft.com/office/drawing/2014/main" val="62368846"/>
                  </a:ext>
                </a:extLst>
              </a:tr>
            </a:tbl>
          </a:graphicData>
        </a:graphic>
      </p:graphicFrame>
      <p:graphicFrame>
        <p:nvGraphicFramePr>
          <p:cNvPr id="122" name="表格 121"/>
          <p:cNvGraphicFramePr>
            <a:graphicFrameLocks noGrp="1"/>
          </p:cNvGraphicFramePr>
          <p:nvPr/>
        </p:nvGraphicFramePr>
        <p:xfrm>
          <a:off x="9446807" y="4366255"/>
          <a:ext cx="2573921" cy="1981200"/>
        </p:xfrm>
        <a:graphic>
          <a:graphicData uri="http://schemas.openxmlformats.org/drawingml/2006/table">
            <a:tbl>
              <a:tblPr firstRow="1" bandRow="1">
                <a:tableStyleId>{69C7853C-536D-4A76-A0AE-DD22124D55A5}</a:tableStyleId>
              </a:tblPr>
              <a:tblGrid>
                <a:gridCol w="1120920">
                  <a:extLst>
                    <a:ext uri="{9D8B030D-6E8A-4147-A177-3AD203B41FA5}">
                      <a16:colId xmlns:a16="http://schemas.microsoft.com/office/drawing/2014/main" val="1374052009"/>
                    </a:ext>
                  </a:extLst>
                </a:gridCol>
                <a:gridCol w="601320">
                  <a:extLst>
                    <a:ext uri="{9D8B030D-6E8A-4147-A177-3AD203B41FA5}">
                      <a16:colId xmlns:a16="http://schemas.microsoft.com/office/drawing/2014/main" val="3577726301"/>
                    </a:ext>
                  </a:extLst>
                </a:gridCol>
                <a:gridCol w="851681">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0">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r h="171753">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val="3802406786"/>
                  </a:ext>
                </a:extLst>
              </a:tr>
              <a:tr h="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2</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val="3216353289"/>
                  </a:ext>
                </a:extLst>
              </a:tr>
            </a:tbl>
          </a:graphicData>
        </a:graphic>
      </p:graphicFrame>
      <p:sp>
        <p:nvSpPr>
          <p:cNvPr id="12" name="右箭头 11"/>
          <p:cNvSpPr/>
          <p:nvPr/>
        </p:nvSpPr>
        <p:spPr>
          <a:xfrm>
            <a:off x="3279415" y="4828773"/>
            <a:ext cx="588266" cy="182066"/>
          </a:xfrm>
          <a:prstGeom prst="rightArrow">
            <a:avLst/>
          </a:prstGeom>
          <a:solidFill>
            <a:srgbClr val="5C6CAB"/>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57" name="表格 56"/>
          <p:cNvGraphicFramePr>
            <a:graphicFrameLocks noGrp="1"/>
          </p:cNvGraphicFramePr>
          <p:nvPr/>
        </p:nvGraphicFramePr>
        <p:xfrm>
          <a:off x="195600" y="4376440"/>
          <a:ext cx="2695884" cy="1188720"/>
        </p:xfrm>
        <a:graphic>
          <a:graphicData uri="http://schemas.openxmlformats.org/drawingml/2006/table">
            <a:tbl>
              <a:tblPr firstRow="1" bandRow="1">
                <a:tableStyleId>{69C7853C-536D-4A76-A0AE-DD22124D55A5}</a:tableStyleId>
              </a:tblPr>
              <a:tblGrid>
                <a:gridCol w="1119782">
                  <a:extLst>
                    <a:ext uri="{9D8B030D-6E8A-4147-A177-3AD203B41FA5}">
                      <a16:colId xmlns:a16="http://schemas.microsoft.com/office/drawing/2014/main" val="1374052009"/>
                    </a:ext>
                  </a:extLst>
                </a:gridCol>
                <a:gridCol w="612275">
                  <a:extLst>
                    <a:ext uri="{9D8B030D-6E8A-4147-A177-3AD203B41FA5}">
                      <a16:colId xmlns:a16="http://schemas.microsoft.com/office/drawing/2014/main" val="3577726301"/>
                    </a:ext>
                  </a:extLst>
                </a:gridCol>
                <a:gridCol w="963827">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307701">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bl>
          </a:graphicData>
        </a:graphic>
      </p:graphicFrame>
      <p:sp>
        <p:nvSpPr>
          <p:cNvPr id="59" name="右箭头 58"/>
          <p:cNvSpPr/>
          <p:nvPr/>
        </p:nvSpPr>
        <p:spPr>
          <a:xfrm>
            <a:off x="7902617" y="4755540"/>
            <a:ext cx="588266" cy="182066"/>
          </a:xfrm>
          <a:prstGeom prst="rightArrow">
            <a:avLst/>
          </a:prstGeom>
          <a:solidFill>
            <a:srgbClr val="5C6CAB"/>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sp>
        <p:nvSpPr>
          <p:cNvPr id="53" name="灯片编号占位符 3">
            <a:extLst>
              <a:ext uri="{FF2B5EF4-FFF2-40B4-BE49-F238E27FC236}">
                <a16:creationId xmlns:a16="http://schemas.microsoft.com/office/drawing/2014/main" id="{B728515E-26D1-9746-A925-8DA7AE9B42B9}"/>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35</a:t>
            </a:fld>
            <a:endParaRPr kumimoji="1" lang="zh-CN" altLang="en-US" dirty="0"/>
          </a:p>
        </p:txBody>
      </p:sp>
      <p:pic>
        <p:nvPicPr>
          <p:cNvPr id="54" name="Picture 28" descr="015">
            <a:extLst>
              <a:ext uri="{FF2B5EF4-FFF2-40B4-BE49-F238E27FC236}">
                <a16:creationId xmlns:a16="http://schemas.microsoft.com/office/drawing/2014/main" id="{1042F14C-AAE1-4286-B32A-2754939357A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68412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5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a:xfrm>
            <a:off x="838199" y="1510758"/>
            <a:ext cx="10864175" cy="4586694"/>
          </a:xfrm>
        </p:spPr>
        <p:txBody>
          <a:bodyPr/>
          <a:lstStyle/>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路由器经过若干次更新后，最终都会知道到达所有网络的最短距离</a:t>
            </a:r>
            <a:endParaRPr lang="en-US" altLang="zh-CN"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endParaRPr>
          </a:p>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所有的路由器都得到正确的路由选择信息时网络进入“收敛”（</a:t>
            </a:r>
            <a:r>
              <a:rPr lang="en-US" altLang="zh-CN"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convergence</a:t>
            </a:r>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）状态</a:t>
            </a:r>
          </a:p>
        </p:txBody>
      </p:sp>
      <p:grpSp>
        <p:nvGrpSpPr>
          <p:cNvPr id="5" name="组合 4"/>
          <p:cNvGrpSpPr/>
          <p:nvPr/>
        </p:nvGrpSpPr>
        <p:grpSpPr>
          <a:xfrm>
            <a:off x="1168494" y="2658177"/>
            <a:ext cx="8485252" cy="2055338"/>
            <a:chOff x="226898" y="3749508"/>
            <a:chExt cx="8485252" cy="2055338"/>
          </a:xfrm>
        </p:grpSpPr>
        <p:sp>
          <p:nvSpPr>
            <p:cNvPr id="6" name="等腰三角形 5">
              <a:extLst>
                <a:ext uri="{FF2B5EF4-FFF2-40B4-BE49-F238E27FC236}">
                  <a16:creationId xmlns:a16="http://schemas.microsoft.com/office/drawing/2014/main" id="{76275D96-F6C9-4116-B972-EF65266DA46A}"/>
                </a:ext>
              </a:extLst>
            </p:cNvPr>
            <p:cNvSpPr/>
            <p:nvPr/>
          </p:nvSpPr>
          <p:spPr>
            <a:xfrm>
              <a:off x="5136477" y="4000558"/>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7" name="文本框 6">
              <a:extLst>
                <a:ext uri="{FF2B5EF4-FFF2-40B4-BE49-F238E27FC236}">
                  <a16:creationId xmlns:a16="http://schemas.microsoft.com/office/drawing/2014/main"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27" name="直接连接符 26">
                <a:extLst>
                  <a:ext uri="{FF2B5EF4-FFF2-40B4-BE49-F238E27FC236}">
                    <a16:creationId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8"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组合 8">
              <a:extLst>
                <a:ext uri="{FF2B5EF4-FFF2-40B4-BE49-F238E27FC236}">
                  <a16:creationId xmlns:a16="http://schemas.microsoft.com/office/drawing/2014/main" id="{E3FB6F0E-FD32-40AB-90A7-0C7D39E2B023}"/>
                </a:ext>
              </a:extLst>
            </p:cNvPr>
            <p:cNvGrpSpPr/>
            <p:nvPr/>
          </p:nvGrpSpPr>
          <p:grpSpPr>
            <a:xfrm>
              <a:off x="6969468" y="3749508"/>
              <a:ext cx="1686270" cy="1481902"/>
              <a:chOff x="7402009" y="532714"/>
              <a:chExt cx="2839102" cy="1816458"/>
            </a:xfrm>
          </p:grpSpPr>
          <p:cxnSp>
            <p:nvCxnSpPr>
              <p:cNvPr id="23" name="直接连接符 22">
                <a:extLst>
                  <a:ext uri="{FF2B5EF4-FFF2-40B4-BE49-F238E27FC236}">
                    <a16:creationId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4" name="文本框 23">
                <a:extLst>
                  <a:ext uri="{FF2B5EF4-FFF2-40B4-BE49-F238E27FC236}">
                    <a16:creationId xmlns:a16="http://schemas.microsoft.com/office/drawing/2014/main" id="{C9D2448E-4DF6-4F3D-94D3-4044F9D944E6}"/>
                  </a:ext>
                </a:extLst>
              </p:cNvPr>
              <p:cNvSpPr txBox="1"/>
              <p:nvPr/>
            </p:nvSpPr>
            <p:spPr>
              <a:xfrm>
                <a:off x="9395812"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5" name="Picture 14">
                <a:extLst>
                  <a:ext uri="{FF2B5EF4-FFF2-40B4-BE49-F238E27FC236}">
                    <a16:creationId xmlns:a16="http://schemas.microsoft.com/office/drawing/2014/main"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文本框 25">
                <a:extLst>
                  <a:ext uri="{FF2B5EF4-FFF2-40B4-BE49-F238E27FC236}">
                    <a16:creationId xmlns:a16="http://schemas.microsoft.com/office/drawing/2014/main" id="{0D4EC4C3-F2D0-4F3E-A7FD-03A7DC507C18}"/>
                  </a:ext>
                </a:extLst>
              </p:cNvPr>
              <p:cNvSpPr txBox="1"/>
              <p:nvPr/>
            </p:nvSpPr>
            <p:spPr>
              <a:xfrm>
                <a:off x="8238056" y="693598"/>
                <a:ext cx="1296563" cy="490439"/>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10"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a:extLst>
                <a:ext uri="{FF2B5EF4-FFF2-40B4-BE49-F238E27FC236}">
                  <a16:creationId xmlns:a16="http://schemas.microsoft.com/office/drawing/2014/main" id="{6371D84A-E35B-4B3D-923C-05925905383F}"/>
                </a:ext>
              </a:extLst>
            </p:cNvPr>
            <p:cNvCxnSpPr>
              <a:cxnSpLocks/>
              <a:stCxn id="25"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4">
              <a:extLst>
                <a:ext uri="{FF2B5EF4-FFF2-40B4-BE49-F238E27FC236}">
                  <a16:creationId xmlns:a16="http://schemas.microsoft.com/office/drawing/2014/main"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文本框 13">
              <a:extLst>
                <a:ext uri="{FF2B5EF4-FFF2-40B4-BE49-F238E27FC236}">
                  <a16:creationId xmlns:a16="http://schemas.microsoft.com/office/drawing/2014/main"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6" name="Picture 14">
              <a:extLst>
                <a:ext uri="{FF2B5EF4-FFF2-40B4-BE49-F238E27FC236}">
                  <a16:creationId xmlns:a16="http://schemas.microsoft.com/office/drawing/2014/main" id="{1F0082C8-E1D0-4631-AFFC-26FD52012009}"/>
                </a:ext>
              </a:extLst>
            </p:cNvPr>
            <p:cNvPicPr>
              <a:picLocks noChangeArrowheads="1"/>
            </p:cNvPicPr>
            <p:nvPr/>
          </p:nvPicPr>
          <p:blipFill>
            <a:blip r:embed="rId4">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文本框 16">
              <a:extLst>
                <a:ext uri="{FF2B5EF4-FFF2-40B4-BE49-F238E27FC236}">
                  <a16:creationId xmlns:a16="http://schemas.microsoft.com/office/drawing/2014/main"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18" name="组合 17">
              <a:extLst>
                <a:ext uri="{FF2B5EF4-FFF2-40B4-BE49-F238E27FC236}">
                  <a16:creationId xmlns:a16="http://schemas.microsoft.com/office/drawing/2014/main" id="{E3FB6F0E-FD32-40AB-90A7-0C7D39E2B023}"/>
                </a:ext>
              </a:extLst>
            </p:cNvPr>
            <p:cNvGrpSpPr/>
            <p:nvPr/>
          </p:nvGrpSpPr>
          <p:grpSpPr>
            <a:xfrm>
              <a:off x="226898" y="4000559"/>
              <a:ext cx="1686270" cy="1106090"/>
              <a:chOff x="7402009" y="852917"/>
              <a:chExt cx="2839102" cy="1355798"/>
            </a:xfrm>
          </p:grpSpPr>
          <p:sp>
            <p:nvSpPr>
              <p:cNvPr id="20" name="文本框 19">
                <a:extLst>
                  <a:ext uri="{FF2B5EF4-FFF2-40B4-BE49-F238E27FC236}">
                    <a16:creationId xmlns:a16="http://schemas.microsoft.com/office/drawing/2014/main"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21" name="Picture 14">
                <a:extLst>
                  <a:ext uri="{FF2B5EF4-FFF2-40B4-BE49-F238E27FC236}">
                    <a16:creationId xmlns:a16="http://schemas.microsoft.com/office/drawing/2014/main"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文本框 21">
                <a:extLst>
                  <a:ext uri="{FF2B5EF4-FFF2-40B4-BE49-F238E27FC236}">
                    <a16:creationId xmlns:a16="http://schemas.microsoft.com/office/drawing/2014/main"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19" name="直接连接符 18">
              <a:extLst>
                <a:ext uri="{FF2B5EF4-FFF2-40B4-BE49-F238E27FC236}">
                  <a16:creationId xmlns:a16="http://schemas.microsoft.com/office/drawing/2014/main" id="{6371D84A-E35B-4B3D-923C-05925905383F}"/>
                </a:ext>
              </a:extLst>
            </p:cNvPr>
            <p:cNvCxnSpPr>
              <a:cxnSpLocks/>
              <a:stCxn id="21" idx="2"/>
            </p:cNvCxnSpPr>
            <p:nvPr/>
          </p:nvCxnSpPr>
          <p:spPr>
            <a:xfrm>
              <a:off x="1018530" y="4684778"/>
              <a:ext cx="392577" cy="44277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48" name="表格 47"/>
          <p:cNvGraphicFramePr>
            <a:graphicFrameLocks noGrp="1"/>
          </p:cNvGraphicFramePr>
          <p:nvPr/>
        </p:nvGraphicFramePr>
        <p:xfrm>
          <a:off x="834011" y="4555252"/>
          <a:ext cx="2539384" cy="1981200"/>
        </p:xfrm>
        <a:graphic>
          <a:graphicData uri="http://schemas.openxmlformats.org/drawingml/2006/table">
            <a:tbl>
              <a:tblPr firstRow="1" bandRow="1">
                <a:tableStyleId>{69C7853C-536D-4A76-A0AE-DD22124D55A5}</a:tableStyleId>
              </a:tblPr>
              <a:tblGrid>
                <a:gridCol w="1116377">
                  <a:extLst>
                    <a:ext uri="{9D8B030D-6E8A-4147-A177-3AD203B41FA5}">
                      <a16:colId xmlns:a16="http://schemas.microsoft.com/office/drawing/2014/main" val="1374052009"/>
                    </a:ext>
                  </a:extLst>
                </a:gridCol>
                <a:gridCol w="582747">
                  <a:extLst>
                    <a:ext uri="{9D8B030D-6E8A-4147-A177-3AD203B41FA5}">
                      <a16:colId xmlns:a16="http://schemas.microsoft.com/office/drawing/2014/main" val="3577726301"/>
                    </a:ext>
                  </a:extLst>
                </a:gridCol>
                <a:gridCol w="840260">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r h="17175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t>net2</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val="304157684"/>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t>net3</a:t>
                      </a:r>
                      <a:endParaRPr lang="zh-CN" altLang="en-US" sz="2000" dirty="0"/>
                    </a:p>
                  </a:txBody>
                  <a:tcPr marL="36000" marR="36000"/>
                </a:tc>
                <a:tc>
                  <a:txBody>
                    <a:bodyPr/>
                    <a:lstStyle/>
                    <a:p>
                      <a:pPr algn="ctr"/>
                      <a:r>
                        <a:rPr lang="en-US" altLang="zh-CN" sz="2000" dirty="0"/>
                        <a:t>2</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val="355289036"/>
                  </a:ext>
                </a:extLst>
              </a:tr>
            </a:tbl>
          </a:graphicData>
        </a:graphic>
      </p:graphicFrame>
      <p:graphicFrame>
        <p:nvGraphicFramePr>
          <p:cNvPr id="51" name="表格 50"/>
          <p:cNvGraphicFramePr>
            <a:graphicFrameLocks noGrp="1"/>
          </p:cNvGraphicFramePr>
          <p:nvPr/>
        </p:nvGraphicFramePr>
        <p:xfrm>
          <a:off x="4736047" y="4544347"/>
          <a:ext cx="2554439" cy="1981200"/>
        </p:xfrm>
        <a:graphic>
          <a:graphicData uri="http://schemas.openxmlformats.org/drawingml/2006/table">
            <a:tbl>
              <a:tblPr firstRow="1" bandRow="1">
                <a:tableStyleId>{69C7853C-536D-4A76-A0AE-DD22124D55A5}</a:tableStyleId>
              </a:tblPr>
              <a:tblGrid>
                <a:gridCol w="1114470">
                  <a:extLst>
                    <a:ext uri="{9D8B030D-6E8A-4147-A177-3AD203B41FA5}">
                      <a16:colId xmlns:a16="http://schemas.microsoft.com/office/drawing/2014/main" val="1374052009"/>
                    </a:ext>
                  </a:extLst>
                </a:gridCol>
                <a:gridCol w="599710">
                  <a:extLst>
                    <a:ext uri="{9D8B030D-6E8A-4147-A177-3AD203B41FA5}">
                      <a16:colId xmlns:a16="http://schemas.microsoft.com/office/drawing/2014/main" val="3577726301"/>
                    </a:ext>
                  </a:extLst>
                </a:gridCol>
                <a:gridCol w="840259">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1538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r h="13716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R2</a:t>
                      </a:r>
                      <a:endParaRPr lang="zh-CN" altLang="en-US" sz="2000" dirty="0"/>
                    </a:p>
                  </a:txBody>
                  <a:tcPr marL="36000" marR="36000"/>
                </a:tc>
                <a:extLst>
                  <a:ext uri="{0D108BD9-81ED-4DB2-BD59-A6C34878D82A}">
                    <a16:rowId xmlns:a16="http://schemas.microsoft.com/office/drawing/2014/main" val="62368846"/>
                  </a:ext>
                </a:extLst>
              </a:tr>
              <a:tr h="137160">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R3</a:t>
                      </a:r>
                      <a:endParaRPr lang="zh-CN" altLang="en-US" sz="2000" dirty="0"/>
                    </a:p>
                  </a:txBody>
                  <a:tcPr marL="36000" marR="36000"/>
                </a:tc>
                <a:extLst>
                  <a:ext uri="{0D108BD9-81ED-4DB2-BD59-A6C34878D82A}">
                    <a16:rowId xmlns:a16="http://schemas.microsoft.com/office/drawing/2014/main" val="1979529601"/>
                  </a:ext>
                </a:extLst>
              </a:tr>
            </a:tbl>
          </a:graphicData>
        </a:graphic>
      </p:graphicFrame>
      <p:graphicFrame>
        <p:nvGraphicFramePr>
          <p:cNvPr id="52" name="表格 51"/>
          <p:cNvGraphicFramePr>
            <a:graphicFrameLocks noGrp="1"/>
          </p:cNvGraphicFramePr>
          <p:nvPr/>
        </p:nvGraphicFramePr>
        <p:xfrm>
          <a:off x="8435860" y="4523645"/>
          <a:ext cx="2604218" cy="1981200"/>
        </p:xfrm>
        <a:graphic>
          <a:graphicData uri="http://schemas.openxmlformats.org/drawingml/2006/table">
            <a:tbl>
              <a:tblPr firstRow="1" bandRow="1">
                <a:tableStyleId>{69C7853C-536D-4A76-A0AE-DD22124D55A5}</a:tableStyleId>
              </a:tblPr>
              <a:tblGrid>
                <a:gridCol w="1121407">
                  <a:extLst>
                    <a:ext uri="{9D8B030D-6E8A-4147-A177-3AD203B41FA5}">
                      <a16:colId xmlns:a16="http://schemas.microsoft.com/office/drawing/2014/main" val="1374052009"/>
                    </a:ext>
                  </a:extLst>
                </a:gridCol>
                <a:gridCol w="580767">
                  <a:extLst>
                    <a:ext uri="{9D8B030D-6E8A-4147-A177-3AD203B41FA5}">
                      <a16:colId xmlns:a16="http://schemas.microsoft.com/office/drawing/2014/main" val="3577726301"/>
                    </a:ext>
                  </a:extLst>
                </a:gridCol>
                <a:gridCol w="902044">
                  <a:extLst>
                    <a:ext uri="{9D8B030D-6E8A-4147-A177-3AD203B41FA5}">
                      <a16:colId xmlns:a16="http://schemas.microsoft.com/office/drawing/2014/main"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60645854"/>
                  </a:ext>
                </a:extLst>
              </a:tr>
              <a:tr h="0">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val="1886338093"/>
                  </a:ext>
                </a:extLst>
              </a:tr>
              <a:tr h="171753">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val="3802406786"/>
                  </a:ext>
                </a:extLst>
              </a:tr>
              <a:tr h="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2</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val="3216353289"/>
                  </a:ext>
                </a:extLst>
              </a:tr>
            </a:tbl>
          </a:graphicData>
        </a:graphic>
      </p:graphicFrame>
      <p:sp>
        <p:nvSpPr>
          <p:cNvPr id="33"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sp>
        <p:nvSpPr>
          <p:cNvPr id="34" name="灯片编号占位符 3">
            <a:extLst>
              <a:ext uri="{FF2B5EF4-FFF2-40B4-BE49-F238E27FC236}">
                <a16:creationId xmlns:a16="http://schemas.microsoft.com/office/drawing/2014/main" id="{91C94D6C-D63E-B242-A7E0-D84C0DDDFF4D}"/>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36</a:t>
            </a:fld>
            <a:endParaRPr kumimoji="1" lang="zh-CN" altLang="en-US" dirty="0"/>
          </a:p>
        </p:txBody>
      </p:sp>
      <p:pic>
        <p:nvPicPr>
          <p:cNvPr id="35" name="Picture 28" descr="015">
            <a:extLst>
              <a:ext uri="{FF2B5EF4-FFF2-40B4-BE49-F238E27FC236}">
                <a16:creationId xmlns:a16="http://schemas.microsoft.com/office/drawing/2014/main" id="{0DB6C153-9C37-4EEA-80A6-3A48383322D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4281447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37</a:t>
            </a:fld>
            <a:endParaRPr kumimoji="1" lang="zh-CN" altLang="en-US" dirty="0"/>
          </a:p>
        </p:txBody>
      </p:sp>
      <p:sp>
        <p:nvSpPr>
          <p:cNvPr id="6" name="Line 2"/>
          <p:cNvSpPr>
            <a:spLocks noChangeShapeType="1"/>
          </p:cNvSpPr>
          <p:nvPr/>
        </p:nvSpPr>
        <p:spPr bwMode="auto">
          <a:xfrm>
            <a:off x="3283843" y="284163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8" name="Text Box 4"/>
          <p:cNvSpPr txBox="1">
            <a:spLocks noChangeArrowheads="1"/>
          </p:cNvSpPr>
          <p:nvPr/>
        </p:nvSpPr>
        <p:spPr bwMode="auto">
          <a:xfrm>
            <a:off x="6436337" y="2991512"/>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4011697" y="2954291"/>
            <a:ext cx="5095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5" name="组合 75"/>
          <p:cNvGrpSpPr/>
          <p:nvPr/>
        </p:nvGrpSpPr>
        <p:grpSpPr>
          <a:xfrm>
            <a:off x="3406811" y="2256444"/>
            <a:ext cx="1831097" cy="336682"/>
            <a:chOff x="3009761" y="2442912"/>
            <a:chExt cx="1831097" cy="336682"/>
          </a:xfrm>
        </p:grpSpPr>
        <p:grpSp>
          <p:nvGrpSpPr>
            <p:cNvPr id="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55"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56"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57" name="Text Box 105"/>
            <p:cNvSpPr txBox="1">
              <a:spLocks noChangeArrowheads="1"/>
            </p:cNvSpPr>
            <p:nvPr/>
          </p:nvSpPr>
          <p:spPr bwMode="auto">
            <a:xfrm>
              <a:off x="3032475" y="2510802"/>
              <a:ext cx="1610643" cy="2687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0" name="组合 76"/>
          <p:cNvGrpSpPr/>
          <p:nvPr/>
        </p:nvGrpSpPr>
        <p:grpSpPr>
          <a:xfrm>
            <a:off x="5996632" y="2219156"/>
            <a:ext cx="1747934" cy="361867"/>
            <a:chOff x="5987294" y="2424341"/>
            <a:chExt cx="1816926" cy="394902"/>
          </a:xfrm>
          <a:solidFill>
            <a:schemeClr val="accent6">
              <a:lumMod val="60000"/>
              <a:lumOff val="40000"/>
            </a:schemeClr>
          </a:solidFill>
        </p:grpSpPr>
        <p:grpSp>
          <p:nvGrpSpPr>
            <p:cNvPr id="11" name="Group 111"/>
            <p:cNvGrpSpPr>
              <a:grpSpLocks/>
            </p:cNvGrpSpPr>
            <p:nvPr/>
          </p:nvGrpSpPr>
          <p:grpSpPr bwMode="auto">
            <a:xfrm flipH="1">
              <a:off x="5987294" y="2424341"/>
              <a:ext cx="1781296" cy="341718"/>
              <a:chOff x="1209" y="157"/>
              <a:chExt cx="1135" cy="328"/>
            </a:xfrm>
            <a:grpFill/>
          </p:grpSpPr>
          <p:sp>
            <p:nvSpPr>
              <p:cNvPr id="59"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微软雅黑" pitchFamily="34" charset="-122"/>
                  <a:ea typeface="微软雅黑" pitchFamily="34" charset="-122"/>
                </a:endParaRPr>
              </a:p>
            </p:txBody>
          </p:sp>
          <p:sp>
            <p:nvSpPr>
              <p:cNvPr id="60"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b="1">
                  <a:latin typeface="微软雅黑" pitchFamily="34" charset="-122"/>
                  <a:ea typeface="微软雅黑" pitchFamily="34" charset="-122"/>
                </a:endParaRPr>
              </a:p>
            </p:txBody>
          </p:sp>
        </p:grpSp>
        <p:sp>
          <p:nvSpPr>
            <p:cNvPr id="61" name="Text Box 114"/>
            <p:cNvSpPr txBox="1">
              <a:spLocks noChangeArrowheads="1"/>
            </p:cNvSpPr>
            <p:nvPr/>
          </p:nvSpPr>
          <p:spPr bwMode="auto">
            <a:xfrm>
              <a:off x="6290909" y="2525913"/>
              <a:ext cx="1513311" cy="293330"/>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sp>
        <p:nvSpPr>
          <p:cNvPr id="62" name="Text Box 120"/>
          <p:cNvSpPr txBox="1">
            <a:spLocks noChangeArrowheads="1"/>
          </p:cNvSpPr>
          <p:nvPr/>
        </p:nvSpPr>
        <p:spPr bwMode="auto">
          <a:xfrm>
            <a:off x="6443099" y="3901641"/>
            <a:ext cx="3875634" cy="707886"/>
          </a:xfrm>
          <a:prstGeom prst="rect">
            <a:avLst/>
          </a:prstGeom>
          <a:solidFill>
            <a:schemeClr val="accent6">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说：“我到</a:t>
            </a:r>
            <a:r>
              <a:rPr kumimoji="1" lang="en-US" altLang="zh-CN" sz="2000" dirty="0">
                <a:latin typeface="微软雅黑" pitchFamily="34" charset="-122"/>
                <a:ea typeface="微软雅黑" pitchFamily="34" charset="-122"/>
              </a:rPr>
              <a:t>net1 </a:t>
            </a:r>
            <a:r>
              <a:rPr kumimoji="1" lang="zh-CN" altLang="en-US" sz="2000" dirty="0">
                <a:latin typeface="微软雅黑" pitchFamily="34" charset="-122"/>
                <a:ea typeface="微软雅黑" pitchFamily="34" charset="-122"/>
              </a:rPr>
              <a:t>的距离是 </a:t>
            </a:r>
            <a:r>
              <a:rPr kumimoji="1" lang="en-US" altLang="zh-CN" sz="2000" dirty="0">
                <a:latin typeface="微软雅黑" pitchFamily="34" charset="-122"/>
                <a:ea typeface="微软雅黑" pitchFamily="34" charset="-122"/>
              </a:rPr>
              <a:t>2</a:t>
            </a:r>
            <a:r>
              <a:rPr kumimoji="1" lang="zh-CN" altLang="en-US" sz="2000" dirty="0">
                <a:latin typeface="微软雅黑" pitchFamily="34" charset="-122"/>
                <a:ea typeface="微软雅黑" pitchFamily="34" charset="-122"/>
              </a:rPr>
              <a:t>，是经过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zh-CN" altLang="en-US" sz="2000" dirty="0">
                <a:latin typeface="微软雅黑" pitchFamily="34" charset="-122"/>
                <a:ea typeface="微软雅黑" pitchFamily="34" charset="-122"/>
              </a:rPr>
              <a:t>。”</a:t>
            </a:r>
          </a:p>
        </p:txBody>
      </p:sp>
      <p:pic>
        <p:nvPicPr>
          <p:cNvPr id="66"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6753" y="2630485"/>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67"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43099" y="2650006"/>
            <a:ext cx="574247" cy="407513"/>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67612" y="256138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59144" y="258227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86737" y="255612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3" name="文本框 72">
            <a:extLst>
              <a:ext uri="{FF2B5EF4-FFF2-40B4-BE49-F238E27FC236}">
                <a16:creationId xmlns:a16="http://schemas.microsoft.com/office/drawing/2014/main" id="{19570BD0-A1DE-4C6C-8D91-9749980155A1}"/>
              </a:ext>
            </a:extLst>
          </p:cNvPr>
          <p:cNvSpPr txBox="1"/>
          <p:nvPr/>
        </p:nvSpPr>
        <p:spPr>
          <a:xfrm>
            <a:off x="2813274" y="267188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74" name="文本框 73">
            <a:extLst>
              <a:ext uri="{FF2B5EF4-FFF2-40B4-BE49-F238E27FC236}">
                <a16:creationId xmlns:a16="http://schemas.microsoft.com/office/drawing/2014/main" id="{19570BD0-A1DE-4C6C-8D91-9749980155A1}"/>
              </a:ext>
            </a:extLst>
          </p:cNvPr>
          <p:cNvSpPr txBox="1"/>
          <p:nvPr/>
        </p:nvSpPr>
        <p:spPr>
          <a:xfrm>
            <a:off x="5162315" y="262890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75" name="文本框 74">
            <a:extLst>
              <a:ext uri="{FF2B5EF4-FFF2-40B4-BE49-F238E27FC236}">
                <a16:creationId xmlns:a16="http://schemas.microsoft.com/office/drawing/2014/main" id="{19570BD0-A1DE-4C6C-8D91-9749980155A1}"/>
              </a:ext>
            </a:extLst>
          </p:cNvPr>
          <p:cNvSpPr txBox="1"/>
          <p:nvPr/>
        </p:nvSpPr>
        <p:spPr>
          <a:xfrm>
            <a:off x="7578043" y="264826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78" name="Text Box 120"/>
          <p:cNvSpPr txBox="1">
            <a:spLocks noChangeArrowheads="1"/>
          </p:cNvSpPr>
          <p:nvPr/>
        </p:nvSpPr>
        <p:spPr bwMode="auto">
          <a:xfrm>
            <a:off x="1198605" y="3641913"/>
            <a:ext cx="3963710" cy="707886"/>
          </a:xfrm>
          <a:prstGeom prst="rect">
            <a:avLst/>
          </a:prstGeom>
          <a:solidFill>
            <a:schemeClr val="accent5">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说：“我到</a:t>
            </a:r>
            <a:r>
              <a:rPr kumimoji="1" lang="en-US" altLang="zh-CN" sz="2000" dirty="0">
                <a:latin typeface="微软雅黑" pitchFamily="34" charset="-122"/>
                <a:ea typeface="微软雅黑" pitchFamily="34" charset="-122"/>
              </a:rPr>
              <a:t>net1 </a:t>
            </a:r>
            <a:r>
              <a:rPr kumimoji="1" lang="zh-CN" altLang="en-US" sz="2000" dirty="0">
                <a:latin typeface="微软雅黑" pitchFamily="34" charset="-122"/>
                <a:ea typeface="微软雅黑" pitchFamily="34" charset="-122"/>
              </a:rPr>
              <a:t>的距离是 </a:t>
            </a:r>
            <a:r>
              <a:rPr kumimoji="1" lang="en-US" altLang="zh-CN" sz="2000" dirty="0">
                <a:latin typeface="微软雅黑" pitchFamily="34" charset="-122"/>
                <a:ea typeface="微软雅黑" pitchFamily="34" charset="-122"/>
              </a:rPr>
              <a:t>1</a:t>
            </a:r>
            <a:r>
              <a:rPr kumimoji="1" lang="zh-CN" altLang="en-US" sz="2000" dirty="0">
                <a:latin typeface="微软雅黑" pitchFamily="34" charset="-122"/>
                <a:ea typeface="微软雅黑" pitchFamily="34" charset="-122"/>
              </a:rPr>
              <a:t>，是直接交付。”</a:t>
            </a:r>
          </a:p>
        </p:txBody>
      </p:sp>
      <p:sp>
        <p:nvSpPr>
          <p:cNvPr id="79" name="Text Box 101"/>
          <p:cNvSpPr txBox="1">
            <a:spLocks noChangeArrowheads="1"/>
          </p:cNvSpPr>
          <p:nvPr/>
        </p:nvSpPr>
        <p:spPr bwMode="auto">
          <a:xfrm>
            <a:off x="842303" y="2637449"/>
            <a:ext cx="12784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30"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pic>
        <p:nvPicPr>
          <p:cNvPr id="31" name="Picture 28" descr="015">
            <a:extLst>
              <a:ext uri="{FF2B5EF4-FFF2-40B4-BE49-F238E27FC236}">
                <a16:creationId xmlns:a16="http://schemas.microsoft.com/office/drawing/2014/main" id="{634D9936-FD08-4AB3-8B80-97B516F4CEA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3541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7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38</a:t>
            </a:fld>
            <a:endParaRPr kumimoji="1" lang="zh-CN" altLang="en-US" dirty="0"/>
          </a:p>
        </p:txBody>
      </p:sp>
      <p:sp>
        <p:nvSpPr>
          <p:cNvPr id="6" name="Line 2"/>
          <p:cNvSpPr>
            <a:spLocks noChangeShapeType="1"/>
          </p:cNvSpPr>
          <p:nvPr/>
        </p:nvSpPr>
        <p:spPr bwMode="auto">
          <a:xfrm>
            <a:off x="3283843" y="284163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8" name="Text Box 4"/>
          <p:cNvSpPr txBox="1">
            <a:spLocks noChangeArrowheads="1"/>
          </p:cNvSpPr>
          <p:nvPr/>
        </p:nvSpPr>
        <p:spPr bwMode="auto">
          <a:xfrm>
            <a:off x="6436337" y="2991512"/>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4011698" y="2966648"/>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68"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67612" y="256138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59144" y="258227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86737" y="255612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3" name="文本框 72">
            <a:extLst>
              <a:ext uri="{FF2B5EF4-FFF2-40B4-BE49-F238E27FC236}">
                <a16:creationId xmlns:a16="http://schemas.microsoft.com/office/drawing/2014/main" id="{19570BD0-A1DE-4C6C-8D91-9749980155A1}"/>
              </a:ext>
            </a:extLst>
          </p:cNvPr>
          <p:cNvSpPr txBox="1"/>
          <p:nvPr/>
        </p:nvSpPr>
        <p:spPr>
          <a:xfrm>
            <a:off x="2813274" y="2671888"/>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74" name="文本框 73">
            <a:extLst>
              <a:ext uri="{FF2B5EF4-FFF2-40B4-BE49-F238E27FC236}">
                <a16:creationId xmlns:a16="http://schemas.microsoft.com/office/drawing/2014/main" id="{19570BD0-A1DE-4C6C-8D91-9749980155A1}"/>
              </a:ext>
            </a:extLst>
          </p:cNvPr>
          <p:cNvSpPr txBox="1"/>
          <p:nvPr/>
        </p:nvSpPr>
        <p:spPr>
          <a:xfrm>
            <a:off x="5162315" y="2628900"/>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75" name="文本框 74">
            <a:extLst>
              <a:ext uri="{FF2B5EF4-FFF2-40B4-BE49-F238E27FC236}">
                <a16:creationId xmlns:a16="http://schemas.microsoft.com/office/drawing/2014/main" id="{19570BD0-A1DE-4C6C-8D91-9749980155A1}"/>
              </a:ext>
            </a:extLst>
          </p:cNvPr>
          <p:cNvSpPr txBox="1"/>
          <p:nvPr/>
        </p:nvSpPr>
        <p:spPr>
          <a:xfrm>
            <a:off x="7578043" y="2648260"/>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79" name="Text Box 101"/>
          <p:cNvSpPr txBox="1">
            <a:spLocks noChangeArrowheads="1"/>
          </p:cNvSpPr>
          <p:nvPr/>
        </p:nvSpPr>
        <p:spPr bwMode="auto">
          <a:xfrm>
            <a:off x="835335" y="2640565"/>
            <a:ext cx="12576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29" name="Line 2"/>
          <p:cNvSpPr>
            <a:spLocks noChangeShapeType="1"/>
          </p:cNvSpPr>
          <p:nvPr/>
        </p:nvSpPr>
        <p:spPr bwMode="auto">
          <a:xfrm>
            <a:off x="3267425" y="4019066"/>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pic>
        <p:nvPicPr>
          <p:cNvPr id="44"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51194" y="373881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42726" y="375970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70319" y="3733558"/>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文本框 46">
            <a:extLst>
              <a:ext uri="{FF2B5EF4-FFF2-40B4-BE49-F238E27FC236}">
                <a16:creationId xmlns:a16="http://schemas.microsoft.com/office/drawing/2014/main" id="{19570BD0-A1DE-4C6C-8D91-9749980155A1}"/>
              </a:ext>
            </a:extLst>
          </p:cNvPr>
          <p:cNvSpPr txBox="1"/>
          <p:nvPr/>
        </p:nvSpPr>
        <p:spPr>
          <a:xfrm>
            <a:off x="2796856" y="3849321"/>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48" name="文本框 47">
            <a:extLst>
              <a:ext uri="{FF2B5EF4-FFF2-40B4-BE49-F238E27FC236}">
                <a16:creationId xmlns:a16="http://schemas.microsoft.com/office/drawing/2014/main" id="{19570BD0-A1DE-4C6C-8D91-9749980155A1}"/>
              </a:ext>
            </a:extLst>
          </p:cNvPr>
          <p:cNvSpPr txBox="1"/>
          <p:nvPr/>
        </p:nvSpPr>
        <p:spPr>
          <a:xfrm>
            <a:off x="5145897" y="3806333"/>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49" name="文本框 48">
            <a:extLst>
              <a:ext uri="{FF2B5EF4-FFF2-40B4-BE49-F238E27FC236}">
                <a16:creationId xmlns:a16="http://schemas.microsoft.com/office/drawing/2014/main" id="{19570BD0-A1DE-4C6C-8D91-9749980155A1}"/>
              </a:ext>
            </a:extLst>
          </p:cNvPr>
          <p:cNvSpPr txBox="1"/>
          <p:nvPr/>
        </p:nvSpPr>
        <p:spPr>
          <a:xfrm>
            <a:off x="7561625" y="3825693"/>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50" name="Text Box 101"/>
          <p:cNvSpPr txBox="1">
            <a:spLocks noChangeArrowheads="1"/>
          </p:cNvSpPr>
          <p:nvPr/>
        </p:nvSpPr>
        <p:spPr bwMode="auto">
          <a:xfrm>
            <a:off x="347524" y="3767114"/>
            <a:ext cx="26188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90000"/>
              </a:lnSpc>
            </a:pPr>
            <a:r>
              <a:rPr kumimoji="1" lang="en-US" altLang="zh-CN" sz="2000" dirty="0">
                <a:solidFill>
                  <a:srgbClr val="5C307E"/>
                </a:solidFill>
                <a:latin typeface="微软雅黑" pitchFamily="34" charset="-122"/>
                <a:ea typeface="微软雅黑" pitchFamily="34" charset="-122"/>
              </a:rPr>
              <a:t>net1</a:t>
            </a:r>
            <a:r>
              <a:rPr kumimoji="1" lang="zh-CN" altLang="en-US" sz="2000" dirty="0">
                <a:solidFill>
                  <a:srgbClr val="5C307E"/>
                </a:solidFill>
                <a:latin typeface="微软雅黑" pitchFamily="34" charset="-122"/>
                <a:ea typeface="微软雅黑" pitchFamily="34" charset="-122"/>
              </a:rPr>
              <a:t>出了故障情况</a:t>
            </a:r>
          </a:p>
        </p:txBody>
      </p:sp>
      <p:sp>
        <p:nvSpPr>
          <p:cNvPr id="51" name="Line 98"/>
          <p:cNvSpPr>
            <a:spLocks noChangeShapeType="1"/>
          </p:cNvSpPr>
          <p:nvPr/>
        </p:nvSpPr>
        <p:spPr bwMode="auto">
          <a:xfrm>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52" name="Line 99"/>
          <p:cNvSpPr>
            <a:spLocks noChangeShapeType="1"/>
          </p:cNvSpPr>
          <p:nvPr/>
        </p:nvSpPr>
        <p:spPr bwMode="auto">
          <a:xfrm flipH="1">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53" name="Text Box 120"/>
          <p:cNvSpPr txBox="1">
            <a:spLocks noChangeArrowheads="1"/>
          </p:cNvSpPr>
          <p:nvPr/>
        </p:nvSpPr>
        <p:spPr bwMode="auto">
          <a:xfrm>
            <a:off x="5640087" y="5309243"/>
            <a:ext cx="5505708" cy="707886"/>
          </a:xfrm>
          <a:prstGeom prst="rect">
            <a:avLst/>
          </a:prstGeom>
          <a:solidFill>
            <a:schemeClr val="accent6">
              <a:lumMod val="60000"/>
              <a:lumOff val="40000"/>
            </a:schemeClr>
          </a:solidFill>
          <a:ln w="9525">
            <a:solidFill>
              <a:schemeClr val="tx2"/>
            </a:solidFill>
            <a:miter lim="800000"/>
            <a:headEnd/>
            <a:tailEnd/>
          </a:ln>
          <a:effectLst/>
        </p:spPr>
        <p:txBody>
          <a:bodyPr wrap="square">
            <a:spAutoFit/>
          </a:bodyPr>
          <a:lstStyle/>
          <a:p>
            <a:r>
              <a:rPr kumimoji="1" lang="zh-CN" altLang="en-US" sz="2000" dirty="0">
                <a:latin typeface="微软雅黑" pitchFamily="34" charset="-122"/>
                <a:ea typeface="微软雅黑" pitchFamily="34" charset="-122"/>
              </a:rPr>
              <a:t>但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在收到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的更新报文之前，还发送原来的报文，因为这时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 </a:t>
            </a:r>
            <a:r>
              <a:rPr kumimoji="1" lang="zh-CN" altLang="en-US" sz="2000" dirty="0">
                <a:latin typeface="微软雅黑" pitchFamily="34" charset="-122"/>
                <a:ea typeface="微软雅黑" pitchFamily="34" charset="-122"/>
              </a:rPr>
              <a:t>并不知道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出了故障。</a:t>
            </a:r>
          </a:p>
        </p:txBody>
      </p:sp>
      <p:sp>
        <p:nvSpPr>
          <p:cNvPr id="63" name="Text Box 120"/>
          <p:cNvSpPr txBox="1">
            <a:spLocks noChangeArrowheads="1"/>
          </p:cNvSpPr>
          <p:nvPr/>
        </p:nvSpPr>
        <p:spPr bwMode="auto">
          <a:xfrm>
            <a:off x="926561" y="4718977"/>
            <a:ext cx="4079541" cy="707886"/>
          </a:xfrm>
          <a:prstGeom prst="rect">
            <a:avLst/>
          </a:prstGeom>
          <a:solidFill>
            <a:schemeClr val="accent5">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说：“我到</a:t>
            </a:r>
            <a:r>
              <a:rPr kumimoji="1" lang="en-US" altLang="zh-CN" sz="2000" dirty="0">
                <a:latin typeface="微软雅黑" pitchFamily="34" charset="-122"/>
                <a:ea typeface="微软雅黑" pitchFamily="34" charset="-122"/>
              </a:rPr>
              <a:t>net1 </a:t>
            </a:r>
            <a:r>
              <a:rPr kumimoji="1" lang="zh-CN" altLang="en-US" sz="2000" dirty="0">
                <a:latin typeface="微软雅黑" pitchFamily="34" charset="-122"/>
                <a:ea typeface="微软雅黑" pitchFamily="34" charset="-122"/>
              </a:rPr>
              <a:t>的距离是 </a:t>
            </a:r>
            <a:r>
              <a:rPr kumimoji="1" lang="en-US" altLang="zh-CN" sz="2000" dirty="0">
                <a:latin typeface="微软雅黑" pitchFamily="34" charset="-122"/>
                <a:ea typeface="微软雅黑" pitchFamily="34" charset="-122"/>
              </a:rPr>
              <a:t>16 </a:t>
            </a:r>
            <a:r>
              <a:rPr kumimoji="1" lang="zh-CN" altLang="en-US" sz="2000" dirty="0">
                <a:latin typeface="微软雅黑" pitchFamily="34" charset="-122"/>
                <a:ea typeface="微软雅黑" pitchFamily="34" charset="-122"/>
              </a:rPr>
              <a:t>（表示无法到达），是直接交付。”</a:t>
            </a:r>
          </a:p>
        </p:txBody>
      </p:sp>
      <p:grpSp>
        <p:nvGrpSpPr>
          <p:cNvPr id="5" name="组合 75"/>
          <p:cNvGrpSpPr/>
          <p:nvPr/>
        </p:nvGrpSpPr>
        <p:grpSpPr>
          <a:xfrm>
            <a:off x="3406811" y="2256444"/>
            <a:ext cx="1831097" cy="314111"/>
            <a:chOff x="3009761" y="2442912"/>
            <a:chExt cx="1831097" cy="314111"/>
          </a:xfrm>
        </p:grpSpPr>
        <p:grpSp>
          <p:nvGrpSpPr>
            <p:cNvPr id="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64"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65"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6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0" name="组合 76"/>
          <p:cNvGrpSpPr/>
          <p:nvPr/>
        </p:nvGrpSpPr>
        <p:grpSpPr>
          <a:xfrm>
            <a:off x="5996632" y="2219153"/>
            <a:ext cx="1747934" cy="339296"/>
            <a:chOff x="5987294" y="2424341"/>
            <a:chExt cx="1816926" cy="370271"/>
          </a:xfrm>
          <a:solidFill>
            <a:schemeClr val="accent6">
              <a:lumMod val="60000"/>
              <a:lumOff val="40000"/>
            </a:schemeClr>
          </a:solidFill>
        </p:grpSpPr>
        <p:grpSp>
          <p:nvGrpSpPr>
            <p:cNvPr id="11" name="Group 111"/>
            <p:cNvGrpSpPr>
              <a:grpSpLocks/>
            </p:cNvGrpSpPr>
            <p:nvPr/>
          </p:nvGrpSpPr>
          <p:grpSpPr bwMode="auto">
            <a:xfrm flipH="1">
              <a:off x="5987294" y="2424341"/>
              <a:ext cx="1781296" cy="341718"/>
              <a:chOff x="1209" y="157"/>
              <a:chExt cx="1135" cy="328"/>
            </a:xfrm>
            <a:grpFill/>
          </p:grpSpPr>
          <p:sp>
            <p:nvSpPr>
              <p:cNvPr id="77"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78"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76"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2" name="组合 75"/>
          <p:cNvGrpSpPr/>
          <p:nvPr/>
        </p:nvGrpSpPr>
        <p:grpSpPr>
          <a:xfrm>
            <a:off x="3429525" y="3434536"/>
            <a:ext cx="1831097" cy="314111"/>
            <a:chOff x="3009761" y="2442912"/>
            <a:chExt cx="1831097" cy="314111"/>
          </a:xfrm>
        </p:grpSpPr>
        <p:grpSp>
          <p:nvGrpSpPr>
            <p:cNvPr id="13"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8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4"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4" name="组合 76"/>
          <p:cNvGrpSpPr/>
          <p:nvPr/>
        </p:nvGrpSpPr>
        <p:grpSpPr>
          <a:xfrm>
            <a:off x="6019346" y="3397245"/>
            <a:ext cx="1747934" cy="339296"/>
            <a:chOff x="5987294" y="2424341"/>
            <a:chExt cx="1816926" cy="370271"/>
          </a:xfrm>
          <a:solidFill>
            <a:schemeClr val="accent6">
              <a:lumMod val="60000"/>
              <a:lumOff val="40000"/>
            </a:schemeClr>
          </a:solidFill>
        </p:grpSpPr>
        <p:grpSp>
          <p:nvGrpSpPr>
            <p:cNvPr id="15" name="Group 111"/>
            <p:cNvGrpSpPr>
              <a:grpSpLocks/>
            </p:cNvGrpSpPr>
            <p:nvPr/>
          </p:nvGrpSpPr>
          <p:grpSpPr bwMode="auto">
            <a:xfrm flipH="1">
              <a:off x="5987294" y="2424341"/>
              <a:ext cx="1781296" cy="341718"/>
              <a:chOff x="1209" y="157"/>
              <a:chExt cx="1135" cy="328"/>
            </a:xfrm>
            <a:grpFill/>
          </p:grpSpPr>
          <p:sp>
            <p:nvSpPr>
              <p:cNvPr id="88"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9"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7"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pic>
        <p:nvPicPr>
          <p:cNvPr id="90"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6753" y="2630485"/>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7697" y="2648260"/>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92" name="Text Box 4"/>
          <p:cNvSpPr txBox="1">
            <a:spLocks noChangeArrowheads="1"/>
          </p:cNvSpPr>
          <p:nvPr/>
        </p:nvSpPr>
        <p:spPr bwMode="auto">
          <a:xfrm>
            <a:off x="6428096" y="4194239"/>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3" name="Text Box 5"/>
          <p:cNvSpPr txBox="1">
            <a:spLocks noChangeArrowheads="1"/>
          </p:cNvSpPr>
          <p:nvPr/>
        </p:nvSpPr>
        <p:spPr bwMode="auto">
          <a:xfrm>
            <a:off x="4003457" y="4169375"/>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94"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8512" y="3833212"/>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9456" y="3850987"/>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55"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pic>
        <p:nvPicPr>
          <p:cNvPr id="54" name="Picture 28" descr="015">
            <a:extLst>
              <a:ext uri="{FF2B5EF4-FFF2-40B4-BE49-F238E27FC236}">
                <a16:creationId xmlns:a16="http://schemas.microsoft.com/office/drawing/2014/main" id="{D26EF660-A10E-41C1-AF81-1D2B420AA3E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20931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63"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39</a:t>
            </a:fld>
            <a:endParaRPr kumimoji="1" lang="zh-CN" altLang="en-US" dirty="0"/>
          </a:p>
        </p:txBody>
      </p:sp>
      <p:sp>
        <p:nvSpPr>
          <p:cNvPr id="6" name="Line 2"/>
          <p:cNvSpPr>
            <a:spLocks noChangeShapeType="1"/>
          </p:cNvSpPr>
          <p:nvPr/>
        </p:nvSpPr>
        <p:spPr bwMode="auto">
          <a:xfrm>
            <a:off x="3283843" y="284163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8" name="Text Box 4"/>
          <p:cNvSpPr txBox="1">
            <a:spLocks noChangeArrowheads="1"/>
          </p:cNvSpPr>
          <p:nvPr/>
        </p:nvSpPr>
        <p:spPr bwMode="auto">
          <a:xfrm>
            <a:off x="6436337" y="2991512"/>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4011698" y="2966648"/>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68"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67612" y="256138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59144" y="258227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86737" y="255612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3" name="文本框 72">
            <a:extLst>
              <a:ext uri="{FF2B5EF4-FFF2-40B4-BE49-F238E27FC236}">
                <a16:creationId xmlns:a16="http://schemas.microsoft.com/office/drawing/2014/main" id="{19570BD0-A1DE-4C6C-8D91-9749980155A1}"/>
              </a:ext>
            </a:extLst>
          </p:cNvPr>
          <p:cNvSpPr txBox="1"/>
          <p:nvPr/>
        </p:nvSpPr>
        <p:spPr>
          <a:xfrm>
            <a:off x="2813274" y="267188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74" name="文本框 73">
            <a:extLst>
              <a:ext uri="{FF2B5EF4-FFF2-40B4-BE49-F238E27FC236}">
                <a16:creationId xmlns:a16="http://schemas.microsoft.com/office/drawing/2014/main" id="{19570BD0-A1DE-4C6C-8D91-9749980155A1}"/>
              </a:ext>
            </a:extLst>
          </p:cNvPr>
          <p:cNvSpPr txBox="1"/>
          <p:nvPr/>
        </p:nvSpPr>
        <p:spPr>
          <a:xfrm>
            <a:off x="5162315" y="262890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75" name="文本框 74">
            <a:extLst>
              <a:ext uri="{FF2B5EF4-FFF2-40B4-BE49-F238E27FC236}">
                <a16:creationId xmlns:a16="http://schemas.microsoft.com/office/drawing/2014/main" id="{19570BD0-A1DE-4C6C-8D91-9749980155A1}"/>
              </a:ext>
            </a:extLst>
          </p:cNvPr>
          <p:cNvSpPr txBox="1"/>
          <p:nvPr/>
        </p:nvSpPr>
        <p:spPr>
          <a:xfrm>
            <a:off x="7578043" y="264826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79" name="Text Box 101"/>
          <p:cNvSpPr txBox="1">
            <a:spLocks noChangeArrowheads="1"/>
          </p:cNvSpPr>
          <p:nvPr/>
        </p:nvSpPr>
        <p:spPr bwMode="auto">
          <a:xfrm>
            <a:off x="835335" y="2640565"/>
            <a:ext cx="12576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29" name="Line 2"/>
          <p:cNvSpPr>
            <a:spLocks noChangeShapeType="1"/>
          </p:cNvSpPr>
          <p:nvPr/>
        </p:nvSpPr>
        <p:spPr bwMode="auto">
          <a:xfrm>
            <a:off x="3267425" y="4019066"/>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pic>
        <p:nvPicPr>
          <p:cNvPr id="44"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51194" y="373881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42726" y="375970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70319" y="3733558"/>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文本框 46">
            <a:extLst>
              <a:ext uri="{FF2B5EF4-FFF2-40B4-BE49-F238E27FC236}">
                <a16:creationId xmlns:a16="http://schemas.microsoft.com/office/drawing/2014/main" id="{19570BD0-A1DE-4C6C-8D91-9749980155A1}"/>
              </a:ext>
            </a:extLst>
          </p:cNvPr>
          <p:cNvSpPr txBox="1"/>
          <p:nvPr/>
        </p:nvSpPr>
        <p:spPr>
          <a:xfrm>
            <a:off x="2796856" y="3849321"/>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48" name="文本框 47">
            <a:extLst>
              <a:ext uri="{FF2B5EF4-FFF2-40B4-BE49-F238E27FC236}">
                <a16:creationId xmlns:a16="http://schemas.microsoft.com/office/drawing/2014/main" id="{19570BD0-A1DE-4C6C-8D91-9749980155A1}"/>
              </a:ext>
            </a:extLst>
          </p:cNvPr>
          <p:cNvSpPr txBox="1"/>
          <p:nvPr/>
        </p:nvSpPr>
        <p:spPr>
          <a:xfrm>
            <a:off x="5145897" y="380633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49" name="文本框 48">
            <a:extLst>
              <a:ext uri="{FF2B5EF4-FFF2-40B4-BE49-F238E27FC236}">
                <a16:creationId xmlns:a16="http://schemas.microsoft.com/office/drawing/2014/main" id="{19570BD0-A1DE-4C6C-8D91-9749980155A1}"/>
              </a:ext>
            </a:extLst>
          </p:cNvPr>
          <p:cNvSpPr txBox="1"/>
          <p:nvPr/>
        </p:nvSpPr>
        <p:spPr>
          <a:xfrm>
            <a:off x="7561625" y="382569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50" name="Text Box 101"/>
          <p:cNvSpPr txBox="1">
            <a:spLocks noChangeArrowheads="1"/>
          </p:cNvSpPr>
          <p:nvPr/>
        </p:nvSpPr>
        <p:spPr bwMode="auto">
          <a:xfrm>
            <a:off x="347524" y="3767114"/>
            <a:ext cx="26188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90000"/>
              </a:lnSpc>
            </a:pPr>
            <a:r>
              <a:rPr kumimoji="1" lang="en-US" altLang="zh-CN" sz="2000" dirty="0">
                <a:solidFill>
                  <a:srgbClr val="5C307E"/>
                </a:solidFill>
                <a:latin typeface="微软雅黑" pitchFamily="34" charset="-122"/>
                <a:ea typeface="微软雅黑" pitchFamily="34" charset="-122"/>
              </a:rPr>
              <a:t>net1</a:t>
            </a:r>
            <a:r>
              <a:rPr kumimoji="1" lang="zh-CN" altLang="en-US" sz="2000" dirty="0">
                <a:solidFill>
                  <a:srgbClr val="5C307E"/>
                </a:solidFill>
                <a:latin typeface="微软雅黑" pitchFamily="34" charset="-122"/>
                <a:ea typeface="微软雅黑" pitchFamily="34" charset="-122"/>
              </a:rPr>
              <a:t>出了故障情况</a:t>
            </a:r>
          </a:p>
        </p:txBody>
      </p:sp>
      <p:sp>
        <p:nvSpPr>
          <p:cNvPr id="51" name="Line 98"/>
          <p:cNvSpPr>
            <a:spLocks noChangeShapeType="1"/>
          </p:cNvSpPr>
          <p:nvPr/>
        </p:nvSpPr>
        <p:spPr bwMode="auto">
          <a:xfrm>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52" name="Line 99"/>
          <p:cNvSpPr>
            <a:spLocks noChangeShapeType="1"/>
          </p:cNvSpPr>
          <p:nvPr/>
        </p:nvSpPr>
        <p:spPr bwMode="auto">
          <a:xfrm flipH="1">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grpSp>
        <p:nvGrpSpPr>
          <p:cNvPr id="5" name="组合 75"/>
          <p:cNvGrpSpPr/>
          <p:nvPr/>
        </p:nvGrpSpPr>
        <p:grpSpPr>
          <a:xfrm>
            <a:off x="3406811" y="2256444"/>
            <a:ext cx="1831097" cy="314111"/>
            <a:chOff x="3009761" y="2442912"/>
            <a:chExt cx="1831097" cy="314111"/>
          </a:xfrm>
        </p:grpSpPr>
        <p:grpSp>
          <p:nvGrpSpPr>
            <p:cNvPr id="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64"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65"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6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0" name="组合 76"/>
          <p:cNvGrpSpPr/>
          <p:nvPr/>
        </p:nvGrpSpPr>
        <p:grpSpPr>
          <a:xfrm>
            <a:off x="5996632" y="2219153"/>
            <a:ext cx="1747934" cy="339296"/>
            <a:chOff x="5987294" y="2424341"/>
            <a:chExt cx="1816926" cy="370271"/>
          </a:xfrm>
          <a:solidFill>
            <a:schemeClr val="accent6">
              <a:lumMod val="60000"/>
              <a:lumOff val="40000"/>
            </a:schemeClr>
          </a:solidFill>
        </p:grpSpPr>
        <p:grpSp>
          <p:nvGrpSpPr>
            <p:cNvPr id="11" name="Group 111"/>
            <p:cNvGrpSpPr>
              <a:grpSpLocks/>
            </p:cNvGrpSpPr>
            <p:nvPr/>
          </p:nvGrpSpPr>
          <p:grpSpPr bwMode="auto">
            <a:xfrm flipH="1">
              <a:off x="5987294" y="2424341"/>
              <a:ext cx="1781296" cy="341718"/>
              <a:chOff x="1209" y="157"/>
              <a:chExt cx="1135" cy="328"/>
            </a:xfrm>
            <a:grpFill/>
          </p:grpSpPr>
          <p:sp>
            <p:nvSpPr>
              <p:cNvPr id="77"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78"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76"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2" name="组合 75"/>
          <p:cNvGrpSpPr/>
          <p:nvPr/>
        </p:nvGrpSpPr>
        <p:grpSpPr>
          <a:xfrm>
            <a:off x="3429525" y="4781425"/>
            <a:ext cx="1831097" cy="314111"/>
            <a:chOff x="3009761" y="2442912"/>
            <a:chExt cx="1831097" cy="314111"/>
          </a:xfrm>
        </p:grpSpPr>
        <p:grpSp>
          <p:nvGrpSpPr>
            <p:cNvPr id="13"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8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4"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4" name="组合 76"/>
          <p:cNvGrpSpPr/>
          <p:nvPr/>
        </p:nvGrpSpPr>
        <p:grpSpPr>
          <a:xfrm>
            <a:off x="6019346" y="4744134"/>
            <a:ext cx="1747934" cy="339296"/>
            <a:chOff x="5987294" y="2424341"/>
            <a:chExt cx="1816926" cy="370271"/>
          </a:xfrm>
          <a:solidFill>
            <a:schemeClr val="accent6">
              <a:lumMod val="60000"/>
              <a:lumOff val="40000"/>
            </a:schemeClr>
          </a:solidFill>
        </p:grpSpPr>
        <p:grpSp>
          <p:nvGrpSpPr>
            <p:cNvPr id="15" name="Group 111"/>
            <p:cNvGrpSpPr>
              <a:grpSpLocks/>
            </p:cNvGrpSpPr>
            <p:nvPr/>
          </p:nvGrpSpPr>
          <p:grpSpPr bwMode="auto">
            <a:xfrm flipH="1">
              <a:off x="5987294" y="2424341"/>
              <a:ext cx="1781296" cy="341718"/>
              <a:chOff x="1209" y="157"/>
              <a:chExt cx="1135" cy="328"/>
            </a:xfrm>
            <a:grpFill/>
          </p:grpSpPr>
          <p:sp>
            <p:nvSpPr>
              <p:cNvPr id="88"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9"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7"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pic>
        <p:nvPicPr>
          <p:cNvPr id="90"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6753" y="2630485"/>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7697" y="2648260"/>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92" name="Text Box 4"/>
          <p:cNvSpPr txBox="1">
            <a:spLocks noChangeArrowheads="1"/>
          </p:cNvSpPr>
          <p:nvPr/>
        </p:nvSpPr>
        <p:spPr bwMode="auto">
          <a:xfrm>
            <a:off x="6428096" y="4194239"/>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3" name="Text Box 5"/>
          <p:cNvSpPr txBox="1">
            <a:spLocks noChangeArrowheads="1"/>
          </p:cNvSpPr>
          <p:nvPr/>
        </p:nvSpPr>
        <p:spPr bwMode="auto">
          <a:xfrm>
            <a:off x="4003457" y="4169375"/>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94"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8512" y="3833212"/>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9456" y="3850987"/>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98" name="Text Box 120"/>
          <p:cNvSpPr txBox="1">
            <a:spLocks noChangeArrowheads="1"/>
          </p:cNvSpPr>
          <p:nvPr/>
        </p:nvSpPr>
        <p:spPr bwMode="auto">
          <a:xfrm>
            <a:off x="3789988" y="5728713"/>
            <a:ext cx="5836632" cy="707886"/>
          </a:xfrm>
          <a:prstGeom prst="rect">
            <a:avLst/>
          </a:prstGeom>
          <a:solidFill>
            <a:schemeClr val="accent6">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以后又更新自己的路由表为“</a:t>
            </a:r>
            <a:r>
              <a:rPr kumimoji="1" lang="en-US" altLang="zh-CN" sz="2000" dirty="0">
                <a:latin typeface="微软雅黑" pitchFamily="34" charset="-122"/>
                <a:ea typeface="微软雅黑" pitchFamily="34" charset="-122"/>
              </a:rPr>
              <a:t>net1, 4, 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a:t>
            </a:r>
            <a:r>
              <a:rPr kumimoji="1" lang="zh-CN" altLang="en-US" sz="2000" dirty="0">
                <a:latin typeface="微软雅黑" pitchFamily="34" charset="-122"/>
                <a:ea typeface="微软雅黑" pitchFamily="34" charset="-122"/>
              </a:rPr>
              <a:t>，表明 “我到</a:t>
            </a:r>
            <a:r>
              <a:rPr kumimoji="1" lang="en-US" altLang="zh-CN" sz="2000" dirty="0">
                <a:latin typeface="微软雅黑" pitchFamily="34" charset="-122"/>
                <a:ea typeface="微软雅黑" pitchFamily="34" charset="-122"/>
              </a:rPr>
              <a:t>net</a:t>
            </a:r>
            <a:r>
              <a:rPr kumimoji="1" lang="zh-CN" altLang="en-US" sz="2000" dirty="0">
                <a:latin typeface="微软雅黑" pitchFamily="34" charset="-122"/>
                <a:ea typeface="微软雅黑" pitchFamily="34" charset="-122"/>
              </a:rPr>
              <a:t> </a:t>
            </a:r>
            <a:r>
              <a:rPr kumimoji="1" lang="en-US" altLang="zh-CN" sz="2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距离是 </a:t>
            </a:r>
            <a:r>
              <a:rPr kumimoji="1" lang="en-US" altLang="zh-CN" sz="2000" dirty="0">
                <a:latin typeface="微软雅黑" pitchFamily="34" charset="-122"/>
                <a:ea typeface="微软雅黑" pitchFamily="34" charset="-122"/>
              </a:rPr>
              <a:t>4</a:t>
            </a:r>
            <a:r>
              <a:rPr kumimoji="1" lang="zh-CN" altLang="en-US" sz="2000" dirty="0">
                <a:latin typeface="微软雅黑" pitchFamily="34" charset="-122"/>
                <a:ea typeface="微软雅黑" pitchFamily="34" charset="-122"/>
              </a:rPr>
              <a:t>，下一跳经过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a:t>
            </a:r>
            <a:r>
              <a:rPr kumimoji="1" lang="zh-CN" altLang="en-US" sz="2000" dirty="0">
                <a:latin typeface="微软雅黑" pitchFamily="34" charset="-122"/>
                <a:ea typeface="微软雅黑" pitchFamily="34" charset="-122"/>
              </a:rPr>
              <a:t>。 </a:t>
            </a:r>
          </a:p>
        </p:txBody>
      </p:sp>
      <p:grpSp>
        <p:nvGrpSpPr>
          <p:cNvPr id="16" name="组合 75"/>
          <p:cNvGrpSpPr/>
          <p:nvPr/>
        </p:nvGrpSpPr>
        <p:grpSpPr>
          <a:xfrm>
            <a:off x="3445998" y="5156250"/>
            <a:ext cx="1831097" cy="314111"/>
            <a:chOff x="3009761" y="2442912"/>
            <a:chExt cx="1831097" cy="314111"/>
          </a:xfrm>
        </p:grpSpPr>
        <p:grpSp>
          <p:nvGrpSpPr>
            <p:cNvPr id="1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122"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23"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21" name="Text Box 105"/>
            <p:cNvSpPr txBox="1">
              <a:spLocks noChangeArrowheads="1"/>
            </p:cNvSpPr>
            <p:nvPr/>
          </p:nvSpPr>
          <p:spPr bwMode="auto">
            <a:xfrm>
              <a:off x="3020118"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3  R2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8" name="组合 76"/>
          <p:cNvGrpSpPr/>
          <p:nvPr/>
        </p:nvGrpSpPr>
        <p:grpSpPr>
          <a:xfrm>
            <a:off x="6035819" y="5118959"/>
            <a:ext cx="1747934" cy="339296"/>
            <a:chOff x="5987294" y="2424341"/>
            <a:chExt cx="1816926" cy="370271"/>
          </a:xfrm>
          <a:solidFill>
            <a:schemeClr val="accent6">
              <a:lumMod val="60000"/>
              <a:lumOff val="40000"/>
            </a:schemeClr>
          </a:solidFill>
        </p:grpSpPr>
        <p:grpSp>
          <p:nvGrpSpPr>
            <p:cNvPr id="19" name="Group 111"/>
            <p:cNvGrpSpPr>
              <a:grpSpLocks/>
            </p:cNvGrpSpPr>
            <p:nvPr/>
          </p:nvGrpSpPr>
          <p:grpSpPr bwMode="auto">
            <a:xfrm flipH="1">
              <a:off x="5987294" y="2424341"/>
              <a:ext cx="1781296" cy="341718"/>
              <a:chOff x="1209" y="157"/>
              <a:chExt cx="1135" cy="328"/>
            </a:xfrm>
            <a:grpFill/>
          </p:grpSpPr>
          <p:sp>
            <p:nvSpPr>
              <p:cNvPr id="127"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28"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26"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4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sp>
        <p:nvSpPr>
          <p:cNvPr id="66"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pic>
        <p:nvPicPr>
          <p:cNvPr id="63" name="Picture 28" descr="015">
            <a:extLst>
              <a:ext uri="{FF2B5EF4-FFF2-40B4-BE49-F238E27FC236}">
                <a16:creationId xmlns:a16="http://schemas.microsoft.com/office/drawing/2014/main" id="{F9CB187F-A8CB-4597-A415-B4EBFB72109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4358101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40</a:t>
            </a:fld>
            <a:endParaRPr kumimoji="1" lang="zh-CN" altLang="en-US" dirty="0"/>
          </a:p>
        </p:txBody>
      </p:sp>
      <p:sp>
        <p:nvSpPr>
          <p:cNvPr id="102" name="Text Box 4"/>
          <p:cNvSpPr txBox="1">
            <a:spLocks noChangeArrowheads="1"/>
          </p:cNvSpPr>
          <p:nvPr/>
        </p:nvSpPr>
        <p:spPr bwMode="auto">
          <a:xfrm>
            <a:off x="6942438" y="3505998"/>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55" name="Text Box 142"/>
          <p:cNvSpPr txBox="1">
            <a:spLocks noChangeArrowheads="1"/>
          </p:cNvSpPr>
          <p:nvPr/>
        </p:nvSpPr>
        <p:spPr bwMode="auto">
          <a:xfrm rot="5400000">
            <a:off x="3912802" y="4993211"/>
            <a:ext cx="3642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dirty="0">
                <a:latin typeface="+mn-lt"/>
                <a:ea typeface="黑体" pitchFamily="2" charset="-122"/>
              </a:rPr>
              <a:t>…</a:t>
            </a:r>
          </a:p>
        </p:txBody>
      </p:sp>
      <p:sp>
        <p:nvSpPr>
          <p:cNvPr id="156" name="Text Box 120"/>
          <p:cNvSpPr txBox="1">
            <a:spLocks noChangeArrowheads="1"/>
          </p:cNvSpPr>
          <p:nvPr/>
        </p:nvSpPr>
        <p:spPr bwMode="auto">
          <a:xfrm>
            <a:off x="8215845" y="3758463"/>
            <a:ext cx="3721243" cy="1323439"/>
          </a:xfrm>
          <a:prstGeom prst="rect">
            <a:avLst/>
          </a:prstGeom>
          <a:solidFill>
            <a:srgbClr val="FAF4FF"/>
          </a:solidFill>
          <a:ln w="9525">
            <a:solidFill>
              <a:schemeClr val="tx2"/>
            </a:solidFill>
            <a:miter lim="800000"/>
            <a:headEnd/>
            <a:tailEnd/>
          </a:ln>
          <a:effectLst/>
        </p:spPr>
        <p:txBody>
          <a:bodyPr wrap="square">
            <a:spAutoFit/>
          </a:bodyPr>
          <a:lstStyle/>
          <a:p>
            <a:r>
              <a:rPr kumimoji="1" lang="zh-CN" altLang="en-US" sz="2000" dirty="0">
                <a:latin typeface="微软雅黑" pitchFamily="34" charset="-122"/>
                <a:ea typeface="微软雅黑" pitchFamily="34" charset="-122"/>
              </a:rPr>
              <a:t>这样不断更新下去，直到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和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 </a:t>
            </a:r>
            <a:r>
              <a:rPr kumimoji="1" lang="zh-CN" altLang="en-US" sz="2000" dirty="0">
                <a:latin typeface="微软雅黑" pitchFamily="34" charset="-122"/>
                <a:ea typeface="微软雅黑" pitchFamily="34" charset="-122"/>
              </a:rPr>
              <a:t>到</a:t>
            </a:r>
            <a:r>
              <a:rPr kumimoji="1" lang="en-US" altLang="zh-CN" sz="2000" dirty="0">
                <a:latin typeface="微软雅黑" pitchFamily="34" charset="-122"/>
                <a:ea typeface="微软雅黑" pitchFamily="34" charset="-122"/>
              </a:rPr>
              <a:t>net</a:t>
            </a:r>
            <a:r>
              <a:rPr kumimoji="1" lang="zh-CN" altLang="en-US" sz="2000" dirty="0">
                <a:latin typeface="微软雅黑" pitchFamily="34" charset="-122"/>
                <a:ea typeface="微软雅黑" pitchFamily="34" charset="-122"/>
              </a:rPr>
              <a:t> </a:t>
            </a:r>
            <a:r>
              <a:rPr kumimoji="1" lang="en-US" altLang="zh-CN" sz="2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的距离都增大到</a:t>
            </a:r>
            <a:r>
              <a:rPr kumimoji="1" lang="en-US" altLang="zh-CN" sz="2000" dirty="0">
                <a:latin typeface="微软雅黑" pitchFamily="34" charset="-122"/>
                <a:ea typeface="微软雅黑" pitchFamily="34" charset="-122"/>
              </a:rPr>
              <a:t>16 </a:t>
            </a:r>
            <a:r>
              <a:rPr kumimoji="1" lang="zh-CN" altLang="en-US" sz="2000" dirty="0">
                <a:latin typeface="微软雅黑" pitchFamily="34" charset="-122"/>
                <a:ea typeface="微软雅黑" pitchFamily="34" charset="-122"/>
              </a:rPr>
              <a:t>时，</a:t>
            </a:r>
            <a:r>
              <a:rPr kumimoji="1" lang="en-US" altLang="zh-CN" sz="2000" dirty="0">
                <a:latin typeface="微软雅黑" pitchFamily="34" charset="-122"/>
                <a:ea typeface="微软雅黑" pitchFamily="34" charset="-122"/>
              </a:rPr>
              <a:t> 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和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zh-CN" altLang="en-US" sz="2000" dirty="0">
                <a:latin typeface="微软雅黑" pitchFamily="34" charset="-122"/>
                <a:ea typeface="微软雅黑" pitchFamily="34" charset="-122"/>
              </a:rPr>
              <a:t>才知道</a:t>
            </a:r>
            <a:r>
              <a:rPr kumimoji="1" lang="en-US" altLang="zh-CN" sz="2000" dirty="0">
                <a:latin typeface="微软雅黑" pitchFamily="34" charset="-122"/>
                <a:ea typeface="微软雅黑" pitchFamily="34" charset="-122"/>
              </a:rPr>
              <a:t>net</a:t>
            </a:r>
            <a:r>
              <a:rPr kumimoji="1" lang="zh-CN" altLang="en-US" sz="2000" dirty="0">
                <a:latin typeface="微软雅黑" pitchFamily="34" charset="-122"/>
                <a:ea typeface="微软雅黑" pitchFamily="34" charset="-122"/>
              </a:rPr>
              <a:t> </a:t>
            </a:r>
            <a:r>
              <a:rPr kumimoji="1" lang="en-US" altLang="zh-CN" sz="2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是不可达的。 </a:t>
            </a:r>
          </a:p>
        </p:txBody>
      </p:sp>
      <p:sp>
        <p:nvSpPr>
          <p:cNvPr id="157" name="矩形 156"/>
          <p:cNvSpPr/>
          <p:nvPr/>
        </p:nvSpPr>
        <p:spPr>
          <a:xfrm>
            <a:off x="715798" y="5952825"/>
            <a:ext cx="10964635" cy="523220"/>
          </a:xfrm>
          <a:prstGeom prst="rect">
            <a:avLst/>
          </a:prstGeom>
        </p:spPr>
        <p:txBody>
          <a:bodyPr wrap="square">
            <a:spAutoFit/>
          </a:bodyPr>
          <a:lstStyle/>
          <a:p>
            <a:pPr marL="228600" indent="-228600">
              <a:spcBef>
                <a:spcPts val="600"/>
              </a:spcBef>
              <a:buFont typeface="Wingdings" pitchFamily="2" charset="2"/>
              <a:buChar char="Ø"/>
            </a:pPr>
            <a:r>
              <a:rPr lang="zh-CN" altLang="en-US" sz="2800" dirty="0">
                <a:latin typeface="微软雅黑" panose="020B0503020204020204" pitchFamily="34" charset="-122"/>
                <a:ea typeface="微软雅黑" panose="020B0503020204020204" pitchFamily="34" charset="-122"/>
                <a:cs typeface="Times New Roman" panose="02020603050405020304" pitchFamily="18" charset="0"/>
              </a:rPr>
              <a:t>好消息传播快，坏消息传播慢，是距离向量路由的一个主要缺点 </a:t>
            </a:r>
          </a:p>
        </p:txBody>
      </p:sp>
      <p:sp>
        <p:nvSpPr>
          <p:cNvPr id="84" name="Line 2"/>
          <p:cNvSpPr>
            <a:spLocks noChangeShapeType="1"/>
          </p:cNvSpPr>
          <p:nvPr/>
        </p:nvSpPr>
        <p:spPr bwMode="auto">
          <a:xfrm>
            <a:off x="3333271" y="2779848"/>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158" name="Text Box 4"/>
          <p:cNvSpPr txBox="1">
            <a:spLocks noChangeArrowheads="1"/>
          </p:cNvSpPr>
          <p:nvPr/>
        </p:nvSpPr>
        <p:spPr bwMode="auto">
          <a:xfrm>
            <a:off x="6485765" y="2929727"/>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59" name="Text Box 5"/>
          <p:cNvSpPr txBox="1">
            <a:spLocks noChangeArrowheads="1"/>
          </p:cNvSpPr>
          <p:nvPr/>
        </p:nvSpPr>
        <p:spPr bwMode="auto">
          <a:xfrm>
            <a:off x="4061126" y="2904863"/>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160"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717040" y="249959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1"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108572" y="252048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2"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536165" y="2494340"/>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 name="文本框 162">
            <a:extLst>
              <a:ext uri="{FF2B5EF4-FFF2-40B4-BE49-F238E27FC236}">
                <a16:creationId xmlns:a16="http://schemas.microsoft.com/office/drawing/2014/main" id="{19570BD0-A1DE-4C6C-8D91-9749980155A1}"/>
              </a:ext>
            </a:extLst>
          </p:cNvPr>
          <p:cNvSpPr txBox="1"/>
          <p:nvPr/>
        </p:nvSpPr>
        <p:spPr>
          <a:xfrm>
            <a:off x="2862702" y="261010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164" name="文本框 163">
            <a:extLst>
              <a:ext uri="{FF2B5EF4-FFF2-40B4-BE49-F238E27FC236}">
                <a16:creationId xmlns:a16="http://schemas.microsoft.com/office/drawing/2014/main" id="{19570BD0-A1DE-4C6C-8D91-9749980155A1}"/>
              </a:ext>
            </a:extLst>
          </p:cNvPr>
          <p:cNvSpPr txBox="1"/>
          <p:nvPr/>
        </p:nvSpPr>
        <p:spPr>
          <a:xfrm>
            <a:off x="5211743" y="256711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165" name="文本框 164">
            <a:extLst>
              <a:ext uri="{FF2B5EF4-FFF2-40B4-BE49-F238E27FC236}">
                <a16:creationId xmlns:a16="http://schemas.microsoft.com/office/drawing/2014/main" id="{19570BD0-A1DE-4C6C-8D91-9749980155A1}"/>
              </a:ext>
            </a:extLst>
          </p:cNvPr>
          <p:cNvSpPr txBox="1"/>
          <p:nvPr/>
        </p:nvSpPr>
        <p:spPr>
          <a:xfrm>
            <a:off x="7627471" y="258647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166" name="Text Box 101"/>
          <p:cNvSpPr txBox="1">
            <a:spLocks noChangeArrowheads="1"/>
          </p:cNvSpPr>
          <p:nvPr/>
        </p:nvSpPr>
        <p:spPr bwMode="auto">
          <a:xfrm>
            <a:off x="884763" y="2578780"/>
            <a:ext cx="12576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167" name="Line 2"/>
          <p:cNvSpPr>
            <a:spLocks noChangeShapeType="1"/>
          </p:cNvSpPr>
          <p:nvPr/>
        </p:nvSpPr>
        <p:spPr bwMode="auto">
          <a:xfrm>
            <a:off x="3316853" y="3524788"/>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pic>
        <p:nvPicPr>
          <p:cNvPr id="168"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700622" y="324453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9"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92154" y="326542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0" name="Picture 14">
            <a:extLst>
              <a:ext uri="{FF2B5EF4-FFF2-40B4-BE49-F238E27FC236}">
                <a16:creationId xmlns:a16="http://schemas.microsoft.com/office/drawing/2014/main"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519747" y="3239280"/>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1" name="文本框 170">
            <a:extLst>
              <a:ext uri="{FF2B5EF4-FFF2-40B4-BE49-F238E27FC236}">
                <a16:creationId xmlns:a16="http://schemas.microsoft.com/office/drawing/2014/main" id="{19570BD0-A1DE-4C6C-8D91-9749980155A1}"/>
              </a:ext>
            </a:extLst>
          </p:cNvPr>
          <p:cNvSpPr txBox="1"/>
          <p:nvPr/>
        </p:nvSpPr>
        <p:spPr>
          <a:xfrm>
            <a:off x="2846284" y="335504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172" name="文本框 171">
            <a:extLst>
              <a:ext uri="{FF2B5EF4-FFF2-40B4-BE49-F238E27FC236}">
                <a16:creationId xmlns:a16="http://schemas.microsoft.com/office/drawing/2014/main" id="{19570BD0-A1DE-4C6C-8D91-9749980155A1}"/>
              </a:ext>
            </a:extLst>
          </p:cNvPr>
          <p:cNvSpPr txBox="1"/>
          <p:nvPr/>
        </p:nvSpPr>
        <p:spPr>
          <a:xfrm>
            <a:off x="5195325" y="331205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173" name="文本框 172">
            <a:extLst>
              <a:ext uri="{FF2B5EF4-FFF2-40B4-BE49-F238E27FC236}">
                <a16:creationId xmlns:a16="http://schemas.microsoft.com/office/drawing/2014/main" id="{19570BD0-A1DE-4C6C-8D91-9749980155A1}"/>
              </a:ext>
            </a:extLst>
          </p:cNvPr>
          <p:cNvSpPr txBox="1"/>
          <p:nvPr/>
        </p:nvSpPr>
        <p:spPr>
          <a:xfrm>
            <a:off x="7611053" y="333141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174" name="Text Box 101"/>
          <p:cNvSpPr txBox="1">
            <a:spLocks noChangeArrowheads="1"/>
          </p:cNvSpPr>
          <p:nvPr/>
        </p:nvSpPr>
        <p:spPr bwMode="auto">
          <a:xfrm>
            <a:off x="396952" y="3272836"/>
            <a:ext cx="26188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90000"/>
              </a:lnSpc>
            </a:pPr>
            <a:r>
              <a:rPr kumimoji="1" lang="en-US" altLang="zh-CN" sz="2000" dirty="0">
                <a:solidFill>
                  <a:srgbClr val="5C307E"/>
                </a:solidFill>
                <a:latin typeface="微软雅黑" pitchFamily="34" charset="-122"/>
                <a:ea typeface="微软雅黑" pitchFamily="34" charset="-122"/>
              </a:rPr>
              <a:t>net1</a:t>
            </a:r>
            <a:r>
              <a:rPr kumimoji="1" lang="zh-CN" altLang="en-US" sz="2000" dirty="0">
                <a:solidFill>
                  <a:srgbClr val="5C307E"/>
                </a:solidFill>
                <a:latin typeface="微软雅黑" pitchFamily="34" charset="-122"/>
                <a:ea typeface="微软雅黑" pitchFamily="34" charset="-122"/>
              </a:rPr>
              <a:t>出了故障情况</a:t>
            </a:r>
          </a:p>
        </p:txBody>
      </p:sp>
      <p:sp>
        <p:nvSpPr>
          <p:cNvPr id="175" name="Line 98"/>
          <p:cNvSpPr>
            <a:spLocks noChangeShapeType="1"/>
          </p:cNvSpPr>
          <p:nvPr/>
        </p:nvSpPr>
        <p:spPr bwMode="auto">
          <a:xfrm>
            <a:off x="2725861" y="3193308"/>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176" name="Line 99"/>
          <p:cNvSpPr>
            <a:spLocks noChangeShapeType="1"/>
          </p:cNvSpPr>
          <p:nvPr/>
        </p:nvSpPr>
        <p:spPr bwMode="auto">
          <a:xfrm flipH="1">
            <a:off x="2725861" y="3193308"/>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grpSp>
        <p:nvGrpSpPr>
          <p:cNvPr id="5" name="组合 75"/>
          <p:cNvGrpSpPr/>
          <p:nvPr/>
        </p:nvGrpSpPr>
        <p:grpSpPr>
          <a:xfrm>
            <a:off x="3456239" y="2194659"/>
            <a:ext cx="1831097" cy="314111"/>
            <a:chOff x="3009761" y="2442912"/>
            <a:chExt cx="1831097" cy="314111"/>
          </a:xfrm>
        </p:grpSpPr>
        <p:grpSp>
          <p:nvGrpSpPr>
            <p:cNvPr id="6"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180"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81"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79"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7" name="组合 76"/>
          <p:cNvGrpSpPr/>
          <p:nvPr/>
        </p:nvGrpSpPr>
        <p:grpSpPr>
          <a:xfrm>
            <a:off x="6046060" y="2157368"/>
            <a:ext cx="1747934" cy="339296"/>
            <a:chOff x="5987294" y="2424341"/>
            <a:chExt cx="1816926" cy="370271"/>
          </a:xfrm>
          <a:solidFill>
            <a:schemeClr val="accent6">
              <a:lumMod val="60000"/>
              <a:lumOff val="40000"/>
            </a:schemeClr>
          </a:solidFill>
        </p:grpSpPr>
        <p:grpSp>
          <p:nvGrpSpPr>
            <p:cNvPr id="8" name="Group 111"/>
            <p:cNvGrpSpPr>
              <a:grpSpLocks/>
            </p:cNvGrpSpPr>
            <p:nvPr/>
          </p:nvGrpSpPr>
          <p:grpSpPr bwMode="auto">
            <a:xfrm flipH="1">
              <a:off x="5987294" y="2424341"/>
              <a:ext cx="1781296" cy="341718"/>
              <a:chOff x="1209" y="157"/>
              <a:chExt cx="1135" cy="328"/>
            </a:xfrm>
            <a:grpFill/>
          </p:grpSpPr>
          <p:sp>
            <p:nvSpPr>
              <p:cNvPr id="18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86"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84"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pic>
        <p:nvPicPr>
          <p:cNvPr id="187"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16181" y="2568700"/>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188"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125" y="2586475"/>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190" name="Text Box 5"/>
          <p:cNvSpPr txBox="1">
            <a:spLocks noChangeArrowheads="1"/>
          </p:cNvSpPr>
          <p:nvPr/>
        </p:nvSpPr>
        <p:spPr bwMode="auto">
          <a:xfrm>
            <a:off x="4473013" y="3488936"/>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191"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07940" y="3338934"/>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192"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8884" y="3356709"/>
            <a:ext cx="561215" cy="398265"/>
          </a:xfrm>
          <a:prstGeom prst="rect">
            <a:avLst/>
          </a:prstGeom>
          <a:noFill/>
          <a:extLst>
            <a:ext uri="{909E8E84-426E-40DD-AFC4-6F175D3DCCD1}">
              <a14:hiddenFill xmlns:a14="http://schemas.microsoft.com/office/drawing/2010/main">
                <a:solidFill>
                  <a:srgbClr val="FFFFFF"/>
                </a:solidFill>
              </a14:hiddenFill>
            </a:ext>
          </a:extLst>
        </p:spPr>
      </p:pic>
      <p:grpSp>
        <p:nvGrpSpPr>
          <p:cNvPr id="9" name="组合 75"/>
          <p:cNvGrpSpPr/>
          <p:nvPr/>
        </p:nvGrpSpPr>
        <p:grpSpPr>
          <a:xfrm>
            <a:off x="3497029" y="3866850"/>
            <a:ext cx="1831097" cy="314111"/>
            <a:chOff x="3009761" y="2442912"/>
            <a:chExt cx="1831097" cy="314111"/>
          </a:xfrm>
        </p:grpSpPr>
        <p:grpSp>
          <p:nvGrpSpPr>
            <p:cNvPr id="10"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19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9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9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1" name="组合 76"/>
          <p:cNvGrpSpPr/>
          <p:nvPr/>
        </p:nvGrpSpPr>
        <p:grpSpPr>
          <a:xfrm>
            <a:off x="6086850" y="3829559"/>
            <a:ext cx="1747934" cy="339296"/>
            <a:chOff x="5987294" y="2424341"/>
            <a:chExt cx="1816926" cy="370271"/>
          </a:xfrm>
          <a:solidFill>
            <a:schemeClr val="accent6">
              <a:lumMod val="60000"/>
              <a:lumOff val="40000"/>
            </a:schemeClr>
          </a:solidFill>
        </p:grpSpPr>
        <p:grpSp>
          <p:nvGrpSpPr>
            <p:cNvPr id="12" name="Group 111"/>
            <p:cNvGrpSpPr>
              <a:grpSpLocks/>
            </p:cNvGrpSpPr>
            <p:nvPr/>
          </p:nvGrpSpPr>
          <p:grpSpPr bwMode="auto">
            <a:xfrm flipH="1">
              <a:off x="5987294" y="2424341"/>
              <a:ext cx="1781296" cy="341718"/>
              <a:chOff x="1209" y="157"/>
              <a:chExt cx="1135" cy="328"/>
            </a:xfrm>
            <a:grpFill/>
          </p:grpSpPr>
          <p:sp>
            <p:nvSpPr>
              <p:cNvPr id="20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0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0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3" name="组合 75"/>
          <p:cNvGrpSpPr/>
          <p:nvPr/>
        </p:nvGrpSpPr>
        <p:grpSpPr>
          <a:xfrm>
            <a:off x="3501203" y="4279449"/>
            <a:ext cx="1831097" cy="314111"/>
            <a:chOff x="3009761" y="2442912"/>
            <a:chExt cx="1831097" cy="314111"/>
          </a:xfrm>
        </p:grpSpPr>
        <p:grpSp>
          <p:nvGrpSpPr>
            <p:cNvPr id="14"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2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0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0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3  R1</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5" name="组合 76"/>
          <p:cNvGrpSpPr/>
          <p:nvPr/>
        </p:nvGrpSpPr>
        <p:grpSpPr>
          <a:xfrm>
            <a:off x="6091024" y="4242158"/>
            <a:ext cx="1747934" cy="339296"/>
            <a:chOff x="5987294" y="2424341"/>
            <a:chExt cx="1816926" cy="370271"/>
          </a:xfrm>
          <a:solidFill>
            <a:schemeClr val="accent6">
              <a:lumMod val="60000"/>
              <a:lumOff val="40000"/>
            </a:schemeClr>
          </a:solidFill>
        </p:grpSpPr>
        <p:grpSp>
          <p:nvGrpSpPr>
            <p:cNvPr id="16" name="Group 111"/>
            <p:cNvGrpSpPr>
              <a:grpSpLocks/>
            </p:cNvGrpSpPr>
            <p:nvPr/>
          </p:nvGrpSpPr>
          <p:grpSpPr bwMode="auto">
            <a:xfrm flipH="1">
              <a:off x="5987294" y="2424341"/>
              <a:ext cx="1781296" cy="341718"/>
              <a:chOff x="1209" y="157"/>
              <a:chExt cx="1135" cy="328"/>
            </a:xfrm>
            <a:grpFill/>
          </p:grpSpPr>
          <p:sp>
            <p:nvSpPr>
              <p:cNvPr id="21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1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1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4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7" name="组合 75"/>
          <p:cNvGrpSpPr/>
          <p:nvPr/>
        </p:nvGrpSpPr>
        <p:grpSpPr>
          <a:xfrm>
            <a:off x="3501203" y="4674312"/>
            <a:ext cx="1831097" cy="314111"/>
            <a:chOff x="3009761" y="2442912"/>
            <a:chExt cx="1831097" cy="314111"/>
          </a:xfrm>
        </p:grpSpPr>
        <p:grpSp>
          <p:nvGrpSpPr>
            <p:cNvPr id="18"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22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2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2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5  R1</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9" name="组合 76"/>
          <p:cNvGrpSpPr/>
          <p:nvPr/>
        </p:nvGrpSpPr>
        <p:grpSpPr>
          <a:xfrm>
            <a:off x="6091024" y="4637021"/>
            <a:ext cx="1747934" cy="339296"/>
            <a:chOff x="5987294" y="2424341"/>
            <a:chExt cx="1816926" cy="370271"/>
          </a:xfrm>
          <a:solidFill>
            <a:schemeClr val="accent6">
              <a:lumMod val="60000"/>
              <a:lumOff val="40000"/>
            </a:schemeClr>
          </a:solidFill>
        </p:grpSpPr>
        <p:grpSp>
          <p:nvGrpSpPr>
            <p:cNvPr id="20" name="Group 111"/>
            <p:cNvGrpSpPr>
              <a:grpSpLocks/>
            </p:cNvGrpSpPr>
            <p:nvPr/>
          </p:nvGrpSpPr>
          <p:grpSpPr bwMode="auto">
            <a:xfrm flipH="1">
              <a:off x="5987294" y="2424341"/>
              <a:ext cx="1781296" cy="341718"/>
              <a:chOff x="1209" y="157"/>
              <a:chExt cx="1135" cy="328"/>
            </a:xfrm>
            <a:grpFill/>
          </p:grpSpPr>
          <p:sp>
            <p:nvSpPr>
              <p:cNvPr id="23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3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3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6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21" name="组合 75"/>
          <p:cNvGrpSpPr/>
          <p:nvPr/>
        </p:nvGrpSpPr>
        <p:grpSpPr>
          <a:xfrm>
            <a:off x="3478953" y="5439767"/>
            <a:ext cx="1831097" cy="314111"/>
            <a:chOff x="3009761" y="2442912"/>
            <a:chExt cx="1831097" cy="314111"/>
          </a:xfrm>
        </p:grpSpPr>
        <p:grpSp>
          <p:nvGrpSpPr>
            <p:cNvPr id="22"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23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3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3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R1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23" name="组合 76"/>
          <p:cNvGrpSpPr/>
          <p:nvPr/>
        </p:nvGrpSpPr>
        <p:grpSpPr>
          <a:xfrm>
            <a:off x="6068775" y="5402476"/>
            <a:ext cx="1747934" cy="339296"/>
            <a:chOff x="5987294" y="2424341"/>
            <a:chExt cx="1816926" cy="370271"/>
          </a:xfrm>
          <a:solidFill>
            <a:schemeClr val="accent6">
              <a:lumMod val="60000"/>
              <a:lumOff val="40000"/>
            </a:schemeClr>
          </a:solidFill>
        </p:grpSpPr>
        <p:grpSp>
          <p:nvGrpSpPr>
            <p:cNvPr id="24" name="Group 111"/>
            <p:cNvGrpSpPr>
              <a:grpSpLocks/>
            </p:cNvGrpSpPr>
            <p:nvPr/>
          </p:nvGrpSpPr>
          <p:grpSpPr bwMode="auto">
            <a:xfrm flipH="1">
              <a:off x="5987294" y="2424341"/>
              <a:ext cx="1781296" cy="341718"/>
              <a:chOff x="1209" y="157"/>
              <a:chExt cx="1135" cy="328"/>
            </a:xfrm>
            <a:grpFill/>
          </p:grpSpPr>
          <p:sp>
            <p:nvSpPr>
              <p:cNvPr id="24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4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4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16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sp>
        <p:nvSpPr>
          <p:cNvPr id="85"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5.2.3 </a:t>
            </a:r>
            <a:r>
              <a:rPr kumimoji="1" lang="zh-CN" altLang="en-US" dirty="0"/>
              <a:t>距离向量路由</a:t>
            </a:r>
          </a:p>
        </p:txBody>
      </p:sp>
      <p:pic>
        <p:nvPicPr>
          <p:cNvPr id="86" name="Picture 28" descr="015">
            <a:extLst>
              <a:ext uri="{FF2B5EF4-FFF2-40B4-BE49-F238E27FC236}">
                <a16:creationId xmlns:a16="http://schemas.microsoft.com/office/drawing/2014/main" id="{663DE400-96A5-4EE6-8F3A-8AAE97C4250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4985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p:bldP spid="156" grpId="0" animBg="1"/>
      <p:bldP spid="15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kumimoji="1" lang="zh-CN" altLang="en-US" dirty="0"/>
              <a:t>链路状态（</a:t>
            </a:r>
            <a:r>
              <a:rPr kumimoji="1" lang="en-US" altLang="zh-CN" dirty="0"/>
              <a:t>Link State</a:t>
            </a:r>
            <a:r>
              <a:rPr kumimoji="1" lang="zh-CN" altLang="en-US" dirty="0"/>
              <a:t>）路由可分为五个部分：</a:t>
            </a:r>
            <a:endParaRPr lang="en-US" altLang="zh-CN" dirty="0"/>
          </a:p>
          <a:p>
            <a:pPr lvl="1"/>
            <a:r>
              <a:rPr lang="en-US" altLang="zh-CN" dirty="0"/>
              <a:t>1. </a:t>
            </a:r>
            <a:r>
              <a:rPr lang="zh-CN" altLang="en-US" dirty="0"/>
              <a:t>发现邻居，了解他们的网络地址；</a:t>
            </a:r>
          </a:p>
          <a:p>
            <a:pPr lvl="1"/>
            <a:r>
              <a:rPr lang="en-US" altLang="zh-CN" dirty="0"/>
              <a:t>2. </a:t>
            </a:r>
            <a:r>
              <a:rPr lang="zh-CN" altLang="en-US" dirty="0"/>
              <a:t>设置到每个邻居的成本度量；</a:t>
            </a:r>
          </a:p>
          <a:p>
            <a:pPr lvl="1"/>
            <a:r>
              <a:rPr lang="en-US" altLang="zh-CN" dirty="0"/>
              <a:t>3. </a:t>
            </a:r>
            <a:r>
              <a:rPr lang="zh-CN" altLang="en-US" dirty="0"/>
              <a:t>构造一个分组，分组中包含刚收到的所有信息；</a:t>
            </a:r>
          </a:p>
          <a:p>
            <a:pPr lvl="1"/>
            <a:r>
              <a:rPr lang="en-US" altLang="zh-CN" dirty="0"/>
              <a:t>4. </a:t>
            </a:r>
            <a:r>
              <a:rPr lang="zh-CN" altLang="en-US" dirty="0"/>
              <a:t>将此分组发送给其他的路由器；</a:t>
            </a:r>
          </a:p>
          <a:p>
            <a:pPr lvl="1"/>
            <a:r>
              <a:rPr lang="en-US" altLang="zh-CN" dirty="0"/>
              <a:t>5. </a:t>
            </a:r>
            <a:r>
              <a:rPr lang="zh-CN" altLang="en-US" dirty="0"/>
              <a:t>计算到其他路由器的最短路径。</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41</a:t>
            </a:fld>
            <a:endParaRPr kumimoji="1" lang="zh-CN" altLang="en-US" dirty="0"/>
          </a:p>
        </p:txBody>
      </p:sp>
      <p:sp>
        <p:nvSpPr>
          <p:cNvPr id="7"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pic>
        <p:nvPicPr>
          <p:cNvPr id="6" name="Picture 28" descr="015">
            <a:extLst>
              <a:ext uri="{FF2B5EF4-FFF2-40B4-BE49-F238E27FC236}">
                <a16:creationId xmlns:a16="http://schemas.microsoft.com/office/drawing/2014/main" id="{CB17ED9B-3219-42C1-A80D-6682762506A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7794329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1.</a:t>
            </a:r>
            <a:r>
              <a:rPr lang="zh-CN" altLang="en-US" dirty="0">
                <a:solidFill>
                  <a:srgbClr val="5C307E"/>
                </a:solidFill>
              </a:rPr>
              <a:t>发现</a:t>
            </a:r>
            <a:r>
              <a:rPr lang="zh-CN" altLang="en-US" dirty="0"/>
              <a:t>邻居，了解他们的网络地址</a:t>
            </a: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42</a:t>
            </a:fld>
            <a:endParaRPr kumimoji="1" lang="zh-CN" altLang="en-US" dirty="0"/>
          </a:p>
        </p:txBody>
      </p:sp>
      <p:grpSp>
        <p:nvGrpSpPr>
          <p:cNvPr id="5" name="组合 5"/>
          <p:cNvGrpSpPr/>
          <p:nvPr/>
        </p:nvGrpSpPr>
        <p:grpSpPr>
          <a:xfrm>
            <a:off x="1477796" y="2331187"/>
            <a:ext cx="8485252" cy="2055338"/>
            <a:chOff x="226898" y="3749508"/>
            <a:chExt cx="8485252" cy="2055338"/>
          </a:xfrm>
        </p:grpSpPr>
        <p:sp>
          <p:nvSpPr>
            <p:cNvPr id="8" name="文本框 7">
              <a:extLst>
                <a:ext uri="{FF2B5EF4-FFF2-40B4-BE49-F238E27FC236}">
                  <a16:creationId xmlns:a16="http://schemas.microsoft.com/office/drawing/2014/main"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6" name="组合 8">
              <a:extLst>
                <a:ext uri="{FF2B5EF4-FFF2-40B4-BE49-F238E27FC236}">
                  <a16:creationId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28" name="直接连接符 27">
                <a:extLst>
                  <a:ext uri="{FF2B5EF4-FFF2-40B4-BE49-F238E27FC236}">
                    <a16:creationId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9"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组合 9">
              <a:extLst>
                <a:ext uri="{FF2B5EF4-FFF2-40B4-BE49-F238E27FC236}">
                  <a16:creationId xmlns:a16="http://schemas.microsoft.com/office/drawing/2014/main" id="{E3FB6F0E-FD32-40AB-90A7-0C7D39E2B023}"/>
                </a:ext>
              </a:extLst>
            </p:cNvPr>
            <p:cNvGrpSpPr/>
            <p:nvPr/>
          </p:nvGrpSpPr>
          <p:grpSpPr>
            <a:xfrm>
              <a:off x="6969467" y="3749508"/>
              <a:ext cx="1686271" cy="1481902"/>
              <a:chOff x="7402009" y="532714"/>
              <a:chExt cx="2839104" cy="1816458"/>
            </a:xfrm>
          </p:grpSpPr>
          <p:cxnSp>
            <p:nvCxnSpPr>
              <p:cNvPr id="24" name="直接连接符 23">
                <a:extLst>
                  <a:ext uri="{FF2B5EF4-FFF2-40B4-BE49-F238E27FC236}">
                    <a16:creationId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5" name="文本框 24">
                <a:extLst>
                  <a:ext uri="{FF2B5EF4-FFF2-40B4-BE49-F238E27FC236}">
                    <a16:creationId xmlns:a16="http://schemas.microsoft.com/office/drawing/2014/main" id="{C9D2448E-4DF6-4F3D-94D3-4044F9D944E6}"/>
                  </a:ext>
                </a:extLst>
              </p:cNvPr>
              <p:cNvSpPr txBox="1"/>
              <p:nvPr/>
            </p:nvSpPr>
            <p:spPr>
              <a:xfrm>
                <a:off x="9395814"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6"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文本框 26">
                <a:extLst>
                  <a:ext uri="{FF2B5EF4-FFF2-40B4-BE49-F238E27FC236}">
                    <a16:creationId xmlns:a16="http://schemas.microsoft.com/office/drawing/2014/main" id="{0D4EC4C3-F2D0-4F3E-A7FD-03A7DC507C18}"/>
                  </a:ext>
                </a:extLst>
              </p:cNvPr>
              <p:cNvSpPr txBox="1"/>
              <p:nvPr/>
            </p:nvSpPr>
            <p:spPr>
              <a:xfrm>
                <a:off x="8238058" y="693598"/>
                <a:ext cx="1296563" cy="490439"/>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11"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2" name="直接连接符 11">
              <a:extLst>
                <a:ext uri="{FF2B5EF4-FFF2-40B4-BE49-F238E27FC236}">
                  <a16:creationId xmlns:a16="http://schemas.microsoft.com/office/drawing/2014/main" id="{6371D84A-E35B-4B3D-923C-05925905383F}"/>
                </a:ext>
              </a:extLst>
            </p:cNvPr>
            <p:cNvCxnSpPr>
              <a:cxnSpLocks/>
              <a:stCxn id="2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文本框 14">
              <a:extLst>
                <a:ext uri="{FF2B5EF4-FFF2-40B4-BE49-F238E27FC236}">
                  <a16:creationId xmlns:a16="http://schemas.microsoft.com/office/drawing/2014/main"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16" name="直接连接符 15">
              <a:extLst>
                <a:ext uri="{FF2B5EF4-FFF2-40B4-BE49-F238E27FC236}">
                  <a16:creationId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7"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文本框 17">
              <a:extLst>
                <a:ext uri="{FF2B5EF4-FFF2-40B4-BE49-F238E27FC236}">
                  <a16:creationId xmlns:a16="http://schemas.microsoft.com/office/drawing/2014/main"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10" name="组合 18">
              <a:extLst>
                <a:ext uri="{FF2B5EF4-FFF2-40B4-BE49-F238E27FC236}">
                  <a16:creationId xmlns:a16="http://schemas.microsoft.com/office/drawing/2014/main" id="{E3FB6F0E-FD32-40AB-90A7-0C7D39E2B023}"/>
                </a:ext>
              </a:extLst>
            </p:cNvPr>
            <p:cNvGrpSpPr/>
            <p:nvPr/>
          </p:nvGrpSpPr>
          <p:grpSpPr>
            <a:xfrm>
              <a:off x="226898" y="4000559"/>
              <a:ext cx="1686270" cy="1106090"/>
              <a:chOff x="7402009" y="852917"/>
              <a:chExt cx="2839102" cy="1355798"/>
            </a:xfrm>
          </p:grpSpPr>
          <p:sp>
            <p:nvSpPr>
              <p:cNvPr id="21" name="文本框 20">
                <a:extLst>
                  <a:ext uri="{FF2B5EF4-FFF2-40B4-BE49-F238E27FC236}">
                    <a16:creationId xmlns:a16="http://schemas.microsoft.com/office/drawing/2014/main"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22"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文本框 22">
                <a:extLst>
                  <a:ext uri="{FF2B5EF4-FFF2-40B4-BE49-F238E27FC236}">
                    <a16:creationId xmlns:a16="http://schemas.microsoft.com/office/drawing/2014/main"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20" name="直接连接符 19">
              <a:extLst>
                <a:ext uri="{FF2B5EF4-FFF2-40B4-BE49-F238E27FC236}">
                  <a16:creationId xmlns:a16="http://schemas.microsoft.com/office/drawing/2014/main"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pSp>
        <p:nvGrpSpPr>
          <p:cNvPr id="19" name="Group 9"/>
          <p:cNvGrpSpPr>
            <a:grpSpLocks/>
          </p:cNvGrpSpPr>
          <p:nvPr/>
        </p:nvGrpSpPr>
        <p:grpSpPr bwMode="auto">
          <a:xfrm>
            <a:off x="3061059" y="4382845"/>
            <a:ext cx="2906003" cy="399633"/>
            <a:chOff x="2056" y="1394"/>
            <a:chExt cx="2450" cy="365"/>
          </a:xfrm>
        </p:grpSpPr>
        <p:sp>
          <p:nvSpPr>
            <p:cNvPr id="34" name="Text Box 10"/>
            <p:cNvSpPr txBox="1">
              <a:spLocks noChangeArrowheads="1"/>
            </p:cNvSpPr>
            <p:nvPr/>
          </p:nvSpPr>
          <p:spPr bwMode="auto">
            <a:xfrm>
              <a:off x="2991" y="1394"/>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sp>
          <p:nvSpPr>
            <p:cNvPr id="35" name="Line 11"/>
            <p:cNvSpPr>
              <a:spLocks noChangeShapeType="1"/>
            </p:cNvSpPr>
            <p:nvPr/>
          </p:nvSpPr>
          <p:spPr bwMode="auto">
            <a:xfrm>
              <a:off x="2056" y="1731"/>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grpSp>
      <p:grpSp>
        <p:nvGrpSpPr>
          <p:cNvPr id="30" name="Group 12"/>
          <p:cNvGrpSpPr>
            <a:grpSpLocks/>
          </p:cNvGrpSpPr>
          <p:nvPr/>
        </p:nvGrpSpPr>
        <p:grpSpPr bwMode="auto">
          <a:xfrm>
            <a:off x="3061059" y="4764277"/>
            <a:ext cx="2906003" cy="399632"/>
            <a:chOff x="2056" y="1668"/>
            <a:chExt cx="2450" cy="365"/>
          </a:xfrm>
        </p:grpSpPr>
        <p:sp>
          <p:nvSpPr>
            <p:cNvPr id="37" name="Line 13"/>
            <p:cNvSpPr>
              <a:spLocks noChangeShapeType="1"/>
            </p:cNvSpPr>
            <p:nvPr/>
          </p:nvSpPr>
          <p:spPr bwMode="auto">
            <a:xfrm flipH="1">
              <a:off x="2056" y="1980"/>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sp>
          <p:nvSpPr>
            <p:cNvPr id="38" name="Text Box 14"/>
            <p:cNvSpPr txBox="1">
              <a:spLocks noChangeArrowheads="1"/>
            </p:cNvSpPr>
            <p:nvPr/>
          </p:nvSpPr>
          <p:spPr bwMode="auto">
            <a:xfrm>
              <a:off x="2987" y="1668"/>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grpSp>
      <p:grpSp>
        <p:nvGrpSpPr>
          <p:cNvPr id="31" name="Group 9"/>
          <p:cNvGrpSpPr>
            <a:grpSpLocks/>
          </p:cNvGrpSpPr>
          <p:nvPr/>
        </p:nvGrpSpPr>
        <p:grpSpPr bwMode="auto">
          <a:xfrm>
            <a:off x="6576485" y="4339665"/>
            <a:ext cx="2906003" cy="399633"/>
            <a:chOff x="2056" y="1394"/>
            <a:chExt cx="2450" cy="365"/>
          </a:xfrm>
        </p:grpSpPr>
        <p:sp>
          <p:nvSpPr>
            <p:cNvPr id="40" name="Text Box 10"/>
            <p:cNvSpPr txBox="1">
              <a:spLocks noChangeArrowheads="1"/>
            </p:cNvSpPr>
            <p:nvPr/>
          </p:nvSpPr>
          <p:spPr bwMode="auto">
            <a:xfrm>
              <a:off x="2991" y="1394"/>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sp>
          <p:nvSpPr>
            <p:cNvPr id="41" name="Line 11"/>
            <p:cNvSpPr>
              <a:spLocks noChangeShapeType="1"/>
            </p:cNvSpPr>
            <p:nvPr/>
          </p:nvSpPr>
          <p:spPr bwMode="auto">
            <a:xfrm>
              <a:off x="2056" y="1731"/>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grpSp>
      <p:grpSp>
        <p:nvGrpSpPr>
          <p:cNvPr id="32" name="Group 12"/>
          <p:cNvGrpSpPr>
            <a:grpSpLocks/>
          </p:cNvGrpSpPr>
          <p:nvPr/>
        </p:nvGrpSpPr>
        <p:grpSpPr bwMode="auto">
          <a:xfrm>
            <a:off x="6552420" y="4734966"/>
            <a:ext cx="2906003" cy="399632"/>
            <a:chOff x="2056" y="1657"/>
            <a:chExt cx="2450" cy="365"/>
          </a:xfrm>
        </p:grpSpPr>
        <p:sp>
          <p:nvSpPr>
            <p:cNvPr id="43" name="Line 13"/>
            <p:cNvSpPr>
              <a:spLocks noChangeShapeType="1"/>
            </p:cNvSpPr>
            <p:nvPr/>
          </p:nvSpPr>
          <p:spPr bwMode="auto">
            <a:xfrm flipH="1">
              <a:off x="2056" y="1980"/>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sp>
          <p:nvSpPr>
            <p:cNvPr id="44" name="Text Box 14"/>
            <p:cNvSpPr txBox="1">
              <a:spLocks noChangeArrowheads="1"/>
            </p:cNvSpPr>
            <p:nvPr/>
          </p:nvSpPr>
          <p:spPr bwMode="auto">
            <a:xfrm>
              <a:off x="2997" y="1657"/>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grpSp>
      <p:grpSp>
        <p:nvGrpSpPr>
          <p:cNvPr id="33" name="组合 55"/>
          <p:cNvGrpSpPr/>
          <p:nvPr/>
        </p:nvGrpSpPr>
        <p:grpSpPr>
          <a:xfrm>
            <a:off x="1684477" y="5402938"/>
            <a:ext cx="2670757" cy="1536219"/>
            <a:chOff x="1063691" y="5417690"/>
            <a:chExt cx="1669396" cy="1228437"/>
          </a:xfrm>
        </p:grpSpPr>
        <p:sp>
          <p:nvSpPr>
            <p:cNvPr id="51" name="椭圆形标注 50"/>
            <p:cNvSpPr/>
            <p:nvPr/>
          </p:nvSpPr>
          <p:spPr>
            <a:xfrm>
              <a:off x="1063691" y="5417690"/>
              <a:ext cx="1562560" cy="1039025"/>
            </a:xfrm>
            <a:prstGeom prst="wedgeEllipseCallout">
              <a:avLst>
                <a:gd name="adj1" fmla="val 36819"/>
                <a:gd name="adj2" fmla="val -8955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id="{0D4EC4C3-F2D0-4F3E-A7FD-03A7DC507C18}"/>
                </a:ext>
              </a:extLst>
            </p:cNvPr>
            <p:cNvSpPr txBox="1"/>
            <p:nvPr/>
          </p:nvSpPr>
          <p:spPr>
            <a:xfrm>
              <a:off x="1170204" y="5630464"/>
              <a:ext cx="1562883" cy="1015663"/>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r>
                <a:rPr lang="zh-CN" altLang="en-US" sz="2000" dirty="0">
                  <a:latin typeface="微软雅黑" panose="020B0503020204020204" pitchFamily="34" charset="-122"/>
                  <a:ea typeface="微软雅黑" panose="020B0503020204020204" pitchFamily="34" charset="-122"/>
                </a:rPr>
                <a:t>学习到通过</a:t>
              </a:r>
              <a:r>
                <a:rPr lang="en-US" altLang="zh-CN" sz="2000" dirty="0">
                  <a:latin typeface="微软雅黑" panose="020B0503020204020204" pitchFamily="34" charset="-122"/>
                  <a:ea typeface="微软雅黑" panose="020B0503020204020204" pitchFamily="34" charset="-122"/>
                </a:rPr>
                <a:t>net1</a:t>
              </a:r>
              <a:r>
                <a:rPr lang="zh-CN" altLang="en-US" sz="2000" dirty="0">
                  <a:latin typeface="微软雅黑" panose="020B0503020204020204" pitchFamily="34" charset="-122"/>
                  <a:ea typeface="微软雅黑" panose="020B0503020204020204" pitchFamily="34" charset="-122"/>
                </a:rPr>
                <a:t>连接到邻居</a:t>
              </a:r>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grpSp>
        <p:nvGrpSpPr>
          <p:cNvPr id="36" name="组合 54"/>
          <p:cNvGrpSpPr/>
          <p:nvPr/>
        </p:nvGrpSpPr>
        <p:grpSpPr>
          <a:xfrm>
            <a:off x="5157957" y="5296152"/>
            <a:ext cx="3427928" cy="1499673"/>
            <a:chOff x="5176451" y="5267481"/>
            <a:chExt cx="2541125" cy="1771777"/>
          </a:xfrm>
        </p:grpSpPr>
        <p:sp>
          <p:nvSpPr>
            <p:cNvPr id="53" name="椭圆形标注 52"/>
            <p:cNvSpPr/>
            <p:nvPr/>
          </p:nvSpPr>
          <p:spPr>
            <a:xfrm>
              <a:off x="5176451" y="5267481"/>
              <a:ext cx="2541125" cy="1771777"/>
            </a:xfrm>
            <a:prstGeom prst="wedgeEllipseCallout">
              <a:avLst>
                <a:gd name="adj1" fmla="val -19835"/>
                <a:gd name="adj2" fmla="val -7637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文本框 53">
              <a:extLst>
                <a:ext uri="{FF2B5EF4-FFF2-40B4-BE49-F238E27FC236}">
                  <a16:creationId xmlns:a16="http://schemas.microsoft.com/office/drawing/2014/main" id="{0D4EC4C3-F2D0-4F3E-A7FD-03A7DC507C18}"/>
                </a:ext>
              </a:extLst>
            </p:cNvPr>
            <p:cNvSpPr txBox="1"/>
            <p:nvPr/>
          </p:nvSpPr>
          <p:spPr>
            <a:xfrm>
              <a:off x="5365156" y="5630939"/>
              <a:ext cx="2316165" cy="803033"/>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r>
                <a:rPr lang="zh-CN" altLang="en-US" sz="2000" dirty="0">
                  <a:latin typeface="微软雅黑" panose="020B0503020204020204" pitchFamily="34" charset="-122"/>
                  <a:ea typeface="微软雅黑" panose="020B0503020204020204" pitchFamily="34" charset="-122"/>
                </a:rPr>
                <a:t>学习到通过</a:t>
              </a:r>
              <a:r>
                <a:rPr lang="en-US" altLang="zh-CN" sz="2000" dirty="0">
                  <a:latin typeface="微软雅黑" panose="020B0503020204020204" pitchFamily="34" charset="-122"/>
                  <a:ea typeface="微软雅黑" panose="020B0503020204020204" pitchFamily="34" charset="-122"/>
                </a:rPr>
                <a:t>net1</a:t>
              </a:r>
              <a:r>
                <a:rPr lang="zh-CN" altLang="en-US" sz="2000" dirty="0">
                  <a:latin typeface="微软雅黑" panose="020B0503020204020204" pitchFamily="34" charset="-122"/>
                  <a:ea typeface="微软雅黑" panose="020B0503020204020204" pitchFamily="34" charset="-122"/>
                </a:rPr>
                <a:t>连接到邻居</a:t>
              </a:r>
              <a:r>
                <a:rPr lang="en-US" altLang="zh-CN" sz="2000" dirty="0">
                  <a:latin typeface="微软雅黑" panose="020B0503020204020204" pitchFamily="34" charset="-122"/>
                  <a:ea typeface="微软雅黑" panose="020B0503020204020204" pitchFamily="34" charset="-122"/>
                </a:rPr>
                <a:t>R2</a:t>
              </a:r>
              <a:r>
                <a:rPr lang="zh-CN" altLang="en-US" sz="2000" dirty="0">
                  <a:latin typeface="微软雅黑" panose="020B0503020204020204" pitchFamily="34" charset="-122"/>
                  <a:ea typeface="微软雅黑" panose="020B0503020204020204" pitchFamily="34" charset="-122"/>
                </a:rPr>
                <a:t>；到通过</a:t>
              </a:r>
              <a:r>
                <a:rPr lang="en-US" altLang="zh-CN" sz="2000" dirty="0">
                  <a:latin typeface="微软雅黑" panose="020B0503020204020204" pitchFamily="34" charset="-122"/>
                  <a:ea typeface="微软雅黑" panose="020B0503020204020204" pitchFamily="34" charset="-122"/>
                </a:rPr>
                <a:t>net2</a:t>
              </a:r>
              <a:r>
                <a:rPr lang="zh-CN" altLang="en-US" sz="2000" dirty="0">
                  <a:latin typeface="微软雅黑" panose="020B0503020204020204" pitchFamily="34" charset="-122"/>
                  <a:ea typeface="微软雅黑" panose="020B0503020204020204" pitchFamily="34" charset="-122"/>
                </a:rPr>
                <a:t>连接到邻居</a:t>
              </a:r>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grpSp>
      <p:sp>
        <p:nvSpPr>
          <p:cNvPr id="47"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pic>
        <p:nvPicPr>
          <p:cNvPr id="48" name="Picture 28" descr="015">
            <a:extLst>
              <a:ext uri="{FF2B5EF4-FFF2-40B4-BE49-F238E27FC236}">
                <a16:creationId xmlns:a16="http://schemas.microsoft.com/office/drawing/2014/main" id="{D1123B38-EB43-431D-9485-2215922E56C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52796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20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wipe(right)">
                                      <p:cBhvr>
                                        <p:cTn id="12" dur="20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2000"/>
                                        <p:tgtEl>
                                          <p:spTgt spid="31"/>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right)">
                                      <p:cBhvr>
                                        <p:cTn id="26" dur="2000"/>
                                        <p:tgtEl>
                                          <p:spTgt spid="32"/>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2.</a:t>
            </a:r>
            <a:r>
              <a:rPr lang="zh-CN" altLang="en-US" dirty="0">
                <a:solidFill>
                  <a:srgbClr val="5C307E"/>
                </a:solidFill>
              </a:rPr>
              <a:t>设置</a:t>
            </a:r>
            <a:r>
              <a:rPr lang="zh-CN" altLang="en-US" dirty="0"/>
              <a:t>到每个邻居的成本度量</a:t>
            </a:r>
            <a:endParaRPr lang="en-US" altLang="zh-CN" dirty="0"/>
          </a:p>
          <a:p>
            <a:pPr lvl="1"/>
            <a:r>
              <a:rPr lang="zh-CN" altLang="en-US" dirty="0"/>
              <a:t>开销</a:t>
            </a:r>
            <a:r>
              <a:rPr lang="en-US" altLang="zh-CN" dirty="0"/>
              <a:t>/</a:t>
            </a:r>
            <a:r>
              <a:rPr lang="zh-CN" altLang="en-US" dirty="0"/>
              <a:t>度量</a:t>
            </a:r>
            <a:r>
              <a:rPr lang="en-US" altLang="zh-CN" dirty="0"/>
              <a:t>/</a:t>
            </a:r>
            <a:r>
              <a:rPr lang="zh-CN" altLang="en-US" dirty="0"/>
              <a:t>代价：</a:t>
            </a:r>
            <a:endParaRPr lang="en-US" altLang="zh-CN" dirty="0"/>
          </a:p>
          <a:p>
            <a:pPr lvl="2"/>
            <a:r>
              <a:rPr lang="zh-CN" altLang="en-US" dirty="0"/>
              <a:t>自动发现设置或人工配置</a:t>
            </a:r>
            <a:endParaRPr lang="en-US" altLang="zh-CN" dirty="0"/>
          </a:p>
          <a:p>
            <a:pPr lvl="2"/>
            <a:r>
              <a:rPr lang="zh-CN" altLang="en-US" dirty="0"/>
              <a:t>度量：带宽、跳数、延迟、负载、可靠性等</a:t>
            </a:r>
            <a:endParaRPr lang="en-US" altLang="zh-CN" dirty="0"/>
          </a:p>
          <a:p>
            <a:pPr lvl="1"/>
            <a:r>
              <a:rPr lang="zh-CN" altLang="en-US" dirty="0"/>
              <a:t>常用度量：链路带宽（反比）</a:t>
            </a:r>
            <a:endParaRPr lang="en-US" altLang="zh-CN" dirty="0"/>
          </a:p>
          <a:p>
            <a:pPr lvl="2"/>
            <a:r>
              <a:rPr lang="zh-CN" altLang="en-US" dirty="0"/>
              <a:t>例如：</a:t>
            </a:r>
            <a:r>
              <a:rPr lang="en-US" altLang="zh-CN" dirty="0"/>
              <a:t>1-Gbps</a:t>
            </a:r>
            <a:r>
              <a:rPr lang="zh-CN" altLang="en-US" dirty="0"/>
              <a:t>以太网的代价为</a:t>
            </a:r>
            <a:r>
              <a:rPr lang="en-US" altLang="zh-CN" dirty="0"/>
              <a:t>1</a:t>
            </a:r>
            <a:r>
              <a:rPr lang="zh-CN" altLang="en-US" dirty="0"/>
              <a:t>，</a:t>
            </a:r>
            <a:r>
              <a:rPr lang="en-US" altLang="zh-CN" dirty="0"/>
              <a:t>100-Mbps</a:t>
            </a:r>
            <a:r>
              <a:rPr lang="zh-CN" altLang="en-US" dirty="0"/>
              <a:t>以太网的代价为</a:t>
            </a:r>
            <a:r>
              <a:rPr lang="en-US" altLang="zh-CN" dirty="0"/>
              <a:t>10</a:t>
            </a:r>
          </a:p>
          <a:p>
            <a:pPr lvl="1"/>
            <a:r>
              <a:rPr lang="zh-CN" altLang="en-US" dirty="0"/>
              <a:t>可选度量：延迟</a:t>
            </a:r>
            <a:endParaRPr lang="en-US" altLang="zh-CN" dirty="0"/>
          </a:p>
          <a:p>
            <a:pPr lvl="2"/>
            <a:r>
              <a:rPr lang="zh-CN" altLang="en-US" dirty="0"/>
              <a:t>发送一个</a:t>
            </a:r>
            <a:r>
              <a:rPr lang="en-US" altLang="zh-CN" dirty="0"/>
              <a:t>echo</a:t>
            </a:r>
            <a:r>
              <a:rPr lang="zh-CN" altLang="en-US" dirty="0"/>
              <a:t>包，另一端立即回送一个应答</a:t>
            </a:r>
            <a:endParaRPr lang="en-US" altLang="zh-CN" dirty="0"/>
          </a:p>
          <a:p>
            <a:pPr lvl="2"/>
            <a:r>
              <a:rPr lang="zh-CN" altLang="en-US" dirty="0"/>
              <a:t>通过测量往返时间</a:t>
            </a:r>
            <a:r>
              <a:rPr lang="en-US" altLang="zh-CN" dirty="0"/>
              <a:t>RTT</a:t>
            </a:r>
            <a:r>
              <a:rPr lang="zh-CN" altLang="en-US" dirty="0"/>
              <a:t>，可以获得一个合理的延迟估计值</a:t>
            </a:r>
          </a:p>
          <a:p>
            <a:pPr lvl="7"/>
            <a:endParaRPr lang="zh-CN" altLang="en-US" dirty="0"/>
          </a:p>
        </p:txBody>
      </p:sp>
      <p:sp>
        <p:nvSpPr>
          <p:cNvPr id="5"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sp>
        <p:nvSpPr>
          <p:cNvPr id="6" name="灯片编号占位符 3">
            <a:extLst>
              <a:ext uri="{FF2B5EF4-FFF2-40B4-BE49-F238E27FC236}">
                <a16:creationId xmlns:a16="http://schemas.microsoft.com/office/drawing/2014/main" id="{63BC0E52-558D-DA43-BE0C-839415FD372E}"/>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43</a:t>
            </a:fld>
            <a:endParaRPr kumimoji="1" lang="zh-CN" altLang="en-US" dirty="0"/>
          </a:p>
        </p:txBody>
      </p:sp>
      <p:pic>
        <p:nvPicPr>
          <p:cNvPr id="7" name="Picture 28" descr="015">
            <a:extLst>
              <a:ext uri="{FF2B5EF4-FFF2-40B4-BE49-F238E27FC236}">
                <a16:creationId xmlns:a16="http://schemas.microsoft.com/office/drawing/2014/main" id="{EBC62812-CB02-4305-A9E6-5D49A5A5D57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302963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3.</a:t>
            </a:r>
            <a:r>
              <a:rPr lang="zh-CN" altLang="en-US" dirty="0">
                <a:solidFill>
                  <a:srgbClr val="5C307E"/>
                </a:solidFill>
              </a:rPr>
              <a:t>构造</a:t>
            </a:r>
            <a:r>
              <a:rPr lang="zh-CN" altLang="en-US" dirty="0"/>
              <a:t>一个分组，分组中包含刚收到的所有信息</a:t>
            </a:r>
            <a:endParaRPr lang="en-US" altLang="zh-CN" dirty="0"/>
          </a:p>
          <a:p>
            <a:pPr lvl="1"/>
            <a:r>
              <a:rPr lang="zh-CN" altLang="en-US" dirty="0"/>
              <a:t>构造链路状态分组（</a:t>
            </a:r>
            <a:r>
              <a:rPr lang="en-US" altLang="zh-CN" dirty="0"/>
              <a:t>link state packet</a:t>
            </a:r>
            <a:r>
              <a:rPr lang="zh-CN" altLang="en-US" dirty="0"/>
              <a:t>，</a:t>
            </a:r>
            <a:r>
              <a:rPr lang="en-US" altLang="zh-CN" dirty="0"/>
              <a:t>LSP</a:t>
            </a:r>
            <a:r>
              <a:rPr lang="zh-CN" altLang="en-US" dirty="0"/>
              <a:t>）</a:t>
            </a:r>
            <a:endParaRPr lang="en-US" altLang="zh-CN" dirty="0"/>
          </a:p>
          <a:p>
            <a:pPr lvl="2"/>
            <a:r>
              <a:rPr lang="zh-CN" altLang="en-US" dirty="0"/>
              <a:t>发送方标识</a:t>
            </a:r>
            <a:endParaRPr lang="en-US" altLang="zh-CN" dirty="0"/>
          </a:p>
          <a:p>
            <a:pPr lvl="2"/>
            <a:r>
              <a:rPr lang="zh-CN" altLang="en-US" dirty="0"/>
              <a:t>序列号</a:t>
            </a:r>
            <a:endParaRPr lang="en-US" altLang="zh-CN" dirty="0"/>
          </a:p>
          <a:p>
            <a:pPr lvl="2"/>
            <a:r>
              <a:rPr lang="zh-CN" altLang="en-US" dirty="0"/>
              <a:t>年龄</a:t>
            </a:r>
            <a:endParaRPr lang="en-US" altLang="zh-CN" dirty="0"/>
          </a:p>
          <a:p>
            <a:pPr lvl="2"/>
            <a:r>
              <a:rPr lang="zh-CN" altLang="en-US" dirty="0"/>
              <a:t>邻居列表</a:t>
            </a:r>
            <a:endParaRPr lang="en-US" altLang="zh-CN" dirty="0"/>
          </a:p>
        </p:txBody>
      </p:sp>
      <p:graphicFrame>
        <p:nvGraphicFramePr>
          <p:cNvPr id="32" name="表格 31"/>
          <p:cNvGraphicFramePr>
            <a:graphicFrameLocks noGrp="1"/>
          </p:cNvGraphicFramePr>
          <p:nvPr/>
        </p:nvGraphicFramePr>
        <p:xfrm>
          <a:off x="5645241" y="3863671"/>
          <a:ext cx="791766" cy="219456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val="3668216324"/>
                    </a:ext>
                  </a:extLst>
                </a:gridCol>
                <a:gridCol w="335848">
                  <a:extLst>
                    <a:ext uri="{9D8B030D-6E8A-4147-A177-3AD203B41FA5}">
                      <a16:colId xmlns:a16="http://schemas.microsoft.com/office/drawing/2014/main" val="2242425082"/>
                    </a:ext>
                  </a:extLst>
                </a:gridCol>
              </a:tblGrid>
              <a:tr h="333261">
                <a:tc gridSpan="2">
                  <a:txBody>
                    <a:bodyPr/>
                    <a:lstStyle/>
                    <a:p>
                      <a:pPr algn="ctr"/>
                      <a:r>
                        <a:rPr lang="en-US" altLang="zh-CN" dirty="0">
                          <a:solidFill>
                            <a:schemeClr val="bg1"/>
                          </a:solidFill>
                        </a:rPr>
                        <a:t>u</a:t>
                      </a:r>
                      <a:endParaRPr lang="zh-CN" altLang="en-US"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3910417"/>
                  </a:ext>
                </a:extLst>
              </a:tr>
              <a:tr h="337890">
                <a:tc>
                  <a:txBody>
                    <a:bodyPr/>
                    <a:lstStyle/>
                    <a:p>
                      <a:pPr algn="ctr"/>
                      <a:r>
                        <a:rPr lang="en-US" altLang="zh-CN" dirty="0"/>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154610"/>
                  </a:ext>
                </a:extLst>
              </a:tr>
              <a:tr h="18288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4725734"/>
                  </a:ext>
                </a:extLst>
              </a:tr>
              <a:tr h="18288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1590640"/>
                  </a:ext>
                </a:extLst>
              </a:tr>
            </a:tbl>
          </a:graphicData>
        </a:graphic>
      </p:graphicFrame>
      <p:graphicFrame>
        <p:nvGraphicFramePr>
          <p:cNvPr id="130" name="表格 129"/>
          <p:cNvGraphicFramePr>
            <a:graphicFrameLocks noGrp="1"/>
          </p:cNvGraphicFramePr>
          <p:nvPr/>
        </p:nvGraphicFramePr>
        <p:xfrm>
          <a:off x="6663326" y="3855251"/>
          <a:ext cx="791766" cy="219456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val="3668216324"/>
                    </a:ext>
                  </a:extLst>
                </a:gridCol>
                <a:gridCol w="335848">
                  <a:extLst>
                    <a:ext uri="{9D8B030D-6E8A-4147-A177-3AD203B41FA5}">
                      <a16:colId xmlns:a16="http://schemas.microsoft.com/office/drawing/2014/main" val="2242425082"/>
                    </a:ext>
                  </a:extLst>
                </a:gridCol>
              </a:tblGrid>
              <a:tr h="333261">
                <a:tc gridSpan="2">
                  <a:txBody>
                    <a:bodyPr/>
                    <a:lstStyle/>
                    <a:p>
                      <a:pPr algn="ctr"/>
                      <a:r>
                        <a:rPr lang="en-US" altLang="zh-CN" dirty="0"/>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3910417"/>
                  </a:ext>
                </a:extLst>
              </a:tr>
              <a:tr h="337890">
                <a:tc>
                  <a:txBody>
                    <a:bodyPr/>
                    <a:lstStyle/>
                    <a:p>
                      <a:pPr algn="ctr"/>
                      <a:r>
                        <a:rPr lang="en-US" altLang="zh-CN" dirty="0"/>
                        <a:t>u</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154610"/>
                  </a:ext>
                </a:extLst>
              </a:tr>
              <a:tr h="18288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4725734"/>
                  </a:ext>
                </a:extLst>
              </a:tr>
              <a:tr h="18288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84819210"/>
                  </a:ext>
                </a:extLst>
              </a:tr>
            </a:tbl>
          </a:graphicData>
        </a:graphic>
      </p:graphicFrame>
      <p:graphicFrame>
        <p:nvGraphicFramePr>
          <p:cNvPr id="131" name="表格 130"/>
          <p:cNvGraphicFramePr>
            <a:graphicFrameLocks noGrp="1"/>
          </p:cNvGraphicFramePr>
          <p:nvPr/>
        </p:nvGraphicFramePr>
        <p:xfrm>
          <a:off x="7772042" y="3859109"/>
          <a:ext cx="791766" cy="256032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val="3668216324"/>
                    </a:ext>
                  </a:extLst>
                </a:gridCol>
                <a:gridCol w="335848">
                  <a:extLst>
                    <a:ext uri="{9D8B030D-6E8A-4147-A177-3AD203B41FA5}">
                      <a16:colId xmlns:a16="http://schemas.microsoft.com/office/drawing/2014/main" val="2242425082"/>
                    </a:ext>
                  </a:extLst>
                </a:gridCol>
              </a:tblGrid>
              <a:tr h="333261">
                <a:tc gridSpan="2">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3910417"/>
                  </a:ext>
                </a:extLst>
              </a:tr>
              <a:tr h="337890">
                <a:tc>
                  <a:txBody>
                    <a:bodyPr/>
                    <a:lstStyle/>
                    <a:p>
                      <a:pPr algn="ctr"/>
                      <a:r>
                        <a:rPr lang="en-US" altLang="zh-CN" dirty="0"/>
                        <a:t>u</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154610"/>
                  </a:ext>
                </a:extLst>
              </a:tr>
              <a:tr h="121920">
                <a:tc>
                  <a:txBody>
                    <a:bodyPr/>
                    <a:lstStyle/>
                    <a:p>
                      <a:pPr algn="ctr"/>
                      <a:r>
                        <a:rPr lang="en-US" altLang="zh-CN"/>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4725734"/>
                  </a:ext>
                </a:extLst>
              </a:tr>
              <a:tr h="24384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9127519"/>
                  </a:ext>
                </a:extLst>
              </a:tr>
              <a:tr h="121920">
                <a:tc>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0429735"/>
                  </a:ext>
                </a:extLst>
              </a:tr>
            </a:tbl>
          </a:graphicData>
        </a:graphic>
      </p:graphicFrame>
      <p:graphicFrame>
        <p:nvGraphicFramePr>
          <p:cNvPr id="132" name="表格 131"/>
          <p:cNvGraphicFramePr>
            <a:graphicFrameLocks noGrp="1"/>
          </p:cNvGraphicFramePr>
          <p:nvPr/>
        </p:nvGraphicFramePr>
        <p:xfrm>
          <a:off x="8880758" y="3839599"/>
          <a:ext cx="791766" cy="219456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val="3668216324"/>
                    </a:ext>
                  </a:extLst>
                </a:gridCol>
                <a:gridCol w="335848">
                  <a:extLst>
                    <a:ext uri="{9D8B030D-6E8A-4147-A177-3AD203B41FA5}">
                      <a16:colId xmlns:a16="http://schemas.microsoft.com/office/drawing/2014/main" val="2242425082"/>
                    </a:ext>
                  </a:extLst>
                </a:gridCol>
              </a:tblGrid>
              <a:tr h="333261">
                <a:tc gridSpan="2">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3910417"/>
                  </a:ext>
                </a:extLst>
              </a:tr>
              <a:tr h="33789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154610"/>
                  </a:ext>
                </a:extLst>
              </a:tr>
              <a:tr h="18288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4725734"/>
                  </a:ext>
                </a:extLst>
              </a:tr>
              <a:tr h="182880">
                <a:tc>
                  <a:txBody>
                    <a:bodyPr/>
                    <a:lstStyle/>
                    <a:p>
                      <a:pPr algn="ctr"/>
                      <a:r>
                        <a:rPr lang="en-US" altLang="zh-CN" dirty="0"/>
                        <a:t>z</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49950"/>
                  </a:ext>
                </a:extLst>
              </a:tr>
            </a:tbl>
          </a:graphicData>
        </a:graphic>
      </p:graphicFrame>
      <p:graphicFrame>
        <p:nvGraphicFramePr>
          <p:cNvPr id="133" name="表格 132"/>
          <p:cNvGraphicFramePr>
            <a:graphicFrameLocks noGrp="1"/>
          </p:cNvGraphicFramePr>
          <p:nvPr/>
        </p:nvGraphicFramePr>
        <p:xfrm>
          <a:off x="9989474" y="3839599"/>
          <a:ext cx="791766" cy="292608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val="3668216324"/>
                    </a:ext>
                  </a:extLst>
                </a:gridCol>
                <a:gridCol w="335848">
                  <a:extLst>
                    <a:ext uri="{9D8B030D-6E8A-4147-A177-3AD203B41FA5}">
                      <a16:colId xmlns:a16="http://schemas.microsoft.com/office/drawing/2014/main" val="2242425082"/>
                    </a:ext>
                  </a:extLst>
                </a:gridCol>
              </a:tblGrid>
              <a:tr h="333261">
                <a:tc gridSpan="2">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3910417"/>
                  </a:ext>
                </a:extLst>
              </a:tr>
              <a:tr h="337890">
                <a:tc>
                  <a:txBody>
                    <a:bodyPr/>
                    <a:lstStyle/>
                    <a:p>
                      <a:pPr algn="ctr"/>
                      <a:r>
                        <a:rPr lang="en-US" altLang="zh-CN" dirty="0"/>
                        <a:t>u</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154610"/>
                  </a:ext>
                </a:extLst>
              </a:tr>
              <a:tr h="0">
                <a:tc>
                  <a:txBody>
                    <a:bodyPr/>
                    <a:lstStyle/>
                    <a:p>
                      <a:pPr algn="ctr"/>
                      <a:r>
                        <a:rPr lang="en-US" altLang="zh-CN" dirty="0"/>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4725734"/>
                  </a:ext>
                </a:extLst>
              </a:tr>
              <a:tr h="27432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368547"/>
                  </a:ext>
                </a:extLst>
              </a:tr>
              <a:tr h="182880">
                <a:tc>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2586880"/>
                  </a:ext>
                </a:extLst>
              </a:tr>
              <a:tr h="0">
                <a:tc>
                  <a:txBody>
                    <a:bodyPr/>
                    <a:lstStyle/>
                    <a:p>
                      <a:pPr algn="ctr"/>
                      <a:r>
                        <a:rPr lang="en-US" altLang="zh-CN" dirty="0"/>
                        <a:t>z</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2939242"/>
                  </a:ext>
                </a:extLst>
              </a:tr>
            </a:tbl>
          </a:graphicData>
        </a:graphic>
      </p:graphicFrame>
      <p:grpSp>
        <p:nvGrpSpPr>
          <p:cNvPr id="4" name="组合 81">
            <a:extLst>
              <a:ext uri="{FF2B5EF4-FFF2-40B4-BE49-F238E27FC236}">
                <a16:creationId xmlns:a16="http://schemas.microsoft.com/office/drawing/2014/main" id="{1CDCC7D2-5A58-40F6-A980-4F5687D50887}"/>
              </a:ext>
            </a:extLst>
          </p:cNvPr>
          <p:cNvGrpSpPr>
            <a:grpSpLocks/>
          </p:cNvGrpSpPr>
          <p:nvPr/>
        </p:nvGrpSpPr>
        <p:grpSpPr bwMode="auto">
          <a:xfrm>
            <a:off x="2395936" y="3972650"/>
            <a:ext cx="3093647" cy="1766001"/>
            <a:chOff x="5019675" y="1700213"/>
            <a:chExt cx="3571875" cy="2241707"/>
          </a:xfrm>
        </p:grpSpPr>
        <p:sp>
          <p:nvSpPr>
            <p:cNvPr id="135" name="Freeform 9">
              <a:extLst>
                <a:ext uri="{FF2B5EF4-FFF2-40B4-BE49-F238E27FC236}">
                  <a16:creationId xmlns:a16="http://schemas.microsoft.com/office/drawing/2014/main" id="{9563830B-C2F9-4BBC-BA91-BAF438E67F1A}"/>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136" name="Freeform 10">
              <a:extLst>
                <a:ext uri="{FF2B5EF4-FFF2-40B4-BE49-F238E27FC236}">
                  <a16:creationId xmlns:a16="http://schemas.microsoft.com/office/drawing/2014/main" id="{63DAD518-4AE3-4C07-B0E2-2D78C597B388}"/>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37" name="Oval 11">
              <a:extLst>
                <a:ext uri="{FF2B5EF4-FFF2-40B4-BE49-F238E27FC236}">
                  <a16:creationId xmlns:a16="http://schemas.microsoft.com/office/drawing/2014/main" id="{8D8F1EC7-B064-4198-969D-56D1E2A57601}"/>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38" name="Line 12">
              <a:extLst>
                <a:ext uri="{FF2B5EF4-FFF2-40B4-BE49-F238E27FC236}">
                  <a16:creationId xmlns:a16="http://schemas.microsoft.com/office/drawing/2014/main" id="{29B86103-C7DA-4D84-B8BC-157FFDEC2439}"/>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39" name="Line 13">
              <a:extLst>
                <a:ext uri="{FF2B5EF4-FFF2-40B4-BE49-F238E27FC236}">
                  <a16:creationId xmlns:a16="http://schemas.microsoft.com/office/drawing/2014/main" id="{6384D352-D754-4707-B5FB-4F3D53FD5205}"/>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0" name="Rectangle 14">
              <a:extLst>
                <a:ext uri="{FF2B5EF4-FFF2-40B4-BE49-F238E27FC236}">
                  <a16:creationId xmlns:a16="http://schemas.microsoft.com/office/drawing/2014/main" id="{8694A2B7-A797-40E9-B900-A6C3A44D2714}"/>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41" name="Oval 15">
              <a:extLst>
                <a:ext uri="{FF2B5EF4-FFF2-40B4-BE49-F238E27FC236}">
                  <a16:creationId xmlns:a16="http://schemas.microsoft.com/office/drawing/2014/main" id="{8FB79A0A-8387-4B36-A488-E0CE7269228F}"/>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2" name="Oval 16">
              <a:extLst>
                <a:ext uri="{FF2B5EF4-FFF2-40B4-BE49-F238E27FC236}">
                  <a16:creationId xmlns:a16="http://schemas.microsoft.com/office/drawing/2014/main" id="{615F623D-47A6-44FF-8A6C-167590C80B63}"/>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3" name="Line 17">
              <a:extLst>
                <a:ext uri="{FF2B5EF4-FFF2-40B4-BE49-F238E27FC236}">
                  <a16:creationId xmlns:a16="http://schemas.microsoft.com/office/drawing/2014/main" id="{CF88C94D-F1DB-4D5D-9E49-2DADBC088987}"/>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4" name="Line 18">
              <a:extLst>
                <a:ext uri="{FF2B5EF4-FFF2-40B4-BE49-F238E27FC236}">
                  <a16:creationId xmlns:a16="http://schemas.microsoft.com/office/drawing/2014/main" id="{DEC070C4-BA2A-4C7A-A971-3C19B7EA1615}"/>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5" name="Rectangle 19">
              <a:extLst>
                <a:ext uri="{FF2B5EF4-FFF2-40B4-BE49-F238E27FC236}">
                  <a16:creationId xmlns:a16="http://schemas.microsoft.com/office/drawing/2014/main" id="{92CD3760-C7ED-40C1-BB5C-B4353D11DD42}"/>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46" name="Oval 20">
              <a:extLst>
                <a:ext uri="{FF2B5EF4-FFF2-40B4-BE49-F238E27FC236}">
                  <a16:creationId xmlns:a16="http://schemas.microsoft.com/office/drawing/2014/main" id="{C4A3CF8F-BB0F-42F3-82FC-4A51D745EA9F}"/>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7" name="Oval 21">
              <a:extLst>
                <a:ext uri="{FF2B5EF4-FFF2-40B4-BE49-F238E27FC236}">
                  <a16:creationId xmlns:a16="http://schemas.microsoft.com/office/drawing/2014/main" id="{D7A00CFF-9B28-4F20-9782-35912710014F}"/>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8" name="Line 22">
              <a:extLst>
                <a:ext uri="{FF2B5EF4-FFF2-40B4-BE49-F238E27FC236}">
                  <a16:creationId xmlns:a16="http://schemas.microsoft.com/office/drawing/2014/main" id="{77F15A57-C991-41FC-9B02-0F89C36A2D0F}"/>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9" name="Line 23">
              <a:extLst>
                <a:ext uri="{FF2B5EF4-FFF2-40B4-BE49-F238E27FC236}">
                  <a16:creationId xmlns:a16="http://schemas.microsoft.com/office/drawing/2014/main" id="{9F7FB95F-699C-42D3-B0BD-738FE1008E8B}"/>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0" name="Rectangle 24">
              <a:extLst>
                <a:ext uri="{FF2B5EF4-FFF2-40B4-BE49-F238E27FC236}">
                  <a16:creationId xmlns:a16="http://schemas.microsoft.com/office/drawing/2014/main" id="{10BE7DA2-3226-4259-9427-0218C3E21FD9}"/>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51" name="Oval 25">
              <a:extLst>
                <a:ext uri="{FF2B5EF4-FFF2-40B4-BE49-F238E27FC236}">
                  <a16:creationId xmlns:a16="http://schemas.microsoft.com/office/drawing/2014/main" id="{35EF89BB-D26B-49DA-BF9C-0794954F26D9}"/>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2" name="Oval 26">
              <a:extLst>
                <a:ext uri="{FF2B5EF4-FFF2-40B4-BE49-F238E27FC236}">
                  <a16:creationId xmlns:a16="http://schemas.microsoft.com/office/drawing/2014/main" id="{BF10A536-A17F-4858-999A-15D6E0DDD1A4}"/>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3" name="Line 27">
              <a:extLst>
                <a:ext uri="{FF2B5EF4-FFF2-40B4-BE49-F238E27FC236}">
                  <a16:creationId xmlns:a16="http://schemas.microsoft.com/office/drawing/2014/main" id="{EC40F1C8-6CEF-4D96-9774-AECB2B202FAD}"/>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4" name="Line 28">
              <a:extLst>
                <a:ext uri="{FF2B5EF4-FFF2-40B4-BE49-F238E27FC236}">
                  <a16:creationId xmlns:a16="http://schemas.microsoft.com/office/drawing/2014/main" id="{28B94BA9-B139-4E94-B9D0-BE551636EA38}"/>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5" name="Rectangle 29">
              <a:extLst>
                <a:ext uri="{FF2B5EF4-FFF2-40B4-BE49-F238E27FC236}">
                  <a16:creationId xmlns:a16="http://schemas.microsoft.com/office/drawing/2014/main" id="{F3329844-0B9E-4C95-8CA2-CE86E0E1DF70}"/>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56" name="Oval 30">
              <a:extLst>
                <a:ext uri="{FF2B5EF4-FFF2-40B4-BE49-F238E27FC236}">
                  <a16:creationId xmlns:a16="http://schemas.microsoft.com/office/drawing/2014/main" id="{6903EED8-378B-4F56-9323-E807AFF75244}"/>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7" name="Oval 31">
              <a:extLst>
                <a:ext uri="{FF2B5EF4-FFF2-40B4-BE49-F238E27FC236}">
                  <a16:creationId xmlns:a16="http://schemas.microsoft.com/office/drawing/2014/main" id="{AB47FD70-D305-4538-8EEC-92FD26C3510A}"/>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8" name="Line 32">
              <a:extLst>
                <a:ext uri="{FF2B5EF4-FFF2-40B4-BE49-F238E27FC236}">
                  <a16:creationId xmlns:a16="http://schemas.microsoft.com/office/drawing/2014/main" id="{CD546D9D-AA06-4E51-A3E5-29383E451071}"/>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9" name="Line 33">
              <a:extLst>
                <a:ext uri="{FF2B5EF4-FFF2-40B4-BE49-F238E27FC236}">
                  <a16:creationId xmlns:a16="http://schemas.microsoft.com/office/drawing/2014/main" id="{3930AF53-574B-470D-847E-7BD79F74E27D}"/>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60" name="Rectangle 34">
              <a:extLst>
                <a:ext uri="{FF2B5EF4-FFF2-40B4-BE49-F238E27FC236}">
                  <a16:creationId xmlns:a16="http://schemas.microsoft.com/office/drawing/2014/main" id="{C3673E88-9A20-4D7D-A692-ECFFAF59F687}"/>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61" name="Oval 35">
              <a:extLst>
                <a:ext uri="{FF2B5EF4-FFF2-40B4-BE49-F238E27FC236}">
                  <a16:creationId xmlns:a16="http://schemas.microsoft.com/office/drawing/2014/main" id="{CA06EEF7-783A-4648-916F-A56112ECA512}"/>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62" name="Oval 36">
              <a:extLst>
                <a:ext uri="{FF2B5EF4-FFF2-40B4-BE49-F238E27FC236}">
                  <a16:creationId xmlns:a16="http://schemas.microsoft.com/office/drawing/2014/main" id="{D6ADA16F-A52C-4A45-884C-12B7405609E6}"/>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63" name="Line 37">
              <a:extLst>
                <a:ext uri="{FF2B5EF4-FFF2-40B4-BE49-F238E27FC236}">
                  <a16:creationId xmlns:a16="http://schemas.microsoft.com/office/drawing/2014/main" id="{1E5104F5-B91F-4CBD-9841-C8508C7DC589}"/>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64" name="Line 38">
              <a:extLst>
                <a:ext uri="{FF2B5EF4-FFF2-40B4-BE49-F238E27FC236}">
                  <a16:creationId xmlns:a16="http://schemas.microsoft.com/office/drawing/2014/main" id="{5AA58719-243D-4635-899F-3BE89D775617}"/>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65" name="Rectangle 39">
              <a:extLst>
                <a:ext uri="{FF2B5EF4-FFF2-40B4-BE49-F238E27FC236}">
                  <a16:creationId xmlns:a16="http://schemas.microsoft.com/office/drawing/2014/main" id="{3C103B56-D680-4284-87BA-48B1AE7108D2}"/>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66" name="Oval 40">
              <a:extLst>
                <a:ext uri="{FF2B5EF4-FFF2-40B4-BE49-F238E27FC236}">
                  <a16:creationId xmlns:a16="http://schemas.microsoft.com/office/drawing/2014/main" id="{E4478978-19E3-4596-9465-18A7A02734E3}"/>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67" name="Freeform 41">
              <a:extLst>
                <a:ext uri="{FF2B5EF4-FFF2-40B4-BE49-F238E27FC236}">
                  <a16:creationId xmlns:a16="http://schemas.microsoft.com/office/drawing/2014/main" id="{0EDDEAEA-14FB-46F8-8AF6-E3AB5F4CA15F}"/>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68" name="Freeform 42">
              <a:extLst>
                <a:ext uri="{FF2B5EF4-FFF2-40B4-BE49-F238E27FC236}">
                  <a16:creationId xmlns:a16="http://schemas.microsoft.com/office/drawing/2014/main" id="{FFAE69DE-E4FD-4BA3-A633-82A2333BE715}"/>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69" name="Freeform 43">
              <a:extLst>
                <a:ext uri="{FF2B5EF4-FFF2-40B4-BE49-F238E27FC236}">
                  <a16:creationId xmlns:a16="http://schemas.microsoft.com/office/drawing/2014/main" id="{F179F000-C297-416A-9EEC-0CA76441C48A}"/>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0" name="Freeform 44">
              <a:extLst>
                <a:ext uri="{FF2B5EF4-FFF2-40B4-BE49-F238E27FC236}">
                  <a16:creationId xmlns:a16="http://schemas.microsoft.com/office/drawing/2014/main" id="{FB84210E-76CC-4D73-86D4-3F92606C11C8}"/>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1" name="Freeform 45">
              <a:extLst>
                <a:ext uri="{FF2B5EF4-FFF2-40B4-BE49-F238E27FC236}">
                  <a16:creationId xmlns:a16="http://schemas.microsoft.com/office/drawing/2014/main" id="{D4068205-CA0D-4DC0-A5D7-922F26FCFA7D}"/>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2" name="Freeform 46">
              <a:extLst>
                <a:ext uri="{FF2B5EF4-FFF2-40B4-BE49-F238E27FC236}">
                  <a16:creationId xmlns:a16="http://schemas.microsoft.com/office/drawing/2014/main" id="{D16452AD-7E57-4722-9319-1A4E00893358}"/>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3" name="Freeform 47">
              <a:extLst>
                <a:ext uri="{FF2B5EF4-FFF2-40B4-BE49-F238E27FC236}">
                  <a16:creationId xmlns:a16="http://schemas.microsoft.com/office/drawing/2014/main" id="{A22BF8C7-2B36-4B75-AF60-86957496869C}"/>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4" name="Freeform 48">
              <a:extLst>
                <a:ext uri="{FF2B5EF4-FFF2-40B4-BE49-F238E27FC236}">
                  <a16:creationId xmlns:a16="http://schemas.microsoft.com/office/drawing/2014/main" id="{C2C23B97-8BE2-46AE-B61C-745DBCFE79AD}"/>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5" name="Freeform 49">
              <a:extLst>
                <a:ext uri="{FF2B5EF4-FFF2-40B4-BE49-F238E27FC236}">
                  <a16:creationId xmlns:a16="http://schemas.microsoft.com/office/drawing/2014/main" id="{ABC6106E-DC27-4587-A237-9A91969B89FC}"/>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grpSp>
          <p:nvGrpSpPr>
            <p:cNvPr id="5" name="Group 50">
              <a:extLst>
                <a:ext uri="{FF2B5EF4-FFF2-40B4-BE49-F238E27FC236}">
                  <a16:creationId xmlns:a16="http://schemas.microsoft.com/office/drawing/2014/main" id="{6C60B116-B7CA-414D-8048-91B0420E4641}"/>
                </a:ext>
              </a:extLst>
            </p:cNvPr>
            <p:cNvGrpSpPr>
              <a:grpSpLocks/>
            </p:cNvGrpSpPr>
            <p:nvPr/>
          </p:nvGrpSpPr>
          <p:grpSpPr bwMode="auto">
            <a:xfrm>
              <a:off x="5222539" y="2774952"/>
              <a:ext cx="318166" cy="400050"/>
              <a:chOff x="2957" y="2429"/>
              <a:chExt cx="203" cy="252"/>
            </a:xfrm>
          </p:grpSpPr>
          <p:sp>
            <p:nvSpPr>
              <p:cNvPr id="202" name="Rectangle 51">
                <a:extLst>
                  <a:ext uri="{FF2B5EF4-FFF2-40B4-BE49-F238E27FC236}">
                    <a16:creationId xmlns:a16="http://schemas.microsoft.com/office/drawing/2014/main" id="{F31A6421-F347-4DFA-A977-F8A3ABD6EAB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203" name="Text Box 52">
                <a:extLst>
                  <a:ext uri="{FF2B5EF4-FFF2-40B4-BE49-F238E27FC236}">
                    <a16:creationId xmlns:a16="http://schemas.microsoft.com/office/drawing/2014/main" id="{46F821B5-0AA5-4606-9EBB-96D91A6DDADA}"/>
                  </a:ext>
                </a:extLst>
              </p:cNvPr>
              <p:cNvSpPr txBox="1">
                <a:spLocks noChangeArrowheads="1"/>
              </p:cNvSpPr>
              <p:nvPr/>
            </p:nvSpPr>
            <p:spPr bwMode="auto">
              <a:xfrm>
                <a:off x="2957" y="2429"/>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u</a:t>
                </a:r>
                <a:endParaRPr lang="en-US" altLang="zh-CN" sz="1400">
                  <a:solidFill>
                    <a:schemeClr val="bg1"/>
                  </a:solidFill>
                </a:endParaRPr>
              </a:p>
            </p:txBody>
          </p:sp>
        </p:grpSp>
        <p:grpSp>
          <p:nvGrpSpPr>
            <p:cNvPr id="6" name="Group 53">
              <a:extLst>
                <a:ext uri="{FF2B5EF4-FFF2-40B4-BE49-F238E27FC236}">
                  <a16:creationId xmlns:a16="http://schemas.microsoft.com/office/drawing/2014/main" id="{8F5AC420-0F68-4C80-A553-1BFE54D18228}"/>
                </a:ext>
              </a:extLst>
            </p:cNvPr>
            <p:cNvGrpSpPr>
              <a:grpSpLocks/>
            </p:cNvGrpSpPr>
            <p:nvPr/>
          </p:nvGrpSpPr>
          <p:grpSpPr bwMode="auto">
            <a:xfrm>
              <a:off x="7078475" y="3340104"/>
              <a:ext cx="317847" cy="400050"/>
              <a:chOff x="2956" y="2401"/>
              <a:chExt cx="203" cy="252"/>
            </a:xfrm>
          </p:grpSpPr>
          <p:sp>
            <p:nvSpPr>
              <p:cNvPr id="200" name="Rectangle 54">
                <a:extLst>
                  <a:ext uri="{FF2B5EF4-FFF2-40B4-BE49-F238E27FC236}">
                    <a16:creationId xmlns:a16="http://schemas.microsoft.com/office/drawing/2014/main" id="{213B0733-1919-4E59-9647-E6F471CCBF3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201" name="Text Box 55">
                <a:extLst>
                  <a:ext uri="{FF2B5EF4-FFF2-40B4-BE49-F238E27FC236}">
                    <a16:creationId xmlns:a16="http://schemas.microsoft.com/office/drawing/2014/main" id="{70AD052B-10FE-403F-87A9-327BC18C2D9B}"/>
                  </a:ext>
                </a:extLst>
              </p:cNvPr>
              <p:cNvSpPr txBox="1">
                <a:spLocks noChangeArrowheads="1"/>
              </p:cNvSpPr>
              <p:nvPr/>
            </p:nvSpPr>
            <p:spPr bwMode="auto">
              <a:xfrm>
                <a:off x="2956" y="2401"/>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Comic Sans MS" panose="030F0702030302020204" pitchFamily="66" charset="0"/>
                  </a:rPr>
                  <a:t>y</a:t>
                </a:r>
                <a:endParaRPr lang="en-US" altLang="zh-CN" sz="1400" dirty="0">
                  <a:solidFill>
                    <a:schemeClr val="bg1"/>
                  </a:solidFill>
                </a:endParaRPr>
              </a:p>
            </p:txBody>
          </p:sp>
        </p:grpSp>
        <p:grpSp>
          <p:nvGrpSpPr>
            <p:cNvPr id="7" name="Group 56">
              <a:extLst>
                <a:ext uri="{FF2B5EF4-FFF2-40B4-BE49-F238E27FC236}">
                  <a16:creationId xmlns:a16="http://schemas.microsoft.com/office/drawing/2014/main" id="{617A1D96-D053-4DFF-ACC3-A0927F5B3D5C}"/>
                </a:ext>
              </a:extLst>
            </p:cNvPr>
            <p:cNvGrpSpPr>
              <a:grpSpLocks/>
            </p:cNvGrpSpPr>
            <p:nvPr/>
          </p:nvGrpSpPr>
          <p:grpSpPr bwMode="auto">
            <a:xfrm>
              <a:off x="5989434" y="3379790"/>
              <a:ext cx="335369" cy="400050"/>
              <a:chOff x="2951" y="2429"/>
              <a:chExt cx="214" cy="252"/>
            </a:xfrm>
          </p:grpSpPr>
          <p:sp>
            <p:nvSpPr>
              <p:cNvPr id="198" name="Rectangle 57">
                <a:extLst>
                  <a:ext uri="{FF2B5EF4-FFF2-40B4-BE49-F238E27FC236}">
                    <a16:creationId xmlns:a16="http://schemas.microsoft.com/office/drawing/2014/main" id="{387B831A-994A-4F54-8F1C-34C3403788E7}"/>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9" name="Text Box 58">
                <a:extLst>
                  <a:ext uri="{FF2B5EF4-FFF2-40B4-BE49-F238E27FC236}">
                    <a16:creationId xmlns:a16="http://schemas.microsoft.com/office/drawing/2014/main" id="{2976F1F3-3647-48A2-9089-E4417C4A6F57}"/>
                  </a:ext>
                </a:extLst>
              </p:cNvPr>
              <p:cNvSpPr txBox="1">
                <a:spLocks noChangeArrowheads="1"/>
              </p:cNvSpPr>
              <p:nvPr/>
            </p:nvSpPr>
            <p:spPr bwMode="auto">
              <a:xfrm>
                <a:off x="2951" y="2429"/>
                <a:ext cx="2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x</a:t>
                </a:r>
                <a:endParaRPr lang="en-US" altLang="zh-CN" sz="1400">
                  <a:solidFill>
                    <a:schemeClr val="bg1"/>
                  </a:solidFill>
                </a:endParaRPr>
              </a:p>
            </p:txBody>
          </p:sp>
        </p:grpSp>
        <p:grpSp>
          <p:nvGrpSpPr>
            <p:cNvPr id="8" name="Group 59">
              <a:extLst>
                <a:ext uri="{FF2B5EF4-FFF2-40B4-BE49-F238E27FC236}">
                  <a16:creationId xmlns:a16="http://schemas.microsoft.com/office/drawing/2014/main" id="{7912A066-2DFD-4595-979F-62E41AE77344}"/>
                </a:ext>
              </a:extLst>
            </p:cNvPr>
            <p:cNvGrpSpPr>
              <a:grpSpLocks/>
            </p:cNvGrpSpPr>
            <p:nvPr/>
          </p:nvGrpSpPr>
          <p:grpSpPr bwMode="auto">
            <a:xfrm>
              <a:off x="7048652" y="2289177"/>
              <a:ext cx="360030" cy="400050"/>
              <a:chOff x="2943" y="2429"/>
              <a:chExt cx="230" cy="252"/>
            </a:xfrm>
          </p:grpSpPr>
          <p:sp>
            <p:nvSpPr>
              <p:cNvPr id="196" name="Rectangle 60">
                <a:extLst>
                  <a:ext uri="{FF2B5EF4-FFF2-40B4-BE49-F238E27FC236}">
                    <a16:creationId xmlns:a16="http://schemas.microsoft.com/office/drawing/2014/main" id="{D34E4AF4-FEAF-4F75-A9EF-B659A9B33F3E}"/>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7" name="Text Box 61">
                <a:extLst>
                  <a:ext uri="{FF2B5EF4-FFF2-40B4-BE49-F238E27FC236}">
                    <a16:creationId xmlns:a16="http://schemas.microsoft.com/office/drawing/2014/main" id="{CDD12471-0FC1-437C-8274-6D6FC89600A0}"/>
                  </a:ext>
                </a:extLst>
              </p:cNvPr>
              <p:cNvSpPr txBox="1">
                <a:spLocks noChangeArrowheads="1"/>
              </p:cNvSpPr>
              <p:nvPr/>
            </p:nvSpPr>
            <p:spPr bwMode="auto">
              <a:xfrm>
                <a:off x="2943" y="2429"/>
                <a:ext cx="2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w</a:t>
                </a:r>
                <a:endParaRPr lang="en-US" altLang="zh-CN" sz="1400">
                  <a:solidFill>
                    <a:schemeClr val="bg1"/>
                  </a:solidFill>
                </a:endParaRPr>
              </a:p>
            </p:txBody>
          </p:sp>
        </p:grpSp>
        <p:grpSp>
          <p:nvGrpSpPr>
            <p:cNvPr id="9" name="Group 62">
              <a:extLst>
                <a:ext uri="{FF2B5EF4-FFF2-40B4-BE49-F238E27FC236}">
                  <a16:creationId xmlns:a16="http://schemas.microsoft.com/office/drawing/2014/main" id="{03DE8D17-C117-4FEF-A2AB-2CC1EDA5C10E}"/>
                </a:ext>
              </a:extLst>
            </p:cNvPr>
            <p:cNvGrpSpPr>
              <a:grpSpLocks/>
            </p:cNvGrpSpPr>
            <p:nvPr/>
          </p:nvGrpSpPr>
          <p:grpSpPr bwMode="auto">
            <a:xfrm>
              <a:off x="5986247" y="2289177"/>
              <a:ext cx="313170" cy="390525"/>
              <a:chOff x="2958" y="2429"/>
              <a:chExt cx="200" cy="246"/>
            </a:xfrm>
          </p:grpSpPr>
          <p:sp>
            <p:nvSpPr>
              <p:cNvPr id="194" name="Rectangle 63">
                <a:extLst>
                  <a:ext uri="{FF2B5EF4-FFF2-40B4-BE49-F238E27FC236}">
                    <a16:creationId xmlns:a16="http://schemas.microsoft.com/office/drawing/2014/main" id="{11636535-9CC8-4E71-ADE8-3A6FD31DEC25}"/>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5" name="Text Box 64">
                <a:extLst>
                  <a:ext uri="{FF2B5EF4-FFF2-40B4-BE49-F238E27FC236}">
                    <a16:creationId xmlns:a16="http://schemas.microsoft.com/office/drawing/2014/main" id="{74143581-A4D5-4932-87DA-E4DCF197B642}"/>
                  </a:ext>
                </a:extLst>
              </p:cNvPr>
              <p:cNvSpPr txBox="1">
                <a:spLocks noChangeArrowheads="1"/>
              </p:cNvSpPr>
              <p:nvPr/>
            </p:nvSpPr>
            <p:spPr bwMode="auto">
              <a:xfrm>
                <a:off x="2958" y="2429"/>
                <a:ext cx="200"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v</a:t>
                </a:r>
                <a:endParaRPr lang="en-US" altLang="zh-CN" sz="1400">
                  <a:solidFill>
                    <a:schemeClr val="bg1"/>
                  </a:solidFill>
                </a:endParaRPr>
              </a:p>
            </p:txBody>
          </p:sp>
        </p:grpSp>
        <p:grpSp>
          <p:nvGrpSpPr>
            <p:cNvPr id="10" name="Group 65">
              <a:extLst>
                <a:ext uri="{FF2B5EF4-FFF2-40B4-BE49-F238E27FC236}">
                  <a16:creationId xmlns:a16="http://schemas.microsoft.com/office/drawing/2014/main" id="{FCB2FC21-27BB-4645-AE15-B52E5C0921A3}"/>
                </a:ext>
              </a:extLst>
            </p:cNvPr>
            <p:cNvGrpSpPr>
              <a:grpSpLocks/>
            </p:cNvGrpSpPr>
            <p:nvPr/>
          </p:nvGrpSpPr>
          <p:grpSpPr bwMode="auto">
            <a:xfrm>
              <a:off x="7985023" y="2841627"/>
              <a:ext cx="322483" cy="400050"/>
              <a:chOff x="2954" y="2429"/>
              <a:chExt cx="206" cy="252"/>
            </a:xfrm>
          </p:grpSpPr>
          <p:sp>
            <p:nvSpPr>
              <p:cNvPr id="192" name="Rectangle 66">
                <a:extLst>
                  <a:ext uri="{FF2B5EF4-FFF2-40B4-BE49-F238E27FC236}">
                    <a16:creationId xmlns:a16="http://schemas.microsoft.com/office/drawing/2014/main" id="{41F4D477-57AA-4007-AA45-4D53B66AE60F}"/>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3" name="Text Box 67">
                <a:extLst>
                  <a:ext uri="{FF2B5EF4-FFF2-40B4-BE49-F238E27FC236}">
                    <a16:creationId xmlns:a16="http://schemas.microsoft.com/office/drawing/2014/main" id="{413CD95E-5735-49C2-BB43-205FDADB9244}"/>
                  </a:ext>
                </a:extLst>
              </p:cNvPr>
              <p:cNvSpPr txBox="1">
                <a:spLocks noChangeArrowheads="1"/>
              </p:cNvSpPr>
              <p:nvPr/>
            </p:nvSpPr>
            <p:spPr bwMode="auto">
              <a:xfrm>
                <a:off x="2954" y="2429"/>
                <a:ext cx="20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z</a:t>
                </a:r>
                <a:endParaRPr lang="en-US" altLang="zh-CN" sz="1400">
                  <a:solidFill>
                    <a:schemeClr val="bg1"/>
                  </a:solidFill>
                </a:endParaRPr>
              </a:p>
            </p:txBody>
          </p:sp>
        </p:grpSp>
        <p:sp>
          <p:nvSpPr>
            <p:cNvPr id="182" name="Text Box 68">
              <a:extLst>
                <a:ext uri="{FF2B5EF4-FFF2-40B4-BE49-F238E27FC236}">
                  <a16:creationId xmlns:a16="http://schemas.microsoft.com/office/drawing/2014/main" id="{21B24430-5A71-443C-8BD3-1A8E29A90A6A}"/>
                </a:ext>
              </a:extLst>
            </p:cNvPr>
            <p:cNvSpPr txBox="1">
              <a:spLocks noChangeArrowheads="1"/>
            </p:cNvSpPr>
            <p:nvPr/>
          </p:nvSpPr>
          <p:spPr bwMode="auto">
            <a:xfrm>
              <a:off x="5531179" y="2493963"/>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2</a:t>
              </a:r>
              <a:endParaRPr lang="en-US" altLang="zh-CN" sz="1400">
                <a:solidFill>
                  <a:schemeClr val="bg1"/>
                </a:solidFill>
              </a:endParaRPr>
            </a:p>
          </p:txBody>
        </p:sp>
        <p:sp>
          <p:nvSpPr>
            <p:cNvPr id="183" name="Text Box 69">
              <a:extLst>
                <a:ext uri="{FF2B5EF4-FFF2-40B4-BE49-F238E27FC236}">
                  <a16:creationId xmlns:a16="http://schemas.microsoft.com/office/drawing/2014/main" id="{9CC5AA13-8D59-424B-B595-D44AEB640BEA}"/>
                </a:ext>
              </a:extLst>
            </p:cNvPr>
            <p:cNvSpPr txBox="1">
              <a:spLocks noChangeArrowheads="1"/>
            </p:cNvSpPr>
            <p:nvPr/>
          </p:nvSpPr>
          <p:spPr bwMode="auto">
            <a:xfrm>
              <a:off x="6083630" y="2841625"/>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2</a:t>
              </a:r>
              <a:endParaRPr lang="en-US" altLang="zh-CN" sz="1400">
                <a:solidFill>
                  <a:schemeClr val="bg1"/>
                </a:solidFill>
              </a:endParaRPr>
            </a:p>
          </p:txBody>
        </p:sp>
        <p:sp>
          <p:nvSpPr>
            <p:cNvPr id="184" name="Text Box 70">
              <a:extLst>
                <a:ext uri="{FF2B5EF4-FFF2-40B4-BE49-F238E27FC236}">
                  <a16:creationId xmlns:a16="http://schemas.microsoft.com/office/drawing/2014/main" id="{A66D1709-F8BC-49B2-99A1-5B39EA92039A}"/>
                </a:ext>
              </a:extLst>
            </p:cNvPr>
            <p:cNvSpPr txBox="1">
              <a:spLocks noChangeArrowheads="1"/>
            </p:cNvSpPr>
            <p:nvPr/>
          </p:nvSpPr>
          <p:spPr bwMode="auto">
            <a:xfrm>
              <a:off x="5408930" y="3179763"/>
              <a:ext cx="305752"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1</a:t>
              </a:r>
              <a:endParaRPr lang="en-US" altLang="zh-CN" sz="1400">
                <a:solidFill>
                  <a:schemeClr val="bg1"/>
                </a:solidFill>
              </a:endParaRPr>
            </a:p>
          </p:txBody>
        </p:sp>
        <p:sp>
          <p:nvSpPr>
            <p:cNvPr id="185" name="Text Box 71">
              <a:extLst>
                <a:ext uri="{FF2B5EF4-FFF2-40B4-BE49-F238E27FC236}">
                  <a16:creationId xmlns:a16="http://schemas.microsoft.com/office/drawing/2014/main" id="{FC1A2C86-6D4D-4DDD-B94C-B79C2072E751}"/>
                </a:ext>
              </a:extLst>
            </p:cNvPr>
            <p:cNvSpPr txBox="1">
              <a:spLocks noChangeArrowheads="1"/>
            </p:cNvSpPr>
            <p:nvPr/>
          </p:nvSpPr>
          <p:spPr bwMode="auto">
            <a:xfrm>
              <a:off x="6693229" y="2989262"/>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Comic Sans MS" panose="030F0702030302020204" pitchFamily="66" charset="0"/>
                </a:rPr>
                <a:t>3</a:t>
              </a:r>
              <a:endParaRPr lang="en-US" altLang="zh-CN" sz="1400" dirty="0">
                <a:solidFill>
                  <a:schemeClr val="bg1"/>
                </a:solidFill>
              </a:endParaRPr>
            </a:p>
          </p:txBody>
        </p:sp>
        <p:sp>
          <p:nvSpPr>
            <p:cNvPr id="186" name="Text Box 72">
              <a:extLst>
                <a:ext uri="{FF2B5EF4-FFF2-40B4-BE49-F238E27FC236}">
                  <a16:creationId xmlns:a16="http://schemas.microsoft.com/office/drawing/2014/main" id="{BFA8A0D1-A893-4EDB-A226-559241FB9EBE}"/>
                </a:ext>
              </a:extLst>
            </p:cNvPr>
            <p:cNvSpPr txBox="1">
              <a:spLocks noChangeArrowheads="1"/>
            </p:cNvSpPr>
            <p:nvPr/>
          </p:nvSpPr>
          <p:spPr bwMode="auto">
            <a:xfrm>
              <a:off x="6609080" y="3551237"/>
              <a:ext cx="305752"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1</a:t>
              </a:r>
              <a:endParaRPr lang="en-US" altLang="zh-CN" sz="1400">
                <a:solidFill>
                  <a:schemeClr val="bg1"/>
                </a:solidFill>
              </a:endParaRPr>
            </a:p>
          </p:txBody>
        </p:sp>
        <p:sp>
          <p:nvSpPr>
            <p:cNvPr id="187" name="Text Box 73">
              <a:extLst>
                <a:ext uri="{FF2B5EF4-FFF2-40B4-BE49-F238E27FC236}">
                  <a16:creationId xmlns:a16="http://schemas.microsoft.com/office/drawing/2014/main" id="{C8E699B2-F953-4B70-9CF0-4BEC45657DF5}"/>
                </a:ext>
              </a:extLst>
            </p:cNvPr>
            <p:cNvSpPr txBox="1">
              <a:spLocks noChangeArrowheads="1"/>
            </p:cNvSpPr>
            <p:nvPr/>
          </p:nvSpPr>
          <p:spPr bwMode="auto">
            <a:xfrm>
              <a:off x="7180580" y="2870201"/>
              <a:ext cx="305752"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1</a:t>
              </a:r>
              <a:endParaRPr lang="en-US" altLang="zh-CN" sz="1400">
                <a:solidFill>
                  <a:schemeClr val="bg1"/>
                </a:solidFill>
              </a:endParaRPr>
            </a:p>
          </p:txBody>
        </p:sp>
        <p:sp>
          <p:nvSpPr>
            <p:cNvPr id="188" name="Text Box 74">
              <a:extLst>
                <a:ext uri="{FF2B5EF4-FFF2-40B4-BE49-F238E27FC236}">
                  <a16:creationId xmlns:a16="http://schemas.microsoft.com/office/drawing/2014/main" id="{3A7ED065-26A5-4C45-A614-ADE2E35342F1}"/>
                </a:ext>
              </a:extLst>
            </p:cNvPr>
            <p:cNvSpPr txBox="1">
              <a:spLocks noChangeArrowheads="1"/>
            </p:cNvSpPr>
            <p:nvPr/>
          </p:nvSpPr>
          <p:spPr bwMode="auto">
            <a:xfrm>
              <a:off x="7736216" y="3289301"/>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2</a:t>
              </a:r>
              <a:endParaRPr lang="en-US" altLang="zh-CN" sz="1400">
                <a:solidFill>
                  <a:schemeClr val="bg1"/>
                </a:solidFill>
              </a:endParaRPr>
            </a:p>
          </p:txBody>
        </p:sp>
        <p:sp>
          <p:nvSpPr>
            <p:cNvPr id="189" name="Text Box 75">
              <a:extLst>
                <a:ext uri="{FF2B5EF4-FFF2-40B4-BE49-F238E27FC236}">
                  <a16:creationId xmlns:a16="http://schemas.microsoft.com/office/drawing/2014/main" id="{E961B420-12E9-46DD-B78A-D64BA416B219}"/>
                </a:ext>
              </a:extLst>
            </p:cNvPr>
            <p:cNvSpPr txBox="1">
              <a:spLocks noChangeArrowheads="1"/>
            </p:cNvSpPr>
            <p:nvPr/>
          </p:nvSpPr>
          <p:spPr bwMode="auto">
            <a:xfrm>
              <a:off x="7693354" y="2436813"/>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5</a:t>
              </a:r>
              <a:endParaRPr lang="en-US" altLang="zh-CN" sz="1400">
                <a:solidFill>
                  <a:schemeClr val="bg1"/>
                </a:solidFill>
              </a:endParaRPr>
            </a:p>
          </p:txBody>
        </p:sp>
        <p:sp>
          <p:nvSpPr>
            <p:cNvPr id="190" name="Text Box 76">
              <a:extLst>
                <a:ext uri="{FF2B5EF4-FFF2-40B4-BE49-F238E27FC236}">
                  <a16:creationId xmlns:a16="http://schemas.microsoft.com/office/drawing/2014/main" id="{AB2489FE-0AC0-4872-9189-FA17CA6E6B01}"/>
                </a:ext>
              </a:extLst>
            </p:cNvPr>
            <p:cNvSpPr txBox="1">
              <a:spLocks noChangeArrowheads="1"/>
            </p:cNvSpPr>
            <p:nvPr/>
          </p:nvSpPr>
          <p:spPr bwMode="auto">
            <a:xfrm>
              <a:off x="6526541" y="2198688"/>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3</a:t>
              </a:r>
              <a:endParaRPr lang="en-US" altLang="zh-CN" sz="1400">
                <a:solidFill>
                  <a:schemeClr val="bg1"/>
                </a:solidFill>
              </a:endParaRPr>
            </a:p>
          </p:txBody>
        </p:sp>
        <p:sp>
          <p:nvSpPr>
            <p:cNvPr id="191" name="Text Box 77">
              <a:extLst>
                <a:ext uri="{FF2B5EF4-FFF2-40B4-BE49-F238E27FC236}">
                  <a16:creationId xmlns:a16="http://schemas.microsoft.com/office/drawing/2014/main" id="{6FB0D252-BEA4-46FF-911D-CE3EA4920AF0}"/>
                </a:ext>
              </a:extLst>
            </p:cNvPr>
            <p:cNvSpPr txBox="1">
              <a:spLocks noChangeArrowheads="1"/>
            </p:cNvSpPr>
            <p:nvPr/>
          </p:nvSpPr>
          <p:spPr bwMode="auto">
            <a:xfrm>
              <a:off x="5969329" y="1774825"/>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5</a:t>
              </a:r>
              <a:endParaRPr lang="en-US" altLang="zh-CN" sz="1400">
                <a:solidFill>
                  <a:schemeClr val="bg1"/>
                </a:solidFill>
              </a:endParaRPr>
            </a:p>
          </p:txBody>
        </p:sp>
      </p:grpSp>
      <p:graphicFrame>
        <p:nvGraphicFramePr>
          <p:cNvPr id="204" name="表格 203"/>
          <p:cNvGraphicFramePr>
            <a:graphicFrameLocks noGrp="1"/>
          </p:cNvGraphicFramePr>
          <p:nvPr/>
        </p:nvGraphicFramePr>
        <p:xfrm>
          <a:off x="11130852" y="3845505"/>
          <a:ext cx="791766" cy="182880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val="3668216324"/>
                    </a:ext>
                  </a:extLst>
                </a:gridCol>
                <a:gridCol w="335848">
                  <a:extLst>
                    <a:ext uri="{9D8B030D-6E8A-4147-A177-3AD203B41FA5}">
                      <a16:colId xmlns:a16="http://schemas.microsoft.com/office/drawing/2014/main" val="2242425082"/>
                    </a:ext>
                  </a:extLst>
                </a:gridCol>
              </a:tblGrid>
              <a:tr h="333261">
                <a:tc gridSpan="2">
                  <a:txBody>
                    <a:bodyPr/>
                    <a:lstStyle/>
                    <a:p>
                      <a:pPr algn="ctr"/>
                      <a:r>
                        <a:rPr lang="en-US" altLang="zh-CN" dirty="0"/>
                        <a:t>z</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val="213910417"/>
                  </a:ext>
                </a:extLst>
              </a:tr>
              <a:tr h="33789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154610"/>
                  </a:ext>
                </a:extLst>
              </a:tr>
              <a:tr h="337890">
                <a:tc>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4725734"/>
                  </a:ext>
                </a:extLst>
              </a:tr>
            </a:tbl>
          </a:graphicData>
        </a:graphic>
      </p:graphicFrame>
      <p:sp>
        <p:nvSpPr>
          <p:cNvPr id="81"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sp>
        <p:nvSpPr>
          <p:cNvPr id="82" name="灯片编号占位符 3">
            <a:extLst>
              <a:ext uri="{FF2B5EF4-FFF2-40B4-BE49-F238E27FC236}">
                <a16:creationId xmlns:a16="http://schemas.microsoft.com/office/drawing/2014/main" id="{8C9D3AE5-31C3-2C4F-BCE5-0661C3EEAD7D}"/>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44</a:t>
            </a:fld>
            <a:endParaRPr kumimoji="1" lang="zh-CN" altLang="en-US" dirty="0"/>
          </a:p>
        </p:txBody>
      </p:sp>
      <p:pic>
        <p:nvPicPr>
          <p:cNvPr id="83" name="Picture 28" descr="015">
            <a:extLst>
              <a:ext uri="{FF2B5EF4-FFF2-40B4-BE49-F238E27FC236}">
                <a16:creationId xmlns:a16="http://schemas.microsoft.com/office/drawing/2014/main" id="{4286C017-963E-4AB9-9678-C7F1B9E0935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089903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4.</a:t>
            </a:r>
            <a:r>
              <a:rPr lang="zh-CN" altLang="en-US" dirty="0"/>
              <a:t>将</a:t>
            </a:r>
            <a:r>
              <a:rPr lang="en-US" altLang="zh-CN" dirty="0"/>
              <a:t>LSP</a:t>
            </a:r>
            <a:r>
              <a:rPr lang="zh-CN" altLang="en-US" dirty="0"/>
              <a:t>分组</a:t>
            </a:r>
            <a:r>
              <a:rPr lang="zh-CN" altLang="en-US" dirty="0">
                <a:solidFill>
                  <a:srgbClr val="5C307E"/>
                </a:solidFill>
              </a:rPr>
              <a:t>发送</a:t>
            </a:r>
            <a:r>
              <a:rPr lang="zh-CN" altLang="en-US" dirty="0"/>
              <a:t>给其他的路由器</a:t>
            </a:r>
            <a:endParaRPr lang="en-US" altLang="zh-CN" dirty="0"/>
          </a:p>
          <a:p>
            <a:pPr lvl="1"/>
            <a:r>
              <a:rPr lang="zh-CN" altLang="en-US" dirty="0"/>
              <a:t>每个</a:t>
            </a:r>
            <a:r>
              <a:rPr lang="en-US" altLang="zh-CN" dirty="0"/>
              <a:t>LSP</a:t>
            </a:r>
            <a:r>
              <a:rPr lang="zh-CN" altLang="en-US" dirty="0"/>
              <a:t>分组包含一个序列号，且递增</a:t>
            </a:r>
            <a:endParaRPr lang="en-US" altLang="zh-CN" dirty="0"/>
          </a:p>
          <a:p>
            <a:pPr lvl="1"/>
            <a:r>
              <a:rPr lang="zh-CN" altLang="en-US" dirty="0"/>
              <a:t>路由器记录所收到的所有（源路由器、序列号）对</a:t>
            </a:r>
            <a:endParaRPr lang="en-US" altLang="zh-CN" dirty="0"/>
          </a:p>
          <a:p>
            <a:pPr lvl="1"/>
            <a:r>
              <a:rPr lang="zh-CN" altLang="en-US" dirty="0"/>
              <a:t>当一个新分组到达时，路由器根据记录判断：</a:t>
            </a:r>
            <a:endParaRPr lang="en-US" altLang="zh-CN" dirty="0"/>
          </a:p>
          <a:p>
            <a:pPr lvl="2"/>
            <a:r>
              <a:rPr lang="zh-CN" altLang="en-US" dirty="0"/>
              <a:t>如果是新分组，洪泛广播</a:t>
            </a:r>
            <a:endParaRPr lang="en-US" altLang="zh-CN" dirty="0"/>
          </a:p>
          <a:p>
            <a:pPr lvl="2"/>
            <a:r>
              <a:rPr lang="zh-CN" altLang="en-US" dirty="0"/>
              <a:t>如果是重复分组，丢弃</a:t>
            </a:r>
            <a:endParaRPr lang="en-US" altLang="zh-CN" dirty="0"/>
          </a:p>
          <a:p>
            <a:pPr lvl="2"/>
            <a:r>
              <a:rPr lang="zh-CN" altLang="en-US" dirty="0"/>
              <a:t>如果是过时分组，拒绝</a:t>
            </a:r>
            <a:endParaRPr lang="en-US" altLang="zh-CN" dirty="0"/>
          </a:p>
        </p:txBody>
      </p:sp>
      <p:sp>
        <p:nvSpPr>
          <p:cNvPr id="5"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sp>
        <p:nvSpPr>
          <p:cNvPr id="6" name="灯片编号占位符 3">
            <a:extLst>
              <a:ext uri="{FF2B5EF4-FFF2-40B4-BE49-F238E27FC236}">
                <a16:creationId xmlns:a16="http://schemas.microsoft.com/office/drawing/2014/main" id="{48479EA1-9744-0E4D-A0C1-3B380A09A020}"/>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45</a:t>
            </a:fld>
            <a:endParaRPr kumimoji="1" lang="zh-CN" altLang="en-US" dirty="0"/>
          </a:p>
        </p:txBody>
      </p:sp>
      <p:pic>
        <p:nvPicPr>
          <p:cNvPr id="7" name="Picture 28" descr="015">
            <a:extLst>
              <a:ext uri="{FF2B5EF4-FFF2-40B4-BE49-F238E27FC236}">
                <a16:creationId xmlns:a16="http://schemas.microsoft.com/office/drawing/2014/main" id="{A49FC21C-58EA-4F50-B82D-B34DF5DA7D9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9972753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5.</a:t>
            </a:r>
            <a:r>
              <a:rPr lang="zh-CN" altLang="en-US" dirty="0">
                <a:solidFill>
                  <a:srgbClr val="7030A0"/>
                </a:solidFill>
              </a:rPr>
              <a:t>计算</a:t>
            </a:r>
            <a:r>
              <a:rPr lang="zh-CN" altLang="en-US" dirty="0"/>
              <a:t>到其他路由器的最短路径：</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Dijkstra</a:t>
            </a:r>
            <a:r>
              <a:rPr lang="zh-CN" altLang="en-US" dirty="0">
                <a:latin typeface="Times New Roman" panose="02020603050405020304" pitchFamily="18" charset="0"/>
                <a:ea typeface="黑体" panose="02010609060101010101" pitchFamily="49" charset="-122"/>
                <a:cs typeface="Times New Roman" panose="02020603050405020304" pitchFamily="18" charset="0"/>
              </a:rPr>
              <a:t>算法示例</a:t>
            </a:r>
            <a:endParaRPr lang="en-US" altLang="zh-CN" dirty="0">
              <a:latin typeface="Times New Roman" panose="02020603050405020304" pitchFamily="18" charset="0"/>
              <a:ea typeface="黑体" panose="02010609060101010101" pitchFamily="49" charset="-122"/>
              <a:cs typeface="Times New Roman" panose="02020603050405020304" pitchFamily="18" charset="0"/>
            </a:endParaRPr>
          </a:p>
          <a:p>
            <a:pPr lvl="2"/>
            <a:r>
              <a:rPr lang="en-US" altLang="zh-CN" sz="2000" dirty="0"/>
              <a:t>D(k)</a:t>
            </a:r>
            <a:r>
              <a:rPr lang="zh-CN" altLang="en-US" sz="2000" dirty="0"/>
              <a:t>：从计算节点</a:t>
            </a:r>
            <a:r>
              <a:rPr lang="zh-CN" altLang="en-US" sz="2000" dirty="0">
                <a:cs typeface="Times New Roman" panose="02020603050405020304" pitchFamily="18" charset="0"/>
              </a:rPr>
              <a:t>到目的节点</a:t>
            </a:r>
            <a:r>
              <a:rPr lang="en-US" altLang="zh-CN" sz="2000" dirty="0">
                <a:cs typeface="Times New Roman" panose="02020603050405020304" pitchFamily="18" charset="0"/>
              </a:rPr>
              <a:t>k</a:t>
            </a:r>
            <a:r>
              <a:rPr lang="zh-CN" altLang="en-US" sz="2000" dirty="0">
                <a:cs typeface="Times New Roman" panose="02020603050405020304" pitchFamily="18" charset="0"/>
              </a:rPr>
              <a:t>当前路径代价</a:t>
            </a:r>
            <a:endParaRPr lang="en-US" altLang="zh-CN" sz="2000" dirty="0">
              <a:cs typeface="Times New Roman" panose="02020603050405020304" pitchFamily="18" charset="0"/>
            </a:endParaRPr>
          </a:p>
          <a:p>
            <a:pPr lvl="2"/>
            <a:r>
              <a:rPr lang="en-US" altLang="zh-CN" sz="2000" dirty="0">
                <a:cs typeface="Times New Roman" panose="02020603050405020304" pitchFamily="18" charset="0"/>
              </a:rPr>
              <a:t>p(k)</a:t>
            </a:r>
            <a:r>
              <a:rPr lang="zh-CN" altLang="en-US" sz="2000" dirty="0">
                <a:cs typeface="Times New Roman" panose="02020603050405020304" pitchFamily="18" charset="0"/>
              </a:rPr>
              <a:t>：从计算节点到目的节点</a:t>
            </a:r>
            <a:r>
              <a:rPr lang="en-US" altLang="zh-CN" sz="2000" dirty="0">
                <a:cs typeface="Times New Roman" panose="02020603050405020304" pitchFamily="18" charset="0"/>
              </a:rPr>
              <a:t>k</a:t>
            </a:r>
            <a:r>
              <a:rPr lang="zh-CN" altLang="en-US" sz="2000" dirty="0">
                <a:cs typeface="Times New Roman" panose="02020603050405020304" pitchFamily="18" charset="0"/>
              </a:rPr>
              <a:t>的路径中</a:t>
            </a:r>
            <a:r>
              <a:rPr lang="en-US" altLang="zh-CN" sz="2000" dirty="0">
                <a:cs typeface="Times New Roman" panose="02020603050405020304" pitchFamily="18" charset="0"/>
              </a:rPr>
              <a:t>k</a:t>
            </a:r>
            <a:r>
              <a:rPr lang="zh-CN" altLang="en-US" sz="2000" dirty="0">
                <a:cs typeface="Times New Roman" panose="02020603050405020304" pitchFamily="18" charset="0"/>
              </a:rPr>
              <a:t>节点的前继节点</a:t>
            </a:r>
            <a:endParaRPr lang="en-US" altLang="zh-CN" sz="2000" dirty="0">
              <a:cs typeface="Times New Roman" panose="02020603050405020304" pitchFamily="18" charset="0"/>
            </a:endParaRPr>
          </a:p>
          <a:p>
            <a:pPr lvl="2"/>
            <a:endParaRPr lang="en-US" altLang="zh-CN" dirty="0"/>
          </a:p>
        </p:txBody>
      </p:sp>
      <p:sp>
        <p:nvSpPr>
          <p:cNvPr id="6" name="Text Box 3">
            <a:extLst>
              <a:ext uri="{FF2B5EF4-FFF2-40B4-BE49-F238E27FC236}">
                <a16:creationId xmlns:a16="http://schemas.microsoft.com/office/drawing/2014/main" id="{57637DA9-370D-46DE-8A9D-23CF7D5BBCEE}"/>
              </a:ext>
            </a:extLst>
          </p:cNvPr>
          <p:cNvSpPr txBox="1">
            <a:spLocks noChangeArrowheads="1"/>
          </p:cNvSpPr>
          <p:nvPr/>
        </p:nvSpPr>
        <p:spPr bwMode="auto">
          <a:xfrm>
            <a:off x="1408623" y="2742779"/>
            <a:ext cx="697627"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r">
              <a:spcBef>
                <a:spcPct val="0"/>
              </a:spcBef>
              <a:buFontTx/>
              <a:buNone/>
            </a:pPr>
            <a:r>
              <a:rPr lang="zh-CN" altLang="en-US" sz="2000" dirty="0">
                <a:cs typeface="Times New Roman" panose="02020603050405020304" pitchFamily="18" charset="0"/>
              </a:rPr>
              <a:t>步骤</a:t>
            </a:r>
            <a:endParaRPr lang="en-US" altLang="zh-CN" sz="2000" dirty="0">
              <a:cs typeface="Times New Roman" panose="02020603050405020304" pitchFamily="18" charset="0"/>
            </a:endParaRPr>
          </a:p>
          <a:p>
            <a:pPr algn="r">
              <a:spcBef>
                <a:spcPct val="0"/>
              </a:spcBef>
              <a:buFontTx/>
              <a:buNone/>
            </a:pPr>
            <a:r>
              <a:rPr lang="en-US" altLang="zh-CN" sz="2000" dirty="0">
                <a:cs typeface="Times New Roman" panose="02020603050405020304" pitchFamily="18" charset="0"/>
              </a:rPr>
              <a:t>0</a:t>
            </a:r>
          </a:p>
          <a:p>
            <a:pPr algn="r">
              <a:spcBef>
                <a:spcPct val="0"/>
              </a:spcBef>
              <a:buFontTx/>
              <a:buNone/>
            </a:pPr>
            <a:r>
              <a:rPr lang="en-US" altLang="zh-CN" sz="2000" dirty="0">
                <a:cs typeface="Times New Roman" panose="02020603050405020304" pitchFamily="18" charset="0"/>
              </a:rPr>
              <a:t>1</a:t>
            </a:r>
          </a:p>
          <a:p>
            <a:pPr algn="r">
              <a:spcBef>
                <a:spcPct val="0"/>
              </a:spcBef>
              <a:buFontTx/>
              <a:buNone/>
            </a:pPr>
            <a:r>
              <a:rPr lang="en-US" altLang="zh-CN" sz="2000" dirty="0">
                <a:cs typeface="Times New Roman" panose="02020603050405020304" pitchFamily="18" charset="0"/>
              </a:rPr>
              <a:t>2</a:t>
            </a:r>
          </a:p>
          <a:p>
            <a:pPr algn="r">
              <a:spcBef>
                <a:spcPct val="0"/>
              </a:spcBef>
              <a:buFontTx/>
              <a:buNone/>
            </a:pPr>
            <a:r>
              <a:rPr lang="en-US" altLang="zh-CN" sz="2000" dirty="0">
                <a:cs typeface="Times New Roman" panose="02020603050405020304" pitchFamily="18" charset="0"/>
              </a:rPr>
              <a:t>3</a:t>
            </a:r>
          </a:p>
          <a:p>
            <a:pPr algn="r">
              <a:spcBef>
                <a:spcPct val="0"/>
              </a:spcBef>
              <a:buFontTx/>
              <a:buNone/>
            </a:pPr>
            <a:r>
              <a:rPr lang="en-US" altLang="zh-CN" sz="2000" dirty="0">
                <a:cs typeface="Times New Roman" panose="02020603050405020304" pitchFamily="18" charset="0"/>
              </a:rPr>
              <a:t>4</a:t>
            </a:r>
          </a:p>
          <a:p>
            <a:pPr algn="r">
              <a:spcBef>
                <a:spcPct val="0"/>
              </a:spcBef>
              <a:buFontTx/>
              <a:buNone/>
            </a:pPr>
            <a:r>
              <a:rPr lang="en-US" altLang="zh-CN" sz="2000" dirty="0">
                <a:cs typeface="Times New Roman" panose="02020603050405020304" pitchFamily="18" charset="0"/>
              </a:rPr>
              <a:t>5</a:t>
            </a:r>
          </a:p>
        </p:txBody>
      </p:sp>
      <p:sp>
        <p:nvSpPr>
          <p:cNvPr id="7" name="Text Box 4">
            <a:extLst>
              <a:ext uri="{FF2B5EF4-FFF2-40B4-BE49-F238E27FC236}">
                <a16:creationId xmlns:a16="http://schemas.microsoft.com/office/drawing/2014/main" id="{F1DD3A2E-8536-4D45-BFAA-2ADFE6665062}"/>
              </a:ext>
            </a:extLst>
          </p:cNvPr>
          <p:cNvSpPr txBox="1">
            <a:spLocks noChangeArrowheads="1"/>
          </p:cNvSpPr>
          <p:nvPr/>
        </p:nvSpPr>
        <p:spPr bwMode="auto">
          <a:xfrm>
            <a:off x="2403982" y="2752304"/>
            <a:ext cx="1026243"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r">
              <a:spcBef>
                <a:spcPct val="0"/>
              </a:spcBef>
              <a:buFontTx/>
              <a:buNone/>
            </a:pPr>
            <a:r>
              <a:rPr lang="zh-CN" altLang="en-US" sz="2000" dirty="0">
                <a:cs typeface="Times New Roman" panose="02020603050405020304" pitchFamily="18" charset="0"/>
              </a:rPr>
              <a:t>集合</a:t>
            </a:r>
            <a:r>
              <a:rPr lang="en-US" altLang="zh-CN" sz="2000" dirty="0">
                <a:cs typeface="Times New Roman" panose="02020603050405020304" pitchFamily="18" charset="0"/>
              </a:rPr>
              <a:t>N</a:t>
            </a:r>
          </a:p>
          <a:p>
            <a:pPr algn="r">
              <a:spcBef>
                <a:spcPct val="0"/>
              </a:spcBef>
              <a:buFontTx/>
              <a:buNone/>
            </a:pPr>
            <a:r>
              <a:rPr lang="en-US" altLang="zh-CN" sz="2000" dirty="0">
                <a:cs typeface="Times New Roman" panose="02020603050405020304" pitchFamily="18" charset="0"/>
              </a:rPr>
              <a:t>u</a:t>
            </a:r>
          </a:p>
          <a:p>
            <a:pPr algn="r">
              <a:spcBef>
                <a:spcPct val="0"/>
              </a:spcBef>
              <a:buFontTx/>
              <a:buNone/>
            </a:pPr>
            <a:r>
              <a:rPr lang="en-US" altLang="zh-CN" sz="2000" dirty="0" err="1">
                <a:cs typeface="Times New Roman" panose="02020603050405020304" pitchFamily="18" charset="0"/>
              </a:rPr>
              <a:t>ux</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uxyv</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uxyvw</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uxyvwz</a:t>
            </a:r>
            <a:endParaRPr lang="en-US" altLang="zh-CN" sz="2000" dirty="0">
              <a:cs typeface="Times New Roman" panose="02020603050405020304" pitchFamily="18" charset="0"/>
            </a:endParaRPr>
          </a:p>
        </p:txBody>
      </p:sp>
      <p:sp>
        <p:nvSpPr>
          <p:cNvPr id="8" name="Text Box 5">
            <a:extLst>
              <a:ext uri="{FF2B5EF4-FFF2-40B4-BE49-F238E27FC236}">
                <a16:creationId xmlns:a16="http://schemas.microsoft.com/office/drawing/2014/main" id="{280AF11B-FFF1-4452-AF51-1FFC1E95E0F2}"/>
              </a:ext>
            </a:extLst>
          </p:cNvPr>
          <p:cNvSpPr txBox="1">
            <a:spLocks noChangeArrowheads="1"/>
          </p:cNvSpPr>
          <p:nvPr/>
        </p:nvSpPr>
        <p:spPr bwMode="auto">
          <a:xfrm>
            <a:off x="3612478" y="2733254"/>
            <a:ext cx="118013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D(v),p(v)</a:t>
            </a:r>
          </a:p>
          <a:p>
            <a:pPr algn="ctr">
              <a:spcBef>
                <a:spcPct val="0"/>
              </a:spcBef>
              <a:buFontTx/>
              <a:buNone/>
            </a:pPr>
            <a:r>
              <a:rPr lang="en-US" altLang="zh-CN" sz="2000" dirty="0">
                <a:cs typeface="Times New Roman" panose="02020603050405020304" pitchFamily="18" charset="0"/>
              </a:rPr>
              <a:t>2,u</a:t>
            </a:r>
          </a:p>
          <a:p>
            <a:pPr algn="ctr">
              <a:spcBef>
                <a:spcPct val="0"/>
              </a:spcBef>
              <a:buFontTx/>
              <a:buNone/>
            </a:pPr>
            <a:r>
              <a:rPr lang="en-US" altLang="zh-CN" sz="2000" dirty="0">
                <a:cs typeface="Times New Roman" panose="02020603050405020304" pitchFamily="18" charset="0"/>
              </a:rPr>
              <a:t>2,u</a:t>
            </a:r>
          </a:p>
          <a:p>
            <a:pPr algn="ctr">
              <a:spcBef>
                <a:spcPct val="0"/>
              </a:spcBef>
              <a:buFontTx/>
              <a:buNone/>
            </a:pPr>
            <a:r>
              <a:rPr lang="en-US" altLang="zh-CN" sz="2000" dirty="0">
                <a:cs typeface="Times New Roman" panose="02020603050405020304" pitchFamily="18" charset="0"/>
              </a:rPr>
              <a:t>2,u</a:t>
            </a:r>
          </a:p>
        </p:txBody>
      </p:sp>
      <p:sp>
        <p:nvSpPr>
          <p:cNvPr id="9" name="Text Box 6">
            <a:extLst>
              <a:ext uri="{FF2B5EF4-FFF2-40B4-BE49-F238E27FC236}">
                <a16:creationId xmlns:a16="http://schemas.microsoft.com/office/drawing/2014/main" id="{928E51DB-3308-49EC-981F-BAEB70F98B5B}"/>
              </a:ext>
            </a:extLst>
          </p:cNvPr>
          <p:cNvSpPr txBox="1">
            <a:spLocks noChangeArrowheads="1"/>
          </p:cNvSpPr>
          <p:nvPr/>
        </p:nvSpPr>
        <p:spPr bwMode="auto">
          <a:xfrm>
            <a:off x="4827224" y="2738016"/>
            <a:ext cx="1284288"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D(w),p(w)</a:t>
            </a:r>
          </a:p>
          <a:p>
            <a:pPr algn="ctr">
              <a:spcBef>
                <a:spcPct val="0"/>
              </a:spcBef>
              <a:buFontTx/>
              <a:buNone/>
            </a:pPr>
            <a:r>
              <a:rPr lang="en-US" altLang="zh-CN" sz="2000" dirty="0">
                <a:cs typeface="Times New Roman" panose="02020603050405020304" pitchFamily="18" charset="0"/>
              </a:rPr>
              <a:t>5,u</a:t>
            </a:r>
          </a:p>
          <a:p>
            <a:pPr algn="ctr">
              <a:spcBef>
                <a:spcPct val="0"/>
              </a:spcBef>
              <a:buFontTx/>
              <a:buNone/>
            </a:pPr>
            <a:r>
              <a:rPr lang="en-US" altLang="zh-CN" sz="2000" dirty="0">
                <a:cs typeface="Times New Roman" panose="02020603050405020304" pitchFamily="18" charset="0"/>
              </a:rPr>
              <a:t>4,x</a:t>
            </a:r>
          </a:p>
          <a:p>
            <a:pPr algn="ctr">
              <a:spcBef>
                <a:spcPct val="0"/>
              </a:spcBef>
              <a:buFontTx/>
              <a:buNone/>
            </a:pPr>
            <a:r>
              <a:rPr lang="en-US" altLang="zh-CN" sz="2000" dirty="0">
                <a:cs typeface="Times New Roman" panose="02020603050405020304" pitchFamily="18" charset="0"/>
              </a:rPr>
              <a:t>3,y</a:t>
            </a:r>
          </a:p>
          <a:p>
            <a:pPr algn="ctr">
              <a:spcBef>
                <a:spcPct val="0"/>
              </a:spcBef>
              <a:buFontTx/>
              <a:buNone/>
            </a:pPr>
            <a:r>
              <a:rPr lang="en-US" altLang="zh-CN" sz="2000" dirty="0">
                <a:cs typeface="Times New Roman" panose="02020603050405020304" pitchFamily="18" charset="0"/>
              </a:rPr>
              <a:t>3,y</a:t>
            </a:r>
          </a:p>
        </p:txBody>
      </p:sp>
      <p:sp>
        <p:nvSpPr>
          <p:cNvPr id="10" name="Text Box 7">
            <a:extLst>
              <a:ext uri="{FF2B5EF4-FFF2-40B4-BE49-F238E27FC236}">
                <a16:creationId xmlns:a16="http://schemas.microsoft.com/office/drawing/2014/main" id="{3EF53485-B7D7-405F-8105-D14BF8039A9E}"/>
              </a:ext>
            </a:extLst>
          </p:cNvPr>
          <p:cNvSpPr txBox="1">
            <a:spLocks noChangeArrowheads="1"/>
          </p:cNvSpPr>
          <p:nvPr/>
        </p:nvSpPr>
        <p:spPr bwMode="auto">
          <a:xfrm>
            <a:off x="6155653" y="2733253"/>
            <a:ext cx="118013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D(x),p(x)</a:t>
            </a:r>
          </a:p>
          <a:p>
            <a:pPr algn="ctr">
              <a:spcBef>
                <a:spcPct val="0"/>
              </a:spcBef>
              <a:buFontTx/>
              <a:buNone/>
            </a:pPr>
            <a:r>
              <a:rPr lang="en-US" altLang="zh-CN" sz="2000" dirty="0">
                <a:cs typeface="Times New Roman" panose="02020603050405020304" pitchFamily="18" charset="0"/>
              </a:rPr>
              <a:t>1,u</a:t>
            </a:r>
          </a:p>
        </p:txBody>
      </p:sp>
      <p:sp>
        <p:nvSpPr>
          <p:cNvPr id="11" name="Text Box 8">
            <a:extLst>
              <a:ext uri="{FF2B5EF4-FFF2-40B4-BE49-F238E27FC236}">
                <a16:creationId xmlns:a16="http://schemas.microsoft.com/office/drawing/2014/main" id="{733644C7-2FE0-49B0-8F5A-C735BD17D14E}"/>
              </a:ext>
            </a:extLst>
          </p:cNvPr>
          <p:cNvSpPr txBox="1">
            <a:spLocks noChangeArrowheads="1"/>
          </p:cNvSpPr>
          <p:nvPr/>
        </p:nvSpPr>
        <p:spPr bwMode="auto">
          <a:xfrm>
            <a:off x="7465341" y="2738016"/>
            <a:ext cx="118013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D(y),p(y)</a:t>
            </a:r>
          </a:p>
          <a:p>
            <a:pPr algn="ctr">
              <a:spcBef>
                <a:spcPct val="0"/>
              </a:spcBef>
              <a:buFontTx/>
              <a:buNone/>
            </a:pPr>
            <a:r>
              <a:rPr lang="en-US" altLang="zh-CN" sz="2000" dirty="0">
                <a:cs typeface="Times New Roman" panose="02020603050405020304" pitchFamily="18" charset="0"/>
              </a:rPr>
              <a:t>∞</a:t>
            </a:r>
          </a:p>
          <a:p>
            <a:pPr algn="ctr">
              <a:spcBef>
                <a:spcPct val="0"/>
              </a:spcBef>
              <a:buFontTx/>
              <a:buNone/>
            </a:pPr>
            <a:r>
              <a:rPr lang="en-US" altLang="zh-CN" sz="2000" dirty="0">
                <a:cs typeface="Times New Roman" panose="02020603050405020304" pitchFamily="18" charset="0"/>
              </a:rPr>
              <a:t>2,x</a:t>
            </a:r>
          </a:p>
        </p:txBody>
      </p:sp>
      <p:sp>
        <p:nvSpPr>
          <p:cNvPr id="12" name="Text Box 9">
            <a:extLst>
              <a:ext uri="{FF2B5EF4-FFF2-40B4-BE49-F238E27FC236}">
                <a16:creationId xmlns:a16="http://schemas.microsoft.com/office/drawing/2014/main" id="{5734FBAE-F4AF-468A-90BB-BFB89A718F0F}"/>
              </a:ext>
            </a:extLst>
          </p:cNvPr>
          <p:cNvSpPr txBox="1">
            <a:spLocks noChangeArrowheads="1"/>
          </p:cNvSpPr>
          <p:nvPr/>
        </p:nvSpPr>
        <p:spPr bwMode="auto">
          <a:xfrm>
            <a:off x="8757011" y="2752303"/>
            <a:ext cx="113043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D(z),p(z)</a:t>
            </a:r>
          </a:p>
          <a:p>
            <a:pPr algn="ctr">
              <a:spcBef>
                <a:spcPct val="0"/>
              </a:spcBef>
              <a:buFontTx/>
              <a:buNone/>
            </a:pPr>
            <a:r>
              <a:rPr lang="en-US" altLang="zh-CN" sz="2000" dirty="0">
                <a:cs typeface="Times New Roman" panose="02020603050405020304" pitchFamily="18" charset="0"/>
              </a:rPr>
              <a:t>∞</a:t>
            </a:r>
          </a:p>
          <a:p>
            <a:pPr algn="ctr">
              <a:spcBef>
                <a:spcPct val="0"/>
              </a:spcBef>
              <a:buFontTx/>
              <a:buNone/>
            </a:pPr>
            <a:r>
              <a:rPr lang="en-US" altLang="zh-CN" sz="2000" dirty="0">
                <a:cs typeface="Times New Roman" panose="02020603050405020304" pitchFamily="18" charset="0"/>
              </a:rPr>
              <a:t>∞</a:t>
            </a:r>
          </a:p>
          <a:p>
            <a:pPr algn="ctr">
              <a:spcBef>
                <a:spcPct val="0"/>
              </a:spcBef>
              <a:buFontTx/>
              <a:buNone/>
            </a:pPr>
            <a:r>
              <a:rPr lang="en-US" altLang="zh-CN" sz="2000" dirty="0">
                <a:cs typeface="Times New Roman" panose="02020603050405020304" pitchFamily="18" charset="0"/>
              </a:rPr>
              <a:t>4,y</a:t>
            </a:r>
          </a:p>
          <a:p>
            <a:pPr algn="ctr">
              <a:spcBef>
                <a:spcPct val="0"/>
              </a:spcBef>
              <a:buFontTx/>
              <a:buNone/>
            </a:pPr>
            <a:r>
              <a:rPr lang="en-US" altLang="zh-CN" sz="2000" dirty="0">
                <a:cs typeface="Times New Roman" panose="02020603050405020304" pitchFamily="18" charset="0"/>
              </a:rPr>
              <a:t>4,y</a:t>
            </a:r>
          </a:p>
          <a:p>
            <a:pPr algn="ctr">
              <a:spcBef>
                <a:spcPct val="0"/>
              </a:spcBef>
              <a:buFontTx/>
              <a:buNone/>
            </a:pPr>
            <a:r>
              <a:rPr lang="en-US" altLang="zh-CN" sz="2000" dirty="0">
                <a:cs typeface="Times New Roman" panose="02020603050405020304" pitchFamily="18" charset="0"/>
              </a:rPr>
              <a:t>4,y</a:t>
            </a:r>
          </a:p>
        </p:txBody>
      </p:sp>
      <p:sp>
        <p:nvSpPr>
          <p:cNvPr id="13" name="Line 10">
            <a:extLst>
              <a:ext uri="{FF2B5EF4-FFF2-40B4-BE49-F238E27FC236}">
                <a16:creationId xmlns:a16="http://schemas.microsoft.com/office/drawing/2014/main" id="{62433592-201C-4BBC-9F87-EDCA9D70CB51}"/>
              </a:ext>
            </a:extLst>
          </p:cNvPr>
          <p:cNvSpPr>
            <a:spLocks noChangeShapeType="1"/>
          </p:cNvSpPr>
          <p:nvPr/>
        </p:nvSpPr>
        <p:spPr bwMode="auto">
          <a:xfrm>
            <a:off x="1522050" y="3093616"/>
            <a:ext cx="8505825" cy="9525"/>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4" name="Line 11">
            <a:extLst>
              <a:ext uri="{FF2B5EF4-FFF2-40B4-BE49-F238E27FC236}">
                <a16:creationId xmlns:a16="http://schemas.microsoft.com/office/drawing/2014/main" id="{840570FE-71C4-4DB1-AA66-ED2B9A7D603E}"/>
              </a:ext>
            </a:extLst>
          </p:cNvPr>
          <p:cNvSpPr>
            <a:spLocks noChangeShapeType="1"/>
          </p:cNvSpPr>
          <p:nvPr/>
        </p:nvSpPr>
        <p:spPr bwMode="auto">
          <a:xfrm>
            <a:off x="1679213" y="3398415"/>
            <a:ext cx="8296275"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pPr marL="285750" indent="-285750">
              <a:buFont typeface="Arial" panose="020B0604020202020204" pitchFamily="34" charset="0"/>
              <a:buChar char="•"/>
            </a:pPr>
            <a:endParaRPr lang="zh-CN" altLang="en-US">
              <a:latin typeface="Times New Roman" panose="02020603050405020304" pitchFamily="18" charset="0"/>
              <a:cs typeface="Times New Roman" panose="02020603050405020304" pitchFamily="18" charset="0"/>
            </a:endParaRPr>
          </a:p>
        </p:txBody>
      </p:sp>
      <p:sp>
        <p:nvSpPr>
          <p:cNvPr id="15" name="Line 12">
            <a:extLst>
              <a:ext uri="{FF2B5EF4-FFF2-40B4-BE49-F238E27FC236}">
                <a16:creationId xmlns:a16="http://schemas.microsoft.com/office/drawing/2014/main" id="{39166758-DD1C-4874-956F-ADDC228BC362}"/>
              </a:ext>
            </a:extLst>
          </p:cNvPr>
          <p:cNvSpPr>
            <a:spLocks noChangeShapeType="1"/>
          </p:cNvSpPr>
          <p:nvPr/>
        </p:nvSpPr>
        <p:spPr bwMode="auto">
          <a:xfrm>
            <a:off x="1698262" y="3693691"/>
            <a:ext cx="8267700" cy="476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6" name="Line 13">
            <a:extLst>
              <a:ext uri="{FF2B5EF4-FFF2-40B4-BE49-F238E27FC236}">
                <a16:creationId xmlns:a16="http://schemas.microsoft.com/office/drawing/2014/main" id="{9197B964-0960-4D85-8C3D-4DFA6389C12C}"/>
              </a:ext>
            </a:extLst>
          </p:cNvPr>
          <p:cNvSpPr>
            <a:spLocks noChangeShapeType="1"/>
          </p:cNvSpPr>
          <p:nvPr/>
        </p:nvSpPr>
        <p:spPr bwMode="auto">
          <a:xfrm>
            <a:off x="1707787" y="4003254"/>
            <a:ext cx="8253412" cy="952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7" name="Line 14">
            <a:extLst>
              <a:ext uri="{FF2B5EF4-FFF2-40B4-BE49-F238E27FC236}">
                <a16:creationId xmlns:a16="http://schemas.microsoft.com/office/drawing/2014/main" id="{739F8781-D85C-4805-AE3F-ABFD1B2F05DD}"/>
              </a:ext>
            </a:extLst>
          </p:cNvPr>
          <p:cNvSpPr>
            <a:spLocks noChangeShapeType="1"/>
          </p:cNvSpPr>
          <p:nvPr/>
        </p:nvSpPr>
        <p:spPr bwMode="auto">
          <a:xfrm>
            <a:off x="1717312" y="4308054"/>
            <a:ext cx="8267700" cy="952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8" name="Line 15">
            <a:extLst>
              <a:ext uri="{FF2B5EF4-FFF2-40B4-BE49-F238E27FC236}">
                <a16:creationId xmlns:a16="http://schemas.microsoft.com/office/drawing/2014/main" id="{40C629F1-3F04-4F5C-8467-49589D42C6A7}"/>
              </a:ext>
            </a:extLst>
          </p:cNvPr>
          <p:cNvSpPr>
            <a:spLocks noChangeShapeType="1"/>
          </p:cNvSpPr>
          <p:nvPr/>
        </p:nvSpPr>
        <p:spPr bwMode="auto">
          <a:xfrm>
            <a:off x="1731599" y="4622378"/>
            <a:ext cx="8262938" cy="476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9" name="Line 91">
            <a:extLst>
              <a:ext uri="{FF2B5EF4-FFF2-40B4-BE49-F238E27FC236}">
                <a16:creationId xmlns:a16="http://schemas.microsoft.com/office/drawing/2014/main" id="{F80D19C5-F9FB-4ABD-BD50-BBD0669AE00F}"/>
              </a:ext>
            </a:extLst>
          </p:cNvPr>
          <p:cNvSpPr>
            <a:spLocks noChangeShapeType="1"/>
          </p:cNvSpPr>
          <p:nvPr/>
        </p:nvSpPr>
        <p:spPr bwMode="auto">
          <a:xfrm>
            <a:off x="1331549" y="3815928"/>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0" name="Line 92">
            <a:extLst>
              <a:ext uri="{FF2B5EF4-FFF2-40B4-BE49-F238E27FC236}">
                <a16:creationId xmlns:a16="http://schemas.microsoft.com/office/drawing/2014/main" id="{6D2E99D2-6E61-4238-AC3C-3BEE1933758D}"/>
              </a:ext>
            </a:extLst>
          </p:cNvPr>
          <p:cNvSpPr>
            <a:spLocks noChangeShapeType="1"/>
          </p:cNvSpPr>
          <p:nvPr/>
        </p:nvSpPr>
        <p:spPr bwMode="auto">
          <a:xfrm>
            <a:off x="1322024" y="414930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1" name="Line 93">
            <a:extLst>
              <a:ext uri="{FF2B5EF4-FFF2-40B4-BE49-F238E27FC236}">
                <a16:creationId xmlns:a16="http://schemas.microsoft.com/office/drawing/2014/main" id="{2040DDF4-52AA-443D-9305-83ECCBB15530}"/>
              </a:ext>
            </a:extLst>
          </p:cNvPr>
          <p:cNvSpPr>
            <a:spLocks noChangeShapeType="1"/>
          </p:cNvSpPr>
          <p:nvPr/>
        </p:nvSpPr>
        <p:spPr bwMode="auto">
          <a:xfrm>
            <a:off x="1331549" y="445410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2" name="Line 94">
            <a:extLst>
              <a:ext uri="{FF2B5EF4-FFF2-40B4-BE49-F238E27FC236}">
                <a16:creationId xmlns:a16="http://schemas.microsoft.com/office/drawing/2014/main" id="{4809EE14-17F5-4565-846E-DB65063C3777}"/>
              </a:ext>
            </a:extLst>
          </p:cNvPr>
          <p:cNvSpPr>
            <a:spLocks noChangeShapeType="1"/>
          </p:cNvSpPr>
          <p:nvPr/>
        </p:nvSpPr>
        <p:spPr bwMode="auto">
          <a:xfrm>
            <a:off x="1341074" y="475890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3" name="椭圆 22">
            <a:extLst>
              <a:ext uri="{FF2B5EF4-FFF2-40B4-BE49-F238E27FC236}">
                <a16:creationId xmlns:a16="http://schemas.microsoft.com/office/drawing/2014/main" id="{F11BB639-D9AA-46BE-97FC-A43A4138246A}"/>
              </a:ext>
            </a:extLst>
          </p:cNvPr>
          <p:cNvSpPr/>
          <p:nvPr/>
        </p:nvSpPr>
        <p:spPr>
          <a:xfrm>
            <a:off x="6529024" y="3103140"/>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4" name="椭圆 23">
            <a:extLst>
              <a:ext uri="{FF2B5EF4-FFF2-40B4-BE49-F238E27FC236}">
                <a16:creationId xmlns:a16="http://schemas.microsoft.com/office/drawing/2014/main" id="{179CAF25-CCB5-4E48-A604-8BADA9148641}"/>
              </a:ext>
            </a:extLst>
          </p:cNvPr>
          <p:cNvSpPr/>
          <p:nvPr/>
        </p:nvSpPr>
        <p:spPr>
          <a:xfrm>
            <a:off x="7800181" y="3407940"/>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5" name="椭圆 24">
            <a:extLst>
              <a:ext uri="{FF2B5EF4-FFF2-40B4-BE49-F238E27FC236}">
                <a16:creationId xmlns:a16="http://schemas.microsoft.com/office/drawing/2014/main" id="{57CFF40F-1128-4346-9C3A-7502504D273A}"/>
              </a:ext>
            </a:extLst>
          </p:cNvPr>
          <p:cNvSpPr/>
          <p:nvPr/>
        </p:nvSpPr>
        <p:spPr>
          <a:xfrm>
            <a:off x="3945732" y="3712740"/>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6" name="椭圆 25">
            <a:extLst>
              <a:ext uri="{FF2B5EF4-FFF2-40B4-BE49-F238E27FC236}">
                <a16:creationId xmlns:a16="http://schemas.microsoft.com/office/drawing/2014/main" id="{CE164C04-75C2-45B7-B4F8-A31B10F9D218}"/>
              </a:ext>
            </a:extLst>
          </p:cNvPr>
          <p:cNvSpPr/>
          <p:nvPr/>
        </p:nvSpPr>
        <p:spPr>
          <a:xfrm>
            <a:off x="5214144" y="4012778"/>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7" name="椭圆 26">
            <a:extLst>
              <a:ext uri="{FF2B5EF4-FFF2-40B4-BE49-F238E27FC236}">
                <a16:creationId xmlns:a16="http://schemas.microsoft.com/office/drawing/2014/main" id="{4E73A568-8F9A-4C8B-804C-8958ED004C36}"/>
              </a:ext>
            </a:extLst>
          </p:cNvPr>
          <p:cNvSpPr/>
          <p:nvPr/>
        </p:nvSpPr>
        <p:spPr>
          <a:xfrm>
            <a:off x="9067006" y="4333452"/>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8" name="Line 91">
            <a:extLst>
              <a:ext uri="{FF2B5EF4-FFF2-40B4-BE49-F238E27FC236}">
                <a16:creationId xmlns:a16="http://schemas.microsoft.com/office/drawing/2014/main" id="{F80D19C5-F9FB-4ABD-BD50-BBD0669AE00F}"/>
              </a:ext>
            </a:extLst>
          </p:cNvPr>
          <p:cNvSpPr>
            <a:spLocks noChangeShapeType="1"/>
          </p:cNvSpPr>
          <p:nvPr/>
        </p:nvSpPr>
        <p:spPr bwMode="auto">
          <a:xfrm>
            <a:off x="1325621" y="354605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9" name="矩形 28"/>
          <p:cNvSpPr/>
          <p:nvPr/>
        </p:nvSpPr>
        <p:spPr>
          <a:xfrm>
            <a:off x="869907" y="5289108"/>
            <a:ext cx="6941554" cy="348813"/>
          </a:xfrm>
          <a:prstGeom prst="rect">
            <a:avLst/>
          </a:prstGeom>
        </p:spPr>
        <p:txBody>
          <a:bodyPr wrap="square">
            <a:spAutoFit/>
          </a:bodyPr>
          <a:lstStyle/>
          <a:p>
            <a:pPr algn="just">
              <a:lnSpc>
                <a:spcPts val="2000"/>
              </a:lnSpc>
              <a:spcBef>
                <a:spcPts val="600"/>
              </a:spcBef>
            </a:pPr>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生成最短路径树</a:t>
            </a:r>
            <a:endParaRPr lang="en-US" altLang="zh-CN" sz="2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0" name="矩形 29"/>
          <p:cNvSpPr/>
          <p:nvPr/>
        </p:nvSpPr>
        <p:spPr>
          <a:xfrm>
            <a:off x="6271616" y="5212956"/>
            <a:ext cx="1773570" cy="348813"/>
          </a:xfrm>
          <a:prstGeom prst="rect">
            <a:avLst/>
          </a:prstGeom>
        </p:spPr>
        <p:txBody>
          <a:bodyPr wrap="square">
            <a:spAutoFit/>
          </a:bodyPr>
          <a:lstStyle/>
          <a:p>
            <a:pPr algn="just">
              <a:lnSpc>
                <a:spcPts val="2000"/>
              </a:lnSpc>
              <a:spcBef>
                <a:spcPts val="600"/>
              </a:spcBef>
            </a:pPr>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生成路由表</a:t>
            </a:r>
            <a:endParaRPr lang="en-US" altLang="zh-CN" sz="2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2" name="组合 81">
            <a:extLst>
              <a:ext uri="{FF2B5EF4-FFF2-40B4-BE49-F238E27FC236}">
                <a16:creationId xmlns:a16="http://schemas.microsoft.com/office/drawing/2014/main" id="{79D33922-FD4F-4DBF-8FCD-FC4771069C82}"/>
              </a:ext>
            </a:extLst>
          </p:cNvPr>
          <p:cNvGrpSpPr>
            <a:grpSpLocks/>
          </p:cNvGrpSpPr>
          <p:nvPr/>
        </p:nvGrpSpPr>
        <p:grpSpPr bwMode="auto">
          <a:xfrm>
            <a:off x="3010000" y="4652139"/>
            <a:ext cx="3571875" cy="2236787"/>
            <a:chOff x="5019675" y="1700213"/>
            <a:chExt cx="3571875" cy="2236787"/>
          </a:xfrm>
        </p:grpSpPr>
        <p:sp>
          <p:nvSpPr>
            <p:cNvPr id="33" name="Freeform 9">
              <a:extLst>
                <a:ext uri="{FF2B5EF4-FFF2-40B4-BE49-F238E27FC236}">
                  <a16:creationId xmlns:a16="http://schemas.microsoft.com/office/drawing/2014/main" id="{93E5FACA-5D8D-4D70-B430-FA43E09FFD13}"/>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solidFill>
                  <a:schemeClr val="bg1"/>
                </a:solidFill>
              </a:endParaRPr>
            </a:p>
          </p:txBody>
        </p:sp>
        <p:sp>
          <p:nvSpPr>
            <p:cNvPr id="34" name="Freeform 10">
              <a:extLst>
                <a:ext uri="{FF2B5EF4-FFF2-40B4-BE49-F238E27FC236}">
                  <a16:creationId xmlns:a16="http://schemas.microsoft.com/office/drawing/2014/main" id="{BA9942DD-BBFD-47AE-A1E8-9D8C97F10E3A}"/>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35" name="Oval 11">
              <a:extLst>
                <a:ext uri="{FF2B5EF4-FFF2-40B4-BE49-F238E27FC236}">
                  <a16:creationId xmlns:a16="http://schemas.microsoft.com/office/drawing/2014/main" id="{F68369F7-FF67-42B1-B1C0-AD5A6EC4E2E1}"/>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36" name="Line 12">
              <a:extLst>
                <a:ext uri="{FF2B5EF4-FFF2-40B4-BE49-F238E27FC236}">
                  <a16:creationId xmlns:a16="http://schemas.microsoft.com/office/drawing/2014/main" id="{DAF4E475-5BDF-4986-BDCD-204E48BA0024}"/>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7" name="Line 13">
              <a:extLst>
                <a:ext uri="{FF2B5EF4-FFF2-40B4-BE49-F238E27FC236}">
                  <a16:creationId xmlns:a16="http://schemas.microsoft.com/office/drawing/2014/main" id="{80FC5B65-207D-48F2-8D5D-D827580A8100}"/>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8" name="Rectangle 14">
              <a:extLst>
                <a:ext uri="{FF2B5EF4-FFF2-40B4-BE49-F238E27FC236}">
                  <a16:creationId xmlns:a16="http://schemas.microsoft.com/office/drawing/2014/main" id="{F1C12A32-F35C-4C32-A980-6FBC0A06DD10}"/>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39" name="Oval 15">
              <a:extLst>
                <a:ext uri="{FF2B5EF4-FFF2-40B4-BE49-F238E27FC236}">
                  <a16:creationId xmlns:a16="http://schemas.microsoft.com/office/drawing/2014/main" id="{FFBC4EC8-5B17-49AD-A9A9-92FB285B8A32}"/>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0" name="Oval 16">
              <a:extLst>
                <a:ext uri="{FF2B5EF4-FFF2-40B4-BE49-F238E27FC236}">
                  <a16:creationId xmlns:a16="http://schemas.microsoft.com/office/drawing/2014/main" id="{92F8F21A-A012-4FEC-A595-AFE19A1BFC20}"/>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1" name="Line 17">
              <a:extLst>
                <a:ext uri="{FF2B5EF4-FFF2-40B4-BE49-F238E27FC236}">
                  <a16:creationId xmlns:a16="http://schemas.microsoft.com/office/drawing/2014/main" id="{6413BBB4-F083-4BC0-9A3B-D7D6DEAA3258}"/>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2" name="Line 18">
              <a:extLst>
                <a:ext uri="{FF2B5EF4-FFF2-40B4-BE49-F238E27FC236}">
                  <a16:creationId xmlns:a16="http://schemas.microsoft.com/office/drawing/2014/main" id="{2989400C-0DFF-4FE5-83EC-2770A8F96BBF}"/>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3" name="Rectangle 19">
              <a:extLst>
                <a:ext uri="{FF2B5EF4-FFF2-40B4-BE49-F238E27FC236}">
                  <a16:creationId xmlns:a16="http://schemas.microsoft.com/office/drawing/2014/main" id="{1719CB1E-50F8-4207-BC6F-2AEC6C71175D}"/>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44" name="Oval 20">
              <a:extLst>
                <a:ext uri="{FF2B5EF4-FFF2-40B4-BE49-F238E27FC236}">
                  <a16:creationId xmlns:a16="http://schemas.microsoft.com/office/drawing/2014/main" id="{848EC9BE-DA48-4513-81F5-5AE0CBF5A251}"/>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5" name="Oval 21">
              <a:extLst>
                <a:ext uri="{FF2B5EF4-FFF2-40B4-BE49-F238E27FC236}">
                  <a16:creationId xmlns:a16="http://schemas.microsoft.com/office/drawing/2014/main" id="{84831477-6FDC-49EB-8CFD-94127EF6013C}"/>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6" name="Line 22">
              <a:extLst>
                <a:ext uri="{FF2B5EF4-FFF2-40B4-BE49-F238E27FC236}">
                  <a16:creationId xmlns:a16="http://schemas.microsoft.com/office/drawing/2014/main" id="{24BC2C98-F752-40B6-AC5A-68AD975654F1}"/>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7" name="Line 23">
              <a:extLst>
                <a:ext uri="{FF2B5EF4-FFF2-40B4-BE49-F238E27FC236}">
                  <a16:creationId xmlns:a16="http://schemas.microsoft.com/office/drawing/2014/main" id="{4A5D3A68-4855-4553-9162-FD2289148957}"/>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8" name="Rectangle 24">
              <a:extLst>
                <a:ext uri="{FF2B5EF4-FFF2-40B4-BE49-F238E27FC236}">
                  <a16:creationId xmlns:a16="http://schemas.microsoft.com/office/drawing/2014/main" id="{59B4BB1F-371A-4B8B-884D-BC690326987C}"/>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49" name="Oval 25">
              <a:extLst>
                <a:ext uri="{FF2B5EF4-FFF2-40B4-BE49-F238E27FC236}">
                  <a16:creationId xmlns:a16="http://schemas.microsoft.com/office/drawing/2014/main" id="{1FC6C4B4-6160-4DC4-98A8-F2A25ED9392C}"/>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0" name="Oval 26">
              <a:extLst>
                <a:ext uri="{FF2B5EF4-FFF2-40B4-BE49-F238E27FC236}">
                  <a16:creationId xmlns:a16="http://schemas.microsoft.com/office/drawing/2014/main" id="{C6DC24EA-7249-4F17-BB98-D3AE71094C02}"/>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1" name="Line 27">
              <a:extLst>
                <a:ext uri="{FF2B5EF4-FFF2-40B4-BE49-F238E27FC236}">
                  <a16:creationId xmlns:a16="http://schemas.microsoft.com/office/drawing/2014/main" id="{3D31DE0E-A252-419A-BF77-0FD9AA7D3012}"/>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2" name="Line 28">
              <a:extLst>
                <a:ext uri="{FF2B5EF4-FFF2-40B4-BE49-F238E27FC236}">
                  <a16:creationId xmlns:a16="http://schemas.microsoft.com/office/drawing/2014/main" id="{A955DB02-1DE6-48C3-AFFB-FF34DED78DE6}"/>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3" name="Rectangle 29">
              <a:extLst>
                <a:ext uri="{FF2B5EF4-FFF2-40B4-BE49-F238E27FC236}">
                  <a16:creationId xmlns:a16="http://schemas.microsoft.com/office/drawing/2014/main" id="{AF29FB01-AF33-4B4A-9C04-1A18A1DAA89B}"/>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54" name="Oval 30">
              <a:extLst>
                <a:ext uri="{FF2B5EF4-FFF2-40B4-BE49-F238E27FC236}">
                  <a16:creationId xmlns:a16="http://schemas.microsoft.com/office/drawing/2014/main" id="{A6ADF587-FA62-483A-A5F4-32C7C54D5EB5}"/>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5" name="Oval 31">
              <a:extLst>
                <a:ext uri="{FF2B5EF4-FFF2-40B4-BE49-F238E27FC236}">
                  <a16:creationId xmlns:a16="http://schemas.microsoft.com/office/drawing/2014/main" id="{0EF6D55F-9354-41E7-913F-7ACB5D5C84D8}"/>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6" name="Line 32">
              <a:extLst>
                <a:ext uri="{FF2B5EF4-FFF2-40B4-BE49-F238E27FC236}">
                  <a16:creationId xmlns:a16="http://schemas.microsoft.com/office/drawing/2014/main" id="{1B67B26C-EA46-4521-9FCC-CCF322760872}"/>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7" name="Line 33">
              <a:extLst>
                <a:ext uri="{FF2B5EF4-FFF2-40B4-BE49-F238E27FC236}">
                  <a16:creationId xmlns:a16="http://schemas.microsoft.com/office/drawing/2014/main" id="{1E770749-8F2E-4821-819C-307659493271}"/>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8" name="Rectangle 34">
              <a:extLst>
                <a:ext uri="{FF2B5EF4-FFF2-40B4-BE49-F238E27FC236}">
                  <a16:creationId xmlns:a16="http://schemas.microsoft.com/office/drawing/2014/main" id="{76E6B993-0493-4C30-B9F3-FA44419EF5DF}"/>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59" name="Oval 35">
              <a:extLst>
                <a:ext uri="{FF2B5EF4-FFF2-40B4-BE49-F238E27FC236}">
                  <a16:creationId xmlns:a16="http://schemas.microsoft.com/office/drawing/2014/main" id="{7239A330-D1E8-4E95-A0EC-AB19CDE26B91}"/>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60" name="Oval 36">
              <a:extLst>
                <a:ext uri="{FF2B5EF4-FFF2-40B4-BE49-F238E27FC236}">
                  <a16:creationId xmlns:a16="http://schemas.microsoft.com/office/drawing/2014/main" id="{CE37D2A8-75B0-46D2-8EB4-4DE255F29901}"/>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61" name="Line 37">
              <a:extLst>
                <a:ext uri="{FF2B5EF4-FFF2-40B4-BE49-F238E27FC236}">
                  <a16:creationId xmlns:a16="http://schemas.microsoft.com/office/drawing/2014/main" id="{D9D170FC-29DE-46D2-9C45-86226B4BDD4F}"/>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62" name="Line 38">
              <a:extLst>
                <a:ext uri="{FF2B5EF4-FFF2-40B4-BE49-F238E27FC236}">
                  <a16:creationId xmlns:a16="http://schemas.microsoft.com/office/drawing/2014/main" id="{9C57E905-902C-4012-979C-43D22FD7EA7F}"/>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63" name="Rectangle 39">
              <a:extLst>
                <a:ext uri="{FF2B5EF4-FFF2-40B4-BE49-F238E27FC236}">
                  <a16:creationId xmlns:a16="http://schemas.microsoft.com/office/drawing/2014/main" id="{466DF771-30A7-4D55-BC24-F90EDD160EF5}"/>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64" name="Oval 40">
              <a:extLst>
                <a:ext uri="{FF2B5EF4-FFF2-40B4-BE49-F238E27FC236}">
                  <a16:creationId xmlns:a16="http://schemas.microsoft.com/office/drawing/2014/main" id="{CC6A6EB8-D46A-4486-8281-894EA68CF80C}"/>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65" name="Freeform 41">
              <a:extLst>
                <a:ext uri="{FF2B5EF4-FFF2-40B4-BE49-F238E27FC236}">
                  <a16:creationId xmlns:a16="http://schemas.microsoft.com/office/drawing/2014/main" id="{7DBFAA54-E5A7-48C2-AFF4-0FCD860311CE}"/>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6" name="Freeform 42">
              <a:extLst>
                <a:ext uri="{FF2B5EF4-FFF2-40B4-BE49-F238E27FC236}">
                  <a16:creationId xmlns:a16="http://schemas.microsoft.com/office/drawing/2014/main" id="{A7923170-D193-4FB2-A1D7-BDE432069F01}"/>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7" name="Freeform 43">
              <a:extLst>
                <a:ext uri="{FF2B5EF4-FFF2-40B4-BE49-F238E27FC236}">
                  <a16:creationId xmlns:a16="http://schemas.microsoft.com/office/drawing/2014/main" id="{811E664E-20AD-4E2B-BC9F-E1E6772484FE}"/>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8" name="Freeform 44">
              <a:extLst>
                <a:ext uri="{FF2B5EF4-FFF2-40B4-BE49-F238E27FC236}">
                  <a16:creationId xmlns:a16="http://schemas.microsoft.com/office/drawing/2014/main" id="{5556081C-C034-4E42-AF53-1A930941C7E4}"/>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9" name="Freeform 45">
              <a:extLst>
                <a:ext uri="{FF2B5EF4-FFF2-40B4-BE49-F238E27FC236}">
                  <a16:creationId xmlns:a16="http://schemas.microsoft.com/office/drawing/2014/main" id="{70A643E8-F350-4213-A54F-F05D191FD402}"/>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0" name="Freeform 46">
              <a:extLst>
                <a:ext uri="{FF2B5EF4-FFF2-40B4-BE49-F238E27FC236}">
                  <a16:creationId xmlns:a16="http://schemas.microsoft.com/office/drawing/2014/main" id="{9245BE02-A2BB-47B4-B9CB-2FF6DC672863}"/>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1" name="Freeform 47">
              <a:extLst>
                <a:ext uri="{FF2B5EF4-FFF2-40B4-BE49-F238E27FC236}">
                  <a16:creationId xmlns:a16="http://schemas.microsoft.com/office/drawing/2014/main" id="{311714BE-147F-4B96-B665-BDBF6FC5F834}"/>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2" name="Freeform 48">
              <a:extLst>
                <a:ext uri="{FF2B5EF4-FFF2-40B4-BE49-F238E27FC236}">
                  <a16:creationId xmlns:a16="http://schemas.microsoft.com/office/drawing/2014/main" id="{C28B7FE7-05BA-4786-9441-65AACD32666E}"/>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3" name="Freeform 49">
              <a:extLst>
                <a:ext uri="{FF2B5EF4-FFF2-40B4-BE49-F238E27FC236}">
                  <a16:creationId xmlns:a16="http://schemas.microsoft.com/office/drawing/2014/main" id="{6378996C-0283-48B0-9355-90E50349D0DA}"/>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grpSp>
          <p:nvGrpSpPr>
            <p:cNvPr id="74" name="Group 50">
              <a:extLst>
                <a:ext uri="{FF2B5EF4-FFF2-40B4-BE49-F238E27FC236}">
                  <a16:creationId xmlns:a16="http://schemas.microsoft.com/office/drawing/2014/main" id="{E4B0932F-507D-45D3-A3BE-5762BD18F74A}"/>
                </a:ext>
              </a:extLst>
            </p:cNvPr>
            <p:cNvGrpSpPr>
              <a:grpSpLocks/>
            </p:cNvGrpSpPr>
            <p:nvPr/>
          </p:nvGrpSpPr>
          <p:grpSpPr bwMode="auto">
            <a:xfrm>
              <a:off x="5222539" y="2774954"/>
              <a:ext cx="318166" cy="400050"/>
              <a:chOff x="2957" y="2429"/>
              <a:chExt cx="203" cy="252"/>
            </a:xfrm>
          </p:grpSpPr>
          <p:sp>
            <p:nvSpPr>
              <p:cNvPr id="100" name="Rectangle 51">
                <a:extLst>
                  <a:ext uri="{FF2B5EF4-FFF2-40B4-BE49-F238E27FC236}">
                    <a16:creationId xmlns:a16="http://schemas.microsoft.com/office/drawing/2014/main" id="{B105C829-B7C5-49BE-809E-06A435172BC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101" name="Text Box 52">
                <a:extLst>
                  <a:ext uri="{FF2B5EF4-FFF2-40B4-BE49-F238E27FC236}">
                    <a16:creationId xmlns:a16="http://schemas.microsoft.com/office/drawing/2014/main" id="{BEFAF1C9-8AF2-4022-A991-44277463095C}"/>
                  </a:ext>
                </a:extLst>
              </p:cNvPr>
              <p:cNvSpPr txBox="1">
                <a:spLocks noChangeArrowheads="1"/>
              </p:cNvSpPr>
              <p:nvPr/>
            </p:nvSpPr>
            <p:spPr bwMode="auto">
              <a:xfrm>
                <a:off x="2957" y="2429"/>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rgbClr val="FF0000"/>
                    </a:solidFill>
                    <a:latin typeface="Comic Sans MS" panose="030F0702030302020204" pitchFamily="66" charset="0"/>
                  </a:rPr>
                  <a:t>u</a:t>
                </a:r>
                <a:endParaRPr lang="en-US" altLang="zh-CN" sz="2400" dirty="0">
                  <a:solidFill>
                    <a:srgbClr val="FF0000"/>
                  </a:solidFill>
                </a:endParaRPr>
              </a:p>
            </p:txBody>
          </p:sp>
        </p:grpSp>
        <p:grpSp>
          <p:nvGrpSpPr>
            <p:cNvPr id="75" name="Group 53">
              <a:extLst>
                <a:ext uri="{FF2B5EF4-FFF2-40B4-BE49-F238E27FC236}">
                  <a16:creationId xmlns:a16="http://schemas.microsoft.com/office/drawing/2014/main" id="{D777D57E-AD70-4548-BDF1-A1DC974FA0EA}"/>
                </a:ext>
              </a:extLst>
            </p:cNvPr>
            <p:cNvGrpSpPr>
              <a:grpSpLocks/>
            </p:cNvGrpSpPr>
            <p:nvPr/>
          </p:nvGrpSpPr>
          <p:grpSpPr bwMode="auto">
            <a:xfrm>
              <a:off x="7078475" y="3340106"/>
              <a:ext cx="317847" cy="400050"/>
              <a:chOff x="2956" y="2401"/>
              <a:chExt cx="203" cy="252"/>
            </a:xfrm>
          </p:grpSpPr>
          <p:sp>
            <p:nvSpPr>
              <p:cNvPr id="98" name="Rectangle 54">
                <a:extLst>
                  <a:ext uri="{FF2B5EF4-FFF2-40B4-BE49-F238E27FC236}">
                    <a16:creationId xmlns:a16="http://schemas.microsoft.com/office/drawing/2014/main" id="{ED05DFD7-3101-4FF2-834B-A1282C4E9617}"/>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9" name="Text Box 55">
                <a:extLst>
                  <a:ext uri="{FF2B5EF4-FFF2-40B4-BE49-F238E27FC236}">
                    <a16:creationId xmlns:a16="http://schemas.microsoft.com/office/drawing/2014/main" id="{44C16620-2F9A-4F0B-B447-4BE8A4450A60}"/>
                  </a:ext>
                </a:extLst>
              </p:cNvPr>
              <p:cNvSpPr txBox="1">
                <a:spLocks noChangeArrowheads="1"/>
              </p:cNvSpPr>
              <p:nvPr/>
            </p:nvSpPr>
            <p:spPr bwMode="auto">
              <a:xfrm>
                <a:off x="2956" y="2401"/>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y</a:t>
                </a:r>
                <a:endParaRPr lang="en-US" altLang="zh-CN" sz="2400" dirty="0">
                  <a:solidFill>
                    <a:schemeClr val="bg1"/>
                  </a:solidFill>
                </a:endParaRPr>
              </a:p>
            </p:txBody>
          </p:sp>
        </p:grpSp>
        <p:grpSp>
          <p:nvGrpSpPr>
            <p:cNvPr id="76" name="Group 56">
              <a:extLst>
                <a:ext uri="{FF2B5EF4-FFF2-40B4-BE49-F238E27FC236}">
                  <a16:creationId xmlns:a16="http://schemas.microsoft.com/office/drawing/2014/main" id="{B5D7E311-1ED8-4E57-ADD8-F0F4B04BC7FE}"/>
                </a:ext>
              </a:extLst>
            </p:cNvPr>
            <p:cNvGrpSpPr>
              <a:grpSpLocks/>
            </p:cNvGrpSpPr>
            <p:nvPr/>
          </p:nvGrpSpPr>
          <p:grpSpPr bwMode="auto">
            <a:xfrm>
              <a:off x="5989434" y="3379792"/>
              <a:ext cx="335369" cy="400050"/>
              <a:chOff x="2951" y="2429"/>
              <a:chExt cx="214" cy="252"/>
            </a:xfrm>
          </p:grpSpPr>
          <p:sp>
            <p:nvSpPr>
              <p:cNvPr id="96" name="Rectangle 57">
                <a:extLst>
                  <a:ext uri="{FF2B5EF4-FFF2-40B4-BE49-F238E27FC236}">
                    <a16:creationId xmlns:a16="http://schemas.microsoft.com/office/drawing/2014/main" id="{87627CB1-91DF-4D4C-B59B-F917BC1852E2}"/>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7" name="Text Box 58">
                <a:extLst>
                  <a:ext uri="{FF2B5EF4-FFF2-40B4-BE49-F238E27FC236}">
                    <a16:creationId xmlns:a16="http://schemas.microsoft.com/office/drawing/2014/main" id="{09FAA24C-01A2-4469-BE6F-5331EB46E4BA}"/>
                  </a:ext>
                </a:extLst>
              </p:cNvPr>
              <p:cNvSpPr txBox="1">
                <a:spLocks noChangeArrowheads="1"/>
              </p:cNvSpPr>
              <p:nvPr/>
            </p:nvSpPr>
            <p:spPr bwMode="auto">
              <a:xfrm>
                <a:off x="2951" y="2429"/>
                <a:ext cx="2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x</a:t>
                </a:r>
                <a:endParaRPr lang="en-US" altLang="zh-CN" sz="2400" dirty="0">
                  <a:solidFill>
                    <a:schemeClr val="bg1"/>
                  </a:solidFill>
                </a:endParaRPr>
              </a:p>
            </p:txBody>
          </p:sp>
        </p:grpSp>
        <p:grpSp>
          <p:nvGrpSpPr>
            <p:cNvPr id="77" name="Group 59">
              <a:extLst>
                <a:ext uri="{FF2B5EF4-FFF2-40B4-BE49-F238E27FC236}">
                  <a16:creationId xmlns:a16="http://schemas.microsoft.com/office/drawing/2014/main" id="{FC63E3A1-DBB1-4E00-9583-EB4A681D0EEE}"/>
                </a:ext>
              </a:extLst>
            </p:cNvPr>
            <p:cNvGrpSpPr>
              <a:grpSpLocks/>
            </p:cNvGrpSpPr>
            <p:nvPr/>
          </p:nvGrpSpPr>
          <p:grpSpPr bwMode="auto">
            <a:xfrm>
              <a:off x="7048652" y="2289179"/>
              <a:ext cx="360030" cy="400050"/>
              <a:chOff x="2943" y="2429"/>
              <a:chExt cx="230" cy="252"/>
            </a:xfrm>
          </p:grpSpPr>
          <p:sp>
            <p:nvSpPr>
              <p:cNvPr id="94" name="Rectangle 60">
                <a:extLst>
                  <a:ext uri="{FF2B5EF4-FFF2-40B4-BE49-F238E27FC236}">
                    <a16:creationId xmlns:a16="http://schemas.microsoft.com/office/drawing/2014/main" id="{8215A74A-A1DB-4583-8DCB-875AF7449590}"/>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5" name="Text Box 61">
                <a:extLst>
                  <a:ext uri="{FF2B5EF4-FFF2-40B4-BE49-F238E27FC236}">
                    <a16:creationId xmlns:a16="http://schemas.microsoft.com/office/drawing/2014/main" id="{457603CD-FDC5-469F-9F35-DA0569E96A09}"/>
                  </a:ext>
                </a:extLst>
              </p:cNvPr>
              <p:cNvSpPr txBox="1">
                <a:spLocks noChangeArrowheads="1"/>
              </p:cNvSpPr>
              <p:nvPr/>
            </p:nvSpPr>
            <p:spPr bwMode="auto">
              <a:xfrm>
                <a:off x="2943" y="2429"/>
                <a:ext cx="2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w</a:t>
                </a:r>
                <a:endParaRPr lang="en-US" altLang="zh-CN" sz="2400" dirty="0">
                  <a:solidFill>
                    <a:schemeClr val="bg1"/>
                  </a:solidFill>
                </a:endParaRPr>
              </a:p>
            </p:txBody>
          </p:sp>
        </p:grpSp>
        <p:grpSp>
          <p:nvGrpSpPr>
            <p:cNvPr id="78" name="Group 62">
              <a:extLst>
                <a:ext uri="{FF2B5EF4-FFF2-40B4-BE49-F238E27FC236}">
                  <a16:creationId xmlns:a16="http://schemas.microsoft.com/office/drawing/2014/main" id="{1C1896C1-0A3D-4FA9-ADED-B1D4CC227414}"/>
                </a:ext>
              </a:extLst>
            </p:cNvPr>
            <p:cNvGrpSpPr>
              <a:grpSpLocks/>
            </p:cNvGrpSpPr>
            <p:nvPr/>
          </p:nvGrpSpPr>
          <p:grpSpPr bwMode="auto">
            <a:xfrm>
              <a:off x="5987808" y="2289179"/>
              <a:ext cx="310038" cy="400050"/>
              <a:chOff x="2959" y="2429"/>
              <a:chExt cx="198" cy="252"/>
            </a:xfrm>
          </p:grpSpPr>
          <p:sp>
            <p:nvSpPr>
              <p:cNvPr id="92" name="Rectangle 63">
                <a:extLst>
                  <a:ext uri="{FF2B5EF4-FFF2-40B4-BE49-F238E27FC236}">
                    <a16:creationId xmlns:a16="http://schemas.microsoft.com/office/drawing/2014/main" id="{7624E6E0-429C-4B10-B1C4-EB84B08C486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3" name="Text Box 64">
                <a:extLst>
                  <a:ext uri="{FF2B5EF4-FFF2-40B4-BE49-F238E27FC236}">
                    <a16:creationId xmlns:a16="http://schemas.microsoft.com/office/drawing/2014/main" id="{B15ACE6F-CA1E-440A-9B6A-160425C5DB00}"/>
                  </a:ext>
                </a:extLst>
              </p:cNvPr>
              <p:cNvSpPr txBox="1">
                <a:spLocks noChangeArrowheads="1"/>
              </p:cNvSpPr>
              <p:nvPr/>
            </p:nvSpPr>
            <p:spPr bwMode="auto">
              <a:xfrm>
                <a:off x="2959" y="2429"/>
                <a:ext cx="19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v</a:t>
                </a:r>
                <a:endParaRPr lang="en-US" altLang="zh-CN" sz="2400" dirty="0">
                  <a:solidFill>
                    <a:schemeClr val="bg1"/>
                  </a:solidFill>
                </a:endParaRPr>
              </a:p>
            </p:txBody>
          </p:sp>
        </p:grpSp>
        <p:grpSp>
          <p:nvGrpSpPr>
            <p:cNvPr id="79" name="Group 65">
              <a:extLst>
                <a:ext uri="{FF2B5EF4-FFF2-40B4-BE49-F238E27FC236}">
                  <a16:creationId xmlns:a16="http://schemas.microsoft.com/office/drawing/2014/main" id="{96CD1D53-3908-49C2-80A5-1795BA395CCA}"/>
                </a:ext>
              </a:extLst>
            </p:cNvPr>
            <p:cNvGrpSpPr>
              <a:grpSpLocks/>
            </p:cNvGrpSpPr>
            <p:nvPr/>
          </p:nvGrpSpPr>
          <p:grpSpPr bwMode="auto">
            <a:xfrm>
              <a:off x="7985023" y="2841629"/>
              <a:ext cx="322483" cy="400050"/>
              <a:chOff x="2954" y="2429"/>
              <a:chExt cx="206" cy="252"/>
            </a:xfrm>
          </p:grpSpPr>
          <p:sp>
            <p:nvSpPr>
              <p:cNvPr id="90" name="Rectangle 66">
                <a:extLst>
                  <a:ext uri="{FF2B5EF4-FFF2-40B4-BE49-F238E27FC236}">
                    <a16:creationId xmlns:a16="http://schemas.microsoft.com/office/drawing/2014/main" id="{B7002B82-D510-41CE-9976-D56452583114}"/>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1" name="Text Box 67">
                <a:extLst>
                  <a:ext uri="{FF2B5EF4-FFF2-40B4-BE49-F238E27FC236}">
                    <a16:creationId xmlns:a16="http://schemas.microsoft.com/office/drawing/2014/main" id="{9B9FE3E4-994C-4820-BEAF-70C9DB5AAE78}"/>
                  </a:ext>
                </a:extLst>
              </p:cNvPr>
              <p:cNvSpPr txBox="1">
                <a:spLocks noChangeArrowheads="1"/>
              </p:cNvSpPr>
              <p:nvPr/>
            </p:nvSpPr>
            <p:spPr bwMode="auto">
              <a:xfrm>
                <a:off x="2954" y="2429"/>
                <a:ext cx="20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Comic Sans MS" panose="030F0702030302020204" pitchFamily="66" charset="0"/>
                  </a:rPr>
                  <a:t>z</a:t>
                </a:r>
                <a:endParaRPr lang="en-US" altLang="zh-CN" sz="2400">
                  <a:solidFill>
                    <a:schemeClr val="bg1"/>
                  </a:solidFill>
                </a:endParaRPr>
              </a:p>
            </p:txBody>
          </p:sp>
        </p:grpSp>
        <p:sp>
          <p:nvSpPr>
            <p:cNvPr id="80" name="Text Box 68">
              <a:extLst>
                <a:ext uri="{FF2B5EF4-FFF2-40B4-BE49-F238E27FC236}">
                  <a16:creationId xmlns:a16="http://schemas.microsoft.com/office/drawing/2014/main" id="{FD45B472-EACF-4D2C-8F7E-5DF352C129C9}"/>
                </a:ext>
              </a:extLst>
            </p:cNvPr>
            <p:cNvSpPr txBox="1">
              <a:spLocks noChangeArrowheads="1"/>
            </p:cNvSpPr>
            <p:nvPr/>
          </p:nvSpPr>
          <p:spPr bwMode="auto">
            <a:xfrm>
              <a:off x="5538788" y="24939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2</a:t>
              </a:r>
              <a:endParaRPr lang="en-US" altLang="zh-CN" sz="2400">
                <a:solidFill>
                  <a:schemeClr val="bg1"/>
                </a:solidFill>
              </a:endParaRPr>
            </a:p>
          </p:txBody>
        </p:sp>
        <p:sp>
          <p:nvSpPr>
            <p:cNvPr id="81" name="Text Box 69">
              <a:extLst>
                <a:ext uri="{FF2B5EF4-FFF2-40B4-BE49-F238E27FC236}">
                  <a16:creationId xmlns:a16="http://schemas.microsoft.com/office/drawing/2014/main" id="{1C41DC3D-C184-4FEB-81AA-A3A4E186AAB8}"/>
                </a:ext>
              </a:extLst>
            </p:cNvPr>
            <p:cNvSpPr txBox="1">
              <a:spLocks noChangeArrowheads="1"/>
            </p:cNvSpPr>
            <p:nvPr/>
          </p:nvSpPr>
          <p:spPr bwMode="auto">
            <a:xfrm>
              <a:off x="6091238" y="28416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Comic Sans MS" panose="030F0702030302020204" pitchFamily="66" charset="0"/>
                </a:rPr>
                <a:t>2</a:t>
              </a:r>
              <a:endParaRPr lang="en-US" altLang="zh-CN" sz="2400" dirty="0">
                <a:solidFill>
                  <a:schemeClr val="bg1"/>
                </a:solidFill>
              </a:endParaRPr>
            </a:p>
          </p:txBody>
        </p:sp>
        <p:sp>
          <p:nvSpPr>
            <p:cNvPr id="82" name="Text Box 70">
              <a:extLst>
                <a:ext uri="{FF2B5EF4-FFF2-40B4-BE49-F238E27FC236}">
                  <a16:creationId xmlns:a16="http://schemas.microsoft.com/office/drawing/2014/main" id="{F8E58552-0E44-4AB5-A8A8-0139F413730D}"/>
                </a:ext>
              </a:extLst>
            </p:cNvPr>
            <p:cNvSpPr txBox="1">
              <a:spLocks noChangeArrowheads="1"/>
            </p:cNvSpPr>
            <p:nvPr/>
          </p:nvSpPr>
          <p:spPr bwMode="auto">
            <a:xfrm>
              <a:off x="5418138" y="3179763"/>
              <a:ext cx="2873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1</a:t>
              </a:r>
              <a:endParaRPr lang="en-US" altLang="zh-CN" sz="2400">
                <a:solidFill>
                  <a:schemeClr val="bg1"/>
                </a:solidFill>
              </a:endParaRPr>
            </a:p>
          </p:txBody>
        </p:sp>
        <p:sp>
          <p:nvSpPr>
            <p:cNvPr id="83" name="Text Box 71">
              <a:extLst>
                <a:ext uri="{FF2B5EF4-FFF2-40B4-BE49-F238E27FC236}">
                  <a16:creationId xmlns:a16="http://schemas.microsoft.com/office/drawing/2014/main" id="{AB816B49-DE70-4251-AB6E-C0B2CB8B3F81}"/>
                </a:ext>
              </a:extLst>
            </p:cNvPr>
            <p:cNvSpPr txBox="1">
              <a:spLocks noChangeArrowheads="1"/>
            </p:cNvSpPr>
            <p:nvPr/>
          </p:nvSpPr>
          <p:spPr bwMode="auto">
            <a:xfrm>
              <a:off x="6700838" y="29892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Comic Sans MS" panose="030F0702030302020204" pitchFamily="66" charset="0"/>
                </a:rPr>
                <a:t>3</a:t>
              </a:r>
              <a:endParaRPr lang="en-US" altLang="zh-CN" sz="2400" dirty="0">
                <a:solidFill>
                  <a:schemeClr val="bg1"/>
                </a:solidFill>
              </a:endParaRPr>
            </a:p>
          </p:txBody>
        </p:sp>
        <p:sp>
          <p:nvSpPr>
            <p:cNvPr id="84" name="Text Box 72">
              <a:extLst>
                <a:ext uri="{FF2B5EF4-FFF2-40B4-BE49-F238E27FC236}">
                  <a16:creationId xmlns:a16="http://schemas.microsoft.com/office/drawing/2014/main" id="{35AD4A1B-1549-4DC7-9E5B-AE33956B1B94}"/>
                </a:ext>
              </a:extLst>
            </p:cNvPr>
            <p:cNvSpPr txBox="1">
              <a:spLocks noChangeArrowheads="1"/>
            </p:cNvSpPr>
            <p:nvPr/>
          </p:nvSpPr>
          <p:spPr bwMode="auto">
            <a:xfrm>
              <a:off x="6618288" y="3551238"/>
              <a:ext cx="2873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1</a:t>
              </a:r>
              <a:endParaRPr lang="en-US" altLang="zh-CN" sz="2400">
                <a:solidFill>
                  <a:schemeClr val="bg1"/>
                </a:solidFill>
              </a:endParaRPr>
            </a:p>
          </p:txBody>
        </p:sp>
        <p:sp>
          <p:nvSpPr>
            <p:cNvPr id="85" name="Text Box 73">
              <a:extLst>
                <a:ext uri="{FF2B5EF4-FFF2-40B4-BE49-F238E27FC236}">
                  <a16:creationId xmlns:a16="http://schemas.microsoft.com/office/drawing/2014/main" id="{FEA1AB5B-4E91-4BFA-9B1F-FB7CFABB7F74}"/>
                </a:ext>
              </a:extLst>
            </p:cNvPr>
            <p:cNvSpPr txBox="1">
              <a:spLocks noChangeArrowheads="1"/>
            </p:cNvSpPr>
            <p:nvPr/>
          </p:nvSpPr>
          <p:spPr bwMode="auto">
            <a:xfrm>
              <a:off x="7189788" y="2870200"/>
              <a:ext cx="2873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1</a:t>
              </a:r>
              <a:endParaRPr lang="en-US" altLang="zh-CN" sz="2400">
                <a:solidFill>
                  <a:schemeClr val="bg1"/>
                </a:solidFill>
              </a:endParaRPr>
            </a:p>
          </p:txBody>
        </p:sp>
        <p:sp>
          <p:nvSpPr>
            <p:cNvPr id="86" name="Text Box 74">
              <a:extLst>
                <a:ext uri="{FF2B5EF4-FFF2-40B4-BE49-F238E27FC236}">
                  <a16:creationId xmlns:a16="http://schemas.microsoft.com/office/drawing/2014/main" id="{F9B46E04-2F4B-4858-84D9-C75A972EC449}"/>
                </a:ext>
              </a:extLst>
            </p:cNvPr>
            <p:cNvSpPr txBox="1">
              <a:spLocks noChangeArrowheads="1"/>
            </p:cNvSpPr>
            <p:nvPr/>
          </p:nvSpPr>
          <p:spPr bwMode="auto">
            <a:xfrm>
              <a:off x="7743825" y="3289300"/>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2</a:t>
              </a:r>
              <a:endParaRPr lang="en-US" altLang="zh-CN" sz="2400">
                <a:solidFill>
                  <a:schemeClr val="bg1"/>
                </a:solidFill>
              </a:endParaRPr>
            </a:p>
          </p:txBody>
        </p:sp>
        <p:sp>
          <p:nvSpPr>
            <p:cNvPr id="87" name="Text Box 75">
              <a:extLst>
                <a:ext uri="{FF2B5EF4-FFF2-40B4-BE49-F238E27FC236}">
                  <a16:creationId xmlns:a16="http://schemas.microsoft.com/office/drawing/2014/main" id="{828AB44C-5A08-4B42-A930-797846A54835}"/>
                </a:ext>
              </a:extLst>
            </p:cNvPr>
            <p:cNvSpPr txBox="1">
              <a:spLocks noChangeArrowheads="1"/>
            </p:cNvSpPr>
            <p:nvPr/>
          </p:nvSpPr>
          <p:spPr bwMode="auto">
            <a:xfrm>
              <a:off x="7700963" y="243681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5</a:t>
              </a:r>
              <a:endParaRPr lang="en-US" altLang="zh-CN" sz="2400">
                <a:solidFill>
                  <a:schemeClr val="bg1"/>
                </a:solidFill>
              </a:endParaRPr>
            </a:p>
          </p:txBody>
        </p:sp>
        <p:sp>
          <p:nvSpPr>
            <p:cNvPr id="88" name="Text Box 76">
              <a:extLst>
                <a:ext uri="{FF2B5EF4-FFF2-40B4-BE49-F238E27FC236}">
                  <a16:creationId xmlns:a16="http://schemas.microsoft.com/office/drawing/2014/main" id="{5B013C5C-63A0-4EB5-ACD9-2C2998C5BF42}"/>
                </a:ext>
              </a:extLst>
            </p:cNvPr>
            <p:cNvSpPr txBox="1">
              <a:spLocks noChangeArrowheads="1"/>
            </p:cNvSpPr>
            <p:nvPr/>
          </p:nvSpPr>
          <p:spPr bwMode="auto">
            <a:xfrm>
              <a:off x="6534150" y="2198688"/>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3</a:t>
              </a:r>
              <a:endParaRPr lang="en-US" altLang="zh-CN" sz="2400">
                <a:solidFill>
                  <a:schemeClr val="bg1"/>
                </a:solidFill>
              </a:endParaRPr>
            </a:p>
          </p:txBody>
        </p:sp>
        <p:sp>
          <p:nvSpPr>
            <p:cNvPr id="89" name="Text Box 77">
              <a:extLst>
                <a:ext uri="{FF2B5EF4-FFF2-40B4-BE49-F238E27FC236}">
                  <a16:creationId xmlns:a16="http://schemas.microsoft.com/office/drawing/2014/main" id="{473AA0D9-6334-4B0D-9FE9-F553FA55379A}"/>
                </a:ext>
              </a:extLst>
            </p:cNvPr>
            <p:cNvSpPr txBox="1">
              <a:spLocks noChangeArrowheads="1"/>
            </p:cNvSpPr>
            <p:nvPr/>
          </p:nvSpPr>
          <p:spPr bwMode="auto">
            <a:xfrm>
              <a:off x="5976938" y="17748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5</a:t>
              </a:r>
              <a:endParaRPr lang="en-US" altLang="zh-CN" sz="2400">
                <a:solidFill>
                  <a:schemeClr val="bg1"/>
                </a:solidFill>
              </a:endParaRPr>
            </a:p>
          </p:txBody>
        </p:sp>
      </p:grpSp>
      <p:sp>
        <p:nvSpPr>
          <p:cNvPr id="103" name="Line 85">
            <a:extLst>
              <a:ext uri="{FF2B5EF4-FFF2-40B4-BE49-F238E27FC236}">
                <a16:creationId xmlns:a16="http://schemas.microsoft.com/office/drawing/2014/main" id="{2E34D558-ACFA-4288-BCED-91EC834079FE}"/>
              </a:ext>
            </a:extLst>
          </p:cNvPr>
          <p:cNvSpPr>
            <a:spLocks noChangeShapeType="1"/>
          </p:cNvSpPr>
          <p:nvPr/>
        </p:nvSpPr>
        <p:spPr bwMode="auto">
          <a:xfrm>
            <a:off x="3477519" y="6057532"/>
            <a:ext cx="447675" cy="44767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 name="Line 86">
            <a:extLst>
              <a:ext uri="{FF2B5EF4-FFF2-40B4-BE49-F238E27FC236}">
                <a16:creationId xmlns:a16="http://schemas.microsoft.com/office/drawing/2014/main" id="{B365A72B-BCD8-4349-BD59-8D8E77FACF86}"/>
              </a:ext>
            </a:extLst>
          </p:cNvPr>
          <p:cNvSpPr>
            <a:spLocks noChangeShapeType="1"/>
          </p:cNvSpPr>
          <p:nvPr/>
        </p:nvSpPr>
        <p:spPr bwMode="auto">
          <a:xfrm flipV="1">
            <a:off x="4383634" y="6582714"/>
            <a:ext cx="581025" cy="952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5" name="Line 87">
            <a:extLst>
              <a:ext uri="{FF2B5EF4-FFF2-40B4-BE49-F238E27FC236}">
                <a16:creationId xmlns:a16="http://schemas.microsoft.com/office/drawing/2014/main" id="{9D439D86-A545-4C9D-8CC3-CF74509B82D5}"/>
              </a:ext>
            </a:extLst>
          </p:cNvPr>
          <p:cNvSpPr>
            <a:spLocks noChangeShapeType="1"/>
          </p:cNvSpPr>
          <p:nvPr/>
        </p:nvSpPr>
        <p:spPr bwMode="auto">
          <a:xfrm flipV="1">
            <a:off x="3576556" y="5549074"/>
            <a:ext cx="495300" cy="25717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6" name="Line 88">
            <a:extLst>
              <a:ext uri="{FF2B5EF4-FFF2-40B4-BE49-F238E27FC236}">
                <a16:creationId xmlns:a16="http://schemas.microsoft.com/office/drawing/2014/main" id="{C50262DE-6490-4D9A-A295-AC84A2425FB8}"/>
              </a:ext>
            </a:extLst>
          </p:cNvPr>
          <p:cNvSpPr>
            <a:spLocks noChangeShapeType="1"/>
          </p:cNvSpPr>
          <p:nvPr/>
        </p:nvSpPr>
        <p:spPr bwMode="auto">
          <a:xfrm flipV="1">
            <a:off x="5227722" y="5564951"/>
            <a:ext cx="0" cy="84772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 name="Line 89">
            <a:extLst>
              <a:ext uri="{FF2B5EF4-FFF2-40B4-BE49-F238E27FC236}">
                <a16:creationId xmlns:a16="http://schemas.microsoft.com/office/drawing/2014/main" id="{2E5D4B3F-CBA4-41B9-8126-F52EA78C5815}"/>
              </a:ext>
            </a:extLst>
          </p:cNvPr>
          <p:cNvSpPr>
            <a:spLocks noChangeShapeType="1"/>
          </p:cNvSpPr>
          <p:nvPr/>
        </p:nvSpPr>
        <p:spPr bwMode="auto">
          <a:xfrm flipV="1">
            <a:off x="5490563" y="6125338"/>
            <a:ext cx="567437" cy="413543"/>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10" name="组合 127"/>
          <p:cNvGrpSpPr/>
          <p:nvPr/>
        </p:nvGrpSpPr>
        <p:grpSpPr>
          <a:xfrm>
            <a:off x="7837224" y="4607782"/>
            <a:ext cx="3441699" cy="2295337"/>
            <a:chOff x="6769732" y="4328661"/>
            <a:chExt cx="3441699" cy="2295337"/>
          </a:xfrm>
        </p:grpSpPr>
        <p:grpSp>
          <p:nvGrpSpPr>
            <p:cNvPr id="111" name="Group 58">
              <a:extLst>
                <a:ext uri="{FF2B5EF4-FFF2-40B4-BE49-F238E27FC236}">
                  <a16:creationId xmlns:a16="http://schemas.microsoft.com/office/drawing/2014/main" id="{3F9CEECA-9A02-4C6F-994D-21BBFBF5E768}"/>
                </a:ext>
              </a:extLst>
            </p:cNvPr>
            <p:cNvGrpSpPr>
              <a:grpSpLocks/>
            </p:cNvGrpSpPr>
            <p:nvPr/>
          </p:nvGrpSpPr>
          <p:grpSpPr bwMode="auto">
            <a:xfrm>
              <a:off x="6769664" y="4328665"/>
              <a:ext cx="3441339" cy="2274891"/>
              <a:chOff x="410" y="2768"/>
              <a:chExt cx="2168" cy="1433"/>
            </a:xfrm>
          </p:grpSpPr>
          <p:sp>
            <p:nvSpPr>
              <p:cNvPr id="119" name="Line 59">
                <a:extLst>
                  <a:ext uri="{FF2B5EF4-FFF2-40B4-BE49-F238E27FC236}">
                    <a16:creationId xmlns:a16="http://schemas.microsoft.com/office/drawing/2014/main" id="{541B13AC-0FEC-424C-AA01-318D90DEAA78}"/>
                  </a:ext>
                </a:extLst>
              </p:cNvPr>
              <p:cNvSpPr>
                <a:spLocks noChangeShapeType="1"/>
              </p:cNvSpPr>
              <p:nvPr/>
            </p:nvSpPr>
            <p:spPr bwMode="auto">
              <a:xfrm>
                <a:off x="1026" y="2819"/>
                <a:ext cx="3" cy="132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0" name="Line 60">
                <a:extLst>
                  <a:ext uri="{FF2B5EF4-FFF2-40B4-BE49-F238E27FC236}">
                    <a16:creationId xmlns:a16="http://schemas.microsoft.com/office/drawing/2014/main" id="{8FD07D92-30EC-4AAA-AA44-78CB0DC7F50B}"/>
                  </a:ext>
                </a:extLst>
              </p:cNvPr>
              <p:cNvSpPr>
                <a:spLocks noChangeShapeType="1"/>
              </p:cNvSpPr>
              <p:nvPr/>
            </p:nvSpPr>
            <p:spPr bwMode="auto">
              <a:xfrm flipV="1">
                <a:off x="410" y="3044"/>
                <a:ext cx="2168" cy="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1" name="Text Box 61">
                <a:extLst>
                  <a:ext uri="{FF2B5EF4-FFF2-40B4-BE49-F238E27FC236}">
                    <a16:creationId xmlns:a16="http://schemas.microsoft.com/office/drawing/2014/main" id="{16F32822-BBF0-42B0-A758-C50BAD82F2D2}"/>
                  </a:ext>
                </a:extLst>
              </p:cNvPr>
              <p:cNvSpPr txBox="1">
                <a:spLocks noChangeArrowheads="1"/>
              </p:cNvSpPr>
              <p:nvPr/>
            </p:nvSpPr>
            <p:spPr bwMode="auto">
              <a:xfrm>
                <a:off x="637" y="3060"/>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v</a:t>
                </a:r>
                <a:endParaRPr 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2" name="Text Box 62">
                <a:extLst>
                  <a:ext uri="{FF2B5EF4-FFF2-40B4-BE49-F238E27FC236}">
                    <a16:creationId xmlns:a16="http://schemas.microsoft.com/office/drawing/2014/main" id="{5E0C90F9-9C25-4FE8-82E9-7C9BD38F25FE}"/>
                  </a:ext>
                </a:extLst>
              </p:cNvPr>
              <p:cNvSpPr txBox="1">
                <a:spLocks noChangeArrowheads="1"/>
              </p:cNvSpPr>
              <p:nvPr/>
            </p:nvSpPr>
            <p:spPr bwMode="auto">
              <a:xfrm>
                <a:off x="630" y="3247"/>
                <a:ext cx="233"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w</a:t>
                </a:r>
              </a:p>
            </p:txBody>
          </p:sp>
          <p:sp>
            <p:nvSpPr>
              <p:cNvPr id="123" name="Text Box 63">
                <a:extLst>
                  <a:ext uri="{FF2B5EF4-FFF2-40B4-BE49-F238E27FC236}">
                    <a16:creationId xmlns:a16="http://schemas.microsoft.com/office/drawing/2014/main" id="{68435106-1882-49DA-A4D2-9E1C79CB34CE}"/>
                  </a:ext>
                </a:extLst>
              </p:cNvPr>
              <p:cNvSpPr txBox="1">
                <a:spLocks noChangeArrowheads="1"/>
              </p:cNvSpPr>
              <p:nvPr/>
            </p:nvSpPr>
            <p:spPr bwMode="auto">
              <a:xfrm>
                <a:off x="629" y="3469"/>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24" name="Text Box 64">
                <a:extLst>
                  <a:ext uri="{FF2B5EF4-FFF2-40B4-BE49-F238E27FC236}">
                    <a16:creationId xmlns:a16="http://schemas.microsoft.com/office/drawing/2014/main" id="{7BC88D33-67C2-48BC-91EB-DE739A6397F5}"/>
                  </a:ext>
                </a:extLst>
              </p:cNvPr>
              <p:cNvSpPr txBox="1">
                <a:spLocks noChangeArrowheads="1"/>
              </p:cNvSpPr>
              <p:nvPr/>
            </p:nvSpPr>
            <p:spPr bwMode="auto">
              <a:xfrm>
                <a:off x="629" y="3717"/>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y</a:t>
                </a:r>
              </a:p>
            </p:txBody>
          </p:sp>
          <p:sp>
            <p:nvSpPr>
              <p:cNvPr id="125" name="Text Box 65">
                <a:extLst>
                  <a:ext uri="{FF2B5EF4-FFF2-40B4-BE49-F238E27FC236}">
                    <a16:creationId xmlns:a16="http://schemas.microsoft.com/office/drawing/2014/main" id="{7CC30D77-31E3-4127-9AD9-6F0718558F8B}"/>
                  </a:ext>
                </a:extLst>
              </p:cNvPr>
              <p:cNvSpPr txBox="1">
                <a:spLocks noChangeArrowheads="1"/>
              </p:cNvSpPr>
              <p:nvPr/>
            </p:nvSpPr>
            <p:spPr bwMode="auto">
              <a:xfrm>
                <a:off x="638" y="3943"/>
                <a:ext cx="1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z</a:t>
                </a:r>
              </a:p>
            </p:txBody>
          </p:sp>
          <p:sp>
            <p:nvSpPr>
              <p:cNvPr id="126" name="Text Box 66">
                <a:extLst>
                  <a:ext uri="{FF2B5EF4-FFF2-40B4-BE49-F238E27FC236}">
                    <a16:creationId xmlns:a16="http://schemas.microsoft.com/office/drawing/2014/main" id="{47536634-56F5-4907-A2A3-D511F5EB92E1}"/>
                  </a:ext>
                </a:extLst>
              </p:cNvPr>
              <p:cNvSpPr txBox="1">
                <a:spLocks noChangeArrowheads="1"/>
              </p:cNvSpPr>
              <p:nvPr/>
            </p:nvSpPr>
            <p:spPr bwMode="auto">
              <a:xfrm>
                <a:off x="1333" y="3044"/>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v</a:t>
                </a:r>
              </a:p>
            </p:txBody>
          </p:sp>
          <p:sp>
            <p:nvSpPr>
              <p:cNvPr id="127" name="Text Box 67">
                <a:extLst>
                  <a:ext uri="{FF2B5EF4-FFF2-40B4-BE49-F238E27FC236}">
                    <a16:creationId xmlns:a16="http://schemas.microsoft.com/office/drawing/2014/main" id="{33C0141E-DACA-4E45-9FE6-9F29C08CAFE4}"/>
                  </a:ext>
                </a:extLst>
              </p:cNvPr>
              <p:cNvSpPr txBox="1">
                <a:spLocks noChangeArrowheads="1"/>
              </p:cNvSpPr>
              <p:nvPr/>
            </p:nvSpPr>
            <p:spPr bwMode="auto">
              <a:xfrm>
                <a:off x="1334" y="3246"/>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28" name="Text Box 68">
                <a:extLst>
                  <a:ext uri="{FF2B5EF4-FFF2-40B4-BE49-F238E27FC236}">
                    <a16:creationId xmlns:a16="http://schemas.microsoft.com/office/drawing/2014/main" id="{E8CA7F13-3AB3-43F2-9F33-5D0FABCAD56F}"/>
                  </a:ext>
                </a:extLst>
              </p:cNvPr>
              <p:cNvSpPr txBox="1">
                <a:spLocks noChangeArrowheads="1"/>
              </p:cNvSpPr>
              <p:nvPr/>
            </p:nvSpPr>
            <p:spPr bwMode="auto">
              <a:xfrm>
                <a:off x="1334" y="3481"/>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29" name="Text Box 69">
                <a:extLst>
                  <a:ext uri="{FF2B5EF4-FFF2-40B4-BE49-F238E27FC236}">
                    <a16:creationId xmlns:a16="http://schemas.microsoft.com/office/drawing/2014/main" id="{C09F8FA2-81F4-479A-9FBA-E484621E99F0}"/>
                  </a:ext>
                </a:extLst>
              </p:cNvPr>
              <p:cNvSpPr txBox="1">
                <a:spLocks noChangeArrowheads="1"/>
              </p:cNvSpPr>
              <p:nvPr/>
            </p:nvSpPr>
            <p:spPr bwMode="auto">
              <a:xfrm>
                <a:off x="1335" y="3714"/>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30" name="Text Box 70">
                <a:extLst>
                  <a:ext uri="{FF2B5EF4-FFF2-40B4-BE49-F238E27FC236}">
                    <a16:creationId xmlns:a16="http://schemas.microsoft.com/office/drawing/2014/main" id="{3C4B2D42-D396-4D4B-AB1A-BE029B99E331}"/>
                  </a:ext>
                </a:extLst>
              </p:cNvPr>
              <p:cNvSpPr txBox="1">
                <a:spLocks noChangeArrowheads="1"/>
              </p:cNvSpPr>
              <p:nvPr/>
            </p:nvSpPr>
            <p:spPr bwMode="auto">
              <a:xfrm>
                <a:off x="1339" y="3949"/>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31" name="Text Box 71">
                <a:extLst>
                  <a:ext uri="{FF2B5EF4-FFF2-40B4-BE49-F238E27FC236}">
                    <a16:creationId xmlns:a16="http://schemas.microsoft.com/office/drawing/2014/main" id="{7EEDB1A5-B31B-4C03-8A39-2CE1515E9DBD}"/>
                  </a:ext>
                </a:extLst>
              </p:cNvPr>
              <p:cNvSpPr txBox="1">
                <a:spLocks noChangeArrowheads="1"/>
              </p:cNvSpPr>
              <p:nvPr/>
            </p:nvSpPr>
            <p:spPr bwMode="auto">
              <a:xfrm>
                <a:off x="520" y="2775"/>
                <a:ext cx="43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目的</a:t>
                </a:r>
                <a:endParaRPr lang="en-US" sz="2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32" name="Text Box 72">
                <a:extLst>
                  <a:ext uri="{FF2B5EF4-FFF2-40B4-BE49-F238E27FC236}">
                    <a16:creationId xmlns:a16="http://schemas.microsoft.com/office/drawing/2014/main" id="{A2051A04-D50A-4FB7-97F4-B36E49FAB165}"/>
                  </a:ext>
                </a:extLst>
              </p:cNvPr>
              <p:cNvSpPr txBox="1">
                <a:spLocks noChangeArrowheads="1"/>
              </p:cNvSpPr>
              <p:nvPr/>
            </p:nvSpPr>
            <p:spPr bwMode="auto">
              <a:xfrm>
                <a:off x="1145" y="2768"/>
                <a:ext cx="601"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下一跳</a:t>
                </a:r>
                <a:endParaRPr lang="en-US" sz="2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sp>
          <p:nvSpPr>
            <p:cNvPr id="112" name="Line 59">
              <a:extLst>
                <a:ext uri="{FF2B5EF4-FFF2-40B4-BE49-F238E27FC236}">
                  <a16:creationId xmlns:a16="http://schemas.microsoft.com/office/drawing/2014/main" id="{541B13AC-0FEC-424C-AA01-318D90DEAA78}"/>
                </a:ext>
              </a:extLst>
            </p:cNvPr>
            <p:cNvSpPr>
              <a:spLocks noChangeShapeType="1"/>
            </p:cNvSpPr>
            <p:nvPr/>
          </p:nvSpPr>
          <p:spPr bwMode="auto">
            <a:xfrm>
              <a:off x="9060710" y="4457919"/>
              <a:ext cx="9840" cy="2077249"/>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3" name="Text Box 61">
              <a:extLst>
                <a:ext uri="{FF2B5EF4-FFF2-40B4-BE49-F238E27FC236}">
                  <a16:creationId xmlns:a16="http://schemas.microsoft.com/office/drawing/2014/main" id="{16F32822-BBF0-42B0-A758-C50BAD82F2D2}"/>
                </a:ext>
              </a:extLst>
            </p:cNvPr>
            <p:cNvSpPr txBox="1">
              <a:spLocks noChangeArrowheads="1"/>
            </p:cNvSpPr>
            <p:nvPr/>
          </p:nvSpPr>
          <p:spPr bwMode="auto">
            <a:xfrm>
              <a:off x="9418374" y="4810249"/>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2</a:t>
              </a:r>
            </a:p>
          </p:txBody>
        </p:sp>
        <p:sp>
          <p:nvSpPr>
            <p:cNvPr id="114" name="Text Box 62">
              <a:extLst>
                <a:ext uri="{FF2B5EF4-FFF2-40B4-BE49-F238E27FC236}">
                  <a16:creationId xmlns:a16="http://schemas.microsoft.com/office/drawing/2014/main" id="{5E0C90F9-9C25-4FE8-82E9-7C9BD38F25FE}"/>
                </a:ext>
              </a:extLst>
            </p:cNvPr>
            <p:cNvSpPr txBox="1">
              <a:spLocks noChangeArrowheads="1"/>
            </p:cNvSpPr>
            <p:nvPr/>
          </p:nvSpPr>
          <p:spPr bwMode="auto">
            <a:xfrm>
              <a:off x="9407262" y="5118987"/>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3</a:t>
              </a:r>
            </a:p>
          </p:txBody>
        </p:sp>
        <p:sp>
          <p:nvSpPr>
            <p:cNvPr id="115" name="Text Box 63">
              <a:extLst>
                <a:ext uri="{FF2B5EF4-FFF2-40B4-BE49-F238E27FC236}">
                  <a16:creationId xmlns:a16="http://schemas.microsoft.com/office/drawing/2014/main" id="{68435106-1882-49DA-A4D2-9E1C79CB34CE}"/>
                </a:ext>
              </a:extLst>
            </p:cNvPr>
            <p:cNvSpPr txBox="1">
              <a:spLocks noChangeArrowheads="1"/>
            </p:cNvSpPr>
            <p:nvPr/>
          </p:nvSpPr>
          <p:spPr bwMode="auto">
            <a:xfrm>
              <a:off x="9405674" y="5471412"/>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1</a:t>
              </a:r>
            </a:p>
          </p:txBody>
        </p:sp>
        <p:sp>
          <p:nvSpPr>
            <p:cNvPr id="116" name="Text Box 64">
              <a:extLst>
                <a:ext uri="{FF2B5EF4-FFF2-40B4-BE49-F238E27FC236}">
                  <a16:creationId xmlns:a16="http://schemas.microsoft.com/office/drawing/2014/main" id="{7BC88D33-67C2-48BC-91EB-DE739A6397F5}"/>
                </a:ext>
              </a:extLst>
            </p:cNvPr>
            <p:cNvSpPr txBox="1">
              <a:spLocks noChangeArrowheads="1"/>
            </p:cNvSpPr>
            <p:nvPr/>
          </p:nvSpPr>
          <p:spPr bwMode="auto">
            <a:xfrm>
              <a:off x="9405674" y="5865113"/>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2</a:t>
              </a:r>
            </a:p>
          </p:txBody>
        </p:sp>
        <p:sp>
          <p:nvSpPr>
            <p:cNvPr id="117" name="Text Box 65">
              <a:extLst>
                <a:ext uri="{FF2B5EF4-FFF2-40B4-BE49-F238E27FC236}">
                  <a16:creationId xmlns:a16="http://schemas.microsoft.com/office/drawing/2014/main" id="{7CC30D77-31E3-4127-9AD9-6F0718558F8B}"/>
                </a:ext>
              </a:extLst>
            </p:cNvPr>
            <p:cNvSpPr txBox="1">
              <a:spLocks noChangeArrowheads="1"/>
            </p:cNvSpPr>
            <p:nvPr/>
          </p:nvSpPr>
          <p:spPr bwMode="auto">
            <a:xfrm>
              <a:off x="9419962" y="6223888"/>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4</a:t>
              </a:r>
            </a:p>
          </p:txBody>
        </p:sp>
        <p:sp>
          <p:nvSpPr>
            <p:cNvPr id="118" name="Text Box 71">
              <a:extLst>
                <a:ext uri="{FF2B5EF4-FFF2-40B4-BE49-F238E27FC236}">
                  <a16:creationId xmlns:a16="http://schemas.microsoft.com/office/drawing/2014/main" id="{7EEDB1A5-B31B-4C03-8A39-2CE1515E9DBD}"/>
                </a:ext>
              </a:extLst>
            </p:cNvPr>
            <p:cNvSpPr txBox="1">
              <a:spLocks noChangeArrowheads="1"/>
            </p:cNvSpPr>
            <p:nvPr/>
          </p:nvSpPr>
          <p:spPr bwMode="auto">
            <a:xfrm>
              <a:off x="9179030" y="4362840"/>
              <a:ext cx="69762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代价</a:t>
              </a:r>
              <a:endParaRPr lang="en-US" sz="2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sp>
        <p:nvSpPr>
          <p:cNvPr id="134"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sp>
        <p:nvSpPr>
          <p:cNvPr id="133" name="灯片编号占位符 3">
            <a:extLst>
              <a:ext uri="{FF2B5EF4-FFF2-40B4-BE49-F238E27FC236}">
                <a16:creationId xmlns:a16="http://schemas.microsoft.com/office/drawing/2014/main" id="{4E311600-56F9-9C4F-A358-FD58492A7709}"/>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46</a:t>
            </a:fld>
            <a:endParaRPr kumimoji="1" lang="zh-CN" altLang="en-US" dirty="0"/>
          </a:p>
        </p:txBody>
      </p:sp>
      <p:pic>
        <p:nvPicPr>
          <p:cNvPr id="135" name="Picture 28" descr="015">
            <a:extLst>
              <a:ext uri="{FF2B5EF4-FFF2-40B4-BE49-F238E27FC236}">
                <a16:creationId xmlns:a16="http://schemas.microsoft.com/office/drawing/2014/main" id="{CB96F686-7039-4C3C-B7F6-BADAB7B6B88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07375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0">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8">
                                            <p:txEl>
                                              <p:pRg st="2" end="2"/>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
                                            <p:txEl>
                                              <p:pRg st="2" end="2"/>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1">
                                            <p:txEl>
                                              <p:pRg st="2" end="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2">
                                            <p:txEl>
                                              <p:pRg st="2" end="2"/>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7">
                                            <p:txEl>
                                              <p:pRg st="3" end="3"/>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8">
                                            <p:txEl>
                                              <p:pRg st="3" end="3"/>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9">
                                            <p:txEl>
                                              <p:pRg st="3" end="3"/>
                                            </p:txEl>
                                          </p:spTgt>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2">
                                            <p:txEl>
                                              <p:pRg st="3" end="3"/>
                                            </p:txEl>
                                          </p:spTgt>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25"/>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7">
                                            <p:txEl>
                                              <p:pRg st="4" end="4"/>
                                            </p:txEl>
                                          </p:spTgt>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6">
                                            <p:txEl>
                                              <p:pRg st="4" end="4"/>
                                            </p:txEl>
                                          </p:spTgt>
                                        </p:tgtEl>
                                        <p:attrNameLst>
                                          <p:attrName>style.visibility</p:attrName>
                                        </p:attrNameLst>
                                      </p:cBhvr>
                                      <p:to>
                                        <p:strVal val="visible"/>
                                      </p:to>
                                    </p:set>
                                  </p:childTnLst>
                                </p:cTn>
                              </p:par>
                              <p:par>
                                <p:cTn id="63" presetID="1" presetClass="exit" presetSubtype="0" fill="hold" grpId="1" nodeType="withEffect">
                                  <p:stCondLst>
                                    <p:cond delay="0"/>
                                  </p:stCondLst>
                                  <p:childTnLst>
                                    <p:set>
                                      <p:cBhvr>
                                        <p:cTn id="64" dur="1" fill="hold">
                                          <p:stCondLst>
                                            <p:cond delay="0"/>
                                          </p:stCondLst>
                                        </p:cTn>
                                        <p:tgtEl>
                                          <p:spTgt spid="19"/>
                                        </p:tgtEl>
                                        <p:attrNameLst>
                                          <p:attrName>style.visibility</p:attrName>
                                        </p:attrNameLst>
                                      </p:cBhvr>
                                      <p:to>
                                        <p:strVal val="hidden"/>
                                      </p:to>
                                    </p:set>
                                  </p:childTnLst>
                                </p:cTn>
                              </p:par>
                              <p:par>
                                <p:cTn id="65" presetID="1"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9">
                                            <p:txEl>
                                              <p:pRg st="4" end="4"/>
                                            </p:txEl>
                                          </p:spTgt>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26"/>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xit" presetSubtype="0" fill="hold" grpId="1" nodeType="clickEffect">
                                  <p:stCondLst>
                                    <p:cond delay="0"/>
                                  </p:stCondLst>
                                  <p:childTnLst>
                                    <p:set>
                                      <p:cBhvr>
                                        <p:cTn id="78" dur="1" fill="hold">
                                          <p:stCondLst>
                                            <p:cond delay="0"/>
                                          </p:stCondLst>
                                        </p:cTn>
                                        <p:tgtEl>
                                          <p:spTgt spid="20"/>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21"/>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7">
                                            <p:txEl>
                                              <p:pRg st="5" end="5"/>
                                            </p:txEl>
                                          </p:spTgt>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12">
                                            <p:txEl>
                                              <p:pRg st="5" end="5"/>
                                            </p:txEl>
                                          </p:spTgt>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27"/>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xit" presetSubtype="0" fill="hold" grpId="1" nodeType="clickEffect">
                                  <p:stCondLst>
                                    <p:cond delay="0"/>
                                  </p:stCondLst>
                                  <p:childTnLst>
                                    <p:set>
                                      <p:cBhvr>
                                        <p:cTn id="96" dur="1" fill="hold">
                                          <p:stCondLst>
                                            <p:cond delay="0"/>
                                          </p:stCondLst>
                                        </p:cTn>
                                        <p:tgtEl>
                                          <p:spTgt spid="21"/>
                                        </p:tgtEl>
                                        <p:attrNameLst>
                                          <p:attrName>style.visibility</p:attrName>
                                        </p:attrNameLst>
                                      </p:cBhvr>
                                      <p:to>
                                        <p:strVal val="hidden"/>
                                      </p:to>
                                    </p:set>
                                  </p:childTnLst>
                                </p:cTn>
                              </p:par>
                            </p:childTnLst>
                          </p:cTn>
                        </p:par>
                        <p:par>
                          <p:cTn id="97" fill="hold">
                            <p:stCondLst>
                              <p:cond delay="0"/>
                            </p:stCondLst>
                            <p:childTnLst>
                              <p:par>
                                <p:cTn id="98" presetID="2" presetClass="entr" presetSubtype="8" fill="hold" nodeType="afterEffect">
                                  <p:stCondLst>
                                    <p:cond delay="0"/>
                                  </p:stCondLst>
                                  <p:childTnLst>
                                    <p:set>
                                      <p:cBhvr>
                                        <p:cTn id="99" dur="1" fill="hold">
                                          <p:stCondLst>
                                            <p:cond delay="0"/>
                                          </p:stCondLst>
                                        </p:cTn>
                                        <p:tgtEl>
                                          <p:spTgt spid="22"/>
                                        </p:tgtEl>
                                        <p:attrNameLst>
                                          <p:attrName>style.visibility</p:attrName>
                                        </p:attrNameLst>
                                      </p:cBhvr>
                                      <p:to>
                                        <p:strVal val="visible"/>
                                      </p:to>
                                    </p:set>
                                    <p:anim calcmode="lin" valueType="num">
                                      <p:cBhvr additive="base">
                                        <p:cTn id="100" dur="500" fill="hold"/>
                                        <p:tgtEl>
                                          <p:spTgt spid="22"/>
                                        </p:tgtEl>
                                        <p:attrNameLst>
                                          <p:attrName>ppt_x</p:attrName>
                                        </p:attrNameLst>
                                      </p:cBhvr>
                                      <p:tavLst>
                                        <p:tav tm="0">
                                          <p:val>
                                            <p:strVal val="0-#ppt_w/2"/>
                                          </p:val>
                                        </p:tav>
                                        <p:tav tm="100000">
                                          <p:val>
                                            <p:strVal val="#ppt_x"/>
                                          </p:val>
                                        </p:tav>
                                      </p:tavLst>
                                    </p:anim>
                                    <p:anim calcmode="lin" valueType="num">
                                      <p:cBhvr additive="base">
                                        <p:cTn id="101" dur="500" fill="hold"/>
                                        <p:tgtEl>
                                          <p:spTgt spid="22"/>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22"/>
                                        </p:tgtEl>
                                        <p:attrNameLst>
                                          <p:attrName>style.visibility</p:attrName>
                                        </p:attrNameLst>
                                      </p:cBhvr>
                                      <p:to>
                                        <p:strVal val="hidden"/>
                                      </p:to>
                                    </p:set>
                                  </p:subTnLst>
                                </p:cTn>
                              </p:par>
                              <p:par>
                                <p:cTn id="102" presetID="1" presetClass="entr" presetSubtype="0" fill="hold" nodeType="withEffect">
                                  <p:stCondLst>
                                    <p:cond delay="0"/>
                                  </p:stCondLst>
                                  <p:childTnLst>
                                    <p:set>
                                      <p:cBhvr>
                                        <p:cTn id="103" dur="1" fill="hold">
                                          <p:stCondLst>
                                            <p:cond delay="0"/>
                                          </p:stCondLst>
                                        </p:cTn>
                                        <p:tgtEl>
                                          <p:spTgt spid="7">
                                            <p:txEl>
                                              <p:pRg st="6" end="6"/>
                                            </p:txEl>
                                          </p:spTgt>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29"/>
                                        </p:tgtEl>
                                        <p:attrNameLst>
                                          <p:attrName>style.visibility</p:attrName>
                                        </p:attrNameLst>
                                      </p:cBhvr>
                                      <p:to>
                                        <p:strVal val="visible"/>
                                      </p:to>
                                    </p:set>
                                  </p:childTnLst>
                                </p:cTn>
                              </p:par>
                            </p:childTnLst>
                          </p:cTn>
                        </p:par>
                      </p:childTnLst>
                    </p:cTn>
                  </p:par>
                  <p:par>
                    <p:cTn id="110" fill="hold">
                      <p:stCondLst>
                        <p:cond delay="indefinite"/>
                      </p:stCondLst>
                      <p:childTnLst>
                        <p:par>
                          <p:cTn id="111" fill="hold">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0"/>
                                        </p:tgtEl>
                                        <p:attrNameLst>
                                          <p:attrName>style.visibility</p:attrName>
                                        </p:attrNameLst>
                                      </p:cBhvr>
                                      <p:to>
                                        <p:strVal val="visible"/>
                                      </p:to>
                                    </p:set>
                                  </p:childTnLst>
                                </p:cTn>
                              </p:par>
                            </p:childTnLst>
                          </p:cTn>
                        </p:par>
                      </p:childTnLst>
                    </p:cTn>
                  </p:par>
                  <p:par>
                    <p:cTn id="114" fill="hold">
                      <p:stCondLst>
                        <p:cond delay="indefinite"/>
                      </p:stCondLst>
                      <p:childTnLst>
                        <p:par>
                          <p:cTn id="115" fill="hold">
                            <p:stCondLst>
                              <p:cond delay="0"/>
                            </p:stCondLst>
                            <p:childTnLst>
                              <p:par>
                                <p:cTn id="116" presetID="9" presetClass="entr" presetSubtype="0" fill="hold" nodeType="clickEffect">
                                  <p:stCondLst>
                                    <p:cond delay="0"/>
                                  </p:stCondLst>
                                  <p:childTnLst>
                                    <p:set>
                                      <p:cBhvr>
                                        <p:cTn id="117" dur="1" fill="hold">
                                          <p:stCondLst>
                                            <p:cond delay="0"/>
                                          </p:stCondLst>
                                        </p:cTn>
                                        <p:tgtEl>
                                          <p:spTgt spid="103"/>
                                        </p:tgtEl>
                                        <p:attrNameLst>
                                          <p:attrName>style.visibility</p:attrName>
                                        </p:attrNameLst>
                                      </p:cBhvr>
                                      <p:to>
                                        <p:strVal val="visible"/>
                                      </p:to>
                                    </p:set>
                                    <p:animEffect transition="in" filter="dissolve">
                                      <p:cBhvr>
                                        <p:cTn id="118" dur="500"/>
                                        <p:tgtEl>
                                          <p:spTgt spid="103"/>
                                        </p:tgtEl>
                                      </p:cBhvr>
                                    </p:animEffect>
                                  </p:childTnLst>
                                </p:cTn>
                              </p:par>
                            </p:childTnLst>
                          </p:cTn>
                        </p:par>
                      </p:childTnLst>
                    </p:cTn>
                  </p:par>
                  <p:par>
                    <p:cTn id="119" fill="hold">
                      <p:stCondLst>
                        <p:cond delay="indefinite"/>
                      </p:stCondLst>
                      <p:childTnLst>
                        <p:par>
                          <p:cTn id="120" fill="hold">
                            <p:stCondLst>
                              <p:cond delay="0"/>
                            </p:stCondLst>
                            <p:childTnLst>
                              <p:par>
                                <p:cTn id="121" presetID="9" presetClass="entr" presetSubtype="0" fill="hold" nodeType="clickEffect">
                                  <p:stCondLst>
                                    <p:cond delay="0"/>
                                  </p:stCondLst>
                                  <p:childTnLst>
                                    <p:set>
                                      <p:cBhvr>
                                        <p:cTn id="122" dur="1" fill="hold">
                                          <p:stCondLst>
                                            <p:cond delay="0"/>
                                          </p:stCondLst>
                                        </p:cTn>
                                        <p:tgtEl>
                                          <p:spTgt spid="104"/>
                                        </p:tgtEl>
                                        <p:attrNameLst>
                                          <p:attrName>style.visibility</p:attrName>
                                        </p:attrNameLst>
                                      </p:cBhvr>
                                      <p:to>
                                        <p:strVal val="visible"/>
                                      </p:to>
                                    </p:set>
                                    <p:animEffect transition="in" filter="dissolve">
                                      <p:cBhvr>
                                        <p:cTn id="123" dur="500"/>
                                        <p:tgtEl>
                                          <p:spTgt spid="104"/>
                                        </p:tgtEl>
                                      </p:cBhvr>
                                    </p:animEffect>
                                  </p:childTnLst>
                                </p:cTn>
                              </p:par>
                            </p:childTnLst>
                          </p:cTn>
                        </p:par>
                      </p:childTnLst>
                    </p:cTn>
                  </p:par>
                  <p:par>
                    <p:cTn id="124" fill="hold">
                      <p:stCondLst>
                        <p:cond delay="indefinite"/>
                      </p:stCondLst>
                      <p:childTnLst>
                        <p:par>
                          <p:cTn id="125" fill="hold">
                            <p:stCondLst>
                              <p:cond delay="0"/>
                            </p:stCondLst>
                            <p:childTnLst>
                              <p:par>
                                <p:cTn id="126" presetID="9" presetClass="entr" presetSubtype="0" fill="hold" nodeType="clickEffect">
                                  <p:stCondLst>
                                    <p:cond delay="0"/>
                                  </p:stCondLst>
                                  <p:childTnLst>
                                    <p:set>
                                      <p:cBhvr>
                                        <p:cTn id="127" dur="1" fill="hold">
                                          <p:stCondLst>
                                            <p:cond delay="0"/>
                                          </p:stCondLst>
                                        </p:cTn>
                                        <p:tgtEl>
                                          <p:spTgt spid="105"/>
                                        </p:tgtEl>
                                        <p:attrNameLst>
                                          <p:attrName>style.visibility</p:attrName>
                                        </p:attrNameLst>
                                      </p:cBhvr>
                                      <p:to>
                                        <p:strVal val="visible"/>
                                      </p:to>
                                    </p:set>
                                    <p:animEffect transition="in" filter="dissolve">
                                      <p:cBhvr>
                                        <p:cTn id="128" dur="500"/>
                                        <p:tgtEl>
                                          <p:spTgt spid="105"/>
                                        </p:tgtEl>
                                      </p:cBhvr>
                                    </p:animEffect>
                                  </p:childTnLst>
                                </p:cTn>
                              </p:par>
                            </p:childTnLst>
                          </p:cTn>
                        </p:par>
                      </p:childTnLst>
                    </p:cTn>
                  </p:par>
                  <p:par>
                    <p:cTn id="129" fill="hold">
                      <p:stCondLst>
                        <p:cond delay="indefinite"/>
                      </p:stCondLst>
                      <p:childTnLst>
                        <p:par>
                          <p:cTn id="130" fill="hold">
                            <p:stCondLst>
                              <p:cond delay="0"/>
                            </p:stCondLst>
                            <p:childTnLst>
                              <p:par>
                                <p:cTn id="131" presetID="9" presetClass="entr" presetSubtype="0" fill="hold" nodeType="clickEffect">
                                  <p:stCondLst>
                                    <p:cond delay="0"/>
                                  </p:stCondLst>
                                  <p:childTnLst>
                                    <p:set>
                                      <p:cBhvr>
                                        <p:cTn id="132" dur="1" fill="hold">
                                          <p:stCondLst>
                                            <p:cond delay="0"/>
                                          </p:stCondLst>
                                        </p:cTn>
                                        <p:tgtEl>
                                          <p:spTgt spid="106"/>
                                        </p:tgtEl>
                                        <p:attrNameLst>
                                          <p:attrName>style.visibility</p:attrName>
                                        </p:attrNameLst>
                                      </p:cBhvr>
                                      <p:to>
                                        <p:strVal val="visible"/>
                                      </p:to>
                                    </p:set>
                                    <p:animEffect transition="in" filter="dissolve">
                                      <p:cBhvr>
                                        <p:cTn id="133" dur="500"/>
                                        <p:tgtEl>
                                          <p:spTgt spid="106"/>
                                        </p:tgtEl>
                                      </p:cBhvr>
                                    </p:animEffect>
                                  </p:childTnLst>
                                </p:cTn>
                              </p:par>
                            </p:childTnLst>
                          </p:cTn>
                        </p:par>
                      </p:childTnLst>
                    </p:cTn>
                  </p:par>
                  <p:par>
                    <p:cTn id="134" fill="hold">
                      <p:stCondLst>
                        <p:cond delay="indefinite"/>
                      </p:stCondLst>
                      <p:childTnLst>
                        <p:par>
                          <p:cTn id="135" fill="hold">
                            <p:stCondLst>
                              <p:cond delay="0"/>
                            </p:stCondLst>
                            <p:childTnLst>
                              <p:par>
                                <p:cTn id="136" presetID="9" presetClass="entr" presetSubtype="0" fill="hold" nodeType="clickEffect">
                                  <p:stCondLst>
                                    <p:cond delay="0"/>
                                  </p:stCondLst>
                                  <p:childTnLst>
                                    <p:set>
                                      <p:cBhvr>
                                        <p:cTn id="137" dur="1" fill="hold">
                                          <p:stCondLst>
                                            <p:cond delay="0"/>
                                          </p:stCondLst>
                                        </p:cTn>
                                        <p:tgtEl>
                                          <p:spTgt spid="107"/>
                                        </p:tgtEl>
                                        <p:attrNameLst>
                                          <p:attrName>style.visibility</p:attrName>
                                        </p:attrNameLst>
                                      </p:cBhvr>
                                      <p:to>
                                        <p:strVal val="visible"/>
                                      </p:to>
                                    </p:set>
                                    <p:animEffect transition="in" filter="dissolve">
                                      <p:cBhvr>
                                        <p:cTn id="138" dur="500"/>
                                        <p:tgtEl>
                                          <p:spTgt spid="107"/>
                                        </p:tgtEl>
                                      </p:cBhvr>
                                    </p:animEffect>
                                  </p:childTnLst>
                                </p:cTn>
                              </p:par>
                            </p:childTnLst>
                          </p:cTn>
                        </p:par>
                      </p:childTnLst>
                    </p:cTn>
                  </p:par>
                  <p:par>
                    <p:cTn id="139" fill="hold">
                      <p:stCondLst>
                        <p:cond delay="indefinite"/>
                      </p:stCondLst>
                      <p:childTnLst>
                        <p:par>
                          <p:cTn id="140" fill="hold">
                            <p:stCondLst>
                              <p:cond delay="0"/>
                            </p:stCondLst>
                            <p:childTnLst>
                              <p:par>
                                <p:cTn id="141" presetID="1" presetClass="entr" presetSubtype="0" fill="hold" nodeType="clickEffect">
                                  <p:stCondLst>
                                    <p:cond delay="0"/>
                                  </p:stCondLst>
                                  <p:childTnLst>
                                    <p:set>
                                      <p:cBhvr>
                                        <p:cTn id="142" dur="1" fill="hold">
                                          <p:stCondLst>
                                            <p:cond delay="0"/>
                                          </p:stCondLst>
                                        </p:cTn>
                                        <p:tgtEl>
                                          <p:spTgt spid="1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9" grpId="1" animBg="1"/>
      <p:bldP spid="20" grpId="0" animBg="1"/>
      <p:bldP spid="20" grpId="1" animBg="1"/>
      <p:bldP spid="21" grpId="0" animBg="1"/>
      <p:bldP spid="21" grpId="1" animBg="1"/>
      <p:bldP spid="23" grpId="0" animBg="1"/>
      <p:bldP spid="24" grpId="0" animBg="1"/>
      <p:bldP spid="25" grpId="0" animBg="1"/>
      <p:bldP spid="26" grpId="0" animBg="1"/>
      <p:bldP spid="27" grpId="0" animBg="1"/>
      <p:bldP spid="28" grpId="0" animBg="1"/>
      <p:bldP spid="28" grpId="1" animBg="1"/>
      <p:bldP spid="29" grpId="0"/>
      <p:bldP spid="3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a:xfrm>
            <a:off x="838200" y="1510758"/>
            <a:ext cx="10515600" cy="4858144"/>
          </a:xfrm>
        </p:spPr>
        <p:txBody>
          <a:bodyPr numCol="2">
            <a:noAutofit/>
          </a:bodyPr>
          <a:lstStyle/>
          <a:p>
            <a:r>
              <a:rPr lang="zh-CN" altLang="en-US" dirty="0">
                <a:latin typeface="微软雅黑" panose="020B0503020204020204" pitchFamily="34" charset="-122"/>
                <a:ea typeface="微软雅黑" panose="020B0503020204020204" pitchFamily="34" charset="-122"/>
              </a:rPr>
              <a:t>距离向量和链路状态算法比较：</a:t>
            </a:r>
            <a:endParaRPr lang="en-US" altLang="zh-CN" dirty="0">
              <a:latin typeface="微软雅黑" panose="020B0503020204020204" pitchFamily="34" charset="-122"/>
              <a:ea typeface="微软雅黑" panose="020B0503020204020204" pitchFamily="34" charset="-122"/>
            </a:endParaRPr>
          </a:p>
          <a:p>
            <a:pPr lvl="1"/>
            <a:r>
              <a:rPr lang="zh-CN" altLang="zh-CN" dirty="0"/>
              <a:t>网络状态信息交换的范围</a:t>
            </a:r>
            <a:endParaRPr lang="en-US" altLang="zh-CN" dirty="0"/>
          </a:p>
          <a:p>
            <a:pPr lvl="2"/>
            <a:r>
              <a:rPr lang="en-US" altLang="zh-CN" dirty="0">
                <a:latin typeface="微软雅黑" panose="020B0503020204020204" pitchFamily="34" charset="-122"/>
                <a:ea typeface="微软雅黑" panose="020B0503020204020204" pitchFamily="34" charset="-122"/>
              </a:rPr>
              <a:t>DV:</a:t>
            </a:r>
            <a:r>
              <a:rPr lang="zh-CN" altLang="zh-CN" dirty="0"/>
              <a:t>邻居间交换</a:t>
            </a:r>
            <a:r>
              <a:rPr lang="en-US" altLang="zh-CN" dirty="0"/>
              <a:t>  </a:t>
            </a:r>
          </a:p>
          <a:p>
            <a:pPr lvl="2"/>
            <a:r>
              <a:rPr lang="en-US" altLang="zh-CN" dirty="0">
                <a:latin typeface="微软雅黑" panose="020B0503020204020204" pitchFamily="34" charset="-122"/>
                <a:ea typeface="微软雅黑" panose="020B0503020204020204" pitchFamily="34" charset="-122"/>
              </a:rPr>
              <a:t>LS:</a:t>
            </a:r>
            <a:r>
              <a:rPr lang="zh-CN" altLang="zh-CN" dirty="0"/>
              <a:t>全网扩散 </a:t>
            </a:r>
            <a:endParaRPr lang="en-US" altLang="zh-CN" dirty="0"/>
          </a:p>
          <a:p>
            <a:pPr lvl="1"/>
            <a:r>
              <a:rPr lang="zh-CN" altLang="zh-CN" dirty="0"/>
              <a:t>网络状态信息的可靠性</a:t>
            </a:r>
            <a:endParaRPr lang="en-US" altLang="zh-CN" dirty="0"/>
          </a:p>
          <a:p>
            <a:pPr lvl="2"/>
            <a:r>
              <a:rPr lang="en-US" altLang="zh-CN" dirty="0">
                <a:latin typeface="微软雅黑" panose="020B0503020204020204" pitchFamily="34" charset="-122"/>
                <a:ea typeface="微软雅黑" panose="020B0503020204020204" pitchFamily="34" charset="-122"/>
              </a:rPr>
              <a:t>DV:</a:t>
            </a:r>
            <a:r>
              <a:rPr lang="zh-CN" altLang="zh-CN" dirty="0"/>
              <a:t>部分道听途说</a:t>
            </a:r>
            <a:r>
              <a:rPr lang="en-US" altLang="zh-CN" dirty="0"/>
              <a:t> </a:t>
            </a:r>
          </a:p>
          <a:p>
            <a:pPr lvl="2"/>
            <a:r>
              <a:rPr lang="en-US" altLang="zh-CN" dirty="0">
                <a:latin typeface="微软雅黑" panose="020B0503020204020204" pitchFamily="34" charset="-122"/>
                <a:ea typeface="微软雅黑" panose="020B0503020204020204" pitchFamily="34" charset="-122"/>
              </a:rPr>
              <a:t>LS:</a:t>
            </a:r>
            <a:r>
              <a:rPr lang="zh-CN" altLang="zh-CN" dirty="0"/>
              <a:t>自己测量</a:t>
            </a:r>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r>
              <a:rPr lang="zh-CN" altLang="en-US" dirty="0">
                <a:latin typeface="微软雅黑" panose="020B0503020204020204" pitchFamily="34" charset="-122"/>
                <a:ea typeface="微软雅黑" panose="020B0503020204020204" pitchFamily="34" charset="-122"/>
              </a:rPr>
              <a:t>健壮性</a:t>
            </a:r>
            <a:r>
              <a:rPr lang="en-US" altLang="zh-CN" dirty="0">
                <a:latin typeface="微软雅黑" panose="020B0503020204020204" pitchFamily="34" charset="-122"/>
                <a:ea typeface="微软雅黑" panose="020B0503020204020204" pitchFamily="34" charset="-122"/>
              </a:rPr>
              <a:t>:</a:t>
            </a:r>
          </a:p>
          <a:p>
            <a:pPr lvl="2">
              <a:defRPr/>
            </a:pPr>
            <a:r>
              <a:rPr lang="en-US" altLang="zh-CN" dirty="0">
                <a:latin typeface="微软雅黑" panose="020B0503020204020204" pitchFamily="34" charset="-122"/>
                <a:ea typeface="微软雅黑" panose="020B0503020204020204" pitchFamily="34" charset="-122"/>
              </a:rPr>
              <a:t>DV:</a:t>
            </a:r>
            <a:r>
              <a:rPr lang="zh-CN" altLang="en-US" dirty="0">
                <a:latin typeface="微软雅黑" panose="020B0503020204020204" pitchFamily="34" charset="-122"/>
                <a:ea typeface="微软雅黑" panose="020B0503020204020204" pitchFamily="34" charset="-122"/>
              </a:rPr>
              <a:t>计算结果传递，健壮性差 </a:t>
            </a:r>
            <a:endParaRPr lang="en-US" altLang="zh-CN" dirty="0">
              <a:latin typeface="微软雅黑" panose="020B0503020204020204" pitchFamily="34" charset="-122"/>
              <a:ea typeface="微软雅黑" panose="020B0503020204020204" pitchFamily="34" charset="-122"/>
            </a:endParaRPr>
          </a:p>
          <a:p>
            <a:pPr lvl="2">
              <a:defRPr/>
            </a:pPr>
            <a:r>
              <a:rPr lang="en-US" altLang="zh-CN" dirty="0">
                <a:latin typeface="微软雅黑" panose="020B0503020204020204" pitchFamily="34" charset="-122"/>
                <a:ea typeface="微软雅黑" panose="020B0503020204020204" pitchFamily="34" charset="-122"/>
              </a:rPr>
              <a:t>LS: </a:t>
            </a:r>
            <a:r>
              <a:rPr lang="zh-CN" altLang="en-US" dirty="0">
                <a:latin typeface="微软雅黑" panose="020B0503020204020204" pitchFamily="34" charset="-122"/>
                <a:ea typeface="微软雅黑" panose="020B0503020204020204" pitchFamily="34" charset="-122"/>
              </a:rPr>
              <a:t>各自计算，健壮性好</a:t>
            </a:r>
            <a:endParaRPr lang="en-US" altLang="zh-CN" sz="3600" dirty="0">
              <a:latin typeface="微软雅黑" panose="020B0503020204020204" pitchFamily="34" charset="-122"/>
              <a:ea typeface="微软雅黑" panose="020B0503020204020204" pitchFamily="34" charset="-122"/>
            </a:endParaRPr>
          </a:p>
          <a:p>
            <a:pPr lvl="1"/>
            <a:r>
              <a:rPr lang="zh-CN" altLang="en-US" dirty="0">
                <a:latin typeface="微软雅黑" panose="020B0503020204020204" pitchFamily="34" charset="-122"/>
                <a:ea typeface="微软雅黑" panose="020B0503020204020204" pitchFamily="34" charset="-122"/>
              </a:rPr>
              <a:t>收敛速度：</a:t>
            </a:r>
            <a:endParaRPr lang="en-US" altLang="zh-CN" dirty="0">
              <a:latin typeface="微软雅黑" panose="020B0503020204020204" pitchFamily="34" charset="-122"/>
              <a:ea typeface="微软雅黑" panose="020B0503020204020204" pitchFamily="34" charset="-122"/>
            </a:endParaRPr>
          </a:p>
          <a:p>
            <a:pPr lvl="2"/>
            <a:r>
              <a:rPr lang="en-US" altLang="zh-CN" dirty="0">
                <a:latin typeface="微软雅黑" panose="020B0503020204020204" pitchFamily="34" charset="-122"/>
                <a:ea typeface="微软雅黑" panose="020B0503020204020204" pitchFamily="34" charset="-122"/>
              </a:rPr>
              <a:t>DV:  </a:t>
            </a:r>
            <a:r>
              <a:rPr lang="zh-CN" altLang="en-US" dirty="0">
                <a:latin typeface="微软雅黑" panose="020B0503020204020204" pitchFamily="34" charset="-122"/>
                <a:ea typeface="微软雅黑" panose="020B0503020204020204" pitchFamily="34" charset="-122"/>
              </a:rPr>
              <a:t>慢</a:t>
            </a:r>
            <a:r>
              <a:rPr lang="en-US" altLang="zh-CN" dirty="0">
                <a:latin typeface="微软雅黑" panose="020B0503020204020204" pitchFamily="34" charset="-122"/>
                <a:ea typeface="微软雅黑" panose="020B0503020204020204" pitchFamily="34" charset="-122"/>
              </a:rPr>
              <a:t>,</a:t>
            </a:r>
            <a:r>
              <a:rPr lang="zh-CN" altLang="en-US" dirty="0">
                <a:latin typeface="微软雅黑" panose="020B0503020204020204" pitchFamily="34" charset="-122"/>
                <a:ea typeface="微软雅黑" panose="020B0503020204020204" pitchFamily="34" charset="-122"/>
              </a:rPr>
              <a:t>可能有计数到无穷问题 </a:t>
            </a:r>
            <a:endParaRPr lang="en-US" altLang="zh-CN" dirty="0">
              <a:latin typeface="微软雅黑" panose="020B0503020204020204" pitchFamily="34" charset="-122"/>
              <a:ea typeface="微软雅黑" panose="020B0503020204020204" pitchFamily="34" charset="-122"/>
            </a:endParaRPr>
          </a:p>
          <a:p>
            <a:pPr lvl="2"/>
            <a:r>
              <a:rPr lang="en-US" altLang="zh-CN" dirty="0">
                <a:latin typeface="微软雅黑" panose="020B0503020204020204" pitchFamily="34" charset="-122"/>
                <a:ea typeface="微软雅黑" panose="020B0503020204020204" pitchFamily="34" charset="-122"/>
              </a:rPr>
              <a:t>LS:  </a:t>
            </a:r>
            <a:r>
              <a:rPr lang="zh-CN" altLang="en-US" dirty="0">
                <a:latin typeface="微软雅黑" panose="020B0503020204020204" pitchFamily="34" charset="-122"/>
                <a:ea typeface="微软雅黑" panose="020B0503020204020204" pitchFamily="34" charset="-122"/>
              </a:rPr>
              <a:t>快</a:t>
            </a:r>
            <a:endParaRPr lang="en-US" altLang="zh-CN" dirty="0">
              <a:latin typeface="微软雅黑" panose="020B0503020204020204" pitchFamily="34" charset="-122"/>
              <a:ea typeface="微软雅黑" panose="020B0503020204020204" pitchFamily="34" charset="-122"/>
            </a:endParaRPr>
          </a:p>
        </p:txBody>
      </p:sp>
      <p:sp>
        <p:nvSpPr>
          <p:cNvPr id="6" name="日期占位符 9">
            <a:extLst>
              <a:ext uri="{FF2B5EF4-FFF2-40B4-BE49-F238E27FC236}">
                <a16:creationId xmlns:a16="http://schemas.microsoft.com/office/drawing/2014/main"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5.2.4 </a:t>
            </a:r>
            <a:r>
              <a:rPr kumimoji="1" lang="zh-CN" altLang="en-US" dirty="0"/>
              <a:t>链路状态路由</a:t>
            </a:r>
          </a:p>
        </p:txBody>
      </p:sp>
      <p:sp>
        <p:nvSpPr>
          <p:cNvPr id="5" name="灯片编号占位符 3">
            <a:extLst>
              <a:ext uri="{FF2B5EF4-FFF2-40B4-BE49-F238E27FC236}">
                <a16:creationId xmlns:a16="http://schemas.microsoft.com/office/drawing/2014/main" id="{566D74CB-15E9-1B41-8B4C-18AF5BE31B3C}"/>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47</a:t>
            </a:fld>
            <a:endParaRPr kumimoji="1" lang="zh-CN" altLang="en-US" dirty="0"/>
          </a:p>
        </p:txBody>
      </p:sp>
      <p:pic>
        <p:nvPicPr>
          <p:cNvPr id="7" name="Picture 28" descr="015">
            <a:extLst>
              <a:ext uri="{FF2B5EF4-FFF2-40B4-BE49-F238E27FC236}">
                <a16:creationId xmlns:a16="http://schemas.microsoft.com/office/drawing/2014/main" id="{8F30A031-7B35-492C-9E15-B9C4F9297D8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1057017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组合 66">
            <a:extLst>
              <a:ext uri="{FF2B5EF4-FFF2-40B4-BE49-F238E27FC236}">
                <a16:creationId xmlns:a16="http://schemas.microsoft.com/office/drawing/2014/main" id="{D06FBD46-35D9-4CBD-978C-11CC366A2C2B}"/>
              </a:ext>
            </a:extLst>
          </p:cNvPr>
          <p:cNvGrpSpPr/>
          <p:nvPr/>
        </p:nvGrpSpPr>
        <p:grpSpPr>
          <a:xfrm>
            <a:off x="8700439" y="2144917"/>
            <a:ext cx="2675669" cy="2930008"/>
            <a:chOff x="8700439" y="2349111"/>
            <a:chExt cx="2675669" cy="2930008"/>
          </a:xfrm>
        </p:grpSpPr>
        <p:cxnSp>
          <p:nvCxnSpPr>
            <p:cNvPr id="47" name="直接连接符 46">
              <a:extLst>
                <a:ext uri="{FF2B5EF4-FFF2-40B4-BE49-F238E27FC236}">
                  <a16:creationId xmlns:a16="http://schemas.microsoft.com/office/drawing/2014/main" id="{6371D84A-E35B-4B3D-923C-05925905383F}"/>
                </a:ext>
              </a:extLst>
            </p:cNvPr>
            <p:cNvCxnSpPr>
              <a:cxnSpLocks/>
            </p:cNvCxnSpPr>
            <p:nvPr/>
          </p:nvCxnSpPr>
          <p:spPr>
            <a:xfrm>
              <a:off x="9528320" y="2349111"/>
              <a:ext cx="0" cy="128242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7" name="Picture 14">
              <a:extLst>
                <a:ext uri="{FF2B5EF4-FFF2-40B4-BE49-F238E27FC236}">
                  <a16:creationId xmlns:a16="http://schemas.microsoft.com/office/drawing/2014/main" id="{E88506D7-2C2C-44F8-B596-A4F461F43A1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70439" y="3713025"/>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9" descr="服务器终端">
              <a:extLst>
                <a:ext uri="{FF2B5EF4-FFF2-40B4-BE49-F238E27FC236}">
                  <a16:creationId xmlns:a16="http://schemas.microsoft.com/office/drawing/2014/main" id="{0BD55A19-7E12-4E4A-9DD2-AEB516CE7A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09066" y="366834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9" name="文本框 58">
              <a:extLst>
                <a:ext uri="{FF2B5EF4-FFF2-40B4-BE49-F238E27FC236}">
                  <a16:creationId xmlns:a16="http://schemas.microsoft.com/office/drawing/2014/main" id="{7007F99C-3847-42F4-B809-65917853AE65}"/>
                </a:ext>
              </a:extLst>
            </p:cNvPr>
            <p:cNvSpPr txBox="1"/>
            <p:nvPr/>
          </p:nvSpPr>
          <p:spPr>
            <a:xfrm>
              <a:off x="9925823" y="4184722"/>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PC7</a:t>
              </a:r>
              <a:endParaRPr lang="zh-CN" altLang="en-US" dirty="0">
                <a:latin typeface="微软雅黑" panose="020B0503020204020204" pitchFamily="34" charset="-122"/>
                <a:ea typeface="微软雅黑" panose="020B0503020204020204" pitchFamily="34" charset="-122"/>
              </a:endParaRPr>
            </a:p>
          </p:txBody>
        </p:sp>
        <p:pic>
          <p:nvPicPr>
            <p:cNvPr id="60" name="Picture 9" descr="服务器终端">
              <a:extLst>
                <a:ext uri="{FF2B5EF4-FFF2-40B4-BE49-F238E27FC236}">
                  <a16:creationId xmlns:a16="http://schemas.microsoft.com/office/drawing/2014/main" id="{193D9D8D-3B95-43A0-9721-9C697BB10D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1309" y="4271820"/>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61" name="文本框 60">
              <a:extLst>
                <a:ext uri="{FF2B5EF4-FFF2-40B4-BE49-F238E27FC236}">
                  <a16:creationId xmlns:a16="http://schemas.microsoft.com/office/drawing/2014/main" id="{7EA40BF5-0C52-47CC-BBDC-D295C38076D3}"/>
                </a:ext>
              </a:extLst>
            </p:cNvPr>
            <p:cNvSpPr txBox="1"/>
            <p:nvPr/>
          </p:nvSpPr>
          <p:spPr>
            <a:xfrm>
              <a:off x="10516061" y="4734750"/>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PC8</a:t>
              </a:r>
              <a:endParaRPr lang="zh-CN" altLang="en-US" dirty="0">
                <a:latin typeface="微软雅黑" panose="020B0503020204020204" pitchFamily="34" charset="-122"/>
                <a:ea typeface="微软雅黑" panose="020B0503020204020204" pitchFamily="34" charset="-122"/>
              </a:endParaRPr>
            </a:p>
          </p:txBody>
        </p:sp>
        <p:pic>
          <p:nvPicPr>
            <p:cNvPr id="43" name="Picture 57" descr="通用路由器">
              <a:extLst>
                <a:ext uri="{FF2B5EF4-FFF2-40B4-BE49-F238E27FC236}">
                  <a16:creationId xmlns:a16="http://schemas.microsoft.com/office/drawing/2014/main" id="{E136FAC0-5C01-40D1-8E4D-DC03FD9017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3730" y="347911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3" name="文本框 62">
              <a:extLst>
                <a:ext uri="{FF2B5EF4-FFF2-40B4-BE49-F238E27FC236}">
                  <a16:creationId xmlns:a16="http://schemas.microsoft.com/office/drawing/2014/main" id="{9C20B3F8-D3A4-4D64-B252-DA3D70B17F4D}"/>
                </a:ext>
              </a:extLst>
            </p:cNvPr>
            <p:cNvSpPr txBox="1"/>
            <p:nvPr/>
          </p:nvSpPr>
          <p:spPr>
            <a:xfrm>
              <a:off x="8700439" y="348368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grpSp>
      <p:sp>
        <p:nvSpPr>
          <p:cNvPr id="40" name="等腰三角形 39">
            <a:extLst>
              <a:ext uri="{FF2B5EF4-FFF2-40B4-BE49-F238E27FC236}">
                <a16:creationId xmlns:a16="http://schemas.microsoft.com/office/drawing/2014/main" id="{76275D96-F6C9-4116-B972-EF65266DA46A}"/>
              </a:ext>
            </a:extLst>
          </p:cNvPr>
          <p:cNvSpPr/>
          <p:nvPr/>
        </p:nvSpPr>
        <p:spPr>
          <a:xfrm>
            <a:off x="5109536" y="2238533"/>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id="{1F5347C6-9CCA-468E-8F96-EEF09429C69D}"/>
              </a:ext>
            </a:extLst>
          </p:cNvPr>
          <p:cNvSpPr>
            <a:spLocks noGrp="1"/>
          </p:cNvSpPr>
          <p:nvPr>
            <p:ph type="title"/>
          </p:nvPr>
        </p:nvSpPr>
        <p:spPr>
          <a:xfrm>
            <a:off x="1307508" y="365126"/>
            <a:ext cx="8220812" cy="879086"/>
          </a:xfrm>
        </p:spPr>
        <p:txBody>
          <a:bodyPr>
            <a:normAutofit/>
          </a:bodyPr>
          <a:lstStyle/>
          <a:p>
            <a:r>
              <a:rPr lang="zh-CN" altLang="en-US" dirty="0"/>
              <a:t>层次路由</a:t>
            </a:r>
            <a:r>
              <a:rPr lang="en-US" altLang="zh-CN" dirty="0"/>
              <a:t>-</a:t>
            </a:r>
            <a:r>
              <a:rPr lang="zh-CN" altLang="en-US" dirty="0"/>
              <a:t>产生原因</a:t>
            </a:r>
          </a:p>
        </p:txBody>
      </p:sp>
      <p:sp>
        <p:nvSpPr>
          <p:cNvPr id="8" name="文本框 7">
            <a:extLst>
              <a:ext uri="{FF2B5EF4-FFF2-40B4-BE49-F238E27FC236}">
                <a16:creationId xmlns:a16="http://schemas.microsoft.com/office/drawing/2014/main" id="{75A86B75-EE45-4975-B050-5021B14CDFE8}"/>
              </a:ext>
            </a:extLst>
          </p:cNvPr>
          <p:cNvSpPr txBox="1"/>
          <p:nvPr/>
        </p:nvSpPr>
        <p:spPr>
          <a:xfrm>
            <a:off x="5762875" y="157383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grpSp>
        <p:nvGrpSpPr>
          <p:cNvPr id="70" name="组合 69">
            <a:extLst>
              <a:ext uri="{FF2B5EF4-FFF2-40B4-BE49-F238E27FC236}">
                <a16:creationId xmlns:a16="http://schemas.microsoft.com/office/drawing/2014/main" id="{E6F260F7-0E2B-4ABA-A8F6-D4966681030D}"/>
              </a:ext>
            </a:extLst>
          </p:cNvPr>
          <p:cNvGrpSpPr/>
          <p:nvPr/>
        </p:nvGrpSpPr>
        <p:grpSpPr>
          <a:xfrm>
            <a:off x="402961" y="1319927"/>
            <a:ext cx="5452555" cy="1686213"/>
            <a:chOff x="402961" y="1524121"/>
            <a:chExt cx="5452555" cy="1686213"/>
          </a:xfrm>
        </p:grpSpPr>
        <p:cxnSp>
          <p:nvCxnSpPr>
            <p:cNvPr id="26" name="直接连接符 25">
              <a:extLst>
                <a:ext uri="{FF2B5EF4-FFF2-40B4-BE49-F238E27FC236}">
                  <a16:creationId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7"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02961" y="1644240"/>
              <a:ext cx="2205669" cy="15660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3499" y="2108692"/>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9" name="文本框 8">
              <a:extLst>
                <a:ext uri="{FF2B5EF4-FFF2-40B4-BE49-F238E27FC236}">
                  <a16:creationId xmlns:a16="http://schemas.microsoft.com/office/drawing/2014/main" id="{1C7A9F64-702E-4C57-9267-EDC628E382F9}"/>
                </a:ext>
              </a:extLst>
            </p:cNvPr>
            <p:cNvSpPr txBox="1"/>
            <p:nvPr/>
          </p:nvSpPr>
          <p:spPr>
            <a:xfrm>
              <a:off x="2627434" y="177052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pic>
          <p:nvPicPr>
            <p:cNvPr id="11" name="Picture 9" descr="服务器终端">
              <a:extLst>
                <a:ext uri="{FF2B5EF4-FFF2-40B4-BE49-F238E27FC236}">
                  <a16:creationId xmlns:a16="http://schemas.microsoft.com/office/drawing/2014/main" id="{576B6BF2-238B-45BE-B34A-916A96DF331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1948" y="1524121"/>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2" name="文本框 11">
              <a:extLst>
                <a:ext uri="{FF2B5EF4-FFF2-40B4-BE49-F238E27FC236}">
                  <a16:creationId xmlns:a16="http://schemas.microsoft.com/office/drawing/2014/main" id="{10B061DE-D8E2-4070-BB52-28341085A384}"/>
                </a:ext>
              </a:extLst>
            </p:cNvPr>
            <p:cNvSpPr txBox="1"/>
            <p:nvPr/>
          </p:nvSpPr>
          <p:spPr>
            <a:xfrm>
              <a:off x="764812" y="1970309"/>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PC1</a:t>
              </a:r>
              <a:endParaRPr lang="zh-CN" altLang="en-US" dirty="0">
                <a:latin typeface="微软雅黑" panose="020B0503020204020204" pitchFamily="34" charset="-122"/>
                <a:ea typeface="微软雅黑" panose="020B0503020204020204" pitchFamily="34" charset="-122"/>
              </a:endParaRPr>
            </a:p>
          </p:txBody>
        </p:sp>
        <p:pic>
          <p:nvPicPr>
            <p:cNvPr id="13" name="Picture 9" descr="服务器终端">
              <a:extLst>
                <a:ext uri="{FF2B5EF4-FFF2-40B4-BE49-F238E27FC236}">
                  <a16:creationId xmlns:a16="http://schemas.microsoft.com/office/drawing/2014/main" id="{FDC0EB5C-041E-416E-BE6E-45C17AB843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7113" y="203140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4" name="文本框 13">
              <a:extLst>
                <a:ext uri="{FF2B5EF4-FFF2-40B4-BE49-F238E27FC236}">
                  <a16:creationId xmlns:a16="http://schemas.microsoft.com/office/drawing/2014/main" id="{19570BD0-A1DE-4C6C-8D91-9749980155A1}"/>
                </a:ext>
              </a:extLst>
            </p:cNvPr>
            <p:cNvSpPr txBox="1"/>
            <p:nvPr/>
          </p:nvSpPr>
          <p:spPr>
            <a:xfrm>
              <a:off x="1505795" y="253118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PC2</a:t>
              </a:r>
              <a:endParaRPr lang="zh-CN" altLang="en-US" dirty="0">
                <a:latin typeface="微软雅黑" panose="020B0503020204020204" pitchFamily="34" charset="-122"/>
                <a:ea typeface="微软雅黑" panose="020B0503020204020204" pitchFamily="34" charset="-122"/>
              </a:endParaRPr>
            </a:p>
          </p:txBody>
        </p:sp>
      </p:grpSp>
      <p:grpSp>
        <p:nvGrpSpPr>
          <p:cNvPr id="65" name="组合 64">
            <a:extLst>
              <a:ext uri="{FF2B5EF4-FFF2-40B4-BE49-F238E27FC236}">
                <a16:creationId xmlns:a16="http://schemas.microsoft.com/office/drawing/2014/main" id="{E3FB6F0E-FD32-40AB-90A7-0C7D39E2B023}"/>
              </a:ext>
            </a:extLst>
          </p:cNvPr>
          <p:cNvGrpSpPr/>
          <p:nvPr/>
        </p:nvGrpSpPr>
        <p:grpSpPr>
          <a:xfrm>
            <a:off x="6182103" y="1251221"/>
            <a:ext cx="5774120" cy="1686213"/>
            <a:chOff x="6182103" y="1455415"/>
            <a:chExt cx="5774120" cy="1686213"/>
          </a:xfrm>
        </p:grpSpPr>
        <p:cxnSp>
          <p:nvCxnSpPr>
            <p:cNvPr id="36" name="直接连接符 35">
              <a:extLst>
                <a:ext uri="{FF2B5EF4-FFF2-40B4-BE49-F238E27FC236}">
                  <a16:creationId xmlns:a16="http://schemas.microsoft.com/office/drawing/2014/main" id="{EDE78263-89CB-4EDD-93F1-65AD573E59F2}"/>
                </a:ext>
              </a:extLst>
            </p:cNvPr>
            <p:cNvCxnSpPr>
              <a:cxnSpLocks/>
            </p:cNvCxnSpPr>
            <p:nvPr/>
          </p:nvCxnSpPr>
          <p:spPr>
            <a:xfrm flipV="1">
              <a:off x="6182103" y="2339641"/>
              <a:ext cx="3088950" cy="947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id="{C9D2448E-4DF6-4F3D-94D3-4044F9D944E6}"/>
                </a:ext>
              </a:extLst>
            </p:cNvPr>
            <p:cNvSpPr txBox="1"/>
            <p:nvPr/>
          </p:nvSpPr>
          <p:spPr>
            <a:xfrm>
              <a:off x="9271053" y="180410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pic>
          <p:nvPicPr>
            <p:cNvPr id="18"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50554" y="1575534"/>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9" descr="服务器终端">
              <a:extLst>
                <a:ext uri="{FF2B5EF4-FFF2-40B4-BE49-F238E27FC236}">
                  <a16:creationId xmlns:a16="http://schemas.microsoft.com/office/drawing/2014/main" id="{2EF45FB8-A68A-428C-B8D6-DE24DB7677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19541" y="1455415"/>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0" name="文本框 19">
              <a:extLst>
                <a:ext uri="{FF2B5EF4-FFF2-40B4-BE49-F238E27FC236}">
                  <a16:creationId xmlns:a16="http://schemas.microsoft.com/office/drawing/2014/main" id="{F5BD26AB-AC1F-4200-9CFF-40B5088651F3}"/>
                </a:ext>
              </a:extLst>
            </p:cNvPr>
            <p:cNvSpPr txBox="1"/>
            <p:nvPr/>
          </p:nvSpPr>
          <p:spPr>
            <a:xfrm>
              <a:off x="10112405" y="1901603"/>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PC4</a:t>
              </a:r>
              <a:endParaRPr lang="zh-CN" altLang="en-US" dirty="0">
                <a:latin typeface="微软雅黑" panose="020B0503020204020204" pitchFamily="34" charset="-122"/>
                <a:ea typeface="微软雅黑" panose="020B0503020204020204" pitchFamily="34" charset="-122"/>
              </a:endParaRPr>
            </a:p>
          </p:txBody>
        </p:sp>
        <p:pic>
          <p:nvPicPr>
            <p:cNvPr id="21" name="Picture 9" descr="服务器终端">
              <a:extLst>
                <a:ext uri="{FF2B5EF4-FFF2-40B4-BE49-F238E27FC236}">
                  <a16:creationId xmlns:a16="http://schemas.microsoft.com/office/drawing/2014/main" id="{9E6C5389-FADB-48A7-89B5-7B1C4DB79B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64706" y="196269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2" name="文本框 21">
              <a:extLst>
                <a:ext uri="{FF2B5EF4-FFF2-40B4-BE49-F238E27FC236}">
                  <a16:creationId xmlns:a16="http://schemas.microsoft.com/office/drawing/2014/main" id="{0D4EC4C3-F2D0-4F3E-A7FD-03A7DC507C18}"/>
                </a:ext>
              </a:extLst>
            </p:cNvPr>
            <p:cNvSpPr txBox="1"/>
            <p:nvPr/>
          </p:nvSpPr>
          <p:spPr>
            <a:xfrm>
              <a:off x="10853388" y="2462475"/>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PC3</a:t>
              </a:r>
              <a:endParaRPr lang="zh-CN" altLang="en-US" dirty="0">
                <a:latin typeface="微软雅黑" panose="020B0503020204020204" pitchFamily="34" charset="-122"/>
                <a:ea typeface="微软雅黑" panose="020B0503020204020204" pitchFamily="34" charset="-122"/>
              </a:endParaRPr>
            </a:p>
          </p:txBody>
        </p:sp>
        <p:pic>
          <p:nvPicPr>
            <p:cNvPr id="7" name="Picture 57" descr="通用路由器">
              <a:extLst>
                <a:ext uri="{FF2B5EF4-FFF2-40B4-BE49-F238E27FC236}">
                  <a16:creationId xmlns:a16="http://schemas.microsoft.com/office/drawing/2014/main" id="{E480C355-65E3-43FB-9825-C472AF9546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5606" y="2133800"/>
              <a:ext cx="678086" cy="499779"/>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41" name="表格 40">
            <a:extLst>
              <a:ext uri="{FF2B5EF4-FFF2-40B4-BE49-F238E27FC236}">
                <a16:creationId xmlns:a16="http://schemas.microsoft.com/office/drawing/2014/main" id="{CCCAF80D-D057-4354-B876-C6A2A9AB4651}"/>
              </a:ext>
            </a:extLst>
          </p:cNvPr>
          <p:cNvGraphicFramePr>
            <a:graphicFrameLocks noGrp="1"/>
          </p:cNvGraphicFramePr>
          <p:nvPr/>
        </p:nvGraphicFramePr>
        <p:xfrm>
          <a:off x="5109536" y="2750843"/>
          <a:ext cx="1818282" cy="3352800"/>
        </p:xfrm>
        <a:graphic>
          <a:graphicData uri="http://schemas.openxmlformats.org/drawingml/2006/table">
            <a:tbl>
              <a:tblPr firstRow="1" bandRow="1">
                <a:tableStyleId>{5C22544A-7EE6-4342-B048-85BDC9FD1C3A}</a:tableStyleId>
              </a:tblPr>
              <a:tblGrid>
                <a:gridCol w="909141">
                  <a:extLst>
                    <a:ext uri="{9D8B030D-6E8A-4147-A177-3AD203B41FA5}">
                      <a16:colId xmlns:a16="http://schemas.microsoft.com/office/drawing/2014/main" val="900945486"/>
                    </a:ext>
                  </a:extLst>
                </a:gridCol>
                <a:gridCol w="909141">
                  <a:extLst>
                    <a:ext uri="{9D8B030D-6E8A-4147-A177-3AD203B41FA5}">
                      <a16:colId xmlns:a16="http://schemas.microsoft.com/office/drawing/2014/main" val="2179439050"/>
                    </a:ext>
                  </a:extLst>
                </a:gridCol>
              </a:tblGrid>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912889480"/>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PC1</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838096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23619522"/>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8454529"/>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21184111"/>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PC5</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96465759"/>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PC6</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4329233"/>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PC7</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482254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PC8</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6890604"/>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44532406"/>
                  </a:ext>
                </a:extLst>
              </a:tr>
            </a:tbl>
          </a:graphicData>
        </a:graphic>
      </p:graphicFrame>
      <p:grpSp>
        <p:nvGrpSpPr>
          <p:cNvPr id="66" name="组合 65">
            <a:extLst>
              <a:ext uri="{FF2B5EF4-FFF2-40B4-BE49-F238E27FC236}">
                <a16:creationId xmlns:a16="http://schemas.microsoft.com/office/drawing/2014/main" id="{31C2AFB2-40E3-48A9-AE0C-AF177BC29C83}"/>
              </a:ext>
            </a:extLst>
          </p:cNvPr>
          <p:cNvGrpSpPr/>
          <p:nvPr/>
        </p:nvGrpSpPr>
        <p:grpSpPr>
          <a:xfrm>
            <a:off x="1224348" y="2174117"/>
            <a:ext cx="4621162" cy="2880129"/>
            <a:chOff x="1224348" y="2378311"/>
            <a:chExt cx="4621162" cy="2880129"/>
          </a:xfrm>
        </p:grpSpPr>
        <p:cxnSp>
          <p:nvCxnSpPr>
            <p:cNvPr id="44" name="直接连接符 43">
              <a:extLst>
                <a:ext uri="{FF2B5EF4-FFF2-40B4-BE49-F238E27FC236}">
                  <a16:creationId xmlns:a16="http://schemas.microsoft.com/office/drawing/2014/main" id="{28ABFF36-C6E8-459A-9605-5000A9F36A94}"/>
                </a:ext>
              </a:extLst>
            </p:cNvPr>
            <p:cNvCxnSpPr>
              <a:cxnSpLocks/>
            </p:cNvCxnSpPr>
            <p:nvPr/>
          </p:nvCxnSpPr>
          <p:spPr>
            <a:xfrm flipV="1">
              <a:off x="3354736" y="2378311"/>
              <a:ext cx="2490774" cy="145349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0" name="Picture 14">
              <a:extLst>
                <a:ext uri="{FF2B5EF4-FFF2-40B4-BE49-F238E27FC236}">
                  <a16:creationId xmlns:a16="http://schemas.microsoft.com/office/drawing/2014/main" id="{72733195-C140-4B00-B975-2FE053C0BBF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4348" y="3692346"/>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9" descr="服务器终端">
              <a:extLst>
                <a:ext uri="{FF2B5EF4-FFF2-40B4-BE49-F238E27FC236}">
                  <a16:creationId xmlns:a16="http://schemas.microsoft.com/office/drawing/2014/main" id="{4821B128-B96F-423E-8851-133227CD04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374" y="3647667"/>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2" name="文本框 51">
              <a:extLst>
                <a:ext uri="{FF2B5EF4-FFF2-40B4-BE49-F238E27FC236}">
                  <a16:creationId xmlns:a16="http://schemas.microsoft.com/office/drawing/2014/main" id="{D66FDE15-4DBD-4D17-99D3-5FE1B3AEBC5B}"/>
                </a:ext>
              </a:extLst>
            </p:cNvPr>
            <p:cNvSpPr txBox="1"/>
            <p:nvPr/>
          </p:nvSpPr>
          <p:spPr>
            <a:xfrm>
              <a:off x="1704223" y="4175724"/>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PC5</a:t>
              </a:r>
              <a:endParaRPr lang="zh-CN" altLang="en-US" dirty="0">
                <a:latin typeface="微软雅黑" panose="020B0503020204020204" pitchFamily="34" charset="-122"/>
                <a:ea typeface="微软雅黑" panose="020B0503020204020204" pitchFamily="34" charset="-122"/>
              </a:endParaRPr>
            </a:p>
          </p:txBody>
        </p:sp>
        <p:pic>
          <p:nvPicPr>
            <p:cNvPr id="53" name="Picture 9" descr="服务器终端">
              <a:extLst>
                <a:ext uri="{FF2B5EF4-FFF2-40B4-BE49-F238E27FC236}">
                  <a16:creationId xmlns:a16="http://schemas.microsoft.com/office/drawing/2014/main" id="{8EF58131-96E7-4574-B35C-13F8F7AAC8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1288" y="421429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4" name="文本框 53">
              <a:extLst>
                <a:ext uri="{FF2B5EF4-FFF2-40B4-BE49-F238E27FC236}">
                  <a16:creationId xmlns:a16="http://schemas.microsoft.com/office/drawing/2014/main" id="{E2E7AF18-85DB-429F-82DC-4CC11F8B1991}"/>
                </a:ext>
              </a:extLst>
            </p:cNvPr>
            <p:cNvSpPr txBox="1"/>
            <p:nvPr/>
          </p:nvSpPr>
          <p:spPr>
            <a:xfrm>
              <a:off x="2569970" y="471407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PC6</a:t>
              </a:r>
              <a:endParaRPr lang="zh-CN" altLang="en-US" dirty="0">
                <a:latin typeface="微软雅黑" panose="020B0503020204020204" pitchFamily="34" charset="-122"/>
                <a:ea typeface="微软雅黑" panose="020B0503020204020204" pitchFamily="34" charset="-122"/>
              </a:endParaRPr>
            </a:p>
          </p:txBody>
        </p:sp>
        <p:pic>
          <p:nvPicPr>
            <p:cNvPr id="42" name="Picture 57" descr="通用路由器">
              <a:extLst>
                <a:ext uri="{FF2B5EF4-FFF2-40B4-BE49-F238E27FC236}">
                  <a16:creationId xmlns:a16="http://schemas.microsoft.com/office/drawing/2014/main" id="{642EF410-9478-41CB-B998-391C22AE48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24942" y="3539476"/>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2" name="文本框 61">
              <a:extLst>
                <a:ext uri="{FF2B5EF4-FFF2-40B4-BE49-F238E27FC236}">
                  <a16:creationId xmlns:a16="http://schemas.microsoft.com/office/drawing/2014/main" id="{84B90324-2A36-4F5C-AB74-674A238048E3}"/>
                </a:ext>
              </a:extLst>
            </p:cNvPr>
            <p:cNvSpPr txBox="1"/>
            <p:nvPr/>
          </p:nvSpPr>
          <p:spPr>
            <a:xfrm>
              <a:off x="3089713" y="3176701"/>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grpSp>
      <p:pic>
        <p:nvPicPr>
          <p:cNvPr id="5"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36239" y="192799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8" name="矩形 67">
            <a:extLst>
              <a:ext uri="{FF2B5EF4-FFF2-40B4-BE49-F238E27FC236}">
                <a16:creationId xmlns:a16="http://schemas.microsoft.com/office/drawing/2014/main" id="{ED481C46-EA9D-4115-8341-883DE39B8F9B}"/>
              </a:ext>
            </a:extLst>
          </p:cNvPr>
          <p:cNvSpPr/>
          <p:nvPr/>
        </p:nvSpPr>
        <p:spPr>
          <a:xfrm>
            <a:off x="4869874" y="4437855"/>
            <a:ext cx="2192784" cy="7202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矩形 68">
            <a:extLst>
              <a:ext uri="{FF2B5EF4-FFF2-40B4-BE49-F238E27FC236}">
                <a16:creationId xmlns:a16="http://schemas.microsoft.com/office/drawing/2014/main" id="{7BBEC833-B54B-40CD-965B-6F0FA3BBB5C1}"/>
              </a:ext>
            </a:extLst>
          </p:cNvPr>
          <p:cNvSpPr/>
          <p:nvPr/>
        </p:nvSpPr>
        <p:spPr>
          <a:xfrm>
            <a:off x="4896656" y="5103297"/>
            <a:ext cx="2192784" cy="7202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矩形 70">
            <a:extLst>
              <a:ext uri="{FF2B5EF4-FFF2-40B4-BE49-F238E27FC236}">
                <a16:creationId xmlns:a16="http://schemas.microsoft.com/office/drawing/2014/main" id="{64A5F5CF-C498-4777-9CC8-9B582131BA2C}"/>
              </a:ext>
            </a:extLst>
          </p:cNvPr>
          <p:cNvSpPr/>
          <p:nvPr/>
        </p:nvSpPr>
        <p:spPr>
          <a:xfrm>
            <a:off x="4909889" y="5773305"/>
            <a:ext cx="2192784" cy="365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文本框 71">
            <a:extLst>
              <a:ext uri="{FF2B5EF4-FFF2-40B4-BE49-F238E27FC236}">
                <a16:creationId xmlns:a16="http://schemas.microsoft.com/office/drawing/2014/main" id="{23206CA5-A963-4FA0-9FD2-BFEDD34A96A2}"/>
              </a:ext>
            </a:extLst>
          </p:cNvPr>
          <p:cNvSpPr txBox="1"/>
          <p:nvPr/>
        </p:nvSpPr>
        <p:spPr>
          <a:xfrm>
            <a:off x="1270795" y="5580198"/>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73" name="文本框 72">
            <a:extLst>
              <a:ext uri="{FF2B5EF4-FFF2-40B4-BE49-F238E27FC236}">
                <a16:creationId xmlns:a16="http://schemas.microsoft.com/office/drawing/2014/main" id="{C2CEF8AA-3ADF-4796-95D1-2AAF710C758A}"/>
              </a:ext>
            </a:extLst>
          </p:cNvPr>
          <p:cNvSpPr txBox="1"/>
          <p:nvPr/>
        </p:nvSpPr>
        <p:spPr>
          <a:xfrm>
            <a:off x="10236176" y="5609506"/>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74" name="爆炸形: 8 pt  73">
            <a:extLst>
              <a:ext uri="{FF2B5EF4-FFF2-40B4-BE49-F238E27FC236}">
                <a16:creationId xmlns:a16="http://schemas.microsoft.com/office/drawing/2014/main" id="{BC71B8ED-9196-4FA2-8A97-127CD6873ACE}"/>
              </a:ext>
            </a:extLst>
          </p:cNvPr>
          <p:cNvSpPr/>
          <p:nvPr/>
        </p:nvSpPr>
        <p:spPr>
          <a:xfrm>
            <a:off x="6219442" y="4575427"/>
            <a:ext cx="1861288" cy="1376363"/>
          </a:xfrm>
          <a:prstGeom prst="irregularSeal1">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a:extLst>
              <a:ext uri="{FF2B5EF4-FFF2-40B4-BE49-F238E27FC236}">
                <a16:creationId xmlns:a16="http://schemas.microsoft.com/office/drawing/2014/main" id="{4703C8BD-2BF9-4334-BE4B-30B94D1917F1}"/>
              </a:ext>
            </a:extLst>
          </p:cNvPr>
          <p:cNvSpPr txBox="1"/>
          <p:nvPr/>
        </p:nvSpPr>
        <p:spPr>
          <a:xfrm>
            <a:off x="2806296" y="6289248"/>
            <a:ext cx="6596678" cy="400110"/>
          </a:xfrm>
          <a:prstGeom prst="rect">
            <a:avLst/>
          </a:prstGeom>
          <a:noFill/>
          <a:ln>
            <a:solidFill>
              <a:srgbClr val="5B307E"/>
            </a:solidFill>
          </a:ln>
        </p:spPr>
        <p:txBody>
          <a:bodyPr wrap="none" rtlCol="0">
            <a:spAutoFit/>
          </a:bodyPr>
          <a:lstStyle/>
          <a:p>
            <a:r>
              <a:rPr lang="zh-CN" altLang="en-US" sz="2000" dirty="0">
                <a:latin typeface="微软雅黑" panose="020B0503020204020204" pitchFamily="34" charset="-122"/>
                <a:ea typeface="微软雅黑" panose="020B0503020204020204" pitchFamily="34" charset="-122"/>
              </a:rPr>
              <a:t>过于庞大的路由表存储、查找困难，路由信息交互开销高</a:t>
            </a:r>
          </a:p>
        </p:txBody>
      </p:sp>
      <p:sp>
        <p:nvSpPr>
          <p:cNvPr id="55" name="日期占位符 4">
            <a:extLst>
              <a:ext uri="{FF2B5EF4-FFF2-40B4-BE49-F238E27FC236}">
                <a16:creationId xmlns:a16="http://schemas.microsoft.com/office/drawing/2014/main"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5.2.5 </a:t>
            </a:r>
            <a:r>
              <a:rPr kumimoji="1" lang="zh-CN" altLang="en-US" dirty="0"/>
              <a:t>层次路由</a:t>
            </a:r>
          </a:p>
        </p:txBody>
      </p:sp>
      <p:sp>
        <p:nvSpPr>
          <p:cNvPr id="56" name="灯片编号占位符 3">
            <a:extLst>
              <a:ext uri="{FF2B5EF4-FFF2-40B4-BE49-F238E27FC236}">
                <a16:creationId xmlns:a16="http://schemas.microsoft.com/office/drawing/2014/main" id="{FCC1336A-C9C8-654E-936F-2251120CC6C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48</a:t>
            </a:fld>
            <a:endParaRPr kumimoji="1" lang="zh-CN" altLang="en-US" dirty="0"/>
          </a:p>
        </p:txBody>
      </p:sp>
      <p:pic>
        <p:nvPicPr>
          <p:cNvPr id="64" name="Picture 28" descr="015">
            <a:extLst>
              <a:ext uri="{FF2B5EF4-FFF2-40B4-BE49-F238E27FC236}">
                <a16:creationId xmlns:a16="http://schemas.microsoft.com/office/drawing/2014/main" id="{3B40FCDA-1028-475D-9900-859E99B5A49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162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wipe(right)">
                                      <p:cBhvr>
                                        <p:cTn id="7" dur="500"/>
                                        <p:tgtEl>
                                          <p:spTgt spid="70"/>
                                        </p:tgtEl>
                                      </p:cBhvr>
                                    </p:animEffect>
                                  </p:childTnLst>
                                </p:cTn>
                              </p:par>
                              <p:par>
                                <p:cTn id="8" presetID="22" presetClass="entr" presetSubtype="8" fill="hold" nodeType="with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wipe(left)">
                                      <p:cBhvr>
                                        <p:cTn id="10" dur="500"/>
                                        <p:tgtEl>
                                          <p:spTgt spid="65"/>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wipe(up)">
                                      <p:cBhvr>
                                        <p:cTn id="14" dur="500"/>
                                        <p:tgtEl>
                                          <p:spTgt spid="40"/>
                                        </p:tgtEl>
                                      </p:cBhvr>
                                    </p:animEffect>
                                  </p:childTnLst>
                                </p:cTn>
                              </p:par>
                            </p:childTnLst>
                          </p:cTn>
                        </p:par>
                        <p:par>
                          <p:cTn id="15" fill="hold">
                            <p:stCondLst>
                              <p:cond delay="1000"/>
                            </p:stCondLst>
                            <p:childTnLst>
                              <p:par>
                                <p:cTn id="16" presetID="22" presetClass="entr" presetSubtype="1" fill="hold" nodeType="after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wipe(up)">
                                      <p:cBhvr>
                                        <p:cTn id="18" dur="500"/>
                                        <p:tgtEl>
                                          <p:spTgt spid="4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2" fill="hold" nodeType="clickEffect">
                                  <p:stCondLst>
                                    <p:cond delay="0"/>
                                  </p:stCondLst>
                                  <p:childTnLst>
                                    <p:set>
                                      <p:cBhvr>
                                        <p:cTn id="22" dur="1" fill="hold">
                                          <p:stCondLst>
                                            <p:cond delay="0"/>
                                          </p:stCondLst>
                                        </p:cTn>
                                        <p:tgtEl>
                                          <p:spTgt spid="66"/>
                                        </p:tgtEl>
                                        <p:attrNameLst>
                                          <p:attrName>style.visibility</p:attrName>
                                        </p:attrNameLst>
                                      </p:cBhvr>
                                      <p:to>
                                        <p:strVal val="visible"/>
                                      </p:to>
                                    </p:set>
                                    <p:animEffect transition="in" filter="wipe(right)">
                                      <p:cBhvr>
                                        <p:cTn id="23" dur="500"/>
                                        <p:tgtEl>
                                          <p:spTgt spid="66"/>
                                        </p:tgtEl>
                                      </p:cBhvr>
                                    </p:animEffect>
                                  </p:childTnLst>
                                </p:cTn>
                              </p:par>
                            </p:childTnLst>
                          </p:cTn>
                        </p:par>
                        <p:par>
                          <p:cTn id="24" fill="hold">
                            <p:stCondLst>
                              <p:cond delay="500"/>
                            </p:stCondLst>
                            <p:childTnLst>
                              <p:par>
                                <p:cTn id="25" presetID="22" presetClass="exit" presetSubtype="1" fill="hold" grpId="0" nodeType="afterEffect">
                                  <p:stCondLst>
                                    <p:cond delay="0"/>
                                  </p:stCondLst>
                                  <p:childTnLst>
                                    <p:animEffect transition="out" filter="wipe(up)">
                                      <p:cBhvr>
                                        <p:cTn id="26" dur="500"/>
                                        <p:tgtEl>
                                          <p:spTgt spid="68"/>
                                        </p:tgtEl>
                                      </p:cBhvr>
                                    </p:animEffect>
                                    <p:set>
                                      <p:cBhvr>
                                        <p:cTn id="27" dur="1" fill="hold">
                                          <p:stCondLst>
                                            <p:cond delay="499"/>
                                          </p:stCondLst>
                                        </p:cTn>
                                        <p:tgtEl>
                                          <p:spTgt spid="68"/>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67"/>
                                        </p:tgtEl>
                                        <p:attrNameLst>
                                          <p:attrName>style.visibility</p:attrName>
                                        </p:attrNameLst>
                                      </p:cBhvr>
                                      <p:to>
                                        <p:strVal val="visible"/>
                                      </p:to>
                                    </p:set>
                                    <p:animEffect transition="in" filter="wipe(up)">
                                      <p:cBhvr>
                                        <p:cTn id="32" dur="500"/>
                                        <p:tgtEl>
                                          <p:spTgt spid="67"/>
                                        </p:tgtEl>
                                      </p:cBhvr>
                                    </p:animEffect>
                                  </p:childTnLst>
                                </p:cTn>
                              </p:par>
                            </p:childTnLst>
                          </p:cTn>
                        </p:par>
                        <p:par>
                          <p:cTn id="33" fill="hold">
                            <p:stCondLst>
                              <p:cond delay="500"/>
                            </p:stCondLst>
                            <p:childTnLst>
                              <p:par>
                                <p:cTn id="34" presetID="22" presetClass="exit" presetSubtype="1" fill="hold" grpId="0" nodeType="afterEffect">
                                  <p:stCondLst>
                                    <p:cond delay="0"/>
                                  </p:stCondLst>
                                  <p:childTnLst>
                                    <p:animEffect transition="out" filter="wipe(up)">
                                      <p:cBhvr>
                                        <p:cTn id="35" dur="500"/>
                                        <p:tgtEl>
                                          <p:spTgt spid="69"/>
                                        </p:tgtEl>
                                      </p:cBhvr>
                                    </p:animEffect>
                                    <p:set>
                                      <p:cBhvr>
                                        <p:cTn id="36" dur="1" fill="hold">
                                          <p:stCondLst>
                                            <p:cond delay="499"/>
                                          </p:stCondLst>
                                        </p:cTn>
                                        <p:tgtEl>
                                          <p:spTgt spid="69"/>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7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73"/>
                                        </p:tgtEl>
                                        <p:attrNameLst>
                                          <p:attrName>style.visibility</p:attrName>
                                        </p:attrNameLst>
                                      </p:cBhvr>
                                      <p:to>
                                        <p:strVal val="visible"/>
                                      </p:to>
                                    </p:set>
                                  </p:childTnLst>
                                </p:cTn>
                              </p:par>
                            </p:childTnLst>
                          </p:cTn>
                        </p:par>
                        <p:par>
                          <p:cTn id="43" fill="hold">
                            <p:stCondLst>
                              <p:cond delay="0"/>
                            </p:stCondLst>
                            <p:childTnLst>
                              <p:par>
                                <p:cTn id="44" presetID="22" presetClass="exit" presetSubtype="1" fill="hold" grpId="0" nodeType="afterEffect">
                                  <p:stCondLst>
                                    <p:cond delay="0"/>
                                  </p:stCondLst>
                                  <p:childTnLst>
                                    <p:animEffect transition="out" filter="wipe(up)">
                                      <p:cBhvr>
                                        <p:cTn id="45" dur="500"/>
                                        <p:tgtEl>
                                          <p:spTgt spid="71"/>
                                        </p:tgtEl>
                                      </p:cBhvr>
                                    </p:animEffect>
                                    <p:set>
                                      <p:cBhvr>
                                        <p:cTn id="46" dur="1" fill="hold">
                                          <p:stCondLst>
                                            <p:cond delay="499"/>
                                          </p:stCondLst>
                                        </p:cTn>
                                        <p:tgtEl>
                                          <p:spTgt spid="71"/>
                                        </p:tgtEl>
                                        <p:attrNameLst>
                                          <p:attrName>style.visibility</p:attrName>
                                        </p:attrNameLst>
                                      </p:cBhvr>
                                      <p:to>
                                        <p:strVal val="hidden"/>
                                      </p:to>
                                    </p:set>
                                  </p:childTnLst>
                                </p:cTn>
                              </p:par>
                            </p:childTnLst>
                          </p:cTn>
                        </p:par>
                        <p:par>
                          <p:cTn id="47" fill="hold">
                            <p:stCondLst>
                              <p:cond delay="500"/>
                            </p:stCondLst>
                            <p:childTnLst>
                              <p:par>
                                <p:cTn id="48" presetID="53" presetClass="entr" presetSubtype="16" fill="hold" grpId="0" nodeType="afterEffect">
                                  <p:stCondLst>
                                    <p:cond delay="0"/>
                                  </p:stCondLst>
                                  <p:childTnLst>
                                    <p:set>
                                      <p:cBhvr>
                                        <p:cTn id="49" dur="1" fill="hold">
                                          <p:stCondLst>
                                            <p:cond delay="0"/>
                                          </p:stCondLst>
                                        </p:cTn>
                                        <p:tgtEl>
                                          <p:spTgt spid="74"/>
                                        </p:tgtEl>
                                        <p:attrNameLst>
                                          <p:attrName>style.visibility</p:attrName>
                                        </p:attrNameLst>
                                      </p:cBhvr>
                                      <p:to>
                                        <p:strVal val="visible"/>
                                      </p:to>
                                    </p:set>
                                    <p:anim calcmode="lin" valueType="num">
                                      <p:cBhvr>
                                        <p:cTn id="50" dur="500" fill="hold"/>
                                        <p:tgtEl>
                                          <p:spTgt spid="74"/>
                                        </p:tgtEl>
                                        <p:attrNameLst>
                                          <p:attrName>ppt_w</p:attrName>
                                        </p:attrNameLst>
                                      </p:cBhvr>
                                      <p:tavLst>
                                        <p:tav tm="0">
                                          <p:val>
                                            <p:fltVal val="0"/>
                                          </p:val>
                                        </p:tav>
                                        <p:tav tm="100000">
                                          <p:val>
                                            <p:strVal val="#ppt_w"/>
                                          </p:val>
                                        </p:tav>
                                      </p:tavLst>
                                    </p:anim>
                                    <p:anim calcmode="lin" valueType="num">
                                      <p:cBhvr>
                                        <p:cTn id="51" dur="500" fill="hold"/>
                                        <p:tgtEl>
                                          <p:spTgt spid="74"/>
                                        </p:tgtEl>
                                        <p:attrNameLst>
                                          <p:attrName>ppt_h</p:attrName>
                                        </p:attrNameLst>
                                      </p:cBhvr>
                                      <p:tavLst>
                                        <p:tav tm="0">
                                          <p:val>
                                            <p:fltVal val="0"/>
                                          </p:val>
                                        </p:tav>
                                        <p:tav tm="100000">
                                          <p:val>
                                            <p:strVal val="#ppt_h"/>
                                          </p:val>
                                        </p:tav>
                                      </p:tavLst>
                                    </p:anim>
                                    <p:animEffect transition="in" filter="fade">
                                      <p:cBhvr>
                                        <p:cTn id="52" dur="500"/>
                                        <p:tgtEl>
                                          <p:spTgt spid="74"/>
                                        </p:tgtEl>
                                      </p:cBhvr>
                                    </p:animEffect>
                                  </p:childTnLst>
                                </p:cTn>
                              </p:par>
                              <p:par>
                                <p:cTn id="53" presetID="1" presetClass="entr" presetSubtype="0" fill="hold" grpId="0" nodeType="withEffect">
                                  <p:stCondLst>
                                    <p:cond delay="0"/>
                                  </p:stCondLst>
                                  <p:childTnLst>
                                    <p:set>
                                      <p:cBhvr>
                                        <p:cTn id="54" dur="1" fill="hold">
                                          <p:stCondLst>
                                            <p:cond delay="0"/>
                                          </p:stCondLst>
                                        </p:cTn>
                                        <p:tgtEl>
                                          <p:spTgt spid="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68" grpId="0" animBg="1"/>
      <p:bldP spid="69" grpId="0" animBg="1"/>
      <p:bldP spid="71" grpId="0" animBg="1"/>
      <p:bldP spid="72" grpId="0"/>
      <p:bldP spid="73" grpId="0"/>
      <p:bldP spid="74" grpId="0" animBg="1"/>
      <p:bldP spid="75"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组合 66">
            <a:extLst>
              <a:ext uri="{FF2B5EF4-FFF2-40B4-BE49-F238E27FC236}">
                <a16:creationId xmlns:a16="http://schemas.microsoft.com/office/drawing/2014/main" id="{D06FBD46-35D9-4CBD-978C-11CC366A2C2B}"/>
              </a:ext>
            </a:extLst>
          </p:cNvPr>
          <p:cNvGrpSpPr/>
          <p:nvPr/>
        </p:nvGrpSpPr>
        <p:grpSpPr>
          <a:xfrm>
            <a:off x="8700439" y="2144917"/>
            <a:ext cx="2675669" cy="2930008"/>
            <a:chOff x="8700439" y="2349111"/>
            <a:chExt cx="2675669" cy="2930008"/>
          </a:xfrm>
        </p:grpSpPr>
        <p:cxnSp>
          <p:nvCxnSpPr>
            <p:cNvPr id="47" name="直接连接符 46">
              <a:extLst>
                <a:ext uri="{FF2B5EF4-FFF2-40B4-BE49-F238E27FC236}">
                  <a16:creationId xmlns:a16="http://schemas.microsoft.com/office/drawing/2014/main" id="{6371D84A-E35B-4B3D-923C-05925905383F}"/>
                </a:ext>
              </a:extLst>
            </p:cNvPr>
            <p:cNvCxnSpPr>
              <a:cxnSpLocks/>
            </p:cNvCxnSpPr>
            <p:nvPr/>
          </p:nvCxnSpPr>
          <p:spPr>
            <a:xfrm>
              <a:off x="9528320" y="2349111"/>
              <a:ext cx="0" cy="128242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7" name="Picture 14">
              <a:extLst>
                <a:ext uri="{FF2B5EF4-FFF2-40B4-BE49-F238E27FC236}">
                  <a16:creationId xmlns:a16="http://schemas.microsoft.com/office/drawing/2014/main" id="{E88506D7-2C2C-44F8-B596-A4F461F43A1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70439" y="3713025"/>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9" descr="服务器终端">
              <a:extLst>
                <a:ext uri="{FF2B5EF4-FFF2-40B4-BE49-F238E27FC236}">
                  <a16:creationId xmlns:a16="http://schemas.microsoft.com/office/drawing/2014/main" id="{0BD55A19-7E12-4E4A-9DD2-AEB516CE7A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09066" y="366834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9" name="文本框 58">
              <a:extLst>
                <a:ext uri="{FF2B5EF4-FFF2-40B4-BE49-F238E27FC236}">
                  <a16:creationId xmlns:a16="http://schemas.microsoft.com/office/drawing/2014/main" id="{7007F99C-3847-42F4-B809-65917853AE65}"/>
                </a:ext>
              </a:extLst>
            </p:cNvPr>
            <p:cNvSpPr txBox="1"/>
            <p:nvPr/>
          </p:nvSpPr>
          <p:spPr>
            <a:xfrm>
              <a:off x="9925823" y="4184722"/>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PC9</a:t>
              </a:r>
              <a:endParaRPr lang="zh-CN" altLang="en-US" dirty="0">
                <a:latin typeface="微软雅黑" panose="020B0503020204020204" pitchFamily="34" charset="-122"/>
                <a:ea typeface="微软雅黑" panose="020B0503020204020204" pitchFamily="34" charset="-122"/>
              </a:endParaRPr>
            </a:p>
          </p:txBody>
        </p:sp>
        <p:pic>
          <p:nvPicPr>
            <p:cNvPr id="60" name="Picture 9" descr="服务器终端">
              <a:extLst>
                <a:ext uri="{FF2B5EF4-FFF2-40B4-BE49-F238E27FC236}">
                  <a16:creationId xmlns:a16="http://schemas.microsoft.com/office/drawing/2014/main" id="{193D9D8D-3B95-43A0-9721-9C697BB10D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1309" y="4271820"/>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61" name="文本框 60">
              <a:extLst>
                <a:ext uri="{FF2B5EF4-FFF2-40B4-BE49-F238E27FC236}">
                  <a16:creationId xmlns:a16="http://schemas.microsoft.com/office/drawing/2014/main" id="{7EA40BF5-0C52-47CC-BBDC-D295C38076D3}"/>
                </a:ext>
              </a:extLst>
            </p:cNvPr>
            <p:cNvSpPr txBox="1"/>
            <p:nvPr/>
          </p:nvSpPr>
          <p:spPr>
            <a:xfrm>
              <a:off x="10516061" y="4734750"/>
              <a:ext cx="748923"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PC10</a:t>
              </a:r>
              <a:endParaRPr lang="zh-CN" altLang="en-US" dirty="0">
                <a:latin typeface="微软雅黑" panose="020B0503020204020204" pitchFamily="34" charset="-122"/>
                <a:ea typeface="微软雅黑" panose="020B0503020204020204" pitchFamily="34" charset="-122"/>
              </a:endParaRPr>
            </a:p>
          </p:txBody>
        </p:sp>
        <p:pic>
          <p:nvPicPr>
            <p:cNvPr id="43" name="Picture 57" descr="通用路由器">
              <a:extLst>
                <a:ext uri="{FF2B5EF4-FFF2-40B4-BE49-F238E27FC236}">
                  <a16:creationId xmlns:a16="http://schemas.microsoft.com/office/drawing/2014/main" id="{E136FAC0-5C01-40D1-8E4D-DC03FD9017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3730" y="347911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3" name="文本框 62">
              <a:extLst>
                <a:ext uri="{FF2B5EF4-FFF2-40B4-BE49-F238E27FC236}">
                  <a16:creationId xmlns:a16="http://schemas.microsoft.com/office/drawing/2014/main" id="{9C20B3F8-D3A4-4D64-B252-DA3D70B17F4D}"/>
                </a:ext>
              </a:extLst>
            </p:cNvPr>
            <p:cNvSpPr txBox="1"/>
            <p:nvPr/>
          </p:nvSpPr>
          <p:spPr>
            <a:xfrm>
              <a:off x="8700439" y="348368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grpSp>
      <p:sp>
        <p:nvSpPr>
          <p:cNvPr id="40" name="等腰三角形 39">
            <a:extLst>
              <a:ext uri="{FF2B5EF4-FFF2-40B4-BE49-F238E27FC236}">
                <a16:creationId xmlns:a16="http://schemas.microsoft.com/office/drawing/2014/main" id="{76275D96-F6C9-4116-B972-EF65266DA46A}"/>
              </a:ext>
            </a:extLst>
          </p:cNvPr>
          <p:cNvSpPr/>
          <p:nvPr/>
        </p:nvSpPr>
        <p:spPr>
          <a:xfrm>
            <a:off x="5109536" y="2238533"/>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id="{1F5347C6-9CCA-468E-8F96-EEF09429C69D}"/>
              </a:ext>
            </a:extLst>
          </p:cNvPr>
          <p:cNvSpPr>
            <a:spLocks noGrp="1"/>
          </p:cNvSpPr>
          <p:nvPr>
            <p:ph type="title"/>
          </p:nvPr>
        </p:nvSpPr>
        <p:spPr>
          <a:xfrm>
            <a:off x="1307508" y="365126"/>
            <a:ext cx="8220812" cy="879086"/>
          </a:xfrm>
        </p:spPr>
        <p:txBody>
          <a:bodyPr/>
          <a:lstStyle/>
          <a:p>
            <a:r>
              <a:rPr lang="zh-CN" altLang="en-US" dirty="0"/>
              <a:t>层次路由</a:t>
            </a:r>
            <a:r>
              <a:rPr lang="en-US" altLang="zh-CN" dirty="0"/>
              <a:t>-</a:t>
            </a:r>
            <a:r>
              <a:rPr lang="zh-CN" altLang="en-US" dirty="0"/>
              <a:t>产生原因</a:t>
            </a:r>
          </a:p>
        </p:txBody>
      </p:sp>
      <p:sp>
        <p:nvSpPr>
          <p:cNvPr id="8" name="文本框 7">
            <a:extLst>
              <a:ext uri="{FF2B5EF4-FFF2-40B4-BE49-F238E27FC236}">
                <a16:creationId xmlns:a16="http://schemas.microsoft.com/office/drawing/2014/main" id="{75A86B75-EE45-4975-B050-5021B14CDFE8}"/>
              </a:ext>
            </a:extLst>
          </p:cNvPr>
          <p:cNvSpPr txBox="1"/>
          <p:nvPr/>
        </p:nvSpPr>
        <p:spPr>
          <a:xfrm>
            <a:off x="5762875" y="157383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grpSp>
        <p:nvGrpSpPr>
          <p:cNvPr id="70" name="组合 69">
            <a:extLst>
              <a:ext uri="{FF2B5EF4-FFF2-40B4-BE49-F238E27FC236}">
                <a16:creationId xmlns:a16="http://schemas.microsoft.com/office/drawing/2014/main" id="{E6F260F7-0E2B-4ABA-A8F6-D4966681030D}"/>
              </a:ext>
            </a:extLst>
          </p:cNvPr>
          <p:cNvGrpSpPr/>
          <p:nvPr/>
        </p:nvGrpSpPr>
        <p:grpSpPr>
          <a:xfrm>
            <a:off x="402961" y="1319927"/>
            <a:ext cx="5452555" cy="1686213"/>
            <a:chOff x="402961" y="1524121"/>
            <a:chExt cx="5452555" cy="1686213"/>
          </a:xfrm>
        </p:grpSpPr>
        <p:cxnSp>
          <p:nvCxnSpPr>
            <p:cNvPr id="26" name="直接连接符 25">
              <a:extLst>
                <a:ext uri="{FF2B5EF4-FFF2-40B4-BE49-F238E27FC236}">
                  <a16:creationId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7" name="Picture 14">
              <a:extLst>
                <a:ext uri="{FF2B5EF4-FFF2-40B4-BE49-F238E27FC236}">
                  <a16:creationId xmlns:a16="http://schemas.microsoft.com/office/drawing/2014/main" id="{1F0082C8-E1D0-4631-AFFC-26FD5201200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961" y="1644240"/>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7" descr="通用路由器">
              <a:extLst>
                <a:ext uri="{FF2B5EF4-FFF2-40B4-BE49-F238E27FC236}">
                  <a16:creationId xmlns:a16="http://schemas.microsoft.com/office/drawing/2014/main" id="{1CC6DEBC-BB1D-46BC-9BB8-D44DFD3D7F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3499" y="2108692"/>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9" name="文本框 8">
              <a:extLst>
                <a:ext uri="{FF2B5EF4-FFF2-40B4-BE49-F238E27FC236}">
                  <a16:creationId xmlns:a16="http://schemas.microsoft.com/office/drawing/2014/main" id="{1C7A9F64-702E-4C57-9267-EDC628E382F9}"/>
                </a:ext>
              </a:extLst>
            </p:cNvPr>
            <p:cNvSpPr txBox="1"/>
            <p:nvPr/>
          </p:nvSpPr>
          <p:spPr>
            <a:xfrm>
              <a:off x="2627434" y="177052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pic>
          <p:nvPicPr>
            <p:cNvPr id="11" name="Picture 9" descr="服务器终端">
              <a:extLst>
                <a:ext uri="{FF2B5EF4-FFF2-40B4-BE49-F238E27FC236}">
                  <a16:creationId xmlns:a16="http://schemas.microsoft.com/office/drawing/2014/main" id="{576B6BF2-238B-45BE-B34A-916A96DF331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1948" y="1524121"/>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2" name="文本框 11">
              <a:extLst>
                <a:ext uri="{FF2B5EF4-FFF2-40B4-BE49-F238E27FC236}">
                  <a16:creationId xmlns:a16="http://schemas.microsoft.com/office/drawing/2014/main" id="{10B061DE-D8E2-4070-BB52-28341085A384}"/>
                </a:ext>
              </a:extLst>
            </p:cNvPr>
            <p:cNvSpPr txBox="1"/>
            <p:nvPr/>
          </p:nvSpPr>
          <p:spPr>
            <a:xfrm>
              <a:off x="764812" y="1970309"/>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PC1</a:t>
              </a:r>
              <a:endParaRPr lang="zh-CN" altLang="en-US" dirty="0">
                <a:latin typeface="微软雅黑" panose="020B0503020204020204" pitchFamily="34" charset="-122"/>
                <a:ea typeface="微软雅黑" panose="020B0503020204020204" pitchFamily="34" charset="-122"/>
              </a:endParaRPr>
            </a:p>
          </p:txBody>
        </p:sp>
        <p:pic>
          <p:nvPicPr>
            <p:cNvPr id="13" name="Picture 9" descr="服务器终端">
              <a:extLst>
                <a:ext uri="{FF2B5EF4-FFF2-40B4-BE49-F238E27FC236}">
                  <a16:creationId xmlns:a16="http://schemas.microsoft.com/office/drawing/2014/main" id="{FDC0EB5C-041E-416E-BE6E-45C17AB843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7113" y="203140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4" name="文本框 13">
              <a:extLst>
                <a:ext uri="{FF2B5EF4-FFF2-40B4-BE49-F238E27FC236}">
                  <a16:creationId xmlns:a16="http://schemas.microsoft.com/office/drawing/2014/main" id="{19570BD0-A1DE-4C6C-8D91-9749980155A1}"/>
                </a:ext>
              </a:extLst>
            </p:cNvPr>
            <p:cNvSpPr txBox="1"/>
            <p:nvPr/>
          </p:nvSpPr>
          <p:spPr>
            <a:xfrm>
              <a:off x="1505795" y="253118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PC2</a:t>
              </a:r>
              <a:endParaRPr lang="zh-CN" altLang="en-US" dirty="0">
                <a:latin typeface="微软雅黑" panose="020B0503020204020204" pitchFamily="34" charset="-122"/>
                <a:ea typeface="微软雅黑" panose="020B0503020204020204" pitchFamily="34" charset="-122"/>
              </a:endParaRPr>
            </a:p>
          </p:txBody>
        </p:sp>
      </p:grpSp>
      <p:grpSp>
        <p:nvGrpSpPr>
          <p:cNvPr id="65" name="组合 64">
            <a:extLst>
              <a:ext uri="{FF2B5EF4-FFF2-40B4-BE49-F238E27FC236}">
                <a16:creationId xmlns:a16="http://schemas.microsoft.com/office/drawing/2014/main" id="{E3FB6F0E-FD32-40AB-90A7-0C7D39E2B023}"/>
              </a:ext>
            </a:extLst>
          </p:cNvPr>
          <p:cNvGrpSpPr/>
          <p:nvPr/>
        </p:nvGrpSpPr>
        <p:grpSpPr>
          <a:xfrm>
            <a:off x="6182103" y="1251221"/>
            <a:ext cx="5774120" cy="1686213"/>
            <a:chOff x="6182103" y="1455415"/>
            <a:chExt cx="5774120" cy="1686213"/>
          </a:xfrm>
        </p:grpSpPr>
        <p:cxnSp>
          <p:nvCxnSpPr>
            <p:cNvPr id="36" name="直接连接符 35">
              <a:extLst>
                <a:ext uri="{FF2B5EF4-FFF2-40B4-BE49-F238E27FC236}">
                  <a16:creationId xmlns:a16="http://schemas.microsoft.com/office/drawing/2014/main" id="{EDE78263-89CB-4EDD-93F1-65AD573E59F2}"/>
                </a:ext>
              </a:extLst>
            </p:cNvPr>
            <p:cNvCxnSpPr>
              <a:cxnSpLocks/>
            </p:cNvCxnSpPr>
            <p:nvPr/>
          </p:nvCxnSpPr>
          <p:spPr>
            <a:xfrm flipV="1">
              <a:off x="6182103" y="2339641"/>
              <a:ext cx="3088950" cy="947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id="{C9D2448E-4DF6-4F3D-94D3-4044F9D944E6}"/>
                </a:ext>
              </a:extLst>
            </p:cNvPr>
            <p:cNvSpPr txBox="1"/>
            <p:nvPr/>
          </p:nvSpPr>
          <p:spPr>
            <a:xfrm>
              <a:off x="9271053" y="180410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pic>
          <p:nvPicPr>
            <p:cNvPr id="18" name="Picture 14">
              <a:extLst>
                <a:ext uri="{FF2B5EF4-FFF2-40B4-BE49-F238E27FC236}">
                  <a16:creationId xmlns:a16="http://schemas.microsoft.com/office/drawing/2014/main"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50554" y="1575534"/>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9" descr="服务器终端">
              <a:extLst>
                <a:ext uri="{FF2B5EF4-FFF2-40B4-BE49-F238E27FC236}">
                  <a16:creationId xmlns:a16="http://schemas.microsoft.com/office/drawing/2014/main" id="{2EF45FB8-A68A-428C-B8D6-DE24DB7677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19541" y="1455415"/>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0" name="文本框 19">
              <a:extLst>
                <a:ext uri="{FF2B5EF4-FFF2-40B4-BE49-F238E27FC236}">
                  <a16:creationId xmlns:a16="http://schemas.microsoft.com/office/drawing/2014/main" id="{F5BD26AB-AC1F-4200-9CFF-40B5088651F3}"/>
                </a:ext>
              </a:extLst>
            </p:cNvPr>
            <p:cNvSpPr txBox="1"/>
            <p:nvPr/>
          </p:nvSpPr>
          <p:spPr>
            <a:xfrm>
              <a:off x="10112405" y="1901603"/>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PC4</a:t>
              </a:r>
              <a:endParaRPr lang="zh-CN" altLang="en-US" dirty="0">
                <a:latin typeface="微软雅黑" panose="020B0503020204020204" pitchFamily="34" charset="-122"/>
                <a:ea typeface="微软雅黑" panose="020B0503020204020204" pitchFamily="34" charset="-122"/>
              </a:endParaRPr>
            </a:p>
          </p:txBody>
        </p:sp>
        <p:pic>
          <p:nvPicPr>
            <p:cNvPr id="21" name="Picture 9" descr="服务器终端">
              <a:extLst>
                <a:ext uri="{FF2B5EF4-FFF2-40B4-BE49-F238E27FC236}">
                  <a16:creationId xmlns:a16="http://schemas.microsoft.com/office/drawing/2014/main" id="{9E6C5389-FADB-48A7-89B5-7B1C4DB79B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64706" y="196269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2" name="文本框 21">
              <a:extLst>
                <a:ext uri="{FF2B5EF4-FFF2-40B4-BE49-F238E27FC236}">
                  <a16:creationId xmlns:a16="http://schemas.microsoft.com/office/drawing/2014/main" id="{0D4EC4C3-F2D0-4F3E-A7FD-03A7DC507C18}"/>
                </a:ext>
              </a:extLst>
            </p:cNvPr>
            <p:cNvSpPr txBox="1"/>
            <p:nvPr/>
          </p:nvSpPr>
          <p:spPr>
            <a:xfrm>
              <a:off x="10853388" y="2462475"/>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PC3</a:t>
              </a:r>
              <a:endParaRPr lang="zh-CN" altLang="en-US" dirty="0">
                <a:latin typeface="微软雅黑" panose="020B0503020204020204" pitchFamily="34" charset="-122"/>
                <a:ea typeface="微软雅黑" panose="020B0503020204020204" pitchFamily="34" charset="-122"/>
              </a:endParaRPr>
            </a:p>
          </p:txBody>
        </p:sp>
        <p:pic>
          <p:nvPicPr>
            <p:cNvPr id="7" name="Picture 57" descr="通用路由器">
              <a:extLst>
                <a:ext uri="{FF2B5EF4-FFF2-40B4-BE49-F238E27FC236}">
                  <a16:creationId xmlns:a16="http://schemas.microsoft.com/office/drawing/2014/main" id="{E480C355-65E3-43FB-9825-C472AF9546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5606" y="2133800"/>
              <a:ext cx="678086" cy="499779"/>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41" name="表格 40">
            <a:extLst>
              <a:ext uri="{FF2B5EF4-FFF2-40B4-BE49-F238E27FC236}">
                <a16:creationId xmlns:a16="http://schemas.microsoft.com/office/drawing/2014/main" id="{CCCAF80D-D057-4354-B876-C6A2A9AB4651}"/>
              </a:ext>
            </a:extLst>
          </p:cNvPr>
          <p:cNvGraphicFramePr>
            <a:graphicFrameLocks noGrp="1"/>
          </p:cNvGraphicFramePr>
          <p:nvPr/>
        </p:nvGraphicFramePr>
        <p:xfrm>
          <a:off x="5109536" y="2750843"/>
          <a:ext cx="1818282" cy="2011680"/>
        </p:xfrm>
        <a:graphic>
          <a:graphicData uri="http://schemas.openxmlformats.org/drawingml/2006/table">
            <a:tbl>
              <a:tblPr firstRow="1" bandRow="1">
                <a:tableStyleId>{5C22544A-7EE6-4342-B048-85BDC9FD1C3A}</a:tableStyleId>
              </a:tblPr>
              <a:tblGrid>
                <a:gridCol w="909141">
                  <a:extLst>
                    <a:ext uri="{9D8B030D-6E8A-4147-A177-3AD203B41FA5}">
                      <a16:colId xmlns:a16="http://schemas.microsoft.com/office/drawing/2014/main" val="900945486"/>
                    </a:ext>
                  </a:extLst>
                </a:gridCol>
                <a:gridCol w="909141">
                  <a:extLst>
                    <a:ext uri="{9D8B030D-6E8A-4147-A177-3AD203B41FA5}">
                      <a16:colId xmlns:a16="http://schemas.microsoft.com/office/drawing/2014/main" val="2179439050"/>
                    </a:ext>
                  </a:extLst>
                </a:gridCol>
              </a:tblGrid>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912889480"/>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PC1</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838096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23619522"/>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PC5</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8454529"/>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PC6</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21184111"/>
                  </a:ext>
                </a:extLst>
              </a:tr>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其他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4329233"/>
                  </a:ext>
                </a:extLst>
              </a:tr>
            </a:tbl>
          </a:graphicData>
        </a:graphic>
      </p:graphicFrame>
      <p:grpSp>
        <p:nvGrpSpPr>
          <p:cNvPr id="66" name="组合 65">
            <a:extLst>
              <a:ext uri="{FF2B5EF4-FFF2-40B4-BE49-F238E27FC236}">
                <a16:creationId xmlns:a16="http://schemas.microsoft.com/office/drawing/2014/main" id="{31C2AFB2-40E3-48A9-AE0C-AF177BC29C83}"/>
              </a:ext>
            </a:extLst>
          </p:cNvPr>
          <p:cNvGrpSpPr/>
          <p:nvPr/>
        </p:nvGrpSpPr>
        <p:grpSpPr>
          <a:xfrm>
            <a:off x="1224348" y="2174117"/>
            <a:ext cx="4621162" cy="2880129"/>
            <a:chOff x="1224348" y="2378311"/>
            <a:chExt cx="4621162" cy="2880129"/>
          </a:xfrm>
        </p:grpSpPr>
        <p:cxnSp>
          <p:nvCxnSpPr>
            <p:cNvPr id="44" name="直接连接符 43">
              <a:extLst>
                <a:ext uri="{FF2B5EF4-FFF2-40B4-BE49-F238E27FC236}">
                  <a16:creationId xmlns:a16="http://schemas.microsoft.com/office/drawing/2014/main" id="{28ABFF36-C6E8-459A-9605-5000A9F36A94}"/>
                </a:ext>
              </a:extLst>
            </p:cNvPr>
            <p:cNvCxnSpPr>
              <a:cxnSpLocks/>
            </p:cNvCxnSpPr>
            <p:nvPr/>
          </p:nvCxnSpPr>
          <p:spPr>
            <a:xfrm flipV="1">
              <a:off x="3354736" y="2378311"/>
              <a:ext cx="2490774" cy="145349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0" name="Picture 14">
              <a:extLst>
                <a:ext uri="{FF2B5EF4-FFF2-40B4-BE49-F238E27FC236}">
                  <a16:creationId xmlns:a16="http://schemas.microsoft.com/office/drawing/2014/main" id="{72733195-C140-4B00-B975-2FE053C0BBF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4348" y="3692346"/>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9" descr="服务器终端">
              <a:extLst>
                <a:ext uri="{FF2B5EF4-FFF2-40B4-BE49-F238E27FC236}">
                  <a16:creationId xmlns:a16="http://schemas.microsoft.com/office/drawing/2014/main" id="{4821B128-B96F-423E-8851-133227CD04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374" y="3647667"/>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2" name="文本框 51">
              <a:extLst>
                <a:ext uri="{FF2B5EF4-FFF2-40B4-BE49-F238E27FC236}">
                  <a16:creationId xmlns:a16="http://schemas.microsoft.com/office/drawing/2014/main" id="{D66FDE15-4DBD-4D17-99D3-5FE1B3AEBC5B}"/>
                </a:ext>
              </a:extLst>
            </p:cNvPr>
            <p:cNvSpPr txBox="1"/>
            <p:nvPr/>
          </p:nvSpPr>
          <p:spPr>
            <a:xfrm>
              <a:off x="1704223" y="4175724"/>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PC5</a:t>
              </a:r>
              <a:endParaRPr lang="zh-CN" altLang="en-US" dirty="0">
                <a:latin typeface="微软雅黑" panose="020B0503020204020204" pitchFamily="34" charset="-122"/>
                <a:ea typeface="微软雅黑" panose="020B0503020204020204" pitchFamily="34" charset="-122"/>
              </a:endParaRPr>
            </a:p>
          </p:txBody>
        </p:sp>
        <p:pic>
          <p:nvPicPr>
            <p:cNvPr id="53" name="Picture 9" descr="服务器终端">
              <a:extLst>
                <a:ext uri="{FF2B5EF4-FFF2-40B4-BE49-F238E27FC236}">
                  <a16:creationId xmlns:a16="http://schemas.microsoft.com/office/drawing/2014/main" id="{8EF58131-96E7-4574-B35C-13F8F7AAC8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1288" y="421429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4" name="文本框 53">
              <a:extLst>
                <a:ext uri="{FF2B5EF4-FFF2-40B4-BE49-F238E27FC236}">
                  <a16:creationId xmlns:a16="http://schemas.microsoft.com/office/drawing/2014/main" id="{E2E7AF18-85DB-429F-82DC-4CC11F8B1991}"/>
                </a:ext>
              </a:extLst>
            </p:cNvPr>
            <p:cNvSpPr txBox="1"/>
            <p:nvPr/>
          </p:nvSpPr>
          <p:spPr>
            <a:xfrm>
              <a:off x="2569970" y="471407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PC6</a:t>
              </a:r>
              <a:endParaRPr lang="zh-CN" altLang="en-US" dirty="0">
                <a:latin typeface="微软雅黑" panose="020B0503020204020204" pitchFamily="34" charset="-122"/>
                <a:ea typeface="微软雅黑" panose="020B0503020204020204" pitchFamily="34" charset="-122"/>
              </a:endParaRPr>
            </a:p>
          </p:txBody>
        </p:sp>
        <p:pic>
          <p:nvPicPr>
            <p:cNvPr id="42" name="Picture 57" descr="通用路由器">
              <a:extLst>
                <a:ext uri="{FF2B5EF4-FFF2-40B4-BE49-F238E27FC236}">
                  <a16:creationId xmlns:a16="http://schemas.microsoft.com/office/drawing/2014/main" id="{642EF410-9478-41CB-B998-391C22AE48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24942" y="3539476"/>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2" name="文本框 61">
              <a:extLst>
                <a:ext uri="{FF2B5EF4-FFF2-40B4-BE49-F238E27FC236}">
                  <a16:creationId xmlns:a16="http://schemas.microsoft.com/office/drawing/2014/main" id="{84B90324-2A36-4F5C-AB74-674A238048E3}"/>
                </a:ext>
              </a:extLst>
            </p:cNvPr>
            <p:cNvSpPr txBox="1"/>
            <p:nvPr/>
          </p:nvSpPr>
          <p:spPr>
            <a:xfrm>
              <a:off x="3089713" y="3176701"/>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grpSp>
      <p:sp>
        <p:nvSpPr>
          <p:cNvPr id="72" name="文本框 71">
            <a:extLst>
              <a:ext uri="{FF2B5EF4-FFF2-40B4-BE49-F238E27FC236}">
                <a16:creationId xmlns:a16="http://schemas.microsoft.com/office/drawing/2014/main" id="{23206CA5-A963-4FA0-9FD2-BFEDD34A96A2}"/>
              </a:ext>
            </a:extLst>
          </p:cNvPr>
          <p:cNvSpPr txBox="1"/>
          <p:nvPr/>
        </p:nvSpPr>
        <p:spPr>
          <a:xfrm>
            <a:off x="1270795" y="5580198"/>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73" name="文本框 72">
            <a:extLst>
              <a:ext uri="{FF2B5EF4-FFF2-40B4-BE49-F238E27FC236}">
                <a16:creationId xmlns:a16="http://schemas.microsoft.com/office/drawing/2014/main" id="{C2CEF8AA-3ADF-4796-95D1-2AAF710C758A}"/>
              </a:ext>
            </a:extLst>
          </p:cNvPr>
          <p:cNvSpPr txBox="1"/>
          <p:nvPr/>
        </p:nvSpPr>
        <p:spPr>
          <a:xfrm>
            <a:off x="10236176" y="5609506"/>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 name="箭头: 右 2">
            <a:extLst>
              <a:ext uri="{FF2B5EF4-FFF2-40B4-BE49-F238E27FC236}">
                <a16:creationId xmlns:a16="http://schemas.microsoft.com/office/drawing/2014/main" id="{62E76F40-E3AC-4D92-97B6-FB7707B1016F}"/>
              </a:ext>
            </a:extLst>
          </p:cNvPr>
          <p:cNvSpPr/>
          <p:nvPr/>
        </p:nvSpPr>
        <p:spPr>
          <a:xfrm>
            <a:off x="4325292" y="4538226"/>
            <a:ext cx="701620" cy="175037"/>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框 24">
            <a:extLst>
              <a:ext uri="{FF2B5EF4-FFF2-40B4-BE49-F238E27FC236}">
                <a16:creationId xmlns:a16="http://schemas.microsoft.com/office/drawing/2014/main" id="{034B834E-D660-4E0F-B72B-C19D20BF1864}"/>
              </a:ext>
            </a:extLst>
          </p:cNvPr>
          <p:cNvSpPr txBox="1"/>
          <p:nvPr/>
        </p:nvSpPr>
        <p:spPr>
          <a:xfrm>
            <a:off x="4600123" y="5519105"/>
            <a:ext cx="2749471" cy="1015663"/>
          </a:xfrm>
          <a:prstGeom prst="rect">
            <a:avLst/>
          </a:prstGeom>
          <a:noFill/>
          <a:ln>
            <a:solidFill>
              <a:srgbClr val="5B307E"/>
            </a:solidFill>
          </a:ln>
        </p:spPr>
        <p:txBody>
          <a:bodyPr wrap="none" rtlCol="0">
            <a:spAutoFit/>
          </a:bodyPr>
          <a:lstStyle/>
          <a:p>
            <a:pPr algn="ctr"/>
            <a:r>
              <a:rPr lang="zh-CN" altLang="en-US" sz="2000" dirty="0">
                <a:latin typeface="微软雅黑" panose="020B0503020204020204" pitchFamily="34" charset="-122"/>
                <a:ea typeface="微软雅黑" panose="020B0503020204020204" pitchFamily="34" charset="-122"/>
              </a:rPr>
              <a:t>为提高路由器查表速度</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减少路由表存储空间</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需要缩减路由条目</a:t>
            </a:r>
          </a:p>
        </p:txBody>
      </p:sp>
      <p:sp>
        <p:nvSpPr>
          <p:cNvPr id="49" name="等腰三角形 48">
            <a:extLst>
              <a:ext uri="{FF2B5EF4-FFF2-40B4-BE49-F238E27FC236}">
                <a16:creationId xmlns:a16="http://schemas.microsoft.com/office/drawing/2014/main" id="{8094F6B2-2D67-4D96-8C06-05B68DC5785D}"/>
              </a:ext>
            </a:extLst>
          </p:cNvPr>
          <p:cNvSpPr/>
          <p:nvPr/>
        </p:nvSpPr>
        <p:spPr>
          <a:xfrm>
            <a:off x="5109536" y="2238533"/>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55" name="表格 54">
            <a:extLst>
              <a:ext uri="{FF2B5EF4-FFF2-40B4-BE49-F238E27FC236}">
                <a16:creationId xmlns:a16="http://schemas.microsoft.com/office/drawing/2014/main" id="{58F240D0-A84F-435F-BF73-95EBCEB157A0}"/>
              </a:ext>
            </a:extLst>
          </p:cNvPr>
          <p:cNvGraphicFramePr>
            <a:graphicFrameLocks noGrp="1"/>
          </p:cNvGraphicFramePr>
          <p:nvPr/>
        </p:nvGraphicFramePr>
        <p:xfrm>
          <a:off x="5109536" y="2750843"/>
          <a:ext cx="1818282" cy="1341120"/>
        </p:xfrm>
        <a:graphic>
          <a:graphicData uri="http://schemas.openxmlformats.org/drawingml/2006/table">
            <a:tbl>
              <a:tblPr firstRow="1" bandRow="1">
                <a:tableStyleId>{5C22544A-7EE6-4342-B048-85BDC9FD1C3A}</a:tableStyleId>
              </a:tblPr>
              <a:tblGrid>
                <a:gridCol w="909141">
                  <a:extLst>
                    <a:ext uri="{9D8B030D-6E8A-4147-A177-3AD203B41FA5}">
                      <a16:colId xmlns:a16="http://schemas.microsoft.com/office/drawing/2014/main" val="900945486"/>
                    </a:ext>
                  </a:extLst>
                </a:gridCol>
                <a:gridCol w="909141">
                  <a:extLst>
                    <a:ext uri="{9D8B030D-6E8A-4147-A177-3AD203B41FA5}">
                      <a16:colId xmlns:a16="http://schemas.microsoft.com/office/drawing/2014/main" val="2179439050"/>
                    </a:ext>
                  </a:extLst>
                </a:gridCol>
              </a:tblGrid>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val="1912889480"/>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PC1-2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838096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PC5-6</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23619522"/>
                  </a:ext>
                </a:extLst>
              </a:tr>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其他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4329233"/>
                  </a:ext>
                </a:extLst>
              </a:tr>
            </a:tbl>
          </a:graphicData>
        </a:graphic>
      </p:graphicFrame>
      <p:sp>
        <p:nvSpPr>
          <p:cNvPr id="56" name="文本框 55">
            <a:extLst>
              <a:ext uri="{FF2B5EF4-FFF2-40B4-BE49-F238E27FC236}">
                <a16:creationId xmlns:a16="http://schemas.microsoft.com/office/drawing/2014/main" id="{96EF6A19-DC42-4215-9B33-A87FDB4A18AA}"/>
              </a:ext>
            </a:extLst>
          </p:cNvPr>
          <p:cNvSpPr txBox="1"/>
          <p:nvPr/>
        </p:nvSpPr>
        <p:spPr>
          <a:xfrm>
            <a:off x="3702865" y="4730944"/>
            <a:ext cx="4544834" cy="400110"/>
          </a:xfrm>
          <a:prstGeom prst="rect">
            <a:avLst/>
          </a:prstGeom>
          <a:noFill/>
          <a:ln>
            <a:solidFill>
              <a:srgbClr val="5B307E"/>
            </a:solidFill>
          </a:ln>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可以通过地址聚合进一步缩减路由条目</a:t>
            </a:r>
          </a:p>
        </p:txBody>
      </p:sp>
      <p:sp>
        <p:nvSpPr>
          <p:cNvPr id="64" name="文本框 63">
            <a:extLst>
              <a:ext uri="{FF2B5EF4-FFF2-40B4-BE49-F238E27FC236}">
                <a16:creationId xmlns:a16="http://schemas.microsoft.com/office/drawing/2014/main" id="{489B2976-8AB5-4C02-93F8-5E9289E3319B}"/>
              </a:ext>
            </a:extLst>
          </p:cNvPr>
          <p:cNvSpPr txBox="1"/>
          <p:nvPr/>
        </p:nvSpPr>
        <p:spPr>
          <a:xfrm>
            <a:off x="3489779" y="5132701"/>
            <a:ext cx="5057795"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地址聚合依赖于连续的地址分配及拓扑结构</a:t>
            </a:r>
            <a:endParaRPr lang="en-US" altLang="zh-CN" sz="2000" dirty="0">
              <a:latin typeface="微软雅黑" panose="020B0503020204020204" pitchFamily="34" charset="-122"/>
              <a:ea typeface="微软雅黑" panose="020B0503020204020204" pitchFamily="34" charset="-122"/>
            </a:endParaRPr>
          </a:p>
        </p:txBody>
      </p:sp>
      <p:pic>
        <p:nvPicPr>
          <p:cNvPr id="5" name="Picture 57" descr="通用路由器">
            <a:extLst>
              <a:ext uri="{FF2B5EF4-FFF2-40B4-BE49-F238E27FC236}">
                <a16:creationId xmlns:a16="http://schemas.microsoft.com/office/drawing/2014/main" id="{23E08EE2-3288-4702-B82B-EA4923011B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36239" y="192799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9" name="日期占位符 4">
            <a:extLst>
              <a:ext uri="{FF2B5EF4-FFF2-40B4-BE49-F238E27FC236}">
                <a16:creationId xmlns:a16="http://schemas.microsoft.com/office/drawing/2014/main"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5.2.5 </a:t>
            </a:r>
            <a:r>
              <a:rPr kumimoji="1" lang="zh-CN" altLang="en-US" dirty="0"/>
              <a:t>层次路由</a:t>
            </a:r>
          </a:p>
        </p:txBody>
      </p:sp>
      <p:sp>
        <p:nvSpPr>
          <p:cNvPr id="68" name="灯片编号占位符 3">
            <a:extLst>
              <a:ext uri="{FF2B5EF4-FFF2-40B4-BE49-F238E27FC236}">
                <a16:creationId xmlns:a16="http://schemas.microsoft.com/office/drawing/2014/main" id="{771C695F-FF06-DE44-B3DB-5924A5A369B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49</a:t>
            </a:fld>
            <a:endParaRPr kumimoji="1" lang="zh-CN" altLang="en-US" dirty="0"/>
          </a:p>
        </p:txBody>
      </p:sp>
      <p:pic>
        <p:nvPicPr>
          <p:cNvPr id="71" name="Picture 28" descr="015">
            <a:extLst>
              <a:ext uri="{FF2B5EF4-FFF2-40B4-BE49-F238E27FC236}">
                <a16:creationId xmlns:a16="http://schemas.microsoft.com/office/drawing/2014/main" id="{B48CF141-B42A-4340-A192-ED615071F09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12605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41"/>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3"/>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hidden"/>
                                      </p:to>
                                    </p:set>
                                  </p:childTnLst>
                                </p:cTn>
                              </p:par>
                            </p:childTnLst>
                          </p:cTn>
                        </p:par>
                        <p:par>
                          <p:cTn id="13" fill="hold">
                            <p:stCondLst>
                              <p:cond delay="0"/>
                            </p:stCondLst>
                            <p:childTnLst>
                              <p:par>
                                <p:cTn id="14" presetID="10" presetClass="entr" presetSubtype="0" fill="hold" grpId="0" nodeType="afterEffect">
                                  <p:stCondLst>
                                    <p:cond delay="0"/>
                                  </p:stCondLst>
                                  <p:childTnLst>
                                    <p:set>
                                      <p:cBhvr>
                                        <p:cTn id="15" dur="1" fill="hold">
                                          <p:stCondLst>
                                            <p:cond delay="0"/>
                                          </p:stCondLst>
                                        </p:cTn>
                                        <p:tgtEl>
                                          <p:spTgt spid="49"/>
                                        </p:tgtEl>
                                        <p:attrNameLst>
                                          <p:attrName>style.visibility</p:attrName>
                                        </p:attrNameLst>
                                      </p:cBhvr>
                                      <p:to>
                                        <p:strVal val="visible"/>
                                      </p:to>
                                    </p:set>
                                    <p:animEffect transition="in" filter="fade">
                                      <p:cBhvr>
                                        <p:cTn id="16" dur="500"/>
                                        <p:tgtEl>
                                          <p:spTgt spid="49"/>
                                        </p:tgtEl>
                                      </p:cBhvr>
                                    </p:animEffect>
                                  </p:childTnLst>
                                </p:cTn>
                              </p:par>
                              <p:par>
                                <p:cTn id="17" presetID="10" presetClass="entr" presetSubtype="0" fill="hold" nodeType="withEffect">
                                  <p:stCondLst>
                                    <p:cond delay="0"/>
                                  </p:stCondLst>
                                  <p:childTnLst>
                                    <p:set>
                                      <p:cBhvr>
                                        <p:cTn id="18" dur="1" fill="hold">
                                          <p:stCondLst>
                                            <p:cond delay="0"/>
                                          </p:stCondLst>
                                        </p:cTn>
                                        <p:tgtEl>
                                          <p:spTgt spid="55"/>
                                        </p:tgtEl>
                                        <p:attrNameLst>
                                          <p:attrName>style.visibility</p:attrName>
                                        </p:attrNameLst>
                                      </p:cBhvr>
                                      <p:to>
                                        <p:strVal val="visible"/>
                                      </p:to>
                                    </p:set>
                                    <p:animEffect transition="in" filter="fade">
                                      <p:cBhvr>
                                        <p:cTn id="19" dur="500"/>
                                        <p:tgtEl>
                                          <p:spTgt spid="5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64"/>
                                        </p:tgtEl>
                                        <p:attrNameLst>
                                          <p:attrName>style.visibility</p:attrName>
                                        </p:attrNameLst>
                                      </p:cBhvr>
                                      <p:to>
                                        <p:strVal val="visible"/>
                                      </p:to>
                                    </p:set>
                                    <p:animEffect transition="in" filter="fade">
                                      <p:cBhvr>
                                        <p:cTn id="2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 grpId="0" animBg="1"/>
      <p:bldP spid="25" grpId="0" animBg="1"/>
      <p:bldP spid="49" grpId="0" animBg="1"/>
      <p:bldP spid="56" grpId="0" animBg="1"/>
      <p:bldP spid="64"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B813927-39D7-4F87-81BE-18635A97322B}"/>
              </a:ext>
            </a:extLst>
          </p:cNvPr>
          <p:cNvSpPr>
            <a:spLocks noGrp="1"/>
          </p:cNvSpPr>
          <p:nvPr>
            <p:ph type="title"/>
          </p:nvPr>
        </p:nvSpPr>
        <p:spPr/>
        <p:txBody>
          <a:bodyPr/>
          <a:lstStyle/>
          <a:p>
            <a:r>
              <a:rPr lang="zh-CN" altLang="en-US" dirty="0"/>
              <a:t>层次路由</a:t>
            </a:r>
            <a:r>
              <a:rPr lang="en-US" altLang="zh-CN" dirty="0"/>
              <a:t>-</a:t>
            </a:r>
            <a:r>
              <a:rPr lang="zh-CN" altLang="en-US" dirty="0"/>
              <a:t>产生原因</a:t>
            </a:r>
          </a:p>
        </p:txBody>
      </p:sp>
      <p:sp>
        <p:nvSpPr>
          <p:cNvPr id="3" name="内容占位符 2">
            <a:extLst>
              <a:ext uri="{FF2B5EF4-FFF2-40B4-BE49-F238E27FC236}">
                <a16:creationId xmlns:a16="http://schemas.microsoft.com/office/drawing/2014/main" id="{4D85A4A8-0540-444E-974C-13E7E78F421F}"/>
              </a:ext>
            </a:extLst>
          </p:cNvPr>
          <p:cNvSpPr>
            <a:spLocks noGrp="1"/>
          </p:cNvSpPr>
          <p:nvPr>
            <p:ph idx="1"/>
          </p:nvPr>
        </p:nvSpPr>
        <p:spPr>
          <a:xfrm>
            <a:off x="838200" y="1510757"/>
            <a:ext cx="10515600" cy="5210717"/>
          </a:xfrm>
        </p:spPr>
        <p:txBody>
          <a:bodyPr>
            <a:normAutofit/>
          </a:bodyPr>
          <a:lstStyle/>
          <a:p>
            <a:pPr>
              <a:lnSpc>
                <a:spcPct val="130000"/>
              </a:lnSpc>
            </a:pPr>
            <a:r>
              <a:rPr lang="zh-CN" altLang="en-US" sz="2400" dirty="0">
                <a:latin typeface="微软雅黑" panose="020B0503020204020204" pitchFamily="34" charset="-122"/>
                <a:ea typeface="微软雅黑" panose="020B0503020204020204" pitchFamily="34" charset="-122"/>
              </a:rPr>
              <a:t>现实情况：</a:t>
            </a:r>
            <a:endParaRPr lang="en-US" altLang="zh-CN" sz="24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地址分配往往是随机的，难以进行高效的地址聚合</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t>每个网络的网络管理员有自己的管理方法和思路，并不希望每个路由器都干涉本网络内部的地址分配等问题</a:t>
            </a:r>
            <a:endParaRPr lang="en-US" altLang="zh-CN" sz="2000" dirty="0"/>
          </a:p>
          <a:p>
            <a:pPr>
              <a:lnSpc>
                <a:spcPct val="130000"/>
              </a:lnSpc>
            </a:pPr>
            <a:r>
              <a:rPr lang="zh-CN" altLang="en-US" sz="2400" dirty="0"/>
              <a:t>层次路由可以解决：</a:t>
            </a:r>
            <a:endParaRPr lang="en-US" altLang="zh-CN" sz="2400" dirty="0"/>
          </a:p>
          <a:p>
            <a:pPr lvl="1">
              <a:lnSpc>
                <a:spcPct val="130000"/>
              </a:lnSpc>
            </a:pPr>
            <a:r>
              <a:rPr lang="zh-CN" altLang="en-US" sz="2000" dirty="0"/>
              <a:t>网络扩展性问题：当网络扩大时，控制路由表条目和路由表存储空间的增长</a:t>
            </a:r>
            <a:endParaRPr lang="en-US" altLang="zh-CN" sz="2000" dirty="0"/>
          </a:p>
          <a:p>
            <a:pPr lvl="1">
              <a:lnSpc>
                <a:spcPct val="130000"/>
              </a:lnSpc>
            </a:pPr>
            <a:r>
              <a:rPr lang="zh-CN" altLang="en-US" sz="2000" dirty="0"/>
              <a:t>管理的自治问题：网络管理员可以控制和管理自己网络的路由</a:t>
            </a:r>
            <a:endParaRPr lang="en-US" altLang="zh-CN" sz="2000" dirty="0"/>
          </a:p>
        </p:txBody>
      </p:sp>
      <p:sp>
        <p:nvSpPr>
          <p:cNvPr id="4" name="灯片编号占位符 3">
            <a:extLst>
              <a:ext uri="{FF2B5EF4-FFF2-40B4-BE49-F238E27FC236}">
                <a16:creationId xmlns:a16="http://schemas.microsoft.com/office/drawing/2014/main" id="{02CBAC82-E6B8-4C6A-90F7-A9DA8F16F96F}"/>
              </a:ext>
            </a:extLst>
          </p:cNvPr>
          <p:cNvSpPr>
            <a:spLocks noGrp="1"/>
          </p:cNvSpPr>
          <p:nvPr>
            <p:ph type="sldNum" sz="quarter" idx="12"/>
          </p:nvPr>
        </p:nvSpPr>
        <p:spPr/>
        <p:txBody>
          <a:bodyPr/>
          <a:lstStyle/>
          <a:p>
            <a:fld id="{8D4D1E41-7A09-AB4A-A4E1-09765ADA2698}" type="slidenum">
              <a:rPr kumimoji="1" lang="zh-CN" altLang="en-US" smtClean="0"/>
              <a:pPr/>
              <a:t>50</a:t>
            </a:fld>
            <a:endParaRPr kumimoji="1" lang="zh-CN" altLang="en-US" dirty="0"/>
          </a:p>
        </p:txBody>
      </p:sp>
      <p:sp>
        <p:nvSpPr>
          <p:cNvPr id="6" name="日期占位符 4">
            <a:extLst>
              <a:ext uri="{FF2B5EF4-FFF2-40B4-BE49-F238E27FC236}">
                <a16:creationId xmlns:a16="http://schemas.microsoft.com/office/drawing/2014/main"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5.2.5 </a:t>
            </a:r>
            <a:r>
              <a:rPr kumimoji="1" lang="zh-CN" altLang="en-US" dirty="0"/>
              <a:t>层次路由</a:t>
            </a:r>
          </a:p>
        </p:txBody>
      </p:sp>
    </p:spTree>
    <p:extLst>
      <p:ext uri="{BB962C8B-B14F-4D97-AF65-F5344CB8AC3E}">
        <p14:creationId xmlns:p14="http://schemas.microsoft.com/office/powerpoint/2010/main" val="1703987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Effect transition="in" filter="blinds(horizontal)">
                                      <p:cBhvr>
                                        <p:cTn id="7" dur="500"/>
                                        <p:tgtEl>
                                          <p:spTgt spid="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3">
                                            <p:txEl>
                                              <p:pRg st="4" end="4"/>
                                            </p:txEl>
                                          </p:spTgt>
                                        </p:tgtEl>
                                        <p:attrNameLst>
                                          <p:attrName>style.visibility</p:attrName>
                                        </p:attrNameLst>
                                      </p:cBhvr>
                                      <p:to>
                                        <p:strVal val="visible"/>
                                      </p:to>
                                    </p:set>
                                    <p:animEffect transition="in" filter="blinds(horizontal)">
                                      <p:cBhvr>
                                        <p:cTn id="12" dur="500"/>
                                        <p:tgtEl>
                                          <p:spTgt spid="3">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animEffect transition="in" filter="blinds(horizontal)">
                                      <p:cBhvr>
                                        <p:cTn id="17"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内容占位符 2">
            <a:extLst>
              <a:ext uri="{FF2B5EF4-FFF2-40B4-BE49-F238E27FC236}">
                <a16:creationId xmlns:a16="http://schemas.microsoft.com/office/drawing/2014/main" id="{BDC5C69A-528D-4518-9731-8B122AB25F68}"/>
              </a:ext>
            </a:extLst>
          </p:cNvPr>
          <p:cNvSpPr>
            <a:spLocks noGrp="1"/>
          </p:cNvSpPr>
          <p:nvPr>
            <p:ph idx="1"/>
          </p:nvPr>
        </p:nvSpPr>
        <p:spPr>
          <a:xfrm>
            <a:off x="838200" y="1510757"/>
            <a:ext cx="10515600" cy="5210717"/>
          </a:xfrm>
        </p:spPr>
        <p:txBody>
          <a:bodyPr>
            <a:normAutofit/>
          </a:bodyPr>
          <a:lstStyle/>
          <a:p>
            <a:pPr marL="342900" indent="-342900">
              <a:lnSpc>
                <a:spcPct val="130000"/>
              </a:lnSpc>
            </a:pPr>
            <a:r>
              <a:rPr lang="zh-CN" altLang="en-US" sz="2400" dirty="0">
                <a:solidFill>
                  <a:srgbClr val="C00000"/>
                </a:solidFill>
              </a:rPr>
              <a:t>互联网由大量不同的网络互连，每个管理机构控制的网络是自治的</a:t>
            </a: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r>
              <a:rPr lang="zh-CN" altLang="en-US" sz="2400" dirty="0">
                <a:latin typeface="微软雅黑" panose="020B0503020204020204" pitchFamily="34" charset="-122"/>
                <a:ea typeface="微软雅黑" panose="020B0503020204020204" pitchFamily="34" charset="-122"/>
              </a:rPr>
              <a:t>自治系统（</a:t>
            </a:r>
            <a:r>
              <a:rPr lang="en-US" altLang="zh-CN" sz="2400" dirty="0">
                <a:latin typeface="微软雅黑" panose="020B0503020204020204" pitchFamily="34" charset="-122"/>
                <a:ea typeface="微软雅黑" panose="020B0503020204020204" pitchFamily="34" charset="-122"/>
              </a:rPr>
              <a:t>AS</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Autonomous System</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lvl="1"/>
            <a:r>
              <a:rPr lang="zh-CN" altLang="en-US" sz="2200" dirty="0"/>
              <a:t>一个管理机构控制之下的网络</a:t>
            </a:r>
            <a:endParaRPr lang="en-US" altLang="zh-CN" sz="2200" dirty="0"/>
          </a:p>
          <a:p>
            <a:pPr lvl="1"/>
            <a:r>
              <a:rPr lang="zh-CN" altLang="en-US" sz="2200" dirty="0"/>
              <a:t>一个</a:t>
            </a:r>
            <a:r>
              <a:rPr lang="en-US" altLang="zh-CN" sz="2200" dirty="0"/>
              <a:t>AS</a:t>
            </a:r>
            <a:r>
              <a:rPr lang="zh-CN" altLang="en-US" sz="2200" dirty="0"/>
              <a:t>内部通常使用相同的路由算法</a:t>
            </a:r>
            <a:r>
              <a:rPr lang="en-US" altLang="zh-CN" sz="2200" dirty="0"/>
              <a:t>/</a:t>
            </a:r>
            <a:r>
              <a:rPr lang="zh-CN" altLang="en-US" sz="2200" dirty="0"/>
              <a:t>路由协议，使用统一的路由度量（跳数、带宽、时延 </a:t>
            </a:r>
            <a:r>
              <a:rPr lang="en-US" altLang="zh-CN" sz="2200" dirty="0"/>
              <a:t>…</a:t>
            </a:r>
            <a:r>
              <a:rPr lang="zh-CN" altLang="en-US" sz="2200" dirty="0"/>
              <a:t>）</a:t>
            </a:r>
            <a:endParaRPr lang="en-US" altLang="zh-CN" sz="2200" dirty="0"/>
          </a:p>
          <a:p>
            <a:pPr lvl="1"/>
            <a:r>
              <a:rPr lang="zh-CN" altLang="en-US" sz="2200" dirty="0"/>
              <a:t>不同的</a:t>
            </a:r>
            <a:r>
              <a:rPr lang="en-US" altLang="zh-CN" sz="2200" dirty="0"/>
              <a:t>AS</a:t>
            </a:r>
            <a:r>
              <a:rPr lang="zh-CN" altLang="en-US" sz="2200" dirty="0"/>
              <a:t>可以使用不同的路由算法</a:t>
            </a:r>
            <a:r>
              <a:rPr lang="en-US" altLang="zh-CN" sz="2200" dirty="0"/>
              <a:t>/</a:t>
            </a:r>
            <a:r>
              <a:rPr lang="zh-CN" altLang="en-US" sz="2200" dirty="0"/>
              <a:t>路由协议</a:t>
            </a:r>
            <a:endParaRPr lang="en-US" altLang="zh-CN" sz="2200" dirty="0"/>
          </a:p>
          <a:p>
            <a:pPr lvl="1"/>
            <a:r>
              <a:rPr lang="zh-CN" altLang="en-US" sz="2200" dirty="0"/>
              <a:t>每个</a:t>
            </a:r>
            <a:r>
              <a:rPr lang="en-US" altLang="zh-CN" sz="2200" dirty="0"/>
              <a:t>AS</a:t>
            </a:r>
            <a:r>
              <a:rPr lang="zh-CN" altLang="en-US" sz="2200" dirty="0"/>
              <a:t>有一个全球唯一的</a:t>
            </a:r>
            <a:r>
              <a:rPr lang="en-US" altLang="zh-CN" sz="2200" dirty="0"/>
              <a:t>ID</a:t>
            </a:r>
            <a:r>
              <a:rPr lang="zh-CN" altLang="en-US" sz="2200" dirty="0"/>
              <a:t>号：</a:t>
            </a:r>
            <a:r>
              <a:rPr lang="en-US" altLang="zh-CN" sz="2200" dirty="0"/>
              <a:t>AS ID</a:t>
            </a: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r>
              <a:rPr lang="zh-CN" altLang="en-US" sz="2400" dirty="0">
                <a:latin typeface="微软雅黑" panose="020B0503020204020204" pitchFamily="34" charset="-122"/>
                <a:ea typeface="微软雅黑" panose="020B0503020204020204" pitchFamily="34" charset="-122"/>
              </a:rPr>
              <a:t>自治系统内的还可以进一步划分层次：私有自治系统或区域</a:t>
            </a: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endParaRPr lang="en-US" altLang="zh-CN" sz="20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3ECEE202-F158-4E3B-99FB-124599D6CE0F}"/>
              </a:ext>
            </a:extLst>
          </p:cNvPr>
          <p:cNvSpPr>
            <a:spLocks noGrp="1"/>
          </p:cNvSpPr>
          <p:nvPr>
            <p:ph type="title"/>
          </p:nvPr>
        </p:nvSpPr>
        <p:spPr/>
        <p:txBody>
          <a:bodyPr/>
          <a:lstStyle/>
          <a:p>
            <a:r>
              <a:rPr lang="zh-CN" altLang="en-US" dirty="0"/>
              <a:t>层次路由</a:t>
            </a:r>
            <a:r>
              <a:rPr lang="en-US" altLang="zh-CN" dirty="0"/>
              <a:t>-</a:t>
            </a:r>
            <a:r>
              <a:rPr lang="zh-CN" altLang="en-US" dirty="0"/>
              <a:t>基本思路</a:t>
            </a:r>
          </a:p>
        </p:txBody>
      </p:sp>
      <p:sp>
        <p:nvSpPr>
          <p:cNvPr id="4" name="灯片编号占位符 3">
            <a:extLst>
              <a:ext uri="{FF2B5EF4-FFF2-40B4-BE49-F238E27FC236}">
                <a16:creationId xmlns:a16="http://schemas.microsoft.com/office/drawing/2014/main" id="{9D970978-6276-4740-89C6-9141050F4ED8}"/>
              </a:ext>
            </a:extLst>
          </p:cNvPr>
          <p:cNvSpPr>
            <a:spLocks noGrp="1"/>
          </p:cNvSpPr>
          <p:nvPr>
            <p:ph type="sldNum" sz="quarter" idx="12"/>
          </p:nvPr>
        </p:nvSpPr>
        <p:spPr/>
        <p:txBody>
          <a:bodyPr/>
          <a:lstStyle/>
          <a:p>
            <a:fld id="{8D4D1E41-7A09-AB4A-A4E1-09765ADA2698}" type="slidenum">
              <a:rPr kumimoji="1" lang="zh-CN" altLang="en-US" smtClean="0"/>
              <a:pPr/>
              <a:t>51</a:t>
            </a:fld>
            <a:endParaRPr kumimoji="1" lang="zh-CN" altLang="en-US" dirty="0"/>
          </a:p>
        </p:txBody>
      </p:sp>
      <p:sp>
        <p:nvSpPr>
          <p:cNvPr id="6" name="日期占位符 4">
            <a:extLst>
              <a:ext uri="{FF2B5EF4-FFF2-40B4-BE49-F238E27FC236}">
                <a16:creationId xmlns:a16="http://schemas.microsoft.com/office/drawing/2014/main"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5.2.5 </a:t>
            </a:r>
            <a:r>
              <a:rPr kumimoji="1" lang="zh-CN" altLang="en-US" dirty="0"/>
              <a:t>层次路由</a:t>
            </a:r>
          </a:p>
        </p:txBody>
      </p:sp>
      <p:pic>
        <p:nvPicPr>
          <p:cNvPr id="7" name="Picture 28" descr="015">
            <a:extLst>
              <a:ext uri="{FF2B5EF4-FFF2-40B4-BE49-F238E27FC236}">
                <a16:creationId xmlns:a16="http://schemas.microsoft.com/office/drawing/2014/main" id="{EFA1DCF0-AB72-4214-98A7-E378537A4E9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24373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3">
                                            <p:txEl>
                                              <p:pRg st="0" end="0"/>
                                            </p:txEl>
                                          </p:spTgt>
                                        </p:tgtEl>
                                        <p:attrNameLst>
                                          <p:attrName>style.visibility</p:attrName>
                                        </p:attrNameLst>
                                      </p:cBhvr>
                                      <p:to>
                                        <p:strVal val="visible"/>
                                      </p:to>
                                    </p:set>
                                    <p:animEffect transition="in" filter="blinds(horizontal)">
                                      <p:cBhvr>
                                        <p:cTn id="7" dur="500"/>
                                        <p:tgtEl>
                                          <p:spTgt spid="5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53">
                                            <p:txEl>
                                              <p:pRg st="1" end="1"/>
                                            </p:txEl>
                                          </p:spTgt>
                                        </p:tgtEl>
                                        <p:attrNameLst>
                                          <p:attrName>style.visibility</p:attrName>
                                        </p:attrNameLst>
                                      </p:cBhvr>
                                      <p:to>
                                        <p:strVal val="visible"/>
                                      </p:to>
                                    </p:set>
                                    <p:animEffect transition="in" filter="blinds(horizontal)">
                                      <p:cBhvr>
                                        <p:cTn id="12" dur="500"/>
                                        <p:tgtEl>
                                          <p:spTgt spid="5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53">
                                            <p:txEl>
                                              <p:pRg st="2" end="2"/>
                                            </p:txEl>
                                          </p:spTgt>
                                        </p:tgtEl>
                                        <p:attrNameLst>
                                          <p:attrName>style.visibility</p:attrName>
                                        </p:attrNameLst>
                                      </p:cBhvr>
                                      <p:to>
                                        <p:strVal val="visible"/>
                                      </p:to>
                                    </p:set>
                                    <p:animEffect transition="in" filter="blinds(horizontal)">
                                      <p:cBhvr>
                                        <p:cTn id="17" dur="500"/>
                                        <p:tgtEl>
                                          <p:spTgt spid="5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53">
                                            <p:txEl>
                                              <p:pRg st="3" end="3"/>
                                            </p:txEl>
                                          </p:spTgt>
                                        </p:tgtEl>
                                        <p:attrNameLst>
                                          <p:attrName>style.visibility</p:attrName>
                                        </p:attrNameLst>
                                      </p:cBhvr>
                                      <p:to>
                                        <p:strVal val="visible"/>
                                      </p:to>
                                    </p:set>
                                    <p:animEffect transition="in" filter="blinds(horizontal)">
                                      <p:cBhvr>
                                        <p:cTn id="22" dur="500"/>
                                        <p:tgtEl>
                                          <p:spTgt spid="5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53">
                                            <p:txEl>
                                              <p:pRg st="4" end="4"/>
                                            </p:txEl>
                                          </p:spTgt>
                                        </p:tgtEl>
                                        <p:attrNameLst>
                                          <p:attrName>style.visibility</p:attrName>
                                        </p:attrNameLst>
                                      </p:cBhvr>
                                      <p:to>
                                        <p:strVal val="visible"/>
                                      </p:to>
                                    </p:set>
                                    <p:animEffect transition="in" filter="blinds(horizontal)">
                                      <p:cBhvr>
                                        <p:cTn id="27" dur="500"/>
                                        <p:tgtEl>
                                          <p:spTgt spid="5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53">
                                            <p:txEl>
                                              <p:pRg st="5" end="5"/>
                                            </p:txEl>
                                          </p:spTgt>
                                        </p:tgtEl>
                                        <p:attrNameLst>
                                          <p:attrName>style.visibility</p:attrName>
                                        </p:attrNameLst>
                                      </p:cBhvr>
                                      <p:to>
                                        <p:strVal val="visible"/>
                                      </p:to>
                                    </p:set>
                                    <p:animEffect transition="in" filter="blinds(horizontal)">
                                      <p:cBhvr>
                                        <p:cTn id="32" dur="500"/>
                                        <p:tgtEl>
                                          <p:spTgt spid="5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nodeType="clickEffect">
                                  <p:stCondLst>
                                    <p:cond delay="0"/>
                                  </p:stCondLst>
                                  <p:childTnLst>
                                    <p:set>
                                      <p:cBhvr>
                                        <p:cTn id="36" dur="1" fill="hold">
                                          <p:stCondLst>
                                            <p:cond delay="0"/>
                                          </p:stCondLst>
                                        </p:cTn>
                                        <p:tgtEl>
                                          <p:spTgt spid="53">
                                            <p:txEl>
                                              <p:pRg st="6" end="6"/>
                                            </p:txEl>
                                          </p:spTgt>
                                        </p:tgtEl>
                                        <p:attrNameLst>
                                          <p:attrName>style.visibility</p:attrName>
                                        </p:attrNameLst>
                                      </p:cBhvr>
                                      <p:to>
                                        <p:strVal val="visible"/>
                                      </p:to>
                                    </p:set>
                                    <p:animEffect transition="in" filter="blinds(horizontal)">
                                      <p:cBhvr>
                                        <p:cTn id="37" dur="500"/>
                                        <p:tgtEl>
                                          <p:spTgt spid="5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内容占位符 2">
            <a:extLst>
              <a:ext uri="{FF2B5EF4-FFF2-40B4-BE49-F238E27FC236}">
                <a16:creationId xmlns:a16="http://schemas.microsoft.com/office/drawing/2014/main" id="{BDC5C69A-528D-4518-9731-8B122AB25F68}"/>
              </a:ext>
            </a:extLst>
          </p:cNvPr>
          <p:cNvSpPr>
            <a:spLocks noGrp="1"/>
          </p:cNvSpPr>
          <p:nvPr>
            <p:ph idx="1"/>
          </p:nvPr>
        </p:nvSpPr>
        <p:spPr>
          <a:xfrm>
            <a:off x="838200" y="1510757"/>
            <a:ext cx="10515600" cy="5210717"/>
          </a:xfrm>
        </p:spPr>
        <p:txBody>
          <a:bodyPr>
            <a:normAutofit/>
          </a:bodyPr>
          <a:lstStyle/>
          <a:p>
            <a:pPr marL="342900" indent="-342900">
              <a:lnSpc>
                <a:spcPct val="130000"/>
              </a:lnSpc>
            </a:pPr>
            <a:r>
              <a:rPr lang="zh-CN" altLang="en-US" sz="2400" dirty="0">
                <a:latin typeface="微软雅黑" panose="020B0503020204020204" pitchFamily="34" charset="-122"/>
                <a:ea typeface="微软雅黑" panose="020B0503020204020204" pitchFamily="34" charset="-122"/>
              </a:rPr>
              <a:t>自治系统内部</a:t>
            </a:r>
            <a:r>
              <a:rPr lang="zh-CN" altLang="en-US" sz="2400" dirty="0"/>
              <a:t>使用内部网关路由协议，</a:t>
            </a:r>
            <a:r>
              <a:rPr lang="en-US" altLang="zh-CN" sz="2400" dirty="0"/>
              <a:t>Interior Gateway Protocols (IGP)</a:t>
            </a: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每个自治系统域内路由算法可不同</a:t>
            </a: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典型</a:t>
            </a:r>
            <a:r>
              <a:rPr lang="en-US" altLang="zh-CN" sz="2000" dirty="0">
                <a:latin typeface="微软雅黑" panose="020B0503020204020204" pitchFamily="34" charset="-122"/>
                <a:ea typeface="微软雅黑" panose="020B0503020204020204" pitchFamily="34" charset="-122"/>
              </a:rPr>
              <a:t>IGP</a:t>
            </a:r>
            <a:r>
              <a:rPr lang="zh-CN" altLang="en-US" sz="2000" dirty="0">
                <a:latin typeface="微软雅黑" panose="020B0503020204020204" pitchFamily="34" charset="-122"/>
                <a:ea typeface="微软雅黑" panose="020B0503020204020204" pitchFamily="34" charset="-122"/>
              </a:rPr>
              <a:t>协议：</a:t>
            </a:r>
            <a:r>
              <a:rPr lang="en-US" altLang="zh-CN" sz="2000" dirty="0">
                <a:latin typeface="微软雅黑" panose="020B0503020204020204" pitchFamily="34" charset="-122"/>
                <a:ea typeface="微软雅黑" panose="020B0503020204020204" pitchFamily="34" charset="-122"/>
              </a:rPr>
              <a:t>OSPF</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RIP</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IS-IS</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IGRP</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EIGRP……</a:t>
            </a:r>
          </a:p>
          <a:p>
            <a:r>
              <a:rPr lang="zh-CN" altLang="en-US" sz="2400" dirty="0">
                <a:latin typeface="微软雅黑" panose="020B0503020204020204" pitchFamily="34" charset="-122"/>
                <a:ea typeface="微软雅黑" panose="020B0503020204020204" pitchFamily="34" charset="-122"/>
              </a:rPr>
              <a:t>自治系统之间</a:t>
            </a:r>
            <a:r>
              <a:rPr lang="zh-CN" altLang="en-US" sz="2400" dirty="0"/>
              <a:t>之间使用外部网关路由协议，</a:t>
            </a:r>
            <a:r>
              <a:rPr lang="en-US" altLang="zh-CN" sz="2400" dirty="0"/>
              <a:t>Exterior Gateway Protocols (EGP)</a:t>
            </a: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各自治系统域之间的路由需统一</a:t>
            </a: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典型</a:t>
            </a:r>
            <a:r>
              <a:rPr lang="en-US" altLang="zh-CN" sz="2000" dirty="0">
                <a:latin typeface="微软雅黑" panose="020B0503020204020204" pitchFamily="34" charset="-122"/>
                <a:ea typeface="微软雅黑" panose="020B0503020204020204" pitchFamily="34" charset="-122"/>
              </a:rPr>
              <a:t>EGP</a:t>
            </a:r>
            <a:r>
              <a:rPr lang="zh-CN" altLang="en-US" sz="2000" dirty="0">
                <a:latin typeface="微软雅黑" panose="020B0503020204020204" pitchFamily="34" charset="-122"/>
                <a:ea typeface="微软雅黑" panose="020B0503020204020204" pitchFamily="34" charset="-122"/>
              </a:rPr>
              <a:t>协议：</a:t>
            </a:r>
            <a:r>
              <a:rPr lang="en-US" altLang="zh-CN" sz="2000" dirty="0">
                <a:latin typeface="微软雅黑" panose="020B0503020204020204" pitchFamily="34" charset="-122"/>
                <a:ea typeface="微软雅黑" panose="020B0503020204020204" pitchFamily="34" charset="-122"/>
              </a:rPr>
              <a:t>BGP</a:t>
            </a: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a:p>
            <a:pPr marL="800100" lvl="1" indent="-342900">
              <a:lnSpc>
                <a:spcPct val="130000"/>
              </a:lnSpc>
            </a:pP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endParaRPr lang="en-US" altLang="zh-CN" sz="20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p:txBody>
      </p:sp>
      <p:pic>
        <p:nvPicPr>
          <p:cNvPr id="58" name="Picture 14">
            <a:extLst>
              <a:ext uri="{FF2B5EF4-FFF2-40B4-BE49-F238E27FC236}">
                <a16:creationId xmlns:a16="http://schemas.microsoft.com/office/drawing/2014/main" id="{228563CD-07EA-4FB8-ACD8-C6C6EA296B2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9006" y="4051319"/>
            <a:ext cx="2512292" cy="229248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14">
            <a:extLst>
              <a:ext uri="{FF2B5EF4-FFF2-40B4-BE49-F238E27FC236}">
                <a16:creationId xmlns:a16="http://schemas.microsoft.com/office/drawing/2014/main" id="{B369F798-9C2C-4C68-AC69-619ED4466E65}"/>
              </a:ext>
            </a:extLst>
          </p:cNvPr>
          <p:cNvPicPr>
            <a:picLocks noChangeArrowheads="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rot="3431351">
            <a:off x="6018218" y="5097852"/>
            <a:ext cx="1384635" cy="93934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14">
            <a:extLst>
              <a:ext uri="{FF2B5EF4-FFF2-40B4-BE49-F238E27FC236}">
                <a16:creationId xmlns:a16="http://schemas.microsoft.com/office/drawing/2014/main" id="{9BE6F056-395B-4331-AFF6-7EF6C5F02333}"/>
              </a:ext>
            </a:extLst>
          </p:cNvPr>
          <p:cNvPicPr>
            <a:picLocks noChangeArrowheads="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rot="20781248">
            <a:off x="5878453" y="4155410"/>
            <a:ext cx="1357981" cy="7177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14">
            <a:extLst>
              <a:ext uri="{FF2B5EF4-FFF2-40B4-BE49-F238E27FC236}">
                <a16:creationId xmlns:a16="http://schemas.microsoft.com/office/drawing/2014/main" id="{EBB429CF-313C-494F-8207-1A2E998CE56C}"/>
              </a:ext>
            </a:extLst>
          </p:cNvPr>
          <p:cNvPicPr>
            <a:picLocks noChangeArrowheads="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rot="5400000">
            <a:off x="7029184" y="4766960"/>
            <a:ext cx="1429616" cy="92259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14">
            <a:extLst>
              <a:ext uri="{FF2B5EF4-FFF2-40B4-BE49-F238E27FC236}">
                <a16:creationId xmlns:a16="http://schemas.microsoft.com/office/drawing/2014/main" id="{EE91EDE3-5F94-4A8E-97A4-33EC5A43079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9493" y="5018087"/>
            <a:ext cx="2278176" cy="159103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14">
            <a:extLst>
              <a:ext uri="{FF2B5EF4-FFF2-40B4-BE49-F238E27FC236}">
                <a16:creationId xmlns:a16="http://schemas.microsoft.com/office/drawing/2014/main" id="{30FAC658-A22D-42B9-B152-2CF057F4C2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63101" y="3687792"/>
            <a:ext cx="2512292" cy="123473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标题 1">
            <a:extLst>
              <a:ext uri="{FF2B5EF4-FFF2-40B4-BE49-F238E27FC236}">
                <a16:creationId xmlns:a16="http://schemas.microsoft.com/office/drawing/2014/main" id="{3ECEE202-F158-4E3B-99FB-124599D6CE0F}"/>
              </a:ext>
            </a:extLst>
          </p:cNvPr>
          <p:cNvSpPr>
            <a:spLocks noGrp="1"/>
          </p:cNvSpPr>
          <p:nvPr>
            <p:ph type="title"/>
          </p:nvPr>
        </p:nvSpPr>
        <p:spPr/>
        <p:txBody>
          <a:bodyPr/>
          <a:lstStyle/>
          <a:p>
            <a:r>
              <a:rPr lang="zh-CN" altLang="en-US" dirty="0"/>
              <a:t>层次路由</a:t>
            </a:r>
            <a:r>
              <a:rPr lang="en-US" altLang="zh-CN" dirty="0"/>
              <a:t>-</a:t>
            </a:r>
            <a:r>
              <a:rPr lang="zh-CN" altLang="en-US" dirty="0"/>
              <a:t>基本思路</a:t>
            </a:r>
          </a:p>
        </p:txBody>
      </p:sp>
      <p:sp>
        <p:nvSpPr>
          <p:cNvPr id="4" name="灯片编号占位符 3">
            <a:extLst>
              <a:ext uri="{FF2B5EF4-FFF2-40B4-BE49-F238E27FC236}">
                <a16:creationId xmlns:a16="http://schemas.microsoft.com/office/drawing/2014/main" id="{9D970978-6276-4740-89C6-9141050F4ED8}"/>
              </a:ext>
            </a:extLst>
          </p:cNvPr>
          <p:cNvSpPr>
            <a:spLocks noGrp="1"/>
          </p:cNvSpPr>
          <p:nvPr>
            <p:ph type="sldNum" sz="quarter" idx="12"/>
          </p:nvPr>
        </p:nvSpPr>
        <p:spPr/>
        <p:txBody>
          <a:bodyPr/>
          <a:lstStyle/>
          <a:p>
            <a:fld id="{8D4D1E41-7A09-AB4A-A4E1-09765ADA2698}" type="slidenum">
              <a:rPr kumimoji="1" lang="zh-CN" altLang="en-US" smtClean="0"/>
              <a:pPr/>
              <a:t>52</a:t>
            </a:fld>
            <a:endParaRPr kumimoji="1" lang="zh-CN" altLang="en-US" dirty="0"/>
          </a:p>
        </p:txBody>
      </p:sp>
      <p:grpSp>
        <p:nvGrpSpPr>
          <p:cNvPr id="62" name="组合 61">
            <a:extLst>
              <a:ext uri="{FF2B5EF4-FFF2-40B4-BE49-F238E27FC236}">
                <a16:creationId xmlns:a16="http://schemas.microsoft.com/office/drawing/2014/main" id="{2766DB70-5478-408F-96E2-FB05D2278CDE}"/>
              </a:ext>
            </a:extLst>
          </p:cNvPr>
          <p:cNvGrpSpPr/>
          <p:nvPr/>
        </p:nvGrpSpPr>
        <p:grpSpPr>
          <a:xfrm>
            <a:off x="5953916" y="3768329"/>
            <a:ext cx="5049328" cy="2600646"/>
            <a:chOff x="1221926" y="1904290"/>
            <a:chExt cx="9035239" cy="4276788"/>
          </a:xfrm>
        </p:grpSpPr>
        <p:grpSp>
          <p:nvGrpSpPr>
            <p:cNvPr id="61" name="组合 60">
              <a:extLst>
                <a:ext uri="{FF2B5EF4-FFF2-40B4-BE49-F238E27FC236}">
                  <a16:creationId xmlns:a16="http://schemas.microsoft.com/office/drawing/2014/main" id="{24D2701D-07F3-4EAC-AA80-5C0E3C1D0374}"/>
                </a:ext>
              </a:extLst>
            </p:cNvPr>
            <p:cNvGrpSpPr/>
            <p:nvPr/>
          </p:nvGrpSpPr>
          <p:grpSpPr>
            <a:xfrm>
              <a:off x="1610738" y="2244677"/>
              <a:ext cx="8103626" cy="3761298"/>
              <a:chOff x="1610738" y="2244677"/>
              <a:chExt cx="8103626" cy="3761298"/>
            </a:xfrm>
          </p:grpSpPr>
          <p:cxnSp>
            <p:nvCxnSpPr>
              <p:cNvPr id="22" name="直接连接符 21">
                <a:extLst>
                  <a:ext uri="{FF2B5EF4-FFF2-40B4-BE49-F238E27FC236}">
                    <a16:creationId xmlns:a16="http://schemas.microsoft.com/office/drawing/2014/main" id="{D1B4869B-069D-4DBF-8C9C-3D73BA62FC55}"/>
                  </a:ext>
                </a:extLst>
              </p:cNvPr>
              <p:cNvCxnSpPr>
                <a:cxnSpLocks/>
              </p:cNvCxnSpPr>
              <p:nvPr/>
            </p:nvCxnSpPr>
            <p:spPr>
              <a:xfrm flipV="1">
                <a:off x="1610738" y="2940306"/>
                <a:ext cx="1289148" cy="310407"/>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24" name="直接连接符 23">
                <a:extLst>
                  <a:ext uri="{FF2B5EF4-FFF2-40B4-BE49-F238E27FC236}">
                    <a16:creationId xmlns:a16="http://schemas.microsoft.com/office/drawing/2014/main" id="{D869F41F-BB41-4732-9F7D-8A32C08BCAAE}"/>
                  </a:ext>
                </a:extLst>
              </p:cNvPr>
              <p:cNvCxnSpPr>
                <a:cxnSpLocks/>
              </p:cNvCxnSpPr>
              <p:nvPr/>
            </p:nvCxnSpPr>
            <p:spPr>
              <a:xfrm flipV="1">
                <a:off x="2214356" y="3687662"/>
                <a:ext cx="2061592" cy="46081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27" name="直接连接符 26">
                <a:extLst>
                  <a:ext uri="{FF2B5EF4-FFF2-40B4-BE49-F238E27FC236}">
                    <a16:creationId xmlns:a16="http://schemas.microsoft.com/office/drawing/2014/main" id="{951C0C7C-1A4C-4A5D-8889-72521C97F906}"/>
                  </a:ext>
                </a:extLst>
              </p:cNvPr>
              <p:cNvCxnSpPr>
                <a:cxnSpLocks/>
              </p:cNvCxnSpPr>
              <p:nvPr/>
            </p:nvCxnSpPr>
            <p:spPr>
              <a:xfrm flipV="1">
                <a:off x="6978166" y="2244677"/>
                <a:ext cx="1462200" cy="24998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29" name="直接连接符 28">
                <a:extLst>
                  <a:ext uri="{FF2B5EF4-FFF2-40B4-BE49-F238E27FC236}">
                    <a16:creationId xmlns:a16="http://schemas.microsoft.com/office/drawing/2014/main" id="{BC10E669-7CF3-4C6C-9635-04DD21E3E2E3}"/>
                  </a:ext>
                </a:extLst>
              </p:cNvPr>
              <p:cNvCxnSpPr>
                <a:cxnSpLocks/>
              </p:cNvCxnSpPr>
              <p:nvPr/>
            </p:nvCxnSpPr>
            <p:spPr>
              <a:xfrm>
                <a:off x="4492934" y="3702778"/>
                <a:ext cx="122057" cy="1204763"/>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1" name="直接连接符 30">
                <a:extLst>
                  <a:ext uri="{FF2B5EF4-FFF2-40B4-BE49-F238E27FC236}">
                    <a16:creationId xmlns:a16="http://schemas.microsoft.com/office/drawing/2014/main" id="{1C866B58-A540-40D6-9D37-171BEFBE4F4A}"/>
                  </a:ext>
                </a:extLst>
              </p:cNvPr>
              <p:cNvCxnSpPr>
                <a:cxnSpLocks/>
              </p:cNvCxnSpPr>
              <p:nvPr/>
            </p:nvCxnSpPr>
            <p:spPr>
              <a:xfrm flipH="1" flipV="1">
                <a:off x="2121100" y="4216589"/>
                <a:ext cx="705040" cy="154866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3" name="直接连接符 32">
                <a:extLst>
                  <a:ext uri="{FF2B5EF4-FFF2-40B4-BE49-F238E27FC236}">
                    <a16:creationId xmlns:a16="http://schemas.microsoft.com/office/drawing/2014/main" id="{929F935D-DEBA-4FDE-9F4E-19C78379EC13}"/>
                  </a:ext>
                </a:extLst>
              </p:cNvPr>
              <p:cNvCxnSpPr>
                <a:cxnSpLocks/>
              </p:cNvCxnSpPr>
              <p:nvPr/>
            </p:nvCxnSpPr>
            <p:spPr>
              <a:xfrm>
                <a:off x="3082673" y="2884035"/>
                <a:ext cx="1251748" cy="6638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5" name="直接连接符 34">
                <a:extLst>
                  <a:ext uri="{FF2B5EF4-FFF2-40B4-BE49-F238E27FC236}">
                    <a16:creationId xmlns:a16="http://schemas.microsoft.com/office/drawing/2014/main" id="{E723D622-1D00-432C-8473-68D1A75006AC}"/>
                  </a:ext>
                </a:extLst>
              </p:cNvPr>
              <p:cNvCxnSpPr>
                <a:cxnSpLocks/>
              </p:cNvCxnSpPr>
              <p:nvPr/>
            </p:nvCxnSpPr>
            <p:spPr>
              <a:xfrm flipH="1">
                <a:off x="6629098" y="2553052"/>
                <a:ext cx="349068" cy="83689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7" name="直接连接符 36">
                <a:extLst>
                  <a:ext uri="{FF2B5EF4-FFF2-40B4-BE49-F238E27FC236}">
                    <a16:creationId xmlns:a16="http://schemas.microsoft.com/office/drawing/2014/main" id="{14D7552D-9B41-4C24-B6F3-FC4D50B75009}"/>
                  </a:ext>
                </a:extLst>
              </p:cNvPr>
              <p:cNvCxnSpPr>
                <a:cxnSpLocks/>
              </p:cNvCxnSpPr>
              <p:nvPr/>
            </p:nvCxnSpPr>
            <p:spPr>
              <a:xfrm flipV="1">
                <a:off x="4624603" y="3452888"/>
                <a:ext cx="2090388" cy="151656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9" name="直接连接符 38">
                <a:extLst>
                  <a:ext uri="{FF2B5EF4-FFF2-40B4-BE49-F238E27FC236}">
                    <a16:creationId xmlns:a16="http://schemas.microsoft.com/office/drawing/2014/main" id="{24A0BC98-1DAB-4FB4-AA7C-F10E11EF11EB}"/>
                  </a:ext>
                </a:extLst>
              </p:cNvPr>
              <p:cNvCxnSpPr>
                <a:cxnSpLocks/>
              </p:cNvCxnSpPr>
              <p:nvPr/>
            </p:nvCxnSpPr>
            <p:spPr>
              <a:xfrm>
                <a:off x="7054715" y="4926348"/>
                <a:ext cx="2659649" cy="64298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1" name="直接连接符 40">
                <a:extLst>
                  <a:ext uri="{FF2B5EF4-FFF2-40B4-BE49-F238E27FC236}">
                    <a16:creationId xmlns:a16="http://schemas.microsoft.com/office/drawing/2014/main" id="{217C8D9A-0E56-4779-8DD3-B9A9BD2CB284}"/>
                  </a:ext>
                </a:extLst>
              </p:cNvPr>
              <p:cNvCxnSpPr>
                <a:cxnSpLocks/>
              </p:cNvCxnSpPr>
              <p:nvPr/>
            </p:nvCxnSpPr>
            <p:spPr>
              <a:xfrm flipV="1">
                <a:off x="7359939" y="5681299"/>
                <a:ext cx="2249858" cy="14957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3" name="直接连接符 42">
                <a:extLst>
                  <a:ext uri="{FF2B5EF4-FFF2-40B4-BE49-F238E27FC236}">
                    <a16:creationId xmlns:a16="http://schemas.microsoft.com/office/drawing/2014/main" id="{D4FADF70-048F-4A83-BAFC-19193E6CE950}"/>
                  </a:ext>
                </a:extLst>
              </p:cNvPr>
              <p:cNvCxnSpPr>
                <a:cxnSpLocks/>
              </p:cNvCxnSpPr>
              <p:nvPr/>
            </p:nvCxnSpPr>
            <p:spPr>
              <a:xfrm>
                <a:off x="6934731" y="4885087"/>
                <a:ext cx="484155" cy="112088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5" name="直接连接符 44">
                <a:extLst>
                  <a:ext uri="{FF2B5EF4-FFF2-40B4-BE49-F238E27FC236}">
                    <a16:creationId xmlns:a16="http://schemas.microsoft.com/office/drawing/2014/main" id="{A57A902E-D439-4778-B191-9FC1373BB2BF}"/>
                  </a:ext>
                </a:extLst>
              </p:cNvPr>
              <p:cNvCxnSpPr>
                <a:cxnSpLocks/>
              </p:cNvCxnSpPr>
              <p:nvPr/>
            </p:nvCxnSpPr>
            <p:spPr>
              <a:xfrm>
                <a:off x="9443794" y="4566339"/>
                <a:ext cx="270570" cy="93985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7" name="直接连接符 46">
                <a:extLst>
                  <a:ext uri="{FF2B5EF4-FFF2-40B4-BE49-F238E27FC236}">
                    <a16:creationId xmlns:a16="http://schemas.microsoft.com/office/drawing/2014/main" id="{E6A6754F-1546-4765-9786-2B36BC787BF2}"/>
                  </a:ext>
                </a:extLst>
              </p:cNvPr>
              <p:cNvCxnSpPr>
                <a:cxnSpLocks/>
              </p:cNvCxnSpPr>
              <p:nvPr/>
            </p:nvCxnSpPr>
            <p:spPr>
              <a:xfrm flipV="1">
                <a:off x="6919181" y="3029564"/>
                <a:ext cx="1465358" cy="36037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9" name="直接连接符 48">
                <a:extLst>
                  <a:ext uri="{FF2B5EF4-FFF2-40B4-BE49-F238E27FC236}">
                    <a16:creationId xmlns:a16="http://schemas.microsoft.com/office/drawing/2014/main" id="{C0D37C6D-C4A1-471D-A4B9-232EB45DECCA}"/>
                  </a:ext>
                </a:extLst>
              </p:cNvPr>
              <p:cNvCxnSpPr>
                <a:cxnSpLocks/>
              </p:cNvCxnSpPr>
              <p:nvPr/>
            </p:nvCxnSpPr>
            <p:spPr>
              <a:xfrm>
                <a:off x="8602424" y="3090547"/>
                <a:ext cx="841370" cy="129977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51" name="直接连接符 50">
                <a:extLst>
                  <a:ext uri="{FF2B5EF4-FFF2-40B4-BE49-F238E27FC236}">
                    <a16:creationId xmlns:a16="http://schemas.microsoft.com/office/drawing/2014/main" id="{E8C139D4-93B2-487C-B9F2-B1C5C343D149}"/>
                  </a:ext>
                </a:extLst>
              </p:cNvPr>
              <p:cNvCxnSpPr>
                <a:cxnSpLocks/>
              </p:cNvCxnSpPr>
              <p:nvPr/>
            </p:nvCxnSpPr>
            <p:spPr>
              <a:xfrm flipV="1">
                <a:off x="8676095" y="2791874"/>
                <a:ext cx="959073" cy="184323"/>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pSp>
          <p:nvGrpSpPr>
            <p:cNvPr id="25" name="组合 24">
              <a:extLst>
                <a:ext uri="{FF2B5EF4-FFF2-40B4-BE49-F238E27FC236}">
                  <a16:creationId xmlns:a16="http://schemas.microsoft.com/office/drawing/2014/main" id="{83AB1734-BEA7-4959-93E7-45BF86EBAE2D}"/>
                </a:ext>
              </a:extLst>
            </p:cNvPr>
            <p:cNvGrpSpPr/>
            <p:nvPr/>
          </p:nvGrpSpPr>
          <p:grpSpPr>
            <a:xfrm>
              <a:off x="1221926" y="1904290"/>
              <a:ext cx="9035239" cy="4276788"/>
              <a:chOff x="1140449" y="1324871"/>
              <a:chExt cx="9035239" cy="4276788"/>
            </a:xfrm>
          </p:grpSpPr>
          <p:pic>
            <p:nvPicPr>
              <p:cNvPr id="7" name="Picture 57" descr="通用路由器">
                <a:extLst>
                  <a:ext uri="{FF2B5EF4-FFF2-40B4-BE49-F238E27FC236}">
                    <a16:creationId xmlns:a16="http://schemas.microsoft.com/office/drawing/2014/main" id="{BDA8EEB1-0A11-4A90-83E2-5CC3D5D516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499" y="2110998"/>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a:extLst>
                  <a:ext uri="{FF2B5EF4-FFF2-40B4-BE49-F238E27FC236}">
                    <a16:creationId xmlns:a16="http://schemas.microsoft.com/office/drawing/2014/main" id="{490C26C1-39A6-473E-9047-70B642E7C5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89277" y="485014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a:extLst>
                  <a:ext uri="{FF2B5EF4-FFF2-40B4-BE49-F238E27FC236}">
                    <a16:creationId xmlns:a16="http://schemas.microsoft.com/office/drawing/2014/main" id="{251970BA-8353-49B1-96C5-9830AB41E0A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91491" y="1324871"/>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57" descr="通用路由器">
                <a:extLst>
                  <a:ext uri="{FF2B5EF4-FFF2-40B4-BE49-F238E27FC236}">
                    <a16:creationId xmlns:a16="http://schemas.microsoft.com/office/drawing/2014/main" id="{5076DE86-9511-46C4-8F4E-394FD3CBE8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5428" y="2828786"/>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57" descr="通用路由器">
                <a:extLst>
                  <a:ext uri="{FF2B5EF4-FFF2-40B4-BE49-F238E27FC236}">
                    <a16:creationId xmlns:a16="http://schemas.microsoft.com/office/drawing/2014/main" id="{5A21A533-D1AA-4F7E-94B9-066C9DD7601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00570" y="172374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57" descr="通用路由器">
                <a:extLst>
                  <a:ext uri="{FF2B5EF4-FFF2-40B4-BE49-F238E27FC236}">
                    <a16:creationId xmlns:a16="http://schemas.microsoft.com/office/drawing/2014/main" id="{951C5E65-89D8-466F-A28E-6D6AF6FE5F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0449" y="245971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57" descr="通用路由器">
                <a:extLst>
                  <a:ext uri="{FF2B5EF4-FFF2-40B4-BE49-F238E27FC236}">
                    <a16:creationId xmlns:a16="http://schemas.microsoft.com/office/drawing/2014/main" id="{733BD76C-ABD9-4DB6-A540-AB01F026BC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9048" y="344290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57" descr="通用路由器">
                <a:extLst>
                  <a:ext uri="{FF2B5EF4-FFF2-40B4-BE49-F238E27FC236}">
                    <a16:creationId xmlns:a16="http://schemas.microsoft.com/office/drawing/2014/main" id="{05923E33-7A47-4BF4-B383-7BB971641E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25985" y="418627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57" descr="通用路由器">
                <a:extLst>
                  <a:ext uri="{FF2B5EF4-FFF2-40B4-BE49-F238E27FC236}">
                    <a16:creationId xmlns:a16="http://schemas.microsoft.com/office/drawing/2014/main" id="{62E43DF4-C686-4B7F-8B9F-D380C06DA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499" y="485342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57" descr="通用路由器">
                <a:extLst>
                  <a:ext uri="{FF2B5EF4-FFF2-40B4-BE49-F238E27FC236}">
                    <a16:creationId xmlns:a16="http://schemas.microsoft.com/office/drawing/2014/main" id="{42175F92-21DA-4F93-9EB2-9B45F8B4721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72569" y="250123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57" descr="通用路由器">
                <a:extLst>
                  <a:ext uri="{FF2B5EF4-FFF2-40B4-BE49-F238E27FC236}">
                    <a16:creationId xmlns:a16="http://schemas.microsoft.com/office/drawing/2014/main" id="{B9372013-DC96-40D9-9781-322B10067B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00376" y="407823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7" descr="通用路由器">
                <a:extLst>
                  <a:ext uri="{FF2B5EF4-FFF2-40B4-BE49-F238E27FC236}">
                    <a16:creationId xmlns:a16="http://schemas.microsoft.com/office/drawing/2014/main" id="{211B1081-550E-4D07-A0CE-44A77D754DA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98366" y="5101880"/>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57" descr="通用路由器">
                <a:extLst>
                  <a:ext uri="{FF2B5EF4-FFF2-40B4-BE49-F238E27FC236}">
                    <a16:creationId xmlns:a16="http://schemas.microsoft.com/office/drawing/2014/main" id="{85F56D1E-D903-4110-AFA7-9E70D55A4AE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81904" y="2242791"/>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7" descr="通用路由器">
                <a:extLst>
                  <a:ext uri="{FF2B5EF4-FFF2-40B4-BE49-F238E27FC236}">
                    <a16:creationId xmlns:a16="http://schemas.microsoft.com/office/drawing/2014/main" id="{CB908C73-B4A5-4967-9FF8-0658A346FDD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64888" y="368649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57" descr="通用路由器">
                <a:extLst>
                  <a:ext uri="{FF2B5EF4-FFF2-40B4-BE49-F238E27FC236}">
                    <a16:creationId xmlns:a16="http://schemas.microsoft.com/office/drawing/2014/main" id="{B1DEAC94-AD1B-402F-A547-9BF7A61838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97602" y="1926555"/>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5" name="组合 4">
            <a:extLst>
              <a:ext uri="{FF2B5EF4-FFF2-40B4-BE49-F238E27FC236}">
                <a16:creationId xmlns:a16="http://schemas.microsoft.com/office/drawing/2014/main" id="{A1BA3990-CFD4-486A-93EA-247BD7044F2C}"/>
              </a:ext>
            </a:extLst>
          </p:cNvPr>
          <p:cNvGrpSpPr/>
          <p:nvPr/>
        </p:nvGrpSpPr>
        <p:grpSpPr>
          <a:xfrm>
            <a:off x="6176839" y="3975312"/>
            <a:ext cx="4528698" cy="2180709"/>
            <a:chOff x="2792614" y="4678134"/>
            <a:chExt cx="4528698" cy="2180709"/>
          </a:xfrm>
        </p:grpSpPr>
        <p:cxnSp>
          <p:nvCxnSpPr>
            <p:cNvPr id="54" name="直接连接符 53">
              <a:extLst>
                <a:ext uri="{FF2B5EF4-FFF2-40B4-BE49-F238E27FC236}">
                  <a16:creationId xmlns:a16="http://schemas.microsoft.com/office/drawing/2014/main" id="{DF8541EE-7436-455C-9282-8C5AF09E1021}"/>
                </a:ext>
              </a:extLst>
            </p:cNvPr>
            <p:cNvCxnSpPr>
              <a:cxnSpLocks/>
            </p:cNvCxnSpPr>
            <p:nvPr/>
          </p:nvCxnSpPr>
          <p:spPr>
            <a:xfrm flipV="1">
              <a:off x="2792614" y="5101135"/>
              <a:ext cx="720438" cy="188754"/>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55" name="直接连接符 54">
              <a:extLst>
                <a:ext uri="{FF2B5EF4-FFF2-40B4-BE49-F238E27FC236}">
                  <a16:creationId xmlns:a16="http://schemas.microsoft.com/office/drawing/2014/main" id="{3CFB1237-44BA-4252-91DE-F809FD10BFAB}"/>
                </a:ext>
              </a:extLst>
            </p:cNvPr>
            <p:cNvCxnSpPr>
              <a:cxnSpLocks/>
            </p:cNvCxnSpPr>
            <p:nvPr/>
          </p:nvCxnSpPr>
          <p:spPr>
            <a:xfrm flipV="1">
              <a:off x="3129945" y="5555590"/>
              <a:ext cx="1152117" cy="280217"/>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56" name="直接连接符 55">
              <a:extLst>
                <a:ext uri="{FF2B5EF4-FFF2-40B4-BE49-F238E27FC236}">
                  <a16:creationId xmlns:a16="http://schemas.microsoft.com/office/drawing/2014/main" id="{720E10F9-3603-4893-BF5B-0452365DB73F}"/>
                </a:ext>
              </a:extLst>
            </p:cNvPr>
            <p:cNvCxnSpPr>
              <a:cxnSpLocks/>
            </p:cNvCxnSpPr>
            <p:nvPr/>
          </p:nvCxnSpPr>
          <p:spPr>
            <a:xfrm flipV="1">
              <a:off x="5792192" y="4678134"/>
              <a:ext cx="817148" cy="152012"/>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3" name="直接连接符 62">
              <a:extLst>
                <a:ext uri="{FF2B5EF4-FFF2-40B4-BE49-F238E27FC236}">
                  <a16:creationId xmlns:a16="http://schemas.microsoft.com/office/drawing/2014/main" id="{5541810C-C832-4754-B7F1-B23342355994}"/>
                </a:ext>
              </a:extLst>
            </p:cNvPr>
            <p:cNvCxnSpPr>
              <a:cxnSpLocks/>
            </p:cNvCxnSpPr>
            <p:nvPr/>
          </p:nvCxnSpPr>
          <p:spPr>
            <a:xfrm>
              <a:off x="4403324" y="5564782"/>
              <a:ext cx="68211" cy="732597"/>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4" name="直接连接符 63">
              <a:extLst>
                <a:ext uri="{FF2B5EF4-FFF2-40B4-BE49-F238E27FC236}">
                  <a16:creationId xmlns:a16="http://schemas.microsoft.com/office/drawing/2014/main" id="{7AABB282-7BD3-475B-8D05-4EE3B42A8C3E}"/>
                </a:ext>
              </a:extLst>
            </p:cNvPr>
            <p:cNvCxnSpPr>
              <a:cxnSpLocks/>
            </p:cNvCxnSpPr>
            <p:nvPr/>
          </p:nvCxnSpPr>
          <p:spPr>
            <a:xfrm flipH="1" flipV="1">
              <a:off x="3077829" y="5877222"/>
              <a:ext cx="394010" cy="941715"/>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6" name="直接连接符 65">
              <a:extLst>
                <a:ext uri="{FF2B5EF4-FFF2-40B4-BE49-F238E27FC236}">
                  <a16:creationId xmlns:a16="http://schemas.microsoft.com/office/drawing/2014/main" id="{441D9BF9-A77E-4A74-BDB7-5E165B09E0BC}"/>
                </a:ext>
              </a:extLst>
            </p:cNvPr>
            <p:cNvCxnSpPr>
              <a:cxnSpLocks/>
            </p:cNvCxnSpPr>
            <p:nvPr/>
          </p:nvCxnSpPr>
          <p:spPr>
            <a:xfrm>
              <a:off x="3615202" y="5066917"/>
              <a:ext cx="699537" cy="403706"/>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7" name="直接连接符 66">
              <a:extLst>
                <a:ext uri="{FF2B5EF4-FFF2-40B4-BE49-F238E27FC236}">
                  <a16:creationId xmlns:a16="http://schemas.microsoft.com/office/drawing/2014/main" id="{77B21828-27F7-43CE-9114-EC935A508062}"/>
                </a:ext>
              </a:extLst>
            </p:cNvPr>
            <p:cNvCxnSpPr>
              <a:cxnSpLocks/>
            </p:cNvCxnSpPr>
            <p:nvPr/>
          </p:nvCxnSpPr>
          <p:spPr>
            <a:xfrm flipH="1">
              <a:off x="5597116" y="4865652"/>
              <a:ext cx="195076" cy="508899"/>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8" name="直接连接符 67">
              <a:extLst>
                <a:ext uri="{FF2B5EF4-FFF2-40B4-BE49-F238E27FC236}">
                  <a16:creationId xmlns:a16="http://schemas.microsoft.com/office/drawing/2014/main" id="{ED244B34-E598-4971-8853-1EBD1CCF59CD}"/>
                </a:ext>
              </a:extLst>
            </p:cNvPr>
            <p:cNvCxnSpPr>
              <a:cxnSpLocks/>
            </p:cNvCxnSpPr>
            <p:nvPr/>
          </p:nvCxnSpPr>
          <p:spPr>
            <a:xfrm>
              <a:off x="5834972" y="6308815"/>
              <a:ext cx="1486340" cy="390988"/>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4" name="直接连接符 73">
              <a:extLst>
                <a:ext uri="{FF2B5EF4-FFF2-40B4-BE49-F238E27FC236}">
                  <a16:creationId xmlns:a16="http://schemas.microsoft.com/office/drawing/2014/main" id="{133B7E0F-7EBF-4066-9135-4D1B6A2F841E}"/>
                </a:ext>
              </a:extLst>
            </p:cNvPr>
            <p:cNvCxnSpPr>
              <a:cxnSpLocks/>
            </p:cNvCxnSpPr>
            <p:nvPr/>
          </p:nvCxnSpPr>
          <p:spPr>
            <a:xfrm flipV="1">
              <a:off x="6005545" y="6767889"/>
              <a:ext cx="1257329" cy="90954"/>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5" name="直接连接符 74">
              <a:extLst>
                <a:ext uri="{FF2B5EF4-FFF2-40B4-BE49-F238E27FC236}">
                  <a16:creationId xmlns:a16="http://schemas.microsoft.com/office/drawing/2014/main" id="{CBBDCB34-70A1-4599-9B08-325D6CD0CD53}"/>
                </a:ext>
              </a:extLst>
            </p:cNvPr>
            <p:cNvCxnSpPr>
              <a:cxnSpLocks/>
            </p:cNvCxnSpPr>
            <p:nvPr/>
          </p:nvCxnSpPr>
          <p:spPr>
            <a:xfrm>
              <a:off x="5767919" y="6283725"/>
              <a:ext cx="190756" cy="464608"/>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6" name="直接连接符 75">
              <a:extLst>
                <a:ext uri="{FF2B5EF4-FFF2-40B4-BE49-F238E27FC236}">
                  <a16:creationId xmlns:a16="http://schemas.microsoft.com/office/drawing/2014/main" id="{E979F76B-1E03-4B1F-ACD6-034F849083AE}"/>
                </a:ext>
              </a:extLst>
            </p:cNvPr>
            <p:cNvCxnSpPr>
              <a:cxnSpLocks/>
            </p:cNvCxnSpPr>
            <p:nvPr/>
          </p:nvCxnSpPr>
          <p:spPr>
            <a:xfrm>
              <a:off x="7170104" y="6089899"/>
              <a:ext cx="151208" cy="571513"/>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7" name="直接连接符 76">
              <a:extLst>
                <a:ext uri="{FF2B5EF4-FFF2-40B4-BE49-F238E27FC236}">
                  <a16:creationId xmlns:a16="http://schemas.microsoft.com/office/drawing/2014/main" id="{8C2368A7-32F1-40F3-AB7E-0B794BB79B16}"/>
                </a:ext>
              </a:extLst>
            </p:cNvPr>
            <p:cNvCxnSpPr>
              <a:cxnSpLocks/>
            </p:cNvCxnSpPr>
            <p:nvPr/>
          </p:nvCxnSpPr>
          <p:spPr>
            <a:xfrm flipV="1">
              <a:off x="5759229" y="5155411"/>
              <a:ext cx="818913" cy="219141"/>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8" name="直接连接符 77">
              <a:extLst>
                <a:ext uri="{FF2B5EF4-FFF2-40B4-BE49-F238E27FC236}">
                  <a16:creationId xmlns:a16="http://schemas.microsoft.com/office/drawing/2014/main" id="{F5F73FC3-586B-40BF-ABBF-71C5EB5E6CA9}"/>
                </a:ext>
              </a:extLst>
            </p:cNvPr>
            <p:cNvCxnSpPr>
              <a:cxnSpLocks/>
            </p:cNvCxnSpPr>
            <p:nvPr/>
          </p:nvCxnSpPr>
          <p:spPr>
            <a:xfrm flipV="1">
              <a:off x="6741077" y="5010876"/>
              <a:ext cx="535976" cy="112084"/>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grpSp>
      <p:grpSp>
        <p:nvGrpSpPr>
          <p:cNvPr id="28" name="组合 27">
            <a:extLst>
              <a:ext uri="{FF2B5EF4-FFF2-40B4-BE49-F238E27FC236}">
                <a16:creationId xmlns:a16="http://schemas.microsoft.com/office/drawing/2014/main" id="{8D209DCB-EF32-427A-BA9D-50F737C48476}"/>
              </a:ext>
            </a:extLst>
          </p:cNvPr>
          <p:cNvGrpSpPr/>
          <p:nvPr/>
        </p:nvGrpSpPr>
        <p:grpSpPr>
          <a:xfrm>
            <a:off x="7872598" y="4496754"/>
            <a:ext cx="2693197" cy="1142533"/>
            <a:chOff x="8508656" y="4421067"/>
            <a:chExt cx="2693197" cy="1142533"/>
          </a:xfrm>
        </p:grpSpPr>
        <p:cxnSp>
          <p:nvCxnSpPr>
            <p:cNvPr id="79" name="直接连接符 78">
              <a:extLst>
                <a:ext uri="{FF2B5EF4-FFF2-40B4-BE49-F238E27FC236}">
                  <a16:creationId xmlns:a16="http://schemas.microsoft.com/office/drawing/2014/main" id="{B76DE4B5-0958-4FCE-86E5-D2ABE5F060E0}"/>
                </a:ext>
              </a:extLst>
            </p:cNvPr>
            <p:cNvCxnSpPr>
              <a:cxnSpLocks/>
            </p:cNvCxnSpPr>
            <p:nvPr/>
          </p:nvCxnSpPr>
          <p:spPr>
            <a:xfrm flipV="1">
              <a:off x="8508656" y="4641401"/>
              <a:ext cx="1168210" cy="922199"/>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80" name="直接连接符 79">
              <a:extLst>
                <a:ext uri="{FF2B5EF4-FFF2-40B4-BE49-F238E27FC236}">
                  <a16:creationId xmlns:a16="http://schemas.microsoft.com/office/drawing/2014/main" id="{9D1CFE1E-A64D-4F57-9C4E-7695213576C6}"/>
                </a:ext>
              </a:extLst>
            </p:cNvPr>
            <p:cNvCxnSpPr>
              <a:cxnSpLocks/>
            </p:cNvCxnSpPr>
            <p:nvPr/>
          </p:nvCxnSpPr>
          <p:spPr>
            <a:xfrm>
              <a:off x="10731655" y="4421067"/>
              <a:ext cx="470198" cy="790370"/>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grpSp>
      <p:sp>
        <p:nvSpPr>
          <p:cNvPr id="72" name="内容占位符 2">
            <a:extLst>
              <a:ext uri="{FF2B5EF4-FFF2-40B4-BE49-F238E27FC236}">
                <a16:creationId xmlns:a16="http://schemas.microsoft.com/office/drawing/2014/main" id="{9A7BC474-E47F-4929-ACEF-BCCCD2C46D5A}"/>
              </a:ext>
            </a:extLst>
          </p:cNvPr>
          <p:cNvSpPr txBox="1">
            <a:spLocks/>
          </p:cNvSpPr>
          <p:nvPr/>
        </p:nvSpPr>
        <p:spPr>
          <a:xfrm>
            <a:off x="9379081" y="5359576"/>
            <a:ext cx="1112399" cy="398516"/>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0000FF"/>
                </a:solidFill>
              </a:rPr>
              <a:t>RIP</a:t>
            </a:r>
          </a:p>
        </p:txBody>
      </p:sp>
      <p:sp>
        <p:nvSpPr>
          <p:cNvPr id="73" name="内容占位符 2">
            <a:extLst>
              <a:ext uri="{FF2B5EF4-FFF2-40B4-BE49-F238E27FC236}">
                <a16:creationId xmlns:a16="http://schemas.microsoft.com/office/drawing/2014/main" id="{FC05620A-551B-40BB-A5FE-91A9B9ABD938}"/>
              </a:ext>
            </a:extLst>
          </p:cNvPr>
          <p:cNvSpPr txBox="1">
            <a:spLocks/>
          </p:cNvSpPr>
          <p:nvPr/>
        </p:nvSpPr>
        <p:spPr>
          <a:xfrm>
            <a:off x="5222369" y="5318844"/>
            <a:ext cx="1112399" cy="398516"/>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0000FF"/>
                </a:solidFill>
              </a:rPr>
              <a:t>OSPF</a:t>
            </a:r>
          </a:p>
        </p:txBody>
      </p:sp>
      <p:sp>
        <p:nvSpPr>
          <p:cNvPr id="81" name="内容占位符 2">
            <a:extLst>
              <a:ext uri="{FF2B5EF4-FFF2-40B4-BE49-F238E27FC236}">
                <a16:creationId xmlns:a16="http://schemas.microsoft.com/office/drawing/2014/main" id="{C718A621-FB05-4E49-8BBC-ADB19C390BC9}"/>
              </a:ext>
            </a:extLst>
          </p:cNvPr>
          <p:cNvSpPr txBox="1">
            <a:spLocks/>
          </p:cNvSpPr>
          <p:nvPr/>
        </p:nvSpPr>
        <p:spPr>
          <a:xfrm>
            <a:off x="10159320" y="3791486"/>
            <a:ext cx="1112399" cy="398516"/>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0000FF"/>
                </a:solidFill>
              </a:rPr>
              <a:t>IS-IS</a:t>
            </a:r>
          </a:p>
        </p:txBody>
      </p:sp>
      <p:sp>
        <p:nvSpPr>
          <p:cNvPr id="82" name="内容占位符 2">
            <a:extLst>
              <a:ext uri="{FF2B5EF4-FFF2-40B4-BE49-F238E27FC236}">
                <a16:creationId xmlns:a16="http://schemas.microsoft.com/office/drawing/2014/main" id="{A9938705-6A65-4C0F-9D10-EEC3D383EDCF}"/>
              </a:ext>
            </a:extLst>
          </p:cNvPr>
          <p:cNvSpPr txBox="1">
            <a:spLocks/>
          </p:cNvSpPr>
          <p:nvPr/>
        </p:nvSpPr>
        <p:spPr>
          <a:xfrm>
            <a:off x="8044167" y="4724261"/>
            <a:ext cx="870348" cy="38724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C00000"/>
                </a:solidFill>
              </a:rPr>
              <a:t>BGP</a:t>
            </a:r>
          </a:p>
        </p:txBody>
      </p:sp>
      <p:sp>
        <p:nvSpPr>
          <p:cNvPr id="84" name="内容占位符 2">
            <a:extLst>
              <a:ext uri="{FF2B5EF4-FFF2-40B4-BE49-F238E27FC236}">
                <a16:creationId xmlns:a16="http://schemas.microsoft.com/office/drawing/2014/main" id="{A4096896-13A8-4F9B-ABB8-1A9E84C60CA6}"/>
              </a:ext>
            </a:extLst>
          </p:cNvPr>
          <p:cNvSpPr txBox="1">
            <a:spLocks/>
          </p:cNvSpPr>
          <p:nvPr/>
        </p:nvSpPr>
        <p:spPr>
          <a:xfrm>
            <a:off x="10303706" y="4757684"/>
            <a:ext cx="870348" cy="38724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C00000"/>
                </a:solidFill>
              </a:rPr>
              <a:t>BGP</a:t>
            </a:r>
          </a:p>
        </p:txBody>
      </p:sp>
      <p:sp>
        <p:nvSpPr>
          <p:cNvPr id="85" name="文本框 84">
            <a:extLst>
              <a:ext uri="{FF2B5EF4-FFF2-40B4-BE49-F238E27FC236}">
                <a16:creationId xmlns:a16="http://schemas.microsoft.com/office/drawing/2014/main" id="{48AB993B-004F-4DF9-9B89-32CB1BE8F0CF}"/>
              </a:ext>
            </a:extLst>
          </p:cNvPr>
          <p:cNvSpPr txBox="1"/>
          <p:nvPr/>
        </p:nvSpPr>
        <p:spPr>
          <a:xfrm>
            <a:off x="664879" y="5475590"/>
            <a:ext cx="4717136" cy="646331"/>
          </a:xfrm>
          <a:prstGeom prst="rect">
            <a:avLst/>
          </a:prstGeom>
          <a:noFill/>
        </p:spPr>
        <p:txBody>
          <a:bodyPr wrap="square" rtlCol="0">
            <a:spAutoFit/>
          </a:bodyPr>
          <a:lstStyle/>
          <a:p>
            <a:r>
              <a:rPr lang="zh-CN" altLang="en-US" dirty="0">
                <a:latin typeface="微软雅黑" panose="020B0503020204020204" pitchFamily="34" charset="-122"/>
                <a:ea typeface="微软雅黑" panose="020B0503020204020204" pitchFamily="34" charset="-122"/>
              </a:rPr>
              <a:t>注：</a:t>
            </a:r>
            <a:r>
              <a:rPr lang="en-US" altLang="zh-CN" dirty="0">
                <a:latin typeface="微软雅黑" panose="020B0503020204020204" pitchFamily="34" charset="-122"/>
                <a:ea typeface="微软雅黑" panose="020B0503020204020204" pitchFamily="34" charset="-122"/>
              </a:rPr>
              <a:t>IGP</a:t>
            </a:r>
            <a:r>
              <a:rPr lang="zh-CN" altLang="en-US" dirty="0">
                <a:latin typeface="微软雅黑" panose="020B0503020204020204" pitchFamily="34" charset="-122"/>
                <a:ea typeface="微软雅黑" panose="020B0503020204020204" pitchFamily="34" charset="-122"/>
              </a:rPr>
              <a:t>和</a:t>
            </a:r>
            <a:r>
              <a:rPr lang="en-US" altLang="zh-CN" dirty="0">
                <a:latin typeface="微软雅黑" panose="020B0503020204020204" pitchFamily="34" charset="-122"/>
                <a:ea typeface="微软雅黑" panose="020B0503020204020204" pitchFamily="34" charset="-122"/>
              </a:rPr>
              <a:t>EGP</a:t>
            </a:r>
            <a:r>
              <a:rPr lang="zh-CN" altLang="en-US" dirty="0">
                <a:latin typeface="微软雅黑" panose="020B0503020204020204" pitchFamily="34" charset="-122"/>
                <a:ea typeface="微软雅黑" panose="020B0503020204020204" pitchFamily="34" charset="-122"/>
              </a:rPr>
              <a:t>的具体工作方式，</a:t>
            </a:r>
            <a:r>
              <a:rPr lang="en-US" altLang="zh-CN" dirty="0">
                <a:latin typeface="微软雅黑" panose="020B0503020204020204" pitchFamily="34" charset="-122"/>
                <a:ea typeface="微软雅黑" panose="020B0503020204020204" pitchFamily="34" charset="-122"/>
              </a:rPr>
              <a:t>IGP</a:t>
            </a:r>
            <a:r>
              <a:rPr lang="zh-CN" altLang="en-US" dirty="0">
                <a:latin typeface="微软雅黑" panose="020B0503020204020204" pitchFamily="34" charset="-122"/>
                <a:ea typeface="微软雅黑" panose="020B0503020204020204" pitchFamily="34" charset="-122"/>
              </a:rPr>
              <a:t>和</a:t>
            </a:r>
            <a:r>
              <a:rPr lang="en-US" altLang="zh-CN" dirty="0">
                <a:latin typeface="微软雅黑" panose="020B0503020204020204" pitchFamily="34" charset="-122"/>
                <a:ea typeface="微软雅黑" panose="020B0503020204020204" pitchFamily="34" charset="-122"/>
              </a:rPr>
              <a:t>EGP</a:t>
            </a:r>
            <a:r>
              <a:rPr lang="zh-CN" altLang="en-US" dirty="0">
                <a:latin typeface="微软雅黑" panose="020B0503020204020204" pitchFamily="34" charset="-122"/>
                <a:ea typeface="微软雅黑" panose="020B0503020204020204" pitchFamily="34" charset="-122"/>
              </a:rPr>
              <a:t>之间的关联，详见</a:t>
            </a:r>
            <a:r>
              <a:rPr lang="en-US" altLang="zh-CN" dirty="0">
                <a:latin typeface="微软雅黑" panose="020B0503020204020204" pitchFamily="34" charset="-122"/>
                <a:ea typeface="微软雅黑" panose="020B0503020204020204" pitchFamily="34" charset="-122"/>
              </a:rPr>
              <a:t>5.5</a:t>
            </a:r>
            <a:r>
              <a:rPr lang="zh-CN" altLang="en-US" dirty="0">
                <a:latin typeface="微软雅黑" panose="020B0503020204020204" pitchFamily="34" charset="-122"/>
                <a:ea typeface="微软雅黑" panose="020B0503020204020204" pitchFamily="34" charset="-122"/>
              </a:rPr>
              <a:t>节</a:t>
            </a:r>
            <a:r>
              <a:rPr lang="en-US" altLang="zh-CN" dirty="0">
                <a:latin typeface="微软雅黑" panose="020B0503020204020204" pitchFamily="34" charset="-122"/>
                <a:ea typeface="微软雅黑" panose="020B0503020204020204" pitchFamily="34" charset="-122"/>
              </a:rPr>
              <a:t>Internet</a:t>
            </a:r>
            <a:r>
              <a:rPr lang="zh-CN" altLang="en-US" dirty="0">
                <a:latin typeface="微软雅黑" panose="020B0503020204020204" pitchFamily="34" charset="-122"/>
                <a:ea typeface="微软雅黑" panose="020B0503020204020204" pitchFamily="34" charset="-122"/>
              </a:rPr>
              <a:t>路由协议。</a:t>
            </a:r>
          </a:p>
        </p:txBody>
      </p:sp>
      <p:sp>
        <p:nvSpPr>
          <p:cNvPr id="70" name="日期占位符 4">
            <a:extLst>
              <a:ext uri="{FF2B5EF4-FFF2-40B4-BE49-F238E27FC236}">
                <a16:creationId xmlns:a16="http://schemas.microsoft.com/office/drawing/2014/main"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5.2.5 </a:t>
            </a:r>
            <a:r>
              <a:rPr kumimoji="1" lang="zh-CN" altLang="en-US" dirty="0"/>
              <a:t>层次路由</a:t>
            </a:r>
          </a:p>
        </p:txBody>
      </p:sp>
      <p:pic>
        <p:nvPicPr>
          <p:cNvPr id="69" name="Picture 28" descr="015">
            <a:extLst>
              <a:ext uri="{FF2B5EF4-FFF2-40B4-BE49-F238E27FC236}">
                <a16:creationId xmlns:a16="http://schemas.microsoft.com/office/drawing/2014/main" id="{F168997A-90B0-4A9D-89B1-47EA6805CCC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0038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3">
                                            <p:txEl>
                                              <p:pRg st="0" end="0"/>
                                            </p:txEl>
                                          </p:spTgt>
                                        </p:tgtEl>
                                        <p:attrNameLst>
                                          <p:attrName>style.visibility</p:attrName>
                                        </p:attrNameLst>
                                      </p:cBhvr>
                                      <p:to>
                                        <p:strVal val="visible"/>
                                      </p:to>
                                    </p:set>
                                    <p:animEffect transition="in" filter="blinds(horizontal)">
                                      <p:cBhvr>
                                        <p:cTn id="7" dur="500"/>
                                        <p:tgtEl>
                                          <p:spTgt spid="53">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53">
                                            <p:txEl>
                                              <p:pRg st="1" end="1"/>
                                            </p:txEl>
                                          </p:spTgt>
                                        </p:tgtEl>
                                        <p:attrNameLst>
                                          <p:attrName>style.visibility</p:attrName>
                                        </p:attrNameLst>
                                      </p:cBhvr>
                                      <p:to>
                                        <p:strVal val="visible"/>
                                      </p:to>
                                    </p:set>
                                    <p:animEffect transition="in" filter="blinds(horizontal)">
                                      <p:cBhvr>
                                        <p:cTn id="10" dur="500"/>
                                        <p:tgtEl>
                                          <p:spTgt spid="53">
                                            <p:txEl>
                                              <p:pRg st="1" end="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53">
                                            <p:txEl>
                                              <p:pRg st="2" end="2"/>
                                            </p:txEl>
                                          </p:spTgt>
                                        </p:tgtEl>
                                        <p:attrNameLst>
                                          <p:attrName>style.visibility</p:attrName>
                                        </p:attrNameLst>
                                      </p:cBhvr>
                                      <p:to>
                                        <p:strVal val="visible"/>
                                      </p:to>
                                    </p:set>
                                    <p:animEffect transition="in" filter="blinds(horizontal)">
                                      <p:cBhvr>
                                        <p:cTn id="13" dur="500"/>
                                        <p:tgtEl>
                                          <p:spTgt spid="5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8"/>
                                        </p:tgtEl>
                                        <p:attrNameLst>
                                          <p:attrName>style.visibility</p:attrName>
                                        </p:attrNameLst>
                                      </p:cBhvr>
                                      <p:to>
                                        <p:strVal val="visible"/>
                                      </p:to>
                                    </p:set>
                                    <p:animEffect transition="in" filter="fade">
                                      <p:cBhvr>
                                        <p:cTn id="18" dur="500"/>
                                        <p:tgtEl>
                                          <p:spTgt spid="58"/>
                                        </p:tgtEl>
                                      </p:cBhvr>
                                    </p:animEffect>
                                  </p:childTnLst>
                                </p:cTn>
                              </p:par>
                              <p:par>
                                <p:cTn id="19" presetID="10" presetClass="entr" presetSubtype="0" fill="hold" nodeType="with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fade">
                                      <p:cBhvr>
                                        <p:cTn id="21" dur="500"/>
                                        <p:tgtEl>
                                          <p:spTgt spid="59"/>
                                        </p:tgtEl>
                                      </p:cBhvr>
                                    </p:animEffect>
                                  </p:childTnLst>
                                </p:cTn>
                              </p:par>
                              <p:par>
                                <p:cTn id="22" presetID="10" presetClass="entr" presetSubtype="0" fill="hold" nodeType="withEffect">
                                  <p:stCondLst>
                                    <p:cond delay="0"/>
                                  </p:stCondLst>
                                  <p:childTnLst>
                                    <p:set>
                                      <p:cBhvr>
                                        <p:cTn id="23" dur="1" fill="hold">
                                          <p:stCondLst>
                                            <p:cond delay="0"/>
                                          </p:stCondLst>
                                        </p:cTn>
                                        <p:tgtEl>
                                          <p:spTgt spid="60"/>
                                        </p:tgtEl>
                                        <p:attrNameLst>
                                          <p:attrName>style.visibility</p:attrName>
                                        </p:attrNameLst>
                                      </p:cBhvr>
                                      <p:to>
                                        <p:strVal val="visible"/>
                                      </p:to>
                                    </p:set>
                                    <p:animEffect transition="in" filter="fade">
                                      <p:cBhvr>
                                        <p:cTn id="24" dur="500"/>
                                        <p:tgtEl>
                                          <p:spTgt spid="60"/>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fade">
                                      <p:cBhvr>
                                        <p:cTn id="28" dur="500"/>
                                        <p:tgtEl>
                                          <p:spTgt spid="7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fade">
                                      <p:cBhvr>
                                        <p:cTn id="31" dur="500"/>
                                        <p:tgtEl>
                                          <p:spTgt spid="8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fade">
                                      <p:cBhvr>
                                        <p:cTn id="34" dur="500"/>
                                        <p:tgtEl>
                                          <p:spTgt spid="72"/>
                                        </p:tgtEl>
                                      </p:cBhvr>
                                    </p:animEffect>
                                  </p:childTnLst>
                                </p:cTn>
                              </p:par>
                            </p:childTnLst>
                          </p:cTn>
                        </p:par>
                        <p:par>
                          <p:cTn id="35" fill="hold">
                            <p:stCondLst>
                              <p:cond delay="1000"/>
                            </p:stCondLst>
                            <p:childTnLst>
                              <p:par>
                                <p:cTn id="36" presetID="10" presetClass="entr" presetSubtype="0" fill="hold" nodeType="afterEffect">
                                  <p:stCondLst>
                                    <p:cond delay="0"/>
                                  </p:stCondLst>
                                  <p:childTnLst>
                                    <p:set>
                                      <p:cBhvr>
                                        <p:cTn id="37" dur="1" fill="hold">
                                          <p:stCondLst>
                                            <p:cond delay="0"/>
                                          </p:stCondLst>
                                        </p:cTn>
                                        <p:tgtEl>
                                          <p:spTgt spid="48"/>
                                        </p:tgtEl>
                                        <p:attrNameLst>
                                          <p:attrName>style.visibility</p:attrName>
                                        </p:attrNameLst>
                                      </p:cBhvr>
                                      <p:to>
                                        <p:strVal val="visible"/>
                                      </p:to>
                                    </p:set>
                                    <p:animEffect transition="in" filter="fade">
                                      <p:cBhvr>
                                        <p:cTn id="38" dur="500"/>
                                        <p:tgtEl>
                                          <p:spTgt spid="48"/>
                                        </p:tgtEl>
                                      </p:cBhvr>
                                    </p:animEffect>
                                  </p:childTnLst>
                                </p:cTn>
                              </p:par>
                              <p:par>
                                <p:cTn id="39" presetID="10" presetClass="entr" presetSubtype="0" fill="hold" nodeType="with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fade">
                                      <p:cBhvr>
                                        <p:cTn id="41" dur="500"/>
                                        <p:tgtEl>
                                          <p:spTgt spid="50"/>
                                        </p:tgtEl>
                                      </p:cBhvr>
                                    </p:animEffect>
                                  </p:childTnLst>
                                </p:cTn>
                              </p:par>
                              <p:par>
                                <p:cTn id="42" presetID="10" presetClass="entr" presetSubtype="0" fill="hold" nodeType="with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fade">
                                      <p:cBhvr>
                                        <p:cTn id="44" dur="500"/>
                                        <p:tgtEl>
                                          <p:spTgt spid="52"/>
                                        </p:tgtEl>
                                      </p:cBhvr>
                                    </p:animEffect>
                                  </p:childTnLst>
                                </p:cTn>
                              </p:par>
                              <p:par>
                                <p:cTn id="45" presetID="10"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500"/>
                                        <p:tgtEl>
                                          <p:spTgt spid="5"/>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5"/>
                                        </p:tgtEl>
                                        <p:attrNameLst>
                                          <p:attrName>style.visibility</p:attrName>
                                        </p:attrNameLst>
                                      </p:cBhvr>
                                      <p:to>
                                        <p:strVal val="hidden"/>
                                      </p:to>
                                    </p:set>
                                  </p:childTnLst>
                                </p:cTn>
                              </p:par>
                              <p:par>
                                <p:cTn id="52" presetID="3" presetClass="entr" presetSubtype="10" fill="hold" nodeType="withEffect">
                                  <p:stCondLst>
                                    <p:cond delay="0"/>
                                  </p:stCondLst>
                                  <p:childTnLst>
                                    <p:set>
                                      <p:cBhvr>
                                        <p:cTn id="53" dur="1" fill="hold">
                                          <p:stCondLst>
                                            <p:cond delay="0"/>
                                          </p:stCondLst>
                                        </p:cTn>
                                        <p:tgtEl>
                                          <p:spTgt spid="53">
                                            <p:txEl>
                                              <p:pRg st="3" end="3"/>
                                            </p:txEl>
                                          </p:spTgt>
                                        </p:tgtEl>
                                        <p:attrNameLst>
                                          <p:attrName>style.visibility</p:attrName>
                                        </p:attrNameLst>
                                      </p:cBhvr>
                                      <p:to>
                                        <p:strVal val="visible"/>
                                      </p:to>
                                    </p:set>
                                    <p:animEffect transition="in" filter="blinds(horizontal)">
                                      <p:cBhvr>
                                        <p:cTn id="54" dur="500"/>
                                        <p:tgtEl>
                                          <p:spTgt spid="53">
                                            <p:txEl>
                                              <p:pRg st="3" end="3"/>
                                            </p:txEl>
                                          </p:spTgt>
                                        </p:tgtEl>
                                      </p:cBhvr>
                                    </p:animEffect>
                                  </p:childTnLst>
                                </p:cTn>
                              </p:par>
                              <p:par>
                                <p:cTn id="55" presetID="3" presetClass="entr" presetSubtype="10" fill="hold" nodeType="withEffect">
                                  <p:stCondLst>
                                    <p:cond delay="0"/>
                                  </p:stCondLst>
                                  <p:childTnLst>
                                    <p:set>
                                      <p:cBhvr>
                                        <p:cTn id="56" dur="1" fill="hold">
                                          <p:stCondLst>
                                            <p:cond delay="0"/>
                                          </p:stCondLst>
                                        </p:cTn>
                                        <p:tgtEl>
                                          <p:spTgt spid="53">
                                            <p:txEl>
                                              <p:pRg st="4" end="4"/>
                                            </p:txEl>
                                          </p:spTgt>
                                        </p:tgtEl>
                                        <p:attrNameLst>
                                          <p:attrName>style.visibility</p:attrName>
                                        </p:attrNameLst>
                                      </p:cBhvr>
                                      <p:to>
                                        <p:strVal val="visible"/>
                                      </p:to>
                                    </p:set>
                                    <p:animEffect transition="in" filter="blinds(horizontal)">
                                      <p:cBhvr>
                                        <p:cTn id="57" dur="500"/>
                                        <p:tgtEl>
                                          <p:spTgt spid="53">
                                            <p:txEl>
                                              <p:pRg st="4" end="4"/>
                                            </p:txEl>
                                          </p:spTgt>
                                        </p:tgtEl>
                                      </p:cBhvr>
                                    </p:animEffect>
                                  </p:childTnLst>
                                </p:cTn>
                              </p:par>
                              <p:par>
                                <p:cTn id="58" presetID="3" presetClass="entr" presetSubtype="10" fill="hold" nodeType="withEffect">
                                  <p:stCondLst>
                                    <p:cond delay="0"/>
                                  </p:stCondLst>
                                  <p:childTnLst>
                                    <p:set>
                                      <p:cBhvr>
                                        <p:cTn id="59" dur="1" fill="hold">
                                          <p:stCondLst>
                                            <p:cond delay="0"/>
                                          </p:stCondLst>
                                        </p:cTn>
                                        <p:tgtEl>
                                          <p:spTgt spid="53">
                                            <p:txEl>
                                              <p:pRg st="5" end="5"/>
                                            </p:txEl>
                                          </p:spTgt>
                                        </p:tgtEl>
                                        <p:attrNameLst>
                                          <p:attrName>style.visibility</p:attrName>
                                        </p:attrNameLst>
                                      </p:cBhvr>
                                      <p:to>
                                        <p:strVal val="visible"/>
                                      </p:to>
                                    </p:set>
                                    <p:animEffect transition="in" filter="blinds(horizontal)">
                                      <p:cBhvr>
                                        <p:cTn id="60" dur="500"/>
                                        <p:tgtEl>
                                          <p:spTgt spid="53">
                                            <p:txEl>
                                              <p:pRg st="5" end="5"/>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fade">
                                      <p:cBhvr>
                                        <p:cTn id="65" dur="500"/>
                                        <p:tgtEl>
                                          <p:spTgt spid="8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82"/>
                                        </p:tgtEl>
                                        <p:attrNameLst>
                                          <p:attrName>style.visibility</p:attrName>
                                        </p:attrNameLst>
                                      </p:cBhvr>
                                      <p:to>
                                        <p:strVal val="visible"/>
                                      </p:to>
                                    </p:set>
                                    <p:animEffect transition="in" filter="fade">
                                      <p:cBhvr>
                                        <p:cTn id="68" dur="500"/>
                                        <p:tgtEl>
                                          <p:spTgt spid="82"/>
                                        </p:tgtEl>
                                      </p:cBhvr>
                                    </p:animEffect>
                                  </p:childTnLst>
                                </p:cTn>
                              </p:par>
                              <p:par>
                                <p:cTn id="69" presetID="10" presetClass="entr" presetSubtype="0" fill="hold"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childTnLst>
                          </p:cTn>
                        </p:par>
                      </p:childTnLst>
                    </p:cTn>
                  </p:par>
                  <p:par>
                    <p:cTn id="72" fill="hold">
                      <p:stCondLst>
                        <p:cond delay="indefinite"/>
                      </p:stCondLst>
                      <p:childTnLst>
                        <p:par>
                          <p:cTn id="73" fill="hold">
                            <p:stCondLst>
                              <p:cond delay="0"/>
                            </p:stCondLst>
                            <p:childTnLst>
                              <p:par>
                                <p:cTn id="74" presetID="3" presetClass="entr" presetSubtype="10" fill="hold" grpId="0" nodeType="clickEffect">
                                  <p:stCondLst>
                                    <p:cond delay="0"/>
                                  </p:stCondLst>
                                  <p:childTnLst>
                                    <p:set>
                                      <p:cBhvr>
                                        <p:cTn id="75" dur="1" fill="hold">
                                          <p:stCondLst>
                                            <p:cond delay="0"/>
                                          </p:stCondLst>
                                        </p:cTn>
                                        <p:tgtEl>
                                          <p:spTgt spid="85"/>
                                        </p:tgtEl>
                                        <p:attrNameLst>
                                          <p:attrName>style.visibility</p:attrName>
                                        </p:attrNameLst>
                                      </p:cBhvr>
                                      <p:to>
                                        <p:strVal val="visible"/>
                                      </p:to>
                                    </p:set>
                                    <p:animEffect transition="in" filter="blinds(horizontal)">
                                      <p:cBhvr>
                                        <p:cTn id="7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3" grpId="0"/>
      <p:bldP spid="81" grpId="0"/>
      <p:bldP spid="82" grpId="0"/>
      <p:bldP spid="84" grpId="0"/>
      <p:bldP spid="8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5174843-26EC-4FAF-89EE-EC11AC643685}"/>
              </a:ext>
            </a:extLst>
          </p:cNvPr>
          <p:cNvGrpSpPr/>
          <p:nvPr/>
        </p:nvGrpSpPr>
        <p:grpSpPr>
          <a:xfrm>
            <a:off x="6373894" y="1360838"/>
            <a:ext cx="5544839" cy="4624798"/>
            <a:chOff x="6041155" y="1349090"/>
            <a:chExt cx="5544839" cy="4624798"/>
          </a:xfrm>
        </p:grpSpPr>
        <p:pic>
          <p:nvPicPr>
            <p:cNvPr id="58" name="Picture 14">
              <a:extLst>
                <a:ext uri="{FF2B5EF4-FFF2-40B4-BE49-F238E27FC236}">
                  <a16:creationId xmlns:a16="http://schemas.microsoft.com/office/drawing/2014/main" id="{FC5533D8-E489-4F3B-BE32-FE89C42A63B7}"/>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456674" y="4194537"/>
              <a:ext cx="2307142" cy="1779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14">
              <a:extLst>
                <a:ext uri="{FF2B5EF4-FFF2-40B4-BE49-F238E27FC236}">
                  <a16:creationId xmlns:a16="http://schemas.microsoft.com/office/drawing/2014/main" id="{FE785418-A555-4F38-B5AD-6CB027CD6904}"/>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41155" y="1349090"/>
              <a:ext cx="2424154" cy="2162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14">
              <a:extLst>
                <a:ext uri="{FF2B5EF4-FFF2-40B4-BE49-F238E27FC236}">
                  <a16:creationId xmlns:a16="http://schemas.microsoft.com/office/drawing/2014/main" id="{562F0F55-4D3F-4B79-9F18-FCF360AB212E}"/>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066693" y="1804404"/>
              <a:ext cx="2519301" cy="21979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 name="文本框 61">
              <a:extLst>
                <a:ext uri="{FF2B5EF4-FFF2-40B4-BE49-F238E27FC236}">
                  <a16:creationId xmlns:a16="http://schemas.microsoft.com/office/drawing/2014/main" id="{4394B444-C7E2-4AFE-A4E8-3BC3E29702A8}"/>
                </a:ext>
              </a:extLst>
            </p:cNvPr>
            <p:cNvSpPr txBox="1"/>
            <p:nvPr/>
          </p:nvSpPr>
          <p:spPr>
            <a:xfrm>
              <a:off x="7898410" y="1477682"/>
              <a:ext cx="765073" cy="400110"/>
            </a:xfrm>
            <a:prstGeom prst="rect">
              <a:avLst/>
            </a:prstGeom>
            <a:solidFill>
              <a:srgbClr val="5B307E"/>
            </a:solidFill>
          </p:spPr>
          <p:txBody>
            <a:bodyPr wrap="square" rtlCol="0">
              <a:spAutoFit/>
            </a:bodyPr>
            <a:lstStyle/>
            <a:p>
              <a:pPr algn="ctr"/>
              <a:r>
                <a:rPr lang="en-US" altLang="zh-CN" sz="2000" dirty="0">
                  <a:solidFill>
                    <a:schemeClr val="bg1"/>
                  </a:solidFill>
                  <a:latin typeface="微软雅黑" panose="020B0503020204020204" pitchFamily="34" charset="-122"/>
                  <a:ea typeface="微软雅黑" panose="020B0503020204020204" pitchFamily="34" charset="-122"/>
                </a:rPr>
                <a:t>AS1</a:t>
              </a:r>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63" name="文本框 62">
              <a:extLst>
                <a:ext uri="{FF2B5EF4-FFF2-40B4-BE49-F238E27FC236}">
                  <a16:creationId xmlns:a16="http://schemas.microsoft.com/office/drawing/2014/main" id="{EBDFDEF2-9D2A-4720-9E9B-32B1435F72A8}"/>
                </a:ext>
              </a:extLst>
            </p:cNvPr>
            <p:cNvSpPr txBox="1"/>
            <p:nvPr/>
          </p:nvSpPr>
          <p:spPr>
            <a:xfrm>
              <a:off x="9858967" y="1491394"/>
              <a:ext cx="755718" cy="400110"/>
            </a:xfrm>
            <a:prstGeom prst="rect">
              <a:avLst/>
            </a:prstGeom>
            <a:solidFill>
              <a:srgbClr val="5B307E"/>
            </a:solidFill>
          </p:spPr>
          <p:txBody>
            <a:bodyPr wrap="square" rtlCol="0">
              <a:spAutoFit/>
            </a:bodyPr>
            <a:lstStyle>
              <a:defPPr>
                <a:defRPr lang="zh-CN"/>
              </a:defPPr>
              <a:lvl1pPr algn="ctr">
                <a:defRPr sz="2000">
                  <a:solidFill>
                    <a:schemeClr val="bg1"/>
                  </a:solidFill>
                  <a:latin typeface="微软雅黑" panose="020B0503020204020204" pitchFamily="34" charset="-122"/>
                  <a:ea typeface="微软雅黑" panose="020B0503020204020204" pitchFamily="34" charset="-122"/>
                </a:defRPr>
              </a:lvl1pPr>
            </a:lstStyle>
            <a:p>
              <a:r>
                <a:rPr lang="en-US" altLang="zh-CN" dirty="0"/>
                <a:t>AS2</a:t>
              </a:r>
              <a:endParaRPr lang="zh-CN" altLang="en-US" dirty="0"/>
            </a:p>
          </p:txBody>
        </p:sp>
        <p:sp>
          <p:nvSpPr>
            <p:cNvPr id="64" name="文本框 61">
              <a:extLst>
                <a:ext uri="{FF2B5EF4-FFF2-40B4-BE49-F238E27FC236}">
                  <a16:creationId xmlns:a16="http://schemas.microsoft.com/office/drawing/2014/main" id="{4394B444-C7E2-4AFE-A4E8-3BC3E29702A8}"/>
                </a:ext>
              </a:extLst>
            </p:cNvPr>
            <p:cNvSpPr txBox="1"/>
            <p:nvPr/>
          </p:nvSpPr>
          <p:spPr>
            <a:xfrm>
              <a:off x="10611732" y="5507365"/>
              <a:ext cx="779765" cy="400110"/>
            </a:xfrm>
            <a:prstGeom prst="rect">
              <a:avLst/>
            </a:prstGeom>
            <a:solidFill>
              <a:srgbClr val="5B307E"/>
            </a:solidFill>
          </p:spPr>
          <p:txBody>
            <a:bodyPr wrap="square" rtlCol="0">
              <a:spAutoFit/>
            </a:bodyPr>
            <a:lstStyle>
              <a:defPPr>
                <a:defRPr lang="zh-CN"/>
              </a:defPPr>
              <a:lvl1pPr algn="ctr">
                <a:defRPr sz="2000">
                  <a:solidFill>
                    <a:schemeClr val="bg1"/>
                  </a:solidFill>
                  <a:latin typeface="微软雅黑" panose="020B0503020204020204" pitchFamily="34" charset="-122"/>
                  <a:ea typeface="微软雅黑" panose="020B0503020204020204" pitchFamily="34" charset="-122"/>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dirty="0"/>
                <a:t>AS3</a:t>
              </a:r>
              <a:endParaRPr lang="zh-CN" altLang="en-US" dirty="0"/>
            </a:p>
          </p:txBody>
        </p:sp>
      </p:grpSp>
      <p:sp>
        <p:nvSpPr>
          <p:cNvPr id="2" name="标题 1">
            <a:extLst>
              <a:ext uri="{FF2B5EF4-FFF2-40B4-BE49-F238E27FC236}">
                <a16:creationId xmlns:a16="http://schemas.microsoft.com/office/drawing/2014/main" id="{DD2DBD97-4939-44A8-B217-00F3A14EC49A}"/>
              </a:ext>
            </a:extLst>
          </p:cNvPr>
          <p:cNvSpPr>
            <a:spLocks noGrp="1"/>
          </p:cNvSpPr>
          <p:nvPr>
            <p:ph type="title"/>
          </p:nvPr>
        </p:nvSpPr>
        <p:spPr/>
        <p:txBody>
          <a:bodyPr/>
          <a:lstStyle/>
          <a:p>
            <a:r>
              <a:rPr lang="zh-CN" altLang="en-US" dirty="0"/>
              <a:t>层次路由</a:t>
            </a:r>
            <a:r>
              <a:rPr lang="en-US" altLang="zh-CN" dirty="0"/>
              <a:t>-</a:t>
            </a:r>
            <a:r>
              <a:rPr lang="zh-CN" altLang="en-US" dirty="0"/>
              <a:t>效果</a:t>
            </a:r>
          </a:p>
        </p:txBody>
      </p:sp>
      <p:sp>
        <p:nvSpPr>
          <p:cNvPr id="4" name="灯片编号占位符 3">
            <a:extLst>
              <a:ext uri="{FF2B5EF4-FFF2-40B4-BE49-F238E27FC236}">
                <a16:creationId xmlns:a16="http://schemas.microsoft.com/office/drawing/2014/main" id="{250DB378-8AFF-4455-B446-EB7FC9400454}"/>
              </a:ext>
            </a:extLst>
          </p:cNvPr>
          <p:cNvSpPr>
            <a:spLocks noGrp="1"/>
          </p:cNvSpPr>
          <p:nvPr>
            <p:ph type="sldNum" sz="quarter" idx="12"/>
          </p:nvPr>
        </p:nvSpPr>
        <p:spPr/>
        <p:txBody>
          <a:bodyPr/>
          <a:lstStyle/>
          <a:p>
            <a:fld id="{8D4D1E41-7A09-AB4A-A4E1-09765ADA2698}" type="slidenum">
              <a:rPr kumimoji="1" lang="zh-CN" altLang="en-US" smtClean="0"/>
              <a:pPr/>
              <a:t>53</a:t>
            </a:fld>
            <a:endParaRPr kumimoji="1" lang="zh-CN" altLang="en-US" dirty="0"/>
          </a:p>
        </p:txBody>
      </p:sp>
      <p:sp>
        <p:nvSpPr>
          <p:cNvPr id="6" name="文本框 5">
            <a:extLst>
              <a:ext uri="{FF2B5EF4-FFF2-40B4-BE49-F238E27FC236}">
                <a16:creationId xmlns:a16="http://schemas.microsoft.com/office/drawing/2014/main" id="{7694E64A-8A92-4B3F-92CC-17D30A04134A}"/>
              </a:ext>
            </a:extLst>
          </p:cNvPr>
          <p:cNvSpPr txBox="1"/>
          <p:nvPr/>
        </p:nvSpPr>
        <p:spPr>
          <a:xfrm>
            <a:off x="8142694" y="1885752"/>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graphicFrame>
        <p:nvGraphicFramePr>
          <p:cNvPr id="7" name="表格 6">
            <a:extLst>
              <a:ext uri="{FF2B5EF4-FFF2-40B4-BE49-F238E27FC236}">
                <a16:creationId xmlns:a16="http://schemas.microsoft.com/office/drawing/2014/main" id="{9F10A187-AF22-45AD-A3B3-1AD0F6367215}"/>
              </a:ext>
            </a:extLst>
          </p:cNvPr>
          <p:cNvGraphicFramePr>
            <a:graphicFrameLocks noGrp="1"/>
          </p:cNvGraphicFramePr>
          <p:nvPr/>
        </p:nvGraphicFramePr>
        <p:xfrm>
          <a:off x="3484811" y="3741927"/>
          <a:ext cx="3900220" cy="2377440"/>
        </p:xfrm>
        <a:graphic>
          <a:graphicData uri="http://schemas.openxmlformats.org/drawingml/2006/table">
            <a:tbl>
              <a:tblPr firstRow="1" bandRow="1">
                <a:tableStyleId>{5C22544A-7EE6-4342-B048-85BDC9FD1C3A}</a:tableStyleId>
              </a:tblPr>
              <a:tblGrid>
                <a:gridCol w="2410784">
                  <a:extLst>
                    <a:ext uri="{9D8B030D-6E8A-4147-A177-3AD203B41FA5}">
                      <a16:colId xmlns:a16="http://schemas.microsoft.com/office/drawing/2014/main" val="900945486"/>
                    </a:ext>
                  </a:extLst>
                </a:gridCol>
                <a:gridCol w="1489436">
                  <a:extLst>
                    <a:ext uri="{9D8B030D-6E8A-4147-A177-3AD203B41FA5}">
                      <a16:colId xmlns:a16="http://schemas.microsoft.com/office/drawing/2014/main" val="2179439050"/>
                    </a:ext>
                  </a:extLst>
                </a:gridCol>
              </a:tblGrid>
              <a:tr h="259891">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extLst>
                  <a:ext uri="{0D108BD9-81ED-4DB2-BD59-A6C34878D82A}">
                    <a16:rowId xmlns:a16="http://schemas.microsoft.com/office/drawing/2014/main" val="1912889480"/>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28380967"/>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23619522"/>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N3</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91165606"/>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AS2</a:t>
                      </a:r>
                      <a:r>
                        <a:rPr lang="zh-CN" altLang="en-US" sz="2000" dirty="0">
                          <a:solidFill>
                            <a:schemeClr val="tx1"/>
                          </a:solidFill>
                          <a:latin typeface="微软雅黑" panose="020B0503020204020204" pitchFamily="34" charset="-122"/>
                          <a:ea typeface="微软雅黑" panose="020B0503020204020204" pitchFamily="34" charset="-122"/>
                        </a:rPr>
                        <a:t>内的所有网络</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4329233"/>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AS3</a:t>
                      </a:r>
                      <a:r>
                        <a:rPr lang="zh-CN" altLang="en-US" sz="2000" dirty="0">
                          <a:solidFill>
                            <a:schemeClr val="tx1"/>
                          </a:solidFill>
                          <a:latin typeface="微软雅黑" panose="020B0503020204020204" pitchFamily="34" charset="-122"/>
                          <a:ea typeface="微软雅黑" panose="020B0503020204020204" pitchFamily="34" charset="-122"/>
                        </a:rPr>
                        <a:t>内的所有网络</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9415169"/>
                  </a:ext>
                </a:extLst>
              </a:tr>
            </a:tbl>
          </a:graphicData>
        </a:graphic>
      </p:graphicFrame>
      <p:cxnSp>
        <p:nvCxnSpPr>
          <p:cNvPr id="11" name="直接连接符 10">
            <a:extLst>
              <a:ext uri="{FF2B5EF4-FFF2-40B4-BE49-F238E27FC236}">
                <a16:creationId xmlns:a16="http://schemas.microsoft.com/office/drawing/2014/main" id="{4A456758-A134-4F20-BCEE-41DB24B64FC9}"/>
              </a:ext>
            </a:extLst>
          </p:cNvPr>
          <p:cNvCxnSpPr>
            <a:cxnSpLocks/>
          </p:cNvCxnSpPr>
          <p:nvPr/>
        </p:nvCxnSpPr>
        <p:spPr>
          <a:xfrm>
            <a:off x="9957089" y="2798664"/>
            <a:ext cx="802603" cy="665646"/>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8" name="文本框 17">
            <a:extLst>
              <a:ext uri="{FF2B5EF4-FFF2-40B4-BE49-F238E27FC236}">
                <a16:creationId xmlns:a16="http://schemas.microsoft.com/office/drawing/2014/main" id="{430BC5FB-4AF5-4789-BFD4-9D1761F4C05C}"/>
              </a:ext>
            </a:extLst>
          </p:cNvPr>
          <p:cNvSpPr txBox="1"/>
          <p:nvPr/>
        </p:nvSpPr>
        <p:spPr>
          <a:xfrm>
            <a:off x="10804552" y="2986596"/>
            <a:ext cx="678086"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cxnSp>
        <p:nvCxnSpPr>
          <p:cNvPr id="20" name="直接连接符 19">
            <a:extLst>
              <a:ext uri="{FF2B5EF4-FFF2-40B4-BE49-F238E27FC236}">
                <a16:creationId xmlns:a16="http://schemas.microsoft.com/office/drawing/2014/main" id="{BC080B23-6717-4C75-B73E-E3A618C666F9}"/>
              </a:ext>
            </a:extLst>
          </p:cNvPr>
          <p:cNvCxnSpPr>
            <a:cxnSpLocks/>
          </p:cNvCxnSpPr>
          <p:nvPr/>
        </p:nvCxnSpPr>
        <p:spPr>
          <a:xfrm>
            <a:off x="7010728" y="2094303"/>
            <a:ext cx="1276740" cy="30346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3" name="文本框 22">
            <a:extLst>
              <a:ext uri="{FF2B5EF4-FFF2-40B4-BE49-F238E27FC236}">
                <a16:creationId xmlns:a16="http://schemas.microsoft.com/office/drawing/2014/main" id="{62DCD93C-1521-437D-8D94-3C6AAA27436A}"/>
              </a:ext>
            </a:extLst>
          </p:cNvPr>
          <p:cNvSpPr txBox="1"/>
          <p:nvPr/>
        </p:nvSpPr>
        <p:spPr>
          <a:xfrm>
            <a:off x="6868748" y="1590503"/>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cxnSp>
        <p:nvCxnSpPr>
          <p:cNvPr id="29" name="直接连接符 28">
            <a:extLst>
              <a:ext uri="{FF2B5EF4-FFF2-40B4-BE49-F238E27FC236}">
                <a16:creationId xmlns:a16="http://schemas.microsoft.com/office/drawing/2014/main" id="{2F5F3861-9044-408A-9051-57EFB04A58C4}"/>
              </a:ext>
            </a:extLst>
          </p:cNvPr>
          <p:cNvCxnSpPr>
            <a:cxnSpLocks/>
          </p:cNvCxnSpPr>
          <p:nvPr/>
        </p:nvCxnSpPr>
        <p:spPr>
          <a:xfrm>
            <a:off x="8475665" y="2461480"/>
            <a:ext cx="1441134" cy="27900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30" name="文本框 29">
            <a:extLst>
              <a:ext uri="{FF2B5EF4-FFF2-40B4-BE49-F238E27FC236}">
                <a16:creationId xmlns:a16="http://schemas.microsoft.com/office/drawing/2014/main" id="{6D187782-2089-4070-96E3-646FA056E0A6}"/>
              </a:ext>
            </a:extLst>
          </p:cNvPr>
          <p:cNvSpPr txBox="1"/>
          <p:nvPr/>
        </p:nvSpPr>
        <p:spPr>
          <a:xfrm>
            <a:off x="9707198" y="2907291"/>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cxnSp>
        <p:nvCxnSpPr>
          <p:cNvPr id="38" name="直接连接符 37">
            <a:extLst>
              <a:ext uri="{FF2B5EF4-FFF2-40B4-BE49-F238E27FC236}">
                <a16:creationId xmlns:a16="http://schemas.microsoft.com/office/drawing/2014/main" id="{9D6FF6C8-7CB2-4B8D-B235-E9CF18AC6297}"/>
              </a:ext>
            </a:extLst>
          </p:cNvPr>
          <p:cNvCxnSpPr>
            <a:cxnSpLocks/>
          </p:cNvCxnSpPr>
          <p:nvPr/>
        </p:nvCxnSpPr>
        <p:spPr>
          <a:xfrm flipV="1">
            <a:off x="7863665" y="2421652"/>
            <a:ext cx="536700" cy="534262"/>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45" name="文本框 44">
            <a:extLst>
              <a:ext uri="{FF2B5EF4-FFF2-40B4-BE49-F238E27FC236}">
                <a16:creationId xmlns:a16="http://schemas.microsoft.com/office/drawing/2014/main" id="{C225483C-BFB4-4064-B28C-EB3DD2BF577F}"/>
              </a:ext>
            </a:extLst>
          </p:cNvPr>
          <p:cNvSpPr txBox="1"/>
          <p:nvPr/>
        </p:nvSpPr>
        <p:spPr>
          <a:xfrm>
            <a:off x="7515075" y="3177563"/>
            <a:ext cx="616940" cy="369332"/>
          </a:xfrm>
          <a:prstGeom prst="rect">
            <a:avLst/>
          </a:prstGeom>
          <a:noFill/>
        </p:spPr>
        <p:txBody>
          <a:bodyPr wrap="square" rtlCol="0">
            <a:spAutoFit/>
          </a:bodyPr>
          <a:lstStyle/>
          <a:p>
            <a:r>
              <a:rPr lang="en-US" altLang="zh-CN" b="1" dirty="0">
                <a:solidFill>
                  <a:srgbClr val="C00000"/>
                </a:solidFill>
                <a:latin typeface="微软雅黑" panose="020B0503020204020204" pitchFamily="34" charset="-122"/>
                <a:ea typeface="微软雅黑" panose="020B0503020204020204" pitchFamily="34" charset="-122"/>
              </a:rPr>
              <a:t>R4</a:t>
            </a:r>
            <a:endParaRPr lang="zh-CN" altLang="en-US" b="1" dirty="0">
              <a:solidFill>
                <a:srgbClr val="C00000"/>
              </a:solidFill>
              <a:latin typeface="微软雅黑" panose="020B0503020204020204" pitchFamily="34" charset="-122"/>
              <a:ea typeface="微软雅黑" panose="020B0503020204020204" pitchFamily="34" charset="-122"/>
            </a:endParaRPr>
          </a:p>
        </p:txBody>
      </p:sp>
      <p:pic>
        <p:nvPicPr>
          <p:cNvPr id="46" name="Picture 57" descr="通用路由器">
            <a:extLst>
              <a:ext uri="{FF2B5EF4-FFF2-40B4-BE49-F238E27FC236}">
                <a16:creationId xmlns:a16="http://schemas.microsoft.com/office/drawing/2014/main" id="{B64D3245-8F64-478F-921A-6A29621979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90712" y="2186095"/>
            <a:ext cx="542859" cy="400111"/>
          </a:xfrm>
          <a:prstGeom prst="rect">
            <a:avLst/>
          </a:prstGeom>
          <a:noFill/>
          <a:extLst>
            <a:ext uri="{909E8E84-426E-40DD-AFC4-6F175D3DCCD1}">
              <a14:hiddenFill xmlns:a14="http://schemas.microsoft.com/office/drawing/2010/main">
                <a:solidFill>
                  <a:srgbClr val="FFFFFF"/>
                </a:solidFill>
              </a14:hiddenFill>
            </a:ext>
          </a:extLst>
        </p:spPr>
      </p:pic>
      <p:cxnSp>
        <p:nvCxnSpPr>
          <p:cNvPr id="52" name="直接连接符 51">
            <a:extLst>
              <a:ext uri="{FF2B5EF4-FFF2-40B4-BE49-F238E27FC236}">
                <a16:creationId xmlns:a16="http://schemas.microsoft.com/office/drawing/2014/main" id="{394881C2-34CE-4C5A-B022-42E5E735E905}"/>
              </a:ext>
            </a:extLst>
          </p:cNvPr>
          <p:cNvCxnSpPr>
            <a:cxnSpLocks/>
          </p:cNvCxnSpPr>
          <p:nvPr/>
        </p:nvCxnSpPr>
        <p:spPr>
          <a:xfrm flipV="1">
            <a:off x="10220740" y="3482042"/>
            <a:ext cx="840804" cy="103220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56" name="直接连接符 55">
            <a:extLst>
              <a:ext uri="{FF2B5EF4-FFF2-40B4-BE49-F238E27FC236}">
                <a16:creationId xmlns:a16="http://schemas.microsoft.com/office/drawing/2014/main" id="{E229A0A2-066D-4F53-B08C-0C68C1D0D8EB}"/>
              </a:ext>
            </a:extLst>
          </p:cNvPr>
          <p:cNvCxnSpPr>
            <a:cxnSpLocks/>
          </p:cNvCxnSpPr>
          <p:nvPr/>
        </p:nvCxnSpPr>
        <p:spPr>
          <a:xfrm flipH="1">
            <a:off x="9585609" y="4445513"/>
            <a:ext cx="410954" cy="655136"/>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48" name="Picture 57" descr="通用路由器">
            <a:extLst>
              <a:ext uri="{FF2B5EF4-FFF2-40B4-BE49-F238E27FC236}">
                <a16:creationId xmlns:a16="http://schemas.microsoft.com/office/drawing/2014/main" id="{8F9D2846-6819-4385-8C0D-B12586E473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14366" y="4377005"/>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59" name="文本框 58">
            <a:extLst>
              <a:ext uri="{FF2B5EF4-FFF2-40B4-BE49-F238E27FC236}">
                <a16:creationId xmlns:a16="http://schemas.microsoft.com/office/drawing/2014/main" id="{E14C59CA-B9F1-47DA-9366-D1B458531D87}"/>
              </a:ext>
            </a:extLst>
          </p:cNvPr>
          <p:cNvSpPr txBox="1"/>
          <p:nvPr/>
        </p:nvSpPr>
        <p:spPr>
          <a:xfrm>
            <a:off x="10271904" y="4481105"/>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R7</a:t>
            </a:r>
            <a:endParaRPr lang="zh-CN" altLang="en-US" dirty="0">
              <a:latin typeface="微软雅黑" panose="020B0503020204020204" pitchFamily="34" charset="-122"/>
              <a:ea typeface="微软雅黑" panose="020B0503020204020204" pitchFamily="34" charset="-122"/>
            </a:endParaRPr>
          </a:p>
        </p:txBody>
      </p:sp>
      <p:sp>
        <p:nvSpPr>
          <p:cNvPr id="61" name="文本框 60">
            <a:extLst>
              <a:ext uri="{FF2B5EF4-FFF2-40B4-BE49-F238E27FC236}">
                <a16:creationId xmlns:a16="http://schemas.microsoft.com/office/drawing/2014/main" id="{4E8DCEB8-63F1-4452-8564-820BCA455C0D}"/>
              </a:ext>
            </a:extLst>
          </p:cNvPr>
          <p:cNvSpPr txBox="1"/>
          <p:nvPr/>
        </p:nvSpPr>
        <p:spPr>
          <a:xfrm>
            <a:off x="9240043" y="5373673"/>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R8</a:t>
            </a:r>
            <a:endParaRPr lang="zh-CN" altLang="en-US" dirty="0">
              <a:latin typeface="微软雅黑" panose="020B0503020204020204" pitchFamily="34" charset="-122"/>
              <a:ea typeface="微软雅黑" panose="020B0503020204020204" pitchFamily="34" charset="-122"/>
            </a:endParaRPr>
          </a:p>
        </p:txBody>
      </p:sp>
      <p:cxnSp>
        <p:nvCxnSpPr>
          <p:cNvPr id="65" name="直接连接符 64">
            <a:extLst>
              <a:ext uri="{FF2B5EF4-FFF2-40B4-BE49-F238E27FC236}">
                <a16:creationId xmlns:a16="http://schemas.microsoft.com/office/drawing/2014/main" id="{9DB14F80-4B5E-4A53-9BDE-5447302C54AA}"/>
              </a:ext>
            </a:extLst>
          </p:cNvPr>
          <p:cNvCxnSpPr>
            <a:cxnSpLocks/>
          </p:cNvCxnSpPr>
          <p:nvPr/>
        </p:nvCxnSpPr>
        <p:spPr>
          <a:xfrm flipH="1" flipV="1">
            <a:off x="7036982" y="2131584"/>
            <a:ext cx="718680" cy="82937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44" name="Picture 57" descr="通用路由器">
            <a:extLst>
              <a:ext uri="{FF2B5EF4-FFF2-40B4-BE49-F238E27FC236}">
                <a16:creationId xmlns:a16="http://schemas.microsoft.com/office/drawing/2014/main" id="{CBF6B37D-1D8C-4BF8-94D6-EFBBD8CD2F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93199" y="2810798"/>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69" name="文本框 68">
            <a:extLst>
              <a:ext uri="{FF2B5EF4-FFF2-40B4-BE49-F238E27FC236}">
                <a16:creationId xmlns:a16="http://schemas.microsoft.com/office/drawing/2014/main" id="{FE92C12E-0DC0-484D-8EE0-8FB13A6569F0}"/>
              </a:ext>
            </a:extLst>
          </p:cNvPr>
          <p:cNvSpPr txBox="1"/>
          <p:nvPr/>
        </p:nvSpPr>
        <p:spPr>
          <a:xfrm>
            <a:off x="4863965" y="3228945"/>
            <a:ext cx="1527982" cy="400110"/>
          </a:xfrm>
          <a:prstGeom prst="rect">
            <a:avLst/>
          </a:prstGeom>
          <a:noFill/>
        </p:spPr>
        <p:txBody>
          <a:bodyPr wrap="none" rtlCol="0">
            <a:spAutoFit/>
          </a:bodyPr>
          <a:lstStyle/>
          <a:p>
            <a:r>
              <a:rPr lang="en-US" altLang="zh-CN" sz="2000" dirty="0">
                <a:solidFill>
                  <a:srgbClr val="C00000"/>
                </a:solidFill>
                <a:latin typeface="微软雅黑" panose="020B0503020204020204" pitchFamily="34" charset="-122"/>
                <a:ea typeface="微软雅黑" panose="020B0503020204020204" pitchFamily="34" charset="-122"/>
              </a:rPr>
              <a:t>R4</a:t>
            </a:r>
            <a:r>
              <a:rPr lang="zh-CN" altLang="en-US" sz="2000" dirty="0">
                <a:solidFill>
                  <a:srgbClr val="C00000"/>
                </a:solidFill>
                <a:latin typeface="微软雅黑" panose="020B0503020204020204" pitchFamily="34" charset="-122"/>
                <a:ea typeface="微软雅黑" panose="020B0503020204020204" pitchFamily="34" charset="-122"/>
              </a:rPr>
              <a:t>的层次表</a:t>
            </a:r>
          </a:p>
        </p:txBody>
      </p:sp>
      <p:graphicFrame>
        <p:nvGraphicFramePr>
          <p:cNvPr id="78" name="表格 77">
            <a:extLst>
              <a:ext uri="{FF2B5EF4-FFF2-40B4-BE49-F238E27FC236}">
                <a16:creationId xmlns:a16="http://schemas.microsoft.com/office/drawing/2014/main" id="{A2A39912-A1D7-45FB-AE3C-C7BD180AFA3D}"/>
              </a:ext>
            </a:extLst>
          </p:cNvPr>
          <p:cNvGraphicFramePr>
            <a:graphicFrameLocks noGrp="1"/>
          </p:cNvGraphicFramePr>
          <p:nvPr/>
        </p:nvGraphicFramePr>
        <p:xfrm>
          <a:off x="1191545" y="2556849"/>
          <a:ext cx="2072368" cy="3566160"/>
        </p:xfrm>
        <a:graphic>
          <a:graphicData uri="http://schemas.openxmlformats.org/drawingml/2006/table">
            <a:tbl>
              <a:tblPr firstRow="1" bandRow="1">
                <a:tableStyleId>{5C22544A-7EE6-4342-B048-85BDC9FD1C3A}</a:tableStyleId>
              </a:tblPr>
              <a:tblGrid>
                <a:gridCol w="1036184">
                  <a:extLst>
                    <a:ext uri="{9D8B030D-6E8A-4147-A177-3AD203B41FA5}">
                      <a16:colId xmlns:a16="http://schemas.microsoft.com/office/drawing/2014/main" val="900945486"/>
                    </a:ext>
                  </a:extLst>
                </a:gridCol>
                <a:gridCol w="1036184">
                  <a:extLst>
                    <a:ext uri="{9D8B030D-6E8A-4147-A177-3AD203B41FA5}">
                      <a16:colId xmlns:a16="http://schemas.microsoft.com/office/drawing/2014/main" val="2179439050"/>
                    </a:ext>
                  </a:extLst>
                </a:gridCol>
              </a:tblGrid>
              <a:tr h="259891">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extLst>
                  <a:ext uri="{0D108BD9-81ED-4DB2-BD59-A6C34878D82A}">
                    <a16:rowId xmlns:a16="http://schemas.microsoft.com/office/drawing/2014/main" val="1912889480"/>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8380967"/>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23619522"/>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N3</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4329233"/>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N4</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79415169"/>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N5</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7630344"/>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N6</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14574204"/>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N7</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221641"/>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N8</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3416028"/>
                  </a:ext>
                </a:extLst>
              </a:tr>
            </a:tbl>
          </a:graphicData>
        </a:graphic>
      </p:graphicFrame>
      <p:sp>
        <p:nvSpPr>
          <p:cNvPr id="79" name="文本框 78">
            <a:extLst>
              <a:ext uri="{FF2B5EF4-FFF2-40B4-BE49-F238E27FC236}">
                <a16:creationId xmlns:a16="http://schemas.microsoft.com/office/drawing/2014/main" id="{B197A831-9515-42F5-B2EC-E72EC35359F0}"/>
              </a:ext>
            </a:extLst>
          </p:cNvPr>
          <p:cNvSpPr txBox="1"/>
          <p:nvPr/>
        </p:nvSpPr>
        <p:spPr>
          <a:xfrm>
            <a:off x="981234" y="1742584"/>
            <a:ext cx="2492990" cy="707886"/>
          </a:xfrm>
          <a:prstGeom prst="rect">
            <a:avLst/>
          </a:prstGeom>
          <a:noFill/>
        </p:spPr>
        <p:txBody>
          <a:bodyPr wrap="none" rtlCol="0">
            <a:spAutoFit/>
          </a:bodyPr>
          <a:lstStyle/>
          <a:p>
            <a:pPr algn="ctr"/>
            <a:r>
              <a:rPr lang="zh-CN" altLang="en-US" sz="2000" dirty="0">
                <a:solidFill>
                  <a:srgbClr val="C00000"/>
                </a:solidFill>
                <a:latin typeface="微软雅黑" panose="020B0503020204020204" pitchFamily="34" charset="-122"/>
                <a:ea typeface="微软雅黑" panose="020B0503020204020204" pitchFamily="34" charset="-122"/>
              </a:rPr>
              <a:t>路由不分层的情况下</a:t>
            </a:r>
            <a:endParaRPr lang="en-US" altLang="zh-CN" sz="2000" dirty="0">
              <a:solidFill>
                <a:srgbClr val="C00000"/>
              </a:solidFill>
              <a:latin typeface="微软雅黑" panose="020B0503020204020204" pitchFamily="34" charset="-122"/>
              <a:ea typeface="微软雅黑" panose="020B0503020204020204" pitchFamily="34" charset="-122"/>
            </a:endParaRPr>
          </a:p>
          <a:p>
            <a:pPr algn="ctr"/>
            <a:r>
              <a:rPr lang="en-US" altLang="zh-CN" sz="2000" dirty="0">
                <a:solidFill>
                  <a:srgbClr val="C00000"/>
                </a:solidFill>
                <a:latin typeface="微软雅黑" panose="020B0503020204020204" pitchFamily="34" charset="-122"/>
                <a:ea typeface="微软雅黑" panose="020B0503020204020204" pitchFamily="34" charset="-122"/>
              </a:rPr>
              <a:t>R4</a:t>
            </a:r>
            <a:r>
              <a:rPr lang="zh-CN" altLang="en-US" sz="2000" dirty="0">
                <a:solidFill>
                  <a:srgbClr val="C00000"/>
                </a:solidFill>
                <a:latin typeface="微软雅黑" panose="020B0503020204020204" pitchFamily="34" charset="-122"/>
                <a:ea typeface="微软雅黑" panose="020B0503020204020204" pitchFamily="34" charset="-122"/>
              </a:rPr>
              <a:t>的路由表</a:t>
            </a:r>
          </a:p>
        </p:txBody>
      </p:sp>
      <p:cxnSp>
        <p:nvCxnSpPr>
          <p:cNvPr id="85" name="直接连接符 84">
            <a:extLst>
              <a:ext uri="{FF2B5EF4-FFF2-40B4-BE49-F238E27FC236}">
                <a16:creationId xmlns:a16="http://schemas.microsoft.com/office/drawing/2014/main" id="{36E4FA73-296F-4FCC-A564-3B57DFAC39FF}"/>
              </a:ext>
            </a:extLst>
          </p:cNvPr>
          <p:cNvCxnSpPr>
            <a:cxnSpLocks/>
          </p:cNvCxnSpPr>
          <p:nvPr/>
        </p:nvCxnSpPr>
        <p:spPr>
          <a:xfrm flipV="1">
            <a:off x="9585609" y="5257560"/>
            <a:ext cx="806225" cy="3499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87" name="直接连接符 86">
            <a:extLst>
              <a:ext uri="{FF2B5EF4-FFF2-40B4-BE49-F238E27FC236}">
                <a16:creationId xmlns:a16="http://schemas.microsoft.com/office/drawing/2014/main" id="{E02745AF-A645-46E2-8E6E-7283804F9DDA}"/>
              </a:ext>
            </a:extLst>
          </p:cNvPr>
          <p:cNvCxnSpPr>
            <a:cxnSpLocks/>
          </p:cNvCxnSpPr>
          <p:nvPr/>
        </p:nvCxnSpPr>
        <p:spPr>
          <a:xfrm flipV="1">
            <a:off x="10033039" y="2260121"/>
            <a:ext cx="952802" cy="418577"/>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89" name="文本框 88">
            <a:extLst>
              <a:ext uri="{FF2B5EF4-FFF2-40B4-BE49-F238E27FC236}">
                <a16:creationId xmlns:a16="http://schemas.microsoft.com/office/drawing/2014/main" id="{505B9931-0B38-4959-B94A-772CB915EA52}"/>
              </a:ext>
            </a:extLst>
          </p:cNvPr>
          <p:cNvSpPr txBox="1"/>
          <p:nvPr/>
        </p:nvSpPr>
        <p:spPr>
          <a:xfrm>
            <a:off x="10824695" y="2364222"/>
            <a:ext cx="678086"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R6</a:t>
            </a:r>
            <a:endParaRPr lang="zh-CN" altLang="en-US" dirty="0">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id="{73822E21-2288-4F44-9510-4F3B51848484}"/>
              </a:ext>
            </a:extLst>
          </p:cNvPr>
          <p:cNvSpPr txBox="1"/>
          <p:nvPr/>
        </p:nvSpPr>
        <p:spPr>
          <a:xfrm>
            <a:off x="10418469" y="5354259"/>
            <a:ext cx="678086"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R9</a:t>
            </a:r>
            <a:endParaRPr lang="zh-CN" altLang="en-US" dirty="0">
              <a:latin typeface="微软雅黑" panose="020B0503020204020204" pitchFamily="34" charset="-122"/>
              <a:ea typeface="微软雅黑" panose="020B0503020204020204" pitchFamily="34" charset="-122"/>
            </a:endParaRPr>
          </a:p>
        </p:txBody>
      </p:sp>
      <p:pic>
        <p:nvPicPr>
          <p:cNvPr id="36" name="Picture 57" descr="通用路由器">
            <a:extLst>
              <a:ext uri="{FF2B5EF4-FFF2-40B4-BE49-F238E27FC236}">
                <a16:creationId xmlns:a16="http://schemas.microsoft.com/office/drawing/2014/main" id="{A118A1AA-E1CE-474F-BA06-86E85855A3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8460" y="2530775"/>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57" descr="通用路由器">
            <a:extLst>
              <a:ext uri="{FF2B5EF4-FFF2-40B4-BE49-F238E27FC236}">
                <a16:creationId xmlns:a16="http://schemas.microsoft.com/office/drawing/2014/main" id="{9C363818-A1CB-4AE5-B3C8-5C8C417847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97282" y="5020948"/>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57" descr="通用路由器">
            <a:extLst>
              <a:ext uri="{FF2B5EF4-FFF2-40B4-BE49-F238E27FC236}">
                <a16:creationId xmlns:a16="http://schemas.microsoft.com/office/drawing/2014/main" id="{9C363818-A1CB-4AE5-B3C8-5C8C417847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77256" y="4980444"/>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5" name="文本框 4">
            <a:extLst>
              <a:ext uri="{FF2B5EF4-FFF2-40B4-BE49-F238E27FC236}">
                <a16:creationId xmlns:a16="http://schemas.microsoft.com/office/drawing/2014/main" id="{4AB26043-C5A1-4603-9F87-A8B59E81BC90}"/>
              </a:ext>
            </a:extLst>
          </p:cNvPr>
          <p:cNvSpPr txBox="1"/>
          <p:nvPr/>
        </p:nvSpPr>
        <p:spPr>
          <a:xfrm>
            <a:off x="8924250" y="2275378"/>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N1</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53" name="文本框 52">
            <a:extLst>
              <a:ext uri="{FF2B5EF4-FFF2-40B4-BE49-F238E27FC236}">
                <a16:creationId xmlns:a16="http://schemas.microsoft.com/office/drawing/2014/main" id="{8B454146-66B1-4579-B06B-28921D32C6BE}"/>
              </a:ext>
            </a:extLst>
          </p:cNvPr>
          <p:cNvSpPr txBox="1"/>
          <p:nvPr/>
        </p:nvSpPr>
        <p:spPr>
          <a:xfrm>
            <a:off x="7448887" y="1944415"/>
            <a:ext cx="52290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N2</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54" name="文本框 53">
            <a:extLst>
              <a:ext uri="{FF2B5EF4-FFF2-40B4-BE49-F238E27FC236}">
                <a16:creationId xmlns:a16="http://schemas.microsoft.com/office/drawing/2014/main" id="{080A32B2-B135-4965-ADA9-8FAD8B05DE95}"/>
              </a:ext>
            </a:extLst>
          </p:cNvPr>
          <p:cNvSpPr txBox="1"/>
          <p:nvPr/>
        </p:nvSpPr>
        <p:spPr>
          <a:xfrm>
            <a:off x="10080848" y="2201343"/>
            <a:ext cx="506870" cy="369332"/>
          </a:xfrm>
          <a:prstGeom prst="rect">
            <a:avLst/>
          </a:prstGeom>
          <a:noFill/>
        </p:spPr>
        <p:txBody>
          <a:bodyPr wrap="square" rtlCol="0">
            <a:spAutoFit/>
          </a:bodyPr>
          <a:lstStyle>
            <a:defPPr>
              <a:defRPr lang="zh-CN"/>
            </a:defPPr>
            <a:lvl1pPr>
              <a:defRPr>
                <a:solidFill>
                  <a:srgbClr val="B348FF"/>
                </a:solidFill>
                <a:latin typeface="微软雅黑" panose="020B0503020204020204" pitchFamily="34" charset="-122"/>
                <a:ea typeface="微软雅黑" panose="020B0503020204020204" pitchFamily="34" charset="-122"/>
              </a:defRPr>
            </a:lvl1pPr>
          </a:lstStyle>
          <a:p>
            <a:r>
              <a:rPr lang="en-US" altLang="zh-CN" dirty="0"/>
              <a:t>N4</a:t>
            </a:r>
            <a:endParaRPr lang="zh-CN" altLang="en-US" dirty="0"/>
          </a:p>
        </p:txBody>
      </p:sp>
      <p:sp>
        <p:nvSpPr>
          <p:cNvPr id="55" name="文本框 54">
            <a:extLst>
              <a:ext uri="{FF2B5EF4-FFF2-40B4-BE49-F238E27FC236}">
                <a16:creationId xmlns:a16="http://schemas.microsoft.com/office/drawing/2014/main" id="{50150E23-9DBF-472F-BC26-23826F9DB3FD}"/>
              </a:ext>
            </a:extLst>
          </p:cNvPr>
          <p:cNvSpPr txBox="1"/>
          <p:nvPr/>
        </p:nvSpPr>
        <p:spPr>
          <a:xfrm>
            <a:off x="10094495" y="3171262"/>
            <a:ext cx="506870" cy="369332"/>
          </a:xfrm>
          <a:prstGeom prst="rect">
            <a:avLst/>
          </a:prstGeom>
          <a:noFill/>
        </p:spPr>
        <p:txBody>
          <a:bodyPr wrap="square" rtlCol="0">
            <a:spAutoFit/>
          </a:bodyPr>
          <a:lstStyle>
            <a:defPPr>
              <a:defRPr lang="zh-CN"/>
            </a:defPPr>
            <a:lvl1pPr>
              <a:defRPr>
                <a:solidFill>
                  <a:srgbClr val="B348FF"/>
                </a:solidFill>
                <a:latin typeface="微软雅黑" panose="020B0503020204020204" pitchFamily="34" charset="-122"/>
                <a:ea typeface="微软雅黑" panose="020B0503020204020204" pitchFamily="34" charset="-122"/>
              </a:defRPr>
            </a:lvl1pPr>
          </a:lstStyle>
          <a:p>
            <a:r>
              <a:rPr lang="en-US" altLang="zh-CN" dirty="0"/>
              <a:t>N5</a:t>
            </a:r>
            <a:endParaRPr lang="zh-CN" altLang="en-US" dirty="0"/>
          </a:p>
        </p:txBody>
      </p:sp>
      <p:sp>
        <p:nvSpPr>
          <p:cNvPr id="57" name="文本框 56">
            <a:extLst>
              <a:ext uri="{FF2B5EF4-FFF2-40B4-BE49-F238E27FC236}">
                <a16:creationId xmlns:a16="http://schemas.microsoft.com/office/drawing/2014/main" id="{7B4FF826-047D-4063-9E9F-1ED8E50A4468}"/>
              </a:ext>
            </a:extLst>
          </p:cNvPr>
          <p:cNvSpPr txBox="1"/>
          <p:nvPr/>
        </p:nvSpPr>
        <p:spPr>
          <a:xfrm>
            <a:off x="10543326" y="3988108"/>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N6</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67" name="文本框 66">
            <a:extLst>
              <a:ext uri="{FF2B5EF4-FFF2-40B4-BE49-F238E27FC236}">
                <a16:creationId xmlns:a16="http://schemas.microsoft.com/office/drawing/2014/main" id="{D2D9B5AC-97D1-422D-9112-60FF7AF35B78}"/>
              </a:ext>
            </a:extLst>
          </p:cNvPr>
          <p:cNvSpPr txBox="1"/>
          <p:nvPr/>
        </p:nvSpPr>
        <p:spPr>
          <a:xfrm>
            <a:off x="6593493" y="2433626"/>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N3</a:t>
            </a:r>
            <a:endParaRPr lang="zh-CN" altLang="en-US" dirty="0">
              <a:solidFill>
                <a:srgbClr val="B348FF"/>
              </a:solidFill>
              <a:latin typeface="微软雅黑" panose="020B0503020204020204" pitchFamily="34" charset="-122"/>
              <a:ea typeface="微软雅黑" panose="020B0503020204020204" pitchFamily="34" charset="-122"/>
            </a:endParaRPr>
          </a:p>
        </p:txBody>
      </p:sp>
      <p:cxnSp>
        <p:nvCxnSpPr>
          <p:cNvPr id="68" name="直接连接符 67">
            <a:extLst>
              <a:ext uri="{FF2B5EF4-FFF2-40B4-BE49-F238E27FC236}">
                <a16:creationId xmlns:a16="http://schemas.microsoft.com/office/drawing/2014/main" id="{442C846E-F78C-4B5B-BF3F-4485F7D422B4}"/>
              </a:ext>
            </a:extLst>
          </p:cNvPr>
          <p:cNvCxnSpPr>
            <a:cxnSpLocks/>
          </p:cNvCxnSpPr>
          <p:nvPr/>
        </p:nvCxnSpPr>
        <p:spPr>
          <a:xfrm flipV="1">
            <a:off x="6854649" y="2109109"/>
            <a:ext cx="98388" cy="358862"/>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2" name="Picture 57" descr="通用路由器">
            <a:extLst>
              <a:ext uri="{FF2B5EF4-FFF2-40B4-BE49-F238E27FC236}">
                <a16:creationId xmlns:a16="http://schemas.microsoft.com/office/drawing/2014/main" id="{0C6D8C20-7695-4257-8A9A-212CA0B35A9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58535" y="1897534"/>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57" descr="通用路由器">
            <a:extLst>
              <a:ext uri="{FF2B5EF4-FFF2-40B4-BE49-F238E27FC236}">
                <a16:creationId xmlns:a16="http://schemas.microsoft.com/office/drawing/2014/main" id="{DA72A45E-8296-4C42-858C-F305EA132C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8207" y="3263787"/>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57" descr="通用路由器">
            <a:extLst>
              <a:ext uri="{FF2B5EF4-FFF2-40B4-BE49-F238E27FC236}">
                <a16:creationId xmlns:a16="http://schemas.microsoft.com/office/drawing/2014/main" id="{FE51900C-6D0D-4BEF-944B-122FD84287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55529" y="2010231"/>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76" name="文本框 75">
            <a:extLst>
              <a:ext uri="{FF2B5EF4-FFF2-40B4-BE49-F238E27FC236}">
                <a16:creationId xmlns:a16="http://schemas.microsoft.com/office/drawing/2014/main" id="{17D3A325-9801-4238-9A48-48F67F086644}"/>
              </a:ext>
            </a:extLst>
          </p:cNvPr>
          <p:cNvSpPr txBox="1"/>
          <p:nvPr/>
        </p:nvSpPr>
        <p:spPr>
          <a:xfrm>
            <a:off x="9336065" y="4623560"/>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N7</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77" name="文本框 76">
            <a:extLst>
              <a:ext uri="{FF2B5EF4-FFF2-40B4-BE49-F238E27FC236}">
                <a16:creationId xmlns:a16="http://schemas.microsoft.com/office/drawing/2014/main" id="{BFA42311-3B48-4DB4-AACF-2BD5578F9EF1}"/>
              </a:ext>
            </a:extLst>
          </p:cNvPr>
          <p:cNvSpPr txBox="1"/>
          <p:nvPr/>
        </p:nvSpPr>
        <p:spPr>
          <a:xfrm>
            <a:off x="9786816" y="5266629"/>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N8</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60" name="日期占位符 4">
            <a:extLst>
              <a:ext uri="{FF2B5EF4-FFF2-40B4-BE49-F238E27FC236}">
                <a16:creationId xmlns:a16="http://schemas.microsoft.com/office/drawing/2014/main"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5.2.5 </a:t>
            </a:r>
            <a:r>
              <a:rPr kumimoji="1" lang="zh-CN" altLang="en-US" dirty="0"/>
              <a:t>层次路由</a:t>
            </a:r>
          </a:p>
        </p:txBody>
      </p:sp>
      <p:pic>
        <p:nvPicPr>
          <p:cNvPr id="66" name="Picture 28" descr="015">
            <a:extLst>
              <a:ext uri="{FF2B5EF4-FFF2-40B4-BE49-F238E27FC236}">
                <a16:creationId xmlns:a16="http://schemas.microsoft.com/office/drawing/2014/main" id="{93598CF0-DA9E-4E59-8E6A-E90017D90D2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25792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blinds(horizontal)">
                                      <p:cBhvr>
                                        <p:cTn id="7" dur="500"/>
                                        <p:tgtEl>
                                          <p:spTgt spid="79"/>
                                        </p:tgtEl>
                                      </p:cBhvr>
                                    </p:animEffect>
                                  </p:childTnLst>
                                </p:cTn>
                              </p:par>
                              <p:par>
                                <p:cTn id="8" presetID="3" presetClass="entr" presetSubtype="10" fill="hold" nodeType="withEffect">
                                  <p:stCondLst>
                                    <p:cond delay="0"/>
                                  </p:stCondLst>
                                  <p:childTnLst>
                                    <p:set>
                                      <p:cBhvr>
                                        <p:cTn id="9" dur="1" fill="hold">
                                          <p:stCondLst>
                                            <p:cond delay="0"/>
                                          </p:stCondLst>
                                        </p:cTn>
                                        <p:tgtEl>
                                          <p:spTgt spid="78"/>
                                        </p:tgtEl>
                                        <p:attrNameLst>
                                          <p:attrName>style.visibility</p:attrName>
                                        </p:attrNameLst>
                                      </p:cBhvr>
                                      <p:to>
                                        <p:strVal val="visible"/>
                                      </p:to>
                                    </p:set>
                                    <p:animEffect transition="in" filter="blinds(horizontal)">
                                      <p:cBhvr>
                                        <p:cTn id="10" dur="500"/>
                                        <p:tgtEl>
                                          <p:spTgt spid="7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69"/>
                                        </p:tgtEl>
                                        <p:attrNameLst>
                                          <p:attrName>style.visibility</p:attrName>
                                        </p:attrNameLst>
                                      </p:cBhvr>
                                      <p:to>
                                        <p:strVal val="visible"/>
                                      </p:to>
                                    </p:set>
                                    <p:animEffect transition="in" filter="blinds(horizontal)">
                                      <p:cBhvr>
                                        <p:cTn id="20" dur="500"/>
                                        <p:tgtEl>
                                          <p:spTgt spid="69"/>
                                        </p:tgtEl>
                                      </p:cBhvr>
                                    </p:animEffect>
                                  </p:childTnLst>
                                </p:cTn>
                              </p:par>
                              <p:par>
                                <p:cTn id="21" presetID="3" presetClass="entr" presetSubtype="10"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linds(horizontal)">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200" y="1510758"/>
            <a:ext cx="5102814" cy="4586694"/>
          </a:xfrm>
        </p:spPr>
        <p:txBody>
          <a:bodyPr>
            <a:normAutofit/>
          </a:bodyPr>
          <a:lstStyle/>
          <a:p>
            <a:pPr algn="just">
              <a:lnSpc>
                <a:spcPct val="130000"/>
              </a:lnSpc>
            </a:pPr>
            <a:r>
              <a:rPr lang="zh-CN" altLang="en-US" dirty="0">
                <a:solidFill>
                  <a:srgbClr val="C00000"/>
                </a:solidFill>
              </a:rPr>
              <a:t>广播</a:t>
            </a:r>
            <a:r>
              <a:rPr lang="zh-CN" altLang="en-US" dirty="0"/>
              <a:t>（</a:t>
            </a:r>
            <a:r>
              <a:rPr lang="en-US" altLang="zh-CN" dirty="0"/>
              <a:t>Broadcasting</a:t>
            </a:r>
            <a:r>
              <a:rPr lang="zh-CN" altLang="en-US" dirty="0"/>
              <a:t>）：源主机同时给全部目标地址发送同一个数据包</a:t>
            </a:r>
            <a:endParaRPr lang="en-US" altLang="zh-CN" dirty="0"/>
          </a:p>
          <a:p>
            <a:pPr algn="just">
              <a:lnSpc>
                <a:spcPct val="130000"/>
              </a:lnSpc>
            </a:pPr>
            <a:r>
              <a:rPr lang="zh-CN" altLang="en-US" dirty="0"/>
              <a:t>例：服务器希望将视频广播给</a:t>
            </a:r>
            <a:r>
              <a:rPr lang="en-US" altLang="zh-CN" dirty="0"/>
              <a:t>3</a:t>
            </a:r>
            <a:r>
              <a:rPr lang="zh-CN" altLang="en-US" dirty="0"/>
              <a:t>个网络中的所有</a:t>
            </a:r>
            <a:r>
              <a:rPr lang="en-US" altLang="zh-CN" dirty="0"/>
              <a:t>30</a:t>
            </a:r>
            <a:r>
              <a:rPr lang="zh-CN" altLang="en-US" dirty="0"/>
              <a:t>个用户，有哪些办法？</a:t>
            </a:r>
          </a:p>
        </p:txBody>
      </p:sp>
      <p:sp>
        <p:nvSpPr>
          <p:cNvPr id="4" name="灯片编号占位符 3">
            <a:extLst>
              <a:ext uri="{FF2B5EF4-FFF2-40B4-BE49-F238E27FC236}">
                <a16:creationId xmlns:a16="http://schemas.microsoft.com/office/drawing/2014/main" id="{5333E3CD-6D81-4590-83BA-7C0E1B65D491}"/>
              </a:ext>
            </a:extLst>
          </p:cNvPr>
          <p:cNvSpPr>
            <a:spLocks noGrp="1"/>
          </p:cNvSpPr>
          <p:nvPr>
            <p:ph type="sldNum" sz="quarter" idx="12"/>
          </p:nvPr>
        </p:nvSpPr>
        <p:spPr/>
        <p:txBody>
          <a:bodyPr/>
          <a:lstStyle/>
          <a:p>
            <a:fld id="{8D4D1E41-7A09-AB4A-A4E1-09765ADA2698}" type="slidenum">
              <a:rPr kumimoji="1" lang="zh-CN" altLang="en-US" smtClean="0"/>
              <a:pPr/>
              <a:t>54</a:t>
            </a:fld>
            <a:endParaRPr kumimoji="1" lang="zh-CN" altLang="en-US" dirty="0"/>
          </a:p>
        </p:txBody>
      </p:sp>
      <p:grpSp>
        <p:nvGrpSpPr>
          <p:cNvPr id="36" name="组合 35">
            <a:extLst>
              <a:ext uri="{FF2B5EF4-FFF2-40B4-BE49-F238E27FC236}">
                <a16:creationId xmlns:a16="http://schemas.microsoft.com/office/drawing/2014/main" id="{9CBC7568-AC66-4D75-9CE7-9B28CDD1FB71}"/>
              </a:ext>
            </a:extLst>
          </p:cNvPr>
          <p:cNvGrpSpPr/>
          <p:nvPr/>
        </p:nvGrpSpPr>
        <p:grpSpPr>
          <a:xfrm>
            <a:off x="6035644" y="1757977"/>
            <a:ext cx="5878503" cy="4076394"/>
            <a:chOff x="5139984" y="1392852"/>
            <a:chExt cx="6699293" cy="4704600"/>
          </a:xfrm>
        </p:grpSpPr>
        <p:pic>
          <p:nvPicPr>
            <p:cNvPr id="37" name="Picture 14">
              <a:extLst>
                <a:ext uri="{FF2B5EF4-FFF2-40B4-BE49-F238E27FC236}">
                  <a16:creationId xmlns:a16="http://schemas.microsoft.com/office/drawing/2014/main" id="{037742D9-3A22-46FD-B8CA-45E10D86CA3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8" name="Picture 14">
              <a:extLst>
                <a:ext uri="{FF2B5EF4-FFF2-40B4-BE49-F238E27FC236}">
                  <a16:creationId xmlns:a16="http://schemas.microsoft.com/office/drawing/2014/main" id="{C344635F-EC3F-482D-95EE-373F14AB678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14">
              <a:extLst>
                <a:ext uri="{FF2B5EF4-FFF2-40B4-BE49-F238E27FC236}">
                  <a16:creationId xmlns:a16="http://schemas.microsoft.com/office/drawing/2014/main" id="{259FABF1-6E86-4FF5-B448-EC05062CEF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40" name="直接连接符 39">
              <a:extLst>
                <a:ext uri="{FF2B5EF4-FFF2-40B4-BE49-F238E27FC236}">
                  <a16:creationId xmlns:a16="http://schemas.microsoft.com/office/drawing/2014/main" id="{831667A2-A3B9-4952-A3A4-45B82FF1ECDB}"/>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41" name="直接连接符 40">
              <a:extLst>
                <a:ext uri="{FF2B5EF4-FFF2-40B4-BE49-F238E27FC236}">
                  <a16:creationId xmlns:a16="http://schemas.microsoft.com/office/drawing/2014/main" id="{6F623E7B-013F-4928-97E3-2F1DB80FBF1B}"/>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42" name="直接连接符 41">
              <a:extLst>
                <a:ext uri="{FF2B5EF4-FFF2-40B4-BE49-F238E27FC236}">
                  <a16:creationId xmlns:a16="http://schemas.microsoft.com/office/drawing/2014/main" id="{C70F9F26-CAEE-4D70-899E-42A3D71DC2B6}"/>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43" name="直接连接符 42">
              <a:extLst>
                <a:ext uri="{FF2B5EF4-FFF2-40B4-BE49-F238E27FC236}">
                  <a16:creationId xmlns:a16="http://schemas.microsoft.com/office/drawing/2014/main" id="{0C092419-362D-4034-8A3A-1D4E0423FFFB}"/>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44" name="Picture 57" descr="通用路由器">
              <a:extLst>
                <a:ext uri="{FF2B5EF4-FFF2-40B4-BE49-F238E27FC236}">
                  <a16:creationId xmlns:a16="http://schemas.microsoft.com/office/drawing/2014/main" id="{826948D9-5F4A-4324-9647-C85D4716BA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57" descr="通用路由器">
              <a:extLst>
                <a:ext uri="{FF2B5EF4-FFF2-40B4-BE49-F238E27FC236}">
                  <a16:creationId xmlns:a16="http://schemas.microsoft.com/office/drawing/2014/main" id="{26E68221-1976-4954-91EF-835709C501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57" descr="通用路由器">
              <a:extLst>
                <a:ext uri="{FF2B5EF4-FFF2-40B4-BE49-F238E27FC236}">
                  <a16:creationId xmlns:a16="http://schemas.microsoft.com/office/drawing/2014/main" id="{5A47A139-11D7-422C-A14C-DED3C79B1D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57" descr="通用路由器">
              <a:extLst>
                <a:ext uri="{FF2B5EF4-FFF2-40B4-BE49-F238E27FC236}">
                  <a16:creationId xmlns:a16="http://schemas.microsoft.com/office/drawing/2014/main" id="{FD3BF061-5C5B-4884-9924-0C457FA8E0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9" descr="服务器终端">
              <a:extLst>
                <a:ext uri="{FF2B5EF4-FFF2-40B4-BE49-F238E27FC236}">
                  <a16:creationId xmlns:a16="http://schemas.microsoft.com/office/drawing/2014/main" id="{1389846A-475C-4F34-A97D-C195024025C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9" descr="服务器终端">
              <a:extLst>
                <a:ext uri="{FF2B5EF4-FFF2-40B4-BE49-F238E27FC236}">
                  <a16:creationId xmlns:a16="http://schemas.microsoft.com/office/drawing/2014/main" id="{A119A745-2872-4575-B302-A55DD34ABB4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9" descr="服务器终端">
              <a:extLst>
                <a:ext uri="{FF2B5EF4-FFF2-40B4-BE49-F238E27FC236}">
                  <a16:creationId xmlns:a16="http://schemas.microsoft.com/office/drawing/2014/main" id="{AB854992-6B3B-4D73-B773-A48D03D8539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9" descr="服务器终端">
              <a:extLst>
                <a:ext uri="{FF2B5EF4-FFF2-40B4-BE49-F238E27FC236}">
                  <a16:creationId xmlns:a16="http://schemas.microsoft.com/office/drawing/2014/main" id="{AAAEC54C-AE79-41BB-B341-39F1EDD934B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9" descr="服务器终端">
              <a:extLst>
                <a:ext uri="{FF2B5EF4-FFF2-40B4-BE49-F238E27FC236}">
                  <a16:creationId xmlns:a16="http://schemas.microsoft.com/office/drawing/2014/main" id="{64542A55-56D8-4C09-A616-48A602CD93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9" descr="服务器终端">
              <a:extLst>
                <a:ext uri="{FF2B5EF4-FFF2-40B4-BE49-F238E27FC236}">
                  <a16:creationId xmlns:a16="http://schemas.microsoft.com/office/drawing/2014/main" id="{A76E5D02-F47D-4BF1-8CD3-3AD435521B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25" descr="服务器类">
              <a:extLst>
                <a:ext uri="{FF2B5EF4-FFF2-40B4-BE49-F238E27FC236}">
                  <a16:creationId xmlns:a16="http://schemas.microsoft.com/office/drawing/2014/main" id="{50F1B786-C408-4325-BA07-D00AFEB4558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55" name="文本框 54">
              <a:extLst>
                <a:ext uri="{FF2B5EF4-FFF2-40B4-BE49-F238E27FC236}">
                  <a16:creationId xmlns:a16="http://schemas.microsoft.com/office/drawing/2014/main" id="{417C0CB3-6DD3-4CCC-B48C-FCAD740EC20E}"/>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56" name="文本框 55">
              <a:extLst>
                <a:ext uri="{FF2B5EF4-FFF2-40B4-BE49-F238E27FC236}">
                  <a16:creationId xmlns:a16="http://schemas.microsoft.com/office/drawing/2014/main" id="{9EFB2DD8-C79C-475B-972D-089D1B96DA35}"/>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57" name="文本框 56">
              <a:extLst>
                <a:ext uri="{FF2B5EF4-FFF2-40B4-BE49-F238E27FC236}">
                  <a16:creationId xmlns:a16="http://schemas.microsoft.com/office/drawing/2014/main" id="{C360599F-BE3A-46A1-8256-6044F8152452}"/>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58" name="文本框 57">
              <a:extLst>
                <a:ext uri="{FF2B5EF4-FFF2-40B4-BE49-F238E27FC236}">
                  <a16:creationId xmlns:a16="http://schemas.microsoft.com/office/drawing/2014/main" id="{2348602A-9B72-4756-8F45-718E63ACEFF7}"/>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59" name="文本框 58">
              <a:extLst>
                <a:ext uri="{FF2B5EF4-FFF2-40B4-BE49-F238E27FC236}">
                  <a16:creationId xmlns:a16="http://schemas.microsoft.com/office/drawing/2014/main" id="{8DCCD04C-FE8A-402B-9612-5F883B067FBD}"/>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60" name="文本框 59">
              <a:extLst>
                <a:ext uri="{FF2B5EF4-FFF2-40B4-BE49-F238E27FC236}">
                  <a16:creationId xmlns:a16="http://schemas.microsoft.com/office/drawing/2014/main" id="{CC6CEEC7-E91A-464A-B554-A9F0977509DA}"/>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61" name="文本框 60">
              <a:extLst>
                <a:ext uri="{FF2B5EF4-FFF2-40B4-BE49-F238E27FC236}">
                  <a16:creationId xmlns:a16="http://schemas.microsoft.com/office/drawing/2014/main" id="{E1172CFE-2FD6-484A-B8D4-B3B23E02E246}"/>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62" name="文本框 61">
              <a:extLst>
                <a:ext uri="{FF2B5EF4-FFF2-40B4-BE49-F238E27FC236}">
                  <a16:creationId xmlns:a16="http://schemas.microsoft.com/office/drawing/2014/main" id="{EE974CD7-A7A0-4D7D-9395-0BFBA96DBBD6}"/>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sp>
        <p:nvSpPr>
          <p:cNvPr id="32"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Tree>
    <p:extLst>
      <p:ext uri="{BB962C8B-B14F-4D97-AF65-F5344CB8AC3E}">
        <p14:creationId xmlns:p14="http://schemas.microsoft.com/office/powerpoint/2010/main" val="411923851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200" y="1510758"/>
            <a:ext cx="5062104" cy="4982116"/>
          </a:xfrm>
        </p:spPr>
        <p:txBody>
          <a:bodyPr>
            <a:normAutofit/>
          </a:bodyPr>
          <a:lstStyle/>
          <a:p>
            <a:pPr>
              <a:lnSpc>
                <a:spcPct val="110000"/>
              </a:lnSpc>
            </a:pPr>
            <a:r>
              <a:rPr lang="zh-CN" altLang="en-US" sz="2400" dirty="0"/>
              <a:t>方法</a:t>
            </a:r>
            <a:r>
              <a:rPr lang="en-US" altLang="zh-CN" sz="2400" dirty="0"/>
              <a:t>1</a:t>
            </a:r>
            <a:r>
              <a:rPr lang="zh-CN" altLang="en-US" sz="2400" dirty="0"/>
              <a:t>：给每个主机单独发送一个数据包</a:t>
            </a:r>
            <a:endParaRPr lang="en-US" altLang="zh-CN" sz="2400" dirty="0"/>
          </a:p>
          <a:p>
            <a:pPr lvl="1">
              <a:lnSpc>
                <a:spcPct val="110000"/>
              </a:lnSpc>
            </a:pPr>
            <a:r>
              <a:rPr lang="zh-CN" altLang="en-US" sz="2000" dirty="0"/>
              <a:t>效率低、浪费带宽</a:t>
            </a:r>
            <a:endParaRPr lang="en-US" altLang="zh-CN" sz="2000" dirty="0"/>
          </a:p>
          <a:p>
            <a:pPr lvl="1">
              <a:lnSpc>
                <a:spcPct val="110000"/>
              </a:lnSpc>
            </a:pPr>
            <a:r>
              <a:rPr lang="en-US" altLang="zh-CN" sz="2000" dirty="0"/>
              <a:t>Server</a:t>
            </a:r>
            <a:r>
              <a:rPr lang="zh-CN" altLang="en-US" sz="2000" dirty="0"/>
              <a:t>需要知道每个目的地址</a:t>
            </a:r>
            <a:endParaRPr lang="en-US" altLang="zh-CN" sz="2000" dirty="0"/>
          </a:p>
          <a:p>
            <a:pPr>
              <a:lnSpc>
                <a:spcPct val="110000"/>
              </a:lnSpc>
            </a:pPr>
            <a:r>
              <a:rPr lang="zh-CN" altLang="en-US" sz="2400" dirty="0"/>
              <a:t>方法</a:t>
            </a:r>
            <a:r>
              <a:rPr lang="en-US" altLang="zh-CN" sz="2400" dirty="0"/>
              <a:t>2</a:t>
            </a:r>
            <a:r>
              <a:rPr lang="zh-CN" altLang="en-US" sz="2400" dirty="0"/>
              <a:t>：多目标路由（</a:t>
            </a:r>
            <a:r>
              <a:rPr lang="en-US" altLang="zh-CN" sz="2400" dirty="0"/>
              <a:t>multi-destination routing</a:t>
            </a:r>
            <a:r>
              <a:rPr lang="zh-CN" altLang="en-US" sz="2400" dirty="0"/>
              <a:t>）</a:t>
            </a:r>
            <a:endParaRPr lang="en-US" altLang="zh-CN" sz="2400" dirty="0"/>
          </a:p>
          <a:p>
            <a:pPr lvl="1">
              <a:lnSpc>
                <a:spcPct val="110000"/>
              </a:lnSpc>
            </a:pPr>
            <a:r>
              <a:rPr lang="zh-CN" altLang="en-US" sz="2000" dirty="0"/>
              <a:t>在需要转发的路由器线路复制一次该数据报</a:t>
            </a:r>
            <a:endParaRPr lang="en-US" altLang="zh-CN" sz="2000" dirty="0"/>
          </a:p>
          <a:p>
            <a:pPr lvl="1">
              <a:lnSpc>
                <a:spcPct val="110000"/>
              </a:lnSpc>
            </a:pPr>
            <a:r>
              <a:rPr lang="zh-CN" altLang="en-US" sz="2000" dirty="0"/>
              <a:t>网络利用率高</a:t>
            </a:r>
            <a:endParaRPr lang="en-US" altLang="zh-CN" sz="2000" dirty="0"/>
          </a:p>
          <a:p>
            <a:pPr lvl="1">
              <a:lnSpc>
                <a:spcPct val="110000"/>
              </a:lnSpc>
            </a:pPr>
            <a:r>
              <a:rPr lang="en-US" altLang="zh-CN" sz="2000" dirty="0"/>
              <a:t>Server</a:t>
            </a:r>
            <a:r>
              <a:rPr lang="zh-CN" altLang="en-US" sz="2000" dirty="0"/>
              <a:t>依然需要知道所有的目的地址</a:t>
            </a:r>
          </a:p>
        </p:txBody>
      </p:sp>
      <p:grpSp>
        <p:nvGrpSpPr>
          <p:cNvPr id="34" name="组合 33">
            <a:extLst>
              <a:ext uri="{FF2B5EF4-FFF2-40B4-BE49-F238E27FC236}">
                <a16:creationId xmlns:a16="http://schemas.microsoft.com/office/drawing/2014/main" id="{AC5358B6-48DB-4A55-95AA-E5C85A5CE7E3}"/>
              </a:ext>
            </a:extLst>
          </p:cNvPr>
          <p:cNvGrpSpPr/>
          <p:nvPr/>
        </p:nvGrpSpPr>
        <p:grpSpPr>
          <a:xfrm>
            <a:off x="6035644" y="1757977"/>
            <a:ext cx="5878503" cy="4076394"/>
            <a:chOff x="5139984" y="1392852"/>
            <a:chExt cx="6699293" cy="4704600"/>
          </a:xfrm>
        </p:grpSpPr>
        <p:pic>
          <p:nvPicPr>
            <p:cNvPr id="10" name="Picture 14">
              <a:extLst>
                <a:ext uri="{FF2B5EF4-FFF2-40B4-BE49-F238E27FC236}">
                  <a16:creationId xmlns:a16="http://schemas.microsoft.com/office/drawing/2014/main" id="{E6545ACF-A5EC-471F-BA8A-A21993555D9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id="{F38FF4BA-EAC0-4BE2-B9B7-7283602DDD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id="{0FD6C0A8-583E-4755-97E3-E916937A3D0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4" name="直接连接符 13">
              <a:extLst>
                <a:ext uri="{FF2B5EF4-FFF2-40B4-BE49-F238E27FC236}">
                  <a16:creationId xmlns:a16="http://schemas.microsoft.com/office/drawing/2014/main" id="{4E3E0B86-D4CD-401F-B889-A0F286162E83}"/>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id="{1AB381EE-1DCD-498F-A26E-E76E0D8A2263}"/>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7" name="直接连接符 16">
              <a:extLst>
                <a:ext uri="{FF2B5EF4-FFF2-40B4-BE49-F238E27FC236}">
                  <a16:creationId xmlns:a16="http://schemas.microsoft.com/office/drawing/2014/main" id="{560F523E-A7F1-4645-B99E-32326E96D25C}"/>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8" name="直接连接符 17">
              <a:extLst>
                <a:ext uri="{FF2B5EF4-FFF2-40B4-BE49-F238E27FC236}">
                  <a16:creationId xmlns:a16="http://schemas.microsoft.com/office/drawing/2014/main" id="{34F836B0-1790-47ED-AB02-9FF9335C5DF2}"/>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5" name="Picture 57" descr="通用路由器">
              <a:extLst>
                <a:ext uri="{FF2B5EF4-FFF2-40B4-BE49-F238E27FC236}">
                  <a16:creationId xmlns:a16="http://schemas.microsoft.com/office/drawing/2014/main" id="{B1BE1F16-0664-4BC4-9883-7EFE12C3C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7" descr="通用路由器">
              <a:extLst>
                <a:ext uri="{FF2B5EF4-FFF2-40B4-BE49-F238E27FC236}">
                  <a16:creationId xmlns:a16="http://schemas.microsoft.com/office/drawing/2014/main" id="{3CF8D07C-4D85-4AD9-9494-5A39149E18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a:extLst>
                <a:ext uri="{FF2B5EF4-FFF2-40B4-BE49-F238E27FC236}">
                  <a16:creationId xmlns:a16="http://schemas.microsoft.com/office/drawing/2014/main" id="{B1BE1F16-0664-4BC4-9883-7EFE12C3C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a:extLst>
                <a:ext uri="{FF2B5EF4-FFF2-40B4-BE49-F238E27FC236}">
                  <a16:creationId xmlns:a16="http://schemas.microsoft.com/office/drawing/2014/main" id="{B1BE1F16-0664-4BC4-9883-7EFE12C3C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9" descr="服务器终端">
              <a:extLst>
                <a:ext uri="{FF2B5EF4-FFF2-40B4-BE49-F238E27FC236}">
                  <a16:creationId xmlns:a16="http://schemas.microsoft.com/office/drawing/2014/main" id="{96D82ECE-9E95-44BE-BB64-94C82FC482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id="{81C2B951-6AEE-441B-B5C2-DAF01D753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id="{431BBD0D-6EC1-4AC8-A302-799D9A792D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id="{08C1297A-69ED-4644-AFF4-745ED1BF82C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id="{20F332EE-AC13-4530-9A46-F8A635140A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id="{A834B96A-8D6C-47C9-9B80-4A8CB7043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5" descr="服务器类">
              <a:extLst>
                <a:ext uri="{FF2B5EF4-FFF2-40B4-BE49-F238E27FC236}">
                  <a16:creationId xmlns:a16="http://schemas.microsoft.com/office/drawing/2014/main" id="{DB2F4158-9AB5-4D89-8E00-9C65E3F55B9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26" name="文本框 25">
              <a:extLst>
                <a:ext uri="{FF2B5EF4-FFF2-40B4-BE49-F238E27FC236}">
                  <a16:creationId xmlns:a16="http://schemas.microsoft.com/office/drawing/2014/main" id="{DD88C6E0-9D94-4C1A-9712-CEF9BE398064}"/>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27" name="文本框 26">
              <a:extLst>
                <a:ext uri="{FF2B5EF4-FFF2-40B4-BE49-F238E27FC236}">
                  <a16:creationId xmlns:a16="http://schemas.microsoft.com/office/drawing/2014/main" id="{6B5A2549-2684-4238-9983-6DF5DF8D4325}"/>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28" name="文本框 27">
              <a:extLst>
                <a:ext uri="{FF2B5EF4-FFF2-40B4-BE49-F238E27FC236}">
                  <a16:creationId xmlns:a16="http://schemas.microsoft.com/office/drawing/2014/main" id="{98C8FED6-9AD9-424A-B617-ADFCCFD2E97F}"/>
                </a:ext>
              </a:extLst>
            </p:cNvPr>
            <p:cNvSpPr txBox="1"/>
            <p:nvPr/>
          </p:nvSpPr>
          <p:spPr>
            <a:xfrm>
              <a:off x="5928099" y="393491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id="{8293B46F-89DA-48C5-8BDD-A7281C68077F}"/>
                </a:ext>
              </a:extLst>
            </p:cNvPr>
            <p:cNvSpPr txBox="1"/>
            <p:nvPr/>
          </p:nvSpPr>
          <p:spPr>
            <a:xfrm>
              <a:off x="7777964" y="433675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id="{C96216BB-4A35-4643-9217-0A2D570FE783}"/>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id="{7BD3B445-8E36-4AF0-8F6E-DA7C2CB12493}"/>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id="{787108AF-665E-4E7F-BA6A-99D2E25AA204}"/>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3" name="文本框 32">
              <a:extLst>
                <a:ext uri="{FF2B5EF4-FFF2-40B4-BE49-F238E27FC236}">
                  <a16:creationId xmlns:a16="http://schemas.microsoft.com/office/drawing/2014/main" id="{5CEECB0C-1F2F-46DF-A165-FB2ECAE56F69}"/>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grpSp>
        <p:nvGrpSpPr>
          <p:cNvPr id="112" name="组合 111">
            <a:extLst>
              <a:ext uri="{FF2B5EF4-FFF2-40B4-BE49-F238E27FC236}">
                <a16:creationId xmlns:a16="http://schemas.microsoft.com/office/drawing/2014/main" id="{4C307FD7-41E7-44A3-82A6-82C024F125C9}"/>
              </a:ext>
            </a:extLst>
          </p:cNvPr>
          <p:cNvGrpSpPr/>
          <p:nvPr/>
        </p:nvGrpSpPr>
        <p:grpSpPr>
          <a:xfrm>
            <a:off x="9012873" y="2629668"/>
            <a:ext cx="1443635" cy="395664"/>
            <a:chOff x="8610600" y="2389811"/>
            <a:chExt cx="1645204" cy="456639"/>
          </a:xfrm>
        </p:grpSpPr>
        <p:grpSp>
          <p:nvGrpSpPr>
            <p:cNvPr id="35" name="组合 34">
              <a:extLst>
                <a:ext uri="{FF2B5EF4-FFF2-40B4-BE49-F238E27FC236}">
                  <a16:creationId xmlns:a16="http://schemas.microsoft.com/office/drawing/2014/main" id="{79F31149-9382-4B79-844A-91B51D9E0498}"/>
                </a:ext>
              </a:extLst>
            </p:cNvPr>
            <p:cNvGrpSpPr/>
            <p:nvPr/>
          </p:nvGrpSpPr>
          <p:grpSpPr>
            <a:xfrm>
              <a:off x="8849851" y="2389811"/>
              <a:ext cx="692244" cy="148640"/>
              <a:chOff x="8691239" y="2485944"/>
              <a:chExt cx="692244" cy="148640"/>
            </a:xfrm>
          </p:grpSpPr>
          <p:sp>
            <p:nvSpPr>
              <p:cNvPr id="13" name="矩形 12">
                <a:extLst>
                  <a:ext uri="{FF2B5EF4-FFF2-40B4-BE49-F238E27FC236}">
                    <a16:creationId xmlns:a16="http://schemas.microsoft.com/office/drawing/2014/main" id="{F629C9FB-A108-4C8D-9AEC-1D7C87F613D7}"/>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9" name="直接连接符 18">
                <a:extLst>
                  <a:ext uri="{FF2B5EF4-FFF2-40B4-BE49-F238E27FC236}">
                    <a16:creationId xmlns:a16="http://schemas.microsoft.com/office/drawing/2014/main" id="{38BD9ED3-A0E3-4DEF-A180-7AF167811832}"/>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36" name="组合 35">
              <a:extLst>
                <a:ext uri="{FF2B5EF4-FFF2-40B4-BE49-F238E27FC236}">
                  <a16:creationId xmlns:a16="http://schemas.microsoft.com/office/drawing/2014/main" id="{F4116624-D17F-4653-AB3C-B606AFD68C25}"/>
                </a:ext>
              </a:extLst>
            </p:cNvPr>
            <p:cNvGrpSpPr/>
            <p:nvPr/>
          </p:nvGrpSpPr>
          <p:grpSpPr>
            <a:xfrm>
              <a:off x="8803837" y="2444432"/>
              <a:ext cx="692244" cy="148640"/>
              <a:chOff x="8691239" y="2485944"/>
              <a:chExt cx="692244" cy="148640"/>
            </a:xfrm>
          </p:grpSpPr>
          <p:sp>
            <p:nvSpPr>
              <p:cNvPr id="37" name="矩形 36">
                <a:extLst>
                  <a:ext uri="{FF2B5EF4-FFF2-40B4-BE49-F238E27FC236}">
                    <a16:creationId xmlns:a16="http://schemas.microsoft.com/office/drawing/2014/main" id="{AEB9F23E-320B-427A-9021-0BF3300745F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8" name="直接连接符 37">
                <a:extLst>
                  <a:ext uri="{FF2B5EF4-FFF2-40B4-BE49-F238E27FC236}">
                    <a16:creationId xmlns:a16="http://schemas.microsoft.com/office/drawing/2014/main" id="{66CE8074-E4CA-4AA0-BB1F-907D1E0A35FC}"/>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39" name="组合 38">
              <a:extLst>
                <a:ext uri="{FF2B5EF4-FFF2-40B4-BE49-F238E27FC236}">
                  <a16:creationId xmlns:a16="http://schemas.microsoft.com/office/drawing/2014/main" id="{C79B8A33-38CE-4E0B-9EED-0F6076705D8F}"/>
                </a:ext>
              </a:extLst>
            </p:cNvPr>
            <p:cNvGrpSpPr/>
            <p:nvPr/>
          </p:nvGrpSpPr>
          <p:grpSpPr>
            <a:xfrm>
              <a:off x="8757823" y="2497755"/>
              <a:ext cx="692244" cy="148640"/>
              <a:chOff x="8691239" y="2485944"/>
              <a:chExt cx="692244" cy="148640"/>
            </a:xfrm>
          </p:grpSpPr>
          <p:sp>
            <p:nvSpPr>
              <p:cNvPr id="40" name="矩形 39">
                <a:extLst>
                  <a:ext uri="{FF2B5EF4-FFF2-40B4-BE49-F238E27FC236}">
                    <a16:creationId xmlns:a16="http://schemas.microsoft.com/office/drawing/2014/main" id="{60C77C49-82F3-4976-92BC-4DB8F605627F}"/>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1" name="直接连接符 40">
                <a:extLst>
                  <a:ext uri="{FF2B5EF4-FFF2-40B4-BE49-F238E27FC236}">
                    <a16:creationId xmlns:a16="http://schemas.microsoft.com/office/drawing/2014/main" id="{42DE291D-DDB7-4E7C-94AF-A99633DBBE6E}"/>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42" name="组合 41">
              <a:extLst>
                <a:ext uri="{FF2B5EF4-FFF2-40B4-BE49-F238E27FC236}">
                  <a16:creationId xmlns:a16="http://schemas.microsoft.com/office/drawing/2014/main" id="{55B9E637-1EE2-4D17-A5A8-762E11830EDE}"/>
                </a:ext>
              </a:extLst>
            </p:cNvPr>
            <p:cNvGrpSpPr/>
            <p:nvPr/>
          </p:nvGrpSpPr>
          <p:grpSpPr>
            <a:xfrm>
              <a:off x="8709201" y="2569019"/>
              <a:ext cx="692244" cy="148640"/>
              <a:chOff x="8691239" y="2485944"/>
              <a:chExt cx="692244" cy="148640"/>
            </a:xfrm>
          </p:grpSpPr>
          <p:sp>
            <p:nvSpPr>
              <p:cNvPr id="43" name="矩形 42">
                <a:extLst>
                  <a:ext uri="{FF2B5EF4-FFF2-40B4-BE49-F238E27FC236}">
                    <a16:creationId xmlns:a16="http://schemas.microsoft.com/office/drawing/2014/main" id="{F4975362-8C2B-48D6-A6E7-8BA340644668}"/>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4" name="直接连接符 43">
                <a:extLst>
                  <a:ext uri="{FF2B5EF4-FFF2-40B4-BE49-F238E27FC236}">
                    <a16:creationId xmlns:a16="http://schemas.microsoft.com/office/drawing/2014/main" id="{9BBA4697-B74F-4AE5-947A-A17B35F6BFF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45" name="文本框 44">
              <a:extLst>
                <a:ext uri="{FF2B5EF4-FFF2-40B4-BE49-F238E27FC236}">
                  <a16:creationId xmlns:a16="http://schemas.microsoft.com/office/drawing/2014/main" id="{7210C570-C6A7-4BEE-B5DC-EB7575AE5C87}"/>
                </a:ext>
              </a:extLst>
            </p:cNvPr>
            <p:cNvSpPr txBox="1"/>
            <p:nvPr/>
          </p:nvSpPr>
          <p:spPr>
            <a:xfrm>
              <a:off x="9513293" y="2446340"/>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30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nvGrpSpPr>
            <p:cNvPr id="55" name="组合 54">
              <a:extLst>
                <a:ext uri="{FF2B5EF4-FFF2-40B4-BE49-F238E27FC236}">
                  <a16:creationId xmlns:a16="http://schemas.microsoft.com/office/drawing/2014/main" id="{DEC86BC5-BC42-47A9-BCF2-31B7C525A8E5}"/>
                </a:ext>
              </a:extLst>
            </p:cNvPr>
            <p:cNvGrpSpPr/>
            <p:nvPr/>
          </p:nvGrpSpPr>
          <p:grpSpPr>
            <a:xfrm>
              <a:off x="8662437" y="2623640"/>
              <a:ext cx="692244" cy="148640"/>
              <a:chOff x="8691239" y="2485944"/>
              <a:chExt cx="692244" cy="148640"/>
            </a:xfrm>
          </p:grpSpPr>
          <p:sp>
            <p:nvSpPr>
              <p:cNvPr id="56" name="矩形 55">
                <a:extLst>
                  <a:ext uri="{FF2B5EF4-FFF2-40B4-BE49-F238E27FC236}">
                    <a16:creationId xmlns:a16="http://schemas.microsoft.com/office/drawing/2014/main" id="{E4AA13AE-D4C1-45F1-8372-10121F936B1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7" name="直接连接符 56">
                <a:extLst>
                  <a:ext uri="{FF2B5EF4-FFF2-40B4-BE49-F238E27FC236}">
                    <a16:creationId xmlns:a16="http://schemas.microsoft.com/office/drawing/2014/main" id="{4201D4F0-57A2-4910-AE88-59D301B02E9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58" name="组合 57">
              <a:extLst>
                <a:ext uri="{FF2B5EF4-FFF2-40B4-BE49-F238E27FC236}">
                  <a16:creationId xmlns:a16="http://schemas.microsoft.com/office/drawing/2014/main" id="{6D594290-D802-4188-8191-25053BB5E934}"/>
                </a:ext>
              </a:extLst>
            </p:cNvPr>
            <p:cNvGrpSpPr/>
            <p:nvPr/>
          </p:nvGrpSpPr>
          <p:grpSpPr>
            <a:xfrm>
              <a:off x="8610600" y="2683313"/>
              <a:ext cx="692244" cy="148640"/>
              <a:chOff x="8691239" y="2485944"/>
              <a:chExt cx="692244" cy="148640"/>
            </a:xfrm>
          </p:grpSpPr>
          <p:sp>
            <p:nvSpPr>
              <p:cNvPr id="59" name="矩形 58">
                <a:extLst>
                  <a:ext uri="{FF2B5EF4-FFF2-40B4-BE49-F238E27FC236}">
                    <a16:creationId xmlns:a16="http://schemas.microsoft.com/office/drawing/2014/main" id="{395C31A2-6DE7-45D6-8E59-CD85824E6DE8}"/>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a:extLst>
                  <a:ext uri="{FF2B5EF4-FFF2-40B4-BE49-F238E27FC236}">
                    <a16:creationId xmlns:a16="http://schemas.microsoft.com/office/drawing/2014/main" id="{74A1BAA7-B073-4650-AE4A-BABBC5DD9B52}"/>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grpSp>
        <p:nvGrpSpPr>
          <p:cNvPr id="113" name="组合 112">
            <a:extLst>
              <a:ext uri="{FF2B5EF4-FFF2-40B4-BE49-F238E27FC236}">
                <a16:creationId xmlns:a16="http://schemas.microsoft.com/office/drawing/2014/main" id="{169B88C4-12EA-4901-A6DE-7BD97DD70404}"/>
              </a:ext>
            </a:extLst>
          </p:cNvPr>
          <p:cNvGrpSpPr/>
          <p:nvPr/>
        </p:nvGrpSpPr>
        <p:grpSpPr>
          <a:xfrm>
            <a:off x="6972412" y="3492113"/>
            <a:ext cx="1305517" cy="346683"/>
            <a:chOff x="6453460" y="3273345"/>
            <a:chExt cx="1487801" cy="400110"/>
          </a:xfrm>
        </p:grpSpPr>
        <p:grpSp>
          <p:nvGrpSpPr>
            <p:cNvPr id="46" name="组合 45">
              <a:extLst>
                <a:ext uri="{FF2B5EF4-FFF2-40B4-BE49-F238E27FC236}">
                  <a16:creationId xmlns:a16="http://schemas.microsoft.com/office/drawing/2014/main" id="{1CB0BBA2-C3ED-45F9-8BCA-EBB77C641134}"/>
                </a:ext>
              </a:extLst>
            </p:cNvPr>
            <p:cNvGrpSpPr/>
            <p:nvPr/>
          </p:nvGrpSpPr>
          <p:grpSpPr>
            <a:xfrm>
              <a:off x="7249017" y="3373634"/>
              <a:ext cx="692244" cy="148640"/>
              <a:chOff x="8691239" y="2485944"/>
              <a:chExt cx="692244" cy="148640"/>
            </a:xfrm>
          </p:grpSpPr>
          <p:sp>
            <p:nvSpPr>
              <p:cNvPr id="47" name="矩形 46">
                <a:extLst>
                  <a:ext uri="{FF2B5EF4-FFF2-40B4-BE49-F238E27FC236}">
                    <a16:creationId xmlns:a16="http://schemas.microsoft.com/office/drawing/2014/main" id="{9800F5A0-8845-48F2-8E9B-85BF6C08D135}"/>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8" name="直接连接符 47">
                <a:extLst>
                  <a:ext uri="{FF2B5EF4-FFF2-40B4-BE49-F238E27FC236}">
                    <a16:creationId xmlns:a16="http://schemas.microsoft.com/office/drawing/2014/main" id="{300BEBB2-AE76-44C6-8B84-BF99B501D9D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A01D1FD0-A9E0-4F75-BFEC-22632694A467}"/>
                </a:ext>
              </a:extLst>
            </p:cNvPr>
            <p:cNvGrpSpPr/>
            <p:nvPr/>
          </p:nvGrpSpPr>
          <p:grpSpPr>
            <a:xfrm>
              <a:off x="7217359" y="3429542"/>
              <a:ext cx="692244" cy="148640"/>
              <a:chOff x="8691239" y="2485944"/>
              <a:chExt cx="692244" cy="148640"/>
            </a:xfrm>
          </p:grpSpPr>
          <p:sp>
            <p:nvSpPr>
              <p:cNvPr id="50" name="矩形 49">
                <a:extLst>
                  <a:ext uri="{FF2B5EF4-FFF2-40B4-BE49-F238E27FC236}">
                    <a16:creationId xmlns:a16="http://schemas.microsoft.com/office/drawing/2014/main" id="{B34C21B5-890F-4D02-8E60-46349C1D2C0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1" name="直接连接符 50">
                <a:extLst>
                  <a:ext uri="{FF2B5EF4-FFF2-40B4-BE49-F238E27FC236}">
                    <a16:creationId xmlns:a16="http://schemas.microsoft.com/office/drawing/2014/main" id="{5EFAA981-9CC0-47F8-A712-6D83F3827AEF}"/>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52" name="组合 51">
              <a:extLst>
                <a:ext uri="{FF2B5EF4-FFF2-40B4-BE49-F238E27FC236}">
                  <a16:creationId xmlns:a16="http://schemas.microsoft.com/office/drawing/2014/main" id="{889A07A0-776D-4F75-BBBF-167762948D66}"/>
                </a:ext>
              </a:extLst>
            </p:cNvPr>
            <p:cNvGrpSpPr/>
            <p:nvPr/>
          </p:nvGrpSpPr>
          <p:grpSpPr>
            <a:xfrm>
              <a:off x="7142665" y="3491559"/>
              <a:ext cx="692244" cy="148640"/>
              <a:chOff x="8691239" y="2485944"/>
              <a:chExt cx="692244" cy="148640"/>
            </a:xfrm>
          </p:grpSpPr>
          <p:sp>
            <p:nvSpPr>
              <p:cNvPr id="53" name="矩形 52">
                <a:extLst>
                  <a:ext uri="{FF2B5EF4-FFF2-40B4-BE49-F238E27FC236}">
                    <a16:creationId xmlns:a16="http://schemas.microsoft.com/office/drawing/2014/main" id="{14E4C945-7811-4698-AFC0-5423F577108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4" name="直接连接符 53">
                <a:extLst>
                  <a:ext uri="{FF2B5EF4-FFF2-40B4-BE49-F238E27FC236}">
                    <a16:creationId xmlns:a16="http://schemas.microsoft.com/office/drawing/2014/main" id="{B07BC6FB-66EC-4A24-ACF8-B2C3C7F1A76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61" name="文本框 60">
              <a:extLst>
                <a:ext uri="{FF2B5EF4-FFF2-40B4-BE49-F238E27FC236}">
                  <a16:creationId xmlns:a16="http://schemas.microsoft.com/office/drawing/2014/main" id="{CFBDB1FD-D463-4F4E-A61F-EEA02D26B2A7}"/>
                </a:ext>
              </a:extLst>
            </p:cNvPr>
            <p:cNvSpPr txBox="1"/>
            <p:nvPr/>
          </p:nvSpPr>
          <p:spPr>
            <a:xfrm>
              <a:off x="6453460" y="3273345"/>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14" name="组合 113">
            <a:extLst>
              <a:ext uri="{FF2B5EF4-FFF2-40B4-BE49-F238E27FC236}">
                <a16:creationId xmlns:a16="http://schemas.microsoft.com/office/drawing/2014/main" id="{28FE80C4-743E-4BF0-B923-9EE4C663AB07}"/>
              </a:ext>
            </a:extLst>
          </p:cNvPr>
          <p:cNvGrpSpPr/>
          <p:nvPr/>
        </p:nvGrpSpPr>
        <p:grpSpPr>
          <a:xfrm>
            <a:off x="8937566" y="3828775"/>
            <a:ext cx="770236" cy="536334"/>
            <a:chOff x="8651471" y="3846816"/>
            <a:chExt cx="877781" cy="618987"/>
          </a:xfrm>
        </p:grpSpPr>
        <p:grpSp>
          <p:nvGrpSpPr>
            <p:cNvPr id="62" name="组合 61">
              <a:extLst>
                <a:ext uri="{FF2B5EF4-FFF2-40B4-BE49-F238E27FC236}">
                  <a16:creationId xmlns:a16="http://schemas.microsoft.com/office/drawing/2014/main" id="{90B2F9F1-BFC5-40EF-A244-35F353370BB4}"/>
                </a:ext>
              </a:extLst>
            </p:cNvPr>
            <p:cNvGrpSpPr/>
            <p:nvPr/>
          </p:nvGrpSpPr>
          <p:grpSpPr>
            <a:xfrm>
              <a:off x="8757823" y="3846816"/>
              <a:ext cx="692244" cy="148640"/>
              <a:chOff x="8691239" y="2485944"/>
              <a:chExt cx="692244" cy="148640"/>
            </a:xfrm>
          </p:grpSpPr>
          <p:sp>
            <p:nvSpPr>
              <p:cNvPr id="63" name="矩形 62">
                <a:extLst>
                  <a:ext uri="{FF2B5EF4-FFF2-40B4-BE49-F238E27FC236}">
                    <a16:creationId xmlns:a16="http://schemas.microsoft.com/office/drawing/2014/main" id="{EF3838D1-6E85-47A9-8D60-7F2DD507A2C7}"/>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4" name="直接连接符 63">
                <a:extLst>
                  <a:ext uri="{FF2B5EF4-FFF2-40B4-BE49-F238E27FC236}">
                    <a16:creationId xmlns:a16="http://schemas.microsoft.com/office/drawing/2014/main" id="{1D9BD728-25C5-4BA7-B0E4-7731274E17C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80CA2AF3-3134-4333-942F-A0FD201BB6A9}"/>
                </a:ext>
              </a:extLst>
            </p:cNvPr>
            <p:cNvGrpSpPr/>
            <p:nvPr/>
          </p:nvGrpSpPr>
          <p:grpSpPr>
            <a:xfrm>
              <a:off x="8726165" y="3902724"/>
              <a:ext cx="692244" cy="148640"/>
              <a:chOff x="8691239" y="2485944"/>
              <a:chExt cx="692244" cy="148640"/>
            </a:xfrm>
          </p:grpSpPr>
          <p:sp>
            <p:nvSpPr>
              <p:cNvPr id="66" name="矩形 65">
                <a:extLst>
                  <a:ext uri="{FF2B5EF4-FFF2-40B4-BE49-F238E27FC236}">
                    <a16:creationId xmlns:a16="http://schemas.microsoft.com/office/drawing/2014/main" id="{739FD8BE-EACB-4802-89C0-81BF547C890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7" name="直接连接符 66">
                <a:extLst>
                  <a:ext uri="{FF2B5EF4-FFF2-40B4-BE49-F238E27FC236}">
                    <a16:creationId xmlns:a16="http://schemas.microsoft.com/office/drawing/2014/main" id="{06EAB9AE-DB5A-416B-8179-201FB0A85C9A}"/>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68" name="组合 67">
              <a:extLst>
                <a:ext uri="{FF2B5EF4-FFF2-40B4-BE49-F238E27FC236}">
                  <a16:creationId xmlns:a16="http://schemas.microsoft.com/office/drawing/2014/main" id="{4EAD9D51-4C7A-448C-BC2B-B35E7729BA38}"/>
                </a:ext>
              </a:extLst>
            </p:cNvPr>
            <p:cNvGrpSpPr/>
            <p:nvPr/>
          </p:nvGrpSpPr>
          <p:grpSpPr>
            <a:xfrm>
              <a:off x="8651471" y="3964741"/>
              <a:ext cx="692244" cy="148640"/>
              <a:chOff x="8691239" y="2485944"/>
              <a:chExt cx="692244" cy="148640"/>
            </a:xfrm>
          </p:grpSpPr>
          <p:sp>
            <p:nvSpPr>
              <p:cNvPr id="69" name="矩形 68">
                <a:extLst>
                  <a:ext uri="{FF2B5EF4-FFF2-40B4-BE49-F238E27FC236}">
                    <a16:creationId xmlns:a16="http://schemas.microsoft.com/office/drawing/2014/main" id="{BA960721-4ABD-4687-A0AA-3EB9904D734B}"/>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0" name="直接连接符 69">
                <a:extLst>
                  <a:ext uri="{FF2B5EF4-FFF2-40B4-BE49-F238E27FC236}">
                    <a16:creationId xmlns:a16="http://schemas.microsoft.com/office/drawing/2014/main" id="{7D50E635-D616-42B6-B8A7-AF53923ABE3A}"/>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71" name="文本框 70">
              <a:extLst>
                <a:ext uri="{FF2B5EF4-FFF2-40B4-BE49-F238E27FC236}">
                  <a16:creationId xmlns:a16="http://schemas.microsoft.com/office/drawing/2014/main" id="{9A6D7C46-FC03-44BA-8A71-33D5F3C31967}"/>
                </a:ext>
              </a:extLst>
            </p:cNvPr>
            <p:cNvSpPr txBox="1"/>
            <p:nvPr/>
          </p:nvSpPr>
          <p:spPr>
            <a:xfrm>
              <a:off x="8786741" y="4065693"/>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15" name="组合 114">
            <a:extLst>
              <a:ext uri="{FF2B5EF4-FFF2-40B4-BE49-F238E27FC236}">
                <a16:creationId xmlns:a16="http://schemas.microsoft.com/office/drawing/2014/main" id="{FB65BB0B-CE45-43A4-A231-D583930F7AAC}"/>
              </a:ext>
            </a:extLst>
          </p:cNvPr>
          <p:cNvGrpSpPr/>
          <p:nvPr/>
        </p:nvGrpSpPr>
        <p:grpSpPr>
          <a:xfrm>
            <a:off x="9899405" y="3470479"/>
            <a:ext cx="1309163" cy="346683"/>
            <a:chOff x="9507766" y="3333963"/>
            <a:chExt cx="1491956" cy="400110"/>
          </a:xfrm>
        </p:grpSpPr>
        <p:grpSp>
          <p:nvGrpSpPr>
            <p:cNvPr id="72" name="组合 71">
              <a:extLst>
                <a:ext uri="{FF2B5EF4-FFF2-40B4-BE49-F238E27FC236}">
                  <a16:creationId xmlns:a16="http://schemas.microsoft.com/office/drawing/2014/main" id="{295EBD66-596C-4AC0-BE82-0A6079120352}"/>
                </a:ext>
              </a:extLst>
            </p:cNvPr>
            <p:cNvGrpSpPr/>
            <p:nvPr/>
          </p:nvGrpSpPr>
          <p:grpSpPr>
            <a:xfrm>
              <a:off x="9614118" y="3382813"/>
              <a:ext cx="692244" cy="148640"/>
              <a:chOff x="8691239" y="2485944"/>
              <a:chExt cx="692244" cy="148640"/>
            </a:xfrm>
          </p:grpSpPr>
          <p:sp>
            <p:nvSpPr>
              <p:cNvPr id="73" name="矩形 72">
                <a:extLst>
                  <a:ext uri="{FF2B5EF4-FFF2-40B4-BE49-F238E27FC236}">
                    <a16:creationId xmlns:a16="http://schemas.microsoft.com/office/drawing/2014/main" id="{3E16AB5E-DFA1-4115-BEB9-85D8F5B0F9CE}"/>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4" name="直接连接符 73">
                <a:extLst>
                  <a:ext uri="{FF2B5EF4-FFF2-40B4-BE49-F238E27FC236}">
                    <a16:creationId xmlns:a16="http://schemas.microsoft.com/office/drawing/2014/main" id="{50955CFF-9573-4C80-A1B0-14B2A9D5F1FF}"/>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75" name="组合 74">
              <a:extLst>
                <a:ext uri="{FF2B5EF4-FFF2-40B4-BE49-F238E27FC236}">
                  <a16:creationId xmlns:a16="http://schemas.microsoft.com/office/drawing/2014/main" id="{0CC7B6CF-53D7-41E9-8AE0-565E98CA0AE3}"/>
                </a:ext>
              </a:extLst>
            </p:cNvPr>
            <p:cNvGrpSpPr/>
            <p:nvPr/>
          </p:nvGrpSpPr>
          <p:grpSpPr>
            <a:xfrm>
              <a:off x="9582460" y="3438721"/>
              <a:ext cx="692244" cy="148640"/>
              <a:chOff x="8691239" y="2485944"/>
              <a:chExt cx="692244" cy="148640"/>
            </a:xfrm>
          </p:grpSpPr>
          <p:sp>
            <p:nvSpPr>
              <p:cNvPr id="76" name="矩形 75">
                <a:extLst>
                  <a:ext uri="{FF2B5EF4-FFF2-40B4-BE49-F238E27FC236}">
                    <a16:creationId xmlns:a16="http://schemas.microsoft.com/office/drawing/2014/main" id="{D0EC57AF-C383-4424-A76C-75402E6BE2D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7" name="直接连接符 76">
                <a:extLst>
                  <a:ext uri="{FF2B5EF4-FFF2-40B4-BE49-F238E27FC236}">
                    <a16:creationId xmlns:a16="http://schemas.microsoft.com/office/drawing/2014/main" id="{A2F09AE7-303E-4D03-8B1C-92B8B73348D8}"/>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78" name="组合 77">
              <a:extLst>
                <a:ext uri="{FF2B5EF4-FFF2-40B4-BE49-F238E27FC236}">
                  <a16:creationId xmlns:a16="http://schemas.microsoft.com/office/drawing/2014/main" id="{795FBAD7-5B44-4962-9607-C0DF24905379}"/>
                </a:ext>
              </a:extLst>
            </p:cNvPr>
            <p:cNvGrpSpPr/>
            <p:nvPr/>
          </p:nvGrpSpPr>
          <p:grpSpPr>
            <a:xfrm>
              <a:off x="9507766" y="3500738"/>
              <a:ext cx="692244" cy="148640"/>
              <a:chOff x="8691239" y="2485944"/>
              <a:chExt cx="692244" cy="148640"/>
            </a:xfrm>
          </p:grpSpPr>
          <p:sp>
            <p:nvSpPr>
              <p:cNvPr id="79" name="矩形 78">
                <a:extLst>
                  <a:ext uri="{FF2B5EF4-FFF2-40B4-BE49-F238E27FC236}">
                    <a16:creationId xmlns:a16="http://schemas.microsoft.com/office/drawing/2014/main" id="{22BCC450-475F-45A7-A12D-5F336988FC0F}"/>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0" name="直接连接符 79">
                <a:extLst>
                  <a:ext uri="{FF2B5EF4-FFF2-40B4-BE49-F238E27FC236}">
                    <a16:creationId xmlns:a16="http://schemas.microsoft.com/office/drawing/2014/main" id="{6460D708-1ECA-402B-AA92-9D57256700FD}"/>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81" name="文本框 80">
              <a:extLst>
                <a:ext uri="{FF2B5EF4-FFF2-40B4-BE49-F238E27FC236}">
                  <a16:creationId xmlns:a16="http://schemas.microsoft.com/office/drawing/2014/main" id="{42535980-020C-4375-8E1E-3100FD9806FF}"/>
                </a:ext>
              </a:extLst>
            </p:cNvPr>
            <p:cNvSpPr txBox="1"/>
            <p:nvPr/>
          </p:nvSpPr>
          <p:spPr>
            <a:xfrm>
              <a:off x="10257211" y="3333963"/>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18" name="组合 117">
            <a:extLst>
              <a:ext uri="{FF2B5EF4-FFF2-40B4-BE49-F238E27FC236}">
                <a16:creationId xmlns:a16="http://schemas.microsoft.com/office/drawing/2014/main" id="{1A9C1021-7E16-4705-8656-78AA27326926}"/>
              </a:ext>
            </a:extLst>
          </p:cNvPr>
          <p:cNvGrpSpPr/>
          <p:nvPr/>
        </p:nvGrpSpPr>
        <p:grpSpPr>
          <a:xfrm>
            <a:off x="6610047" y="4506316"/>
            <a:ext cx="770236" cy="536335"/>
            <a:chOff x="5780274" y="4546629"/>
            <a:chExt cx="877781" cy="618987"/>
          </a:xfrm>
        </p:grpSpPr>
        <p:grpSp>
          <p:nvGrpSpPr>
            <p:cNvPr id="119" name="组合 118">
              <a:extLst>
                <a:ext uri="{FF2B5EF4-FFF2-40B4-BE49-F238E27FC236}">
                  <a16:creationId xmlns:a16="http://schemas.microsoft.com/office/drawing/2014/main" id="{270C214D-DAA6-43BD-8838-FDB0966140C4}"/>
                </a:ext>
              </a:extLst>
            </p:cNvPr>
            <p:cNvGrpSpPr/>
            <p:nvPr/>
          </p:nvGrpSpPr>
          <p:grpSpPr>
            <a:xfrm>
              <a:off x="5886626" y="4546629"/>
              <a:ext cx="692244" cy="148640"/>
              <a:chOff x="8691239" y="2485944"/>
              <a:chExt cx="692244" cy="148640"/>
            </a:xfrm>
          </p:grpSpPr>
          <p:sp>
            <p:nvSpPr>
              <p:cNvPr id="127" name="矩形 126">
                <a:extLst>
                  <a:ext uri="{FF2B5EF4-FFF2-40B4-BE49-F238E27FC236}">
                    <a16:creationId xmlns:a16="http://schemas.microsoft.com/office/drawing/2014/main" id="{066B086A-7AE4-49C3-A355-177CA1CD8616}"/>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8" name="直接连接符 127">
                <a:extLst>
                  <a:ext uri="{FF2B5EF4-FFF2-40B4-BE49-F238E27FC236}">
                    <a16:creationId xmlns:a16="http://schemas.microsoft.com/office/drawing/2014/main" id="{7CAEACC7-B9E5-4984-9927-629FFCEEB457}"/>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20" name="组合 119">
              <a:extLst>
                <a:ext uri="{FF2B5EF4-FFF2-40B4-BE49-F238E27FC236}">
                  <a16:creationId xmlns:a16="http://schemas.microsoft.com/office/drawing/2014/main" id="{DB2D74E6-68A2-4F1F-A4E1-FBB024CBDE80}"/>
                </a:ext>
              </a:extLst>
            </p:cNvPr>
            <p:cNvGrpSpPr/>
            <p:nvPr/>
          </p:nvGrpSpPr>
          <p:grpSpPr>
            <a:xfrm>
              <a:off x="5854968" y="4602537"/>
              <a:ext cx="692244" cy="148640"/>
              <a:chOff x="8691239" y="2485944"/>
              <a:chExt cx="692244" cy="148640"/>
            </a:xfrm>
          </p:grpSpPr>
          <p:sp>
            <p:nvSpPr>
              <p:cNvPr id="125" name="矩形 124">
                <a:extLst>
                  <a:ext uri="{FF2B5EF4-FFF2-40B4-BE49-F238E27FC236}">
                    <a16:creationId xmlns:a16="http://schemas.microsoft.com/office/drawing/2014/main" id="{46947189-A56B-4FB8-B2C2-FA23470B334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6" name="直接连接符 125">
                <a:extLst>
                  <a:ext uri="{FF2B5EF4-FFF2-40B4-BE49-F238E27FC236}">
                    <a16:creationId xmlns:a16="http://schemas.microsoft.com/office/drawing/2014/main" id="{849019E0-B503-4C4B-9DFC-7C6B5E97E8D7}"/>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21" name="组合 120">
              <a:extLst>
                <a:ext uri="{FF2B5EF4-FFF2-40B4-BE49-F238E27FC236}">
                  <a16:creationId xmlns:a16="http://schemas.microsoft.com/office/drawing/2014/main" id="{BFE02D96-DCC8-4C5B-A67F-DE19CDB5A910}"/>
                </a:ext>
              </a:extLst>
            </p:cNvPr>
            <p:cNvGrpSpPr/>
            <p:nvPr/>
          </p:nvGrpSpPr>
          <p:grpSpPr>
            <a:xfrm>
              <a:off x="5780274" y="4664554"/>
              <a:ext cx="692244" cy="148640"/>
              <a:chOff x="8691239" y="2485944"/>
              <a:chExt cx="692244" cy="148640"/>
            </a:xfrm>
          </p:grpSpPr>
          <p:sp>
            <p:nvSpPr>
              <p:cNvPr id="123" name="矩形 122">
                <a:extLst>
                  <a:ext uri="{FF2B5EF4-FFF2-40B4-BE49-F238E27FC236}">
                    <a16:creationId xmlns:a16="http://schemas.microsoft.com/office/drawing/2014/main" id="{83B2C658-2A62-4FAC-B501-F9B4F67C8616}"/>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4" name="直接连接符 123">
                <a:extLst>
                  <a:ext uri="{FF2B5EF4-FFF2-40B4-BE49-F238E27FC236}">
                    <a16:creationId xmlns:a16="http://schemas.microsoft.com/office/drawing/2014/main" id="{A39AC24E-7D65-4FCF-BBF4-165BA878BAFD}"/>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22" name="文本框 121">
              <a:extLst>
                <a:ext uri="{FF2B5EF4-FFF2-40B4-BE49-F238E27FC236}">
                  <a16:creationId xmlns:a16="http://schemas.microsoft.com/office/drawing/2014/main" id="{6BA355AE-FF89-4E57-95AF-92AEDEA2E44E}"/>
                </a:ext>
              </a:extLst>
            </p:cNvPr>
            <p:cNvSpPr txBox="1"/>
            <p:nvPr/>
          </p:nvSpPr>
          <p:spPr>
            <a:xfrm>
              <a:off x="5915544" y="4765506"/>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29" name="组合 128">
            <a:extLst>
              <a:ext uri="{FF2B5EF4-FFF2-40B4-BE49-F238E27FC236}">
                <a16:creationId xmlns:a16="http://schemas.microsoft.com/office/drawing/2014/main" id="{A9696244-7AB6-4E18-8116-9F5D5F524241}"/>
              </a:ext>
            </a:extLst>
          </p:cNvPr>
          <p:cNvGrpSpPr/>
          <p:nvPr/>
        </p:nvGrpSpPr>
        <p:grpSpPr>
          <a:xfrm>
            <a:off x="8604110" y="4705099"/>
            <a:ext cx="770236" cy="536334"/>
            <a:chOff x="5780274" y="4546629"/>
            <a:chExt cx="877781" cy="618987"/>
          </a:xfrm>
        </p:grpSpPr>
        <p:grpSp>
          <p:nvGrpSpPr>
            <p:cNvPr id="130" name="组合 129">
              <a:extLst>
                <a:ext uri="{FF2B5EF4-FFF2-40B4-BE49-F238E27FC236}">
                  <a16:creationId xmlns:a16="http://schemas.microsoft.com/office/drawing/2014/main" id="{5C894C91-157E-4AF2-BB0D-6183A9A2916D}"/>
                </a:ext>
              </a:extLst>
            </p:cNvPr>
            <p:cNvGrpSpPr/>
            <p:nvPr/>
          </p:nvGrpSpPr>
          <p:grpSpPr>
            <a:xfrm>
              <a:off x="5886626" y="4546629"/>
              <a:ext cx="692244" cy="148640"/>
              <a:chOff x="8691239" y="2485944"/>
              <a:chExt cx="692244" cy="148640"/>
            </a:xfrm>
          </p:grpSpPr>
          <p:sp>
            <p:nvSpPr>
              <p:cNvPr id="138" name="矩形 137">
                <a:extLst>
                  <a:ext uri="{FF2B5EF4-FFF2-40B4-BE49-F238E27FC236}">
                    <a16:creationId xmlns:a16="http://schemas.microsoft.com/office/drawing/2014/main" id="{DBBE88B2-694A-40C4-9737-6D6FEECEBDD1}"/>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9" name="直接连接符 138">
                <a:extLst>
                  <a:ext uri="{FF2B5EF4-FFF2-40B4-BE49-F238E27FC236}">
                    <a16:creationId xmlns:a16="http://schemas.microsoft.com/office/drawing/2014/main" id="{6B2ECBCC-1ACF-4533-BCFA-CE18E692F59B}"/>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31" name="组合 130">
              <a:extLst>
                <a:ext uri="{FF2B5EF4-FFF2-40B4-BE49-F238E27FC236}">
                  <a16:creationId xmlns:a16="http://schemas.microsoft.com/office/drawing/2014/main" id="{9F475DCD-04FA-4781-ADAC-709A6A274790}"/>
                </a:ext>
              </a:extLst>
            </p:cNvPr>
            <p:cNvGrpSpPr/>
            <p:nvPr/>
          </p:nvGrpSpPr>
          <p:grpSpPr>
            <a:xfrm>
              <a:off x="5854968" y="4602537"/>
              <a:ext cx="692244" cy="148640"/>
              <a:chOff x="8691239" y="2485944"/>
              <a:chExt cx="692244" cy="148640"/>
            </a:xfrm>
          </p:grpSpPr>
          <p:sp>
            <p:nvSpPr>
              <p:cNvPr id="136" name="矩形 135">
                <a:extLst>
                  <a:ext uri="{FF2B5EF4-FFF2-40B4-BE49-F238E27FC236}">
                    <a16:creationId xmlns:a16="http://schemas.microsoft.com/office/drawing/2014/main" id="{6CE1C72A-2031-4122-8E9C-760454C87D5B}"/>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7" name="直接连接符 136">
                <a:extLst>
                  <a:ext uri="{FF2B5EF4-FFF2-40B4-BE49-F238E27FC236}">
                    <a16:creationId xmlns:a16="http://schemas.microsoft.com/office/drawing/2014/main" id="{FBFBA571-A432-426A-A0B8-3B5B2D5737C6}"/>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32" name="组合 131">
              <a:extLst>
                <a:ext uri="{FF2B5EF4-FFF2-40B4-BE49-F238E27FC236}">
                  <a16:creationId xmlns:a16="http://schemas.microsoft.com/office/drawing/2014/main" id="{2CD5AD99-C32D-4E5D-9936-775F241116C5}"/>
                </a:ext>
              </a:extLst>
            </p:cNvPr>
            <p:cNvGrpSpPr/>
            <p:nvPr/>
          </p:nvGrpSpPr>
          <p:grpSpPr>
            <a:xfrm>
              <a:off x="5780274" y="4664554"/>
              <a:ext cx="692244" cy="148640"/>
              <a:chOff x="8691239" y="2485944"/>
              <a:chExt cx="692244" cy="148640"/>
            </a:xfrm>
          </p:grpSpPr>
          <p:sp>
            <p:nvSpPr>
              <p:cNvPr id="134" name="矩形 133">
                <a:extLst>
                  <a:ext uri="{FF2B5EF4-FFF2-40B4-BE49-F238E27FC236}">
                    <a16:creationId xmlns:a16="http://schemas.microsoft.com/office/drawing/2014/main" id="{492EB8E0-C2AD-438A-B67F-28EBFE5BECAB}"/>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a:extLst>
                  <a:ext uri="{FF2B5EF4-FFF2-40B4-BE49-F238E27FC236}">
                    <a16:creationId xmlns:a16="http://schemas.microsoft.com/office/drawing/2014/main" id="{E76D07E6-1E7E-468F-AE2D-EDF51F2E4FA6}"/>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33" name="文本框 132">
              <a:extLst>
                <a:ext uri="{FF2B5EF4-FFF2-40B4-BE49-F238E27FC236}">
                  <a16:creationId xmlns:a16="http://schemas.microsoft.com/office/drawing/2014/main" id="{947A2DD5-05A3-4BCA-97B5-DFBC76731AD8}"/>
                </a:ext>
              </a:extLst>
            </p:cNvPr>
            <p:cNvSpPr txBox="1"/>
            <p:nvPr/>
          </p:nvSpPr>
          <p:spPr>
            <a:xfrm>
              <a:off x="5915544" y="4765506"/>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40" name="组合 139">
            <a:extLst>
              <a:ext uri="{FF2B5EF4-FFF2-40B4-BE49-F238E27FC236}">
                <a16:creationId xmlns:a16="http://schemas.microsoft.com/office/drawing/2014/main" id="{6FC74258-8159-4A68-8FDE-6BC7CD02C810}"/>
              </a:ext>
            </a:extLst>
          </p:cNvPr>
          <p:cNvGrpSpPr/>
          <p:nvPr/>
        </p:nvGrpSpPr>
        <p:grpSpPr>
          <a:xfrm>
            <a:off x="10634380" y="4477926"/>
            <a:ext cx="770236" cy="536334"/>
            <a:chOff x="5780274" y="4546629"/>
            <a:chExt cx="877781" cy="618987"/>
          </a:xfrm>
        </p:grpSpPr>
        <p:grpSp>
          <p:nvGrpSpPr>
            <p:cNvPr id="141" name="组合 140">
              <a:extLst>
                <a:ext uri="{FF2B5EF4-FFF2-40B4-BE49-F238E27FC236}">
                  <a16:creationId xmlns:a16="http://schemas.microsoft.com/office/drawing/2014/main" id="{042EFE48-8D91-45CC-AED1-C556259EA31D}"/>
                </a:ext>
              </a:extLst>
            </p:cNvPr>
            <p:cNvGrpSpPr/>
            <p:nvPr/>
          </p:nvGrpSpPr>
          <p:grpSpPr>
            <a:xfrm>
              <a:off x="5886626" y="4546629"/>
              <a:ext cx="692244" cy="148640"/>
              <a:chOff x="8691239" y="2485944"/>
              <a:chExt cx="692244" cy="148640"/>
            </a:xfrm>
          </p:grpSpPr>
          <p:sp>
            <p:nvSpPr>
              <p:cNvPr id="149" name="矩形 148">
                <a:extLst>
                  <a:ext uri="{FF2B5EF4-FFF2-40B4-BE49-F238E27FC236}">
                    <a16:creationId xmlns:a16="http://schemas.microsoft.com/office/drawing/2014/main" id="{335690D7-0600-45F9-AAEE-B79377E8CB15}"/>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50" name="直接连接符 149">
                <a:extLst>
                  <a:ext uri="{FF2B5EF4-FFF2-40B4-BE49-F238E27FC236}">
                    <a16:creationId xmlns:a16="http://schemas.microsoft.com/office/drawing/2014/main" id="{D7795B1F-3152-42C2-9C4A-CA6ACCC9D331}"/>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42" name="组合 141">
              <a:extLst>
                <a:ext uri="{FF2B5EF4-FFF2-40B4-BE49-F238E27FC236}">
                  <a16:creationId xmlns:a16="http://schemas.microsoft.com/office/drawing/2014/main" id="{7E56C0DC-356B-42E3-ADD1-00584397C77D}"/>
                </a:ext>
              </a:extLst>
            </p:cNvPr>
            <p:cNvGrpSpPr/>
            <p:nvPr/>
          </p:nvGrpSpPr>
          <p:grpSpPr>
            <a:xfrm>
              <a:off x="5854968" y="4602537"/>
              <a:ext cx="692244" cy="148640"/>
              <a:chOff x="8691239" y="2485944"/>
              <a:chExt cx="692244" cy="148640"/>
            </a:xfrm>
          </p:grpSpPr>
          <p:sp>
            <p:nvSpPr>
              <p:cNvPr id="147" name="矩形 146">
                <a:extLst>
                  <a:ext uri="{FF2B5EF4-FFF2-40B4-BE49-F238E27FC236}">
                    <a16:creationId xmlns:a16="http://schemas.microsoft.com/office/drawing/2014/main" id="{BCB199FB-3B4F-4272-A4F0-57FA8E04A0D8}"/>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8" name="直接连接符 147">
                <a:extLst>
                  <a:ext uri="{FF2B5EF4-FFF2-40B4-BE49-F238E27FC236}">
                    <a16:creationId xmlns:a16="http://schemas.microsoft.com/office/drawing/2014/main" id="{5B69A0E4-9292-4EE6-932E-8CB01C666573}"/>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43" name="组合 142">
              <a:extLst>
                <a:ext uri="{FF2B5EF4-FFF2-40B4-BE49-F238E27FC236}">
                  <a16:creationId xmlns:a16="http://schemas.microsoft.com/office/drawing/2014/main" id="{F3BA1F27-E43F-4873-885F-57928A1D829C}"/>
                </a:ext>
              </a:extLst>
            </p:cNvPr>
            <p:cNvGrpSpPr/>
            <p:nvPr/>
          </p:nvGrpSpPr>
          <p:grpSpPr>
            <a:xfrm>
              <a:off x="5780274" y="4664554"/>
              <a:ext cx="692244" cy="148640"/>
              <a:chOff x="8691239" y="2485944"/>
              <a:chExt cx="692244" cy="148640"/>
            </a:xfrm>
          </p:grpSpPr>
          <p:sp>
            <p:nvSpPr>
              <p:cNvPr id="145" name="矩形 144">
                <a:extLst>
                  <a:ext uri="{FF2B5EF4-FFF2-40B4-BE49-F238E27FC236}">
                    <a16:creationId xmlns:a16="http://schemas.microsoft.com/office/drawing/2014/main" id="{D2CEE06B-0CEA-4783-BEC8-A012F388CDE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6" name="直接连接符 145">
                <a:extLst>
                  <a:ext uri="{FF2B5EF4-FFF2-40B4-BE49-F238E27FC236}">
                    <a16:creationId xmlns:a16="http://schemas.microsoft.com/office/drawing/2014/main" id="{628E51DA-12E8-4D35-9E43-5E73AC18DB0B}"/>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44" name="文本框 143">
              <a:extLst>
                <a:ext uri="{FF2B5EF4-FFF2-40B4-BE49-F238E27FC236}">
                  <a16:creationId xmlns:a16="http://schemas.microsoft.com/office/drawing/2014/main" id="{9F1C8467-F194-426E-A098-CD74EB533243}"/>
                </a:ext>
              </a:extLst>
            </p:cNvPr>
            <p:cNvSpPr txBox="1"/>
            <p:nvPr/>
          </p:nvSpPr>
          <p:spPr>
            <a:xfrm>
              <a:off x="5915544" y="4765506"/>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sp>
        <p:nvSpPr>
          <p:cNvPr id="82" name="文本框 81">
            <a:extLst>
              <a:ext uri="{FF2B5EF4-FFF2-40B4-BE49-F238E27FC236}">
                <a16:creationId xmlns:a16="http://schemas.microsoft.com/office/drawing/2014/main" id="{20E49BBC-92EC-4C8B-9764-FF4099240485}"/>
              </a:ext>
            </a:extLst>
          </p:cNvPr>
          <p:cNvSpPr txBox="1"/>
          <p:nvPr/>
        </p:nvSpPr>
        <p:spPr>
          <a:xfrm>
            <a:off x="2340811" y="5860868"/>
            <a:ext cx="1980029" cy="523220"/>
          </a:xfrm>
          <a:prstGeom prst="rect">
            <a:avLst/>
          </a:prstGeom>
          <a:noFill/>
          <a:ln>
            <a:solidFill>
              <a:srgbClr val="5B307E"/>
            </a:solidFill>
          </a:ln>
        </p:spPr>
        <p:txBody>
          <a:bodyPr wrap="none" rtlCol="0">
            <a:spAutoFit/>
          </a:bodyPr>
          <a:lstStyle/>
          <a:p>
            <a:pPr algn="ctr"/>
            <a:r>
              <a:rPr lang="zh-CN" altLang="en-US" sz="2800" dirty="0">
                <a:solidFill>
                  <a:srgbClr val="C00000"/>
                </a:solidFill>
                <a:latin typeface="微软雅黑" panose="020B0503020204020204" pitchFamily="34" charset="-122"/>
                <a:ea typeface="微软雅黑" panose="020B0503020204020204" pitchFamily="34" charset="-122"/>
              </a:rPr>
              <a:t>难以实现！</a:t>
            </a:r>
          </a:p>
        </p:txBody>
      </p:sp>
      <p:sp>
        <p:nvSpPr>
          <p:cNvPr id="152"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
        <p:nvSpPr>
          <p:cNvPr id="151" name="灯片编号占位符 3">
            <a:extLst>
              <a:ext uri="{FF2B5EF4-FFF2-40B4-BE49-F238E27FC236}">
                <a16:creationId xmlns:a16="http://schemas.microsoft.com/office/drawing/2014/main" id="{0AFD5875-1930-3343-AD9D-8B64E0BB344F}"/>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55</a:t>
            </a:fld>
            <a:endParaRPr kumimoji="1" lang="zh-CN" altLang="en-US" dirty="0"/>
          </a:p>
        </p:txBody>
      </p:sp>
    </p:spTree>
    <p:extLst>
      <p:ext uri="{BB962C8B-B14F-4D97-AF65-F5344CB8AC3E}">
        <p14:creationId xmlns:p14="http://schemas.microsoft.com/office/powerpoint/2010/main" val="646559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blinds(horizontal)">
                                      <p:cBhvr>
                                        <p:cTn id="10" dur="500"/>
                                        <p:tgtEl>
                                          <p:spTgt spid="3">
                                            <p:txEl>
                                              <p:pRg st="1" end="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blinds(horizontal)">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1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113"/>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114"/>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11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18"/>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29"/>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140"/>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nodeType="clickEffect">
                                  <p:stCondLst>
                                    <p:cond delay="0"/>
                                  </p:stCondLst>
                                  <p:childTnLst>
                                    <p:set>
                                      <p:cBhvr>
                                        <p:cTn id="37" dur="1" fill="hold">
                                          <p:stCondLst>
                                            <p:cond delay="0"/>
                                          </p:stCondLst>
                                        </p:cTn>
                                        <p:tgtEl>
                                          <p:spTgt spid="3">
                                            <p:txEl>
                                              <p:pRg st="3" end="3"/>
                                            </p:txEl>
                                          </p:spTgt>
                                        </p:tgtEl>
                                        <p:attrNameLst>
                                          <p:attrName>style.visibility</p:attrName>
                                        </p:attrNameLst>
                                      </p:cBhvr>
                                      <p:to>
                                        <p:strVal val="visible"/>
                                      </p:to>
                                    </p:set>
                                    <p:animEffect transition="in" filter="blinds(horizontal)">
                                      <p:cBhvr>
                                        <p:cTn id="38" dur="500"/>
                                        <p:tgtEl>
                                          <p:spTgt spid="3">
                                            <p:txEl>
                                              <p:pRg st="3" end="3"/>
                                            </p:txEl>
                                          </p:spTgt>
                                        </p:tgtEl>
                                      </p:cBhvr>
                                    </p:animEffect>
                                  </p:childTnLst>
                                </p:cTn>
                              </p:par>
                              <p:par>
                                <p:cTn id="39" presetID="3" presetClass="entr" presetSubtype="10" fill="hold" nodeType="withEffect">
                                  <p:stCondLst>
                                    <p:cond delay="0"/>
                                  </p:stCondLst>
                                  <p:childTnLst>
                                    <p:set>
                                      <p:cBhvr>
                                        <p:cTn id="40" dur="1" fill="hold">
                                          <p:stCondLst>
                                            <p:cond delay="0"/>
                                          </p:stCondLst>
                                        </p:cTn>
                                        <p:tgtEl>
                                          <p:spTgt spid="3">
                                            <p:txEl>
                                              <p:pRg st="4" end="4"/>
                                            </p:txEl>
                                          </p:spTgt>
                                        </p:tgtEl>
                                        <p:attrNameLst>
                                          <p:attrName>style.visibility</p:attrName>
                                        </p:attrNameLst>
                                      </p:cBhvr>
                                      <p:to>
                                        <p:strVal val="visible"/>
                                      </p:to>
                                    </p:set>
                                    <p:animEffect transition="in" filter="blinds(horizontal)">
                                      <p:cBhvr>
                                        <p:cTn id="41" dur="500"/>
                                        <p:tgtEl>
                                          <p:spTgt spid="3">
                                            <p:txEl>
                                              <p:pRg st="4" end="4"/>
                                            </p:txEl>
                                          </p:spTgt>
                                        </p:tgtEl>
                                      </p:cBhvr>
                                    </p:animEffect>
                                  </p:childTnLst>
                                </p:cTn>
                              </p:par>
                              <p:par>
                                <p:cTn id="42" presetID="3" presetClass="entr" presetSubtype="10" fill="hold" nodeType="withEffect">
                                  <p:stCondLst>
                                    <p:cond delay="0"/>
                                  </p:stCondLst>
                                  <p:childTnLst>
                                    <p:set>
                                      <p:cBhvr>
                                        <p:cTn id="43" dur="1" fill="hold">
                                          <p:stCondLst>
                                            <p:cond delay="0"/>
                                          </p:stCondLst>
                                        </p:cTn>
                                        <p:tgtEl>
                                          <p:spTgt spid="3">
                                            <p:txEl>
                                              <p:pRg st="5" end="5"/>
                                            </p:txEl>
                                          </p:spTgt>
                                        </p:tgtEl>
                                        <p:attrNameLst>
                                          <p:attrName>style.visibility</p:attrName>
                                        </p:attrNameLst>
                                      </p:cBhvr>
                                      <p:to>
                                        <p:strVal val="visible"/>
                                      </p:to>
                                    </p:set>
                                    <p:animEffect transition="in" filter="blinds(horizontal)">
                                      <p:cBhvr>
                                        <p:cTn id="44" dur="500"/>
                                        <p:tgtEl>
                                          <p:spTgt spid="3">
                                            <p:txEl>
                                              <p:pRg st="5" end="5"/>
                                            </p:txEl>
                                          </p:spTgt>
                                        </p:tgtEl>
                                      </p:cBhvr>
                                    </p:animEffect>
                                  </p:childTnLst>
                                </p:cTn>
                              </p:par>
                              <p:par>
                                <p:cTn id="45" presetID="3" presetClass="entr" presetSubtype="10" fill="hold" nodeType="withEffect">
                                  <p:stCondLst>
                                    <p:cond delay="0"/>
                                  </p:stCondLst>
                                  <p:childTnLst>
                                    <p:set>
                                      <p:cBhvr>
                                        <p:cTn id="46" dur="1" fill="hold">
                                          <p:stCondLst>
                                            <p:cond delay="0"/>
                                          </p:stCondLst>
                                        </p:cTn>
                                        <p:tgtEl>
                                          <p:spTgt spid="3">
                                            <p:txEl>
                                              <p:pRg st="6" end="6"/>
                                            </p:txEl>
                                          </p:spTgt>
                                        </p:tgtEl>
                                        <p:attrNameLst>
                                          <p:attrName>style.visibility</p:attrName>
                                        </p:attrNameLst>
                                      </p:cBhvr>
                                      <p:to>
                                        <p:strVal val="visible"/>
                                      </p:to>
                                    </p:set>
                                    <p:animEffect transition="in" filter="blinds(horizontal)">
                                      <p:cBhvr>
                                        <p:cTn id="47" dur="500"/>
                                        <p:tgtEl>
                                          <p:spTgt spid="3">
                                            <p:txEl>
                                              <p:pRg st="6" end="6"/>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82"/>
                                        </p:tgtEl>
                                        <p:attrNameLst>
                                          <p:attrName>style.visibility</p:attrName>
                                        </p:attrNameLst>
                                      </p:cBhvr>
                                      <p:to>
                                        <p:strVal val="visible"/>
                                      </p:to>
                                    </p:set>
                                    <p:animEffect transition="in" filter="blinds(horizontal)">
                                      <p:cBhvr>
                                        <p:cTn id="52"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200" y="1510758"/>
            <a:ext cx="10515600" cy="4586694"/>
          </a:xfrm>
        </p:spPr>
        <p:txBody>
          <a:bodyPr>
            <a:normAutofit/>
          </a:bodyPr>
          <a:lstStyle/>
          <a:p>
            <a:r>
              <a:rPr lang="zh-CN" altLang="en-US" sz="2400" dirty="0"/>
              <a:t>方法</a:t>
            </a:r>
            <a:r>
              <a:rPr lang="en-US" altLang="zh-CN" sz="2400" dirty="0"/>
              <a:t>3</a:t>
            </a:r>
            <a:r>
              <a:rPr lang="zh-CN" altLang="en-US" sz="2400" dirty="0"/>
              <a:t>：泛洪（</a:t>
            </a:r>
            <a:r>
              <a:rPr lang="en-US" altLang="zh-CN" sz="2400" dirty="0"/>
              <a:t>flooding</a:t>
            </a:r>
            <a:r>
              <a:rPr lang="zh-CN" altLang="en-US" sz="2400" dirty="0"/>
              <a:t>）</a:t>
            </a:r>
            <a:endParaRPr lang="en-US" altLang="zh-CN" sz="2400" dirty="0"/>
          </a:p>
          <a:p>
            <a:pPr lvl="1" fontAlgn="base">
              <a:lnSpc>
                <a:spcPct val="120000"/>
              </a:lnSpc>
            </a:pPr>
            <a:r>
              <a:rPr lang="zh-CN" altLang="en-US" dirty="0"/>
              <a:t>一种将数据包发送到所有网络节点的简单方法</a:t>
            </a:r>
            <a:endParaRPr lang="en-US" altLang="zh-CN" dirty="0"/>
          </a:p>
          <a:p>
            <a:pPr lvl="1" fontAlgn="base">
              <a:lnSpc>
                <a:spcPct val="120000"/>
              </a:lnSpc>
            </a:pPr>
            <a:r>
              <a:rPr lang="zh-CN" altLang="en-US" dirty="0"/>
              <a:t>将每个进入数据包发送到除了进入线路外的每条出去线路</a:t>
            </a:r>
            <a:endParaRPr lang="en-US" altLang="zh-CN" dirty="0"/>
          </a:p>
          <a:p>
            <a:pPr fontAlgn="base">
              <a:lnSpc>
                <a:spcPct val="120000"/>
              </a:lnSpc>
            </a:pPr>
            <a:r>
              <a:rPr lang="zh-CN" altLang="en-US" sz="2400" dirty="0"/>
              <a:t>用途</a:t>
            </a:r>
          </a:p>
          <a:p>
            <a:pPr lvl="1" fontAlgn="base">
              <a:lnSpc>
                <a:spcPct val="120000"/>
              </a:lnSpc>
            </a:pPr>
            <a:r>
              <a:rPr kumimoji="1" lang="zh-CN" altLang="en-US" sz="2000" dirty="0"/>
              <a:t>保证性：一种有效广播手段，可确保数据包被传送到网络中每个节点</a:t>
            </a:r>
          </a:p>
          <a:p>
            <a:pPr lvl="1" fontAlgn="base">
              <a:lnSpc>
                <a:spcPct val="120000"/>
              </a:lnSpc>
            </a:pPr>
            <a:r>
              <a:rPr kumimoji="1" lang="zh-CN" altLang="en-US" sz="2000" dirty="0"/>
              <a:t>鲁棒性：即使大量路由器被损坏，也能找到一条路径（如果存在）</a:t>
            </a:r>
            <a:endParaRPr kumimoji="1" lang="en-US" altLang="zh-CN" sz="2000" dirty="0"/>
          </a:p>
          <a:p>
            <a:pPr lvl="1" fontAlgn="base">
              <a:lnSpc>
                <a:spcPct val="120000"/>
              </a:lnSpc>
            </a:pPr>
            <a:r>
              <a:rPr kumimoji="1" lang="zh-CN" altLang="en-US" sz="2000" dirty="0"/>
              <a:t>简单性：仅需知道自己的邻居</a:t>
            </a:r>
            <a:endParaRPr lang="zh-CN" altLang="en-US" sz="2000" dirty="0"/>
          </a:p>
          <a:p>
            <a:endParaRPr lang="en-US" altLang="zh-CN" sz="2400" dirty="0"/>
          </a:p>
          <a:p>
            <a:endParaRPr lang="zh-CN" altLang="en-US" sz="2000" dirty="0"/>
          </a:p>
        </p:txBody>
      </p:sp>
      <p:sp>
        <p:nvSpPr>
          <p:cNvPr id="6"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
        <p:nvSpPr>
          <p:cNvPr id="7" name="灯片编号占位符 3">
            <a:extLst>
              <a:ext uri="{FF2B5EF4-FFF2-40B4-BE49-F238E27FC236}">
                <a16:creationId xmlns:a16="http://schemas.microsoft.com/office/drawing/2014/main" id="{0DDBC149-976C-104D-B795-CE60EEE77CD6}"/>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56</a:t>
            </a:fld>
            <a:endParaRPr kumimoji="1" lang="zh-CN" altLang="en-US" dirty="0"/>
          </a:p>
        </p:txBody>
      </p:sp>
    </p:spTree>
    <p:extLst>
      <p:ext uri="{BB962C8B-B14F-4D97-AF65-F5344CB8AC3E}">
        <p14:creationId xmlns:p14="http://schemas.microsoft.com/office/powerpoint/2010/main" val="313900964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200" y="1510758"/>
            <a:ext cx="4355189" cy="4586694"/>
          </a:xfrm>
        </p:spPr>
        <p:txBody>
          <a:bodyPr>
            <a:normAutofit/>
          </a:bodyPr>
          <a:lstStyle/>
          <a:p>
            <a:r>
              <a:rPr lang="zh-CN" altLang="en-US" sz="2400" dirty="0"/>
              <a:t>方法</a:t>
            </a:r>
            <a:r>
              <a:rPr lang="en-US" altLang="zh-CN" sz="2400" dirty="0"/>
              <a:t>3</a:t>
            </a:r>
            <a:r>
              <a:rPr lang="zh-CN" altLang="en-US" sz="2400" dirty="0"/>
              <a:t>：泛洪（</a:t>
            </a:r>
            <a:r>
              <a:rPr lang="en-US" altLang="zh-CN" sz="2400" dirty="0"/>
              <a:t>flooding</a:t>
            </a:r>
            <a:r>
              <a:rPr lang="zh-CN" altLang="en-US" sz="2400" dirty="0"/>
              <a:t>）</a:t>
            </a:r>
            <a:endParaRPr lang="en-US" altLang="zh-CN" sz="2400" dirty="0"/>
          </a:p>
          <a:p>
            <a:r>
              <a:rPr lang="zh-CN" altLang="en-US" sz="2400" dirty="0"/>
              <a:t>无控制的泛洪</a:t>
            </a:r>
            <a:endParaRPr lang="en-US" altLang="zh-CN" sz="2400" dirty="0"/>
          </a:p>
          <a:p>
            <a:pPr lvl="1"/>
            <a:r>
              <a:rPr lang="zh-CN" altLang="en-US" sz="2000" dirty="0"/>
              <a:t>实现广播最显而易见的技术</a:t>
            </a:r>
            <a:endParaRPr lang="en-US" altLang="zh-CN" sz="2000" dirty="0"/>
          </a:p>
          <a:p>
            <a:pPr lvl="1"/>
            <a:r>
              <a:rPr lang="zh-CN" altLang="en-US" sz="2000" dirty="0">
                <a:solidFill>
                  <a:srgbClr val="C00000"/>
                </a:solidFill>
              </a:rPr>
              <a:t>环路</a:t>
            </a:r>
            <a:r>
              <a:rPr lang="zh-CN" altLang="en-US" sz="2000" dirty="0"/>
              <a:t>可能导致广播风暴</a:t>
            </a:r>
            <a:endParaRPr lang="en-US" altLang="zh-CN" sz="2000" dirty="0"/>
          </a:p>
          <a:p>
            <a:pPr lvl="1"/>
            <a:r>
              <a:rPr lang="zh-CN" altLang="en-US" sz="2000" dirty="0"/>
              <a:t>路由器可能收到多个副本</a:t>
            </a:r>
            <a:endParaRPr lang="en-US" altLang="zh-CN" sz="2000" dirty="0"/>
          </a:p>
          <a:p>
            <a:pPr lvl="1" fontAlgn="base">
              <a:lnSpc>
                <a:spcPct val="120000"/>
              </a:lnSpc>
            </a:pPr>
            <a:r>
              <a:rPr lang="zh-CN" altLang="en-US" sz="2000" dirty="0"/>
              <a:t>节点需要跟踪已泛洪的数据包以阻止洪泛</a:t>
            </a:r>
          </a:p>
          <a:p>
            <a:pPr lvl="1" fontAlgn="base">
              <a:lnSpc>
                <a:spcPct val="120000"/>
              </a:lnSpc>
            </a:pPr>
            <a:r>
              <a:rPr lang="zh-CN" altLang="en-US" sz="2000" dirty="0"/>
              <a:t>即使利用跳数来限制，也会出现成倍爆炸</a:t>
            </a:r>
          </a:p>
          <a:p>
            <a:pPr lvl="1"/>
            <a:endParaRPr lang="zh-CN" altLang="en-US" sz="2000" dirty="0"/>
          </a:p>
        </p:txBody>
      </p:sp>
      <p:cxnSp>
        <p:nvCxnSpPr>
          <p:cNvPr id="68" name="直接连接符 67">
            <a:extLst>
              <a:ext uri="{FF2B5EF4-FFF2-40B4-BE49-F238E27FC236}">
                <a16:creationId xmlns:a16="http://schemas.microsoft.com/office/drawing/2014/main" id="{691736B9-B89B-487D-8C25-7048E499ADFA}"/>
              </a:ext>
            </a:extLst>
          </p:cNvPr>
          <p:cNvCxnSpPr>
            <a:cxnSpLocks/>
          </p:cNvCxnSpPr>
          <p:nvPr/>
        </p:nvCxnSpPr>
        <p:spPr>
          <a:xfrm flipH="1" flipV="1">
            <a:off x="6818042" y="4256008"/>
            <a:ext cx="1629064" cy="145551"/>
          </a:xfrm>
          <a:prstGeom prst="line">
            <a:avLst/>
          </a:prstGeom>
          <a:ln w="28575"/>
        </p:spPr>
        <p:style>
          <a:lnRef idx="1">
            <a:schemeClr val="dk1"/>
          </a:lnRef>
          <a:fillRef idx="0">
            <a:schemeClr val="dk1"/>
          </a:fillRef>
          <a:effectRef idx="0">
            <a:schemeClr val="dk1"/>
          </a:effectRef>
          <a:fontRef idx="minor">
            <a:schemeClr val="tx1"/>
          </a:fontRef>
        </p:style>
      </p:cxnSp>
      <p:grpSp>
        <p:nvGrpSpPr>
          <p:cNvPr id="34" name="组合 33">
            <a:extLst>
              <a:ext uri="{FF2B5EF4-FFF2-40B4-BE49-F238E27FC236}">
                <a16:creationId xmlns:a16="http://schemas.microsoft.com/office/drawing/2014/main" id="{AC5358B6-48DB-4A55-95AA-E5C85A5CE7E3}"/>
              </a:ext>
            </a:extLst>
          </p:cNvPr>
          <p:cNvGrpSpPr/>
          <p:nvPr/>
        </p:nvGrpSpPr>
        <p:grpSpPr>
          <a:xfrm>
            <a:off x="5139984" y="1392852"/>
            <a:ext cx="6699293" cy="4704600"/>
            <a:chOff x="5139984" y="1392852"/>
            <a:chExt cx="6699293" cy="4704600"/>
          </a:xfrm>
        </p:grpSpPr>
        <p:pic>
          <p:nvPicPr>
            <p:cNvPr id="10" name="Picture 14">
              <a:extLst>
                <a:ext uri="{FF2B5EF4-FFF2-40B4-BE49-F238E27FC236}">
                  <a16:creationId xmlns:a16="http://schemas.microsoft.com/office/drawing/2014/main" id="{E6545ACF-A5EC-471F-BA8A-A21993555D99}"/>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id="{F38FF4BA-EAC0-4BE2-B9B7-7283602DDDDC}"/>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id="{0FD6C0A8-583E-4755-97E3-E916937A3D0B}"/>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4" name="直接连接符 13">
              <a:extLst>
                <a:ext uri="{FF2B5EF4-FFF2-40B4-BE49-F238E27FC236}">
                  <a16:creationId xmlns:a16="http://schemas.microsoft.com/office/drawing/2014/main" id="{4E3E0B86-D4CD-401F-B889-A0F286162E83}"/>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id="{1AB381EE-1DCD-498F-A26E-E76E0D8A2263}"/>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7" name="直接连接符 16">
              <a:extLst>
                <a:ext uri="{FF2B5EF4-FFF2-40B4-BE49-F238E27FC236}">
                  <a16:creationId xmlns:a16="http://schemas.microsoft.com/office/drawing/2014/main" id="{560F523E-A7F1-4645-B99E-32326E96D25C}"/>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8" name="直接连接符 17">
              <a:extLst>
                <a:ext uri="{FF2B5EF4-FFF2-40B4-BE49-F238E27FC236}">
                  <a16:creationId xmlns:a16="http://schemas.microsoft.com/office/drawing/2014/main" id="{34F836B0-1790-47ED-AB02-9FF9335C5DF2}"/>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5" name="Picture 57" descr="通用路由器">
              <a:extLst>
                <a:ext uri="{FF2B5EF4-FFF2-40B4-BE49-F238E27FC236}">
                  <a16:creationId xmlns:a16="http://schemas.microsoft.com/office/drawing/2014/main" id="{B1BE1F16-0664-4BC4-9883-7EFE12C3C6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7" descr="通用路由器">
              <a:extLst>
                <a:ext uri="{FF2B5EF4-FFF2-40B4-BE49-F238E27FC236}">
                  <a16:creationId xmlns:a16="http://schemas.microsoft.com/office/drawing/2014/main" id="{3CF8D07C-4D85-4AD9-9494-5A39149E18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a:extLst>
                <a:ext uri="{FF2B5EF4-FFF2-40B4-BE49-F238E27FC236}">
                  <a16:creationId xmlns:a16="http://schemas.microsoft.com/office/drawing/2014/main" id="{B1BE1F16-0664-4BC4-9883-7EFE12C3C6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a:extLst>
                <a:ext uri="{FF2B5EF4-FFF2-40B4-BE49-F238E27FC236}">
                  <a16:creationId xmlns:a16="http://schemas.microsoft.com/office/drawing/2014/main" id="{B1BE1F16-0664-4BC4-9883-7EFE12C3C6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9" descr="服务器终端">
              <a:extLst>
                <a:ext uri="{FF2B5EF4-FFF2-40B4-BE49-F238E27FC236}">
                  <a16:creationId xmlns:a16="http://schemas.microsoft.com/office/drawing/2014/main" id="{96D82ECE-9E95-44BE-BB64-94C82FC482F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id="{81C2B951-6AEE-441B-B5C2-DAF01D753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id="{431BBD0D-6EC1-4AC8-A302-799D9A792D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id="{08C1297A-69ED-4644-AFF4-745ED1BF82C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id="{20F332EE-AC13-4530-9A46-F8A635140A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id="{A834B96A-8D6C-47C9-9B80-4A8CB70433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5" descr="服务器类">
              <a:extLst>
                <a:ext uri="{FF2B5EF4-FFF2-40B4-BE49-F238E27FC236}">
                  <a16:creationId xmlns:a16="http://schemas.microsoft.com/office/drawing/2014/main" id="{DB2F4158-9AB5-4D89-8E00-9C65E3F55B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26" name="文本框 25">
              <a:extLst>
                <a:ext uri="{FF2B5EF4-FFF2-40B4-BE49-F238E27FC236}">
                  <a16:creationId xmlns:a16="http://schemas.microsoft.com/office/drawing/2014/main" id="{DD88C6E0-9D94-4C1A-9712-CEF9BE398064}"/>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27" name="文本框 26">
              <a:extLst>
                <a:ext uri="{FF2B5EF4-FFF2-40B4-BE49-F238E27FC236}">
                  <a16:creationId xmlns:a16="http://schemas.microsoft.com/office/drawing/2014/main" id="{6B5A2549-2684-4238-9983-6DF5DF8D4325}"/>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28" name="文本框 27">
              <a:extLst>
                <a:ext uri="{FF2B5EF4-FFF2-40B4-BE49-F238E27FC236}">
                  <a16:creationId xmlns:a16="http://schemas.microsoft.com/office/drawing/2014/main" id="{98C8FED6-9AD9-424A-B617-ADFCCFD2E97F}"/>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id="{8293B46F-89DA-48C5-8BDD-A7281C68077F}"/>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id="{C96216BB-4A35-4643-9217-0A2D570FE783}"/>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id="{7BD3B445-8E36-4AF0-8F6E-DA7C2CB12493}"/>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id="{787108AF-665E-4E7F-BA6A-99D2E25AA204}"/>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3" name="文本框 32">
              <a:extLst>
                <a:ext uri="{FF2B5EF4-FFF2-40B4-BE49-F238E27FC236}">
                  <a16:creationId xmlns:a16="http://schemas.microsoft.com/office/drawing/2014/main" id="{5CEECB0C-1F2F-46DF-A165-FB2ECAE56F69}"/>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cxnSp>
        <p:nvCxnSpPr>
          <p:cNvPr id="40" name="直接箭头连接符 39">
            <a:extLst>
              <a:ext uri="{FF2B5EF4-FFF2-40B4-BE49-F238E27FC236}">
                <a16:creationId xmlns:a16="http://schemas.microsoft.com/office/drawing/2014/main" id="{44FDDDED-5552-4672-951C-586C31456892}"/>
              </a:ext>
            </a:extLst>
          </p:cNvPr>
          <p:cNvCxnSpPr/>
          <p:nvPr/>
        </p:nvCxnSpPr>
        <p:spPr>
          <a:xfrm>
            <a:off x="8620512" y="2422639"/>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41" name="任意多边形: 形状 40">
            <a:extLst>
              <a:ext uri="{FF2B5EF4-FFF2-40B4-BE49-F238E27FC236}">
                <a16:creationId xmlns:a16="http://schemas.microsoft.com/office/drawing/2014/main" id="{14D56154-AC12-4278-BE70-C349207E5FD3}"/>
              </a:ext>
            </a:extLst>
          </p:cNvPr>
          <p:cNvSpPr/>
          <p:nvPr/>
        </p:nvSpPr>
        <p:spPr>
          <a:xfrm>
            <a:off x="7161632" y="3409122"/>
            <a:ext cx="1358398" cy="798340"/>
          </a:xfrm>
          <a:custGeom>
            <a:avLst/>
            <a:gdLst>
              <a:gd name="connsiteX0" fmla="*/ 859246 w 1358398"/>
              <a:gd name="connsiteY0" fmla="*/ 0 h 798340"/>
              <a:gd name="connsiteX1" fmla="*/ 4481 w 1358398"/>
              <a:gd name="connsiteY1" fmla="*/ 487017 h 798340"/>
              <a:gd name="connsiteX2" fmla="*/ 1187238 w 1358398"/>
              <a:gd name="connsiteY2" fmla="*/ 795130 h 798340"/>
              <a:gd name="connsiteX3" fmla="*/ 1326385 w 1358398"/>
              <a:gd name="connsiteY3" fmla="*/ 298174 h 798340"/>
            </a:gdLst>
            <a:ahLst/>
            <a:cxnLst>
              <a:cxn ang="0">
                <a:pos x="connsiteX0" y="connsiteY0"/>
              </a:cxn>
              <a:cxn ang="0">
                <a:pos x="connsiteX1" y="connsiteY1"/>
              </a:cxn>
              <a:cxn ang="0">
                <a:pos x="connsiteX2" y="connsiteY2"/>
              </a:cxn>
              <a:cxn ang="0">
                <a:pos x="connsiteX3" y="connsiteY3"/>
              </a:cxn>
            </a:cxnLst>
            <a:rect l="l" t="t" r="r" b="b"/>
            <a:pathLst>
              <a:path w="1358398" h="798340">
                <a:moveTo>
                  <a:pt x="859246" y="0"/>
                </a:moveTo>
                <a:cubicBezTo>
                  <a:pt x="404531" y="177247"/>
                  <a:pt x="-50184" y="354495"/>
                  <a:pt x="4481" y="487017"/>
                </a:cubicBezTo>
                <a:cubicBezTo>
                  <a:pt x="59146" y="619539"/>
                  <a:pt x="966921" y="826604"/>
                  <a:pt x="1187238" y="795130"/>
                </a:cubicBezTo>
                <a:cubicBezTo>
                  <a:pt x="1407555" y="763656"/>
                  <a:pt x="1366970" y="530915"/>
                  <a:pt x="1326385" y="298174"/>
                </a:cubicBezTo>
              </a:path>
            </a:pathLst>
          </a:custGeom>
          <a:noFill/>
          <a:ln w="3810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任意多边形: 形状 41">
            <a:extLst>
              <a:ext uri="{FF2B5EF4-FFF2-40B4-BE49-F238E27FC236}">
                <a16:creationId xmlns:a16="http://schemas.microsoft.com/office/drawing/2014/main" id="{A56B47C8-9D29-4171-88B2-BF9BD2B78AAF}"/>
              </a:ext>
            </a:extLst>
          </p:cNvPr>
          <p:cNvSpPr/>
          <p:nvPr/>
        </p:nvSpPr>
        <p:spPr>
          <a:xfrm>
            <a:off x="9168070" y="3361684"/>
            <a:ext cx="993913" cy="576470"/>
          </a:xfrm>
          <a:custGeom>
            <a:avLst/>
            <a:gdLst>
              <a:gd name="connsiteX0" fmla="*/ 0 w 993913"/>
              <a:gd name="connsiteY0" fmla="*/ 0 h 576470"/>
              <a:gd name="connsiteX1" fmla="*/ 993913 w 993913"/>
              <a:gd name="connsiteY1" fmla="*/ 576470 h 576470"/>
            </a:gdLst>
            <a:ahLst/>
            <a:cxnLst>
              <a:cxn ang="0">
                <a:pos x="connsiteX0" y="connsiteY0"/>
              </a:cxn>
              <a:cxn ang="0">
                <a:pos x="connsiteX1" y="connsiteY1"/>
              </a:cxn>
            </a:cxnLst>
            <a:rect l="l" t="t" r="r" b="b"/>
            <a:pathLst>
              <a:path w="993913" h="576470">
                <a:moveTo>
                  <a:pt x="0" y="0"/>
                </a:moveTo>
                <a:lnTo>
                  <a:pt x="993913" y="576470"/>
                </a:lnTo>
              </a:path>
            </a:pathLst>
          </a:custGeom>
          <a:noFill/>
          <a:ln w="3810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任意多边形: 形状 42">
            <a:extLst>
              <a:ext uri="{FF2B5EF4-FFF2-40B4-BE49-F238E27FC236}">
                <a16:creationId xmlns:a16="http://schemas.microsoft.com/office/drawing/2014/main" id="{BDC74E0A-2B03-40B7-8C87-A4C9897BA09D}"/>
              </a:ext>
            </a:extLst>
          </p:cNvPr>
          <p:cNvSpPr/>
          <p:nvPr/>
        </p:nvSpPr>
        <p:spPr>
          <a:xfrm>
            <a:off x="7399175" y="3617843"/>
            <a:ext cx="1472214" cy="646386"/>
          </a:xfrm>
          <a:custGeom>
            <a:avLst/>
            <a:gdLst>
              <a:gd name="connsiteX0" fmla="*/ 1337321 w 1472214"/>
              <a:gd name="connsiteY0" fmla="*/ 0 h 646386"/>
              <a:gd name="connsiteX1" fmla="*/ 1347260 w 1472214"/>
              <a:gd name="connsiteY1" fmla="*/ 596348 h 646386"/>
              <a:gd name="connsiteX2" fmla="*/ 15416 w 1472214"/>
              <a:gd name="connsiteY2" fmla="*/ 556592 h 646386"/>
              <a:gd name="connsiteX3" fmla="*/ 740973 w 1472214"/>
              <a:gd name="connsiteY3" fmla="*/ 99392 h 646386"/>
            </a:gdLst>
            <a:ahLst/>
            <a:cxnLst>
              <a:cxn ang="0">
                <a:pos x="connsiteX0" y="connsiteY0"/>
              </a:cxn>
              <a:cxn ang="0">
                <a:pos x="connsiteX1" y="connsiteY1"/>
              </a:cxn>
              <a:cxn ang="0">
                <a:pos x="connsiteX2" y="connsiteY2"/>
              </a:cxn>
              <a:cxn ang="0">
                <a:pos x="connsiteX3" y="connsiteY3"/>
              </a:cxn>
            </a:cxnLst>
            <a:rect l="l" t="t" r="r" b="b"/>
            <a:pathLst>
              <a:path w="1472214" h="646386">
                <a:moveTo>
                  <a:pt x="1337321" y="0"/>
                </a:moveTo>
                <a:cubicBezTo>
                  <a:pt x="1452449" y="251791"/>
                  <a:pt x="1567577" y="503583"/>
                  <a:pt x="1347260" y="596348"/>
                </a:cubicBezTo>
                <a:cubicBezTo>
                  <a:pt x="1126943" y="689113"/>
                  <a:pt x="116464" y="639418"/>
                  <a:pt x="15416" y="556592"/>
                </a:cubicBezTo>
                <a:cubicBezTo>
                  <a:pt x="-85632" y="473766"/>
                  <a:pt x="327670" y="286579"/>
                  <a:pt x="740973" y="99392"/>
                </a:cubicBezTo>
              </a:path>
            </a:pathLst>
          </a:custGeom>
          <a:noFill/>
          <a:ln w="3810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5" name="直接箭头连接符 44">
            <a:extLst>
              <a:ext uri="{FF2B5EF4-FFF2-40B4-BE49-F238E27FC236}">
                <a16:creationId xmlns:a16="http://schemas.microsoft.com/office/drawing/2014/main" id="{4C929255-9AA8-48A3-9D6F-D945370EFE05}"/>
              </a:ext>
            </a:extLst>
          </p:cNvPr>
          <p:cNvCxnSpPr>
            <a:cxnSpLocks/>
          </p:cNvCxnSpPr>
          <p:nvPr/>
        </p:nvCxnSpPr>
        <p:spPr>
          <a:xfrm flipV="1">
            <a:off x="8321923" y="2543501"/>
            <a:ext cx="0" cy="460267"/>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
        <p:nvSpPr>
          <p:cNvPr id="44" name="灯片编号占位符 3">
            <a:extLst>
              <a:ext uri="{FF2B5EF4-FFF2-40B4-BE49-F238E27FC236}">
                <a16:creationId xmlns:a16="http://schemas.microsoft.com/office/drawing/2014/main" id="{4ED6883A-93D3-4649-AD82-A6ADC1B73E18}"/>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57</a:t>
            </a:fld>
            <a:endParaRPr kumimoji="1" lang="zh-CN" altLang="en-US" dirty="0"/>
          </a:p>
        </p:txBody>
      </p:sp>
    </p:spTree>
    <p:extLst>
      <p:ext uri="{BB962C8B-B14F-4D97-AF65-F5344CB8AC3E}">
        <p14:creationId xmlns:p14="http://schemas.microsoft.com/office/powerpoint/2010/main" val="3000528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blinds(horizontal)">
                                      <p:cBhvr>
                                        <p:cTn id="7" dur="500"/>
                                        <p:tgtEl>
                                          <p:spTgt spid="3">
                                            <p:txEl>
                                              <p:pRg st="1" end="1"/>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2" end="2"/>
                                            </p:txEl>
                                          </p:spTgt>
                                        </p:tgtEl>
                                        <p:attrNameLst>
                                          <p:attrName>style.visibility</p:attrName>
                                        </p:attrNameLst>
                                      </p:cBhvr>
                                      <p:to>
                                        <p:strVal val="visible"/>
                                      </p:to>
                                    </p:set>
                                    <p:animEffect transition="in" filter="blinds(horizontal)">
                                      <p:cBhvr>
                                        <p:cTn id="10" dur="500"/>
                                        <p:tgtEl>
                                          <p:spTgt spid="3">
                                            <p:txEl>
                                              <p:pRg st="2" end="2"/>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Effect transition="in" filter="blinds(horizontal)">
                                      <p:cBhvr>
                                        <p:cTn id="13" dur="500"/>
                                        <p:tgtEl>
                                          <p:spTgt spid="3">
                                            <p:txEl>
                                              <p:pRg st="3" end="3"/>
                                            </p:txEl>
                                          </p:spTgt>
                                        </p:tgtEl>
                                      </p:cBhvr>
                                    </p:animEffect>
                                  </p:childTnLst>
                                </p:cTn>
                              </p:par>
                              <p:par>
                                <p:cTn id="14" presetID="3" presetClass="entr" presetSubtype="10" fill="hold" nodeType="withEffect">
                                  <p:stCondLst>
                                    <p:cond delay="0"/>
                                  </p:stCondLst>
                                  <p:childTnLst>
                                    <p:set>
                                      <p:cBhvr>
                                        <p:cTn id="15" dur="1" fill="hold">
                                          <p:stCondLst>
                                            <p:cond delay="0"/>
                                          </p:stCondLst>
                                        </p:cTn>
                                        <p:tgtEl>
                                          <p:spTgt spid="3">
                                            <p:txEl>
                                              <p:pRg st="4" end="4"/>
                                            </p:txEl>
                                          </p:spTgt>
                                        </p:tgtEl>
                                        <p:attrNameLst>
                                          <p:attrName>style.visibility</p:attrName>
                                        </p:attrNameLst>
                                      </p:cBhvr>
                                      <p:to>
                                        <p:strVal val="visible"/>
                                      </p:to>
                                    </p:set>
                                    <p:animEffect transition="in" filter="blinds(horizontal)">
                                      <p:cBhvr>
                                        <p:cTn id="16" dur="500"/>
                                        <p:tgtEl>
                                          <p:spTgt spid="3">
                                            <p:txEl>
                                              <p:pRg st="4" end="4"/>
                                            </p:txEl>
                                          </p:spTgt>
                                        </p:tgtEl>
                                      </p:cBhvr>
                                    </p:animEffect>
                                  </p:childTnLst>
                                </p:cTn>
                              </p:par>
                              <p:par>
                                <p:cTn id="17" presetID="3" presetClass="entr" presetSubtype="1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Effect transition="in" filter="blinds(horizontal)">
                                      <p:cBhvr>
                                        <p:cTn id="19" dur="500"/>
                                        <p:tgtEl>
                                          <p:spTgt spid="3">
                                            <p:txEl>
                                              <p:pRg st="5" end="5"/>
                                            </p:txEl>
                                          </p:spTgt>
                                        </p:tgtEl>
                                      </p:cBhvr>
                                    </p:animEffect>
                                  </p:childTnLst>
                                </p:cTn>
                              </p:par>
                              <p:par>
                                <p:cTn id="20" presetID="3" presetClass="entr" presetSubtype="10" fill="hold" nodeType="with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animEffect transition="in" filter="blinds(horizontal)">
                                      <p:cBhvr>
                                        <p:cTn id="22" dur="500"/>
                                        <p:tgtEl>
                                          <p:spTgt spid="3">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wipe(up)">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nodeType="clickEffect">
                                  <p:stCondLst>
                                    <p:cond delay="0"/>
                                  </p:stCondLst>
                                  <p:childTnLst>
                                    <p:set>
                                      <p:cBhvr>
                                        <p:cTn id="31" dur="1" fill="hold">
                                          <p:stCondLst>
                                            <p:cond delay="0"/>
                                          </p:stCondLst>
                                        </p:cTn>
                                        <p:tgtEl>
                                          <p:spTgt spid="40"/>
                                        </p:tgtEl>
                                        <p:attrNameLst>
                                          <p:attrName>style.visibility</p:attrName>
                                        </p:attrNameLst>
                                      </p:cBhvr>
                                      <p:to>
                                        <p:strVal val="hidden"/>
                                      </p:to>
                                    </p:set>
                                  </p:childTnLst>
                                </p:cTn>
                              </p:par>
                            </p:childTnLst>
                          </p:cTn>
                        </p:par>
                        <p:par>
                          <p:cTn id="32" fill="hold">
                            <p:stCondLst>
                              <p:cond delay="0"/>
                            </p:stCondLst>
                            <p:childTnLst>
                              <p:par>
                                <p:cTn id="33" presetID="22" presetClass="entr" presetSubtype="2" repeatCount="indefinite" fill="hold" grpId="0" nodeType="afterEffect">
                                  <p:stCondLst>
                                    <p:cond delay="500"/>
                                  </p:stCondLst>
                                  <p:childTnLst>
                                    <p:set>
                                      <p:cBhvr>
                                        <p:cTn id="34" dur="1" fill="hold">
                                          <p:stCondLst>
                                            <p:cond delay="0"/>
                                          </p:stCondLst>
                                        </p:cTn>
                                        <p:tgtEl>
                                          <p:spTgt spid="43"/>
                                        </p:tgtEl>
                                        <p:attrNameLst>
                                          <p:attrName>style.visibility</p:attrName>
                                        </p:attrNameLst>
                                      </p:cBhvr>
                                      <p:to>
                                        <p:strVal val="visible"/>
                                      </p:to>
                                    </p:set>
                                    <p:animEffect transition="in" filter="wipe(right)">
                                      <p:cBhvr>
                                        <p:cTn id="35" dur="1000"/>
                                        <p:tgtEl>
                                          <p:spTgt spid="43"/>
                                        </p:tgtEl>
                                      </p:cBhvr>
                                    </p:animEffect>
                                  </p:childTnLst>
                                </p:cTn>
                              </p:par>
                              <p:par>
                                <p:cTn id="36" presetID="22" presetClass="entr" presetSubtype="8" repeatCount="indefinite" fill="hold" grpId="0" nodeType="withEffect">
                                  <p:stCondLst>
                                    <p:cond delay="500"/>
                                  </p:stCondLst>
                                  <p:childTnLst>
                                    <p:set>
                                      <p:cBhvr>
                                        <p:cTn id="37" dur="1" fill="hold">
                                          <p:stCondLst>
                                            <p:cond delay="0"/>
                                          </p:stCondLst>
                                        </p:cTn>
                                        <p:tgtEl>
                                          <p:spTgt spid="41"/>
                                        </p:tgtEl>
                                        <p:attrNameLst>
                                          <p:attrName>style.visibility</p:attrName>
                                        </p:attrNameLst>
                                      </p:cBhvr>
                                      <p:to>
                                        <p:strVal val="visible"/>
                                      </p:to>
                                    </p:set>
                                    <p:animEffect transition="in" filter="wipe(left)">
                                      <p:cBhvr>
                                        <p:cTn id="38" dur="1000"/>
                                        <p:tgtEl>
                                          <p:spTgt spid="41"/>
                                        </p:tgtEl>
                                      </p:cBhvr>
                                    </p:animEffect>
                                  </p:childTnLst>
                                </p:cTn>
                              </p:par>
                              <p:par>
                                <p:cTn id="39" presetID="22" presetClass="entr" presetSubtype="1" repeatCount="indefinite" fill="hold" grpId="0" nodeType="withEffect">
                                  <p:stCondLst>
                                    <p:cond delay="500"/>
                                  </p:stCondLst>
                                  <p:childTnLst>
                                    <p:set>
                                      <p:cBhvr>
                                        <p:cTn id="40" dur="1" fill="hold">
                                          <p:stCondLst>
                                            <p:cond delay="0"/>
                                          </p:stCondLst>
                                        </p:cTn>
                                        <p:tgtEl>
                                          <p:spTgt spid="42"/>
                                        </p:tgtEl>
                                        <p:attrNameLst>
                                          <p:attrName>style.visibility</p:attrName>
                                        </p:attrNameLst>
                                      </p:cBhvr>
                                      <p:to>
                                        <p:strVal val="visible"/>
                                      </p:to>
                                    </p:set>
                                    <p:animEffect transition="in" filter="wipe(up)">
                                      <p:cBhvr>
                                        <p:cTn id="41" dur="1000"/>
                                        <p:tgtEl>
                                          <p:spTgt spid="42"/>
                                        </p:tgtEl>
                                      </p:cBhvr>
                                    </p:animEffect>
                                  </p:childTnLst>
                                </p:cTn>
                              </p:par>
                              <p:par>
                                <p:cTn id="42" presetID="22" presetClass="entr" presetSubtype="4" repeatCount="indefinite" fill="hold" nodeType="withEffect">
                                  <p:stCondLst>
                                    <p:cond delay="500"/>
                                  </p:stCondLst>
                                  <p:childTnLst>
                                    <p:set>
                                      <p:cBhvr>
                                        <p:cTn id="43" dur="1" fill="hold">
                                          <p:stCondLst>
                                            <p:cond delay="0"/>
                                          </p:stCondLst>
                                        </p:cTn>
                                        <p:tgtEl>
                                          <p:spTgt spid="45"/>
                                        </p:tgtEl>
                                        <p:attrNameLst>
                                          <p:attrName>style.visibility</p:attrName>
                                        </p:attrNameLst>
                                      </p:cBhvr>
                                      <p:to>
                                        <p:strVal val="visible"/>
                                      </p:to>
                                    </p:set>
                                    <p:animEffect transition="in" filter="wipe(down)">
                                      <p:cBhvr>
                                        <p:cTn id="44" dur="1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199" y="1510758"/>
            <a:ext cx="10515601" cy="1437724"/>
          </a:xfrm>
        </p:spPr>
        <p:txBody>
          <a:bodyPr>
            <a:normAutofit/>
          </a:bodyPr>
          <a:lstStyle/>
          <a:p>
            <a:pPr marL="0" indent="0">
              <a:lnSpc>
                <a:spcPct val="130000"/>
              </a:lnSpc>
              <a:buNone/>
            </a:pPr>
            <a:r>
              <a:rPr lang="zh-CN" altLang="en-US" sz="2400" dirty="0">
                <a:solidFill>
                  <a:srgbClr val="C00000"/>
                </a:solidFill>
              </a:rPr>
              <a:t>解决方法</a:t>
            </a:r>
            <a:r>
              <a:rPr lang="zh-CN" altLang="en-US" sz="2400" dirty="0">
                <a:solidFill>
                  <a:schemeClr val="tx1">
                    <a:lumMod val="95000"/>
                    <a:lumOff val="5000"/>
                  </a:schemeClr>
                </a:solidFill>
              </a:rPr>
              <a:t>：受控制的泛洪（每个路由器进行有选择的泛洪）</a:t>
            </a:r>
            <a:endParaRPr lang="en-US" altLang="zh-CN" sz="2000" dirty="0">
              <a:solidFill>
                <a:schemeClr val="tx1">
                  <a:lumMod val="95000"/>
                  <a:lumOff val="5000"/>
                </a:schemeClr>
              </a:solidFill>
            </a:endParaRPr>
          </a:p>
          <a:p>
            <a:pPr>
              <a:lnSpc>
                <a:spcPct val="130000"/>
              </a:lnSpc>
            </a:pPr>
            <a:r>
              <a:rPr lang="zh-CN" altLang="en-US" sz="2400" dirty="0">
                <a:solidFill>
                  <a:srgbClr val="5B307E"/>
                </a:solidFill>
              </a:rPr>
              <a:t>序号控制泛洪</a:t>
            </a:r>
            <a:r>
              <a:rPr lang="zh-CN" altLang="en-US" sz="2400" dirty="0"/>
              <a:t>（</a:t>
            </a:r>
            <a:r>
              <a:rPr lang="en-US" altLang="zh-CN" sz="2400" dirty="0"/>
              <a:t>sequence-number-controlled flooding</a:t>
            </a:r>
            <a:r>
              <a:rPr lang="zh-CN" altLang="en-US" sz="2400" dirty="0"/>
              <a:t>）</a:t>
            </a:r>
          </a:p>
          <a:p>
            <a:pPr marL="457200" lvl="1" indent="0">
              <a:lnSpc>
                <a:spcPct val="130000"/>
              </a:lnSpc>
              <a:buNone/>
            </a:pPr>
            <a:endParaRPr lang="zh-CN" altLang="en-US" sz="2000" dirty="0"/>
          </a:p>
        </p:txBody>
      </p:sp>
      <p:grpSp>
        <p:nvGrpSpPr>
          <p:cNvPr id="75" name="组合 74">
            <a:extLst>
              <a:ext uri="{FF2B5EF4-FFF2-40B4-BE49-F238E27FC236}">
                <a16:creationId xmlns:a16="http://schemas.microsoft.com/office/drawing/2014/main" id="{A4302477-66B0-4F44-9A20-45B33FA0D062}"/>
              </a:ext>
            </a:extLst>
          </p:cNvPr>
          <p:cNvGrpSpPr/>
          <p:nvPr/>
        </p:nvGrpSpPr>
        <p:grpSpPr>
          <a:xfrm>
            <a:off x="1641296" y="2912094"/>
            <a:ext cx="2150917" cy="1797732"/>
            <a:chOff x="8610600" y="3304703"/>
            <a:chExt cx="2150917" cy="1797732"/>
          </a:xfrm>
        </p:grpSpPr>
        <p:grpSp>
          <p:nvGrpSpPr>
            <p:cNvPr id="76" name="组合 75">
              <a:extLst>
                <a:ext uri="{FF2B5EF4-FFF2-40B4-BE49-F238E27FC236}">
                  <a16:creationId xmlns:a16="http://schemas.microsoft.com/office/drawing/2014/main" id="{0AE31F21-E8C5-4A46-9F83-115191041F56}"/>
                </a:ext>
              </a:extLst>
            </p:cNvPr>
            <p:cNvGrpSpPr/>
            <p:nvPr/>
          </p:nvGrpSpPr>
          <p:grpSpPr>
            <a:xfrm>
              <a:off x="8610600" y="3612336"/>
              <a:ext cx="2150917" cy="1357601"/>
              <a:chOff x="7086601" y="4243099"/>
              <a:chExt cx="2150917" cy="1357601"/>
            </a:xfrm>
          </p:grpSpPr>
          <p:cxnSp>
            <p:nvCxnSpPr>
              <p:cNvPr id="84" name="直接连接符 83">
                <a:extLst>
                  <a:ext uri="{FF2B5EF4-FFF2-40B4-BE49-F238E27FC236}">
                    <a16:creationId xmlns:a16="http://schemas.microsoft.com/office/drawing/2014/main" id="{C58D492E-E129-4DA1-9387-80C9EAD3286C}"/>
                  </a:ext>
                </a:extLst>
              </p:cNvPr>
              <p:cNvCxnSpPr>
                <a:cxnSpLocks/>
              </p:cNvCxnSpPr>
              <p:nvPr/>
            </p:nvCxnSpPr>
            <p:spPr>
              <a:xfrm>
                <a:off x="8223665" y="4243099"/>
                <a:ext cx="0" cy="951159"/>
              </a:xfrm>
              <a:prstGeom prst="line">
                <a:avLst/>
              </a:prstGeom>
              <a:ln w="28575"/>
            </p:spPr>
            <p:style>
              <a:lnRef idx="1">
                <a:schemeClr val="dk1"/>
              </a:lnRef>
              <a:fillRef idx="0">
                <a:schemeClr val="dk1"/>
              </a:fillRef>
              <a:effectRef idx="0">
                <a:schemeClr val="dk1"/>
              </a:effectRef>
              <a:fontRef idx="minor">
                <a:schemeClr val="tx1"/>
              </a:fontRef>
            </p:style>
          </p:cxnSp>
          <p:cxnSp>
            <p:nvCxnSpPr>
              <p:cNvPr id="85" name="直接连接符 84">
                <a:extLst>
                  <a:ext uri="{FF2B5EF4-FFF2-40B4-BE49-F238E27FC236}">
                    <a16:creationId xmlns:a16="http://schemas.microsoft.com/office/drawing/2014/main" id="{91721942-2705-4B93-91EB-F666310E0C02}"/>
                  </a:ext>
                </a:extLst>
              </p:cNvPr>
              <p:cNvCxnSpPr>
                <a:cxnSpLocks/>
              </p:cNvCxnSpPr>
              <p:nvPr/>
            </p:nvCxnSpPr>
            <p:spPr>
              <a:xfrm flipH="1">
                <a:off x="7086601" y="5194258"/>
                <a:ext cx="1020640" cy="406442"/>
              </a:xfrm>
              <a:prstGeom prst="line">
                <a:avLst/>
              </a:prstGeom>
              <a:ln w="28575"/>
            </p:spPr>
            <p:style>
              <a:lnRef idx="1">
                <a:schemeClr val="dk1"/>
              </a:lnRef>
              <a:fillRef idx="0">
                <a:schemeClr val="dk1"/>
              </a:fillRef>
              <a:effectRef idx="0">
                <a:schemeClr val="dk1"/>
              </a:effectRef>
              <a:fontRef idx="minor">
                <a:schemeClr val="tx1"/>
              </a:fontRef>
            </p:style>
          </p:cxnSp>
          <p:cxnSp>
            <p:nvCxnSpPr>
              <p:cNvPr id="86" name="直接连接符 85">
                <a:extLst>
                  <a:ext uri="{FF2B5EF4-FFF2-40B4-BE49-F238E27FC236}">
                    <a16:creationId xmlns:a16="http://schemas.microsoft.com/office/drawing/2014/main" id="{87BB744D-5766-4242-89D1-7747B9AB7A05}"/>
                  </a:ext>
                </a:extLst>
              </p:cNvPr>
              <p:cNvCxnSpPr>
                <a:cxnSpLocks/>
              </p:cNvCxnSpPr>
              <p:nvPr/>
            </p:nvCxnSpPr>
            <p:spPr>
              <a:xfrm>
                <a:off x="8299147" y="5195438"/>
                <a:ext cx="938371" cy="405262"/>
              </a:xfrm>
              <a:prstGeom prst="line">
                <a:avLst/>
              </a:prstGeom>
              <a:ln w="28575"/>
            </p:spPr>
            <p:style>
              <a:lnRef idx="1">
                <a:schemeClr val="dk1"/>
              </a:lnRef>
              <a:fillRef idx="0">
                <a:schemeClr val="dk1"/>
              </a:fillRef>
              <a:effectRef idx="0">
                <a:schemeClr val="dk1"/>
              </a:effectRef>
              <a:fontRef idx="minor">
                <a:schemeClr val="tx1"/>
              </a:fontRef>
            </p:style>
          </p:cxnSp>
          <p:pic>
            <p:nvPicPr>
              <p:cNvPr id="87" name="Picture 57" descr="通用路由器">
                <a:extLst>
                  <a:ext uri="{FF2B5EF4-FFF2-40B4-BE49-F238E27FC236}">
                    <a16:creationId xmlns:a16="http://schemas.microsoft.com/office/drawing/2014/main" id="{1DB9C698-BEA0-4CDA-962B-A39ACB57F82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53667" y="5006930"/>
                <a:ext cx="539997" cy="398001"/>
              </a:xfrm>
              <a:prstGeom prst="rect">
                <a:avLst/>
              </a:prstGeom>
              <a:noFill/>
              <a:extLst>
                <a:ext uri="{909E8E84-426E-40DD-AFC4-6F175D3DCCD1}">
                  <a14:hiddenFill xmlns:a14="http://schemas.microsoft.com/office/drawing/2010/main">
                    <a:solidFill>
                      <a:srgbClr val="FFFFFF"/>
                    </a:solidFill>
                  </a14:hiddenFill>
                </a:ext>
              </a:extLst>
            </p:spPr>
          </p:pic>
        </p:grpSp>
        <p:sp>
          <p:nvSpPr>
            <p:cNvPr id="77" name="文本框 76">
              <a:extLst>
                <a:ext uri="{FF2B5EF4-FFF2-40B4-BE49-F238E27FC236}">
                  <a16:creationId xmlns:a16="http://schemas.microsoft.com/office/drawing/2014/main" id="{9E042DBA-ABA1-484E-BBBD-70E3C268A7B5}"/>
                </a:ext>
              </a:extLst>
            </p:cNvPr>
            <p:cNvSpPr txBox="1"/>
            <p:nvPr/>
          </p:nvSpPr>
          <p:spPr>
            <a:xfrm>
              <a:off x="9605936" y="4733103"/>
              <a:ext cx="335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a:t>
              </a:r>
              <a:endParaRPr lang="zh-CN" altLang="en-US" dirty="0">
                <a:latin typeface="微软雅黑" panose="020B0503020204020204" pitchFamily="34" charset="-122"/>
                <a:ea typeface="微软雅黑" panose="020B0503020204020204" pitchFamily="34" charset="-122"/>
              </a:endParaRPr>
            </a:p>
          </p:txBody>
        </p:sp>
        <p:sp>
          <p:nvSpPr>
            <p:cNvPr id="78" name="文本框 77">
              <a:extLst>
                <a:ext uri="{FF2B5EF4-FFF2-40B4-BE49-F238E27FC236}">
                  <a16:creationId xmlns:a16="http://schemas.microsoft.com/office/drawing/2014/main" id="{FBA53D0E-A994-4613-A99F-A989083F0F91}"/>
                </a:ext>
              </a:extLst>
            </p:cNvPr>
            <p:cNvSpPr txBox="1"/>
            <p:nvPr/>
          </p:nvSpPr>
          <p:spPr>
            <a:xfrm>
              <a:off x="9668005" y="4058548"/>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1</a:t>
              </a:r>
              <a:endParaRPr lang="zh-CN" altLang="en-US" dirty="0">
                <a:latin typeface="微软雅黑" panose="020B0503020204020204" pitchFamily="34" charset="-122"/>
                <a:ea typeface="微软雅黑" panose="020B0503020204020204" pitchFamily="34" charset="-122"/>
              </a:endParaRPr>
            </a:p>
          </p:txBody>
        </p:sp>
        <p:sp>
          <p:nvSpPr>
            <p:cNvPr id="79" name="文本框 78">
              <a:extLst>
                <a:ext uri="{FF2B5EF4-FFF2-40B4-BE49-F238E27FC236}">
                  <a16:creationId xmlns:a16="http://schemas.microsoft.com/office/drawing/2014/main" id="{BFAFC3B5-9853-49CE-BB07-896B0BE1C3D9}"/>
                </a:ext>
              </a:extLst>
            </p:cNvPr>
            <p:cNvSpPr txBox="1"/>
            <p:nvPr/>
          </p:nvSpPr>
          <p:spPr>
            <a:xfrm>
              <a:off x="9179036" y="4366623"/>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2</a:t>
              </a:r>
              <a:endParaRPr lang="zh-CN" altLang="en-US" dirty="0">
                <a:latin typeface="微软雅黑" panose="020B0503020204020204" pitchFamily="34" charset="-122"/>
                <a:ea typeface="微软雅黑" panose="020B0503020204020204" pitchFamily="34" charset="-122"/>
              </a:endParaRPr>
            </a:p>
          </p:txBody>
        </p:sp>
        <p:sp>
          <p:nvSpPr>
            <p:cNvPr id="80" name="文本框 79">
              <a:extLst>
                <a:ext uri="{FF2B5EF4-FFF2-40B4-BE49-F238E27FC236}">
                  <a16:creationId xmlns:a16="http://schemas.microsoft.com/office/drawing/2014/main" id="{3FEFE13A-8E45-4A21-AF6F-9A0B1943DA8A}"/>
                </a:ext>
              </a:extLst>
            </p:cNvPr>
            <p:cNvSpPr txBox="1"/>
            <p:nvPr/>
          </p:nvSpPr>
          <p:spPr>
            <a:xfrm>
              <a:off x="9956983" y="4386126"/>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3</a:t>
              </a:r>
              <a:endParaRPr lang="zh-CN" altLang="en-US" dirty="0">
                <a:latin typeface="微软雅黑" panose="020B0503020204020204" pitchFamily="34" charset="-122"/>
                <a:ea typeface="微软雅黑" panose="020B0503020204020204" pitchFamily="34" charset="-122"/>
              </a:endParaRPr>
            </a:p>
          </p:txBody>
        </p:sp>
        <p:sp>
          <p:nvSpPr>
            <p:cNvPr id="81" name="文本框 80">
              <a:extLst>
                <a:ext uri="{FF2B5EF4-FFF2-40B4-BE49-F238E27FC236}">
                  <a16:creationId xmlns:a16="http://schemas.microsoft.com/office/drawing/2014/main" id="{2CA820ED-80DE-4EFD-BBEA-E5FFF0736019}"/>
                </a:ext>
              </a:extLst>
            </p:cNvPr>
            <p:cNvSpPr txBox="1"/>
            <p:nvPr/>
          </p:nvSpPr>
          <p:spPr>
            <a:xfrm>
              <a:off x="9406064" y="3304703"/>
              <a:ext cx="683200"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源</a:t>
              </a:r>
              <a:r>
                <a:rPr lang="en-US" altLang="zh-CN" dirty="0">
                  <a:latin typeface="微软雅黑" panose="020B0503020204020204" pitchFamily="34" charset="-122"/>
                  <a:ea typeface="微软雅黑" panose="020B0503020204020204" pitchFamily="34" charset="-122"/>
                </a:rPr>
                <a:t>S1</a:t>
              </a:r>
              <a:endParaRPr lang="zh-CN" altLang="en-US" dirty="0">
                <a:latin typeface="微软雅黑" panose="020B0503020204020204" pitchFamily="34" charset="-122"/>
                <a:ea typeface="微软雅黑" panose="020B0503020204020204" pitchFamily="34" charset="-122"/>
              </a:endParaRPr>
            </a:p>
          </p:txBody>
        </p:sp>
      </p:grpSp>
      <p:graphicFrame>
        <p:nvGraphicFramePr>
          <p:cNvPr id="88" name="表格 87">
            <a:extLst>
              <a:ext uri="{FF2B5EF4-FFF2-40B4-BE49-F238E27FC236}">
                <a16:creationId xmlns:a16="http://schemas.microsoft.com/office/drawing/2014/main" id="{ACDE0462-62F0-4F87-B996-F41DDBA214CA}"/>
              </a:ext>
            </a:extLst>
          </p:cNvPr>
          <p:cNvGraphicFramePr>
            <a:graphicFrameLocks noGrp="1"/>
          </p:cNvGraphicFramePr>
          <p:nvPr/>
        </p:nvGraphicFramePr>
        <p:xfrm>
          <a:off x="1580494" y="4824070"/>
          <a:ext cx="2301562" cy="1483360"/>
        </p:xfrm>
        <a:graphic>
          <a:graphicData uri="http://schemas.openxmlformats.org/drawingml/2006/table">
            <a:tbl>
              <a:tblPr firstRow="1" bandRow="1">
                <a:tableStyleId>{5C22544A-7EE6-4342-B048-85BDC9FD1C3A}</a:tableStyleId>
              </a:tblPr>
              <a:tblGrid>
                <a:gridCol w="934106">
                  <a:extLst>
                    <a:ext uri="{9D8B030D-6E8A-4147-A177-3AD203B41FA5}">
                      <a16:colId xmlns:a16="http://schemas.microsoft.com/office/drawing/2014/main" val="642629987"/>
                    </a:ext>
                  </a:extLst>
                </a:gridCol>
                <a:gridCol w="1367456">
                  <a:extLst>
                    <a:ext uri="{9D8B030D-6E8A-4147-A177-3AD203B41FA5}">
                      <a16:colId xmlns:a16="http://schemas.microsoft.com/office/drawing/2014/main" val="3812748973"/>
                    </a:ext>
                  </a:extLst>
                </a:gridCol>
              </a:tblGrid>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来源</a:t>
                      </a:r>
                      <a:r>
                        <a:rPr lang="en-US" altLang="zh-CN" b="0" dirty="0">
                          <a:solidFill>
                            <a:schemeClr val="tx1"/>
                          </a:solidFill>
                          <a:latin typeface="微软雅黑" panose="020B0503020204020204" pitchFamily="34" charset="-122"/>
                          <a:ea typeface="微软雅黑" panose="020B0503020204020204" pitchFamily="34" charset="-122"/>
                        </a:rPr>
                        <a:t>S</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广播序号</a:t>
                      </a:r>
                      <a:r>
                        <a:rPr lang="en-US" altLang="zh-CN" b="0" dirty="0">
                          <a:solidFill>
                            <a:schemeClr val="tx1"/>
                          </a:solidFill>
                          <a:latin typeface="微软雅黑" panose="020B0503020204020204" pitchFamily="34" charset="-122"/>
                          <a:ea typeface="微软雅黑" panose="020B0503020204020204" pitchFamily="34" charset="-122"/>
                        </a:rPr>
                        <a:t>n</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65113965"/>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S1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83925950"/>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S1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49750778"/>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S1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3885911"/>
                  </a:ext>
                </a:extLst>
              </a:tr>
            </a:tbl>
          </a:graphicData>
        </a:graphic>
      </p:graphicFrame>
      <p:grpSp>
        <p:nvGrpSpPr>
          <p:cNvPr id="89" name="组合 88">
            <a:extLst>
              <a:ext uri="{FF2B5EF4-FFF2-40B4-BE49-F238E27FC236}">
                <a16:creationId xmlns:a16="http://schemas.microsoft.com/office/drawing/2014/main" id="{BA5F9475-EFD7-4CF8-ADF9-66688521EFDC}"/>
              </a:ext>
            </a:extLst>
          </p:cNvPr>
          <p:cNvGrpSpPr/>
          <p:nvPr/>
        </p:nvGrpSpPr>
        <p:grpSpPr>
          <a:xfrm>
            <a:off x="3103831" y="3497285"/>
            <a:ext cx="1044356" cy="486273"/>
            <a:chOff x="3143325" y="3569435"/>
            <a:chExt cx="1044356" cy="486273"/>
          </a:xfrm>
        </p:grpSpPr>
        <p:grpSp>
          <p:nvGrpSpPr>
            <p:cNvPr id="90" name="组合 89">
              <a:extLst>
                <a:ext uri="{FF2B5EF4-FFF2-40B4-BE49-F238E27FC236}">
                  <a16:creationId xmlns:a16="http://schemas.microsoft.com/office/drawing/2014/main" id="{199CBA64-F2CF-4B4F-9964-3EED8D200841}"/>
                </a:ext>
              </a:extLst>
            </p:cNvPr>
            <p:cNvGrpSpPr/>
            <p:nvPr/>
          </p:nvGrpSpPr>
          <p:grpSpPr>
            <a:xfrm>
              <a:off x="3143325" y="3569435"/>
              <a:ext cx="607431" cy="128795"/>
              <a:chOff x="8691239" y="2485941"/>
              <a:chExt cx="692244" cy="148643"/>
            </a:xfrm>
          </p:grpSpPr>
          <p:sp>
            <p:nvSpPr>
              <p:cNvPr id="92" name="矩形 91">
                <a:extLst>
                  <a:ext uri="{FF2B5EF4-FFF2-40B4-BE49-F238E27FC236}">
                    <a16:creationId xmlns:a16="http://schemas.microsoft.com/office/drawing/2014/main" id="{FB2C1AC5-30CB-48B3-914A-5DA8C43B86C4}"/>
                  </a:ext>
                </a:extLst>
              </p:cNvPr>
              <p:cNvSpPr/>
              <p:nvPr/>
            </p:nvSpPr>
            <p:spPr>
              <a:xfrm>
                <a:off x="8691239" y="2485941"/>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3" name="直接连接符 92">
                <a:extLst>
                  <a:ext uri="{FF2B5EF4-FFF2-40B4-BE49-F238E27FC236}">
                    <a16:creationId xmlns:a16="http://schemas.microsoft.com/office/drawing/2014/main" id="{C752C69E-3779-484A-BAFE-52DCC3573EB1}"/>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91" name="文本框 90">
              <a:extLst>
                <a:ext uri="{FF2B5EF4-FFF2-40B4-BE49-F238E27FC236}">
                  <a16:creationId xmlns:a16="http://schemas.microsoft.com/office/drawing/2014/main" id="{B428AB5D-DD46-4713-8E23-D4B6647E0C41}"/>
                </a:ext>
              </a:extLst>
            </p:cNvPr>
            <p:cNvSpPr txBox="1"/>
            <p:nvPr/>
          </p:nvSpPr>
          <p:spPr>
            <a:xfrm>
              <a:off x="3368226" y="3686376"/>
              <a:ext cx="819455" cy="369332"/>
            </a:xfrm>
            <a:prstGeom prst="rect">
              <a:avLst/>
            </a:prstGeom>
            <a:noFill/>
          </p:spPr>
          <p:txBody>
            <a:bodyPr wrap="none" rtlCol="0">
              <a:spAutoFit/>
            </a:bodyPr>
            <a:lstStyle/>
            <a:p>
              <a:r>
                <a:rPr lang="en-US" altLang="zh-CN" dirty="0">
                  <a:solidFill>
                    <a:srgbClr val="5B307E"/>
                  </a:solidFill>
                  <a:latin typeface="微软雅黑" panose="020B0503020204020204" pitchFamily="34" charset="-122"/>
                  <a:ea typeface="微软雅黑" panose="020B0503020204020204" pitchFamily="34" charset="-122"/>
                </a:rPr>
                <a:t>X(</a:t>
              </a:r>
              <a:r>
                <a:rPr lang="en-US" altLang="zh-CN" dirty="0" err="1">
                  <a:solidFill>
                    <a:srgbClr val="5B307E"/>
                  </a:solidFill>
                  <a:latin typeface="微软雅黑" panose="020B0503020204020204" pitchFamily="34" charset="-122"/>
                  <a:ea typeface="微软雅黑" panose="020B0503020204020204" pitchFamily="34" charset="-122"/>
                </a:rPr>
                <a:t>S,n</a:t>
              </a:r>
              <a:r>
                <a:rPr lang="en-US" altLang="zh-CN" dirty="0">
                  <a:solidFill>
                    <a:srgbClr val="5B307E"/>
                  </a:solidFill>
                  <a:latin typeface="微软雅黑" panose="020B0503020204020204" pitchFamily="34" charset="-122"/>
                  <a:ea typeface="微软雅黑" panose="020B0503020204020204" pitchFamily="34" charset="-122"/>
                </a:rPr>
                <a:t>)</a:t>
              </a:r>
              <a:endParaRPr lang="zh-CN" altLang="en-US" dirty="0">
                <a:solidFill>
                  <a:srgbClr val="5B307E"/>
                </a:solidFill>
                <a:latin typeface="微软雅黑" panose="020B0503020204020204" pitchFamily="34" charset="-122"/>
                <a:ea typeface="微软雅黑" panose="020B0503020204020204" pitchFamily="34" charset="-122"/>
              </a:endParaRPr>
            </a:p>
          </p:txBody>
        </p:sp>
      </p:grpSp>
      <p:cxnSp>
        <p:nvCxnSpPr>
          <p:cNvPr id="94" name="直接箭头连接符 93">
            <a:extLst>
              <a:ext uri="{FF2B5EF4-FFF2-40B4-BE49-F238E27FC236}">
                <a16:creationId xmlns:a16="http://schemas.microsoft.com/office/drawing/2014/main" id="{24A75F79-875E-455E-ABFD-BE4E99ED0161}"/>
              </a:ext>
            </a:extLst>
          </p:cNvPr>
          <p:cNvCxnSpPr/>
          <p:nvPr/>
        </p:nvCxnSpPr>
        <p:spPr>
          <a:xfrm>
            <a:off x="3028922" y="3357668"/>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95" name="文本框 94">
            <a:extLst>
              <a:ext uri="{FF2B5EF4-FFF2-40B4-BE49-F238E27FC236}">
                <a16:creationId xmlns:a16="http://schemas.microsoft.com/office/drawing/2014/main" id="{3EAD0E3A-7493-4C50-9FE5-B9457C119A11}"/>
              </a:ext>
            </a:extLst>
          </p:cNvPr>
          <p:cNvSpPr txBox="1"/>
          <p:nvPr/>
        </p:nvSpPr>
        <p:spPr>
          <a:xfrm>
            <a:off x="5113908" y="3085670"/>
            <a:ext cx="6578468" cy="2053896"/>
          </a:xfrm>
          <a:prstGeom prst="rect">
            <a:avLst/>
          </a:prstGeom>
          <a:noFill/>
        </p:spPr>
        <p:txBody>
          <a:bodyPr wrap="square" rtlCol="0">
            <a:spAutoFit/>
          </a:bodyPr>
          <a:lstStyle/>
          <a:p>
            <a:pPr>
              <a:lnSpc>
                <a:spcPct val="130000"/>
              </a:lnSpc>
            </a:pPr>
            <a:r>
              <a:rPr lang="zh-CN" altLang="en-US" sz="2000" dirty="0">
                <a:latin typeface="微软雅黑" panose="020B0503020204020204" pitchFamily="34" charset="-122"/>
                <a:ea typeface="微软雅黑" panose="020B0503020204020204" pitchFamily="34" charset="-122"/>
              </a:rPr>
              <a:t>①广播数据包</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从接口</a:t>
            </a:r>
            <a:r>
              <a:rPr lang="en-US" altLang="zh-CN" sz="2000" dirty="0">
                <a:latin typeface="微软雅黑" panose="020B0503020204020204" pitchFamily="34" charset="-122"/>
                <a:ea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rPr>
              <a:t>到达</a:t>
            </a:r>
            <a:r>
              <a:rPr lang="en-US" altLang="zh-CN" sz="2000" dirty="0">
                <a:latin typeface="微软雅黑" panose="020B0503020204020204" pitchFamily="34" charset="-122"/>
                <a:ea typeface="微软雅黑" panose="020B0503020204020204" pitchFamily="34" charset="-122"/>
              </a:rPr>
              <a:t>R</a:t>
            </a:r>
          </a:p>
          <a:p>
            <a:pPr>
              <a:lnSpc>
                <a:spcPct val="130000"/>
              </a:lnSpc>
            </a:pPr>
            <a:r>
              <a:rPr lang="zh-CN" altLang="en-US" sz="2000" dirty="0">
                <a:latin typeface="微软雅黑" panose="020B0503020204020204" pitchFamily="34" charset="-122"/>
                <a:ea typeface="微软雅黑" panose="020B0503020204020204" pitchFamily="34" charset="-122"/>
              </a:rPr>
              <a:t>②</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查看数据包来源</a:t>
            </a:r>
            <a:r>
              <a:rPr lang="en-US" altLang="zh-CN" sz="2000" dirty="0">
                <a:latin typeface="微软雅黑" panose="020B0503020204020204" pitchFamily="34" charset="-122"/>
                <a:ea typeface="微软雅黑" panose="020B0503020204020204" pitchFamily="34" charset="-122"/>
              </a:rPr>
              <a:t>S</a:t>
            </a:r>
            <a:r>
              <a:rPr lang="zh-CN" altLang="en-US" sz="2000" dirty="0">
                <a:latin typeface="微软雅黑" panose="020B0503020204020204" pitchFamily="34" charset="-122"/>
                <a:ea typeface="微软雅黑" panose="020B0503020204020204" pitchFamily="34" charset="-122"/>
              </a:rPr>
              <a:t>和广播序号</a:t>
            </a:r>
            <a:r>
              <a:rPr lang="en-US" altLang="zh-CN" sz="2000" dirty="0">
                <a:latin typeface="微软雅黑" panose="020B0503020204020204" pitchFamily="34" charset="-122"/>
                <a:ea typeface="微软雅黑" panose="020B0503020204020204" pitchFamily="34" charset="-122"/>
              </a:rPr>
              <a:t>n</a:t>
            </a:r>
            <a:r>
              <a:rPr lang="zh-CN" altLang="en-US" sz="2000" dirty="0">
                <a:latin typeface="微软雅黑" panose="020B0503020204020204" pitchFamily="34" charset="-122"/>
                <a:ea typeface="微软雅黑" panose="020B0503020204020204" pitchFamily="34" charset="-122"/>
              </a:rPr>
              <a:t>，比对</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的序号表</a:t>
            </a:r>
            <a:endParaRPr lang="en-US" altLang="zh-CN" sz="2000" dirty="0">
              <a:latin typeface="微软雅黑" panose="020B0503020204020204" pitchFamily="34" charset="-122"/>
              <a:ea typeface="微软雅黑" panose="020B0503020204020204" pitchFamily="34" charset="-122"/>
            </a:endParaRPr>
          </a:p>
          <a:p>
            <a:pPr>
              <a:lnSpc>
                <a:spcPct val="130000"/>
              </a:lnSpc>
            </a:pPr>
            <a:r>
              <a:rPr lang="zh-CN" altLang="en-US" sz="2000" dirty="0">
                <a:latin typeface="微软雅黑" panose="020B0503020204020204" pitchFamily="34" charset="-122"/>
                <a:ea typeface="微软雅黑" panose="020B0503020204020204" pitchFamily="34" charset="-122"/>
              </a:rPr>
              <a:t>③序号表中有该数据包的记录吗？</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是，丢弃（曾经已经收到并转发过）</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否，在序号表中记录，并在接口</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和</a:t>
            </a:r>
            <a:r>
              <a:rPr lang="en-US" altLang="zh-CN" sz="2000" dirty="0">
                <a:latin typeface="微软雅黑" panose="020B0503020204020204" pitchFamily="34" charset="-122"/>
                <a:ea typeface="微软雅黑" panose="020B0503020204020204" pitchFamily="34" charset="-122"/>
              </a:rPr>
              <a:t>3</a:t>
            </a:r>
            <a:r>
              <a:rPr lang="zh-CN" altLang="en-US" sz="2000" dirty="0">
                <a:latin typeface="微软雅黑" panose="020B0503020204020204" pitchFamily="34" charset="-122"/>
                <a:ea typeface="微软雅黑" panose="020B0503020204020204" pitchFamily="34" charset="-122"/>
              </a:rPr>
              <a:t>转发</a:t>
            </a:r>
            <a:endParaRPr lang="en-US" altLang="zh-CN" sz="2000" dirty="0">
              <a:latin typeface="微软雅黑" panose="020B0503020204020204" pitchFamily="34" charset="-122"/>
              <a:ea typeface="微软雅黑" panose="020B0503020204020204" pitchFamily="34" charset="-122"/>
            </a:endParaRPr>
          </a:p>
        </p:txBody>
      </p:sp>
      <p:sp>
        <p:nvSpPr>
          <p:cNvPr id="25"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
        <p:nvSpPr>
          <p:cNvPr id="26" name="灯片编号占位符 3">
            <a:extLst>
              <a:ext uri="{FF2B5EF4-FFF2-40B4-BE49-F238E27FC236}">
                <a16:creationId xmlns:a16="http://schemas.microsoft.com/office/drawing/2014/main" id="{E38974CC-75A7-E042-B53A-497E169F9C06}"/>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58</a:t>
            </a:fld>
            <a:endParaRPr kumimoji="1" lang="zh-CN" altLang="en-US" dirty="0"/>
          </a:p>
        </p:txBody>
      </p:sp>
    </p:spTree>
    <p:extLst>
      <p:ext uri="{BB962C8B-B14F-4D97-AF65-F5344CB8AC3E}">
        <p14:creationId xmlns:p14="http://schemas.microsoft.com/office/powerpoint/2010/main" val="2383072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blinds(horizontal)">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5"/>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9"/>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94"/>
                                        </p:tgtEl>
                                        <p:attrNameLst>
                                          <p:attrName>style.visibility</p:attrName>
                                        </p:attrNameLst>
                                      </p:cBhvr>
                                      <p:to>
                                        <p:strVal val="visible"/>
                                      </p:to>
                                    </p:set>
                                    <p:animEffect transition="in" filter="wipe(up)">
                                      <p:cBhvr>
                                        <p:cTn id="23" dur="500"/>
                                        <p:tgtEl>
                                          <p:spTgt spid="94"/>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95">
                                            <p:txEl>
                                              <p:pRg st="0" end="0"/>
                                            </p:txEl>
                                          </p:spTgt>
                                        </p:tgtEl>
                                        <p:attrNameLst>
                                          <p:attrName>style.visibility</p:attrName>
                                        </p:attrNameLst>
                                      </p:cBhvr>
                                      <p:to>
                                        <p:strVal val="visible"/>
                                      </p:to>
                                    </p:set>
                                    <p:animEffect transition="in" filter="blinds(horizontal)">
                                      <p:cBhvr>
                                        <p:cTn id="28" dur="500"/>
                                        <p:tgtEl>
                                          <p:spTgt spid="95">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95">
                                            <p:txEl>
                                              <p:pRg st="1" end="1"/>
                                            </p:txEl>
                                          </p:spTgt>
                                        </p:tgtEl>
                                        <p:attrNameLst>
                                          <p:attrName>style.visibility</p:attrName>
                                        </p:attrNameLst>
                                      </p:cBhvr>
                                      <p:to>
                                        <p:strVal val="visible"/>
                                      </p:to>
                                    </p:set>
                                    <p:animEffect transition="in" filter="blinds(horizontal)">
                                      <p:cBhvr>
                                        <p:cTn id="33" dur="500"/>
                                        <p:tgtEl>
                                          <p:spTgt spid="95">
                                            <p:txEl>
                                              <p:pRg st="1" end="1"/>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nodeType="clickEffect">
                                  <p:stCondLst>
                                    <p:cond delay="0"/>
                                  </p:stCondLst>
                                  <p:childTnLst>
                                    <p:set>
                                      <p:cBhvr>
                                        <p:cTn id="37" dur="1" fill="hold">
                                          <p:stCondLst>
                                            <p:cond delay="0"/>
                                          </p:stCondLst>
                                        </p:cTn>
                                        <p:tgtEl>
                                          <p:spTgt spid="95">
                                            <p:txEl>
                                              <p:pRg st="2" end="2"/>
                                            </p:txEl>
                                          </p:spTgt>
                                        </p:tgtEl>
                                        <p:attrNameLst>
                                          <p:attrName>style.visibility</p:attrName>
                                        </p:attrNameLst>
                                      </p:cBhvr>
                                      <p:to>
                                        <p:strVal val="visible"/>
                                      </p:to>
                                    </p:set>
                                    <p:animEffect transition="in" filter="blinds(horizontal)">
                                      <p:cBhvr>
                                        <p:cTn id="38" dur="500"/>
                                        <p:tgtEl>
                                          <p:spTgt spid="95">
                                            <p:txEl>
                                              <p:pRg st="2" end="2"/>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nodeType="clickEffect">
                                  <p:stCondLst>
                                    <p:cond delay="0"/>
                                  </p:stCondLst>
                                  <p:childTnLst>
                                    <p:set>
                                      <p:cBhvr>
                                        <p:cTn id="42" dur="1" fill="hold">
                                          <p:stCondLst>
                                            <p:cond delay="0"/>
                                          </p:stCondLst>
                                        </p:cTn>
                                        <p:tgtEl>
                                          <p:spTgt spid="95">
                                            <p:txEl>
                                              <p:pRg st="3" end="3"/>
                                            </p:txEl>
                                          </p:spTgt>
                                        </p:tgtEl>
                                        <p:attrNameLst>
                                          <p:attrName>style.visibility</p:attrName>
                                        </p:attrNameLst>
                                      </p:cBhvr>
                                      <p:to>
                                        <p:strVal val="visible"/>
                                      </p:to>
                                    </p:set>
                                    <p:animEffect transition="in" filter="blinds(horizontal)">
                                      <p:cBhvr>
                                        <p:cTn id="43" dur="500"/>
                                        <p:tgtEl>
                                          <p:spTgt spid="95">
                                            <p:txEl>
                                              <p:pRg st="3" end="3"/>
                                            </p:txEl>
                                          </p:spTgt>
                                        </p:tgtEl>
                                      </p:cBhvr>
                                    </p:animEffect>
                                  </p:childTnLst>
                                </p:cTn>
                              </p:par>
                              <p:par>
                                <p:cTn id="44" presetID="3" presetClass="entr" presetSubtype="10" fill="hold" nodeType="withEffect">
                                  <p:stCondLst>
                                    <p:cond delay="0"/>
                                  </p:stCondLst>
                                  <p:childTnLst>
                                    <p:set>
                                      <p:cBhvr>
                                        <p:cTn id="45" dur="1" fill="hold">
                                          <p:stCondLst>
                                            <p:cond delay="0"/>
                                          </p:stCondLst>
                                        </p:cTn>
                                        <p:tgtEl>
                                          <p:spTgt spid="95">
                                            <p:txEl>
                                              <p:pRg st="4" end="4"/>
                                            </p:txEl>
                                          </p:spTgt>
                                        </p:tgtEl>
                                        <p:attrNameLst>
                                          <p:attrName>style.visibility</p:attrName>
                                        </p:attrNameLst>
                                      </p:cBhvr>
                                      <p:to>
                                        <p:strVal val="visible"/>
                                      </p:to>
                                    </p:set>
                                    <p:animEffect transition="in" filter="blinds(horizontal)">
                                      <p:cBhvr>
                                        <p:cTn id="46" dur="500"/>
                                        <p:tgtEl>
                                          <p:spTgt spid="9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200" y="1510759"/>
            <a:ext cx="10655710" cy="1389802"/>
          </a:xfrm>
        </p:spPr>
        <p:txBody>
          <a:bodyPr>
            <a:normAutofit/>
          </a:bodyPr>
          <a:lstStyle/>
          <a:p>
            <a:pPr marL="0" indent="0">
              <a:lnSpc>
                <a:spcPct val="130000"/>
              </a:lnSpc>
              <a:buNone/>
            </a:pPr>
            <a:r>
              <a:rPr lang="zh-CN" altLang="en-US" sz="2400" dirty="0">
                <a:solidFill>
                  <a:srgbClr val="C00000"/>
                </a:solidFill>
              </a:rPr>
              <a:t>解决方法</a:t>
            </a:r>
            <a:r>
              <a:rPr lang="zh-CN" altLang="en-US" sz="2400" dirty="0">
                <a:solidFill>
                  <a:schemeClr val="tx1">
                    <a:lumMod val="95000"/>
                    <a:lumOff val="5000"/>
                  </a:schemeClr>
                </a:solidFill>
              </a:rPr>
              <a:t>：受控制的泛洪（每个路由器进行有选择的泛洪）</a:t>
            </a:r>
            <a:endParaRPr lang="en-US" altLang="zh-CN" sz="2000" dirty="0">
              <a:solidFill>
                <a:schemeClr val="tx1">
                  <a:lumMod val="95000"/>
                  <a:lumOff val="5000"/>
                </a:schemeClr>
              </a:solidFill>
            </a:endParaRPr>
          </a:p>
          <a:p>
            <a:pPr>
              <a:lnSpc>
                <a:spcPct val="130000"/>
              </a:lnSpc>
            </a:pPr>
            <a:r>
              <a:rPr lang="zh-CN" altLang="en-US" sz="2400" dirty="0">
                <a:solidFill>
                  <a:srgbClr val="5B307E"/>
                </a:solidFill>
              </a:rPr>
              <a:t>逆向路径转发</a:t>
            </a:r>
            <a:r>
              <a:rPr lang="zh-CN" altLang="en-US" sz="2400" dirty="0"/>
              <a:t>（</a:t>
            </a:r>
            <a:r>
              <a:rPr lang="en-US" altLang="zh-CN" sz="2400" dirty="0"/>
              <a:t>reverse path forwarding, RPF</a:t>
            </a:r>
            <a:r>
              <a:rPr lang="zh-CN" altLang="en-US" sz="2400" dirty="0"/>
              <a:t>）</a:t>
            </a:r>
            <a:endParaRPr lang="en-US" altLang="zh-CN" sz="2400" dirty="0"/>
          </a:p>
        </p:txBody>
      </p:sp>
      <p:sp>
        <p:nvSpPr>
          <p:cNvPr id="68" name="矩形 67">
            <a:extLst>
              <a:ext uri="{FF2B5EF4-FFF2-40B4-BE49-F238E27FC236}">
                <a16:creationId xmlns:a16="http://schemas.microsoft.com/office/drawing/2014/main" id="{3E4D3087-4066-497B-9C20-F2ED68EBD5AC}"/>
              </a:ext>
            </a:extLst>
          </p:cNvPr>
          <p:cNvSpPr/>
          <p:nvPr/>
        </p:nvSpPr>
        <p:spPr>
          <a:xfrm>
            <a:off x="1872476" y="5041669"/>
            <a:ext cx="1858208" cy="365125"/>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2" name="组合 71">
            <a:extLst>
              <a:ext uri="{FF2B5EF4-FFF2-40B4-BE49-F238E27FC236}">
                <a16:creationId xmlns:a16="http://schemas.microsoft.com/office/drawing/2014/main" id="{618C69FE-0F14-4E0E-A42F-3B3978F8EAE4}"/>
              </a:ext>
            </a:extLst>
          </p:cNvPr>
          <p:cNvGrpSpPr/>
          <p:nvPr/>
        </p:nvGrpSpPr>
        <p:grpSpPr>
          <a:xfrm>
            <a:off x="1195955" y="2921708"/>
            <a:ext cx="3041599" cy="1857226"/>
            <a:chOff x="8165259" y="3314317"/>
            <a:chExt cx="3041599" cy="1857226"/>
          </a:xfrm>
        </p:grpSpPr>
        <p:grpSp>
          <p:nvGrpSpPr>
            <p:cNvPr id="74" name="组合 73">
              <a:extLst>
                <a:ext uri="{FF2B5EF4-FFF2-40B4-BE49-F238E27FC236}">
                  <a16:creationId xmlns:a16="http://schemas.microsoft.com/office/drawing/2014/main" id="{E50936CA-696E-45E9-A01A-E317FAC34C91}"/>
                </a:ext>
              </a:extLst>
            </p:cNvPr>
            <p:cNvGrpSpPr/>
            <p:nvPr/>
          </p:nvGrpSpPr>
          <p:grpSpPr>
            <a:xfrm>
              <a:off x="8610600" y="3612336"/>
              <a:ext cx="2150917" cy="1357601"/>
              <a:chOff x="7086601" y="4243099"/>
              <a:chExt cx="2150917" cy="1357601"/>
            </a:xfrm>
          </p:grpSpPr>
          <p:cxnSp>
            <p:nvCxnSpPr>
              <p:cNvPr id="93" name="直接连接符 92">
                <a:extLst>
                  <a:ext uri="{FF2B5EF4-FFF2-40B4-BE49-F238E27FC236}">
                    <a16:creationId xmlns:a16="http://schemas.microsoft.com/office/drawing/2014/main" id="{1CC1EAEC-C379-4125-B124-5F1B329B1868}"/>
                  </a:ext>
                </a:extLst>
              </p:cNvPr>
              <p:cNvCxnSpPr>
                <a:cxnSpLocks/>
              </p:cNvCxnSpPr>
              <p:nvPr/>
            </p:nvCxnSpPr>
            <p:spPr>
              <a:xfrm>
                <a:off x="8223665" y="4243099"/>
                <a:ext cx="0" cy="951159"/>
              </a:xfrm>
              <a:prstGeom prst="line">
                <a:avLst/>
              </a:prstGeom>
              <a:ln w="28575"/>
            </p:spPr>
            <p:style>
              <a:lnRef idx="1">
                <a:schemeClr val="dk1"/>
              </a:lnRef>
              <a:fillRef idx="0">
                <a:schemeClr val="dk1"/>
              </a:fillRef>
              <a:effectRef idx="0">
                <a:schemeClr val="dk1"/>
              </a:effectRef>
              <a:fontRef idx="minor">
                <a:schemeClr val="tx1"/>
              </a:fontRef>
            </p:style>
          </p:cxnSp>
          <p:cxnSp>
            <p:nvCxnSpPr>
              <p:cNvPr id="94" name="直接连接符 93">
                <a:extLst>
                  <a:ext uri="{FF2B5EF4-FFF2-40B4-BE49-F238E27FC236}">
                    <a16:creationId xmlns:a16="http://schemas.microsoft.com/office/drawing/2014/main" id="{BA169E9D-DD9C-48DB-B0E3-6D23479DF126}"/>
                  </a:ext>
                </a:extLst>
              </p:cNvPr>
              <p:cNvCxnSpPr>
                <a:cxnSpLocks/>
              </p:cNvCxnSpPr>
              <p:nvPr/>
            </p:nvCxnSpPr>
            <p:spPr>
              <a:xfrm flipH="1">
                <a:off x="7086601" y="5194258"/>
                <a:ext cx="1020640" cy="406442"/>
              </a:xfrm>
              <a:prstGeom prst="line">
                <a:avLst/>
              </a:prstGeom>
              <a:ln w="28575"/>
            </p:spPr>
            <p:style>
              <a:lnRef idx="1">
                <a:schemeClr val="dk1"/>
              </a:lnRef>
              <a:fillRef idx="0">
                <a:schemeClr val="dk1"/>
              </a:fillRef>
              <a:effectRef idx="0">
                <a:schemeClr val="dk1"/>
              </a:effectRef>
              <a:fontRef idx="minor">
                <a:schemeClr val="tx1"/>
              </a:fontRef>
            </p:style>
          </p:cxnSp>
          <p:cxnSp>
            <p:nvCxnSpPr>
              <p:cNvPr id="95" name="直接连接符 94">
                <a:extLst>
                  <a:ext uri="{FF2B5EF4-FFF2-40B4-BE49-F238E27FC236}">
                    <a16:creationId xmlns:a16="http://schemas.microsoft.com/office/drawing/2014/main" id="{29403B70-2A4C-47DC-825E-43D460A4432B}"/>
                  </a:ext>
                </a:extLst>
              </p:cNvPr>
              <p:cNvCxnSpPr>
                <a:cxnSpLocks/>
              </p:cNvCxnSpPr>
              <p:nvPr/>
            </p:nvCxnSpPr>
            <p:spPr>
              <a:xfrm>
                <a:off x="8299147" y="5195438"/>
                <a:ext cx="938371" cy="405262"/>
              </a:xfrm>
              <a:prstGeom prst="line">
                <a:avLst/>
              </a:prstGeom>
              <a:ln w="28575"/>
            </p:spPr>
            <p:style>
              <a:lnRef idx="1">
                <a:schemeClr val="dk1"/>
              </a:lnRef>
              <a:fillRef idx="0">
                <a:schemeClr val="dk1"/>
              </a:fillRef>
              <a:effectRef idx="0">
                <a:schemeClr val="dk1"/>
              </a:effectRef>
              <a:fontRef idx="minor">
                <a:schemeClr val="tx1"/>
              </a:fontRef>
            </p:style>
          </p:cxnSp>
          <p:pic>
            <p:nvPicPr>
              <p:cNvPr id="96" name="Picture 57" descr="通用路由器">
                <a:extLst>
                  <a:ext uri="{FF2B5EF4-FFF2-40B4-BE49-F238E27FC236}">
                    <a16:creationId xmlns:a16="http://schemas.microsoft.com/office/drawing/2014/main" id="{343E9D41-20DB-4046-8763-8DB48D4AF88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53667" y="5006930"/>
                <a:ext cx="539997" cy="398001"/>
              </a:xfrm>
              <a:prstGeom prst="rect">
                <a:avLst/>
              </a:prstGeom>
              <a:noFill/>
              <a:extLst>
                <a:ext uri="{909E8E84-426E-40DD-AFC4-6F175D3DCCD1}">
                  <a14:hiddenFill xmlns:a14="http://schemas.microsoft.com/office/drawing/2010/main">
                    <a:solidFill>
                      <a:srgbClr val="FFFFFF"/>
                    </a:solidFill>
                  </a14:hiddenFill>
                </a:ext>
              </a:extLst>
            </p:spPr>
          </p:pic>
        </p:grpSp>
        <p:sp>
          <p:nvSpPr>
            <p:cNvPr id="80" name="文本框 79">
              <a:extLst>
                <a:ext uri="{FF2B5EF4-FFF2-40B4-BE49-F238E27FC236}">
                  <a16:creationId xmlns:a16="http://schemas.microsoft.com/office/drawing/2014/main" id="{294F2B49-AEA0-463E-8B70-A2B1F77E4E81}"/>
                </a:ext>
              </a:extLst>
            </p:cNvPr>
            <p:cNvSpPr txBox="1"/>
            <p:nvPr/>
          </p:nvSpPr>
          <p:spPr>
            <a:xfrm>
              <a:off x="9605936" y="4733103"/>
              <a:ext cx="335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a:t>
              </a:r>
              <a:endParaRPr lang="zh-CN" altLang="en-US" dirty="0">
                <a:latin typeface="微软雅黑" panose="020B0503020204020204" pitchFamily="34" charset="-122"/>
                <a:ea typeface="微软雅黑" panose="020B0503020204020204" pitchFamily="34" charset="-122"/>
              </a:endParaRPr>
            </a:p>
          </p:txBody>
        </p:sp>
        <p:sp>
          <p:nvSpPr>
            <p:cNvPr id="83" name="文本框 82">
              <a:extLst>
                <a:ext uri="{FF2B5EF4-FFF2-40B4-BE49-F238E27FC236}">
                  <a16:creationId xmlns:a16="http://schemas.microsoft.com/office/drawing/2014/main" id="{EB90D3DB-478E-4B92-BE6C-A4CBC3BE1D51}"/>
                </a:ext>
              </a:extLst>
            </p:cNvPr>
            <p:cNvSpPr txBox="1"/>
            <p:nvPr/>
          </p:nvSpPr>
          <p:spPr>
            <a:xfrm>
              <a:off x="9668005" y="4058548"/>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1</a:t>
              </a:r>
              <a:endParaRPr lang="zh-CN" altLang="en-US" dirty="0">
                <a:latin typeface="微软雅黑" panose="020B0503020204020204" pitchFamily="34" charset="-122"/>
                <a:ea typeface="微软雅黑" panose="020B0503020204020204" pitchFamily="34" charset="-122"/>
              </a:endParaRPr>
            </a:p>
          </p:txBody>
        </p:sp>
        <p:sp>
          <p:nvSpPr>
            <p:cNvPr id="84" name="文本框 83">
              <a:extLst>
                <a:ext uri="{FF2B5EF4-FFF2-40B4-BE49-F238E27FC236}">
                  <a16:creationId xmlns:a16="http://schemas.microsoft.com/office/drawing/2014/main" id="{74D30632-3F67-4BFB-A130-9238F9E36530}"/>
                </a:ext>
              </a:extLst>
            </p:cNvPr>
            <p:cNvSpPr txBox="1"/>
            <p:nvPr/>
          </p:nvSpPr>
          <p:spPr>
            <a:xfrm>
              <a:off x="9179036" y="4366623"/>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2</a:t>
              </a:r>
              <a:endParaRPr lang="zh-CN" altLang="en-US" dirty="0">
                <a:latin typeface="微软雅黑" panose="020B0503020204020204" pitchFamily="34" charset="-122"/>
                <a:ea typeface="微软雅黑" panose="020B0503020204020204" pitchFamily="34" charset="-122"/>
              </a:endParaRPr>
            </a:p>
          </p:txBody>
        </p:sp>
        <p:sp>
          <p:nvSpPr>
            <p:cNvPr id="85" name="文本框 84">
              <a:extLst>
                <a:ext uri="{FF2B5EF4-FFF2-40B4-BE49-F238E27FC236}">
                  <a16:creationId xmlns:a16="http://schemas.microsoft.com/office/drawing/2014/main" id="{E9AB7EF3-4869-4552-BA4D-C095915217B5}"/>
                </a:ext>
              </a:extLst>
            </p:cNvPr>
            <p:cNvSpPr txBox="1"/>
            <p:nvPr/>
          </p:nvSpPr>
          <p:spPr>
            <a:xfrm>
              <a:off x="9956983" y="4386126"/>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3</a:t>
              </a:r>
              <a:endParaRPr lang="zh-CN" altLang="en-US" dirty="0">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id="{5BA15300-AE94-4C7C-ADE3-811DCB157DC0}"/>
                </a:ext>
              </a:extLst>
            </p:cNvPr>
            <p:cNvSpPr txBox="1"/>
            <p:nvPr/>
          </p:nvSpPr>
          <p:spPr>
            <a:xfrm>
              <a:off x="9516750" y="3314317"/>
              <a:ext cx="50687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N1</a:t>
              </a:r>
              <a:endParaRPr lang="zh-CN" altLang="en-US" dirty="0">
                <a:latin typeface="微软雅黑" panose="020B0503020204020204" pitchFamily="34" charset="-122"/>
                <a:ea typeface="微软雅黑" panose="020B0503020204020204" pitchFamily="34" charset="-122"/>
              </a:endParaRPr>
            </a:p>
          </p:txBody>
        </p:sp>
        <p:sp>
          <p:nvSpPr>
            <p:cNvPr id="91" name="文本框 90">
              <a:extLst>
                <a:ext uri="{FF2B5EF4-FFF2-40B4-BE49-F238E27FC236}">
                  <a16:creationId xmlns:a16="http://schemas.microsoft.com/office/drawing/2014/main" id="{B76521AB-1CAF-43E1-B770-1FCA5D64ACA7}"/>
                </a:ext>
              </a:extLst>
            </p:cNvPr>
            <p:cNvSpPr txBox="1"/>
            <p:nvPr/>
          </p:nvSpPr>
          <p:spPr>
            <a:xfrm>
              <a:off x="8165259" y="4802211"/>
              <a:ext cx="50687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N2</a:t>
              </a:r>
              <a:endParaRPr lang="zh-CN" altLang="en-US" dirty="0">
                <a:latin typeface="微软雅黑" panose="020B0503020204020204" pitchFamily="34" charset="-122"/>
                <a:ea typeface="微软雅黑" panose="020B0503020204020204" pitchFamily="34" charset="-122"/>
              </a:endParaRPr>
            </a:p>
          </p:txBody>
        </p:sp>
        <p:sp>
          <p:nvSpPr>
            <p:cNvPr id="92" name="文本框 91">
              <a:extLst>
                <a:ext uri="{FF2B5EF4-FFF2-40B4-BE49-F238E27FC236}">
                  <a16:creationId xmlns:a16="http://schemas.microsoft.com/office/drawing/2014/main" id="{468284F9-9C9E-4B34-8970-4AC227573D83}"/>
                </a:ext>
              </a:extLst>
            </p:cNvPr>
            <p:cNvSpPr txBox="1"/>
            <p:nvPr/>
          </p:nvSpPr>
          <p:spPr>
            <a:xfrm>
              <a:off x="10699988" y="4785714"/>
              <a:ext cx="50687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N3</a:t>
              </a:r>
              <a:endParaRPr lang="zh-CN" altLang="en-US" dirty="0">
                <a:latin typeface="微软雅黑" panose="020B0503020204020204" pitchFamily="34" charset="-122"/>
                <a:ea typeface="微软雅黑" panose="020B0503020204020204" pitchFamily="34" charset="-122"/>
              </a:endParaRPr>
            </a:p>
          </p:txBody>
        </p:sp>
      </p:grpSp>
      <p:graphicFrame>
        <p:nvGraphicFramePr>
          <p:cNvPr id="97" name="表格 96">
            <a:extLst>
              <a:ext uri="{FF2B5EF4-FFF2-40B4-BE49-F238E27FC236}">
                <a16:creationId xmlns:a16="http://schemas.microsoft.com/office/drawing/2014/main" id="{C460D8D4-5B74-490E-B2FD-19E46B7492B6}"/>
              </a:ext>
            </a:extLst>
          </p:cNvPr>
          <p:cNvGraphicFramePr>
            <a:graphicFrameLocks noGrp="1"/>
          </p:cNvGraphicFramePr>
          <p:nvPr/>
        </p:nvGraphicFramePr>
        <p:xfrm>
          <a:off x="1859920" y="4668738"/>
          <a:ext cx="1881922" cy="1483360"/>
        </p:xfrm>
        <a:graphic>
          <a:graphicData uri="http://schemas.openxmlformats.org/drawingml/2006/table">
            <a:tbl>
              <a:tblPr firstRow="1" bandRow="1">
                <a:tableStyleId>{5C22544A-7EE6-4342-B048-85BDC9FD1C3A}</a:tableStyleId>
              </a:tblPr>
              <a:tblGrid>
                <a:gridCol w="1154700">
                  <a:extLst>
                    <a:ext uri="{9D8B030D-6E8A-4147-A177-3AD203B41FA5}">
                      <a16:colId xmlns:a16="http://schemas.microsoft.com/office/drawing/2014/main" val="642629987"/>
                    </a:ext>
                  </a:extLst>
                </a:gridCol>
                <a:gridCol w="727222">
                  <a:extLst>
                    <a:ext uri="{9D8B030D-6E8A-4147-A177-3AD203B41FA5}">
                      <a16:colId xmlns:a16="http://schemas.microsoft.com/office/drawing/2014/main" val="3812748973"/>
                    </a:ext>
                  </a:extLst>
                </a:gridCol>
              </a:tblGrid>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目标网络</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65113965"/>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N1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83925950"/>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N2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49750778"/>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N3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3885911"/>
                  </a:ext>
                </a:extLst>
              </a:tr>
            </a:tbl>
          </a:graphicData>
        </a:graphic>
      </p:graphicFrame>
      <p:grpSp>
        <p:nvGrpSpPr>
          <p:cNvPr id="98" name="组合 97">
            <a:extLst>
              <a:ext uri="{FF2B5EF4-FFF2-40B4-BE49-F238E27FC236}">
                <a16:creationId xmlns:a16="http://schemas.microsoft.com/office/drawing/2014/main" id="{439505E4-965B-47C8-B45A-0C01AF085F3E}"/>
              </a:ext>
            </a:extLst>
          </p:cNvPr>
          <p:cNvGrpSpPr/>
          <p:nvPr/>
        </p:nvGrpSpPr>
        <p:grpSpPr>
          <a:xfrm>
            <a:off x="3103831" y="3377015"/>
            <a:ext cx="948725" cy="369332"/>
            <a:chOff x="3143325" y="3449165"/>
            <a:chExt cx="948725" cy="369332"/>
          </a:xfrm>
        </p:grpSpPr>
        <p:grpSp>
          <p:nvGrpSpPr>
            <p:cNvPr id="99" name="组合 98">
              <a:extLst>
                <a:ext uri="{FF2B5EF4-FFF2-40B4-BE49-F238E27FC236}">
                  <a16:creationId xmlns:a16="http://schemas.microsoft.com/office/drawing/2014/main" id="{63479E1A-01D2-4FDB-AA30-FA26D1A9344F}"/>
                </a:ext>
              </a:extLst>
            </p:cNvPr>
            <p:cNvGrpSpPr/>
            <p:nvPr/>
          </p:nvGrpSpPr>
          <p:grpSpPr>
            <a:xfrm>
              <a:off x="3143325" y="3569435"/>
              <a:ext cx="607431" cy="128795"/>
              <a:chOff x="8691239" y="2485941"/>
              <a:chExt cx="692244" cy="148643"/>
            </a:xfrm>
          </p:grpSpPr>
          <p:sp>
            <p:nvSpPr>
              <p:cNvPr id="101" name="矩形 100">
                <a:extLst>
                  <a:ext uri="{FF2B5EF4-FFF2-40B4-BE49-F238E27FC236}">
                    <a16:creationId xmlns:a16="http://schemas.microsoft.com/office/drawing/2014/main" id="{40DE2DE0-D98D-4A3C-AFF6-29614CE85F20}"/>
                  </a:ext>
                </a:extLst>
              </p:cNvPr>
              <p:cNvSpPr/>
              <p:nvPr/>
            </p:nvSpPr>
            <p:spPr>
              <a:xfrm>
                <a:off x="8691239" y="2485941"/>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2" name="直接连接符 101">
                <a:extLst>
                  <a:ext uri="{FF2B5EF4-FFF2-40B4-BE49-F238E27FC236}">
                    <a16:creationId xmlns:a16="http://schemas.microsoft.com/office/drawing/2014/main" id="{8F6D579D-7533-4619-908F-0384E7F3A8C6}"/>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0" name="文本框 99">
              <a:extLst>
                <a:ext uri="{FF2B5EF4-FFF2-40B4-BE49-F238E27FC236}">
                  <a16:creationId xmlns:a16="http://schemas.microsoft.com/office/drawing/2014/main" id="{5AD4F96E-D936-4EBF-94BB-FF511C0C3BB3}"/>
                </a:ext>
              </a:extLst>
            </p:cNvPr>
            <p:cNvSpPr txBox="1"/>
            <p:nvPr/>
          </p:nvSpPr>
          <p:spPr>
            <a:xfrm>
              <a:off x="3758304" y="3449165"/>
              <a:ext cx="333746" cy="369332"/>
            </a:xfrm>
            <a:prstGeom prst="rect">
              <a:avLst/>
            </a:prstGeom>
            <a:noFill/>
          </p:spPr>
          <p:txBody>
            <a:bodyPr wrap="none" rtlCol="0">
              <a:spAutoFit/>
            </a:bodyPr>
            <a:lstStyle/>
            <a:p>
              <a:r>
                <a:rPr lang="en-US" altLang="zh-CN" dirty="0">
                  <a:solidFill>
                    <a:srgbClr val="5B307E"/>
                  </a:solidFill>
                  <a:latin typeface="微软雅黑" panose="020B0503020204020204" pitchFamily="34" charset="-122"/>
                  <a:ea typeface="微软雅黑" panose="020B0503020204020204" pitchFamily="34" charset="-122"/>
                </a:rPr>
                <a:t>X</a:t>
              </a:r>
              <a:endParaRPr lang="zh-CN" altLang="en-US" dirty="0">
                <a:solidFill>
                  <a:srgbClr val="5B307E"/>
                </a:solidFill>
                <a:latin typeface="微软雅黑" panose="020B0503020204020204" pitchFamily="34" charset="-122"/>
                <a:ea typeface="微软雅黑" panose="020B0503020204020204" pitchFamily="34" charset="-122"/>
              </a:endParaRPr>
            </a:p>
          </p:txBody>
        </p:sp>
      </p:grpSp>
      <p:cxnSp>
        <p:nvCxnSpPr>
          <p:cNvPr id="103" name="直接箭头连接符 102">
            <a:extLst>
              <a:ext uri="{FF2B5EF4-FFF2-40B4-BE49-F238E27FC236}">
                <a16:creationId xmlns:a16="http://schemas.microsoft.com/office/drawing/2014/main" id="{C8A848BF-5608-4768-8718-E30C52B0ED55}"/>
              </a:ext>
            </a:extLst>
          </p:cNvPr>
          <p:cNvCxnSpPr/>
          <p:nvPr/>
        </p:nvCxnSpPr>
        <p:spPr>
          <a:xfrm>
            <a:off x="3028922" y="3357668"/>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文本框 103">
            <a:extLst>
              <a:ext uri="{FF2B5EF4-FFF2-40B4-BE49-F238E27FC236}">
                <a16:creationId xmlns:a16="http://schemas.microsoft.com/office/drawing/2014/main" id="{AD8BDAF1-E7AE-45CE-9481-FDA40C82C69C}"/>
              </a:ext>
            </a:extLst>
          </p:cNvPr>
          <p:cNvSpPr txBox="1"/>
          <p:nvPr/>
        </p:nvSpPr>
        <p:spPr>
          <a:xfrm>
            <a:off x="5113908" y="3085670"/>
            <a:ext cx="6578468" cy="2454005"/>
          </a:xfrm>
          <a:prstGeom prst="rect">
            <a:avLst/>
          </a:prstGeom>
          <a:noFill/>
        </p:spPr>
        <p:txBody>
          <a:bodyPr wrap="square" rtlCol="0">
            <a:spAutoFit/>
          </a:bodyPr>
          <a:lstStyle/>
          <a:p>
            <a:pPr>
              <a:lnSpc>
                <a:spcPct val="130000"/>
              </a:lnSpc>
            </a:pPr>
            <a:r>
              <a:rPr lang="zh-CN" altLang="en-US" sz="2000" dirty="0">
                <a:latin typeface="微软雅黑" panose="020B0503020204020204" pitchFamily="34" charset="-122"/>
                <a:ea typeface="微软雅黑" panose="020B0503020204020204" pitchFamily="34" charset="-122"/>
              </a:rPr>
              <a:t>假设</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的路由表中表示了到达各网络的最优路径</a:t>
            </a:r>
            <a:endParaRPr lang="en-US" altLang="zh-CN" sz="2000" dirty="0">
              <a:latin typeface="微软雅黑" panose="020B0503020204020204" pitchFamily="34" charset="-122"/>
              <a:ea typeface="微软雅黑" panose="020B0503020204020204" pitchFamily="34" charset="-122"/>
            </a:endParaRPr>
          </a:p>
          <a:p>
            <a:pPr>
              <a:lnSpc>
                <a:spcPct val="130000"/>
              </a:lnSpc>
            </a:pPr>
            <a:r>
              <a:rPr lang="zh-CN" altLang="en-US" sz="2000" dirty="0">
                <a:latin typeface="微软雅黑" panose="020B0503020204020204" pitchFamily="34" charset="-122"/>
                <a:ea typeface="微软雅黑" panose="020B0503020204020204" pitchFamily="34" charset="-122"/>
              </a:rPr>
              <a:t>①广播数据包</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从接口</a:t>
            </a:r>
            <a:r>
              <a:rPr lang="en-US" altLang="zh-CN" sz="2000" dirty="0">
                <a:latin typeface="微软雅黑" panose="020B0503020204020204" pitchFamily="34" charset="-122"/>
                <a:ea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rPr>
              <a:t>到达</a:t>
            </a:r>
            <a:r>
              <a:rPr lang="en-US" altLang="zh-CN" sz="2000" dirty="0">
                <a:latin typeface="微软雅黑" panose="020B0503020204020204" pitchFamily="34" charset="-122"/>
                <a:ea typeface="微软雅黑" panose="020B0503020204020204" pitchFamily="34" charset="-122"/>
              </a:rPr>
              <a:t>R</a:t>
            </a:r>
          </a:p>
          <a:p>
            <a:pPr>
              <a:lnSpc>
                <a:spcPct val="130000"/>
              </a:lnSpc>
            </a:pPr>
            <a:r>
              <a:rPr lang="zh-CN" altLang="en-US" sz="2000" dirty="0">
                <a:latin typeface="微软雅黑" panose="020B0503020204020204" pitchFamily="34" charset="-122"/>
                <a:ea typeface="微软雅黑" panose="020B0503020204020204" pitchFamily="34" charset="-122"/>
              </a:rPr>
              <a:t>②</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查看数据包来源</a:t>
            </a:r>
            <a:r>
              <a:rPr lang="en-US" altLang="zh-CN" sz="2000" dirty="0">
                <a:latin typeface="微软雅黑" panose="020B0503020204020204" pitchFamily="34" charset="-122"/>
                <a:ea typeface="微软雅黑" panose="020B0503020204020204" pitchFamily="34" charset="-122"/>
              </a:rPr>
              <a:t>S</a:t>
            </a:r>
            <a:r>
              <a:rPr lang="zh-CN" altLang="en-US" sz="2000" dirty="0">
                <a:latin typeface="微软雅黑" panose="020B0503020204020204" pitchFamily="34" charset="-122"/>
                <a:ea typeface="微软雅黑" panose="020B0503020204020204" pitchFamily="34" charset="-122"/>
              </a:rPr>
              <a:t>，比对</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的路由表</a:t>
            </a:r>
            <a:endParaRPr lang="en-US" altLang="zh-CN" sz="2000" dirty="0">
              <a:latin typeface="微软雅黑" panose="020B0503020204020204" pitchFamily="34" charset="-122"/>
              <a:ea typeface="微软雅黑" panose="020B0503020204020204" pitchFamily="34" charset="-122"/>
            </a:endParaRPr>
          </a:p>
          <a:p>
            <a:pPr>
              <a:lnSpc>
                <a:spcPct val="130000"/>
              </a:lnSpc>
            </a:pPr>
            <a:r>
              <a:rPr lang="zh-CN" altLang="en-US" sz="2000" dirty="0">
                <a:latin typeface="微软雅黑" panose="020B0503020204020204" pitchFamily="34" charset="-122"/>
                <a:ea typeface="微软雅黑" panose="020B0503020204020204" pitchFamily="34" charset="-122"/>
              </a:rPr>
              <a:t>③</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的来源是</a:t>
            </a:r>
            <a:r>
              <a:rPr lang="en-US" altLang="zh-CN" sz="2000" dirty="0">
                <a:latin typeface="微软雅黑" panose="020B0503020204020204" pitchFamily="34" charset="-122"/>
                <a:ea typeface="微软雅黑" panose="020B0503020204020204" pitchFamily="34" charset="-122"/>
              </a:rPr>
              <a:t>N1</a:t>
            </a:r>
            <a:r>
              <a:rPr lang="zh-CN" altLang="en-US" sz="2000" dirty="0">
                <a:latin typeface="微软雅黑" panose="020B0503020204020204" pitchFamily="34" charset="-122"/>
                <a:ea typeface="微软雅黑" panose="020B0503020204020204" pitchFamily="34" charset="-122"/>
              </a:rPr>
              <a:t>吗？</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是，</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是从最佳路径来的，向接口</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和接口</a:t>
            </a:r>
            <a:r>
              <a:rPr lang="en-US" altLang="zh-CN" sz="2000" dirty="0">
                <a:latin typeface="微软雅黑" panose="020B0503020204020204" pitchFamily="34" charset="-122"/>
                <a:ea typeface="微软雅黑" panose="020B0503020204020204" pitchFamily="34" charset="-122"/>
              </a:rPr>
              <a:t>3</a:t>
            </a:r>
            <a:r>
              <a:rPr lang="zh-CN" altLang="en-US" sz="2000" dirty="0">
                <a:latin typeface="微软雅黑" panose="020B0503020204020204" pitchFamily="34" charset="-122"/>
                <a:ea typeface="微软雅黑" panose="020B0503020204020204" pitchFamily="34" charset="-122"/>
              </a:rPr>
              <a:t>转发</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否，</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是重复包，丢弃</a:t>
            </a:r>
            <a:endParaRPr lang="en-US" altLang="zh-CN" sz="2000" dirty="0">
              <a:latin typeface="微软雅黑" panose="020B0503020204020204" pitchFamily="34" charset="-122"/>
              <a:ea typeface="微软雅黑" panose="020B0503020204020204" pitchFamily="34" charset="-122"/>
            </a:endParaRPr>
          </a:p>
        </p:txBody>
      </p:sp>
      <p:sp>
        <p:nvSpPr>
          <p:cNvPr id="105" name="文本框 104">
            <a:extLst>
              <a:ext uri="{FF2B5EF4-FFF2-40B4-BE49-F238E27FC236}">
                <a16:creationId xmlns:a16="http://schemas.microsoft.com/office/drawing/2014/main" id="{DB3DB44B-FF11-44C4-899F-8DB698BF4E69}"/>
              </a:ext>
            </a:extLst>
          </p:cNvPr>
          <p:cNvSpPr txBox="1"/>
          <p:nvPr/>
        </p:nvSpPr>
        <p:spPr>
          <a:xfrm>
            <a:off x="6260058" y="5775584"/>
            <a:ext cx="3151849" cy="400110"/>
          </a:xfrm>
          <a:prstGeom prst="rect">
            <a:avLst/>
          </a:prstGeom>
          <a:noFill/>
          <a:ln>
            <a:solidFill>
              <a:srgbClr val="5B307E"/>
            </a:solidFill>
          </a:ln>
        </p:spPr>
        <p:txBody>
          <a:bodyPr wrap="square" rtlCol="0">
            <a:spAutoFit/>
          </a:bodyPr>
          <a:lstStyle/>
          <a:p>
            <a:pPr algn="ctr"/>
            <a:r>
              <a:rPr lang="zh-CN" altLang="en-US" sz="2000" dirty="0">
                <a:solidFill>
                  <a:srgbClr val="5B307E"/>
                </a:solidFill>
                <a:latin typeface="微软雅黑" panose="020B0503020204020204" pitchFamily="34" charset="-122"/>
                <a:ea typeface="微软雅黑" panose="020B0503020204020204" pitchFamily="34" charset="-122"/>
              </a:rPr>
              <a:t>不能完全避免重复分组！</a:t>
            </a:r>
            <a:endParaRPr lang="zh-CN" altLang="en-US" sz="2000" dirty="0">
              <a:latin typeface="微软雅黑" panose="020B0503020204020204" pitchFamily="34" charset="-122"/>
              <a:ea typeface="微软雅黑" panose="020B0503020204020204" pitchFamily="34" charset="-122"/>
            </a:endParaRPr>
          </a:p>
        </p:txBody>
      </p:sp>
      <p:sp>
        <p:nvSpPr>
          <p:cNvPr id="29"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
        <p:nvSpPr>
          <p:cNvPr id="30" name="灯片编号占位符 3">
            <a:extLst>
              <a:ext uri="{FF2B5EF4-FFF2-40B4-BE49-F238E27FC236}">
                <a16:creationId xmlns:a16="http://schemas.microsoft.com/office/drawing/2014/main" id="{456E1174-18AE-AE43-912B-3027FFECD9E5}"/>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59</a:t>
            </a:fld>
            <a:endParaRPr kumimoji="1" lang="zh-CN" altLang="en-US" dirty="0"/>
          </a:p>
        </p:txBody>
      </p:sp>
    </p:spTree>
    <p:extLst>
      <p:ext uri="{BB962C8B-B14F-4D97-AF65-F5344CB8AC3E}">
        <p14:creationId xmlns:p14="http://schemas.microsoft.com/office/powerpoint/2010/main" val="2182029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blinds(horizontal)">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72"/>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97"/>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98"/>
                                        </p:tgtEl>
                                        <p:attrNameLst>
                                          <p:attrName>style.visibility</p:attrName>
                                        </p:attrNameLst>
                                      </p:cBhvr>
                                      <p:to>
                                        <p:strVal val="visible"/>
                                      </p:to>
                                    </p:set>
                                  </p:childTnLst>
                                </p:cTn>
                              </p:par>
                              <p:par>
                                <p:cTn id="16" presetID="22" presetClass="entr" presetSubtype="1" fill="hold" nodeType="withEffect">
                                  <p:stCondLst>
                                    <p:cond delay="0"/>
                                  </p:stCondLst>
                                  <p:childTnLst>
                                    <p:set>
                                      <p:cBhvr>
                                        <p:cTn id="17" dur="1" fill="hold">
                                          <p:stCondLst>
                                            <p:cond delay="0"/>
                                          </p:stCondLst>
                                        </p:cTn>
                                        <p:tgtEl>
                                          <p:spTgt spid="103"/>
                                        </p:tgtEl>
                                        <p:attrNameLst>
                                          <p:attrName>style.visibility</p:attrName>
                                        </p:attrNameLst>
                                      </p:cBhvr>
                                      <p:to>
                                        <p:strVal val="visible"/>
                                      </p:to>
                                    </p:set>
                                    <p:animEffect transition="in" filter="wipe(up)">
                                      <p:cBhvr>
                                        <p:cTn id="18" dur="500"/>
                                        <p:tgtEl>
                                          <p:spTgt spid="10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fade">
                                      <p:cBhvr>
                                        <p:cTn id="21" dur="500"/>
                                        <p:tgtEl>
                                          <p:spTgt spid="68"/>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104">
                                            <p:txEl>
                                              <p:pRg st="0" end="0"/>
                                            </p:txEl>
                                          </p:spTgt>
                                        </p:tgtEl>
                                        <p:attrNameLst>
                                          <p:attrName>style.visibility</p:attrName>
                                        </p:attrNameLst>
                                      </p:cBhvr>
                                      <p:to>
                                        <p:strVal val="visible"/>
                                      </p:to>
                                    </p:set>
                                    <p:animEffect transition="in" filter="blinds(horizontal)">
                                      <p:cBhvr>
                                        <p:cTn id="26" dur="500"/>
                                        <p:tgtEl>
                                          <p:spTgt spid="104">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nodeType="clickEffect">
                                  <p:stCondLst>
                                    <p:cond delay="0"/>
                                  </p:stCondLst>
                                  <p:childTnLst>
                                    <p:set>
                                      <p:cBhvr>
                                        <p:cTn id="30" dur="1" fill="hold">
                                          <p:stCondLst>
                                            <p:cond delay="0"/>
                                          </p:stCondLst>
                                        </p:cTn>
                                        <p:tgtEl>
                                          <p:spTgt spid="104">
                                            <p:txEl>
                                              <p:pRg st="1" end="1"/>
                                            </p:txEl>
                                          </p:spTgt>
                                        </p:tgtEl>
                                        <p:attrNameLst>
                                          <p:attrName>style.visibility</p:attrName>
                                        </p:attrNameLst>
                                      </p:cBhvr>
                                      <p:to>
                                        <p:strVal val="visible"/>
                                      </p:to>
                                    </p:set>
                                    <p:animEffect transition="in" filter="blinds(horizontal)">
                                      <p:cBhvr>
                                        <p:cTn id="31" dur="500"/>
                                        <p:tgtEl>
                                          <p:spTgt spid="104">
                                            <p:txEl>
                                              <p:pRg st="1" end="1"/>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04">
                                            <p:txEl>
                                              <p:pRg st="2" end="2"/>
                                            </p:txEl>
                                          </p:spTgt>
                                        </p:tgtEl>
                                        <p:attrNameLst>
                                          <p:attrName>style.visibility</p:attrName>
                                        </p:attrNameLst>
                                      </p:cBhvr>
                                      <p:to>
                                        <p:strVal val="visible"/>
                                      </p:to>
                                    </p:set>
                                    <p:animEffect transition="in" filter="blinds(horizontal)">
                                      <p:cBhvr>
                                        <p:cTn id="36" dur="500"/>
                                        <p:tgtEl>
                                          <p:spTgt spid="104">
                                            <p:txEl>
                                              <p:pRg st="2" end="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3" presetClass="entr" presetSubtype="10" fill="hold" nodeType="clickEffect">
                                  <p:stCondLst>
                                    <p:cond delay="0"/>
                                  </p:stCondLst>
                                  <p:childTnLst>
                                    <p:set>
                                      <p:cBhvr>
                                        <p:cTn id="40" dur="1" fill="hold">
                                          <p:stCondLst>
                                            <p:cond delay="0"/>
                                          </p:stCondLst>
                                        </p:cTn>
                                        <p:tgtEl>
                                          <p:spTgt spid="104">
                                            <p:txEl>
                                              <p:pRg st="3" end="3"/>
                                            </p:txEl>
                                          </p:spTgt>
                                        </p:tgtEl>
                                        <p:attrNameLst>
                                          <p:attrName>style.visibility</p:attrName>
                                        </p:attrNameLst>
                                      </p:cBhvr>
                                      <p:to>
                                        <p:strVal val="visible"/>
                                      </p:to>
                                    </p:set>
                                    <p:animEffect transition="in" filter="blinds(horizontal)">
                                      <p:cBhvr>
                                        <p:cTn id="41" dur="500"/>
                                        <p:tgtEl>
                                          <p:spTgt spid="104">
                                            <p:txEl>
                                              <p:pRg st="3" end="3"/>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3" presetClass="entr" presetSubtype="10" fill="hold" nodeType="clickEffect">
                                  <p:stCondLst>
                                    <p:cond delay="0"/>
                                  </p:stCondLst>
                                  <p:childTnLst>
                                    <p:set>
                                      <p:cBhvr>
                                        <p:cTn id="45" dur="1" fill="hold">
                                          <p:stCondLst>
                                            <p:cond delay="0"/>
                                          </p:stCondLst>
                                        </p:cTn>
                                        <p:tgtEl>
                                          <p:spTgt spid="104">
                                            <p:txEl>
                                              <p:pRg st="4" end="4"/>
                                            </p:txEl>
                                          </p:spTgt>
                                        </p:tgtEl>
                                        <p:attrNameLst>
                                          <p:attrName>style.visibility</p:attrName>
                                        </p:attrNameLst>
                                      </p:cBhvr>
                                      <p:to>
                                        <p:strVal val="visible"/>
                                      </p:to>
                                    </p:set>
                                    <p:animEffect transition="in" filter="blinds(horizontal)">
                                      <p:cBhvr>
                                        <p:cTn id="46" dur="500"/>
                                        <p:tgtEl>
                                          <p:spTgt spid="104">
                                            <p:txEl>
                                              <p:pRg st="4" end="4"/>
                                            </p:txEl>
                                          </p:spTgt>
                                        </p:tgtEl>
                                      </p:cBhvr>
                                    </p:animEffect>
                                  </p:childTnLst>
                                </p:cTn>
                              </p:par>
                              <p:par>
                                <p:cTn id="47" presetID="3" presetClass="entr" presetSubtype="10" fill="hold" nodeType="withEffect">
                                  <p:stCondLst>
                                    <p:cond delay="0"/>
                                  </p:stCondLst>
                                  <p:childTnLst>
                                    <p:set>
                                      <p:cBhvr>
                                        <p:cTn id="48" dur="1" fill="hold">
                                          <p:stCondLst>
                                            <p:cond delay="0"/>
                                          </p:stCondLst>
                                        </p:cTn>
                                        <p:tgtEl>
                                          <p:spTgt spid="104">
                                            <p:txEl>
                                              <p:pRg st="5" end="5"/>
                                            </p:txEl>
                                          </p:spTgt>
                                        </p:tgtEl>
                                        <p:attrNameLst>
                                          <p:attrName>style.visibility</p:attrName>
                                        </p:attrNameLst>
                                      </p:cBhvr>
                                      <p:to>
                                        <p:strVal val="visible"/>
                                      </p:to>
                                    </p:set>
                                    <p:animEffect transition="in" filter="blinds(horizontal)">
                                      <p:cBhvr>
                                        <p:cTn id="49" dur="500"/>
                                        <p:tgtEl>
                                          <p:spTgt spid="104">
                                            <p:txEl>
                                              <p:pRg st="5" end="5"/>
                                            </p:txEl>
                                          </p:spTgt>
                                        </p:tgtEl>
                                      </p:cBhvr>
                                    </p:animEffect>
                                  </p:childTnLst>
                                </p:cTn>
                              </p:par>
                            </p:childTnLst>
                          </p:cTn>
                        </p:par>
                      </p:childTnLst>
                    </p:cTn>
                  </p:par>
                  <p:par>
                    <p:cTn id="50" fill="hold">
                      <p:stCondLst>
                        <p:cond delay="indefinite"/>
                      </p:stCondLst>
                      <p:childTnLst>
                        <p:par>
                          <p:cTn id="51" fill="hold">
                            <p:stCondLst>
                              <p:cond delay="0"/>
                            </p:stCondLst>
                            <p:childTnLst>
                              <p:par>
                                <p:cTn id="52" presetID="3" presetClass="entr" presetSubtype="10" fill="hold" grpId="0" nodeType="clickEffect">
                                  <p:stCondLst>
                                    <p:cond delay="0"/>
                                  </p:stCondLst>
                                  <p:childTnLst>
                                    <p:set>
                                      <p:cBhvr>
                                        <p:cTn id="53" dur="1" fill="hold">
                                          <p:stCondLst>
                                            <p:cond delay="0"/>
                                          </p:stCondLst>
                                        </p:cTn>
                                        <p:tgtEl>
                                          <p:spTgt spid="105"/>
                                        </p:tgtEl>
                                        <p:attrNameLst>
                                          <p:attrName>style.visibility</p:attrName>
                                        </p:attrNameLst>
                                      </p:cBhvr>
                                      <p:to>
                                        <p:strVal val="visible"/>
                                      </p:to>
                                    </p:set>
                                    <p:animEffect transition="in" filter="blinds(horizontal)">
                                      <p:cBhvr>
                                        <p:cTn id="5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105"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1" name="直接连接符 40">
            <a:extLst>
              <a:ext uri="{FF2B5EF4-FFF2-40B4-BE49-F238E27FC236}">
                <a16:creationId xmlns:a16="http://schemas.microsoft.com/office/drawing/2014/main" id="{5DF1F0D9-EC2A-45EA-9ECA-6C85E9FB97D9}"/>
              </a:ext>
            </a:extLst>
          </p:cNvPr>
          <p:cNvCxnSpPr>
            <a:cxnSpLocks/>
          </p:cNvCxnSpPr>
          <p:nvPr/>
        </p:nvCxnSpPr>
        <p:spPr>
          <a:xfrm flipH="1">
            <a:off x="8604459" y="4464688"/>
            <a:ext cx="2003874" cy="73388"/>
          </a:xfrm>
          <a:prstGeom prst="line">
            <a:avLst/>
          </a:prstGeom>
          <a:ln w="28575"/>
        </p:spPr>
        <p:style>
          <a:lnRef idx="1">
            <a:schemeClr val="dk1"/>
          </a:lnRef>
          <a:fillRef idx="0">
            <a:schemeClr val="dk1"/>
          </a:fillRef>
          <a:effectRef idx="0">
            <a:schemeClr val="dk1"/>
          </a:effectRef>
          <a:fontRef idx="minor">
            <a:schemeClr val="tx1"/>
          </a:fontRef>
        </p:style>
      </p:cxnSp>
      <p:cxnSp>
        <p:nvCxnSpPr>
          <p:cNvPr id="79" name="直接连接符 78">
            <a:extLst>
              <a:ext uri="{FF2B5EF4-FFF2-40B4-BE49-F238E27FC236}">
                <a16:creationId xmlns:a16="http://schemas.microsoft.com/office/drawing/2014/main" id="{7BB4B38F-0074-4A99-BA05-E346CFAC5B71}"/>
              </a:ext>
            </a:extLst>
          </p:cNvPr>
          <p:cNvCxnSpPr>
            <a:cxnSpLocks/>
          </p:cNvCxnSpPr>
          <p:nvPr/>
        </p:nvCxnSpPr>
        <p:spPr>
          <a:xfrm flipH="1">
            <a:off x="8788757" y="5549330"/>
            <a:ext cx="1975076" cy="304289"/>
          </a:xfrm>
          <a:prstGeom prst="line">
            <a:avLst/>
          </a:prstGeom>
          <a:ln w="28575"/>
        </p:spPr>
        <p:style>
          <a:lnRef idx="1">
            <a:schemeClr val="dk1"/>
          </a:lnRef>
          <a:fillRef idx="0">
            <a:schemeClr val="dk1"/>
          </a:fillRef>
          <a:effectRef idx="0">
            <a:schemeClr val="dk1"/>
          </a:effectRef>
          <a:fontRef idx="minor">
            <a:schemeClr val="tx1"/>
          </a:fontRef>
        </p:style>
      </p:cxnSp>
      <p:cxnSp>
        <p:nvCxnSpPr>
          <p:cNvPr id="76" name="直接连接符 75">
            <a:extLst>
              <a:ext uri="{FF2B5EF4-FFF2-40B4-BE49-F238E27FC236}">
                <a16:creationId xmlns:a16="http://schemas.microsoft.com/office/drawing/2014/main" id="{91CB5F97-BF9C-4563-85CF-D58D61944DEE}"/>
              </a:ext>
            </a:extLst>
          </p:cNvPr>
          <p:cNvCxnSpPr>
            <a:cxnSpLocks/>
          </p:cNvCxnSpPr>
          <p:nvPr/>
        </p:nvCxnSpPr>
        <p:spPr>
          <a:xfrm>
            <a:off x="8569815" y="4655326"/>
            <a:ext cx="40785" cy="1141697"/>
          </a:xfrm>
          <a:prstGeom prst="line">
            <a:avLst/>
          </a:prstGeom>
          <a:ln w="28575"/>
        </p:spPr>
        <p:style>
          <a:lnRef idx="1">
            <a:schemeClr val="dk1"/>
          </a:lnRef>
          <a:fillRef idx="0">
            <a:schemeClr val="dk1"/>
          </a:fillRef>
          <a:effectRef idx="0">
            <a:schemeClr val="dk1"/>
          </a:effectRef>
          <a:fontRef idx="minor">
            <a:schemeClr val="tx1"/>
          </a:fontRef>
        </p:style>
      </p:cxnSp>
      <p:sp>
        <p:nvSpPr>
          <p:cNvPr id="2" name="标题 1">
            <a:extLst>
              <a:ext uri="{FF2B5EF4-FFF2-40B4-BE49-F238E27FC236}">
                <a16:creationId xmlns:a16="http://schemas.microsoft.com/office/drawing/2014/main"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id="{94E05FDE-6FA7-40C8-9C9A-E274668DEC38}"/>
              </a:ext>
            </a:extLst>
          </p:cNvPr>
          <p:cNvSpPr>
            <a:spLocks noGrp="1"/>
          </p:cNvSpPr>
          <p:nvPr>
            <p:ph idx="1"/>
          </p:nvPr>
        </p:nvSpPr>
        <p:spPr>
          <a:xfrm>
            <a:off x="838201" y="1510757"/>
            <a:ext cx="4852042" cy="4978545"/>
          </a:xfrm>
        </p:spPr>
        <p:txBody>
          <a:bodyPr>
            <a:normAutofit/>
          </a:bodyPr>
          <a:lstStyle/>
          <a:p>
            <a:pPr>
              <a:lnSpc>
                <a:spcPct val="130000"/>
              </a:lnSpc>
            </a:pPr>
            <a:r>
              <a:rPr lang="zh-CN" altLang="en-US" sz="2400" dirty="0"/>
              <a:t>方法</a:t>
            </a:r>
            <a:r>
              <a:rPr lang="en-US" altLang="zh-CN" sz="2400" dirty="0"/>
              <a:t>4</a:t>
            </a:r>
            <a:r>
              <a:rPr lang="zh-CN" altLang="en-US" sz="2400" dirty="0"/>
              <a:t>：生成树（</a:t>
            </a:r>
            <a:r>
              <a:rPr lang="en-US" altLang="zh-CN" sz="2400" dirty="0"/>
              <a:t>spanning tree</a:t>
            </a:r>
            <a:r>
              <a:rPr lang="zh-CN" altLang="en-US" sz="2400" dirty="0"/>
              <a:t>）</a:t>
            </a:r>
            <a:endParaRPr lang="en-US" altLang="zh-CN" sz="2400" dirty="0"/>
          </a:p>
          <a:p>
            <a:pPr lvl="1">
              <a:lnSpc>
                <a:spcPct val="130000"/>
              </a:lnSpc>
            </a:pPr>
            <a:r>
              <a:rPr lang="zh-CN" altLang="en-US" sz="2000" dirty="0"/>
              <a:t>源节点向所有属于该生成树的特定链路发送分组</a:t>
            </a:r>
            <a:endParaRPr lang="en-US" altLang="zh-CN" sz="2000" dirty="0"/>
          </a:p>
          <a:p>
            <a:pPr lvl="1">
              <a:lnSpc>
                <a:spcPct val="130000"/>
              </a:lnSpc>
            </a:pPr>
            <a:r>
              <a:rPr lang="zh-CN" altLang="en-US" sz="2000" dirty="0"/>
              <a:t>改进了逆向路径转发</a:t>
            </a:r>
            <a:endParaRPr lang="en-US" altLang="zh-CN" sz="2000" dirty="0"/>
          </a:p>
          <a:p>
            <a:pPr lvl="1">
              <a:lnSpc>
                <a:spcPct val="130000"/>
              </a:lnSpc>
            </a:pPr>
            <a:r>
              <a:rPr lang="zh-CN" altLang="en-US" sz="2000" dirty="0"/>
              <a:t>没有环路</a:t>
            </a:r>
            <a:endParaRPr lang="en-US" altLang="zh-CN" sz="2000" dirty="0"/>
          </a:p>
          <a:p>
            <a:pPr lvl="1">
              <a:lnSpc>
                <a:spcPct val="130000"/>
              </a:lnSpc>
            </a:pPr>
            <a:r>
              <a:rPr lang="zh-CN" altLang="en-US" sz="2000" dirty="0"/>
              <a:t>最佳使用带宽</a:t>
            </a:r>
            <a:endParaRPr lang="en-US" altLang="zh-CN" sz="2000" dirty="0"/>
          </a:p>
          <a:p>
            <a:pPr lvl="1">
              <a:lnSpc>
                <a:spcPct val="130000"/>
              </a:lnSpc>
            </a:pPr>
            <a:r>
              <a:rPr lang="zh-CN" altLang="en-US" sz="2000" dirty="0"/>
              <a:t>最少副本，消除了冗余分组</a:t>
            </a:r>
            <a:endParaRPr lang="en-US" altLang="zh-CN" sz="2000" dirty="0"/>
          </a:p>
          <a:p>
            <a:pPr lvl="1">
              <a:lnSpc>
                <a:spcPct val="130000"/>
              </a:lnSpc>
            </a:pPr>
            <a:r>
              <a:rPr lang="zh-CN" altLang="en-US" sz="2000" dirty="0"/>
              <a:t>一个路由器可以不必知道整颗树，只需要知道在一颗树中的邻居即可</a:t>
            </a:r>
          </a:p>
        </p:txBody>
      </p:sp>
      <p:cxnSp>
        <p:nvCxnSpPr>
          <p:cNvPr id="73" name="直接箭头连接符 72">
            <a:extLst>
              <a:ext uri="{FF2B5EF4-FFF2-40B4-BE49-F238E27FC236}">
                <a16:creationId xmlns:a16="http://schemas.microsoft.com/office/drawing/2014/main" id="{531A4A27-B16F-451C-8E20-877839B2DCD5}"/>
              </a:ext>
            </a:extLst>
          </p:cNvPr>
          <p:cNvCxnSpPr/>
          <p:nvPr/>
        </p:nvCxnSpPr>
        <p:spPr>
          <a:xfrm>
            <a:off x="8620512" y="2422639"/>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3995ACFA-F190-48C5-8F43-E5A9AC86AE6A}"/>
              </a:ext>
            </a:extLst>
          </p:cNvPr>
          <p:cNvCxnSpPr>
            <a:cxnSpLocks/>
          </p:cNvCxnSpPr>
          <p:nvPr/>
        </p:nvCxnSpPr>
        <p:spPr>
          <a:xfrm flipH="1">
            <a:off x="7019693" y="3348330"/>
            <a:ext cx="1014311"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id="{108BB810-3954-410F-89C3-97B3741E39C4}"/>
              </a:ext>
            </a:extLst>
          </p:cNvPr>
          <p:cNvCxnSpPr>
            <a:cxnSpLocks/>
          </p:cNvCxnSpPr>
          <p:nvPr/>
        </p:nvCxnSpPr>
        <p:spPr>
          <a:xfrm>
            <a:off x="9109294" y="3295095"/>
            <a:ext cx="1147917" cy="6434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1" name="直接箭头连接符 80">
            <a:extLst>
              <a:ext uri="{FF2B5EF4-FFF2-40B4-BE49-F238E27FC236}">
                <a16:creationId xmlns:a16="http://schemas.microsoft.com/office/drawing/2014/main" id="{DEEC7569-CFED-4805-94AA-8F7DFF27053B}"/>
              </a:ext>
            </a:extLst>
          </p:cNvPr>
          <p:cNvCxnSpPr>
            <a:cxnSpLocks/>
          </p:cNvCxnSpPr>
          <p:nvPr/>
        </p:nvCxnSpPr>
        <p:spPr>
          <a:xfrm>
            <a:off x="7143065" y="4489606"/>
            <a:ext cx="947144" cy="179977"/>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87" name="十字形 86">
            <a:extLst>
              <a:ext uri="{FF2B5EF4-FFF2-40B4-BE49-F238E27FC236}">
                <a16:creationId xmlns:a16="http://schemas.microsoft.com/office/drawing/2014/main" id="{9CA889F1-1B8A-4AC4-918B-C301783A4D0A}"/>
              </a:ext>
            </a:extLst>
          </p:cNvPr>
          <p:cNvSpPr/>
          <p:nvPr/>
        </p:nvSpPr>
        <p:spPr>
          <a:xfrm rot="2652345">
            <a:off x="8393282" y="4949131"/>
            <a:ext cx="393849" cy="408269"/>
          </a:xfrm>
          <a:prstGeom prst="plus">
            <a:avLst>
              <a:gd name="adj" fmla="val 42952"/>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十字形 87">
            <a:extLst>
              <a:ext uri="{FF2B5EF4-FFF2-40B4-BE49-F238E27FC236}">
                <a16:creationId xmlns:a16="http://schemas.microsoft.com/office/drawing/2014/main" id="{7C3020E6-AA07-4D89-A0BB-48EE5AF61067}"/>
              </a:ext>
            </a:extLst>
          </p:cNvPr>
          <p:cNvSpPr/>
          <p:nvPr/>
        </p:nvSpPr>
        <p:spPr>
          <a:xfrm rot="2652345">
            <a:off x="9355944" y="4316753"/>
            <a:ext cx="393849" cy="408269"/>
          </a:xfrm>
          <a:prstGeom prst="plus">
            <a:avLst>
              <a:gd name="adj" fmla="val 42952"/>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2" name="直接箭头连接符 81">
            <a:extLst>
              <a:ext uri="{FF2B5EF4-FFF2-40B4-BE49-F238E27FC236}">
                <a16:creationId xmlns:a16="http://schemas.microsoft.com/office/drawing/2014/main" id="{9E2923C9-A2C2-4A6E-AAE5-9F9A2F1B0AF2}"/>
              </a:ext>
            </a:extLst>
          </p:cNvPr>
          <p:cNvCxnSpPr>
            <a:cxnSpLocks/>
          </p:cNvCxnSpPr>
          <p:nvPr/>
        </p:nvCxnSpPr>
        <p:spPr>
          <a:xfrm flipH="1">
            <a:off x="6219159" y="4648222"/>
            <a:ext cx="261263" cy="677660"/>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4" name="直接箭头连接符 83">
            <a:extLst>
              <a:ext uri="{FF2B5EF4-FFF2-40B4-BE49-F238E27FC236}">
                <a16:creationId xmlns:a16="http://schemas.microsoft.com/office/drawing/2014/main" id="{36752E6C-C67C-4942-8D9A-6BF0FF803B63}"/>
              </a:ext>
            </a:extLst>
          </p:cNvPr>
          <p:cNvCxnSpPr>
            <a:cxnSpLocks/>
          </p:cNvCxnSpPr>
          <p:nvPr/>
        </p:nvCxnSpPr>
        <p:spPr>
          <a:xfrm flipH="1">
            <a:off x="9382244" y="4745022"/>
            <a:ext cx="968246" cy="798880"/>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BEB71074-0CE3-47A3-B690-FCB30FCFC920}"/>
              </a:ext>
            </a:extLst>
          </p:cNvPr>
          <p:cNvCxnSpPr>
            <a:cxnSpLocks/>
          </p:cNvCxnSpPr>
          <p:nvPr/>
        </p:nvCxnSpPr>
        <p:spPr>
          <a:xfrm>
            <a:off x="10927812" y="4633459"/>
            <a:ext cx="138482" cy="5046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86" name="十字形 85">
            <a:extLst>
              <a:ext uri="{FF2B5EF4-FFF2-40B4-BE49-F238E27FC236}">
                <a16:creationId xmlns:a16="http://schemas.microsoft.com/office/drawing/2014/main" id="{1E547639-A48F-4DE0-8760-51B09CC638E7}"/>
              </a:ext>
            </a:extLst>
          </p:cNvPr>
          <p:cNvSpPr/>
          <p:nvPr/>
        </p:nvSpPr>
        <p:spPr>
          <a:xfrm rot="2652345">
            <a:off x="9776793" y="5509482"/>
            <a:ext cx="393849" cy="408269"/>
          </a:xfrm>
          <a:prstGeom prst="plus">
            <a:avLst>
              <a:gd name="adj" fmla="val 42952"/>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 name="组合 11">
            <a:extLst>
              <a:ext uri="{FF2B5EF4-FFF2-40B4-BE49-F238E27FC236}">
                <a16:creationId xmlns:a16="http://schemas.microsoft.com/office/drawing/2014/main" id="{71FED33F-DD8F-46AE-AD47-D3068CAA6D63}"/>
              </a:ext>
            </a:extLst>
          </p:cNvPr>
          <p:cNvGrpSpPr/>
          <p:nvPr/>
        </p:nvGrpSpPr>
        <p:grpSpPr>
          <a:xfrm>
            <a:off x="5839966" y="1392852"/>
            <a:ext cx="5568240" cy="5011968"/>
            <a:chOff x="5839966" y="1392852"/>
            <a:chExt cx="5568240" cy="5011968"/>
          </a:xfrm>
        </p:grpSpPr>
        <p:cxnSp>
          <p:nvCxnSpPr>
            <p:cNvPr id="38" name="直接连接符 37">
              <a:extLst>
                <a:ext uri="{FF2B5EF4-FFF2-40B4-BE49-F238E27FC236}">
                  <a16:creationId xmlns:a16="http://schemas.microsoft.com/office/drawing/2014/main" id="{5F0461BB-858E-4846-8D19-5153B22E2934}"/>
                </a:ext>
              </a:extLst>
            </p:cNvPr>
            <p:cNvCxnSpPr>
              <a:cxnSpLocks/>
            </p:cNvCxnSpPr>
            <p:nvPr/>
          </p:nvCxnSpPr>
          <p:spPr>
            <a:xfrm flipH="1" flipV="1">
              <a:off x="6818042" y="4256009"/>
              <a:ext cx="1562388" cy="282067"/>
            </a:xfrm>
            <a:prstGeom prst="line">
              <a:avLst/>
            </a:prstGeom>
            <a:ln w="28575"/>
          </p:spPr>
          <p:style>
            <a:lnRef idx="1">
              <a:schemeClr val="dk1"/>
            </a:lnRef>
            <a:fillRef idx="0">
              <a:schemeClr val="dk1"/>
            </a:fillRef>
            <a:effectRef idx="0">
              <a:schemeClr val="dk1"/>
            </a:effectRef>
            <a:fontRef idx="minor">
              <a:schemeClr val="tx1"/>
            </a:fontRef>
          </p:style>
        </p:cxnSp>
        <p:cxnSp>
          <p:nvCxnSpPr>
            <p:cNvPr id="80" name="直接连接符 79">
              <a:extLst>
                <a:ext uri="{FF2B5EF4-FFF2-40B4-BE49-F238E27FC236}">
                  <a16:creationId xmlns:a16="http://schemas.microsoft.com/office/drawing/2014/main" id="{62E220E2-882A-4984-8FE3-CB3A0B59C50D}"/>
                </a:ext>
              </a:extLst>
            </p:cNvPr>
            <p:cNvCxnSpPr>
              <a:cxnSpLocks/>
            </p:cNvCxnSpPr>
            <p:nvPr/>
          </p:nvCxnSpPr>
          <p:spPr>
            <a:xfrm>
              <a:off x="10682279" y="4369293"/>
              <a:ext cx="245533" cy="1053935"/>
            </a:xfrm>
            <a:prstGeom prst="line">
              <a:avLst/>
            </a:prstGeom>
            <a:ln w="28575"/>
          </p:spPr>
          <p:style>
            <a:lnRef idx="1">
              <a:schemeClr val="dk1"/>
            </a:lnRef>
            <a:fillRef idx="0">
              <a:schemeClr val="dk1"/>
            </a:fillRef>
            <a:effectRef idx="0">
              <a:schemeClr val="dk1"/>
            </a:effectRef>
            <a:fontRef idx="minor">
              <a:schemeClr val="tx1"/>
            </a:fontRef>
          </p:style>
        </p:cxnSp>
        <p:cxnSp>
          <p:nvCxnSpPr>
            <p:cNvPr id="78" name="直接连接符 77">
              <a:extLst>
                <a:ext uri="{FF2B5EF4-FFF2-40B4-BE49-F238E27FC236}">
                  <a16:creationId xmlns:a16="http://schemas.microsoft.com/office/drawing/2014/main" id="{7084718F-7169-4DFC-8D9C-C6BA5F816BE1}"/>
                </a:ext>
              </a:extLst>
            </p:cNvPr>
            <p:cNvCxnSpPr>
              <a:cxnSpLocks/>
            </p:cNvCxnSpPr>
            <p:nvPr/>
          </p:nvCxnSpPr>
          <p:spPr>
            <a:xfrm flipH="1">
              <a:off x="8788757" y="4382180"/>
              <a:ext cx="1796920" cy="1408595"/>
            </a:xfrm>
            <a:prstGeom prst="line">
              <a:avLst/>
            </a:prstGeom>
            <a:ln w="28575"/>
          </p:spPr>
          <p:style>
            <a:lnRef idx="1">
              <a:schemeClr val="dk1"/>
            </a:lnRef>
            <a:fillRef idx="0">
              <a:schemeClr val="dk1"/>
            </a:fillRef>
            <a:effectRef idx="0">
              <a:schemeClr val="dk1"/>
            </a:effectRef>
            <a:fontRef idx="minor">
              <a:schemeClr val="tx1"/>
            </a:fontRef>
          </p:style>
        </p:cxnSp>
        <p:cxnSp>
          <p:nvCxnSpPr>
            <p:cNvPr id="74" name="直接连接符 73">
              <a:extLst>
                <a:ext uri="{FF2B5EF4-FFF2-40B4-BE49-F238E27FC236}">
                  <a16:creationId xmlns:a16="http://schemas.microsoft.com/office/drawing/2014/main" id="{A9616617-5A62-4A36-B635-284C5D9D98A6}"/>
                </a:ext>
              </a:extLst>
            </p:cNvPr>
            <p:cNvCxnSpPr>
              <a:cxnSpLocks/>
            </p:cNvCxnSpPr>
            <p:nvPr/>
          </p:nvCxnSpPr>
          <p:spPr>
            <a:xfrm flipH="1">
              <a:off x="6259184" y="4401125"/>
              <a:ext cx="450610" cy="1209009"/>
            </a:xfrm>
            <a:prstGeom prst="line">
              <a:avLst/>
            </a:prstGeom>
            <a:ln w="28575"/>
          </p:spPr>
          <p:style>
            <a:lnRef idx="1">
              <a:schemeClr val="dk1"/>
            </a:lnRef>
            <a:fillRef idx="0">
              <a:schemeClr val="dk1"/>
            </a:fillRef>
            <a:effectRef idx="0">
              <a:schemeClr val="dk1"/>
            </a:effectRef>
            <a:fontRef idx="minor">
              <a:schemeClr val="tx1"/>
            </a:fontRef>
          </p:style>
        </p:cxnSp>
        <p:cxnSp>
          <p:nvCxnSpPr>
            <p:cNvPr id="48" name="直接连接符 47">
              <a:extLst>
                <a:ext uri="{FF2B5EF4-FFF2-40B4-BE49-F238E27FC236}">
                  <a16:creationId xmlns:a16="http://schemas.microsoft.com/office/drawing/2014/main" id="{92102487-4D16-418F-B175-CCFFC33B71E7}"/>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49" name="直接连接符 48">
              <a:extLst>
                <a:ext uri="{FF2B5EF4-FFF2-40B4-BE49-F238E27FC236}">
                  <a16:creationId xmlns:a16="http://schemas.microsoft.com/office/drawing/2014/main" id="{7AD47AC3-2836-42C6-A9AB-288D87D82A97}"/>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51" name="直接连接符 50">
              <a:extLst>
                <a:ext uri="{FF2B5EF4-FFF2-40B4-BE49-F238E27FC236}">
                  <a16:creationId xmlns:a16="http://schemas.microsoft.com/office/drawing/2014/main" id="{9E082C67-E171-4F18-A33E-C21690BBC1A2}"/>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52" name="Picture 57" descr="通用路由器">
              <a:extLst>
                <a:ext uri="{FF2B5EF4-FFF2-40B4-BE49-F238E27FC236}">
                  <a16:creationId xmlns:a16="http://schemas.microsoft.com/office/drawing/2014/main" id="{E884BBE0-4E8B-4D7D-AAF9-3584A37939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57" descr="通用路由器">
              <a:extLst>
                <a:ext uri="{FF2B5EF4-FFF2-40B4-BE49-F238E27FC236}">
                  <a16:creationId xmlns:a16="http://schemas.microsoft.com/office/drawing/2014/main" id="{77947C3A-3C2F-497D-A282-AE446BE6653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57" descr="通用路由器">
              <a:extLst>
                <a:ext uri="{FF2B5EF4-FFF2-40B4-BE49-F238E27FC236}">
                  <a16:creationId xmlns:a16="http://schemas.microsoft.com/office/drawing/2014/main" id="{112EC165-588F-4D8C-8867-CF437E5E8CE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57" descr="通用路由器">
              <a:extLst>
                <a:ext uri="{FF2B5EF4-FFF2-40B4-BE49-F238E27FC236}">
                  <a16:creationId xmlns:a16="http://schemas.microsoft.com/office/drawing/2014/main" id="{019664B3-0F5D-45AA-98BF-60A9E55188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5" descr="服务器类">
              <a:extLst>
                <a:ext uri="{FF2B5EF4-FFF2-40B4-BE49-F238E27FC236}">
                  <a16:creationId xmlns:a16="http://schemas.microsoft.com/office/drawing/2014/main" id="{9EE0B7C2-FB65-4742-9044-18CACE4E60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63" name="文本框 62">
              <a:extLst>
                <a:ext uri="{FF2B5EF4-FFF2-40B4-BE49-F238E27FC236}">
                  <a16:creationId xmlns:a16="http://schemas.microsoft.com/office/drawing/2014/main" id="{4EB44E44-AE98-46C7-88EA-0F41520F047C}"/>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64" name="文本框 63">
              <a:extLst>
                <a:ext uri="{FF2B5EF4-FFF2-40B4-BE49-F238E27FC236}">
                  <a16:creationId xmlns:a16="http://schemas.microsoft.com/office/drawing/2014/main" id="{A5692204-3DBA-43BF-8237-BF5627314123}"/>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65" name="文本框 64">
              <a:extLst>
                <a:ext uri="{FF2B5EF4-FFF2-40B4-BE49-F238E27FC236}">
                  <a16:creationId xmlns:a16="http://schemas.microsoft.com/office/drawing/2014/main" id="{465991D9-3979-46A3-8B83-2706EED99C0F}"/>
                </a:ext>
              </a:extLst>
            </p:cNvPr>
            <p:cNvSpPr txBox="1"/>
            <p:nvPr/>
          </p:nvSpPr>
          <p:spPr>
            <a:xfrm>
              <a:off x="5941110" y="4126255"/>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66" name="文本框 65">
              <a:extLst>
                <a:ext uri="{FF2B5EF4-FFF2-40B4-BE49-F238E27FC236}">
                  <a16:creationId xmlns:a16="http://schemas.microsoft.com/office/drawing/2014/main" id="{ED9FF43E-B75B-4A12-94A3-46331166A248}"/>
                </a:ext>
              </a:extLst>
            </p:cNvPr>
            <p:cNvSpPr txBox="1"/>
            <p:nvPr/>
          </p:nvSpPr>
          <p:spPr>
            <a:xfrm>
              <a:off x="8338199" y="3997772"/>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67" name="文本框 66">
              <a:extLst>
                <a:ext uri="{FF2B5EF4-FFF2-40B4-BE49-F238E27FC236}">
                  <a16:creationId xmlns:a16="http://schemas.microsoft.com/office/drawing/2014/main" id="{CE03E0BB-784A-4DCD-B51C-C20FB5DDB440}"/>
                </a:ext>
              </a:extLst>
            </p:cNvPr>
            <p:cNvSpPr txBox="1"/>
            <p:nvPr/>
          </p:nvSpPr>
          <p:spPr>
            <a:xfrm>
              <a:off x="10938206" y="412027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44" name="Picture 57" descr="通用路由器">
              <a:extLst>
                <a:ext uri="{FF2B5EF4-FFF2-40B4-BE49-F238E27FC236}">
                  <a16:creationId xmlns:a16="http://schemas.microsoft.com/office/drawing/2014/main" id="{7A27F5A6-A53F-4D1D-A809-8010EDC724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39966" y="5437035"/>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57" descr="通用路由器">
              <a:extLst>
                <a:ext uri="{FF2B5EF4-FFF2-40B4-BE49-F238E27FC236}">
                  <a16:creationId xmlns:a16="http://schemas.microsoft.com/office/drawing/2014/main" id="{4B979106-7DFE-4E0A-92C4-8808FB8334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34414" y="5554929"/>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57" descr="通用路由器">
              <a:extLst>
                <a:ext uri="{FF2B5EF4-FFF2-40B4-BE49-F238E27FC236}">
                  <a16:creationId xmlns:a16="http://schemas.microsoft.com/office/drawing/2014/main" id="{5A996008-F45B-47F8-B273-9734F56E9D1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08079" y="5267240"/>
              <a:ext cx="656933" cy="484188"/>
            </a:xfrm>
            <a:prstGeom prst="rect">
              <a:avLst/>
            </a:prstGeom>
            <a:noFill/>
            <a:extLst>
              <a:ext uri="{909E8E84-426E-40DD-AFC4-6F175D3DCCD1}">
                <a14:hiddenFill xmlns:a14="http://schemas.microsoft.com/office/drawing/2010/main">
                  <a:solidFill>
                    <a:srgbClr val="FFFFFF"/>
                  </a:solidFill>
                </a14:hiddenFill>
              </a:ext>
            </a:extLst>
          </p:spPr>
        </p:pic>
        <p:sp>
          <p:nvSpPr>
            <p:cNvPr id="89" name="文本框 88">
              <a:extLst>
                <a:ext uri="{FF2B5EF4-FFF2-40B4-BE49-F238E27FC236}">
                  <a16:creationId xmlns:a16="http://schemas.microsoft.com/office/drawing/2014/main" id="{67375BB1-3140-434A-9751-655A5B594AC5}"/>
                </a:ext>
              </a:extLst>
            </p:cNvPr>
            <p:cNvSpPr txBox="1"/>
            <p:nvPr/>
          </p:nvSpPr>
          <p:spPr>
            <a:xfrm>
              <a:off x="5984159" y="596473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id="{E614301E-4842-4B46-BB41-0776126B6E6F}"/>
                </a:ext>
              </a:extLst>
            </p:cNvPr>
            <p:cNvSpPr txBox="1"/>
            <p:nvPr/>
          </p:nvSpPr>
          <p:spPr>
            <a:xfrm>
              <a:off x="8405627" y="603548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R6</a:t>
              </a:r>
              <a:endParaRPr lang="zh-CN" altLang="en-US" dirty="0">
                <a:latin typeface="微软雅黑" panose="020B0503020204020204" pitchFamily="34" charset="-122"/>
                <a:ea typeface="微软雅黑" panose="020B0503020204020204" pitchFamily="34" charset="-122"/>
              </a:endParaRPr>
            </a:p>
          </p:txBody>
        </p:sp>
        <p:sp>
          <p:nvSpPr>
            <p:cNvPr id="91" name="文本框 90">
              <a:extLst>
                <a:ext uri="{FF2B5EF4-FFF2-40B4-BE49-F238E27FC236}">
                  <a16:creationId xmlns:a16="http://schemas.microsoft.com/office/drawing/2014/main" id="{D0A56153-E28B-44AD-A9DB-44FBCAD4BFB5}"/>
                </a:ext>
              </a:extLst>
            </p:cNvPr>
            <p:cNvSpPr txBox="1"/>
            <p:nvPr/>
          </p:nvSpPr>
          <p:spPr>
            <a:xfrm>
              <a:off x="10697101" y="5780072"/>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R7</a:t>
              </a:r>
              <a:endParaRPr lang="zh-CN" altLang="en-US" dirty="0">
                <a:latin typeface="微软雅黑" panose="020B0503020204020204" pitchFamily="34" charset="-122"/>
                <a:ea typeface="微软雅黑" panose="020B0503020204020204" pitchFamily="34" charset="-122"/>
              </a:endParaRPr>
            </a:p>
          </p:txBody>
        </p:sp>
      </p:grpSp>
      <p:sp>
        <p:nvSpPr>
          <p:cNvPr id="43" name="日期占位符 4">
            <a:extLst>
              <a:ext uri="{FF2B5EF4-FFF2-40B4-BE49-F238E27FC236}">
                <a16:creationId xmlns:a16="http://schemas.microsoft.com/office/drawing/2014/main"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5.2.6 </a:t>
            </a:r>
            <a:r>
              <a:rPr kumimoji="1" lang="zh-CN" altLang="en-US" dirty="0"/>
              <a:t>广播路由</a:t>
            </a:r>
          </a:p>
        </p:txBody>
      </p:sp>
      <p:sp>
        <p:nvSpPr>
          <p:cNvPr id="45" name="灯片编号占位符 3">
            <a:extLst>
              <a:ext uri="{FF2B5EF4-FFF2-40B4-BE49-F238E27FC236}">
                <a16:creationId xmlns:a16="http://schemas.microsoft.com/office/drawing/2014/main" id="{9C5CA6A5-4C13-4C41-8E05-6B23A6010A8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60</a:t>
            </a:fld>
            <a:endParaRPr kumimoji="1" lang="zh-CN" altLang="en-US" dirty="0"/>
          </a:p>
        </p:txBody>
      </p:sp>
    </p:spTree>
    <p:extLst>
      <p:ext uri="{BB962C8B-B14F-4D97-AF65-F5344CB8AC3E}">
        <p14:creationId xmlns:p14="http://schemas.microsoft.com/office/powerpoint/2010/main" val="3066072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wipe(up)">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wipe(up)">
                                      <p:cBhvr>
                                        <p:cTn id="12" dur="500"/>
                                        <p:tgtEl>
                                          <p:spTgt spid="75"/>
                                        </p:tgtEl>
                                      </p:cBhvr>
                                    </p:animEffect>
                                  </p:childTnLst>
                                </p:cTn>
                              </p:par>
                              <p:par>
                                <p:cTn id="13" presetID="22" presetClass="entr" presetSubtype="1" fill="hold" nodeType="with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wipe(up)">
                                      <p:cBhvr>
                                        <p:cTn id="15" dur="500"/>
                                        <p:tgtEl>
                                          <p:spTgt spid="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wipe(left)">
                                      <p:cBhvr>
                                        <p:cTn id="20" dur="500"/>
                                        <p:tgtEl>
                                          <p:spTgt spid="81"/>
                                        </p:tgtEl>
                                      </p:cBhvr>
                                    </p:animEffect>
                                  </p:childTnLst>
                                </p:cTn>
                              </p:par>
                              <p:par>
                                <p:cTn id="21" presetID="22" presetClass="entr" presetSubtype="1" fill="hold" nodeType="withEffect">
                                  <p:stCondLst>
                                    <p:cond delay="0"/>
                                  </p:stCondLst>
                                  <p:childTnLst>
                                    <p:set>
                                      <p:cBhvr>
                                        <p:cTn id="22" dur="1" fill="hold">
                                          <p:stCondLst>
                                            <p:cond delay="0"/>
                                          </p:stCondLst>
                                        </p:cTn>
                                        <p:tgtEl>
                                          <p:spTgt spid="82"/>
                                        </p:tgtEl>
                                        <p:attrNameLst>
                                          <p:attrName>style.visibility</p:attrName>
                                        </p:attrNameLst>
                                      </p:cBhvr>
                                      <p:to>
                                        <p:strVal val="visible"/>
                                      </p:to>
                                    </p:set>
                                    <p:animEffect transition="in" filter="wipe(up)">
                                      <p:cBhvr>
                                        <p:cTn id="23" dur="500"/>
                                        <p:tgtEl>
                                          <p:spTgt spid="82"/>
                                        </p:tgtEl>
                                      </p:cBhvr>
                                    </p:animEffect>
                                  </p:childTnLst>
                                </p:cTn>
                              </p:par>
                              <p:par>
                                <p:cTn id="24" presetID="22" presetClass="entr" presetSubtype="1" fill="hold" nodeType="withEffect">
                                  <p:stCondLst>
                                    <p:cond delay="0"/>
                                  </p:stCondLst>
                                  <p:childTnLst>
                                    <p:set>
                                      <p:cBhvr>
                                        <p:cTn id="25" dur="1" fill="hold">
                                          <p:stCondLst>
                                            <p:cond delay="0"/>
                                          </p:stCondLst>
                                        </p:cTn>
                                        <p:tgtEl>
                                          <p:spTgt spid="84"/>
                                        </p:tgtEl>
                                        <p:attrNameLst>
                                          <p:attrName>style.visibility</p:attrName>
                                        </p:attrNameLst>
                                      </p:cBhvr>
                                      <p:to>
                                        <p:strVal val="visible"/>
                                      </p:to>
                                    </p:set>
                                    <p:animEffect transition="in" filter="wipe(up)">
                                      <p:cBhvr>
                                        <p:cTn id="26" dur="500"/>
                                        <p:tgtEl>
                                          <p:spTgt spid="84"/>
                                        </p:tgtEl>
                                      </p:cBhvr>
                                    </p:animEffect>
                                  </p:childTnLst>
                                </p:cTn>
                              </p:par>
                              <p:par>
                                <p:cTn id="27" presetID="22" presetClass="entr" presetSubtype="1" fill="hold" nodeType="withEffect">
                                  <p:stCondLst>
                                    <p:cond delay="0"/>
                                  </p:stCondLst>
                                  <p:childTnLst>
                                    <p:set>
                                      <p:cBhvr>
                                        <p:cTn id="28" dur="1" fill="hold">
                                          <p:stCondLst>
                                            <p:cond delay="0"/>
                                          </p:stCondLst>
                                        </p:cTn>
                                        <p:tgtEl>
                                          <p:spTgt spid="85"/>
                                        </p:tgtEl>
                                        <p:attrNameLst>
                                          <p:attrName>style.visibility</p:attrName>
                                        </p:attrNameLst>
                                      </p:cBhvr>
                                      <p:to>
                                        <p:strVal val="visible"/>
                                      </p:to>
                                    </p:set>
                                    <p:animEffect transition="in" filter="wipe(up)">
                                      <p:cBhvr>
                                        <p:cTn id="29" dur="500"/>
                                        <p:tgtEl>
                                          <p:spTgt spid="85"/>
                                        </p:tgtEl>
                                      </p:cBhvr>
                                    </p:animEffect>
                                  </p:childTnLst>
                                </p:cTn>
                              </p:par>
                            </p:childTnLst>
                          </p:cTn>
                        </p:par>
                        <p:par>
                          <p:cTn id="30" fill="hold">
                            <p:stCondLst>
                              <p:cond delay="500"/>
                            </p:stCondLst>
                            <p:childTnLst>
                              <p:par>
                                <p:cTn id="31" presetID="1" presetClass="entr" presetSubtype="0" fill="hold" grpId="0" nodeType="afterEffect">
                                  <p:stCondLst>
                                    <p:cond delay="0"/>
                                  </p:stCondLst>
                                  <p:childTnLst>
                                    <p:set>
                                      <p:cBhvr>
                                        <p:cTn id="32" dur="1" fill="hold">
                                          <p:stCondLst>
                                            <p:cond delay="0"/>
                                          </p:stCondLst>
                                        </p:cTn>
                                        <p:tgtEl>
                                          <p:spTgt spid="8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8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500"/>
                                        <p:tgtEl>
                                          <p:spTgt spid="73"/>
                                        </p:tgtEl>
                                      </p:cBhvr>
                                    </p:animEffect>
                                    <p:set>
                                      <p:cBhvr>
                                        <p:cTn id="41" dur="1" fill="hold">
                                          <p:stCondLst>
                                            <p:cond delay="499"/>
                                          </p:stCondLst>
                                        </p:cTn>
                                        <p:tgtEl>
                                          <p:spTgt spid="73"/>
                                        </p:tgtEl>
                                        <p:attrNameLst>
                                          <p:attrName>style.visibility</p:attrName>
                                        </p:attrNameLst>
                                      </p:cBhvr>
                                      <p:to>
                                        <p:strVal val="hidden"/>
                                      </p:to>
                                    </p:set>
                                  </p:childTnLst>
                                </p:cTn>
                              </p:par>
                              <p:par>
                                <p:cTn id="42" presetID="10" presetClass="exit" presetSubtype="0" fill="hold" nodeType="withEffect">
                                  <p:stCondLst>
                                    <p:cond delay="0"/>
                                  </p:stCondLst>
                                  <p:childTnLst>
                                    <p:animEffect transition="out" filter="fade">
                                      <p:cBhvr>
                                        <p:cTn id="43" dur="500"/>
                                        <p:tgtEl>
                                          <p:spTgt spid="75"/>
                                        </p:tgtEl>
                                      </p:cBhvr>
                                    </p:animEffect>
                                    <p:set>
                                      <p:cBhvr>
                                        <p:cTn id="44" dur="1" fill="hold">
                                          <p:stCondLst>
                                            <p:cond delay="499"/>
                                          </p:stCondLst>
                                        </p:cTn>
                                        <p:tgtEl>
                                          <p:spTgt spid="75"/>
                                        </p:tgtEl>
                                        <p:attrNameLst>
                                          <p:attrName>style.visibility</p:attrName>
                                        </p:attrNameLst>
                                      </p:cBhvr>
                                      <p:to>
                                        <p:strVal val="hidden"/>
                                      </p:to>
                                    </p:set>
                                  </p:childTnLst>
                                </p:cTn>
                              </p:par>
                              <p:par>
                                <p:cTn id="45" presetID="10" presetClass="exit" presetSubtype="0" fill="hold" nodeType="withEffect">
                                  <p:stCondLst>
                                    <p:cond delay="0"/>
                                  </p:stCondLst>
                                  <p:childTnLst>
                                    <p:animEffect transition="out" filter="fade">
                                      <p:cBhvr>
                                        <p:cTn id="46" dur="500"/>
                                        <p:tgtEl>
                                          <p:spTgt spid="77"/>
                                        </p:tgtEl>
                                      </p:cBhvr>
                                    </p:animEffect>
                                    <p:set>
                                      <p:cBhvr>
                                        <p:cTn id="47" dur="1" fill="hold">
                                          <p:stCondLst>
                                            <p:cond delay="499"/>
                                          </p:stCondLst>
                                        </p:cTn>
                                        <p:tgtEl>
                                          <p:spTgt spid="77"/>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81"/>
                                        </p:tgtEl>
                                      </p:cBhvr>
                                    </p:animEffect>
                                    <p:set>
                                      <p:cBhvr>
                                        <p:cTn id="50" dur="1" fill="hold">
                                          <p:stCondLst>
                                            <p:cond delay="499"/>
                                          </p:stCondLst>
                                        </p:cTn>
                                        <p:tgtEl>
                                          <p:spTgt spid="81"/>
                                        </p:tgtEl>
                                        <p:attrNameLst>
                                          <p:attrName>style.visibility</p:attrName>
                                        </p:attrNameLst>
                                      </p:cBhvr>
                                      <p:to>
                                        <p:strVal val="hidden"/>
                                      </p:to>
                                    </p:set>
                                  </p:childTnLst>
                                </p:cTn>
                              </p:par>
                              <p:par>
                                <p:cTn id="51" presetID="10" presetClass="exit" presetSubtype="0" fill="hold" nodeType="withEffect">
                                  <p:stCondLst>
                                    <p:cond delay="0"/>
                                  </p:stCondLst>
                                  <p:childTnLst>
                                    <p:animEffect transition="out" filter="fade">
                                      <p:cBhvr>
                                        <p:cTn id="52" dur="500"/>
                                        <p:tgtEl>
                                          <p:spTgt spid="82"/>
                                        </p:tgtEl>
                                      </p:cBhvr>
                                    </p:animEffect>
                                    <p:set>
                                      <p:cBhvr>
                                        <p:cTn id="53" dur="1" fill="hold">
                                          <p:stCondLst>
                                            <p:cond delay="499"/>
                                          </p:stCondLst>
                                        </p:cTn>
                                        <p:tgtEl>
                                          <p:spTgt spid="82"/>
                                        </p:tgtEl>
                                        <p:attrNameLst>
                                          <p:attrName>style.visibility</p:attrName>
                                        </p:attrNameLst>
                                      </p:cBhvr>
                                      <p:to>
                                        <p:strVal val="hidden"/>
                                      </p:to>
                                    </p:set>
                                  </p:childTnLst>
                                </p:cTn>
                              </p:par>
                              <p:par>
                                <p:cTn id="54" presetID="10" presetClass="exit" presetSubtype="0" fill="hold" nodeType="withEffect">
                                  <p:stCondLst>
                                    <p:cond delay="0"/>
                                  </p:stCondLst>
                                  <p:childTnLst>
                                    <p:animEffect transition="out" filter="fade">
                                      <p:cBhvr>
                                        <p:cTn id="55" dur="500"/>
                                        <p:tgtEl>
                                          <p:spTgt spid="84"/>
                                        </p:tgtEl>
                                      </p:cBhvr>
                                    </p:animEffect>
                                    <p:set>
                                      <p:cBhvr>
                                        <p:cTn id="56" dur="1" fill="hold">
                                          <p:stCondLst>
                                            <p:cond delay="499"/>
                                          </p:stCondLst>
                                        </p:cTn>
                                        <p:tgtEl>
                                          <p:spTgt spid="84"/>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85"/>
                                        </p:tgtEl>
                                      </p:cBhvr>
                                    </p:animEffect>
                                    <p:set>
                                      <p:cBhvr>
                                        <p:cTn id="59" dur="1" fill="hold">
                                          <p:stCondLst>
                                            <p:cond delay="499"/>
                                          </p:stCondLst>
                                        </p:cTn>
                                        <p:tgtEl>
                                          <p:spTgt spid="85"/>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87"/>
                                        </p:tgtEl>
                                      </p:cBhvr>
                                    </p:animEffect>
                                    <p:set>
                                      <p:cBhvr>
                                        <p:cTn id="62" dur="1" fill="hold">
                                          <p:stCondLst>
                                            <p:cond delay="499"/>
                                          </p:stCondLst>
                                        </p:cTn>
                                        <p:tgtEl>
                                          <p:spTgt spid="87"/>
                                        </p:tgtEl>
                                        <p:attrNameLst>
                                          <p:attrName>style.visibility</p:attrName>
                                        </p:attrNameLst>
                                      </p:cBhvr>
                                      <p:to>
                                        <p:strVal val="hidden"/>
                                      </p:to>
                                    </p:set>
                                  </p:childTnLst>
                                </p:cTn>
                              </p:par>
                              <p:par>
                                <p:cTn id="63" presetID="10" presetClass="exit" presetSubtype="0" fill="hold" grpId="1" nodeType="withEffect">
                                  <p:stCondLst>
                                    <p:cond delay="0"/>
                                  </p:stCondLst>
                                  <p:childTnLst>
                                    <p:animEffect transition="out" filter="fade">
                                      <p:cBhvr>
                                        <p:cTn id="64" dur="500"/>
                                        <p:tgtEl>
                                          <p:spTgt spid="88"/>
                                        </p:tgtEl>
                                      </p:cBhvr>
                                    </p:animEffect>
                                    <p:set>
                                      <p:cBhvr>
                                        <p:cTn id="65" dur="1" fill="hold">
                                          <p:stCondLst>
                                            <p:cond delay="499"/>
                                          </p:stCondLst>
                                        </p:cTn>
                                        <p:tgtEl>
                                          <p:spTgt spid="88"/>
                                        </p:tgtEl>
                                        <p:attrNameLst>
                                          <p:attrName>style.visibility</p:attrName>
                                        </p:attrNameLst>
                                      </p:cBhvr>
                                      <p:to>
                                        <p:strVal val="hidden"/>
                                      </p:to>
                                    </p:set>
                                  </p:childTnLst>
                                </p:cTn>
                              </p:par>
                              <p:par>
                                <p:cTn id="66" presetID="10" presetClass="exit" presetSubtype="0" fill="hold" grpId="1" nodeType="withEffect">
                                  <p:stCondLst>
                                    <p:cond delay="0"/>
                                  </p:stCondLst>
                                  <p:childTnLst>
                                    <p:animEffect transition="out" filter="fade">
                                      <p:cBhvr>
                                        <p:cTn id="67" dur="500"/>
                                        <p:tgtEl>
                                          <p:spTgt spid="86"/>
                                        </p:tgtEl>
                                      </p:cBhvr>
                                    </p:animEffect>
                                    <p:set>
                                      <p:cBhvr>
                                        <p:cTn id="68" dur="1" fill="hold">
                                          <p:stCondLst>
                                            <p:cond delay="499"/>
                                          </p:stCondLst>
                                        </p:cTn>
                                        <p:tgtEl>
                                          <p:spTgt spid="86"/>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41"/>
                                        </p:tgtEl>
                                      </p:cBhvr>
                                    </p:animEffect>
                                    <p:set>
                                      <p:cBhvr>
                                        <p:cTn id="71" dur="1" fill="hold">
                                          <p:stCondLst>
                                            <p:cond delay="499"/>
                                          </p:stCondLst>
                                        </p:cTn>
                                        <p:tgtEl>
                                          <p:spTgt spid="41"/>
                                        </p:tgtEl>
                                        <p:attrNameLst>
                                          <p:attrName>style.visibility</p:attrName>
                                        </p:attrNameLst>
                                      </p:cBhvr>
                                      <p:to>
                                        <p:strVal val="hidden"/>
                                      </p:to>
                                    </p:set>
                                  </p:childTnLst>
                                </p:cTn>
                              </p:par>
                              <p:par>
                                <p:cTn id="72" presetID="10" presetClass="exit" presetSubtype="0" fill="hold" nodeType="withEffect">
                                  <p:stCondLst>
                                    <p:cond delay="0"/>
                                  </p:stCondLst>
                                  <p:childTnLst>
                                    <p:animEffect transition="out" filter="fade">
                                      <p:cBhvr>
                                        <p:cTn id="73" dur="500"/>
                                        <p:tgtEl>
                                          <p:spTgt spid="76"/>
                                        </p:tgtEl>
                                      </p:cBhvr>
                                    </p:animEffect>
                                    <p:set>
                                      <p:cBhvr>
                                        <p:cTn id="74" dur="1" fill="hold">
                                          <p:stCondLst>
                                            <p:cond delay="499"/>
                                          </p:stCondLst>
                                        </p:cTn>
                                        <p:tgtEl>
                                          <p:spTgt spid="76"/>
                                        </p:tgtEl>
                                        <p:attrNameLst>
                                          <p:attrName>style.visibility</p:attrName>
                                        </p:attrNameLst>
                                      </p:cBhvr>
                                      <p:to>
                                        <p:strVal val="hidden"/>
                                      </p:to>
                                    </p:set>
                                  </p:childTnLst>
                                </p:cTn>
                              </p:par>
                              <p:par>
                                <p:cTn id="75" presetID="10" presetClass="exit" presetSubtype="0" fill="hold" nodeType="withEffect">
                                  <p:stCondLst>
                                    <p:cond delay="0"/>
                                  </p:stCondLst>
                                  <p:childTnLst>
                                    <p:animEffect transition="out" filter="fade">
                                      <p:cBhvr>
                                        <p:cTn id="76" dur="500"/>
                                        <p:tgtEl>
                                          <p:spTgt spid="79"/>
                                        </p:tgtEl>
                                      </p:cBhvr>
                                    </p:animEffect>
                                    <p:set>
                                      <p:cBhvr>
                                        <p:cTn id="77" dur="1" fill="hold">
                                          <p:stCondLst>
                                            <p:cond delay="499"/>
                                          </p:stCondLst>
                                        </p:cTn>
                                        <p:tgtEl>
                                          <p:spTgt spid="7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7" grpId="1" animBg="1"/>
      <p:bldP spid="88" grpId="0" animBg="1"/>
      <p:bldP spid="88" grpId="1" animBg="1"/>
      <p:bldP spid="86" grpId="0" animBg="1"/>
      <p:bldP spid="86" grpId="1"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lstStyle/>
          <a:p>
            <a:r>
              <a:rPr lang="zh-CN" altLang="en-US" dirty="0"/>
              <a:t>组播路由</a:t>
            </a:r>
          </a:p>
        </p:txBody>
      </p:sp>
      <p:sp>
        <p:nvSpPr>
          <p:cNvPr id="3" name="内容占位符 2">
            <a:extLst>
              <a:ext uri="{FF2B5EF4-FFF2-40B4-BE49-F238E27FC236}">
                <a16:creationId xmlns:a16="http://schemas.microsoft.com/office/drawing/2014/main" id="{C1E11920-48BF-4E3E-ACC2-EEC31A5627E7}"/>
              </a:ext>
            </a:extLst>
          </p:cNvPr>
          <p:cNvSpPr>
            <a:spLocks noGrp="1"/>
          </p:cNvSpPr>
          <p:nvPr>
            <p:ph idx="1"/>
          </p:nvPr>
        </p:nvSpPr>
        <p:spPr>
          <a:xfrm>
            <a:off x="838200" y="1510758"/>
            <a:ext cx="4995478" cy="4586694"/>
          </a:xfrm>
        </p:spPr>
        <p:txBody>
          <a:bodyPr>
            <a:normAutofit/>
          </a:bodyPr>
          <a:lstStyle/>
          <a:p>
            <a:pPr>
              <a:lnSpc>
                <a:spcPct val="130000"/>
              </a:lnSpc>
            </a:pPr>
            <a:r>
              <a:rPr lang="zh-CN" altLang="en-US" dirty="0">
                <a:solidFill>
                  <a:srgbClr val="C00000"/>
                </a:solidFill>
              </a:rPr>
              <a:t>组播</a:t>
            </a:r>
            <a:r>
              <a:rPr lang="zh-CN" altLang="en-US" dirty="0"/>
              <a:t>（</a:t>
            </a:r>
            <a:r>
              <a:rPr lang="en-US" altLang="zh-CN" dirty="0"/>
              <a:t>multicasting</a:t>
            </a:r>
            <a:r>
              <a:rPr lang="zh-CN" altLang="en-US" dirty="0"/>
              <a:t>）：源主机给网络中的一部分目标用户发送数据包</a:t>
            </a:r>
            <a:endParaRPr lang="en-US" altLang="zh-CN" dirty="0"/>
          </a:p>
          <a:p>
            <a:pPr>
              <a:lnSpc>
                <a:spcPct val="130000"/>
              </a:lnSpc>
            </a:pPr>
            <a:r>
              <a:rPr lang="zh-CN" altLang="en-US" dirty="0"/>
              <a:t>例：服务器希望将体育直播视频发送给某些网络中的个别用户，怎么办？</a:t>
            </a:r>
            <a:endParaRPr lang="en-US" altLang="zh-CN" dirty="0"/>
          </a:p>
          <a:p>
            <a:pPr marL="0" indent="0">
              <a:lnSpc>
                <a:spcPct val="130000"/>
              </a:lnSpc>
              <a:buNone/>
            </a:pPr>
            <a:endParaRPr lang="zh-CN" altLang="en-US" dirty="0"/>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61</a:t>
            </a:fld>
            <a:endParaRPr kumimoji="1" lang="zh-CN" altLang="en-US" dirty="0"/>
          </a:p>
        </p:txBody>
      </p:sp>
      <p:grpSp>
        <p:nvGrpSpPr>
          <p:cNvPr id="62" name="组合 61">
            <a:extLst>
              <a:ext uri="{FF2B5EF4-FFF2-40B4-BE49-F238E27FC236}">
                <a16:creationId xmlns:a16="http://schemas.microsoft.com/office/drawing/2014/main" id="{F018EFD9-2768-4224-B48B-DB6EBFBFFF0D}"/>
              </a:ext>
            </a:extLst>
          </p:cNvPr>
          <p:cNvGrpSpPr/>
          <p:nvPr/>
        </p:nvGrpSpPr>
        <p:grpSpPr>
          <a:xfrm>
            <a:off x="5139984" y="1392852"/>
            <a:ext cx="6699293" cy="4704600"/>
            <a:chOff x="5139984" y="1392852"/>
            <a:chExt cx="6699293" cy="4704600"/>
          </a:xfrm>
        </p:grpSpPr>
        <p:cxnSp>
          <p:nvCxnSpPr>
            <p:cNvPr id="6" name="直接连接符 5">
              <a:extLst>
                <a:ext uri="{FF2B5EF4-FFF2-40B4-BE49-F238E27FC236}">
                  <a16:creationId xmlns:a16="http://schemas.microsoft.com/office/drawing/2014/main" id="{D8CC9692-E056-49F6-AE01-21D5760BF22C}"/>
                </a:ext>
              </a:extLst>
            </p:cNvPr>
            <p:cNvCxnSpPr>
              <a:cxnSpLocks/>
            </p:cNvCxnSpPr>
            <p:nvPr/>
          </p:nvCxnSpPr>
          <p:spPr>
            <a:xfrm flipH="1" flipV="1">
              <a:off x="6818042" y="4256008"/>
              <a:ext cx="1629064" cy="145551"/>
            </a:xfrm>
            <a:prstGeom prst="line">
              <a:avLst/>
            </a:prstGeom>
            <a:ln w="28575"/>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id="{E511A304-F644-4C5E-952A-34B7ECCBC230}"/>
                </a:ext>
              </a:extLst>
            </p:cNvPr>
            <p:cNvCxnSpPr>
              <a:cxnSpLocks/>
            </p:cNvCxnSpPr>
            <p:nvPr/>
          </p:nvCxnSpPr>
          <p:spPr>
            <a:xfrm flipH="1">
              <a:off x="8604459" y="4464688"/>
              <a:ext cx="2003874" cy="73388"/>
            </a:xfrm>
            <a:prstGeom prst="line">
              <a:avLst/>
            </a:prstGeom>
            <a:ln w="28575"/>
          </p:spPr>
          <p:style>
            <a:lnRef idx="1">
              <a:schemeClr val="dk1"/>
            </a:lnRef>
            <a:fillRef idx="0">
              <a:schemeClr val="dk1"/>
            </a:fillRef>
            <a:effectRef idx="0">
              <a:schemeClr val="dk1"/>
            </a:effectRef>
            <a:fontRef idx="minor">
              <a:schemeClr val="tx1"/>
            </a:fontRef>
          </p:style>
        </p:cxnSp>
        <p:pic>
          <p:nvPicPr>
            <p:cNvPr id="10" name="Picture 14">
              <a:extLst>
                <a:ext uri="{FF2B5EF4-FFF2-40B4-BE49-F238E27FC236}">
                  <a16:creationId xmlns:a16="http://schemas.microsoft.com/office/drawing/2014/main" id="{8170387B-50EB-40A7-BBD4-448D591DB0C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id="{3E4AE7BD-882B-4463-BD23-7347451506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id="{2506203A-C8D0-454C-827E-433CD2DB88D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3" name="直接连接符 12">
              <a:extLst>
                <a:ext uri="{FF2B5EF4-FFF2-40B4-BE49-F238E27FC236}">
                  <a16:creationId xmlns:a16="http://schemas.microsoft.com/office/drawing/2014/main" id="{47CA76D7-59F3-4701-BB96-F25F74D34E1C}"/>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4" name="直接连接符 13">
              <a:extLst>
                <a:ext uri="{FF2B5EF4-FFF2-40B4-BE49-F238E27FC236}">
                  <a16:creationId xmlns:a16="http://schemas.microsoft.com/office/drawing/2014/main" id="{A3430B74-2B20-4ABA-BCB2-7C8CA7A40632}"/>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id="{9908E96D-2711-472F-91F3-2E81C50F474A}"/>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6" name="直接连接符 15">
              <a:extLst>
                <a:ext uri="{FF2B5EF4-FFF2-40B4-BE49-F238E27FC236}">
                  <a16:creationId xmlns:a16="http://schemas.microsoft.com/office/drawing/2014/main" id="{B75E27B0-C016-466B-A60E-94BC4E68E410}"/>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17" name="Picture 57" descr="通用路由器">
              <a:extLst>
                <a:ext uri="{FF2B5EF4-FFF2-40B4-BE49-F238E27FC236}">
                  <a16:creationId xmlns:a16="http://schemas.microsoft.com/office/drawing/2014/main" id="{E3CF17EA-A394-40FD-8F68-F7A95BD79A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7" descr="通用路由器">
              <a:extLst>
                <a:ext uri="{FF2B5EF4-FFF2-40B4-BE49-F238E27FC236}">
                  <a16:creationId xmlns:a16="http://schemas.microsoft.com/office/drawing/2014/main" id="{EA761EF7-2058-49FB-8005-8BD1D27BC6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57" descr="通用路由器">
              <a:extLst>
                <a:ext uri="{FF2B5EF4-FFF2-40B4-BE49-F238E27FC236}">
                  <a16:creationId xmlns:a16="http://schemas.microsoft.com/office/drawing/2014/main" id="{F406C52C-B926-4277-8DFB-B27A7E6AE8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7" descr="通用路由器">
              <a:extLst>
                <a:ext uri="{FF2B5EF4-FFF2-40B4-BE49-F238E27FC236}">
                  <a16:creationId xmlns:a16="http://schemas.microsoft.com/office/drawing/2014/main" id="{A1F6FB3E-35EA-4BF4-AF79-5126AD5C83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id="{F86A7D5F-DA40-4278-ABB6-4154AC35D03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8645" y="462134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5" descr="服务器类">
              <a:extLst>
                <a:ext uri="{FF2B5EF4-FFF2-40B4-BE49-F238E27FC236}">
                  <a16:creationId xmlns:a16="http://schemas.microsoft.com/office/drawing/2014/main" id="{8245E1EE-F21C-4924-A195-F76B9705A06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28" name="文本框 27">
              <a:extLst>
                <a:ext uri="{FF2B5EF4-FFF2-40B4-BE49-F238E27FC236}">
                  <a16:creationId xmlns:a16="http://schemas.microsoft.com/office/drawing/2014/main" id="{17D4756A-8A84-48BF-9F31-1EA75C64D0CB}"/>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id="{E2309AE0-6BC4-4DA5-B768-2D3C5E77BC72}"/>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id="{13D17D54-669A-4816-970E-022966D943E6}"/>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id="{1E1D951A-5FA5-4C0E-ABAC-5DBEC64A541B}"/>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id="{4B329465-3536-48AD-BA30-6AE5F0C84368}"/>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36" name="Picture 9" descr="服务器终端">
              <a:extLst>
                <a:ext uri="{FF2B5EF4-FFF2-40B4-BE49-F238E27FC236}">
                  <a16:creationId xmlns:a16="http://schemas.microsoft.com/office/drawing/2014/main" id="{681CB973-8917-477A-8A76-CB559286EB8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61257" y="462459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9" descr="服务器终端">
              <a:extLst>
                <a:ext uri="{FF2B5EF4-FFF2-40B4-BE49-F238E27FC236}">
                  <a16:creationId xmlns:a16="http://schemas.microsoft.com/office/drawing/2014/main" id="{10DF07FB-5365-49F7-A514-DEFA6657BF2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03869" y="466765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9" descr="服务器终端">
              <a:extLst>
                <a:ext uri="{FF2B5EF4-FFF2-40B4-BE49-F238E27FC236}">
                  <a16:creationId xmlns:a16="http://schemas.microsoft.com/office/drawing/2014/main" id="{3E061280-8EB3-4F01-9F57-C7379EE13E4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3975" y="507044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9" descr="服务器终端">
              <a:extLst>
                <a:ext uri="{FF2B5EF4-FFF2-40B4-BE49-F238E27FC236}">
                  <a16:creationId xmlns:a16="http://schemas.microsoft.com/office/drawing/2014/main" id="{952C6A8E-40BC-4A84-A605-FAD3993A1B1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7216" y="513833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服务器终端">
              <a:extLst>
                <a:ext uri="{FF2B5EF4-FFF2-40B4-BE49-F238E27FC236}">
                  <a16:creationId xmlns:a16="http://schemas.microsoft.com/office/drawing/2014/main" id="{57DA8A8E-7CFE-43DD-AF51-DBB8EB6AA8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14076" y="49142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9" descr="服务器终端">
              <a:extLst>
                <a:ext uri="{FF2B5EF4-FFF2-40B4-BE49-F238E27FC236}">
                  <a16:creationId xmlns:a16="http://schemas.microsoft.com/office/drawing/2014/main" id="{DB3D537E-8541-40C4-8505-82DEAF192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47317" y="498210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服务器终端">
              <a:extLst>
                <a:ext uri="{FF2B5EF4-FFF2-40B4-BE49-F238E27FC236}">
                  <a16:creationId xmlns:a16="http://schemas.microsoft.com/office/drawing/2014/main" id="{E66E65D5-A92F-4FF7-9BEB-A9722F26F9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3775" y="535511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9" descr="服务器终端">
              <a:extLst>
                <a:ext uri="{FF2B5EF4-FFF2-40B4-BE49-F238E27FC236}">
                  <a16:creationId xmlns:a16="http://schemas.microsoft.com/office/drawing/2014/main" id="{5BE6B87B-92A5-4171-8EFD-0B56F0524A2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7016" y="5423005"/>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9" descr="服务器终端">
              <a:extLst>
                <a:ext uri="{FF2B5EF4-FFF2-40B4-BE49-F238E27FC236}">
                  <a16:creationId xmlns:a16="http://schemas.microsoft.com/office/drawing/2014/main" id="{1BA4B2DB-DFF1-4DD8-B945-07B943C851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9552" y="498589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9" descr="服务器终端">
              <a:extLst>
                <a:ext uri="{FF2B5EF4-FFF2-40B4-BE49-F238E27FC236}">
                  <a16:creationId xmlns:a16="http://schemas.microsoft.com/office/drawing/2014/main" id="{6B8FBF73-BEDB-4847-9EDD-F41FA30192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2793" y="505378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9" descr="服务器终端">
              <a:extLst>
                <a:ext uri="{FF2B5EF4-FFF2-40B4-BE49-F238E27FC236}">
                  <a16:creationId xmlns:a16="http://schemas.microsoft.com/office/drawing/2014/main" id="{9C90E3C3-13B3-4F14-86F8-31042856F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0735" y="552295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9" descr="服务器终端">
              <a:extLst>
                <a:ext uri="{FF2B5EF4-FFF2-40B4-BE49-F238E27FC236}">
                  <a16:creationId xmlns:a16="http://schemas.microsoft.com/office/drawing/2014/main" id="{B84E50C8-D85F-4B32-A34C-642D67636D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70597" y="463281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9" descr="服务器终端">
              <a:extLst>
                <a:ext uri="{FF2B5EF4-FFF2-40B4-BE49-F238E27FC236}">
                  <a16:creationId xmlns:a16="http://schemas.microsoft.com/office/drawing/2014/main" id="{F42C5550-1FC6-48DD-9EE4-28A6CA371C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53537" y="514160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9" descr="服务器终端">
              <a:extLst>
                <a:ext uri="{FF2B5EF4-FFF2-40B4-BE49-F238E27FC236}">
                  <a16:creationId xmlns:a16="http://schemas.microsoft.com/office/drawing/2014/main" id="{73824324-B082-4B5D-975B-88BE296F09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99314" y="477239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9" descr="服务器终端">
              <a:extLst>
                <a:ext uri="{FF2B5EF4-FFF2-40B4-BE49-F238E27FC236}">
                  <a16:creationId xmlns:a16="http://schemas.microsoft.com/office/drawing/2014/main" id="{C82EAD96-22BC-469B-AAC5-FE59CC3DFD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256" y="524156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9" descr="服务器终端">
              <a:extLst>
                <a:ext uri="{FF2B5EF4-FFF2-40B4-BE49-F238E27FC236}">
                  <a16:creationId xmlns:a16="http://schemas.microsoft.com/office/drawing/2014/main" id="{8C5ADEE2-180C-4C17-A131-77C94E94384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17694" y="515838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9" descr="服务器终端">
              <a:extLst>
                <a:ext uri="{FF2B5EF4-FFF2-40B4-BE49-F238E27FC236}">
                  <a16:creationId xmlns:a16="http://schemas.microsoft.com/office/drawing/2014/main" id="{4A829B4B-BBF0-4930-A4BB-40EAE3B91D2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660094" y="471404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9" descr="服务器终端">
              <a:extLst>
                <a:ext uri="{FF2B5EF4-FFF2-40B4-BE49-F238E27FC236}">
                  <a16:creationId xmlns:a16="http://schemas.microsoft.com/office/drawing/2014/main" id="{4D7FC226-6D15-4800-BF2F-74556AD89C07}"/>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8459389" y="547822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9" descr="服务器终端">
              <a:extLst>
                <a:ext uri="{FF2B5EF4-FFF2-40B4-BE49-F238E27FC236}">
                  <a16:creationId xmlns:a16="http://schemas.microsoft.com/office/drawing/2014/main" id="{C867002D-5FFC-4AB4-9234-087A4A7C7A2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18335" y="466765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9" descr="服务器终端">
              <a:extLst>
                <a:ext uri="{FF2B5EF4-FFF2-40B4-BE49-F238E27FC236}">
                  <a16:creationId xmlns:a16="http://schemas.microsoft.com/office/drawing/2014/main" id="{459B82F6-8E58-49D6-AE9E-A64889A3853A}"/>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00449" y="509048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9" descr="服务器终端">
              <a:extLst>
                <a:ext uri="{FF2B5EF4-FFF2-40B4-BE49-F238E27FC236}">
                  <a16:creationId xmlns:a16="http://schemas.microsoft.com/office/drawing/2014/main" id="{71FAC2D0-0195-4FC8-8275-35783C30E87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34913" y="51747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1" name="Picture 9" descr="服务器终端">
              <a:extLst>
                <a:ext uri="{FF2B5EF4-FFF2-40B4-BE49-F238E27FC236}">
                  <a16:creationId xmlns:a16="http://schemas.microsoft.com/office/drawing/2014/main" id="{DC0EC4D6-1173-42EF-A6D4-C50A4B9CCFDC}"/>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50678" y="4712019"/>
              <a:ext cx="332343" cy="352559"/>
            </a:xfrm>
            <a:prstGeom prst="rect">
              <a:avLst/>
            </a:prstGeom>
            <a:noFill/>
            <a:extLst>
              <a:ext uri="{909E8E84-426E-40DD-AFC4-6F175D3DCCD1}">
                <a14:hiddenFill xmlns:a14="http://schemas.microsoft.com/office/drawing/2010/main">
                  <a:solidFill>
                    <a:srgbClr val="FFFFFF"/>
                  </a:solidFill>
                </a14:hiddenFill>
              </a:ext>
            </a:extLst>
          </p:spPr>
        </p:pic>
      </p:grpSp>
      <p:pic>
        <p:nvPicPr>
          <p:cNvPr id="7" name="图片 6">
            <a:extLst>
              <a:ext uri="{FF2B5EF4-FFF2-40B4-BE49-F238E27FC236}">
                <a16:creationId xmlns:a16="http://schemas.microsoft.com/office/drawing/2014/main" id="{7E20F47B-B93B-49AA-AEA7-27B5AF3982A1}"/>
              </a:ext>
            </a:extLst>
          </p:cNvPr>
          <p:cNvPicPr>
            <a:picLocks noChangeAspect="1"/>
          </p:cNvPicPr>
          <p:nvPr/>
        </p:nvPicPr>
        <p:blipFill>
          <a:blip r:embed="rId7"/>
          <a:stretch>
            <a:fillRect/>
          </a:stretch>
        </p:blipFill>
        <p:spPr>
          <a:xfrm>
            <a:off x="2919840" y="5738726"/>
            <a:ext cx="1584058" cy="891590"/>
          </a:xfrm>
          <a:prstGeom prst="rect">
            <a:avLst/>
          </a:prstGeom>
        </p:spPr>
      </p:pic>
      <p:pic>
        <p:nvPicPr>
          <p:cNvPr id="1026" name="Picture 2" descr="https://gimg2.baidu.com/image_search/src=http%3A%2F%2Fwww.fakutownee.cn%2Fd%2Ffile%2Fp%2F2016-08-21%2F07dee070f822db75256defc8e7c0553e.jpg&amp;refer=http%3A%2F%2Fwww.fakutownee.cn&amp;app=2002&amp;size=f9999,10000&amp;q=a80&amp;n=0&amp;g=0n&amp;fmt=jpeg?sec=1613836251&amp;t=e726f3bee23f47fcd9606f88b90a544c">
            <a:extLst>
              <a:ext uri="{FF2B5EF4-FFF2-40B4-BE49-F238E27FC236}">
                <a16:creationId xmlns:a16="http://schemas.microsoft.com/office/drawing/2014/main" id="{D7BAD6AC-F6AB-41BB-B47F-9DFCB98C8BEE}"/>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b="8874"/>
          <a:stretch/>
        </p:blipFill>
        <p:spPr bwMode="auto">
          <a:xfrm>
            <a:off x="1798024" y="5138337"/>
            <a:ext cx="1249055" cy="1349927"/>
          </a:xfrm>
          <a:prstGeom prst="rect">
            <a:avLst/>
          </a:prstGeom>
          <a:noFill/>
          <a:extLst>
            <a:ext uri="{909E8E84-426E-40DD-AFC4-6F175D3DCCD1}">
              <a14:hiddenFill xmlns:a14="http://schemas.microsoft.com/office/drawing/2010/main">
                <a:solidFill>
                  <a:srgbClr val="FFFFFF"/>
                </a:solidFill>
              </a14:hiddenFill>
            </a:ext>
          </a:extLst>
        </p:spPr>
      </p:pic>
      <p:sp>
        <p:nvSpPr>
          <p:cNvPr id="50"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32780039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lstStyle/>
          <a:p>
            <a:r>
              <a:rPr lang="zh-CN" altLang="en-US" dirty="0"/>
              <a:t>组播路由</a:t>
            </a:r>
          </a:p>
        </p:txBody>
      </p:sp>
      <p:sp>
        <p:nvSpPr>
          <p:cNvPr id="3" name="内容占位符 2">
            <a:extLst>
              <a:ext uri="{FF2B5EF4-FFF2-40B4-BE49-F238E27FC236}">
                <a16:creationId xmlns:a16="http://schemas.microsoft.com/office/drawing/2014/main" id="{C1E11920-48BF-4E3E-ACC2-EEC31A5627E7}"/>
              </a:ext>
            </a:extLst>
          </p:cNvPr>
          <p:cNvSpPr>
            <a:spLocks noGrp="1"/>
          </p:cNvSpPr>
          <p:nvPr>
            <p:ph idx="1"/>
          </p:nvPr>
        </p:nvSpPr>
        <p:spPr>
          <a:xfrm>
            <a:off x="838199" y="1510757"/>
            <a:ext cx="4451559" cy="4978545"/>
          </a:xfrm>
        </p:spPr>
        <p:txBody>
          <a:bodyPr>
            <a:normAutofit/>
          </a:bodyPr>
          <a:lstStyle/>
          <a:p>
            <a:pPr>
              <a:lnSpc>
                <a:spcPct val="130000"/>
              </a:lnSpc>
            </a:pPr>
            <a:r>
              <a:rPr lang="zh-CN" altLang="en-US" sz="2400" dirty="0"/>
              <a:t>组播（</a:t>
            </a:r>
            <a:r>
              <a:rPr lang="en-US" altLang="zh-CN" sz="2400" dirty="0"/>
              <a:t>multicasting</a:t>
            </a:r>
            <a:r>
              <a:rPr lang="zh-CN" altLang="en-US" sz="2400" dirty="0"/>
              <a:t>）路由算法的目标：</a:t>
            </a:r>
            <a:endParaRPr lang="en-US" altLang="zh-CN" sz="2400" dirty="0"/>
          </a:p>
          <a:p>
            <a:pPr lvl="1">
              <a:lnSpc>
                <a:spcPct val="130000"/>
              </a:lnSpc>
            </a:pPr>
            <a:r>
              <a:rPr lang="zh-CN" altLang="zh-CN" sz="2000" dirty="0"/>
              <a:t>为每个组建立多播转发树（到达该组所有成员的路径树）</a:t>
            </a:r>
            <a:endParaRPr lang="en-US" altLang="zh-CN" sz="2000" dirty="0"/>
          </a:p>
          <a:p>
            <a:pPr lvl="1">
              <a:lnSpc>
                <a:spcPct val="130000"/>
              </a:lnSpc>
            </a:pPr>
            <a:r>
              <a:rPr lang="zh-CN" altLang="zh-CN" sz="2000" dirty="0"/>
              <a:t>每个组成员应当只收到多播分组的一个拷贝</a:t>
            </a:r>
            <a:endParaRPr lang="en-US" altLang="zh-CN" sz="2000" dirty="0"/>
          </a:p>
          <a:p>
            <a:pPr lvl="1">
              <a:lnSpc>
                <a:spcPct val="130000"/>
              </a:lnSpc>
            </a:pPr>
            <a:r>
              <a:rPr lang="zh-CN" altLang="zh-CN" sz="2000" dirty="0"/>
              <a:t>非本组成员不应收到多播分组</a:t>
            </a:r>
            <a:endParaRPr lang="en-US" altLang="zh-CN" sz="2000" dirty="0"/>
          </a:p>
          <a:p>
            <a:pPr lvl="1">
              <a:lnSpc>
                <a:spcPct val="130000"/>
              </a:lnSpc>
            </a:pPr>
            <a:r>
              <a:rPr lang="zh-CN" altLang="zh-CN" sz="2000" dirty="0"/>
              <a:t>从源节点到每一个组成员节点的路径应当是最佳的（最短路径）</a:t>
            </a:r>
            <a:endParaRPr lang="zh-CN" altLang="en-US" sz="2000" dirty="0"/>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62</a:t>
            </a:fld>
            <a:endParaRPr kumimoji="1" lang="zh-CN" altLang="en-US" dirty="0"/>
          </a:p>
        </p:txBody>
      </p:sp>
      <p:grpSp>
        <p:nvGrpSpPr>
          <p:cNvPr id="52" name="组合 51">
            <a:extLst>
              <a:ext uri="{FF2B5EF4-FFF2-40B4-BE49-F238E27FC236}">
                <a16:creationId xmlns:a16="http://schemas.microsoft.com/office/drawing/2014/main" id="{C1BAAEEE-1E2E-44B1-BC8A-FCCD85B7F30B}"/>
              </a:ext>
            </a:extLst>
          </p:cNvPr>
          <p:cNvGrpSpPr/>
          <p:nvPr/>
        </p:nvGrpSpPr>
        <p:grpSpPr>
          <a:xfrm>
            <a:off x="5233294" y="1392852"/>
            <a:ext cx="6699293" cy="4704600"/>
            <a:chOff x="5139984" y="1392852"/>
            <a:chExt cx="6699293" cy="4704600"/>
          </a:xfrm>
        </p:grpSpPr>
        <p:pic>
          <p:nvPicPr>
            <p:cNvPr id="63" name="Picture 14">
              <a:extLst>
                <a:ext uri="{FF2B5EF4-FFF2-40B4-BE49-F238E27FC236}">
                  <a16:creationId xmlns:a16="http://schemas.microsoft.com/office/drawing/2014/main" id="{87DD8B2F-F96C-47BC-8352-3D74DA12DE0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14">
              <a:extLst>
                <a:ext uri="{FF2B5EF4-FFF2-40B4-BE49-F238E27FC236}">
                  <a16:creationId xmlns:a16="http://schemas.microsoft.com/office/drawing/2014/main" id="{F7B8916B-8167-49CE-8ADD-ED8D4AE25D8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14">
              <a:extLst>
                <a:ext uri="{FF2B5EF4-FFF2-40B4-BE49-F238E27FC236}">
                  <a16:creationId xmlns:a16="http://schemas.microsoft.com/office/drawing/2014/main" id="{6047E729-DB35-4525-AF39-4737670418F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66" name="直接连接符 65">
              <a:extLst>
                <a:ext uri="{FF2B5EF4-FFF2-40B4-BE49-F238E27FC236}">
                  <a16:creationId xmlns:a16="http://schemas.microsoft.com/office/drawing/2014/main" id="{7FDC05E3-0589-4B4B-A23D-32DF8C64B5D6}"/>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67" name="直接连接符 66">
              <a:extLst>
                <a:ext uri="{FF2B5EF4-FFF2-40B4-BE49-F238E27FC236}">
                  <a16:creationId xmlns:a16="http://schemas.microsoft.com/office/drawing/2014/main" id="{EA2B6C26-9490-4AF6-89E3-262A1092DE1B}"/>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68" name="直接连接符 67">
              <a:extLst>
                <a:ext uri="{FF2B5EF4-FFF2-40B4-BE49-F238E27FC236}">
                  <a16:creationId xmlns:a16="http://schemas.microsoft.com/office/drawing/2014/main" id="{0DD4D092-B1E9-431A-90C6-4E3A15114B02}"/>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69" name="直接连接符 68">
              <a:extLst>
                <a:ext uri="{FF2B5EF4-FFF2-40B4-BE49-F238E27FC236}">
                  <a16:creationId xmlns:a16="http://schemas.microsoft.com/office/drawing/2014/main" id="{192E2514-7FDD-4166-9916-16115963BA49}"/>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70" name="Picture 57" descr="通用路由器">
              <a:extLst>
                <a:ext uri="{FF2B5EF4-FFF2-40B4-BE49-F238E27FC236}">
                  <a16:creationId xmlns:a16="http://schemas.microsoft.com/office/drawing/2014/main" id="{4AC5805E-12ED-48EE-86A0-5F788EF32BC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57" descr="通用路由器">
              <a:extLst>
                <a:ext uri="{FF2B5EF4-FFF2-40B4-BE49-F238E27FC236}">
                  <a16:creationId xmlns:a16="http://schemas.microsoft.com/office/drawing/2014/main" id="{53DEE43B-74B3-4C69-8EB8-4983F95507B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57" descr="通用路由器">
              <a:extLst>
                <a:ext uri="{FF2B5EF4-FFF2-40B4-BE49-F238E27FC236}">
                  <a16:creationId xmlns:a16="http://schemas.microsoft.com/office/drawing/2014/main" id="{15DD89CC-84B1-42EC-8E2A-F2AC2113D2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57" descr="通用路由器">
              <a:extLst>
                <a:ext uri="{FF2B5EF4-FFF2-40B4-BE49-F238E27FC236}">
                  <a16:creationId xmlns:a16="http://schemas.microsoft.com/office/drawing/2014/main" id="{0EA4543F-8F29-4B46-9B31-3EE2DDFBCF7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9" descr="服务器终端">
              <a:extLst>
                <a:ext uri="{FF2B5EF4-FFF2-40B4-BE49-F238E27FC236}">
                  <a16:creationId xmlns:a16="http://schemas.microsoft.com/office/drawing/2014/main" id="{D9B01AA5-43C8-458A-A10D-39F24E65E6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9" descr="服务器终端">
              <a:extLst>
                <a:ext uri="{FF2B5EF4-FFF2-40B4-BE49-F238E27FC236}">
                  <a16:creationId xmlns:a16="http://schemas.microsoft.com/office/drawing/2014/main" id="{07B9622B-468D-4EE7-98C5-F2842038A3E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9" descr="服务器终端">
              <a:extLst>
                <a:ext uri="{FF2B5EF4-FFF2-40B4-BE49-F238E27FC236}">
                  <a16:creationId xmlns:a16="http://schemas.microsoft.com/office/drawing/2014/main" id="{A9CC3170-12E6-4A37-8836-5D691D88FA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a:extLst>
                <a:ext uri="{FF2B5EF4-FFF2-40B4-BE49-F238E27FC236}">
                  <a16:creationId xmlns:a16="http://schemas.microsoft.com/office/drawing/2014/main" id="{B8CBB5BF-617B-4EAF-B828-93655A5772D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9" descr="服务器终端">
              <a:extLst>
                <a:ext uri="{FF2B5EF4-FFF2-40B4-BE49-F238E27FC236}">
                  <a16:creationId xmlns:a16="http://schemas.microsoft.com/office/drawing/2014/main" id="{36A4F79D-A354-4C01-BDBE-1215954FC15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9" descr="服务器终端">
              <a:extLst>
                <a:ext uri="{FF2B5EF4-FFF2-40B4-BE49-F238E27FC236}">
                  <a16:creationId xmlns:a16="http://schemas.microsoft.com/office/drawing/2014/main" id="{8DE5B844-7F87-4AF6-90A7-B8465EFB00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25" descr="服务器类">
              <a:extLst>
                <a:ext uri="{FF2B5EF4-FFF2-40B4-BE49-F238E27FC236}">
                  <a16:creationId xmlns:a16="http://schemas.microsoft.com/office/drawing/2014/main" id="{4A616113-8809-44FA-930E-D26C14CE584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81" name="文本框 80">
              <a:extLst>
                <a:ext uri="{FF2B5EF4-FFF2-40B4-BE49-F238E27FC236}">
                  <a16:creationId xmlns:a16="http://schemas.microsoft.com/office/drawing/2014/main" id="{A517F087-39F4-47DA-AF38-16936EB84E9D}"/>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82" name="文本框 81">
              <a:extLst>
                <a:ext uri="{FF2B5EF4-FFF2-40B4-BE49-F238E27FC236}">
                  <a16:creationId xmlns:a16="http://schemas.microsoft.com/office/drawing/2014/main" id="{64C8E48D-BA11-40B3-8BDF-F8EF89128FDA}"/>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83" name="文本框 82">
              <a:extLst>
                <a:ext uri="{FF2B5EF4-FFF2-40B4-BE49-F238E27FC236}">
                  <a16:creationId xmlns:a16="http://schemas.microsoft.com/office/drawing/2014/main" id="{2388B732-A84B-4A58-8A35-E6B932C92106}"/>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84" name="文本框 83">
              <a:extLst>
                <a:ext uri="{FF2B5EF4-FFF2-40B4-BE49-F238E27FC236}">
                  <a16:creationId xmlns:a16="http://schemas.microsoft.com/office/drawing/2014/main" id="{AF09B397-ECB9-404B-BEF1-F07C267C8600}"/>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85" name="文本框 84">
              <a:extLst>
                <a:ext uri="{FF2B5EF4-FFF2-40B4-BE49-F238E27FC236}">
                  <a16:creationId xmlns:a16="http://schemas.microsoft.com/office/drawing/2014/main" id="{15D724C2-E06B-4863-8A90-36B37F6286B4}"/>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86" name="文本框 85">
              <a:extLst>
                <a:ext uri="{FF2B5EF4-FFF2-40B4-BE49-F238E27FC236}">
                  <a16:creationId xmlns:a16="http://schemas.microsoft.com/office/drawing/2014/main" id="{F0F9E1D7-964E-4D8D-A7E0-A9DFF9FBA1E2}"/>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87" name="文本框 86">
              <a:extLst>
                <a:ext uri="{FF2B5EF4-FFF2-40B4-BE49-F238E27FC236}">
                  <a16:creationId xmlns:a16="http://schemas.microsoft.com/office/drawing/2014/main" id="{FD101785-B243-4CA5-9F9F-9A855C5A919B}"/>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88" name="文本框 87">
              <a:extLst>
                <a:ext uri="{FF2B5EF4-FFF2-40B4-BE49-F238E27FC236}">
                  <a16:creationId xmlns:a16="http://schemas.microsoft.com/office/drawing/2014/main" id="{325D2A12-196D-4F15-B36F-316EF570CD1C}"/>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grpSp>
        <p:nvGrpSpPr>
          <p:cNvPr id="89" name="组合 88">
            <a:extLst>
              <a:ext uri="{FF2B5EF4-FFF2-40B4-BE49-F238E27FC236}">
                <a16:creationId xmlns:a16="http://schemas.microsoft.com/office/drawing/2014/main" id="{DFB1B855-85AB-4673-B729-3CCCE6D12963}"/>
              </a:ext>
            </a:extLst>
          </p:cNvPr>
          <p:cNvGrpSpPr/>
          <p:nvPr/>
        </p:nvGrpSpPr>
        <p:grpSpPr>
          <a:xfrm>
            <a:off x="8839675" y="2298211"/>
            <a:ext cx="2030488" cy="707886"/>
            <a:chOff x="8746365" y="2298211"/>
            <a:chExt cx="2030488" cy="707886"/>
          </a:xfrm>
        </p:grpSpPr>
        <p:grpSp>
          <p:nvGrpSpPr>
            <p:cNvPr id="90" name="组合 89">
              <a:extLst>
                <a:ext uri="{FF2B5EF4-FFF2-40B4-BE49-F238E27FC236}">
                  <a16:creationId xmlns:a16="http://schemas.microsoft.com/office/drawing/2014/main" id="{1F30C898-1649-403C-BA1E-2522D3967DCA}"/>
                </a:ext>
              </a:extLst>
            </p:cNvPr>
            <p:cNvGrpSpPr/>
            <p:nvPr/>
          </p:nvGrpSpPr>
          <p:grpSpPr>
            <a:xfrm>
              <a:off x="8746365" y="2568459"/>
              <a:ext cx="692244" cy="148640"/>
              <a:chOff x="8691239" y="2485944"/>
              <a:chExt cx="692244" cy="148640"/>
            </a:xfrm>
          </p:grpSpPr>
          <p:sp>
            <p:nvSpPr>
              <p:cNvPr id="92" name="矩形 91">
                <a:extLst>
                  <a:ext uri="{FF2B5EF4-FFF2-40B4-BE49-F238E27FC236}">
                    <a16:creationId xmlns:a16="http://schemas.microsoft.com/office/drawing/2014/main" id="{6D9397AD-84D8-4AC9-AE54-D7390DF0FDC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3" name="直接连接符 92">
                <a:extLst>
                  <a:ext uri="{FF2B5EF4-FFF2-40B4-BE49-F238E27FC236}">
                    <a16:creationId xmlns:a16="http://schemas.microsoft.com/office/drawing/2014/main" id="{AB76D47C-1A98-4018-9A86-9721FDD8A06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91" name="文本框 90">
              <a:extLst>
                <a:ext uri="{FF2B5EF4-FFF2-40B4-BE49-F238E27FC236}">
                  <a16:creationId xmlns:a16="http://schemas.microsoft.com/office/drawing/2014/main" id="{C6C1648A-4EFA-46F3-8952-7BEDCE46BE7A}"/>
                </a:ext>
              </a:extLst>
            </p:cNvPr>
            <p:cNvSpPr txBox="1"/>
            <p:nvPr/>
          </p:nvSpPr>
          <p:spPr>
            <a:xfrm>
              <a:off x="9521714" y="2298211"/>
              <a:ext cx="1255139" cy="707886"/>
            </a:xfrm>
            <a:prstGeom prst="rect">
              <a:avLst/>
            </a:prstGeom>
            <a:noFill/>
          </p:spPr>
          <p:txBody>
            <a:bodyPr wrap="square" rtlCol="0">
              <a:spAutoFit/>
            </a:bodyPr>
            <a:lstStyle/>
            <a:p>
              <a:pPr>
                <a:spcBef>
                  <a:spcPct val="0"/>
                </a:spcBef>
              </a:pPr>
              <a:r>
                <a:rPr kumimoji="1" lang="zh-CN" altLang="en-US" sz="2000" dirty="0">
                  <a:solidFill>
                    <a:srgbClr val="5B307E"/>
                  </a:solidFill>
                  <a:latin typeface="微软雅黑" panose="020B0503020204020204" pitchFamily="34" charset="-122"/>
                  <a:ea typeface="微软雅黑" panose="020B0503020204020204" pitchFamily="34" charset="-122"/>
                </a:rPr>
                <a:t>发送 </a:t>
              </a:r>
              <a:r>
                <a:rPr kumimoji="1" lang="en-US" altLang="zh-CN" sz="2000" dirty="0">
                  <a:solidFill>
                    <a:srgbClr val="5B307E"/>
                  </a:solidFill>
                  <a:latin typeface="微软雅黑" panose="020B0503020204020204" pitchFamily="34" charset="-122"/>
                  <a:ea typeface="微软雅黑" panose="020B0503020204020204" pitchFamily="34" charset="-122"/>
                </a:rPr>
                <a:t>1 </a:t>
              </a:r>
              <a:r>
                <a:rPr kumimoji="1" lang="zh-CN" altLang="en-US" sz="2000" dirty="0">
                  <a:solidFill>
                    <a:srgbClr val="5B307E"/>
                  </a:solidFill>
                  <a:latin typeface="微软雅黑" panose="020B0503020204020204" pitchFamily="34" charset="-122"/>
                  <a:ea typeface="微软雅黑" panose="020B0503020204020204" pitchFamily="34" charset="-122"/>
                </a:rPr>
                <a:t>个</a:t>
              </a:r>
              <a:endParaRPr kumimoji="1" lang="en-US" altLang="zh-CN" sz="2000" dirty="0">
                <a:solidFill>
                  <a:srgbClr val="5B307E"/>
                </a:solidFill>
                <a:latin typeface="微软雅黑" panose="020B0503020204020204" pitchFamily="34" charset="-122"/>
                <a:ea typeface="微软雅黑" panose="020B0503020204020204" pitchFamily="34" charset="-122"/>
              </a:endParaRPr>
            </a:p>
            <a:p>
              <a:pPr>
                <a:spcBef>
                  <a:spcPct val="0"/>
                </a:spcBef>
              </a:pPr>
              <a:r>
                <a:rPr kumimoji="1" lang="zh-CN" altLang="en-US" sz="2000" dirty="0">
                  <a:solidFill>
                    <a:srgbClr val="5B307E"/>
                  </a:solidFill>
                  <a:latin typeface="微软雅黑" panose="020B0503020204020204" pitchFamily="34" charset="-122"/>
                  <a:ea typeface="微软雅黑" panose="020B0503020204020204" pitchFamily="34" charset="-122"/>
                </a:rPr>
                <a:t>组播分组</a:t>
              </a:r>
            </a:p>
          </p:txBody>
        </p:sp>
      </p:grpSp>
      <p:grpSp>
        <p:nvGrpSpPr>
          <p:cNvPr id="94" name="组合 93">
            <a:extLst>
              <a:ext uri="{FF2B5EF4-FFF2-40B4-BE49-F238E27FC236}">
                <a16:creationId xmlns:a16="http://schemas.microsoft.com/office/drawing/2014/main" id="{968DC14D-DAEF-4C97-8729-1FC99D35ED0A}"/>
              </a:ext>
            </a:extLst>
          </p:cNvPr>
          <p:cNvGrpSpPr/>
          <p:nvPr/>
        </p:nvGrpSpPr>
        <p:grpSpPr>
          <a:xfrm>
            <a:off x="6008089" y="4598596"/>
            <a:ext cx="692244" cy="547031"/>
            <a:chOff x="5914779" y="4598596"/>
            <a:chExt cx="692244" cy="547031"/>
          </a:xfrm>
        </p:grpSpPr>
        <p:grpSp>
          <p:nvGrpSpPr>
            <p:cNvPr id="95" name="组合 94">
              <a:extLst>
                <a:ext uri="{FF2B5EF4-FFF2-40B4-BE49-F238E27FC236}">
                  <a16:creationId xmlns:a16="http://schemas.microsoft.com/office/drawing/2014/main" id="{63D2BE5F-3CF6-4F1E-823D-24D87766CCDD}"/>
                </a:ext>
              </a:extLst>
            </p:cNvPr>
            <p:cNvGrpSpPr/>
            <p:nvPr/>
          </p:nvGrpSpPr>
          <p:grpSpPr>
            <a:xfrm>
              <a:off x="5914779" y="4598596"/>
              <a:ext cx="692244" cy="148640"/>
              <a:chOff x="8691239" y="2485944"/>
              <a:chExt cx="692244" cy="148640"/>
            </a:xfrm>
          </p:grpSpPr>
          <p:sp>
            <p:nvSpPr>
              <p:cNvPr id="97" name="矩形 96">
                <a:extLst>
                  <a:ext uri="{FF2B5EF4-FFF2-40B4-BE49-F238E27FC236}">
                    <a16:creationId xmlns:a16="http://schemas.microsoft.com/office/drawing/2014/main" id="{E2B9CD9A-D4F3-4AF5-A723-99A0DA5B1C3E}"/>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8" name="直接连接符 97">
                <a:extLst>
                  <a:ext uri="{FF2B5EF4-FFF2-40B4-BE49-F238E27FC236}">
                    <a16:creationId xmlns:a16="http://schemas.microsoft.com/office/drawing/2014/main" id="{E2D53ED9-5210-4248-8CF0-40DBBE2045AA}"/>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96" name="文本框 95">
              <a:extLst>
                <a:ext uri="{FF2B5EF4-FFF2-40B4-BE49-F238E27FC236}">
                  <a16:creationId xmlns:a16="http://schemas.microsoft.com/office/drawing/2014/main" id="{A70F97E0-59F8-4A2C-8F4C-94C5E557B9C2}"/>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99" name="组合 98">
            <a:extLst>
              <a:ext uri="{FF2B5EF4-FFF2-40B4-BE49-F238E27FC236}">
                <a16:creationId xmlns:a16="http://schemas.microsoft.com/office/drawing/2014/main" id="{29B11385-EC2E-4323-A78E-B84D2418B6F4}"/>
              </a:ext>
            </a:extLst>
          </p:cNvPr>
          <p:cNvGrpSpPr/>
          <p:nvPr/>
        </p:nvGrpSpPr>
        <p:grpSpPr>
          <a:xfrm>
            <a:off x="7019554" y="3396126"/>
            <a:ext cx="692244" cy="547031"/>
            <a:chOff x="5914779" y="4598596"/>
            <a:chExt cx="692244" cy="547031"/>
          </a:xfrm>
        </p:grpSpPr>
        <p:grpSp>
          <p:nvGrpSpPr>
            <p:cNvPr id="100" name="组合 99">
              <a:extLst>
                <a:ext uri="{FF2B5EF4-FFF2-40B4-BE49-F238E27FC236}">
                  <a16:creationId xmlns:a16="http://schemas.microsoft.com/office/drawing/2014/main" id="{7357C7A2-1545-495C-A152-FC3953BE6DCC}"/>
                </a:ext>
              </a:extLst>
            </p:cNvPr>
            <p:cNvGrpSpPr/>
            <p:nvPr/>
          </p:nvGrpSpPr>
          <p:grpSpPr>
            <a:xfrm>
              <a:off x="5914779" y="4598596"/>
              <a:ext cx="692244" cy="148640"/>
              <a:chOff x="8691239" y="2485944"/>
              <a:chExt cx="692244" cy="148640"/>
            </a:xfrm>
          </p:grpSpPr>
          <p:sp>
            <p:nvSpPr>
              <p:cNvPr id="102" name="矩形 101">
                <a:extLst>
                  <a:ext uri="{FF2B5EF4-FFF2-40B4-BE49-F238E27FC236}">
                    <a16:creationId xmlns:a16="http://schemas.microsoft.com/office/drawing/2014/main" id="{6419355A-CB4F-4DEC-8ADB-210AA113D31A}"/>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3" name="直接连接符 102">
                <a:extLst>
                  <a:ext uri="{FF2B5EF4-FFF2-40B4-BE49-F238E27FC236}">
                    <a16:creationId xmlns:a16="http://schemas.microsoft.com/office/drawing/2014/main" id="{B3F080EF-1002-4487-BDB7-9B93217478B3}"/>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1" name="文本框 100">
              <a:extLst>
                <a:ext uri="{FF2B5EF4-FFF2-40B4-BE49-F238E27FC236}">
                  <a16:creationId xmlns:a16="http://schemas.microsoft.com/office/drawing/2014/main" id="{BE6BA644-1052-484E-873B-517F289EAB2D}"/>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04" name="组合 103">
            <a:extLst>
              <a:ext uri="{FF2B5EF4-FFF2-40B4-BE49-F238E27FC236}">
                <a16:creationId xmlns:a16="http://schemas.microsoft.com/office/drawing/2014/main" id="{E6B9E5EE-2A61-450B-953E-F8EC4FAC3F7E}"/>
              </a:ext>
            </a:extLst>
          </p:cNvPr>
          <p:cNvGrpSpPr/>
          <p:nvPr/>
        </p:nvGrpSpPr>
        <p:grpSpPr>
          <a:xfrm>
            <a:off x="8766061" y="3836283"/>
            <a:ext cx="692244" cy="547031"/>
            <a:chOff x="5914779" y="4598596"/>
            <a:chExt cx="692244" cy="547031"/>
          </a:xfrm>
        </p:grpSpPr>
        <p:grpSp>
          <p:nvGrpSpPr>
            <p:cNvPr id="105" name="组合 104">
              <a:extLst>
                <a:ext uri="{FF2B5EF4-FFF2-40B4-BE49-F238E27FC236}">
                  <a16:creationId xmlns:a16="http://schemas.microsoft.com/office/drawing/2014/main" id="{F3A2C998-9777-4046-8120-9340A701EC3E}"/>
                </a:ext>
              </a:extLst>
            </p:cNvPr>
            <p:cNvGrpSpPr/>
            <p:nvPr/>
          </p:nvGrpSpPr>
          <p:grpSpPr>
            <a:xfrm>
              <a:off x="5914779" y="4598596"/>
              <a:ext cx="692244" cy="148640"/>
              <a:chOff x="8691239" y="2485944"/>
              <a:chExt cx="692244" cy="148640"/>
            </a:xfrm>
          </p:grpSpPr>
          <p:sp>
            <p:nvSpPr>
              <p:cNvPr id="107" name="矩形 106">
                <a:extLst>
                  <a:ext uri="{FF2B5EF4-FFF2-40B4-BE49-F238E27FC236}">
                    <a16:creationId xmlns:a16="http://schemas.microsoft.com/office/drawing/2014/main" id="{471A747A-CBFC-4155-A43F-ABEADE35AD4A}"/>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8" name="直接连接符 107">
                <a:extLst>
                  <a:ext uri="{FF2B5EF4-FFF2-40B4-BE49-F238E27FC236}">
                    <a16:creationId xmlns:a16="http://schemas.microsoft.com/office/drawing/2014/main" id="{49E3535B-3CDF-4BBF-8F8A-F57B5270D1E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6" name="文本框 105">
              <a:extLst>
                <a:ext uri="{FF2B5EF4-FFF2-40B4-BE49-F238E27FC236}">
                  <a16:creationId xmlns:a16="http://schemas.microsoft.com/office/drawing/2014/main" id="{5DE787EC-38CD-4BC3-ACB8-0B1DBA571F38}"/>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09" name="组合 108">
            <a:extLst>
              <a:ext uri="{FF2B5EF4-FFF2-40B4-BE49-F238E27FC236}">
                <a16:creationId xmlns:a16="http://schemas.microsoft.com/office/drawing/2014/main" id="{A9A7A223-AF68-418A-9A42-57D7C9B70935}"/>
              </a:ext>
            </a:extLst>
          </p:cNvPr>
          <p:cNvGrpSpPr/>
          <p:nvPr/>
        </p:nvGrpSpPr>
        <p:grpSpPr>
          <a:xfrm>
            <a:off x="9860180" y="3490967"/>
            <a:ext cx="692244" cy="547031"/>
            <a:chOff x="5914779" y="4598596"/>
            <a:chExt cx="692244" cy="547031"/>
          </a:xfrm>
        </p:grpSpPr>
        <p:grpSp>
          <p:nvGrpSpPr>
            <p:cNvPr id="110" name="组合 109">
              <a:extLst>
                <a:ext uri="{FF2B5EF4-FFF2-40B4-BE49-F238E27FC236}">
                  <a16:creationId xmlns:a16="http://schemas.microsoft.com/office/drawing/2014/main" id="{B99A79F8-8671-4D60-9C6D-C1E3D4823872}"/>
                </a:ext>
              </a:extLst>
            </p:cNvPr>
            <p:cNvGrpSpPr/>
            <p:nvPr/>
          </p:nvGrpSpPr>
          <p:grpSpPr>
            <a:xfrm>
              <a:off x="5914779" y="4598596"/>
              <a:ext cx="692244" cy="148640"/>
              <a:chOff x="8691239" y="2485944"/>
              <a:chExt cx="692244" cy="148640"/>
            </a:xfrm>
          </p:grpSpPr>
          <p:sp>
            <p:nvSpPr>
              <p:cNvPr id="112" name="矩形 111">
                <a:extLst>
                  <a:ext uri="{FF2B5EF4-FFF2-40B4-BE49-F238E27FC236}">
                    <a16:creationId xmlns:a16="http://schemas.microsoft.com/office/drawing/2014/main" id="{E71BB5CF-087E-4752-86D1-E0E520287249}"/>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3" name="直接连接符 112">
                <a:extLst>
                  <a:ext uri="{FF2B5EF4-FFF2-40B4-BE49-F238E27FC236}">
                    <a16:creationId xmlns:a16="http://schemas.microsoft.com/office/drawing/2014/main" id="{C2E5FF57-AAAF-4228-B58A-A88DEC48574E}"/>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11" name="文本框 110">
              <a:extLst>
                <a:ext uri="{FF2B5EF4-FFF2-40B4-BE49-F238E27FC236}">
                  <a16:creationId xmlns:a16="http://schemas.microsoft.com/office/drawing/2014/main" id="{C0B50228-2863-4AB7-8265-A359BAECF500}"/>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sp>
        <p:nvSpPr>
          <p:cNvPr id="114" name="文本框 113">
            <a:extLst>
              <a:ext uri="{FF2B5EF4-FFF2-40B4-BE49-F238E27FC236}">
                <a16:creationId xmlns:a16="http://schemas.microsoft.com/office/drawing/2014/main" id="{AD2A0DA2-A1B9-4651-977D-BD94BB316D44}"/>
              </a:ext>
            </a:extLst>
          </p:cNvPr>
          <p:cNvSpPr txBox="1"/>
          <p:nvPr/>
        </p:nvSpPr>
        <p:spPr>
          <a:xfrm>
            <a:off x="7694831" y="2949998"/>
            <a:ext cx="697627" cy="400110"/>
          </a:xfrm>
          <a:prstGeom prst="rect">
            <a:avLst/>
          </a:prstGeom>
          <a:noFill/>
        </p:spPr>
        <p:txBody>
          <a:bodyPr wrap="none" rtlCol="0">
            <a:spAutoFit/>
          </a:bodyPr>
          <a:lstStyle/>
          <a:p>
            <a:r>
              <a:rPr lang="zh-CN" altLang="en-US" sz="2000" dirty="0">
                <a:solidFill>
                  <a:srgbClr val="5B307E"/>
                </a:solidFill>
                <a:latin typeface="微软雅黑" panose="020B0503020204020204" pitchFamily="34" charset="-122"/>
                <a:ea typeface="微软雅黑" panose="020B0503020204020204" pitchFamily="34" charset="-122"/>
              </a:rPr>
              <a:t>复制</a:t>
            </a:r>
          </a:p>
        </p:txBody>
      </p:sp>
      <p:grpSp>
        <p:nvGrpSpPr>
          <p:cNvPr id="115" name="组合 114">
            <a:extLst>
              <a:ext uri="{FF2B5EF4-FFF2-40B4-BE49-F238E27FC236}">
                <a16:creationId xmlns:a16="http://schemas.microsoft.com/office/drawing/2014/main" id="{A383EA12-50E6-476D-AB8A-96A67AAA55D0}"/>
              </a:ext>
            </a:extLst>
          </p:cNvPr>
          <p:cNvGrpSpPr/>
          <p:nvPr/>
        </p:nvGrpSpPr>
        <p:grpSpPr>
          <a:xfrm>
            <a:off x="8297777" y="4910099"/>
            <a:ext cx="692244" cy="547031"/>
            <a:chOff x="5914779" y="4598596"/>
            <a:chExt cx="692244" cy="547031"/>
          </a:xfrm>
        </p:grpSpPr>
        <p:grpSp>
          <p:nvGrpSpPr>
            <p:cNvPr id="116" name="组合 115">
              <a:extLst>
                <a:ext uri="{FF2B5EF4-FFF2-40B4-BE49-F238E27FC236}">
                  <a16:creationId xmlns:a16="http://schemas.microsoft.com/office/drawing/2014/main" id="{9F1CB3F1-7FC4-4683-9DAD-D93DAEA00BA3}"/>
                </a:ext>
              </a:extLst>
            </p:cNvPr>
            <p:cNvGrpSpPr/>
            <p:nvPr/>
          </p:nvGrpSpPr>
          <p:grpSpPr>
            <a:xfrm>
              <a:off x="5914779" y="4598596"/>
              <a:ext cx="692244" cy="148640"/>
              <a:chOff x="8691239" y="2485944"/>
              <a:chExt cx="692244" cy="148640"/>
            </a:xfrm>
          </p:grpSpPr>
          <p:sp>
            <p:nvSpPr>
              <p:cNvPr id="118" name="矩形 117">
                <a:extLst>
                  <a:ext uri="{FF2B5EF4-FFF2-40B4-BE49-F238E27FC236}">
                    <a16:creationId xmlns:a16="http://schemas.microsoft.com/office/drawing/2014/main" id="{4ED1EFC4-1C4D-4273-BDA1-3C7FAAD40A9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9" name="直接连接符 118">
                <a:extLst>
                  <a:ext uri="{FF2B5EF4-FFF2-40B4-BE49-F238E27FC236}">
                    <a16:creationId xmlns:a16="http://schemas.microsoft.com/office/drawing/2014/main" id="{E09E8509-E050-4493-9F80-B6F2BFA38BF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17" name="文本框 116">
              <a:extLst>
                <a:ext uri="{FF2B5EF4-FFF2-40B4-BE49-F238E27FC236}">
                  <a16:creationId xmlns:a16="http://schemas.microsoft.com/office/drawing/2014/main" id="{C5B0B28F-E29A-423D-B49F-69B02304ADB5}"/>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20" name="组合 119">
            <a:extLst>
              <a:ext uri="{FF2B5EF4-FFF2-40B4-BE49-F238E27FC236}">
                <a16:creationId xmlns:a16="http://schemas.microsoft.com/office/drawing/2014/main" id="{6FBA506A-EC1F-42EA-871C-CDEFFDF6522D}"/>
              </a:ext>
            </a:extLst>
          </p:cNvPr>
          <p:cNvGrpSpPr/>
          <p:nvPr/>
        </p:nvGrpSpPr>
        <p:grpSpPr>
          <a:xfrm>
            <a:off x="10597089" y="4660624"/>
            <a:ext cx="692244" cy="547031"/>
            <a:chOff x="5914779" y="4598596"/>
            <a:chExt cx="692244" cy="547031"/>
          </a:xfrm>
        </p:grpSpPr>
        <p:grpSp>
          <p:nvGrpSpPr>
            <p:cNvPr id="121" name="组合 120">
              <a:extLst>
                <a:ext uri="{FF2B5EF4-FFF2-40B4-BE49-F238E27FC236}">
                  <a16:creationId xmlns:a16="http://schemas.microsoft.com/office/drawing/2014/main" id="{419F8C69-EB5C-41B9-9ED9-910175931178}"/>
                </a:ext>
              </a:extLst>
            </p:cNvPr>
            <p:cNvGrpSpPr/>
            <p:nvPr/>
          </p:nvGrpSpPr>
          <p:grpSpPr>
            <a:xfrm>
              <a:off x="5914779" y="4598596"/>
              <a:ext cx="692244" cy="148640"/>
              <a:chOff x="8691239" y="2485944"/>
              <a:chExt cx="692244" cy="148640"/>
            </a:xfrm>
          </p:grpSpPr>
          <p:sp>
            <p:nvSpPr>
              <p:cNvPr id="123" name="矩形 122">
                <a:extLst>
                  <a:ext uri="{FF2B5EF4-FFF2-40B4-BE49-F238E27FC236}">
                    <a16:creationId xmlns:a16="http://schemas.microsoft.com/office/drawing/2014/main" id="{546FFD4C-E063-48DF-A0E0-5FD4079E6F5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4" name="直接连接符 123">
                <a:extLst>
                  <a:ext uri="{FF2B5EF4-FFF2-40B4-BE49-F238E27FC236}">
                    <a16:creationId xmlns:a16="http://schemas.microsoft.com/office/drawing/2014/main" id="{AC58DE38-6D3A-4458-B3BB-3AF448B50EE4}"/>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22" name="文本框 121">
              <a:extLst>
                <a:ext uri="{FF2B5EF4-FFF2-40B4-BE49-F238E27FC236}">
                  <a16:creationId xmlns:a16="http://schemas.microsoft.com/office/drawing/2014/main" id="{A1E7740A-2706-416E-8675-9370744F4721}"/>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sp>
        <p:nvSpPr>
          <p:cNvPr id="125" name="Text Box 60">
            <a:extLst>
              <a:ext uri="{FF2B5EF4-FFF2-40B4-BE49-F238E27FC236}">
                <a16:creationId xmlns:a16="http://schemas.microsoft.com/office/drawing/2014/main" id="{075C65D9-BBF4-42CD-9E1E-D84E2BD60927}"/>
              </a:ext>
            </a:extLst>
          </p:cNvPr>
          <p:cNvSpPr txBox="1">
            <a:spLocks noChangeArrowheads="1"/>
          </p:cNvSpPr>
          <p:nvPr/>
        </p:nvSpPr>
        <p:spPr bwMode="auto">
          <a:xfrm>
            <a:off x="7674705" y="6111981"/>
            <a:ext cx="2031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若干个组播组成员</a:t>
            </a:r>
          </a:p>
        </p:txBody>
      </p:sp>
      <p:sp>
        <p:nvSpPr>
          <p:cNvPr id="127" name="Text Box 105">
            <a:extLst>
              <a:ext uri="{FF2B5EF4-FFF2-40B4-BE49-F238E27FC236}">
                <a16:creationId xmlns:a16="http://schemas.microsoft.com/office/drawing/2014/main" id="{1959D3F4-8CDF-41BE-BEAC-CA680A40F768}"/>
              </a:ext>
            </a:extLst>
          </p:cNvPr>
          <p:cNvSpPr txBox="1">
            <a:spLocks noChangeArrowheads="1"/>
          </p:cNvSpPr>
          <p:nvPr/>
        </p:nvSpPr>
        <p:spPr bwMode="auto">
          <a:xfrm>
            <a:off x="5385703" y="4466192"/>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组播</a:t>
            </a:r>
          </a:p>
        </p:txBody>
      </p:sp>
      <p:sp>
        <p:nvSpPr>
          <p:cNvPr id="128" name="Text Box 105">
            <a:extLst>
              <a:ext uri="{FF2B5EF4-FFF2-40B4-BE49-F238E27FC236}">
                <a16:creationId xmlns:a16="http://schemas.microsoft.com/office/drawing/2014/main" id="{73547871-2EE4-4A00-964C-2CAA254EE84F}"/>
              </a:ext>
            </a:extLst>
          </p:cNvPr>
          <p:cNvSpPr txBox="1">
            <a:spLocks noChangeArrowheads="1"/>
          </p:cNvSpPr>
          <p:nvPr/>
        </p:nvSpPr>
        <p:spPr bwMode="auto">
          <a:xfrm>
            <a:off x="7707255" y="4772997"/>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组播</a:t>
            </a:r>
          </a:p>
        </p:txBody>
      </p:sp>
      <p:sp>
        <p:nvSpPr>
          <p:cNvPr id="129" name="Text Box 105">
            <a:extLst>
              <a:ext uri="{FF2B5EF4-FFF2-40B4-BE49-F238E27FC236}">
                <a16:creationId xmlns:a16="http://schemas.microsoft.com/office/drawing/2014/main" id="{1F862C32-668D-427A-B7B3-6696162F3FE0}"/>
              </a:ext>
            </a:extLst>
          </p:cNvPr>
          <p:cNvSpPr txBox="1">
            <a:spLocks noChangeArrowheads="1"/>
          </p:cNvSpPr>
          <p:nvPr/>
        </p:nvSpPr>
        <p:spPr bwMode="auto">
          <a:xfrm>
            <a:off x="10019604" y="4540767"/>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组播</a:t>
            </a:r>
          </a:p>
        </p:txBody>
      </p:sp>
      <p:sp>
        <p:nvSpPr>
          <p:cNvPr id="130"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1671389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4"/>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99"/>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104"/>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10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27"/>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12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29"/>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120"/>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15"/>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27" grpId="0"/>
      <p:bldP spid="128" grpId="0"/>
      <p:bldP spid="129"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63</a:t>
            </a:fld>
            <a:endParaRPr kumimoji="1" lang="zh-CN" altLang="en-US" dirty="0"/>
          </a:p>
        </p:txBody>
      </p:sp>
      <p:cxnSp>
        <p:nvCxnSpPr>
          <p:cNvPr id="65" name="直接连接符 64">
            <a:extLst>
              <a:ext uri="{FF2B5EF4-FFF2-40B4-BE49-F238E27FC236}">
                <a16:creationId xmlns:a16="http://schemas.microsoft.com/office/drawing/2014/main" id="{3B92EB7C-9E44-4D67-89E7-8DEA3023D456}"/>
              </a:ext>
            </a:extLst>
          </p:cNvPr>
          <p:cNvCxnSpPr>
            <a:cxnSpLocks/>
          </p:cNvCxnSpPr>
          <p:nvPr/>
        </p:nvCxnSpPr>
        <p:spPr>
          <a:xfrm flipH="1">
            <a:off x="8358847" y="2617303"/>
            <a:ext cx="1185970" cy="769982"/>
          </a:xfrm>
          <a:prstGeom prst="line">
            <a:avLst/>
          </a:prstGeom>
          <a:ln w="28575"/>
        </p:spPr>
        <p:style>
          <a:lnRef idx="1">
            <a:schemeClr val="dk1"/>
          </a:lnRef>
          <a:fillRef idx="0">
            <a:schemeClr val="dk1"/>
          </a:fillRef>
          <a:effectRef idx="0">
            <a:schemeClr val="dk1"/>
          </a:effectRef>
          <a:fontRef idx="minor">
            <a:schemeClr val="tx1"/>
          </a:fontRef>
        </p:style>
      </p:cxnSp>
      <p:cxnSp>
        <p:nvCxnSpPr>
          <p:cNvPr id="49" name="直接连接符 48">
            <a:extLst>
              <a:ext uri="{FF2B5EF4-FFF2-40B4-BE49-F238E27FC236}">
                <a16:creationId xmlns:a16="http://schemas.microsoft.com/office/drawing/2014/main" id="{8334F27C-9CB4-4C2E-8918-05C9190EFDCC}"/>
              </a:ext>
            </a:extLst>
          </p:cNvPr>
          <p:cNvCxnSpPr>
            <a:cxnSpLocks/>
          </p:cNvCxnSpPr>
          <p:nvPr/>
        </p:nvCxnSpPr>
        <p:spPr>
          <a:xfrm>
            <a:off x="8464802" y="3432758"/>
            <a:ext cx="1761988" cy="916655"/>
          </a:xfrm>
          <a:prstGeom prst="line">
            <a:avLst/>
          </a:prstGeom>
          <a:ln w="28575"/>
        </p:spPr>
        <p:style>
          <a:lnRef idx="1">
            <a:schemeClr val="dk1"/>
          </a:lnRef>
          <a:fillRef idx="0">
            <a:schemeClr val="dk1"/>
          </a:fillRef>
          <a:effectRef idx="0">
            <a:schemeClr val="dk1"/>
          </a:effectRef>
          <a:fontRef idx="minor">
            <a:schemeClr val="tx1"/>
          </a:fontRef>
        </p:style>
      </p:cxnSp>
      <p:cxnSp>
        <p:nvCxnSpPr>
          <p:cNvPr id="6" name="直接连接符 5">
            <a:extLst>
              <a:ext uri="{FF2B5EF4-FFF2-40B4-BE49-F238E27FC236}">
                <a16:creationId xmlns:a16="http://schemas.microsoft.com/office/drawing/2014/main" id="{D8CC9692-E056-49F6-AE01-21D5760BF22C}"/>
              </a:ext>
            </a:extLst>
          </p:cNvPr>
          <p:cNvCxnSpPr>
            <a:cxnSpLocks/>
          </p:cNvCxnSpPr>
          <p:nvPr/>
        </p:nvCxnSpPr>
        <p:spPr>
          <a:xfrm flipH="1" flipV="1">
            <a:off x="6526497" y="4388528"/>
            <a:ext cx="1629064" cy="145551"/>
          </a:xfrm>
          <a:prstGeom prst="line">
            <a:avLst/>
          </a:prstGeom>
          <a:ln w="28575"/>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id="{E511A304-F644-4C5E-952A-34B7ECCBC230}"/>
              </a:ext>
            </a:extLst>
          </p:cNvPr>
          <p:cNvCxnSpPr>
            <a:cxnSpLocks/>
          </p:cNvCxnSpPr>
          <p:nvPr/>
        </p:nvCxnSpPr>
        <p:spPr>
          <a:xfrm flipH="1">
            <a:off x="8312914" y="4597208"/>
            <a:ext cx="2003874" cy="73388"/>
          </a:xfrm>
          <a:prstGeom prst="line">
            <a:avLst/>
          </a:prstGeom>
          <a:ln w="28575"/>
        </p:spPr>
        <p:style>
          <a:lnRef idx="1">
            <a:schemeClr val="dk1"/>
          </a:lnRef>
          <a:fillRef idx="0">
            <a:schemeClr val="dk1"/>
          </a:fillRef>
          <a:effectRef idx="0">
            <a:schemeClr val="dk1"/>
          </a:effectRef>
          <a:fontRef idx="minor">
            <a:schemeClr val="tx1"/>
          </a:fontRef>
        </p:style>
      </p:cxnSp>
      <p:pic>
        <p:nvPicPr>
          <p:cNvPr id="10" name="Picture 14">
            <a:extLst>
              <a:ext uri="{FF2B5EF4-FFF2-40B4-BE49-F238E27FC236}">
                <a16:creationId xmlns:a16="http://schemas.microsoft.com/office/drawing/2014/main" id="{8170387B-50EB-40A7-BBD4-448D591DB0C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48439"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id="{3E4AE7BD-882B-4463-BD23-7347451506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59398" y="473390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id="{2506203A-C8D0-454C-827E-433CD2DB88D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70357"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3" name="直接连接符 12">
            <a:extLst>
              <a:ext uri="{FF2B5EF4-FFF2-40B4-BE49-F238E27FC236}">
                <a16:creationId xmlns:a16="http://schemas.microsoft.com/office/drawing/2014/main" id="{47CA76D7-59F3-4701-BB96-F25F74D34E1C}"/>
              </a:ext>
            </a:extLst>
          </p:cNvPr>
          <p:cNvCxnSpPr>
            <a:cxnSpLocks/>
          </p:cNvCxnSpPr>
          <p:nvPr/>
        </p:nvCxnSpPr>
        <p:spPr>
          <a:xfrm>
            <a:off x="7993435" y="2464903"/>
            <a:ext cx="194680" cy="890211"/>
          </a:xfrm>
          <a:prstGeom prst="line">
            <a:avLst/>
          </a:prstGeom>
          <a:ln w="28575"/>
        </p:spPr>
        <p:style>
          <a:lnRef idx="1">
            <a:schemeClr val="dk1"/>
          </a:lnRef>
          <a:fillRef idx="0">
            <a:schemeClr val="dk1"/>
          </a:fillRef>
          <a:effectRef idx="0">
            <a:schemeClr val="dk1"/>
          </a:effectRef>
          <a:fontRef idx="minor">
            <a:schemeClr val="tx1"/>
          </a:fontRef>
        </p:style>
      </p:cxnSp>
      <p:cxnSp>
        <p:nvCxnSpPr>
          <p:cNvPr id="14" name="直接连接符 13">
            <a:extLst>
              <a:ext uri="{FF2B5EF4-FFF2-40B4-BE49-F238E27FC236}">
                <a16:creationId xmlns:a16="http://schemas.microsoft.com/office/drawing/2014/main" id="{A3430B74-2B20-4ABA-BCB2-7C8CA7A40632}"/>
              </a:ext>
            </a:extLst>
          </p:cNvPr>
          <p:cNvCxnSpPr>
            <a:cxnSpLocks/>
          </p:cNvCxnSpPr>
          <p:nvPr/>
        </p:nvCxnSpPr>
        <p:spPr>
          <a:xfrm flipH="1">
            <a:off x="6508750" y="350751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id="{9908E96D-2711-472F-91F3-2E81C50F474A}"/>
              </a:ext>
            </a:extLst>
          </p:cNvPr>
          <p:cNvCxnSpPr>
            <a:cxnSpLocks/>
          </p:cNvCxnSpPr>
          <p:nvPr/>
        </p:nvCxnSpPr>
        <p:spPr>
          <a:xfrm>
            <a:off x="8319055" y="3507514"/>
            <a:ext cx="0" cy="1083076"/>
          </a:xfrm>
          <a:prstGeom prst="line">
            <a:avLst/>
          </a:prstGeom>
          <a:ln w="28575"/>
        </p:spPr>
        <p:style>
          <a:lnRef idx="1">
            <a:schemeClr val="dk1"/>
          </a:lnRef>
          <a:fillRef idx="0">
            <a:schemeClr val="dk1"/>
          </a:fillRef>
          <a:effectRef idx="0">
            <a:schemeClr val="dk1"/>
          </a:effectRef>
          <a:fontRef idx="minor">
            <a:schemeClr val="tx1"/>
          </a:fontRef>
        </p:style>
      </p:cxnSp>
      <p:pic>
        <p:nvPicPr>
          <p:cNvPr id="17" name="Picture 57" descr="通用路由器">
            <a:extLst>
              <a:ext uri="{FF2B5EF4-FFF2-40B4-BE49-F238E27FC236}">
                <a16:creationId xmlns:a16="http://schemas.microsoft.com/office/drawing/2014/main" id="{E3CF17EA-A394-40FD-8F68-F7A95BD79A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21411" y="321696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7" descr="通用路由器">
            <a:extLst>
              <a:ext uri="{FF2B5EF4-FFF2-40B4-BE49-F238E27FC236}">
                <a16:creationId xmlns:a16="http://schemas.microsoft.com/office/drawing/2014/main" id="{EA761EF7-2058-49FB-8005-8BD1D27BC6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0740" y="420386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57" descr="通用路由器">
            <a:extLst>
              <a:ext uri="{FF2B5EF4-FFF2-40B4-BE49-F238E27FC236}">
                <a16:creationId xmlns:a16="http://schemas.microsoft.com/office/drawing/2014/main" id="{F406C52C-B926-4277-8DFB-B27A7E6AE8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21411" y="444595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7" descr="通用路由器">
            <a:extLst>
              <a:ext uri="{FF2B5EF4-FFF2-40B4-BE49-F238E27FC236}">
                <a16:creationId xmlns:a16="http://schemas.microsoft.com/office/drawing/2014/main" id="{A1F6FB3E-35EA-4BF4-AF79-5126AD5C83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65666" y="420386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id="{F86A7D5F-DA40-4278-ABB6-4154AC35D03E}"/>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327100" y="4753864"/>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29" name="文本框 28">
            <a:extLst>
              <a:ext uri="{FF2B5EF4-FFF2-40B4-BE49-F238E27FC236}">
                <a16:creationId xmlns:a16="http://schemas.microsoft.com/office/drawing/2014/main" id="{E2309AE0-6BC4-4DA5-B768-2D3C5E77BC72}"/>
              </a:ext>
            </a:extLst>
          </p:cNvPr>
          <p:cNvSpPr txBox="1"/>
          <p:nvPr/>
        </p:nvSpPr>
        <p:spPr>
          <a:xfrm>
            <a:off x="8171314" y="2911980"/>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id="{13D17D54-669A-4816-970E-022966D943E6}"/>
              </a:ext>
            </a:extLst>
          </p:cNvPr>
          <p:cNvSpPr txBox="1"/>
          <p:nvPr/>
        </p:nvSpPr>
        <p:spPr>
          <a:xfrm>
            <a:off x="5767055" y="4019196"/>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id="{1E1D951A-5FA5-4C0E-ABAC-5DBEC64A541B}"/>
              </a:ext>
            </a:extLst>
          </p:cNvPr>
          <p:cNvSpPr txBox="1"/>
          <p:nvPr/>
        </p:nvSpPr>
        <p:spPr>
          <a:xfrm>
            <a:off x="7523435" y="4515834"/>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id="{4B329465-3536-48AD-BA30-6AE5F0C84368}"/>
              </a:ext>
            </a:extLst>
          </p:cNvPr>
          <p:cNvSpPr txBox="1"/>
          <p:nvPr/>
        </p:nvSpPr>
        <p:spPr>
          <a:xfrm>
            <a:off x="9544817" y="4331910"/>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36" name="Picture 9" descr="服务器终端">
            <a:extLst>
              <a:ext uri="{FF2B5EF4-FFF2-40B4-BE49-F238E27FC236}">
                <a16:creationId xmlns:a16="http://schemas.microsoft.com/office/drawing/2014/main" id="{681CB973-8917-477A-8A76-CB559286EB8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69712" y="475711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9" descr="服务器终端">
            <a:extLst>
              <a:ext uri="{FF2B5EF4-FFF2-40B4-BE49-F238E27FC236}">
                <a16:creationId xmlns:a16="http://schemas.microsoft.com/office/drawing/2014/main" id="{10DF07FB-5365-49F7-A514-DEFA6657BF2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12324"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9" descr="服务器终端">
            <a:extLst>
              <a:ext uri="{FF2B5EF4-FFF2-40B4-BE49-F238E27FC236}">
                <a16:creationId xmlns:a16="http://schemas.microsoft.com/office/drawing/2014/main" id="{3E061280-8EB3-4F01-9F57-C7379EE13E4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12430" y="520296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9" descr="服务器终端">
            <a:extLst>
              <a:ext uri="{FF2B5EF4-FFF2-40B4-BE49-F238E27FC236}">
                <a16:creationId xmlns:a16="http://schemas.microsoft.com/office/drawing/2014/main" id="{952C6A8E-40BC-4A84-A605-FAD3993A1B16}"/>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45671" y="527085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服务器终端">
            <a:extLst>
              <a:ext uri="{FF2B5EF4-FFF2-40B4-BE49-F238E27FC236}">
                <a16:creationId xmlns:a16="http://schemas.microsoft.com/office/drawing/2014/main" id="{57DA8A8E-7CFE-43DD-AF51-DBB8EB6AA8E8}"/>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522531" y="504673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9" descr="服务器终端">
            <a:extLst>
              <a:ext uri="{FF2B5EF4-FFF2-40B4-BE49-F238E27FC236}">
                <a16:creationId xmlns:a16="http://schemas.microsoft.com/office/drawing/2014/main" id="{DB3D537E-8541-40C4-8505-82DEAF192DDD}"/>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55772" y="511462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服务器终端">
            <a:extLst>
              <a:ext uri="{FF2B5EF4-FFF2-40B4-BE49-F238E27FC236}">
                <a16:creationId xmlns:a16="http://schemas.microsoft.com/office/drawing/2014/main" id="{E66E65D5-A92F-4FF7-9BEB-A9722F26F9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72230" y="548763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9" descr="服务器终端">
            <a:extLst>
              <a:ext uri="{FF2B5EF4-FFF2-40B4-BE49-F238E27FC236}">
                <a16:creationId xmlns:a16="http://schemas.microsoft.com/office/drawing/2014/main" id="{5BE6B87B-92A5-4171-8EFD-0B56F0524A2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05471" y="5555525"/>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9" descr="服务器终端">
            <a:extLst>
              <a:ext uri="{FF2B5EF4-FFF2-40B4-BE49-F238E27FC236}">
                <a16:creationId xmlns:a16="http://schemas.microsoft.com/office/drawing/2014/main" id="{1BA4B2DB-DFF1-4DD8-B945-07B943C851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18007" y="511841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9" descr="服务器终端">
            <a:extLst>
              <a:ext uri="{FF2B5EF4-FFF2-40B4-BE49-F238E27FC236}">
                <a16:creationId xmlns:a16="http://schemas.microsoft.com/office/drawing/2014/main" id="{6B8FBF73-BEDB-4847-9EDD-F41FA30192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51248" y="518630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9" descr="服务器终端">
            <a:extLst>
              <a:ext uri="{FF2B5EF4-FFF2-40B4-BE49-F238E27FC236}">
                <a16:creationId xmlns:a16="http://schemas.microsoft.com/office/drawing/2014/main" id="{9C90E3C3-13B3-4F14-86F8-31042856F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19190" y="565547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9" descr="服务器终端">
            <a:extLst>
              <a:ext uri="{FF2B5EF4-FFF2-40B4-BE49-F238E27FC236}">
                <a16:creationId xmlns:a16="http://schemas.microsoft.com/office/drawing/2014/main" id="{B84E50C8-D85F-4B32-A34C-642D67636D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79052" y="476533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9" descr="服务器终端">
            <a:extLst>
              <a:ext uri="{FF2B5EF4-FFF2-40B4-BE49-F238E27FC236}">
                <a16:creationId xmlns:a16="http://schemas.microsoft.com/office/drawing/2014/main" id="{F42C5550-1FC6-48DD-9EE4-28A6CA371C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61992" y="527412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9" descr="服务器终端">
            <a:extLst>
              <a:ext uri="{FF2B5EF4-FFF2-40B4-BE49-F238E27FC236}">
                <a16:creationId xmlns:a16="http://schemas.microsoft.com/office/drawing/2014/main" id="{73824324-B082-4B5D-975B-88BE296F09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907769" y="49049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9" descr="服务器终端">
            <a:extLst>
              <a:ext uri="{FF2B5EF4-FFF2-40B4-BE49-F238E27FC236}">
                <a16:creationId xmlns:a16="http://schemas.microsoft.com/office/drawing/2014/main" id="{C82EAD96-22BC-469B-AAC5-FE59CC3DFD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875711" y="537408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9" descr="服务器终端">
            <a:extLst>
              <a:ext uri="{FF2B5EF4-FFF2-40B4-BE49-F238E27FC236}">
                <a16:creationId xmlns:a16="http://schemas.microsoft.com/office/drawing/2014/main" id="{8C5ADEE2-180C-4C17-A131-77C94E94384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026149" y="5290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9" descr="服务器终端">
            <a:extLst>
              <a:ext uri="{FF2B5EF4-FFF2-40B4-BE49-F238E27FC236}">
                <a16:creationId xmlns:a16="http://schemas.microsoft.com/office/drawing/2014/main" id="{4A829B4B-BBF0-4930-A4BB-40EAE3B91D2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68549" y="484656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9" descr="服务器终端">
            <a:extLst>
              <a:ext uri="{FF2B5EF4-FFF2-40B4-BE49-F238E27FC236}">
                <a16:creationId xmlns:a16="http://schemas.microsoft.com/office/drawing/2014/main" id="{4D7FC226-6D15-4800-BF2F-74556AD89C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67844" y="561074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9" descr="服务器终端">
            <a:extLst>
              <a:ext uri="{FF2B5EF4-FFF2-40B4-BE49-F238E27FC236}">
                <a16:creationId xmlns:a16="http://schemas.microsoft.com/office/drawing/2014/main" id="{C867002D-5FFC-4AB4-9234-087A4A7C7A2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226790"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9" descr="服务器终端">
            <a:extLst>
              <a:ext uri="{FF2B5EF4-FFF2-40B4-BE49-F238E27FC236}">
                <a16:creationId xmlns:a16="http://schemas.microsoft.com/office/drawing/2014/main" id="{459B82F6-8E58-49D6-AE9E-A64889A3853A}"/>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808904" y="522300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9" descr="服务器终端">
            <a:extLst>
              <a:ext uri="{FF2B5EF4-FFF2-40B4-BE49-F238E27FC236}">
                <a16:creationId xmlns:a16="http://schemas.microsoft.com/office/drawing/2014/main" id="{71FAC2D0-0195-4FC8-8275-35783C30E87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43368" y="530724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1" name="Picture 9" descr="服务器终端">
            <a:extLst>
              <a:ext uri="{FF2B5EF4-FFF2-40B4-BE49-F238E27FC236}">
                <a16:creationId xmlns:a16="http://schemas.microsoft.com/office/drawing/2014/main" id="{DC0EC4D6-1173-42EF-A6D4-C50A4B9CCFDC}"/>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59133" y="4844539"/>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50" name="文本框 49">
            <a:extLst>
              <a:ext uri="{FF2B5EF4-FFF2-40B4-BE49-F238E27FC236}">
                <a16:creationId xmlns:a16="http://schemas.microsoft.com/office/drawing/2014/main" id="{C6B825FA-9C14-4DA1-96D6-288D2EC80847}"/>
              </a:ext>
            </a:extLst>
          </p:cNvPr>
          <p:cNvSpPr txBox="1"/>
          <p:nvPr/>
        </p:nvSpPr>
        <p:spPr>
          <a:xfrm>
            <a:off x="6962690" y="2745119"/>
            <a:ext cx="1364205"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Server1</a:t>
            </a:r>
            <a:endParaRPr lang="zh-CN" altLang="en-US" dirty="0">
              <a:latin typeface="微软雅黑" panose="020B0503020204020204" pitchFamily="34" charset="-122"/>
              <a:ea typeface="微软雅黑" panose="020B0503020204020204" pitchFamily="34" charset="-122"/>
            </a:endParaRPr>
          </a:p>
        </p:txBody>
      </p:sp>
      <p:pic>
        <p:nvPicPr>
          <p:cNvPr id="52" name="Picture 25" descr="服务器类">
            <a:extLst>
              <a:ext uri="{FF2B5EF4-FFF2-40B4-BE49-F238E27FC236}">
                <a16:creationId xmlns:a16="http://schemas.microsoft.com/office/drawing/2014/main" id="{0395482E-1E62-4275-BD94-26D0909E58D3}"/>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373177" y="1905495"/>
            <a:ext cx="788815" cy="1131224"/>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25" descr="服务器类">
            <a:extLst>
              <a:ext uri="{FF2B5EF4-FFF2-40B4-BE49-F238E27FC236}">
                <a16:creationId xmlns:a16="http://schemas.microsoft.com/office/drawing/2014/main" id="{7BCE1BB5-485B-48CD-BF46-2FAB5E8FDE22}"/>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7316156" y="1703398"/>
            <a:ext cx="788815" cy="1131224"/>
          </a:xfrm>
          <a:prstGeom prst="rect">
            <a:avLst/>
          </a:prstGeom>
          <a:noFill/>
          <a:extLst>
            <a:ext uri="{909E8E84-426E-40DD-AFC4-6F175D3DCCD1}">
              <a14:hiddenFill xmlns:a14="http://schemas.microsoft.com/office/drawing/2010/main">
                <a:solidFill>
                  <a:srgbClr val="FFFFFF"/>
                </a:solidFill>
              </a14:hiddenFill>
            </a:ext>
          </a:extLst>
        </p:spPr>
      </p:pic>
      <p:sp>
        <p:nvSpPr>
          <p:cNvPr id="64" name="文本框 63">
            <a:extLst>
              <a:ext uri="{FF2B5EF4-FFF2-40B4-BE49-F238E27FC236}">
                <a16:creationId xmlns:a16="http://schemas.microsoft.com/office/drawing/2014/main" id="{FE7C66C6-9D8A-491A-AD16-0353C95DA994}"/>
              </a:ext>
            </a:extLst>
          </p:cNvPr>
          <p:cNvSpPr txBox="1"/>
          <p:nvPr/>
        </p:nvSpPr>
        <p:spPr>
          <a:xfrm>
            <a:off x="9293758" y="2943833"/>
            <a:ext cx="1364205"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Server2</a:t>
            </a:r>
            <a:endParaRPr lang="zh-CN" altLang="en-US" dirty="0">
              <a:latin typeface="微软雅黑" panose="020B0503020204020204" pitchFamily="34" charset="-122"/>
              <a:ea typeface="微软雅黑" panose="020B0503020204020204" pitchFamily="34" charset="-122"/>
            </a:endParaRPr>
          </a:p>
        </p:txBody>
      </p:sp>
      <p:pic>
        <p:nvPicPr>
          <p:cNvPr id="66" name="图片 65">
            <a:extLst>
              <a:ext uri="{FF2B5EF4-FFF2-40B4-BE49-F238E27FC236}">
                <a16:creationId xmlns:a16="http://schemas.microsoft.com/office/drawing/2014/main" id="{6BDE081B-4B85-43F7-9B10-8D3186247C7E}"/>
              </a:ext>
            </a:extLst>
          </p:cNvPr>
          <p:cNvPicPr>
            <a:picLocks noChangeAspect="1"/>
          </p:cNvPicPr>
          <p:nvPr/>
        </p:nvPicPr>
        <p:blipFill>
          <a:blip r:embed="rId7"/>
          <a:stretch>
            <a:fillRect/>
          </a:stretch>
        </p:blipFill>
        <p:spPr>
          <a:xfrm>
            <a:off x="9566098" y="1599464"/>
            <a:ext cx="1674014" cy="942222"/>
          </a:xfrm>
          <a:prstGeom prst="rect">
            <a:avLst/>
          </a:prstGeom>
        </p:spPr>
      </p:pic>
      <p:pic>
        <p:nvPicPr>
          <p:cNvPr id="67" name="Picture 2" descr="https://gimg2.baidu.com/image_search/src=http%3A%2F%2Fwww.fakutownee.cn%2Fd%2Ffile%2Fp%2F2016-08-21%2F07dee070f822db75256defc8e7c0553e.jpg&amp;refer=http%3A%2F%2Fwww.fakutownee.cn&amp;app=2002&amp;size=f9999,10000&amp;q=a80&amp;n=0&amp;g=0n&amp;fmt=jpeg?sec=1613836251&amp;t=e726f3bee23f47fcd9606f88b90a544c">
            <a:extLst>
              <a:ext uri="{FF2B5EF4-FFF2-40B4-BE49-F238E27FC236}">
                <a16:creationId xmlns:a16="http://schemas.microsoft.com/office/drawing/2014/main" id="{0AEB53DA-B644-4798-8F15-0B176DBC2358}"/>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b="8874"/>
          <a:stretch/>
        </p:blipFill>
        <p:spPr bwMode="auto">
          <a:xfrm>
            <a:off x="6388554" y="1396309"/>
            <a:ext cx="1166278" cy="1260465"/>
          </a:xfrm>
          <a:prstGeom prst="rect">
            <a:avLst/>
          </a:prstGeom>
          <a:noFill/>
          <a:extLst>
            <a:ext uri="{909E8E84-426E-40DD-AFC4-6F175D3DCCD1}">
              <a14:hiddenFill xmlns:a14="http://schemas.microsoft.com/office/drawing/2010/main">
                <a:solidFill>
                  <a:srgbClr val="FFFFFF"/>
                </a:solidFill>
              </a14:hiddenFill>
            </a:ext>
          </a:extLst>
        </p:spPr>
      </p:pic>
      <p:sp>
        <p:nvSpPr>
          <p:cNvPr id="68" name="内容占位符 2">
            <a:extLst>
              <a:ext uri="{FF2B5EF4-FFF2-40B4-BE49-F238E27FC236}">
                <a16:creationId xmlns:a16="http://schemas.microsoft.com/office/drawing/2014/main" id="{82F26EAF-40CB-41D2-8D0D-FFAAE3A27277}"/>
              </a:ext>
            </a:extLst>
          </p:cNvPr>
          <p:cNvSpPr txBox="1">
            <a:spLocks/>
          </p:cNvSpPr>
          <p:nvPr/>
        </p:nvSpPr>
        <p:spPr>
          <a:xfrm>
            <a:off x="838200" y="1510758"/>
            <a:ext cx="3767640" cy="4586694"/>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30000"/>
              </a:lnSpc>
            </a:pPr>
            <a:r>
              <a:rPr lang="zh-CN" altLang="en-US" sz="2400" dirty="0"/>
              <a:t>组播实现的两个步骤：</a:t>
            </a:r>
            <a:endParaRPr lang="en-US" altLang="zh-CN" sz="2400" dirty="0"/>
          </a:p>
          <a:p>
            <a:pPr marL="0" indent="0">
              <a:lnSpc>
                <a:spcPct val="130000"/>
              </a:lnSpc>
              <a:buNone/>
            </a:pPr>
            <a:r>
              <a:rPr lang="zh-CN" altLang="en-US" sz="2400" dirty="0">
                <a:solidFill>
                  <a:srgbClr val="C00000"/>
                </a:solidFill>
              </a:rPr>
              <a:t>确定组成员</a:t>
            </a:r>
            <a:r>
              <a:rPr lang="zh-CN" altLang="en-US" sz="2400" dirty="0"/>
              <a:t>：</a:t>
            </a:r>
            <a:r>
              <a:rPr lang="zh-CN" altLang="zh-CN" sz="2400" dirty="0"/>
              <a:t>边缘路由器通过与主机交互，了解到从它的某个端口可以到达哪些组的成员</a:t>
            </a:r>
            <a:r>
              <a:rPr lang="en-US" altLang="zh-CN" sz="2400" dirty="0"/>
              <a:t>——</a:t>
            </a:r>
            <a:r>
              <a:rPr lang="zh-CN" altLang="en-US" sz="2400" dirty="0"/>
              <a:t>主机与路由器之间的组成员关系协议</a:t>
            </a:r>
            <a:endParaRPr lang="en-US" altLang="zh-CN" sz="2400" dirty="0"/>
          </a:p>
          <a:p>
            <a:pPr lvl="1">
              <a:lnSpc>
                <a:spcPct val="130000"/>
              </a:lnSpc>
            </a:pPr>
            <a:r>
              <a:rPr lang="zh-CN" altLang="en-US" sz="2000" dirty="0"/>
              <a:t>怎样标识组成员？</a:t>
            </a:r>
            <a:endParaRPr lang="en-US" altLang="zh-CN" sz="2000" dirty="0"/>
          </a:p>
          <a:p>
            <a:pPr lvl="1">
              <a:lnSpc>
                <a:spcPct val="130000"/>
              </a:lnSpc>
            </a:pPr>
            <a:r>
              <a:rPr lang="zh-CN" altLang="en-US" sz="2000" dirty="0"/>
              <a:t>如何编址？</a:t>
            </a:r>
            <a:endParaRPr lang="en-US" altLang="zh-CN" sz="2000" dirty="0"/>
          </a:p>
        </p:txBody>
      </p:sp>
      <p:sp>
        <p:nvSpPr>
          <p:cNvPr id="69"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1492861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67"/>
                                        </p:tgtEl>
                                        <p:attrNameLst>
                                          <p:attrName>style.visibility</p:attrName>
                                        </p:attrNameLst>
                                      </p:cBhvr>
                                      <p:tavLst>
                                        <p:tav tm="0">
                                          <p:val>
                                            <p:strVal val="hidden"/>
                                          </p:val>
                                        </p:tav>
                                        <p:tav tm="50000">
                                          <p:val>
                                            <p:strVal val="visible"/>
                                          </p:val>
                                        </p:tav>
                                      </p:tavLst>
                                    </p:anim>
                                  </p:childTnLst>
                                </p:cTn>
                              </p:par>
                              <p:par>
                                <p:cTn id="7" presetID="35" presetClass="emph" presetSubtype="0" repeatCount="2000" fill="hold"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2000" fill="hold" nodeType="withEffect">
                                  <p:stCondLst>
                                    <p:cond delay="0"/>
                                  </p:stCondLst>
                                  <p:childTnLst>
                                    <p:anim calcmode="discrete" valueType="str">
                                      <p:cBhvr>
                                        <p:cTn id="10" dur="1000" fill="hold"/>
                                        <p:tgtEl>
                                          <p:spTgt spid="39"/>
                                        </p:tgtEl>
                                        <p:attrNameLst>
                                          <p:attrName>style.visibility</p:attrName>
                                        </p:attrNameLst>
                                      </p:cBhvr>
                                      <p:tavLst>
                                        <p:tav tm="0">
                                          <p:val>
                                            <p:strVal val="hidden"/>
                                          </p:val>
                                        </p:tav>
                                        <p:tav tm="50000">
                                          <p:val>
                                            <p:strVal val="visible"/>
                                          </p:val>
                                        </p:tav>
                                      </p:tavLst>
                                    </p:anim>
                                  </p:childTnLst>
                                </p:cTn>
                              </p:par>
                              <p:par>
                                <p:cTn id="11" presetID="35" presetClass="emph" presetSubtype="0" repeatCount="2000" fill="hold" nodeType="withEffect">
                                  <p:stCondLst>
                                    <p:cond delay="0"/>
                                  </p:stCondLst>
                                  <p:childTnLst>
                                    <p:anim calcmode="discrete" valueType="str">
                                      <p:cBhvr>
                                        <p:cTn id="12" dur="1000" fill="hold"/>
                                        <p:tgtEl>
                                          <p:spTgt spid="40"/>
                                        </p:tgtEl>
                                        <p:attrNameLst>
                                          <p:attrName>style.visibility</p:attrName>
                                        </p:attrNameLst>
                                      </p:cBhvr>
                                      <p:tavLst>
                                        <p:tav tm="0">
                                          <p:val>
                                            <p:strVal val="hidden"/>
                                          </p:val>
                                        </p:tav>
                                        <p:tav tm="50000">
                                          <p:val>
                                            <p:strVal val="visible"/>
                                          </p:val>
                                        </p:tav>
                                      </p:tavLst>
                                    </p:anim>
                                  </p:childTnLst>
                                </p:cTn>
                              </p:par>
                              <p:par>
                                <p:cTn id="13" presetID="35" presetClass="emph" presetSubtype="0" repeatCount="2000" fill="hold" nodeType="withEffect">
                                  <p:stCondLst>
                                    <p:cond delay="0"/>
                                  </p:stCondLst>
                                  <p:childTnLst>
                                    <p:anim calcmode="discrete" valueType="str">
                                      <p:cBhvr>
                                        <p:cTn id="14" dur="1000" fill="hold"/>
                                        <p:tgtEl>
                                          <p:spTgt spid="41"/>
                                        </p:tgtEl>
                                        <p:attrNameLst>
                                          <p:attrName>style.visibility</p:attrName>
                                        </p:attrNameLst>
                                      </p:cBhvr>
                                      <p:tavLst>
                                        <p:tav tm="0">
                                          <p:val>
                                            <p:strVal val="hidden"/>
                                          </p:val>
                                        </p:tav>
                                        <p:tav tm="50000">
                                          <p:val>
                                            <p:strVal val="visible"/>
                                          </p:val>
                                        </p:tav>
                                      </p:tavLst>
                                    </p:anim>
                                  </p:childTnLst>
                                </p:cTn>
                              </p:par>
                            </p:childTnLst>
                          </p:cTn>
                        </p:par>
                        <p:par>
                          <p:cTn id="15" fill="hold">
                            <p:stCondLst>
                              <p:cond delay="2000"/>
                            </p:stCondLst>
                            <p:childTnLst>
                              <p:par>
                                <p:cTn id="16" presetID="35" presetClass="emph" presetSubtype="0" repeatCount="2000" fill="hold" nodeType="afterEffect">
                                  <p:stCondLst>
                                    <p:cond delay="0"/>
                                  </p:stCondLst>
                                  <p:childTnLst>
                                    <p:anim calcmode="discrete" valueType="str">
                                      <p:cBhvr>
                                        <p:cTn id="17" dur="1000" fill="hold"/>
                                        <p:tgtEl>
                                          <p:spTgt spid="66"/>
                                        </p:tgtEl>
                                        <p:attrNameLst>
                                          <p:attrName>style.visibility</p:attrName>
                                        </p:attrNameLst>
                                      </p:cBhvr>
                                      <p:tavLst>
                                        <p:tav tm="0">
                                          <p:val>
                                            <p:strVal val="hidden"/>
                                          </p:val>
                                        </p:tav>
                                        <p:tav tm="50000">
                                          <p:val>
                                            <p:strVal val="visible"/>
                                          </p:val>
                                        </p:tav>
                                      </p:tavLst>
                                    </p:anim>
                                  </p:childTnLst>
                                </p:cTn>
                              </p:par>
                              <p:par>
                                <p:cTn id="18" presetID="35" presetClass="emph" presetSubtype="0" repeatCount="2000" fill="hold" nodeType="withEffect">
                                  <p:stCondLst>
                                    <p:cond delay="0"/>
                                  </p:stCondLst>
                                  <p:childTnLst>
                                    <p:anim calcmode="discrete" valueType="str">
                                      <p:cBhvr>
                                        <p:cTn id="19" dur="1000" fill="hold"/>
                                        <p:tgtEl>
                                          <p:spTgt spid="36"/>
                                        </p:tgtEl>
                                        <p:attrNameLst>
                                          <p:attrName>style.visibility</p:attrName>
                                        </p:attrNameLst>
                                      </p:cBhvr>
                                      <p:tavLst>
                                        <p:tav tm="0">
                                          <p:val>
                                            <p:strVal val="hidden"/>
                                          </p:val>
                                        </p:tav>
                                        <p:tav tm="50000">
                                          <p:val>
                                            <p:strVal val="visible"/>
                                          </p:val>
                                        </p:tav>
                                      </p:tavLst>
                                    </p:anim>
                                  </p:childTnLst>
                                </p:cTn>
                              </p:par>
                              <p:par>
                                <p:cTn id="20" presetID="35" presetClass="emph" presetSubtype="0" repeatCount="2000" fill="hold" nodeType="withEffect">
                                  <p:stCondLst>
                                    <p:cond delay="0"/>
                                  </p:stCondLst>
                                  <p:childTnLst>
                                    <p:anim calcmode="discrete" valueType="str">
                                      <p:cBhvr>
                                        <p:cTn id="21" dur="1000" fill="hold"/>
                                        <p:tgtEl>
                                          <p:spTgt spid="56"/>
                                        </p:tgtEl>
                                        <p:attrNameLst>
                                          <p:attrName>style.visibility</p:attrName>
                                        </p:attrNameLst>
                                      </p:cBhvr>
                                      <p:tavLst>
                                        <p:tav tm="0">
                                          <p:val>
                                            <p:strVal val="hidden"/>
                                          </p:val>
                                        </p:tav>
                                        <p:tav tm="50000">
                                          <p:val>
                                            <p:strVal val="visible"/>
                                          </p:val>
                                        </p:tav>
                                      </p:tavLst>
                                    </p:anim>
                                  </p:childTnLst>
                                </p:cTn>
                              </p:par>
                              <p:par>
                                <p:cTn id="22" presetID="35" presetClass="emph" presetSubtype="0" repeatCount="2000" fill="hold" nodeType="withEffect">
                                  <p:stCondLst>
                                    <p:cond delay="0"/>
                                  </p:stCondLst>
                                  <p:childTnLst>
                                    <p:anim calcmode="discrete" valueType="str">
                                      <p:cBhvr>
                                        <p:cTn id="23" dur="1000" fill="hold"/>
                                        <p:tgtEl>
                                          <p:spTgt spid="55"/>
                                        </p:tgtEl>
                                        <p:attrNameLst>
                                          <p:attrName>style.visibility</p:attrName>
                                        </p:attrNameLst>
                                      </p:cBhvr>
                                      <p:tavLst>
                                        <p:tav tm="0">
                                          <p:val>
                                            <p:strVal val="hidden"/>
                                          </p:val>
                                        </p:tav>
                                        <p:tav tm="50000">
                                          <p:val>
                                            <p:strVal val="visible"/>
                                          </p:val>
                                        </p:tav>
                                      </p:tavLst>
                                    </p:anim>
                                  </p:childTnLst>
                                </p:cTn>
                              </p:par>
                              <p:par>
                                <p:cTn id="24" presetID="35" presetClass="emph" presetSubtype="0" repeatCount="2000" fill="hold" nodeType="withEffect">
                                  <p:stCondLst>
                                    <p:cond delay="0"/>
                                  </p:stCondLst>
                                  <p:childTnLst>
                                    <p:anim calcmode="discrete" valueType="str">
                                      <p:cBhvr>
                                        <p:cTn id="25" dur="1000" fill="hold"/>
                                        <p:tgtEl>
                                          <p:spTgt spid="58"/>
                                        </p:tgtEl>
                                        <p:attrNameLst>
                                          <p:attrName>style.visibility</p:attrName>
                                        </p:attrNameLst>
                                      </p:cBhvr>
                                      <p:tavLst>
                                        <p:tav tm="0">
                                          <p:val>
                                            <p:strVal val="hidden"/>
                                          </p:val>
                                        </p:tav>
                                        <p:tav tm="50000">
                                          <p:val>
                                            <p:strVal val="visible"/>
                                          </p:val>
                                        </p:tav>
                                      </p:tavLst>
                                    </p:anim>
                                  </p:childTnLst>
                                </p:cTn>
                              </p:par>
                              <p:par>
                                <p:cTn id="26" presetID="35" presetClass="emph" presetSubtype="0" repeatCount="2000" fill="hold" nodeType="withEffect">
                                  <p:stCondLst>
                                    <p:cond delay="0"/>
                                  </p:stCondLst>
                                  <p:childTnLst>
                                    <p:anim calcmode="discrete" valueType="str">
                                      <p:cBhvr>
                                        <p:cTn id="27" dur="1000" fill="hold"/>
                                        <p:tgtEl>
                                          <p:spTgt spid="60"/>
                                        </p:tgtEl>
                                        <p:attrNameLst>
                                          <p:attrName>style.visibility</p:attrName>
                                        </p:attrNameLst>
                                      </p:cBhvr>
                                      <p:tavLst>
                                        <p:tav tm="0">
                                          <p:val>
                                            <p:strVal val="hidden"/>
                                          </p:val>
                                        </p:tav>
                                        <p:tav tm="50000">
                                          <p:val>
                                            <p:strVal val="visible"/>
                                          </p:val>
                                        </p:tav>
                                      </p:tavLst>
                                    </p:anim>
                                  </p:childTnLst>
                                </p:cTn>
                              </p:par>
                              <p:par>
                                <p:cTn id="28" presetID="35" presetClass="emph" presetSubtype="0" repeatCount="2000" fill="hold" nodeType="withEffect">
                                  <p:stCondLst>
                                    <p:cond delay="0"/>
                                  </p:stCondLst>
                                  <p:childTnLst>
                                    <p:anim calcmode="discrete" valueType="str">
                                      <p:cBhvr>
                                        <p:cTn id="29" dur="1000" fill="hold"/>
                                        <p:tgtEl>
                                          <p:spTgt spid="61"/>
                                        </p:tgtEl>
                                        <p:attrNameLst>
                                          <p:attrName>style.visibility</p:attrName>
                                        </p:attrNameLst>
                                      </p:cBhvr>
                                      <p:tavLst>
                                        <p:tav tm="0">
                                          <p:val>
                                            <p:strVal val="hidden"/>
                                          </p:val>
                                        </p:tav>
                                        <p:tav tm="50000">
                                          <p:val>
                                            <p:strVal val="visible"/>
                                          </p:val>
                                        </p:tav>
                                      </p:tavLst>
                                    </p:anim>
                                  </p:childTnLst>
                                </p:cTn>
                              </p:par>
                              <p:par>
                                <p:cTn id="30" presetID="35" presetClass="emph" presetSubtype="0" repeatCount="2000" fill="hold" nodeType="withEffect">
                                  <p:stCondLst>
                                    <p:cond delay="0"/>
                                  </p:stCondLst>
                                  <p:childTnLst>
                                    <p:anim calcmode="discrete" valueType="str">
                                      <p:cBhvr>
                                        <p:cTn id="31"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68">
                                            <p:txEl>
                                              <p:pRg st="2" end="2"/>
                                            </p:txEl>
                                          </p:spTgt>
                                        </p:tgtEl>
                                        <p:attrNameLst>
                                          <p:attrName>style.visibility</p:attrName>
                                        </p:attrNameLst>
                                      </p:cBhvr>
                                      <p:to>
                                        <p:strVal val="visible"/>
                                      </p:to>
                                    </p:set>
                                    <p:animEffect transition="in" filter="blinds(horizontal)">
                                      <p:cBhvr>
                                        <p:cTn id="36" dur="500"/>
                                        <p:tgtEl>
                                          <p:spTgt spid="68">
                                            <p:txEl>
                                              <p:pRg st="2" end="2"/>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68">
                                            <p:txEl>
                                              <p:pRg st="3" end="3"/>
                                            </p:txEl>
                                          </p:spTgt>
                                        </p:tgtEl>
                                        <p:attrNameLst>
                                          <p:attrName>style.visibility</p:attrName>
                                        </p:attrNameLst>
                                      </p:cBhvr>
                                      <p:to>
                                        <p:strVal val="visible"/>
                                      </p:to>
                                    </p:set>
                                    <p:animEffect transition="in" filter="blinds(horizontal)">
                                      <p:cBhvr>
                                        <p:cTn id="39" dur="500"/>
                                        <p:tgtEl>
                                          <p:spTgt spid="6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组播路由</a:t>
            </a: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grpSp>
        <p:nvGrpSpPr>
          <p:cNvPr id="86" name="组合 85"/>
          <p:cNvGrpSpPr/>
          <p:nvPr/>
        </p:nvGrpSpPr>
        <p:grpSpPr>
          <a:xfrm>
            <a:off x="3277356" y="2277750"/>
            <a:ext cx="8777288" cy="4433888"/>
            <a:chOff x="352425" y="2235200"/>
            <a:chExt cx="8777288" cy="4433888"/>
          </a:xfrm>
        </p:grpSpPr>
        <p:sp>
          <p:nvSpPr>
            <p:cNvPr id="87" name="Line 5"/>
            <p:cNvSpPr>
              <a:spLocks noChangeShapeType="1"/>
            </p:cNvSpPr>
            <p:nvPr/>
          </p:nvSpPr>
          <p:spPr bwMode="auto">
            <a:xfrm>
              <a:off x="4587875" y="5176838"/>
              <a:ext cx="0" cy="661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Line 6"/>
            <p:cNvSpPr>
              <a:spLocks noChangeShapeType="1"/>
            </p:cNvSpPr>
            <p:nvPr/>
          </p:nvSpPr>
          <p:spPr bwMode="auto">
            <a:xfrm>
              <a:off x="784225" y="518795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 name="Line 7"/>
            <p:cNvSpPr>
              <a:spLocks noChangeShapeType="1"/>
            </p:cNvSpPr>
            <p:nvPr/>
          </p:nvSpPr>
          <p:spPr bwMode="auto">
            <a:xfrm>
              <a:off x="784225" y="386080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Line 8"/>
            <p:cNvSpPr>
              <a:spLocks noChangeShapeType="1"/>
            </p:cNvSpPr>
            <p:nvPr/>
          </p:nvSpPr>
          <p:spPr bwMode="auto">
            <a:xfrm>
              <a:off x="4587875" y="3195638"/>
              <a:ext cx="0" cy="665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Line 9"/>
            <p:cNvSpPr>
              <a:spLocks noChangeShapeType="1"/>
            </p:cNvSpPr>
            <p:nvPr/>
          </p:nvSpPr>
          <p:spPr bwMode="auto">
            <a:xfrm>
              <a:off x="6227763" y="4619625"/>
              <a:ext cx="1470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 name="Line 10"/>
            <p:cNvSpPr>
              <a:spLocks noChangeShapeType="1"/>
            </p:cNvSpPr>
            <p:nvPr/>
          </p:nvSpPr>
          <p:spPr bwMode="auto">
            <a:xfrm>
              <a:off x="1389063" y="4429125"/>
              <a:ext cx="1382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Line 11"/>
            <p:cNvSpPr>
              <a:spLocks noChangeShapeType="1"/>
            </p:cNvSpPr>
            <p:nvPr/>
          </p:nvSpPr>
          <p:spPr bwMode="auto">
            <a:xfrm>
              <a:off x="7697788" y="5472113"/>
              <a:ext cx="603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4" name="Line 12"/>
            <p:cNvSpPr>
              <a:spLocks noChangeShapeType="1"/>
            </p:cNvSpPr>
            <p:nvPr/>
          </p:nvSpPr>
          <p:spPr bwMode="auto">
            <a:xfrm>
              <a:off x="7697788" y="4144963"/>
              <a:ext cx="5175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 name="Line 13"/>
            <p:cNvSpPr>
              <a:spLocks noChangeShapeType="1"/>
            </p:cNvSpPr>
            <p:nvPr/>
          </p:nvSpPr>
          <p:spPr bwMode="auto">
            <a:xfrm flipV="1">
              <a:off x="5276850"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 name="Line 14"/>
            <p:cNvSpPr>
              <a:spLocks noChangeShapeType="1"/>
            </p:cNvSpPr>
            <p:nvPr/>
          </p:nvSpPr>
          <p:spPr bwMode="auto">
            <a:xfrm flipV="1">
              <a:off x="3722688"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97" name="Picture 1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70375" y="3319463"/>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8" name="Picture 1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3925" y="2251075"/>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 name="Text Box 17"/>
            <p:cNvSpPr txBox="1">
              <a:spLocks noChangeArrowheads="1"/>
            </p:cNvSpPr>
            <p:nvPr/>
          </p:nvSpPr>
          <p:spPr bwMode="auto">
            <a:xfrm>
              <a:off x="5556304" y="2272351"/>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dirty="0">
                  <a:solidFill>
                    <a:schemeClr val="folHlink"/>
                  </a:solidFill>
                  <a:latin typeface="Arial" panose="020B0604020202020204" pitchFamily="34" charset="0"/>
                </a:rPr>
                <a:t>128.56.24.34</a:t>
              </a:r>
            </a:p>
          </p:txBody>
        </p:sp>
        <p:sp>
          <p:nvSpPr>
            <p:cNvPr id="100" name="Text Box 18"/>
            <p:cNvSpPr txBox="1">
              <a:spLocks noChangeArrowheads="1"/>
            </p:cNvSpPr>
            <p:nvPr/>
          </p:nvSpPr>
          <p:spPr bwMode="auto">
            <a:xfrm>
              <a:off x="451256" y="3003550"/>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dirty="0">
                  <a:solidFill>
                    <a:schemeClr val="folHlink"/>
                  </a:solidFill>
                  <a:latin typeface="Arial" panose="020B0604020202020204" pitchFamily="34" charset="0"/>
                </a:rPr>
                <a:t>135.27.74.52</a:t>
              </a:r>
            </a:p>
          </p:txBody>
        </p:sp>
        <p:sp>
          <p:nvSpPr>
            <p:cNvPr id="101" name="Text Box 19"/>
            <p:cNvSpPr txBox="1">
              <a:spLocks noChangeArrowheads="1"/>
            </p:cNvSpPr>
            <p:nvPr/>
          </p:nvSpPr>
          <p:spPr bwMode="auto">
            <a:xfrm>
              <a:off x="7092950" y="325913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130.12.14.56</a:t>
              </a:r>
            </a:p>
          </p:txBody>
        </p:sp>
        <p:sp>
          <p:nvSpPr>
            <p:cNvPr id="102" name="Text Box 20"/>
            <p:cNvSpPr txBox="1">
              <a:spLocks noChangeArrowheads="1"/>
            </p:cNvSpPr>
            <p:nvPr/>
          </p:nvSpPr>
          <p:spPr bwMode="auto">
            <a:xfrm>
              <a:off x="7164388" y="556418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130.12.14.43</a:t>
              </a:r>
            </a:p>
          </p:txBody>
        </p:sp>
        <p:pic>
          <p:nvPicPr>
            <p:cNvPr id="103" name="Picture 2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76813" y="22352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2425" y="481012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2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8463" y="3467100"/>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2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43875" y="4995863"/>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2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58150" y="36576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Line 26"/>
            <p:cNvSpPr>
              <a:spLocks noChangeShapeType="1"/>
            </p:cNvSpPr>
            <p:nvPr/>
          </p:nvSpPr>
          <p:spPr bwMode="auto">
            <a:xfrm>
              <a:off x="3203575" y="3195638"/>
              <a:ext cx="2678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 name="Line 27"/>
            <p:cNvSpPr>
              <a:spLocks noChangeShapeType="1"/>
            </p:cNvSpPr>
            <p:nvPr/>
          </p:nvSpPr>
          <p:spPr bwMode="auto">
            <a:xfrm flipV="1">
              <a:off x="3895725"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0" name="Line 28"/>
            <p:cNvSpPr>
              <a:spLocks noChangeShapeType="1"/>
            </p:cNvSpPr>
            <p:nvPr/>
          </p:nvSpPr>
          <p:spPr bwMode="auto">
            <a:xfrm>
              <a:off x="3116263" y="5838825"/>
              <a:ext cx="3284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11" name="Picture 2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6800" y="6040438"/>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 name="Line 30"/>
            <p:cNvSpPr>
              <a:spLocks noChangeShapeType="1"/>
            </p:cNvSpPr>
            <p:nvPr/>
          </p:nvSpPr>
          <p:spPr bwMode="auto">
            <a:xfrm flipV="1">
              <a:off x="5364163"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13" name="Picture 3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72063" y="607377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4" name="Line 32"/>
            <p:cNvSpPr>
              <a:spLocks noChangeShapeType="1"/>
            </p:cNvSpPr>
            <p:nvPr/>
          </p:nvSpPr>
          <p:spPr bwMode="auto">
            <a:xfrm rot="5400000">
              <a:off x="6607175" y="4667251"/>
              <a:ext cx="218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5" name="Line 33"/>
            <p:cNvSpPr>
              <a:spLocks noChangeShapeType="1"/>
            </p:cNvSpPr>
            <p:nvPr/>
          </p:nvSpPr>
          <p:spPr bwMode="auto">
            <a:xfrm rot="16200000">
              <a:off x="299244" y="4666457"/>
              <a:ext cx="21796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16" name="Picture 3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6875" y="4429125"/>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7" name="Picture 3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70375" y="5303838"/>
              <a:ext cx="606425" cy="379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8" name="Picture 3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5138" y="4241800"/>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9" name="Group 37"/>
            <p:cNvGrpSpPr>
              <a:grpSpLocks/>
            </p:cNvGrpSpPr>
            <p:nvPr/>
          </p:nvGrpSpPr>
          <p:grpSpPr bwMode="auto">
            <a:xfrm>
              <a:off x="2771775" y="3860800"/>
              <a:ext cx="3629025" cy="1327150"/>
              <a:chOff x="912" y="768"/>
              <a:chExt cx="2400" cy="1584"/>
            </a:xfrm>
          </p:grpSpPr>
          <p:sp>
            <p:nvSpPr>
              <p:cNvPr id="133" name="Oval 38"/>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4" name="Oval 39"/>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5" name="Oval 40"/>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6" name="Oval 41"/>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7" name="Oval 42"/>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8" name="Oval 43"/>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 name="Oval 44"/>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 name="Oval 45"/>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1" name="Oval 46"/>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42" name="Group 47"/>
              <p:cNvGrpSpPr>
                <a:grpSpLocks/>
              </p:cNvGrpSpPr>
              <p:nvPr/>
            </p:nvGrpSpPr>
            <p:grpSpPr bwMode="auto">
              <a:xfrm>
                <a:off x="912" y="768"/>
                <a:ext cx="2386" cy="1553"/>
                <a:chOff x="912" y="768"/>
                <a:chExt cx="2386" cy="1553"/>
              </a:xfrm>
            </p:grpSpPr>
            <p:sp>
              <p:nvSpPr>
                <p:cNvPr id="143" name="Oval 48"/>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4" name="Oval 49"/>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5" name="Oval 50"/>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6" name="Oval 51"/>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7" name="Oval 52"/>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8" name="Oval 53"/>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9" name="Oval 54"/>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0" name="Oval 55"/>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1" name="Oval 56"/>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 name="Text Box 57"/>
            <p:cNvSpPr txBox="1">
              <a:spLocks noChangeArrowheads="1"/>
            </p:cNvSpPr>
            <p:nvPr/>
          </p:nvSpPr>
          <p:spPr bwMode="auto">
            <a:xfrm>
              <a:off x="3559175" y="4021138"/>
              <a:ext cx="2141538" cy="831850"/>
            </a:xfrm>
            <a:prstGeom prst="rect">
              <a:avLst/>
            </a:prstGeom>
            <a:solidFill>
              <a:srgbClr val="FFFFCC"/>
            </a:solidFill>
            <a:ln w="9525">
              <a:solidFill>
                <a:schemeClr val="folHlink"/>
              </a:solidFill>
              <a:miter lim="800000"/>
              <a:headEnd/>
              <a:tailEnd/>
            </a:ln>
            <a:effectLst>
              <a:outerShdw dist="45791" dir="3378596" algn="ctr" rotWithShape="0">
                <a:schemeClr val="bg2"/>
              </a:outerShdw>
            </a:effectLst>
          </p:spPr>
          <p:txBody>
            <a:bodyPr wrap="none">
              <a:spAutoFit/>
            </a:bodyPr>
            <a:lstStyle/>
            <a:p>
              <a:pPr algn="ctr"/>
              <a:r>
                <a:rPr lang="zh-CN" altLang="en-US" sz="2400" dirty="0">
                  <a:solidFill>
                    <a:schemeClr val="hlink"/>
                  </a:solidFill>
                  <a:latin typeface="Arial" panose="020B0604020202020204" pitchFamily="34" charset="0"/>
                </a:rPr>
                <a:t>组播组</a:t>
              </a:r>
            </a:p>
            <a:p>
              <a:pPr algn="ctr"/>
              <a:r>
                <a:rPr lang="en-US" altLang="zh-CN" sz="2400" dirty="0">
                  <a:solidFill>
                    <a:schemeClr val="hlink"/>
                  </a:solidFill>
                  <a:latin typeface="Arial" panose="020B0604020202020204" pitchFamily="34" charset="0"/>
                </a:rPr>
                <a:t>226.15.37.123</a:t>
              </a:r>
            </a:p>
          </p:txBody>
        </p:sp>
        <p:sp>
          <p:nvSpPr>
            <p:cNvPr id="121" name="Freeform 58"/>
            <p:cNvSpPr>
              <a:spLocks/>
            </p:cNvSpPr>
            <p:nvPr/>
          </p:nvSpPr>
          <p:spPr bwMode="auto">
            <a:xfrm>
              <a:off x="955675" y="3754438"/>
              <a:ext cx="1123950" cy="608012"/>
            </a:xfrm>
            <a:custGeom>
              <a:avLst/>
              <a:gdLst>
                <a:gd name="T0" fmla="*/ 0 w 872"/>
                <a:gd name="T1" fmla="*/ 6 h 291"/>
                <a:gd name="T2" fmla="*/ 182 w 872"/>
                <a:gd name="T3" fmla="*/ 6 h 291"/>
                <a:gd name="T4" fmla="*/ 269 w 872"/>
                <a:gd name="T5" fmla="*/ 44 h 291"/>
                <a:gd name="T6" fmla="*/ 284 w 872"/>
                <a:gd name="T7" fmla="*/ 206 h 291"/>
                <a:gd name="T8" fmla="*/ 413 w 872"/>
                <a:gd name="T9" fmla="*/ 278 h 291"/>
                <a:gd name="T10" fmla="*/ 782 w 872"/>
                <a:gd name="T11" fmla="*/ 284 h 291"/>
                <a:gd name="T12" fmla="*/ 872 w 872"/>
                <a:gd name="T13" fmla="*/ 281 h 291"/>
              </a:gdLst>
              <a:ahLst/>
              <a:cxnLst>
                <a:cxn ang="0">
                  <a:pos x="T0" y="T1"/>
                </a:cxn>
                <a:cxn ang="0">
                  <a:pos x="T2" y="T3"/>
                </a:cxn>
                <a:cxn ang="0">
                  <a:pos x="T4" y="T5"/>
                </a:cxn>
                <a:cxn ang="0">
                  <a:pos x="T6" y="T7"/>
                </a:cxn>
                <a:cxn ang="0">
                  <a:pos x="T8" y="T9"/>
                </a:cxn>
                <a:cxn ang="0">
                  <a:pos x="T10" y="T11"/>
                </a:cxn>
                <a:cxn ang="0">
                  <a:pos x="T12" y="T13"/>
                </a:cxn>
              </a:cxnLst>
              <a:rect l="0" t="0" r="r" b="b"/>
              <a:pathLst>
                <a:path w="872" h="291">
                  <a:moveTo>
                    <a:pt x="0" y="6"/>
                  </a:moveTo>
                  <a:cubicBezTo>
                    <a:pt x="68" y="6"/>
                    <a:pt x="137" y="0"/>
                    <a:pt x="182" y="6"/>
                  </a:cubicBezTo>
                  <a:cubicBezTo>
                    <a:pt x="227" y="12"/>
                    <a:pt x="252" y="11"/>
                    <a:pt x="269" y="44"/>
                  </a:cubicBezTo>
                  <a:cubicBezTo>
                    <a:pt x="286" y="77"/>
                    <a:pt x="260" y="167"/>
                    <a:pt x="284" y="206"/>
                  </a:cubicBezTo>
                  <a:cubicBezTo>
                    <a:pt x="308" y="245"/>
                    <a:pt x="330" y="265"/>
                    <a:pt x="413" y="278"/>
                  </a:cubicBezTo>
                  <a:cubicBezTo>
                    <a:pt x="496" y="291"/>
                    <a:pt x="706" y="284"/>
                    <a:pt x="782" y="284"/>
                  </a:cubicBezTo>
                  <a:cubicBezTo>
                    <a:pt x="858" y="284"/>
                    <a:pt x="853" y="282"/>
                    <a:pt x="872" y="28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 name="Freeform 59"/>
            <p:cNvSpPr>
              <a:spLocks/>
            </p:cNvSpPr>
            <p:nvPr/>
          </p:nvSpPr>
          <p:spPr bwMode="auto">
            <a:xfrm>
              <a:off x="4673600" y="2519363"/>
              <a:ext cx="730250" cy="963612"/>
            </a:xfrm>
            <a:custGeom>
              <a:avLst/>
              <a:gdLst>
                <a:gd name="T0" fmla="*/ 384 w 384"/>
                <a:gd name="T1" fmla="*/ 0 h 461"/>
                <a:gd name="T2" fmla="*/ 374 w 384"/>
                <a:gd name="T3" fmla="*/ 229 h 461"/>
                <a:gd name="T4" fmla="*/ 324 w 384"/>
                <a:gd name="T5" fmla="*/ 259 h 461"/>
                <a:gd name="T6" fmla="*/ 112 w 384"/>
                <a:gd name="T7" fmla="*/ 264 h 461"/>
                <a:gd name="T8" fmla="*/ 17 w 384"/>
                <a:gd name="T9" fmla="*/ 307 h 461"/>
                <a:gd name="T10" fmla="*/ 13 w 384"/>
                <a:gd name="T11" fmla="*/ 461 h 461"/>
              </a:gdLst>
              <a:ahLst/>
              <a:cxnLst>
                <a:cxn ang="0">
                  <a:pos x="T0" y="T1"/>
                </a:cxn>
                <a:cxn ang="0">
                  <a:pos x="T2" y="T3"/>
                </a:cxn>
                <a:cxn ang="0">
                  <a:pos x="T4" y="T5"/>
                </a:cxn>
                <a:cxn ang="0">
                  <a:pos x="T6" y="T7"/>
                </a:cxn>
                <a:cxn ang="0">
                  <a:pos x="T8" y="T9"/>
                </a:cxn>
                <a:cxn ang="0">
                  <a:pos x="T10" y="T11"/>
                </a:cxn>
              </a:cxnLst>
              <a:rect l="0" t="0" r="r" b="b"/>
              <a:pathLst>
                <a:path w="384" h="461">
                  <a:moveTo>
                    <a:pt x="384" y="0"/>
                  </a:moveTo>
                  <a:cubicBezTo>
                    <a:pt x="382" y="35"/>
                    <a:pt x="384" y="186"/>
                    <a:pt x="374" y="229"/>
                  </a:cubicBezTo>
                  <a:cubicBezTo>
                    <a:pt x="364" y="272"/>
                    <a:pt x="368" y="253"/>
                    <a:pt x="324" y="259"/>
                  </a:cubicBezTo>
                  <a:cubicBezTo>
                    <a:pt x="281" y="264"/>
                    <a:pt x="163" y="256"/>
                    <a:pt x="112" y="264"/>
                  </a:cubicBezTo>
                  <a:cubicBezTo>
                    <a:pt x="60" y="272"/>
                    <a:pt x="34" y="274"/>
                    <a:pt x="17" y="307"/>
                  </a:cubicBezTo>
                  <a:cubicBezTo>
                    <a:pt x="0" y="340"/>
                    <a:pt x="14" y="435"/>
                    <a:pt x="13" y="46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 name="Freeform 60"/>
            <p:cNvSpPr>
              <a:spLocks/>
            </p:cNvSpPr>
            <p:nvPr/>
          </p:nvSpPr>
          <p:spPr bwMode="auto">
            <a:xfrm>
              <a:off x="7177088" y="4810125"/>
              <a:ext cx="1443037" cy="563563"/>
            </a:xfrm>
            <a:custGeom>
              <a:avLst/>
              <a:gdLst>
                <a:gd name="T0" fmla="*/ 757 w 757"/>
                <a:gd name="T1" fmla="*/ 269 h 270"/>
                <a:gd name="T2" fmla="*/ 435 w 757"/>
                <a:gd name="T3" fmla="*/ 265 h 270"/>
                <a:gd name="T4" fmla="*/ 378 w 757"/>
                <a:gd name="T5" fmla="*/ 238 h 270"/>
                <a:gd name="T6" fmla="*/ 372 w 757"/>
                <a:gd name="T7" fmla="*/ 169 h 270"/>
                <a:gd name="T8" fmla="*/ 372 w 757"/>
                <a:gd name="T9" fmla="*/ 85 h 270"/>
                <a:gd name="T10" fmla="*/ 359 w 757"/>
                <a:gd name="T11" fmla="*/ 13 h 270"/>
                <a:gd name="T12" fmla="*/ 252 w 757"/>
                <a:gd name="T13" fmla="*/ 5 h 270"/>
                <a:gd name="T14" fmla="*/ 0 w 757"/>
                <a:gd name="T15" fmla="*/ 6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270">
                  <a:moveTo>
                    <a:pt x="757" y="269"/>
                  </a:moveTo>
                  <a:cubicBezTo>
                    <a:pt x="703" y="268"/>
                    <a:pt x="498" y="270"/>
                    <a:pt x="435" y="265"/>
                  </a:cubicBezTo>
                  <a:cubicBezTo>
                    <a:pt x="372" y="260"/>
                    <a:pt x="388" y="254"/>
                    <a:pt x="378" y="238"/>
                  </a:cubicBezTo>
                  <a:cubicBezTo>
                    <a:pt x="368" y="222"/>
                    <a:pt x="373" y="194"/>
                    <a:pt x="372" y="169"/>
                  </a:cubicBezTo>
                  <a:cubicBezTo>
                    <a:pt x="371" y="144"/>
                    <a:pt x="374" y="111"/>
                    <a:pt x="372" y="85"/>
                  </a:cubicBezTo>
                  <a:cubicBezTo>
                    <a:pt x="370" y="59"/>
                    <a:pt x="380" y="27"/>
                    <a:pt x="359" y="13"/>
                  </a:cubicBezTo>
                  <a:cubicBezTo>
                    <a:pt x="339" y="0"/>
                    <a:pt x="311" y="6"/>
                    <a:pt x="252" y="5"/>
                  </a:cubicBezTo>
                  <a:cubicBezTo>
                    <a:pt x="192" y="4"/>
                    <a:pt x="52" y="6"/>
                    <a:pt x="0" y="6"/>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 name="Freeform 61"/>
            <p:cNvSpPr>
              <a:spLocks/>
            </p:cNvSpPr>
            <p:nvPr/>
          </p:nvSpPr>
          <p:spPr bwMode="auto">
            <a:xfrm>
              <a:off x="7091363" y="4024313"/>
              <a:ext cx="1308100" cy="444500"/>
            </a:xfrm>
            <a:custGeom>
              <a:avLst/>
              <a:gdLst>
                <a:gd name="T0" fmla="*/ 686 w 686"/>
                <a:gd name="T1" fmla="*/ 8 h 213"/>
                <a:gd name="T2" fmla="*/ 462 w 686"/>
                <a:gd name="T3" fmla="*/ 8 h 213"/>
                <a:gd name="T4" fmla="*/ 399 w 686"/>
                <a:gd name="T5" fmla="*/ 26 h 213"/>
                <a:gd name="T6" fmla="*/ 388 w 686"/>
                <a:gd name="T7" fmla="*/ 167 h 213"/>
                <a:gd name="T8" fmla="*/ 327 w 686"/>
                <a:gd name="T9" fmla="*/ 206 h 213"/>
                <a:gd name="T10" fmla="*/ 0 w 686"/>
                <a:gd name="T11" fmla="*/ 211 h 213"/>
              </a:gdLst>
              <a:ahLst/>
              <a:cxnLst>
                <a:cxn ang="0">
                  <a:pos x="T0" y="T1"/>
                </a:cxn>
                <a:cxn ang="0">
                  <a:pos x="T2" y="T3"/>
                </a:cxn>
                <a:cxn ang="0">
                  <a:pos x="T4" y="T5"/>
                </a:cxn>
                <a:cxn ang="0">
                  <a:pos x="T6" y="T7"/>
                </a:cxn>
                <a:cxn ang="0">
                  <a:pos x="T8" y="T9"/>
                </a:cxn>
                <a:cxn ang="0">
                  <a:pos x="T10" y="T11"/>
                </a:cxn>
              </a:cxnLst>
              <a:rect l="0" t="0" r="r" b="b"/>
              <a:pathLst>
                <a:path w="686" h="213">
                  <a:moveTo>
                    <a:pt x="686" y="8"/>
                  </a:moveTo>
                  <a:cubicBezTo>
                    <a:pt x="650" y="8"/>
                    <a:pt x="510" y="5"/>
                    <a:pt x="462" y="8"/>
                  </a:cubicBezTo>
                  <a:cubicBezTo>
                    <a:pt x="414" y="11"/>
                    <a:pt x="411" y="0"/>
                    <a:pt x="399" y="26"/>
                  </a:cubicBezTo>
                  <a:cubicBezTo>
                    <a:pt x="387" y="52"/>
                    <a:pt x="400" y="137"/>
                    <a:pt x="388" y="167"/>
                  </a:cubicBezTo>
                  <a:cubicBezTo>
                    <a:pt x="376" y="197"/>
                    <a:pt x="392" y="199"/>
                    <a:pt x="327" y="206"/>
                  </a:cubicBezTo>
                  <a:cubicBezTo>
                    <a:pt x="263" y="213"/>
                    <a:pt x="68" y="210"/>
                    <a:pt x="0" y="21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 name="Text Box 62"/>
            <p:cNvSpPr txBox="1">
              <a:spLocks noChangeArrowheads="1"/>
            </p:cNvSpPr>
            <p:nvPr/>
          </p:nvSpPr>
          <p:spPr bwMode="auto">
            <a:xfrm>
              <a:off x="1331913" y="3762375"/>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6" name="Text Box 63"/>
            <p:cNvSpPr txBox="1">
              <a:spLocks noChangeArrowheads="1"/>
            </p:cNvSpPr>
            <p:nvPr/>
          </p:nvSpPr>
          <p:spPr bwMode="auto">
            <a:xfrm>
              <a:off x="6877050" y="39798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7" name="Text Box 64"/>
            <p:cNvSpPr txBox="1">
              <a:spLocks noChangeArrowheads="1"/>
            </p:cNvSpPr>
            <p:nvPr/>
          </p:nvSpPr>
          <p:spPr bwMode="auto">
            <a:xfrm>
              <a:off x="4759325" y="3116263"/>
              <a:ext cx="960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8" name="Text Box 65"/>
            <p:cNvSpPr txBox="1">
              <a:spLocks noChangeArrowheads="1"/>
            </p:cNvSpPr>
            <p:nvPr/>
          </p:nvSpPr>
          <p:spPr bwMode="auto">
            <a:xfrm>
              <a:off x="6923088" y="48434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9" name="Text Box 66"/>
            <p:cNvSpPr txBox="1">
              <a:spLocks noChangeArrowheads="1"/>
            </p:cNvSpPr>
            <p:nvPr/>
          </p:nvSpPr>
          <p:spPr bwMode="auto">
            <a:xfrm>
              <a:off x="3838575" y="325913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1</a:t>
              </a:r>
            </a:p>
          </p:txBody>
        </p:sp>
        <p:sp>
          <p:nvSpPr>
            <p:cNvPr id="130" name="Text Box 67"/>
            <p:cNvSpPr txBox="1">
              <a:spLocks noChangeArrowheads="1"/>
            </p:cNvSpPr>
            <p:nvPr/>
          </p:nvSpPr>
          <p:spPr bwMode="auto">
            <a:xfrm>
              <a:off x="3779838" y="513238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4</a:t>
              </a:r>
            </a:p>
          </p:txBody>
        </p:sp>
        <p:sp>
          <p:nvSpPr>
            <p:cNvPr id="131" name="Text Box 68"/>
            <p:cNvSpPr txBox="1">
              <a:spLocks noChangeArrowheads="1"/>
            </p:cNvSpPr>
            <p:nvPr/>
          </p:nvSpPr>
          <p:spPr bwMode="auto">
            <a:xfrm>
              <a:off x="6372225" y="4124325"/>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3</a:t>
              </a:r>
            </a:p>
          </p:txBody>
        </p:sp>
        <p:sp>
          <p:nvSpPr>
            <p:cNvPr id="132" name="Text Box 69"/>
            <p:cNvSpPr txBox="1">
              <a:spLocks noChangeArrowheads="1"/>
            </p:cNvSpPr>
            <p:nvPr/>
          </p:nvSpPr>
          <p:spPr bwMode="auto">
            <a:xfrm>
              <a:off x="2254250" y="4005263"/>
              <a:ext cx="517525" cy="458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2</a:t>
              </a:r>
            </a:p>
          </p:txBody>
        </p:sp>
      </p:grpSp>
      <p:sp>
        <p:nvSpPr>
          <p:cNvPr id="72" name="内容占位符 2">
            <a:extLst>
              <a:ext uri="{FF2B5EF4-FFF2-40B4-BE49-F238E27FC236}">
                <a16:creationId xmlns:a16="http://schemas.microsoft.com/office/drawing/2014/main" id="{CDAE0CCA-96FF-47ED-B36D-286FDB4D1762}"/>
              </a:ext>
            </a:extLst>
          </p:cNvPr>
          <p:cNvSpPr txBox="1">
            <a:spLocks/>
          </p:cNvSpPr>
          <p:nvPr/>
        </p:nvSpPr>
        <p:spPr>
          <a:xfrm>
            <a:off x="838200" y="1510758"/>
            <a:ext cx="8517158" cy="4586694"/>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zh-CN" dirty="0"/>
              <a:t>IGMP (Internet Group Management Protocol)</a:t>
            </a:r>
          </a:p>
          <a:p>
            <a:pPr marL="0" indent="0">
              <a:buNone/>
            </a:pPr>
            <a:r>
              <a:rPr lang="zh-CN" altLang="en-US" dirty="0"/>
              <a:t>   路由器获悉该网段的组播组成员</a:t>
            </a:r>
            <a:endParaRPr lang="en-US" altLang="zh-CN" dirty="0"/>
          </a:p>
        </p:txBody>
      </p:sp>
      <p:sp>
        <p:nvSpPr>
          <p:cNvPr id="73"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35529470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组播路由</a:t>
            </a: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grpSp>
        <p:nvGrpSpPr>
          <p:cNvPr id="3" name="组合 2">
            <a:extLst>
              <a:ext uri="{FF2B5EF4-FFF2-40B4-BE49-F238E27FC236}">
                <a16:creationId xmlns:a16="http://schemas.microsoft.com/office/drawing/2014/main" id="{6F5D4236-0418-4334-ADD4-A2A3C9B914BF}"/>
              </a:ext>
            </a:extLst>
          </p:cNvPr>
          <p:cNvGrpSpPr/>
          <p:nvPr/>
        </p:nvGrpSpPr>
        <p:grpSpPr>
          <a:xfrm>
            <a:off x="3992308" y="4695512"/>
            <a:ext cx="5833764" cy="1531389"/>
            <a:chOff x="5875307" y="1584979"/>
            <a:chExt cx="5833764" cy="1531389"/>
          </a:xfrm>
        </p:grpSpPr>
        <p:sp>
          <p:nvSpPr>
            <p:cNvPr id="63" name="Line 2"/>
            <p:cNvSpPr>
              <a:spLocks noChangeShapeType="1"/>
            </p:cNvSpPr>
            <p:nvPr/>
          </p:nvSpPr>
          <p:spPr bwMode="auto">
            <a:xfrm flipV="1">
              <a:off x="6705176" y="1802466"/>
              <a:ext cx="4977738"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64" name="Rectangle 3"/>
            <p:cNvSpPr>
              <a:spLocks noChangeArrowheads="1"/>
            </p:cNvSpPr>
            <p:nvPr/>
          </p:nvSpPr>
          <p:spPr bwMode="auto">
            <a:xfrm>
              <a:off x="8792670" y="1584979"/>
              <a:ext cx="815930" cy="366767"/>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nSpc>
                  <a:spcPct val="90000"/>
                </a:lnSpc>
                <a:spcBef>
                  <a:spcPct val="0"/>
                </a:spcBef>
                <a:buClrTx/>
                <a:buSzTx/>
                <a:buFontTx/>
                <a:buNone/>
              </a:pPr>
              <a:r>
                <a:rPr kumimoji="1" lang="en-US" altLang="zh-CN" sz="2000" dirty="0">
                  <a:solidFill>
                    <a:srgbClr val="5B307E"/>
                  </a:solidFill>
                  <a:latin typeface="微软雅黑" panose="020B0503020204020204" pitchFamily="34" charset="-122"/>
                  <a:ea typeface="微软雅黑" panose="020B0503020204020204" pitchFamily="34" charset="-122"/>
                </a:rPr>
                <a:t>28 </a:t>
              </a:r>
              <a:r>
                <a:rPr kumimoji="1" lang="zh-CN" altLang="en-US" sz="2000" dirty="0">
                  <a:solidFill>
                    <a:srgbClr val="5B307E"/>
                  </a:solidFill>
                  <a:latin typeface="微软雅黑" panose="020B0503020204020204" pitchFamily="34" charset="-122"/>
                  <a:ea typeface="微软雅黑" panose="020B0503020204020204" pitchFamily="34" charset="-122"/>
                </a:rPr>
                <a:t>位</a:t>
              </a:r>
            </a:p>
          </p:txBody>
        </p:sp>
        <p:sp>
          <p:nvSpPr>
            <p:cNvPr id="65" name="Line 41"/>
            <p:cNvSpPr>
              <a:spLocks noChangeShapeType="1"/>
            </p:cNvSpPr>
            <p:nvPr/>
          </p:nvSpPr>
          <p:spPr bwMode="auto">
            <a:xfrm>
              <a:off x="6705176" y="1650066"/>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66" name="Line 42"/>
            <p:cNvSpPr>
              <a:spLocks noChangeShapeType="1"/>
            </p:cNvSpPr>
            <p:nvPr/>
          </p:nvSpPr>
          <p:spPr bwMode="auto">
            <a:xfrm>
              <a:off x="11682914" y="1653241"/>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67" name="Rectangle 44"/>
            <p:cNvSpPr>
              <a:spLocks noChangeArrowheads="1"/>
            </p:cNvSpPr>
            <p:nvPr/>
          </p:nvSpPr>
          <p:spPr bwMode="auto">
            <a:xfrm>
              <a:off x="5938807" y="2144336"/>
              <a:ext cx="5770264" cy="478396"/>
            </a:xfrm>
            <a:prstGeom prst="rect">
              <a:avLst/>
            </a:prstGeom>
            <a:noFill/>
            <a:ln w="25400">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en-GB" altLang="zh-CN" sz="1800">
                <a:solidFill>
                  <a:srgbClr val="5B307E"/>
                </a:solidFill>
                <a:latin typeface="微软雅黑" panose="020B0503020204020204" pitchFamily="34" charset="-122"/>
                <a:ea typeface="微软雅黑" panose="020B0503020204020204" pitchFamily="34" charset="-122"/>
              </a:endParaRPr>
            </a:p>
          </p:txBody>
        </p:sp>
        <p:sp>
          <p:nvSpPr>
            <p:cNvPr id="68" name="Rectangle 45"/>
            <p:cNvSpPr>
              <a:spLocks noChangeArrowheads="1"/>
            </p:cNvSpPr>
            <p:nvPr/>
          </p:nvSpPr>
          <p:spPr bwMode="auto">
            <a:xfrm>
              <a:off x="7878559" y="2718823"/>
              <a:ext cx="2761976"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2000" dirty="0">
                  <a:solidFill>
                    <a:srgbClr val="5B307E"/>
                  </a:solidFill>
                  <a:latin typeface="微软雅黑" panose="020B0503020204020204" pitchFamily="34" charset="-122"/>
                  <a:ea typeface="微软雅黑" panose="020B0503020204020204" pitchFamily="34" charset="-122"/>
                </a:rPr>
                <a:t>D </a:t>
              </a:r>
              <a:r>
                <a:rPr kumimoji="1" lang="zh-CN" altLang="en-US" sz="2000" dirty="0">
                  <a:solidFill>
                    <a:srgbClr val="5B307E"/>
                  </a:solidFill>
                  <a:latin typeface="微软雅黑" panose="020B0503020204020204" pitchFamily="34" charset="-122"/>
                  <a:ea typeface="微软雅黑" panose="020B0503020204020204" pitchFamily="34" charset="-122"/>
                </a:rPr>
                <a:t>类地址（组播地址）</a:t>
              </a:r>
            </a:p>
          </p:txBody>
        </p:sp>
        <p:sp>
          <p:nvSpPr>
            <p:cNvPr id="69" name="Line 46"/>
            <p:cNvSpPr>
              <a:spLocks noChangeShapeType="1"/>
            </p:cNvSpPr>
            <p:nvPr/>
          </p:nvSpPr>
          <p:spPr bwMode="auto">
            <a:xfrm>
              <a:off x="6719857" y="2152274"/>
              <a:ext cx="0" cy="441325"/>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70" name="Rectangle 47"/>
            <p:cNvSpPr>
              <a:spLocks noChangeArrowheads="1"/>
            </p:cNvSpPr>
            <p:nvPr/>
          </p:nvSpPr>
          <p:spPr bwMode="auto">
            <a:xfrm>
              <a:off x="5875307" y="2166499"/>
              <a:ext cx="900889"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2000" dirty="0">
                  <a:solidFill>
                    <a:srgbClr val="5B307E"/>
                  </a:solidFill>
                  <a:latin typeface="微软雅黑" panose="020B0503020204020204" pitchFamily="34" charset="-122"/>
                  <a:ea typeface="微软雅黑" panose="020B0503020204020204" pitchFamily="34" charset="-122"/>
                </a:rPr>
                <a:t>1</a:t>
              </a:r>
              <a:r>
                <a:rPr kumimoji="1" lang="en-US" altLang="zh-CN" sz="1000" dirty="0">
                  <a:solidFill>
                    <a:srgbClr val="5B307E"/>
                  </a:solidFill>
                  <a:latin typeface="微软雅黑" panose="020B0503020204020204" pitchFamily="34" charset="-122"/>
                  <a:ea typeface="微软雅黑" panose="020B0503020204020204" pitchFamily="34" charset="-122"/>
                </a:rPr>
                <a:t> </a:t>
              </a:r>
              <a:r>
                <a:rPr kumimoji="1" lang="en-US" altLang="zh-CN" sz="2000" dirty="0">
                  <a:solidFill>
                    <a:srgbClr val="5B307E"/>
                  </a:solidFill>
                  <a:latin typeface="微软雅黑" panose="020B0503020204020204" pitchFamily="34" charset="-122"/>
                  <a:ea typeface="微软雅黑" panose="020B0503020204020204" pitchFamily="34" charset="-122"/>
                </a:rPr>
                <a:t>1</a:t>
              </a:r>
              <a:r>
                <a:rPr kumimoji="1" lang="en-US" altLang="zh-CN" sz="1000" dirty="0">
                  <a:solidFill>
                    <a:srgbClr val="5B307E"/>
                  </a:solidFill>
                  <a:latin typeface="微软雅黑" panose="020B0503020204020204" pitchFamily="34" charset="-122"/>
                  <a:ea typeface="微软雅黑" panose="020B0503020204020204" pitchFamily="34" charset="-122"/>
                </a:rPr>
                <a:t> </a:t>
              </a:r>
              <a:r>
                <a:rPr kumimoji="1" lang="en-US" altLang="zh-CN" sz="2000" dirty="0">
                  <a:solidFill>
                    <a:srgbClr val="5B307E"/>
                  </a:solidFill>
                  <a:latin typeface="微软雅黑" panose="020B0503020204020204" pitchFamily="34" charset="-122"/>
                  <a:ea typeface="微软雅黑" panose="020B0503020204020204" pitchFamily="34" charset="-122"/>
                </a:rPr>
                <a:t>1</a:t>
              </a:r>
              <a:r>
                <a:rPr kumimoji="1" lang="en-US" altLang="zh-CN" sz="1000" dirty="0">
                  <a:solidFill>
                    <a:srgbClr val="5B307E"/>
                  </a:solidFill>
                  <a:latin typeface="微软雅黑" panose="020B0503020204020204" pitchFamily="34" charset="-122"/>
                  <a:ea typeface="微软雅黑" panose="020B0503020204020204" pitchFamily="34" charset="-122"/>
                </a:rPr>
                <a:t> </a:t>
              </a:r>
              <a:r>
                <a:rPr kumimoji="1" lang="en-US" altLang="zh-CN" sz="2000" dirty="0">
                  <a:solidFill>
                    <a:srgbClr val="5B307E"/>
                  </a:solidFill>
                  <a:latin typeface="微软雅黑" panose="020B0503020204020204" pitchFamily="34" charset="-122"/>
                  <a:ea typeface="微软雅黑" panose="020B0503020204020204" pitchFamily="34" charset="-122"/>
                </a:rPr>
                <a:t>0</a:t>
              </a:r>
            </a:p>
          </p:txBody>
        </p:sp>
        <p:sp>
          <p:nvSpPr>
            <p:cNvPr id="71" name="Rectangle 48"/>
            <p:cNvSpPr>
              <a:spLocks noChangeArrowheads="1"/>
            </p:cNvSpPr>
            <p:nvPr/>
          </p:nvSpPr>
          <p:spPr bwMode="auto">
            <a:xfrm>
              <a:off x="8327400" y="2184786"/>
              <a:ext cx="1864294"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2000" dirty="0">
                  <a:solidFill>
                    <a:srgbClr val="5B307E"/>
                  </a:solidFill>
                  <a:latin typeface="微软雅黑" panose="020B0503020204020204" pitchFamily="34" charset="-122"/>
                  <a:ea typeface="微软雅黑" panose="020B0503020204020204" pitchFamily="34" charset="-122"/>
                </a:rPr>
                <a:t>组播地址</a:t>
              </a:r>
              <a:r>
                <a:rPr kumimoji="1" lang="en-US" altLang="zh-CN" sz="2000" dirty="0">
                  <a:solidFill>
                    <a:srgbClr val="5B307E"/>
                  </a:solidFill>
                  <a:latin typeface="微软雅黑" panose="020B0503020204020204" pitchFamily="34" charset="-122"/>
                  <a:ea typeface="微软雅黑" panose="020B0503020204020204" pitchFamily="34" charset="-122"/>
                </a:rPr>
                <a:t>BIT</a:t>
              </a:r>
              <a:r>
                <a:rPr kumimoji="1" lang="zh-CN" altLang="en-US" sz="2000" dirty="0">
                  <a:solidFill>
                    <a:srgbClr val="5B307E"/>
                  </a:solidFill>
                  <a:latin typeface="微软雅黑" panose="020B0503020204020204" pitchFamily="34" charset="-122"/>
                  <a:ea typeface="微软雅黑" panose="020B0503020204020204" pitchFamily="34" charset="-122"/>
                </a:rPr>
                <a:t>位</a:t>
              </a:r>
            </a:p>
          </p:txBody>
        </p:sp>
      </p:grpSp>
      <p:sp>
        <p:nvSpPr>
          <p:cNvPr id="73" name="内容占位符 2">
            <a:extLst>
              <a:ext uri="{FF2B5EF4-FFF2-40B4-BE49-F238E27FC236}">
                <a16:creationId xmlns:a16="http://schemas.microsoft.com/office/drawing/2014/main" id="{CDB95B9E-7505-4F17-A7F9-DDDC115D1F03}"/>
              </a:ext>
            </a:extLst>
          </p:cNvPr>
          <p:cNvSpPr txBox="1">
            <a:spLocks/>
          </p:cNvSpPr>
          <p:nvPr/>
        </p:nvSpPr>
        <p:spPr>
          <a:xfrm>
            <a:off x="838200" y="1510758"/>
            <a:ext cx="8517158" cy="4586694"/>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30000"/>
              </a:lnSpc>
            </a:pPr>
            <a:r>
              <a:rPr lang="zh-CN" altLang="en-US" sz="2400" dirty="0"/>
              <a:t>常用组播地址段：</a:t>
            </a:r>
            <a:r>
              <a:rPr lang="en-US" altLang="zh-CN" sz="2400" dirty="0"/>
              <a:t>224.0.0.0/24</a:t>
            </a:r>
          </a:p>
          <a:p>
            <a:pPr marL="0" indent="0">
              <a:lnSpc>
                <a:spcPct val="130000"/>
              </a:lnSpc>
              <a:buNone/>
            </a:pPr>
            <a:r>
              <a:rPr lang="zh-CN" altLang="en-US" sz="2000" i="1" dirty="0"/>
              <a:t>   局域网组播地址</a:t>
            </a:r>
            <a:r>
              <a:rPr lang="en-US" altLang="zh-CN" sz="2000" i="1" dirty="0"/>
              <a:t>(</a:t>
            </a:r>
            <a:r>
              <a:rPr lang="zh-CN" altLang="en-US" sz="2000" i="1" dirty="0"/>
              <a:t>一跳子网内使用</a:t>
            </a:r>
            <a:r>
              <a:rPr lang="en-US" altLang="zh-CN" sz="2000" i="1" dirty="0"/>
              <a:t>)</a:t>
            </a:r>
          </a:p>
          <a:p>
            <a:pPr lvl="1">
              <a:lnSpc>
                <a:spcPct val="130000"/>
              </a:lnSpc>
            </a:pPr>
            <a:r>
              <a:rPr lang="en-US" altLang="zh-CN" sz="2000" dirty="0"/>
              <a:t>224.0.0.1     LAN</a:t>
            </a:r>
            <a:r>
              <a:rPr lang="zh-CN" altLang="en-US" sz="2000" dirty="0"/>
              <a:t>上所有设备</a:t>
            </a:r>
            <a:endParaRPr lang="en-US" altLang="zh-CN" sz="2000" dirty="0"/>
          </a:p>
          <a:p>
            <a:pPr lvl="1">
              <a:lnSpc>
                <a:spcPct val="130000"/>
              </a:lnSpc>
            </a:pPr>
            <a:r>
              <a:rPr lang="en-US" altLang="zh-CN" sz="2000" dirty="0"/>
              <a:t>224.0.0.2     LAN</a:t>
            </a:r>
            <a:r>
              <a:rPr lang="zh-CN" altLang="en-US" sz="2000" dirty="0"/>
              <a:t>上所有路由器</a:t>
            </a:r>
            <a:endParaRPr lang="en-US" altLang="zh-CN" sz="2000" dirty="0"/>
          </a:p>
          <a:p>
            <a:pPr lvl="1">
              <a:lnSpc>
                <a:spcPct val="130000"/>
              </a:lnSpc>
            </a:pPr>
            <a:r>
              <a:rPr lang="en-US" altLang="zh-CN" sz="2000" dirty="0"/>
              <a:t>224.0.0.5     LAN</a:t>
            </a:r>
            <a:r>
              <a:rPr lang="zh-CN" altLang="en-US" sz="2000" dirty="0"/>
              <a:t>上所有</a:t>
            </a:r>
            <a:r>
              <a:rPr lang="en-US" altLang="zh-CN" sz="2000" dirty="0"/>
              <a:t>OSPF</a:t>
            </a:r>
            <a:r>
              <a:rPr lang="zh-CN" altLang="en-US" sz="2000" dirty="0"/>
              <a:t>路由器</a:t>
            </a:r>
            <a:endParaRPr lang="en-US" altLang="zh-CN" sz="2000" dirty="0"/>
          </a:p>
          <a:p>
            <a:pPr lvl="1">
              <a:lnSpc>
                <a:spcPct val="130000"/>
              </a:lnSpc>
            </a:pPr>
            <a:r>
              <a:rPr lang="en-US" altLang="zh-CN" sz="2000" dirty="0"/>
              <a:t>224.0.0.251 LAN</a:t>
            </a:r>
            <a:r>
              <a:rPr lang="zh-CN" altLang="en-US" sz="2000" dirty="0"/>
              <a:t>上所有</a:t>
            </a:r>
            <a:r>
              <a:rPr lang="en-US" altLang="zh-CN" sz="2000" dirty="0"/>
              <a:t>DNS</a:t>
            </a:r>
            <a:r>
              <a:rPr lang="zh-CN" altLang="en-US" sz="2000" dirty="0"/>
              <a:t>服务器</a:t>
            </a:r>
            <a:endParaRPr lang="en-US" altLang="zh-CN" sz="2000" dirty="0"/>
          </a:p>
        </p:txBody>
      </p:sp>
      <p:sp>
        <p:nvSpPr>
          <p:cNvPr id="16"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162731817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66</a:t>
            </a:fld>
            <a:endParaRPr kumimoji="1" lang="zh-CN" altLang="en-US" dirty="0"/>
          </a:p>
        </p:txBody>
      </p:sp>
      <p:sp>
        <p:nvSpPr>
          <p:cNvPr id="150" name="内容占位符 2">
            <a:extLst>
              <a:ext uri="{FF2B5EF4-FFF2-40B4-BE49-F238E27FC236}">
                <a16:creationId xmlns:a16="http://schemas.microsoft.com/office/drawing/2014/main" id="{735A06E7-467E-475D-B900-BF8906FD0092}"/>
              </a:ext>
            </a:extLst>
          </p:cNvPr>
          <p:cNvSpPr>
            <a:spLocks noGrp="1"/>
          </p:cNvSpPr>
          <p:nvPr>
            <p:ph idx="1"/>
          </p:nvPr>
        </p:nvSpPr>
        <p:spPr>
          <a:xfrm>
            <a:off x="838200" y="1510758"/>
            <a:ext cx="10515600" cy="4682224"/>
          </a:xfrm>
        </p:spPr>
        <p:txBody>
          <a:bodyPr>
            <a:normAutofit/>
          </a:bodyPr>
          <a:lstStyle/>
          <a:p>
            <a:pPr>
              <a:lnSpc>
                <a:spcPct val="130000"/>
              </a:lnSpc>
            </a:pPr>
            <a:r>
              <a:rPr lang="zh-CN" altLang="en-US" dirty="0"/>
              <a:t>组播实现的两个步骤：</a:t>
            </a:r>
            <a:endParaRPr lang="en-US" altLang="zh-CN" dirty="0"/>
          </a:p>
          <a:p>
            <a:pPr marL="0" indent="0">
              <a:lnSpc>
                <a:spcPct val="130000"/>
              </a:lnSpc>
              <a:buNone/>
            </a:pPr>
            <a:r>
              <a:rPr lang="zh-CN" altLang="en-US" dirty="0">
                <a:solidFill>
                  <a:srgbClr val="C00000"/>
                </a:solidFill>
              </a:rPr>
              <a:t>生成树</a:t>
            </a:r>
            <a:r>
              <a:rPr lang="en-US" altLang="zh-CN" dirty="0"/>
              <a:t>——</a:t>
            </a:r>
            <a:r>
              <a:rPr lang="zh-CN" altLang="en-US" dirty="0"/>
              <a:t>路由器与路由器之间的协议</a:t>
            </a:r>
            <a:endParaRPr lang="en-US" altLang="zh-CN" dirty="0"/>
          </a:p>
          <a:p>
            <a:pPr lvl="1">
              <a:lnSpc>
                <a:spcPct val="130000"/>
              </a:lnSpc>
            </a:pPr>
            <a:r>
              <a:rPr lang="zh-CN" altLang="en-US" dirty="0"/>
              <a:t>建立在我们已经学习过的广播路由方案基础之上</a:t>
            </a:r>
            <a:endParaRPr lang="en-US" altLang="zh-CN" dirty="0"/>
          </a:p>
          <a:p>
            <a:pPr lvl="1">
              <a:lnSpc>
                <a:spcPct val="130000"/>
              </a:lnSpc>
            </a:pPr>
            <a:r>
              <a:rPr lang="zh-CN" altLang="en-US" dirty="0"/>
              <a:t>数据包沿生成树发送</a:t>
            </a:r>
            <a:endParaRPr lang="en-US" altLang="zh-CN" dirty="0"/>
          </a:p>
          <a:p>
            <a:pPr lvl="1">
              <a:lnSpc>
                <a:spcPct val="130000"/>
              </a:lnSpc>
            </a:pPr>
            <a:r>
              <a:rPr lang="zh-CN" altLang="en-US" dirty="0"/>
              <a:t>最佳生成树的使用取决于组的密度分布</a:t>
            </a:r>
            <a:endParaRPr lang="en-US" altLang="zh-CN" dirty="0"/>
          </a:p>
          <a:p>
            <a:pPr lvl="2">
              <a:lnSpc>
                <a:spcPct val="130000"/>
              </a:lnSpc>
            </a:pPr>
            <a:r>
              <a:rPr lang="zh-CN" altLang="en-US" dirty="0"/>
              <a:t>密集分布：接受者遍布在网络的大部分区域</a:t>
            </a:r>
            <a:endParaRPr lang="en-US" altLang="zh-CN" dirty="0"/>
          </a:p>
          <a:p>
            <a:pPr lvl="2">
              <a:lnSpc>
                <a:spcPct val="130000"/>
              </a:lnSpc>
            </a:pPr>
            <a:r>
              <a:rPr lang="zh-CN" altLang="en-US" dirty="0"/>
              <a:t>稀疏分布：大部分网络区域都不属于组播组</a:t>
            </a:r>
            <a:endParaRPr lang="en-US" altLang="zh-CN" dirty="0"/>
          </a:p>
          <a:p>
            <a:pPr lvl="1">
              <a:lnSpc>
                <a:spcPct val="130000"/>
              </a:lnSpc>
            </a:pPr>
            <a:endParaRPr lang="en-US" altLang="zh-CN" dirty="0"/>
          </a:p>
          <a:p>
            <a:pPr marL="457200" lvl="1" indent="0">
              <a:lnSpc>
                <a:spcPct val="130000"/>
              </a:lnSpc>
              <a:buNone/>
            </a:pPr>
            <a:endParaRPr lang="en-US" altLang="zh-CN" dirty="0"/>
          </a:p>
        </p:txBody>
      </p:sp>
      <p:sp>
        <p:nvSpPr>
          <p:cNvPr id="6"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259585238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67</a:t>
            </a:fld>
            <a:endParaRPr kumimoji="1" lang="zh-CN" altLang="en-US" dirty="0"/>
          </a:p>
        </p:txBody>
      </p:sp>
      <p:sp>
        <p:nvSpPr>
          <p:cNvPr id="150" name="内容占位符 2">
            <a:extLst>
              <a:ext uri="{FF2B5EF4-FFF2-40B4-BE49-F238E27FC236}">
                <a16:creationId xmlns:a16="http://schemas.microsoft.com/office/drawing/2014/main" id="{735A06E7-467E-475D-B900-BF8906FD0092}"/>
              </a:ext>
            </a:extLst>
          </p:cNvPr>
          <p:cNvSpPr>
            <a:spLocks noGrp="1"/>
          </p:cNvSpPr>
          <p:nvPr>
            <p:ph idx="1"/>
          </p:nvPr>
        </p:nvSpPr>
        <p:spPr>
          <a:xfrm>
            <a:off x="838200" y="1510758"/>
            <a:ext cx="10515600" cy="4682224"/>
          </a:xfrm>
        </p:spPr>
        <p:txBody>
          <a:bodyPr>
            <a:normAutofit/>
          </a:bodyPr>
          <a:lstStyle/>
          <a:p>
            <a:pPr>
              <a:lnSpc>
                <a:spcPct val="130000"/>
              </a:lnSpc>
            </a:pPr>
            <a:r>
              <a:rPr lang="zh-CN" altLang="en-US" dirty="0">
                <a:solidFill>
                  <a:srgbClr val="C00000"/>
                </a:solidFill>
              </a:rPr>
              <a:t>密集分布，基于源点树</a:t>
            </a:r>
            <a:r>
              <a:rPr lang="zh-CN" altLang="en-US" dirty="0"/>
              <a:t>（</a:t>
            </a:r>
            <a:r>
              <a:rPr lang="en-US" altLang="zh-CN" dirty="0"/>
              <a:t>source-based trees</a:t>
            </a:r>
            <a:r>
              <a:rPr lang="zh-CN" altLang="en-US" dirty="0"/>
              <a:t>）</a:t>
            </a:r>
            <a:endParaRPr lang="en-US" altLang="zh-CN" dirty="0"/>
          </a:p>
          <a:p>
            <a:pPr lvl="1">
              <a:lnSpc>
                <a:spcPct val="130000"/>
              </a:lnSpc>
            </a:pPr>
            <a:r>
              <a:rPr lang="zh-CN" altLang="en-US" dirty="0">
                <a:latin typeface="微软雅黑" panose="020B0503020204020204" pitchFamily="34" charset="-122"/>
                <a:ea typeface="微软雅黑" panose="020B0503020204020204" pitchFamily="34" charset="-122"/>
              </a:rPr>
              <a:t>链路状态路由算法：每个路由器针对组内的每个发送者构造一颗独立树，例如多播开放最短通路优先协议（</a:t>
            </a:r>
            <a:r>
              <a:rPr lang="en-US" altLang="zh-CN" dirty="0">
                <a:latin typeface="微软雅黑" panose="020B0503020204020204" pitchFamily="34" charset="-122"/>
                <a:ea typeface="微软雅黑" panose="020B0503020204020204" pitchFamily="34" charset="-122"/>
              </a:rPr>
              <a:t>Multicast Open Shortest Path First</a:t>
            </a:r>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MOSPF</a:t>
            </a:r>
            <a:r>
              <a:rPr lang="zh-CN" altLang="en-US" dirty="0">
                <a:latin typeface="微软雅黑" panose="020B0503020204020204" pitchFamily="34" charset="-122"/>
                <a:ea typeface="微软雅黑" panose="020B0503020204020204" pitchFamily="34" charset="-122"/>
              </a:rPr>
              <a:t>）</a:t>
            </a:r>
            <a:endParaRPr lang="en-US" altLang="zh-CN" dirty="0">
              <a:latin typeface="微软雅黑" panose="020B0503020204020204" pitchFamily="34" charset="-122"/>
              <a:ea typeface="微软雅黑" panose="020B0503020204020204" pitchFamily="34" charset="-122"/>
            </a:endParaRPr>
          </a:p>
          <a:p>
            <a:pPr lvl="1">
              <a:lnSpc>
                <a:spcPct val="130000"/>
              </a:lnSpc>
            </a:pPr>
            <a:r>
              <a:rPr lang="zh-CN" altLang="en-US" dirty="0">
                <a:latin typeface="微软雅黑" panose="020B0503020204020204" pitchFamily="34" charset="-122"/>
                <a:ea typeface="微软雅黑" panose="020B0503020204020204" pitchFamily="34" charset="-122"/>
              </a:rPr>
              <a:t>距离向量路由算法：逆向路径转发，修剪没有组成员的路由器，</a:t>
            </a:r>
            <a:r>
              <a:rPr lang="zh-CN" altLang="en-US" dirty="0"/>
              <a:t>例如距离向量多播路由协议（</a:t>
            </a:r>
            <a:r>
              <a:rPr lang="en-US" altLang="zh-CN" dirty="0" err="1"/>
              <a:t>Distanse</a:t>
            </a:r>
            <a:r>
              <a:rPr lang="en-US" altLang="zh-CN" dirty="0"/>
              <a:t> Vector Multicast Routing Protocol, DVMRP</a:t>
            </a:r>
            <a:r>
              <a:rPr lang="zh-CN" altLang="en-US" dirty="0"/>
              <a:t>）、协议无关多播</a:t>
            </a:r>
            <a:r>
              <a:rPr lang="en-US" altLang="zh-CN" dirty="0"/>
              <a:t>-</a:t>
            </a:r>
            <a:r>
              <a:rPr lang="zh-CN" altLang="en-US" dirty="0"/>
              <a:t>稠密模式（</a:t>
            </a:r>
            <a:r>
              <a:rPr lang="en-US" altLang="zh-CN" dirty="0"/>
              <a:t>Protocol Independent Multicast - Dense Mode, PIM-DM</a:t>
            </a:r>
            <a:r>
              <a:rPr lang="zh-CN" altLang="en-US" dirty="0"/>
              <a:t>）</a:t>
            </a:r>
            <a:endParaRPr lang="en-US" altLang="zh-CN" dirty="0"/>
          </a:p>
        </p:txBody>
      </p:sp>
      <p:sp>
        <p:nvSpPr>
          <p:cNvPr id="3" name="文本框 2">
            <a:extLst>
              <a:ext uri="{FF2B5EF4-FFF2-40B4-BE49-F238E27FC236}">
                <a16:creationId xmlns:a16="http://schemas.microsoft.com/office/drawing/2014/main" id="{7E512B55-F956-47F5-82CB-919E05CEE5B5}"/>
              </a:ext>
            </a:extLst>
          </p:cNvPr>
          <p:cNvSpPr txBox="1"/>
          <p:nvPr/>
        </p:nvSpPr>
        <p:spPr>
          <a:xfrm>
            <a:off x="1731957" y="5799664"/>
            <a:ext cx="9131026" cy="400110"/>
          </a:xfrm>
          <a:prstGeom prst="rect">
            <a:avLst/>
          </a:prstGeom>
          <a:noFill/>
          <a:ln>
            <a:solidFill>
              <a:srgbClr val="5B307E"/>
            </a:solidFill>
          </a:ln>
        </p:spPr>
        <p:txBody>
          <a:bodyPr wrap="none" rtlCol="0">
            <a:spAutoFit/>
          </a:bodyPr>
          <a:lstStyle/>
          <a:p>
            <a:pPr algn="ctr"/>
            <a:r>
              <a:rPr lang="zh-CN" altLang="en-US" sz="2000" dirty="0">
                <a:solidFill>
                  <a:srgbClr val="5B307E"/>
                </a:solidFill>
                <a:latin typeface="微软雅黑" panose="020B0503020204020204" pitchFamily="34" charset="-122"/>
                <a:ea typeface="微软雅黑" panose="020B0503020204020204" pitchFamily="34" charset="-122"/>
              </a:rPr>
              <a:t>协议无关指的是与单播路由协议无关，即</a:t>
            </a:r>
            <a:r>
              <a:rPr lang="en-US" altLang="zh-CN" sz="2000" dirty="0">
                <a:solidFill>
                  <a:srgbClr val="5B307E"/>
                </a:solidFill>
                <a:latin typeface="微软雅黑" panose="020B0503020204020204" pitchFamily="34" charset="-122"/>
                <a:ea typeface="微软雅黑" panose="020B0503020204020204" pitchFamily="34" charset="-122"/>
              </a:rPr>
              <a:t>PIM</a:t>
            </a:r>
            <a:r>
              <a:rPr lang="zh-CN" altLang="en-US" sz="2000" dirty="0">
                <a:solidFill>
                  <a:srgbClr val="5B307E"/>
                </a:solidFill>
                <a:latin typeface="微软雅黑" panose="020B0503020204020204" pitchFamily="34" charset="-122"/>
                <a:ea typeface="微软雅黑" panose="020B0503020204020204" pitchFamily="34" charset="-122"/>
              </a:rPr>
              <a:t>不需要维护专门的单播路由信息</a:t>
            </a:r>
          </a:p>
        </p:txBody>
      </p:sp>
      <p:sp>
        <p:nvSpPr>
          <p:cNvPr id="7"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166393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50">
                                            <p:txEl>
                                              <p:pRg st="0" end="0"/>
                                            </p:txEl>
                                          </p:spTgt>
                                        </p:tgtEl>
                                        <p:attrNameLst>
                                          <p:attrName>style.visibility</p:attrName>
                                        </p:attrNameLst>
                                      </p:cBhvr>
                                      <p:to>
                                        <p:strVal val="visible"/>
                                      </p:to>
                                    </p:set>
                                    <p:animEffect transition="in" filter="blinds(horizontal)">
                                      <p:cBhvr>
                                        <p:cTn id="7" dur="500"/>
                                        <p:tgtEl>
                                          <p:spTgt spid="150">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150">
                                            <p:txEl>
                                              <p:pRg st="1" end="1"/>
                                            </p:txEl>
                                          </p:spTgt>
                                        </p:tgtEl>
                                        <p:attrNameLst>
                                          <p:attrName>style.visibility</p:attrName>
                                        </p:attrNameLst>
                                      </p:cBhvr>
                                      <p:to>
                                        <p:strVal val="visible"/>
                                      </p:to>
                                    </p:set>
                                    <p:animEffect transition="in" filter="blinds(horizontal)">
                                      <p:cBhvr>
                                        <p:cTn id="10" dur="500"/>
                                        <p:tgtEl>
                                          <p:spTgt spid="150">
                                            <p:txEl>
                                              <p:pRg st="1" end="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150">
                                            <p:txEl>
                                              <p:pRg st="2" end="2"/>
                                            </p:txEl>
                                          </p:spTgt>
                                        </p:tgtEl>
                                        <p:attrNameLst>
                                          <p:attrName>style.visibility</p:attrName>
                                        </p:attrNameLst>
                                      </p:cBhvr>
                                      <p:to>
                                        <p:strVal val="visible"/>
                                      </p:to>
                                    </p:set>
                                    <p:animEffect transition="in" filter="blinds(horizontal)">
                                      <p:cBhvr>
                                        <p:cTn id="13" dur="500"/>
                                        <p:tgtEl>
                                          <p:spTgt spid="15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68</a:t>
            </a:fld>
            <a:endParaRPr kumimoji="1" lang="zh-CN" altLang="en-US" dirty="0"/>
          </a:p>
        </p:txBody>
      </p:sp>
      <p:grpSp>
        <p:nvGrpSpPr>
          <p:cNvPr id="12" name="组合 11">
            <a:extLst>
              <a:ext uri="{FF2B5EF4-FFF2-40B4-BE49-F238E27FC236}">
                <a16:creationId xmlns:a16="http://schemas.microsoft.com/office/drawing/2014/main" id="{5874D21F-A63A-48C4-869D-5AD1403E4761}"/>
              </a:ext>
            </a:extLst>
          </p:cNvPr>
          <p:cNvGrpSpPr/>
          <p:nvPr/>
        </p:nvGrpSpPr>
        <p:grpSpPr>
          <a:xfrm>
            <a:off x="1666067" y="3267740"/>
            <a:ext cx="4309258" cy="2790639"/>
            <a:chOff x="268870" y="1981549"/>
            <a:chExt cx="5503120" cy="3784058"/>
          </a:xfrm>
        </p:grpSpPr>
        <p:cxnSp>
          <p:nvCxnSpPr>
            <p:cNvPr id="153" name="直接连接符 152">
              <a:extLst>
                <a:ext uri="{FF2B5EF4-FFF2-40B4-BE49-F238E27FC236}">
                  <a16:creationId xmlns:a16="http://schemas.microsoft.com/office/drawing/2014/main" id="{EE5FE0AA-D1AD-4188-976B-FBCC26020B72}"/>
                </a:ext>
              </a:extLst>
            </p:cNvPr>
            <p:cNvCxnSpPr>
              <a:cxnSpLocks/>
            </p:cNvCxnSpPr>
            <p:nvPr/>
          </p:nvCxnSpPr>
          <p:spPr>
            <a:xfrm flipH="1" flipV="1">
              <a:off x="1695314" y="4328096"/>
              <a:ext cx="1314858" cy="110249"/>
            </a:xfrm>
            <a:prstGeom prst="line">
              <a:avLst/>
            </a:prstGeom>
            <a:ln w="28575"/>
          </p:spPr>
          <p:style>
            <a:lnRef idx="1">
              <a:schemeClr val="dk1"/>
            </a:lnRef>
            <a:fillRef idx="0">
              <a:schemeClr val="dk1"/>
            </a:fillRef>
            <a:effectRef idx="0">
              <a:schemeClr val="dk1"/>
            </a:effectRef>
            <a:fontRef idx="minor">
              <a:schemeClr val="tx1"/>
            </a:fontRef>
          </p:style>
        </p:cxnSp>
        <p:cxnSp>
          <p:nvCxnSpPr>
            <p:cNvPr id="154" name="直接连接符 153">
              <a:extLst>
                <a:ext uri="{FF2B5EF4-FFF2-40B4-BE49-F238E27FC236}">
                  <a16:creationId xmlns:a16="http://schemas.microsoft.com/office/drawing/2014/main" id="{E5D7AF46-E3CF-46A1-8EA5-B7E677DBE94F}"/>
                </a:ext>
              </a:extLst>
            </p:cNvPr>
            <p:cNvCxnSpPr>
              <a:cxnSpLocks/>
            </p:cNvCxnSpPr>
            <p:nvPr/>
          </p:nvCxnSpPr>
          <p:spPr>
            <a:xfrm flipH="1" flipV="1">
              <a:off x="3181325" y="3537511"/>
              <a:ext cx="1556879" cy="714431"/>
            </a:xfrm>
            <a:prstGeom prst="line">
              <a:avLst/>
            </a:prstGeom>
            <a:ln w="28575"/>
          </p:spPr>
          <p:style>
            <a:lnRef idx="1">
              <a:schemeClr val="dk1"/>
            </a:lnRef>
            <a:fillRef idx="0">
              <a:schemeClr val="dk1"/>
            </a:fillRef>
            <a:effectRef idx="0">
              <a:schemeClr val="dk1"/>
            </a:effectRef>
            <a:fontRef idx="minor">
              <a:schemeClr val="tx1"/>
            </a:fontRef>
          </p:style>
        </p:cxnSp>
        <p:cxnSp>
          <p:nvCxnSpPr>
            <p:cNvPr id="116" name="直接连接符 115">
              <a:extLst>
                <a:ext uri="{FF2B5EF4-FFF2-40B4-BE49-F238E27FC236}">
                  <a16:creationId xmlns:a16="http://schemas.microsoft.com/office/drawing/2014/main" id="{1A999A49-8B09-43C7-9FAE-D3E0A260D1B3}"/>
                </a:ext>
              </a:extLst>
            </p:cNvPr>
            <p:cNvCxnSpPr>
              <a:cxnSpLocks/>
            </p:cNvCxnSpPr>
            <p:nvPr/>
          </p:nvCxnSpPr>
          <p:spPr>
            <a:xfrm flipH="1">
              <a:off x="3164640" y="2639459"/>
              <a:ext cx="1178995" cy="956131"/>
            </a:xfrm>
            <a:prstGeom prst="line">
              <a:avLst/>
            </a:prstGeom>
            <a:ln w="28575"/>
          </p:spPr>
          <p:style>
            <a:lnRef idx="1">
              <a:schemeClr val="dk1"/>
            </a:lnRef>
            <a:fillRef idx="0">
              <a:schemeClr val="dk1"/>
            </a:fillRef>
            <a:effectRef idx="0">
              <a:schemeClr val="dk1"/>
            </a:effectRef>
            <a:fontRef idx="minor">
              <a:schemeClr val="tx1"/>
            </a:fontRef>
          </p:style>
        </p:cxnSp>
        <p:grpSp>
          <p:nvGrpSpPr>
            <p:cNvPr id="64" name="组合 63">
              <a:extLst>
                <a:ext uri="{FF2B5EF4-FFF2-40B4-BE49-F238E27FC236}">
                  <a16:creationId xmlns:a16="http://schemas.microsoft.com/office/drawing/2014/main" id="{369E9DFE-12C8-4A80-AA01-62AF1181B3AF}"/>
                </a:ext>
              </a:extLst>
            </p:cNvPr>
            <p:cNvGrpSpPr/>
            <p:nvPr/>
          </p:nvGrpSpPr>
          <p:grpSpPr>
            <a:xfrm>
              <a:off x="268870" y="2270777"/>
              <a:ext cx="5503120" cy="3494830"/>
              <a:chOff x="5139980" y="1771298"/>
              <a:chExt cx="6699289" cy="4326157"/>
            </a:xfrm>
          </p:grpSpPr>
          <p:pic>
            <p:nvPicPr>
              <p:cNvPr id="67" name="Picture 14">
                <a:extLst>
                  <a:ext uri="{FF2B5EF4-FFF2-40B4-BE49-F238E27FC236}">
                    <a16:creationId xmlns:a16="http://schemas.microsoft.com/office/drawing/2014/main" id="{411BAD1E-400A-4643-A4E0-B75E799F0A5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0"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14">
                <a:extLst>
                  <a:ext uri="{FF2B5EF4-FFF2-40B4-BE49-F238E27FC236}">
                    <a16:creationId xmlns:a16="http://schemas.microsoft.com/office/drawing/2014/main" id="{660C3BFD-BEF1-4D14-A8D3-2722ED927E9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38" y="4601387"/>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id="{F5A1AA10-AF75-4AAB-85DD-E45A17A190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895"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70" name="直接连接符 69">
                <a:extLst>
                  <a:ext uri="{FF2B5EF4-FFF2-40B4-BE49-F238E27FC236}">
                    <a16:creationId xmlns:a16="http://schemas.microsoft.com/office/drawing/2014/main" id="{BFD21EAD-6AD1-43A5-8FD0-35B68CCDAEE1}"/>
                  </a:ext>
                </a:extLst>
              </p:cNvPr>
              <p:cNvCxnSpPr>
                <a:cxnSpLocks/>
              </p:cNvCxnSpPr>
              <p:nvPr/>
            </p:nvCxnSpPr>
            <p:spPr>
              <a:xfrm>
                <a:off x="7614822" y="1771298"/>
                <a:ext cx="864832" cy="1451299"/>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1" name="直接连接符 70">
                <a:extLst>
                  <a:ext uri="{FF2B5EF4-FFF2-40B4-BE49-F238E27FC236}">
                    <a16:creationId xmlns:a16="http://schemas.microsoft.com/office/drawing/2014/main" id="{ECEE0625-8E98-4AA8-9028-02210CA1298F}"/>
                  </a:ext>
                </a:extLst>
              </p:cNvPr>
              <p:cNvCxnSpPr>
                <a:cxnSpLocks/>
              </p:cNvCxnSpPr>
              <p:nvPr/>
            </p:nvCxnSpPr>
            <p:spPr>
              <a:xfrm flipH="1">
                <a:off x="6800291" y="3374996"/>
                <a:ext cx="1629063" cy="841900"/>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2" name="直接连接符 71">
                <a:extLst>
                  <a:ext uri="{FF2B5EF4-FFF2-40B4-BE49-F238E27FC236}">
                    <a16:creationId xmlns:a16="http://schemas.microsoft.com/office/drawing/2014/main" id="{2D7078B5-7D1E-4FBB-A4C6-5BD672FF8EA6}"/>
                  </a:ext>
                </a:extLst>
              </p:cNvPr>
              <p:cNvCxnSpPr/>
              <p:nvPr/>
            </p:nvCxnSpPr>
            <p:spPr>
              <a:xfrm>
                <a:off x="8610595" y="3374996"/>
                <a:ext cx="0" cy="1083077"/>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pic>
            <p:nvPicPr>
              <p:cNvPr id="73" name="Picture 57" descr="通用路由器">
                <a:extLst>
                  <a:ext uri="{FF2B5EF4-FFF2-40B4-BE49-F238E27FC236}">
                    <a16:creationId xmlns:a16="http://schemas.microsoft.com/office/drawing/2014/main" id="{A325E241-485B-4FAA-A11A-6681C64D13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3084443"/>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57" descr="通用路由器">
                <a:extLst>
                  <a:ext uri="{FF2B5EF4-FFF2-40B4-BE49-F238E27FC236}">
                    <a16:creationId xmlns:a16="http://schemas.microsoft.com/office/drawing/2014/main" id="{7EB21085-30B5-4DEF-A4B4-4E04222D83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1"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57" descr="通用路由器">
                <a:extLst>
                  <a:ext uri="{FF2B5EF4-FFF2-40B4-BE49-F238E27FC236}">
                    <a16:creationId xmlns:a16="http://schemas.microsoft.com/office/drawing/2014/main" id="{D4A07DA5-F8F9-4EA4-9A36-5C1D9C6CA4A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4313438"/>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57" descr="通用路由器">
                <a:extLst>
                  <a:ext uri="{FF2B5EF4-FFF2-40B4-BE49-F238E27FC236}">
                    <a16:creationId xmlns:a16="http://schemas.microsoft.com/office/drawing/2014/main" id="{AC98E90C-E2A6-4751-8822-9ABD87AFF7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04"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a:extLst>
                  <a:ext uri="{FF2B5EF4-FFF2-40B4-BE49-F238E27FC236}">
                    <a16:creationId xmlns:a16="http://schemas.microsoft.com/office/drawing/2014/main" id="{B5A9CF44-911C-445B-899B-B09E64C45AD0}"/>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18642" y="4621346"/>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79" name="文本框 78">
                <a:extLst>
                  <a:ext uri="{FF2B5EF4-FFF2-40B4-BE49-F238E27FC236}">
                    <a16:creationId xmlns:a16="http://schemas.microsoft.com/office/drawing/2014/main" id="{757EF9F3-7D77-4A9D-8708-F00250A8D866}"/>
                  </a:ext>
                </a:extLst>
              </p:cNvPr>
              <p:cNvSpPr txBox="1"/>
              <p:nvPr/>
            </p:nvSpPr>
            <p:spPr>
              <a:xfrm>
                <a:off x="6876477" y="2429999"/>
                <a:ext cx="1304251"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Server1</a:t>
                </a:r>
                <a:endParaRPr lang="zh-CN" altLang="en-US" sz="1400" dirty="0">
                  <a:latin typeface="微软雅黑" panose="020B0503020204020204" pitchFamily="34" charset="-122"/>
                  <a:ea typeface="微软雅黑" panose="020B0503020204020204" pitchFamily="34" charset="-122"/>
                </a:endParaRPr>
              </a:p>
            </p:txBody>
          </p:sp>
          <p:sp>
            <p:nvSpPr>
              <p:cNvPr id="80" name="文本框 79">
                <a:extLst>
                  <a:ext uri="{FF2B5EF4-FFF2-40B4-BE49-F238E27FC236}">
                    <a16:creationId xmlns:a16="http://schemas.microsoft.com/office/drawing/2014/main" id="{6B44FBFC-CB5F-4858-A01B-0721AA36B6FE}"/>
                  </a:ext>
                </a:extLst>
              </p:cNvPr>
              <p:cNvSpPr txBox="1"/>
              <p:nvPr/>
            </p:nvSpPr>
            <p:spPr>
              <a:xfrm>
                <a:off x="8335894" y="2642996"/>
                <a:ext cx="633486"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R1</a:t>
                </a:r>
                <a:endParaRPr lang="zh-CN" altLang="en-US" sz="1400" dirty="0">
                  <a:latin typeface="微软雅黑" panose="020B0503020204020204" pitchFamily="34" charset="-122"/>
                  <a:ea typeface="微软雅黑" panose="020B0503020204020204" pitchFamily="34" charset="-122"/>
                </a:endParaRPr>
              </a:p>
            </p:txBody>
          </p:sp>
          <p:sp>
            <p:nvSpPr>
              <p:cNvPr id="81" name="文本框 80">
                <a:extLst>
                  <a:ext uri="{FF2B5EF4-FFF2-40B4-BE49-F238E27FC236}">
                    <a16:creationId xmlns:a16="http://schemas.microsoft.com/office/drawing/2014/main" id="{F643F6A8-2F74-4047-8C73-832BD978CB36}"/>
                  </a:ext>
                </a:extLst>
              </p:cNvPr>
              <p:cNvSpPr txBox="1"/>
              <p:nvPr/>
            </p:nvSpPr>
            <p:spPr>
              <a:xfrm>
                <a:off x="5957509" y="3852733"/>
                <a:ext cx="633486"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R2</a:t>
                </a:r>
                <a:endParaRPr lang="zh-CN" altLang="en-US" sz="1400" dirty="0">
                  <a:latin typeface="微软雅黑" panose="020B0503020204020204" pitchFamily="34" charset="-122"/>
                  <a:ea typeface="微软雅黑" panose="020B0503020204020204" pitchFamily="34" charset="-122"/>
                </a:endParaRPr>
              </a:p>
            </p:txBody>
          </p:sp>
          <p:sp>
            <p:nvSpPr>
              <p:cNvPr id="82" name="文本框 81">
                <a:extLst>
                  <a:ext uri="{FF2B5EF4-FFF2-40B4-BE49-F238E27FC236}">
                    <a16:creationId xmlns:a16="http://schemas.microsoft.com/office/drawing/2014/main" id="{BB1F590F-CE9D-4D74-8A8F-6C39362FA66C}"/>
                  </a:ext>
                </a:extLst>
              </p:cNvPr>
              <p:cNvSpPr txBox="1"/>
              <p:nvPr/>
            </p:nvSpPr>
            <p:spPr>
              <a:xfrm>
                <a:off x="7679885" y="4339159"/>
                <a:ext cx="764849" cy="516614"/>
              </a:xfrm>
              <a:prstGeom prst="rect">
                <a:avLst/>
              </a:prstGeom>
              <a:noFill/>
            </p:spPr>
            <p:txBody>
              <a:bodyPr wrap="square" rtlCol="0">
                <a:spAutoFit/>
              </a:bodyPr>
              <a:lstStyle/>
              <a:p>
                <a:r>
                  <a:rPr lang="en-US" altLang="zh-CN" sz="1400" dirty="0">
                    <a:latin typeface="微软雅黑" panose="020B0503020204020204" pitchFamily="34" charset="-122"/>
                    <a:ea typeface="微软雅黑" panose="020B0503020204020204" pitchFamily="34" charset="-122"/>
                  </a:rPr>
                  <a:t>R3</a:t>
                </a:r>
                <a:endParaRPr lang="zh-CN" altLang="en-US" sz="1400" dirty="0">
                  <a:latin typeface="微软雅黑" panose="020B0503020204020204" pitchFamily="34" charset="-122"/>
                  <a:ea typeface="微软雅黑" panose="020B0503020204020204" pitchFamily="34" charset="-122"/>
                </a:endParaRPr>
              </a:p>
            </p:txBody>
          </p:sp>
          <p:sp>
            <p:nvSpPr>
              <p:cNvPr id="83" name="文本框 82">
                <a:extLst>
                  <a:ext uri="{FF2B5EF4-FFF2-40B4-BE49-F238E27FC236}">
                    <a16:creationId xmlns:a16="http://schemas.microsoft.com/office/drawing/2014/main" id="{D09F67AC-1287-478C-95DF-D285A18BA09F}"/>
                  </a:ext>
                </a:extLst>
              </p:cNvPr>
              <p:cNvSpPr txBox="1"/>
              <p:nvPr/>
            </p:nvSpPr>
            <p:spPr>
              <a:xfrm>
                <a:off x="9757253" y="4071344"/>
                <a:ext cx="633486"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R4</a:t>
                </a:r>
                <a:endParaRPr lang="zh-CN" altLang="en-US" sz="1400" dirty="0">
                  <a:latin typeface="微软雅黑" panose="020B0503020204020204" pitchFamily="34" charset="-122"/>
                  <a:ea typeface="微软雅黑" panose="020B0503020204020204" pitchFamily="34" charset="-122"/>
                </a:endParaRPr>
              </a:p>
            </p:txBody>
          </p:sp>
          <p:pic>
            <p:nvPicPr>
              <p:cNvPr id="84" name="Picture 9" descr="服务器终端">
                <a:extLst>
                  <a:ext uri="{FF2B5EF4-FFF2-40B4-BE49-F238E27FC236}">
                    <a16:creationId xmlns:a16="http://schemas.microsoft.com/office/drawing/2014/main" id="{737246D3-AEB0-42BB-9947-277B8966106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61253" y="462459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9" descr="服务器终端">
                <a:extLst>
                  <a:ext uri="{FF2B5EF4-FFF2-40B4-BE49-F238E27FC236}">
                    <a16:creationId xmlns:a16="http://schemas.microsoft.com/office/drawing/2014/main" id="{C2B3E105-BCE6-443A-9C01-D051A0AF19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03865" y="466765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9" descr="服务器终端">
                <a:extLst>
                  <a:ext uri="{FF2B5EF4-FFF2-40B4-BE49-F238E27FC236}">
                    <a16:creationId xmlns:a16="http://schemas.microsoft.com/office/drawing/2014/main" id="{C81E6364-6CA7-4B19-BDC2-B7A92BF9E8B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3971" y="507044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9" descr="服务器终端">
                <a:extLst>
                  <a:ext uri="{FF2B5EF4-FFF2-40B4-BE49-F238E27FC236}">
                    <a16:creationId xmlns:a16="http://schemas.microsoft.com/office/drawing/2014/main" id="{E5659B1F-7164-404F-B127-F60DDE21C4C2}"/>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937212" y="513834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9" descr="服务器终端">
                <a:extLst>
                  <a:ext uri="{FF2B5EF4-FFF2-40B4-BE49-F238E27FC236}">
                    <a16:creationId xmlns:a16="http://schemas.microsoft.com/office/drawing/2014/main" id="{481DB6F9-42AF-470A-934A-8E814E993175}"/>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14070" y="491421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9" descr="服务器终端">
                <a:extLst>
                  <a:ext uri="{FF2B5EF4-FFF2-40B4-BE49-F238E27FC236}">
                    <a16:creationId xmlns:a16="http://schemas.microsoft.com/office/drawing/2014/main" id="{A8C5D07E-E60D-42CB-9E16-266AD47F3186}"/>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47311" y="498210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9" descr="服务器终端">
                <a:extLst>
                  <a:ext uri="{FF2B5EF4-FFF2-40B4-BE49-F238E27FC236}">
                    <a16:creationId xmlns:a16="http://schemas.microsoft.com/office/drawing/2014/main" id="{1E6F8B2D-46A2-4B0A-8188-7103A9EAB9C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3770" y="535511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9" descr="服务器终端">
                <a:extLst>
                  <a:ext uri="{FF2B5EF4-FFF2-40B4-BE49-F238E27FC236}">
                    <a16:creationId xmlns:a16="http://schemas.microsoft.com/office/drawing/2014/main" id="{AAEF01EB-4AE6-4D9C-996D-079E3029D89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7010" y="542300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9" descr="服务器终端">
                <a:extLst>
                  <a:ext uri="{FF2B5EF4-FFF2-40B4-BE49-F238E27FC236}">
                    <a16:creationId xmlns:a16="http://schemas.microsoft.com/office/drawing/2014/main" id="{5FB7DD8E-D08C-438D-986D-D2C3874C8A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9546" y="4985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9" descr="服务器终端">
                <a:extLst>
                  <a:ext uri="{FF2B5EF4-FFF2-40B4-BE49-F238E27FC236}">
                    <a16:creationId xmlns:a16="http://schemas.microsoft.com/office/drawing/2014/main" id="{42835B8D-471A-4FAB-913F-172DC0F1E8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2787" y="505379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9" descr="服务器终端">
                <a:extLst>
                  <a:ext uri="{FF2B5EF4-FFF2-40B4-BE49-F238E27FC236}">
                    <a16:creationId xmlns:a16="http://schemas.microsoft.com/office/drawing/2014/main" id="{83A0E727-77A3-4D06-9D1C-D6CB5BE36EA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0729" y="552296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9" descr="服务器终端">
                <a:extLst>
                  <a:ext uri="{FF2B5EF4-FFF2-40B4-BE49-F238E27FC236}">
                    <a16:creationId xmlns:a16="http://schemas.microsoft.com/office/drawing/2014/main" id="{87DD65DB-D5E2-4BAC-ADE3-AB87EFBFC2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70590" y="463281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6" name="Picture 9" descr="服务器终端">
                <a:extLst>
                  <a:ext uri="{FF2B5EF4-FFF2-40B4-BE49-F238E27FC236}">
                    <a16:creationId xmlns:a16="http://schemas.microsoft.com/office/drawing/2014/main" id="{FF575A4A-9B89-446B-BD01-E124D7159D3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53530" y="51416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7" name="Picture 9" descr="服务器终端">
                <a:extLst>
                  <a:ext uri="{FF2B5EF4-FFF2-40B4-BE49-F238E27FC236}">
                    <a16:creationId xmlns:a16="http://schemas.microsoft.com/office/drawing/2014/main" id="{0D2A5388-8C66-4C09-B2EE-3FDD02ABA5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99306" y="477239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8" name="Picture 9" descr="服务器终端">
                <a:extLst>
                  <a:ext uri="{FF2B5EF4-FFF2-40B4-BE49-F238E27FC236}">
                    <a16:creationId xmlns:a16="http://schemas.microsoft.com/office/drawing/2014/main" id="{CE455742-4C88-4C86-9D5E-A2990964137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248" y="524156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9" name="Picture 9" descr="服务器终端">
                <a:extLst>
                  <a:ext uri="{FF2B5EF4-FFF2-40B4-BE49-F238E27FC236}">
                    <a16:creationId xmlns:a16="http://schemas.microsoft.com/office/drawing/2014/main" id="{FCBEC34D-2928-4FA5-95EF-8F7E0EBB053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17691" y="515838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0" name="Picture 9" descr="服务器终端">
                <a:extLst>
                  <a:ext uri="{FF2B5EF4-FFF2-40B4-BE49-F238E27FC236}">
                    <a16:creationId xmlns:a16="http://schemas.microsoft.com/office/drawing/2014/main" id="{35604973-30FD-4185-84E1-01A62899D7B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660092" y="471404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1" name="Picture 9" descr="服务器终端">
                <a:extLst>
                  <a:ext uri="{FF2B5EF4-FFF2-40B4-BE49-F238E27FC236}">
                    <a16:creationId xmlns:a16="http://schemas.microsoft.com/office/drawing/2014/main" id="{BA828490-1586-47CB-AB73-D46C8EB54C2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9384" y="54782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2" name="Picture 9" descr="服务器终端">
                <a:extLst>
                  <a:ext uri="{FF2B5EF4-FFF2-40B4-BE49-F238E27FC236}">
                    <a16:creationId xmlns:a16="http://schemas.microsoft.com/office/drawing/2014/main" id="{2D63DA56-100B-42AC-8E34-9EC2B050263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18329" y="466765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3" name="Picture 9" descr="服务器终端">
                <a:extLst>
                  <a:ext uri="{FF2B5EF4-FFF2-40B4-BE49-F238E27FC236}">
                    <a16:creationId xmlns:a16="http://schemas.microsoft.com/office/drawing/2014/main" id="{123CE692-BB38-4D28-AB24-CE0D8482352F}"/>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00444" y="509048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4" name="Picture 9" descr="服务器终端">
                <a:extLst>
                  <a:ext uri="{FF2B5EF4-FFF2-40B4-BE49-F238E27FC236}">
                    <a16:creationId xmlns:a16="http://schemas.microsoft.com/office/drawing/2014/main" id="{4138028B-E1A1-4CB0-9BDE-3D7345B66B3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34919" y="51747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5" name="Picture 9" descr="服务器终端">
                <a:extLst>
                  <a:ext uri="{FF2B5EF4-FFF2-40B4-BE49-F238E27FC236}">
                    <a16:creationId xmlns:a16="http://schemas.microsoft.com/office/drawing/2014/main" id="{DDAFEBEB-43D1-4663-9963-28BA4C13613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50678" y="4712019"/>
                <a:ext cx="332343" cy="352559"/>
              </a:xfrm>
              <a:prstGeom prst="rect">
                <a:avLst/>
              </a:prstGeom>
              <a:noFill/>
              <a:extLst>
                <a:ext uri="{909E8E84-426E-40DD-AFC4-6F175D3DCCD1}">
                  <a14:hiddenFill xmlns:a14="http://schemas.microsoft.com/office/drawing/2010/main">
                    <a:solidFill>
                      <a:srgbClr val="FFFFFF"/>
                    </a:solidFill>
                  </a14:hiddenFill>
                </a:ext>
              </a:extLst>
            </p:spPr>
          </p:pic>
        </p:grpSp>
        <p:pic>
          <p:nvPicPr>
            <p:cNvPr id="109" name="Picture 25" descr="服务器类">
              <a:extLst>
                <a:ext uri="{FF2B5EF4-FFF2-40B4-BE49-F238E27FC236}">
                  <a16:creationId xmlns:a16="http://schemas.microsoft.com/office/drawing/2014/main" id="{B99E835E-502A-4AE1-8141-550DA2AA5991}"/>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4105799" y="2183646"/>
              <a:ext cx="590913" cy="847417"/>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25" descr="服务器类">
              <a:extLst>
                <a:ext uri="{FF2B5EF4-FFF2-40B4-BE49-F238E27FC236}">
                  <a16:creationId xmlns:a16="http://schemas.microsoft.com/office/drawing/2014/main" id="{4FC71696-0ACA-4FF1-8927-40B6DDFED939}"/>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2048778" y="1981549"/>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51" name="文本框 150">
              <a:extLst>
                <a:ext uri="{FF2B5EF4-FFF2-40B4-BE49-F238E27FC236}">
                  <a16:creationId xmlns:a16="http://schemas.microsoft.com/office/drawing/2014/main" id="{263200FE-AB20-4D6B-B111-46573B469158}"/>
                </a:ext>
              </a:extLst>
            </p:cNvPr>
            <p:cNvSpPr txBox="1"/>
            <p:nvPr/>
          </p:nvSpPr>
          <p:spPr>
            <a:xfrm>
              <a:off x="4026381" y="3001614"/>
              <a:ext cx="1071375" cy="417340"/>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Server2</a:t>
              </a:r>
              <a:endParaRPr lang="zh-CN" altLang="en-US" sz="1400" dirty="0">
                <a:latin typeface="微软雅黑" panose="020B0503020204020204" pitchFamily="34" charset="-122"/>
                <a:ea typeface="微软雅黑" panose="020B0503020204020204" pitchFamily="34" charset="-122"/>
              </a:endParaRPr>
            </a:p>
          </p:txBody>
        </p:sp>
        <p:cxnSp>
          <p:nvCxnSpPr>
            <p:cNvPr id="152" name="直接连接符 151">
              <a:extLst>
                <a:ext uri="{FF2B5EF4-FFF2-40B4-BE49-F238E27FC236}">
                  <a16:creationId xmlns:a16="http://schemas.microsoft.com/office/drawing/2014/main" id="{EDA0FBB3-A774-4EDF-B977-AC956C12C577}"/>
                </a:ext>
              </a:extLst>
            </p:cNvPr>
            <p:cNvCxnSpPr>
              <a:cxnSpLocks/>
              <a:endCxn id="75" idx="3"/>
            </p:cNvCxnSpPr>
            <p:nvPr/>
          </p:nvCxnSpPr>
          <p:spPr>
            <a:xfrm flipH="1">
              <a:off x="3332793" y="4420957"/>
              <a:ext cx="1283845" cy="99028"/>
            </a:xfrm>
            <a:prstGeom prst="line">
              <a:avLst/>
            </a:prstGeom>
            <a:ln w="28575"/>
          </p:spPr>
          <p:style>
            <a:lnRef idx="1">
              <a:schemeClr val="dk1"/>
            </a:lnRef>
            <a:fillRef idx="0">
              <a:schemeClr val="dk1"/>
            </a:fillRef>
            <a:effectRef idx="0">
              <a:schemeClr val="dk1"/>
            </a:effectRef>
            <a:fontRef idx="minor">
              <a:schemeClr val="tx1"/>
            </a:fontRef>
          </p:style>
        </p:cxnSp>
      </p:grpSp>
      <p:grpSp>
        <p:nvGrpSpPr>
          <p:cNvPr id="155" name="组合 154">
            <a:extLst>
              <a:ext uri="{FF2B5EF4-FFF2-40B4-BE49-F238E27FC236}">
                <a16:creationId xmlns:a16="http://schemas.microsoft.com/office/drawing/2014/main" id="{0D138E47-FA98-4CE4-B9D2-B20E9806C2D3}"/>
              </a:ext>
            </a:extLst>
          </p:cNvPr>
          <p:cNvGrpSpPr/>
          <p:nvPr/>
        </p:nvGrpSpPr>
        <p:grpSpPr>
          <a:xfrm>
            <a:off x="6455330" y="3183026"/>
            <a:ext cx="4113738" cy="2927347"/>
            <a:chOff x="268870" y="1981549"/>
            <a:chExt cx="5503120" cy="3784058"/>
          </a:xfrm>
        </p:grpSpPr>
        <p:cxnSp>
          <p:nvCxnSpPr>
            <p:cNvPr id="156" name="直接连接符 155">
              <a:extLst>
                <a:ext uri="{FF2B5EF4-FFF2-40B4-BE49-F238E27FC236}">
                  <a16:creationId xmlns:a16="http://schemas.microsoft.com/office/drawing/2014/main" id="{5A510813-FAF4-4DEF-96CE-78C04E11BE1A}"/>
                </a:ext>
              </a:extLst>
            </p:cNvPr>
            <p:cNvCxnSpPr>
              <a:cxnSpLocks/>
            </p:cNvCxnSpPr>
            <p:nvPr/>
          </p:nvCxnSpPr>
          <p:spPr>
            <a:xfrm flipH="1" flipV="1">
              <a:off x="1695314" y="4328096"/>
              <a:ext cx="1314858" cy="110249"/>
            </a:xfrm>
            <a:prstGeom prst="line">
              <a:avLst/>
            </a:prstGeom>
            <a:ln w="28575"/>
          </p:spPr>
          <p:style>
            <a:lnRef idx="1">
              <a:schemeClr val="dk1"/>
            </a:lnRef>
            <a:fillRef idx="0">
              <a:schemeClr val="dk1"/>
            </a:fillRef>
            <a:effectRef idx="0">
              <a:schemeClr val="dk1"/>
            </a:effectRef>
            <a:fontRef idx="minor">
              <a:schemeClr val="tx1"/>
            </a:fontRef>
          </p:style>
        </p:cxnSp>
        <p:cxnSp>
          <p:nvCxnSpPr>
            <p:cNvPr id="157" name="直接连接符 156">
              <a:extLst>
                <a:ext uri="{FF2B5EF4-FFF2-40B4-BE49-F238E27FC236}">
                  <a16:creationId xmlns:a16="http://schemas.microsoft.com/office/drawing/2014/main" id="{A970002F-F4D7-4060-93F7-12CE20E78BFC}"/>
                </a:ext>
              </a:extLst>
            </p:cNvPr>
            <p:cNvCxnSpPr>
              <a:cxnSpLocks/>
            </p:cNvCxnSpPr>
            <p:nvPr/>
          </p:nvCxnSpPr>
          <p:spPr>
            <a:xfrm flipH="1" flipV="1">
              <a:off x="3181325" y="3537511"/>
              <a:ext cx="1556879" cy="714431"/>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158" name="直接连接符 157">
              <a:extLst>
                <a:ext uri="{FF2B5EF4-FFF2-40B4-BE49-F238E27FC236}">
                  <a16:creationId xmlns:a16="http://schemas.microsoft.com/office/drawing/2014/main" id="{9DB614CA-C2D8-44DE-864B-1D8BA08AB83F}"/>
                </a:ext>
              </a:extLst>
            </p:cNvPr>
            <p:cNvCxnSpPr>
              <a:cxnSpLocks/>
            </p:cNvCxnSpPr>
            <p:nvPr/>
          </p:nvCxnSpPr>
          <p:spPr>
            <a:xfrm flipH="1">
              <a:off x="3164640" y="2639459"/>
              <a:ext cx="1178995" cy="956131"/>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grpSp>
          <p:nvGrpSpPr>
            <p:cNvPr id="159" name="组合 158">
              <a:extLst>
                <a:ext uri="{FF2B5EF4-FFF2-40B4-BE49-F238E27FC236}">
                  <a16:creationId xmlns:a16="http://schemas.microsoft.com/office/drawing/2014/main" id="{1DAAADF9-3AE8-4DFF-A9EC-F16EF6D877A0}"/>
                </a:ext>
              </a:extLst>
            </p:cNvPr>
            <p:cNvGrpSpPr/>
            <p:nvPr/>
          </p:nvGrpSpPr>
          <p:grpSpPr>
            <a:xfrm>
              <a:off x="268870" y="2270777"/>
              <a:ext cx="5503120" cy="3494830"/>
              <a:chOff x="5139980" y="1771298"/>
              <a:chExt cx="6699289" cy="4326157"/>
            </a:xfrm>
          </p:grpSpPr>
          <p:pic>
            <p:nvPicPr>
              <p:cNvPr id="164" name="Picture 14">
                <a:extLst>
                  <a:ext uri="{FF2B5EF4-FFF2-40B4-BE49-F238E27FC236}">
                    <a16:creationId xmlns:a16="http://schemas.microsoft.com/office/drawing/2014/main" id="{3281866F-93AB-46BD-87D8-EFA60986BD5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0"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5" name="Picture 14">
                <a:extLst>
                  <a:ext uri="{FF2B5EF4-FFF2-40B4-BE49-F238E27FC236}">
                    <a16:creationId xmlns:a16="http://schemas.microsoft.com/office/drawing/2014/main" id="{08CEA050-005B-486E-9F9B-629A1736C02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38" y="4601387"/>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14">
                <a:extLst>
                  <a:ext uri="{FF2B5EF4-FFF2-40B4-BE49-F238E27FC236}">
                    <a16:creationId xmlns:a16="http://schemas.microsoft.com/office/drawing/2014/main" id="{C84CAC37-2DC7-47A3-A5EA-DBC72FA2EB6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895"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67" name="直接连接符 166">
                <a:extLst>
                  <a:ext uri="{FF2B5EF4-FFF2-40B4-BE49-F238E27FC236}">
                    <a16:creationId xmlns:a16="http://schemas.microsoft.com/office/drawing/2014/main" id="{7777E1CB-C98A-4172-872A-1F05EC455C40}"/>
                  </a:ext>
                </a:extLst>
              </p:cNvPr>
              <p:cNvCxnSpPr>
                <a:cxnSpLocks/>
              </p:cNvCxnSpPr>
              <p:nvPr/>
            </p:nvCxnSpPr>
            <p:spPr>
              <a:xfrm>
                <a:off x="7614822" y="1771298"/>
                <a:ext cx="864832" cy="1451299"/>
              </a:xfrm>
              <a:prstGeom prst="line">
                <a:avLst/>
              </a:prstGeom>
              <a:ln w="28575"/>
            </p:spPr>
            <p:style>
              <a:lnRef idx="1">
                <a:schemeClr val="dk1"/>
              </a:lnRef>
              <a:fillRef idx="0">
                <a:schemeClr val="dk1"/>
              </a:fillRef>
              <a:effectRef idx="0">
                <a:schemeClr val="dk1"/>
              </a:effectRef>
              <a:fontRef idx="minor">
                <a:schemeClr val="tx1"/>
              </a:fontRef>
            </p:style>
          </p:cxnSp>
          <p:cxnSp>
            <p:nvCxnSpPr>
              <p:cNvPr id="168" name="直接连接符 167">
                <a:extLst>
                  <a:ext uri="{FF2B5EF4-FFF2-40B4-BE49-F238E27FC236}">
                    <a16:creationId xmlns:a16="http://schemas.microsoft.com/office/drawing/2014/main" id="{F782A0BC-6749-4346-9EC5-C255F645BB7B}"/>
                  </a:ext>
                </a:extLst>
              </p:cNvPr>
              <p:cNvCxnSpPr>
                <a:cxnSpLocks/>
              </p:cNvCxnSpPr>
              <p:nvPr/>
            </p:nvCxnSpPr>
            <p:spPr>
              <a:xfrm flipH="1">
                <a:off x="6800291" y="3374996"/>
                <a:ext cx="1629063" cy="841900"/>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169" name="直接连接符 168">
                <a:extLst>
                  <a:ext uri="{FF2B5EF4-FFF2-40B4-BE49-F238E27FC236}">
                    <a16:creationId xmlns:a16="http://schemas.microsoft.com/office/drawing/2014/main" id="{D6485D21-7183-4F9E-9D1D-B91B8CC0F23E}"/>
                  </a:ext>
                </a:extLst>
              </p:cNvPr>
              <p:cNvCxnSpPr/>
              <p:nvPr/>
            </p:nvCxnSpPr>
            <p:spPr>
              <a:xfrm>
                <a:off x="8610595" y="3374996"/>
                <a:ext cx="0" cy="1083077"/>
              </a:xfrm>
              <a:prstGeom prst="line">
                <a:avLst/>
              </a:prstGeom>
              <a:ln w="28575"/>
            </p:spPr>
            <p:style>
              <a:lnRef idx="1">
                <a:schemeClr val="dk1"/>
              </a:lnRef>
              <a:fillRef idx="0">
                <a:schemeClr val="dk1"/>
              </a:fillRef>
              <a:effectRef idx="0">
                <a:schemeClr val="dk1"/>
              </a:effectRef>
              <a:fontRef idx="minor">
                <a:schemeClr val="tx1"/>
              </a:fontRef>
            </p:style>
          </p:cxnSp>
          <p:pic>
            <p:nvPicPr>
              <p:cNvPr id="170" name="Picture 57" descr="通用路由器">
                <a:extLst>
                  <a:ext uri="{FF2B5EF4-FFF2-40B4-BE49-F238E27FC236}">
                    <a16:creationId xmlns:a16="http://schemas.microsoft.com/office/drawing/2014/main" id="{86576EBE-0FB3-4590-BA13-2043E21CA2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3084443"/>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1" name="Picture 57" descr="通用路由器">
                <a:extLst>
                  <a:ext uri="{FF2B5EF4-FFF2-40B4-BE49-F238E27FC236}">
                    <a16:creationId xmlns:a16="http://schemas.microsoft.com/office/drawing/2014/main" id="{0E9AA8B8-1153-468F-871C-AAB12F1E4EC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1"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2" name="Picture 57" descr="通用路由器">
                <a:extLst>
                  <a:ext uri="{FF2B5EF4-FFF2-40B4-BE49-F238E27FC236}">
                    <a16:creationId xmlns:a16="http://schemas.microsoft.com/office/drawing/2014/main" id="{E79F39DB-544A-4CDC-BF6E-3ACD396FD9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4313438"/>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3" name="Picture 57" descr="通用路由器">
                <a:extLst>
                  <a:ext uri="{FF2B5EF4-FFF2-40B4-BE49-F238E27FC236}">
                    <a16:creationId xmlns:a16="http://schemas.microsoft.com/office/drawing/2014/main" id="{253360F9-67AE-4099-BE73-740073054EF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04"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4" name="Picture 9" descr="服务器终端">
                <a:extLst>
                  <a:ext uri="{FF2B5EF4-FFF2-40B4-BE49-F238E27FC236}">
                    <a16:creationId xmlns:a16="http://schemas.microsoft.com/office/drawing/2014/main" id="{DC2E15D5-998C-4437-AB74-5E47BE950761}"/>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18642" y="4621346"/>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175" name="文本框 174">
                <a:extLst>
                  <a:ext uri="{FF2B5EF4-FFF2-40B4-BE49-F238E27FC236}">
                    <a16:creationId xmlns:a16="http://schemas.microsoft.com/office/drawing/2014/main" id="{C550274B-A2E1-4C68-876A-32B9EB7EBAD4}"/>
                  </a:ext>
                </a:extLst>
              </p:cNvPr>
              <p:cNvSpPr txBox="1"/>
              <p:nvPr/>
            </p:nvSpPr>
            <p:spPr>
              <a:xfrm>
                <a:off x="6876477" y="2429998"/>
                <a:ext cx="1366240"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Server1</a:t>
                </a:r>
                <a:endParaRPr lang="zh-CN" altLang="en-US" sz="1400" dirty="0">
                  <a:latin typeface="微软雅黑" panose="020B0503020204020204" pitchFamily="34" charset="-122"/>
                  <a:ea typeface="微软雅黑" panose="020B0503020204020204" pitchFamily="34" charset="-122"/>
                </a:endParaRPr>
              </a:p>
            </p:txBody>
          </p:sp>
          <p:sp>
            <p:nvSpPr>
              <p:cNvPr id="176" name="文本框 175">
                <a:extLst>
                  <a:ext uri="{FF2B5EF4-FFF2-40B4-BE49-F238E27FC236}">
                    <a16:creationId xmlns:a16="http://schemas.microsoft.com/office/drawing/2014/main" id="{11A9FED6-AF35-4AFF-8C65-BF31AF3FE543}"/>
                  </a:ext>
                </a:extLst>
              </p:cNvPr>
              <p:cNvSpPr txBox="1"/>
              <p:nvPr/>
            </p:nvSpPr>
            <p:spPr>
              <a:xfrm>
                <a:off x="8335894" y="2642997"/>
                <a:ext cx="663594"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R1</a:t>
                </a:r>
                <a:endParaRPr lang="zh-CN" altLang="en-US" sz="1400" dirty="0">
                  <a:latin typeface="微软雅黑" panose="020B0503020204020204" pitchFamily="34" charset="-122"/>
                  <a:ea typeface="微软雅黑" panose="020B0503020204020204" pitchFamily="34" charset="-122"/>
                </a:endParaRPr>
              </a:p>
            </p:txBody>
          </p:sp>
          <p:sp>
            <p:nvSpPr>
              <p:cNvPr id="177" name="文本框 176">
                <a:extLst>
                  <a:ext uri="{FF2B5EF4-FFF2-40B4-BE49-F238E27FC236}">
                    <a16:creationId xmlns:a16="http://schemas.microsoft.com/office/drawing/2014/main" id="{029E3721-14A1-4448-A87D-1F89DCFF4BC0}"/>
                  </a:ext>
                </a:extLst>
              </p:cNvPr>
              <p:cNvSpPr txBox="1"/>
              <p:nvPr/>
            </p:nvSpPr>
            <p:spPr>
              <a:xfrm>
                <a:off x="5957510" y="3852732"/>
                <a:ext cx="663594"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R2</a:t>
                </a:r>
                <a:endParaRPr lang="zh-CN" altLang="en-US" sz="1400" dirty="0">
                  <a:latin typeface="微软雅黑" panose="020B0503020204020204" pitchFamily="34" charset="-122"/>
                  <a:ea typeface="微软雅黑" panose="020B0503020204020204" pitchFamily="34" charset="-122"/>
                </a:endParaRPr>
              </a:p>
            </p:txBody>
          </p:sp>
          <p:sp>
            <p:nvSpPr>
              <p:cNvPr id="178" name="文本框 177">
                <a:extLst>
                  <a:ext uri="{FF2B5EF4-FFF2-40B4-BE49-F238E27FC236}">
                    <a16:creationId xmlns:a16="http://schemas.microsoft.com/office/drawing/2014/main" id="{28A73B05-21AD-4A0D-A4B3-962500654E55}"/>
                  </a:ext>
                </a:extLst>
              </p:cNvPr>
              <p:cNvSpPr txBox="1"/>
              <p:nvPr/>
            </p:nvSpPr>
            <p:spPr>
              <a:xfrm>
                <a:off x="7679886" y="4339159"/>
                <a:ext cx="749468" cy="492488"/>
              </a:xfrm>
              <a:prstGeom prst="rect">
                <a:avLst/>
              </a:prstGeom>
              <a:noFill/>
            </p:spPr>
            <p:txBody>
              <a:bodyPr wrap="square" rtlCol="0">
                <a:spAutoFit/>
              </a:bodyPr>
              <a:lstStyle/>
              <a:p>
                <a:r>
                  <a:rPr lang="en-US" altLang="zh-CN" sz="1400" dirty="0">
                    <a:latin typeface="微软雅黑" panose="020B0503020204020204" pitchFamily="34" charset="-122"/>
                    <a:ea typeface="微软雅黑" panose="020B0503020204020204" pitchFamily="34" charset="-122"/>
                  </a:rPr>
                  <a:t>R3</a:t>
                </a:r>
                <a:endParaRPr lang="zh-CN" altLang="en-US" sz="1400" dirty="0">
                  <a:latin typeface="微软雅黑" panose="020B0503020204020204" pitchFamily="34" charset="-122"/>
                  <a:ea typeface="微软雅黑" panose="020B0503020204020204" pitchFamily="34" charset="-122"/>
                </a:endParaRPr>
              </a:p>
            </p:txBody>
          </p:sp>
          <p:sp>
            <p:nvSpPr>
              <p:cNvPr id="179" name="文本框 178">
                <a:extLst>
                  <a:ext uri="{FF2B5EF4-FFF2-40B4-BE49-F238E27FC236}">
                    <a16:creationId xmlns:a16="http://schemas.microsoft.com/office/drawing/2014/main" id="{2FA1989C-897D-414B-89FB-82B0859FBD01}"/>
                  </a:ext>
                </a:extLst>
              </p:cNvPr>
              <p:cNvSpPr txBox="1"/>
              <p:nvPr/>
            </p:nvSpPr>
            <p:spPr>
              <a:xfrm>
                <a:off x="9757253" y="4071344"/>
                <a:ext cx="663594"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R4</a:t>
                </a:r>
                <a:endParaRPr lang="zh-CN" altLang="en-US" sz="1400" dirty="0">
                  <a:latin typeface="微软雅黑" panose="020B0503020204020204" pitchFamily="34" charset="-122"/>
                  <a:ea typeface="微软雅黑" panose="020B0503020204020204" pitchFamily="34" charset="-122"/>
                </a:endParaRPr>
              </a:p>
            </p:txBody>
          </p:sp>
          <p:pic>
            <p:nvPicPr>
              <p:cNvPr id="180" name="Picture 9" descr="服务器终端">
                <a:extLst>
                  <a:ext uri="{FF2B5EF4-FFF2-40B4-BE49-F238E27FC236}">
                    <a16:creationId xmlns:a16="http://schemas.microsoft.com/office/drawing/2014/main" id="{2EE80AB8-9DD6-45A7-9A14-A95CB4AF6C0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61253" y="462459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1" name="Picture 9" descr="服务器终端">
                <a:extLst>
                  <a:ext uri="{FF2B5EF4-FFF2-40B4-BE49-F238E27FC236}">
                    <a16:creationId xmlns:a16="http://schemas.microsoft.com/office/drawing/2014/main" id="{A75DF416-5608-4BB8-A3A2-083A5E6DD51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03865" y="466765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2" name="Picture 9" descr="服务器终端">
                <a:extLst>
                  <a:ext uri="{FF2B5EF4-FFF2-40B4-BE49-F238E27FC236}">
                    <a16:creationId xmlns:a16="http://schemas.microsoft.com/office/drawing/2014/main" id="{9B6096E5-0E06-4107-827F-EE776E950C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3971" y="507044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3" name="Picture 9" descr="服务器终端">
                <a:extLst>
                  <a:ext uri="{FF2B5EF4-FFF2-40B4-BE49-F238E27FC236}">
                    <a16:creationId xmlns:a16="http://schemas.microsoft.com/office/drawing/2014/main" id="{1B1776BC-CAAA-442D-8BF4-25EAAAE5DD17}"/>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937212" y="513834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4" name="Picture 9" descr="服务器终端">
                <a:extLst>
                  <a:ext uri="{FF2B5EF4-FFF2-40B4-BE49-F238E27FC236}">
                    <a16:creationId xmlns:a16="http://schemas.microsoft.com/office/drawing/2014/main" id="{4180D461-4DB4-4C43-B403-E8CA0BADC8E1}"/>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14070" y="491421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5" name="Picture 9" descr="服务器终端">
                <a:extLst>
                  <a:ext uri="{FF2B5EF4-FFF2-40B4-BE49-F238E27FC236}">
                    <a16:creationId xmlns:a16="http://schemas.microsoft.com/office/drawing/2014/main" id="{DEF8092C-64AB-4415-9D39-6AAEF164E4ED}"/>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47311" y="498210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6" name="Picture 9" descr="服务器终端">
                <a:extLst>
                  <a:ext uri="{FF2B5EF4-FFF2-40B4-BE49-F238E27FC236}">
                    <a16:creationId xmlns:a16="http://schemas.microsoft.com/office/drawing/2014/main" id="{49CC72DC-79ED-4CFB-919A-805C4450EC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3770" y="535511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7" name="Picture 9" descr="服务器终端">
                <a:extLst>
                  <a:ext uri="{FF2B5EF4-FFF2-40B4-BE49-F238E27FC236}">
                    <a16:creationId xmlns:a16="http://schemas.microsoft.com/office/drawing/2014/main" id="{8747FD3C-39FC-40E0-B0F1-781BEC8F8D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7010" y="542300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8" name="Picture 9" descr="服务器终端">
                <a:extLst>
                  <a:ext uri="{FF2B5EF4-FFF2-40B4-BE49-F238E27FC236}">
                    <a16:creationId xmlns:a16="http://schemas.microsoft.com/office/drawing/2014/main" id="{93B8B730-5FDC-4863-8E68-FF350FA56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9546" y="4985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9" name="Picture 9" descr="服务器终端">
                <a:extLst>
                  <a:ext uri="{FF2B5EF4-FFF2-40B4-BE49-F238E27FC236}">
                    <a16:creationId xmlns:a16="http://schemas.microsoft.com/office/drawing/2014/main" id="{C1CE1619-D7DD-4DA9-9951-8F920B4CC93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2787" y="505379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0" name="Picture 9" descr="服务器终端">
                <a:extLst>
                  <a:ext uri="{FF2B5EF4-FFF2-40B4-BE49-F238E27FC236}">
                    <a16:creationId xmlns:a16="http://schemas.microsoft.com/office/drawing/2014/main" id="{CABBA245-BC41-4109-8E9A-E68E14A7780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0729" y="552296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1" name="Picture 9" descr="服务器终端">
                <a:extLst>
                  <a:ext uri="{FF2B5EF4-FFF2-40B4-BE49-F238E27FC236}">
                    <a16:creationId xmlns:a16="http://schemas.microsoft.com/office/drawing/2014/main" id="{AEC4E613-0A31-488A-9752-234C22D37C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70590" y="463281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2" name="Picture 9" descr="服务器终端">
                <a:extLst>
                  <a:ext uri="{FF2B5EF4-FFF2-40B4-BE49-F238E27FC236}">
                    <a16:creationId xmlns:a16="http://schemas.microsoft.com/office/drawing/2014/main" id="{9950BF39-1C86-40E8-A7AB-153B774D73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53530" y="51416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3" name="Picture 9" descr="服务器终端">
                <a:extLst>
                  <a:ext uri="{FF2B5EF4-FFF2-40B4-BE49-F238E27FC236}">
                    <a16:creationId xmlns:a16="http://schemas.microsoft.com/office/drawing/2014/main" id="{AE2EA446-8E12-42C3-AB97-4461F2DC14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99306" y="477239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4" name="Picture 9" descr="服务器终端">
                <a:extLst>
                  <a:ext uri="{FF2B5EF4-FFF2-40B4-BE49-F238E27FC236}">
                    <a16:creationId xmlns:a16="http://schemas.microsoft.com/office/drawing/2014/main" id="{22AA6928-D28F-49DA-932C-F748C6488D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248" y="524156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5" name="Picture 9" descr="服务器终端">
                <a:extLst>
                  <a:ext uri="{FF2B5EF4-FFF2-40B4-BE49-F238E27FC236}">
                    <a16:creationId xmlns:a16="http://schemas.microsoft.com/office/drawing/2014/main" id="{D79CB8FD-5A6A-4259-8E35-86B5F60E0FA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17691" y="515838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6" name="Picture 9" descr="服务器终端">
                <a:extLst>
                  <a:ext uri="{FF2B5EF4-FFF2-40B4-BE49-F238E27FC236}">
                    <a16:creationId xmlns:a16="http://schemas.microsoft.com/office/drawing/2014/main" id="{2551CDDD-D522-4E9B-A2BB-52CE61C1216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660092" y="471404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7" name="Picture 9" descr="服务器终端">
                <a:extLst>
                  <a:ext uri="{FF2B5EF4-FFF2-40B4-BE49-F238E27FC236}">
                    <a16:creationId xmlns:a16="http://schemas.microsoft.com/office/drawing/2014/main" id="{2B427CC3-51BB-4EF2-A59E-F00072D15E3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9384" y="54782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8" name="Picture 9" descr="服务器终端">
                <a:extLst>
                  <a:ext uri="{FF2B5EF4-FFF2-40B4-BE49-F238E27FC236}">
                    <a16:creationId xmlns:a16="http://schemas.microsoft.com/office/drawing/2014/main" id="{D069AC77-57E7-4683-A65B-D88A26FB4BC9}"/>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18329" y="466765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9" name="Picture 9" descr="服务器终端">
                <a:extLst>
                  <a:ext uri="{FF2B5EF4-FFF2-40B4-BE49-F238E27FC236}">
                    <a16:creationId xmlns:a16="http://schemas.microsoft.com/office/drawing/2014/main" id="{99D638B7-268B-47EE-9CC3-D2302A4A96F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00444" y="509048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00" name="Picture 9" descr="服务器终端">
                <a:extLst>
                  <a:ext uri="{FF2B5EF4-FFF2-40B4-BE49-F238E27FC236}">
                    <a16:creationId xmlns:a16="http://schemas.microsoft.com/office/drawing/2014/main" id="{E4C5BE71-200A-4C63-93A2-A1885C20F83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34919" y="51747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01" name="Picture 9" descr="服务器终端">
                <a:extLst>
                  <a:ext uri="{FF2B5EF4-FFF2-40B4-BE49-F238E27FC236}">
                    <a16:creationId xmlns:a16="http://schemas.microsoft.com/office/drawing/2014/main" id="{78D86F16-258F-4B8C-8CFE-81ACD8C7AF3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50678" y="4712019"/>
                <a:ext cx="332343" cy="352559"/>
              </a:xfrm>
              <a:prstGeom prst="rect">
                <a:avLst/>
              </a:prstGeom>
              <a:noFill/>
              <a:extLst>
                <a:ext uri="{909E8E84-426E-40DD-AFC4-6F175D3DCCD1}">
                  <a14:hiddenFill xmlns:a14="http://schemas.microsoft.com/office/drawing/2010/main">
                    <a:solidFill>
                      <a:srgbClr val="FFFFFF"/>
                    </a:solidFill>
                  </a14:hiddenFill>
                </a:ext>
              </a:extLst>
            </p:spPr>
          </p:pic>
        </p:grpSp>
        <p:pic>
          <p:nvPicPr>
            <p:cNvPr id="160" name="Picture 25" descr="服务器类">
              <a:extLst>
                <a:ext uri="{FF2B5EF4-FFF2-40B4-BE49-F238E27FC236}">
                  <a16:creationId xmlns:a16="http://schemas.microsoft.com/office/drawing/2014/main" id="{1E67069D-9363-445F-8C7D-20B2D7EC2997}"/>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4105799" y="2183646"/>
              <a:ext cx="590913" cy="847417"/>
            </a:xfrm>
            <a:prstGeom prst="rect">
              <a:avLst/>
            </a:prstGeom>
            <a:noFill/>
            <a:extLst>
              <a:ext uri="{909E8E84-426E-40DD-AFC4-6F175D3DCCD1}">
                <a14:hiddenFill xmlns:a14="http://schemas.microsoft.com/office/drawing/2010/main">
                  <a:solidFill>
                    <a:srgbClr val="FFFFFF"/>
                  </a:solidFill>
                </a14:hiddenFill>
              </a:ext>
            </a:extLst>
          </p:spPr>
        </p:pic>
        <p:pic>
          <p:nvPicPr>
            <p:cNvPr id="161" name="Picture 25" descr="服务器类">
              <a:extLst>
                <a:ext uri="{FF2B5EF4-FFF2-40B4-BE49-F238E27FC236}">
                  <a16:creationId xmlns:a16="http://schemas.microsoft.com/office/drawing/2014/main" id="{5604E0E4-1C79-4AA5-BBE7-CDFA687359A5}"/>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2048778" y="1981549"/>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62" name="文本框 161">
              <a:extLst>
                <a:ext uri="{FF2B5EF4-FFF2-40B4-BE49-F238E27FC236}">
                  <a16:creationId xmlns:a16="http://schemas.microsoft.com/office/drawing/2014/main" id="{CC569221-3958-4FCE-A100-ED3485E32DBF}"/>
                </a:ext>
              </a:extLst>
            </p:cNvPr>
            <p:cNvSpPr txBox="1"/>
            <p:nvPr/>
          </p:nvSpPr>
          <p:spPr>
            <a:xfrm>
              <a:off x="4026381" y="3001614"/>
              <a:ext cx="1122296" cy="397850"/>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Server2</a:t>
              </a:r>
              <a:endParaRPr lang="zh-CN" altLang="en-US" sz="1400" dirty="0">
                <a:latin typeface="微软雅黑" panose="020B0503020204020204" pitchFamily="34" charset="-122"/>
                <a:ea typeface="微软雅黑" panose="020B0503020204020204" pitchFamily="34" charset="-122"/>
              </a:endParaRPr>
            </a:p>
          </p:txBody>
        </p:sp>
        <p:cxnSp>
          <p:nvCxnSpPr>
            <p:cNvPr id="163" name="直接连接符 162">
              <a:extLst>
                <a:ext uri="{FF2B5EF4-FFF2-40B4-BE49-F238E27FC236}">
                  <a16:creationId xmlns:a16="http://schemas.microsoft.com/office/drawing/2014/main" id="{CC7371EC-F0F9-491E-8814-60D0D39AEB41}"/>
                </a:ext>
              </a:extLst>
            </p:cNvPr>
            <p:cNvCxnSpPr>
              <a:cxnSpLocks/>
              <a:endCxn id="172" idx="3"/>
            </p:cNvCxnSpPr>
            <p:nvPr/>
          </p:nvCxnSpPr>
          <p:spPr>
            <a:xfrm flipH="1">
              <a:off x="3332793" y="4420957"/>
              <a:ext cx="1283845" cy="99028"/>
            </a:xfrm>
            <a:prstGeom prst="line">
              <a:avLst/>
            </a:prstGeom>
            <a:ln w="28575"/>
          </p:spPr>
          <p:style>
            <a:lnRef idx="1">
              <a:schemeClr val="dk1"/>
            </a:lnRef>
            <a:fillRef idx="0">
              <a:schemeClr val="dk1"/>
            </a:fillRef>
            <a:effectRef idx="0">
              <a:schemeClr val="dk1"/>
            </a:effectRef>
            <a:fontRef idx="minor">
              <a:schemeClr val="tx1"/>
            </a:fontRef>
          </p:style>
        </p:cxnSp>
      </p:grpSp>
      <p:sp>
        <p:nvSpPr>
          <p:cNvPr id="202" name="内容占位符 2">
            <a:extLst>
              <a:ext uri="{FF2B5EF4-FFF2-40B4-BE49-F238E27FC236}">
                <a16:creationId xmlns:a16="http://schemas.microsoft.com/office/drawing/2014/main" id="{204BD236-8A6A-47C5-9464-BA7B50B25169}"/>
              </a:ext>
            </a:extLst>
          </p:cNvPr>
          <p:cNvSpPr>
            <a:spLocks noGrp="1"/>
          </p:cNvSpPr>
          <p:nvPr>
            <p:ph idx="1"/>
          </p:nvPr>
        </p:nvSpPr>
        <p:spPr>
          <a:xfrm>
            <a:off x="838200" y="1510758"/>
            <a:ext cx="10515600" cy="2304347"/>
          </a:xfrm>
        </p:spPr>
        <p:txBody>
          <a:bodyPr>
            <a:normAutofit/>
          </a:bodyPr>
          <a:lstStyle/>
          <a:p>
            <a:r>
              <a:rPr lang="zh-CN" altLang="en-US" dirty="0"/>
              <a:t>基于源点树（</a:t>
            </a:r>
            <a:r>
              <a:rPr lang="en-US" altLang="zh-CN" dirty="0"/>
              <a:t>source-based trees</a:t>
            </a:r>
            <a:r>
              <a:rPr lang="zh-CN" altLang="en-US" dirty="0"/>
              <a:t>）存在的问题：</a:t>
            </a:r>
            <a:endParaRPr lang="en-US" altLang="zh-CN" dirty="0"/>
          </a:p>
          <a:p>
            <a:pPr lvl="1"/>
            <a:r>
              <a:rPr lang="zh-CN" altLang="en-US" dirty="0"/>
              <a:t>大型网络中，组播源很多时，路由器需生成多颗棵树，工作量巨大</a:t>
            </a:r>
            <a:endParaRPr lang="en-US" altLang="zh-CN" dirty="0"/>
          </a:p>
          <a:p>
            <a:pPr lvl="1"/>
            <a:r>
              <a:rPr lang="zh-CN" altLang="en-US" dirty="0"/>
              <a:t>路由器需要大量空间来存储多颗树</a:t>
            </a:r>
            <a:endParaRPr lang="en-US" altLang="zh-CN" dirty="0"/>
          </a:p>
          <a:p>
            <a:pPr lvl="1"/>
            <a:endParaRPr lang="en-US" altLang="zh-CN" dirty="0"/>
          </a:p>
          <a:p>
            <a:pPr lvl="1"/>
            <a:endParaRPr lang="en-US" altLang="zh-CN" dirty="0">
              <a:latin typeface="微软雅黑" panose="020B0503020204020204" pitchFamily="34" charset="-122"/>
              <a:ea typeface="微软雅黑" panose="020B0503020204020204" pitchFamily="34" charset="-122"/>
            </a:endParaRPr>
          </a:p>
        </p:txBody>
      </p:sp>
      <p:sp>
        <p:nvSpPr>
          <p:cNvPr id="3" name="文本框 2">
            <a:extLst>
              <a:ext uri="{FF2B5EF4-FFF2-40B4-BE49-F238E27FC236}">
                <a16:creationId xmlns:a16="http://schemas.microsoft.com/office/drawing/2014/main" id="{E1E19590-F350-4816-BC77-C54A8A34655B}"/>
              </a:ext>
            </a:extLst>
          </p:cNvPr>
          <p:cNvSpPr txBox="1"/>
          <p:nvPr/>
        </p:nvSpPr>
        <p:spPr>
          <a:xfrm>
            <a:off x="2485536" y="6243971"/>
            <a:ext cx="2637773"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以</a:t>
            </a:r>
            <a:r>
              <a:rPr lang="en-US" altLang="zh-CN" dirty="0">
                <a:latin typeface="微软雅黑" panose="020B0503020204020204" pitchFamily="34" charset="-122"/>
                <a:ea typeface="微软雅黑" panose="020B0503020204020204" pitchFamily="34" charset="-122"/>
              </a:rPr>
              <a:t>Server1</a:t>
            </a:r>
            <a:r>
              <a:rPr lang="zh-CN" altLang="en-US" dirty="0">
                <a:latin typeface="微软雅黑" panose="020B0503020204020204" pitchFamily="34" charset="-122"/>
                <a:ea typeface="微软雅黑" panose="020B0503020204020204" pitchFamily="34" charset="-122"/>
              </a:rPr>
              <a:t>为源生成的树</a:t>
            </a:r>
          </a:p>
        </p:txBody>
      </p:sp>
      <p:sp>
        <p:nvSpPr>
          <p:cNvPr id="107" name="文本框 106">
            <a:extLst>
              <a:ext uri="{FF2B5EF4-FFF2-40B4-BE49-F238E27FC236}">
                <a16:creationId xmlns:a16="http://schemas.microsoft.com/office/drawing/2014/main" id="{739C6D77-A2E9-4985-A385-47963575A4CB}"/>
              </a:ext>
            </a:extLst>
          </p:cNvPr>
          <p:cNvSpPr txBox="1"/>
          <p:nvPr/>
        </p:nvSpPr>
        <p:spPr>
          <a:xfrm>
            <a:off x="7222202" y="6238850"/>
            <a:ext cx="2637773"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以</a:t>
            </a:r>
            <a:r>
              <a:rPr lang="en-US" altLang="zh-CN" dirty="0">
                <a:latin typeface="微软雅黑" panose="020B0503020204020204" pitchFamily="34" charset="-122"/>
                <a:ea typeface="微软雅黑" panose="020B0503020204020204" pitchFamily="34" charset="-122"/>
              </a:rPr>
              <a:t>Server2</a:t>
            </a:r>
            <a:r>
              <a:rPr lang="zh-CN" altLang="en-US" dirty="0">
                <a:latin typeface="微软雅黑" panose="020B0503020204020204" pitchFamily="34" charset="-122"/>
                <a:ea typeface="微软雅黑" panose="020B0503020204020204" pitchFamily="34" charset="-122"/>
              </a:rPr>
              <a:t>为源生成的树</a:t>
            </a:r>
          </a:p>
        </p:txBody>
      </p:sp>
      <p:sp>
        <p:nvSpPr>
          <p:cNvPr id="108"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376719950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69</a:t>
            </a:fld>
            <a:endParaRPr kumimoji="1" lang="zh-CN" altLang="en-US" dirty="0"/>
          </a:p>
        </p:txBody>
      </p:sp>
      <p:sp>
        <p:nvSpPr>
          <p:cNvPr id="150" name="内容占位符 2">
            <a:extLst>
              <a:ext uri="{FF2B5EF4-FFF2-40B4-BE49-F238E27FC236}">
                <a16:creationId xmlns:a16="http://schemas.microsoft.com/office/drawing/2014/main" id="{735A06E7-467E-475D-B900-BF8906FD0092}"/>
              </a:ext>
            </a:extLst>
          </p:cNvPr>
          <p:cNvSpPr>
            <a:spLocks noGrp="1"/>
          </p:cNvSpPr>
          <p:nvPr>
            <p:ph idx="1"/>
          </p:nvPr>
        </p:nvSpPr>
        <p:spPr>
          <a:xfrm>
            <a:off x="838200" y="1510757"/>
            <a:ext cx="10515600" cy="4845593"/>
          </a:xfrm>
        </p:spPr>
        <p:txBody>
          <a:bodyPr>
            <a:normAutofit/>
          </a:bodyPr>
          <a:lstStyle/>
          <a:p>
            <a:pPr>
              <a:lnSpc>
                <a:spcPct val="130000"/>
              </a:lnSpc>
            </a:pPr>
            <a:r>
              <a:rPr lang="zh-CN" altLang="en-US" dirty="0">
                <a:solidFill>
                  <a:srgbClr val="C00000"/>
                </a:solidFill>
              </a:rPr>
              <a:t>稀疏分布，基于核心树</a:t>
            </a:r>
            <a:r>
              <a:rPr lang="zh-CN" altLang="en-US" dirty="0"/>
              <a:t>（</a:t>
            </a:r>
            <a:r>
              <a:rPr lang="en-US" altLang="zh-CN" dirty="0"/>
              <a:t>core-based trees</a:t>
            </a:r>
            <a:r>
              <a:rPr lang="zh-CN" altLang="en-US" dirty="0"/>
              <a:t>）</a:t>
            </a:r>
            <a:endParaRPr lang="en-US" altLang="zh-CN" dirty="0"/>
          </a:p>
          <a:p>
            <a:pPr lvl="1">
              <a:lnSpc>
                <a:spcPct val="130000"/>
              </a:lnSpc>
            </a:pPr>
            <a:r>
              <a:rPr lang="zh-CN" altLang="en-US" dirty="0">
                <a:latin typeface="微软雅黑" panose="020B0503020204020204" pitchFamily="34" charset="-122"/>
                <a:ea typeface="微软雅黑" panose="020B0503020204020204" pitchFamily="34" charset="-122"/>
              </a:rPr>
              <a:t>多个组播源</a:t>
            </a:r>
            <a:r>
              <a:rPr lang="zh-CN" altLang="en-US" b="1" dirty="0">
                <a:solidFill>
                  <a:srgbClr val="5B307E"/>
                </a:solidFill>
                <a:latin typeface="微软雅黑" panose="020B0503020204020204" pitchFamily="34" charset="-122"/>
                <a:ea typeface="微软雅黑" panose="020B0503020204020204" pitchFamily="34" charset="-122"/>
              </a:rPr>
              <a:t>共享树</a:t>
            </a:r>
            <a:endParaRPr lang="en-US" altLang="zh-CN" b="1" dirty="0">
              <a:solidFill>
                <a:srgbClr val="5B307E"/>
              </a:solidFill>
              <a:latin typeface="微软雅黑" panose="020B0503020204020204" pitchFamily="34" charset="-122"/>
              <a:ea typeface="微软雅黑" panose="020B0503020204020204" pitchFamily="34" charset="-122"/>
            </a:endParaRPr>
          </a:p>
          <a:p>
            <a:pPr lvl="1">
              <a:lnSpc>
                <a:spcPct val="130000"/>
              </a:lnSpc>
            </a:pPr>
            <a:r>
              <a:rPr lang="zh-CN" altLang="en-US" dirty="0"/>
              <a:t>大大节省存储开销、消息发送和计算</a:t>
            </a:r>
            <a:endParaRPr lang="en-US" altLang="zh-CN" dirty="0"/>
          </a:p>
          <a:p>
            <a:pPr lvl="1">
              <a:lnSpc>
                <a:spcPct val="130000"/>
              </a:lnSpc>
            </a:pPr>
            <a:r>
              <a:rPr lang="zh-CN" altLang="en-US" dirty="0"/>
              <a:t>每个路由器只需要保存一棵树</a:t>
            </a:r>
            <a:endParaRPr lang="en-US" altLang="zh-CN" dirty="0"/>
          </a:p>
          <a:p>
            <a:pPr lvl="1">
              <a:lnSpc>
                <a:spcPct val="130000"/>
              </a:lnSpc>
            </a:pPr>
            <a:r>
              <a:rPr lang="zh-CN" altLang="en-US" dirty="0"/>
              <a:t>不属于共享树的路由器不需要为组做任何工作</a:t>
            </a:r>
            <a:endParaRPr lang="en-US" altLang="zh-CN" dirty="0"/>
          </a:p>
          <a:p>
            <a:pPr lvl="1">
              <a:lnSpc>
                <a:spcPct val="130000"/>
              </a:lnSpc>
            </a:pPr>
            <a:r>
              <a:rPr lang="zh-CN" altLang="en-US" dirty="0"/>
              <a:t>例如协议无关多播</a:t>
            </a:r>
            <a:r>
              <a:rPr lang="en-US" altLang="zh-CN" dirty="0"/>
              <a:t>-</a:t>
            </a:r>
            <a:r>
              <a:rPr lang="zh-CN" altLang="en-US" dirty="0"/>
              <a:t>稀疏方式（</a:t>
            </a:r>
            <a:r>
              <a:rPr lang="en-US" altLang="zh-CN" dirty="0"/>
              <a:t> Protocol Independent Multicast - Sparse Mode</a:t>
            </a:r>
            <a:r>
              <a:rPr lang="zh-CN" altLang="en-US" dirty="0"/>
              <a:t>，</a:t>
            </a:r>
            <a:r>
              <a:rPr lang="en-US" altLang="zh-CN" dirty="0"/>
              <a:t>PIM-SM</a:t>
            </a:r>
            <a:r>
              <a:rPr lang="zh-CN" altLang="en-US" dirty="0"/>
              <a:t>），特定源组播（</a:t>
            </a:r>
            <a:r>
              <a:rPr lang="en-US" altLang="zh-CN" dirty="0"/>
              <a:t> Protocol Independent Multicast - source-specific multicast, PIM-SSM</a:t>
            </a:r>
            <a:r>
              <a:rPr lang="zh-CN" altLang="en-US" dirty="0"/>
              <a:t>）</a:t>
            </a:r>
            <a:endParaRPr lang="en-US" altLang="zh-CN" dirty="0"/>
          </a:p>
          <a:p>
            <a:pPr lvl="1">
              <a:lnSpc>
                <a:spcPct val="130000"/>
              </a:lnSpc>
            </a:pPr>
            <a:endParaRPr lang="en-US" altLang="zh-CN" dirty="0"/>
          </a:p>
          <a:p>
            <a:pPr lvl="1">
              <a:lnSpc>
                <a:spcPct val="130000"/>
              </a:lnSpc>
            </a:pPr>
            <a:endParaRPr lang="en-US" altLang="zh-CN" dirty="0"/>
          </a:p>
          <a:p>
            <a:pPr lvl="1">
              <a:lnSpc>
                <a:spcPct val="130000"/>
              </a:lnSpc>
            </a:pPr>
            <a:endParaRPr lang="en-US" altLang="zh-CN" b="1" dirty="0">
              <a:solidFill>
                <a:srgbClr val="5B307E"/>
              </a:solidFill>
              <a:latin typeface="微软雅黑" panose="020B0503020204020204" pitchFamily="34" charset="-122"/>
              <a:ea typeface="微软雅黑" panose="020B0503020204020204" pitchFamily="34" charset="-122"/>
            </a:endParaRPr>
          </a:p>
          <a:p>
            <a:pPr lvl="1">
              <a:lnSpc>
                <a:spcPct val="130000"/>
              </a:lnSpc>
            </a:pPr>
            <a:endParaRPr lang="en-US" altLang="zh-CN" dirty="0"/>
          </a:p>
          <a:p>
            <a:pPr marL="457200" lvl="1" indent="0">
              <a:lnSpc>
                <a:spcPct val="130000"/>
              </a:lnSpc>
              <a:buNone/>
            </a:pPr>
            <a:endParaRPr lang="en-US" altLang="zh-CN" dirty="0"/>
          </a:p>
        </p:txBody>
      </p:sp>
      <p:sp>
        <p:nvSpPr>
          <p:cNvPr id="6"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424904405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70</a:t>
            </a:fld>
            <a:endParaRPr kumimoji="1" lang="zh-CN" altLang="en-US" dirty="0"/>
          </a:p>
        </p:txBody>
      </p:sp>
      <p:sp>
        <p:nvSpPr>
          <p:cNvPr id="150" name="内容占位符 2">
            <a:extLst>
              <a:ext uri="{FF2B5EF4-FFF2-40B4-BE49-F238E27FC236}">
                <a16:creationId xmlns:a16="http://schemas.microsoft.com/office/drawing/2014/main" id="{735A06E7-467E-475D-B900-BF8906FD0092}"/>
              </a:ext>
            </a:extLst>
          </p:cNvPr>
          <p:cNvSpPr>
            <a:spLocks noGrp="1"/>
          </p:cNvSpPr>
          <p:nvPr>
            <p:ph idx="1"/>
          </p:nvPr>
        </p:nvSpPr>
        <p:spPr>
          <a:xfrm>
            <a:off x="838200" y="1510757"/>
            <a:ext cx="10515600" cy="2584605"/>
          </a:xfrm>
        </p:spPr>
        <p:txBody>
          <a:bodyPr>
            <a:noAutofit/>
          </a:bodyPr>
          <a:lstStyle/>
          <a:p>
            <a:pPr>
              <a:lnSpc>
                <a:spcPct val="130000"/>
              </a:lnSpc>
            </a:pPr>
            <a:r>
              <a:rPr lang="zh-CN" altLang="en-US" sz="2400" dirty="0"/>
              <a:t>协议无关多播</a:t>
            </a:r>
            <a:r>
              <a:rPr lang="en-US" altLang="zh-CN" sz="2400" dirty="0"/>
              <a:t>-</a:t>
            </a:r>
            <a:r>
              <a:rPr lang="zh-CN" altLang="en-US" sz="2400" dirty="0"/>
              <a:t>稀疏方式 </a:t>
            </a:r>
            <a:r>
              <a:rPr lang="en-US" altLang="zh-CN" sz="2400" dirty="0"/>
              <a:t>PIM-SM</a:t>
            </a:r>
          </a:p>
        </p:txBody>
      </p:sp>
      <p:grpSp>
        <p:nvGrpSpPr>
          <p:cNvPr id="6" name="组合 5">
            <a:extLst>
              <a:ext uri="{FF2B5EF4-FFF2-40B4-BE49-F238E27FC236}">
                <a16:creationId xmlns:a16="http://schemas.microsoft.com/office/drawing/2014/main" id="{830D1081-D86A-46B3-AC1F-25371DC34B6B}"/>
              </a:ext>
            </a:extLst>
          </p:cNvPr>
          <p:cNvGrpSpPr/>
          <p:nvPr/>
        </p:nvGrpSpPr>
        <p:grpSpPr>
          <a:xfrm>
            <a:off x="5161737" y="2552654"/>
            <a:ext cx="6382506" cy="3608080"/>
            <a:chOff x="5008885" y="2902561"/>
            <a:chExt cx="6382506" cy="3608080"/>
          </a:xfrm>
        </p:grpSpPr>
        <p:cxnSp>
          <p:nvCxnSpPr>
            <p:cNvPr id="7" name="直接连接符 6">
              <a:extLst>
                <a:ext uri="{FF2B5EF4-FFF2-40B4-BE49-F238E27FC236}">
                  <a16:creationId xmlns:a16="http://schemas.microsoft.com/office/drawing/2014/main" id="{B8738435-BC99-460E-BCEE-EBBD75A85C3C}"/>
                </a:ext>
              </a:extLst>
            </p:cNvPr>
            <p:cNvCxnSpPr>
              <a:cxnSpLocks/>
            </p:cNvCxnSpPr>
            <p:nvPr/>
          </p:nvCxnSpPr>
          <p:spPr>
            <a:xfrm flipH="1" flipV="1">
              <a:off x="6296393" y="5188929"/>
              <a:ext cx="2019452" cy="11250"/>
            </a:xfrm>
            <a:prstGeom prst="line">
              <a:avLst/>
            </a:prstGeom>
            <a:ln w="28575">
              <a:prstDash val="dash"/>
            </a:ln>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id="{E560FF50-0DFD-4AEC-86E7-122EB7A0C82F}"/>
                </a:ext>
              </a:extLst>
            </p:cNvPr>
            <p:cNvCxnSpPr>
              <a:cxnSpLocks/>
            </p:cNvCxnSpPr>
            <p:nvPr/>
          </p:nvCxnSpPr>
          <p:spPr>
            <a:xfrm>
              <a:off x="7759013" y="4513758"/>
              <a:ext cx="446573" cy="619186"/>
            </a:xfrm>
            <a:prstGeom prst="line">
              <a:avLst/>
            </a:prstGeom>
            <a:ln w="28575"/>
          </p:spPr>
          <p:style>
            <a:lnRef idx="1">
              <a:schemeClr val="dk1"/>
            </a:lnRef>
            <a:fillRef idx="0">
              <a:schemeClr val="dk1"/>
            </a:fillRef>
            <a:effectRef idx="0">
              <a:schemeClr val="dk1"/>
            </a:effectRef>
            <a:fontRef idx="minor">
              <a:schemeClr val="tx1"/>
            </a:fontRef>
          </p:style>
        </p:cxnSp>
        <p:pic>
          <p:nvPicPr>
            <p:cNvPr id="9" name="Picture 14">
              <a:extLst>
                <a:ext uri="{FF2B5EF4-FFF2-40B4-BE49-F238E27FC236}">
                  <a16:creationId xmlns:a16="http://schemas.microsoft.com/office/drawing/2014/main" id="{C3CA63B6-F5C5-4619-AF37-44DF5D45AAD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8885" y="5201415"/>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14">
              <a:extLst>
                <a:ext uri="{FF2B5EF4-FFF2-40B4-BE49-F238E27FC236}">
                  <a16:creationId xmlns:a16="http://schemas.microsoft.com/office/drawing/2014/main" id="{3D96E162-3091-442D-B3F5-8F147307606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2181" y="5350818"/>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id="{DBE2A75D-F7EA-4BA9-883C-C7C3A1E8E80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1878" y="3331864"/>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2" name="直接连接符 11">
              <a:extLst>
                <a:ext uri="{FF2B5EF4-FFF2-40B4-BE49-F238E27FC236}">
                  <a16:creationId xmlns:a16="http://schemas.microsoft.com/office/drawing/2014/main" id="{86AF1624-28B8-44BE-BBF7-D8B7D0CF15A4}"/>
                </a:ext>
              </a:extLst>
            </p:cNvPr>
            <p:cNvCxnSpPr>
              <a:cxnSpLocks/>
            </p:cNvCxnSpPr>
            <p:nvPr/>
          </p:nvCxnSpPr>
          <p:spPr>
            <a:xfrm>
              <a:off x="6931813" y="3516090"/>
              <a:ext cx="671968" cy="839652"/>
            </a:xfrm>
            <a:prstGeom prst="line">
              <a:avLst/>
            </a:prstGeom>
            <a:ln w="28575"/>
          </p:spPr>
          <p:style>
            <a:lnRef idx="1">
              <a:schemeClr val="dk1"/>
            </a:lnRef>
            <a:fillRef idx="0">
              <a:schemeClr val="dk1"/>
            </a:fillRef>
            <a:effectRef idx="0">
              <a:schemeClr val="dk1"/>
            </a:effectRef>
            <a:fontRef idx="minor">
              <a:schemeClr val="tx1"/>
            </a:fontRef>
          </p:style>
        </p:cxnSp>
        <p:cxnSp>
          <p:nvCxnSpPr>
            <p:cNvPr id="13" name="直接连接符 12">
              <a:extLst>
                <a:ext uri="{FF2B5EF4-FFF2-40B4-BE49-F238E27FC236}">
                  <a16:creationId xmlns:a16="http://schemas.microsoft.com/office/drawing/2014/main" id="{F37A0CCF-301A-4536-AB24-D39EF8DA37EC}"/>
                </a:ext>
              </a:extLst>
            </p:cNvPr>
            <p:cNvCxnSpPr>
              <a:cxnSpLocks/>
            </p:cNvCxnSpPr>
            <p:nvPr/>
          </p:nvCxnSpPr>
          <p:spPr>
            <a:xfrm flipH="1">
              <a:off x="6298930" y="4473890"/>
              <a:ext cx="1265767" cy="652680"/>
            </a:xfrm>
            <a:prstGeom prst="line">
              <a:avLst/>
            </a:prstGeom>
            <a:ln w="28575"/>
          </p:spPr>
          <p:style>
            <a:lnRef idx="1">
              <a:schemeClr val="dk1"/>
            </a:lnRef>
            <a:fillRef idx="0">
              <a:schemeClr val="dk1"/>
            </a:fillRef>
            <a:effectRef idx="0">
              <a:schemeClr val="dk1"/>
            </a:effectRef>
            <a:fontRef idx="minor">
              <a:schemeClr val="tx1"/>
            </a:fontRef>
          </p:style>
        </p:cxnSp>
        <p:pic>
          <p:nvPicPr>
            <p:cNvPr id="14" name="Picture 57" descr="通用路由器">
              <a:extLst>
                <a:ext uri="{FF2B5EF4-FFF2-40B4-BE49-F238E27FC236}">
                  <a16:creationId xmlns:a16="http://schemas.microsoft.com/office/drawing/2014/main" id="{076BA56A-574F-472A-A6FF-E63E99D9A0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9681" y="5013732"/>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9" descr="服务器终端">
              <a:extLst>
                <a:ext uri="{FF2B5EF4-FFF2-40B4-BE49-F238E27FC236}">
                  <a16:creationId xmlns:a16="http://schemas.microsoft.com/office/drawing/2014/main" id="{6563DEF6-F9DF-458B-97AF-3D8D931EAB47}"/>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380800" y="544012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5" descr="服务器类">
              <a:extLst>
                <a:ext uri="{FF2B5EF4-FFF2-40B4-BE49-F238E27FC236}">
                  <a16:creationId xmlns:a16="http://schemas.microsoft.com/office/drawing/2014/main" id="{74A9330E-E844-4B15-8BF3-67E47C58B2E8}"/>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509020" y="2902561"/>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7" name="文本框 16">
              <a:extLst>
                <a:ext uri="{FF2B5EF4-FFF2-40B4-BE49-F238E27FC236}">
                  <a16:creationId xmlns:a16="http://schemas.microsoft.com/office/drawing/2014/main" id="{4E0192A8-4FFD-4922-B40F-64ABFD8A2B75}"/>
                </a:ext>
              </a:extLst>
            </p:cNvPr>
            <p:cNvSpPr txBox="1"/>
            <p:nvPr/>
          </p:nvSpPr>
          <p:spPr>
            <a:xfrm>
              <a:off x="5989682" y="3693739"/>
              <a:ext cx="1057864"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Server1</a:t>
              </a:r>
              <a:endParaRPr lang="zh-CN" altLang="en-US" dirty="0">
                <a:latin typeface="微软雅黑" panose="020B0503020204020204" pitchFamily="34" charset="-122"/>
                <a:ea typeface="微软雅黑" panose="020B0503020204020204" pitchFamily="34" charset="-122"/>
              </a:endParaRPr>
            </a:p>
          </p:txBody>
        </p:sp>
        <p:sp>
          <p:nvSpPr>
            <p:cNvPr id="18" name="文本框 17">
              <a:extLst>
                <a:ext uri="{FF2B5EF4-FFF2-40B4-BE49-F238E27FC236}">
                  <a16:creationId xmlns:a16="http://schemas.microsoft.com/office/drawing/2014/main" id="{87309C60-CE57-4D3D-BBFE-BC368BD394C1}"/>
                </a:ext>
              </a:extLst>
            </p:cNvPr>
            <p:cNvSpPr txBox="1"/>
            <p:nvPr/>
          </p:nvSpPr>
          <p:spPr>
            <a:xfrm>
              <a:off x="5574846" y="4870570"/>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19" name="文本框 18">
              <a:extLst>
                <a:ext uri="{FF2B5EF4-FFF2-40B4-BE49-F238E27FC236}">
                  <a16:creationId xmlns:a16="http://schemas.microsoft.com/office/drawing/2014/main" id="{7CE2B23D-BC34-4AD0-A6E2-5E8BA9589666}"/>
                </a:ext>
              </a:extLst>
            </p:cNvPr>
            <p:cNvSpPr txBox="1"/>
            <p:nvPr/>
          </p:nvSpPr>
          <p:spPr>
            <a:xfrm>
              <a:off x="7680368" y="5239804"/>
              <a:ext cx="588788"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20" name="文本框 19">
              <a:extLst>
                <a:ext uri="{FF2B5EF4-FFF2-40B4-BE49-F238E27FC236}">
                  <a16:creationId xmlns:a16="http://schemas.microsoft.com/office/drawing/2014/main" id="{B457EBF8-2BBC-4F3E-B330-3E5A701F392D}"/>
                </a:ext>
              </a:extLst>
            </p:cNvPr>
            <p:cNvSpPr txBox="1"/>
            <p:nvPr/>
          </p:nvSpPr>
          <p:spPr>
            <a:xfrm>
              <a:off x="9826996" y="2967397"/>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21" name="Picture 9" descr="服务器终端">
              <a:extLst>
                <a:ext uri="{FF2B5EF4-FFF2-40B4-BE49-F238E27FC236}">
                  <a16:creationId xmlns:a16="http://schemas.microsoft.com/office/drawing/2014/main" id="{BD65C6A7-293A-427B-BA28-AD17AA8DD597}"/>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47006" y="544264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id="{19D3095B-5B15-4B73-A8BA-52039E2326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13212" y="547602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id="{87AED620-9BB7-4A3A-9834-CBFFC758648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69401" y="5788285"/>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id="{E318A7CE-DF8A-4ED4-85DE-B3883DC3B33A}"/>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28326" y="584091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id="{936C1061-C295-496B-BE2A-9B2E37D20E2B}"/>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73034" y="558370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9" descr="服务器终端">
              <a:extLst>
                <a:ext uri="{FF2B5EF4-FFF2-40B4-BE49-F238E27FC236}">
                  <a16:creationId xmlns:a16="http://schemas.microsoft.com/office/drawing/2014/main" id="{273B00D4-0A2A-464F-8332-507FBD25ED5A}"/>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31959" y="563633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9" descr="服务器终端">
              <a:extLst>
                <a:ext uri="{FF2B5EF4-FFF2-40B4-BE49-F238E27FC236}">
                  <a16:creationId xmlns:a16="http://schemas.microsoft.com/office/drawing/2014/main" id="{8473C64A-AD43-4BB7-A0E3-9FD2F81B231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33951" y="592551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9" descr="服务器终端">
              <a:extLst>
                <a:ext uri="{FF2B5EF4-FFF2-40B4-BE49-F238E27FC236}">
                  <a16:creationId xmlns:a16="http://schemas.microsoft.com/office/drawing/2014/main" id="{7F6EFFC4-58C7-4084-8E34-E86713967BF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2876" y="597814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9" descr="服务器终端">
              <a:extLst>
                <a:ext uri="{FF2B5EF4-FFF2-40B4-BE49-F238E27FC236}">
                  <a16:creationId xmlns:a16="http://schemas.microsoft.com/office/drawing/2014/main" id="{55D1B1A2-2343-436B-95CE-6C1635AF7A7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3412" y="563928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9" descr="服务器终端">
              <a:extLst>
                <a:ext uri="{FF2B5EF4-FFF2-40B4-BE49-F238E27FC236}">
                  <a16:creationId xmlns:a16="http://schemas.microsoft.com/office/drawing/2014/main" id="{54BAE008-A3D4-4CAC-ACDE-68F0D8CD3A5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2337" y="5691914"/>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9" descr="服务器终端">
              <a:extLst>
                <a:ext uri="{FF2B5EF4-FFF2-40B4-BE49-F238E27FC236}">
                  <a16:creationId xmlns:a16="http://schemas.microsoft.com/office/drawing/2014/main" id="{BA599456-3FBE-4941-9194-E3F8FC32BD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47429" y="605563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9" descr="服务器终端">
              <a:extLst>
                <a:ext uri="{FF2B5EF4-FFF2-40B4-BE49-F238E27FC236}">
                  <a16:creationId xmlns:a16="http://schemas.microsoft.com/office/drawing/2014/main" id="{44686FD4-89F4-4BB1-85D3-291A4E602D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430" y="35794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9" descr="服务器终端">
              <a:extLst>
                <a:ext uri="{FF2B5EF4-FFF2-40B4-BE49-F238E27FC236}">
                  <a16:creationId xmlns:a16="http://schemas.microsoft.com/office/drawing/2014/main" id="{75AFF152-DEC4-42B3-9860-6CD3898EE6C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9272" y="397390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9" descr="服务器终端">
              <a:extLst>
                <a:ext uri="{FF2B5EF4-FFF2-40B4-BE49-F238E27FC236}">
                  <a16:creationId xmlns:a16="http://schemas.microsoft.com/office/drawing/2014/main" id="{3925A714-EE97-4C2D-ABAB-3B1DC8E86B9D}"/>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98733" y="368766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9" descr="服务器终端">
              <a:extLst>
                <a:ext uri="{FF2B5EF4-FFF2-40B4-BE49-F238E27FC236}">
                  <a16:creationId xmlns:a16="http://schemas.microsoft.com/office/drawing/2014/main" id="{BB5DE8D7-1AEA-4C4F-9566-818A2E20E03C}"/>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73824" y="405139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9" descr="服务器终端">
              <a:extLst>
                <a:ext uri="{FF2B5EF4-FFF2-40B4-BE49-F238E27FC236}">
                  <a16:creationId xmlns:a16="http://schemas.microsoft.com/office/drawing/2014/main" id="{BB765EA1-523B-485B-802B-24179FB592FC}"/>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23954" y="585645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9" descr="服务器终端">
              <a:extLst>
                <a:ext uri="{FF2B5EF4-FFF2-40B4-BE49-F238E27FC236}">
                  <a16:creationId xmlns:a16="http://schemas.microsoft.com/office/drawing/2014/main" id="{08BBDC37-273B-4C88-ACC9-AD114B69E19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189996" y="5511983"/>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9" descr="服务器终端">
              <a:extLst>
                <a:ext uri="{FF2B5EF4-FFF2-40B4-BE49-F238E27FC236}">
                  <a16:creationId xmlns:a16="http://schemas.microsoft.com/office/drawing/2014/main" id="{523AF37E-1B00-44AD-954B-51B971F43B1D}"/>
                </a:ext>
              </a:extLst>
            </p:cNvPr>
            <p:cNvPicPr>
              <a:picLocks noChangeAspect="1" noChangeArrowheads="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rcRect/>
            <a:stretch>
              <a:fillRect/>
            </a:stretch>
          </p:blipFill>
          <p:spPr bwMode="auto">
            <a:xfrm>
              <a:off x="8374436" y="60209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9" descr="服务器终端">
              <a:extLst>
                <a:ext uri="{FF2B5EF4-FFF2-40B4-BE49-F238E27FC236}">
                  <a16:creationId xmlns:a16="http://schemas.microsoft.com/office/drawing/2014/main" id="{9A8188D1-983C-4525-A574-2EEBE095FD43}"/>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69619" y="360647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服务器终端">
              <a:extLst>
                <a:ext uri="{FF2B5EF4-FFF2-40B4-BE49-F238E27FC236}">
                  <a16:creationId xmlns:a16="http://schemas.microsoft.com/office/drawing/2014/main" id="{6D8C4C4A-6200-420D-A8B0-13125859F5F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844926" y="393427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9" descr="服务器终端">
              <a:extLst>
                <a:ext uri="{FF2B5EF4-FFF2-40B4-BE49-F238E27FC236}">
                  <a16:creationId xmlns:a16="http://schemas.microsoft.com/office/drawing/2014/main" id="{9BD9A4D8-CDB9-4E73-A2AB-6F3ADAE0CF6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15597" y="3999578"/>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服务器终端">
              <a:extLst>
                <a:ext uri="{FF2B5EF4-FFF2-40B4-BE49-F238E27FC236}">
                  <a16:creationId xmlns:a16="http://schemas.microsoft.com/office/drawing/2014/main" id="{47A310AC-325B-4884-8025-C58B691A7AE9}"/>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27846" y="3640864"/>
              <a:ext cx="258227" cy="273321"/>
            </a:xfrm>
            <a:prstGeom prst="rect">
              <a:avLst/>
            </a:prstGeom>
            <a:noFill/>
            <a:extLst>
              <a:ext uri="{909E8E84-426E-40DD-AFC4-6F175D3DCCD1}">
                <a14:hiddenFill xmlns:a14="http://schemas.microsoft.com/office/drawing/2010/main">
                  <a:solidFill>
                    <a:srgbClr val="FFFFFF"/>
                  </a:solidFill>
                </a14:hiddenFill>
              </a:ext>
            </a:extLst>
          </p:spPr>
        </p:pic>
        <p:cxnSp>
          <p:nvCxnSpPr>
            <p:cNvPr id="43" name="直接连接符 42">
              <a:extLst>
                <a:ext uri="{FF2B5EF4-FFF2-40B4-BE49-F238E27FC236}">
                  <a16:creationId xmlns:a16="http://schemas.microsoft.com/office/drawing/2014/main" id="{ABC7E74E-45B6-4CFB-B02A-DAFDB5BCC592}"/>
                </a:ext>
              </a:extLst>
            </p:cNvPr>
            <p:cNvCxnSpPr>
              <a:cxnSpLocks/>
            </p:cNvCxnSpPr>
            <p:nvPr/>
          </p:nvCxnSpPr>
          <p:spPr>
            <a:xfrm flipH="1" flipV="1">
              <a:off x="8378432" y="5221472"/>
              <a:ext cx="1666340" cy="18332"/>
            </a:xfrm>
            <a:prstGeom prst="line">
              <a:avLst/>
            </a:prstGeom>
            <a:ln w="28575"/>
          </p:spPr>
          <p:style>
            <a:lnRef idx="1">
              <a:schemeClr val="dk1"/>
            </a:lnRef>
            <a:fillRef idx="0">
              <a:schemeClr val="dk1"/>
            </a:fillRef>
            <a:effectRef idx="0">
              <a:schemeClr val="dk1"/>
            </a:effectRef>
            <a:fontRef idx="minor">
              <a:schemeClr val="tx1"/>
            </a:fontRef>
          </p:style>
        </p:cxnSp>
        <p:sp>
          <p:nvSpPr>
            <p:cNvPr id="44" name="文本框 43">
              <a:extLst>
                <a:ext uri="{FF2B5EF4-FFF2-40B4-BE49-F238E27FC236}">
                  <a16:creationId xmlns:a16="http://schemas.microsoft.com/office/drawing/2014/main" id="{72ECB8CE-3DE7-415F-B158-E4CCAB5FF6C0}"/>
                </a:ext>
              </a:extLst>
            </p:cNvPr>
            <p:cNvSpPr txBox="1"/>
            <p:nvPr/>
          </p:nvSpPr>
          <p:spPr>
            <a:xfrm>
              <a:off x="10284128" y="5392616"/>
              <a:ext cx="1107263"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Server2</a:t>
              </a:r>
              <a:endParaRPr lang="zh-CN" altLang="en-US" dirty="0">
                <a:latin typeface="微软雅黑" panose="020B0503020204020204" pitchFamily="34" charset="-122"/>
                <a:ea typeface="微软雅黑" panose="020B0503020204020204" pitchFamily="34" charset="-122"/>
              </a:endParaRPr>
            </a:p>
          </p:txBody>
        </p:sp>
        <p:cxnSp>
          <p:nvCxnSpPr>
            <p:cNvPr id="45" name="直接连接符 44">
              <a:extLst>
                <a:ext uri="{FF2B5EF4-FFF2-40B4-BE49-F238E27FC236}">
                  <a16:creationId xmlns:a16="http://schemas.microsoft.com/office/drawing/2014/main" id="{C318F6A6-AB2D-4F5A-B8CD-863E2840F3F5}"/>
                </a:ext>
              </a:extLst>
            </p:cNvPr>
            <p:cNvCxnSpPr>
              <a:cxnSpLocks/>
            </p:cNvCxnSpPr>
            <p:nvPr/>
          </p:nvCxnSpPr>
          <p:spPr>
            <a:xfrm flipH="1">
              <a:off x="7790986" y="3458640"/>
              <a:ext cx="1868728" cy="902727"/>
            </a:xfrm>
            <a:prstGeom prst="line">
              <a:avLst/>
            </a:prstGeom>
            <a:ln w="28575"/>
          </p:spPr>
          <p:style>
            <a:lnRef idx="1">
              <a:schemeClr val="dk1"/>
            </a:lnRef>
            <a:fillRef idx="0">
              <a:schemeClr val="dk1"/>
            </a:fillRef>
            <a:effectRef idx="0">
              <a:schemeClr val="dk1"/>
            </a:effectRef>
            <a:fontRef idx="minor">
              <a:schemeClr val="tx1"/>
            </a:fontRef>
          </p:style>
        </p:cxnSp>
        <p:pic>
          <p:nvPicPr>
            <p:cNvPr id="46" name="Picture 25" descr="服务器类">
              <a:extLst>
                <a:ext uri="{FF2B5EF4-FFF2-40B4-BE49-F238E27FC236}">
                  <a16:creationId xmlns:a16="http://schemas.microsoft.com/office/drawing/2014/main" id="{65C4EA50-7C8F-4E3F-88A4-A9E4C108825F}"/>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9930647" y="4725945"/>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47" name="文本框 46">
              <a:extLst>
                <a:ext uri="{FF2B5EF4-FFF2-40B4-BE49-F238E27FC236}">
                  <a16:creationId xmlns:a16="http://schemas.microsoft.com/office/drawing/2014/main" id="{1873DB28-647B-4ECC-9756-DF00AF8798F6}"/>
                </a:ext>
              </a:extLst>
            </p:cNvPr>
            <p:cNvSpPr txBox="1"/>
            <p:nvPr/>
          </p:nvSpPr>
          <p:spPr>
            <a:xfrm>
              <a:off x="7838775" y="4251656"/>
              <a:ext cx="1057864" cy="369332"/>
            </a:xfrm>
            <a:prstGeom prst="rect">
              <a:avLst/>
            </a:prstGeom>
            <a:noFill/>
          </p:spPr>
          <p:txBody>
            <a:bodyPr wrap="square" rtlCol="0">
              <a:spAutoFit/>
            </a:bodyPr>
            <a:lstStyle/>
            <a:p>
              <a:r>
                <a:rPr lang="en-US" altLang="zh-CN" dirty="0">
                  <a:solidFill>
                    <a:srgbClr val="C00000"/>
                  </a:solidFill>
                  <a:latin typeface="微软雅黑" panose="020B0503020204020204" pitchFamily="34" charset="-122"/>
                  <a:ea typeface="微软雅黑" panose="020B0503020204020204" pitchFamily="34" charset="-122"/>
                </a:rPr>
                <a:t>R1 </a:t>
              </a:r>
              <a:r>
                <a:rPr lang="zh-CN" altLang="en-US" dirty="0">
                  <a:solidFill>
                    <a:srgbClr val="C00000"/>
                  </a:solidFill>
                  <a:latin typeface="微软雅黑" panose="020B0503020204020204" pitchFamily="34" charset="-122"/>
                  <a:ea typeface="微软雅黑" panose="020B0503020204020204" pitchFamily="34" charset="-122"/>
                </a:rPr>
                <a:t>核心</a:t>
              </a:r>
            </a:p>
          </p:txBody>
        </p:sp>
        <p:cxnSp>
          <p:nvCxnSpPr>
            <p:cNvPr id="48" name="直接连接符 47">
              <a:extLst>
                <a:ext uri="{FF2B5EF4-FFF2-40B4-BE49-F238E27FC236}">
                  <a16:creationId xmlns:a16="http://schemas.microsoft.com/office/drawing/2014/main" id="{CC7BE6C9-AD2B-4E52-B157-4AEC9F43FDB1}"/>
                </a:ext>
              </a:extLst>
            </p:cNvPr>
            <p:cNvCxnSpPr>
              <a:cxnSpLocks/>
            </p:cNvCxnSpPr>
            <p:nvPr/>
          </p:nvCxnSpPr>
          <p:spPr>
            <a:xfrm flipH="1">
              <a:off x="8261072" y="3410003"/>
              <a:ext cx="1491921" cy="1746832"/>
            </a:xfrm>
            <a:prstGeom prst="line">
              <a:avLst/>
            </a:prstGeom>
            <a:ln w="28575">
              <a:prstDash val="dash"/>
            </a:ln>
          </p:spPr>
          <p:style>
            <a:lnRef idx="1">
              <a:schemeClr val="dk1"/>
            </a:lnRef>
            <a:fillRef idx="0">
              <a:schemeClr val="dk1"/>
            </a:fillRef>
            <a:effectRef idx="0">
              <a:schemeClr val="dk1"/>
            </a:effectRef>
            <a:fontRef idx="minor">
              <a:schemeClr val="tx1"/>
            </a:fontRef>
          </p:style>
        </p:cxnSp>
        <p:pic>
          <p:nvPicPr>
            <p:cNvPr id="49" name="Picture 57" descr="通用路由器">
              <a:extLst>
                <a:ext uri="{FF2B5EF4-FFF2-40B4-BE49-F238E27FC236}">
                  <a16:creationId xmlns:a16="http://schemas.microsoft.com/office/drawing/2014/main" id="{7FF62403-4A3E-46ED-8114-6039C48C3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6554" y="4248639"/>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57" descr="通用路由器">
              <a:extLst>
                <a:ext uri="{FF2B5EF4-FFF2-40B4-BE49-F238E27FC236}">
                  <a16:creationId xmlns:a16="http://schemas.microsoft.com/office/drawing/2014/main" id="{DC53F3CB-7C0D-49C0-8CA4-0C6DE8EB0B5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60630" y="5016553"/>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7" descr="通用路由器">
              <a:extLst>
                <a:ext uri="{FF2B5EF4-FFF2-40B4-BE49-F238E27FC236}">
                  <a16:creationId xmlns:a16="http://schemas.microsoft.com/office/drawing/2014/main" id="{0B19D4C4-12AF-47A0-88A9-395EBE383E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97778" y="3238790"/>
              <a:ext cx="510431" cy="375366"/>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52" name="直接箭头连接符 51">
            <a:extLst>
              <a:ext uri="{FF2B5EF4-FFF2-40B4-BE49-F238E27FC236}">
                <a16:creationId xmlns:a16="http://schemas.microsoft.com/office/drawing/2014/main" id="{8BE5D82C-C162-4275-B150-C4C50E82325F}"/>
              </a:ext>
            </a:extLst>
          </p:cNvPr>
          <p:cNvCxnSpPr>
            <a:cxnSpLocks/>
          </p:cNvCxnSpPr>
          <p:nvPr/>
        </p:nvCxnSpPr>
        <p:spPr>
          <a:xfrm>
            <a:off x="7099465" y="3370201"/>
            <a:ext cx="404100" cy="518160"/>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3" name="任意多边形: 形状 52">
            <a:extLst>
              <a:ext uri="{FF2B5EF4-FFF2-40B4-BE49-F238E27FC236}">
                <a16:creationId xmlns:a16="http://schemas.microsoft.com/office/drawing/2014/main" id="{219F79BE-7B90-4C0B-BAC5-651E2D53D011}"/>
              </a:ext>
            </a:extLst>
          </p:cNvPr>
          <p:cNvSpPr/>
          <p:nvPr/>
        </p:nvSpPr>
        <p:spPr>
          <a:xfrm>
            <a:off x="8115324" y="4222900"/>
            <a:ext cx="1772656" cy="544546"/>
          </a:xfrm>
          <a:custGeom>
            <a:avLst/>
            <a:gdLst>
              <a:gd name="connsiteX0" fmla="*/ 1699491 w 1699491"/>
              <a:gd name="connsiteY0" fmla="*/ 517236 h 517643"/>
              <a:gd name="connsiteX1" fmla="*/ 600364 w 1699491"/>
              <a:gd name="connsiteY1" fmla="*/ 434109 h 517643"/>
              <a:gd name="connsiteX2" fmla="*/ 0 w 1699491"/>
              <a:gd name="connsiteY2" fmla="*/ 0 h 517643"/>
            </a:gdLst>
            <a:ahLst/>
            <a:cxnLst>
              <a:cxn ang="0">
                <a:pos x="connsiteX0" y="connsiteY0"/>
              </a:cxn>
              <a:cxn ang="0">
                <a:pos x="connsiteX1" y="connsiteY1"/>
              </a:cxn>
              <a:cxn ang="0">
                <a:pos x="connsiteX2" y="connsiteY2"/>
              </a:cxn>
            </a:cxnLst>
            <a:rect l="l" t="t" r="r" b="b"/>
            <a:pathLst>
              <a:path w="1699491" h="517643">
                <a:moveTo>
                  <a:pt x="1699491" y="517236"/>
                </a:moveTo>
                <a:cubicBezTo>
                  <a:pt x="1291552" y="518775"/>
                  <a:pt x="883613" y="520315"/>
                  <a:pt x="600364" y="434109"/>
                </a:cubicBezTo>
                <a:cubicBezTo>
                  <a:pt x="317115" y="347903"/>
                  <a:pt x="158557" y="173951"/>
                  <a:pt x="0" y="0"/>
                </a:cubicBezTo>
              </a:path>
            </a:pathLst>
          </a:custGeom>
          <a:noFill/>
          <a:ln w="28575">
            <a:solidFill>
              <a:srgbClr val="B348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B348FF"/>
              </a:solidFill>
            </a:endParaRPr>
          </a:p>
        </p:txBody>
      </p:sp>
      <p:cxnSp>
        <p:nvCxnSpPr>
          <p:cNvPr id="54" name="直接箭头连接符 53">
            <a:extLst>
              <a:ext uri="{FF2B5EF4-FFF2-40B4-BE49-F238E27FC236}">
                <a16:creationId xmlns:a16="http://schemas.microsoft.com/office/drawing/2014/main" id="{E2F204FA-3CAF-4641-8654-774ED3105B88}"/>
              </a:ext>
            </a:extLst>
          </p:cNvPr>
          <p:cNvCxnSpPr>
            <a:cxnSpLocks/>
          </p:cNvCxnSpPr>
          <p:nvPr/>
        </p:nvCxnSpPr>
        <p:spPr>
          <a:xfrm flipH="1">
            <a:off x="6602859" y="4121621"/>
            <a:ext cx="796076" cy="426968"/>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B967FABD-07ED-48E3-862C-A9E365312A5D}"/>
              </a:ext>
            </a:extLst>
          </p:cNvPr>
          <p:cNvCxnSpPr>
            <a:cxnSpLocks/>
          </p:cNvCxnSpPr>
          <p:nvPr/>
        </p:nvCxnSpPr>
        <p:spPr>
          <a:xfrm>
            <a:off x="7894000" y="4370267"/>
            <a:ext cx="267723" cy="354492"/>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id="{6947453C-6B24-4115-95DD-A5F7C8CFF5AA}"/>
              </a:ext>
            </a:extLst>
          </p:cNvPr>
          <p:cNvCxnSpPr>
            <a:cxnSpLocks/>
          </p:cNvCxnSpPr>
          <p:nvPr/>
        </p:nvCxnSpPr>
        <p:spPr>
          <a:xfrm flipV="1">
            <a:off x="8106967" y="3123847"/>
            <a:ext cx="1390826" cy="661603"/>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4D7354EF-2DC2-4497-B971-2E0A8A8B8419}"/>
              </a:ext>
            </a:extLst>
          </p:cNvPr>
          <p:cNvCxnSpPr/>
          <p:nvPr/>
        </p:nvCxnSpPr>
        <p:spPr>
          <a:xfrm flipH="1">
            <a:off x="6740781" y="4330083"/>
            <a:ext cx="820587" cy="429186"/>
          </a:xfrm>
          <a:prstGeom prst="straightConnector1">
            <a:avLst/>
          </a:prstGeom>
          <a:noFill/>
          <a:ln w="28575">
            <a:solidFill>
              <a:srgbClr val="B348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cxnSp>
        <p:nvCxnSpPr>
          <p:cNvPr id="58" name="直接连接符 57">
            <a:extLst>
              <a:ext uri="{FF2B5EF4-FFF2-40B4-BE49-F238E27FC236}">
                <a16:creationId xmlns:a16="http://schemas.microsoft.com/office/drawing/2014/main" id="{D7C9A8AA-30E3-4A69-BE7B-0513361710A4}"/>
              </a:ext>
            </a:extLst>
          </p:cNvPr>
          <p:cNvCxnSpPr>
            <a:cxnSpLocks/>
            <a:stCxn id="47" idx="0"/>
          </p:cNvCxnSpPr>
          <p:nvPr/>
        </p:nvCxnSpPr>
        <p:spPr>
          <a:xfrm flipV="1">
            <a:off x="8520559" y="3427797"/>
            <a:ext cx="966060" cy="473952"/>
          </a:xfrm>
          <a:prstGeom prst="line">
            <a:avLst/>
          </a:prstGeom>
          <a:noFill/>
          <a:ln w="28575">
            <a:solidFill>
              <a:srgbClr val="B348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sp>
        <p:nvSpPr>
          <p:cNvPr id="59" name="文本框 58">
            <a:extLst>
              <a:ext uri="{FF2B5EF4-FFF2-40B4-BE49-F238E27FC236}">
                <a16:creationId xmlns:a16="http://schemas.microsoft.com/office/drawing/2014/main" id="{DABABA2D-F98C-4AC4-8C01-0A47FD0B04DE}"/>
              </a:ext>
            </a:extLst>
          </p:cNvPr>
          <p:cNvSpPr txBox="1"/>
          <p:nvPr/>
        </p:nvSpPr>
        <p:spPr>
          <a:xfrm>
            <a:off x="6996716" y="3576814"/>
            <a:ext cx="415498" cy="369332"/>
          </a:xfrm>
          <a:prstGeom prst="rect">
            <a:avLst/>
          </a:prstGeom>
          <a:noFill/>
        </p:spPr>
        <p:txBody>
          <a:bodyPr wrap="none" rtlCol="0">
            <a:spAutoFit/>
          </a:bodyPr>
          <a:lstStyle/>
          <a:p>
            <a:r>
              <a:rPr lang="zh-CN" altLang="en-US" dirty="0">
                <a:solidFill>
                  <a:srgbClr val="00B050"/>
                </a:solidFill>
              </a:rPr>
              <a:t>❶</a:t>
            </a:r>
          </a:p>
        </p:txBody>
      </p:sp>
      <p:sp>
        <p:nvSpPr>
          <p:cNvPr id="60" name="文本框 59">
            <a:extLst>
              <a:ext uri="{FF2B5EF4-FFF2-40B4-BE49-F238E27FC236}">
                <a16:creationId xmlns:a16="http://schemas.microsoft.com/office/drawing/2014/main" id="{860EB439-60AD-4F51-B70E-A28C1239CA04}"/>
              </a:ext>
            </a:extLst>
          </p:cNvPr>
          <p:cNvSpPr txBox="1"/>
          <p:nvPr/>
        </p:nvSpPr>
        <p:spPr>
          <a:xfrm>
            <a:off x="8441872" y="3146374"/>
            <a:ext cx="415498" cy="369332"/>
          </a:xfrm>
          <a:prstGeom prst="rect">
            <a:avLst/>
          </a:prstGeom>
          <a:noFill/>
        </p:spPr>
        <p:txBody>
          <a:bodyPr wrap="none" rtlCol="0">
            <a:spAutoFit/>
          </a:bodyPr>
          <a:lstStyle/>
          <a:p>
            <a:r>
              <a:rPr lang="zh-CN" altLang="en-US" dirty="0">
                <a:solidFill>
                  <a:srgbClr val="00B050"/>
                </a:solidFill>
              </a:rPr>
              <a:t>❷</a:t>
            </a:r>
          </a:p>
        </p:txBody>
      </p:sp>
      <p:sp>
        <p:nvSpPr>
          <p:cNvPr id="61" name="文本框 60">
            <a:extLst>
              <a:ext uri="{FF2B5EF4-FFF2-40B4-BE49-F238E27FC236}">
                <a16:creationId xmlns:a16="http://schemas.microsoft.com/office/drawing/2014/main" id="{B27AFB35-E955-4295-BB9B-54C7EEB6AEED}"/>
              </a:ext>
            </a:extLst>
          </p:cNvPr>
          <p:cNvSpPr txBox="1"/>
          <p:nvPr/>
        </p:nvSpPr>
        <p:spPr>
          <a:xfrm>
            <a:off x="8924203" y="4445392"/>
            <a:ext cx="415498" cy="369332"/>
          </a:xfrm>
          <a:prstGeom prst="rect">
            <a:avLst/>
          </a:prstGeom>
          <a:noFill/>
        </p:spPr>
        <p:txBody>
          <a:bodyPr wrap="none" rtlCol="0">
            <a:spAutoFit/>
          </a:bodyPr>
          <a:lstStyle/>
          <a:p>
            <a:r>
              <a:rPr lang="zh-CN" altLang="en-US" dirty="0">
                <a:solidFill>
                  <a:srgbClr val="B348FF"/>
                </a:solidFill>
              </a:rPr>
              <a:t>❶</a:t>
            </a:r>
          </a:p>
        </p:txBody>
      </p:sp>
      <p:sp>
        <p:nvSpPr>
          <p:cNvPr id="62" name="文本框 61">
            <a:extLst>
              <a:ext uri="{FF2B5EF4-FFF2-40B4-BE49-F238E27FC236}">
                <a16:creationId xmlns:a16="http://schemas.microsoft.com/office/drawing/2014/main" id="{121AE7BA-5043-4389-8E80-56F4A813CEE1}"/>
              </a:ext>
            </a:extLst>
          </p:cNvPr>
          <p:cNvSpPr txBox="1"/>
          <p:nvPr/>
        </p:nvSpPr>
        <p:spPr>
          <a:xfrm>
            <a:off x="6655567" y="4003933"/>
            <a:ext cx="415498" cy="369332"/>
          </a:xfrm>
          <a:prstGeom prst="rect">
            <a:avLst/>
          </a:prstGeom>
          <a:noFill/>
        </p:spPr>
        <p:txBody>
          <a:bodyPr wrap="none" rtlCol="0">
            <a:spAutoFit/>
          </a:bodyPr>
          <a:lstStyle/>
          <a:p>
            <a:r>
              <a:rPr lang="zh-CN" altLang="en-US" dirty="0">
                <a:solidFill>
                  <a:srgbClr val="00B050"/>
                </a:solidFill>
              </a:rPr>
              <a:t>❷</a:t>
            </a:r>
          </a:p>
        </p:txBody>
      </p:sp>
      <p:sp>
        <p:nvSpPr>
          <p:cNvPr id="63" name="文本框 62">
            <a:extLst>
              <a:ext uri="{FF2B5EF4-FFF2-40B4-BE49-F238E27FC236}">
                <a16:creationId xmlns:a16="http://schemas.microsoft.com/office/drawing/2014/main" id="{F49ADBEF-8A8B-468B-840E-130E63BCBBF2}"/>
              </a:ext>
            </a:extLst>
          </p:cNvPr>
          <p:cNvSpPr txBox="1"/>
          <p:nvPr/>
        </p:nvSpPr>
        <p:spPr>
          <a:xfrm>
            <a:off x="7687856" y="4420933"/>
            <a:ext cx="415498" cy="369332"/>
          </a:xfrm>
          <a:prstGeom prst="rect">
            <a:avLst/>
          </a:prstGeom>
          <a:noFill/>
        </p:spPr>
        <p:txBody>
          <a:bodyPr wrap="none" rtlCol="0">
            <a:spAutoFit/>
          </a:bodyPr>
          <a:lstStyle/>
          <a:p>
            <a:r>
              <a:rPr lang="zh-CN" altLang="en-US" dirty="0">
                <a:solidFill>
                  <a:srgbClr val="00B050"/>
                </a:solidFill>
              </a:rPr>
              <a:t>❷</a:t>
            </a:r>
          </a:p>
        </p:txBody>
      </p:sp>
      <p:sp>
        <p:nvSpPr>
          <p:cNvPr id="64" name="文本框 63">
            <a:extLst>
              <a:ext uri="{FF2B5EF4-FFF2-40B4-BE49-F238E27FC236}">
                <a16:creationId xmlns:a16="http://schemas.microsoft.com/office/drawing/2014/main" id="{28EECFAE-529D-4244-B213-5655AAEBF181}"/>
              </a:ext>
            </a:extLst>
          </p:cNvPr>
          <p:cNvSpPr txBox="1"/>
          <p:nvPr/>
        </p:nvSpPr>
        <p:spPr>
          <a:xfrm>
            <a:off x="8918119" y="3588172"/>
            <a:ext cx="415498" cy="369332"/>
          </a:xfrm>
          <a:prstGeom prst="rect">
            <a:avLst/>
          </a:prstGeom>
          <a:noFill/>
        </p:spPr>
        <p:txBody>
          <a:bodyPr wrap="none" rtlCol="0">
            <a:spAutoFit/>
          </a:bodyPr>
          <a:lstStyle/>
          <a:p>
            <a:r>
              <a:rPr lang="zh-CN" altLang="en-US" dirty="0">
                <a:solidFill>
                  <a:srgbClr val="B348FF"/>
                </a:solidFill>
              </a:rPr>
              <a:t>❷</a:t>
            </a:r>
          </a:p>
        </p:txBody>
      </p:sp>
      <p:sp>
        <p:nvSpPr>
          <p:cNvPr id="65" name="文本框 64">
            <a:extLst>
              <a:ext uri="{FF2B5EF4-FFF2-40B4-BE49-F238E27FC236}">
                <a16:creationId xmlns:a16="http://schemas.microsoft.com/office/drawing/2014/main" id="{296A5BD3-5158-4F96-AF16-4042FD5C2C41}"/>
              </a:ext>
            </a:extLst>
          </p:cNvPr>
          <p:cNvSpPr txBox="1"/>
          <p:nvPr/>
        </p:nvSpPr>
        <p:spPr>
          <a:xfrm>
            <a:off x="7145690" y="4445713"/>
            <a:ext cx="415498" cy="369332"/>
          </a:xfrm>
          <a:prstGeom prst="rect">
            <a:avLst/>
          </a:prstGeom>
          <a:noFill/>
        </p:spPr>
        <p:txBody>
          <a:bodyPr wrap="none" rtlCol="0">
            <a:spAutoFit/>
          </a:bodyPr>
          <a:lstStyle/>
          <a:p>
            <a:r>
              <a:rPr lang="zh-CN" altLang="en-US" dirty="0">
                <a:solidFill>
                  <a:srgbClr val="B348FF"/>
                </a:solidFill>
              </a:rPr>
              <a:t>❷</a:t>
            </a:r>
          </a:p>
        </p:txBody>
      </p:sp>
      <p:sp>
        <p:nvSpPr>
          <p:cNvPr id="3" name="矩形 2">
            <a:extLst>
              <a:ext uri="{FF2B5EF4-FFF2-40B4-BE49-F238E27FC236}">
                <a16:creationId xmlns:a16="http://schemas.microsoft.com/office/drawing/2014/main" id="{5E55C962-8F98-4C15-A0B0-6BF81AF6A528}"/>
              </a:ext>
            </a:extLst>
          </p:cNvPr>
          <p:cNvSpPr/>
          <p:nvPr/>
        </p:nvSpPr>
        <p:spPr>
          <a:xfrm>
            <a:off x="374997" y="2536892"/>
            <a:ext cx="4460593" cy="2854115"/>
          </a:xfrm>
          <a:prstGeom prst="rect">
            <a:avLst/>
          </a:prstGeom>
        </p:spPr>
        <p:txBody>
          <a:bodyPr wrap="square">
            <a:spAutoFit/>
          </a:bodyPr>
          <a:lstStyle/>
          <a:p>
            <a:pPr marL="914400" lvl="1" indent="-457200">
              <a:lnSpc>
                <a:spcPct val="130000"/>
              </a:lnSpc>
              <a:buFont typeface="+mj-ea"/>
              <a:buAutoNum type="circleNumDbPlain"/>
            </a:pPr>
            <a:r>
              <a:rPr lang="en-US" altLang="zh-CN" sz="2000" dirty="0">
                <a:latin typeface="微软雅黑" panose="020B0503020204020204" pitchFamily="34" charset="-122"/>
                <a:ea typeface="微软雅黑" panose="020B0503020204020204" pitchFamily="34" charset="-122"/>
              </a:rPr>
              <a:t>RP ( Rendezvous Point )</a:t>
            </a:r>
            <a:r>
              <a:rPr lang="zh-CN" altLang="en-US" sz="2000" dirty="0">
                <a:latin typeface="微软雅黑" panose="020B0503020204020204" pitchFamily="34" charset="-122"/>
                <a:ea typeface="微软雅黑" panose="020B0503020204020204" pitchFamily="34" charset="-122"/>
              </a:rPr>
              <a:t>，组播流量汇聚点，所有组播接收路由器以</a:t>
            </a:r>
            <a:r>
              <a:rPr lang="en-US" altLang="zh-CN" sz="2000" dirty="0">
                <a:latin typeface="微软雅黑" panose="020B0503020204020204" pitchFamily="34" charset="-122"/>
                <a:ea typeface="微软雅黑" panose="020B0503020204020204" pitchFamily="34" charset="-122"/>
              </a:rPr>
              <a:t>RP</a:t>
            </a:r>
            <a:r>
              <a:rPr lang="zh-CN" altLang="en-US" sz="2000" dirty="0">
                <a:latin typeface="微软雅黑" panose="020B0503020204020204" pitchFamily="34" charset="-122"/>
                <a:ea typeface="微软雅黑" panose="020B0503020204020204" pitchFamily="34" charset="-122"/>
              </a:rPr>
              <a:t>为树根构建共享树</a:t>
            </a:r>
            <a:r>
              <a:rPr lang="en-US" altLang="zh-CN" sz="2000" dirty="0">
                <a:latin typeface="微软雅黑" panose="020B0503020204020204" pitchFamily="34" charset="-122"/>
                <a:ea typeface="微软雅黑" panose="020B0503020204020204" pitchFamily="34" charset="-122"/>
              </a:rPr>
              <a:t>(RPT)</a:t>
            </a:r>
            <a:r>
              <a:rPr lang="zh-CN" altLang="en-US" sz="2000" dirty="0">
                <a:latin typeface="微软雅黑" panose="020B0503020204020204" pitchFamily="34" charset="-122"/>
                <a:ea typeface="微软雅黑" panose="020B0503020204020204" pitchFamily="34" charset="-122"/>
              </a:rPr>
              <a:t>；</a:t>
            </a:r>
            <a:endParaRPr lang="en-US" altLang="zh-CN" sz="2000" dirty="0">
              <a:latin typeface="微软雅黑" panose="020B0503020204020204" pitchFamily="34" charset="-122"/>
              <a:ea typeface="微软雅黑" panose="020B0503020204020204" pitchFamily="34" charset="-122"/>
            </a:endParaRPr>
          </a:p>
          <a:p>
            <a:pPr marL="914400" lvl="1" indent="-457200">
              <a:lnSpc>
                <a:spcPct val="130000"/>
              </a:lnSpc>
              <a:buFont typeface="+mj-ea"/>
              <a:buAutoNum type="circleNumDbPlain"/>
            </a:pPr>
            <a:r>
              <a:rPr lang="zh-CN" altLang="en-US" sz="2000" dirty="0">
                <a:latin typeface="微软雅黑" panose="020B0503020204020204" pitchFamily="34" charset="-122"/>
                <a:ea typeface="微软雅黑" panose="020B0503020204020204" pitchFamily="34" charset="-122"/>
              </a:rPr>
              <a:t>发送端路由器将组播报文发给</a:t>
            </a:r>
            <a:r>
              <a:rPr lang="en-US" altLang="zh-CN" sz="2000" dirty="0">
                <a:latin typeface="微软雅黑" panose="020B0503020204020204" pitchFamily="34" charset="-122"/>
                <a:ea typeface="微软雅黑" panose="020B0503020204020204" pitchFamily="34" charset="-122"/>
              </a:rPr>
              <a:t>RP</a:t>
            </a:r>
            <a:r>
              <a:rPr lang="zh-CN" altLang="en-US" sz="2000" dirty="0">
                <a:latin typeface="微软雅黑" panose="020B0503020204020204" pitchFamily="34" charset="-122"/>
                <a:ea typeface="微软雅黑" panose="020B0503020204020204" pitchFamily="34" charset="-122"/>
              </a:rPr>
              <a:t>（通过最短路径），</a:t>
            </a:r>
            <a:r>
              <a:rPr lang="en-US" altLang="zh-CN" sz="2000" dirty="0">
                <a:latin typeface="微软雅黑" panose="020B0503020204020204" pitchFamily="34" charset="-122"/>
                <a:ea typeface="微软雅黑" panose="020B0503020204020204" pitchFamily="34" charset="-122"/>
              </a:rPr>
              <a:t>RP</a:t>
            </a:r>
            <a:r>
              <a:rPr lang="zh-CN" altLang="en-US" sz="2000" dirty="0">
                <a:latin typeface="微软雅黑" panose="020B0503020204020204" pitchFamily="34" charset="-122"/>
                <a:ea typeface="微软雅黑" panose="020B0503020204020204" pitchFamily="34" charset="-122"/>
              </a:rPr>
              <a:t>再通过</a:t>
            </a:r>
            <a:r>
              <a:rPr lang="en-US" altLang="zh-CN" sz="2000" dirty="0">
                <a:latin typeface="微软雅黑" panose="020B0503020204020204" pitchFamily="34" charset="-122"/>
                <a:ea typeface="微软雅黑" panose="020B0503020204020204" pitchFamily="34" charset="-122"/>
              </a:rPr>
              <a:t>RPT</a:t>
            </a:r>
            <a:r>
              <a:rPr lang="zh-CN" altLang="en-US" sz="2000" dirty="0">
                <a:latin typeface="微软雅黑" panose="020B0503020204020204" pitchFamily="34" charset="-122"/>
                <a:ea typeface="微软雅黑" panose="020B0503020204020204" pitchFamily="34" charset="-122"/>
              </a:rPr>
              <a:t>分发组接收者</a:t>
            </a:r>
            <a:endParaRPr lang="en-US" altLang="zh-CN" sz="2400" dirty="0">
              <a:latin typeface="微软雅黑" panose="020B0503020204020204" pitchFamily="34" charset="-122"/>
              <a:ea typeface="微软雅黑" panose="020B0503020204020204" pitchFamily="34" charset="-122"/>
            </a:endParaRPr>
          </a:p>
        </p:txBody>
      </p:sp>
      <p:sp>
        <p:nvSpPr>
          <p:cNvPr id="67"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854599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500"/>
                            </p:stCondLst>
                            <p:childTnLst>
                              <p:par>
                                <p:cTn id="13" presetID="22" presetClass="entr" presetSubtype="1" fill="hold"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wipe(up)">
                                      <p:cBhvr>
                                        <p:cTn id="15" dur="500"/>
                                        <p:tgtEl>
                                          <p:spTgt spid="52"/>
                                        </p:tgtEl>
                                      </p:cBhvr>
                                    </p:animEffect>
                                  </p:childTnLst>
                                </p:cTn>
                              </p:par>
                              <p:par>
                                <p:cTn id="16" presetID="1" presetClass="entr" presetSubtype="0" fill="hold" grpId="0" nodeType="withEffect">
                                  <p:stCondLst>
                                    <p:cond delay="0"/>
                                  </p:stCondLst>
                                  <p:childTnLst>
                                    <p:set>
                                      <p:cBhvr>
                                        <p:cTn id="17" dur="1" fill="hold">
                                          <p:stCondLst>
                                            <p:cond delay="0"/>
                                          </p:stCondLst>
                                        </p:cTn>
                                        <p:tgtEl>
                                          <p:spTgt spid="59"/>
                                        </p:tgtEl>
                                        <p:attrNameLst>
                                          <p:attrName>style.visibility</p:attrName>
                                        </p:attrNameLst>
                                      </p:cBhvr>
                                      <p:to>
                                        <p:strVal val="visible"/>
                                      </p:to>
                                    </p:set>
                                  </p:childTnLst>
                                </p:cTn>
                              </p:par>
                              <p:par>
                                <p:cTn id="18" presetID="22" presetClass="entr" presetSubtype="4" fill="hold" grpId="0" nodeType="withEffect">
                                  <p:stCondLst>
                                    <p:cond delay="0"/>
                                  </p:stCondLst>
                                  <p:childTnLst>
                                    <p:set>
                                      <p:cBhvr>
                                        <p:cTn id="19" dur="1" fill="hold">
                                          <p:stCondLst>
                                            <p:cond delay="0"/>
                                          </p:stCondLst>
                                        </p:cTn>
                                        <p:tgtEl>
                                          <p:spTgt spid="53"/>
                                        </p:tgtEl>
                                        <p:attrNameLst>
                                          <p:attrName>style.visibility</p:attrName>
                                        </p:attrNameLst>
                                      </p:cBhvr>
                                      <p:to>
                                        <p:strVal val="visible"/>
                                      </p:to>
                                    </p:set>
                                    <p:animEffect transition="in" filter="wipe(down)">
                                      <p:cBhvr>
                                        <p:cTn id="20" dur="500"/>
                                        <p:tgtEl>
                                          <p:spTgt spid="53"/>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6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1" end="1"/>
                                            </p:txEl>
                                          </p:spTgt>
                                        </p:tgtEl>
                                        <p:attrNameLst>
                                          <p:attrName>style.visibility</p:attrName>
                                        </p:attrNameLst>
                                      </p:cBhvr>
                                      <p:to>
                                        <p:strVal val="visible"/>
                                      </p:to>
                                    </p:set>
                                    <p:animEffect transition="in" filter="fade">
                                      <p:cBhvr>
                                        <p:cTn id="27" dur="500"/>
                                        <p:tgtEl>
                                          <p:spTgt spid="3">
                                            <p:txEl>
                                              <p:pRg st="1" end="1"/>
                                            </p:txEl>
                                          </p:spTgt>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par>
                                <p:cTn id="32" presetID="1" presetClass="entr" presetSubtype="0" fill="hold" grpId="0" nodeType="withEffect">
                                  <p:stCondLst>
                                    <p:cond delay="0"/>
                                  </p:stCondLst>
                                  <p:childTnLst>
                                    <p:set>
                                      <p:cBhvr>
                                        <p:cTn id="33" dur="1" fill="hold">
                                          <p:stCondLst>
                                            <p:cond delay="0"/>
                                          </p:stCondLst>
                                        </p:cTn>
                                        <p:tgtEl>
                                          <p:spTgt spid="62"/>
                                        </p:tgtEl>
                                        <p:attrNameLst>
                                          <p:attrName>style.visibility</p:attrName>
                                        </p:attrNameLst>
                                      </p:cBhvr>
                                      <p:to>
                                        <p:strVal val="visible"/>
                                      </p:to>
                                    </p:set>
                                  </p:childTnLst>
                                </p:cTn>
                              </p:par>
                              <p:par>
                                <p:cTn id="34" presetID="22" presetClass="entr" presetSubtype="8" fill="hold" nodeType="with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par>
                                <p:cTn id="37" presetID="1" presetClass="entr" presetSubtype="0" fill="hold" grpId="0" nodeType="withEffect">
                                  <p:stCondLst>
                                    <p:cond delay="0"/>
                                  </p:stCondLst>
                                  <p:childTnLst>
                                    <p:set>
                                      <p:cBhvr>
                                        <p:cTn id="38" dur="1" fill="hold">
                                          <p:stCondLst>
                                            <p:cond delay="0"/>
                                          </p:stCondLst>
                                        </p:cTn>
                                        <p:tgtEl>
                                          <p:spTgt spid="60"/>
                                        </p:tgtEl>
                                        <p:attrNameLst>
                                          <p:attrName>style.visibility</p:attrName>
                                        </p:attrNameLst>
                                      </p:cBhvr>
                                      <p:to>
                                        <p:strVal val="visible"/>
                                      </p:to>
                                    </p:set>
                                  </p:childTnLst>
                                </p:cTn>
                              </p:par>
                              <p:par>
                                <p:cTn id="39" presetID="22" presetClass="entr" presetSubtype="1" fill="hold" nodeType="withEffect">
                                  <p:stCondLst>
                                    <p:cond delay="0"/>
                                  </p:stCondLst>
                                  <p:childTnLst>
                                    <p:set>
                                      <p:cBhvr>
                                        <p:cTn id="40" dur="1" fill="hold">
                                          <p:stCondLst>
                                            <p:cond delay="0"/>
                                          </p:stCondLst>
                                        </p:cTn>
                                        <p:tgtEl>
                                          <p:spTgt spid="55"/>
                                        </p:tgtEl>
                                        <p:attrNameLst>
                                          <p:attrName>style.visibility</p:attrName>
                                        </p:attrNameLst>
                                      </p:cBhvr>
                                      <p:to>
                                        <p:strVal val="visible"/>
                                      </p:to>
                                    </p:set>
                                    <p:animEffect transition="in" filter="wipe(up)">
                                      <p:cBhvr>
                                        <p:cTn id="41" dur="500"/>
                                        <p:tgtEl>
                                          <p:spTgt spid="55"/>
                                        </p:tgtEl>
                                      </p:cBhvr>
                                    </p:animEffect>
                                  </p:childTnLst>
                                </p:cTn>
                              </p:par>
                              <p:par>
                                <p:cTn id="42" presetID="1" presetClass="entr" presetSubtype="0" fill="hold" grpId="0" nodeType="withEffect">
                                  <p:stCondLst>
                                    <p:cond delay="0"/>
                                  </p:stCondLst>
                                  <p:childTnLst>
                                    <p:set>
                                      <p:cBhvr>
                                        <p:cTn id="43" dur="1" fill="hold">
                                          <p:stCondLst>
                                            <p:cond delay="0"/>
                                          </p:stCondLst>
                                        </p:cTn>
                                        <p:tgtEl>
                                          <p:spTgt spid="65"/>
                                        </p:tgtEl>
                                        <p:attrNameLst>
                                          <p:attrName>style.visibility</p:attrName>
                                        </p:attrNameLst>
                                      </p:cBhvr>
                                      <p:to>
                                        <p:strVal val="visible"/>
                                      </p:to>
                                    </p:set>
                                  </p:childTnLst>
                                </p:cTn>
                              </p:par>
                              <p:par>
                                <p:cTn id="44" presetID="22" presetClass="entr" presetSubtype="2" fill="hold" nodeType="withEffect">
                                  <p:stCondLst>
                                    <p:cond delay="0"/>
                                  </p:stCondLst>
                                  <p:childTnLst>
                                    <p:set>
                                      <p:cBhvr>
                                        <p:cTn id="45" dur="1" fill="hold">
                                          <p:stCondLst>
                                            <p:cond delay="0"/>
                                          </p:stCondLst>
                                        </p:cTn>
                                        <p:tgtEl>
                                          <p:spTgt spid="57"/>
                                        </p:tgtEl>
                                        <p:attrNameLst>
                                          <p:attrName>style.visibility</p:attrName>
                                        </p:attrNameLst>
                                      </p:cBhvr>
                                      <p:to>
                                        <p:strVal val="visible"/>
                                      </p:to>
                                    </p:set>
                                    <p:animEffect transition="in" filter="wipe(right)">
                                      <p:cBhvr>
                                        <p:cTn id="46" dur="500"/>
                                        <p:tgtEl>
                                          <p:spTgt spid="57"/>
                                        </p:tgtEl>
                                      </p:cBhvr>
                                    </p:animEffect>
                                  </p:childTnLst>
                                </p:cTn>
                              </p:par>
                              <p:par>
                                <p:cTn id="47" presetID="1" presetClass="entr" presetSubtype="0" fill="hold" grpId="0" nodeType="withEffect">
                                  <p:stCondLst>
                                    <p:cond delay="0"/>
                                  </p:stCondLst>
                                  <p:childTnLst>
                                    <p:set>
                                      <p:cBhvr>
                                        <p:cTn id="48" dur="1" fill="hold">
                                          <p:stCondLst>
                                            <p:cond delay="0"/>
                                          </p:stCondLst>
                                        </p:cTn>
                                        <p:tgtEl>
                                          <p:spTgt spid="63"/>
                                        </p:tgtEl>
                                        <p:attrNameLst>
                                          <p:attrName>style.visibility</p:attrName>
                                        </p:attrNameLst>
                                      </p:cBhvr>
                                      <p:to>
                                        <p:strVal val="visible"/>
                                      </p:to>
                                    </p:set>
                                  </p:childTnLst>
                                </p:cTn>
                              </p:par>
                              <p:par>
                                <p:cTn id="49" presetID="22" presetClass="entr" presetSubtype="8" fill="hold" nodeType="withEffect">
                                  <p:stCondLst>
                                    <p:cond delay="0"/>
                                  </p:stCondLst>
                                  <p:childTnLst>
                                    <p:set>
                                      <p:cBhvr>
                                        <p:cTn id="50" dur="1" fill="hold">
                                          <p:stCondLst>
                                            <p:cond delay="0"/>
                                          </p:stCondLst>
                                        </p:cTn>
                                        <p:tgtEl>
                                          <p:spTgt spid="58"/>
                                        </p:tgtEl>
                                        <p:attrNameLst>
                                          <p:attrName>style.visibility</p:attrName>
                                        </p:attrNameLst>
                                      </p:cBhvr>
                                      <p:to>
                                        <p:strVal val="visible"/>
                                      </p:to>
                                    </p:set>
                                    <p:animEffect transition="in" filter="wipe(left)">
                                      <p:cBhvr>
                                        <p:cTn id="51" dur="500"/>
                                        <p:tgtEl>
                                          <p:spTgt spid="58"/>
                                        </p:tgtEl>
                                      </p:cBhvr>
                                    </p:animEffect>
                                  </p:childTnLst>
                                </p:cTn>
                              </p:par>
                              <p:par>
                                <p:cTn id="52" presetID="1" presetClass="entr" presetSubtype="0" fill="hold" grpId="0" nodeType="withEffect">
                                  <p:stCondLst>
                                    <p:cond delay="0"/>
                                  </p:stCondLst>
                                  <p:childTnLst>
                                    <p:set>
                                      <p:cBhvr>
                                        <p:cTn id="53"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9" grpId="0"/>
      <p:bldP spid="60" grpId="0"/>
      <p:bldP spid="61" grpId="0"/>
      <p:bldP spid="62" grpId="0"/>
      <p:bldP spid="63" grpId="0"/>
      <p:bldP spid="64" grpId="0"/>
      <p:bldP spid="65"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71</a:t>
            </a:fld>
            <a:endParaRPr kumimoji="1" lang="zh-CN" altLang="en-US" dirty="0"/>
          </a:p>
        </p:txBody>
      </p:sp>
      <p:sp>
        <p:nvSpPr>
          <p:cNvPr id="150" name="内容占位符 2">
            <a:extLst>
              <a:ext uri="{FF2B5EF4-FFF2-40B4-BE49-F238E27FC236}">
                <a16:creationId xmlns:a16="http://schemas.microsoft.com/office/drawing/2014/main" id="{735A06E7-467E-475D-B900-BF8906FD0092}"/>
              </a:ext>
            </a:extLst>
          </p:cNvPr>
          <p:cNvSpPr>
            <a:spLocks noGrp="1"/>
          </p:cNvSpPr>
          <p:nvPr>
            <p:ph idx="1"/>
          </p:nvPr>
        </p:nvSpPr>
        <p:spPr>
          <a:xfrm>
            <a:off x="838200" y="1510757"/>
            <a:ext cx="10515600" cy="4108993"/>
          </a:xfrm>
        </p:spPr>
        <p:txBody>
          <a:bodyPr>
            <a:noAutofit/>
          </a:bodyPr>
          <a:lstStyle/>
          <a:p>
            <a:pPr>
              <a:lnSpc>
                <a:spcPct val="130000"/>
              </a:lnSpc>
            </a:pPr>
            <a:r>
              <a:rPr lang="zh-CN" altLang="en-US" sz="2400" dirty="0"/>
              <a:t>协议无关多播</a:t>
            </a:r>
            <a:r>
              <a:rPr lang="en-US" altLang="zh-CN" sz="2400" dirty="0"/>
              <a:t>-</a:t>
            </a:r>
            <a:r>
              <a:rPr lang="zh-CN" altLang="en-US" sz="2400" dirty="0"/>
              <a:t>稀疏方式 </a:t>
            </a:r>
            <a:r>
              <a:rPr lang="en-US" altLang="zh-CN" sz="2400" dirty="0"/>
              <a:t>PIM-SM</a:t>
            </a:r>
          </a:p>
          <a:p>
            <a:pPr>
              <a:lnSpc>
                <a:spcPct val="130000"/>
              </a:lnSpc>
            </a:pPr>
            <a:r>
              <a:rPr lang="zh-CN" altLang="en-US" sz="2400" dirty="0"/>
              <a:t>特定源组播 </a:t>
            </a:r>
            <a:r>
              <a:rPr lang="en-US" altLang="zh-CN" sz="2400" dirty="0"/>
              <a:t>PIM-SSM</a:t>
            </a:r>
          </a:p>
          <a:p>
            <a:pPr lvl="1">
              <a:lnSpc>
                <a:spcPct val="130000"/>
              </a:lnSpc>
            </a:pPr>
            <a:r>
              <a:rPr lang="zh-CN" altLang="en-US" sz="2000" dirty="0"/>
              <a:t>组播接收者加入组播组时，即可以指定接收和拒绝来自特定组播源的组播流量</a:t>
            </a:r>
            <a:endParaRPr lang="en-US" altLang="zh-CN" sz="2000" dirty="0"/>
          </a:p>
          <a:p>
            <a:pPr lvl="1">
              <a:lnSpc>
                <a:spcPct val="130000"/>
              </a:lnSpc>
            </a:pPr>
            <a:r>
              <a:rPr lang="zh-CN" altLang="en-US" sz="2000" dirty="0"/>
              <a:t>组播源通过</a:t>
            </a:r>
            <a:r>
              <a:rPr lang="en-US" altLang="zh-CN" sz="2000" dirty="0"/>
              <a:t>SPT</a:t>
            </a:r>
            <a:r>
              <a:rPr lang="zh-CN" altLang="en-US" sz="2000" dirty="0"/>
              <a:t>（最短路径树）分发到接收路由器</a:t>
            </a:r>
            <a:endParaRPr lang="en-US" altLang="zh-CN" sz="2000" dirty="0"/>
          </a:p>
          <a:p>
            <a:pPr>
              <a:lnSpc>
                <a:spcPct val="130000"/>
              </a:lnSpc>
            </a:pPr>
            <a:r>
              <a:rPr lang="zh-CN" altLang="en-US" sz="2400" dirty="0"/>
              <a:t>思考：当存在多个组播源时，核心树的方式可能有什么问题？</a:t>
            </a:r>
            <a:endParaRPr lang="en-US" altLang="zh-CN" sz="2400" dirty="0"/>
          </a:p>
          <a:p>
            <a:pPr lvl="1">
              <a:lnSpc>
                <a:spcPct val="130000"/>
              </a:lnSpc>
            </a:pPr>
            <a:endParaRPr lang="en-US" altLang="zh-CN" sz="2000" dirty="0"/>
          </a:p>
        </p:txBody>
      </p:sp>
      <p:sp>
        <p:nvSpPr>
          <p:cNvPr id="6"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2292903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50">
                                            <p:txEl>
                                              <p:pRg st="1" end="1"/>
                                            </p:txEl>
                                          </p:spTgt>
                                        </p:tgtEl>
                                        <p:attrNameLst>
                                          <p:attrName>style.visibility</p:attrName>
                                        </p:attrNameLst>
                                      </p:cBhvr>
                                      <p:to>
                                        <p:strVal val="visible"/>
                                      </p:to>
                                    </p:set>
                                    <p:animEffect transition="in" filter="fade">
                                      <p:cBhvr>
                                        <p:cTn id="7" dur="500"/>
                                        <p:tgtEl>
                                          <p:spTgt spid="150">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50">
                                            <p:txEl>
                                              <p:pRg st="2" end="2"/>
                                            </p:txEl>
                                          </p:spTgt>
                                        </p:tgtEl>
                                        <p:attrNameLst>
                                          <p:attrName>style.visibility</p:attrName>
                                        </p:attrNameLst>
                                      </p:cBhvr>
                                      <p:to>
                                        <p:strVal val="visible"/>
                                      </p:to>
                                    </p:set>
                                    <p:animEffect transition="in" filter="fade">
                                      <p:cBhvr>
                                        <p:cTn id="10" dur="500"/>
                                        <p:tgtEl>
                                          <p:spTgt spid="150">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50">
                                            <p:txEl>
                                              <p:pRg st="3" end="3"/>
                                            </p:txEl>
                                          </p:spTgt>
                                        </p:tgtEl>
                                        <p:attrNameLst>
                                          <p:attrName>style.visibility</p:attrName>
                                        </p:attrNameLst>
                                      </p:cBhvr>
                                      <p:to>
                                        <p:strVal val="visible"/>
                                      </p:to>
                                    </p:set>
                                    <p:animEffect transition="in" filter="fade">
                                      <p:cBhvr>
                                        <p:cTn id="13" dur="500"/>
                                        <p:tgtEl>
                                          <p:spTgt spid="150">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50">
                                            <p:txEl>
                                              <p:pRg st="4" end="4"/>
                                            </p:txEl>
                                          </p:spTgt>
                                        </p:tgtEl>
                                        <p:attrNameLst>
                                          <p:attrName>style.visibility</p:attrName>
                                        </p:attrNameLst>
                                      </p:cBhvr>
                                      <p:to>
                                        <p:strVal val="visible"/>
                                      </p:to>
                                    </p:set>
                                    <p:animEffect transition="in" filter="fade">
                                      <p:cBhvr>
                                        <p:cTn id="18" dur="500"/>
                                        <p:tgtEl>
                                          <p:spTgt spid="15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内容占位符 2">
            <a:extLst>
              <a:ext uri="{FF2B5EF4-FFF2-40B4-BE49-F238E27FC236}">
                <a16:creationId xmlns:a16="http://schemas.microsoft.com/office/drawing/2014/main" id="{B2D5FDB7-9685-4CB7-AAD5-2E4FC73CFA2E}"/>
              </a:ext>
            </a:extLst>
          </p:cNvPr>
          <p:cNvSpPr txBox="1">
            <a:spLocks/>
          </p:cNvSpPr>
          <p:nvPr/>
        </p:nvSpPr>
        <p:spPr>
          <a:xfrm>
            <a:off x="838200" y="1510758"/>
            <a:ext cx="10515600" cy="3190451"/>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dirty="0"/>
              <a:t>基于核心树（</a:t>
            </a:r>
            <a:r>
              <a:rPr lang="en-US" altLang="zh-CN" dirty="0"/>
              <a:t>core-based trees</a:t>
            </a:r>
            <a:r>
              <a:rPr lang="zh-CN" altLang="en-US" dirty="0"/>
              <a:t>）存在的问题：</a:t>
            </a:r>
            <a:endParaRPr lang="en-US" altLang="zh-CN" dirty="0"/>
          </a:p>
          <a:p>
            <a:pPr lvl="1"/>
            <a:r>
              <a:rPr lang="zh-CN" altLang="en-US" dirty="0"/>
              <a:t>可能无法达到最优</a:t>
            </a:r>
            <a:endParaRPr lang="en-US" altLang="zh-CN" dirty="0"/>
          </a:p>
          <a:p>
            <a:pPr lvl="1"/>
            <a:r>
              <a:rPr lang="zh-CN" altLang="en-US" dirty="0"/>
              <a:t>如果</a:t>
            </a:r>
            <a:r>
              <a:rPr lang="zh-CN" altLang="en-US" dirty="0">
                <a:solidFill>
                  <a:srgbClr val="C00000"/>
                </a:solidFill>
              </a:rPr>
              <a:t>只有一个发送者</a:t>
            </a:r>
            <a:r>
              <a:rPr lang="zh-CN" altLang="en-US" dirty="0"/>
              <a:t>，将发送者作为核心是最优的</a:t>
            </a:r>
            <a:endParaRPr lang="en-US" altLang="zh-CN" dirty="0"/>
          </a:p>
        </p:txBody>
      </p:sp>
      <p:sp>
        <p:nvSpPr>
          <p:cNvPr id="2" name="标题 1">
            <a:extLst>
              <a:ext uri="{FF2B5EF4-FFF2-40B4-BE49-F238E27FC236}">
                <a16:creationId xmlns:a16="http://schemas.microsoft.com/office/drawing/2014/main" id="{8FD3696D-0386-40CD-9C39-25AF147398D4}"/>
              </a:ext>
            </a:extLst>
          </p:cNvPr>
          <p:cNvSpPr>
            <a:spLocks noGrp="1"/>
          </p:cNvSpPr>
          <p:nvPr>
            <p:ph type="title"/>
          </p:nvPr>
        </p:nvSpPr>
        <p:spPr/>
        <p:txBody>
          <a:bodyPr/>
          <a:lstStyle/>
          <a:p>
            <a:r>
              <a:rPr lang="zh-CN" altLang="en-US" dirty="0"/>
              <a:t>组播路由</a:t>
            </a:r>
          </a:p>
        </p:txBody>
      </p:sp>
      <p:sp>
        <p:nvSpPr>
          <p:cNvPr id="4" name="灯片编号占位符 3">
            <a:extLst>
              <a:ext uri="{FF2B5EF4-FFF2-40B4-BE49-F238E27FC236}">
                <a16:creationId xmlns:a16="http://schemas.microsoft.com/office/drawing/2014/main"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72</a:t>
            </a:fld>
            <a:endParaRPr kumimoji="1" lang="zh-CN" altLang="en-US" dirty="0"/>
          </a:p>
        </p:txBody>
      </p:sp>
      <p:grpSp>
        <p:nvGrpSpPr>
          <p:cNvPr id="22" name="组合 21">
            <a:extLst>
              <a:ext uri="{FF2B5EF4-FFF2-40B4-BE49-F238E27FC236}">
                <a16:creationId xmlns:a16="http://schemas.microsoft.com/office/drawing/2014/main" id="{D90B8E85-E3C6-4584-8066-620425A2ED77}"/>
              </a:ext>
            </a:extLst>
          </p:cNvPr>
          <p:cNvGrpSpPr/>
          <p:nvPr/>
        </p:nvGrpSpPr>
        <p:grpSpPr>
          <a:xfrm>
            <a:off x="5008885" y="2895343"/>
            <a:ext cx="6382506" cy="3615298"/>
            <a:chOff x="5008885" y="2895343"/>
            <a:chExt cx="6382506" cy="3615298"/>
          </a:xfrm>
        </p:grpSpPr>
        <p:cxnSp>
          <p:nvCxnSpPr>
            <p:cNvPr id="194" name="直接连接符 193">
              <a:extLst>
                <a:ext uri="{FF2B5EF4-FFF2-40B4-BE49-F238E27FC236}">
                  <a16:creationId xmlns:a16="http://schemas.microsoft.com/office/drawing/2014/main" id="{940A00AA-0C31-4D3C-9E0C-965182E4F8DA}"/>
                </a:ext>
              </a:extLst>
            </p:cNvPr>
            <p:cNvCxnSpPr>
              <a:cxnSpLocks/>
            </p:cNvCxnSpPr>
            <p:nvPr/>
          </p:nvCxnSpPr>
          <p:spPr>
            <a:xfrm flipH="1" flipV="1">
              <a:off x="6296393" y="5188929"/>
              <a:ext cx="2019452" cy="11250"/>
            </a:xfrm>
            <a:prstGeom prst="line">
              <a:avLst/>
            </a:prstGeom>
            <a:ln w="28575">
              <a:prstDash val="dash"/>
            </a:ln>
          </p:spPr>
          <p:style>
            <a:lnRef idx="1">
              <a:schemeClr val="dk1"/>
            </a:lnRef>
            <a:fillRef idx="0">
              <a:schemeClr val="dk1"/>
            </a:fillRef>
            <a:effectRef idx="0">
              <a:schemeClr val="dk1"/>
            </a:effectRef>
            <a:fontRef idx="minor">
              <a:schemeClr val="tx1"/>
            </a:fontRef>
          </p:style>
        </p:cxnSp>
        <p:cxnSp>
          <p:nvCxnSpPr>
            <p:cNvPr id="110" name="直接连接符 109">
              <a:extLst>
                <a:ext uri="{FF2B5EF4-FFF2-40B4-BE49-F238E27FC236}">
                  <a16:creationId xmlns:a16="http://schemas.microsoft.com/office/drawing/2014/main" id="{4D29B990-100C-4B19-87F7-0DD00E92E466}"/>
                </a:ext>
              </a:extLst>
            </p:cNvPr>
            <p:cNvCxnSpPr>
              <a:cxnSpLocks/>
            </p:cNvCxnSpPr>
            <p:nvPr/>
          </p:nvCxnSpPr>
          <p:spPr>
            <a:xfrm>
              <a:off x="7759013" y="4513758"/>
              <a:ext cx="446573" cy="619186"/>
            </a:xfrm>
            <a:prstGeom prst="line">
              <a:avLst/>
            </a:prstGeom>
            <a:ln w="28575"/>
          </p:spPr>
          <p:style>
            <a:lnRef idx="1">
              <a:schemeClr val="dk1"/>
            </a:lnRef>
            <a:fillRef idx="0">
              <a:schemeClr val="dk1"/>
            </a:fillRef>
            <a:effectRef idx="0">
              <a:schemeClr val="dk1"/>
            </a:effectRef>
            <a:fontRef idx="minor">
              <a:schemeClr val="tx1"/>
            </a:fontRef>
          </p:style>
        </p:cxnSp>
        <p:pic>
          <p:nvPicPr>
            <p:cNvPr id="151" name="Picture 14">
              <a:extLst>
                <a:ext uri="{FF2B5EF4-FFF2-40B4-BE49-F238E27FC236}">
                  <a16:creationId xmlns:a16="http://schemas.microsoft.com/office/drawing/2014/main" id="{A10BEB5B-4BF4-498B-B59B-80E22F29795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8885" y="5201415"/>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2" name="Picture 14">
              <a:extLst>
                <a:ext uri="{FF2B5EF4-FFF2-40B4-BE49-F238E27FC236}">
                  <a16:creationId xmlns:a16="http://schemas.microsoft.com/office/drawing/2014/main" id="{2BEF1BB8-BF26-470C-ACB0-42D5D7B5E56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2181" y="5350818"/>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 name="Picture 14">
              <a:extLst>
                <a:ext uri="{FF2B5EF4-FFF2-40B4-BE49-F238E27FC236}">
                  <a16:creationId xmlns:a16="http://schemas.microsoft.com/office/drawing/2014/main" id="{D5EA2F57-07AA-4448-A8F9-75A6B9FDE6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1878" y="3331864"/>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54" name="直接连接符 153">
              <a:extLst>
                <a:ext uri="{FF2B5EF4-FFF2-40B4-BE49-F238E27FC236}">
                  <a16:creationId xmlns:a16="http://schemas.microsoft.com/office/drawing/2014/main" id="{74B141E0-DD5E-4669-9B2E-26146C96A8C5}"/>
                </a:ext>
              </a:extLst>
            </p:cNvPr>
            <p:cNvCxnSpPr>
              <a:cxnSpLocks/>
            </p:cNvCxnSpPr>
            <p:nvPr/>
          </p:nvCxnSpPr>
          <p:spPr>
            <a:xfrm>
              <a:off x="6955994" y="3505780"/>
              <a:ext cx="596187" cy="818931"/>
            </a:xfrm>
            <a:prstGeom prst="line">
              <a:avLst/>
            </a:prstGeom>
            <a:ln w="28575"/>
          </p:spPr>
          <p:style>
            <a:lnRef idx="1">
              <a:schemeClr val="dk1"/>
            </a:lnRef>
            <a:fillRef idx="0">
              <a:schemeClr val="dk1"/>
            </a:fillRef>
            <a:effectRef idx="0">
              <a:schemeClr val="dk1"/>
            </a:effectRef>
            <a:fontRef idx="minor">
              <a:schemeClr val="tx1"/>
            </a:fontRef>
          </p:style>
        </p:cxnSp>
        <p:cxnSp>
          <p:nvCxnSpPr>
            <p:cNvPr id="155" name="直接连接符 154">
              <a:extLst>
                <a:ext uri="{FF2B5EF4-FFF2-40B4-BE49-F238E27FC236}">
                  <a16:creationId xmlns:a16="http://schemas.microsoft.com/office/drawing/2014/main" id="{01DC6B1E-580F-4FAC-A711-401B31A7B4FC}"/>
                </a:ext>
              </a:extLst>
            </p:cNvPr>
            <p:cNvCxnSpPr>
              <a:cxnSpLocks/>
            </p:cNvCxnSpPr>
            <p:nvPr/>
          </p:nvCxnSpPr>
          <p:spPr>
            <a:xfrm flipH="1">
              <a:off x="6298930" y="4473890"/>
              <a:ext cx="1265767" cy="652680"/>
            </a:xfrm>
            <a:prstGeom prst="line">
              <a:avLst/>
            </a:prstGeom>
            <a:ln w="28575"/>
          </p:spPr>
          <p:style>
            <a:lnRef idx="1">
              <a:schemeClr val="dk1"/>
            </a:lnRef>
            <a:fillRef idx="0">
              <a:schemeClr val="dk1"/>
            </a:fillRef>
            <a:effectRef idx="0">
              <a:schemeClr val="dk1"/>
            </a:effectRef>
            <a:fontRef idx="minor">
              <a:schemeClr val="tx1"/>
            </a:fontRef>
          </p:style>
        </p:cxnSp>
        <p:pic>
          <p:nvPicPr>
            <p:cNvPr id="157" name="Picture 57" descr="通用路由器">
              <a:extLst>
                <a:ext uri="{FF2B5EF4-FFF2-40B4-BE49-F238E27FC236}">
                  <a16:creationId xmlns:a16="http://schemas.microsoft.com/office/drawing/2014/main" id="{B8F00FDC-910F-455E-B20F-B0113CEE32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9681" y="5013732"/>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60" name="Picture 9" descr="服务器终端">
              <a:extLst>
                <a:ext uri="{FF2B5EF4-FFF2-40B4-BE49-F238E27FC236}">
                  <a16:creationId xmlns:a16="http://schemas.microsoft.com/office/drawing/2014/main" id="{B273D4E2-52D8-400F-AC3C-F33C5708737F}"/>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380800" y="544012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1" name="Picture 25" descr="服务器类">
              <a:extLst>
                <a:ext uri="{FF2B5EF4-FFF2-40B4-BE49-F238E27FC236}">
                  <a16:creationId xmlns:a16="http://schemas.microsoft.com/office/drawing/2014/main" id="{3BE5C2F3-7CCA-42BF-B80E-A71B778F9DCD}"/>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498221" y="2895343"/>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62" name="文本框 161">
              <a:extLst>
                <a:ext uri="{FF2B5EF4-FFF2-40B4-BE49-F238E27FC236}">
                  <a16:creationId xmlns:a16="http://schemas.microsoft.com/office/drawing/2014/main" id="{5D1987DC-1147-4BBA-8F9D-4524AEC9DE79}"/>
                </a:ext>
              </a:extLst>
            </p:cNvPr>
            <p:cNvSpPr txBox="1"/>
            <p:nvPr/>
          </p:nvSpPr>
          <p:spPr>
            <a:xfrm>
              <a:off x="6042325" y="3670720"/>
              <a:ext cx="1057864"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Server1</a:t>
              </a:r>
              <a:endParaRPr lang="zh-CN" altLang="en-US" dirty="0">
                <a:latin typeface="微软雅黑" panose="020B0503020204020204" pitchFamily="34" charset="-122"/>
                <a:ea typeface="微软雅黑" panose="020B0503020204020204" pitchFamily="34" charset="-122"/>
              </a:endParaRPr>
            </a:p>
          </p:txBody>
        </p:sp>
        <p:sp>
          <p:nvSpPr>
            <p:cNvPr id="164" name="文本框 163">
              <a:extLst>
                <a:ext uri="{FF2B5EF4-FFF2-40B4-BE49-F238E27FC236}">
                  <a16:creationId xmlns:a16="http://schemas.microsoft.com/office/drawing/2014/main" id="{ECD64DBA-908E-4019-8B90-9D240EE6DB16}"/>
                </a:ext>
              </a:extLst>
            </p:cNvPr>
            <p:cNvSpPr txBox="1"/>
            <p:nvPr/>
          </p:nvSpPr>
          <p:spPr>
            <a:xfrm>
              <a:off x="5574846" y="4870570"/>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165" name="文本框 164">
              <a:extLst>
                <a:ext uri="{FF2B5EF4-FFF2-40B4-BE49-F238E27FC236}">
                  <a16:creationId xmlns:a16="http://schemas.microsoft.com/office/drawing/2014/main" id="{A9B61ADB-0124-49FC-BB70-C949E9426CE8}"/>
                </a:ext>
              </a:extLst>
            </p:cNvPr>
            <p:cNvSpPr txBox="1"/>
            <p:nvPr/>
          </p:nvSpPr>
          <p:spPr>
            <a:xfrm>
              <a:off x="7680368" y="5239804"/>
              <a:ext cx="588788"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166" name="文本框 165">
              <a:extLst>
                <a:ext uri="{FF2B5EF4-FFF2-40B4-BE49-F238E27FC236}">
                  <a16:creationId xmlns:a16="http://schemas.microsoft.com/office/drawing/2014/main" id="{90340381-8740-4299-A2BD-49F9C73F084A}"/>
                </a:ext>
              </a:extLst>
            </p:cNvPr>
            <p:cNvSpPr txBox="1"/>
            <p:nvPr/>
          </p:nvSpPr>
          <p:spPr>
            <a:xfrm>
              <a:off x="9826996" y="2967397"/>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167" name="Picture 9" descr="服务器终端">
              <a:extLst>
                <a:ext uri="{FF2B5EF4-FFF2-40B4-BE49-F238E27FC236}">
                  <a16:creationId xmlns:a16="http://schemas.microsoft.com/office/drawing/2014/main" id="{5ADCF24C-18CC-456A-80D3-D6EC15ADB4D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47006" y="544264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8" name="Picture 9" descr="服务器终端">
              <a:extLst>
                <a:ext uri="{FF2B5EF4-FFF2-40B4-BE49-F238E27FC236}">
                  <a16:creationId xmlns:a16="http://schemas.microsoft.com/office/drawing/2014/main" id="{63FF538B-38D2-411F-9AA7-9C8A2EA39F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13212" y="547602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9" name="Picture 9" descr="服务器终端">
              <a:extLst>
                <a:ext uri="{FF2B5EF4-FFF2-40B4-BE49-F238E27FC236}">
                  <a16:creationId xmlns:a16="http://schemas.microsoft.com/office/drawing/2014/main" id="{1A79A35B-73A3-4EF6-BAB3-7D87C3F1CD6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69401" y="5788285"/>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9" descr="服务器终端">
              <a:extLst>
                <a:ext uri="{FF2B5EF4-FFF2-40B4-BE49-F238E27FC236}">
                  <a16:creationId xmlns:a16="http://schemas.microsoft.com/office/drawing/2014/main" id="{0F47B608-9AED-471F-A033-4EE590A4755E}"/>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28326" y="584091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1" name="Picture 9" descr="服务器终端">
              <a:extLst>
                <a:ext uri="{FF2B5EF4-FFF2-40B4-BE49-F238E27FC236}">
                  <a16:creationId xmlns:a16="http://schemas.microsoft.com/office/drawing/2014/main" id="{4C07EE82-5611-4545-AB4D-A39FBED77BA2}"/>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73034" y="558370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2" name="Picture 9" descr="服务器终端">
              <a:extLst>
                <a:ext uri="{FF2B5EF4-FFF2-40B4-BE49-F238E27FC236}">
                  <a16:creationId xmlns:a16="http://schemas.microsoft.com/office/drawing/2014/main" id="{9DB92556-0D38-4CDB-8116-61DAE66B5451}"/>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31959" y="563633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3" name="Picture 9" descr="服务器终端">
              <a:extLst>
                <a:ext uri="{FF2B5EF4-FFF2-40B4-BE49-F238E27FC236}">
                  <a16:creationId xmlns:a16="http://schemas.microsoft.com/office/drawing/2014/main" id="{EC68BBB4-B40B-4386-8894-5AE7D8F330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33951" y="592551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4" name="Picture 9" descr="服务器终端">
              <a:extLst>
                <a:ext uri="{FF2B5EF4-FFF2-40B4-BE49-F238E27FC236}">
                  <a16:creationId xmlns:a16="http://schemas.microsoft.com/office/drawing/2014/main" id="{3AFE3B31-6D73-4590-BFE6-430800C1299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2876" y="597814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5" name="Picture 9" descr="服务器终端">
              <a:extLst>
                <a:ext uri="{FF2B5EF4-FFF2-40B4-BE49-F238E27FC236}">
                  <a16:creationId xmlns:a16="http://schemas.microsoft.com/office/drawing/2014/main" id="{88C128FE-343B-4305-907B-8171697919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3412" y="563928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6" name="Picture 9" descr="服务器终端">
              <a:extLst>
                <a:ext uri="{FF2B5EF4-FFF2-40B4-BE49-F238E27FC236}">
                  <a16:creationId xmlns:a16="http://schemas.microsoft.com/office/drawing/2014/main" id="{4530E008-6D9B-4CB9-BCAF-E976BA46F6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2337" y="5691914"/>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7" name="Picture 9" descr="服务器终端">
              <a:extLst>
                <a:ext uri="{FF2B5EF4-FFF2-40B4-BE49-F238E27FC236}">
                  <a16:creationId xmlns:a16="http://schemas.microsoft.com/office/drawing/2014/main" id="{98FEE18C-C32A-43F3-AB46-15778472B00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47429" y="605563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8" name="Picture 9" descr="服务器终端">
              <a:extLst>
                <a:ext uri="{FF2B5EF4-FFF2-40B4-BE49-F238E27FC236}">
                  <a16:creationId xmlns:a16="http://schemas.microsoft.com/office/drawing/2014/main" id="{A89AFB4B-D20E-4F39-B73D-B0901BF596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430" y="35794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9" name="Picture 9" descr="服务器终端">
              <a:extLst>
                <a:ext uri="{FF2B5EF4-FFF2-40B4-BE49-F238E27FC236}">
                  <a16:creationId xmlns:a16="http://schemas.microsoft.com/office/drawing/2014/main" id="{2A999D13-82DA-41BC-888E-79D2B1C796C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9272" y="397390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0" name="Picture 9" descr="服务器终端">
              <a:extLst>
                <a:ext uri="{FF2B5EF4-FFF2-40B4-BE49-F238E27FC236}">
                  <a16:creationId xmlns:a16="http://schemas.microsoft.com/office/drawing/2014/main" id="{9BED7C0D-C8D4-4D97-9690-887F72B22638}"/>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98733" y="368766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1" name="Picture 9" descr="服务器终端">
              <a:extLst>
                <a:ext uri="{FF2B5EF4-FFF2-40B4-BE49-F238E27FC236}">
                  <a16:creationId xmlns:a16="http://schemas.microsoft.com/office/drawing/2014/main" id="{F0586BC7-299F-424F-8603-F6B9442A34F9}"/>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73824" y="405139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2" name="Picture 9" descr="服务器终端">
              <a:extLst>
                <a:ext uri="{FF2B5EF4-FFF2-40B4-BE49-F238E27FC236}">
                  <a16:creationId xmlns:a16="http://schemas.microsoft.com/office/drawing/2014/main" id="{6D697082-75D1-4E73-B6BA-D7AEC41F7AEF}"/>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23954" y="585645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3" name="Picture 9" descr="服务器终端">
              <a:extLst>
                <a:ext uri="{FF2B5EF4-FFF2-40B4-BE49-F238E27FC236}">
                  <a16:creationId xmlns:a16="http://schemas.microsoft.com/office/drawing/2014/main" id="{68DDADB3-0A98-4C36-9495-898E558BEE6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189996" y="5511983"/>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4" name="Picture 9" descr="服务器终端">
              <a:extLst>
                <a:ext uri="{FF2B5EF4-FFF2-40B4-BE49-F238E27FC236}">
                  <a16:creationId xmlns:a16="http://schemas.microsoft.com/office/drawing/2014/main" id="{41FEEC3D-E452-453B-B1F9-0741727780BF}"/>
                </a:ext>
              </a:extLst>
            </p:cNvPr>
            <p:cNvPicPr>
              <a:picLocks noChangeAspect="1" noChangeArrowheads="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rcRect/>
            <a:stretch>
              <a:fillRect/>
            </a:stretch>
          </p:blipFill>
          <p:spPr bwMode="auto">
            <a:xfrm>
              <a:off x="8374436" y="60209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5" name="Picture 9" descr="服务器终端">
              <a:extLst>
                <a:ext uri="{FF2B5EF4-FFF2-40B4-BE49-F238E27FC236}">
                  <a16:creationId xmlns:a16="http://schemas.microsoft.com/office/drawing/2014/main" id="{271F17C8-9DA7-4C18-995A-B659F493258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69619" y="360647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6" name="Picture 9" descr="服务器终端">
              <a:extLst>
                <a:ext uri="{FF2B5EF4-FFF2-40B4-BE49-F238E27FC236}">
                  <a16:creationId xmlns:a16="http://schemas.microsoft.com/office/drawing/2014/main" id="{7C426FCD-C229-4CF0-BA92-EB0B399A083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844926" y="393427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7" name="Picture 9" descr="服务器终端">
              <a:extLst>
                <a:ext uri="{FF2B5EF4-FFF2-40B4-BE49-F238E27FC236}">
                  <a16:creationId xmlns:a16="http://schemas.microsoft.com/office/drawing/2014/main" id="{E0DE4AFA-0A52-4CA8-83BE-1273C4E45F0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15597" y="3999578"/>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8" name="Picture 9" descr="服务器终端">
              <a:extLst>
                <a:ext uri="{FF2B5EF4-FFF2-40B4-BE49-F238E27FC236}">
                  <a16:creationId xmlns:a16="http://schemas.microsoft.com/office/drawing/2014/main" id="{EADF5CDC-9F9A-40D5-A721-C4C64065016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27846" y="3640864"/>
              <a:ext cx="258227" cy="273321"/>
            </a:xfrm>
            <a:prstGeom prst="rect">
              <a:avLst/>
            </a:prstGeom>
            <a:noFill/>
            <a:extLst>
              <a:ext uri="{909E8E84-426E-40DD-AFC4-6F175D3DCCD1}">
                <a14:hiddenFill xmlns:a14="http://schemas.microsoft.com/office/drawing/2010/main">
                  <a:solidFill>
                    <a:srgbClr val="FFFFFF"/>
                  </a:solidFill>
                </a14:hiddenFill>
              </a:ext>
            </a:extLst>
          </p:spPr>
        </p:pic>
        <p:cxnSp>
          <p:nvCxnSpPr>
            <p:cNvPr id="189" name="直接连接符 188">
              <a:extLst>
                <a:ext uri="{FF2B5EF4-FFF2-40B4-BE49-F238E27FC236}">
                  <a16:creationId xmlns:a16="http://schemas.microsoft.com/office/drawing/2014/main" id="{8F859F80-744B-4FF9-8EAA-1824A350675C}"/>
                </a:ext>
              </a:extLst>
            </p:cNvPr>
            <p:cNvCxnSpPr>
              <a:cxnSpLocks/>
            </p:cNvCxnSpPr>
            <p:nvPr/>
          </p:nvCxnSpPr>
          <p:spPr>
            <a:xfrm flipH="1" flipV="1">
              <a:off x="8378432" y="5221472"/>
              <a:ext cx="1666340" cy="18332"/>
            </a:xfrm>
            <a:prstGeom prst="line">
              <a:avLst/>
            </a:prstGeom>
            <a:ln w="28575"/>
          </p:spPr>
          <p:style>
            <a:lnRef idx="1">
              <a:schemeClr val="dk1"/>
            </a:lnRef>
            <a:fillRef idx="0">
              <a:schemeClr val="dk1"/>
            </a:fillRef>
            <a:effectRef idx="0">
              <a:schemeClr val="dk1"/>
            </a:effectRef>
            <a:fontRef idx="minor">
              <a:schemeClr val="tx1"/>
            </a:fontRef>
          </p:style>
        </p:cxnSp>
        <p:sp>
          <p:nvSpPr>
            <p:cNvPr id="191" name="文本框 190">
              <a:extLst>
                <a:ext uri="{FF2B5EF4-FFF2-40B4-BE49-F238E27FC236}">
                  <a16:creationId xmlns:a16="http://schemas.microsoft.com/office/drawing/2014/main" id="{92E1D688-0510-4904-A8C6-04C3D8380D49}"/>
                </a:ext>
              </a:extLst>
            </p:cNvPr>
            <p:cNvSpPr txBox="1"/>
            <p:nvPr/>
          </p:nvSpPr>
          <p:spPr>
            <a:xfrm>
              <a:off x="10284128" y="5392616"/>
              <a:ext cx="1107263"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Server2</a:t>
              </a:r>
              <a:endParaRPr lang="zh-CN" altLang="en-US" dirty="0">
                <a:latin typeface="微软雅黑" panose="020B0503020204020204" pitchFamily="34" charset="-122"/>
                <a:ea typeface="微软雅黑" panose="020B0503020204020204" pitchFamily="34" charset="-122"/>
              </a:endParaRPr>
            </a:p>
          </p:txBody>
        </p:sp>
        <p:cxnSp>
          <p:nvCxnSpPr>
            <p:cNvPr id="192" name="直接连接符 191">
              <a:extLst>
                <a:ext uri="{FF2B5EF4-FFF2-40B4-BE49-F238E27FC236}">
                  <a16:creationId xmlns:a16="http://schemas.microsoft.com/office/drawing/2014/main" id="{083000B7-6326-43DC-BAE6-040CCEE5AAA7}"/>
                </a:ext>
              </a:extLst>
            </p:cNvPr>
            <p:cNvCxnSpPr>
              <a:cxnSpLocks/>
            </p:cNvCxnSpPr>
            <p:nvPr/>
          </p:nvCxnSpPr>
          <p:spPr>
            <a:xfrm flipH="1">
              <a:off x="7790986" y="3458640"/>
              <a:ext cx="1868728" cy="902727"/>
            </a:xfrm>
            <a:prstGeom prst="line">
              <a:avLst/>
            </a:prstGeom>
            <a:ln w="28575"/>
          </p:spPr>
          <p:style>
            <a:lnRef idx="1">
              <a:schemeClr val="dk1"/>
            </a:lnRef>
            <a:fillRef idx="0">
              <a:schemeClr val="dk1"/>
            </a:fillRef>
            <a:effectRef idx="0">
              <a:schemeClr val="dk1"/>
            </a:effectRef>
            <a:fontRef idx="minor">
              <a:schemeClr val="tx1"/>
            </a:fontRef>
          </p:style>
        </p:cxnSp>
        <p:pic>
          <p:nvPicPr>
            <p:cNvPr id="190" name="Picture 25" descr="服务器类">
              <a:extLst>
                <a:ext uri="{FF2B5EF4-FFF2-40B4-BE49-F238E27FC236}">
                  <a16:creationId xmlns:a16="http://schemas.microsoft.com/office/drawing/2014/main" id="{CD788D6F-DF1A-4749-AE94-69FB3C347255}"/>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9930647" y="4725945"/>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93" name="文本框 192">
              <a:extLst>
                <a:ext uri="{FF2B5EF4-FFF2-40B4-BE49-F238E27FC236}">
                  <a16:creationId xmlns:a16="http://schemas.microsoft.com/office/drawing/2014/main" id="{58EB9D01-0C75-4E24-BB70-CCDE314348F2}"/>
                </a:ext>
              </a:extLst>
            </p:cNvPr>
            <p:cNvSpPr txBox="1"/>
            <p:nvPr/>
          </p:nvSpPr>
          <p:spPr>
            <a:xfrm>
              <a:off x="7838775" y="4251656"/>
              <a:ext cx="1057864" cy="369332"/>
            </a:xfrm>
            <a:prstGeom prst="rect">
              <a:avLst/>
            </a:prstGeom>
            <a:noFill/>
          </p:spPr>
          <p:txBody>
            <a:bodyPr wrap="square" rtlCol="0">
              <a:spAutoFit/>
            </a:bodyPr>
            <a:lstStyle/>
            <a:p>
              <a:r>
                <a:rPr lang="en-US" altLang="zh-CN" dirty="0">
                  <a:solidFill>
                    <a:srgbClr val="C00000"/>
                  </a:solidFill>
                  <a:latin typeface="微软雅黑" panose="020B0503020204020204" pitchFamily="34" charset="-122"/>
                  <a:ea typeface="微软雅黑" panose="020B0503020204020204" pitchFamily="34" charset="-122"/>
                </a:rPr>
                <a:t>R1 </a:t>
              </a:r>
              <a:r>
                <a:rPr lang="zh-CN" altLang="en-US" dirty="0">
                  <a:solidFill>
                    <a:srgbClr val="C00000"/>
                  </a:solidFill>
                  <a:latin typeface="微软雅黑" panose="020B0503020204020204" pitchFamily="34" charset="-122"/>
                  <a:ea typeface="微软雅黑" panose="020B0503020204020204" pitchFamily="34" charset="-122"/>
                </a:rPr>
                <a:t>核心</a:t>
              </a:r>
            </a:p>
          </p:txBody>
        </p:sp>
        <p:cxnSp>
          <p:nvCxnSpPr>
            <p:cNvPr id="195" name="直接连接符 194">
              <a:extLst>
                <a:ext uri="{FF2B5EF4-FFF2-40B4-BE49-F238E27FC236}">
                  <a16:creationId xmlns:a16="http://schemas.microsoft.com/office/drawing/2014/main" id="{4DFC2171-C5C5-4D9C-9FD7-1590E6DF8ACB}"/>
                </a:ext>
              </a:extLst>
            </p:cNvPr>
            <p:cNvCxnSpPr>
              <a:cxnSpLocks/>
            </p:cNvCxnSpPr>
            <p:nvPr/>
          </p:nvCxnSpPr>
          <p:spPr>
            <a:xfrm flipH="1">
              <a:off x="8261072" y="3410003"/>
              <a:ext cx="1491921" cy="1746832"/>
            </a:xfrm>
            <a:prstGeom prst="line">
              <a:avLst/>
            </a:prstGeom>
            <a:ln w="28575">
              <a:prstDash val="dash"/>
            </a:ln>
          </p:spPr>
          <p:style>
            <a:lnRef idx="1">
              <a:schemeClr val="dk1"/>
            </a:lnRef>
            <a:fillRef idx="0">
              <a:schemeClr val="dk1"/>
            </a:fillRef>
            <a:effectRef idx="0">
              <a:schemeClr val="dk1"/>
            </a:effectRef>
            <a:fontRef idx="minor">
              <a:schemeClr val="tx1"/>
            </a:fontRef>
          </p:style>
        </p:cxnSp>
        <p:pic>
          <p:nvPicPr>
            <p:cNvPr id="156" name="Picture 57" descr="通用路由器">
              <a:extLst>
                <a:ext uri="{FF2B5EF4-FFF2-40B4-BE49-F238E27FC236}">
                  <a16:creationId xmlns:a16="http://schemas.microsoft.com/office/drawing/2014/main" id="{87446139-AA48-419A-AC4E-AAB1BF9EA2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6554" y="4248639"/>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58" name="Picture 57" descr="通用路由器">
              <a:extLst>
                <a:ext uri="{FF2B5EF4-FFF2-40B4-BE49-F238E27FC236}">
                  <a16:creationId xmlns:a16="http://schemas.microsoft.com/office/drawing/2014/main" id="{2BE00F4B-75DB-43E2-A25A-44CE8C32CE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60630" y="5016553"/>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59" name="Picture 57" descr="通用路由器">
              <a:extLst>
                <a:ext uri="{FF2B5EF4-FFF2-40B4-BE49-F238E27FC236}">
                  <a16:creationId xmlns:a16="http://schemas.microsoft.com/office/drawing/2014/main" id="{8DC033A3-ABC6-4084-91F1-1B2043A74D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97778" y="3238790"/>
              <a:ext cx="510431" cy="375366"/>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6" name="直接箭头连接符 5">
            <a:extLst>
              <a:ext uri="{FF2B5EF4-FFF2-40B4-BE49-F238E27FC236}">
                <a16:creationId xmlns:a16="http://schemas.microsoft.com/office/drawing/2014/main" id="{132EA2BC-EB3E-46DA-8282-A828B7033905}"/>
              </a:ext>
            </a:extLst>
          </p:cNvPr>
          <p:cNvCxnSpPr>
            <a:cxnSpLocks/>
          </p:cNvCxnSpPr>
          <p:nvPr/>
        </p:nvCxnSpPr>
        <p:spPr>
          <a:xfrm flipH="1" flipV="1">
            <a:off x="6693628" y="5103696"/>
            <a:ext cx="1189348" cy="1"/>
          </a:xfrm>
          <a:prstGeom prst="straightConnector1">
            <a:avLst/>
          </a:prstGeom>
          <a:noFill/>
          <a:ln w="28575">
            <a:solidFill>
              <a:srgbClr val="00B0F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cxnSp>
        <p:nvCxnSpPr>
          <p:cNvPr id="63" name="直接箭头连接符 62">
            <a:extLst>
              <a:ext uri="{FF2B5EF4-FFF2-40B4-BE49-F238E27FC236}">
                <a16:creationId xmlns:a16="http://schemas.microsoft.com/office/drawing/2014/main" id="{90A47B01-54AB-47C6-889D-893C6CD625E2}"/>
              </a:ext>
            </a:extLst>
          </p:cNvPr>
          <p:cNvCxnSpPr>
            <a:cxnSpLocks/>
          </p:cNvCxnSpPr>
          <p:nvPr/>
        </p:nvCxnSpPr>
        <p:spPr>
          <a:xfrm flipH="1">
            <a:off x="8610600" y="5125742"/>
            <a:ext cx="1197878" cy="0"/>
          </a:xfrm>
          <a:prstGeom prst="straightConnector1">
            <a:avLst/>
          </a:prstGeom>
          <a:noFill/>
          <a:ln w="28575">
            <a:solidFill>
              <a:srgbClr val="00B0F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cxnSp>
        <p:nvCxnSpPr>
          <p:cNvPr id="57" name="直接连接符 56">
            <a:extLst>
              <a:ext uri="{FF2B5EF4-FFF2-40B4-BE49-F238E27FC236}">
                <a16:creationId xmlns:a16="http://schemas.microsoft.com/office/drawing/2014/main" id="{DCF6ECD9-D1BF-4C9C-95CF-0DE6785C8A17}"/>
              </a:ext>
            </a:extLst>
          </p:cNvPr>
          <p:cNvCxnSpPr>
            <a:cxnSpLocks/>
          </p:cNvCxnSpPr>
          <p:nvPr/>
        </p:nvCxnSpPr>
        <p:spPr>
          <a:xfrm flipV="1">
            <a:off x="8660312" y="3945800"/>
            <a:ext cx="818435" cy="990882"/>
          </a:xfrm>
          <a:prstGeom prst="line">
            <a:avLst/>
          </a:prstGeom>
          <a:noFill/>
          <a:ln w="28575">
            <a:solidFill>
              <a:srgbClr val="00B0F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sp>
        <p:nvSpPr>
          <p:cNvPr id="3" name="矩形 2">
            <a:extLst>
              <a:ext uri="{FF2B5EF4-FFF2-40B4-BE49-F238E27FC236}">
                <a16:creationId xmlns:a16="http://schemas.microsoft.com/office/drawing/2014/main" id="{491EADE7-E7F0-44F2-8610-C33D6D687488}"/>
              </a:ext>
            </a:extLst>
          </p:cNvPr>
          <p:cNvSpPr/>
          <p:nvPr/>
        </p:nvSpPr>
        <p:spPr>
          <a:xfrm>
            <a:off x="936126" y="3509399"/>
            <a:ext cx="3798780" cy="1966051"/>
          </a:xfrm>
          <a:prstGeom prst="rect">
            <a:avLst/>
          </a:prstGeom>
        </p:spPr>
        <p:txBody>
          <a:bodyPr wrap="square">
            <a:spAutoFit/>
          </a:bodyPr>
          <a:lstStyle/>
          <a:p>
            <a:pPr lvl="0">
              <a:lnSpc>
                <a:spcPct val="130000"/>
              </a:lnSpc>
              <a:defRPr/>
            </a:pPr>
            <a:r>
              <a:rPr lang="zh-CN" altLang="en-US" sz="2400" dirty="0">
                <a:latin typeface="微软雅黑" panose="020B0503020204020204" pitchFamily="34" charset="-122"/>
                <a:ea typeface="微软雅黑" panose="020B0503020204020204" pitchFamily="34" charset="-122"/>
              </a:rPr>
              <a:t>例如，组播源</a:t>
            </a:r>
            <a:r>
              <a:rPr lang="en-US" altLang="zh-CN" sz="2400" dirty="0">
                <a:latin typeface="微软雅黑" panose="020B0503020204020204" pitchFamily="34" charset="-122"/>
                <a:ea typeface="微软雅黑" panose="020B0503020204020204" pitchFamily="34" charset="-122"/>
              </a:rPr>
              <a:t>Server2</a:t>
            </a:r>
            <a:r>
              <a:rPr lang="zh-CN" altLang="en-US" sz="2400" dirty="0">
                <a:latin typeface="微软雅黑" panose="020B0503020204020204" pitchFamily="34" charset="-122"/>
                <a:ea typeface="微软雅黑" panose="020B0503020204020204" pitchFamily="34" charset="-122"/>
              </a:rPr>
              <a:t>的数据，如果采用基于源点树的方法，可能到达目的主机所需跳数更少</a:t>
            </a:r>
          </a:p>
        </p:txBody>
      </p:sp>
      <p:sp>
        <p:nvSpPr>
          <p:cNvPr id="56"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2706675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0">
                                            <p:txEl>
                                              <p:pRg st="1" end="1"/>
                                            </p:txEl>
                                          </p:spTgt>
                                        </p:tgtEl>
                                        <p:attrNameLst>
                                          <p:attrName>style.visibility</p:attrName>
                                        </p:attrNameLst>
                                      </p:cBhvr>
                                      <p:to>
                                        <p:strVal val="visible"/>
                                      </p:to>
                                    </p:set>
                                    <p:animEffect transition="in" filter="blinds(horizontal)">
                                      <p:cBhvr>
                                        <p:cTn id="7" dur="500"/>
                                        <p:tgtEl>
                                          <p:spTgt spid="6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linds(horizontal)">
                                      <p:cBhvr>
                                        <p:cTn id="12" dur="500"/>
                                        <p:tgtEl>
                                          <p:spTgt spid="3"/>
                                        </p:tgtEl>
                                      </p:cBhvr>
                                    </p:animEffect>
                                  </p:childTnLst>
                                </p:cTn>
                              </p:par>
                            </p:childTnLst>
                          </p:cTn>
                        </p:par>
                        <p:par>
                          <p:cTn id="13" fill="hold">
                            <p:stCondLst>
                              <p:cond delay="500"/>
                            </p:stCondLst>
                            <p:childTnLst>
                              <p:par>
                                <p:cTn id="14" presetID="22" presetClass="entr" presetSubtype="2" fill="hold" nodeType="afterEffect">
                                  <p:stCondLst>
                                    <p:cond delay="0"/>
                                  </p:stCondLst>
                                  <p:childTnLst>
                                    <p:set>
                                      <p:cBhvr>
                                        <p:cTn id="15" dur="1" fill="hold">
                                          <p:stCondLst>
                                            <p:cond delay="0"/>
                                          </p:stCondLst>
                                        </p:cTn>
                                        <p:tgtEl>
                                          <p:spTgt spid="63"/>
                                        </p:tgtEl>
                                        <p:attrNameLst>
                                          <p:attrName>style.visibility</p:attrName>
                                        </p:attrNameLst>
                                      </p:cBhvr>
                                      <p:to>
                                        <p:strVal val="visible"/>
                                      </p:to>
                                    </p:set>
                                    <p:animEffect transition="in" filter="wipe(right)">
                                      <p:cBhvr>
                                        <p:cTn id="16" dur="500"/>
                                        <p:tgtEl>
                                          <p:spTgt spid="63"/>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wipe(down)">
                                      <p:cBhvr>
                                        <p:cTn id="20" dur="500"/>
                                        <p:tgtEl>
                                          <p:spTgt spid="57"/>
                                        </p:tgtEl>
                                      </p:cBhvr>
                                    </p:animEffect>
                                  </p:childTnLst>
                                </p:cTn>
                              </p:par>
                              <p:par>
                                <p:cTn id="21" presetID="22" presetClass="entr" presetSubtype="2" fill="hold" nodeType="with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righ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60">
                                            <p:txEl>
                                              <p:pRg st="2" end="2"/>
                                            </p:txEl>
                                          </p:spTgt>
                                        </p:tgtEl>
                                        <p:attrNameLst>
                                          <p:attrName>style.visibility</p:attrName>
                                        </p:attrNameLst>
                                      </p:cBhvr>
                                      <p:to>
                                        <p:strVal val="visible"/>
                                      </p:to>
                                    </p:set>
                                    <p:animEffect transition="in" filter="blinds(horizontal)">
                                      <p:cBhvr>
                                        <p:cTn id="28" dur="500"/>
                                        <p:tgtEl>
                                          <p:spTgt spid="6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14">
            <a:extLst>
              <a:ext uri="{FF2B5EF4-FFF2-40B4-BE49-F238E27FC236}">
                <a16:creationId xmlns:a16="http://schemas.microsoft.com/office/drawing/2014/main" id="{592854F1-F1AF-4CD1-9BEF-5FD2B88DCAAB}"/>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70479" y="3225999"/>
            <a:ext cx="6236649" cy="1173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9" name="组合 18">
            <a:extLst>
              <a:ext uri="{FF2B5EF4-FFF2-40B4-BE49-F238E27FC236}">
                <a16:creationId xmlns:a16="http://schemas.microsoft.com/office/drawing/2014/main" id="{E765C173-F3E0-4433-8E16-86C834B7BB2D}"/>
              </a:ext>
            </a:extLst>
          </p:cNvPr>
          <p:cNvGrpSpPr/>
          <p:nvPr/>
        </p:nvGrpSpPr>
        <p:grpSpPr>
          <a:xfrm>
            <a:off x="877268" y="4108043"/>
            <a:ext cx="2077375" cy="1496068"/>
            <a:chOff x="4848439" y="4445956"/>
            <a:chExt cx="2077375" cy="1496068"/>
          </a:xfrm>
        </p:grpSpPr>
        <p:pic>
          <p:nvPicPr>
            <p:cNvPr id="11" name="Picture 14">
              <a:extLst>
                <a:ext uri="{FF2B5EF4-FFF2-40B4-BE49-F238E27FC236}">
                  <a16:creationId xmlns:a16="http://schemas.microsoft.com/office/drawing/2014/main" id="{E6F7AA19-DE6D-4FCD-AA98-A0AF6FCE6960}"/>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48439"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9" descr="服务器终端">
              <a:extLst>
                <a:ext uri="{FF2B5EF4-FFF2-40B4-BE49-F238E27FC236}">
                  <a16:creationId xmlns:a16="http://schemas.microsoft.com/office/drawing/2014/main" id="{4A51CFA3-4D98-433F-A32F-CC7AC4BB67C3}"/>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327100" y="475386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9" descr="服务器终端">
              <a:extLst>
                <a:ext uri="{FF2B5EF4-FFF2-40B4-BE49-F238E27FC236}">
                  <a16:creationId xmlns:a16="http://schemas.microsoft.com/office/drawing/2014/main" id="{C1F51B63-D716-4D21-8604-06A6272F3A8C}"/>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69712" y="475711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9" descr="服务器终端">
              <a:extLst>
                <a:ext uri="{FF2B5EF4-FFF2-40B4-BE49-F238E27FC236}">
                  <a16:creationId xmlns:a16="http://schemas.microsoft.com/office/drawing/2014/main" id="{43DE088D-4A93-45D5-8CEA-E0E94E22C9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12324"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9" descr="服务器终端">
              <a:extLst>
                <a:ext uri="{FF2B5EF4-FFF2-40B4-BE49-F238E27FC236}">
                  <a16:creationId xmlns:a16="http://schemas.microsoft.com/office/drawing/2014/main" id="{12C3A0D9-EE9F-4905-AC30-331A1E903E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2430" y="520296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9" descr="服务器终端">
              <a:extLst>
                <a:ext uri="{FF2B5EF4-FFF2-40B4-BE49-F238E27FC236}">
                  <a16:creationId xmlns:a16="http://schemas.microsoft.com/office/drawing/2014/main" id="{2BCEEBC0-903A-4966-A971-1E8A5C846095}"/>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645671" y="527085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9" descr="服务器终端">
              <a:extLst>
                <a:ext uri="{FF2B5EF4-FFF2-40B4-BE49-F238E27FC236}">
                  <a16:creationId xmlns:a16="http://schemas.microsoft.com/office/drawing/2014/main" id="{D3E13681-515F-4C84-982A-ED0B922610E5}"/>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026149" y="5290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9" descr="服务器终端">
              <a:extLst>
                <a:ext uri="{FF2B5EF4-FFF2-40B4-BE49-F238E27FC236}">
                  <a16:creationId xmlns:a16="http://schemas.microsoft.com/office/drawing/2014/main" id="{A2028485-4FE9-4963-AE44-D1EB91E65C1E}"/>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68549" y="4846561"/>
              <a:ext cx="332343" cy="35255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8" name="组合 27">
            <a:extLst>
              <a:ext uri="{FF2B5EF4-FFF2-40B4-BE49-F238E27FC236}">
                <a16:creationId xmlns:a16="http://schemas.microsoft.com/office/drawing/2014/main" id="{A2CA3E9E-E8AF-4200-A34B-FBC546CB4A01}"/>
              </a:ext>
            </a:extLst>
          </p:cNvPr>
          <p:cNvGrpSpPr/>
          <p:nvPr/>
        </p:nvGrpSpPr>
        <p:grpSpPr>
          <a:xfrm>
            <a:off x="8740267" y="4054771"/>
            <a:ext cx="2077375" cy="1496068"/>
            <a:chOff x="4848439" y="4445956"/>
            <a:chExt cx="2077375" cy="1496068"/>
          </a:xfrm>
        </p:grpSpPr>
        <p:pic>
          <p:nvPicPr>
            <p:cNvPr id="20" name="Picture 14">
              <a:extLst>
                <a:ext uri="{FF2B5EF4-FFF2-40B4-BE49-F238E27FC236}">
                  <a16:creationId xmlns:a16="http://schemas.microsoft.com/office/drawing/2014/main" id="{955BFAE2-54A3-49A9-8475-4176E1D6957F}"/>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48439"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9" descr="服务器终端">
              <a:extLst>
                <a:ext uri="{FF2B5EF4-FFF2-40B4-BE49-F238E27FC236}">
                  <a16:creationId xmlns:a16="http://schemas.microsoft.com/office/drawing/2014/main" id="{E3A86CCE-E025-4CE7-97A2-6BF0343EABD4}"/>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327100" y="475386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id="{19AE5379-1926-420F-8B65-319CFEFE0E84}"/>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69712" y="475711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id="{D345B381-5991-4758-A15B-26231A6EF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12324"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id="{0A537CC3-B4C7-437D-87D7-274A6BF2B5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2430" y="520296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id="{58894968-673A-4D2A-8F46-81A396D9372A}"/>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645671" y="527085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9" descr="服务器终端">
              <a:extLst>
                <a:ext uri="{FF2B5EF4-FFF2-40B4-BE49-F238E27FC236}">
                  <a16:creationId xmlns:a16="http://schemas.microsoft.com/office/drawing/2014/main" id="{4712EB18-4425-41A3-80CA-24E957176DA4}"/>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026149" y="5290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9" descr="服务器终端">
              <a:extLst>
                <a:ext uri="{FF2B5EF4-FFF2-40B4-BE49-F238E27FC236}">
                  <a16:creationId xmlns:a16="http://schemas.microsoft.com/office/drawing/2014/main" id="{5786CA93-8394-4C82-AB40-81729354FC51}"/>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68549" y="4846561"/>
              <a:ext cx="332343" cy="352559"/>
            </a:xfrm>
            <a:prstGeom prst="rect">
              <a:avLst/>
            </a:prstGeom>
            <a:noFill/>
            <a:extLst>
              <a:ext uri="{909E8E84-426E-40DD-AFC4-6F175D3DCCD1}">
                <a14:hiddenFill xmlns:a14="http://schemas.microsoft.com/office/drawing/2010/main">
                  <a:solidFill>
                    <a:srgbClr val="FFFFFF"/>
                  </a:solidFill>
                </a14:hiddenFill>
              </a:ext>
            </a:extLst>
          </p:spPr>
        </p:pic>
      </p:grpSp>
      <p:sp>
        <p:nvSpPr>
          <p:cNvPr id="2" name="标题 1">
            <a:extLst>
              <a:ext uri="{FF2B5EF4-FFF2-40B4-BE49-F238E27FC236}">
                <a16:creationId xmlns:a16="http://schemas.microsoft.com/office/drawing/2014/main" id="{4FB1147F-64D1-434E-9B61-C1689EFFFEBF}"/>
              </a:ext>
            </a:extLst>
          </p:cNvPr>
          <p:cNvSpPr>
            <a:spLocks noGrp="1"/>
          </p:cNvSpPr>
          <p:nvPr>
            <p:ph type="title"/>
          </p:nvPr>
        </p:nvSpPr>
        <p:spPr/>
        <p:txBody>
          <a:bodyPr/>
          <a:lstStyle/>
          <a:p>
            <a:r>
              <a:rPr lang="zh-CN" altLang="en-US" dirty="0"/>
              <a:t>组播路由</a:t>
            </a:r>
          </a:p>
        </p:txBody>
      </p:sp>
      <p:sp>
        <p:nvSpPr>
          <p:cNvPr id="3" name="内容占位符 2">
            <a:extLst>
              <a:ext uri="{FF2B5EF4-FFF2-40B4-BE49-F238E27FC236}">
                <a16:creationId xmlns:a16="http://schemas.microsoft.com/office/drawing/2014/main" id="{E6F15904-DD87-4888-810A-BEC4E62262CE}"/>
              </a:ext>
            </a:extLst>
          </p:cNvPr>
          <p:cNvSpPr>
            <a:spLocks noGrp="1"/>
          </p:cNvSpPr>
          <p:nvPr>
            <p:ph idx="1"/>
          </p:nvPr>
        </p:nvSpPr>
        <p:spPr>
          <a:xfrm>
            <a:off x="838200" y="1510758"/>
            <a:ext cx="10515600" cy="1534636"/>
          </a:xfrm>
        </p:spPr>
        <p:txBody>
          <a:bodyPr>
            <a:normAutofit fontScale="92500"/>
          </a:bodyPr>
          <a:lstStyle/>
          <a:p>
            <a:r>
              <a:rPr lang="en-US" altLang="zh-CN" sz="2400" dirty="0"/>
              <a:t>Internet</a:t>
            </a:r>
            <a:r>
              <a:rPr lang="zh-CN" altLang="en-US" sz="2400" dirty="0"/>
              <a:t>的组播主干（</a:t>
            </a:r>
            <a:r>
              <a:rPr lang="en-US" altLang="zh-CN" sz="2400" dirty="0" err="1"/>
              <a:t>MBone</a:t>
            </a:r>
            <a:r>
              <a:rPr lang="zh-CN" altLang="en-US" sz="2400" dirty="0"/>
              <a:t>）：可以转发多播流量的路由器和主机组成的网络</a:t>
            </a:r>
            <a:endParaRPr lang="en-US" altLang="zh-CN" sz="2400" dirty="0"/>
          </a:p>
          <a:p>
            <a:r>
              <a:rPr lang="zh-CN" altLang="en-US" sz="2400" dirty="0"/>
              <a:t>通常</a:t>
            </a:r>
            <a:r>
              <a:rPr lang="en-US" altLang="zh-CN" sz="2400" dirty="0"/>
              <a:t>Internet</a:t>
            </a:r>
            <a:r>
              <a:rPr lang="zh-CN" altLang="en-US" sz="2400" dirty="0"/>
              <a:t>是单播方式工作，如何使多播流量穿越单播网络？</a:t>
            </a:r>
            <a:endParaRPr lang="en-US" altLang="zh-CN" sz="2400" dirty="0"/>
          </a:p>
          <a:p>
            <a:r>
              <a:rPr lang="zh-CN" altLang="en-US" sz="2400" dirty="0">
                <a:solidFill>
                  <a:srgbClr val="5B307E"/>
                </a:solidFill>
              </a:rPr>
              <a:t>隧道（</a:t>
            </a:r>
            <a:r>
              <a:rPr lang="en-US" altLang="zh-CN" sz="2400" dirty="0">
                <a:solidFill>
                  <a:srgbClr val="5B307E"/>
                </a:solidFill>
              </a:rPr>
              <a:t>tunneling</a:t>
            </a:r>
            <a:r>
              <a:rPr lang="zh-CN" altLang="en-US" sz="2400" dirty="0">
                <a:solidFill>
                  <a:srgbClr val="5B307E"/>
                </a:solidFill>
              </a:rPr>
              <a:t>）</a:t>
            </a:r>
            <a:r>
              <a:rPr lang="zh-CN" altLang="en-US" sz="2400" dirty="0"/>
              <a:t>：可以使多播数据报穿越不支持多播的网络</a:t>
            </a:r>
          </a:p>
        </p:txBody>
      </p:sp>
      <p:pic>
        <p:nvPicPr>
          <p:cNvPr id="6" name="Picture 57" descr="通用路由器">
            <a:extLst>
              <a:ext uri="{FF2B5EF4-FFF2-40B4-BE49-F238E27FC236}">
                <a16:creationId xmlns:a16="http://schemas.microsoft.com/office/drawing/2014/main" id="{1B9372E4-9FB1-423F-988E-D54B784CC4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6620" y="3711968"/>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7" descr="通用路由器">
            <a:extLst>
              <a:ext uri="{FF2B5EF4-FFF2-40B4-BE49-F238E27FC236}">
                <a16:creationId xmlns:a16="http://schemas.microsoft.com/office/drawing/2014/main" id="{ACBC1E01-88E9-4AA8-A28E-40A0BB609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58019" y="3649720"/>
            <a:ext cx="656933" cy="484188"/>
          </a:xfrm>
          <a:prstGeom prst="rect">
            <a:avLst/>
          </a:prstGeom>
          <a:noFill/>
          <a:extLst>
            <a:ext uri="{909E8E84-426E-40DD-AFC4-6F175D3DCCD1}">
              <a14:hiddenFill xmlns:a14="http://schemas.microsoft.com/office/drawing/2010/main">
                <a:solidFill>
                  <a:srgbClr val="FFFFFF"/>
                </a:solidFill>
              </a14:hiddenFill>
            </a:ext>
          </a:extLst>
        </p:spPr>
      </p:pic>
      <p:sp>
        <p:nvSpPr>
          <p:cNvPr id="8" name="文本框 7">
            <a:extLst>
              <a:ext uri="{FF2B5EF4-FFF2-40B4-BE49-F238E27FC236}">
                <a16:creationId xmlns:a16="http://schemas.microsoft.com/office/drawing/2014/main" id="{02CC4177-8DBE-49A8-925B-D279A83B556D}"/>
              </a:ext>
            </a:extLst>
          </p:cNvPr>
          <p:cNvSpPr txBox="1"/>
          <p:nvPr/>
        </p:nvSpPr>
        <p:spPr>
          <a:xfrm>
            <a:off x="1512322" y="376939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9" name="文本框 8">
            <a:extLst>
              <a:ext uri="{FF2B5EF4-FFF2-40B4-BE49-F238E27FC236}">
                <a16:creationId xmlns:a16="http://schemas.microsoft.com/office/drawing/2014/main" id="{787C6A85-EF7E-4C93-8102-F733B70E7DA4}"/>
              </a:ext>
            </a:extLst>
          </p:cNvPr>
          <p:cNvSpPr txBox="1"/>
          <p:nvPr/>
        </p:nvSpPr>
        <p:spPr>
          <a:xfrm>
            <a:off x="9814952" y="37645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id="{66E1718F-D46B-4604-ABB8-1B7E8ED1E5E1}"/>
              </a:ext>
            </a:extLst>
          </p:cNvPr>
          <p:cNvSpPr txBox="1"/>
          <p:nvPr/>
        </p:nvSpPr>
        <p:spPr>
          <a:xfrm>
            <a:off x="1268051" y="5542648"/>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支持多播</a:t>
            </a:r>
          </a:p>
        </p:txBody>
      </p:sp>
      <p:sp>
        <p:nvSpPr>
          <p:cNvPr id="30" name="文本框 29">
            <a:extLst>
              <a:ext uri="{FF2B5EF4-FFF2-40B4-BE49-F238E27FC236}">
                <a16:creationId xmlns:a16="http://schemas.microsoft.com/office/drawing/2014/main" id="{CE3BC89F-010D-48F6-8078-1BDC8A2E40E3}"/>
              </a:ext>
            </a:extLst>
          </p:cNvPr>
          <p:cNvSpPr txBox="1"/>
          <p:nvPr/>
        </p:nvSpPr>
        <p:spPr>
          <a:xfrm>
            <a:off x="9208675" y="5498190"/>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支持多播</a:t>
            </a:r>
          </a:p>
        </p:txBody>
      </p:sp>
      <p:sp>
        <p:nvSpPr>
          <p:cNvPr id="31" name="文本框 30">
            <a:extLst>
              <a:ext uri="{FF2B5EF4-FFF2-40B4-BE49-F238E27FC236}">
                <a16:creationId xmlns:a16="http://schemas.microsoft.com/office/drawing/2014/main" id="{65293F41-1A7C-4E03-AE8F-E950D4914B65}"/>
              </a:ext>
            </a:extLst>
          </p:cNvPr>
          <p:cNvSpPr txBox="1"/>
          <p:nvPr/>
        </p:nvSpPr>
        <p:spPr>
          <a:xfrm>
            <a:off x="5208002" y="3302547"/>
            <a:ext cx="146706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不支持多播</a:t>
            </a:r>
          </a:p>
        </p:txBody>
      </p:sp>
      <p:grpSp>
        <p:nvGrpSpPr>
          <p:cNvPr id="40" name="组合 39">
            <a:extLst>
              <a:ext uri="{FF2B5EF4-FFF2-40B4-BE49-F238E27FC236}">
                <a16:creationId xmlns:a16="http://schemas.microsoft.com/office/drawing/2014/main" id="{692FB787-B8B1-4E42-87E6-02EC2DCE12F7}"/>
              </a:ext>
            </a:extLst>
          </p:cNvPr>
          <p:cNvGrpSpPr/>
          <p:nvPr/>
        </p:nvGrpSpPr>
        <p:grpSpPr>
          <a:xfrm>
            <a:off x="2690654" y="3736243"/>
            <a:ext cx="6343636" cy="358736"/>
            <a:chOff x="4199790" y="2893693"/>
            <a:chExt cx="3299798" cy="358736"/>
          </a:xfrm>
        </p:grpSpPr>
        <p:sp>
          <p:nvSpPr>
            <p:cNvPr id="36" name="椭圆 35">
              <a:extLst>
                <a:ext uri="{FF2B5EF4-FFF2-40B4-BE49-F238E27FC236}">
                  <a16:creationId xmlns:a16="http://schemas.microsoft.com/office/drawing/2014/main" id="{4BC76DEC-7E0D-4581-B20B-7356B56E7321}"/>
                </a:ext>
              </a:extLst>
            </p:cNvPr>
            <p:cNvSpPr/>
            <p:nvPr/>
          </p:nvSpPr>
          <p:spPr>
            <a:xfrm>
              <a:off x="7296369" y="2893784"/>
              <a:ext cx="203219" cy="352467"/>
            </a:xfrm>
            <a:prstGeom prst="ellipse">
              <a:avLst/>
            </a:prstGeom>
            <a:solidFill>
              <a:srgbClr val="E7D1E7"/>
            </a:solidFill>
            <a:ln w="19050">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6CD4F917-77E2-4C37-B8E3-E2C9148428B0}"/>
                </a:ext>
              </a:extLst>
            </p:cNvPr>
            <p:cNvSpPr/>
            <p:nvPr/>
          </p:nvSpPr>
          <p:spPr>
            <a:xfrm>
              <a:off x="4336158" y="2893693"/>
              <a:ext cx="3075903" cy="352559"/>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椭圆 34">
              <a:extLst>
                <a:ext uri="{FF2B5EF4-FFF2-40B4-BE49-F238E27FC236}">
                  <a16:creationId xmlns:a16="http://schemas.microsoft.com/office/drawing/2014/main" id="{2E633100-3327-4D55-A07F-18DC9BDFA92C}"/>
                </a:ext>
              </a:extLst>
            </p:cNvPr>
            <p:cNvSpPr/>
            <p:nvPr/>
          </p:nvSpPr>
          <p:spPr>
            <a:xfrm>
              <a:off x="4199790" y="2893693"/>
              <a:ext cx="196324" cy="358736"/>
            </a:xfrm>
            <a:prstGeom prst="ellipse">
              <a:avLst/>
            </a:prstGeom>
            <a:solidFill>
              <a:srgbClr val="FAF4FF"/>
            </a:solidFill>
            <a:ln w="19050">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8" name="直接连接符 37">
              <a:extLst>
                <a:ext uri="{FF2B5EF4-FFF2-40B4-BE49-F238E27FC236}">
                  <a16:creationId xmlns:a16="http://schemas.microsoft.com/office/drawing/2014/main" id="{8861B940-07CC-4A30-B4BE-B5429855005F}"/>
                </a:ext>
              </a:extLst>
            </p:cNvPr>
            <p:cNvCxnSpPr>
              <a:cxnSpLocks/>
              <a:stCxn id="35" idx="0"/>
              <a:endCxn id="36" idx="0"/>
            </p:cNvCxnSpPr>
            <p:nvPr/>
          </p:nvCxnSpPr>
          <p:spPr>
            <a:xfrm>
              <a:off x="4297952" y="2893693"/>
              <a:ext cx="3100027" cy="91"/>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616B339B-2D24-4FD6-91E8-38544253BFEF}"/>
                </a:ext>
              </a:extLst>
            </p:cNvPr>
            <p:cNvCxnSpPr/>
            <p:nvPr/>
          </p:nvCxnSpPr>
          <p:spPr>
            <a:xfrm>
              <a:off x="4336158" y="3246252"/>
              <a:ext cx="3109140" cy="91"/>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id="{CF503B05-28DC-481D-BC6C-A9EE50CAA514}"/>
              </a:ext>
            </a:extLst>
          </p:cNvPr>
          <p:cNvGrpSpPr/>
          <p:nvPr/>
        </p:nvGrpSpPr>
        <p:grpSpPr>
          <a:xfrm>
            <a:off x="2206303" y="3917402"/>
            <a:ext cx="7608649" cy="495373"/>
            <a:chOff x="7328246" y="1535623"/>
            <a:chExt cx="4233697" cy="371872"/>
          </a:xfrm>
        </p:grpSpPr>
        <p:sp>
          <p:nvSpPr>
            <p:cNvPr id="48" name="任意多边形: 形状 47">
              <a:extLst>
                <a:ext uri="{FF2B5EF4-FFF2-40B4-BE49-F238E27FC236}">
                  <a16:creationId xmlns:a16="http://schemas.microsoft.com/office/drawing/2014/main" id="{8E244750-74F0-4934-B57F-939CF0568F29}"/>
                </a:ext>
              </a:extLst>
            </p:cNvPr>
            <p:cNvSpPr/>
            <p:nvPr/>
          </p:nvSpPr>
          <p:spPr>
            <a:xfrm>
              <a:off x="7328246" y="1538164"/>
              <a:ext cx="318782" cy="369331"/>
            </a:xfrm>
            <a:custGeom>
              <a:avLst/>
              <a:gdLst>
                <a:gd name="connsiteX0" fmla="*/ 0 w 318782"/>
                <a:gd name="connsiteY0" fmla="*/ 151002 h 151002"/>
                <a:gd name="connsiteX1" fmla="*/ 318782 w 318782"/>
                <a:gd name="connsiteY1" fmla="*/ 0 h 151002"/>
              </a:gdLst>
              <a:ahLst/>
              <a:cxnLst>
                <a:cxn ang="0">
                  <a:pos x="connsiteX0" y="connsiteY0"/>
                </a:cxn>
                <a:cxn ang="0">
                  <a:pos x="connsiteX1" y="connsiteY1"/>
                </a:cxn>
              </a:cxnLst>
              <a:rect l="l" t="t" r="r" b="b"/>
              <a:pathLst>
                <a:path w="318782" h="151002">
                  <a:moveTo>
                    <a:pt x="0" y="151002"/>
                  </a:moveTo>
                  <a:cubicBezTo>
                    <a:pt x="41945" y="75501"/>
                    <a:pt x="83890" y="0"/>
                    <a:pt x="318782" y="0"/>
                  </a:cubicBezTo>
                </a:path>
              </a:pathLst>
            </a:custGeom>
            <a:noFill/>
            <a:ln w="381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形状 48">
              <a:extLst>
                <a:ext uri="{FF2B5EF4-FFF2-40B4-BE49-F238E27FC236}">
                  <a16:creationId xmlns:a16="http://schemas.microsoft.com/office/drawing/2014/main" id="{77D1C39B-D076-4A4E-B9BE-3D8182D2219A}"/>
                </a:ext>
              </a:extLst>
            </p:cNvPr>
            <p:cNvSpPr/>
            <p:nvPr/>
          </p:nvSpPr>
          <p:spPr>
            <a:xfrm flipH="1">
              <a:off x="11243161" y="1535952"/>
              <a:ext cx="318782" cy="369331"/>
            </a:xfrm>
            <a:custGeom>
              <a:avLst/>
              <a:gdLst>
                <a:gd name="connsiteX0" fmla="*/ 0 w 318782"/>
                <a:gd name="connsiteY0" fmla="*/ 151002 h 151002"/>
                <a:gd name="connsiteX1" fmla="*/ 318782 w 318782"/>
                <a:gd name="connsiteY1" fmla="*/ 0 h 151002"/>
              </a:gdLst>
              <a:ahLst/>
              <a:cxnLst>
                <a:cxn ang="0">
                  <a:pos x="connsiteX0" y="connsiteY0"/>
                </a:cxn>
                <a:cxn ang="0">
                  <a:pos x="connsiteX1" y="connsiteY1"/>
                </a:cxn>
              </a:cxnLst>
              <a:rect l="l" t="t" r="r" b="b"/>
              <a:pathLst>
                <a:path w="318782" h="151002">
                  <a:moveTo>
                    <a:pt x="0" y="151002"/>
                  </a:moveTo>
                  <a:cubicBezTo>
                    <a:pt x="41945" y="75501"/>
                    <a:pt x="83890" y="0"/>
                    <a:pt x="318782" y="0"/>
                  </a:cubicBezTo>
                </a:path>
              </a:pathLst>
            </a:custGeom>
            <a:noFill/>
            <a:ln w="38100">
              <a:solidFill>
                <a:srgbClr val="C00000"/>
              </a:solidFill>
              <a:prstDash val="sysDash"/>
              <a:headEnd type="arrow"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50" name="直接连接符 49">
              <a:extLst>
                <a:ext uri="{FF2B5EF4-FFF2-40B4-BE49-F238E27FC236}">
                  <a16:creationId xmlns:a16="http://schemas.microsoft.com/office/drawing/2014/main" id="{0DB89F81-82D7-45F1-8C4B-10BDE68FDF40}"/>
                </a:ext>
              </a:extLst>
            </p:cNvPr>
            <p:cNvCxnSpPr/>
            <p:nvPr/>
          </p:nvCxnSpPr>
          <p:spPr>
            <a:xfrm flipV="1">
              <a:off x="7655165" y="1535623"/>
              <a:ext cx="3594233" cy="329"/>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grpSp>
      <p:grpSp>
        <p:nvGrpSpPr>
          <p:cNvPr id="72" name="组合 71">
            <a:extLst>
              <a:ext uri="{FF2B5EF4-FFF2-40B4-BE49-F238E27FC236}">
                <a16:creationId xmlns:a16="http://schemas.microsoft.com/office/drawing/2014/main" id="{37930F9E-AE9A-4CC5-820C-57DB125F3406}"/>
              </a:ext>
            </a:extLst>
          </p:cNvPr>
          <p:cNvGrpSpPr/>
          <p:nvPr/>
        </p:nvGrpSpPr>
        <p:grpSpPr>
          <a:xfrm>
            <a:off x="2485738" y="3622746"/>
            <a:ext cx="2458106" cy="500831"/>
            <a:chOff x="4044773" y="5648536"/>
            <a:chExt cx="3367712" cy="500831"/>
          </a:xfrm>
        </p:grpSpPr>
        <p:grpSp>
          <p:nvGrpSpPr>
            <p:cNvPr id="55" name="组合 54">
              <a:extLst>
                <a:ext uri="{FF2B5EF4-FFF2-40B4-BE49-F238E27FC236}">
                  <a16:creationId xmlns:a16="http://schemas.microsoft.com/office/drawing/2014/main" id="{734FCE9B-2057-4EBE-A4C8-77893F707D7A}"/>
                </a:ext>
              </a:extLst>
            </p:cNvPr>
            <p:cNvGrpSpPr/>
            <p:nvPr/>
          </p:nvGrpSpPr>
          <p:grpSpPr>
            <a:xfrm>
              <a:off x="4044773" y="5648536"/>
              <a:ext cx="3367712" cy="500831"/>
              <a:chOff x="3849834" y="5095783"/>
              <a:chExt cx="3367712" cy="500831"/>
            </a:xfrm>
          </p:grpSpPr>
          <p:sp>
            <p:nvSpPr>
              <p:cNvPr id="52" name="矩形 51">
                <a:extLst>
                  <a:ext uri="{FF2B5EF4-FFF2-40B4-BE49-F238E27FC236}">
                    <a16:creationId xmlns:a16="http://schemas.microsoft.com/office/drawing/2014/main" id="{25CEE6D3-1697-4C0C-B042-EB8312340760}"/>
                  </a:ext>
                </a:extLst>
              </p:cNvPr>
              <p:cNvSpPr/>
              <p:nvPr/>
            </p:nvSpPr>
            <p:spPr>
              <a:xfrm>
                <a:off x="3849834" y="5095783"/>
                <a:ext cx="3367712" cy="490867"/>
              </a:xfrm>
              <a:prstGeom prst="rect">
                <a:avLst/>
              </a:prstGeom>
              <a:solidFill>
                <a:schemeClr val="bg1"/>
              </a:solid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54" name="直接连接符 53">
                <a:extLst>
                  <a:ext uri="{FF2B5EF4-FFF2-40B4-BE49-F238E27FC236}">
                    <a16:creationId xmlns:a16="http://schemas.microsoft.com/office/drawing/2014/main" id="{77E245E5-4052-4258-825A-2F3C35EB498B}"/>
                  </a:ext>
                </a:extLst>
              </p:cNvPr>
              <p:cNvCxnSpPr/>
              <p:nvPr/>
            </p:nvCxnSpPr>
            <p:spPr>
              <a:xfrm>
                <a:off x="4878376" y="5105747"/>
                <a:ext cx="0" cy="490867"/>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60" name="文本框 59">
              <a:extLst>
                <a:ext uri="{FF2B5EF4-FFF2-40B4-BE49-F238E27FC236}">
                  <a16:creationId xmlns:a16="http://schemas.microsoft.com/office/drawing/2014/main" id="{F2D79C12-69C0-4A20-999B-ADAE017567C3}"/>
                </a:ext>
              </a:extLst>
            </p:cNvPr>
            <p:cNvSpPr txBox="1"/>
            <p:nvPr/>
          </p:nvSpPr>
          <p:spPr>
            <a:xfrm>
              <a:off x="4064796" y="5703879"/>
              <a:ext cx="697627"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首部</a:t>
              </a:r>
            </a:p>
          </p:txBody>
        </p:sp>
      </p:grpSp>
      <p:grpSp>
        <p:nvGrpSpPr>
          <p:cNvPr id="109" name="组合 108">
            <a:extLst>
              <a:ext uri="{FF2B5EF4-FFF2-40B4-BE49-F238E27FC236}">
                <a16:creationId xmlns:a16="http://schemas.microsoft.com/office/drawing/2014/main" id="{1B5E4BF0-23B9-4F5E-928A-17BEA67F5040}"/>
              </a:ext>
            </a:extLst>
          </p:cNvPr>
          <p:cNvGrpSpPr/>
          <p:nvPr/>
        </p:nvGrpSpPr>
        <p:grpSpPr>
          <a:xfrm>
            <a:off x="4105740" y="4530270"/>
            <a:ext cx="3281385" cy="1936804"/>
            <a:chOff x="4391045" y="4539599"/>
            <a:chExt cx="3367712" cy="2066441"/>
          </a:xfrm>
        </p:grpSpPr>
        <p:grpSp>
          <p:nvGrpSpPr>
            <p:cNvPr id="101" name="组合 100">
              <a:extLst>
                <a:ext uri="{FF2B5EF4-FFF2-40B4-BE49-F238E27FC236}">
                  <a16:creationId xmlns:a16="http://schemas.microsoft.com/office/drawing/2014/main" id="{8D82EEA8-9D51-416C-BF0C-BB0B959986E3}"/>
                </a:ext>
              </a:extLst>
            </p:cNvPr>
            <p:cNvGrpSpPr/>
            <p:nvPr/>
          </p:nvGrpSpPr>
          <p:grpSpPr>
            <a:xfrm>
              <a:off x="4391045" y="5652591"/>
              <a:ext cx="3367712" cy="490867"/>
              <a:chOff x="4044773" y="5648536"/>
              <a:chExt cx="3367712" cy="490867"/>
            </a:xfrm>
          </p:grpSpPr>
          <p:grpSp>
            <p:nvGrpSpPr>
              <p:cNvPr id="102" name="组合 101">
                <a:extLst>
                  <a:ext uri="{FF2B5EF4-FFF2-40B4-BE49-F238E27FC236}">
                    <a16:creationId xmlns:a16="http://schemas.microsoft.com/office/drawing/2014/main" id="{262F6E2E-23BB-464B-821B-7EA32603E507}"/>
                  </a:ext>
                </a:extLst>
              </p:cNvPr>
              <p:cNvGrpSpPr/>
              <p:nvPr/>
            </p:nvGrpSpPr>
            <p:grpSpPr>
              <a:xfrm>
                <a:off x="4044773" y="5648536"/>
                <a:ext cx="3367712" cy="490867"/>
                <a:chOff x="3849834" y="5095783"/>
                <a:chExt cx="3367712" cy="490867"/>
              </a:xfrm>
            </p:grpSpPr>
            <p:sp>
              <p:nvSpPr>
                <p:cNvPr id="105" name="矩形 104">
                  <a:extLst>
                    <a:ext uri="{FF2B5EF4-FFF2-40B4-BE49-F238E27FC236}">
                      <a16:creationId xmlns:a16="http://schemas.microsoft.com/office/drawing/2014/main" id="{46C50B8F-ECB3-4B87-BB2E-2E4A8AD0AB81}"/>
                    </a:ext>
                  </a:extLst>
                </p:cNvPr>
                <p:cNvSpPr/>
                <p:nvPr/>
              </p:nvSpPr>
              <p:spPr>
                <a:xfrm>
                  <a:off x="3849834" y="5095783"/>
                  <a:ext cx="3367712" cy="490867"/>
                </a:xfrm>
                <a:prstGeom prst="rect">
                  <a:avLst/>
                </a:prstGeom>
                <a:solidFill>
                  <a:schemeClr val="bg1"/>
                </a:solid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06" name="直接连接符 105">
                  <a:extLst>
                    <a:ext uri="{FF2B5EF4-FFF2-40B4-BE49-F238E27FC236}">
                      <a16:creationId xmlns:a16="http://schemas.microsoft.com/office/drawing/2014/main" id="{DCADE786-A526-4DC5-9EA1-0C88948C33BD}"/>
                    </a:ext>
                  </a:extLst>
                </p:cNvPr>
                <p:cNvCxnSpPr/>
                <p:nvPr/>
              </p:nvCxnSpPr>
              <p:spPr>
                <a:xfrm>
                  <a:off x="4598633" y="5095783"/>
                  <a:ext cx="0" cy="490867"/>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3" name="文本框 102">
                <a:extLst>
                  <a:ext uri="{FF2B5EF4-FFF2-40B4-BE49-F238E27FC236}">
                    <a16:creationId xmlns:a16="http://schemas.microsoft.com/office/drawing/2014/main" id="{95E90363-FD73-4605-BB58-33DBE4538CD8}"/>
                  </a:ext>
                </a:extLst>
              </p:cNvPr>
              <p:cNvSpPr txBox="1"/>
              <p:nvPr/>
            </p:nvSpPr>
            <p:spPr>
              <a:xfrm>
                <a:off x="4065756" y="5693914"/>
                <a:ext cx="697627"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首部</a:t>
                </a:r>
              </a:p>
            </p:txBody>
          </p:sp>
          <p:sp>
            <p:nvSpPr>
              <p:cNvPr id="104" name="文本框 103">
                <a:extLst>
                  <a:ext uri="{FF2B5EF4-FFF2-40B4-BE49-F238E27FC236}">
                    <a16:creationId xmlns:a16="http://schemas.microsoft.com/office/drawing/2014/main" id="{723041C4-1C52-41DA-8552-2D43E9B974D4}"/>
                  </a:ext>
                </a:extLst>
              </p:cNvPr>
              <p:cNvSpPr txBox="1"/>
              <p:nvPr/>
            </p:nvSpPr>
            <p:spPr>
              <a:xfrm>
                <a:off x="5625055" y="5707599"/>
                <a:ext cx="697627" cy="400110"/>
              </a:xfrm>
              <a:prstGeom prst="rect">
                <a:avLst/>
              </a:prstGeom>
              <a:noFill/>
            </p:spPr>
            <p:txBody>
              <a:bodyPr wrap="none" rtlCol="0">
                <a:spAutoFit/>
              </a:bodyPr>
              <a:lstStyle/>
              <a:p>
                <a:r>
                  <a:rPr lang="zh-CN" altLang="en-US" sz="2000" dirty="0">
                    <a:solidFill>
                      <a:srgbClr val="5B307E"/>
                    </a:solidFill>
                    <a:latin typeface="微软雅黑" panose="020B0503020204020204" pitchFamily="34" charset="-122"/>
                    <a:ea typeface="微软雅黑" panose="020B0503020204020204" pitchFamily="34" charset="-122"/>
                  </a:rPr>
                  <a:t>数据</a:t>
                </a:r>
              </a:p>
            </p:txBody>
          </p:sp>
        </p:grpSp>
        <p:grpSp>
          <p:nvGrpSpPr>
            <p:cNvPr id="73" name="组合 72">
              <a:extLst>
                <a:ext uri="{FF2B5EF4-FFF2-40B4-BE49-F238E27FC236}">
                  <a16:creationId xmlns:a16="http://schemas.microsoft.com/office/drawing/2014/main" id="{1D1A62D9-FEA6-4428-A646-2EBAEBB9126C}"/>
                </a:ext>
              </a:extLst>
            </p:cNvPr>
            <p:cNvGrpSpPr/>
            <p:nvPr/>
          </p:nvGrpSpPr>
          <p:grpSpPr>
            <a:xfrm>
              <a:off x="5062158" y="4908001"/>
              <a:ext cx="2653155" cy="396613"/>
              <a:chOff x="4759330" y="4823077"/>
              <a:chExt cx="2653155" cy="396613"/>
            </a:xfrm>
          </p:grpSpPr>
          <p:grpSp>
            <p:nvGrpSpPr>
              <p:cNvPr id="56" name="组合 55">
                <a:extLst>
                  <a:ext uri="{FF2B5EF4-FFF2-40B4-BE49-F238E27FC236}">
                    <a16:creationId xmlns:a16="http://schemas.microsoft.com/office/drawing/2014/main" id="{4AA21802-B4C1-4453-B511-31181C75A447}"/>
                  </a:ext>
                </a:extLst>
              </p:cNvPr>
              <p:cNvGrpSpPr/>
              <p:nvPr/>
            </p:nvGrpSpPr>
            <p:grpSpPr>
              <a:xfrm>
                <a:off x="4792769" y="4833191"/>
                <a:ext cx="2619716" cy="386499"/>
                <a:chOff x="3849834" y="5095783"/>
                <a:chExt cx="3367712" cy="490867"/>
              </a:xfrm>
              <a:solidFill>
                <a:srgbClr val="FAF4FF"/>
              </a:solidFill>
            </p:grpSpPr>
            <p:sp>
              <p:nvSpPr>
                <p:cNvPr id="57" name="矩形 56">
                  <a:extLst>
                    <a:ext uri="{FF2B5EF4-FFF2-40B4-BE49-F238E27FC236}">
                      <a16:creationId xmlns:a16="http://schemas.microsoft.com/office/drawing/2014/main" id="{A5A40CB3-6F5C-474C-A119-14E96CAD36A0}"/>
                    </a:ext>
                  </a:extLst>
                </p:cNvPr>
                <p:cNvSpPr/>
                <p:nvPr/>
              </p:nvSpPr>
              <p:spPr>
                <a:xfrm>
                  <a:off x="3849834" y="5095783"/>
                  <a:ext cx="3367712" cy="490867"/>
                </a:xfrm>
                <a:prstGeom prst="rect">
                  <a:avLst/>
                </a:prstGeom>
                <a:grp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8" name="直接连接符 57">
                  <a:extLst>
                    <a:ext uri="{FF2B5EF4-FFF2-40B4-BE49-F238E27FC236}">
                      <a16:creationId xmlns:a16="http://schemas.microsoft.com/office/drawing/2014/main" id="{A9D4D8C5-AA34-4CBB-BA0C-51026BC6FA99}"/>
                    </a:ext>
                  </a:extLst>
                </p:cNvPr>
                <p:cNvCxnSpPr/>
                <p:nvPr/>
              </p:nvCxnSpPr>
              <p:spPr>
                <a:xfrm>
                  <a:off x="4598633" y="5095783"/>
                  <a:ext cx="0" cy="490867"/>
                </a:xfrm>
                <a:prstGeom prst="line">
                  <a:avLst/>
                </a:prstGeom>
                <a:grpFill/>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61" name="文本框 60">
                <a:extLst>
                  <a:ext uri="{FF2B5EF4-FFF2-40B4-BE49-F238E27FC236}">
                    <a16:creationId xmlns:a16="http://schemas.microsoft.com/office/drawing/2014/main" id="{C03E64F1-F428-41E6-8D37-615835FDA339}"/>
                  </a:ext>
                </a:extLst>
              </p:cNvPr>
              <p:cNvSpPr txBox="1"/>
              <p:nvPr/>
            </p:nvSpPr>
            <p:spPr>
              <a:xfrm>
                <a:off x="4759330" y="4823077"/>
                <a:ext cx="753565" cy="369332"/>
              </a:xfrm>
              <a:prstGeom prst="rect">
                <a:avLst/>
              </a:prstGeom>
              <a:noFill/>
            </p:spPr>
            <p:txBody>
              <a:bodyPr wrap="square" rtlCol="0">
                <a:spAutoFit/>
              </a:bodyPr>
              <a:lstStyle/>
              <a:p>
                <a:r>
                  <a:rPr lang="zh-CN" altLang="en-US" dirty="0">
                    <a:latin typeface="微软雅黑" panose="020B0503020204020204" pitchFamily="34" charset="-122"/>
                    <a:ea typeface="微软雅黑" panose="020B0503020204020204" pitchFamily="34" charset="-122"/>
                  </a:rPr>
                  <a:t>首部</a:t>
                </a:r>
              </a:p>
            </p:txBody>
          </p:sp>
          <p:sp>
            <p:nvSpPr>
              <p:cNvPr id="63" name="文本框 62">
                <a:extLst>
                  <a:ext uri="{FF2B5EF4-FFF2-40B4-BE49-F238E27FC236}">
                    <a16:creationId xmlns:a16="http://schemas.microsoft.com/office/drawing/2014/main" id="{F60D8C80-1E5A-4BC9-879A-CA94AF6A039D}"/>
                  </a:ext>
                </a:extLst>
              </p:cNvPr>
              <p:cNvSpPr txBox="1"/>
              <p:nvPr/>
            </p:nvSpPr>
            <p:spPr>
              <a:xfrm>
                <a:off x="5957740" y="4833191"/>
                <a:ext cx="646331"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数据</a:t>
                </a:r>
              </a:p>
            </p:txBody>
          </p:sp>
        </p:grpSp>
        <p:cxnSp>
          <p:nvCxnSpPr>
            <p:cNvPr id="65" name="直接连接符 64">
              <a:extLst>
                <a:ext uri="{FF2B5EF4-FFF2-40B4-BE49-F238E27FC236}">
                  <a16:creationId xmlns:a16="http://schemas.microsoft.com/office/drawing/2014/main" id="{3DB2A25B-3EC0-4B4F-B618-815B7312B069}"/>
                </a:ext>
              </a:extLst>
            </p:cNvPr>
            <p:cNvCxnSpPr>
              <a:cxnSpLocks/>
            </p:cNvCxnSpPr>
            <p:nvPr/>
          </p:nvCxnSpPr>
          <p:spPr>
            <a:xfrm>
              <a:off x="6317495" y="5261387"/>
              <a:ext cx="0" cy="450267"/>
            </a:xfrm>
            <a:prstGeom prst="line">
              <a:avLst/>
            </a:prstGeom>
            <a:ln w="76200">
              <a:solidFill>
                <a:srgbClr val="5B307E"/>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684A0E34-7D65-404B-8264-FA5C0853FB88}"/>
                </a:ext>
              </a:extLst>
            </p:cNvPr>
            <p:cNvSpPr txBox="1"/>
            <p:nvPr/>
          </p:nvSpPr>
          <p:spPr>
            <a:xfrm>
              <a:off x="4892438" y="6205930"/>
              <a:ext cx="2725426"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隧道中的单播</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数据报</a:t>
              </a:r>
            </a:p>
          </p:txBody>
        </p:sp>
        <p:sp>
          <p:nvSpPr>
            <p:cNvPr id="68" name="文本框 67">
              <a:extLst>
                <a:ext uri="{FF2B5EF4-FFF2-40B4-BE49-F238E27FC236}">
                  <a16:creationId xmlns:a16="http://schemas.microsoft.com/office/drawing/2014/main" id="{920404D7-F6AA-43B8-AF99-1902505056BF}"/>
                </a:ext>
              </a:extLst>
            </p:cNvPr>
            <p:cNvSpPr txBox="1"/>
            <p:nvPr/>
          </p:nvSpPr>
          <p:spPr>
            <a:xfrm>
              <a:off x="6052015" y="4539599"/>
              <a:ext cx="146706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多播数据报</a:t>
              </a:r>
            </a:p>
          </p:txBody>
        </p:sp>
      </p:grpSp>
      <p:grpSp>
        <p:nvGrpSpPr>
          <p:cNvPr id="115" name="组合 114">
            <a:extLst>
              <a:ext uri="{FF2B5EF4-FFF2-40B4-BE49-F238E27FC236}">
                <a16:creationId xmlns:a16="http://schemas.microsoft.com/office/drawing/2014/main" id="{8E169236-048D-485D-8162-F23317B53116}"/>
              </a:ext>
            </a:extLst>
          </p:cNvPr>
          <p:cNvGrpSpPr/>
          <p:nvPr/>
        </p:nvGrpSpPr>
        <p:grpSpPr>
          <a:xfrm>
            <a:off x="1320731" y="4335490"/>
            <a:ext cx="1516508" cy="396613"/>
            <a:chOff x="3970983" y="4103351"/>
            <a:chExt cx="2152890" cy="396613"/>
          </a:xfrm>
        </p:grpSpPr>
        <p:sp>
          <p:nvSpPr>
            <p:cNvPr id="111" name="矩形 110">
              <a:extLst>
                <a:ext uri="{FF2B5EF4-FFF2-40B4-BE49-F238E27FC236}">
                  <a16:creationId xmlns:a16="http://schemas.microsoft.com/office/drawing/2014/main" id="{70DEB968-E5DB-43B2-9D3D-F50D38B6BE99}"/>
                </a:ext>
              </a:extLst>
            </p:cNvPr>
            <p:cNvSpPr/>
            <p:nvPr/>
          </p:nvSpPr>
          <p:spPr>
            <a:xfrm>
              <a:off x="4004424" y="4113465"/>
              <a:ext cx="2119449" cy="386499"/>
            </a:xfrm>
            <a:prstGeom prst="rect">
              <a:avLst/>
            </a:prstGeom>
            <a:solidFill>
              <a:srgbClr val="FAF4FF"/>
            </a:solid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文本框 111">
              <a:extLst>
                <a:ext uri="{FF2B5EF4-FFF2-40B4-BE49-F238E27FC236}">
                  <a16:creationId xmlns:a16="http://schemas.microsoft.com/office/drawing/2014/main" id="{81D2F3FE-4A4E-4082-BC55-169B662EEF0D}"/>
                </a:ext>
              </a:extLst>
            </p:cNvPr>
            <p:cNvSpPr txBox="1"/>
            <p:nvPr/>
          </p:nvSpPr>
          <p:spPr>
            <a:xfrm>
              <a:off x="3970983" y="4103351"/>
              <a:ext cx="646331"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首部</a:t>
              </a:r>
            </a:p>
          </p:txBody>
        </p:sp>
        <p:sp>
          <p:nvSpPr>
            <p:cNvPr id="113" name="文本框 112">
              <a:extLst>
                <a:ext uri="{FF2B5EF4-FFF2-40B4-BE49-F238E27FC236}">
                  <a16:creationId xmlns:a16="http://schemas.microsoft.com/office/drawing/2014/main" id="{9993D75F-0243-42A9-8CAA-97480BB2F95D}"/>
                </a:ext>
              </a:extLst>
            </p:cNvPr>
            <p:cNvSpPr txBox="1"/>
            <p:nvPr/>
          </p:nvSpPr>
          <p:spPr>
            <a:xfrm>
              <a:off x="4961257" y="4113465"/>
              <a:ext cx="1099585" cy="369332"/>
            </a:xfrm>
            <a:prstGeom prst="rect">
              <a:avLst/>
            </a:prstGeom>
            <a:noFill/>
          </p:spPr>
          <p:txBody>
            <a:bodyPr wrap="square" rtlCol="0">
              <a:spAutoFit/>
            </a:bodyPr>
            <a:lstStyle/>
            <a:p>
              <a:r>
                <a:rPr lang="zh-CN" altLang="en-US" dirty="0">
                  <a:latin typeface="微软雅黑" panose="020B0503020204020204" pitchFamily="34" charset="-122"/>
                  <a:ea typeface="微软雅黑" panose="020B0503020204020204" pitchFamily="34" charset="-122"/>
                </a:rPr>
                <a:t>数据</a:t>
              </a:r>
            </a:p>
          </p:txBody>
        </p:sp>
        <p:cxnSp>
          <p:nvCxnSpPr>
            <p:cNvPr id="114" name="直接连接符 113">
              <a:extLst>
                <a:ext uri="{FF2B5EF4-FFF2-40B4-BE49-F238E27FC236}">
                  <a16:creationId xmlns:a16="http://schemas.microsoft.com/office/drawing/2014/main" id="{96CF2447-A2C0-40E4-AAC5-41FAB8399DC6}"/>
                </a:ext>
              </a:extLst>
            </p:cNvPr>
            <p:cNvCxnSpPr/>
            <p:nvPr/>
          </p:nvCxnSpPr>
          <p:spPr>
            <a:xfrm>
              <a:off x="4880440" y="4113465"/>
              <a:ext cx="0" cy="386499"/>
            </a:xfrm>
            <a:prstGeom prst="line">
              <a:avLst/>
            </a:prstGeom>
            <a:solidFill>
              <a:srgbClr val="FAF4FF"/>
            </a:solidFill>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70"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
        <p:nvSpPr>
          <p:cNvPr id="69" name="灯片编号占位符 3">
            <a:extLst>
              <a:ext uri="{FF2B5EF4-FFF2-40B4-BE49-F238E27FC236}">
                <a16:creationId xmlns:a16="http://schemas.microsoft.com/office/drawing/2014/main" id="{26F61FD2-F15E-3542-866E-546533733BE9}"/>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73</a:t>
            </a:fld>
            <a:endParaRPr kumimoji="1" lang="zh-CN" altLang="en-US" dirty="0"/>
          </a:p>
        </p:txBody>
      </p:sp>
    </p:spTree>
    <p:extLst>
      <p:ext uri="{BB962C8B-B14F-4D97-AF65-F5344CB8AC3E}">
        <p14:creationId xmlns:p14="http://schemas.microsoft.com/office/powerpoint/2010/main" val="691552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blinds(horizontal)">
                                      <p:cBhvr>
                                        <p:cTn id="7" dur="500"/>
                                        <p:tgtEl>
                                          <p:spTgt spid="3">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15"/>
                                        </p:tgtEl>
                                        <p:attrNameLst>
                                          <p:attrName>style.visibility</p:attrName>
                                        </p:attrNameLst>
                                      </p:cBhvr>
                                      <p:to>
                                        <p:strVal val="visible"/>
                                      </p:to>
                                    </p:set>
                                  </p:childTnLst>
                                </p:cTn>
                              </p:par>
                              <p:par>
                                <p:cTn id="12" presetID="10" presetClass="entr" presetSubtype="0" fill="hold" nodeType="with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500"/>
                                        <p:tgtEl>
                                          <p:spTgt spid="40"/>
                                        </p:tgtEl>
                                      </p:cBhvr>
                                    </p:animEffect>
                                  </p:childTnLst>
                                </p:cTn>
                              </p:par>
                            </p:childTnLst>
                          </p:cTn>
                        </p:par>
                        <p:par>
                          <p:cTn id="15" fill="hold">
                            <p:stCondLst>
                              <p:cond delay="500"/>
                            </p:stCondLst>
                            <p:childTnLst>
                              <p:par>
                                <p:cTn id="16" presetID="22" presetClass="entr" presetSubtype="8" fill="hold" nodeType="afterEffect">
                                  <p:stCondLst>
                                    <p:cond delay="0"/>
                                  </p:stCondLst>
                                  <p:childTnLst>
                                    <p:set>
                                      <p:cBhvr>
                                        <p:cTn id="17" dur="1" fill="hold">
                                          <p:stCondLst>
                                            <p:cond delay="0"/>
                                          </p:stCondLst>
                                        </p:cTn>
                                        <p:tgtEl>
                                          <p:spTgt spid="51"/>
                                        </p:tgtEl>
                                        <p:attrNameLst>
                                          <p:attrName>style.visibility</p:attrName>
                                        </p:attrNameLst>
                                      </p:cBhvr>
                                      <p:to>
                                        <p:strVal val="visible"/>
                                      </p:to>
                                    </p:set>
                                    <p:animEffect transition="in" filter="wipe(left)">
                                      <p:cBhvr>
                                        <p:cTn id="18" dur="500"/>
                                        <p:tgtEl>
                                          <p:spTgt spid="51"/>
                                        </p:tgtEl>
                                      </p:cBhvr>
                                    </p:animEffect>
                                  </p:childTnLst>
                                </p:cTn>
                              </p:par>
                            </p:childTnLst>
                          </p:cTn>
                        </p:par>
                      </p:childTnLst>
                    </p:cTn>
                  </p:par>
                  <p:par>
                    <p:cTn id="19" fill="hold">
                      <p:stCondLst>
                        <p:cond delay="indefinite"/>
                      </p:stCondLst>
                      <p:childTnLst>
                        <p:par>
                          <p:cTn id="20" fill="hold">
                            <p:stCondLst>
                              <p:cond delay="0"/>
                            </p:stCondLst>
                            <p:childTnLst>
                              <p:par>
                                <p:cTn id="21" presetID="0" presetClass="path" presetSubtype="0" fill="hold" nodeType="clickEffect">
                                  <p:stCondLst>
                                    <p:cond delay="0"/>
                                  </p:stCondLst>
                                  <p:childTnLst>
                                    <p:animMotion origin="layout" path="M 0.00651 -0.00116 L 0.00651 -0.00092 C 0.00651 -0.00162 0.00716 -0.01736 0.00795 -0.0206 C 0.00821 -0.02176 0.00886 -0.02222 0.00938 -0.02315 C 0.01016 -0.025 0.01081 -0.02662 0.01159 -0.02847 C 0.01289 -0.03796 0.01146 -0.0294 0.01367 -0.03866 C 0.01407 -0.04005 0.01407 -0.04143 0.01446 -0.04259 C 0.01498 -0.04421 0.01602 -0.04514 0.01667 -0.04653 C 0.02032 -0.05555 0.01641 -0.04792 0.01888 -0.05555 C 0.01966 -0.05833 0.02045 -0.06111 0.02175 -0.06342 C 0.02227 -0.06412 0.02279 -0.06481 0.02318 -0.06597 C 0.02383 -0.06759 0.02396 -0.06967 0.02461 -0.07106 C 0.02774 -0.07824 0.02735 -0.07708 0.03125 -0.07893 C 0.03164 -0.07963 0.03203 -0.08079 0.03269 -0.08148 C 0.03399 -0.08264 0.03555 -0.0831 0.03698 -0.08403 L 0.0392 -0.08542 L 0.04362 -0.08796 C 0.04519 -0.08889 0.04714 -0.09005 0.0487 -0.09051 C 0.05104 -0.0912 0.05352 -0.09143 0.05599 -0.09167 C 0.08216 -0.12268 0.05742 -0.09444 0.14479 -0.0956 L 0.16016 -0.0956 " pathEditMode="relative" rAng="0" ptsTypes="AAAAAAAAAAAAAAAAAAAAA">
                                      <p:cBhvr>
                                        <p:cTn id="22" dur="2000" fill="hold"/>
                                        <p:tgtEl>
                                          <p:spTgt spid="115"/>
                                        </p:tgtEl>
                                        <p:attrNameLst>
                                          <p:attrName>ppt_x</p:attrName>
                                          <p:attrName>ppt_y</p:attrName>
                                        </p:attrNameLst>
                                      </p:cBhvr>
                                      <p:rCtr x="7682" y="-5255"/>
                                    </p:animMotion>
                                  </p:childTnLst>
                                </p:cTn>
                              </p:par>
                              <p:par>
                                <p:cTn id="23" presetID="1" presetClass="entr" presetSubtype="0" fill="hold" nodeType="withEffect">
                                  <p:stCondLst>
                                    <p:cond delay="1000"/>
                                  </p:stCondLst>
                                  <p:childTnLst>
                                    <p:set>
                                      <p:cBhvr>
                                        <p:cTn id="24" dur="1" fill="hold">
                                          <p:stCondLst>
                                            <p:cond delay="0"/>
                                          </p:stCondLst>
                                        </p:cTn>
                                        <p:tgtEl>
                                          <p:spTgt spid="72"/>
                                        </p:tgtEl>
                                        <p:attrNameLst>
                                          <p:attrName>style.visibility</p:attrName>
                                        </p:attrNameLst>
                                      </p:cBhvr>
                                      <p:to>
                                        <p:strVal val="visible"/>
                                      </p:to>
                                    </p:set>
                                  </p:childTnLst>
                                </p:cTn>
                              </p:par>
                            </p:childTnLst>
                          </p:cTn>
                        </p:par>
                        <p:par>
                          <p:cTn id="25" fill="hold">
                            <p:stCondLst>
                              <p:cond delay="2000"/>
                            </p:stCondLst>
                            <p:childTnLst>
                              <p:par>
                                <p:cTn id="26" presetID="42" presetClass="path" presetSubtype="0" fill="hold" nodeType="afterEffect">
                                  <p:stCondLst>
                                    <p:cond delay="0"/>
                                  </p:stCondLst>
                                  <p:childTnLst>
                                    <p:animMotion origin="layout" path="M 2.5E-6 -4.81481E-6 L 0.35482 0.00695 " pathEditMode="relative" rAng="0" ptsTypes="AA">
                                      <p:cBhvr>
                                        <p:cTn id="27" dur="2000" fill="hold"/>
                                        <p:tgtEl>
                                          <p:spTgt spid="72"/>
                                        </p:tgtEl>
                                        <p:attrNameLst>
                                          <p:attrName>ppt_x</p:attrName>
                                          <p:attrName>ppt_y</p:attrName>
                                        </p:attrNameLst>
                                      </p:cBhvr>
                                      <p:rCtr x="17734" y="347"/>
                                    </p:animMotion>
                                  </p:childTnLst>
                                </p:cTn>
                              </p:par>
                              <p:par>
                                <p:cTn id="28" presetID="42" presetClass="path" presetSubtype="0" fill="hold" nodeType="withEffect">
                                  <p:stCondLst>
                                    <p:cond delay="0"/>
                                  </p:stCondLst>
                                  <p:childTnLst>
                                    <p:animMotion origin="layout" path="M 0.16016 -0.0956 L 0.51771 -0.09352 " pathEditMode="relative" rAng="0" ptsTypes="AA">
                                      <p:cBhvr>
                                        <p:cTn id="29" dur="2000" fill="hold"/>
                                        <p:tgtEl>
                                          <p:spTgt spid="115"/>
                                        </p:tgtEl>
                                        <p:attrNameLst>
                                          <p:attrName>ppt_x</p:attrName>
                                          <p:attrName>ppt_y</p:attrName>
                                        </p:attrNameLst>
                                      </p:cBhvr>
                                      <p:rCtr x="17878" y="93"/>
                                    </p:animMotion>
                                  </p:childTnLst>
                                </p:cTn>
                              </p:par>
                            </p:childTnLst>
                          </p:cTn>
                        </p:par>
                        <p:par>
                          <p:cTn id="30" fill="hold">
                            <p:stCondLst>
                              <p:cond delay="4000"/>
                            </p:stCondLst>
                            <p:childTnLst>
                              <p:par>
                                <p:cTn id="31" presetID="10" presetClass="exit" presetSubtype="0" fill="hold" nodeType="afterEffect">
                                  <p:stCondLst>
                                    <p:cond delay="0"/>
                                  </p:stCondLst>
                                  <p:childTnLst>
                                    <p:animEffect transition="out" filter="fade">
                                      <p:cBhvr>
                                        <p:cTn id="32" dur="500"/>
                                        <p:tgtEl>
                                          <p:spTgt spid="72"/>
                                        </p:tgtEl>
                                      </p:cBhvr>
                                    </p:animEffect>
                                    <p:set>
                                      <p:cBhvr>
                                        <p:cTn id="33" dur="1" fill="hold">
                                          <p:stCondLst>
                                            <p:cond delay="499"/>
                                          </p:stCondLst>
                                        </p:cTn>
                                        <p:tgtEl>
                                          <p:spTgt spid="72"/>
                                        </p:tgtEl>
                                        <p:attrNameLst>
                                          <p:attrName>style.visibility</p:attrName>
                                        </p:attrNameLst>
                                      </p:cBhvr>
                                      <p:to>
                                        <p:strVal val="hidden"/>
                                      </p:to>
                                    </p:set>
                                  </p:childTnLst>
                                </p:cTn>
                              </p:par>
                            </p:childTnLst>
                          </p:cTn>
                        </p:par>
                        <p:par>
                          <p:cTn id="34" fill="hold">
                            <p:stCondLst>
                              <p:cond delay="4500"/>
                            </p:stCondLst>
                            <p:childTnLst>
                              <p:par>
                                <p:cTn id="35" presetID="0" presetClass="path" presetSubtype="0" fill="hold" nodeType="afterEffect">
                                  <p:stCondLst>
                                    <p:cond delay="0"/>
                                  </p:stCondLst>
                                  <p:childTnLst>
                                    <p:animMotion origin="layout" path="M 0.51849 -0.09352 L 0.51849 -0.09329 C 0.52123 -0.09305 0.52409 -0.09236 0.52696 -0.09213 C 0.59662 -0.08773 0.57032 -0.09676 0.59597 -0.0875 C 0.60339 -0.07893 0.59401 -0.08935 0.60117 -0.0831 C 0.60209 -0.08217 0.60274 -0.08079 0.60365 -0.08009 C 0.60443 -0.07917 0.60547 -0.07917 0.60625 -0.07847 C 0.6086 -0.07639 0.60951 -0.0743 0.61133 -0.07083 C 0.61237 -0.06528 0.61263 -0.0625 0.61563 -0.05717 C 0.61732 -0.05417 0.61966 -0.05208 0.62071 -0.04815 C 0.62292 -0.04051 0.62136 -0.04329 0.625 -0.03912 C 0.62552 -0.0375 0.62591 -0.03588 0.6267 -0.03449 C 0.62748 -0.03333 0.62865 -0.03287 0.6293 -0.03148 C 0.62982 -0.03032 0.62969 -0.02847 0.63008 -0.02685 C 0.63282 -0.01759 0.63177 -0.02824 0.63177 -0.01319 " pathEditMode="relative" rAng="0" ptsTypes="AAAAAAAAAAAAAAA">
                                      <p:cBhvr>
                                        <p:cTn id="36" dur="2000" fill="hold"/>
                                        <p:tgtEl>
                                          <p:spTgt spid="115"/>
                                        </p:tgtEl>
                                        <p:attrNameLst>
                                          <p:attrName>ppt_x</p:attrName>
                                          <p:attrName>ppt_y</p:attrName>
                                        </p:attrNameLst>
                                      </p:cBhvr>
                                      <p:rCtr x="5664" y="4005"/>
                                    </p:animMotion>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7762A56-AD89-492F-8B4E-8FA9039959D7}"/>
              </a:ext>
            </a:extLst>
          </p:cNvPr>
          <p:cNvSpPr>
            <a:spLocks noGrp="1"/>
          </p:cNvSpPr>
          <p:nvPr>
            <p:ph type="title"/>
          </p:nvPr>
        </p:nvSpPr>
        <p:spPr/>
        <p:txBody>
          <a:bodyPr/>
          <a:lstStyle/>
          <a:p>
            <a:r>
              <a:rPr lang="zh-CN" altLang="en-US" dirty="0"/>
              <a:t>组播的应用</a:t>
            </a:r>
          </a:p>
        </p:txBody>
      </p:sp>
      <p:sp>
        <p:nvSpPr>
          <p:cNvPr id="3" name="内容占位符 2">
            <a:extLst>
              <a:ext uri="{FF2B5EF4-FFF2-40B4-BE49-F238E27FC236}">
                <a16:creationId xmlns:a16="http://schemas.microsoft.com/office/drawing/2014/main" id="{A97D74C5-B4CC-4F82-80F7-0A6E4D5E992D}"/>
              </a:ext>
            </a:extLst>
          </p:cNvPr>
          <p:cNvSpPr>
            <a:spLocks noGrp="1"/>
          </p:cNvSpPr>
          <p:nvPr>
            <p:ph idx="1"/>
          </p:nvPr>
        </p:nvSpPr>
        <p:spPr/>
        <p:txBody>
          <a:bodyPr>
            <a:normAutofit/>
          </a:bodyPr>
          <a:lstStyle/>
          <a:p>
            <a:r>
              <a:rPr lang="zh-CN" altLang="en-US" sz="2400" dirty="0"/>
              <a:t>音频</a:t>
            </a:r>
            <a:r>
              <a:rPr lang="en-US" altLang="zh-CN" sz="2400" dirty="0"/>
              <a:t>/</a:t>
            </a:r>
            <a:r>
              <a:rPr lang="zh-CN" altLang="en-US" sz="2400" dirty="0"/>
              <a:t>视频会议</a:t>
            </a:r>
            <a:endParaRPr lang="en-US" altLang="zh-CN" sz="2400" dirty="0"/>
          </a:p>
          <a:p>
            <a:r>
              <a:rPr lang="zh-CN" altLang="en-US" sz="2400" dirty="0"/>
              <a:t>共享电子白板</a:t>
            </a:r>
            <a:endParaRPr lang="en-US" altLang="zh-CN" sz="2400" dirty="0"/>
          </a:p>
          <a:p>
            <a:r>
              <a:rPr lang="zh-CN" altLang="en-US" sz="2400" dirty="0"/>
              <a:t>数据分发</a:t>
            </a:r>
            <a:endParaRPr lang="en-US" altLang="zh-CN" sz="2400" dirty="0"/>
          </a:p>
          <a:p>
            <a:r>
              <a:rPr lang="zh-CN" altLang="en-US" sz="2400" dirty="0"/>
              <a:t>实时数据组播：音频视频点播、网络收看体育比赛直播、炒股</a:t>
            </a:r>
            <a:r>
              <a:rPr lang="en-US" altLang="zh-CN" sz="2400" dirty="0"/>
              <a:t>……</a:t>
            </a:r>
          </a:p>
          <a:p>
            <a:r>
              <a:rPr lang="zh-CN" altLang="en-US" sz="2400" dirty="0"/>
              <a:t>游戏与仿真：同时有大量参与者的网络游戏</a:t>
            </a:r>
          </a:p>
        </p:txBody>
      </p:sp>
      <p:sp>
        <p:nvSpPr>
          <p:cNvPr id="4" name="灯片编号占位符 3">
            <a:extLst>
              <a:ext uri="{FF2B5EF4-FFF2-40B4-BE49-F238E27FC236}">
                <a16:creationId xmlns:a16="http://schemas.microsoft.com/office/drawing/2014/main" id="{92BBA141-F68C-4F7D-9B39-9A197550D042}"/>
              </a:ext>
            </a:extLst>
          </p:cNvPr>
          <p:cNvSpPr>
            <a:spLocks noGrp="1"/>
          </p:cNvSpPr>
          <p:nvPr>
            <p:ph type="sldNum" sz="quarter" idx="12"/>
          </p:nvPr>
        </p:nvSpPr>
        <p:spPr/>
        <p:txBody>
          <a:bodyPr/>
          <a:lstStyle/>
          <a:p>
            <a:fld id="{8D4D1E41-7A09-AB4A-A4E1-09765ADA2698}" type="slidenum">
              <a:rPr kumimoji="1" lang="zh-CN" altLang="en-US" smtClean="0"/>
              <a:pPr/>
              <a:t>74</a:t>
            </a:fld>
            <a:endParaRPr kumimoji="1" lang="zh-CN" altLang="en-US" dirty="0"/>
          </a:p>
        </p:txBody>
      </p:sp>
      <p:pic>
        <p:nvPicPr>
          <p:cNvPr id="2050" name="Picture 2" descr="https://gimg2.baidu.com/image_search/src=http%3A%2F%2Fimg12.cntrades.com%2F201701%2F13%2F15%2F15-37-52-77-322594.jpg&amp;refer=http%3A%2F%2Fimg12.cntrades.com&amp;app=2002&amp;size=f9999,10000&amp;q=a80&amp;n=0&amp;g=0n&amp;fmt=jpeg?sec=1613840390&amp;t=ea261bcedb0cd07a627fba1f6b361f8d">
            <a:extLst>
              <a:ext uri="{FF2B5EF4-FFF2-40B4-BE49-F238E27FC236}">
                <a16:creationId xmlns:a16="http://schemas.microsoft.com/office/drawing/2014/main" id="{57913470-48F9-43B3-BFC7-49490EACE8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50039" y="4171120"/>
            <a:ext cx="2676388" cy="1716157"/>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https://gimg2.baidu.com/image_search/src=http%3A%2F%2Fphotocdn.sohu.com%2F20150904%2Fmp30569068_1441369893942_5.jpeg&amp;refer=http%3A%2F%2Fphotocdn.sohu.com&amp;app=2002&amp;size=f9999,10000&amp;q=a80&amp;n=0&amp;g=0n&amp;fmt=jpeg?sec=1613840462&amp;t=1a491775584e3a85f5674a47b7c756cc">
            <a:extLst>
              <a:ext uri="{FF2B5EF4-FFF2-40B4-BE49-F238E27FC236}">
                <a16:creationId xmlns:a16="http://schemas.microsoft.com/office/drawing/2014/main" id="{2B6DE66D-4098-4746-A7FC-FB61C604174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600"/>
          <a:stretch/>
        </p:blipFill>
        <p:spPr bwMode="auto">
          <a:xfrm>
            <a:off x="6112566" y="4171120"/>
            <a:ext cx="2822096" cy="1700184"/>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https://gimg2.baidu.com/image_search/src=http%3A%2F%2Fi1.qhimg.com%2Ft01bb46c10b0f60afd1.jpg&amp;refer=http%3A%2F%2Fi1.qhimg.com&amp;app=2002&amp;size=f9999,10000&amp;q=a80&amp;n=0&amp;g=0n&amp;fmt=jpeg?sec=1613840530&amp;t=b32fcfa76ac727dc5dd46be8465fe31f">
            <a:extLst>
              <a:ext uri="{FF2B5EF4-FFF2-40B4-BE49-F238E27FC236}">
                <a16:creationId xmlns:a16="http://schemas.microsoft.com/office/drawing/2014/main" id="{545343D1-C339-437E-B77A-3621AEFDBD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45831" y="4153623"/>
            <a:ext cx="2676388" cy="167345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gimg2.baidu.com/image_search/src=http%3A%2F%2Fspider.nosdn.127.net%2F7680f06e9b4db9052ed9ec30c11b9780.jpeg&amp;refer=http%3A%2F%2Fspider.nosdn.127.net&amp;app=2002&amp;size=f9999,10000&amp;q=a80&amp;n=0&amp;g=0n&amp;fmt=jpeg?sec=1614155597&amp;t=eb30fa38dff1140aceb818e12341f0e9">
            <a:extLst>
              <a:ext uri="{FF2B5EF4-FFF2-40B4-BE49-F238E27FC236}">
                <a16:creationId xmlns:a16="http://schemas.microsoft.com/office/drawing/2014/main" id="{53F05DBE-DA48-42EE-B605-A82E848323FE}"/>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6216"/>
          <a:stretch/>
        </p:blipFill>
        <p:spPr bwMode="auto">
          <a:xfrm>
            <a:off x="577400" y="4171120"/>
            <a:ext cx="2676388" cy="1700184"/>
          </a:xfrm>
          <a:prstGeom prst="rect">
            <a:avLst/>
          </a:prstGeom>
          <a:noFill/>
          <a:extLst>
            <a:ext uri="{909E8E84-426E-40DD-AFC4-6F175D3DCCD1}">
              <a14:hiddenFill xmlns:a14="http://schemas.microsoft.com/office/drawing/2010/main">
                <a:solidFill>
                  <a:srgbClr val="FFFFFF"/>
                </a:solidFill>
              </a14:hiddenFill>
            </a:ext>
          </a:extLst>
        </p:spPr>
      </p:pic>
      <p:sp>
        <p:nvSpPr>
          <p:cNvPr id="10" name="日期占位符 4">
            <a:extLst>
              <a:ext uri="{FF2B5EF4-FFF2-40B4-BE49-F238E27FC236}">
                <a16:creationId xmlns:a16="http://schemas.microsoft.com/office/drawing/2014/main"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5.2.7 </a:t>
            </a:r>
            <a:r>
              <a:rPr kumimoji="1" lang="zh-CN" altLang="en-US" dirty="0"/>
              <a:t>组播路由</a:t>
            </a:r>
          </a:p>
        </p:txBody>
      </p:sp>
    </p:spTree>
    <p:extLst>
      <p:ext uri="{BB962C8B-B14F-4D97-AF65-F5344CB8AC3E}">
        <p14:creationId xmlns:p14="http://schemas.microsoft.com/office/powerpoint/2010/main" val="3778586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blinds(horizontal)">
                                      <p:cBhvr>
                                        <p:cTn id="10" dur="500"/>
                                        <p:tgtEl>
                                          <p:spTgt spid="3">
                                            <p:txEl>
                                              <p:pRg st="1" end="1"/>
                                            </p:txEl>
                                          </p:spTgt>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1026"/>
                                        </p:tgtEl>
                                        <p:attrNameLst>
                                          <p:attrName>style.visibility</p:attrName>
                                        </p:attrNameLst>
                                      </p:cBhvr>
                                      <p:to>
                                        <p:strVal val="visible"/>
                                      </p:to>
                                    </p:set>
                                    <p:animEffect transition="in" filter="fade">
                                      <p:cBhvr>
                                        <p:cTn id="14" dur="500"/>
                                        <p:tgtEl>
                                          <p:spTgt spid="1026"/>
                                        </p:tgtEl>
                                      </p:cBhvr>
                                    </p:animEffec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Effect transition="in" filter="blinds(horizontal)">
                                      <p:cBhvr>
                                        <p:cTn id="19" dur="500"/>
                                        <p:tgtEl>
                                          <p:spTgt spid="3">
                                            <p:txEl>
                                              <p:pRg st="2" end="2"/>
                                            </p:txEl>
                                          </p:spTgt>
                                        </p:tgtEl>
                                      </p:cBhvr>
                                    </p:animEffec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2050"/>
                                        </p:tgtEl>
                                        <p:attrNameLst>
                                          <p:attrName>style.visibility</p:attrName>
                                        </p:attrNameLst>
                                      </p:cBhvr>
                                      <p:to>
                                        <p:strVal val="visible"/>
                                      </p:to>
                                    </p:set>
                                    <p:animEffect transition="in" filter="fade">
                                      <p:cBhvr>
                                        <p:cTn id="23" dur="500"/>
                                        <p:tgtEl>
                                          <p:spTgt spid="2050"/>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blinds(horizontal)">
                                      <p:cBhvr>
                                        <p:cTn id="28" dur="500"/>
                                        <p:tgtEl>
                                          <p:spTgt spid="3">
                                            <p:txEl>
                                              <p:pRg st="3" end="3"/>
                                            </p:txEl>
                                          </p:spTgt>
                                        </p:tgtEl>
                                      </p:cBhvr>
                                    </p:animEffect>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2052"/>
                                        </p:tgtEl>
                                        <p:attrNameLst>
                                          <p:attrName>style.visibility</p:attrName>
                                        </p:attrNameLst>
                                      </p:cBhvr>
                                      <p:to>
                                        <p:strVal val="visible"/>
                                      </p:to>
                                    </p:set>
                                    <p:animEffect transition="in" filter="fade">
                                      <p:cBhvr>
                                        <p:cTn id="32" dur="500"/>
                                        <p:tgtEl>
                                          <p:spTgt spid="2052"/>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Effect transition="in" filter="blinds(horizontal)">
                                      <p:cBhvr>
                                        <p:cTn id="37" dur="500"/>
                                        <p:tgtEl>
                                          <p:spTgt spid="3">
                                            <p:txEl>
                                              <p:pRg st="4" end="4"/>
                                            </p:txEl>
                                          </p:spTgt>
                                        </p:tgtEl>
                                      </p:cBhvr>
                                    </p:animEffect>
                                  </p:childTnLst>
                                </p:cTn>
                              </p:par>
                            </p:childTnLst>
                          </p:cTn>
                        </p:par>
                        <p:par>
                          <p:cTn id="38" fill="hold">
                            <p:stCondLst>
                              <p:cond delay="500"/>
                            </p:stCondLst>
                            <p:childTnLst>
                              <p:par>
                                <p:cTn id="39" presetID="10" presetClass="entr" presetSubtype="0" fill="hold" nodeType="afterEffect">
                                  <p:stCondLst>
                                    <p:cond delay="0"/>
                                  </p:stCondLst>
                                  <p:childTnLst>
                                    <p:set>
                                      <p:cBhvr>
                                        <p:cTn id="40" dur="1" fill="hold">
                                          <p:stCondLst>
                                            <p:cond delay="0"/>
                                          </p:stCondLst>
                                        </p:cTn>
                                        <p:tgtEl>
                                          <p:spTgt spid="2054"/>
                                        </p:tgtEl>
                                        <p:attrNameLst>
                                          <p:attrName>style.visibility</p:attrName>
                                        </p:attrNameLst>
                                      </p:cBhvr>
                                      <p:to>
                                        <p:strVal val="visible"/>
                                      </p:to>
                                    </p:set>
                                    <p:animEffect transition="in" filter="fade">
                                      <p:cBhvr>
                                        <p:cTn id="41" dur="500"/>
                                        <p:tgtEl>
                                          <p:spTgt spid="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088BB4FA-9E43-48B9-9B46-AE04A04A07E3}"/>
              </a:ext>
            </a:extLst>
          </p:cNvPr>
          <p:cNvPicPr>
            <a:picLocks noChangeAspect="1"/>
          </p:cNvPicPr>
          <p:nvPr/>
        </p:nvPicPr>
        <p:blipFill>
          <a:blip r:embed="rId2" cstate="print">
            <a:grayscl/>
            <a:extLst>
              <a:ext uri="{28A0092B-C50C-407E-A947-70E740481C1C}">
                <a14:useLocalDpi xmlns:a14="http://schemas.microsoft.com/office/drawing/2010/main" val="0"/>
              </a:ext>
            </a:extLst>
          </a:blip>
          <a:stretch>
            <a:fillRect/>
          </a:stretch>
        </p:blipFill>
        <p:spPr>
          <a:xfrm>
            <a:off x="1608813" y="1375913"/>
            <a:ext cx="8373387" cy="5116961"/>
          </a:xfrm>
          <a:prstGeom prst="rect">
            <a:avLst/>
          </a:prstGeom>
        </p:spPr>
      </p:pic>
      <p:pic>
        <p:nvPicPr>
          <p:cNvPr id="20" name="图片 19">
            <a:extLst>
              <a:ext uri="{FF2B5EF4-FFF2-40B4-BE49-F238E27FC236}">
                <a16:creationId xmlns:a16="http://schemas.microsoft.com/office/drawing/2014/main" id="{18E5F845-8A07-4C97-9C5F-F0AC9BA1433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610526" y="3433542"/>
            <a:ext cx="272422" cy="370902"/>
          </a:xfrm>
          <a:prstGeom prst="rect">
            <a:avLst/>
          </a:prstGeom>
        </p:spPr>
      </p:pic>
      <p:sp>
        <p:nvSpPr>
          <p:cNvPr id="2" name="标题 1">
            <a:extLst>
              <a:ext uri="{FF2B5EF4-FFF2-40B4-BE49-F238E27FC236}">
                <a16:creationId xmlns:a16="http://schemas.microsoft.com/office/drawing/2014/main" id="{716853CE-2E0C-464F-80BF-5BB6F96E30F5}"/>
              </a:ext>
            </a:extLst>
          </p:cNvPr>
          <p:cNvSpPr>
            <a:spLocks noGrp="1"/>
          </p:cNvSpPr>
          <p:nvPr>
            <p:ph type="title"/>
          </p:nvPr>
        </p:nvSpPr>
        <p:spPr/>
        <p:txBody>
          <a:bodyPr/>
          <a:lstStyle/>
          <a:p>
            <a:r>
              <a:rPr lang="zh-CN" altLang="en-US" dirty="0"/>
              <a:t>选播路由</a:t>
            </a:r>
          </a:p>
        </p:txBody>
      </p:sp>
      <p:pic>
        <p:nvPicPr>
          <p:cNvPr id="6" name="内容占位符 5" descr="警察">
            <a:extLst>
              <a:ext uri="{FF2B5EF4-FFF2-40B4-BE49-F238E27FC236}">
                <a16:creationId xmlns:a16="http://schemas.microsoft.com/office/drawing/2014/main" id="{3F40C62E-D1D2-467A-9329-308B062F3201}"/>
              </a:ext>
            </a:extLst>
          </p:cNvPr>
          <p:cNvPicPr>
            <a:picLocks noGrp="1" noChangeAspect="1"/>
          </p:cNvPicPr>
          <p:nvPr>
            <p:ph idx="1"/>
          </p:nvPr>
        </p:nvPicPr>
        <p:blipFill>
          <a:blip r:embed="rId4">
            <a:extLst>
              <a:ext uri="{96DAC541-7B7A-43D3-8B79-37D633B846F1}">
                <asvg:svgBlip xmlns:asvg="http://schemas.microsoft.com/office/drawing/2016/SVG/main" r:embed="rId5"/>
              </a:ext>
            </a:extLst>
          </a:blip>
          <a:stretch>
            <a:fillRect/>
          </a:stretch>
        </p:blipFill>
        <p:spPr>
          <a:xfrm>
            <a:off x="2926607" y="2825490"/>
            <a:ext cx="569518" cy="569518"/>
          </a:xfrm>
        </p:spPr>
      </p:pic>
      <p:sp>
        <p:nvSpPr>
          <p:cNvPr id="4" name="灯片编号占位符 3">
            <a:extLst>
              <a:ext uri="{FF2B5EF4-FFF2-40B4-BE49-F238E27FC236}">
                <a16:creationId xmlns:a16="http://schemas.microsoft.com/office/drawing/2014/main" id="{F064F619-E9F2-4B0C-BE4E-AAB0E77B84F0}"/>
              </a:ext>
            </a:extLst>
          </p:cNvPr>
          <p:cNvSpPr>
            <a:spLocks noGrp="1"/>
          </p:cNvSpPr>
          <p:nvPr>
            <p:ph type="sldNum" sz="quarter" idx="12"/>
          </p:nvPr>
        </p:nvSpPr>
        <p:spPr/>
        <p:txBody>
          <a:bodyPr/>
          <a:lstStyle/>
          <a:p>
            <a:fld id="{8D4D1E41-7A09-AB4A-A4E1-09765ADA2698}" type="slidenum">
              <a:rPr kumimoji="1" lang="zh-CN" altLang="en-US" smtClean="0"/>
              <a:pPr/>
              <a:t>75</a:t>
            </a:fld>
            <a:endParaRPr kumimoji="1" lang="zh-CN" altLang="en-US" dirty="0"/>
          </a:p>
        </p:txBody>
      </p:sp>
      <p:pic>
        <p:nvPicPr>
          <p:cNvPr id="8" name="图形 7" descr="听筒">
            <a:extLst>
              <a:ext uri="{FF2B5EF4-FFF2-40B4-BE49-F238E27FC236}">
                <a16:creationId xmlns:a16="http://schemas.microsoft.com/office/drawing/2014/main" id="{C7985164-216F-4873-A811-54755E90187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047050" y="3910672"/>
            <a:ext cx="485264" cy="485264"/>
          </a:xfrm>
          <a:prstGeom prst="rect">
            <a:avLst/>
          </a:prstGeom>
        </p:spPr>
      </p:pic>
      <p:pic>
        <p:nvPicPr>
          <p:cNvPr id="10" name="图形 9" descr="呼叫中心">
            <a:extLst>
              <a:ext uri="{FF2B5EF4-FFF2-40B4-BE49-F238E27FC236}">
                <a16:creationId xmlns:a16="http://schemas.microsoft.com/office/drawing/2014/main" id="{6A1AB53D-7472-40E9-BE06-3C9FFD656F8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68847" y="2188726"/>
            <a:ext cx="673916" cy="673916"/>
          </a:xfrm>
          <a:prstGeom prst="rect">
            <a:avLst/>
          </a:prstGeom>
        </p:spPr>
      </p:pic>
      <p:pic>
        <p:nvPicPr>
          <p:cNvPr id="14" name="图形 13" descr="校舍">
            <a:extLst>
              <a:ext uri="{FF2B5EF4-FFF2-40B4-BE49-F238E27FC236}">
                <a16:creationId xmlns:a16="http://schemas.microsoft.com/office/drawing/2014/main" id="{BDDEBADE-4FF5-44F9-AD59-034AFAA5A25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376202" y="2529209"/>
            <a:ext cx="914400" cy="914400"/>
          </a:xfrm>
          <a:prstGeom prst="rect">
            <a:avLst/>
          </a:prstGeom>
        </p:spPr>
      </p:pic>
      <p:pic>
        <p:nvPicPr>
          <p:cNvPr id="16" name="图形 15" descr="男性形象">
            <a:extLst>
              <a:ext uri="{FF2B5EF4-FFF2-40B4-BE49-F238E27FC236}">
                <a16:creationId xmlns:a16="http://schemas.microsoft.com/office/drawing/2014/main" id="{5C99D64C-1044-4F56-BB5A-F395991ED51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35812" y="3774085"/>
            <a:ext cx="621851" cy="621851"/>
          </a:xfrm>
          <a:prstGeom prst="rect">
            <a:avLst/>
          </a:prstGeom>
        </p:spPr>
      </p:pic>
      <p:pic>
        <p:nvPicPr>
          <p:cNvPr id="21" name="内容占位符 5" descr="警察">
            <a:extLst>
              <a:ext uri="{FF2B5EF4-FFF2-40B4-BE49-F238E27FC236}">
                <a16:creationId xmlns:a16="http://schemas.microsoft.com/office/drawing/2014/main" id="{434722F5-CADF-4314-A9CA-35E4CE2967D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096095" y="5211347"/>
            <a:ext cx="637009" cy="637009"/>
          </a:xfrm>
          <a:prstGeom prst="rect">
            <a:avLst/>
          </a:prstGeom>
        </p:spPr>
      </p:pic>
      <p:pic>
        <p:nvPicPr>
          <p:cNvPr id="22" name="图形 21" descr="校舍">
            <a:extLst>
              <a:ext uri="{FF2B5EF4-FFF2-40B4-BE49-F238E27FC236}">
                <a16:creationId xmlns:a16="http://schemas.microsoft.com/office/drawing/2014/main" id="{48F8F371-F1AF-46F4-8511-2E8D5D8E091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547631" y="5024887"/>
            <a:ext cx="914400" cy="914400"/>
          </a:xfrm>
          <a:prstGeom prst="rect">
            <a:avLst/>
          </a:prstGeom>
        </p:spPr>
      </p:pic>
      <p:pic>
        <p:nvPicPr>
          <p:cNvPr id="23" name="内容占位符 5" descr="警察">
            <a:extLst>
              <a:ext uri="{FF2B5EF4-FFF2-40B4-BE49-F238E27FC236}">
                <a16:creationId xmlns:a16="http://schemas.microsoft.com/office/drawing/2014/main" id="{45E4B26C-1129-4C08-9907-125B7A68742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133103" y="4051915"/>
            <a:ext cx="603782" cy="603782"/>
          </a:xfrm>
          <a:prstGeom prst="rect">
            <a:avLst/>
          </a:prstGeom>
        </p:spPr>
      </p:pic>
      <p:pic>
        <p:nvPicPr>
          <p:cNvPr id="24" name="图形 23" descr="校舍">
            <a:extLst>
              <a:ext uri="{FF2B5EF4-FFF2-40B4-BE49-F238E27FC236}">
                <a16:creationId xmlns:a16="http://schemas.microsoft.com/office/drawing/2014/main" id="{F614CFC7-249F-40D8-A7A3-0C3908E87DAB}"/>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498041" y="3835568"/>
            <a:ext cx="914400" cy="914400"/>
          </a:xfrm>
          <a:prstGeom prst="rect">
            <a:avLst/>
          </a:prstGeom>
        </p:spPr>
      </p:pic>
      <p:pic>
        <p:nvPicPr>
          <p:cNvPr id="25" name="内容占位符 5" descr="警察">
            <a:extLst>
              <a:ext uri="{FF2B5EF4-FFF2-40B4-BE49-F238E27FC236}">
                <a16:creationId xmlns:a16="http://schemas.microsoft.com/office/drawing/2014/main" id="{C30F7B18-CD29-4FE8-8262-BA077C15A64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902143" y="5360565"/>
            <a:ext cx="574240" cy="574240"/>
          </a:xfrm>
          <a:prstGeom prst="rect">
            <a:avLst/>
          </a:prstGeom>
        </p:spPr>
      </p:pic>
      <p:pic>
        <p:nvPicPr>
          <p:cNvPr id="26" name="图形 25" descr="校舍">
            <a:extLst>
              <a:ext uri="{FF2B5EF4-FFF2-40B4-BE49-F238E27FC236}">
                <a16:creationId xmlns:a16="http://schemas.microsoft.com/office/drawing/2014/main" id="{CB61A070-9301-47CE-B9EC-680D3C7F764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290910" y="5111336"/>
            <a:ext cx="914400" cy="914400"/>
          </a:xfrm>
          <a:prstGeom prst="rect">
            <a:avLst/>
          </a:prstGeom>
        </p:spPr>
      </p:pic>
      <p:sp>
        <p:nvSpPr>
          <p:cNvPr id="27" name="对话气泡: 圆角矩形 26">
            <a:extLst>
              <a:ext uri="{FF2B5EF4-FFF2-40B4-BE49-F238E27FC236}">
                <a16:creationId xmlns:a16="http://schemas.microsoft.com/office/drawing/2014/main" id="{DCF76698-C760-44B1-BC35-67948F2CA09D}"/>
              </a:ext>
            </a:extLst>
          </p:cNvPr>
          <p:cNvSpPr/>
          <p:nvPr/>
        </p:nvSpPr>
        <p:spPr>
          <a:xfrm>
            <a:off x="4301480" y="3168980"/>
            <a:ext cx="1278244" cy="621851"/>
          </a:xfrm>
          <a:prstGeom prst="wedgeRoundRectCallout">
            <a:avLst>
              <a:gd name="adj1" fmla="val 45363"/>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我要报警</a:t>
            </a:r>
          </a:p>
        </p:txBody>
      </p:sp>
      <p:sp>
        <p:nvSpPr>
          <p:cNvPr id="28" name="对话气泡: 圆角矩形 27">
            <a:extLst>
              <a:ext uri="{FF2B5EF4-FFF2-40B4-BE49-F238E27FC236}">
                <a16:creationId xmlns:a16="http://schemas.microsoft.com/office/drawing/2014/main" id="{8F57B913-9705-4116-B76A-862D3E4EA425}"/>
              </a:ext>
            </a:extLst>
          </p:cNvPr>
          <p:cNvSpPr/>
          <p:nvPr/>
        </p:nvSpPr>
        <p:spPr>
          <a:xfrm>
            <a:off x="7263020" y="1541300"/>
            <a:ext cx="1755145" cy="765672"/>
          </a:xfrm>
          <a:prstGeom prst="wedgeRoundRectCallout">
            <a:avLst>
              <a:gd name="adj1" fmla="val -39298"/>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让我看看哪个警察局最近</a:t>
            </a:r>
          </a:p>
        </p:txBody>
      </p:sp>
      <p:cxnSp>
        <p:nvCxnSpPr>
          <p:cNvPr id="30" name="直接箭头连接符 29">
            <a:extLst>
              <a:ext uri="{FF2B5EF4-FFF2-40B4-BE49-F238E27FC236}">
                <a16:creationId xmlns:a16="http://schemas.microsoft.com/office/drawing/2014/main" id="{DE28250F-72A6-43B3-861D-31E282315B4B}"/>
              </a:ext>
            </a:extLst>
          </p:cNvPr>
          <p:cNvCxnSpPr/>
          <p:nvPr/>
        </p:nvCxnSpPr>
        <p:spPr>
          <a:xfrm flipV="1">
            <a:off x="5989739" y="2743200"/>
            <a:ext cx="879108" cy="1047631"/>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C56DD47E-9DB5-4255-9CA6-43F8667189AA}"/>
              </a:ext>
            </a:extLst>
          </p:cNvPr>
          <p:cNvCxnSpPr>
            <a:cxnSpLocks/>
          </p:cNvCxnSpPr>
          <p:nvPr/>
        </p:nvCxnSpPr>
        <p:spPr>
          <a:xfrm flipH="1">
            <a:off x="7117353" y="2853250"/>
            <a:ext cx="15750" cy="1104394"/>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3" name="任意多边形: 形状 32">
            <a:extLst>
              <a:ext uri="{FF2B5EF4-FFF2-40B4-BE49-F238E27FC236}">
                <a16:creationId xmlns:a16="http://schemas.microsoft.com/office/drawing/2014/main" id="{35C0B333-C499-4F78-8462-18E630BF9B29}"/>
              </a:ext>
            </a:extLst>
          </p:cNvPr>
          <p:cNvSpPr/>
          <p:nvPr/>
        </p:nvSpPr>
        <p:spPr>
          <a:xfrm>
            <a:off x="3531765" y="3279915"/>
            <a:ext cx="1937857" cy="847468"/>
          </a:xfrm>
          <a:custGeom>
            <a:avLst/>
            <a:gdLst>
              <a:gd name="connsiteX0" fmla="*/ 1937857 w 1937857"/>
              <a:gd name="connsiteY0" fmla="*/ 847468 h 847468"/>
              <a:gd name="connsiteX1" fmla="*/ 1895912 w 1937857"/>
              <a:gd name="connsiteY1" fmla="*/ 805524 h 847468"/>
              <a:gd name="connsiteX2" fmla="*/ 1845578 w 1937857"/>
              <a:gd name="connsiteY2" fmla="*/ 788746 h 847468"/>
              <a:gd name="connsiteX3" fmla="*/ 1820411 w 1937857"/>
              <a:gd name="connsiteY3" fmla="*/ 780357 h 847468"/>
              <a:gd name="connsiteX4" fmla="*/ 1795244 w 1937857"/>
              <a:gd name="connsiteY4" fmla="*/ 763579 h 847468"/>
              <a:gd name="connsiteX5" fmla="*/ 1753299 w 1937857"/>
              <a:gd name="connsiteY5" fmla="*/ 755190 h 847468"/>
              <a:gd name="connsiteX6" fmla="*/ 1694576 w 1937857"/>
              <a:gd name="connsiteY6" fmla="*/ 738412 h 847468"/>
              <a:gd name="connsiteX7" fmla="*/ 1652631 w 1937857"/>
              <a:gd name="connsiteY7" fmla="*/ 721634 h 847468"/>
              <a:gd name="connsiteX8" fmla="*/ 1602297 w 1937857"/>
              <a:gd name="connsiteY8" fmla="*/ 704856 h 847468"/>
              <a:gd name="connsiteX9" fmla="*/ 1535185 w 1937857"/>
              <a:gd name="connsiteY9" fmla="*/ 679689 h 847468"/>
              <a:gd name="connsiteX10" fmla="*/ 1510018 w 1937857"/>
              <a:gd name="connsiteY10" fmla="*/ 662911 h 847468"/>
              <a:gd name="connsiteX11" fmla="*/ 1459685 w 1937857"/>
              <a:gd name="connsiteY11" fmla="*/ 646133 h 847468"/>
              <a:gd name="connsiteX12" fmla="*/ 1367406 w 1937857"/>
              <a:gd name="connsiteY12" fmla="*/ 620966 h 847468"/>
              <a:gd name="connsiteX13" fmla="*/ 1333850 w 1937857"/>
              <a:gd name="connsiteY13" fmla="*/ 612577 h 847468"/>
              <a:gd name="connsiteX14" fmla="*/ 1283516 w 1937857"/>
              <a:gd name="connsiteY14" fmla="*/ 595799 h 847468"/>
              <a:gd name="connsiteX15" fmla="*/ 1224793 w 1937857"/>
              <a:gd name="connsiteY15" fmla="*/ 579021 h 847468"/>
              <a:gd name="connsiteX16" fmla="*/ 1098958 w 1937857"/>
              <a:gd name="connsiteY16" fmla="*/ 587410 h 847468"/>
              <a:gd name="connsiteX17" fmla="*/ 1073791 w 1937857"/>
              <a:gd name="connsiteY17" fmla="*/ 595799 h 847468"/>
              <a:gd name="connsiteX18" fmla="*/ 1023457 w 1937857"/>
              <a:gd name="connsiteY18" fmla="*/ 629355 h 847468"/>
              <a:gd name="connsiteX19" fmla="*/ 998290 w 1937857"/>
              <a:gd name="connsiteY19" fmla="*/ 646133 h 847468"/>
              <a:gd name="connsiteX20" fmla="*/ 947956 w 1937857"/>
              <a:gd name="connsiteY20" fmla="*/ 671300 h 847468"/>
              <a:gd name="connsiteX21" fmla="*/ 922789 w 1937857"/>
              <a:gd name="connsiteY21" fmla="*/ 696467 h 847468"/>
              <a:gd name="connsiteX22" fmla="*/ 872455 w 1937857"/>
              <a:gd name="connsiteY22" fmla="*/ 713245 h 847468"/>
              <a:gd name="connsiteX23" fmla="*/ 847288 w 1937857"/>
              <a:gd name="connsiteY23" fmla="*/ 730023 h 847468"/>
              <a:gd name="connsiteX24" fmla="*/ 796954 w 1937857"/>
              <a:gd name="connsiteY24" fmla="*/ 746801 h 847468"/>
              <a:gd name="connsiteX25" fmla="*/ 746620 w 1937857"/>
              <a:gd name="connsiteY25" fmla="*/ 763579 h 847468"/>
              <a:gd name="connsiteX26" fmla="*/ 721453 w 1937857"/>
              <a:gd name="connsiteY26" fmla="*/ 771968 h 847468"/>
              <a:gd name="connsiteX27" fmla="*/ 696286 w 1937857"/>
              <a:gd name="connsiteY27" fmla="*/ 780357 h 847468"/>
              <a:gd name="connsiteX28" fmla="*/ 662730 w 1937857"/>
              <a:gd name="connsiteY28" fmla="*/ 788746 h 847468"/>
              <a:gd name="connsiteX29" fmla="*/ 637563 w 1937857"/>
              <a:gd name="connsiteY29" fmla="*/ 797135 h 847468"/>
              <a:gd name="connsiteX30" fmla="*/ 553674 w 1937857"/>
              <a:gd name="connsiteY30" fmla="*/ 805524 h 847468"/>
              <a:gd name="connsiteX31" fmla="*/ 494951 w 1937857"/>
              <a:gd name="connsiteY31" fmla="*/ 813913 h 847468"/>
              <a:gd name="connsiteX32" fmla="*/ 385894 w 1937857"/>
              <a:gd name="connsiteY32" fmla="*/ 805524 h 847468"/>
              <a:gd name="connsiteX33" fmla="*/ 377505 w 1937857"/>
              <a:gd name="connsiteY33" fmla="*/ 537076 h 847468"/>
              <a:gd name="connsiteX34" fmla="*/ 293615 w 1937857"/>
              <a:gd name="connsiteY34" fmla="*/ 495131 h 847468"/>
              <a:gd name="connsiteX35" fmla="*/ 268448 w 1937857"/>
              <a:gd name="connsiteY35" fmla="*/ 478353 h 847468"/>
              <a:gd name="connsiteX36" fmla="*/ 159391 w 1937857"/>
              <a:gd name="connsiteY36" fmla="*/ 444797 h 847468"/>
              <a:gd name="connsiteX37" fmla="*/ 125835 w 1937857"/>
              <a:gd name="connsiteY37" fmla="*/ 428019 h 847468"/>
              <a:gd name="connsiteX38" fmla="*/ 100668 w 1937857"/>
              <a:gd name="connsiteY38" fmla="*/ 419630 h 847468"/>
              <a:gd name="connsiteX39" fmla="*/ 50334 w 1937857"/>
              <a:gd name="connsiteY39" fmla="*/ 377685 h 847468"/>
              <a:gd name="connsiteX40" fmla="*/ 41945 w 1937857"/>
              <a:gd name="connsiteY40" fmla="*/ 352518 h 847468"/>
              <a:gd name="connsiteX41" fmla="*/ 25167 w 1937857"/>
              <a:gd name="connsiteY41" fmla="*/ 327351 h 847468"/>
              <a:gd name="connsiteX42" fmla="*/ 16778 w 1937857"/>
              <a:gd name="connsiteY42" fmla="*/ 293795 h 847468"/>
              <a:gd name="connsiteX43" fmla="*/ 0 w 1937857"/>
              <a:gd name="connsiteY43" fmla="*/ 243461 h 847468"/>
              <a:gd name="connsiteX44" fmla="*/ 8389 w 1937857"/>
              <a:gd name="connsiteY44" fmla="*/ 126015 h 847468"/>
              <a:gd name="connsiteX45" fmla="*/ 58723 w 1937857"/>
              <a:gd name="connsiteY45" fmla="*/ 84070 h 847468"/>
              <a:gd name="connsiteX46" fmla="*/ 83890 w 1937857"/>
              <a:gd name="connsiteY46" fmla="*/ 58903 h 847468"/>
              <a:gd name="connsiteX47" fmla="*/ 142613 w 1937857"/>
              <a:gd name="connsiteY47" fmla="*/ 25347 h 847468"/>
              <a:gd name="connsiteX48" fmla="*/ 184558 w 1937857"/>
              <a:gd name="connsiteY48" fmla="*/ 180 h 84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37857" h="847468">
                <a:moveTo>
                  <a:pt x="1937857" y="847468"/>
                </a:moveTo>
                <a:cubicBezTo>
                  <a:pt x="1923875" y="833487"/>
                  <a:pt x="1912594" y="816139"/>
                  <a:pt x="1895912" y="805524"/>
                </a:cubicBezTo>
                <a:cubicBezTo>
                  <a:pt x="1880991" y="796029"/>
                  <a:pt x="1862356" y="794339"/>
                  <a:pt x="1845578" y="788746"/>
                </a:cubicBezTo>
                <a:lnTo>
                  <a:pt x="1820411" y="780357"/>
                </a:lnTo>
                <a:cubicBezTo>
                  <a:pt x="1810846" y="777169"/>
                  <a:pt x="1804684" y="767119"/>
                  <a:pt x="1795244" y="763579"/>
                </a:cubicBezTo>
                <a:cubicBezTo>
                  <a:pt x="1781893" y="758572"/>
                  <a:pt x="1767218" y="758283"/>
                  <a:pt x="1753299" y="755190"/>
                </a:cubicBezTo>
                <a:cubicBezTo>
                  <a:pt x="1731664" y="750382"/>
                  <a:pt x="1714959" y="746055"/>
                  <a:pt x="1694576" y="738412"/>
                </a:cubicBezTo>
                <a:cubicBezTo>
                  <a:pt x="1680476" y="733125"/>
                  <a:pt x="1666783" y="726780"/>
                  <a:pt x="1652631" y="721634"/>
                </a:cubicBezTo>
                <a:cubicBezTo>
                  <a:pt x="1636010" y="715590"/>
                  <a:pt x="1617012" y="714666"/>
                  <a:pt x="1602297" y="704856"/>
                </a:cubicBezTo>
                <a:cubicBezTo>
                  <a:pt x="1565266" y="680169"/>
                  <a:pt x="1587017" y="690055"/>
                  <a:pt x="1535185" y="679689"/>
                </a:cubicBezTo>
                <a:cubicBezTo>
                  <a:pt x="1526796" y="674096"/>
                  <a:pt x="1519231" y="667006"/>
                  <a:pt x="1510018" y="662911"/>
                </a:cubicBezTo>
                <a:cubicBezTo>
                  <a:pt x="1493857" y="655728"/>
                  <a:pt x="1476463" y="651726"/>
                  <a:pt x="1459685" y="646133"/>
                </a:cubicBezTo>
                <a:cubicBezTo>
                  <a:pt x="1412645" y="630453"/>
                  <a:pt x="1443090" y="639887"/>
                  <a:pt x="1367406" y="620966"/>
                </a:cubicBezTo>
                <a:cubicBezTo>
                  <a:pt x="1356221" y="618170"/>
                  <a:pt x="1344788" y="616223"/>
                  <a:pt x="1333850" y="612577"/>
                </a:cubicBezTo>
                <a:cubicBezTo>
                  <a:pt x="1317072" y="606984"/>
                  <a:pt x="1300674" y="600088"/>
                  <a:pt x="1283516" y="595799"/>
                </a:cubicBezTo>
                <a:cubicBezTo>
                  <a:pt x="1241381" y="585265"/>
                  <a:pt x="1260898" y="591056"/>
                  <a:pt x="1224793" y="579021"/>
                </a:cubicBezTo>
                <a:cubicBezTo>
                  <a:pt x="1182848" y="581817"/>
                  <a:pt x="1140739" y="582768"/>
                  <a:pt x="1098958" y="587410"/>
                </a:cubicBezTo>
                <a:cubicBezTo>
                  <a:pt x="1090169" y="588387"/>
                  <a:pt x="1081521" y="591505"/>
                  <a:pt x="1073791" y="595799"/>
                </a:cubicBezTo>
                <a:cubicBezTo>
                  <a:pt x="1056164" y="605592"/>
                  <a:pt x="1040235" y="618170"/>
                  <a:pt x="1023457" y="629355"/>
                </a:cubicBezTo>
                <a:cubicBezTo>
                  <a:pt x="1015068" y="634948"/>
                  <a:pt x="1007855" y="642945"/>
                  <a:pt x="998290" y="646133"/>
                </a:cubicBezTo>
                <a:cubicBezTo>
                  <a:pt x="973067" y="654541"/>
                  <a:pt x="969639" y="653231"/>
                  <a:pt x="947956" y="671300"/>
                </a:cubicBezTo>
                <a:cubicBezTo>
                  <a:pt x="938842" y="678895"/>
                  <a:pt x="933160" y="690705"/>
                  <a:pt x="922789" y="696467"/>
                </a:cubicBezTo>
                <a:cubicBezTo>
                  <a:pt x="907329" y="705056"/>
                  <a:pt x="887170" y="703435"/>
                  <a:pt x="872455" y="713245"/>
                </a:cubicBezTo>
                <a:cubicBezTo>
                  <a:pt x="864066" y="718838"/>
                  <a:pt x="856501" y="725928"/>
                  <a:pt x="847288" y="730023"/>
                </a:cubicBezTo>
                <a:cubicBezTo>
                  <a:pt x="831127" y="737206"/>
                  <a:pt x="813732" y="741208"/>
                  <a:pt x="796954" y="746801"/>
                </a:cubicBezTo>
                <a:lnTo>
                  <a:pt x="746620" y="763579"/>
                </a:lnTo>
                <a:lnTo>
                  <a:pt x="721453" y="771968"/>
                </a:lnTo>
                <a:cubicBezTo>
                  <a:pt x="713064" y="774764"/>
                  <a:pt x="704865" y="778212"/>
                  <a:pt x="696286" y="780357"/>
                </a:cubicBezTo>
                <a:cubicBezTo>
                  <a:pt x="685101" y="783153"/>
                  <a:pt x="673816" y="785579"/>
                  <a:pt x="662730" y="788746"/>
                </a:cubicBezTo>
                <a:cubicBezTo>
                  <a:pt x="654227" y="791175"/>
                  <a:pt x="646303" y="795790"/>
                  <a:pt x="637563" y="797135"/>
                </a:cubicBezTo>
                <a:cubicBezTo>
                  <a:pt x="609787" y="801408"/>
                  <a:pt x="581584" y="802240"/>
                  <a:pt x="553674" y="805524"/>
                </a:cubicBezTo>
                <a:cubicBezTo>
                  <a:pt x="534036" y="807834"/>
                  <a:pt x="514525" y="811117"/>
                  <a:pt x="494951" y="813913"/>
                </a:cubicBezTo>
                <a:cubicBezTo>
                  <a:pt x="458599" y="811117"/>
                  <a:pt x="400133" y="839088"/>
                  <a:pt x="385894" y="805524"/>
                </a:cubicBezTo>
                <a:cubicBezTo>
                  <a:pt x="350929" y="723108"/>
                  <a:pt x="394593" y="624956"/>
                  <a:pt x="377505" y="537076"/>
                </a:cubicBezTo>
                <a:cubicBezTo>
                  <a:pt x="372402" y="510831"/>
                  <a:pt x="315387" y="500574"/>
                  <a:pt x="293615" y="495131"/>
                </a:cubicBezTo>
                <a:cubicBezTo>
                  <a:pt x="285226" y="489538"/>
                  <a:pt x="277809" y="482097"/>
                  <a:pt x="268448" y="478353"/>
                </a:cubicBezTo>
                <a:cubicBezTo>
                  <a:pt x="239790" y="466890"/>
                  <a:pt x="188146" y="459175"/>
                  <a:pt x="159391" y="444797"/>
                </a:cubicBezTo>
                <a:cubicBezTo>
                  <a:pt x="148206" y="439204"/>
                  <a:pt x="137329" y="432945"/>
                  <a:pt x="125835" y="428019"/>
                </a:cubicBezTo>
                <a:cubicBezTo>
                  <a:pt x="117707" y="424536"/>
                  <a:pt x="108577" y="423585"/>
                  <a:pt x="100668" y="419630"/>
                </a:cubicBezTo>
                <a:cubicBezTo>
                  <a:pt x="77309" y="407951"/>
                  <a:pt x="68887" y="396238"/>
                  <a:pt x="50334" y="377685"/>
                </a:cubicBezTo>
                <a:cubicBezTo>
                  <a:pt x="47538" y="369296"/>
                  <a:pt x="45900" y="360427"/>
                  <a:pt x="41945" y="352518"/>
                </a:cubicBezTo>
                <a:cubicBezTo>
                  <a:pt x="37436" y="343500"/>
                  <a:pt x="29139" y="336618"/>
                  <a:pt x="25167" y="327351"/>
                </a:cubicBezTo>
                <a:cubicBezTo>
                  <a:pt x="20625" y="316754"/>
                  <a:pt x="20091" y="304838"/>
                  <a:pt x="16778" y="293795"/>
                </a:cubicBezTo>
                <a:cubicBezTo>
                  <a:pt x="11696" y="276855"/>
                  <a:pt x="0" y="243461"/>
                  <a:pt x="0" y="243461"/>
                </a:cubicBezTo>
                <a:cubicBezTo>
                  <a:pt x="2796" y="204312"/>
                  <a:pt x="-600" y="164220"/>
                  <a:pt x="8389" y="126015"/>
                </a:cubicBezTo>
                <a:cubicBezTo>
                  <a:pt x="11976" y="110772"/>
                  <a:pt x="48083" y="92936"/>
                  <a:pt x="58723" y="84070"/>
                </a:cubicBezTo>
                <a:cubicBezTo>
                  <a:pt x="67837" y="76475"/>
                  <a:pt x="74236" y="65799"/>
                  <a:pt x="83890" y="58903"/>
                </a:cubicBezTo>
                <a:cubicBezTo>
                  <a:pt x="141326" y="17877"/>
                  <a:pt x="95058" y="64976"/>
                  <a:pt x="142613" y="25347"/>
                </a:cubicBezTo>
                <a:cubicBezTo>
                  <a:pt x="177559" y="-3775"/>
                  <a:pt x="153171" y="180"/>
                  <a:pt x="184558" y="180"/>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形状 33">
            <a:extLst>
              <a:ext uri="{FF2B5EF4-FFF2-40B4-BE49-F238E27FC236}">
                <a16:creationId xmlns:a16="http://schemas.microsoft.com/office/drawing/2014/main" id="{5F00CD72-3BF7-410F-A335-60B9C7139D5A}"/>
              </a:ext>
            </a:extLst>
          </p:cNvPr>
          <p:cNvSpPr/>
          <p:nvPr/>
        </p:nvSpPr>
        <p:spPr>
          <a:xfrm>
            <a:off x="2860282" y="3967993"/>
            <a:ext cx="2600951" cy="1283515"/>
          </a:xfrm>
          <a:custGeom>
            <a:avLst/>
            <a:gdLst>
              <a:gd name="connsiteX0" fmla="*/ 2600951 w 2600951"/>
              <a:gd name="connsiteY0" fmla="*/ 276836 h 1283515"/>
              <a:gd name="connsiteX1" fmla="*/ 2559006 w 2600951"/>
              <a:gd name="connsiteY1" fmla="*/ 251669 h 1283515"/>
              <a:gd name="connsiteX2" fmla="*/ 2533839 w 2600951"/>
              <a:gd name="connsiteY2" fmla="*/ 234891 h 1283515"/>
              <a:gd name="connsiteX3" fmla="*/ 2508672 w 2600951"/>
              <a:gd name="connsiteY3" fmla="*/ 226502 h 1283515"/>
              <a:gd name="connsiteX4" fmla="*/ 2483505 w 2600951"/>
              <a:gd name="connsiteY4" fmla="*/ 209724 h 1283515"/>
              <a:gd name="connsiteX5" fmla="*/ 2433171 w 2600951"/>
              <a:gd name="connsiteY5" fmla="*/ 192946 h 1283515"/>
              <a:gd name="connsiteX6" fmla="*/ 2408004 w 2600951"/>
              <a:gd name="connsiteY6" fmla="*/ 176168 h 1283515"/>
              <a:gd name="connsiteX7" fmla="*/ 2357670 w 2600951"/>
              <a:gd name="connsiteY7" fmla="*/ 159390 h 1283515"/>
              <a:gd name="connsiteX8" fmla="*/ 2332503 w 2600951"/>
              <a:gd name="connsiteY8" fmla="*/ 142613 h 1283515"/>
              <a:gd name="connsiteX9" fmla="*/ 2248613 w 2600951"/>
              <a:gd name="connsiteY9" fmla="*/ 117446 h 1283515"/>
              <a:gd name="connsiteX10" fmla="*/ 2198279 w 2600951"/>
              <a:gd name="connsiteY10" fmla="*/ 100668 h 1283515"/>
              <a:gd name="connsiteX11" fmla="*/ 2173112 w 2600951"/>
              <a:gd name="connsiteY11" fmla="*/ 83890 h 1283515"/>
              <a:gd name="connsiteX12" fmla="*/ 2122779 w 2600951"/>
              <a:gd name="connsiteY12" fmla="*/ 67112 h 1283515"/>
              <a:gd name="connsiteX13" fmla="*/ 2072445 w 2600951"/>
              <a:gd name="connsiteY13" fmla="*/ 41945 h 1283515"/>
              <a:gd name="connsiteX14" fmla="*/ 1980166 w 2600951"/>
              <a:gd name="connsiteY14" fmla="*/ 8389 h 1283515"/>
              <a:gd name="connsiteX15" fmla="*/ 1938221 w 2600951"/>
              <a:gd name="connsiteY15" fmla="*/ 0 h 1283515"/>
              <a:gd name="connsiteX16" fmla="*/ 1728496 w 2600951"/>
              <a:gd name="connsiteY16" fmla="*/ 8389 h 1283515"/>
              <a:gd name="connsiteX17" fmla="*/ 1678162 w 2600951"/>
              <a:gd name="connsiteY17" fmla="*/ 41945 h 1283515"/>
              <a:gd name="connsiteX18" fmla="*/ 1652995 w 2600951"/>
              <a:gd name="connsiteY18" fmla="*/ 50334 h 1283515"/>
              <a:gd name="connsiteX19" fmla="*/ 1602661 w 2600951"/>
              <a:gd name="connsiteY19" fmla="*/ 83890 h 1283515"/>
              <a:gd name="connsiteX20" fmla="*/ 1560716 w 2600951"/>
              <a:gd name="connsiteY20" fmla="*/ 100668 h 1283515"/>
              <a:gd name="connsiteX21" fmla="*/ 1468437 w 2600951"/>
              <a:gd name="connsiteY21" fmla="*/ 117446 h 1283515"/>
              <a:gd name="connsiteX22" fmla="*/ 1376158 w 2600951"/>
              <a:gd name="connsiteY22" fmla="*/ 151001 h 1283515"/>
              <a:gd name="connsiteX23" fmla="*/ 1241935 w 2600951"/>
              <a:gd name="connsiteY23" fmla="*/ 176168 h 1283515"/>
              <a:gd name="connsiteX24" fmla="*/ 1099322 w 2600951"/>
              <a:gd name="connsiteY24" fmla="*/ 192946 h 1283515"/>
              <a:gd name="connsiteX25" fmla="*/ 1048988 w 2600951"/>
              <a:gd name="connsiteY25" fmla="*/ 201335 h 1283515"/>
              <a:gd name="connsiteX26" fmla="*/ 1023821 w 2600951"/>
              <a:gd name="connsiteY26" fmla="*/ 209724 h 1283515"/>
              <a:gd name="connsiteX27" fmla="*/ 939931 w 2600951"/>
              <a:gd name="connsiteY27" fmla="*/ 218113 h 1283515"/>
              <a:gd name="connsiteX28" fmla="*/ 864430 w 2600951"/>
              <a:gd name="connsiteY28" fmla="*/ 226502 h 1283515"/>
              <a:gd name="connsiteX29" fmla="*/ 780540 w 2600951"/>
              <a:gd name="connsiteY29" fmla="*/ 243280 h 1283515"/>
              <a:gd name="connsiteX30" fmla="*/ 738595 w 2600951"/>
              <a:gd name="connsiteY30" fmla="*/ 251669 h 1283515"/>
              <a:gd name="connsiteX31" fmla="*/ 629538 w 2600951"/>
              <a:gd name="connsiteY31" fmla="*/ 268447 h 1283515"/>
              <a:gd name="connsiteX32" fmla="*/ 604371 w 2600951"/>
              <a:gd name="connsiteY32" fmla="*/ 276836 h 1283515"/>
              <a:gd name="connsiteX33" fmla="*/ 570815 w 2600951"/>
              <a:gd name="connsiteY33" fmla="*/ 285225 h 1283515"/>
              <a:gd name="connsiteX34" fmla="*/ 545648 w 2600951"/>
              <a:gd name="connsiteY34" fmla="*/ 293614 h 1283515"/>
              <a:gd name="connsiteX35" fmla="*/ 478536 w 2600951"/>
              <a:gd name="connsiteY35" fmla="*/ 310392 h 1283515"/>
              <a:gd name="connsiteX36" fmla="*/ 386257 w 2600951"/>
              <a:gd name="connsiteY36" fmla="*/ 343948 h 1283515"/>
              <a:gd name="connsiteX37" fmla="*/ 310757 w 2600951"/>
              <a:gd name="connsiteY37" fmla="*/ 360726 h 1283515"/>
              <a:gd name="connsiteX38" fmla="*/ 243645 w 2600951"/>
              <a:gd name="connsiteY38" fmla="*/ 385893 h 1283515"/>
              <a:gd name="connsiteX39" fmla="*/ 201700 w 2600951"/>
              <a:gd name="connsiteY39" fmla="*/ 402671 h 1283515"/>
              <a:gd name="connsiteX40" fmla="*/ 159755 w 2600951"/>
              <a:gd name="connsiteY40" fmla="*/ 411060 h 1283515"/>
              <a:gd name="connsiteX41" fmla="*/ 92643 w 2600951"/>
              <a:gd name="connsiteY41" fmla="*/ 436227 h 1283515"/>
              <a:gd name="connsiteX42" fmla="*/ 50698 w 2600951"/>
              <a:gd name="connsiteY42" fmla="*/ 444616 h 1283515"/>
              <a:gd name="connsiteX43" fmla="*/ 17142 w 2600951"/>
              <a:gd name="connsiteY43" fmla="*/ 453005 h 1283515"/>
              <a:gd name="connsiteX44" fmla="*/ 8753 w 2600951"/>
              <a:gd name="connsiteY44" fmla="*/ 536895 h 1283515"/>
              <a:gd name="connsiteX45" fmla="*/ 17142 w 2600951"/>
              <a:gd name="connsiteY45" fmla="*/ 604007 h 1283515"/>
              <a:gd name="connsiteX46" fmla="*/ 25531 w 2600951"/>
              <a:gd name="connsiteY46" fmla="*/ 637563 h 1283515"/>
              <a:gd name="connsiteX47" fmla="*/ 33920 w 2600951"/>
              <a:gd name="connsiteY47" fmla="*/ 687897 h 1283515"/>
              <a:gd name="connsiteX48" fmla="*/ 50698 w 2600951"/>
              <a:gd name="connsiteY48" fmla="*/ 771787 h 1283515"/>
              <a:gd name="connsiteX49" fmla="*/ 75865 w 2600951"/>
              <a:gd name="connsiteY49" fmla="*/ 805343 h 1283515"/>
              <a:gd name="connsiteX50" fmla="*/ 134588 w 2600951"/>
              <a:gd name="connsiteY50" fmla="*/ 897622 h 1283515"/>
              <a:gd name="connsiteX51" fmla="*/ 159755 w 2600951"/>
              <a:gd name="connsiteY51" fmla="*/ 931178 h 1283515"/>
              <a:gd name="connsiteX52" fmla="*/ 168144 w 2600951"/>
              <a:gd name="connsiteY52" fmla="*/ 956345 h 1283515"/>
              <a:gd name="connsiteX53" fmla="*/ 218478 w 2600951"/>
              <a:gd name="connsiteY53" fmla="*/ 1048624 h 1283515"/>
              <a:gd name="connsiteX54" fmla="*/ 226867 w 2600951"/>
              <a:gd name="connsiteY54" fmla="*/ 1082179 h 1283515"/>
              <a:gd name="connsiteX55" fmla="*/ 243645 w 2600951"/>
              <a:gd name="connsiteY55" fmla="*/ 1132513 h 1283515"/>
              <a:gd name="connsiteX56" fmla="*/ 252034 w 2600951"/>
              <a:gd name="connsiteY56" fmla="*/ 1157680 h 1283515"/>
              <a:gd name="connsiteX57" fmla="*/ 252034 w 2600951"/>
              <a:gd name="connsiteY57" fmla="*/ 1283515 h 1283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00951" h="1283515">
                <a:moveTo>
                  <a:pt x="2600951" y="276836"/>
                </a:moveTo>
                <a:cubicBezTo>
                  <a:pt x="2586969" y="268447"/>
                  <a:pt x="2572833" y="260311"/>
                  <a:pt x="2559006" y="251669"/>
                </a:cubicBezTo>
                <a:cubicBezTo>
                  <a:pt x="2550456" y="246325"/>
                  <a:pt x="2542857" y="239400"/>
                  <a:pt x="2533839" y="234891"/>
                </a:cubicBezTo>
                <a:cubicBezTo>
                  <a:pt x="2525930" y="230936"/>
                  <a:pt x="2516581" y="230457"/>
                  <a:pt x="2508672" y="226502"/>
                </a:cubicBezTo>
                <a:cubicBezTo>
                  <a:pt x="2499654" y="221993"/>
                  <a:pt x="2492718" y="213819"/>
                  <a:pt x="2483505" y="209724"/>
                </a:cubicBezTo>
                <a:cubicBezTo>
                  <a:pt x="2467344" y="202541"/>
                  <a:pt x="2447886" y="202756"/>
                  <a:pt x="2433171" y="192946"/>
                </a:cubicBezTo>
                <a:cubicBezTo>
                  <a:pt x="2424782" y="187353"/>
                  <a:pt x="2417217" y="180263"/>
                  <a:pt x="2408004" y="176168"/>
                </a:cubicBezTo>
                <a:cubicBezTo>
                  <a:pt x="2391843" y="168985"/>
                  <a:pt x="2372386" y="169200"/>
                  <a:pt x="2357670" y="159390"/>
                </a:cubicBezTo>
                <a:cubicBezTo>
                  <a:pt x="2349281" y="153798"/>
                  <a:pt x="2341716" y="146708"/>
                  <a:pt x="2332503" y="142613"/>
                </a:cubicBezTo>
                <a:cubicBezTo>
                  <a:pt x="2291432" y="124360"/>
                  <a:pt x="2286157" y="128709"/>
                  <a:pt x="2248613" y="117446"/>
                </a:cubicBezTo>
                <a:cubicBezTo>
                  <a:pt x="2231673" y="112364"/>
                  <a:pt x="2212994" y="110478"/>
                  <a:pt x="2198279" y="100668"/>
                </a:cubicBezTo>
                <a:cubicBezTo>
                  <a:pt x="2189890" y="95075"/>
                  <a:pt x="2182325" y="87985"/>
                  <a:pt x="2173112" y="83890"/>
                </a:cubicBezTo>
                <a:cubicBezTo>
                  <a:pt x="2156951" y="76707"/>
                  <a:pt x="2137494" y="76922"/>
                  <a:pt x="2122779" y="67112"/>
                </a:cubicBezTo>
                <a:cubicBezTo>
                  <a:pt x="2084597" y="41657"/>
                  <a:pt x="2112139" y="56830"/>
                  <a:pt x="2072445" y="41945"/>
                </a:cubicBezTo>
                <a:cubicBezTo>
                  <a:pt x="2047663" y="32652"/>
                  <a:pt x="2005344" y="13425"/>
                  <a:pt x="1980166" y="8389"/>
                </a:cubicBezTo>
                <a:lnTo>
                  <a:pt x="1938221" y="0"/>
                </a:lnTo>
                <a:cubicBezTo>
                  <a:pt x="1868313" y="2796"/>
                  <a:pt x="1798282" y="3404"/>
                  <a:pt x="1728496" y="8389"/>
                </a:cubicBezTo>
                <a:cubicBezTo>
                  <a:pt x="1694985" y="10783"/>
                  <a:pt x="1705676" y="23602"/>
                  <a:pt x="1678162" y="41945"/>
                </a:cubicBezTo>
                <a:cubicBezTo>
                  <a:pt x="1670804" y="46850"/>
                  <a:pt x="1660725" y="46040"/>
                  <a:pt x="1652995" y="50334"/>
                </a:cubicBezTo>
                <a:cubicBezTo>
                  <a:pt x="1635368" y="60127"/>
                  <a:pt x="1621383" y="76401"/>
                  <a:pt x="1602661" y="83890"/>
                </a:cubicBezTo>
                <a:cubicBezTo>
                  <a:pt x="1588679" y="89483"/>
                  <a:pt x="1575140" y="96341"/>
                  <a:pt x="1560716" y="100668"/>
                </a:cubicBezTo>
                <a:cubicBezTo>
                  <a:pt x="1529367" y="110073"/>
                  <a:pt x="1500298" y="109481"/>
                  <a:pt x="1468437" y="117446"/>
                </a:cubicBezTo>
                <a:cubicBezTo>
                  <a:pt x="1413609" y="131153"/>
                  <a:pt x="1426186" y="134326"/>
                  <a:pt x="1376158" y="151001"/>
                </a:cubicBezTo>
                <a:cubicBezTo>
                  <a:pt x="1341702" y="162486"/>
                  <a:pt x="1259253" y="172704"/>
                  <a:pt x="1241935" y="176168"/>
                </a:cubicBezTo>
                <a:cubicBezTo>
                  <a:pt x="1151770" y="194201"/>
                  <a:pt x="1250098" y="176193"/>
                  <a:pt x="1099322" y="192946"/>
                </a:cubicBezTo>
                <a:cubicBezTo>
                  <a:pt x="1082417" y="194824"/>
                  <a:pt x="1065592" y="197645"/>
                  <a:pt x="1048988" y="201335"/>
                </a:cubicBezTo>
                <a:cubicBezTo>
                  <a:pt x="1040356" y="203253"/>
                  <a:pt x="1032561" y="208379"/>
                  <a:pt x="1023821" y="209724"/>
                </a:cubicBezTo>
                <a:cubicBezTo>
                  <a:pt x="996045" y="213997"/>
                  <a:pt x="967879" y="215171"/>
                  <a:pt x="939931" y="218113"/>
                </a:cubicBezTo>
                <a:lnTo>
                  <a:pt x="864430" y="226502"/>
                </a:lnTo>
                <a:cubicBezTo>
                  <a:pt x="816194" y="242581"/>
                  <a:pt x="857656" y="230427"/>
                  <a:pt x="780540" y="243280"/>
                </a:cubicBezTo>
                <a:cubicBezTo>
                  <a:pt x="766475" y="245624"/>
                  <a:pt x="752660" y="249325"/>
                  <a:pt x="738595" y="251669"/>
                </a:cubicBezTo>
                <a:cubicBezTo>
                  <a:pt x="711835" y="256129"/>
                  <a:pt x="657395" y="262256"/>
                  <a:pt x="629538" y="268447"/>
                </a:cubicBezTo>
                <a:cubicBezTo>
                  <a:pt x="620906" y="270365"/>
                  <a:pt x="612874" y="274407"/>
                  <a:pt x="604371" y="276836"/>
                </a:cubicBezTo>
                <a:cubicBezTo>
                  <a:pt x="593285" y="280003"/>
                  <a:pt x="581901" y="282058"/>
                  <a:pt x="570815" y="285225"/>
                </a:cubicBezTo>
                <a:cubicBezTo>
                  <a:pt x="562312" y="287654"/>
                  <a:pt x="554179" y="291287"/>
                  <a:pt x="545648" y="293614"/>
                </a:cubicBezTo>
                <a:cubicBezTo>
                  <a:pt x="523401" y="299681"/>
                  <a:pt x="499946" y="301828"/>
                  <a:pt x="478536" y="310392"/>
                </a:cubicBezTo>
                <a:cubicBezTo>
                  <a:pt x="450738" y="321511"/>
                  <a:pt x="414977" y="336768"/>
                  <a:pt x="386257" y="343948"/>
                </a:cubicBezTo>
                <a:cubicBezTo>
                  <a:pt x="338868" y="355795"/>
                  <a:pt x="364007" y="350076"/>
                  <a:pt x="310757" y="360726"/>
                </a:cubicBezTo>
                <a:cubicBezTo>
                  <a:pt x="242111" y="395049"/>
                  <a:pt x="312177" y="363049"/>
                  <a:pt x="243645" y="385893"/>
                </a:cubicBezTo>
                <a:cubicBezTo>
                  <a:pt x="229359" y="390655"/>
                  <a:pt x="216124" y="398344"/>
                  <a:pt x="201700" y="402671"/>
                </a:cubicBezTo>
                <a:cubicBezTo>
                  <a:pt x="188043" y="406768"/>
                  <a:pt x="173588" y="407602"/>
                  <a:pt x="159755" y="411060"/>
                </a:cubicBezTo>
                <a:cubicBezTo>
                  <a:pt x="127153" y="419211"/>
                  <a:pt x="131132" y="424680"/>
                  <a:pt x="92643" y="436227"/>
                </a:cubicBezTo>
                <a:cubicBezTo>
                  <a:pt x="78986" y="440324"/>
                  <a:pt x="64617" y="441523"/>
                  <a:pt x="50698" y="444616"/>
                </a:cubicBezTo>
                <a:cubicBezTo>
                  <a:pt x="39443" y="447117"/>
                  <a:pt x="28327" y="450209"/>
                  <a:pt x="17142" y="453005"/>
                </a:cubicBezTo>
                <a:cubicBezTo>
                  <a:pt x="-8096" y="503481"/>
                  <a:pt x="-531" y="471904"/>
                  <a:pt x="8753" y="536895"/>
                </a:cubicBezTo>
                <a:cubicBezTo>
                  <a:pt x="11941" y="559213"/>
                  <a:pt x="13436" y="581769"/>
                  <a:pt x="17142" y="604007"/>
                </a:cubicBezTo>
                <a:cubicBezTo>
                  <a:pt x="19037" y="615380"/>
                  <a:pt x="23270" y="626257"/>
                  <a:pt x="25531" y="637563"/>
                </a:cubicBezTo>
                <a:cubicBezTo>
                  <a:pt x="28867" y="654242"/>
                  <a:pt x="31334" y="671085"/>
                  <a:pt x="33920" y="687897"/>
                </a:cubicBezTo>
                <a:cubicBezTo>
                  <a:pt x="35958" y="701147"/>
                  <a:pt x="39456" y="752113"/>
                  <a:pt x="50698" y="771787"/>
                </a:cubicBezTo>
                <a:cubicBezTo>
                  <a:pt x="57635" y="783926"/>
                  <a:pt x="67476" y="794158"/>
                  <a:pt x="75865" y="805343"/>
                </a:cubicBezTo>
                <a:cubicBezTo>
                  <a:pt x="93097" y="857038"/>
                  <a:pt x="78948" y="823436"/>
                  <a:pt x="134588" y="897622"/>
                </a:cubicBezTo>
                <a:lnTo>
                  <a:pt x="159755" y="931178"/>
                </a:lnTo>
                <a:cubicBezTo>
                  <a:pt x="162551" y="939567"/>
                  <a:pt x="164189" y="948436"/>
                  <a:pt x="168144" y="956345"/>
                </a:cubicBezTo>
                <a:cubicBezTo>
                  <a:pt x="191115" y="1002286"/>
                  <a:pt x="199467" y="972584"/>
                  <a:pt x="218478" y="1048624"/>
                </a:cubicBezTo>
                <a:cubicBezTo>
                  <a:pt x="221274" y="1059809"/>
                  <a:pt x="223554" y="1071136"/>
                  <a:pt x="226867" y="1082179"/>
                </a:cubicBezTo>
                <a:cubicBezTo>
                  <a:pt x="231949" y="1099119"/>
                  <a:pt x="238052" y="1115735"/>
                  <a:pt x="243645" y="1132513"/>
                </a:cubicBezTo>
                <a:cubicBezTo>
                  <a:pt x="246441" y="1140902"/>
                  <a:pt x="252034" y="1148837"/>
                  <a:pt x="252034" y="1157680"/>
                </a:cubicBezTo>
                <a:lnTo>
                  <a:pt x="252034" y="1283515"/>
                </a:ln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任意多边形: 形状 34">
            <a:extLst>
              <a:ext uri="{FF2B5EF4-FFF2-40B4-BE49-F238E27FC236}">
                <a16:creationId xmlns:a16="http://schemas.microsoft.com/office/drawing/2014/main" id="{5B2EBE04-77E4-4295-B761-E02078BAFC02}"/>
              </a:ext>
            </a:extLst>
          </p:cNvPr>
          <p:cNvSpPr/>
          <p:nvPr/>
        </p:nvSpPr>
        <p:spPr>
          <a:xfrm>
            <a:off x="5989739" y="4345497"/>
            <a:ext cx="579383" cy="119250"/>
          </a:xfrm>
          <a:custGeom>
            <a:avLst/>
            <a:gdLst>
              <a:gd name="connsiteX0" fmla="*/ 0 w 343949"/>
              <a:gd name="connsiteY0" fmla="*/ 0 h 184590"/>
              <a:gd name="connsiteX1" fmla="*/ 41945 w 343949"/>
              <a:gd name="connsiteY1" fmla="*/ 25167 h 184590"/>
              <a:gd name="connsiteX2" fmla="*/ 67112 w 343949"/>
              <a:gd name="connsiteY2" fmla="*/ 41945 h 184590"/>
              <a:gd name="connsiteX3" fmla="*/ 83890 w 343949"/>
              <a:gd name="connsiteY3" fmla="*/ 67112 h 184590"/>
              <a:gd name="connsiteX4" fmla="*/ 134224 w 343949"/>
              <a:gd name="connsiteY4" fmla="*/ 83890 h 184590"/>
              <a:gd name="connsiteX5" fmla="*/ 159391 w 343949"/>
              <a:gd name="connsiteY5" fmla="*/ 100668 h 184590"/>
              <a:gd name="connsiteX6" fmla="*/ 209725 w 343949"/>
              <a:gd name="connsiteY6" fmla="*/ 117446 h 184590"/>
              <a:gd name="connsiteX7" fmla="*/ 234892 w 343949"/>
              <a:gd name="connsiteY7" fmla="*/ 142613 h 184590"/>
              <a:gd name="connsiteX8" fmla="*/ 285226 w 343949"/>
              <a:gd name="connsiteY8" fmla="*/ 159391 h 184590"/>
              <a:gd name="connsiteX9" fmla="*/ 310393 w 343949"/>
              <a:gd name="connsiteY9" fmla="*/ 167780 h 184590"/>
              <a:gd name="connsiteX10" fmla="*/ 343949 w 343949"/>
              <a:gd name="connsiteY10" fmla="*/ 184558 h 18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949" h="184590">
                <a:moveTo>
                  <a:pt x="0" y="0"/>
                </a:moveTo>
                <a:cubicBezTo>
                  <a:pt x="13982" y="8389"/>
                  <a:pt x="28118" y="16525"/>
                  <a:pt x="41945" y="25167"/>
                </a:cubicBezTo>
                <a:cubicBezTo>
                  <a:pt x="50495" y="30511"/>
                  <a:pt x="59983" y="34816"/>
                  <a:pt x="67112" y="41945"/>
                </a:cubicBezTo>
                <a:cubicBezTo>
                  <a:pt x="74241" y="49074"/>
                  <a:pt x="75340" y="61768"/>
                  <a:pt x="83890" y="67112"/>
                </a:cubicBezTo>
                <a:cubicBezTo>
                  <a:pt x="98887" y="76485"/>
                  <a:pt x="119509" y="74080"/>
                  <a:pt x="134224" y="83890"/>
                </a:cubicBezTo>
                <a:cubicBezTo>
                  <a:pt x="142613" y="89483"/>
                  <a:pt x="150178" y="96573"/>
                  <a:pt x="159391" y="100668"/>
                </a:cubicBezTo>
                <a:cubicBezTo>
                  <a:pt x="175552" y="107851"/>
                  <a:pt x="209725" y="117446"/>
                  <a:pt x="209725" y="117446"/>
                </a:cubicBezTo>
                <a:cubicBezTo>
                  <a:pt x="218114" y="125835"/>
                  <a:pt x="224521" y="136851"/>
                  <a:pt x="234892" y="142613"/>
                </a:cubicBezTo>
                <a:cubicBezTo>
                  <a:pt x="250352" y="151202"/>
                  <a:pt x="268448" y="153798"/>
                  <a:pt x="285226" y="159391"/>
                </a:cubicBezTo>
                <a:cubicBezTo>
                  <a:pt x="293615" y="162187"/>
                  <a:pt x="303035" y="162875"/>
                  <a:pt x="310393" y="167780"/>
                </a:cubicBezTo>
                <a:cubicBezTo>
                  <a:pt x="337887" y="186109"/>
                  <a:pt x="325478" y="184558"/>
                  <a:pt x="343949" y="184558"/>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形状 36">
            <a:extLst>
              <a:ext uri="{FF2B5EF4-FFF2-40B4-BE49-F238E27FC236}">
                <a16:creationId xmlns:a16="http://schemas.microsoft.com/office/drawing/2014/main" id="{54A35C0F-E905-4ACE-92BE-3E7BAA2FF0DF}"/>
              </a:ext>
            </a:extLst>
          </p:cNvPr>
          <p:cNvSpPr/>
          <p:nvPr/>
        </p:nvSpPr>
        <p:spPr>
          <a:xfrm>
            <a:off x="5922628" y="4412609"/>
            <a:ext cx="2256638" cy="1277340"/>
          </a:xfrm>
          <a:custGeom>
            <a:avLst/>
            <a:gdLst>
              <a:gd name="connsiteX0" fmla="*/ 0 w 2256638"/>
              <a:gd name="connsiteY0" fmla="*/ 0 h 1277340"/>
              <a:gd name="connsiteX1" fmla="*/ 67111 w 2256638"/>
              <a:gd name="connsiteY1" fmla="*/ 41945 h 1277340"/>
              <a:gd name="connsiteX2" fmla="*/ 92278 w 2256638"/>
              <a:gd name="connsiteY2" fmla="*/ 50334 h 1277340"/>
              <a:gd name="connsiteX3" fmla="*/ 117445 w 2256638"/>
              <a:gd name="connsiteY3" fmla="*/ 67112 h 1277340"/>
              <a:gd name="connsiteX4" fmla="*/ 142612 w 2256638"/>
              <a:gd name="connsiteY4" fmla="*/ 75501 h 1277340"/>
              <a:gd name="connsiteX5" fmla="*/ 234891 w 2256638"/>
              <a:gd name="connsiteY5" fmla="*/ 125835 h 1277340"/>
              <a:gd name="connsiteX6" fmla="*/ 310392 w 2256638"/>
              <a:gd name="connsiteY6" fmla="*/ 167780 h 1277340"/>
              <a:gd name="connsiteX7" fmla="*/ 335559 w 2256638"/>
              <a:gd name="connsiteY7" fmla="*/ 176169 h 1277340"/>
              <a:gd name="connsiteX8" fmla="*/ 411060 w 2256638"/>
              <a:gd name="connsiteY8" fmla="*/ 218114 h 1277340"/>
              <a:gd name="connsiteX9" fmla="*/ 461394 w 2256638"/>
              <a:gd name="connsiteY9" fmla="*/ 234892 h 1277340"/>
              <a:gd name="connsiteX10" fmla="*/ 511728 w 2256638"/>
              <a:gd name="connsiteY10" fmla="*/ 268448 h 1277340"/>
              <a:gd name="connsiteX11" fmla="*/ 545284 w 2256638"/>
              <a:gd name="connsiteY11" fmla="*/ 285226 h 1277340"/>
              <a:gd name="connsiteX12" fmla="*/ 587229 w 2256638"/>
              <a:gd name="connsiteY12" fmla="*/ 302004 h 1277340"/>
              <a:gd name="connsiteX13" fmla="*/ 721453 w 2256638"/>
              <a:gd name="connsiteY13" fmla="*/ 352338 h 1277340"/>
              <a:gd name="connsiteX14" fmla="*/ 822121 w 2256638"/>
              <a:gd name="connsiteY14" fmla="*/ 377505 h 1277340"/>
              <a:gd name="connsiteX15" fmla="*/ 864066 w 2256638"/>
              <a:gd name="connsiteY15" fmla="*/ 394283 h 1277340"/>
              <a:gd name="connsiteX16" fmla="*/ 1652631 w 2256638"/>
              <a:gd name="connsiteY16" fmla="*/ 402672 h 1277340"/>
              <a:gd name="connsiteX17" fmla="*/ 1702965 w 2256638"/>
              <a:gd name="connsiteY17" fmla="*/ 419450 h 1277340"/>
              <a:gd name="connsiteX18" fmla="*/ 1744910 w 2256638"/>
              <a:gd name="connsiteY18" fmla="*/ 494951 h 1277340"/>
              <a:gd name="connsiteX19" fmla="*/ 1761688 w 2256638"/>
              <a:gd name="connsiteY19" fmla="*/ 520118 h 1277340"/>
              <a:gd name="connsiteX20" fmla="*/ 1770077 w 2256638"/>
              <a:gd name="connsiteY20" fmla="*/ 545285 h 1277340"/>
              <a:gd name="connsiteX21" fmla="*/ 1803633 w 2256638"/>
              <a:gd name="connsiteY21" fmla="*/ 595619 h 1277340"/>
              <a:gd name="connsiteX22" fmla="*/ 1828800 w 2256638"/>
              <a:gd name="connsiteY22" fmla="*/ 645952 h 1277340"/>
              <a:gd name="connsiteX23" fmla="*/ 1837189 w 2256638"/>
              <a:gd name="connsiteY23" fmla="*/ 687897 h 1277340"/>
              <a:gd name="connsiteX24" fmla="*/ 1853966 w 2256638"/>
              <a:gd name="connsiteY24" fmla="*/ 721453 h 1277340"/>
              <a:gd name="connsiteX25" fmla="*/ 1862355 w 2256638"/>
              <a:gd name="connsiteY25" fmla="*/ 746620 h 1277340"/>
              <a:gd name="connsiteX26" fmla="*/ 1853966 w 2256638"/>
              <a:gd name="connsiteY26" fmla="*/ 771787 h 1277340"/>
              <a:gd name="connsiteX27" fmla="*/ 1786855 w 2256638"/>
              <a:gd name="connsiteY27" fmla="*/ 805343 h 1277340"/>
              <a:gd name="connsiteX28" fmla="*/ 1736521 w 2256638"/>
              <a:gd name="connsiteY28" fmla="*/ 822121 h 1277340"/>
              <a:gd name="connsiteX29" fmla="*/ 1719743 w 2256638"/>
              <a:gd name="connsiteY29" fmla="*/ 847288 h 1277340"/>
              <a:gd name="connsiteX30" fmla="*/ 1744910 w 2256638"/>
              <a:gd name="connsiteY30" fmla="*/ 939567 h 1277340"/>
              <a:gd name="connsiteX31" fmla="*/ 1778466 w 2256638"/>
              <a:gd name="connsiteY31" fmla="*/ 1006679 h 1277340"/>
              <a:gd name="connsiteX32" fmla="*/ 1828800 w 2256638"/>
              <a:gd name="connsiteY32" fmla="*/ 1057013 h 1277340"/>
              <a:gd name="connsiteX33" fmla="*/ 1853966 w 2256638"/>
              <a:gd name="connsiteY33" fmla="*/ 1107347 h 1277340"/>
              <a:gd name="connsiteX34" fmla="*/ 1887522 w 2256638"/>
              <a:gd name="connsiteY34" fmla="*/ 1166070 h 1277340"/>
              <a:gd name="connsiteX35" fmla="*/ 1929467 w 2256638"/>
              <a:gd name="connsiteY35" fmla="*/ 1224793 h 1277340"/>
              <a:gd name="connsiteX36" fmla="*/ 1988190 w 2256638"/>
              <a:gd name="connsiteY36" fmla="*/ 1241571 h 1277340"/>
              <a:gd name="connsiteX37" fmla="*/ 2021746 w 2256638"/>
              <a:gd name="connsiteY37" fmla="*/ 1258349 h 1277340"/>
              <a:gd name="connsiteX38" fmla="*/ 2046913 w 2256638"/>
              <a:gd name="connsiteY38" fmla="*/ 1275127 h 1277340"/>
              <a:gd name="connsiteX39" fmla="*/ 2256638 w 2256638"/>
              <a:gd name="connsiteY39" fmla="*/ 1275127 h 127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56638" h="1277340">
                <a:moveTo>
                  <a:pt x="0" y="0"/>
                </a:moveTo>
                <a:cubicBezTo>
                  <a:pt x="109785" y="43915"/>
                  <a:pt x="-13474" y="-11778"/>
                  <a:pt x="67111" y="41945"/>
                </a:cubicBezTo>
                <a:cubicBezTo>
                  <a:pt x="74469" y="46850"/>
                  <a:pt x="84369" y="46379"/>
                  <a:pt x="92278" y="50334"/>
                </a:cubicBezTo>
                <a:cubicBezTo>
                  <a:pt x="101296" y="54843"/>
                  <a:pt x="108427" y="62603"/>
                  <a:pt x="117445" y="67112"/>
                </a:cubicBezTo>
                <a:cubicBezTo>
                  <a:pt x="125354" y="71067"/>
                  <a:pt x="134849" y="71267"/>
                  <a:pt x="142612" y="75501"/>
                </a:cubicBezTo>
                <a:cubicBezTo>
                  <a:pt x="245202" y="131459"/>
                  <a:pt x="175319" y="105978"/>
                  <a:pt x="234891" y="125835"/>
                </a:cubicBezTo>
                <a:cubicBezTo>
                  <a:pt x="272564" y="163508"/>
                  <a:pt x="248803" y="147250"/>
                  <a:pt x="310392" y="167780"/>
                </a:cubicBezTo>
                <a:lnTo>
                  <a:pt x="335559" y="176169"/>
                </a:lnTo>
                <a:cubicBezTo>
                  <a:pt x="376362" y="206771"/>
                  <a:pt x="361303" y="200021"/>
                  <a:pt x="411060" y="218114"/>
                </a:cubicBezTo>
                <a:cubicBezTo>
                  <a:pt x="427681" y="224158"/>
                  <a:pt x="446679" y="225082"/>
                  <a:pt x="461394" y="234892"/>
                </a:cubicBezTo>
                <a:cubicBezTo>
                  <a:pt x="478172" y="246077"/>
                  <a:pt x="493692" y="259430"/>
                  <a:pt x="511728" y="268448"/>
                </a:cubicBezTo>
                <a:cubicBezTo>
                  <a:pt x="522913" y="274041"/>
                  <a:pt x="533856" y="280147"/>
                  <a:pt x="545284" y="285226"/>
                </a:cubicBezTo>
                <a:cubicBezTo>
                  <a:pt x="559045" y="291342"/>
                  <a:pt x="573583" y="295636"/>
                  <a:pt x="587229" y="302004"/>
                </a:cubicBezTo>
                <a:cubicBezTo>
                  <a:pt x="697344" y="353391"/>
                  <a:pt x="634290" y="337811"/>
                  <a:pt x="721453" y="352338"/>
                </a:cubicBezTo>
                <a:cubicBezTo>
                  <a:pt x="775455" y="388340"/>
                  <a:pt x="717094" y="354999"/>
                  <a:pt x="822121" y="377505"/>
                </a:cubicBezTo>
                <a:cubicBezTo>
                  <a:pt x="836845" y="380660"/>
                  <a:pt x="849014" y="393827"/>
                  <a:pt x="864066" y="394283"/>
                </a:cubicBezTo>
                <a:cubicBezTo>
                  <a:pt x="1126815" y="402245"/>
                  <a:pt x="1389776" y="399876"/>
                  <a:pt x="1652631" y="402672"/>
                </a:cubicBezTo>
                <a:cubicBezTo>
                  <a:pt x="1669409" y="408265"/>
                  <a:pt x="1697372" y="402672"/>
                  <a:pt x="1702965" y="419450"/>
                </a:cubicBezTo>
                <a:cubicBezTo>
                  <a:pt x="1717731" y="463747"/>
                  <a:pt x="1706449" y="437259"/>
                  <a:pt x="1744910" y="494951"/>
                </a:cubicBezTo>
                <a:cubicBezTo>
                  <a:pt x="1750503" y="503340"/>
                  <a:pt x="1758500" y="510553"/>
                  <a:pt x="1761688" y="520118"/>
                </a:cubicBezTo>
                <a:cubicBezTo>
                  <a:pt x="1764484" y="528507"/>
                  <a:pt x="1765783" y="537555"/>
                  <a:pt x="1770077" y="545285"/>
                </a:cubicBezTo>
                <a:cubicBezTo>
                  <a:pt x="1779870" y="562912"/>
                  <a:pt x="1797256" y="576489"/>
                  <a:pt x="1803633" y="595619"/>
                </a:cubicBezTo>
                <a:cubicBezTo>
                  <a:pt x="1815210" y="630350"/>
                  <a:pt x="1807117" y="613428"/>
                  <a:pt x="1828800" y="645952"/>
                </a:cubicBezTo>
                <a:cubicBezTo>
                  <a:pt x="1831596" y="659934"/>
                  <a:pt x="1832680" y="674370"/>
                  <a:pt x="1837189" y="687897"/>
                </a:cubicBezTo>
                <a:cubicBezTo>
                  <a:pt x="1841143" y="699761"/>
                  <a:pt x="1849040" y="709959"/>
                  <a:pt x="1853966" y="721453"/>
                </a:cubicBezTo>
                <a:cubicBezTo>
                  <a:pt x="1857449" y="729581"/>
                  <a:pt x="1859559" y="738231"/>
                  <a:pt x="1862355" y="746620"/>
                </a:cubicBezTo>
                <a:cubicBezTo>
                  <a:pt x="1859559" y="755009"/>
                  <a:pt x="1859627" y="764994"/>
                  <a:pt x="1853966" y="771787"/>
                </a:cubicBezTo>
                <a:cubicBezTo>
                  <a:pt x="1829402" y="801265"/>
                  <a:pt x="1818955" y="795713"/>
                  <a:pt x="1786855" y="805343"/>
                </a:cubicBezTo>
                <a:cubicBezTo>
                  <a:pt x="1769915" y="810425"/>
                  <a:pt x="1753299" y="816528"/>
                  <a:pt x="1736521" y="822121"/>
                </a:cubicBezTo>
                <a:cubicBezTo>
                  <a:pt x="1730928" y="830510"/>
                  <a:pt x="1720656" y="837247"/>
                  <a:pt x="1719743" y="847288"/>
                </a:cubicBezTo>
                <a:cubicBezTo>
                  <a:pt x="1713410" y="916949"/>
                  <a:pt x="1722769" y="898976"/>
                  <a:pt x="1744910" y="939567"/>
                </a:cubicBezTo>
                <a:cubicBezTo>
                  <a:pt x="1756887" y="961524"/>
                  <a:pt x="1760780" y="988993"/>
                  <a:pt x="1778466" y="1006679"/>
                </a:cubicBezTo>
                <a:lnTo>
                  <a:pt x="1828800" y="1057013"/>
                </a:lnTo>
                <a:cubicBezTo>
                  <a:pt x="1849886" y="1120271"/>
                  <a:pt x="1821443" y="1042297"/>
                  <a:pt x="1853966" y="1107347"/>
                </a:cubicBezTo>
                <a:cubicBezTo>
                  <a:pt x="1890264" y="1179945"/>
                  <a:pt x="1819913" y="1071417"/>
                  <a:pt x="1887522" y="1166070"/>
                </a:cubicBezTo>
                <a:cubicBezTo>
                  <a:pt x="1896523" y="1178671"/>
                  <a:pt x="1919791" y="1216729"/>
                  <a:pt x="1929467" y="1224793"/>
                </a:cubicBezTo>
                <a:cubicBezTo>
                  <a:pt x="1934998" y="1229402"/>
                  <a:pt x="1985919" y="1240719"/>
                  <a:pt x="1988190" y="1241571"/>
                </a:cubicBezTo>
                <a:cubicBezTo>
                  <a:pt x="1999899" y="1245962"/>
                  <a:pt x="2010888" y="1252144"/>
                  <a:pt x="2021746" y="1258349"/>
                </a:cubicBezTo>
                <a:cubicBezTo>
                  <a:pt x="2030500" y="1263351"/>
                  <a:pt x="2036856" y="1274409"/>
                  <a:pt x="2046913" y="1275127"/>
                </a:cubicBezTo>
                <a:cubicBezTo>
                  <a:pt x="2116644" y="1280108"/>
                  <a:pt x="2186730" y="1275127"/>
                  <a:pt x="2256638" y="1275127"/>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对话气泡: 圆角矩形 37">
            <a:extLst>
              <a:ext uri="{FF2B5EF4-FFF2-40B4-BE49-F238E27FC236}">
                <a16:creationId xmlns:a16="http://schemas.microsoft.com/office/drawing/2014/main" id="{9CC23061-16C4-4962-B8D2-7D2D747D120E}"/>
              </a:ext>
            </a:extLst>
          </p:cNvPr>
          <p:cNvSpPr/>
          <p:nvPr/>
        </p:nvSpPr>
        <p:spPr>
          <a:xfrm>
            <a:off x="7350671" y="1493441"/>
            <a:ext cx="1353985" cy="765672"/>
          </a:xfrm>
          <a:prstGeom prst="wedgeRoundRectCallout">
            <a:avLst>
              <a:gd name="adj1" fmla="val -39298"/>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找到了</a:t>
            </a:r>
          </a:p>
        </p:txBody>
      </p:sp>
      <p:cxnSp>
        <p:nvCxnSpPr>
          <p:cNvPr id="41" name="直接箭头连接符 40">
            <a:extLst>
              <a:ext uri="{FF2B5EF4-FFF2-40B4-BE49-F238E27FC236}">
                <a16:creationId xmlns:a16="http://schemas.microsoft.com/office/drawing/2014/main" id="{19D16430-1CC9-48EE-AAF3-0BBFC13BC877}"/>
              </a:ext>
            </a:extLst>
          </p:cNvPr>
          <p:cNvCxnSpPr>
            <a:cxnSpLocks/>
          </p:cNvCxnSpPr>
          <p:nvPr/>
        </p:nvCxnSpPr>
        <p:spPr>
          <a:xfrm>
            <a:off x="5989739" y="4061449"/>
            <a:ext cx="818920" cy="135978"/>
          </a:xfrm>
          <a:prstGeom prst="straightConnector1">
            <a:avLst/>
          </a:prstGeom>
          <a:ln w="57150">
            <a:solidFill>
              <a:srgbClr val="C0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 name="文本框 2">
            <a:extLst>
              <a:ext uri="{FF2B5EF4-FFF2-40B4-BE49-F238E27FC236}">
                <a16:creationId xmlns:a16="http://schemas.microsoft.com/office/drawing/2014/main" id="{C8322327-EDB3-402A-8570-E3ACDC46621C}"/>
              </a:ext>
            </a:extLst>
          </p:cNvPr>
          <p:cNvSpPr txBox="1"/>
          <p:nvPr/>
        </p:nvSpPr>
        <p:spPr>
          <a:xfrm>
            <a:off x="8027663" y="2617009"/>
            <a:ext cx="3518912"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始终连到“最接近”的服务器</a:t>
            </a:r>
          </a:p>
        </p:txBody>
      </p:sp>
      <p:sp>
        <p:nvSpPr>
          <p:cNvPr id="29" name="日期占位符 4">
            <a:extLst>
              <a:ext uri="{FF2B5EF4-FFF2-40B4-BE49-F238E27FC236}">
                <a16:creationId xmlns:a16="http://schemas.microsoft.com/office/drawing/2014/main" id="{3A3A728A-A4EB-4D63-8FC4-29132F8182D2}"/>
              </a:ext>
            </a:extLst>
          </p:cNvPr>
          <p:cNvSpPr>
            <a:spLocks noGrp="1"/>
          </p:cNvSpPr>
          <p:nvPr>
            <p:ph type="dt" sz="half" idx="10"/>
          </p:nvPr>
        </p:nvSpPr>
        <p:spPr>
          <a:xfrm>
            <a:off x="197335" y="6489303"/>
            <a:ext cx="2743200" cy="365125"/>
          </a:xfrm>
        </p:spPr>
        <p:txBody>
          <a:bodyPr/>
          <a:lstStyle/>
          <a:p>
            <a:r>
              <a:rPr kumimoji="1" lang="en-US" altLang="zh-CN" dirty="0"/>
              <a:t>5.2.8 </a:t>
            </a:r>
            <a:r>
              <a:rPr kumimoji="1" lang="zh-CN" altLang="en-US" dirty="0"/>
              <a:t>选播路由</a:t>
            </a:r>
          </a:p>
        </p:txBody>
      </p:sp>
    </p:spTree>
    <p:extLst>
      <p:ext uri="{BB962C8B-B14F-4D97-AF65-F5344CB8AC3E}">
        <p14:creationId xmlns:p14="http://schemas.microsoft.com/office/powerpoint/2010/main" val="3695927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down)">
                                      <p:cBhvr>
                                        <p:cTn id="7" dur="500"/>
                                        <p:tgtEl>
                                          <p:spTgt spid="2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ipe(down)">
                                      <p:cBhvr>
                                        <p:cTn id="11" dur="500"/>
                                        <p:tgtEl>
                                          <p:spTgt spid="30"/>
                                        </p:tgtEl>
                                      </p:cBhvr>
                                    </p:animEffect>
                                  </p:childTnLst>
                                </p:cTn>
                              </p:par>
                            </p:childTnLst>
                          </p:cTn>
                        </p:par>
                        <p:par>
                          <p:cTn id="12" fill="hold">
                            <p:stCondLst>
                              <p:cond delay="1000"/>
                            </p:stCondLst>
                            <p:childTnLst>
                              <p:par>
                                <p:cTn id="13" presetID="22" presetClass="entr" presetSubtype="4" fill="hold" grpId="0" nodeType="afterEffect">
                                  <p:stCondLst>
                                    <p:cond delay="1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childTnLst>
                          </p:cTn>
                        </p:par>
                        <p:par>
                          <p:cTn id="16" fill="hold">
                            <p:stCondLst>
                              <p:cond delay="1600"/>
                            </p:stCondLst>
                            <p:childTnLst>
                              <p:par>
                                <p:cTn id="17" presetID="1" presetClass="entr" presetSubtype="0" fill="hold" grpId="0" nodeType="afterEffect">
                                  <p:stCondLst>
                                    <p:cond delay="700"/>
                                  </p:stCondLst>
                                  <p:childTnLst>
                                    <p:set>
                                      <p:cBhvr>
                                        <p:cTn id="18" dur="1" fill="hold">
                                          <p:stCondLst>
                                            <p:cond delay="0"/>
                                          </p:stCondLst>
                                        </p:cTn>
                                        <p:tgtEl>
                                          <p:spTgt spid="33"/>
                                        </p:tgtEl>
                                        <p:attrNameLst>
                                          <p:attrName>style.visibility</p:attrName>
                                        </p:attrNameLst>
                                      </p:cBhvr>
                                      <p:to>
                                        <p:strVal val="visible"/>
                                      </p:to>
                                    </p:set>
                                  </p:childTnLst>
                                </p:cTn>
                              </p:par>
                              <p:par>
                                <p:cTn id="19" presetID="1" presetClass="entr" presetSubtype="0" fill="hold" grpId="0" nodeType="withEffect">
                                  <p:stCondLst>
                                    <p:cond delay="700"/>
                                  </p:stCondLst>
                                  <p:childTnLst>
                                    <p:set>
                                      <p:cBhvr>
                                        <p:cTn id="20" dur="1" fill="hold">
                                          <p:stCondLst>
                                            <p:cond delay="0"/>
                                          </p:stCondLst>
                                        </p:cTn>
                                        <p:tgtEl>
                                          <p:spTgt spid="34"/>
                                        </p:tgtEl>
                                        <p:attrNameLst>
                                          <p:attrName>style.visibility</p:attrName>
                                        </p:attrNameLst>
                                      </p:cBhvr>
                                      <p:to>
                                        <p:strVal val="visible"/>
                                      </p:to>
                                    </p:set>
                                  </p:childTnLst>
                                </p:cTn>
                              </p:par>
                              <p:par>
                                <p:cTn id="21" presetID="1" presetClass="entr" presetSubtype="0" fill="hold" grpId="0" nodeType="withEffect">
                                  <p:stCondLst>
                                    <p:cond delay="700"/>
                                  </p:stCondLst>
                                  <p:childTnLst>
                                    <p:set>
                                      <p:cBhvr>
                                        <p:cTn id="22" dur="1" fill="hold">
                                          <p:stCondLst>
                                            <p:cond delay="0"/>
                                          </p:stCondLst>
                                        </p:cTn>
                                        <p:tgtEl>
                                          <p:spTgt spid="35"/>
                                        </p:tgtEl>
                                        <p:attrNameLst>
                                          <p:attrName>style.visibility</p:attrName>
                                        </p:attrNameLst>
                                      </p:cBhvr>
                                      <p:to>
                                        <p:strVal val="visible"/>
                                      </p:to>
                                    </p:set>
                                  </p:childTnLst>
                                </p:cTn>
                              </p:par>
                              <p:par>
                                <p:cTn id="23" presetID="1" presetClass="entr" presetSubtype="0" fill="hold" grpId="0" nodeType="withEffect">
                                  <p:stCondLst>
                                    <p:cond delay="700"/>
                                  </p:stCondLst>
                                  <p:childTnLst>
                                    <p:set>
                                      <p:cBhvr>
                                        <p:cTn id="24" dur="1" fill="hold">
                                          <p:stCondLst>
                                            <p:cond delay="0"/>
                                          </p:stCondLst>
                                        </p:cTn>
                                        <p:tgtEl>
                                          <p:spTgt spid="3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28"/>
                                        </p:tgtEl>
                                        <p:attrNameLst>
                                          <p:attrName>style.visibility</p:attrName>
                                        </p:attrNameLst>
                                      </p:cBhvr>
                                      <p:to>
                                        <p:strVal val="hidden"/>
                                      </p:to>
                                    </p:set>
                                  </p:childTnLst>
                                </p:cTn>
                              </p:par>
                              <p:par>
                                <p:cTn id="29" presetID="22" presetClass="entr" presetSubtype="4" fill="hold" grpId="0" nodeType="withEffect">
                                  <p:stCondLst>
                                    <p:cond delay="200"/>
                                  </p:stCondLst>
                                  <p:childTnLst>
                                    <p:set>
                                      <p:cBhvr>
                                        <p:cTn id="30" dur="1" fill="hold">
                                          <p:stCondLst>
                                            <p:cond delay="0"/>
                                          </p:stCondLst>
                                        </p:cTn>
                                        <p:tgtEl>
                                          <p:spTgt spid="38"/>
                                        </p:tgtEl>
                                        <p:attrNameLst>
                                          <p:attrName>style.visibility</p:attrName>
                                        </p:attrNameLst>
                                      </p:cBhvr>
                                      <p:to>
                                        <p:strVal val="visible"/>
                                      </p:to>
                                    </p:set>
                                    <p:animEffect transition="in" filter="wipe(down)">
                                      <p:cBhvr>
                                        <p:cTn id="31" dur="500"/>
                                        <p:tgtEl>
                                          <p:spTgt spid="38"/>
                                        </p:tgtEl>
                                      </p:cBhvr>
                                    </p:animEffect>
                                  </p:childTnLst>
                                </p:cTn>
                              </p:par>
                            </p:childTnLst>
                          </p:cTn>
                        </p:par>
                        <p:par>
                          <p:cTn id="32" fill="hold">
                            <p:stCondLst>
                              <p:cond delay="700"/>
                            </p:stCondLst>
                            <p:childTnLst>
                              <p:par>
                                <p:cTn id="33" presetID="1" presetClass="exit" presetSubtype="0" fill="hold" grpId="1" nodeType="afterEffect">
                                  <p:stCondLst>
                                    <p:cond delay="0"/>
                                  </p:stCondLst>
                                  <p:childTnLst>
                                    <p:set>
                                      <p:cBhvr>
                                        <p:cTn id="34" dur="1" fill="hold">
                                          <p:stCondLst>
                                            <p:cond delay="0"/>
                                          </p:stCondLst>
                                        </p:cTn>
                                        <p:tgtEl>
                                          <p:spTgt spid="33"/>
                                        </p:tgtEl>
                                        <p:attrNameLst>
                                          <p:attrName>style.visibility</p:attrName>
                                        </p:attrNameLst>
                                      </p:cBhvr>
                                      <p:to>
                                        <p:strVal val="hidden"/>
                                      </p:to>
                                    </p:set>
                                  </p:childTnLst>
                                </p:cTn>
                              </p:par>
                            </p:childTnLst>
                          </p:cTn>
                        </p:par>
                        <p:par>
                          <p:cTn id="35" fill="hold">
                            <p:stCondLst>
                              <p:cond delay="700"/>
                            </p:stCondLst>
                            <p:childTnLst>
                              <p:par>
                                <p:cTn id="36" presetID="1" presetClass="exit" presetSubtype="0" fill="hold" grpId="1" nodeType="afterEffect">
                                  <p:stCondLst>
                                    <p:cond delay="0"/>
                                  </p:stCondLst>
                                  <p:childTnLst>
                                    <p:set>
                                      <p:cBhvr>
                                        <p:cTn id="37" dur="1" fill="hold">
                                          <p:stCondLst>
                                            <p:cond delay="0"/>
                                          </p:stCondLst>
                                        </p:cTn>
                                        <p:tgtEl>
                                          <p:spTgt spid="34"/>
                                        </p:tgtEl>
                                        <p:attrNameLst>
                                          <p:attrName>style.visibility</p:attrName>
                                        </p:attrNameLst>
                                      </p:cBhvr>
                                      <p:to>
                                        <p:strVal val="hidden"/>
                                      </p:to>
                                    </p:set>
                                  </p:childTnLst>
                                </p:cTn>
                              </p:par>
                            </p:childTnLst>
                          </p:cTn>
                        </p:par>
                        <p:par>
                          <p:cTn id="38" fill="hold">
                            <p:stCondLst>
                              <p:cond delay="700"/>
                            </p:stCondLst>
                            <p:childTnLst>
                              <p:par>
                                <p:cTn id="39" presetID="1" presetClass="exit" presetSubtype="0" fill="hold" grpId="1" nodeType="afterEffect">
                                  <p:stCondLst>
                                    <p:cond delay="0"/>
                                  </p:stCondLst>
                                  <p:childTnLst>
                                    <p:set>
                                      <p:cBhvr>
                                        <p:cTn id="40" dur="1" fill="hold">
                                          <p:stCondLst>
                                            <p:cond delay="0"/>
                                          </p:stCondLst>
                                        </p:cTn>
                                        <p:tgtEl>
                                          <p:spTgt spid="35"/>
                                        </p:tgtEl>
                                        <p:attrNameLst>
                                          <p:attrName>style.visibility</p:attrName>
                                        </p:attrNameLst>
                                      </p:cBhvr>
                                      <p:to>
                                        <p:strVal val="hidden"/>
                                      </p:to>
                                    </p:set>
                                  </p:childTnLst>
                                </p:cTn>
                              </p:par>
                            </p:childTnLst>
                          </p:cTn>
                        </p:par>
                        <p:par>
                          <p:cTn id="41" fill="hold">
                            <p:stCondLst>
                              <p:cond delay="70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par>
                                <p:cTn id="44" presetID="22" presetClass="entr" presetSubtype="1" fill="hold"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wipe(up)">
                                      <p:cBhvr>
                                        <p:cTn id="46" dur="500"/>
                                        <p:tgtEl>
                                          <p:spTgt spid="32"/>
                                        </p:tgtEl>
                                      </p:cBhvr>
                                    </p:animEffect>
                                  </p:childTnLst>
                                </p:cTn>
                              </p:par>
                            </p:childTnLst>
                          </p:cTn>
                        </p:par>
                        <p:par>
                          <p:cTn id="47" fill="hold">
                            <p:stCondLst>
                              <p:cond delay="1200"/>
                            </p:stCondLst>
                            <p:childTnLst>
                              <p:par>
                                <p:cTn id="48" presetID="22" presetClass="entr" presetSubtype="8" fill="hold" nodeType="after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wipe(left)">
                                      <p:cBhvr>
                                        <p:cTn id="50" dur="500"/>
                                        <p:tgtEl>
                                          <p:spTgt spid="41"/>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8" grpId="1" animBg="1"/>
      <p:bldP spid="33" grpId="0" animBg="1"/>
      <p:bldP spid="33" grpId="1" animBg="1"/>
      <p:bldP spid="34" grpId="0" animBg="1"/>
      <p:bldP spid="34" grpId="1" animBg="1"/>
      <p:bldP spid="35" grpId="0" animBg="1"/>
      <p:bldP spid="35" grpId="1" animBg="1"/>
      <p:bldP spid="37" grpId="0" animBg="1"/>
      <p:bldP spid="37" grpId="1" animBg="1"/>
      <p:bldP spid="38" grpId="0" animBg="1"/>
      <p:bldP spid="3"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BC81A25-514A-4B54-BE13-F851EACF7A2D}"/>
              </a:ext>
            </a:extLst>
          </p:cNvPr>
          <p:cNvSpPr>
            <a:spLocks noGrp="1"/>
          </p:cNvSpPr>
          <p:nvPr>
            <p:ph type="title"/>
          </p:nvPr>
        </p:nvSpPr>
        <p:spPr/>
        <p:txBody>
          <a:bodyPr/>
          <a:lstStyle/>
          <a:p>
            <a:r>
              <a:rPr lang="zh-CN" altLang="en-US" dirty="0"/>
              <a:t>选播路由</a:t>
            </a:r>
          </a:p>
        </p:txBody>
      </p:sp>
      <p:sp>
        <p:nvSpPr>
          <p:cNvPr id="3" name="内容占位符 2">
            <a:extLst>
              <a:ext uri="{FF2B5EF4-FFF2-40B4-BE49-F238E27FC236}">
                <a16:creationId xmlns:a16="http://schemas.microsoft.com/office/drawing/2014/main" id="{D0E9C30A-7F20-41A9-ABEC-6FA5917F6707}"/>
              </a:ext>
            </a:extLst>
          </p:cNvPr>
          <p:cNvSpPr>
            <a:spLocks noGrp="1"/>
          </p:cNvSpPr>
          <p:nvPr>
            <p:ph idx="1"/>
          </p:nvPr>
        </p:nvSpPr>
        <p:spPr>
          <a:xfrm>
            <a:off x="838200" y="1510758"/>
            <a:ext cx="10515600" cy="2047451"/>
          </a:xfrm>
        </p:spPr>
        <p:txBody>
          <a:bodyPr>
            <a:normAutofit lnSpcReduction="10000"/>
          </a:bodyPr>
          <a:lstStyle/>
          <a:p>
            <a:r>
              <a:rPr lang="zh-CN" altLang="en-US" dirty="0"/>
              <a:t>选播（</a:t>
            </a:r>
            <a:r>
              <a:rPr lang="en-US" altLang="zh-CN" dirty="0"/>
              <a:t>Anycast</a:t>
            </a:r>
            <a:r>
              <a:rPr lang="zh-CN" altLang="en-US" dirty="0"/>
              <a:t>）</a:t>
            </a:r>
            <a:endParaRPr lang="en-US" altLang="zh-CN" dirty="0"/>
          </a:p>
          <a:p>
            <a:pPr lvl="1"/>
            <a:r>
              <a:rPr lang="zh-CN" altLang="en-US" dirty="0"/>
              <a:t>将数据包传送给最近的一个组成员</a:t>
            </a:r>
            <a:endParaRPr lang="en-US" altLang="zh-CN" dirty="0"/>
          </a:p>
          <a:p>
            <a:pPr lvl="1"/>
            <a:r>
              <a:rPr lang="zh-CN" altLang="en-US" dirty="0"/>
              <a:t>在有多个服务器的情况下，用户希望快速获得正确信息，而不在乎从哪个服务器获得</a:t>
            </a:r>
            <a:endParaRPr lang="en-US" altLang="zh-CN" dirty="0"/>
          </a:p>
          <a:p>
            <a:pPr lvl="1"/>
            <a:r>
              <a:rPr lang="zh-CN" altLang="en-US" dirty="0"/>
              <a:t>与单播、广播、组播的区别</a:t>
            </a:r>
            <a:endParaRPr lang="en-US" altLang="zh-CN" dirty="0"/>
          </a:p>
        </p:txBody>
      </p:sp>
      <p:sp>
        <p:nvSpPr>
          <p:cNvPr id="4" name="灯片编号占位符 3">
            <a:extLst>
              <a:ext uri="{FF2B5EF4-FFF2-40B4-BE49-F238E27FC236}">
                <a16:creationId xmlns:a16="http://schemas.microsoft.com/office/drawing/2014/main" id="{3609704F-2622-4617-9B66-22BEEC0741E2}"/>
              </a:ext>
            </a:extLst>
          </p:cNvPr>
          <p:cNvSpPr>
            <a:spLocks noGrp="1"/>
          </p:cNvSpPr>
          <p:nvPr>
            <p:ph type="sldNum" sz="quarter" idx="12"/>
          </p:nvPr>
        </p:nvSpPr>
        <p:spPr/>
        <p:txBody>
          <a:bodyPr/>
          <a:lstStyle/>
          <a:p>
            <a:fld id="{8D4D1E41-7A09-AB4A-A4E1-09765ADA2698}" type="slidenum">
              <a:rPr kumimoji="1" lang="zh-CN" altLang="en-US" smtClean="0"/>
              <a:pPr/>
              <a:t>76</a:t>
            </a:fld>
            <a:endParaRPr kumimoji="1" lang="zh-CN" altLang="en-US" dirty="0"/>
          </a:p>
        </p:txBody>
      </p:sp>
      <p:grpSp>
        <p:nvGrpSpPr>
          <p:cNvPr id="103" name="组合 102">
            <a:extLst>
              <a:ext uri="{FF2B5EF4-FFF2-40B4-BE49-F238E27FC236}">
                <a16:creationId xmlns:a16="http://schemas.microsoft.com/office/drawing/2014/main" id="{420CA63B-BCFB-4632-9E3D-247375436EA7}"/>
              </a:ext>
            </a:extLst>
          </p:cNvPr>
          <p:cNvGrpSpPr/>
          <p:nvPr/>
        </p:nvGrpSpPr>
        <p:grpSpPr>
          <a:xfrm>
            <a:off x="844827" y="3776045"/>
            <a:ext cx="2001076" cy="2466758"/>
            <a:chOff x="844827" y="4213364"/>
            <a:chExt cx="2001076" cy="2466758"/>
          </a:xfrm>
        </p:grpSpPr>
        <p:sp>
          <p:nvSpPr>
            <p:cNvPr id="5" name="椭圆 4">
              <a:extLst>
                <a:ext uri="{FF2B5EF4-FFF2-40B4-BE49-F238E27FC236}">
                  <a16:creationId xmlns:a16="http://schemas.microsoft.com/office/drawing/2014/main" id="{9E4E0855-A624-4577-923C-FAB8A3F4F808}"/>
                </a:ext>
              </a:extLst>
            </p:cNvPr>
            <p:cNvSpPr/>
            <p:nvPr/>
          </p:nvSpPr>
          <p:spPr>
            <a:xfrm>
              <a:off x="844827" y="5066609"/>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 name="椭圆 5">
              <a:extLst>
                <a:ext uri="{FF2B5EF4-FFF2-40B4-BE49-F238E27FC236}">
                  <a16:creationId xmlns:a16="http://schemas.microsoft.com/office/drawing/2014/main" id="{45B2F467-2E97-4D14-8982-F47F5ABA5C96}"/>
                </a:ext>
              </a:extLst>
            </p:cNvPr>
            <p:cNvSpPr/>
            <p:nvPr/>
          </p:nvSpPr>
          <p:spPr>
            <a:xfrm>
              <a:off x="2017645" y="4213364"/>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7" name="椭圆 6">
              <a:extLst>
                <a:ext uri="{FF2B5EF4-FFF2-40B4-BE49-F238E27FC236}">
                  <a16:creationId xmlns:a16="http://schemas.microsoft.com/office/drawing/2014/main" id="{F28AECD7-9AB3-4A3E-BFF6-83A313BF56EE}"/>
                </a:ext>
              </a:extLst>
            </p:cNvPr>
            <p:cNvSpPr/>
            <p:nvPr/>
          </p:nvSpPr>
          <p:spPr>
            <a:xfrm>
              <a:off x="2627243" y="4620385"/>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8" name="椭圆 7">
              <a:extLst>
                <a:ext uri="{FF2B5EF4-FFF2-40B4-BE49-F238E27FC236}">
                  <a16:creationId xmlns:a16="http://schemas.microsoft.com/office/drawing/2014/main" id="{82BD7B66-417B-4E38-A60B-BF0372952FAF}"/>
                </a:ext>
              </a:extLst>
            </p:cNvPr>
            <p:cNvSpPr/>
            <p:nvPr/>
          </p:nvSpPr>
          <p:spPr>
            <a:xfrm>
              <a:off x="2299253" y="5114302"/>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9" name="椭圆 8">
              <a:extLst>
                <a:ext uri="{FF2B5EF4-FFF2-40B4-BE49-F238E27FC236}">
                  <a16:creationId xmlns:a16="http://schemas.microsoft.com/office/drawing/2014/main" id="{C0F9401B-DE76-48F6-90FA-B12E5AF2E2B8}"/>
                </a:ext>
              </a:extLst>
            </p:cNvPr>
            <p:cNvSpPr/>
            <p:nvPr/>
          </p:nvSpPr>
          <p:spPr>
            <a:xfrm>
              <a:off x="1543879" y="5319708"/>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10" name="椭圆 9">
              <a:extLst>
                <a:ext uri="{FF2B5EF4-FFF2-40B4-BE49-F238E27FC236}">
                  <a16:creationId xmlns:a16="http://schemas.microsoft.com/office/drawing/2014/main" id="{E36EB951-92D8-49B3-996E-5E4D30E8A07A}"/>
                </a:ext>
              </a:extLst>
            </p:cNvPr>
            <p:cNvSpPr/>
            <p:nvPr/>
          </p:nvSpPr>
          <p:spPr>
            <a:xfrm>
              <a:off x="2547730" y="5542719"/>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11" name="椭圆 10">
              <a:extLst>
                <a:ext uri="{FF2B5EF4-FFF2-40B4-BE49-F238E27FC236}">
                  <a16:creationId xmlns:a16="http://schemas.microsoft.com/office/drawing/2014/main" id="{B8A381F3-5FC2-4874-BD4F-9C335AA7B609}"/>
                </a:ext>
              </a:extLst>
            </p:cNvPr>
            <p:cNvSpPr/>
            <p:nvPr/>
          </p:nvSpPr>
          <p:spPr>
            <a:xfrm>
              <a:off x="2117035" y="5897212"/>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12" name="椭圆 11">
              <a:extLst>
                <a:ext uri="{FF2B5EF4-FFF2-40B4-BE49-F238E27FC236}">
                  <a16:creationId xmlns:a16="http://schemas.microsoft.com/office/drawing/2014/main" id="{F7044B0B-54C2-4769-A93A-5FB7E5254F37}"/>
                </a:ext>
              </a:extLst>
            </p:cNvPr>
            <p:cNvSpPr/>
            <p:nvPr/>
          </p:nvSpPr>
          <p:spPr>
            <a:xfrm>
              <a:off x="1987827" y="4602231"/>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cxnSp>
          <p:nvCxnSpPr>
            <p:cNvPr id="14" name="直接箭头连接符 13">
              <a:extLst>
                <a:ext uri="{FF2B5EF4-FFF2-40B4-BE49-F238E27FC236}">
                  <a16:creationId xmlns:a16="http://schemas.microsoft.com/office/drawing/2014/main" id="{B0B585CE-D3F9-45E5-B6ED-13D02B254217}"/>
                </a:ext>
              </a:extLst>
            </p:cNvPr>
            <p:cNvCxnSpPr>
              <a:cxnSpLocks/>
              <a:stCxn id="5" idx="6"/>
              <a:endCxn id="12" idx="2"/>
            </p:cNvCxnSpPr>
            <p:nvPr/>
          </p:nvCxnSpPr>
          <p:spPr>
            <a:xfrm flipV="1">
              <a:off x="1063487" y="4711561"/>
              <a:ext cx="924340" cy="4643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11728A01-4587-41D2-9499-1F1387D43B7C}"/>
                </a:ext>
              </a:extLst>
            </p:cNvPr>
            <p:cNvSpPr txBox="1"/>
            <p:nvPr/>
          </p:nvSpPr>
          <p:spPr>
            <a:xfrm>
              <a:off x="1663147" y="6280012"/>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单播</a:t>
              </a:r>
            </a:p>
          </p:txBody>
        </p:sp>
      </p:grpSp>
      <p:grpSp>
        <p:nvGrpSpPr>
          <p:cNvPr id="104" name="组合 103">
            <a:extLst>
              <a:ext uri="{FF2B5EF4-FFF2-40B4-BE49-F238E27FC236}">
                <a16:creationId xmlns:a16="http://schemas.microsoft.com/office/drawing/2014/main" id="{C8FC505F-BB31-446E-BD7A-B053A119B1B6}"/>
              </a:ext>
            </a:extLst>
          </p:cNvPr>
          <p:cNvGrpSpPr/>
          <p:nvPr/>
        </p:nvGrpSpPr>
        <p:grpSpPr>
          <a:xfrm>
            <a:off x="3564833" y="3790325"/>
            <a:ext cx="2001076" cy="2452478"/>
            <a:chOff x="3564833" y="4227644"/>
            <a:chExt cx="2001076" cy="2452478"/>
          </a:xfrm>
        </p:grpSpPr>
        <p:sp>
          <p:nvSpPr>
            <p:cNvPr id="42" name="椭圆 41">
              <a:extLst>
                <a:ext uri="{FF2B5EF4-FFF2-40B4-BE49-F238E27FC236}">
                  <a16:creationId xmlns:a16="http://schemas.microsoft.com/office/drawing/2014/main" id="{858CF1C2-382A-4851-BEB1-855AE371F73C}"/>
                </a:ext>
              </a:extLst>
            </p:cNvPr>
            <p:cNvSpPr/>
            <p:nvPr/>
          </p:nvSpPr>
          <p:spPr>
            <a:xfrm>
              <a:off x="3564833" y="5080889"/>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3" name="椭圆 42">
              <a:extLst>
                <a:ext uri="{FF2B5EF4-FFF2-40B4-BE49-F238E27FC236}">
                  <a16:creationId xmlns:a16="http://schemas.microsoft.com/office/drawing/2014/main" id="{0FF60F74-58BA-405B-B99A-B1A3C5364DD0}"/>
                </a:ext>
              </a:extLst>
            </p:cNvPr>
            <p:cNvSpPr/>
            <p:nvPr/>
          </p:nvSpPr>
          <p:spPr>
            <a:xfrm>
              <a:off x="4737651" y="4227644"/>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4" name="椭圆 43">
              <a:extLst>
                <a:ext uri="{FF2B5EF4-FFF2-40B4-BE49-F238E27FC236}">
                  <a16:creationId xmlns:a16="http://schemas.microsoft.com/office/drawing/2014/main" id="{64250DD3-9633-46F9-9552-1563E418C89F}"/>
                </a:ext>
              </a:extLst>
            </p:cNvPr>
            <p:cNvSpPr/>
            <p:nvPr/>
          </p:nvSpPr>
          <p:spPr>
            <a:xfrm>
              <a:off x="5347249" y="4634665"/>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5" name="椭圆 44">
              <a:extLst>
                <a:ext uri="{FF2B5EF4-FFF2-40B4-BE49-F238E27FC236}">
                  <a16:creationId xmlns:a16="http://schemas.microsoft.com/office/drawing/2014/main" id="{F5011F42-938B-48F4-8C7D-9D1CEC78C2FF}"/>
                </a:ext>
              </a:extLst>
            </p:cNvPr>
            <p:cNvSpPr/>
            <p:nvPr/>
          </p:nvSpPr>
          <p:spPr>
            <a:xfrm>
              <a:off x="5019259" y="5128582"/>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6" name="椭圆 45">
              <a:extLst>
                <a:ext uri="{FF2B5EF4-FFF2-40B4-BE49-F238E27FC236}">
                  <a16:creationId xmlns:a16="http://schemas.microsoft.com/office/drawing/2014/main" id="{D8769AE6-A776-44E7-8516-DC8DE2306366}"/>
                </a:ext>
              </a:extLst>
            </p:cNvPr>
            <p:cNvSpPr/>
            <p:nvPr/>
          </p:nvSpPr>
          <p:spPr>
            <a:xfrm>
              <a:off x="4164496" y="5518480"/>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7" name="椭圆 46">
              <a:extLst>
                <a:ext uri="{FF2B5EF4-FFF2-40B4-BE49-F238E27FC236}">
                  <a16:creationId xmlns:a16="http://schemas.microsoft.com/office/drawing/2014/main" id="{6119FD74-E15B-4703-B02F-465AED996FAC}"/>
                </a:ext>
              </a:extLst>
            </p:cNvPr>
            <p:cNvSpPr/>
            <p:nvPr/>
          </p:nvSpPr>
          <p:spPr>
            <a:xfrm>
              <a:off x="5267736" y="5556999"/>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8" name="椭圆 47">
              <a:extLst>
                <a:ext uri="{FF2B5EF4-FFF2-40B4-BE49-F238E27FC236}">
                  <a16:creationId xmlns:a16="http://schemas.microsoft.com/office/drawing/2014/main" id="{39D97C6E-B519-4146-899E-361E05A8832F}"/>
                </a:ext>
              </a:extLst>
            </p:cNvPr>
            <p:cNvSpPr/>
            <p:nvPr/>
          </p:nvSpPr>
          <p:spPr>
            <a:xfrm>
              <a:off x="4837041" y="5911492"/>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9" name="椭圆 48">
              <a:extLst>
                <a:ext uri="{FF2B5EF4-FFF2-40B4-BE49-F238E27FC236}">
                  <a16:creationId xmlns:a16="http://schemas.microsoft.com/office/drawing/2014/main" id="{0E91E35D-F764-48EB-815E-1C67688569B4}"/>
                </a:ext>
              </a:extLst>
            </p:cNvPr>
            <p:cNvSpPr/>
            <p:nvPr/>
          </p:nvSpPr>
          <p:spPr>
            <a:xfrm>
              <a:off x="4707833" y="4616511"/>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cxnSp>
          <p:nvCxnSpPr>
            <p:cNvPr id="50" name="直接箭头连接符 49">
              <a:extLst>
                <a:ext uri="{FF2B5EF4-FFF2-40B4-BE49-F238E27FC236}">
                  <a16:creationId xmlns:a16="http://schemas.microsoft.com/office/drawing/2014/main" id="{39C923EC-13ED-4C21-B1A3-B644032D5ECB}"/>
                </a:ext>
              </a:extLst>
            </p:cNvPr>
            <p:cNvCxnSpPr>
              <a:cxnSpLocks/>
              <a:stCxn id="42" idx="6"/>
              <a:endCxn id="45" idx="2"/>
            </p:cNvCxnSpPr>
            <p:nvPr/>
          </p:nvCxnSpPr>
          <p:spPr>
            <a:xfrm>
              <a:off x="3783493" y="5190219"/>
              <a:ext cx="1235766" cy="4769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B5CBB199-6CFC-4390-9406-ECCF713307AA}"/>
                </a:ext>
              </a:extLst>
            </p:cNvPr>
            <p:cNvCxnSpPr>
              <a:cxnSpLocks/>
            </p:cNvCxnSpPr>
            <p:nvPr/>
          </p:nvCxnSpPr>
          <p:spPr>
            <a:xfrm flipV="1">
              <a:off x="4139096" y="4400922"/>
              <a:ext cx="624503" cy="78929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CDB384DA-AEE4-4E2A-A902-1D5B0421BD31}"/>
                </a:ext>
              </a:extLst>
            </p:cNvPr>
            <p:cNvCxnSpPr>
              <a:cxnSpLocks/>
              <a:endCxn id="49" idx="3"/>
            </p:cNvCxnSpPr>
            <p:nvPr/>
          </p:nvCxnSpPr>
          <p:spPr>
            <a:xfrm flipV="1">
              <a:off x="4110273" y="4803149"/>
              <a:ext cx="629582" cy="40583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DEF2B790-993A-4089-B671-07DA3EBEE82C}"/>
                </a:ext>
              </a:extLst>
            </p:cNvPr>
            <p:cNvCxnSpPr>
              <a:cxnSpLocks/>
              <a:endCxn id="44" idx="3"/>
            </p:cNvCxnSpPr>
            <p:nvPr/>
          </p:nvCxnSpPr>
          <p:spPr>
            <a:xfrm flipV="1">
              <a:off x="4156622" y="4821303"/>
              <a:ext cx="1222649" cy="36282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id="{EE34BE60-05D1-44A3-A8CD-7BEF700A4017}"/>
                </a:ext>
              </a:extLst>
            </p:cNvPr>
            <p:cNvCxnSpPr>
              <a:cxnSpLocks/>
              <a:endCxn id="47" idx="2"/>
            </p:cNvCxnSpPr>
            <p:nvPr/>
          </p:nvCxnSpPr>
          <p:spPr>
            <a:xfrm>
              <a:off x="4193477" y="5200124"/>
              <a:ext cx="1074259" cy="46620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直接箭头连接符 80">
              <a:extLst>
                <a:ext uri="{FF2B5EF4-FFF2-40B4-BE49-F238E27FC236}">
                  <a16:creationId xmlns:a16="http://schemas.microsoft.com/office/drawing/2014/main" id="{E98D4396-4AA4-4F81-A73C-734E10E4C75B}"/>
                </a:ext>
              </a:extLst>
            </p:cNvPr>
            <p:cNvCxnSpPr>
              <a:cxnSpLocks/>
              <a:endCxn id="48" idx="1"/>
            </p:cNvCxnSpPr>
            <p:nvPr/>
          </p:nvCxnSpPr>
          <p:spPr>
            <a:xfrm>
              <a:off x="4156213" y="5200124"/>
              <a:ext cx="712850" cy="74339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 name="直接箭头连接符 83">
              <a:extLst>
                <a:ext uri="{FF2B5EF4-FFF2-40B4-BE49-F238E27FC236}">
                  <a16:creationId xmlns:a16="http://schemas.microsoft.com/office/drawing/2014/main" id="{C57D82D1-EA6F-4AD9-9CB9-5B979D23E1E0}"/>
                </a:ext>
              </a:extLst>
            </p:cNvPr>
            <p:cNvCxnSpPr>
              <a:cxnSpLocks/>
              <a:endCxn id="46" idx="0"/>
            </p:cNvCxnSpPr>
            <p:nvPr/>
          </p:nvCxnSpPr>
          <p:spPr>
            <a:xfrm>
              <a:off x="4141723" y="5197438"/>
              <a:ext cx="132103" cy="32104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BBCB8B38-62C6-4463-B220-F9B81958359B}"/>
                </a:ext>
              </a:extLst>
            </p:cNvPr>
            <p:cNvSpPr txBox="1"/>
            <p:nvPr/>
          </p:nvSpPr>
          <p:spPr>
            <a:xfrm>
              <a:off x="4407721" y="6280012"/>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广播</a:t>
              </a:r>
            </a:p>
          </p:txBody>
        </p:sp>
      </p:grpSp>
      <p:grpSp>
        <p:nvGrpSpPr>
          <p:cNvPr id="105" name="组合 104">
            <a:extLst>
              <a:ext uri="{FF2B5EF4-FFF2-40B4-BE49-F238E27FC236}">
                <a16:creationId xmlns:a16="http://schemas.microsoft.com/office/drawing/2014/main" id="{90960D98-5164-4B0B-A823-CD2326441A40}"/>
              </a:ext>
            </a:extLst>
          </p:cNvPr>
          <p:cNvGrpSpPr/>
          <p:nvPr/>
        </p:nvGrpSpPr>
        <p:grpSpPr>
          <a:xfrm>
            <a:off x="6314656" y="3756157"/>
            <a:ext cx="2001076" cy="2482502"/>
            <a:chOff x="6314656" y="4193476"/>
            <a:chExt cx="2001076" cy="2482502"/>
          </a:xfrm>
        </p:grpSpPr>
        <p:sp>
          <p:nvSpPr>
            <p:cNvPr id="51" name="椭圆 50">
              <a:extLst>
                <a:ext uri="{FF2B5EF4-FFF2-40B4-BE49-F238E27FC236}">
                  <a16:creationId xmlns:a16="http://schemas.microsoft.com/office/drawing/2014/main" id="{BF9966F7-2602-43A0-8748-97EB543D3AC3}"/>
                </a:ext>
              </a:extLst>
            </p:cNvPr>
            <p:cNvSpPr/>
            <p:nvPr/>
          </p:nvSpPr>
          <p:spPr>
            <a:xfrm>
              <a:off x="6314656" y="5046721"/>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2" name="椭圆 51">
              <a:extLst>
                <a:ext uri="{FF2B5EF4-FFF2-40B4-BE49-F238E27FC236}">
                  <a16:creationId xmlns:a16="http://schemas.microsoft.com/office/drawing/2014/main" id="{E973C240-D817-4651-9252-2F0766E4D48F}"/>
                </a:ext>
              </a:extLst>
            </p:cNvPr>
            <p:cNvSpPr/>
            <p:nvPr/>
          </p:nvSpPr>
          <p:spPr>
            <a:xfrm>
              <a:off x="7487474" y="4193476"/>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3" name="椭圆 52">
              <a:extLst>
                <a:ext uri="{FF2B5EF4-FFF2-40B4-BE49-F238E27FC236}">
                  <a16:creationId xmlns:a16="http://schemas.microsoft.com/office/drawing/2014/main" id="{EF2879B6-5DBD-4962-AD1E-2CA3F16E7BE0}"/>
                </a:ext>
              </a:extLst>
            </p:cNvPr>
            <p:cNvSpPr/>
            <p:nvPr/>
          </p:nvSpPr>
          <p:spPr>
            <a:xfrm>
              <a:off x="8097072" y="4600497"/>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4" name="椭圆 53">
              <a:extLst>
                <a:ext uri="{FF2B5EF4-FFF2-40B4-BE49-F238E27FC236}">
                  <a16:creationId xmlns:a16="http://schemas.microsoft.com/office/drawing/2014/main" id="{5EF95717-ECC6-429D-B33A-F5A2FB2D221F}"/>
                </a:ext>
              </a:extLst>
            </p:cNvPr>
            <p:cNvSpPr/>
            <p:nvPr/>
          </p:nvSpPr>
          <p:spPr>
            <a:xfrm>
              <a:off x="7769082" y="5094414"/>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5" name="椭圆 54">
              <a:extLst>
                <a:ext uri="{FF2B5EF4-FFF2-40B4-BE49-F238E27FC236}">
                  <a16:creationId xmlns:a16="http://schemas.microsoft.com/office/drawing/2014/main" id="{51168123-29C2-4DA6-A755-403AC59D20D9}"/>
                </a:ext>
              </a:extLst>
            </p:cNvPr>
            <p:cNvSpPr/>
            <p:nvPr/>
          </p:nvSpPr>
          <p:spPr>
            <a:xfrm>
              <a:off x="7013708" y="5299820"/>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6" name="椭圆 55">
              <a:extLst>
                <a:ext uri="{FF2B5EF4-FFF2-40B4-BE49-F238E27FC236}">
                  <a16:creationId xmlns:a16="http://schemas.microsoft.com/office/drawing/2014/main" id="{DC821EF8-988C-4553-A266-6C160A9D3203}"/>
                </a:ext>
              </a:extLst>
            </p:cNvPr>
            <p:cNvSpPr/>
            <p:nvPr/>
          </p:nvSpPr>
          <p:spPr>
            <a:xfrm>
              <a:off x="8017559" y="5522831"/>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7" name="椭圆 56">
              <a:extLst>
                <a:ext uri="{FF2B5EF4-FFF2-40B4-BE49-F238E27FC236}">
                  <a16:creationId xmlns:a16="http://schemas.microsoft.com/office/drawing/2014/main" id="{144A2BEF-12AF-4511-B1E5-7CDDD8B1830C}"/>
                </a:ext>
              </a:extLst>
            </p:cNvPr>
            <p:cNvSpPr/>
            <p:nvPr/>
          </p:nvSpPr>
          <p:spPr>
            <a:xfrm>
              <a:off x="7586864" y="5877324"/>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8" name="椭圆 57">
              <a:extLst>
                <a:ext uri="{FF2B5EF4-FFF2-40B4-BE49-F238E27FC236}">
                  <a16:creationId xmlns:a16="http://schemas.microsoft.com/office/drawing/2014/main" id="{78450D62-82C4-4478-96C3-268C25C3F7A2}"/>
                </a:ext>
              </a:extLst>
            </p:cNvPr>
            <p:cNvSpPr/>
            <p:nvPr/>
          </p:nvSpPr>
          <p:spPr>
            <a:xfrm>
              <a:off x="7457656" y="4582343"/>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cxnSp>
          <p:nvCxnSpPr>
            <p:cNvPr id="59" name="直接箭头连接符 58">
              <a:extLst>
                <a:ext uri="{FF2B5EF4-FFF2-40B4-BE49-F238E27FC236}">
                  <a16:creationId xmlns:a16="http://schemas.microsoft.com/office/drawing/2014/main" id="{86D70E16-B779-48E9-95AF-5907A069CF3A}"/>
                </a:ext>
              </a:extLst>
            </p:cNvPr>
            <p:cNvCxnSpPr>
              <a:cxnSpLocks/>
              <a:stCxn id="51" idx="6"/>
              <a:endCxn id="58" idx="2"/>
            </p:cNvCxnSpPr>
            <p:nvPr/>
          </p:nvCxnSpPr>
          <p:spPr>
            <a:xfrm flipV="1">
              <a:off x="6533316" y="4691673"/>
              <a:ext cx="924340" cy="4643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A05663BB-9B1B-4F23-AD9F-E9D741E4F65E}"/>
                </a:ext>
              </a:extLst>
            </p:cNvPr>
            <p:cNvCxnSpPr>
              <a:cxnSpLocks/>
              <a:endCxn id="56" idx="2"/>
            </p:cNvCxnSpPr>
            <p:nvPr/>
          </p:nvCxnSpPr>
          <p:spPr>
            <a:xfrm>
              <a:off x="6876219" y="4971559"/>
              <a:ext cx="1141340" cy="66060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id="{F08CFB3A-03B4-4CBD-B16F-62116F107967}"/>
                </a:ext>
              </a:extLst>
            </p:cNvPr>
            <p:cNvCxnSpPr>
              <a:cxnSpLocks/>
              <a:endCxn id="54" idx="2"/>
            </p:cNvCxnSpPr>
            <p:nvPr/>
          </p:nvCxnSpPr>
          <p:spPr>
            <a:xfrm>
              <a:off x="6894434" y="4965866"/>
              <a:ext cx="874648" cy="2378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46D8278-5120-42E6-95E7-DC369E52F0DA}"/>
                </a:ext>
              </a:extLst>
            </p:cNvPr>
            <p:cNvSpPr txBox="1"/>
            <p:nvPr/>
          </p:nvSpPr>
          <p:spPr>
            <a:xfrm>
              <a:off x="7298628" y="6275868"/>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组播</a:t>
              </a:r>
            </a:p>
          </p:txBody>
        </p:sp>
      </p:grpSp>
      <p:grpSp>
        <p:nvGrpSpPr>
          <p:cNvPr id="106" name="组合 105">
            <a:extLst>
              <a:ext uri="{FF2B5EF4-FFF2-40B4-BE49-F238E27FC236}">
                <a16:creationId xmlns:a16="http://schemas.microsoft.com/office/drawing/2014/main" id="{65110F75-912F-46EF-9427-3D66247CCF4E}"/>
              </a:ext>
            </a:extLst>
          </p:cNvPr>
          <p:cNvGrpSpPr/>
          <p:nvPr/>
        </p:nvGrpSpPr>
        <p:grpSpPr>
          <a:xfrm>
            <a:off x="9044603" y="3633302"/>
            <a:ext cx="2001076" cy="2561846"/>
            <a:chOff x="9044603" y="4070621"/>
            <a:chExt cx="2001076" cy="2561846"/>
          </a:xfrm>
        </p:grpSpPr>
        <p:sp>
          <p:nvSpPr>
            <p:cNvPr id="60" name="椭圆 59">
              <a:extLst>
                <a:ext uri="{FF2B5EF4-FFF2-40B4-BE49-F238E27FC236}">
                  <a16:creationId xmlns:a16="http://schemas.microsoft.com/office/drawing/2014/main" id="{E60C4EFF-A597-4081-A82E-5E65D24C1E55}"/>
                </a:ext>
              </a:extLst>
            </p:cNvPr>
            <p:cNvSpPr/>
            <p:nvPr/>
          </p:nvSpPr>
          <p:spPr>
            <a:xfrm>
              <a:off x="9044603" y="4923866"/>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1" name="椭圆 60">
              <a:extLst>
                <a:ext uri="{FF2B5EF4-FFF2-40B4-BE49-F238E27FC236}">
                  <a16:creationId xmlns:a16="http://schemas.microsoft.com/office/drawing/2014/main" id="{251B65C6-D270-4361-B64F-034593D03050}"/>
                </a:ext>
              </a:extLst>
            </p:cNvPr>
            <p:cNvSpPr/>
            <p:nvPr/>
          </p:nvSpPr>
          <p:spPr>
            <a:xfrm>
              <a:off x="10217421" y="4070621"/>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C00000"/>
                </a:solidFill>
              </a:endParaRPr>
            </a:p>
          </p:txBody>
        </p:sp>
        <p:sp>
          <p:nvSpPr>
            <p:cNvPr id="62" name="椭圆 61">
              <a:extLst>
                <a:ext uri="{FF2B5EF4-FFF2-40B4-BE49-F238E27FC236}">
                  <a16:creationId xmlns:a16="http://schemas.microsoft.com/office/drawing/2014/main" id="{232936B8-6D43-4D0B-86D6-A94CD5AC4288}"/>
                </a:ext>
              </a:extLst>
            </p:cNvPr>
            <p:cNvSpPr/>
            <p:nvPr/>
          </p:nvSpPr>
          <p:spPr>
            <a:xfrm>
              <a:off x="10827019" y="4477642"/>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3" name="椭圆 62">
              <a:extLst>
                <a:ext uri="{FF2B5EF4-FFF2-40B4-BE49-F238E27FC236}">
                  <a16:creationId xmlns:a16="http://schemas.microsoft.com/office/drawing/2014/main" id="{8EAAEB44-FCF5-4A7C-BB6D-25CBA9924216}"/>
                </a:ext>
              </a:extLst>
            </p:cNvPr>
            <p:cNvSpPr/>
            <p:nvPr/>
          </p:nvSpPr>
          <p:spPr>
            <a:xfrm>
              <a:off x="10499029" y="4971559"/>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4" name="椭圆 63">
              <a:extLst>
                <a:ext uri="{FF2B5EF4-FFF2-40B4-BE49-F238E27FC236}">
                  <a16:creationId xmlns:a16="http://schemas.microsoft.com/office/drawing/2014/main" id="{F4D047FF-D0BE-4C06-AB6C-973C9CFD1068}"/>
                </a:ext>
              </a:extLst>
            </p:cNvPr>
            <p:cNvSpPr/>
            <p:nvPr/>
          </p:nvSpPr>
          <p:spPr>
            <a:xfrm>
              <a:off x="9743655" y="5176965"/>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C00000"/>
                </a:solidFill>
              </a:endParaRPr>
            </a:p>
          </p:txBody>
        </p:sp>
        <p:sp>
          <p:nvSpPr>
            <p:cNvPr id="65" name="椭圆 64">
              <a:extLst>
                <a:ext uri="{FF2B5EF4-FFF2-40B4-BE49-F238E27FC236}">
                  <a16:creationId xmlns:a16="http://schemas.microsoft.com/office/drawing/2014/main" id="{13BCDD7C-7111-4459-8163-0D64A4473E48}"/>
                </a:ext>
              </a:extLst>
            </p:cNvPr>
            <p:cNvSpPr/>
            <p:nvPr/>
          </p:nvSpPr>
          <p:spPr>
            <a:xfrm>
              <a:off x="10747506" y="5399976"/>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6" name="椭圆 65">
              <a:extLst>
                <a:ext uri="{FF2B5EF4-FFF2-40B4-BE49-F238E27FC236}">
                  <a16:creationId xmlns:a16="http://schemas.microsoft.com/office/drawing/2014/main" id="{175BB733-269B-49F6-8D42-7958F254C7B6}"/>
                </a:ext>
              </a:extLst>
            </p:cNvPr>
            <p:cNvSpPr/>
            <p:nvPr/>
          </p:nvSpPr>
          <p:spPr>
            <a:xfrm>
              <a:off x="10316811" y="5754469"/>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7" name="椭圆 66">
              <a:extLst>
                <a:ext uri="{FF2B5EF4-FFF2-40B4-BE49-F238E27FC236}">
                  <a16:creationId xmlns:a16="http://schemas.microsoft.com/office/drawing/2014/main" id="{4A68B762-1B3D-46D4-9432-114729796882}"/>
                </a:ext>
              </a:extLst>
            </p:cNvPr>
            <p:cNvSpPr/>
            <p:nvPr/>
          </p:nvSpPr>
          <p:spPr>
            <a:xfrm>
              <a:off x="10187603" y="4459488"/>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C00000"/>
                </a:solidFill>
              </a:endParaRPr>
            </a:p>
          </p:txBody>
        </p:sp>
        <p:cxnSp>
          <p:nvCxnSpPr>
            <p:cNvPr id="68" name="直接箭头连接符 67">
              <a:extLst>
                <a:ext uri="{FF2B5EF4-FFF2-40B4-BE49-F238E27FC236}">
                  <a16:creationId xmlns:a16="http://schemas.microsoft.com/office/drawing/2014/main" id="{9E3324DF-B620-4F26-B813-538C4C949813}"/>
                </a:ext>
              </a:extLst>
            </p:cNvPr>
            <p:cNvCxnSpPr>
              <a:cxnSpLocks/>
              <a:stCxn id="60" idx="6"/>
              <a:endCxn id="64" idx="1"/>
            </p:cNvCxnSpPr>
            <p:nvPr/>
          </p:nvCxnSpPr>
          <p:spPr>
            <a:xfrm>
              <a:off x="9263263" y="5033196"/>
              <a:ext cx="512414" cy="17579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2" name="文本框 101">
              <a:extLst>
                <a:ext uri="{FF2B5EF4-FFF2-40B4-BE49-F238E27FC236}">
                  <a16:creationId xmlns:a16="http://schemas.microsoft.com/office/drawing/2014/main" id="{E3B01C2F-30C5-4A58-926C-97B04953AEDF}"/>
                </a:ext>
              </a:extLst>
            </p:cNvPr>
            <p:cNvSpPr txBox="1"/>
            <p:nvPr/>
          </p:nvSpPr>
          <p:spPr>
            <a:xfrm>
              <a:off x="9982199" y="6232357"/>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选播</a:t>
              </a:r>
            </a:p>
          </p:txBody>
        </p:sp>
      </p:grpSp>
      <p:sp>
        <p:nvSpPr>
          <p:cNvPr id="70" name="日期占位符 4">
            <a:extLst>
              <a:ext uri="{FF2B5EF4-FFF2-40B4-BE49-F238E27FC236}">
                <a16:creationId xmlns:a16="http://schemas.microsoft.com/office/drawing/2014/main" id="{1A9657E6-F631-4F70-8A6C-5773B94F35DC}"/>
              </a:ext>
            </a:extLst>
          </p:cNvPr>
          <p:cNvSpPr>
            <a:spLocks noGrp="1"/>
          </p:cNvSpPr>
          <p:nvPr>
            <p:ph type="dt" sz="half" idx="10"/>
          </p:nvPr>
        </p:nvSpPr>
        <p:spPr>
          <a:xfrm>
            <a:off x="197335" y="6489303"/>
            <a:ext cx="2743200" cy="365125"/>
          </a:xfrm>
        </p:spPr>
        <p:txBody>
          <a:bodyPr/>
          <a:lstStyle/>
          <a:p>
            <a:r>
              <a:rPr kumimoji="1" lang="en-US" altLang="zh-CN" dirty="0"/>
              <a:t>5.2.8 </a:t>
            </a:r>
            <a:r>
              <a:rPr kumimoji="1" lang="zh-CN" altLang="en-US" dirty="0"/>
              <a:t>选播路由</a:t>
            </a:r>
          </a:p>
        </p:txBody>
      </p:sp>
    </p:spTree>
    <p:extLst>
      <p:ext uri="{BB962C8B-B14F-4D97-AF65-F5344CB8AC3E}">
        <p14:creationId xmlns:p14="http://schemas.microsoft.com/office/powerpoint/2010/main" val="310395892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9BB00EB-2369-49D9-814E-55F3CE032353}"/>
              </a:ext>
            </a:extLst>
          </p:cNvPr>
          <p:cNvSpPr>
            <a:spLocks noGrp="1"/>
          </p:cNvSpPr>
          <p:nvPr>
            <p:ph type="title"/>
          </p:nvPr>
        </p:nvSpPr>
        <p:spPr/>
        <p:txBody>
          <a:bodyPr/>
          <a:lstStyle/>
          <a:p>
            <a:r>
              <a:rPr lang="zh-CN" altLang="en-US" dirty="0"/>
              <a:t>选播路由</a:t>
            </a:r>
          </a:p>
        </p:txBody>
      </p:sp>
      <p:sp>
        <p:nvSpPr>
          <p:cNvPr id="3" name="内容占位符 2">
            <a:extLst>
              <a:ext uri="{FF2B5EF4-FFF2-40B4-BE49-F238E27FC236}">
                <a16:creationId xmlns:a16="http://schemas.microsoft.com/office/drawing/2014/main" id="{48A950E9-0F8C-43AC-A10A-DF41D8606C9E}"/>
              </a:ext>
            </a:extLst>
          </p:cNvPr>
          <p:cNvSpPr>
            <a:spLocks noGrp="1"/>
          </p:cNvSpPr>
          <p:nvPr>
            <p:ph idx="1"/>
          </p:nvPr>
        </p:nvSpPr>
        <p:spPr>
          <a:xfrm>
            <a:off x="838200" y="1510758"/>
            <a:ext cx="10515600" cy="4982116"/>
          </a:xfrm>
        </p:spPr>
        <p:txBody>
          <a:bodyPr>
            <a:normAutofit/>
          </a:bodyPr>
          <a:lstStyle/>
          <a:p>
            <a:pPr>
              <a:lnSpc>
                <a:spcPct val="130000"/>
              </a:lnSpc>
            </a:pPr>
            <a:r>
              <a:rPr lang="zh-CN" altLang="en-US" sz="2400" dirty="0"/>
              <a:t>选播的典型应用：</a:t>
            </a:r>
            <a:r>
              <a:rPr lang="en-US" altLang="zh-CN" sz="2400" dirty="0"/>
              <a:t>DNS</a:t>
            </a:r>
          </a:p>
          <a:p>
            <a:pPr lvl="1">
              <a:lnSpc>
                <a:spcPct val="130000"/>
              </a:lnSpc>
            </a:pPr>
            <a:r>
              <a:rPr lang="zh-CN" altLang="en-US" sz="2000" dirty="0">
                <a:solidFill>
                  <a:srgbClr val="5B307E"/>
                </a:solidFill>
              </a:rPr>
              <a:t>在没有指定</a:t>
            </a:r>
            <a:r>
              <a:rPr lang="en-US" altLang="zh-CN" sz="2000" dirty="0">
                <a:solidFill>
                  <a:srgbClr val="5B307E"/>
                </a:solidFill>
              </a:rPr>
              <a:t>DNS</a:t>
            </a:r>
            <a:r>
              <a:rPr lang="zh-CN" altLang="en-US" sz="2000" dirty="0">
                <a:solidFill>
                  <a:srgbClr val="5B307E"/>
                </a:solidFill>
              </a:rPr>
              <a:t>服务器的情况下</a:t>
            </a:r>
            <a:r>
              <a:rPr lang="zh-CN" altLang="en-US" sz="2000" dirty="0"/>
              <a:t>，用户将始终连接到“</a:t>
            </a:r>
            <a:r>
              <a:rPr lang="zh-CN" altLang="en-US" sz="2000" dirty="0">
                <a:solidFill>
                  <a:srgbClr val="C00000"/>
                </a:solidFill>
              </a:rPr>
              <a:t>最接近</a:t>
            </a:r>
            <a:r>
              <a:rPr lang="zh-CN" altLang="en-US" sz="2000" dirty="0"/>
              <a:t>”</a:t>
            </a:r>
            <a:r>
              <a:rPr lang="en-US" altLang="zh-CN" sz="2000" dirty="0"/>
              <a:t>(</a:t>
            </a:r>
            <a:r>
              <a:rPr lang="zh-CN" altLang="en-US" sz="2000" dirty="0">
                <a:solidFill>
                  <a:srgbClr val="5B307E"/>
                </a:solidFill>
              </a:rPr>
              <a:t>从路由协议角度来看</a:t>
            </a:r>
            <a:r>
              <a:rPr lang="en-US" altLang="zh-CN" sz="2000" dirty="0"/>
              <a:t>) </a:t>
            </a:r>
            <a:r>
              <a:rPr lang="zh-CN" altLang="en-US" sz="2000" dirty="0"/>
              <a:t>服务器，可以减少延迟，并提供一定程度的负载平衡</a:t>
            </a:r>
            <a:endParaRPr lang="en-US" altLang="zh-CN" sz="2000" dirty="0"/>
          </a:p>
          <a:p>
            <a:pPr lvl="1">
              <a:lnSpc>
                <a:spcPct val="130000"/>
              </a:lnSpc>
            </a:pPr>
            <a:r>
              <a:rPr lang="zh-CN" altLang="en-US" sz="2000" dirty="0"/>
              <a:t>易于配置管理，不必根据服务器</a:t>
            </a:r>
            <a:r>
              <a:rPr lang="en-US" altLang="zh-CN" sz="2000" dirty="0"/>
              <a:t>/</a:t>
            </a:r>
            <a:r>
              <a:rPr lang="zh-CN" altLang="en-US" sz="2000" dirty="0"/>
              <a:t>工作站的部署位置</a:t>
            </a:r>
            <a:r>
              <a:rPr lang="en-US" altLang="zh-CN" sz="2000" dirty="0"/>
              <a:t>(</a:t>
            </a:r>
            <a:r>
              <a:rPr lang="zh-CN" altLang="en-US" sz="2000" dirty="0"/>
              <a:t>亚洲、美国、欧洲</a:t>
            </a:r>
            <a:r>
              <a:rPr lang="en-US" altLang="zh-CN" sz="2000" dirty="0"/>
              <a:t>)</a:t>
            </a:r>
            <a:r>
              <a:rPr lang="zh-CN" altLang="en-US" sz="2000" dirty="0"/>
              <a:t>配置不同的</a:t>
            </a:r>
            <a:r>
              <a:rPr lang="en-US" altLang="zh-CN" sz="2000" dirty="0"/>
              <a:t>DNS</a:t>
            </a:r>
            <a:r>
              <a:rPr lang="zh-CN" altLang="en-US" sz="2000" dirty="0"/>
              <a:t>服务器，而是在每个位置配置一个</a:t>
            </a:r>
            <a:r>
              <a:rPr lang="en-US" altLang="zh-CN" sz="2000" dirty="0"/>
              <a:t>IP</a:t>
            </a:r>
            <a:r>
              <a:rPr lang="zh-CN" altLang="en-US" sz="2000" dirty="0"/>
              <a:t>地址</a:t>
            </a:r>
            <a:endParaRPr lang="en-US" altLang="zh-CN" sz="2000" dirty="0"/>
          </a:p>
          <a:p>
            <a:pPr lvl="1">
              <a:lnSpc>
                <a:spcPct val="130000"/>
              </a:lnSpc>
            </a:pPr>
            <a:r>
              <a:rPr lang="zh-CN" altLang="en-US" sz="2000" dirty="0"/>
              <a:t>可以提供一定程度的高可用性，一旦服务器发生故障，用户请求将无缝转发到下一个最接近的</a:t>
            </a:r>
            <a:r>
              <a:rPr lang="en-US" altLang="zh-CN" sz="2000" dirty="0"/>
              <a:t>DNS</a:t>
            </a:r>
            <a:r>
              <a:rPr lang="zh-CN" altLang="en-US" sz="2000" dirty="0"/>
              <a:t>实例，而无需任何手动干预或重新配置</a:t>
            </a:r>
            <a:endParaRPr lang="en-US" altLang="zh-CN" sz="2000" dirty="0"/>
          </a:p>
          <a:p>
            <a:pPr lvl="1">
              <a:lnSpc>
                <a:spcPct val="130000"/>
              </a:lnSpc>
            </a:pPr>
            <a:r>
              <a:rPr lang="zh-CN" altLang="en-US" sz="2000" dirty="0"/>
              <a:t>可以水平缩放，如果一台服务器负载过重，只需在一个位置部署另一台服务器，以承担一部分重载服务器的请求，且不需要客户端配置</a:t>
            </a:r>
          </a:p>
        </p:txBody>
      </p:sp>
      <p:sp>
        <p:nvSpPr>
          <p:cNvPr id="4" name="灯片编号占位符 3">
            <a:extLst>
              <a:ext uri="{FF2B5EF4-FFF2-40B4-BE49-F238E27FC236}">
                <a16:creationId xmlns:a16="http://schemas.microsoft.com/office/drawing/2014/main" id="{17BAE0F3-752D-4130-886F-80077E673A9B}"/>
              </a:ext>
            </a:extLst>
          </p:cNvPr>
          <p:cNvSpPr>
            <a:spLocks noGrp="1"/>
          </p:cNvSpPr>
          <p:nvPr>
            <p:ph type="sldNum" sz="quarter" idx="12"/>
          </p:nvPr>
        </p:nvSpPr>
        <p:spPr/>
        <p:txBody>
          <a:bodyPr/>
          <a:lstStyle/>
          <a:p>
            <a:fld id="{8D4D1E41-7A09-AB4A-A4E1-09765ADA2698}" type="slidenum">
              <a:rPr kumimoji="1" lang="zh-CN" altLang="en-US" smtClean="0"/>
              <a:pPr/>
              <a:t>77</a:t>
            </a:fld>
            <a:endParaRPr kumimoji="1" lang="zh-CN" altLang="en-US" dirty="0"/>
          </a:p>
        </p:txBody>
      </p:sp>
      <p:sp>
        <p:nvSpPr>
          <p:cNvPr id="5" name="日期占位符 4">
            <a:extLst>
              <a:ext uri="{FF2B5EF4-FFF2-40B4-BE49-F238E27FC236}">
                <a16:creationId xmlns:a16="http://schemas.microsoft.com/office/drawing/2014/main" id="{F5D14389-6F3C-4825-B3D7-7CDE9BBCD6AF}"/>
              </a:ext>
            </a:extLst>
          </p:cNvPr>
          <p:cNvSpPr>
            <a:spLocks noGrp="1"/>
          </p:cNvSpPr>
          <p:nvPr>
            <p:ph type="dt" sz="half" idx="10"/>
          </p:nvPr>
        </p:nvSpPr>
        <p:spPr>
          <a:xfrm>
            <a:off x="197335" y="6489303"/>
            <a:ext cx="2743200" cy="365125"/>
          </a:xfrm>
        </p:spPr>
        <p:txBody>
          <a:bodyPr/>
          <a:lstStyle/>
          <a:p>
            <a:r>
              <a:rPr kumimoji="1" lang="en-US" altLang="zh-CN" dirty="0"/>
              <a:t>5.2.8 </a:t>
            </a:r>
            <a:r>
              <a:rPr kumimoji="1" lang="zh-CN" altLang="en-US" dirty="0"/>
              <a:t>选播路由</a:t>
            </a:r>
          </a:p>
        </p:txBody>
      </p:sp>
    </p:spTree>
    <p:extLst>
      <p:ext uri="{BB962C8B-B14F-4D97-AF65-F5344CB8AC3E}">
        <p14:creationId xmlns:p14="http://schemas.microsoft.com/office/powerpoint/2010/main" val="271583761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olidFill>
                  <a:srgbClr val="C00000"/>
                </a:solidFill>
                <a:sym typeface="+mn-ea"/>
              </a:rPr>
              <a:t>5.3</a:t>
            </a:r>
            <a:r>
              <a:rPr kumimoji="1" lang="zh-CN" altLang="en-US" dirty="0">
                <a:solidFill>
                  <a:srgbClr val="C00000"/>
                </a:solidFill>
                <a:sym typeface="+mn-ea"/>
              </a:rPr>
              <a:t> 网络层流量管理</a:t>
            </a:r>
            <a:endParaRPr kumimoji="1" lang="zh-CN" altLang="en-US" dirty="0">
              <a:solidFill>
                <a:srgbClr val="C00000"/>
              </a:solidFill>
            </a:endParaRPr>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78</a:t>
            </a:fld>
            <a:endParaRPr kumimoji="1" lang="zh-CN" altLang="en-US" dirty="0"/>
          </a:p>
        </p:txBody>
      </p:sp>
      <p:sp>
        <p:nvSpPr>
          <p:cNvPr id="7" name="矩形标注 6">
            <a:extLst>
              <a:ext uri="{FF2B5EF4-FFF2-40B4-BE49-F238E27FC236}">
                <a16:creationId xmlns:a16="http://schemas.microsoft.com/office/drawing/2014/main" id="{981187B3-3584-BA4E-A14C-4B26773516C6}"/>
              </a:ext>
            </a:extLst>
          </p:cNvPr>
          <p:cNvSpPr/>
          <p:nvPr/>
        </p:nvSpPr>
        <p:spPr>
          <a:xfrm>
            <a:off x="5650026" y="1351044"/>
            <a:ext cx="3311094" cy="5138259"/>
          </a:xfrm>
          <a:prstGeom prst="wedgeRectCallout">
            <a:avLst>
              <a:gd name="adj1" fmla="val -88575"/>
              <a:gd name="adj2" fmla="val -21283"/>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流量管理的必要性</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流量感知路由</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准入控制</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负载脱落</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流量整形</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随机早期检测</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抑制数据包</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逐跳后压</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显式拥塞通知</a:t>
            </a:r>
          </a:p>
        </p:txBody>
      </p:sp>
    </p:spTree>
    <p:extLst>
      <p:ext uri="{BB962C8B-B14F-4D97-AF65-F5344CB8AC3E}">
        <p14:creationId xmlns:p14="http://schemas.microsoft.com/office/powerpoint/2010/main" val="87245792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Grp="1" noChangeArrowheads="1"/>
          </p:cNvSpPr>
          <p:nvPr>
            <p:ph type="title"/>
          </p:nvPr>
        </p:nvSpPr>
        <p:spPr/>
        <p:txBody>
          <a:bodyPr>
            <a:normAutofit/>
          </a:bodyPr>
          <a:lstStyle/>
          <a:p>
            <a:r>
              <a:rPr kumimoji="1" lang="zh-CN" altLang="en-US" dirty="0"/>
              <a:t>流量管理的必要性：拥塞</a:t>
            </a:r>
          </a:p>
        </p:txBody>
      </p:sp>
      <p:sp>
        <p:nvSpPr>
          <p:cNvPr id="64515" name="Rectangle 3"/>
          <p:cNvSpPr>
            <a:spLocks noGrp="1" noChangeArrowheads="1"/>
          </p:cNvSpPr>
          <p:nvPr>
            <p:ph type="body" idx="1"/>
          </p:nvPr>
        </p:nvSpPr>
        <p:spPr>
          <a:xfrm>
            <a:off x="558954" y="1582097"/>
            <a:ext cx="6906664" cy="4662213"/>
          </a:xfrm>
        </p:spPr>
        <p:txBody>
          <a:bodyPr>
            <a:normAutofit lnSpcReduction="10000"/>
          </a:bodyPr>
          <a:lstStyle/>
          <a:p>
            <a:r>
              <a:rPr kumimoji="1" lang="zh-CN" altLang="en-US" sz="2400" b="1" dirty="0">
                <a:solidFill>
                  <a:srgbClr val="C00000"/>
                </a:solidFill>
              </a:rPr>
              <a:t>拥塞：</a:t>
            </a:r>
            <a:endParaRPr kumimoji="1" lang="en-US" altLang="zh-CN" sz="2400" b="1" dirty="0">
              <a:solidFill>
                <a:srgbClr val="C00000"/>
              </a:solidFill>
            </a:endParaRPr>
          </a:p>
          <a:p>
            <a:pPr marL="0" indent="0">
              <a:buNone/>
            </a:pPr>
            <a:r>
              <a:rPr kumimoji="1" lang="zh-CN" altLang="en-US" sz="2000" dirty="0"/>
              <a:t>网络中存在太多的数据包导致数据包传输延迟或丢失，从而导致网络吞吐量下降</a:t>
            </a:r>
            <a:endParaRPr kumimoji="1" lang="en-US" altLang="zh-CN" sz="2000" dirty="0"/>
          </a:p>
          <a:p>
            <a:pPr marL="0" indent="0">
              <a:buNone/>
            </a:pPr>
            <a:endParaRPr kumimoji="1" lang="en-US" altLang="zh-CN" sz="2000" b="1" dirty="0">
              <a:solidFill>
                <a:srgbClr val="C00000"/>
              </a:solidFill>
            </a:endParaRPr>
          </a:p>
          <a:p>
            <a:r>
              <a:rPr kumimoji="1" lang="zh-CN" altLang="en-US" sz="2400" b="1" dirty="0">
                <a:solidFill>
                  <a:srgbClr val="C00000"/>
                </a:solidFill>
              </a:rPr>
              <a:t>拥塞控制（</a:t>
            </a:r>
            <a:r>
              <a:rPr kumimoji="1" lang="en-US" altLang="zh-CN" sz="2400" b="1" dirty="0">
                <a:solidFill>
                  <a:srgbClr val="C00000"/>
                </a:solidFill>
              </a:rPr>
              <a:t>congestion control</a:t>
            </a:r>
            <a:r>
              <a:rPr kumimoji="1" lang="zh-CN" altLang="en-US" sz="2400" b="1" dirty="0">
                <a:solidFill>
                  <a:srgbClr val="C00000"/>
                </a:solidFill>
              </a:rPr>
              <a:t>）：</a:t>
            </a:r>
            <a:endParaRPr kumimoji="1" lang="en-US" altLang="zh-CN" sz="2400" b="1" dirty="0">
              <a:solidFill>
                <a:srgbClr val="C00000"/>
              </a:solidFill>
            </a:endParaRPr>
          </a:p>
          <a:p>
            <a:pPr marL="0" indent="0">
              <a:buNone/>
            </a:pPr>
            <a:r>
              <a:rPr kumimoji="1" lang="zh-CN" altLang="en-US" sz="2000" dirty="0"/>
              <a:t>需要确保通信子网能够承载用户提交的通信量，是一个全局性问题，涉及主机、路由器等多种因素</a:t>
            </a:r>
            <a:endParaRPr kumimoji="1" lang="en-US" altLang="zh-CN" sz="2000" dirty="0"/>
          </a:p>
          <a:p>
            <a:pPr marL="0" indent="0">
              <a:buNone/>
            </a:pPr>
            <a:endParaRPr kumimoji="1" lang="en-US" altLang="zh-CN" sz="2000" dirty="0"/>
          </a:p>
          <a:p>
            <a:r>
              <a:rPr kumimoji="1" lang="zh-CN" altLang="en-US" sz="2400" b="1" dirty="0">
                <a:solidFill>
                  <a:srgbClr val="C00000"/>
                </a:solidFill>
              </a:rPr>
              <a:t>产生拥塞的原因</a:t>
            </a:r>
            <a:r>
              <a:rPr kumimoji="1" lang="en-US" altLang="zh-CN" sz="2400" b="1" dirty="0">
                <a:solidFill>
                  <a:srgbClr val="C00000"/>
                </a:solidFill>
              </a:rPr>
              <a:t>:</a:t>
            </a:r>
            <a:endParaRPr kumimoji="1" lang="zh-CN" altLang="en-US" sz="2400" b="1" dirty="0">
              <a:solidFill>
                <a:srgbClr val="C00000"/>
              </a:solidFill>
            </a:endParaRPr>
          </a:p>
          <a:p>
            <a:pPr lvl="1"/>
            <a:r>
              <a:rPr kumimoji="1" lang="zh-CN" altLang="en-US" sz="2000" dirty="0"/>
              <a:t>主机发送到网络的数据包数量过多，超过了网络的承载能力</a:t>
            </a:r>
            <a:endParaRPr kumimoji="1" lang="en-US" altLang="zh-CN" sz="2000" dirty="0"/>
          </a:p>
          <a:p>
            <a:pPr lvl="1"/>
            <a:r>
              <a:rPr kumimoji="1" lang="zh-CN" altLang="en-US" sz="2000" dirty="0"/>
              <a:t>突发的流量填满了路由器的缓冲区，造成某些数据包会被丢弃</a:t>
            </a:r>
            <a:endParaRPr kumimoji="1" lang="en-US" altLang="zh-CN" sz="2000" b="1" dirty="0">
              <a:solidFill>
                <a:srgbClr val="C00000"/>
              </a:solidFill>
            </a:endParaRPr>
          </a:p>
        </p:txBody>
      </p:sp>
      <p:sp>
        <p:nvSpPr>
          <p:cNvPr id="4" name="Rectangle 3"/>
          <p:cNvSpPr txBox="1">
            <a:spLocks noChangeArrowheads="1"/>
          </p:cNvSpPr>
          <p:nvPr/>
        </p:nvSpPr>
        <p:spPr>
          <a:xfrm>
            <a:off x="642504" y="4697441"/>
            <a:ext cx="6739565" cy="1453977"/>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endParaRPr kumimoji="1" lang="en-US" altLang="zh-CN" sz="2000" b="1" dirty="0">
              <a:solidFill>
                <a:srgbClr val="C00000"/>
              </a:solidFill>
            </a:endParaRPr>
          </a:p>
        </p:txBody>
      </p:sp>
      <p:grpSp>
        <p:nvGrpSpPr>
          <p:cNvPr id="5" name="Group 26"/>
          <p:cNvGrpSpPr>
            <a:grpSpLocks/>
          </p:cNvGrpSpPr>
          <p:nvPr/>
        </p:nvGrpSpPr>
        <p:grpSpPr bwMode="auto">
          <a:xfrm>
            <a:off x="6594999" y="2649536"/>
            <a:ext cx="5372100" cy="3673475"/>
            <a:chOff x="816" y="1344"/>
            <a:chExt cx="3384" cy="2314"/>
          </a:xfrm>
        </p:grpSpPr>
        <p:sp>
          <p:nvSpPr>
            <p:cNvPr id="6" name="Text Box 6"/>
            <p:cNvSpPr txBox="1">
              <a:spLocks noChangeArrowheads="1"/>
            </p:cNvSpPr>
            <p:nvPr/>
          </p:nvSpPr>
          <p:spPr bwMode="auto">
            <a:xfrm>
              <a:off x="2382" y="3465"/>
              <a:ext cx="1548" cy="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b="1" dirty="0">
                  <a:solidFill>
                    <a:srgbClr val="0070C0"/>
                  </a:solidFill>
                  <a:latin typeface="Times New Roman" panose="02020603050405020304" pitchFamily="18" charset="0"/>
                  <a:ea typeface="宋体" panose="02010600030101010101" pitchFamily="2" charset="-122"/>
                </a:rPr>
                <a:t>发送的分组（负载）</a:t>
              </a:r>
              <a:endParaRPr lang="zh-CN" altLang="en-US" sz="2000" b="1" dirty="0">
                <a:solidFill>
                  <a:srgbClr val="0070C0"/>
                </a:solidFill>
                <a:ea typeface="宋体" panose="02010600030101010101" pitchFamily="2" charset="-122"/>
              </a:endParaRPr>
            </a:p>
          </p:txBody>
        </p:sp>
        <p:sp>
          <p:nvSpPr>
            <p:cNvPr id="7" name="Text Box 7"/>
            <p:cNvSpPr txBox="1">
              <a:spLocks noChangeArrowheads="1"/>
            </p:cNvSpPr>
            <p:nvPr/>
          </p:nvSpPr>
          <p:spPr bwMode="auto">
            <a:xfrm>
              <a:off x="1396" y="1704"/>
              <a:ext cx="232" cy="1100"/>
            </a:xfrm>
            <a:prstGeom prst="rect">
              <a:avLst/>
            </a:prstGeom>
            <a:solidFill>
              <a:srgbClr val="FFFFFF"/>
            </a:solidFill>
            <a:ln>
              <a:noFill/>
            </a:ln>
            <a:extLst>
              <a:ext uri="{91240B29-F687-4F45-9708-019B960494DF}">
                <a14:hiddenLine xmlns:a14="http://schemas.microsoft.com/office/drawing/2010/main" w="9525">
                  <a:solidFill>
                    <a:schemeClr val="tx1"/>
                  </a:solidFill>
                  <a:miter lim="800000"/>
                  <a:headEnd/>
                  <a:tailEnd/>
                </a14:hiddenLine>
              </a:ext>
            </a:extLst>
          </p:spPr>
          <p:txBody>
            <a:bodyPr vert="eaVert" lIns="0" tIns="0" rIns="0" bIns="0"/>
            <a:lstStyle/>
            <a:p>
              <a:pPr algn="just"/>
              <a:r>
                <a:rPr lang="zh-CN" altLang="en-US" sz="2000" b="1" dirty="0">
                  <a:solidFill>
                    <a:srgbClr val="0070C0"/>
                  </a:solidFill>
                  <a:latin typeface="Times New Roman" panose="02020603050405020304" pitchFamily="18" charset="0"/>
                  <a:ea typeface="宋体" panose="02010600030101010101" pitchFamily="2" charset="-122"/>
                </a:rPr>
                <a:t>实际吞吐量</a:t>
              </a:r>
              <a:endParaRPr lang="zh-CN" altLang="en-US" sz="2000" b="1" dirty="0">
                <a:solidFill>
                  <a:srgbClr val="0070C0"/>
                </a:solidFill>
                <a:ea typeface="宋体" panose="02010600030101010101" pitchFamily="2" charset="-122"/>
              </a:endParaRPr>
            </a:p>
          </p:txBody>
        </p:sp>
        <p:sp>
          <p:nvSpPr>
            <p:cNvPr id="8" name="Line 8"/>
            <p:cNvSpPr>
              <a:spLocks noChangeShapeType="1"/>
            </p:cNvSpPr>
            <p:nvPr/>
          </p:nvSpPr>
          <p:spPr bwMode="auto">
            <a:xfrm>
              <a:off x="816" y="3582"/>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Text Box 9"/>
            <p:cNvSpPr txBox="1">
              <a:spLocks noChangeArrowheads="1"/>
            </p:cNvSpPr>
            <p:nvPr/>
          </p:nvSpPr>
          <p:spPr bwMode="auto">
            <a:xfrm>
              <a:off x="1802" y="1469"/>
              <a:ext cx="648" cy="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dirty="0">
                  <a:latin typeface="Times New Roman" panose="02020603050405020304" pitchFamily="18" charset="0"/>
                  <a:ea typeface="宋体" panose="02010600030101010101" pitchFamily="2" charset="-122"/>
                </a:rPr>
                <a:t>网络最大传输容量</a:t>
              </a:r>
              <a:endParaRPr lang="zh-CN" altLang="en-US" sz="2000" dirty="0">
                <a:ea typeface="宋体" panose="02010600030101010101" pitchFamily="2" charset="-122"/>
              </a:endParaRPr>
            </a:p>
          </p:txBody>
        </p:sp>
        <p:sp>
          <p:nvSpPr>
            <p:cNvPr id="10" name="Text Box 10"/>
            <p:cNvSpPr txBox="1">
              <a:spLocks noChangeArrowheads="1"/>
            </p:cNvSpPr>
            <p:nvPr/>
          </p:nvSpPr>
          <p:spPr bwMode="auto">
            <a:xfrm>
              <a:off x="2903" y="1579"/>
              <a:ext cx="75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a:latin typeface="Times New Roman" panose="02020603050405020304" pitchFamily="18" charset="0"/>
                  <a:ea typeface="宋体" panose="02010600030101010101" pitchFamily="2" charset="-122"/>
                </a:rPr>
                <a:t>完美的</a:t>
              </a:r>
              <a:endParaRPr lang="zh-CN" altLang="en-US" sz="2000">
                <a:ea typeface="宋体" panose="02010600030101010101" pitchFamily="2" charset="-122"/>
              </a:endParaRPr>
            </a:p>
          </p:txBody>
        </p:sp>
        <p:sp>
          <p:nvSpPr>
            <p:cNvPr id="11" name="Text Box 11"/>
            <p:cNvSpPr txBox="1">
              <a:spLocks noChangeArrowheads="1"/>
            </p:cNvSpPr>
            <p:nvPr/>
          </p:nvSpPr>
          <p:spPr bwMode="auto">
            <a:xfrm>
              <a:off x="3312" y="2352"/>
              <a:ext cx="75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a:latin typeface="Times New Roman" panose="02020603050405020304" pitchFamily="18" charset="0"/>
                  <a:ea typeface="宋体" panose="02010600030101010101" pitchFamily="2" charset="-122"/>
                </a:rPr>
                <a:t>理想的</a:t>
              </a:r>
              <a:endParaRPr lang="zh-CN" altLang="en-US" sz="2000">
                <a:ea typeface="宋体" panose="02010600030101010101" pitchFamily="2" charset="-122"/>
              </a:endParaRPr>
            </a:p>
          </p:txBody>
        </p:sp>
        <p:sp>
          <p:nvSpPr>
            <p:cNvPr id="12" name="Text Box 12"/>
            <p:cNvSpPr txBox="1">
              <a:spLocks noChangeArrowheads="1"/>
            </p:cNvSpPr>
            <p:nvPr/>
          </p:nvSpPr>
          <p:spPr bwMode="auto">
            <a:xfrm>
              <a:off x="3504" y="2688"/>
              <a:ext cx="696"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a:latin typeface="Times New Roman" panose="02020603050405020304" pitchFamily="18" charset="0"/>
                  <a:ea typeface="宋体" panose="02010600030101010101" pitchFamily="2" charset="-122"/>
                </a:rPr>
                <a:t>拥塞的</a:t>
              </a:r>
              <a:endParaRPr lang="zh-CN" altLang="en-US" sz="2000">
                <a:ea typeface="宋体" panose="02010600030101010101" pitchFamily="2" charset="-122"/>
              </a:endParaRPr>
            </a:p>
          </p:txBody>
        </p:sp>
        <p:grpSp>
          <p:nvGrpSpPr>
            <p:cNvPr id="13" name="Group 13"/>
            <p:cNvGrpSpPr>
              <a:grpSpLocks/>
            </p:cNvGrpSpPr>
            <p:nvPr/>
          </p:nvGrpSpPr>
          <p:grpSpPr bwMode="auto">
            <a:xfrm>
              <a:off x="1686" y="1344"/>
              <a:ext cx="2435" cy="2090"/>
              <a:chOff x="2112" y="3233"/>
              <a:chExt cx="4410" cy="3097"/>
            </a:xfrm>
          </p:grpSpPr>
          <p:sp>
            <p:nvSpPr>
              <p:cNvPr id="14" name="Line 14"/>
              <p:cNvSpPr>
                <a:spLocks noChangeShapeType="1"/>
              </p:cNvSpPr>
              <p:nvPr/>
            </p:nvSpPr>
            <p:spPr bwMode="auto">
              <a:xfrm>
                <a:off x="2124" y="6330"/>
                <a:ext cx="429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5"/>
              <p:cNvSpPr>
                <a:spLocks noChangeShapeType="1"/>
              </p:cNvSpPr>
              <p:nvPr/>
            </p:nvSpPr>
            <p:spPr bwMode="auto">
              <a:xfrm flipV="1">
                <a:off x="2112" y="3233"/>
                <a:ext cx="0" cy="30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Line 16"/>
              <p:cNvSpPr>
                <a:spLocks noChangeShapeType="1"/>
              </p:cNvSpPr>
              <p:nvPr/>
            </p:nvSpPr>
            <p:spPr bwMode="auto">
              <a:xfrm flipV="1">
                <a:off x="2112" y="4211"/>
                <a:ext cx="1995" cy="21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17"/>
              <p:cNvSpPr>
                <a:spLocks noChangeShapeType="1"/>
              </p:cNvSpPr>
              <p:nvPr/>
            </p:nvSpPr>
            <p:spPr bwMode="auto">
              <a:xfrm>
                <a:off x="4107" y="4211"/>
                <a:ext cx="241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Line 18"/>
              <p:cNvSpPr>
                <a:spLocks noChangeShapeType="1"/>
              </p:cNvSpPr>
              <p:nvPr/>
            </p:nvSpPr>
            <p:spPr bwMode="auto">
              <a:xfrm flipH="1">
                <a:off x="2112" y="4211"/>
                <a:ext cx="1995"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 name="Freeform 19"/>
              <p:cNvSpPr>
                <a:spLocks/>
              </p:cNvSpPr>
              <p:nvPr/>
            </p:nvSpPr>
            <p:spPr bwMode="auto">
              <a:xfrm>
                <a:off x="3495" y="4211"/>
                <a:ext cx="2817" cy="619"/>
              </a:xfrm>
              <a:custGeom>
                <a:avLst/>
                <a:gdLst>
                  <a:gd name="T0" fmla="*/ 0 w 2817"/>
                  <a:gd name="T1" fmla="*/ 619 h 619"/>
                  <a:gd name="T2" fmla="*/ 507 w 2817"/>
                  <a:gd name="T3" fmla="*/ 326 h 619"/>
                  <a:gd name="T4" fmla="*/ 1335 w 2817"/>
                  <a:gd name="T5" fmla="*/ 124 h 619"/>
                  <a:gd name="T6" fmla="*/ 2817 w 2817"/>
                  <a:gd name="T7" fmla="*/ 0 h 619"/>
                </a:gdLst>
                <a:ahLst/>
                <a:cxnLst>
                  <a:cxn ang="0">
                    <a:pos x="T0" y="T1"/>
                  </a:cxn>
                  <a:cxn ang="0">
                    <a:pos x="T2" y="T3"/>
                  </a:cxn>
                  <a:cxn ang="0">
                    <a:pos x="T4" y="T5"/>
                  </a:cxn>
                  <a:cxn ang="0">
                    <a:pos x="T6" y="T7"/>
                  </a:cxn>
                </a:cxnLst>
                <a:rect l="0" t="0" r="r" b="b"/>
                <a:pathLst>
                  <a:path w="2817" h="619">
                    <a:moveTo>
                      <a:pt x="0" y="619"/>
                    </a:moveTo>
                    <a:cubicBezTo>
                      <a:pt x="85" y="573"/>
                      <a:pt x="284" y="409"/>
                      <a:pt x="507" y="326"/>
                    </a:cubicBezTo>
                    <a:cubicBezTo>
                      <a:pt x="730" y="243"/>
                      <a:pt x="950" y="178"/>
                      <a:pt x="1335" y="124"/>
                    </a:cubicBezTo>
                    <a:cubicBezTo>
                      <a:pt x="1720" y="70"/>
                      <a:pt x="2508" y="26"/>
                      <a:pt x="2817"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 name="Freeform 20"/>
              <p:cNvSpPr>
                <a:spLocks/>
              </p:cNvSpPr>
              <p:nvPr/>
            </p:nvSpPr>
            <p:spPr bwMode="auto">
              <a:xfrm>
                <a:off x="3195" y="4613"/>
                <a:ext cx="1647" cy="1228"/>
              </a:xfrm>
              <a:custGeom>
                <a:avLst/>
                <a:gdLst>
                  <a:gd name="T0" fmla="*/ 0 w 1647"/>
                  <a:gd name="T1" fmla="*/ 592 h 1228"/>
                  <a:gd name="T2" fmla="*/ 525 w 1647"/>
                  <a:gd name="T3" fmla="*/ 202 h 1228"/>
                  <a:gd name="T4" fmla="*/ 960 w 1647"/>
                  <a:gd name="T5" fmla="*/ 7 h 1228"/>
                  <a:gd name="T6" fmla="*/ 1500 w 1647"/>
                  <a:gd name="T7" fmla="*/ 247 h 1228"/>
                  <a:gd name="T8" fmla="*/ 1647 w 1647"/>
                  <a:gd name="T9" fmla="*/ 1228 h 1228"/>
                </a:gdLst>
                <a:ahLst/>
                <a:cxnLst>
                  <a:cxn ang="0">
                    <a:pos x="T0" y="T1"/>
                  </a:cxn>
                  <a:cxn ang="0">
                    <a:pos x="T2" y="T3"/>
                  </a:cxn>
                  <a:cxn ang="0">
                    <a:pos x="T4" y="T5"/>
                  </a:cxn>
                  <a:cxn ang="0">
                    <a:pos x="T6" y="T7"/>
                  </a:cxn>
                  <a:cxn ang="0">
                    <a:pos x="T8" y="T9"/>
                  </a:cxn>
                </a:cxnLst>
                <a:rect l="0" t="0" r="r" b="b"/>
                <a:pathLst>
                  <a:path w="1647" h="1228">
                    <a:moveTo>
                      <a:pt x="0" y="592"/>
                    </a:moveTo>
                    <a:cubicBezTo>
                      <a:pt x="87" y="527"/>
                      <a:pt x="365" y="299"/>
                      <a:pt x="525" y="202"/>
                    </a:cubicBezTo>
                    <a:cubicBezTo>
                      <a:pt x="685" y="105"/>
                      <a:pt x="798" y="0"/>
                      <a:pt x="960" y="7"/>
                    </a:cubicBezTo>
                    <a:cubicBezTo>
                      <a:pt x="1122" y="14"/>
                      <a:pt x="1386" y="44"/>
                      <a:pt x="1500" y="247"/>
                    </a:cubicBezTo>
                    <a:cubicBezTo>
                      <a:pt x="1614" y="450"/>
                      <a:pt x="1617" y="1024"/>
                      <a:pt x="1647" y="122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 name="Line 21"/>
              <p:cNvSpPr>
                <a:spLocks noChangeShapeType="1"/>
              </p:cNvSpPr>
              <p:nvPr/>
            </p:nvSpPr>
            <p:spPr bwMode="auto">
              <a:xfrm>
                <a:off x="4527" y="3885"/>
                <a:ext cx="105" cy="32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 name="Line 22"/>
              <p:cNvSpPr>
                <a:spLocks noChangeShapeType="1"/>
              </p:cNvSpPr>
              <p:nvPr/>
            </p:nvSpPr>
            <p:spPr bwMode="auto">
              <a:xfrm flipH="1" flipV="1">
                <a:off x="4842" y="4374"/>
                <a:ext cx="420" cy="32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3" name="Line 23"/>
              <p:cNvSpPr>
                <a:spLocks noChangeShapeType="1"/>
              </p:cNvSpPr>
              <p:nvPr/>
            </p:nvSpPr>
            <p:spPr bwMode="auto">
              <a:xfrm flipH="1">
                <a:off x="4842" y="5352"/>
                <a:ext cx="5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sp>
        <p:nvSpPr>
          <p:cNvPr id="3" name="灯片编号占位符 2"/>
          <p:cNvSpPr>
            <a:spLocks noGrp="1"/>
          </p:cNvSpPr>
          <p:nvPr>
            <p:ph type="sldNum" sz="quarter" idx="12"/>
          </p:nvPr>
        </p:nvSpPr>
        <p:spPr/>
        <p:txBody>
          <a:bodyPr/>
          <a:lstStyle/>
          <a:p>
            <a:fld id="{8D4D1E41-7A09-AB4A-A4E1-09765ADA2698}" type="slidenum">
              <a:rPr kumimoji="1" lang="zh-CN" altLang="en-US" smtClean="0"/>
              <a:t>79</a:t>
            </a:fld>
            <a:endParaRPr kumimoji="1" lang="zh-CN" altLang="en-US" dirty="0"/>
          </a:p>
        </p:txBody>
      </p:sp>
      <p:sp>
        <p:nvSpPr>
          <p:cNvPr id="26"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27" name="Picture 28" descr="015">
            <a:extLst>
              <a:ext uri="{FF2B5EF4-FFF2-40B4-BE49-F238E27FC236}">
                <a16:creationId xmlns:a16="http://schemas.microsoft.com/office/drawing/2014/main" id="{DB24AE23-F36B-4BAA-A25D-AC20EA70784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2604702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2"/>
          <p:cNvSpPr>
            <a:spLocks noGrp="1" noChangeArrowheads="1"/>
          </p:cNvSpPr>
          <p:nvPr>
            <p:ph type="title"/>
          </p:nvPr>
        </p:nvSpPr>
        <p:spPr/>
        <p:txBody>
          <a:bodyPr/>
          <a:lstStyle/>
          <a:p>
            <a:r>
              <a:rPr kumimoji="1" lang="zh-CN" altLang="en-US" dirty="0"/>
              <a:t>流量管理的必要性：拥塞</a:t>
            </a:r>
            <a:endParaRPr lang="zh-CN" altLang="en-US" dirty="0">
              <a:latin typeface="楷体_GB2312" pitchFamily="49" charset="-122"/>
            </a:endParaRPr>
          </a:p>
        </p:txBody>
      </p:sp>
      <p:sp>
        <p:nvSpPr>
          <p:cNvPr id="155651" name="Rectangle 3"/>
          <p:cNvSpPr>
            <a:spLocks noGrp="1" noChangeArrowheads="1"/>
          </p:cNvSpPr>
          <p:nvPr>
            <p:ph type="body" idx="1"/>
          </p:nvPr>
        </p:nvSpPr>
        <p:spPr>
          <a:xfrm>
            <a:off x="432262" y="1428749"/>
            <a:ext cx="11338560" cy="5138305"/>
          </a:xfrm>
        </p:spPr>
        <p:txBody>
          <a:bodyPr>
            <a:noAutofit/>
          </a:bodyPr>
          <a:lstStyle/>
          <a:p>
            <a:pPr>
              <a:lnSpc>
                <a:spcPct val="150000"/>
              </a:lnSpc>
            </a:pPr>
            <a:r>
              <a:rPr lang="zh-CN" altLang="en-US" b="1" dirty="0">
                <a:solidFill>
                  <a:srgbClr val="C00000"/>
                </a:solidFill>
                <a:latin typeface="楷体_GB2312" pitchFamily="49" charset="-122"/>
              </a:rPr>
              <a:t>拥塞控制的基本策略</a:t>
            </a:r>
          </a:p>
          <a:p>
            <a:pPr lvl="1">
              <a:lnSpc>
                <a:spcPct val="150000"/>
              </a:lnSpc>
            </a:pPr>
            <a:r>
              <a:rPr lang="zh-CN" altLang="en-US" b="1" dirty="0">
                <a:latin typeface="微软雅黑" panose="020B0503020204020204" pitchFamily="34" charset="-122"/>
                <a:ea typeface="微软雅黑" panose="020B0503020204020204" pitchFamily="34" charset="-122"/>
              </a:rPr>
              <a:t>开环控制</a:t>
            </a:r>
            <a:r>
              <a:rPr lang="zh-CN" altLang="en-US" dirty="0">
                <a:latin typeface="微软雅黑" panose="020B0503020204020204" pitchFamily="34" charset="-122"/>
                <a:ea typeface="微软雅黑" panose="020B0503020204020204" pitchFamily="34" charset="-122"/>
              </a:rPr>
              <a:t>----事先对通信流参数进行协商，协商后，不管网络是拥塞还是带宽充足，参数不能动态改变</a:t>
            </a:r>
            <a:endParaRPr lang="en-US" altLang="zh-CN" dirty="0">
              <a:latin typeface="微软雅黑" panose="020B0503020204020204" pitchFamily="34" charset="-122"/>
              <a:ea typeface="微软雅黑" panose="020B0503020204020204" pitchFamily="34" charset="-122"/>
            </a:endParaRPr>
          </a:p>
          <a:p>
            <a:pPr lvl="2">
              <a:lnSpc>
                <a:spcPct val="150000"/>
              </a:lnSpc>
            </a:pPr>
            <a:r>
              <a:rPr lang="zh-CN" altLang="en-US" sz="2400" dirty="0">
                <a:latin typeface="微软雅黑" panose="020B0503020204020204" pitchFamily="34" charset="-122"/>
                <a:ea typeface="微软雅黑" panose="020B0503020204020204" pitchFamily="34" charset="-122"/>
              </a:rPr>
              <a:t>开环控制属于预防性拥塞控制，它竭力使网络总是处于无拥塞状态运行。开环控制的方法包括决定什么时候接受新流量，什么时候丢弃数据包和丢弃哪些数据包。其缺点是没有考虑网络的当前状态</a:t>
            </a:r>
          </a:p>
          <a:p>
            <a:pPr lvl="1">
              <a:lnSpc>
                <a:spcPct val="150000"/>
              </a:lnSpc>
            </a:pPr>
            <a:r>
              <a:rPr lang="zh-CN" altLang="en-US" b="1" dirty="0">
                <a:latin typeface="微软雅黑" panose="020B0503020204020204" pitchFamily="34" charset="-122"/>
                <a:ea typeface="微软雅黑" panose="020B0503020204020204" pitchFamily="34" charset="-122"/>
              </a:rPr>
              <a:t>闭环控制</a:t>
            </a:r>
            <a:r>
              <a:rPr lang="zh-CN" altLang="en-US" dirty="0">
                <a:latin typeface="微软雅黑" panose="020B0503020204020204" pitchFamily="34" charset="-122"/>
                <a:ea typeface="微软雅黑" panose="020B0503020204020204" pitchFamily="34" charset="-122"/>
              </a:rPr>
              <a:t>---根据网络状态进行动态控制，包括两部分：反馈机制和控制机制。闭环控制方法分为两个子类：显式反馈与隐式反馈</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80</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7" name="Picture 28" descr="015">
            <a:extLst>
              <a:ext uri="{FF2B5EF4-FFF2-40B4-BE49-F238E27FC236}">
                <a16:creationId xmlns:a16="http://schemas.microsoft.com/office/drawing/2014/main" id="{83D89AFC-283A-487B-9A9C-B1413DA3FCD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3303381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ChangeArrowheads="1"/>
          </p:cNvSpPr>
          <p:nvPr>
            <p:ph type="title"/>
          </p:nvPr>
        </p:nvSpPr>
        <p:spPr/>
        <p:txBody>
          <a:bodyPr/>
          <a:lstStyle/>
          <a:p>
            <a:r>
              <a:rPr kumimoji="1" lang="zh-CN" altLang="en-US" dirty="0"/>
              <a:t>流量管理的必要性：拥塞</a:t>
            </a:r>
            <a:endParaRPr lang="en-US" altLang="zh-CN" dirty="0">
              <a:latin typeface="楷体_GB2312" pitchFamily="49" charset="-122"/>
            </a:endParaRPr>
          </a:p>
        </p:txBody>
      </p:sp>
      <p:sp>
        <p:nvSpPr>
          <p:cNvPr id="271384" name="Rectangle 24"/>
          <p:cNvSpPr>
            <a:spLocks noGrp="1" noChangeArrowheads="1"/>
          </p:cNvSpPr>
          <p:nvPr>
            <p:ph type="body" idx="1"/>
          </p:nvPr>
        </p:nvSpPr>
        <p:spPr>
          <a:xfrm>
            <a:off x="2287294" y="1318358"/>
            <a:ext cx="7772400" cy="4592638"/>
          </a:xfrm>
          <a:noFill/>
          <a:ln/>
        </p:spPr>
        <p:txBody>
          <a:bodyPr>
            <a:normAutofit/>
          </a:bodyPr>
          <a:lstStyle/>
          <a:p>
            <a:r>
              <a:rPr lang="zh-CN" altLang="en-US" b="1" dirty="0">
                <a:solidFill>
                  <a:srgbClr val="C00000"/>
                </a:solidFill>
              </a:rPr>
              <a:t>拥塞控制的途径</a:t>
            </a:r>
            <a:endParaRPr lang="en-US" altLang="zh-CN" b="1" dirty="0">
              <a:solidFill>
                <a:srgbClr val="C00000"/>
              </a:solidFill>
            </a:endParaRPr>
          </a:p>
          <a:p>
            <a:pPr lvl="1"/>
            <a:r>
              <a:rPr lang="zh-CN" altLang="en-US" dirty="0"/>
              <a:t>提高网络供给</a:t>
            </a:r>
          </a:p>
          <a:p>
            <a:pPr lvl="1"/>
            <a:r>
              <a:rPr lang="zh-CN" altLang="en-US" dirty="0"/>
              <a:t>流量感知路由</a:t>
            </a:r>
          </a:p>
          <a:p>
            <a:pPr lvl="1"/>
            <a:r>
              <a:rPr lang="zh-CN" altLang="en-US" dirty="0"/>
              <a:t>准入控制</a:t>
            </a:r>
          </a:p>
          <a:p>
            <a:pPr lvl="1"/>
            <a:r>
              <a:rPr lang="zh-CN" altLang="en-US" dirty="0"/>
              <a:t>流量调节</a:t>
            </a:r>
            <a:endParaRPr lang="en-US" altLang="zh-CN" dirty="0"/>
          </a:p>
          <a:p>
            <a:pPr lvl="1"/>
            <a:r>
              <a:rPr lang="zh-CN" altLang="en-US" dirty="0"/>
              <a:t>负载丢弃</a:t>
            </a:r>
          </a:p>
          <a:p>
            <a:pPr marL="0" indent="0">
              <a:buNone/>
            </a:pPr>
            <a:endParaRPr lang="zh-CN" altLang="en-US" b="1" dirty="0">
              <a:solidFill>
                <a:srgbClr val="C00000"/>
              </a:solidFill>
            </a:endParaRPr>
          </a:p>
        </p:txBody>
      </p:sp>
      <p:pic>
        <p:nvPicPr>
          <p:cNvPr id="1028" name="Picture 4" descr="https://img2018.cnblogs.com/blog/1734701/201911/1734701-20191120154839911-1319282424.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0900" y="4144082"/>
            <a:ext cx="10479181" cy="2625782"/>
          </a:xfrm>
          <a:prstGeom prst="rect">
            <a:avLst/>
          </a:prstGeom>
          <a:noFill/>
          <a:extLst>
            <a:ext uri="{909E8E84-426E-40DD-AFC4-6F175D3DCCD1}">
              <a14:hiddenFill xmlns:a14="http://schemas.microsoft.com/office/drawing/2010/main">
                <a:solidFill>
                  <a:srgbClr val="FFFFFF"/>
                </a:solidFill>
              </a14:hiddenFill>
            </a:ext>
          </a:extLst>
        </p:spPr>
      </p:pic>
      <p:sp>
        <p:nvSpPr>
          <p:cNvPr id="3" name="灯片编号占位符 2"/>
          <p:cNvSpPr>
            <a:spLocks noGrp="1"/>
          </p:cNvSpPr>
          <p:nvPr>
            <p:ph type="sldNum" sz="quarter" idx="12"/>
          </p:nvPr>
        </p:nvSpPr>
        <p:spPr/>
        <p:txBody>
          <a:bodyPr/>
          <a:lstStyle/>
          <a:p>
            <a:fld id="{8D4D1E41-7A09-AB4A-A4E1-09765ADA2698}" type="slidenum">
              <a:rPr kumimoji="1" lang="zh-CN" altLang="en-US" smtClean="0"/>
              <a:t>81</a:t>
            </a:fld>
            <a:endParaRPr kumimoji="1" lang="zh-CN" altLang="en-US" dirty="0"/>
          </a:p>
        </p:txBody>
      </p:sp>
      <p:sp>
        <p:nvSpPr>
          <p:cNvPr id="7"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163611492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3061453" y="3342870"/>
            <a:ext cx="6807588" cy="3234731"/>
          </a:xfrm>
          <a:prstGeom prst="rect">
            <a:avLst/>
          </a:prstGeom>
        </p:spPr>
      </p:pic>
      <p:sp>
        <p:nvSpPr>
          <p:cNvPr id="313346" name="Rectangle 2"/>
          <p:cNvSpPr>
            <a:spLocks noGrp="1" noChangeArrowheads="1"/>
          </p:cNvSpPr>
          <p:nvPr>
            <p:ph type="title"/>
          </p:nvPr>
        </p:nvSpPr>
        <p:spPr/>
        <p:txBody>
          <a:bodyPr/>
          <a:lstStyle/>
          <a:p>
            <a:r>
              <a:rPr kumimoji="1" lang="zh-CN" altLang="en-US" dirty="0"/>
              <a:t>流量感知路由</a:t>
            </a:r>
            <a:endParaRPr lang="zh-CN" altLang="en-US" dirty="0"/>
          </a:p>
        </p:txBody>
      </p:sp>
      <p:sp>
        <p:nvSpPr>
          <p:cNvPr id="313347" name="Rectangle 3"/>
          <p:cNvSpPr>
            <a:spLocks noGrp="1" noChangeArrowheads="1"/>
          </p:cNvSpPr>
          <p:nvPr>
            <p:ph type="body" idx="1"/>
          </p:nvPr>
        </p:nvSpPr>
        <p:spPr>
          <a:xfrm>
            <a:off x="1170887" y="1520328"/>
            <a:ext cx="10604246" cy="4391293"/>
          </a:xfrm>
        </p:spPr>
        <p:txBody>
          <a:bodyPr/>
          <a:lstStyle/>
          <a:p>
            <a:pPr>
              <a:lnSpc>
                <a:spcPct val="150000"/>
              </a:lnSpc>
            </a:pPr>
            <a:r>
              <a:rPr lang="zh-CN" altLang="en-US" sz="2400" dirty="0"/>
              <a:t>绕开热门的区域，疏散流量</a:t>
            </a:r>
            <a:endParaRPr lang="en-US" altLang="zh-CN" sz="2400" dirty="0"/>
          </a:p>
          <a:p>
            <a:pPr>
              <a:lnSpc>
                <a:spcPct val="150000"/>
              </a:lnSpc>
            </a:pPr>
            <a:r>
              <a:rPr lang="zh-CN" altLang="en-US" sz="2400" dirty="0"/>
              <a:t>计算路径权重时包含跳数、带宽、传输延迟、负载、平均排队延迟等参数</a:t>
            </a:r>
          </a:p>
          <a:p>
            <a:pPr>
              <a:lnSpc>
                <a:spcPct val="150000"/>
              </a:lnSpc>
            </a:pPr>
            <a:r>
              <a:rPr lang="zh-CN" altLang="en-US" sz="2400" dirty="0"/>
              <a:t>路由表可能会出现反复变化，从而导致不稳定的路由</a:t>
            </a:r>
            <a:endParaRPr lang="en-US" altLang="zh-CN" sz="2400" dirty="0"/>
          </a:p>
          <a:p>
            <a:pPr>
              <a:lnSpc>
                <a:spcPct val="150000"/>
              </a:lnSpc>
            </a:pPr>
            <a:endParaRPr lang="en-US" altLang="zh-CN" dirty="0"/>
          </a:p>
        </p:txBody>
      </p:sp>
      <p:cxnSp>
        <p:nvCxnSpPr>
          <p:cNvPr id="4" name="直接箭头连接符 3"/>
          <p:cNvCxnSpPr/>
          <p:nvPr/>
        </p:nvCxnSpPr>
        <p:spPr>
          <a:xfrm>
            <a:off x="5893912" y="4083153"/>
            <a:ext cx="1187838" cy="72000"/>
          </a:xfrm>
          <a:prstGeom prst="straightConnector1">
            <a:avLst/>
          </a:prstGeom>
          <a:ln w="69850">
            <a:tailEnd type="triangle"/>
          </a:ln>
        </p:spPr>
        <p:style>
          <a:lnRef idx="3">
            <a:schemeClr val="accent2"/>
          </a:lnRef>
          <a:fillRef idx="0">
            <a:schemeClr val="accent2"/>
          </a:fillRef>
          <a:effectRef idx="2">
            <a:schemeClr val="accent2"/>
          </a:effectRef>
          <a:fontRef idx="minor">
            <a:schemeClr val="tx1"/>
          </a:fontRef>
        </p:style>
      </p:cxnSp>
      <p:cxnSp>
        <p:nvCxnSpPr>
          <p:cNvPr id="6" name="直接箭头连接符 5"/>
          <p:cNvCxnSpPr/>
          <p:nvPr/>
        </p:nvCxnSpPr>
        <p:spPr>
          <a:xfrm>
            <a:off x="5658880" y="5769802"/>
            <a:ext cx="1187838" cy="189187"/>
          </a:xfrm>
          <a:prstGeom prst="straightConnector1">
            <a:avLst/>
          </a:prstGeom>
          <a:ln w="31750">
            <a:tailEnd type="triangle"/>
          </a:ln>
        </p:spPr>
        <p:style>
          <a:lnRef idx="1">
            <a:schemeClr val="accent1"/>
          </a:lnRef>
          <a:fillRef idx="0">
            <a:schemeClr val="accent1"/>
          </a:fillRef>
          <a:effectRef idx="0">
            <a:schemeClr val="accent1"/>
          </a:effectRef>
          <a:fontRef idx="minor">
            <a:schemeClr val="tx1"/>
          </a:fontRef>
        </p:style>
      </p:cxnSp>
      <p:sp>
        <p:nvSpPr>
          <p:cNvPr id="5" name="灯片编号占位符 4"/>
          <p:cNvSpPr>
            <a:spLocks noGrp="1"/>
          </p:cNvSpPr>
          <p:nvPr>
            <p:ph type="sldNum" sz="quarter" idx="12"/>
          </p:nvPr>
        </p:nvSpPr>
        <p:spPr/>
        <p:txBody>
          <a:bodyPr/>
          <a:lstStyle/>
          <a:p>
            <a:fld id="{8D4D1E41-7A09-AB4A-A4E1-09765ADA2698}" type="slidenum">
              <a:rPr kumimoji="1" lang="zh-CN" altLang="en-US" smtClean="0"/>
              <a:t>82</a:t>
            </a:fld>
            <a:endParaRPr kumimoji="1" lang="zh-CN" altLang="en-US" dirty="0"/>
          </a:p>
        </p:txBody>
      </p:sp>
      <p:sp>
        <p:nvSpPr>
          <p:cNvPr id="9"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150179288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p:txBody>
          <a:bodyPr/>
          <a:lstStyle/>
          <a:p>
            <a:r>
              <a:rPr kumimoji="1" lang="zh-CN" altLang="en-US" dirty="0"/>
              <a:t>准入控制（预防式）</a:t>
            </a:r>
            <a:endParaRPr lang="zh-CN" altLang="en-US" dirty="0"/>
          </a:p>
        </p:txBody>
      </p:sp>
      <p:sp>
        <p:nvSpPr>
          <p:cNvPr id="313347" name="Rectangle 3"/>
          <p:cNvSpPr>
            <a:spLocks noGrp="1" noChangeArrowheads="1"/>
          </p:cNvSpPr>
          <p:nvPr>
            <p:ph type="body" idx="1"/>
          </p:nvPr>
        </p:nvSpPr>
        <p:spPr>
          <a:xfrm>
            <a:off x="1170887" y="1520328"/>
            <a:ext cx="10604246" cy="4391293"/>
          </a:xfrm>
        </p:spPr>
        <p:txBody>
          <a:bodyPr>
            <a:normAutofit/>
          </a:bodyPr>
          <a:lstStyle/>
          <a:p>
            <a:pPr lvl="0"/>
            <a:r>
              <a:rPr lang="zh-CN" altLang="zh-CN" dirty="0">
                <a:solidFill>
                  <a:srgbClr val="C00000"/>
                </a:solidFill>
              </a:rPr>
              <a:t>设计思想</a:t>
            </a:r>
            <a:r>
              <a:rPr lang="zh-CN" altLang="en-US" dirty="0">
                <a:solidFill>
                  <a:prstClr val="black"/>
                </a:solidFill>
              </a:rPr>
              <a:t>：</a:t>
            </a:r>
            <a:r>
              <a:rPr lang="zh-CN" altLang="zh-CN" dirty="0">
                <a:solidFill>
                  <a:srgbClr val="FF0000"/>
                </a:solidFill>
              </a:rPr>
              <a:t>开环控制</a:t>
            </a:r>
            <a:r>
              <a:rPr lang="zh-CN" altLang="zh-CN" dirty="0">
                <a:solidFill>
                  <a:prstClr val="black"/>
                </a:solidFill>
              </a:rPr>
              <a:t>，对产生拥塞的条件进行适当控制，不让其出现。</a:t>
            </a:r>
            <a:endParaRPr lang="en-US" altLang="zh-CN" dirty="0">
              <a:solidFill>
                <a:prstClr val="black"/>
              </a:solidFill>
            </a:endParaRPr>
          </a:p>
          <a:p>
            <a:pPr marL="0" lvl="0" indent="0">
              <a:spcBef>
                <a:spcPts val="1200"/>
              </a:spcBef>
              <a:buNone/>
            </a:pPr>
            <a:r>
              <a:rPr lang="zh-CN" altLang="en-US" dirty="0">
                <a:solidFill>
                  <a:srgbClr val="7030A0"/>
                </a:solidFill>
              </a:rPr>
              <a:t>（</a:t>
            </a:r>
            <a:r>
              <a:rPr lang="en-US" altLang="zh-CN" dirty="0">
                <a:solidFill>
                  <a:srgbClr val="7030A0"/>
                </a:solidFill>
              </a:rPr>
              <a:t>1</a:t>
            </a:r>
            <a:r>
              <a:rPr lang="zh-CN" altLang="en-US" dirty="0">
                <a:solidFill>
                  <a:srgbClr val="7030A0"/>
                </a:solidFill>
              </a:rPr>
              <a:t>）</a:t>
            </a:r>
            <a:r>
              <a:rPr lang="zh-CN" altLang="zh-CN" dirty="0">
                <a:solidFill>
                  <a:srgbClr val="7030A0"/>
                </a:solidFill>
              </a:rPr>
              <a:t>资源预留类方法</a:t>
            </a:r>
            <a:endParaRPr lang="en-US" altLang="zh-CN" dirty="0">
              <a:solidFill>
                <a:srgbClr val="7030A0"/>
              </a:solidFill>
            </a:endParaRPr>
          </a:p>
          <a:p>
            <a:pPr marL="471488" lvl="0" indent="0">
              <a:spcBef>
                <a:spcPts val="1200"/>
              </a:spcBef>
              <a:buNone/>
            </a:pPr>
            <a:r>
              <a:rPr lang="zh-CN" altLang="en-US" dirty="0">
                <a:solidFill>
                  <a:prstClr val="black"/>
                </a:solidFill>
              </a:rPr>
              <a:t>例如：</a:t>
            </a:r>
            <a:r>
              <a:rPr lang="zh-CN" altLang="zh-CN" dirty="0">
                <a:solidFill>
                  <a:prstClr val="black"/>
                </a:solidFill>
              </a:rPr>
              <a:t>预定缓冲区法</a:t>
            </a:r>
            <a:r>
              <a:rPr lang="en-US" altLang="zh-CN" dirty="0">
                <a:solidFill>
                  <a:prstClr val="black"/>
                </a:solidFill>
              </a:rPr>
              <a:t>——</a:t>
            </a:r>
            <a:r>
              <a:rPr lang="zh-CN" altLang="zh-CN" dirty="0">
                <a:solidFill>
                  <a:prstClr val="black"/>
                </a:solidFill>
              </a:rPr>
              <a:t>适用于虚电路子网</a:t>
            </a:r>
            <a:endParaRPr lang="en-US" altLang="zh-CN" dirty="0">
              <a:solidFill>
                <a:prstClr val="black"/>
              </a:solidFill>
            </a:endParaRPr>
          </a:p>
          <a:p>
            <a:pPr marL="471488" lvl="0" indent="0">
              <a:spcBef>
                <a:spcPts val="1200"/>
              </a:spcBef>
              <a:buNone/>
            </a:pPr>
            <a:r>
              <a:rPr lang="zh-CN" altLang="en-US" dirty="0">
                <a:solidFill>
                  <a:prstClr val="black"/>
                </a:solidFill>
              </a:rPr>
              <a:t>建立虚电路时预留所需要的缓冲区。</a:t>
            </a:r>
            <a:endParaRPr lang="en-US" altLang="zh-CN" dirty="0">
              <a:solidFill>
                <a:prstClr val="black"/>
              </a:solidFill>
            </a:endParaRPr>
          </a:p>
          <a:p>
            <a:pPr marL="471488" lvl="0" indent="0">
              <a:spcBef>
                <a:spcPts val="1200"/>
              </a:spcBef>
              <a:buNone/>
            </a:pPr>
            <a:endParaRPr lang="en-US" altLang="zh-CN" dirty="0">
              <a:solidFill>
                <a:prstClr val="black"/>
              </a:solidFill>
            </a:endParaRPr>
          </a:p>
          <a:p>
            <a:pPr>
              <a:lnSpc>
                <a:spcPct val="150000"/>
              </a:lnSpc>
            </a:pPr>
            <a:endParaRPr lang="en-US" altLang="zh-CN"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83</a:t>
            </a:fld>
            <a:endParaRPr kumimoji="1" lang="zh-CN" altLang="en-US" dirty="0"/>
          </a:p>
        </p:txBody>
      </p:sp>
      <p:sp>
        <p:nvSpPr>
          <p:cNvPr id="9"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30485436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p:txBody>
          <a:bodyPr/>
          <a:lstStyle/>
          <a:p>
            <a:r>
              <a:rPr kumimoji="1" lang="zh-CN" altLang="en-US" dirty="0"/>
              <a:t>准入控制（预防式）</a:t>
            </a:r>
            <a:endParaRPr lang="zh-CN" altLang="en-US" dirty="0"/>
          </a:p>
        </p:txBody>
      </p:sp>
      <p:sp>
        <p:nvSpPr>
          <p:cNvPr id="313347" name="Rectangle 3"/>
          <p:cNvSpPr>
            <a:spLocks noGrp="1" noChangeArrowheads="1"/>
          </p:cNvSpPr>
          <p:nvPr>
            <p:ph type="body" idx="1"/>
          </p:nvPr>
        </p:nvSpPr>
        <p:spPr>
          <a:xfrm>
            <a:off x="1170887" y="1520328"/>
            <a:ext cx="10604246" cy="4391293"/>
          </a:xfrm>
        </p:spPr>
        <p:txBody>
          <a:bodyPr>
            <a:normAutofit fontScale="85000" lnSpcReduction="10000"/>
          </a:bodyPr>
          <a:lstStyle/>
          <a:p>
            <a:pPr lvl="0"/>
            <a:r>
              <a:rPr lang="zh-CN" altLang="zh-CN" dirty="0">
                <a:solidFill>
                  <a:srgbClr val="FF0000"/>
                </a:solidFill>
              </a:rPr>
              <a:t>设计思想</a:t>
            </a:r>
            <a:r>
              <a:rPr lang="zh-CN" altLang="en-US" dirty="0">
                <a:solidFill>
                  <a:prstClr val="black"/>
                </a:solidFill>
              </a:rPr>
              <a:t>：</a:t>
            </a:r>
            <a:r>
              <a:rPr lang="zh-CN" altLang="zh-CN" dirty="0">
                <a:solidFill>
                  <a:srgbClr val="FF0000"/>
                </a:solidFill>
              </a:rPr>
              <a:t>开环控制</a:t>
            </a:r>
            <a:r>
              <a:rPr lang="zh-CN" altLang="zh-CN" dirty="0">
                <a:solidFill>
                  <a:prstClr val="black"/>
                </a:solidFill>
              </a:rPr>
              <a:t>，对产生拥塞的条件进行适当控制，不让其出现。</a:t>
            </a:r>
            <a:endParaRPr lang="en-US" altLang="zh-CN" dirty="0">
              <a:solidFill>
                <a:prstClr val="black"/>
              </a:solidFill>
            </a:endParaRPr>
          </a:p>
          <a:p>
            <a:pPr marL="0" lvl="0" indent="0">
              <a:spcBef>
                <a:spcPts val="1200"/>
              </a:spcBef>
              <a:buNone/>
            </a:pPr>
            <a:r>
              <a:rPr lang="zh-CN" altLang="en-US" sz="3300" dirty="0">
                <a:solidFill>
                  <a:srgbClr val="7030A0"/>
                </a:solidFill>
              </a:rPr>
              <a:t>（</a:t>
            </a:r>
            <a:r>
              <a:rPr lang="en-US" altLang="zh-CN" sz="3300" dirty="0">
                <a:solidFill>
                  <a:srgbClr val="7030A0"/>
                </a:solidFill>
              </a:rPr>
              <a:t>2</a:t>
            </a:r>
            <a:r>
              <a:rPr lang="zh-CN" altLang="en-US" sz="3300" dirty="0">
                <a:solidFill>
                  <a:srgbClr val="7030A0"/>
                </a:solidFill>
              </a:rPr>
              <a:t>）</a:t>
            </a:r>
            <a:r>
              <a:rPr lang="zh-CN" altLang="zh-CN" sz="3300" dirty="0">
                <a:solidFill>
                  <a:srgbClr val="7030A0"/>
                </a:solidFill>
              </a:rPr>
              <a:t>许可证方法</a:t>
            </a:r>
            <a:r>
              <a:rPr lang="zh-CN" altLang="en-US" sz="3300" dirty="0">
                <a:solidFill>
                  <a:prstClr val="black"/>
                </a:solidFill>
              </a:rPr>
              <a:t>：</a:t>
            </a:r>
            <a:r>
              <a:rPr lang="zh-CN" altLang="zh-CN" sz="3300" dirty="0">
                <a:solidFill>
                  <a:prstClr val="black"/>
                </a:solidFill>
              </a:rPr>
              <a:t>限制网内包的总数</a:t>
            </a:r>
            <a:endParaRPr lang="en-US" altLang="zh-CN" sz="3300" dirty="0">
              <a:solidFill>
                <a:prstClr val="black"/>
              </a:solidFill>
            </a:endParaRPr>
          </a:p>
          <a:p>
            <a:pPr marL="361950" lvl="0" indent="-361950" algn="just"/>
            <a:r>
              <a:rPr lang="zh-CN" altLang="zh-CN" kern="100" dirty="0">
                <a:solidFill>
                  <a:srgbClr val="0070C0"/>
                </a:solidFill>
              </a:rPr>
              <a:t>基本思想</a:t>
            </a:r>
            <a:r>
              <a:rPr lang="zh-CN" altLang="en-US" kern="100" dirty="0">
                <a:solidFill>
                  <a:prstClr val="black"/>
                </a:solidFill>
              </a:rPr>
              <a:t>：</a:t>
            </a:r>
            <a:r>
              <a:rPr lang="zh-CN" altLang="zh-CN" kern="100" dirty="0">
                <a:solidFill>
                  <a:prstClr val="black"/>
                </a:solidFill>
              </a:rPr>
              <a:t>通过限制网内包的总数来避免拥塞。</a:t>
            </a:r>
            <a:endParaRPr lang="en-US" altLang="zh-CN" kern="100" dirty="0">
              <a:solidFill>
                <a:prstClr val="black"/>
              </a:solidFill>
            </a:endParaRPr>
          </a:p>
          <a:p>
            <a:pPr marL="361950" lvl="0" indent="-361950" algn="just"/>
            <a:r>
              <a:rPr lang="zh-CN" altLang="en-US" kern="100" dirty="0">
                <a:solidFill>
                  <a:srgbClr val="0070C0"/>
                </a:solidFill>
              </a:rPr>
              <a:t>方法</a:t>
            </a:r>
            <a:r>
              <a:rPr lang="zh-CN" altLang="en-US" kern="100" dirty="0">
                <a:solidFill>
                  <a:prstClr val="black"/>
                </a:solidFill>
              </a:rPr>
              <a:t>：</a:t>
            </a:r>
            <a:r>
              <a:rPr lang="zh-CN" altLang="zh-CN" kern="100" dirty="0">
                <a:solidFill>
                  <a:prstClr val="black"/>
                </a:solidFill>
              </a:rPr>
              <a:t>发放许可证，只有得到许可证的节点才能发送包。得到许可证后，可用许可证数减</a:t>
            </a:r>
            <a:r>
              <a:rPr lang="en-US" altLang="zh-CN" kern="100" dirty="0">
                <a:solidFill>
                  <a:prstClr val="black"/>
                </a:solidFill>
              </a:rPr>
              <a:t>1</a:t>
            </a:r>
            <a:r>
              <a:rPr lang="zh-CN" altLang="zh-CN" kern="100" dirty="0">
                <a:solidFill>
                  <a:prstClr val="black"/>
                </a:solidFill>
              </a:rPr>
              <a:t>，包到达目的地后归还许可证，可用许可证数加</a:t>
            </a:r>
            <a:r>
              <a:rPr lang="en-US" altLang="zh-CN" kern="100" dirty="0">
                <a:solidFill>
                  <a:prstClr val="black"/>
                </a:solidFill>
              </a:rPr>
              <a:t>1</a:t>
            </a:r>
            <a:r>
              <a:rPr lang="zh-CN" altLang="zh-CN" kern="100" dirty="0">
                <a:solidFill>
                  <a:prstClr val="black"/>
                </a:solidFill>
              </a:rPr>
              <a:t>。</a:t>
            </a:r>
            <a:endParaRPr lang="en-US" altLang="zh-CN" kern="100" dirty="0">
              <a:solidFill>
                <a:prstClr val="black"/>
              </a:solidFill>
            </a:endParaRPr>
          </a:p>
          <a:p>
            <a:pPr marL="0" lvl="0" indent="265113" algn="just"/>
            <a:r>
              <a:rPr lang="zh-CN" altLang="zh-CN" kern="100" dirty="0">
                <a:solidFill>
                  <a:srgbClr val="0070C0"/>
                </a:solidFill>
              </a:rPr>
              <a:t>问题</a:t>
            </a:r>
            <a:r>
              <a:rPr lang="zh-CN" altLang="zh-CN" kern="100" dirty="0">
                <a:solidFill>
                  <a:prstClr val="black"/>
                </a:solidFill>
              </a:rPr>
              <a:t>： </a:t>
            </a:r>
          </a:p>
          <a:p>
            <a:pPr marL="0" lvl="0" indent="265113" algn="just">
              <a:buNone/>
            </a:pPr>
            <a:r>
              <a:rPr lang="zh-CN" altLang="en-US" kern="100" dirty="0">
                <a:solidFill>
                  <a:prstClr val="black"/>
                </a:solidFill>
              </a:rPr>
              <a:t>①</a:t>
            </a:r>
            <a:r>
              <a:rPr lang="zh-CN" altLang="zh-CN" kern="100" dirty="0">
                <a:solidFill>
                  <a:prstClr val="black"/>
                </a:solidFill>
              </a:rPr>
              <a:t>能消除局部拥塞</a:t>
            </a:r>
          </a:p>
          <a:p>
            <a:pPr marL="0" lvl="0" indent="265113" algn="just">
              <a:buNone/>
            </a:pPr>
            <a:r>
              <a:rPr lang="zh-CN" altLang="en-US" kern="100" dirty="0">
                <a:solidFill>
                  <a:prstClr val="black"/>
                </a:solidFill>
              </a:rPr>
              <a:t>②</a:t>
            </a:r>
            <a:r>
              <a:rPr lang="zh-CN" altLang="zh-CN" kern="100" dirty="0">
                <a:solidFill>
                  <a:prstClr val="black"/>
                </a:solidFill>
              </a:rPr>
              <a:t>软硬件故障会导致许可证减少</a:t>
            </a:r>
          </a:p>
          <a:p>
            <a:pPr marL="0" lvl="0" indent="265113" algn="just">
              <a:buNone/>
            </a:pPr>
            <a:r>
              <a:rPr lang="zh-CN" altLang="en-US" kern="100" dirty="0">
                <a:solidFill>
                  <a:prstClr val="black"/>
                </a:solidFill>
              </a:rPr>
              <a:t>③</a:t>
            </a:r>
            <a:r>
              <a:rPr lang="zh-CN" altLang="zh-CN" kern="100" dirty="0">
                <a:solidFill>
                  <a:prstClr val="black"/>
                </a:solidFill>
              </a:rPr>
              <a:t>许可证数量、分布规则、发放规则可能导致拥塞</a:t>
            </a:r>
          </a:p>
          <a:p>
            <a:pPr marL="0" lvl="0" indent="265113" algn="just"/>
            <a:r>
              <a:rPr lang="zh-CN" altLang="zh-CN" kern="100" dirty="0">
                <a:solidFill>
                  <a:srgbClr val="0070C0"/>
                </a:solidFill>
              </a:rPr>
              <a:t>经验</a:t>
            </a:r>
            <a:r>
              <a:rPr lang="zh-CN" altLang="en-US" kern="100" dirty="0">
                <a:solidFill>
                  <a:prstClr val="black"/>
                </a:solidFill>
              </a:rPr>
              <a:t>：</a:t>
            </a:r>
            <a:r>
              <a:rPr lang="en-US" altLang="zh-CN" kern="100" dirty="0">
                <a:solidFill>
                  <a:prstClr val="black"/>
                </a:solidFill>
              </a:rPr>
              <a:t>N</a:t>
            </a:r>
            <a:r>
              <a:rPr lang="zh-CN" altLang="zh-CN" kern="100" dirty="0">
                <a:solidFill>
                  <a:prstClr val="black"/>
                </a:solidFill>
              </a:rPr>
              <a:t>个节点的网络，初始时每个节点有</a:t>
            </a:r>
            <a:r>
              <a:rPr lang="en-US" altLang="zh-CN" kern="100" dirty="0">
                <a:solidFill>
                  <a:prstClr val="black"/>
                </a:solidFill>
              </a:rPr>
              <a:t>3</a:t>
            </a:r>
            <a:r>
              <a:rPr lang="zh-CN" altLang="zh-CN" kern="100" dirty="0">
                <a:solidFill>
                  <a:prstClr val="black"/>
                </a:solidFill>
              </a:rPr>
              <a:t>个许可证</a:t>
            </a:r>
            <a:r>
              <a:rPr lang="zh-CN" altLang="en-US" kern="100" dirty="0">
                <a:solidFill>
                  <a:prstClr val="black"/>
                </a:solidFill>
              </a:rPr>
              <a:t>（总数</a:t>
            </a:r>
            <a:r>
              <a:rPr lang="en-US" altLang="zh-CN" kern="100" dirty="0">
                <a:solidFill>
                  <a:prstClr val="black"/>
                </a:solidFill>
              </a:rPr>
              <a:t>3N</a:t>
            </a:r>
            <a:r>
              <a:rPr lang="zh-CN" altLang="en-US" kern="100" dirty="0">
                <a:solidFill>
                  <a:prstClr val="black"/>
                </a:solidFill>
              </a:rPr>
              <a:t>）</a:t>
            </a:r>
            <a:r>
              <a:rPr lang="en-US" altLang="zh-CN" kern="100" dirty="0">
                <a:solidFill>
                  <a:prstClr val="black"/>
                </a:solidFill>
              </a:rPr>
              <a:t>,</a:t>
            </a:r>
            <a:r>
              <a:rPr lang="zh-CN" altLang="en-US" kern="100" dirty="0">
                <a:solidFill>
                  <a:prstClr val="black"/>
                </a:solidFill>
              </a:rPr>
              <a:t>性能较好</a:t>
            </a:r>
            <a:endParaRPr lang="zh-CN" altLang="en-US" sz="4000" dirty="0">
              <a:solidFill>
                <a:prstClr val="black"/>
              </a:solidFill>
            </a:endParaRPr>
          </a:p>
          <a:p>
            <a:pPr marL="471488" lvl="0" indent="0">
              <a:spcBef>
                <a:spcPts val="1200"/>
              </a:spcBef>
              <a:buNone/>
            </a:pPr>
            <a:endParaRPr lang="en-US" altLang="zh-CN" dirty="0">
              <a:solidFill>
                <a:prstClr val="black"/>
              </a:solidFill>
            </a:endParaRPr>
          </a:p>
          <a:p>
            <a:pPr>
              <a:lnSpc>
                <a:spcPct val="150000"/>
              </a:lnSpc>
            </a:pPr>
            <a:endParaRPr lang="en-US" altLang="zh-CN"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84</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297887201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p:txBody>
          <a:bodyPr/>
          <a:lstStyle/>
          <a:p>
            <a:r>
              <a:rPr kumimoji="1" lang="zh-CN" altLang="en-US" dirty="0"/>
              <a:t>负载脱落</a:t>
            </a:r>
            <a:r>
              <a:rPr kumimoji="1" lang="en-US" altLang="zh-CN" dirty="0"/>
              <a:t>/</a:t>
            </a:r>
            <a:r>
              <a:rPr kumimoji="1" lang="zh-CN" altLang="en-US" dirty="0"/>
              <a:t>丢弃（消除式）</a:t>
            </a:r>
            <a:endParaRPr lang="zh-CN" altLang="en-US" dirty="0"/>
          </a:p>
        </p:txBody>
      </p:sp>
      <p:sp>
        <p:nvSpPr>
          <p:cNvPr id="313347" name="Rectangle 3"/>
          <p:cNvSpPr>
            <a:spLocks noGrp="1" noChangeArrowheads="1"/>
          </p:cNvSpPr>
          <p:nvPr>
            <p:ph type="body" idx="1"/>
          </p:nvPr>
        </p:nvSpPr>
        <p:spPr>
          <a:xfrm>
            <a:off x="1170887" y="1520328"/>
            <a:ext cx="10604246" cy="4391293"/>
          </a:xfrm>
        </p:spPr>
        <p:txBody>
          <a:bodyPr/>
          <a:lstStyle/>
          <a:p>
            <a:pPr lvl="0"/>
            <a:r>
              <a:rPr lang="zh-CN" altLang="en-US" dirty="0">
                <a:solidFill>
                  <a:srgbClr val="C00000"/>
                </a:solidFill>
              </a:rPr>
              <a:t>终极办法</a:t>
            </a:r>
            <a:r>
              <a:rPr lang="zh-CN" altLang="en-US" dirty="0">
                <a:solidFill>
                  <a:prstClr val="black"/>
                </a:solidFill>
              </a:rPr>
              <a:t>：</a:t>
            </a:r>
            <a:r>
              <a:rPr lang="zh-CN" altLang="zh-CN" dirty="0">
                <a:solidFill>
                  <a:prstClr val="black"/>
                </a:solidFill>
              </a:rPr>
              <a:t>流量丢弃</a:t>
            </a:r>
            <a:endParaRPr lang="en-US" altLang="zh-CN" dirty="0">
              <a:solidFill>
                <a:prstClr val="black"/>
              </a:solidFill>
            </a:endParaRPr>
          </a:p>
          <a:p>
            <a:pPr lvl="0"/>
            <a:r>
              <a:rPr lang="zh-CN" altLang="zh-CN" dirty="0">
                <a:solidFill>
                  <a:prstClr val="black"/>
                </a:solidFill>
              </a:rPr>
              <a:t>基本思想</a:t>
            </a:r>
            <a:r>
              <a:rPr lang="zh-CN" altLang="en-US" dirty="0">
                <a:solidFill>
                  <a:prstClr val="black"/>
                </a:solidFill>
              </a:rPr>
              <a:t>：</a:t>
            </a:r>
            <a:r>
              <a:rPr lang="zh-CN" altLang="zh-CN" dirty="0">
                <a:solidFill>
                  <a:prstClr val="black"/>
                </a:solidFill>
              </a:rPr>
              <a:t>拥塞变得难以控制时，丢弃部分包，以使网内包的数量与通信能力相匹配</a:t>
            </a:r>
            <a:endParaRPr lang="en-US" altLang="zh-CN" dirty="0">
              <a:solidFill>
                <a:prstClr val="black"/>
              </a:solidFill>
            </a:endParaRPr>
          </a:p>
          <a:p>
            <a:pPr lvl="0"/>
            <a:r>
              <a:rPr lang="zh-CN" altLang="en-US" dirty="0">
                <a:solidFill>
                  <a:srgbClr val="C00000"/>
                </a:solidFill>
              </a:rPr>
              <a:t>策略</a:t>
            </a:r>
            <a:r>
              <a:rPr lang="zh-CN" altLang="en-US" dirty="0">
                <a:solidFill>
                  <a:prstClr val="black"/>
                </a:solidFill>
              </a:rPr>
              <a:t>：选择性</a:t>
            </a:r>
            <a:r>
              <a:rPr lang="zh-CN" altLang="zh-CN" dirty="0">
                <a:solidFill>
                  <a:prstClr val="black"/>
                </a:solidFill>
              </a:rPr>
              <a:t>丢弃</a:t>
            </a:r>
            <a:r>
              <a:rPr lang="zh-CN" altLang="en-US" dirty="0">
                <a:solidFill>
                  <a:prstClr val="black"/>
                </a:solidFill>
              </a:rPr>
              <a:t>。</a:t>
            </a:r>
            <a:endParaRPr lang="en-US" altLang="zh-CN" dirty="0">
              <a:solidFill>
                <a:prstClr val="black"/>
              </a:solidFill>
            </a:endParaRPr>
          </a:p>
          <a:p>
            <a:pPr lvl="0"/>
            <a:r>
              <a:rPr lang="zh-CN" altLang="en-US" dirty="0">
                <a:solidFill>
                  <a:prstClr val="black"/>
                </a:solidFill>
              </a:rPr>
              <a:t>实施方案：</a:t>
            </a:r>
            <a:r>
              <a:rPr lang="zh-CN" altLang="zh-CN" dirty="0">
                <a:solidFill>
                  <a:prstClr val="black"/>
                </a:solidFill>
              </a:rPr>
              <a:t>给包标上</a:t>
            </a:r>
            <a:r>
              <a:rPr lang="zh-CN" altLang="zh-CN" dirty="0">
                <a:solidFill>
                  <a:srgbClr val="C00000"/>
                </a:solidFill>
              </a:rPr>
              <a:t>优先级或类型</a:t>
            </a:r>
            <a:r>
              <a:rPr lang="zh-CN" altLang="zh-CN" dirty="0">
                <a:solidFill>
                  <a:prstClr val="black"/>
                </a:solidFill>
              </a:rPr>
              <a:t>，让节点在决定丢弃包时可作出有利的选择</a:t>
            </a:r>
            <a:endParaRPr lang="en-US" altLang="zh-CN" dirty="0">
              <a:solidFill>
                <a:prstClr val="black"/>
              </a:solidFill>
            </a:endParaRPr>
          </a:p>
          <a:p>
            <a:pPr>
              <a:lnSpc>
                <a:spcPct val="150000"/>
              </a:lnSpc>
            </a:pPr>
            <a:endParaRPr lang="en-US" altLang="zh-CN"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85</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7" name="Picture 28" descr="015">
            <a:extLst>
              <a:ext uri="{FF2B5EF4-FFF2-40B4-BE49-F238E27FC236}">
                <a16:creationId xmlns:a16="http://schemas.microsoft.com/office/drawing/2014/main" id="{649EA780-2028-4D80-ADD4-243765DF7DB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2702824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流量整形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2577196"/>
            <a:ext cx="10666615" cy="3735837"/>
          </a:xfrm>
        </p:spPr>
        <p:txBody>
          <a:bodyPr>
            <a:noAutofit/>
          </a:bodyPr>
          <a:lstStyle/>
          <a:p>
            <a:pPr>
              <a:lnSpc>
                <a:spcPct val="150000"/>
              </a:lnSpc>
            </a:pPr>
            <a:r>
              <a:rPr lang="zh-CN" altLang="en-US" dirty="0">
                <a:latin typeface="楷体_GB2312" pitchFamily="49" charset="-122"/>
              </a:rPr>
              <a:t>流量整形算法包括漏桶算法和令牌桶算法</a:t>
            </a:r>
            <a:endParaRPr lang="en-US" altLang="zh-CN" dirty="0">
              <a:latin typeface="楷体_GB2312" pitchFamily="49" charset="-122"/>
            </a:endParaRPr>
          </a:p>
          <a:p>
            <a:pPr lvl="1">
              <a:lnSpc>
                <a:spcPct val="150000"/>
              </a:lnSpc>
            </a:pPr>
            <a:r>
              <a:rPr lang="zh-CN" altLang="en-US" dirty="0">
                <a:latin typeface="楷体_GB2312" pitchFamily="49" charset="-122"/>
              </a:rPr>
              <a:t>漏桶算法（</a:t>
            </a:r>
            <a:r>
              <a:rPr lang="en-US" altLang="zh-CN" dirty="0">
                <a:latin typeface="楷体_GB2312" pitchFamily="49" charset="-122"/>
              </a:rPr>
              <a:t>Leaky Bucket Algorithm</a:t>
            </a:r>
            <a:r>
              <a:rPr lang="zh-CN" altLang="en-US" dirty="0">
                <a:latin typeface="楷体_GB2312" pitchFamily="49" charset="-122"/>
              </a:rPr>
              <a:t>）：主要目的是控制数据注入到网络的速率，平滑网络上的突发流量。漏桶算法提供了一种控制机制，通过它，突发流量可以被整形以便为网络提供一个稳定的流量</a:t>
            </a:r>
          </a:p>
          <a:p>
            <a:pPr lvl="1">
              <a:lnSpc>
                <a:spcPct val="150000"/>
              </a:lnSpc>
            </a:pPr>
            <a:r>
              <a:rPr lang="zh-CN" altLang="en-US" dirty="0">
                <a:latin typeface="楷体_GB2312" pitchFamily="49" charset="-122"/>
              </a:rPr>
              <a:t>令牌桶算法（</a:t>
            </a:r>
            <a:r>
              <a:rPr lang="en-US" altLang="zh-CN" dirty="0">
                <a:latin typeface="楷体_GB2312" pitchFamily="49" charset="-122"/>
              </a:rPr>
              <a:t>Token Bucket Algorithm</a:t>
            </a:r>
            <a:r>
              <a:rPr lang="zh-CN" altLang="en-US" dirty="0">
                <a:latin typeface="楷体_GB2312" pitchFamily="49" charset="-122"/>
              </a:rPr>
              <a:t>）：用来控制发送到网络上的数据的数目，并允许突发数据的发送</a:t>
            </a:r>
          </a:p>
        </p:txBody>
      </p:sp>
      <p:sp>
        <p:nvSpPr>
          <p:cNvPr id="5" name="Rectangle 3"/>
          <p:cNvSpPr txBox="1">
            <a:spLocks noChangeArrowheads="1"/>
          </p:cNvSpPr>
          <p:nvPr/>
        </p:nvSpPr>
        <p:spPr>
          <a:xfrm>
            <a:off x="1227296" y="1479637"/>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lnSpc>
                <a:spcPct val="150000"/>
              </a:lnSpc>
              <a:buNone/>
            </a:pPr>
            <a:r>
              <a:rPr lang="zh-CN" altLang="en-US" sz="2400" b="1" dirty="0">
                <a:solidFill>
                  <a:srgbClr val="C00000"/>
                </a:solidFill>
              </a:rPr>
              <a:t>流量整形</a:t>
            </a:r>
            <a:r>
              <a:rPr lang="en-US" altLang="zh-CN" sz="2400" b="1" dirty="0">
                <a:solidFill>
                  <a:srgbClr val="C00000"/>
                </a:solidFill>
              </a:rPr>
              <a:t>(traffic shaping)</a:t>
            </a:r>
            <a:r>
              <a:rPr lang="zh-CN" altLang="en-US" sz="2400" b="1" dirty="0">
                <a:solidFill>
                  <a:srgbClr val="C00000"/>
                </a:solidFill>
              </a:rPr>
              <a:t>：其作用是限制流出某一网络的某一连接的流量与突发，使这类报文以比较均匀的速度向外发送</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86</a:t>
            </a:fld>
            <a:endParaRPr kumimoji="1" lang="zh-CN" altLang="en-US" dirty="0"/>
          </a:p>
        </p:txBody>
      </p:sp>
      <p:sp>
        <p:nvSpPr>
          <p:cNvPr id="7"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8" name="Picture 28" descr="015">
            <a:extLst>
              <a:ext uri="{FF2B5EF4-FFF2-40B4-BE49-F238E27FC236}">
                <a16:creationId xmlns:a16="http://schemas.microsoft.com/office/drawing/2014/main" id="{5B6B6370-487E-4E71-9EAA-0D0FE056E20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5351803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61" name="Rectangle 5"/>
          <p:cNvSpPr>
            <a:spLocks noChangeArrowheads="1"/>
          </p:cNvSpPr>
          <p:nvPr/>
        </p:nvSpPr>
        <p:spPr bwMode="auto">
          <a:xfrm>
            <a:off x="1524001" y="200608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70664" name="Rectangle 8"/>
          <p:cNvSpPr>
            <a:spLocks noChangeArrowheads="1"/>
          </p:cNvSpPr>
          <p:nvPr/>
        </p:nvSpPr>
        <p:spPr bwMode="auto">
          <a:xfrm>
            <a:off x="259543" y="1649240"/>
            <a:ext cx="3215174" cy="477053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dirty="0">
                <a:solidFill>
                  <a:srgbClr val="C00000"/>
                </a:solidFill>
                <a:latin typeface="微软雅黑" panose="020B0503020204020204" pitchFamily="34" charset="-122"/>
                <a:ea typeface="微软雅黑" panose="020B0503020204020204" pitchFamily="34" charset="-122"/>
              </a:rPr>
              <a:t>漏桶算法原理：</a:t>
            </a:r>
            <a:endParaRPr lang="en-US" altLang="zh-CN" sz="2400" b="1" dirty="0">
              <a:solidFill>
                <a:srgbClr val="C00000"/>
              </a:solidFill>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到达的数据包（网络层的</a:t>
            </a:r>
            <a:r>
              <a:rPr lang="en-US" altLang="zh-CN" sz="2000" dirty="0">
                <a:latin typeface="微软雅黑" panose="020B0503020204020204" pitchFamily="34" charset="-122"/>
                <a:ea typeface="微软雅黑" panose="020B0503020204020204" pitchFamily="34" charset="-122"/>
              </a:rPr>
              <a:t>PDU</a:t>
            </a:r>
            <a:r>
              <a:rPr lang="zh-CN" altLang="en-US" sz="2000" dirty="0">
                <a:latin typeface="微软雅黑" panose="020B0503020204020204" pitchFamily="34" charset="-122"/>
                <a:ea typeface="微软雅黑" panose="020B0503020204020204" pitchFamily="34" charset="-122"/>
              </a:rPr>
              <a:t>）被放置在底部具有漏孔的桶中（数据包缓存）</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漏桶最多可以</a:t>
            </a:r>
            <a:r>
              <a:rPr lang="zh-CN" altLang="en-US" sz="2000" b="1" dirty="0">
                <a:solidFill>
                  <a:srgbClr val="5B307E"/>
                </a:solidFill>
                <a:latin typeface="微软雅黑" panose="020B0503020204020204" pitchFamily="34" charset="-122"/>
                <a:ea typeface="微软雅黑" panose="020B0503020204020204" pitchFamily="34" charset="-122"/>
              </a:rPr>
              <a:t>排队</a:t>
            </a:r>
            <a:r>
              <a:rPr lang="en-US" altLang="zh-CN" sz="2000" b="1" dirty="0">
                <a:solidFill>
                  <a:srgbClr val="5B307E"/>
                </a:solidFill>
                <a:latin typeface="微软雅黑" panose="020B0503020204020204" pitchFamily="34" charset="-122"/>
                <a:ea typeface="微软雅黑" panose="020B0503020204020204" pitchFamily="34" charset="-122"/>
              </a:rPr>
              <a:t>b</a:t>
            </a:r>
            <a:r>
              <a:rPr lang="zh-CN" altLang="en-US" sz="2000" b="1" dirty="0">
                <a:solidFill>
                  <a:srgbClr val="5B307E"/>
                </a:solidFill>
                <a:latin typeface="微软雅黑" panose="020B0503020204020204" pitchFamily="34" charset="-122"/>
                <a:ea typeface="微软雅黑" panose="020B0503020204020204" pitchFamily="34" charset="-122"/>
              </a:rPr>
              <a:t>个字节</a:t>
            </a:r>
            <a:r>
              <a:rPr lang="zh-CN" altLang="en-US" sz="2000" dirty="0">
                <a:latin typeface="微软雅黑" panose="020B0503020204020204" pitchFamily="34" charset="-122"/>
                <a:ea typeface="微软雅黑" panose="020B0503020204020204" pitchFamily="34" charset="-122"/>
              </a:rPr>
              <a:t>，漏桶的这个尺寸受限于内存。如果数据包到达的时候漏桶已经满了，那么数据包应被丢弃</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数据包从漏桶中漏出，以常量速率</a:t>
            </a:r>
            <a:r>
              <a:rPr lang="zh-CN" altLang="en-US" sz="2000" b="1" dirty="0">
                <a:solidFill>
                  <a:srgbClr val="5B307E"/>
                </a:solidFill>
                <a:latin typeface="微软雅黑" panose="020B0503020204020204" pitchFamily="34" charset="-122"/>
                <a:ea typeface="微软雅黑" panose="020B0503020204020204" pitchFamily="34" charset="-122"/>
              </a:rPr>
              <a:t>（</a:t>
            </a:r>
            <a:r>
              <a:rPr lang="en-US" altLang="zh-CN" sz="2000" b="1" dirty="0">
                <a:solidFill>
                  <a:srgbClr val="5B307E"/>
                </a:solidFill>
                <a:latin typeface="微软雅黑" panose="020B0503020204020204" pitchFamily="34" charset="-122"/>
                <a:ea typeface="微软雅黑" panose="020B0503020204020204" pitchFamily="34" charset="-122"/>
              </a:rPr>
              <a:t>r</a:t>
            </a:r>
            <a:r>
              <a:rPr lang="zh-CN" altLang="en-US" sz="2000" b="1" dirty="0">
                <a:solidFill>
                  <a:srgbClr val="5B307E"/>
                </a:solidFill>
                <a:latin typeface="微软雅黑" panose="020B0503020204020204" pitchFamily="34" charset="-122"/>
                <a:ea typeface="微软雅黑" panose="020B0503020204020204" pitchFamily="34" charset="-122"/>
              </a:rPr>
              <a:t>字节</a:t>
            </a:r>
            <a:r>
              <a:rPr lang="en-US" altLang="zh-CN" sz="2000" b="1" dirty="0">
                <a:solidFill>
                  <a:srgbClr val="5B307E"/>
                </a:solidFill>
                <a:latin typeface="微软雅黑" panose="020B0503020204020204" pitchFamily="34" charset="-122"/>
                <a:ea typeface="微软雅黑" panose="020B0503020204020204" pitchFamily="34" charset="-122"/>
              </a:rPr>
              <a:t>/</a:t>
            </a:r>
            <a:r>
              <a:rPr lang="zh-CN" altLang="en-US" sz="2000" b="1" dirty="0">
                <a:solidFill>
                  <a:srgbClr val="5B307E"/>
                </a:solidFill>
                <a:latin typeface="微软雅黑" panose="020B0503020204020204" pitchFamily="34" charset="-122"/>
                <a:ea typeface="微软雅黑" panose="020B0503020204020204" pitchFamily="34" charset="-122"/>
              </a:rPr>
              <a:t>秒）</a:t>
            </a:r>
            <a:r>
              <a:rPr lang="zh-CN" altLang="en-US" sz="2000" dirty="0">
                <a:latin typeface="微软雅黑" panose="020B0503020204020204" pitchFamily="34" charset="-122"/>
                <a:ea typeface="微软雅黑" panose="020B0503020204020204" pitchFamily="34" charset="-122"/>
              </a:rPr>
              <a:t>注入网络，因此平滑了突发流量</a:t>
            </a:r>
          </a:p>
        </p:txBody>
      </p:sp>
      <p:pic>
        <p:nvPicPr>
          <p:cNvPr id="2" name="图片 1">
            <a:extLst>
              <a:ext uri="{FF2B5EF4-FFF2-40B4-BE49-F238E27FC236}">
                <a16:creationId xmlns:a16="http://schemas.microsoft.com/office/drawing/2014/main" id="{7E9A3F02-D4AF-8044-BD75-A96D6CC68B42}"/>
              </a:ext>
            </a:extLst>
          </p:cNvPr>
          <p:cNvPicPr>
            <a:picLocks noChangeAspect="1"/>
          </p:cNvPicPr>
          <p:nvPr/>
        </p:nvPicPr>
        <p:blipFill>
          <a:blip r:embed="rId3"/>
          <a:stretch>
            <a:fillRect/>
          </a:stretch>
        </p:blipFill>
        <p:spPr>
          <a:xfrm>
            <a:off x="3571477" y="1856455"/>
            <a:ext cx="8372354" cy="4241993"/>
          </a:xfrm>
          <a:prstGeom prst="rect">
            <a:avLst/>
          </a:prstGeom>
        </p:spPr>
      </p:pic>
      <p:sp>
        <p:nvSpPr>
          <p:cNvPr id="3" name="标题 2"/>
          <p:cNvSpPr>
            <a:spLocks noGrp="1"/>
          </p:cNvSpPr>
          <p:nvPr>
            <p:ph type="title"/>
          </p:nvPr>
        </p:nvSpPr>
        <p:spPr/>
        <p:txBody>
          <a:bodyPr/>
          <a:lstStyle/>
          <a:p>
            <a:r>
              <a:rPr kumimoji="1" lang="zh-CN" altLang="en-US" dirty="0"/>
              <a:t>流量整形</a:t>
            </a:r>
            <a:endParaRPr lang="zh-CN" altLang="en-US"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87</a:t>
            </a:fld>
            <a:endParaRPr kumimoji="1" lang="zh-CN" altLang="en-US" dirty="0"/>
          </a:p>
        </p:txBody>
      </p:sp>
      <p:sp>
        <p:nvSpPr>
          <p:cNvPr id="8"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9" name="Picture 28" descr="015">
            <a:extLst>
              <a:ext uri="{FF2B5EF4-FFF2-40B4-BE49-F238E27FC236}">
                <a16:creationId xmlns:a16="http://schemas.microsoft.com/office/drawing/2014/main" id="{BBE70A41-F4F3-4050-9F0F-EA2D9BFEEA0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0780319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61" name="Rectangle 5"/>
          <p:cNvSpPr>
            <a:spLocks noChangeArrowheads="1"/>
          </p:cNvSpPr>
          <p:nvPr/>
        </p:nvSpPr>
        <p:spPr bwMode="auto">
          <a:xfrm>
            <a:off x="1524001" y="200608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70664" name="Rectangle 8"/>
          <p:cNvSpPr>
            <a:spLocks noChangeArrowheads="1"/>
          </p:cNvSpPr>
          <p:nvPr/>
        </p:nvSpPr>
        <p:spPr bwMode="auto">
          <a:xfrm>
            <a:off x="874687" y="1649239"/>
            <a:ext cx="5160353" cy="384720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dirty="0">
                <a:solidFill>
                  <a:srgbClr val="C00000"/>
                </a:solidFill>
                <a:latin typeface="微软雅黑" panose="020B0503020204020204" pitchFamily="34" charset="-122"/>
                <a:ea typeface="微软雅黑" panose="020B0503020204020204" pitchFamily="34" charset="-122"/>
              </a:rPr>
              <a:t>令牌桶算法工作原理：</a:t>
            </a:r>
            <a:endParaRPr lang="en-US" altLang="zh-CN" sz="2400" b="1" dirty="0">
              <a:solidFill>
                <a:srgbClr val="C00000"/>
              </a:solidFill>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产生令牌：周期性的以速率</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向令牌桶中增加令牌，桶中的令牌不断增多。如果桶中令牌数已到达上限，则丢弃多余令牌</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消耗令牌：输入数据包会消耗桶中的令牌。在网络传输中，数据包的大小通常不一致。大的数据包相较于小的数据包消耗的令牌要多</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判断是否通过：输入数据包经过令牌桶时存在两种可能：输出该数据包或者被丢弃。当桶中的令牌数量可以满足数据包对令牌的需求，则将数据包输出，否则将其丢弃</a:t>
            </a:r>
          </a:p>
        </p:txBody>
      </p:sp>
      <p:sp>
        <p:nvSpPr>
          <p:cNvPr id="3" name="标题 2"/>
          <p:cNvSpPr>
            <a:spLocks noGrp="1"/>
          </p:cNvSpPr>
          <p:nvPr>
            <p:ph type="title"/>
          </p:nvPr>
        </p:nvSpPr>
        <p:spPr/>
        <p:txBody>
          <a:bodyPr/>
          <a:lstStyle/>
          <a:p>
            <a:r>
              <a:rPr kumimoji="1" lang="zh-CN" altLang="en-US" dirty="0"/>
              <a:t>流量整形</a:t>
            </a:r>
            <a:endParaRPr lang="zh-CN" altLang="en-US" dirty="0"/>
          </a:p>
        </p:txBody>
      </p:sp>
      <p:pic>
        <p:nvPicPr>
          <p:cNvPr id="5" name="图片 4"/>
          <p:cNvPicPr>
            <a:picLocks noChangeAspect="1"/>
          </p:cNvPicPr>
          <p:nvPr/>
        </p:nvPicPr>
        <p:blipFill>
          <a:blip r:embed="rId3"/>
          <a:stretch>
            <a:fillRect/>
          </a:stretch>
        </p:blipFill>
        <p:spPr>
          <a:xfrm>
            <a:off x="6757842" y="2006084"/>
            <a:ext cx="4207047" cy="3170099"/>
          </a:xfrm>
          <a:prstGeom prst="rect">
            <a:avLst/>
          </a:prstGeom>
        </p:spPr>
      </p:pic>
      <p:sp>
        <p:nvSpPr>
          <p:cNvPr id="9" name="矩形 8">
            <a:extLst>
              <a:ext uri="{FF2B5EF4-FFF2-40B4-BE49-F238E27FC236}">
                <a16:creationId xmlns:a16="http://schemas.microsoft.com/office/drawing/2014/main" id="{142C8AFF-4AFE-3F43-9CF3-11326F908E04}"/>
              </a:ext>
            </a:extLst>
          </p:cNvPr>
          <p:cNvSpPr/>
          <p:nvPr/>
        </p:nvSpPr>
        <p:spPr>
          <a:xfrm>
            <a:off x="2401703" y="6027485"/>
            <a:ext cx="5416868" cy="461665"/>
          </a:xfrm>
          <a:prstGeom prst="rect">
            <a:avLst/>
          </a:prstGeom>
          <a:ln>
            <a:solidFill>
              <a:srgbClr val="C00000"/>
            </a:solidFill>
          </a:ln>
        </p:spPr>
        <p:txBody>
          <a:bodyPr wrap="none">
            <a:spAutoFit/>
          </a:bodyPr>
          <a:lstStyle/>
          <a:p>
            <a:r>
              <a:rPr kumimoji="1" lang="zh-CN" altLang="en-US" sz="2400" dirty="0">
                <a:solidFill>
                  <a:prstClr val="black"/>
                </a:solidFill>
                <a:latin typeface="Microsoft YaHei" panose="020B0503020204020204" pitchFamily="34" charset="-122"/>
                <a:ea typeface="Microsoft YaHei" panose="020B0503020204020204" pitchFamily="34" charset="-122"/>
              </a:rPr>
              <a:t>思考：漏桶算法和令牌桶算法的区别？</a:t>
            </a:r>
            <a:endParaRPr lang="zh-CN" altLang="en-US" sz="20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88</a:t>
            </a:fld>
            <a:endParaRPr kumimoji="1" lang="zh-CN" altLang="en-US" dirty="0"/>
          </a:p>
        </p:txBody>
      </p:sp>
      <p:sp>
        <p:nvSpPr>
          <p:cNvPr id="10"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11" name="Picture 28" descr="015">
            <a:extLst>
              <a:ext uri="{FF2B5EF4-FFF2-40B4-BE49-F238E27FC236}">
                <a16:creationId xmlns:a16="http://schemas.microsoft.com/office/drawing/2014/main" id="{1B9EDBB6-5E22-4670-B69A-2F275D66BEF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714892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主动队列管理：随机早期检测</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740083" y="1537566"/>
            <a:ext cx="11109460" cy="3515617"/>
          </a:xfrm>
        </p:spPr>
        <p:txBody>
          <a:bodyPr>
            <a:noAutofit/>
          </a:bodyPr>
          <a:lstStyle/>
          <a:p>
            <a:pPr marL="0" indent="0">
              <a:lnSpc>
                <a:spcPct val="150000"/>
              </a:lnSpc>
              <a:buNone/>
            </a:pPr>
            <a:r>
              <a:rPr lang="zh-CN" altLang="en-US" b="1" dirty="0">
                <a:solidFill>
                  <a:srgbClr val="C00000"/>
                </a:solidFill>
                <a:latin typeface="微软雅黑" panose="020B0503020204020204" pitchFamily="34" charset="-122"/>
                <a:ea typeface="微软雅黑" panose="020B0503020204020204" pitchFamily="34" charset="-122"/>
              </a:rPr>
              <a:t>随机早期检测 </a:t>
            </a:r>
            <a:r>
              <a:rPr lang="en-US" altLang="zh-CN" b="1" dirty="0">
                <a:solidFill>
                  <a:srgbClr val="C00000"/>
                </a:solidFill>
                <a:latin typeface="微软雅黑" panose="020B0503020204020204" pitchFamily="34" charset="-122"/>
                <a:ea typeface="微软雅黑" panose="020B0503020204020204" pitchFamily="34" charset="-122"/>
              </a:rPr>
              <a:t>RED (Random Early Detection) </a:t>
            </a:r>
            <a:endParaRPr lang="en-US" altLang="zh-CN"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使路由器的队列维持两个参数，即队列长度最小门限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min</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和最大门限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max</a:t>
            </a:r>
            <a:endParaRPr lang="zh-CN" altLang="en-US" sz="2400" dirty="0">
              <a:latin typeface="微软雅黑" panose="020B0503020204020204" pitchFamily="34" charset="-122"/>
              <a:ea typeface="微软雅黑" panose="020B0503020204020204" pitchFamily="34" charset="-122"/>
            </a:endParaRPr>
          </a:p>
          <a:p>
            <a:pPr>
              <a:lnSpc>
                <a:spcPct val="150000"/>
              </a:lnSpc>
            </a:pPr>
            <a:r>
              <a:rPr lang="en-US" altLang="zh-CN" sz="2400" dirty="0">
                <a:latin typeface="微软雅黑" panose="020B0503020204020204" pitchFamily="34" charset="-122"/>
                <a:ea typeface="微软雅黑" panose="020B0503020204020204" pitchFamily="34" charset="-122"/>
              </a:rPr>
              <a:t>RED </a:t>
            </a:r>
            <a:r>
              <a:rPr lang="zh-CN" altLang="en-US" sz="2400" dirty="0">
                <a:latin typeface="微软雅黑" panose="020B0503020204020204" pitchFamily="34" charset="-122"/>
                <a:ea typeface="微软雅黑" panose="020B0503020204020204" pitchFamily="34" charset="-122"/>
              </a:rPr>
              <a:t>对每一个到达的数据报都先计算平均队列长度 </a:t>
            </a:r>
            <a:r>
              <a:rPr lang="en-US" altLang="zh-CN" sz="2400" dirty="0">
                <a:latin typeface="微软雅黑" panose="020B0503020204020204" pitchFamily="34" charset="-122"/>
                <a:ea typeface="微软雅黑" panose="020B0503020204020204" pitchFamily="34" charset="-122"/>
              </a:rPr>
              <a:t>L</a:t>
            </a:r>
            <a:r>
              <a:rPr lang="en-US" altLang="zh-CN" sz="2400" baseline="-25000" dirty="0">
                <a:latin typeface="微软雅黑" panose="020B0503020204020204" pitchFamily="34" charset="-122"/>
                <a:ea typeface="微软雅黑" panose="020B0503020204020204" pitchFamily="34" charset="-122"/>
              </a:rPr>
              <a:t>AV</a:t>
            </a:r>
            <a:endParaRPr lang="zh-CN" altLang="en-US" sz="2400"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若平均队列长度小于最小门限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min</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，则将新到达的数据报放入队列进行排队</a:t>
            </a:r>
          </a:p>
          <a:p>
            <a:pPr>
              <a:lnSpc>
                <a:spcPct val="150000"/>
              </a:lnSpc>
            </a:pPr>
            <a:r>
              <a:rPr lang="zh-CN" altLang="en-US" sz="2400" dirty="0">
                <a:latin typeface="微软雅黑" panose="020B0503020204020204" pitchFamily="34" charset="-122"/>
                <a:ea typeface="微软雅黑" panose="020B0503020204020204" pitchFamily="34" charset="-122"/>
              </a:rPr>
              <a:t>若平均队列长度超过最大门限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max</a:t>
            </a:r>
            <a:r>
              <a:rPr lang="zh-CN" altLang="en-US" sz="2400" dirty="0">
                <a:latin typeface="微软雅黑" panose="020B0503020204020204" pitchFamily="34" charset="-122"/>
                <a:ea typeface="微软雅黑" panose="020B0503020204020204" pitchFamily="34" charset="-122"/>
              </a:rPr>
              <a:t>，则将新到达的数据报丢弃</a:t>
            </a:r>
          </a:p>
          <a:p>
            <a:pPr>
              <a:lnSpc>
                <a:spcPct val="150000"/>
              </a:lnSpc>
            </a:pPr>
            <a:r>
              <a:rPr lang="zh-CN" altLang="en-US" sz="2400" dirty="0">
                <a:latin typeface="微软雅黑" panose="020B0503020204020204" pitchFamily="34" charset="-122"/>
                <a:ea typeface="微软雅黑" panose="020B0503020204020204" pitchFamily="34" charset="-122"/>
              </a:rPr>
              <a:t>若平均队列长度在最小门限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min</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和最大门限</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max</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之间，则按照某一概率 </a:t>
            </a:r>
            <a:r>
              <a:rPr lang="en-US" altLang="zh-CN" sz="2400" i="1" dirty="0"/>
              <a:t>p </a:t>
            </a:r>
            <a:r>
              <a:rPr lang="zh-CN" altLang="en-US" sz="2400" dirty="0">
                <a:latin typeface="微软雅黑" panose="020B0503020204020204" pitchFamily="34" charset="-122"/>
                <a:ea typeface="微软雅黑" panose="020B0503020204020204" pitchFamily="34" charset="-122"/>
              </a:rPr>
              <a:t>将新到达的数据报丢弃</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89</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140102253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主动队列管理：随机早期检测</a:t>
            </a:r>
            <a:endParaRPr lang="zh-CN" altLang="en-US" dirty="0">
              <a:latin typeface="楷体_GB2312" pitchFamily="49" charset="-122"/>
            </a:endParaRPr>
          </a:p>
        </p:txBody>
      </p:sp>
      <p:sp>
        <p:nvSpPr>
          <p:cNvPr id="2" name="内容占位符 1"/>
          <p:cNvSpPr>
            <a:spLocks noGrp="1"/>
          </p:cNvSpPr>
          <p:nvPr>
            <p:ph idx="1"/>
          </p:nvPr>
        </p:nvSpPr>
        <p:spPr>
          <a:xfrm>
            <a:off x="732386" y="1607749"/>
            <a:ext cx="10515600" cy="3953379"/>
          </a:xfrm>
        </p:spPr>
        <p:txBody>
          <a:bodyPr>
            <a:normAutofit/>
          </a:bodyPr>
          <a:lstStyle/>
          <a:p>
            <a:r>
              <a:rPr lang="en-US" altLang="zh-CN" sz="2400" dirty="0"/>
              <a:t>RED </a:t>
            </a:r>
            <a:r>
              <a:rPr lang="zh-CN" altLang="en-US" sz="2400" dirty="0"/>
              <a:t>将路由器的到达队列划分成为三个区域 </a:t>
            </a:r>
          </a:p>
        </p:txBody>
      </p:sp>
      <p:grpSp>
        <p:nvGrpSpPr>
          <p:cNvPr id="5" name="组合 4"/>
          <p:cNvGrpSpPr/>
          <p:nvPr/>
        </p:nvGrpSpPr>
        <p:grpSpPr>
          <a:xfrm>
            <a:off x="1872210" y="2513012"/>
            <a:ext cx="8235951" cy="3600451"/>
            <a:chOff x="2252663" y="1916113"/>
            <a:chExt cx="8235951" cy="3600451"/>
          </a:xfrm>
        </p:grpSpPr>
        <p:sp>
          <p:nvSpPr>
            <p:cNvPr id="6" name="Rectangle 35"/>
            <p:cNvSpPr>
              <a:spLocks noChangeArrowheads="1"/>
            </p:cNvSpPr>
            <p:nvPr/>
          </p:nvSpPr>
          <p:spPr bwMode="auto">
            <a:xfrm>
              <a:off x="4249738" y="1917701"/>
              <a:ext cx="3173412" cy="3013075"/>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7" name="Rectangle 34"/>
            <p:cNvSpPr>
              <a:spLocks noChangeArrowheads="1"/>
            </p:cNvSpPr>
            <p:nvPr/>
          </p:nvSpPr>
          <p:spPr bwMode="auto">
            <a:xfrm>
              <a:off x="7426325" y="1916113"/>
              <a:ext cx="946150" cy="24765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8" name="Rectangle 33"/>
            <p:cNvSpPr>
              <a:spLocks noChangeArrowheads="1"/>
            </p:cNvSpPr>
            <p:nvPr/>
          </p:nvSpPr>
          <p:spPr bwMode="auto">
            <a:xfrm>
              <a:off x="3071814" y="1916114"/>
              <a:ext cx="1177925" cy="3444875"/>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9" name="Rectangle 4"/>
            <p:cNvSpPr>
              <a:spLocks noChangeArrowheads="1"/>
            </p:cNvSpPr>
            <p:nvPr/>
          </p:nvSpPr>
          <p:spPr bwMode="auto">
            <a:xfrm>
              <a:off x="6116639" y="2616200"/>
              <a:ext cx="2257425" cy="1276350"/>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10" name="Freeform 5"/>
            <p:cNvSpPr>
              <a:spLocks/>
            </p:cNvSpPr>
            <p:nvPr/>
          </p:nvSpPr>
          <p:spPr bwMode="auto">
            <a:xfrm>
              <a:off x="3322639" y="2616200"/>
              <a:ext cx="5051425" cy="1276350"/>
            </a:xfrm>
            <a:custGeom>
              <a:avLst/>
              <a:gdLst>
                <a:gd name="T0" fmla="*/ 0 w 1920"/>
                <a:gd name="T1" fmla="*/ 0 h 528"/>
                <a:gd name="T2" fmla="*/ 2147483646 w 1920"/>
                <a:gd name="T3" fmla="*/ 0 h 528"/>
                <a:gd name="T4" fmla="*/ 2147483646 w 1920"/>
                <a:gd name="T5" fmla="*/ 2147483646 h 528"/>
                <a:gd name="T6" fmla="*/ 0 w 1920"/>
                <a:gd name="T7" fmla="*/ 2147483646 h 528"/>
                <a:gd name="T8" fmla="*/ 0 60000 65536"/>
                <a:gd name="T9" fmla="*/ 0 60000 65536"/>
                <a:gd name="T10" fmla="*/ 0 60000 65536"/>
                <a:gd name="T11" fmla="*/ 0 60000 65536"/>
                <a:gd name="T12" fmla="*/ 0 w 1920"/>
                <a:gd name="T13" fmla="*/ 0 h 528"/>
                <a:gd name="T14" fmla="*/ 1920 w 1920"/>
                <a:gd name="T15" fmla="*/ 528 h 528"/>
              </a:gdLst>
              <a:ahLst/>
              <a:cxnLst>
                <a:cxn ang="T8">
                  <a:pos x="T0" y="T1"/>
                </a:cxn>
                <a:cxn ang="T9">
                  <a:pos x="T2" y="T3"/>
                </a:cxn>
                <a:cxn ang="T10">
                  <a:pos x="T4" y="T5"/>
                </a:cxn>
                <a:cxn ang="T11">
                  <a:pos x="T6" y="T7"/>
                </a:cxn>
              </a:cxnLst>
              <a:rect l="T12" t="T13" r="T14" b="T15"/>
              <a:pathLst>
                <a:path w="1920" h="528">
                  <a:moveTo>
                    <a:pt x="0" y="0"/>
                  </a:moveTo>
                  <a:lnTo>
                    <a:pt x="1920" y="0"/>
                  </a:lnTo>
                  <a:lnTo>
                    <a:pt x="1920" y="528"/>
                  </a:lnTo>
                  <a:lnTo>
                    <a:pt x="0" y="528"/>
                  </a:lnTo>
                </a:path>
              </a:pathLst>
            </a:custGeom>
            <a:noFill/>
            <a:ln w="28575">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 name="Line 6"/>
            <p:cNvSpPr>
              <a:spLocks noChangeShapeType="1"/>
            </p:cNvSpPr>
            <p:nvPr/>
          </p:nvSpPr>
          <p:spPr bwMode="auto">
            <a:xfrm>
              <a:off x="8053388"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 name="Line 7"/>
            <p:cNvSpPr>
              <a:spLocks noChangeShapeType="1"/>
            </p:cNvSpPr>
            <p:nvPr/>
          </p:nvSpPr>
          <p:spPr bwMode="auto">
            <a:xfrm>
              <a:off x="7731125"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Line 8"/>
            <p:cNvSpPr>
              <a:spLocks noChangeShapeType="1"/>
            </p:cNvSpPr>
            <p:nvPr/>
          </p:nvSpPr>
          <p:spPr bwMode="auto">
            <a:xfrm>
              <a:off x="7407275" y="2149475"/>
              <a:ext cx="0" cy="2032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 name="Line 9"/>
            <p:cNvSpPr>
              <a:spLocks noChangeShapeType="1"/>
            </p:cNvSpPr>
            <p:nvPr/>
          </p:nvSpPr>
          <p:spPr bwMode="auto">
            <a:xfrm>
              <a:off x="7085013"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0"/>
            <p:cNvSpPr>
              <a:spLocks noChangeShapeType="1"/>
            </p:cNvSpPr>
            <p:nvPr/>
          </p:nvSpPr>
          <p:spPr bwMode="auto">
            <a:xfrm>
              <a:off x="6762750"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Line 11"/>
            <p:cNvSpPr>
              <a:spLocks noChangeShapeType="1"/>
            </p:cNvSpPr>
            <p:nvPr/>
          </p:nvSpPr>
          <p:spPr bwMode="auto">
            <a:xfrm>
              <a:off x="6438900"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12"/>
            <p:cNvSpPr>
              <a:spLocks noChangeShapeType="1"/>
            </p:cNvSpPr>
            <p:nvPr/>
          </p:nvSpPr>
          <p:spPr bwMode="auto">
            <a:xfrm>
              <a:off x="4259264" y="2154238"/>
              <a:ext cx="1587" cy="3175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AutoShape 13"/>
            <p:cNvSpPr>
              <a:spLocks noChangeArrowheads="1"/>
            </p:cNvSpPr>
            <p:nvPr/>
          </p:nvSpPr>
          <p:spPr bwMode="auto">
            <a:xfrm>
              <a:off x="8267701" y="2963864"/>
              <a:ext cx="968375" cy="465137"/>
            </a:xfrm>
            <a:prstGeom prst="rightArrow">
              <a:avLst>
                <a:gd name="adj1" fmla="val 50000"/>
                <a:gd name="adj2" fmla="val 52048"/>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19" name="Text Box 14"/>
            <p:cNvSpPr txBox="1">
              <a:spLocks noChangeArrowheads="1"/>
            </p:cNvSpPr>
            <p:nvPr/>
          </p:nvSpPr>
          <p:spPr bwMode="auto">
            <a:xfrm>
              <a:off x="9155113" y="2844801"/>
              <a:ext cx="9461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algn="ctr" eaLnBrk="1" hangingPunct="1">
                <a:spcBef>
                  <a:spcPct val="0"/>
                </a:spcBef>
                <a:buClrTx/>
                <a:buSzTx/>
                <a:buFontTx/>
                <a:buNone/>
              </a:pPr>
              <a:r>
                <a:rPr kumimoji="1" lang="zh-CN" altLang="en-US" sz="2000"/>
                <a:t>从队首</a:t>
              </a:r>
            </a:p>
            <a:p>
              <a:pPr algn="ctr" eaLnBrk="1" hangingPunct="1">
                <a:spcBef>
                  <a:spcPct val="0"/>
                </a:spcBef>
                <a:buClrTx/>
                <a:buSzTx/>
                <a:buFontTx/>
                <a:buNone/>
              </a:pPr>
              <a:r>
                <a:rPr kumimoji="1" lang="zh-CN" altLang="en-US" sz="2000"/>
                <a:t>发送</a:t>
              </a:r>
            </a:p>
          </p:txBody>
        </p:sp>
        <p:sp>
          <p:nvSpPr>
            <p:cNvPr id="20" name="Line 15"/>
            <p:cNvSpPr>
              <a:spLocks noChangeShapeType="1"/>
            </p:cNvSpPr>
            <p:nvPr/>
          </p:nvSpPr>
          <p:spPr bwMode="auto">
            <a:xfrm>
              <a:off x="6116638"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 name="Text Box 16"/>
            <p:cNvSpPr txBox="1">
              <a:spLocks noChangeArrowheads="1"/>
            </p:cNvSpPr>
            <p:nvPr/>
          </p:nvSpPr>
          <p:spPr bwMode="auto">
            <a:xfrm>
              <a:off x="8535989" y="4184651"/>
              <a:ext cx="1952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最小门限 </a:t>
              </a:r>
              <a:r>
                <a:rPr kumimoji="1" lang="en-US" altLang="zh-CN" sz="2000"/>
                <a:t>TH</a:t>
              </a:r>
              <a:r>
                <a:rPr kumimoji="1" lang="en-US" altLang="zh-CN" sz="2000" baseline="-25000"/>
                <a:t>min</a:t>
              </a:r>
            </a:p>
          </p:txBody>
        </p:sp>
        <p:sp>
          <p:nvSpPr>
            <p:cNvPr id="22" name="Text Box 17"/>
            <p:cNvSpPr txBox="1">
              <a:spLocks noChangeArrowheads="1"/>
            </p:cNvSpPr>
            <p:nvPr/>
          </p:nvSpPr>
          <p:spPr bwMode="auto">
            <a:xfrm>
              <a:off x="5441951" y="5119689"/>
              <a:ext cx="1878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最大门限 </a:t>
              </a:r>
              <a:r>
                <a:rPr kumimoji="1" lang="en-US" altLang="zh-CN" sz="2000"/>
                <a:t>TH</a:t>
              </a:r>
              <a:r>
                <a:rPr kumimoji="1" lang="en-US" altLang="zh-CN" sz="2000" baseline="-25000"/>
                <a:t>min</a:t>
              </a:r>
            </a:p>
          </p:txBody>
        </p:sp>
        <p:sp>
          <p:nvSpPr>
            <p:cNvPr id="23" name="AutoShape 18"/>
            <p:cNvSpPr>
              <a:spLocks noChangeArrowheads="1"/>
            </p:cNvSpPr>
            <p:nvPr/>
          </p:nvSpPr>
          <p:spPr bwMode="auto">
            <a:xfrm>
              <a:off x="3106738" y="2997200"/>
              <a:ext cx="1981200" cy="431800"/>
            </a:xfrm>
            <a:prstGeom prst="rightArrow">
              <a:avLst>
                <a:gd name="adj1" fmla="val 50000"/>
                <a:gd name="adj2" fmla="val 114706"/>
              </a:avLst>
            </a:prstGeom>
            <a:solidFill>
              <a:srgbClr val="CC9900"/>
            </a:solidFill>
            <a:ln w="9525">
              <a:solidFill>
                <a:srgbClr val="333399"/>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24" name="Text Box 19"/>
            <p:cNvSpPr txBox="1">
              <a:spLocks noChangeArrowheads="1"/>
            </p:cNvSpPr>
            <p:nvPr/>
          </p:nvSpPr>
          <p:spPr bwMode="auto">
            <a:xfrm>
              <a:off x="2252663" y="2800351"/>
              <a:ext cx="6921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algn="ctr" eaLnBrk="1" hangingPunct="1">
                <a:spcBef>
                  <a:spcPct val="0"/>
                </a:spcBef>
                <a:buClrTx/>
                <a:buSzTx/>
                <a:buFontTx/>
                <a:buNone/>
              </a:pPr>
              <a:r>
                <a:rPr kumimoji="1" lang="zh-CN" altLang="en-US" sz="2000"/>
                <a:t>分组</a:t>
              </a:r>
            </a:p>
            <a:p>
              <a:pPr algn="ctr" eaLnBrk="1" hangingPunct="1">
                <a:spcBef>
                  <a:spcPct val="0"/>
                </a:spcBef>
                <a:buClrTx/>
                <a:buSzTx/>
                <a:buFontTx/>
                <a:buNone/>
              </a:pPr>
              <a:r>
                <a:rPr kumimoji="1" lang="zh-CN" altLang="en-US" sz="2000"/>
                <a:t>到达</a:t>
              </a:r>
            </a:p>
          </p:txBody>
        </p:sp>
        <p:sp>
          <p:nvSpPr>
            <p:cNvPr id="25" name="Text Box 20"/>
            <p:cNvSpPr txBox="1">
              <a:spLocks noChangeArrowheads="1"/>
            </p:cNvSpPr>
            <p:nvPr/>
          </p:nvSpPr>
          <p:spPr bwMode="auto">
            <a:xfrm>
              <a:off x="6234114" y="4545013"/>
              <a:ext cx="21162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平均队列长度 </a:t>
              </a:r>
              <a:r>
                <a:rPr kumimoji="1" lang="en-US" altLang="zh-CN" sz="2000" i="1"/>
                <a:t>L</a:t>
              </a:r>
              <a:r>
                <a:rPr kumimoji="1" lang="en-US" altLang="zh-CN" sz="2000" baseline="-25000"/>
                <a:t>av</a:t>
              </a:r>
            </a:p>
          </p:txBody>
        </p:sp>
        <p:sp>
          <p:nvSpPr>
            <p:cNvPr id="26" name="Line 21"/>
            <p:cNvSpPr>
              <a:spLocks noChangeShapeType="1"/>
            </p:cNvSpPr>
            <p:nvPr/>
          </p:nvSpPr>
          <p:spPr bwMode="auto">
            <a:xfrm>
              <a:off x="8374063" y="2154238"/>
              <a:ext cx="0" cy="4619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 name="Text Box 22"/>
            <p:cNvSpPr txBox="1">
              <a:spLocks noChangeArrowheads="1"/>
            </p:cNvSpPr>
            <p:nvPr/>
          </p:nvSpPr>
          <p:spPr bwMode="auto">
            <a:xfrm>
              <a:off x="7515225" y="2166939"/>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排队</a:t>
              </a:r>
            </a:p>
          </p:txBody>
        </p:sp>
        <p:sp>
          <p:nvSpPr>
            <p:cNvPr id="28" name="Text Box 23"/>
            <p:cNvSpPr txBox="1">
              <a:spLocks noChangeArrowheads="1"/>
            </p:cNvSpPr>
            <p:nvPr/>
          </p:nvSpPr>
          <p:spPr bwMode="auto">
            <a:xfrm>
              <a:off x="3457575" y="2166939"/>
              <a:ext cx="692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丢弃</a:t>
              </a:r>
            </a:p>
          </p:txBody>
        </p:sp>
        <p:sp>
          <p:nvSpPr>
            <p:cNvPr id="29" name="Text Box 24"/>
            <p:cNvSpPr txBox="1">
              <a:spLocks noChangeArrowheads="1"/>
            </p:cNvSpPr>
            <p:nvPr/>
          </p:nvSpPr>
          <p:spPr bwMode="auto">
            <a:xfrm>
              <a:off x="4967289" y="2168526"/>
              <a:ext cx="17367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以概率</a:t>
              </a:r>
              <a:r>
                <a:rPr kumimoji="1" lang="zh-CN" altLang="en-US" sz="2000" i="1"/>
                <a:t> </a:t>
              </a:r>
              <a:r>
                <a:rPr kumimoji="1" lang="en-US" altLang="zh-CN" sz="2000" i="1"/>
                <a:t>p</a:t>
              </a:r>
              <a:r>
                <a:rPr kumimoji="1" lang="en-US" altLang="zh-CN" sz="2000"/>
                <a:t> </a:t>
              </a:r>
              <a:r>
                <a:rPr kumimoji="1" lang="zh-CN" altLang="en-US" sz="2000"/>
                <a:t>丢弃</a:t>
              </a:r>
            </a:p>
          </p:txBody>
        </p:sp>
        <p:sp>
          <p:nvSpPr>
            <p:cNvPr id="30" name="Line 25"/>
            <p:cNvSpPr>
              <a:spLocks noChangeShapeType="1"/>
            </p:cNvSpPr>
            <p:nvPr/>
          </p:nvSpPr>
          <p:spPr bwMode="auto">
            <a:xfrm>
              <a:off x="6130926" y="4562475"/>
              <a:ext cx="2225675" cy="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1" name="Line 26"/>
            <p:cNvSpPr>
              <a:spLocks noChangeShapeType="1"/>
            </p:cNvSpPr>
            <p:nvPr/>
          </p:nvSpPr>
          <p:spPr bwMode="auto">
            <a:xfrm flipH="1">
              <a:off x="8374064" y="3935413"/>
              <a:ext cx="14287" cy="150971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 name="Line 27"/>
            <p:cNvSpPr>
              <a:spLocks noChangeShapeType="1"/>
            </p:cNvSpPr>
            <p:nvPr/>
          </p:nvSpPr>
          <p:spPr bwMode="auto">
            <a:xfrm>
              <a:off x="6122988" y="3925888"/>
              <a:ext cx="0" cy="8699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 name="Line 28"/>
            <p:cNvSpPr>
              <a:spLocks noChangeShapeType="1"/>
            </p:cNvSpPr>
            <p:nvPr/>
          </p:nvSpPr>
          <p:spPr bwMode="auto">
            <a:xfrm>
              <a:off x="7404101" y="4086225"/>
              <a:ext cx="1006475" cy="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4" name="Line 29"/>
            <p:cNvSpPr>
              <a:spLocks noChangeShapeType="1"/>
            </p:cNvSpPr>
            <p:nvPr/>
          </p:nvSpPr>
          <p:spPr bwMode="auto">
            <a:xfrm>
              <a:off x="4270375" y="5111750"/>
              <a:ext cx="4095750" cy="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5" name="Line 30"/>
            <p:cNvSpPr>
              <a:spLocks noChangeShapeType="1"/>
            </p:cNvSpPr>
            <p:nvPr/>
          </p:nvSpPr>
          <p:spPr bwMode="auto">
            <a:xfrm flipH="1" flipV="1">
              <a:off x="7872413" y="4105276"/>
              <a:ext cx="652462" cy="238125"/>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sp>
        <p:nvSpPr>
          <p:cNvPr id="4" name="灯片编号占位符 3"/>
          <p:cNvSpPr>
            <a:spLocks noGrp="1"/>
          </p:cNvSpPr>
          <p:nvPr>
            <p:ph type="sldNum" sz="quarter" idx="12"/>
          </p:nvPr>
        </p:nvSpPr>
        <p:spPr/>
        <p:txBody>
          <a:bodyPr/>
          <a:lstStyle/>
          <a:p>
            <a:fld id="{8D4D1E41-7A09-AB4A-A4E1-09765ADA2698}" type="slidenum">
              <a:rPr kumimoji="1" lang="zh-CN" altLang="en-US" smtClean="0"/>
              <a:t>90</a:t>
            </a:fld>
            <a:endParaRPr kumimoji="1" lang="zh-CN" altLang="en-US" dirty="0"/>
          </a:p>
        </p:txBody>
      </p:sp>
      <p:sp>
        <p:nvSpPr>
          <p:cNvPr id="37"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173364647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主动队列管理：随机早期检测</a:t>
            </a:r>
            <a:endParaRPr lang="zh-CN" altLang="en-US" dirty="0">
              <a:latin typeface="楷体_GB2312" pitchFamily="49" charset="-122"/>
            </a:endParaRPr>
          </a:p>
        </p:txBody>
      </p:sp>
      <p:sp>
        <p:nvSpPr>
          <p:cNvPr id="2" name="矩形 1"/>
          <p:cNvSpPr/>
          <p:nvPr/>
        </p:nvSpPr>
        <p:spPr>
          <a:xfrm>
            <a:off x="2528293" y="1532803"/>
            <a:ext cx="5412059" cy="461665"/>
          </a:xfrm>
          <a:prstGeom prst="rect">
            <a:avLst/>
          </a:prstGeom>
        </p:spPr>
        <p:txBody>
          <a:bodyPr wrap="none">
            <a:spAutoFit/>
          </a:bodyPr>
          <a:lstStyle/>
          <a:p>
            <a:r>
              <a:rPr lang="zh-CN" altLang="en-US" sz="2400" b="1" dirty="0">
                <a:solidFill>
                  <a:srgbClr val="C00000"/>
                </a:solidFill>
                <a:latin typeface="微软雅黑" panose="020B0503020204020204" pitchFamily="34" charset="-122"/>
                <a:ea typeface="微软雅黑" panose="020B0503020204020204" pitchFamily="34" charset="-122"/>
              </a:rPr>
              <a:t>丢弃概率 </a:t>
            </a:r>
            <a:r>
              <a:rPr lang="en-US" altLang="zh-CN" sz="2400" b="1" i="1" dirty="0">
                <a:solidFill>
                  <a:srgbClr val="C00000"/>
                </a:solidFill>
                <a:latin typeface="微软雅黑" panose="020B0503020204020204" pitchFamily="34" charset="-122"/>
                <a:ea typeface="微软雅黑" panose="020B0503020204020204" pitchFamily="34" charset="-122"/>
              </a:rPr>
              <a:t>p </a:t>
            </a:r>
            <a:r>
              <a:rPr lang="zh-CN" altLang="en-US" sz="2400" b="1" dirty="0">
                <a:solidFill>
                  <a:srgbClr val="C00000"/>
                </a:solidFill>
                <a:latin typeface="微软雅黑" panose="020B0503020204020204" pitchFamily="34" charset="-122"/>
                <a:ea typeface="微软雅黑" panose="020B0503020204020204" pitchFamily="34" charset="-122"/>
              </a:rPr>
              <a:t>与 </a:t>
            </a:r>
            <a:r>
              <a:rPr lang="en-US" altLang="zh-CN" sz="2400" b="1" dirty="0" err="1">
                <a:solidFill>
                  <a:srgbClr val="C00000"/>
                </a:solidFill>
                <a:latin typeface="微软雅黑" panose="020B0503020204020204" pitchFamily="34" charset="-122"/>
                <a:ea typeface="微软雅黑" panose="020B0503020204020204" pitchFamily="34" charset="-122"/>
              </a:rPr>
              <a:t>TH</a:t>
            </a:r>
            <a:r>
              <a:rPr lang="en-US" altLang="zh-CN" sz="2400" b="1" baseline="-25000" dirty="0" err="1">
                <a:solidFill>
                  <a:srgbClr val="C00000"/>
                </a:solidFill>
                <a:latin typeface="微软雅黑" panose="020B0503020204020204" pitchFamily="34" charset="-122"/>
                <a:ea typeface="微软雅黑" panose="020B0503020204020204" pitchFamily="34" charset="-122"/>
              </a:rPr>
              <a:t>min</a:t>
            </a:r>
            <a:r>
              <a:rPr lang="en-US" altLang="zh-CN" sz="2400" b="1" baseline="-25000" dirty="0">
                <a:solidFill>
                  <a:srgbClr val="C00000"/>
                </a:solidFill>
                <a:latin typeface="微软雅黑" panose="020B0503020204020204" pitchFamily="34" charset="-122"/>
                <a:ea typeface="微软雅黑" panose="020B0503020204020204" pitchFamily="34" charset="-122"/>
              </a:rPr>
              <a:t> </a:t>
            </a:r>
            <a:r>
              <a:rPr lang="zh-CN" altLang="en-US" sz="2400" b="1" dirty="0">
                <a:solidFill>
                  <a:srgbClr val="C00000"/>
                </a:solidFill>
                <a:latin typeface="微软雅黑" panose="020B0503020204020204" pitchFamily="34" charset="-122"/>
                <a:ea typeface="微软雅黑" panose="020B0503020204020204" pitchFamily="34" charset="-122"/>
              </a:rPr>
              <a:t>和 </a:t>
            </a:r>
            <a:r>
              <a:rPr lang="en-US" altLang="zh-CN" sz="2400" b="1" dirty="0" err="1">
                <a:solidFill>
                  <a:srgbClr val="C00000"/>
                </a:solidFill>
                <a:latin typeface="微软雅黑" panose="020B0503020204020204" pitchFamily="34" charset="-122"/>
                <a:ea typeface="微软雅黑" panose="020B0503020204020204" pitchFamily="34" charset="-122"/>
              </a:rPr>
              <a:t>Th</a:t>
            </a:r>
            <a:r>
              <a:rPr lang="en-US" altLang="zh-CN" sz="2400" b="1" baseline="-25000" dirty="0" err="1">
                <a:solidFill>
                  <a:srgbClr val="C00000"/>
                </a:solidFill>
                <a:latin typeface="微软雅黑" panose="020B0503020204020204" pitchFamily="34" charset="-122"/>
                <a:ea typeface="微软雅黑" panose="020B0503020204020204" pitchFamily="34" charset="-122"/>
              </a:rPr>
              <a:t>max</a:t>
            </a:r>
            <a:r>
              <a:rPr lang="en-US" altLang="zh-CN" sz="2400" b="1" baseline="-25000" dirty="0">
                <a:solidFill>
                  <a:srgbClr val="C00000"/>
                </a:solidFill>
                <a:latin typeface="微软雅黑" panose="020B0503020204020204" pitchFamily="34" charset="-122"/>
                <a:ea typeface="微软雅黑" panose="020B0503020204020204" pitchFamily="34" charset="-122"/>
              </a:rPr>
              <a:t> </a:t>
            </a:r>
            <a:r>
              <a:rPr lang="zh-CN" altLang="en-US" sz="2400" b="1" dirty="0">
                <a:solidFill>
                  <a:srgbClr val="C00000"/>
                </a:solidFill>
                <a:latin typeface="微软雅黑" panose="020B0503020204020204" pitchFamily="34" charset="-122"/>
                <a:ea typeface="微软雅黑" panose="020B0503020204020204" pitchFamily="34" charset="-122"/>
              </a:rPr>
              <a:t>的关系 </a:t>
            </a:r>
          </a:p>
        </p:txBody>
      </p:sp>
      <p:grpSp>
        <p:nvGrpSpPr>
          <p:cNvPr id="6" name="组合 5"/>
          <p:cNvGrpSpPr/>
          <p:nvPr/>
        </p:nvGrpSpPr>
        <p:grpSpPr>
          <a:xfrm>
            <a:off x="1549949" y="4158177"/>
            <a:ext cx="8818710" cy="2344796"/>
            <a:chOff x="1641476" y="4040189"/>
            <a:chExt cx="8818710" cy="2344796"/>
          </a:xfrm>
        </p:grpSpPr>
        <p:sp>
          <p:nvSpPr>
            <p:cNvPr id="7" name="Line 4"/>
            <p:cNvSpPr>
              <a:spLocks noChangeShapeType="1"/>
            </p:cNvSpPr>
            <p:nvPr/>
          </p:nvSpPr>
          <p:spPr bwMode="auto">
            <a:xfrm>
              <a:off x="2301876" y="5959475"/>
              <a:ext cx="77898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8" name="Line 5"/>
            <p:cNvSpPr>
              <a:spLocks noChangeShapeType="1"/>
            </p:cNvSpPr>
            <p:nvPr/>
          </p:nvSpPr>
          <p:spPr bwMode="auto">
            <a:xfrm rot="16200000">
              <a:off x="1354138" y="5011738"/>
              <a:ext cx="189547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9" name="Text Box 6"/>
            <p:cNvSpPr txBox="1">
              <a:spLocks noChangeArrowheads="1"/>
            </p:cNvSpPr>
            <p:nvPr/>
          </p:nvSpPr>
          <p:spPr bwMode="auto">
            <a:xfrm>
              <a:off x="3430588" y="5984875"/>
              <a:ext cx="18952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最小门限 </a:t>
              </a:r>
              <a:r>
                <a:rPr kumimoji="1" lang="en-US" altLang="zh-CN" sz="2000"/>
                <a:t>TH</a:t>
              </a:r>
              <a:r>
                <a:rPr kumimoji="1" lang="en-US" altLang="zh-CN" sz="2000" baseline="-25000"/>
                <a:t>min</a:t>
              </a:r>
            </a:p>
          </p:txBody>
        </p:sp>
        <p:sp>
          <p:nvSpPr>
            <p:cNvPr id="10" name="Text Box 7"/>
            <p:cNvSpPr txBox="1">
              <a:spLocks noChangeArrowheads="1"/>
            </p:cNvSpPr>
            <p:nvPr/>
          </p:nvSpPr>
          <p:spPr bwMode="auto">
            <a:xfrm>
              <a:off x="6240463" y="5953125"/>
              <a:ext cx="19417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最大门限 </a:t>
              </a:r>
              <a:r>
                <a:rPr kumimoji="1" lang="en-US" altLang="zh-CN" sz="2000"/>
                <a:t>TH</a:t>
              </a:r>
              <a:r>
                <a:rPr kumimoji="1" lang="en-US" altLang="zh-CN" sz="2000" baseline="-25000"/>
                <a:t>max</a:t>
              </a:r>
            </a:p>
          </p:txBody>
        </p:sp>
        <p:sp>
          <p:nvSpPr>
            <p:cNvPr id="11" name="Text Box 8"/>
            <p:cNvSpPr txBox="1">
              <a:spLocks noChangeArrowheads="1"/>
            </p:cNvSpPr>
            <p:nvPr/>
          </p:nvSpPr>
          <p:spPr bwMode="auto">
            <a:xfrm>
              <a:off x="8343901" y="5518150"/>
              <a:ext cx="21162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平均队列长度 </a:t>
              </a:r>
              <a:r>
                <a:rPr kumimoji="1" lang="en-US" altLang="zh-CN" sz="2000" i="1"/>
                <a:t>L</a:t>
              </a:r>
              <a:r>
                <a:rPr kumimoji="1" lang="en-US" altLang="zh-CN" sz="2000" baseline="-25000"/>
                <a:t>av</a:t>
              </a:r>
            </a:p>
          </p:txBody>
        </p:sp>
        <p:sp>
          <p:nvSpPr>
            <p:cNvPr id="12" name="Text Box 9"/>
            <p:cNvSpPr txBox="1">
              <a:spLocks noChangeArrowheads="1"/>
            </p:cNvSpPr>
            <p:nvPr/>
          </p:nvSpPr>
          <p:spPr bwMode="auto">
            <a:xfrm>
              <a:off x="2414589" y="4040189"/>
              <a:ext cx="1919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分组丢弃概率</a:t>
              </a:r>
              <a:r>
                <a:rPr kumimoji="1" lang="zh-CN" altLang="en-US" sz="2000" i="1"/>
                <a:t> </a:t>
              </a:r>
              <a:r>
                <a:rPr kumimoji="1" lang="en-US" altLang="zh-CN" sz="2000" i="1"/>
                <a:t>p</a:t>
              </a:r>
            </a:p>
          </p:txBody>
        </p:sp>
        <p:sp>
          <p:nvSpPr>
            <p:cNvPr id="13" name="Line 10"/>
            <p:cNvSpPr>
              <a:spLocks noChangeShapeType="1"/>
            </p:cNvSpPr>
            <p:nvPr/>
          </p:nvSpPr>
          <p:spPr bwMode="auto">
            <a:xfrm>
              <a:off x="7381875" y="5484813"/>
              <a:ext cx="0" cy="474662"/>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 name="Line 11"/>
            <p:cNvSpPr>
              <a:spLocks noChangeShapeType="1"/>
            </p:cNvSpPr>
            <p:nvPr/>
          </p:nvSpPr>
          <p:spPr bwMode="auto">
            <a:xfrm>
              <a:off x="4559300" y="5880101"/>
              <a:ext cx="0" cy="79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2"/>
            <p:cNvSpPr>
              <a:spLocks noChangeShapeType="1"/>
            </p:cNvSpPr>
            <p:nvPr/>
          </p:nvSpPr>
          <p:spPr bwMode="auto">
            <a:xfrm rot="16200000">
              <a:off x="2358232" y="4402932"/>
              <a:ext cx="0" cy="1127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Freeform 13"/>
            <p:cNvSpPr>
              <a:spLocks/>
            </p:cNvSpPr>
            <p:nvPr/>
          </p:nvSpPr>
          <p:spPr bwMode="auto">
            <a:xfrm>
              <a:off x="4559301" y="4459289"/>
              <a:ext cx="5307013" cy="1500187"/>
            </a:xfrm>
            <a:custGeom>
              <a:avLst/>
              <a:gdLst>
                <a:gd name="T0" fmla="*/ 0 w 2256"/>
                <a:gd name="T1" fmla="*/ 2147483646 h 912"/>
                <a:gd name="T2" fmla="*/ 2147483646 w 2256"/>
                <a:gd name="T3" fmla="*/ 2147483646 h 912"/>
                <a:gd name="T4" fmla="*/ 2147483646 w 2256"/>
                <a:gd name="T5" fmla="*/ 0 h 912"/>
                <a:gd name="T6" fmla="*/ 2147483646 w 2256"/>
                <a:gd name="T7" fmla="*/ 0 h 912"/>
                <a:gd name="T8" fmla="*/ 0 60000 65536"/>
                <a:gd name="T9" fmla="*/ 0 60000 65536"/>
                <a:gd name="T10" fmla="*/ 0 60000 65536"/>
                <a:gd name="T11" fmla="*/ 0 60000 65536"/>
                <a:gd name="T12" fmla="*/ 0 w 2256"/>
                <a:gd name="T13" fmla="*/ 0 h 912"/>
                <a:gd name="T14" fmla="*/ 2256 w 2256"/>
                <a:gd name="T15" fmla="*/ 912 h 912"/>
              </a:gdLst>
              <a:ahLst/>
              <a:cxnLst>
                <a:cxn ang="T8">
                  <a:pos x="T0" y="T1"/>
                </a:cxn>
                <a:cxn ang="T9">
                  <a:pos x="T2" y="T3"/>
                </a:cxn>
                <a:cxn ang="T10">
                  <a:pos x="T4" y="T5"/>
                </a:cxn>
                <a:cxn ang="T11">
                  <a:pos x="T6" y="T7"/>
                </a:cxn>
              </a:cxnLst>
              <a:rect l="T12" t="T13" r="T14" b="T15"/>
              <a:pathLst>
                <a:path w="2256" h="912">
                  <a:moveTo>
                    <a:pt x="0" y="912"/>
                  </a:moveTo>
                  <a:lnTo>
                    <a:pt x="1200" y="624"/>
                  </a:lnTo>
                  <a:lnTo>
                    <a:pt x="1200" y="0"/>
                  </a:lnTo>
                  <a:lnTo>
                    <a:pt x="2256" y="0"/>
                  </a:lnTo>
                </a:path>
              </a:pathLst>
            </a:custGeom>
            <a:noFill/>
            <a:ln w="57150">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 name="Text Box 14"/>
            <p:cNvSpPr txBox="1">
              <a:spLocks noChangeArrowheads="1"/>
            </p:cNvSpPr>
            <p:nvPr/>
          </p:nvSpPr>
          <p:spPr bwMode="auto">
            <a:xfrm>
              <a:off x="1736726" y="4168776"/>
              <a:ext cx="5365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en-US" altLang="zh-CN" sz="2000"/>
                <a:t>1.0</a:t>
              </a:r>
              <a:endParaRPr kumimoji="1" lang="en-US" altLang="zh-CN" sz="2000" i="1"/>
            </a:p>
          </p:txBody>
        </p:sp>
        <p:sp>
          <p:nvSpPr>
            <p:cNvPr id="18" name="Text Box 15"/>
            <p:cNvSpPr txBox="1">
              <a:spLocks noChangeArrowheads="1"/>
            </p:cNvSpPr>
            <p:nvPr/>
          </p:nvSpPr>
          <p:spPr bwMode="auto">
            <a:xfrm>
              <a:off x="1878014" y="5637214"/>
              <a:ext cx="3254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en-US" altLang="zh-CN" sz="2000"/>
                <a:t>0</a:t>
              </a:r>
              <a:endParaRPr kumimoji="1" lang="en-US" altLang="zh-CN" sz="2000" i="1"/>
            </a:p>
          </p:txBody>
        </p:sp>
        <p:sp>
          <p:nvSpPr>
            <p:cNvPr id="19" name="Line 16"/>
            <p:cNvSpPr>
              <a:spLocks noChangeShapeType="1"/>
            </p:cNvSpPr>
            <p:nvPr/>
          </p:nvSpPr>
          <p:spPr bwMode="auto">
            <a:xfrm>
              <a:off x="2301875" y="5484813"/>
              <a:ext cx="5080000" cy="0"/>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 name="Text Box 17"/>
            <p:cNvSpPr txBox="1">
              <a:spLocks noChangeArrowheads="1"/>
            </p:cNvSpPr>
            <p:nvPr/>
          </p:nvSpPr>
          <p:spPr bwMode="auto">
            <a:xfrm>
              <a:off x="1641476" y="5175250"/>
              <a:ext cx="6495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en-US" altLang="zh-CN" sz="2000" i="1"/>
                <a:t>p</a:t>
              </a:r>
              <a:r>
                <a:rPr kumimoji="1" lang="en-US" altLang="zh-CN" sz="2000" baseline="-25000"/>
                <a:t>max</a:t>
              </a:r>
              <a:endParaRPr kumimoji="1" lang="en-US" altLang="zh-CN" sz="2000" i="1" baseline="-25000"/>
            </a:p>
          </p:txBody>
        </p:sp>
      </p:grpSp>
      <p:sp>
        <p:nvSpPr>
          <p:cNvPr id="21" name="Rectangle 20"/>
          <p:cNvSpPr txBox="1">
            <a:spLocks noChangeArrowheads="1"/>
          </p:cNvSpPr>
          <p:nvPr/>
        </p:nvSpPr>
        <p:spPr>
          <a:xfrm>
            <a:off x="2496483" y="2097629"/>
            <a:ext cx="8334428" cy="2376487"/>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Arial" panose="020B060402020209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r>
              <a:rPr lang="zh-CN" altLang="en-US" sz="2400" dirty="0"/>
              <a:t>当 </a:t>
            </a:r>
            <a:r>
              <a:rPr lang="en-US" altLang="zh-CN" sz="2400" i="1" dirty="0"/>
              <a:t>L</a:t>
            </a:r>
            <a:r>
              <a:rPr lang="en-US" altLang="zh-CN" sz="2400" baseline="-25000" dirty="0"/>
              <a:t>AV</a:t>
            </a:r>
            <a:r>
              <a:rPr lang="en-US" altLang="zh-CN" sz="2400" dirty="0"/>
              <a:t> </a:t>
            </a:r>
            <a:r>
              <a:rPr lang="en-US" altLang="zh-CN" sz="2400" dirty="0">
                <a:sym typeface="Symbol" panose="05050102010706020507" pitchFamily="18" charset="2"/>
              </a:rPr>
              <a:t> </a:t>
            </a:r>
            <a:r>
              <a:rPr lang="en-US" altLang="zh-CN" sz="2400" dirty="0" err="1"/>
              <a:t>Th</a:t>
            </a:r>
            <a:r>
              <a:rPr lang="en-US" altLang="zh-CN" sz="2400" baseline="-25000" dirty="0" err="1"/>
              <a:t>min</a:t>
            </a:r>
            <a:r>
              <a:rPr lang="en-US" altLang="zh-CN" sz="2400" baseline="-25000" dirty="0"/>
              <a:t> </a:t>
            </a:r>
            <a:r>
              <a:rPr lang="zh-CN" altLang="en-US" sz="2400" dirty="0"/>
              <a:t>时，丢弃概率 </a:t>
            </a:r>
            <a:r>
              <a:rPr lang="en-US" altLang="zh-CN" sz="2400" i="1" dirty="0"/>
              <a:t>p</a:t>
            </a:r>
            <a:r>
              <a:rPr lang="en-US" altLang="zh-CN" sz="2400" dirty="0"/>
              <a:t> = 0</a:t>
            </a:r>
            <a:endParaRPr lang="zh-CN" altLang="en-US" sz="2400" dirty="0"/>
          </a:p>
          <a:p>
            <a:r>
              <a:rPr lang="zh-CN" altLang="en-US" sz="2400" dirty="0"/>
              <a:t>当 </a:t>
            </a:r>
            <a:r>
              <a:rPr lang="en-US" altLang="zh-CN" sz="2400" i="1" dirty="0"/>
              <a:t>L</a:t>
            </a:r>
            <a:r>
              <a:rPr lang="en-US" altLang="zh-CN" sz="2400" baseline="-25000" dirty="0"/>
              <a:t>AV</a:t>
            </a:r>
            <a:r>
              <a:rPr lang="en-US" altLang="zh-CN" sz="2400" dirty="0"/>
              <a:t> </a:t>
            </a:r>
            <a:r>
              <a:rPr lang="en-US" altLang="zh-CN" sz="2400" dirty="0">
                <a:sym typeface="Symbol" panose="05050102010706020507" pitchFamily="18" charset="2"/>
              </a:rPr>
              <a:t></a:t>
            </a:r>
            <a:r>
              <a:rPr lang="en-US" altLang="zh-CN" sz="2400" dirty="0" err="1"/>
              <a:t>Th</a:t>
            </a:r>
            <a:r>
              <a:rPr lang="en-US" altLang="zh-CN" sz="2400" baseline="-25000" dirty="0" err="1"/>
              <a:t>max</a:t>
            </a:r>
            <a:r>
              <a:rPr lang="en-US" altLang="zh-CN" sz="2400" baseline="-25000" dirty="0"/>
              <a:t> </a:t>
            </a:r>
            <a:r>
              <a:rPr lang="zh-CN" altLang="en-US" sz="2400" dirty="0"/>
              <a:t>时，丢弃概率 </a:t>
            </a:r>
            <a:r>
              <a:rPr lang="en-US" altLang="zh-CN" sz="2400" i="1" dirty="0"/>
              <a:t>p</a:t>
            </a:r>
            <a:r>
              <a:rPr lang="en-US" altLang="zh-CN" sz="2400" dirty="0"/>
              <a:t> = 1</a:t>
            </a:r>
            <a:endParaRPr lang="zh-CN" altLang="en-US" sz="2400" dirty="0"/>
          </a:p>
          <a:p>
            <a:r>
              <a:rPr lang="zh-CN" altLang="en-US" sz="2400" dirty="0"/>
              <a:t>当 </a:t>
            </a:r>
            <a:r>
              <a:rPr lang="en-US" altLang="zh-CN" sz="2400" dirty="0" err="1"/>
              <a:t>TH</a:t>
            </a:r>
            <a:r>
              <a:rPr lang="en-US" altLang="zh-CN" sz="2400" baseline="-25000" dirty="0" err="1"/>
              <a:t>min</a:t>
            </a:r>
            <a:r>
              <a:rPr lang="en-US" altLang="zh-CN" sz="2400" dirty="0"/>
              <a:t> </a:t>
            </a:r>
            <a:r>
              <a:rPr lang="en-US" altLang="zh-CN" sz="2400" dirty="0">
                <a:sym typeface="Symbol" panose="05050102010706020507" pitchFamily="18" charset="2"/>
              </a:rPr>
              <a:t></a:t>
            </a:r>
            <a:r>
              <a:rPr lang="en-US" altLang="zh-CN" sz="2400" dirty="0"/>
              <a:t> </a:t>
            </a:r>
            <a:r>
              <a:rPr lang="en-US" altLang="zh-CN" sz="2400" i="1" dirty="0"/>
              <a:t>L</a:t>
            </a:r>
            <a:r>
              <a:rPr lang="en-US" altLang="zh-CN" sz="2400" baseline="-25000" dirty="0"/>
              <a:t>AV</a:t>
            </a:r>
            <a:r>
              <a:rPr lang="en-US" altLang="zh-CN" sz="2400" dirty="0"/>
              <a:t> </a:t>
            </a:r>
            <a:r>
              <a:rPr lang="en-US" altLang="zh-CN" sz="2400" dirty="0">
                <a:sym typeface="Symbol" panose="05050102010706020507" pitchFamily="18" charset="2"/>
              </a:rPr>
              <a:t></a:t>
            </a:r>
            <a:r>
              <a:rPr lang="en-US" altLang="zh-CN" sz="2400" dirty="0"/>
              <a:t> </a:t>
            </a:r>
            <a:r>
              <a:rPr lang="en-US" altLang="zh-CN" sz="2400" dirty="0" err="1"/>
              <a:t>TH</a:t>
            </a:r>
            <a:r>
              <a:rPr lang="en-US" altLang="zh-CN" sz="2400" baseline="-25000" dirty="0" err="1"/>
              <a:t>max</a:t>
            </a:r>
            <a:r>
              <a:rPr lang="zh-CN" altLang="en-US" sz="2400" dirty="0"/>
              <a:t>时，</a:t>
            </a:r>
            <a:r>
              <a:rPr lang="zh-CN" altLang="en-US" sz="2400" i="1" dirty="0"/>
              <a:t> </a:t>
            </a:r>
            <a:r>
              <a:rPr lang="zh-CN" altLang="en-US" sz="2400" dirty="0"/>
              <a:t> </a:t>
            </a:r>
            <a:r>
              <a:rPr lang="en-US" altLang="zh-CN" sz="2400" dirty="0"/>
              <a:t>0 </a:t>
            </a:r>
            <a:r>
              <a:rPr lang="en-US" altLang="zh-CN" sz="2400" dirty="0">
                <a:sym typeface="Symbol" panose="05050102010706020507" pitchFamily="18" charset="2"/>
              </a:rPr>
              <a:t></a:t>
            </a:r>
            <a:r>
              <a:rPr lang="en-US" altLang="zh-CN" sz="2400" dirty="0"/>
              <a:t> </a:t>
            </a:r>
            <a:r>
              <a:rPr lang="en-US" altLang="zh-CN" sz="2400" i="1" dirty="0"/>
              <a:t>p </a:t>
            </a:r>
            <a:r>
              <a:rPr lang="en-US" altLang="zh-CN" sz="2400" dirty="0">
                <a:sym typeface="Symbol" panose="05050102010706020507" pitchFamily="18" charset="2"/>
              </a:rPr>
              <a:t></a:t>
            </a:r>
            <a:r>
              <a:rPr lang="en-US" altLang="zh-CN" sz="2400" dirty="0"/>
              <a:t> 1 </a:t>
            </a:r>
            <a:endParaRPr lang="zh-CN" altLang="en-US" sz="2400" dirty="0"/>
          </a:p>
          <a:p>
            <a:pPr>
              <a:buFont typeface="Wingdings" panose="05000000000000000000" pitchFamily="2" charset="2"/>
              <a:buNone/>
            </a:pPr>
            <a:r>
              <a:rPr lang="zh-CN" altLang="en-US" sz="2400" dirty="0"/>
              <a:t>    例如，按线性规律变化，从 </a:t>
            </a:r>
            <a:r>
              <a:rPr lang="en-US" altLang="zh-CN" sz="2400" dirty="0"/>
              <a:t>0 </a:t>
            </a:r>
            <a:r>
              <a:rPr lang="zh-CN" altLang="en-US" sz="2400" dirty="0"/>
              <a:t>变到 </a:t>
            </a:r>
            <a:r>
              <a:rPr lang="en-US" altLang="zh-CN" sz="2400" i="1" dirty="0" err="1"/>
              <a:t>p</a:t>
            </a:r>
            <a:r>
              <a:rPr lang="en-US" altLang="zh-CN" sz="2400" baseline="-25000" dirty="0" err="1"/>
              <a:t>max</a:t>
            </a:r>
            <a:endParaRPr lang="zh-CN" altLang="en-US" sz="24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91</a:t>
            </a:fld>
            <a:endParaRPr kumimoji="1" lang="zh-CN" altLang="en-US" dirty="0"/>
          </a:p>
        </p:txBody>
      </p:sp>
      <p:sp>
        <p:nvSpPr>
          <p:cNvPr id="22"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spTree>
    <p:extLst>
      <p:ext uri="{BB962C8B-B14F-4D97-AF65-F5344CB8AC3E}">
        <p14:creationId xmlns:p14="http://schemas.microsoft.com/office/powerpoint/2010/main" val="192939756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抑制</a:t>
            </a:r>
            <a:r>
              <a:rPr kumimoji="1" lang="zh-CN" altLang="en-US"/>
              <a:t>数据包（避免式</a:t>
            </a:r>
            <a:r>
              <a:rPr kumimoji="1" lang="zh-CN" altLang="en-US" dirty="0"/>
              <a:t>）</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784149" y="1742292"/>
            <a:ext cx="10743700" cy="3515617"/>
          </a:xfrm>
        </p:spPr>
        <p:txBody>
          <a:bodyPr>
            <a:noAutofit/>
          </a:bodyPr>
          <a:lstStyle/>
          <a:p>
            <a:pPr>
              <a:lnSpc>
                <a:spcPct val="150000"/>
              </a:lnSpc>
            </a:pPr>
            <a:r>
              <a:rPr lang="zh-CN" altLang="en-US" sz="2400" b="1" dirty="0">
                <a:solidFill>
                  <a:srgbClr val="C00000"/>
                </a:solidFill>
                <a:latin typeface="微软雅黑" panose="020B0503020204020204" pitchFamily="34" charset="-122"/>
                <a:ea typeface="微软雅黑" panose="020B0503020204020204" pitchFamily="34" charset="-122"/>
              </a:rPr>
              <a:t>抑制包</a:t>
            </a:r>
            <a:r>
              <a:rPr lang="en-US" altLang="zh-CN" sz="2400" b="1" dirty="0">
                <a:solidFill>
                  <a:srgbClr val="C00000"/>
                </a:solidFill>
                <a:latin typeface="微软雅黑" panose="020B0503020204020204" pitchFamily="34" charset="-122"/>
                <a:ea typeface="微软雅黑" panose="020B0503020204020204" pitchFamily="34" charset="-122"/>
              </a:rPr>
              <a:t>(Choke Packets)</a:t>
            </a:r>
            <a:r>
              <a:rPr lang="zh-CN" altLang="en-US" sz="2400" b="1" dirty="0">
                <a:solidFill>
                  <a:srgbClr val="C00000"/>
                </a:solidFill>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用于通知发送方减小发送量，路由器选择一个被拥塞的数据包，给该数据包的源主机返回一个抑制包，抑制包中的目的地址取自该拥塞数据包。源主机收到抑制包后，减少发向特定目的地址的流量</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zh-CN" altLang="en-US" sz="2400" dirty="0">
                <a:solidFill>
                  <a:srgbClr val="C00000"/>
                </a:solidFill>
              </a:rPr>
              <a:t>不足之处</a:t>
            </a:r>
            <a:r>
              <a:rPr lang="zh-CN" altLang="en-US" sz="2400" dirty="0">
                <a:solidFill>
                  <a:prstClr val="black"/>
                </a:solidFill>
              </a:rPr>
              <a:t>：</a:t>
            </a:r>
            <a:endParaRPr lang="en-US" altLang="zh-CN" sz="2400" dirty="0">
              <a:solidFill>
                <a:prstClr val="black"/>
              </a:solidFill>
            </a:endParaRPr>
          </a:p>
          <a:p>
            <a:pPr marL="0" lvl="0" indent="0">
              <a:buNone/>
            </a:pPr>
            <a:r>
              <a:rPr lang="en-US" altLang="zh-CN" sz="2400" dirty="0">
                <a:solidFill>
                  <a:prstClr val="black"/>
                </a:solidFill>
              </a:rPr>
              <a:t>	</a:t>
            </a:r>
            <a:r>
              <a:rPr lang="zh-CN" altLang="zh-CN" sz="2400" dirty="0">
                <a:solidFill>
                  <a:prstClr val="black"/>
                </a:solidFill>
              </a:rPr>
              <a:t>①效率问题</a:t>
            </a:r>
            <a:r>
              <a:rPr lang="zh-CN" altLang="en-US" sz="2400" dirty="0">
                <a:solidFill>
                  <a:prstClr val="black"/>
                </a:solidFill>
              </a:rPr>
              <a:t>：阻塞包可能误伤</a:t>
            </a:r>
            <a:r>
              <a:rPr lang="en-US" altLang="zh-CN" sz="2400" dirty="0">
                <a:solidFill>
                  <a:prstClr val="black"/>
                </a:solidFill>
              </a:rPr>
              <a:t>(</a:t>
            </a:r>
            <a:r>
              <a:rPr lang="zh-CN" altLang="en-US" sz="2400" dirty="0">
                <a:solidFill>
                  <a:prstClr val="black"/>
                </a:solidFill>
              </a:rPr>
              <a:t>不同源、不同流）</a:t>
            </a:r>
            <a:endParaRPr lang="en-US" altLang="zh-CN" sz="2400" dirty="0">
              <a:solidFill>
                <a:prstClr val="black"/>
              </a:solidFill>
            </a:endParaRPr>
          </a:p>
          <a:p>
            <a:pPr marL="0" lvl="0" indent="0">
              <a:buNone/>
            </a:pPr>
            <a:r>
              <a:rPr lang="en-US" altLang="zh-CN" sz="2400" dirty="0">
                <a:solidFill>
                  <a:prstClr val="black"/>
                </a:solidFill>
              </a:rPr>
              <a:t>	</a:t>
            </a:r>
            <a:r>
              <a:rPr lang="zh-CN" altLang="zh-CN" sz="2400" dirty="0">
                <a:solidFill>
                  <a:prstClr val="black"/>
                </a:solidFill>
              </a:rPr>
              <a:t>②有效性问题</a:t>
            </a:r>
            <a:r>
              <a:rPr lang="zh-CN" altLang="en-US" sz="2400" dirty="0">
                <a:solidFill>
                  <a:prstClr val="black"/>
                </a:solidFill>
              </a:rPr>
              <a:t>：阻塞包可能不起作用</a:t>
            </a:r>
            <a:endParaRPr lang="en-US" altLang="zh-CN" sz="2400" dirty="0">
              <a:solidFill>
                <a:prstClr val="black"/>
              </a:solidFill>
            </a:endParaRPr>
          </a:p>
          <a:p>
            <a:pPr marL="0" lvl="0" indent="0">
              <a:buNone/>
            </a:pPr>
            <a:r>
              <a:rPr lang="en-US" altLang="zh-CN" sz="2400" dirty="0">
                <a:solidFill>
                  <a:prstClr val="black"/>
                </a:solidFill>
              </a:rPr>
              <a:t>	</a:t>
            </a:r>
            <a:r>
              <a:rPr lang="zh-CN" altLang="zh-CN" sz="2400" dirty="0">
                <a:solidFill>
                  <a:prstClr val="black"/>
                </a:solidFill>
              </a:rPr>
              <a:t>③公平性问题</a:t>
            </a:r>
            <a:r>
              <a:rPr lang="zh-CN" altLang="en-US" sz="2400" dirty="0">
                <a:solidFill>
                  <a:prstClr val="black"/>
                </a:solidFill>
              </a:rPr>
              <a:t>：可能只抑制低速发送者</a:t>
            </a:r>
          </a:p>
          <a:p>
            <a:pPr>
              <a:lnSpc>
                <a:spcPct val="150000"/>
              </a:lnSpc>
            </a:pPr>
            <a:endParaRPr lang="en-US" altLang="zh-CN" sz="2400" dirty="0">
              <a:latin typeface="微软雅黑" panose="020B0503020204020204" pitchFamily="34" charset="-122"/>
              <a:ea typeface="微软雅黑" panose="020B0503020204020204" pitchFamily="34" charset="-122"/>
            </a:endParaRPr>
          </a:p>
        </p:txBody>
      </p:sp>
      <p:sp>
        <p:nvSpPr>
          <p:cNvPr id="5" name="Rectangle 3"/>
          <p:cNvSpPr txBox="1">
            <a:spLocks noChangeArrowheads="1"/>
          </p:cNvSpPr>
          <p:nvPr/>
        </p:nvSpPr>
        <p:spPr>
          <a:xfrm>
            <a:off x="1307508" y="1572080"/>
            <a:ext cx="4190617" cy="742093"/>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endParaRPr lang="zh-CN" altLang="en-US" b="1" dirty="0">
              <a:solidFill>
                <a:srgbClr val="C00000"/>
              </a:solidFill>
            </a:endParaRP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92</a:t>
            </a:fld>
            <a:endParaRPr kumimoji="1" lang="zh-CN" altLang="en-US" dirty="0"/>
          </a:p>
        </p:txBody>
      </p:sp>
      <p:sp>
        <p:nvSpPr>
          <p:cNvPr id="7"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8" name="Picture 28" descr="015">
            <a:extLst>
              <a:ext uri="{FF2B5EF4-FFF2-40B4-BE49-F238E27FC236}">
                <a16:creationId xmlns:a16="http://schemas.microsoft.com/office/drawing/2014/main" id="{5A0A2BD3-1B49-46A6-ACD4-8A5034078F5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8817799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lang="zh-CN" altLang="en-US" dirty="0">
                <a:latin typeface="楷体_GB2312" pitchFamily="49" charset="-122"/>
              </a:rPr>
              <a:t>逐跳后压</a:t>
            </a:r>
            <a:r>
              <a:rPr kumimoji="1" lang="zh-CN" altLang="en-US" dirty="0"/>
              <a:t>（避免式）</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631767" y="1534677"/>
            <a:ext cx="11288684" cy="3515617"/>
          </a:xfrm>
        </p:spPr>
        <p:txBody>
          <a:bodyPr>
            <a:noAutofit/>
          </a:bodyPr>
          <a:lstStyle/>
          <a:p>
            <a:pPr>
              <a:lnSpc>
                <a:spcPct val="150000"/>
              </a:lnSpc>
            </a:pPr>
            <a:r>
              <a:rPr lang="zh-CN" altLang="en-US" sz="2400" b="1" dirty="0">
                <a:solidFill>
                  <a:srgbClr val="C00000"/>
                </a:solidFill>
                <a:latin typeface="微软雅黑" panose="020B0503020204020204" pitchFamily="34" charset="-122"/>
                <a:ea typeface="微软雅黑" panose="020B0503020204020204" pitchFamily="34" charset="-122"/>
              </a:rPr>
              <a:t>逐跳的抑制包</a:t>
            </a:r>
            <a:r>
              <a:rPr lang="en-US" altLang="zh-CN" sz="2400" b="1" dirty="0">
                <a:solidFill>
                  <a:srgbClr val="C00000"/>
                </a:solidFill>
                <a:latin typeface="微软雅黑" panose="020B0503020204020204" pitchFamily="34" charset="-122"/>
                <a:ea typeface="微软雅黑" panose="020B0503020204020204" pitchFamily="34" charset="-122"/>
              </a:rPr>
              <a:t>(Hop-by-Hop Choke Packets)</a:t>
            </a:r>
            <a:r>
              <a:rPr lang="zh-CN" altLang="en-US" sz="2400" b="1" dirty="0">
                <a:solidFill>
                  <a:srgbClr val="C00000"/>
                </a:solidFill>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在高速或长距离网络中，由于源主机响应太慢，抑制包算法对拥塞控制的效果并不好，可采用逐跳抑制方法；其核心思想是抑制包对它经过的每个路由器都起作用，能够迅速缓解发生拥塞处的拥塞，但要求上游路由器有更大的缓冲区</a:t>
            </a:r>
          </a:p>
          <a:p>
            <a:pPr marL="0" indent="0">
              <a:lnSpc>
                <a:spcPct val="150000"/>
              </a:lnSpc>
              <a:buNone/>
            </a:pPr>
            <a:endParaRPr lang="zh-CN" altLang="en-US" sz="2400" dirty="0">
              <a:latin typeface="微软雅黑" panose="020B0503020204020204" pitchFamily="34" charset="-122"/>
              <a:ea typeface="微软雅黑" panose="020B0503020204020204" pitchFamily="34" charset="-122"/>
            </a:endParaRP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93</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网络层流量管理</a:t>
            </a:r>
          </a:p>
        </p:txBody>
      </p:sp>
      <p:pic>
        <p:nvPicPr>
          <p:cNvPr id="7" name="Picture 28" descr="015">
            <a:extLst>
              <a:ext uri="{FF2B5EF4-FFF2-40B4-BE49-F238E27FC236}">
                <a16:creationId xmlns:a16="http://schemas.microsoft.com/office/drawing/2014/main" id="{D9AF6C1E-48EE-4552-A861-7AB9551993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3807335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显式拥塞通知（避免式）</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631767" y="1534677"/>
            <a:ext cx="11288684" cy="3515617"/>
          </a:xfrm>
        </p:spPr>
        <p:txBody>
          <a:bodyPr>
            <a:noAutofit/>
          </a:bodyPr>
          <a:lstStyle/>
          <a:p>
            <a:pPr>
              <a:lnSpc>
                <a:spcPct val="150000"/>
              </a:lnSpc>
            </a:pPr>
            <a:r>
              <a:rPr lang="zh-CN" altLang="en-US" sz="2400" b="1" dirty="0">
                <a:solidFill>
                  <a:srgbClr val="C00000"/>
                </a:solidFill>
                <a:latin typeface="微软雅黑" panose="020B0503020204020204" pitchFamily="34" charset="-122"/>
                <a:ea typeface="微软雅黑" panose="020B0503020204020204" pitchFamily="34" charset="-122"/>
              </a:rPr>
              <a:t>显式拥塞通告（</a:t>
            </a:r>
            <a:r>
              <a:rPr lang="en-US" altLang="zh-CN" sz="2400" b="1" dirty="0">
                <a:solidFill>
                  <a:srgbClr val="C00000"/>
                </a:solidFill>
                <a:latin typeface="微软雅黑" panose="020B0503020204020204" pitchFamily="34" charset="-122"/>
                <a:ea typeface="微软雅黑" panose="020B0503020204020204" pitchFamily="34" charset="-122"/>
              </a:rPr>
              <a:t>ECN</a:t>
            </a:r>
            <a:r>
              <a:rPr lang="zh-CN" altLang="en-US" sz="2400" b="1" dirty="0">
                <a:solidFill>
                  <a:srgbClr val="C00000"/>
                </a:solidFill>
                <a:latin typeface="微软雅黑" panose="020B0503020204020204" pitchFamily="34" charset="-122"/>
                <a:ea typeface="微软雅黑" panose="020B0503020204020204" pitchFamily="34" charset="-122"/>
              </a:rPr>
              <a:t>，</a:t>
            </a:r>
            <a:r>
              <a:rPr lang="en-US" altLang="zh-CN" sz="2400" b="1" dirty="0">
                <a:solidFill>
                  <a:srgbClr val="C00000"/>
                </a:solidFill>
                <a:latin typeface="微软雅黑" panose="020B0503020204020204" pitchFamily="34" charset="-122"/>
                <a:ea typeface="微软雅黑" panose="020B0503020204020204" pitchFamily="34" charset="-122"/>
              </a:rPr>
              <a:t>Explicit Congestion Notification</a:t>
            </a:r>
            <a:r>
              <a:rPr lang="zh-CN" altLang="en-US" sz="2400" b="1" dirty="0">
                <a:solidFill>
                  <a:srgbClr val="C00000"/>
                </a:solidFill>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包头中记录数据包是否经历了拥塞。在数据包转发过程中，路由器可以在包头中标记为经历拥塞，然后接收方在它的下一个应答数据包里回显该标记作为显式拥塞信号</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en-US" altLang="zh-CN" sz="2400" b="1" dirty="0">
                <a:solidFill>
                  <a:srgbClr val="C00000"/>
                </a:solidFill>
                <a:latin typeface="微软雅黑" panose="020B0503020204020204" pitchFamily="34" charset="-122"/>
                <a:ea typeface="微软雅黑" panose="020B0503020204020204" pitchFamily="34" charset="-122"/>
              </a:rPr>
              <a:t>RFC2474</a:t>
            </a:r>
            <a:r>
              <a:rPr lang="zh-CN" altLang="en-US" sz="2400" b="1" dirty="0">
                <a:solidFill>
                  <a:srgbClr val="C00000"/>
                </a:solidFill>
                <a:latin typeface="微软雅黑" panose="020B0503020204020204" pitchFamily="34" charset="-122"/>
                <a:ea typeface="微软雅黑" panose="020B0503020204020204" pitchFamily="34" charset="-122"/>
              </a:rPr>
              <a:t>中重新定义</a:t>
            </a:r>
            <a:r>
              <a:rPr lang="en-US" altLang="zh-CN" sz="2400" b="1" dirty="0">
                <a:solidFill>
                  <a:srgbClr val="C00000"/>
                </a:solidFill>
                <a:latin typeface="微软雅黑" panose="020B0503020204020204" pitchFamily="34" charset="-122"/>
                <a:ea typeface="微软雅黑" panose="020B0503020204020204" pitchFamily="34" charset="-122"/>
              </a:rPr>
              <a:t>TOS</a:t>
            </a:r>
            <a:r>
              <a:rPr lang="zh-CN" altLang="en-US" sz="2400" b="1" dirty="0">
                <a:solidFill>
                  <a:srgbClr val="C00000"/>
                </a:solidFill>
                <a:latin typeface="微软雅黑" panose="020B0503020204020204" pitchFamily="34" charset="-122"/>
                <a:ea typeface="微软雅黑" panose="020B0503020204020204" pitchFamily="34" charset="-122"/>
              </a:rPr>
              <a:t>域为包含一个</a:t>
            </a:r>
            <a:r>
              <a:rPr lang="en-US" altLang="zh-CN" sz="2400" b="1" dirty="0">
                <a:solidFill>
                  <a:srgbClr val="C00000"/>
                </a:solidFill>
                <a:latin typeface="微软雅黑" panose="020B0503020204020204" pitchFamily="34" charset="-122"/>
                <a:ea typeface="微软雅黑" panose="020B0503020204020204" pitchFamily="34" charset="-122"/>
              </a:rPr>
              <a:t>6</a:t>
            </a:r>
            <a:r>
              <a:rPr lang="zh-CN" altLang="en-US" sz="2400" b="1" dirty="0">
                <a:solidFill>
                  <a:srgbClr val="C00000"/>
                </a:solidFill>
                <a:latin typeface="微软雅黑" panose="020B0503020204020204" pitchFamily="34" charset="-122"/>
                <a:ea typeface="微软雅黑" panose="020B0503020204020204" pitchFamily="34" charset="-122"/>
              </a:rPr>
              <a:t>位的区分服务码点</a:t>
            </a:r>
            <a:r>
              <a:rPr lang="en-US" altLang="zh-CN" sz="2400" b="1" dirty="0">
                <a:solidFill>
                  <a:srgbClr val="C00000"/>
                </a:solidFill>
                <a:latin typeface="微软雅黑" panose="020B0503020204020204" pitchFamily="34" charset="-122"/>
                <a:ea typeface="微软雅黑" panose="020B0503020204020204" pitchFamily="34" charset="-122"/>
              </a:rPr>
              <a:t>(DSCP)</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2</a:t>
            </a:r>
            <a:r>
              <a:rPr lang="zh-CN" altLang="en-US" sz="2400" dirty="0">
                <a:latin typeface="微软雅黑" panose="020B0503020204020204" pitchFamily="34" charset="-122"/>
                <a:ea typeface="微软雅黑" panose="020B0503020204020204" pitchFamily="34" charset="-122"/>
              </a:rPr>
              <a:t>位未使用位；</a:t>
            </a:r>
            <a:r>
              <a:rPr lang="en-US" altLang="zh-CN" sz="2400" b="1" dirty="0">
                <a:solidFill>
                  <a:srgbClr val="C00000"/>
                </a:solidFill>
                <a:latin typeface="微软雅黑" panose="020B0503020204020204" pitchFamily="34" charset="-122"/>
                <a:ea typeface="微软雅黑" panose="020B0503020204020204" pitchFamily="34" charset="-122"/>
              </a:rPr>
              <a:t>RFC3168</a:t>
            </a:r>
            <a:r>
              <a:rPr lang="zh-CN" altLang="en-US" sz="2400" b="1" dirty="0">
                <a:solidFill>
                  <a:srgbClr val="C00000"/>
                </a:solidFill>
                <a:latin typeface="微软雅黑" panose="020B0503020204020204" pitchFamily="34" charset="-122"/>
                <a:ea typeface="微软雅黑" panose="020B0503020204020204" pitchFamily="34" charset="-122"/>
              </a:rPr>
              <a:t>重新定义</a:t>
            </a:r>
            <a:r>
              <a:rPr lang="en-US" altLang="zh-CN" sz="2400" b="1" dirty="0">
                <a:solidFill>
                  <a:srgbClr val="C00000"/>
                </a:solidFill>
                <a:latin typeface="微软雅黑" panose="020B0503020204020204" pitchFamily="34" charset="-122"/>
                <a:ea typeface="微软雅黑" panose="020B0503020204020204" pitchFamily="34" charset="-122"/>
              </a:rPr>
              <a:t>RFC2474</a:t>
            </a:r>
            <a:r>
              <a:rPr lang="zh-CN" altLang="en-US" sz="2400" b="1" dirty="0">
                <a:solidFill>
                  <a:srgbClr val="C00000"/>
                </a:solidFill>
                <a:latin typeface="微软雅黑" panose="020B0503020204020204" pitchFamily="34" charset="-122"/>
                <a:ea typeface="微软雅黑" panose="020B0503020204020204" pitchFamily="34" charset="-122"/>
              </a:rPr>
              <a:t>中</a:t>
            </a:r>
            <a:r>
              <a:rPr lang="en-US" altLang="zh-CN" sz="2400" b="1" dirty="0">
                <a:solidFill>
                  <a:srgbClr val="C00000"/>
                </a:solidFill>
                <a:latin typeface="微软雅黑" panose="020B0503020204020204" pitchFamily="34" charset="-122"/>
                <a:ea typeface="微软雅黑" panose="020B0503020204020204" pitchFamily="34" charset="-122"/>
              </a:rPr>
              <a:t>TOS</a:t>
            </a:r>
            <a:r>
              <a:rPr lang="zh-CN" altLang="en-US" sz="2400" b="1" dirty="0">
                <a:solidFill>
                  <a:srgbClr val="C00000"/>
                </a:solidFill>
                <a:latin typeface="微软雅黑" panose="020B0503020204020204" pitchFamily="34" charset="-122"/>
                <a:ea typeface="微软雅黑" panose="020B0503020204020204" pitchFamily="34" charset="-122"/>
              </a:rPr>
              <a:t>域未使用的两位为</a:t>
            </a:r>
            <a:r>
              <a:rPr lang="en-US" altLang="zh-CN" sz="2400" b="1" dirty="0">
                <a:solidFill>
                  <a:srgbClr val="C00000"/>
                </a:solidFill>
                <a:latin typeface="微软雅黑" panose="020B0503020204020204" pitchFamily="34" charset="-122"/>
                <a:ea typeface="微软雅黑" panose="020B0503020204020204" pitchFamily="34" charset="-122"/>
              </a:rPr>
              <a:t>ECN</a:t>
            </a:r>
            <a:r>
              <a:rPr lang="zh-CN" altLang="en-US" sz="2400" b="1" dirty="0">
                <a:solidFill>
                  <a:srgbClr val="C00000"/>
                </a:solidFill>
                <a:latin typeface="微软雅黑" panose="020B0503020204020204" pitchFamily="34" charset="-122"/>
                <a:ea typeface="微软雅黑" panose="020B0503020204020204" pitchFamily="34" charset="-122"/>
              </a:rPr>
              <a:t>域</a:t>
            </a:r>
            <a:r>
              <a:rPr lang="zh-CN" altLang="en-US" sz="2400" dirty="0">
                <a:latin typeface="微软雅黑" panose="020B0503020204020204" pitchFamily="34" charset="-122"/>
                <a:ea typeface="微软雅黑" panose="020B0503020204020204" pitchFamily="34" charset="-122"/>
              </a:rPr>
              <a:t>，包含如下值：</a:t>
            </a:r>
          </a:p>
          <a:p>
            <a:pPr lvl="1">
              <a:lnSpc>
                <a:spcPct val="150000"/>
              </a:lnSpc>
            </a:pPr>
            <a:r>
              <a:rPr lang="en-US" altLang="zh-CN" sz="2000" dirty="0">
                <a:latin typeface="微软雅黑" panose="020B0503020204020204" pitchFamily="34" charset="-122"/>
                <a:ea typeface="微软雅黑" panose="020B0503020204020204" pitchFamily="34" charset="-122"/>
              </a:rPr>
              <a:t>00</a:t>
            </a:r>
            <a:r>
              <a:rPr lang="zh-CN" altLang="en-US" sz="2000" dirty="0">
                <a:latin typeface="微软雅黑" panose="020B0503020204020204" pitchFamily="34" charset="-122"/>
                <a:ea typeface="微软雅黑" panose="020B0503020204020204" pitchFamily="34" charset="-122"/>
              </a:rPr>
              <a:t>：发送主机不支持</a:t>
            </a:r>
            <a:r>
              <a:rPr lang="en-US" altLang="zh-CN" sz="2000" dirty="0">
                <a:latin typeface="微软雅黑" panose="020B0503020204020204" pitchFamily="34" charset="-122"/>
                <a:ea typeface="微软雅黑" panose="020B0503020204020204" pitchFamily="34" charset="-122"/>
              </a:rPr>
              <a:t>ECN</a:t>
            </a:r>
          </a:p>
          <a:p>
            <a:pPr lvl="1">
              <a:lnSpc>
                <a:spcPct val="150000"/>
              </a:lnSpc>
            </a:pPr>
            <a:r>
              <a:rPr lang="en-US" altLang="zh-CN" sz="2000" dirty="0">
                <a:latin typeface="微软雅黑" panose="020B0503020204020204" pitchFamily="34" charset="-122"/>
                <a:ea typeface="微软雅黑" panose="020B0503020204020204" pitchFamily="34" charset="-122"/>
              </a:rPr>
              <a:t>01</a:t>
            </a:r>
            <a:r>
              <a:rPr lang="zh-CN" altLang="en-US" sz="2000" dirty="0">
                <a:latin typeface="微软雅黑" panose="020B0503020204020204" pitchFamily="34" charset="-122"/>
                <a:ea typeface="微软雅黑" panose="020B0503020204020204" pitchFamily="34" charset="-122"/>
              </a:rPr>
              <a:t>或者</a:t>
            </a:r>
            <a:r>
              <a:rPr lang="en-US" altLang="zh-CN" sz="2000" dirty="0">
                <a:latin typeface="微软雅黑" panose="020B0503020204020204" pitchFamily="34" charset="-122"/>
                <a:ea typeface="微软雅黑" panose="020B0503020204020204" pitchFamily="34" charset="-122"/>
              </a:rPr>
              <a:t>10</a:t>
            </a:r>
            <a:r>
              <a:rPr lang="zh-CN" altLang="en-US" sz="2000" dirty="0">
                <a:latin typeface="微软雅黑" panose="020B0503020204020204" pitchFamily="34" charset="-122"/>
                <a:ea typeface="微软雅黑" panose="020B0503020204020204" pitchFamily="34" charset="-122"/>
              </a:rPr>
              <a:t>：发送主机支持</a:t>
            </a:r>
            <a:r>
              <a:rPr lang="en-US" altLang="zh-CN" sz="2000" dirty="0">
                <a:latin typeface="微软雅黑" panose="020B0503020204020204" pitchFamily="34" charset="-122"/>
                <a:ea typeface="微软雅黑" panose="020B0503020204020204" pitchFamily="34" charset="-122"/>
              </a:rPr>
              <a:t>ECN</a:t>
            </a:r>
          </a:p>
          <a:p>
            <a:pPr lvl="1">
              <a:lnSpc>
                <a:spcPct val="150000"/>
              </a:lnSpc>
            </a:pPr>
            <a:r>
              <a:rPr lang="en-US" altLang="zh-CN" sz="2000" dirty="0">
                <a:latin typeface="微软雅黑" panose="020B0503020204020204" pitchFamily="34" charset="-122"/>
                <a:ea typeface="微软雅黑" panose="020B0503020204020204" pitchFamily="34" charset="-122"/>
              </a:rPr>
              <a:t>11</a:t>
            </a:r>
            <a:r>
              <a:rPr lang="zh-CN" altLang="en-US" sz="2000" dirty="0">
                <a:latin typeface="微软雅黑" panose="020B0503020204020204" pitchFamily="34" charset="-122"/>
                <a:ea typeface="微软雅黑" panose="020B0503020204020204" pitchFamily="34" charset="-122"/>
              </a:rPr>
              <a:t>：路由器正在经历拥塞</a:t>
            </a:r>
          </a:p>
          <a:p>
            <a:pPr marL="0" indent="0">
              <a:lnSpc>
                <a:spcPct val="150000"/>
              </a:lnSpc>
              <a:buNone/>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5.3 </a:t>
            </a:r>
            <a:r>
              <a:rPr kumimoji="1" lang="zh-CN" altLang="en-US" dirty="0"/>
              <a:t>网络层流量管理</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94</a:t>
            </a:fld>
            <a:endParaRPr kumimoji="1" lang="zh-CN" altLang="en-US" dirty="0"/>
          </a:p>
        </p:txBody>
      </p:sp>
      <p:pic>
        <p:nvPicPr>
          <p:cNvPr id="6" name="Picture 28" descr="015">
            <a:extLst>
              <a:ext uri="{FF2B5EF4-FFF2-40B4-BE49-F238E27FC236}">
                <a16:creationId xmlns:a16="http://schemas.microsoft.com/office/drawing/2014/main" id="{1D416CFD-F5BA-4C21-9FB5-3F0D7D785E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947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0072471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olidFill>
                  <a:srgbClr val="C00000"/>
                </a:solidFill>
                <a:sym typeface="+mn-ea"/>
              </a:rPr>
              <a:t>5.4</a:t>
            </a:r>
            <a:r>
              <a:rPr kumimoji="1" lang="zh-CN" altLang="en-US" dirty="0">
                <a:solidFill>
                  <a:srgbClr val="C00000"/>
                </a:solidFill>
                <a:sym typeface="+mn-ea"/>
              </a:rPr>
              <a:t> 服务质量</a:t>
            </a:r>
            <a:endParaRPr kumimoji="1" lang="en-US" altLang="zh-CN" dirty="0">
              <a:solidFill>
                <a:srgbClr val="C00000"/>
              </a:solidFill>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95</a:t>
            </a:fld>
            <a:endParaRPr kumimoji="1" lang="zh-CN" altLang="en-US" dirty="0"/>
          </a:p>
        </p:txBody>
      </p:sp>
      <p:sp>
        <p:nvSpPr>
          <p:cNvPr id="7" name="矩形标注 6">
            <a:extLst>
              <a:ext uri="{FF2B5EF4-FFF2-40B4-BE49-F238E27FC236}">
                <a16:creationId xmlns:a16="http://schemas.microsoft.com/office/drawing/2014/main" id="{981187B3-3584-BA4E-A14C-4B26773516C6}"/>
              </a:ext>
            </a:extLst>
          </p:cNvPr>
          <p:cNvSpPr/>
          <p:nvPr/>
        </p:nvSpPr>
        <p:spPr>
          <a:xfrm>
            <a:off x="6330654" y="2589196"/>
            <a:ext cx="3319091" cy="2614563"/>
          </a:xfrm>
          <a:prstGeom prst="wedgeRectCallout">
            <a:avLst>
              <a:gd name="adj1" fmla="val -137872"/>
              <a:gd name="adj2" fmla="val -21234"/>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服务质量概述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数据包调度</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综合服务</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区分服务</a:t>
            </a:r>
          </a:p>
        </p:txBody>
      </p:sp>
    </p:spTree>
    <p:extLst>
      <p:ext uri="{BB962C8B-B14F-4D97-AF65-F5344CB8AC3E}">
        <p14:creationId xmlns:p14="http://schemas.microsoft.com/office/powerpoint/2010/main" val="222169640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ChangeArrowheads="1"/>
          </p:cNvSpPr>
          <p:nvPr>
            <p:ph type="title"/>
          </p:nvPr>
        </p:nvSpPr>
        <p:spPr/>
        <p:txBody>
          <a:bodyPr/>
          <a:lstStyle/>
          <a:p>
            <a:r>
              <a:rPr kumimoji="1" lang="zh-CN" altLang="en-US" dirty="0"/>
              <a:t>网络服务质量概述</a:t>
            </a:r>
            <a:endParaRPr lang="en-US" altLang="zh-CN" dirty="0">
              <a:latin typeface="楷体_GB2312" pitchFamily="49" charset="-122"/>
            </a:endParaRPr>
          </a:p>
        </p:txBody>
      </p:sp>
      <p:sp>
        <p:nvSpPr>
          <p:cNvPr id="271384" name="Rectangle 24"/>
          <p:cNvSpPr>
            <a:spLocks noGrp="1" noChangeArrowheads="1"/>
          </p:cNvSpPr>
          <p:nvPr>
            <p:ph type="body" idx="1"/>
          </p:nvPr>
        </p:nvSpPr>
        <p:spPr>
          <a:xfrm>
            <a:off x="615002" y="1456876"/>
            <a:ext cx="10831523" cy="5038913"/>
          </a:xfrm>
          <a:noFill/>
          <a:ln/>
        </p:spPr>
        <p:txBody>
          <a:bodyPr>
            <a:noAutofit/>
          </a:bodyPr>
          <a:lstStyle/>
          <a:p>
            <a:pPr>
              <a:lnSpc>
                <a:spcPct val="150000"/>
              </a:lnSpc>
              <a:spcBef>
                <a:spcPct val="0"/>
              </a:spcBef>
            </a:pPr>
            <a:r>
              <a:rPr lang="zh-CN" altLang="en-US" sz="2400" b="1" dirty="0">
                <a:solidFill>
                  <a:srgbClr val="C00000"/>
                </a:solidFill>
              </a:rPr>
              <a:t>问题的提出</a:t>
            </a:r>
            <a:endParaRPr lang="en-US" altLang="zh-CN" sz="2400" b="1" dirty="0">
              <a:solidFill>
                <a:srgbClr val="C00000"/>
              </a:solidFill>
            </a:endParaRPr>
          </a:p>
          <a:p>
            <a:pPr lvl="1">
              <a:lnSpc>
                <a:spcPct val="150000"/>
              </a:lnSpc>
              <a:spcBef>
                <a:spcPct val="0"/>
              </a:spcBef>
            </a:pPr>
            <a:r>
              <a:rPr lang="zh-CN" altLang="en-US" sz="2000" dirty="0"/>
              <a:t>互联网本身只能提供“尽力而为的服务”或称“尽最大努力交付的服务”</a:t>
            </a:r>
            <a:endParaRPr lang="en-US" altLang="zh-CN" sz="2000" dirty="0"/>
          </a:p>
          <a:p>
            <a:pPr lvl="1">
              <a:lnSpc>
                <a:spcPct val="150000"/>
              </a:lnSpc>
              <a:spcBef>
                <a:spcPct val="0"/>
              </a:spcBef>
            </a:pPr>
            <a:r>
              <a:rPr lang="zh-CN" altLang="en-US" sz="2000" dirty="0"/>
              <a:t>当互联网越来越多的用于传输多媒体信息时，由于这些实时业务对网络的传输延时、延时抖动等特性较为敏感，这样网络的传输质量就难以保障了</a:t>
            </a:r>
            <a:endParaRPr lang="en-US" altLang="zh-CN" sz="2000" dirty="0"/>
          </a:p>
          <a:p>
            <a:pPr lvl="1">
              <a:lnSpc>
                <a:spcPct val="150000"/>
              </a:lnSpc>
              <a:spcBef>
                <a:spcPct val="0"/>
              </a:spcBef>
            </a:pPr>
            <a:r>
              <a:rPr lang="en-US" altLang="zh-CN" sz="2000" dirty="0"/>
              <a:t>IP</a:t>
            </a:r>
            <a:r>
              <a:rPr lang="zh-CN" altLang="en-US" sz="2000" dirty="0"/>
              <a:t>网络不能保证特定业务的</a:t>
            </a:r>
            <a:r>
              <a:rPr lang="en-US" altLang="zh-CN" sz="2000" dirty="0" err="1"/>
              <a:t>QoS</a:t>
            </a:r>
            <a:r>
              <a:rPr lang="zh-CN" altLang="en-US" sz="2000" dirty="0"/>
              <a:t>要求，已经成为</a:t>
            </a:r>
            <a:r>
              <a:rPr lang="en-US" altLang="zh-CN" sz="2000" dirty="0"/>
              <a:t>IP</a:t>
            </a:r>
            <a:r>
              <a:rPr lang="zh-CN" altLang="en-US" sz="2000" dirty="0"/>
              <a:t>网络发展的巨大障碍</a:t>
            </a:r>
            <a:endParaRPr lang="en-US" altLang="zh-CN" sz="2000" dirty="0"/>
          </a:p>
          <a:p>
            <a:pPr lvl="1">
              <a:lnSpc>
                <a:spcPct val="150000"/>
              </a:lnSpc>
              <a:spcBef>
                <a:spcPct val="0"/>
              </a:spcBef>
            </a:pPr>
            <a:r>
              <a:rPr lang="zh-CN" altLang="en-US" sz="2000" dirty="0"/>
              <a:t>网络的服务质量越来越多的引起人们的关注，甚至成为网络技术研究的热点问题</a:t>
            </a:r>
            <a:endParaRPr lang="en-US" altLang="zh-CN" sz="2000" dirty="0"/>
          </a:p>
          <a:p>
            <a:pPr>
              <a:lnSpc>
                <a:spcPct val="150000"/>
              </a:lnSpc>
              <a:spcAft>
                <a:spcPts val="600"/>
              </a:spcAft>
            </a:pPr>
            <a:r>
              <a:rPr lang="zh-CN" altLang="en-US" sz="2400" b="1" dirty="0">
                <a:solidFill>
                  <a:srgbClr val="C00000"/>
                </a:solidFill>
              </a:rPr>
              <a:t>什么是网络服务质量？（</a:t>
            </a:r>
            <a:r>
              <a:rPr lang="en" altLang="zh-CN" sz="2400" b="1" dirty="0">
                <a:solidFill>
                  <a:srgbClr val="C00000"/>
                </a:solidFill>
              </a:rPr>
              <a:t>QoS, Quality of Service</a:t>
            </a:r>
            <a:r>
              <a:rPr lang="zh-CN" altLang="en" sz="2400" b="1" dirty="0">
                <a:solidFill>
                  <a:srgbClr val="C00000"/>
                </a:solidFill>
              </a:rPr>
              <a:t>）</a:t>
            </a:r>
            <a:endParaRPr lang="en-US" altLang="zh-CN" sz="2400" b="1" dirty="0">
              <a:solidFill>
                <a:srgbClr val="C00000"/>
              </a:solidFill>
            </a:endParaRPr>
          </a:p>
          <a:p>
            <a:pPr lvl="1">
              <a:lnSpc>
                <a:spcPct val="150000"/>
              </a:lnSpc>
              <a:spcBef>
                <a:spcPct val="0"/>
              </a:spcBef>
            </a:pPr>
            <a:r>
              <a:rPr lang="en-US" altLang="zh-CN" sz="2000" dirty="0" err="1"/>
              <a:t>QoS</a:t>
            </a:r>
            <a:r>
              <a:rPr lang="zh-CN" altLang="en-US" sz="2000" dirty="0"/>
              <a:t>是网络在传输数据流时要满足一系列服务请求，具体可以量化为带宽、时延、抖动、丢包率等性能指标</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96</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5.4 </a:t>
            </a:r>
            <a:r>
              <a:rPr kumimoji="1" lang="zh-CN" altLang="en-US" dirty="0"/>
              <a:t>服务质量</a:t>
            </a:r>
          </a:p>
        </p:txBody>
      </p:sp>
    </p:spTree>
    <p:extLst>
      <p:ext uri="{BB962C8B-B14F-4D97-AF65-F5344CB8AC3E}">
        <p14:creationId xmlns:p14="http://schemas.microsoft.com/office/powerpoint/2010/main" val="3345523310"/>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p:txBody>
          <a:bodyPr/>
          <a:lstStyle/>
          <a:p>
            <a:r>
              <a:rPr kumimoji="1" lang="zh-CN" altLang="en-US" dirty="0"/>
              <a:t>网络服务质量概述</a:t>
            </a:r>
            <a:endParaRPr lang="zh-CN" altLang="en-US" dirty="0"/>
          </a:p>
        </p:txBody>
      </p:sp>
      <p:sp>
        <p:nvSpPr>
          <p:cNvPr id="313347" name="Rectangle 3"/>
          <p:cNvSpPr>
            <a:spLocks noGrp="1" noChangeArrowheads="1"/>
          </p:cNvSpPr>
          <p:nvPr>
            <p:ph type="body" idx="1"/>
          </p:nvPr>
        </p:nvSpPr>
        <p:spPr>
          <a:xfrm>
            <a:off x="1093768" y="1710232"/>
            <a:ext cx="6694398" cy="4592637"/>
          </a:xfrm>
        </p:spPr>
        <p:txBody>
          <a:bodyPr/>
          <a:lstStyle/>
          <a:p>
            <a:pPr>
              <a:buNone/>
            </a:pPr>
            <a:r>
              <a:rPr lang="zh-CN" altLang="en-US" sz="2400" b="1" dirty="0">
                <a:solidFill>
                  <a:srgbClr val="C00000"/>
                </a:solidFill>
              </a:rPr>
              <a:t>确保服务质量需要解决以下</a:t>
            </a:r>
            <a:r>
              <a:rPr lang="en-US" altLang="zh-CN" sz="2400" b="1" dirty="0">
                <a:solidFill>
                  <a:srgbClr val="C00000"/>
                </a:solidFill>
              </a:rPr>
              <a:t>4</a:t>
            </a:r>
            <a:r>
              <a:rPr lang="zh-CN" altLang="en-US" sz="2400" b="1" dirty="0">
                <a:solidFill>
                  <a:srgbClr val="C00000"/>
                </a:solidFill>
              </a:rPr>
              <a:t>个问题：</a:t>
            </a:r>
          </a:p>
          <a:p>
            <a:r>
              <a:rPr lang="zh-CN" altLang="en-US" sz="2400" dirty="0"/>
              <a:t>（</a:t>
            </a:r>
            <a:r>
              <a:rPr lang="en-US" altLang="zh-CN" sz="2400" dirty="0"/>
              <a:t>1</a:t>
            </a:r>
            <a:r>
              <a:rPr lang="zh-CN" altLang="en-US" sz="2400" dirty="0"/>
              <a:t>）应用程序需要网络提供什么样的质量？</a:t>
            </a:r>
          </a:p>
          <a:p>
            <a:r>
              <a:rPr lang="zh-CN" altLang="en-US" sz="2400" dirty="0"/>
              <a:t>（</a:t>
            </a:r>
            <a:r>
              <a:rPr lang="en-US" altLang="zh-CN" sz="2400" dirty="0"/>
              <a:t>2</a:t>
            </a:r>
            <a:r>
              <a:rPr lang="zh-CN" altLang="en-US" sz="2400" dirty="0"/>
              <a:t>）如何规范进入网络的流量？</a:t>
            </a:r>
          </a:p>
          <a:p>
            <a:r>
              <a:rPr lang="zh-CN" altLang="en-US" sz="2400" dirty="0"/>
              <a:t>（</a:t>
            </a:r>
            <a:r>
              <a:rPr lang="en-US" altLang="zh-CN" sz="2400" dirty="0"/>
              <a:t>3</a:t>
            </a:r>
            <a:r>
              <a:rPr lang="zh-CN" altLang="en-US" sz="2400" dirty="0"/>
              <a:t>）为了保障性能如何在路由器预留资源？</a:t>
            </a:r>
          </a:p>
          <a:p>
            <a:r>
              <a:rPr lang="zh-CN" altLang="en-US" sz="2400" dirty="0"/>
              <a:t>（</a:t>
            </a:r>
            <a:r>
              <a:rPr lang="en-US" altLang="zh-CN" sz="2400" dirty="0"/>
              <a:t>4</a:t>
            </a:r>
            <a:r>
              <a:rPr lang="zh-CN" altLang="en-US" sz="2400" dirty="0"/>
              <a:t>）网络能否安全的接受更多流量？</a:t>
            </a:r>
          </a:p>
        </p:txBody>
      </p:sp>
      <p:sp>
        <p:nvSpPr>
          <p:cNvPr id="2" name="矩形 1"/>
          <p:cNvSpPr/>
          <p:nvPr/>
        </p:nvSpPr>
        <p:spPr>
          <a:xfrm>
            <a:off x="1093768" y="4468450"/>
            <a:ext cx="6045162" cy="1323439"/>
          </a:xfrm>
          <a:prstGeom prst="rect">
            <a:avLst/>
          </a:prstGeom>
          <a:ln>
            <a:solidFill>
              <a:srgbClr val="FF0000"/>
            </a:solidFill>
          </a:ln>
        </p:spPr>
        <p:txBody>
          <a:bodyPr wrap="square">
            <a:spAutoFit/>
          </a:bodyPr>
          <a:lstStyle/>
          <a:p>
            <a:r>
              <a:rPr lang="en-US" altLang="zh-CN" sz="2000" dirty="0" err="1">
                <a:latin typeface="微软雅黑" panose="020B0503020204020204" pitchFamily="34" charset="-122"/>
                <a:ea typeface="微软雅黑" panose="020B0503020204020204" pitchFamily="34" charset="-122"/>
              </a:rPr>
              <a:t>QoS</a:t>
            </a:r>
            <a:r>
              <a:rPr lang="zh-CN" altLang="en-US" sz="2000" dirty="0">
                <a:latin typeface="微软雅黑" panose="020B0503020204020204" pitchFamily="34" charset="-122"/>
                <a:ea typeface="微软雅黑" panose="020B0503020204020204" pitchFamily="34" charset="-122"/>
              </a:rPr>
              <a:t>针对各种业务的不同需求，为其提供端到端的服务质量保证。在有限的带宽资源下，它允许不同的流量不平等地竞争网络资源，语音、视频和重要的数据应用在网络设备中可以优先得到服务</a:t>
            </a:r>
          </a:p>
        </p:txBody>
      </p:sp>
      <p:sp>
        <p:nvSpPr>
          <p:cNvPr id="5" name="矩形 4"/>
          <p:cNvSpPr/>
          <p:nvPr/>
        </p:nvSpPr>
        <p:spPr>
          <a:xfrm>
            <a:off x="8258851" y="1862519"/>
            <a:ext cx="3283790" cy="2000548"/>
          </a:xfrm>
          <a:prstGeom prst="rect">
            <a:avLst/>
          </a:prstGeom>
          <a:ln>
            <a:solidFill>
              <a:srgbClr val="FF0000"/>
            </a:solidFill>
          </a:ln>
        </p:spPr>
        <p:txBody>
          <a:bodyPr wrap="square">
            <a:spAutoFit/>
          </a:bodyPr>
          <a:lstStyle/>
          <a:p>
            <a:r>
              <a:rPr lang="en-US" altLang="zh-CN" sz="2400" b="1" dirty="0" err="1">
                <a:solidFill>
                  <a:srgbClr val="C00000"/>
                </a:solidFill>
                <a:latin typeface="微软雅黑" panose="020B0503020204020204" pitchFamily="34" charset="-122"/>
                <a:ea typeface="微软雅黑" panose="020B0503020204020204" pitchFamily="34" charset="-122"/>
              </a:rPr>
              <a:t>QoS</a:t>
            </a:r>
            <a:r>
              <a:rPr lang="zh-CN" altLang="en-US" sz="2400" b="1" dirty="0">
                <a:solidFill>
                  <a:srgbClr val="C00000"/>
                </a:solidFill>
                <a:latin typeface="微软雅黑" panose="020B0503020204020204" pitchFamily="34" charset="-122"/>
                <a:ea typeface="微软雅黑" panose="020B0503020204020204" pitchFamily="34" charset="-122"/>
              </a:rPr>
              <a:t>的度量指标</a:t>
            </a:r>
            <a:endParaRPr lang="en-US" altLang="zh-CN" sz="2400" b="1" dirty="0">
              <a:solidFill>
                <a:srgbClr val="C00000"/>
              </a:solidFill>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带宽</a:t>
            </a:r>
            <a:endParaRPr lang="en-US" altLang="zh-CN" sz="2000" dirty="0">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时延</a:t>
            </a:r>
            <a:endParaRPr lang="en-US" altLang="zh-CN" sz="2000" dirty="0">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抖动</a:t>
            </a:r>
            <a:endParaRPr lang="en-US" altLang="zh-CN" sz="2000" dirty="0">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丢包率</a:t>
            </a:r>
            <a:endParaRPr lang="en-US" altLang="zh-CN" sz="2000" dirty="0">
              <a:latin typeface="微软雅黑" panose="020B0503020204020204" pitchFamily="34" charset="-122"/>
              <a:ea typeface="微软雅黑" panose="020B0503020204020204" pitchFamily="34" charset="-122"/>
            </a:endParaRPr>
          </a:p>
          <a:p>
            <a:endParaRPr lang="zh-CN" altLang="en-US" sz="2000" dirty="0">
              <a:latin typeface="微软雅黑" panose="020B0503020204020204" pitchFamily="34" charset="-122"/>
              <a:ea typeface="微软雅黑" panose="020B0503020204020204" pitchFamily="34" charset="-122"/>
            </a:endParaRPr>
          </a:p>
        </p:txBody>
      </p:sp>
      <p:pic>
        <p:nvPicPr>
          <p:cNvPr id="1026" name="Picture 2" descr="http://5b0988e595225.cdn.sohucs.com/images/20180312/c32c11246f7c43d98630cdc3cf639460.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58851" y="4216893"/>
            <a:ext cx="3267075" cy="2085976"/>
          </a:xfrm>
          <a:prstGeom prst="rect">
            <a:avLst/>
          </a:prstGeom>
          <a:noFill/>
          <a:extLst>
            <a:ext uri="{909E8E84-426E-40DD-AFC4-6F175D3DCCD1}">
              <a14:hiddenFill xmlns:a14="http://schemas.microsoft.com/office/drawing/2010/main">
                <a:solidFill>
                  <a:srgbClr val="FFFFFF"/>
                </a:solidFill>
              </a14:hiddenFill>
            </a:ext>
          </a:extLst>
        </p:spPr>
      </p:pic>
      <p:sp>
        <p:nvSpPr>
          <p:cNvPr id="4" name="灯片编号占位符 3"/>
          <p:cNvSpPr>
            <a:spLocks noGrp="1"/>
          </p:cNvSpPr>
          <p:nvPr>
            <p:ph type="sldNum" sz="quarter" idx="12"/>
          </p:nvPr>
        </p:nvSpPr>
        <p:spPr/>
        <p:txBody>
          <a:bodyPr/>
          <a:lstStyle/>
          <a:p>
            <a:fld id="{8D4D1E41-7A09-AB4A-A4E1-09765ADA2698}" type="slidenum">
              <a:rPr kumimoji="1" lang="zh-CN" altLang="en-US" smtClean="0"/>
              <a:t>97</a:t>
            </a:fld>
            <a:endParaRPr kumimoji="1" lang="zh-CN" altLang="en-US" dirty="0"/>
          </a:p>
        </p:txBody>
      </p:sp>
      <p:sp>
        <p:nvSpPr>
          <p:cNvPr id="9" name="日期占位符 1"/>
          <p:cNvSpPr>
            <a:spLocks noGrp="1"/>
          </p:cNvSpPr>
          <p:nvPr>
            <p:ph type="dt" sz="half" idx="10"/>
          </p:nvPr>
        </p:nvSpPr>
        <p:spPr>
          <a:xfrm>
            <a:off x="197335" y="6489303"/>
            <a:ext cx="2743200" cy="365125"/>
          </a:xfrm>
        </p:spPr>
        <p:txBody>
          <a:bodyPr/>
          <a:lstStyle/>
          <a:p>
            <a:r>
              <a:rPr kumimoji="1" lang="en-US" altLang="zh-CN" dirty="0"/>
              <a:t>5.4 </a:t>
            </a:r>
            <a:r>
              <a:rPr kumimoji="1" lang="zh-CN" altLang="en-US" dirty="0"/>
              <a:t>服务质量</a:t>
            </a:r>
          </a:p>
        </p:txBody>
      </p:sp>
    </p:spTree>
    <p:extLst>
      <p:ext uri="{BB962C8B-B14F-4D97-AF65-F5344CB8AC3E}">
        <p14:creationId xmlns:p14="http://schemas.microsoft.com/office/powerpoint/2010/main" val="48675471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数据包调度</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948369" y="1508424"/>
            <a:ext cx="10035448" cy="2821438"/>
          </a:xfrm>
        </p:spPr>
        <p:txBody>
          <a:bodyPr>
            <a:noAutofit/>
          </a:bodyPr>
          <a:lstStyle/>
          <a:p>
            <a:pPr>
              <a:lnSpc>
                <a:spcPct val="150000"/>
              </a:lnSpc>
            </a:pPr>
            <a:r>
              <a:rPr lang="zh-CN" altLang="en-US" dirty="0">
                <a:latin typeface="微软雅黑" panose="020B0503020204020204" pitchFamily="34" charset="-122"/>
                <a:ea typeface="微软雅黑" panose="020B0503020204020204" pitchFamily="34" charset="-122"/>
              </a:rPr>
              <a:t>在同一个流的数据包之间以及在竞争流之间分配路由器资源的算法称为包调度算法，它负责分配带宽和其他路由器资源，负责确定把缓冲区中的哪些数据包发送到输出链路上</a:t>
            </a:r>
          </a:p>
          <a:p>
            <a:pPr lvl="1">
              <a:lnSpc>
                <a:spcPct val="150000"/>
              </a:lnSpc>
            </a:pPr>
            <a:r>
              <a:rPr lang="zh-CN" altLang="en-US" dirty="0">
                <a:latin typeface="微软雅黑" panose="020B0503020204020204" pitchFamily="34" charset="-122"/>
                <a:ea typeface="微软雅黑" panose="020B0503020204020204" pitchFamily="34" charset="-122"/>
              </a:rPr>
              <a:t>先来先服务</a:t>
            </a:r>
            <a:r>
              <a:rPr lang="en-US" altLang="zh-CN" dirty="0">
                <a:latin typeface="微软雅黑" panose="020B0503020204020204" pitchFamily="34" charset="-122"/>
                <a:ea typeface="微软雅黑" panose="020B0503020204020204" pitchFamily="34" charset="-122"/>
              </a:rPr>
              <a:t>FCFS</a:t>
            </a:r>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First-Come First-Serve</a:t>
            </a:r>
            <a:r>
              <a:rPr lang="zh-CN" altLang="en-US" dirty="0">
                <a:latin typeface="微软雅黑" panose="020B0503020204020204" pitchFamily="34" charset="-122"/>
                <a:ea typeface="微软雅黑" panose="020B0503020204020204" pitchFamily="34" charset="-122"/>
              </a:rPr>
              <a:t>）</a:t>
            </a:r>
          </a:p>
          <a:p>
            <a:pPr lvl="1">
              <a:lnSpc>
                <a:spcPct val="150000"/>
              </a:lnSpc>
            </a:pPr>
            <a:r>
              <a:rPr lang="zh-CN" altLang="en-US" dirty="0">
                <a:latin typeface="微软雅黑" panose="020B0503020204020204" pitchFamily="34" charset="-122"/>
                <a:ea typeface="微软雅黑" panose="020B0503020204020204" pitchFamily="34" charset="-122"/>
              </a:rPr>
              <a:t>公平队列算法（</a:t>
            </a:r>
            <a:r>
              <a:rPr lang="en-US" altLang="zh-CN" dirty="0">
                <a:latin typeface="微软雅黑" panose="020B0503020204020204" pitchFamily="34" charset="-122"/>
                <a:ea typeface="微软雅黑" panose="020B0503020204020204" pitchFamily="34" charset="-122"/>
              </a:rPr>
              <a:t>Fair Queueing</a:t>
            </a:r>
            <a:r>
              <a:rPr lang="zh-CN" altLang="en-US" dirty="0">
                <a:latin typeface="微软雅黑" panose="020B0503020204020204" pitchFamily="34" charset="-122"/>
                <a:ea typeface="微软雅黑" panose="020B0503020204020204" pitchFamily="34" charset="-122"/>
              </a:rPr>
              <a:t>）</a:t>
            </a:r>
          </a:p>
          <a:p>
            <a:pPr lvl="1">
              <a:lnSpc>
                <a:spcPct val="150000"/>
              </a:lnSpc>
            </a:pPr>
            <a:r>
              <a:rPr lang="zh-CN" altLang="en-US" dirty="0">
                <a:latin typeface="微软雅黑" panose="020B0503020204020204" pitchFamily="34" charset="-122"/>
                <a:ea typeface="微软雅黑" panose="020B0503020204020204" pitchFamily="34" charset="-122"/>
              </a:rPr>
              <a:t>加权公平队列算法（</a:t>
            </a:r>
            <a:r>
              <a:rPr lang="en-US" altLang="zh-CN" dirty="0">
                <a:latin typeface="微软雅黑" panose="020B0503020204020204" pitchFamily="34" charset="-122"/>
                <a:ea typeface="微软雅黑" panose="020B0503020204020204" pitchFamily="34" charset="-122"/>
              </a:rPr>
              <a:t>Weighted Fair Queueing</a:t>
            </a:r>
            <a:r>
              <a:rPr lang="zh-CN" altLang="en-US" dirty="0">
                <a:latin typeface="微软雅黑" panose="020B0503020204020204" pitchFamily="34" charset="-122"/>
                <a:ea typeface="微软雅黑" panose="020B0503020204020204" pitchFamily="34" charset="-122"/>
              </a:rPr>
              <a:t>）</a:t>
            </a:r>
          </a:p>
          <a:p>
            <a:pPr lvl="1">
              <a:lnSpc>
                <a:spcPct val="150000"/>
              </a:lnSpc>
            </a:pPr>
            <a:r>
              <a:rPr lang="zh-CN" altLang="en-US" dirty="0">
                <a:latin typeface="微软雅黑" panose="020B0503020204020204" pitchFamily="34" charset="-122"/>
                <a:ea typeface="微软雅黑" panose="020B0503020204020204" pitchFamily="34" charset="-122"/>
              </a:rPr>
              <a:t>优先级调度（</a:t>
            </a:r>
            <a:r>
              <a:rPr lang="en-US" altLang="zh-CN" dirty="0">
                <a:latin typeface="微软雅黑" panose="020B0503020204020204" pitchFamily="34" charset="-122"/>
                <a:ea typeface="微软雅黑" panose="020B0503020204020204" pitchFamily="34" charset="-122"/>
              </a:rPr>
              <a:t>Priority Scheduling</a:t>
            </a:r>
            <a:r>
              <a:rPr lang="zh-CN" altLang="en-US" dirty="0">
                <a:latin typeface="微软雅黑" panose="020B0503020204020204" pitchFamily="34" charset="-122"/>
                <a:ea typeface="微软雅黑" panose="020B0503020204020204" pitchFamily="34" charset="-122"/>
              </a:rPr>
              <a:t>）</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98</a:t>
            </a:fld>
            <a:endParaRPr kumimoji="1" lang="zh-CN" altLang="en-US" dirty="0"/>
          </a:p>
        </p:txBody>
      </p:sp>
      <p:sp>
        <p:nvSpPr>
          <p:cNvPr id="6" name="日期占位符 1"/>
          <p:cNvSpPr>
            <a:spLocks noGrp="1"/>
          </p:cNvSpPr>
          <p:nvPr>
            <p:ph type="dt" sz="half" idx="10"/>
          </p:nvPr>
        </p:nvSpPr>
        <p:spPr>
          <a:xfrm>
            <a:off x="197335" y="6489303"/>
            <a:ext cx="2743200" cy="365125"/>
          </a:xfrm>
        </p:spPr>
        <p:txBody>
          <a:bodyPr/>
          <a:lstStyle/>
          <a:p>
            <a:r>
              <a:rPr kumimoji="1" lang="en-US" altLang="zh-CN" dirty="0"/>
              <a:t>5.4 </a:t>
            </a:r>
            <a:r>
              <a:rPr kumimoji="1" lang="zh-CN" altLang="en-US" dirty="0"/>
              <a:t>服务质量</a:t>
            </a:r>
          </a:p>
        </p:txBody>
      </p:sp>
    </p:spTree>
    <p:extLst>
      <p:ext uri="{BB962C8B-B14F-4D97-AF65-F5344CB8AC3E}">
        <p14:creationId xmlns:p14="http://schemas.microsoft.com/office/powerpoint/2010/main" val="343373291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综合服务</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200" y="2697420"/>
            <a:ext cx="10515600" cy="2821438"/>
          </a:xfrm>
        </p:spPr>
        <p:txBody>
          <a:bodyPr>
            <a:noAutofit/>
          </a:bodyPr>
          <a:lstStyle/>
          <a:p>
            <a:pPr>
              <a:lnSpc>
                <a:spcPct val="150000"/>
              </a:lnSpc>
            </a:pPr>
            <a:r>
              <a:rPr lang="zh-CN" altLang="en-US" sz="2400" dirty="0">
                <a:latin typeface="楷体_GB2312" pitchFamily="49" charset="-122"/>
              </a:rPr>
              <a:t>综合服务特点是：需要所有的路由器在控制路径上处理每个流的消息，维护每个流的路径状态和资源预留状态，在路径上执行基于流的分类、调度、管理</a:t>
            </a:r>
            <a:endParaRPr lang="en-US" altLang="zh-CN" sz="2400" dirty="0">
              <a:latin typeface="楷体_GB2312" pitchFamily="49" charset="-122"/>
            </a:endParaRPr>
          </a:p>
          <a:p>
            <a:pPr>
              <a:lnSpc>
                <a:spcPct val="150000"/>
              </a:lnSpc>
            </a:pPr>
            <a:r>
              <a:rPr lang="zh-CN" altLang="en-US" sz="2400" dirty="0">
                <a:latin typeface="楷体_GB2312" pitchFamily="49" charset="-122"/>
              </a:rPr>
              <a:t>综合服务基于资源预留协议</a:t>
            </a:r>
            <a:r>
              <a:rPr lang="en-US" altLang="zh-CN" sz="2400" dirty="0">
                <a:latin typeface="楷体_GB2312" pitchFamily="49" charset="-122"/>
              </a:rPr>
              <a:t>RSVP</a:t>
            </a:r>
            <a:r>
              <a:rPr lang="zh-CN" altLang="en-US" sz="2400" dirty="0">
                <a:latin typeface="楷体_GB2312" pitchFamily="49" charset="-122"/>
              </a:rPr>
              <a:t>，逐节点建立或拆除流的状态和资源预留状态，根据流的状态进行</a:t>
            </a:r>
            <a:r>
              <a:rPr lang="en-US" altLang="zh-CN" sz="2400" dirty="0" err="1">
                <a:latin typeface="楷体_GB2312" pitchFamily="49" charset="-122"/>
              </a:rPr>
              <a:t>QoS</a:t>
            </a:r>
            <a:r>
              <a:rPr lang="zh-CN" altLang="en-US" sz="2400" dirty="0">
                <a:latin typeface="楷体_GB2312" pitchFamily="49" charset="-122"/>
              </a:rPr>
              <a:t>路由</a:t>
            </a:r>
            <a:endParaRPr lang="en-US" altLang="zh-CN" sz="2400" dirty="0">
              <a:latin typeface="楷体_GB2312" pitchFamily="49" charset="-122"/>
            </a:endParaRPr>
          </a:p>
          <a:p>
            <a:pPr>
              <a:lnSpc>
                <a:spcPct val="150000"/>
              </a:lnSpc>
            </a:pPr>
            <a:r>
              <a:rPr lang="zh-CN" altLang="en-US" sz="2400" dirty="0">
                <a:latin typeface="楷体_GB2312" pitchFamily="49" charset="-122"/>
              </a:rPr>
              <a:t>综合服务的特征：资源预分配、全局流状态、传输控制</a:t>
            </a:r>
          </a:p>
        </p:txBody>
      </p:sp>
      <p:sp>
        <p:nvSpPr>
          <p:cNvPr id="5" name="Rectangle 3"/>
          <p:cNvSpPr txBox="1">
            <a:spLocks noChangeArrowheads="1"/>
          </p:cNvSpPr>
          <p:nvPr/>
        </p:nvSpPr>
        <p:spPr>
          <a:xfrm>
            <a:off x="1227296" y="1850684"/>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buNone/>
            </a:pPr>
            <a:r>
              <a:rPr lang="zh-CN" altLang="en-US" b="1" dirty="0">
                <a:solidFill>
                  <a:srgbClr val="C00000"/>
                </a:solidFill>
              </a:rPr>
              <a:t>综合服务（</a:t>
            </a:r>
            <a:r>
              <a:rPr lang="en-US" altLang="zh-CN" b="1" dirty="0" err="1">
                <a:solidFill>
                  <a:srgbClr val="C00000"/>
                </a:solidFill>
              </a:rPr>
              <a:t>IntServ</a:t>
            </a:r>
            <a:r>
              <a:rPr lang="zh-CN" altLang="en-US" b="1" dirty="0">
                <a:solidFill>
                  <a:srgbClr val="C00000"/>
                </a:solidFill>
              </a:rPr>
              <a:t>：</a:t>
            </a:r>
            <a:r>
              <a:rPr lang="en-US" altLang="zh-CN" b="1" dirty="0">
                <a:solidFill>
                  <a:srgbClr val="C00000"/>
                </a:solidFill>
              </a:rPr>
              <a:t>Integrated Services</a:t>
            </a:r>
            <a:r>
              <a:rPr lang="zh-CN" altLang="en-US" b="1" dirty="0">
                <a:solidFill>
                  <a:srgbClr val="C00000"/>
                </a:solidFill>
              </a:rPr>
              <a:t>）</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99</a:t>
            </a:fld>
            <a:endParaRPr kumimoji="1" lang="zh-CN" altLang="en-US" dirty="0"/>
          </a:p>
        </p:txBody>
      </p:sp>
      <p:sp>
        <p:nvSpPr>
          <p:cNvPr id="7" name="日期占位符 1"/>
          <p:cNvSpPr>
            <a:spLocks noGrp="1"/>
          </p:cNvSpPr>
          <p:nvPr>
            <p:ph type="dt" sz="half" idx="10"/>
          </p:nvPr>
        </p:nvSpPr>
        <p:spPr>
          <a:xfrm>
            <a:off x="197335" y="6489303"/>
            <a:ext cx="2743200" cy="365125"/>
          </a:xfrm>
        </p:spPr>
        <p:txBody>
          <a:bodyPr/>
          <a:lstStyle/>
          <a:p>
            <a:r>
              <a:rPr kumimoji="1" lang="en-US" altLang="zh-CN" dirty="0"/>
              <a:t>5.4 </a:t>
            </a:r>
            <a:r>
              <a:rPr kumimoji="1" lang="zh-CN" altLang="en-US" dirty="0"/>
              <a:t>服务质量</a:t>
            </a:r>
          </a:p>
        </p:txBody>
      </p:sp>
    </p:spTree>
    <p:extLst>
      <p:ext uri="{BB962C8B-B14F-4D97-AF65-F5344CB8AC3E}">
        <p14:creationId xmlns:p14="http://schemas.microsoft.com/office/powerpoint/2010/main" val="11826823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lang="zh-CN" altLang="en-US" dirty="0">
                <a:latin typeface="楷体_GB2312" pitchFamily="49" charset="-122"/>
              </a:rPr>
              <a:t>区分服务</a:t>
            </a:r>
          </a:p>
        </p:txBody>
      </p:sp>
      <p:sp>
        <p:nvSpPr>
          <p:cNvPr id="272387" name="Rectangle 3"/>
          <p:cNvSpPr>
            <a:spLocks noGrp="1" noChangeArrowheads="1"/>
          </p:cNvSpPr>
          <p:nvPr>
            <p:ph type="body" idx="1"/>
          </p:nvPr>
        </p:nvSpPr>
        <p:spPr>
          <a:xfrm>
            <a:off x="838199" y="2133833"/>
            <a:ext cx="10699865" cy="4050836"/>
          </a:xfrm>
        </p:spPr>
        <p:txBody>
          <a:bodyPr>
            <a:normAutofit/>
          </a:bodyPr>
          <a:lstStyle/>
          <a:p>
            <a:pPr>
              <a:lnSpc>
                <a:spcPct val="150000"/>
              </a:lnSpc>
            </a:pPr>
            <a:r>
              <a:rPr lang="zh-CN" altLang="en-US" sz="2400" dirty="0">
                <a:latin typeface="微软雅黑" panose="020B0503020204020204" pitchFamily="34" charset="-122"/>
                <a:ea typeface="微软雅黑" panose="020B0503020204020204" pitchFamily="34" charset="-122"/>
              </a:rPr>
              <a:t>区分服务（</a:t>
            </a:r>
            <a:r>
              <a:rPr lang="en-US" altLang="zh-CN" sz="2400" dirty="0" err="1">
                <a:latin typeface="微软雅黑" panose="020B0503020204020204" pitchFamily="34" charset="-122"/>
                <a:ea typeface="微软雅黑" panose="020B0503020204020204" pitchFamily="34" charset="-122"/>
              </a:rPr>
              <a:t>DiffServ</a:t>
            </a:r>
            <a:r>
              <a:rPr lang="zh-CN" altLang="en-US" sz="2400" dirty="0">
                <a:latin typeface="微软雅黑" panose="020B0503020204020204" pitchFamily="34" charset="-122"/>
                <a:ea typeface="微软雅黑" panose="020B0503020204020204" pitchFamily="34" charset="-122"/>
              </a:rPr>
              <a:t>）是一种计算机网络体系结构，它指定了一种简单且可扩展的机制，用于在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网络上分类和管理网络流量并提供服务质量（</a:t>
            </a:r>
            <a:r>
              <a:rPr lang="en-US" altLang="zh-CN" sz="2400" dirty="0" err="1">
                <a:latin typeface="微软雅黑" panose="020B0503020204020204" pitchFamily="34" charset="-122"/>
                <a:ea typeface="微软雅黑" panose="020B0503020204020204" pitchFamily="34" charset="-122"/>
              </a:rPr>
              <a:t>QoS</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en-US" altLang="zh-CN" sz="2400" dirty="0" err="1">
                <a:latin typeface="微软雅黑" panose="020B0503020204020204" pitchFamily="34" charset="-122"/>
                <a:ea typeface="微软雅黑" panose="020B0503020204020204" pitchFamily="34" charset="-122"/>
              </a:rPr>
              <a:t>DiffServ</a:t>
            </a:r>
            <a:r>
              <a:rPr lang="zh-CN" altLang="en-US" sz="2400" dirty="0">
                <a:latin typeface="微软雅黑" panose="020B0503020204020204" pitchFamily="34" charset="-122"/>
                <a:ea typeface="微软雅黑" panose="020B0503020204020204" pitchFamily="34" charset="-122"/>
              </a:rPr>
              <a:t>可用于向诸如语音或流媒体之类的关键网络流量提供低延迟服务，同时向诸如</a:t>
            </a:r>
            <a:r>
              <a:rPr lang="en-US" altLang="zh-CN" sz="2400" dirty="0">
                <a:latin typeface="微软雅黑" panose="020B0503020204020204" pitchFamily="34" charset="-122"/>
                <a:ea typeface="微软雅黑" panose="020B0503020204020204" pitchFamily="34" charset="-122"/>
              </a:rPr>
              <a:t>web</a:t>
            </a:r>
            <a:r>
              <a:rPr lang="zh-CN" altLang="en-US" sz="2400" dirty="0">
                <a:latin typeface="微软雅黑" panose="020B0503020204020204" pitchFamily="34" charset="-122"/>
                <a:ea typeface="微软雅黑" panose="020B0503020204020204" pitchFamily="34" charset="-122"/>
              </a:rPr>
              <a:t>流量或文件传输之类的非关键服务提供简单的尽力而为服务</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en-US" altLang="zh-CN" sz="2400" dirty="0" err="1">
                <a:latin typeface="微软雅黑" panose="020B0503020204020204" pitchFamily="34" charset="-122"/>
                <a:ea typeface="微软雅黑" panose="020B0503020204020204" pitchFamily="34" charset="-122"/>
              </a:rPr>
              <a:t>DiffServ</a:t>
            </a:r>
            <a:r>
              <a:rPr lang="zh-CN" altLang="en-US" sz="2400" dirty="0">
                <a:latin typeface="微软雅黑" panose="020B0503020204020204" pitchFamily="34" charset="-122"/>
                <a:ea typeface="微软雅黑" panose="020B0503020204020204" pitchFamily="34" charset="-122"/>
              </a:rPr>
              <a:t>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报头的</a:t>
            </a:r>
            <a:r>
              <a:rPr lang="en-US" altLang="zh-CN" sz="2400" dirty="0">
                <a:latin typeface="微软雅黑" panose="020B0503020204020204" pitchFamily="34" charset="-122"/>
                <a:ea typeface="微软雅黑" panose="020B0503020204020204" pitchFamily="34" charset="-122"/>
              </a:rPr>
              <a:t>8</a:t>
            </a:r>
            <a:r>
              <a:rPr lang="zh-CN" altLang="en-US" sz="2400" dirty="0">
                <a:latin typeface="微软雅黑" panose="020B0503020204020204" pitchFamily="34" charset="-122"/>
                <a:ea typeface="微软雅黑" panose="020B0503020204020204" pitchFamily="34" charset="-122"/>
              </a:rPr>
              <a:t>位区分服务字段（</a:t>
            </a:r>
            <a:r>
              <a:rPr lang="en-US" altLang="zh-CN" sz="2400" dirty="0">
                <a:latin typeface="微软雅黑" panose="020B0503020204020204" pitchFamily="34" charset="-122"/>
                <a:ea typeface="微软雅黑" panose="020B0503020204020204" pitchFamily="34" charset="-122"/>
              </a:rPr>
              <a:t>DS</a:t>
            </a:r>
            <a:r>
              <a:rPr lang="zh-CN" altLang="en-US" sz="2400" dirty="0">
                <a:latin typeface="微软雅黑" panose="020B0503020204020204" pitchFamily="34" charset="-122"/>
                <a:ea typeface="微软雅黑" panose="020B0503020204020204" pitchFamily="34" charset="-122"/>
              </a:rPr>
              <a:t>字段）中使用</a:t>
            </a:r>
            <a:r>
              <a:rPr lang="en-US" altLang="zh-CN" sz="2400" dirty="0">
                <a:latin typeface="微软雅黑" panose="020B0503020204020204" pitchFamily="34" charset="-122"/>
                <a:ea typeface="微软雅黑" panose="020B0503020204020204" pitchFamily="34" charset="-122"/>
              </a:rPr>
              <a:t>6</a:t>
            </a:r>
            <a:r>
              <a:rPr lang="zh-CN" altLang="en-US" sz="2400" dirty="0">
                <a:latin typeface="微软雅黑" panose="020B0503020204020204" pitchFamily="34" charset="-122"/>
                <a:ea typeface="微软雅黑" panose="020B0503020204020204" pitchFamily="34" charset="-122"/>
              </a:rPr>
              <a:t>位区分服务码点（</a:t>
            </a:r>
            <a:r>
              <a:rPr lang="en-US" altLang="zh-CN" sz="2400" dirty="0">
                <a:latin typeface="微软雅黑" panose="020B0503020204020204" pitchFamily="34" charset="-122"/>
                <a:ea typeface="微软雅黑" panose="020B0503020204020204" pitchFamily="34" charset="-122"/>
              </a:rPr>
              <a:t>DSCP</a:t>
            </a:r>
            <a:r>
              <a:rPr lang="zh-CN" altLang="en-US" sz="2400" dirty="0">
                <a:latin typeface="微软雅黑" panose="020B0503020204020204" pitchFamily="34" charset="-122"/>
                <a:ea typeface="微软雅黑" panose="020B0503020204020204" pitchFamily="34" charset="-122"/>
              </a:rPr>
              <a:t>）进行分组分类。换言之，</a:t>
            </a:r>
            <a:r>
              <a:rPr lang="en-US" altLang="zh-CN" sz="2400" dirty="0">
                <a:latin typeface="微软雅黑" panose="020B0503020204020204" pitchFamily="34" charset="-122"/>
                <a:ea typeface="微软雅黑" panose="020B0503020204020204" pitchFamily="34" charset="-122"/>
              </a:rPr>
              <a:t>DS</a:t>
            </a:r>
            <a:r>
              <a:rPr lang="zh-CN" altLang="en-US" sz="2400" dirty="0">
                <a:latin typeface="微软雅黑" panose="020B0503020204020204" pitchFamily="34" charset="-122"/>
                <a:ea typeface="微软雅黑" panose="020B0503020204020204" pitchFamily="34" charset="-122"/>
              </a:rPr>
              <a:t>字段替换过时的</a:t>
            </a:r>
            <a:r>
              <a:rPr lang="en-US" altLang="zh-CN" sz="2400" dirty="0">
                <a:latin typeface="微软雅黑" panose="020B0503020204020204" pitchFamily="34" charset="-122"/>
                <a:ea typeface="微软雅黑" panose="020B0503020204020204" pitchFamily="34" charset="-122"/>
              </a:rPr>
              <a:t>IPv4 TOS</a:t>
            </a:r>
            <a:r>
              <a:rPr lang="zh-CN" altLang="en-US" sz="2400" dirty="0">
                <a:latin typeface="微软雅黑" panose="020B0503020204020204" pitchFamily="34" charset="-122"/>
                <a:ea typeface="微软雅黑" panose="020B0503020204020204" pitchFamily="34" charset="-122"/>
              </a:rPr>
              <a:t>字段</a:t>
            </a:r>
            <a:endParaRPr lang="en-US" altLang="zh-CN" sz="2400" dirty="0">
              <a:latin typeface="微软雅黑" panose="020B0503020204020204" pitchFamily="34" charset="-122"/>
              <a:ea typeface="微软雅黑" panose="020B0503020204020204" pitchFamily="34" charset="-122"/>
            </a:endParaRPr>
          </a:p>
        </p:txBody>
      </p:sp>
      <p:sp>
        <p:nvSpPr>
          <p:cNvPr id="5" name="Rectangle 3"/>
          <p:cNvSpPr txBox="1">
            <a:spLocks noChangeArrowheads="1"/>
          </p:cNvSpPr>
          <p:nvPr/>
        </p:nvSpPr>
        <p:spPr>
          <a:xfrm>
            <a:off x="1191379" y="1545978"/>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buNone/>
            </a:pPr>
            <a:r>
              <a:rPr lang="zh-CN" altLang="en-US" b="1" dirty="0">
                <a:solidFill>
                  <a:srgbClr val="C00000"/>
                </a:solidFill>
              </a:rPr>
              <a:t>区分服务（</a:t>
            </a:r>
            <a:r>
              <a:rPr lang="en-US" altLang="zh-CN" b="1" dirty="0" err="1">
                <a:solidFill>
                  <a:srgbClr val="C00000"/>
                </a:solidFill>
              </a:rPr>
              <a:t>DiffServ</a:t>
            </a:r>
            <a:r>
              <a:rPr lang="zh-CN" altLang="en-US" b="1" dirty="0">
                <a:solidFill>
                  <a:srgbClr val="C00000"/>
                </a:solidFill>
              </a:rPr>
              <a:t>：</a:t>
            </a:r>
            <a:r>
              <a:rPr lang="en-US" altLang="zh-CN" b="1" dirty="0">
                <a:solidFill>
                  <a:srgbClr val="C00000"/>
                </a:solidFill>
              </a:rPr>
              <a:t>Differentiated services</a:t>
            </a:r>
            <a:r>
              <a:rPr lang="zh-CN" altLang="en-US" b="1" dirty="0">
                <a:solidFill>
                  <a:srgbClr val="C00000"/>
                </a:solidFill>
              </a:rPr>
              <a:t>）</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100</a:t>
            </a:fld>
            <a:endParaRPr kumimoji="1" lang="zh-CN" altLang="en-US" dirty="0"/>
          </a:p>
        </p:txBody>
      </p:sp>
      <p:sp>
        <p:nvSpPr>
          <p:cNvPr id="7" name="日期占位符 1"/>
          <p:cNvSpPr>
            <a:spLocks noGrp="1"/>
          </p:cNvSpPr>
          <p:nvPr>
            <p:ph type="dt" sz="half" idx="10"/>
          </p:nvPr>
        </p:nvSpPr>
        <p:spPr>
          <a:xfrm>
            <a:off x="197335" y="6489303"/>
            <a:ext cx="2743200" cy="365125"/>
          </a:xfrm>
        </p:spPr>
        <p:txBody>
          <a:bodyPr/>
          <a:lstStyle/>
          <a:p>
            <a:r>
              <a:rPr kumimoji="1" lang="en-US" altLang="zh-CN" dirty="0"/>
              <a:t>5.4 </a:t>
            </a:r>
            <a:r>
              <a:rPr kumimoji="1" lang="zh-CN" altLang="en-US" dirty="0"/>
              <a:t>服务质量</a:t>
            </a:r>
          </a:p>
        </p:txBody>
      </p:sp>
    </p:spTree>
    <p:extLst>
      <p:ext uri="{BB962C8B-B14F-4D97-AF65-F5344CB8AC3E}">
        <p14:creationId xmlns:p14="http://schemas.microsoft.com/office/powerpoint/2010/main" val="73903884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区分服务</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2133833"/>
            <a:ext cx="10699865" cy="3487246"/>
          </a:xfrm>
        </p:spPr>
        <p:txBody>
          <a:bodyPr>
            <a:normAutofit/>
          </a:bodyPr>
          <a:lstStyle/>
          <a:p>
            <a:pPr>
              <a:lnSpc>
                <a:spcPct val="150000"/>
              </a:lnSpc>
            </a:pPr>
            <a:r>
              <a:rPr lang="zh-CN" altLang="en-US" sz="2400" dirty="0">
                <a:latin typeface="微软雅黑" panose="020B0503020204020204" pitchFamily="34" charset="-122"/>
                <a:ea typeface="微软雅黑" panose="020B0503020204020204" pitchFamily="34" charset="-122"/>
              </a:rPr>
              <a:t>边界节点根据约定好的</a:t>
            </a:r>
            <a:r>
              <a:rPr lang="en-US" altLang="zh-CN" sz="2400" dirty="0" err="1">
                <a:latin typeface="微软雅黑" panose="020B0503020204020204" pitchFamily="34" charset="-122"/>
                <a:ea typeface="微软雅黑" panose="020B0503020204020204" pitchFamily="34" charset="-122"/>
              </a:rPr>
              <a:t>QoS</a:t>
            </a:r>
            <a:r>
              <a:rPr lang="zh-CN" altLang="en-US" sz="2400" dirty="0">
                <a:latin typeface="微软雅黑" panose="020B0503020204020204" pitchFamily="34" charset="-122"/>
                <a:ea typeface="微软雅黑" panose="020B0503020204020204" pitchFamily="34" charset="-122"/>
              </a:rPr>
              <a:t>规定，把将要进入网络的流量</a:t>
            </a:r>
            <a:r>
              <a:rPr lang="zh-CN" altLang="en-US" dirty="0">
                <a:latin typeface="微软雅黑" panose="020B0503020204020204" pitchFamily="34" charset="-122"/>
                <a:ea typeface="微软雅黑" panose="020B0503020204020204" pitchFamily="34" charset="-122"/>
              </a:rPr>
              <a:t>分类</a:t>
            </a:r>
            <a:r>
              <a:rPr lang="zh-CN" altLang="en-US" sz="2400" dirty="0">
                <a:latin typeface="微软雅黑" panose="020B0503020204020204" pitchFamily="34" charset="-122"/>
                <a:ea typeface="微软雅黑" panose="020B0503020204020204" pitchFamily="34" charset="-122"/>
              </a:rPr>
              <a:t>成不同的流。流的聚类信息用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头部的</a:t>
            </a:r>
            <a:r>
              <a:rPr lang="en-US" altLang="zh-CN" sz="2400" dirty="0">
                <a:latin typeface="微软雅黑" panose="020B0503020204020204" pitchFamily="34" charset="-122"/>
                <a:ea typeface="微软雅黑" panose="020B0503020204020204" pitchFamily="34" charset="-122"/>
              </a:rPr>
              <a:t>DS field</a:t>
            </a:r>
            <a:r>
              <a:rPr lang="zh-CN" altLang="en-US" sz="2400" dirty="0">
                <a:latin typeface="微软雅黑" panose="020B0503020204020204" pitchFamily="34" charset="-122"/>
                <a:ea typeface="微软雅黑" panose="020B0503020204020204" pitchFamily="34" charset="-122"/>
              </a:rPr>
              <a:t>来标识。内部路由节点在转发这种包的时候，只需根据不同的</a:t>
            </a:r>
            <a:r>
              <a:rPr lang="en-US" altLang="zh-CN" sz="2400" dirty="0">
                <a:latin typeface="微软雅黑" panose="020B0503020204020204" pitchFamily="34" charset="-122"/>
                <a:ea typeface="微软雅黑" panose="020B0503020204020204" pitchFamily="34" charset="-122"/>
              </a:rPr>
              <a:t>DSCP</a:t>
            </a:r>
            <a:r>
              <a:rPr lang="zh-CN" altLang="en-US" sz="2400" dirty="0">
                <a:latin typeface="微软雅黑" panose="020B0503020204020204" pitchFamily="34" charset="-122"/>
                <a:ea typeface="微软雅黑" panose="020B0503020204020204" pitchFamily="34" charset="-122"/>
              </a:rPr>
              <a:t>选择相应的调度和转发服务即可。</a:t>
            </a:r>
          </a:p>
        </p:txBody>
      </p:sp>
      <p:pic>
        <p:nvPicPr>
          <p:cNvPr id="6" name="图片 5"/>
          <p:cNvPicPr>
            <a:picLocks noChangeAspect="1"/>
          </p:cNvPicPr>
          <p:nvPr/>
        </p:nvPicPr>
        <p:blipFill>
          <a:blip r:embed="rId3"/>
          <a:stretch>
            <a:fillRect/>
          </a:stretch>
        </p:blipFill>
        <p:spPr>
          <a:xfrm>
            <a:off x="206432" y="4230184"/>
            <a:ext cx="11682093" cy="1937853"/>
          </a:xfrm>
          <a:prstGeom prst="rect">
            <a:avLst/>
          </a:prstGeom>
        </p:spPr>
      </p:pic>
      <p:sp>
        <p:nvSpPr>
          <p:cNvPr id="2" name="日期占位符 1"/>
          <p:cNvSpPr>
            <a:spLocks noGrp="1"/>
          </p:cNvSpPr>
          <p:nvPr>
            <p:ph type="dt" sz="half" idx="10"/>
          </p:nvPr>
        </p:nvSpPr>
        <p:spPr/>
        <p:txBody>
          <a:bodyPr/>
          <a:lstStyle/>
          <a:p>
            <a:r>
              <a:rPr kumimoji="1" lang="en-US" altLang="zh-CN" dirty="0"/>
              <a:t>5.4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101</a:t>
            </a:fld>
            <a:endParaRPr kumimoji="1" lang="zh-CN" altLang="en-US" dirty="0"/>
          </a:p>
        </p:txBody>
      </p:sp>
      <p:sp>
        <p:nvSpPr>
          <p:cNvPr id="8" name="Rectangle 3"/>
          <p:cNvSpPr txBox="1">
            <a:spLocks noChangeArrowheads="1"/>
          </p:cNvSpPr>
          <p:nvPr/>
        </p:nvSpPr>
        <p:spPr>
          <a:xfrm>
            <a:off x="1191379" y="1545978"/>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buNone/>
            </a:pPr>
            <a:r>
              <a:rPr lang="zh-CN" altLang="en-US" b="1" dirty="0">
                <a:solidFill>
                  <a:srgbClr val="C00000"/>
                </a:solidFill>
              </a:rPr>
              <a:t>区分服务（</a:t>
            </a:r>
            <a:r>
              <a:rPr lang="en-US" altLang="zh-CN" b="1" dirty="0" err="1">
                <a:solidFill>
                  <a:srgbClr val="C00000"/>
                </a:solidFill>
              </a:rPr>
              <a:t>DiffServ</a:t>
            </a:r>
            <a:r>
              <a:rPr lang="zh-CN" altLang="en-US" b="1" dirty="0">
                <a:solidFill>
                  <a:srgbClr val="C00000"/>
                </a:solidFill>
              </a:rPr>
              <a:t>：</a:t>
            </a:r>
            <a:r>
              <a:rPr lang="en-US" altLang="zh-CN" b="1" dirty="0">
                <a:solidFill>
                  <a:srgbClr val="C00000"/>
                </a:solidFill>
              </a:rPr>
              <a:t>Differentiated services</a:t>
            </a:r>
            <a:r>
              <a:rPr lang="zh-CN" altLang="en-US" b="1" dirty="0">
                <a:solidFill>
                  <a:srgbClr val="C00000"/>
                </a:solidFill>
              </a:rPr>
              <a:t>）</a:t>
            </a:r>
          </a:p>
        </p:txBody>
      </p:sp>
    </p:spTree>
    <p:extLst>
      <p:ext uri="{BB962C8B-B14F-4D97-AF65-F5344CB8AC3E}">
        <p14:creationId xmlns:p14="http://schemas.microsoft.com/office/powerpoint/2010/main" val="216663264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olidFill>
                  <a:srgbClr val="C00000"/>
                </a:solidFill>
                <a:sym typeface="+mn-ea"/>
              </a:rPr>
              <a:t>5.5 </a:t>
            </a:r>
            <a:r>
              <a:rPr kumimoji="1" lang="zh-CN" altLang="en-US" dirty="0">
                <a:solidFill>
                  <a:srgbClr val="C00000"/>
                </a:solidFill>
                <a:sym typeface="+mn-ea"/>
              </a:rPr>
              <a:t>软件定义网络</a:t>
            </a:r>
            <a:endParaRPr kumimoji="1" lang="en-US" altLang="zh-CN" dirty="0">
              <a:solidFill>
                <a:srgbClr val="C00000"/>
              </a:solidFill>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102</a:t>
            </a:fld>
            <a:endParaRPr kumimoji="1" lang="zh-CN" altLang="en-US" dirty="0"/>
          </a:p>
        </p:txBody>
      </p:sp>
      <p:sp>
        <p:nvSpPr>
          <p:cNvPr id="7" name="矩形标注 6">
            <a:extLst>
              <a:ext uri="{FF2B5EF4-FFF2-40B4-BE49-F238E27FC236}">
                <a16:creationId xmlns:a16="http://schemas.microsoft.com/office/drawing/2014/main" id="{E4BFCB96-0FA1-7740-8F94-683CEFB67F89}"/>
              </a:ext>
            </a:extLst>
          </p:cNvPr>
          <p:cNvSpPr/>
          <p:nvPr/>
        </p:nvSpPr>
        <p:spPr>
          <a:xfrm>
            <a:off x="6445505" y="2346994"/>
            <a:ext cx="3901140" cy="2407885"/>
          </a:xfrm>
          <a:prstGeom prst="wedgeRectCallout">
            <a:avLst>
              <a:gd name="adj1" fmla="val -105882"/>
              <a:gd name="adj2" fmla="val 9302"/>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457200" indent="-457200">
              <a:lnSpc>
                <a:spcPct val="130000"/>
              </a:lnSpc>
              <a:spcBef>
                <a:spcPts val="600"/>
              </a:spcBef>
              <a:buFont typeface="+mj-lt"/>
              <a:buAutoNum type="arabicPeriod"/>
            </a:pPr>
            <a:r>
              <a:rPr lang="zh-CN" altLang="en-US" sz="2400" dirty="0">
                <a:solidFill>
                  <a:schemeClr val="tx1"/>
                </a:solidFill>
                <a:latin typeface="微软雅黑" pitchFamily="34" charset="-122"/>
                <a:ea typeface="微软雅黑" pitchFamily="34" charset="-122"/>
              </a:rPr>
              <a:t>概述</a:t>
            </a:r>
            <a:endParaRPr lang="zh-CN" altLang="zh-CN" sz="2400" dirty="0">
              <a:solidFill>
                <a:schemeClr val="tx1"/>
              </a:solidFill>
              <a:latin typeface="微软雅黑" pitchFamily="34" charset="-122"/>
              <a:ea typeface="微软雅黑" pitchFamily="34" charset="-122"/>
            </a:endParaRP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SDN</a:t>
            </a:r>
            <a:r>
              <a:rPr lang="zh-CN" altLang="en-US" sz="2400" dirty="0">
                <a:solidFill>
                  <a:schemeClr val="tx1"/>
                </a:solidFill>
                <a:latin typeface="微软雅黑" pitchFamily="34" charset="-122"/>
                <a:ea typeface="微软雅黑" pitchFamily="34" charset="-122"/>
              </a:rPr>
              <a:t>控制平面</a:t>
            </a:r>
            <a:endParaRPr lang="en-US" altLang="zh-CN" sz="2400" dirty="0">
              <a:solidFill>
                <a:schemeClr val="tx1"/>
              </a:solidFill>
              <a:latin typeface="微软雅黑" pitchFamily="34" charset="-122"/>
              <a:ea typeface="微软雅黑" pitchFamily="34" charset="-122"/>
            </a:endParaRP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SDN</a:t>
            </a:r>
            <a:r>
              <a:rPr lang="zh-CN" altLang="en-US" sz="2400" dirty="0">
                <a:solidFill>
                  <a:schemeClr val="tx1"/>
                </a:solidFill>
                <a:latin typeface="微软雅黑" pitchFamily="34" charset="-122"/>
                <a:ea typeface="微软雅黑" pitchFamily="34" charset="-122"/>
              </a:rPr>
              <a:t>数据平面</a:t>
            </a:r>
            <a:r>
              <a:rPr lang="en-US" altLang="zh-CN" sz="2400" dirty="0">
                <a:solidFill>
                  <a:schemeClr val="tx1"/>
                </a:solidFill>
                <a:latin typeface="微软雅黑" pitchFamily="34" charset="-122"/>
                <a:ea typeface="微软雅黑" pitchFamily="34" charset="-122"/>
              </a:rPr>
              <a:t> </a:t>
            </a:r>
          </a:p>
          <a:p>
            <a:pPr marL="457200" indent="-457200">
              <a:lnSpc>
                <a:spcPct val="130000"/>
              </a:lnSpc>
              <a:spcBef>
                <a:spcPts val="600"/>
              </a:spcBef>
              <a:buFont typeface="+mj-lt"/>
              <a:buAutoNum type="arabicPeriod"/>
            </a:pPr>
            <a:r>
              <a:rPr lang="zh-CN" altLang="en-US" sz="2400" dirty="0">
                <a:solidFill>
                  <a:schemeClr val="tx1"/>
                </a:solidFill>
                <a:latin typeface="微软雅黑" pitchFamily="34" charset="-122"/>
                <a:ea typeface="微软雅黑" pitchFamily="34" charset="-122"/>
              </a:rPr>
              <a:t>可编程的网络测量</a:t>
            </a:r>
            <a:endParaRPr lang="en-US" altLang="zh-CN" sz="2400" dirty="0">
              <a:solidFill>
                <a:schemeClr val="tx1"/>
              </a:solidFill>
              <a:latin typeface="微软雅黑" pitchFamily="34" charset="-122"/>
              <a:ea typeface="微软雅黑" pitchFamily="34" charset="-122"/>
            </a:endParaRPr>
          </a:p>
        </p:txBody>
      </p:sp>
    </p:spTree>
    <p:extLst>
      <p:ext uri="{BB962C8B-B14F-4D97-AF65-F5344CB8AC3E}">
        <p14:creationId xmlns:p14="http://schemas.microsoft.com/office/powerpoint/2010/main" val="142697342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概述</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4854108"/>
          </a:xfrm>
        </p:spPr>
        <p:txBody>
          <a:bodyPr>
            <a:normAutofit lnSpcReduction="10000"/>
          </a:bodyPr>
          <a:lstStyle/>
          <a:p>
            <a:pPr>
              <a:spcBef>
                <a:spcPts val="0"/>
              </a:spcBef>
            </a:pPr>
            <a:r>
              <a:rPr lang="zh-CN" altLang="en-US" kern="100" dirty="0">
                <a:solidFill>
                  <a:srgbClr val="C00000"/>
                </a:solidFill>
                <a:latin typeface="Times New Roman" panose="02020603050405020304" pitchFamily="18" charset="0"/>
                <a:cs typeface="Times New Roman" panose="02020603050405020304" pitchFamily="18" charset="0"/>
              </a:rPr>
              <a:t>为什么需要</a:t>
            </a:r>
            <a:r>
              <a:rPr lang="en-US" altLang="zh-CN" kern="100" dirty="0">
                <a:solidFill>
                  <a:srgbClr val="C00000"/>
                </a:solidFill>
                <a:latin typeface="Times New Roman" panose="02020603050405020304" pitchFamily="18" charset="0"/>
                <a:cs typeface="Times New Roman" panose="02020603050405020304" pitchFamily="18" charset="0"/>
              </a:rPr>
              <a:t>SDN</a:t>
            </a:r>
            <a:r>
              <a:rPr lang="zh-CN" altLang="en-US" kern="100" dirty="0">
                <a:solidFill>
                  <a:srgbClr val="C00000"/>
                </a:solidFill>
                <a:latin typeface="Times New Roman" panose="02020603050405020304" pitchFamily="18" charset="0"/>
                <a:cs typeface="Times New Roman" panose="02020603050405020304" pitchFamily="18" charset="0"/>
              </a:rPr>
              <a:t>？</a:t>
            </a:r>
            <a:endParaRPr lang="en-US" altLang="zh-CN" kern="100" dirty="0">
              <a:solidFill>
                <a:srgbClr val="C00000"/>
              </a:solidFill>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zh-CN" altLang="en-US" sz="2800" dirty="0">
                <a:latin typeface="Times New Roman" panose="02020603050405020304" pitchFamily="18" charset="0"/>
                <a:cs typeface="Times New Roman" panose="02020603050405020304" pitchFamily="18" charset="0"/>
              </a:rPr>
              <a:t>网络设备固化难升级，及时运用新技术不易</a:t>
            </a:r>
          </a:p>
          <a:p>
            <a:pPr lvl="1">
              <a:spcBef>
                <a:spcPts val="0"/>
              </a:spcBef>
              <a:buFont typeface="Times New Roman" panose="02020603050405020304" pitchFamily="18" charset="0"/>
              <a:buChar char="-"/>
            </a:pPr>
            <a:r>
              <a:rPr lang="zh-CN" altLang="en-US" sz="2800" dirty="0">
                <a:latin typeface="Times New Roman" panose="02020603050405020304" pitchFamily="18" charset="0"/>
                <a:cs typeface="Times New Roman" panose="02020603050405020304" pitchFamily="18" charset="0"/>
              </a:rPr>
              <a:t>分布式路由效率低，实时性低导致偶尔错误</a:t>
            </a:r>
            <a:endParaRPr lang="en-US" altLang="zh-CN" sz="2800" dirty="0">
              <a:latin typeface="Times New Roman" panose="02020603050405020304" pitchFamily="18" charset="0"/>
              <a:cs typeface="Times New Roman" panose="02020603050405020304" pitchFamily="18" charset="0"/>
            </a:endParaRPr>
          </a:p>
          <a:p>
            <a:pPr>
              <a:spcBef>
                <a:spcPts val="0"/>
              </a:spcBef>
            </a:pPr>
            <a:r>
              <a:rPr lang="zh-CN" altLang="en-US" dirty="0">
                <a:solidFill>
                  <a:srgbClr val="C00000"/>
                </a:solidFill>
                <a:latin typeface="Times New Roman" panose="02020603050405020304" pitchFamily="18" charset="0"/>
                <a:cs typeface="Times New Roman" panose="02020603050405020304" pitchFamily="18" charset="0"/>
              </a:rPr>
              <a:t>起源</a:t>
            </a:r>
            <a:endParaRPr lang="en-US" altLang="zh-CN" dirty="0">
              <a:solidFill>
                <a:srgbClr val="C00000"/>
              </a:solidFill>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en-US" altLang="zh-CN" sz="2800" dirty="0">
                <a:latin typeface="Times New Roman" panose="02020603050405020304" pitchFamily="18" charset="0"/>
                <a:cs typeface="Times New Roman" panose="02020603050405020304" pitchFamily="18" charset="0"/>
              </a:rPr>
              <a:t>2008</a:t>
            </a:r>
            <a:r>
              <a:rPr lang="zh-CN" altLang="zh-CN" sz="2800" dirty="0">
                <a:latin typeface="Times New Roman" panose="02020603050405020304" pitchFamily="18" charset="0"/>
                <a:cs typeface="Times New Roman" panose="02020603050405020304" pitchFamily="18" charset="0"/>
              </a:rPr>
              <a:t>年美国斯坦福大学</a:t>
            </a:r>
            <a:r>
              <a:rPr lang="en-US" altLang="zh-CN" sz="2800" dirty="0">
                <a:latin typeface="Times New Roman" panose="02020603050405020304" pitchFamily="18" charset="0"/>
                <a:cs typeface="Times New Roman" panose="02020603050405020304" pitchFamily="18" charset="0"/>
              </a:rPr>
              <a:t>Nick </a:t>
            </a:r>
            <a:r>
              <a:rPr lang="en-US" altLang="zh-CN" sz="2800" dirty="0" err="1">
                <a:latin typeface="Times New Roman" panose="02020603050405020304" pitchFamily="18" charset="0"/>
                <a:cs typeface="Times New Roman" panose="02020603050405020304" pitchFamily="18" charset="0"/>
              </a:rPr>
              <a:t>McKeown</a:t>
            </a:r>
            <a:r>
              <a:rPr lang="zh-CN" altLang="zh-CN" sz="2800" dirty="0">
                <a:latin typeface="Times New Roman" panose="02020603050405020304" pitchFamily="18" charset="0"/>
                <a:cs typeface="Times New Roman" panose="02020603050405020304" pitchFamily="18" charset="0"/>
              </a:rPr>
              <a:t>教授的</a:t>
            </a:r>
            <a:r>
              <a:rPr lang="en-US" altLang="zh-CN" sz="2800" dirty="0">
                <a:latin typeface="Times New Roman" panose="02020603050405020304" pitchFamily="18" charset="0"/>
                <a:cs typeface="Times New Roman" panose="02020603050405020304" pitchFamily="18" charset="0"/>
              </a:rPr>
              <a:t>clean slate</a:t>
            </a:r>
            <a:r>
              <a:rPr lang="zh-CN" altLang="zh-CN" sz="2800" dirty="0">
                <a:latin typeface="Times New Roman" panose="02020603050405020304" pitchFamily="18" charset="0"/>
                <a:cs typeface="Times New Roman" panose="02020603050405020304" pitchFamily="18" charset="0"/>
              </a:rPr>
              <a:t>项目</a:t>
            </a:r>
            <a:r>
              <a:rPr lang="en-US" altLang="zh-CN" sz="2800" dirty="0">
                <a:latin typeface="Times New Roman" panose="02020603050405020304" pitchFamily="18" charset="0"/>
                <a:cs typeface="Times New Roman" panose="02020603050405020304" pitchFamily="18" charset="0"/>
              </a:rPr>
              <a:t>——</a:t>
            </a:r>
            <a:r>
              <a:rPr lang="zh-CN" altLang="en-US" sz="2800" dirty="0">
                <a:latin typeface="Times New Roman" panose="02020603050405020304" pitchFamily="18" charset="0"/>
                <a:cs typeface="Times New Roman" panose="02020603050405020304" pitchFamily="18" charset="0"/>
              </a:rPr>
              <a:t>重新设计网络</a:t>
            </a:r>
            <a:endParaRPr lang="en-US" altLang="zh-CN" sz="2800" dirty="0">
              <a:latin typeface="Times New Roman" panose="02020603050405020304" pitchFamily="18" charset="0"/>
              <a:cs typeface="Times New Roman" panose="02020603050405020304" pitchFamily="18" charset="0"/>
            </a:endParaRPr>
          </a:p>
          <a:p>
            <a:pPr>
              <a:spcBef>
                <a:spcPts val="0"/>
              </a:spcBef>
            </a:pPr>
            <a:r>
              <a:rPr lang="zh-CN" altLang="en-US" dirty="0">
                <a:solidFill>
                  <a:srgbClr val="C00000"/>
                </a:solidFill>
                <a:latin typeface="Times New Roman" panose="02020603050405020304" pitchFamily="18" charset="0"/>
                <a:cs typeface="Times New Roman" panose="02020603050405020304" pitchFamily="18" charset="0"/>
              </a:rPr>
              <a:t>思想</a:t>
            </a:r>
            <a:endParaRPr lang="en-US" altLang="zh-CN" dirty="0">
              <a:solidFill>
                <a:srgbClr val="C00000"/>
              </a:solidFill>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zh-CN" altLang="zh-CN" sz="2800" dirty="0">
                <a:latin typeface="Times New Roman" panose="02020603050405020304" pitchFamily="18" charset="0"/>
                <a:cs typeface="Times New Roman" panose="02020603050405020304" pitchFamily="18" charset="0"/>
              </a:rPr>
              <a:t>取消路由器，用控制器（或计算机）</a:t>
            </a:r>
            <a:r>
              <a:rPr lang="zh-CN" altLang="en-US" sz="2800" dirty="0">
                <a:latin typeface="Times New Roman" panose="02020603050405020304" pitchFamily="18" charset="0"/>
                <a:cs typeface="Times New Roman" panose="02020603050405020304" pitchFamily="18" charset="0"/>
              </a:rPr>
              <a:t>代替</a:t>
            </a:r>
            <a:endParaRPr lang="en-US" altLang="zh-CN" sz="2800" dirty="0">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zh-CN" altLang="zh-CN" sz="2800" dirty="0">
                <a:latin typeface="Times New Roman" panose="02020603050405020304" pitchFamily="18" charset="0"/>
                <a:cs typeface="Times New Roman" panose="02020603050405020304" pitchFamily="18" charset="0"/>
              </a:rPr>
              <a:t>分布式路由改为控制器（或计算机）集中路由</a:t>
            </a:r>
            <a:endParaRPr lang="en-US" altLang="zh-CN" sz="2800" dirty="0">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zh-CN" altLang="en-US" sz="2800" dirty="0">
                <a:latin typeface="Times New Roman" panose="02020603050405020304" pitchFamily="18" charset="0"/>
                <a:cs typeface="Times New Roman" panose="02020603050405020304" pitchFamily="18" charset="0"/>
              </a:rPr>
              <a:t>交换机接收控制器分发的</a:t>
            </a:r>
            <a:r>
              <a:rPr lang="zh-CN" altLang="zh-CN" sz="2800" dirty="0">
                <a:latin typeface="Times New Roman" panose="02020603050405020304" pitchFamily="18" charset="0"/>
                <a:cs typeface="Times New Roman" panose="02020603050405020304" pitchFamily="18" charset="0"/>
              </a:rPr>
              <a:t>路由表</a:t>
            </a:r>
            <a:r>
              <a:rPr lang="zh-CN" altLang="en-US" sz="2800" dirty="0">
                <a:latin typeface="Times New Roman" panose="02020603050405020304" pitchFamily="18" charset="0"/>
                <a:cs typeface="Times New Roman" panose="02020603050405020304" pitchFamily="18" charset="0"/>
              </a:rPr>
              <a:t>，</a:t>
            </a:r>
            <a:r>
              <a:rPr lang="zh-CN" altLang="zh-CN" sz="2800" dirty="0">
                <a:latin typeface="Times New Roman" panose="02020603050405020304" pitchFamily="18" charset="0"/>
                <a:cs typeface="Times New Roman" panose="02020603050405020304" pitchFamily="18" charset="0"/>
              </a:rPr>
              <a:t>简单转发</a:t>
            </a:r>
            <a:endParaRPr lang="en-US" altLang="zh-CN" sz="2800" dirty="0">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zh-CN" altLang="en-US" sz="2800" dirty="0">
                <a:solidFill>
                  <a:srgbClr val="FF0000"/>
                </a:solidFill>
                <a:latin typeface="Times New Roman" panose="02020603050405020304" pitchFamily="18" charset="0"/>
                <a:cs typeface="Times New Roman" panose="02020603050405020304" pitchFamily="18" charset="0"/>
              </a:rPr>
              <a:t>控制平面与数据平面分离</a:t>
            </a:r>
            <a:endParaRPr lang="en-US" altLang="zh-CN" sz="2800" dirty="0">
              <a:solidFill>
                <a:srgbClr val="FF0000"/>
              </a:solidFill>
              <a:latin typeface="Times New Roman" panose="02020603050405020304" pitchFamily="18" charset="0"/>
              <a:cs typeface="Times New Roman" panose="02020603050405020304" pitchFamily="18" charset="0"/>
            </a:endParaRPr>
          </a:p>
          <a:p>
            <a:pPr lvl="1">
              <a:spcBef>
                <a:spcPts val="0"/>
              </a:spcBef>
              <a:buFont typeface="Times New Roman" panose="02020603050405020304" pitchFamily="18" charset="0"/>
              <a:buChar char="-"/>
            </a:pPr>
            <a:r>
              <a:rPr lang="zh-CN" altLang="zh-CN" sz="2800" dirty="0">
                <a:latin typeface="Times New Roman" panose="02020603050405020304" pitchFamily="18" charset="0"/>
                <a:cs typeface="Times New Roman" panose="02020603050405020304" pitchFamily="18" charset="0"/>
              </a:rPr>
              <a:t>网络硬件简单，</a:t>
            </a:r>
            <a:r>
              <a:rPr lang="zh-CN" altLang="en-US" sz="2800" dirty="0">
                <a:latin typeface="Times New Roman" panose="02020603050405020304" pitchFamily="18" charset="0"/>
                <a:cs typeface="Times New Roman" panose="02020603050405020304" pitchFamily="18" charset="0"/>
              </a:rPr>
              <a:t>主要由软件实现，能快速升级</a:t>
            </a:r>
            <a:endParaRPr lang="en-US" altLang="zh-CN" sz="2800" dirty="0">
              <a:latin typeface="Times New Roman" panose="02020603050405020304" pitchFamily="18" charset="0"/>
              <a:cs typeface="Times New Roman" panose="02020603050405020304" pitchFamily="18" charset="0"/>
            </a:endParaRPr>
          </a:p>
          <a:p>
            <a:pPr>
              <a:lnSpc>
                <a:spcPct val="150000"/>
              </a:lnSpc>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103</a:t>
            </a:fld>
            <a:endParaRPr kumimoji="1" lang="zh-CN" altLang="en-US" dirty="0"/>
          </a:p>
        </p:txBody>
      </p:sp>
    </p:spTree>
    <p:extLst>
      <p:ext uri="{BB962C8B-B14F-4D97-AF65-F5344CB8AC3E}">
        <p14:creationId xmlns:p14="http://schemas.microsoft.com/office/powerpoint/2010/main" val="25687226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概述</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609367"/>
          </a:xfrm>
        </p:spPr>
        <p:txBody>
          <a:bodyPr>
            <a:normAutofit/>
          </a:bodyPr>
          <a:lstStyle/>
          <a:p>
            <a:pPr>
              <a:lnSpc>
                <a:spcPct val="150000"/>
              </a:lnSpc>
            </a:pPr>
            <a:r>
              <a:rPr lang="en-US" altLang="zh-CN" sz="2400" dirty="0">
                <a:solidFill>
                  <a:srgbClr val="C00000"/>
                </a:solidFill>
                <a:latin typeface="微软雅黑" panose="020B0503020204020204" pitchFamily="34" charset="-122"/>
                <a:ea typeface="微软雅黑" panose="020B0503020204020204" pitchFamily="34" charset="-122"/>
              </a:rPr>
              <a:t>SDN</a:t>
            </a:r>
            <a:r>
              <a:rPr lang="zh-CN" altLang="en-US" sz="2400" dirty="0">
                <a:solidFill>
                  <a:srgbClr val="C00000"/>
                </a:solidFill>
                <a:latin typeface="微软雅黑" panose="020B0503020204020204" pitchFamily="34" charset="-122"/>
                <a:ea typeface="微软雅黑" panose="020B0503020204020204" pitchFamily="34" charset="-122"/>
              </a:rPr>
              <a:t>的网络结构</a:t>
            </a: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104</a:t>
            </a:fld>
            <a:endParaRPr kumimoji="1" lang="zh-CN" altLang="en-US" dirty="0"/>
          </a:p>
        </p:txBody>
      </p:sp>
      <p:grpSp>
        <p:nvGrpSpPr>
          <p:cNvPr id="5" name="组合 4"/>
          <p:cNvGrpSpPr/>
          <p:nvPr/>
        </p:nvGrpSpPr>
        <p:grpSpPr>
          <a:xfrm>
            <a:off x="2059189" y="1847965"/>
            <a:ext cx="8732894" cy="4781275"/>
            <a:chOff x="1616429" y="1847965"/>
            <a:chExt cx="8732894" cy="4781275"/>
          </a:xfrm>
        </p:grpSpPr>
        <p:sp>
          <p:nvSpPr>
            <p:cNvPr id="6" name="内容占位符 2">
              <a:extLst>
                <a:ext uri="{FF2B5EF4-FFF2-40B4-BE49-F238E27FC236}">
                  <a16:creationId xmlns:a16="http://schemas.microsoft.com/office/drawing/2014/main" id="{62772749-0251-43E3-8FBE-62B01C0C88DA}"/>
                </a:ext>
              </a:extLst>
            </p:cNvPr>
            <p:cNvSpPr txBox="1">
              <a:spLocks/>
            </p:cNvSpPr>
            <p:nvPr/>
          </p:nvSpPr>
          <p:spPr>
            <a:xfrm>
              <a:off x="1616429" y="1847965"/>
              <a:ext cx="8516680" cy="4533987"/>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itchFamily="2" charset="2"/>
                <a:buNone/>
              </a:pPr>
              <a:r>
                <a:rPr lang="en-US" altLang="zh-CN">
                  <a:latin typeface="Times New Roman" panose="02020603050405020304" pitchFamily="18" charset="0"/>
                  <a:cs typeface="Times New Roman" panose="02020603050405020304" pitchFamily="18" charset="0"/>
                </a:rPr>
                <a:t>    </a:t>
              </a:r>
              <a:endParaRPr lang="en-US" altLang="zh-CN" dirty="0">
                <a:latin typeface="Times New Roman" panose="02020603050405020304" pitchFamily="18" charset="0"/>
                <a:cs typeface="Times New Roman" panose="02020603050405020304" pitchFamily="18" charset="0"/>
              </a:endParaRPr>
            </a:p>
          </p:txBody>
        </p:sp>
        <p:grpSp>
          <p:nvGrpSpPr>
            <p:cNvPr id="7" name="画布 131098">
              <a:extLst>
                <a:ext uri="{FF2B5EF4-FFF2-40B4-BE49-F238E27FC236}">
                  <a16:creationId xmlns:a16="http://schemas.microsoft.com/office/drawing/2014/main" id="{C29710C2-4257-490C-B0E6-98C5874757D7}"/>
                </a:ext>
              </a:extLst>
            </p:cNvPr>
            <p:cNvGrpSpPr/>
            <p:nvPr/>
          </p:nvGrpSpPr>
          <p:grpSpPr>
            <a:xfrm>
              <a:off x="1896192" y="1978715"/>
              <a:ext cx="8236917" cy="4159131"/>
              <a:chOff x="0" y="0"/>
              <a:chExt cx="5394960" cy="2586990"/>
            </a:xfrm>
          </p:grpSpPr>
          <p:sp>
            <p:nvSpPr>
              <p:cNvPr id="8" name="矩形 7">
                <a:extLst>
                  <a:ext uri="{FF2B5EF4-FFF2-40B4-BE49-F238E27FC236}">
                    <a16:creationId xmlns:a16="http://schemas.microsoft.com/office/drawing/2014/main" id="{C21CE05B-125C-4934-B947-32AA0CCD82BE}"/>
                  </a:ext>
                </a:extLst>
              </p:cNvPr>
              <p:cNvSpPr/>
              <p:nvPr/>
            </p:nvSpPr>
            <p:spPr>
              <a:xfrm>
                <a:off x="0" y="0"/>
                <a:ext cx="5394960" cy="2586990"/>
              </a:xfrm>
              <a:prstGeom prst="rect">
                <a:avLst/>
              </a:prstGeom>
              <a:noFill/>
              <a:ln>
                <a:noFill/>
              </a:ln>
            </p:spPr>
          </p:sp>
          <p:sp>
            <p:nvSpPr>
              <p:cNvPr id="9" name="Text Box 175">
                <a:extLst>
                  <a:ext uri="{FF2B5EF4-FFF2-40B4-BE49-F238E27FC236}">
                    <a16:creationId xmlns:a16="http://schemas.microsoft.com/office/drawing/2014/main" id="{40BE2CC4-AFD9-44D9-9436-E77C9C9FBD3D}"/>
                  </a:ext>
                </a:extLst>
              </p:cNvPr>
              <p:cNvSpPr txBox="1">
                <a:spLocks noChangeArrowheads="1"/>
              </p:cNvSpPr>
              <p:nvPr/>
            </p:nvSpPr>
            <p:spPr bwMode="auto">
              <a:xfrm>
                <a:off x="675005" y="1108710"/>
                <a:ext cx="1048385"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控制器</a:t>
                </a:r>
              </a:p>
            </p:txBody>
          </p:sp>
          <p:sp>
            <p:nvSpPr>
              <p:cNvPr id="10" name="Text Box 176">
                <a:extLst>
                  <a:ext uri="{FF2B5EF4-FFF2-40B4-BE49-F238E27FC236}">
                    <a16:creationId xmlns:a16="http://schemas.microsoft.com/office/drawing/2014/main" id="{32ECBF7F-6A7C-4DCC-9CCB-87072897B41A}"/>
                  </a:ext>
                </a:extLst>
              </p:cNvPr>
              <p:cNvSpPr txBox="1">
                <a:spLocks noChangeArrowheads="1"/>
              </p:cNvSpPr>
              <p:nvPr/>
            </p:nvSpPr>
            <p:spPr bwMode="auto">
              <a:xfrm>
                <a:off x="2098040" y="1108710"/>
                <a:ext cx="1049020"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控制器</a:t>
                </a:r>
              </a:p>
            </p:txBody>
          </p:sp>
          <p:sp>
            <p:nvSpPr>
              <p:cNvPr id="11" name="Text Box 177">
                <a:extLst>
                  <a:ext uri="{FF2B5EF4-FFF2-40B4-BE49-F238E27FC236}">
                    <a16:creationId xmlns:a16="http://schemas.microsoft.com/office/drawing/2014/main" id="{672F9D81-3C12-4E97-B7CA-6261B1C0F83A}"/>
                  </a:ext>
                </a:extLst>
              </p:cNvPr>
              <p:cNvSpPr txBox="1">
                <a:spLocks noChangeArrowheads="1"/>
              </p:cNvSpPr>
              <p:nvPr/>
            </p:nvSpPr>
            <p:spPr bwMode="auto">
              <a:xfrm>
                <a:off x="3938150" y="1108710"/>
                <a:ext cx="1049020"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控制器</a:t>
                </a:r>
              </a:p>
            </p:txBody>
          </p:sp>
          <p:cxnSp>
            <p:nvCxnSpPr>
              <p:cNvPr id="12" name="Line 178">
                <a:extLst>
                  <a:ext uri="{FF2B5EF4-FFF2-40B4-BE49-F238E27FC236}">
                    <a16:creationId xmlns:a16="http://schemas.microsoft.com/office/drawing/2014/main" id="{935FA638-A964-4398-BFD4-5CDEA6822476}"/>
                  </a:ext>
                </a:extLst>
              </p:cNvPr>
              <p:cNvCxnSpPr>
                <a:cxnSpLocks noChangeShapeType="1"/>
              </p:cNvCxnSpPr>
              <p:nvPr/>
            </p:nvCxnSpPr>
            <p:spPr bwMode="auto">
              <a:xfrm>
                <a:off x="74930" y="862330"/>
                <a:ext cx="5170170"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cxnSp>
          <p:cxnSp>
            <p:nvCxnSpPr>
              <p:cNvPr id="13" name="Line 179">
                <a:extLst>
                  <a:ext uri="{FF2B5EF4-FFF2-40B4-BE49-F238E27FC236}">
                    <a16:creationId xmlns:a16="http://schemas.microsoft.com/office/drawing/2014/main" id="{1C46940D-EF1F-4E1C-8BB1-7E2050A2FB65}"/>
                  </a:ext>
                </a:extLst>
              </p:cNvPr>
              <p:cNvCxnSpPr>
                <a:cxnSpLocks noChangeShapeType="1"/>
              </p:cNvCxnSpPr>
              <p:nvPr/>
            </p:nvCxnSpPr>
            <p:spPr bwMode="auto">
              <a:xfrm>
                <a:off x="61595" y="1805940"/>
                <a:ext cx="5170170" cy="63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cxnSp>
          <p:sp>
            <p:nvSpPr>
              <p:cNvPr id="14" name="Text Box 180">
                <a:extLst>
                  <a:ext uri="{FF2B5EF4-FFF2-40B4-BE49-F238E27FC236}">
                    <a16:creationId xmlns:a16="http://schemas.microsoft.com/office/drawing/2014/main" id="{DD1E1386-6F44-4D2A-9B42-3689EDFA03D1}"/>
                  </a:ext>
                </a:extLst>
              </p:cNvPr>
              <p:cNvSpPr txBox="1">
                <a:spLocks noChangeArrowheads="1"/>
              </p:cNvSpPr>
              <p:nvPr/>
            </p:nvSpPr>
            <p:spPr bwMode="auto">
              <a:xfrm>
                <a:off x="1135217" y="123190"/>
                <a:ext cx="1351024"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dirty="0">
                    <a:effectLst/>
                    <a:latin typeface="Times New Roman" panose="02020603050405020304" pitchFamily="18" charset="0"/>
                    <a:ea typeface="宋体" panose="02010600030101010101" pitchFamily="2" charset="-122"/>
                    <a:cs typeface="宋体" panose="02010600030101010101" pitchFamily="2" charset="-122"/>
                  </a:rPr>
                  <a:t>SDN</a:t>
                </a:r>
                <a:r>
                  <a:rPr lang="zh-CN" altLang="en-US" b="1" kern="100" dirty="0">
                    <a:effectLst/>
                    <a:latin typeface="Times New Roman" panose="02020603050405020304" pitchFamily="18" charset="0"/>
                    <a:ea typeface="宋体" panose="02010600030101010101" pitchFamily="2" charset="-122"/>
                    <a:cs typeface="宋体" panose="02010600030101010101" pitchFamily="2" charset="-122"/>
                  </a:rPr>
                  <a:t>控制</a:t>
                </a:r>
                <a:r>
                  <a:rPr lang="zh-CN" b="1" kern="100" dirty="0">
                    <a:effectLst/>
                    <a:latin typeface="Times New Roman" panose="02020603050405020304" pitchFamily="18" charset="0"/>
                    <a:ea typeface="宋体" panose="02010600030101010101" pitchFamily="2" charset="-122"/>
                    <a:cs typeface="宋体" panose="02010600030101010101" pitchFamily="2" charset="-122"/>
                  </a:rPr>
                  <a:t>应用程序</a:t>
                </a:r>
              </a:p>
            </p:txBody>
          </p:sp>
          <p:sp>
            <p:nvSpPr>
              <p:cNvPr id="15" name="Text Box 181">
                <a:extLst>
                  <a:ext uri="{FF2B5EF4-FFF2-40B4-BE49-F238E27FC236}">
                    <a16:creationId xmlns:a16="http://schemas.microsoft.com/office/drawing/2014/main" id="{8941E20E-F93D-4712-A91D-91C91FDAABD5}"/>
                  </a:ext>
                </a:extLst>
              </p:cNvPr>
              <p:cNvSpPr txBox="1">
                <a:spLocks noChangeArrowheads="1"/>
              </p:cNvSpPr>
              <p:nvPr/>
            </p:nvSpPr>
            <p:spPr bwMode="auto">
              <a:xfrm>
                <a:off x="3371850" y="123190"/>
                <a:ext cx="1412525"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dirty="0">
                    <a:effectLst/>
                    <a:latin typeface="Times New Roman" panose="02020603050405020304" pitchFamily="18" charset="0"/>
                    <a:ea typeface="宋体" panose="02010600030101010101" pitchFamily="2" charset="-122"/>
                    <a:cs typeface="宋体" panose="02010600030101010101" pitchFamily="2" charset="-122"/>
                  </a:rPr>
                  <a:t>SDN</a:t>
                </a:r>
                <a:r>
                  <a:rPr lang="zh-CN" altLang="en-US" b="1" kern="100" dirty="0">
                    <a:effectLst/>
                    <a:latin typeface="Times New Roman" panose="02020603050405020304" pitchFamily="18" charset="0"/>
                    <a:ea typeface="宋体" panose="02010600030101010101" pitchFamily="2" charset="-122"/>
                    <a:cs typeface="宋体" panose="02010600030101010101" pitchFamily="2" charset="-122"/>
                  </a:rPr>
                  <a:t>控制</a:t>
                </a:r>
                <a:r>
                  <a:rPr lang="zh-CN" b="1" kern="100" dirty="0">
                    <a:effectLst/>
                    <a:latin typeface="Times New Roman" panose="02020603050405020304" pitchFamily="18" charset="0"/>
                    <a:ea typeface="宋体" panose="02010600030101010101" pitchFamily="2" charset="-122"/>
                    <a:cs typeface="宋体" panose="02010600030101010101" pitchFamily="2" charset="-122"/>
                  </a:rPr>
                  <a:t>应用程序</a:t>
                </a:r>
              </a:p>
            </p:txBody>
          </p:sp>
          <p:cxnSp>
            <p:nvCxnSpPr>
              <p:cNvPr id="16" name="Line 182">
                <a:extLst>
                  <a:ext uri="{FF2B5EF4-FFF2-40B4-BE49-F238E27FC236}">
                    <a16:creationId xmlns:a16="http://schemas.microsoft.com/office/drawing/2014/main" id="{DEDA4207-8E75-4531-8221-173B5419A5B6}"/>
                  </a:ext>
                </a:extLst>
              </p:cNvPr>
              <p:cNvCxnSpPr>
                <a:cxnSpLocks noChangeShapeType="1"/>
              </p:cNvCxnSpPr>
              <p:nvPr/>
            </p:nvCxnSpPr>
            <p:spPr bwMode="auto">
              <a:xfrm>
                <a:off x="1498600" y="492760"/>
                <a:ext cx="635"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17" name="Line 183">
                <a:extLst>
                  <a:ext uri="{FF2B5EF4-FFF2-40B4-BE49-F238E27FC236}">
                    <a16:creationId xmlns:a16="http://schemas.microsoft.com/office/drawing/2014/main" id="{5AE464D8-48E0-4242-904C-5B1AEA1FF782}"/>
                  </a:ext>
                </a:extLst>
              </p:cNvPr>
              <p:cNvCxnSpPr>
                <a:cxnSpLocks noChangeShapeType="1"/>
              </p:cNvCxnSpPr>
              <p:nvPr/>
            </p:nvCxnSpPr>
            <p:spPr bwMode="auto">
              <a:xfrm>
                <a:off x="2247900" y="492760"/>
                <a:ext cx="0"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18" name="Line 184">
                <a:extLst>
                  <a:ext uri="{FF2B5EF4-FFF2-40B4-BE49-F238E27FC236}">
                    <a16:creationId xmlns:a16="http://schemas.microsoft.com/office/drawing/2014/main" id="{4DD9046D-135B-43E3-A942-C4DE752D5875}"/>
                  </a:ext>
                </a:extLst>
              </p:cNvPr>
              <p:cNvCxnSpPr>
                <a:cxnSpLocks noChangeShapeType="1"/>
              </p:cNvCxnSpPr>
              <p:nvPr/>
            </p:nvCxnSpPr>
            <p:spPr bwMode="auto">
              <a:xfrm>
                <a:off x="4185503" y="492760"/>
                <a:ext cx="635"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sp>
            <p:nvSpPr>
              <p:cNvPr id="19" name="Text Box 185">
                <a:extLst>
                  <a:ext uri="{FF2B5EF4-FFF2-40B4-BE49-F238E27FC236}">
                    <a16:creationId xmlns:a16="http://schemas.microsoft.com/office/drawing/2014/main" id="{25558069-3F40-4133-BF0F-FE5BECF7A9FA}"/>
                  </a:ext>
                </a:extLst>
              </p:cNvPr>
              <p:cNvSpPr txBox="1">
                <a:spLocks noChangeArrowheads="1"/>
              </p:cNvSpPr>
              <p:nvPr/>
            </p:nvSpPr>
            <p:spPr bwMode="auto">
              <a:xfrm>
                <a:off x="374650" y="2094230"/>
                <a:ext cx="1048385"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交换机</a:t>
                </a:r>
              </a:p>
            </p:txBody>
          </p:sp>
          <p:sp>
            <p:nvSpPr>
              <p:cNvPr id="20" name="Text Box 186">
                <a:extLst>
                  <a:ext uri="{FF2B5EF4-FFF2-40B4-BE49-F238E27FC236}">
                    <a16:creationId xmlns:a16="http://schemas.microsoft.com/office/drawing/2014/main" id="{235DEA36-F356-4C3D-B093-CACC828576B1}"/>
                  </a:ext>
                </a:extLst>
              </p:cNvPr>
              <p:cNvSpPr txBox="1">
                <a:spLocks noChangeArrowheads="1"/>
              </p:cNvSpPr>
              <p:nvPr/>
            </p:nvSpPr>
            <p:spPr bwMode="auto">
              <a:xfrm>
                <a:off x="1573530" y="2094230"/>
                <a:ext cx="1048385"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交换机</a:t>
                </a:r>
              </a:p>
            </p:txBody>
          </p:sp>
          <p:sp>
            <p:nvSpPr>
              <p:cNvPr id="21" name="Text Box 187">
                <a:extLst>
                  <a:ext uri="{FF2B5EF4-FFF2-40B4-BE49-F238E27FC236}">
                    <a16:creationId xmlns:a16="http://schemas.microsoft.com/office/drawing/2014/main" id="{7A621C10-CEEB-42AF-85C4-AB228A655952}"/>
                  </a:ext>
                </a:extLst>
              </p:cNvPr>
              <p:cNvSpPr txBox="1">
                <a:spLocks noChangeArrowheads="1"/>
              </p:cNvSpPr>
              <p:nvPr/>
            </p:nvSpPr>
            <p:spPr bwMode="auto">
              <a:xfrm>
                <a:off x="2772410" y="2094230"/>
                <a:ext cx="1048385"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交换机</a:t>
                </a:r>
              </a:p>
            </p:txBody>
          </p:sp>
          <p:sp>
            <p:nvSpPr>
              <p:cNvPr id="22" name="Text Box 188">
                <a:extLst>
                  <a:ext uri="{FF2B5EF4-FFF2-40B4-BE49-F238E27FC236}">
                    <a16:creationId xmlns:a16="http://schemas.microsoft.com/office/drawing/2014/main" id="{763EA27B-200D-43D7-9DC1-79B446EDFAE7}"/>
                  </a:ext>
                </a:extLst>
              </p:cNvPr>
              <p:cNvSpPr txBox="1">
                <a:spLocks noChangeArrowheads="1"/>
              </p:cNvSpPr>
              <p:nvPr/>
            </p:nvSpPr>
            <p:spPr bwMode="auto">
              <a:xfrm>
                <a:off x="3971290" y="2094230"/>
                <a:ext cx="1048385" cy="369570"/>
              </a:xfrm>
              <a:prstGeom prst="rect">
                <a:avLst/>
              </a:prstGeom>
              <a:solidFill>
                <a:srgbClr val="FFFFFF"/>
              </a:solidFill>
              <a:ln w="9525">
                <a:solidFill>
                  <a:srgbClr val="000000"/>
                </a:solidFill>
                <a:miter lim="800000"/>
                <a:headEnd/>
                <a:tailEnd/>
              </a:ln>
            </p:spPr>
            <p:txBody>
              <a:bodyPr rot="0" vert="horz" wrap="square" lIns="91440" tIns="45720" rIns="91440" bIns="45720" anchor="ctr" anchorCtr="0" upright="1">
                <a:noAutofit/>
              </a:bodyPr>
              <a:lstStyle/>
              <a:p>
                <a:pPr algn="ctr"/>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交换机</a:t>
                </a:r>
              </a:p>
            </p:txBody>
          </p:sp>
          <p:cxnSp>
            <p:nvCxnSpPr>
              <p:cNvPr id="23" name="Line 189">
                <a:extLst>
                  <a:ext uri="{FF2B5EF4-FFF2-40B4-BE49-F238E27FC236}">
                    <a16:creationId xmlns:a16="http://schemas.microsoft.com/office/drawing/2014/main" id="{D4890D9B-324B-4BAF-957F-7E2B0D7C226D}"/>
                  </a:ext>
                </a:extLst>
              </p:cNvPr>
              <p:cNvCxnSpPr>
                <a:cxnSpLocks noChangeShapeType="1"/>
              </p:cNvCxnSpPr>
              <p:nvPr/>
            </p:nvCxnSpPr>
            <p:spPr bwMode="auto">
              <a:xfrm>
                <a:off x="1198880" y="1478280"/>
                <a:ext cx="0"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24" name="Line 190">
                <a:extLst>
                  <a:ext uri="{FF2B5EF4-FFF2-40B4-BE49-F238E27FC236}">
                    <a16:creationId xmlns:a16="http://schemas.microsoft.com/office/drawing/2014/main" id="{1248653C-8625-4144-8B31-D7F48C081BFC}"/>
                  </a:ext>
                </a:extLst>
              </p:cNvPr>
              <p:cNvCxnSpPr>
                <a:cxnSpLocks noChangeShapeType="1"/>
              </p:cNvCxnSpPr>
              <p:nvPr/>
            </p:nvCxnSpPr>
            <p:spPr bwMode="auto">
              <a:xfrm>
                <a:off x="1648460" y="1478280"/>
                <a:ext cx="0"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25" name="Line 191">
                <a:extLst>
                  <a:ext uri="{FF2B5EF4-FFF2-40B4-BE49-F238E27FC236}">
                    <a16:creationId xmlns:a16="http://schemas.microsoft.com/office/drawing/2014/main" id="{6E234555-2E15-4E92-A0AE-82678E5CA5EB}"/>
                  </a:ext>
                </a:extLst>
              </p:cNvPr>
              <p:cNvCxnSpPr>
                <a:cxnSpLocks noChangeShapeType="1"/>
              </p:cNvCxnSpPr>
              <p:nvPr/>
            </p:nvCxnSpPr>
            <p:spPr bwMode="auto">
              <a:xfrm>
                <a:off x="2397760" y="1478280"/>
                <a:ext cx="0"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26" name="Line 192">
                <a:extLst>
                  <a:ext uri="{FF2B5EF4-FFF2-40B4-BE49-F238E27FC236}">
                    <a16:creationId xmlns:a16="http://schemas.microsoft.com/office/drawing/2014/main" id="{22136B5C-125F-4A11-9618-66AED01FB132}"/>
                  </a:ext>
                </a:extLst>
              </p:cNvPr>
              <p:cNvCxnSpPr>
                <a:cxnSpLocks noChangeShapeType="1"/>
              </p:cNvCxnSpPr>
              <p:nvPr/>
            </p:nvCxnSpPr>
            <p:spPr bwMode="auto">
              <a:xfrm>
                <a:off x="2997200" y="1478280"/>
                <a:ext cx="0"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27" name="Line 193">
                <a:extLst>
                  <a:ext uri="{FF2B5EF4-FFF2-40B4-BE49-F238E27FC236}">
                    <a16:creationId xmlns:a16="http://schemas.microsoft.com/office/drawing/2014/main" id="{4A68CD64-6AD0-46E7-9379-CFB0AF0150BC}"/>
                  </a:ext>
                </a:extLst>
              </p:cNvPr>
              <p:cNvCxnSpPr>
                <a:cxnSpLocks noChangeShapeType="1"/>
              </p:cNvCxnSpPr>
              <p:nvPr/>
            </p:nvCxnSpPr>
            <p:spPr bwMode="auto">
              <a:xfrm>
                <a:off x="4182152" y="1478280"/>
                <a:ext cx="635" cy="615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sp>
            <p:nvSpPr>
              <p:cNvPr id="28" name="Text Box 194">
                <a:extLst>
                  <a:ext uri="{FF2B5EF4-FFF2-40B4-BE49-F238E27FC236}">
                    <a16:creationId xmlns:a16="http://schemas.microsoft.com/office/drawing/2014/main" id="{DF68D8EE-1B7C-4078-9039-9975932E999E}"/>
                  </a:ext>
                </a:extLst>
              </p:cNvPr>
              <p:cNvSpPr txBox="1">
                <a:spLocks noChangeArrowheads="1"/>
              </p:cNvSpPr>
              <p:nvPr/>
            </p:nvSpPr>
            <p:spPr bwMode="auto">
              <a:xfrm>
                <a:off x="4196080" y="615950"/>
                <a:ext cx="1123950" cy="369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ot="0" vert="horz" wrap="square" lIns="91440" tIns="45720" rIns="91440" bIns="45720" anchor="ctr" anchorCtr="0" upright="1">
                <a:noAutofit/>
              </a:bodyPr>
              <a:lstStyle/>
              <a:p>
                <a:pPr algn="just"/>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北向接口</a:t>
                </a:r>
              </a:p>
            </p:txBody>
          </p:sp>
          <p:sp>
            <p:nvSpPr>
              <p:cNvPr id="29" name="Text Box 195">
                <a:extLst>
                  <a:ext uri="{FF2B5EF4-FFF2-40B4-BE49-F238E27FC236}">
                    <a16:creationId xmlns:a16="http://schemas.microsoft.com/office/drawing/2014/main" id="{8AD7828F-9F03-4C50-9889-B567F1C9FD73}"/>
                  </a:ext>
                </a:extLst>
              </p:cNvPr>
              <p:cNvSpPr txBox="1">
                <a:spLocks noChangeArrowheads="1"/>
              </p:cNvSpPr>
              <p:nvPr/>
            </p:nvSpPr>
            <p:spPr bwMode="auto">
              <a:xfrm>
                <a:off x="4220210" y="1543050"/>
                <a:ext cx="1049020" cy="369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ot="0" vert="horz" wrap="square" lIns="91440" tIns="45720" rIns="91440" bIns="45720" anchor="ctr" anchorCtr="0" upright="1">
                <a:noAutofit/>
              </a:bodyPr>
              <a:lstStyle/>
              <a:p>
                <a:pPr algn="just"/>
                <a:r>
                  <a:rPr lang="en-US" b="1" kern="100">
                    <a:effectLst/>
                    <a:latin typeface="Times New Roman" panose="02020603050405020304" pitchFamily="18" charset="0"/>
                    <a:ea typeface="宋体" panose="02010600030101010101" pitchFamily="2" charset="-122"/>
                    <a:cs typeface="宋体" panose="02010600030101010101" pitchFamily="2" charset="-122"/>
                  </a:rPr>
                  <a:t>SDN</a:t>
                </a:r>
                <a:r>
                  <a:rPr lang="zh-CN" b="1" kern="100">
                    <a:effectLst/>
                    <a:latin typeface="Times New Roman" panose="02020603050405020304" pitchFamily="18" charset="0"/>
                    <a:ea typeface="宋体" panose="02010600030101010101" pitchFamily="2" charset="-122"/>
                    <a:cs typeface="宋体" panose="02010600030101010101" pitchFamily="2" charset="-122"/>
                  </a:rPr>
                  <a:t>南向接口</a:t>
                </a:r>
              </a:p>
            </p:txBody>
          </p:sp>
          <p:sp>
            <p:nvSpPr>
              <p:cNvPr id="30" name="Text Box 196">
                <a:extLst>
                  <a:ext uri="{FF2B5EF4-FFF2-40B4-BE49-F238E27FC236}">
                    <a16:creationId xmlns:a16="http://schemas.microsoft.com/office/drawing/2014/main" id="{AACC2856-28A9-48D4-8E42-C2B71C65E120}"/>
                  </a:ext>
                </a:extLst>
              </p:cNvPr>
              <p:cNvSpPr txBox="1">
                <a:spLocks noChangeArrowheads="1"/>
              </p:cNvSpPr>
              <p:nvPr/>
            </p:nvSpPr>
            <p:spPr bwMode="auto">
              <a:xfrm>
                <a:off x="0" y="0"/>
                <a:ext cx="899160" cy="369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ot="0" vert="horz" wrap="square" lIns="91440" tIns="45720" rIns="91440" bIns="45720" anchor="ctr" anchorCtr="0" upright="1">
                <a:noAutofit/>
              </a:bodyPr>
              <a:lstStyle/>
              <a:p>
                <a:pPr algn="ctr"/>
                <a:r>
                  <a:rPr lang="zh-CN" b="1" kern="100">
                    <a:effectLst/>
                    <a:latin typeface="Times New Roman" panose="02020603050405020304" pitchFamily="18" charset="0"/>
                    <a:ea typeface="宋体" panose="02010600030101010101" pitchFamily="2" charset="-122"/>
                    <a:cs typeface="宋体" panose="02010600030101010101" pitchFamily="2" charset="-122"/>
                  </a:rPr>
                  <a:t>应用平面</a:t>
                </a:r>
              </a:p>
            </p:txBody>
          </p:sp>
          <p:sp>
            <p:nvSpPr>
              <p:cNvPr id="31" name="Text Box 197">
                <a:extLst>
                  <a:ext uri="{FF2B5EF4-FFF2-40B4-BE49-F238E27FC236}">
                    <a16:creationId xmlns:a16="http://schemas.microsoft.com/office/drawing/2014/main" id="{3041F5AF-09DA-4C86-8C97-2CE499733B5E}"/>
                  </a:ext>
                </a:extLst>
              </p:cNvPr>
              <p:cNvSpPr txBox="1">
                <a:spLocks noChangeArrowheads="1"/>
              </p:cNvSpPr>
              <p:nvPr/>
            </p:nvSpPr>
            <p:spPr bwMode="auto">
              <a:xfrm>
                <a:off x="0" y="805180"/>
                <a:ext cx="899160" cy="369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ot="0" vert="horz" wrap="square" lIns="91440" tIns="45720" rIns="91440" bIns="45720" anchor="ctr" anchorCtr="0" upright="1">
                <a:noAutofit/>
              </a:bodyPr>
              <a:lstStyle/>
              <a:p>
                <a:pPr algn="ctr"/>
                <a:r>
                  <a:rPr lang="zh-CN" b="1" kern="100">
                    <a:effectLst/>
                    <a:latin typeface="Times New Roman" panose="02020603050405020304" pitchFamily="18" charset="0"/>
                    <a:ea typeface="宋体" panose="02010600030101010101" pitchFamily="2" charset="-122"/>
                    <a:cs typeface="宋体" panose="02010600030101010101" pitchFamily="2" charset="-122"/>
                  </a:rPr>
                  <a:t>控制平面</a:t>
                </a:r>
              </a:p>
            </p:txBody>
          </p:sp>
          <p:sp>
            <p:nvSpPr>
              <p:cNvPr id="32" name="Text Box 198">
                <a:extLst>
                  <a:ext uri="{FF2B5EF4-FFF2-40B4-BE49-F238E27FC236}">
                    <a16:creationId xmlns:a16="http://schemas.microsoft.com/office/drawing/2014/main" id="{6BD90184-50D6-4559-BD16-DCF0C52BEAFA}"/>
                  </a:ext>
                </a:extLst>
              </p:cNvPr>
              <p:cNvSpPr txBox="1">
                <a:spLocks noChangeArrowheads="1"/>
              </p:cNvSpPr>
              <p:nvPr/>
            </p:nvSpPr>
            <p:spPr bwMode="auto">
              <a:xfrm>
                <a:off x="0" y="1795780"/>
                <a:ext cx="899160" cy="369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ot="0" vert="horz" wrap="square" lIns="91440" tIns="45720" rIns="91440" bIns="45720" anchor="ctr" anchorCtr="0" upright="1">
                <a:noAutofit/>
              </a:bodyPr>
              <a:lstStyle/>
              <a:p>
                <a:pPr algn="ctr"/>
                <a:r>
                  <a:rPr lang="zh-CN" b="1" kern="100">
                    <a:effectLst/>
                    <a:latin typeface="Times New Roman" panose="02020603050405020304" pitchFamily="18" charset="0"/>
                    <a:ea typeface="宋体" panose="02010600030101010101" pitchFamily="2" charset="-122"/>
                    <a:cs typeface="宋体" panose="02010600030101010101" pitchFamily="2" charset="-122"/>
                  </a:rPr>
                  <a:t>数据平面</a:t>
                </a:r>
              </a:p>
            </p:txBody>
          </p:sp>
          <p:sp>
            <p:nvSpPr>
              <p:cNvPr id="33" name="Text Box 199">
                <a:extLst>
                  <a:ext uri="{FF2B5EF4-FFF2-40B4-BE49-F238E27FC236}">
                    <a16:creationId xmlns:a16="http://schemas.microsoft.com/office/drawing/2014/main" id="{1768B6BF-6F32-42DE-89A4-CBF59999750D}"/>
                  </a:ext>
                </a:extLst>
              </p:cNvPr>
              <p:cNvSpPr txBox="1">
                <a:spLocks noChangeArrowheads="1"/>
              </p:cNvSpPr>
              <p:nvPr/>
            </p:nvSpPr>
            <p:spPr bwMode="auto">
              <a:xfrm>
                <a:off x="3110865" y="1007110"/>
                <a:ext cx="899160" cy="369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ot="0" vert="horz" wrap="square" lIns="91440" tIns="45720" rIns="91440" bIns="45720" anchor="ctr" anchorCtr="0" upright="1">
                <a:noAutofit/>
              </a:bodyPr>
              <a:lstStyle/>
              <a:p>
                <a:pPr algn="just"/>
                <a:r>
                  <a:rPr lang="zh-CN" b="1" kern="100">
                    <a:effectLst/>
                    <a:latin typeface="Times New Roman" panose="02020603050405020304" pitchFamily="18" charset="0"/>
                    <a:ea typeface="宋体" panose="02010600030101010101" pitchFamily="2" charset="-122"/>
                    <a:cs typeface="宋体" panose="02010600030101010101" pitchFamily="2" charset="-122"/>
                  </a:rPr>
                  <a:t>东西向接口</a:t>
                </a:r>
              </a:p>
            </p:txBody>
          </p:sp>
          <p:cxnSp>
            <p:nvCxnSpPr>
              <p:cNvPr id="34" name="Line 200">
                <a:extLst>
                  <a:ext uri="{FF2B5EF4-FFF2-40B4-BE49-F238E27FC236}">
                    <a16:creationId xmlns:a16="http://schemas.microsoft.com/office/drawing/2014/main" id="{CEA4D45B-0491-41C1-87B0-E0C5048EF06E}"/>
                  </a:ext>
                </a:extLst>
              </p:cNvPr>
              <p:cNvCxnSpPr>
                <a:cxnSpLocks noChangeShapeType="1"/>
              </p:cNvCxnSpPr>
              <p:nvPr/>
            </p:nvCxnSpPr>
            <p:spPr bwMode="auto">
              <a:xfrm>
                <a:off x="1722755" y="1294130"/>
                <a:ext cx="374650" cy="63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cxnSp>
            <p:nvCxnSpPr>
              <p:cNvPr id="35" name="Line 201">
                <a:extLst>
                  <a:ext uri="{FF2B5EF4-FFF2-40B4-BE49-F238E27FC236}">
                    <a16:creationId xmlns:a16="http://schemas.microsoft.com/office/drawing/2014/main" id="{F2551A87-CA36-47F2-AF06-69CD959B9559}"/>
                  </a:ext>
                </a:extLst>
              </p:cNvPr>
              <p:cNvCxnSpPr>
                <a:cxnSpLocks noChangeShapeType="1"/>
              </p:cNvCxnSpPr>
              <p:nvPr/>
            </p:nvCxnSpPr>
            <p:spPr bwMode="auto">
              <a:xfrm>
                <a:off x="3154045" y="1309370"/>
                <a:ext cx="749300" cy="63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cxnSp>
        </p:grpSp>
        <p:sp>
          <p:nvSpPr>
            <p:cNvPr id="36" name="矩形 35">
              <a:extLst>
                <a:ext uri="{FF2B5EF4-FFF2-40B4-BE49-F238E27FC236}">
                  <a16:creationId xmlns:a16="http://schemas.microsoft.com/office/drawing/2014/main" id="{34B2E67F-E0F5-4624-BD4B-4F919EDFBBB4}"/>
                </a:ext>
              </a:extLst>
            </p:cNvPr>
            <p:cNvSpPr/>
            <p:nvPr/>
          </p:nvSpPr>
          <p:spPr>
            <a:xfrm>
              <a:off x="9904306" y="3588146"/>
              <a:ext cx="427529" cy="8349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algn="ctr"/>
              <a:r>
                <a:rPr lang="zh-CN" altLang="en-US" sz="2400" dirty="0">
                  <a:solidFill>
                    <a:srgbClr val="C00000"/>
                  </a:solidFill>
                  <a:latin typeface="黑体" panose="02010609060101010101" pitchFamily="49" charset="-122"/>
                  <a:ea typeface="黑体" panose="02010609060101010101" pitchFamily="49" charset="-122"/>
                </a:rPr>
                <a:t>控制层</a:t>
              </a:r>
            </a:p>
          </p:txBody>
        </p:sp>
        <p:sp>
          <p:nvSpPr>
            <p:cNvPr id="37" name="矩形 36">
              <a:extLst>
                <a:ext uri="{FF2B5EF4-FFF2-40B4-BE49-F238E27FC236}">
                  <a16:creationId xmlns:a16="http://schemas.microsoft.com/office/drawing/2014/main" id="{0B5A24B9-693B-414A-B218-29A4EE5C34E3}"/>
                </a:ext>
              </a:extLst>
            </p:cNvPr>
            <p:cNvSpPr/>
            <p:nvPr/>
          </p:nvSpPr>
          <p:spPr>
            <a:xfrm>
              <a:off x="9921794" y="5278350"/>
              <a:ext cx="427529" cy="8349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algn="ctr"/>
              <a:r>
                <a:rPr lang="zh-CN" altLang="en-US" sz="2400" dirty="0">
                  <a:solidFill>
                    <a:srgbClr val="C00000"/>
                  </a:solidFill>
                  <a:latin typeface="黑体" panose="02010609060101010101" pitchFamily="49" charset="-122"/>
                  <a:ea typeface="黑体" panose="02010609060101010101" pitchFamily="49" charset="-122"/>
                </a:rPr>
                <a:t>基础设施层</a:t>
              </a:r>
            </a:p>
          </p:txBody>
        </p:sp>
        <p:sp>
          <p:nvSpPr>
            <p:cNvPr id="38" name="矩形 37">
              <a:extLst>
                <a:ext uri="{FF2B5EF4-FFF2-40B4-BE49-F238E27FC236}">
                  <a16:creationId xmlns:a16="http://schemas.microsoft.com/office/drawing/2014/main" id="{BE2B080A-08C2-4AD9-BAD1-6A0E2B47F2CB}"/>
                </a:ext>
              </a:extLst>
            </p:cNvPr>
            <p:cNvSpPr/>
            <p:nvPr/>
          </p:nvSpPr>
          <p:spPr>
            <a:xfrm>
              <a:off x="9876697" y="2060556"/>
              <a:ext cx="427529" cy="8349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algn="ctr"/>
              <a:r>
                <a:rPr lang="zh-CN" altLang="en-US" sz="2400" dirty="0">
                  <a:solidFill>
                    <a:srgbClr val="C00000"/>
                  </a:solidFill>
                  <a:latin typeface="黑体" panose="02010609060101010101" pitchFamily="49" charset="-122"/>
                  <a:ea typeface="黑体" panose="02010609060101010101" pitchFamily="49" charset="-122"/>
                </a:rPr>
                <a:t>应用层</a:t>
              </a:r>
            </a:p>
          </p:txBody>
        </p:sp>
        <p:grpSp>
          <p:nvGrpSpPr>
            <p:cNvPr id="39" name="组合 38">
              <a:extLst>
                <a:ext uri="{FF2B5EF4-FFF2-40B4-BE49-F238E27FC236}">
                  <a16:creationId xmlns:a16="http://schemas.microsoft.com/office/drawing/2014/main" id="{15BFA8E0-DC03-4EB6-8D1F-93E4987BB301}"/>
                </a:ext>
              </a:extLst>
            </p:cNvPr>
            <p:cNvGrpSpPr/>
            <p:nvPr/>
          </p:nvGrpSpPr>
          <p:grpSpPr>
            <a:xfrm>
              <a:off x="2414206" y="5939792"/>
              <a:ext cx="1471003" cy="678118"/>
              <a:chOff x="1187745" y="5936633"/>
              <a:chExt cx="1471003" cy="807842"/>
            </a:xfrm>
          </p:grpSpPr>
          <p:pic>
            <p:nvPicPr>
              <p:cNvPr id="40" name="图形 39" descr="计算机 纯色填充">
                <a:extLst>
                  <a:ext uri="{FF2B5EF4-FFF2-40B4-BE49-F238E27FC236}">
                    <a16:creationId xmlns:a16="http://schemas.microsoft.com/office/drawing/2014/main" id="{3A1A6EEC-374B-4021-8597-3AACEA778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7745" y="6172574"/>
                <a:ext cx="564626" cy="564626"/>
              </a:xfrm>
              <a:prstGeom prst="rect">
                <a:avLst/>
              </a:prstGeom>
            </p:spPr>
          </p:pic>
          <p:cxnSp>
            <p:nvCxnSpPr>
              <p:cNvPr id="41" name="直接连接符 40">
                <a:extLst>
                  <a:ext uri="{FF2B5EF4-FFF2-40B4-BE49-F238E27FC236}">
                    <a16:creationId xmlns:a16="http://schemas.microsoft.com/office/drawing/2014/main" id="{DD11B0F5-087B-4895-8B4F-9F878C54BC81}"/>
                  </a:ext>
                </a:extLst>
              </p:cNvPr>
              <p:cNvCxnSpPr>
                <a:cxnSpLocks/>
                <a:stCxn id="19" idx="2"/>
              </p:cNvCxnSpPr>
              <p:nvPr/>
            </p:nvCxnSpPr>
            <p:spPr>
              <a:xfrm flipH="1">
                <a:off x="1700315" y="5936633"/>
                <a:ext cx="341751" cy="407425"/>
              </a:xfrm>
              <a:prstGeom prst="line">
                <a:avLst/>
              </a:prstGeom>
            </p:spPr>
            <p:style>
              <a:lnRef idx="1">
                <a:schemeClr val="accent1"/>
              </a:lnRef>
              <a:fillRef idx="0">
                <a:schemeClr val="accent1"/>
              </a:fillRef>
              <a:effectRef idx="0">
                <a:schemeClr val="accent1"/>
              </a:effectRef>
              <a:fontRef idx="minor">
                <a:schemeClr val="tx1"/>
              </a:fontRef>
            </p:style>
          </p:cxnSp>
          <p:pic>
            <p:nvPicPr>
              <p:cNvPr id="42" name="图形 44" descr="计算机 纯色填充">
                <a:extLst>
                  <a:ext uri="{FF2B5EF4-FFF2-40B4-BE49-F238E27FC236}">
                    <a16:creationId xmlns:a16="http://schemas.microsoft.com/office/drawing/2014/main" id="{E6E830C1-5C31-4E17-B9C0-5B2B08EC4B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94122" y="6179849"/>
                <a:ext cx="564626" cy="564626"/>
              </a:xfrm>
              <a:prstGeom prst="rect">
                <a:avLst/>
              </a:prstGeom>
            </p:spPr>
          </p:pic>
          <p:cxnSp>
            <p:nvCxnSpPr>
              <p:cNvPr id="43" name="直接连接符 42">
                <a:extLst>
                  <a:ext uri="{FF2B5EF4-FFF2-40B4-BE49-F238E27FC236}">
                    <a16:creationId xmlns:a16="http://schemas.microsoft.com/office/drawing/2014/main" id="{F5C31169-C57F-4BED-A452-24FE72EAC6C8}"/>
                  </a:ext>
                </a:extLst>
              </p:cNvPr>
              <p:cNvCxnSpPr>
                <a:cxnSpLocks/>
                <a:stCxn id="19" idx="2"/>
              </p:cNvCxnSpPr>
              <p:nvPr/>
            </p:nvCxnSpPr>
            <p:spPr>
              <a:xfrm>
                <a:off x="2042066" y="5936633"/>
                <a:ext cx="458091" cy="365218"/>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4" name="组合 43">
              <a:extLst>
                <a:ext uri="{FF2B5EF4-FFF2-40B4-BE49-F238E27FC236}">
                  <a16:creationId xmlns:a16="http://schemas.microsoft.com/office/drawing/2014/main" id="{1EEC755F-DC1C-4C6A-BFE8-F424438ACF23}"/>
                </a:ext>
              </a:extLst>
            </p:cNvPr>
            <p:cNvGrpSpPr/>
            <p:nvPr/>
          </p:nvGrpSpPr>
          <p:grpSpPr>
            <a:xfrm>
              <a:off x="4288716" y="5948181"/>
              <a:ext cx="1471003" cy="678118"/>
              <a:chOff x="1187745" y="5936633"/>
              <a:chExt cx="1471003" cy="807842"/>
            </a:xfrm>
          </p:grpSpPr>
          <p:pic>
            <p:nvPicPr>
              <p:cNvPr id="45" name="图形 55" descr="计算机 纯色填充">
                <a:extLst>
                  <a:ext uri="{FF2B5EF4-FFF2-40B4-BE49-F238E27FC236}">
                    <a16:creationId xmlns:a16="http://schemas.microsoft.com/office/drawing/2014/main" id="{DA6F1727-99E1-438E-BD43-738AF786EF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7745" y="6172574"/>
                <a:ext cx="564626" cy="564626"/>
              </a:xfrm>
              <a:prstGeom prst="rect">
                <a:avLst/>
              </a:prstGeom>
            </p:spPr>
          </p:pic>
          <p:cxnSp>
            <p:nvCxnSpPr>
              <p:cNvPr id="46" name="直接连接符 45">
                <a:extLst>
                  <a:ext uri="{FF2B5EF4-FFF2-40B4-BE49-F238E27FC236}">
                    <a16:creationId xmlns:a16="http://schemas.microsoft.com/office/drawing/2014/main" id="{1EA1E691-0C93-4669-BF13-1F3F5DE3C6C1}"/>
                  </a:ext>
                </a:extLst>
              </p:cNvPr>
              <p:cNvCxnSpPr>
                <a:cxnSpLocks/>
              </p:cNvCxnSpPr>
              <p:nvPr/>
            </p:nvCxnSpPr>
            <p:spPr>
              <a:xfrm flipH="1">
                <a:off x="1700315" y="5936633"/>
                <a:ext cx="341751" cy="407425"/>
              </a:xfrm>
              <a:prstGeom prst="line">
                <a:avLst/>
              </a:prstGeom>
            </p:spPr>
            <p:style>
              <a:lnRef idx="1">
                <a:schemeClr val="accent1"/>
              </a:lnRef>
              <a:fillRef idx="0">
                <a:schemeClr val="accent1"/>
              </a:fillRef>
              <a:effectRef idx="0">
                <a:schemeClr val="accent1"/>
              </a:effectRef>
              <a:fontRef idx="minor">
                <a:schemeClr val="tx1"/>
              </a:fontRef>
            </p:style>
          </p:cxnSp>
          <p:pic>
            <p:nvPicPr>
              <p:cNvPr id="47" name="图形 57" descr="计算机 纯色填充">
                <a:extLst>
                  <a:ext uri="{FF2B5EF4-FFF2-40B4-BE49-F238E27FC236}">
                    <a16:creationId xmlns:a16="http://schemas.microsoft.com/office/drawing/2014/main" id="{47ADA9DA-1C2F-4636-98F2-8C2DC5E4C2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94122" y="6179849"/>
                <a:ext cx="564626" cy="564626"/>
              </a:xfrm>
              <a:prstGeom prst="rect">
                <a:avLst/>
              </a:prstGeom>
            </p:spPr>
          </p:pic>
          <p:cxnSp>
            <p:nvCxnSpPr>
              <p:cNvPr id="48" name="直接连接符 47">
                <a:extLst>
                  <a:ext uri="{FF2B5EF4-FFF2-40B4-BE49-F238E27FC236}">
                    <a16:creationId xmlns:a16="http://schemas.microsoft.com/office/drawing/2014/main" id="{7C32AA1B-E742-41E4-B093-62760D400889}"/>
                  </a:ext>
                </a:extLst>
              </p:cNvPr>
              <p:cNvCxnSpPr>
                <a:cxnSpLocks/>
              </p:cNvCxnSpPr>
              <p:nvPr/>
            </p:nvCxnSpPr>
            <p:spPr>
              <a:xfrm>
                <a:off x="2042066" y="5936633"/>
                <a:ext cx="458091" cy="365218"/>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51DC19DD-239C-4B6E-86AC-9F7DC303EDE2}"/>
                </a:ext>
              </a:extLst>
            </p:cNvPr>
            <p:cNvGrpSpPr/>
            <p:nvPr/>
          </p:nvGrpSpPr>
          <p:grpSpPr>
            <a:xfrm>
              <a:off x="6043199" y="5931940"/>
              <a:ext cx="1471003" cy="678118"/>
              <a:chOff x="1187745" y="5936633"/>
              <a:chExt cx="1471003" cy="807842"/>
            </a:xfrm>
          </p:grpSpPr>
          <p:pic>
            <p:nvPicPr>
              <p:cNvPr id="50" name="图形 60" descr="计算机 纯色填充">
                <a:extLst>
                  <a:ext uri="{FF2B5EF4-FFF2-40B4-BE49-F238E27FC236}">
                    <a16:creationId xmlns:a16="http://schemas.microsoft.com/office/drawing/2014/main" id="{12A9BBE2-705F-419F-89F3-1065AC95D0D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7745" y="6172574"/>
                <a:ext cx="564626" cy="564626"/>
              </a:xfrm>
              <a:prstGeom prst="rect">
                <a:avLst/>
              </a:prstGeom>
            </p:spPr>
          </p:pic>
          <p:cxnSp>
            <p:nvCxnSpPr>
              <p:cNvPr id="51" name="直接连接符 50">
                <a:extLst>
                  <a:ext uri="{FF2B5EF4-FFF2-40B4-BE49-F238E27FC236}">
                    <a16:creationId xmlns:a16="http://schemas.microsoft.com/office/drawing/2014/main" id="{0A24E590-BF0C-44C6-A8DB-C5948D561A78}"/>
                  </a:ext>
                </a:extLst>
              </p:cNvPr>
              <p:cNvCxnSpPr>
                <a:cxnSpLocks/>
              </p:cNvCxnSpPr>
              <p:nvPr/>
            </p:nvCxnSpPr>
            <p:spPr>
              <a:xfrm flipH="1">
                <a:off x="1700315" y="5936633"/>
                <a:ext cx="341751" cy="407425"/>
              </a:xfrm>
              <a:prstGeom prst="line">
                <a:avLst/>
              </a:prstGeom>
            </p:spPr>
            <p:style>
              <a:lnRef idx="1">
                <a:schemeClr val="accent1"/>
              </a:lnRef>
              <a:fillRef idx="0">
                <a:schemeClr val="accent1"/>
              </a:fillRef>
              <a:effectRef idx="0">
                <a:schemeClr val="accent1"/>
              </a:effectRef>
              <a:fontRef idx="minor">
                <a:schemeClr val="tx1"/>
              </a:fontRef>
            </p:style>
          </p:cxnSp>
          <p:pic>
            <p:nvPicPr>
              <p:cNvPr id="52" name="图形 62" descr="计算机 纯色填充">
                <a:extLst>
                  <a:ext uri="{FF2B5EF4-FFF2-40B4-BE49-F238E27FC236}">
                    <a16:creationId xmlns:a16="http://schemas.microsoft.com/office/drawing/2014/main" id="{F2809AA8-768F-48ED-89D6-E5951AAD92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94122" y="6179849"/>
                <a:ext cx="564626" cy="564626"/>
              </a:xfrm>
              <a:prstGeom prst="rect">
                <a:avLst/>
              </a:prstGeom>
            </p:spPr>
          </p:pic>
          <p:cxnSp>
            <p:nvCxnSpPr>
              <p:cNvPr id="53" name="直接连接符 52">
                <a:extLst>
                  <a:ext uri="{FF2B5EF4-FFF2-40B4-BE49-F238E27FC236}">
                    <a16:creationId xmlns:a16="http://schemas.microsoft.com/office/drawing/2014/main" id="{F1A71242-D46F-43C1-9A35-F0FC9F946962}"/>
                  </a:ext>
                </a:extLst>
              </p:cNvPr>
              <p:cNvCxnSpPr>
                <a:cxnSpLocks/>
              </p:cNvCxnSpPr>
              <p:nvPr/>
            </p:nvCxnSpPr>
            <p:spPr>
              <a:xfrm>
                <a:off x="2042066" y="5936633"/>
                <a:ext cx="458091" cy="365218"/>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5ED6BCCD-00F7-4907-8E1F-E447A45A796E}"/>
                </a:ext>
              </a:extLst>
            </p:cNvPr>
            <p:cNvGrpSpPr/>
            <p:nvPr/>
          </p:nvGrpSpPr>
          <p:grpSpPr>
            <a:xfrm>
              <a:off x="7928464" y="5951122"/>
              <a:ext cx="1471003" cy="678118"/>
              <a:chOff x="1187745" y="5936633"/>
              <a:chExt cx="1471003" cy="807842"/>
            </a:xfrm>
          </p:grpSpPr>
          <p:pic>
            <p:nvPicPr>
              <p:cNvPr id="55" name="图形 65" descr="计算机 纯色填充">
                <a:extLst>
                  <a:ext uri="{FF2B5EF4-FFF2-40B4-BE49-F238E27FC236}">
                    <a16:creationId xmlns:a16="http://schemas.microsoft.com/office/drawing/2014/main" id="{B08A91B9-C95F-4A43-8887-C1768A9BD69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7745" y="6172574"/>
                <a:ext cx="564626" cy="564626"/>
              </a:xfrm>
              <a:prstGeom prst="rect">
                <a:avLst/>
              </a:prstGeom>
            </p:spPr>
          </p:pic>
          <p:cxnSp>
            <p:nvCxnSpPr>
              <p:cNvPr id="56" name="直接连接符 55">
                <a:extLst>
                  <a:ext uri="{FF2B5EF4-FFF2-40B4-BE49-F238E27FC236}">
                    <a16:creationId xmlns:a16="http://schemas.microsoft.com/office/drawing/2014/main" id="{2F9DB11D-BAD0-4B11-93A8-650A3E13C231}"/>
                  </a:ext>
                </a:extLst>
              </p:cNvPr>
              <p:cNvCxnSpPr>
                <a:cxnSpLocks/>
              </p:cNvCxnSpPr>
              <p:nvPr/>
            </p:nvCxnSpPr>
            <p:spPr>
              <a:xfrm flipH="1">
                <a:off x="1700315" y="5936633"/>
                <a:ext cx="341751" cy="407425"/>
              </a:xfrm>
              <a:prstGeom prst="line">
                <a:avLst/>
              </a:prstGeom>
            </p:spPr>
            <p:style>
              <a:lnRef idx="1">
                <a:schemeClr val="accent1"/>
              </a:lnRef>
              <a:fillRef idx="0">
                <a:schemeClr val="accent1"/>
              </a:fillRef>
              <a:effectRef idx="0">
                <a:schemeClr val="accent1"/>
              </a:effectRef>
              <a:fontRef idx="minor">
                <a:schemeClr val="tx1"/>
              </a:fontRef>
            </p:style>
          </p:cxnSp>
          <p:pic>
            <p:nvPicPr>
              <p:cNvPr id="57" name="图形 67" descr="计算机 纯色填充">
                <a:extLst>
                  <a:ext uri="{FF2B5EF4-FFF2-40B4-BE49-F238E27FC236}">
                    <a16:creationId xmlns:a16="http://schemas.microsoft.com/office/drawing/2014/main" id="{45502977-0966-434E-90DC-F0CADD252E7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94122" y="6179849"/>
                <a:ext cx="564626" cy="564626"/>
              </a:xfrm>
              <a:prstGeom prst="rect">
                <a:avLst/>
              </a:prstGeom>
            </p:spPr>
          </p:pic>
          <p:cxnSp>
            <p:nvCxnSpPr>
              <p:cNvPr id="58" name="直接连接符 57">
                <a:extLst>
                  <a:ext uri="{FF2B5EF4-FFF2-40B4-BE49-F238E27FC236}">
                    <a16:creationId xmlns:a16="http://schemas.microsoft.com/office/drawing/2014/main" id="{5CA7A017-EF40-45ED-A950-A1023FE31A99}"/>
                  </a:ext>
                </a:extLst>
              </p:cNvPr>
              <p:cNvCxnSpPr>
                <a:cxnSpLocks/>
              </p:cNvCxnSpPr>
              <p:nvPr/>
            </p:nvCxnSpPr>
            <p:spPr>
              <a:xfrm>
                <a:off x="2042066" y="5936633"/>
                <a:ext cx="458091" cy="365218"/>
              </a:xfrm>
              <a:prstGeom prst="line">
                <a:avLst/>
              </a:prstGeom>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81356315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控制平面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2024280"/>
          </a:xfrm>
        </p:spPr>
        <p:txBody>
          <a:bodyPr>
            <a:normAutofit fontScale="25000" lnSpcReduction="20000"/>
          </a:bodyPr>
          <a:lstStyle/>
          <a:p>
            <a:pPr>
              <a:lnSpc>
                <a:spcPct val="150000"/>
              </a:lnSpc>
            </a:pPr>
            <a:r>
              <a:rPr lang="en-US" altLang="zh-CN" sz="9600" dirty="0"/>
              <a:t>SDN</a:t>
            </a:r>
            <a:r>
              <a:rPr lang="zh-CN" altLang="en-US" sz="9600" dirty="0"/>
              <a:t>控制器集中控制，具有全局视野，</a:t>
            </a:r>
            <a:r>
              <a:rPr lang="zh-CN" altLang="en-US" sz="9600" kern="100" dirty="0">
                <a:cs typeface="Times New Roman" panose="02020603050405020304" pitchFamily="18" charset="0"/>
              </a:rPr>
              <a:t>集中式计算全局路由，</a:t>
            </a:r>
            <a:r>
              <a:rPr lang="zh-CN" altLang="en-US" sz="9600" dirty="0"/>
              <a:t>可以动态控制网络。</a:t>
            </a:r>
            <a:r>
              <a:rPr lang="en-US" altLang="zh-CN" sz="9600" dirty="0"/>
              <a:t>SDN</a:t>
            </a:r>
            <a:r>
              <a:rPr lang="zh-CN" altLang="en-US" sz="9600" dirty="0"/>
              <a:t>控制器可以根据应用数据对于网络的需求，为其计算出最优路径，并通过下发流表控制交换机转发此类数据，进而实现高效、按需的数据传输。</a:t>
            </a:r>
          </a:p>
          <a:p>
            <a:pPr>
              <a:lnSpc>
                <a:spcPct val="150000"/>
              </a:lnSpc>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105</a:t>
            </a:fld>
            <a:endParaRPr kumimoji="1" lang="zh-CN" altLang="en-US" dirty="0"/>
          </a:p>
        </p:txBody>
      </p:sp>
      <p:pic>
        <p:nvPicPr>
          <p:cNvPr id="6" name="图片 5"/>
          <p:cNvPicPr>
            <a:picLocks noChangeAspect="1"/>
          </p:cNvPicPr>
          <p:nvPr/>
        </p:nvPicPr>
        <p:blipFill rotWithShape="1">
          <a:blip r:embed="rId3">
            <a:extLst>
              <a:ext uri="{28A0092B-C50C-407E-A947-70E740481C1C}">
                <a14:useLocalDpi xmlns:a14="http://schemas.microsoft.com/office/drawing/2010/main" val="0"/>
              </a:ext>
            </a:extLst>
          </a:blip>
          <a:srcRect l="4574" r="5171"/>
          <a:stretch/>
        </p:blipFill>
        <p:spPr>
          <a:xfrm>
            <a:off x="7226414" y="2956902"/>
            <a:ext cx="4311650" cy="3691033"/>
          </a:xfrm>
          <a:prstGeom prst="rect">
            <a:avLst/>
          </a:prstGeom>
        </p:spPr>
      </p:pic>
      <p:sp>
        <p:nvSpPr>
          <p:cNvPr id="7" name="内容占位符 2">
            <a:extLst>
              <a:ext uri="{FF2B5EF4-FFF2-40B4-BE49-F238E27FC236}">
                <a16:creationId xmlns:a16="http://schemas.microsoft.com/office/drawing/2014/main" id="{29608368-A0EB-4F31-93B3-2776C32A2D92}"/>
              </a:ext>
            </a:extLst>
          </p:cNvPr>
          <p:cNvSpPr txBox="1">
            <a:spLocks/>
          </p:cNvSpPr>
          <p:nvPr/>
        </p:nvSpPr>
        <p:spPr>
          <a:xfrm>
            <a:off x="1058779" y="3089710"/>
            <a:ext cx="6006164" cy="2743200"/>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lgn="just" hangingPunct="0">
              <a:lnSpc>
                <a:spcPct val="150000"/>
              </a:lnSpc>
            </a:pPr>
            <a:r>
              <a:rPr lang="zh-CN" altLang="en-US" dirty="0"/>
              <a:t>北向接口：是为厂家或运营商进行接入和管理网络的接口，即向上提供的接口</a:t>
            </a:r>
            <a:endParaRPr lang="en-US" altLang="zh-CN" dirty="0"/>
          </a:p>
          <a:p>
            <a:pPr lvl="1" algn="just" hangingPunct="0">
              <a:lnSpc>
                <a:spcPct val="150000"/>
              </a:lnSpc>
            </a:pPr>
            <a:r>
              <a:rPr lang="zh-CN" altLang="en-US" dirty="0"/>
              <a:t>南向接口：管理其他厂家网管或设备的接口</a:t>
            </a:r>
            <a:r>
              <a:rPr lang="en-US" altLang="zh-CN" dirty="0"/>
              <a:t>,</a:t>
            </a:r>
            <a:r>
              <a:rPr lang="zh-CN" altLang="en-US" dirty="0"/>
              <a:t>即向下提供的接口</a:t>
            </a:r>
            <a:endParaRPr lang="en-US" altLang="zh-CN" dirty="0"/>
          </a:p>
          <a:p>
            <a:pPr lvl="1" algn="just" hangingPunct="0">
              <a:lnSpc>
                <a:spcPct val="150000"/>
              </a:lnSpc>
            </a:pPr>
            <a:r>
              <a:rPr lang="zh-CN" altLang="en-US" dirty="0"/>
              <a:t>东西向接口：</a:t>
            </a:r>
            <a:r>
              <a:rPr lang="en-US" altLang="zh-CN" dirty="0"/>
              <a:t>SDN</a:t>
            </a:r>
            <a:r>
              <a:rPr lang="zh-CN" altLang="en-US" dirty="0"/>
              <a:t>服务器之间的接口</a:t>
            </a:r>
          </a:p>
        </p:txBody>
      </p:sp>
    </p:spTree>
    <p:extLst>
      <p:ext uri="{BB962C8B-B14F-4D97-AF65-F5344CB8AC3E}">
        <p14:creationId xmlns:p14="http://schemas.microsoft.com/office/powerpoint/2010/main" val="138120701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控制平面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4873357"/>
          </a:xfrm>
        </p:spPr>
        <p:txBody>
          <a:bodyPr>
            <a:normAutofit fontScale="55000" lnSpcReduction="20000"/>
          </a:bodyPr>
          <a:lstStyle/>
          <a:p>
            <a:pPr>
              <a:lnSpc>
                <a:spcPct val="150000"/>
              </a:lnSpc>
            </a:pPr>
            <a:r>
              <a:rPr lang="zh-CN" altLang="en-US" sz="5100" dirty="0">
                <a:solidFill>
                  <a:srgbClr val="C00000"/>
                </a:solidFill>
              </a:rPr>
              <a:t>标准化的控制协议</a:t>
            </a:r>
            <a:r>
              <a:rPr lang="zh-CN" altLang="en-US" sz="5100" dirty="0"/>
              <a:t>：如</a:t>
            </a:r>
            <a:r>
              <a:rPr lang="en-US" altLang="zh-CN" sz="5100" dirty="0" err="1"/>
              <a:t>OpenFlow</a:t>
            </a:r>
            <a:endParaRPr lang="en-US" altLang="zh-CN" sz="5100" dirty="0"/>
          </a:p>
          <a:p>
            <a:r>
              <a:rPr lang="zh-CN" altLang="en-US" sz="5100" dirty="0"/>
              <a:t>SDN: 不是一种具体的技术，而是一种思想，一种理念。</a:t>
            </a:r>
          </a:p>
          <a:p>
            <a:r>
              <a:rPr lang="zh-CN" altLang="en-US" sz="5100" dirty="0"/>
              <a:t>控制与转发分离、集中化的网络控制、开放的编程接口。</a:t>
            </a:r>
          </a:p>
          <a:p>
            <a:pPr lvl="1"/>
            <a:r>
              <a:rPr lang="zh-CN" altLang="en-US" sz="5100" dirty="0">
                <a:solidFill>
                  <a:srgbClr val="FF0000"/>
                </a:solidFill>
              </a:rPr>
              <a:t>狭义SDN </a:t>
            </a:r>
            <a:r>
              <a:rPr lang="zh-CN" altLang="en-US" sz="5100" dirty="0"/>
              <a:t>---&gt; OpenFlow</a:t>
            </a:r>
          </a:p>
          <a:p>
            <a:pPr lvl="1"/>
            <a:r>
              <a:rPr lang="zh-CN" altLang="en-US" sz="5100" dirty="0">
                <a:solidFill>
                  <a:srgbClr val="FF0000"/>
                </a:solidFill>
              </a:rPr>
              <a:t>广义SDN </a:t>
            </a:r>
            <a:r>
              <a:rPr lang="zh-CN" altLang="en-US" sz="5100" dirty="0"/>
              <a:t>---&gt;（管理+控制）与转发分离</a:t>
            </a:r>
          </a:p>
          <a:p>
            <a:pPr lvl="1"/>
            <a:r>
              <a:rPr lang="zh-CN" altLang="en-US" sz="5100" dirty="0">
                <a:solidFill>
                  <a:srgbClr val="FF0000"/>
                </a:solidFill>
              </a:rPr>
              <a:t>超广义SDN </a:t>
            </a:r>
            <a:r>
              <a:rPr lang="zh-CN" altLang="en-US" sz="5100" dirty="0"/>
              <a:t>---&gt;管理与（控制+转发）分离 </a:t>
            </a:r>
          </a:p>
          <a:p>
            <a:r>
              <a:rPr lang="zh-CN" altLang="en-US" sz="5100" dirty="0"/>
              <a:t>发展</a:t>
            </a:r>
            <a:endParaRPr lang="en-US" altLang="zh-CN" sz="5100" dirty="0"/>
          </a:p>
          <a:p>
            <a:pPr lvl="1"/>
            <a:r>
              <a:rPr lang="zh-CN" altLang="en-US" sz="5100" dirty="0"/>
              <a:t>Openflow、OpenDayLight、OpenStack、网络虚拟化技术</a:t>
            </a:r>
          </a:p>
          <a:p>
            <a:r>
              <a:rPr lang="zh-CN" altLang="en-US" sz="5100" dirty="0"/>
              <a:t>挑战</a:t>
            </a:r>
          </a:p>
          <a:p>
            <a:pPr lvl="1"/>
            <a:r>
              <a:rPr lang="zh-CN" altLang="en-US" sz="5100" dirty="0"/>
              <a:t>标准组织ONF的市场影响力和技术背景都太弱 挑战 </a:t>
            </a:r>
          </a:p>
          <a:p>
            <a:pPr lvl="1"/>
            <a:r>
              <a:rPr lang="zh-CN" altLang="en-US" sz="5100" dirty="0"/>
              <a:t>牵涉到太多利益关系传统厂商不买账(OpenDayLight)</a:t>
            </a:r>
          </a:p>
          <a:p>
            <a:pPr>
              <a:lnSpc>
                <a:spcPct val="150000"/>
              </a:lnSpc>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106</a:t>
            </a:fld>
            <a:endParaRPr kumimoji="1" lang="zh-CN" altLang="en-US" dirty="0"/>
          </a:p>
        </p:txBody>
      </p:sp>
    </p:spTree>
    <p:extLst>
      <p:ext uri="{BB962C8B-B14F-4D97-AF65-F5344CB8AC3E}">
        <p14:creationId xmlns:p14="http://schemas.microsoft.com/office/powerpoint/2010/main" val="184604831"/>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控制平面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4873357"/>
          </a:xfrm>
        </p:spPr>
        <p:txBody>
          <a:bodyPr>
            <a:normAutofit fontScale="55000" lnSpcReduction="20000"/>
          </a:bodyPr>
          <a:lstStyle/>
          <a:p>
            <a:pPr>
              <a:lnSpc>
                <a:spcPct val="150000"/>
              </a:lnSpc>
            </a:pPr>
            <a:r>
              <a:rPr lang="zh-CN" altLang="en-US" sz="5100" dirty="0">
                <a:solidFill>
                  <a:srgbClr val="C00000"/>
                </a:solidFill>
              </a:rPr>
              <a:t>标准化的控制协议</a:t>
            </a:r>
            <a:r>
              <a:rPr lang="zh-CN" altLang="en-US" sz="5100" dirty="0"/>
              <a:t>：如</a:t>
            </a:r>
            <a:r>
              <a:rPr lang="en-US" altLang="zh-CN" sz="5100" dirty="0" err="1"/>
              <a:t>OpenFlow</a:t>
            </a:r>
            <a:endParaRPr lang="en-US" altLang="zh-CN" sz="5100" dirty="0"/>
          </a:p>
          <a:p>
            <a:r>
              <a:rPr lang="zh-CN" altLang="en-US" sz="5100" dirty="0"/>
              <a:t>SDN: 不是一种具体的技术，而是一种思想，一种理念。</a:t>
            </a:r>
          </a:p>
          <a:p>
            <a:r>
              <a:rPr lang="zh-CN" altLang="en-US" sz="5100" dirty="0"/>
              <a:t>控制与转发分离、集中化的网络控制、开放的编程接口。</a:t>
            </a:r>
          </a:p>
          <a:p>
            <a:pPr lvl="1"/>
            <a:r>
              <a:rPr lang="zh-CN" altLang="en-US" sz="5100" dirty="0">
                <a:solidFill>
                  <a:srgbClr val="FF0000"/>
                </a:solidFill>
              </a:rPr>
              <a:t>狭义SDN </a:t>
            </a:r>
            <a:r>
              <a:rPr lang="zh-CN" altLang="en-US" sz="5100" dirty="0"/>
              <a:t>---&gt; OpenFlow</a:t>
            </a:r>
          </a:p>
          <a:p>
            <a:pPr lvl="1"/>
            <a:r>
              <a:rPr lang="zh-CN" altLang="en-US" sz="5100" dirty="0">
                <a:solidFill>
                  <a:srgbClr val="FF0000"/>
                </a:solidFill>
              </a:rPr>
              <a:t>广义SDN </a:t>
            </a:r>
            <a:r>
              <a:rPr lang="zh-CN" altLang="en-US" sz="5100" dirty="0"/>
              <a:t>---&gt;（管理+控制）与转发分离</a:t>
            </a:r>
          </a:p>
          <a:p>
            <a:pPr lvl="1"/>
            <a:r>
              <a:rPr lang="zh-CN" altLang="en-US" sz="5100" dirty="0">
                <a:solidFill>
                  <a:srgbClr val="FF0000"/>
                </a:solidFill>
              </a:rPr>
              <a:t>超广义SDN </a:t>
            </a:r>
            <a:r>
              <a:rPr lang="zh-CN" altLang="en-US" sz="5100" dirty="0"/>
              <a:t>---&gt;管理与（控制+转发）分离 </a:t>
            </a:r>
          </a:p>
          <a:p>
            <a:r>
              <a:rPr lang="zh-CN" altLang="en-US" sz="5100" dirty="0"/>
              <a:t>发展</a:t>
            </a:r>
            <a:endParaRPr lang="en-US" altLang="zh-CN" sz="5100" dirty="0"/>
          </a:p>
          <a:p>
            <a:pPr lvl="1"/>
            <a:r>
              <a:rPr lang="zh-CN" altLang="en-US" sz="5100" dirty="0"/>
              <a:t>Openflow、OpenDayLight、OpenStack、网络虚拟化技术</a:t>
            </a:r>
          </a:p>
          <a:p>
            <a:r>
              <a:rPr lang="zh-CN" altLang="en-US" sz="5100" dirty="0"/>
              <a:t>挑战</a:t>
            </a:r>
          </a:p>
          <a:p>
            <a:pPr lvl="1"/>
            <a:r>
              <a:rPr lang="zh-CN" altLang="en-US" sz="5100" dirty="0"/>
              <a:t>标准组织ONF的市场影响力和技术背景都太弱 挑战 </a:t>
            </a:r>
          </a:p>
          <a:p>
            <a:pPr lvl="1"/>
            <a:r>
              <a:rPr lang="zh-CN" altLang="en-US" sz="5100" dirty="0"/>
              <a:t>牵涉到太多利益关系传统厂商不买账(OpenDayLight)</a:t>
            </a:r>
          </a:p>
          <a:p>
            <a:pPr>
              <a:lnSpc>
                <a:spcPct val="150000"/>
              </a:lnSpc>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107</a:t>
            </a:fld>
            <a:endParaRPr kumimoji="1" lang="zh-CN" altLang="en-US" dirty="0"/>
          </a:p>
        </p:txBody>
      </p:sp>
    </p:spTree>
    <p:extLst>
      <p:ext uri="{BB962C8B-B14F-4D97-AF65-F5344CB8AC3E}">
        <p14:creationId xmlns:p14="http://schemas.microsoft.com/office/powerpoint/2010/main" val="258280076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en-US" altLang="zh-CN" dirty="0" err="1"/>
              <a:t>Openflow</a:t>
            </a:r>
            <a:r>
              <a:rPr kumimoji="1" lang="zh-CN" altLang="en-US" dirty="0"/>
              <a:t>节点匹配</a:t>
            </a:r>
          </a:p>
        </p:txBody>
      </p:sp>
      <p:sp>
        <p:nvSpPr>
          <p:cNvPr id="3" name="内容占位符 2"/>
          <p:cNvSpPr>
            <a:spLocks noGrp="1"/>
          </p:cNvSpPr>
          <p:nvPr>
            <p:ph idx="1"/>
          </p:nvPr>
        </p:nvSpPr>
        <p:spPr>
          <a:xfrm>
            <a:off x="838201" y="1510758"/>
            <a:ext cx="3441182" cy="4586694"/>
          </a:xfrm>
        </p:spPr>
        <p:txBody>
          <a:bodyPr/>
          <a:lstStyle/>
          <a:p>
            <a:r>
              <a:rPr lang="zh-CN" altLang="en-US" dirty="0"/>
              <a:t>流表匹配</a:t>
            </a:r>
            <a:endParaRPr lang="en-US" altLang="zh-CN" dirty="0"/>
          </a:p>
          <a:p>
            <a:r>
              <a:rPr lang="zh-CN" altLang="en-US" dirty="0"/>
              <a:t>与分组交换的</a:t>
            </a:r>
            <a:r>
              <a:rPr lang="en-US" altLang="zh-CN" dirty="0"/>
              <a:t>IP</a:t>
            </a:r>
            <a:r>
              <a:rPr lang="zh-CN" altLang="en-US" dirty="0"/>
              <a:t>网络比，更偏向于面向连接的链路交换</a:t>
            </a:r>
            <a:endParaRPr lang="en-US" altLang="zh-CN" dirty="0"/>
          </a:p>
          <a:p>
            <a:pPr lvl="1"/>
            <a:r>
              <a:rPr lang="zh-CN" altLang="en-US" dirty="0"/>
              <a:t>延伸阅读</a:t>
            </a:r>
            <a:r>
              <a:rPr lang="en-US" altLang="zh-CN" dirty="0"/>
              <a:t>MPLS</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108</a:t>
            </a:fld>
            <a:endParaRPr kumimoji="1" lang="zh-CN" altLang="en-US" dirty="0"/>
          </a:p>
        </p:txBody>
      </p:sp>
      <p:pic>
        <p:nvPicPr>
          <p:cNvPr id="5" name="图片 4"/>
          <p:cNvPicPr>
            <a:picLocks noChangeAspect="1"/>
          </p:cNvPicPr>
          <p:nvPr/>
        </p:nvPicPr>
        <p:blipFill>
          <a:blip r:embed="rId3"/>
          <a:stretch>
            <a:fillRect/>
          </a:stretch>
        </p:blipFill>
        <p:spPr>
          <a:xfrm>
            <a:off x="4170188" y="1365339"/>
            <a:ext cx="7183612" cy="5356136"/>
          </a:xfrm>
          <a:prstGeom prst="rect">
            <a:avLst/>
          </a:prstGeom>
        </p:spPr>
      </p:pic>
      <p:sp>
        <p:nvSpPr>
          <p:cNvPr id="6" name="文本框 5">
            <a:extLst>
              <a:ext uri="{FF2B5EF4-FFF2-40B4-BE49-F238E27FC236}">
                <a16:creationId xmlns:a16="http://schemas.microsoft.com/office/drawing/2014/main" id="{D16CB53D-781D-4703-8755-2F9925390345}"/>
              </a:ext>
            </a:extLst>
          </p:cNvPr>
          <p:cNvSpPr txBox="1"/>
          <p:nvPr/>
        </p:nvSpPr>
        <p:spPr>
          <a:xfrm>
            <a:off x="0" y="6492874"/>
            <a:ext cx="3302000" cy="338554"/>
          </a:xfrm>
          <a:prstGeom prst="rect">
            <a:avLst/>
          </a:prstGeom>
          <a:noFill/>
        </p:spPr>
        <p:txBody>
          <a:bodyPr wrap="square" rtlCol="0">
            <a:spAutoFit/>
          </a:bodyPr>
          <a:lstStyle/>
          <a:p>
            <a:r>
              <a:rPr lang="en-US" altLang="zh-CN" sz="1600" dirty="0">
                <a:solidFill>
                  <a:schemeClr val="bg1">
                    <a:lumMod val="65000"/>
                  </a:schemeClr>
                </a:solidFill>
                <a:latin typeface="微软雅黑" panose="020B0503020204020204" pitchFamily="34" charset="-122"/>
                <a:ea typeface="微软雅黑" panose="020B0503020204020204" pitchFamily="34" charset="-122"/>
              </a:rPr>
              <a:t>4.4 OpenFlow</a:t>
            </a:r>
            <a:endParaRPr lang="zh-CN" altLang="en-US" sz="1600" dirty="0">
              <a:solidFill>
                <a:schemeClr val="bg1">
                  <a:lumMod val="65000"/>
                </a:scheme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63227116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2"/>
          <p:cNvSpPr/>
          <p:nvPr/>
        </p:nvSpPr>
        <p:spPr bwMode="auto">
          <a:xfrm>
            <a:off x="3298692" y="1375919"/>
            <a:ext cx="1446212" cy="687387"/>
          </a:xfrm>
          <a:prstGeom prst="rect">
            <a:avLst/>
          </a:prstGeom>
          <a:solidFill>
            <a:srgbClr val="BBE0E3"/>
          </a:solidFill>
          <a:ln w="12700">
            <a:solidFill>
              <a:srgbClr val="000000"/>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
        <p:nvSpPr>
          <p:cNvPr id="8" name="Rectangle 23"/>
          <p:cNvSpPr/>
          <p:nvPr/>
        </p:nvSpPr>
        <p:spPr bwMode="auto">
          <a:xfrm>
            <a:off x="3640004" y="1579525"/>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Match</a:t>
            </a:r>
          </a:p>
        </p:txBody>
      </p:sp>
      <p:sp>
        <p:nvSpPr>
          <p:cNvPr id="9" name="Rectangle 24"/>
          <p:cNvSpPr/>
          <p:nvPr/>
        </p:nvSpPr>
        <p:spPr bwMode="auto">
          <a:xfrm>
            <a:off x="4744904" y="1375919"/>
            <a:ext cx="1446213" cy="687387"/>
          </a:xfrm>
          <a:prstGeom prst="rect">
            <a:avLst/>
          </a:prstGeom>
          <a:solidFill>
            <a:schemeClr val="accent6">
              <a:lumMod val="20000"/>
              <a:lumOff val="80000"/>
            </a:schemeClr>
          </a:solidFill>
          <a:ln w="12700">
            <a:solidFill>
              <a:srgbClr val="697D3A"/>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
        <p:nvSpPr>
          <p:cNvPr id="10" name="Rectangle 25"/>
          <p:cNvSpPr/>
          <p:nvPr/>
        </p:nvSpPr>
        <p:spPr bwMode="auto">
          <a:xfrm>
            <a:off x="4917942" y="1579119"/>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mn-cs"/>
              </a:rPr>
              <a:t>Action</a:t>
            </a:r>
          </a:p>
        </p:txBody>
      </p:sp>
      <p:sp>
        <p:nvSpPr>
          <p:cNvPr id="11" name="Rectangle 26"/>
          <p:cNvSpPr/>
          <p:nvPr/>
        </p:nvSpPr>
        <p:spPr bwMode="auto">
          <a:xfrm>
            <a:off x="6191117" y="1375919"/>
            <a:ext cx="1447800" cy="687387"/>
          </a:xfrm>
          <a:prstGeom prst="rect">
            <a:avLst/>
          </a:prstGeom>
          <a:solidFill>
            <a:schemeClr val="bg1">
              <a:lumMod val="95000"/>
            </a:schemeClr>
          </a:solidFill>
          <a:ln w="12700">
            <a:solidFill>
              <a:srgbClr val="800000"/>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
        <p:nvSpPr>
          <p:cNvPr id="12" name="Rectangle 27"/>
          <p:cNvSpPr/>
          <p:nvPr/>
        </p:nvSpPr>
        <p:spPr bwMode="auto">
          <a:xfrm>
            <a:off x="6631060" y="1579119"/>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Stats</a:t>
            </a:r>
          </a:p>
        </p:txBody>
      </p:sp>
      <p:grpSp>
        <p:nvGrpSpPr>
          <p:cNvPr id="13" name="Group 17"/>
          <p:cNvGrpSpPr/>
          <p:nvPr/>
        </p:nvGrpSpPr>
        <p:grpSpPr>
          <a:xfrm>
            <a:off x="4397242" y="2074880"/>
            <a:ext cx="5634037" cy="2162712"/>
            <a:chOff x="3169824" y="2200944"/>
            <a:chExt cx="5634037" cy="2162712"/>
          </a:xfrm>
        </p:grpSpPr>
        <p:sp>
          <p:nvSpPr>
            <p:cNvPr id="14" name="Rectangle 28"/>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ln>
          </p:spPr>
          <p:txBody>
            <a:bodyPr lIns="0" tIns="0" rIns="0" bIns="0" anchor="ctr"/>
            <a:lstStyle>
              <a:lvl1pPr marL="357505" indent="-330200"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357505" marR="0" lvl="0" indent="-330200" algn="l" defTabSz="457200" rtl="0" eaLnBrk="0" fontAlgn="base" latinLnBrk="0" hangingPunct="0">
                <a:lnSpc>
                  <a:spcPct val="100000"/>
                </a:lnSpc>
                <a:spcBef>
                  <a:spcPct val="0"/>
                </a:spcBef>
                <a:spcAft>
                  <a:spcPct val="0"/>
                </a:spcAft>
                <a:buClrTx/>
                <a:buSzTx/>
                <a:buFontTx/>
                <a:buAutoNum type="arabicPeriod"/>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Forward packet to port(s)</a:t>
              </a:r>
            </a:p>
            <a:p>
              <a:pPr marL="357505" marR="0" lvl="0" indent="-330200" algn="l" defTabSz="457200" rtl="0" eaLnBrk="0" fontAlgn="base" latinLnBrk="0" hangingPunct="0">
                <a:lnSpc>
                  <a:spcPct val="100000"/>
                </a:lnSpc>
                <a:spcBef>
                  <a:spcPct val="0"/>
                </a:spcBef>
                <a:spcAft>
                  <a:spcPct val="0"/>
                </a:spcAft>
                <a:buClrTx/>
                <a:buSzTx/>
                <a:buFontTx/>
                <a:buAutoNum type="arabicPeriod"/>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Drop packet</a:t>
              </a:r>
            </a:p>
            <a:p>
              <a:pPr marL="357505" marR="0" lvl="0" indent="-330200" algn="l" defTabSz="457200" rtl="0" eaLnBrk="0" fontAlgn="base" latinLnBrk="0" hangingPunct="0">
                <a:lnSpc>
                  <a:spcPct val="100000"/>
                </a:lnSpc>
                <a:spcBef>
                  <a:spcPct val="0"/>
                </a:spcBef>
                <a:spcAft>
                  <a:spcPct val="0"/>
                </a:spcAft>
                <a:buClrTx/>
                <a:buSzTx/>
                <a:buFontTx/>
                <a:buAutoNum type="arabicPeriod"/>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Modify fields in header(s)</a:t>
              </a:r>
            </a:p>
            <a:p>
              <a:pPr marL="357505" marR="0" lvl="0" indent="-330200" algn="l" defTabSz="457200" rtl="0" eaLnBrk="0" fontAlgn="base" latinLnBrk="0" hangingPunct="0">
                <a:lnSpc>
                  <a:spcPct val="100000"/>
                </a:lnSpc>
                <a:spcBef>
                  <a:spcPct val="0"/>
                </a:spcBef>
                <a:spcAft>
                  <a:spcPct val="0"/>
                </a:spcAft>
                <a:buClrTx/>
                <a:buSzTx/>
                <a:buFontTx/>
                <a:buAutoNum type="arabicPeriod"/>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Encapsulate and forward to controller</a:t>
              </a:r>
            </a:p>
          </p:txBody>
        </p:sp>
        <p:sp>
          <p:nvSpPr>
            <p:cNvPr id="15" name="Line 31"/>
            <p:cNvSpPr>
              <a:spLocks noChangeShapeType="1"/>
            </p:cNvSpPr>
            <p:nvPr/>
          </p:nvSpPr>
          <p:spPr bwMode="auto">
            <a:xfrm>
              <a:off x="3616272" y="2200944"/>
              <a:ext cx="1588" cy="758825"/>
            </a:xfrm>
            <a:prstGeom prst="line">
              <a:avLst/>
            </a:prstGeom>
            <a:noFill/>
            <a:ln w="38100">
              <a:solidFill>
                <a:srgbClr val="000000"/>
              </a:solidFill>
              <a:prstDash val="sysDot"/>
              <a:rou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grpSp>
        <p:nvGrpSpPr>
          <p:cNvPr id="16" name="Group 140"/>
          <p:cNvGrpSpPr/>
          <p:nvPr/>
        </p:nvGrpSpPr>
        <p:grpSpPr>
          <a:xfrm>
            <a:off x="6262492" y="2074881"/>
            <a:ext cx="3044825" cy="623425"/>
            <a:chOff x="5116099" y="2200945"/>
            <a:chExt cx="3044825" cy="623425"/>
          </a:xfrm>
        </p:grpSpPr>
        <p:sp>
          <p:nvSpPr>
            <p:cNvPr id="17" name="Rectangle 32"/>
            <p:cNvSpPr/>
            <p:nvPr/>
          </p:nvSpPr>
          <p:spPr bwMode="auto">
            <a:xfrm>
              <a:off x="5116099" y="2440195"/>
              <a:ext cx="3044825" cy="384175"/>
            </a:xfrm>
            <a:prstGeom prst="rect">
              <a:avLst/>
            </a:prstGeom>
            <a:solidFill>
              <a:schemeClr val="bg1">
                <a:lumMod val="95000"/>
              </a:schemeClr>
            </a:solidFill>
            <a:ln w="12700">
              <a:solidFill>
                <a:srgbClr val="800000"/>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mn-cs"/>
              </a:endParaRPr>
            </a:p>
          </p:txBody>
        </p:sp>
        <p:grpSp>
          <p:nvGrpSpPr>
            <p:cNvPr id="18" name="Group 24"/>
            <p:cNvGrpSpPr/>
            <p:nvPr/>
          </p:nvGrpSpPr>
          <p:grpSpPr>
            <a:xfrm>
              <a:off x="5187757" y="2200945"/>
              <a:ext cx="2652492" cy="599613"/>
              <a:chOff x="5187757" y="2200945"/>
              <a:chExt cx="2652492" cy="599613"/>
            </a:xfrm>
          </p:grpSpPr>
          <p:sp>
            <p:nvSpPr>
              <p:cNvPr id="19" name="Rectangle 33"/>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Packet + byte counters</a:t>
                </a:r>
              </a:p>
            </p:txBody>
          </p:sp>
          <p:sp>
            <p:nvSpPr>
              <p:cNvPr id="20" name="Line 34"/>
              <p:cNvSpPr>
                <a:spLocks noChangeShapeType="1"/>
              </p:cNvSpPr>
              <p:nvPr/>
            </p:nvSpPr>
            <p:spPr bwMode="auto">
              <a:xfrm rot="10800000" flipH="1">
                <a:off x="5187757" y="2200945"/>
                <a:ext cx="1587" cy="231775"/>
              </a:xfrm>
              <a:prstGeom prst="line">
                <a:avLst/>
              </a:prstGeom>
              <a:noFill/>
              <a:ln w="38100">
                <a:solidFill>
                  <a:srgbClr val="000000"/>
                </a:solidFill>
                <a:prstDash val="sysDot"/>
                <a:rou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grpSp>
      <p:grpSp>
        <p:nvGrpSpPr>
          <p:cNvPr id="21" name="Group 9"/>
          <p:cNvGrpSpPr/>
          <p:nvPr/>
        </p:nvGrpSpPr>
        <p:grpSpPr>
          <a:xfrm>
            <a:off x="3344929" y="2074697"/>
            <a:ext cx="8446528" cy="3709144"/>
            <a:chOff x="2117511" y="2200761"/>
            <a:chExt cx="8446528" cy="3709144"/>
          </a:xfrm>
        </p:grpSpPr>
        <p:sp>
          <p:nvSpPr>
            <p:cNvPr id="22" name="文字方塊 29"/>
            <p:cNvSpPr txBox="1">
              <a:spLocks noChangeArrowheads="1"/>
            </p:cNvSpPr>
            <p:nvPr/>
          </p:nvSpPr>
          <p:spPr bwMode="auto">
            <a:xfrm>
              <a:off x="2154100" y="4847642"/>
              <a:ext cx="2429474" cy="369332"/>
            </a:xfrm>
            <a:prstGeom prst="rect">
              <a:avLst/>
            </a:prstGeom>
            <a:noFill/>
            <a:ln>
              <a:noFill/>
            </a:ln>
          </p:spPr>
          <p:txBody>
            <a:bodyPr wrap="square">
              <a:spAutoFit/>
            </a:bodyP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800" b="0" i="0" u="none" strike="noStrike" kern="1200" cap="none" spc="0" normalizeH="0" baseline="0" noProof="0" dirty="0">
                  <a:ln>
                    <a:noFill/>
                  </a:ln>
                  <a:solidFill>
                    <a:prstClr val="black"/>
                  </a:solidFill>
                  <a:effectLst/>
                  <a:uLnTx/>
                  <a:uFillTx/>
                  <a:latin typeface="Calibri" panose="020F0502020204030204" pitchFamily="34" charset="0"/>
                  <a:ea typeface="PMingLiU"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panose="020F0502020204030204" pitchFamily="34" charset="0"/>
                <a:ea typeface="PMingLiU" charset="0"/>
              </a:endParaRPr>
            </a:p>
          </p:txBody>
        </p:sp>
        <p:sp>
          <p:nvSpPr>
            <p:cNvPr id="23" name="Line 30"/>
            <p:cNvSpPr>
              <a:spLocks noChangeShapeType="1"/>
            </p:cNvSpPr>
            <p:nvPr/>
          </p:nvSpPr>
          <p:spPr bwMode="auto">
            <a:xfrm>
              <a:off x="2127885" y="2200761"/>
              <a:ext cx="1858" cy="3054145"/>
            </a:xfrm>
            <a:prstGeom prst="line">
              <a:avLst/>
            </a:prstGeom>
            <a:noFill/>
            <a:ln w="38100">
              <a:solidFill>
                <a:srgbClr val="000000"/>
              </a:solidFill>
              <a:prstDash val="sysDot"/>
              <a:rou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24" name="矩形 15"/>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Ingress Port</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25" name="矩形 17"/>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err="1">
                  <a:ln>
                    <a:noFill/>
                  </a:ln>
                  <a:solidFill>
                    <a:srgbClr val="FFFFFF"/>
                  </a:solidFill>
                  <a:effectLst/>
                  <a:uLnTx/>
                  <a:uFillTx/>
                  <a:latin typeface="Calibri" panose="020F0502020204030204" pitchFamily="34" charset="0"/>
                  <a:ea typeface="PMingLiU" charset="0"/>
                  <a:cs typeface="PMingLiU" charset="0"/>
                </a:rPr>
                <a:t>Src</a:t>
              </a: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 MAC</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26" name="矩形 18"/>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err="1">
                  <a:ln>
                    <a:noFill/>
                  </a:ln>
                  <a:solidFill>
                    <a:srgbClr val="FFFFFF"/>
                  </a:solidFill>
                  <a:effectLst/>
                  <a:uLnTx/>
                  <a:uFillTx/>
                  <a:latin typeface="Calibri" panose="020F0502020204030204" pitchFamily="34" charset="0"/>
                  <a:ea typeface="PMingLiU" charset="0"/>
                  <a:cs typeface="PMingLiU" charset="0"/>
                </a:rPr>
                <a:t>Dst</a:t>
              </a: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 MAC</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27" name="矩形 19"/>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rPr>
                <a:t>Eth Type</a:t>
              </a:r>
              <a:endParaRPr kumimoji="0" lang="zh-TW" altLang="en-US"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endParaRPr>
            </a:p>
          </p:txBody>
        </p:sp>
        <p:sp>
          <p:nvSpPr>
            <p:cNvPr id="28" name="矩形 20"/>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VLAN</a:t>
              </a:r>
            </a:p>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 ID</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29" name="矩形 21"/>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IP</a:t>
              </a:r>
            </a:p>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err="1">
                  <a:ln>
                    <a:noFill/>
                  </a:ln>
                  <a:solidFill>
                    <a:srgbClr val="FFFFFF"/>
                  </a:solidFill>
                  <a:effectLst/>
                  <a:uLnTx/>
                  <a:uFillTx/>
                  <a:latin typeface="Calibri" panose="020F0502020204030204" pitchFamily="34" charset="0"/>
                  <a:ea typeface="PMingLiU" charset="0"/>
                  <a:cs typeface="PMingLiU" charset="0"/>
                </a:rPr>
                <a:t>ToS</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30" name="矩形 22"/>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rPr>
                <a:t>IP Proto</a:t>
              </a:r>
              <a:endParaRPr kumimoji="0" lang="zh-TW" altLang="en-US"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endParaRPr>
            </a:p>
          </p:txBody>
        </p:sp>
        <p:sp>
          <p:nvSpPr>
            <p:cNvPr id="31" name="矩形 23"/>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rPr>
                <a:t>IP Src</a:t>
              </a:r>
              <a:endParaRPr kumimoji="0" lang="zh-TW" altLang="en-US"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endParaRPr>
            </a:p>
          </p:txBody>
        </p:sp>
        <p:sp>
          <p:nvSpPr>
            <p:cNvPr id="32" name="矩形 24"/>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rPr>
                <a:t>IP Dst</a:t>
              </a:r>
              <a:endParaRPr kumimoji="0" lang="zh-TW" altLang="en-US" sz="1400" b="0" i="0" u="none" strike="noStrike" kern="0" cap="none" spc="0" normalizeH="0" baseline="0" noProof="0">
                <a:ln>
                  <a:noFill/>
                </a:ln>
                <a:solidFill>
                  <a:srgbClr val="FFFFFF"/>
                </a:solidFill>
                <a:effectLst/>
                <a:uLnTx/>
                <a:uFillTx/>
                <a:latin typeface="Calibri" panose="020F0502020204030204" pitchFamily="34" charset="0"/>
                <a:ea typeface="PMingLiU" charset="0"/>
                <a:cs typeface="PMingLiU" charset="0"/>
              </a:endParaRPr>
            </a:p>
          </p:txBody>
        </p:sp>
        <p:sp>
          <p:nvSpPr>
            <p:cNvPr id="33" name="矩形 25"/>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ts val="148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TCP/UDP </a:t>
              </a:r>
              <a:r>
                <a:rPr kumimoji="0" lang="en-US" altLang="zh-TW" sz="1400" b="0" i="0" u="none" strike="noStrike" kern="0" cap="none" spc="0" normalizeH="0" baseline="0" noProof="0" dirty="0" err="1">
                  <a:ln>
                    <a:noFill/>
                  </a:ln>
                  <a:solidFill>
                    <a:srgbClr val="FFFFFF"/>
                  </a:solidFill>
                  <a:effectLst/>
                  <a:uLnTx/>
                  <a:uFillTx/>
                  <a:latin typeface="Calibri" panose="020F0502020204030204" pitchFamily="34" charset="0"/>
                  <a:ea typeface="PMingLiU" charset="0"/>
                  <a:cs typeface="PMingLiU" charset="0"/>
                </a:rPr>
                <a:t>Src</a:t>
              </a: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 Port</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34" name="矩形 20"/>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VLAN</a:t>
              </a:r>
            </a:p>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 </a:t>
              </a:r>
              <a:r>
                <a:rPr kumimoji="0" lang="en-US" altLang="zh-TW" sz="1400" b="0" i="0" u="none" strike="noStrike" kern="0" cap="none" spc="0" normalizeH="0" baseline="0" noProof="0" dirty="0" err="1">
                  <a:ln>
                    <a:noFill/>
                  </a:ln>
                  <a:solidFill>
                    <a:srgbClr val="FFFFFF"/>
                  </a:solidFill>
                  <a:effectLst/>
                  <a:uLnTx/>
                  <a:uFillTx/>
                  <a:latin typeface="Calibri" panose="020F0502020204030204" pitchFamily="34" charset="0"/>
                  <a:ea typeface="PMingLiU" charset="0"/>
                  <a:cs typeface="PMingLiU" charset="0"/>
                </a:rPr>
                <a:t>Pri</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sp>
          <p:nvSpPr>
            <p:cNvPr id="35" name="矩形 25"/>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panose="020B0604020202020204" pitchFamily="34" charset="0"/>
                  <a:ea typeface="PMingLiU" charset="0"/>
                  <a:cs typeface="PMingLiU" charset="0"/>
                </a:defRPr>
              </a:lvl1pPr>
              <a:lvl2pPr marL="742950" indent="-285750" eaLnBrk="0" hangingPunct="0">
                <a:defRPr kumimoji="1">
                  <a:solidFill>
                    <a:schemeClr val="tx1"/>
                  </a:solidFill>
                  <a:latin typeface="Arial" panose="020B0604020202020204" pitchFamily="34" charset="0"/>
                  <a:ea typeface="PMingLiU" charset="0"/>
                  <a:cs typeface="PMingLiU" charset="0"/>
                </a:defRPr>
              </a:lvl2pPr>
              <a:lvl3pPr marL="1143000" indent="-228600" eaLnBrk="0" hangingPunct="0">
                <a:defRPr kumimoji="1">
                  <a:solidFill>
                    <a:schemeClr val="tx1"/>
                  </a:solidFill>
                  <a:latin typeface="Arial" panose="020B0604020202020204" pitchFamily="34" charset="0"/>
                  <a:ea typeface="PMingLiU" charset="0"/>
                  <a:cs typeface="PMingLiU" charset="0"/>
                </a:defRPr>
              </a:lvl3pPr>
              <a:lvl4pPr marL="1600200" indent="-228600" eaLnBrk="0" hangingPunct="0">
                <a:defRPr kumimoji="1">
                  <a:solidFill>
                    <a:schemeClr val="tx1"/>
                  </a:solidFill>
                  <a:latin typeface="Arial" panose="020B0604020202020204" pitchFamily="34" charset="0"/>
                  <a:ea typeface="PMingLiU" charset="0"/>
                  <a:cs typeface="PMingLiU" charset="0"/>
                </a:defRPr>
              </a:lvl4pPr>
              <a:lvl5pPr marL="2057400" indent="-228600" eaLnBrk="0" hangingPunct="0">
                <a:defRPr kumimoji="1">
                  <a:solidFill>
                    <a:schemeClr val="tx1"/>
                  </a:solidFill>
                  <a:latin typeface="Arial" panose="020B0604020202020204" pitchFamily="34" charset="0"/>
                  <a:ea typeface="PMingLiU" charset="0"/>
                  <a:cs typeface="PMingLiU" charset="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charset="0"/>
                  <a:cs typeface="PMingLiU" charset="0"/>
                </a:defRPr>
              </a:lvl9pPr>
            </a:lstStyle>
            <a:p>
              <a:pPr marL="0" marR="0" lvl="0" indent="0" algn="ctr" defTabSz="914400" rtl="0" eaLnBrk="1" fontAlgn="base" latinLnBrk="0" hangingPunct="1">
                <a:lnSpc>
                  <a:spcPts val="1480"/>
                </a:lnSpc>
                <a:spcBef>
                  <a:spcPct val="0"/>
                </a:spcBef>
                <a:spcAft>
                  <a:spcPct val="0"/>
                </a:spcAft>
                <a:buClrTx/>
                <a:buSzTx/>
                <a:buFontTx/>
                <a:buNone/>
                <a:defRPr/>
              </a:pP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TCP/UDP </a:t>
              </a:r>
              <a:r>
                <a:rPr kumimoji="0" lang="en-US" altLang="zh-TW" sz="1400" b="0" i="0" u="none" strike="noStrike" kern="0" cap="none" spc="0" normalizeH="0" baseline="0" noProof="0" dirty="0" err="1">
                  <a:ln>
                    <a:noFill/>
                  </a:ln>
                  <a:solidFill>
                    <a:srgbClr val="FFFFFF"/>
                  </a:solidFill>
                  <a:effectLst/>
                  <a:uLnTx/>
                  <a:uFillTx/>
                  <a:latin typeface="Calibri" panose="020F0502020204030204" pitchFamily="34" charset="0"/>
                  <a:ea typeface="PMingLiU" charset="0"/>
                  <a:cs typeface="PMingLiU" charset="0"/>
                </a:rPr>
                <a:t>Dst</a:t>
              </a:r>
              <a:r>
                <a:rPr kumimoji="0" lang="en-US" altLang="zh-TW"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rPr>
                <a:t> Port</a:t>
              </a:r>
              <a:endParaRPr kumimoji="0" lang="zh-TW" altLang="en-US" sz="1400" b="0" i="0" u="none" strike="noStrike" kern="0" cap="none" spc="0" normalizeH="0" baseline="0" noProof="0" dirty="0">
                <a:ln>
                  <a:noFill/>
                </a:ln>
                <a:solidFill>
                  <a:srgbClr val="FFFFFF"/>
                </a:solidFill>
                <a:effectLst/>
                <a:uLnTx/>
                <a:uFillTx/>
                <a:latin typeface="Calibri" panose="020F0502020204030204" pitchFamily="34" charset="0"/>
                <a:ea typeface="PMingLiU" charset="0"/>
                <a:cs typeface="PMingLiU" charset="0"/>
              </a:endParaRPr>
            </a:p>
          </p:txBody>
        </p:sp>
      </p:grpSp>
      <p:grpSp>
        <p:nvGrpSpPr>
          <p:cNvPr id="36" name="Group 7"/>
          <p:cNvGrpSpPr/>
          <p:nvPr/>
        </p:nvGrpSpPr>
        <p:grpSpPr>
          <a:xfrm>
            <a:off x="4158162" y="5951880"/>
            <a:ext cx="3235564" cy="549153"/>
            <a:chOff x="2826569" y="5888454"/>
            <a:chExt cx="3235564" cy="549153"/>
          </a:xfrm>
        </p:grpSpPr>
        <p:sp>
          <p:nvSpPr>
            <p:cNvPr id="37" name="文字方塊 29"/>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
          <p:nvSpPr>
            <p:cNvPr id="38" name="Left Brace 4"/>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 name="Group 6"/>
          <p:cNvGrpSpPr/>
          <p:nvPr/>
        </p:nvGrpSpPr>
        <p:grpSpPr>
          <a:xfrm>
            <a:off x="7437584" y="5956226"/>
            <a:ext cx="2473565" cy="543987"/>
            <a:chOff x="6105991" y="5892800"/>
            <a:chExt cx="2473565" cy="543987"/>
          </a:xfrm>
        </p:grpSpPr>
        <p:sp>
          <p:nvSpPr>
            <p:cNvPr id="40" name="文字方塊 29"/>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
          <p:nvSpPr>
            <p:cNvPr id="41" name="Left Brace 156"/>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5"/>
          <p:cNvGrpSpPr/>
          <p:nvPr/>
        </p:nvGrpSpPr>
        <p:grpSpPr>
          <a:xfrm>
            <a:off x="9664086" y="5956226"/>
            <a:ext cx="2349500" cy="547817"/>
            <a:chOff x="8332493" y="5892800"/>
            <a:chExt cx="2349500" cy="547817"/>
          </a:xfrm>
        </p:grpSpPr>
        <p:sp>
          <p:nvSpPr>
            <p:cNvPr id="43" name="文字方塊 29"/>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
          <p:nvSpPr>
            <p:cNvPr id="44" name="Left Brace 157"/>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 name="标题 1"/>
          <p:cNvSpPr>
            <a:spLocks noGrp="1"/>
          </p:cNvSpPr>
          <p:nvPr>
            <p:ph type="title"/>
          </p:nvPr>
        </p:nvSpPr>
        <p:spPr/>
        <p:txBody>
          <a:bodyPr/>
          <a:lstStyle/>
          <a:p>
            <a:r>
              <a:rPr lang="en-US" altLang="zh-CN" dirty="0" err="1"/>
              <a:t>Openflow</a:t>
            </a:r>
            <a:r>
              <a:rPr lang="en-US" altLang="zh-CN" dirty="0"/>
              <a:t>-</a:t>
            </a:r>
            <a:r>
              <a:rPr lang="zh-CN" altLang="en-US" dirty="0"/>
              <a:t>交换机的底层结构</a:t>
            </a:r>
          </a:p>
        </p:txBody>
      </p:sp>
      <p:sp>
        <p:nvSpPr>
          <p:cNvPr id="3" name="内容占位符 2"/>
          <p:cNvSpPr>
            <a:spLocks noGrp="1"/>
          </p:cNvSpPr>
          <p:nvPr>
            <p:ph idx="1"/>
          </p:nvPr>
        </p:nvSpPr>
        <p:spPr>
          <a:xfrm>
            <a:off x="742349" y="1543089"/>
            <a:ext cx="2585341" cy="4586694"/>
          </a:xfrm>
        </p:spPr>
        <p:txBody>
          <a:bodyPr/>
          <a:lstStyle/>
          <a:p>
            <a:r>
              <a:rPr lang="zh-CN" altLang="en-US" dirty="0"/>
              <a:t>匹配头域</a:t>
            </a:r>
            <a:endParaRPr lang="en-US" altLang="zh-CN" dirty="0"/>
          </a:p>
          <a:p>
            <a:r>
              <a:rPr lang="zh-CN" altLang="en-US" dirty="0"/>
              <a:t>与</a:t>
            </a:r>
            <a:r>
              <a:rPr lang="en-US" altLang="zh-CN" dirty="0"/>
              <a:t>Internet</a:t>
            </a:r>
            <a:r>
              <a:rPr lang="zh-CN" altLang="en-US" dirty="0"/>
              <a:t>帧结构对应</a:t>
            </a:r>
            <a:endParaRPr lang="en-US" altLang="zh-CN" dirty="0"/>
          </a:p>
          <a:p>
            <a:r>
              <a:rPr lang="zh-CN" altLang="en-US" dirty="0"/>
              <a:t>针对</a:t>
            </a:r>
            <a:r>
              <a:rPr lang="en-US" altLang="zh-CN" dirty="0"/>
              <a:t>2</a:t>
            </a:r>
            <a:r>
              <a:rPr lang="zh-CN" altLang="en-US" dirty="0"/>
              <a:t>层</a:t>
            </a:r>
            <a:r>
              <a:rPr lang="en-US" altLang="zh-CN" dirty="0"/>
              <a:t>-4</a:t>
            </a:r>
            <a:r>
              <a:rPr lang="zh-CN" altLang="en-US" dirty="0"/>
              <a:t>层</a:t>
            </a:r>
            <a:endParaRPr lang="en-US" altLang="zh-CN" dirty="0"/>
          </a:p>
          <a:p>
            <a:endParaRPr lang="en-US" altLang="zh-CN" dirty="0"/>
          </a:p>
          <a:p>
            <a:pPr marL="0" indent="0">
              <a:buNone/>
            </a:pPr>
            <a:endParaRPr lang="zh-CN" altLang="en-US" dirty="0"/>
          </a:p>
        </p:txBody>
      </p:sp>
      <p:sp>
        <p:nvSpPr>
          <p:cNvPr id="4" name="灯片编号占位符 3"/>
          <p:cNvSpPr>
            <a:spLocks noGrp="1"/>
          </p:cNvSpPr>
          <p:nvPr>
            <p:ph type="sldNum" sz="quarter" idx="12"/>
          </p:nvPr>
        </p:nvSpPr>
        <p:spPr>
          <a:xfrm>
            <a:off x="8610600" y="6496050"/>
            <a:ext cx="2743200" cy="365125"/>
          </a:xfrm>
        </p:spPr>
        <p:txBody>
          <a:bodyPr/>
          <a:lstStyle/>
          <a:p>
            <a:fld id="{8D4D1E41-7A09-AB4A-A4E1-09765ADA2698}" type="slidenum">
              <a:rPr kumimoji="1" lang="zh-CN" altLang="en-US" smtClean="0"/>
              <a:pPr/>
              <a:t>109</a:t>
            </a:fld>
            <a:endParaRPr kumimoji="1" lang="zh-CN" altLang="en-US" dirty="0"/>
          </a:p>
        </p:txBody>
      </p:sp>
      <p:sp>
        <p:nvSpPr>
          <p:cNvPr id="45" name="文本框 44">
            <a:extLst>
              <a:ext uri="{FF2B5EF4-FFF2-40B4-BE49-F238E27FC236}">
                <a16:creationId xmlns:a16="http://schemas.microsoft.com/office/drawing/2014/main" id="{86E09E19-6761-4B2F-856B-A4A6A237F4CC}"/>
              </a:ext>
            </a:extLst>
          </p:cNvPr>
          <p:cNvSpPr txBox="1"/>
          <p:nvPr/>
        </p:nvSpPr>
        <p:spPr>
          <a:xfrm>
            <a:off x="0" y="6522621"/>
            <a:ext cx="1952032" cy="338554"/>
          </a:xfrm>
          <a:prstGeom prst="rect">
            <a:avLst/>
          </a:prstGeom>
          <a:noFill/>
        </p:spPr>
        <p:txBody>
          <a:bodyPr wrap="square" rtlCol="0">
            <a:spAutoFit/>
          </a:bodyPr>
          <a:lstStyle/>
          <a:p>
            <a:r>
              <a:rPr lang="en-US" altLang="zh-CN" sz="1600" dirty="0">
                <a:solidFill>
                  <a:schemeClr val="bg1">
                    <a:lumMod val="65000"/>
                  </a:schemeClr>
                </a:solidFill>
                <a:latin typeface="微软雅黑" panose="020B0503020204020204" pitchFamily="34" charset="-122"/>
                <a:ea typeface="微软雅黑" panose="020B0503020204020204" pitchFamily="34" charset="-122"/>
              </a:rPr>
              <a:t>4.4 OpenFlow</a:t>
            </a:r>
            <a:endParaRPr lang="zh-CN" altLang="en-US" sz="1600"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6" name="矩形 45">
            <a:extLst>
              <a:ext uri="{FF2B5EF4-FFF2-40B4-BE49-F238E27FC236}">
                <a16:creationId xmlns:a16="http://schemas.microsoft.com/office/drawing/2014/main" id="{086D9E05-F51F-4A49-B9C1-20D913926D6C}"/>
              </a:ext>
            </a:extLst>
          </p:cNvPr>
          <p:cNvSpPr/>
          <p:nvPr/>
        </p:nvSpPr>
        <p:spPr>
          <a:xfrm>
            <a:off x="2356024" y="6670230"/>
            <a:ext cx="9180728" cy="415498"/>
          </a:xfrm>
          <a:prstGeom prst="rect">
            <a:avLst/>
          </a:prstGeom>
        </p:spPr>
        <p:txBody>
          <a:bodyPr wrap="square">
            <a:spAutoFit/>
          </a:bodyPr>
          <a:lstStyle/>
          <a:p>
            <a:r>
              <a:rPr lang="zh-CN" altLang="en-US" sz="1050" dirty="0">
                <a:solidFill>
                  <a:schemeClr val="tx1">
                    <a:lumMod val="50000"/>
                    <a:lumOff val="50000"/>
                  </a:schemeClr>
                </a:solidFill>
                <a:latin typeface="微软雅黑" panose="020B0503020204020204" pitchFamily="34" charset="-122"/>
                <a:ea typeface="微软雅黑" panose="020B0503020204020204" pitchFamily="34" charset="-122"/>
              </a:rPr>
              <a:t>引自</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计算机网络：自顶向下方法</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原书第</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7</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版</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，库罗斯 罗斯，机械工业出版社，</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2018</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年</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06</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月</a:t>
            </a:r>
          </a:p>
          <a:p>
            <a:endParaRPr lang="zh-CN" altLang="en-US" sz="1050"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689502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ssolv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dissolve">
                                      <p:cBhvr>
                                        <p:cTn id="12" dur="5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dissolve">
                                      <p:cBhvr>
                                        <p:cTn id="22" dur="500"/>
                                        <p:tgtEl>
                                          <p:spTgt spid="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dissolv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dissolv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t>Openflow</a:t>
            </a:r>
            <a:r>
              <a:rPr lang="zh-CN" altLang="en-US" dirty="0"/>
              <a:t>例子</a:t>
            </a:r>
          </a:p>
        </p:txBody>
      </p:sp>
      <p:sp>
        <p:nvSpPr>
          <p:cNvPr id="3" name="内容占位符 2"/>
          <p:cNvSpPr>
            <a:spLocks noGrp="1"/>
          </p:cNvSpPr>
          <p:nvPr>
            <p:ph idx="1"/>
          </p:nvPr>
        </p:nvSpPr>
        <p:spPr/>
        <p:txBody>
          <a:bodyPr/>
          <a:lstStyle/>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110</a:t>
            </a:fld>
            <a:endParaRPr kumimoji="1" lang="zh-CN" altLang="en-US" dirty="0"/>
          </a:p>
        </p:txBody>
      </p:sp>
      <p:grpSp>
        <p:nvGrpSpPr>
          <p:cNvPr id="5" name="Group 163"/>
          <p:cNvGrpSpPr/>
          <p:nvPr/>
        </p:nvGrpSpPr>
        <p:grpSpPr bwMode="auto">
          <a:xfrm>
            <a:off x="791286" y="1325141"/>
            <a:ext cx="2997200" cy="1262063"/>
            <a:chOff x="637575" y="1263648"/>
            <a:chExt cx="2998252" cy="1261939"/>
          </a:xfrm>
        </p:grpSpPr>
        <p:sp>
          <p:nvSpPr>
            <p:cNvPr id="6" name="Freeform 164"/>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1" fmla="*/ 0 w 3026833"/>
                <a:gd name="connsiteY0-2" fmla="*/ 846667 h 846667"/>
                <a:gd name="connsiteX1-3" fmla="*/ 2222500 w 3026833"/>
                <a:gd name="connsiteY1-4" fmla="*/ 613833 h 846667"/>
                <a:gd name="connsiteX2-5" fmla="*/ 3026833 w 3026833"/>
                <a:gd name="connsiteY2-6" fmla="*/ 0 h 846667"/>
                <a:gd name="connsiteX3-7" fmla="*/ 2751667 w 3026833"/>
                <a:gd name="connsiteY3-8" fmla="*/ 423333 h 846667"/>
                <a:gd name="connsiteX4-9" fmla="*/ 2744304 w 3026833"/>
                <a:gd name="connsiteY4-10" fmla="*/ 839304 h 846667"/>
                <a:gd name="connsiteX5-11" fmla="*/ 0 w 3026833"/>
                <a:gd name="connsiteY5-12" fmla="*/ 846667 h 846667"/>
                <a:gd name="connsiteX0-13" fmla="*/ 0 w 3042275"/>
                <a:gd name="connsiteY0-14" fmla="*/ 848898 h 848898"/>
                <a:gd name="connsiteX1-15" fmla="*/ 2222500 w 3042275"/>
                <a:gd name="connsiteY1-16" fmla="*/ 616064 h 848898"/>
                <a:gd name="connsiteX2-17" fmla="*/ 3026833 w 3042275"/>
                <a:gd name="connsiteY2-18" fmla="*/ 2231 h 848898"/>
                <a:gd name="connsiteX3-19" fmla="*/ 2751667 w 3042275"/>
                <a:gd name="connsiteY3-20" fmla="*/ 425564 h 848898"/>
                <a:gd name="connsiteX4-21" fmla="*/ 2744304 w 3042275"/>
                <a:gd name="connsiteY4-22" fmla="*/ 841535 h 848898"/>
                <a:gd name="connsiteX5-23" fmla="*/ 0 w 3042275"/>
                <a:gd name="connsiteY5-24" fmla="*/ 848898 h 848898"/>
                <a:gd name="connsiteX0-25" fmla="*/ 0 w 3042275"/>
                <a:gd name="connsiteY0-26" fmla="*/ 848898 h 848898"/>
                <a:gd name="connsiteX1-27" fmla="*/ 2222500 w 3042275"/>
                <a:gd name="connsiteY1-28" fmla="*/ 616064 h 848898"/>
                <a:gd name="connsiteX2-29" fmla="*/ 3026833 w 3042275"/>
                <a:gd name="connsiteY2-30" fmla="*/ 2231 h 848898"/>
                <a:gd name="connsiteX3-31" fmla="*/ 2751667 w 3042275"/>
                <a:gd name="connsiteY3-32" fmla="*/ 425564 h 848898"/>
                <a:gd name="connsiteX4-33" fmla="*/ 2744304 w 3042275"/>
                <a:gd name="connsiteY4-34" fmla="*/ 841535 h 848898"/>
                <a:gd name="connsiteX5-35" fmla="*/ 0 w 3042275"/>
                <a:gd name="connsiteY5-36" fmla="*/ 848898 h 848898"/>
                <a:gd name="connsiteX0-37" fmla="*/ 3038 w 3045313"/>
                <a:gd name="connsiteY0-38" fmla="*/ 848898 h 848898"/>
                <a:gd name="connsiteX1-39" fmla="*/ 2225538 w 3045313"/>
                <a:gd name="connsiteY1-40" fmla="*/ 616064 h 848898"/>
                <a:gd name="connsiteX2-41" fmla="*/ 3029871 w 3045313"/>
                <a:gd name="connsiteY2-42" fmla="*/ 2231 h 848898"/>
                <a:gd name="connsiteX3-43" fmla="*/ 2754705 w 3045313"/>
                <a:gd name="connsiteY3-44" fmla="*/ 425564 h 848898"/>
                <a:gd name="connsiteX4-45" fmla="*/ 2747342 w 3045313"/>
                <a:gd name="connsiteY4-46" fmla="*/ 841535 h 848898"/>
                <a:gd name="connsiteX5-47" fmla="*/ 3038 w 3045313"/>
                <a:gd name="connsiteY5-48" fmla="*/ 848898 h 848898"/>
                <a:gd name="connsiteX0-49" fmla="*/ 2799 w 3045074"/>
                <a:gd name="connsiteY0-50" fmla="*/ 848898 h 848898"/>
                <a:gd name="connsiteX1-51" fmla="*/ 2225299 w 3045074"/>
                <a:gd name="connsiteY1-52" fmla="*/ 616064 h 848898"/>
                <a:gd name="connsiteX2-53" fmla="*/ 3029632 w 3045074"/>
                <a:gd name="connsiteY2-54" fmla="*/ 2231 h 848898"/>
                <a:gd name="connsiteX3-55" fmla="*/ 2754466 w 3045074"/>
                <a:gd name="connsiteY3-56" fmla="*/ 425564 h 848898"/>
                <a:gd name="connsiteX4-57" fmla="*/ 2747103 w 3045074"/>
                <a:gd name="connsiteY4-58" fmla="*/ 841535 h 848898"/>
                <a:gd name="connsiteX5-59" fmla="*/ 2799 w 3045074"/>
                <a:gd name="connsiteY5-60" fmla="*/ 848898 h 848898"/>
                <a:gd name="connsiteX0-61" fmla="*/ 2799 w 3045074"/>
                <a:gd name="connsiteY0-62" fmla="*/ 848898 h 848898"/>
                <a:gd name="connsiteX1-63" fmla="*/ 2225299 w 3045074"/>
                <a:gd name="connsiteY1-64" fmla="*/ 616064 h 848898"/>
                <a:gd name="connsiteX2-65" fmla="*/ 3029632 w 3045074"/>
                <a:gd name="connsiteY2-66" fmla="*/ 2231 h 848898"/>
                <a:gd name="connsiteX3-67" fmla="*/ 2754466 w 3045074"/>
                <a:gd name="connsiteY3-68" fmla="*/ 425564 h 848898"/>
                <a:gd name="connsiteX4-69" fmla="*/ 2747103 w 3045074"/>
                <a:gd name="connsiteY4-70" fmla="*/ 841535 h 848898"/>
                <a:gd name="connsiteX5-71" fmla="*/ 2799 w 3045074"/>
                <a:gd name="connsiteY5-72" fmla="*/ 848898 h 848898"/>
                <a:gd name="connsiteX0-73" fmla="*/ 3018 w 2975668"/>
                <a:gd name="connsiteY0-74" fmla="*/ 443744 h 443744"/>
                <a:gd name="connsiteX1-75" fmla="*/ 2225518 w 2975668"/>
                <a:gd name="connsiteY1-76" fmla="*/ 210910 h 443744"/>
                <a:gd name="connsiteX2-77" fmla="*/ 2957279 w 2975668"/>
                <a:gd name="connsiteY2-78" fmla="*/ 79158 h 443744"/>
                <a:gd name="connsiteX3-79" fmla="*/ 2754685 w 2975668"/>
                <a:gd name="connsiteY3-80" fmla="*/ 20410 h 443744"/>
                <a:gd name="connsiteX4-81" fmla="*/ 2747322 w 2975668"/>
                <a:gd name="connsiteY4-82" fmla="*/ 436381 h 443744"/>
                <a:gd name="connsiteX5-83" fmla="*/ 3018 w 2975668"/>
                <a:gd name="connsiteY5-84" fmla="*/ 443744 h 443744"/>
                <a:gd name="connsiteX0-85" fmla="*/ 3018 w 2957279"/>
                <a:gd name="connsiteY0-86" fmla="*/ 454405 h 454405"/>
                <a:gd name="connsiteX1-87" fmla="*/ 2225518 w 2957279"/>
                <a:gd name="connsiteY1-88" fmla="*/ 221571 h 454405"/>
                <a:gd name="connsiteX2-89" fmla="*/ 2957279 w 2957279"/>
                <a:gd name="connsiteY2-90" fmla="*/ 89819 h 454405"/>
                <a:gd name="connsiteX3-91" fmla="*/ 2754685 w 2957279"/>
                <a:gd name="connsiteY3-92" fmla="*/ 31071 h 454405"/>
                <a:gd name="connsiteX4-93" fmla="*/ 2747322 w 2957279"/>
                <a:gd name="connsiteY4-94" fmla="*/ 447042 h 454405"/>
                <a:gd name="connsiteX5-95" fmla="*/ 3018 w 2957279"/>
                <a:gd name="connsiteY5-96" fmla="*/ 454405 h 454405"/>
                <a:gd name="connsiteX0-97" fmla="*/ 3018 w 2957279"/>
                <a:gd name="connsiteY0-98" fmla="*/ 496161 h 496161"/>
                <a:gd name="connsiteX1-99" fmla="*/ 2225518 w 2957279"/>
                <a:gd name="connsiteY1-100" fmla="*/ 263327 h 496161"/>
                <a:gd name="connsiteX2-101" fmla="*/ 2957279 w 2957279"/>
                <a:gd name="connsiteY2-102" fmla="*/ 131575 h 496161"/>
                <a:gd name="connsiteX3-103" fmla="*/ 2754685 w 2957279"/>
                <a:gd name="connsiteY3-104" fmla="*/ 72827 h 496161"/>
                <a:gd name="connsiteX4-105" fmla="*/ 2747322 w 2957279"/>
                <a:gd name="connsiteY4-106" fmla="*/ 488798 h 496161"/>
                <a:gd name="connsiteX5-107" fmla="*/ 3018 w 2957279"/>
                <a:gd name="connsiteY5-108" fmla="*/ 496161 h 496161"/>
                <a:gd name="connsiteX0-109" fmla="*/ 3018 w 2957279"/>
                <a:gd name="connsiteY0-110" fmla="*/ 496161 h 496161"/>
                <a:gd name="connsiteX1-111" fmla="*/ 2225518 w 2957279"/>
                <a:gd name="connsiteY1-112" fmla="*/ 263327 h 496161"/>
                <a:gd name="connsiteX2-113" fmla="*/ 2957279 w 2957279"/>
                <a:gd name="connsiteY2-114" fmla="*/ 131575 h 496161"/>
                <a:gd name="connsiteX3-115" fmla="*/ 2780603 w 2957279"/>
                <a:gd name="connsiteY3-116" fmla="*/ 269807 h 496161"/>
                <a:gd name="connsiteX4-117" fmla="*/ 2747322 w 2957279"/>
                <a:gd name="connsiteY4-118" fmla="*/ 488798 h 496161"/>
                <a:gd name="connsiteX5-119" fmla="*/ 3018 w 2957279"/>
                <a:gd name="connsiteY5-120" fmla="*/ 496161 h 496161"/>
                <a:gd name="connsiteX0-121" fmla="*/ 3018 w 2957279"/>
                <a:gd name="connsiteY0-122" fmla="*/ 496161 h 496161"/>
                <a:gd name="connsiteX1-123" fmla="*/ 2225518 w 2957279"/>
                <a:gd name="connsiteY1-124" fmla="*/ 263327 h 496161"/>
                <a:gd name="connsiteX2-125" fmla="*/ 2957279 w 2957279"/>
                <a:gd name="connsiteY2-126" fmla="*/ 131575 h 496161"/>
                <a:gd name="connsiteX3-127" fmla="*/ 2780603 w 2957279"/>
                <a:gd name="connsiteY3-128" fmla="*/ 269807 h 496161"/>
                <a:gd name="connsiteX4-129" fmla="*/ 2747322 w 2957279"/>
                <a:gd name="connsiteY4-130" fmla="*/ 488798 h 496161"/>
                <a:gd name="connsiteX5-131" fmla="*/ 3018 w 2957279"/>
                <a:gd name="connsiteY5-132" fmla="*/ 496161 h 496161"/>
                <a:gd name="connsiteX0-133" fmla="*/ 3018 w 2957279"/>
                <a:gd name="connsiteY0-134" fmla="*/ 364586 h 364586"/>
                <a:gd name="connsiteX1-135" fmla="*/ 2225518 w 2957279"/>
                <a:gd name="connsiteY1-136" fmla="*/ 131752 h 364586"/>
                <a:gd name="connsiteX2-137" fmla="*/ 2957279 w 2957279"/>
                <a:gd name="connsiteY2-138" fmla="*/ 0 h 364586"/>
                <a:gd name="connsiteX3-139" fmla="*/ 2780603 w 2957279"/>
                <a:gd name="connsiteY3-140" fmla="*/ 138232 h 364586"/>
                <a:gd name="connsiteX4-141" fmla="*/ 2747322 w 2957279"/>
                <a:gd name="connsiteY4-142" fmla="*/ 357223 h 364586"/>
                <a:gd name="connsiteX5-143" fmla="*/ 3018 w 2957279"/>
                <a:gd name="connsiteY5-144" fmla="*/ 364586 h 36458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S PGothic" panose="020B0600070205080204" pitchFamily="34" charset="-128"/>
              </a:endParaRPr>
            </a:p>
          </p:txBody>
        </p:sp>
        <p:grpSp>
          <p:nvGrpSpPr>
            <p:cNvPr id="7" name="Group 188"/>
            <p:cNvGrpSpPr/>
            <p:nvPr/>
          </p:nvGrpSpPr>
          <p:grpSpPr bwMode="auto">
            <a:xfrm>
              <a:off x="637575" y="1263648"/>
              <a:ext cx="2833213" cy="916517"/>
              <a:chOff x="-994833" y="4042832"/>
              <a:chExt cx="2833213" cy="916517"/>
            </a:xfrm>
          </p:grpSpPr>
          <p:sp>
            <p:nvSpPr>
              <p:cNvPr id="8" name="Rectangle 166"/>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S PGothic" panose="020B0600070205080204" pitchFamily="34" charset="-128"/>
                </a:endParaRPr>
              </a:p>
            </p:txBody>
          </p:sp>
          <p:sp>
            <p:nvSpPr>
              <p:cNvPr id="9" name="TextBox 190"/>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MS PGothic"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MS PGothic"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 = 10.2.*.*</a:t>
                </a:r>
              </a:p>
            </p:txBody>
          </p:sp>
          <p:sp>
            <p:nvSpPr>
              <p:cNvPr id="10" name="TextBox 191"/>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forward(3)</a:t>
                </a:r>
              </a:p>
            </p:txBody>
          </p:sp>
          <p:cxnSp>
            <p:nvCxnSpPr>
              <p:cNvPr id="11" name="Straight Connector 192"/>
              <p:cNvCxnSpPr>
                <a:cxnSpLocks noChangeShapeType="1"/>
              </p:cNvCxnSpPr>
              <p:nvPr/>
            </p:nvCxnSpPr>
            <p:spPr bwMode="auto">
              <a:xfrm>
                <a:off x="-994833" y="4402666"/>
                <a:ext cx="27940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 name="TextBox 193"/>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match</a:t>
                </a:r>
              </a:p>
            </p:txBody>
          </p:sp>
          <p:sp>
            <p:nvSpPr>
              <p:cNvPr id="13" name="TextBox 194"/>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action</a:t>
                </a:r>
              </a:p>
            </p:txBody>
          </p:sp>
          <p:cxnSp>
            <p:nvCxnSpPr>
              <p:cNvPr id="14" name="Straight Connector 195"/>
              <p:cNvCxnSpPr>
                <a:cxnSpLocks noChangeShapeType="1"/>
              </p:cNvCxnSpPr>
              <p:nvPr/>
            </p:nvCxnSpPr>
            <p:spPr bwMode="auto">
              <a:xfrm>
                <a:off x="738264" y="4049182"/>
                <a:ext cx="1" cy="9048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5" name="Group 173"/>
          <p:cNvGrpSpPr/>
          <p:nvPr/>
        </p:nvGrpSpPr>
        <p:grpSpPr bwMode="auto">
          <a:xfrm>
            <a:off x="6439465" y="4261912"/>
            <a:ext cx="2894013" cy="2022475"/>
            <a:chOff x="5956617" y="4509743"/>
            <a:chExt cx="2893901" cy="2022127"/>
          </a:xfrm>
        </p:grpSpPr>
        <p:sp>
          <p:nvSpPr>
            <p:cNvPr id="16" name="Freeform 174"/>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1" fmla="*/ 0 w 3026833"/>
                <a:gd name="connsiteY0-2" fmla="*/ 846667 h 846667"/>
                <a:gd name="connsiteX1-3" fmla="*/ 2222500 w 3026833"/>
                <a:gd name="connsiteY1-4" fmla="*/ 613833 h 846667"/>
                <a:gd name="connsiteX2-5" fmla="*/ 3026833 w 3026833"/>
                <a:gd name="connsiteY2-6" fmla="*/ 0 h 846667"/>
                <a:gd name="connsiteX3-7" fmla="*/ 2751667 w 3026833"/>
                <a:gd name="connsiteY3-8" fmla="*/ 423333 h 846667"/>
                <a:gd name="connsiteX4-9" fmla="*/ 2744304 w 3026833"/>
                <a:gd name="connsiteY4-10" fmla="*/ 839304 h 846667"/>
                <a:gd name="connsiteX5-11" fmla="*/ 0 w 3026833"/>
                <a:gd name="connsiteY5-12" fmla="*/ 846667 h 846667"/>
                <a:gd name="connsiteX0-13" fmla="*/ 0 w 3042275"/>
                <a:gd name="connsiteY0-14" fmla="*/ 848898 h 848898"/>
                <a:gd name="connsiteX1-15" fmla="*/ 2222500 w 3042275"/>
                <a:gd name="connsiteY1-16" fmla="*/ 616064 h 848898"/>
                <a:gd name="connsiteX2-17" fmla="*/ 3026833 w 3042275"/>
                <a:gd name="connsiteY2-18" fmla="*/ 2231 h 848898"/>
                <a:gd name="connsiteX3-19" fmla="*/ 2751667 w 3042275"/>
                <a:gd name="connsiteY3-20" fmla="*/ 425564 h 848898"/>
                <a:gd name="connsiteX4-21" fmla="*/ 2744304 w 3042275"/>
                <a:gd name="connsiteY4-22" fmla="*/ 841535 h 848898"/>
                <a:gd name="connsiteX5-23" fmla="*/ 0 w 3042275"/>
                <a:gd name="connsiteY5-24" fmla="*/ 848898 h 848898"/>
                <a:gd name="connsiteX0-25" fmla="*/ 0 w 3042275"/>
                <a:gd name="connsiteY0-26" fmla="*/ 848898 h 848898"/>
                <a:gd name="connsiteX1-27" fmla="*/ 2222500 w 3042275"/>
                <a:gd name="connsiteY1-28" fmla="*/ 616064 h 848898"/>
                <a:gd name="connsiteX2-29" fmla="*/ 3026833 w 3042275"/>
                <a:gd name="connsiteY2-30" fmla="*/ 2231 h 848898"/>
                <a:gd name="connsiteX3-31" fmla="*/ 2751667 w 3042275"/>
                <a:gd name="connsiteY3-32" fmla="*/ 425564 h 848898"/>
                <a:gd name="connsiteX4-33" fmla="*/ 2744304 w 3042275"/>
                <a:gd name="connsiteY4-34" fmla="*/ 841535 h 848898"/>
                <a:gd name="connsiteX5-35" fmla="*/ 0 w 3042275"/>
                <a:gd name="connsiteY5-36" fmla="*/ 848898 h 848898"/>
                <a:gd name="connsiteX0-37" fmla="*/ 3038 w 3045313"/>
                <a:gd name="connsiteY0-38" fmla="*/ 848898 h 848898"/>
                <a:gd name="connsiteX1-39" fmla="*/ 2225538 w 3045313"/>
                <a:gd name="connsiteY1-40" fmla="*/ 616064 h 848898"/>
                <a:gd name="connsiteX2-41" fmla="*/ 3029871 w 3045313"/>
                <a:gd name="connsiteY2-42" fmla="*/ 2231 h 848898"/>
                <a:gd name="connsiteX3-43" fmla="*/ 2754705 w 3045313"/>
                <a:gd name="connsiteY3-44" fmla="*/ 425564 h 848898"/>
                <a:gd name="connsiteX4-45" fmla="*/ 2747342 w 3045313"/>
                <a:gd name="connsiteY4-46" fmla="*/ 841535 h 848898"/>
                <a:gd name="connsiteX5-47" fmla="*/ 3038 w 3045313"/>
                <a:gd name="connsiteY5-48" fmla="*/ 848898 h 848898"/>
                <a:gd name="connsiteX0-49" fmla="*/ 2799 w 3045074"/>
                <a:gd name="connsiteY0-50" fmla="*/ 848898 h 848898"/>
                <a:gd name="connsiteX1-51" fmla="*/ 2225299 w 3045074"/>
                <a:gd name="connsiteY1-52" fmla="*/ 616064 h 848898"/>
                <a:gd name="connsiteX2-53" fmla="*/ 3029632 w 3045074"/>
                <a:gd name="connsiteY2-54" fmla="*/ 2231 h 848898"/>
                <a:gd name="connsiteX3-55" fmla="*/ 2754466 w 3045074"/>
                <a:gd name="connsiteY3-56" fmla="*/ 425564 h 848898"/>
                <a:gd name="connsiteX4-57" fmla="*/ 2747103 w 3045074"/>
                <a:gd name="connsiteY4-58" fmla="*/ 841535 h 848898"/>
                <a:gd name="connsiteX5-59" fmla="*/ 2799 w 3045074"/>
                <a:gd name="connsiteY5-60" fmla="*/ 848898 h 848898"/>
                <a:gd name="connsiteX0-61" fmla="*/ 2799 w 3045074"/>
                <a:gd name="connsiteY0-62" fmla="*/ 848898 h 848898"/>
                <a:gd name="connsiteX1-63" fmla="*/ 2225299 w 3045074"/>
                <a:gd name="connsiteY1-64" fmla="*/ 616064 h 848898"/>
                <a:gd name="connsiteX2-65" fmla="*/ 3029632 w 3045074"/>
                <a:gd name="connsiteY2-66" fmla="*/ 2231 h 848898"/>
                <a:gd name="connsiteX3-67" fmla="*/ 2754466 w 3045074"/>
                <a:gd name="connsiteY3-68" fmla="*/ 425564 h 848898"/>
                <a:gd name="connsiteX4-69" fmla="*/ 2747103 w 3045074"/>
                <a:gd name="connsiteY4-70" fmla="*/ 841535 h 848898"/>
                <a:gd name="connsiteX5-71" fmla="*/ 2799 w 3045074"/>
                <a:gd name="connsiteY5-72" fmla="*/ 848898 h 848898"/>
                <a:gd name="connsiteX0-73" fmla="*/ 2979 w 2839117"/>
                <a:gd name="connsiteY0-74" fmla="*/ 630630 h 630630"/>
                <a:gd name="connsiteX1-75" fmla="*/ 2225479 w 2839117"/>
                <a:gd name="connsiteY1-76" fmla="*/ 397796 h 630630"/>
                <a:gd name="connsiteX2-77" fmla="*/ 2808948 w 2839117"/>
                <a:gd name="connsiteY2-78" fmla="*/ 4836 h 630630"/>
                <a:gd name="connsiteX3-79" fmla="*/ 2754646 w 2839117"/>
                <a:gd name="connsiteY3-80" fmla="*/ 207296 h 630630"/>
                <a:gd name="connsiteX4-81" fmla="*/ 2747283 w 2839117"/>
                <a:gd name="connsiteY4-82" fmla="*/ 623267 h 630630"/>
                <a:gd name="connsiteX5-83" fmla="*/ 2979 w 2839117"/>
                <a:gd name="connsiteY5-84" fmla="*/ 630630 h 63063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S PGothic" panose="020B0600070205080204" pitchFamily="34" charset="-128"/>
              </a:endParaRPr>
            </a:p>
          </p:txBody>
        </p:sp>
        <p:grpSp>
          <p:nvGrpSpPr>
            <p:cNvPr id="17" name="Group 197"/>
            <p:cNvGrpSpPr/>
            <p:nvPr/>
          </p:nvGrpSpPr>
          <p:grpSpPr bwMode="auto">
            <a:xfrm>
              <a:off x="6031592" y="5137149"/>
              <a:ext cx="2818926" cy="1394721"/>
              <a:chOff x="-999973" y="4042833"/>
              <a:chExt cx="2818926" cy="1394721"/>
            </a:xfrm>
          </p:grpSpPr>
          <p:sp>
            <p:nvSpPr>
              <p:cNvPr id="18" name="Rectangle 176"/>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S PGothic" panose="020B0600070205080204" pitchFamily="34" charset="-128"/>
                </a:endParaRPr>
              </a:p>
            </p:txBody>
          </p:sp>
          <p:sp>
            <p:nvSpPr>
              <p:cNvPr id="19" name="TextBox 199"/>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IP Dst = 10.2.0.4</a:t>
                </a:r>
              </a:p>
            </p:txBody>
          </p:sp>
          <p:sp>
            <p:nvSpPr>
              <p:cNvPr id="20" name="TextBox 200"/>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forward(3)</a:t>
                </a:r>
              </a:p>
            </p:txBody>
          </p:sp>
          <p:cxnSp>
            <p:nvCxnSpPr>
              <p:cNvPr id="21" name="Straight Connector 201"/>
              <p:cNvCxnSpPr>
                <a:cxnSpLocks noChangeShapeType="1"/>
              </p:cNvCxnSpPr>
              <p:nvPr/>
            </p:nvCxnSpPr>
            <p:spPr bwMode="auto">
              <a:xfrm>
                <a:off x="-994833" y="4402666"/>
                <a:ext cx="27940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 name="TextBox 202"/>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match</a:t>
                </a:r>
              </a:p>
            </p:txBody>
          </p:sp>
          <p:sp>
            <p:nvSpPr>
              <p:cNvPr id="23" name="TextBox 203"/>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action</a:t>
                </a:r>
              </a:p>
            </p:txBody>
          </p:sp>
          <p:cxnSp>
            <p:nvCxnSpPr>
              <p:cNvPr id="24" name="Straight Connector 204"/>
              <p:cNvCxnSpPr>
                <a:cxnSpLocks noChangeShapeType="1"/>
              </p:cNvCxnSpPr>
              <p:nvPr/>
            </p:nvCxnSpPr>
            <p:spPr bwMode="auto">
              <a:xfrm>
                <a:off x="660503" y="4042833"/>
                <a:ext cx="4690" cy="1349464"/>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205"/>
              <p:cNvCxnSpPr>
                <a:cxnSpLocks noChangeShapeType="1"/>
              </p:cNvCxnSpPr>
              <p:nvPr/>
            </p:nvCxnSpPr>
            <p:spPr bwMode="auto">
              <a:xfrm>
                <a:off x="-975047" y="4896787"/>
                <a:ext cx="27940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 name="TextBox 206"/>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forward(4)</a:t>
                </a:r>
              </a:p>
            </p:txBody>
          </p:sp>
        </p:grpSp>
      </p:grpSp>
      <p:grpSp>
        <p:nvGrpSpPr>
          <p:cNvPr id="27" name="Group 185"/>
          <p:cNvGrpSpPr/>
          <p:nvPr/>
        </p:nvGrpSpPr>
        <p:grpSpPr bwMode="auto">
          <a:xfrm>
            <a:off x="1070540" y="4149961"/>
            <a:ext cx="3089275" cy="2001837"/>
            <a:chOff x="587526" y="4569769"/>
            <a:chExt cx="3089750" cy="2002482"/>
          </a:xfrm>
        </p:grpSpPr>
        <p:sp>
          <p:nvSpPr>
            <p:cNvPr id="28" name="Freeform 186"/>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1" fmla="*/ 0 w 3026833"/>
                <a:gd name="connsiteY0-2" fmla="*/ 846667 h 846667"/>
                <a:gd name="connsiteX1-3" fmla="*/ 2222500 w 3026833"/>
                <a:gd name="connsiteY1-4" fmla="*/ 613833 h 846667"/>
                <a:gd name="connsiteX2-5" fmla="*/ 3026833 w 3026833"/>
                <a:gd name="connsiteY2-6" fmla="*/ 0 h 846667"/>
                <a:gd name="connsiteX3-7" fmla="*/ 2751667 w 3026833"/>
                <a:gd name="connsiteY3-8" fmla="*/ 423333 h 846667"/>
                <a:gd name="connsiteX4-9" fmla="*/ 2744304 w 3026833"/>
                <a:gd name="connsiteY4-10" fmla="*/ 839304 h 846667"/>
                <a:gd name="connsiteX5-11" fmla="*/ 0 w 3026833"/>
                <a:gd name="connsiteY5-12" fmla="*/ 846667 h 846667"/>
                <a:gd name="connsiteX0-13" fmla="*/ 0 w 3042275"/>
                <a:gd name="connsiteY0-14" fmla="*/ 848898 h 848898"/>
                <a:gd name="connsiteX1-15" fmla="*/ 2222500 w 3042275"/>
                <a:gd name="connsiteY1-16" fmla="*/ 616064 h 848898"/>
                <a:gd name="connsiteX2-17" fmla="*/ 3026833 w 3042275"/>
                <a:gd name="connsiteY2-18" fmla="*/ 2231 h 848898"/>
                <a:gd name="connsiteX3-19" fmla="*/ 2751667 w 3042275"/>
                <a:gd name="connsiteY3-20" fmla="*/ 425564 h 848898"/>
                <a:gd name="connsiteX4-21" fmla="*/ 2744304 w 3042275"/>
                <a:gd name="connsiteY4-22" fmla="*/ 841535 h 848898"/>
                <a:gd name="connsiteX5-23" fmla="*/ 0 w 3042275"/>
                <a:gd name="connsiteY5-24" fmla="*/ 848898 h 848898"/>
                <a:gd name="connsiteX0-25" fmla="*/ 0 w 3042275"/>
                <a:gd name="connsiteY0-26" fmla="*/ 848898 h 848898"/>
                <a:gd name="connsiteX1-27" fmla="*/ 2222500 w 3042275"/>
                <a:gd name="connsiteY1-28" fmla="*/ 616064 h 848898"/>
                <a:gd name="connsiteX2-29" fmla="*/ 3026833 w 3042275"/>
                <a:gd name="connsiteY2-30" fmla="*/ 2231 h 848898"/>
                <a:gd name="connsiteX3-31" fmla="*/ 2751667 w 3042275"/>
                <a:gd name="connsiteY3-32" fmla="*/ 425564 h 848898"/>
                <a:gd name="connsiteX4-33" fmla="*/ 2744304 w 3042275"/>
                <a:gd name="connsiteY4-34" fmla="*/ 841535 h 848898"/>
                <a:gd name="connsiteX5-35" fmla="*/ 0 w 3042275"/>
                <a:gd name="connsiteY5-36" fmla="*/ 848898 h 848898"/>
                <a:gd name="connsiteX0-37" fmla="*/ 3038 w 3045313"/>
                <a:gd name="connsiteY0-38" fmla="*/ 848898 h 848898"/>
                <a:gd name="connsiteX1-39" fmla="*/ 2225538 w 3045313"/>
                <a:gd name="connsiteY1-40" fmla="*/ 616064 h 848898"/>
                <a:gd name="connsiteX2-41" fmla="*/ 3029871 w 3045313"/>
                <a:gd name="connsiteY2-42" fmla="*/ 2231 h 848898"/>
                <a:gd name="connsiteX3-43" fmla="*/ 2754705 w 3045313"/>
                <a:gd name="connsiteY3-44" fmla="*/ 425564 h 848898"/>
                <a:gd name="connsiteX4-45" fmla="*/ 2747342 w 3045313"/>
                <a:gd name="connsiteY4-46" fmla="*/ 841535 h 848898"/>
                <a:gd name="connsiteX5-47" fmla="*/ 3038 w 3045313"/>
                <a:gd name="connsiteY5-48" fmla="*/ 848898 h 848898"/>
                <a:gd name="connsiteX0-49" fmla="*/ 2799 w 3045074"/>
                <a:gd name="connsiteY0-50" fmla="*/ 848898 h 848898"/>
                <a:gd name="connsiteX1-51" fmla="*/ 2225299 w 3045074"/>
                <a:gd name="connsiteY1-52" fmla="*/ 616064 h 848898"/>
                <a:gd name="connsiteX2-53" fmla="*/ 3029632 w 3045074"/>
                <a:gd name="connsiteY2-54" fmla="*/ 2231 h 848898"/>
                <a:gd name="connsiteX3-55" fmla="*/ 2754466 w 3045074"/>
                <a:gd name="connsiteY3-56" fmla="*/ 425564 h 848898"/>
                <a:gd name="connsiteX4-57" fmla="*/ 2747103 w 3045074"/>
                <a:gd name="connsiteY4-58" fmla="*/ 841535 h 848898"/>
                <a:gd name="connsiteX5-59" fmla="*/ 2799 w 3045074"/>
                <a:gd name="connsiteY5-60" fmla="*/ 848898 h 848898"/>
                <a:gd name="connsiteX0-61" fmla="*/ 2799 w 3045074"/>
                <a:gd name="connsiteY0-62" fmla="*/ 848898 h 848898"/>
                <a:gd name="connsiteX1-63" fmla="*/ 2225299 w 3045074"/>
                <a:gd name="connsiteY1-64" fmla="*/ 616064 h 848898"/>
                <a:gd name="connsiteX2-65" fmla="*/ 3029632 w 3045074"/>
                <a:gd name="connsiteY2-66" fmla="*/ 2231 h 848898"/>
                <a:gd name="connsiteX3-67" fmla="*/ 2754466 w 3045074"/>
                <a:gd name="connsiteY3-68" fmla="*/ 425564 h 848898"/>
                <a:gd name="connsiteX4-69" fmla="*/ 2747103 w 3045074"/>
                <a:gd name="connsiteY4-70" fmla="*/ 841535 h 848898"/>
                <a:gd name="connsiteX5-71" fmla="*/ 2799 w 3045074"/>
                <a:gd name="connsiteY5-72" fmla="*/ 848898 h 84889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S PGothic" panose="020B0600070205080204" pitchFamily="34" charset="-128"/>
              </a:endParaRPr>
            </a:p>
          </p:txBody>
        </p:sp>
        <p:grpSp>
          <p:nvGrpSpPr>
            <p:cNvPr id="29" name="Group 50"/>
            <p:cNvGrpSpPr/>
            <p:nvPr/>
          </p:nvGrpSpPr>
          <p:grpSpPr bwMode="auto">
            <a:xfrm>
              <a:off x="587526" y="5408083"/>
              <a:ext cx="2799140" cy="1164168"/>
              <a:chOff x="-999973" y="4042832"/>
              <a:chExt cx="2799140" cy="1164168"/>
            </a:xfrm>
          </p:grpSpPr>
          <p:sp>
            <p:nvSpPr>
              <p:cNvPr id="30" name="Rectangle 188"/>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S PGothic" panose="020B0600070205080204" pitchFamily="34" charset="-128"/>
                </a:endParaRPr>
              </a:p>
            </p:txBody>
          </p:sp>
          <p:sp>
            <p:nvSpPr>
              <p:cNvPr id="31" name="TextBox 8"/>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IP Dst = 10.2.*.*</a:t>
                </a:r>
              </a:p>
            </p:txBody>
          </p:sp>
          <p:sp>
            <p:nvSpPr>
              <p:cNvPr id="32" name="TextBox 183"/>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forward(4)</a:t>
                </a:r>
              </a:p>
            </p:txBody>
          </p:sp>
          <p:cxnSp>
            <p:nvCxnSpPr>
              <p:cNvPr id="33" name="Straight Connector 14"/>
              <p:cNvCxnSpPr>
                <a:cxnSpLocks noChangeShapeType="1"/>
              </p:cNvCxnSpPr>
              <p:nvPr/>
            </p:nvCxnSpPr>
            <p:spPr bwMode="auto">
              <a:xfrm>
                <a:off x="-994833" y="4402666"/>
                <a:ext cx="27940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TextBox 185"/>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match</a:t>
                </a:r>
              </a:p>
            </p:txBody>
          </p:sp>
          <p:sp>
            <p:nvSpPr>
              <p:cNvPr id="35" name="TextBox 186"/>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action</a:t>
                </a:r>
              </a:p>
            </p:txBody>
          </p:sp>
          <p:cxnSp>
            <p:nvCxnSpPr>
              <p:cNvPr id="36" name="Straight Connector 187"/>
              <p:cNvCxnSpPr>
                <a:cxnSpLocks noChangeShapeType="1"/>
              </p:cNvCxnSpPr>
              <p:nvPr/>
            </p:nvCxnSpPr>
            <p:spPr bwMode="auto">
              <a:xfrm>
                <a:off x="634998" y="4042833"/>
                <a:ext cx="0" cy="1164167"/>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37" name="Straight Connector 13"/>
          <p:cNvCxnSpPr>
            <a:cxnSpLocks noChangeShapeType="1"/>
          </p:cNvCxnSpPr>
          <p:nvPr/>
        </p:nvCxnSpPr>
        <p:spPr bwMode="auto">
          <a:xfrm>
            <a:off x="4243953" y="2314049"/>
            <a:ext cx="2157412" cy="1846263"/>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11"/>
          <p:cNvCxnSpPr>
            <a:cxnSpLocks noChangeShapeType="1"/>
          </p:cNvCxnSpPr>
          <p:nvPr/>
        </p:nvCxnSpPr>
        <p:spPr bwMode="auto">
          <a:xfrm>
            <a:off x="4523353" y="4249212"/>
            <a:ext cx="2046287"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Straight Connector 6"/>
          <p:cNvCxnSpPr>
            <a:cxnSpLocks noChangeShapeType="1"/>
          </p:cNvCxnSpPr>
          <p:nvPr/>
        </p:nvCxnSpPr>
        <p:spPr bwMode="auto">
          <a:xfrm>
            <a:off x="4324915" y="2442637"/>
            <a:ext cx="0" cy="157480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Straight Connector 64"/>
          <p:cNvCxnSpPr>
            <a:cxnSpLocks noChangeShapeType="1"/>
          </p:cNvCxnSpPr>
          <p:nvPr/>
        </p:nvCxnSpPr>
        <p:spPr bwMode="auto">
          <a:xfrm flipH="1">
            <a:off x="4445565" y="2906187"/>
            <a:ext cx="1477963" cy="1311275"/>
          </a:xfrm>
          <a:prstGeom prst="line">
            <a:avLst/>
          </a:prstGeom>
          <a:noFill/>
          <a:ln w="12700">
            <a:solidFill>
              <a:srgbClr val="CC0000">
                <a:alpha val="50195"/>
              </a:srgbClr>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Straight Connector 199"/>
          <p:cNvCxnSpPr/>
          <p:nvPr/>
        </p:nvCxnSpPr>
        <p:spPr>
          <a:xfrm flipH="1" flipV="1">
            <a:off x="4393178" y="4319062"/>
            <a:ext cx="6350" cy="657225"/>
          </a:xfrm>
          <a:prstGeom prst="line">
            <a:avLst/>
          </a:prstGeom>
          <a:noFill/>
          <a:ln w="25400" cap="flat" cmpd="sng" algn="ctr">
            <a:solidFill>
              <a:srgbClr val="000000"/>
            </a:solidFill>
            <a:prstDash val="solid"/>
          </a:ln>
          <a:effectLst/>
        </p:spPr>
      </p:cxnSp>
      <p:cxnSp>
        <p:nvCxnSpPr>
          <p:cNvPr id="42" name="Straight Connector 200"/>
          <p:cNvCxnSpPr/>
          <p:nvPr/>
        </p:nvCxnSpPr>
        <p:spPr>
          <a:xfrm>
            <a:off x="3437503" y="4276199"/>
            <a:ext cx="531812" cy="0"/>
          </a:xfrm>
          <a:prstGeom prst="line">
            <a:avLst/>
          </a:prstGeom>
          <a:noFill/>
          <a:ln w="25400" cap="flat" cmpd="sng" algn="ctr">
            <a:solidFill>
              <a:srgbClr val="000000"/>
            </a:solidFill>
            <a:prstDash val="solid"/>
          </a:ln>
          <a:effectLst/>
        </p:spPr>
      </p:cxnSp>
      <p:grpSp>
        <p:nvGrpSpPr>
          <p:cNvPr id="43" name="Group 44"/>
          <p:cNvGrpSpPr/>
          <p:nvPr/>
        </p:nvGrpSpPr>
        <p:grpSpPr bwMode="auto">
          <a:xfrm>
            <a:off x="2839015" y="3795187"/>
            <a:ext cx="757238" cy="628650"/>
            <a:chOff x="-44" y="1473"/>
            <a:chExt cx="981" cy="1105"/>
          </a:xfrm>
        </p:grpSpPr>
        <p:pic>
          <p:nvPicPr>
            <p:cNvPr id="44" name="Picture 4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46"/>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grpSp>
        <p:nvGrpSpPr>
          <p:cNvPr id="46" name="Group 44"/>
          <p:cNvGrpSpPr/>
          <p:nvPr/>
        </p:nvGrpSpPr>
        <p:grpSpPr bwMode="auto">
          <a:xfrm>
            <a:off x="3902640" y="4644499"/>
            <a:ext cx="757238" cy="628650"/>
            <a:chOff x="188" y="1473"/>
            <a:chExt cx="981" cy="1105"/>
          </a:xfrm>
        </p:grpSpPr>
        <p:pic>
          <p:nvPicPr>
            <p:cNvPr id="47" name="Picture 4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46"/>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sp>
        <p:nvSpPr>
          <p:cNvPr id="49" name="TextBox 9"/>
          <p:cNvSpPr txBox="1">
            <a:spLocks noChangeArrowheads="1"/>
          </p:cNvSpPr>
          <p:nvPr/>
        </p:nvSpPr>
        <p:spPr bwMode="auto">
          <a:xfrm>
            <a:off x="2244774" y="3968708"/>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MS PGothic"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 name="TextBox 58"/>
          <p:cNvSpPr txBox="1">
            <a:spLocks noChangeArrowheads="1"/>
          </p:cNvSpPr>
          <p:nvPr/>
        </p:nvSpPr>
        <p:spPr bwMode="auto">
          <a:xfrm>
            <a:off x="4002169" y="5205231"/>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MS PGothic"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cxnSp>
        <p:nvCxnSpPr>
          <p:cNvPr id="51" name="Straight Connector 209"/>
          <p:cNvCxnSpPr/>
          <p:nvPr/>
        </p:nvCxnSpPr>
        <p:spPr>
          <a:xfrm flipV="1">
            <a:off x="6091803" y="4320649"/>
            <a:ext cx="306387" cy="490538"/>
          </a:xfrm>
          <a:prstGeom prst="line">
            <a:avLst/>
          </a:prstGeom>
          <a:noFill/>
          <a:ln w="25400" cap="flat" cmpd="sng" algn="ctr">
            <a:solidFill>
              <a:srgbClr val="000000"/>
            </a:solidFill>
            <a:prstDash val="solid"/>
          </a:ln>
          <a:effectLst/>
        </p:spPr>
      </p:cxnSp>
      <p:cxnSp>
        <p:nvCxnSpPr>
          <p:cNvPr id="52" name="Straight Connector 210"/>
          <p:cNvCxnSpPr/>
          <p:nvPr/>
        </p:nvCxnSpPr>
        <p:spPr>
          <a:xfrm>
            <a:off x="6845865" y="4199999"/>
            <a:ext cx="531813" cy="0"/>
          </a:xfrm>
          <a:prstGeom prst="line">
            <a:avLst/>
          </a:prstGeom>
          <a:noFill/>
          <a:ln w="25400" cap="flat" cmpd="sng" algn="ctr">
            <a:solidFill>
              <a:srgbClr val="000000"/>
            </a:solidFill>
            <a:prstDash val="solid"/>
          </a:ln>
          <a:effectLst/>
        </p:spPr>
      </p:cxnSp>
      <p:grpSp>
        <p:nvGrpSpPr>
          <p:cNvPr id="53" name="Group 44"/>
          <p:cNvGrpSpPr/>
          <p:nvPr/>
        </p:nvGrpSpPr>
        <p:grpSpPr bwMode="auto">
          <a:xfrm>
            <a:off x="7052240" y="3972987"/>
            <a:ext cx="757238" cy="628650"/>
            <a:chOff x="-44" y="1473"/>
            <a:chExt cx="981" cy="1105"/>
          </a:xfrm>
        </p:grpSpPr>
        <p:pic>
          <p:nvPicPr>
            <p:cNvPr id="54" name="Picture 4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46"/>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grpSp>
        <p:nvGrpSpPr>
          <p:cNvPr id="56" name="Group 44"/>
          <p:cNvGrpSpPr/>
          <p:nvPr/>
        </p:nvGrpSpPr>
        <p:grpSpPr bwMode="auto">
          <a:xfrm>
            <a:off x="5574278" y="4587349"/>
            <a:ext cx="757237" cy="628650"/>
            <a:chOff x="-44" y="1473"/>
            <a:chExt cx="981" cy="1105"/>
          </a:xfrm>
        </p:grpSpPr>
        <p:pic>
          <p:nvPicPr>
            <p:cNvPr id="57" name="Picture 4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Freeform 46"/>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sp>
        <p:nvSpPr>
          <p:cNvPr id="59" name="TextBox 70"/>
          <p:cNvSpPr txBox="1">
            <a:spLocks noChangeArrowheads="1"/>
          </p:cNvSpPr>
          <p:nvPr/>
        </p:nvSpPr>
        <p:spPr bwMode="auto">
          <a:xfrm>
            <a:off x="7744804" y="4001562"/>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MS PGothic"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 name="TextBox 71"/>
          <p:cNvSpPr txBox="1">
            <a:spLocks noChangeArrowheads="1"/>
          </p:cNvSpPr>
          <p:nvPr/>
        </p:nvSpPr>
        <p:spPr bwMode="auto">
          <a:xfrm>
            <a:off x="5623764" y="5101631"/>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MS PGothic"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cxnSp>
        <p:nvCxnSpPr>
          <p:cNvPr id="61" name="Straight Connector 219"/>
          <p:cNvCxnSpPr/>
          <p:nvPr/>
        </p:nvCxnSpPr>
        <p:spPr>
          <a:xfrm>
            <a:off x="3448615" y="2433112"/>
            <a:ext cx="706438" cy="0"/>
          </a:xfrm>
          <a:prstGeom prst="line">
            <a:avLst/>
          </a:prstGeom>
          <a:noFill/>
          <a:ln w="25400" cap="flat" cmpd="sng" algn="ctr">
            <a:solidFill>
              <a:srgbClr val="000000"/>
            </a:solidFill>
            <a:prstDash val="solid"/>
          </a:ln>
          <a:effectLst/>
        </p:spPr>
      </p:cxnSp>
      <p:cxnSp>
        <p:nvCxnSpPr>
          <p:cNvPr id="62" name="Straight Connector 220"/>
          <p:cNvCxnSpPr/>
          <p:nvPr/>
        </p:nvCxnSpPr>
        <p:spPr>
          <a:xfrm flipV="1">
            <a:off x="4426515" y="1766362"/>
            <a:ext cx="0" cy="474662"/>
          </a:xfrm>
          <a:prstGeom prst="line">
            <a:avLst/>
          </a:prstGeom>
          <a:noFill/>
          <a:ln w="25400" cap="flat" cmpd="sng" algn="ctr">
            <a:solidFill>
              <a:srgbClr val="000000"/>
            </a:solidFill>
            <a:prstDash val="solid"/>
          </a:ln>
          <a:effectLst/>
        </p:spPr>
      </p:cxnSp>
      <p:grpSp>
        <p:nvGrpSpPr>
          <p:cNvPr id="63" name="Group 44"/>
          <p:cNvGrpSpPr/>
          <p:nvPr/>
        </p:nvGrpSpPr>
        <p:grpSpPr bwMode="auto">
          <a:xfrm>
            <a:off x="3945503" y="1374249"/>
            <a:ext cx="757237" cy="628650"/>
            <a:chOff x="-44" y="1473"/>
            <a:chExt cx="981" cy="1105"/>
          </a:xfrm>
        </p:grpSpPr>
        <p:pic>
          <p:nvPicPr>
            <p:cNvPr id="64" name="Picture 4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Freeform 46"/>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grpSp>
        <p:nvGrpSpPr>
          <p:cNvPr id="66" name="Group 44"/>
          <p:cNvGrpSpPr/>
          <p:nvPr/>
        </p:nvGrpSpPr>
        <p:grpSpPr bwMode="auto">
          <a:xfrm>
            <a:off x="2891403" y="2313703"/>
            <a:ext cx="757237" cy="628650"/>
            <a:chOff x="-44" y="1473"/>
            <a:chExt cx="981" cy="1105"/>
          </a:xfrm>
        </p:grpSpPr>
        <p:pic>
          <p:nvPicPr>
            <p:cNvPr id="67" name="Picture 4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Freeform 46"/>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sp>
        <p:nvSpPr>
          <p:cNvPr id="69" name="TextBox 83"/>
          <p:cNvSpPr txBox="1">
            <a:spLocks noChangeArrowheads="1"/>
          </p:cNvSpPr>
          <p:nvPr/>
        </p:nvSpPr>
        <p:spPr bwMode="auto">
          <a:xfrm>
            <a:off x="2980303" y="2816940"/>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MS PGothic"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10.3.0.5</a:t>
            </a:r>
          </a:p>
        </p:txBody>
      </p:sp>
      <p:sp>
        <p:nvSpPr>
          <p:cNvPr id="70" name="TextBox 92"/>
          <p:cNvSpPr txBox="1">
            <a:spLocks noChangeArrowheads="1"/>
          </p:cNvSpPr>
          <p:nvPr/>
        </p:nvSpPr>
        <p:spPr bwMode="auto">
          <a:xfrm>
            <a:off x="4388415" y="3701524"/>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cs typeface="Arial" panose="020B0604020202020204" pitchFamily="34" charset="0"/>
              </a:rPr>
              <a:t>s1</a:t>
            </a:r>
          </a:p>
        </p:txBody>
      </p:sp>
      <p:sp>
        <p:nvSpPr>
          <p:cNvPr id="71" name="TextBox 93"/>
          <p:cNvSpPr txBox="1">
            <a:spLocks noChangeArrowheads="1"/>
          </p:cNvSpPr>
          <p:nvPr/>
        </p:nvSpPr>
        <p:spPr bwMode="auto">
          <a:xfrm>
            <a:off x="6549003" y="3728512"/>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cs typeface="Arial" panose="020B0604020202020204" pitchFamily="34" charset="0"/>
              </a:rPr>
              <a:t>s2</a:t>
            </a:r>
          </a:p>
        </p:txBody>
      </p:sp>
      <p:sp>
        <p:nvSpPr>
          <p:cNvPr id="72" name="TextBox 94"/>
          <p:cNvSpPr txBox="1">
            <a:spLocks noChangeArrowheads="1"/>
          </p:cNvSpPr>
          <p:nvPr/>
        </p:nvSpPr>
        <p:spPr bwMode="auto">
          <a:xfrm>
            <a:off x="4605903" y="1920349"/>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cs typeface="Arial" panose="020B0604020202020204" pitchFamily="34" charset="0"/>
              </a:rPr>
              <a:t>s3</a:t>
            </a:r>
          </a:p>
        </p:txBody>
      </p:sp>
      <p:cxnSp>
        <p:nvCxnSpPr>
          <p:cNvPr id="73" name="Straight Connector 99"/>
          <p:cNvCxnSpPr>
            <a:cxnSpLocks noChangeShapeType="1"/>
          </p:cNvCxnSpPr>
          <p:nvPr/>
        </p:nvCxnSpPr>
        <p:spPr bwMode="auto">
          <a:xfrm>
            <a:off x="4445565" y="2623612"/>
            <a:ext cx="1392238" cy="219075"/>
          </a:xfrm>
          <a:prstGeom prst="line">
            <a:avLst/>
          </a:prstGeom>
          <a:noFill/>
          <a:ln w="12700">
            <a:solidFill>
              <a:srgbClr val="CC0000">
                <a:alpha val="50195"/>
              </a:srgbClr>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102"/>
          <p:cNvCxnSpPr>
            <a:cxnSpLocks noChangeShapeType="1"/>
          </p:cNvCxnSpPr>
          <p:nvPr/>
        </p:nvCxnSpPr>
        <p:spPr bwMode="auto">
          <a:xfrm>
            <a:off x="5923528" y="2906187"/>
            <a:ext cx="533400" cy="976312"/>
          </a:xfrm>
          <a:prstGeom prst="line">
            <a:avLst/>
          </a:prstGeom>
          <a:noFill/>
          <a:ln w="12700">
            <a:solidFill>
              <a:srgbClr val="CC0000">
                <a:alpha val="50195"/>
              </a:srgbClr>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 name="TextBox 108"/>
          <p:cNvSpPr txBox="1">
            <a:spLocks noChangeArrowheads="1"/>
          </p:cNvSpPr>
          <p:nvPr/>
        </p:nvSpPr>
        <p:spPr bwMode="auto">
          <a:xfrm>
            <a:off x="4216965" y="1925112"/>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a:t>
            </a:r>
          </a:p>
        </p:txBody>
      </p:sp>
      <p:sp>
        <p:nvSpPr>
          <p:cNvPr id="76" name="TextBox 109"/>
          <p:cNvSpPr txBox="1">
            <a:spLocks noChangeArrowheads="1"/>
          </p:cNvSpPr>
          <p:nvPr/>
        </p:nvSpPr>
        <p:spPr bwMode="auto">
          <a:xfrm>
            <a:off x="3748653" y="2171174"/>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2</a:t>
            </a:r>
          </a:p>
        </p:txBody>
      </p:sp>
      <p:sp>
        <p:nvSpPr>
          <p:cNvPr id="77" name="TextBox 110"/>
          <p:cNvSpPr txBox="1">
            <a:spLocks noChangeArrowheads="1"/>
          </p:cNvSpPr>
          <p:nvPr/>
        </p:nvSpPr>
        <p:spPr bwMode="auto">
          <a:xfrm>
            <a:off x="4116953" y="2542718"/>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3</a:t>
            </a:r>
          </a:p>
        </p:txBody>
      </p:sp>
      <p:sp>
        <p:nvSpPr>
          <p:cNvPr id="78" name="TextBox 111"/>
          <p:cNvSpPr txBox="1">
            <a:spLocks noChangeArrowheads="1"/>
          </p:cNvSpPr>
          <p:nvPr/>
        </p:nvSpPr>
        <p:spPr bwMode="auto">
          <a:xfrm>
            <a:off x="4594790" y="2439462"/>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4</a:t>
            </a:r>
          </a:p>
        </p:txBody>
      </p:sp>
      <p:sp>
        <p:nvSpPr>
          <p:cNvPr id="79" name="TextBox 112"/>
          <p:cNvSpPr txBox="1">
            <a:spLocks noChangeArrowheads="1"/>
          </p:cNvSpPr>
          <p:nvPr/>
        </p:nvSpPr>
        <p:spPr bwMode="auto">
          <a:xfrm>
            <a:off x="4120128" y="3758674"/>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a:t>
            </a:r>
          </a:p>
        </p:txBody>
      </p:sp>
      <p:sp>
        <p:nvSpPr>
          <p:cNvPr id="80" name="TextBox 113"/>
          <p:cNvSpPr txBox="1">
            <a:spLocks noChangeArrowheads="1"/>
          </p:cNvSpPr>
          <p:nvPr/>
        </p:nvSpPr>
        <p:spPr bwMode="auto">
          <a:xfrm>
            <a:off x="3762940" y="4028549"/>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2</a:t>
            </a:r>
          </a:p>
        </p:txBody>
      </p:sp>
      <p:sp>
        <p:nvSpPr>
          <p:cNvPr id="81" name="TextBox 114"/>
          <p:cNvSpPr txBox="1">
            <a:spLocks noChangeArrowheads="1"/>
          </p:cNvSpPr>
          <p:nvPr/>
        </p:nvSpPr>
        <p:spPr bwMode="auto">
          <a:xfrm>
            <a:off x="4145528" y="4376212"/>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3</a:t>
            </a:r>
          </a:p>
        </p:txBody>
      </p:sp>
      <p:sp>
        <p:nvSpPr>
          <p:cNvPr id="82" name="TextBox 115"/>
          <p:cNvSpPr txBox="1">
            <a:spLocks noChangeArrowheads="1"/>
          </p:cNvSpPr>
          <p:nvPr/>
        </p:nvSpPr>
        <p:spPr bwMode="auto">
          <a:xfrm>
            <a:off x="4653528" y="4188887"/>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4</a:t>
            </a:r>
          </a:p>
        </p:txBody>
      </p:sp>
      <p:sp>
        <p:nvSpPr>
          <p:cNvPr id="83" name="TextBox 117"/>
          <p:cNvSpPr txBox="1">
            <a:spLocks noChangeArrowheads="1"/>
          </p:cNvSpPr>
          <p:nvPr/>
        </p:nvSpPr>
        <p:spPr bwMode="auto">
          <a:xfrm>
            <a:off x="5910828" y="3841224"/>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a:t>
            </a:r>
          </a:p>
        </p:txBody>
      </p:sp>
      <p:sp>
        <p:nvSpPr>
          <p:cNvPr id="84" name="TextBox 118"/>
          <p:cNvSpPr txBox="1">
            <a:spLocks noChangeArrowheads="1"/>
          </p:cNvSpPr>
          <p:nvPr/>
        </p:nvSpPr>
        <p:spPr bwMode="auto">
          <a:xfrm>
            <a:off x="5882253" y="4188887"/>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2</a:t>
            </a:r>
          </a:p>
        </p:txBody>
      </p:sp>
      <p:sp>
        <p:nvSpPr>
          <p:cNvPr id="85" name="TextBox 119"/>
          <p:cNvSpPr txBox="1">
            <a:spLocks noChangeArrowheads="1"/>
          </p:cNvSpPr>
          <p:nvPr/>
        </p:nvSpPr>
        <p:spPr bwMode="auto">
          <a:xfrm>
            <a:off x="6248965" y="4393674"/>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3</a:t>
            </a:r>
          </a:p>
        </p:txBody>
      </p:sp>
      <p:sp>
        <p:nvSpPr>
          <p:cNvPr id="86" name="TextBox 120"/>
          <p:cNvSpPr txBox="1">
            <a:spLocks noChangeArrowheads="1"/>
          </p:cNvSpPr>
          <p:nvPr/>
        </p:nvSpPr>
        <p:spPr bwMode="auto">
          <a:xfrm>
            <a:off x="6807765" y="4146024"/>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4</a:t>
            </a:r>
          </a:p>
        </p:txBody>
      </p:sp>
      <p:sp>
        <p:nvSpPr>
          <p:cNvPr id="87" name="TextBox 150"/>
          <p:cNvSpPr txBox="1">
            <a:spLocks noChangeArrowheads="1"/>
          </p:cNvSpPr>
          <p:nvPr/>
        </p:nvSpPr>
        <p:spPr bwMode="auto">
          <a:xfrm>
            <a:off x="4568148" y="1418217"/>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MS PGothic"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10.3.0.6</a:t>
            </a:r>
          </a:p>
        </p:txBody>
      </p:sp>
      <p:grpSp>
        <p:nvGrpSpPr>
          <p:cNvPr id="88" name="Group 88"/>
          <p:cNvGrpSpPr/>
          <p:nvPr/>
        </p:nvGrpSpPr>
        <p:grpSpPr bwMode="auto">
          <a:xfrm>
            <a:off x="5499665" y="1613962"/>
            <a:ext cx="1270000" cy="1482725"/>
            <a:chOff x="5418667" y="1587500"/>
            <a:chExt cx="1270000" cy="1481667"/>
          </a:xfrm>
        </p:grpSpPr>
        <p:grpSp>
          <p:nvGrpSpPr>
            <p:cNvPr id="89" name="Group 79"/>
            <p:cNvGrpSpPr/>
            <p:nvPr/>
          </p:nvGrpSpPr>
          <p:grpSpPr bwMode="auto">
            <a:xfrm>
              <a:off x="5440087" y="1742411"/>
              <a:ext cx="1047344" cy="1163369"/>
              <a:chOff x="5440087" y="1742411"/>
              <a:chExt cx="1047344" cy="1163369"/>
            </a:xfrm>
          </p:grpSpPr>
          <p:grpSp>
            <p:nvGrpSpPr>
              <p:cNvPr id="91" name="Group 950"/>
              <p:cNvGrpSpPr/>
              <p:nvPr/>
            </p:nvGrpSpPr>
            <p:grpSpPr bwMode="auto">
              <a:xfrm>
                <a:off x="5838397" y="2273382"/>
                <a:ext cx="350328" cy="632398"/>
                <a:chOff x="4140" y="429"/>
                <a:chExt cx="1425" cy="2396"/>
              </a:xfrm>
            </p:grpSpPr>
            <p:sp>
              <p:nvSpPr>
                <p:cNvPr id="94" name="Freeform 951"/>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95"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6" name="Freeform 953"/>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97" name="Freeform 954"/>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98" name="Rectangle 955"/>
                <p:cNvSpPr>
                  <a:spLocks noChangeArrowheads="1"/>
                </p:cNvSpPr>
                <p:nvPr/>
              </p:nvSpPr>
              <p:spPr bwMode="auto">
                <a:xfrm>
                  <a:off x="4210" y="690"/>
                  <a:ext cx="598" cy="47"/>
                </a:xfrm>
                <a:prstGeom prst="rect">
                  <a:avLst/>
                </a:prstGeom>
                <a:solidFill>
                  <a:srgbClr val="000000"/>
                </a:solidFill>
                <a:ln w="9525">
                  <a:solidFill>
                    <a:srgbClr val="000000"/>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99" name="Group 956"/>
                <p:cNvGrpSpPr/>
                <p:nvPr/>
              </p:nvGrpSpPr>
              <p:grpSpPr bwMode="auto">
                <a:xfrm>
                  <a:off x="4749" y="668"/>
                  <a:ext cx="581" cy="145"/>
                  <a:chOff x="614" y="2568"/>
                  <a:chExt cx="725" cy="139"/>
                </a:xfrm>
              </p:grpSpPr>
              <p:sp>
                <p:nvSpPr>
                  <p:cNvPr id="124" name="AutoShape 957"/>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5"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00" name="Rectangle 959"/>
                <p:cNvSpPr>
                  <a:spLocks noChangeArrowheads="1"/>
                </p:cNvSpPr>
                <p:nvPr/>
              </p:nvSpPr>
              <p:spPr bwMode="auto">
                <a:xfrm>
                  <a:off x="4220" y="1022"/>
                  <a:ext cx="598" cy="47"/>
                </a:xfrm>
                <a:prstGeom prst="rect">
                  <a:avLst/>
                </a:prstGeom>
                <a:solidFill>
                  <a:srgbClr val="000000"/>
                </a:solidFill>
                <a:ln w="9525">
                  <a:solidFill>
                    <a:srgbClr val="000000"/>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960"/>
                <p:cNvGrpSpPr/>
                <p:nvPr/>
              </p:nvGrpSpPr>
              <p:grpSpPr bwMode="auto">
                <a:xfrm>
                  <a:off x="4747" y="994"/>
                  <a:ext cx="581" cy="134"/>
                  <a:chOff x="614" y="2568"/>
                  <a:chExt cx="725" cy="139"/>
                </a:xfrm>
              </p:grpSpPr>
              <p:sp>
                <p:nvSpPr>
                  <p:cNvPr id="122" name="AutoShape 961"/>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3"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02" name="Rectangle 963"/>
                <p:cNvSpPr>
                  <a:spLocks noChangeArrowheads="1"/>
                </p:cNvSpPr>
                <p:nvPr/>
              </p:nvSpPr>
              <p:spPr bwMode="auto">
                <a:xfrm>
                  <a:off x="4220" y="1354"/>
                  <a:ext cx="598" cy="47"/>
                </a:xfrm>
                <a:prstGeom prst="rect">
                  <a:avLst/>
                </a:prstGeom>
                <a:solidFill>
                  <a:srgbClr val="000000"/>
                </a:solidFill>
                <a:ln w="9525">
                  <a:solidFill>
                    <a:srgbClr val="000000"/>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3" name="Rectangle 964"/>
                <p:cNvSpPr>
                  <a:spLocks noChangeArrowheads="1"/>
                </p:cNvSpPr>
                <p:nvPr/>
              </p:nvSpPr>
              <p:spPr bwMode="auto">
                <a:xfrm>
                  <a:off x="4230" y="1655"/>
                  <a:ext cx="598" cy="47"/>
                </a:xfrm>
                <a:prstGeom prst="rect">
                  <a:avLst/>
                </a:prstGeom>
                <a:solidFill>
                  <a:srgbClr val="000000"/>
                </a:solidFill>
                <a:ln w="9525">
                  <a:solidFill>
                    <a:srgbClr val="000000"/>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4" name="Group 965"/>
                <p:cNvGrpSpPr/>
                <p:nvPr/>
              </p:nvGrpSpPr>
              <p:grpSpPr bwMode="auto">
                <a:xfrm>
                  <a:off x="4735" y="1627"/>
                  <a:ext cx="582" cy="151"/>
                  <a:chOff x="614" y="2568"/>
                  <a:chExt cx="725" cy="139"/>
                </a:xfrm>
              </p:grpSpPr>
              <p:sp>
                <p:nvSpPr>
                  <p:cNvPr id="120" name="AutoShape 966"/>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1"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05" name="Freeform 968"/>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nvGrpSpPr>
                <p:cNvPr id="106" name="Group 969"/>
                <p:cNvGrpSpPr/>
                <p:nvPr/>
              </p:nvGrpSpPr>
              <p:grpSpPr bwMode="auto">
                <a:xfrm>
                  <a:off x="4739" y="1327"/>
                  <a:ext cx="582" cy="139"/>
                  <a:chOff x="614" y="2568"/>
                  <a:chExt cx="725" cy="139"/>
                </a:xfrm>
              </p:grpSpPr>
              <p:sp>
                <p:nvSpPr>
                  <p:cNvPr id="118" name="AutoShape 970"/>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9"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07"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8" name="Freeform 973"/>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109" name="Freeform 974"/>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110"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1" name="Freeform 976"/>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112"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3" name="AutoShape 978"/>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4"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5"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6"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7" name="Rectangle 982"/>
                <p:cNvSpPr>
                  <a:spLocks noChangeArrowheads="1"/>
                </p:cNvSpPr>
                <p:nvPr/>
              </p:nvSpPr>
              <p:spPr bwMode="auto">
                <a:xfrm>
                  <a:off x="5067" y="1837"/>
                  <a:ext cx="80" cy="759"/>
                </a:xfrm>
                <a:prstGeom prst="rect">
                  <a:avLst/>
                </a:prstGeom>
                <a:solidFill>
                  <a:srgbClr val="292929"/>
                </a:solidFill>
                <a:ln w="9525">
                  <a:solidFill>
                    <a:srgbClr val="000000"/>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92"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149"/>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90" name="Rectangle 82"/>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14:hiddenLine>
              </a:ext>
            </a:extLst>
          </p:spPr>
          <p:txBody>
            <a:bodyPr wrap="none"/>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grpSp>
      <p:grpSp>
        <p:nvGrpSpPr>
          <p:cNvPr id="126" name="Group 315"/>
          <p:cNvGrpSpPr/>
          <p:nvPr/>
        </p:nvGrpSpPr>
        <p:grpSpPr>
          <a:xfrm>
            <a:off x="3968490" y="4005772"/>
            <a:ext cx="728870" cy="410817"/>
            <a:chOff x="7493876" y="2774731"/>
            <a:chExt cx="1481958" cy="894622"/>
          </a:xfrm>
          <a:effectLst>
            <a:outerShdw blurRad="50800" dist="38100" dir="18900000" algn="bl" rotWithShape="0">
              <a:prstClr val="black">
                <a:alpha val="40000"/>
              </a:prstClr>
            </a:outerShdw>
          </a:effectLst>
        </p:grpSpPr>
        <p:sp>
          <p:nvSpPr>
            <p:cNvPr id="127" name="Freeform 316"/>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8" name="Oval 317"/>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9" name="Group 318"/>
            <p:cNvGrpSpPr/>
            <p:nvPr/>
          </p:nvGrpSpPr>
          <p:grpSpPr>
            <a:xfrm>
              <a:off x="7713663" y="2848339"/>
              <a:ext cx="1042107" cy="425543"/>
              <a:chOff x="7786941" y="2884917"/>
              <a:chExt cx="897649" cy="353919"/>
            </a:xfrm>
          </p:grpSpPr>
          <p:sp>
            <p:nvSpPr>
              <p:cNvPr id="130" name="Freeform 319"/>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320"/>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Freeform 321"/>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322"/>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323"/>
          <p:cNvGrpSpPr/>
          <p:nvPr/>
        </p:nvGrpSpPr>
        <p:grpSpPr>
          <a:xfrm>
            <a:off x="6108716" y="4038902"/>
            <a:ext cx="728870" cy="410817"/>
            <a:chOff x="7493876" y="2774731"/>
            <a:chExt cx="1481958" cy="894622"/>
          </a:xfrm>
          <a:effectLst>
            <a:outerShdw blurRad="50800" dist="38100" dir="18900000" algn="bl" rotWithShape="0">
              <a:prstClr val="black">
                <a:alpha val="40000"/>
              </a:prstClr>
            </a:outerShdw>
          </a:effectLst>
        </p:grpSpPr>
        <p:sp>
          <p:nvSpPr>
            <p:cNvPr id="135" name="Freeform 324"/>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6" name="Oval 325"/>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7" name="Group 326"/>
            <p:cNvGrpSpPr/>
            <p:nvPr/>
          </p:nvGrpSpPr>
          <p:grpSpPr>
            <a:xfrm>
              <a:off x="7713663" y="2848339"/>
              <a:ext cx="1042107" cy="425543"/>
              <a:chOff x="7786941" y="2884917"/>
              <a:chExt cx="897649" cy="353919"/>
            </a:xfrm>
          </p:grpSpPr>
          <p:sp>
            <p:nvSpPr>
              <p:cNvPr id="138" name="Freeform 327"/>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Freeform 328"/>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329"/>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330"/>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 name="Group 331"/>
          <p:cNvGrpSpPr/>
          <p:nvPr/>
        </p:nvGrpSpPr>
        <p:grpSpPr>
          <a:xfrm>
            <a:off x="3981742" y="2163720"/>
            <a:ext cx="728870" cy="410817"/>
            <a:chOff x="7493876" y="2774731"/>
            <a:chExt cx="1481958" cy="894622"/>
          </a:xfrm>
          <a:effectLst>
            <a:outerShdw blurRad="50800" dist="38100" dir="18900000" algn="bl" rotWithShape="0">
              <a:prstClr val="black">
                <a:alpha val="40000"/>
              </a:prstClr>
            </a:outerShdw>
          </a:effectLst>
        </p:grpSpPr>
        <p:sp>
          <p:nvSpPr>
            <p:cNvPr id="143" name="Freeform 332"/>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4" name="Oval 333"/>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5" name="Group 334"/>
            <p:cNvGrpSpPr/>
            <p:nvPr/>
          </p:nvGrpSpPr>
          <p:grpSpPr>
            <a:xfrm>
              <a:off x="7713663" y="2848339"/>
              <a:ext cx="1042107" cy="425543"/>
              <a:chOff x="7786941" y="2884917"/>
              <a:chExt cx="897649" cy="353919"/>
            </a:xfrm>
          </p:grpSpPr>
          <p:sp>
            <p:nvSpPr>
              <p:cNvPr id="146" name="Freeform 335"/>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Freeform 336"/>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Freeform 337"/>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Freeform 338"/>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50" name="TextBox 211"/>
          <p:cNvSpPr txBox="1">
            <a:spLocks noChangeArrowheads="1"/>
          </p:cNvSpPr>
          <p:nvPr/>
        </p:nvSpPr>
        <p:spPr bwMode="auto">
          <a:xfrm>
            <a:off x="7172993" y="1613962"/>
            <a:ext cx="4509274" cy="120032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just" defTabSz="914400" rtl="0" eaLnBrk="1" fontAlgn="auto" latinLnBrk="0" hangingPunct="1">
              <a:lnSpc>
                <a:spcPct val="100000"/>
              </a:lnSpc>
              <a:spcBef>
                <a:spcPts val="0"/>
              </a:spcBef>
              <a:spcAft>
                <a:spcPts val="0"/>
              </a:spcAft>
              <a:buClrTx/>
              <a:buSzTx/>
              <a:buFontTx/>
              <a:buNone/>
              <a:defRPr/>
            </a:pP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数据报从</a:t>
            </a:r>
            <a:r>
              <a:rPr kumimoji="0" lang="en-US"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 h5 </a:t>
            </a: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和</a:t>
            </a:r>
            <a:r>
              <a:rPr kumimoji="0" lang="en-US"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 h6</a:t>
            </a: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发出，发往</a:t>
            </a:r>
            <a:r>
              <a:rPr kumimoji="0" lang="en-US"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h3 </a:t>
            </a: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和</a:t>
            </a:r>
            <a:r>
              <a:rPr kumimoji="0" lang="en-US"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 h4</a:t>
            </a: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。但指定路径，为</a:t>
            </a:r>
            <a:r>
              <a:rPr kumimoji="0" lang="en-US" altLang="zh-CN"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S3-&gt;S1-&gt;S2</a:t>
            </a:r>
          </a:p>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这种配置是</a:t>
            </a:r>
            <a:r>
              <a:rPr lang="en-US" altLang="zh-CN" dirty="0">
                <a:solidFill>
                  <a:prstClr val="black"/>
                </a:solidFill>
                <a:latin typeface="Calibri" panose="020F0502020204030204"/>
              </a:rPr>
              <a:t>OSPF</a:t>
            </a:r>
            <a:r>
              <a:rPr kumimoji="0" lang="zh-CN"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做不了的</a:t>
            </a:r>
            <a:r>
              <a:rPr kumimoji="0" lang="en-US" altLang="zh-CN"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a:t>
            </a:r>
            <a:endParaRPr kumimoji="0" lang="en-US" altLang="en-US"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endParaRPr>
          </a:p>
        </p:txBody>
      </p:sp>
      <p:sp>
        <p:nvSpPr>
          <p:cNvPr id="151" name="文本框 150">
            <a:extLst>
              <a:ext uri="{FF2B5EF4-FFF2-40B4-BE49-F238E27FC236}">
                <a16:creationId xmlns:a16="http://schemas.microsoft.com/office/drawing/2014/main" id="{E5BB1CE8-9407-4718-BC8C-31E2BF86D0D5}"/>
              </a:ext>
            </a:extLst>
          </p:cNvPr>
          <p:cNvSpPr txBox="1"/>
          <p:nvPr/>
        </p:nvSpPr>
        <p:spPr>
          <a:xfrm>
            <a:off x="0" y="6492874"/>
            <a:ext cx="1952032" cy="338554"/>
          </a:xfrm>
          <a:prstGeom prst="rect">
            <a:avLst/>
          </a:prstGeom>
          <a:noFill/>
        </p:spPr>
        <p:txBody>
          <a:bodyPr wrap="square" rtlCol="0">
            <a:spAutoFit/>
          </a:bodyPr>
          <a:lstStyle/>
          <a:p>
            <a:r>
              <a:rPr lang="en-US" altLang="zh-CN" sz="1600" dirty="0">
                <a:solidFill>
                  <a:schemeClr val="bg1">
                    <a:lumMod val="65000"/>
                  </a:schemeClr>
                </a:solidFill>
                <a:latin typeface="微软雅黑" panose="020B0503020204020204" pitchFamily="34" charset="-122"/>
                <a:ea typeface="微软雅黑" panose="020B0503020204020204" pitchFamily="34" charset="-122"/>
              </a:rPr>
              <a:t>4.5 OpenFlow</a:t>
            </a:r>
            <a:r>
              <a:rPr lang="zh-CN" altLang="en-US" sz="1600" dirty="0">
                <a:solidFill>
                  <a:schemeClr val="bg1">
                    <a:lumMod val="65000"/>
                  </a:schemeClr>
                </a:solidFill>
                <a:latin typeface="微软雅黑" panose="020B0503020204020204" pitchFamily="34" charset="-122"/>
                <a:ea typeface="微软雅黑" panose="020B0503020204020204" pitchFamily="34" charset="-122"/>
              </a:rPr>
              <a:t>例子</a:t>
            </a:r>
          </a:p>
        </p:txBody>
      </p:sp>
      <p:sp>
        <p:nvSpPr>
          <p:cNvPr id="152" name="矩形 151">
            <a:extLst>
              <a:ext uri="{FF2B5EF4-FFF2-40B4-BE49-F238E27FC236}">
                <a16:creationId xmlns:a16="http://schemas.microsoft.com/office/drawing/2014/main" id="{D4E7D163-33FF-470F-BFE4-2EA5C137929B}"/>
              </a:ext>
            </a:extLst>
          </p:cNvPr>
          <p:cNvSpPr/>
          <p:nvPr/>
        </p:nvSpPr>
        <p:spPr>
          <a:xfrm>
            <a:off x="2356024" y="6530530"/>
            <a:ext cx="9180728" cy="415498"/>
          </a:xfrm>
          <a:prstGeom prst="rect">
            <a:avLst/>
          </a:prstGeom>
        </p:spPr>
        <p:txBody>
          <a:bodyPr wrap="square">
            <a:spAutoFit/>
          </a:bodyPr>
          <a:lstStyle/>
          <a:p>
            <a:r>
              <a:rPr lang="zh-CN" altLang="en-US" sz="1050" dirty="0">
                <a:solidFill>
                  <a:schemeClr val="tx1">
                    <a:lumMod val="50000"/>
                    <a:lumOff val="50000"/>
                  </a:schemeClr>
                </a:solidFill>
                <a:latin typeface="微软雅黑" panose="020B0503020204020204" pitchFamily="34" charset="-122"/>
                <a:ea typeface="微软雅黑" panose="020B0503020204020204" pitchFamily="34" charset="-122"/>
              </a:rPr>
              <a:t>引自</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计算机网络：自顶向下方法</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原书第</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7</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版</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，库罗斯 罗斯，机械工业出版社，</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2018</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年</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06</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月</a:t>
            </a:r>
          </a:p>
          <a:p>
            <a:endParaRPr lang="zh-CN" altLang="en-US" sz="1050"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349206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dissolve">
                                      <p:cBhvr>
                                        <p:cTn id="1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OpenFlow</a:t>
            </a:r>
            <a:r>
              <a:rPr lang="zh-CN" altLang="en-US" dirty="0"/>
              <a:t>转发表配置例子</a:t>
            </a:r>
          </a:p>
        </p:txBody>
      </p:sp>
      <p:sp>
        <p:nvSpPr>
          <p:cNvPr id="3" name="内容占位符 2"/>
          <p:cNvSpPr>
            <a:spLocks noGrp="1"/>
          </p:cNvSpPr>
          <p:nvPr>
            <p:ph idx="1"/>
          </p:nvPr>
        </p:nvSpPr>
        <p:spPr>
          <a:xfrm>
            <a:off x="685558" y="1825887"/>
            <a:ext cx="10515600" cy="4586694"/>
          </a:xfrm>
        </p:spPr>
        <p:txBody>
          <a:bodyPr/>
          <a:lstStyle/>
          <a:p>
            <a:endParaRPr lang="zh-CN" altLang="en-US" dirty="0"/>
          </a:p>
        </p:txBody>
      </p:sp>
      <p:sp>
        <p:nvSpPr>
          <p:cNvPr id="4" name="灯片编号占位符 3"/>
          <p:cNvSpPr>
            <a:spLocks noGrp="1"/>
          </p:cNvSpPr>
          <p:nvPr>
            <p:ph type="sldNum" sz="quarter" idx="12"/>
          </p:nvPr>
        </p:nvSpPr>
        <p:spPr>
          <a:xfrm>
            <a:off x="8610600" y="6711950"/>
            <a:ext cx="2743200" cy="365125"/>
          </a:xfrm>
        </p:spPr>
        <p:txBody>
          <a:bodyPr/>
          <a:lstStyle/>
          <a:p>
            <a:fld id="{8D4D1E41-7A09-AB4A-A4E1-09765ADA2698}" type="slidenum">
              <a:rPr kumimoji="1" lang="zh-CN" altLang="en-US" smtClean="0"/>
              <a:pPr/>
              <a:t>111</a:t>
            </a:fld>
            <a:endParaRPr kumimoji="1" lang="zh-CN" altLang="en-US" dirty="0"/>
          </a:p>
        </p:txBody>
      </p:sp>
      <p:sp>
        <p:nvSpPr>
          <p:cNvPr id="5" name="Rectangle 2"/>
          <p:cNvSpPr/>
          <p:nvPr/>
        </p:nvSpPr>
        <p:spPr bwMode="auto">
          <a:xfrm>
            <a:off x="1089377" y="2549593"/>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IP datagrams destined to IP address  51.6.0.8 should be forwarded to router output port 6 </a:t>
            </a:r>
          </a:p>
        </p:txBody>
      </p:sp>
      <p:sp>
        <p:nvSpPr>
          <p:cNvPr id="6" name="Rectangle 2"/>
          <p:cNvSpPr/>
          <p:nvPr/>
        </p:nvSpPr>
        <p:spPr bwMode="auto">
          <a:xfrm>
            <a:off x="1209409" y="4111038"/>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MS PGothic"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 port #)</a:t>
            </a:r>
          </a:p>
        </p:txBody>
      </p:sp>
      <p:grpSp>
        <p:nvGrpSpPr>
          <p:cNvPr id="8" name="Group 3"/>
          <p:cNvGrpSpPr/>
          <p:nvPr/>
        </p:nvGrpSpPr>
        <p:grpSpPr>
          <a:xfrm>
            <a:off x="1134065" y="1294616"/>
            <a:ext cx="8825324" cy="1339207"/>
            <a:chOff x="899508" y="1408083"/>
            <a:chExt cx="8825324" cy="1339207"/>
          </a:xfrm>
        </p:grpSpPr>
        <p:sp>
          <p:nvSpPr>
            <p:cNvPr id="9" name="Rectangle 2"/>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defRPr/>
              </a:pP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MS PGothic" panose="020B0600070205080204" pitchFamily="34" charset="-128"/>
                  <a:cs typeface="+mn-cs"/>
                </a:rPr>
                <a:t>Destination-based forwarding:</a:t>
              </a:r>
            </a:p>
          </p:txBody>
        </p:sp>
        <p:sp>
          <p:nvSpPr>
            <p:cNvPr id="10" name="Rectangle 3"/>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1" name="Rectangle 27"/>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2" name="Rectangle 28"/>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3" name="Rectangle 29"/>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4" name="Rectangle 30"/>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5" name="Rectangle 31"/>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6" name="Rectangle 32"/>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51.6.0.8</a:t>
              </a:r>
            </a:p>
          </p:txBody>
        </p:sp>
        <p:sp>
          <p:nvSpPr>
            <p:cNvPr id="17" name="Rectangle 33"/>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 name="Rectangle 34"/>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9" name="Rectangle 35"/>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20" name="Rectangle 36"/>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port6</a:t>
              </a:r>
            </a:p>
          </p:txBody>
        </p:sp>
        <p:grpSp>
          <p:nvGrpSpPr>
            <p:cNvPr id="21" name="Group 1"/>
            <p:cNvGrpSpPr/>
            <p:nvPr/>
          </p:nvGrpSpPr>
          <p:grpSpPr>
            <a:xfrm>
              <a:off x="908298" y="1842896"/>
              <a:ext cx="8816534" cy="537306"/>
              <a:chOff x="908298" y="1842896"/>
              <a:chExt cx="8816534" cy="537306"/>
            </a:xfrm>
          </p:grpSpPr>
          <p:sp>
            <p:nvSpPr>
              <p:cNvPr id="24" name="Rectangle 5"/>
              <p:cNvSpPr/>
              <p:nvPr/>
            </p:nvSpPr>
            <p:spPr bwMode="auto">
              <a:xfrm>
                <a:off x="916112" y="1847978"/>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5" name="Rectangle 6"/>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Port</a:t>
                </a:r>
              </a:p>
            </p:txBody>
          </p:sp>
          <p:sp>
            <p:nvSpPr>
              <p:cNvPr id="26" name="Rectangle 7"/>
              <p:cNvSpPr/>
              <p:nvPr/>
            </p:nvSpPr>
            <p:spPr bwMode="auto">
              <a:xfrm>
                <a:off x="1576944"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7" name="Rectangle 8"/>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8" name="Rectangle 9"/>
              <p:cNvSpPr/>
              <p:nvPr/>
            </p:nvSpPr>
            <p:spPr bwMode="auto">
              <a:xfrm>
                <a:off x="2238892"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9" name="Rectangle 10"/>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0" name="Rectangle 11"/>
              <p:cNvSpPr/>
              <p:nvPr/>
            </p:nvSpPr>
            <p:spPr bwMode="auto">
              <a:xfrm>
                <a:off x="2908654"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1" name="Rectangle 12"/>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type</a:t>
                </a:r>
              </a:p>
            </p:txBody>
          </p:sp>
          <p:sp>
            <p:nvSpPr>
              <p:cNvPr id="32" name="Rectangle 13"/>
              <p:cNvSpPr/>
              <p:nvPr/>
            </p:nvSpPr>
            <p:spPr bwMode="auto">
              <a:xfrm>
                <a:off x="3570602"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3" name="Rectangle 14"/>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ID</a:t>
                </a:r>
              </a:p>
            </p:txBody>
          </p:sp>
          <p:sp>
            <p:nvSpPr>
              <p:cNvPr id="34" name="Rectangle 15"/>
              <p:cNvSpPr/>
              <p:nvPr/>
            </p:nvSpPr>
            <p:spPr bwMode="auto">
              <a:xfrm>
                <a:off x="4898598"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5" name="Rectangle 16"/>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6" name="Rectangle 17"/>
              <p:cNvSpPr/>
              <p:nvPr/>
            </p:nvSpPr>
            <p:spPr bwMode="auto">
              <a:xfrm>
                <a:off x="5568360"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7" name="Rectangle 18"/>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8" name="Rectangle 19"/>
              <p:cNvSpPr/>
              <p:nvPr/>
            </p:nvSpPr>
            <p:spPr bwMode="auto">
              <a:xfrm>
                <a:off x="6230308" y="1847978"/>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39" name="Rectangle 20"/>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0" name="Rectangle 21"/>
              <p:cNvSpPr/>
              <p:nvPr/>
            </p:nvSpPr>
            <p:spPr bwMode="auto">
              <a:xfrm>
                <a:off x="7551454" y="185495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1" name="Rectangle 22"/>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s-port</a:t>
                </a:r>
              </a:p>
            </p:txBody>
          </p:sp>
          <p:sp>
            <p:nvSpPr>
              <p:cNvPr id="42" name="Rectangle 23"/>
              <p:cNvSpPr/>
              <p:nvPr/>
            </p:nvSpPr>
            <p:spPr bwMode="auto">
              <a:xfrm>
                <a:off x="8221216" y="185495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3" name="Rectangle 24"/>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d-port</a:t>
                </a:r>
              </a:p>
            </p:txBody>
          </p:sp>
          <p:sp>
            <p:nvSpPr>
              <p:cNvPr id="44" name="Rectangle 25"/>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5" name="Rectangle 26"/>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Action</a:t>
                </a:r>
              </a:p>
            </p:txBody>
          </p:sp>
          <p:sp>
            <p:nvSpPr>
              <p:cNvPr id="46" name="Rectangle 13"/>
              <p:cNvSpPr/>
              <p:nvPr/>
            </p:nvSpPr>
            <p:spPr bwMode="auto">
              <a:xfrm>
                <a:off x="4231002" y="1846643"/>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7" name="Rectangle 14"/>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8" name="Rectangle 19"/>
              <p:cNvSpPr/>
              <p:nvPr/>
            </p:nvSpPr>
            <p:spPr bwMode="auto">
              <a:xfrm>
                <a:off x="6890708" y="1853623"/>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49" name="Rectangle 20"/>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grpSp>
        <p:sp>
          <p:nvSpPr>
            <p:cNvPr id="22" name="Rectangle 35"/>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23" name="Rectangle 31"/>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grpSp>
      <p:grpSp>
        <p:nvGrpSpPr>
          <p:cNvPr id="50" name="Group 2"/>
          <p:cNvGrpSpPr/>
          <p:nvPr/>
        </p:nvGrpSpPr>
        <p:grpSpPr>
          <a:xfrm>
            <a:off x="1156439" y="2968661"/>
            <a:ext cx="8816534" cy="1300203"/>
            <a:chOff x="914400" y="3409942"/>
            <a:chExt cx="8816534" cy="1300203"/>
          </a:xfrm>
        </p:grpSpPr>
        <p:sp>
          <p:nvSpPr>
            <p:cNvPr id="51" name="Rectangle 3"/>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2" name="Rectangle 27"/>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3" name="Rectangle 28"/>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4" name="Rectangle 29"/>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5" name="Rectangle 30"/>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6" name="Rectangle 31"/>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7" name="Rectangle 32"/>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8" name="Rectangle 33"/>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59" name="Rectangle 34"/>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60" name="Rectangle 35"/>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61" name="Rectangle 2"/>
            <p:cNvSpPr/>
            <p:nvPr/>
          </p:nvSpPr>
          <p:spPr bwMode="auto">
            <a:xfrm>
              <a:off x="953839" y="3409942"/>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defRPr/>
              </a:pP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MS PGothic" panose="020B0600070205080204" pitchFamily="34" charset="-128"/>
                  <a:cs typeface="+mn-cs"/>
                </a:rPr>
                <a:t>Firewall:</a:t>
              </a:r>
            </a:p>
          </p:txBody>
        </p:sp>
        <p:sp>
          <p:nvSpPr>
            <p:cNvPr id="62" name="Rectangle 36"/>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drop</a:t>
              </a:r>
            </a:p>
          </p:txBody>
        </p:sp>
        <p:grpSp>
          <p:nvGrpSpPr>
            <p:cNvPr id="63" name="Group 150"/>
            <p:cNvGrpSpPr/>
            <p:nvPr/>
          </p:nvGrpSpPr>
          <p:grpSpPr>
            <a:xfrm>
              <a:off x="914400" y="3811396"/>
              <a:ext cx="8816534" cy="537306"/>
              <a:chOff x="908298" y="1842896"/>
              <a:chExt cx="8816534" cy="537306"/>
            </a:xfrm>
          </p:grpSpPr>
          <p:sp>
            <p:nvSpPr>
              <p:cNvPr id="66" name="Rectangle 5"/>
              <p:cNvSpPr/>
              <p:nvPr/>
            </p:nvSpPr>
            <p:spPr bwMode="auto">
              <a:xfrm>
                <a:off x="916112" y="1847978"/>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67" name="Rectangle 6"/>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Port</a:t>
                </a:r>
              </a:p>
            </p:txBody>
          </p:sp>
          <p:sp>
            <p:nvSpPr>
              <p:cNvPr id="68" name="Rectangle 7"/>
              <p:cNvSpPr/>
              <p:nvPr/>
            </p:nvSpPr>
            <p:spPr bwMode="auto">
              <a:xfrm>
                <a:off x="1576944"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69" name="Rectangle 8"/>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0" name="Rectangle 9"/>
              <p:cNvSpPr/>
              <p:nvPr/>
            </p:nvSpPr>
            <p:spPr bwMode="auto">
              <a:xfrm>
                <a:off x="2238892"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1" name="Rectangle 10"/>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2" name="Rectangle 11"/>
              <p:cNvSpPr/>
              <p:nvPr/>
            </p:nvSpPr>
            <p:spPr bwMode="auto">
              <a:xfrm>
                <a:off x="2908654"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3" name="Rectangle 12"/>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type</a:t>
                </a:r>
              </a:p>
            </p:txBody>
          </p:sp>
          <p:sp>
            <p:nvSpPr>
              <p:cNvPr id="74" name="Rectangle 13"/>
              <p:cNvSpPr/>
              <p:nvPr/>
            </p:nvSpPr>
            <p:spPr bwMode="auto">
              <a:xfrm>
                <a:off x="3570602"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5" name="Rectangle 14"/>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ID</a:t>
                </a:r>
              </a:p>
            </p:txBody>
          </p:sp>
          <p:sp>
            <p:nvSpPr>
              <p:cNvPr id="76" name="Rectangle 15"/>
              <p:cNvSpPr/>
              <p:nvPr/>
            </p:nvSpPr>
            <p:spPr bwMode="auto">
              <a:xfrm>
                <a:off x="4898598"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7" name="Rectangle 16"/>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8" name="Rectangle 17"/>
              <p:cNvSpPr/>
              <p:nvPr/>
            </p:nvSpPr>
            <p:spPr bwMode="auto">
              <a:xfrm>
                <a:off x="5568360"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79" name="Rectangle 18"/>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0" name="Rectangle 19"/>
              <p:cNvSpPr/>
              <p:nvPr/>
            </p:nvSpPr>
            <p:spPr bwMode="auto">
              <a:xfrm>
                <a:off x="6230308" y="1847978"/>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1" name="Rectangle 20"/>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2" name="Rectangle 21"/>
              <p:cNvSpPr/>
              <p:nvPr/>
            </p:nvSpPr>
            <p:spPr bwMode="auto">
              <a:xfrm>
                <a:off x="7551454" y="185495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3" name="Rectangle 22"/>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s-port</a:t>
                </a:r>
              </a:p>
            </p:txBody>
          </p:sp>
          <p:sp>
            <p:nvSpPr>
              <p:cNvPr id="84" name="Rectangle 23"/>
              <p:cNvSpPr/>
              <p:nvPr/>
            </p:nvSpPr>
            <p:spPr bwMode="auto">
              <a:xfrm>
                <a:off x="8221216" y="185495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5" name="Rectangle 24"/>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d-port</a:t>
                </a:r>
              </a:p>
            </p:txBody>
          </p:sp>
          <p:sp>
            <p:nvSpPr>
              <p:cNvPr id="86" name="Rectangle 25"/>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7" name="Rectangle 26"/>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Action</a:t>
                </a:r>
              </a:p>
            </p:txBody>
          </p:sp>
          <p:sp>
            <p:nvSpPr>
              <p:cNvPr id="88" name="Rectangle 13"/>
              <p:cNvSpPr/>
              <p:nvPr/>
            </p:nvSpPr>
            <p:spPr bwMode="auto">
              <a:xfrm>
                <a:off x="4231002" y="1846643"/>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89" name="Rectangle 14"/>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90" name="Rectangle 19"/>
              <p:cNvSpPr/>
              <p:nvPr/>
            </p:nvSpPr>
            <p:spPr bwMode="auto">
              <a:xfrm>
                <a:off x="6890708" y="1853623"/>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91" name="Rectangle 20"/>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grpSp>
        <p:sp>
          <p:nvSpPr>
            <p:cNvPr id="64" name="Rectangle 35"/>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22</a:t>
              </a:r>
            </a:p>
          </p:txBody>
        </p:sp>
        <p:sp>
          <p:nvSpPr>
            <p:cNvPr id="65" name="Rectangle 32"/>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grpSp>
      <p:sp>
        <p:nvSpPr>
          <p:cNvPr id="177" name="Rectangle 2"/>
          <p:cNvSpPr/>
          <p:nvPr/>
        </p:nvSpPr>
        <p:spPr bwMode="auto">
          <a:xfrm>
            <a:off x="1164253" y="4638233"/>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defRPr/>
            </a:pP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MS PGothic" panose="020B0600070205080204" pitchFamily="34" charset="-128"/>
                <a:cs typeface="+mn-cs"/>
              </a:rPr>
              <a:t>Layer 2 destination-based forwarding:</a:t>
            </a:r>
          </a:p>
        </p:txBody>
      </p:sp>
      <p:sp>
        <p:nvSpPr>
          <p:cNvPr id="178" name="Rectangle 2"/>
          <p:cNvSpPr/>
          <p:nvPr/>
        </p:nvSpPr>
        <p:spPr bwMode="auto">
          <a:xfrm>
            <a:off x="1134065" y="5979304"/>
            <a:ext cx="108848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mn-cs"/>
              </a:rPr>
              <a:t>layer 2 frames with destination  MAC address 22:A7:23:11:E1:02 should be forwarded to output port 3 </a:t>
            </a:r>
          </a:p>
        </p:txBody>
      </p:sp>
      <p:grpSp>
        <p:nvGrpSpPr>
          <p:cNvPr id="179" name="Group 118"/>
          <p:cNvGrpSpPr/>
          <p:nvPr/>
        </p:nvGrpSpPr>
        <p:grpSpPr>
          <a:xfrm>
            <a:off x="908637" y="5598043"/>
            <a:ext cx="8729763" cy="396694"/>
            <a:chOff x="685800" y="2252402"/>
            <a:chExt cx="8729763" cy="396694"/>
          </a:xfrm>
        </p:grpSpPr>
        <p:sp>
          <p:nvSpPr>
            <p:cNvPr id="180" name="Rectangle 3"/>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1" name="Rectangle 28"/>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2" name="Rectangle 29"/>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3" name="Rectangle 30"/>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4" name="Rectangle 31"/>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5" name="Rectangle 32"/>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6" name="Rectangle 33"/>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7" name="Rectangle 34"/>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8" name="Rectangle 35"/>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89" name="Rectangle 36"/>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port3</a:t>
              </a:r>
            </a:p>
          </p:txBody>
        </p:sp>
        <p:sp>
          <p:nvSpPr>
            <p:cNvPr id="190" name="Rectangle 28"/>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11:E1:02</a:t>
              </a:r>
            </a:p>
          </p:txBody>
        </p:sp>
        <p:sp>
          <p:nvSpPr>
            <p:cNvPr id="191" name="Rectangle 35"/>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sp>
          <p:nvSpPr>
            <p:cNvPr id="192" name="Rectangle 35"/>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t>
              </a:r>
            </a:p>
          </p:txBody>
        </p:sp>
      </p:grpSp>
      <p:grpSp>
        <p:nvGrpSpPr>
          <p:cNvPr id="193" name="Group 41"/>
          <p:cNvGrpSpPr/>
          <p:nvPr/>
        </p:nvGrpSpPr>
        <p:grpSpPr>
          <a:xfrm>
            <a:off x="1164253" y="5076291"/>
            <a:ext cx="8816534" cy="537306"/>
            <a:chOff x="908298" y="1842896"/>
            <a:chExt cx="8816534" cy="537306"/>
          </a:xfrm>
        </p:grpSpPr>
        <p:sp>
          <p:nvSpPr>
            <p:cNvPr id="194" name="Rectangle 5"/>
            <p:cNvSpPr/>
            <p:nvPr/>
          </p:nvSpPr>
          <p:spPr bwMode="auto">
            <a:xfrm>
              <a:off x="916112" y="1847978"/>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195" name="Rectangle 6"/>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Port</a:t>
              </a:r>
            </a:p>
          </p:txBody>
        </p:sp>
        <p:sp>
          <p:nvSpPr>
            <p:cNvPr id="196" name="Rectangle 7"/>
            <p:cNvSpPr/>
            <p:nvPr/>
          </p:nvSpPr>
          <p:spPr bwMode="auto">
            <a:xfrm>
              <a:off x="1576944"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197" name="Rectangle 8"/>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198" name="Rectangle 9"/>
            <p:cNvSpPr/>
            <p:nvPr/>
          </p:nvSpPr>
          <p:spPr bwMode="auto">
            <a:xfrm>
              <a:off x="2238892"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199" name="Rectangle 10"/>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0" name="Rectangle 11"/>
            <p:cNvSpPr/>
            <p:nvPr/>
          </p:nvSpPr>
          <p:spPr bwMode="auto">
            <a:xfrm>
              <a:off x="2908654"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1" name="Rectangle 12"/>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type</a:t>
              </a:r>
            </a:p>
          </p:txBody>
        </p:sp>
        <p:sp>
          <p:nvSpPr>
            <p:cNvPr id="202" name="Rectangle 13"/>
            <p:cNvSpPr/>
            <p:nvPr/>
          </p:nvSpPr>
          <p:spPr bwMode="auto">
            <a:xfrm>
              <a:off x="3570602"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3" name="Rectangle 14"/>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ID</a:t>
              </a:r>
            </a:p>
          </p:txBody>
        </p:sp>
        <p:sp>
          <p:nvSpPr>
            <p:cNvPr id="204" name="Rectangle 15"/>
            <p:cNvSpPr/>
            <p:nvPr/>
          </p:nvSpPr>
          <p:spPr bwMode="auto">
            <a:xfrm>
              <a:off x="4898598"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5" name="Rectangle 16"/>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6" name="Rectangle 17"/>
            <p:cNvSpPr/>
            <p:nvPr/>
          </p:nvSpPr>
          <p:spPr bwMode="auto">
            <a:xfrm>
              <a:off x="5568360" y="184797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7" name="Rectangle 18"/>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8" name="Rectangle 19"/>
            <p:cNvSpPr/>
            <p:nvPr/>
          </p:nvSpPr>
          <p:spPr bwMode="auto">
            <a:xfrm>
              <a:off x="6230308" y="1847978"/>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09" name="Rectangle 20"/>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0" name="Rectangle 21"/>
            <p:cNvSpPr/>
            <p:nvPr/>
          </p:nvSpPr>
          <p:spPr bwMode="auto">
            <a:xfrm>
              <a:off x="7551454" y="185495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1" name="Rectangle 22"/>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s-port</a:t>
              </a:r>
            </a:p>
          </p:txBody>
        </p:sp>
        <p:sp>
          <p:nvSpPr>
            <p:cNvPr id="212" name="Rectangle 23"/>
            <p:cNvSpPr/>
            <p:nvPr/>
          </p:nvSpPr>
          <p:spPr bwMode="auto">
            <a:xfrm>
              <a:off x="8221216" y="1854958"/>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3" name="Rectangle 24"/>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d-port</a:t>
              </a:r>
            </a:p>
          </p:txBody>
        </p:sp>
        <p:sp>
          <p:nvSpPr>
            <p:cNvPr id="214" name="Rectangle 25"/>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5" name="Rectangle 26"/>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Action</a:t>
              </a:r>
            </a:p>
          </p:txBody>
        </p:sp>
        <p:sp>
          <p:nvSpPr>
            <p:cNvPr id="216" name="Rectangle 13"/>
            <p:cNvSpPr/>
            <p:nvPr/>
          </p:nvSpPr>
          <p:spPr bwMode="auto">
            <a:xfrm>
              <a:off x="4231002" y="1846643"/>
              <a:ext cx="661948"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7" name="Rectangle 14"/>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8" name="Rectangle 19"/>
            <p:cNvSpPr/>
            <p:nvPr/>
          </p:nvSpPr>
          <p:spPr bwMode="auto">
            <a:xfrm>
              <a:off x="6890708" y="1853623"/>
              <a:ext cx="660832" cy="487849"/>
            </a:xfrm>
            <a:prstGeom prst="rect">
              <a:avLst/>
            </a:prstGeom>
            <a:solidFill>
              <a:srgbClr val="BBE0E3"/>
            </a:solidFill>
            <a:ln w="12700">
              <a:solidFill>
                <a:schemeClr val="tx1"/>
              </a:solidFill>
              <a:miter lim="800000"/>
            </a:ln>
          </p:spPr>
          <p:txBody>
            <a:bodyPr lIns="0" tIns="0" rIns="0" bIns="0"/>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
          <p:nvSpPr>
            <p:cNvPr id="219" name="Rectangle 20"/>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MS PGothic"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MS PGothic" panose="020B0600070205080204" pitchFamily="34" charset="-128"/>
                <a:cs typeface="+mn-cs"/>
              </a:endParaRPr>
            </a:p>
          </p:txBody>
        </p:sp>
      </p:grpSp>
      <p:sp>
        <p:nvSpPr>
          <p:cNvPr id="134" name="文本框 133">
            <a:extLst>
              <a:ext uri="{FF2B5EF4-FFF2-40B4-BE49-F238E27FC236}">
                <a16:creationId xmlns:a16="http://schemas.microsoft.com/office/drawing/2014/main" id="{485ECEA1-8E6F-409F-BB36-AB6730D0907E}"/>
              </a:ext>
            </a:extLst>
          </p:cNvPr>
          <p:cNvSpPr txBox="1"/>
          <p:nvPr/>
        </p:nvSpPr>
        <p:spPr>
          <a:xfrm>
            <a:off x="0" y="6530600"/>
            <a:ext cx="1952032" cy="338554"/>
          </a:xfrm>
          <a:prstGeom prst="rect">
            <a:avLst/>
          </a:prstGeom>
          <a:noFill/>
        </p:spPr>
        <p:txBody>
          <a:bodyPr wrap="square" rtlCol="0">
            <a:spAutoFit/>
          </a:bodyPr>
          <a:lstStyle/>
          <a:p>
            <a:r>
              <a:rPr lang="en-US" altLang="zh-CN" sz="1600" dirty="0">
                <a:solidFill>
                  <a:schemeClr val="bg1">
                    <a:lumMod val="65000"/>
                  </a:schemeClr>
                </a:solidFill>
                <a:latin typeface="微软雅黑" panose="020B0503020204020204" pitchFamily="34" charset="-122"/>
                <a:ea typeface="微软雅黑" panose="020B0503020204020204" pitchFamily="34" charset="-122"/>
              </a:rPr>
              <a:t>4.5 OpenFlow</a:t>
            </a:r>
            <a:r>
              <a:rPr lang="zh-CN" altLang="en-US" sz="1600" dirty="0">
                <a:solidFill>
                  <a:schemeClr val="bg1">
                    <a:lumMod val="65000"/>
                  </a:schemeClr>
                </a:solidFill>
                <a:latin typeface="微软雅黑" panose="020B0503020204020204" pitchFamily="34" charset="-122"/>
                <a:ea typeface="微软雅黑" panose="020B0503020204020204" pitchFamily="34" charset="-122"/>
              </a:rPr>
              <a:t>例子</a:t>
            </a:r>
          </a:p>
        </p:txBody>
      </p:sp>
      <p:sp>
        <p:nvSpPr>
          <p:cNvPr id="135" name="矩形 134">
            <a:extLst>
              <a:ext uri="{FF2B5EF4-FFF2-40B4-BE49-F238E27FC236}">
                <a16:creationId xmlns:a16="http://schemas.microsoft.com/office/drawing/2014/main" id="{576F2AFE-D5A8-41C5-A738-E42CC183978E}"/>
              </a:ext>
            </a:extLst>
          </p:cNvPr>
          <p:cNvSpPr/>
          <p:nvPr/>
        </p:nvSpPr>
        <p:spPr>
          <a:xfrm>
            <a:off x="2356024" y="6545942"/>
            <a:ext cx="9180728" cy="415498"/>
          </a:xfrm>
          <a:prstGeom prst="rect">
            <a:avLst/>
          </a:prstGeom>
        </p:spPr>
        <p:txBody>
          <a:bodyPr wrap="square">
            <a:spAutoFit/>
          </a:bodyPr>
          <a:lstStyle/>
          <a:p>
            <a:r>
              <a:rPr lang="zh-CN" altLang="en-US" sz="1050" dirty="0">
                <a:solidFill>
                  <a:schemeClr val="tx1">
                    <a:lumMod val="50000"/>
                    <a:lumOff val="50000"/>
                  </a:schemeClr>
                </a:solidFill>
                <a:latin typeface="微软雅黑" panose="020B0503020204020204" pitchFamily="34" charset="-122"/>
                <a:ea typeface="微软雅黑" panose="020B0503020204020204" pitchFamily="34" charset="-122"/>
              </a:rPr>
              <a:t>引自</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计算机网络：自顶向下方法</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原书第</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7</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版</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，库罗斯 罗斯，机械工业出版社，</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2018</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年</a:t>
            </a:r>
            <a:r>
              <a:rPr lang="en-US" altLang="zh-CN" sz="1050" dirty="0">
                <a:solidFill>
                  <a:schemeClr val="bg1">
                    <a:lumMod val="50000"/>
                  </a:schemeClr>
                </a:solidFill>
                <a:latin typeface="微软雅黑" panose="020B0503020204020204" pitchFamily="34" charset="-122"/>
                <a:ea typeface="微软雅黑" panose="020B0503020204020204" pitchFamily="34" charset="-122"/>
              </a:rPr>
              <a:t>06</a:t>
            </a:r>
            <a:r>
              <a:rPr lang="zh-CN" altLang="en-US" sz="1050" dirty="0">
                <a:solidFill>
                  <a:schemeClr val="bg1">
                    <a:lumMod val="50000"/>
                  </a:schemeClr>
                </a:solidFill>
                <a:latin typeface="微软雅黑" panose="020B0503020204020204" pitchFamily="34" charset="-122"/>
                <a:ea typeface="微软雅黑" panose="020B0503020204020204" pitchFamily="34" charset="-122"/>
              </a:rPr>
              <a:t>月</a:t>
            </a:r>
          </a:p>
          <a:p>
            <a:endParaRPr lang="zh-CN" altLang="en-US" sz="1050"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78554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5"/>
                                        </p:tgtEl>
                                        <p:attrNameLst>
                                          <p:attrName>style.visibility</p:attrName>
                                        </p:attrNameLst>
                                      </p:cBhvr>
                                      <p:to>
                                        <p:strVal val="visible"/>
                                      </p:to>
                                    </p:set>
                                    <p:animEffect transition="in" filter="dissolv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dissolve">
                                      <p:cBhvr>
                                        <p:cTn id="16" dur="500"/>
                                        <p:tgtEl>
                                          <p:spTgt spid="50"/>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par>
                          <p:cTn id="21" fill="hold">
                            <p:stCondLst>
                              <p:cond delay="2000"/>
                            </p:stCondLst>
                            <p:childTnLst>
                              <p:par>
                                <p:cTn id="22" presetID="9" presetClass="entr" presetSubtype="0" fill="hold" grpId="0" nodeType="afterEffect">
                                  <p:stCondLst>
                                    <p:cond delay="1000"/>
                                  </p:stCondLst>
                                  <p:childTnLst>
                                    <p:set>
                                      <p:cBhvr>
                                        <p:cTn id="23" dur="1" fill="hold">
                                          <p:stCondLst>
                                            <p:cond delay="0"/>
                                          </p:stCondLst>
                                        </p:cTn>
                                        <p:tgtEl>
                                          <p:spTgt spid="178"/>
                                        </p:tgtEl>
                                        <p:attrNameLst>
                                          <p:attrName>style.visibility</p:attrName>
                                        </p:attrNameLst>
                                      </p:cBhvr>
                                      <p:to>
                                        <p:strVal val="visible"/>
                                      </p:to>
                                    </p:set>
                                    <p:animEffect transition="in" filter="dissolve">
                                      <p:cBhvr>
                                        <p:cTn id="24"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78"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数据平面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2598315"/>
          </a:xfrm>
        </p:spPr>
        <p:txBody>
          <a:bodyPr>
            <a:normAutofit fontScale="92500" lnSpcReduction="10000"/>
          </a:bodyPr>
          <a:lstStyle/>
          <a:p>
            <a:pPr>
              <a:lnSpc>
                <a:spcPct val="150000"/>
              </a:lnSpc>
            </a:pPr>
            <a:r>
              <a:rPr lang="en-US" altLang="zh-CN" sz="2400" dirty="0" err="1">
                <a:latin typeface="微软雅黑" panose="020B0503020204020204" pitchFamily="34" charset="-122"/>
                <a:ea typeface="微软雅黑" panose="020B0503020204020204" pitchFamily="34" charset="-122"/>
              </a:rPr>
              <a:t>OpenFlow</a:t>
            </a:r>
            <a:r>
              <a:rPr lang="zh-CN" altLang="en-US" sz="2400" dirty="0">
                <a:latin typeface="微软雅黑" panose="020B0503020204020204" pitchFamily="34" charset="-122"/>
                <a:ea typeface="微软雅黑" panose="020B0503020204020204" pitchFamily="34" charset="-122"/>
              </a:rPr>
              <a:t>被证明是一个非常有限的接口，它开发接口让外部软件程序可以写入基于</a:t>
            </a:r>
            <a:r>
              <a:rPr lang="en-US" altLang="zh-CN" sz="2400" dirty="0">
                <a:latin typeface="微软雅黑" panose="020B0503020204020204" pitchFamily="34" charset="-122"/>
                <a:ea typeface="微软雅黑" panose="020B0503020204020204" pitchFamily="34" charset="-122"/>
              </a:rPr>
              <a:t>TCAM</a:t>
            </a:r>
            <a:r>
              <a:rPr lang="zh-CN" altLang="en-US" sz="2400" dirty="0">
                <a:latin typeface="微软雅黑" panose="020B0503020204020204" pitchFamily="34" charset="-122"/>
                <a:ea typeface="微软雅黑" panose="020B0503020204020204" pitchFamily="34" charset="-122"/>
              </a:rPr>
              <a:t>的查找表。可以用更好的方法设计硬件，使得在数据层面上有更加灵活的控制类型：交换机本身可编程。</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基于</a:t>
            </a:r>
            <a:r>
              <a:rPr lang="en-US" altLang="zh-CN" sz="2400" dirty="0">
                <a:solidFill>
                  <a:srgbClr val="FF0000"/>
                </a:solidFill>
                <a:latin typeface="微软雅黑" panose="020B0503020204020204" pitchFamily="34" charset="-122"/>
                <a:ea typeface="微软雅黑" panose="020B0503020204020204" pitchFamily="34" charset="-122"/>
              </a:rPr>
              <a:t>RMT</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Reconfigurable Match Table</a:t>
            </a:r>
            <a:r>
              <a:rPr lang="zh-CN" altLang="en-US" sz="2400" dirty="0">
                <a:latin typeface="微软雅黑" panose="020B0503020204020204" pitchFamily="34" charset="-122"/>
                <a:ea typeface="微软雅黑" panose="020B0503020204020204" pitchFamily="34" charset="-122"/>
              </a:rPr>
              <a:t>）的转发模型：可编程数据平面的</a:t>
            </a:r>
            <a:r>
              <a:rPr lang="zh-CN" altLang="en-US" sz="2400" dirty="0">
                <a:solidFill>
                  <a:srgbClr val="FF0000"/>
                </a:solidFill>
                <a:latin typeface="微软雅黑" panose="020B0503020204020204" pitchFamily="34" charset="-122"/>
                <a:ea typeface="微软雅黑" panose="020B0503020204020204" pitchFamily="34" charset="-122"/>
              </a:rPr>
              <a:t>可重配置匹配</a:t>
            </a:r>
            <a:r>
              <a:rPr lang="en-US" altLang="zh-CN" sz="2400" dirty="0">
                <a:solidFill>
                  <a:srgbClr val="FF0000"/>
                </a:solidFill>
                <a:latin typeface="微软雅黑" panose="020B0503020204020204" pitchFamily="34" charset="-122"/>
                <a:ea typeface="微软雅黑" panose="020B0503020204020204" pitchFamily="34" charset="-122"/>
              </a:rPr>
              <a:t>-</a:t>
            </a:r>
            <a:r>
              <a:rPr lang="zh-CN" altLang="en-US" sz="2400" dirty="0">
                <a:solidFill>
                  <a:srgbClr val="FF0000"/>
                </a:solidFill>
                <a:latin typeface="微软雅黑" panose="020B0503020204020204" pitchFamily="34" charset="-122"/>
                <a:ea typeface="微软雅黑" panose="020B0503020204020204" pitchFamily="34" charset="-122"/>
              </a:rPr>
              <a:t>动作流水线</a:t>
            </a:r>
            <a:r>
              <a:rPr lang="zh-CN" altLang="en-US" sz="2400" dirty="0">
                <a:latin typeface="微软雅黑" panose="020B0503020204020204" pitchFamily="34" charset="-122"/>
                <a:ea typeface="微软雅黑" panose="020B0503020204020204" pitchFamily="34" charset="-122"/>
              </a:rPr>
              <a:t>。</a:t>
            </a: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112</a:t>
            </a:fld>
            <a:endParaRPr kumimoji="1" lang="zh-CN" altLang="en-US" dirty="0"/>
          </a:p>
        </p:txBody>
      </p:sp>
      <p:grpSp>
        <p:nvGrpSpPr>
          <p:cNvPr id="25" name="组合 24"/>
          <p:cNvGrpSpPr/>
          <p:nvPr/>
        </p:nvGrpSpPr>
        <p:grpSpPr>
          <a:xfrm>
            <a:off x="1036927" y="4088352"/>
            <a:ext cx="10140127" cy="2051065"/>
            <a:chOff x="1036927" y="4088352"/>
            <a:chExt cx="10140127" cy="2051065"/>
          </a:xfrm>
        </p:grpSpPr>
        <p:sp>
          <p:nvSpPr>
            <p:cNvPr id="7" name="矩形 6"/>
            <p:cNvSpPr/>
            <p:nvPr/>
          </p:nvSpPr>
          <p:spPr>
            <a:xfrm>
              <a:off x="8811434" y="4472044"/>
              <a:ext cx="1155032" cy="16651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可编程的反解析器</a:t>
              </a:r>
            </a:p>
          </p:txBody>
        </p:sp>
        <p:sp>
          <p:nvSpPr>
            <p:cNvPr id="8" name="矩形 7"/>
            <p:cNvSpPr/>
            <p:nvPr/>
          </p:nvSpPr>
          <p:spPr>
            <a:xfrm>
              <a:off x="4038466" y="4472044"/>
              <a:ext cx="4120795" cy="16651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dirty="0">
                  <a:solidFill>
                    <a:schemeClr val="tx1"/>
                  </a:solidFill>
                </a:rPr>
                <a:t>                 …</a:t>
              </a:r>
              <a:endParaRPr lang="zh-CN" altLang="en-US" sz="1600" dirty="0">
                <a:solidFill>
                  <a:schemeClr val="tx1"/>
                </a:solidFill>
              </a:endParaRPr>
            </a:p>
          </p:txBody>
        </p:sp>
        <p:grpSp>
          <p:nvGrpSpPr>
            <p:cNvPr id="5" name="组合 4"/>
            <p:cNvGrpSpPr/>
            <p:nvPr/>
          </p:nvGrpSpPr>
          <p:grpSpPr>
            <a:xfrm>
              <a:off x="4226874" y="4605099"/>
              <a:ext cx="801487" cy="1363272"/>
              <a:chOff x="4262882" y="4454724"/>
              <a:chExt cx="801487" cy="1363272"/>
            </a:xfrm>
          </p:grpSpPr>
          <p:sp>
            <p:nvSpPr>
              <p:cNvPr id="4" name="矩形 3"/>
              <p:cNvSpPr/>
              <p:nvPr/>
            </p:nvSpPr>
            <p:spPr>
              <a:xfrm>
                <a:off x="4262882" y="5005350"/>
                <a:ext cx="801487" cy="8126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读取</a:t>
                </a:r>
                <a:r>
                  <a:rPr lang="en-US" altLang="zh-CN" sz="1600" dirty="0">
                    <a:solidFill>
                      <a:schemeClr val="tx1"/>
                    </a:solidFill>
                  </a:rPr>
                  <a:t>/</a:t>
                </a:r>
                <a:r>
                  <a:rPr lang="zh-CN" altLang="en-US" sz="1600" dirty="0">
                    <a:solidFill>
                      <a:schemeClr val="tx1"/>
                    </a:solidFill>
                  </a:rPr>
                  <a:t>修改</a:t>
                </a:r>
              </a:p>
            </p:txBody>
          </p:sp>
          <p:sp>
            <p:nvSpPr>
              <p:cNvPr id="9" name="矩形 8"/>
              <p:cNvSpPr/>
              <p:nvPr/>
            </p:nvSpPr>
            <p:spPr>
              <a:xfrm>
                <a:off x="4262882" y="4454724"/>
                <a:ext cx="801487" cy="39973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状态</a:t>
                </a:r>
              </a:p>
            </p:txBody>
          </p:sp>
        </p:grpSp>
        <p:sp>
          <p:nvSpPr>
            <p:cNvPr id="10" name="矩形 9"/>
            <p:cNvSpPr/>
            <p:nvPr/>
          </p:nvSpPr>
          <p:spPr>
            <a:xfrm>
              <a:off x="2269957" y="4474247"/>
              <a:ext cx="1155032" cy="16651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可编程的解析器</a:t>
              </a:r>
            </a:p>
          </p:txBody>
        </p:sp>
        <p:grpSp>
          <p:nvGrpSpPr>
            <p:cNvPr id="12" name="组合 11"/>
            <p:cNvGrpSpPr/>
            <p:nvPr/>
          </p:nvGrpSpPr>
          <p:grpSpPr>
            <a:xfrm>
              <a:off x="5183805" y="4595400"/>
              <a:ext cx="801487" cy="1363272"/>
              <a:chOff x="4262882" y="4454724"/>
              <a:chExt cx="801487" cy="1363272"/>
            </a:xfrm>
          </p:grpSpPr>
          <p:sp>
            <p:nvSpPr>
              <p:cNvPr id="13" name="矩形 12"/>
              <p:cNvSpPr/>
              <p:nvPr/>
            </p:nvSpPr>
            <p:spPr>
              <a:xfrm>
                <a:off x="4262882" y="5005350"/>
                <a:ext cx="801487" cy="8126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读取</a:t>
                </a:r>
                <a:r>
                  <a:rPr lang="en-US" altLang="zh-CN" sz="1600" dirty="0">
                    <a:solidFill>
                      <a:schemeClr val="tx1"/>
                    </a:solidFill>
                  </a:rPr>
                  <a:t>/</a:t>
                </a:r>
                <a:r>
                  <a:rPr lang="zh-CN" altLang="en-US" sz="1600" dirty="0">
                    <a:solidFill>
                      <a:schemeClr val="tx1"/>
                    </a:solidFill>
                  </a:rPr>
                  <a:t>修改</a:t>
                </a:r>
              </a:p>
            </p:txBody>
          </p:sp>
          <p:sp>
            <p:nvSpPr>
              <p:cNvPr id="14" name="矩形 13"/>
              <p:cNvSpPr/>
              <p:nvPr/>
            </p:nvSpPr>
            <p:spPr>
              <a:xfrm>
                <a:off x="4262882" y="4454724"/>
                <a:ext cx="801487" cy="39973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状态</a:t>
                </a:r>
              </a:p>
            </p:txBody>
          </p:sp>
        </p:grpSp>
        <p:grpSp>
          <p:nvGrpSpPr>
            <p:cNvPr id="15" name="组合 14"/>
            <p:cNvGrpSpPr/>
            <p:nvPr/>
          </p:nvGrpSpPr>
          <p:grpSpPr>
            <a:xfrm>
              <a:off x="7187921" y="4595400"/>
              <a:ext cx="801487" cy="1363272"/>
              <a:chOff x="4262882" y="4454724"/>
              <a:chExt cx="801487" cy="1363272"/>
            </a:xfrm>
          </p:grpSpPr>
          <p:sp>
            <p:nvSpPr>
              <p:cNvPr id="16" name="矩形 15"/>
              <p:cNvSpPr/>
              <p:nvPr/>
            </p:nvSpPr>
            <p:spPr>
              <a:xfrm>
                <a:off x="4262882" y="5005350"/>
                <a:ext cx="801487" cy="8126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读取</a:t>
                </a:r>
                <a:r>
                  <a:rPr lang="en-US" altLang="zh-CN" sz="1600" dirty="0">
                    <a:solidFill>
                      <a:schemeClr val="tx1"/>
                    </a:solidFill>
                  </a:rPr>
                  <a:t>/</a:t>
                </a:r>
                <a:r>
                  <a:rPr lang="zh-CN" altLang="en-US" sz="1600" dirty="0">
                    <a:solidFill>
                      <a:schemeClr val="tx1"/>
                    </a:solidFill>
                  </a:rPr>
                  <a:t>修改</a:t>
                </a:r>
              </a:p>
            </p:txBody>
          </p:sp>
          <p:sp>
            <p:nvSpPr>
              <p:cNvPr id="17" name="矩形 16"/>
              <p:cNvSpPr/>
              <p:nvPr/>
            </p:nvSpPr>
            <p:spPr>
              <a:xfrm>
                <a:off x="4262882" y="4454724"/>
                <a:ext cx="801487" cy="39973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rPr>
                  <a:t>状态</a:t>
                </a:r>
              </a:p>
            </p:txBody>
          </p:sp>
        </p:grpSp>
        <p:sp>
          <p:nvSpPr>
            <p:cNvPr id="6" name="文本框 5"/>
            <p:cNvSpPr txBox="1"/>
            <p:nvPr/>
          </p:nvSpPr>
          <p:spPr>
            <a:xfrm>
              <a:off x="5801345" y="4088352"/>
              <a:ext cx="595035" cy="338554"/>
            </a:xfrm>
            <a:prstGeom prst="rect">
              <a:avLst/>
            </a:prstGeom>
            <a:noFill/>
          </p:spPr>
          <p:txBody>
            <a:bodyPr wrap="none" rtlCol="0">
              <a:spAutoFit/>
            </a:bodyPr>
            <a:lstStyle/>
            <a:p>
              <a:r>
                <a:rPr lang="zh-CN" altLang="en-US" sz="1600" dirty="0"/>
                <a:t>步骤</a:t>
              </a:r>
            </a:p>
          </p:txBody>
        </p:sp>
        <p:cxnSp>
          <p:nvCxnSpPr>
            <p:cNvPr id="18" name="直接箭头连接符 17"/>
            <p:cNvCxnSpPr>
              <a:endCxn id="10" idx="1"/>
            </p:cNvCxnSpPr>
            <p:nvPr/>
          </p:nvCxnSpPr>
          <p:spPr>
            <a:xfrm>
              <a:off x="1145512" y="5304629"/>
              <a:ext cx="1124445" cy="220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直接箭头连接符 19"/>
            <p:cNvCxnSpPr>
              <a:stCxn id="10" idx="3"/>
              <a:endCxn id="8" idx="1"/>
            </p:cNvCxnSpPr>
            <p:nvPr/>
          </p:nvCxnSpPr>
          <p:spPr>
            <a:xfrm flipV="1">
              <a:off x="3424989" y="5304629"/>
              <a:ext cx="613477" cy="220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2" name="直接箭头连接符 21"/>
            <p:cNvCxnSpPr>
              <a:stCxn id="8" idx="3"/>
              <a:endCxn id="7" idx="1"/>
            </p:cNvCxnSpPr>
            <p:nvPr/>
          </p:nvCxnSpPr>
          <p:spPr>
            <a:xfrm>
              <a:off x="8159261" y="5304629"/>
              <a:ext cx="6521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直接箭头连接符 23"/>
            <p:cNvCxnSpPr>
              <a:stCxn id="7" idx="3"/>
            </p:cNvCxnSpPr>
            <p:nvPr/>
          </p:nvCxnSpPr>
          <p:spPr>
            <a:xfrm>
              <a:off x="9966466" y="5304629"/>
              <a:ext cx="118720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文本框 26"/>
            <p:cNvSpPr txBox="1"/>
            <p:nvPr/>
          </p:nvSpPr>
          <p:spPr>
            <a:xfrm>
              <a:off x="1036927" y="4901599"/>
              <a:ext cx="1233030" cy="338554"/>
            </a:xfrm>
            <a:prstGeom prst="rect">
              <a:avLst/>
            </a:prstGeom>
            <a:noFill/>
          </p:spPr>
          <p:txBody>
            <a:bodyPr wrap="none" rtlCol="0">
              <a:spAutoFit/>
            </a:bodyPr>
            <a:lstStyle/>
            <a:p>
              <a:r>
                <a:rPr lang="zh-CN" altLang="en-US" sz="1600" dirty="0"/>
                <a:t>数据包进入</a:t>
              </a:r>
            </a:p>
          </p:txBody>
        </p:sp>
        <p:sp>
          <p:nvSpPr>
            <p:cNvPr id="28" name="文本框 27"/>
            <p:cNvSpPr txBox="1"/>
            <p:nvPr/>
          </p:nvSpPr>
          <p:spPr>
            <a:xfrm>
              <a:off x="9966466" y="4901599"/>
              <a:ext cx="1210588" cy="338554"/>
            </a:xfrm>
            <a:prstGeom prst="rect">
              <a:avLst/>
            </a:prstGeom>
            <a:noFill/>
          </p:spPr>
          <p:txBody>
            <a:bodyPr wrap="none" rtlCol="0">
              <a:spAutoFit/>
            </a:bodyPr>
            <a:lstStyle/>
            <a:p>
              <a:r>
                <a:rPr lang="zh-CN" altLang="en-US" sz="1600" dirty="0"/>
                <a:t>数据包离开</a:t>
              </a:r>
            </a:p>
          </p:txBody>
        </p:sp>
      </p:grpSp>
    </p:spTree>
    <p:extLst>
      <p:ext uri="{BB962C8B-B14F-4D97-AF65-F5344CB8AC3E}">
        <p14:creationId xmlns:p14="http://schemas.microsoft.com/office/powerpoint/2010/main" val="226596786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en-US" altLang="zh-CN" dirty="0"/>
              <a:t>SDN</a:t>
            </a:r>
            <a:r>
              <a:rPr kumimoji="1" lang="zh-CN" altLang="en-US" dirty="0"/>
              <a:t>数据平面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673241" y="1392689"/>
            <a:ext cx="10864824" cy="2167124"/>
          </a:xfrm>
        </p:spPr>
        <p:txBody>
          <a:bodyPr>
            <a:normAutofit fontScale="85000" lnSpcReduction="10000"/>
          </a:bodyPr>
          <a:lstStyle/>
          <a:p>
            <a:pPr>
              <a:lnSpc>
                <a:spcPct val="150000"/>
              </a:lnSpc>
            </a:pPr>
            <a:r>
              <a:rPr lang="en-US" altLang="zh-CN" sz="2400" dirty="0">
                <a:latin typeface="微软雅黑" panose="020B0503020204020204" pitchFamily="34" charset="-122"/>
                <a:ea typeface="微软雅黑" panose="020B0503020204020204" pitchFamily="34" charset="-122"/>
              </a:rPr>
              <a:t>RMT</a:t>
            </a:r>
            <a:r>
              <a:rPr lang="zh-CN" altLang="en-US" sz="2400" dirty="0">
                <a:latin typeface="微软雅黑" panose="020B0503020204020204" pitchFamily="34" charset="-122"/>
                <a:ea typeface="微软雅黑" panose="020B0503020204020204" pitchFamily="34" charset="-122"/>
              </a:rPr>
              <a:t>模型允许自定义数据包格式，可以存储额外信息，使程序员有可能改变硬件数据平面的一些方面而无需修改硬件本身。程序员可以指定任意大小的匹配表，也赋予运营商修改任意的头字段的灵活性。</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现代芯片组，如</a:t>
            </a:r>
            <a:r>
              <a:rPr lang="en-US" altLang="zh-CN" sz="2400" dirty="0">
                <a:latin typeface="微软雅黑" panose="020B0503020204020204" pitchFamily="34" charset="-122"/>
                <a:ea typeface="微软雅黑" panose="020B0503020204020204" pitchFamily="34" charset="-122"/>
              </a:rPr>
              <a:t>Barefoot Tofino</a:t>
            </a:r>
            <a:r>
              <a:rPr lang="zh-CN" altLang="en-US" sz="2400" dirty="0">
                <a:latin typeface="微软雅黑" panose="020B0503020204020204" pitchFamily="34" charset="-122"/>
                <a:ea typeface="微软雅黑" panose="020B0503020204020204" pitchFamily="34" charset="-122"/>
              </a:rPr>
              <a:t>，在数据包进入和离开时都能执行与协议独立的定制化处理。</a:t>
            </a: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113</a:t>
            </a:fld>
            <a:endParaRPr kumimoji="1" lang="zh-CN" altLang="en-US" dirty="0"/>
          </a:p>
        </p:txBody>
      </p:sp>
      <p:grpSp>
        <p:nvGrpSpPr>
          <p:cNvPr id="272412" name="组合 272411"/>
          <p:cNvGrpSpPr/>
          <p:nvPr/>
        </p:nvGrpSpPr>
        <p:grpSpPr>
          <a:xfrm>
            <a:off x="1477107" y="3406395"/>
            <a:ext cx="9294727" cy="3297655"/>
            <a:chOff x="1477107" y="3516923"/>
            <a:chExt cx="9294727" cy="3297655"/>
          </a:xfrm>
        </p:grpSpPr>
        <p:grpSp>
          <p:nvGrpSpPr>
            <p:cNvPr id="272385" name="组合 272384"/>
            <p:cNvGrpSpPr/>
            <p:nvPr/>
          </p:nvGrpSpPr>
          <p:grpSpPr>
            <a:xfrm>
              <a:off x="1487156" y="3516923"/>
              <a:ext cx="1607736" cy="1135464"/>
              <a:chOff x="1487156" y="3898760"/>
              <a:chExt cx="1607736" cy="1135464"/>
            </a:xfrm>
          </p:grpSpPr>
          <p:grpSp>
            <p:nvGrpSpPr>
              <p:cNvPr id="31" name="组合 30"/>
              <p:cNvGrpSpPr/>
              <p:nvPr/>
            </p:nvGrpSpPr>
            <p:grpSpPr>
              <a:xfrm>
                <a:off x="1487156" y="3898760"/>
                <a:ext cx="1607736" cy="1135464"/>
                <a:chOff x="1487156" y="3898760"/>
                <a:chExt cx="1607736" cy="1135464"/>
              </a:xfrm>
            </p:grpSpPr>
            <p:sp>
              <p:nvSpPr>
                <p:cNvPr id="11" name="矩形 10"/>
                <p:cNvSpPr/>
                <p:nvPr/>
              </p:nvSpPr>
              <p:spPr>
                <a:xfrm>
                  <a:off x="1487156" y="3898760"/>
                  <a:ext cx="1607736" cy="113546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0" name="组合 29"/>
                <p:cNvGrpSpPr/>
                <p:nvPr/>
              </p:nvGrpSpPr>
              <p:grpSpPr>
                <a:xfrm>
                  <a:off x="1617785" y="3991003"/>
                  <a:ext cx="401934" cy="905893"/>
                  <a:chOff x="1617785" y="3991003"/>
                  <a:chExt cx="401934" cy="905893"/>
                </a:xfrm>
              </p:grpSpPr>
              <p:sp>
                <p:nvSpPr>
                  <p:cNvPr id="19" name="圆角矩形 18"/>
                  <p:cNvSpPr/>
                  <p:nvPr/>
                </p:nvSpPr>
                <p:spPr>
                  <a:xfrm>
                    <a:off x="1617785" y="3991003"/>
                    <a:ext cx="401934" cy="26949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9" name="组合 28"/>
                  <p:cNvGrpSpPr/>
                  <p:nvPr/>
                </p:nvGrpSpPr>
                <p:grpSpPr>
                  <a:xfrm>
                    <a:off x="1637881" y="4330840"/>
                    <a:ext cx="381838" cy="130628"/>
                    <a:chOff x="1637881" y="4330840"/>
                    <a:chExt cx="381838" cy="130628"/>
                  </a:xfrm>
                </p:grpSpPr>
                <p:sp>
                  <p:nvSpPr>
                    <p:cNvPr id="21" name="矩形 20"/>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梯形 22"/>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梯形 25"/>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32" name="组合 31"/>
                  <p:cNvGrpSpPr/>
                  <p:nvPr/>
                </p:nvGrpSpPr>
                <p:grpSpPr>
                  <a:xfrm>
                    <a:off x="1637881" y="4548554"/>
                    <a:ext cx="381838" cy="130628"/>
                    <a:chOff x="1637881" y="4330840"/>
                    <a:chExt cx="381838" cy="130628"/>
                  </a:xfrm>
                </p:grpSpPr>
                <p:sp>
                  <p:nvSpPr>
                    <p:cNvPr id="33" name="矩形 32"/>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梯形 33"/>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梯形 34"/>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36" name="组合 35"/>
                  <p:cNvGrpSpPr/>
                  <p:nvPr/>
                </p:nvGrpSpPr>
                <p:grpSpPr>
                  <a:xfrm>
                    <a:off x="1637881" y="4766268"/>
                    <a:ext cx="381838" cy="130628"/>
                    <a:chOff x="1637881" y="4330840"/>
                    <a:chExt cx="381838" cy="130628"/>
                  </a:xfrm>
                </p:grpSpPr>
                <p:sp>
                  <p:nvSpPr>
                    <p:cNvPr id="37" name="矩形 36"/>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梯形 37"/>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梯形 38"/>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grpSp>
              <p:nvGrpSpPr>
                <p:cNvPr id="41" name="组合 40"/>
                <p:cNvGrpSpPr/>
                <p:nvPr/>
              </p:nvGrpSpPr>
              <p:grpSpPr>
                <a:xfrm>
                  <a:off x="2095920" y="3991003"/>
                  <a:ext cx="401934" cy="905893"/>
                  <a:chOff x="1617785" y="3991003"/>
                  <a:chExt cx="401934" cy="905893"/>
                </a:xfrm>
              </p:grpSpPr>
              <p:sp>
                <p:nvSpPr>
                  <p:cNvPr id="42" name="圆角矩形 41"/>
                  <p:cNvSpPr/>
                  <p:nvPr/>
                </p:nvSpPr>
                <p:spPr>
                  <a:xfrm>
                    <a:off x="1617785" y="3991003"/>
                    <a:ext cx="401934" cy="26949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3" name="组合 42"/>
                  <p:cNvGrpSpPr/>
                  <p:nvPr/>
                </p:nvGrpSpPr>
                <p:grpSpPr>
                  <a:xfrm>
                    <a:off x="1637881" y="4330840"/>
                    <a:ext cx="381838" cy="130628"/>
                    <a:chOff x="1637881" y="4330840"/>
                    <a:chExt cx="381838" cy="130628"/>
                  </a:xfrm>
                </p:grpSpPr>
                <p:sp>
                  <p:nvSpPr>
                    <p:cNvPr id="52" name="矩形 51"/>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梯形 52"/>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梯形 53"/>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44" name="组合 43"/>
                  <p:cNvGrpSpPr/>
                  <p:nvPr/>
                </p:nvGrpSpPr>
                <p:grpSpPr>
                  <a:xfrm>
                    <a:off x="1637881" y="4548554"/>
                    <a:ext cx="381838" cy="130628"/>
                    <a:chOff x="1637881" y="4330840"/>
                    <a:chExt cx="381838" cy="130628"/>
                  </a:xfrm>
                </p:grpSpPr>
                <p:sp>
                  <p:nvSpPr>
                    <p:cNvPr id="49" name="矩形 48"/>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梯形 49"/>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梯形 50"/>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45" name="组合 44"/>
                  <p:cNvGrpSpPr/>
                  <p:nvPr/>
                </p:nvGrpSpPr>
                <p:grpSpPr>
                  <a:xfrm>
                    <a:off x="1637881" y="4766268"/>
                    <a:ext cx="381838" cy="130628"/>
                    <a:chOff x="1637881" y="4330840"/>
                    <a:chExt cx="381838" cy="130628"/>
                  </a:xfrm>
                </p:grpSpPr>
                <p:sp>
                  <p:nvSpPr>
                    <p:cNvPr id="46" name="矩形 45"/>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梯形 46"/>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梯形 47"/>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grpSp>
              <p:nvGrpSpPr>
                <p:cNvPr id="55" name="组合 54"/>
                <p:cNvGrpSpPr/>
                <p:nvPr/>
              </p:nvGrpSpPr>
              <p:grpSpPr>
                <a:xfrm>
                  <a:off x="2594151" y="3981859"/>
                  <a:ext cx="401934" cy="905893"/>
                  <a:chOff x="1617785" y="3991003"/>
                  <a:chExt cx="401934" cy="905893"/>
                </a:xfrm>
              </p:grpSpPr>
              <p:sp>
                <p:nvSpPr>
                  <p:cNvPr id="56" name="圆角矩形 55"/>
                  <p:cNvSpPr/>
                  <p:nvPr/>
                </p:nvSpPr>
                <p:spPr>
                  <a:xfrm>
                    <a:off x="1617785" y="3991003"/>
                    <a:ext cx="401934" cy="26949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7" name="组合 56"/>
                  <p:cNvGrpSpPr/>
                  <p:nvPr/>
                </p:nvGrpSpPr>
                <p:grpSpPr>
                  <a:xfrm>
                    <a:off x="1637881" y="4330840"/>
                    <a:ext cx="381838" cy="130628"/>
                    <a:chOff x="1637881" y="4330840"/>
                    <a:chExt cx="381838" cy="130628"/>
                  </a:xfrm>
                </p:grpSpPr>
                <p:sp>
                  <p:nvSpPr>
                    <p:cNvPr id="66" name="矩形 65"/>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梯形 66"/>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梯形 67"/>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58" name="组合 57"/>
                  <p:cNvGrpSpPr/>
                  <p:nvPr/>
                </p:nvGrpSpPr>
                <p:grpSpPr>
                  <a:xfrm>
                    <a:off x="1637881" y="4548554"/>
                    <a:ext cx="381838" cy="130628"/>
                    <a:chOff x="1637881" y="4330840"/>
                    <a:chExt cx="381838" cy="130628"/>
                  </a:xfrm>
                </p:grpSpPr>
                <p:sp>
                  <p:nvSpPr>
                    <p:cNvPr id="63" name="矩形 62"/>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梯形 63"/>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梯形 64"/>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59" name="组合 58"/>
                  <p:cNvGrpSpPr/>
                  <p:nvPr/>
                </p:nvGrpSpPr>
                <p:grpSpPr>
                  <a:xfrm>
                    <a:off x="1637881" y="4766268"/>
                    <a:ext cx="381838" cy="130628"/>
                    <a:chOff x="1637881" y="4330840"/>
                    <a:chExt cx="381838" cy="130628"/>
                  </a:xfrm>
                </p:grpSpPr>
                <p:sp>
                  <p:nvSpPr>
                    <p:cNvPr id="60" name="矩形 59"/>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梯形 60"/>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梯形 61"/>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grpSp>
          <p:sp>
            <p:nvSpPr>
              <p:cNvPr id="40" name="右箭头 39"/>
              <p:cNvSpPr/>
              <p:nvPr/>
            </p:nvSpPr>
            <p:spPr>
              <a:xfrm>
                <a:off x="2029767" y="4330840"/>
                <a:ext cx="76201" cy="12148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2384" name="右箭头 272383"/>
              <p:cNvSpPr/>
              <p:nvPr/>
            </p:nvSpPr>
            <p:spPr>
              <a:xfrm>
                <a:off x="2497854" y="4330840"/>
                <a:ext cx="96297" cy="12148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72388" name="矩形 272387"/>
            <p:cNvSpPr/>
            <p:nvPr/>
          </p:nvSpPr>
          <p:spPr>
            <a:xfrm>
              <a:off x="1487156" y="4883499"/>
              <a:ext cx="1607736" cy="25120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矩形 74"/>
            <p:cNvSpPr/>
            <p:nvPr/>
          </p:nvSpPr>
          <p:spPr>
            <a:xfrm>
              <a:off x="1482970" y="5287108"/>
              <a:ext cx="1607736" cy="25120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矩形 75"/>
            <p:cNvSpPr/>
            <p:nvPr/>
          </p:nvSpPr>
          <p:spPr>
            <a:xfrm>
              <a:off x="1477107" y="5690717"/>
              <a:ext cx="1607736" cy="25120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2389" name="圆角矩形 272388"/>
            <p:cNvSpPr/>
            <p:nvPr/>
          </p:nvSpPr>
          <p:spPr>
            <a:xfrm>
              <a:off x="3778180" y="3516923"/>
              <a:ext cx="2190541" cy="2425003"/>
            </a:xfrm>
            <a:prstGeom prst="roundRect">
              <a:avLst>
                <a:gd name="adj" fmla="val 978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2400" name="组合 272399"/>
            <p:cNvGrpSpPr/>
            <p:nvPr/>
          </p:nvGrpSpPr>
          <p:grpSpPr>
            <a:xfrm>
              <a:off x="4270549" y="4167621"/>
              <a:ext cx="1235948" cy="1047474"/>
              <a:chOff x="4350936" y="4539410"/>
              <a:chExt cx="1235948" cy="1047474"/>
            </a:xfrm>
          </p:grpSpPr>
          <p:cxnSp>
            <p:nvCxnSpPr>
              <p:cNvPr id="272391" name="曲线连接符 272390"/>
              <p:cNvCxnSpPr/>
              <p:nvPr/>
            </p:nvCxnSpPr>
            <p:spPr>
              <a:xfrm flipV="1">
                <a:off x="4350936" y="4539410"/>
                <a:ext cx="1235948" cy="1047474"/>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72394" name="曲线连接符 272393"/>
              <p:cNvCxnSpPr/>
              <p:nvPr/>
            </p:nvCxnSpPr>
            <p:spPr>
              <a:xfrm>
                <a:off x="4350936" y="4539410"/>
                <a:ext cx="1235948" cy="1047474"/>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272401" name="右箭头 272400"/>
            <p:cNvSpPr/>
            <p:nvPr/>
          </p:nvSpPr>
          <p:spPr>
            <a:xfrm>
              <a:off x="3278277" y="4079631"/>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右箭头 90"/>
            <p:cNvSpPr/>
            <p:nvPr/>
          </p:nvSpPr>
          <p:spPr>
            <a:xfrm>
              <a:off x="3315956" y="4867589"/>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右箭头 91"/>
            <p:cNvSpPr/>
            <p:nvPr/>
          </p:nvSpPr>
          <p:spPr>
            <a:xfrm>
              <a:off x="3315956" y="5271198"/>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右箭头 92"/>
            <p:cNvSpPr/>
            <p:nvPr/>
          </p:nvSpPr>
          <p:spPr>
            <a:xfrm>
              <a:off x="3315956" y="5674807"/>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2402" name="矩形 272401"/>
            <p:cNvSpPr/>
            <p:nvPr/>
          </p:nvSpPr>
          <p:spPr>
            <a:xfrm>
              <a:off x="6591720" y="4746526"/>
              <a:ext cx="4180114" cy="118889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2403" name="组合 272402"/>
            <p:cNvGrpSpPr/>
            <p:nvPr/>
          </p:nvGrpSpPr>
          <p:grpSpPr>
            <a:xfrm>
              <a:off x="9015047" y="4832619"/>
              <a:ext cx="1378300" cy="915037"/>
              <a:chOff x="9165771" y="5214456"/>
              <a:chExt cx="1378300" cy="915037"/>
            </a:xfrm>
          </p:grpSpPr>
          <p:grpSp>
            <p:nvGrpSpPr>
              <p:cNvPr id="100" name="组合 99"/>
              <p:cNvGrpSpPr/>
              <p:nvPr/>
            </p:nvGrpSpPr>
            <p:grpSpPr>
              <a:xfrm>
                <a:off x="9165771" y="5223600"/>
                <a:ext cx="401934" cy="905893"/>
                <a:chOff x="1617785" y="3991003"/>
                <a:chExt cx="401934" cy="905893"/>
              </a:xfrm>
            </p:grpSpPr>
            <p:sp>
              <p:nvSpPr>
                <p:cNvPr id="129" name="圆角矩形 128"/>
                <p:cNvSpPr/>
                <p:nvPr/>
              </p:nvSpPr>
              <p:spPr>
                <a:xfrm>
                  <a:off x="1617785" y="3991003"/>
                  <a:ext cx="401934" cy="26949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0" name="组合 129"/>
                <p:cNvGrpSpPr/>
                <p:nvPr/>
              </p:nvGrpSpPr>
              <p:grpSpPr>
                <a:xfrm>
                  <a:off x="1637881" y="4330840"/>
                  <a:ext cx="381838" cy="130628"/>
                  <a:chOff x="1637881" y="4330840"/>
                  <a:chExt cx="381838" cy="130628"/>
                </a:xfrm>
              </p:grpSpPr>
              <p:sp>
                <p:nvSpPr>
                  <p:cNvPr id="139" name="矩形 138"/>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梯形 139"/>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梯形 140"/>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131" name="组合 130"/>
                <p:cNvGrpSpPr/>
                <p:nvPr/>
              </p:nvGrpSpPr>
              <p:grpSpPr>
                <a:xfrm>
                  <a:off x="1637881" y="4548554"/>
                  <a:ext cx="381838" cy="130628"/>
                  <a:chOff x="1637881" y="4330840"/>
                  <a:chExt cx="381838" cy="130628"/>
                </a:xfrm>
              </p:grpSpPr>
              <p:sp>
                <p:nvSpPr>
                  <p:cNvPr id="136" name="矩形 135"/>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梯形 136"/>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梯形 137"/>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132" name="组合 131"/>
                <p:cNvGrpSpPr/>
                <p:nvPr/>
              </p:nvGrpSpPr>
              <p:grpSpPr>
                <a:xfrm>
                  <a:off x="1637881" y="4766268"/>
                  <a:ext cx="381838" cy="130628"/>
                  <a:chOff x="1637881" y="4330840"/>
                  <a:chExt cx="381838" cy="130628"/>
                </a:xfrm>
              </p:grpSpPr>
              <p:sp>
                <p:nvSpPr>
                  <p:cNvPr id="133" name="矩形 132"/>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梯形 133"/>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梯形 134"/>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grpSp>
            <p:nvGrpSpPr>
              <p:cNvPr id="101" name="组合 100"/>
              <p:cNvGrpSpPr/>
              <p:nvPr/>
            </p:nvGrpSpPr>
            <p:grpSpPr>
              <a:xfrm>
                <a:off x="9643906" y="5223600"/>
                <a:ext cx="401934" cy="905893"/>
                <a:chOff x="1617785" y="3991003"/>
                <a:chExt cx="401934" cy="905893"/>
              </a:xfrm>
            </p:grpSpPr>
            <p:sp>
              <p:nvSpPr>
                <p:cNvPr id="116" name="圆角矩形 115"/>
                <p:cNvSpPr/>
                <p:nvPr/>
              </p:nvSpPr>
              <p:spPr>
                <a:xfrm>
                  <a:off x="1617785" y="3991003"/>
                  <a:ext cx="401934" cy="26949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7" name="组合 116"/>
                <p:cNvGrpSpPr/>
                <p:nvPr/>
              </p:nvGrpSpPr>
              <p:grpSpPr>
                <a:xfrm>
                  <a:off x="1637881" y="4330840"/>
                  <a:ext cx="381838" cy="130628"/>
                  <a:chOff x="1637881" y="4330840"/>
                  <a:chExt cx="381838" cy="130628"/>
                </a:xfrm>
              </p:grpSpPr>
              <p:sp>
                <p:nvSpPr>
                  <p:cNvPr id="126" name="矩形 125"/>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梯形 126"/>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梯形 127"/>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118" name="组合 117"/>
                <p:cNvGrpSpPr/>
                <p:nvPr/>
              </p:nvGrpSpPr>
              <p:grpSpPr>
                <a:xfrm>
                  <a:off x="1637881" y="4548554"/>
                  <a:ext cx="381838" cy="130628"/>
                  <a:chOff x="1637881" y="4330840"/>
                  <a:chExt cx="381838" cy="130628"/>
                </a:xfrm>
              </p:grpSpPr>
              <p:sp>
                <p:nvSpPr>
                  <p:cNvPr id="123" name="矩形 122"/>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梯形 123"/>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梯形 124"/>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119" name="组合 118"/>
                <p:cNvGrpSpPr/>
                <p:nvPr/>
              </p:nvGrpSpPr>
              <p:grpSpPr>
                <a:xfrm>
                  <a:off x="1637881" y="4766268"/>
                  <a:ext cx="381838" cy="130628"/>
                  <a:chOff x="1637881" y="4330840"/>
                  <a:chExt cx="381838" cy="130628"/>
                </a:xfrm>
              </p:grpSpPr>
              <p:sp>
                <p:nvSpPr>
                  <p:cNvPr id="120" name="矩形 119"/>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梯形 120"/>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梯形 121"/>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grpSp>
            <p:nvGrpSpPr>
              <p:cNvPr id="102" name="组合 101"/>
              <p:cNvGrpSpPr/>
              <p:nvPr/>
            </p:nvGrpSpPr>
            <p:grpSpPr>
              <a:xfrm>
                <a:off x="10142137" y="5214456"/>
                <a:ext cx="401934" cy="905893"/>
                <a:chOff x="1617785" y="3991003"/>
                <a:chExt cx="401934" cy="905893"/>
              </a:xfrm>
            </p:grpSpPr>
            <p:sp>
              <p:nvSpPr>
                <p:cNvPr id="103" name="圆角矩形 102"/>
                <p:cNvSpPr/>
                <p:nvPr/>
              </p:nvSpPr>
              <p:spPr>
                <a:xfrm>
                  <a:off x="1617785" y="3991003"/>
                  <a:ext cx="401934" cy="26949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4" name="组合 103"/>
                <p:cNvGrpSpPr/>
                <p:nvPr/>
              </p:nvGrpSpPr>
              <p:grpSpPr>
                <a:xfrm>
                  <a:off x="1637881" y="4330840"/>
                  <a:ext cx="381838" cy="130628"/>
                  <a:chOff x="1637881" y="4330840"/>
                  <a:chExt cx="381838" cy="130628"/>
                </a:xfrm>
              </p:grpSpPr>
              <p:sp>
                <p:nvSpPr>
                  <p:cNvPr id="113" name="矩形 112"/>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梯形 113"/>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梯形 114"/>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105" name="组合 104"/>
                <p:cNvGrpSpPr/>
                <p:nvPr/>
              </p:nvGrpSpPr>
              <p:grpSpPr>
                <a:xfrm>
                  <a:off x="1637881" y="4548554"/>
                  <a:ext cx="381838" cy="130628"/>
                  <a:chOff x="1637881" y="4330840"/>
                  <a:chExt cx="381838" cy="130628"/>
                </a:xfrm>
              </p:grpSpPr>
              <p:sp>
                <p:nvSpPr>
                  <p:cNvPr id="110" name="矩形 109"/>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梯形 110"/>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梯形 111"/>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nvGrpSpPr>
                <p:cNvPr id="106" name="组合 105"/>
                <p:cNvGrpSpPr/>
                <p:nvPr/>
              </p:nvGrpSpPr>
              <p:grpSpPr>
                <a:xfrm>
                  <a:off x="1637881" y="4766268"/>
                  <a:ext cx="381838" cy="130628"/>
                  <a:chOff x="1637881" y="4330840"/>
                  <a:chExt cx="381838" cy="130628"/>
                </a:xfrm>
              </p:grpSpPr>
              <p:sp>
                <p:nvSpPr>
                  <p:cNvPr id="107" name="矩形 106"/>
                  <p:cNvSpPr/>
                  <p:nvPr/>
                </p:nvSpPr>
                <p:spPr>
                  <a:xfrm>
                    <a:off x="1637881" y="4330840"/>
                    <a:ext cx="170822" cy="1306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梯形 107"/>
                  <p:cNvSpPr/>
                  <p:nvPr/>
                </p:nvSpPr>
                <p:spPr>
                  <a:xfrm>
                    <a:off x="1858945" y="4330840"/>
                    <a:ext cx="160774" cy="130628"/>
                  </a:xfrm>
                  <a:prstGeom prst="trapezoid">
                    <a:avLst/>
                  </a:prstGeom>
                  <a:noFill/>
                  <a:scene3d>
                    <a:camera prst="orthographicFront">
                      <a:rot lat="540000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梯形 108"/>
                  <p:cNvSpPr/>
                  <p:nvPr/>
                </p:nvSpPr>
                <p:spPr>
                  <a:xfrm>
                    <a:off x="1858945" y="4330840"/>
                    <a:ext cx="160774" cy="130628"/>
                  </a:xfrm>
                  <a:prstGeom prst="trapezoid">
                    <a:avLst/>
                  </a:prstGeom>
                  <a:noFill/>
                  <a:scene3d>
                    <a:camera prst="orthographicFront">
                      <a:rot lat="0" lon="0" rev="16200000"/>
                    </a:camera>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grpSp>
          <p:sp>
            <p:nvSpPr>
              <p:cNvPr id="97" name="右箭头 96"/>
              <p:cNvSpPr/>
              <p:nvPr/>
            </p:nvSpPr>
            <p:spPr>
              <a:xfrm>
                <a:off x="9577753" y="5563437"/>
                <a:ext cx="76201" cy="12148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右箭头 97"/>
              <p:cNvSpPr/>
              <p:nvPr/>
            </p:nvSpPr>
            <p:spPr>
              <a:xfrm>
                <a:off x="10045840" y="5563437"/>
                <a:ext cx="96297" cy="12148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2406" name="组合 272405"/>
            <p:cNvGrpSpPr/>
            <p:nvPr/>
          </p:nvGrpSpPr>
          <p:grpSpPr>
            <a:xfrm>
              <a:off x="6822832" y="5172456"/>
              <a:ext cx="1637881" cy="381770"/>
              <a:chOff x="6973556" y="5554293"/>
              <a:chExt cx="1637881" cy="381770"/>
            </a:xfrm>
          </p:grpSpPr>
          <p:sp>
            <p:nvSpPr>
              <p:cNvPr id="272404" name="矩形 272403"/>
              <p:cNvSpPr/>
              <p:nvPr/>
            </p:nvSpPr>
            <p:spPr>
              <a:xfrm>
                <a:off x="6973556" y="5554293"/>
                <a:ext cx="1637881" cy="3817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2405" name="矩形 272404"/>
              <p:cNvSpPr/>
              <p:nvPr/>
            </p:nvSpPr>
            <p:spPr>
              <a:xfrm>
                <a:off x="7087437"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矩形 144"/>
              <p:cNvSpPr/>
              <p:nvPr/>
            </p:nvSpPr>
            <p:spPr>
              <a:xfrm>
                <a:off x="7406473"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矩形 145"/>
              <p:cNvSpPr/>
              <p:nvPr/>
            </p:nvSpPr>
            <p:spPr>
              <a:xfrm>
                <a:off x="7686989"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矩形 146"/>
              <p:cNvSpPr/>
              <p:nvPr/>
            </p:nvSpPr>
            <p:spPr>
              <a:xfrm>
                <a:off x="8006025"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矩形 147"/>
              <p:cNvSpPr/>
              <p:nvPr/>
            </p:nvSpPr>
            <p:spPr>
              <a:xfrm>
                <a:off x="8291148"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2408" name="组合 272407"/>
            <p:cNvGrpSpPr/>
            <p:nvPr/>
          </p:nvGrpSpPr>
          <p:grpSpPr>
            <a:xfrm>
              <a:off x="6591720" y="4079631"/>
              <a:ext cx="4180114" cy="435428"/>
              <a:chOff x="6742444" y="4461468"/>
              <a:chExt cx="4180114" cy="435428"/>
            </a:xfrm>
          </p:grpSpPr>
          <p:sp>
            <p:nvSpPr>
              <p:cNvPr id="272407" name="矩形 272406"/>
              <p:cNvSpPr/>
              <p:nvPr/>
            </p:nvSpPr>
            <p:spPr>
              <a:xfrm>
                <a:off x="6742444" y="4461468"/>
                <a:ext cx="4180114" cy="4354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0" name="组合 149"/>
              <p:cNvGrpSpPr/>
              <p:nvPr/>
            </p:nvGrpSpPr>
            <p:grpSpPr>
              <a:xfrm>
                <a:off x="6898194" y="4549458"/>
                <a:ext cx="1637881" cy="263316"/>
                <a:chOff x="6973556" y="5554293"/>
                <a:chExt cx="1637881" cy="381770"/>
              </a:xfrm>
            </p:grpSpPr>
            <p:sp>
              <p:nvSpPr>
                <p:cNvPr id="151" name="矩形 150"/>
                <p:cNvSpPr/>
                <p:nvPr/>
              </p:nvSpPr>
              <p:spPr>
                <a:xfrm>
                  <a:off x="6973556" y="5554293"/>
                  <a:ext cx="1637881" cy="3817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矩形 151"/>
                <p:cNvSpPr/>
                <p:nvPr/>
              </p:nvSpPr>
              <p:spPr>
                <a:xfrm>
                  <a:off x="7087437"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p:cNvSpPr/>
                <p:nvPr/>
              </p:nvSpPr>
              <p:spPr>
                <a:xfrm>
                  <a:off x="7406473"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矩形 153"/>
                <p:cNvSpPr/>
                <p:nvPr/>
              </p:nvSpPr>
              <p:spPr>
                <a:xfrm>
                  <a:off x="7686989"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矩形 154"/>
                <p:cNvSpPr/>
                <p:nvPr/>
              </p:nvSpPr>
              <p:spPr>
                <a:xfrm>
                  <a:off x="8006025"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矩形 155"/>
                <p:cNvSpPr/>
                <p:nvPr/>
              </p:nvSpPr>
              <p:spPr>
                <a:xfrm>
                  <a:off x="8291148"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159" name="组合 158"/>
            <p:cNvGrpSpPr/>
            <p:nvPr/>
          </p:nvGrpSpPr>
          <p:grpSpPr>
            <a:xfrm>
              <a:off x="6591720" y="3557311"/>
              <a:ext cx="4180114" cy="435428"/>
              <a:chOff x="6742444" y="4461468"/>
              <a:chExt cx="4180114" cy="435428"/>
            </a:xfrm>
          </p:grpSpPr>
          <p:sp>
            <p:nvSpPr>
              <p:cNvPr id="160" name="矩形 159"/>
              <p:cNvSpPr/>
              <p:nvPr/>
            </p:nvSpPr>
            <p:spPr>
              <a:xfrm>
                <a:off x="6742444" y="4461468"/>
                <a:ext cx="4180114" cy="43542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1" name="组合 160"/>
              <p:cNvGrpSpPr/>
              <p:nvPr/>
            </p:nvGrpSpPr>
            <p:grpSpPr>
              <a:xfrm>
                <a:off x="6898194" y="4549458"/>
                <a:ext cx="1637881" cy="263316"/>
                <a:chOff x="6973556" y="5554293"/>
                <a:chExt cx="1637881" cy="381770"/>
              </a:xfrm>
            </p:grpSpPr>
            <p:sp>
              <p:nvSpPr>
                <p:cNvPr id="162" name="矩形 161"/>
                <p:cNvSpPr/>
                <p:nvPr/>
              </p:nvSpPr>
              <p:spPr>
                <a:xfrm>
                  <a:off x="6973556" y="5554293"/>
                  <a:ext cx="1637881" cy="3817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3" name="矩形 162"/>
                <p:cNvSpPr/>
                <p:nvPr/>
              </p:nvSpPr>
              <p:spPr>
                <a:xfrm>
                  <a:off x="7087437"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矩形 163"/>
                <p:cNvSpPr/>
                <p:nvPr/>
              </p:nvSpPr>
              <p:spPr>
                <a:xfrm>
                  <a:off x="7406473"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矩形 164"/>
                <p:cNvSpPr/>
                <p:nvPr/>
              </p:nvSpPr>
              <p:spPr>
                <a:xfrm>
                  <a:off x="7686989"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矩形 165"/>
                <p:cNvSpPr/>
                <p:nvPr/>
              </p:nvSpPr>
              <p:spPr>
                <a:xfrm>
                  <a:off x="8006025"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矩形 166"/>
                <p:cNvSpPr/>
                <p:nvPr/>
              </p:nvSpPr>
              <p:spPr>
                <a:xfrm>
                  <a:off x="8291148" y="5608814"/>
                  <a:ext cx="158262" cy="2738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
          <p:nvSpPr>
            <p:cNvPr id="168" name="右箭头 167"/>
            <p:cNvSpPr/>
            <p:nvPr/>
          </p:nvSpPr>
          <p:spPr>
            <a:xfrm>
              <a:off x="6108985" y="3649390"/>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9" name="右箭头 168"/>
            <p:cNvSpPr/>
            <p:nvPr/>
          </p:nvSpPr>
          <p:spPr>
            <a:xfrm>
              <a:off x="6113167" y="4165109"/>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右箭头 169"/>
            <p:cNvSpPr/>
            <p:nvPr/>
          </p:nvSpPr>
          <p:spPr>
            <a:xfrm>
              <a:off x="6115683" y="5199459"/>
              <a:ext cx="351692" cy="283028"/>
            </a:xfrm>
            <a:prstGeom prst="rightArrow">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2411" name="组合 272410"/>
            <p:cNvGrpSpPr/>
            <p:nvPr/>
          </p:nvGrpSpPr>
          <p:grpSpPr>
            <a:xfrm>
              <a:off x="1779994" y="5455028"/>
              <a:ext cx="1082348" cy="1349950"/>
              <a:chOff x="1769107" y="5495418"/>
              <a:chExt cx="1082348" cy="1349950"/>
            </a:xfrm>
          </p:grpSpPr>
          <p:sp>
            <p:nvSpPr>
              <p:cNvPr id="272409" name="左大括号 272408"/>
              <p:cNvSpPr/>
              <p:nvPr/>
            </p:nvSpPr>
            <p:spPr>
              <a:xfrm>
                <a:off x="2186353" y="5495418"/>
                <a:ext cx="247857" cy="1349950"/>
              </a:xfrm>
              <a:prstGeom prst="leftBrace">
                <a:avLst>
                  <a:gd name="adj1" fmla="val 66870"/>
                  <a:gd name="adj2" fmla="val 50000"/>
                </a:avLst>
              </a:prstGeom>
              <a:scene3d>
                <a:camera prst="orthographicFront">
                  <a:rot lat="0" lon="0" rev="540000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72410" name="文本框 272409"/>
              <p:cNvSpPr txBox="1"/>
              <p:nvPr/>
            </p:nvSpPr>
            <p:spPr>
              <a:xfrm>
                <a:off x="1769107" y="6274360"/>
                <a:ext cx="1082348" cy="307777"/>
              </a:xfrm>
              <a:prstGeom prst="rect">
                <a:avLst/>
              </a:prstGeom>
              <a:noFill/>
            </p:spPr>
            <p:txBody>
              <a:bodyPr wrap="none" rtlCol="0">
                <a:spAutoFit/>
              </a:bodyPr>
              <a:lstStyle/>
              <a:p>
                <a:r>
                  <a:rPr lang="zh-CN" altLang="en-US" sz="1400" dirty="0"/>
                  <a:t>进入流水线</a:t>
                </a:r>
              </a:p>
            </p:txBody>
          </p:sp>
        </p:grpSp>
        <p:grpSp>
          <p:nvGrpSpPr>
            <p:cNvPr id="174" name="组合 173"/>
            <p:cNvGrpSpPr/>
            <p:nvPr/>
          </p:nvGrpSpPr>
          <p:grpSpPr>
            <a:xfrm>
              <a:off x="4315662" y="5464628"/>
              <a:ext cx="901209" cy="1349950"/>
              <a:chOff x="1769107" y="5495418"/>
              <a:chExt cx="901209" cy="1349950"/>
            </a:xfrm>
          </p:grpSpPr>
          <p:sp>
            <p:nvSpPr>
              <p:cNvPr id="175" name="左大括号 174"/>
              <p:cNvSpPr/>
              <p:nvPr/>
            </p:nvSpPr>
            <p:spPr>
              <a:xfrm>
                <a:off x="2186353" y="5495418"/>
                <a:ext cx="247857" cy="1349950"/>
              </a:xfrm>
              <a:prstGeom prst="leftBrace">
                <a:avLst>
                  <a:gd name="adj1" fmla="val 66870"/>
                  <a:gd name="adj2" fmla="val 50000"/>
                </a:avLst>
              </a:prstGeom>
              <a:scene3d>
                <a:camera prst="orthographicFront">
                  <a:rot lat="0" lon="0" rev="540000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76" name="文本框 175"/>
              <p:cNvSpPr txBox="1"/>
              <p:nvPr/>
            </p:nvSpPr>
            <p:spPr>
              <a:xfrm>
                <a:off x="1769107" y="6274360"/>
                <a:ext cx="901209" cy="307777"/>
              </a:xfrm>
              <a:prstGeom prst="rect">
                <a:avLst/>
              </a:prstGeom>
              <a:noFill/>
            </p:spPr>
            <p:txBody>
              <a:bodyPr wrap="none" rtlCol="0">
                <a:spAutoFit/>
              </a:bodyPr>
              <a:lstStyle/>
              <a:p>
                <a:r>
                  <a:rPr lang="zh-CN" altLang="en-US" sz="1400" dirty="0"/>
                  <a:t>交叉开关</a:t>
                </a:r>
              </a:p>
            </p:txBody>
          </p:sp>
        </p:grpSp>
        <p:grpSp>
          <p:nvGrpSpPr>
            <p:cNvPr id="177" name="组合 176"/>
            <p:cNvGrpSpPr/>
            <p:nvPr/>
          </p:nvGrpSpPr>
          <p:grpSpPr>
            <a:xfrm>
              <a:off x="7087437" y="5449251"/>
              <a:ext cx="926126" cy="1349950"/>
              <a:chOff x="1769107" y="5495418"/>
              <a:chExt cx="926126" cy="1349950"/>
            </a:xfrm>
          </p:grpSpPr>
          <p:sp>
            <p:nvSpPr>
              <p:cNvPr id="178" name="左大括号 177"/>
              <p:cNvSpPr/>
              <p:nvPr/>
            </p:nvSpPr>
            <p:spPr>
              <a:xfrm>
                <a:off x="2186353" y="5495418"/>
                <a:ext cx="247857" cy="1349950"/>
              </a:xfrm>
              <a:prstGeom prst="leftBrace">
                <a:avLst>
                  <a:gd name="adj1" fmla="val 66870"/>
                  <a:gd name="adj2" fmla="val 50000"/>
                </a:avLst>
              </a:prstGeom>
              <a:scene3d>
                <a:camera prst="orthographicFront">
                  <a:rot lat="0" lon="0" rev="540000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79" name="文本框 178"/>
              <p:cNvSpPr txBox="1"/>
              <p:nvPr/>
            </p:nvSpPr>
            <p:spPr>
              <a:xfrm>
                <a:off x="1769107" y="6274360"/>
                <a:ext cx="926126" cy="307777"/>
              </a:xfrm>
              <a:prstGeom prst="rect">
                <a:avLst/>
              </a:prstGeom>
              <a:noFill/>
            </p:spPr>
            <p:txBody>
              <a:bodyPr wrap="square" rtlCol="0">
                <a:spAutoFit/>
              </a:bodyPr>
              <a:lstStyle/>
              <a:p>
                <a:pPr algn="ctr"/>
                <a:r>
                  <a:rPr lang="zh-CN" altLang="en-US" sz="1400" dirty="0"/>
                  <a:t>排队</a:t>
                </a:r>
              </a:p>
            </p:txBody>
          </p:sp>
        </p:grpSp>
        <p:grpSp>
          <p:nvGrpSpPr>
            <p:cNvPr id="180" name="组合 179"/>
            <p:cNvGrpSpPr/>
            <p:nvPr/>
          </p:nvGrpSpPr>
          <p:grpSpPr>
            <a:xfrm>
              <a:off x="9193168" y="5446756"/>
              <a:ext cx="1082348" cy="1349950"/>
              <a:chOff x="1769107" y="5465274"/>
              <a:chExt cx="1082348" cy="1349950"/>
            </a:xfrm>
          </p:grpSpPr>
          <p:sp>
            <p:nvSpPr>
              <p:cNvPr id="181" name="左大括号 180"/>
              <p:cNvSpPr/>
              <p:nvPr/>
            </p:nvSpPr>
            <p:spPr>
              <a:xfrm>
                <a:off x="2186353" y="5465274"/>
                <a:ext cx="247857" cy="1349950"/>
              </a:xfrm>
              <a:prstGeom prst="leftBrace">
                <a:avLst>
                  <a:gd name="adj1" fmla="val 66870"/>
                  <a:gd name="adj2" fmla="val 50000"/>
                </a:avLst>
              </a:prstGeom>
              <a:scene3d>
                <a:camera prst="orthographicFront">
                  <a:rot lat="0" lon="0" rev="540000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2" name="文本框 181"/>
              <p:cNvSpPr txBox="1"/>
              <p:nvPr/>
            </p:nvSpPr>
            <p:spPr>
              <a:xfrm>
                <a:off x="1769107" y="6274360"/>
                <a:ext cx="1082348" cy="307777"/>
              </a:xfrm>
              <a:prstGeom prst="rect">
                <a:avLst/>
              </a:prstGeom>
              <a:noFill/>
            </p:spPr>
            <p:txBody>
              <a:bodyPr wrap="none" rtlCol="0">
                <a:spAutoFit/>
              </a:bodyPr>
              <a:lstStyle/>
              <a:p>
                <a:r>
                  <a:rPr lang="zh-CN" altLang="en-US" sz="1400" dirty="0"/>
                  <a:t>离开流水线</a:t>
                </a:r>
              </a:p>
            </p:txBody>
          </p:sp>
        </p:grpSp>
      </p:grpSp>
    </p:spTree>
    <p:extLst>
      <p:ext uri="{BB962C8B-B14F-4D97-AF65-F5344CB8AC3E}">
        <p14:creationId xmlns:p14="http://schemas.microsoft.com/office/powerpoint/2010/main" val="170143445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可编程网络测量</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1392688"/>
            <a:ext cx="10699865" cy="3487246"/>
          </a:xfrm>
        </p:spPr>
        <p:txBody>
          <a:bodyPr>
            <a:normAutofit/>
          </a:bodyPr>
          <a:lstStyle/>
          <a:p>
            <a:pPr>
              <a:lnSpc>
                <a:spcPct val="150000"/>
              </a:lnSpc>
            </a:pPr>
            <a:r>
              <a:rPr lang="en-US" altLang="zh-CN" sz="2400" dirty="0">
                <a:latin typeface="微软雅黑" panose="020B0503020204020204" pitchFamily="34" charset="-122"/>
                <a:ea typeface="微软雅黑" panose="020B0503020204020204" pitchFamily="34" charset="-122"/>
              </a:rPr>
              <a:t>SDN</a:t>
            </a:r>
            <a:r>
              <a:rPr lang="zh-CN" altLang="en-US" sz="2400" dirty="0">
                <a:latin typeface="微软雅黑" panose="020B0503020204020204" pitchFamily="34" charset="-122"/>
                <a:ea typeface="微软雅黑" panose="020B0503020204020204" pitchFamily="34" charset="-122"/>
              </a:rPr>
              <a:t>的一个更重要的有点事支持可编程的网络测量</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可编程交换机硬件可以支持更加灵活的网络测量</a:t>
            </a:r>
            <a:endParaRPr lang="en-US" altLang="zh-CN" sz="2400" dirty="0">
              <a:latin typeface="微软雅黑" panose="020B0503020204020204" pitchFamily="34" charset="-122"/>
              <a:ea typeface="微软雅黑" panose="020B0503020204020204" pitchFamily="34" charset="-122"/>
            </a:endParaRPr>
          </a:p>
          <a:p>
            <a:pPr>
              <a:lnSpc>
                <a:spcPct val="150000"/>
              </a:lnSpc>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5.5 </a:t>
            </a:r>
            <a:r>
              <a:rPr kumimoji="1" lang="zh-CN" altLang="en-US" dirty="0"/>
              <a:t>软件定义网络</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114</a:t>
            </a:fld>
            <a:endParaRPr kumimoji="1" lang="zh-CN" altLang="en-US" dirty="0"/>
          </a:p>
        </p:txBody>
      </p:sp>
    </p:spTree>
    <p:extLst>
      <p:ext uri="{BB962C8B-B14F-4D97-AF65-F5344CB8AC3E}">
        <p14:creationId xmlns:p14="http://schemas.microsoft.com/office/powerpoint/2010/main" val="22032135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olidFill>
                  <a:srgbClr val="C00000"/>
                </a:solidFill>
                <a:sym typeface="+mn-ea"/>
              </a:rPr>
              <a:t>5.6</a:t>
            </a:r>
            <a:r>
              <a:rPr kumimoji="1" lang="zh-CN" altLang="en-US" dirty="0">
                <a:solidFill>
                  <a:srgbClr val="C00000"/>
                </a:solidFill>
                <a:sym typeface="+mn-ea"/>
              </a:rPr>
              <a:t> </a:t>
            </a:r>
            <a:r>
              <a:rPr kumimoji="1" lang="en-US" altLang="zh-CN" dirty="0">
                <a:solidFill>
                  <a:srgbClr val="C00000"/>
                </a:solidFill>
                <a:sym typeface="+mn-ea"/>
              </a:rPr>
              <a:t>Internet</a:t>
            </a:r>
            <a:r>
              <a:rPr kumimoji="1" lang="zh-CN" altLang="en-US" dirty="0">
                <a:solidFill>
                  <a:srgbClr val="C00000"/>
                </a:solidFill>
                <a:sym typeface="+mn-ea"/>
              </a:rPr>
              <a:t>网际协议</a:t>
            </a:r>
            <a:endParaRPr kumimoji="1" lang="en-US" altLang="zh-CN" dirty="0">
              <a:solidFill>
                <a:srgbClr val="C00000"/>
              </a:solidFill>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115</a:t>
            </a:fld>
            <a:endParaRPr kumimoji="1" lang="zh-CN" altLang="en-US" dirty="0"/>
          </a:p>
        </p:txBody>
      </p:sp>
      <p:sp>
        <p:nvSpPr>
          <p:cNvPr id="7" name="矩形标注 6">
            <a:extLst>
              <a:ext uri="{FF2B5EF4-FFF2-40B4-BE49-F238E27FC236}">
                <a16:creationId xmlns:a16="http://schemas.microsoft.com/office/drawing/2014/main" id="{E4BFCB96-0FA1-7740-8F94-683CEFB67F89}"/>
              </a:ext>
            </a:extLst>
          </p:cNvPr>
          <p:cNvSpPr/>
          <p:nvPr/>
        </p:nvSpPr>
        <p:spPr>
          <a:xfrm>
            <a:off x="6551383" y="2700079"/>
            <a:ext cx="3901140" cy="3511483"/>
          </a:xfrm>
          <a:prstGeom prst="wedgeRectCallout">
            <a:avLst>
              <a:gd name="adj1" fmla="val -97739"/>
              <a:gd name="adj2" fmla="val -2531"/>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IPv4</a:t>
            </a:r>
            <a:r>
              <a:rPr lang="zh-CN" altLang="zh-CN" sz="2400" dirty="0">
                <a:solidFill>
                  <a:schemeClr val="tx1"/>
                </a:solidFill>
                <a:latin typeface="微软雅黑" pitchFamily="34" charset="-122"/>
                <a:ea typeface="微软雅黑" pitchFamily="34" charset="-122"/>
              </a:rPr>
              <a:t>协议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IP</a:t>
            </a:r>
            <a:r>
              <a:rPr lang="zh-CN" altLang="zh-CN" sz="2400" dirty="0">
                <a:solidFill>
                  <a:schemeClr val="tx1"/>
                </a:solidFill>
                <a:latin typeface="微软雅黑" pitchFamily="34" charset="-122"/>
                <a:ea typeface="微软雅黑" pitchFamily="34" charset="-122"/>
              </a:rPr>
              <a:t>地址 </a:t>
            </a:r>
            <a:r>
              <a:rPr lang="en-US" altLang="zh-CN" sz="2400" dirty="0">
                <a:solidFill>
                  <a:schemeClr val="tx1"/>
                </a:solidFill>
                <a:latin typeface="微软雅黑" pitchFamily="34" charset="-122"/>
                <a:ea typeface="微软雅黑" pitchFamily="34" charset="-122"/>
              </a:rPr>
              <a:t>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DHCP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ARP</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NAT </a:t>
            </a:r>
            <a:r>
              <a:rPr lang="zh-CN" altLang="zh-CN" sz="2400" dirty="0">
                <a:solidFill>
                  <a:schemeClr val="tx1"/>
                </a:solidFill>
                <a:latin typeface="微软雅黑" pitchFamily="34" charset="-122"/>
                <a:ea typeface="微软雅黑" pitchFamily="34" charset="-122"/>
              </a:rPr>
              <a:t>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Internet</a:t>
            </a:r>
            <a:r>
              <a:rPr lang="zh-CN" altLang="zh-CN" sz="2400" dirty="0">
                <a:solidFill>
                  <a:schemeClr val="tx1"/>
                </a:solidFill>
                <a:latin typeface="微软雅黑" pitchFamily="34" charset="-122"/>
                <a:ea typeface="微软雅黑" pitchFamily="34" charset="-122"/>
              </a:rPr>
              <a:t>控制报文协议</a:t>
            </a:r>
            <a:endParaRPr lang="en-US" altLang="zh-CN" sz="2400" dirty="0">
              <a:solidFill>
                <a:schemeClr val="tx1"/>
              </a:solidFill>
              <a:latin typeface="微软雅黑" pitchFamily="34" charset="-122"/>
              <a:ea typeface="微软雅黑" pitchFamily="34" charset="-122"/>
            </a:endParaRPr>
          </a:p>
        </p:txBody>
      </p:sp>
    </p:spTree>
    <p:extLst>
      <p:ext uri="{BB962C8B-B14F-4D97-AF65-F5344CB8AC3E}">
        <p14:creationId xmlns:p14="http://schemas.microsoft.com/office/powerpoint/2010/main" val="123780494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IPv4</a:t>
            </a:r>
            <a:r>
              <a:rPr lang="zh-CN" altLang="en-US" dirty="0"/>
              <a:t>协议</a:t>
            </a:r>
          </a:p>
        </p:txBody>
      </p:sp>
      <p:sp>
        <p:nvSpPr>
          <p:cNvPr id="3" name="内容占位符 2"/>
          <p:cNvSpPr>
            <a:spLocks noGrp="1"/>
          </p:cNvSpPr>
          <p:nvPr>
            <p:ph idx="1"/>
          </p:nvPr>
        </p:nvSpPr>
        <p:spPr>
          <a:xfrm>
            <a:off x="838200" y="1510758"/>
            <a:ext cx="10515600" cy="4586694"/>
          </a:xfrm>
        </p:spPr>
        <p:txBody>
          <a:bodyPr>
            <a:normAutofit/>
          </a:bodyPr>
          <a:lstStyle/>
          <a:p>
            <a:pPr fontAlgn="base">
              <a:lnSpc>
                <a:spcPct val="120000"/>
              </a:lnSpc>
            </a:pPr>
            <a:r>
              <a:rPr lang="en-US" sz="2400" dirty="0"/>
              <a:t>IPv4</a:t>
            </a:r>
            <a:r>
              <a:rPr lang="zh-CN" altLang="en-US" sz="2400" dirty="0"/>
              <a:t>协议，网际协议版本</a:t>
            </a:r>
            <a:r>
              <a:rPr lang="en-US" altLang="zh-CN" sz="2400" dirty="0"/>
              <a:t>4</a:t>
            </a:r>
            <a:r>
              <a:rPr lang="zh-CN" altLang="en-US" sz="2400" dirty="0"/>
              <a:t>，一种无连接的协议，是互联网的核心，也是使用最广泛的网际协议版本，其后继版本为</a:t>
            </a:r>
            <a:r>
              <a:rPr lang="en-US" altLang="zh-CN" sz="2400" dirty="0"/>
              <a:t>IPv6</a:t>
            </a:r>
          </a:p>
          <a:p>
            <a:pPr fontAlgn="base">
              <a:lnSpc>
                <a:spcPct val="120000"/>
              </a:lnSpc>
            </a:pPr>
            <a:endParaRPr lang="en-US" altLang="zh-CN" sz="2400" dirty="0"/>
          </a:p>
          <a:p>
            <a:pPr fontAlgn="base">
              <a:lnSpc>
                <a:spcPct val="120000"/>
              </a:lnSpc>
            </a:pPr>
            <a:r>
              <a:rPr lang="en-US" altLang="zh-CN" sz="2400" dirty="0"/>
              <a:t>I</a:t>
            </a:r>
            <a:r>
              <a:rPr lang="en-US" sz="2400" dirty="0"/>
              <a:t>nternet</a:t>
            </a:r>
            <a:r>
              <a:rPr lang="zh-CN" altLang="en-US" sz="2400" dirty="0"/>
              <a:t>协议执行两个基本功能</a:t>
            </a:r>
            <a:endParaRPr lang="en-US" altLang="zh-CN" sz="2400" dirty="0"/>
          </a:p>
          <a:p>
            <a:pPr lvl="1"/>
            <a:r>
              <a:rPr lang="zh-CN" altLang="en-US" dirty="0"/>
              <a:t>寻址</a:t>
            </a:r>
            <a:r>
              <a:rPr lang="en-US" altLang="zh-CN" dirty="0"/>
              <a:t>(</a:t>
            </a:r>
            <a:r>
              <a:rPr lang="en-US" dirty="0"/>
              <a:t>addressing)</a:t>
            </a:r>
            <a:endParaRPr lang="en-US" altLang="zh-CN" dirty="0">
              <a:solidFill>
                <a:srgbClr val="C00000"/>
              </a:solidFill>
            </a:endParaRPr>
          </a:p>
          <a:p>
            <a:pPr lvl="1"/>
            <a:r>
              <a:rPr lang="zh-CN" altLang="en-US" dirty="0"/>
              <a:t>分片</a:t>
            </a:r>
            <a:r>
              <a:rPr lang="en-US" altLang="zh-CN" dirty="0"/>
              <a:t>(</a:t>
            </a:r>
            <a:r>
              <a:rPr lang="en-US" dirty="0"/>
              <a:t>fragmentation)</a:t>
            </a:r>
            <a:endParaRPr lang="zh-CN" altLang="en-US" dirty="0"/>
          </a:p>
        </p:txBody>
      </p:sp>
      <p:sp>
        <p:nvSpPr>
          <p:cNvPr id="7"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6</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8"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116</a:t>
            </a:fld>
            <a:endParaRPr kumimoji="1" lang="zh-CN" altLang="en-US" dirty="0"/>
          </a:p>
        </p:txBody>
      </p:sp>
      <p:pic>
        <p:nvPicPr>
          <p:cNvPr id="47105" name="Picture 1"/>
          <p:cNvPicPr>
            <a:picLocks noChangeAspect="1" noChangeArrowheads="1"/>
          </p:cNvPicPr>
          <p:nvPr/>
        </p:nvPicPr>
        <p:blipFill>
          <a:blip r:embed="rId3"/>
          <a:srcRect/>
          <a:stretch>
            <a:fillRect/>
          </a:stretch>
        </p:blipFill>
        <p:spPr bwMode="auto">
          <a:xfrm>
            <a:off x="5761259" y="2466578"/>
            <a:ext cx="5287032" cy="3657600"/>
          </a:xfrm>
          <a:prstGeom prst="rect">
            <a:avLst/>
          </a:prstGeom>
          <a:noFill/>
          <a:ln w="9525">
            <a:noFill/>
            <a:miter lim="800000"/>
            <a:headEnd/>
            <a:tailEnd/>
          </a:ln>
          <a:effectLst/>
        </p:spPr>
      </p:pic>
      <p:sp>
        <p:nvSpPr>
          <p:cNvPr id="10" name="矩形 9"/>
          <p:cNvSpPr/>
          <p:nvPr/>
        </p:nvSpPr>
        <p:spPr>
          <a:xfrm>
            <a:off x="7281231" y="6044801"/>
            <a:ext cx="2247089" cy="4445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tx1"/>
                </a:solidFill>
              </a:rPr>
              <a:t>RFC 791</a:t>
            </a:r>
            <a:endParaRPr lang="zh-CN" altLang="en-US" sz="2000" dirty="0">
              <a:solidFill>
                <a:schemeClr val="tx1"/>
              </a:solidFill>
            </a:endParaRPr>
          </a:p>
        </p:txBody>
      </p:sp>
    </p:spTree>
    <p:extLst>
      <p:ext uri="{BB962C8B-B14F-4D97-AF65-F5344CB8AC3E}">
        <p14:creationId xmlns:p14="http://schemas.microsoft.com/office/powerpoint/2010/main" val="1853284286"/>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IPv4</a:t>
            </a:r>
            <a:r>
              <a:rPr lang="zh-CN" altLang="en-US" dirty="0"/>
              <a:t>数据报格式</a:t>
            </a:r>
          </a:p>
        </p:txBody>
      </p:sp>
      <p:sp>
        <p:nvSpPr>
          <p:cNvPr id="7" name="内容占位符 2">
            <a:extLst>
              <a:ext uri="{FF2B5EF4-FFF2-40B4-BE49-F238E27FC236}">
                <a16:creationId xmlns:a16="http://schemas.microsoft.com/office/drawing/2014/main" id="{F088ADF8-202B-CD4A-A707-9886A69D1A4C}"/>
              </a:ext>
            </a:extLst>
          </p:cNvPr>
          <p:cNvSpPr txBox="1">
            <a:spLocks/>
          </p:cNvSpPr>
          <p:nvPr/>
        </p:nvSpPr>
        <p:spPr>
          <a:xfrm>
            <a:off x="353920" y="1620830"/>
            <a:ext cx="5886869" cy="4461345"/>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zh-CN" altLang="en-US" sz="2000" dirty="0">
                <a:solidFill>
                  <a:srgbClr val="C00000"/>
                </a:solidFill>
              </a:rPr>
              <a:t>版本</a:t>
            </a:r>
            <a:r>
              <a:rPr lang="zh-CN" altLang="en-US" sz="2000" dirty="0"/>
              <a:t>： </a:t>
            </a:r>
            <a:r>
              <a:rPr lang="en-US" altLang="zh-CN" sz="2000" dirty="0"/>
              <a:t>4bit</a:t>
            </a:r>
            <a:r>
              <a:rPr lang="zh-CN" altLang="en-US" sz="2000" dirty="0"/>
              <a:t> ，表示采用的</a:t>
            </a:r>
            <a:r>
              <a:rPr lang="en-US" altLang="zh-CN" sz="2000" dirty="0"/>
              <a:t>IP</a:t>
            </a:r>
            <a:r>
              <a:rPr lang="zh-CN" altLang="en-US" sz="2000" dirty="0"/>
              <a:t>协议版本</a:t>
            </a:r>
            <a:endParaRPr lang="en-US" altLang="zh-CN" sz="2000" dirty="0"/>
          </a:p>
          <a:p>
            <a:pPr algn="just"/>
            <a:r>
              <a:rPr lang="zh-CN" altLang="en-US" sz="2000" dirty="0">
                <a:solidFill>
                  <a:srgbClr val="C00000"/>
                </a:solidFill>
              </a:rPr>
              <a:t>首部长度</a:t>
            </a:r>
            <a:r>
              <a:rPr lang="zh-CN" altLang="en-US" sz="2000" dirty="0"/>
              <a:t>： </a:t>
            </a:r>
            <a:r>
              <a:rPr lang="en-US" altLang="zh-CN" sz="2000" dirty="0"/>
              <a:t>4bit</a:t>
            </a:r>
            <a:r>
              <a:rPr lang="zh-CN" altLang="en-US" sz="2000" dirty="0"/>
              <a:t>，表示整个</a:t>
            </a:r>
            <a:r>
              <a:rPr lang="en-US" altLang="zh-CN" sz="2000" dirty="0"/>
              <a:t>IP</a:t>
            </a:r>
            <a:r>
              <a:rPr lang="zh-CN" altLang="en-US" sz="2000" dirty="0"/>
              <a:t>数据报首部的长度</a:t>
            </a:r>
            <a:endParaRPr lang="en-US" altLang="zh-CN" sz="2000" dirty="0"/>
          </a:p>
          <a:p>
            <a:pPr algn="just"/>
            <a:r>
              <a:rPr lang="zh-CN" altLang="en-US" sz="2000" dirty="0">
                <a:solidFill>
                  <a:srgbClr val="C00000"/>
                </a:solidFill>
              </a:rPr>
              <a:t>区分服务</a:t>
            </a:r>
            <a:r>
              <a:rPr lang="zh-CN" altLang="en-US" sz="2000" dirty="0"/>
              <a:t>： </a:t>
            </a:r>
            <a:r>
              <a:rPr lang="en-US" altLang="zh-CN" sz="2000" dirty="0"/>
              <a:t>8bit</a:t>
            </a:r>
            <a:r>
              <a:rPr lang="zh-CN" altLang="en-US" sz="2000" dirty="0"/>
              <a:t> ，该字段一般情况下不使用</a:t>
            </a:r>
            <a:endParaRPr lang="en-US" altLang="zh-CN" sz="2000" dirty="0"/>
          </a:p>
          <a:p>
            <a:pPr algn="just"/>
            <a:r>
              <a:rPr lang="zh-CN" altLang="en-US" sz="2000" dirty="0">
                <a:solidFill>
                  <a:srgbClr val="C00000"/>
                </a:solidFill>
              </a:rPr>
              <a:t>总长度</a:t>
            </a:r>
            <a:r>
              <a:rPr lang="zh-CN" altLang="en-US" sz="2000" dirty="0"/>
              <a:t>： </a:t>
            </a:r>
            <a:r>
              <a:rPr lang="en-US" altLang="zh-CN" sz="2000" dirty="0"/>
              <a:t>16bit</a:t>
            </a:r>
            <a:r>
              <a:rPr lang="zh-CN" altLang="en-US" sz="2000" dirty="0"/>
              <a:t> ，表示整个</a:t>
            </a:r>
            <a:r>
              <a:rPr lang="en-US" altLang="zh-CN" sz="2000" dirty="0"/>
              <a:t>IP</a:t>
            </a:r>
            <a:r>
              <a:rPr lang="zh-CN" altLang="en-US" sz="2000" dirty="0"/>
              <a:t>报文的长度</a:t>
            </a:r>
            <a:r>
              <a:rPr lang="en-US" altLang="zh-CN" sz="2000" dirty="0"/>
              <a:t>,</a:t>
            </a:r>
            <a:r>
              <a:rPr lang="zh-CN" altLang="en-US" sz="2000" dirty="0"/>
              <a:t>能表示的最大字节为</a:t>
            </a:r>
            <a:r>
              <a:rPr lang="en-US" altLang="zh-CN" sz="2000" dirty="0"/>
              <a:t>2^16-1=65535</a:t>
            </a:r>
            <a:r>
              <a:rPr lang="zh-CN" altLang="en-US" sz="2000" dirty="0"/>
              <a:t>字节</a:t>
            </a:r>
            <a:endParaRPr lang="en-US" altLang="zh-CN" sz="2000" dirty="0"/>
          </a:p>
          <a:p>
            <a:pPr algn="just"/>
            <a:r>
              <a:rPr lang="zh-CN" altLang="en-US" sz="2000" dirty="0">
                <a:solidFill>
                  <a:srgbClr val="C00000"/>
                </a:solidFill>
              </a:rPr>
              <a:t>标识</a:t>
            </a:r>
            <a:r>
              <a:rPr lang="zh-CN" altLang="en-US" sz="2000" dirty="0"/>
              <a:t>： </a:t>
            </a:r>
            <a:r>
              <a:rPr lang="en-US" altLang="zh-CN" sz="2000" dirty="0"/>
              <a:t>16bit</a:t>
            </a:r>
            <a:r>
              <a:rPr lang="zh-CN" altLang="en-US" sz="2000" dirty="0"/>
              <a:t> ，</a:t>
            </a:r>
            <a:r>
              <a:rPr lang="en-US" altLang="zh-CN" sz="2000" dirty="0"/>
              <a:t> IP</a:t>
            </a:r>
            <a:r>
              <a:rPr lang="zh-CN" altLang="en-US" sz="2000" dirty="0"/>
              <a:t>软件通过计数器自动产生，每产生</a:t>
            </a:r>
            <a:r>
              <a:rPr lang="en-US" altLang="zh-CN" sz="2000" dirty="0"/>
              <a:t>1</a:t>
            </a:r>
            <a:r>
              <a:rPr lang="zh-CN" altLang="en-US" sz="2000" dirty="0"/>
              <a:t>个数据报计数器加</a:t>
            </a:r>
            <a:r>
              <a:rPr lang="en-US" altLang="zh-CN" sz="2000" dirty="0"/>
              <a:t>1</a:t>
            </a:r>
            <a:r>
              <a:rPr lang="zh-CN" altLang="en-US" sz="2000" dirty="0"/>
              <a:t>；在</a:t>
            </a:r>
            <a:r>
              <a:rPr lang="en-US" altLang="zh-CN" sz="2000" dirty="0" err="1"/>
              <a:t>ip</a:t>
            </a:r>
            <a:r>
              <a:rPr lang="zh-CN" altLang="en-US" sz="2000" dirty="0"/>
              <a:t>分片以后，用来标识同一片分片</a:t>
            </a:r>
            <a:endParaRPr lang="en-US" altLang="zh-CN" sz="2000" dirty="0"/>
          </a:p>
          <a:p>
            <a:pPr algn="just"/>
            <a:r>
              <a:rPr lang="zh-CN" altLang="en-US" sz="2000" dirty="0">
                <a:solidFill>
                  <a:srgbClr val="C00000"/>
                </a:solidFill>
              </a:rPr>
              <a:t>标志</a:t>
            </a:r>
            <a:r>
              <a:rPr lang="zh-CN" altLang="en-US" sz="2000" dirty="0"/>
              <a:t>： </a:t>
            </a:r>
            <a:r>
              <a:rPr lang="en-US" altLang="zh-CN" sz="2000" dirty="0"/>
              <a:t>3bit</a:t>
            </a:r>
            <a:r>
              <a:rPr lang="zh-CN" altLang="en-US" sz="2000" dirty="0"/>
              <a:t>，目前只有两位有意义；</a:t>
            </a:r>
            <a:r>
              <a:rPr lang="en-US" altLang="zh-CN" sz="2000" dirty="0"/>
              <a:t> MF</a:t>
            </a:r>
            <a:r>
              <a:rPr lang="zh-CN" altLang="en-US" sz="2000" dirty="0"/>
              <a:t>，置</a:t>
            </a:r>
            <a:r>
              <a:rPr lang="en-US" altLang="zh-CN" sz="2000" dirty="0"/>
              <a:t>1</a:t>
            </a:r>
            <a:r>
              <a:rPr lang="zh-CN" altLang="en-US" sz="2000" dirty="0"/>
              <a:t>表示后面还有分片，置</a:t>
            </a:r>
            <a:r>
              <a:rPr lang="en-US" altLang="zh-CN" sz="2000" dirty="0"/>
              <a:t>0</a:t>
            </a:r>
            <a:r>
              <a:rPr lang="zh-CN" altLang="en-US" sz="2000" dirty="0"/>
              <a:t>表示这是数据报片的最后</a:t>
            </a:r>
            <a:r>
              <a:rPr lang="en-US" altLang="zh-CN" sz="2000" dirty="0"/>
              <a:t>1</a:t>
            </a:r>
            <a:r>
              <a:rPr lang="zh-CN" altLang="en-US" sz="2000" dirty="0"/>
              <a:t>个；</a:t>
            </a:r>
            <a:r>
              <a:rPr lang="en-US" altLang="zh-CN" sz="2000" dirty="0"/>
              <a:t>DF</a:t>
            </a:r>
            <a:r>
              <a:rPr lang="zh-CN" altLang="en-US" sz="2000" dirty="0"/>
              <a:t>，不能分片标志，置</a:t>
            </a:r>
            <a:r>
              <a:rPr lang="en-US" altLang="zh-CN" sz="2000" dirty="0"/>
              <a:t>0</a:t>
            </a:r>
            <a:r>
              <a:rPr lang="zh-CN" altLang="en-US" sz="2000" dirty="0"/>
              <a:t>时表示允许分片</a:t>
            </a:r>
            <a:endParaRPr lang="en-US" altLang="zh-CN" sz="2000" dirty="0"/>
          </a:p>
          <a:p>
            <a:pPr algn="just"/>
            <a:r>
              <a:rPr lang="zh-CN" altLang="en-US" sz="2000" dirty="0">
                <a:solidFill>
                  <a:srgbClr val="C00000"/>
                </a:solidFill>
              </a:rPr>
              <a:t>片偏移</a:t>
            </a:r>
            <a:r>
              <a:rPr lang="zh-CN" altLang="en-US" sz="2000" dirty="0"/>
              <a:t>： </a:t>
            </a:r>
            <a:r>
              <a:rPr lang="en-US" altLang="zh-CN" sz="2000" dirty="0"/>
              <a:t>13bit</a:t>
            </a:r>
            <a:r>
              <a:rPr lang="zh-CN" altLang="en-US" sz="2000" dirty="0"/>
              <a:t>，表示</a:t>
            </a:r>
            <a:r>
              <a:rPr lang="en-US" altLang="zh-CN" sz="2000" dirty="0"/>
              <a:t>IP</a:t>
            </a:r>
            <a:r>
              <a:rPr lang="zh-CN" altLang="en-US" sz="2000" dirty="0"/>
              <a:t>分片后，相应的</a:t>
            </a:r>
            <a:r>
              <a:rPr lang="en-US" altLang="zh-CN" sz="2000" dirty="0"/>
              <a:t>IP</a:t>
            </a:r>
            <a:r>
              <a:rPr lang="zh-CN" altLang="en-US" sz="2000" dirty="0"/>
              <a:t>片在总的</a:t>
            </a:r>
            <a:r>
              <a:rPr lang="en-US" altLang="zh-CN" sz="2000" dirty="0"/>
              <a:t>IP</a:t>
            </a:r>
            <a:r>
              <a:rPr lang="zh-CN" altLang="en-US" sz="2000" dirty="0"/>
              <a:t>片的相对位置</a:t>
            </a:r>
            <a:endParaRPr lang="en-US" altLang="zh-CN" sz="2000" dirty="0"/>
          </a:p>
        </p:txBody>
      </p:sp>
      <p:sp>
        <p:nvSpPr>
          <p:cNvPr id="8" name="内容占位符 2">
            <a:extLst>
              <a:ext uri="{FF2B5EF4-FFF2-40B4-BE49-F238E27FC236}">
                <a16:creationId xmlns:a16="http://schemas.microsoft.com/office/drawing/2014/main" id="{F088ADF8-202B-CD4A-A707-9886A69D1A4C}"/>
              </a:ext>
            </a:extLst>
          </p:cNvPr>
          <p:cNvSpPr txBox="1">
            <a:spLocks/>
          </p:cNvSpPr>
          <p:nvPr/>
        </p:nvSpPr>
        <p:spPr>
          <a:xfrm>
            <a:off x="707841" y="4178005"/>
            <a:ext cx="5243715" cy="405398"/>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lvl="1" indent="0">
              <a:buNone/>
            </a:pPr>
            <a:endParaRPr lang="en-US" altLang="zh-CN" sz="1800" dirty="0"/>
          </a:p>
        </p:txBody>
      </p:sp>
      <p:sp>
        <p:nvSpPr>
          <p:cNvPr id="10" name="内容占位符 2">
            <a:extLst>
              <a:ext uri="{FF2B5EF4-FFF2-40B4-BE49-F238E27FC236}">
                <a16:creationId xmlns:a16="http://schemas.microsoft.com/office/drawing/2014/main" id="{F088ADF8-202B-CD4A-A707-9886A69D1A4C}"/>
              </a:ext>
            </a:extLst>
          </p:cNvPr>
          <p:cNvSpPr txBox="1">
            <a:spLocks/>
          </p:cNvSpPr>
          <p:nvPr/>
        </p:nvSpPr>
        <p:spPr>
          <a:xfrm>
            <a:off x="707842" y="4572832"/>
            <a:ext cx="5243714" cy="37209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zh-CN" sz="1800" dirty="0"/>
          </a:p>
        </p:txBody>
      </p:sp>
      <p:sp>
        <p:nvSpPr>
          <p:cNvPr id="12" name="内容占位符 2">
            <a:extLst>
              <a:ext uri="{FF2B5EF4-FFF2-40B4-BE49-F238E27FC236}">
                <a16:creationId xmlns:a16="http://schemas.microsoft.com/office/drawing/2014/main" id="{F088ADF8-202B-CD4A-A707-9886A69D1A4C}"/>
              </a:ext>
            </a:extLst>
          </p:cNvPr>
          <p:cNvSpPr txBox="1">
            <a:spLocks/>
          </p:cNvSpPr>
          <p:nvPr/>
        </p:nvSpPr>
        <p:spPr>
          <a:xfrm>
            <a:off x="688335" y="4944923"/>
            <a:ext cx="5421064" cy="93166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zh-CN" sz="1800" dirty="0"/>
          </a:p>
        </p:txBody>
      </p:sp>
      <p:grpSp>
        <p:nvGrpSpPr>
          <p:cNvPr id="4" name="组合 13"/>
          <p:cNvGrpSpPr/>
          <p:nvPr/>
        </p:nvGrpSpPr>
        <p:grpSpPr>
          <a:xfrm>
            <a:off x="6516611" y="2090211"/>
            <a:ext cx="4987191" cy="3394593"/>
            <a:chOff x="6363706" y="1291648"/>
            <a:chExt cx="5581099" cy="3794703"/>
          </a:xfrm>
        </p:grpSpPr>
        <p:grpSp>
          <p:nvGrpSpPr>
            <p:cNvPr id="5" name="组合 22"/>
            <p:cNvGrpSpPr/>
            <p:nvPr/>
          </p:nvGrpSpPr>
          <p:grpSpPr>
            <a:xfrm>
              <a:off x="6363706" y="2162217"/>
              <a:ext cx="5581099" cy="2924134"/>
              <a:chOff x="6190733" y="1722254"/>
              <a:chExt cx="5581099" cy="2924134"/>
            </a:xfrm>
          </p:grpSpPr>
          <p:sp>
            <p:nvSpPr>
              <p:cNvPr id="23" name="矩形 22"/>
              <p:cNvSpPr/>
              <p:nvPr/>
            </p:nvSpPr>
            <p:spPr>
              <a:xfrm>
                <a:off x="6190733" y="1722254"/>
                <a:ext cx="923941"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版本</a:t>
                </a:r>
              </a:p>
            </p:txBody>
          </p:sp>
          <p:sp>
            <p:nvSpPr>
              <p:cNvPr id="24" name="矩形 23"/>
              <p:cNvSpPr/>
              <p:nvPr/>
            </p:nvSpPr>
            <p:spPr>
              <a:xfrm>
                <a:off x="7114674" y="1725066"/>
                <a:ext cx="1193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8000" rtlCol="0" anchor="ctr"/>
              <a:lstStyle/>
              <a:p>
                <a:pPr algn="ctr"/>
                <a:r>
                  <a:rPr lang="zh-CN" altLang="en-US" sz="1600" b="1" dirty="0">
                    <a:solidFill>
                      <a:srgbClr val="002060"/>
                    </a:solidFill>
                  </a:rPr>
                  <a:t>首部长度 </a:t>
                </a:r>
              </a:p>
            </p:txBody>
          </p:sp>
          <p:sp>
            <p:nvSpPr>
              <p:cNvPr id="25" name="矩形 24"/>
              <p:cNvSpPr/>
              <p:nvPr/>
            </p:nvSpPr>
            <p:spPr>
              <a:xfrm>
                <a:off x="8308461" y="1725066"/>
                <a:ext cx="1211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区分服务</a:t>
                </a:r>
              </a:p>
            </p:txBody>
          </p:sp>
          <p:sp>
            <p:nvSpPr>
              <p:cNvPr id="26" name="矩形 25"/>
              <p:cNvSpPr/>
              <p:nvPr/>
            </p:nvSpPr>
            <p:spPr>
              <a:xfrm>
                <a:off x="9519037" y="1725066"/>
                <a:ext cx="225022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总长度</a:t>
                </a:r>
              </a:p>
            </p:txBody>
          </p:sp>
          <p:sp>
            <p:nvSpPr>
              <p:cNvPr id="27" name="矩形 26"/>
              <p:cNvSpPr/>
              <p:nvPr/>
            </p:nvSpPr>
            <p:spPr>
              <a:xfrm>
                <a:off x="6190733" y="2094343"/>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标识</a:t>
                </a:r>
              </a:p>
            </p:txBody>
          </p:sp>
          <p:sp>
            <p:nvSpPr>
              <p:cNvPr id="28" name="矩形 27"/>
              <p:cNvSpPr/>
              <p:nvPr/>
            </p:nvSpPr>
            <p:spPr>
              <a:xfrm>
                <a:off x="8590137" y="2091529"/>
                <a:ext cx="929011" cy="402432"/>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标志</a:t>
                </a:r>
              </a:p>
            </p:txBody>
          </p:sp>
          <p:sp>
            <p:nvSpPr>
              <p:cNvPr id="29" name="矩形 28"/>
              <p:cNvSpPr/>
              <p:nvPr/>
            </p:nvSpPr>
            <p:spPr>
              <a:xfrm>
                <a:off x="9516051" y="2094343"/>
                <a:ext cx="225321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片偏移</a:t>
                </a:r>
              </a:p>
            </p:txBody>
          </p:sp>
          <p:sp>
            <p:nvSpPr>
              <p:cNvPr id="30" name="矩形 29"/>
              <p:cNvSpPr/>
              <p:nvPr/>
            </p:nvSpPr>
            <p:spPr>
              <a:xfrm>
                <a:off x="6190733" y="2463620"/>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生存时间</a:t>
                </a:r>
              </a:p>
            </p:txBody>
          </p:sp>
          <p:sp>
            <p:nvSpPr>
              <p:cNvPr id="31" name="矩形 30"/>
              <p:cNvSpPr/>
              <p:nvPr/>
            </p:nvSpPr>
            <p:spPr>
              <a:xfrm>
                <a:off x="6190733" y="283008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源地址</a:t>
                </a:r>
              </a:p>
            </p:txBody>
          </p:sp>
          <p:sp>
            <p:nvSpPr>
              <p:cNvPr id="32" name="矩形 31"/>
              <p:cNvSpPr/>
              <p:nvPr/>
            </p:nvSpPr>
            <p:spPr>
              <a:xfrm>
                <a:off x="6190733" y="3199362"/>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目的地址</a:t>
                </a:r>
              </a:p>
            </p:txBody>
          </p:sp>
          <p:sp>
            <p:nvSpPr>
              <p:cNvPr id="33" name="矩形 32"/>
              <p:cNvSpPr/>
              <p:nvPr/>
            </p:nvSpPr>
            <p:spPr>
              <a:xfrm>
                <a:off x="6190733" y="3568639"/>
                <a:ext cx="438404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可选字段（长度可变）</a:t>
                </a:r>
              </a:p>
            </p:txBody>
          </p:sp>
          <p:sp>
            <p:nvSpPr>
              <p:cNvPr id="34" name="矩形 33"/>
              <p:cNvSpPr/>
              <p:nvPr/>
            </p:nvSpPr>
            <p:spPr>
              <a:xfrm>
                <a:off x="6190733" y="3568638"/>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填充</a:t>
                </a:r>
              </a:p>
            </p:txBody>
          </p:sp>
          <p:sp>
            <p:nvSpPr>
              <p:cNvPr id="35" name="矩形 34"/>
              <p:cNvSpPr/>
              <p:nvPr/>
            </p:nvSpPr>
            <p:spPr>
              <a:xfrm>
                <a:off x="6190733" y="3918866"/>
                <a:ext cx="5578532" cy="727522"/>
              </a:xfrm>
              <a:prstGeom prst="rect">
                <a:avLst/>
              </a:prstGeom>
              <a:solidFill>
                <a:srgbClr val="FF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数据部分</a:t>
                </a:r>
              </a:p>
            </p:txBody>
          </p:sp>
          <p:sp>
            <p:nvSpPr>
              <p:cNvPr id="36" name="矩形 35"/>
              <p:cNvSpPr/>
              <p:nvPr/>
            </p:nvSpPr>
            <p:spPr>
              <a:xfrm>
                <a:off x="8592223" y="2454095"/>
                <a:ext cx="935606"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协议</a:t>
                </a:r>
              </a:p>
            </p:txBody>
          </p:sp>
          <p:sp>
            <p:nvSpPr>
              <p:cNvPr id="37" name="矩形 36"/>
              <p:cNvSpPr/>
              <p:nvPr/>
            </p:nvSpPr>
            <p:spPr>
              <a:xfrm>
                <a:off x="9527829" y="2463620"/>
                <a:ext cx="2241436"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首部校验和</a:t>
                </a:r>
              </a:p>
            </p:txBody>
          </p:sp>
          <p:sp>
            <p:nvSpPr>
              <p:cNvPr id="38" name="矩形 37"/>
              <p:cNvSpPr/>
              <p:nvPr/>
            </p:nvSpPr>
            <p:spPr>
              <a:xfrm>
                <a:off x="6190733" y="282057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源地址</a:t>
                </a:r>
              </a:p>
            </p:txBody>
          </p:sp>
          <p:sp>
            <p:nvSpPr>
              <p:cNvPr id="39" name="矩形 38"/>
              <p:cNvSpPr/>
              <p:nvPr/>
            </p:nvSpPr>
            <p:spPr>
              <a:xfrm>
                <a:off x="6190733" y="3192695"/>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目的地址</a:t>
                </a:r>
              </a:p>
            </p:txBody>
          </p:sp>
          <p:sp>
            <p:nvSpPr>
              <p:cNvPr id="40" name="矩形 39"/>
              <p:cNvSpPr/>
              <p:nvPr/>
            </p:nvSpPr>
            <p:spPr>
              <a:xfrm>
                <a:off x="6190733" y="3556863"/>
                <a:ext cx="438404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选项（长度可变）</a:t>
                </a:r>
              </a:p>
            </p:txBody>
          </p:sp>
          <p:sp>
            <p:nvSpPr>
              <p:cNvPr id="41" name="矩形 40"/>
              <p:cNvSpPr/>
              <p:nvPr/>
            </p:nvSpPr>
            <p:spPr>
              <a:xfrm>
                <a:off x="10553183" y="3555104"/>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填充</a:t>
                </a:r>
              </a:p>
            </p:txBody>
          </p:sp>
        </p:grpSp>
        <p:sp>
          <p:nvSpPr>
            <p:cNvPr id="16" name="矩形 15"/>
            <p:cNvSpPr/>
            <p:nvPr/>
          </p:nvSpPr>
          <p:spPr>
            <a:xfrm>
              <a:off x="6750563" y="1291648"/>
              <a:ext cx="4992769" cy="447270"/>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r>
                <a:rPr lang="en-US" altLang="zh-CN" sz="2000" b="1" dirty="0">
                  <a:solidFill>
                    <a:srgbClr val="C00000"/>
                  </a:solidFill>
                  <a:latin typeface="Arial" pitchFamily="34" charset="0"/>
                  <a:ea typeface="黑体" pitchFamily="2" charset="-122"/>
                </a:rPr>
                <a:t>IP </a:t>
              </a:r>
              <a:r>
                <a:rPr lang="zh-CN" altLang="en-US" sz="2000" b="1" dirty="0">
                  <a:solidFill>
                    <a:srgbClr val="C00000"/>
                  </a:solidFill>
                  <a:latin typeface="Arial" pitchFamily="34" charset="0"/>
                  <a:ea typeface="黑体" pitchFamily="2" charset="-122"/>
                </a:rPr>
                <a:t>数据报由首部和数据两部分组成</a:t>
              </a:r>
            </a:p>
          </p:txBody>
        </p:sp>
        <p:grpSp>
          <p:nvGrpSpPr>
            <p:cNvPr id="6" name="组合 44"/>
            <p:cNvGrpSpPr/>
            <p:nvPr/>
          </p:nvGrpSpPr>
          <p:grpSpPr>
            <a:xfrm>
              <a:off x="6363707" y="1740176"/>
              <a:ext cx="5578532" cy="424853"/>
              <a:chOff x="6363707" y="1740176"/>
              <a:chExt cx="5578532" cy="424853"/>
            </a:xfrm>
          </p:grpSpPr>
          <p:cxnSp>
            <p:nvCxnSpPr>
              <p:cNvPr id="18" name="直接连接符 17"/>
              <p:cNvCxnSpPr/>
              <p:nvPr/>
            </p:nvCxnSpPr>
            <p:spPr>
              <a:xfrm rot="5400000">
                <a:off x="6163208" y="1940675"/>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rot="5400000">
                <a:off x="11740152" y="1960130"/>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箭头连接符 19"/>
              <p:cNvCxnSpPr/>
              <p:nvPr/>
            </p:nvCxnSpPr>
            <p:spPr>
              <a:xfrm rot="10800000">
                <a:off x="6363708" y="1962149"/>
                <a:ext cx="2399402" cy="158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286749" y="1764919"/>
                <a:ext cx="1714501" cy="400110"/>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32bit</a:t>
                </a:r>
                <a:endParaRPr lang="zh-CN" altLang="en-US" sz="2000" b="1" dirty="0">
                  <a:solidFill>
                    <a:srgbClr val="C00000"/>
                  </a:solidFill>
                  <a:latin typeface="Arial" pitchFamily="34" charset="0"/>
                  <a:ea typeface="黑体" pitchFamily="2" charset="-122"/>
                </a:endParaRPr>
              </a:p>
            </p:txBody>
          </p:sp>
          <p:cxnSp>
            <p:nvCxnSpPr>
              <p:cNvPr id="22" name="直接箭头连接符 21"/>
              <p:cNvCxnSpPr/>
              <p:nvPr/>
            </p:nvCxnSpPr>
            <p:spPr>
              <a:xfrm>
                <a:off x="9528320" y="1962148"/>
                <a:ext cx="2412330" cy="159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2"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.1</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IPv4</a:t>
            </a:r>
            <a:r>
              <a:rPr lang="zh-CN" altLang="en-US" dirty="0"/>
              <a:t>协议</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3"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117</a:t>
            </a:fld>
            <a:endParaRPr kumimoji="1" lang="zh-CN" altLang="en-US" dirty="0"/>
          </a:p>
        </p:txBody>
      </p:sp>
      <p:sp>
        <p:nvSpPr>
          <p:cNvPr id="3" name="矩形 2"/>
          <p:cNvSpPr/>
          <p:nvPr/>
        </p:nvSpPr>
        <p:spPr>
          <a:xfrm>
            <a:off x="6518031" y="2871504"/>
            <a:ext cx="824201" cy="327824"/>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7342781" y="2875987"/>
            <a:ext cx="1066202" cy="32334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8409577" y="2880470"/>
            <a:ext cx="1089016" cy="32334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p:cNvSpPr/>
          <p:nvPr/>
        </p:nvSpPr>
        <p:spPr>
          <a:xfrm>
            <a:off x="9489819" y="2871506"/>
            <a:ext cx="2010269" cy="327823"/>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522515" y="3199328"/>
            <a:ext cx="2138169" cy="340659"/>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p:cNvSpPr/>
          <p:nvPr/>
        </p:nvSpPr>
        <p:spPr>
          <a:xfrm>
            <a:off x="8665319" y="3203810"/>
            <a:ext cx="839947" cy="3348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9501427" y="3203811"/>
            <a:ext cx="1998662" cy="340659"/>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0" name="Picture 28" descr="015">
            <a:extLst>
              <a:ext uri="{FF2B5EF4-FFF2-40B4-BE49-F238E27FC236}">
                <a16:creationId xmlns:a16="http://schemas.microsoft.com/office/drawing/2014/main" id="{D23489B4-D7A6-4C44-954C-CA3FE3A87CC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80166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12553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1" nodeType="clickEffect">
                                  <p:stCondLst>
                                    <p:cond delay="0"/>
                                  </p:stCondLst>
                                  <p:childTnLst>
                                    <p:set>
                                      <p:cBhvr>
                                        <p:cTn id="13" dur="1" fill="hold">
                                          <p:stCondLst>
                                            <p:cond delay="0"/>
                                          </p:stCondLst>
                                        </p:cTn>
                                        <p:tgtEl>
                                          <p:spTgt spid="3"/>
                                        </p:tgtEl>
                                        <p:attrNameLst>
                                          <p:attrName>style.visibility</p:attrName>
                                        </p:attrNameLst>
                                      </p:cBhvr>
                                      <p:to>
                                        <p:strVal val="hidden"/>
                                      </p:to>
                                    </p:set>
                                  </p:childTnLst>
                                </p:cTn>
                              </p:par>
                            </p:childTnLst>
                          </p:cTn>
                        </p:par>
                        <p:par>
                          <p:cTn id="14" fill="hold">
                            <p:stCondLst>
                              <p:cond delay="0"/>
                            </p:stCondLst>
                            <p:childTnLst>
                              <p:par>
                                <p:cTn id="15" presetID="1" presetClass="entr" presetSubtype="0" fill="hold" grpId="1" nodeType="afterEffect">
                                  <p:stCondLst>
                                    <p:cond delay="0"/>
                                  </p:stCondLst>
                                  <p:childTnLst>
                                    <p:set>
                                      <p:cBhvr>
                                        <p:cTn id="16" dur="1" fill="hold">
                                          <p:stCondLst>
                                            <p:cond delay="0"/>
                                          </p:stCondLst>
                                        </p:cTn>
                                        <p:tgtEl>
                                          <p:spTgt spid="44"/>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nodeType="after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grpId="0" nodeType="clickEffect">
                                  <p:stCondLst>
                                    <p:cond delay="0"/>
                                  </p:stCondLst>
                                  <p:childTnLst>
                                    <p:set>
                                      <p:cBhvr>
                                        <p:cTn id="23" dur="1" fill="hold">
                                          <p:stCondLst>
                                            <p:cond delay="0"/>
                                          </p:stCondLst>
                                        </p:cTn>
                                        <p:tgtEl>
                                          <p:spTgt spid="44"/>
                                        </p:tgtEl>
                                        <p:attrNameLst>
                                          <p:attrName>style.visibility</p:attrName>
                                        </p:attrNameLst>
                                      </p:cBhvr>
                                      <p:to>
                                        <p:strVal val="hidden"/>
                                      </p:to>
                                    </p:set>
                                  </p:childTnLst>
                                </p:cTn>
                              </p:par>
                            </p:childTnLst>
                          </p:cTn>
                        </p:par>
                        <p:par>
                          <p:cTn id="24" fill="hold">
                            <p:stCondLst>
                              <p:cond delay="0"/>
                            </p:stCondLst>
                            <p:childTnLst>
                              <p:par>
                                <p:cTn id="25" presetID="1" presetClass="entr" presetSubtype="0" fill="hold" grpId="0" nodeType="afterEffect">
                                  <p:stCondLst>
                                    <p:cond delay="0"/>
                                  </p:stCondLst>
                                  <p:childTnLst>
                                    <p:set>
                                      <p:cBhvr>
                                        <p:cTn id="26" dur="1" fill="hold">
                                          <p:stCondLst>
                                            <p:cond delay="0"/>
                                          </p:stCondLst>
                                        </p:cTn>
                                        <p:tgtEl>
                                          <p:spTgt spid="45"/>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nodeType="afterEffect">
                                  <p:stCondLst>
                                    <p:cond delay="0"/>
                                  </p:stCondLst>
                                  <p:childTnLst>
                                    <p:set>
                                      <p:cBhvr>
                                        <p:cTn id="29"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grpId="1" nodeType="clickEffect">
                                  <p:stCondLst>
                                    <p:cond delay="0"/>
                                  </p:stCondLst>
                                  <p:childTnLst>
                                    <p:set>
                                      <p:cBhvr>
                                        <p:cTn id="33" dur="1" fill="hold">
                                          <p:stCondLst>
                                            <p:cond delay="0"/>
                                          </p:stCondLst>
                                        </p:cTn>
                                        <p:tgtEl>
                                          <p:spTgt spid="45"/>
                                        </p:tgtEl>
                                        <p:attrNameLst>
                                          <p:attrName>style.visibility</p:attrName>
                                        </p:attrNameLst>
                                      </p:cBhvr>
                                      <p:to>
                                        <p:strVal val="hidden"/>
                                      </p:to>
                                    </p:set>
                                  </p:childTnLst>
                                </p:cTn>
                              </p:par>
                            </p:childTnLst>
                          </p:cTn>
                        </p:par>
                        <p:par>
                          <p:cTn id="34" fill="hold">
                            <p:stCondLst>
                              <p:cond delay="0"/>
                            </p:stCondLst>
                            <p:childTnLst>
                              <p:par>
                                <p:cTn id="35" presetID="1" presetClass="entr" presetSubtype="0" fill="hold" grpId="1" nodeType="after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0" nodeType="clickEffect">
                                  <p:stCondLst>
                                    <p:cond delay="0"/>
                                  </p:stCondLst>
                                  <p:childTnLst>
                                    <p:set>
                                      <p:cBhvr>
                                        <p:cTn id="43" dur="1" fill="hold">
                                          <p:stCondLst>
                                            <p:cond delay="0"/>
                                          </p:stCondLst>
                                        </p:cTn>
                                        <p:tgtEl>
                                          <p:spTgt spid="46"/>
                                        </p:tgtEl>
                                        <p:attrNameLst>
                                          <p:attrName>style.visibility</p:attrName>
                                        </p:attrNameLst>
                                      </p:cBhvr>
                                      <p:to>
                                        <p:strVal val="hidden"/>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1" nodeType="clickEffect">
                                  <p:stCondLst>
                                    <p:cond delay="0"/>
                                  </p:stCondLst>
                                  <p:childTnLst>
                                    <p:set>
                                      <p:cBhvr>
                                        <p:cTn id="52" dur="1" fill="hold">
                                          <p:stCondLst>
                                            <p:cond delay="0"/>
                                          </p:stCondLst>
                                        </p:cTn>
                                        <p:tgtEl>
                                          <p:spTgt spid="47"/>
                                        </p:tgtEl>
                                        <p:attrNameLst>
                                          <p:attrName>style.visibility</p:attrName>
                                        </p:attrNameLst>
                                      </p:cBhvr>
                                      <p:to>
                                        <p:strVal val="hidden"/>
                                      </p:to>
                                    </p:set>
                                  </p:childTnLst>
                                </p:cTn>
                              </p:par>
                            </p:childTnLst>
                          </p:cTn>
                        </p:par>
                        <p:par>
                          <p:cTn id="53" fill="hold">
                            <p:stCondLst>
                              <p:cond delay="0"/>
                            </p:stCondLst>
                            <p:childTnLst>
                              <p:par>
                                <p:cTn id="54" presetID="1" presetClass="entr" presetSubtype="0" fill="hold" grpId="0" nodeType="afterEffect">
                                  <p:stCondLst>
                                    <p:cond delay="0"/>
                                  </p:stCondLst>
                                  <p:childTnLst>
                                    <p:set>
                                      <p:cBhvr>
                                        <p:cTn id="55" dur="1" fill="hold">
                                          <p:stCondLst>
                                            <p:cond delay="0"/>
                                          </p:stCondLst>
                                        </p:cTn>
                                        <p:tgtEl>
                                          <p:spTgt spid="48"/>
                                        </p:tgtEl>
                                        <p:attrNameLst>
                                          <p:attrName>style.visibility</p:attrName>
                                        </p:attrNameLst>
                                      </p:cBhvr>
                                      <p:to>
                                        <p:strVal val="visible"/>
                                      </p:to>
                                    </p:set>
                                  </p:childTnLst>
                                </p:cTn>
                              </p:par>
                            </p:childTnLst>
                          </p:cTn>
                        </p:par>
                        <p:par>
                          <p:cTn id="56" fill="hold">
                            <p:stCondLst>
                              <p:cond delay="0"/>
                            </p:stCondLst>
                            <p:childTnLst>
                              <p:par>
                                <p:cTn id="57" presetID="1" presetClass="entr" presetSubtype="0" fill="hold" nodeType="afterEffect">
                                  <p:stCondLst>
                                    <p:cond delay="0"/>
                                  </p:stCondLst>
                                  <p:childTnLst>
                                    <p:set>
                                      <p:cBhvr>
                                        <p:cTn id="58"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xit" presetSubtype="0" fill="hold" grpId="1" nodeType="clickEffect">
                                  <p:stCondLst>
                                    <p:cond delay="0"/>
                                  </p:stCondLst>
                                  <p:childTnLst>
                                    <p:set>
                                      <p:cBhvr>
                                        <p:cTn id="62" dur="1" fill="hold">
                                          <p:stCondLst>
                                            <p:cond delay="0"/>
                                          </p:stCondLst>
                                        </p:cTn>
                                        <p:tgtEl>
                                          <p:spTgt spid="48"/>
                                        </p:tgtEl>
                                        <p:attrNameLst>
                                          <p:attrName>style.visibility</p:attrName>
                                        </p:attrNameLst>
                                      </p:cBhvr>
                                      <p:to>
                                        <p:strVal val="hidden"/>
                                      </p:to>
                                    </p:set>
                                  </p:childTnLst>
                                </p:cTn>
                              </p:par>
                            </p:childTnLst>
                          </p:cTn>
                        </p:par>
                        <p:par>
                          <p:cTn id="63" fill="hold">
                            <p:stCondLst>
                              <p:cond delay="0"/>
                            </p:stCondLst>
                            <p:childTnLst>
                              <p:par>
                                <p:cTn id="64" presetID="1" presetClass="entr" presetSubtype="0" fill="hold" grpId="0" nodeType="afterEffect">
                                  <p:stCondLst>
                                    <p:cond delay="0"/>
                                  </p:stCondLst>
                                  <p:childTnLst>
                                    <p:set>
                                      <p:cBhvr>
                                        <p:cTn id="65" dur="1" fill="hold">
                                          <p:stCondLst>
                                            <p:cond delay="0"/>
                                          </p:stCondLst>
                                        </p:cTn>
                                        <p:tgtEl>
                                          <p:spTgt spid="49"/>
                                        </p:tgtEl>
                                        <p:attrNameLst>
                                          <p:attrName>style.visibility</p:attrName>
                                        </p:attrNameLst>
                                      </p:cBhvr>
                                      <p:to>
                                        <p:strVal val="visible"/>
                                      </p:to>
                                    </p:set>
                                  </p:childTnLst>
                                </p:cTn>
                              </p:par>
                            </p:childTnLst>
                          </p:cTn>
                        </p:par>
                        <p:par>
                          <p:cTn id="66" fill="hold">
                            <p:stCondLst>
                              <p:cond delay="0"/>
                            </p:stCondLst>
                            <p:childTnLst>
                              <p:par>
                                <p:cTn id="67" presetID="1" presetClass="entr" presetSubtype="0" fill="hold" nodeType="afterEffect">
                                  <p:stCondLst>
                                    <p:cond delay="0"/>
                                  </p:stCondLst>
                                  <p:childTnLst>
                                    <p:set>
                                      <p:cBhvr>
                                        <p:cTn id="68"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xit" presetSubtype="0" fill="hold" grpId="1" nodeType="clickEffect">
                                  <p:stCondLst>
                                    <p:cond delay="0"/>
                                  </p:stCondLst>
                                  <p:childTnLst>
                                    <p:set>
                                      <p:cBhvr>
                                        <p:cTn id="72" dur="1" fill="hold">
                                          <p:stCondLst>
                                            <p:cond delay="0"/>
                                          </p:stCondLst>
                                        </p:cTn>
                                        <p:tgtEl>
                                          <p:spTgt spid="4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IPv4</a:t>
            </a:r>
            <a:r>
              <a:rPr lang="zh-CN" altLang="en-US" dirty="0"/>
              <a:t>数据报格式</a:t>
            </a:r>
          </a:p>
        </p:txBody>
      </p:sp>
      <p:sp>
        <p:nvSpPr>
          <p:cNvPr id="7" name="内容占位符 2">
            <a:extLst>
              <a:ext uri="{FF2B5EF4-FFF2-40B4-BE49-F238E27FC236}">
                <a16:creationId xmlns:a16="http://schemas.microsoft.com/office/drawing/2014/main" id="{F088ADF8-202B-CD4A-A707-9886A69D1A4C}"/>
              </a:ext>
            </a:extLst>
          </p:cNvPr>
          <p:cNvSpPr txBox="1">
            <a:spLocks/>
          </p:cNvSpPr>
          <p:nvPr/>
        </p:nvSpPr>
        <p:spPr>
          <a:xfrm>
            <a:off x="353920" y="1620830"/>
            <a:ext cx="5886869" cy="4461345"/>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sz="2000" dirty="0">
                <a:solidFill>
                  <a:srgbClr val="C00000"/>
                </a:solidFill>
              </a:rPr>
              <a:t>生存时间</a:t>
            </a:r>
            <a:r>
              <a:rPr lang="en-US" altLang="zh-CN" sz="2000" dirty="0">
                <a:solidFill>
                  <a:srgbClr val="C00000"/>
                </a:solidFill>
              </a:rPr>
              <a:t>TTL(Time To Live)</a:t>
            </a:r>
            <a:r>
              <a:rPr lang="zh-CN" altLang="en-US" sz="2000" dirty="0">
                <a:solidFill>
                  <a:srgbClr val="C00000"/>
                </a:solidFill>
              </a:rPr>
              <a:t> </a:t>
            </a:r>
            <a:r>
              <a:rPr lang="zh-CN" altLang="en-US" sz="2000" dirty="0"/>
              <a:t>：</a:t>
            </a:r>
            <a:r>
              <a:rPr lang="en-US" altLang="zh-CN" sz="2000" dirty="0"/>
              <a:t>8bit,</a:t>
            </a:r>
            <a:r>
              <a:rPr lang="zh-CN" altLang="en-US" sz="2000" dirty="0"/>
              <a:t>表示数据报在网络中的生命周期，用通过路由器的数量来计量，即跳数（每经过一个路由器会减</a:t>
            </a:r>
            <a:r>
              <a:rPr lang="en-US" altLang="zh-CN" sz="2000" dirty="0"/>
              <a:t>1</a:t>
            </a:r>
            <a:r>
              <a:rPr lang="zh-CN" altLang="en-US" sz="2000" dirty="0"/>
              <a:t>）</a:t>
            </a:r>
            <a:endParaRPr lang="en-US" altLang="zh-CN" sz="2000" dirty="0"/>
          </a:p>
          <a:p>
            <a:r>
              <a:rPr lang="zh-CN" altLang="en-US" sz="2000" dirty="0">
                <a:solidFill>
                  <a:srgbClr val="C00000"/>
                </a:solidFill>
              </a:rPr>
              <a:t>协议</a:t>
            </a:r>
            <a:r>
              <a:rPr lang="zh-CN" altLang="en-US" sz="2000" dirty="0"/>
              <a:t>：</a:t>
            </a:r>
            <a:r>
              <a:rPr lang="en-US" altLang="zh-CN" sz="2000" dirty="0"/>
              <a:t>8bit</a:t>
            </a:r>
            <a:r>
              <a:rPr lang="zh-CN" altLang="en-US" sz="2000" dirty="0"/>
              <a:t>，标识上层协议（</a:t>
            </a:r>
            <a:r>
              <a:rPr lang="en-US" altLang="zh-CN" sz="2000" dirty="0"/>
              <a:t>TCP/UDP/ICMP…</a:t>
            </a:r>
            <a:r>
              <a:rPr lang="zh-CN" altLang="en-US" sz="2000" dirty="0"/>
              <a:t>）</a:t>
            </a:r>
            <a:endParaRPr lang="en-US" altLang="zh-CN" sz="2000" dirty="0"/>
          </a:p>
          <a:p>
            <a:r>
              <a:rPr lang="zh-CN" altLang="en-US" sz="2000" dirty="0">
                <a:solidFill>
                  <a:srgbClr val="C00000"/>
                </a:solidFill>
              </a:rPr>
              <a:t>首部校验和</a:t>
            </a:r>
            <a:r>
              <a:rPr lang="zh-CN" altLang="en-US" sz="2000" dirty="0"/>
              <a:t>：</a:t>
            </a:r>
            <a:r>
              <a:rPr lang="en-US" altLang="zh-CN" sz="2000" dirty="0"/>
              <a:t>16bit</a:t>
            </a:r>
            <a:r>
              <a:rPr lang="zh-CN" altLang="en-US" sz="2000" dirty="0"/>
              <a:t> ，对数据报首部进行校验，不包括数据部分</a:t>
            </a:r>
            <a:endParaRPr lang="en-US" altLang="zh-CN" sz="2000" dirty="0"/>
          </a:p>
          <a:p>
            <a:r>
              <a:rPr lang="zh-CN" altLang="en-US" sz="2000" dirty="0">
                <a:solidFill>
                  <a:srgbClr val="C00000"/>
                </a:solidFill>
              </a:rPr>
              <a:t>源地址</a:t>
            </a:r>
            <a:r>
              <a:rPr lang="zh-CN" altLang="en-US" sz="2000" dirty="0"/>
              <a:t>：</a:t>
            </a:r>
            <a:r>
              <a:rPr lang="en-US" altLang="zh-CN" sz="2000" dirty="0"/>
              <a:t>32bit</a:t>
            </a:r>
            <a:r>
              <a:rPr lang="zh-CN" altLang="en-US" sz="2000" dirty="0"/>
              <a:t>，标识</a:t>
            </a:r>
            <a:r>
              <a:rPr lang="en-US" altLang="zh-CN" sz="2000" dirty="0"/>
              <a:t>IP</a:t>
            </a:r>
            <a:r>
              <a:rPr lang="zh-CN" altLang="en-US" sz="2000" dirty="0"/>
              <a:t>片的发送源</a:t>
            </a:r>
            <a:r>
              <a:rPr lang="en-US" altLang="zh-CN" sz="2000" dirty="0"/>
              <a:t>IP</a:t>
            </a:r>
            <a:r>
              <a:rPr lang="zh-CN" altLang="en-US" sz="2000" dirty="0"/>
              <a:t>地址</a:t>
            </a:r>
            <a:endParaRPr lang="en-US" altLang="zh-CN" sz="2000" dirty="0"/>
          </a:p>
          <a:p>
            <a:r>
              <a:rPr lang="zh-CN" altLang="en-US" sz="2000" dirty="0">
                <a:solidFill>
                  <a:srgbClr val="C00000"/>
                </a:solidFill>
              </a:rPr>
              <a:t>目的地址</a:t>
            </a:r>
            <a:r>
              <a:rPr lang="zh-CN" altLang="en-US" sz="2000" dirty="0"/>
              <a:t>：</a:t>
            </a:r>
            <a:r>
              <a:rPr lang="en-US" altLang="zh-CN" sz="2000" dirty="0"/>
              <a:t>32bit</a:t>
            </a:r>
            <a:r>
              <a:rPr lang="zh-CN" altLang="en-US" sz="2000" dirty="0"/>
              <a:t>，标识</a:t>
            </a:r>
            <a:r>
              <a:rPr lang="en-US" altLang="zh-CN" sz="2000" dirty="0"/>
              <a:t>IP</a:t>
            </a:r>
            <a:r>
              <a:rPr lang="zh-CN" altLang="en-US" sz="2000" dirty="0"/>
              <a:t>片的目的地</a:t>
            </a:r>
            <a:r>
              <a:rPr lang="en-US" altLang="zh-CN" sz="2000" dirty="0"/>
              <a:t>IP</a:t>
            </a:r>
            <a:r>
              <a:rPr lang="zh-CN" altLang="en-US" sz="2000" dirty="0"/>
              <a:t>地址</a:t>
            </a:r>
            <a:endParaRPr lang="en-US" altLang="zh-CN" sz="2000" dirty="0"/>
          </a:p>
          <a:p>
            <a:r>
              <a:rPr lang="zh-CN" altLang="en-US" sz="2000" dirty="0">
                <a:solidFill>
                  <a:srgbClr val="C00000"/>
                </a:solidFill>
              </a:rPr>
              <a:t>选项</a:t>
            </a:r>
            <a:r>
              <a:rPr lang="zh-CN" altLang="en-US" sz="2000" dirty="0"/>
              <a:t>：可扩充部分，具有可变长度，定义了安全性、严格源路由、松散源路由、记录路由、时间戳等选项</a:t>
            </a:r>
            <a:endParaRPr lang="en-US" altLang="zh-CN" sz="2000" dirty="0"/>
          </a:p>
          <a:p>
            <a:r>
              <a:rPr lang="zh-CN" altLang="en-US" sz="2000" dirty="0">
                <a:solidFill>
                  <a:srgbClr val="C00000"/>
                </a:solidFill>
              </a:rPr>
              <a:t>填充</a:t>
            </a:r>
            <a:r>
              <a:rPr lang="zh-CN" altLang="en-US" sz="2000" dirty="0"/>
              <a:t>：用全</a:t>
            </a:r>
            <a:r>
              <a:rPr lang="en-US" altLang="zh-CN" sz="2000" dirty="0"/>
              <a:t>0</a:t>
            </a:r>
            <a:r>
              <a:rPr lang="zh-CN" altLang="en-US" sz="2000" dirty="0"/>
              <a:t>的填充字段补齐为</a:t>
            </a:r>
            <a:r>
              <a:rPr lang="en-US" altLang="zh-CN" sz="2000" dirty="0"/>
              <a:t>4</a:t>
            </a:r>
            <a:r>
              <a:rPr lang="zh-CN" altLang="en-US" sz="2000" dirty="0"/>
              <a:t>字节的整数倍</a:t>
            </a:r>
            <a:endParaRPr lang="en-US" altLang="zh-CN" sz="2000" dirty="0"/>
          </a:p>
          <a:p>
            <a:pPr marL="0" indent="0">
              <a:buNone/>
            </a:pPr>
            <a:endParaRPr lang="en-US" altLang="zh-CN" sz="2000" dirty="0"/>
          </a:p>
          <a:p>
            <a:endParaRPr lang="en-US" altLang="zh-CN" sz="2000" dirty="0"/>
          </a:p>
          <a:p>
            <a:endParaRPr lang="en-US" altLang="zh-CN" sz="2000" dirty="0"/>
          </a:p>
          <a:p>
            <a:endParaRPr lang="en-US" altLang="zh-CN" sz="2000" dirty="0"/>
          </a:p>
        </p:txBody>
      </p:sp>
      <p:sp>
        <p:nvSpPr>
          <p:cNvPr id="8" name="内容占位符 2">
            <a:extLst>
              <a:ext uri="{FF2B5EF4-FFF2-40B4-BE49-F238E27FC236}">
                <a16:creationId xmlns:a16="http://schemas.microsoft.com/office/drawing/2014/main" id="{F088ADF8-202B-CD4A-A707-9886A69D1A4C}"/>
              </a:ext>
            </a:extLst>
          </p:cNvPr>
          <p:cNvSpPr txBox="1">
            <a:spLocks/>
          </p:cNvSpPr>
          <p:nvPr/>
        </p:nvSpPr>
        <p:spPr>
          <a:xfrm>
            <a:off x="707841" y="4178005"/>
            <a:ext cx="5243715" cy="405398"/>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lvl="1" indent="0">
              <a:buNone/>
            </a:pPr>
            <a:endParaRPr lang="en-US" altLang="zh-CN" sz="1800" dirty="0"/>
          </a:p>
        </p:txBody>
      </p:sp>
      <p:sp>
        <p:nvSpPr>
          <p:cNvPr id="10" name="内容占位符 2">
            <a:extLst>
              <a:ext uri="{FF2B5EF4-FFF2-40B4-BE49-F238E27FC236}">
                <a16:creationId xmlns:a16="http://schemas.microsoft.com/office/drawing/2014/main" id="{F088ADF8-202B-CD4A-A707-9886A69D1A4C}"/>
              </a:ext>
            </a:extLst>
          </p:cNvPr>
          <p:cNvSpPr txBox="1">
            <a:spLocks/>
          </p:cNvSpPr>
          <p:nvPr/>
        </p:nvSpPr>
        <p:spPr>
          <a:xfrm>
            <a:off x="707842" y="4572832"/>
            <a:ext cx="5243714" cy="37209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zh-CN" sz="1800" dirty="0"/>
          </a:p>
        </p:txBody>
      </p:sp>
      <p:grpSp>
        <p:nvGrpSpPr>
          <p:cNvPr id="3" name="组合 13"/>
          <p:cNvGrpSpPr/>
          <p:nvPr/>
        </p:nvGrpSpPr>
        <p:grpSpPr>
          <a:xfrm>
            <a:off x="6516611" y="2090211"/>
            <a:ext cx="4987191" cy="3394593"/>
            <a:chOff x="6363706" y="1291648"/>
            <a:chExt cx="5581099" cy="3794703"/>
          </a:xfrm>
        </p:grpSpPr>
        <p:grpSp>
          <p:nvGrpSpPr>
            <p:cNvPr id="4" name="组合 22"/>
            <p:cNvGrpSpPr/>
            <p:nvPr/>
          </p:nvGrpSpPr>
          <p:grpSpPr>
            <a:xfrm>
              <a:off x="6363706" y="2162217"/>
              <a:ext cx="5581099" cy="2924134"/>
              <a:chOff x="6190733" y="1722254"/>
              <a:chExt cx="5581099" cy="2924134"/>
            </a:xfrm>
          </p:grpSpPr>
          <p:sp>
            <p:nvSpPr>
              <p:cNvPr id="23" name="矩形 22"/>
              <p:cNvSpPr/>
              <p:nvPr/>
            </p:nvSpPr>
            <p:spPr>
              <a:xfrm>
                <a:off x="6190733" y="1722254"/>
                <a:ext cx="923941"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版本</a:t>
                </a:r>
              </a:p>
            </p:txBody>
          </p:sp>
          <p:sp>
            <p:nvSpPr>
              <p:cNvPr id="24" name="矩形 23"/>
              <p:cNvSpPr/>
              <p:nvPr/>
            </p:nvSpPr>
            <p:spPr>
              <a:xfrm>
                <a:off x="7114674" y="1725066"/>
                <a:ext cx="1193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8000" rtlCol="0" anchor="ctr"/>
              <a:lstStyle/>
              <a:p>
                <a:pPr algn="ctr"/>
                <a:r>
                  <a:rPr lang="zh-CN" altLang="en-US" sz="1600" b="1" dirty="0">
                    <a:solidFill>
                      <a:srgbClr val="002060"/>
                    </a:solidFill>
                  </a:rPr>
                  <a:t>首部长度 </a:t>
                </a:r>
              </a:p>
            </p:txBody>
          </p:sp>
          <p:sp>
            <p:nvSpPr>
              <p:cNvPr id="25" name="矩形 24"/>
              <p:cNvSpPr/>
              <p:nvPr/>
            </p:nvSpPr>
            <p:spPr>
              <a:xfrm>
                <a:off x="8308461" y="1725066"/>
                <a:ext cx="1211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区分服务</a:t>
                </a:r>
              </a:p>
            </p:txBody>
          </p:sp>
          <p:sp>
            <p:nvSpPr>
              <p:cNvPr id="26" name="矩形 25"/>
              <p:cNvSpPr/>
              <p:nvPr/>
            </p:nvSpPr>
            <p:spPr>
              <a:xfrm>
                <a:off x="9519037" y="1725066"/>
                <a:ext cx="225022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总长度</a:t>
                </a:r>
              </a:p>
            </p:txBody>
          </p:sp>
          <p:sp>
            <p:nvSpPr>
              <p:cNvPr id="27" name="矩形 26"/>
              <p:cNvSpPr/>
              <p:nvPr/>
            </p:nvSpPr>
            <p:spPr>
              <a:xfrm>
                <a:off x="6190733" y="2094343"/>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标识</a:t>
                </a:r>
              </a:p>
            </p:txBody>
          </p:sp>
          <p:sp>
            <p:nvSpPr>
              <p:cNvPr id="28" name="矩形 27"/>
              <p:cNvSpPr/>
              <p:nvPr/>
            </p:nvSpPr>
            <p:spPr>
              <a:xfrm>
                <a:off x="8590137" y="2091530"/>
                <a:ext cx="929011"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标志</a:t>
                </a:r>
              </a:p>
            </p:txBody>
          </p:sp>
          <p:sp>
            <p:nvSpPr>
              <p:cNvPr id="29" name="矩形 28"/>
              <p:cNvSpPr/>
              <p:nvPr/>
            </p:nvSpPr>
            <p:spPr>
              <a:xfrm>
                <a:off x="9516051" y="2094343"/>
                <a:ext cx="225321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片偏移</a:t>
                </a:r>
              </a:p>
            </p:txBody>
          </p:sp>
          <p:sp>
            <p:nvSpPr>
              <p:cNvPr id="30" name="矩形 29"/>
              <p:cNvSpPr/>
              <p:nvPr/>
            </p:nvSpPr>
            <p:spPr>
              <a:xfrm>
                <a:off x="6190733" y="2463620"/>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生存时间</a:t>
                </a:r>
              </a:p>
            </p:txBody>
          </p:sp>
          <p:sp>
            <p:nvSpPr>
              <p:cNvPr id="31" name="矩形 30"/>
              <p:cNvSpPr/>
              <p:nvPr/>
            </p:nvSpPr>
            <p:spPr>
              <a:xfrm>
                <a:off x="6190733" y="283008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源地址</a:t>
                </a:r>
              </a:p>
            </p:txBody>
          </p:sp>
          <p:sp>
            <p:nvSpPr>
              <p:cNvPr id="32" name="矩形 31"/>
              <p:cNvSpPr/>
              <p:nvPr/>
            </p:nvSpPr>
            <p:spPr>
              <a:xfrm>
                <a:off x="6190733" y="3199362"/>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目的地址</a:t>
                </a:r>
              </a:p>
            </p:txBody>
          </p:sp>
          <p:sp>
            <p:nvSpPr>
              <p:cNvPr id="33" name="矩形 32"/>
              <p:cNvSpPr/>
              <p:nvPr/>
            </p:nvSpPr>
            <p:spPr>
              <a:xfrm>
                <a:off x="6190733" y="3568639"/>
                <a:ext cx="438404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可选字段（长度可变）</a:t>
                </a:r>
              </a:p>
            </p:txBody>
          </p:sp>
          <p:sp>
            <p:nvSpPr>
              <p:cNvPr id="34" name="矩形 33"/>
              <p:cNvSpPr/>
              <p:nvPr/>
            </p:nvSpPr>
            <p:spPr>
              <a:xfrm>
                <a:off x="6190733" y="3568638"/>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填充</a:t>
                </a:r>
              </a:p>
            </p:txBody>
          </p:sp>
          <p:sp>
            <p:nvSpPr>
              <p:cNvPr id="35" name="矩形 34"/>
              <p:cNvSpPr/>
              <p:nvPr/>
            </p:nvSpPr>
            <p:spPr>
              <a:xfrm>
                <a:off x="6190733" y="3918866"/>
                <a:ext cx="5578532" cy="727522"/>
              </a:xfrm>
              <a:prstGeom prst="rect">
                <a:avLst/>
              </a:prstGeom>
              <a:solidFill>
                <a:srgbClr val="FF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数据部分</a:t>
                </a:r>
              </a:p>
            </p:txBody>
          </p:sp>
          <p:sp>
            <p:nvSpPr>
              <p:cNvPr id="36" name="矩形 35"/>
              <p:cNvSpPr/>
              <p:nvPr/>
            </p:nvSpPr>
            <p:spPr>
              <a:xfrm>
                <a:off x="8592223" y="2454095"/>
                <a:ext cx="935606"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协议</a:t>
                </a:r>
              </a:p>
            </p:txBody>
          </p:sp>
          <p:sp>
            <p:nvSpPr>
              <p:cNvPr id="37" name="矩形 36"/>
              <p:cNvSpPr/>
              <p:nvPr/>
            </p:nvSpPr>
            <p:spPr>
              <a:xfrm>
                <a:off x="9527829" y="2463620"/>
                <a:ext cx="2241435"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首部校验和</a:t>
                </a:r>
              </a:p>
            </p:txBody>
          </p:sp>
          <p:sp>
            <p:nvSpPr>
              <p:cNvPr id="38" name="矩形 37"/>
              <p:cNvSpPr/>
              <p:nvPr/>
            </p:nvSpPr>
            <p:spPr>
              <a:xfrm>
                <a:off x="6190733" y="282057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源地址</a:t>
                </a:r>
              </a:p>
            </p:txBody>
          </p:sp>
          <p:sp>
            <p:nvSpPr>
              <p:cNvPr id="39" name="矩形 38"/>
              <p:cNvSpPr/>
              <p:nvPr/>
            </p:nvSpPr>
            <p:spPr>
              <a:xfrm>
                <a:off x="6190733" y="3192695"/>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目的地址</a:t>
                </a:r>
              </a:p>
            </p:txBody>
          </p:sp>
          <p:sp>
            <p:nvSpPr>
              <p:cNvPr id="40" name="矩形 39"/>
              <p:cNvSpPr/>
              <p:nvPr/>
            </p:nvSpPr>
            <p:spPr>
              <a:xfrm>
                <a:off x="6190733" y="3556864"/>
                <a:ext cx="4362451" cy="381053"/>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选项（长度可变）</a:t>
                </a:r>
              </a:p>
            </p:txBody>
          </p:sp>
          <p:sp>
            <p:nvSpPr>
              <p:cNvPr id="41" name="矩形 40"/>
              <p:cNvSpPr/>
              <p:nvPr/>
            </p:nvSpPr>
            <p:spPr>
              <a:xfrm>
                <a:off x="10553184" y="3555104"/>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填充</a:t>
                </a:r>
              </a:p>
            </p:txBody>
          </p:sp>
        </p:grpSp>
        <p:sp>
          <p:nvSpPr>
            <p:cNvPr id="16" name="矩形 15"/>
            <p:cNvSpPr/>
            <p:nvPr/>
          </p:nvSpPr>
          <p:spPr>
            <a:xfrm>
              <a:off x="6750563" y="1291648"/>
              <a:ext cx="4992769" cy="447270"/>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r>
                <a:rPr lang="en-US" altLang="zh-CN" sz="2000" b="1" dirty="0">
                  <a:solidFill>
                    <a:srgbClr val="C00000"/>
                  </a:solidFill>
                  <a:latin typeface="Arial" pitchFamily="34" charset="0"/>
                  <a:ea typeface="黑体" pitchFamily="2" charset="-122"/>
                </a:rPr>
                <a:t>IP </a:t>
              </a:r>
              <a:r>
                <a:rPr lang="zh-CN" altLang="en-US" sz="2000" b="1" dirty="0">
                  <a:solidFill>
                    <a:srgbClr val="C00000"/>
                  </a:solidFill>
                  <a:latin typeface="Arial" pitchFamily="34" charset="0"/>
                  <a:ea typeface="黑体" pitchFamily="2" charset="-122"/>
                </a:rPr>
                <a:t>数据报由首部和数据两部分组成</a:t>
              </a:r>
            </a:p>
          </p:txBody>
        </p:sp>
        <p:grpSp>
          <p:nvGrpSpPr>
            <p:cNvPr id="5" name="组合 44"/>
            <p:cNvGrpSpPr/>
            <p:nvPr/>
          </p:nvGrpSpPr>
          <p:grpSpPr>
            <a:xfrm>
              <a:off x="6363707" y="1740176"/>
              <a:ext cx="5578532" cy="424853"/>
              <a:chOff x="6363707" y="1740176"/>
              <a:chExt cx="5578532" cy="424853"/>
            </a:xfrm>
          </p:grpSpPr>
          <p:cxnSp>
            <p:nvCxnSpPr>
              <p:cNvPr id="18" name="直接连接符 17"/>
              <p:cNvCxnSpPr/>
              <p:nvPr/>
            </p:nvCxnSpPr>
            <p:spPr>
              <a:xfrm rot="5400000">
                <a:off x="6163208" y="1940675"/>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rot="5400000">
                <a:off x="11740152" y="1960130"/>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箭头连接符 19"/>
              <p:cNvCxnSpPr/>
              <p:nvPr/>
            </p:nvCxnSpPr>
            <p:spPr>
              <a:xfrm rot="10800000">
                <a:off x="6363708" y="1962149"/>
                <a:ext cx="2399402" cy="158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286749" y="1764919"/>
                <a:ext cx="1714501" cy="400110"/>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32bit</a:t>
                </a:r>
                <a:endParaRPr lang="zh-CN" altLang="en-US" sz="2000" b="1" dirty="0">
                  <a:solidFill>
                    <a:srgbClr val="C00000"/>
                  </a:solidFill>
                  <a:latin typeface="Arial" pitchFamily="34" charset="0"/>
                  <a:ea typeface="黑体" pitchFamily="2" charset="-122"/>
                </a:endParaRPr>
              </a:p>
            </p:txBody>
          </p:sp>
          <p:cxnSp>
            <p:nvCxnSpPr>
              <p:cNvPr id="22" name="直接箭头连接符 21"/>
              <p:cNvCxnSpPr/>
              <p:nvPr/>
            </p:nvCxnSpPr>
            <p:spPr>
              <a:xfrm>
                <a:off x="9528320" y="1962148"/>
                <a:ext cx="2412330" cy="159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2"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.1</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IPv4</a:t>
            </a:r>
            <a:r>
              <a:rPr lang="zh-CN" altLang="en-US" dirty="0"/>
              <a:t>协议</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3"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118</a:t>
            </a:fld>
            <a:endParaRPr kumimoji="1" lang="zh-CN" altLang="en-US" dirty="0"/>
          </a:p>
        </p:txBody>
      </p:sp>
      <p:sp>
        <p:nvSpPr>
          <p:cNvPr id="44" name="矩形 43"/>
          <p:cNvSpPr/>
          <p:nvPr/>
        </p:nvSpPr>
        <p:spPr>
          <a:xfrm>
            <a:off x="6518030" y="3532184"/>
            <a:ext cx="2142653" cy="327825"/>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8665318" y="3527240"/>
            <a:ext cx="835200" cy="3276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p:cNvSpPr/>
          <p:nvPr/>
        </p:nvSpPr>
        <p:spPr>
          <a:xfrm>
            <a:off x="9499495" y="3531724"/>
            <a:ext cx="2001600" cy="3240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516611" y="3858154"/>
            <a:ext cx="4983478" cy="329278"/>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p:cNvSpPr/>
          <p:nvPr/>
        </p:nvSpPr>
        <p:spPr>
          <a:xfrm>
            <a:off x="6521094" y="4185365"/>
            <a:ext cx="4983478" cy="329278"/>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6515908" y="4505740"/>
            <a:ext cx="3913033" cy="345293"/>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p:nvSpPr>
        <p:spPr>
          <a:xfrm>
            <a:off x="10420564" y="4510223"/>
            <a:ext cx="1080000" cy="3348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1" name="Picture 28" descr="015">
            <a:extLst>
              <a:ext uri="{FF2B5EF4-FFF2-40B4-BE49-F238E27FC236}">
                <a16:creationId xmlns:a16="http://schemas.microsoft.com/office/drawing/2014/main" id="{833AA166-CF05-455B-8068-A03A0D82352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80166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32197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0" nodeType="clickEffect">
                                  <p:stCondLst>
                                    <p:cond delay="0"/>
                                  </p:stCondLst>
                                  <p:childTnLst>
                                    <p:set>
                                      <p:cBhvr>
                                        <p:cTn id="13" dur="1" fill="hold">
                                          <p:stCondLst>
                                            <p:cond delay="0"/>
                                          </p:stCondLst>
                                        </p:cTn>
                                        <p:tgtEl>
                                          <p:spTgt spid="44"/>
                                        </p:tgtEl>
                                        <p:attrNameLst>
                                          <p:attrName>style.visibility</p:attrName>
                                        </p:attrNameLst>
                                      </p:cBhvr>
                                      <p:to>
                                        <p:strVal val="hidden"/>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0"/>
                                          </p:stCondLst>
                                        </p:cTn>
                                        <p:tgtEl>
                                          <p:spTgt spid="45"/>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nodeType="after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grpId="1" nodeType="clickEffect">
                                  <p:stCondLst>
                                    <p:cond delay="0"/>
                                  </p:stCondLst>
                                  <p:childTnLst>
                                    <p:set>
                                      <p:cBhvr>
                                        <p:cTn id="23" dur="1" fill="hold">
                                          <p:stCondLst>
                                            <p:cond delay="0"/>
                                          </p:stCondLst>
                                        </p:cTn>
                                        <p:tgtEl>
                                          <p:spTgt spid="45"/>
                                        </p:tgtEl>
                                        <p:attrNameLst>
                                          <p:attrName>style.visibility</p:attrName>
                                        </p:attrNameLst>
                                      </p:cBhvr>
                                      <p:to>
                                        <p:strVal val="hidden"/>
                                      </p:to>
                                    </p:set>
                                  </p:childTnLst>
                                </p:cTn>
                              </p:par>
                            </p:childTnLst>
                          </p:cTn>
                        </p:par>
                        <p:par>
                          <p:cTn id="24" fill="hold">
                            <p:stCondLst>
                              <p:cond delay="0"/>
                            </p:stCondLst>
                            <p:childTnLst>
                              <p:par>
                                <p:cTn id="25" presetID="1" presetClass="entr" presetSubtype="0" fill="hold" grpId="0" nodeType="afterEffect">
                                  <p:stCondLst>
                                    <p:cond delay="0"/>
                                  </p:stCondLst>
                                  <p:childTnLst>
                                    <p:set>
                                      <p:cBhvr>
                                        <p:cTn id="26" dur="1" fill="hold">
                                          <p:stCondLst>
                                            <p:cond delay="0"/>
                                          </p:stCondLst>
                                        </p:cTn>
                                        <p:tgtEl>
                                          <p:spTgt spid="46"/>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nodeType="afterEffect">
                                  <p:stCondLst>
                                    <p:cond delay="0"/>
                                  </p:stCondLst>
                                  <p:childTnLst>
                                    <p:set>
                                      <p:cBhvr>
                                        <p:cTn id="29"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grpId="1" nodeType="clickEffect">
                                  <p:stCondLst>
                                    <p:cond delay="0"/>
                                  </p:stCondLst>
                                  <p:childTnLst>
                                    <p:set>
                                      <p:cBhvr>
                                        <p:cTn id="33" dur="1" fill="hold">
                                          <p:stCondLst>
                                            <p:cond delay="0"/>
                                          </p:stCondLst>
                                        </p:cTn>
                                        <p:tgtEl>
                                          <p:spTgt spid="46"/>
                                        </p:tgtEl>
                                        <p:attrNameLst>
                                          <p:attrName>style.visibility</p:attrName>
                                        </p:attrNameLst>
                                      </p:cBhvr>
                                      <p:to>
                                        <p:strVal val="hidden"/>
                                      </p:to>
                                    </p:set>
                                  </p:childTnLst>
                                </p:cTn>
                              </p:par>
                            </p:childTnLst>
                          </p:cTn>
                        </p:par>
                        <p:par>
                          <p:cTn id="34" fill="hold">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47"/>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1" nodeType="clickEffect">
                                  <p:stCondLst>
                                    <p:cond delay="0"/>
                                  </p:stCondLst>
                                  <p:childTnLst>
                                    <p:set>
                                      <p:cBhvr>
                                        <p:cTn id="43" dur="1" fill="hold">
                                          <p:stCondLst>
                                            <p:cond delay="0"/>
                                          </p:stCondLst>
                                        </p:cTn>
                                        <p:tgtEl>
                                          <p:spTgt spid="47"/>
                                        </p:tgtEl>
                                        <p:attrNameLst>
                                          <p:attrName>style.visibility</p:attrName>
                                        </p:attrNameLst>
                                      </p:cBhvr>
                                      <p:to>
                                        <p:strVal val="hidden"/>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nodeType="afterEffect">
                                  <p:stCondLst>
                                    <p:cond delay="0"/>
                                  </p:stCondLst>
                                  <p:childTnLst>
                                    <p:set>
                                      <p:cBhvr>
                                        <p:cTn id="49"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48"/>
                                        </p:tgtEl>
                                        <p:attrNameLst>
                                          <p:attrName>style.visibility</p:attrName>
                                        </p:attrNameLst>
                                      </p:cBhvr>
                                      <p:to>
                                        <p:strVal val="hidden"/>
                                      </p:to>
                                    </p:set>
                                  </p:childTnLst>
                                </p:cTn>
                              </p:par>
                            </p:childTnLst>
                          </p:cTn>
                        </p:par>
                        <p:par>
                          <p:cTn id="54" fill="hold">
                            <p:stCondLst>
                              <p:cond delay="0"/>
                            </p:stCondLst>
                            <p:childTnLst>
                              <p:par>
                                <p:cTn id="55" presetID="1" presetClass="entr" presetSubtype="0"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childTnLst>
                                </p:cTn>
                              </p:par>
                            </p:childTnLst>
                          </p:cTn>
                        </p:par>
                        <p:par>
                          <p:cTn id="57" fill="hold">
                            <p:stCondLst>
                              <p:cond delay="0"/>
                            </p:stCondLst>
                            <p:childTnLst>
                              <p:par>
                                <p:cTn id="58" presetID="1" presetClass="entr" presetSubtype="0" fill="hold" nodeType="afterEffect">
                                  <p:stCondLst>
                                    <p:cond delay="0"/>
                                  </p:stCondLst>
                                  <p:childTnLst>
                                    <p:set>
                                      <p:cBhvr>
                                        <p:cTn id="59"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xit" presetSubtype="0" fill="hold" grpId="1" nodeType="clickEffect">
                                  <p:stCondLst>
                                    <p:cond delay="0"/>
                                  </p:stCondLst>
                                  <p:childTnLst>
                                    <p:set>
                                      <p:cBhvr>
                                        <p:cTn id="63" dur="1" fill="hold">
                                          <p:stCondLst>
                                            <p:cond delay="0"/>
                                          </p:stCondLst>
                                        </p:cTn>
                                        <p:tgtEl>
                                          <p:spTgt spid="49"/>
                                        </p:tgtEl>
                                        <p:attrNameLst>
                                          <p:attrName>style.visibility</p:attrName>
                                        </p:attrNameLst>
                                      </p:cBhvr>
                                      <p:to>
                                        <p:strVal val="hidden"/>
                                      </p:to>
                                    </p:set>
                                  </p:childTnLst>
                                </p:cTn>
                              </p:par>
                            </p:childTnLst>
                          </p:cTn>
                        </p:par>
                        <p:par>
                          <p:cTn id="64" fill="hold">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50"/>
                                        </p:tgtEl>
                                        <p:attrNameLst>
                                          <p:attrName>style.visibility</p:attrName>
                                        </p:attrNameLst>
                                      </p:cBhvr>
                                      <p:to>
                                        <p:strVal val="visible"/>
                                      </p:to>
                                    </p:set>
                                  </p:childTnLst>
                                </p:cTn>
                              </p:par>
                            </p:childTnLst>
                          </p:cTn>
                        </p:par>
                        <p:par>
                          <p:cTn id="67" fill="hold">
                            <p:stCondLst>
                              <p:cond delay="0"/>
                            </p:stCondLst>
                            <p:childTnLst>
                              <p:par>
                                <p:cTn id="68" presetID="1" presetClass="entr" presetSubtype="0" fill="hold" nodeType="afterEffect">
                                  <p:stCondLst>
                                    <p:cond delay="0"/>
                                  </p:stCondLst>
                                  <p:childTnLst>
                                    <p:set>
                                      <p:cBhvr>
                                        <p:cTn id="69"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数据报分片</a:t>
            </a:r>
          </a:p>
        </p:txBody>
      </p:sp>
      <p:sp>
        <p:nvSpPr>
          <p:cNvPr id="3" name="内容占位符 2">
            <a:extLst>
              <a:ext uri="{FF2B5EF4-FFF2-40B4-BE49-F238E27FC236}">
                <a16:creationId xmlns:a16="http://schemas.microsoft.com/office/drawing/2014/main" id="{DB830B1C-0706-7E41-AE1A-DEBBD115D846}"/>
              </a:ext>
            </a:extLst>
          </p:cNvPr>
          <p:cNvSpPr>
            <a:spLocks noGrp="1"/>
          </p:cNvSpPr>
          <p:nvPr>
            <p:ph idx="1"/>
          </p:nvPr>
        </p:nvSpPr>
        <p:spPr>
          <a:xfrm>
            <a:off x="838200" y="1510757"/>
            <a:ext cx="10799618" cy="4954697"/>
          </a:xfrm>
        </p:spPr>
        <p:txBody>
          <a:bodyPr>
            <a:normAutofit/>
          </a:bodyPr>
          <a:lstStyle/>
          <a:p>
            <a:r>
              <a:rPr lang="en-US" altLang="zh-CN" dirty="0"/>
              <a:t>MTU</a:t>
            </a:r>
            <a:r>
              <a:rPr lang="zh-CN" altLang="en-US" dirty="0"/>
              <a:t>（</a:t>
            </a:r>
            <a:r>
              <a:rPr lang="en-US" altLang="zh-CN" dirty="0"/>
              <a:t>Maximum Transmission Unit</a:t>
            </a:r>
            <a:r>
              <a:rPr lang="zh-CN" altLang="en-US" dirty="0"/>
              <a:t>）</a:t>
            </a:r>
            <a:r>
              <a:rPr lang="en-US" altLang="zh-CN" dirty="0"/>
              <a:t>, </a:t>
            </a:r>
            <a:r>
              <a:rPr lang="zh-CN" altLang="en-US" dirty="0"/>
              <a:t>最大传输单元</a:t>
            </a:r>
            <a:endParaRPr lang="en-US" altLang="zh-CN" dirty="0"/>
          </a:p>
          <a:p>
            <a:pPr lvl="1"/>
            <a:r>
              <a:rPr lang="zh-CN" altLang="en-US" dirty="0"/>
              <a:t>链路</a:t>
            </a:r>
            <a:r>
              <a:rPr lang="en-US" altLang="zh-CN" dirty="0"/>
              <a:t>MTU</a:t>
            </a:r>
          </a:p>
          <a:p>
            <a:pPr lvl="1"/>
            <a:r>
              <a:rPr lang="zh-CN" altLang="en-US" dirty="0"/>
              <a:t>路径</a:t>
            </a:r>
            <a:r>
              <a:rPr lang="en-US" altLang="zh-CN" dirty="0"/>
              <a:t>MTU (Path MTU)</a:t>
            </a:r>
          </a:p>
          <a:p>
            <a:r>
              <a:rPr lang="zh-CN" altLang="en-US" dirty="0"/>
              <a:t>分片策略</a:t>
            </a:r>
            <a:endParaRPr lang="en-US" altLang="zh-CN" dirty="0"/>
          </a:p>
          <a:p>
            <a:pPr lvl="1"/>
            <a:r>
              <a:rPr lang="zh-CN" altLang="en-US" dirty="0"/>
              <a:t>允许途中分片：根据下一跳链路的</a:t>
            </a:r>
            <a:r>
              <a:rPr lang="en-US" altLang="zh-CN" dirty="0"/>
              <a:t>MTU</a:t>
            </a:r>
            <a:r>
              <a:rPr lang="zh-CN" altLang="en-US" dirty="0"/>
              <a:t>实施分片</a:t>
            </a:r>
            <a:endParaRPr lang="en-US" altLang="zh-CN" dirty="0"/>
          </a:p>
          <a:p>
            <a:pPr lvl="1"/>
            <a:r>
              <a:rPr lang="zh-CN" altLang="en-US" dirty="0"/>
              <a:t>不允许途中分片：发出的数据报长度小于路径</a:t>
            </a:r>
            <a:r>
              <a:rPr lang="en-US" altLang="zh-CN" dirty="0"/>
              <a:t>MTU</a:t>
            </a:r>
            <a:r>
              <a:rPr lang="zh-CN" altLang="en-US" dirty="0"/>
              <a:t>（路径</a:t>
            </a:r>
            <a:r>
              <a:rPr lang="en-US" altLang="zh-CN" dirty="0"/>
              <a:t>MTU</a:t>
            </a:r>
            <a:r>
              <a:rPr lang="zh-CN" altLang="en-US" dirty="0"/>
              <a:t>发现机制）</a:t>
            </a:r>
            <a:r>
              <a:rPr lang="en-US" altLang="zh-CN" dirty="0"/>
              <a:t> </a:t>
            </a:r>
          </a:p>
          <a:p>
            <a:r>
              <a:rPr lang="zh-CN" altLang="en-US" dirty="0"/>
              <a:t>重组策略</a:t>
            </a:r>
            <a:endParaRPr lang="en-US" altLang="zh-CN" dirty="0"/>
          </a:p>
          <a:p>
            <a:pPr lvl="1"/>
            <a:r>
              <a:rPr lang="zh-CN" altLang="en-US" dirty="0"/>
              <a:t>途中重组，实施难度太大</a:t>
            </a:r>
            <a:endParaRPr lang="en-US" altLang="zh-CN" dirty="0"/>
          </a:p>
          <a:p>
            <a:pPr lvl="1"/>
            <a:r>
              <a:rPr lang="zh-CN" altLang="en-US" dirty="0"/>
              <a:t>目的端重组</a:t>
            </a:r>
            <a:r>
              <a:rPr lang="zh-CN" altLang="en-US" dirty="0">
                <a:solidFill>
                  <a:srgbClr val="C00000"/>
                </a:solidFill>
              </a:rPr>
              <a:t>（互联网采用的策略）</a:t>
            </a:r>
            <a:endParaRPr lang="en-US" altLang="zh-CN" dirty="0">
              <a:solidFill>
                <a:srgbClr val="C00000"/>
              </a:solidFill>
            </a:endParaRPr>
          </a:p>
          <a:p>
            <a:pPr lvl="1"/>
            <a:r>
              <a:rPr lang="zh-CN" altLang="en-US" dirty="0"/>
              <a:t>重组所需信息：原始数据报编号、分片偏移量、是否收集所有分片</a:t>
            </a:r>
            <a:endParaRPr lang="zh-CN" altLang="zh-CN" dirty="0"/>
          </a:p>
        </p:txBody>
      </p:sp>
      <p:sp>
        <p:nvSpPr>
          <p:cNvPr id="4" name="灯片编号占位符 3">
            <a:extLst>
              <a:ext uri="{FF2B5EF4-FFF2-40B4-BE49-F238E27FC236}">
                <a16:creationId xmlns:a16="http://schemas.microsoft.com/office/drawing/2014/main" id="{E852B801-B608-C343-9A93-C7F2EAAC62BE}"/>
              </a:ext>
            </a:extLst>
          </p:cNvPr>
          <p:cNvSpPr>
            <a:spLocks noGrp="1"/>
          </p:cNvSpPr>
          <p:nvPr>
            <p:ph type="sldNum" sz="quarter" idx="12"/>
          </p:nvPr>
        </p:nvSpPr>
        <p:spPr/>
        <p:txBody>
          <a:bodyPr/>
          <a:lstStyle/>
          <a:p>
            <a:fld id="{8D4D1E41-7A09-AB4A-A4E1-09765ADA2698}" type="slidenum">
              <a:rPr kumimoji="1" lang="zh-CN" altLang="en-US" smtClean="0"/>
              <a:pPr/>
              <a:t>119</a:t>
            </a:fld>
            <a:endParaRPr kumimoji="1" lang="zh-CN" altLang="en-US" dirty="0"/>
          </a:p>
        </p:txBody>
      </p:sp>
      <p:sp>
        <p:nvSpPr>
          <p:cNvPr id="5" name="日期占位符 4"/>
          <p:cNvSpPr>
            <a:spLocks noGrp="1"/>
          </p:cNvSpPr>
          <p:nvPr>
            <p:ph type="dt" sz="half" idx="10"/>
          </p:nvPr>
        </p:nvSpPr>
        <p:spPr/>
        <p:txBody>
          <a:bodyPr/>
          <a:lstStyle/>
          <a:p>
            <a:r>
              <a:rPr kumimoji="1" lang="en-US" altLang="zh-CN" dirty="0"/>
              <a:t>5.6.1 IPv4</a:t>
            </a:r>
            <a:r>
              <a:rPr kumimoji="1" lang="zh-CN" altLang="en-US" dirty="0"/>
              <a:t>协议</a:t>
            </a:r>
          </a:p>
        </p:txBody>
      </p:sp>
      <p:pic>
        <p:nvPicPr>
          <p:cNvPr id="6" name="Picture 28" descr="015">
            <a:extLst>
              <a:ext uri="{FF2B5EF4-FFF2-40B4-BE49-F238E27FC236}">
                <a16:creationId xmlns:a16="http://schemas.microsoft.com/office/drawing/2014/main" id="{506D6A59-A6DB-4464-87F2-C5B1D278AA8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45306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数据报分片</a:t>
            </a:r>
          </a:p>
        </p:txBody>
      </p:sp>
      <p:sp>
        <p:nvSpPr>
          <p:cNvPr id="4" name="灯片编号占位符 3">
            <a:extLst>
              <a:ext uri="{FF2B5EF4-FFF2-40B4-BE49-F238E27FC236}">
                <a16:creationId xmlns:a16="http://schemas.microsoft.com/office/drawing/2014/main" id="{E852B801-B608-C343-9A93-C7F2EAAC62BE}"/>
              </a:ext>
            </a:extLst>
          </p:cNvPr>
          <p:cNvSpPr>
            <a:spLocks noGrp="1"/>
          </p:cNvSpPr>
          <p:nvPr>
            <p:ph type="sldNum" sz="quarter" idx="12"/>
          </p:nvPr>
        </p:nvSpPr>
        <p:spPr/>
        <p:txBody>
          <a:bodyPr/>
          <a:lstStyle/>
          <a:p>
            <a:fld id="{8D4D1E41-7A09-AB4A-A4E1-09765ADA2698}" type="slidenum">
              <a:rPr kumimoji="1" lang="zh-CN" altLang="en-US" smtClean="0"/>
              <a:pPr/>
              <a:t>120</a:t>
            </a:fld>
            <a:endParaRPr kumimoji="1" lang="zh-CN" altLang="en-US" dirty="0"/>
          </a:p>
        </p:txBody>
      </p:sp>
      <p:sp>
        <p:nvSpPr>
          <p:cNvPr id="6" name="Rectangle 4"/>
          <p:cNvSpPr>
            <a:spLocks noChangeArrowheads="1"/>
          </p:cNvSpPr>
          <p:nvPr/>
        </p:nvSpPr>
        <p:spPr bwMode="auto">
          <a:xfrm>
            <a:off x="4289426" y="2239963"/>
            <a:ext cx="4830763" cy="463550"/>
          </a:xfrm>
          <a:prstGeom prst="rect">
            <a:avLst/>
          </a:prstGeom>
          <a:solidFill>
            <a:srgbClr val="DDDDDD"/>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 name="Text Box 5"/>
          <p:cNvSpPr txBox="1">
            <a:spLocks noChangeArrowheads="1"/>
          </p:cNvSpPr>
          <p:nvPr/>
        </p:nvSpPr>
        <p:spPr bwMode="auto">
          <a:xfrm>
            <a:off x="2095501" y="5840413"/>
            <a:ext cx="16979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0/8 = 0</a:t>
            </a:r>
          </a:p>
        </p:txBody>
      </p:sp>
      <p:sp>
        <p:nvSpPr>
          <p:cNvPr id="8" name="Rectangle 6"/>
          <p:cNvSpPr>
            <a:spLocks noChangeArrowheads="1"/>
          </p:cNvSpPr>
          <p:nvPr/>
        </p:nvSpPr>
        <p:spPr bwMode="auto">
          <a:xfrm>
            <a:off x="3411538" y="2239963"/>
            <a:ext cx="5708650" cy="463550"/>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9" name="Line 7"/>
          <p:cNvSpPr>
            <a:spLocks noChangeShapeType="1"/>
          </p:cNvSpPr>
          <p:nvPr/>
        </p:nvSpPr>
        <p:spPr bwMode="auto">
          <a:xfrm>
            <a:off x="4465638"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Line 8"/>
          <p:cNvSpPr>
            <a:spLocks noChangeShapeType="1"/>
          </p:cNvSpPr>
          <p:nvPr/>
        </p:nvSpPr>
        <p:spPr bwMode="auto">
          <a:xfrm>
            <a:off x="4641850"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 name="Line 9"/>
          <p:cNvSpPr>
            <a:spLocks noChangeShapeType="1"/>
          </p:cNvSpPr>
          <p:nvPr/>
        </p:nvSpPr>
        <p:spPr bwMode="auto">
          <a:xfrm>
            <a:off x="4818063"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 name="Line 10"/>
          <p:cNvSpPr>
            <a:spLocks noChangeShapeType="1"/>
          </p:cNvSpPr>
          <p:nvPr/>
        </p:nvSpPr>
        <p:spPr bwMode="auto">
          <a:xfrm>
            <a:off x="8943975"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Rectangle 11"/>
          <p:cNvSpPr>
            <a:spLocks noChangeArrowheads="1"/>
          </p:cNvSpPr>
          <p:nvPr/>
        </p:nvSpPr>
        <p:spPr bwMode="auto">
          <a:xfrm>
            <a:off x="2535239" y="4192588"/>
            <a:ext cx="1754187" cy="463550"/>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4" name="Line 12"/>
          <p:cNvSpPr>
            <a:spLocks noChangeShapeType="1"/>
          </p:cNvSpPr>
          <p:nvPr/>
        </p:nvSpPr>
        <p:spPr bwMode="auto">
          <a:xfrm>
            <a:off x="270986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3"/>
          <p:cNvSpPr>
            <a:spLocks noChangeShapeType="1"/>
          </p:cNvSpPr>
          <p:nvPr/>
        </p:nvSpPr>
        <p:spPr bwMode="auto">
          <a:xfrm>
            <a:off x="2886075"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Line 14"/>
          <p:cNvSpPr>
            <a:spLocks noChangeShapeType="1"/>
          </p:cNvSpPr>
          <p:nvPr/>
        </p:nvSpPr>
        <p:spPr bwMode="auto">
          <a:xfrm>
            <a:off x="3062288"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15"/>
          <p:cNvSpPr>
            <a:spLocks noChangeShapeType="1"/>
          </p:cNvSpPr>
          <p:nvPr/>
        </p:nvSpPr>
        <p:spPr bwMode="auto">
          <a:xfrm>
            <a:off x="411321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Text Box 16"/>
          <p:cNvSpPr txBox="1">
            <a:spLocks noChangeArrowheads="1"/>
          </p:cNvSpPr>
          <p:nvPr/>
        </p:nvSpPr>
        <p:spPr bwMode="auto">
          <a:xfrm>
            <a:off x="9144001" y="2133601"/>
            <a:ext cx="1301959" cy="618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0/8</a:t>
            </a:r>
          </a:p>
          <a:p>
            <a:pPr>
              <a:lnSpc>
                <a:spcPct val="90000"/>
              </a:lnSpc>
              <a:spcBef>
                <a:spcPct val="0"/>
              </a:spcBef>
              <a:buClrTx/>
              <a:buSzTx/>
              <a:buFontTx/>
              <a:buNone/>
            </a:pPr>
            <a:r>
              <a:rPr kumimoji="1" lang="en-US" altLang="zh-CN" sz="1800">
                <a:ea typeface="宋体" panose="02010600030101010101" pitchFamily="2" charset="-122"/>
              </a:rPr>
              <a:t>= 0</a:t>
            </a:r>
          </a:p>
        </p:txBody>
      </p:sp>
      <p:sp>
        <p:nvSpPr>
          <p:cNvPr id="19" name="Text Box 17"/>
          <p:cNvSpPr txBox="1">
            <a:spLocks noChangeArrowheads="1"/>
          </p:cNvSpPr>
          <p:nvPr/>
        </p:nvSpPr>
        <p:spPr bwMode="auto">
          <a:xfrm>
            <a:off x="4818063" y="5840413"/>
            <a:ext cx="23294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1400/8 = 175</a:t>
            </a:r>
          </a:p>
        </p:txBody>
      </p:sp>
      <p:sp>
        <p:nvSpPr>
          <p:cNvPr id="20" name="Text Box 18"/>
          <p:cNvSpPr txBox="1">
            <a:spLocks noChangeArrowheads="1"/>
          </p:cNvSpPr>
          <p:nvPr/>
        </p:nvSpPr>
        <p:spPr bwMode="auto">
          <a:xfrm>
            <a:off x="7888288" y="5840413"/>
            <a:ext cx="24032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2800/8 = 350</a:t>
            </a:r>
          </a:p>
        </p:txBody>
      </p:sp>
      <p:sp>
        <p:nvSpPr>
          <p:cNvPr id="21" name="Line 19"/>
          <p:cNvSpPr>
            <a:spLocks noChangeShapeType="1"/>
          </p:cNvSpPr>
          <p:nvPr/>
        </p:nvSpPr>
        <p:spPr bwMode="auto">
          <a:xfrm flipV="1">
            <a:off x="9017000"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 name="Line 20"/>
          <p:cNvSpPr>
            <a:spLocks noChangeShapeType="1"/>
          </p:cNvSpPr>
          <p:nvPr/>
        </p:nvSpPr>
        <p:spPr bwMode="auto">
          <a:xfrm flipV="1">
            <a:off x="4373563"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 name="Line 21"/>
          <p:cNvSpPr>
            <a:spLocks noChangeShapeType="1"/>
          </p:cNvSpPr>
          <p:nvPr/>
        </p:nvSpPr>
        <p:spPr bwMode="auto">
          <a:xfrm flipV="1">
            <a:off x="4202113"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4" name="Line 22"/>
          <p:cNvSpPr>
            <a:spLocks noChangeShapeType="1"/>
          </p:cNvSpPr>
          <p:nvPr/>
        </p:nvSpPr>
        <p:spPr bwMode="auto">
          <a:xfrm flipV="1">
            <a:off x="5694363"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5" name="Line 23"/>
          <p:cNvSpPr>
            <a:spLocks noChangeShapeType="1"/>
          </p:cNvSpPr>
          <p:nvPr/>
        </p:nvSpPr>
        <p:spPr bwMode="auto">
          <a:xfrm flipV="1">
            <a:off x="7275513"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6" name="Line 24"/>
          <p:cNvSpPr>
            <a:spLocks noChangeShapeType="1"/>
          </p:cNvSpPr>
          <p:nvPr/>
        </p:nvSpPr>
        <p:spPr bwMode="auto">
          <a:xfrm flipV="1">
            <a:off x="8840788"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7" name="Line 25"/>
          <p:cNvSpPr>
            <a:spLocks noChangeShapeType="1"/>
          </p:cNvSpPr>
          <p:nvPr/>
        </p:nvSpPr>
        <p:spPr bwMode="auto">
          <a:xfrm flipV="1">
            <a:off x="9998075"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8" name="Text Box 26"/>
          <p:cNvSpPr txBox="1">
            <a:spLocks noChangeArrowheads="1"/>
          </p:cNvSpPr>
          <p:nvPr/>
        </p:nvSpPr>
        <p:spPr bwMode="auto">
          <a:xfrm>
            <a:off x="5307013" y="4932363"/>
            <a:ext cx="7120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1400</a:t>
            </a:r>
          </a:p>
        </p:txBody>
      </p:sp>
      <p:sp>
        <p:nvSpPr>
          <p:cNvPr id="29" name="Text Box 27"/>
          <p:cNvSpPr txBox="1">
            <a:spLocks noChangeArrowheads="1"/>
          </p:cNvSpPr>
          <p:nvPr/>
        </p:nvSpPr>
        <p:spPr bwMode="auto">
          <a:xfrm>
            <a:off x="8467726" y="4932363"/>
            <a:ext cx="74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2800</a:t>
            </a:r>
          </a:p>
        </p:txBody>
      </p:sp>
      <p:sp>
        <p:nvSpPr>
          <p:cNvPr id="30" name="Text Box 28"/>
          <p:cNvSpPr txBox="1">
            <a:spLocks noChangeArrowheads="1"/>
          </p:cNvSpPr>
          <p:nvPr/>
        </p:nvSpPr>
        <p:spPr bwMode="auto">
          <a:xfrm>
            <a:off x="9610726" y="4910138"/>
            <a:ext cx="74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3799</a:t>
            </a:r>
          </a:p>
        </p:txBody>
      </p:sp>
      <p:sp>
        <p:nvSpPr>
          <p:cNvPr id="31" name="Text Box 29"/>
          <p:cNvSpPr txBox="1">
            <a:spLocks noChangeArrowheads="1"/>
          </p:cNvSpPr>
          <p:nvPr/>
        </p:nvSpPr>
        <p:spPr bwMode="auto">
          <a:xfrm>
            <a:off x="6884989" y="4910138"/>
            <a:ext cx="74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2799</a:t>
            </a:r>
          </a:p>
        </p:txBody>
      </p:sp>
      <p:sp>
        <p:nvSpPr>
          <p:cNvPr id="32" name="Text Box 30"/>
          <p:cNvSpPr txBox="1">
            <a:spLocks noChangeArrowheads="1"/>
          </p:cNvSpPr>
          <p:nvPr/>
        </p:nvSpPr>
        <p:spPr bwMode="auto">
          <a:xfrm>
            <a:off x="3814763" y="4910138"/>
            <a:ext cx="7120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1399</a:t>
            </a:r>
          </a:p>
        </p:txBody>
      </p:sp>
      <p:sp>
        <p:nvSpPr>
          <p:cNvPr id="33" name="Text Box 31"/>
          <p:cNvSpPr txBox="1">
            <a:spLocks noChangeArrowheads="1"/>
          </p:cNvSpPr>
          <p:nvPr/>
        </p:nvSpPr>
        <p:spPr bwMode="auto">
          <a:xfrm>
            <a:off x="8643939" y="2957513"/>
            <a:ext cx="748923"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3799</a:t>
            </a:r>
          </a:p>
        </p:txBody>
      </p:sp>
      <p:sp>
        <p:nvSpPr>
          <p:cNvPr id="34" name="Text Box 32"/>
          <p:cNvSpPr txBox="1">
            <a:spLocks noChangeArrowheads="1"/>
          </p:cNvSpPr>
          <p:nvPr/>
        </p:nvSpPr>
        <p:spPr bwMode="auto">
          <a:xfrm>
            <a:off x="2133640" y="2060576"/>
            <a:ext cx="110799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kumimoji="1" lang="zh-CN" altLang="en-US" sz="1800">
                <a:ea typeface="宋体" panose="02010600030101010101" pitchFamily="2" charset="-122"/>
              </a:rPr>
              <a:t>需分片的</a:t>
            </a:r>
          </a:p>
          <a:p>
            <a:pPr algn="ctr">
              <a:spcBef>
                <a:spcPct val="0"/>
              </a:spcBef>
              <a:buClrTx/>
              <a:buSzTx/>
              <a:buFontTx/>
              <a:buNone/>
            </a:pPr>
            <a:r>
              <a:rPr kumimoji="1" lang="zh-CN" altLang="en-US" sz="1800">
                <a:ea typeface="宋体" panose="02010600030101010101" pitchFamily="2" charset="-122"/>
              </a:rPr>
              <a:t>数据报</a:t>
            </a:r>
          </a:p>
        </p:txBody>
      </p:sp>
      <p:sp>
        <p:nvSpPr>
          <p:cNvPr id="35" name="Rectangle 76"/>
          <p:cNvSpPr>
            <a:spLocks noChangeArrowheads="1"/>
          </p:cNvSpPr>
          <p:nvPr/>
        </p:nvSpPr>
        <p:spPr bwMode="auto">
          <a:xfrm>
            <a:off x="3432176" y="2260600"/>
            <a:ext cx="854075" cy="431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6" name="Text Box 33"/>
          <p:cNvSpPr txBox="1">
            <a:spLocks noChangeArrowheads="1"/>
          </p:cNvSpPr>
          <p:nvPr/>
        </p:nvSpPr>
        <p:spPr bwMode="auto">
          <a:xfrm>
            <a:off x="2359025" y="5395913"/>
            <a:ext cx="12811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数据报片 </a:t>
            </a:r>
            <a:r>
              <a:rPr kumimoji="1" lang="en-US" altLang="zh-CN" sz="1800">
                <a:ea typeface="宋体" panose="02010600030101010101" pitchFamily="2" charset="-122"/>
              </a:rPr>
              <a:t>1</a:t>
            </a:r>
          </a:p>
        </p:txBody>
      </p:sp>
      <p:sp>
        <p:nvSpPr>
          <p:cNvPr id="37" name="Text Box 34"/>
          <p:cNvSpPr txBox="1">
            <a:spLocks noChangeArrowheads="1"/>
          </p:cNvSpPr>
          <p:nvPr/>
        </p:nvSpPr>
        <p:spPr bwMode="auto">
          <a:xfrm>
            <a:off x="3516314" y="2257425"/>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a:t>
            </a:r>
          </a:p>
        </p:txBody>
      </p:sp>
      <p:sp>
        <p:nvSpPr>
          <p:cNvPr id="38" name="Line 35"/>
          <p:cNvSpPr>
            <a:spLocks noChangeShapeType="1"/>
          </p:cNvSpPr>
          <p:nvPr/>
        </p:nvSpPr>
        <p:spPr bwMode="auto">
          <a:xfrm>
            <a:off x="4289425"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 name="Rectangle 36"/>
          <p:cNvSpPr>
            <a:spLocks noChangeArrowheads="1"/>
          </p:cNvSpPr>
          <p:nvPr/>
        </p:nvSpPr>
        <p:spPr bwMode="auto">
          <a:xfrm>
            <a:off x="1657350" y="4192588"/>
            <a:ext cx="877888" cy="46355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40" name="Line 37"/>
          <p:cNvSpPr>
            <a:spLocks noChangeShapeType="1"/>
          </p:cNvSpPr>
          <p:nvPr/>
        </p:nvSpPr>
        <p:spPr bwMode="auto">
          <a:xfrm>
            <a:off x="6046788"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 name="Line 38"/>
          <p:cNvSpPr>
            <a:spLocks noChangeShapeType="1"/>
          </p:cNvSpPr>
          <p:nvPr/>
        </p:nvSpPr>
        <p:spPr bwMode="auto">
          <a:xfrm>
            <a:off x="7802563"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 name="Line 39"/>
          <p:cNvSpPr>
            <a:spLocks noChangeShapeType="1"/>
          </p:cNvSpPr>
          <p:nvPr/>
        </p:nvSpPr>
        <p:spPr bwMode="auto">
          <a:xfrm flipV="1">
            <a:off x="2535239" y="2703514"/>
            <a:ext cx="1754187"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43" name="Line 40"/>
          <p:cNvSpPr>
            <a:spLocks noChangeShapeType="1"/>
          </p:cNvSpPr>
          <p:nvPr/>
        </p:nvSpPr>
        <p:spPr bwMode="auto">
          <a:xfrm flipV="1">
            <a:off x="4289426" y="2703514"/>
            <a:ext cx="1757363"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44" name="Rectangle 41"/>
          <p:cNvSpPr>
            <a:spLocks noChangeArrowheads="1"/>
          </p:cNvSpPr>
          <p:nvPr/>
        </p:nvSpPr>
        <p:spPr bwMode="auto">
          <a:xfrm>
            <a:off x="5608639" y="4192588"/>
            <a:ext cx="1754187" cy="463550"/>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45" name="Line 42"/>
          <p:cNvSpPr>
            <a:spLocks noChangeShapeType="1"/>
          </p:cNvSpPr>
          <p:nvPr/>
        </p:nvSpPr>
        <p:spPr bwMode="auto">
          <a:xfrm>
            <a:off x="578326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 name="Line 43"/>
          <p:cNvSpPr>
            <a:spLocks noChangeShapeType="1"/>
          </p:cNvSpPr>
          <p:nvPr/>
        </p:nvSpPr>
        <p:spPr bwMode="auto">
          <a:xfrm>
            <a:off x="5957888"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 name="Line 44"/>
          <p:cNvSpPr>
            <a:spLocks noChangeShapeType="1"/>
          </p:cNvSpPr>
          <p:nvPr/>
        </p:nvSpPr>
        <p:spPr bwMode="auto">
          <a:xfrm>
            <a:off x="6134100"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 name="Line 45"/>
          <p:cNvSpPr>
            <a:spLocks noChangeShapeType="1"/>
          </p:cNvSpPr>
          <p:nvPr/>
        </p:nvSpPr>
        <p:spPr bwMode="auto">
          <a:xfrm>
            <a:off x="718661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 name="Rectangle 46"/>
          <p:cNvSpPr>
            <a:spLocks noChangeArrowheads="1"/>
          </p:cNvSpPr>
          <p:nvPr/>
        </p:nvSpPr>
        <p:spPr bwMode="auto">
          <a:xfrm>
            <a:off x="4730750" y="4192588"/>
            <a:ext cx="877888" cy="46355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50" name="Line 47"/>
          <p:cNvSpPr>
            <a:spLocks noChangeShapeType="1"/>
          </p:cNvSpPr>
          <p:nvPr/>
        </p:nvSpPr>
        <p:spPr bwMode="auto">
          <a:xfrm flipV="1">
            <a:off x="5608638" y="2703514"/>
            <a:ext cx="438150"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51" name="Line 48"/>
          <p:cNvSpPr>
            <a:spLocks noChangeShapeType="1"/>
          </p:cNvSpPr>
          <p:nvPr/>
        </p:nvSpPr>
        <p:spPr bwMode="auto">
          <a:xfrm flipV="1">
            <a:off x="7362825" y="2703514"/>
            <a:ext cx="439738"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52" name="Rectangle 49"/>
          <p:cNvSpPr>
            <a:spLocks noChangeArrowheads="1"/>
          </p:cNvSpPr>
          <p:nvPr/>
        </p:nvSpPr>
        <p:spPr bwMode="auto">
          <a:xfrm>
            <a:off x="8767764" y="4192588"/>
            <a:ext cx="1317625" cy="463550"/>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53" name="Line 50"/>
          <p:cNvSpPr>
            <a:spLocks noChangeShapeType="1"/>
          </p:cNvSpPr>
          <p:nvPr/>
        </p:nvSpPr>
        <p:spPr bwMode="auto">
          <a:xfrm>
            <a:off x="8943975"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 name="Line 51"/>
          <p:cNvSpPr>
            <a:spLocks noChangeShapeType="1"/>
          </p:cNvSpPr>
          <p:nvPr/>
        </p:nvSpPr>
        <p:spPr bwMode="auto">
          <a:xfrm>
            <a:off x="9120188"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 name="Line 52"/>
          <p:cNvSpPr>
            <a:spLocks noChangeShapeType="1"/>
          </p:cNvSpPr>
          <p:nvPr/>
        </p:nvSpPr>
        <p:spPr bwMode="auto">
          <a:xfrm>
            <a:off x="9296400"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 name="Line 53"/>
          <p:cNvSpPr>
            <a:spLocks noChangeShapeType="1"/>
          </p:cNvSpPr>
          <p:nvPr/>
        </p:nvSpPr>
        <p:spPr bwMode="auto">
          <a:xfrm>
            <a:off x="991076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 name="Rectangle 54"/>
          <p:cNvSpPr>
            <a:spLocks noChangeArrowheads="1"/>
          </p:cNvSpPr>
          <p:nvPr/>
        </p:nvSpPr>
        <p:spPr bwMode="auto">
          <a:xfrm>
            <a:off x="7891463" y="4192588"/>
            <a:ext cx="876300" cy="46355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58" name="Line 55"/>
          <p:cNvSpPr>
            <a:spLocks noChangeShapeType="1"/>
          </p:cNvSpPr>
          <p:nvPr/>
        </p:nvSpPr>
        <p:spPr bwMode="auto">
          <a:xfrm flipH="1" flipV="1">
            <a:off x="9120188" y="2703514"/>
            <a:ext cx="965200"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59" name="Line 56"/>
          <p:cNvSpPr>
            <a:spLocks noChangeShapeType="1"/>
          </p:cNvSpPr>
          <p:nvPr/>
        </p:nvSpPr>
        <p:spPr bwMode="auto">
          <a:xfrm flipH="1" flipV="1">
            <a:off x="7802563" y="2703514"/>
            <a:ext cx="965200"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60" name="Line 57"/>
          <p:cNvSpPr>
            <a:spLocks noChangeShapeType="1"/>
          </p:cNvSpPr>
          <p:nvPr/>
        </p:nvSpPr>
        <p:spPr bwMode="auto">
          <a:xfrm>
            <a:off x="4273551" y="2014538"/>
            <a:ext cx="4829175"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1" name="Text Box 58"/>
          <p:cNvSpPr txBox="1">
            <a:spLocks noChangeArrowheads="1"/>
          </p:cNvSpPr>
          <p:nvPr/>
        </p:nvSpPr>
        <p:spPr bwMode="auto">
          <a:xfrm>
            <a:off x="5170488" y="1808163"/>
            <a:ext cx="2502608"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数据部分共 </a:t>
            </a:r>
            <a:r>
              <a:rPr kumimoji="1" lang="en-US" altLang="zh-CN" sz="1800">
                <a:ea typeface="宋体" panose="02010600030101010101" pitchFamily="2" charset="-122"/>
              </a:rPr>
              <a:t>3800 </a:t>
            </a:r>
            <a:r>
              <a:rPr kumimoji="1" lang="zh-CN" altLang="en-US" sz="1800">
                <a:ea typeface="宋体" panose="02010600030101010101" pitchFamily="2" charset="-122"/>
              </a:rPr>
              <a:t>字节</a:t>
            </a:r>
          </a:p>
        </p:txBody>
      </p:sp>
      <p:sp>
        <p:nvSpPr>
          <p:cNvPr id="62" name="Text Box 59"/>
          <p:cNvSpPr txBox="1">
            <a:spLocks noChangeArrowheads="1"/>
          </p:cNvSpPr>
          <p:nvPr/>
        </p:nvSpPr>
        <p:spPr bwMode="auto">
          <a:xfrm>
            <a:off x="1657351" y="4192588"/>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 </a:t>
            </a:r>
            <a:r>
              <a:rPr kumimoji="1" lang="en-US" altLang="zh-CN" sz="1800">
                <a:ea typeface="宋体" panose="02010600030101010101" pitchFamily="2" charset="-122"/>
              </a:rPr>
              <a:t>1</a:t>
            </a:r>
          </a:p>
        </p:txBody>
      </p:sp>
      <p:sp>
        <p:nvSpPr>
          <p:cNvPr id="63" name="Text Box 60"/>
          <p:cNvSpPr txBox="1">
            <a:spLocks noChangeArrowheads="1"/>
          </p:cNvSpPr>
          <p:nvPr/>
        </p:nvSpPr>
        <p:spPr bwMode="auto">
          <a:xfrm>
            <a:off x="4700589" y="4192588"/>
            <a:ext cx="856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 </a:t>
            </a:r>
            <a:r>
              <a:rPr kumimoji="1" lang="en-US" altLang="zh-CN" sz="1800">
                <a:ea typeface="宋体" panose="02010600030101010101" pitchFamily="2" charset="-122"/>
              </a:rPr>
              <a:t>2</a:t>
            </a:r>
          </a:p>
        </p:txBody>
      </p:sp>
      <p:sp>
        <p:nvSpPr>
          <p:cNvPr id="64" name="Text Box 61"/>
          <p:cNvSpPr txBox="1">
            <a:spLocks noChangeArrowheads="1"/>
          </p:cNvSpPr>
          <p:nvPr/>
        </p:nvSpPr>
        <p:spPr bwMode="auto">
          <a:xfrm>
            <a:off x="7861301" y="4192588"/>
            <a:ext cx="856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 </a:t>
            </a:r>
            <a:r>
              <a:rPr kumimoji="1" lang="en-US" altLang="zh-CN" sz="1800">
                <a:ea typeface="宋体" panose="02010600030101010101" pitchFamily="2" charset="-122"/>
              </a:rPr>
              <a:t>3</a:t>
            </a:r>
          </a:p>
        </p:txBody>
      </p:sp>
      <p:sp>
        <p:nvSpPr>
          <p:cNvPr id="65" name="Line 62"/>
          <p:cNvSpPr>
            <a:spLocks noChangeShapeType="1"/>
          </p:cNvSpPr>
          <p:nvPr/>
        </p:nvSpPr>
        <p:spPr bwMode="auto">
          <a:xfrm flipV="1">
            <a:off x="2617788"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 name="Text Box 63"/>
          <p:cNvSpPr txBox="1">
            <a:spLocks noChangeArrowheads="1"/>
          </p:cNvSpPr>
          <p:nvPr/>
        </p:nvSpPr>
        <p:spPr bwMode="auto">
          <a:xfrm>
            <a:off x="1860551" y="4949825"/>
            <a:ext cx="856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字节 </a:t>
            </a:r>
            <a:r>
              <a:rPr kumimoji="1" lang="en-US" altLang="zh-CN" sz="1800">
                <a:ea typeface="宋体" panose="02010600030101010101" pitchFamily="2" charset="-122"/>
              </a:rPr>
              <a:t>0</a:t>
            </a:r>
          </a:p>
        </p:txBody>
      </p:sp>
      <p:sp>
        <p:nvSpPr>
          <p:cNvPr id="67" name="Text Box 64"/>
          <p:cNvSpPr txBox="1">
            <a:spLocks noChangeArrowheads="1"/>
          </p:cNvSpPr>
          <p:nvPr/>
        </p:nvSpPr>
        <p:spPr bwMode="auto">
          <a:xfrm>
            <a:off x="5372100" y="5391150"/>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数据报片 </a:t>
            </a:r>
            <a:r>
              <a:rPr kumimoji="1" lang="en-US" altLang="zh-CN" sz="1800">
                <a:ea typeface="宋体" panose="02010600030101010101" pitchFamily="2" charset="-122"/>
              </a:rPr>
              <a:t>2</a:t>
            </a:r>
          </a:p>
        </p:txBody>
      </p:sp>
      <p:sp>
        <p:nvSpPr>
          <p:cNvPr id="68" name="Text Box 65"/>
          <p:cNvSpPr txBox="1">
            <a:spLocks noChangeArrowheads="1"/>
          </p:cNvSpPr>
          <p:nvPr/>
        </p:nvSpPr>
        <p:spPr bwMode="auto">
          <a:xfrm>
            <a:off x="8270875" y="5391150"/>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数据报片 </a:t>
            </a:r>
            <a:r>
              <a:rPr kumimoji="1" lang="en-US" altLang="zh-CN" sz="1800">
                <a:ea typeface="宋体" panose="02010600030101010101" pitchFamily="2" charset="-122"/>
              </a:rPr>
              <a:t>3</a:t>
            </a:r>
          </a:p>
        </p:txBody>
      </p:sp>
      <p:sp>
        <p:nvSpPr>
          <p:cNvPr id="69" name="Line 66"/>
          <p:cNvSpPr>
            <a:spLocks noChangeShapeType="1"/>
          </p:cNvSpPr>
          <p:nvPr/>
        </p:nvSpPr>
        <p:spPr bwMode="auto">
          <a:xfrm flipV="1">
            <a:off x="6118225"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0" name="Text Box 67"/>
          <p:cNvSpPr txBox="1">
            <a:spLocks noChangeArrowheads="1"/>
          </p:cNvSpPr>
          <p:nvPr/>
        </p:nvSpPr>
        <p:spPr bwMode="auto">
          <a:xfrm>
            <a:off x="5730875" y="2976563"/>
            <a:ext cx="712054"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1400</a:t>
            </a:r>
          </a:p>
        </p:txBody>
      </p:sp>
      <p:sp>
        <p:nvSpPr>
          <p:cNvPr id="71" name="Line 68"/>
          <p:cNvSpPr>
            <a:spLocks noChangeShapeType="1"/>
          </p:cNvSpPr>
          <p:nvPr/>
        </p:nvSpPr>
        <p:spPr bwMode="auto">
          <a:xfrm flipV="1">
            <a:off x="7875588"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2" name="Text Box 69"/>
          <p:cNvSpPr txBox="1">
            <a:spLocks noChangeArrowheads="1"/>
          </p:cNvSpPr>
          <p:nvPr/>
        </p:nvSpPr>
        <p:spPr bwMode="auto">
          <a:xfrm>
            <a:off x="7502526" y="2976563"/>
            <a:ext cx="748923"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2800</a:t>
            </a:r>
          </a:p>
        </p:txBody>
      </p:sp>
      <p:sp>
        <p:nvSpPr>
          <p:cNvPr id="73" name="Line 70"/>
          <p:cNvSpPr>
            <a:spLocks noChangeShapeType="1"/>
          </p:cNvSpPr>
          <p:nvPr/>
        </p:nvSpPr>
        <p:spPr bwMode="auto">
          <a:xfrm>
            <a:off x="7977188"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 name="Line 71"/>
          <p:cNvSpPr>
            <a:spLocks noChangeShapeType="1"/>
          </p:cNvSpPr>
          <p:nvPr/>
        </p:nvSpPr>
        <p:spPr bwMode="auto">
          <a:xfrm>
            <a:off x="6223000"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 name="Text Box 72"/>
          <p:cNvSpPr txBox="1">
            <a:spLocks noChangeArrowheads="1"/>
          </p:cNvSpPr>
          <p:nvPr/>
        </p:nvSpPr>
        <p:spPr bwMode="auto">
          <a:xfrm>
            <a:off x="3617914" y="2997200"/>
            <a:ext cx="856325"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字节 </a:t>
            </a:r>
            <a:r>
              <a:rPr kumimoji="1" lang="en-US" altLang="zh-CN" sz="1800">
                <a:ea typeface="宋体" panose="02010600030101010101" pitchFamily="2" charset="-122"/>
              </a:rPr>
              <a:t>0</a:t>
            </a:r>
          </a:p>
        </p:txBody>
      </p:sp>
      <p:sp>
        <p:nvSpPr>
          <p:cNvPr id="76" name="TextBox 74"/>
          <p:cNvSpPr txBox="1"/>
          <p:nvPr/>
        </p:nvSpPr>
        <p:spPr>
          <a:xfrm>
            <a:off x="3200400" y="1676400"/>
            <a:ext cx="1220206" cy="369332"/>
          </a:xfrm>
          <a:prstGeom prst="rect">
            <a:avLst/>
          </a:prstGeom>
          <a:solidFill>
            <a:srgbClr val="FFC000"/>
          </a:solidFill>
        </p:spPr>
        <p:txBody>
          <a:bodyPr wrap="none">
            <a:spAutoFit/>
          </a:bodyPr>
          <a:lstStyle/>
          <a:p>
            <a:pPr>
              <a:defRPr/>
            </a:pPr>
            <a:r>
              <a:rPr lang="en-US" altLang="zh-CN" b="1" dirty="0">
                <a:latin typeface="Arial" pitchFamily="34" charset="0"/>
                <a:ea typeface="楷体_GB2312"/>
                <a:cs typeface="楷体_GB2312"/>
              </a:rPr>
              <a:t>DF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=0</a:t>
            </a:r>
            <a:endParaRPr lang="zh-CN" altLang="en-US" b="1" dirty="0">
              <a:latin typeface="Arial" pitchFamily="34" charset="0"/>
              <a:ea typeface="楷体_GB2312"/>
              <a:cs typeface="楷体_GB2312"/>
            </a:endParaRPr>
          </a:p>
        </p:txBody>
      </p:sp>
      <p:sp>
        <p:nvSpPr>
          <p:cNvPr id="77" name="TextBox 75"/>
          <p:cNvSpPr txBox="1"/>
          <p:nvPr/>
        </p:nvSpPr>
        <p:spPr>
          <a:xfrm>
            <a:off x="1752600" y="3733800"/>
            <a:ext cx="1245854" cy="369332"/>
          </a:xfrm>
          <a:prstGeom prst="rect">
            <a:avLst/>
          </a:prstGeom>
          <a:solidFill>
            <a:srgbClr val="92D050"/>
          </a:solidFill>
        </p:spPr>
        <p:txBody>
          <a:bodyPr wrap="none">
            <a:spAutoFit/>
          </a:bodyPr>
          <a:lstStyle/>
          <a:p>
            <a:pPr>
              <a:defRPr/>
            </a:pPr>
            <a:r>
              <a:rPr lang="en-US" altLang="zh-CN" b="1" dirty="0">
                <a:latin typeface="Arial" pitchFamily="34" charset="0"/>
                <a:ea typeface="楷体_GB2312"/>
                <a:cs typeface="楷体_GB2312"/>
              </a:rPr>
              <a:t>MF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=1</a:t>
            </a:r>
            <a:endParaRPr lang="zh-CN" altLang="en-US" b="1" dirty="0">
              <a:latin typeface="Arial" pitchFamily="34" charset="0"/>
              <a:ea typeface="楷体_GB2312"/>
              <a:cs typeface="楷体_GB2312"/>
            </a:endParaRPr>
          </a:p>
        </p:txBody>
      </p:sp>
      <p:sp>
        <p:nvSpPr>
          <p:cNvPr id="78" name="TextBox 76"/>
          <p:cNvSpPr txBox="1"/>
          <p:nvPr/>
        </p:nvSpPr>
        <p:spPr>
          <a:xfrm>
            <a:off x="4648200" y="3733800"/>
            <a:ext cx="1245854" cy="369332"/>
          </a:xfrm>
          <a:prstGeom prst="rect">
            <a:avLst/>
          </a:prstGeom>
          <a:solidFill>
            <a:srgbClr val="92D050"/>
          </a:solidFill>
        </p:spPr>
        <p:txBody>
          <a:bodyPr wrap="none">
            <a:spAutoFit/>
          </a:bodyPr>
          <a:lstStyle/>
          <a:p>
            <a:pPr>
              <a:defRPr/>
            </a:pPr>
            <a:r>
              <a:rPr lang="en-US" altLang="zh-CN" b="1" dirty="0">
                <a:latin typeface="Arial" pitchFamily="34" charset="0"/>
                <a:ea typeface="楷体_GB2312"/>
                <a:cs typeface="楷体_GB2312"/>
              </a:rPr>
              <a:t>MF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=1</a:t>
            </a:r>
            <a:endParaRPr lang="zh-CN" altLang="en-US" b="1" dirty="0">
              <a:latin typeface="Arial" pitchFamily="34" charset="0"/>
              <a:ea typeface="楷体_GB2312"/>
              <a:cs typeface="楷体_GB2312"/>
            </a:endParaRPr>
          </a:p>
        </p:txBody>
      </p:sp>
      <p:sp>
        <p:nvSpPr>
          <p:cNvPr id="79" name="TextBox 77"/>
          <p:cNvSpPr txBox="1"/>
          <p:nvPr/>
        </p:nvSpPr>
        <p:spPr>
          <a:xfrm>
            <a:off x="7696200" y="3733800"/>
            <a:ext cx="1245854" cy="369332"/>
          </a:xfrm>
          <a:prstGeom prst="rect">
            <a:avLst/>
          </a:prstGeom>
          <a:solidFill>
            <a:srgbClr val="92D050"/>
          </a:solidFill>
        </p:spPr>
        <p:txBody>
          <a:bodyPr wrap="none">
            <a:spAutoFit/>
          </a:bodyPr>
          <a:lstStyle/>
          <a:p>
            <a:pPr>
              <a:defRPr/>
            </a:pPr>
            <a:r>
              <a:rPr lang="en-US" altLang="zh-CN" b="1" dirty="0">
                <a:latin typeface="Arial" pitchFamily="34" charset="0"/>
                <a:ea typeface="楷体_GB2312"/>
                <a:cs typeface="楷体_GB2312"/>
              </a:rPr>
              <a:t>MF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=0</a:t>
            </a:r>
            <a:endParaRPr lang="zh-CN" altLang="en-US" b="1" dirty="0">
              <a:latin typeface="Arial" pitchFamily="34" charset="0"/>
              <a:ea typeface="楷体_GB2312"/>
              <a:cs typeface="楷体_GB2312"/>
            </a:endParaRPr>
          </a:p>
        </p:txBody>
      </p:sp>
      <p:sp>
        <p:nvSpPr>
          <p:cNvPr id="80" name="TextBox 78"/>
          <p:cNvSpPr txBox="1"/>
          <p:nvPr/>
        </p:nvSpPr>
        <p:spPr>
          <a:xfrm>
            <a:off x="3411538" y="6279079"/>
            <a:ext cx="5798382" cy="369332"/>
          </a:xfrm>
          <a:prstGeom prst="rect">
            <a:avLst/>
          </a:prstGeom>
          <a:solidFill>
            <a:srgbClr val="0000FF"/>
          </a:solidFill>
        </p:spPr>
        <p:txBody>
          <a:bodyPr wrap="none">
            <a:spAutoFit/>
          </a:bodyPr>
          <a:lstStyle/>
          <a:p>
            <a:pPr algn="ctr">
              <a:defRPr/>
            </a:pPr>
            <a:r>
              <a:rPr lang="zh-CN" altLang="en-US" b="1" dirty="0">
                <a:solidFill>
                  <a:schemeClr val="bg1"/>
                </a:solidFill>
                <a:latin typeface="Arial" pitchFamily="34" charset="0"/>
                <a:ea typeface="楷体_GB2312"/>
                <a:cs typeface="楷体_GB2312"/>
              </a:rPr>
              <a:t>原始报文和分片报文具有相同的</a:t>
            </a:r>
            <a:r>
              <a:rPr lang="en-US" altLang="zh-CN" b="1" dirty="0">
                <a:solidFill>
                  <a:schemeClr val="bg1"/>
                </a:solidFill>
                <a:latin typeface="Arial" pitchFamily="34" charset="0"/>
                <a:ea typeface="楷体_GB2312"/>
                <a:cs typeface="楷体_GB2312"/>
              </a:rPr>
              <a:t>IP</a:t>
            </a:r>
            <a:r>
              <a:rPr lang="zh-CN" altLang="en-US" b="1" dirty="0">
                <a:solidFill>
                  <a:schemeClr val="bg1"/>
                </a:solidFill>
                <a:latin typeface="Arial" pitchFamily="34" charset="0"/>
                <a:ea typeface="楷体_GB2312"/>
                <a:cs typeface="楷体_GB2312"/>
              </a:rPr>
              <a:t>标识（</a:t>
            </a:r>
            <a:r>
              <a:rPr lang="en-US" altLang="zh-CN" b="1" dirty="0">
                <a:solidFill>
                  <a:schemeClr val="bg1"/>
                </a:solidFill>
                <a:latin typeface="Arial" pitchFamily="34" charset="0"/>
                <a:ea typeface="楷体_GB2312"/>
                <a:cs typeface="楷体_GB2312"/>
              </a:rPr>
              <a:t>IP</a:t>
            </a:r>
            <a:r>
              <a:rPr lang="zh-CN" altLang="en-US" b="1" dirty="0">
                <a:solidFill>
                  <a:schemeClr val="bg1"/>
                </a:solidFill>
                <a:latin typeface="Arial" pitchFamily="34" charset="0"/>
                <a:ea typeface="楷体_GB2312"/>
                <a:cs typeface="楷体_GB2312"/>
              </a:rPr>
              <a:t>头部字段）</a:t>
            </a:r>
          </a:p>
        </p:txBody>
      </p:sp>
      <p:sp>
        <p:nvSpPr>
          <p:cNvPr id="3" name="日期占位符 2"/>
          <p:cNvSpPr>
            <a:spLocks noGrp="1"/>
          </p:cNvSpPr>
          <p:nvPr>
            <p:ph type="dt" sz="half" idx="10"/>
          </p:nvPr>
        </p:nvSpPr>
        <p:spPr/>
        <p:txBody>
          <a:bodyPr/>
          <a:lstStyle/>
          <a:p>
            <a:r>
              <a:rPr kumimoji="1" lang="en-US" altLang="zh-CN" dirty="0"/>
              <a:t>5.6.1 IPv4</a:t>
            </a:r>
            <a:r>
              <a:rPr kumimoji="1" lang="zh-CN" altLang="en-US" dirty="0"/>
              <a:t>协议</a:t>
            </a:r>
          </a:p>
        </p:txBody>
      </p:sp>
      <p:pic>
        <p:nvPicPr>
          <p:cNvPr id="81" name="Picture 28" descr="015">
            <a:extLst>
              <a:ext uri="{FF2B5EF4-FFF2-40B4-BE49-F238E27FC236}">
                <a16:creationId xmlns:a16="http://schemas.microsoft.com/office/drawing/2014/main" id="{E9D33718-781B-4FF8-A78E-AE1F7A89F6E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6259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blinds(horizontal)">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blinds(horizontal)">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blinds(horizontal)">
                                      <p:cBhvr>
                                        <p:cTn id="17" dur="500"/>
                                        <p:tgtEl>
                                          <p:spTgt spid="78"/>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blinds(horizontal)">
                                      <p:cBhvr>
                                        <p:cTn id="22" dur="500"/>
                                        <p:tgtEl>
                                          <p:spTgt spid="79"/>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blinds(horizontal)">
                                      <p:cBhvr>
                                        <p:cTn id="2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9" grpId="0" animBg="1"/>
      <p:bldP spid="80"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数据报分片</a:t>
            </a:r>
          </a:p>
        </p:txBody>
      </p:sp>
      <p:sp>
        <p:nvSpPr>
          <p:cNvPr id="3" name="内容占位符 2">
            <a:extLst>
              <a:ext uri="{FF2B5EF4-FFF2-40B4-BE49-F238E27FC236}">
                <a16:creationId xmlns:a16="http://schemas.microsoft.com/office/drawing/2014/main" id="{DB830B1C-0706-7E41-AE1A-DEBBD115D846}"/>
              </a:ext>
            </a:extLst>
          </p:cNvPr>
          <p:cNvSpPr>
            <a:spLocks noGrp="1"/>
          </p:cNvSpPr>
          <p:nvPr>
            <p:ph idx="1"/>
          </p:nvPr>
        </p:nvSpPr>
        <p:spPr>
          <a:xfrm>
            <a:off x="935665" y="3717673"/>
            <a:ext cx="9941442" cy="2954192"/>
          </a:xfrm>
        </p:spPr>
        <p:txBody>
          <a:bodyPr>
            <a:normAutofit/>
          </a:bodyPr>
          <a:lstStyle/>
          <a:p>
            <a:r>
              <a:rPr lang="en-US" altLang="zh-CN" sz="2400" dirty="0"/>
              <a:t>IPv4</a:t>
            </a:r>
            <a:r>
              <a:rPr lang="zh-CN" altLang="en-US" sz="2400" dirty="0"/>
              <a:t>分组在传输途中可以多次分片</a:t>
            </a:r>
            <a:endParaRPr lang="en-US" altLang="zh-CN" sz="2400" dirty="0"/>
          </a:p>
          <a:p>
            <a:pPr lvl="1"/>
            <a:r>
              <a:rPr lang="zh-CN" altLang="en-US" sz="2000" dirty="0"/>
              <a:t>源端系统，中间路由器（可通过标志位设定是否允许路由器分片）</a:t>
            </a:r>
          </a:p>
          <a:p>
            <a:r>
              <a:rPr lang="en-US" altLang="zh-CN" sz="2400" dirty="0"/>
              <a:t>IPv4</a:t>
            </a:r>
            <a:r>
              <a:rPr lang="zh-CN" altLang="en-US" sz="2400" dirty="0"/>
              <a:t>分片只在目的</a:t>
            </a:r>
            <a:r>
              <a:rPr lang="en-US" altLang="zh-CN" sz="2400" dirty="0"/>
              <a:t>IP</a:t>
            </a:r>
            <a:r>
              <a:rPr lang="zh-CN" altLang="en-US" sz="2400" dirty="0"/>
              <a:t>对应的目的端系统进行重组</a:t>
            </a:r>
            <a:endParaRPr lang="en-US" altLang="zh-CN" sz="2400" dirty="0"/>
          </a:p>
          <a:p>
            <a:r>
              <a:rPr lang="en-US" altLang="zh-CN" sz="2400" dirty="0"/>
              <a:t>IPv4</a:t>
            </a:r>
            <a:r>
              <a:rPr lang="zh-CN" altLang="en-US" sz="2400" dirty="0"/>
              <a:t>分片、重组字段在基本</a:t>
            </a:r>
            <a:r>
              <a:rPr lang="en-US" altLang="zh-CN" sz="2400" dirty="0"/>
              <a:t>IP</a:t>
            </a:r>
            <a:r>
              <a:rPr lang="zh-CN" altLang="en-US" sz="2400" dirty="0"/>
              <a:t>头部</a:t>
            </a:r>
            <a:endParaRPr lang="en-US" altLang="zh-CN" sz="2400" dirty="0"/>
          </a:p>
          <a:p>
            <a:pPr lvl="1"/>
            <a:r>
              <a:rPr lang="zh-CN" altLang="en-US" sz="2000" dirty="0"/>
              <a:t>标识、标志、片偏移</a:t>
            </a:r>
            <a:endParaRPr lang="en-US" altLang="zh-CN" sz="2000" dirty="0"/>
          </a:p>
          <a:p>
            <a:r>
              <a:rPr lang="en-US" altLang="zh-CN" sz="2400" i="1" dirty="0"/>
              <a:t>IPv6</a:t>
            </a:r>
            <a:r>
              <a:rPr lang="zh-CN" altLang="en-US" sz="2400" i="1" dirty="0"/>
              <a:t>分片机制有较大变化（见</a:t>
            </a:r>
            <a:r>
              <a:rPr lang="en-US" altLang="zh-CN" sz="2400" i="1" dirty="0"/>
              <a:t>IPv6</a:t>
            </a:r>
            <a:r>
              <a:rPr lang="zh-CN" altLang="en-US" sz="2400" i="1" dirty="0"/>
              <a:t>部分的介绍）</a:t>
            </a:r>
            <a:endParaRPr lang="en-US" altLang="zh-CN" sz="2400" i="1" dirty="0"/>
          </a:p>
        </p:txBody>
      </p:sp>
      <p:sp>
        <p:nvSpPr>
          <p:cNvPr id="4" name="灯片编号占位符 3">
            <a:extLst>
              <a:ext uri="{FF2B5EF4-FFF2-40B4-BE49-F238E27FC236}">
                <a16:creationId xmlns:a16="http://schemas.microsoft.com/office/drawing/2014/main" id="{E852B801-B608-C343-9A93-C7F2EAAC62BE}"/>
              </a:ext>
            </a:extLst>
          </p:cNvPr>
          <p:cNvSpPr>
            <a:spLocks noGrp="1"/>
          </p:cNvSpPr>
          <p:nvPr>
            <p:ph type="sldNum" sz="quarter" idx="12"/>
          </p:nvPr>
        </p:nvSpPr>
        <p:spPr/>
        <p:txBody>
          <a:bodyPr/>
          <a:lstStyle/>
          <a:p>
            <a:fld id="{8D4D1E41-7A09-AB4A-A4E1-09765ADA2698}" type="slidenum">
              <a:rPr kumimoji="1" lang="zh-CN" altLang="en-US" smtClean="0"/>
              <a:pPr/>
              <a:t>121</a:t>
            </a:fld>
            <a:endParaRPr kumimoji="1" lang="zh-CN" altLang="en-US" dirty="0"/>
          </a:p>
        </p:txBody>
      </p:sp>
      <p:graphicFrame>
        <p:nvGraphicFramePr>
          <p:cNvPr id="5" name="Object 6"/>
          <p:cNvGraphicFramePr>
            <a:graphicFrameLocks noChangeAspect="1"/>
          </p:cNvGraphicFramePr>
          <p:nvPr/>
        </p:nvGraphicFramePr>
        <p:xfrm>
          <a:off x="1427163" y="2203484"/>
          <a:ext cx="8756651" cy="1177925"/>
        </p:xfrm>
        <a:graphic>
          <a:graphicData uri="http://schemas.openxmlformats.org/presentationml/2006/ole">
            <mc:AlternateContent xmlns:mc="http://schemas.openxmlformats.org/markup-compatibility/2006">
              <mc:Choice xmlns:v="urn:schemas-microsoft-com:vml" Requires="v">
                <p:oleObj name="Visio" r:id="rId2" imgW="4851417" imgH="641350" progId="">
                  <p:embed/>
                </p:oleObj>
              </mc:Choice>
              <mc:Fallback>
                <p:oleObj name="Visio" r:id="rId2" imgW="4851417" imgH="641350" progId="">
                  <p:embed/>
                  <p:pic>
                    <p:nvPicPr>
                      <p:cNvPr id="5" name="Object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27163" y="2203484"/>
                        <a:ext cx="8756651" cy="1177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7"/>
          <p:cNvGraphicFramePr>
            <a:graphicFrameLocks noChangeAspect="1"/>
          </p:cNvGraphicFramePr>
          <p:nvPr/>
        </p:nvGraphicFramePr>
        <p:xfrm>
          <a:off x="2424114" y="1803433"/>
          <a:ext cx="820737" cy="400050"/>
        </p:xfrm>
        <a:graphic>
          <a:graphicData uri="http://schemas.openxmlformats.org/presentationml/2006/ole">
            <mc:AlternateContent xmlns:mc="http://schemas.openxmlformats.org/markup-compatibility/2006">
              <mc:Choice xmlns:v="urn:schemas-microsoft-com:vml" Requires="v">
                <p:oleObj name="Visio" r:id="rId4" imgW="472575" imgH="229573" progId="Visio.Drawing.11">
                  <p:link updateAutomatic="1"/>
                </p:oleObj>
              </mc:Choice>
              <mc:Fallback>
                <p:oleObj name="Visio" r:id="rId4" imgW="472575" imgH="229573" progId="Visio.Drawing.11">
                  <p:link updateAutomatic="1"/>
                  <p:pic>
                    <p:nvPicPr>
                      <p:cNvPr id="6"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24114" y="1803433"/>
                        <a:ext cx="82073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7" name="Object 8"/>
          <p:cNvGraphicFramePr>
            <a:graphicFrameLocks noChangeAspect="1"/>
          </p:cNvGraphicFramePr>
          <p:nvPr/>
        </p:nvGraphicFramePr>
        <p:xfrm>
          <a:off x="4002089" y="1789147"/>
          <a:ext cx="898525" cy="414337"/>
        </p:xfrm>
        <a:graphic>
          <a:graphicData uri="http://schemas.openxmlformats.org/presentationml/2006/ole">
            <mc:AlternateContent xmlns:mc="http://schemas.openxmlformats.org/markup-compatibility/2006">
              <mc:Choice xmlns:v="urn:schemas-microsoft-com:vml" Requires="v">
                <p:oleObj name="Visio" r:id="rId4" imgW="499548" imgH="229573" progId="Visio.Drawing.11">
                  <p:link updateAutomatic="1"/>
                </p:oleObj>
              </mc:Choice>
              <mc:Fallback>
                <p:oleObj name="Visio" r:id="rId4" imgW="499548" imgH="229573" progId="Visio.Drawing.11">
                  <p:link updateAutomatic="1"/>
                  <p:pic>
                    <p:nvPicPr>
                      <p:cNvPr id="7"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2089" y="1789147"/>
                        <a:ext cx="898525"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8" name="Object 9"/>
          <p:cNvGraphicFramePr>
            <a:graphicFrameLocks noChangeAspect="1"/>
          </p:cNvGraphicFramePr>
          <p:nvPr/>
        </p:nvGraphicFramePr>
        <p:xfrm>
          <a:off x="5595939" y="1789147"/>
          <a:ext cx="898525" cy="414337"/>
        </p:xfrm>
        <a:graphic>
          <a:graphicData uri="http://schemas.openxmlformats.org/presentationml/2006/ole">
            <mc:AlternateContent xmlns:mc="http://schemas.openxmlformats.org/markup-compatibility/2006">
              <mc:Choice xmlns:v="urn:schemas-microsoft-com:vml" Requires="v">
                <p:oleObj name="Visio" r:id="rId4" imgW="499548" imgH="229573" progId="Visio.Drawing.11">
                  <p:link updateAutomatic="1"/>
                </p:oleObj>
              </mc:Choice>
              <mc:Fallback>
                <p:oleObj name="Visio" r:id="rId4" imgW="499548" imgH="229573" progId="Visio.Drawing.11">
                  <p:link updateAutomatic="1"/>
                  <p:pic>
                    <p:nvPicPr>
                      <p:cNvPr id="8"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95939" y="1789147"/>
                        <a:ext cx="898525"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9" name="Object 10"/>
          <p:cNvGraphicFramePr>
            <a:graphicFrameLocks noChangeAspect="1"/>
          </p:cNvGraphicFramePr>
          <p:nvPr/>
        </p:nvGraphicFramePr>
        <p:xfrm>
          <a:off x="3946525" y="2800384"/>
          <a:ext cx="889000" cy="409575"/>
        </p:xfrm>
        <a:graphic>
          <a:graphicData uri="http://schemas.openxmlformats.org/presentationml/2006/ole">
            <mc:AlternateContent xmlns:mc="http://schemas.openxmlformats.org/markup-compatibility/2006">
              <mc:Choice xmlns:v="urn:schemas-microsoft-com:vml" Requires="v">
                <p:oleObj name="Visio" r:id="rId4" imgW="499548" imgH="229573" progId="Visio.Drawing.11">
                  <p:link updateAutomatic="1"/>
                </p:oleObj>
              </mc:Choice>
              <mc:Fallback>
                <p:oleObj name="Visio" r:id="rId4" imgW="499548" imgH="229573" progId="Visio.Drawing.11">
                  <p:link updateAutomatic="1"/>
                  <p:pic>
                    <p:nvPicPr>
                      <p:cNvPr id="9"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46525" y="2800384"/>
                        <a:ext cx="889000"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10" name="Object 11"/>
          <p:cNvGraphicFramePr>
            <a:graphicFrameLocks noChangeAspect="1"/>
          </p:cNvGraphicFramePr>
          <p:nvPr/>
        </p:nvGraphicFramePr>
        <p:xfrm>
          <a:off x="5583238" y="2814672"/>
          <a:ext cx="887412" cy="409575"/>
        </p:xfrm>
        <a:graphic>
          <a:graphicData uri="http://schemas.openxmlformats.org/presentationml/2006/ole">
            <mc:AlternateContent xmlns:mc="http://schemas.openxmlformats.org/markup-compatibility/2006">
              <mc:Choice xmlns:v="urn:schemas-microsoft-com:vml" Requires="v">
                <p:oleObj name="Visio" r:id="rId4" imgW="499548" imgH="229573" progId="Visio.Drawing.11">
                  <p:link updateAutomatic="1"/>
                </p:oleObj>
              </mc:Choice>
              <mc:Fallback>
                <p:oleObj name="Visio" r:id="rId4" imgW="499548" imgH="229573" progId="Visio.Drawing.11">
                  <p:link updateAutomatic="1"/>
                  <p:pic>
                    <p:nvPicPr>
                      <p:cNvPr id="10" name="Object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83238" y="2814672"/>
                        <a:ext cx="887412"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pic>
        <p:nvPicPr>
          <p:cNvPr id="11"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85038" y="1805021"/>
            <a:ext cx="1858962"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2" name="Object 13"/>
          <p:cNvGraphicFramePr>
            <a:graphicFrameLocks noChangeAspect="1"/>
          </p:cNvGraphicFramePr>
          <p:nvPr/>
        </p:nvGraphicFramePr>
        <p:xfrm>
          <a:off x="7688263" y="2801972"/>
          <a:ext cx="887412" cy="409575"/>
        </p:xfrm>
        <a:graphic>
          <a:graphicData uri="http://schemas.openxmlformats.org/presentationml/2006/ole">
            <mc:AlternateContent xmlns:mc="http://schemas.openxmlformats.org/markup-compatibility/2006">
              <mc:Choice xmlns:v="urn:schemas-microsoft-com:vml" Requires="v">
                <p:oleObj name="Visio" r:id="rId4" imgW="499548" imgH="229573" progId="Visio.Drawing.11">
                  <p:link updateAutomatic="1"/>
                </p:oleObj>
              </mc:Choice>
              <mc:Fallback>
                <p:oleObj name="Visio" r:id="rId4" imgW="499548" imgH="229573" progId="Visio.Drawing.11">
                  <p:link updateAutomatic="1"/>
                  <p:pic>
                    <p:nvPicPr>
                      <p:cNvPr id="12" name="Object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88263" y="2801972"/>
                        <a:ext cx="887412"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13" name="Object 14"/>
          <p:cNvGraphicFramePr>
            <a:graphicFrameLocks noChangeAspect="1"/>
          </p:cNvGraphicFramePr>
          <p:nvPr/>
        </p:nvGraphicFramePr>
        <p:xfrm>
          <a:off x="9555163" y="1747872"/>
          <a:ext cx="906462" cy="441325"/>
        </p:xfrm>
        <a:graphic>
          <a:graphicData uri="http://schemas.openxmlformats.org/presentationml/2006/ole">
            <mc:AlternateContent xmlns:mc="http://schemas.openxmlformats.org/markup-compatibility/2006">
              <mc:Choice xmlns:v="urn:schemas-microsoft-com:vml" Requires="v">
                <p:oleObj name="Visio" r:id="rId4" imgW="472575" imgH="229573" progId="Visio.Drawing.11">
                  <p:link updateAutomatic="1"/>
                </p:oleObj>
              </mc:Choice>
              <mc:Fallback>
                <p:oleObj name="Visio" r:id="rId4" imgW="472575" imgH="229573" progId="Visio.Drawing.11">
                  <p:link updateAutomatic="1"/>
                  <p:pic>
                    <p:nvPicPr>
                      <p:cNvPr id="13" name="Object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55163" y="1747872"/>
                        <a:ext cx="906462" cy="44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sp>
        <p:nvSpPr>
          <p:cNvPr id="16" name="日期占位符 15"/>
          <p:cNvSpPr>
            <a:spLocks noGrp="1"/>
          </p:cNvSpPr>
          <p:nvPr>
            <p:ph type="dt" sz="half" idx="10"/>
          </p:nvPr>
        </p:nvSpPr>
        <p:spPr/>
        <p:txBody>
          <a:bodyPr/>
          <a:lstStyle/>
          <a:p>
            <a:r>
              <a:rPr kumimoji="1" lang="en-US" altLang="zh-CN" dirty="0"/>
              <a:t>5.6.1 IPv4</a:t>
            </a:r>
            <a:r>
              <a:rPr kumimoji="1" lang="zh-CN" altLang="en-US" dirty="0"/>
              <a:t>协议</a:t>
            </a:r>
          </a:p>
        </p:txBody>
      </p:sp>
      <p:pic>
        <p:nvPicPr>
          <p:cNvPr id="15" name="Picture 28" descr="015">
            <a:extLst>
              <a:ext uri="{FF2B5EF4-FFF2-40B4-BE49-F238E27FC236}">
                <a16:creationId xmlns:a16="http://schemas.microsoft.com/office/drawing/2014/main" id="{77952F4B-63D1-45D4-A74F-79911E3341D4}"/>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2341278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t>IP</a:t>
            </a:r>
            <a:r>
              <a:rPr kumimoji="1" lang="zh-CN" altLang="en-US" dirty="0"/>
              <a:t>协议功能及报头字段总结</a:t>
            </a:r>
          </a:p>
        </p:txBody>
      </p:sp>
      <p:sp>
        <p:nvSpPr>
          <p:cNvPr id="8" name="内容占位符 2">
            <a:extLst>
              <a:ext uri="{FF2B5EF4-FFF2-40B4-BE49-F238E27FC236}">
                <a16:creationId xmlns:a16="http://schemas.microsoft.com/office/drawing/2014/main" id="{DB830B1C-0706-7E41-AE1A-DEBBD115D846}"/>
              </a:ext>
            </a:extLst>
          </p:cNvPr>
          <p:cNvSpPr>
            <a:spLocks noGrp="1"/>
          </p:cNvSpPr>
          <p:nvPr>
            <p:ph idx="1"/>
          </p:nvPr>
        </p:nvSpPr>
        <p:spPr>
          <a:xfrm>
            <a:off x="573609" y="1430455"/>
            <a:ext cx="10966750" cy="5163371"/>
          </a:xfrm>
        </p:spPr>
        <p:txBody>
          <a:bodyPr>
            <a:normAutofit/>
          </a:bodyPr>
          <a:lstStyle/>
          <a:p>
            <a:pPr marL="0" indent="0">
              <a:buNone/>
            </a:pPr>
            <a:r>
              <a:rPr lang="zh-CN" altLang="en-US" b="1" dirty="0"/>
              <a:t>网络层基本功能</a:t>
            </a:r>
            <a:endParaRPr lang="en-US" altLang="zh-CN" b="1" dirty="0"/>
          </a:p>
          <a:p>
            <a:r>
              <a:rPr lang="zh-CN" altLang="en-US" dirty="0"/>
              <a:t>支持多跳寻路将</a:t>
            </a:r>
            <a:r>
              <a:rPr lang="en-US" altLang="zh-CN" dirty="0"/>
              <a:t>IP</a:t>
            </a:r>
            <a:r>
              <a:rPr lang="zh-CN" altLang="en-US" dirty="0"/>
              <a:t>数据报送达目的端：</a:t>
            </a:r>
            <a:r>
              <a:rPr lang="zh-CN" altLang="en-US" i="1" dirty="0">
                <a:solidFill>
                  <a:srgbClr val="C00000"/>
                </a:solidFill>
              </a:rPr>
              <a:t>目的</a:t>
            </a:r>
            <a:r>
              <a:rPr lang="en-US" altLang="zh-CN" i="1" dirty="0">
                <a:solidFill>
                  <a:srgbClr val="C00000"/>
                </a:solidFill>
              </a:rPr>
              <a:t>IP</a:t>
            </a:r>
            <a:r>
              <a:rPr lang="zh-CN" altLang="en-US" i="1" dirty="0">
                <a:solidFill>
                  <a:srgbClr val="C00000"/>
                </a:solidFill>
              </a:rPr>
              <a:t>地址</a:t>
            </a:r>
            <a:endParaRPr lang="en-US" altLang="zh-CN" i="1" dirty="0">
              <a:solidFill>
                <a:srgbClr val="C00000"/>
              </a:solidFill>
            </a:endParaRPr>
          </a:p>
          <a:p>
            <a:r>
              <a:rPr lang="zh-CN" altLang="en-US" dirty="0"/>
              <a:t>表明发送端身份：</a:t>
            </a:r>
            <a:r>
              <a:rPr lang="zh-CN" altLang="en-US" i="1" dirty="0">
                <a:solidFill>
                  <a:srgbClr val="C00000"/>
                </a:solidFill>
              </a:rPr>
              <a:t>源</a:t>
            </a:r>
            <a:r>
              <a:rPr lang="en-US" altLang="zh-CN" i="1" dirty="0">
                <a:solidFill>
                  <a:srgbClr val="C00000"/>
                </a:solidFill>
              </a:rPr>
              <a:t>IP</a:t>
            </a:r>
            <a:r>
              <a:rPr lang="zh-CN" altLang="en-US" i="1" dirty="0">
                <a:solidFill>
                  <a:srgbClr val="C00000"/>
                </a:solidFill>
              </a:rPr>
              <a:t>地址</a:t>
            </a:r>
            <a:endParaRPr lang="en-US" altLang="zh-CN" i="1" dirty="0">
              <a:solidFill>
                <a:srgbClr val="C00000"/>
              </a:solidFill>
            </a:endParaRPr>
          </a:p>
          <a:p>
            <a:r>
              <a:rPr lang="zh-CN" altLang="en-US" dirty="0"/>
              <a:t>根据</a:t>
            </a:r>
            <a:r>
              <a:rPr lang="en-US" altLang="zh-CN" dirty="0"/>
              <a:t>IP</a:t>
            </a:r>
            <a:r>
              <a:rPr lang="zh-CN" altLang="en-US" dirty="0"/>
              <a:t>头部协议类型，提交给不同上层协议处理：</a:t>
            </a:r>
            <a:r>
              <a:rPr lang="zh-CN" altLang="en-US" i="1" dirty="0">
                <a:solidFill>
                  <a:srgbClr val="C00000"/>
                </a:solidFill>
              </a:rPr>
              <a:t>协议</a:t>
            </a:r>
            <a:endParaRPr lang="en-US" altLang="zh-CN" i="1" dirty="0">
              <a:solidFill>
                <a:srgbClr val="C00000"/>
              </a:solidFill>
            </a:endParaRPr>
          </a:p>
          <a:p>
            <a:pPr marL="0" indent="0">
              <a:spcBef>
                <a:spcPts val="1800"/>
              </a:spcBef>
              <a:buNone/>
            </a:pPr>
            <a:r>
              <a:rPr lang="zh-CN" altLang="en-US" b="1" dirty="0"/>
              <a:t>其它相关问题</a:t>
            </a:r>
            <a:endParaRPr lang="en-US" altLang="zh-CN" b="1" dirty="0"/>
          </a:p>
          <a:p>
            <a:r>
              <a:rPr lang="zh-CN" altLang="en-US" dirty="0"/>
              <a:t>数据报长度大于传输链路的</a:t>
            </a:r>
            <a:r>
              <a:rPr lang="en-US" altLang="zh-CN" dirty="0"/>
              <a:t>MTU</a:t>
            </a:r>
            <a:r>
              <a:rPr lang="zh-CN" altLang="en-US" dirty="0"/>
              <a:t>的问题，通过分片机制解决：</a:t>
            </a:r>
            <a:r>
              <a:rPr lang="zh-CN" altLang="en-US" i="1" dirty="0">
                <a:solidFill>
                  <a:srgbClr val="C00000"/>
                </a:solidFill>
              </a:rPr>
              <a:t>标识、标志、片偏移</a:t>
            </a:r>
            <a:endParaRPr lang="en-US" altLang="zh-CN" i="1" dirty="0">
              <a:solidFill>
                <a:srgbClr val="C00000"/>
              </a:solidFill>
            </a:endParaRPr>
          </a:p>
          <a:p>
            <a:r>
              <a:rPr lang="zh-CN" altLang="en-US" dirty="0"/>
              <a:t>防止循环转发浪费网络资源（路由错误、设备故障</a:t>
            </a:r>
            <a:r>
              <a:rPr lang="en-US" altLang="zh-CN" dirty="0"/>
              <a:t>…</a:t>
            </a:r>
            <a:r>
              <a:rPr lang="zh-CN" altLang="en-US" dirty="0"/>
              <a:t>），通过跳数限制解决：</a:t>
            </a:r>
            <a:r>
              <a:rPr lang="zh-CN" altLang="en-US" i="1" dirty="0">
                <a:solidFill>
                  <a:srgbClr val="C00000"/>
                </a:solidFill>
              </a:rPr>
              <a:t>生存时间</a:t>
            </a:r>
            <a:r>
              <a:rPr lang="en-US" altLang="zh-CN" i="1" dirty="0">
                <a:solidFill>
                  <a:srgbClr val="C00000"/>
                </a:solidFill>
              </a:rPr>
              <a:t>TTL</a:t>
            </a:r>
          </a:p>
          <a:p>
            <a:r>
              <a:rPr lang="en-US" altLang="zh-CN" dirty="0"/>
              <a:t>IP</a:t>
            </a:r>
            <a:r>
              <a:rPr lang="zh-CN" altLang="en-US" dirty="0"/>
              <a:t>报头错误导致无效传输，通过头部机校验解决：</a:t>
            </a:r>
            <a:r>
              <a:rPr lang="zh-CN" altLang="en-US" i="1" dirty="0">
                <a:solidFill>
                  <a:srgbClr val="C00000"/>
                </a:solidFill>
              </a:rPr>
              <a:t>首部校验和</a:t>
            </a:r>
            <a:endParaRPr lang="en-US" altLang="zh-CN" i="1" dirty="0">
              <a:solidFill>
                <a:srgbClr val="C00000"/>
              </a:solidFill>
            </a:endParaRPr>
          </a:p>
        </p:txBody>
      </p:sp>
      <p:sp>
        <p:nvSpPr>
          <p:cNvPr id="7" name="日期占位符 5"/>
          <p:cNvSpPr>
            <a:spLocks noGrp="1"/>
          </p:cNvSpPr>
          <p:nvPr>
            <p:ph type="dt" sz="half" idx="10"/>
          </p:nvPr>
        </p:nvSpPr>
        <p:spPr>
          <a:xfrm>
            <a:off x="197335" y="6489303"/>
            <a:ext cx="2743200" cy="365125"/>
          </a:xfrm>
        </p:spPr>
        <p:txBody>
          <a:bodyPr/>
          <a:lstStyle/>
          <a:p>
            <a:r>
              <a:rPr kumimoji="1" lang="en-US" altLang="zh-CN" dirty="0"/>
              <a:t>5.6.1 IPv4</a:t>
            </a:r>
            <a:r>
              <a:rPr kumimoji="1" lang="zh-CN" altLang="en-US" dirty="0"/>
              <a:t>协议</a:t>
            </a:r>
          </a:p>
        </p:txBody>
      </p:sp>
      <p:sp>
        <p:nvSpPr>
          <p:cNvPr id="6" name="灯片编号占位符 3">
            <a:extLst>
              <a:ext uri="{FF2B5EF4-FFF2-40B4-BE49-F238E27FC236}">
                <a16:creationId xmlns:a16="http://schemas.microsoft.com/office/drawing/2014/main" id="{764333B1-4408-A54F-8435-0FEAABA16DED}"/>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122</a:t>
            </a:fld>
            <a:endParaRPr kumimoji="1" lang="zh-CN" altLang="en-US" dirty="0"/>
          </a:p>
        </p:txBody>
      </p:sp>
    </p:spTree>
    <p:extLst>
      <p:ext uri="{BB962C8B-B14F-4D97-AF65-F5344CB8AC3E}">
        <p14:creationId xmlns:p14="http://schemas.microsoft.com/office/powerpoint/2010/main" val="2751288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8">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a:t>
            </a:r>
            <a:r>
              <a:rPr lang="zh-CN" altLang="en-US" dirty="0"/>
              <a:t>地址</a:t>
            </a:r>
          </a:p>
        </p:txBody>
      </p:sp>
      <p:sp>
        <p:nvSpPr>
          <p:cNvPr id="3" name="内容占位符 2"/>
          <p:cNvSpPr>
            <a:spLocks noGrp="1"/>
          </p:cNvSpPr>
          <p:nvPr>
            <p:ph idx="1"/>
          </p:nvPr>
        </p:nvSpPr>
        <p:spPr/>
        <p:txBody>
          <a:bodyPr/>
          <a:lstStyle/>
          <a:p>
            <a:r>
              <a:rPr kumimoji="1" lang="en-US" altLang="zh-CN" dirty="0">
                <a:solidFill>
                  <a:srgbClr val="C00000"/>
                </a:solidFill>
              </a:rPr>
              <a:t>IP</a:t>
            </a:r>
            <a:r>
              <a:rPr kumimoji="1" lang="zh-CN" altLang="en-US" dirty="0">
                <a:solidFill>
                  <a:srgbClr val="C00000"/>
                </a:solidFill>
              </a:rPr>
              <a:t>地址</a:t>
            </a:r>
            <a:r>
              <a:rPr kumimoji="1" lang="zh-CN" altLang="en-US" dirty="0"/>
              <a:t>，网络上的每一台主机（或路由器）的每一个接口都会分配一个全球唯一的</a:t>
            </a:r>
            <a:r>
              <a:rPr kumimoji="1" lang="en-US" altLang="zh-CN" dirty="0"/>
              <a:t>32</a:t>
            </a:r>
            <a:r>
              <a:rPr kumimoji="1" lang="zh-CN" altLang="en-US" dirty="0"/>
              <a:t>位的标识符</a:t>
            </a:r>
            <a:endParaRPr kumimoji="1" lang="en-US" altLang="zh-CN" dirty="0"/>
          </a:p>
          <a:p>
            <a:pPr lvl="0"/>
            <a:r>
              <a:rPr lang="zh-CN" altLang="en-US" dirty="0"/>
              <a:t>将</a:t>
            </a:r>
            <a:r>
              <a:rPr lang="en-US" altLang="zh-CN" dirty="0"/>
              <a:t>IP</a:t>
            </a:r>
            <a:r>
              <a:rPr lang="zh-CN" altLang="en-US" dirty="0"/>
              <a:t>地址划分为固定的类，每一类都由两个字段组成</a:t>
            </a:r>
            <a:endParaRPr lang="en-US" altLang="zh-CN" dirty="0"/>
          </a:p>
          <a:p>
            <a:r>
              <a:rPr lang="zh-CN" altLang="en-US" dirty="0"/>
              <a:t>网络号相同的这块连续</a:t>
            </a:r>
            <a:r>
              <a:rPr lang="en-US" altLang="zh-CN" dirty="0"/>
              <a:t>IP</a:t>
            </a:r>
            <a:r>
              <a:rPr lang="zh-CN" altLang="en-US" dirty="0"/>
              <a:t>地址空间称为地址的</a:t>
            </a:r>
            <a:r>
              <a:rPr lang="zh-CN" altLang="en-US" dirty="0">
                <a:solidFill>
                  <a:srgbClr val="C00000"/>
                </a:solidFill>
              </a:rPr>
              <a:t>前缀，</a:t>
            </a:r>
            <a:r>
              <a:rPr lang="zh-CN" altLang="en-US" dirty="0"/>
              <a:t>或</a:t>
            </a:r>
            <a:r>
              <a:rPr lang="zh-CN" altLang="en-US" dirty="0">
                <a:solidFill>
                  <a:srgbClr val="C00000"/>
                </a:solidFill>
              </a:rPr>
              <a:t>网络前缀</a:t>
            </a:r>
            <a:endParaRPr lang="en-US" altLang="zh-CN" dirty="0">
              <a:solidFill>
                <a:srgbClr val="C00000"/>
              </a:solidFill>
            </a:endParaRPr>
          </a:p>
          <a:p>
            <a:pPr lvl="0"/>
            <a:endParaRPr lang="en-US" altLang="zh-CN" dirty="0"/>
          </a:p>
          <a:p>
            <a:endParaRPr lang="zh-CN" altLang="en-US" dirty="0"/>
          </a:p>
        </p:txBody>
      </p:sp>
      <p:pic>
        <p:nvPicPr>
          <p:cNvPr id="62" name="Picture 3"/>
          <p:cNvPicPr>
            <a:picLocks noChangeAspect="1" noChangeArrowheads="1"/>
          </p:cNvPicPr>
          <p:nvPr/>
        </p:nvPicPr>
        <p:blipFill>
          <a:blip r:embed="rId2"/>
          <a:srcRect/>
          <a:stretch>
            <a:fillRect/>
          </a:stretch>
        </p:blipFill>
        <p:spPr bwMode="auto">
          <a:xfrm>
            <a:off x="4961415" y="3883092"/>
            <a:ext cx="1750973" cy="1020567"/>
          </a:xfrm>
          <a:prstGeom prst="rect">
            <a:avLst/>
          </a:prstGeom>
          <a:noFill/>
          <a:ln w="9525">
            <a:noFill/>
            <a:miter lim="800000"/>
            <a:headEnd/>
            <a:tailEnd/>
          </a:ln>
          <a:effectLst/>
        </p:spPr>
      </p:pic>
      <p:grpSp>
        <p:nvGrpSpPr>
          <p:cNvPr id="63" name="组合 62"/>
          <p:cNvGrpSpPr/>
          <p:nvPr/>
        </p:nvGrpSpPr>
        <p:grpSpPr>
          <a:xfrm>
            <a:off x="1798045" y="3586890"/>
            <a:ext cx="3163370" cy="1208654"/>
            <a:chOff x="1457267" y="1600803"/>
            <a:chExt cx="3163370" cy="1208654"/>
          </a:xfrm>
        </p:grpSpPr>
        <p:pic>
          <p:nvPicPr>
            <p:cNvPr id="64" name="Picture 8" descr="C:\Users\Administrator\AppData\Local\Microsoft\Windows\INetCache\IE\090YFLBZ\293995[1].png"/>
            <p:cNvPicPr>
              <a:picLocks noChangeAspect="1" noChangeArrowheads="1"/>
            </p:cNvPicPr>
            <p:nvPr/>
          </p:nvPicPr>
          <p:blipFill>
            <a:blip r:embed="rId3"/>
            <a:srcRect/>
            <a:stretch>
              <a:fillRect/>
            </a:stretch>
          </p:blipFill>
          <p:spPr bwMode="auto">
            <a:xfrm rot="20935708">
              <a:off x="1457267" y="1600803"/>
              <a:ext cx="604327" cy="1208654"/>
            </a:xfrm>
            <a:prstGeom prst="rect">
              <a:avLst/>
            </a:prstGeom>
            <a:noFill/>
          </p:spPr>
        </p:pic>
        <p:cxnSp>
          <p:nvCxnSpPr>
            <p:cNvPr id="65" name="曲线连接符 64"/>
            <p:cNvCxnSpPr/>
            <p:nvPr/>
          </p:nvCxnSpPr>
          <p:spPr>
            <a:xfrm flipV="1">
              <a:off x="1911835" y="2407289"/>
              <a:ext cx="2708802" cy="369510"/>
            </a:xfrm>
            <a:prstGeom prst="curvedConnector3">
              <a:avLst>
                <a:gd name="adj1" fmla="val 68486"/>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 name="组合 65"/>
          <p:cNvGrpSpPr/>
          <p:nvPr/>
        </p:nvGrpSpPr>
        <p:grpSpPr>
          <a:xfrm>
            <a:off x="6668845" y="3586890"/>
            <a:ext cx="2859475" cy="1316769"/>
            <a:chOff x="6328067" y="1600803"/>
            <a:chExt cx="2859475" cy="1316769"/>
          </a:xfrm>
        </p:grpSpPr>
        <p:pic>
          <p:nvPicPr>
            <p:cNvPr id="67" name="Picture 8" descr="C:\Users\Administrator\AppData\Local\Microsoft\Windows\INetCache\IE\090YFLBZ\293995[1].png"/>
            <p:cNvPicPr>
              <a:picLocks noChangeAspect="1" noChangeArrowheads="1"/>
            </p:cNvPicPr>
            <p:nvPr/>
          </p:nvPicPr>
          <p:blipFill>
            <a:blip r:embed="rId3"/>
            <a:srcRect/>
            <a:stretch>
              <a:fillRect/>
            </a:stretch>
          </p:blipFill>
          <p:spPr bwMode="auto">
            <a:xfrm rot="958872" flipH="1">
              <a:off x="8488368" y="1600803"/>
              <a:ext cx="699174" cy="1316769"/>
            </a:xfrm>
            <a:prstGeom prst="rect">
              <a:avLst/>
            </a:prstGeom>
            <a:noFill/>
          </p:spPr>
        </p:pic>
        <p:cxnSp>
          <p:nvCxnSpPr>
            <p:cNvPr id="68" name="曲线连接符 67"/>
            <p:cNvCxnSpPr/>
            <p:nvPr/>
          </p:nvCxnSpPr>
          <p:spPr>
            <a:xfrm rot="10800000">
              <a:off x="6328067" y="2407289"/>
              <a:ext cx="2285077" cy="452180"/>
            </a:xfrm>
            <a:prstGeom prst="curvedConnector3">
              <a:avLst>
                <a:gd name="adj1"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矩形 68"/>
          <p:cNvSpPr/>
          <p:nvPr/>
        </p:nvSpPr>
        <p:spPr>
          <a:xfrm>
            <a:off x="2855378" y="3636847"/>
            <a:ext cx="1838610" cy="4924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dirty="0">
                <a:solidFill>
                  <a:srgbClr val="C00000"/>
                </a:solidFill>
                <a:latin typeface="微软雅黑" pitchFamily="34" charset="-122"/>
                <a:ea typeface="微软雅黑" pitchFamily="34" charset="-122"/>
              </a:rPr>
              <a:t>电话号码</a:t>
            </a:r>
          </a:p>
        </p:txBody>
      </p:sp>
      <p:grpSp>
        <p:nvGrpSpPr>
          <p:cNvPr id="70" name="组合 69"/>
          <p:cNvGrpSpPr/>
          <p:nvPr/>
        </p:nvGrpSpPr>
        <p:grpSpPr>
          <a:xfrm>
            <a:off x="1202389" y="3469890"/>
            <a:ext cx="8756453" cy="2190668"/>
            <a:chOff x="1202389" y="3970646"/>
            <a:chExt cx="8756453" cy="2190668"/>
          </a:xfrm>
        </p:grpSpPr>
        <p:pic>
          <p:nvPicPr>
            <p:cNvPr id="71" name="Picture 14"/>
            <p:cNvPicPr>
              <a:picLocks noChangeAspect="1" noChangeArrowheads="1"/>
            </p:cNvPicPr>
            <p:nvPr/>
          </p:nvPicPr>
          <p:blipFill>
            <a:blip r:embed="rId4"/>
            <a:srcRect/>
            <a:stretch>
              <a:fillRect/>
            </a:stretch>
          </p:blipFill>
          <p:spPr bwMode="auto">
            <a:xfrm>
              <a:off x="8451240" y="4727615"/>
              <a:ext cx="1507602" cy="1030927"/>
            </a:xfrm>
            <a:prstGeom prst="rect">
              <a:avLst/>
            </a:prstGeom>
            <a:noFill/>
            <a:ln w="9525">
              <a:noFill/>
              <a:miter lim="800000"/>
              <a:headEnd/>
              <a:tailEnd/>
            </a:ln>
            <a:effectLst/>
          </p:spPr>
        </p:pic>
        <p:sp>
          <p:nvSpPr>
            <p:cNvPr id="72" name="云形 71"/>
            <p:cNvSpPr/>
            <p:nvPr/>
          </p:nvSpPr>
          <p:spPr>
            <a:xfrm>
              <a:off x="3842073" y="3970646"/>
              <a:ext cx="3625527" cy="2190668"/>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73"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53209" y="4921364"/>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4"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99887" y="5410880"/>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99887" y="4379953"/>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284523" y="4747874"/>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10" descr="C:\Users\Administrator\AppData\Local\Microsoft\Windows\INetCache\IE\090YFLBZ\ABUIABACGAAg29yGxwUotO79rgEw9AM42wI[1].jpg"/>
            <p:cNvPicPr>
              <a:picLocks noChangeAspect="1" noChangeArrowheads="1"/>
            </p:cNvPicPr>
            <p:nvPr/>
          </p:nvPicPr>
          <p:blipFill>
            <a:blip r:embed="rId6"/>
            <a:srcRect/>
            <a:stretch>
              <a:fillRect/>
            </a:stretch>
          </p:blipFill>
          <p:spPr bwMode="auto">
            <a:xfrm>
              <a:off x="1202389" y="4589687"/>
              <a:ext cx="1738146" cy="1206273"/>
            </a:xfrm>
            <a:prstGeom prst="rect">
              <a:avLst/>
            </a:prstGeom>
            <a:noFill/>
          </p:spPr>
        </p:pic>
        <p:cxnSp>
          <p:nvCxnSpPr>
            <p:cNvPr id="78" name="曲线连接符 77"/>
            <p:cNvCxnSpPr>
              <a:stCxn id="73" idx="1"/>
            </p:cNvCxnSpPr>
            <p:nvPr/>
          </p:nvCxnSpPr>
          <p:spPr>
            <a:xfrm rot="10800000" flipV="1">
              <a:off x="2677887" y="5095194"/>
              <a:ext cx="1675323" cy="315685"/>
            </a:xfrm>
            <a:prstGeom prst="curved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曲线连接符 78"/>
            <p:cNvCxnSpPr/>
            <p:nvPr/>
          </p:nvCxnSpPr>
          <p:spPr>
            <a:xfrm>
              <a:off x="6770914" y="4899933"/>
              <a:ext cx="1907546" cy="510947"/>
            </a:xfrm>
            <a:prstGeom prst="curved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云形 79"/>
            <p:cNvSpPr/>
            <p:nvPr/>
          </p:nvSpPr>
          <p:spPr>
            <a:xfrm>
              <a:off x="6042141" y="4359694"/>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云形 80"/>
            <p:cNvSpPr/>
            <p:nvPr/>
          </p:nvSpPr>
          <p:spPr>
            <a:xfrm>
              <a:off x="4620637" y="5269026"/>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云形 81"/>
            <p:cNvSpPr/>
            <p:nvPr/>
          </p:nvSpPr>
          <p:spPr>
            <a:xfrm>
              <a:off x="5377545" y="4899933"/>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云形 82"/>
            <p:cNvSpPr/>
            <p:nvPr/>
          </p:nvSpPr>
          <p:spPr>
            <a:xfrm>
              <a:off x="4650400" y="4405726"/>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云形 83"/>
            <p:cNvSpPr/>
            <p:nvPr/>
          </p:nvSpPr>
          <p:spPr>
            <a:xfrm>
              <a:off x="6085685" y="5226919"/>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5" name="矩形 84"/>
          <p:cNvSpPr/>
          <p:nvPr/>
        </p:nvSpPr>
        <p:spPr>
          <a:xfrm>
            <a:off x="7077102" y="3596441"/>
            <a:ext cx="1838610" cy="4924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solidFill>
                  <a:srgbClr val="C00000"/>
                </a:solidFill>
                <a:latin typeface="微软雅黑" pitchFamily="34" charset="-122"/>
                <a:ea typeface="微软雅黑" pitchFamily="34" charset="-122"/>
              </a:rPr>
              <a:t>IP</a:t>
            </a:r>
            <a:r>
              <a:rPr lang="zh-CN" altLang="en-US" sz="2400" dirty="0">
                <a:solidFill>
                  <a:srgbClr val="C00000"/>
                </a:solidFill>
                <a:latin typeface="微软雅黑" pitchFamily="34" charset="-122"/>
                <a:ea typeface="微软雅黑" pitchFamily="34" charset="-122"/>
              </a:rPr>
              <a:t>地址</a:t>
            </a:r>
          </a:p>
        </p:txBody>
      </p:sp>
      <p:grpSp>
        <p:nvGrpSpPr>
          <p:cNvPr id="86" name="组合 6"/>
          <p:cNvGrpSpPr/>
          <p:nvPr/>
        </p:nvGrpSpPr>
        <p:grpSpPr>
          <a:xfrm>
            <a:off x="3399695" y="4477908"/>
            <a:ext cx="4781550" cy="616176"/>
            <a:chOff x="1839416" y="3856622"/>
            <a:chExt cx="4562105" cy="1666302"/>
          </a:xfrm>
        </p:grpSpPr>
        <p:grpSp>
          <p:nvGrpSpPr>
            <p:cNvPr id="87" name="Group 21"/>
            <p:cNvGrpSpPr>
              <a:grpSpLocks/>
            </p:cNvGrpSpPr>
            <p:nvPr/>
          </p:nvGrpSpPr>
          <p:grpSpPr bwMode="auto">
            <a:xfrm>
              <a:off x="1839416" y="4780192"/>
              <a:ext cx="4533900" cy="742732"/>
              <a:chOff x="737" y="4722472"/>
              <a:chExt cx="2856" cy="742732"/>
            </a:xfrm>
          </p:grpSpPr>
          <p:sp>
            <p:nvSpPr>
              <p:cNvPr id="92" name="Line 9"/>
              <p:cNvSpPr>
                <a:spLocks noChangeShapeType="1"/>
              </p:cNvSpPr>
              <p:nvPr/>
            </p:nvSpPr>
            <p:spPr bwMode="auto">
              <a:xfrm>
                <a:off x="737" y="5419215"/>
                <a:ext cx="285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93" name="Text Box 10"/>
              <p:cNvSpPr txBox="1">
                <a:spLocks noChangeArrowheads="1"/>
              </p:cNvSpPr>
              <p:nvPr/>
            </p:nvSpPr>
            <p:spPr bwMode="auto">
              <a:xfrm>
                <a:off x="1989" y="4722472"/>
                <a:ext cx="554" cy="742732"/>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 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grpSp>
        <p:grpSp>
          <p:nvGrpSpPr>
            <p:cNvPr id="88" name="Group 18"/>
            <p:cNvGrpSpPr>
              <a:grpSpLocks/>
            </p:cNvGrpSpPr>
            <p:nvPr/>
          </p:nvGrpSpPr>
          <p:grpSpPr bwMode="auto">
            <a:xfrm>
              <a:off x="1839416" y="3856622"/>
              <a:ext cx="4562105" cy="1069978"/>
              <a:chOff x="737" y="2336"/>
              <a:chExt cx="3240" cy="674"/>
            </a:xfrm>
          </p:grpSpPr>
          <p:sp>
            <p:nvSpPr>
              <p:cNvPr id="89" name="Rectangle 6"/>
              <p:cNvSpPr>
                <a:spLocks noChangeArrowheads="1"/>
              </p:cNvSpPr>
              <p:nvPr/>
            </p:nvSpPr>
            <p:spPr bwMode="auto">
              <a:xfrm>
                <a:off x="737" y="2411"/>
                <a:ext cx="1650" cy="599"/>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网络</a:t>
                </a:r>
                <a:r>
                  <a:rPr lang="zh-CN" altLang="en-US" b="1" kern="0" dirty="0">
                    <a:solidFill>
                      <a:sysClr val="windowText" lastClr="000000"/>
                    </a:solidFill>
                    <a:ea typeface="黑体" pitchFamily="2" charset="-122"/>
                  </a:rPr>
                  <a:t>号</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90" name="Rectangle 7"/>
              <p:cNvSpPr>
                <a:spLocks noChangeArrowheads="1"/>
              </p:cNvSpPr>
              <p:nvPr/>
            </p:nvSpPr>
            <p:spPr bwMode="auto">
              <a:xfrm>
                <a:off x="2387" y="2412"/>
                <a:ext cx="1590" cy="598"/>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91" name="Rectangle 11"/>
              <p:cNvSpPr>
                <a:spLocks noChangeArrowheads="1"/>
              </p:cNvSpPr>
              <p:nvPr/>
            </p:nvSpPr>
            <p:spPr bwMode="auto">
              <a:xfrm>
                <a:off x="2754" y="2336"/>
                <a:ext cx="967" cy="374"/>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grpSp>
        <p:nvGrpSpPr>
          <p:cNvPr id="94" name="组合 93"/>
          <p:cNvGrpSpPr/>
          <p:nvPr/>
        </p:nvGrpSpPr>
        <p:grpSpPr>
          <a:xfrm>
            <a:off x="3399694" y="4116519"/>
            <a:ext cx="2435049" cy="400301"/>
            <a:chOff x="6321049" y="1535134"/>
            <a:chExt cx="2435049" cy="289041"/>
          </a:xfrm>
        </p:grpSpPr>
        <p:sp>
          <p:nvSpPr>
            <p:cNvPr id="95" name="左大括号 94"/>
            <p:cNvSpPr/>
            <p:nvPr/>
          </p:nvSpPr>
          <p:spPr>
            <a:xfrm rot="5400000">
              <a:off x="7432154" y="500230"/>
              <a:ext cx="212840" cy="2435049"/>
            </a:xfrm>
            <a:prstGeom prst="leftBrace">
              <a:avLst/>
            </a:prstGeom>
            <a:ln w="222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p>
          </p:txBody>
        </p:sp>
        <p:sp>
          <p:nvSpPr>
            <p:cNvPr id="96" name="矩形 95"/>
            <p:cNvSpPr/>
            <p:nvPr/>
          </p:nvSpPr>
          <p:spPr>
            <a:xfrm>
              <a:off x="7140200" y="1535134"/>
              <a:ext cx="857250" cy="21283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hangingPunct="0">
                <a:defRPr/>
              </a:pPr>
              <a:r>
                <a:rPr lang="zh-CN" altLang="en-US" b="1" kern="0" dirty="0">
                  <a:solidFill>
                    <a:sysClr val="windowText" lastClr="000000"/>
                  </a:solidFill>
                  <a:ea typeface="黑体" pitchFamily="2" charset="-122"/>
                </a:rPr>
                <a:t>前缀</a:t>
              </a:r>
            </a:p>
          </p:txBody>
        </p:sp>
      </p:grpSp>
      <p:sp>
        <p:nvSpPr>
          <p:cNvPr id="97"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8"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123</a:t>
            </a:fld>
            <a:endParaRPr kumimoji="1" lang="zh-CN" altLang="en-US" dirty="0"/>
          </a:p>
        </p:txBody>
      </p:sp>
      <p:pic>
        <p:nvPicPr>
          <p:cNvPr id="41" name="Picture 28" descr="015">
            <a:extLst>
              <a:ext uri="{FF2B5EF4-FFF2-40B4-BE49-F238E27FC236}">
                <a16:creationId xmlns:a16="http://schemas.microsoft.com/office/drawing/2014/main" id="{C451DBF8-201B-4919-891B-33E354571E8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3972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2"/>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6"/>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nodeType="clickEffect">
                                  <p:stCondLst>
                                    <p:cond delay="0"/>
                                  </p:stCondLst>
                                  <p:childTnLst>
                                    <p:set>
                                      <p:cBhvr>
                                        <p:cTn id="17" dur="1" fill="hold">
                                          <p:stCondLst>
                                            <p:cond delay="0"/>
                                          </p:stCondLst>
                                        </p:cTn>
                                        <p:tgtEl>
                                          <p:spTgt spid="62"/>
                                        </p:tgtEl>
                                        <p:attrNameLst>
                                          <p:attrName>style.visibility</p:attrName>
                                        </p:attrNameLst>
                                      </p:cBhvr>
                                      <p:to>
                                        <p:strVal val="hidden"/>
                                      </p:to>
                                    </p:set>
                                  </p:childTnLst>
                                </p:cTn>
                              </p:par>
                              <p:par>
                                <p:cTn id="18" presetID="1" presetClass="exit" presetSubtype="0" fill="hold" nodeType="withEffect">
                                  <p:stCondLst>
                                    <p:cond delay="0"/>
                                  </p:stCondLst>
                                  <p:childTnLst>
                                    <p:set>
                                      <p:cBhvr>
                                        <p:cTn id="19" dur="1" fill="hold">
                                          <p:stCondLst>
                                            <p:cond delay="0"/>
                                          </p:stCondLst>
                                        </p:cTn>
                                        <p:tgtEl>
                                          <p:spTgt spid="63"/>
                                        </p:tgtEl>
                                        <p:attrNameLst>
                                          <p:attrName>style.visibility</p:attrName>
                                        </p:attrNameLst>
                                      </p:cBhvr>
                                      <p:to>
                                        <p:strVal val="hidden"/>
                                      </p:to>
                                    </p:set>
                                  </p:childTnLst>
                                </p:cTn>
                              </p:par>
                              <p:par>
                                <p:cTn id="20" presetID="1" presetClass="exit" presetSubtype="0" fill="hold" nodeType="withEffect">
                                  <p:stCondLst>
                                    <p:cond delay="0"/>
                                  </p:stCondLst>
                                  <p:childTnLst>
                                    <p:set>
                                      <p:cBhvr>
                                        <p:cTn id="21" dur="1" fill="hold">
                                          <p:stCondLst>
                                            <p:cond delay="0"/>
                                          </p:stCondLst>
                                        </p:cTn>
                                        <p:tgtEl>
                                          <p:spTgt spid="66"/>
                                        </p:tgtEl>
                                        <p:attrNameLst>
                                          <p:attrName>style.visibility</p:attrName>
                                        </p:attrNameLst>
                                      </p:cBhvr>
                                      <p:to>
                                        <p:strVal val="hidden"/>
                                      </p:to>
                                    </p:set>
                                  </p:childTnLst>
                                </p:cTn>
                              </p:par>
                              <p:par>
                                <p:cTn id="22" presetID="1" presetClass="exit" presetSubtype="0" fill="hold" grpId="1" nodeType="withEffect">
                                  <p:stCondLst>
                                    <p:cond delay="0"/>
                                  </p:stCondLst>
                                  <p:childTnLst>
                                    <p:set>
                                      <p:cBhvr>
                                        <p:cTn id="23" dur="1" fill="hold">
                                          <p:stCondLst>
                                            <p:cond delay="0"/>
                                          </p:stCondLst>
                                        </p:cTn>
                                        <p:tgtEl>
                                          <p:spTgt spid="69"/>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70"/>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8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nodeType="clickEffect">
                                  <p:stCondLst>
                                    <p:cond delay="0"/>
                                  </p:stCondLst>
                                  <p:childTnLst>
                                    <p:set>
                                      <p:cBhvr>
                                        <p:cTn id="38" dur="1" fill="hold">
                                          <p:stCondLst>
                                            <p:cond delay="0"/>
                                          </p:stCondLst>
                                        </p:cTn>
                                        <p:tgtEl>
                                          <p:spTgt spid="70"/>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85"/>
                                        </p:tgtEl>
                                        <p:attrNameLst>
                                          <p:attrName>style.visibility</p:attrName>
                                        </p:attrNameLst>
                                      </p:cBhvr>
                                      <p:to>
                                        <p:strVal val="hidden"/>
                                      </p:to>
                                    </p:set>
                                  </p:childTnLst>
                                </p:cTn>
                              </p:par>
                            </p:childTnLst>
                          </p:cTn>
                        </p:par>
                        <p:par>
                          <p:cTn id="41" fill="hold">
                            <p:stCondLst>
                              <p:cond delay="0"/>
                            </p:stCondLst>
                            <p:childTnLst>
                              <p:par>
                                <p:cTn id="42" presetID="1" presetClass="entr" presetSubtype="0" fill="hold" nodeType="afterEffect">
                                  <p:stCondLst>
                                    <p:cond delay="0"/>
                                  </p:stCondLst>
                                  <p:childTnLst>
                                    <p:set>
                                      <p:cBhvr>
                                        <p:cTn id="43" dur="1" fill="hold">
                                          <p:stCondLst>
                                            <p:cond delay="0"/>
                                          </p:stCondLst>
                                        </p:cTn>
                                        <p:tgtEl>
                                          <p:spTgt spid="86"/>
                                        </p:tgtEl>
                                        <p:attrNameLst>
                                          <p:attrName>style.visibility</p:attrName>
                                        </p:attrNameLst>
                                      </p:cBhvr>
                                      <p:to>
                                        <p:strVal val="visible"/>
                                      </p:to>
                                    </p:set>
                                  </p:childTnLst>
                                </p:cTn>
                              </p:par>
                            </p:childTnLst>
                          </p:cTn>
                        </p:par>
                        <p:par>
                          <p:cTn id="44" fill="hold">
                            <p:stCondLst>
                              <p:cond delay="0"/>
                            </p:stCondLst>
                            <p:childTnLst>
                              <p:par>
                                <p:cTn id="45" presetID="1" presetClass="entr" presetSubtype="0" fill="hold" nodeType="afterEffect">
                                  <p:stCondLst>
                                    <p:cond delay="0"/>
                                  </p:stCondLst>
                                  <p:childTnLst>
                                    <p:set>
                                      <p:cBhvr>
                                        <p:cTn id="46" dur="1" fill="hold">
                                          <p:stCondLst>
                                            <p:cond delay="0"/>
                                          </p:stCondLst>
                                        </p:cTn>
                                        <p:tgtEl>
                                          <p:spTgt spid="94"/>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69" grpId="1"/>
      <p:bldP spid="85" grpId="0"/>
      <p:bldP spid="85" grpId="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分类的</a:t>
            </a:r>
            <a:r>
              <a:rPr lang="en-US" altLang="zh-CN" dirty="0"/>
              <a:t>IP</a:t>
            </a:r>
            <a:r>
              <a:rPr lang="zh-CN" altLang="en-US" dirty="0"/>
              <a:t>地址</a:t>
            </a:r>
          </a:p>
        </p:txBody>
      </p:sp>
      <p:sp>
        <p:nvSpPr>
          <p:cNvPr id="7" name="内容占位符 2"/>
          <p:cNvSpPr txBox="1">
            <a:spLocks/>
          </p:cNvSpPr>
          <p:nvPr/>
        </p:nvSpPr>
        <p:spPr>
          <a:xfrm>
            <a:off x="728029" y="1576860"/>
            <a:ext cx="10614885" cy="4457860"/>
          </a:xfrm>
          <a:prstGeom prst="rect">
            <a:avLst/>
          </a:prstGeom>
        </p:spPr>
        <p:txBody>
          <a:bodyPr vert="horz" lIns="91440" tIns="45720" rIns="91440" bIns="45720" rtlCol="0">
            <a:normAutofit/>
          </a:bodyPr>
          <a:lstStyle/>
          <a:p>
            <a:pPr marL="360363" marR="0" lvl="0" indent="-360363" algn="l" defTabSz="914400" rtl="0" eaLnBrk="1" fontAlgn="auto" latinLnBrk="0" hangingPunct="1">
              <a:lnSpc>
                <a:spcPct val="100000"/>
              </a:lnSpc>
              <a:spcBef>
                <a:spcPts val="600"/>
              </a:spcBef>
              <a:spcAft>
                <a:spcPts val="0"/>
              </a:spcAft>
              <a:buClrTx/>
              <a:buSzTx/>
              <a:buFont typeface="Wingdings" pitchFamily="2" charset="2"/>
              <a:buChar char="Ø"/>
              <a:tabLst/>
              <a:defRPr/>
            </a:pP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IP</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地址共分为</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B</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C</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D</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E</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五类，</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类、</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B</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类、</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C</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类为单播地址</a:t>
            </a:r>
            <a:endPar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endParaRPr>
          </a:p>
          <a:p>
            <a:pPr marL="228600" marR="0" lvl="1" indent="-228600" algn="l" defTabSz="914400" rtl="0" eaLnBrk="1" fontAlgn="auto" latinLnBrk="0" hangingPunct="1">
              <a:lnSpc>
                <a:spcPct val="100000"/>
              </a:lnSpc>
              <a:spcBef>
                <a:spcPts val="600"/>
              </a:spcBef>
              <a:spcAft>
                <a:spcPts val="0"/>
              </a:spcAft>
              <a:buClrTx/>
              <a:buSzTx/>
              <a:buFont typeface="Wingdings" pitchFamily="2" charset="2"/>
              <a:buChar char="Ø"/>
              <a:tabLst/>
              <a:defRPr/>
            </a:pP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 IP</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地址的书写采用</a:t>
            </a:r>
            <a:r>
              <a:rPr kumimoji="0" lang="zh-CN" altLang="en-US" sz="2400" b="0" i="0" u="none" strike="noStrike" kern="1200" cap="none" spc="0" normalizeH="0" baseline="0" noProof="0" dirty="0">
                <a:ln>
                  <a:noFill/>
                </a:ln>
                <a:solidFill>
                  <a:srgbClr val="C00000"/>
                </a:solidFill>
                <a:effectLst/>
                <a:uLnTx/>
                <a:uFillTx/>
                <a:latin typeface="Microsoft YaHei" panose="020B0503020204020204" pitchFamily="34" charset="-122"/>
                <a:ea typeface="Microsoft YaHei" panose="020B0503020204020204" pitchFamily="34" charset="-122"/>
                <a:cs typeface="+mn-cs"/>
              </a:rPr>
              <a:t>点分十进制</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记法，其中每一段取值范围为</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0</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到</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255</a:t>
            </a:r>
            <a:endParaRPr kumimoji="0" lang="en-US" altLang="zh-CN" sz="28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endParaRPr>
          </a:p>
        </p:txBody>
      </p:sp>
      <p:pic>
        <p:nvPicPr>
          <p:cNvPr id="16" name="Picture 2" descr="https://imgconvert.csdnimg.cn/aHR0cHM6Ly9zMS5heDF4LmNvbS8yMDE4LzExLzE4L2l6YkJNcS5qcGc?x-oss-process=image/format,png#shadow"/>
          <p:cNvPicPr>
            <a:picLocks noChangeAspect="1" noChangeArrowheads="1"/>
          </p:cNvPicPr>
          <p:nvPr/>
        </p:nvPicPr>
        <p:blipFill>
          <a:blip r:embed="rId2"/>
          <a:srcRect/>
          <a:stretch>
            <a:fillRect/>
          </a:stretch>
        </p:blipFill>
        <p:spPr bwMode="auto">
          <a:xfrm>
            <a:off x="1220420" y="2568190"/>
            <a:ext cx="5410200" cy="3466530"/>
          </a:xfrm>
          <a:prstGeom prst="rect">
            <a:avLst/>
          </a:prstGeom>
          <a:noFill/>
        </p:spPr>
      </p:pic>
      <p:sp>
        <p:nvSpPr>
          <p:cNvPr id="32"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3"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124</a:t>
            </a:fld>
            <a:endParaRPr kumimoji="1" lang="zh-CN" altLang="en-US" dirty="0"/>
          </a:p>
        </p:txBody>
      </p:sp>
      <p:sp>
        <p:nvSpPr>
          <p:cNvPr id="27" name="Rectangle 16"/>
          <p:cNvSpPr/>
          <p:nvPr/>
        </p:nvSpPr>
        <p:spPr>
          <a:xfrm>
            <a:off x="7436154" y="3091861"/>
            <a:ext cx="3400011" cy="350865"/>
          </a:xfrm>
          <a:prstGeom prst="rect">
            <a:avLst/>
          </a:prstGeom>
          <a:solidFill>
            <a:srgbClr val="C00000"/>
          </a:solidFill>
          <a:ln w="9525">
            <a:noFill/>
          </a:ln>
        </p:spPr>
        <p:txBody>
          <a:bodyPr wrap="square" lIns="0" tIns="0" rIns="0" bIns="0" anchor="ctr">
            <a:spAutoFit/>
          </a:bodyPr>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ctr" defTabSz="1028700">
              <a:lnSpc>
                <a:spcPct val="95000"/>
              </a:lnSpc>
              <a:spcBef>
                <a:spcPct val="50000"/>
              </a:spcBef>
              <a:buClrTx/>
              <a:buSzPct val="100000"/>
              <a:buNone/>
            </a:pPr>
            <a:r>
              <a:rPr lang="zh-CN" altLang="en-US" sz="2400" dirty="0">
                <a:solidFill>
                  <a:schemeClr val="bg1"/>
                </a:solidFill>
                <a:latin typeface="微软雅黑" pitchFamily="34" charset="-122"/>
                <a:ea typeface="微软雅黑" pitchFamily="34" charset="-122"/>
              </a:rPr>
              <a:t>请判断下列地址的类型</a:t>
            </a:r>
            <a:endParaRPr lang="en-US" altLang="zh-CN" sz="2400" dirty="0">
              <a:solidFill>
                <a:schemeClr val="bg1"/>
              </a:solidFill>
              <a:latin typeface="微软雅黑" pitchFamily="34" charset="-122"/>
              <a:ea typeface="微软雅黑" pitchFamily="34" charset="-122"/>
            </a:endParaRPr>
          </a:p>
        </p:txBody>
      </p:sp>
      <p:sp>
        <p:nvSpPr>
          <p:cNvPr id="3" name="矩形 2"/>
          <p:cNvSpPr/>
          <p:nvPr/>
        </p:nvSpPr>
        <p:spPr>
          <a:xfrm>
            <a:off x="9464565" y="3947865"/>
            <a:ext cx="2226691" cy="1560427"/>
          </a:xfrm>
          <a:prstGeom prst="rect">
            <a:avLst/>
          </a:prstGeom>
        </p:spPr>
        <p:txBody>
          <a:bodyPr wrap="square">
            <a:spAutoFit/>
          </a:bodyPr>
          <a:lstStyle/>
          <a:p>
            <a:pPr lvl="0" defTabSz="1028700">
              <a:lnSpc>
                <a:spcPct val="95000"/>
              </a:lnSpc>
              <a:spcBef>
                <a:spcPct val="50000"/>
              </a:spcBef>
              <a:buSzPct val="100000"/>
            </a:pPr>
            <a:r>
              <a:rPr lang="en-US" altLang="zh-CN" b="1" dirty="0">
                <a:solidFill>
                  <a:srgbClr val="5B307E"/>
                </a:solidFill>
                <a:latin typeface="微软雅黑" pitchFamily="34" charset="-122"/>
                <a:ea typeface="微软雅黑" pitchFamily="34" charset="-122"/>
              </a:rPr>
              <a:t>A</a:t>
            </a:r>
            <a:r>
              <a:rPr lang="zh-CN" altLang="en-US" b="1" dirty="0">
                <a:solidFill>
                  <a:srgbClr val="5B307E"/>
                </a:solidFill>
                <a:latin typeface="微软雅黑" pitchFamily="34" charset="-122"/>
                <a:ea typeface="微软雅黑" pitchFamily="34" charset="-122"/>
              </a:rPr>
              <a:t>类</a:t>
            </a:r>
            <a:endParaRPr lang="en-US" altLang="zh-CN" b="1" dirty="0">
              <a:solidFill>
                <a:srgbClr val="5B307E"/>
              </a:solidFill>
              <a:latin typeface="微软雅黑" pitchFamily="34" charset="-122"/>
              <a:ea typeface="微软雅黑" pitchFamily="34" charset="-122"/>
            </a:endParaRPr>
          </a:p>
          <a:p>
            <a:pPr lvl="0" defTabSz="1028700">
              <a:lnSpc>
                <a:spcPct val="95000"/>
              </a:lnSpc>
              <a:spcBef>
                <a:spcPct val="50000"/>
              </a:spcBef>
              <a:buSzPct val="100000"/>
            </a:pPr>
            <a:r>
              <a:rPr lang="en-US" altLang="zh-CN" b="1" dirty="0">
                <a:solidFill>
                  <a:srgbClr val="5B307E"/>
                </a:solidFill>
                <a:latin typeface="微软雅黑" pitchFamily="34" charset="-122"/>
                <a:ea typeface="微软雅黑" pitchFamily="34" charset="-122"/>
              </a:rPr>
              <a:t>B</a:t>
            </a:r>
            <a:r>
              <a:rPr lang="zh-CN" altLang="en-US" b="1" dirty="0">
                <a:solidFill>
                  <a:srgbClr val="5B307E"/>
                </a:solidFill>
                <a:latin typeface="微软雅黑" pitchFamily="34" charset="-122"/>
                <a:ea typeface="微软雅黑" pitchFamily="34" charset="-122"/>
              </a:rPr>
              <a:t>类</a:t>
            </a:r>
            <a:endParaRPr lang="en-US" altLang="zh-CN" b="1" dirty="0">
              <a:solidFill>
                <a:srgbClr val="5B307E"/>
              </a:solidFill>
              <a:latin typeface="微软雅黑" pitchFamily="34" charset="-122"/>
              <a:ea typeface="微软雅黑" pitchFamily="34" charset="-122"/>
            </a:endParaRPr>
          </a:p>
          <a:p>
            <a:pPr lvl="0" defTabSz="1028700">
              <a:lnSpc>
                <a:spcPct val="95000"/>
              </a:lnSpc>
              <a:spcBef>
                <a:spcPct val="50000"/>
              </a:spcBef>
              <a:buSzPct val="100000"/>
            </a:pPr>
            <a:r>
              <a:rPr lang="en-US" altLang="zh-CN" b="1" dirty="0">
                <a:solidFill>
                  <a:srgbClr val="5B307E"/>
                </a:solidFill>
                <a:latin typeface="微软雅黑" pitchFamily="34" charset="-122"/>
                <a:ea typeface="微软雅黑" pitchFamily="34" charset="-122"/>
              </a:rPr>
              <a:t>C</a:t>
            </a:r>
            <a:r>
              <a:rPr lang="zh-CN" altLang="en-US" b="1" dirty="0">
                <a:solidFill>
                  <a:srgbClr val="5B307E"/>
                </a:solidFill>
                <a:latin typeface="微软雅黑" pitchFamily="34" charset="-122"/>
                <a:ea typeface="微软雅黑" pitchFamily="34" charset="-122"/>
              </a:rPr>
              <a:t>类</a:t>
            </a:r>
            <a:endParaRPr lang="en-US" altLang="zh-CN" b="1" dirty="0">
              <a:solidFill>
                <a:srgbClr val="5B307E"/>
              </a:solidFill>
              <a:latin typeface="微软雅黑" pitchFamily="34" charset="-122"/>
              <a:ea typeface="微软雅黑" pitchFamily="34" charset="-122"/>
            </a:endParaRPr>
          </a:p>
          <a:p>
            <a:pPr lvl="0" defTabSz="1028700">
              <a:lnSpc>
                <a:spcPct val="95000"/>
              </a:lnSpc>
              <a:spcBef>
                <a:spcPct val="50000"/>
              </a:spcBef>
              <a:buSzPct val="100000"/>
            </a:pPr>
            <a:r>
              <a:rPr lang="zh-CN" altLang="en-US" b="1" dirty="0">
                <a:solidFill>
                  <a:srgbClr val="5B307E"/>
                </a:solidFill>
                <a:latin typeface="微软雅黑" pitchFamily="34" charset="-122"/>
                <a:ea typeface="微软雅黑" pitchFamily="34" charset="-122"/>
              </a:rPr>
              <a:t>不存在，超出范围</a:t>
            </a:r>
            <a:endParaRPr lang="en-US" altLang="zh-CN" b="1" dirty="0">
              <a:solidFill>
                <a:srgbClr val="5B307E"/>
              </a:solidFill>
              <a:latin typeface="微软雅黑" pitchFamily="34" charset="-122"/>
              <a:ea typeface="微软雅黑" pitchFamily="34" charset="-122"/>
            </a:endParaRPr>
          </a:p>
        </p:txBody>
      </p:sp>
      <p:sp>
        <p:nvSpPr>
          <p:cNvPr id="28" name="矩形 27"/>
          <p:cNvSpPr/>
          <p:nvPr/>
        </p:nvSpPr>
        <p:spPr>
          <a:xfrm>
            <a:off x="7511526" y="3947865"/>
            <a:ext cx="1953040" cy="1560427"/>
          </a:xfrm>
          <a:prstGeom prst="rect">
            <a:avLst/>
          </a:prstGeom>
        </p:spPr>
        <p:txBody>
          <a:bodyPr wrap="square">
            <a:spAutoFit/>
          </a:bodyPr>
          <a:lstStyle/>
          <a:p>
            <a:pPr lvl="0" defTabSz="1028700">
              <a:lnSpc>
                <a:spcPct val="95000"/>
              </a:lnSpc>
              <a:spcBef>
                <a:spcPct val="50000"/>
              </a:spcBef>
              <a:buSzPct val="100000"/>
            </a:pPr>
            <a:r>
              <a:rPr lang="en-US" altLang="zh-CN" dirty="0">
                <a:latin typeface="微软雅黑" pitchFamily="34" charset="-122"/>
                <a:ea typeface="微软雅黑" pitchFamily="34" charset="-122"/>
              </a:rPr>
              <a:t>10.2.1.1</a:t>
            </a:r>
          </a:p>
          <a:p>
            <a:pPr defTabSz="1028700">
              <a:lnSpc>
                <a:spcPct val="95000"/>
              </a:lnSpc>
              <a:spcBef>
                <a:spcPct val="50000"/>
              </a:spcBef>
              <a:buSzPct val="100000"/>
            </a:pPr>
            <a:r>
              <a:rPr lang="en-US" altLang="zh-CN" dirty="0">
                <a:latin typeface="微软雅黑" pitchFamily="34" charset="-122"/>
                <a:ea typeface="微软雅黑" pitchFamily="34" charset="-122"/>
              </a:rPr>
              <a:t>128.63.2.100</a:t>
            </a:r>
          </a:p>
          <a:p>
            <a:pPr defTabSz="1028700">
              <a:lnSpc>
                <a:spcPct val="95000"/>
              </a:lnSpc>
              <a:spcBef>
                <a:spcPct val="50000"/>
              </a:spcBef>
              <a:buSzPct val="100000"/>
            </a:pPr>
            <a:r>
              <a:rPr lang="en-US" altLang="zh-CN" dirty="0">
                <a:latin typeface="微软雅黑" pitchFamily="34" charset="-122"/>
                <a:ea typeface="微软雅黑" pitchFamily="34" charset="-122"/>
              </a:rPr>
              <a:t>201.222.5.64</a:t>
            </a:r>
          </a:p>
          <a:p>
            <a:pPr defTabSz="1028700">
              <a:lnSpc>
                <a:spcPct val="95000"/>
              </a:lnSpc>
              <a:spcBef>
                <a:spcPct val="50000"/>
              </a:spcBef>
              <a:buSzPct val="100000"/>
            </a:pPr>
            <a:r>
              <a:rPr lang="en-US" altLang="zh-CN" dirty="0">
                <a:latin typeface="微软雅黑" pitchFamily="34" charset="-122"/>
                <a:ea typeface="微软雅黑" pitchFamily="34" charset="-122"/>
              </a:rPr>
              <a:t>256.241.201.10</a:t>
            </a:r>
          </a:p>
        </p:txBody>
      </p:sp>
      <p:pic>
        <p:nvPicPr>
          <p:cNvPr id="10" name="Picture 28" descr="015">
            <a:extLst>
              <a:ext uri="{FF2B5EF4-FFF2-40B4-BE49-F238E27FC236}">
                <a16:creationId xmlns:a16="http://schemas.microsoft.com/office/drawing/2014/main" id="{86A47682-CE36-4030-81A1-35FB39F1590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9951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 grpId="0"/>
      <p:bldP spid="28"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a:t>
            </a:r>
            <a:r>
              <a:rPr lang="zh-CN" altLang="en-US" dirty="0"/>
              <a:t>特殊地址</a:t>
            </a:r>
          </a:p>
        </p:txBody>
      </p:sp>
      <p:sp>
        <p:nvSpPr>
          <p:cNvPr id="6"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7"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125</a:t>
            </a:fld>
            <a:endParaRPr kumimoji="1" lang="zh-CN" altLang="en-US" dirty="0"/>
          </a:p>
        </p:txBody>
      </p:sp>
      <p:graphicFrame>
        <p:nvGraphicFramePr>
          <p:cNvPr id="8" name="表格 6"/>
          <p:cNvGraphicFramePr/>
          <p:nvPr/>
        </p:nvGraphicFramePr>
        <p:xfrm>
          <a:off x="984120" y="1802598"/>
          <a:ext cx="10235119" cy="3920744"/>
        </p:xfrm>
        <a:graphic>
          <a:graphicData uri="http://schemas.openxmlformats.org/drawingml/2006/table">
            <a:tbl>
              <a:tblPr firstRow="1" bandRow="1">
                <a:tableStyleId>{21E4AEA4-8DFA-4A89-87EB-49C32662AFE0}</a:tableStyleId>
              </a:tblPr>
              <a:tblGrid>
                <a:gridCol w="2926399">
                  <a:extLst>
                    <a:ext uri="{9D8B030D-6E8A-4147-A177-3AD203B41FA5}">
                      <a16:colId xmlns:a16="http://schemas.microsoft.com/office/drawing/2014/main" val="20000"/>
                    </a:ext>
                  </a:extLst>
                </a:gridCol>
                <a:gridCol w="7308720">
                  <a:extLst>
                    <a:ext uri="{9D8B030D-6E8A-4147-A177-3AD203B41FA5}">
                      <a16:colId xmlns:a16="http://schemas.microsoft.com/office/drawing/2014/main" val="20001"/>
                    </a:ext>
                  </a:extLst>
                </a:gridCol>
              </a:tblGrid>
              <a:tr h="478783">
                <a:tc>
                  <a:txBody>
                    <a:bodyPr/>
                    <a:lstStyle/>
                    <a:p>
                      <a:pPr algn="ctr">
                        <a:lnSpc>
                          <a:spcPct val="150000"/>
                        </a:lnSpc>
                        <a:spcBef>
                          <a:spcPts val="600"/>
                        </a:spcBef>
                        <a:spcAft>
                          <a:spcPts val="600"/>
                        </a:spcAft>
                      </a:pPr>
                      <a:r>
                        <a:rPr lang="zh-CN" altLang="en-US" sz="2000" b="0" dirty="0">
                          <a:latin typeface="微软雅黑" panose="020B0503020204020204" pitchFamily="34" charset="-122"/>
                          <a:ea typeface="微软雅黑" panose="020B0503020204020204" pitchFamily="34" charset="-122"/>
                        </a:rPr>
                        <a:t>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tc>
                  <a:txBody>
                    <a:bodyPr/>
                    <a:lstStyle/>
                    <a:p>
                      <a:pPr marL="0" algn="ctr" defTabSz="914400" rtl="0" eaLnBrk="1" latinLnBrk="0" hangingPunct="1">
                        <a:lnSpc>
                          <a:spcPct val="150000"/>
                        </a:lnSpc>
                        <a:spcBef>
                          <a:spcPts val="600"/>
                        </a:spcBef>
                        <a:spcAft>
                          <a:spcPts val="600"/>
                        </a:spcAft>
                      </a:pPr>
                      <a:r>
                        <a:rPr lang="zh-CN" altLang="en-US" sz="2000" b="0" kern="1200" dirty="0">
                          <a:solidFill>
                            <a:schemeClr val="lt1"/>
                          </a:solidFill>
                          <a:latin typeface="微软雅黑" panose="020B0503020204020204" pitchFamily="34" charset="-122"/>
                          <a:ea typeface="微软雅黑" panose="020B0503020204020204" pitchFamily="34" charset="-122"/>
                          <a:cs typeface="+mn-cs"/>
                        </a:rPr>
                        <a:t>用途</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extLst>
                  <a:ext uri="{0D108BD9-81ED-4DB2-BD59-A6C34878D82A}">
                    <a16:rowId xmlns:a16="http://schemas.microsoft.com/office/drawing/2014/main" val="10000"/>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全</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0</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网络地址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只在系统启动时有效，用于启动时临时通信，又叫主机地址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网络</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127.0.0.0</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指本地节点</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一般为</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127.0.0.1)</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，用于测试网卡及</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TCP/IP</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软件，这样浪费了</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1700</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万个地址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2"/>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全</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0</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主机地址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用于指定网络本身，称之为网络地址或者网络号</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全</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主机地址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用于广播，也称定向广播，需要指定目标网络</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4"/>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en-US" altLang="zh-CN" sz="2000" b="0" kern="1200" dirty="0">
                          <a:solidFill>
                            <a:schemeClr val="tx1"/>
                          </a:solidFill>
                          <a:latin typeface="微软雅黑" panose="020B0503020204020204" pitchFamily="34" charset="-122"/>
                          <a:ea typeface="微软雅黑" panose="020B0503020204020204" pitchFamily="34" charset="-122"/>
                          <a:cs typeface="+mn-cs"/>
                        </a:rPr>
                        <a:t>0.0.0.0</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指任意地址</a:t>
                      </a:r>
                      <a:endParaRPr lang="en-US" altLang="zh-CN" sz="2000" b="0" kern="1200" dirty="0">
                        <a:solidFill>
                          <a:schemeClr val="tx1"/>
                        </a:solidFill>
                        <a:latin typeface="微软雅黑" panose="020B0503020204020204" pitchFamily="34" charset="-122"/>
                        <a:ea typeface="微软雅黑" panose="020B0503020204020204" pitchFamily="34" charset="-122"/>
                        <a:cs typeface="+mn-cs"/>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en-US" altLang="zh-CN" sz="2000" b="0" kern="1200" dirty="0">
                          <a:solidFill>
                            <a:schemeClr val="tx1"/>
                          </a:solidFill>
                          <a:latin typeface="微软雅黑" panose="020B0503020204020204" pitchFamily="34" charset="-122"/>
                          <a:ea typeface="微软雅黑" panose="020B0503020204020204" pitchFamily="34" charset="-122"/>
                          <a:cs typeface="+mn-cs"/>
                        </a:rPr>
                        <a:t>255.255.255.255</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用于本地广播，也称有限</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受限广播，无须知道本地网络地址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val="10006"/>
                  </a:ext>
                </a:extLst>
              </a:tr>
            </a:tbl>
          </a:graphicData>
        </a:graphic>
      </p:graphicFrame>
      <p:pic>
        <p:nvPicPr>
          <p:cNvPr id="9" name="Picture 28" descr="015">
            <a:extLst>
              <a:ext uri="{FF2B5EF4-FFF2-40B4-BE49-F238E27FC236}">
                <a16:creationId xmlns:a16="http://schemas.microsoft.com/office/drawing/2014/main" id="{B6C45697-7E18-4095-B04C-DB6B0AC94FE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7819894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子网划分</a:t>
            </a:r>
          </a:p>
        </p:txBody>
      </p:sp>
      <p:sp>
        <p:nvSpPr>
          <p:cNvPr id="3" name="内容占位符 2"/>
          <p:cNvSpPr>
            <a:spLocks noGrp="1"/>
          </p:cNvSpPr>
          <p:nvPr>
            <p:ph idx="1"/>
          </p:nvPr>
        </p:nvSpPr>
        <p:spPr/>
        <p:txBody>
          <a:bodyPr/>
          <a:lstStyle/>
          <a:p>
            <a:pPr marL="228600" lvl="1">
              <a:buFont typeface="Wingdings" pitchFamily="2" charset="2"/>
              <a:buChar char="Ø"/>
            </a:pPr>
            <a:r>
              <a:rPr lang="zh-CN" altLang="en-US" sz="2000" dirty="0">
                <a:solidFill>
                  <a:srgbClr val="C00000"/>
                </a:solidFill>
              </a:rPr>
              <a:t>子网划分</a:t>
            </a:r>
            <a:r>
              <a:rPr lang="en-US" altLang="zh-CN" sz="2000" dirty="0">
                <a:solidFill>
                  <a:srgbClr val="C00000"/>
                </a:solidFill>
              </a:rPr>
              <a:t>(</a:t>
            </a:r>
            <a:r>
              <a:rPr lang="en-US" altLang="zh-CN" sz="2000" dirty="0" err="1">
                <a:solidFill>
                  <a:srgbClr val="C00000"/>
                </a:solidFill>
              </a:rPr>
              <a:t>subnetting</a:t>
            </a:r>
            <a:r>
              <a:rPr lang="en-US" altLang="zh-CN" sz="2000" dirty="0">
                <a:solidFill>
                  <a:srgbClr val="C00000"/>
                </a:solidFill>
              </a:rPr>
              <a:t>)</a:t>
            </a:r>
            <a:r>
              <a:rPr lang="zh-CN" altLang="en-US" sz="2000" dirty="0"/>
              <a:t>，在网络内部将一个网络块进行划分以供多个内部网络使用，对外仍是一个网络</a:t>
            </a:r>
            <a:endParaRPr lang="en-US" altLang="zh-CN" sz="2000" dirty="0"/>
          </a:p>
          <a:p>
            <a:pPr marL="228600" lvl="1">
              <a:buFont typeface="Wingdings" pitchFamily="2" charset="2"/>
              <a:buChar char="Ø"/>
            </a:pPr>
            <a:r>
              <a:rPr lang="zh-CN" altLang="en-US" sz="2000" dirty="0">
                <a:solidFill>
                  <a:srgbClr val="C00000"/>
                </a:solidFill>
              </a:rPr>
              <a:t>子网</a:t>
            </a:r>
            <a:r>
              <a:rPr lang="en-US" altLang="zh-CN" sz="2000" dirty="0">
                <a:solidFill>
                  <a:srgbClr val="C00000"/>
                </a:solidFill>
              </a:rPr>
              <a:t>(subnet )</a:t>
            </a:r>
            <a:r>
              <a:rPr lang="zh-CN" altLang="en-US" sz="2000" dirty="0"/>
              <a:t>，一个网络进行子网划分后得到的一系列结果网络称为子网</a:t>
            </a:r>
            <a:endParaRPr lang="en-US" altLang="zh-CN" sz="2000" dirty="0"/>
          </a:p>
          <a:p>
            <a:pPr marL="228600" lvl="1">
              <a:buFont typeface="Wingdings" pitchFamily="2" charset="2"/>
              <a:buChar char="Ø"/>
            </a:pPr>
            <a:r>
              <a:rPr lang="zh-CN" altLang="en-US" sz="2000" dirty="0">
                <a:solidFill>
                  <a:srgbClr val="C00000"/>
                </a:solidFill>
              </a:rPr>
              <a:t>子网掩码</a:t>
            </a:r>
            <a:r>
              <a:rPr lang="en-US" altLang="zh-CN" sz="2000" dirty="0">
                <a:solidFill>
                  <a:srgbClr val="C00000"/>
                </a:solidFill>
              </a:rPr>
              <a:t>(subnet mask )</a:t>
            </a:r>
            <a:r>
              <a:rPr lang="zh-CN" altLang="en-US" sz="2000" dirty="0"/>
              <a:t>，与 </a:t>
            </a:r>
            <a:r>
              <a:rPr lang="en-US" altLang="zh-CN" sz="2000" dirty="0"/>
              <a:t>IP </a:t>
            </a:r>
            <a:r>
              <a:rPr lang="zh-CN" altLang="en-US" sz="2000" dirty="0"/>
              <a:t>地址一一对应，是</a:t>
            </a:r>
            <a:r>
              <a:rPr lang="en-US" altLang="zh-CN" sz="2000" dirty="0"/>
              <a:t>32 bit </a:t>
            </a:r>
            <a:r>
              <a:rPr lang="zh-CN" altLang="en-US" sz="2000" dirty="0"/>
              <a:t>的二进制数，置</a:t>
            </a:r>
            <a:r>
              <a:rPr lang="en-US" altLang="zh-CN" sz="2000" dirty="0"/>
              <a:t>1</a:t>
            </a:r>
            <a:r>
              <a:rPr lang="zh-CN" altLang="en-US" sz="2000" dirty="0"/>
              <a:t>表示网络位，置</a:t>
            </a:r>
            <a:r>
              <a:rPr lang="en-US" altLang="zh-CN" sz="2000" dirty="0"/>
              <a:t>0</a:t>
            </a:r>
            <a:r>
              <a:rPr lang="zh-CN" altLang="en-US" sz="2000" dirty="0"/>
              <a:t>表示主机位</a:t>
            </a:r>
            <a:endParaRPr lang="en-US" altLang="zh-CN" sz="2000" dirty="0">
              <a:solidFill>
                <a:srgbClr val="FF0000"/>
              </a:solidFill>
            </a:endParaRPr>
          </a:p>
          <a:p>
            <a:pPr marL="228600" lvl="1">
              <a:buFont typeface="Wingdings" pitchFamily="2" charset="2"/>
              <a:buChar char="Ø"/>
            </a:pPr>
            <a:r>
              <a:rPr lang="zh-CN" altLang="en-US" sz="2000" dirty="0"/>
              <a:t>子网划分</a:t>
            </a:r>
            <a:r>
              <a:rPr lang="zh-CN" altLang="en-US" sz="2000" dirty="0">
                <a:solidFill>
                  <a:schemeClr val="tx1">
                    <a:lumMod val="95000"/>
                    <a:lumOff val="5000"/>
                  </a:schemeClr>
                </a:solidFill>
              </a:rPr>
              <a:t>减少了 </a:t>
            </a:r>
            <a:r>
              <a:rPr lang="en-US" altLang="zh-CN" sz="2000" dirty="0">
                <a:solidFill>
                  <a:schemeClr val="tx1">
                    <a:lumMod val="95000"/>
                    <a:lumOff val="5000"/>
                  </a:schemeClr>
                </a:solidFill>
              </a:rPr>
              <a:t>IP </a:t>
            </a:r>
            <a:r>
              <a:rPr lang="zh-CN" altLang="en-US" sz="2000" dirty="0">
                <a:solidFill>
                  <a:schemeClr val="tx1">
                    <a:lumMod val="95000"/>
                    <a:lumOff val="5000"/>
                  </a:schemeClr>
                </a:solidFill>
              </a:rPr>
              <a:t>地址的浪费、网络的组织更加灵活、便于维护和管理</a:t>
            </a:r>
            <a:endParaRPr lang="zh-CN" altLang="en-US" sz="2000" dirty="0">
              <a:solidFill>
                <a:srgbClr val="FF0000"/>
              </a:solidFill>
            </a:endParaRPr>
          </a:p>
          <a:p>
            <a:endParaRPr lang="zh-CN" altLang="en-US" dirty="0"/>
          </a:p>
        </p:txBody>
      </p:sp>
      <p:sp>
        <p:nvSpPr>
          <p:cNvPr id="8" name="Rectangle 2"/>
          <p:cNvSpPr>
            <a:spLocks noChangeArrowheads="1"/>
          </p:cNvSpPr>
          <p:nvPr/>
        </p:nvSpPr>
        <p:spPr bwMode="auto">
          <a:xfrm>
            <a:off x="2912084" y="4159531"/>
            <a:ext cx="7842492" cy="2860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 name="Rectangle 3"/>
          <p:cNvSpPr>
            <a:spLocks noChangeArrowheads="1"/>
          </p:cNvSpPr>
          <p:nvPr/>
        </p:nvSpPr>
        <p:spPr bwMode="auto">
          <a:xfrm>
            <a:off x="2920744" y="3707574"/>
            <a:ext cx="7833832" cy="273054"/>
          </a:xfrm>
          <a:prstGeom prst="rect">
            <a:avLst/>
          </a:prstGeom>
          <a:solidFill>
            <a:srgbClr val="CCECFF"/>
          </a:solidFill>
          <a:ln w="317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0" name="Line 5"/>
          <p:cNvSpPr>
            <a:spLocks noChangeShapeType="1"/>
          </p:cNvSpPr>
          <p:nvPr/>
        </p:nvSpPr>
        <p:spPr bwMode="auto">
          <a:xfrm flipV="1">
            <a:off x="2950187" y="4639669"/>
            <a:ext cx="37947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1" name="Line 6"/>
          <p:cNvSpPr>
            <a:spLocks noChangeShapeType="1"/>
          </p:cNvSpPr>
          <p:nvPr/>
        </p:nvSpPr>
        <p:spPr bwMode="auto">
          <a:xfrm flipV="1">
            <a:off x="8707264" y="4639669"/>
            <a:ext cx="1939810"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2" name="Line 7"/>
          <p:cNvSpPr>
            <a:spLocks noChangeShapeType="1"/>
          </p:cNvSpPr>
          <p:nvPr/>
        </p:nvSpPr>
        <p:spPr bwMode="auto">
          <a:xfrm flipV="1">
            <a:off x="6744940" y="4639669"/>
            <a:ext cx="195366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3" name="Rectangle 8"/>
          <p:cNvSpPr>
            <a:spLocks noChangeArrowheads="1"/>
          </p:cNvSpPr>
          <p:nvPr/>
        </p:nvSpPr>
        <p:spPr bwMode="auto">
          <a:xfrm>
            <a:off x="2944074" y="3720714"/>
            <a:ext cx="3808607" cy="255685"/>
          </a:xfrm>
          <a:prstGeom prst="rect">
            <a:avLst/>
          </a:prstGeom>
          <a:solidFill>
            <a:srgbClr val="FFFF99"/>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14" name="Rectangle 9"/>
          <p:cNvSpPr>
            <a:spLocks noChangeArrowheads="1"/>
          </p:cNvSpPr>
          <p:nvPr/>
        </p:nvSpPr>
        <p:spPr bwMode="auto">
          <a:xfrm>
            <a:off x="4268219" y="3665790"/>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网络号</a:t>
            </a:r>
          </a:p>
        </p:txBody>
      </p:sp>
      <p:sp>
        <p:nvSpPr>
          <p:cNvPr id="15" name="Rectangle 10"/>
          <p:cNvSpPr>
            <a:spLocks noChangeArrowheads="1"/>
          </p:cNvSpPr>
          <p:nvPr/>
        </p:nvSpPr>
        <p:spPr bwMode="auto">
          <a:xfrm>
            <a:off x="8203312" y="3659219"/>
            <a:ext cx="9569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主机号</a:t>
            </a:r>
          </a:p>
        </p:txBody>
      </p:sp>
      <p:sp>
        <p:nvSpPr>
          <p:cNvPr id="16" name="Rectangle 11"/>
          <p:cNvSpPr>
            <a:spLocks noChangeArrowheads="1"/>
          </p:cNvSpPr>
          <p:nvPr/>
        </p:nvSpPr>
        <p:spPr bwMode="auto">
          <a:xfrm>
            <a:off x="1296310" y="3667382"/>
            <a:ext cx="1604866"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两级 </a:t>
            </a:r>
            <a:r>
              <a:rPr kumimoji="1" lang="en-US" altLang="zh-CN" sz="2000" b="1" dirty="0">
                <a:solidFill>
                  <a:srgbClr val="0000CC"/>
                </a:solidFill>
                <a:latin typeface="+mn-lt"/>
                <a:ea typeface="黑体" pitchFamily="2" charset="-122"/>
              </a:rPr>
              <a:t>IP </a:t>
            </a:r>
            <a:r>
              <a:rPr kumimoji="1" lang="zh-CN" altLang="en-US" sz="2000" b="1" dirty="0">
                <a:solidFill>
                  <a:srgbClr val="0000CC"/>
                </a:solidFill>
                <a:latin typeface="+mn-lt"/>
                <a:ea typeface="黑体" pitchFamily="2" charset="-122"/>
              </a:rPr>
              <a:t>地址</a:t>
            </a:r>
          </a:p>
        </p:txBody>
      </p:sp>
      <p:sp>
        <p:nvSpPr>
          <p:cNvPr id="17" name="Rectangle 12"/>
          <p:cNvSpPr>
            <a:spLocks noChangeArrowheads="1"/>
          </p:cNvSpPr>
          <p:nvPr/>
        </p:nvSpPr>
        <p:spPr bwMode="auto">
          <a:xfrm>
            <a:off x="4176424" y="4572956"/>
            <a:ext cx="1266072" cy="16678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3"/>
          <p:cNvSpPr>
            <a:spLocks noChangeShapeType="1"/>
          </p:cNvSpPr>
          <p:nvPr/>
        </p:nvSpPr>
        <p:spPr bwMode="auto">
          <a:xfrm>
            <a:off x="6760512" y="3707573"/>
            <a:ext cx="0" cy="2890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Rectangle 14"/>
          <p:cNvSpPr>
            <a:spLocks noChangeArrowheads="1"/>
          </p:cNvSpPr>
          <p:nvPr/>
        </p:nvSpPr>
        <p:spPr bwMode="auto">
          <a:xfrm>
            <a:off x="4268219" y="4523425"/>
            <a:ext cx="958929"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20" name="Rectangle 15"/>
          <p:cNvSpPr>
            <a:spLocks noChangeArrowheads="1"/>
          </p:cNvSpPr>
          <p:nvPr/>
        </p:nvSpPr>
        <p:spPr bwMode="auto">
          <a:xfrm>
            <a:off x="2925940" y="4150207"/>
            <a:ext cx="3819000" cy="32874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Rectangle 16"/>
          <p:cNvSpPr>
            <a:spLocks noChangeArrowheads="1"/>
          </p:cNvSpPr>
          <p:nvPr/>
        </p:nvSpPr>
        <p:spPr bwMode="auto">
          <a:xfrm>
            <a:off x="1282294" y="4117317"/>
            <a:ext cx="1604866"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三级 </a:t>
            </a:r>
            <a:r>
              <a:rPr kumimoji="1" lang="en-US" altLang="zh-CN" sz="2000" b="1" dirty="0">
                <a:solidFill>
                  <a:srgbClr val="0000CC"/>
                </a:solidFill>
                <a:latin typeface="+mn-lt"/>
                <a:ea typeface="黑体" pitchFamily="2" charset="-122"/>
              </a:rPr>
              <a:t>IP </a:t>
            </a:r>
            <a:r>
              <a:rPr kumimoji="1" lang="zh-CN" altLang="en-US" sz="2000" b="1" dirty="0">
                <a:solidFill>
                  <a:srgbClr val="0000CC"/>
                </a:solidFill>
                <a:latin typeface="+mn-lt"/>
                <a:ea typeface="黑体" pitchFamily="2" charset="-122"/>
              </a:rPr>
              <a:t>地址</a:t>
            </a:r>
          </a:p>
        </p:txBody>
      </p:sp>
      <p:sp>
        <p:nvSpPr>
          <p:cNvPr id="22" name="Rectangle 17"/>
          <p:cNvSpPr>
            <a:spLocks noChangeArrowheads="1"/>
          </p:cNvSpPr>
          <p:nvPr/>
        </p:nvSpPr>
        <p:spPr bwMode="auto">
          <a:xfrm>
            <a:off x="9287475" y="4572955"/>
            <a:ext cx="969904" cy="1819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Line 18"/>
          <p:cNvSpPr>
            <a:spLocks noChangeShapeType="1"/>
          </p:cNvSpPr>
          <p:nvPr/>
        </p:nvSpPr>
        <p:spPr bwMode="auto">
          <a:xfrm>
            <a:off x="6744940" y="4165595"/>
            <a:ext cx="0" cy="28707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19"/>
          <p:cNvSpPr>
            <a:spLocks noChangeArrowheads="1"/>
          </p:cNvSpPr>
          <p:nvPr/>
        </p:nvSpPr>
        <p:spPr bwMode="auto">
          <a:xfrm>
            <a:off x="9188753" y="4516349"/>
            <a:ext cx="958929"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a:t>
            </a:r>
          </a:p>
        </p:txBody>
      </p:sp>
      <p:sp>
        <p:nvSpPr>
          <p:cNvPr id="25" name="Rectangle 20"/>
          <p:cNvSpPr>
            <a:spLocks noChangeArrowheads="1"/>
          </p:cNvSpPr>
          <p:nvPr/>
        </p:nvSpPr>
        <p:spPr bwMode="auto">
          <a:xfrm>
            <a:off x="7273191" y="4565879"/>
            <a:ext cx="969904" cy="1819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6" name="Line 21"/>
          <p:cNvSpPr>
            <a:spLocks noChangeShapeType="1"/>
          </p:cNvSpPr>
          <p:nvPr/>
        </p:nvSpPr>
        <p:spPr bwMode="auto">
          <a:xfrm>
            <a:off x="8707264" y="4157508"/>
            <a:ext cx="0" cy="2880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3"/>
          <p:cNvSpPr>
            <a:spLocks noChangeArrowheads="1"/>
          </p:cNvSpPr>
          <p:nvPr/>
        </p:nvSpPr>
        <p:spPr bwMode="auto">
          <a:xfrm>
            <a:off x="4289003" y="4103469"/>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网络号</a:t>
            </a:r>
          </a:p>
        </p:txBody>
      </p:sp>
      <p:sp>
        <p:nvSpPr>
          <p:cNvPr id="28" name="Rectangle 24"/>
          <p:cNvSpPr>
            <a:spLocks noChangeArrowheads="1"/>
          </p:cNvSpPr>
          <p:nvPr/>
        </p:nvSpPr>
        <p:spPr bwMode="auto">
          <a:xfrm>
            <a:off x="9164505" y="4106503"/>
            <a:ext cx="9569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主机号</a:t>
            </a:r>
          </a:p>
        </p:txBody>
      </p:sp>
      <p:sp>
        <p:nvSpPr>
          <p:cNvPr id="29" name="Rectangle 25"/>
          <p:cNvSpPr>
            <a:spLocks noChangeArrowheads="1"/>
          </p:cNvSpPr>
          <p:nvPr/>
        </p:nvSpPr>
        <p:spPr bwMode="auto">
          <a:xfrm>
            <a:off x="7267995" y="4106503"/>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子网号</a:t>
            </a:r>
          </a:p>
        </p:txBody>
      </p:sp>
      <p:sp>
        <p:nvSpPr>
          <p:cNvPr id="30" name="Rectangle 26"/>
          <p:cNvSpPr>
            <a:spLocks noChangeArrowheads="1"/>
          </p:cNvSpPr>
          <p:nvPr/>
        </p:nvSpPr>
        <p:spPr bwMode="auto">
          <a:xfrm>
            <a:off x="7160613" y="4523425"/>
            <a:ext cx="958929"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子网号</a:t>
            </a:r>
          </a:p>
        </p:txBody>
      </p:sp>
      <p:sp>
        <p:nvSpPr>
          <p:cNvPr id="31" name="Line 28"/>
          <p:cNvSpPr>
            <a:spLocks noChangeShapeType="1"/>
          </p:cNvSpPr>
          <p:nvPr/>
        </p:nvSpPr>
        <p:spPr bwMode="auto">
          <a:xfrm>
            <a:off x="8707264" y="4478949"/>
            <a:ext cx="0" cy="2769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2" name="Rectangle 29"/>
          <p:cNvSpPr>
            <a:spLocks noChangeArrowheads="1"/>
          </p:cNvSpPr>
          <p:nvPr/>
        </p:nvSpPr>
        <p:spPr bwMode="auto">
          <a:xfrm>
            <a:off x="1290930" y="4706502"/>
            <a:ext cx="1596230"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三级 </a:t>
            </a:r>
            <a:r>
              <a:rPr kumimoji="1" lang="en-US" altLang="zh-CN" sz="2000" b="1" dirty="0">
                <a:solidFill>
                  <a:srgbClr val="0000CC"/>
                </a:solidFill>
                <a:latin typeface="+mn-lt"/>
                <a:ea typeface="黑体" pitchFamily="2" charset="-122"/>
              </a:rPr>
              <a:t>IP </a:t>
            </a:r>
            <a:r>
              <a:rPr kumimoji="1" lang="zh-CN" altLang="en-US" sz="2000" b="1" dirty="0">
                <a:solidFill>
                  <a:srgbClr val="0000CC"/>
                </a:solidFill>
                <a:latin typeface="+mn-lt"/>
                <a:ea typeface="黑体" pitchFamily="2" charset="-122"/>
              </a:rPr>
              <a:t>地址</a:t>
            </a:r>
          </a:p>
          <a:p>
            <a:pPr defTabSz="762000" eaLnBrk="0" hangingPunct="0"/>
            <a:r>
              <a:rPr kumimoji="1" lang="zh-CN" altLang="en-US" sz="2000" b="1" dirty="0">
                <a:solidFill>
                  <a:srgbClr val="0000CC"/>
                </a:solidFill>
                <a:latin typeface="+mn-lt"/>
                <a:ea typeface="黑体" pitchFamily="2" charset="-122"/>
              </a:rPr>
              <a:t>的子网掩码</a:t>
            </a:r>
          </a:p>
        </p:txBody>
      </p:sp>
      <p:sp>
        <p:nvSpPr>
          <p:cNvPr id="33" name="Line 44"/>
          <p:cNvSpPr>
            <a:spLocks noChangeShapeType="1"/>
          </p:cNvSpPr>
          <p:nvPr/>
        </p:nvSpPr>
        <p:spPr bwMode="auto">
          <a:xfrm>
            <a:off x="6744940" y="4512307"/>
            <a:ext cx="0" cy="2890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4" name="Rectangle 46"/>
          <p:cNvSpPr>
            <a:spLocks noChangeArrowheads="1"/>
          </p:cNvSpPr>
          <p:nvPr/>
        </p:nvSpPr>
        <p:spPr bwMode="auto">
          <a:xfrm>
            <a:off x="838200" y="5419368"/>
            <a:ext cx="208774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子网的网络地址</a:t>
            </a:r>
          </a:p>
        </p:txBody>
      </p:sp>
      <p:sp>
        <p:nvSpPr>
          <p:cNvPr id="35" name="Rectangle 47"/>
          <p:cNvSpPr>
            <a:spLocks noChangeArrowheads="1"/>
          </p:cNvSpPr>
          <p:nvPr/>
        </p:nvSpPr>
        <p:spPr bwMode="auto">
          <a:xfrm>
            <a:off x="8662710" y="4887256"/>
            <a:ext cx="2091866" cy="30937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48"/>
          <p:cNvSpPr>
            <a:spLocks noChangeArrowheads="1"/>
          </p:cNvSpPr>
          <p:nvPr/>
        </p:nvSpPr>
        <p:spPr bwMode="auto">
          <a:xfrm>
            <a:off x="2922121" y="4887319"/>
            <a:ext cx="5736293" cy="32043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37" name="Group 49"/>
          <p:cNvGrpSpPr>
            <a:grpSpLocks/>
          </p:cNvGrpSpPr>
          <p:nvPr/>
        </p:nvGrpSpPr>
        <p:grpSpPr bwMode="auto">
          <a:xfrm>
            <a:off x="2993133" y="4854983"/>
            <a:ext cx="7577381" cy="408372"/>
            <a:chOff x="1197" y="2990"/>
            <a:chExt cx="4375" cy="404"/>
          </a:xfrm>
        </p:grpSpPr>
        <p:sp>
          <p:nvSpPr>
            <p:cNvPr id="46" name="Rectangle 50"/>
            <p:cNvSpPr>
              <a:spLocks noChangeArrowheads="1"/>
            </p:cNvSpPr>
            <p:nvPr/>
          </p:nvSpPr>
          <p:spPr bwMode="auto">
            <a:xfrm>
              <a:off x="1197" y="3001"/>
              <a:ext cx="3060" cy="3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ea typeface="黑体" pitchFamily="2" charset="-122"/>
                </a:rPr>
                <a:t>1 1 1 1 1 1 1 1 1 1 1 1 1 1 1 1  1 1 1 1 1 1 1 1</a:t>
              </a:r>
            </a:p>
          </p:txBody>
        </p:sp>
        <p:sp>
          <p:nvSpPr>
            <p:cNvPr id="47" name="Rectangle 51"/>
            <p:cNvSpPr>
              <a:spLocks noChangeArrowheads="1"/>
            </p:cNvSpPr>
            <p:nvPr/>
          </p:nvSpPr>
          <p:spPr bwMode="auto">
            <a:xfrm>
              <a:off x="4522" y="2990"/>
              <a:ext cx="1050" cy="39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ea typeface="黑体" pitchFamily="2" charset="-122"/>
                </a:rPr>
                <a:t>0 0 0 0 0 0 0 0</a:t>
              </a:r>
            </a:p>
          </p:txBody>
        </p:sp>
      </p:grpSp>
      <p:sp>
        <p:nvSpPr>
          <p:cNvPr id="38" name="Rectangle 53"/>
          <p:cNvSpPr>
            <a:spLocks noChangeArrowheads="1"/>
          </p:cNvSpPr>
          <p:nvPr/>
        </p:nvSpPr>
        <p:spPr bwMode="auto">
          <a:xfrm>
            <a:off x="8658415" y="5437204"/>
            <a:ext cx="2105767" cy="32043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9" name="Rectangle 54"/>
          <p:cNvSpPr>
            <a:spLocks noChangeArrowheads="1"/>
          </p:cNvSpPr>
          <p:nvPr/>
        </p:nvSpPr>
        <p:spPr bwMode="auto">
          <a:xfrm>
            <a:off x="2922121" y="5437205"/>
            <a:ext cx="5736293" cy="32043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0" name="Line 55"/>
          <p:cNvSpPr>
            <a:spLocks noChangeShapeType="1"/>
          </p:cNvSpPr>
          <p:nvPr/>
        </p:nvSpPr>
        <p:spPr bwMode="auto">
          <a:xfrm>
            <a:off x="6713410" y="5437205"/>
            <a:ext cx="1731" cy="32043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1" name="Rectangle 57"/>
          <p:cNvSpPr>
            <a:spLocks noChangeArrowheads="1"/>
          </p:cNvSpPr>
          <p:nvPr/>
        </p:nvSpPr>
        <p:spPr bwMode="auto">
          <a:xfrm>
            <a:off x="4337143" y="5412175"/>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网络号</a:t>
            </a:r>
          </a:p>
        </p:txBody>
      </p:sp>
      <p:sp>
        <p:nvSpPr>
          <p:cNvPr id="42" name="Rectangle 58"/>
          <p:cNvSpPr>
            <a:spLocks noChangeArrowheads="1"/>
          </p:cNvSpPr>
          <p:nvPr/>
        </p:nvSpPr>
        <p:spPr bwMode="auto">
          <a:xfrm>
            <a:off x="7156795" y="5402127"/>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子网号</a:t>
            </a:r>
          </a:p>
        </p:txBody>
      </p:sp>
      <p:sp>
        <p:nvSpPr>
          <p:cNvPr id="43" name="Rectangle 59"/>
          <p:cNvSpPr>
            <a:spLocks noChangeArrowheads="1"/>
          </p:cNvSpPr>
          <p:nvPr/>
        </p:nvSpPr>
        <p:spPr bwMode="auto">
          <a:xfrm>
            <a:off x="9484565" y="5402127"/>
            <a:ext cx="325411"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ea typeface="黑体" pitchFamily="2" charset="-122"/>
              </a:rPr>
              <a:t>0</a:t>
            </a:r>
          </a:p>
        </p:txBody>
      </p:sp>
      <p:sp>
        <p:nvSpPr>
          <p:cNvPr id="44" name="Rectangle 60"/>
          <p:cNvSpPr>
            <a:spLocks noChangeArrowheads="1"/>
          </p:cNvSpPr>
          <p:nvPr/>
        </p:nvSpPr>
        <p:spPr bwMode="auto">
          <a:xfrm>
            <a:off x="2925940" y="4565879"/>
            <a:ext cx="7838242" cy="291116"/>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2400" b="1" dirty="0">
                <a:solidFill>
                  <a:srgbClr val="C00000"/>
                </a:solidFill>
                <a:latin typeface="+mn-lt"/>
                <a:ea typeface="黑体" pitchFamily="2" charset="-122"/>
              </a:rPr>
              <a:t>逐位进行 </a:t>
            </a:r>
            <a:r>
              <a:rPr lang="en-US" altLang="zh-CN" sz="2400" b="1" dirty="0">
                <a:solidFill>
                  <a:srgbClr val="C00000"/>
                </a:solidFill>
                <a:latin typeface="+mn-lt"/>
                <a:ea typeface="黑体" pitchFamily="2" charset="-122"/>
              </a:rPr>
              <a:t>AND </a:t>
            </a:r>
            <a:r>
              <a:rPr lang="zh-CN" altLang="en-US" sz="2400" b="1" dirty="0">
                <a:solidFill>
                  <a:srgbClr val="C00000"/>
                </a:solidFill>
                <a:latin typeface="+mn-lt"/>
                <a:ea typeface="黑体" pitchFamily="2" charset="-122"/>
              </a:rPr>
              <a:t>运算</a:t>
            </a:r>
          </a:p>
        </p:txBody>
      </p:sp>
      <p:sp>
        <p:nvSpPr>
          <p:cNvPr id="45" name="AutoShape 61"/>
          <p:cNvSpPr>
            <a:spLocks noChangeArrowheads="1"/>
          </p:cNvSpPr>
          <p:nvPr/>
        </p:nvSpPr>
        <p:spPr bwMode="auto">
          <a:xfrm>
            <a:off x="6538279" y="5200086"/>
            <a:ext cx="361628" cy="243164"/>
          </a:xfrm>
          <a:prstGeom prst="downArrow">
            <a:avLst>
              <a:gd name="adj1" fmla="val 50000"/>
              <a:gd name="adj2" fmla="val 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48"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9"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126</a:t>
            </a:fld>
            <a:endParaRPr kumimoji="1" lang="zh-CN" altLang="en-US" dirty="0"/>
          </a:p>
        </p:txBody>
      </p:sp>
      <p:pic>
        <p:nvPicPr>
          <p:cNvPr id="50" name="Picture 28" descr="015">
            <a:extLst>
              <a:ext uri="{FF2B5EF4-FFF2-40B4-BE49-F238E27FC236}">
                <a16:creationId xmlns:a16="http://schemas.microsoft.com/office/drawing/2014/main" id="{30B82EAF-3CFE-42FA-9483-ADE567DAF95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5087219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子网划分</a:t>
            </a:r>
          </a:p>
        </p:txBody>
      </p:sp>
      <p:grpSp>
        <p:nvGrpSpPr>
          <p:cNvPr id="3" name="组合 25"/>
          <p:cNvGrpSpPr/>
          <p:nvPr/>
        </p:nvGrpSpPr>
        <p:grpSpPr>
          <a:xfrm>
            <a:off x="1943634" y="1809350"/>
            <a:ext cx="7490138" cy="283447"/>
            <a:chOff x="1943634" y="1809350"/>
            <a:chExt cx="7490138" cy="283447"/>
          </a:xfrm>
        </p:grpSpPr>
        <p:sp>
          <p:nvSpPr>
            <p:cNvPr id="7" name="Rectangle 4"/>
            <p:cNvSpPr/>
            <p:nvPr/>
          </p:nvSpPr>
          <p:spPr>
            <a:xfrm>
              <a:off x="1943634" y="1809350"/>
              <a:ext cx="1493925" cy="283446"/>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172</a:t>
              </a:r>
            </a:p>
          </p:txBody>
        </p:sp>
        <p:sp>
          <p:nvSpPr>
            <p:cNvPr id="8" name="Rectangle 4"/>
            <p:cNvSpPr/>
            <p:nvPr/>
          </p:nvSpPr>
          <p:spPr>
            <a:xfrm>
              <a:off x="4070108" y="1809350"/>
              <a:ext cx="1493925" cy="283446"/>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16</a:t>
              </a:r>
            </a:p>
          </p:txBody>
        </p:sp>
        <p:sp>
          <p:nvSpPr>
            <p:cNvPr id="9" name="Rectangle 4"/>
            <p:cNvSpPr/>
            <p:nvPr/>
          </p:nvSpPr>
          <p:spPr>
            <a:xfrm>
              <a:off x="6166709" y="1809350"/>
              <a:ext cx="1493925" cy="283446"/>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a:t>
              </a:r>
            </a:p>
          </p:txBody>
        </p:sp>
        <p:sp>
          <p:nvSpPr>
            <p:cNvPr id="10" name="Rectangle 4"/>
            <p:cNvSpPr/>
            <p:nvPr/>
          </p:nvSpPr>
          <p:spPr>
            <a:xfrm>
              <a:off x="7939847" y="1809350"/>
              <a:ext cx="1493925" cy="283447"/>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160</a:t>
              </a:r>
            </a:p>
          </p:txBody>
        </p:sp>
      </p:grpSp>
      <p:grpSp>
        <p:nvGrpSpPr>
          <p:cNvPr id="4" name="组合 28"/>
          <p:cNvGrpSpPr/>
          <p:nvPr/>
        </p:nvGrpSpPr>
        <p:grpSpPr>
          <a:xfrm>
            <a:off x="2064605" y="2262483"/>
            <a:ext cx="7282320" cy="316382"/>
            <a:chOff x="2083588" y="3065503"/>
            <a:chExt cx="7282320" cy="316382"/>
          </a:xfrm>
        </p:grpSpPr>
        <p:sp>
          <p:nvSpPr>
            <p:cNvPr id="12" name="Rectangle 4"/>
            <p:cNvSpPr/>
            <p:nvPr/>
          </p:nvSpPr>
          <p:spPr>
            <a:xfrm>
              <a:off x="2083588" y="3065503"/>
              <a:ext cx="1285875" cy="28848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255</a:t>
              </a:r>
            </a:p>
          </p:txBody>
        </p:sp>
        <p:sp>
          <p:nvSpPr>
            <p:cNvPr id="13" name="Rectangle 4"/>
            <p:cNvSpPr/>
            <p:nvPr/>
          </p:nvSpPr>
          <p:spPr>
            <a:xfrm>
              <a:off x="4219790" y="3065503"/>
              <a:ext cx="1285875" cy="290161"/>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255</a:t>
              </a:r>
            </a:p>
          </p:txBody>
        </p:sp>
        <p:sp>
          <p:nvSpPr>
            <p:cNvPr id="14" name="Rectangle 4"/>
            <p:cNvSpPr/>
            <p:nvPr/>
          </p:nvSpPr>
          <p:spPr>
            <a:xfrm>
              <a:off x="6374759" y="3065503"/>
              <a:ext cx="1285875" cy="290161"/>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255</a:t>
              </a:r>
            </a:p>
          </p:txBody>
        </p:sp>
        <p:sp>
          <p:nvSpPr>
            <p:cNvPr id="15" name="Rectangle 4"/>
            <p:cNvSpPr/>
            <p:nvPr/>
          </p:nvSpPr>
          <p:spPr>
            <a:xfrm>
              <a:off x="8080033" y="3065503"/>
              <a:ext cx="1285875" cy="316382"/>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192</a:t>
              </a:r>
            </a:p>
          </p:txBody>
        </p:sp>
      </p:grpSp>
      <p:grpSp>
        <p:nvGrpSpPr>
          <p:cNvPr id="5" name="组合 27"/>
          <p:cNvGrpSpPr/>
          <p:nvPr/>
        </p:nvGrpSpPr>
        <p:grpSpPr>
          <a:xfrm>
            <a:off x="1786644" y="2734973"/>
            <a:ext cx="8049119" cy="307333"/>
            <a:chOff x="1789892" y="2433440"/>
            <a:chExt cx="8049119" cy="307333"/>
          </a:xfrm>
        </p:grpSpPr>
        <p:sp>
          <p:nvSpPr>
            <p:cNvPr id="17" name="Rectangle 4"/>
            <p:cNvSpPr/>
            <p:nvPr/>
          </p:nvSpPr>
          <p:spPr>
            <a:xfrm>
              <a:off x="1789892" y="2433440"/>
              <a:ext cx="176440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10101100</a:t>
              </a:r>
            </a:p>
          </p:txBody>
        </p:sp>
        <p:sp>
          <p:nvSpPr>
            <p:cNvPr id="18" name="Rectangle 7"/>
            <p:cNvSpPr/>
            <p:nvPr/>
          </p:nvSpPr>
          <p:spPr>
            <a:xfrm>
              <a:off x="3987327" y="2433440"/>
              <a:ext cx="1728192" cy="28939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00010000</a:t>
              </a:r>
            </a:p>
          </p:txBody>
        </p:sp>
        <p:sp>
          <p:nvSpPr>
            <p:cNvPr id="19" name="Rectangle 15"/>
            <p:cNvSpPr/>
            <p:nvPr/>
          </p:nvSpPr>
          <p:spPr>
            <a:xfrm>
              <a:off x="5935652" y="2433440"/>
              <a:ext cx="191664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00000010</a:t>
              </a:r>
            </a:p>
          </p:txBody>
        </p:sp>
        <p:sp>
          <p:nvSpPr>
            <p:cNvPr id="20" name="Rectangle 12"/>
            <p:cNvSpPr/>
            <p:nvPr/>
          </p:nvSpPr>
          <p:spPr>
            <a:xfrm>
              <a:off x="8082814" y="2433440"/>
              <a:ext cx="1756197" cy="30733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10100000</a:t>
              </a:r>
            </a:p>
          </p:txBody>
        </p:sp>
      </p:grpSp>
      <p:grpSp>
        <p:nvGrpSpPr>
          <p:cNvPr id="6" name="组合 29"/>
          <p:cNvGrpSpPr/>
          <p:nvPr/>
        </p:nvGrpSpPr>
        <p:grpSpPr>
          <a:xfrm>
            <a:off x="1819076" y="3253146"/>
            <a:ext cx="8052162" cy="436839"/>
            <a:chOff x="1819076" y="3647479"/>
            <a:chExt cx="8052162" cy="436839"/>
          </a:xfrm>
        </p:grpSpPr>
        <p:sp>
          <p:nvSpPr>
            <p:cNvPr id="22" name="Rectangle 4"/>
            <p:cNvSpPr/>
            <p:nvPr/>
          </p:nvSpPr>
          <p:spPr>
            <a:xfrm>
              <a:off x="1819076" y="3647479"/>
              <a:ext cx="1728967" cy="38576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11111111</a:t>
              </a:r>
            </a:p>
          </p:txBody>
        </p:sp>
        <p:sp>
          <p:nvSpPr>
            <p:cNvPr id="23" name="Rectangle 7"/>
            <p:cNvSpPr/>
            <p:nvPr/>
          </p:nvSpPr>
          <p:spPr>
            <a:xfrm>
              <a:off x="6085722" y="3647479"/>
              <a:ext cx="1851172" cy="38576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11111111</a:t>
              </a:r>
            </a:p>
          </p:txBody>
        </p:sp>
        <p:sp>
          <p:nvSpPr>
            <p:cNvPr id="24" name="Rectangle 15"/>
            <p:cNvSpPr/>
            <p:nvPr/>
          </p:nvSpPr>
          <p:spPr>
            <a:xfrm>
              <a:off x="3957134" y="3647479"/>
              <a:ext cx="1746308" cy="38576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11111111</a:t>
              </a:r>
            </a:p>
          </p:txBody>
        </p:sp>
        <p:sp>
          <p:nvSpPr>
            <p:cNvPr id="25" name="Rectangle 12"/>
            <p:cNvSpPr/>
            <p:nvPr/>
          </p:nvSpPr>
          <p:spPr>
            <a:xfrm>
              <a:off x="8093402" y="3647479"/>
              <a:ext cx="1777836" cy="43683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11000000</a:t>
              </a:r>
            </a:p>
          </p:txBody>
        </p:sp>
      </p:grpSp>
      <p:grpSp>
        <p:nvGrpSpPr>
          <p:cNvPr id="11" name="组合 30"/>
          <p:cNvGrpSpPr/>
          <p:nvPr/>
        </p:nvGrpSpPr>
        <p:grpSpPr>
          <a:xfrm>
            <a:off x="1805498" y="3863519"/>
            <a:ext cx="8049119" cy="307333"/>
            <a:chOff x="1789892" y="2433440"/>
            <a:chExt cx="8049119" cy="307333"/>
          </a:xfrm>
        </p:grpSpPr>
        <p:sp>
          <p:nvSpPr>
            <p:cNvPr id="32" name="Rectangle 4"/>
            <p:cNvSpPr/>
            <p:nvPr/>
          </p:nvSpPr>
          <p:spPr>
            <a:xfrm>
              <a:off x="1789892" y="2433440"/>
              <a:ext cx="176440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10101100</a:t>
              </a:r>
            </a:p>
          </p:txBody>
        </p:sp>
        <p:sp>
          <p:nvSpPr>
            <p:cNvPr id="33" name="Rectangle 7"/>
            <p:cNvSpPr/>
            <p:nvPr/>
          </p:nvSpPr>
          <p:spPr>
            <a:xfrm>
              <a:off x="3987327" y="2433440"/>
              <a:ext cx="1728192" cy="28939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00010000</a:t>
              </a:r>
            </a:p>
          </p:txBody>
        </p:sp>
        <p:sp>
          <p:nvSpPr>
            <p:cNvPr id="34" name="Rectangle 15"/>
            <p:cNvSpPr/>
            <p:nvPr/>
          </p:nvSpPr>
          <p:spPr>
            <a:xfrm>
              <a:off x="5935652" y="2433440"/>
              <a:ext cx="191664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00000010</a:t>
              </a:r>
            </a:p>
          </p:txBody>
        </p:sp>
        <p:sp>
          <p:nvSpPr>
            <p:cNvPr id="35" name="Rectangle 12"/>
            <p:cNvSpPr/>
            <p:nvPr/>
          </p:nvSpPr>
          <p:spPr>
            <a:xfrm>
              <a:off x="8082814" y="2433440"/>
              <a:ext cx="1756197" cy="30733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10000000</a:t>
              </a:r>
            </a:p>
          </p:txBody>
        </p:sp>
      </p:grpSp>
      <p:grpSp>
        <p:nvGrpSpPr>
          <p:cNvPr id="16" name="组合 35"/>
          <p:cNvGrpSpPr/>
          <p:nvPr/>
        </p:nvGrpSpPr>
        <p:grpSpPr>
          <a:xfrm>
            <a:off x="1802852" y="4329924"/>
            <a:ext cx="8049119" cy="307333"/>
            <a:chOff x="1789892" y="2433440"/>
            <a:chExt cx="8049119" cy="307333"/>
          </a:xfrm>
        </p:grpSpPr>
        <p:sp>
          <p:nvSpPr>
            <p:cNvPr id="37" name="Rectangle 4"/>
            <p:cNvSpPr/>
            <p:nvPr/>
          </p:nvSpPr>
          <p:spPr>
            <a:xfrm>
              <a:off x="1789892" y="2433440"/>
              <a:ext cx="176440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10101100</a:t>
              </a:r>
            </a:p>
          </p:txBody>
        </p:sp>
        <p:sp>
          <p:nvSpPr>
            <p:cNvPr id="38" name="Rectangle 7"/>
            <p:cNvSpPr/>
            <p:nvPr/>
          </p:nvSpPr>
          <p:spPr>
            <a:xfrm>
              <a:off x="3987327" y="2433440"/>
              <a:ext cx="1728192" cy="28939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00010000</a:t>
              </a:r>
            </a:p>
          </p:txBody>
        </p:sp>
        <p:sp>
          <p:nvSpPr>
            <p:cNvPr id="39" name="Rectangle 15"/>
            <p:cNvSpPr/>
            <p:nvPr/>
          </p:nvSpPr>
          <p:spPr>
            <a:xfrm>
              <a:off x="5935652" y="2433440"/>
              <a:ext cx="191664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00000010</a:t>
              </a:r>
            </a:p>
          </p:txBody>
        </p:sp>
        <p:sp>
          <p:nvSpPr>
            <p:cNvPr id="40" name="Rectangle 12"/>
            <p:cNvSpPr/>
            <p:nvPr/>
          </p:nvSpPr>
          <p:spPr>
            <a:xfrm>
              <a:off x="8082814" y="2433440"/>
              <a:ext cx="1756197" cy="30733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10111111</a:t>
              </a:r>
            </a:p>
          </p:txBody>
        </p:sp>
      </p:grpSp>
      <p:sp>
        <p:nvSpPr>
          <p:cNvPr id="44" name="矩形 43"/>
          <p:cNvSpPr/>
          <p:nvPr/>
        </p:nvSpPr>
        <p:spPr>
          <a:xfrm>
            <a:off x="1200720" y="3544777"/>
            <a:ext cx="703626" cy="251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前缀</a:t>
            </a:r>
          </a:p>
        </p:txBody>
      </p:sp>
      <p:sp>
        <p:nvSpPr>
          <p:cNvPr id="45" name="矩形 44"/>
          <p:cNvSpPr/>
          <p:nvPr/>
        </p:nvSpPr>
        <p:spPr>
          <a:xfrm>
            <a:off x="9764226" y="3516195"/>
            <a:ext cx="985740" cy="251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主机位</a:t>
            </a:r>
          </a:p>
        </p:txBody>
      </p:sp>
      <p:sp>
        <p:nvSpPr>
          <p:cNvPr id="46" name="矩形 45"/>
          <p:cNvSpPr/>
          <p:nvPr/>
        </p:nvSpPr>
        <p:spPr>
          <a:xfrm>
            <a:off x="957893" y="4922178"/>
            <a:ext cx="2777528" cy="583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主机位全</a:t>
            </a:r>
            <a:r>
              <a:rPr lang="en-US" altLang="zh-CN" sz="2000" b="1" dirty="0">
                <a:solidFill>
                  <a:srgbClr val="C00000"/>
                </a:solidFill>
                <a:ea typeface="黑体" pitchFamily="2" charset="-122"/>
              </a:rPr>
              <a:t>0</a:t>
            </a:r>
            <a:r>
              <a:rPr lang="zh-CN" altLang="en-US" sz="2000" b="1" dirty="0">
                <a:solidFill>
                  <a:srgbClr val="C00000"/>
                </a:solidFill>
                <a:ea typeface="黑体" pitchFamily="2" charset="-122"/>
              </a:rPr>
              <a:t>，子网地址</a:t>
            </a:r>
            <a:endParaRPr lang="en-US" altLang="zh-CN" sz="2000" b="1" dirty="0">
              <a:solidFill>
                <a:srgbClr val="C00000"/>
              </a:solidFill>
              <a:ea typeface="黑体" pitchFamily="2" charset="-122"/>
            </a:endParaRPr>
          </a:p>
          <a:p>
            <a:pPr algn="ctr"/>
            <a:r>
              <a:rPr lang="en-US" altLang="zh-CN" sz="2000" b="1" dirty="0">
                <a:solidFill>
                  <a:srgbClr val="C00000"/>
                </a:solidFill>
                <a:ea typeface="黑体" pitchFamily="2" charset="-122"/>
              </a:rPr>
              <a:t>172.16.2.128</a:t>
            </a:r>
            <a:endParaRPr lang="zh-CN" altLang="en-US" sz="2000" b="1" dirty="0">
              <a:solidFill>
                <a:srgbClr val="C00000"/>
              </a:solidFill>
              <a:ea typeface="黑体" pitchFamily="2" charset="-122"/>
            </a:endParaRPr>
          </a:p>
        </p:txBody>
      </p:sp>
      <p:sp>
        <p:nvSpPr>
          <p:cNvPr id="47" name="矩形 46"/>
          <p:cNvSpPr/>
          <p:nvPr/>
        </p:nvSpPr>
        <p:spPr>
          <a:xfrm>
            <a:off x="3639573" y="4922178"/>
            <a:ext cx="2777528" cy="583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主机位全</a:t>
            </a:r>
            <a:r>
              <a:rPr lang="en-US" altLang="zh-CN" sz="2000" b="1" dirty="0">
                <a:solidFill>
                  <a:srgbClr val="C00000"/>
                </a:solidFill>
                <a:ea typeface="黑体" pitchFamily="2" charset="-122"/>
              </a:rPr>
              <a:t>1</a:t>
            </a:r>
            <a:r>
              <a:rPr lang="zh-CN" altLang="en-US" sz="2000" b="1" dirty="0">
                <a:solidFill>
                  <a:srgbClr val="C00000"/>
                </a:solidFill>
                <a:ea typeface="黑体" pitchFamily="2" charset="-122"/>
              </a:rPr>
              <a:t>，广播地址</a:t>
            </a:r>
            <a:endParaRPr lang="en-US" altLang="zh-CN" sz="2000" b="1" dirty="0">
              <a:solidFill>
                <a:srgbClr val="C00000"/>
              </a:solidFill>
              <a:ea typeface="黑体" pitchFamily="2" charset="-122"/>
            </a:endParaRPr>
          </a:p>
          <a:p>
            <a:pPr algn="ctr"/>
            <a:r>
              <a:rPr lang="en-US" altLang="zh-CN" sz="2000" b="1" dirty="0">
                <a:solidFill>
                  <a:srgbClr val="C00000"/>
                </a:solidFill>
                <a:ea typeface="黑体" pitchFamily="2" charset="-122"/>
              </a:rPr>
              <a:t>172.16.2.191</a:t>
            </a:r>
            <a:endParaRPr lang="zh-CN" altLang="en-US" sz="2000" b="1" dirty="0">
              <a:solidFill>
                <a:srgbClr val="C00000"/>
              </a:solidFill>
              <a:ea typeface="黑体" pitchFamily="2" charset="-122"/>
            </a:endParaRPr>
          </a:p>
        </p:txBody>
      </p:sp>
      <p:sp>
        <p:nvSpPr>
          <p:cNvPr id="48" name="矩形 47"/>
          <p:cNvSpPr/>
          <p:nvPr/>
        </p:nvSpPr>
        <p:spPr>
          <a:xfrm>
            <a:off x="6264992" y="4922178"/>
            <a:ext cx="2777528" cy="9111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可分配</a:t>
            </a:r>
            <a:r>
              <a:rPr lang="en-US" altLang="zh-CN" sz="2000" b="1" dirty="0">
                <a:solidFill>
                  <a:srgbClr val="C00000"/>
                </a:solidFill>
                <a:ea typeface="黑体" pitchFamily="2" charset="-122"/>
              </a:rPr>
              <a:t>IP</a:t>
            </a:r>
            <a:r>
              <a:rPr lang="zh-CN" altLang="en-US" sz="2000" b="1" dirty="0">
                <a:solidFill>
                  <a:srgbClr val="C00000"/>
                </a:solidFill>
                <a:ea typeface="黑体" pitchFamily="2" charset="-122"/>
              </a:rPr>
              <a:t>地址范围</a:t>
            </a:r>
            <a:r>
              <a:rPr lang="en-US" altLang="zh-CN" sz="2000" b="1" dirty="0">
                <a:solidFill>
                  <a:srgbClr val="C00000"/>
                </a:solidFill>
                <a:ea typeface="黑体" pitchFamily="2" charset="-122"/>
              </a:rPr>
              <a:t>172.16.2.128+1~</a:t>
            </a:r>
          </a:p>
          <a:p>
            <a:r>
              <a:rPr lang="en-US" altLang="zh-CN" sz="2000" b="1" dirty="0">
                <a:solidFill>
                  <a:srgbClr val="C00000"/>
                </a:solidFill>
                <a:ea typeface="黑体" pitchFamily="2" charset="-122"/>
              </a:rPr>
              <a:t>     172.16.2.191-1</a:t>
            </a:r>
            <a:endParaRPr lang="zh-CN" altLang="en-US" sz="2000" b="1" dirty="0">
              <a:solidFill>
                <a:srgbClr val="C00000"/>
              </a:solidFill>
              <a:ea typeface="黑体" pitchFamily="2" charset="-122"/>
            </a:endParaRPr>
          </a:p>
        </p:txBody>
      </p:sp>
      <p:sp>
        <p:nvSpPr>
          <p:cNvPr id="49" name="矩形 48"/>
          <p:cNvSpPr/>
          <p:nvPr/>
        </p:nvSpPr>
        <p:spPr>
          <a:xfrm>
            <a:off x="8881353" y="4865616"/>
            <a:ext cx="2344612" cy="7004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子网拥有主机数量</a:t>
            </a:r>
            <a:endParaRPr lang="en-US" altLang="zh-CN" sz="2000" b="1" dirty="0">
              <a:solidFill>
                <a:srgbClr val="C00000"/>
              </a:solidFill>
              <a:ea typeface="黑体" pitchFamily="2" charset="-122"/>
            </a:endParaRPr>
          </a:p>
          <a:p>
            <a:pPr algn="ctr"/>
            <a:r>
              <a:rPr lang="en-US" altLang="zh-CN" sz="2000" b="1" dirty="0">
                <a:solidFill>
                  <a:srgbClr val="C00000"/>
                </a:solidFill>
                <a:ea typeface="黑体" pitchFamily="2" charset="-122"/>
              </a:rPr>
              <a:t>2</a:t>
            </a:r>
            <a:r>
              <a:rPr lang="en-US" altLang="zh-CN" sz="2000" b="1" baseline="30000" dirty="0">
                <a:solidFill>
                  <a:srgbClr val="C00000"/>
                </a:solidFill>
                <a:ea typeface="黑体" pitchFamily="2" charset="-122"/>
              </a:rPr>
              <a:t>n</a:t>
            </a:r>
            <a:r>
              <a:rPr lang="en-US" altLang="zh-CN" sz="2000" b="1" dirty="0">
                <a:solidFill>
                  <a:srgbClr val="C00000"/>
                </a:solidFill>
                <a:ea typeface="黑体" pitchFamily="2" charset="-122"/>
              </a:rPr>
              <a:t>-2=62</a:t>
            </a:r>
            <a:r>
              <a:rPr lang="zh-CN" altLang="en-US" sz="2000" b="1" dirty="0">
                <a:solidFill>
                  <a:srgbClr val="C00000"/>
                </a:solidFill>
                <a:ea typeface="黑体" pitchFamily="2" charset="-122"/>
              </a:rPr>
              <a:t>（</a:t>
            </a:r>
            <a:r>
              <a:rPr lang="en-US" altLang="zh-CN" sz="2000" b="1" dirty="0">
                <a:solidFill>
                  <a:srgbClr val="C00000"/>
                </a:solidFill>
                <a:ea typeface="黑体" pitchFamily="2" charset="-122"/>
              </a:rPr>
              <a:t>n=6</a:t>
            </a:r>
            <a:r>
              <a:rPr lang="zh-CN" altLang="en-US" sz="2000" b="1" dirty="0">
                <a:solidFill>
                  <a:srgbClr val="C00000"/>
                </a:solidFill>
                <a:ea typeface="黑体" pitchFamily="2" charset="-122"/>
              </a:rPr>
              <a:t>）</a:t>
            </a:r>
          </a:p>
        </p:txBody>
      </p:sp>
      <p:sp>
        <p:nvSpPr>
          <p:cNvPr id="5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51"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127</a:t>
            </a:fld>
            <a:endParaRPr kumimoji="1" lang="zh-CN" altLang="en-US" dirty="0"/>
          </a:p>
        </p:txBody>
      </p:sp>
      <p:cxnSp>
        <p:nvCxnSpPr>
          <p:cNvPr id="53" name="直接连接符 52"/>
          <p:cNvCxnSpPr/>
          <p:nvPr/>
        </p:nvCxnSpPr>
        <p:spPr>
          <a:xfrm rot="5400000">
            <a:off x="7584377" y="3644154"/>
            <a:ext cx="1912628"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 name="直接箭头连接符 57"/>
          <p:cNvCxnSpPr/>
          <p:nvPr/>
        </p:nvCxnSpPr>
        <p:spPr>
          <a:xfrm rot="10800000">
            <a:off x="1814925" y="3638909"/>
            <a:ext cx="6725764" cy="1588"/>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60" name="直接箭头连接符 59"/>
          <p:cNvCxnSpPr/>
          <p:nvPr/>
        </p:nvCxnSpPr>
        <p:spPr>
          <a:xfrm>
            <a:off x="8540689" y="3638909"/>
            <a:ext cx="1295074" cy="1588"/>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grpSp>
        <p:nvGrpSpPr>
          <p:cNvPr id="52" name="组合 51"/>
          <p:cNvGrpSpPr/>
          <p:nvPr/>
        </p:nvGrpSpPr>
        <p:grpSpPr>
          <a:xfrm>
            <a:off x="9908946" y="2765068"/>
            <a:ext cx="1560867" cy="554476"/>
            <a:chOff x="9908946" y="2765068"/>
            <a:chExt cx="1560867" cy="554476"/>
          </a:xfrm>
        </p:grpSpPr>
        <p:sp>
          <p:nvSpPr>
            <p:cNvPr id="27" name="矩形 26"/>
            <p:cNvSpPr/>
            <p:nvPr/>
          </p:nvSpPr>
          <p:spPr>
            <a:xfrm>
              <a:off x="10030119" y="2765068"/>
              <a:ext cx="1439694" cy="554476"/>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逐位进行 </a:t>
              </a:r>
              <a:r>
                <a:rPr lang="en-US" altLang="zh-CN" sz="2000" b="1" dirty="0">
                  <a:solidFill>
                    <a:srgbClr val="C00000"/>
                  </a:solidFill>
                  <a:ea typeface="黑体" pitchFamily="2" charset="-122"/>
                </a:rPr>
                <a:t>AND </a:t>
              </a:r>
              <a:r>
                <a:rPr lang="zh-CN" altLang="en-US" sz="2000" b="1" dirty="0">
                  <a:solidFill>
                    <a:srgbClr val="C00000"/>
                  </a:solidFill>
                  <a:ea typeface="黑体" pitchFamily="2" charset="-122"/>
                </a:rPr>
                <a:t>运算</a:t>
              </a:r>
            </a:p>
          </p:txBody>
        </p:sp>
        <p:sp>
          <p:nvSpPr>
            <p:cNvPr id="62" name="右箭头 61"/>
            <p:cNvSpPr/>
            <p:nvPr/>
          </p:nvSpPr>
          <p:spPr>
            <a:xfrm>
              <a:off x="9908946" y="2911247"/>
              <a:ext cx="281430" cy="228775"/>
            </a:xfrm>
            <a:prstGeom prst="rightArrow">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pic>
        <p:nvPicPr>
          <p:cNvPr id="54" name="Picture 28" descr="015">
            <a:extLst>
              <a:ext uri="{FF2B5EF4-FFF2-40B4-BE49-F238E27FC236}">
                <a16:creationId xmlns:a16="http://schemas.microsoft.com/office/drawing/2014/main" id="{1807189E-D728-4225-BD16-A2257355D55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62254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3"/>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nodeType="afterEffect">
                                  <p:stCondLst>
                                    <p:cond delay="0"/>
                                  </p:stCondLst>
                                  <p:childTnLst>
                                    <p:set>
                                      <p:cBhvr>
                                        <p:cTn id="15" dur="1" fill="hold">
                                          <p:stCondLst>
                                            <p:cond delay="0"/>
                                          </p:stCondLst>
                                        </p:cTn>
                                        <p:tgtEl>
                                          <p:spTgt spid="58"/>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44"/>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48"/>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47" grpId="0"/>
      <p:bldP spid="48" grpId="0"/>
      <p:bldP spid="49"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无类域间路由</a:t>
            </a:r>
          </a:p>
        </p:txBody>
      </p:sp>
      <p:sp>
        <p:nvSpPr>
          <p:cNvPr id="3" name="内容占位符 2"/>
          <p:cNvSpPr>
            <a:spLocks noGrp="1"/>
          </p:cNvSpPr>
          <p:nvPr>
            <p:ph idx="1"/>
          </p:nvPr>
        </p:nvSpPr>
        <p:spPr>
          <a:xfrm>
            <a:off x="838200" y="1510757"/>
            <a:ext cx="10515600" cy="4978545"/>
          </a:xfrm>
        </p:spPr>
        <p:txBody>
          <a:bodyPr>
            <a:normAutofit lnSpcReduction="10000"/>
          </a:bodyPr>
          <a:lstStyle/>
          <a:p>
            <a:r>
              <a:rPr lang="en-US" altLang="zh-CN" dirty="0">
                <a:solidFill>
                  <a:srgbClr val="C00000"/>
                </a:solidFill>
              </a:rPr>
              <a:t>CIDR</a:t>
            </a:r>
            <a:r>
              <a:rPr lang="zh-CN" altLang="en-US" dirty="0"/>
              <a:t>（</a:t>
            </a:r>
            <a:r>
              <a:rPr lang="en-US" altLang="zh-CN" dirty="0"/>
              <a:t> Classless Inter-Domain Routing </a:t>
            </a:r>
            <a:r>
              <a:rPr lang="zh-CN" altLang="en-US" dirty="0"/>
              <a:t>）</a:t>
            </a:r>
            <a:endParaRPr lang="en-US" altLang="zh-CN" dirty="0"/>
          </a:p>
          <a:p>
            <a:pPr lvl="1"/>
            <a:r>
              <a:rPr lang="zh-CN" altLang="en-US" dirty="0"/>
              <a:t>将</a:t>
            </a:r>
            <a:r>
              <a:rPr lang="en-US" altLang="zh-CN" dirty="0"/>
              <a:t>32</a:t>
            </a:r>
            <a:r>
              <a:rPr lang="zh-CN" altLang="en-US" dirty="0"/>
              <a:t>位的</a:t>
            </a:r>
            <a:r>
              <a:rPr lang="en-US" altLang="zh-CN" dirty="0"/>
              <a:t>IP</a:t>
            </a:r>
            <a:r>
              <a:rPr lang="zh-CN" altLang="en-US" dirty="0"/>
              <a:t>地址划分为前后两个部分，并采用</a:t>
            </a:r>
            <a:r>
              <a:rPr lang="zh-CN" altLang="en-US" dirty="0">
                <a:solidFill>
                  <a:srgbClr val="C00000"/>
                </a:solidFill>
              </a:rPr>
              <a:t>斜线记法</a:t>
            </a:r>
            <a:r>
              <a:rPr lang="zh-CN" altLang="en-US" dirty="0"/>
              <a:t>，即在</a:t>
            </a:r>
            <a:r>
              <a:rPr lang="en-US" altLang="zh-CN" dirty="0"/>
              <a:t>IP</a:t>
            </a:r>
            <a:r>
              <a:rPr lang="zh-CN" altLang="en-US" dirty="0"/>
              <a:t>地址后加上“</a:t>
            </a:r>
            <a:r>
              <a:rPr lang="en-US" altLang="zh-CN" dirty="0"/>
              <a:t>/</a:t>
            </a:r>
            <a:r>
              <a:rPr lang="zh-CN" altLang="en-US" dirty="0"/>
              <a:t>”，然后再写上网络前缀所占位数</a:t>
            </a:r>
            <a:endParaRPr lang="en-US" altLang="zh-CN" dirty="0"/>
          </a:p>
          <a:p>
            <a:pPr lvl="1"/>
            <a:endParaRPr lang="en-US" altLang="zh-CN" dirty="0"/>
          </a:p>
          <a:p>
            <a:pPr lvl="1"/>
            <a:endParaRPr lang="en-US" altLang="zh-CN" dirty="0"/>
          </a:p>
          <a:p>
            <a:pPr lvl="1">
              <a:buNone/>
            </a:pPr>
            <a:endParaRPr lang="en-US" altLang="zh-CN" dirty="0"/>
          </a:p>
          <a:p>
            <a:pPr lvl="1">
              <a:buNone/>
            </a:pPr>
            <a:endParaRPr lang="en-US" altLang="zh-CN" dirty="0"/>
          </a:p>
          <a:p>
            <a:pPr lvl="1"/>
            <a:endParaRPr lang="en-US" altLang="zh-CN" dirty="0"/>
          </a:p>
          <a:p>
            <a:pPr lvl="1"/>
            <a:r>
              <a:rPr lang="zh-CN" altLang="en-US" dirty="0"/>
              <a:t>一个 </a:t>
            </a:r>
            <a:r>
              <a:rPr lang="en-US" altLang="zh-CN" dirty="0"/>
              <a:t>CIDR </a:t>
            </a:r>
            <a:r>
              <a:rPr lang="zh-CN" altLang="en-US" dirty="0"/>
              <a:t>地址块可以表示很多地址，这种地址的聚合常称为</a:t>
            </a:r>
            <a:r>
              <a:rPr lang="zh-CN" altLang="en-US" dirty="0">
                <a:solidFill>
                  <a:srgbClr val="C00000"/>
                </a:solidFill>
              </a:rPr>
              <a:t>路由聚合</a:t>
            </a:r>
            <a:r>
              <a:rPr lang="zh-CN" altLang="en-US" dirty="0"/>
              <a:t>（</a:t>
            </a:r>
            <a:r>
              <a:rPr lang="en-US" altLang="zh-CN" dirty="0"/>
              <a:t>route aggregation</a:t>
            </a:r>
            <a:r>
              <a:rPr lang="zh-CN" altLang="en-US" dirty="0"/>
              <a:t>），也称为</a:t>
            </a:r>
            <a:r>
              <a:rPr lang="zh-CN" altLang="en-US" dirty="0">
                <a:solidFill>
                  <a:srgbClr val="C00000"/>
                </a:solidFill>
              </a:rPr>
              <a:t>构成超网 </a:t>
            </a:r>
            <a:r>
              <a:rPr lang="en-US" altLang="zh-CN" dirty="0">
                <a:solidFill>
                  <a:srgbClr val="C00000"/>
                </a:solidFill>
              </a:rPr>
              <a:t>(</a:t>
            </a:r>
            <a:r>
              <a:rPr lang="en-US" altLang="zh-CN" dirty="0" err="1">
                <a:solidFill>
                  <a:srgbClr val="C00000"/>
                </a:solidFill>
              </a:rPr>
              <a:t>supernet</a:t>
            </a:r>
            <a:r>
              <a:rPr lang="en-US" altLang="zh-CN" dirty="0">
                <a:solidFill>
                  <a:srgbClr val="C00000"/>
                </a:solidFill>
              </a:rPr>
              <a:t>)</a:t>
            </a:r>
          </a:p>
          <a:p>
            <a:pPr lvl="1"/>
            <a:r>
              <a:rPr lang="zh-CN" altLang="en-US" dirty="0"/>
              <a:t>聚合技术在</a:t>
            </a:r>
            <a:r>
              <a:rPr lang="en-US" altLang="zh-CN" dirty="0"/>
              <a:t>Internet</a:t>
            </a:r>
            <a:r>
              <a:rPr lang="zh-CN" altLang="en-US" dirty="0"/>
              <a:t>中大量使用，它允许前缀重叠，数据包按具体路由的方向发送，即具有最少</a:t>
            </a:r>
            <a:r>
              <a:rPr lang="en-US" altLang="zh-CN" dirty="0"/>
              <a:t>IP</a:t>
            </a:r>
            <a:r>
              <a:rPr lang="zh-CN" altLang="en-US" dirty="0"/>
              <a:t>地址的</a:t>
            </a:r>
            <a:r>
              <a:rPr lang="zh-CN" altLang="en-US" dirty="0">
                <a:solidFill>
                  <a:srgbClr val="C00000"/>
                </a:solidFill>
              </a:rPr>
              <a:t>最长匹配前缀</a:t>
            </a:r>
            <a:endParaRPr lang="en-US" altLang="zh-CN" dirty="0">
              <a:solidFill>
                <a:srgbClr val="C00000"/>
              </a:solidFill>
            </a:endParaRPr>
          </a:p>
          <a:p>
            <a:endParaRPr lang="zh-CN" altLang="en-US" dirty="0"/>
          </a:p>
        </p:txBody>
      </p:sp>
      <p:grpSp>
        <p:nvGrpSpPr>
          <p:cNvPr id="21" name="组合 20"/>
          <p:cNvGrpSpPr/>
          <p:nvPr/>
        </p:nvGrpSpPr>
        <p:grpSpPr>
          <a:xfrm>
            <a:off x="2229196" y="2916137"/>
            <a:ext cx="7562503" cy="1373998"/>
            <a:chOff x="920552" y="1787214"/>
            <a:chExt cx="8280920" cy="1798650"/>
          </a:xfrm>
        </p:grpSpPr>
        <p:sp>
          <p:nvSpPr>
            <p:cNvPr id="22" name="Rectangle 2"/>
            <p:cNvSpPr>
              <a:spLocks noChangeArrowheads="1"/>
            </p:cNvSpPr>
            <p:nvPr/>
          </p:nvSpPr>
          <p:spPr bwMode="auto">
            <a:xfrm>
              <a:off x="920552" y="2924944"/>
              <a:ext cx="8280920" cy="660920"/>
            </a:xfrm>
            <a:prstGeom prst="rect">
              <a:avLst/>
            </a:prstGeom>
            <a:solidFill>
              <a:srgbClr val="66FF33"/>
            </a:solidFill>
            <a:ln w="9525">
              <a:solidFill>
                <a:srgbClr val="333399"/>
              </a:solidFill>
              <a:miter lim="800000"/>
              <a:headEnd/>
              <a:tailEnd/>
            </a:ln>
            <a:effectLst>
              <a:outerShdw dist="35921" dir="2700000" algn="ctr" rotWithShape="0">
                <a:schemeClr val="bg2"/>
              </a:outerShdw>
            </a:effectLst>
          </p:spPr>
          <p:txBody>
            <a:bodyPr wrap="none" anchor="ctr"/>
            <a:lstStyle/>
            <a:p>
              <a:pPr algn="ctr">
                <a:spcBef>
                  <a:spcPct val="50000"/>
                </a:spcBef>
                <a:spcAft>
                  <a:spcPct val="40000"/>
                </a:spcAft>
                <a:buFont typeface="Wingdings" pitchFamily="2" charset="2"/>
                <a:buNone/>
              </a:pPr>
              <a:r>
                <a:rPr lang="en-US" altLang="zh-CN" sz="2000" b="1" dirty="0">
                  <a:solidFill>
                    <a:srgbClr val="0000CC"/>
                  </a:solidFill>
                  <a:latin typeface="+mn-lt"/>
                  <a:ea typeface="黑体" pitchFamily="2" charset="-122"/>
                </a:rPr>
                <a:t>IP</a:t>
              </a:r>
              <a:r>
                <a:rPr lang="zh-CN" altLang="en-US" sz="2000" b="1" dirty="0">
                  <a:solidFill>
                    <a:srgbClr val="0000CC"/>
                  </a:solidFill>
                  <a:latin typeface="+mn-lt"/>
                  <a:ea typeface="黑体" pitchFamily="2" charset="-122"/>
                </a:rPr>
                <a:t>地址 </a:t>
              </a:r>
              <a:r>
                <a:rPr lang="en-US" altLang="zh-CN" sz="2000" b="1" dirty="0">
                  <a:solidFill>
                    <a:srgbClr val="0000CC"/>
                  </a:solidFill>
                  <a:latin typeface="+mn-lt"/>
                  <a:ea typeface="黑体" pitchFamily="2" charset="-122"/>
                </a:rPr>
                <a:t>::= {&lt;</a:t>
              </a:r>
              <a:r>
                <a:rPr lang="zh-CN" altLang="en-US" sz="2000" b="1" dirty="0">
                  <a:solidFill>
                    <a:srgbClr val="0000CC"/>
                  </a:solidFill>
                  <a:latin typeface="+mn-lt"/>
                  <a:ea typeface="黑体" pitchFamily="2" charset="-122"/>
                </a:rPr>
                <a:t>网络前缀</a:t>
              </a:r>
              <a:r>
                <a:rPr lang="en-US" altLang="zh-CN" sz="2000" b="1" dirty="0">
                  <a:solidFill>
                    <a:srgbClr val="0000CC"/>
                  </a:solidFill>
                  <a:latin typeface="+mn-lt"/>
                  <a:ea typeface="黑体" pitchFamily="2" charset="-122"/>
                </a:rPr>
                <a:t>&gt;, &lt;</a:t>
              </a:r>
              <a:r>
                <a:rPr lang="zh-CN" altLang="en-US" sz="2000" b="1" dirty="0">
                  <a:solidFill>
                    <a:srgbClr val="0000CC"/>
                  </a:solidFill>
                  <a:latin typeface="+mn-lt"/>
                  <a:ea typeface="黑体" pitchFamily="2" charset="-122"/>
                </a:rPr>
                <a:t>主机号</a:t>
              </a:r>
              <a:r>
                <a:rPr lang="en-US" altLang="zh-CN" sz="2000" b="1" dirty="0">
                  <a:solidFill>
                    <a:srgbClr val="0000CC"/>
                  </a:solidFill>
                  <a:latin typeface="+mn-lt"/>
                  <a:ea typeface="黑体" pitchFamily="2" charset="-122"/>
                </a:rPr>
                <a:t>&gt;}</a:t>
              </a:r>
            </a:p>
          </p:txBody>
        </p:sp>
        <p:grpSp>
          <p:nvGrpSpPr>
            <p:cNvPr id="23" name="组合 6"/>
            <p:cNvGrpSpPr/>
            <p:nvPr/>
          </p:nvGrpSpPr>
          <p:grpSpPr>
            <a:xfrm>
              <a:off x="2406642" y="1787214"/>
              <a:ext cx="4562582" cy="1060918"/>
              <a:chOff x="1839309" y="4105855"/>
              <a:chExt cx="4562582" cy="1147677"/>
            </a:xfrm>
          </p:grpSpPr>
          <p:grpSp>
            <p:nvGrpSpPr>
              <p:cNvPr id="24" name="Group 21"/>
              <p:cNvGrpSpPr>
                <a:grpSpLocks/>
              </p:cNvGrpSpPr>
              <p:nvPr/>
            </p:nvGrpSpPr>
            <p:grpSpPr bwMode="auto">
              <a:xfrm>
                <a:off x="1867991" y="4855707"/>
                <a:ext cx="4533900" cy="291"/>
                <a:chOff x="755" y="4797987"/>
                <a:chExt cx="2856" cy="291"/>
              </a:xfrm>
            </p:grpSpPr>
            <p:sp>
              <p:nvSpPr>
                <p:cNvPr id="32" name="Line 9"/>
                <p:cNvSpPr>
                  <a:spLocks noChangeShapeType="1"/>
                </p:cNvSpPr>
                <p:nvPr/>
              </p:nvSpPr>
              <p:spPr bwMode="auto">
                <a:xfrm>
                  <a:off x="755" y="4798175"/>
                  <a:ext cx="285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3" name="Text Box 10"/>
                <p:cNvSpPr txBox="1">
                  <a:spLocks noChangeArrowheads="1"/>
                </p:cNvSpPr>
                <p:nvPr/>
              </p:nvSpPr>
              <p:spPr bwMode="auto">
                <a:xfrm>
                  <a:off x="1950" y="4797987"/>
                  <a:ext cx="527"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grpSp>
          <p:sp>
            <p:nvSpPr>
              <p:cNvPr id="31" name="Line 17"/>
              <p:cNvSpPr>
                <a:spLocks noChangeShapeType="1"/>
              </p:cNvSpPr>
              <p:nvPr/>
            </p:nvSpPr>
            <p:spPr bwMode="auto">
              <a:xfrm>
                <a:off x="1839309" y="4643921"/>
                <a:ext cx="0" cy="609611"/>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nvGrpSpPr>
              <p:cNvPr id="26" name="Group 18"/>
              <p:cNvGrpSpPr>
                <a:grpSpLocks/>
              </p:cNvGrpSpPr>
              <p:nvPr/>
            </p:nvGrpSpPr>
            <p:grpSpPr bwMode="auto">
              <a:xfrm>
                <a:off x="1839416" y="4105855"/>
                <a:ext cx="4562105" cy="679451"/>
                <a:chOff x="737" y="2493"/>
                <a:chExt cx="3240" cy="428"/>
              </a:xfrm>
            </p:grpSpPr>
            <p:sp>
              <p:nvSpPr>
                <p:cNvPr id="27"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网络前缀</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28" name="Rectangle 7"/>
                <p:cNvSpPr>
                  <a:spLocks noChangeArrowheads="1"/>
                </p:cNvSpPr>
                <p:nvPr/>
              </p:nvSpPr>
              <p:spPr bwMode="auto">
                <a:xfrm>
                  <a:off x="2387" y="2494"/>
                  <a:ext cx="1590" cy="385"/>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9" name="Rectangle 11"/>
                <p:cNvSpPr>
                  <a:spLocks noChangeArrowheads="1"/>
                </p:cNvSpPr>
                <p:nvPr/>
              </p:nvSpPr>
              <p:spPr bwMode="auto">
                <a:xfrm>
                  <a:off x="2754" y="2547"/>
                  <a:ext cx="967" cy="374"/>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grpSp>
      <p:sp>
        <p:nvSpPr>
          <p:cNvPr id="34" name="Line 17"/>
          <p:cNvSpPr>
            <a:spLocks noChangeShapeType="1"/>
          </p:cNvSpPr>
          <p:nvPr/>
        </p:nvSpPr>
        <p:spPr bwMode="auto">
          <a:xfrm>
            <a:off x="7743063" y="3319427"/>
            <a:ext cx="0" cy="43090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5"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128</a:t>
            </a:fld>
            <a:endParaRPr kumimoji="1" lang="zh-CN" altLang="en-US" dirty="0"/>
          </a:p>
        </p:txBody>
      </p:sp>
      <p:pic>
        <p:nvPicPr>
          <p:cNvPr id="18" name="Picture 28" descr="015">
            <a:extLst>
              <a:ext uri="{FF2B5EF4-FFF2-40B4-BE49-F238E27FC236}">
                <a16:creationId xmlns:a16="http://schemas.microsoft.com/office/drawing/2014/main" id="{EFB123E2-6294-4B59-908A-70CAEE21213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780067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最长前缀匹配</a:t>
            </a:r>
          </a:p>
        </p:txBody>
      </p:sp>
      <p:sp>
        <p:nvSpPr>
          <p:cNvPr id="35"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129</a:t>
            </a:fld>
            <a:endParaRPr kumimoji="1" lang="zh-CN" altLang="en-US" dirty="0"/>
          </a:p>
        </p:txBody>
      </p:sp>
      <p:sp>
        <p:nvSpPr>
          <p:cNvPr id="5" name="矩形 4"/>
          <p:cNvSpPr/>
          <p:nvPr/>
        </p:nvSpPr>
        <p:spPr>
          <a:xfrm>
            <a:off x="841421" y="1352551"/>
            <a:ext cx="10531547" cy="2693045"/>
          </a:xfrm>
          <a:prstGeom prst="rect">
            <a:avLst/>
          </a:prstGeom>
        </p:spPr>
        <p:txBody>
          <a:bodyPr wrap="square">
            <a:spAutoFit/>
          </a:bodyPr>
          <a:lstStyle/>
          <a:p>
            <a:pPr lvl="0">
              <a:spcBef>
                <a:spcPts val="600"/>
              </a:spcBef>
            </a:pPr>
            <a:r>
              <a:rPr lang="zh-CN" altLang="en-US" sz="2400" dirty="0">
                <a:solidFill>
                  <a:srgbClr val="C00000"/>
                </a:solidFill>
                <a:latin typeface="Microsoft YaHei" panose="020B0503020204020204" pitchFamily="34" charset="-122"/>
                <a:ea typeface="Microsoft YaHei" panose="020B0503020204020204" pitchFamily="34" charset="-122"/>
              </a:rPr>
              <a:t>最长前缀匹配（</a:t>
            </a:r>
            <a:r>
              <a:rPr lang="en-US" altLang="zh-CN" sz="2400" dirty="0">
                <a:solidFill>
                  <a:srgbClr val="C00000"/>
                </a:solidFill>
                <a:latin typeface="Microsoft YaHei" panose="020B0503020204020204" pitchFamily="34" charset="-122"/>
                <a:ea typeface="Microsoft YaHei" panose="020B0503020204020204" pitchFamily="34" charset="-122"/>
              </a:rPr>
              <a:t>Longest prefix match</a:t>
            </a:r>
            <a:r>
              <a:rPr lang="zh-CN" altLang="en-US" sz="2400" dirty="0">
                <a:solidFill>
                  <a:srgbClr val="C00000"/>
                </a:solidFill>
                <a:latin typeface="Microsoft YaHei" panose="020B0503020204020204" pitchFamily="34" charset="-122"/>
                <a:ea typeface="Microsoft YaHei" panose="020B0503020204020204" pitchFamily="34" charset="-122"/>
              </a:rPr>
              <a:t>）</a:t>
            </a:r>
            <a:endParaRPr lang="en-US" altLang="zh-CN" sz="2400" dirty="0">
              <a:solidFill>
                <a:srgbClr val="C00000"/>
              </a:solidFill>
              <a:latin typeface="Microsoft YaHei" panose="020B0503020204020204" pitchFamily="34" charset="-122"/>
              <a:ea typeface="Microsoft YaHei" panose="020B0503020204020204" pitchFamily="34" charset="-122"/>
            </a:endParaRPr>
          </a:p>
          <a:p>
            <a:pPr marL="360363" indent="-360363">
              <a:spcBef>
                <a:spcPts val="600"/>
              </a:spcBef>
              <a:buFont typeface="Wingdings" pitchFamily="2" charset="2"/>
              <a:buChar char="Ø"/>
            </a:pPr>
            <a:r>
              <a:rPr lang="en-US" altLang="zh-CN" sz="2400" dirty="0">
                <a:solidFill>
                  <a:prstClr val="black"/>
                </a:solidFill>
                <a:latin typeface="Microsoft YaHei" panose="020B0503020204020204" pitchFamily="34" charset="-122"/>
                <a:ea typeface="Microsoft YaHei" panose="020B0503020204020204" pitchFamily="34" charset="-122"/>
              </a:rPr>
              <a:t>CIDR</a:t>
            </a:r>
            <a:r>
              <a:rPr lang="zh-CN" altLang="en-US" sz="2400" dirty="0">
                <a:solidFill>
                  <a:prstClr val="black"/>
                </a:solidFill>
                <a:latin typeface="Microsoft YaHei" panose="020B0503020204020204" pitchFamily="34" charset="-122"/>
                <a:ea typeface="Microsoft YaHei" panose="020B0503020204020204" pitchFamily="34" charset="-122"/>
              </a:rPr>
              <a:t>可变长子网掩码以及路由聚合，需要最长前缀匹配来实现最精确匹配</a:t>
            </a:r>
          </a:p>
          <a:p>
            <a:pPr marL="360363" lvl="0" indent="-360363">
              <a:spcBef>
                <a:spcPts val="600"/>
              </a:spcBef>
              <a:buFont typeface="Wingdings" pitchFamily="2" charset="2"/>
              <a:buChar char="Ø"/>
            </a:pPr>
            <a:r>
              <a:rPr lang="en-US" altLang="zh-CN" sz="2400" dirty="0">
                <a:solidFill>
                  <a:prstClr val="black"/>
                </a:solidFill>
                <a:latin typeface="Microsoft YaHei" panose="020B0503020204020204" pitchFamily="34" charset="-122"/>
                <a:ea typeface="Microsoft YaHei" panose="020B0503020204020204" pitchFamily="34" charset="-122"/>
              </a:rPr>
              <a:t>IP</a:t>
            </a:r>
            <a:r>
              <a:rPr lang="zh-CN" altLang="en-US" sz="2400" dirty="0">
                <a:solidFill>
                  <a:prstClr val="black"/>
                </a:solidFill>
                <a:latin typeface="Microsoft YaHei" panose="020B0503020204020204" pitchFamily="34" charset="-122"/>
                <a:ea typeface="Microsoft YaHei" panose="020B0503020204020204" pitchFamily="34" charset="-122"/>
              </a:rPr>
              <a:t>地址与</a:t>
            </a:r>
            <a:r>
              <a:rPr lang="en-US" altLang="zh-CN" sz="2400" dirty="0">
                <a:solidFill>
                  <a:prstClr val="black"/>
                </a:solidFill>
                <a:latin typeface="Microsoft YaHei" panose="020B0503020204020204" pitchFamily="34" charset="-122"/>
                <a:ea typeface="Microsoft YaHei" panose="020B0503020204020204" pitchFamily="34" charset="-122"/>
              </a:rPr>
              <a:t>IP</a:t>
            </a:r>
            <a:r>
              <a:rPr lang="zh-CN" altLang="en-US" sz="2400" dirty="0">
                <a:solidFill>
                  <a:prstClr val="black"/>
                </a:solidFill>
                <a:latin typeface="Microsoft YaHei" panose="020B0503020204020204" pitchFamily="34" charset="-122"/>
                <a:ea typeface="Microsoft YaHei" panose="020B0503020204020204" pitchFamily="34" charset="-122"/>
              </a:rPr>
              <a:t>前缀匹配时，总是选取</a:t>
            </a:r>
            <a:r>
              <a:rPr lang="zh-CN" altLang="en-US" sz="2400" dirty="0">
                <a:solidFill>
                  <a:srgbClr val="C00000"/>
                </a:solidFill>
                <a:latin typeface="Microsoft YaHei" panose="020B0503020204020204" pitchFamily="34" charset="-122"/>
                <a:ea typeface="Microsoft YaHei" panose="020B0503020204020204" pitchFamily="34" charset="-122"/>
              </a:rPr>
              <a:t>子网掩码最长</a:t>
            </a:r>
            <a:r>
              <a:rPr lang="zh-CN" altLang="en-US" sz="2400" dirty="0">
                <a:solidFill>
                  <a:prstClr val="black"/>
                </a:solidFill>
                <a:latin typeface="Microsoft YaHei" panose="020B0503020204020204" pitchFamily="34" charset="-122"/>
                <a:ea typeface="Microsoft YaHei" panose="020B0503020204020204" pitchFamily="34" charset="-122"/>
              </a:rPr>
              <a:t>的匹配项</a:t>
            </a:r>
            <a:endParaRPr lang="en-US" altLang="zh-CN" sz="2400" dirty="0">
              <a:solidFill>
                <a:prstClr val="black"/>
              </a:solidFill>
              <a:latin typeface="Microsoft YaHei" panose="020B0503020204020204" pitchFamily="34" charset="-122"/>
              <a:ea typeface="Microsoft YaHei" panose="020B0503020204020204" pitchFamily="34" charset="-122"/>
            </a:endParaRPr>
          </a:p>
          <a:p>
            <a:pPr marL="360363" lvl="0" indent="-360363">
              <a:spcBef>
                <a:spcPts val="600"/>
              </a:spcBef>
              <a:buFont typeface="Wingdings" pitchFamily="2" charset="2"/>
              <a:buChar char="Ø"/>
            </a:pPr>
            <a:r>
              <a:rPr lang="zh-CN" altLang="en-US" sz="2400" dirty="0">
                <a:solidFill>
                  <a:prstClr val="black"/>
                </a:solidFill>
                <a:latin typeface="Microsoft YaHei" panose="020B0503020204020204" pitchFamily="34" charset="-122"/>
                <a:ea typeface="Microsoft YaHei" panose="020B0503020204020204" pitchFamily="34" charset="-122"/>
              </a:rPr>
              <a:t>主要用于路由器转发表项的匹配，也应用于</a:t>
            </a:r>
            <a:r>
              <a:rPr lang="en-US" altLang="zh-CN" sz="2400" dirty="0">
                <a:solidFill>
                  <a:prstClr val="black"/>
                </a:solidFill>
                <a:latin typeface="Microsoft YaHei" panose="020B0503020204020204" pitchFamily="34" charset="-122"/>
                <a:ea typeface="Microsoft YaHei" panose="020B0503020204020204" pitchFamily="34" charset="-122"/>
              </a:rPr>
              <a:t>ACL</a:t>
            </a:r>
            <a:r>
              <a:rPr lang="zh-CN" altLang="en-US" sz="2400" dirty="0">
                <a:solidFill>
                  <a:prstClr val="black"/>
                </a:solidFill>
                <a:latin typeface="Microsoft YaHei" panose="020B0503020204020204" pitchFamily="34" charset="-122"/>
                <a:ea typeface="Microsoft YaHei" panose="020B0503020204020204" pitchFamily="34" charset="-122"/>
              </a:rPr>
              <a:t>规则匹配等</a:t>
            </a:r>
          </a:p>
          <a:p>
            <a:pPr marL="360363" lvl="0" indent="-360363">
              <a:spcBef>
                <a:spcPts val="600"/>
              </a:spcBef>
              <a:buFont typeface="Wingdings" pitchFamily="2" charset="2"/>
              <a:buChar char="Ø"/>
            </a:pPr>
            <a:endParaRPr lang="zh-CN" altLang="en-US" sz="2400" dirty="0">
              <a:solidFill>
                <a:prstClr val="black"/>
              </a:solidFill>
              <a:latin typeface="Microsoft YaHei" panose="020B0503020204020204" pitchFamily="34" charset="-122"/>
              <a:ea typeface="Microsoft YaHei" panose="020B0503020204020204" pitchFamily="34" charset="-122"/>
            </a:endParaRPr>
          </a:p>
          <a:p>
            <a:pPr lvl="0">
              <a:spcBef>
                <a:spcPts val="600"/>
              </a:spcBef>
            </a:pPr>
            <a:endParaRPr lang="en-US" altLang="zh-CN" sz="2400" dirty="0">
              <a:solidFill>
                <a:prstClr val="black"/>
              </a:solidFill>
              <a:latin typeface="Microsoft YaHei" panose="020B0503020204020204" pitchFamily="34" charset="-122"/>
              <a:ea typeface="Microsoft YaHei" panose="020B0503020204020204" pitchFamily="34" charset="-122"/>
            </a:endParaRPr>
          </a:p>
        </p:txBody>
      </p:sp>
      <p:graphicFrame>
        <p:nvGraphicFramePr>
          <p:cNvPr id="21" name="表格 20"/>
          <p:cNvGraphicFramePr>
            <a:graphicFrameLocks noGrp="1"/>
          </p:cNvGraphicFramePr>
          <p:nvPr/>
        </p:nvGraphicFramePr>
        <p:xfrm>
          <a:off x="959064" y="3242846"/>
          <a:ext cx="9911256" cy="1981200"/>
        </p:xfrm>
        <a:graphic>
          <a:graphicData uri="http://schemas.openxmlformats.org/drawingml/2006/table">
            <a:tbl>
              <a:tblPr firstRow="1" bandRow="1">
                <a:tableStyleId>{5C22544A-7EE6-4342-B048-85BDC9FD1C3A}</a:tableStyleId>
              </a:tblPr>
              <a:tblGrid>
                <a:gridCol w="3058509">
                  <a:extLst>
                    <a:ext uri="{9D8B030D-6E8A-4147-A177-3AD203B41FA5}">
                      <a16:colId xmlns:a16="http://schemas.microsoft.com/office/drawing/2014/main" val="3525241146"/>
                    </a:ext>
                  </a:extLst>
                </a:gridCol>
                <a:gridCol w="5411903">
                  <a:extLst>
                    <a:ext uri="{9D8B030D-6E8A-4147-A177-3AD203B41FA5}">
                      <a16:colId xmlns:a16="http://schemas.microsoft.com/office/drawing/2014/main" val="3338336265"/>
                    </a:ext>
                  </a:extLst>
                </a:gridCol>
                <a:gridCol w="1440844">
                  <a:extLst>
                    <a:ext uri="{9D8B030D-6E8A-4147-A177-3AD203B41FA5}">
                      <a16:colId xmlns:a16="http://schemas.microsoft.com/office/drawing/2014/main" val="3315553543"/>
                    </a:ext>
                  </a:extLst>
                </a:gridCol>
              </a:tblGrid>
              <a:tr h="370840">
                <a:tc gridSpan="2">
                  <a:txBody>
                    <a:bodyPr/>
                    <a:lstStyle/>
                    <a:p>
                      <a:pPr algn="ct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前缀（</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种描述方式）</a:t>
                      </a:r>
                    </a:p>
                  </a:txBody>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2400" dirty="0"/>
                    </a:p>
                  </a:txBody>
                  <a:tcPr/>
                </a:tc>
                <a:tc>
                  <a:txBody>
                    <a:bodyPr/>
                    <a:lstStyle/>
                    <a:p>
                      <a:r>
                        <a:rPr lang="zh-CN" altLang="en-US" sz="2000" dirty="0">
                          <a:latin typeface="微软雅黑" panose="020B0503020204020204" pitchFamily="34" charset="-122"/>
                          <a:ea typeface="微软雅黑" panose="020B0503020204020204" pitchFamily="34" charset="-122"/>
                        </a:rPr>
                        <a:t>出接口号</a:t>
                      </a:r>
                    </a:p>
                  </a:txBody>
                  <a:tcPr/>
                </a:tc>
                <a:extLst>
                  <a:ext uri="{0D108BD9-81ED-4DB2-BD59-A6C34878D82A}">
                    <a16:rowId xmlns:a16="http://schemas.microsoft.com/office/drawing/2014/main" val="257205593"/>
                  </a:ext>
                </a:extLst>
              </a:tr>
              <a:tr h="370840">
                <a:tc>
                  <a:txBody>
                    <a:bodyPr/>
                    <a:lstStyle/>
                    <a:p>
                      <a:pPr algn="ctr"/>
                      <a:r>
                        <a:rPr lang="en-US" altLang="zh-CN" sz="2000" dirty="0">
                          <a:latin typeface="微软雅黑" panose="020B0503020204020204" pitchFamily="34" charset="-122"/>
                          <a:ea typeface="微软雅黑" panose="020B0503020204020204" pitchFamily="34" charset="-122"/>
                        </a:rPr>
                        <a:t>200.23.16.0/21</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11001000 00010111 00010</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0</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44729015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latin typeface="微软雅黑" panose="020B0503020204020204" pitchFamily="34" charset="-122"/>
                          <a:ea typeface="微软雅黑" panose="020B0503020204020204" pitchFamily="34" charset="-122"/>
                        </a:rPr>
                        <a:t>200.23.24.0/24</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11001000 00010111 00011000</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1</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267498272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latin typeface="微软雅黑" panose="020B0503020204020204" pitchFamily="34" charset="-122"/>
                          <a:ea typeface="微软雅黑" panose="020B0503020204020204" pitchFamily="34" charset="-122"/>
                        </a:rPr>
                        <a:t>200.23.24.0/21</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11001000 00010111 00011</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2</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3676229166"/>
                  </a:ext>
                </a:extLst>
              </a:tr>
              <a:tr h="370840">
                <a:tc>
                  <a:txBody>
                    <a:bodyPr/>
                    <a:lstStyle/>
                    <a:p>
                      <a:pPr algn="ctr"/>
                      <a:r>
                        <a:rPr lang="en-US" altLang="zh-CN" sz="2000" dirty="0">
                          <a:latin typeface="微软雅黑" panose="020B0503020204020204" pitchFamily="34" charset="-122"/>
                          <a:ea typeface="微软雅黑" panose="020B0503020204020204" pitchFamily="34" charset="-122"/>
                        </a:rPr>
                        <a:t>Otherwise</a:t>
                      </a:r>
                      <a:r>
                        <a:rPr lang="en-US" altLang="zh-CN" sz="2000" baseline="0" dirty="0">
                          <a:latin typeface="微软雅黑" panose="020B0503020204020204" pitchFamily="34" charset="-122"/>
                          <a:ea typeface="微软雅黑" panose="020B0503020204020204" pitchFamily="34" charset="-122"/>
                        </a:rPr>
                        <a:t> 0.0.0.0/0</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3</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3439016825"/>
                  </a:ext>
                </a:extLst>
              </a:tr>
            </a:tbl>
          </a:graphicData>
        </a:graphic>
      </p:graphicFrame>
      <p:sp>
        <p:nvSpPr>
          <p:cNvPr id="22" name="内容占位符 2">
            <a:extLst>
              <a:ext uri="{FF2B5EF4-FFF2-40B4-BE49-F238E27FC236}">
                <a16:creationId xmlns:a16="http://schemas.microsoft.com/office/drawing/2014/main" id="{DB830B1C-0706-7E41-AE1A-DEBBD115D846}"/>
              </a:ext>
            </a:extLst>
          </p:cNvPr>
          <p:cNvSpPr txBox="1">
            <a:spLocks/>
          </p:cNvSpPr>
          <p:nvPr/>
        </p:nvSpPr>
        <p:spPr>
          <a:xfrm>
            <a:off x="682861" y="5468573"/>
            <a:ext cx="10690107" cy="874475"/>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zh-CN" sz="2200" dirty="0">
                <a:solidFill>
                  <a:srgbClr val="7030A0"/>
                </a:solidFill>
              </a:rPr>
              <a:t>IP</a:t>
            </a:r>
            <a:r>
              <a:rPr lang="zh-CN" altLang="en-US" sz="2200" dirty="0">
                <a:solidFill>
                  <a:srgbClr val="7030A0"/>
                </a:solidFill>
              </a:rPr>
              <a:t>地址：</a:t>
            </a:r>
            <a:r>
              <a:rPr lang="en-US" altLang="zh-CN" sz="2200" dirty="0">
                <a:solidFill>
                  <a:srgbClr val="7030A0"/>
                </a:solidFill>
              </a:rPr>
              <a:t>200.23.22.161 </a:t>
            </a:r>
            <a:r>
              <a:rPr lang="zh-CN" altLang="en-US" sz="2200" dirty="0">
                <a:solidFill>
                  <a:srgbClr val="7030A0"/>
                </a:solidFill>
              </a:rPr>
              <a:t>（</a:t>
            </a:r>
            <a:r>
              <a:rPr lang="en-US" altLang="zh-CN" sz="2200" dirty="0">
                <a:solidFill>
                  <a:srgbClr val="7030A0"/>
                </a:solidFill>
                <a:ea typeface="宋体" panose="02010600030101010101" pitchFamily="2" charset="-122"/>
              </a:rPr>
              <a:t> 11001000  00010111  00010110  10100001 </a:t>
            </a:r>
            <a:r>
              <a:rPr lang="zh-CN" altLang="en-US" sz="2200" dirty="0">
                <a:solidFill>
                  <a:srgbClr val="7030A0"/>
                </a:solidFill>
              </a:rPr>
              <a:t>），接口</a:t>
            </a:r>
            <a:r>
              <a:rPr lang="en-US" altLang="zh-CN" sz="2200" dirty="0">
                <a:solidFill>
                  <a:srgbClr val="7030A0"/>
                </a:solidFill>
              </a:rPr>
              <a:t>0</a:t>
            </a:r>
          </a:p>
          <a:p>
            <a:pPr marL="0" indent="0">
              <a:buNone/>
            </a:pPr>
            <a:r>
              <a:rPr lang="en-US" altLang="zh-CN" sz="2200" dirty="0">
                <a:solidFill>
                  <a:srgbClr val="7030A0"/>
                </a:solidFill>
              </a:rPr>
              <a:t>IP</a:t>
            </a:r>
            <a:r>
              <a:rPr lang="zh-CN" altLang="en-US" sz="2200" dirty="0">
                <a:solidFill>
                  <a:srgbClr val="7030A0"/>
                </a:solidFill>
              </a:rPr>
              <a:t>地址：</a:t>
            </a:r>
            <a:r>
              <a:rPr lang="en-US" altLang="zh-CN" sz="2200" dirty="0">
                <a:solidFill>
                  <a:srgbClr val="7030A0"/>
                </a:solidFill>
              </a:rPr>
              <a:t>200.23.24.170 </a:t>
            </a:r>
            <a:r>
              <a:rPr lang="zh-CN" altLang="en-US" sz="2200" dirty="0">
                <a:solidFill>
                  <a:srgbClr val="7030A0"/>
                </a:solidFill>
              </a:rPr>
              <a:t>（</a:t>
            </a:r>
            <a:r>
              <a:rPr lang="en-US" altLang="zh-CN" sz="2200" dirty="0">
                <a:solidFill>
                  <a:srgbClr val="7030A0"/>
                </a:solidFill>
                <a:ea typeface="宋体" panose="02010600030101010101" pitchFamily="2" charset="-122"/>
              </a:rPr>
              <a:t> 11001000  00010111  00011000  10101010 </a:t>
            </a:r>
            <a:r>
              <a:rPr lang="zh-CN" altLang="en-US" sz="2200" dirty="0">
                <a:solidFill>
                  <a:srgbClr val="7030A0"/>
                </a:solidFill>
              </a:rPr>
              <a:t>），接口</a:t>
            </a:r>
            <a:r>
              <a:rPr lang="en-US" altLang="zh-CN" sz="2200" dirty="0">
                <a:solidFill>
                  <a:srgbClr val="7030A0"/>
                </a:solidFill>
              </a:rPr>
              <a:t>2</a:t>
            </a:r>
          </a:p>
        </p:txBody>
      </p:sp>
      <p:pic>
        <p:nvPicPr>
          <p:cNvPr id="8" name="Picture 28" descr="015">
            <a:extLst>
              <a:ext uri="{FF2B5EF4-FFF2-40B4-BE49-F238E27FC236}">
                <a16:creationId xmlns:a16="http://schemas.microsoft.com/office/drawing/2014/main" id="{FE0AB65D-5435-4D2A-9C9D-C317B3F8D09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57173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最长前缀匹配</a:t>
            </a:r>
          </a:p>
        </p:txBody>
      </p:sp>
      <p:sp>
        <p:nvSpPr>
          <p:cNvPr id="35"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130</a:t>
            </a:fld>
            <a:endParaRPr kumimoji="1" lang="zh-CN" altLang="en-US" dirty="0"/>
          </a:p>
        </p:txBody>
      </p:sp>
      <p:sp>
        <p:nvSpPr>
          <p:cNvPr id="9" name="TextBox 156"/>
          <p:cNvSpPr txBox="1">
            <a:spLocks noChangeArrowheads="1"/>
          </p:cNvSpPr>
          <p:nvPr/>
        </p:nvSpPr>
        <p:spPr bwMode="auto">
          <a:xfrm>
            <a:off x="2940535" y="1602398"/>
            <a:ext cx="5338763" cy="2246313"/>
          </a:xfrm>
          <a:prstGeom prst="rect">
            <a:avLst/>
          </a:prstGeom>
          <a:solidFill>
            <a:schemeClr val="accent2">
              <a:lumMod val="20000"/>
              <a:lumOff val="80000"/>
            </a:schemeClr>
          </a:solidFill>
          <a:ln>
            <a:noFill/>
          </a:ln>
        </p:spPr>
        <p:txBody>
          <a:bodyPr>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latin typeface="微软雅黑" panose="020B0503020204020204" pitchFamily="34" charset="-122"/>
                <a:ea typeface="微软雅黑" panose="020B0503020204020204" pitchFamily="34" charset="-122"/>
              </a:rPr>
              <a:t>2.128.0.0/9         interface 1</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2.192.0.0/10       interface 2</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2.0.0.0/8             interface 3</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2.2.3.0/24           interface 4</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0.0.0.0/0             interface 5</a:t>
            </a:r>
          </a:p>
        </p:txBody>
      </p:sp>
      <p:sp>
        <p:nvSpPr>
          <p:cNvPr id="10" name="TextBox 169"/>
          <p:cNvSpPr txBox="1">
            <a:spLocks noChangeArrowheads="1"/>
          </p:cNvSpPr>
          <p:nvPr/>
        </p:nvSpPr>
        <p:spPr bwMode="auto">
          <a:xfrm>
            <a:off x="1059334" y="4648200"/>
            <a:ext cx="1950194"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2.5.1.2</a:t>
            </a:r>
          </a:p>
        </p:txBody>
      </p:sp>
      <p:sp>
        <p:nvSpPr>
          <p:cNvPr id="11" name="TextBox 176"/>
          <p:cNvSpPr txBox="1">
            <a:spLocks noChangeArrowheads="1"/>
          </p:cNvSpPr>
          <p:nvPr/>
        </p:nvSpPr>
        <p:spPr bwMode="auto">
          <a:xfrm>
            <a:off x="6517519" y="4616848"/>
            <a:ext cx="2120879"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2.200.1.2</a:t>
            </a:r>
          </a:p>
        </p:txBody>
      </p:sp>
      <p:sp>
        <p:nvSpPr>
          <p:cNvPr id="12" name="TextBox 187"/>
          <p:cNvSpPr txBox="1">
            <a:spLocks noChangeArrowheads="1"/>
          </p:cNvSpPr>
          <p:nvPr/>
        </p:nvSpPr>
        <p:spPr bwMode="auto">
          <a:xfrm>
            <a:off x="1059911" y="5554390"/>
            <a:ext cx="1949040"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2.150.1.2</a:t>
            </a:r>
          </a:p>
        </p:txBody>
      </p:sp>
      <p:sp>
        <p:nvSpPr>
          <p:cNvPr id="13" name="TextBox 188"/>
          <p:cNvSpPr txBox="1">
            <a:spLocks noChangeArrowheads="1"/>
          </p:cNvSpPr>
          <p:nvPr/>
        </p:nvSpPr>
        <p:spPr bwMode="auto">
          <a:xfrm>
            <a:off x="6517519" y="5545193"/>
            <a:ext cx="2120879"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3.150.1.2</a:t>
            </a:r>
          </a:p>
        </p:txBody>
      </p:sp>
      <p:sp>
        <p:nvSpPr>
          <p:cNvPr id="14" name="内容占位符 2"/>
          <p:cNvSpPr>
            <a:spLocks noGrp="1"/>
          </p:cNvSpPr>
          <p:nvPr>
            <p:ph idx="1"/>
          </p:nvPr>
        </p:nvSpPr>
        <p:spPr>
          <a:xfrm>
            <a:off x="1653017" y="3975225"/>
            <a:ext cx="8372988" cy="641623"/>
          </a:xfrm>
          <a:noFill/>
        </p:spPr>
        <p:txBody>
          <a:bodyPr>
            <a:noAutofit/>
          </a:bodyPr>
          <a:lstStyle/>
          <a:p>
            <a:pPr marL="0" indent="0" algn="ctr">
              <a:buNone/>
            </a:pPr>
            <a:r>
              <a:rPr lang="zh-CN" altLang="en-US" sz="2400" dirty="0">
                <a:solidFill>
                  <a:srgbClr val="C00000"/>
                </a:solidFill>
                <a:latin typeface="微软雅黑" panose="020B0503020204020204" pitchFamily="34" charset="-122"/>
                <a:ea typeface="微软雅黑" panose="020B0503020204020204" pitchFamily="34" charset="-122"/>
              </a:rPr>
              <a:t>根据最长前缀匹配，下述目的</a:t>
            </a:r>
            <a:r>
              <a:rPr lang="en-US" altLang="zh-CN" sz="2400" dirty="0">
                <a:solidFill>
                  <a:srgbClr val="C00000"/>
                </a:solidFill>
                <a:latin typeface="微软雅黑" panose="020B0503020204020204" pitchFamily="34" charset="-122"/>
                <a:ea typeface="微软雅黑" panose="020B0503020204020204" pitchFamily="34" charset="-122"/>
              </a:rPr>
              <a:t>IP</a:t>
            </a:r>
            <a:r>
              <a:rPr lang="zh-CN" altLang="en-US" sz="2400" dirty="0">
                <a:solidFill>
                  <a:srgbClr val="C00000"/>
                </a:solidFill>
                <a:latin typeface="微软雅黑" panose="020B0503020204020204" pitchFamily="34" charset="-122"/>
                <a:ea typeface="微软雅黑" panose="020B0503020204020204" pitchFamily="34" charset="-122"/>
              </a:rPr>
              <a:t>将匹配哪个表项（出接口）？</a:t>
            </a:r>
            <a:endParaRPr lang="zh-CN" altLang="en-US" sz="2400" dirty="0">
              <a:latin typeface="微软雅黑" panose="020B0503020204020204" pitchFamily="34" charset="-122"/>
              <a:ea typeface="微软雅黑" panose="020B0503020204020204" pitchFamily="34" charset="-122"/>
            </a:endParaRPr>
          </a:p>
        </p:txBody>
      </p:sp>
      <p:sp>
        <p:nvSpPr>
          <p:cNvPr id="15" name="内容占位符 2"/>
          <p:cNvSpPr txBox="1">
            <a:spLocks/>
          </p:cNvSpPr>
          <p:nvPr/>
        </p:nvSpPr>
        <p:spPr>
          <a:xfrm>
            <a:off x="2680648" y="4648200"/>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3 </a:t>
            </a:r>
            <a:endParaRPr lang="zh-CN" altLang="en-US" sz="2400" dirty="0">
              <a:latin typeface="微软雅黑" panose="020B0503020204020204" pitchFamily="34" charset="-122"/>
              <a:ea typeface="微软雅黑" panose="020B0503020204020204" pitchFamily="34" charset="-122"/>
            </a:endParaRPr>
          </a:p>
        </p:txBody>
      </p:sp>
      <p:sp>
        <p:nvSpPr>
          <p:cNvPr id="16" name="内容占位符 2"/>
          <p:cNvSpPr txBox="1">
            <a:spLocks/>
          </p:cNvSpPr>
          <p:nvPr/>
        </p:nvSpPr>
        <p:spPr>
          <a:xfrm>
            <a:off x="8519145" y="4648200"/>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2 </a:t>
            </a:r>
            <a:endParaRPr lang="zh-CN" altLang="en-US" sz="2400" dirty="0">
              <a:latin typeface="微软雅黑" panose="020B0503020204020204" pitchFamily="34" charset="-122"/>
              <a:ea typeface="微软雅黑" panose="020B0503020204020204" pitchFamily="34" charset="-122"/>
            </a:endParaRPr>
          </a:p>
        </p:txBody>
      </p:sp>
      <p:sp>
        <p:nvSpPr>
          <p:cNvPr id="17" name="内容占位符 2"/>
          <p:cNvSpPr txBox="1">
            <a:spLocks/>
          </p:cNvSpPr>
          <p:nvPr/>
        </p:nvSpPr>
        <p:spPr>
          <a:xfrm>
            <a:off x="2680648" y="5548641"/>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1 </a:t>
            </a:r>
            <a:endParaRPr lang="zh-CN" altLang="en-US" sz="2400" dirty="0">
              <a:latin typeface="微软雅黑" panose="020B0503020204020204" pitchFamily="34" charset="-122"/>
              <a:ea typeface="微软雅黑" panose="020B0503020204020204" pitchFamily="34" charset="-122"/>
            </a:endParaRPr>
          </a:p>
        </p:txBody>
      </p:sp>
      <p:sp>
        <p:nvSpPr>
          <p:cNvPr id="18" name="内容占位符 2"/>
          <p:cNvSpPr txBox="1">
            <a:spLocks/>
          </p:cNvSpPr>
          <p:nvPr/>
        </p:nvSpPr>
        <p:spPr>
          <a:xfrm>
            <a:off x="8519145" y="5548641"/>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5 </a:t>
            </a:r>
            <a:endParaRPr lang="zh-CN" altLang="en-US" sz="2400" dirty="0">
              <a:latin typeface="微软雅黑" panose="020B0503020204020204" pitchFamily="34" charset="-122"/>
              <a:ea typeface="微软雅黑" panose="020B0503020204020204" pitchFamily="34" charset="-122"/>
            </a:endParaRPr>
          </a:p>
        </p:txBody>
      </p:sp>
      <p:pic>
        <p:nvPicPr>
          <p:cNvPr id="19" name="Picture 28" descr="015">
            <a:extLst>
              <a:ext uri="{FF2B5EF4-FFF2-40B4-BE49-F238E27FC236}">
                <a16:creationId xmlns:a16="http://schemas.microsoft.com/office/drawing/2014/main" id="{EC870416-02F2-4063-8D1E-656652009DA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7117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p:bldP spid="16" grpId="0"/>
      <p:bldP spid="17" grpId="0"/>
      <p:bldP spid="18"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IP</a:t>
            </a:r>
            <a:r>
              <a:rPr lang="zh-CN" altLang="en-US" dirty="0"/>
              <a:t>包转发</a:t>
            </a:r>
          </a:p>
        </p:txBody>
      </p:sp>
      <p:sp>
        <p:nvSpPr>
          <p:cNvPr id="3" name="内容占位符 2"/>
          <p:cNvSpPr>
            <a:spLocks noGrp="1"/>
          </p:cNvSpPr>
          <p:nvPr>
            <p:ph idx="1"/>
          </p:nvPr>
        </p:nvSpPr>
        <p:spPr/>
        <p:txBody>
          <a:bodyPr/>
          <a:lstStyle/>
          <a:p>
            <a:r>
              <a:rPr lang="zh-CN" altLang="en-US" dirty="0">
                <a:solidFill>
                  <a:srgbClr val="C00000"/>
                </a:solidFill>
              </a:rPr>
              <a:t>直接交付</a:t>
            </a:r>
            <a:r>
              <a:rPr lang="zh-CN" altLang="en-US" dirty="0"/>
              <a:t>：与目的主机在同一个</a:t>
            </a:r>
            <a:r>
              <a:rPr lang="en-US" dirty="0"/>
              <a:t>IP</a:t>
            </a:r>
            <a:r>
              <a:rPr lang="zh-CN" altLang="en-US" dirty="0"/>
              <a:t>子网内</a:t>
            </a:r>
          </a:p>
        </p:txBody>
      </p:sp>
      <p:sp>
        <p:nvSpPr>
          <p:cNvPr id="7" name="Text Box 7"/>
          <p:cNvSpPr txBox="1">
            <a:spLocks noChangeArrowheads="1"/>
          </p:cNvSpPr>
          <p:nvPr/>
        </p:nvSpPr>
        <p:spPr bwMode="auto">
          <a:xfrm>
            <a:off x="7728587" y="5317138"/>
            <a:ext cx="3144000" cy="584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sz="1600" dirty="0">
                <a:solidFill>
                  <a:srgbClr val="000000"/>
                </a:solidFill>
                <a:latin typeface="微软雅黑" pitchFamily="34" charset="-122"/>
                <a:ea typeface="微软雅黑" pitchFamily="34" charset="-122"/>
              </a:rPr>
              <a:t>IP</a:t>
            </a:r>
            <a:r>
              <a:rPr lang="zh-CN" altLang="en-US" sz="1600" dirty="0">
                <a:solidFill>
                  <a:srgbClr val="000000"/>
                </a:solidFill>
                <a:latin typeface="微软雅黑" pitchFamily="34" charset="-122"/>
                <a:ea typeface="微软雅黑" pitchFamily="34" charset="-122"/>
              </a:rPr>
              <a:t>地址：	</a:t>
            </a:r>
            <a:r>
              <a:rPr lang="en-US" altLang="zh-CN" sz="1600" dirty="0">
                <a:solidFill>
                  <a:srgbClr val="000000"/>
                </a:solidFill>
                <a:latin typeface="微软雅黑" pitchFamily="34" charset="-122"/>
                <a:ea typeface="微软雅黑" pitchFamily="34" charset="-122"/>
              </a:rPr>
              <a:t>192.168.1.3</a:t>
            </a:r>
          </a:p>
          <a:p>
            <a:pPr algn="just" eaLnBrk="1"/>
            <a:r>
              <a:rPr lang="en-US" altLang="zh-CN" sz="1600" dirty="0">
                <a:solidFill>
                  <a:srgbClr val="000000"/>
                </a:solidFill>
                <a:latin typeface="微软雅黑" pitchFamily="34" charset="-122"/>
                <a:ea typeface="微软雅黑" pitchFamily="34" charset="-122"/>
              </a:rPr>
              <a:t>MAC</a:t>
            </a:r>
            <a:r>
              <a:rPr lang="zh-CN" altLang="en-US" sz="1600" dirty="0">
                <a:solidFill>
                  <a:srgbClr val="000000"/>
                </a:solidFill>
                <a:latin typeface="微软雅黑" pitchFamily="34" charset="-122"/>
                <a:ea typeface="微软雅黑" pitchFamily="34" charset="-122"/>
              </a:rPr>
              <a:t>地址：</a:t>
            </a:r>
            <a:r>
              <a:rPr lang="en-US" altLang="zh-CN" sz="1600" dirty="0">
                <a:solidFill>
                  <a:srgbClr val="000000"/>
                </a:solidFill>
                <a:latin typeface="微软雅黑" pitchFamily="34" charset="-122"/>
                <a:ea typeface="微软雅黑" pitchFamily="34" charset="-122"/>
              </a:rPr>
              <a:t>00:20:AF:00:00:03</a:t>
            </a:r>
          </a:p>
        </p:txBody>
      </p:sp>
      <p:sp>
        <p:nvSpPr>
          <p:cNvPr id="8" name="Text Box 9"/>
          <p:cNvSpPr txBox="1">
            <a:spLocks noChangeArrowheads="1"/>
          </p:cNvSpPr>
          <p:nvPr/>
        </p:nvSpPr>
        <p:spPr bwMode="auto">
          <a:xfrm>
            <a:off x="1668837" y="5340521"/>
            <a:ext cx="2562057" cy="584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192.168.1.1</a:t>
            </a:r>
          </a:p>
          <a:p>
            <a:pPr algn="just"/>
            <a:r>
              <a:rPr lang="en-US" altLang="zh-CN" sz="1600" dirty="0">
                <a:solidFill>
                  <a:srgbClr val="000000"/>
                </a:solidFill>
                <a:latin typeface="微软雅黑" pitchFamily="34" charset="-122"/>
                <a:ea typeface="微软雅黑" pitchFamily="34" charset="-122"/>
              </a:rPr>
              <a:t>MAC</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00:20:AF:00:00:01</a:t>
            </a:r>
          </a:p>
        </p:txBody>
      </p:sp>
      <p:pic>
        <p:nvPicPr>
          <p:cNvPr id="9" name="Picture 45" descr="图片3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92578" y="3079898"/>
            <a:ext cx="1153211" cy="466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46"/>
          <p:cNvGrpSpPr>
            <a:grpSpLocks/>
          </p:cNvGrpSpPr>
          <p:nvPr/>
        </p:nvGrpSpPr>
        <p:grpSpPr bwMode="auto">
          <a:xfrm>
            <a:off x="3398647" y="4838007"/>
            <a:ext cx="503537" cy="438834"/>
            <a:chOff x="0" y="1872"/>
            <a:chExt cx="573" cy="518"/>
          </a:xfrm>
        </p:grpSpPr>
        <p:pic>
          <p:nvPicPr>
            <p:cNvPr id="3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Rectangle 48"/>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11" name="Group 49"/>
          <p:cNvGrpSpPr>
            <a:grpSpLocks/>
          </p:cNvGrpSpPr>
          <p:nvPr/>
        </p:nvGrpSpPr>
        <p:grpSpPr bwMode="auto">
          <a:xfrm>
            <a:off x="5919509" y="4839390"/>
            <a:ext cx="503536" cy="438835"/>
            <a:chOff x="0" y="1872"/>
            <a:chExt cx="573" cy="518"/>
          </a:xfrm>
        </p:grpSpPr>
        <p:pic>
          <p:nvPicPr>
            <p:cNvPr id="33"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Rectangle 51"/>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12" name="Group 52"/>
          <p:cNvGrpSpPr>
            <a:grpSpLocks/>
          </p:cNvGrpSpPr>
          <p:nvPr/>
        </p:nvGrpSpPr>
        <p:grpSpPr bwMode="auto">
          <a:xfrm>
            <a:off x="8515027" y="4839390"/>
            <a:ext cx="503536" cy="438835"/>
            <a:chOff x="0" y="1872"/>
            <a:chExt cx="573" cy="518"/>
          </a:xfrm>
        </p:grpSpPr>
        <p:pic>
          <p:nvPicPr>
            <p:cNvPr id="31"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54"/>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sp>
        <p:nvSpPr>
          <p:cNvPr id="13" name="Text Box 55"/>
          <p:cNvSpPr txBox="1">
            <a:spLocks noChangeArrowheads="1"/>
          </p:cNvSpPr>
          <p:nvPr/>
        </p:nvSpPr>
        <p:spPr bwMode="auto">
          <a:xfrm>
            <a:off x="5077230" y="5340520"/>
            <a:ext cx="2770336" cy="584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192.168.1.2</a:t>
            </a:r>
          </a:p>
          <a:p>
            <a:pPr algn="just"/>
            <a:r>
              <a:rPr lang="en-US" altLang="zh-CN" sz="1600" dirty="0">
                <a:solidFill>
                  <a:srgbClr val="000000"/>
                </a:solidFill>
                <a:latin typeface="微软雅黑" pitchFamily="34" charset="-122"/>
                <a:ea typeface="微软雅黑" pitchFamily="34" charset="-122"/>
              </a:rPr>
              <a:t>MAC</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00:20:AF:00:00:02</a:t>
            </a:r>
          </a:p>
        </p:txBody>
      </p:sp>
      <p:sp>
        <p:nvSpPr>
          <p:cNvPr id="14" name="Text Box 40"/>
          <p:cNvSpPr txBox="1">
            <a:spLocks noChangeArrowheads="1"/>
          </p:cNvSpPr>
          <p:nvPr/>
        </p:nvSpPr>
        <p:spPr bwMode="auto">
          <a:xfrm>
            <a:off x="3460791" y="4791519"/>
            <a:ext cx="357399" cy="375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A</a:t>
            </a:r>
          </a:p>
        </p:txBody>
      </p:sp>
      <p:sp>
        <p:nvSpPr>
          <p:cNvPr id="15" name="Text Box 56"/>
          <p:cNvSpPr txBox="1">
            <a:spLocks noChangeArrowheads="1"/>
          </p:cNvSpPr>
          <p:nvPr/>
        </p:nvSpPr>
        <p:spPr bwMode="auto">
          <a:xfrm>
            <a:off x="5984430" y="4804669"/>
            <a:ext cx="357400" cy="319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B</a:t>
            </a:r>
          </a:p>
        </p:txBody>
      </p:sp>
      <p:sp>
        <p:nvSpPr>
          <p:cNvPr id="16" name="Text Box 57"/>
          <p:cNvSpPr txBox="1">
            <a:spLocks noChangeArrowheads="1"/>
          </p:cNvSpPr>
          <p:nvPr/>
        </p:nvSpPr>
        <p:spPr bwMode="auto">
          <a:xfrm>
            <a:off x="8560487" y="4794941"/>
            <a:ext cx="357400" cy="319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C</a:t>
            </a:r>
          </a:p>
        </p:txBody>
      </p:sp>
      <p:sp>
        <p:nvSpPr>
          <p:cNvPr id="17" name="Line 58"/>
          <p:cNvSpPr>
            <a:spLocks noChangeShapeType="1"/>
          </p:cNvSpPr>
          <p:nvPr/>
        </p:nvSpPr>
        <p:spPr bwMode="auto">
          <a:xfrm flipH="1">
            <a:off x="3759225" y="3520118"/>
            <a:ext cx="2233353" cy="13178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18" name="Line 59"/>
          <p:cNvSpPr>
            <a:spLocks noChangeShapeType="1"/>
          </p:cNvSpPr>
          <p:nvPr/>
        </p:nvSpPr>
        <p:spPr bwMode="auto">
          <a:xfrm flipH="1">
            <a:off x="6208606" y="3582412"/>
            <a:ext cx="142960" cy="12555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19" name="Line 60"/>
          <p:cNvSpPr>
            <a:spLocks noChangeShapeType="1"/>
          </p:cNvSpPr>
          <p:nvPr/>
        </p:nvSpPr>
        <p:spPr bwMode="auto">
          <a:xfrm>
            <a:off x="7001239" y="3394143"/>
            <a:ext cx="1656748" cy="14438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20" name="Text Box 61"/>
          <p:cNvSpPr txBox="1">
            <a:spLocks noChangeArrowheads="1"/>
          </p:cNvSpPr>
          <p:nvPr/>
        </p:nvSpPr>
        <p:spPr bwMode="auto">
          <a:xfrm>
            <a:off x="5122105" y="3268168"/>
            <a:ext cx="941945"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Fei_1/1</a:t>
            </a:r>
          </a:p>
        </p:txBody>
      </p:sp>
      <p:sp>
        <p:nvSpPr>
          <p:cNvPr id="21" name="Text Box 62"/>
          <p:cNvSpPr txBox="1">
            <a:spLocks noChangeArrowheads="1"/>
          </p:cNvSpPr>
          <p:nvPr/>
        </p:nvSpPr>
        <p:spPr bwMode="auto">
          <a:xfrm>
            <a:off x="6280077" y="3504890"/>
            <a:ext cx="1008662"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Fei_1/2</a:t>
            </a:r>
          </a:p>
        </p:txBody>
      </p:sp>
      <p:sp>
        <p:nvSpPr>
          <p:cNvPr id="22" name="Text Box 63"/>
          <p:cNvSpPr txBox="1">
            <a:spLocks noChangeArrowheads="1"/>
          </p:cNvSpPr>
          <p:nvPr/>
        </p:nvSpPr>
        <p:spPr bwMode="auto">
          <a:xfrm>
            <a:off x="7001230" y="3205873"/>
            <a:ext cx="1168287"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Fei_1/3</a:t>
            </a:r>
          </a:p>
        </p:txBody>
      </p:sp>
      <p:sp>
        <p:nvSpPr>
          <p:cNvPr id="23" name="Text Box 64"/>
          <p:cNvSpPr txBox="1">
            <a:spLocks noChangeArrowheads="1"/>
          </p:cNvSpPr>
          <p:nvPr/>
        </p:nvSpPr>
        <p:spPr bwMode="auto">
          <a:xfrm>
            <a:off x="6064049" y="2703359"/>
            <a:ext cx="1224689"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Switch</a:t>
            </a:r>
          </a:p>
        </p:txBody>
      </p:sp>
      <p:sp>
        <p:nvSpPr>
          <p:cNvPr id="25" name="Rectangle 77"/>
          <p:cNvSpPr>
            <a:spLocks noChangeArrowheads="1"/>
          </p:cNvSpPr>
          <p:nvPr/>
        </p:nvSpPr>
        <p:spPr bwMode="auto">
          <a:xfrm>
            <a:off x="7865341" y="2153569"/>
            <a:ext cx="2689170" cy="1240573"/>
          </a:xfrm>
          <a:prstGeom prst="rect">
            <a:avLst/>
          </a:prstGeom>
          <a:solidFill>
            <a:srgbClr val="E7FFE7"/>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l"/>
            <a:r>
              <a:rPr lang="en-US" altLang="zh-CN" sz="1200" dirty="0">
                <a:solidFill>
                  <a:srgbClr val="000000"/>
                </a:solidFill>
              </a:rPr>
              <a:t>         </a:t>
            </a:r>
          </a:p>
          <a:p>
            <a:pPr algn="just"/>
            <a:r>
              <a:rPr lang="en-US" altLang="zh-CN" sz="1200" dirty="0">
                <a:solidFill>
                  <a:srgbClr val="000000"/>
                </a:solidFill>
              </a:rPr>
              <a:t>          </a:t>
            </a:r>
            <a:r>
              <a:rPr lang="en-US" altLang="zh-CN" sz="1600" dirty="0">
                <a:solidFill>
                  <a:srgbClr val="000000"/>
                </a:solidFill>
                <a:latin typeface="微软雅黑" pitchFamily="34" charset="-122"/>
                <a:ea typeface="微软雅黑" pitchFamily="34" charset="-122"/>
              </a:rPr>
              <a:t>MAC             Port</a:t>
            </a:r>
          </a:p>
          <a:p>
            <a:pPr algn="just"/>
            <a:r>
              <a:rPr lang="en-US" altLang="zh-CN" sz="1600" dirty="0">
                <a:solidFill>
                  <a:srgbClr val="000000"/>
                </a:solidFill>
                <a:latin typeface="微软雅黑" pitchFamily="34" charset="-122"/>
                <a:ea typeface="微软雅黑" pitchFamily="34" charset="-122"/>
              </a:rPr>
              <a:t>00:20:af:00:00:01   fei_1/1</a:t>
            </a:r>
          </a:p>
          <a:p>
            <a:pPr algn="l"/>
            <a:endParaRPr lang="en-US" altLang="zh-CN" dirty="0">
              <a:solidFill>
                <a:srgbClr val="000000"/>
              </a:solidFill>
            </a:endParaRPr>
          </a:p>
          <a:p>
            <a:pPr algn="l"/>
            <a:endParaRPr lang="en-US" altLang="zh-CN" dirty="0">
              <a:solidFill>
                <a:srgbClr val="000000"/>
              </a:solidFill>
            </a:endParaRPr>
          </a:p>
          <a:p>
            <a:pPr algn="l"/>
            <a:endParaRPr lang="en-US" altLang="zh-CN" dirty="0">
              <a:solidFill>
                <a:srgbClr val="000000"/>
              </a:solidFill>
            </a:endParaRPr>
          </a:p>
        </p:txBody>
      </p:sp>
      <p:grpSp>
        <p:nvGrpSpPr>
          <p:cNvPr id="82" name="组合 81"/>
          <p:cNvGrpSpPr/>
          <p:nvPr/>
        </p:nvGrpSpPr>
        <p:grpSpPr>
          <a:xfrm>
            <a:off x="1309960" y="2451806"/>
            <a:ext cx="2728400" cy="2709813"/>
            <a:chOff x="1307508" y="2450302"/>
            <a:chExt cx="2728400" cy="2709813"/>
          </a:xfrm>
        </p:grpSpPr>
        <p:grpSp>
          <p:nvGrpSpPr>
            <p:cNvPr id="75" name="组合 74"/>
            <p:cNvGrpSpPr/>
            <p:nvPr/>
          </p:nvGrpSpPr>
          <p:grpSpPr>
            <a:xfrm>
              <a:off x="1307508" y="2450302"/>
              <a:ext cx="2728400" cy="1887680"/>
              <a:chOff x="2281479" y="2631408"/>
              <a:chExt cx="2728400" cy="1887680"/>
            </a:xfrm>
          </p:grpSpPr>
          <p:sp>
            <p:nvSpPr>
              <p:cNvPr id="76" name="Rectangle 28"/>
              <p:cNvSpPr>
                <a:spLocks noChangeArrowheads="1"/>
              </p:cNvSpPr>
              <p:nvPr/>
            </p:nvSpPr>
            <p:spPr bwMode="auto">
              <a:xfrm>
                <a:off x="2281479" y="297250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MAC: </a:t>
                </a:r>
                <a:r>
                  <a:rPr lang="en-US" altLang="zh-CN" sz="1600" dirty="0" err="1">
                    <a:solidFill>
                      <a:srgbClr val="000000"/>
                    </a:solidFill>
                    <a:latin typeface="微软雅黑" pitchFamily="34" charset="-122"/>
                    <a:ea typeface="微软雅黑" pitchFamily="34" charset="-122"/>
                  </a:rPr>
                  <a:t>ff:ff:ff:ff:ff:ff</a:t>
                </a:r>
                <a:endParaRPr lang="en-US" altLang="zh-CN" sz="1600" dirty="0">
                  <a:solidFill>
                    <a:srgbClr val="000000"/>
                  </a:solidFill>
                  <a:latin typeface="微软雅黑" pitchFamily="34" charset="-122"/>
                  <a:ea typeface="微软雅黑" pitchFamily="34" charset="-122"/>
                </a:endParaRPr>
              </a:p>
            </p:txBody>
          </p:sp>
          <p:sp>
            <p:nvSpPr>
              <p:cNvPr id="77" name="Rectangle 29"/>
              <p:cNvSpPr>
                <a:spLocks noChangeArrowheads="1"/>
              </p:cNvSpPr>
              <p:nvPr/>
            </p:nvSpPr>
            <p:spPr bwMode="auto">
              <a:xfrm>
                <a:off x="2281479" y="336868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MAC:00:20:af:00:00:01 </a:t>
                </a:r>
              </a:p>
            </p:txBody>
          </p:sp>
          <p:sp>
            <p:nvSpPr>
              <p:cNvPr id="78" name="Rectangle 30"/>
              <p:cNvSpPr>
                <a:spLocks noChangeArrowheads="1"/>
              </p:cNvSpPr>
              <p:nvPr/>
            </p:nvSpPr>
            <p:spPr bwMode="auto">
              <a:xfrm>
                <a:off x="2281479" y="3752152"/>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IP: 192.169.1.2 </a:t>
                </a:r>
              </a:p>
            </p:txBody>
          </p:sp>
          <p:sp>
            <p:nvSpPr>
              <p:cNvPr id="79" name="Rectangle 31"/>
              <p:cNvSpPr>
                <a:spLocks noChangeArrowheads="1"/>
              </p:cNvSpPr>
              <p:nvPr/>
            </p:nvSpPr>
            <p:spPr bwMode="auto">
              <a:xfrm>
                <a:off x="2281479" y="4135620"/>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IP: 192.169.1.1</a:t>
                </a:r>
              </a:p>
            </p:txBody>
          </p:sp>
          <p:sp>
            <p:nvSpPr>
              <p:cNvPr id="80" name="Text Box 32"/>
              <p:cNvSpPr txBox="1">
                <a:spLocks noChangeArrowheads="1"/>
              </p:cNvSpPr>
              <p:nvPr/>
            </p:nvSpPr>
            <p:spPr bwMode="auto">
              <a:xfrm>
                <a:off x="2438632" y="2631408"/>
                <a:ext cx="2234221" cy="34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ctr">
                  <a:spcBef>
                    <a:spcPct val="50000"/>
                  </a:spcBef>
                </a:pPr>
                <a:r>
                  <a:rPr lang="en-US" altLang="zh-CN" sz="1600" dirty="0">
                    <a:solidFill>
                      <a:srgbClr val="000000"/>
                    </a:solidFill>
                    <a:latin typeface="微软雅黑" pitchFamily="34" charset="-122"/>
                    <a:ea typeface="微软雅黑" pitchFamily="34" charset="-122"/>
                  </a:rPr>
                  <a:t>ARP</a:t>
                </a:r>
                <a:r>
                  <a:rPr lang="zh-CN" altLang="en-US" sz="1600" dirty="0">
                    <a:solidFill>
                      <a:srgbClr val="000000"/>
                    </a:solidFill>
                    <a:latin typeface="微软雅黑" pitchFamily="34" charset="-122"/>
                    <a:ea typeface="微软雅黑" pitchFamily="34" charset="-122"/>
                  </a:rPr>
                  <a:t>请求</a:t>
                </a:r>
              </a:p>
            </p:txBody>
          </p:sp>
        </p:grpSp>
        <p:sp>
          <p:nvSpPr>
            <p:cNvPr id="81" name="Text Box 40"/>
            <p:cNvSpPr txBox="1">
              <a:spLocks noChangeArrowheads="1"/>
            </p:cNvSpPr>
            <p:nvPr/>
          </p:nvSpPr>
          <p:spPr bwMode="auto">
            <a:xfrm>
              <a:off x="3459443" y="4784632"/>
              <a:ext cx="357399" cy="375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C00000"/>
                  </a:solidFill>
                </a:rPr>
                <a:t>A</a:t>
              </a:r>
            </a:p>
          </p:txBody>
        </p:sp>
      </p:grpSp>
      <p:grpSp>
        <p:nvGrpSpPr>
          <p:cNvPr id="85" name="组合 84"/>
          <p:cNvGrpSpPr/>
          <p:nvPr/>
        </p:nvGrpSpPr>
        <p:grpSpPr>
          <a:xfrm>
            <a:off x="1173776" y="2330473"/>
            <a:ext cx="5175008" cy="2843177"/>
            <a:chOff x="1173776" y="2330473"/>
            <a:chExt cx="5175008" cy="2843177"/>
          </a:xfrm>
        </p:grpSpPr>
        <p:grpSp>
          <p:nvGrpSpPr>
            <p:cNvPr id="74" name="组合 73"/>
            <p:cNvGrpSpPr/>
            <p:nvPr/>
          </p:nvGrpSpPr>
          <p:grpSpPr>
            <a:xfrm>
              <a:off x="1173776" y="2330473"/>
              <a:ext cx="2728400" cy="1887680"/>
              <a:chOff x="2281479" y="2631408"/>
              <a:chExt cx="2728400" cy="1887680"/>
            </a:xfrm>
          </p:grpSpPr>
          <p:sp>
            <p:nvSpPr>
              <p:cNvPr id="69" name="Rectangle 28"/>
              <p:cNvSpPr>
                <a:spLocks noChangeArrowheads="1"/>
              </p:cNvSpPr>
              <p:nvPr/>
            </p:nvSpPr>
            <p:spPr bwMode="auto">
              <a:xfrm>
                <a:off x="2281479" y="297250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MAC:00:20:af:00:00:01</a:t>
                </a:r>
              </a:p>
            </p:txBody>
          </p:sp>
          <p:sp>
            <p:nvSpPr>
              <p:cNvPr id="70" name="Rectangle 29"/>
              <p:cNvSpPr>
                <a:spLocks noChangeArrowheads="1"/>
              </p:cNvSpPr>
              <p:nvPr/>
            </p:nvSpPr>
            <p:spPr bwMode="auto">
              <a:xfrm>
                <a:off x="2281479" y="336868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MAC:00:20:af:00:00:02 </a:t>
                </a:r>
              </a:p>
            </p:txBody>
          </p:sp>
          <p:sp>
            <p:nvSpPr>
              <p:cNvPr id="71" name="Rectangle 30"/>
              <p:cNvSpPr>
                <a:spLocks noChangeArrowheads="1"/>
              </p:cNvSpPr>
              <p:nvPr/>
            </p:nvSpPr>
            <p:spPr bwMode="auto">
              <a:xfrm>
                <a:off x="2281479" y="3752152"/>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IP: 192.169.1.1</a:t>
                </a:r>
              </a:p>
            </p:txBody>
          </p:sp>
          <p:sp>
            <p:nvSpPr>
              <p:cNvPr id="72" name="Rectangle 31"/>
              <p:cNvSpPr>
                <a:spLocks noChangeArrowheads="1"/>
              </p:cNvSpPr>
              <p:nvPr/>
            </p:nvSpPr>
            <p:spPr bwMode="auto">
              <a:xfrm>
                <a:off x="2281479" y="4135620"/>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IP: 192.169.1.2</a:t>
                </a:r>
              </a:p>
            </p:txBody>
          </p:sp>
          <p:sp>
            <p:nvSpPr>
              <p:cNvPr id="73" name="Text Box 32"/>
              <p:cNvSpPr txBox="1">
                <a:spLocks noChangeArrowheads="1"/>
              </p:cNvSpPr>
              <p:nvPr/>
            </p:nvSpPr>
            <p:spPr bwMode="auto">
              <a:xfrm>
                <a:off x="2438632" y="2631408"/>
                <a:ext cx="2234221" cy="34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ctr">
                  <a:spcBef>
                    <a:spcPct val="50000"/>
                  </a:spcBef>
                </a:pPr>
                <a:r>
                  <a:rPr lang="en-US" altLang="zh-CN" sz="1600" dirty="0">
                    <a:solidFill>
                      <a:srgbClr val="000000"/>
                    </a:solidFill>
                    <a:latin typeface="微软雅黑" pitchFamily="34" charset="-122"/>
                    <a:ea typeface="微软雅黑" pitchFamily="34" charset="-122"/>
                  </a:rPr>
                  <a:t>ARP</a:t>
                </a:r>
                <a:r>
                  <a:rPr lang="zh-CN" altLang="en-US" sz="1600" dirty="0">
                    <a:solidFill>
                      <a:srgbClr val="000000"/>
                    </a:solidFill>
                    <a:latin typeface="微软雅黑" pitchFamily="34" charset="-122"/>
                    <a:ea typeface="微软雅黑" pitchFamily="34" charset="-122"/>
                  </a:rPr>
                  <a:t>响应</a:t>
                </a:r>
              </a:p>
            </p:txBody>
          </p:sp>
        </p:grpSp>
        <p:sp>
          <p:nvSpPr>
            <p:cNvPr id="83" name="Text Box 56"/>
            <p:cNvSpPr txBox="1">
              <a:spLocks noChangeArrowheads="1"/>
            </p:cNvSpPr>
            <p:nvPr/>
          </p:nvSpPr>
          <p:spPr bwMode="auto">
            <a:xfrm>
              <a:off x="5991384" y="4804326"/>
              <a:ext cx="357400" cy="369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C00000"/>
                  </a:solidFill>
                </a:rPr>
                <a:t>B</a:t>
              </a:r>
            </a:p>
          </p:txBody>
        </p:sp>
      </p:grpSp>
      <p:grpSp>
        <p:nvGrpSpPr>
          <p:cNvPr id="88" name="组合 87"/>
          <p:cNvGrpSpPr/>
          <p:nvPr/>
        </p:nvGrpSpPr>
        <p:grpSpPr>
          <a:xfrm>
            <a:off x="7865341" y="2159573"/>
            <a:ext cx="2689170" cy="1345317"/>
            <a:chOff x="7865341" y="3440819"/>
            <a:chExt cx="2689170" cy="1345317"/>
          </a:xfrm>
        </p:grpSpPr>
        <p:sp>
          <p:nvSpPr>
            <p:cNvPr id="86" name="Rectangle 33"/>
            <p:cNvSpPr>
              <a:spLocks noChangeArrowheads="1"/>
            </p:cNvSpPr>
            <p:nvPr/>
          </p:nvSpPr>
          <p:spPr bwMode="auto">
            <a:xfrm>
              <a:off x="7865341" y="3440819"/>
              <a:ext cx="2689170" cy="1345317"/>
            </a:xfrm>
            <a:prstGeom prst="rect">
              <a:avLst/>
            </a:prstGeom>
            <a:solidFill>
              <a:srgbClr val="E7FFE7"/>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l"/>
              <a:r>
                <a:rPr lang="en-US" altLang="zh-CN" sz="1200" dirty="0">
                  <a:solidFill>
                    <a:srgbClr val="000000"/>
                  </a:solidFill>
                </a:rPr>
                <a:t>         </a:t>
              </a:r>
            </a:p>
            <a:p>
              <a:pPr algn="l"/>
              <a:r>
                <a:rPr lang="en-US" altLang="zh-CN" sz="1200" dirty="0">
                  <a:solidFill>
                    <a:srgbClr val="000000"/>
                  </a:solidFill>
                </a:rPr>
                <a:t>          </a:t>
              </a:r>
              <a:r>
                <a:rPr lang="en-US" altLang="zh-CN" sz="1600" dirty="0">
                  <a:solidFill>
                    <a:srgbClr val="000000"/>
                  </a:solidFill>
                  <a:latin typeface="微软雅黑" pitchFamily="34" charset="-122"/>
                  <a:ea typeface="微软雅黑" pitchFamily="34" charset="-122"/>
                </a:rPr>
                <a:t>MAC             Port</a:t>
              </a:r>
            </a:p>
            <a:p>
              <a:pPr algn="l"/>
              <a:r>
                <a:rPr lang="en-US" altLang="zh-CN" sz="1600" dirty="0">
                  <a:solidFill>
                    <a:srgbClr val="000000"/>
                  </a:solidFill>
                  <a:latin typeface="微软雅黑" pitchFamily="34" charset="-122"/>
                  <a:ea typeface="微软雅黑" pitchFamily="34" charset="-122"/>
                </a:rPr>
                <a:t>00:20:af:00:00:01   fei_1/1</a:t>
              </a:r>
            </a:p>
            <a:p>
              <a:pPr algn="l"/>
              <a:r>
                <a:rPr lang="en-US" altLang="zh-CN" sz="1600" dirty="0">
                  <a:solidFill>
                    <a:srgbClr val="000000"/>
                  </a:solidFill>
                  <a:latin typeface="微软雅黑" pitchFamily="34" charset="-122"/>
                  <a:ea typeface="微软雅黑" pitchFamily="34" charset="-122"/>
                </a:rPr>
                <a:t>00:20:af:00:00:02   fei_1/2</a:t>
              </a:r>
            </a:p>
            <a:p>
              <a:pPr algn="l"/>
              <a:endParaRPr lang="en-US" altLang="zh-CN" dirty="0">
                <a:solidFill>
                  <a:srgbClr val="000000"/>
                </a:solidFill>
              </a:endParaRPr>
            </a:p>
            <a:p>
              <a:pPr algn="l"/>
              <a:endParaRPr lang="en-US" altLang="zh-CN" dirty="0">
                <a:solidFill>
                  <a:srgbClr val="000000"/>
                </a:solidFill>
              </a:endParaRPr>
            </a:p>
          </p:txBody>
        </p:sp>
        <p:sp>
          <p:nvSpPr>
            <p:cNvPr id="87" name="Rectangle 38"/>
            <p:cNvSpPr>
              <a:spLocks noChangeArrowheads="1"/>
            </p:cNvSpPr>
            <p:nvPr/>
          </p:nvSpPr>
          <p:spPr bwMode="auto">
            <a:xfrm>
              <a:off x="7949726" y="3781825"/>
              <a:ext cx="2488053" cy="527536"/>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endParaRPr lang="zh-CN" altLang="en-US">
                <a:solidFill>
                  <a:srgbClr val="FFFFFF"/>
                </a:solidFill>
              </a:endParaRPr>
            </a:p>
          </p:txBody>
        </p:sp>
      </p:grpSp>
      <p:sp>
        <p:nvSpPr>
          <p:cNvPr id="89"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0"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131</a:t>
            </a:fld>
            <a:endParaRPr kumimoji="1" lang="zh-CN" altLang="en-US" dirty="0"/>
          </a:p>
        </p:txBody>
      </p:sp>
      <p:pic>
        <p:nvPicPr>
          <p:cNvPr id="49" name="Picture 28" descr="015">
            <a:extLst>
              <a:ext uri="{FF2B5EF4-FFF2-40B4-BE49-F238E27FC236}">
                <a16:creationId xmlns:a16="http://schemas.microsoft.com/office/drawing/2014/main" id="{529FBD9A-C78B-4C6B-83F0-8FB9560076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22975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2"/>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82"/>
                                        </p:tgtEl>
                                        <p:attrNameLst>
                                          <p:attrName>style.visibility</p:attrName>
                                        </p:attrNameLst>
                                      </p:cBhvr>
                                      <p:to>
                                        <p:strVal val="hidden"/>
                                      </p:to>
                                    </p:set>
                                  </p:childTnLst>
                                </p:cTn>
                              </p:par>
                              <p:par>
                                <p:cTn id="14" presetID="1" presetClass="exit" presetSubtype="0" fill="hold" grpId="1" nodeType="withEffect">
                                  <p:stCondLst>
                                    <p:cond delay="0"/>
                                  </p:stCondLst>
                                  <p:childTnLst>
                                    <p:set>
                                      <p:cBhvr>
                                        <p:cTn id="15" dur="1" fill="hold">
                                          <p:stCondLst>
                                            <p:cond delay="0"/>
                                          </p:stCondLst>
                                        </p:cTn>
                                        <p:tgtEl>
                                          <p:spTgt spid="2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85"/>
                                        </p:tgtEl>
                                        <p:attrNameLst>
                                          <p:attrName>style.visibility</p:attrName>
                                        </p:attrNameLst>
                                      </p:cBhvr>
                                      <p:to>
                                        <p:strVal val="visible"/>
                                      </p:to>
                                    </p:set>
                                  </p:childTnLst>
                                </p:cTn>
                              </p:par>
                            </p:childTnLst>
                          </p:cTn>
                        </p:par>
                        <p:par>
                          <p:cTn id="20" fill="hold">
                            <p:stCondLst>
                              <p:cond delay="0"/>
                            </p:stCondLst>
                            <p:childTnLst>
                              <p:par>
                                <p:cTn id="21" presetID="1" presetClass="entr" presetSubtype="0"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nodeType="clickEffect">
                                  <p:stCondLst>
                                    <p:cond delay="0"/>
                                  </p:stCondLst>
                                  <p:childTnLst>
                                    <p:set>
                                      <p:cBhvr>
                                        <p:cTn id="26" dur="1" fill="hold">
                                          <p:stCondLst>
                                            <p:cond delay="0"/>
                                          </p:stCondLst>
                                        </p:cTn>
                                        <p:tgtEl>
                                          <p:spTgt spid="85"/>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IP</a:t>
            </a:r>
            <a:r>
              <a:rPr lang="zh-CN" altLang="en-US" dirty="0"/>
              <a:t>包转发</a:t>
            </a:r>
          </a:p>
        </p:txBody>
      </p:sp>
      <p:sp>
        <p:nvSpPr>
          <p:cNvPr id="3" name="内容占位符 2"/>
          <p:cNvSpPr>
            <a:spLocks noGrp="1"/>
          </p:cNvSpPr>
          <p:nvPr>
            <p:ph idx="1"/>
          </p:nvPr>
        </p:nvSpPr>
        <p:spPr/>
        <p:txBody>
          <a:bodyPr/>
          <a:lstStyle/>
          <a:p>
            <a:r>
              <a:rPr lang="zh-CN" altLang="en-US" dirty="0">
                <a:solidFill>
                  <a:srgbClr val="C00000"/>
                </a:solidFill>
              </a:rPr>
              <a:t>间接交付</a:t>
            </a:r>
            <a:r>
              <a:rPr lang="zh-CN" altLang="en-US" dirty="0"/>
              <a:t>：与目的主机不在同一个</a:t>
            </a:r>
            <a:r>
              <a:rPr lang="en-US" dirty="0"/>
              <a:t>IP</a:t>
            </a:r>
            <a:r>
              <a:rPr lang="zh-CN" altLang="en-US" dirty="0"/>
              <a:t>子网内</a:t>
            </a:r>
          </a:p>
        </p:txBody>
      </p:sp>
      <p:sp>
        <p:nvSpPr>
          <p:cNvPr id="89"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0"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132</a:t>
            </a:fld>
            <a:endParaRPr kumimoji="1" lang="zh-CN" altLang="en-US" dirty="0"/>
          </a:p>
        </p:txBody>
      </p:sp>
      <p:grpSp>
        <p:nvGrpSpPr>
          <p:cNvPr id="49" name="组合 48"/>
          <p:cNvGrpSpPr/>
          <p:nvPr/>
        </p:nvGrpSpPr>
        <p:grpSpPr>
          <a:xfrm>
            <a:off x="1143009" y="2110356"/>
            <a:ext cx="9635238" cy="4181507"/>
            <a:chOff x="177804" y="1557338"/>
            <a:chExt cx="8966196" cy="4852028"/>
          </a:xfrm>
        </p:grpSpPr>
        <p:sp>
          <p:nvSpPr>
            <p:cNvPr id="50" name="Text Box 34"/>
            <p:cNvSpPr txBox="1">
              <a:spLocks noChangeArrowheads="1"/>
            </p:cNvSpPr>
            <p:nvPr/>
          </p:nvSpPr>
          <p:spPr bwMode="auto">
            <a:xfrm>
              <a:off x="6629400" y="5445125"/>
              <a:ext cx="2514600" cy="96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 10.1.1.9/30</a:t>
              </a:r>
            </a:p>
            <a:p>
              <a:pPr algn="just"/>
              <a:r>
                <a:rPr lang="en-US" altLang="zh-CN" sz="1600" dirty="0">
                  <a:solidFill>
                    <a:srgbClr val="000000"/>
                  </a:solidFill>
                  <a:latin typeface="微软雅黑" pitchFamily="34" charset="-122"/>
                  <a:ea typeface="微软雅黑" pitchFamily="34" charset="-122"/>
                </a:rPr>
                <a:t>G:  10.1.1.10                        </a:t>
              </a:r>
            </a:p>
            <a:p>
              <a:pPr algn="just"/>
              <a:r>
                <a:rPr lang="en-US" altLang="zh-CN" sz="1600" dirty="0">
                  <a:solidFill>
                    <a:srgbClr val="000000"/>
                  </a:solidFill>
                  <a:latin typeface="微软雅黑" pitchFamily="34" charset="-122"/>
                  <a:ea typeface="微软雅黑" pitchFamily="34" charset="-122"/>
                </a:rPr>
                <a:t>MAC:00:20:AF:00:00:03</a:t>
              </a:r>
            </a:p>
          </p:txBody>
        </p:sp>
        <p:grpSp>
          <p:nvGrpSpPr>
            <p:cNvPr id="51" name="Group 36"/>
            <p:cNvGrpSpPr>
              <a:grpSpLocks/>
            </p:cNvGrpSpPr>
            <p:nvPr/>
          </p:nvGrpSpPr>
          <p:grpSpPr bwMode="auto">
            <a:xfrm>
              <a:off x="1908175" y="4868863"/>
              <a:ext cx="503238" cy="503237"/>
              <a:chOff x="0" y="1872"/>
              <a:chExt cx="573" cy="518"/>
            </a:xfrm>
          </p:grpSpPr>
          <p:pic>
            <p:nvPicPr>
              <p:cNvPr id="95" name="Picture 3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Rectangle 38"/>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52" name="Group 39"/>
            <p:cNvGrpSpPr>
              <a:grpSpLocks/>
            </p:cNvGrpSpPr>
            <p:nvPr/>
          </p:nvGrpSpPr>
          <p:grpSpPr bwMode="auto">
            <a:xfrm>
              <a:off x="4427538" y="4870450"/>
              <a:ext cx="503237" cy="503238"/>
              <a:chOff x="0" y="1872"/>
              <a:chExt cx="573" cy="518"/>
            </a:xfrm>
          </p:grpSpPr>
          <p:pic>
            <p:nvPicPr>
              <p:cNvPr id="93"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41"/>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53" name="Group 42"/>
            <p:cNvGrpSpPr>
              <a:grpSpLocks/>
            </p:cNvGrpSpPr>
            <p:nvPr/>
          </p:nvGrpSpPr>
          <p:grpSpPr bwMode="auto">
            <a:xfrm>
              <a:off x="7021513" y="4870450"/>
              <a:ext cx="503237" cy="503238"/>
              <a:chOff x="0" y="1872"/>
              <a:chExt cx="573" cy="518"/>
            </a:xfrm>
          </p:grpSpPr>
          <p:pic>
            <p:nvPicPr>
              <p:cNvPr id="91"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44"/>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sp>
          <p:nvSpPr>
            <p:cNvPr id="54" name="Text Box 45"/>
            <p:cNvSpPr txBox="1">
              <a:spLocks noChangeArrowheads="1"/>
            </p:cNvSpPr>
            <p:nvPr/>
          </p:nvSpPr>
          <p:spPr bwMode="auto">
            <a:xfrm>
              <a:off x="4002088" y="5445125"/>
              <a:ext cx="2514600" cy="96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IP:10.1.1.5/30</a:t>
              </a:r>
            </a:p>
            <a:p>
              <a:pPr algn="just"/>
              <a:r>
                <a:rPr lang="en-US" altLang="zh-CN" sz="1600" dirty="0">
                  <a:solidFill>
                    <a:srgbClr val="000000"/>
                  </a:solidFill>
                  <a:latin typeface="微软雅黑" pitchFamily="34" charset="-122"/>
                  <a:ea typeface="微软雅黑" pitchFamily="34" charset="-122"/>
                </a:rPr>
                <a:t>G: 10.1.1.6</a:t>
              </a:r>
            </a:p>
            <a:p>
              <a:pPr algn="just"/>
              <a:r>
                <a:rPr lang="en-US" altLang="zh-CN" sz="1600" dirty="0">
                  <a:solidFill>
                    <a:srgbClr val="000000"/>
                  </a:solidFill>
                  <a:latin typeface="微软雅黑" pitchFamily="34" charset="-122"/>
                  <a:ea typeface="微软雅黑" pitchFamily="34" charset="-122"/>
                </a:rPr>
                <a:t>MAC:00:20:AF:00:00:02</a:t>
              </a:r>
            </a:p>
          </p:txBody>
        </p:sp>
        <p:sp>
          <p:nvSpPr>
            <p:cNvPr id="55" name="Text Box 46"/>
            <p:cNvSpPr txBox="1">
              <a:spLocks noChangeArrowheads="1"/>
            </p:cNvSpPr>
            <p:nvPr/>
          </p:nvSpPr>
          <p:spPr bwMode="auto">
            <a:xfrm>
              <a:off x="1960157" y="4823711"/>
              <a:ext cx="357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A</a:t>
              </a:r>
            </a:p>
          </p:txBody>
        </p:sp>
        <p:sp>
          <p:nvSpPr>
            <p:cNvPr id="56" name="Text Box 47"/>
            <p:cNvSpPr txBox="1">
              <a:spLocks noChangeArrowheads="1"/>
            </p:cNvSpPr>
            <p:nvPr/>
          </p:nvSpPr>
          <p:spPr bwMode="auto">
            <a:xfrm>
              <a:off x="4502150" y="4830236"/>
              <a:ext cx="357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B</a:t>
              </a:r>
            </a:p>
          </p:txBody>
        </p:sp>
        <p:sp>
          <p:nvSpPr>
            <p:cNvPr id="57" name="Text Box 48"/>
            <p:cNvSpPr txBox="1">
              <a:spLocks noChangeArrowheads="1"/>
            </p:cNvSpPr>
            <p:nvPr/>
          </p:nvSpPr>
          <p:spPr bwMode="auto">
            <a:xfrm>
              <a:off x="7096125" y="4830236"/>
              <a:ext cx="357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C</a:t>
              </a:r>
            </a:p>
          </p:txBody>
        </p:sp>
        <p:sp>
          <p:nvSpPr>
            <p:cNvPr id="58" name="Line 49"/>
            <p:cNvSpPr>
              <a:spLocks noChangeShapeType="1"/>
            </p:cNvSpPr>
            <p:nvPr/>
          </p:nvSpPr>
          <p:spPr bwMode="auto">
            <a:xfrm flipH="1">
              <a:off x="2268538" y="3357563"/>
              <a:ext cx="2232025" cy="15113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59" name="Line 50"/>
            <p:cNvSpPr>
              <a:spLocks noChangeShapeType="1"/>
            </p:cNvSpPr>
            <p:nvPr/>
          </p:nvSpPr>
          <p:spPr bwMode="auto">
            <a:xfrm flipH="1">
              <a:off x="4716463" y="3429000"/>
              <a:ext cx="142875" cy="14398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60" name="Line 51"/>
            <p:cNvSpPr>
              <a:spLocks noChangeShapeType="1"/>
            </p:cNvSpPr>
            <p:nvPr/>
          </p:nvSpPr>
          <p:spPr bwMode="auto">
            <a:xfrm>
              <a:off x="5508625" y="3213100"/>
              <a:ext cx="1655763" cy="16557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61" name="Text Box 55"/>
            <p:cNvSpPr txBox="1">
              <a:spLocks noChangeArrowheads="1"/>
            </p:cNvSpPr>
            <p:nvPr/>
          </p:nvSpPr>
          <p:spPr bwMode="auto">
            <a:xfrm>
              <a:off x="4356100" y="2276475"/>
              <a:ext cx="1223963" cy="395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ctr">
                <a:spcBef>
                  <a:spcPct val="50000"/>
                </a:spcBef>
              </a:pPr>
              <a:r>
                <a:rPr lang="en-US" altLang="zh-CN" sz="1600" dirty="0">
                  <a:solidFill>
                    <a:srgbClr val="000000"/>
                  </a:solidFill>
                  <a:latin typeface="微软雅黑" pitchFamily="34" charset="-122"/>
                  <a:ea typeface="微软雅黑" pitchFamily="34" charset="-122"/>
                </a:rPr>
                <a:t>Router</a:t>
              </a:r>
            </a:p>
          </p:txBody>
        </p:sp>
        <p:pic>
          <p:nvPicPr>
            <p:cNvPr id="62" name="Picture 56" descr="图片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0563" y="2708275"/>
              <a:ext cx="935037" cy="712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 Box 57"/>
            <p:cNvSpPr txBox="1">
              <a:spLocks noChangeArrowheads="1"/>
            </p:cNvSpPr>
            <p:nvPr/>
          </p:nvSpPr>
          <p:spPr bwMode="auto">
            <a:xfrm>
              <a:off x="1552575" y="5432425"/>
              <a:ext cx="2514600" cy="96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sz="1600" dirty="0">
                  <a:solidFill>
                    <a:srgbClr val="000000"/>
                  </a:solidFill>
                  <a:latin typeface="微软雅黑" pitchFamily="34" charset="-122"/>
                  <a:ea typeface="微软雅黑" pitchFamily="34" charset="-122"/>
                </a:rPr>
                <a:t>IP: 10.1.1.1/30</a:t>
              </a:r>
            </a:p>
            <a:p>
              <a:pPr algn="just" eaLnBrk="1"/>
              <a:r>
                <a:rPr lang="en-US" altLang="zh-CN" sz="1600" dirty="0">
                  <a:solidFill>
                    <a:srgbClr val="000000"/>
                  </a:solidFill>
                  <a:latin typeface="微软雅黑" pitchFamily="34" charset="-122"/>
                  <a:ea typeface="微软雅黑" pitchFamily="34" charset="-122"/>
                </a:rPr>
                <a:t>G: 10.1.1.2</a:t>
              </a:r>
            </a:p>
            <a:p>
              <a:pPr algn="just" eaLnBrk="1"/>
              <a:r>
                <a:rPr lang="en-US" altLang="zh-CN" sz="1600" dirty="0">
                  <a:solidFill>
                    <a:srgbClr val="000000"/>
                  </a:solidFill>
                  <a:latin typeface="微软雅黑" pitchFamily="34" charset="-122"/>
                  <a:ea typeface="微软雅黑" pitchFamily="34" charset="-122"/>
                </a:rPr>
                <a:t>MAC:00:20:AF:00:00:01</a:t>
              </a:r>
            </a:p>
          </p:txBody>
        </p:sp>
        <p:sp>
          <p:nvSpPr>
            <p:cNvPr id="65" name="Text Box 62"/>
            <p:cNvSpPr txBox="1">
              <a:spLocks noChangeArrowheads="1"/>
            </p:cNvSpPr>
            <p:nvPr/>
          </p:nvSpPr>
          <p:spPr bwMode="auto">
            <a:xfrm>
              <a:off x="4787900" y="3500438"/>
              <a:ext cx="2514600" cy="67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fei_1/2:10.1.1.6/30</a:t>
              </a:r>
            </a:p>
            <a:p>
              <a:pPr algn="just"/>
              <a:r>
                <a:rPr lang="en-US" altLang="zh-CN" sz="1600" dirty="0">
                  <a:solidFill>
                    <a:srgbClr val="000000"/>
                  </a:solidFill>
                  <a:latin typeface="微软雅黑" pitchFamily="34" charset="-122"/>
                  <a:ea typeface="微软雅黑" pitchFamily="34" charset="-122"/>
                </a:rPr>
                <a:t>MAC:00:20:AF:00:00:05</a:t>
              </a:r>
            </a:p>
          </p:txBody>
        </p:sp>
        <p:sp>
          <p:nvSpPr>
            <p:cNvPr id="66" name="Text Box 63"/>
            <p:cNvSpPr txBox="1">
              <a:spLocks noChangeArrowheads="1"/>
            </p:cNvSpPr>
            <p:nvPr/>
          </p:nvSpPr>
          <p:spPr bwMode="auto">
            <a:xfrm>
              <a:off x="5508625" y="2750463"/>
              <a:ext cx="2514600" cy="67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fei_1/3:10.1.1.10/30</a:t>
              </a:r>
            </a:p>
            <a:p>
              <a:pPr algn="just"/>
              <a:r>
                <a:rPr lang="en-US" altLang="zh-CN" sz="1600" dirty="0">
                  <a:solidFill>
                    <a:srgbClr val="000000"/>
                  </a:solidFill>
                  <a:latin typeface="微软雅黑" pitchFamily="34" charset="-122"/>
                  <a:ea typeface="微软雅黑" pitchFamily="34" charset="-122"/>
                </a:rPr>
                <a:t>MAC:00:20:AF:00:00:06</a:t>
              </a:r>
            </a:p>
          </p:txBody>
        </p:sp>
        <p:grpSp>
          <p:nvGrpSpPr>
            <p:cNvPr id="67" name="Group 64"/>
            <p:cNvGrpSpPr>
              <a:grpSpLocks/>
            </p:cNvGrpSpPr>
            <p:nvPr/>
          </p:nvGrpSpPr>
          <p:grpSpPr bwMode="auto">
            <a:xfrm>
              <a:off x="177804" y="1917702"/>
              <a:ext cx="2557463" cy="1870080"/>
              <a:chOff x="112" y="437"/>
              <a:chExt cx="1611" cy="1178"/>
            </a:xfrm>
          </p:grpSpPr>
          <p:sp>
            <p:nvSpPr>
              <p:cNvPr id="75" name="Rectangle 65"/>
              <p:cNvSpPr>
                <a:spLocks noChangeArrowheads="1"/>
              </p:cNvSpPr>
              <p:nvPr/>
            </p:nvSpPr>
            <p:spPr bwMode="auto">
              <a:xfrm>
                <a:off x="132" y="437"/>
                <a:ext cx="1591" cy="181"/>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MAC:00:20:af:00:00:04</a:t>
                </a:r>
              </a:p>
            </p:txBody>
          </p:sp>
          <p:sp>
            <p:nvSpPr>
              <p:cNvPr id="82" name="Rectangle 66"/>
              <p:cNvSpPr>
                <a:spLocks noChangeArrowheads="1"/>
              </p:cNvSpPr>
              <p:nvPr/>
            </p:nvSpPr>
            <p:spPr bwMode="auto">
              <a:xfrm>
                <a:off x="132" y="618"/>
                <a:ext cx="1591" cy="181"/>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MAC:00:20:af:00:00:01 </a:t>
                </a:r>
              </a:p>
            </p:txBody>
          </p:sp>
          <p:sp>
            <p:nvSpPr>
              <p:cNvPr id="84" name="Rectangle 67"/>
              <p:cNvSpPr>
                <a:spLocks noChangeArrowheads="1"/>
              </p:cNvSpPr>
              <p:nvPr/>
            </p:nvSpPr>
            <p:spPr bwMode="auto">
              <a:xfrm>
                <a:off x="132" y="799"/>
                <a:ext cx="1591" cy="181"/>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IP: 10.1.1.5 </a:t>
                </a:r>
              </a:p>
            </p:txBody>
          </p:sp>
          <p:sp>
            <p:nvSpPr>
              <p:cNvPr id="85" name="Rectangle 68"/>
              <p:cNvSpPr>
                <a:spLocks noChangeArrowheads="1"/>
              </p:cNvSpPr>
              <p:nvPr/>
            </p:nvSpPr>
            <p:spPr bwMode="auto">
              <a:xfrm>
                <a:off x="132" y="980"/>
                <a:ext cx="1591" cy="181"/>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IP: 10.1.1.1</a:t>
                </a:r>
              </a:p>
            </p:txBody>
          </p:sp>
          <p:sp>
            <p:nvSpPr>
              <p:cNvPr id="88" name="Text Box 69"/>
              <p:cNvSpPr txBox="1">
                <a:spLocks noChangeArrowheads="1"/>
              </p:cNvSpPr>
              <p:nvPr/>
            </p:nvSpPr>
            <p:spPr bwMode="auto">
              <a:xfrm>
                <a:off x="112" y="1423"/>
                <a:ext cx="11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endParaRPr lang="zh-CN" altLang="zh-CN" sz="1400">
                  <a:solidFill>
                    <a:srgbClr val="000000"/>
                  </a:solidFill>
                  <a:latin typeface="宋体" pitchFamily="2" charset="-122"/>
                </a:endParaRPr>
              </a:p>
            </p:txBody>
          </p:sp>
        </p:grpSp>
        <p:sp>
          <p:nvSpPr>
            <p:cNvPr id="68" name="Rectangle 71"/>
            <p:cNvSpPr>
              <a:spLocks noChangeArrowheads="1"/>
            </p:cNvSpPr>
            <p:nvPr/>
          </p:nvSpPr>
          <p:spPr bwMode="auto">
            <a:xfrm>
              <a:off x="5580062" y="1557338"/>
              <a:ext cx="3563937" cy="1222379"/>
            </a:xfrm>
            <a:prstGeom prst="rect">
              <a:avLst/>
            </a:prstGeom>
            <a:solidFill>
              <a:srgbClr val="E7FFE7"/>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l"/>
              <a:r>
                <a:rPr lang="en-US" altLang="zh-CN" sz="1200" dirty="0">
                  <a:solidFill>
                    <a:srgbClr val="000000"/>
                  </a:solidFill>
                </a:rPr>
                <a:t>         </a:t>
              </a:r>
            </a:p>
            <a:p>
              <a:pPr algn="just"/>
              <a:r>
                <a:rPr lang="en-US" altLang="zh-CN" sz="1600" dirty="0" err="1">
                  <a:solidFill>
                    <a:srgbClr val="000000"/>
                  </a:solidFill>
                  <a:latin typeface="微软雅黑" pitchFamily="34" charset="-122"/>
                  <a:ea typeface="微软雅黑" pitchFamily="34" charset="-122"/>
                </a:rPr>
                <a:t>Dest</a:t>
              </a:r>
              <a:r>
                <a:rPr lang="en-US" altLang="zh-CN" sz="1600" dirty="0">
                  <a:solidFill>
                    <a:srgbClr val="000000"/>
                  </a:solidFill>
                  <a:latin typeface="微软雅黑" pitchFamily="34" charset="-122"/>
                  <a:ea typeface="微软雅黑" pitchFamily="34" charset="-122"/>
                </a:rPr>
                <a:t>              network          interface</a:t>
              </a:r>
            </a:p>
            <a:p>
              <a:pPr algn="just"/>
              <a:r>
                <a:rPr lang="en-US" altLang="zh-CN" sz="1600" dirty="0">
                  <a:solidFill>
                    <a:srgbClr val="000000"/>
                  </a:solidFill>
                  <a:latin typeface="微软雅黑" pitchFamily="34" charset="-122"/>
                  <a:ea typeface="微软雅黑" pitchFamily="34" charset="-122"/>
                </a:rPr>
                <a:t>10.1.1.0  255.255.255.252  fei_1/1</a:t>
              </a:r>
            </a:p>
            <a:p>
              <a:pPr algn="just"/>
              <a:r>
                <a:rPr lang="en-US" altLang="zh-CN" sz="1600" dirty="0">
                  <a:solidFill>
                    <a:srgbClr val="000000"/>
                  </a:solidFill>
                  <a:latin typeface="微软雅黑" pitchFamily="34" charset="-122"/>
                  <a:ea typeface="微软雅黑" pitchFamily="34" charset="-122"/>
                </a:rPr>
                <a:t>10.1.1.4  255.255.255.252  fei_1/2</a:t>
              </a:r>
            </a:p>
            <a:p>
              <a:pPr algn="just"/>
              <a:r>
                <a:rPr lang="en-US" altLang="zh-CN" sz="1600" dirty="0">
                  <a:solidFill>
                    <a:srgbClr val="000000"/>
                  </a:solidFill>
                  <a:latin typeface="微软雅黑" pitchFamily="34" charset="-122"/>
                  <a:ea typeface="微软雅黑" pitchFamily="34" charset="-122"/>
                </a:rPr>
                <a:t>10.1.1.8  255.255.255.252  fei_1/3</a:t>
              </a:r>
            </a:p>
            <a:p>
              <a:pPr algn="just"/>
              <a:endParaRPr lang="en-US" altLang="zh-CN" sz="1600" dirty="0">
                <a:solidFill>
                  <a:srgbClr val="000000"/>
                </a:solidFill>
                <a:latin typeface="微软雅黑" pitchFamily="34" charset="-122"/>
                <a:ea typeface="微软雅黑" pitchFamily="34" charset="-122"/>
              </a:endParaRPr>
            </a:p>
          </p:txBody>
        </p:sp>
        <p:sp>
          <p:nvSpPr>
            <p:cNvPr id="64" name="Text Box 61"/>
            <p:cNvSpPr txBox="1">
              <a:spLocks noChangeArrowheads="1"/>
            </p:cNvSpPr>
            <p:nvPr/>
          </p:nvSpPr>
          <p:spPr bwMode="auto">
            <a:xfrm>
              <a:off x="2201863" y="3357563"/>
              <a:ext cx="2514600" cy="67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fei_1/1:10.1.1.2/30</a:t>
              </a:r>
            </a:p>
            <a:p>
              <a:pPr algn="just"/>
              <a:r>
                <a:rPr lang="en-US" altLang="zh-CN" sz="1600" dirty="0">
                  <a:solidFill>
                    <a:srgbClr val="000000"/>
                  </a:solidFill>
                  <a:latin typeface="微软雅黑" pitchFamily="34" charset="-122"/>
                  <a:ea typeface="微软雅黑" pitchFamily="34" charset="-122"/>
                </a:rPr>
                <a:t>MAC:00:20:AF:00:00:04</a:t>
              </a:r>
            </a:p>
          </p:txBody>
        </p:sp>
      </p:grpSp>
      <p:sp>
        <p:nvSpPr>
          <p:cNvPr id="97" name="矩形 96"/>
          <p:cNvSpPr/>
          <p:nvPr/>
        </p:nvSpPr>
        <p:spPr>
          <a:xfrm>
            <a:off x="6987287" y="2610182"/>
            <a:ext cx="3547770" cy="247630"/>
          </a:xfrm>
          <a:prstGeom prst="rect">
            <a:avLst/>
          </a:prstGeom>
          <a:noFill/>
          <a:ln w="158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8" name="Picture 28" descr="015">
            <a:extLst>
              <a:ext uri="{FF2B5EF4-FFF2-40B4-BE49-F238E27FC236}">
                <a16:creationId xmlns:a16="http://schemas.microsoft.com/office/drawing/2014/main" id="{4CFA8D27-33CF-4430-9FE4-CD7E455BC78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92233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cs typeface="Times New Roman" panose="02020603050405020304" pitchFamily="18" charset="0"/>
              </a:rPr>
              <a:t>IPv4</a:t>
            </a:r>
            <a:r>
              <a:rPr lang="zh-CN" altLang="en-US" dirty="0">
                <a:latin typeface="微软雅黑" pitchFamily="34" charset="-122"/>
                <a:ea typeface="微软雅黑" pitchFamily="34" charset="-122"/>
                <a:cs typeface="Times New Roman" panose="02020603050405020304" pitchFamily="18" charset="0"/>
              </a:rPr>
              <a:t>地址如何获取</a:t>
            </a:r>
            <a:endParaRPr lang="zh-CN" altLang="en-US" dirty="0">
              <a:latin typeface="微软雅黑" pitchFamily="34" charset="-122"/>
              <a:ea typeface="微软雅黑" pitchFamily="34" charset="-122"/>
            </a:endParaRPr>
          </a:p>
        </p:txBody>
      </p:sp>
      <p:sp>
        <p:nvSpPr>
          <p:cNvPr id="3" name="内容占位符 2"/>
          <p:cNvSpPr>
            <a:spLocks noGrp="1"/>
          </p:cNvSpPr>
          <p:nvPr>
            <p:ph idx="1"/>
          </p:nvPr>
        </p:nvSpPr>
        <p:spPr/>
        <p:txBody>
          <a:bodyPr>
            <a:normAutofit fontScale="92500" lnSpcReduction="10000"/>
          </a:bodyPr>
          <a:lstStyle/>
          <a:p>
            <a:pPr>
              <a:lnSpc>
                <a:spcPct val="130000"/>
              </a:lnSpc>
            </a:pPr>
            <a:r>
              <a:rPr lang="zh-CN" altLang="en-US" dirty="0">
                <a:latin typeface="微软雅黑" pitchFamily="34" charset="-122"/>
                <a:ea typeface="微软雅黑" pitchFamily="34" charset="-122"/>
                <a:cs typeface="Times New Roman" panose="02020603050405020304" pitchFamily="18" charset="0"/>
              </a:rPr>
              <a:t>公有</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地址要求全球唯一</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pPr>
            <a:r>
              <a:rPr lang="en-US" altLang="zh-CN" dirty="0">
                <a:latin typeface="微软雅黑" pitchFamily="34" charset="-122"/>
                <a:ea typeface="微软雅黑" pitchFamily="34" charset="-122"/>
                <a:cs typeface="Times New Roman" panose="02020603050405020304" pitchFamily="18" charset="0"/>
              </a:rPr>
              <a:t> ICANN</a:t>
            </a:r>
            <a:r>
              <a:rPr lang="zh-CN" altLang="en-US" dirty="0">
                <a:latin typeface="微软雅黑" pitchFamily="34" charset="-122"/>
                <a:ea typeface="微软雅黑" pitchFamily="34" charset="-122"/>
                <a:cs typeface="Times New Roman" panose="02020603050405020304" pitchFamily="18" charset="0"/>
              </a:rPr>
              <a:t>（</a:t>
            </a:r>
            <a:r>
              <a:rPr lang="en-US" altLang="zh-CN" dirty="0">
                <a:latin typeface="微软雅黑" pitchFamily="34" charset="-122"/>
                <a:ea typeface="微软雅黑" pitchFamily="34" charset="-122"/>
                <a:cs typeface="Times New Roman" panose="02020603050405020304" pitchFamily="18" charset="0"/>
              </a:rPr>
              <a:t>Internet Corporation for Assigned Names and Numbers</a:t>
            </a:r>
            <a:r>
              <a:rPr lang="zh-CN" altLang="en-US" dirty="0">
                <a:latin typeface="微软雅黑" pitchFamily="34" charset="-122"/>
                <a:ea typeface="微软雅黑" pitchFamily="34" charset="-122"/>
                <a:cs typeface="Times New Roman" panose="02020603050405020304" pitchFamily="18" charset="0"/>
              </a:rPr>
              <a:t>）即互联网名字与编号分配机构向</a:t>
            </a:r>
            <a:r>
              <a:rPr lang="en-US" altLang="zh-CN" dirty="0">
                <a:latin typeface="微软雅黑" pitchFamily="34" charset="-122"/>
                <a:ea typeface="微软雅黑" pitchFamily="34" charset="-122"/>
                <a:cs typeface="Times New Roman" panose="02020603050405020304" pitchFamily="18" charset="0"/>
              </a:rPr>
              <a:t>ISP</a:t>
            </a:r>
            <a:r>
              <a:rPr lang="zh-CN" altLang="en-US" dirty="0">
                <a:latin typeface="微软雅黑" pitchFamily="34" charset="-122"/>
                <a:ea typeface="微软雅黑" pitchFamily="34" charset="-122"/>
                <a:cs typeface="Times New Roman" panose="02020603050405020304" pitchFamily="18" charset="0"/>
              </a:rPr>
              <a:t>分配，</a:t>
            </a:r>
            <a:r>
              <a:rPr lang="en-US" altLang="zh-CN" dirty="0">
                <a:latin typeface="微软雅黑" pitchFamily="34" charset="-122"/>
                <a:ea typeface="微软雅黑" pitchFamily="34" charset="-122"/>
                <a:cs typeface="Times New Roman" panose="02020603050405020304" pitchFamily="18" charset="0"/>
              </a:rPr>
              <a:t>ISP</a:t>
            </a:r>
            <a:r>
              <a:rPr lang="zh-CN" altLang="en-US">
                <a:latin typeface="微软雅黑" pitchFamily="34" charset="-122"/>
                <a:ea typeface="微软雅黑" pitchFamily="34" charset="-122"/>
                <a:cs typeface="Times New Roman" panose="02020603050405020304" pitchFamily="18" charset="0"/>
              </a:rPr>
              <a:t>再向</a:t>
            </a:r>
            <a:r>
              <a:rPr lang="zh-CN" altLang="en-US" dirty="0">
                <a:latin typeface="微软雅黑" pitchFamily="34" charset="-122"/>
                <a:ea typeface="微软雅黑" pitchFamily="34" charset="-122"/>
                <a:cs typeface="Times New Roman" panose="02020603050405020304" pitchFamily="18" charset="0"/>
              </a:rPr>
              <a:t>所属机构</a:t>
            </a:r>
            <a:r>
              <a:rPr lang="zh-CN" altLang="en-US">
                <a:latin typeface="微软雅黑" pitchFamily="34" charset="-122"/>
                <a:ea typeface="微软雅黑" pitchFamily="34" charset="-122"/>
                <a:cs typeface="Times New Roman" panose="02020603050405020304" pitchFamily="18" charset="0"/>
              </a:rPr>
              <a:t>或组织逐级分配</a:t>
            </a:r>
            <a:endParaRPr lang="en-US" altLang="zh-CN" dirty="0">
              <a:latin typeface="微软雅黑" pitchFamily="34" charset="-122"/>
              <a:ea typeface="微软雅黑" pitchFamily="34" charset="-122"/>
              <a:cs typeface="Times New Roman" panose="02020603050405020304" pitchFamily="18" charset="0"/>
            </a:endParaRPr>
          </a:p>
          <a:p>
            <a:pPr>
              <a:lnSpc>
                <a:spcPct val="130000"/>
              </a:lnSpc>
            </a:pPr>
            <a:r>
              <a:rPr lang="zh-CN" altLang="en-US" dirty="0">
                <a:solidFill>
                  <a:srgbClr val="C00000"/>
                </a:solidFill>
                <a:latin typeface="微软雅黑" pitchFamily="34" charset="-122"/>
                <a:ea typeface="微软雅黑" pitchFamily="34" charset="-122"/>
                <a:cs typeface="Times New Roman" panose="02020603050405020304" pitchFamily="18" charset="0"/>
              </a:rPr>
              <a:t>静态设定</a:t>
            </a:r>
            <a:endParaRPr lang="en-US" altLang="zh-CN" dirty="0">
              <a:solidFill>
                <a:srgbClr val="C00000"/>
              </a:solidFill>
              <a:latin typeface="微软雅黑" pitchFamily="34" charset="-122"/>
              <a:ea typeface="微软雅黑" pitchFamily="34" charset="-122"/>
              <a:cs typeface="Times New Roman" panose="02020603050405020304" pitchFamily="18" charset="0"/>
            </a:endParaRPr>
          </a:p>
          <a:p>
            <a:pPr lvl="1">
              <a:lnSpc>
                <a:spcPct val="130000"/>
              </a:lnSpc>
            </a:pPr>
            <a:r>
              <a:rPr lang="zh-CN" altLang="en-US" dirty="0">
                <a:latin typeface="微软雅黑" pitchFamily="34" charset="-122"/>
                <a:ea typeface="微软雅黑" pitchFamily="34" charset="-122"/>
                <a:cs typeface="Times New Roman" panose="02020603050405020304" pitchFamily="18" charset="0"/>
              </a:rPr>
              <a:t>申请固定</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地址，手工设定，如</a:t>
            </a:r>
            <a:r>
              <a:rPr lang="zh-CN" altLang="en-US" dirty="0">
                <a:solidFill>
                  <a:srgbClr val="C00000"/>
                </a:solidFill>
                <a:latin typeface="微软雅黑" pitchFamily="34" charset="-122"/>
                <a:ea typeface="微软雅黑" pitchFamily="34" charset="-122"/>
                <a:cs typeface="Times New Roman" panose="02020603050405020304" pitchFamily="18" charset="0"/>
              </a:rPr>
              <a:t>路由器、服务器</a:t>
            </a:r>
            <a:endParaRPr lang="en-US" altLang="zh-CN" b="1" dirty="0">
              <a:solidFill>
                <a:srgbClr val="C00000"/>
              </a:solidFill>
              <a:latin typeface="微软雅黑" pitchFamily="34" charset="-122"/>
              <a:ea typeface="微软雅黑" pitchFamily="34" charset="-122"/>
              <a:cs typeface="Times New Roman" panose="02020603050405020304" pitchFamily="18" charset="0"/>
            </a:endParaRPr>
          </a:p>
          <a:p>
            <a:pPr>
              <a:lnSpc>
                <a:spcPct val="130000"/>
              </a:lnSpc>
            </a:pPr>
            <a:r>
              <a:rPr lang="zh-CN" altLang="en-US" dirty="0">
                <a:solidFill>
                  <a:srgbClr val="C00000"/>
                </a:solidFill>
                <a:latin typeface="微软雅黑" pitchFamily="34" charset="-122"/>
                <a:ea typeface="微软雅黑" pitchFamily="34" charset="-122"/>
                <a:cs typeface="Times New Roman" panose="02020603050405020304" pitchFamily="18" charset="0"/>
              </a:rPr>
              <a:t>动态获取</a:t>
            </a:r>
            <a:endParaRPr lang="en-US" altLang="zh-CN" dirty="0">
              <a:solidFill>
                <a:srgbClr val="C00000"/>
              </a:solidFill>
              <a:latin typeface="微软雅黑" pitchFamily="34" charset="-122"/>
              <a:ea typeface="微软雅黑" pitchFamily="34" charset="-122"/>
              <a:cs typeface="Times New Roman" panose="02020603050405020304" pitchFamily="18" charset="0"/>
            </a:endParaRPr>
          </a:p>
          <a:p>
            <a:pPr lvl="1">
              <a:lnSpc>
                <a:spcPct val="130000"/>
              </a:lnSpc>
              <a:defRPr/>
            </a:pPr>
            <a:r>
              <a:rPr lang="zh-CN" altLang="en-US" dirty="0">
                <a:latin typeface="微软雅黑" pitchFamily="34" charset="-122"/>
                <a:ea typeface="微软雅黑" pitchFamily="34" charset="-122"/>
                <a:cs typeface="Times New Roman" panose="02020603050405020304" pitchFamily="18" charset="0"/>
              </a:rPr>
              <a:t>使用</a:t>
            </a:r>
            <a:r>
              <a:rPr lang="en-US" altLang="zh-CN" dirty="0">
                <a:latin typeface="微软雅黑" pitchFamily="34" charset="-122"/>
                <a:ea typeface="微软雅黑" pitchFamily="34" charset="-122"/>
                <a:cs typeface="Times New Roman" panose="02020603050405020304" pitchFamily="18" charset="0"/>
              </a:rPr>
              <a:t>DHCP</a:t>
            </a:r>
            <a:r>
              <a:rPr lang="zh-CN" altLang="en-US" dirty="0">
                <a:latin typeface="微软雅黑" pitchFamily="34" charset="-122"/>
                <a:ea typeface="微软雅黑" pitchFamily="34" charset="-122"/>
                <a:cs typeface="Times New Roman" panose="02020603050405020304" pitchFamily="18" charset="0"/>
              </a:rPr>
              <a:t>协议或其他动态配置协议</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lang="zh-CN" altLang="en-US" dirty="0">
                <a:latin typeface="微软雅黑" pitchFamily="34" charset="-122"/>
                <a:ea typeface="微软雅黑" pitchFamily="34" charset="-122"/>
                <a:cs typeface="Times New Roman" panose="02020603050405020304" pitchFamily="18" charset="0"/>
              </a:rPr>
              <a:t>当</a:t>
            </a:r>
            <a:r>
              <a:rPr lang="zh-CN" altLang="en-US" dirty="0">
                <a:solidFill>
                  <a:srgbClr val="C00000"/>
                </a:solidFill>
                <a:latin typeface="微软雅黑" pitchFamily="34" charset="-122"/>
                <a:ea typeface="微软雅黑" pitchFamily="34" charset="-122"/>
                <a:cs typeface="Times New Roman" panose="02020603050405020304" pitchFamily="18" charset="0"/>
              </a:rPr>
              <a:t>主机</a:t>
            </a:r>
            <a:r>
              <a:rPr lang="zh-CN" altLang="en-US" dirty="0">
                <a:latin typeface="微软雅黑" pitchFamily="34" charset="-122"/>
                <a:ea typeface="微软雅黑" pitchFamily="34" charset="-122"/>
                <a:cs typeface="Times New Roman" panose="02020603050405020304" pitchFamily="18" charset="0"/>
              </a:rPr>
              <a:t>加入</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网络，允许主机从</a:t>
            </a:r>
            <a:r>
              <a:rPr lang="en-US" altLang="zh-CN" dirty="0">
                <a:latin typeface="微软雅黑" pitchFamily="34" charset="-122"/>
                <a:ea typeface="微软雅黑" pitchFamily="34" charset="-122"/>
                <a:cs typeface="Times New Roman" panose="02020603050405020304" pitchFamily="18" charset="0"/>
              </a:rPr>
              <a:t>DHCP</a:t>
            </a:r>
            <a:r>
              <a:rPr lang="zh-CN" altLang="en-US" dirty="0">
                <a:latin typeface="微软雅黑" pitchFamily="34" charset="-122"/>
                <a:ea typeface="微软雅黑" pitchFamily="34" charset="-122"/>
                <a:cs typeface="Times New Roman" panose="02020603050405020304" pitchFamily="18" charset="0"/>
              </a:rPr>
              <a:t>服务器动态获取</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lang="zh-CN" altLang="en-US" dirty="0">
                <a:latin typeface="微软雅黑" pitchFamily="34" charset="-122"/>
                <a:ea typeface="微软雅黑" pitchFamily="34" charset="-122"/>
                <a:cs typeface="Times New Roman" panose="02020603050405020304" pitchFamily="18" charset="0"/>
              </a:rPr>
              <a:t>可以有效利用</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地址，方便移动主机的地址获取</a:t>
            </a:r>
            <a:endParaRPr lang="en-US" altLang="zh-CN" dirty="0">
              <a:latin typeface="微软雅黑" pitchFamily="34" charset="-122"/>
              <a:ea typeface="微软雅黑" pitchFamily="34" charset="-122"/>
              <a:cs typeface="Times New Roman" panose="02020603050405020304" pitchFamily="18" charset="0"/>
            </a:endParaRPr>
          </a:p>
          <a:p>
            <a:pPr marL="0" indent="0">
              <a:buNone/>
            </a:pPr>
            <a:endParaRPr lang="en-US" altLang="zh-CN" dirty="0">
              <a:latin typeface="Times New Roman" panose="02020603050405020304" pitchFamily="18" charset="0"/>
              <a:ea typeface="宋体" panose="02010600030101010101" pitchFamily="2" charset="-122"/>
              <a:cs typeface="Times New Roman" panose="02020603050405020304" pitchFamily="18" charset="0"/>
            </a:endParaRPr>
          </a:p>
          <a:p>
            <a:endParaRPr lang="en-US" altLang="zh-CN" dirty="0">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a:p>
            <a:endParaRPr lang="zh-CN" altLang="en-US" dirty="0"/>
          </a:p>
        </p:txBody>
      </p:sp>
      <p:sp>
        <p:nvSpPr>
          <p:cNvPr id="4" name="日期占位符 3"/>
          <p:cNvSpPr>
            <a:spLocks noGrp="1"/>
          </p:cNvSpPr>
          <p:nvPr>
            <p:ph type="dt" sz="half" idx="10"/>
          </p:nvPr>
        </p:nvSpPr>
        <p:spPr/>
        <p:txBody>
          <a:bodyPr/>
          <a:lstStyle/>
          <a:p>
            <a:r>
              <a:rPr kumimoji="1" lang="en-US" altLang="zh-CN" dirty="0"/>
              <a:t>5.6.3 DHCP</a:t>
            </a:r>
            <a:endParaRPr kumimoji="1" lang="zh-CN" altLang="en-US"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133</a:t>
            </a:fld>
            <a:endParaRPr kumimoji="1" lang="zh-CN" altLang="en-US" dirty="0"/>
          </a:p>
        </p:txBody>
      </p:sp>
    </p:spTree>
    <p:extLst>
      <p:ext uri="{BB962C8B-B14F-4D97-AF65-F5344CB8AC3E}">
        <p14:creationId xmlns:p14="http://schemas.microsoft.com/office/powerpoint/2010/main" val="3487426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DHCP</a:t>
            </a:r>
            <a:r>
              <a:rPr lang="zh-CN" altLang="en-US" dirty="0">
                <a:latin typeface="微软雅黑" pitchFamily="34" charset="-122"/>
                <a:ea typeface="微软雅黑" pitchFamily="34" charset="-122"/>
              </a:rPr>
              <a:t>动态主机配置协议</a:t>
            </a:r>
            <a:endParaRPr lang="zh-CN" altLang="en-US" sz="3200" dirty="0"/>
          </a:p>
        </p:txBody>
      </p:sp>
      <p:sp>
        <p:nvSpPr>
          <p:cNvPr id="3" name="内容占位符 2"/>
          <p:cNvSpPr>
            <a:spLocks noGrp="1"/>
          </p:cNvSpPr>
          <p:nvPr>
            <p:ph idx="1"/>
          </p:nvPr>
        </p:nvSpPr>
        <p:spPr>
          <a:xfrm>
            <a:off x="838200" y="1510758"/>
            <a:ext cx="10515600" cy="2604043"/>
          </a:xfrm>
        </p:spPr>
        <p:txBody>
          <a:bodyPr>
            <a:normAutofit lnSpcReduction="10000"/>
          </a:bodyPr>
          <a:lstStyle/>
          <a:p>
            <a:pPr eaLnBrk="0" hangingPunct="0">
              <a:lnSpc>
                <a:spcPct val="120000"/>
              </a:lnSpc>
            </a:pPr>
            <a:r>
              <a:rPr lang="en-US" altLang="zh-CN" dirty="0">
                <a:latin typeface="微软雅黑" pitchFamily="34" charset="-122"/>
                <a:ea typeface="微软雅黑" pitchFamily="34" charset="-122"/>
              </a:rPr>
              <a:t>DHCP</a:t>
            </a:r>
            <a:r>
              <a:rPr lang="en-US" altLang="zh-CN" dirty="0">
                <a:solidFill>
                  <a:srgbClr val="C00000"/>
                </a:solidFill>
                <a:latin typeface="微软雅黑" pitchFamily="34" charset="-122"/>
                <a:ea typeface="微软雅黑" pitchFamily="34" charset="-122"/>
              </a:rPr>
              <a:t> </a:t>
            </a:r>
            <a:r>
              <a:rPr lang="zh-CN" altLang="en-US" dirty="0">
                <a:solidFill>
                  <a:srgbClr val="C00000"/>
                </a:solidFill>
                <a:latin typeface="微软雅黑" pitchFamily="34" charset="-122"/>
                <a:ea typeface="微软雅黑" pitchFamily="34" charset="-122"/>
              </a:rPr>
              <a:t>：动态主机配置协议</a:t>
            </a:r>
            <a:endParaRPr lang="en-US" altLang="zh-CN" dirty="0">
              <a:solidFill>
                <a:srgbClr val="C00000"/>
              </a:solidFill>
              <a:latin typeface="微软雅黑" pitchFamily="34" charset="-122"/>
              <a:ea typeface="微软雅黑" pitchFamily="34" charset="-122"/>
            </a:endParaRPr>
          </a:p>
          <a:p>
            <a:pPr lvl="1">
              <a:lnSpc>
                <a:spcPct val="120000"/>
              </a:lnSpc>
              <a:defRPr/>
            </a:pPr>
            <a:r>
              <a:rPr lang="zh-CN" altLang="en-US" dirty="0">
                <a:latin typeface="微软雅黑" pitchFamily="34" charset="-122"/>
                <a:ea typeface="微软雅黑" pitchFamily="34" charset="-122"/>
                <a:cs typeface="Times New Roman" panose="02020603050405020304" pitchFamily="18" charset="0"/>
              </a:rPr>
              <a:t>当主机加入</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网络，允许主机从</a:t>
            </a:r>
            <a:r>
              <a:rPr lang="en-US" altLang="zh-CN" dirty="0">
                <a:latin typeface="微软雅黑" pitchFamily="34" charset="-122"/>
                <a:ea typeface="微软雅黑" pitchFamily="34" charset="-122"/>
                <a:cs typeface="Times New Roman" panose="02020603050405020304" pitchFamily="18" charset="0"/>
              </a:rPr>
              <a:t>DHCP</a:t>
            </a:r>
            <a:r>
              <a:rPr lang="zh-CN" altLang="en-US" dirty="0">
                <a:latin typeface="微软雅黑" pitchFamily="34" charset="-122"/>
                <a:ea typeface="微软雅黑" pitchFamily="34" charset="-122"/>
                <a:cs typeface="Times New Roman" panose="02020603050405020304" pitchFamily="18" charset="0"/>
              </a:rPr>
              <a:t>服务器动态获取</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a:p>
            <a:pPr lvl="1">
              <a:lnSpc>
                <a:spcPct val="120000"/>
              </a:lnSpc>
              <a:defRPr/>
            </a:pPr>
            <a:r>
              <a:rPr lang="zh-CN" altLang="en-US" dirty="0">
                <a:latin typeface="微软雅黑" pitchFamily="34" charset="-122"/>
                <a:ea typeface="微软雅黑" pitchFamily="34" charset="-122"/>
                <a:cs typeface="Times New Roman" panose="02020603050405020304" pitchFamily="18" charset="0"/>
              </a:rPr>
              <a:t>可以有效利用</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地址，方便移动主机的地址获取</a:t>
            </a:r>
            <a:endParaRPr lang="en-US" altLang="zh-CN" dirty="0">
              <a:latin typeface="微软雅黑" pitchFamily="34" charset="-122"/>
              <a:ea typeface="微软雅黑" pitchFamily="34" charset="-122"/>
              <a:cs typeface="Times New Roman" panose="02020603050405020304" pitchFamily="18" charset="0"/>
            </a:endParaRPr>
          </a:p>
          <a:p>
            <a:pPr marL="228600" lvl="1" eaLnBrk="0" hangingPunct="0">
              <a:lnSpc>
                <a:spcPct val="120000"/>
              </a:lnSpc>
              <a:buFont typeface="Wingdings" pitchFamily="2" charset="2"/>
              <a:buChar char="Ø"/>
              <a:defRPr/>
            </a:pPr>
            <a:r>
              <a:rPr lang="zh-CN" altLang="en-US" sz="2800" dirty="0">
                <a:latin typeface="微软雅黑" pitchFamily="34" charset="-122"/>
                <a:ea typeface="微软雅黑" pitchFamily="34" charset="-122"/>
              </a:rPr>
              <a:t>工作模式</a:t>
            </a:r>
            <a:r>
              <a:rPr lang="zh-CN" altLang="en-US" sz="2800" dirty="0">
                <a:solidFill>
                  <a:srgbClr val="C00000"/>
                </a:solidFill>
                <a:latin typeface="微软雅黑" pitchFamily="34" charset="-122"/>
                <a:ea typeface="微软雅黑" pitchFamily="34" charset="-122"/>
              </a:rPr>
              <a:t>：客服</a:t>
            </a:r>
            <a:r>
              <a:rPr lang="en-US" altLang="zh-CN" sz="2800" dirty="0">
                <a:solidFill>
                  <a:srgbClr val="C00000"/>
                </a:solidFill>
                <a:latin typeface="微软雅黑" pitchFamily="34" charset="-122"/>
                <a:ea typeface="微软雅黑" pitchFamily="34" charset="-122"/>
              </a:rPr>
              <a:t>/</a:t>
            </a:r>
            <a:r>
              <a:rPr lang="zh-CN" altLang="en-US" sz="2800" dirty="0">
                <a:solidFill>
                  <a:srgbClr val="C00000"/>
                </a:solidFill>
                <a:latin typeface="微软雅黑" pitchFamily="34" charset="-122"/>
                <a:ea typeface="微软雅黑" pitchFamily="34" charset="-122"/>
              </a:rPr>
              <a:t>服务器模式（</a:t>
            </a:r>
            <a:r>
              <a:rPr lang="en-US" altLang="zh-CN" sz="2800" dirty="0">
                <a:solidFill>
                  <a:srgbClr val="C00000"/>
                </a:solidFill>
                <a:latin typeface="微软雅黑" pitchFamily="34" charset="-122"/>
                <a:ea typeface="微软雅黑" pitchFamily="34" charset="-122"/>
              </a:rPr>
              <a:t> C/S </a:t>
            </a:r>
            <a:r>
              <a:rPr lang="zh-CN" altLang="en-US" sz="2800" dirty="0">
                <a:solidFill>
                  <a:srgbClr val="C00000"/>
                </a:solidFill>
                <a:latin typeface="微软雅黑" pitchFamily="34" charset="-122"/>
                <a:ea typeface="微软雅黑" pitchFamily="34" charset="-122"/>
              </a:rPr>
              <a:t>）</a:t>
            </a:r>
            <a:endParaRPr lang="en-US" altLang="zh-CN" sz="2800" dirty="0">
              <a:solidFill>
                <a:srgbClr val="C00000"/>
              </a:solidFill>
              <a:latin typeface="微软雅黑" pitchFamily="34" charset="-122"/>
              <a:ea typeface="微软雅黑" pitchFamily="34" charset="-122"/>
            </a:endParaRPr>
          </a:p>
          <a:p>
            <a:pPr lvl="1">
              <a:lnSpc>
                <a:spcPct val="120000"/>
              </a:lnSpc>
              <a:defRPr/>
            </a:pPr>
            <a:r>
              <a:rPr lang="zh-CN" altLang="en-US" dirty="0">
                <a:latin typeface="微软雅黑" pitchFamily="34" charset="-122"/>
                <a:ea typeface="微软雅黑" pitchFamily="34" charset="-122"/>
                <a:cs typeface="Times New Roman" panose="02020603050405020304" pitchFamily="18" charset="0"/>
              </a:rPr>
              <a:t>基于 </a:t>
            </a:r>
            <a:r>
              <a:rPr lang="en-US" altLang="zh-CN" dirty="0">
                <a:latin typeface="微软雅黑" pitchFamily="34" charset="-122"/>
                <a:ea typeface="微软雅黑" pitchFamily="34" charset="-122"/>
                <a:cs typeface="Times New Roman" panose="02020603050405020304" pitchFamily="18" charset="0"/>
              </a:rPr>
              <a:t>UDP </a:t>
            </a:r>
            <a:r>
              <a:rPr lang="zh-CN" altLang="en-US" dirty="0">
                <a:latin typeface="微软雅黑" pitchFamily="34" charset="-122"/>
                <a:ea typeface="微软雅黑" pitchFamily="34" charset="-122"/>
                <a:cs typeface="Times New Roman" panose="02020603050405020304" pitchFamily="18" charset="0"/>
              </a:rPr>
              <a:t>工作，服务器运行在 </a:t>
            </a:r>
            <a:r>
              <a:rPr lang="en-US" altLang="zh-CN" dirty="0">
                <a:latin typeface="微软雅黑" pitchFamily="34" charset="-122"/>
                <a:ea typeface="微软雅黑" pitchFamily="34" charset="-122"/>
                <a:cs typeface="Times New Roman" panose="02020603050405020304" pitchFamily="18" charset="0"/>
              </a:rPr>
              <a:t>67 </a:t>
            </a:r>
            <a:r>
              <a:rPr lang="zh-CN" altLang="en-US" dirty="0">
                <a:latin typeface="微软雅黑" pitchFamily="34" charset="-122"/>
                <a:ea typeface="微软雅黑" pitchFamily="34" charset="-122"/>
                <a:cs typeface="Times New Roman" panose="02020603050405020304" pitchFamily="18" charset="0"/>
              </a:rPr>
              <a:t>号端口，</a:t>
            </a:r>
            <a:r>
              <a:rPr lang="en-US" altLang="zh-CN" dirty="0">
                <a:latin typeface="微软雅黑" pitchFamily="34" charset="-122"/>
                <a:ea typeface="微软雅黑" pitchFamily="34" charset="-122"/>
                <a:cs typeface="Times New Roman" panose="02020603050405020304" pitchFamily="18" charset="0"/>
              </a:rPr>
              <a:t> </a:t>
            </a:r>
            <a:r>
              <a:rPr lang="zh-CN" altLang="en-US" dirty="0">
                <a:latin typeface="微软雅黑" pitchFamily="34" charset="-122"/>
                <a:ea typeface="微软雅黑" pitchFamily="34" charset="-122"/>
                <a:cs typeface="Times New Roman" panose="02020603050405020304" pitchFamily="18" charset="0"/>
              </a:rPr>
              <a:t>客户端运行在 </a:t>
            </a:r>
            <a:r>
              <a:rPr lang="en-US" altLang="zh-CN" dirty="0">
                <a:latin typeface="微软雅黑" pitchFamily="34" charset="-122"/>
                <a:ea typeface="微软雅黑" pitchFamily="34" charset="-122"/>
                <a:cs typeface="Times New Roman" panose="02020603050405020304" pitchFamily="18" charset="0"/>
              </a:rPr>
              <a:t>68 </a:t>
            </a:r>
            <a:r>
              <a:rPr lang="zh-CN" altLang="en-US" dirty="0">
                <a:latin typeface="微软雅黑" pitchFamily="34" charset="-122"/>
                <a:ea typeface="微软雅黑" pitchFamily="34" charset="-122"/>
                <a:cs typeface="Times New Roman" panose="02020603050405020304" pitchFamily="18" charset="0"/>
              </a:rPr>
              <a:t>号端口</a:t>
            </a:r>
          </a:p>
          <a:p>
            <a:pPr marL="457200" lvl="2" indent="0" eaLnBrk="0" hangingPunct="0">
              <a:lnSpc>
                <a:spcPct val="120000"/>
              </a:lnSpc>
              <a:buClr>
                <a:srgbClr val="0070C0"/>
              </a:buClr>
              <a:buNone/>
              <a:defRPr/>
            </a:pPr>
            <a:endParaRPr lang="zh-CN" altLang="en-US" b="1" dirty="0">
              <a:solidFill>
                <a:srgbClr val="C00000"/>
              </a:solidFill>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134</a:t>
            </a:fld>
            <a:endParaRPr kumimoji="1" lang="zh-CN" altLang="en-US" dirty="0"/>
          </a:p>
        </p:txBody>
      </p:sp>
      <p:grpSp>
        <p:nvGrpSpPr>
          <p:cNvPr id="5" name="组合 4"/>
          <p:cNvGrpSpPr/>
          <p:nvPr/>
        </p:nvGrpSpPr>
        <p:grpSpPr>
          <a:xfrm>
            <a:off x="1862667" y="4114801"/>
            <a:ext cx="7730066" cy="2099732"/>
            <a:chOff x="1996962" y="2450061"/>
            <a:chExt cx="4918841" cy="1475407"/>
          </a:xfrm>
        </p:grpSpPr>
        <p:sp>
          <p:nvSpPr>
            <p:cNvPr id="6" name="矩形 5"/>
            <p:cNvSpPr/>
            <p:nvPr/>
          </p:nvSpPr>
          <p:spPr>
            <a:xfrm>
              <a:off x="1996962" y="2606571"/>
              <a:ext cx="998486" cy="252244"/>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pitchFamily="34" charset="-122"/>
                  <a:ea typeface="微软雅黑" pitchFamily="34" charset="-122"/>
                </a:rPr>
                <a:t>DHCP </a:t>
              </a:r>
              <a:r>
                <a:rPr lang="zh-CN" altLang="en-US" sz="1600" dirty="0">
                  <a:solidFill>
                    <a:schemeClr val="tx1"/>
                  </a:solidFill>
                  <a:latin typeface="微软雅黑" pitchFamily="34" charset="-122"/>
                  <a:ea typeface="微软雅黑" pitchFamily="34" charset="-122"/>
                </a:rPr>
                <a:t>客户</a:t>
              </a:r>
            </a:p>
          </p:txBody>
        </p:sp>
        <p:sp>
          <p:nvSpPr>
            <p:cNvPr id="7" name="矩形 6"/>
            <p:cNvSpPr/>
            <p:nvPr/>
          </p:nvSpPr>
          <p:spPr>
            <a:xfrm>
              <a:off x="5917317" y="2606571"/>
              <a:ext cx="998486" cy="252244"/>
            </a:xfrm>
            <a:prstGeom prst="rect">
              <a:avLst/>
            </a:prstGeom>
            <a:solidFill>
              <a:schemeClr val="tx1"/>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dirty="0">
                  <a:solidFill>
                    <a:schemeClr val="bg1"/>
                  </a:solidFill>
                  <a:latin typeface="微软雅黑" pitchFamily="34" charset="-122"/>
                  <a:ea typeface="微软雅黑" pitchFamily="34" charset="-122"/>
                </a:rPr>
                <a:t>DHCP </a:t>
              </a:r>
              <a:r>
                <a:rPr lang="zh-CN" altLang="en-US" sz="1600" dirty="0">
                  <a:solidFill>
                    <a:schemeClr val="bg1"/>
                  </a:solidFill>
                  <a:latin typeface="微软雅黑" pitchFamily="34" charset="-122"/>
                  <a:ea typeface="微软雅黑" pitchFamily="34" charset="-122"/>
                </a:rPr>
                <a:t>服务器</a:t>
              </a:r>
            </a:p>
          </p:txBody>
        </p:sp>
        <p:sp>
          <p:nvSpPr>
            <p:cNvPr id="8" name="矩形 7"/>
            <p:cNvSpPr/>
            <p:nvPr/>
          </p:nvSpPr>
          <p:spPr>
            <a:xfrm>
              <a:off x="5496907" y="2680141"/>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67</a:t>
              </a:r>
              <a:endParaRPr lang="zh-CN" altLang="en-US" sz="1200" b="1" dirty="0">
                <a:solidFill>
                  <a:schemeClr val="tx1"/>
                </a:solidFill>
                <a:latin typeface="微软雅黑" pitchFamily="34" charset="-122"/>
                <a:ea typeface="微软雅黑" pitchFamily="34" charset="-122"/>
              </a:endParaRPr>
            </a:p>
          </p:txBody>
        </p:sp>
        <p:sp>
          <p:nvSpPr>
            <p:cNvPr id="9" name="矩形 8"/>
            <p:cNvSpPr/>
            <p:nvPr/>
          </p:nvSpPr>
          <p:spPr>
            <a:xfrm>
              <a:off x="1996962" y="3137195"/>
              <a:ext cx="998486" cy="252244"/>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pitchFamily="34" charset="-122"/>
                  <a:ea typeface="微软雅黑" pitchFamily="34" charset="-122"/>
                </a:rPr>
                <a:t>DHCP </a:t>
              </a:r>
              <a:r>
                <a:rPr lang="zh-CN" altLang="en-US" sz="1600" dirty="0">
                  <a:solidFill>
                    <a:schemeClr val="tx1"/>
                  </a:solidFill>
                  <a:latin typeface="微软雅黑" pitchFamily="34" charset="-122"/>
                  <a:ea typeface="微软雅黑" pitchFamily="34" charset="-122"/>
                </a:rPr>
                <a:t>客户</a:t>
              </a:r>
            </a:p>
          </p:txBody>
        </p:sp>
        <p:sp>
          <p:nvSpPr>
            <p:cNvPr id="10" name="矩形 9"/>
            <p:cNvSpPr/>
            <p:nvPr/>
          </p:nvSpPr>
          <p:spPr>
            <a:xfrm>
              <a:off x="5917317" y="3137195"/>
              <a:ext cx="998486" cy="252244"/>
            </a:xfrm>
            <a:prstGeom prst="rect">
              <a:avLst/>
            </a:prstGeom>
            <a:solidFill>
              <a:schemeClr val="tx1"/>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dirty="0">
                  <a:solidFill>
                    <a:schemeClr val="bg1"/>
                  </a:solidFill>
                  <a:latin typeface="微软雅黑" pitchFamily="34" charset="-122"/>
                  <a:ea typeface="微软雅黑" pitchFamily="34" charset="-122"/>
                </a:rPr>
                <a:t>DHCP </a:t>
              </a:r>
              <a:r>
                <a:rPr lang="zh-CN" altLang="en-US" sz="1600" dirty="0">
                  <a:solidFill>
                    <a:schemeClr val="bg1"/>
                  </a:solidFill>
                  <a:latin typeface="微软雅黑" pitchFamily="34" charset="-122"/>
                  <a:ea typeface="微软雅黑" pitchFamily="34" charset="-122"/>
                </a:rPr>
                <a:t>服务器</a:t>
              </a:r>
            </a:p>
          </p:txBody>
        </p:sp>
        <p:sp>
          <p:nvSpPr>
            <p:cNvPr id="11" name="矩形 10"/>
            <p:cNvSpPr/>
            <p:nvPr/>
          </p:nvSpPr>
          <p:spPr>
            <a:xfrm>
              <a:off x="5496907" y="3210765"/>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67</a:t>
              </a:r>
              <a:endParaRPr lang="zh-CN" altLang="en-US" sz="1200" b="1" dirty="0">
                <a:solidFill>
                  <a:schemeClr val="tx1"/>
                </a:solidFill>
                <a:latin typeface="微软雅黑" pitchFamily="34" charset="-122"/>
                <a:ea typeface="微软雅黑" pitchFamily="34" charset="-122"/>
              </a:endParaRPr>
            </a:p>
          </p:txBody>
        </p:sp>
        <p:sp>
          <p:nvSpPr>
            <p:cNvPr id="12" name="矩形 11"/>
            <p:cNvSpPr/>
            <p:nvPr/>
          </p:nvSpPr>
          <p:spPr>
            <a:xfrm>
              <a:off x="2991405" y="3210765"/>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68</a:t>
              </a:r>
              <a:endParaRPr lang="zh-CN" altLang="en-US" sz="1200" b="1" dirty="0">
                <a:solidFill>
                  <a:schemeClr val="tx1"/>
                </a:solidFill>
                <a:latin typeface="微软雅黑" pitchFamily="34" charset="-122"/>
                <a:ea typeface="微软雅黑" pitchFamily="34" charset="-122"/>
              </a:endParaRPr>
            </a:p>
          </p:txBody>
        </p:sp>
        <p:sp>
          <p:nvSpPr>
            <p:cNvPr id="13" name="矩形 12"/>
            <p:cNvSpPr/>
            <p:nvPr/>
          </p:nvSpPr>
          <p:spPr>
            <a:xfrm>
              <a:off x="1996962" y="3673224"/>
              <a:ext cx="998486" cy="252244"/>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pitchFamily="34" charset="-122"/>
                  <a:ea typeface="微软雅黑" pitchFamily="34" charset="-122"/>
                </a:rPr>
                <a:t>DHCP </a:t>
              </a:r>
              <a:r>
                <a:rPr lang="zh-CN" altLang="en-US" sz="1600" dirty="0">
                  <a:solidFill>
                    <a:schemeClr val="tx1"/>
                  </a:solidFill>
                  <a:latin typeface="微软雅黑" pitchFamily="34" charset="-122"/>
                  <a:ea typeface="微软雅黑" pitchFamily="34" charset="-122"/>
                </a:rPr>
                <a:t>客户</a:t>
              </a:r>
            </a:p>
          </p:txBody>
        </p:sp>
        <p:sp>
          <p:nvSpPr>
            <p:cNvPr id="14" name="矩形 13"/>
            <p:cNvSpPr/>
            <p:nvPr/>
          </p:nvSpPr>
          <p:spPr>
            <a:xfrm>
              <a:off x="5917317" y="3673224"/>
              <a:ext cx="998486" cy="252244"/>
            </a:xfrm>
            <a:prstGeom prst="rect">
              <a:avLst/>
            </a:prstGeom>
            <a:solidFill>
              <a:schemeClr val="tx1"/>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dirty="0">
                  <a:solidFill>
                    <a:schemeClr val="bg1"/>
                  </a:solidFill>
                  <a:latin typeface="微软雅黑" pitchFamily="34" charset="-122"/>
                  <a:ea typeface="微软雅黑" pitchFamily="34" charset="-122"/>
                </a:rPr>
                <a:t>DHCP </a:t>
              </a:r>
              <a:r>
                <a:rPr lang="zh-CN" altLang="en-US" sz="1600" dirty="0">
                  <a:solidFill>
                    <a:schemeClr val="bg1"/>
                  </a:solidFill>
                  <a:latin typeface="微软雅黑" pitchFamily="34" charset="-122"/>
                  <a:ea typeface="微软雅黑" pitchFamily="34" charset="-122"/>
                </a:rPr>
                <a:t>服务器</a:t>
              </a:r>
            </a:p>
          </p:txBody>
        </p:sp>
        <p:sp>
          <p:nvSpPr>
            <p:cNvPr id="15" name="矩形 14"/>
            <p:cNvSpPr/>
            <p:nvPr/>
          </p:nvSpPr>
          <p:spPr>
            <a:xfrm>
              <a:off x="5496907" y="3746794"/>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67</a:t>
              </a:r>
              <a:endParaRPr lang="zh-CN" altLang="en-US" sz="1200" b="1" dirty="0">
                <a:solidFill>
                  <a:schemeClr val="tx1"/>
                </a:solidFill>
                <a:latin typeface="微软雅黑" pitchFamily="34" charset="-122"/>
                <a:ea typeface="微软雅黑" pitchFamily="34" charset="-122"/>
              </a:endParaRPr>
            </a:p>
          </p:txBody>
        </p:sp>
        <p:sp>
          <p:nvSpPr>
            <p:cNvPr id="16" name="矩形 15"/>
            <p:cNvSpPr/>
            <p:nvPr/>
          </p:nvSpPr>
          <p:spPr>
            <a:xfrm>
              <a:off x="2991405" y="3746794"/>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68</a:t>
              </a:r>
              <a:endParaRPr lang="zh-CN" altLang="en-US" sz="1200" b="1" dirty="0">
                <a:solidFill>
                  <a:schemeClr val="tx1"/>
                </a:solidFill>
                <a:latin typeface="微软雅黑" pitchFamily="34" charset="-122"/>
                <a:ea typeface="微软雅黑" pitchFamily="34" charset="-122"/>
              </a:endParaRPr>
            </a:p>
          </p:txBody>
        </p:sp>
        <p:cxnSp>
          <p:nvCxnSpPr>
            <p:cNvPr id="17" name="直接箭头连接符 16"/>
            <p:cNvCxnSpPr>
              <a:stCxn id="12" idx="3"/>
              <a:endCxn id="11" idx="1"/>
            </p:cNvCxnSpPr>
            <p:nvPr/>
          </p:nvCxnSpPr>
          <p:spPr>
            <a:xfrm>
              <a:off x="3411815" y="3273826"/>
              <a:ext cx="2085092" cy="0"/>
            </a:xfrm>
            <a:prstGeom prst="straightConnector1">
              <a:avLst/>
            </a:prstGeom>
            <a:ln w="28575">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3926822" y="3179235"/>
              <a:ext cx="1032035" cy="178674"/>
            </a:xfrm>
            <a:prstGeom prst="rect">
              <a:avLst/>
            </a:prstGeom>
            <a:solidFill>
              <a:srgbClr val="00FF99"/>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600" dirty="0">
                  <a:solidFill>
                    <a:schemeClr val="tx1"/>
                  </a:solidFill>
                  <a:latin typeface="微软雅黑" pitchFamily="34" charset="-122"/>
                  <a:ea typeface="微软雅黑" pitchFamily="34" charset="-122"/>
                </a:rPr>
                <a:t>请求</a:t>
              </a:r>
            </a:p>
          </p:txBody>
        </p:sp>
        <p:cxnSp>
          <p:nvCxnSpPr>
            <p:cNvPr id="19" name="直接箭头连接符 18"/>
            <p:cNvCxnSpPr>
              <a:stCxn id="15" idx="1"/>
              <a:endCxn id="16" idx="3"/>
            </p:cNvCxnSpPr>
            <p:nvPr/>
          </p:nvCxnSpPr>
          <p:spPr>
            <a:xfrm flipH="1">
              <a:off x="3411815" y="3809855"/>
              <a:ext cx="2085092" cy="0"/>
            </a:xfrm>
            <a:prstGeom prst="straightConnector1">
              <a:avLst/>
            </a:prstGeom>
            <a:ln w="28575">
              <a:solidFill>
                <a:srgbClr val="C00000"/>
              </a:solidFill>
              <a:tailEnd type="triangle" w="med" len="lg"/>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flipH="1">
              <a:off x="3926822" y="3715264"/>
              <a:ext cx="1032035" cy="178674"/>
            </a:xfrm>
            <a:prstGeom prst="rect">
              <a:avLst/>
            </a:prstGeom>
            <a:solidFill>
              <a:srgbClr val="66FFFF"/>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600" dirty="0">
                  <a:solidFill>
                    <a:schemeClr val="tx1"/>
                  </a:solidFill>
                  <a:latin typeface="微软雅黑" pitchFamily="34" charset="-122"/>
                  <a:ea typeface="微软雅黑" pitchFamily="34" charset="-122"/>
                </a:rPr>
                <a:t>应答</a:t>
              </a:r>
            </a:p>
          </p:txBody>
        </p:sp>
        <p:sp>
          <p:nvSpPr>
            <p:cNvPr id="21" name="矩形 20"/>
            <p:cNvSpPr/>
            <p:nvPr/>
          </p:nvSpPr>
          <p:spPr>
            <a:xfrm>
              <a:off x="5231438" y="2450061"/>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600" dirty="0">
                  <a:latin typeface="微软雅黑" pitchFamily="34" charset="-122"/>
                  <a:ea typeface="微软雅黑" pitchFamily="34" charset="-122"/>
                </a:rPr>
                <a:t>被动打开</a:t>
              </a:r>
            </a:p>
          </p:txBody>
        </p:sp>
        <p:sp>
          <p:nvSpPr>
            <p:cNvPr id="22" name="矩形 21"/>
            <p:cNvSpPr/>
            <p:nvPr/>
          </p:nvSpPr>
          <p:spPr>
            <a:xfrm>
              <a:off x="5357557" y="2786820"/>
              <a:ext cx="622805"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300" dirty="0">
                  <a:latin typeface="微软雅黑" pitchFamily="34" charset="-122"/>
                  <a:ea typeface="微软雅黑" pitchFamily="34" charset="-122"/>
                </a:rPr>
                <a:t>UDP</a:t>
              </a:r>
              <a:endParaRPr lang="zh-CN" altLang="en-US" sz="1300" dirty="0">
                <a:latin typeface="微软雅黑" pitchFamily="34" charset="-122"/>
                <a:ea typeface="微软雅黑" pitchFamily="34" charset="-122"/>
              </a:endParaRPr>
            </a:p>
          </p:txBody>
        </p:sp>
        <p:sp>
          <p:nvSpPr>
            <p:cNvPr id="23" name="矩形 22"/>
            <p:cNvSpPr/>
            <p:nvPr/>
          </p:nvSpPr>
          <p:spPr>
            <a:xfrm>
              <a:off x="2938855" y="291762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600" dirty="0">
                  <a:latin typeface="微软雅黑" pitchFamily="34" charset="-122"/>
                  <a:ea typeface="微软雅黑" pitchFamily="34" charset="-122"/>
                </a:rPr>
                <a:t>主动打开</a:t>
              </a:r>
            </a:p>
          </p:txBody>
        </p:sp>
        <p:sp>
          <p:nvSpPr>
            <p:cNvPr id="24" name="矩形 23"/>
            <p:cNvSpPr/>
            <p:nvPr/>
          </p:nvSpPr>
          <p:spPr>
            <a:xfrm>
              <a:off x="2915675" y="3336887"/>
              <a:ext cx="661910"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300" dirty="0">
                  <a:latin typeface="微软雅黑" pitchFamily="34" charset="-122"/>
                  <a:ea typeface="微软雅黑" pitchFamily="34" charset="-122"/>
                </a:rPr>
                <a:t>UDP</a:t>
              </a:r>
              <a:endParaRPr lang="zh-CN" altLang="en-US" sz="1300" dirty="0">
                <a:latin typeface="微软雅黑" pitchFamily="34" charset="-122"/>
                <a:ea typeface="微软雅黑" pitchFamily="34" charset="-122"/>
              </a:endParaRPr>
            </a:p>
          </p:txBody>
        </p:sp>
      </p:grpSp>
      <p:sp>
        <p:nvSpPr>
          <p:cNvPr id="26" name="日期占位符 25"/>
          <p:cNvSpPr>
            <a:spLocks noGrp="1"/>
          </p:cNvSpPr>
          <p:nvPr>
            <p:ph type="dt" sz="half" idx="10"/>
          </p:nvPr>
        </p:nvSpPr>
        <p:spPr/>
        <p:txBody>
          <a:bodyPr/>
          <a:lstStyle/>
          <a:p>
            <a:r>
              <a:rPr kumimoji="1" lang="en-US" altLang="zh-CN" dirty="0"/>
              <a:t>5.6.3 DHCP</a:t>
            </a:r>
            <a:endParaRPr kumimoji="1" lang="zh-CN" altLang="en-US" dirty="0"/>
          </a:p>
        </p:txBody>
      </p:sp>
      <p:pic>
        <p:nvPicPr>
          <p:cNvPr id="27" name="Picture 28" descr="015">
            <a:extLst>
              <a:ext uri="{FF2B5EF4-FFF2-40B4-BE49-F238E27FC236}">
                <a16:creationId xmlns:a16="http://schemas.microsoft.com/office/drawing/2014/main" id="{6462DF31-D48D-4673-9243-25E3534AD20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2686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工作过程</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135</a:t>
            </a:fld>
            <a:endParaRPr kumimoji="1" lang="zh-CN" altLang="en-US" dirty="0"/>
          </a:p>
        </p:txBody>
      </p:sp>
      <p:sp>
        <p:nvSpPr>
          <p:cNvPr id="150" name="Text Box 7">
            <a:extLst>
              <a:ext uri="{FF2B5EF4-FFF2-40B4-BE49-F238E27FC236}">
                <a16:creationId xmlns:a16="http://schemas.microsoft.com/office/drawing/2014/main" id="{9848C615-D54C-4988-AE59-F93BA8E03344}"/>
              </a:ext>
            </a:extLst>
          </p:cNvPr>
          <p:cNvSpPr txBox="1">
            <a:spLocks noChangeArrowheads="1"/>
          </p:cNvSpPr>
          <p:nvPr/>
        </p:nvSpPr>
        <p:spPr bwMode="auto">
          <a:xfrm>
            <a:off x="2177928" y="1626565"/>
            <a:ext cx="149660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600" dirty="0">
                <a:solidFill>
                  <a:srgbClr val="C00000"/>
                </a:solidFill>
                <a:latin typeface="微软雅黑" pitchFamily="34" charset="-122"/>
                <a:ea typeface="微软雅黑" pitchFamily="34" charset="-122"/>
              </a:rPr>
              <a:t>DHCP</a:t>
            </a:r>
            <a:r>
              <a:rPr lang="zh-CN" altLang="en-US" sz="1600" dirty="0">
                <a:solidFill>
                  <a:srgbClr val="C00000"/>
                </a:solidFill>
                <a:latin typeface="微软雅黑" pitchFamily="34" charset="-122"/>
                <a:ea typeface="微软雅黑" pitchFamily="34" charset="-122"/>
              </a:rPr>
              <a:t>服务器</a:t>
            </a:r>
            <a:r>
              <a:rPr lang="en-US" altLang="zh-CN" sz="1600" dirty="0">
                <a:solidFill>
                  <a:srgbClr val="C00000"/>
                </a:solidFill>
                <a:latin typeface="微软雅黑" pitchFamily="34" charset="-122"/>
                <a:ea typeface="微软雅黑" pitchFamily="34" charset="-122"/>
              </a:rPr>
              <a:t>: 223.1.2.5/24</a:t>
            </a:r>
          </a:p>
        </p:txBody>
      </p:sp>
      <p:sp>
        <p:nvSpPr>
          <p:cNvPr id="151" name="Text Box 8">
            <a:extLst>
              <a:ext uri="{FF2B5EF4-FFF2-40B4-BE49-F238E27FC236}">
                <a16:creationId xmlns:a16="http://schemas.microsoft.com/office/drawing/2014/main" id="{3F5D3525-3AF3-42B1-806B-793DF6E6145A}"/>
              </a:ext>
            </a:extLst>
          </p:cNvPr>
          <p:cNvSpPr txBox="1">
            <a:spLocks noChangeArrowheads="1"/>
          </p:cNvSpPr>
          <p:nvPr/>
        </p:nvSpPr>
        <p:spPr bwMode="auto">
          <a:xfrm>
            <a:off x="8093218" y="2324233"/>
            <a:ext cx="800219"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lnSpc>
                <a:spcPct val="85000"/>
              </a:lnSpc>
            </a:pPr>
            <a:r>
              <a:rPr lang="zh-CN" altLang="en-US" sz="1600" dirty="0">
                <a:solidFill>
                  <a:srgbClr val="C00000"/>
                </a:solidFill>
                <a:latin typeface="微软雅黑" pitchFamily="34" charset="-122"/>
                <a:ea typeface="微软雅黑" pitchFamily="34" charset="-122"/>
              </a:rPr>
              <a:t>到达的</a:t>
            </a:r>
            <a:endParaRPr lang="en-US" altLang="zh-CN" sz="1600" dirty="0">
              <a:solidFill>
                <a:srgbClr val="C00000"/>
              </a:solidFill>
              <a:latin typeface="微软雅黑" pitchFamily="34" charset="-122"/>
              <a:ea typeface="微软雅黑" pitchFamily="34" charset="-122"/>
            </a:endParaRPr>
          </a:p>
          <a:p>
            <a:pPr algn="ctr">
              <a:lnSpc>
                <a:spcPct val="85000"/>
              </a:lnSpc>
            </a:pPr>
            <a:r>
              <a:rPr lang="zh-CN" altLang="en-US" sz="1600" dirty="0">
                <a:solidFill>
                  <a:srgbClr val="C00000"/>
                </a:solidFill>
                <a:latin typeface="微软雅黑" pitchFamily="34" charset="-122"/>
                <a:ea typeface="微软雅黑" pitchFamily="34" charset="-122"/>
              </a:rPr>
              <a:t>客户机</a:t>
            </a:r>
            <a:endParaRPr lang="en-US" altLang="zh-CN" sz="1600" dirty="0">
              <a:solidFill>
                <a:srgbClr val="C00000"/>
              </a:solidFill>
              <a:latin typeface="微软雅黑" pitchFamily="34" charset="-122"/>
              <a:ea typeface="微软雅黑" pitchFamily="34" charset="-122"/>
            </a:endParaRPr>
          </a:p>
        </p:txBody>
      </p:sp>
      <p:sp>
        <p:nvSpPr>
          <p:cNvPr id="152" name="Line 10">
            <a:extLst>
              <a:ext uri="{FF2B5EF4-FFF2-40B4-BE49-F238E27FC236}">
                <a16:creationId xmlns:a16="http://schemas.microsoft.com/office/drawing/2014/main" id="{97A1366A-7520-4EAF-986C-FE0DCD45331C}"/>
              </a:ext>
            </a:extLst>
          </p:cNvPr>
          <p:cNvSpPr>
            <a:spLocks noChangeShapeType="1"/>
          </p:cNvSpPr>
          <p:nvPr/>
        </p:nvSpPr>
        <p:spPr bwMode="auto">
          <a:xfrm flipH="1">
            <a:off x="1866247" y="2163764"/>
            <a:ext cx="18480" cy="42767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53" name="Line 11">
            <a:extLst>
              <a:ext uri="{FF2B5EF4-FFF2-40B4-BE49-F238E27FC236}">
                <a16:creationId xmlns:a16="http://schemas.microsoft.com/office/drawing/2014/main" id="{FC266A6D-EE9A-47A3-BD4B-4BDB3D81283B}"/>
              </a:ext>
            </a:extLst>
          </p:cNvPr>
          <p:cNvSpPr>
            <a:spLocks noChangeShapeType="1"/>
          </p:cNvSpPr>
          <p:nvPr/>
        </p:nvSpPr>
        <p:spPr bwMode="auto">
          <a:xfrm flipH="1">
            <a:off x="7904527" y="2239963"/>
            <a:ext cx="14816" cy="4140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54" name="Group 5">
            <a:extLst>
              <a:ext uri="{FF2B5EF4-FFF2-40B4-BE49-F238E27FC236}">
                <a16:creationId xmlns:a16="http://schemas.microsoft.com/office/drawing/2014/main" id="{0CE651CB-5A02-4AAB-8578-979EFA9E2393}"/>
              </a:ext>
            </a:extLst>
          </p:cNvPr>
          <p:cNvGrpSpPr>
            <a:grpSpLocks/>
          </p:cNvGrpSpPr>
          <p:nvPr/>
        </p:nvGrpSpPr>
        <p:grpSpPr bwMode="auto">
          <a:xfrm>
            <a:off x="1929176" y="1343026"/>
            <a:ext cx="5861051" cy="1401763"/>
            <a:chOff x="1860550" y="1343025"/>
            <a:chExt cx="4395788" cy="1401763"/>
          </a:xfrm>
        </p:grpSpPr>
        <p:sp>
          <p:nvSpPr>
            <p:cNvPr id="155" name="Line 9">
              <a:extLst>
                <a:ext uri="{FF2B5EF4-FFF2-40B4-BE49-F238E27FC236}">
                  <a16:creationId xmlns:a16="http://schemas.microsoft.com/office/drawing/2014/main" id="{DA76A483-639B-4366-8B77-2279F1F56CC1}"/>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56" name="Group 23">
              <a:extLst>
                <a:ext uri="{FF2B5EF4-FFF2-40B4-BE49-F238E27FC236}">
                  <a16:creationId xmlns:a16="http://schemas.microsoft.com/office/drawing/2014/main" id="{6349C2EE-AF73-44C5-872C-973C3958A485}"/>
                </a:ext>
              </a:extLst>
            </p:cNvPr>
            <p:cNvGrpSpPr>
              <a:grpSpLocks/>
            </p:cNvGrpSpPr>
            <p:nvPr/>
          </p:nvGrpSpPr>
          <p:grpSpPr bwMode="auto">
            <a:xfrm>
              <a:off x="3389313" y="1343025"/>
              <a:ext cx="2673350" cy="1116013"/>
              <a:chOff x="11865" y="3885"/>
              <a:chExt cx="3720" cy="1260"/>
            </a:xfrm>
          </p:grpSpPr>
          <p:sp>
            <p:nvSpPr>
              <p:cNvPr id="157" name="Text Box 24">
                <a:extLst>
                  <a:ext uri="{FF2B5EF4-FFF2-40B4-BE49-F238E27FC236}">
                    <a16:creationId xmlns:a16="http://schemas.microsoft.com/office/drawing/2014/main" id="{F681FC1D-961F-44A6-8107-DFC09DDDC31F}"/>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discover</a:t>
                </a:r>
                <a:endParaRPr lang="en-US" altLang="zh-CN" sz="1200" b="1">
                  <a:solidFill>
                    <a:srgbClr val="000000"/>
                  </a:solidFill>
                  <a:latin typeface="Comic Sans MS" panose="030F0702030302020204" pitchFamily="66" charset="0"/>
                </a:endParaRPr>
              </a:p>
            </p:txBody>
          </p:sp>
          <p:sp>
            <p:nvSpPr>
              <p:cNvPr id="158" name="Text Box 25">
                <a:extLst>
                  <a:ext uri="{FF2B5EF4-FFF2-40B4-BE49-F238E27FC236}">
                    <a16:creationId xmlns:a16="http://schemas.microsoft.com/office/drawing/2014/main" id="{BEEBCC01-89CB-4370-B40D-600C6D790463}"/>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dirty="0" err="1">
                    <a:solidFill>
                      <a:srgbClr val="000000"/>
                    </a:solidFill>
                  </a:rPr>
                  <a:t>src</a:t>
                </a:r>
                <a:r>
                  <a:rPr lang="en-US" altLang="zh-CN" sz="1200" dirty="0">
                    <a:solidFill>
                      <a:srgbClr val="000000"/>
                    </a:solidFill>
                  </a:rPr>
                  <a:t> : 0.0.0.0, 68     </a:t>
                </a:r>
              </a:p>
              <a:p>
                <a:pPr algn="ctr"/>
                <a:r>
                  <a:rPr lang="en-US" altLang="zh-CN" sz="1200" dirty="0" err="1">
                    <a:solidFill>
                      <a:srgbClr val="000000"/>
                    </a:solidFill>
                  </a:rPr>
                  <a:t>dest</a:t>
                </a:r>
                <a:r>
                  <a:rPr lang="en-US" altLang="zh-CN" sz="1200" dirty="0">
                    <a:solidFill>
                      <a:srgbClr val="000000"/>
                    </a:solidFill>
                  </a:rPr>
                  <a:t>.: 255.255.255.255,67</a:t>
                </a:r>
              </a:p>
              <a:p>
                <a:pPr algn="ctr"/>
                <a:r>
                  <a:rPr lang="en-US" altLang="zh-CN" sz="1200" dirty="0" err="1">
                    <a:solidFill>
                      <a:srgbClr val="000000"/>
                    </a:solidFill>
                  </a:rPr>
                  <a:t>yiaddr</a:t>
                </a:r>
                <a:r>
                  <a:rPr lang="en-US" altLang="zh-CN" sz="1200" dirty="0">
                    <a:solidFill>
                      <a:srgbClr val="000000"/>
                    </a:solidFill>
                  </a:rPr>
                  <a:t>:    0.0.0.0</a:t>
                </a:r>
              </a:p>
              <a:p>
                <a:pPr algn="ctr"/>
                <a:r>
                  <a:rPr lang="en-US" altLang="zh-CN" sz="1200" dirty="0">
                    <a:solidFill>
                      <a:srgbClr val="000000"/>
                    </a:solidFill>
                  </a:rPr>
                  <a:t>transaction ID: 654</a:t>
                </a:r>
                <a:endParaRPr lang="en-US" altLang="zh-CN" sz="1600" dirty="0">
                  <a:solidFill>
                    <a:srgbClr val="000000"/>
                  </a:solidFill>
                  <a:latin typeface="Comic Sans MS" panose="030F0702030302020204" pitchFamily="66" charset="0"/>
                </a:endParaRPr>
              </a:p>
            </p:txBody>
          </p:sp>
        </p:grpSp>
      </p:grpSp>
      <p:sp>
        <p:nvSpPr>
          <p:cNvPr id="159" name="Line 26">
            <a:extLst>
              <a:ext uri="{FF2B5EF4-FFF2-40B4-BE49-F238E27FC236}">
                <a16:creationId xmlns:a16="http://schemas.microsoft.com/office/drawing/2014/main" id="{B8AC32AC-C3F3-421B-B7C0-AF6A30414747}"/>
              </a:ext>
            </a:extLst>
          </p:cNvPr>
          <p:cNvSpPr>
            <a:spLocks noChangeShapeType="1"/>
          </p:cNvSpPr>
          <p:nvPr/>
        </p:nvSpPr>
        <p:spPr bwMode="auto">
          <a:xfrm>
            <a:off x="1986328" y="3194051"/>
            <a:ext cx="5861049"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60" name="Group 6">
            <a:extLst>
              <a:ext uri="{FF2B5EF4-FFF2-40B4-BE49-F238E27FC236}">
                <a16:creationId xmlns:a16="http://schemas.microsoft.com/office/drawing/2014/main" id="{0BFE06C1-DCC5-44E8-8543-79E25BAA17AB}"/>
              </a:ext>
            </a:extLst>
          </p:cNvPr>
          <p:cNvGrpSpPr>
            <a:grpSpLocks/>
          </p:cNvGrpSpPr>
          <p:nvPr/>
        </p:nvGrpSpPr>
        <p:grpSpPr bwMode="auto">
          <a:xfrm>
            <a:off x="4198243" y="2579688"/>
            <a:ext cx="3361267" cy="1217612"/>
            <a:chOff x="3562350" y="2579688"/>
            <a:chExt cx="2520950" cy="1217612"/>
          </a:xfrm>
        </p:grpSpPr>
        <p:sp>
          <p:nvSpPr>
            <p:cNvPr id="161" name="Text Box 27">
              <a:extLst>
                <a:ext uri="{FF2B5EF4-FFF2-40B4-BE49-F238E27FC236}">
                  <a16:creationId xmlns:a16="http://schemas.microsoft.com/office/drawing/2014/main" id="{2ECDBBF6-5606-4E24-A537-CA6839C8B9F8}"/>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offer</a:t>
              </a:r>
              <a:endParaRPr lang="en-US" altLang="zh-CN" sz="1600">
                <a:solidFill>
                  <a:srgbClr val="000000"/>
                </a:solidFill>
                <a:latin typeface="Comic Sans MS" panose="030F0702030302020204" pitchFamily="66" charset="0"/>
              </a:endParaRPr>
            </a:p>
          </p:txBody>
        </p:sp>
        <p:sp>
          <p:nvSpPr>
            <p:cNvPr id="162" name="Text Box 28">
              <a:extLst>
                <a:ext uri="{FF2B5EF4-FFF2-40B4-BE49-F238E27FC236}">
                  <a16:creationId xmlns:a16="http://schemas.microsoft.com/office/drawing/2014/main" id="{5ADFFB82-F7F5-4A4E-9655-EC28C30CC3CA}"/>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dirty="0" err="1">
                  <a:solidFill>
                    <a:srgbClr val="000000"/>
                  </a:solidFill>
                </a:rPr>
                <a:t>src</a:t>
              </a:r>
              <a:r>
                <a:rPr lang="en-US" altLang="zh-CN" sz="1200" dirty="0">
                  <a:solidFill>
                    <a:srgbClr val="000000"/>
                  </a:solidFill>
                </a:rPr>
                <a:t>: 223.1.2.5, 67      </a:t>
              </a:r>
            </a:p>
            <a:p>
              <a:pPr algn="ctr"/>
              <a:r>
                <a:rPr lang="en-US" altLang="zh-CN" sz="1200" dirty="0" err="1">
                  <a:solidFill>
                    <a:srgbClr val="000000"/>
                  </a:solidFill>
                </a:rPr>
                <a:t>dest</a:t>
              </a:r>
              <a:r>
                <a:rPr lang="en-US" altLang="zh-CN" sz="1200" dirty="0">
                  <a:solidFill>
                    <a:srgbClr val="000000"/>
                  </a:solidFill>
                </a:rPr>
                <a:t>:  255.255.255.255, 68</a:t>
              </a:r>
            </a:p>
            <a:p>
              <a:pPr algn="ctr"/>
              <a:r>
                <a:rPr lang="en-US" altLang="zh-CN" sz="1200" dirty="0" err="1">
                  <a:solidFill>
                    <a:srgbClr val="000000"/>
                  </a:solidFill>
                </a:rPr>
                <a:t>yiaddrr</a:t>
              </a:r>
              <a:r>
                <a:rPr lang="en-US" altLang="zh-CN" sz="1200" dirty="0">
                  <a:solidFill>
                    <a:srgbClr val="000000"/>
                  </a:solidFill>
                </a:rPr>
                <a:t>: 223.1.2.4</a:t>
              </a:r>
            </a:p>
            <a:p>
              <a:pPr algn="ctr"/>
              <a:r>
                <a:rPr lang="en-US" altLang="zh-CN" sz="1200" dirty="0">
                  <a:solidFill>
                    <a:srgbClr val="000000"/>
                  </a:solidFill>
                </a:rPr>
                <a:t>transaction ID: 654</a:t>
              </a:r>
            </a:p>
            <a:p>
              <a:pPr algn="ctr"/>
              <a:r>
                <a:rPr lang="en-US" altLang="zh-CN" sz="1200" dirty="0">
                  <a:solidFill>
                    <a:srgbClr val="000000"/>
                  </a:solidFill>
                </a:rPr>
                <a:t>lifetime: 3600 secs</a:t>
              </a:r>
              <a:endParaRPr lang="en-US" altLang="zh-CN" sz="800" dirty="0">
                <a:solidFill>
                  <a:srgbClr val="000000"/>
                </a:solidFill>
                <a:latin typeface="Comic Sans MS" panose="030F0702030302020204" pitchFamily="66" charset="0"/>
              </a:endParaRPr>
            </a:p>
          </p:txBody>
        </p:sp>
      </p:grpSp>
      <p:sp>
        <p:nvSpPr>
          <p:cNvPr id="163" name="Line 29">
            <a:extLst>
              <a:ext uri="{FF2B5EF4-FFF2-40B4-BE49-F238E27FC236}">
                <a16:creationId xmlns:a16="http://schemas.microsoft.com/office/drawing/2014/main" id="{74686320-E368-4490-9322-29275EF25B4E}"/>
              </a:ext>
            </a:extLst>
          </p:cNvPr>
          <p:cNvSpPr>
            <a:spLocks noChangeShapeType="1"/>
          </p:cNvSpPr>
          <p:nvPr/>
        </p:nvSpPr>
        <p:spPr bwMode="auto">
          <a:xfrm flipH="1">
            <a:off x="1842394" y="4422776"/>
            <a:ext cx="5861049"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64" name="Group 7">
            <a:extLst>
              <a:ext uri="{FF2B5EF4-FFF2-40B4-BE49-F238E27FC236}">
                <a16:creationId xmlns:a16="http://schemas.microsoft.com/office/drawing/2014/main" id="{20E78489-9117-4870-92A3-D33CCFBFB988}"/>
              </a:ext>
            </a:extLst>
          </p:cNvPr>
          <p:cNvGrpSpPr>
            <a:grpSpLocks/>
          </p:cNvGrpSpPr>
          <p:nvPr/>
        </p:nvGrpSpPr>
        <p:grpSpPr bwMode="auto">
          <a:xfrm>
            <a:off x="2070993" y="3765551"/>
            <a:ext cx="3850216" cy="1260475"/>
            <a:chOff x="1966913" y="3765550"/>
            <a:chExt cx="2887662" cy="1260475"/>
          </a:xfrm>
        </p:grpSpPr>
        <p:sp>
          <p:nvSpPr>
            <p:cNvPr id="165" name="Text Box 30">
              <a:extLst>
                <a:ext uri="{FF2B5EF4-FFF2-40B4-BE49-F238E27FC236}">
                  <a16:creationId xmlns:a16="http://schemas.microsoft.com/office/drawing/2014/main" id="{4DEC45E6-6738-4206-A08D-89C735585A70}"/>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request</a:t>
              </a:r>
              <a:endParaRPr lang="en-US" altLang="zh-CN" sz="1600">
                <a:solidFill>
                  <a:srgbClr val="000000"/>
                </a:solidFill>
                <a:latin typeface="Comic Sans MS" panose="030F0702030302020204" pitchFamily="66" charset="0"/>
              </a:endParaRPr>
            </a:p>
          </p:txBody>
        </p:sp>
        <p:sp>
          <p:nvSpPr>
            <p:cNvPr id="166" name="Text Box 31">
              <a:extLst>
                <a:ext uri="{FF2B5EF4-FFF2-40B4-BE49-F238E27FC236}">
                  <a16:creationId xmlns:a16="http://schemas.microsoft.com/office/drawing/2014/main" id="{E28F1BDC-47B0-4614-B24C-34684564DCAE}"/>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a:solidFill>
                    <a:srgbClr val="000000"/>
                  </a:solidFill>
                </a:rPr>
                <a:t>src:  0.0.0.0, 68     </a:t>
              </a:r>
            </a:p>
            <a:p>
              <a:pPr algn="ctr"/>
              <a:r>
                <a:rPr lang="en-US" altLang="zh-CN" sz="1200">
                  <a:solidFill>
                    <a:srgbClr val="000000"/>
                  </a:solidFill>
                </a:rPr>
                <a:t>dest::  255.255.255.255, 67</a:t>
              </a:r>
            </a:p>
            <a:p>
              <a:pPr algn="ctr"/>
              <a:r>
                <a:rPr lang="en-US" altLang="zh-CN" sz="1200">
                  <a:solidFill>
                    <a:srgbClr val="000000"/>
                  </a:solidFill>
                </a:rPr>
                <a:t>yiaddrr: 223.1.2.4</a:t>
              </a:r>
            </a:p>
            <a:p>
              <a:pPr algn="ctr"/>
              <a:r>
                <a:rPr lang="en-US" altLang="zh-CN" sz="1200">
                  <a:solidFill>
                    <a:srgbClr val="000000"/>
                  </a:solidFill>
                </a:rPr>
                <a:t>transaction ID: 655</a:t>
              </a:r>
            </a:p>
            <a:p>
              <a:pPr algn="ctr"/>
              <a:r>
                <a:rPr lang="en-US" altLang="zh-CN" sz="1200">
                  <a:solidFill>
                    <a:srgbClr val="000000"/>
                  </a:solidFill>
                </a:rPr>
                <a:t>lifetime: 3600 secs</a:t>
              </a:r>
              <a:endParaRPr lang="en-US" altLang="zh-CN" sz="1600">
                <a:solidFill>
                  <a:srgbClr val="000000"/>
                </a:solidFill>
                <a:latin typeface="Comic Sans MS" panose="030F0702030302020204" pitchFamily="66" charset="0"/>
              </a:endParaRPr>
            </a:p>
          </p:txBody>
        </p:sp>
      </p:grpSp>
      <p:sp>
        <p:nvSpPr>
          <p:cNvPr id="167" name="Line 32">
            <a:extLst>
              <a:ext uri="{FF2B5EF4-FFF2-40B4-BE49-F238E27FC236}">
                <a16:creationId xmlns:a16="http://schemas.microsoft.com/office/drawing/2014/main" id="{974159A6-967F-40C3-BF08-88FA2B9B831D}"/>
              </a:ext>
            </a:extLst>
          </p:cNvPr>
          <p:cNvSpPr>
            <a:spLocks noChangeShapeType="1"/>
          </p:cNvSpPr>
          <p:nvPr/>
        </p:nvSpPr>
        <p:spPr bwMode="auto">
          <a:xfrm>
            <a:off x="1956694" y="5453063"/>
            <a:ext cx="5861049"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68" name="Group 8">
            <a:extLst>
              <a:ext uri="{FF2B5EF4-FFF2-40B4-BE49-F238E27FC236}">
                <a16:creationId xmlns:a16="http://schemas.microsoft.com/office/drawing/2014/main" id="{6C47207D-7C19-4A6A-B48D-95C5D6074CDF}"/>
              </a:ext>
            </a:extLst>
          </p:cNvPr>
          <p:cNvGrpSpPr>
            <a:grpSpLocks/>
          </p:cNvGrpSpPr>
          <p:nvPr/>
        </p:nvGrpSpPr>
        <p:grpSpPr bwMode="auto">
          <a:xfrm>
            <a:off x="4141094" y="5168900"/>
            <a:ext cx="3346449" cy="1271588"/>
            <a:chOff x="3519488" y="5168900"/>
            <a:chExt cx="2509837" cy="1271588"/>
          </a:xfrm>
        </p:grpSpPr>
        <p:sp>
          <p:nvSpPr>
            <p:cNvPr id="169" name="Text Box 33">
              <a:extLst>
                <a:ext uri="{FF2B5EF4-FFF2-40B4-BE49-F238E27FC236}">
                  <a16:creationId xmlns:a16="http://schemas.microsoft.com/office/drawing/2014/main" id="{B290C8D7-1C55-46F3-B4F2-1490164E73FC}"/>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ACK</a:t>
              </a:r>
              <a:endParaRPr lang="en-US" altLang="zh-CN" sz="1600">
                <a:solidFill>
                  <a:srgbClr val="000000"/>
                </a:solidFill>
                <a:latin typeface="Comic Sans MS" panose="030F0702030302020204" pitchFamily="66" charset="0"/>
              </a:endParaRPr>
            </a:p>
          </p:txBody>
        </p:sp>
        <p:sp>
          <p:nvSpPr>
            <p:cNvPr id="170" name="Text Box 34">
              <a:extLst>
                <a:ext uri="{FF2B5EF4-FFF2-40B4-BE49-F238E27FC236}">
                  <a16:creationId xmlns:a16="http://schemas.microsoft.com/office/drawing/2014/main" id="{C5B44FA8-38E1-4510-8693-06567131DBCF}"/>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a:solidFill>
                    <a:srgbClr val="000000"/>
                  </a:solidFill>
                </a:rPr>
                <a:t>src: 223.1.2.5, 67      </a:t>
              </a:r>
            </a:p>
            <a:p>
              <a:pPr algn="ctr"/>
              <a:r>
                <a:rPr lang="en-US" altLang="zh-CN" sz="1200">
                  <a:solidFill>
                    <a:srgbClr val="000000"/>
                  </a:solidFill>
                </a:rPr>
                <a:t>dest:  255.255.255.255, 68</a:t>
              </a:r>
            </a:p>
            <a:p>
              <a:pPr algn="ctr"/>
              <a:r>
                <a:rPr lang="en-US" altLang="zh-CN" sz="1200">
                  <a:solidFill>
                    <a:srgbClr val="000000"/>
                  </a:solidFill>
                </a:rPr>
                <a:t>yiaddrr: 223.1.2.4</a:t>
              </a:r>
            </a:p>
            <a:p>
              <a:pPr algn="ctr"/>
              <a:r>
                <a:rPr lang="en-US" altLang="zh-CN" sz="1200">
                  <a:solidFill>
                    <a:srgbClr val="000000"/>
                  </a:solidFill>
                </a:rPr>
                <a:t>transaction ID: 655</a:t>
              </a:r>
            </a:p>
            <a:p>
              <a:pPr algn="ctr"/>
              <a:r>
                <a:rPr lang="en-US" altLang="zh-CN" sz="1200">
                  <a:solidFill>
                    <a:srgbClr val="000000"/>
                  </a:solidFill>
                </a:rPr>
                <a:t>lifetime: 3600 secs</a:t>
              </a:r>
              <a:endParaRPr lang="en-US" altLang="zh-CN" sz="1000">
                <a:solidFill>
                  <a:srgbClr val="000000"/>
                </a:solidFill>
                <a:latin typeface="Comic Sans MS" panose="030F0702030302020204" pitchFamily="66" charset="0"/>
              </a:endParaRPr>
            </a:p>
          </p:txBody>
        </p:sp>
      </p:grpSp>
      <p:grpSp>
        <p:nvGrpSpPr>
          <p:cNvPr id="171" name="Group 36">
            <a:extLst>
              <a:ext uri="{FF2B5EF4-FFF2-40B4-BE49-F238E27FC236}">
                <a16:creationId xmlns:a16="http://schemas.microsoft.com/office/drawing/2014/main" id="{876EC0D5-D696-4FD6-B343-99D2038018BA}"/>
              </a:ext>
            </a:extLst>
          </p:cNvPr>
          <p:cNvGrpSpPr>
            <a:grpSpLocks/>
          </p:cNvGrpSpPr>
          <p:nvPr/>
        </p:nvGrpSpPr>
        <p:grpSpPr bwMode="auto">
          <a:xfrm>
            <a:off x="7606072" y="1743073"/>
            <a:ext cx="1045633" cy="549275"/>
            <a:chOff x="4420" y="878"/>
            <a:chExt cx="614" cy="458"/>
          </a:xfrm>
        </p:grpSpPr>
        <p:pic>
          <p:nvPicPr>
            <p:cNvPr id="172" name="Picture 37" descr="laptop_keyboard">
              <a:extLst>
                <a:ext uri="{FF2B5EF4-FFF2-40B4-BE49-F238E27FC236}">
                  <a16:creationId xmlns:a16="http://schemas.microsoft.com/office/drawing/2014/main" id="{758B8132-D073-4C94-9A48-CB1233D5087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Freeform 38">
              <a:extLst>
                <a:ext uri="{FF2B5EF4-FFF2-40B4-BE49-F238E27FC236}">
                  <a16:creationId xmlns:a16="http://schemas.microsoft.com/office/drawing/2014/main" id="{679AC529-FB45-42E8-A775-31753CE201A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zh-CN" altLang="en-US"/>
            </a:p>
          </p:txBody>
        </p:sp>
        <p:pic>
          <p:nvPicPr>
            <p:cNvPr id="174" name="Picture 39" descr="screen">
              <a:extLst>
                <a:ext uri="{FF2B5EF4-FFF2-40B4-BE49-F238E27FC236}">
                  <a16:creationId xmlns:a16="http://schemas.microsoft.com/office/drawing/2014/main" id="{E451F106-F819-4CA0-9985-75DDA3CF70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Freeform 40">
              <a:extLst>
                <a:ext uri="{FF2B5EF4-FFF2-40B4-BE49-F238E27FC236}">
                  <a16:creationId xmlns:a16="http://schemas.microsoft.com/office/drawing/2014/main" id="{109919B9-F479-4114-892C-BF3943516E9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6" name="Freeform 41">
              <a:extLst>
                <a:ext uri="{FF2B5EF4-FFF2-40B4-BE49-F238E27FC236}">
                  <a16:creationId xmlns:a16="http://schemas.microsoft.com/office/drawing/2014/main" id="{DF2066FC-8968-4618-BE9E-B86AB27FBB90}"/>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7" name="Freeform 42">
              <a:extLst>
                <a:ext uri="{FF2B5EF4-FFF2-40B4-BE49-F238E27FC236}">
                  <a16:creationId xmlns:a16="http://schemas.microsoft.com/office/drawing/2014/main" id="{5B6AE9AB-F52E-4C23-9425-DFA1C972B8C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8" name="Freeform 43">
              <a:extLst>
                <a:ext uri="{FF2B5EF4-FFF2-40B4-BE49-F238E27FC236}">
                  <a16:creationId xmlns:a16="http://schemas.microsoft.com/office/drawing/2014/main" id="{09DB3148-C6E2-4C93-804C-38A94F57C89F}"/>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9" name="Freeform 44">
              <a:extLst>
                <a:ext uri="{FF2B5EF4-FFF2-40B4-BE49-F238E27FC236}">
                  <a16:creationId xmlns:a16="http://schemas.microsoft.com/office/drawing/2014/main" id="{B2ED08B0-B0CE-4186-8850-1B7FBDBA29A9}"/>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0" name="Freeform 45">
              <a:extLst>
                <a:ext uri="{FF2B5EF4-FFF2-40B4-BE49-F238E27FC236}">
                  <a16:creationId xmlns:a16="http://schemas.microsoft.com/office/drawing/2014/main" id="{DFE66E2A-DB6E-43C6-9FCC-3E5321352D21}"/>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81" name="Group 46">
              <a:extLst>
                <a:ext uri="{FF2B5EF4-FFF2-40B4-BE49-F238E27FC236}">
                  <a16:creationId xmlns:a16="http://schemas.microsoft.com/office/drawing/2014/main" id="{EC24FB23-C392-414D-929B-BAECE4804884}"/>
                </a:ext>
              </a:extLst>
            </p:cNvPr>
            <p:cNvGrpSpPr>
              <a:grpSpLocks/>
            </p:cNvGrpSpPr>
            <p:nvPr/>
          </p:nvGrpSpPr>
          <p:grpSpPr bwMode="auto">
            <a:xfrm>
              <a:off x="4584" y="1203"/>
              <a:ext cx="119" cy="53"/>
              <a:chOff x="1740" y="2642"/>
              <a:chExt cx="752" cy="327"/>
            </a:xfrm>
          </p:grpSpPr>
          <p:sp>
            <p:nvSpPr>
              <p:cNvPr id="188" name="Freeform 47">
                <a:extLst>
                  <a:ext uri="{FF2B5EF4-FFF2-40B4-BE49-F238E27FC236}">
                    <a16:creationId xmlns:a16="http://schemas.microsoft.com/office/drawing/2014/main" id="{35DF325D-03A1-4C57-AC04-DC897FD2022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9" name="Freeform 48">
                <a:extLst>
                  <a:ext uri="{FF2B5EF4-FFF2-40B4-BE49-F238E27FC236}">
                    <a16:creationId xmlns:a16="http://schemas.microsoft.com/office/drawing/2014/main" id="{E40DF27B-801C-4512-B722-6E02F8A7344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0" name="Freeform 49">
                <a:extLst>
                  <a:ext uri="{FF2B5EF4-FFF2-40B4-BE49-F238E27FC236}">
                    <a16:creationId xmlns:a16="http://schemas.microsoft.com/office/drawing/2014/main" id="{1C006E17-C338-4363-9D9D-C10559995D9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1" name="Freeform 50">
                <a:extLst>
                  <a:ext uri="{FF2B5EF4-FFF2-40B4-BE49-F238E27FC236}">
                    <a16:creationId xmlns:a16="http://schemas.microsoft.com/office/drawing/2014/main" id="{D5A52164-53A3-44C9-ACE9-99E1F6E8C5B5}"/>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2" name="Freeform 51">
                <a:extLst>
                  <a:ext uri="{FF2B5EF4-FFF2-40B4-BE49-F238E27FC236}">
                    <a16:creationId xmlns:a16="http://schemas.microsoft.com/office/drawing/2014/main" id="{81A8B0D2-6781-42AF-BDCB-B86BEEBE71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3" name="Freeform 52">
                <a:extLst>
                  <a:ext uri="{FF2B5EF4-FFF2-40B4-BE49-F238E27FC236}">
                    <a16:creationId xmlns:a16="http://schemas.microsoft.com/office/drawing/2014/main" id="{BDFB59C7-67F9-4050-940D-6DE8BD10F1A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82" name="Freeform 53">
              <a:extLst>
                <a:ext uri="{FF2B5EF4-FFF2-40B4-BE49-F238E27FC236}">
                  <a16:creationId xmlns:a16="http://schemas.microsoft.com/office/drawing/2014/main" id="{D513917E-FD44-42E8-BEA2-B30A196C0B0E}"/>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3" name="Freeform 54">
              <a:extLst>
                <a:ext uri="{FF2B5EF4-FFF2-40B4-BE49-F238E27FC236}">
                  <a16:creationId xmlns:a16="http://schemas.microsoft.com/office/drawing/2014/main" id="{CC8C8D54-BE37-462F-B0EA-5AF942142C72}"/>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 name="Freeform 55">
              <a:extLst>
                <a:ext uri="{FF2B5EF4-FFF2-40B4-BE49-F238E27FC236}">
                  <a16:creationId xmlns:a16="http://schemas.microsoft.com/office/drawing/2014/main" id="{D76CF10E-971A-431B-AABE-E3628D0A9B13}"/>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 name="Freeform 56">
              <a:extLst>
                <a:ext uri="{FF2B5EF4-FFF2-40B4-BE49-F238E27FC236}">
                  <a16:creationId xmlns:a16="http://schemas.microsoft.com/office/drawing/2014/main" id="{0207D886-E918-4C16-B9BA-E9ADD02090E2}"/>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6" name="Freeform 57">
              <a:extLst>
                <a:ext uri="{FF2B5EF4-FFF2-40B4-BE49-F238E27FC236}">
                  <a16:creationId xmlns:a16="http://schemas.microsoft.com/office/drawing/2014/main" id="{7024F4FF-2C5E-4D28-8B30-F21D9C578079}"/>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7" name="Freeform 58">
              <a:extLst>
                <a:ext uri="{FF2B5EF4-FFF2-40B4-BE49-F238E27FC236}">
                  <a16:creationId xmlns:a16="http://schemas.microsoft.com/office/drawing/2014/main" id="{4B76EB35-09E0-4B35-AC83-E35C21DC36E8}"/>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94" name="Group 60">
            <a:extLst>
              <a:ext uri="{FF2B5EF4-FFF2-40B4-BE49-F238E27FC236}">
                <a16:creationId xmlns:a16="http://schemas.microsoft.com/office/drawing/2014/main" id="{CA0A30B2-F7FC-4EEB-8732-9F952F9F5CBD}"/>
              </a:ext>
            </a:extLst>
          </p:cNvPr>
          <p:cNvGrpSpPr>
            <a:grpSpLocks/>
          </p:cNvGrpSpPr>
          <p:nvPr/>
        </p:nvGrpSpPr>
        <p:grpSpPr bwMode="auto">
          <a:xfrm>
            <a:off x="1738677" y="1590676"/>
            <a:ext cx="446617" cy="536575"/>
            <a:chOff x="4140" y="429"/>
            <a:chExt cx="1425" cy="2396"/>
          </a:xfrm>
        </p:grpSpPr>
        <p:sp>
          <p:nvSpPr>
            <p:cNvPr id="195" name="Freeform 61">
              <a:extLst>
                <a:ext uri="{FF2B5EF4-FFF2-40B4-BE49-F238E27FC236}">
                  <a16:creationId xmlns:a16="http://schemas.microsoft.com/office/drawing/2014/main" id="{2F5D5305-4071-4CB4-9546-EE6BEC61F1F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6" name="Rectangle 62">
              <a:extLst>
                <a:ext uri="{FF2B5EF4-FFF2-40B4-BE49-F238E27FC236}">
                  <a16:creationId xmlns:a16="http://schemas.microsoft.com/office/drawing/2014/main" id="{0EB5E935-A7BD-48BB-9DD9-0DCC7184CDE2}"/>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197" name="Freeform 63">
              <a:extLst>
                <a:ext uri="{FF2B5EF4-FFF2-40B4-BE49-F238E27FC236}">
                  <a16:creationId xmlns:a16="http://schemas.microsoft.com/office/drawing/2014/main" id="{FAD11F43-B180-476A-A775-BC01FE5FEC2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8" name="Freeform 64">
              <a:extLst>
                <a:ext uri="{FF2B5EF4-FFF2-40B4-BE49-F238E27FC236}">
                  <a16:creationId xmlns:a16="http://schemas.microsoft.com/office/drawing/2014/main" id="{6623ED7E-0B17-4F1E-9A1F-4B36C7F930E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9" name="Rectangle 65">
              <a:extLst>
                <a:ext uri="{FF2B5EF4-FFF2-40B4-BE49-F238E27FC236}">
                  <a16:creationId xmlns:a16="http://schemas.microsoft.com/office/drawing/2014/main" id="{DE7F5611-B6EA-46C2-AD3B-840A21C8BF38}"/>
                </a:ext>
              </a:extLst>
            </p:cNvPr>
            <p:cNvSpPr>
              <a:spLocks noChangeArrowheads="1"/>
            </p:cNvSpPr>
            <p:nvPr/>
          </p:nvSpPr>
          <p:spPr bwMode="auto">
            <a:xfrm>
              <a:off x="4214" y="691"/>
              <a:ext cx="594"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nvGrpSpPr>
            <p:cNvPr id="200" name="Group 66">
              <a:extLst>
                <a:ext uri="{FF2B5EF4-FFF2-40B4-BE49-F238E27FC236}">
                  <a16:creationId xmlns:a16="http://schemas.microsoft.com/office/drawing/2014/main" id="{63CBAEA9-C2B3-48A2-B56C-F9CC3E25E42F}"/>
                </a:ext>
              </a:extLst>
            </p:cNvPr>
            <p:cNvGrpSpPr>
              <a:grpSpLocks/>
            </p:cNvGrpSpPr>
            <p:nvPr/>
          </p:nvGrpSpPr>
          <p:grpSpPr bwMode="auto">
            <a:xfrm>
              <a:off x="4749" y="668"/>
              <a:ext cx="581" cy="145"/>
              <a:chOff x="614" y="2568"/>
              <a:chExt cx="725" cy="139"/>
            </a:xfrm>
          </p:grpSpPr>
          <p:sp>
            <p:nvSpPr>
              <p:cNvPr id="225" name="AutoShape 67">
                <a:extLst>
                  <a:ext uri="{FF2B5EF4-FFF2-40B4-BE49-F238E27FC236}">
                    <a16:creationId xmlns:a16="http://schemas.microsoft.com/office/drawing/2014/main" id="{2031014F-B8D3-4E85-B44E-70B248339E6B}"/>
                  </a:ext>
                </a:extLst>
              </p:cNvPr>
              <p:cNvSpPr>
                <a:spLocks noChangeArrowheads="1"/>
              </p:cNvSpPr>
              <p:nvPr/>
            </p:nvSpPr>
            <p:spPr bwMode="auto">
              <a:xfrm>
                <a:off x="613" y="2570"/>
                <a:ext cx="725" cy="136"/>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6" name="AutoShape 68">
                <a:extLst>
                  <a:ext uri="{FF2B5EF4-FFF2-40B4-BE49-F238E27FC236}">
                    <a16:creationId xmlns:a16="http://schemas.microsoft.com/office/drawing/2014/main" id="{AAB13EE6-E337-4471-ABDE-8549FAE64ABE}"/>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1" name="Rectangle 69">
              <a:extLst>
                <a:ext uri="{FF2B5EF4-FFF2-40B4-BE49-F238E27FC236}">
                  <a16:creationId xmlns:a16="http://schemas.microsoft.com/office/drawing/2014/main" id="{3331D06D-FFFC-4B5E-A64A-889313CC492B}"/>
                </a:ext>
              </a:extLst>
            </p:cNvPr>
            <p:cNvSpPr>
              <a:spLocks noChangeArrowheads="1"/>
            </p:cNvSpPr>
            <p:nvPr/>
          </p:nvSpPr>
          <p:spPr bwMode="auto">
            <a:xfrm>
              <a:off x="4221" y="1017"/>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nvGrpSpPr>
            <p:cNvPr id="202" name="Group 70">
              <a:extLst>
                <a:ext uri="{FF2B5EF4-FFF2-40B4-BE49-F238E27FC236}">
                  <a16:creationId xmlns:a16="http://schemas.microsoft.com/office/drawing/2014/main" id="{BFA32730-5D8A-4446-8831-344E73C755FE}"/>
                </a:ext>
              </a:extLst>
            </p:cNvPr>
            <p:cNvGrpSpPr>
              <a:grpSpLocks/>
            </p:cNvGrpSpPr>
            <p:nvPr/>
          </p:nvGrpSpPr>
          <p:grpSpPr bwMode="auto">
            <a:xfrm>
              <a:off x="4747" y="994"/>
              <a:ext cx="581" cy="134"/>
              <a:chOff x="614" y="2568"/>
              <a:chExt cx="725" cy="139"/>
            </a:xfrm>
          </p:grpSpPr>
          <p:sp>
            <p:nvSpPr>
              <p:cNvPr id="223" name="AutoShape 71">
                <a:extLst>
                  <a:ext uri="{FF2B5EF4-FFF2-40B4-BE49-F238E27FC236}">
                    <a16:creationId xmlns:a16="http://schemas.microsoft.com/office/drawing/2014/main" id="{D1D645BF-33BB-4411-9BD3-C073D3150A74}"/>
                  </a:ext>
                </a:extLst>
              </p:cNvPr>
              <p:cNvSpPr>
                <a:spLocks noChangeArrowheads="1"/>
              </p:cNvSpPr>
              <p:nvPr/>
            </p:nvSpPr>
            <p:spPr bwMode="auto">
              <a:xfrm>
                <a:off x="615" y="2570"/>
                <a:ext cx="725"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4" name="AutoShape 72">
                <a:extLst>
                  <a:ext uri="{FF2B5EF4-FFF2-40B4-BE49-F238E27FC236}">
                    <a16:creationId xmlns:a16="http://schemas.microsoft.com/office/drawing/2014/main" id="{22532DD6-B5A0-4EE1-83A4-1E4E78A9BBB2}"/>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3" name="Rectangle 73">
              <a:extLst>
                <a:ext uri="{FF2B5EF4-FFF2-40B4-BE49-F238E27FC236}">
                  <a16:creationId xmlns:a16="http://schemas.microsoft.com/office/drawing/2014/main" id="{F027B375-77CB-4D26-9664-90404117045E}"/>
                </a:ext>
              </a:extLst>
            </p:cNvPr>
            <p:cNvSpPr>
              <a:spLocks noChangeArrowheads="1"/>
            </p:cNvSpPr>
            <p:nvPr/>
          </p:nvSpPr>
          <p:spPr bwMode="auto">
            <a:xfrm>
              <a:off x="4214" y="1358"/>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04" name="Rectangle 74">
              <a:extLst>
                <a:ext uri="{FF2B5EF4-FFF2-40B4-BE49-F238E27FC236}">
                  <a16:creationId xmlns:a16="http://schemas.microsoft.com/office/drawing/2014/main" id="{5052855C-6CB0-4FB1-92D3-2945581ADEA3}"/>
                </a:ext>
              </a:extLst>
            </p:cNvPr>
            <p:cNvSpPr>
              <a:spLocks noChangeArrowheads="1"/>
            </p:cNvSpPr>
            <p:nvPr/>
          </p:nvSpPr>
          <p:spPr bwMode="auto">
            <a:xfrm>
              <a:off x="4228" y="1655"/>
              <a:ext cx="594"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nvGrpSpPr>
            <p:cNvPr id="205" name="Group 75">
              <a:extLst>
                <a:ext uri="{FF2B5EF4-FFF2-40B4-BE49-F238E27FC236}">
                  <a16:creationId xmlns:a16="http://schemas.microsoft.com/office/drawing/2014/main" id="{C8176FAB-38A8-4D34-9511-CB1CCA8BCDDE}"/>
                </a:ext>
              </a:extLst>
            </p:cNvPr>
            <p:cNvGrpSpPr>
              <a:grpSpLocks/>
            </p:cNvGrpSpPr>
            <p:nvPr/>
          </p:nvGrpSpPr>
          <p:grpSpPr bwMode="auto">
            <a:xfrm>
              <a:off x="4735" y="1627"/>
              <a:ext cx="582" cy="151"/>
              <a:chOff x="614" y="2568"/>
              <a:chExt cx="725" cy="139"/>
            </a:xfrm>
          </p:grpSpPr>
          <p:sp>
            <p:nvSpPr>
              <p:cNvPr id="221" name="AutoShape 76">
                <a:extLst>
                  <a:ext uri="{FF2B5EF4-FFF2-40B4-BE49-F238E27FC236}">
                    <a16:creationId xmlns:a16="http://schemas.microsoft.com/office/drawing/2014/main" id="{A9C6B1B3-EB32-454C-AF81-DE9FDCFD52F6}"/>
                  </a:ext>
                </a:extLst>
              </p:cNvPr>
              <p:cNvSpPr>
                <a:spLocks noChangeArrowheads="1"/>
              </p:cNvSpPr>
              <p:nvPr/>
            </p:nvSpPr>
            <p:spPr bwMode="auto">
              <a:xfrm>
                <a:off x="613" y="2568"/>
                <a:ext cx="724"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2" name="AutoShape 77">
                <a:extLst>
                  <a:ext uri="{FF2B5EF4-FFF2-40B4-BE49-F238E27FC236}">
                    <a16:creationId xmlns:a16="http://schemas.microsoft.com/office/drawing/2014/main" id="{957AC471-2D57-42B5-A755-B1024E855033}"/>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6" name="Freeform 78">
              <a:extLst>
                <a:ext uri="{FF2B5EF4-FFF2-40B4-BE49-F238E27FC236}">
                  <a16:creationId xmlns:a16="http://schemas.microsoft.com/office/drawing/2014/main" id="{16E3AF93-536D-4E66-92A4-54C29981738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207" name="Group 79">
              <a:extLst>
                <a:ext uri="{FF2B5EF4-FFF2-40B4-BE49-F238E27FC236}">
                  <a16:creationId xmlns:a16="http://schemas.microsoft.com/office/drawing/2014/main" id="{3645980C-DF4B-4D14-8D42-34C0133B9708}"/>
                </a:ext>
              </a:extLst>
            </p:cNvPr>
            <p:cNvGrpSpPr>
              <a:grpSpLocks/>
            </p:cNvGrpSpPr>
            <p:nvPr/>
          </p:nvGrpSpPr>
          <p:grpSpPr bwMode="auto">
            <a:xfrm>
              <a:off x="4739" y="1327"/>
              <a:ext cx="582" cy="139"/>
              <a:chOff x="614" y="2568"/>
              <a:chExt cx="725" cy="139"/>
            </a:xfrm>
          </p:grpSpPr>
          <p:sp>
            <p:nvSpPr>
              <p:cNvPr id="219" name="AutoShape 80">
                <a:extLst>
                  <a:ext uri="{FF2B5EF4-FFF2-40B4-BE49-F238E27FC236}">
                    <a16:creationId xmlns:a16="http://schemas.microsoft.com/office/drawing/2014/main" id="{F3155CB5-C008-425C-9F9B-187FBB748CF2}"/>
                  </a:ext>
                </a:extLst>
              </p:cNvPr>
              <p:cNvSpPr>
                <a:spLocks noChangeArrowheads="1"/>
              </p:cNvSpPr>
              <p:nvPr/>
            </p:nvSpPr>
            <p:spPr bwMode="auto">
              <a:xfrm>
                <a:off x="617" y="2570"/>
                <a:ext cx="724" cy="135"/>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0" name="AutoShape 81">
                <a:extLst>
                  <a:ext uri="{FF2B5EF4-FFF2-40B4-BE49-F238E27FC236}">
                    <a16:creationId xmlns:a16="http://schemas.microsoft.com/office/drawing/2014/main" id="{E18B42B3-4F63-4DA5-8D6B-3C76518D03EC}"/>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8" name="Rectangle 82">
              <a:extLst>
                <a:ext uri="{FF2B5EF4-FFF2-40B4-BE49-F238E27FC236}">
                  <a16:creationId xmlns:a16="http://schemas.microsoft.com/office/drawing/2014/main" id="{015F8B08-3C7F-44DF-A566-D83BF50D1B67}"/>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09" name="Freeform 83">
              <a:extLst>
                <a:ext uri="{FF2B5EF4-FFF2-40B4-BE49-F238E27FC236}">
                  <a16:creationId xmlns:a16="http://schemas.microsoft.com/office/drawing/2014/main" id="{BC3AB64D-4A95-486A-915D-5F833507B97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0" name="Freeform 84">
              <a:extLst>
                <a:ext uri="{FF2B5EF4-FFF2-40B4-BE49-F238E27FC236}">
                  <a16:creationId xmlns:a16="http://schemas.microsoft.com/office/drawing/2014/main" id="{E1346518-2392-4B49-AAFB-DD30788C684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1" name="Oval 85">
              <a:extLst>
                <a:ext uri="{FF2B5EF4-FFF2-40B4-BE49-F238E27FC236}">
                  <a16:creationId xmlns:a16="http://schemas.microsoft.com/office/drawing/2014/main" id="{E2113C33-EBA6-4D2A-8D70-4FCE3484A868}"/>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2" name="Freeform 86">
              <a:extLst>
                <a:ext uri="{FF2B5EF4-FFF2-40B4-BE49-F238E27FC236}">
                  <a16:creationId xmlns:a16="http://schemas.microsoft.com/office/drawing/2014/main" id="{BFD83337-492D-4A19-81C0-0A57B7FF76F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3" name="AutoShape 87">
              <a:extLst>
                <a:ext uri="{FF2B5EF4-FFF2-40B4-BE49-F238E27FC236}">
                  <a16:creationId xmlns:a16="http://schemas.microsoft.com/office/drawing/2014/main" id="{F4EA8859-9E6B-47B4-A6F6-AA29B1D394DC}"/>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4" name="AutoShape 88">
              <a:extLst>
                <a:ext uri="{FF2B5EF4-FFF2-40B4-BE49-F238E27FC236}">
                  <a16:creationId xmlns:a16="http://schemas.microsoft.com/office/drawing/2014/main" id="{365D5660-FF58-4904-AC92-49B20BD60423}"/>
                </a:ext>
              </a:extLst>
            </p:cNvPr>
            <p:cNvSpPr>
              <a:spLocks noChangeArrowheads="1"/>
            </p:cNvSpPr>
            <p:nvPr/>
          </p:nvSpPr>
          <p:spPr bwMode="auto">
            <a:xfrm>
              <a:off x="4208" y="2712"/>
              <a:ext cx="106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5" name="Oval 89">
              <a:extLst>
                <a:ext uri="{FF2B5EF4-FFF2-40B4-BE49-F238E27FC236}">
                  <a16:creationId xmlns:a16="http://schemas.microsoft.com/office/drawing/2014/main" id="{7757A6DE-4116-4B76-BD48-482D13F0DEC2}"/>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6" name="Oval 90">
              <a:extLst>
                <a:ext uri="{FF2B5EF4-FFF2-40B4-BE49-F238E27FC236}">
                  <a16:creationId xmlns:a16="http://schemas.microsoft.com/office/drawing/2014/main" id="{E0B8BB70-E234-4669-B766-65C550A536F6}"/>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hangingPunct="1"/>
              <a:endParaRPr lang="zh-CN" altLang="zh-CN" sz="1600">
                <a:solidFill>
                  <a:srgbClr val="FF0000"/>
                </a:solidFill>
                <a:latin typeface="Tahoma" panose="020B0604030504040204" pitchFamily="34" charset="0"/>
                <a:cs typeface="Arial" panose="020B0604020202020204" pitchFamily="34" charset="0"/>
              </a:endParaRPr>
            </a:p>
          </p:txBody>
        </p:sp>
        <p:sp>
          <p:nvSpPr>
            <p:cNvPr id="217" name="Oval 91">
              <a:extLst>
                <a:ext uri="{FF2B5EF4-FFF2-40B4-BE49-F238E27FC236}">
                  <a16:creationId xmlns:a16="http://schemas.microsoft.com/office/drawing/2014/main" id="{405577B3-B85F-4072-B70C-D6772E627605}"/>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8" name="Rectangle 92">
              <a:extLst>
                <a:ext uri="{FF2B5EF4-FFF2-40B4-BE49-F238E27FC236}">
                  <a16:creationId xmlns:a16="http://schemas.microsoft.com/office/drawing/2014/main" id="{8BF8D5F0-3465-4784-BC8C-67E11E92D17A}"/>
                </a:ext>
              </a:extLst>
            </p:cNvPr>
            <p:cNvSpPr>
              <a:spLocks noChangeArrowheads="1"/>
            </p:cNvSpPr>
            <p:nvPr/>
          </p:nvSpPr>
          <p:spPr bwMode="auto">
            <a:xfrm>
              <a:off x="5065" y="1833"/>
              <a:ext cx="81" cy="766"/>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27" name="矩形 226">
            <a:extLst>
              <a:ext uri="{FF2B5EF4-FFF2-40B4-BE49-F238E27FC236}">
                <a16:creationId xmlns:a16="http://schemas.microsoft.com/office/drawing/2014/main" id="{5F4F2FD0-5803-48F3-A02B-09041F2BD430}"/>
              </a:ext>
            </a:extLst>
          </p:cNvPr>
          <p:cNvSpPr/>
          <p:nvPr/>
        </p:nvSpPr>
        <p:spPr>
          <a:xfrm>
            <a:off x="8093220" y="3846513"/>
            <a:ext cx="3116647" cy="1990288"/>
          </a:xfrm>
          <a:prstGeom prst="rect">
            <a:avLst/>
          </a:prstGeom>
          <a:solidFill>
            <a:schemeClr val="bg1"/>
          </a:solidFill>
          <a:ln w="12700">
            <a:solidFill>
              <a:schemeClr val="tx1"/>
            </a:solidFill>
          </a:ln>
        </p:spPr>
        <p:txBody>
          <a:bodyPr wrap="square">
            <a:spAutoFit/>
          </a:bodyPr>
          <a:lstStyle/>
          <a:p>
            <a:pPr>
              <a:lnSpc>
                <a:spcPts val="2600"/>
              </a:lnSpc>
              <a:spcBef>
                <a:spcPts val="600"/>
              </a:spcBef>
              <a:buFont typeface="Wingdings" charset="0"/>
              <a:buNone/>
              <a:defRPr/>
            </a:pPr>
            <a:r>
              <a:rPr lang="en-US" altLang="zh-CN" sz="2000" dirty="0">
                <a:solidFill>
                  <a:srgbClr val="C00000"/>
                </a:solidFill>
                <a:latin typeface="微软雅黑" pitchFamily="34" charset="-122"/>
                <a:ea typeface="微软雅黑" pitchFamily="34" charset="-122"/>
                <a:cs typeface="Times New Roman" panose="02020603050405020304" pitchFamily="18" charset="0"/>
              </a:rPr>
              <a:t>DHCP</a:t>
            </a:r>
            <a:r>
              <a:rPr lang="zh-CN" altLang="en-US" sz="2000" dirty="0">
                <a:solidFill>
                  <a:srgbClr val="C00000"/>
                </a:solidFill>
                <a:latin typeface="微软雅黑" pitchFamily="34" charset="-122"/>
                <a:ea typeface="微软雅黑" pitchFamily="34" charset="-122"/>
                <a:cs typeface="Times New Roman" panose="02020603050405020304" pitchFamily="18" charset="0"/>
              </a:rPr>
              <a:t>服务不只返回客户机所需的</a:t>
            </a:r>
            <a:r>
              <a:rPr lang="en-US" altLang="zh-CN" sz="2000" dirty="0">
                <a:solidFill>
                  <a:srgbClr val="C00000"/>
                </a:solidFill>
                <a:latin typeface="微软雅黑" pitchFamily="34" charset="-122"/>
                <a:ea typeface="微软雅黑" pitchFamily="34" charset="-122"/>
                <a:cs typeface="Times New Roman" panose="02020603050405020304" pitchFamily="18" charset="0"/>
              </a:rPr>
              <a:t>IP</a:t>
            </a:r>
            <a:r>
              <a:rPr lang="zh-CN" altLang="en-US" sz="2000" dirty="0">
                <a:solidFill>
                  <a:srgbClr val="C00000"/>
                </a:solidFill>
                <a:latin typeface="微软雅黑" pitchFamily="34" charset="-122"/>
                <a:ea typeface="微软雅黑" pitchFamily="34" charset="-122"/>
                <a:cs typeface="Times New Roman" panose="02020603050405020304" pitchFamily="18" charset="0"/>
              </a:rPr>
              <a:t>地址，还包括</a:t>
            </a:r>
            <a:r>
              <a:rPr lang="en-US" altLang="zh-CN" sz="2000" dirty="0">
                <a:solidFill>
                  <a:srgbClr val="C00000"/>
                </a:solidFill>
                <a:latin typeface="微软雅黑" pitchFamily="34" charset="-122"/>
                <a:ea typeface="微软雅黑" pitchFamily="34" charset="-122"/>
                <a:cs typeface="Times New Roman" panose="02020603050405020304" pitchFamily="18" charset="0"/>
              </a:rPr>
              <a:t>:</a:t>
            </a:r>
          </a:p>
          <a:p>
            <a:pPr marL="180975" lvl="1" indent="-180975">
              <a:lnSpc>
                <a:spcPts val="2600"/>
              </a:lnSpc>
              <a:spcBef>
                <a:spcPts val="600"/>
              </a:spcBef>
              <a:buFont typeface="Arial"/>
              <a:buChar char="•"/>
              <a:defRPr/>
            </a:pPr>
            <a:r>
              <a:rPr lang="zh-CN" altLang="en-US" sz="2000" dirty="0">
                <a:latin typeface="微软雅黑" pitchFamily="34" charset="-122"/>
                <a:ea typeface="微软雅黑" pitchFamily="34" charset="-122"/>
                <a:cs typeface="Times New Roman" panose="02020603050405020304" pitchFamily="18" charset="0"/>
              </a:rPr>
              <a:t>缺省路由器</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a:p>
            <a:pPr marL="180975" lvl="1" indent="-180975">
              <a:lnSpc>
                <a:spcPts val="2600"/>
              </a:lnSpc>
              <a:spcBef>
                <a:spcPts val="600"/>
              </a:spcBef>
              <a:buFont typeface="Arial"/>
              <a:buChar char="•"/>
              <a:defRPr/>
            </a:pPr>
            <a:r>
              <a:rPr lang="en-US" altLang="zh-CN" sz="2000" dirty="0">
                <a:latin typeface="微软雅黑" pitchFamily="34" charset="-122"/>
                <a:ea typeface="微软雅黑" pitchFamily="34" charset="-122"/>
                <a:cs typeface="Times New Roman" panose="02020603050405020304" pitchFamily="18" charset="0"/>
              </a:rPr>
              <a:t>DNS</a:t>
            </a:r>
            <a:r>
              <a:rPr lang="zh-CN" altLang="en-US" sz="2000" dirty="0">
                <a:latin typeface="微软雅黑" pitchFamily="34" charset="-122"/>
                <a:ea typeface="微软雅黑" pitchFamily="34" charset="-122"/>
                <a:cs typeface="Times New Roman" panose="02020603050405020304" pitchFamily="18" charset="0"/>
              </a:rPr>
              <a:t>服务器</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a:p>
            <a:pPr marL="180975" lvl="1" indent="-180975">
              <a:lnSpc>
                <a:spcPts val="2600"/>
              </a:lnSpc>
              <a:spcBef>
                <a:spcPts val="600"/>
              </a:spcBef>
              <a:buFont typeface="Arial"/>
              <a:buChar char="•"/>
              <a:defRPr/>
            </a:pPr>
            <a:r>
              <a:rPr lang="zh-CN" altLang="en-US" sz="2000" dirty="0">
                <a:latin typeface="微软雅黑" pitchFamily="34" charset="-122"/>
                <a:ea typeface="微软雅黑" pitchFamily="34" charset="-122"/>
                <a:cs typeface="Times New Roman" panose="02020603050405020304" pitchFamily="18" charset="0"/>
              </a:rPr>
              <a:t>网络掩码</a:t>
            </a:r>
          </a:p>
        </p:txBody>
      </p:sp>
      <p:sp>
        <p:nvSpPr>
          <p:cNvPr id="3" name="日期占位符 2"/>
          <p:cNvSpPr>
            <a:spLocks noGrp="1"/>
          </p:cNvSpPr>
          <p:nvPr>
            <p:ph type="dt" sz="half" idx="10"/>
          </p:nvPr>
        </p:nvSpPr>
        <p:spPr/>
        <p:txBody>
          <a:bodyPr/>
          <a:lstStyle/>
          <a:p>
            <a:r>
              <a:rPr kumimoji="1" lang="en-US" altLang="zh-CN" dirty="0"/>
              <a:t>5.6.3 DHCP</a:t>
            </a:r>
            <a:endParaRPr kumimoji="1" lang="zh-CN" altLang="en-US" dirty="0"/>
          </a:p>
        </p:txBody>
      </p:sp>
      <p:pic>
        <p:nvPicPr>
          <p:cNvPr id="83" name="Picture 28" descr="015">
            <a:extLst>
              <a:ext uri="{FF2B5EF4-FFF2-40B4-BE49-F238E27FC236}">
                <a16:creationId xmlns:a16="http://schemas.microsoft.com/office/drawing/2014/main" id="{714F4AB6-BD73-4E6A-AB5C-2A8B7519FEA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27644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500"/>
                                        <p:tgtEl>
                                          <p:spTgt spid="15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60"/>
                                        </p:tgtEl>
                                        <p:attrNameLst>
                                          <p:attrName>style.visibility</p:attrName>
                                        </p:attrNameLst>
                                      </p:cBhvr>
                                      <p:to>
                                        <p:strVal val="visible"/>
                                      </p:to>
                                    </p:set>
                                    <p:animEffect transition="in" filter="wipe(left)">
                                      <p:cBhvr>
                                        <p:cTn id="12" dur="500"/>
                                        <p:tgtEl>
                                          <p:spTgt spid="160"/>
                                        </p:tgtEl>
                                      </p:cBhvr>
                                    </p:animEffect>
                                  </p:childTnLst>
                                </p:cTn>
                              </p:par>
                              <p:par>
                                <p:cTn id="13" presetID="22" presetClass="entr" presetSubtype="8" fill="hold" nodeType="withEffect">
                                  <p:stCondLst>
                                    <p:cond delay="0"/>
                                  </p:stCondLst>
                                  <p:childTnLst>
                                    <p:set>
                                      <p:cBhvr>
                                        <p:cTn id="14" dur="1" fill="hold">
                                          <p:stCondLst>
                                            <p:cond delay="0"/>
                                          </p:stCondLst>
                                        </p:cTn>
                                        <p:tgtEl>
                                          <p:spTgt spid="159"/>
                                        </p:tgtEl>
                                        <p:attrNameLst>
                                          <p:attrName>style.visibility</p:attrName>
                                        </p:attrNameLst>
                                      </p:cBhvr>
                                      <p:to>
                                        <p:strVal val="visible"/>
                                      </p:to>
                                    </p:set>
                                    <p:animEffect transition="in" filter="wipe(left)">
                                      <p:cBhvr>
                                        <p:cTn id="15" dur="500"/>
                                        <p:tgtEl>
                                          <p:spTgt spid="15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164"/>
                                        </p:tgtEl>
                                        <p:attrNameLst>
                                          <p:attrName>style.visibility</p:attrName>
                                        </p:attrNameLst>
                                      </p:cBhvr>
                                      <p:to>
                                        <p:strVal val="visible"/>
                                      </p:to>
                                    </p:set>
                                    <p:animEffect transition="in" filter="wipe(right)">
                                      <p:cBhvr>
                                        <p:cTn id="20" dur="500"/>
                                        <p:tgtEl>
                                          <p:spTgt spid="164"/>
                                        </p:tgtEl>
                                      </p:cBhvr>
                                    </p:animEffect>
                                  </p:childTnLst>
                                </p:cTn>
                              </p:par>
                              <p:par>
                                <p:cTn id="21" presetID="22" presetClass="entr" presetSubtype="2"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Effect transition="in" filter="wipe(right)">
                                      <p:cBhvr>
                                        <p:cTn id="23" dur="500"/>
                                        <p:tgtEl>
                                          <p:spTgt spid="16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68"/>
                                        </p:tgtEl>
                                        <p:attrNameLst>
                                          <p:attrName>style.visibility</p:attrName>
                                        </p:attrNameLst>
                                      </p:cBhvr>
                                      <p:to>
                                        <p:strVal val="visible"/>
                                      </p:to>
                                    </p:set>
                                    <p:animEffect transition="in" filter="wipe(left)">
                                      <p:cBhvr>
                                        <p:cTn id="28" dur="500"/>
                                        <p:tgtEl>
                                          <p:spTgt spid="168"/>
                                        </p:tgtEl>
                                      </p:cBhvr>
                                    </p:animEffect>
                                  </p:childTnLst>
                                </p:cTn>
                              </p:par>
                              <p:par>
                                <p:cTn id="29" presetID="22" presetClass="entr" presetSubtype="8" fill="hold" nodeType="with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left)">
                                      <p:cBhvr>
                                        <p:cTn id="31" dur="500"/>
                                        <p:tgtEl>
                                          <p:spTgt spid="167"/>
                                        </p:tgtEl>
                                      </p:cBhvr>
                                    </p:animEffect>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grpId="0" nodeType="clickEffect">
                                  <p:stCondLst>
                                    <p:cond delay="0"/>
                                  </p:stCondLst>
                                  <p:childTnLst>
                                    <p:set>
                                      <p:cBhvr>
                                        <p:cTn id="35" dur="1" fill="hold">
                                          <p:stCondLst>
                                            <p:cond delay="0"/>
                                          </p:stCondLst>
                                        </p:cTn>
                                        <p:tgtEl>
                                          <p:spTgt spid="227"/>
                                        </p:tgtEl>
                                        <p:attrNameLst>
                                          <p:attrName>style.visibility</p:attrName>
                                        </p:attrNameLst>
                                      </p:cBhvr>
                                      <p:to>
                                        <p:strVal val="visible"/>
                                      </p:to>
                                    </p:set>
                                    <p:animEffect transition="in" filter="circle(in)">
                                      <p:cBhvr>
                                        <p:cTn id="36" dur="20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工作过程</a:t>
            </a:r>
            <a:r>
              <a:rPr lang="zh-CN" altLang="en-US" b="1" dirty="0">
                <a:solidFill>
                  <a:schemeClr val="bg1"/>
                </a:solidFill>
                <a:latin typeface="微软雅黑" pitchFamily="34" charset="-122"/>
                <a:ea typeface="微软雅黑" pitchFamily="34" charset="-122"/>
              </a:rPr>
              <a:t>式</a:t>
            </a:r>
            <a:endParaRPr lang="zh-CN" altLang="en-US" dirty="0"/>
          </a:p>
        </p:txBody>
      </p:sp>
      <p:sp>
        <p:nvSpPr>
          <p:cNvPr id="3" name="内容占位符 2"/>
          <p:cNvSpPr>
            <a:spLocks noGrp="1"/>
          </p:cNvSpPr>
          <p:nvPr>
            <p:ph idx="1"/>
          </p:nvPr>
        </p:nvSpPr>
        <p:spPr/>
        <p:txBody>
          <a:bodyPr>
            <a:normAutofit/>
          </a:bodyPr>
          <a:lstStyle/>
          <a:p>
            <a:pPr eaLnBrk="0" hangingPunct="0">
              <a:lnSpc>
                <a:spcPct val="140000"/>
              </a:lnSpc>
            </a:pPr>
            <a:r>
              <a:rPr lang="en-US" altLang="zh-CN" sz="2600" dirty="0">
                <a:latin typeface="微软雅黑" pitchFamily="34" charset="-122"/>
                <a:ea typeface="微软雅黑" pitchFamily="34" charset="-122"/>
              </a:rPr>
              <a:t>DHCP </a:t>
            </a:r>
            <a:r>
              <a:rPr lang="zh-CN" altLang="en-US" sz="2600" dirty="0">
                <a:latin typeface="微软雅黑" pitchFamily="34" charset="-122"/>
                <a:ea typeface="微软雅黑" pitchFamily="34" charset="-122"/>
              </a:rPr>
              <a:t>客户从</a:t>
            </a:r>
            <a:r>
              <a:rPr lang="en-US" altLang="zh-CN" sz="2600" dirty="0">
                <a:latin typeface="微软雅黑" pitchFamily="34" charset="-122"/>
                <a:ea typeface="微软雅黑" pitchFamily="34" charset="-122"/>
              </a:rPr>
              <a:t>UDP</a:t>
            </a:r>
            <a:r>
              <a:rPr lang="zh-CN" altLang="en-US" sz="2600" dirty="0">
                <a:latin typeface="微软雅黑" pitchFamily="34" charset="-122"/>
                <a:ea typeface="微软雅黑" pitchFamily="34" charset="-122"/>
              </a:rPr>
              <a:t>端口</a:t>
            </a:r>
            <a:r>
              <a:rPr lang="en-US" altLang="zh-CN" sz="2600" dirty="0">
                <a:latin typeface="微软雅黑" pitchFamily="34" charset="-122"/>
                <a:ea typeface="微软雅黑" pitchFamily="34" charset="-122"/>
              </a:rPr>
              <a:t>68</a:t>
            </a:r>
            <a:r>
              <a:rPr lang="zh-CN" altLang="en-US" sz="2600" dirty="0">
                <a:latin typeface="微软雅黑" pitchFamily="34" charset="-122"/>
                <a:ea typeface="微软雅黑" pitchFamily="34" charset="-122"/>
              </a:rPr>
              <a:t>以</a:t>
            </a:r>
            <a:r>
              <a:rPr lang="zh-CN" altLang="en-US" sz="2600" dirty="0">
                <a:solidFill>
                  <a:srgbClr val="C00000"/>
                </a:solidFill>
                <a:latin typeface="微软雅黑" pitchFamily="34" charset="-122"/>
                <a:ea typeface="微软雅黑" pitchFamily="34" charset="-122"/>
              </a:rPr>
              <a:t>广播形式</a:t>
            </a:r>
            <a:r>
              <a:rPr lang="zh-CN" altLang="en-US" sz="2600" dirty="0">
                <a:latin typeface="微软雅黑" pitchFamily="34" charset="-122"/>
                <a:ea typeface="微软雅黑" pitchFamily="34" charset="-122"/>
              </a:rPr>
              <a:t>向服务器发送发现报文（</a:t>
            </a:r>
            <a:r>
              <a:rPr lang="en-US" altLang="zh-CN" sz="2600" dirty="0">
                <a:solidFill>
                  <a:srgbClr val="C00000"/>
                </a:solidFill>
                <a:latin typeface="微软雅黑" pitchFamily="34" charset="-122"/>
                <a:ea typeface="微软雅黑" pitchFamily="34" charset="-122"/>
              </a:rPr>
              <a:t>DHCPDISCOVER</a:t>
            </a:r>
            <a:r>
              <a:rPr lang="zh-CN" altLang="en-US" sz="2600" dirty="0">
                <a:latin typeface="微软雅黑" pitchFamily="34" charset="-122"/>
                <a:ea typeface="微软雅黑" pitchFamily="34" charset="-122"/>
              </a:rPr>
              <a:t>）</a:t>
            </a:r>
            <a:endParaRPr lang="en-US" altLang="zh-CN" sz="2600" dirty="0">
              <a:latin typeface="微软雅黑" pitchFamily="34" charset="-122"/>
              <a:ea typeface="微软雅黑" pitchFamily="34" charset="-122"/>
            </a:endParaRPr>
          </a:p>
          <a:p>
            <a:pPr eaLnBrk="0" hangingPunct="0">
              <a:lnSpc>
                <a:spcPct val="140000"/>
              </a:lnSpc>
            </a:pPr>
            <a:r>
              <a:rPr lang="en-US" altLang="zh-CN" sz="2600" dirty="0">
                <a:latin typeface="微软雅黑" pitchFamily="34" charset="-122"/>
                <a:ea typeface="微软雅黑" pitchFamily="34" charset="-122"/>
              </a:rPr>
              <a:t>DHCP </a:t>
            </a:r>
            <a:r>
              <a:rPr lang="zh-CN" altLang="en-US" sz="2600" dirty="0">
                <a:latin typeface="微软雅黑" pitchFamily="34" charset="-122"/>
                <a:ea typeface="微软雅黑" pitchFamily="34" charset="-122"/>
              </a:rPr>
              <a:t>服务器</a:t>
            </a:r>
            <a:r>
              <a:rPr lang="zh-CN" altLang="en-US" sz="2600" dirty="0">
                <a:solidFill>
                  <a:srgbClr val="C00000"/>
                </a:solidFill>
                <a:latin typeface="微软雅黑" pitchFamily="34" charset="-122"/>
                <a:ea typeface="微软雅黑" pitchFamily="34" charset="-122"/>
              </a:rPr>
              <a:t>单播</a:t>
            </a:r>
            <a:r>
              <a:rPr lang="zh-CN" altLang="en-US" sz="2600" dirty="0">
                <a:latin typeface="微软雅黑" pitchFamily="34" charset="-122"/>
                <a:ea typeface="微软雅黑" pitchFamily="34" charset="-122"/>
              </a:rPr>
              <a:t>发出提供报文（</a:t>
            </a:r>
            <a:r>
              <a:rPr lang="en-US" altLang="zh-CN" sz="2600" dirty="0">
                <a:solidFill>
                  <a:srgbClr val="C00000"/>
                </a:solidFill>
                <a:latin typeface="微软雅黑" pitchFamily="34" charset="-122"/>
                <a:ea typeface="微软雅黑" pitchFamily="34" charset="-122"/>
              </a:rPr>
              <a:t>DHCPOFFER</a:t>
            </a:r>
            <a:r>
              <a:rPr lang="zh-CN" altLang="en-US" sz="2600" dirty="0">
                <a:latin typeface="微软雅黑" pitchFamily="34" charset="-122"/>
                <a:ea typeface="微软雅黑" pitchFamily="34" charset="-122"/>
              </a:rPr>
              <a:t>）</a:t>
            </a:r>
            <a:endParaRPr lang="en-US" altLang="zh-CN" sz="2600" dirty="0">
              <a:latin typeface="微软雅黑" pitchFamily="34" charset="-122"/>
              <a:ea typeface="微软雅黑" pitchFamily="34" charset="-122"/>
            </a:endParaRPr>
          </a:p>
          <a:p>
            <a:pPr eaLnBrk="0" hangingPunct="0">
              <a:lnSpc>
                <a:spcPct val="140000"/>
              </a:lnSpc>
            </a:pPr>
            <a:r>
              <a:rPr lang="en-US" altLang="zh-CN" sz="2600" dirty="0">
                <a:latin typeface="微软雅黑" pitchFamily="34" charset="-122"/>
                <a:ea typeface="微软雅黑" pitchFamily="34" charset="-122"/>
              </a:rPr>
              <a:t>DHCP </a:t>
            </a:r>
            <a:r>
              <a:rPr lang="zh-CN" altLang="en-US" sz="2600" dirty="0">
                <a:latin typeface="微软雅黑" pitchFamily="34" charset="-122"/>
                <a:ea typeface="微软雅黑" pitchFamily="34" charset="-122"/>
              </a:rPr>
              <a:t>客户从多个</a:t>
            </a:r>
            <a:r>
              <a:rPr lang="en-US" altLang="zh-CN" sz="2600" dirty="0">
                <a:latin typeface="微软雅黑" pitchFamily="34" charset="-122"/>
                <a:ea typeface="微软雅黑" pitchFamily="34" charset="-122"/>
              </a:rPr>
              <a:t>DHCP</a:t>
            </a:r>
            <a:r>
              <a:rPr lang="zh-CN" altLang="en-US" sz="2600" dirty="0">
                <a:latin typeface="微软雅黑" pitchFamily="34" charset="-122"/>
                <a:ea typeface="微软雅黑" pitchFamily="34" charset="-122"/>
              </a:rPr>
              <a:t>服务器中选择一个，并向其</a:t>
            </a:r>
            <a:r>
              <a:rPr lang="zh-CN" altLang="en-US" sz="2600" dirty="0">
                <a:solidFill>
                  <a:srgbClr val="C00000"/>
                </a:solidFill>
                <a:latin typeface="微软雅黑" pitchFamily="34" charset="-122"/>
                <a:ea typeface="微软雅黑" pitchFamily="34" charset="-122"/>
              </a:rPr>
              <a:t>以广播</a:t>
            </a:r>
            <a:r>
              <a:rPr lang="zh-CN" altLang="en-US" sz="2600" dirty="0">
                <a:latin typeface="微软雅黑" pitchFamily="34" charset="-122"/>
                <a:ea typeface="微软雅黑" pitchFamily="34" charset="-122"/>
              </a:rPr>
              <a:t>形式发送</a:t>
            </a:r>
            <a:r>
              <a:rPr lang="en-US" altLang="zh-CN" sz="2600" dirty="0">
                <a:latin typeface="微软雅黑" pitchFamily="34" charset="-122"/>
                <a:ea typeface="微软雅黑" pitchFamily="34" charset="-122"/>
              </a:rPr>
              <a:t>DHCP</a:t>
            </a:r>
            <a:r>
              <a:rPr lang="zh-CN" altLang="en-US" sz="2600" dirty="0">
                <a:latin typeface="微软雅黑" pitchFamily="34" charset="-122"/>
                <a:ea typeface="微软雅黑" pitchFamily="34" charset="-122"/>
              </a:rPr>
              <a:t>请求报文（</a:t>
            </a:r>
            <a:r>
              <a:rPr lang="en-US" altLang="zh-CN" sz="2600" dirty="0">
                <a:solidFill>
                  <a:srgbClr val="C00000"/>
                </a:solidFill>
                <a:latin typeface="微软雅黑" pitchFamily="34" charset="-122"/>
                <a:ea typeface="微软雅黑" pitchFamily="34" charset="-122"/>
              </a:rPr>
              <a:t>DHCPREQUEST</a:t>
            </a:r>
            <a:r>
              <a:rPr lang="zh-CN" altLang="en-US" sz="2600" dirty="0">
                <a:latin typeface="微软雅黑" pitchFamily="34" charset="-122"/>
                <a:ea typeface="微软雅黑" pitchFamily="34" charset="-122"/>
              </a:rPr>
              <a:t>）</a:t>
            </a:r>
            <a:endParaRPr lang="en-US" altLang="zh-CN" sz="2600" dirty="0">
              <a:latin typeface="微软雅黑" pitchFamily="34" charset="-122"/>
              <a:ea typeface="微软雅黑" pitchFamily="34" charset="-122"/>
            </a:endParaRPr>
          </a:p>
          <a:p>
            <a:pPr eaLnBrk="0" hangingPunct="0">
              <a:lnSpc>
                <a:spcPct val="140000"/>
              </a:lnSpc>
            </a:pPr>
            <a:r>
              <a:rPr lang="zh-CN" altLang="en-US" sz="2600" dirty="0">
                <a:latin typeface="微软雅黑" pitchFamily="34" charset="-122"/>
                <a:ea typeface="微软雅黑" pitchFamily="34" charset="-122"/>
              </a:rPr>
              <a:t>被选择的</a:t>
            </a:r>
            <a:r>
              <a:rPr lang="en-US" altLang="zh-CN" sz="2600" dirty="0">
                <a:latin typeface="微软雅黑" pitchFamily="34" charset="-122"/>
                <a:ea typeface="微软雅黑" pitchFamily="34" charset="-122"/>
              </a:rPr>
              <a:t>DHCP</a:t>
            </a:r>
            <a:r>
              <a:rPr lang="zh-CN" altLang="en-US" sz="2600" dirty="0">
                <a:latin typeface="微软雅黑" pitchFamily="34" charset="-122"/>
                <a:ea typeface="微软雅黑" pitchFamily="34" charset="-122"/>
              </a:rPr>
              <a:t>服务器</a:t>
            </a:r>
            <a:r>
              <a:rPr lang="zh-CN" altLang="en-US" sz="2600" dirty="0">
                <a:solidFill>
                  <a:srgbClr val="C00000"/>
                </a:solidFill>
                <a:latin typeface="微软雅黑" pitchFamily="34" charset="-122"/>
                <a:ea typeface="微软雅黑" pitchFamily="34" charset="-122"/>
              </a:rPr>
              <a:t>单播</a:t>
            </a:r>
            <a:r>
              <a:rPr lang="zh-CN" altLang="en-US" sz="2600" dirty="0">
                <a:latin typeface="微软雅黑" pitchFamily="34" charset="-122"/>
                <a:ea typeface="微软雅黑" pitchFamily="34" charset="-122"/>
              </a:rPr>
              <a:t>发送确认报文（</a:t>
            </a:r>
            <a:r>
              <a:rPr lang="en-US" altLang="zh-CN" sz="2600" dirty="0">
                <a:solidFill>
                  <a:srgbClr val="C00000"/>
                </a:solidFill>
                <a:latin typeface="微软雅黑" pitchFamily="34" charset="-122"/>
                <a:ea typeface="微软雅黑" pitchFamily="34" charset="-122"/>
              </a:rPr>
              <a:t>DHCPACK</a:t>
            </a:r>
            <a:r>
              <a:rPr lang="zh-CN" altLang="en-US" sz="2600" dirty="0">
                <a:latin typeface="微软雅黑" pitchFamily="34" charset="-122"/>
                <a:ea typeface="微软雅黑" pitchFamily="34" charset="-122"/>
              </a:rPr>
              <a:t>）</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136</a:t>
            </a:fld>
            <a:endParaRPr kumimoji="1" lang="zh-CN" altLang="en-US" dirty="0"/>
          </a:p>
        </p:txBody>
      </p:sp>
      <p:sp>
        <p:nvSpPr>
          <p:cNvPr id="6" name="日期占位符 5"/>
          <p:cNvSpPr>
            <a:spLocks noGrp="1"/>
          </p:cNvSpPr>
          <p:nvPr>
            <p:ph type="dt" sz="half" idx="10"/>
          </p:nvPr>
        </p:nvSpPr>
        <p:spPr/>
        <p:txBody>
          <a:bodyPr/>
          <a:lstStyle/>
          <a:p>
            <a:r>
              <a:rPr kumimoji="1" lang="en-US" altLang="zh-CN" dirty="0"/>
              <a:t>5.6.3 DHCP</a:t>
            </a:r>
            <a:endParaRPr kumimoji="1" lang="zh-CN" altLang="en-US" dirty="0"/>
          </a:p>
        </p:txBody>
      </p:sp>
      <p:pic>
        <p:nvPicPr>
          <p:cNvPr id="7" name="Picture 28" descr="015">
            <a:extLst>
              <a:ext uri="{FF2B5EF4-FFF2-40B4-BE49-F238E27FC236}">
                <a16:creationId xmlns:a16="http://schemas.microsoft.com/office/drawing/2014/main" id="{5B78D0F5-295B-463B-A1D9-DF965363A32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44248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工作过程</a:t>
            </a:r>
            <a:endParaRPr lang="zh-CN" altLang="en-US" dirty="0"/>
          </a:p>
        </p:txBody>
      </p:sp>
      <p:sp>
        <p:nvSpPr>
          <p:cNvPr id="3" name="内容占位符 2"/>
          <p:cNvSpPr>
            <a:spLocks noGrp="1"/>
          </p:cNvSpPr>
          <p:nvPr>
            <p:ph idx="1"/>
          </p:nvPr>
        </p:nvSpPr>
        <p:spPr/>
        <p:txBody>
          <a:bodyPr/>
          <a:lstStyle/>
          <a:p>
            <a:pPr lvl="0">
              <a:lnSpc>
                <a:spcPct val="120000"/>
              </a:lnSpc>
            </a:pPr>
            <a:r>
              <a:rPr lang="zh-CN" altLang="en-US" dirty="0">
                <a:solidFill>
                  <a:srgbClr val="4F4F4F"/>
                </a:solidFill>
                <a:latin typeface="微软雅黑" pitchFamily="34" charset="-122"/>
                <a:ea typeface="微软雅黑" pitchFamily="34" charset="-122"/>
                <a:cs typeface="宋体" pitchFamily="2" charset="-122"/>
              </a:rPr>
              <a:t>小</a:t>
            </a:r>
            <a:r>
              <a:rPr lang="zh-CN" altLang="zh-CN" dirty="0">
                <a:solidFill>
                  <a:srgbClr val="4F4F4F"/>
                </a:solidFill>
                <a:latin typeface="微软雅黑" pitchFamily="34" charset="-122"/>
                <a:ea typeface="微软雅黑" pitchFamily="34" charset="-122"/>
                <a:cs typeface="宋体" pitchFamily="2" charset="-122"/>
              </a:rPr>
              <a:t>结</a:t>
            </a:r>
            <a:endParaRPr lang="zh-CN" altLang="zh-CN" dirty="0">
              <a:latin typeface="微软雅黑" pitchFamily="34" charset="-122"/>
              <a:ea typeface="微软雅黑" pitchFamily="34" charset="-122"/>
              <a:cs typeface="宋体" pitchFamily="2" charset="-122"/>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137</a:t>
            </a:fld>
            <a:endParaRPr kumimoji="1" lang="zh-CN" altLang="en-US" dirty="0"/>
          </a:p>
        </p:txBody>
      </p:sp>
      <p:graphicFrame>
        <p:nvGraphicFramePr>
          <p:cNvPr id="5" name="内容占位符 4"/>
          <p:cNvGraphicFramePr>
            <a:graphicFrameLocks/>
          </p:cNvGraphicFramePr>
          <p:nvPr/>
        </p:nvGraphicFramePr>
        <p:xfrm>
          <a:off x="1248241" y="2105963"/>
          <a:ext cx="9711269" cy="4084480"/>
        </p:xfrm>
        <a:graphic>
          <a:graphicData uri="http://schemas.openxmlformats.org/drawingml/2006/table">
            <a:tbl>
              <a:tblPr/>
              <a:tblGrid>
                <a:gridCol w="1192237">
                  <a:extLst>
                    <a:ext uri="{9D8B030D-6E8A-4147-A177-3AD203B41FA5}">
                      <a16:colId xmlns:a16="http://schemas.microsoft.com/office/drawing/2014/main" val="20000"/>
                    </a:ext>
                  </a:extLst>
                </a:gridCol>
                <a:gridCol w="1890872">
                  <a:extLst>
                    <a:ext uri="{9D8B030D-6E8A-4147-A177-3AD203B41FA5}">
                      <a16:colId xmlns:a16="http://schemas.microsoft.com/office/drawing/2014/main" val="20001"/>
                    </a:ext>
                  </a:extLst>
                </a:gridCol>
                <a:gridCol w="1503393">
                  <a:extLst>
                    <a:ext uri="{9D8B030D-6E8A-4147-A177-3AD203B41FA5}">
                      <a16:colId xmlns:a16="http://schemas.microsoft.com/office/drawing/2014/main" val="20002"/>
                    </a:ext>
                  </a:extLst>
                </a:gridCol>
                <a:gridCol w="1883228">
                  <a:extLst>
                    <a:ext uri="{9D8B030D-6E8A-4147-A177-3AD203B41FA5}">
                      <a16:colId xmlns:a16="http://schemas.microsoft.com/office/drawing/2014/main" val="20003"/>
                    </a:ext>
                  </a:extLst>
                </a:gridCol>
                <a:gridCol w="1741715">
                  <a:extLst>
                    <a:ext uri="{9D8B030D-6E8A-4147-A177-3AD203B41FA5}">
                      <a16:colId xmlns:a16="http://schemas.microsoft.com/office/drawing/2014/main" val="20004"/>
                    </a:ext>
                  </a:extLst>
                </a:gridCol>
                <a:gridCol w="1499824">
                  <a:extLst>
                    <a:ext uri="{9D8B030D-6E8A-4147-A177-3AD203B41FA5}">
                      <a16:colId xmlns:a16="http://schemas.microsoft.com/office/drawing/2014/main" val="20005"/>
                    </a:ext>
                  </a:extLst>
                </a:gridCol>
              </a:tblGrid>
              <a:tr h="431546">
                <a:tc>
                  <a:txBody>
                    <a:bodyPr/>
                    <a:lstStyle/>
                    <a:p>
                      <a:pPr algn="ctr"/>
                      <a:r>
                        <a:rPr lang="zh-CN" altLang="en-US" sz="2400" b="0" dirty="0">
                          <a:solidFill>
                            <a:schemeClr val="tx1"/>
                          </a:solidFill>
                          <a:effectLst/>
                          <a:latin typeface="微软雅黑" pitchFamily="34" charset="-122"/>
                          <a:ea typeface="微软雅黑" pitchFamily="34" charset="-122"/>
                        </a:rPr>
                        <a:t>阶段</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源</a:t>
                      </a:r>
                      <a:r>
                        <a:rPr lang="en-US" sz="2400" b="0" dirty="0">
                          <a:solidFill>
                            <a:schemeClr val="tx1"/>
                          </a:solidFill>
                          <a:effectLst/>
                          <a:latin typeface="微软雅黑" pitchFamily="34" charset="-122"/>
                          <a:ea typeface="微软雅黑" pitchFamily="34" charset="-122"/>
                        </a:rPr>
                        <a:t>MAC</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目标</a:t>
                      </a:r>
                      <a:r>
                        <a:rPr lang="en-US" sz="2400" b="0" dirty="0">
                          <a:solidFill>
                            <a:schemeClr val="tx1"/>
                          </a:solidFill>
                          <a:effectLst/>
                          <a:latin typeface="微软雅黑" pitchFamily="34" charset="-122"/>
                          <a:ea typeface="微软雅黑" pitchFamily="34" charset="-122"/>
                        </a:rPr>
                        <a:t>MAC</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源</a:t>
                      </a:r>
                      <a:r>
                        <a:rPr lang="en-US" sz="2400" b="0" dirty="0">
                          <a:solidFill>
                            <a:schemeClr val="tx1"/>
                          </a:solidFill>
                          <a:effectLst/>
                          <a:latin typeface="微软雅黑" pitchFamily="34" charset="-122"/>
                          <a:ea typeface="微软雅黑" pitchFamily="34" charset="-122"/>
                        </a:rPr>
                        <a:t>IP</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目标</a:t>
                      </a:r>
                      <a:r>
                        <a:rPr lang="en-US" sz="2400" b="0" dirty="0">
                          <a:solidFill>
                            <a:schemeClr val="tx1"/>
                          </a:solidFill>
                          <a:effectLst/>
                          <a:latin typeface="微软雅黑" pitchFamily="34" charset="-122"/>
                          <a:ea typeface="微软雅黑" pitchFamily="34" charset="-122"/>
                        </a:rPr>
                        <a:t>IP</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传输形式</a:t>
                      </a:r>
                      <a:endParaRPr lang="en-US" sz="2400" b="0" dirty="0">
                        <a:solidFill>
                          <a:schemeClr val="tx1"/>
                        </a:solidFill>
                        <a:effectLst/>
                        <a:latin typeface="微软雅黑" pitchFamily="34" charset="-122"/>
                        <a:ea typeface="微软雅黑" pitchFamily="34" charset="-122"/>
                      </a:endParaRP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599520">
                <a:tc>
                  <a:txBody>
                    <a:bodyPr/>
                    <a:lstStyle/>
                    <a:p>
                      <a:pPr algn="ctr"/>
                      <a:r>
                        <a:rPr lang="en-US" sz="2000" b="0" dirty="0">
                          <a:solidFill>
                            <a:schemeClr val="tx1"/>
                          </a:solidFill>
                          <a:effectLst/>
                          <a:latin typeface="微软雅黑" pitchFamily="34" charset="-122"/>
                          <a:ea typeface="微软雅黑" pitchFamily="34" charset="-122"/>
                        </a:rPr>
                        <a:t>Discover</a:t>
                      </a: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a:solidFill>
                            <a:schemeClr val="tx1"/>
                          </a:solidFill>
                          <a:effectLst/>
                          <a:latin typeface="微软雅黑" pitchFamily="34" charset="-122"/>
                          <a:ea typeface="微软雅黑" pitchFamily="34" charset="-122"/>
                        </a:rPr>
                        <a:t>PC</a:t>
                      </a:r>
                      <a:r>
                        <a:rPr lang="zh-CN" altLang="en-US" sz="2000" b="0" dirty="0">
                          <a:solidFill>
                            <a:schemeClr val="tx1"/>
                          </a:solidFill>
                          <a:effectLst/>
                          <a:latin typeface="微软雅黑" pitchFamily="34" charset="-122"/>
                          <a:ea typeface="微软雅黑" pitchFamily="34" charset="-122"/>
                        </a:rPr>
                        <a:t>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全</a:t>
                      </a:r>
                      <a:r>
                        <a:rPr lang="en-US" sz="2000" b="0" dirty="0">
                          <a:solidFill>
                            <a:srgbClr val="C00000"/>
                          </a:solidFill>
                          <a:effectLst/>
                          <a:latin typeface="微软雅黑" pitchFamily="34" charset="-122"/>
                          <a:ea typeface="微软雅黑" pitchFamily="34" charset="-122"/>
                        </a:rPr>
                        <a:t>FF</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0.0.0.0</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255.255.255.255</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广播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133159">
                <a:tc>
                  <a:txBody>
                    <a:bodyPr/>
                    <a:lstStyle/>
                    <a:p>
                      <a:pPr algn="ctr"/>
                      <a:r>
                        <a:rPr lang="en-US" sz="2000" b="0" dirty="0">
                          <a:solidFill>
                            <a:schemeClr val="tx1"/>
                          </a:solidFill>
                          <a:effectLst/>
                          <a:latin typeface="微软雅黑" pitchFamily="34" charset="-122"/>
                          <a:ea typeface="微软雅黑" pitchFamily="34" charset="-122"/>
                        </a:rPr>
                        <a:t>Offer</a:t>
                      </a: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服务器或者中继器路由的</a:t>
                      </a:r>
                      <a:r>
                        <a:rPr lang="en-US" altLang="zh-CN" sz="2000" b="0" dirty="0">
                          <a:solidFill>
                            <a:schemeClr val="tx1"/>
                          </a:solidFill>
                          <a:effectLst/>
                          <a:latin typeface="微软雅黑" pitchFamily="34" charset="-122"/>
                          <a:ea typeface="微软雅黑" pitchFamily="34" charset="-122"/>
                        </a:rPr>
                        <a:t>MAC</a:t>
                      </a:r>
                      <a:endParaRPr lang="zh-CN" altLang="en-US" sz="2000" b="0" dirty="0">
                        <a:solidFill>
                          <a:schemeClr val="tx1"/>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客户机的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服务器或中继路由器的</a:t>
                      </a:r>
                      <a:r>
                        <a:rPr lang="en-US" altLang="zh-CN" sz="2000" b="0" dirty="0">
                          <a:solidFill>
                            <a:schemeClr val="tx1"/>
                          </a:solidFill>
                          <a:effectLst/>
                          <a:latin typeface="微软雅黑" pitchFamily="34" charset="-122"/>
                          <a:ea typeface="微软雅黑" pitchFamily="34" charset="-122"/>
                        </a:rPr>
                        <a:t>IP</a:t>
                      </a:r>
                      <a:r>
                        <a:rPr lang="zh-CN" altLang="en-US" sz="2000" b="0" dirty="0">
                          <a:solidFill>
                            <a:schemeClr val="tx1"/>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准备分配的</a:t>
                      </a:r>
                      <a:r>
                        <a:rPr lang="en-US" altLang="zh-CN" sz="2000" b="0" dirty="0">
                          <a:solidFill>
                            <a:srgbClr val="C00000"/>
                          </a:solidFill>
                          <a:effectLst/>
                          <a:latin typeface="微软雅黑" pitchFamily="34" charset="-122"/>
                          <a:ea typeface="微软雅黑" pitchFamily="34" charset="-122"/>
                        </a:rPr>
                        <a:t>IP</a:t>
                      </a:r>
                      <a:r>
                        <a:rPr lang="zh-CN" altLang="en-US" sz="2000" b="0" dirty="0">
                          <a:solidFill>
                            <a:srgbClr val="C00000"/>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单播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599520">
                <a:tc>
                  <a:txBody>
                    <a:bodyPr/>
                    <a:lstStyle/>
                    <a:p>
                      <a:pPr algn="ctr"/>
                      <a:r>
                        <a:rPr lang="en-US" sz="2000" b="0" dirty="0">
                          <a:solidFill>
                            <a:schemeClr val="tx1"/>
                          </a:solidFill>
                          <a:effectLst/>
                          <a:latin typeface="微软雅黑" pitchFamily="34" charset="-122"/>
                          <a:ea typeface="微软雅黑" pitchFamily="34" charset="-122"/>
                        </a:rPr>
                        <a:t>Request</a:t>
                      </a: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a:solidFill>
                            <a:schemeClr val="tx1"/>
                          </a:solidFill>
                          <a:effectLst/>
                          <a:latin typeface="微软雅黑" pitchFamily="34" charset="-122"/>
                          <a:ea typeface="微软雅黑" pitchFamily="34" charset="-122"/>
                        </a:rPr>
                        <a:t>PC</a:t>
                      </a:r>
                      <a:r>
                        <a:rPr lang="zh-CN" altLang="en-US" sz="2000" b="0" dirty="0">
                          <a:solidFill>
                            <a:schemeClr val="tx1"/>
                          </a:solidFill>
                          <a:effectLst/>
                          <a:latin typeface="微软雅黑" pitchFamily="34" charset="-122"/>
                          <a:ea typeface="微软雅黑" pitchFamily="34" charset="-122"/>
                        </a:rPr>
                        <a:t>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全</a:t>
                      </a:r>
                      <a:r>
                        <a:rPr lang="en-US" sz="2000" b="0" dirty="0">
                          <a:solidFill>
                            <a:srgbClr val="C00000"/>
                          </a:solidFill>
                          <a:effectLst/>
                          <a:latin typeface="微软雅黑" pitchFamily="34" charset="-122"/>
                          <a:ea typeface="微软雅黑" pitchFamily="34" charset="-122"/>
                        </a:rPr>
                        <a:t>FF</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0.0.0.0</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255.255.255.255</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广播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133159">
                <a:tc>
                  <a:txBody>
                    <a:bodyPr/>
                    <a:lstStyle/>
                    <a:p>
                      <a:pPr algn="ctr"/>
                      <a:r>
                        <a:rPr lang="en-US" sz="2000" b="0" dirty="0" err="1">
                          <a:solidFill>
                            <a:schemeClr val="tx1"/>
                          </a:solidFill>
                          <a:effectLst/>
                          <a:latin typeface="微软雅黑" pitchFamily="34" charset="-122"/>
                          <a:ea typeface="微软雅黑" pitchFamily="34" charset="-122"/>
                        </a:rPr>
                        <a:t>Ack</a:t>
                      </a:r>
                      <a:endParaRPr lang="en-US" sz="2000" b="0" dirty="0">
                        <a:solidFill>
                          <a:schemeClr val="tx1"/>
                        </a:solidFill>
                        <a:effectLst/>
                        <a:latin typeface="微软雅黑" pitchFamily="34" charset="-122"/>
                        <a:ea typeface="微软雅黑" pitchFamily="34" charset="-122"/>
                      </a:endParaRP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服务器或者中继器路由的</a:t>
                      </a:r>
                      <a:r>
                        <a:rPr lang="en-US" altLang="zh-CN" sz="2000" b="0" dirty="0">
                          <a:solidFill>
                            <a:schemeClr val="tx1"/>
                          </a:solidFill>
                          <a:effectLst/>
                          <a:latin typeface="微软雅黑" pitchFamily="34" charset="-122"/>
                          <a:ea typeface="微软雅黑" pitchFamily="34" charset="-122"/>
                        </a:rPr>
                        <a:t>MAC</a:t>
                      </a:r>
                      <a:endParaRPr lang="zh-CN" altLang="en-US" sz="2000" b="0" dirty="0">
                        <a:solidFill>
                          <a:schemeClr val="tx1"/>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客户机的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服务器或中继路由器的</a:t>
                      </a:r>
                      <a:r>
                        <a:rPr lang="en-US" altLang="zh-CN" sz="2000" b="0" dirty="0">
                          <a:solidFill>
                            <a:schemeClr val="tx1"/>
                          </a:solidFill>
                          <a:effectLst/>
                          <a:latin typeface="微软雅黑" pitchFamily="34" charset="-122"/>
                          <a:ea typeface="微软雅黑" pitchFamily="34" charset="-122"/>
                        </a:rPr>
                        <a:t>IP</a:t>
                      </a:r>
                      <a:r>
                        <a:rPr lang="zh-CN" altLang="en-US" sz="2000" b="0" dirty="0">
                          <a:solidFill>
                            <a:schemeClr val="tx1"/>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准备分配的</a:t>
                      </a:r>
                      <a:r>
                        <a:rPr lang="en-US" altLang="zh-CN" sz="2000" b="0" dirty="0">
                          <a:solidFill>
                            <a:srgbClr val="C00000"/>
                          </a:solidFill>
                          <a:effectLst/>
                          <a:latin typeface="微软雅黑" pitchFamily="34" charset="-122"/>
                          <a:ea typeface="微软雅黑" pitchFamily="34" charset="-122"/>
                        </a:rPr>
                        <a:t>IP</a:t>
                      </a:r>
                      <a:r>
                        <a:rPr lang="zh-CN" altLang="en-US" sz="2000" b="0" dirty="0">
                          <a:solidFill>
                            <a:srgbClr val="C00000"/>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单播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bl>
          </a:graphicData>
        </a:graphic>
      </p:graphicFrame>
      <p:sp>
        <p:nvSpPr>
          <p:cNvPr id="7" name="日期占位符 6"/>
          <p:cNvSpPr>
            <a:spLocks noGrp="1"/>
          </p:cNvSpPr>
          <p:nvPr>
            <p:ph type="dt" sz="half" idx="10"/>
          </p:nvPr>
        </p:nvSpPr>
        <p:spPr/>
        <p:txBody>
          <a:bodyPr/>
          <a:lstStyle/>
          <a:p>
            <a:r>
              <a:rPr kumimoji="1" lang="en-US" altLang="zh-CN" dirty="0"/>
              <a:t>5.6.3 DHCP</a:t>
            </a:r>
            <a:endParaRPr kumimoji="1" lang="zh-CN" altLang="en-US" dirty="0"/>
          </a:p>
        </p:txBody>
      </p:sp>
      <p:pic>
        <p:nvPicPr>
          <p:cNvPr id="8" name="Picture 28" descr="015">
            <a:extLst>
              <a:ext uri="{FF2B5EF4-FFF2-40B4-BE49-F238E27FC236}">
                <a16:creationId xmlns:a16="http://schemas.microsoft.com/office/drawing/2014/main" id="{457B880B-BC8C-4A07-BF83-1B9D4B44A53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01277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完整工作过程</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138</a:t>
            </a:fld>
            <a:endParaRPr kumimoji="1" lang="zh-CN" altLang="en-US" dirty="0"/>
          </a:p>
        </p:txBody>
      </p:sp>
      <p:grpSp>
        <p:nvGrpSpPr>
          <p:cNvPr id="92" name="组合 91"/>
          <p:cNvGrpSpPr/>
          <p:nvPr/>
        </p:nvGrpSpPr>
        <p:grpSpPr>
          <a:xfrm>
            <a:off x="6683318" y="1553374"/>
            <a:ext cx="2602215" cy="720917"/>
            <a:chOff x="6683318" y="1553374"/>
            <a:chExt cx="2602215" cy="720917"/>
          </a:xfrm>
        </p:grpSpPr>
        <p:sp>
          <p:nvSpPr>
            <p:cNvPr id="73" name="Text Box 75"/>
            <p:cNvSpPr txBox="1">
              <a:spLocks noChangeArrowheads="1"/>
            </p:cNvSpPr>
            <p:nvPr/>
          </p:nvSpPr>
          <p:spPr bwMode="auto">
            <a:xfrm>
              <a:off x="7592810" y="191496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8" name="组合 87"/>
            <p:cNvGrpSpPr/>
            <p:nvPr/>
          </p:nvGrpSpPr>
          <p:grpSpPr>
            <a:xfrm>
              <a:off x="6683318" y="1553374"/>
              <a:ext cx="2602215" cy="615895"/>
              <a:chOff x="6683318" y="1553374"/>
              <a:chExt cx="2602215" cy="615895"/>
            </a:xfrm>
          </p:grpSpPr>
          <p:grpSp>
            <p:nvGrpSpPr>
              <p:cNvPr id="3" name="组合 2"/>
              <p:cNvGrpSpPr/>
              <p:nvPr/>
            </p:nvGrpSpPr>
            <p:grpSpPr>
              <a:xfrm>
                <a:off x="6683318" y="1553374"/>
                <a:ext cx="2189337" cy="485568"/>
                <a:chOff x="6683318" y="1553374"/>
                <a:chExt cx="2189337" cy="485568"/>
              </a:xfrm>
            </p:grpSpPr>
            <p:sp>
              <p:nvSpPr>
                <p:cNvPr id="6" name="Line 4"/>
                <p:cNvSpPr>
                  <a:spLocks noChangeShapeType="1"/>
                </p:cNvSpPr>
                <p:nvPr/>
              </p:nvSpPr>
              <p:spPr bwMode="auto">
                <a:xfrm flipH="1">
                  <a:off x="6683318" y="1915647"/>
                  <a:ext cx="1063705"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71" name="Rectangle 73"/>
                <p:cNvSpPr>
                  <a:spLocks noChangeArrowheads="1"/>
                </p:cNvSpPr>
                <p:nvPr/>
              </p:nvSpPr>
              <p:spPr bwMode="auto">
                <a:xfrm>
                  <a:off x="8112519" y="1800197"/>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733666" y="1829340"/>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74" name="Text Box 76"/>
                <p:cNvSpPr txBox="1">
                  <a:spLocks noChangeArrowheads="1"/>
                </p:cNvSpPr>
                <p:nvPr/>
              </p:nvSpPr>
              <p:spPr bwMode="auto">
                <a:xfrm>
                  <a:off x="6872461" y="1553374"/>
                  <a:ext cx="954107"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zh-CN" altLang="en-US" sz="1500" dirty="0">
                      <a:latin typeface="微软雅黑" pitchFamily="34" charset="-122"/>
                      <a:ea typeface="微软雅黑" pitchFamily="34" charset="-122"/>
                    </a:rPr>
                    <a:t>被动打开</a:t>
                  </a:r>
                </a:p>
              </p:txBody>
            </p:sp>
          </p:grpSp>
          <p:sp>
            <p:nvSpPr>
              <p:cNvPr id="75" name="Text Box 77"/>
              <p:cNvSpPr txBox="1">
                <a:spLocks noChangeArrowheads="1"/>
              </p:cNvSpPr>
              <p:nvPr/>
            </p:nvSpPr>
            <p:spPr bwMode="auto">
              <a:xfrm>
                <a:off x="8791487" y="1781983"/>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grpSp>
      </p:grpSp>
      <p:grpSp>
        <p:nvGrpSpPr>
          <p:cNvPr id="93" name="组合 92"/>
          <p:cNvGrpSpPr/>
          <p:nvPr/>
        </p:nvGrpSpPr>
        <p:grpSpPr>
          <a:xfrm>
            <a:off x="2330330" y="2215759"/>
            <a:ext cx="6542325" cy="533110"/>
            <a:chOff x="2330330" y="2215759"/>
            <a:chExt cx="6542325" cy="533110"/>
          </a:xfrm>
        </p:grpSpPr>
        <p:sp>
          <p:nvSpPr>
            <p:cNvPr id="13" name="Text Box 12"/>
            <p:cNvSpPr txBox="1">
              <a:spLocks noChangeArrowheads="1"/>
            </p:cNvSpPr>
            <p:nvPr/>
          </p:nvSpPr>
          <p:spPr bwMode="auto">
            <a:xfrm>
              <a:off x="3552917" y="2389540"/>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592810" y="236779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7" name="组合 86"/>
            <p:cNvGrpSpPr/>
            <p:nvPr/>
          </p:nvGrpSpPr>
          <p:grpSpPr>
            <a:xfrm>
              <a:off x="2330330" y="2215759"/>
              <a:ext cx="6542325" cy="387286"/>
              <a:chOff x="2330330" y="2215759"/>
              <a:chExt cx="6542325" cy="387286"/>
            </a:xfrm>
          </p:grpSpPr>
          <p:sp>
            <p:nvSpPr>
              <p:cNvPr id="7" name="Line 6"/>
              <p:cNvSpPr>
                <a:spLocks noChangeShapeType="1"/>
              </p:cNvSpPr>
              <p:nvPr/>
            </p:nvSpPr>
            <p:spPr bwMode="auto">
              <a:xfrm>
                <a:off x="4087198" y="2372962"/>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8" name="Rectangle 7"/>
              <p:cNvSpPr>
                <a:spLocks noChangeArrowheads="1"/>
              </p:cNvSpPr>
              <p:nvPr/>
            </p:nvSpPr>
            <p:spPr bwMode="auto">
              <a:xfrm>
                <a:off x="2795210" y="2251908"/>
                <a:ext cx="760136" cy="24098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9" name="Rectangle 8"/>
              <p:cNvSpPr>
                <a:spLocks noChangeArrowheads="1"/>
              </p:cNvSpPr>
              <p:nvPr/>
            </p:nvSpPr>
            <p:spPr bwMode="auto">
              <a:xfrm>
                <a:off x="4846120" y="2281051"/>
                <a:ext cx="2050911" cy="181581"/>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DHCPDISCOVER</a:t>
                </a:r>
              </a:p>
            </p:txBody>
          </p:sp>
          <p:sp>
            <p:nvSpPr>
              <p:cNvPr id="10" name="Rectangle 9"/>
              <p:cNvSpPr>
                <a:spLocks noChangeArrowheads="1"/>
              </p:cNvSpPr>
              <p:nvPr/>
            </p:nvSpPr>
            <p:spPr bwMode="auto">
              <a:xfrm>
                <a:off x="8112519" y="2251908"/>
                <a:ext cx="760136" cy="24098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733666" y="2281051"/>
                <a:ext cx="378854" cy="181581"/>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12" name="Rectangle 11"/>
              <p:cNvSpPr>
                <a:spLocks noChangeArrowheads="1"/>
              </p:cNvSpPr>
              <p:nvPr/>
            </p:nvSpPr>
            <p:spPr bwMode="auto">
              <a:xfrm>
                <a:off x="3555346" y="2281051"/>
                <a:ext cx="531853" cy="181581"/>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76" name="Text Box 78"/>
              <p:cNvSpPr txBox="1">
                <a:spLocks noChangeArrowheads="1"/>
              </p:cNvSpPr>
              <p:nvPr/>
            </p:nvSpPr>
            <p:spPr bwMode="auto">
              <a:xfrm>
                <a:off x="2330330" y="2215759"/>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grpSp>
        <p:nvGrpSpPr>
          <p:cNvPr id="94" name="组合 93"/>
          <p:cNvGrpSpPr/>
          <p:nvPr/>
        </p:nvGrpSpPr>
        <p:grpSpPr>
          <a:xfrm>
            <a:off x="2795211" y="2655139"/>
            <a:ext cx="6490322" cy="523023"/>
            <a:chOff x="2795211" y="2655139"/>
            <a:chExt cx="6490322" cy="523023"/>
          </a:xfrm>
        </p:grpSpPr>
        <p:sp>
          <p:nvSpPr>
            <p:cNvPr id="21" name="Text Box 20"/>
            <p:cNvSpPr txBox="1">
              <a:spLocks noChangeArrowheads="1"/>
            </p:cNvSpPr>
            <p:nvPr/>
          </p:nvSpPr>
          <p:spPr bwMode="auto">
            <a:xfrm>
              <a:off x="3552917" y="2818833"/>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592810" y="2799327"/>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6" name="组合 85"/>
            <p:cNvGrpSpPr/>
            <p:nvPr/>
          </p:nvGrpSpPr>
          <p:grpSpPr>
            <a:xfrm>
              <a:off x="2795211" y="2655139"/>
              <a:ext cx="6490322" cy="387286"/>
              <a:chOff x="2795211" y="2655139"/>
              <a:chExt cx="6490322" cy="387286"/>
            </a:xfrm>
          </p:grpSpPr>
          <p:sp>
            <p:nvSpPr>
              <p:cNvPr id="15" name="Line 14"/>
              <p:cNvSpPr>
                <a:spLocks noChangeShapeType="1"/>
              </p:cNvSpPr>
              <p:nvPr/>
            </p:nvSpPr>
            <p:spPr bwMode="auto">
              <a:xfrm flipH="1">
                <a:off x="4085984" y="2804496"/>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16" name="Rectangle 15"/>
              <p:cNvSpPr>
                <a:spLocks noChangeArrowheads="1"/>
              </p:cNvSpPr>
              <p:nvPr/>
            </p:nvSpPr>
            <p:spPr bwMode="auto">
              <a:xfrm>
                <a:off x="2795211" y="2683443"/>
                <a:ext cx="758921" cy="23986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17" name="Rectangle 16"/>
              <p:cNvSpPr>
                <a:spLocks noChangeArrowheads="1"/>
              </p:cNvSpPr>
              <p:nvPr/>
            </p:nvSpPr>
            <p:spPr bwMode="auto">
              <a:xfrm>
                <a:off x="4846120" y="2713706"/>
                <a:ext cx="2050911" cy="180459"/>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DHCPOFFER</a:t>
                </a:r>
              </a:p>
            </p:txBody>
          </p:sp>
          <p:sp>
            <p:nvSpPr>
              <p:cNvPr id="18" name="Rectangle 17"/>
              <p:cNvSpPr>
                <a:spLocks noChangeArrowheads="1"/>
              </p:cNvSpPr>
              <p:nvPr/>
            </p:nvSpPr>
            <p:spPr bwMode="auto">
              <a:xfrm>
                <a:off x="8112519" y="2683443"/>
                <a:ext cx="760136" cy="23986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733666" y="2713706"/>
                <a:ext cx="378854" cy="18045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20" name="Rectangle 19"/>
              <p:cNvSpPr>
                <a:spLocks noChangeArrowheads="1"/>
              </p:cNvSpPr>
              <p:nvPr/>
            </p:nvSpPr>
            <p:spPr bwMode="auto">
              <a:xfrm>
                <a:off x="3554132" y="2713706"/>
                <a:ext cx="531853" cy="18045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77" name="Text Box 79"/>
              <p:cNvSpPr txBox="1">
                <a:spLocks noChangeArrowheads="1"/>
              </p:cNvSpPr>
              <p:nvPr/>
            </p:nvSpPr>
            <p:spPr bwMode="auto">
              <a:xfrm>
                <a:off x="8791487" y="2655139"/>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grpSp>
        <p:nvGrpSpPr>
          <p:cNvPr id="95" name="组合 94"/>
          <p:cNvGrpSpPr/>
          <p:nvPr/>
        </p:nvGrpSpPr>
        <p:grpSpPr>
          <a:xfrm>
            <a:off x="2330330" y="3076586"/>
            <a:ext cx="6542325" cy="534231"/>
            <a:chOff x="2330330" y="3076586"/>
            <a:chExt cx="6542325" cy="534231"/>
          </a:xfrm>
        </p:grpSpPr>
        <p:sp>
          <p:nvSpPr>
            <p:cNvPr id="29" name="Text Box 29"/>
            <p:cNvSpPr txBox="1">
              <a:spLocks noChangeArrowheads="1"/>
            </p:cNvSpPr>
            <p:nvPr/>
          </p:nvSpPr>
          <p:spPr bwMode="auto">
            <a:xfrm>
              <a:off x="3552917" y="3251488"/>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592810" y="3231983"/>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9" name="组合 88"/>
            <p:cNvGrpSpPr/>
            <p:nvPr/>
          </p:nvGrpSpPr>
          <p:grpSpPr>
            <a:xfrm>
              <a:off x="2330330" y="3076586"/>
              <a:ext cx="6542325" cy="387286"/>
              <a:chOff x="2330330" y="3076586"/>
              <a:chExt cx="6542325" cy="387286"/>
            </a:xfrm>
          </p:grpSpPr>
          <p:sp>
            <p:nvSpPr>
              <p:cNvPr id="23" name="Line 23"/>
              <p:cNvSpPr>
                <a:spLocks noChangeShapeType="1"/>
              </p:cNvSpPr>
              <p:nvPr/>
            </p:nvSpPr>
            <p:spPr bwMode="auto">
              <a:xfrm>
                <a:off x="4087198" y="3234909"/>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24" name="Rectangle 24"/>
              <p:cNvSpPr>
                <a:spLocks noChangeArrowheads="1"/>
              </p:cNvSpPr>
              <p:nvPr/>
            </p:nvSpPr>
            <p:spPr bwMode="auto">
              <a:xfrm>
                <a:off x="2795210" y="3114977"/>
                <a:ext cx="760136" cy="24098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25" name="Rectangle 25"/>
              <p:cNvSpPr>
                <a:spLocks noChangeArrowheads="1"/>
              </p:cNvSpPr>
              <p:nvPr/>
            </p:nvSpPr>
            <p:spPr bwMode="auto">
              <a:xfrm>
                <a:off x="4846120" y="3145240"/>
                <a:ext cx="2050911" cy="18046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DHCPREQUEST</a:t>
                </a:r>
              </a:p>
            </p:txBody>
          </p:sp>
          <p:sp>
            <p:nvSpPr>
              <p:cNvPr id="26" name="Rectangle 26"/>
              <p:cNvSpPr>
                <a:spLocks noChangeArrowheads="1"/>
              </p:cNvSpPr>
              <p:nvPr/>
            </p:nvSpPr>
            <p:spPr bwMode="auto">
              <a:xfrm>
                <a:off x="8112519" y="3114977"/>
                <a:ext cx="760136" cy="24098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733666" y="3145240"/>
                <a:ext cx="378854" cy="18046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28" name="Rectangle 28"/>
              <p:cNvSpPr>
                <a:spLocks noChangeArrowheads="1"/>
              </p:cNvSpPr>
              <p:nvPr/>
            </p:nvSpPr>
            <p:spPr bwMode="auto">
              <a:xfrm>
                <a:off x="3555346" y="3145240"/>
                <a:ext cx="531853" cy="18046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78" name="Text Box 80"/>
              <p:cNvSpPr txBox="1">
                <a:spLocks noChangeArrowheads="1"/>
              </p:cNvSpPr>
              <p:nvPr/>
            </p:nvSpPr>
            <p:spPr bwMode="auto">
              <a:xfrm>
                <a:off x="2330330" y="3076586"/>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grpSp>
        <p:nvGrpSpPr>
          <p:cNvPr id="96" name="组合 95"/>
          <p:cNvGrpSpPr/>
          <p:nvPr/>
        </p:nvGrpSpPr>
        <p:grpSpPr>
          <a:xfrm>
            <a:off x="2795211" y="3517087"/>
            <a:ext cx="6486678" cy="524144"/>
            <a:chOff x="2795211" y="3517087"/>
            <a:chExt cx="6486678" cy="524144"/>
          </a:xfrm>
        </p:grpSpPr>
        <p:grpSp>
          <p:nvGrpSpPr>
            <p:cNvPr id="90" name="组合 89"/>
            <p:cNvGrpSpPr/>
            <p:nvPr/>
          </p:nvGrpSpPr>
          <p:grpSpPr>
            <a:xfrm>
              <a:off x="2795211" y="3546511"/>
              <a:ext cx="6077444" cy="239866"/>
              <a:chOff x="2795211" y="3546511"/>
              <a:chExt cx="6077444" cy="239866"/>
            </a:xfrm>
          </p:grpSpPr>
          <p:sp>
            <p:nvSpPr>
              <p:cNvPr id="31" name="Line 31"/>
              <p:cNvSpPr>
                <a:spLocks noChangeShapeType="1"/>
              </p:cNvSpPr>
              <p:nvPr/>
            </p:nvSpPr>
            <p:spPr bwMode="auto">
              <a:xfrm flipH="1">
                <a:off x="4085984" y="3666444"/>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32" name="Rectangle 32"/>
              <p:cNvSpPr>
                <a:spLocks noChangeArrowheads="1"/>
              </p:cNvSpPr>
              <p:nvPr/>
            </p:nvSpPr>
            <p:spPr bwMode="auto">
              <a:xfrm>
                <a:off x="2795211" y="3546511"/>
                <a:ext cx="758921" cy="23986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33" name="Rectangle 33"/>
              <p:cNvSpPr>
                <a:spLocks noChangeArrowheads="1"/>
              </p:cNvSpPr>
              <p:nvPr/>
            </p:nvSpPr>
            <p:spPr bwMode="auto">
              <a:xfrm>
                <a:off x="4846120" y="3576775"/>
                <a:ext cx="2050911" cy="179339"/>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DHCPACK</a:t>
                </a:r>
              </a:p>
            </p:txBody>
          </p:sp>
          <p:sp>
            <p:nvSpPr>
              <p:cNvPr id="34" name="Rectangle 34"/>
              <p:cNvSpPr>
                <a:spLocks noChangeArrowheads="1"/>
              </p:cNvSpPr>
              <p:nvPr/>
            </p:nvSpPr>
            <p:spPr bwMode="auto">
              <a:xfrm>
                <a:off x="8112519" y="3546511"/>
                <a:ext cx="760136" cy="23986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733666" y="3576775"/>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36" name="Rectangle 36"/>
              <p:cNvSpPr>
                <a:spLocks noChangeArrowheads="1"/>
              </p:cNvSpPr>
              <p:nvPr/>
            </p:nvSpPr>
            <p:spPr bwMode="auto">
              <a:xfrm>
                <a:off x="3554132" y="3576775"/>
                <a:ext cx="531853" cy="17933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grpSp>
        <p:sp>
          <p:nvSpPr>
            <p:cNvPr id="37" name="Text Box 37"/>
            <p:cNvSpPr txBox="1">
              <a:spLocks noChangeArrowheads="1"/>
            </p:cNvSpPr>
            <p:nvPr/>
          </p:nvSpPr>
          <p:spPr bwMode="auto">
            <a:xfrm>
              <a:off x="3552917" y="368190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592810" y="3662395"/>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79" name="Text Box 81"/>
            <p:cNvSpPr txBox="1">
              <a:spLocks noChangeArrowheads="1"/>
            </p:cNvSpPr>
            <p:nvPr/>
          </p:nvSpPr>
          <p:spPr bwMode="auto">
            <a:xfrm>
              <a:off x="8787843" y="3517087"/>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grpSp>
      <p:grpSp>
        <p:nvGrpSpPr>
          <p:cNvPr id="97" name="组合 96"/>
          <p:cNvGrpSpPr/>
          <p:nvPr/>
        </p:nvGrpSpPr>
        <p:grpSpPr>
          <a:xfrm>
            <a:off x="2330330" y="3957590"/>
            <a:ext cx="6951559" cy="1973426"/>
            <a:chOff x="2330330" y="3957590"/>
            <a:chExt cx="6951559" cy="1973426"/>
          </a:xfrm>
        </p:grpSpPr>
        <p:sp>
          <p:nvSpPr>
            <p:cNvPr id="69" name="Text Box 71"/>
            <p:cNvSpPr txBox="1">
              <a:spLocks noChangeArrowheads="1"/>
            </p:cNvSpPr>
            <p:nvPr/>
          </p:nvSpPr>
          <p:spPr bwMode="auto">
            <a:xfrm>
              <a:off x="3552917" y="5571687"/>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592810" y="5552181"/>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91" name="组合 90"/>
            <p:cNvGrpSpPr/>
            <p:nvPr/>
          </p:nvGrpSpPr>
          <p:grpSpPr>
            <a:xfrm>
              <a:off x="2330330" y="3957590"/>
              <a:ext cx="6951559" cy="1845861"/>
              <a:chOff x="2330330" y="3957590"/>
              <a:chExt cx="6951559" cy="1845861"/>
            </a:xfrm>
          </p:grpSpPr>
          <p:sp>
            <p:nvSpPr>
              <p:cNvPr id="39" name="Line 40"/>
              <p:cNvSpPr>
                <a:spLocks noChangeShapeType="1"/>
              </p:cNvSpPr>
              <p:nvPr/>
            </p:nvSpPr>
            <p:spPr bwMode="auto">
              <a:xfrm>
                <a:off x="4087198" y="4095736"/>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40" name="Rectangle 41"/>
              <p:cNvSpPr>
                <a:spLocks noChangeArrowheads="1"/>
              </p:cNvSpPr>
              <p:nvPr/>
            </p:nvSpPr>
            <p:spPr bwMode="auto">
              <a:xfrm>
                <a:off x="2795210" y="3975804"/>
                <a:ext cx="760136"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41" name="Rectangle 42"/>
              <p:cNvSpPr>
                <a:spLocks noChangeArrowheads="1"/>
              </p:cNvSpPr>
              <p:nvPr/>
            </p:nvSpPr>
            <p:spPr bwMode="auto">
              <a:xfrm>
                <a:off x="4846120" y="4006067"/>
                <a:ext cx="2050911"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DHCPREQUEST</a:t>
                </a:r>
              </a:p>
            </p:txBody>
          </p:sp>
          <p:sp>
            <p:nvSpPr>
              <p:cNvPr id="42" name="Rectangle 43"/>
              <p:cNvSpPr>
                <a:spLocks noChangeArrowheads="1"/>
              </p:cNvSpPr>
              <p:nvPr/>
            </p:nvSpPr>
            <p:spPr bwMode="auto">
              <a:xfrm>
                <a:off x="8112519" y="3975804"/>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733666" y="4006067"/>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44" name="Rectangle 45"/>
              <p:cNvSpPr>
                <a:spLocks noChangeArrowheads="1"/>
              </p:cNvSpPr>
              <p:nvPr/>
            </p:nvSpPr>
            <p:spPr bwMode="auto">
              <a:xfrm>
                <a:off x="3555346" y="4006067"/>
                <a:ext cx="531853" cy="17933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45" name="Text Box 46"/>
              <p:cNvSpPr txBox="1">
                <a:spLocks noChangeArrowheads="1"/>
              </p:cNvSpPr>
              <p:nvPr/>
            </p:nvSpPr>
            <p:spPr bwMode="auto">
              <a:xfrm>
                <a:off x="3552917" y="4111195"/>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592810" y="4091689"/>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4085984" y="4528392"/>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48" name="Rectangle 49"/>
              <p:cNvSpPr>
                <a:spLocks noChangeArrowheads="1"/>
              </p:cNvSpPr>
              <p:nvPr/>
            </p:nvSpPr>
            <p:spPr bwMode="auto">
              <a:xfrm>
                <a:off x="2795211" y="4407338"/>
                <a:ext cx="758921"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49" name="Rectangle 50"/>
              <p:cNvSpPr>
                <a:spLocks noChangeArrowheads="1"/>
              </p:cNvSpPr>
              <p:nvPr/>
            </p:nvSpPr>
            <p:spPr bwMode="auto">
              <a:xfrm>
                <a:off x="4846120" y="4437602"/>
                <a:ext cx="2050911" cy="180459"/>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DHCPNACK</a:t>
                </a:r>
              </a:p>
            </p:txBody>
          </p:sp>
          <p:sp>
            <p:nvSpPr>
              <p:cNvPr id="50" name="Rectangle 51"/>
              <p:cNvSpPr>
                <a:spLocks noChangeArrowheads="1"/>
              </p:cNvSpPr>
              <p:nvPr/>
            </p:nvSpPr>
            <p:spPr bwMode="auto">
              <a:xfrm>
                <a:off x="8112519" y="4407338"/>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733666" y="4437602"/>
                <a:ext cx="378854" cy="18045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52" name="Rectangle 53"/>
              <p:cNvSpPr>
                <a:spLocks noChangeArrowheads="1"/>
              </p:cNvSpPr>
              <p:nvPr/>
            </p:nvSpPr>
            <p:spPr bwMode="auto">
              <a:xfrm>
                <a:off x="3554132" y="4437602"/>
                <a:ext cx="531853" cy="18045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sp>
            <p:nvSpPr>
              <p:cNvPr id="53" name="Text Box 54"/>
              <p:cNvSpPr txBox="1">
                <a:spLocks noChangeArrowheads="1"/>
              </p:cNvSpPr>
              <p:nvPr/>
            </p:nvSpPr>
            <p:spPr bwMode="auto">
              <a:xfrm>
                <a:off x="3552917" y="4542729"/>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592810" y="4523220"/>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4085984" y="4959926"/>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56" name="Rectangle 57"/>
              <p:cNvSpPr>
                <a:spLocks noChangeArrowheads="1"/>
              </p:cNvSpPr>
              <p:nvPr/>
            </p:nvSpPr>
            <p:spPr bwMode="auto">
              <a:xfrm>
                <a:off x="2795211" y="4838873"/>
                <a:ext cx="758921"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57" name="Rectangle 58"/>
              <p:cNvSpPr>
                <a:spLocks noChangeArrowheads="1"/>
              </p:cNvSpPr>
              <p:nvPr/>
            </p:nvSpPr>
            <p:spPr bwMode="auto">
              <a:xfrm>
                <a:off x="4846120" y="4869136"/>
                <a:ext cx="2050911" cy="18046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DHCPACK</a:t>
                </a:r>
              </a:p>
            </p:txBody>
          </p:sp>
          <p:sp>
            <p:nvSpPr>
              <p:cNvPr id="58" name="Rectangle 59"/>
              <p:cNvSpPr>
                <a:spLocks noChangeArrowheads="1"/>
              </p:cNvSpPr>
              <p:nvPr/>
            </p:nvSpPr>
            <p:spPr bwMode="auto">
              <a:xfrm>
                <a:off x="8112519" y="4838873"/>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733666" y="4869136"/>
                <a:ext cx="378854" cy="18046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60" name="Rectangle 61"/>
              <p:cNvSpPr>
                <a:spLocks noChangeArrowheads="1"/>
              </p:cNvSpPr>
              <p:nvPr/>
            </p:nvSpPr>
            <p:spPr bwMode="auto">
              <a:xfrm>
                <a:off x="3554132" y="4869136"/>
                <a:ext cx="531852" cy="18046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sp>
            <p:nvSpPr>
              <p:cNvPr id="61" name="Text Box 62"/>
              <p:cNvSpPr txBox="1">
                <a:spLocks noChangeArrowheads="1"/>
              </p:cNvSpPr>
              <p:nvPr/>
            </p:nvSpPr>
            <p:spPr bwMode="auto">
              <a:xfrm>
                <a:off x="3552917" y="497426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592810" y="4954755"/>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4087198" y="5556228"/>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64" name="Rectangle 66"/>
              <p:cNvSpPr>
                <a:spLocks noChangeArrowheads="1"/>
              </p:cNvSpPr>
              <p:nvPr/>
            </p:nvSpPr>
            <p:spPr bwMode="auto">
              <a:xfrm>
                <a:off x="2795210" y="5436295"/>
                <a:ext cx="760136"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65" name="Rectangle 67"/>
              <p:cNvSpPr>
                <a:spLocks noChangeArrowheads="1"/>
              </p:cNvSpPr>
              <p:nvPr/>
            </p:nvSpPr>
            <p:spPr bwMode="auto">
              <a:xfrm>
                <a:off x="4846120" y="5466559"/>
                <a:ext cx="2050911"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DHCPRELEASE</a:t>
                </a:r>
              </a:p>
            </p:txBody>
          </p:sp>
          <p:sp>
            <p:nvSpPr>
              <p:cNvPr id="66" name="Rectangle 68"/>
              <p:cNvSpPr>
                <a:spLocks noChangeArrowheads="1"/>
              </p:cNvSpPr>
              <p:nvPr/>
            </p:nvSpPr>
            <p:spPr bwMode="auto">
              <a:xfrm>
                <a:off x="8112519" y="5436295"/>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733666" y="5466559"/>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68" name="Rectangle 70"/>
              <p:cNvSpPr>
                <a:spLocks noChangeArrowheads="1"/>
              </p:cNvSpPr>
              <p:nvPr/>
            </p:nvSpPr>
            <p:spPr bwMode="auto">
              <a:xfrm>
                <a:off x="3555346" y="5466559"/>
                <a:ext cx="531853" cy="17933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sp>
            <p:nvSpPr>
              <p:cNvPr id="80" name="Text Box 82"/>
              <p:cNvSpPr txBox="1">
                <a:spLocks noChangeArrowheads="1"/>
              </p:cNvSpPr>
              <p:nvPr/>
            </p:nvSpPr>
            <p:spPr bwMode="auto">
              <a:xfrm>
                <a:off x="2330330" y="3957590"/>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8787843" y="4370067"/>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8787843" y="4810568"/>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5493807" y="5043138"/>
                <a:ext cx="370614"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b="1">
                    <a:latin typeface="微软雅黑" pitchFamily="34" charset="-122"/>
                    <a:ea typeface="微软雅黑" pitchFamily="34" charset="-122"/>
                  </a:rPr>
                  <a:t>…</a:t>
                </a:r>
              </a:p>
            </p:txBody>
          </p:sp>
          <p:sp>
            <p:nvSpPr>
              <p:cNvPr id="84" name="Text Box 86"/>
              <p:cNvSpPr txBox="1">
                <a:spLocks noChangeArrowheads="1"/>
              </p:cNvSpPr>
              <p:nvPr/>
            </p:nvSpPr>
            <p:spPr bwMode="auto">
              <a:xfrm>
                <a:off x="2330330" y="5416165"/>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sp>
        <p:nvSpPr>
          <p:cNvPr id="98" name="TextBox 97"/>
          <p:cNvSpPr txBox="1"/>
          <p:nvPr/>
        </p:nvSpPr>
        <p:spPr>
          <a:xfrm>
            <a:off x="2150533" y="5939467"/>
            <a:ext cx="2159000" cy="338554"/>
          </a:xfrm>
          <a:prstGeom prst="rect">
            <a:avLst/>
          </a:prstGeom>
          <a:noFill/>
        </p:spPr>
        <p:txBody>
          <a:bodyPr wrap="square" rtlCol="0">
            <a:spAutoFit/>
          </a:bodyPr>
          <a:lstStyle/>
          <a:p>
            <a:r>
              <a:rPr lang="zh-CN" altLang="en-US" sz="1600" dirty="0">
                <a:latin typeface="微软雅黑" pitchFamily="34" charset="-122"/>
                <a:ea typeface="微软雅黑" pitchFamily="34" charset="-122"/>
              </a:rPr>
              <a:t>注：说明见备注</a:t>
            </a:r>
          </a:p>
        </p:txBody>
      </p:sp>
      <p:sp>
        <p:nvSpPr>
          <p:cNvPr id="5" name="日期占位符 4"/>
          <p:cNvSpPr>
            <a:spLocks noGrp="1"/>
          </p:cNvSpPr>
          <p:nvPr>
            <p:ph type="dt" sz="half" idx="10"/>
          </p:nvPr>
        </p:nvSpPr>
        <p:spPr/>
        <p:txBody>
          <a:bodyPr/>
          <a:lstStyle/>
          <a:p>
            <a:r>
              <a:rPr kumimoji="1" lang="en-US" altLang="zh-CN" dirty="0"/>
              <a:t>5.6.3 DHCP</a:t>
            </a:r>
            <a:endParaRPr kumimoji="1" lang="zh-CN" altLang="en-US" dirty="0"/>
          </a:p>
        </p:txBody>
      </p:sp>
      <p:pic>
        <p:nvPicPr>
          <p:cNvPr id="99" name="Picture 28" descr="015">
            <a:extLst>
              <a:ext uri="{FF2B5EF4-FFF2-40B4-BE49-F238E27FC236}">
                <a16:creationId xmlns:a16="http://schemas.microsoft.com/office/drawing/2014/main" id="{5FE0602B-40D7-4993-8F45-4992A954E8B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609943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IP</a:t>
            </a:r>
            <a:r>
              <a:rPr lang="zh-CN" altLang="en-US" dirty="0">
                <a:latin typeface="微软雅黑" pitchFamily="34" charset="-122"/>
                <a:ea typeface="微软雅黑" pitchFamily="34" charset="-122"/>
              </a:rPr>
              <a:t> 与 </a:t>
            </a:r>
            <a:r>
              <a:rPr lang="en-US" altLang="zh-CN" dirty="0">
                <a:latin typeface="微软雅黑" pitchFamily="34" charset="-122"/>
                <a:ea typeface="微软雅黑" pitchFamily="34" charset="-122"/>
              </a:rPr>
              <a:t>MAC</a:t>
            </a:r>
            <a:r>
              <a:rPr lang="zh-CN" altLang="en-US" dirty="0">
                <a:latin typeface="微软雅黑" pitchFamily="34" charset="-122"/>
                <a:ea typeface="微软雅黑" pitchFamily="34" charset="-122"/>
              </a:rPr>
              <a:t>地址</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139</a:t>
            </a:fld>
            <a:endParaRPr kumimoji="1" lang="zh-CN" altLang="en-US" dirty="0"/>
          </a:p>
        </p:txBody>
      </p:sp>
      <p:grpSp>
        <p:nvGrpSpPr>
          <p:cNvPr id="120" name="组合 119"/>
          <p:cNvGrpSpPr/>
          <p:nvPr/>
        </p:nvGrpSpPr>
        <p:grpSpPr>
          <a:xfrm>
            <a:off x="1159933" y="3046061"/>
            <a:ext cx="9076267" cy="3211339"/>
            <a:chOff x="39556" y="1952011"/>
            <a:chExt cx="9881923" cy="4425021"/>
          </a:xfrm>
        </p:grpSpPr>
        <p:sp>
          <p:nvSpPr>
            <p:cNvPr id="121"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2"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3" name="Line 79"/>
            <p:cNvSpPr>
              <a:spLocks noChangeShapeType="1"/>
            </p:cNvSpPr>
            <p:nvPr/>
          </p:nvSpPr>
          <p:spPr bwMode="auto">
            <a:xfrm rot="-54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4" name="Line 80"/>
            <p:cNvSpPr>
              <a:spLocks noChangeShapeType="1"/>
            </p:cNvSpPr>
            <p:nvPr/>
          </p:nvSpPr>
          <p:spPr bwMode="auto">
            <a:xfrm rot="-54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5" name="AutoShape 81"/>
            <p:cNvSpPr>
              <a:spLocks noChangeArrowheads="1"/>
            </p:cNvSpPr>
            <p:nvPr/>
          </p:nvSpPr>
          <p:spPr bwMode="auto">
            <a:xfrm>
              <a:off x="247650" y="3306763"/>
              <a:ext cx="742950" cy="1905000"/>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6" name="AutoShape 82"/>
            <p:cNvSpPr>
              <a:spLocks noChangeArrowheads="1"/>
            </p:cNvSpPr>
            <p:nvPr/>
          </p:nvSpPr>
          <p:spPr bwMode="auto">
            <a:xfrm>
              <a:off x="2889250" y="3382963"/>
              <a:ext cx="742950" cy="19050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7" name="AutoShape 83"/>
            <p:cNvSpPr>
              <a:spLocks noChangeArrowheads="1"/>
            </p:cNvSpPr>
            <p:nvPr/>
          </p:nvSpPr>
          <p:spPr bwMode="auto">
            <a:xfrm>
              <a:off x="8832850" y="3306763"/>
              <a:ext cx="742950" cy="1905000"/>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8" name="AutoShape 84"/>
            <p:cNvSpPr>
              <a:spLocks noChangeArrowheads="1"/>
            </p:cNvSpPr>
            <p:nvPr/>
          </p:nvSpPr>
          <p:spPr bwMode="auto">
            <a:xfrm>
              <a:off x="5776781" y="3611563"/>
              <a:ext cx="742950" cy="16764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nvGrpSpPr>
            <p:cNvPr id="129" name="Group 85"/>
            <p:cNvGrpSpPr>
              <a:grpSpLocks/>
            </p:cNvGrpSpPr>
            <p:nvPr/>
          </p:nvGrpSpPr>
          <p:grpSpPr bwMode="auto">
            <a:xfrm>
              <a:off x="39556" y="2420938"/>
              <a:ext cx="9881923" cy="2438400"/>
              <a:chOff x="96" y="1056"/>
              <a:chExt cx="5472" cy="1536"/>
            </a:xfrm>
            <a:solidFill>
              <a:srgbClr val="FFFF66"/>
            </a:solidFill>
          </p:grpSpPr>
          <p:sp>
            <p:nvSpPr>
              <p:cNvPr id="18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8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CC"/>
                  </a:solidFill>
                  <a:latin typeface="微软雅黑" pitchFamily="34" charset="-122"/>
                  <a:ea typeface="微软雅黑" pitchFamily="34" charset="-122"/>
                </a:endParaRPr>
              </a:p>
            </p:txBody>
          </p:sp>
        </p:grpSp>
        <p:sp>
          <p:nvSpPr>
            <p:cNvPr id="130" name="Line 94"/>
            <p:cNvSpPr>
              <a:spLocks noChangeShapeType="1"/>
            </p:cNvSpPr>
            <p:nvPr/>
          </p:nvSpPr>
          <p:spPr bwMode="auto">
            <a:xfrm>
              <a:off x="165100" y="5440363"/>
              <a:ext cx="280670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nvGrpSpPr>
            <p:cNvPr id="131" name="Group 95"/>
            <p:cNvGrpSpPr>
              <a:grpSpLocks/>
            </p:cNvGrpSpPr>
            <p:nvPr/>
          </p:nvGrpSpPr>
          <p:grpSpPr bwMode="auto">
            <a:xfrm>
              <a:off x="247650" y="2420938"/>
              <a:ext cx="742950" cy="1447800"/>
              <a:chOff x="672" y="528"/>
              <a:chExt cx="432" cy="912"/>
            </a:xfrm>
          </p:grpSpPr>
          <p:sp>
            <p:nvSpPr>
              <p:cNvPr id="18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sp>
          <p:nvSpPr>
            <p:cNvPr id="132" name="Text Box 99"/>
            <p:cNvSpPr txBox="1">
              <a:spLocks noChangeArrowheads="1"/>
            </p:cNvSpPr>
            <p:nvPr/>
          </p:nvSpPr>
          <p:spPr bwMode="auto">
            <a:xfrm>
              <a:off x="287206" y="3430588"/>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latin typeface="微软雅黑" pitchFamily="34" charset="-122"/>
                  <a:ea typeface="微软雅黑" pitchFamily="34" charset="-122"/>
                </a:rPr>
                <a:t>IP</a:t>
              </a:r>
              <a:r>
                <a:rPr kumimoji="1" lang="en-US" altLang="zh-CN" sz="1500" b="1" baseline="-25000">
                  <a:latin typeface="微软雅黑" pitchFamily="34" charset="-122"/>
                  <a:ea typeface="微软雅黑" pitchFamily="34" charset="-122"/>
                </a:rPr>
                <a:t>1</a:t>
              </a:r>
              <a:endParaRPr kumimoji="1" lang="en-US" altLang="zh-CN" sz="1500" b="1">
                <a:latin typeface="微软雅黑" pitchFamily="34" charset="-122"/>
                <a:ea typeface="微软雅黑" pitchFamily="34" charset="-122"/>
              </a:endParaRPr>
            </a:p>
          </p:txBody>
        </p:sp>
        <p:sp>
          <p:nvSpPr>
            <p:cNvPr id="133" name="Text Box 100"/>
            <p:cNvSpPr txBox="1">
              <a:spLocks noChangeArrowheads="1"/>
            </p:cNvSpPr>
            <p:nvPr/>
          </p:nvSpPr>
          <p:spPr bwMode="auto">
            <a:xfrm>
              <a:off x="233892" y="4783283"/>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134" name="Text Box 101"/>
            <p:cNvSpPr txBox="1">
              <a:spLocks noChangeArrowheads="1"/>
            </p:cNvSpPr>
            <p:nvPr/>
          </p:nvSpPr>
          <p:spPr bwMode="auto">
            <a:xfrm>
              <a:off x="5154860" y="4745182"/>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5</a:t>
              </a:r>
              <a:endParaRPr kumimoji="1" lang="en-US" altLang="zh-CN" sz="1500" b="1">
                <a:solidFill>
                  <a:srgbClr val="0000CC"/>
                </a:solidFill>
                <a:latin typeface="微软雅黑" pitchFamily="34" charset="-122"/>
                <a:ea typeface="微软雅黑" pitchFamily="34" charset="-122"/>
              </a:endParaRPr>
            </a:p>
          </p:txBody>
        </p:sp>
        <p:sp>
          <p:nvSpPr>
            <p:cNvPr id="135" name="Text Box 102"/>
            <p:cNvSpPr txBox="1">
              <a:spLocks noChangeArrowheads="1"/>
            </p:cNvSpPr>
            <p:nvPr/>
          </p:nvSpPr>
          <p:spPr bwMode="auto">
            <a:xfrm>
              <a:off x="3533095" y="4738834"/>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4</a:t>
              </a:r>
              <a:endParaRPr kumimoji="1" lang="en-US" altLang="zh-CN" sz="1500" b="1">
                <a:solidFill>
                  <a:srgbClr val="0000CC"/>
                </a:solidFill>
                <a:latin typeface="微软雅黑" pitchFamily="34" charset="-122"/>
                <a:ea typeface="微软雅黑" pitchFamily="34" charset="-122"/>
              </a:endParaRPr>
            </a:p>
          </p:txBody>
        </p:sp>
        <p:sp>
          <p:nvSpPr>
            <p:cNvPr id="136" name="Text Box 103"/>
            <p:cNvSpPr txBox="1">
              <a:spLocks noChangeArrowheads="1"/>
            </p:cNvSpPr>
            <p:nvPr/>
          </p:nvSpPr>
          <p:spPr bwMode="auto">
            <a:xfrm>
              <a:off x="2239811" y="4738834"/>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solidFill>
                    <a:srgbClr val="0000CC"/>
                  </a:solidFill>
                  <a:latin typeface="微软雅黑" pitchFamily="34" charset="-122"/>
                  <a:ea typeface="微软雅黑" pitchFamily="34" charset="-122"/>
                </a:rPr>
                <a:t>HA</a:t>
              </a:r>
              <a:r>
                <a:rPr kumimoji="1" lang="en-US" altLang="zh-CN" sz="1500" b="1" baseline="-25000" dirty="0">
                  <a:solidFill>
                    <a:srgbClr val="0000CC"/>
                  </a:solidFill>
                  <a:latin typeface="微软雅黑" pitchFamily="34" charset="-122"/>
                  <a:ea typeface="微软雅黑" pitchFamily="34" charset="-122"/>
                </a:rPr>
                <a:t>3</a:t>
              </a:r>
              <a:endParaRPr kumimoji="1" lang="en-US" altLang="zh-CN" sz="1500" b="1" dirty="0">
                <a:solidFill>
                  <a:srgbClr val="0000CC"/>
                </a:solidFill>
                <a:latin typeface="微软雅黑" pitchFamily="34" charset="-122"/>
                <a:ea typeface="微软雅黑" pitchFamily="34" charset="-122"/>
              </a:endParaRPr>
            </a:p>
          </p:txBody>
        </p:sp>
        <p:sp>
          <p:nvSpPr>
            <p:cNvPr id="137" name="Line 104"/>
            <p:cNvSpPr>
              <a:spLocks noChangeShapeType="1"/>
            </p:cNvSpPr>
            <p:nvPr/>
          </p:nvSpPr>
          <p:spPr bwMode="auto">
            <a:xfrm>
              <a:off x="908050" y="3611563"/>
              <a:ext cx="2063750" cy="0"/>
            </a:xfrm>
            <a:prstGeom prst="line">
              <a:avLst/>
            </a:prstGeom>
            <a:noFill/>
            <a:ln w="28575">
              <a:solidFill>
                <a:srgbClr val="3399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38" name="Line 105"/>
            <p:cNvSpPr>
              <a:spLocks noChangeShapeType="1"/>
            </p:cNvSpPr>
            <p:nvPr/>
          </p:nvSpPr>
          <p:spPr bwMode="auto">
            <a:xfrm>
              <a:off x="6438900" y="5440363"/>
              <a:ext cx="321945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39" name="Text Box 106"/>
            <p:cNvSpPr txBox="1">
              <a:spLocks noChangeArrowheads="1"/>
            </p:cNvSpPr>
            <p:nvPr/>
          </p:nvSpPr>
          <p:spPr bwMode="auto">
            <a:xfrm>
              <a:off x="6436103" y="4732483"/>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6</a:t>
              </a:r>
              <a:endParaRPr kumimoji="1" lang="en-US" altLang="zh-CN" sz="1500" b="1">
                <a:solidFill>
                  <a:srgbClr val="0000CC"/>
                </a:solidFill>
                <a:latin typeface="微软雅黑" pitchFamily="34" charset="-122"/>
                <a:ea typeface="微软雅黑" pitchFamily="34" charset="-122"/>
              </a:endParaRPr>
            </a:p>
          </p:txBody>
        </p:sp>
        <p:sp>
          <p:nvSpPr>
            <p:cNvPr id="140" name="Text Box 107"/>
            <p:cNvSpPr txBox="1">
              <a:spLocks noChangeArrowheads="1"/>
            </p:cNvSpPr>
            <p:nvPr/>
          </p:nvSpPr>
          <p:spPr bwMode="auto">
            <a:xfrm>
              <a:off x="8805333" y="4748357"/>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latin typeface="微软雅黑" pitchFamily="34" charset="-122"/>
                  <a:ea typeface="微软雅黑" pitchFamily="34" charset="-122"/>
                </a:rPr>
                <a:t>HA</a:t>
              </a:r>
              <a:r>
                <a:rPr kumimoji="1" lang="en-US" altLang="zh-CN" sz="1500" b="1" baseline="-25000">
                  <a:latin typeface="微软雅黑" pitchFamily="34" charset="-122"/>
                  <a:ea typeface="微软雅黑" pitchFamily="34" charset="-122"/>
                </a:rPr>
                <a:t>2</a:t>
              </a:r>
              <a:endParaRPr kumimoji="1" lang="en-US" altLang="zh-CN" sz="1500" b="1">
                <a:latin typeface="微软雅黑" pitchFamily="34" charset="-122"/>
                <a:ea typeface="微软雅黑" pitchFamily="34" charset="-122"/>
              </a:endParaRPr>
            </a:p>
          </p:txBody>
        </p:sp>
        <p:sp>
          <p:nvSpPr>
            <p:cNvPr id="141" name="Text Box 108"/>
            <p:cNvSpPr txBox="1">
              <a:spLocks noChangeArrowheads="1"/>
            </p:cNvSpPr>
            <p:nvPr/>
          </p:nvSpPr>
          <p:spPr bwMode="auto">
            <a:xfrm>
              <a:off x="6393150" y="3709988"/>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solidFill>
                    <a:srgbClr val="0000CC"/>
                  </a:solidFill>
                  <a:latin typeface="微软雅黑" pitchFamily="34" charset="-122"/>
                  <a:ea typeface="微软雅黑" pitchFamily="34" charset="-122"/>
                </a:rPr>
                <a:t>IP</a:t>
              </a:r>
              <a:r>
                <a:rPr kumimoji="1" lang="en-US" altLang="zh-CN" sz="1500" b="1" baseline="-25000" dirty="0">
                  <a:solidFill>
                    <a:srgbClr val="0000CC"/>
                  </a:solidFill>
                  <a:latin typeface="微软雅黑" pitchFamily="34" charset="-122"/>
                  <a:ea typeface="微软雅黑" pitchFamily="34" charset="-122"/>
                </a:rPr>
                <a:t>6</a:t>
              </a:r>
              <a:endParaRPr kumimoji="1" lang="en-US" altLang="zh-CN" sz="1500" b="1" dirty="0">
                <a:solidFill>
                  <a:srgbClr val="0000CC"/>
                </a:solidFill>
                <a:latin typeface="微软雅黑" pitchFamily="34" charset="-122"/>
                <a:ea typeface="微软雅黑" pitchFamily="34" charset="-122"/>
              </a:endParaRPr>
            </a:p>
          </p:txBody>
        </p:sp>
        <p:sp>
          <p:nvSpPr>
            <p:cNvPr id="142" name="Text Box 109"/>
            <p:cNvSpPr txBox="1">
              <a:spLocks noChangeArrowheads="1"/>
            </p:cNvSpPr>
            <p:nvPr/>
          </p:nvSpPr>
          <p:spPr bwMode="auto">
            <a:xfrm>
              <a:off x="116947" y="1977411"/>
              <a:ext cx="102523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143" name="Text Box 110"/>
            <p:cNvSpPr txBox="1">
              <a:spLocks noChangeArrowheads="1"/>
            </p:cNvSpPr>
            <p:nvPr/>
          </p:nvSpPr>
          <p:spPr bwMode="auto">
            <a:xfrm>
              <a:off x="8716466" y="1952011"/>
              <a:ext cx="102523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2</a:t>
              </a:r>
              <a:endParaRPr kumimoji="1" lang="en-US" altLang="zh-CN" sz="1500" b="1" dirty="0">
                <a:latin typeface="微软雅黑" pitchFamily="34" charset="-122"/>
                <a:ea typeface="微软雅黑" pitchFamily="34" charset="-122"/>
              </a:endParaRPr>
            </a:p>
          </p:txBody>
        </p:sp>
        <p:sp>
          <p:nvSpPr>
            <p:cNvPr id="144" name="AutoShape 111"/>
            <p:cNvSpPr>
              <a:spLocks noChangeArrowheads="1"/>
            </p:cNvSpPr>
            <p:nvPr/>
          </p:nvSpPr>
          <p:spPr bwMode="auto">
            <a:xfrm>
              <a:off x="2889250" y="3259138"/>
              <a:ext cx="742950" cy="6096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45" name="Text Box 112"/>
            <p:cNvSpPr txBox="1">
              <a:spLocks noChangeArrowheads="1"/>
            </p:cNvSpPr>
            <p:nvPr/>
          </p:nvSpPr>
          <p:spPr bwMode="auto">
            <a:xfrm>
              <a:off x="2791265" y="2804500"/>
              <a:ext cx="122488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dirty="0">
                  <a:latin typeface="微软雅黑" pitchFamily="34" charset="-122"/>
                  <a:ea typeface="微软雅黑" pitchFamily="34" charset="-122"/>
                </a:rPr>
                <a:t>路由器 </a:t>
              </a:r>
              <a:r>
                <a:rPr kumimoji="1" lang="en-US" altLang="zh-CN" sz="1500" b="1" dirty="0">
                  <a:latin typeface="微软雅黑" pitchFamily="34" charset="-122"/>
                  <a:ea typeface="微软雅黑" pitchFamily="34" charset="-122"/>
                </a:rPr>
                <a:t>R</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146" name="Text Box 113"/>
            <p:cNvSpPr txBox="1">
              <a:spLocks noChangeArrowheads="1"/>
            </p:cNvSpPr>
            <p:nvPr/>
          </p:nvSpPr>
          <p:spPr bwMode="auto">
            <a:xfrm>
              <a:off x="4777829" y="4119709"/>
              <a:ext cx="1993055" cy="466506"/>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a:solidFill>
                    <a:schemeClr val="bg1"/>
                  </a:solidFill>
                  <a:latin typeface="微软雅黑" pitchFamily="34" charset="-122"/>
                  <a:ea typeface="微软雅黑" pitchFamily="34" charset="-122"/>
                </a:rPr>
                <a:t>IP </a:t>
              </a:r>
              <a:r>
                <a:rPr kumimoji="1" lang="zh-CN" altLang="en-US" sz="1600" b="1">
                  <a:solidFill>
                    <a:schemeClr val="bg1"/>
                  </a:solidFill>
                  <a:latin typeface="微软雅黑" pitchFamily="34" charset="-122"/>
                  <a:ea typeface="微软雅黑" pitchFamily="34" charset="-122"/>
                </a:rPr>
                <a:t>层上的互联网</a:t>
              </a:r>
            </a:p>
          </p:txBody>
        </p:sp>
        <p:sp>
          <p:nvSpPr>
            <p:cNvPr id="147" name="Text Box 114"/>
            <p:cNvSpPr txBox="1">
              <a:spLocks noChangeArrowheads="1"/>
            </p:cNvSpPr>
            <p:nvPr/>
          </p:nvSpPr>
          <p:spPr bwMode="auto">
            <a:xfrm>
              <a:off x="987245" y="5931731"/>
              <a:ext cx="1071024"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MAC </a:t>
              </a:r>
              <a:r>
                <a:rPr kumimoji="1" lang="zh-CN" altLang="en-US" sz="1500" b="1" dirty="0">
                  <a:latin typeface="微软雅黑" pitchFamily="34" charset="-122"/>
                  <a:ea typeface="微软雅黑" pitchFamily="34" charset="-122"/>
                </a:rPr>
                <a:t>帧</a:t>
              </a:r>
            </a:p>
          </p:txBody>
        </p:sp>
        <p:grpSp>
          <p:nvGrpSpPr>
            <p:cNvPr id="148" name="Group 115"/>
            <p:cNvGrpSpPr>
              <a:grpSpLocks/>
            </p:cNvGrpSpPr>
            <p:nvPr/>
          </p:nvGrpSpPr>
          <p:grpSpPr bwMode="auto">
            <a:xfrm>
              <a:off x="8832850" y="2420938"/>
              <a:ext cx="742950" cy="1447800"/>
              <a:chOff x="672" y="528"/>
              <a:chExt cx="432" cy="912"/>
            </a:xfrm>
          </p:grpSpPr>
          <p:sp>
            <p:nvSpPr>
              <p:cNvPr id="18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sp>
          <p:nvSpPr>
            <p:cNvPr id="149" name="Text Box 119"/>
            <p:cNvSpPr txBox="1">
              <a:spLocks noChangeArrowheads="1"/>
            </p:cNvSpPr>
            <p:nvPr/>
          </p:nvSpPr>
          <p:spPr bwMode="auto">
            <a:xfrm>
              <a:off x="8886167" y="3435350"/>
              <a:ext cx="538478" cy="445301"/>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latin typeface="微软雅黑" pitchFamily="34" charset="-122"/>
                  <a:ea typeface="微软雅黑" pitchFamily="34" charset="-122"/>
                </a:rPr>
                <a:t>IP</a:t>
              </a:r>
              <a:r>
                <a:rPr kumimoji="1" lang="en-US" altLang="zh-CN" sz="1500" b="1" baseline="-25000">
                  <a:latin typeface="微软雅黑" pitchFamily="34" charset="-122"/>
                  <a:ea typeface="微软雅黑" pitchFamily="34" charset="-122"/>
                </a:rPr>
                <a:t>2</a:t>
              </a:r>
              <a:endParaRPr kumimoji="1" lang="en-US" altLang="zh-CN" sz="1500" b="1">
                <a:latin typeface="微软雅黑" pitchFamily="34" charset="-122"/>
                <a:ea typeface="微软雅黑" pitchFamily="34" charset="-122"/>
              </a:endParaRPr>
            </a:p>
          </p:txBody>
        </p:sp>
        <p:sp>
          <p:nvSpPr>
            <p:cNvPr id="150" name="Text Box 120"/>
            <p:cNvSpPr txBox="1">
              <a:spLocks noChangeArrowheads="1"/>
            </p:cNvSpPr>
            <p:nvPr/>
          </p:nvSpPr>
          <p:spPr bwMode="auto">
            <a:xfrm>
              <a:off x="3597805" y="3697289"/>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IP</a:t>
              </a:r>
              <a:r>
                <a:rPr kumimoji="1" lang="en-US" altLang="zh-CN" sz="1500" b="1" baseline="-25000">
                  <a:solidFill>
                    <a:srgbClr val="0000CC"/>
                  </a:solidFill>
                  <a:latin typeface="微软雅黑" pitchFamily="34" charset="-122"/>
                  <a:ea typeface="微软雅黑" pitchFamily="34" charset="-122"/>
                </a:rPr>
                <a:t>4</a:t>
              </a:r>
              <a:endParaRPr kumimoji="1" lang="en-US" altLang="zh-CN" sz="1500" b="1">
                <a:solidFill>
                  <a:srgbClr val="0000CC"/>
                </a:solidFill>
                <a:latin typeface="微软雅黑" pitchFamily="34" charset="-122"/>
                <a:ea typeface="微软雅黑" pitchFamily="34" charset="-122"/>
              </a:endParaRPr>
            </a:p>
          </p:txBody>
        </p:sp>
        <p:sp>
          <p:nvSpPr>
            <p:cNvPr id="151" name="Text Box 121"/>
            <p:cNvSpPr txBox="1">
              <a:spLocks noChangeArrowheads="1"/>
            </p:cNvSpPr>
            <p:nvPr/>
          </p:nvSpPr>
          <p:spPr bwMode="auto">
            <a:xfrm>
              <a:off x="2476499" y="3697289"/>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IP</a:t>
              </a:r>
              <a:r>
                <a:rPr kumimoji="1" lang="en-US" altLang="zh-CN" sz="1500" b="1" baseline="-25000">
                  <a:solidFill>
                    <a:srgbClr val="0000CC"/>
                  </a:solidFill>
                  <a:latin typeface="微软雅黑" pitchFamily="34" charset="-122"/>
                  <a:ea typeface="微软雅黑" pitchFamily="34" charset="-122"/>
                </a:rPr>
                <a:t>3</a:t>
              </a:r>
              <a:endParaRPr kumimoji="1" lang="en-US" altLang="zh-CN" sz="1500" b="1">
                <a:solidFill>
                  <a:srgbClr val="0000CC"/>
                </a:solidFill>
                <a:latin typeface="微软雅黑" pitchFamily="34" charset="-122"/>
                <a:ea typeface="微软雅黑" pitchFamily="34" charset="-122"/>
              </a:endParaRPr>
            </a:p>
          </p:txBody>
        </p:sp>
        <p:sp>
          <p:nvSpPr>
            <p:cNvPr id="152" name="Line 122"/>
            <p:cNvSpPr>
              <a:spLocks noChangeShapeType="1"/>
            </p:cNvSpPr>
            <p:nvPr/>
          </p:nvSpPr>
          <p:spPr bwMode="auto">
            <a:xfrm>
              <a:off x="3549650" y="3611563"/>
              <a:ext cx="2228850" cy="0"/>
            </a:xfrm>
            <a:prstGeom prst="line">
              <a:avLst/>
            </a:prstGeom>
            <a:noFill/>
            <a:ln w="28575">
              <a:solidFill>
                <a:srgbClr val="3399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3" name="AutoShape 123"/>
            <p:cNvSpPr>
              <a:spLocks noChangeArrowheads="1"/>
            </p:cNvSpPr>
            <p:nvPr/>
          </p:nvSpPr>
          <p:spPr bwMode="auto">
            <a:xfrm>
              <a:off x="5776781" y="3230563"/>
              <a:ext cx="742950" cy="6096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4" name="Line 124"/>
            <p:cNvSpPr>
              <a:spLocks noChangeShapeType="1"/>
            </p:cNvSpPr>
            <p:nvPr/>
          </p:nvSpPr>
          <p:spPr bwMode="auto">
            <a:xfrm>
              <a:off x="6438900" y="3611563"/>
              <a:ext cx="2393950" cy="0"/>
            </a:xfrm>
            <a:prstGeom prst="line">
              <a:avLst/>
            </a:prstGeom>
            <a:noFill/>
            <a:ln w="28575">
              <a:solidFill>
                <a:srgbClr val="3399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5" name="Text Box 125"/>
            <p:cNvSpPr txBox="1">
              <a:spLocks noChangeArrowheads="1"/>
            </p:cNvSpPr>
            <p:nvPr/>
          </p:nvSpPr>
          <p:spPr bwMode="auto">
            <a:xfrm>
              <a:off x="5365752" y="3697289"/>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IP</a:t>
              </a:r>
              <a:r>
                <a:rPr kumimoji="1" lang="en-US" altLang="zh-CN" sz="1500" b="1" baseline="-25000">
                  <a:solidFill>
                    <a:srgbClr val="0000CC"/>
                  </a:solidFill>
                  <a:latin typeface="微软雅黑" pitchFamily="34" charset="-122"/>
                  <a:ea typeface="微软雅黑" pitchFamily="34" charset="-122"/>
                </a:rPr>
                <a:t>5</a:t>
              </a:r>
              <a:endParaRPr kumimoji="1" lang="en-US" altLang="zh-CN" sz="1500" b="1">
                <a:solidFill>
                  <a:srgbClr val="0000CC"/>
                </a:solidFill>
                <a:latin typeface="微软雅黑" pitchFamily="34" charset="-122"/>
                <a:ea typeface="微软雅黑" pitchFamily="34" charset="-122"/>
              </a:endParaRPr>
            </a:p>
          </p:txBody>
        </p:sp>
        <p:sp>
          <p:nvSpPr>
            <p:cNvPr id="156" name="Line 126"/>
            <p:cNvSpPr>
              <a:spLocks noChangeShapeType="1"/>
            </p:cNvSpPr>
            <p:nvPr/>
          </p:nvSpPr>
          <p:spPr bwMode="auto">
            <a:xfrm>
              <a:off x="3632200" y="5440363"/>
              <a:ext cx="206375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9" name="Text Box 129"/>
            <p:cNvSpPr txBox="1">
              <a:spLocks noChangeArrowheads="1"/>
            </p:cNvSpPr>
            <p:nvPr/>
          </p:nvSpPr>
          <p:spPr bwMode="auto">
            <a:xfrm>
              <a:off x="5610004" y="2779098"/>
              <a:ext cx="122488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a:latin typeface="微软雅黑" pitchFamily="34" charset="-122"/>
                  <a:ea typeface="微软雅黑" pitchFamily="34" charset="-122"/>
                </a:rPr>
                <a:t>路由器 </a:t>
              </a:r>
              <a:r>
                <a:rPr kumimoji="1" lang="en-US" altLang="zh-CN" sz="1500" b="1">
                  <a:latin typeface="微软雅黑" pitchFamily="34" charset="-122"/>
                  <a:ea typeface="微软雅黑" pitchFamily="34" charset="-122"/>
                </a:rPr>
                <a:t>R</a:t>
              </a:r>
              <a:r>
                <a:rPr kumimoji="1" lang="en-US" altLang="zh-CN" sz="1500" b="1" baseline="-25000">
                  <a:latin typeface="微软雅黑" pitchFamily="34" charset="-122"/>
                  <a:ea typeface="微软雅黑" pitchFamily="34" charset="-122"/>
                </a:rPr>
                <a:t>2</a:t>
              </a:r>
              <a:endParaRPr kumimoji="1" lang="en-US" altLang="zh-CN" sz="1500" b="1">
                <a:latin typeface="微软雅黑" pitchFamily="34" charset="-122"/>
                <a:ea typeface="微软雅黑" pitchFamily="34" charset="-122"/>
              </a:endParaRPr>
            </a:p>
          </p:txBody>
        </p:sp>
        <p:grpSp>
          <p:nvGrpSpPr>
            <p:cNvPr id="160" name="Group 130"/>
            <p:cNvGrpSpPr>
              <a:grpSpLocks/>
            </p:cNvGrpSpPr>
            <p:nvPr/>
          </p:nvGrpSpPr>
          <p:grpSpPr bwMode="auto">
            <a:xfrm>
              <a:off x="1238250" y="3154363"/>
              <a:ext cx="1568450" cy="381000"/>
              <a:chOff x="1632" y="2688"/>
              <a:chExt cx="912" cy="240"/>
            </a:xfrm>
          </p:grpSpPr>
          <p:sp>
            <p:nvSpPr>
              <p:cNvPr id="180" name="Rectangle 131"/>
              <p:cNvSpPr>
                <a:spLocks noChangeArrowheads="1"/>
              </p:cNvSpPr>
              <p:nvPr/>
            </p:nvSpPr>
            <p:spPr bwMode="auto">
              <a:xfrm>
                <a:off x="1632" y="2688"/>
                <a:ext cx="720" cy="240"/>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latin typeface="微软雅黑" pitchFamily="34" charset="-122"/>
                    <a:ea typeface="微软雅黑" pitchFamily="34" charset="-122"/>
                  </a:rPr>
                  <a:t>  IP</a:t>
                </a:r>
                <a:r>
                  <a:rPr kumimoji="1" lang="en-US" altLang="zh-CN" sz="1600" b="1" baseline="-25000" dirty="0">
                    <a:latin typeface="微软雅黑" pitchFamily="34" charset="-122"/>
                    <a:ea typeface="微软雅黑" pitchFamily="34" charset="-122"/>
                  </a:rPr>
                  <a:t>1</a:t>
                </a:r>
                <a:r>
                  <a:rPr kumimoji="1" lang="en-US" altLang="zh-CN" sz="1600" b="1" dirty="0">
                    <a:latin typeface="微软雅黑" pitchFamily="34" charset="-122"/>
                    <a:ea typeface="微软雅黑" pitchFamily="34" charset="-122"/>
                  </a:rPr>
                  <a:t> → IP</a:t>
                </a:r>
                <a:r>
                  <a:rPr kumimoji="1" lang="en-US" altLang="zh-CN" sz="1600" b="1" baseline="-25000" dirty="0">
                    <a:latin typeface="微软雅黑" pitchFamily="34" charset="-122"/>
                    <a:ea typeface="微软雅黑" pitchFamily="34" charset="-122"/>
                  </a:rPr>
                  <a:t>2</a:t>
                </a:r>
              </a:p>
            </p:txBody>
          </p:sp>
          <p:sp>
            <p:nvSpPr>
              <p:cNvPr id="181" name="AutoShape 132"/>
              <p:cNvSpPr>
                <a:spLocks noChangeArrowheads="1"/>
              </p:cNvSpPr>
              <p:nvPr/>
            </p:nvSpPr>
            <p:spPr bwMode="auto">
              <a:xfrm>
                <a:off x="2352" y="2736"/>
                <a:ext cx="192" cy="144"/>
              </a:xfrm>
              <a:prstGeom prst="rightArrow">
                <a:avLst>
                  <a:gd name="adj1" fmla="val 50000"/>
                  <a:gd name="adj2" fmla="val 54167"/>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1" name="Group 133"/>
            <p:cNvGrpSpPr>
              <a:grpSpLocks/>
            </p:cNvGrpSpPr>
            <p:nvPr/>
          </p:nvGrpSpPr>
          <p:grpSpPr bwMode="auto">
            <a:xfrm>
              <a:off x="4044950" y="3154363"/>
              <a:ext cx="1568450" cy="381000"/>
              <a:chOff x="1632" y="2688"/>
              <a:chExt cx="912" cy="240"/>
            </a:xfrm>
          </p:grpSpPr>
          <p:sp>
            <p:nvSpPr>
              <p:cNvPr id="178" name="Rectangle 134"/>
              <p:cNvSpPr>
                <a:spLocks noChangeArrowheads="1"/>
              </p:cNvSpPr>
              <p:nvPr/>
            </p:nvSpPr>
            <p:spPr bwMode="auto">
              <a:xfrm>
                <a:off x="1632" y="2688"/>
                <a:ext cx="720" cy="240"/>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latin typeface="微软雅黑" pitchFamily="34" charset="-122"/>
                    <a:ea typeface="微软雅黑" pitchFamily="34" charset="-122"/>
                  </a:rPr>
                  <a:t>IP</a:t>
                </a:r>
                <a:r>
                  <a:rPr kumimoji="1" lang="en-US" altLang="zh-CN" sz="1600" b="1" baseline="-25000">
                    <a:latin typeface="微软雅黑" pitchFamily="34" charset="-122"/>
                    <a:ea typeface="微软雅黑" pitchFamily="34" charset="-122"/>
                  </a:rPr>
                  <a:t>1</a:t>
                </a:r>
                <a:r>
                  <a:rPr kumimoji="1" lang="en-US" altLang="zh-CN" sz="1600" b="1">
                    <a:latin typeface="微软雅黑" pitchFamily="34" charset="-122"/>
                    <a:ea typeface="微软雅黑" pitchFamily="34" charset="-122"/>
                  </a:rPr>
                  <a:t> → IP</a:t>
                </a:r>
                <a:r>
                  <a:rPr kumimoji="1" lang="en-US" altLang="zh-CN" sz="1600" b="1" baseline="-25000">
                    <a:latin typeface="微软雅黑" pitchFamily="34" charset="-122"/>
                    <a:ea typeface="微软雅黑" pitchFamily="34" charset="-122"/>
                  </a:rPr>
                  <a:t>2</a:t>
                </a:r>
              </a:p>
            </p:txBody>
          </p:sp>
          <p:sp>
            <p:nvSpPr>
              <p:cNvPr id="179" name="AutoShape 135"/>
              <p:cNvSpPr>
                <a:spLocks noChangeArrowheads="1"/>
              </p:cNvSpPr>
              <p:nvPr/>
            </p:nvSpPr>
            <p:spPr bwMode="auto">
              <a:xfrm>
                <a:off x="2352" y="2736"/>
                <a:ext cx="192" cy="144"/>
              </a:xfrm>
              <a:prstGeom prst="rightArrow">
                <a:avLst>
                  <a:gd name="adj1" fmla="val 50000"/>
                  <a:gd name="adj2" fmla="val 54167"/>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2" name="Group 136"/>
            <p:cNvGrpSpPr>
              <a:grpSpLocks/>
            </p:cNvGrpSpPr>
            <p:nvPr/>
          </p:nvGrpSpPr>
          <p:grpSpPr bwMode="auto">
            <a:xfrm>
              <a:off x="7016750" y="3154363"/>
              <a:ext cx="1568450" cy="381000"/>
              <a:chOff x="1632" y="2688"/>
              <a:chExt cx="912" cy="240"/>
            </a:xfrm>
          </p:grpSpPr>
          <p:sp>
            <p:nvSpPr>
              <p:cNvPr id="176" name="Rectangle 137"/>
              <p:cNvSpPr>
                <a:spLocks noChangeArrowheads="1"/>
              </p:cNvSpPr>
              <p:nvPr/>
            </p:nvSpPr>
            <p:spPr bwMode="auto">
              <a:xfrm>
                <a:off x="1632" y="2688"/>
                <a:ext cx="720" cy="240"/>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latin typeface="微软雅黑" pitchFamily="34" charset="-122"/>
                    <a:ea typeface="微软雅黑" pitchFamily="34" charset="-122"/>
                  </a:rPr>
                  <a:t>IP</a:t>
                </a:r>
                <a:r>
                  <a:rPr kumimoji="1" lang="en-US" altLang="zh-CN" sz="1600" b="1" baseline="-25000">
                    <a:latin typeface="微软雅黑" pitchFamily="34" charset="-122"/>
                    <a:ea typeface="微软雅黑" pitchFamily="34" charset="-122"/>
                  </a:rPr>
                  <a:t>1</a:t>
                </a:r>
                <a:r>
                  <a:rPr kumimoji="1" lang="en-US" altLang="zh-CN" sz="1600" b="1">
                    <a:latin typeface="微软雅黑" pitchFamily="34" charset="-122"/>
                    <a:ea typeface="微软雅黑" pitchFamily="34" charset="-122"/>
                  </a:rPr>
                  <a:t> → IP</a:t>
                </a:r>
                <a:r>
                  <a:rPr kumimoji="1" lang="en-US" altLang="zh-CN" sz="1600" b="1" baseline="-25000">
                    <a:latin typeface="微软雅黑" pitchFamily="34" charset="-122"/>
                    <a:ea typeface="微软雅黑" pitchFamily="34" charset="-122"/>
                  </a:rPr>
                  <a:t>2</a:t>
                </a:r>
              </a:p>
            </p:txBody>
          </p:sp>
          <p:sp>
            <p:nvSpPr>
              <p:cNvPr id="177" name="AutoShape 138"/>
              <p:cNvSpPr>
                <a:spLocks noChangeArrowheads="1"/>
              </p:cNvSpPr>
              <p:nvPr/>
            </p:nvSpPr>
            <p:spPr bwMode="auto">
              <a:xfrm>
                <a:off x="2352" y="2736"/>
                <a:ext cx="192" cy="144"/>
              </a:xfrm>
              <a:prstGeom prst="rightArrow">
                <a:avLst>
                  <a:gd name="adj1" fmla="val 50000"/>
                  <a:gd name="adj2" fmla="val 54167"/>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3" name="Group 139"/>
            <p:cNvGrpSpPr>
              <a:grpSpLocks/>
            </p:cNvGrpSpPr>
            <p:nvPr/>
          </p:nvGrpSpPr>
          <p:grpSpPr bwMode="auto">
            <a:xfrm>
              <a:off x="660400" y="5576888"/>
              <a:ext cx="2146300" cy="381000"/>
              <a:chOff x="480" y="3110"/>
              <a:chExt cx="1248" cy="240"/>
            </a:xfrm>
          </p:grpSpPr>
          <p:sp>
            <p:nvSpPr>
              <p:cNvPr id="174" name="Rectangle 140"/>
              <p:cNvSpPr>
                <a:spLocks noChangeArrowheads="1"/>
              </p:cNvSpPr>
              <p:nvPr/>
            </p:nvSpPr>
            <p:spPr bwMode="auto">
              <a:xfrm>
                <a:off x="480" y="3110"/>
                <a:ext cx="1056" cy="240"/>
              </a:xfrm>
              <a:prstGeom prst="rect">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500" b="1">
                    <a:latin typeface="微软雅黑" pitchFamily="34" charset="-122"/>
                    <a:ea typeface="微软雅黑" pitchFamily="34" charset="-122"/>
                  </a:rPr>
                  <a:t>从 </a:t>
                </a:r>
                <a:r>
                  <a:rPr kumimoji="1" lang="en-US" altLang="zh-CN" sz="1500" b="1">
                    <a:latin typeface="微软雅黑" pitchFamily="34" charset="-122"/>
                    <a:ea typeface="微软雅黑" pitchFamily="34" charset="-122"/>
                  </a:rPr>
                  <a:t>HA</a:t>
                </a:r>
                <a:r>
                  <a:rPr kumimoji="1" lang="en-US" altLang="zh-CN" sz="1500" b="1" baseline="-25000">
                    <a:latin typeface="微软雅黑" pitchFamily="34" charset="-122"/>
                    <a:ea typeface="微软雅黑" pitchFamily="34" charset="-122"/>
                  </a:rPr>
                  <a:t>1</a:t>
                </a:r>
                <a:r>
                  <a:rPr kumimoji="1" lang="en-US" altLang="zh-CN" sz="1500" b="1">
                    <a:latin typeface="微软雅黑" pitchFamily="34" charset="-122"/>
                    <a:ea typeface="微软雅黑" pitchFamily="34" charset="-122"/>
                  </a:rPr>
                  <a:t> </a:t>
                </a:r>
                <a:r>
                  <a:rPr kumimoji="1" lang="zh-CN" altLang="en-US" sz="1500" b="1">
                    <a:latin typeface="微软雅黑" pitchFamily="34" charset="-122"/>
                    <a:ea typeface="微软雅黑" pitchFamily="34" charset="-122"/>
                  </a:rPr>
                  <a:t>到 </a:t>
                </a:r>
                <a:r>
                  <a:rPr kumimoji="1" lang="en-US" altLang="zh-CN" sz="1500" b="1">
                    <a:latin typeface="微软雅黑" pitchFamily="34" charset="-122"/>
                    <a:ea typeface="微软雅黑" pitchFamily="34" charset="-122"/>
                  </a:rPr>
                  <a:t>HA</a:t>
                </a:r>
                <a:r>
                  <a:rPr kumimoji="1" lang="en-US" altLang="zh-CN" sz="1500" b="1" baseline="-25000">
                    <a:latin typeface="微软雅黑" pitchFamily="34" charset="-122"/>
                    <a:ea typeface="微软雅黑" pitchFamily="34" charset="-122"/>
                  </a:rPr>
                  <a:t>3</a:t>
                </a:r>
              </a:p>
            </p:txBody>
          </p:sp>
          <p:sp>
            <p:nvSpPr>
              <p:cNvPr id="175" name="AutoShape 141"/>
              <p:cNvSpPr>
                <a:spLocks noChangeArrowheads="1"/>
              </p:cNvSpPr>
              <p:nvPr/>
            </p:nvSpPr>
            <p:spPr bwMode="auto">
              <a:xfrm>
                <a:off x="1536" y="3168"/>
                <a:ext cx="192" cy="144"/>
              </a:xfrm>
              <a:prstGeom prst="rightArrow">
                <a:avLst>
                  <a:gd name="adj1" fmla="val 50000"/>
                  <a:gd name="adj2" fmla="val 54167"/>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4" name="Group 142"/>
            <p:cNvGrpSpPr>
              <a:grpSpLocks/>
            </p:cNvGrpSpPr>
            <p:nvPr/>
          </p:nvGrpSpPr>
          <p:grpSpPr bwMode="auto">
            <a:xfrm>
              <a:off x="3797300" y="5576888"/>
              <a:ext cx="2146300" cy="381000"/>
              <a:chOff x="480" y="3110"/>
              <a:chExt cx="1248" cy="240"/>
            </a:xfrm>
          </p:grpSpPr>
          <p:sp>
            <p:nvSpPr>
              <p:cNvPr id="172" name="Rectangle 143"/>
              <p:cNvSpPr>
                <a:spLocks noChangeArrowheads="1"/>
              </p:cNvSpPr>
              <p:nvPr/>
            </p:nvSpPr>
            <p:spPr bwMode="auto">
              <a:xfrm>
                <a:off x="480" y="3110"/>
                <a:ext cx="1056" cy="240"/>
              </a:xfrm>
              <a:prstGeom prst="rect">
                <a:avLst/>
              </a:prstGeom>
              <a:solidFill>
                <a:srgbClr val="FFC0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500" b="1" dirty="0">
                    <a:latin typeface="微软雅黑" pitchFamily="34" charset="-122"/>
                    <a:ea typeface="微软雅黑" pitchFamily="34" charset="-122"/>
                  </a:rPr>
                  <a:t>从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4</a:t>
                </a:r>
                <a:r>
                  <a:rPr kumimoji="1" lang="en-US" altLang="zh-CN" sz="1500" b="1" dirty="0">
                    <a:latin typeface="微软雅黑" pitchFamily="34" charset="-122"/>
                    <a:ea typeface="微软雅黑" pitchFamily="34" charset="-122"/>
                  </a:rPr>
                  <a:t> </a:t>
                </a:r>
                <a:r>
                  <a:rPr kumimoji="1" lang="zh-CN" altLang="en-US" sz="1500" b="1" dirty="0">
                    <a:latin typeface="微软雅黑" pitchFamily="34" charset="-122"/>
                    <a:ea typeface="微软雅黑" pitchFamily="34" charset="-122"/>
                  </a:rPr>
                  <a:t>到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5</a:t>
                </a:r>
              </a:p>
            </p:txBody>
          </p:sp>
          <p:sp>
            <p:nvSpPr>
              <p:cNvPr id="173" name="AutoShape 144"/>
              <p:cNvSpPr>
                <a:spLocks noChangeArrowheads="1"/>
              </p:cNvSpPr>
              <p:nvPr/>
            </p:nvSpPr>
            <p:spPr bwMode="auto">
              <a:xfrm>
                <a:off x="1536" y="3168"/>
                <a:ext cx="192" cy="144"/>
              </a:xfrm>
              <a:prstGeom prst="rightArrow">
                <a:avLst>
                  <a:gd name="adj1" fmla="val 50000"/>
                  <a:gd name="adj2" fmla="val 54167"/>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5" name="Group 145"/>
            <p:cNvGrpSpPr>
              <a:grpSpLocks/>
            </p:cNvGrpSpPr>
            <p:nvPr/>
          </p:nvGrpSpPr>
          <p:grpSpPr bwMode="auto">
            <a:xfrm>
              <a:off x="6934200" y="5576888"/>
              <a:ext cx="2146300" cy="381000"/>
              <a:chOff x="480" y="3110"/>
              <a:chExt cx="1248" cy="240"/>
            </a:xfrm>
          </p:grpSpPr>
          <p:sp>
            <p:nvSpPr>
              <p:cNvPr id="170" name="Rectangle 146"/>
              <p:cNvSpPr>
                <a:spLocks noChangeArrowheads="1"/>
              </p:cNvSpPr>
              <p:nvPr/>
            </p:nvSpPr>
            <p:spPr bwMode="auto">
              <a:xfrm>
                <a:off x="480" y="3110"/>
                <a:ext cx="1056" cy="240"/>
              </a:xfrm>
              <a:prstGeom prst="rect">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500" b="1" dirty="0">
                    <a:latin typeface="微软雅黑" pitchFamily="34" charset="-122"/>
                    <a:ea typeface="微软雅黑" pitchFamily="34" charset="-122"/>
                  </a:rPr>
                  <a:t>从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6</a:t>
                </a:r>
                <a:r>
                  <a:rPr kumimoji="1" lang="en-US" altLang="zh-CN" sz="1500" b="1" dirty="0">
                    <a:latin typeface="微软雅黑" pitchFamily="34" charset="-122"/>
                    <a:ea typeface="微软雅黑" pitchFamily="34" charset="-122"/>
                  </a:rPr>
                  <a:t> </a:t>
                </a:r>
                <a:r>
                  <a:rPr kumimoji="1" lang="zh-CN" altLang="en-US" sz="1500" b="1" dirty="0">
                    <a:latin typeface="微软雅黑" pitchFamily="34" charset="-122"/>
                    <a:ea typeface="微软雅黑" pitchFamily="34" charset="-122"/>
                  </a:rPr>
                  <a:t>到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2</a:t>
                </a:r>
              </a:p>
            </p:txBody>
          </p:sp>
          <p:sp>
            <p:nvSpPr>
              <p:cNvPr id="171" name="AutoShape 147"/>
              <p:cNvSpPr>
                <a:spLocks noChangeArrowheads="1"/>
              </p:cNvSpPr>
              <p:nvPr/>
            </p:nvSpPr>
            <p:spPr bwMode="auto">
              <a:xfrm>
                <a:off x="1536" y="3168"/>
                <a:ext cx="192" cy="144"/>
              </a:xfrm>
              <a:prstGeom prst="rightArrow">
                <a:avLst>
                  <a:gd name="adj1" fmla="val 50000"/>
                  <a:gd name="adj2" fmla="val 54167"/>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sp>
          <p:nvSpPr>
            <p:cNvPr id="166" name="Text Box 148"/>
            <p:cNvSpPr txBox="1">
              <a:spLocks noChangeArrowheads="1"/>
            </p:cNvSpPr>
            <p:nvPr/>
          </p:nvSpPr>
          <p:spPr bwMode="auto">
            <a:xfrm>
              <a:off x="7286323" y="5931731"/>
              <a:ext cx="1071024"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MAC </a:t>
              </a:r>
              <a:r>
                <a:rPr kumimoji="1" lang="zh-CN" altLang="en-US" sz="1500" b="1" dirty="0">
                  <a:latin typeface="微软雅黑" pitchFamily="34" charset="-122"/>
                  <a:ea typeface="微软雅黑" pitchFamily="34" charset="-122"/>
                </a:rPr>
                <a:t>帧</a:t>
              </a:r>
            </a:p>
          </p:txBody>
        </p:sp>
        <p:sp>
          <p:nvSpPr>
            <p:cNvPr id="167" name="Text Box 149"/>
            <p:cNvSpPr txBox="1">
              <a:spLocks noChangeArrowheads="1"/>
            </p:cNvSpPr>
            <p:nvPr/>
          </p:nvSpPr>
          <p:spPr bwMode="auto">
            <a:xfrm>
              <a:off x="4150585" y="5931731"/>
              <a:ext cx="1071024"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MAC </a:t>
              </a:r>
              <a:r>
                <a:rPr kumimoji="1" lang="zh-CN" altLang="en-US" sz="1500" b="1" dirty="0">
                  <a:latin typeface="微软雅黑" pitchFamily="34" charset="-122"/>
                  <a:ea typeface="微软雅黑" pitchFamily="34" charset="-122"/>
                </a:rPr>
                <a:t>帧</a:t>
              </a:r>
            </a:p>
          </p:txBody>
        </p:sp>
        <p:sp>
          <p:nvSpPr>
            <p:cNvPr id="16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p:spPr>
          <p:txBody>
            <a:bodyPr rot="10800000" wrap="none" anchor="ctr"/>
            <a:lstStyle/>
            <a:p>
              <a:pPr algn="ctr"/>
              <a:endParaRPr kumimoji="1" lang="zh-CN" altLang="zh-CN" sz="1600" b="1">
                <a:solidFill>
                  <a:srgbClr val="0000CC"/>
                </a:solidFill>
                <a:latin typeface="微软雅黑" pitchFamily="34" charset="-122"/>
                <a:ea typeface="微软雅黑" pitchFamily="34" charset="-122"/>
              </a:endParaRPr>
            </a:p>
          </p:txBody>
        </p:sp>
        <p:sp>
          <p:nvSpPr>
            <p:cNvPr id="169" name="Text Box 151"/>
            <p:cNvSpPr txBox="1">
              <a:spLocks noChangeArrowheads="1"/>
            </p:cNvSpPr>
            <p:nvPr/>
          </p:nvSpPr>
          <p:spPr bwMode="auto">
            <a:xfrm>
              <a:off x="2270125" y="2249634"/>
              <a:ext cx="119826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IP </a:t>
              </a:r>
              <a:r>
                <a:rPr kumimoji="1" lang="zh-CN" altLang="en-US" sz="1500" b="1" dirty="0">
                  <a:latin typeface="微软雅黑" pitchFamily="34" charset="-122"/>
                  <a:ea typeface="微软雅黑" pitchFamily="34" charset="-122"/>
                </a:rPr>
                <a:t>数据报</a:t>
              </a:r>
            </a:p>
          </p:txBody>
        </p:sp>
      </p:grpSp>
      <p:sp>
        <p:nvSpPr>
          <p:cNvPr id="197" name="Line 159"/>
          <p:cNvSpPr>
            <a:spLocks noChangeShapeType="1"/>
          </p:cNvSpPr>
          <p:nvPr/>
        </p:nvSpPr>
        <p:spPr bwMode="auto">
          <a:xfrm>
            <a:off x="1963775" y="3594900"/>
            <a:ext cx="0" cy="1934351"/>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98" name="Line 161"/>
          <p:cNvSpPr>
            <a:spLocks noChangeShapeType="1"/>
          </p:cNvSpPr>
          <p:nvPr/>
        </p:nvSpPr>
        <p:spPr bwMode="auto">
          <a:xfrm>
            <a:off x="1879757" y="5581094"/>
            <a:ext cx="186232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99" name="Line 163"/>
          <p:cNvSpPr>
            <a:spLocks noChangeShapeType="1"/>
          </p:cNvSpPr>
          <p:nvPr/>
        </p:nvSpPr>
        <p:spPr bwMode="auto">
          <a:xfrm flipV="1">
            <a:off x="4132811"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0" name="Line 164"/>
          <p:cNvSpPr>
            <a:spLocks noChangeShapeType="1"/>
          </p:cNvSpPr>
          <p:nvPr/>
        </p:nvSpPr>
        <p:spPr bwMode="auto">
          <a:xfrm>
            <a:off x="4329996"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1" name="Line 165"/>
          <p:cNvSpPr>
            <a:spLocks noChangeShapeType="1"/>
          </p:cNvSpPr>
          <p:nvPr/>
        </p:nvSpPr>
        <p:spPr bwMode="auto">
          <a:xfrm>
            <a:off x="4576555" y="5581094"/>
            <a:ext cx="186232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2" name="Line 168"/>
          <p:cNvSpPr>
            <a:spLocks noChangeShapeType="1"/>
          </p:cNvSpPr>
          <p:nvPr/>
        </p:nvSpPr>
        <p:spPr bwMode="auto">
          <a:xfrm flipV="1">
            <a:off x="6567176"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3" name="Line 169"/>
          <p:cNvSpPr>
            <a:spLocks noChangeShapeType="1"/>
          </p:cNvSpPr>
          <p:nvPr/>
        </p:nvSpPr>
        <p:spPr bwMode="auto">
          <a:xfrm>
            <a:off x="6764361"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4" name="Line 170"/>
          <p:cNvSpPr>
            <a:spLocks noChangeShapeType="1"/>
          </p:cNvSpPr>
          <p:nvPr/>
        </p:nvSpPr>
        <p:spPr bwMode="auto">
          <a:xfrm>
            <a:off x="7271900" y="5581094"/>
            <a:ext cx="186232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5" name="Line 171"/>
          <p:cNvSpPr>
            <a:spLocks noChangeShapeType="1"/>
          </p:cNvSpPr>
          <p:nvPr/>
        </p:nvSpPr>
        <p:spPr bwMode="auto">
          <a:xfrm flipV="1">
            <a:off x="9197277" y="3646742"/>
            <a:ext cx="0" cy="1934351"/>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grpSp>
        <p:nvGrpSpPr>
          <p:cNvPr id="6" name="组合 5"/>
          <p:cNvGrpSpPr/>
          <p:nvPr/>
        </p:nvGrpSpPr>
        <p:grpSpPr>
          <a:xfrm>
            <a:off x="1577272" y="1653730"/>
            <a:ext cx="8325805" cy="1284702"/>
            <a:chOff x="1577272" y="1653730"/>
            <a:chExt cx="8325805" cy="1284702"/>
          </a:xfrm>
        </p:grpSpPr>
        <p:sp>
          <p:nvSpPr>
            <p:cNvPr id="212" name="Text Box 13"/>
            <p:cNvSpPr txBox="1">
              <a:spLocks noChangeArrowheads="1"/>
            </p:cNvSpPr>
            <p:nvPr/>
          </p:nvSpPr>
          <p:spPr bwMode="auto">
            <a:xfrm>
              <a:off x="1577272" y="1653730"/>
              <a:ext cx="1008706"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213" name="Text Box 14"/>
            <p:cNvSpPr txBox="1">
              <a:spLocks noChangeArrowheads="1"/>
            </p:cNvSpPr>
            <p:nvPr/>
          </p:nvSpPr>
          <p:spPr bwMode="auto">
            <a:xfrm>
              <a:off x="8894371" y="1653730"/>
              <a:ext cx="1008706"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2</a:t>
              </a:r>
              <a:endParaRPr kumimoji="1" lang="en-US" altLang="zh-CN" sz="1500" b="1" dirty="0">
                <a:latin typeface="微软雅黑" pitchFamily="34" charset="-122"/>
                <a:ea typeface="微软雅黑" pitchFamily="34" charset="-122"/>
              </a:endParaRPr>
            </a:p>
          </p:txBody>
        </p:sp>
        <p:grpSp>
          <p:nvGrpSpPr>
            <p:cNvPr id="5" name="组合 4"/>
            <p:cNvGrpSpPr/>
            <p:nvPr/>
          </p:nvGrpSpPr>
          <p:grpSpPr>
            <a:xfrm>
              <a:off x="1631743" y="1974162"/>
              <a:ext cx="8175453" cy="964270"/>
              <a:chOff x="1631743" y="1974162"/>
              <a:chExt cx="8175453" cy="964270"/>
            </a:xfrm>
          </p:grpSpPr>
          <p:sp>
            <p:nvSpPr>
              <p:cNvPr id="206" name="Freeform 2"/>
              <p:cNvSpPr>
                <a:spLocks/>
              </p:cNvSpPr>
              <p:nvPr/>
            </p:nvSpPr>
            <p:spPr bwMode="auto">
              <a:xfrm>
                <a:off x="3886740" y="2529221"/>
                <a:ext cx="247993" cy="3871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07" name="Freeform 3"/>
              <p:cNvSpPr>
                <a:spLocks/>
              </p:cNvSpPr>
              <p:nvPr/>
            </p:nvSpPr>
            <p:spPr bwMode="auto">
              <a:xfrm>
                <a:off x="6397165" y="2529221"/>
                <a:ext cx="169016" cy="38594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08" name="Line 4"/>
              <p:cNvSpPr>
                <a:spLocks noChangeShapeType="1"/>
              </p:cNvSpPr>
              <p:nvPr/>
            </p:nvSpPr>
            <p:spPr bwMode="auto">
              <a:xfrm rot="16200000">
                <a:off x="9218299" y="2721191"/>
                <a:ext cx="387100" cy="316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09" name="Line 5"/>
              <p:cNvSpPr>
                <a:spLocks noChangeShapeType="1"/>
              </p:cNvSpPr>
              <p:nvPr/>
            </p:nvSpPr>
            <p:spPr bwMode="auto">
              <a:xfrm rot="16200000">
                <a:off x="1771664" y="2721192"/>
                <a:ext cx="387100" cy="315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0" name="Line 6"/>
              <p:cNvSpPr>
                <a:spLocks noChangeShapeType="1"/>
              </p:cNvSpPr>
              <p:nvPr/>
            </p:nvSpPr>
            <p:spPr bwMode="auto">
              <a:xfrm>
                <a:off x="1633035" y="2916320"/>
                <a:ext cx="2574714"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1" name="Line 11"/>
              <p:cNvSpPr>
                <a:spLocks noChangeShapeType="1"/>
              </p:cNvSpPr>
              <p:nvPr/>
            </p:nvSpPr>
            <p:spPr bwMode="auto">
              <a:xfrm>
                <a:off x="6919724" y="2916320"/>
                <a:ext cx="288747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4" name="Line 15"/>
              <p:cNvSpPr>
                <a:spLocks noChangeShapeType="1"/>
              </p:cNvSpPr>
              <p:nvPr/>
            </p:nvSpPr>
            <p:spPr bwMode="auto">
              <a:xfrm>
                <a:off x="4441082" y="2916320"/>
                <a:ext cx="226195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5" name="Freeform 16"/>
              <p:cNvSpPr>
                <a:spLocks/>
              </p:cNvSpPr>
              <p:nvPr/>
            </p:nvSpPr>
            <p:spPr bwMode="auto">
              <a:xfrm flipH="1">
                <a:off x="7039441" y="2529221"/>
                <a:ext cx="233778" cy="3871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6" name="Freeform 17"/>
              <p:cNvSpPr>
                <a:spLocks/>
              </p:cNvSpPr>
              <p:nvPr/>
            </p:nvSpPr>
            <p:spPr bwMode="auto">
              <a:xfrm flipH="1">
                <a:off x="4593429" y="2529221"/>
                <a:ext cx="170594" cy="38825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7" name="Text Box 18"/>
              <p:cNvSpPr txBox="1">
                <a:spLocks noChangeArrowheads="1"/>
              </p:cNvSpPr>
              <p:nvPr/>
            </p:nvSpPr>
            <p:spPr bwMode="auto">
              <a:xfrm>
                <a:off x="3852814" y="2050111"/>
                <a:ext cx="1192078"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路由器 </a:t>
                </a:r>
                <a:r>
                  <a:rPr kumimoji="1" lang="en-US" altLang="zh-CN" sz="1500" b="1" dirty="0">
                    <a:latin typeface="微软雅黑" pitchFamily="34" charset="-122"/>
                    <a:ea typeface="微软雅黑" pitchFamily="34" charset="-122"/>
                  </a:rPr>
                  <a:t>R</a:t>
                </a:r>
                <a:r>
                  <a:rPr kumimoji="1" lang="en-US" altLang="zh-CN" sz="1500" b="1" baseline="-25000" dirty="0">
                    <a:latin typeface="微软雅黑" pitchFamily="34" charset="-122"/>
                    <a:ea typeface="微软雅黑" pitchFamily="34" charset="-122"/>
                  </a:rPr>
                  <a:t>1</a:t>
                </a:r>
              </a:p>
            </p:txBody>
          </p:sp>
          <p:pic>
            <p:nvPicPr>
              <p:cNvPr id="21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41202" y="2344887"/>
                <a:ext cx="767676" cy="315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47460" y="2328758"/>
                <a:ext cx="766095" cy="315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20" name="AutoShape 23"/>
              <p:cNvSpPr>
                <a:spLocks noChangeArrowheads="1"/>
              </p:cNvSpPr>
              <p:nvPr/>
            </p:nvSpPr>
            <p:spPr bwMode="auto">
              <a:xfrm flipV="1">
                <a:off x="2379327" y="2027629"/>
                <a:ext cx="1576933" cy="252739"/>
              </a:xfrm>
              <a:prstGeom prst="wedgeRoundRectCallout">
                <a:avLst>
                  <a:gd name="adj1" fmla="val -53217"/>
                  <a:gd name="adj2" fmla="val -195611"/>
                  <a:gd name="adj3" fmla="val 16667"/>
                </a:avLst>
              </a:prstGeom>
              <a:solidFill>
                <a:srgbClr val="66FFFF"/>
              </a:solidFill>
              <a:ln w="9525">
                <a:solidFill>
                  <a:schemeClr val="tx1"/>
                </a:solidFill>
                <a:miter lim="800000"/>
                <a:headEnd/>
                <a:tailEnd/>
              </a:ln>
              <a:effectLst/>
            </p:spPr>
            <p:txBody>
              <a:bodyPr rot="10800000" wrap="none" lIns="121917" tIns="60958" rIns="121917" bIns="60958" anchor="ctr"/>
              <a:lstStyle/>
              <a:p>
                <a:pPr algn="ctr"/>
                <a:r>
                  <a:rPr kumimoji="1" lang="en-US" altLang="zh-CN" sz="1500" b="1" dirty="0">
                    <a:latin typeface="微软雅黑" pitchFamily="34" charset="-122"/>
                    <a:ea typeface="微软雅黑" pitchFamily="34" charset="-122"/>
                  </a:rPr>
                  <a:t>HA </a:t>
                </a:r>
                <a:r>
                  <a:rPr kumimoji="1" lang="zh-CN" altLang="en-US" sz="1500" b="1" dirty="0">
                    <a:latin typeface="微软雅黑" pitchFamily="34" charset="-122"/>
                    <a:ea typeface="微软雅黑" pitchFamily="34" charset="-122"/>
                  </a:rPr>
                  <a:t>为硬件地址</a:t>
                </a:r>
              </a:p>
            </p:txBody>
          </p:sp>
          <p:sp>
            <p:nvSpPr>
              <p:cNvPr id="221" name="Text Box 25"/>
              <p:cNvSpPr txBox="1">
                <a:spLocks noChangeArrowheads="1"/>
              </p:cNvSpPr>
              <p:nvPr/>
            </p:nvSpPr>
            <p:spPr bwMode="auto">
              <a:xfrm>
                <a:off x="6301681" y="2054718"/>
                <a:ext cx="1192078"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路由器 </a:t>
                </a:r>
                <a:r>
                  <a:rPr kumimoji="1" lang="en-US" altLang="zh-CN" sz="1500" b="1" dirty="0">
                    <a:latin typeface="微软雅黑" pitchFamily="34" charset="-122"/>
                    <a:ea typeface="微软雅黑" pitchFamily="34" charset="-122"/>
                  </a:rPr>
                  <a:t>R</a:t>
                </a:r>
                <a:r>
                  <a:rPr kumimoji="1" lang="en-US" altLang="zh-CN" sz="1500" b="1" baseline="-25000" dirty="0">
                    <a:latin typeface="微软雅黑" pitchFamily="34" charset="-122"/>
                    <a:ea typeface="微软雅黑" pitchFamily="34" charset="-122"/>
                  </a:rPr>
                  <a:t>2</a:t>
                </a:r>
              </a:p>
            </p:txBody>
          </p:sp>
          <p:sp>
            <p:nvSpPr>
              <p:cNvPr id="222" name="Text Box 29"/>
              <p:cNvSpPr txBox="1">
                <a:spLocks noChangeArrowheads="1"/>
              </p:cNvSpPr>
              <p:nvPr/>
            </p:nvSpPr>
            <p:spPr bwMode="auto">
              <a:xfrm>
                <a:off x="2546865" y="2569100"/>
                <a:ext cx="938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600" b="1" dirty="0">
                    <a:latin typeface="微软雅黑" pitchFamily="34" charset="-122"/>
                    <a:ea typeface="微软雅黑" pitchFamily="34" charset="-122"/>
                  </a:rPr>
                  <a:t>局域网</a:t>
                </a:r>
                <a:endParaRPr kumimoji="1" lang="zh-CN" altLang="en-US" sz="1600" b="1" baseline="-25000" dirty="0">
                  <a:latin typeface="微软雅黑" pitchFamily="34" charset="-122"/>
                  <a:ea typeface="微软雅黑" pitchFamily="34" charset="-122"/>
                </a:endParaRPr>
              </a:p>
            </p:txBody>
          </p:sp>
          <p:sp>
            <p:nvSpPr>
              <p:cNvPr id="223" name="Text Box 30"/>
              <p:cNvSpPr txBox="1">
                <a:spLocks noChangeArrowheads="1"/>
              </p:cNvSpPr>
              <p:nvPr/>
            </p:nvSpPr>
            <p:spPr bwMode="auto">
              <a:xfrm>
                <a:off x="5126221" y="2569100"/>
                <a:ext cx="938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600" b="1" dirty="0">
                    <a:latin typeface="微软雅黑" pitchFamily="34" charset="-122"/>
                    <a:ea typeface="微软雅黑" pitchFamily="34" charset="-122"/>
                  </a:rPr>
                  <a:t>局域网</a:t>
                </a:r>
                <a:endParaRPr kumimoji="1" lang="zh-CN" altLang="en-US" sz="1600" b="1" baseline="-25000" dirty="0">
                  <a:latin typeface="微软雅黑" pitchFamily="34" charset="-122"/>
                  <a:ea typeface="微软雅黑" pitchFamily="34" charset="-122"/>
                </a:endParaRPr>
              </a:p>
            </p:txBody>
          </p:sp>
          <p:sp>
            <p:nvSpPr>
              <p:cNvPr id="224" name="Text Box 31"/>
              <p:cNvSpPr txBox="1">
                <a:spLocks noChangeArrowheads="1"/>
              </p:cNvSpPr>
              <p:nvPr/>
            </p:nvSpPr>
            <p:spPr bwMode="auto">
              <a:xfrm>
                <a:off x="7878110" y="2569100"/>
                <a:ext cx="938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600" b="1">
                    <a:latin typeface="微软雅黑" pitchFamily="34" charset="-122"/>
                    <a:ea typeface="微软雅黑" pitchFamily="34" charset="-122"/>
                  </a:rPr>
                  <a:t>局域网</a:t>
                </a:r>
                <a:endParaRPr kumimoji="1" lang="zh-CN" altLang="en-US" sz="1600" b="1" baseline="-25000">
                  <a:latin typeface="微软雅黑" pitchFamily="34" charset="-122"/>
                  <a:ea typeface="微软雅黑" pitchFamily="34" charset="-122"/>
                </a:endParaRPr>
              </a:p>
            </p:txBody>
          </p:sp>
          <p:sp>
            <p:nvSpPr>
              <p:cNvPr id="225" name="Text Box 7"/>
              <p:cNvSpPr txBox="1">
                <a:spLocks noChangeArrowheads="1"/>
              </p:cNvSpPr>
              <p:nvPr/>
            </p:nvSpPr>
            <p:spPr bwMode="auto">
              <a:xfrm>
                <a:off x="1879347" y="2543047"/>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1</a:t>
                </a:r>
                <a:endParaRPr kumimoji="1" lang="en-US" altLang="zh-CN" sz="1500" b="1">
                  <a:solidFill>
                    <a:srgbClr val="0000CC"/>
                  </a:solidFill>
                  <a:latin typeface="微软雅黑" pitchFamily="34" charset="-122"/>
                  <a:ea typeface="微软雅黑" pitchFamily="34" charset="-122"/>
                </a:endParaRPr>
              </a:p>
            </p:txBody>
          </p:sp>
          <p:sp>
            <p:nvSpPr>
              <p:cNvPr id="226" name="Text Box 8"/>
              <p:cNvSpPr txBox="1">
                <a:spLocks noChangeArrowheads="1"/>
              </p:cNvSpPr>
              <p:nvPr/>
            </p:nvSpPr>
            <p:spPr bwMode="auto">
              <a:xfrm>
                <a:off x="5799851"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5</a:t>
                </a:r>
                <a:endParaRPr kumimoji="1" lang="en-US" altLang="zh-CN" sz="1500" b="1">
                  <a:solidFill>
                    <a:srgbClr val="0000CC"/>
                  </a:solidFill>
                  <a:latin typeface="微软雅黑" pitchFamily="34" charset="-122"/>
                  <a:ea typeface="微软雅黑" pitchFamily="34" charset="-122"/>
                </a:endParaRPr>
              </a:p>
            </p:txBody>
          </p:sp>
          <p:sp>
            <p:nvSpPr>
              <p:cNvPr id="227" name="Text Box 9"/>
              <p:cNvSpPr txBox="1">
                <a:spLocks noChangeArrowheads="1"/>
              </p:cNvSpPr>
              <p:nvPr/>
            </p:nvSpPr>
            <p:spPr bwMode="auto">
              <a:xfrm>
                <a:off x="4642838"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dirty="0">
                    <a:solidFill>
                      <a:srgbClr val="0000CC"/>
                    </a:solidFill>
                    <a:latin typeface="微软雅黑" pitchFamily="34" charset="-122"/>
                    <a:ea typeface="微软雅黑" pitchFamily="34" charset="-122"/>
                  </a:rPr>
                  <a:t>HA</a:t>
                </a:r>
                <a:r>
                  <a:rPr kumimoji="1" lang="en-US" altLang="zh-CN" sz="1500" b="1" baseline="-25000" dirty="0">
                    <a:solidFill>
                      <a:srgbClr val="0000CC"/>
                    </a:solidFill>
                    <a:latin typeface="微软雅黑" pitchFamily="34" charset="-122"/>
                    <a:ea typeface="微软雅黑" pitchFamily="34" charset="-122"/>
                  </a:rPr>
                  <a:t>4</a:t>
                </a:r>
                <a:endParaRPr kumimoji="1" lang="en-US" altLang="zh-CN" sz="1500" b="1" dirty="0">
                  <a:solidFill>
                    <a:srgbClr val="0000CC"/>
                  </a:solidFill>
                  <a:latin typeface="微软雅黑" pitchFamily="34" charset="-122"/>
                  <a:ea typeface="微软雅黑" pitchFamily="34" charset="-122"/>
                </a:endParaRPr>
              </a:p>
            </p:txBody>
          </p:sp>
          <p:sp>
            <p:nvSpPr>
              <p:cNvPr id="228" name="Text Box 10"/>
              <p:cNvSpPr txBox="1">
                <a:spLocks noChangeArrowheads="1"/>
              </p:cNvSpPr>
              <p:nvPr/>
            </p:nvSpPr>
            <p:spPr bwMode="auto">
              <a:xfrm>
                <a:off x="3292991"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3</a:t>
                </a:r>
                <a:endParaRPr kumimoji="1" lang="en-US" altLang="zh-CN" sz="1500" b="1">
                  <a:solidFill>
                    <a:srgbClr val="0000CC"/>
                  </a:solidFill>
                  <a:latin typeface="微软雅黑" pitchFamily="34" charset="-122"/>
                  <a:ea typeface="微软雅黑" pitchFamily="34" charset="-122"/>
                </a:endParaRPr>
              </a:p>
            </p:txBody>
          </p:sp>
          <p:sp>
            <p:nvSpPr>
              <p:cNvPr id="229" name="Text Box 12"/>
              <p:cNvSpPr txBox="1">
                <a:spLocks noChangeArrowheads="1"/>
              </p:cNvSpPr>
              <p:nvPr/>
            </p:nvSpPr>
            <p:spPr bwMode="auto">
              <a:xfrm>
                <a:off x="7149698"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6</a:t>
                </a:r>
                <a:endParaRPr kumimoji="1" lang="en-US" altLang="zh-CN" sz="1500" b="1">
                  <a:solidFill>
                    <a:srgbClr val="0000CC"/>
                  </a:solidFill>
                  <a:latin typeface="微软雅黑" pitchFamily="34" charset="-122"/>
                  <a:ea typeface="微软雅黑" pitchFamily="34" charset="-122"/>
                </a:endParaRPr>
              </a:p>
            </p:txBody>
          </p:sp>
          <p:sp>
            <p:nvSpPr>
              <p:cNvPr id="230" name="Text Box 26"/>
              <p:cNvSpPr txBox="1">
                <a:spLocks noChangeArrowheads="1"/>
              </p:cNvSpPr>
              <p:nvPr/>
            </p:nvSpPr>
            <p:spPr bwMode="auto">
              <a:xfrm>
                <a:off x="8789525"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2</a:t>
                </a:r>
                <a:endParaRPr kumimoji="1" lang="en-US" altLang="zh-CN" sz="1500" b="1">
                  <a:solidFill>
                    <a:srgbClr val="0000CC"/>
                  </a:solidFill>
                  <a:latin typeface="微软雅黑" pitchFamily="34" charset="-122"/>
                  <a:ea typeface="微软雅黑" pitchFamily="34" charset="-122"/>
                </a:endParaRPr>
              </a:p>
            </p:txBody>
          </p:sp>
          <p:pic>
            <p:nvPicPr>
              <p:cNvPr id="23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1743" y="1974162"/>
                <a:ext cx="686830" cy="630439"/>
              </a:xfrm>
              <a:prstGeom prst="rect">
                <a:avLst/>
              </a:prstGeom>
              <a:noFill/>
              <a:extLst>
                <a:ext uri="{909E8E84-426E-40DD-AFC4-6F175D3DCCD1}">
                  <a14:hiddenFill xmlns:a14="http://schemas.microsoft.com/office/drawing/2010/main">
                    <a:solidFill>
                      <a:srgbClr val="FFFFFF"/>
                    </a:solidFill>
                  </a14:hiddenFill>
                </a:ext>
              </a:extLst>
            </p:spPr>
          </p:pic>
          <p:sp>
            <p:nvSpPr>
              <p:cNvPr id="232" name="Text Box 27"/>
              <p:cNvSpPr txBox="1">
                <a:spLocks noChangeArrowheads="1"/>
              </p:cNvSpPr>
              <p:nvPr/>
            </p:nvSpPr>
            <p:spPr bwMode="auto">
              <a:xfrm>
                <a:off x="1718226" y="2048684"/>
                <a:ext cx="58026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600" b="1" dirty="0">
                    <a:solidFill>
                      <a:schemeClr val="bg1"/>
                    </a:solidFill>
                    <a:latin typeface="微软雅黑" pitchFamily="34" charset="-122"/>
                    <a:ea typeface="微软雅黑" pitchFamily="34" charset="-122"/>
                  </a:rPr>
                  <a:t>IP</a:t>
                </a:r>
                <a:r>
                  <a:rPr kumimoji="1" lang="en-US" altLang="zh-CN" sz="1600" b="1" baseline="-25000" dirty="0">
                    <a:solidFill>
                      <a:schemeClr val="bg1"/>
                    </a:solidFill>
                    <a:latin typeface="微软雅黑" pitchFamily="34" charset="-122"/>
                    <a:ea typeface="微软雅黑" pitchFamily="34" charset="-122"/>
                  </a:rPr>
                  <a:t>1</a:t>
                </a:r>
                <a:endParaRPr kumimoji="1" lang="en-US" altLang="zh-CN" sz="1600" b="1" dirty="0">
                  <a:solidFill>
                    <a:schemeClr val="bg1"/>
                  </a:solidFill>
                  <a:latin typeface="微软雅黑" pitchFamily="34" charset="-122"/>
                  <a:ea typeface="微软雅黑" pitchFamily="34" charset="-122"/>
                </a:endParaRPr>
              </a:p>
            </p:txBody>
          </p:sp>
          <p:pic>
            <p:nvPicPr>
              <p:cNvPr id="23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066421" y="1974162"/>
                <a:ext cx="686830" cy="630439"/>
              </a:xfrm>
              <a:prstGeom prst="rect">
                <a:avLst/>
              </a:prstGeom>
              <a:noFill/>
              <a:extLst>
                <a:ext uri="{909E8E84-426E-40DD-AFC4-6F175D3DCCD1}">
                  <a14:hiddenFill xmlns:a14="http://schemas.microsoft.com/office/drawing/2010/main">
                    <a:solidFill>
                      <a:srgbClr val="FFFFFF"/>
                    </a:solidFill>
                  </a14:hiddenFill>
                </a:ext>
              </a:extLst>
            </p:spPr>
          </p:pic>
          <p:sp>
            <p:nvSpPr>
              <p:cNvPr id="234" name="Text Box 28"/>
              <p:cNvSpPr txBox="1">
                <a:spLocks noChangeArrowheads="1"/>
              </p:cNvSpPr>
              <p:nvPr/>
            </p:nvSpPr>
            <p:spPr bwMode="auto">
              <a:xfrm>
                <a:off x="9128011" y="2046916"/>
                <a:ext cx="58026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600" b="1" dirty="0">
                    <a:solidFill>
                      <a:schemeClr val="bg1"/>
                    </a:solidFill>
                    <a:latin typeface="微软雅黑" pitchFamily="34" charset="-122"/>
                    <a:ea typeface="微软雅黑" pitchFamily="34" charset="-122"/>
                  </a:rPr>
                  <a:t>IP</a:t>
                </a:r>
                <a:r>
                  <a:rPr kumimoji="1" lang="en-US" altLang="zh-CN" sz="1600" b="1" baseline="-25000" dirty="0">
                    <a:solidFill>
                      <a:schemeClr val="bg1"/>
                    </a:solidFill>
                    <a:latin typeface="微软雅黑" pitchFamily="34" charset="-122"/>
                    <a:ea typeface="微软雅黑" pitchFamily="34" charset="-122"/>
                  </a:rPr>
                  <a:t>2</a:t>
                </a:r>
                <a:endParaRPr kumimoji="1" lang="en-US" altLang="zh-CN" sz="1600" b="1" dirty="0">
                  <a:solidFill>
                    <a:schemeClr val="bg1"/>
                  </a:solidFill>
                  <a:latin typeface="微软雅黑" pitchFamily="34" charset="-122"/>
                  <a:ea typeface="微软雅黑" pitchFamily="34" charset="-122"/>
                </a:endParaRPr>
              </a:p>
            </p:txBody>
          </p:sp>
        </p:grpSp>
      </p:grpSp>
      <p:sp>
        <p:nvSpPr>
          <p:cNvPr id="118" name="矩形 117"/>
          <p:cNvSpPr/>
          <p:nvPr/>
        </p:nvSpPr>
        <p:spPr>
          <a:xfrm>
            <a:off x="4293045" y="1339608"/>
            <a:ext cx="4564181" cy="738660"/>
          </a:xfrm>
          <a:prstGeom prst="rect">
            <a:avLst/>
          </a:prstGeom>
          <a:solidFill>
            <a:schemeClr val="bg1"/>
          </a:solidFill>
        </p:spPr>
        <p:txBody>
          <a:bodyPr wrap="square" lIns="121917" tIns="60958" rIns="121917" bIns="60958">
            <a:spAutoFit/>
          </a:bodyPr>
          <a:lstStyle/>
          <a:p>
            <a:r>
              <a:rPr lang="en-US" altLang="zh-CN" sz="2000" dirty="0">
                <a:solidFill>
                  <a:srgbClr val="C00000"/>
                </a:solidFill>
                <a:latin typeface="微软雅黑" pitchFamily="34" charset="-122"/>
                <a:ea typeface="微软雅黑" pitchFamily="34" charset="-122"/>
              </a:rPr>
              <a:t>IP </a:t>
            </a:r>
            <a:r>
              <a:rPr lang="zh-CN" altLang="zh-CN" sz="2000" dirty="0">
                <a:solidFill>
                  <a:srgbClr val="C00000"/>
                </a:solidFill>
                <a:latin typeface="微软雅黑" pitchFamily="34" charset="-122"/>
                <a:ea typeface="微软雅黑" pitchFamily="34" charset="-122"/>
              </a:rPr>
              <a:t>地址放在</a:t>
            </a:r>
            <a:r>
              <a:rPr lang="en-US" altLang="zh-CN" sz="2000" dirty="0">
                <a:solidFill>
                  <a:srgbClr val="C00000"/>
                </a:solidFill>
                <a:latin typeface="微软雅黑" pitchFamily="34" charset="-122"/>
                <a:ea typeface="微软雅黑" pitchFamily="34" charset="-122"/>
              </a:rPr>
              <a:t> IP </a:t>
            </a:r>
            <a:r>
              <a:rPr lang="zh-CN" altLang="zh-CN" sz="2000" dirty="0">
                <a:solidFill>
                  <a:srgbClr val="C00000"/>
                </a:solidFill>
                <a:latin typeface="微软雅黑" pitchFamily="34" charset="-122"/>
                <a:ea typeface="微软雅黑" pitchFamily="34" charset="-122"/>
              </a:rPr>
              <a:t>数据报的首部，而硬件地址则放在</a:t>
            </a:r>
            <a:r>
              <a:rPr lang="en-US" altLang="zh-CN" sz="2000" dirty="0">
                <a:solidFill>
                  <a:srgbClr val="C00000"/>
                </a:solidFill>
                <a:latin typeface="微软雅黑" pitchFamily="34" charset="-122"/>
                <a:ea typeface="微软雅黑" pitchFamily="34" charset="-122"/>
              </a:rPr>
              <a:t> MAC </a:t>
            </a:r>
            <a:r>
              <a:rPr lang="zh-CN" altLang="zh-CN" sz="2000" dirty="0">
                <a:solidFill>
                  <a:srgbClr val="C00000"/>
                </a:solidFill>
                <a:latin typeface="微软雅黑" pitchFamily="34" charset="-122"/>
                <a:ea typeface="微软雅黑" pitchFamily="34" charset="-122"/>
              </a:rPr>
              <a:t>帧的首部</a:t>
            </a:r>
            <a:endParaRPr lang="zh-CN" altLang="en-US" sz="2000" dirty="0">
              <a:solidFill>
                <a:srgbClr val="C00000"/>
              </a:solidFill>
              <a:latin typeface="微软雅黑" pitchFamily="34" charset="-122"/>
              <a:ea typeface="微软雅黑" pitchFamily="34" charset="-122"/>
            </a:endParaRPr>
          </a:p>
        </p:txBody>
      </p:sp>
      <p:sp>
        <p:nvSpPr>
          <p:cNvPr id="119" name="矩形 118"/>
          <p:cNvSpPr/>
          <p:nvPr/>
        </p:nvSpPr>
        <p:spPr>
          <a:xfrm>
            <a:off x="3549837" y="6002409"/>
            <a:ext cx="6158440" cy="738660"/>
          </a:xfrm>
          <a:prstGeom prst="rect">
            <a:avLst/>
          </a:prstGeom>
          <a:solidFill>
            <a:schemeClr val="bg1"/>
          </a:solidFill>
        </p:spPr>
        <p:txBody>
          <a:bodyPr wrap="square" lIns="121917" tIns="60958" rIns="121917" bIns="60958">
            <a:spAutoFit/>
          </a:bodyPr>
          <a:lstStyle/>
          <a:p>
            <a:r>
              <a:rPr lang="en-US" altLang="zh-CN" sz="2000" dirty="0">
                <a:solidFill>
                  <a:srgbClr val="C00000"/>
                </a:solidFill>
                <a:latin typeface="微软雅黑" pitchFamily="34" charset="-122"/>
                <a:ea typeface="微软雅黑" pitchFamily="34" charset="-122"/>
              </a:rPr>
              <a:t>IP</a:t>
            </a:r>
            <a:r>
              <a:rPr lang="zh-CN" altLang="en-US" sz="2000" dirty="0">
                <a:solidFill>
                  <a:srgbClr val="C00000"/>
                </a:solidFill>
                <a:latin typeface="微软雅黑" pitchFamily="34" charset="-122"/>
                <a:ea typeface="微软雅黑" pitchFamily="34" charset="-122"/>
              </a:rPr>
              <a:t>数据报经过不同链路时，</a:t>
            </a:r>
            <a:r>
              <a:rPr lang="en-US" altLang="zh-CN" sz="2000" dirty="0">
                <a:solidFill>
                  <a:srgbClr val="C00000"/>
                </a:solidFill>
                <a:latin typeface="微软雅黑" pitchFamily="34" charset="-122"/>
                <a:ea typeface="微软雅黑" pitchFamily="34" charset="-122"/>
              </a:rPr>
              <a:t>IP </a:t>
            </a:r>
            <a:r>
              <a:rPr lang="zh-CN" altLang="en-US" sz="2000" dirty="0">
                <a:solidFill>
                  <a:srgbClr val="C00000"/>
                </a:solidFill>
                <a:latin typeface="微软雅黑" pitchFamily="34" charset="-122"/>
                <a:ea typeface="微软雅黑" pitchFamily="34" charset="-122"/>
              </a:rPr>
              <a:t>数据报中封装的</a:t>
            </a:r>
            <a:r>
              <a:rPr lang="en-US" altLang="zh-CN" sz="2000" dirty="0">
                <a:solidFill>
                  <a:srgbClr val="C00000"/>
                </a:solidFill>
                <a:latin typeface="微软雅黑" pitchFamily="34" charset="-122"/>
                <a:ea typeface="微软雅黑" pitchFamily="34" charset="-122"/>
              </a:rPr>
              <a:t>IP</a:t>
            </a:r>
            <a:r>
              <a:rPr lang="zh-CN" altLang="zh-CN" sz="2000" dirty="0">
                <a:solidFill>
                  <a:srgbClr val="C00000"/>
                </a:solidFill>
                <a:latin typeface="微软雅黑" pitchFamily="34" charset="-122"/>
                <a:ea typeface="微软雅黑" pitchFamily="34" charset="-122"/>
              </a:rPr>
              <a:t>地址</a:t>
            </a:r>
            <a:r>
              <a:rPr lang="zh-CN" altLang="en-US" sz="2000" dirty="0">
                <a:solidFill>
                  <a:srgbClr val="C00000"/>
                </a:solidFill>
                <a:latin typeface="微软雅黑" pitchFamily="34" charset="-122"/>
                <a:ea typeface="微软雅黑" pitchFamily="34" charset="-122"/>
              </a:rPr>
              <a:t>不发生改变</a:t>
            </a:r>
            <a:r>
              <a:rPr lang="zh-CN" altLang="zh-CN" sz="2000" dirty="0">
                <a:solidFill>
                  <a:srgbClr val="C00000"/>
                </a:solidFill>
                <a:latin typeface="微软雅黑" pitchFamily="34" charset="-122"/>
                <a:ea typeface="微软雅黑" pitchFamily="34" charset="-122"/>
              </a:rPr>
              <a:t>，而</a:t>
            </a:r>
            <a:r>
              <a:rPr lang="en-US" altLang="zh-CN" sz="2000" dirty="0">
                <a:solidFill>
                  <a:srgbClr val="C00000"/>
                </a:solidFill>
                <a:latin typeface="微软雅黑" pitchFamily="34" charset="-122"/>
                <a:ea typeface="微软雅黑" pitchFamily="34" charset="-122"/>
              </a:rPr>
              <a:t>Mac</a:t>
            </a:r>
            <a:r>
              <a:rPr lang="zh-CN" altLang="en-US" sz="2000" dirty="0">
                <a:solidFill>
                  <a:srgbClr val="C00000"/>
                </a:solidFill>
                <a:latin typeface="微软雅黑" pitchFamily="34" charset="-122"/>
                <a:ea typeface="微软雅黑" pitchFamily="34" charset="-122"/>
              </a:rPr>
              <a:t>帧中的</a:t>
            </a:r>
            <a:r>
              <a:rPr lang="zh-CN" altLang="zh-CN" sz="2000" dirty="0">
                <a:solidFill>
                  <a:srgbClr val="C00000"/>
                </a:solidFill>
                <a:latin typeface="微软雅黑" pitchFamily="34" charset="-122"/>
                <a:ea typeface="微软雅黑" pitchFamily="34" charset="-122"/>
              </a:rPr>
              <a:t>硬件地址</a:t>
            </a:r>
            <a:r>
              <a:rPr lang="zh-CN" altLang="en-US" sz="2000" dirty="0">
                <a:solidFill>
                  <a:srgbClr val="C00000"/>
                </a:solidFill>
                <a:latin typeface="微软雅黑" pitchFamily="34" charset="-122"/>
                <a:ea typeface="微软雅黑" pitchFamily="34" charset="-122"/>
              </a:rPr>
              <a:t>是发生改变的</a:t>
            </a:r>
          </a:p>
        </p:txBody>
      </p:sp>
      <p:sp>
        <p:nvSpPr>
          <p:cNvPr id="3" name="日期占位符 2"/>
          <p:cNvSpPr>
            <a:spLocks noGrp="1"/>
          </p:cNvSpPr>
          <p:nvPr>
            <p:ph type="dt" sz="half" idx="10"/>
          </p:nvPr>
        </p:nvSpPr>
        <p:spPr/>
        <p:txBody>
          <a:bodyPr/>
          <a:lstStyle/>
          <a:p>
            <a:r>
              <a:rPr kumimoji="1" lang="en-US" altLang="zh-CN" dirty="0"/>
              <a:t>5.6.4 ARP</a:t>
            </a:r>
            <a:endParaRPr kumimoji="1" lang="zh-CN" altLang="en-US" dirty="0"/>
          </a:p>
        </p:txBody>
      </p:sp>
      <p:sp>
        <p:nvSpPr>
          <p:cNvPr id="7" name="TextBox 6"/>
          <p:cNvSpPr txBox="1"/>
          <p:nvPr/>
        </p:nvSpPr>
        <p:spPr>
          <a:xfrm>
            <a:off x="4644808" y="3117386"/>
            <a:ext cx="1901663" cy="430887"/>
          </a:xfrm>
          <a:prstGeom prst="rect">
            <a:avLst/>
          </a:prstGeom>
          <a:noFill/>
        </p:spPr>
        <p:txBody>
          <a:bodyPr wrap="square" rtlCol="0">
            <a:spAutoFit/>
          </a:bodyPr>
          <a:lstStyle/>
          <a:p>
            <a:r>
              <a:rPr lang="zh-CN" altLang="en-US" sz="2200" dirty="0">
                <a:solidFill>
                  <a:srgbClr val="C00000"/>
                </a:solidFill>
                <a:latin typeface="微软雅黑" pitchFamily="34" charset="-122"/>
                <a:ea typeface="微软雅黑" pitchFamily="34" charset="-122"/>
              </a:rPr>
              <a:t>数据实际流向</a:t>
            </a:r>
          </a:p>
        </p:txBody>
      </p:sp>
      <p:pic>
        <p:nvPicPr>
          <p:cNvPr id="196" name="Picture 28" descr="015">
            <a:extLst>
              <a:ext uri="{FF2B5EF4-FFF2-40B4-BE49-F238E27FC236}">
                <a16:creationId xmlns:a16="http://schemas.microsoft.com/office/drawing/2014/main" id="{BFF0E87E-3553-4D25-8C82-6B5FB6AD6DC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06923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197"/>
                                        </p:tgtEl>
                                        <p:attrNameLst>
                                          <p:attrName>style.visibility</p:attrName>
                                        </p:attrNameLst>
                                      </p:cBhvr>
                                      <p:to>
                                        <p:strVal val="visible"/>
                                      </p:to>
                                    </p:set>
                                    <p:animEffect transition="in" filter="wipe(up)">
                                      <p:cBhvr>
                                        <p:cTn id="15" dur="1000"/>
                                        <p:tgtEl>
                                          <p:spTgt spid="197"/>
                                        </p:tgtEl>
                                      </p:cBhvr>
                                    </p:animEffect>
                                  </p:childTnLst>
                                </p:cTn>
                              </p:par>
                            </p:childTnLst>
                          </p:cTn>
                        </p:par>
                        <p:par>
                          <p:cTn id="16" fill="hold">
                            <p:stCondLst>
                              <p:cond delay="1000"/>
                            </p:stCondLst>
                            <p:childTnLst>
                              <p:par>
                                <p:cTn id="17" presetID="22" presetClass="entr" presetSubtype="8" fill="hold" grpId="0" nodeType="afterEffect">
                                  <p:stCondLst>
                                    <p:cond delay="0"/>
                                  </p:stCondLst>
                                  <p:childTnLst>
                                    <p:set>
                                      <p:cBhvr>
                                        <p:cTn id="18" dur="1" fill="hold">
                                          <p:stCondLst>
                                            <p:cond delay="0"/>
                                          </p:stCondLst>
                                        </p:cTn>
                                        <p:tgtEl>
                                          <p:spTgt spid="198"/>
                                        </p:tgtEl>
                                        <p:attrNameLst>
                                          <p:attrName>style.visibility</p:attrName>
                                        </p:attrNameLst>
                                      </p:cBhvr>
                                      <p:to>
                                        <p:strVal val="visible"/>
                                      </p:to>
                                    </p:set>
                                    <p:animEffect transition="in" filter="wipe(left)">
                                      <p:cBhvr>
                                        <p:cTn id="19" dur="1000"/>
                                        <p:tgtEl>
                                          <p:spTgt spid="198"/>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99"/>
                                        </p:tgtEl>
                                        <p:attrNameLst>
                                          <p:attrName>style.visibility</p:attrName>
                                        </p:attrNameLst>
                                      </p:cBhvr>
                                      <p:to>
                                        <p:strVal val="visible"/>
                                      </p:to>
                                    </p:set>
                                    <p:animEffect transition="in" filter="wipe(down)">
                                      <p:cBhvr>
                                        <p:cTn id="23" dur="1000"/>
                                        <p:tgtEl>
                                          <p:spTgt spid="199"/>
                                        </p:tgtEl>
                                      </p:cBhvr>
                                    </p:animEffect>
                                  </p:childTnLst>
                                </p:cTn>
                              </p:par>
                            </p:childTnLst>
                          </p:cTn>
                        </p:par>
                        <p:par>
                          <p:cTn id="24" fill="hold">
                            <p:stCondLst>
                              <p:cond delay="3000"/>
                            </p:stCondLst>
                            <p:childTnLst>
                              <p:par>
                                <p:cTn id="25" presetID="22" presetClass="entr" presetSubtype="1" fill="hold" grpId="0" nodeType="afterEffect">
                                  <p:stCondLst>
                                    <p:cond delay="0"/>
                                  </p:stCondLst>
                                  <p:childTnLst>
                                    <p:set>
                                      <p:cBhvr>
                                        <p:cTn id="26" dur="1" fill="hold">
                                          <p:stCondLst>
                                            <p:cond delay="0"/>
                                          </p:stCondLst>
                                        </p:cTn>
                                        <p:tgtEl>
                                          <p:spTgt spid="200"/>
                                        </p:tgtEl>
                                        <p:attrNameLst>
                                          <p:attrName>style.visibility</p:attrName>
                                        </p:attrNameLst>
                                      </p:cBhvr>
                                      <p:to>
                                        <p:strVal val="visible"/>
                                      </p:to>
                                    </p:set>
                                    <p:animEffect transition="in" filter="wipe(up)">
                                      <p:cBhvr>
                                        <p:cTn id="27" dur="1000"/>
                                        <p:tgtEl>
                                          <p:spTgt spid="200"/>
                                        </p:tgtEl>
                                      </p:cBhvr>
                                    </p:animEffect>
                                  </p:childTnLst>
                                </p:cTn>
                              </p:par>
                            </p:childTnLst>
                          </p:cTn>
                        </p:par>
                        <p:par>
                          <p:cTn id="28" fill="hold">
                            <p:stCondLst>
                              <p:cond delay="4000"/>
                            </p:stCondLst>
                            <p:childTnLst>
                              <p:par>
                                <p:cTn id="29" presetID="22" presetClass="entr" presetSubtype="8" fill="hold" grpId="0" nodeType="afterEffect">
                                  <p:stCondLst>
                                    <p:cond delay="0"/>
                                  </p:stCondLst>
                                  <p:childTnLst>
                                    <p:set>
                                      <p:cBhvr>
                                        <p:cTn id="30" dur="1" fill="hold">
                                          <p:stCondLst>
                                            <p:cond delay="0"/>
                                          </p:stCondLst>
                                        </p:cTn>
                                        <p:tgtEl>
                                          <p:spTgt spid="201"/>
                                        </p:tgtEl>
                                        <p:attrNameLst>
                                          <p:attrName>style.visibility</p:attrName>
                                        </p:attrNameLst>
                                      </p:cBhvr>
                                      <p:to>
                                        <p:strVal val="visible"/>
                                      </p:to>
                                    </p:set>
                                    <p:animEffect transition="in" filter="wipe(left)">
                                      <p:cBhvr>
                                        <p:cTn id="31" dur="1000"/>
                                        <p:tgtEl>
                                          <p:spTgt spid="201"/>
                                        </p:tgtEl>
                                      </p:cBhvr>
                                    </p:animEffect>
                                  </p:childTnLst>
                                </p:cTn>
                              </p:par>
                            </p:childTnLst>
                          </p:cTn>
                        </p:par>
                        <p:par>
                          <p:cTn id="32" fill="hold">
                            <p:stCondLst>
                              <p:cond delay="5000"/>
                            </p:stCondLst>
                            <p:childTnLst>
                              <p:par>
                                <p:cTn id="33" presetID="22" presetClass="entr" presetSubtype="4" fill="hold" grpId="0" nodeType="afterEffect">
                                  <p:stCondLst>
                                    <p:cond delay="0"/>
                                  </p:stCondLst>
                                  <p:childTnLst>
                                    <p:set>
                                      <p:cBhvr>
                                        <p:cTn id="34" dur="1" fill="hold">
                                          <p:stCondLst>
                                            <p:cond delay="0"/>
                                          </p:stCondLst>
                                        </p:cTn>
                                        <p:tgtEl>
                                          <p:spTgt spid="202"/>
                                        </p:tgtEl>
                                        <p:attrNameLst>
                                          <p:attrName>style.visibility</p:attrName>
                                        </p:attrNameLst>
                                      </p:cBhvr>
                                      <p:to>
                                        <p:strVal val="visible"/>
                                      </p:to>
                                    </p:set>
                                    <p:animEffect transition="in" filter="wipe(down)">
                                      <p:cBhvr>
                                        <p:cTn id="35" dur="1000"/>
                                        <p:tgtEl>
                                          <p:spTgt spid="202"/>
                                        </p:tgtEl>
                                      </p:cBhvr>
                                    </p:animEffect>
                                  </p:childTnLst>
                                </p:cTn>
                              </p:par>
                            </p:childTnLst>
                          </p:cTn>
                        </p:par>
                        <p:par>
                          <p:cTn id="36" fill="hold">
                            <p:stCondLst>
                              <p:cond delay="6000"/>
                            </p:stCondLst>
                            <p:childTnLst>
                              <p:par>
                                <p:cTn id="37" presetID="22" presetClass="entr" presetSubtype="1" fill="hold" grpId="0"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1000"/>
                                        <p:tgtEl>
                                          <p:spTgt spid="203"/>
                                        </p:tgtEl>
                                      </p:cBhvr>
                                    </p:animEffect>
                                  </p:childTnLst>
                                </p:cTn>
                              </p:par>
                            </p:childTnLst>
                          </p:cTn>
                        </p:par>
                        <p:par>
                          <p:cTn id="40" fill="hold">
                            <p:stCondLst>
                              <p:cond delay="7000"/>
                            </p:stCondLst>
                            <p:childTnLst>
                              <p:par>
                                <p:cTn id="41" presetID="22" presetClass="entr" presetSubtype="8" fill="hold" grpId="0" nodeType="afterEffect">
                                  <p:stCondLst>
                                    <p:cond delay="0"/>
                                  </p:stCondLst>
                                  <p:childTnLst>
                                    <p:set>
                                      <p:cBhvr>
                                        <p:cTn id="42" dur="1" fill="hold">
                                          <p:stCondLst>
                                            <p:cond delay="0"/>
                                          </p:stCondLst>
                                        </p:cTn>
                                        <p:tgtEl>
                                          <p:spTgt spid="204"/>
                                        </p:tgtEl>
                                        <p:attrNameLst>
                                          <p:attrName>style.visibility</p:attrName>
                                        </p:attrNameLst>
                                      </p:cBhvr>
                                      <p:to>
                                        <p:strVal val="visible"/>
                                      </p:to>
                                    </p:set>
                                    <p:animEffect transition="in" filter="wipe(left)">
                                      <p:cBhvr>
                                        <p:cTn id="43" dur="1000"/>
                                        <p:tgtEl>
                                          <p:spTgt spid="204"/>
                                        </p:tgtEl>
                                      </p:cBhvr>
                                    </p:animEffect>
                                  </p:childTnLst>
                                </p:cTn>
                              </p:par>
                            </p:childTnLst>
                          </p:cTn>
                        </p:par>
                        <p:par>
                          <p:cTn id="44" fill="hold">
                            <p:stCondLst>
                              <p:cond delay="8000"/>
                            </p:stCondLst>
                            <p:childTnLst>
                              <p:par>
                                <p:cTn id="45" presetID="22" presetClass="entr" presetSubtype="4" fill="hold" grpId="0" nodeType="afterEffect">
                                  <p:stCondLst>
                                    <p:cond delay="0"/>
                                  </p:stCondLst>
                                  <p:childTnLst>
                                    <p:set>
                                      <p:cBhvr>
                                        <p:cTn id="46" dur="1" fill="hold">
                                          <p:stCondLst>
                                            <p:cond delay="0"/>
                                          </p:stCondLst>
                                        </p:cTn>
                                        <p:tgtEl>
                                          <p:spTgt spid="205"/>
                                        </p:tgtEl>
                                        <p:attrNameLst>
                                          <p:attrName>style.visibility</p:attrName>
                                        </p:attrNameLst>
                                      </p:cBhvr>
                                      <p:to>
                                        <p:strVal val="visible"/>
                                      </p:to>
                                    </p:set>
                                    <p:animEffect transition="in" filter="wipe(down)">
                                      <p:cBhvr>
                                        <p:cTn id="47" dur="1000"/>
                                        <p:tgtEl>
                                          <p:spTgt spid="205"/>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1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8" grpId="0" animBg="1"/>
      <p:bldP spid="199" grpId="0" animBg="1"/>
      <p:bldP spid="200" grpId="0" animBg="1"/>
      <p:bldP spid="201" grpId="0" animBg="1"/>
      <p:bldP spid="202" grpId="0" animBg="1"/>
      <p:bldP spid="203" grpId="0" animBg="1"/>
      <p:bldP spid="204" grpId="0" animBg="1"/>
      <p:bldP spid="205" grpId="0" animBg="1"/>
      <p:bldP spid="118" grpId="0" animBg="1"/>
      <p:bldP spid="119" grpId="0" animBg="1"/>
      <p:bldP spid="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838200" y="1418894"/>
            <a:ext cx="6134255" cy="1688374"/>
          </a:xfrm>
        </p:spPr>
        <p:txBody>
          <a:bodyPr>
            <a:normAutofit fontScale="70000" lnSpcReduction="20000"/>
          </a:bodyPr>
          <a:lstStyle/>
          <a:p>
            <a:pPr>
              <a:lnSpc>
                <a:spcPct val="130000"/>
              </a:lnSpc>
            </a:pPr>
            <a:r>
              <a:rPr lang="en-US" altLang="zh-CN" sz="3400" dirty="0">
                <a:latin typeface="微软雅黑" pitchFamily="34" charset="-122"/>
                <a:ea typeface="微软雅黑" pitchFamily="34" charset="-122"/>
              </a:rPr>
              <a:t>IP</a:t>
            </a:r>
            <a:r>
              <a:rPr lang="zh-CN" altLang="en-US" sz="3400" dirty="0">
                <a:latin typeface="微软雅黑" pitchFamily="34" charset="-122"/>
                <a:ea typeface="微软雅黑" pitchFamily="34" charset="-122"/>
              </a:rPr>
              <a:t>数据包转发：从主机</a:t>
            </a:r>
            <a:r>
              <a:rPr lang="en-US" altLang="zh-CN" sz="3400" dirty="0">
                <a:latin typeface="微软雅黑" pitchFamily="34" charset="-122"/>
                <a:ea typeface="微软雅黑" pitchFamily="34" charset="-122"/>
              </a:rPr>
              <a:t>A</a:t>
            </a:r>
            <a:r>
              <a:rPr lang="zh-CN" altLang="en-US" sz="3400" dirty="0">
                <a:latin typeface="微软雅黑" pitchFamily="34" charset="-122"/>
                <a:ea typeface="微软雅黑" pitchFamily="34" charset="-122"/>
              </a:rPr>
              <a:t>到主机</a:t>
            </a:r>
            <a:r>
              <a:rPr lang="en-US" altLang="zh-CN" sz="3400" dirty="0">
                <a:latin typeface="微软雅黑" pitchFamily="34" charset="-122"/>
                <a:ea typeface="微软雅黑" pitchFamily="34" charset="-122"/>
              </a:rPr>
              <a:t>B</a:t>
            </a:r>
          </a:p>
          <a:p>
            <a:pPr lvl="1">
              <a:lnSpc>
                <a:spcPct val="130000"/>
              </a:lnSpc>
            </a:pPr>
            <a:r>
              <a:rPr lang="zh-CN" altLang="en-US" sz="2600" dirty="0">
                <a:latin typeface="微软雅黑" pitchFamily="34" charset="-122"/>
                <a:ea typeface="微软雅黑" pitchFamily="34" charset="-122"/>
                <a:cs typeface="Times New Roman" panose="02020603050405020304" pitchFamily="18" charset="0"/>
              </a:rPr>
              <a:t>检查目的</a:t>
            </a:r>
            <a:r>
              <a:rPr lang="en-US" altLang="zh-CN" sz="2600" dirty="0">
                <a:latin typeface="微软雅黑" pitchFamily="34" charset="-122"/>
                <a:ea typeface="微软雅黑" pitchFamily="34" charset="-122"/>
                <a:cs typeface="Times New Roman" panose="02020603050405020304" pitchFamily="18" charset="0"/>
              </a:rPr>
              <a:t>IP</a:t>
            </a:r>
            <a:r>
              <a:rPr lang="zh-CN" altLang="en-US" sz="2600" dirty="0">
                <a:latin typeface="微软雅黑" pitchFamily="34" charset="-122"/>
                <a:ea typeface="微软雅黑" pitchFamily="34" charset="-122"/>
                <a:cs typeface="Times New Roman" panose="02020603050405020304" pitchFamily="18" charset="0"/>
              </a:rPr>
              <a:t>地址的网络号部分</a:t>
            </a:r>
            <a:endParaRPr lang="en-US" altLang="zh-CN" sz="2600" dirty="0">
              <a:latin typeface="微软雅黑" pitchFamily="34" charset="-122"/>
              <a:ea typeface="微软雅黑" pitchFamily="34" charset="-122"/>
              <a:cs typeface="Times New Roman" panose="02020603050405020304" pitchFamily="18" charset="0"/>
            </a:endParaRPr>
          </a:p>
          <a:p>
            <a:pPr lvl="1">
              <a:lnSpc>
                <a:spcPct val="130000"/>
              </a:lnSpc>
            </a:pPr>
            <a:r>
              <a:rPr lang="zh-CN" altLang="en-US" sz="2600" dirty="0">
                <a:latin typeface="微软雅黑" pitchFamily="34" charset="-122"/>
                <a:ea typeface="微软雅黑" pitchFamily="34" charset="-122"/>
                <a:cs typeface="Times New Roman" panose="02020603050405020304" pitchFamily="18" charset="0"/>
              </a:rPr>
              <a:t>确定主机</a:t>
            </a:r>
            <a:r>
              <a:rPr lang="en-US" altLang="zh-CN" sz="2600" dirty="0">
                <a:latin typeface="微软雅黑" pitchFamily="34" charset="-122"/>
                <a:ea typeface="微软雅黑" pitchFamily="34" charset="-122"/>
                <a:cs typeface="Times New Roman" panose="02020603050405020304" pitchFamily="18" charset="0"/>
              </a:rPr>
              <a:t>B</a:t>
            </a:r>
            <a:r>
              <a:rPr lang="zh-CN" altLang="en-US" sz="2600" dirty="0">
                <a:latin typeface="微软雅黑" pitchFamily="34" charset="-122"/>
                <a:ea typeface="微软雅黑" pitchFamily="34" charset="-122"/>
                <a:cs typeface="Times New Roman" panose="02020603050405020304" pitchFamily="18" charset="0"/>
              </a:rPr>
              <a:t>与主机</a:t>
            </a:r>
            <a:r>
              <a:rPr lang="en-US" altLang="zh-CN" sz="2600" dirty="0">
                <a:latin typeface="微软雅黑" pitchFamily="34" charset="-122"/>
                <a:ea typeface="微软雅黑" pitchFamily="34" charset="-122"/>
                <a:cs typeface="Times New Roman" panose="02020603050405020304" pitchFamily="18" charset="0"/>
              </a:rPr>
              <a:t>A</a:t>
            </a:r>
            <a:r>
              <a:rPr lang="zh-CN" altLang="en-US" sz="2600" dirty="0">
                <a:latin typeface="微软雅黑" pitchFamily="34" charset="-122"/>
                <a:ea typeface="微软雅黑" pitchFamily="34" charset="-122"/>
                <a:cs typeface="Times New Roman" panose="02020603050405020304" pitchFamily="18" charset="0"/>
              </a:rPr>
              <a:t>属相同</a:t>
            </a:r>
            <a:r>
              <a:rPr lang="en-US" altLang="zh-CN" sz="2600" dirty="0">
                <a:latin typeface="微软雅黑" pitchFamily="34" charset="-122"/>
                <a:ea typeface="微软雅黑" pitchFamily="34" charset="-122"/>
                <a:cs typeface="Times New Roman" panose="02020603050405020304" pitchFamily="18" charset="0"/>
              </a:rPr>
              <a:t>IP</a:t>
            </a:r>
            <a:r>
              <a:rPr lang="zh-CN" altLang="en-US" sz="2600" dirty="0">
                <a:latin typeface="微软雅黑" pitchFamily="34" charset="-122"/>
                <a:ea typeface="微软雅黑" pitchFamily="34" charset="-122"/>
                <a:cs typeface="Times New Roman" panose="02020603050405020304" pitchFamily="18" charset="0"/>
              </a:rPr>
              <a:t>网络</a:t>
            </a:r>
            <a:endParaRPr lang="en-US" altLang="zh-CN" sz="2600" dirty="0">
              <a:latin typeface="微软雅黑" pitchFamily="34" charset="-122"/>
              <a:ea typeface="微软雅黑" pitchFamily="34" charset="-122"/>
              <a:cs typeface="Times New Roman" panose="02020603050405020304" pitchFamily="18" charset="0"/>
            </a:endParaRPr>
          </a:p>
          <a:p>
            <a:pPr lvl="1">
              <a:lnSpc>
                <a:spcPct val="130000"/>
              </a:lnSpc>
            </a:pPr>
            <a:r>
              <a:rPr lang="zh-CN" altLang="en-US" sz="2600" dirty="0">
                <a:latin typeface="微软雅黑" pitchFamily="34" charset="-122"/>
                <a:ea typeface="微软雅黑" pitchFamily="34" charset="-122"/>
                <a:cs typeface="Times New Roman" panose="02020603050405020304" pitchFamily="18" charset="0"/>
              </a:rPr>
              <a:t>将</a:t>
            </a:r>
            <a:r>
              <a:rPr lang="en-US" altLang="zh-CN" sz="2600" dirty="0">
                <a:latin typeface="微软雅黑" pitchFamily="34" charset="-122"/>
                <a:ea typeface="微软雅黑" pitchFamily="34" charset="-122"/>
                <a:cs typeface="Times New Roman" panose="02020603050405020304" pitchFamily="18" charset="0"/>
              </a:rPr>
              <a:t>IP</a:t>
            </a:r>
            <a:r>
              <a:rPr lang="zh-CN" altLang="en-US" sz="2600" dirty="0">
                <a:latin typeface="微软雅黑" pitchFamily="34" charset="-122"/>
                <a:ea typeface="微软雅黑" pitchFamily="34" charset="-122"/>
                <a:cs typeface="Times New Roman" panose="02020603050405020304" pitchFamily="18" charset="0"/>
              </a:rPr>
              <a:t>数据包封装到链路层帧中，直接发送给主机</a:t>
            </a:r>
            <a:r>
              <a:rPr lang="en-US" altLang="zh-CN" sz="2600" dirty="0">
                <a:latin typeface="微软雅黑" pitchFamily="34" charset="-122"/>
                <a:ea typeface="微软雅黑" pitchFamily="34" charset="-122"/>
                <a:cs typeface="Times New Roman" panose="02020603050405020304" pitchFamily="18" charset="0"/>
              </a:rPr>
              <a:t>B </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140</a:t>
            </a:fld>
            <a:endParaRPr kumimoji="1" lang="zh-CN" altLang="en-US" dirty="0"/>
          </a:p>
        </p:txBody>
      </p:sp>
      <p:sp>
        <p:nvSpPr>
          <p:cNvPr id="6"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ARP</a:t>
            </a:r>
            <a:r>
              <a:rPr lang="zh-CN" altLang="en-US" dirty="0">
                <a:latin typeface="微软雅黑" pitchFamily="34" charset="-122"/>
                <a:ea typeface="微软雅黑" pitchFamily="34" charset="-122"/>
              </a:rPr>
              <a:t>地址解析协议</a:t>
            </a:r>
            <a:endParaRPr lang="zh-CN" altLang="en-US" sz="3200" dirty="0"/>
          </a:p>
        </p:txBody>
      </p:sp>
      <p:grpSp>
        <p:nvGrpSpPr>
          <p:cNvPr id="55" name="组合 54"/>
          <p:cNvGrpSpPr/>
          <p:nvPr/>
        </p:nvGrpSpPr>
        <p:grpSpPr>
          <a:xfrm>
            <a:off x="994681" y="4398213"/>
            <a:ext cx="8115300" cy="1903478"/>
            <a:chOff x="848794" y="4316975"/>
            <a:chExt cx="8115300" cy="2277242"/>
          </a:xfrm>
        </p:grpSpPr>
        <p:sp>
          <p:nvSpPr>
            <p:cNvPr id="56" name="Rectangle 2"/>
            <p:cNvSpPr>
              <a:spLocks noChangeArrowheads="1"/>
            </p:cNvSpPr>
            <p:nvPr/>
          </p:nvSpPr>
          <p:spPr bwMode="auto">
            <a:xfrm>
              <a:off x="4428077" y="5064133"/>
              <a:ext cx="4536016" cy="669925"/>
            </a:xfrm>
            <a:prstGeom prst="rect">
              <a:avLst/>
            </a:prstGeom>
            <a:solidFill>
              <a:schemeClr val="accent6">
                <a:lumMod val="40000"/>
                <a:lumOff val="60000"/>
              </a:schemeClr>
            </a:solidFill>
            <a:ln w="9525">
              <a:solidFill>
                <a:schemeClr val="tx1"/>
              </a:solid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7" name="Text Box 66"/>
            <p:cNvSpPr txBox="1">
              <a:spLocks noChangeArrowheads="1"/>
            </p:cNvSpPr>
            <p:nvPr/>
          </p:nvSpPr>
          <p:spPr bwMode="auto">
            <a:xfrm>
              <a:off x="1277647" y="5081596"/>
              <a:ext cx="1184876" cy="773244"/>
            </a:xfrm>
            <a:prstGeom prst="rect">
              <a:avLst/>
            </a:prstGeom>
            <a:noFill/>
            <a:ln w="9525">
              <a:noFill/>
              <a:miter lim="800000"/>
              <a:headEnd/>
              <a:tailEnd/>
            </a:ln>
          </p:spPr>
          <p:txBody>
            <a:bodyPr wrap="none">
              <a:spAutoFit/>
            </a:bodyPr>
            <a:lstStyle/>
            <a:p>
              <a:pPr algn="ctr" eaLnBrk="0" hangingPunct="0"/>
              <a:r>
                <a:rPr kumimoji="0" lang="en-US" altLang="zh-CN" sz="1800" dirty="0">
                  <a:latin typeface="微软雅黑" pitchFamily="34" charset="-122"/>
                  <a:ea typeface="微软雅黑" pitchFamily="34" charset="-122"/>
                  <a:cs typeface="Times New Roman" panose="02020603050405020304" pitchFamily="18" charset="0"/>
                </a:rPr>
                <a:t>B</a:t>
              </a:r>
              <a:r>
                <a:rPr kumimoji="0" lang="zh-CN" altLang="en-US" sz="1800" dirty="0">
                  <a:latin typeface="微软雅黑" pitchFamily="34" charset="-122"/>
                  <a:ea typeface="微软雅黑" pitchFamily="34" charset="-122"/>
                  <a:cs typeface="Times New Roman" panose="02020603050405020304" pitchFamily="18" charset="0"/>
                </a:rPr>
                <a:t>的</a:t>
              </a:r>
              <a:endParaRPr kumimoji="0" lang="en-US" altLang="zh-CN" sz="1800" dirty="0">
                <a:latin typeface="微软雅黑" pitchFamily="34" charset="-122"/>
                <a:ea typeface="微软雅黑" pitchFamily="34" charset="-122"/>
                <a:cs typeface="Times New Roman" panose="02020603050405020304" pitchFamily="18" charset="0"/>
              </a:endParaRPr>
            </a:p>
            <a:p>
              <a:pPr algn="ctr" eaLnBrk="0" hangingPunct="0"/>
              <a:r>
                <a:rPr kumimoji="0" lang="en-US" altLang="zh-CN" sz="1800" dirty="0">
                  <a:latin typeface="微软雅黑" pitchFamily="34" charset="-122"/>
                  <a:ea typeface="微软雅黑" pitchFamily="34" charset="-122"/>
                  <a:cs typeface="Times New Roman" panose="02020603050405020304" pitchFamily="18" charset="0"/>
                </a:rPr>
                <a:t>MAC</a:t>
              </a:r>
              <a:r>
                <a:rPr kumimoji="0" lang="zh-CN" altLang="en-US" sz="1800" dirty="0">
                  <a:latin typeface="微软雅黑" pitchFamily="34" charset="-122"/>
                  <a:ea typeface="微软雅黑" pitchFamily="34" charset="-122"/>
                  <a:cs typeface="Times New Roman" panose="02020603050405020304" pitchFamily="18" charset="0"/>
                </a:rPr>
                <a:t>地址</a:t>
              </a:r>
              <a:endParaRPr kumimoji="0" lang="en-US" altLang="zh-CN" sz="1800" dirty="0">
                <a:latin typeface="微软雅黑" pitchFamily="34" charset="-122"/>
                <a:ea typeface="微软雅黑" pitchFamily="34" charset="-122"/>
                <a:cs typeface="Times New Roman" panose="02020603050405020304" pitchFamily="18" charset="0"/>
              </a:endParaRPr>
            </a:p>
          </p:txBody>
        </p:sp>
        <p:sp>
          <p:nvSpPr>
            <p:cNvPr id="58" name="Text Box 67"/>
            <p:cNvSpPr txBox="1">
              <a:spLocks noChangeArrowheads="1"/>
            </p:cNvSpPr>
            <p:nvPr/>
          </p:nvSpPr>
          <p:spPr bwMode="auto">
            <a:xfrm>
              <a:off x="2548478" y="5081596"/>
              <a:ext cx="1629833" cy="773244"/>
            </a:xfrm>
            <a:prstGeom prst="rect">
              <a:avLst/>
            </a:prstGeom>
            <a:noFill/>
            <a:ln w="9525">
              <a:noFill/>
              <a:miter lim="800000"/>
              <a:headEnd/>
              <a:tailEnd/>
            </a:ln>
          </p:spPr>
          <p:txBody>
            <a:bodyPr wrap="squar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A</a:t>
              </a:r>
              <a:r>
                <a:rPr lang="zh-CN" altLang="en-US" dirty="0">
                  <a:latin typeface="微软雅黑" pitchFamily="34" charset="-122"/>
                  <a:ea typeface="微软雅黑" pitchFamily="34" charset="-122"/>
                  <a:cs typeface="Times New Roman" panose="02020603050405020304" pitchFamily="18" charset="0"/>
                </a:rPr>
                <a:t>的</a:t>
              </a:r>
              <a:endParaRPr lang="en-US" altLang="zh-CN" dirty="0">
                <a:latin typeface="微软雅黑" pitchFamily="34" charset="-122"/>
                <a:ea typeface="微软雅黑" pitchFamily="34" charset="-122"/>
                <a:cs typeface="Times New Roman" panose="02020603050405020304" pitchFamily="18" charset="0"/>
              </a:endParaRPr>
            </a:p>
            <a:p>
              <a:pPr algn="ctr" eaLnBrk="0" hangingPunct="0"/>
              <a:r>
                <a:rPr lang="en-US" altLang="zh-CN" dirty="0">
                  <a:latin typeface="微软雅黑" pitchFamily="34" charset="-122"/>
                  <a:ea typeface="微软雅黑" pitchFamily="34" charset="-122"/>
                  <a:cs typeface="Times New Roman" panose="02020603050405020304" pitchFamily="18" charset="0"/>
                </a:rPr>
                <a:t>MAC</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p:txBody>
        </p:sp>
        <p:sp>
          <p:nvSpPr>
            <p:cNvPr id="59" name="Text Box 68"/>
            <p:cNvSpPr txBox="1">
              <a:spLocks noChangeArrowheads="1"/>
            </p:cNvSpPr>
            <p:nvPr/>
          </p:nvSpPr>
          <p:spPr bwMode="auto">
            <a:xfrm>
              <a:off x="4428079" y="5064133"/>
              <a:ext cx="1274725" cy="773244"/>
            </a:xfrm>
            <a:prstGeom prst="rect">
              <a:avLst/>
            </a:prstGeom>
            <a:noFill/>
            <a:ln w="9525">
              <a:noFill/>
              <a:miter lim="800000"/>
              <a:headEnd/>
              <a:tailEnd/>
            </a:ln>
          </p:spPr>
          <p:txBody>
            <a:bodyPr wrap="squar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A</a:t>
              </a:r>
              <a:r>
                <a:rPr lang="zh-CN" altLang="en-US" dirty="0">
                  <a:latin typeface="微软雅黑" pitchFamily="34" charset="-122"/>
                  <a:ea typeface="微软雅黑" pitchFamily="34" charset="-122"/>
                  <a:cs typeface="Times New Roman" panose="02020603050405020304" pitchFamily="18" charset="0"/>
                </a:rPr>
                <a:t>的</a:t>
              </a:r>
              <a:endParaRPr lang="en-US" altLang="zh-CN" dirty="0">
                <a:latin typeface="微软雅黑" pitchFamily="34" charset="-122"/>
                <a:ea typeface="微软雅黑" pitchFamily="34" charset="-122"/>
                <a:cs typeface="Times New Roman" panose="02020603050405020304" pitchFamily="18" charset="0"/>
              </a:endParaRPr>
            </a:p>
            <a:p>
              <a:pPr algn="ctr" eaLnBrk="0" hangingPunct="0"/>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p:txBody>
        </p:sp>
        <p:sp>
          <p:nvSpPr>
            <p:cNvPr id="60" name="Text Box 69"/>
            <p:cNvSpPr txBox="1">
              <a:spLocks noChangeArrowheads="1"/>
            </p:cNvSpPr>
            <p:nvPr/>
          </p:nvSpPr>
          <p:spPr bwMode="auto">
            <a:xfrm>
              <a:off x="5975053" y="5070483"/>
              <a:ext cx="851515" cy="773244"/>
            </a:xfrm>
            <a:prstGeom prst="rect">
              <a:avLst/>
            </a:prstGeom>
            <a:noFill/>
            <a:ln w="9525">
              <a:noFill/>
              <a:miter lim="800000"/>
              <a:headEnd/>
              <a:tailEnd/>
            </a:ln>
          </p:spPr>
          <p:txBody>
            <a:bodyPr wrap="non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B</a:t>
              </a:r>
              <a:r>
                <a:rPr lang="zh-CN" altLang="en-US" dirty="0">
                  <a:latin typeface="微软雅黑" pitchFamily="34" charset="-122"/>
                  <a:ea typeface="微软雅黑" pitchFamily="34" charset="-122"/>
                  <a:cs typeface="Times New Roman" panose="02020603050405020304" pitchFamily="18" charset="0"/>
                </a:rPr>
                <a:t>的</a:t>
              </a:r>
              <a:endParaRPr lang="en-US" altLang="zh-CN" dirty="0">
                <a:latin typeface="微软雅黑" pitchFamily="34" charset="-122"/>
                <a:ea typeface="微软雅黑" pitchFamily="34" charset="-122"/>
                <a:cs typeface="Times New Roman" panose="02020603050405020304" pitchFamily="18" charset="0"/>
              </a:endParaRPr>
            </a:p>
            <a:p>
              <a:pPr algn="ctr" eaLnBrk="0" hangingPunct="0"/>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p:txBody>
        </p:sp>
        <p:sp>
          <p:nvSpPr>
            <p:cNvPr id="61" name="Text Box 70"/>
            <p:cNvSpPr txBox="1">
              <a:spLocks noChangeArrowheads="1"/>
            </p:cNvSpPr>
            <p:nvPr/>
          </p:nvSpPr>
          <p:spPr bwMode="auto">
            <a:xfrm>
              <a:off x="7637694" y="5202246"/>
              <a:ext cx="851515" cy="441853"/>
            </a:xfrm>
            <a:prstGeom prst="rect">
              <a:avLst/>
            </a:prstGeom>
            <a:noFill/>
            <a:ln w="9525">
              <a:noFill/>
              <a:miter lim="800000"/>
              <a:headEnd/>
              <a:tailEnd/>
            </a:ln>
          </p:spPr>
          <p:txBody>
            <a:bodyPr wrap="non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载荷</a:t>
              </a:r>
              <a:endParaRPr lang="en-US" altLang="zh-CN" dirty="0">
                <a:latin typeface="微软雅黑" pitchFamily="34" charset="-122"/>
                <a:ea typeface="微软雅黑" pitchFamily="34" charset="-122"/>
                <a:cs typeface="Times New Roman" panose="02020603050405020304" pitchFamily="18" charset="0"/>
              </a:endParaRPr>
            </a:p>
          </p:txBody>
        </p:sp>
        <p:sp>
          <p:nvSpPr>
            <p:cNvPr id="62" name="Rectangle 71"/>
            <p:cNvSpPr>
              <a:spLocks noChangeArrowheads="1"/>
            </p:cNvSpPr>
            <p:nvPr/>
          </p:nvSpPr>
          <p:spPr bwMode="auto">
            <a:xfrm>
              <a:off x="882661" y="5062546"/>
              <a:ext cx="8081433" cy="669925"/>
            </a:xfrm>
            <a:prstGeom prst="rect">
              <a:avLst/>
            </a:prstGeom>
            <a:noFill/>
            <a:ln w="28575">
              <a:solidFill>
                <a:srgbClr val="FF0000"/>
              </a:solid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3" name="Line 72"/>
            <p:cNvSpPr>
              <a:spLocks noChangeShapeType="1"/>
            </p:cNvSpPr>
            <p:nvPr/>
          </p:nvSpPr>
          <p:spPr bwMode="auto">
            <a:xfrm>
              <a:off x="2614093" y="5073658"/>
              <a:ext cx="0" cy="669925"/>
            </a:xfrm>
            <a:prstGeom prst="line">
              <a:avLst/>
            </a:prstGeom>
            <a:noFill/>
            <a:ln w="19050">
              <a:solidFill>
                <a:schemeClr val="tx1"/>
              </a:solidFill>
              <a:round/>
              <a:headEnd/>
              <a:tailEn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4" name="Line 73"/>
            <p:cNvSpPr>
              <a:spLocks noChangeShapeType="1"/>
            </p:cNvSpPr>
            <p:nvPr/>
          </p:nvSpPr>
          <p:spPr bwMode="auto">
            <a:xfrm>
              <a:off x="4074593" y="5068896"/>
              <a:ext cx="0" cy="669925"/>
            </a:xfrm>
            <a:prstGeom prst="line">
              <a:avLst/>
            </a:prstGeom>
            <a:noFill/>
            <a:ln w="19050">
              <a:solidFill>
                <a:schemeClr val="tx1"/>
              </a:solidFill>
              <a:round/>
              <a:headEnd/>
              <a:tailEn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5" name="Line 74"/>
            <p:cNvSpPr>
              <a:spLocks noChangeShapeType="1"/>
            </p:cNvSpPr>
            <p:nvPr/>
          </p:nvSpPr>
          <p:spPr bwMode="auto">
            <a:xfrm>
              <a:off x="4432311" y="5075246"/>
              <a:ext cx="0" cy="669925"/>
            </a:xfrm>
            <a:prstGeom prst="line">
              <a:avLst/>
            </a:prstGeom>
            <a:noFill/>
            <a:ln w="19050">
              <a:solidFill>
                <a:schemeClr val="tx1"/>
              </a:solidFill>
              <a:round/>
              <a:headEnd/>
              <a:tailEn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6" name="Rectangle 75"/>
            <p:cNvSpPr>
              <a:spLocks noChangeArrowheads="1"/>
            </p:cNvSpPr>
            <p:nvPr/>
          </p:nvSpPr>
          <p:spPr bwMode="auto">
            <a:xfrm>
              <a:off x="1066811" y="5011745"/>
              <a:ext cx="99483" cy="157162"/>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7" name="Rectangle 76"/>
            <p:cNvSpPr>
              <a:spLocks noChangeArrowheads="1"/>
            </p:cNvSpPr>
            <p:nvPr/>
          </p:nvSpPr>
          <p:spPr bwMode="auto">
            <a:xfrm>
              <a:off x="1032944" y="5646745"/>
              <a:ext cx="99483" cy="157162"/>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8" name="Rectangle 77"/>
            <p:cNvSpPr>
              <a:spLocks noChangeArrowheads="1"/>
            </p:cNvSpPr>
            <p:nvPr/>
          </p:nvSpPr>
          <p:spPr bwMode="auto">
            <a:xfrm>
              <a:off x="4195244" y="5014920"/>
              <a:ext cx="99483" cy="157162"/>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9" name="Rectangle 78"/>
            <p:cNvSpPr>
              <a:spLocks noChangeArrowheads="1"/>
            </p:cNvSpPr>
            <p:nvPr/>
          </p:nvSpPr>
          <p:spPr bwMode="auto">
            <a:xfrm>
              <a:off x="4218527" y="5661033"/>
              <a:ext cx="99484" cy="157163"/>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0" name="Text Box 79"/>
            <p:cNvSpPr txBox="1">
              <a:spLocks noChangeArrowheads="1"/>
            </p:cNvSpPr>
            <p:nvPr/>
          </p:nvSpPr>
          <p:spPr bwMode="auto">
            <a:xfrm>
              <a:off x="5772161" y="5857882"/>
              <a:ext cx="877163" cy="441853"/>
            </a:xfrm>
            <a:prstGeom prst="rect">
              <a:avLst/>
            </a:prstGeom>
            <a:noFill/>
            <a:ln w="9525">
              <a:noFill/>
              <a:miter lim="800000"/>
              <a:headEnd/>
              <a:tailEnd/>
            </a:ln>
          </p:spPr>
          <p:txBody>
            <a:bodyPr wrap="none">
              <a:spAutoFit/>
            </a:bodyPr>
            <a:lstStyle/>
            <a:p>
              <a:pPr algn="ctr" eaLnBrk="0" hangingPunct="0"/>
              <a:r>
                <a:rPr lang="zh-CN" altLang="en-US" dirty="0">
                  <a:latin typeface="微软雅黑" pitchFamily="34" charset="-122"/>
                  <a:ea typeface="微软雅黑" pitchFamily="34" charset="-122"/>
                  <a:cs typeface="Times New Roman" panose="02020603050405020304" pitchFamily="18" charset="0"/>
                </a:rPr>
                <a:t>数据包</a:t>
              </a:r>
              <a:endParaRPr lang="en-US" altLang="zh-CN" dirty="0">
                <a:latin typeface="微软雅黑" pitchFamily="34" charset="-122"/>
                <a:ea typeface="微软雅黑" pitchFamily="34" charset="-122"/>
                <a:cs typeface="Times New Roman" panose="02020603050405020304" pitchFamily="18" charset="0"/>
              </a:endParaRPr>
            </a:p>
          </p:txBody>
        </p:sp>
        <p:sp>
          <p:nvSpPr>
            <p:cNvPr id="71" name="Text Box 80"/>
            <p:cNvSpPr txBox="1">
              <a:spLocks noChangeArrowheads="1"/>
            </p:cNvSpPr>
            <p:nvPr/>
          </p:nvSpPr>
          <p:spPr bwMode="auto">
            <a:xfrm>
              <a:off x="4070364" y="6152364"/>
              <a:ext cx="415498" cy="441853"/>
            </a:xfrm>
            <a:prstGeom prst="rect">
              <a:avLst/>
            </a:prstGeom>
            <a:noFill/>
            <a:ln w="9525">
              <a:noFill/>
              <a:miter lim="800000"/>
              <a:headEnd/>
              <a:tailEnd/>
            </a:ln>
          </p:spPr>
          <p:txBody>
            <a:bodyPr wrap="none">
              <a:spAutoFit/>
            </a:bodyPr>
            <a:lstStyle/>
            <a:p>
              <a:pPr algn="ctr" eaLnBrk="0" hangingPunct="0"/>
              <a:r>
                <a:rPr lang="zh-CN" altLang="en-US" dirty="0">
                  <a:latin typeface="微软雅黑" pitchFamily="34" charset="-122"/>
                  <a:ea typeface="微软雅黑" pitchFamily="34" charset="-122"/>
                  <a:cs typeface="Times New Roman" panose="02020603050405020304" pitchFamily="18" charset="0"/>
                </a:rPr>
                <a:t>帧</a:t>
              </a:r>
              <a:endParaRPr lang="en-US" altLang="zh-CN" dirty="0">
                <a:latin typeface="微软雅黑" pitchFamily="34" charset="-122"/>
                <a:ea typeface="微软雅黑" pitchFamily="34" charset="-122"/>
                <a:cs typeface="Times New Roman" panose="02020603050405020304" pitchFamily="18" charset="0"/>
              </a:endParaRPr>
            </a:p>
          </p:txBody>
        </p:sp>
        <p:sp>
          <p:nvSpPr>
            <p:cNvPr id="72" name="Line 81"/>
            <p:cNvSpPr>
              <a:spLocks noChangeShapeType="1"/>
            </p:cNvSpPr>
            <p:nvPr/>
          </p:nvSpPr>
          <p:spPr bwMode="auto">
            <a:xfrm>
              <a:off x="7317327" y="6048382"/>
              <a:ext cx="1591733"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3" name="Line 82"/>
            <p:cNvSpPr>
              <a:spLocks noChangeShapeType="1"/>
            </p:cNvSpPr>
            <p:nvPr/>
          </p:nvSpPr>
          <p:spPr bwMode="auto">
            <a:xfrm flipH="1">
              <a:off x="4485227" y="6057907"/>
              <a:ext cx="1312333"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4" name="Line 83"/>
            <p:cNvSpPr>
              <a:spLocks noChangeShapeType="1"/>
            </p:cNvSpPr>
            <p:nvPr/>
          </p:nvSpPr>
          <p:spPr bwMode="auto">
            <a:xfrm flipH="1">
              <a:off x="848794" y="6346832"/>
              <a:ext cx="2973917"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5" name="Line 84"/>
            <p:cNvSpPr>
              <a:spLocks noChangeShapeType="1"/>
            </p:cNvSpPr>
            <p:nvPr/>
          </p:nvSpPr>
          <p:spPr bwMode="auto">
            <a:xfrm>
              <a:off x="4868345" y="6369057"/>
              <a:ext cx="4034367"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6" name="Text Box 85"/>
            <p:cNvSpPr txBox="1">
              <a:spLocks noChangeArrowheads="1"/>
            </p:cNvSpPr>
            <p:nvPr/>
          </p:nvSpPr>
          <p:spPr bwMode="auto">
            <a:xfrm>
              <a:off x="1332305" y="4316975"/>
              <a:ext cx="2236510" cy="478675"/>
            </a:xfrm>
            <a:prstGeom prst="rect">
              <a:avLst/>
            </a:prstGeom>
            <a:noFill/>
            <a:ln w="9525">
              <a:noFill/>
              <a:miter lim="800000"/>
              <a:headEnd/>
              <a:tailEnd/>
            </a:ln>
          </p:spPr>
          <p:txBody>
            <a:bodyPr wrap="none">
              <a:spAutoFit/>
            </a:bodyPr>
            <a:lstStyle/>
            <a:p>
              <a:pPr eaLnBrk="0" hangingPunct="0"/>
              <a:r>
                <a:rPr kumimoji="0" lang="zh-CN" altLang="en-US" sz="2000" dirty="0">
                  <a:latin typeface="微软雅黑" pitchFamily="34" charset="-122"/>
                  <a:ea typeface="微软雅黑" pitchFamily="34" charset="-122"/>
                  <a:cs typeface="Times New Roman" panose="02020603050405020304" pitchFamily="18" charset="0"/>
                </a:rPr>
                <a:t>帧的源和目的地址</a:t>
              </a:r>
              <a:endParaRPr kumimoji="0" lang="en-US" altLang="zh-CN" sz="2000" dirty="0">
                <a:latin typeface="微软雅黑" pitchFamily="34" charset="-122"/>
                <a:ea typeface="微软雅黑" pitchFamily="34" charset="-122"/>
                <a:cs typeface="Times New Roman" panose="02020603050405020304" pitchFamily="18" charset="0"/>
              </a:endParaRPr>
            </a:p>
          </p:txBody>
        </p:sp>
        <p:sp>
          <p:nvSpPr>
            <p:cNvPr id="77" name="Text Box 86"/>
            <p:cNvSpPr txBox="1">
              <a:spLocks noChangeArrowheads="1"/>
            </p:cNvSpPr>
            <p:nvPr/>
          </p:nvSpPr>
          <p:spPr bwMode="auto">
            <a:xfrm>
              <a:off x="4581986" y="4326500"/>
              <a:ext cx="2749471" cy="478675"/>
            </a:xfrm>
            <a:prstGeom prst="rect">
              <a:avLst/>
            </a:prstGeom>
            <a:noFill/>
            <a:ln w="9525">
              <a:noFill/>
              <a:miter lim="800000"/>
              <a:headEnd/>
              <a:tailEnd/>
            </a:ln>
          </p:spPr>
          <p:txBody>
            <a:bodyPr wrap="none">
              <a:spAutoFit/>
            </a:bodyPr>
            <a:lstStyle/>
            <a:p>
              <a:pPr algn="ctr" eaLnBrk="0" hangingPunct="0"/>
              <a:r>
                <a:rPr kumimoji="0" lang="zh-CN" altLang="en-US" sz="2000" dirty="0">
                  <a:latin typeface="微软雅黑" pitchFamily="34" charset="-122"/>
                  <a:ea typeface="微软雅黑" pitchFamily="34" charset="-122"/>
                  <a:cs typeface="Times New Roman" panose="02020603050405020304" pitchFamily="18" charset="0"/>
                </a:rPr>
                <a:t>数据包的源和目的地址</a:t>
              </a:r>
              <a:endParaRPr kumimoji="0" lang="en-US" altLang="zh-CN" sz="2000" dirty="0">
                <a:latin typeface="微软雅黑" pitchFamily="34" charset="-122"/>
                <a:ea typeface="微软雅黑" pitchFamily="34" charset="-122"/>
                <a:cs typeface="Times New Roman" panose="02020603050405020304" pitchFamily="18" charset="0"/>
              </a:endParaRPr>
            </a:p>
          </p:txBody>
        </p:sp>
        <p:sp>
          <p:nvSpPr>
            <p:cNvPr id="78" name="Line 87"/>
            <p:cNvSpPr>
              <a:spLocks noChangeShapeType="1"/>
            </p:cNvSpPr>
            <p:nvPr/>
          </p:nvSpPr>
          <p:spPr bwMode="auto">
            <a:xfrm flipH="1">
              <a:off x="1875378" y="4686307"/>
              <a:ext cx="656167" cy="325438"/>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9" name="Line 88"/>
            <p:cNvSpPr>
              <a:spLocks noChangeShapeType="1"/>
            </p:cNvSpPr>
            <p:nvPr/>
          </p:nvSpPr>
          <p:spPr bwMode="auto">
            <a:xfrm>
              <a:off x="2749560" y="4681546"/>
              <a:ext cx="586317" cy="325437"/>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80" name="Line 89"/>
            <p:cNvSpPr>
              <a:spLocks noChangeShapeType="1"/>
            </p:cNvSpPr>
            <p:nvPr/>
          </p:nvSpPr>
          <p:spPr bwMode="auto">
            <a:xfrm flipH="1">
              <a:off x="4995345" y="4691071"/>
              <a:ext cx="656167" cy="325437"/>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81" name="Line 90"/>
            <p:cNvSpPr>
              <a:spLocks noChangeShapeType="1"/>
            </p:cNvSpPr>
            <p:nvPr/>
          </p:nvSpPr>
          <p:spPr bwMode="auto">
            <a:xfrm>
              <a:off x="5869527" y="4686307"/>
              <a:ext cx="586317" cy="325438"/>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grpSp>
      <p:grpSp>
        <p:nvGrpSpPr>
          <p:cNvPr id="7" name="组合 6"/>
          <p:cNvGrpSpPr/>
          <p:nvPr/>
        </p:nvGrpSpPr>
        <p:grpSpPr>
          <a:xfrm>
            <a:off x="6963588" y="1452135"/>
            <a:ext cx="4354342" cy="2976343"/>
            <a:chOff x="6963588" y="1452135"/>
            <a:chExt cx="4354342" cy="2976343"/>
          </a:xfrm>
        </p:grpSpPr>
        <p:grpSp>
          <p:nvGrpSpPr>
            <p:cNvPr id="82" name="组合 81"/>
            <p:cNvGrpSpPr/>
            <p:nvPr/>
          </p:nvGrpSpPr>
          <p:grpSpPr>
            <a:xfrm>
              <a:off x="6963588" y="1452135"/>
              <a:ext cx="4354342" cy="2976343"/>
              <a:chOff x="5600115" y="3078817"/>
              <a:chExt cx="4354342" cy="2976343"/>
            </a:xfrm>
          </p:grpSpPr>
          <p:pic>
            <p:nvPicPr>
              <p:cNvPr id="83" name="Picture 5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10704" y="4718428"/>
                <a:ext cx="757723" cy="6749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5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93128" y="3428842"/>
                <a:ext cx="639123" cy="8141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6" name="矩形 85"/>
              <p:cNvSpPr/>
              <p:nvPr/>
            </p:nvSpPr>
            <p:spPr>
              <a:xfrm>
                <a:off x="6787900" y="3496121"/>
                <a:ext cx="1850822" cy="415494"/>
              </a:xfrm>
              <a:prstGeom prst="rect">
                <a:avLst/>
              </a:prstGeom>
            </p:spPr>
            <p:txBody>
              <a:bodyPr wrap="none" lIns="121917" tIns="60958" rIns="121917" bIns="60958">
                <a:spAutoFit/>
              </a:bodyPr>
              <a:lstStyle/>
              <a:p>
                <a:r>
                  <a:rPr lang="en-US" altLang="zh-CN" sz="1900" dirty="0">
                    <a:latin typeface="微软雅黑" pitchFamily="34" charset="-122"/>
                    <a:ea typeface="微软雅黑" pitchFamily="34" charset="-122"/>
                  </a:rPr>
                  <a:t>220.168.10.10</a:t>
                </a:r>
                <a:endParaRPr lang="zh-CN" altLang="en-US" sz="1900" dirty="0">
                  <a:latin typeface="微软雅黑" pitchFamily="34" charset="-122"/>
                  <a:ea typeface="微软雅黑" pitchFamily="34" charset="-122"/>
                </a:endParaRPr>
              </a:p>
            </p:txBody>
          </p:sp>
          <p:sp>
            <p:nvSpPr>
              <p:cNvPr id="87" name="矩形 86"/>
              <p:cNvSpPr/>
              <p:nvPr/>
            </p:nvSpPr>
            <p:spPr>
              <a:xfrm>
                <a:off x="6787901" y="3823930"/>
                <a:ext cx="2626932" cy="415494"/>
              </a:xfrm>
              <a:prstGeom prst="rect">
                <a:avLst/>
              </a:prstGeom>
            </p:spPr>
            <p:txBody>
              <a:bodyPr wrap="none" lIns="121917" tIns="60958" rIns="121917" bIns="60958">
                <a:spAutoFit/>
              </a:bodyPr>
              <a:lstStyle/>
              <a:p>
                <a:r>
                  <a:rPr lang="en-US" altLang="zh-CN" sz="1900" dirty="0">
                    <a:latin typeface="微软雅黑" pitchFamily="34" charset="-122"/>
                    <a:ea typeface="微软雅黑" pitchFamily="34" charset="-122"/>
                  </a:rPr>
                  <a:t>00-15-C5-C6-CC-07</a:t>
                </a:r>
                <a:endParaRPr lang="zh-CN" altLang="en-US" sz="1900" dirty="0">
                  <a:latin typeface="微软雅黑" pitchFamily="34" charset="-122"/>
                  <a:ea typeface="微软雅黑" pitchFamily="34" charset="-122"/>
                </a:endParaRPr>
              </a:p>
            </p:txBody>
          </p:sp>
          <p:sp>
            <p:nvSpPr>
              <p:cNvPr id="88" name="矩形 87"/>
              <p:cNvSpPr/>
              <p:nvPr/>
            </p:nvSpPr>
            <p:spPr>
              <a:xfrm>
                <a:off x="7451023" y="5327501"/>
                <a:ext cx="1850822" cy="415494"/>
              </a:xfrm>
              <a:prstGeom prst="rect">
                <a:avLst/>
              </a:prstGeom>
            </p:spPr>
            <p:txBody>
              <a:bodyPr wrap="none" lIns="121917" tIns="60958" rIns="121917" bIns="60958">
                <a:spAutoFit/>
              </a:bodyPr>
              <a:lstStyle/>
              <a:p>
                <a:r>
                  <a:rPr lang="en-US" altLang="zh-CN" sz="1900" dirty="0">
                    <a:latin typeface="微软雅黑" pitchFamily="34" charset="-122"/>
                    <a:ea typeface="微软雅黑" pitchFamily="34" charset="-122"/>
                  </a:rPr>
                  <a:t>220.168.10.20</a:t>
                </a:r>
                <a:endParaRPr lang="zh-CN" altLang="en-US" sz="1900" dirty="0">
                  <a:latin typeface="微软雅黑" pitchFamily="34" charset="-122"/>
                  <a:ea typeface="微软雅黑" pitchFamily="34" charset="-122"/>
                </a:endParaRPr>
              </a:p>
            </p:txBody>
          </p:sp>
          <p:sp>
            <p:nvSpPr>
              <p:cNvPr id="89" name="矩形 88"/>
              <p:cNvSpPr/>
              <p:nvPr/>
            </p:nvSpPr>
            <p:spPr>
              <a:xfrm>
                <a:off x="7942343" y="5639666"/>
                <a:ext cx="977185" cy="415494"/>
              </a:xfrm>
              <a:prstGeom prst="rect">
                <a:avLst/>
              </a:prstGeom>
            </p:spPr>
            <p:txBody>
              <a:bodyPr wrap="none" lIns="121917" tIns="60958" rIns="121917" bIns="60958">
                <a:spAutoFit/>
              </a:bodyPr>
              <a:lstStyle/>
              <a:p>
                <a:pPr algn="ctr"/>
                <a:r>
                  <a:rPr lang="zh-CN" altLang="en-US" sz="1900" dirty="0">
                    <a:solidFill>
                      <a:srgbClr val="C00000"/>
                    </a:solidFill>
                    <a:latin typeface="微软雅黑" pitchFamily="34" charset="-122"/>
                    <a:ea typeface="微软雅黑" pitchFamily="34" charset="-122"/>
                  </a:rPr>
                  <a:t>？？？</a:t>
                </a:r>
              </a:p>
            </p:txBody>
          </p:sp>
          <p:sp>
            <p:nvSpPr>
              <p:cNvPr id="92" name="矩形标注 91"/>
              <p:cNvSpPr/>
              <p:nvPr/>
            </p:nvSpPr>
            <p:spPr bwMode="auto">
              <a:xfrm>
                <a:off x="7363515" y="3078817"/>
                <a:ext cx="959747" cy="336293"/>
              </a:xfrm>
              <a:prstGeom prst="wedgeRectCallout">
                <a:avLst>
                  <a:gd name="adj1" fmla="val -47726"/>
                  <a:gd name="adj2" fmla="val 100032"/>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121917" tIns="60958" rIns="121917" bIns="60958" numCol="1" rtlCol="0" anchor="t" anchorCtr="0" compatLnSpc="1">
                <a:prstTxWarp prst="textNoShape">
                  <a:avLst/>
                </a:prstTxWarp>
              </a:bodyPr>
              <a:lstStyle/>
              <a:p>
                <a:pPr algn="ctr" defTabSz="1219170" eaLnBrk="0" fontAlgn="base" hangingPunct="0">
                  <a:spcBef>
                    <a:spcPct val="0"/>
                  </a:spcBef>
                  <a:spcAft>
                    <a:spcPct val="0"/>
                  </a:spcAft>
                </a:pPr>
                <a:r>
                  <a:rPr lang="en-US" altLang="zh-CN" sz="1600" dirty="0">
                    <a:latin typeface="微软雅黑" pitchFamily="34" charset="-122"/>
                    <a:ea typeface="微软雅黑" pitchFamily="34" charset="-122"/>
                  </a:rPr>
                  <a:t>IP </a:t>
                </a:r>
                <a:r>
                  <a:rPr lang="zh-CN" altLang="en-US" sz="1600" dirty="0">
                    <a:latin typeface="微软雅黑" pitchFamily="34" charset="-122"/>
                    <a:ea typeface="微软雅黑" pitchFamily="34" charset="-122"/>
                  </a:rPr>
                  <a:t>地址</a:t>
                </a:r>
              </a:p>
            </p:txBody>
          </p:sp>
          <p:sp>
            <p:nvSpPr>
              <p:cNvPr id="93" name="矩形标注 92"/>
              <p:cNvSpPr/>
              <p:nvPr/>
            </p:nvSpPr>
            <p:spPr bwMode="auto">
              <a:xfrm>
                <a:off x="8663546" y="3331464"/>
                <a:ext cx="1290911" cy="336293"/>
              </a:xfrm>
              <a:prstGeom prst="wedgeRectCallout">
                <a:avLst>
                  <a:gd name="adj1" fmla="val -64020"/>
                  <a:gd name="adj2" fmla="val 132276"/>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121917" tIns="60958" rIns="121917" bIns="60958" numCol="1" rtlCol="0" anchor="t" anchorCtr="0" compatLnSpc="1">
                <a:prstTxWarp prst="textNoShape">
                  <a:avLst/>
                </a:prstTxWarp>
              </a:bodyPr>
              <a:lstStyle/>
              <a:p>
                <a:pPr algn="ctr" defTabSz="1219170" eaLnBrk="0" fontAlgn="base" hangingPunct="0">
                  <a:spcBef>
                    <a:spcPct val="0"/>
                  </a:spcBef>
                  <a:spcAft>
                    <a:spcPct val="0"/>
                  </a:spcAft>
                </a:pPr>
                <a:r>
                  <a:rPr lang="en-US" altLang="zh-CN" sz="1600" dirty="0">
                    <a:latin typeface="微软雅黑" pitchFamily="34" charset="-122"/>
                    <a:ea typeface="微软雅黑" pitchFamily="34" charset="-122"/>
                  </a:rPr>
                  <a:t>MAC </a:t>
                </a:r>
                <a:r>
                  <a:rPr lang="zh-CN" altLang="en-US" sz="1600" dirty="0">
                    <a:latin typeface="微软雅黑" pitchFamily="34" charset="-122"/>
                    <a:ea typeface="微软雅黑" pitchFamily="34" charset="-122"/>
                  </a:rPr>
                  <a:t>地址</a:t>
                </a:r>
              </a:p>
            </p:txBody>
          </p:sp>
          <p:cxnSp>
            <p:nvCxnSpPr>
              <p:cNvPr id="94" name="直接箭头连接符 93"/>
              <p:cNvCxnSpPr/>
              <p:nvPr/>
            </p:nvCxnSpPr>
            <p:spPr bwMode="auto">
              <a:xfrm flipH="1">
                <a:off x="6489186" y="3667757"/>
                <a:ext cx="33863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直接箭头连接符 94"/>
              <p:cNvCxnSpPr/>
              <p:nvPr/>
            </p:nvCxnSpPr>
            <p:spPr bwMode="auto">
              <a:xfrm flipH="1">
                <a:off x="6489186" y="4015152"/>
                <a:ext cx="33863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6" name="椭圆 95"/>
              <p:cNvSpPr/>
              <p:nvPr/>
            </p:nvSpPr>
            <p:spPr bwMode="auto">
              <a:xfrm>
                <a:off x="5600115" y="4576565"/>
                <a:ext cx="1597805" cy="958683"/>
              </a:xfrm>
              <a:prstGeom prst="ellipse">
                <a:avLst/>
              </a:prstGeom>
              <a:solidFill>
                <a:srgbClr val="99FFCC"/>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21917" tIns="60958" rIns="121917" bIns="60958" numCol="1" rtlCol="0" anchor="ctr" anchorCtr="0" compatLnSpc="1">
                <a:prstTxWarp prst="textNoShape">
                  <a:avLst/>
                </a:prstTxWarp>
              </a:bodyPr>
              <a:lstStyle/>
              <a:p>
                <a:pPr algn="ctr" defTabSz="1219170" eaLnBrk="0" fontAlgn="base" hangingPunct="0">
                  <a:spcBef>
                    <a:spcPct val="0"/>
                  </a:spcBef>
                  <a:spcAft>
                    <a:spcPct val="0"/>
                  </a:spcAft>
                </a:pPr>
                <a:r>
                  <a:rPr lang="en-US" altLang="zh-CN" sz="1900" dirty="0">
                    <a:latin typeface="微软雅黑" pitchFamily="34" charset="-122"/>
                    <a:ea typeface="微软雅黑" pitchFamily="34" charset="-122"/>
                  </a:rPr>
                  <a:t>LAN</a:t>
                </a:r>
                <a:endParaRPr lang="zh-CN" altLang="en-US" sz="1900" dirty="0">
                  <a:latin typeface="微软雅黑" pitchFamily="34" charset="-122"/>
                  <a:ea typeface="微软雅黑" pitchFamily="34" charset="-122"/>
                </a:endParaRPr>
              </a:p>
            </p:txBody>
          </p:sp>
          <p:cxnSp>
            <p:nvCxnSpPr>
              <p:cNvPr id="98" name="直接连接符 97"/>
              <p:cNvCxnSpPr>
                <a:stCxn id="83" idx="1"/>
                <a:endCxn id="96" idx="6"/>
              </p:cNvCxnSpPr>
              <p:nvPr/>
            </p:nvCxnSpPr>
            <p:spPr bwMode="auto">
              <a:xfrm flipH="1" flipV="1">
                <a:off x="7197920" y="5055908"/>
                <a:ext cx="612784"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9" name="直接连接符 98"/>
              <p:cNvCxnSpPr>
                <a:endCxn id="96" idx="0"/>
              </p:cNvCxnSpPr>
              <p:nvPr/>
            </p:nvCxnSpPr>
            <p:spPr bwMode="auto">
              <a:xfrm>
                <a:off x="6399017" y="4242968"/>
                <a:ext cx="0" cy="33359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5" name="矩形 4"/>
            <p:cNvSpPr/>
            <p:nvPr/>
          </p:nvSpPr>
          <p:spPr>
            <a:xfrm>
              <a:off x="10027019" y="3058229"/>
              <a:ext cx="407484" cy="369332"/>
            </a:xfrm>
            <a:prstGeom prst="rect">
              <a:avLst/>
            </a:prstGeom>
          </p:spPr>
          <p:txBody>
            <a:bodyPr wrap="none">
              <a:spAutoFit/>
            </a:bodyPr>
            <a:lstStyle/>
            <a:p>
              <a:pPr algn="ctr"/>
              <a:r>
                <a:rPr lang="en-US" altLang="zh-CN" b="1" dirty="0">
                  <a:solidFill>
                    <a:srgbClr val="C00000"/>
                  </a:solidFill>
                  <a:latin typeface="微软雅黑" pitchFamily="34" charset="-122"/>
                  <a:ea typeface="微软雅黑" pitchFamily="34" charset="-122"/>
                </a:rPr>
                <a:t>B:</a:t>
              </a:r>
              <a:endParaRPr lang="zh-CN" altLang="en-US" b="1" dirty="0">
                <a:solidFill>
                  <a:srgbClr val="C00000"/>
                </a:solidFill>
                <a:latin typeface="微软雅黑" pitchFamily="34" charset="-122"/>
                <a:ea typeface="微软雅黑" pitchFamily="34" charset="-122"/>
              </a:endParaRPr>
            </a:p>
          </p:txBody>
        </p:sp>
        <p:sp>
          <p:nvSpPr>
            <p:cNvPr id="100" name="矩形 99"/>
            <p:cNvSpPr/>
            <p:nvPr/>
          </p:nvSpPr>
          <p:spPr>
            <a:xfrm>
              <a:off x="7919271" y="1603762"/>
              <a:ext cx="423514" cy="369332"/>
            </a:xfrm>
            <a:prstGeom prst="rect">
              <a:avLst/>
            </a:prstGeom>
          </p:spPr>
          <p:txBody>
            <a:bodyPr wrap="none">
              <a:spAutoFit/>
            </a:bodyPr>
            <a:lstStyle/>
            <a:p>
              <a:pPr algn="ctr"/>
              <a:r>
                <a:rPr lang="en-US" altLang="zh-CN" b="1" dirty="0">
                  <a:solidFill>
                    <a:srgbClr val="C00000"/>
                  </a:solidFill>
                  <a:latin typeface="微软雅黑" pitchFamily="34" charset="-122"/>
                  <a:ea typeface="微软雅黑" pitchFamily="34" charset="-122"/>
                </a:rPr>
                <a:t>A:</a:t>
              </a:r>
              <a:endParaRPr lang="zh-CN" altLang="en-US" b="1" dirty="0">
                <a:solidFill>
                  <a:srgbClr val="C00000"/>
                </a:solidFill>
                <a:latin typeface="微软雅黑" pitchFamily="34" charset="-122"/>
                <a:ea typeface="微软雅黑" pitchFamily="34" charset="-122"/>
              </a:endParaRPr>
            </a:p>
          </p:txBody>
        </p:sp>
      </p:grpSp>
      <p:grpSp>
        <p:nvGrpSpPr>
          <p:cNvPr id="102" name="Group 5"/>
          <p:cNvGrpSpPr>
            <a:grpSpLocks/>
          </p:cNvGrpSpPr>
          <p:nvPr/>
        </p:nvGrpSpPr>
        <p:grpSpPr bwMode="auto">
          <a:xfrm>
            <a:off x="896514" y="3179333"/>
            <a:ext cx="5597501" cy="1041398"/>
            <a:chOff x="297" y="3336"/>
            <a:chExt cx="2788" cy="805"/>
          </a:xfrm>
        </p:grpSpPr>
        <p:sp>
          <p:nvSpPr>
            <p:cNvPr id="103" name="Text Box 6"/>
            <p:cNvSpPr txBox="1">
              <a:spLocks noChangeArrowheads="1"/>
            </p:cNvSpPr>
            <p:nvPr/>
          </p:nvSpPr>
          <p:spPr bwMode="auto">
            <a:xfrm>
              <a:off x="370" y="3368"/>
              <a:ext cx="2715" cy="735"/>
            </a:xfrm>
            <a:prstGeom prst="rect">
              <a:avLst/>
            </a:prstGeom>
            <a:noFill/>
            <a:ln w="9525">
              <a:noFill/>
              <a:miter lim="800000"/>
              <a:headEnd/>
              <a:tailEnd/>
            </a:ln>
          </p:spPr>
          <p:txBody>
            <a:bodyPr wrap="square">
              <a:spAutoFit/>
            </a:bodyPr>
            <a:lstStyle/>
            <a:p>
              <a:pPr eaLnBrk="0" hangingPunct="0">
                <a:lnSpc>
                  <a:spcPts val="3500"/>
                </a:lnSpc>
              </a:pP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问题：给定</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的</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IP</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地址，如何获取</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的</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MAC</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地址？</a:t>
              </a:r>
              <a:endParaRPr kumimoji="0" lang="en-US" altLang="zh-CN" sz="2400" dirty="0">
                <a:solidFill>
                  <a:srgbClr val="C00000"/>
                </a:solidFill>
                <a:latin typeface="微软雅黑" pitchFamily="34" charset="-122"/>
                <a:ea typeface="微软雅黑" pitchFamily="34" charset="-122"/>
                <a:cs typeface="Times New Roman" panose="02020603050405020304" pitchFamily="18" charset="0"/>
              </a:endParaRPr>
            </a:p>
          </p:txBody>
        </p:sp>
        <p:sp>
          <p:nvSpPr>
            <p:cNvPr id="104" name="Rectangle 7"/>
            <p:cNvSpPr>
              <a:spLocks noChangeArrowheads="1"/>
            </p:cNvSpPr>
            <p:nvPr/>
          </p:nvSpPr>
          <p:spPr bwMode="auto">
            <a:xfrm>
              <a:off x="297" y="3336"/>
              <a:ext cx="2788" cy="805"/>
            </a:xfrm>
            <a:prstGeom prst="rect">
              <a:avLst/>
            </a:prstGeom>
            <a:noFill/>
            <a:ln w="28575">
              <a:solidFill>
                <a:srgbClr val="FF0000"/>
              </a:solid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Arial Unicode MS" pitchFamily="34" charset="-122"/>
                <a:ea typeface="Arial Unicode MS" pitchFamily="34" charset="-122"/>
                <a:cs typeface="Arial Unicode MS" pitchFamily="34" charset="-122"/>
              </a:endParaRPr>
            </a:p>
          </p:txBody>
        </p:sp>
      </p:grpSp>
      <p:sp>
        <p:nvSpPr>
          <p:cNvPr id="2" name="日期占位符 1"/>
          <p:cNvSpPr>
            <a:spLocks noGrp="1"/>
          </p:cNvSpPr>
          <p:nvPr>
            <p:ph type="dt" sz="half" idx="10"/>
          </p:nvPr>
        </p:nvSpPr>
        <p:spPr/>
        <p:txBody>
          <a:bodyPr/>
          <a:lstStyle/>
          <a:p>
            <a:r>
              <a:rPr kumimoji="1" lang="en-US" altLang="zh-CN" dirty="0"/>
              <a:t>5.6.4 ARP</a:t>
            </a:r>
            <a:endParaRPr kumimoji="1" lang="zh-CN" altLang="en-US" dirty="0"/>
          </a:p>
        </p:txBody>
      </p:sp>
      <p:pic>
        <p:nvPicPr>
          <p:cNvPr id="53" name="Picture 28" descr="015">
            <a:extLst>
              <a:ext uri="{FF2B5EF4-FFF2-40B4-BE49-F238E27FC236}">
                <a16:creationId xmlns:a16="http://schemas.microsoft.com/office/drawing/2014/main" id="{AEDE5EAB-29F1-4DA2-82F1-86E7A1799A3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09378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ARP</a:t>
            </a:r>
            <a:r>
              <a:rPr lang="zh-CN" altLang="en-US" dirty="0">
                <a:latin typeface="微软雅黑" pitchFamily="34" charset="-122"/>
                <a:ea typeface="微软雅黑" pitchFamily="34" charset="-122"/>
              </a:rPr>
              <a:t>地址解析协议</a:t>
            </a:r>
            <a:endParaRPr lang="zh-CN" altLang="en-US" dirty="0"/>
          </a:p>
        </p:txBody>
      </p:sp>
      <p:sp>
        <p:nvSpPr>
          <p:cNvPr id="3" name="内容占位符 2"/>
          <p:cNvSpPr>
            <a:spLocks noGrp="1"/>
          </p:cNvSpPr>
          <p:nvPr>
            <p:ph idx="1"/>
          </p:nvPr>
        </p:nvSpPr>
        <p:spPr/>
        <p:txBody>
          <a:bodyPr>
            <a:normAutofit/>
          </a:bodyPr>
          <a:lstStyle/>
          <a:p>
            <a:pPr>
              <a:lnSpc>
                <a:spcPct val="120000"/>
              </a:lnSpc>
            </a:pPr>
            <a:r>
              <a:rPr lang="en-US" altLang="zh-CN" sz="2400" dirty="0">
                <a:latin typeface="微软雅黑" pitchFamily="34" charset="-122"/>
                <a:ea typeface="微软雅黑" pitchFamily="34" charset="-122"/>
                <a:cs typeface="Times New Roman" panose="02020603050405020304" pitchFamily="18" charset="0"/>
              </a:rPr>
              <a:t>A</a:t>
            </a:r>
            <a:r>
              <a:rPr lang="zh-CN" altLang="en-US" sz="2400" dirty="0">
                <a:latin typeface="微软雅黑" pitchFamily="34" charset="-122"/>
                <a:ea typeface="微软雅黑" pitchFamily="34" charset="-122"/>
                <a:cs typeface="Times New Roman" panose="02020603050405020304" pitchFamily="18" charset="0"/>
              </a:rPr>
              <a:t>已知</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IP</a:t>
            </a:r>
            <a:r>
              <a:rPr lang="zh-CN" altLang="en-US" sz="2400" dirty="0">
                <a:latin typeface="微软雅黑" pitchFamily="34" charset="-122"/>
                <a:ea typeface="微软雅黑" pitchFamily="34" charset="-122"/>
                <a:cs typeface="Times New Roman" panose="02020603050405020304" pitchFamily="18" charset="0"/>
              </a:rPr>
              <a:t>地址，需要获得</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MAC</a:t>
            </a:r>
            <a:r>
              <a:rPr lang="zh-CN" altLang="en-US" sz="2400" dirty="0">
                <a:latin typeface="微软雅黑" pitchFamily="34" charset="-122"/>
                <a:ea typeface="微软雅黑" pitchFamily="34" charset="-122"/>
                <a:cs typeface="Times New Roman" panose="02020603050405020304" pitchFamily="18" charset="0"/>
              </a:rPr>
              <a:t>地址（物理地址）</a:t>
            </a:r>
            <a:endParaRPr lang="en-US" altLang="zh-CN" sz="2400" dirty="0">
              <a:latin typeface="微软雅黑" pitchFamily="34" charset="-122"/>
              <a:ea typeface="微软雅黑" pitchFamily="34" charset="-122"/>
              <a:cs typeface="Times New Roman" panose="02020603050405020304" pitchFamily="18" charset="0"/>
            </a:endParaRPr>
          </a:p>
          <a:p>
            <a:pPr>
              <a:lnSpc>
                <a:spcPct val="120000"/>
              </a:lnSpc>
              <a:buClr>
                <a:schemeClr val="tx1"/>
              </a:buClr>
              <a:buSzPct val="90000"/>
            </a:pPr>
            <a:r>
              <a:rPr lang="zh-CN" altLang="en-US" sz="2400" dirty="0">
                <a:latin typeface="微软雅黑" pitchFamily="34" charset="-122"/>
                <a:ea typeface="微软雅黑" pitchFamily="34" charset="-122"/>
                <a:cs typeface="Times New Roman" panose="02020603050405020304" pitchFamily="18" charset="0"/>
              </a:rPr>
              <a:t>如果</a:t>
            </a:r>
            <a:r>
              <a:rPr lang="en-US" altLang="zh-CN" sz="2400" dirty="0">
                <a:latin typeface="微软雅黑" pitchFamily="34" charset="-122"/>
                <a:ea typeface="微软雅黑" pitchFamily="34" charset="-122"/>
                <a:cs typeface="Times New Roman" panose="02020603050405020304" pitchFamily="18" charset="0"/>
              </a:rPr>
              <a:t>A</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ARP</a:t>
            </a:r>
            <a:r>
              <a:rPr lang="zh-CN" altLang="en-US" sz="2400" dirty="0">
                <a:latin typeface="微软雅黑" pitchFamily="34" charset="-122"/>
                <a:ea typeface="微软雅黑" pitchFamily="34" charset="-122"/>
                <a:cs typeface="Times New Roman" panose="02020603050405020304" pitchFamily="18" charset="0"/>
              </a:rPr>
              <a:t>表中缓存有</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IP</a:t>
            </a:r>
            <a:r>
              <a:rPr lang="zh-CN" altLang="en-US" sz="2400" dirty="0">
                <a:latin typeface="微软雅黑" pitchFamily="34" charset="-122"/>
                <a:ea typeface="微软雅黑" pitchFamily="34" charset="-122"/>
                <a:cs typeface="Times New Roman" panose="02020603050405020304" pitchFamily="18" charset="0"/>
              </a:rPr>
              <a:t>地址与</a:t>
            </a:r>
            <a:r>
              <a:rPr lang="en-US" altLang="zh-CN" sz="2400" dirty="0">
                <a:latin typeface="微软雅黑" pitchFamily="34" charset="-122"/>
                <a:ea typeface="微软雅黑" pitchFamily="34" charset="-122"/>
                <a:cs typeface="Times New Roman" panose="02020603050405020304" pitchFamily="18" charset="0"/>
              </a:rPr>
              <a:t>MAC</a:t>
            </a:r>
            <a:r>
              <a:rPr lang="zh-CN" altLang="en-US" sz="2400" dirty="0">
                <a:latin typeface="微软雅黑" pitchFamily="34" charset="-122"/>
                <a:ea typeface="微软雅黑" pitchFamily="34" charset="-122"/>
                <a:cs typeface="Times New Roman" panose="02020603050405020304" pitchFamily="18" charset="0"/>
              </a:rPr>
              <a:t>地址的映射关系，则直接从</a:t>
            </a:r>
            <a:r>
              <a:rPr lang="en-US" altLang="zh-CN" sz="2400" dirty="0">
                <a:latin typeface="微软雅黑" pitchFamily="34" charset="-122"/>
                <a:ea typeface="微软雅黑" pitchFamily="34" charset="-122"/>
                <a:cs typeface="Times New Roman" panose="02020603050405020304" pitchFamily="18" charset="0"/>
              </a:rPr>
              <a:t>ARP</a:t>
            </a:r>
            <a:r>
              <a:rPr lang="zh-CN" altLang="en-US" sz="2400" dirty="0">
                <a:latin typeface="微软雅黑" pitchFamily="34" charset="-122"/>
                <a:ea typeface="微软雅黑" pitchFamily="34" charset="-122"/>
                <a:cs typeface="Times New Roman" panose="02020603050405020304" pitchFamily="18" charset="0"/>
              </a:rPr>
              <a:t>表获取</a:t>
            </a:r>
            <a:endParaRPr lang="en-US" altLang="zh-CN" sz="2400" dirty="0">
              <a:latin typeface="微软雅黑" pitchFamily="34" charset="-122"/>
              <a:ea typeface="微软雅黑" pitchFamily="34" charset="-122"/>
              <a:cs typeface="Times New Roman" panose="02020603050405020304" pitchFamily="18" charset="0"/>
            </a:endParaRPr>
          </a:p>
          <a:p>
            <a:pPr>
              <a:lnSpc>
                <a:spcPct val="120000"/>
              </a:lnSpc>
              <a:buClr>
                <a:schemeClr val="tx1"/>
              </a:buClr>
              <a:buSzPct val="90000"/>
            </a:pPr>
            <a:r>
              <a:rPr lang="zh-CN" altLang="en-US" sz="2400" dirty="0">
                <a:latin typeface="微软雅黑" pitchFamily="34" charset="-122"/>
                <a:ea typeface="微软雅黑" pitchFamily="34" charset="-122"/>
              </a:rPr>
              <a:t>如果</a:t>
            </a:r>
            <a:r>
              <a:rPr lang="en-US" altLang="zh-CN" sz="2400" dirty="0">
                <a:latin typeface="微软雅黑" pitchFamily="34" charset="-122"/>
                <a:ea typeface="微软雅黑" pitchFamily="34" charset="-122"/>
              </a:rPr>
              <a:t>A</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ARP</a:t>
            </a:r>
            <a:r>
              <a:rPr lang="zh-CN" altLang="en-US" sz="2400" dirty="0">
                <a:latin typeface="微软雅黑" pitchFamily="34" charset="-122"/>
                <a:ea typeface="微软雅黑" pitchFamily="34" charset="-122"/>
              </a:rPr>
              <a:t>表中未缓存有</a:t>
            </a: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IP</a:t>
            </a:r>
            <a:r>
              <a:rPr lang="zh-CN" altLang="en-US" sz="2400" dirty="0">
                <a:latin typeface="微软雅黑" pitchFamily="34" charset="-122"/>
                <a:ea typeface="微软雅黑" pitchFamily="34" charset="-122"/>
              </a:rPr>
              <a:t>地址与</a:t>
            </a:r>
            <a:r>
              <a:rPr lang="en-US" altLang="zh-CN" sz="2400" dirty="0">
                <a:latin typeface="微软雅黑" pitchFamily="34" charset="-122"/>
                <a:ea typeface="微软雅黑" pitchFamily="34" charset="-122"/>
              </a:rPr>
              <a:t>MAC</a:t>
            </a:r>
            <a:r>
              <a:rPr lang="zh-CN" altLang="en-US" sz="2400" dirty="0">
                <a:latin typeface="微软雅黑" pitchFamily="34" charset="-122"/>
                <a:ea typeface="微软雅黑" pitchFamily="34" charset="-122"/>
              </a:rPr>
              <a:t>地址的映射关系，则</a:t>
            </a:r>
            <a:r>
              <a:rPr lang="en-US" altLang="zh-CN" sz="2400" dirty="0">
                <a:latin typeface="微软雅黑" pitchFamily="34" charset="-122"/>
                <a:ea typeface="微软雅黑" pitchFamily="34" charset="-122"/>
              </a:rPr>
              <a:t>A</a:t>
            </a:r>
            <a:r>
              <a:rPr lang="zh-CN" altLang="en-US" sz="2400" dirty="0">
                <a:latin typeface="微软雅黑" pitchFamily="34" charset="-122"/>
                <a:ea typeface="微软雅黑" pitchFamily="34" charset="-122"/>
              </a:rPr>
              <a:t>广播包含</a:t>
            </a: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IP</a:t>
            </a:r>
            <a:r>
              <a:rPr lang="zh-CN" altLang="en-US" sz="2400" dirty="0">
                <a:latin typeface="微软雅黑" pitchFamily="34" charset="-122"/>
                <a:ea typeface="微软雅黑" pitchFamily="34" charset="-122"/>
              </a:rPr>
              <a:t>地址的</a:t>
            </a:r>
            <a:r>
              <a:rPr lang="en-US" altLang="zh-CN" sz="2400" dirty="0">
                <a:latin typeface="微软雅黑" pitchFamily="34" charset="-122"/>
                <a:ea typeface="微软雅黑" pitchFamily="34" charset="-122"/>
              </a:rPr>
              <a:t>ARP query</a:t>
            </a:r>
            <a:r>
              <a:rPr lang="zh-CN" altLang="en-US" sz="2400" dirty="0">
                <a:latin typeface="微软雅黑" pitchFamily="34" charset="-122"/>
                <a:ea typeface="微软雅黑" pitchFamily="34" charset="-122"/>
              </a:rPr>
              <a:t>分组</a:t>
            </a:r>
            <a:endParaRPr lang="en-US" altLang="zh-CN" sz="2400" dirty="0">
              <a:latin typeface="微软雅黑" pitchFamily="34" charset="-122"/>
              <a:ea typeface="微软雅黑" pitchFamily="34" charset="-122"/>
            </a:endParaRPr>
          </a:p>
          <a:p>
            <a:pPr lvl="1">
              <a:lnSpc>
                <a:spcPct val="120000"/>
              </a:lnSpc>
              <a:buClr>
                <a:schemeClr val="tx1"/>
              </a:buClr>
            </a:pPr>
            <a:r>
              <a:rPr lang="zh-CN" altLang="en-US" sz="2200" dirty="0">
                <a:latin typeface="微软雅黑" pitchFamily="34" charset="-122"/>
                <a:ea typeface="微软雅黑" pitchFamily="34" charset="-122"/>
                <a:cs typeface="Times New Roman" panose="02020603050405020304" pitchFamily="18" charset="0"/>
              </a:rPr>
              <a:t>在局域网上的所有节点都可以接收到</a:t>
            </a:r>
            <a:r>
              <a:rPr lang="en-US" altLang="zh-CN" sz="2200" dirty="0">
                <a:latin typeface="微软雅黑" pitchFamily="34" charset="-122"/>
                <a:ea typeface="微软雅黑" pitchFamily="34" charset="-122"/>
                <a:cs typeface="Times New Roman" panose="02020603050405020304" pitchFamily="18" charset="0"/>
              </a:rPr>
              <a:t>ARP query</a:t>
            </a:r>
          </a:p>
          <a:p>
            <a:pPr>
              <a:lnSpc>
                <a:spcPct val="120000"/>
              </a:lnSpc>
              <a:buSzPct val="90000"/>
            </a:pP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接收到</a:t>
            </a:r>
            <a:r>
              <a:rPr lang="en-US" altLang="zh-CN" sz="2400" dirty="0">
                <a:latin typeface="微软雅黑" pitchFamily="34" charset="-122"/>
                <a:ea typeface="微软雅黑" pitchFamily="34" charset="-122"/>
              </a:rPr>
              <a:t>ARP query</a:t>
            </a:r>
            <a:r>
              <a:rPr lang="zh-CN" altLang="en-US" sz="2400" dirty="0">
                <a:latin typeface="微软雅黑" pitchFamily="34" charset="-122"/>
                <a:ea typeface="微软雅黑" pitchFamily="34" charset="-122"/>
              </a:rPr>
              <a:t>分组后，将自己的</a:t>
            </a:r>
            <a:r>
              <a:rPr lang="en-US" altLang="zh-CN" sz="2400" dirty="0">
                <a:latin typeface="微软雅黑" pitchFamily="34" charset="-122"/>
                <a:ea typeface="微软雅黑" pitchFamily="34" charset="-122"/>
              </a:rPr>
              <a:t>MAC</a:t>
            </a:r>
            <a:r>
              <a:rPr lang="zh-CN" altLang="en-US" sz="2400" dirty="0">
                <a:latin typeface="微软雅黑" pitchFamily="34" charset="-122"/>
                <a:ea typeface="微软雅黑" pitchFamily="34" charset="-122"/>
              </a:rPr>
              <a:t>地址发送给</a:t>
            </a:r>
            <a:r>
              <a:rPr lang="en-US" altLang="zh-CN" sz="2400" dirty="0">
                <a:latin typeface="微软雅黑" pitchFamily="34" charset="-122"/>
                <a:ea typeface="微软雅黑" pitchFamily="34" charset="-122"/>
              </a:rPr>
              <a:t>A</a:t>
            </a:r>
          </a:p>
          <a:p>
            <a:pPr>
              <a:lnSpc>
                <a:spcPct val="120000"/>
              </a:lnSpc>
              <a:buSzPct val="90000"/>
            </a:pPr>
            <a:r>
              <a:rPr lang="en-US" altLang="zh-CN" sz="2400" dirty="0">
                <a:latin typeface="微软雅黑" pitchFamily="34" charset="-122"/>
                <a:ea typeface="微软雅黑" pitchFamily="34" charset="-122"/>
              </a:rPr>
              <a:t>A</a:t>
            </a:r>
            <a:r>
              <a:rPr lang="zh-CN" altLang="en-US" sz="2400" dirty="0">
                <a:latin typeface="微软雅黑" pitchFamily="34" charset="-122"/>
                <a:ea typeface="微软雅黑" pitchFamily="34" charset="-122"/>
              </a:rPr>
              <a:t>在</a:t>
            </a:r>
            <a:r>
              <a:rPr lang="en-US" altLang="zh-CN" sz="2400" dirty="0">
                <a:latin typeface="微软雅黑" pitchFamily="34" charset="-122"/>
                <a:ea typeface="微软雅黑" pitchFamily="34" charset="-122"/>
              </a:rPr>
              <a:t>ARP</a:t>
            </a:r>
            <a:r>
              <a:rPr lang="zh-CN" altLang="en-US" sz="2400" dirty="0">
                <a:latin typeface="微软雅黑" pitchFamily="34" charset="-122"/>
                <a:ea typeface="微软雅黑" pitchFamily="34" charset="-122"/>
              </a:rPr>
              <a:t>表中缓存</a:t>
            </a: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IP</a:t>
            </a:r>
            <a:r>
              <a:rPr lang="zh-CN" altLang="en-US" sz="2400" dirty="0">
                <a:latin typeface="微软雅黑" pitchFamily="34" charset="-122"/>
                <a:ea typeface="微软雅黑" pitchFamily="34" charset="-122"/>
              </a:rPr>
              <a:t>地址和</a:t>
            </a:r>
            <a:r>
              <a:rPr lang="en-US" altLang="zh-CN" sz="2400" dirty="0">
                <a:latin typeface="微软雅黑" pitchFamily="34" charset="-122"/>
                <a:ea typeface="微软雅黑" pitchFamily="34" charset="-122"/>
              </a:rPr>
              <a:t>MAC</a:t>
            </a:r>
            <a:r>
              <a:rPr lang="zh-CN" altLang="en-US" sz="2400" dirty="0">
                <a:latin typeface="微软雅黑" pitchFamily="34" charset="-122"/>
                <a:ea typeface="微软雅黑" pitchFamily="34" charset="-122"/>
              </a:rPr>
              <a:t>地址的映射关系</a:t>
            </a:r>
            <a:endParaRPr lang="en-US" altLang="zh-CN" sz="2400" dirty="0">
              <a:latin typeface="微软雅黑" pitchFamily="34" charset="-122"/>
              <a:ea typeface="微软雅黑" pitchFamily="34" charset="-122"/>
            </a:endParaRPr>
          </a:p>
          <a:p>
            <a:pPr lvl="1">
              <a:lnSpc>
                <a:spcPct val="120000"/>
              </a:lnSpc>
              <a:buClr>
                <a:schemeClr val="tx1"/>
              </a:buClr>
            </a:pPr>
            <a:r>
              <a:rPr lang="zh-CN" altLang="en-US" sz="2200" dirty="0">
                <a:latin typeface="微软雅黑" pitchFamily="34" charset="-122"/>
                <a:ea typeface="微软雅黑" pitchFamily="34" charset="-122"/>
                <a:cs typeface="Times New Roman" panose="02020603050405020304" pitchFamily="18" charset="0"/>
              </a:rPr>
              <a:t>超时时删除</a:t>
            </a:r>
            <a:endParaRPr lang="en-US" altLang="zh-CN" sz="2200" dirty="0">
              <a:latin typeface="微软雅黑" pitchFamily="34" charset="-122"/>
              <a:ea typeface="微软雅黑" pitchFamily="34"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141</a:t>
            </a:fld>
            <a:endParaRPr kumimoji="1" lang="zh-CN" altLang="en-US" dirty="0"/>
          </a:p>
        </p:txBody>
      </p:sp>
      <p:sp>
        <p:nvSpPr>
          <p:cNvPr id="31" name="文本框 1">
            <a:extLst>
              <a:ext uri="{FF2B5EF4-FFF2-40B4-BE49-F238E27FC236}">
                <a16:creationId xmlns:a16="http://schemas.microsoft.com/office/drawing/2014/main" id="{98876DDD-50E1-4EE3-AF28-4B63AA61B7C7}"/>
              </a:ext>
            </a:extLst>
          </p:cNvPr>
          <p:cNvSpPr txBox="1"/>
          <p:nvPr/>
        </p:nvSpPr>
        <p:spPr>
          <a:xfrm>
            <a:off x="5290223" y="5522040"/>
            <a:ext cx="2973243" cy="430887"/>
          </a:xfrm>
          <a:prstGeom prst="rect">
            <a:avLst/>
          </a:prstGeom>
          <a:solidFill>
            <a:schemeClr val="bg1"/>
          </a:solidFill>
        </p:spPr>
        <p:txBody>
          <a:bodyPr wrap="square">
            <a:spAutoFit/>
          </a:bodyPr>
          <a:lstStyle/>
          <a:p>
            <a:r>
              <a:rPr lang="zh-CN" altLang="en-US" sz="2200" dirty="0">
                <a:solidFill>
                  <a:srgbClr val="C00000"/>
                </a:solidFill>
                <a:latin typeface="微软雅黑" pitchFamily="34" charset="-122"/>
                <a:ea typeface="微软雅黑" pitchFamily="34" charset="-122"/>
                <a:cs typeface="Times New Roman" panose="02020603050405020304" pitchFamily="18" charset="0"/>
              </a:rPr>
              <a:t>思考：</a:t>
            </a:r>
            <a:r>
              <a:rPr lang="en-US" altLang="zh-CN" sz="2200" dirty="0">
                <a:solidFill>
                  <a:srgbClr val="C00000"/>
                </a:solidFill>
                <a:latin typeface="微软雅黑" pitchFamily="34" charset="-122"/>
                <a:ea typeface="微软雅黑" pitchFamily="34" charset="-122"/>
                <a:cs typeface="Times New Roman" panose="02020603050405020304" pitchFamily="18" charset="0"/>
              </a:rPr>
              <a:t>ARP</a:t>
            </a:r>
            <a:r>
              <a:rPr lang="zh-CN" altLang="en-US" sz="2200" dirty="0">
                <a:solidFill>
                  <a:srgbClr val="C00000"/>
                </a:solidFill>
                <a:latin typeface="微软雅黑" pitchFamily="34" charset="-122"/>
                <a:ea typeface="微软雅黑" pitchFamily="34" charset="-122"/>
                <a:cs typeface="Times New Roman" panose="02020603050405020304" pitchFamily="18" charset="0"/>
              </a:rPr>
              <a:t>的优化策略</a:t>
            </a:r>
            <a:r>
              <a:rPr lang="zh-CN" altLang="en-US" sz="2200" dirty="0">
                <a:solidFill>
                  <a:srgbClr val="FF0000"/>
                </a:solidFill>
                <a:latin typeface="微软雅黑" pitchFamily="34" charset="-122"/>
                <a:ea typeface="微软雅黑" pitchFamily="34" charset="-122"/>
                <a:cs typeface="Times New Roman" panose="02020603050405020304" pitchFamily="18" charset="0"/>
              </a:rPr>
              <a:t>？</a:t>
            </a:r>
          </a:p>
        </p:txBody>
      </p:sp>
      <p:sp>
        <p:nvSpPr>
          <p:cNvPr id="5" name="日期占位符 4"/>
          <p:cNvSpPr>
            <a:spLocks noGrp="1"/>
          </p:cNvSpPr>
          <p:nvPr>
            <p:ph type="dt" sz="half" idx="10"/>
          </p:nvPr>
        </p:nvSpPr>
        <p:spPr/>
        <p:txBody>
          <a:bodyPr/>
          <a:lstStyle/>
          <a:p>
            <a:r>
              <a:rPr kumimoji="1" lang="en-US" altLang="zh-CN" dirty="0"/>
              <a:t>5.6.4 ARP</a:t>
            </a:r>
            <a:endParaRPr kumimoji="1" lang="zh-CN" altLang="en-US" dirty="0"/>
          </a:p>
        </p:txBody>
      </p:sp>
      <p:pic>
        <p:nvPicPr>
          <p:cNvPr id="7" name="Picture 28" descr="015">
            <a:extLst>
              <a:ext uri="{FF2B5EF4-FFF2-40B4-BE49-F238E27FC236}">
                <a16:creationId xmlns:a16="http://schemas.microsoft.com/office/drawing/2014/main" id="{DC0DAEFE-E4A1-4C04-A40B-C2455178355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16418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down)">
                                      <p:cBhvr>
                                        <p:cTn id="3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ARP</a:t>
            </a:r>
            <a:r>
              <a:rPr lang="zh-CN" altLang="en-US" dirty="0"/>
              <a:t>协议工作过程</a:t>
            </a:r>
            <a:endParaRPr lang="zh-CN" altLang="en-US" sz="32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142</a:t>
            </a:fld>
            <a:endParaRPr kumimoji="1" lang="zh-CN" altLang="en-US" dirty="0"/>
          </a:p>
        </p:txBody>
      </p:sp>
      <p:sp>
        <p:nvSpPr>
          <p:cNvPr id="71" name="Line 74"/>
          <p:cNvSpPr>
            <a:spLocks noChangeShapeType="1"/>
          </p:cNvSpPr>
          <p:nvPr/>
        </p:nvSpPr>
        <p:spPr bwMode="auto">
          <a:xfrm rot="5400000">
            <a:off x="4421661" y="529888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2" name="Line 75"/>
          <p:cNvSpPr>
            <a:spLocks noChangeShapeType="1"/>
          </p:cNvSpPr>
          <p:nvPr/>
        </p:nvSpPr>
        <p:spPr bwMode="auto">
          <a:xfrm rot="5400000">
            <a:off x="6186484" y="5291827"/>
            <a:ext cx="47606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3" name="Line 76"/>
          <p:cNvSpPr>
            <a:spLocks noChangeShapeType="1"/>
          </p:cNvSpPr>
          <p:nvPr/>
        </p:nvSpPr>
        <p:spPr bwMode="auto">
          <a:xfrm rot="5400000">
            <a:off x="7703758" y="529888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4" name="Line 77"/>
          <p:cNvSpPr>
            <a:spLocks noChangeShapeType="1"/>
          </p:cNvSpPr>
          <p:nvPr/>
        </p:nvSpPr>
        <p:spPr bwMode="auto">
          <a:xfrm rot="5400000">
            <a:off x="9492856" y="529888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5" name="Line 78"/>
          <p:cNvSpPr>
            <a:spLocks noChangeShapeType="1"/>
          </p:cNvSpPr>
          <p:nvPr/>
        </p:nvSpPr>
        <p:spPr bwMode="auto">
          <a:xfrm rot="5400000">
            <a:off x="3276193" y="5298886"/>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6" name="Line 8"/>
          <p:cNvSpPr>
            <a:spLocks noChangeShapeType="1"/>
          </p:cNvSpPr>
          <p:nvPr/>
        </p:nvSpPr>
        <p:spPr bwMode="auto">
          <a:xfrm rot="5400000">
            <a:off x="6166167" y="2906057"/>
            <a:ext cx="476065"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7" name="Line 9"/>
          <p:cNvSpPr>
            <a:spLocks noChangeShapeType="1"/>
          </p:cNvSpPr>
          <p:nvPr/>
        </p:nvSpPr>
        <p:spPr bwMode="auto">
          <a:xfrm rot="5400000">
            <a:off x="7683441"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8" name="Line 10"/>
          <p:cNvSpPr>
            <a:spLocks noChangeShapeType="1"/>
          </p:cNvSpPr>
          <p:nvPr/>
        </p:nvSpPr>
        <p:spPr bwMode="auto">
          <a:xfrm rot="5400000">
            <a:off x="9472537"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9" name="Line 11"/>
          <p:cNvSpPr>
            <a:spLocks noChangeShapeType="1"/>
          </p:cNvSpPr>
          <p:nvPr/>
        </p:nvSpPr>
        <p:spPr bwMode="auto">
          <a:xfrm rot="5400000">
            <a:off x="3255876"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80" name="Line 16"/>
          <p:cNvSpPr>
            <a:spLocks noChangeShapeType="1"/>
          </p:cNvSpPr>
          <p:nvPr/>
        </p:nvSpPr>
        <p:spPr bwMode="auto">
          <a:xfrm>
            <a:off x="2826004" y="2675726"/>
            <a:ext cx="7516435" cy="1668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81" name="Text Box 56"/>
          <p:cNvSpPr txBox="1">
            <a:spLocks noChangeArrowheads="1"/>
          </p:cNvSpPr>
          <p:nvPr/>
        </p:nvSpPr>
        <p:spPr bwMode="auto">
          <a:xfrm>
            <a:off x="7886080" y="2770680"/>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209.0.0.6</a:t>
            </a:r>
          </a:p>
        </p:txBody>
      </p:sp>
      <p:grpSp>
        <p:nvGrpSpPr>
          <p:cNvPr id="82" name="组合 81"/>
          <p:cNvGrpSpPr/>
          <p:nvPr/>
        </p:nvGrpSpPr>
        <p:grpSpPr>
          <a:xfrm>
            <a:off x="3211893" y="3016412"/>
            <a:ext cx="6720993" cy="539449"/>
            <a:chOff x="2456122" y="1949511"/>
            <a:chExt cx="5040745" cy="404587"/>
          </a:xfrm>
        </p:grpSpPr>
        <p:pic>
          <p:nvPicPr>
            <p:cNvPr id="8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8" name="组合 87"/>
          <p:cNvGrpSpPr/>
          <p:nvPr/>
        </p:nvGrpSpPr>
        <p:grpSpPr>
          <a:xfrm>
            <a:off x="3211893" y="5422527"/>
            <a:ext cx="6720993" cy="539449"/>
            <a:chOff x="2456122" y="1949511"/>
            <a:chExt cx="5040745" cy="404587"/>
          </a:xfrm>
        </p:grpSpPr>
        <p:pic>
          <p:nvPicPr>
            <p:cNvPr id="8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4" name="Group 94"/>
          <p:cNvGrpSpPr>
            <a:grpSpLocks/>
          </p:cNvGrpSpPr>
          <p:nvPr/>
        </p:nvGrpSpPr>
        <p:grpSpPr bwMode="auto">
          <a:xfrm>
            <a:off x="6071425" y="4584143"/>
            <a:ext cx="1392911" cy="338764"/>
            <a:chOff x="249" y="627"/>
            <a:chExt cx="1002" cy="264"/>
          </a:xfrm>
          <a:solidFill>
            <a:srgbClr val="00FFFF"/>
          </a:solidFill>
        </p:grpSpPr>
        <p:sp>
          <p:nvSpPr>
            <p:cNvPr id="95"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96" name="Text Box 96"/>
            <p:cNvSpPr txBox="1">
              <a:spLocks noChangeArrowheads="1"/>
            </p:cNvSpPr>
            <p:nvPr/>
          </p:nvSpPr>
          <p:spPr bwMode="auto">
            <a:xfrm flipH="1">
              <a:off x="386" y="627"/>
              <a:ext cx="865" cy="264"/>
            </a:xfrm>
            <a:prstGeom prst="rect">
              <a:avLst/>
            </a:prstGeom>
            <a:grpFill/>
            <a:ln w="12700">
              <a:solidFill>
                <a:schemeClr val="tx1"/>
              </a:solidFill>
              <a:miter lim="800000"/>
              <a:headEnd/>
              <a:tailEnd/>
            </a:ln>
            <a:effectLst/>
          </p:spPr>
          <p:txBody>
            <a:bodyPr>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相应</a:t>
              </a:r>
            </a:p>
          </p:txBody>
        </p:sp>
      </p:grpSp>
      <p:sp>
        <p:nvSpPr>
          <p:cNvPr id="97" name="Line 7"/>
          <p:cNvSpPr>
            <a:spLocks noChangeShapeType="1"/>
          </p:cNvSpPr>
          <p:nvPr/>
        </p:nvSpPr>
        <p:spPr bwMode="auto">
          <a:xfrm rot="5400000">
            <a:off x="4401342"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98" name="Text Box 17"/>
          <p:cNvSpPr txBox="1">
            <a:spLocks noChangeArrowheads="1"/>
          </p:cNvSpPr>
          <p:nvPr/>
        </p:nvSpPr>
        <p:spPr bwMode="auto">
          <a:xfrm>
            <a:off x="4812500" y="3088916"/>
            <a:ext cx="400103"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A</a:t>
            </a:r>
          </a:p>
        </p:txBody>
      </p:sp>
      <p:sp>
        <p:nvSpPr>
          <p:cNvPr id="99" name="Text Box 18"/>
          <p:cNvSpPr txBox="1">
            <a:spLocks noChangeArrowheads="1"/>
          </p:cNvSpPr>
          <p:nvPr/>
        </p:nvSpPr>
        <p:spPr bwMode="auto">
          <a:xfrm>
            <a:off x="6554332" y="2988825"/>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Y</a:t>
            </a:r>
          </a:p>
        </p:txBody>
      </p:sp>
      <p:sp>
        <p:nvSpPr>
          <p:cNvPr id="100" name="Text Box 19"/>
          <p:cNvSpPr txBox="1">
            <a:spLocks noChangeArrowheads="1"/>
          </p:cNvSpPr>
          <p:nvPr/>
        </p:nvSpPr>
        <p:spPr bwMode="auto">
          <a:xfrm>
            <a:off x="3650350" y="2988825"/>
            <a:ext cx="39048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X</a:t>
            </a:r>
          </a:p>
        </p:txBody>
      </p:sp>
      <p:sp>
        <p:nvSpPr>
          <p:cNvPr id="101" name="Text Box 20"/>
          <p:cNvSpPr txBox="1">
            <a:spLocks noChangeArrowheads="1"/>
          </p:cNvSpPr>
          <p:nvPr/>
        </p:nvSpPr>
        <p:spPr bwMode="auto">
          <a:xfrm>
            <a:off x="8077915" y="3088916"/>
            <a:ext cx="387279"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B</a:t>
            </a:r>
          </a:p>
        </p:txBody>
      </p:sp>
      <p:sp>
        <p:nvSpPr>
          <p:cNvPr id="102" name="Text Box 21"/>
          <p:cNvSpPr txBox="1">
            <a:spLocks noChangeArrowheads="1"/>
          </p:cNvSpPr>
          <p:nvPr/>
        </p:nvSpPr>
        <p:spPr bwMode="auto">
          <a:xfrm>
            <a:off x="9872572" y="2988825"/>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Z</a:t>
            </a:r>
          </a:p>
        </p:txBody>
      </p:sp>
      <p:sp>
        <p:nvSpPr>
          <p:cNvPr id="103" name="Text Box 45"/>
          <p:cNvSpPr txBox="1">
            <a:spLocks noChangeArrowheads="1"/>
          </p:cNvSpPr>
          <p:nvPr/>
        </p:nvSpPr>
        <p:spPr bwMode="auto">
          <a:xfrm>
            <a:off x="1251731" y="3907294"/>
            <a:ext cx="2809423" cy="787904"/>
          </a:xfrm>
          <a:prstGeom prst="rect">
            <a:avLst/>
          </a:prstGeom>
          <a:solidFill>
            <a:schemeClr val="bg1"/>
          </a:solidFill>
          <a:ln w="9525">
            <a:solidFill>
              <a:schemeClr val="tx2"/>
            </a:solidFill>
            <a:miter lim="800000"/>
            <a:headEnd/>
            <a:tailEnd/>
          </a:ln>
          <a:effectLst/>
        </p:spPr>
        <p:txBody>
          <a:bodyPr wrap="square" lIns="121917" tIns="60958" rIns="121917" bIns="60958">
            <a:spAutoFit/>
          </a:bodyPr>
          <a:lstStyle/>
          <a:p>
            <a:pPr algn="ctr">
              <a:lnSpc>
                <a:spcPct val="90000"/>
              </a:lnSpc>
            </a:pPr>
            <a:r>
              <a:rPr kumimoji="1" lang="zh-CN" altLang="en-US" sz="2400" dirty="0">
                <a:solidFill>
                  <a:srgbClr val="C00000"/>
                </a:solidFill>
                <a:latin typeface="微软雅黑" pitchFamily="34" charset="-122"/>
                <a:ea typeface="微软雅黑" pitchFamily="34" charset="-122"/>
              </a:rPr>
              <a:t>主机</a:t>
            </a:r>
            <a:r>
              <a:rPr kumimoji="1" lang="en-US" altLang="zh-CN" sz="2400" dirty="0">
                <a:solidFill>
                  <a:srgbClr val="C00000"/>
                </a:solidFill>
                <a:latin typeface="微软雅黑" pitchFamily="34" charset="-122"/>
                <a:ea typeface="微软雅黑" pitchFamily="34" charset="-122"/>
              </a:rPr>
              <a:t>B</a:t>
            </a:r>
            <a:r>
              <a:rPr kumimoji="1" lang="zh-CN" altLang="en-US" sz="2400" dirty="0">
                <a:solidFill>
                  <a:srgbClr val="C00000"/>
                </a:solidFill>
                <a:latin typeface="微软雅黑" pitchFamily="34" charset="-122"/>
                <a:ea typeface="微软雅黑" pitchFamily="34" charset="-122"/>
              </a:rPr>
              <a:t>向</a:t>
            </a:r>
            <a:r>
              <a:rPr kumimoji="1" lang="en-US" altLang="zh-CN" sz="2400" dirty="0">
                <a:solidFill>
                  <a:srgbClr val="C00000"/>
                </a:solidFill>
                <a:latin typeface="微软雅黑" pitchFamily="34" charset="-122"/>
                <a:ea typeface="微软雅黑" pitchFamily="34" charset="-122"/>
              </a:rPr>
              <a:t>A</a:t>
            </a:r>
            <a:r>
              <a:rPr kumimoji="1" lang="zh-CN" altLang="en-US" sz="2400" dirty="0">
                <a:solidFill>
                  <a:srgbClr val="C00000"/>
                </a:solidFill>
                <a:latin typeface="微软雅黑" pitchFamily="34" charset="-122"/>
                <a:ea typeface="微软雅黑" pitchFamily="34" charset="-122"/>
              </a:rPr>
              <a:t>单播发送</a:t>
            </a:r>
            <a:r>
              <a:rPr kumimoji="1" lang="en-US" altLang="zh-CN" sz="2400" dirty="0">
                <a:solidFill>
                  <a:srgbClr val="C00000"/>
                </a:solidFill>
                <a:latin typeface="微软雅黑" pitchFamily="34" charset="-122"/>
                <a:ea typeface="微软雅黑" pitchFamily="34" charset="-122"/>
              </a:rPr>
              <a:t>ARP </a:t>
            </a:r>
            <a:r>
              <a:rPr kumimoji="1" lang="zh-CN" altLang="en-US" sz="2400" dirty="0">
                <a:solidFill>
                  <a:srgbClr val="C00000"/>
                </a:solidFill>
                <a:latin typeface="微软雅黑" pitchFamily="34" charset="-122"/>
                <a:ea typeface="微软雅黑" pitchFamily="34" charset="-122"/>
              </a:rPr>
              <a:t>响应分组 </a:t>
            </a:r>
          </a:p>
        </p:txBody>
      </p:sp>
      <p:sp>
        <p:nvSpPr>
          <p:cNvPr id="104" name="Text Box 46"/>
          <p:cNvSpPr txBox="1">
            <a:spLocks noChangeArrowheads="1"/>
          </p:cNvSpPr>
          <p:nvPr/>
        </p:nvSpPr>
        <p:spPr bwMode="auto">
          <a:xfrm>
            <a:off x="1252800" y="1408350"/>
            <a:ext cx="2492023" cy="787904"/>
          </a:xfrm>
          <a:prstGeom prst="rect">
            <a:avLst/>
          </a:prstGeom>
          <a:solidFill>
            <a:schemeClr val="bg1"/>
          </a:solidFill>
          <a:ln w="9525">
            <a:solidFill>
              <a:schemeClr val="tx2"/>
            </a:solidFill>
            <a:miter lim="800000"/>
            <a:headEnd/>
            <a:tailEnd/>
          </a:ln>
          <a:effectLst/>
        </p:spPr>
        <p:txBody>
          <a:bodyPr wrap="none" lIns="121917" tIns="60958" rIns="121917" bIns="60958">
            <a:spAutoFit/>
          </a:bodyPr>
          <a:lstStyle/>
          <a:p>
            <a:pPr algn="ctr">
              <a:lnSpc>
                <a:spcPct val="90000"/>
              </a:lnSpc>
            </a:pPr>
            <a:r>
              <a:rPr kumimoji="1" lang="zh-CN" altLang="en-US" sz="2400" dirty="0">
                <a:solidFill>
                  <a:srgbClr val="C00000"/>
                </a:solidFill>
                <a:latin typeface="微软雅黑" pitchFamily="34" charset="-122"/>
                <a:ea typeface="微软雅黑" pitchFamily="34" charset="-122"/>
              </a:rPr>
              <a:t>主机 </a:t>
            </a:r>
            <a:r>
              <a:rPr kumimoji="1" lang="en-US" altLang="zh-CN" sz="2400" dirty="0">
                <a:solidFill>
                  <a:srgbClr val="C00000"/>
                </a:solidFill>
                <a:latin typeface="微软雅黑" pitchFamily="34" charset="-122"/>
                <a:ea typeface="微软雅黑" pitchFamily="34" charset="-122"/>
              </a:rPr>
              <a:t>A </a:t>
            </a:r>
            <a:r>
              <a:rPr kumimoji="1" lang="zh-CN" altLang="en-US" sz="2400" dirty="0">
                <a:solidFill>
                  <a:srgbClr val="C00000"/>
                </a:solidFill>
                <a:latin typeface="微软雅黑" pitchFamily="34" charset="-122"/>
                <a:ea typeface="微软雅黑" pitchFamily="34" charset="-122"/>
              </a:rPr>
              <a:t>广播发送</a:t>
            </a:r>
          </a:p>
          <a:p>
            <a:pPr algn="ctr">
              <a:lnSpc>
                <a:spcPct val="90000"/>
              </a:lnSpc>
            </a:pPr>
            <a:r>
              <a:rPr kumimoji="1" lang="en-US" altLang="zh-CN" sz="2400" dirty="0">
                <a:solidFill>
                  <a:srgbClr val="C00000"/>
                </a:solidFill>
                <a:latin typeface="微软雅黑" pitchFamily="34" charset="-122"/>
                <a:ea typeface="微软雅黑" pitchFamily="34" charset="-122"/>
              </a:rPr>
              <a:t>ARP </a:t>
            </a:r>
            <a:r>
              <a:rPr kumimoji="1" lang="zh-CN" altLang="en-US" sz="2400" dirty="0">
                <a:solidFill>
                  <a:srgbClr val="C00000"/>
                </a:solidFill>
                <a:latin typeface="微软雅黑" pitchFamily="34" charset="-122"/>
                <a:ea typeface="微软雅黑" pitchFamily="34" charset="-122"/>
              </a:rPr>
              <a:t>请求分组 </a:t>
            </a:r>
          </a:p>
        </p:txBody>
      </p:sp>
      <p:sp>
        <p:nvSpPr>
          <p:cNvPr id="105" name="Text Box 48"/>
          <p:cNvSpPr txBox="1">
            <a:spLocks noChangeArrowheads="1"/>
          </p:cNvSpPr>
          <p:nvPr/>
        </p:nvSpPr>
        <p:spPr bwMode="auto">
          <a:xfrm>
            <a:off x="4883635" y="2235588"/>
            <a:ext cx="1150315" cy="369332"/>
          </a:xfrm>
          <a:prstGeom prst="rect">
            <a:avLst/>
          </a:prstGeom>
          <a:solidFill>
            <a:srgbClr val="99FFCC"/>
          </a:solidFill>
          <a:ln w="12700">
            <a:solidFill>
              <a:schemeClr val="tx1"/>
            </a:solidFill>
            <a:miter lim="800000"/>
            <a:headEnd/>
            <a:tailEnd/>
          </a:ln>
          <a:effectLst/>
        </p:spPr>
        <p:txBody>
          <a:bodyPr wrap="none" lIns="121917" tIns="60958" rIns="121917" bIns="60958">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请求</a:t>
            </a:r>
          </a:p>
        </p:txBody>
      </p:sp>
      <p:sp>
        <p:nvSpPr>
          <p:cNvPr id="106" name="AutoShape 49"/>
          <p:cNvSpPr>
            <a:spLocks noChangeArrowheads="1"/>
          </p:cNvSpPr>
          <p:nvPr/>
        </p:nvSpPr>
        <p:spPr bwMode="auto">
          <a:xfrm>
            <a:off x="6197070" y="2313863"/>
            <a:ext cx="190448" cy="165532"/>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107" name="Text Box 50"/>
          <p:cNvSpPr txBox="1">
            <a:spLocks noChangeArrowheads="1"/>
          </p:cNvSpPr>
          <p:nvPr/>
        </p:nvSpPr>
        <p:spPr bwMode="auto">
          <a:xfrm>
            <a:off x="6568475" y="2235588"/>
            <a:ext cx="1150315" cy="369332"/>
          </a:xfrm>
          <a:prstGeom prst="rect">
            <a:avLst/>
          </a:prstGeom>
          <a:solidFill>
            <a:srgbClr val="99FFCC"/>
          </a:solidFill>
          <a:ln w="12700">
            <a:solidFill>
              <a:schemeClr val="tx1"/>
            </a:solidFill>
            <a:miter lim="800000"/>
            <a:headEnd/>
            <a:tailEnd/>
          </a:ln>
          <a:effectLst/>
        </p:spPr>
        <p:txBody>
          <a:bodyPr wrap="none" lIns="121917" tIns="60958" rIns="121917" bIns="60958">
            <a:spAutoFit/>
          </a:bodyPr>
          <a:lstStyle/>
          <a:p>
            <a:pPr algn="ctr"/>
            <a:r>
              <a:rPr kumimoji="1" lang="en-US" altLang="zh-CN" sz="1600" b="1">
                <a:latin typeface="微软雅黑" pitchFamily="34" charset="-122"/>
                <a:ea typeface="微软雅黑" pitchFamily="34" charset="-122"/>
              </a:rPr>
              <a:t>ARP </a:t>
            </a:r>
            <a:r>
              <a:rPr kumimoji="1" lang="zh-CN" altLang="en-US" sz="1600" b="1">
                <a:latin typeface="微软雅黑" pitchFamily="34" charset="-122"/>
                <a:ea typeface="微软雅黑" pitchFamily="34" charset="-122"/>
              </a:rPr>
              <a:t>请求</a:t>
            </a:r>
          </a:p>
        </p:txBody>
      </p:sp>
      <p:sp>
        <p:nvSpPr>
          <p:cNvPr id="108" name="AutoShape 51"/>
          <p:cNvSpPr>
            <a:spLocks noChangeArrowheads="1"/>
          </p:cNvSpPr>
          <p:nvPr/>
        </p:nvSpPr>
        <p:spPr bwMode="auto">
          <a:xfrm>
            <a:off x="7855494" y="2334393"/>
            <a:ext cx="190448" cy="17836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109" name="Text Box 52"/>
          <p:cNvSpPr txBox="1">
            <a:spLocks noChangeArrowheads="1"/>
          </p:cNvSpPr>
          <p:nvPr/>
        </p:nvSpPr>
        <p:spPr bwMode="auto">
          <a:xfrm>
            <a:off x="8219948" y="2235588"/>
            <a:ext cx="1150315" cy="369332"/>
          </a:xfrm>
          <a:prstGeom prst="rect">
            <a:avLst/>
          </a:prstGeom>
          <a:solidFill>
            <a:srgbClr val="99FFCC"/>
          </a:solidFill>
          <a:ln w="12700">
            <a:solidFill>
              <a:schemeClr val="tx1"/>
            </a:solidFill>
            <a:miter lim="800000"/>
            <a:headEnd/>
            <a:tailEnd/>
          </a:ln>
          <a:effectLst/>
        </p:spPr>
        <p:txBody>
          <a:bodyPr wrap="none" lIns="121917" tIns="60958" rIns="121917" bIns="60958">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请求</a:t>
            </a:r>
          </a:p>
        </p:txBody>
      </p:sp>
      <p:sp>
        <p:nvSpPr>
          <p:cNvPr id="110" name="AutoShape 53"/>
          <p:cNvSpPr>
            <a:spLocks noChangeArrowheads="1"/>
          </p:cNvSpPr>
          <p:nvPr/>
        </p:nvSpPr>
        <p:spPr bwMode="auto">
          <a:xfrm>
            <a:off x="9525042" y="2304879"/>
            <a:ext cx="190448" cy="178365"/>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grpSp>
        <p:nvGrpSpPr>
          <p:cNvPr id="111" name="Group 93"/>
          <p:cNvGrpSpPr>
            <a:grpSpLocks/>
          </p:cNvGrpSpPr>
          <p:nvPr/>
        </p:nvGrpSpPr>
        <p:grpSpPr bwMode="auto">
          <a:xfrm>
            <a:off x="3172146" y="2245854"/>
            <a:ext cx="1392911" cy="338764"/>
            <a:chOff x="249" y="663"/>
            <a:chExt cx="1002" cy="264"/>
          </a:xfrm>
          <a:solidFill>
            <a:srgbClr val="99FFCC"/>
          </a:solidFill>
        </p:grpSpPr>
        <p:sp>
          <p:nvSpPr>
            <p:cNvPr id="112"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13" name="Text Box 54"/>
            <p:cNvSpPr txBox="1">
              <a:spLocks noChangeArrowheads="1"/>
            </p:cNvSpPr>
            <p:nvPr/>
          </p:nvSpPr>
          <p:spPr bwMode="auto">
            <a:xfrm flipH="1">
              <a:off x="386" y="663"/>
              <a:ext cx="865" cy="264"/>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请求</a:t>
              </a:r>
            </a:p>
          </p:txBody>
        </p:sp>
      </p:grpSp>
      <p:sp>
        <p:nvSpPr>
          <p:cNvPr id="114" name="Text Box 55"/>
          <p:cNvSpPr txBox="1">
            <a:spLocks noChangeArrowheads="1"/>
          </p:cNvSpPr>
          <p:nvPr/>
        </p:nvSpPr>
        <p:spPr bwMode="auto">
          <a:xfrm>
            <a:off x="4670709" y="2856655"/>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209.0.0.5</a:t>
            </a:r>
          </a:p>
        </p:txBody>
      </p:sp>
      <p:sp>
        <p:nvSpPr>
          <p:cNvPr id="115" name="Text Box 57"/>
          <p:cNvSpPr txBox="1">
            <a:spLocks noChangeArrowheads="1"/>
          </p:cNvSpPr>
          <p:nvPr/>
        </p:nvSpPr>
        <p:spPr bwMode="auto">
          <a:xfrm>
            <a:off x="3543985" y="3474155"/>
            <a:ext cx="228524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00-00-C0-15-AD-18</a:t>
            </a:r>
          </a:p>
        </p:txBody>
      </p:sp>
      <p:sp>
        <p:nvSpPr>
          <p:cNvPr id="116" name="Text Box 58"/>
          <p:cNvSpPr txBox="1">
            <a:spLocks noChangeArrowheads="1"/>
          </p:cNvSpPr>
          <p:nvPr/>
        </p:nvSpPr>
        <p:spPr bwMode="auto">
          <a:xfrm>
            <a:off x="6934186" y="5941615"/>
            <a:ext cx="22339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08-00-2B-00-EE-0A</a:t>
            </a:r>
          </a:p>
        </p:txBody>
      </p:sp>
      <p:sp>
        <p:nvSpPr>
          <p:cNvPr id="117" name="AutoShape 59"/>
          <p:cNvSpPr>
            <a:spLocks noChangeArrowheads="1"/>
          </p:cNvSpPr>
          <p:nvPr/>
        </p:nvSpPr>
        <p:spPr bwMode="auto">
          <a:xfrm>
            <a:off x="5496445" y="1399901"/>
            <a:ext cx="4934663" cy="574111"/>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lIns="121917" tIns="60958" rIns="121917" bIns="60958"/>
          <a:lstStyle/>
          <a:p>
            <a:pPr algn="ctr"/>
            <a:endParaRPr kumimoji="1" lang="zh-CN" altLang="zh-CN" sz="1600" b="1">
              <a:solidFill>
                <a:srgbClr val="0000CC"/>
              </a:solidFill>
              <a:latin typeface="微软雅黑" pitchFamily="34" charset="-122"/>
              <a:ea typeface="微软雅黑" pitchFamily="34" charset="-122"/>
            </a:endParaRPr>
          </a:p>
        </p:txBody>
      </p:sp>
      <p:sp>
        <p:nvSpPr>
          <p:cNvPr id="118" name="Text Box 60"/>
          <p:cNvSpPr txBox="1">
            <a:spLocks noChangeArrowheads="1"/>
          </p:cNvSpPr>
          <p:nvPr/>
        </p:nvSpPr>
        <p:spPr bwMode="auto">
          <a:xfrm>
            <a:off x="5571070" y="1375760"/>
            <a:ext cx="4933039" cy="677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dirty="0">
                <a:latin typeface="微软雅黑" pitchFamily="34" charset="-122"/>
                <a:ea typeface="微软雅黑" pitchFamily="34" charset="-122"/>
              </a:rPr>
              <a:t>我是 </a:t>
            </a:r>
            <a:r>
              <a:rPr kumimoji="1" lang="en-US" altLang="zh-CN" dirty="0">
                <a:latin typeface="微软雅黑" pitchFamily="34" charset="-122"/>
                <a:ea typeface="微软雅黑" pitchFamily="34" charset="-122"/>
              </a:rPr>
              <a:t>209.0.0.5</a:t>
            </a:r>
            <a:r>
              <a:rPr kumimoji="1" lang="zh-CN" altLang="en-US" dirty="0">
                <a:latin typeface="微软雅黑" pitchFamily="34" charset="-122"/>
                <a:ea typeface="微软雅黑" pitchFamily="34" charset="-122"/>
              </a:rPr>
              <a:t>，硬件地址是 </a:t>
            </a:r>
            <a:r>
              <a:rPr kumimoji="1" lang="en-US" altLang="zh-CN" dirty="0">
                <a:latin typeface="微软雅黑" pitchFamily="34" charset="-122"/>
                <a:ea typeface="微软雅黑" pitchFamily="34" charset="-122"/>
              </a:rPr>
              <a:t>00-00-C0-15-AD-18</a:t>
            </a:r>
            <a:r>
              <a:rPr kumimoji="1" lang="zh-CN" altLang="en-US" dirty="0">
                <a:latin typeface="微软雅黑" pitchFamily="34" charset="-122"/>
                <a:ea typeface="微软雅黑" pitchFamily="34" charset="-122"/>
              </a:rPr>
              <a:t>，我想知道主机 </a:t>
            </a:r>
            <a:r>
              <a:rPr kumimoji="1" lang="en-US" altLang="zh-CN" dirty="0">
                <a:latin typeface="微软雅黑" pitchFamily="34" charset="-122"/>
                <a:ea typeface="微软雅黑" pitchFamily="34" charset="-122"/>
              </a:rPr>
              <a:t>209.0.0.6 </a:t>
            </a:r>
            <a:r>
              <a:rPr kumimoji="1" lang="zh-CN" altLang="en-US" dirty="0">
                <a:latin typeface="微软雅黑" pitchFamily="34" charset="-122"/>
                <a:ea typeface="微软雅黑" pitchFamily="34" charset="-122"/>
              </a:rPr>
              <a:t>的硬件地址</a:t>
            </a:r>
          </a:p>
        </p:txBody>
      </p:sp>
      <p:sp>
        <p:nvSpPr>
          <p:cNvPr id="119" name="AutoShape 61"/>
          <p:cNvSpPr>
            <a:spLocks noChangeArrowheads="1"/>
          </p:cNvSpPr>
          <p:nvPr/>
        </p:nvSpPr>
        <p:spPr bwMode="auto">
          <a:xfrm>
            <a:off x="7083440" y="3934847"/>
            <a:ext cx="3408599" cy="587704"/>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lIns="121917" tIns="60958" rIns="121917" bIns="60958"/>
          <a:lstStyle/>
          <a:p>
            <a:pPr algn="ctr"/>
            <a:endParaRPr kumimoji="1" lang="zh-CN" altLang="zh-CN" sz="1600" b="1">
              <a:solidFill>
                <a:srgbClr val="0000CC"/>
              </a:solidFill>
              <a:latin typeface="微软雅黑" pitchFamily="34" charset="-122"/>
              <a:ea typeface="微软雅黑" pitchFamily="34" charset="-122"/>
            </a:endParaRPr>
          </a:p>
        </p:txBody>
      </p:sp>
      <p:sp>
        <p:nvSpPr>
          <p:cNvPr id="120" name="Text Box 62"/>
          <p:cNvSpPr txBox="1">
            <a:spLocks noChangeArrowheads="1"/>
          </p:cNvSpPr>
          <p:nvPr/>
        </p:nvSpPr>
        <p:spPr bwMode="auto">
          <a:xfrm>
            <a:off x="7187327" y="3934847"/>
            <a:ext cx="3412768" cy="677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spAutoFit/>
          </a:bodyPr>
          <a:lstStyle/>
          <a:p>
            <a:r>
              <a:rPr kumimoji="1" lang="zh-CN" altLang="en-US" dirty="0">
                <a:latin typeface="微软雅黑" pitchFamily="34" charset="-122"/>
                <a:ea typeface="微软雅黑" pitchFamily="34" charset="-122"/>
              </a:rPr>
              <a:t>我是 </a:t>
            </a:r>
            <a:r>
              <a:rPr kumimoji="1" lang="en-US" altLang="zh-CN" dirty="0">
                <a:latin typeface="微软雅黑" pitchFamily="34" charset="-122"/>
                <a:ea typeface="微软雅黑" pitchFamily="34" charset="-122"/>
              </a:rPr>
              <a:t>209.0.0.6</a:t>
            </a:r>
            <a:r>
              <a:rPr kumimoji="1" lang="zh-CN" altLang="en-US" dirty="0">
                <a:latin typeface="微软雅黑" pitchFamily="34" charset="-122"/>
                <a:ea typeface="微软雅黑" pitchFamily="34" charset="-122"/>
              </a:rPr>
              <a:t>，硬件地址是 </a:t>
            </a:r>
            <a:r>
              <a:rPr kumimoji="1" lang="en-US" altLang="zh-CN" dirty="0">
                <a:latin typeface="微软雅黑" pitchFamily="34" charset="-122"/>
                <a:ea typeface="微软雅黑" pitchFamily="34" charset="-122"/>
              </a:rPr>
              <a:t>08-00-2B-00-EE-0A</a:t>
            </a:r>
          </a:p>
        </p:txBody>
      </p:sp>
      <p:sp>
        <p:nvSpPr>
          <p:cNvPr id="121" name="Line 83"/>
          <p:cNvSpPr>
            <a:spLocks noChangeShapeType="1"/>
          </p:cNvSpPr>
          <p:nvPr/>
        </p:nvSpPr>
        <p:spPr bwMode="auto">
          <a:xfrm>
            <a:off x="2846323" y="5061494"/>
            <a:ext cx="7516433" cy="1668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22" name="Text Box 84"/>
          <p:cNvSpPr txBox="1">
            <a:spLocks noChangeArrowheads="1"/>
          </p:cNvSpPr>
          <p:nvPr/>
        </p:nvSpPr>
        <p:spPr bwMode="auto">
          <a:xfrm>
            <a:off x="4832819" y="5474684"/>
            <a:ext cx="400103"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A</a:t>
            </a:r>
          </a:p>
        </p:txBody>
      </p:sp>
      <p:sp>
        <p:nvSpPr>
          <p:cNvPr id="123" name="Text Box 85"/>
          <p:cNvSpPr txBox="1">
            <a:spLocks noChangeArrowheads="1"/>
          </p:cNvSpPr>
          <p:nvPr/>
        </p:nvSpPr>
        <p:spPr bwMode="auto">
          <a:xfrm>
            <a:off x="6574652" y="5374593"/>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Y</a:t>
            </a:r>
          </a:p>
        </p:txBody>
      </p:sp>
      <p:sp>
        <p:nvSpPr>
          <p:cNvPr id="124" name="Text Box 86"/>
          <p:cNvSpPr txBox="1">
            <a:spLocks noChangeArrowheads="1"/>
          </p:cNvSpPr>
          <p:nvPr/>
        </p:nvSpPr>
        <p:spPr bwMode="auto">
          <a:xfrm>
            <a:off x="3670669" y="5374593"/>
            <a:ext cx="39048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X</a:t>
            </a:r>
          </a:p>
        </p:txBody>
      </p:sp>
      <p:sp>
        <p:nvSpPr>
          <p:cNvPr id="125" name="Text Box 87"/>
          <p:cNvSpPr txBox="1">
            <a:spLocks noChangeArrowheads="1"/>
          </p:cNvSpPr>
          <p:nvPr/>
        </p:nvSpPr>
        <p:spPr bwMode="auto">
          <a:xfrm>
            <a:off x="8098234" y="5474684"/>
            <a:ext cx="387279"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B</a:t>
            </a:r>
          </a:p>
        </p:txBody>
      </p:sp>
      <p:sp>
        <p:nvSpPr>
          <p:cNvPr id="126" name="Text Box 88"/>
          <p:cNvSpPr txBox="1">
            <a:spLocks noChangeArrowheads="1"/>
          </p:cNvSpPr>
          <p:nvPr/>
        </p:nvSpPr>
        <p:spPr bwMode="auto">
          <a:xfrm>
            <a:off x="9892894" y="5374593"/>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Z</a:t>
            </a:r>
          </a:p>
        </p:txBody>
      </p:sp>
      <p:sp>
        <p:nvSpPr>
          <p:cNvPr id="127" name="Text Box 89"/>
          <p:cNvSpPr txBox="1">
            <a:spLocks noChangeArrowheads="1"/>
          </p:cNvSpPr>
          <p:nvPr/>
        </p:nvSpPr>
        <p:spPr bwMode="auto">
          <a:xfrm>
            <a:off x="4691026" y="5242425"/>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latin typeface="微软雅黑" pitchFamily="34" charset="-122"/>
                <a:ea typeface="微软雅黑" pitchFamily="34" charset="-122"/>
              </a:rPr>
              <a:t>209.0.0.5</a:t>
            </a:r>
          </a:p>
        </p:txBody>
      </p:sp>
      <p:sp>
        <p:nvSpPr>
          <p:cNvPr id="128" name="Text Box 91"/>
          <p:cNvSpPr txBox="1">
            <a:spLocks noChangeArrowheads="1"/>
          </p:cNvSpPr>
          <p:nvPr/>
        </p:nvSpPr>
        <p:spPr bwMode="auto">
          <a:xfrm>
            <a:off x="3453496" y="5968563"/>
            <a:ext cx="228524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00-00-C0-15-AD-18</a:t>
            </a:r>
          </a:p>
        </p:txBody>
      </p:sp>
      <p:sp>
        <p:nvSpPr>
          <p:cNvPr id="129" name="Freeform 97"/>
          <p:cNvSpPr>
            <a:spLocks/>
          </p:cNvSpPr>
          <p:nvPr/>
        </p:nvSpPr>
        <p:spPr bwMode="auto">
          <a:xfrm>
            <a:off x="4623442" y="2738600"/>
            <a:ext cx="1701520"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0" name="Freeform 98"/>
          <p:cNvSpPr>
            <a:spLocks/>
          </p:cNvSpPr>
          <p:nvPr/>
        </p:nvSpPr>
        <p:spPr bwMode="auto">
          <a:xfrm>
            <a:off x="4622052" y="2738600"/>
            <a:ext cx="3216761"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1" name="Freeform 101"/>
          <p:cNvSpPr>
            <a:spLocks/>
          </p:cNvSpPr>
          <p:nvPr/>
        </p:nvSpPr>
        <p:spPr bwMode="auto">
          <a:xfrm>
            <a:off x="4622052" y="2738600"/>
            <a:ext cx="5108729"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2" name="Freeform 102"/>
          <p:cNvSpPr>
            <a:spLocks/>
          </p:cNvSpPr>
          <p:nvPr/>
        </p:nvSpPr>
        <p:spPr bwMode="auto">
          <a:xfrm flipH="1">
            <a:off x="3425150" y="2738600"/>
            <a:ext cx="1196901"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3" name="Freeform 103"/>
          <p:cNvSpPr>
            <a:spLocks/>
          </p:cNvSpPr>
          <p:nvPr/>
        </p:nvSpPr>
        <p:spPr bwMode="auto">
          <a:xfrm flipH="1">
            <a:off x="4624299" y="5125654"/>
            <a:ext cx="3216761"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cxnSp>
        <p:nvCxnSpPr>
          <p:cNvPr id="134" name="直接连接符 133"/>
          <p:cNvCxnSpPr/>
          <p:nvPr/>
        </p:nvCxnSpPr>
        <p:spPr>
          <a:xfrm>
            <a:off x="922867" y="3794978"/>
            <a:ext cx="10058400"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135" name="Text Box 90"/>
          <p:cNvSpPr txBox="1">
            <a:spLocks noChangeArrowheads="1"/>
          </p:cNvSpPr>
          <p:nvPr/>
        </p:nvSpPr>
        <p:spPr bwMode="auto">
          <a:xfrm>
            <a:off x="7906396" y="5156451"/>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latin typeface="微软雅黑" pitchFamily="34" charset="-122"/>
                <a:ea typeface="微软雅黑" pitchFamily="34" charset="-122"/>
              </a:rPr>
              <a:t>209.0.0.6</a:t>
            </a:r>
          </a:p>
        </p:txBody>
      </p:sp>
      <p:sp>
        <p:nvSpPr>
          <p:cNvPr id="3" name="日期占位符 2"/>
          <p:cNvSpPr>
            <a:spLocks noGrp="1"/>
          </p:cNvSpPr>
          <p:nvPr>
            <p:ph type="dt" sz="half" idx="10"/>
          </p:nvPr>
        </p:nvSpPr>
        <p:spPr/>
        <p:txBody>
          <a:bodyPr/>
          <a:lstStyle/>
          <a:p>
            <a:r>
              <a:rPr kumimoji="1" lang="en-US" altLang="zh-CN" dirty="0"/>
              <a:t>5.6.4 ARP</a:t>
            </a:r>
            <a:endParaRPr kumimoji="1" lang="zh-CN" altLang="en-US" dirty="0"/>
          </a:p>
        </p:txBody>
      </p:sp>
      <p:pic>
        <p:nvPicPr>
          <p:cNvPr id="70" name="Picture 28" descr="015">
            <a:extLst>
              <a:ext uri="{FF2B5EF4-FFF2-40B4-BE49-F238E27FC236}">
                <a16:creationId xmlns:a16="http://schemas.microsoft.com/office/drawing/2014/main" id="{B63C42C2-CA1D-4825-9EBD-A7BA064D4C5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90580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04"/>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2" fill="hold" grpId="0" nodeType="afterEffect">
                                  <p:stCondLst>
                                    <p:cond delay="250"/>
                                  </p:stCondLst>
                                  <p:childTnLst>
                                    <p:set>
                                      <p:cBhvr>
                                        <p:cTn id="9" dur="1" fill="hold">
                                          <p:stCondLst>
                                            <p:cond delay="0"/>
                                          </p:stCondLst>
                                        </p:cTn>
                                        <p:tgtEl>
                                          <p:spTgt spid="132"/>
                                        </p:tgtEl>
                                        <p:attrNameLst>
                                          <p:attrName>style.visibility</p:attrName>
                                        </p:attrNameLst>
                                      </p:cBhvr>
                                      <p:to>
                                        <p:strVal val="visible"/>
                                      </p:to>
                                    </p:set>
                                    <p:animEffect transition="in" filter="wipe(right)">
                                      <p:cBhvr>
                                        <p:cTn id="10" dur="1000"/>
                                        <p:tgtEl>
                                          <p:spTgt spid="132"/>
                                        </p:tgtEl>
                                      </p:cBhvr>
                                    </p:animEffect>
                                  </p:childTnLst>
                                </p:cTn>
                              </p:par>
                              <p:par>
                                <p:cTn id="11" presetID="22" presetClass="entr" presetSubtype="8" fill="hold" grpId="0" nodeType="withEffect">
                                  <p:stCondLst>
                                    <p:cond delay="250"/>
                                  </p:stCondLst>
                                  <p:childTnLst>
                                    <p:set>
                                      <p:cBhvr>
                                        <p:cTn id="12" dur="1" fill="hold">
                                          <p:stCondLst>
                                            <p:cond delay="0"/>
                                          </p:stCondLst>
                                        </p:cTn>
                                        <p:tgtEl>
                                          <p:spTgt spid="129"/>
                                        </p:tgtEl>
                                        <p:attrNameLst>
                                          <p:attrName>style.visibility</p:attrName>
                                        </p:attrNameLst>
                                      </p:cBhvr>
                                      <p:to>
                                        <p:strVal val="visible"/>
                                      </p:to>
                                    </p:set>
                                    <p:animEffect transition="in" filter="wipe(left)">
                                      <p:cBhvr>
                                        <p:cTn id="13" dur="1000"/>
                                        <p:tgtEl>
                                          <p:spTgt spid="129"/>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130"/>
                                        </p:tgtEl>
                                        <p:attrNameLst>
                                          <p:attrName>style.visibility</p:attrName>
                                        </p:attrNameLst>
                                      </p:cBhvr>
                                      <p:to>
                                        <p:strVal val="visible"/>
                                      </p:to>
                                    </p:set>
                                    <p:animEffect transition="in" filter="wipe(left)">
                                      <p:cBhvr>
                                        <p:cTn id="16" dur="1250"/>
                                        <p:tgtEl>
                                          <p:spTgt spid="130"/>
                                        </p:tgtEl>
                                      </p:cBhvr>
                                    </p:animEffect>
                                  </p:childTnLst>
                                </p:cTn>
                              </p:par>
                              <p:par>
                                <p:cTn id="17" presetID="22" presetClass="entr" presetSubtype="8" fill="hold" grpId="0" nodeType="withEffect">
                                  <p:stCondLst>
                                    <p:cond delay="250"/>
                                  </p:stCondLst>
                                  <p:childTnLst>
                                    <p:set>
                                      <p:cBhvr>
                                        <p:cTn id="18" dur="1" fill="hold">
                                          <p:stCondLst>
                                            <p:cond delay="0"/>
                                          </p:stCondLst>
                                        </p:cTn>
                                        <p:tgtEl>
                                          <p:spTgt spid="131"/>
                                        </p:tgtEl>
                                        <p:attrNameLst>
                                          <p:attrName>style.visibility</p:attrName>
                                        </p:attrNameLst>
                                      </p:cBhvr>
                                      <p:to>
                                        <p:strVal val="visible"/>
                                      </p:to>
                                    </p:set>
                                    <p:animEffect transition="in" filter="wipe(left)">
                                      <p:cBhvr>
                                        <p:cTn id="19" dur="1500"/>
                                        <p:tgtEl>
                                          <p:spTgt spid="131"/>
                                        </p:tgtEl>
                                      </p:cBhvr>
                                    </p:animEffect>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3000" fill="hold" grpId="0" nodeType="clickEffect">
                                  <p:stCondLst>
                                    <p:cond delay="0"/>
                                  </p:stCondLst>
                                  <p:childTnLst>
                                    <p:anim calcmode="discrete" valueType="str">
                                      <p:cBhvr>
                                        <p:cTn id="23" dur="1000" fill="hold"/>
                                        <p:tgtEl>
                                          <p:spTgt spid="103"/>
                                        </p:tgtEl>
                                        <p:attrNameLst>
                                          <p:attrName>style.visibility</p:attrName>
                                        </p:attrNameLst>
                                      </p:cBhvr>
                                      <p:tavLst>
                                        <p:tav tm="0">
                                          <p:val>
                                            <p:strVal val="hidden"/>
                                          </p:val>
                                        </p:tav>
                                        <p:tav tm="50000">
                                          <p:val>
                                            <p:strVal val="visible"/>
                                          </p:val>
                                        </p:tav>
                                      </p:tavLst>
                                    </p:anim>
                                  </p:childTnLst>
                                </p:cTn>
                              </p:par>
                            </p:childTnLst>
                          </p:cTn>
                        </p:par>
                        <p:par>
                          <p:cTn id="24" fill="hold">
                            <p:stCondLst>
                              <p:cond delay="3000"/>
                            </p:stCondLst>
                            <p:childTnLst>
                              <p:par>
                                <p:cTn id="25" presetID="22" presetClass="entr" presetSubtype="2" fill="hold" grpId="0" nodeType="afterEffect">
                                  <p:stCondLst>
                                    <p:cond delay="250"/>
                                  </p:stCondLst>
                                  <p:childTnLst>
                                    <p:set>
                                      <p:cBhvr>
                                        <p:cTn id="26" dur="1" fill="hold">
                                          <p:stCondLst>
                                            <p:cond delay="0"/>
                                          </p:stCondLst>
                                        </p:cTn>
                                        <p:tgtEl>
                                          <p:spTgt spid="133"/>
                                        </p:tgtEl>
                                        <p:attrNameLst>
                                          <p:attrName>style.visibility</p:attrName>
                                        </p:attrNameLst>
                                      </p:cBhvr>
                                      <p:to>
                                        <p:strVal val="visible"/>
                                      </p:to>
                                    </p:set>
                                    <p:animEffect transition="in" filter="wipe(right)">
                                      <p:cBhvr>
                                        <p:cTn id="27" dur="1250"/>
                                        <p:tgtEl>
                                          <p:spTgt spid="133"/>
                                        </p:tgtEl>
                                      </p:cBhvr>
                                    </p:animEffect>
                                  </p:childTnLst>
                                </p:cTn>
                              </p:par>
                            </p:childTnLst>
                          </p:cTn>
                        </p:par>
                        <p:par>
                          <p:cTn id="28" fill="hold">
                            <p:stCondLst>
                              <p:cond delay="4500"/>
                            </p:stCondLst>
                            <p:childTnLst>
                              <p:par>
                                <p:cTn id="29" presetID="35" presetClass="emph" presetSubtype="0" repeatCount="3000" fill="hold" grpId="0" nodeType="afterEffect">
                                  <p:stCondLst>
                                    <p:cond delay="250"/>
                                  </p:stCondLst>
                                  <p:childTnLst>
                                    <p:anim calcmode="discrete" valueType="str">
                                      <p:cBhvr>
                                        <p:cTn id="3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16" grpId="0"/>
      <p:bldP spid="129" grpId="0" animBg="1"/>
      <p:bldP spid="130" grpId="0" animBg="1"/>
      <p:bldP spid="131" grpId="0" animBg="1"/>
      <p:bldP spid="132" grpId="0" animBg="1"/>
      <p:bldP spid="133"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latin typeface="微软雅黑" pitchFamily="34" charset="-122"/>
                <a:ea typeface="微软雅黑" pitchFamily="34" charset="-122"/>
                <a:cs typeface="Times New Roman" panose="02020603050405020304" pitchFamily="18" charset="0"/>
              </a:rPr>
              <a:t>路由到另一个局域网</a:t>
            </a:r>
            <a:endParaRPr lang="zh-CN" altLang="en-US" dirty="0"/>
          </a:p>
        </p:txBody>
      </p:sp>
      <p:sp>
        <p:nvSpPr>
          <p:cNvPr id="4" name="日期占位符 3"/>
          <p:cNvSpPr>
            <a:spLocks noGrp="1"/>
          </p:cNvSpPr>
          <p:nvPr>
            <p:ph type="dt" sz="half" idx="10"/>
          </p:nvPr>
        </p:nvSpPr>
        <p:spPr/>
        <p:txBody>
          <a:bodyPr/>
          <a:lstStyle/>
          <a:p>
            <a:r>
              <a:rPr kumimoji="1" lang="en-US" altLang="zh-CN" dirty="0"/>
              <a:t>5.6.4 ARP</a:t>
            </a:r>
            <a:endParaRPr kumimoji="1" lang="zh-CN" altLang="en-US"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143</a:t>
            </a:fld>
            <a:endParaRPr kumimoji="1" lang="zh-CN" altLang="en-US" dirty="0"/>
          </a:p>
        </p:txBody>
      </p:sp>
      <p:sp>
        <p:nvSpPr>
          <p:cNvPr id="6" name="内容占位符 2"/>
          <p:cNvSpPr txBox="1">
            <a:spLocks/>
          </p:cNvSpPr>
          <p:nvPr/>
        </p:nvSpPr>
        <p:spPr>
          <a:xfrm>
            <a:off x="838200" y="1510758"/>
            <a:ext cx="5587530" cy="2160452"/>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创建</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数据包（源为</a:t>
            </a: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、目的为</a:t>
            </a:r>
            <a:r>
              <a:rPr lang="en-US" altLang="zh-CN" sz="2000" dirty="0">
                <a:latin typeface="微软雅黑" pitchFamily="34" charset="-122"/>
                <a:ea typeface="微软雅黑" pitchFamily="34" charset="-122"/>
                <a:cs typeface="Times New Roman" panose="02020603050405020304" pitchFamily="18" charset="0"/>
              </a:rPr>
              <a:t>E</a:t>
            </a:r>
            <a:r>
              <a:rPr lang="zh-CN" altLang="en-US" sz="2000" dirty="0">
                <a:latin typeface="微软雅黑" pitchFamily="34" charset="-122"/>
                <a:ea typeface="微软雅黑" pitchFamily="34" charset="-122"/>
                <a:cs typeface="Times New Roman" panose="02020603050405020304" pitchFamily="18" charset="0"/>
              </a:rPr>
              <a:t>）</a:t>
            </a:r>
            <a:endParaRPr lang="en-US" altLang="zh-CN" sz="2000" dirty="0">
              <a:latin typeface="微软雅黑" pitchFamily="34" charset="-122"/>
              <a:ea typeface="微软雅黑" pitchFamily="34" charset="-122"/>
              <a:cs typeface="Times New Roman" panose="02020603050405020304" pitchFamily="18" charset="0"/>
            </a:endParaRPr>
          </a:p>
          <a:p>
            <a:pPr>
              <a:lnSpc>
                <a:spcPct val="120000"/>
              </a:lnSpc>
              <a:buSzPct val="90000"/>
            </a:pPr>
            <a:r>
              <a:rPr lang="zh-CN" altLang="en-US" sz="2000" dirty="0">
                <a:latin typeface="微软雅黑" pitchFamily="34" charset="-122"/>
                <a:ea typeface="微软雅黑" pitchFamily="34" charset="-122"/>
                <a:cs typeface="Times New Roman" panose="02020603050405020304" pitchFamily="18" charset="0"/>
              </a:rPr>
              <a:t>在源主机</a:t>
            </a: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的路由表中找到路由器</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r>
              <a:rPr lang="en-US" altLang="zh-CN" sz="2000" dirty="0">
                <a:latin typeface="微软雅黑" pitchFamily="34" charset="-122"/>
                <a:ea typeface="微软雅黑" pitchFamily="34" charset="-122"/>
                <a:cs typeface="Times New Roman" panose="02020603050405020304" pitchFamily="18" charset="0"/>
              </a:rPr>
              <a:t>223.1.1.4</a:t>
            </a:r>
          </a:p>
          <a:p>
            <a:pPr>
              <a:lnSpc>
                <a:spcPct val="120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根据</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r>
              <a:rPr lang="en-US" altLang="zh-CN" sz="2000" dirty="0">
                <a:latin typeface="微软雅黑" pitchFamily="34" charset="-122"/>
                <a:ea typeface="微软雅黑" pitchFamily="34" charset="-122"/>
                <a:cs typeface="Times New Roman" panose="02020603050405020304" pitchFamily="18" charset="0"/>
              </a:rPr>
              <a:t>223.1.1.4</a:t>
            </a:r>
            <a:r>
              <a:rPr lang="zh-CN" altLang="en-US" sz="2000" dirty="0">
                <a:latin typeface="微软雅黑" pitchFamily="34" charset="-122"/>
                <a:ea typeface="微软雅黑" pitchFamily="34" charset="-122"/>
                <a:cs typeface="Times New Roman" panose="02020603050405020304" pitchFamily="18" charset="0"/>
              </a:rPr>
              <a:t>，使用</a:t>
            </a:r>
            <a:r>
              <a:rPr lang="en-US" altLang="zh-CN" sz="2000" dirty="0">
                <a:latin typeface="微软雅黑" pitchFamily="34" charset="-122"/>
                <a:ea typeface="微软雅黑" pitchFamily="34" charset="-122"/>
                <a:cs typeface="Times New Roman" panose="02020603050405020304" pitchFamily="18" charset="0"/>
              </a:rPr>
              <a:t>ARP</a:t>
            </a:r>
            <a:r>
              <a:rPr lang="zh-CN" altLang="en-US" sz="2000" dirty="0">
                <a:latin typeface="微软雅黑" pitchFamily="34" charset="-122"/>
                <a:ea typeface="微软雅黑" pitchFamily="34" charset="-122"/>
                <a:cs typeface="Times New Roman" panose="02020603050405020304" pitchFamily="18" charset="0"/>
              </a:rPr>
              <a:t>协议获得</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MAC</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p:txBody>
      </p:sp>
      <p:sp>
        <p:nvSpPr>
          <p:cNvPr id="7" name="Rectangle 4"/>
          <p:cNvSpPr txBox="1">
            <a:spLocks noChangeArrowheads="1"/>
          </p:cNvSpPr>
          <p:nvPr/>
        </p:nvSpPr>
        <p:spPr>
          <a:xfrm>
            <a:off x="6659598" y="1510758"/>
            <a:ext cx="4962188" cy="1681002"/>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创建数据帧（目的地址为</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MAC</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a:p>
            <a:pPr>
              <a:lnSpc>
                <a:spcPts val="3000"/>
              </a:lnSpc>
              <a:buSzPct val="90000"/>
            </a:pPr>
            <a:r>
              <a:rPr lang="zh-CN" altLang="en-US" sz="2000" dirty="0">
                <a:latin typeface="微软雅黑" pitchFamily="34" charset="-122"/>
                <a:ea typeface="微软雅黑" pitchFamily="34" charset="-122"/>
                <a:cs typeface="Times New Roman" panose="02020603050405020304" pitchFamily="18" charset="0"/>
              </a:rPr>
              <a:t>数据帧中封装</a:t>
            </a: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到</a:t>
            </a:r>
            <a:r>
              <a:rPr lang="en-US" altLang="zh-CN" sz="2000" dirty="0">
                <a:latin typeface="微软雅黑" pitchFamily="34" charset="-122"/>
                <a:ea typeface="微软雅黑" pitchFamily="34" charset="-122"/>
                <a:cs typeface="Times New Roman" panose="02020603050405020304" pitchFamily="18" charset="0"/>
              </a:rPr>
              <a:t>E</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数据包</a:t>
            </a:r>
            <a:endParaRPr lang="en-US" altLang="zh-CN" sz="2000" dirty="0">
              <a:latin typeface="微软雅黑" pitchFamily="34" charset="-122"/>
              <a:ea typeface="微软雅黑" pitchFamily="34" charset="-122"/>
              <a:cs typeface="Times New Roman" panose="02020603050405020304" pitchFamily="18" charset="0"/>
            </a:endParaRPr>
          </a:p>
          <a:p>
            <a:pPr>
              <a:lnSpc>
                <a:spcPts val="3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发送数据帧，</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接收数据帧</a:t>
            </a:r>
            <a:endParaRPr lang="en-US" altLang="zh-CN" sz="2000" dirty="0">
              <a:latin typeface="微软雅黑" pitchFamily="34" charset="-122"/>
              <a:ea typeface="微软雅黑" pitchFamily="34" charset="-122"/>
              <a:cs typeface="Times New Roman" panose="02020603050405020304" pitchFamily="18" charset="0"/>
            </a:endParaRPr>
          </a:p>
        </p:txBody>
      </p:sp>
      <p:sp>
        <p:nvSpPr>
          <p:cNvPr id="8" name="矩形 7"/>
          <p:cNvSpPr/>
          <p:nvPr/>
        </p:nvSpPr>
        <p:spPr>
          <a:xfrm>
            <a:off x="1089195" y="3672748"/>
            <a:ext cx="2618024" cy="461665"/>
          </a:xfrm>
          <a:prstGeom prst="rect">
            <a:avLst/>
          </a:prstGeom>
        </p:spPr>
        <p:txBody>
          <a:bodyPr wrap="none">
            <a:spAutoFit/>
          </a:bodyPr>
          <a:lstStyle/>
          <a:p>
            <a:r>
              <a:rPr lang="zh-CN" altLang="en-US" sz="2400" dirty="0">
                <a:solidFill>
                  <a:srgbClr val="C00000"/>
                </a:solidFill>
                <a:latin typeface="微软雅黑" pitchFamily="34" charset="-122"/>
                <a:ea typeface="微软雅黑" pitchFamily="34" charset="-122"/>
                <a:cs typeface="Times New Roman" panose="02020603050405020304" pitchFamily="18" charset="0"/>
              </a:rPr>
              <a:t>例：从</a:t>
            </a:r>
            <a:r>
              <a:rPr lang="en-US" altLang="zh-CN" sz="2400" dirty="0">
                <a:solidFill>
                  <a:srgbClr val="C00000"/>
                </a:solidFill>
                <a:latin typeface="微软雅黑" pitchFamily="34" charset="-122"/>
                <a:ea typeface="微软雅黑" pitchFamily="34" charset="-122"/>
                <a:cs typeface="Times New Roman" panose="02020603050405020304" pitchFamily="18" charset="0"/>
              </a:rPr>
              <a:t>A</a:t>
            </a:r>
            <a:r>
              <a:rPr lang="zh-CN" altLang="en-US" sz="2400" dirty="0">
                <a:solidFill>
                  <a:srgbClr val="C00000"/>
                </a:solidFill>
                <a:latin typeface="微软雅黑" pitchFamily="34" charset="-122"/>
                <a:ea typeface="微软雅黑" pitchFamily="34" charset="-122"/>
                <a:cs typeface="Times New Roman" panose="02020603050405020304" pitchFamily="18" charset="0"/>
              </a:rPr>
              <a:t>经过</a:t>
            </a:r>
            <a:r>
              <a:rPr lang="en-US" altLang="zh-CN" sz="2400" dirty="0">
                <a:solidFill>
                  <a:srgbClr val="C00000"/>
                </a:solidFill>
                <a:latin typeface="微软雅黑" pitchFamily="34" charset="-122"/>
                <a:ea typeface="微软雅黑" pitchFamily="34" charset="-122"/>
                <a:cs typeface="Times New Roman" panose="02020603050405020304" pitchFamily="18" charset="0"/>
              </a:rPr>
              <a:t>R</a:t>
            </a:r>
            <a:r>
              <a:rPr lang="zh-CN" altLang="en-US" sz="2400" dirty="0">
                <a:solidFill>
                  <a:srgbClr val="C00000"/>
                </a:solidFill>
                <a:latin typeface="微软雅黑" pitchFamily="34" charset="-122"/>
                <a:ea typeface="微软雅黑" pitchFamily="34" charset="-122"/>
                <a:cs typeface="Times New Roman" panose="02020603050405020304" pitchFamily="18" charset="0"/>
              </a:rPr>
              <a:t>到</a:t>
            </a:r>
            <a:r>
              <a:rPr lang="en-US" altLang="zh-CN" sz="2400" dirty="0">
                <a:solidFill>
                  <a:srgbClr val="C00000"/>
                </a:solidFill>
                <a:latin typeface="微软雅黑" pitchFamily="34" charset="-122"/>
                <a:ea typeface="微软雅黑" pitchFamily="34" charset="-122"/>
                <a:cs typeface="Times New Roman" panose="02020603050405020304" pitchFamily="18" charset="0"/>
              </a:rPr>
              <a:t>E</a:t>
            </a:r>
          </a:p>
        </p:txBody>
      </p:sp>
      <p:sp>
        <p:nvSpPr>
          <p:cNvPr id="9" name="Text Box 29"/>
          <p:cNvSpPr txBox="1">
            <a:spLocks noChangeArrowheads="1"/>
          </p:cNvSpPr>
          <p:nvPr/>
        </p:nvSpPr>
        <p:spPr bwMode="auto">
          <a:xfrm>
            <a:off x="2108329" y="6203515"/>
            <a:ext cx="210874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CC-49-DE-D0-AB-7D</a:t>
            </a:r>
          </a:p>
        </p:txBody>
      </p:sp>
      <p:sp>
        <p:nvSpPr>
          <p:cNvPr id="10" name="Text Box 41"/>
          <p:cNvSpPr txBox="1">
            <a:spLocks noChangeArrowheads="1"/>
          </p:cNvSpPr>
          <p:nvPr/>
        </p:nvSpPr>
        <p:spPr bwMode="auto">
          <a:xfrm>
            <a:off x="7617019" y="4128472"/>
            <a:ext cx="1941700"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88-B2-2F-54-1A-0F</a:t>
            </a:r>
          </a:p>
        </p:txBody>
      </p:sp>
      <p:grpSp>
        <p:nvGrpSpPr>
          <p:cNvPr id="11" name="Group 8"/>
          <p:cNvGrpSpPr>
            <a:grpSpLocks/>
          </p:cNvGrpSpPr>
          <p:nvPr/>
        </p:nvGrpSpPr>
        <p:grpSpPr bwMode="auto">
          <a:xfrm>
            <a:off x="5337290" y="5027772"/>
            <a:ext cx="1218476" cy="291355"/>
            <a:chOff x="3600" y="219"/>
            <a:chExt cx="360" cy="175"/>
          </a:xfrm>
        </p:grpSpPr>
        <p:sp>
          <p:nvSpPr>
            <p:cNvPr id="12" name="Oval 9"/>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sz="1600"/>
            </a:p>
          </p:txBody>
        </p:sp>
        <p:sp>
          <p:nvSpPr>
            <p:cNvPr id="13" name="Line 10"/>
            <p:cNvSpPr>
              <a:spLocks noChangeShapeType="1"/>
            </p:cNvSpPr>
            <p:nvPr/>
          </p:nvSpPr>
          <p:spPr bwMode="auto">
            <a:xfrm>
              <a:off x="3603" y="289"/>
              <a:ext cx="0" cy="60"/>
            </a:xfrm>
            <a:prstGeom prst="line">
              <a:avLst/>
            </a:prstGeom>
            <a:noFill/>
            <a:ln w="12700">
              <a:solidFill>
                <a:schemeClr val="tx1"/>
              </a:solidFill>
              <a:round/>
              <a:headEnd/>
              <a:tailEnd/>
            </a:ln>
          </p:spPr>
          <p:txBody>
            <a:bodyPr wrap="none" anchor="ctr"/>
            <a:lstStyle/>
            <a:p>
              <a:endParaRPr lang="zh-CN" altLang="en-US"/>
            </a:p>
          </p:txBody>
        </p:sp>
        <p:sp>
          <p:nvSpPr>
            <p:cNvPr id="14" name="Line 11"/>
            <p:cNvSpPr>
              <a:spLocks noChangeShapeType="1"/>
            </p:cNvSpPr>
            <p:nvPr/>
          </p:nvSpPr>
          <p:spPr bwMode="auto">
            <a:xfrm>
              <a:off x="3960" y="289"/>
              <a:ext cx="0" cy="60"/>
            </a:xfrm>
            <a:prstGeom prst="line">
              <a:avLst/>
            </a:prstGeom>
            <a:noFill/>
            <a:ln w="12700">
              <a:solidFill>
                <a:schemeClr val="tx1"/>
              </a:solidFill>
              <a:round/>
              <a:headEnd/>
              <a:tailEnd/>
            </a:ln>
          </p:spPr>
          <p:txBody>
            <a:bodyPr wrap="none" anchor="ctr"/>
            <a:lstStyle/>
            <a:p>
              <a:endParaRPr lang="zh-CN" altLang="en-US"/>
            </a:p>
          </p:txBody>
        </p:sp>
        <p:sp>
          <p:nvSpPr>
            <p:cNvPr id="15" name="Rectangle 12"/>
            <p:cNvSpPr>
              <a:spLocks noChangeArrowheads="1"/>
            </p:cNvSpPr>
            <p:nvPr/>
          </p:nvSpPr>
          <p:spPr bwMode="auto">
            <a:xfrm>
              <a:off x="3603" y="289"/>
              <a:ext cx="354" cy="59"/>
            </a:xfrm>
            <a:prstGeom prst="rect">
              <a:avLst/>
            </a:prstGeom>
            <a:solidFill>
              <a:schemeClr val="hlink"/>
            </a:solidFill>
            <a:ln w="12700">
              <a:noFill/>
              <a:miter lim="800000"/>
              <a:headEnd/>
              <a:tailEnd/>
            </a:ln>
          </p:spPr>
          <p:txBody>
            <a:bodyPr wrap="none" anchor="ctr"/>
            <a:lstStyle/>
            <a:p>
              <a:pPr algn="ctr"/>
              <a:endParaRPr lang="zh-CN" altLang="zh-CN" sz="1600">
                <a:latin typeface="Times New Roman" pitchFamily="18" charset="0"/>
              </a:endParaRPr>
            </a:p>
          </p:txBody>
        </p:sp>
        <p:sp>
          <p:nvSpPr>
            <p:cNvPr id="16" name="Oval 13"/>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sz="1600"/>
            </a:p>
          </p:txBody>
        </p:sp>
        <p:grpSp>
          <p:nvGrpSpPr>
            <p:cNvPr id="17" name="Group 14"/>
            <p:cNvGrpSpPr>
              <a:grpSpLocks/>
            </p:cNvGrpSpPr>
            <p:nvPr/>
          </p:nvGrpSpPr>
          <p:grpSpPr bwMode="auto">
            <a:xfrm>
              <a:off x="3713" y="244"/>
              <a:ext cx="168" cy="49"/>
              <a:chOff x="2851" y="1131"/>
              <a:chExt cx="132" cy="97"/>
            </a:xfrm>
          </p:grpSpPr>
          <p:sp>
            <p:nvSpPr>
              <p:cNvPr id="22" name="Line 15"/>
              <p:cNvSpPr>
                <a:spLocks noChangeShapeType="1"/>
              </p:cNvSpPr>
              <p:nvPr/>
            </p:nvSpPr>
            <p:spPr bwMode="auto">
              <a:xfrm flipV="1">
                <a:off x="2851" y="1131"/>
                <a:ext cx="49" cy="2"/>
              </a:xfrm>
              <a:prstGeom prst="line">
                <a:avLst/>
              </a:prstGeom>
              <a:noFill/>
              <a:ln w="28575">
                <a:solidFill>
                  <a:schemeClr val="tx1"/>
                </a:solidFill>
                <a:round/>
                <a:headEnd/>
                <a:tailEnd/>
              </a:ln>
            </p:spPr>
            <p:txBody>
              <a:bodyPr wrap="none" anchor="ctr"/>
              <a:lstStyle/>
              <a:p>
                <a:endParaRPr lang="zh-CN" altLang="en-US"/>
              </a:p>
            </p:txBody>
          </p:sp>
          <p:sp>
            <p:nvSpPr>
              <p:cNvPr id="23" name="Line 16"/>
              <p:cNvSpPr>
                <a:spLocks noChangeShapeType="1"/>
              </p:cNvSpPr>
              <p:nvPr/>
            </p:nvSpPr>
            <p:spPr bwMode="auto">
              <a:xfrm>
                <a:off x="2940" y="1228"/>
                <a:ext cx="43" cy="0"/>
              </a:xfrm>
              <a:prstGeom prst="line">
                <a:avLst/>
              </a:prstGeom>
              <a:noFill/>
              <a:ln w="28575">
                <a:solidFill>
                  <a:schemeClr val="tx1"/>
                </a:solidFill>
                <a:round/>
                <a:headEnd/>
                <a:tailEnd/>
              </a:ln>
            </p:spPr>
            <p:txBody>
              <a:bodyPr wrap="none" anchor="ctr"/>
              <a:lstStyle/>
              <a:p>
                <a:endParaRPr lang="zh-CN" altLang="en-US"/>
              </a:p>
            </p:txBody>
          </p:sp>
          <p:sp>
            <p:nvSpPr>
              <p:cNvPr id="24" name="Line 17"/>
              <p:cNvSpPr>
                <a:spLocks noChangeShapeType="1"/>
              </p:cNvSpPr>
              <p:nvPr/>
            </p:nvSpPr>
            <p:spPr bwMode="auto">
              <a:xfrm>
                <a:off x="2896" y="1133"/>
                <a:ext cx="51" cy="95"/>
              </a:xfrm>
              <a:prstGeom prst="line">
                <a:avLst/>
              </a:prstGeom>
              <a:noFill/>
              <a:ln w="28575">
                <a:solidFill>
                  <a:schemeClr val="tx1"/>
                </a:solidFill>
                <a:round/>
                <a:headEnd/>
                <a:tailEnd/>
              </a:ln>
            </p:spPr>
            <p:txBody>
              <a:bodyPr wrap="none" anchor="ctr"/>
              <a:lstStyle/>
              <a:p>
                <a:endParaRPr lang="zh-CN" altLang="en-US"/>
              </a:p>
            </p:txBody>
          </p:sp>
        </p:grpSp>
        <p:grpSp>
          <p:nvGrpSpPr>
            <p:cNvPr id="18" name="Group 18"/>
            <p:cNvGrpSpPr>
              <a:grpSpLocks/>
            </p:cNvGrpSpPr>
            <p:nvPr/>
          </p:nvGrpSpPr>
          <p:grpSpPr bwMode="auto">
            <a:xfrm flipV="1">
              <a:off x="3700" y="254"/>
              <a:ext cx="181" cy="52"/>
              <a:chOff x="2871" y="1102"/>
              <a:chExt cx="144" cy="100"/>
            </a:xfrm>
          </p:grpSpPr>
          <p:sp>
            <p:nvSpPr>
              <p:cNvPr id="19" name="Line 19"/>
              <p:cNvSpPr>
                <a:spLocks noChangeShapeType="1"/>
              </p:cNvSpPr>
              <p:nvPr/>
            </p:nvSpPr>
            <p:spPr bwMode="auto">
              <a:xfrm flipV="1">
                <a:off x="2871" y="1102"/>
                <a:ext cx="50" cy="2"/>
              </a:xfrm>
              <a:prstGeom prst="line">
                <a:avLst/>
              </a:prstGeom>
              <a:noFill/>
              <a:ln w="28575">
                <a:solidFill>
                  <a:schemeClr val="tx1"/>
                </a:solidFill>
                <a:round/>
                <a:headEnd/>
                <a:tailEnd/>
              </a:ln>
            </p:spPr>
            <p:txBody>
              <a:bodyPr wrap="none" anchor="ctr"/>
              <a:lstStyle/>
              <a:p>
                <a:endParaRPr lang="zh-CN" altLang="en-US"/>
              </a:p>
            </p:txBody>
          </p:sp>
          <p:sp>
            <p:nvSpPr>
              <p:cNvPr id="20" name="Line 20"/>
              <p:cNvSpPr>
                <a:spLocks noChangeShapeType="1"/>
              </p:cNvSpPr>
              <p:nvPr/>
            </p:nvSpPr>
            <p:spPr bwMode="auto">
              <a:xfrm>
                <a:off x="2971" y="1202"/>
                <a:ext cx="44" cy="0"/>
              </a:xfrm>
              <a:prstGeom prst="line">
                <a:avLst/>
              </a:prstGeom>
              <a:noFill/>
              <a:ln w="28575">
                <a:solidFill>
                  <a:schemeClr val="tx1"/>
                </a:solidFill>
                <a:round/>
                <a:headEnd/>
                <a:tailEnd/>
              </a:ln>
            </p:spPr>
            <p:txBody>
              <a:bodyPr wrap="none" anchor="ctr"/>
              <a:lstStyle/>
              <a:p>
                <a:endParaRPr lang="zh-CN" altLang="en-US"/>
              </a:p>
            </p:txBody>
          </p:sp>
          <p:sp>
            <p:nvSpPr>
              <p:cNvPr id="21" name="Line 21"/>
              <p:cNvSpPr>
                <a:spLocks noChangeShapeType="1"/>
              </p:cNvSpPr>
              <p:nvPr/>
            </p:nvSpPr>
            <p:spPr bwMode="auto">
              <a:xfrm>
                <a:off x="2921" y="1109"/>
                <a:ext cx="52" cy="92"/>
              </a:xfrm>
              <a:prstGeom prst="line">
                <a:avLst/>
              </a:prstGeom>
              <a:noFill/>
              <a:ln w="28575">
                <a:solidFill>
                  <a:schemeClr val="tx1"/>
                </a:solidFill>
                <a:round/>
                <a:headEnd/>
                <a:tailEnd/>
              </a:ln>
            </p:spPr>
            <p:txBody>
              <a:bodyPr wrap="none" anchor="ctr"/>
              <a:lstStyle/>
              <a:p>
                <a:endParaRPr lang="zh-CN" altLang="en-US"/>
              </a:p>
            </p:txBody>
          </p:sp>
        </p:grpSp>
      </p:grpSp>
      <p:sp>
        <p:nvSpPr>
          <p:cNvPr id="25" name="Rectangle 22"/>
          <p:cNvSpPr>
            <a:spLocks noChangeArrowheads="1"/>
          </p:cNvSpPr>
          <p:nvPr/>
        </p:nvSpPr>
        <p:spPr bwMode="auto">
          <a:xfrm rot="16200000">
            <a:off x="6622722" y="5054794"/>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26" name="Rectangle 23"/>
          <p:cNvSpPr>
            <a:spLocks noChangeArrowheads="1"/>
          </p:cNvSpPr>
          <p:nvPr/>
        </p:nvSpPr>
        <p:spPr bwMode="auto">
          <a:xfrm rot="16200000">
            <a:off x="5170378" y="5066265"/>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27" name="Text Box 24"/>
          <p:cNvSpPr txBox="1">
            <a:spLocks noChangeArrowheads="1"/>
          </p:cNvSpPr>
          <p:nvPr/>
        </p:nvSpPr>
        <p:spPr bwMode="auto">
          <a:xfrm>
            <a:off x="5158449" y="4637769"/>
            <a:ext cx="1998693"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1A-23-F9-CD-06-9B</a:t>
            </a:r>
          </a:p>
        </p:txBody>
      </p:sp>
      <p:sp>
        <p:nvSpPr>
          <p:cNvPr id="28" name="Text Box 25"/>
          <p:cNvSpPr txBox="1">
            <a:spLocks noChangeArrowheads="1"/>
          </p:cNvSpPr>
          <p:nvPr/>
        </p:nvSpPr>
        <p:spPr bwMode="auto">
          <a:xfrm>
            <a:off x="6080167" y="5312244"/>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223.1.2.9</a:t>
            </a:r>
          </a:p>
        </p:txBody>
      </p:sp>
      <p:sp>
        <p:nvSpPr>
          <p:cNvPr id="29" name="Text Box 27"/>
          <p:cNvSpPr txBox="1">
            <a:spLocks noChangeArrowheads="1"/>
          </p:cNvSpPr>
          <p:nvPr/>
        </p:nvSpPr>
        <p:spPr bwMode="auto">
          <a:xfrm>
            <a:off x="4541350" y="5312244"/>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223.1.1.4</a:t>
            </a:r>
          </a:p>
        </p:txBody>
      </p:sp>
      <p:sp>
        <p:nvSpPr>
          <p:cNvPr id="30" name="Text Box 28"/>
          <p:cNvSpPr txBox="1">
            <a:spLocks noChangeArrowheads="1"/>
          </p:cNvSpPr>
          <p:nvPr/>
        </p:nvSpPr>
        <p:spPr bwMode="auto">
          <a:xfrm>
            <a:off x="4274071" y="4365915"/>
            <a:ext cx="1986902"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E6-E9-00-17-BB-4B</a:t>
            </a:r>
          </a:p>
        </p:txBody>
      </p:sp>
      <p:sp>
        <p:nvSpPr>
          <p:cNvPr id="31" name="Text Box 30"/>
          <p:cNvSpPr txBox="1">
            <a:spLocks noChangeArrowheads="1"/>
          </p:cNvSpPr>
          <p:nvPr/>
        </p:nvSpPr>
        <p:spPr bwMode="auto">
          <a:xfrm>
            <a:off x="1422445" y="5555422"/>
            <a:ext cx="1029809"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223.1.1.2</a:t>
            </a:r>
          </a:p>
        </p:txBody>
      </p:sp>
      <p:graphicFrame>
        <p:nvGraphicFramePr>
          <p:cNvPr id="32" name="Object 10"/>
          <p:cNvGraphicFramePr>
            <a:graphicFrameLocks noChangeAspect="1"/>
          </p:cNvGraphicFramePr>
          <p:nvPr/>
        </p:nvGraphicFramePr>
        <p:xfrm>
          <a:off x="1843016" y="5899542"/>
          <a:ext cx="825419" cy="381973"/>
        </p:xfrm>
        <a:graphic>
          <a:graphicData uri="http://schemas.openxmlformats.org/presentationml/2006/ole">
            <mc:AlternateContent xmlns:mc="http://schemas.openxmlformats.org/markup-compatibility/2006">
              <mc:Choice xmlns:v="urn:schemas-microsoft-com:vml" Requires="v">
                <p:oleObj name="Clip" r:id="rId2" imgW="1307079" imgH="1083682" progId="">
                  <p:embed/>
                </p:oleObj>
              </mc:Choice>
              <mc:Fallback>
                <p:oleObj name="Clip" r:id="rId2" imgW="1307079" imgH="1083682" progId="">
                  <p:embed/>
                  <p:pic>
                    <p:nvPicPr>
                      <p:cNvPr id="32" name="Object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3016" y="5899542"/>
                        <a:ext cx="825419" cy="381973"/>
                      </a:xfrm>
                      <a:prstGeom prst="rect">
                        <a:avLst/>
                      </a:prstGeom>
                      <a:noFill/>
                    </p:spPr>
                  </p:pic>
                </p:oleObj>
              </mc:Fallback>
            </mc:AlternateContent>
          </a:graphicData>
        </a:graphic>
      </p:graphicFrame>
      <p:sp>
        <p:nvSpPr>
          <p:cNvPr id="33" name="Rectangle 32"/>
          <p:cNvSpPr>
            <a:spLocks noChangeArrowheads="1"/>
          </p:cNvSpPr>
          <p:nvPr/>
        </p:nvSpPr>
        <p:spPr bwMode="auto">
          <a:xfrm rot="16200000">
            <a:off x="2700016" y="5902476"/>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34" name="Text Box 33"/>
          <p:cNvSpPr txBox="1">
            <a:spLocks noChangeArrowheads="1"/>
          </p:cNvSpPr>
          <p:nvPr/>
        </p:nvSpPr>
        <p:spPr bwMode="auto">
          <a:xfrm>
            <a:off x="1422445" y="4851124"/>
            <a:ext cx="1029809"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223.1.1.1</a:t>
            </a:r>
          </a:p>
        </p:txBody>
      </p:sp>
      <p:grpSp>
        <p:nvGrpSpPr>
          <p:cNvPr id="35" name="Group 35"/>
          <p:cNvGrpSpPr>
            <a:grpSpLocks/>
          </p:cNvGrpSpPr>
          <p:nvPr/>
        </p:nvGrpSpPr>
        <p:grpSpPr bwMode="auto">
          <a:xfrm>
            <a:off x="1453890" y="4345271"/>
            <a:ext cx="1114316" cy="523063"/>
            <a:chOff x="1910" y="3481"/>
            <a:chExt cx="567" cy="456"/>
          </a:xfrm>
        </p:grpSpPr>
        <p:graphicFrame>
          <p:nvGraphicFramePr>
            <p:cNvPr id="36" name="Object 11"/>
            <p:cNvGraphicFramePr>
              <a:graphicFrameLocks noChangeAspect="1"/>
            </p:cNvGraphicFramePr>
            <p:nvPr/>
          </p:nvGraphicFramePr>
          <p:xfrm>
            <a:off x="1910" y="3487"/>
            <a:ext cx="567" cy="450"/>
          </p:xfrm>
          <a:graphic>
            <a:graphicData uri="http://schemas.openxmlformats.org/presentationml/2006/ole">
              <mc:AlternateContent xmlns:mc="http://schemas.openxmlformats.org/markup-compatibility/2006">
                <mc:Choice xmlns:v="urn:schemas-microsoft-com:vml" Requires="v">
                  <p:oleObj name="Clip" r:id="rId4" imgW="1307079" imgH="1083682" progId="">
                    <p:embed/>
                  </p:oleObj>
                </mc:Choice>
                <mc:Fallback>
                  <p:oleObj name="Clip" r:id="rId4" imgW="1307079" imgH="1083682" progId="">
                    <p:embed/>
                    <p:pic>
                      <p:nvPicPr>
                        <p:cNvPr id="36" name="Object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10" y="3487"/>
                          <a:ext cx="567" cy="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 name="Text Box 5"/>
            <p:cNvSpPr txBox="1">
              <a:spLocks noChangeArrowheads="1"/>
            </p:cNvSpPr>
            <p:nvPr/>
          </p:nvSpPr>
          <p:spPr bwMode="auto">
            <a:xfrm>
              <a:off x="2096" y="3481"/>
              <a:ext cx="181" cy="349"/>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A</a:t>
              </a:r>
            </a:p>
          </p:txBody>
        </p:sp>
      </p:grpSp>
      <p:sp>
        <p:nvSpPr>
          <p:cNvPr id="38" name="Rectangle 36"/>
          <p:cNvSpPr>
            <a:spLocks noChangeArrowheads="1"/>
          </p:cNvSpPr>
          <p:nvPr/>
        </p:nvSpPr>
        <p:spPr bwMode="auto">
          <a:xfrm rot="16200000">
            <a:off x="2591926" y="4443408"/>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graphicFrame>
        <p:nvGraphicFramePr>
          <p:cNvPr id="39" name="Object 12"/>
          <p:cNvGraphicFramePr>
            <a:graphicFrameLocks noChangeAspect="1"/>
          </p:cNvGraphicFramePr>
          <p:nvPr/>
        </p:nvGraphicFramePr>
        <p:xfrm>
          <a:off x="9478142" y="4204178"/>
          <a:ext cx="921718" cy="427856"/>
        </p:xfrm>
        <a:graphic>
          <a:graphicData uri="http://schemas.openxmlformats.org/presentationml/2006/ole">
            <mc:AlternateContent xmlns:mc="http://schemas.openxmlformats.org/markup-compatibility/2006">
              <mc:Choice xmlns:v="urn:schemas-microsoft-com:vml" Requires="v">
                <p:oleObj name="Clip" r:id="rId2" imgW="1307079" imgH="1083682" progId="">
                  <p:embed/>
                </p:oleObj>
              </mc:Choice>
              <mc:Fallback>
                <p:oleObj name="Clip" r:id="rId2" imgW="1307079" imgH="1083682" progId="">
                  <p:embed/>
                  <p:pic>
                    <p:nvPicPr>
                      <p:cNvPr id="39" name="Object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78142" y="4204178"/>
                        <a:ext cx="921718" cy="427856"/>
                      </a:xfrm>
                      <a:prstGeom prst="rect">
                        <a:avLst/>
                      </a:prstGeom>
                      <a:noFill/>
                    </p:spPr>
                  </p:pic>
                </p:oleObj>
              </mc:Fallback>
            </mc:AlternateContent>
          </a:graphicData>
        </a:graphic>
      </p:graphicFrame>
      <p:sp>
        <p:nvSpPr>
          <p:cNvPr id="40" name="Rectangle 39"/>
          <p:cNvSpPr>
            <a:spLocks noChangeArrowheads="1"/>
          </p:cNvSpPr>
          <p:nvPr/>
        </p:nvSpPr>
        <p:spPr bwMode="auto">
          <a:xfrm rot="16200000">
            <a:off x="9368223" y="4386055"/>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41" name="Text Box 40"/>
          <p:cNvSpPr txBox="1">
            <a:spLocks noChangeArrowheads="1"/>
          </p:cNvSpPr>
          <p:nvPr/>
        </p:nvSpPr>
        <p:spPr bwMode="auto">
          <a:xfrm>
            <a:off x="9122426" y="4607945"/>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223.1.2.1</a:t>
            </a:r>
          </a:p>
        </p:txBody>
      </p:sp>
      <p:grpSp>
        <p:nvGrpSpPr>
          <p:cNvPr id="42" name="Group 42"/>
          <p:cNvGrpSpPr>
            <a:grpSpLocks/>
          </p:cNvGrpSpPr>
          <p:nvPr/>
        </p:nvGrpSpPr>
        <p:grpSpPr bwMode="auto">
          <a:xfrm>
            <a:off x="9482073" y="5459069"/>
            <a:ext cx="1114316" cy="531092"/>
            <a:chOff x="1910" y="3474"/>
            <a:chExt cx="567" cy="463"/>
          </a:xfrm>
        </p:grpSpPr>
        <p:graphicFrame>
          <p:nvGraphicFramePr>
            <p:cNvPr id="43" name="Object 13"/>
            <p:cNvGraphicFramePr>
              <a:graphicFrameLocks noChangeAspect="1"/>
            </p:cNvGraphicFramePr>
            <p:nvPr/>
          </p:nvGraphicFramePr>
          <p:xfrm>
            <a:off x="1910" y="3487"/>
            <a:ext cx="567" cy="450"/>
          </p:xfrm>
          <a:graphic>
            <a:graphicData uri="http://schemas.openxmlformats.org/presentationml/2006/ole">
              <mc:AlternateContent xmlns:mc="http://schemas.openxmlformats.org/markup-compatibility/2006">
                <mc:Choice xmlns:v="urn:schemas-microsoft-com:vml" Requires="v">
                  <p:oleObj name="Clip" r:id="rId5" imgW="1307079" imgH="1083682" progId="">
                    <p:embed/>
                  </p:oleObj>
                </mc:Choice>
                <mc:Fallback>
                  <p:oleObj name="Clip" r:id="rId5" imgW="1307079" imgH="1083682" progId="">
                    <p:embed/>
                    <p:pic>
                      <p:nvPicPr>
                        <p:cNvPr id="43" name="Object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10" y="3487"/>
                          <a:ext cx="567" cy="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4" name="Text Box 44"/>
            <p:cNvSpPr txBox="1">
              <a:spLocks noChangeArrowheads="1"/>
            </p:cNvSpPr>
            <p:nvPr/>
          </p:nvSpPr>
          <p:spPr bwMode="auto">
            <a:xfrm>
              <a:off x="2063" y="3474"/>
              <a:ext cx="181" cy="349"/>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E</a:t>
              </a:r>
            </a:p>
          </p:txBody>
        </p:sp>
      </p:grpSp>
      <p:sp>
        <p:nvSpPr>
          <p:cNvPr id="45" name="Text Box 45"/>
          <p:cNvSpPr txBox="1">
            <a:spLocks noChangeArrowheads="1"/>
          </p:cNvSpPr>
          <p:nvPr/>
        </p:nvSpPr>
        <p:spPr bwMode="auto">
          <a:xfrm>
            <a:off x="9218725" y="5214743"/>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223.1.2.2</a:t>
            </a:r>
          </a:p>
        </p:txBody>
      </p:sp>
      <p:sp>
        <p:nvSpPr>
          <p:cNvPr id="46" name="Text Box 46"/>
          <p:cNvSpPr txBox="1">
            <a:spLocks noChangeArrowheads="1"/>
          </p:cNvSpPr>
          <p:nvPr/>
        </p:nvSpPr>
        <p:spPr bwMode="auto">
          <a:xfrm>
            <a:off x="8697925" y="5963778"/>
            <a:ext cx="2020311"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49-BD-D2-C7-56-2A</a:t>
            </a:r>
          </a:p>
        </p:txBody>
      </p:sp>
      <p:sp>
        <p:nvSpPr>
          <p:cNvPr id="47" name="Rectangle 47"/>
          <p:cNvSpPr>
            <a:spLocks noChangeArrowheads="1"/>
          </p:cNvSpPr>
          <p:nvPr/>
        </p:nvSpPr>
        <p:spPr bwMode="auto">
          <a:xfrm rot="16200000">
            <a:off x="9429147" y="5552621"/>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48" name="Freeform 48"/>
          <p:cNvSpPr>
            <a:spLocks/>
          </p:cNvSpPr>
          <p:nvPr/>
        </p:nvSpPr>
        <p:spPr bwMode="auto">
          <a:xfrm>
            <a:off x="2955366" y="4590740"/>
            <a:ext cx="1774651" cy="1142478"/>
          </a:xfrm>
          <a:custGeom>
            <a:avLst/>
            <a:gdLst>
              <a:gd name="T0" fmla="*/ 55 w 1005"/>
              <a:gd name="T1" fmla="*/ 83 h 996"/>
              <a:gd name="T2" fmla="*/ 24 w 1005"/>
              <a:gd name="T3" fmla="*/ 227 h 996"/>
              <a:gd name="T4" fmla="*/ 4 w 1005"/>
              <a:gd name="T5" fmla="*/ 507 h 996"/>
              <a:gd name="T6" fmla="*/ 4 w 1005"/>
              <a:gd name="T7" fmla="*/ 716 h 996"/>
              <a:gd name="T8" fmla="*/ 15 w 1005"/>
              <a:gd name="T9" fmla="*/ 918 h 996"/>
              <a:gd name="T10" fmla="*/ 36 w 1005"/>
              <a:gd name="T11" fmla="*/ 990 h 996"/>
              <a:gd name="T12" fmla="*/ 71 w 1005"/>
              <a:gd name="T13" fmla="*/ 954 h 996"/>
              <a:gd name="T14" fmla="*/ 126 w 1005"/>
              <a:gd name="T15" fmla="*/ 947 h 996"/>
              <a:gd name="T16" fmla="*/ 160 w 1005"/>
              <a:gd name="T17" fmla="*/ 831 h 996"/>
              <a:gd name="T18" fmla="*/ 181 w 1005"/>
              <a:gd name="T19" fmla="*/ 543 h 996"/>
              <a:gd name="T20" fmla="*/ 168 w 1005"/>
              <a:gd name="T21" fmla="*/ 227 h 996"/>
              <a:gd name="T22" fmla="*/ 119 w 1005"/>
              <a:gd name="T23" fmla="*/ 25 h 996"/>
              <a:gd name="T24" fmla="*/ 55 w 1005"/>
              <a:gd name="T25" fmla="*/ 83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5"/>
              <a:gd name="T40" fmla="*/ 0 h 996"/>
              <a:gd name="T41" fmla="*/ 1005 w 1005"/>
              <a:gd name="T42" fmla="*/ 996 h 9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00FFFF"/>
          </a:solidFill>
          <a:ln w="9525">
            <a:solidFill>
              <a:schemeClr val="tx1"/>
            </a:solidFill>
            <a:round/>
            <a:headEnd/>
            <a:tailEnd/>
          </a:ln>
        </p:spPr>
        <p:txBody>
          <a:bodyPr wrap="none"/>
          <a:lstStyle/>
          <a:p>
            <a:endParaRPr lang="zh-CN" altLang="en-US"/>
          </a:p>
        </p:txBody>
      </p:sp>
      <p:sp>
        <p:nvSpPr>
          <p:cNvPr id="49" name="Freeform 49"/>
          <p:cNvSpPr>
            <a:spLocks/>
          </p:cNvSpPr>
          <p:nvPr/>
        </p:nvSpPr>
        <p:spPr bwMode="auto">
          <a:xfrm>
            <a:off x="7328122" y="4633181"/>
            <a:ext cx="1975110" cy="1142478"/>
          </a:xfrm>
          <a:custGeom>
            <a:avLst/>
            <a:gdLst>
              <a:gd name="T0" fmla="*/ 307 w 1005"/>
              <a:gd name="T1" fmla="*/ 83 h 996"/>
              <a:gd name="T2" fmla="*/ 134 w 1005"/>
              <a:gd name="T3" fmla="*/ 227 h 996"/>
              <a:gd name="T4" fmla="*/ 19 w 1005"/>
              <a:gd name="T5" fmla="*/ 507 h 996"/>
              <a:gd name="T6" fmla="*/ 19 w 1005"/>
              <a:gd name="T7" fmla="*/ 716 h 996"/>
              <a:gd name="T8" fmla="*/ 84 w 1005"/>
              <a:gd name="T9" fmla="*/ 918 h 996"/>
              <a:gd name="T10" fmla="*/ 199 w 1005"/>
              <a:gd name="T11" fmla="*/ 990 h 996"/>
              <a:gd name="T12" fmla="*/ 393 w 1005"/>
              <a:gd name="T13" fmla="*/ 954 h 996"/>
              <a:gd name="T14" fmla="*/ 696 w 1005"/>
              <a:gd name="T15" fmla="*/ 947 h 996"/>
              <a:gd name="T16" fmla="*/ 883 w 1005"/>
              <a:gd name="T17" fmla="*/ 831 h 996"/>
              <a:gd name="T18" fmla="*/ 998 w 1005"/>
              <a:gd name="T19" fmla="*/ 543 h 996"/>
              <a:gd name="T20" fmla="*/ 926 w 1005"/>
              <a:gd name="T21" fmla="*/ 227 h 996"/>
              <a:gd name="T22" fmla="*/ 667 w 1005"/>
              <a:gd name="T23" fmla="*/ 25 h 996"/>
              <a:gd name="T24" fmla="*/ 307 w 1005"/>
              <a:gd name="T25" fmla="*/ 83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5"/>
              <a:gd name="T40" fmla="*/ 0 h 996"/>
              <a:gd name="T41" fmla="*/ 1005 w 1005"/>
              <a:gd name="T42" fmla="*/ 996 h 9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00FFFF"/>
          </a:solidFill>
          <a:ln w="9525">
            <a:solidFill>
              <a:schemeClr val="tx1"/>
            </a:solidFill>
            <a:round/>
            <a:headEnd/>
            <a:tailEnd/>
          </a:ln>
        </p:spPr>
        <p:txBody>
          <a:bodyPr wrap="none"/>
          <a:lstStyle/>
          <a:p>
            <a:endParaRPr lang="zh-CN" altLang="en-US"/>
          </a:p>
        </p:txBody>
      </p:sp>
      <p:sp>
        <p:nvSpPr>
          <p:cNvPr id="50" name="Line 50"/>
          <p:cNvSpPr>
            <a:spLocks noChangeShapeType="1"/>
          </p:cNvSpPr>
          <p:nvPr/>
        </p:nvSpPr>
        <p:spPr bwMode="auto">
          <a:xfrm>
            <a:off x="2754907" y="4565504"/>
            <a:ext cx="577793" cy="193854"/>
          </a:xfrm>
          <a:prstGeom prst="line">
            <a:avLst/>
          </a:prstGeom>
          <a:noFill/>
          <a:ln w="9525">
            <a:solidFill>
              <a:schemeClr val="tx1"/>
            </a:solidFill>
            <a:round/>
            <a:headEnd/>
            <a:tailEnd/>
          </a:ln>
        </p:spPr>
        <p:txBody>
          <a:bodyPr wrap="none"/>
          <a:lstStyle/>
          <a:p>
            <a:endParaRPr lang="zh-CN" altLang="en-US"/>
          </a:p>
        </p:txBody>
      </p:sp>
      <p:sp>
        <p:nvSpPr>
          <p:cNvPr id="51" name="Line 51"/>
          <p:cNvSpPr>
            <a:spLocks noChangeShapeType="1"/>
          </p:cNvSpPr>
          <p:nvPr/>
        </p:nvSpPr>
        <p:spPr bwMode="auto">
          <a:xfrm flipV="1">
            <a:off x="2855137" y="5713717"/>
            <a:ext cx="406814" cy="287914"/>
          </a:xfrm>
          <a:prstGeom prst="line">
            <a:avLst/>
          </a:prstGeom>
          <a:noFill/>
          <a:ln w="9525">
            <a:solidFill>
              <a:schemeClr val="tx1"/>
            </a:solidFill>
            <a:round/>
            <a:headEnd/>
            <a:tailEnd/>
          </a:ln>
        </p:spPr>
        <p:txBody>
          <a:bodyPr wrap="none"/>
          <a:lstStyle/>
          <a:p>
            <a:endParaRPr lang="zh-CN" altLang="en-US"/>
          </a:p>
        </p:txBody>
      </p:sp>
      <p:sp>
        <p:nvSpPr>
          <p:cNvPr id="52" name="Line 52"/>
          <p:cNvSpPr>
            <a:spLocks noChangeShapeType="1"/>
          </p:cNvSpPr>
          <p:nvPr/>
        </p:nvSpPr>
        <p:spPr bwMode="auto">
          <a:xfrm>
            <a:off x="4714295" y="5195243"/>
            <a:ext cx="381265" cy="8029"/>
          </a:xfrm>
          <a:prstGeom prst="line">
            <a:avLst/>
          </a:prstGeom>
          <a:noFill/>
          <a:ln w="9525">
            <a:solidFill>
              <a:schemeClr val="tx1"/>
            </a:solidFill>
            <a:round/>
            <a:headEnd/>
            <a:tailEnd/>
          </a:ln>
        </p:spPr>
        <p:txBody>
          <a:bodyPr wrap="none"/>
          <a:lstStyle/>
          <a:p>
            <a:endParaRPr lang="zh-CN" altLang="en-US"/>
          </a:p>
        </p:txBody>
      </p:sp>
      <p:sp>
        <p:nvSpPr>
          <p:cNvPr id="53" name="Line 53"/>
          <p:cNvSpPr>
            <a:spLocks noChangeShapeType="1"/>
          </p:cNvSpPr>
          <p:nvPr/>
        </p:nvSpPr>
        <p:spPr bwMode="auto">
          <a:xfrm flipV="1">
            <a:off x="6789634" y="5184920"/>
            <a:ext cx="593516" cy="2294"/>
          </a:xfrm>
          <a:prstGeom prst="line">
            <a:avLst/>
          </a:prstGeom>
          <a:noFill/>
          <a:ln w="9525">
            <a:solidFill>
              <a:schemeClr val="tx1"/>
            </a:solidFill>
            <a:round/>
            <a:headEnd/>
            <a:tailEnd/>
          </a:ln>
        </p:spPr>
        <p:txBody>
          <a:bodyPr wrap="none"/>
          <a:lstStyle/>
          <a:p>
            <a:endParaRPr lang="zh-CN" altLang="en-US"/>
          </a:p>
        </p:txBody>
      </p:sp>
      <p:sp>
        <p:nvSpPr>
          <p:cNvPr id="54" name="Line 54"/>
          <p:cNvSpPr>
            <a:spLocks noChangeShapeType="1"/>
          </p:cNvSpPr>
          <p:nvPr/>
        </p:nvSpPr>
        <p:spPr bwMode="auto">
          <a:xfrm>
            <a:off x="9089016" y="5557716"/>
            <a:ext cx="259417" cy="110118"/>
          </a:xfrm>
          <a:prstGeom prst="line">
            <a:avLst/>
          </a:prstGeom>
          <a:noFill/>
          <a:ln w="9525">
            <a:solidFill>
              <a:schemeClr val="tx1"/>
            </a:solidFill>
            <a:round/>
            <a:headEnd/>
            <a:tailEnd/>
          </a:ln>
        </p:spPr>
        <p:txBody>
          <a:bodyPr wrap="none"/>
          <a:lstStyle/>
          <a:p>
            <a:endParaRPr lang="zh-CN" altLang="en-US"/>
          </a:p>
        </p:txBody>
      </p:sp>
      <p:sp>
        <p:nvSpPr>
          <p:cNvPr id="55" name="Line 55"/>
          <p:cNvSpPr>
            <a:spLocks noChangeShapeType="1"/>
          </p:cNvSpPr>
          <p:nvPr/>
        </p:nvSpPr>
        <p:spPr bwMode="auto">
          <a:xfrm flipH="1">
            <a:off x="8843356" y="4511592"/>
            <a:ext cx="442189" cy="207619"/>
          </a:xfrm>
          <a:prstGeom prst="line">
            <a:avLst/>
          </a:prstGeom>
          <a:noFill/>
          <a:ln w="9525">
            <a:solidFill>
              <a:schemeClr val="tx1"/>
            </a:solidFill>
            <a:round/>
            <a:headEnd/>
            <a:tailEnd/>
          </a:ln>
        </p:spPr>
        <p:txBody>
          <a:bodyPr wrap="none"/>
          <a:lstStyle/>
          <a:p>
            <a:endParaRPr lang="zh-CN" altLang="en-US"/>
          </a:p>
        </p:txBody>
      </p:sp>
      <p:sp>
        <p:nvSpPr>
          <p:cNvPr id="56" name="Line 56"/>
          <p:cNvSpPr>
            <a:spLocks noChangeShapeType="1"/>
          </p:cNvSpPr>
          <p:nvPr/>
        </p:nvSpPr>
        <p:spPr bwMode="auto">
          <a:xfrm flipV="1">
            <a:off x="2745081" y="6081926"/>
            <a:ext cx="0" cy="137648"/>
          </a:xfrm>
          <a:prstGeom prst="line">
            <a:avLst/>
          </a:prstGeom>
          <a:noFill/>
          <a:ln w="9525">
            <a:solidFill>
              <a:schemeClr val="tx1"/>
            </a:solidFill>
            <a:round/>
            <a:headEnd/>
            <a:tailEnd type="triangle" w="med" len="med"/>
          </a:ln>
        </p:spPr>
        <p:txBody>
          <a:bodyPr wrap="none"/>
          <a:lstStyle/>
          <a:p>
            <a:endParaRPr lang="zh-CN" altLang="en-US"/>
          </a:p>
        </p:txBody>
      </p:sp>
      <p:sp>
        <p:nvSpPr>
          <p:cNvPr id="57" name="Line 57"/>
          <p:cNvSpPr>
            <a:spLocks noChangeShapeType="1"/>
          </p:cNvSpPr>
          <p:nvPr/>
        </p:nvSpPr>
        <p:spPr bwMode="auto">
          <a:xfrm>
            <a:off x="2627164" y="4347561"/>
            <a:ext cx="0" cy="151413"/>
          </a:xfrm>
          <a:prstGeom prst="line">
            <a:avLst/>
          </a:prstGeom>
          <a:noFill/>
          <a:ln w="9525">
            <a:solidFill>
              <a:schemeClr val="tx1"/>
            </a:solidFill>
            <a:round/>
            <a:headEnd/>
            <a:tailEnd type="triangle" w="med" len="med"/>
          </a:ln>
        </p:spPr>
        <p:txBody>
          <a:bodyPr wrap="none"/>
          <a:lstStyle/>
          <a:p>
            <a:endParaRPr lang="zh-CN" altLang="en-US"/>
          </a:p>
        </p:txBody>
      </p:sp>
      <p:sp>
        <p:nvSpPr>
          <p:cNvPr id="58" name="Line 58"/>
          <p:cNvSpPr>
            <a:spLocks noChangeShapeType="1"/>
          </p:cNvSpPr>
          <p:nvPr/>
        </p:nvSpPr>
        <p:spPr bwMode="auto">
          <a:xfrm>
            <a:off x="5209546" y="4746740"/>
            <a:ext cx="0" cy="368208"/>
          </a:xfrm>
          <a:prstGeom prst="line">
            <a:avLst/>
          </a:prstGeom>
          <a:noFill/>
          <a:ln w="9525">
            <a:solidFill>
              <a:schemeClr val="tx1"/>
            </a:solidFill>
            <a:round/>
            <a:headEnd/>
            <a:tailEnd type="triangle" w="med" len="med"/>
          </a:ln>
        </p:spPr>
        <p:txBody>
          <a:bodyPr wrap="none"/>
          <a:lstStyle/>
          <a:p>
            <a:endParaRPr lang="zh-CN" altLang="en-US"/>
          </a:p>
        </p:txBody>
      </p:sp>
      <p:sp>
        <p:nvSpPr>
          <p:cNvPr id="59" name="Line 59"/>
          <p:cNvSpPr>
            <a:spLocks noChangeShapeType="1"/>
          </p:cNvSpPr>
          <p:nvPr/>
        </p:nvSpPr>
        <p:spPr bwMode="auto">
          <a:xfrm>
            <a:off x="6624550" y="4915359"/>
            <a:ext cx="0" cy="175501"/>
          </a:xfrm>
          <a:prstGeom prst="line">
            <a:avLst/>
          </a:prstGeom>
          <a:noFill/>
          <a:ln w="9525">
            <a:solidFill>
              <a:schemeClr val="tx1"/>
            </a:solidFill>
            <a:round/>
            <a:headEnd/>
            <a:tailEnd type="triangle" w="med" len="med"/>
          </a:ln>
        </p:spPr>
        <p:txBody>
          <a:bodyPr wrap="none"/>
          <a:lstStyle/>
          <a:p>
            <a:endParaRPr lang="zh-CN" altLang="en-US"/>
          </a:p>
        </p:txBody>
      </p:sp>
      <p:sp>
        <p:nvSpPr>
          <p:cNvPr id="60" name="Line 60"/>
          <p:cNvSpPr>
            <a:spLocks noChangeShapeType="1"/>
          </p:cNvSpPr>
          <p:nvPr/>
        </p:nvSpPr>
        <p:spPr bwMode="auto">
          <a:xfrm flipV="1">
            <a:off x="9430975" y="5751570"/>
            <a:ext cx="0" cy="234001"/>
          </a:xfrm>
          <a:prstGeom prst="line">
            <a:avLst/>
          </a:prstGeom>
          <a:noFill/>
          <a:ln w="9525">
            <a:solidFill>
              <a:schemeClr val="tx1"/>
            </a:solidFill>
            <a:round/>
            <a:headEnd/>
            <a:tailEnd type="triangle" w="med" len="med"/>
          </a:ln>
        </p:spPr>
        <p:txBody>
          <a:bodyPr wrap="none"/>
          <a:lstStyle/>
          <a:p>
            <a:endParaRPr lang="zh-CN" altLang="en-US"/>
          </a:p>
        </p:txBody>
      </p:sp>
      <p:sp>
        <p:nvSpPr>
          <p:cNvPr id="61" name="Line 61"/>
          <p:cNvSpPr>
            <a:spLocks noChangeShapeType="1"/>
          </p:cNvSpPr>
          <p:nvPr/>
        </p:nvSpPr>
        <p:spPr bwMode="auto">
          <a:xfrm flipH="1">
            <a:off x="9407392" y="4271855"/>
            <a:ext cx="5896" cy="168619"/>
          </a:xfrm>
          <a:prstGeom prst="line">
            <a:avLst/>
          </a:prstGeom>
          <a:noFill/>
          <a:ln w="9525">
            <a:solidFill>
              <a:schemeClr val="tx1"/>
            </a:solidFill>
            <a:round/>
            <a:headEnd/>
            <a:tailEnd type="triangle" w="med" len="med"/>
          </a:ln>
        </p:spPr>
        <p:txBody>
          <a:bodyPr wrap="none"/>
          <a:lstStyle/>
          <a:p>
            <a:endParaRPr lang="zh-CN" altLang="en-US"/>
          </a:p>
        </p:txBody>
      </p:sp>
      <p:sp>
        <p:nvSpPr>
          <p:cNvPr id="62" name="Text Box 6"/>
          <p:cNvSpPr txBox="1">
            <a:spLocks noChangeArrowheads="1"/>
          </p:cNvSpPr>
          <p:nvPr/>
        </p:nvSpPr>
        <p:spPr bwMode="auto">
          <a:xfrm>
            <a:off x="5747863" y="5408325"/>
            <a:ext cx="407484" cy="461665"/>
          </a:xfrm>
          <a:prstGeom prst="rect">
            <a:avLst/>
          </a:prstGeom>
          <a:noFill/>
          <a:ln w="9525">
            <a:noFill/>
            <a:miter lim="800000"/>
            <a:headEnd/>
            <a:tailEnd/>
          </a:ln>
        </p:spPr>
        <p:txBody>
          <a:bodyPr wrap="none">
            <a:spAutoFit/>
          </a:bodyPr>
          <a:lstStyle/>
          <a:p>
            <a:pPr eaLnBrk="0" hangingPunct="0">
              <a:spcBef>
                <a:spcPct val="50000"/>
              </a:spcBef>
            </a:pPr>
            <a:r>
              <a:rPr kumimoji="0" lang="en-US" altLang="zh-CN" sz="2400" dirty="0">
                <a:solidFill>
                  <a:srgbClr val="C00000"/>
                </a:solidFill>
                <a:latin typeface="Arial Unicode MS" pitchFamily="34" charset="-122"/>
                <a:ea typeface="Arial Unicode MS" pitchFamily="34" charset="-122"/>
                <a:cs typeface="Arial Unicode MS" pitchFamily="34" charset="-122"/>
              </a:rPr>
              <a:t>R</a:t>
            </a:r>
            <a:endParaRPr kumimoji="0" lang="en-US" altLang="zh-CN" sz="1800" dirty="0">
              <a:solidFill>
                <a:srgbClr val="C00000"/>
              </a:solidFill>
              <a:latin typeface="Arial Unicode MS" pitchFamily="34" charset="-122"/>
              <a:ea typeface="Arial Unicode MS" pitchFamily="34" charset="-122"/>
              <a:cs typeface="Arial Unicode MS" pitchFamily="34" charset="-122"/>
            </a:endParaRPr>
          </a:p>
        </p:txBody>
      </p:sp>
      <p:sp>
        <p:nvSpPr>
          <p:cNvPr id="63" name="Text Box 5"/>
          <p:cNvSpPr txBox="1">
            <a:spLocks noChangeArrowheads="1"/>
          </p:cNvSpPr>
          <p:nvPr/>
        </p:nvSpPr>
        <p:spPr bwMode="auto">
          <a:xfrm>
            <a:off x="2082871" y="5850791"/>
            <a:ext cx="356188" cy="400110"/>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B</a:t>
            </a:r>
          </a:p>
        </p:txBody>
      </p:sp>
      <p:sp>
        <p:nvSpPr>
          <p:cNvPr id="64" name="Text Box 5"/>
          <p:cNvSpPr txBox="1">
            <a:spLocks noChangeArrowheads="1"/>
          </p:cNvSpPr>
          <p:nvPr/>
        </p:nvSpPr>
        <p:spPr bwMode="auto">
          <a:xfrm>
            <a:off x="9755232" y="4181493"/>
            <a:ext cx="370614" cy="400110"/>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D</a:t>
            </a:r>
          </a:p>
        </p:txBody>
      </p:sp>
      <p:sp>
        <p:nvSpPr>
          <p:cNvPr id="65" name="TextBox 64"/>
          <p:cNvSpPr txBox="1"/>
          <p:nvPr/>
        </p:nvSpPr>
        <p:spPr>
          <a:xfrm>
            <a:off x="3164365" y="5004794"/>
            <a:ext cx="1378647" cy="338554"/>
          </a:xfrm>
          <a:prstGeom prst="rect">
            <a:avLst/>
          </a:prstGeom>
          <a:noFill/>
        </p:spPr>
        <p:txBody>
          <a:bodyPr wrap="square" rtlCol="0">
            <a:spAutoFit/>
          </a:bodyPr>
          <a:lstStyle/>
          <a:p>
            <a:r>
              <a:rPr lang="en-US" altLang="zh-CN" sz="1600" dirty="0">
                <a:latin typeface="Arial" charset="0"/>
                <a:ea typeface="宋体" pitchFamily="2" charset="-122"/>
              </a:rPr>
              <a:t>223.1.1.0/24</a:t>
            </a:r>
            <a:endParaRPr lang="zh-CN" altLang="en-US" sz="1600" dirty="0">
              <a:latin typeface="Arial" charset="0"/>
              <a:ea typeface="宋体" pitchFamily="2" charset="-122"/>
            </a:endParaRPr>
          </a:p>
        </p:txBody>
      </p:sp>
      <p:sp>
        <p:nvSpPr>
          <p:cNvPr id="66" name="TextBox 65"/>
          <p:cNvSpPr txBox="1"/>
          <p:nvPr/>
        </p:nvSpPr>
        <p:spPr>
          <a:xfrm>
            <a:off x="7617019" y="5089228"/>
            <a:ext cx="1378647" cy="338554"/>
          </a:xfrm>
          <a:prstGeom prst="rect">
            <a:avLst/>
          </a:prstGeom>
          <a:noFill/>
        </p:spPr>
        <p:txBody>
          <a:bodyPr wrap="square" rtlCol="0">
            <a:spAutoFit/>
          </a:bodyPr>
          <a:lstStyle/>
          <a:p>
            <a:r>
              <a:rPr lang="en-US" altLang="zh-CN" sz="1600" dirty="0">
                <a:latin typeface="Arial" charset="0"/>
                <a:ea typeface="宋体" pitchFamily="2" charset="-122"/>
              </a:rPr>
              <a:t>223.1.2.0/24</a:t>
            </a:r>
            <a:endParaRPr lang="zh-CN" altLang="en-US" sz="1600" dirty="0">
              <a:latin typeface="Arial" charset="0"/>
              <a:ea typeface="宋体" pitchFamily="2" charset="-122"/>
            </a:endParaRPr>
          </a:p>
        </p:txBody>
      </p:sp>
      <p:pic>
        <p:nvPicPr>
          <p:cNvPr id="67" name="Picture 28" descr="015">
            <a:extLst>
              <a:ext uri="{FF2B5EF4-FFF2-40B4-BE49-F238E27FC236}">
                <a16:creationId xmlns:a16="http://schemas.microsoft.com/office/drawing/2014/main" id="{2D79F4CF-EDD8-4183-B3AE-8BA2BBA43FC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64603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网络地址转换</a:t>
            </a:r>
          </a:p>
        </p:txBody>
      </p:sp>
      <p:sp>
        <p:nvSpPr>
          <p:cNvPr id="8" name="内容占位符 5"/>
          <p:cNvSpPr txBox="1">
            <a:spLocks/>
          </p:cNvSpPr>
          <p:nvPr/>
        </p:nvSpPr>
        <p:spPr>
          <a:xfrm>
            <a:off x="838199" y="1345492"/>
            <a:ext cx="10515600" cy="2543336"/>
          </a:xfrm>
          <a:prstGeom prst="rect">
            <a:avLst/>
          </a:prstGeom>
        </p:spPr>
        <p:txBody>
          <a:bodyPr vert="horz" lIns="91440" tIns="45720" rIns="91440" bIns="45720" rtlCol="0">
            <a:normAutofit fontScale="92500" lnSpcReduction="10000"/>
          </a:bodyPr>
          <a:lstStyle/>
          <a:p>
            <a:pPr marL="360363" marR="0" lvl="0" indent="-360363" algn="l" defTabSz="914400" rtl="0" eaLnBrk="1" fontAlgn="auto" latinLnBrk="0" hangingPunct="1">
              <a:lnSpc>
                <a:spcPct val="110000"/>
              </a:lnSpc>
              <a:spcBef>
                <a:spcPts val="600"/>
              </a:spcBef>
              <a:spcAft>
                <a:spcPts val="0"/>
              </a:spcAft>
              <a:buClrTx/>
              <a:buSzTx/>
              <a:buFont typeface="Wingdings" pitchFamily="2" charset="2"/>
              <a:buChar char="Ø"/>
              <a:tabLst/>
              <a:defRPr/>
            </a:pPr>
            <a:r>
              <a:rPr kumimoji="0" lang="zh-CN" altLang="en-US" sz="2400" b="0" i="0" u="none" strike="noStrike" kern="1200" cap="none" spc="0" normalizeH="0" baseline="0" noProof="0" dirty="0">
                <a:ln>
                  <a:noFill/>
                </a:ln>
                <a:solidFill>
                  <a:srgbClr val="C00000"/>
                </a:solidFill>
                <a:effectLst/>
                <a:uLnTx/>
                <a:uFillTx/>
                <a:latin typeface="Microsoft YaHei" panose="020B0503020204020204" pitchFamily="34" charset="-122"/>
                <a:ea typeface="Microsoft YaHei" panose="020B0503020204020204" pitchFamily="34" charset="-122"/>
              </a:rPr>
              <a:t>网络地址转换</a:t>
            </a:r>
            <a:r>
              <a:rPr kumimoji="0" lang="en-US" altLang="zh-CN" sz="2400" b="0" i="0" u="none" strike="noStrike" kern="1200" cap="none" spc="0" normalizeH="0" baseline="0" noProof="0" dirty="0">
                <a:ln>
                  <a:noFill/>
                </a:ln>
                <a:solidFill>
                  <a:srgbClr val="C00000"/>
                </a:solidFill>
                <a:effectLst/>
                <a:uLnTx/>
                <a:uFillTx/>
                <a:latin typeface="Microsoft YaHei" panose="020B0503020204020204" pitchFamily="34" charset="-122"/>
                <a:ea typeface="Microsoft YaHei" panose="020B0503020204020204" pitchFamily="34" charset="-122"/>
              </a:rPr>
              <a:t>(NAT)</a:t>
            </a:r>
            <a:r>
              <a:rPr kumimoji="0" lang="zh-CN" altLang="en-US" sz="2400" b="0" i="0" u="none" strike="noStrike" kern="1200" cap="none" spc="0" normalizeH="0" baseline="0" noProof="0" dirty="0">
                <a:ln>
                  <a:noFill/>
                </a:ln>
                <a:effectLst/>
                <a:uLnTx/>
                <a:uFillTx/>
                <a:latin typeface="Microsoft YaHei" panose="020B0503020204020204" pitchFamily="34" charset="-122"/>
                <a:ea typeface="Microsoft YaHei" panose="020B0503020204020204" pitchFamily="34" charset="-122"/>
              </a:rPr>
              <a:t>用于解决</a:t>
            </a:r>
            <a:r>
              <a:rPr kumimoji="0" lang="en-US" altLang="zh-CN" sz="2400" b="0" i="0" u="none" strike="noStrike" kern="1200" cap="none" spc="0" normalizeH="0" baseline="0" noProof="0" dirty="0">
                <a:ln>
                  <a:noFill/>
                </a:ln>
                <a:effectLst/>
                <a:uLnTx/>
                <a:uFillTx/>
                <a:latin typeface="Microsoft YaHei" panose="020B0503020204020204" pitchFamily="34" charset="-122"/>
                <a:ea typeface="Microsoft YaHei" panose="020B0503020204020204" pitchFamily="34" charset="-122"/>
              </a:rPr>
              <a:t>IPv4</a:t>
            </a:r>
            <a:r>
              <a:rPr kumimoji="0" lang="zh-CN" altLang="en-US" sz="2400" b="0" i="0" u="none" strike="noStrike" kern="1200" cap="none" spc="0" normalizeH="0" baseline="0" noProof="0" dirty="0">
                <a:ln>
                  <a:noFill/>
                </a:ln>
                <a:effectLst/>
                <a:uLnTx/>
                <a:uFillTx/>
                <a:latin typeface="Microsoft YaHei" panose="020B0503020204020204" pitchFamily="34" charset="-122"/>
                <a:ea typeface="Microsoft YaHei" panose="020B0503020204020204" pitchFamily="34" charset="-122"/>
              </a:rPr>
              <a:t>地址不足的问题，</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rPr>
              <a:t>是一种将私有（保留）地址转化为公有</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rPr>
              <a:t>IP</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rPr>
              <a:t>地址的转换技术</a:t>
            </a:r>
            <a:endPar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endParaRPr>
          </a:p>
          <a:p>
            <a:pPr marL="360363" lvl="0" indent="-360363">
              <a:spcBef>
                <a:spcPts val="600"/>
              </a:spcBef>
              <a:buFont typeface="Wingdings" pitchFamily="2" charset="2"/>
              <a:buChar char="Ø"/>
              <a:defRPr/>
            </a:pPr>
            <a:r>
              <a:rPr lang="zh-CN" altLang="en-US" sz="2400" dirty="0">
                <a:latin typeface="Microsoft YaHei" panose="020B0503020204020204" pitchFamily="34" charset="-122"/>
                <a:ea typeface="Microsoft YaHei" panose="020B0503020204020204" pitchFamily="34" charset="-122"/>
              </a:rPr>
              <a:t>私有</a:t>
            </a:r>
            <a:r>
              <a:rPr lang="en-US" altLang="zh-CN" sz="2400" dirty="0">
                <a:latin typeface="Microsoft YaHei" panose="020B0503020204020204" pitchFamily="34" charset="-122"/>
                <a:ea typeface="Microsoft YaHei" panose="020B0503020204020204" pitchFamily="34" charset="-122"/>
              </a:rPr>
              <a:t>IP</a:t>
            </a:r>
            <a:r>
              <a:rPr lang="zh-CN" altLang="en-US" sz="2400" dirty="0">
                <a:latin typeface="Microsoft YaHei" panose="020B0503020204020204" pitchFamily="34" charset="-122"/>
                <a:ea typeface="Microsoft YaHei" panose="020B0503020204020204" pitchFamily="34" charset="-122"/>
              </a:rPr>
              <a:t>地址：</a:t>
            </a:r>
            <a:endParaRPr lang="en-US" altLang="zh-CN" sz="2400" dirty="0">
              <a:latin typeface="Microsoft YaHei" panose="020B0503020204020204" pitchFamily="34" charset="-122"/>
              <a:ea typeface="Microsoft YaHei" panose="020B0503020204020204" pitchFamily="34" charset="-122"/>
            </a:endParaRPr>
          </a:p>
          <a:p>
            <a:pPr marL="685800" lvl="1" indent="-228600">
              <a:lnSpc>
                <a:spcPct val="130000"/>
              </a:lnSpc>
              <a:spcBef>
                <a:spcPts val="600"/>
              </a:spcBef>
              <a:buFont typeface="Arial" panose="020B0604020202020204" pitchFamily="34" charset="0"/>
              <a:buChar char="•"/>
            </a:pPr>
            <a:r>
              <a:rPr lang="en-US" altLang="zh-CN" sz="2000" dirty="0">
                <a:latin typeface="Microsoft YaHei" panose="020B0503020204020204" pitchFamily="34" charset="-122"/>
                <a:ea typeface="Microsoft YaHei" panose="020B0503020204020204" pitchFamily="34" charset="-122"/>
              </a:rPr>
              <a:t>A</a:t>
            </a:r>
            <a:r>
              <a:rPr lang="zh-CN" altLang="en-US" sz="2000" dirty="0">
                <a:latin typeface="Microsoft YaHei" panose="020B0503020204020204" pitchFamily="34" charset="-122"/>
                <a:ea typeface="Microsoft YaHei" panose="020B0503020204020204" pitchFamily="34" charset="-122"/>
              </a:rPr>
              <a:t>类地址：</a:t>
            </a:r>
            <a:r>
              <a:rPr lang="en-US" altLang="zh-CN" sz="2000" dirty="0">
                <a:latin typeface="Microsoft YaHei" panose="020B0503020204020204" pitchFamily="34" charset="-122"/>
                <a:ea typeface="Microsoft YaHei" panose="020B0503020204020204" pitchFamily="34" charset="-122"/>
              </a:rPr>
              <a:t>10.0.0.0--10.255.255.255 </a:t>
            </a:r>
          </a:p>
          <a:p>
            <a:pPr marL="685800" lvl="1" indent="-228600">
              <a:lnSpc>
                <a:spcPct val="130000"/>
              </a:lnSpc>
              <a:spcBef>
                <a:spcPts val="600"/>
              </a:spcBef>
              <a:buFont typeface="Arial" panose="020B0604020202020204" pitchFamily="34" charset="0"/>
              <a:buChar char="•"/>
            </a:pPr>
            <a:r>
              <a:rPr lang="en-US" altLang="zh-CN" sz="2000" dirty="0">
                <a:latin typeface="Microsoft YaHei" panose="020B0503020204020204" pitchFamily="34" charset="-122"/>
                <a:ea typeface="Microsoft YaHei" panose="020B0503020204020204" pitchFamily="34" charset="-122"/>
              </a:rPr>
              <a:t>B</a:t>
            </a:r>
            <a:r>
              <a:rPr lang="zh-CN" altLang="en-US" sz="2000" dirty="0">
                <a:latin typeface="Microsoft YaHei" panose="020B0503020204020204" pitchFamily="34" charset="-122"/>
                <a:ea typeface="Microsoft YaHei" panose="020B0503020204020204" pitchFamily="34" charset="-122"/>
              </a:rPr>
              <a:t>类地址：</a:t>
            </a:r>
            <a:r>
              <a:rPr lang="en-US" altLang="zh-CN" sz="2000" dirty="0">
                <a:latin typeface="Microsoft YaHei" panose="020B0503020204020204" pitchFamily="34" charset="-122"/>
                <a:ea typeface="Microsoft YaHei" panose="020B0503020204020204" pitchFamily="34" charset="-122"/>
              </a:rPr>
              <a:t>172.16.0.0--172.31.255.555</a:t>
            </a:r>
            <a:endParaRPr lang="en-US" altLang="zh-CN" sz="2400" dirty="0">
              <a:latin typeface="Microsoft YaHei" panose="020B0503020204020204" pitchFamily="34" charset="-122"/>
              <a:ea typeface="Microsoft YaHei" panose="020B0503020204020204" pitchFamily="34" charset="-122"/>
            </a:endParaRPr>
          </a:p>
          <a:p>
            <a:pPr marL="685800" lvl="1" indent="-228600">
              <a:lnSpc>
                <a:spcPct val="130000"/>
              </a:lnSpc>
              <a:spcBef>
                <a:spcPts val="600"/>
              </a:spcBef>
              <a:buFont typeface="Arial" panose="020B0604020202020204" pitchFamily="34" charset="0"/>
              <a:buChar char="•"/>
            </a:pPr>
            <a:r>
              <a:rPr lang="en-US" altLang="zh-CN" sz="2000" dirty="0">
                <a:latin typeface="Microsoft YaHei" panose="020B0503020204020204" pitchFamily="34" charset="-122"/>
                <a:ea typeface="Microsoft YaHei" panose="020B0503020204020204" pitchFamily="34" charset="-122"/>
              </a:rPr>
              <a:t>C</a:t>
            </a:r>
            <a:r>
              <a:rPr lang="zh-CN" altLang="en-US" sz="2000" dirty="0">
                <a:latin typeface="Microsoft YaHei" panose="020B0503020204020204" pitchFamily="34" charset="-122"/>
                <a:ea typeface="Microsoft YaHei" panose="020B0503020204020204" pitchFamily="34" charset="-122"/>
              </a:rPr>
              <a:t>类地址：</a:t>
            </a:r>
            <a:r>
              <a:rPr lang="en-US" altLang="zh-CN" sz="2000" dirty="0">
                <a:latin typeface="Microsoft YaHei" panose="020B0503020204020204" pitchFamily="34" charset="-122"/>
                <a:ea typeface="Microsoft YaHei" panose="020B0503020204020204" pitchFamily="34" charset="-122"/>
              </a:rPr>
              <a:t>192.168.0.0--192.168.255.255</a:t>
            </a:r>
          </a:p>
        </p:txBody>
      </p:sp>
      <p:pic>
        <p:nvPicPr>
          <p:cNvPr id="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0535" y="3783515"/>
            <a:ext cx="6816957" cy="2793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13"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144</a:t>
            </a:fld>
            <a:endParaRPr kumimoji="1" lang="zh-CN" altLang="en-US" dirty="0"/>
          </a:p>
        </p:txBody>
      </p:sp>
      <p:pic>
        <p:nvPicPr>
          <p:cNvPr id="7" name="Picture 28" descr="015">
            <a:extLst>
              <a:ext uri="{FF2B5EF4-FFF2-40B4-BE49-F238E27FC236}">
                <a16:creationId xmlns:a16="http://schemas.microsoft.com/office/drawing/2014/main" id="{DB24A405-8E1C-4FC3-9E13-1176FAC35B5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2230150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NAT</a:t>
            </a:r>
            <a:r>
              <a:rPr lang="zh-CN" altLang="en-US" dirty="0"/>
              <a:t>工作机制</a:t>
            </a:r>
          </a:p>
        </p:txBody>
      </p:sp>
      <p:sp>
        <p:nvSpPr>
          <p:cNvPr id="7" name="Freeform 2"/>
          <p:cNvSpPr>
            <a:spLocks/>
          </p:cNvSpPr>
          <p:nvPr/>
        </p:nvSpPr>
        <p:spPr bwMode="auto">
          <a:xfrm>
            <a:off x="5715000" y="1830388"/>
            <a:ext cx="3738563" cy="2697162"/>
          </a:xfrm>
          <a:custGeom>
            <a:avLst/>
            <a:gdLst>
              <a:gd name="T0" fmla="*/ 2147483646 w 2355"/>
              <a:gd name="T1" fmla="*/ 2147483646 h 1699"/>
              <a:gd name="T2" fmla="*/ 2147483646 w 2355"/>
              <a:gd name="T3" fmla="*/ 2147483646 h 1699"/>
              <a:gd name="T4" fmla="*/ 2147483646 w 2355"/>
              <a:gd name="T5" fmla="*/ 2147483646 h 1699"/>
              <a:gd name="T6" fmla="*/ 2147483646 w 2355"/>
              <a:gd name="T7" fmla="*/ 2147483646 h 1699"/>
              <a:gd name="T8" fmla="*/ 2147483646 w 2355"/>
              <a:gd name="T9" fmla="*/ 2147483646 h 1699"/>
              <a:gd name="T10" fmla="*/ 2147483646 w 2355"/>
              <a:gd name="T11" fmla="*/ 2147483646 h 1699"/>
              <a:gd name="T12" fmla="*/ 2147483646 w 2355"/>
              <a:gd name="T13" fmla="*/ 2147483646 h 1699"/>
              <a:gd name="T14" fmla="*/ 2147483646 w 2355"/>
              <a:gd name="T15" fmla="*/ 2147483646 h 1699"/>
              <a:gd name="T16" fmla="*/ 2147483646 w 2355"/>
              <a:gd name="T17" fmla="*/ 2147483646 h 1699"/>
              <a:gd name="T18" fmla="*/ 2147483646 w 2355"/>
              <a:gd name="T19" fmla="*/ 2147483646 h 1699"/>
              <a:gd name="T20" fmla="*/ 2147483646 w 2355"/>
              <a:gd name="T21" fmla="*/ 2147483646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w="9525">
            <a:noFill/>
            <a:round/>
            <a:headEnd/>
            <a:tailEnd/>
          </a:ln>
        </p:spPr>
        <p:txBody>
          <a:bodyPr wrap="none" anchor="ctr"/>
          <a:lstStyle/>
          <a:p>
            <a:endParaRPr lang="zh-CN" altLang="en-US"/>
          </a:p>
        </p:txBody>
      </p:sp>
      <p:sp>
        <p:nvSpPr>
          <p:cNvPr id="8" name="Freeform 4"/>
          <p:cNvSpPr>
            <a:spLocks/>
          </p:cNvSpPr>
          <p:nvPr/>
        </p:nvSpPr>
        <p:spPr bwMode="auto">
          <a:xfrm>
            <a:off x="3868738" y="2597150"/>
            <a:ext cx="1519237" cy="1355725"/>
          </a:xfrm>
          <a:custGeom>
            <a:avLst/>
            <a:gdLst>
              <a:gd name="T0" fmla="*/ 2147483646 w 2269"/>
              <a:gd name="T1" fmla="*/ 2147483646 h 854"/>
              <a:gd name="T2" fmla="*/ 2147483646 w 2269"/>
              <a:gd name="T3" fmla="*/ 2147483646 h 854"/>
              <a:gd name="T4" fmla="*/ 2147483646 w 2269"/>
              <a:gd name="T5" fmla="*/ 2147483646 h 854"/>
              <a:gd name="T6" fmla="*/ 2147483646 w 2269"/>
              <a:gd name="T7" fmla="*/ 2147483646 h 854"/>
              <a:gd name="T8" fmla="*/ 2147483646 w 2269"/>
              <a:gd name="T9" fmla="*/ 2147483646 h 854"/>
              <a:gd name="T10" fmla="*/ 2147483646 w 2269"/>
              <a:gd name="T11" fmla="*/ 2147483646 h 854"/>
              <a:gd name="T12" fmla="*/ 2147483646 w 2269"/>
              <a:gd name="T13" fmla="*/ 2147483646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w="9525">
            <a:noFill/>
            <a:round/>
            <a:headEnd/>
            <a:tailEnd/>
          </a:ln>
        </p:spPr>
        <p:txBody>
          <a:bodyPr wrap="none" anchor="ctr"/>
          <a:lstStyle/>
          <a:p>
            <a:endParaRPr lang="zh-CN" altLang="en-US"/>
          </a:p>
        </p:txBody>
      </p:sp>
      <p:graphicFrame>
        <p:nvGraphicFramePr>
          <p:cNvPr id="9" name="Object 5"/>
          <p:cNvGraphicFramePr>
            <a:graphicFrameLocks noChangeAspect="1"/>
          </p:cNvGraphicFramePr>
          <p:nvPr/>
        </p:nvGraphicFramePr>
        <p:xfrm>
          <a:off x="8743950" y="2141538"/>
          <a:ext cx="555625" cy="463550"/>
        </p:xfrm>
        <a:graphic>
          <a:graphicData uri="http://schemas.openxmlformats.org/presentationml/2006/ole">
            <mc:AlternateContent xmlns:mc="http://schemas.openxmlformats.org/markup-compatibility/2006">
              <mc:Choice xmlns:v="urn:schemas-microsoft-com:vml" Requires="v">
                <p:oleObj name="Clip" r:id="rId2" imgW="1307263" imgH="1084139" progId="">
                  <p:embed/>
                </p:oleObj>
              </mc:Choice>
              <mc:Fallback>
                <p:oleObj name="Clip" r:id="rId2" imgW="1307263" imgH="1084139" progId="">
                  <p:embed/>
                  <p:pic>
                    <p:nvPicPr>
                      <p:cNvPr id="9"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43950" y="2141538"/>
                        <a:ext cx="555625" cy="46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6"/>
          <p:cNvGraphicFramePr>
            <a:graphicFrameLocks noChangeAspect="1"/>
          </p:cNvGraphicFramePr>
          <p:nvPr/>
        </p:nvGraphicFramePr>
        <p:xfrm>
          <a:off x="8793163" y="2930525"/>
          <a:ext cx="579437" cy="482600"/>
        </p:xfrm>
        <a:graphic>
          <a:graphicData uri="http://schemas.openxmlformats.org/presentationml/2006/ole">
            <mc:AlternateContent xmlns:mc="http://schemas.openxmlformats.org/markup-compatibility/2006">
              <mc:Choice xmlns:v="urn:schemas-microsoft-com:vml" Requires="v">
                <p:oleObj name="Clip" r:id="rId2" imgW="1307263" imgH="1084139" progId="">
                  <p:embed/>
                </p:oleObj>
              </mc:Choice>
              <mc:Fallback>
                <p:oleObj name="Clip" r:id="rId2" imgW="1307263" imgH="1084139" progId="">
                  <p:embed/>
                  <p:pic>
                    <p:nvPicPr>
                      <p:cNvPr id="10" name="Object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93163" y="2930525"/>
                        <a:ext cx="57943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7"/>
          <p:cNvGraphicFramePr>
            <a:graphicFrameLocks noChangeAspect="1"/>
          </p:cNvGraphicFramePr>
          <p:nvPr/>
        </p:nvGraphicFramePr>
        <p:xfrm>
          <a:off x="8764588" y="3695700"/>
          <a:ext cx="563562" cy="469900"/>
        </p:xfrm>
        <a:graphic>
          <a:graphicData uri="http://schemas.openxmlformats.org/presentationml/2006/ole">
            <mc:AlternateContent xmlns:mc="http://schemas.openxmlformats.org/markup-compatibility/2006">
              <mc:Choice xmlns:v="urn:schemas-microsoft-com:vml" Requires="v">
                <p:oleObj name="Clip" r:id="rId2" imgW="1307263" imgH="1084139" progId="">
                  <p:embed/>
                </p:oleObj>
              </mc:Choice>
              <mc:Fallback>
                <p:oleObj name="Clip" r:id="rId2" imgW="1307263" imgH="1084139" progId="">
                  <p:embed/>
                  <p:pic>
                    <p:nvPicPr>
                      <p:cNvPr id="11" name="Object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64588" y="3695700"/>
                        <a:ext cx="563562"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 name="Line 8"/>
          <p:cNvSpPr>
            <a:spLocks noChangeShapeType="1"/>
          </p:cNvSpPr>
          <p:nvPr/>
        </p:nvSpPr>
        <p:spPr bwMode="auto">
          <a:xfrm>
            <a:off x="5829300" y="3152775"/>
            <a:ext cx="3025775" cy="6350"/>
          </a:xfrm>
          <a:prstGeom prst="line">
            <a:avLst/>
          </a:prstGeom>
          <a:noFill/>
          <a:ln w="19050">
            <a:solidFill>
              <a:schemeClr val="tx1"/>
            </a:solidFill>
            <a:round/>
            <a:headEnd/>
            <a:tailEnd/>
          </a:ln>
        </p:spPr>
        <p:txBody>
          <a:bodyPr wrap="none"/>
          <a:lstStyle/>
          <a:p>
            <a:endParaRPr lang="zh-CN" altLang="en-US"/>
          </a:p>
        </p:txBody>
      </p:sp>
      <p:sp>
        <p:nvSpPr>
          <p:cNvPr id="13" name="Line 9"/>
          <p:cNvSpPr>
            <a:spLocks noChangeShapeType="1"/>
          </p:cNvSpPr>
          <p:nvPr/>
        </p:nvSpPr>
        <p:spPr bwMode="auto">
          <a:xfrm flipH="1">
            <a:off x="8664575" y="2409825"/>
            <a:ext cx="9525" cy="1492250"/>
          </a:xfrm>
          <a:prstGeom prst="line">
            <a:avLst/>
          </a:prstGeom>
          <a:noFill/>
          <a:ln w="19050">
            <a:solidFill>
              <a:schemeClr val="tx1"/>
            </a:solidFill>
            <a:round/>
            <a:headEnd/>
            <a:tailEnd/>
          </a:ln>
        </p:spPr>
        <p:txBody>
          <a:bodyPr wrap="none"/>
          <a:lstStyle/>
          <a:p>
            <a:endParaRPr lang="zh-CN" altLang="en-US"/>
          </a:p>
        </p:txBody>
      </p:sp>
      <p:sp>
        <p:nvSpPr>
          <p:cNvPr id="14" name="Line 10"/>
          <p:cNvSpPr>
            <a:spLocks noChangeShapeType="1"/>
          </p:cNvSpPr>
          <p:nvPr/>
        </p:nvSpPr>
        <p:spPr bwMode="auto">
          <a:xfrm>
            <a:off x="8669338" y="2405063"/>
            <a:ext cx="133350" cy="6350"/>
          </a:xfrm>
          <a:prstGeom prst="line">
            <a:avLst/>
          </a:prstGeom>
          <a:noFill/>
          <a:ln w="19050">
            <a:solidFill>
              <a:schemeClr val="tx1"/>
            </a:solidFill>
            <a:round/>
            <a:headEnd/>
            <a:tailEnd/>
          </a:ln>
        </p:spPr>
        <p:txBody>
          <a:bodyPr wrap="none"/>
          <a:lstStyle/>
          <a:p>
            <a:endParaRPr lang="zh-CN" altLang="en-US"/>
          </a:p>
        </p:txBody>
      </p:sp>
      <p:sp>
        <p:nvSpPr>
          <p:cNvPr id="15" name="Line 11"/>
          <p:cNvSpPr>
            <a:spLocks noChangeShapeType="1"/>
          </p:cNvSpPr>
          <p:nvPr/>
        </p:nvSpPr>
        <p:spPr bwMode="auto">
          <a:xfrm flipV="1">
            <a:off x="8675688" y="3910013"/>
            <a:ext cx="171450" cy="0"/>
          </a:xfrm>
          <a:prstGeom prst="line">
            <a:avLst/>
          </a:prstGeom>
          <a:noFill/>
          <a:ln w="19050">
            <a:solidFill>
              <a:schemeClr val="tx1"/>
            </a:solidFill>
            <a:round/>
            <a:headEnd/>
            <a:tailEnd/>
          </a:ln>
        </p:spPr>
        <p:txBody>
          <a:bodyPr wrap="none"/>
          <a:lstStyle/>
          <a:p>
            <a:endParaRPr lang="zh-CN" altLang="en-US"/>
          </a:p>
        </p:txBody>
      </p:sp>
      <p:sp>
        <p:nvSpPr>
          <p:cNvPr id="16" name="Text Box 12"/>
          <p:cNvSpPr txBox="1">
            <a:spLocks noChangeArrowheads="1"/>
          </p:cNvSpPr>
          <p:nvPr/>
        </p:nvSpPr>
        <p:spPr bwMode="auto">
          <a:xfrm>
            <a:off x="9294813" y="2139950"/>
            <a:ext cx="1125629"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10.0.0.1</a:t>
            </a:r>
          </a:p>
        </p:txBody>
      </p:sp>
      <p:sp>
        <p:nvSpPr>
          <p:cNvPr id="17" name="Text Box 13"/>
          <p:cNvSpPr txBox="1">
            <a:spLocks noChangeArrowheads="1"/>
          </p:cNvSpPr>
          <p:nvPr/>
        </p:nvSpPr>
        <p:spPr bwMode="auto">
          <a:xfrm>
            <a:off x="9421813" y="2908300"/>
            <a:ext cx="1125629"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10.0.0.2</a:t>
            </a:r>
          </a:p>
        </p:txBody>
      </p:sp>
      <p:sp>
        <p:nvSpPr>
          <p:cNvPr id="18" name="Text Box 14"/>
          <p:cNvSpPr txBox="1">
            <a:spLocks noChangeArrowheads="1"/>
          </p:cNvSpPr>
          <p:nvPr/>
        </p:nvSpPr>
        <p:spPr bwMode="auto">
          <a:xfrm>
            <a:off x="9383713" y="3803650"/>
            <a:ext cx="1125629"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10.0.0.3</a:t>
            </a:r>
          </a:p>
        </p:txBody>
      </p:sp>
      <p:sp>
        <p:nvSpPr>
          <p:cNvPr id="19" name="Text Box 15"/>
          <p:cNvSpPr txBox="1">
            <a:spLocks noChangeArrowheads="1"/>
          </p:cNvSpPr>
          <p:nvPr/>
        </p:nvSpPr>
        <p:spPr bwMode="auto">
          <a:xfrm>
            <a:off x="5822950" y="2716213"/>
            <a:ext cx="923925" cy="336550"/>
          </a:xfrm>
          <a:prstGeom prst="rect">
            <a:avLst/>
          </a:prstGeom>
          <a:noFill/>
          <a:ln w="9525">
            <a:noFill/>
            <a:miter lim="800000"/>
            <a:headEnd/>
            <a:tailEnd/>
          </a:ln>
        </p:spPr>
        <p:txBody>
          <a:bodyPr wrap="none">
            <a:spAutoFit/>
          </a:bodyPr>
          <a:lstStyle/>
          <a:p>
            <a:r>
              <a:rPr lang="en-US" altLang="zh-CN" sz="1600">
                <a:ea typeface="宋体" charset="-122"/>
              </a:rPr>
              <a:t>10.0.0.4</a:t>
            </a:r>
          </a:p>
        </p:txBody>
      </p:sp>
      <p:sp>
        <p:nvSpPr>
          <p:cNvPr id="20" name="Line 16"/>
          <p:cNvSpPr>
            <a:spLocks noChangeShapeType="1"/>
          </p:cNvSpPr>
          <p:nvPr/>
        </p:nvSpPr>
        <p:spPr bwMode="auto">
          <a:xfrm flipH="1">
            <a:off x="5903913" y="2981325"/>
            <a:ext cx="85725" cy="128588"/>
          </a:xfrm>
          <a:prstGeom prst="line">
            <a:avLst/>
          </a:prstGeom>
          <a:noFill/>
          <a:ln w="19050">
            <a:solidFill>
              <a:schemeClr val="tx1"/>
            </a:solidFill>
            <a:round/>
            <a:headEnd/>
            <a:tailEnd type="triangle" w="med" len="med"/>
          </a:ln>
        </p:spPr>
        <p:txBody>
          <a:bodyPr wrap="none"/>
          <a:lstStyle/>
          <a:p>
            <a:endParaRPr lang="zh-CN" altLang="en-US"/>
          </a:p>
        </p:txBody>
      </p:sp>
      <p:sp>
        <p:nvSpPr>
          <p:cNvPr id="21" name="Text Box 17"/>
          <p:cNvSpPr txBox="1">
            <a:spLocks noChangeArrowheads="1"/>
          </p:cNvSpPr>
          <p:nvPr/>
        </p:nvSpPr>
        <p:spPr bwMode="auto">
          <a:xfrm>
            <a:off x="4433888" y="3343275"/>
            <a:ext cx="1577676"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138.76.29.7</a:t>
            </a:r>
          </a:p>
        </p:txBody>
      </p:sp>
      <p:sp>
        <p:nvSpPr>
          <p:cNvPr id="22" name="Line 18"/>
          <p:cNvSpPr>
            <a:spLocks noChangeShapeType="1"/>
          </p:cNvSpPr>
          <p:nvPr/>
        </p:nvSpPr>
        <p:spPr bwMode="auto">
          <a:xfrm flipH="1">
            <a:off x="5164138" y="3219450"/>
            <a:ext cx="85725" cy="128588"/>
          </a:xfrm>
          <a:prstGeom prst="line">
            <a:avLst/>
          </a:prstGeom>
          <a:noFill/>
          <a:ln w="19050">
            <a:solidFill>
              <a:schemeClr val="tx1"/>
            </a:solidFill>
            <a:round/>
            <a:headEnd type="triangle" w="med" len="med"/>
            <a:tailEnd/>
          </a:ln>
        </p:spPr>
        <p:txBody>
          <a:bodyPr wrap="none"/>
          <a:lstStyle/>
          <a:p>
            <a:endParaRPr lang="zh-CN" altLang="en-US"/>
          </a:p>
        </p:txBody>
      </p:sp>
      <p:grpSp>
        <p:nvGrpSpPr>
          <p:cNvPr id="23" name="Group 19"/>
          <p:cNvGrpSpPr>
            <a:grpSpLocks/>
          </p:cNvGrpSpPr>
          <p:nvPr/>
        </p:nvGrpSpPr>
        <p:grpSpPr bwMode="auto">
          <a:xfrm>
            <a:off x="5308600" y="3013075"/>
            <a:ext cx="555625" cy="307975"/>
            <a:chOff x="3600" y="219"/>
            <a:chExt cx="360" cy="175"/>
          </a:xfrm>
        </p:grpSpPr>
        <p:sp>
          <p:nvSpPr>
            <p:cNvPr id="24" name="Oval 20"/>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sp>
          <p:nvSpPr>
            <p:cNvPr id="25" name="Line 21"/>
            <p:cNvSpPr>
              <a:spLocks noChangeShapeType="1"/>
            </p:cNvSpPr>
            <p:nvPr/>
          </p:nvSpPr>
          <p:spPr bwMode="auto">
            <a:xfrm>
              <a:off x="3603" y="289"/>
              <a:ext cx="0" cy="60"/>
            </a:xfrm>
            <a:prstGeom prst="line">
              <a:avLst/>
            </a:prstGeom>
            <a:noFill/>
            <a:ln w="12700">
              <a:solidFill>
                <a:schemeClr val="tx1"/>
              </a:solidFill>
              <a:round/>
              <a:headEnd/>
              <a:tailEnd/>
            </a:ln>
          </p:spPr>
          <p:txBody>
            <a:bodyPr wrap="none" anchor="ctr"/>
            <a:lstStyle/>
            <a:p>
              <a:endParaRPr lang="zh-CN" altLang="en-US"/>
            </a:p>
          </p:txBody>
        </p:sp>
        <p:sp>
          <p:nvSpPr>
            <p:cNvPr id="26" name="Line 22"/>
            <p:cNvSpPr>
              <a:spLocks noChangeShapeType="1"/>
            </p:cNvSpPr>
            <p:nvPr/>
          </p:nvSpPr>
          <p:spPr bwMode="auto">
            <a:xfrm>
              <a:off x="3960" y="289"/>
              <a:ext cx="0" cy="60"/>
            </a:xfrm>
            <a:prstGeom prst="line">
              <a:avLst/>
            </a:prstGeom>
            <a:noFill/>
            <a:ln w="12700">
              <a:solidFill>
                <a:schemeClr val="tx1"/>
              </a:solidFill>
              <a:round/>
              <a:headEnd/>
              <a:tailEnd/>
            </a:ln>
          </p:spPr>
          <p:txBody>
            <a:bodyPr wrap="none" anchor="ctr"/>
            <a:lstStyle/>
            <a:p>
              <a:endParaRPr lang="zh-CN" altLang="en-US"/>
            </a:p>
          </p:txBody>
        </p:sp>
        <p:sp>
          <p:nvSpPr>
            <p:cNvPr id="27" name="Rectangle 23"/>
            <p:cNvSpPr>
              <a:spLocks noChangeArrowheads="1"/>
            </p:cNvSpPr>
            <p:nvPr/>
          </p:nvSpPr>
          <p:spPr bwMode="auto">
            <a:xfrm>
              <a:off x="3603" y="289"/>
              <a:ext cx="354" cy="59"/>
            </a:xfrm>
            <a:prstGeom prst="rect">
              <a:avLst/>
            </a:prstGeom>
            <a:solidFill>
              <a:schemeClr val="hlink"/>
            </a:solidFill>
            <a:ln w="12700">
              <a:noFill/>
              <a:miter lim="800000"/>
              <a:headEnd/>
              <a:tailEnd/>
            </a:ln>
          </p:spPr>
          <p:txBody>
            <a:bodyPr wrap="none" anchor="ctr"/>
            <a:lstStyle/>
            <a:p>
              <a:pPr algn="ctr"/>
              <a:endParaRPr lang="zh-CN" altLang="en-US" sz="2400">
                <a:latin typeface="Times New Roman" pitchFamily="18" charset="0"/>
                <a:ea typeface="宋体" charset="-122"/>
              </a:endParaRPr>
            </a:p>
          </p:txBody>
        </p:sp>
        <p:sp>
          <p:nvSpPr>
            <p:cNvPr id="28" name="Oval 24"/>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grpSp>
      <p:sp>
        <p:nvSpPr>
          <p:cNvPr id="29" name="Line 33"/>
          <p:cNvSpPr>
            <a:spLocks noChangeShapeType="1"/>
          </p:cNvSpPr>
          <p:nvPr/>
        </p:nvSpPr>
        <p:spPr bwMode="auto">
          <a:xfrm flipV="1">
            <a:off x="3995738" y="3187700"/>
            <a:ext cx="1298575" cy="0"/>
          </a:xfrm>
          <a:prstGeom prst="line">
            <a:avLst/>
          </a:prstGeom>
          <a:noFill/>
          <a:ln w="19050">
            <a:solidFill>
              <a:schemeClr val="tx1"/>
            </a:solidFill>
            <a:round/>
            <a:headEnd/>
            <a:tailEnd/>
          </a:ln>
        </p:spPr>
        <p:txBody>
          <a:bodyPr wrap="none"/>
          <a:lstStyle/>
          <a:p>
            <a:endParaRPr lang="zh-CN" altLang="en-US"/>
          </a:p>
        </p:txBody>
      </p:sp>
      <p:sp>
        <p:nvSpPr>
          <p:cNvPr id="30" name="Text Box 34"/>
          <p:cNvSpPr txBox="1">
            <a:spLocks noChangeArrowheads="1"/>
          </p:cNvSpPr>
          <p:nvPr/>
        </p:nvSpPr>
        <p:spPr bwMode="auto">
          <a:xfrm>
            <a:off x="6805613" y="1619250"/>
            <a:ext cx="1322799" cy="707886"/>
          </a:xfrm>
          <a:prstGeom prst="rect">
            <a:avLst/>
          </a:prstGeom>
          <a:noFill/>
          <a:ln w="9525">
            <a:noFill/>
            <a:miter lim="800000"/>
            <a:headEnd/>
            <a:tailEnd/>
          </a:ln>
        </p:spPr>
        <p:txBody>
          <a:bodyPr wrap="none">
            <a:spAutoFit/>
          </a:bodyPr>
          <a:lstStyle/>
          <a:p>
            <a:pPr algn="ctr"/>
            <a:r>
              <a:rPr lang="zh-CN" altLang="en-US" sz="2000" dirty="0">
                <a:latin typeface="微软雅黑" pitchFamily="34" charset="-122"/>
                <a:ea typeface="微软雅黑" pitchFamily="34" charset="-122"/>
              </a:rPr>
              <a:t>本地网络</a:t>
            </a:r>
          </a:p>
          <a:p>
            <a:pPr algn="ctr"/>
            <a:r>
              <a:rPr lang="en-US" altLang="zh-CN" sz="2000" dirty="0">
                <a:latin typeface="微软雅黑" pitchFamily="34" charset="-122"/>
                <a:ea typeface="微软雅黑" pitchFamily="34" charset="-122"/>
              </a:rPr>
              <a:t>10.0.0/24</a:t>
            </a:r>
          </a:p>
        </p:txBody>
      </p:sp>
      <p:sp>
        <p:nvSpPr>
          <p:cNvPr id="31" name="Line 35"/>
          <p:cNvSpPr>
            <a:spLocks noChangeShapeType="1"/>
          </p:cNvSpPr>
          <p:nvPr/>
        </p:nvSpPr>
        <p:spPr bwMode="auto">
          <a:xfrm>
            <a:off x="8547100" y="1858963"/>
            <a:ext cx="1385888" cy="0"/>
          </a:xfrm>
          <a:prstGeom prst="line">
            <a:avLst/>
          </a:prstGeom>
          <a:noFill/>
          <a:ln w="9525">
            <a:solidFill>
              <a:schemeClr val="tx1"/>
            </a:solidFill>
            <a:round/>
            <a:headEnd/>
            <a:tailEnd type="triangle" w="med" len="med"/>
          </a:ln>
        </p:spPr>
        <p:txBody>
          <a:bodyPr wrap="none"/>
          <a:lstStyle/>
          <a:p>
            <a:endParaRPr lang="zh-CN" altLang="en-US"/>
          </a:p>
        </p:txBody>
      </p:sp>
      <p:sp>
        <p:nvSpPr>
          <p:cNvPr id="32" name="Line 36"/>
          <p:cNvSpPr>
            <a:spLocks noChangeShapeType="1"/>
          </p:cNvSpPr>
          <p:nvPr/>
        </p:nvSpPr>
        <p:spPr bwMode="auto">
          <a:xfrm>
            <a:off x="5595938" y="1719263"/>
            <a:ext cx="0" cy="1081087"/>
          </a:xfrm>
          <a:prstGeom prst="line">
            <a:avLst/>
          </a:prstGeom>
          <a:noFill/>
          <a:ln w="9525">
            <a:solidFill>
              <a:schemeClr val="tx1"/>
            </a:solidFill>
            <a:round/>
            <a:headEnd/>
            <a:tailEnd/>
          </a:ln>
        </p:spPr>
        <p:txBody>
          <a:bodyPr wrap="none"/>
          <a:lstStyle/>
          <a:p>
            <a:endParaRPr lang="zh-CN" altLang="en-US"/>
          </a:p>
        </p:txBody>
      </p:sp>
      <p:sp>
        <p:nvSpPr>
          <p:cNvPr id="33" name="Line 37"/>
          <p:cNvSpPr>
            <a:spLocks noChangeShapeType="1"/>
          </p:cNvSpPr>
          <p:nvPr/>
        </p:nvSpPr>
        <p:spPr bwMode="auto">
          <a:xfrm flipH="1" flipV="1">
            <a:off x="5735638" y="1846263"/>
            <a:ext cx="898525" cy="0"/>
          </a:xfrm>
          <a:prstGeom prst="line">
            <a:avLst/>
          </a:prstGeom>
          <a:noFill/>
          <a:ln w="9525">
            <a:solidFill>
              <a:schemeClr val="tx1"/>
            </a:solidFill>
            <a:round/>
            <a:headEnd/>
            <a:tailEnd type="triangle" w="med" len="med"/>
          </a:ln>
        </p:spPr>
        <p:txBody>
          <a:bodyPr wrap="none"/>
          <a:lstStyle/>
          <a:p>
            <a:endParaRPr lang="zh-CN" altLang="en-US"/>
          </a:p>
        </p:txBody>
      </p:sp>
      <p:sp>
        <p:nvSpPr>
          <p:cNvPr id="34" name="Line 41"/>
          <p:cNvSpPr>
            <a:spLocks noChangeShapeType="1"/>
          </p:cNvSpPr>
          <p:nvPr/>
        </p:nvSpPr>
        <p:spPr bwMode="auto">
          <a:xfrm flipH="1" flipV="1">
            <a:off x="4381500" y="3603625"/>
            <a:ext cx="11113" cy="788988"/>
          </a:xfrm>
          <a:prstGeom prst="line">
            <a:avLst/>
          </a:prstGeom>
          <a:noFill/>
          <a:ln w="9525">
            <a:solidFill>
              <a:schemeClr val="tx1"/>
            </a:solidFill>
            <a:round/>
            <a:headEnd/>
            <a:tailEnd type="triangle" w="med" len="med"/>
          </a:ln>
        </p:spPr>
        <p:txBody>
          <a:bodyPr wrap="none"/>
          <a:lstStyle/>
          <a:p>
            <a:endParaRPr lang="zh-CN" altLang="en-US"/>
          </a:p>
        </p:txBody>
      </p:sp>
      <p:sp>
        <p:nvSpPr>
          <p:cNvPr id="35" name="Text Box 42"/>
          <p:cNvSpPr txBox="1">
            <a:spLocks noChangeArrowheads="1"/>
          </p:cNvSpPr>
          <p:nvPr/>
        </p:nvSpPr>
        <p:spPr bwMode="auto">
          <a:xfrm>
            <a:off x="6661150" y="4498975"/>
            <a:ext cx="3740150" cy="1015663"/>
          </a:xfrm>
          <a:prstGeom prst="rect">
            <a:avLst/>
          </a:prstGeom>
          <a:noFill/>
          <a:ln w="9525">
            <a:noFill/>
            <a:miter lim="800000"/>
            <a:headEnd/>
            <a:tailEnd/>
          </a:ln>
        </p:spPr>
        <p:txBody>
          <a:bodyPr>
            <a:spAutoFit/>
          </a:bodyPr>
          <a:lstStyle/>
          <a:p>
            <a:r>
              <a:rPr lang="zh-CN" altLang="en-US" sz="2000" dirty="0">
                <a:latin typeface="微软雅黑" pitchFamily="34" charset="-122"/>
                <a:ea typeface="微软雅黑" pitchFamily="34" charset="-122"/>
              </a:rPr>
              <a:t>报文的源地址</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发出时</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或目的地址</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接收时</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都属于</a:t>
            </a:r>
            <a:r>
              <a:rPr lang="en-US" altLang="zh-CN" sz="2000" dirty="0">
                <a:latin typeface="微软雅黑" pitchFamily="34" charset="-122"/>
                <a:ea typeface="微软雅黑" pitchFamily="34" charset="-122"/>
              </a:rPr>
              <a:t>10.0.0.0/24</a:t>
            </a:r>
            <a:r>
              <a:rPr lang="zh-CN" altLang="en-US" sz="2000" dirty="0">
                <a:latin typeface="微软雅黑" pitchFamily="34" charset="-122"/>
                <a:ea typeface="微软雅黑" pitchFamily="34" charset="-122"/>
              </a:rPr>
              <a:t>的地址</a:t>
            </a:r>
            <a:endParaRPr lang="en-US" altLang="zh-CN" sz="2000" dirty="0">
              <a:latin typeface="微软雅黑" pitchFamily="34" charset="-122"/>
              <a:ea typeface="微软雅黑" pitchFamily="34" charset="-122"/>
            </a:endParaRPr>
          </a:p>
        </p:txBody>
      </p:sp>
      <p:sp>
        <p:nvSpPr>
          <p:cNvPr id="36" name="Line 43"/>
          <p:cNvSpPr>
            <a:spLocks noChangeShapeType="1"/>
          </p:cNvSpPr>
          <p:nvPr/>
        </p:nvSpPr>
        <p:spPr bwMode="auto">
          <a:xfrm flipH="1" flipV="1">
            <a:off x="7400925" y="3409950"/>
            <a:ext cx="11113" cy="996950"/>
          </a:xfrm>
          <a:prstGeom prst="line">
            <a:avLst/>
          </a:prstGeom>
          <a:noFill/>
          <a:ln w="9525">
            <a:solidFill>
              <a:schemeClr val="tx1"/>
            </a:solidFill>
            <a:round/>
            <a:headEnd/>
            <a:tailEnd type="triangle" w="med" len="med"/>
          </a:ln>
        </p:spPr>
        <p:txBody>
          <a:bodyPr wrap="none"/>
          <a:lstStyle/>
          <a:p>
            <a:endParaRPr lang="zh-CN" altLang="en-US"/>
          </a:p>
        </p:txBody>
      </p:sp>
      <p:sp>
        <p:nvSpPr>
          <p:cNvPr id="37" name="Text Box 44"/>
          <p:cNvSpPr txBox="1">
            <a:spLocks noChangeArrowheads="1"/>
          </p:cNvSpPr>
          <p:nvPr/>
        </p:nvSpPr>
        <p:spPr bwMode="auto">
          <a:xfrm>
            <a:off x="1562100" y="4325938"/>
            <a:ext cx="4498975" cy="708025"/>
          </a:xfrm>
          <a:prstGeom prst="rect">
            <a:avLst/>
          </a:prstGeom>
          <a:noFill/>
          <a:ln w="9525">
            <a:noFill/>
            <a:miter lim="800000"/>
            <a:headEnd/>
            <a:tailEnd/>
          </a:ln>
        </p:spPr>
        <p:txBody>
          <a:bodyPr>
            <a:spAutoFit/>
          </a:bodyPr>
          <a:lstStyle/>
          <a:p>
            <a:pPr algn="ctr"/>
            <a:r>
              <a:rPr lang="zh-CN" altLang="en-US" sz="2000" dirty="0">
                <a:solidFill>
                  <a:srgbClr val="C00000"/>
                </a:solidFill>
                <a:latin typeface="微软雅黑" pitchFamily="34" charset="-122"/>
                <a:ea typeface="微软雅黑" pitchFamily="34" charset="-122"/>
              </a:rPr>
              <a:t>所有从</a:t>
            </a:r>
            <a:r>
              <a:rPr lang="zh-CN" altLang="en-US" sz="2000" dirty="0">
                <a:latin typeface="微软雅黑" pitchFamily="34" charset="-122"/>
                <a:ea typeface="微软雅黑" pitchFamily="34" charset="-122"/>
              </a:rPr>
              <a:t>本地网络发出的报文具有</a:t>
            </a:r>
            <a:r>
              <a:rPr lang="zh-CN" altLang="en-US" sz="2000" dirty="0">
                <a:solidFill>
                  <a:srgbClr val="C00000"/>
                </a:solidFill>
                <a:latin typeface="微软雅黑" pitchFamily="34" charset="-122"/>
                <a:ea typeface="微软雅黑" pitchFamily="34" charset="-122"/>
              </a:rPr>
              <a:t>相同</a:t>
            </a:r>
            <a:r>
              <a:rPr lang="zh-CN" altLang="en-US" sz="2000" dirty="0">
                <a:latin typeface="微软雅黑" pitchFamily="34" charset="-122"/>
                <a:ea typeface="微软雅黑" pitchFamily="34" charset="-122"/>
              </a:rPr>
              <a:t>的单一源</a:t>
            </a:r>
            <a:r>
              <a:rPr lang="en-US" altLang="zh-CN" sz="2000" dirty="0">
                <a:latin typeface="微软雅黑" pitchFamily="34" charset="-122"/>
                <a:ea typeface="微软雅黑" pitchFamily="34" charset="-122"/>
              </a:rPr>
              <a:t>IP</a:t>
            </a:r>
            <a:r>
              <a:rPr lang="zh-CN" altLang="en-US" sz="2000" dirty="0">
                <a:latin typeface="微软雅黑" pitchFamily="34" charset="-122"/>
                <a:ea typeface="微软雅黑" pitchFamily="34" charset="-122"/>
              </a:rPr>
              <a:t>地址</a:t>
            </a:r>
            <a:r>
              <a:rPr lang="en-US" altLang="zh-CN" sz="2000" dirty="0">
                <a:latin typeface="微软雅黑" pitchFamily="34" charset="-122"/>
                <a:ea typeface="微软雅黑" pitchFamily="34" charset="-122"/>
              </a:rPr>
              <a:t>: 138.76.29.7</a:t>
            </a:r>
          </a:p>
        </p:txBody>
      </p:sp>
      <p:pic>
        <p:nvPicPr>
          <p:cNvPr id="38" name="Picture 8"/>
          <p:cNvPicPr>
            <a:picLocks noChangeAspect="1" noChangeArrowheads="1"/>
          </p:cNvPicPr>
          <p:nvPr/>
        </p:nvPicPr>
        <p:blipFill>
          <a:blip r:embed="rId4"/>
          <a:srcRect/>
          <a:stretch>
            <a:fillRect/>
          </a:stretch>
        </p:blipFill>
        <p:spPr bwMode="auto">
          <a:xfrm>
            <a:off x="1987550" y="2405063"/>
            <a:ext cx="2459038" cy="1343025"/>
          </a:xfrm>
          <a:prstGeom prst="rect">
            <a:avLst/>
          </a:prstGeom>
          <a:noFill/>
          <a:ln w="9525">
            <a:noFill/>
            <a:miter lim="800000"/>
            <a:headEnd/>
            <a:tailEnd/>
          </a:ln>
        </p:spPr>
      </p:pic>
      <p:sp>
        <p:nvSpPr>
          <p:cNvPr id="39" name="Text Box 34"/>
          <p:cNvSpPr txBox="1">
            <a:spLocks noChangeArrowheads="1"/>
          </p:cNvSpPr>
          <p:nvPr/>
        </p:nvSpPr>
        <p:spPr bwMode="auto">
          <a:xfrm>
            <a:off x="2484438" y="2882900"/>
            <a:ext cx="1441450" cy="400110"/>
          </a:xfrm>
          <a:prstGeom prst="rect">
            <a:avLst/>
          </a:prstGeom>
          <a:noFill/>
          <a:ln w="9525">
            <a:noFill/>
            <a:miter lim="800000"/>
            <a:headEnd/>
            <a:tailEnd/>
          </a:ln>
        </p:spPr>
        <p:txBody>
          <a:bodyPr>
            <a:spAutoFit/>
          </a:bodyPr>
          <a:lstStyle/>
          <a:p>
            <a:pPr algn="ctr"/>
            <a:r>
              <a:rPr lang="zh-CN" altLang="en-US" sz="2000" dirty="0">
                <a:latin typeface="微软雅黑" pitchFamily="34" charset="-122"/>
                <a:ea typeface="微软雅黑" pitchFamily="34" charset="-122"/>
              </a:rPr>
              <a:t>互联网</a:t>
            </a:r>
            <a:endParaRPr lang="en-US" altLang="zh-CN" sz="2000" dirty="0">
              <a:latin typeface="微软雅黑" pitchFamily="34" charset="-122"/>
              <a:ea typeface="微软雅黑" pitchFamily="34" charset="-122"/>
            </a:endParaRPr>
          </a:p>
        </p:txBody>
      </p:sp>
      <p:sp>
        <p:nvSpPr>
          <p:cNvPr id="40" name="椭圆 90"/>
          <p:cNvSpPr>
            <a:spLocks noChangeArrowheads="1"/>
          </p:cNvSpPr>
          <p:nvPr/>
        </p:nvSpPr>
        <p:spPr bwMode="auto">
          <a:xfrm>
            <a:off x="2420938" y="5318125"/>
            <a:ext cx="2841625" cy="590550"/>
          </a:xfrm>
          <a:prstGeom prst="ellipse">
            <a:avLst/>
          </a:prstGeom>
          <a:solidFill>
            <a:srgbClr val="7030A0"/>
          </a:solidFill>
          <a:ln w="9525" algn="ctr">
            <a:solidFill>
              <a:schemeClr val="tx1"/>
            </a:solidFill>
            <a:round/>
            <a:headEnd/>
            <a:tailEnd/>
          </a:ln>
        </p:spPr>
        <p:txBody>
          <a:bodyPr wrap="none"/>
          <a:lstStyle/>
          <a:p>
            <a:pPr algn="ctr"/>
            <a:r>
              <a:rPr lang="zh-CN" altLang="en-US" sz="2000" b="1" dirty="0">
                <a:solidFill>
                  <a:srgbClr val="FFFFFF"/>
                </a:solidFill>
                <a:latin typeface="微软雅黑" pitchFamily="34" charset="-122"/>
                <a:ea typeface="微软雅黑" pitchFamily="34" charset="-122"/>
              </a:rPr>
              <a:t>不同的源端口号</a:t>
            </a:r>
          </a:p>
        </p:txBody>
      </p:sp>
      <p:grpSp>
        <p:nvGrpSpPr>
          <p:cNvPr id="41" name="组合 40"/>
          <p:cNvGrpSpPr/>
          <p:nvPr/>
        </p:nvGrpSpPr>
        <p:grpSpPr>
          <a:xfrm>
            <a:off x="5430440" y="3120582"/>
            <a:ext cx="284560" cy="91357"/>
            <a:chOff x="5127381" y="4571851"/>
            <a:chExt cx="284560" cy="91357"/>
          </a:xfrm>
        </p:grpSpPr>
        <p:grpSp>
          <p:nvGrpSpPr>
            <p:cNvPr id="42" name="组合 23"/>
            <p:cNvGrpSpPr/>
            <p:nvPr/>
          </p:nvGrpSpPr>
          <p:grpSpPr>
            <a:xfrm>
              <a:off x="5140302" y="4571851"/>
              <a:ext cx="243064" cy="81832"/>
              <a:chOff x="5140302" y="4571851"/>
              <a:chExt cx="243064" cy="81832"/>
            </a:xfrm>
          </p:grpSpPr>
          <p:sp>
            <p:nvSpPr>
              <p:cNvPr id="47" name="Line 17"/>
              <p:cNvSpPr>
                <a:spLocks noChangeShapeType="1"/>
              </p:cNvSpPr>
              <p:nvPr/>
            </p:nvSpPr>
            <p:spPr bwMode="auto">
              <a:xfrm flipV="1">
                <a:off x="5140302" y="4584742"/>
                <a:ext cx="97014" cy="1760"/>
              </a:xfrm>
              <a:prstGeom prst="line">
                <a:avLst/>
              </a:prstGeom>
              <a:noFill/>
              <a:ln w="28575">
                <a:solidFill>
                  <a:schemeClr val="tx1"/>
                </a:solidFill>
                <a:round/>
                <a:headEnd/>
                <a:tailEnd/>
              </a:ln>
            </p:spPr>
            <p:txBody>
              <a:bodyPr wrap="none" anchor="ctr"/>
              <a:lstStyle/>
              <a:p>
                <a:endParaRPr lang="zh-CN" altLang="en-US"/>
              </a:p>
            </p:txBody>
          </p:sp>
          <p:sp>
            <p:nvSpPr>
              <p:cNvPr id="48" name="Line 19"/>
              <p:cNvSpPr>
                <a:spLocks noChangeShapeType="1"/>
              </p:cNvSpPr>
              <p:nvPr/>
            </p:nvSpPr>
            <p:spPr bwMode="auto">
              <a:xfrm>
                <a:off x="5220030" y="4571851"/>
                <a:ext cx="100894" cy="81832"/>
              </a:xfrm>
              <a:prstGeom prst="line">
                <a:avLst/>
              </a:prstGeom>
              <a:noFill/>
              <a:ln w="28575">
                <a:solidFill>
                  <a:schemeClr val="tx1"/>
                </a:solidFill>
                <a:round/>
                <a:headEnd/>
                <a:tailEnd/>
              </a:ln>
            </p:spPr>
            <p:txBody>
              <a:bodyPr wrap="none" anchor="ctr"/>
              <a:lstStyle/>
              <a:p>
                <a:endParaRPr lang="zh-CN" altLang="en-US"/>
              </a:p>
            </p:txBody>
          </p:sp>
          <p:sp>
            <p:nvSpPr>
              <p:cNvPr id="49" name="Line 22"/>
              <p:cNvSpPr>
                <a:spLocks noChangeShapeType="1"/>
              </p:cNvSpPr>
              <p:nvPr/>
            </p:nvSpPr>
            <p:spPr bwMode="auto">
              <a:xfrm flipV="1">
                <a:off x="5297994" y="4644691"/>
                <a:ext cx="85372" cy="0"/>
              </a:xfrm>
              <a:prstGeom prst="line">
                <a:avLst/>
              </a:prstGeom>
              <a:noFill/>
              <a:ln w="28575">
                <a:solidFill>
                  <a:schemeClr val="tx1"/>
                </a:solidFill>
                <a:round/>
                <a:headEnd/>
                <a:tailEnd/>
              </a:ln>
            </p:spPr>
            <p:txBody>
              <a:bodyPr wrap="none" anchor="ctr"/>
              <a:lstStyle/>
              <a:p>
                <a:endParaRPr lang="zh-CN" altLang="en-US"/>
              </a:p>
            </p:txBody>
          </p:sp>
        </p:grpSp>
        <p:grpSp>
          <p:nvGrpSpPr>
            <p:cNvPr id="43" name="组合 27"/>
            <p:cNvGrpSpPr/>
            <p:nvPr/>
          </p:nvGrpSpPr>
          <p:grpSpPr>
            <a:xfrm>
              <a:off x="5127381" y="4574930"/>
              <a:ext cx="284560" cy="88278"/>
              <a:chOff x="5362432" y="4876278"/>
              <a:chExt cx="284560" cy="88278"/>
            </a:xfrm>
          </p:grpSpPr>
          <p:sp>
            <p:nvSpPr>
              <p:cNvPr id="44" name="Line 18"/>
              <p:cNvSpPr>
                <a:spLocks noChangeShapeType="1"/>
              </p:cNvSpPr>
              <p:nvPr/>
            </p:nvSpPr>
            <p:spPr bwMode="auto">
              <a:xfrm>
                <a:off x="5561646" y="4876278"/>
                <a:ext cx="85346" cy="0"/>
              </a:xfrm>
              <a:prstGeom prst="line">
                <a:avLst/>
              </a:prstGeom>
              <a:noFill/>
              <a:ln w="28575">
                <a:solidFill>
                  <a:schemeClr val="tx1"/>
                </a:solidFill>
                <a:round/>
                <a:headEnd/>
                <a:tailEnd/>
              </a:ln>
            </p:spPr>
            <p:txBody>
              <a:bodyPr wrap="none" anchor="ctr"/>
              <a:lstStyle/>
              <a:p>
                <a:endParaRPr lang="zh-CN" altLang="en-US"/>
              </a:p>
            </p:txBody>
          </p:sp>
          <p:sp>
            <p:nvSpPr>
              <p:cNvPr id="45" name="Line 21"/>
              <p:cNvSpPr>
                <a:spLocks noChangeShapeType="1"/>
              </p:cNvSpPr>
              <p:nvPr/>
            </p:nvSpPr>
            <p:spPr bwMode="auto">
              <a:xfrm>
                <a:off x="5362432" y="4962698"/>
                <a:ext cx="97334" cy="1858"/>
              </a:xfrm>
              <a:prstGeom prst="line">
                <a:avLst/>
              </a:prstGeom>
              <a:noFill/>
              <a:ln w="28575">
                <a:solidFill>
                  <a:schemeClr val="tx1"/>
                </a:solidFill>
                <a:round/>
                <a:headEnd/>
                <a:tailEnd/>
              </a:ln>
            </p:spPr>
            <p:txBody>
              <a:bodyPr wrap="none" anchor="ctr"/>
              <a:lstStyle/>
              <a:p>
                <a:endParaRPr lang="zh-CN" altLang="en-US"/>
              </a:p>
            </p:txBody>
          </p:sp>
          <p:sp>
            <p:nvSpPr>
              <p:cNvPr id="46" name="Line 23"/>
              <p:cNvSpPr>
                <a:spLocks noChangeShapeType="1"/>
              </p:cNvSpPr>
              <p:nvPr/>
            </p:nvSpPr>
            <p:spPr bwMode="auto">
              <a:xfrm flipV="1">
                <a:off x="5454621" y="4878178"/>
                <a:ext cx="103294" cy="84520"/>
              </a:xfrm>
              <a:prstGeom prst="line">
                <a:avLst/>
              </a:prstGeom>
              <a:noFill/>
              <a:ln w="28575">
                <a:solidFill>
                  <a:schemeClr val="tx1"/>
                </a:solidFill>
                <a:round/>
                <a:headEnd/>
                <a:tailEnd/>
              </a:ln>
            </p:spPr>
            <p:txBody>
              <a:bodyPr wrap="none" anchor="ctr"/>
              <a:lstStyle/>
              <a:p>
                <a:endParaRPr lang="zh-CN" altLang="en-US"/>
              </a:p>
            </p:txBody>
          </p:sp>
        </p:grpSp>
      </p:grpSp>
      <p:sp>
        <p:nvSpPr>
          <p:cNvPr id="5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51"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145</a:t>
            </a:fld>
            <a:endParaRPr kumimoji="1" lang="zh-CN" altLang="en-US" dirty="0"/>
          </a:p>
        </p:txBody>
      </p:sp>
      <p:pic>
        <p:nvPicPr>
          <p:cNvPr id="52" name="Picture 28" descr="015">
            <a:extLst>
              <a:ext uri="{FF2B5EF4-FFF2-40B4-BE49-F238E27FC236}">
                <a16:creationId xmlns:a16="http://schemas.microsoft.com/office/drawing/2014/main" id="{33E6A255-6C91-4625-BF6B-9229ECD3FFB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9693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linds(horizontal)">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NAT</a:t>
            </a:r>
            <a:r>
              <a:rPr lang="zh-CN" altLang="en-US" dirty="0"/>
              <a:t>工作机制</a:t>
            </a:r>
          </a:p>
        </p:txBody>
      </p:sp>
      <p:sp>
        <p:nvSpPr>
          <p:cNvPr id="5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51"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146</a:t>
            </a:fld>
            <a:endParaRPr kumimoji="1" lang="zh-CN" altLang="en-US" dirty="0"/>
          </a:p>
        </p:txBody>
      </p:sp>
      <p:sp>
        <p:nvSpPr>
          <p:cNvPr id="53" name="TextBox 114"/>
          <p:cNvSpPr txBox="1">
            <a:spLocks noChangeArrowheads="1"/>
          </p:cNvSpPr>
          <p:nvPr/>
        </p:nvSpPr>
        <p:spPr bwMode="auto">
          <a:xfrm>
            <a:off x="1659862" y="6043778"/>
            <a:ext cx="8652625" cy="400110"/>
          </a:xfrm>
          <a:prstGeom prst="rect">
            <a:avLst/>
          </a:prstGeom>
          <a:solidFill>
            <a:srgbClr val="7030A0"/>
          </a:solidFill>
          <a:ln w="9525">
            <a:noFill/>
            <a:miter lim="800000"/>
            <a:headEnd/>
            <a:tailEnd/>
          </a:ln>
        </p:spPr>
        <p:txBody>
          <a:bodyPr wrap="none">
            <a:spAutoFit/>
          </a:bodyPr>
          <a:lstStyle/>
          <a:p>
            <a:pPr algn="ctr"/>
            <a:r>
              <a:rPr lang="zh-CN" altLang="en-US" sz="2000" dirty="0">
                <a:solidFill>
                  <a:srgbClr val="FFFFFF"/>
                </a:solidFill>
                <a:latin typeface="微软雅黑" pitchFamily="34" charset="-122"/>
                <a:ea typeface="微软雅黑" pitchFamily="34" charset="-122"/>
              </a:rPr>
              <a:t>思考：同一主机不同应用，或者不同主机的同一端口，</a:t>
            </a:r>
            <a:r>
              <a:rPr lang="en-US" altLang="zh-CN" sz="2000" dirty="0">
                <a:solidFill>
                  <a:srgbClr val="FFFFFF"/>
                </a:solidFill>
                <a:latin typeface="微软雅黑" pitchFamily="34" charset="-122"/>
                <a:ea typeface="微软雅黑" pitchFamily="34" charset="-122"/>
              </a:rPr>
              <a:t>NAT</a:t>
            </a:r>
            <a:r>
              <a:rPr lang="zh-CN" altLang="en-US" sz="2000" dirty="0">
                <a:solidFill>
                  <a:srgbClr val="FFFFFF"/>
                </a:solidFill>
                <a:latin typeface="微软雅黑" pitchFamily="34" charset="-122"/>
                <a:ea typeface="微软雅黑" pitchFamily="34" charset="-122"/>
              </a:rPr>
              <a:t>转换如何处理？</a:t>
            </a:r>
          </a:p>
        </p:txBody>
      </p:sp>
      <p:grpSp>
        <p:nvGrpSpPr>
          <p:cNvPr id="54" name="组合 579"/>
          <p:cNvGrpSpPr/>
          <p:nvPr/>
        </p:nvGrpSpPr>
        <p:grpSpPr>
          <a:xfrm>
            <a:off x="1209387" y="1571462"/>
            <a:ext cx="9028112" cy="4413353"/>
            <a:chOff x="71438" y="1374775"/>
            <a:chExt cx="9028112" cy="5079366"/>
          </a:xfrm>
        </p:grpSpPr>
        <p:sp>
          <p:nvSpPr>
            <p:cNvPr id="55" name="Freeform 139"/>
            <p:cNvSpPr>
              <a:spLocks/>
            </p:cNvSpPr>
            <p:nvPr/>
          </p:nvSpPr>
          <p:spPr bwMode="auto">
            <a:xfrm>
              <a:off x="179388" y="3651250"/>
              <a:ext cx="4089400" cy="1355725"/>
            </a:xfrm>
            <a:custGeom>
              <a:avLst/>
              <a:gdLst>
                <a:gd name="T0" fmla="*/ 2147483646 w 2269"/>
                <a:gd name="T1" fmla="*/ 2147483646 h 854"/>
                <a:gd name="T2" fmla="*/ 2147483646 w 2269"/>
                <a:gd name="T3" fmla="*/ 2147483646 h 854"/>
                <a:gd name="T4" fmla="*/ 2147483646 w 2269"/>
                <a:gd name="T5" fmla="*/ 2147483646 h 854"/>
                <a:gd name="T6" fmla="*/ 2147483646 w 2269"/>
                <a:gd name="T7" fmla="*/ 2147483646 h 854"/>
                <a:gd name="T8" fmla="*/ 2147483646 w 2269"/>
                <a:gd name="T9" fmla="*/ 2147483646 h 854"/>
                <a:gd name="T10" fmla="*/ 2147483646 w 2269"/>
                <a:gd name="T11" fmla="*/ 2147483646 h 854"/>
                <a:gd name="T12" fmla="*/ 2147483646 w 2269"/>
                <a:gd name="T13" fmla="*/ 2147483646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w="9525">
              <a:noFill/>
              <a:round/>
              <a:headEnd/>
              <a:tailEnd/>
            </a:ln>
          </p:spPr>
          <p:txBody>
            <a:bodyPr wrap="none" anchor="ctr"/>
            <a:lstStyle/>
            <a:p>
              <a:endParaRPr lang="zh-CN" altLang="en-US"/>
            </a:p>
          </p:txBody>
        </p:sp>
        <p:sp>
          <p:nvSpPr>
            <p:cNvPr id="56" name="Freeform 29"/>
            <p:cNvSpPr>
              <a:spLocks/>
            </p:cNvSpPr>
            <p:nvPr/>
          </p:nvSpPr>
          <p:spPr bwMode="auto">
            <a:xfrm>
              <a:off x="4468813" y="2922588"/>
              <a:ext cx="3738562" cy="2697162"/>
            </a:xfrm>
            <a:custGeom>
              <a:avLst/>
              <a:gdLst>
                <a:gd name="T0" fmla="*/ 2147483646 w 2355"/>
                <a:gd name="T1" fmla="*/ 2147483646 h 1699"/>
                <a:gd name="T2" fmla="*/ 2147483646 w 2355"/>
                <a:gd name="T3" fmla="*/ 2147483646 h 1699"/>
                <a:gd name="T4" fmla="*/ 2147483646 w 2355"/>
                <a:gd name="T5" fmla="*/ 2147483646 h 1699"/>
                <a:gd name="T6" fmla="*/ 2147483646 w 2355"/>
                <a:gd name="T7" fmla="*/ 2147483646 h 1699"/>
                <a:gd name="T8" fmla="*/ 2147483646 w 2355"/>
                <a:gd name="T9" fmla="*/ 2147483646 h 1699"/>
                <a:gd name="T10" fmla="*/ 2147483646 w 2355"/>
                <a:gd name="T11" fmla="*/ 2147483646 h 1699"/>
                <a:gd name="T12" fmla="*/ 2147483646 w 2355"/>
                <a:gd name="T13" fmla="*/ 2147483646 h 1699"/>
                <a:gd name="T14" fmla="*/ 2147483646 w 2355"/>
                <a:gd name="T15" fmla="*/ 2147483646 h 1699"/>
                <a:gd name="T16" fmla="*/ 2147483646 w 2355"/>
                <a:gd name="T17" fmla="*/ 2147483646 h 1699"/>
                <a:gd name="T18" fmla="*/ 2147483646 w 2355"/>
                <a:gd name="T19" fmla="*/ 2147483646 h 1699"/>
                <a:gd name="T20" fmla="*/ 2147483646 w 2355"/>
                <a:gd name="T21" fmla="*/ 2147483646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w="9525">
              <a:noFill/>
              <a:round/>
              <a:headEnd/>
              <a:tailEnd/>
            </a:ln>
          </p:spPr>
          <p:txBody>
            <a:bodyPr wrap="none" anchor="ctr"/>
            <a:lstStyle/>
            <a:p>
              <a:endParaRPr lang="zh-CN" altLang="en-US"/>
            </a:p>
          </p:txBody>
        </p:sp>
        <p:graphicFrame>
          <p:nvGraphicFramePr>
            <p:cNvPr id="57" name="Object 27"/>
            <p:cNvGraphicFramePr>
              <a:graphicFrameLocks noGrp="1" noChangeAspect="1"/>
            </p:cNvGraphicFramePr>
            <p:nvPr>
              <p:ph sz="half" idx="4294967295"/>
            </p:nvPr>
          </p:nvGraphicFramePr>
          <p:xfrm>
            <a:off x="7497763" y="3233738"/>
            <a:ext cx="555625" cy="463550"/>
          </p:xfrm>
          <a:graphic>
            <a:graphicData uri="http://schemas.openxmlformats.org/presentationml/2006/ole">
              <mc:AlternateContent xmlns:mc="http://schemas.openxmlformats.org/markup-compatibility/2006">
                <mc:Choice xmlns:v="urn:schemas-microsoft-com:vml" Requires="v">
                  <p:oleObj name="Clip" r:id="rId3" imgW="1307263" imgH="1084139" progId="">
                    <p:embed/>
                  </p:oleObj>
                </mc:Choice>
                <mc:Fallback>
                  <p:oleObj name="Clip" r:id="rId3" imgW="1307263" imgH="1084139" progId="">
                    <p:embed/>
                    <p:pic>
                      <p:nvPicPr>
                        <p:cNvPr id="57" name="Object 27"/>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97763" y="3233738"/>
                          <a:ext cx="555625" cy="46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 name="Object 30"/>
            <p:cNvGraphicFramePr>
              <a:graphicFrameLocks noChangeAspect="1"/>
            </p:cNvGraphicFramePr>
            <p:nvPr/>
          </p:nvGraphicFramePr>
          <p:xfrm>
            <a:off x="7546975" y="4022725"/>
            <a:ext cx="579438" cy="482600"/>
          </p:xfrm>
          <a:graphic>
            <a:graphicData uri="http://schemas.openxmlformats.org/presentationml/2006/ole">
              <mc:AlternateContent xmlns:mc="http://schemas.openxmlformats.org/markup-compatibility/2006">
                <mc:Choice xmlns:v="urn:schemas-microsoft-com:vml" Requires="v">
                  <p:oleObj name="Clip" r:id="rId3" imgW="1307263" imgH="1084139" progId="">
                    <p:embed/>
                  </p:oleObj>
                </mc:Choice>
                <mc:Fallback>
                  <p:oleObj name="Clip" r:id="rId3" imgW="1307263" imgH="1084139" progId="">
                    <p:embed/>
                    <p:pic>
                      <p:nvPicPr>
                        <p:cNvPr id="58" name="Object 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46975" y="4022725"/>
                          <a:ext cx="579438"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 name="Object 31"/>
            <p:cNvGraphicFramePr>
              <a:graphicFrameLocks noChangeAspect="1"/>
            </p:cNvGraphicFramePr>
            <p:nvPr/>
          </p:nvGraphicFramePr>
          <p:xfrm>
            <a:off x="7518400" y="4787900"/>
            <a:ext cx="563563" cy="469900"/>
          </p:xfrm>
          <a:graphic>
            <a:graphicData uri="http://schemas.openxmlformats.org/presentationml/2006/ole">
              <mc:AlternateContent xmlns:mc="http://schemas.openxmlformats.org/markup-compatibility/2006">
                <mc:Choice xmlns:v="urn:schemas-microsoft-com:vml" Requires="v">
                  <p:oleObj name="Clip" r:id="rId3" imgW="1307263" imgH="1084139" progId="">
                    <p:embed/>
                  </p:oleObj>
                </mc:Choice>
                <mc:Fallback>
                  <p:oleObj name="Clip" r:id="rId3" imgW="1307263" imgH="1084139" progId="">
                    <p:embed/>
                    <p:pic>
                      <p:nvPicPr>
                        <p:cNvPr id="59" name="Object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8400" y="4787900"/>
                          <a:ext cx="563563"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0" name="Line 32"/>
            <p:cNvSpPr>
              <a:spLocks noChangeShapeType="1"/>
            </p:cNvSpPr>
            <p:nvPr/>
          </p:nvSpPr>
          <p:spPr bwMode="auto">
            <a:xfrm>
              <a:off x="4583113" y="4244975"/>
              <a:ext cx="3025775" cy="6350"/>
            </a:xfrm>
            <a:prstGeom prst="line">
              <a:avLst/>
            </a:prstGeom>
            <a:noFill/>
            <a:ln w="19050">
              <a:solidFill>
                <a:schemeClr val="tx1"/>
              </a:solidFill>
              <a:round/>
              <a:headEnd/>
              <a:tailEnd/>
            </a:ln>
          </p:spPr>
          <p:txBody>
            <a:bodyPr wrap="none"/>
            <a:lstStyle/>
            <a:p>
              <a:endParaRPr lang="zh-CN" altLang="en-US"/>
            </a:p>
          </p:txBody>
        </p:sp>
        <p:sp>
          <p:nvSpPr>
            <p:cNvPr id="61" name="Line 33"/>
            <p:cNvSpPr>
              <a:spLocks noChangeShapeType="1"/>
            </p:cNvSpPr>
            <p:nvPr/>
          </p:nvSpPr>
          <p:spPr bwMode="auto">
            <a:xfrm flipH="1">
              <a:off x="7418388" y="3502025"/>
              <a:ext cx="9525" cy="1492250"/>
            </a:xfrm>
            <a:prstGeom prst="line">
              <a:avLst/>
            </a:prstGeom>
            <a:noFill/>
            <a:ln w="19050">
              <a:solidFill>
                <a:schemeClr val="tx1"/>
              </a:solidFill>
              <a:round/>
              <a:headEnd/>
              <a:tailEnd/>
            </a:ln>
          </p:spPr>
          <p:txBody>
            <a:bodyPr wrap="none"/>
            <a:lstStyle/>
            <a:p>
              <a:endParaRPr lang="zh-CN" altLang="en-US"/>
            </a:p>
          </p:txBody>
        </p:sp>
        <p:sp>
          <p:nvSpPr>
            <p:cNvPr id="62" name="Line 34"/>
            <p:cNvSpPr>
              <a:spLocks noChangeShapeType="1"/>
            </p:cNvSpPr>
            <p:nvPr/>
          </p:nvSpPr>
          <p:spPr bwMode="auto">
            <a:xfrm>
              <a:off x="7423150" y="3497263"/>
              <a:ext cx="133350" cy="6350"/>
            </a:xfrm>
            <a:prstGeom prst="line">
              <a:avLst/>
            </a:prstGeom>
            <a:noFill/>
            <a:ln w="19050">
              <a:solidFill>
                <a:schemeClr val="tx1"/>
              </a:solidFill>
              <a:round/>
              <a:headEnd/>
              <a:tailEnd/>
            </a:ln>
          </p:spPr>
          <p:txBody>
            <a:bodyPr wrap="none"/>
            <a:lstStyle/>
            <a:p>
              <a:endParaRPr lang="zh-CN" altLang="en-US"/>
            </a:p>
          </p:txBody>
        </p:sp>
        <p:sp>
          <p:nvSpPr>
            <p:cNvPr id="63" name="Line 35"/>
            <p:cNvSpPr>
              <a:spLocks noChangeShapeType="1"/>
            </p:cNvSpPr>
            <p:nvPr/>
          </p:nvSpPr>
          <p:spPr bwMode="auto">
            <a:xfrm flipV="1">
              <a:off x="7429500" y="5002213"/>
              <a:ext cx="171450" cy="0"/>
            </a:xfrm>
            <a:prstGeom prst="line">
              <a:avLst/>
            </a:prstGeom>
            <a:noFill/>
            <a:ln w="19050">
              <a:solidFill>
                <a:schemeClr val="tx1"/>
              </a:solidFill>
              <a:round/>
              <a:headEnd/>
              <a:tailEnd/>
            </a:ln>
          </p:spPr>
          <p:txBody>
            <a:bodyPr wrap="none"/>
            <a:lstStyle/>
            <a:p>
              <a:endParaRPr lang="zh-CN" altLang="en-US"/>
            </a:p>
          </p:txBody>
        </p:sp>
        <p:sp>
          <p:nvSpPr>
            <p:cNvPr id="64" name="Text Box 36"/>
            <p:cNvSpPr txBox="1">
              <a:spLocks noChangeArrowheads="1"/>
            </p:cNvSpPr>
            <p:nvPr/>
          </p:nvSpPr>
          <p:spPr bwMode="auto">
            <a:xfrm>
              <a:off x="8048625" y="3232150"/>
              <a:ext cx="892175" cy="336550"/>
            </a:xfrm>
            <a:prstGeom prst="rect">
              <a:avLst/>
            </a:prstGeom>
            <a:noFill/>
            <a:ln w="9525">
              <a:noFill/>
              <a:miter lim="800000"/>
              <a:headEnd/>
              <a:tailEnd/>
            </a:ln>
          </p:spPr>
          <p:txBody>
            <a:bodyPr wrap="none">
              <a:spAutoFit/>
            </a:bodyPr>
            <a:lstStyle/>
            <a:p>
              <a:r>
                <a:rPr lang="en-US" altLang="zh-CN" sz="1600">
                  <a:ea typeface="宋体" charset="-122"/>
                </a:rPr>
                <a:t>10.0.0.1</a:t>
              </a:r>
            </a:p>
          </p:txBody>
        </p:sp>
        <p:sp>
          <p:nvSpPr>
            <p:cNvPr id="65" name="Text Box 37"/>
            <p:cNvSpPr txBox="1">
              <a:spLocks noChangeArrowheads="1"/>
            </p:cNvSpPr>
            <p:nvPr/>
          </p:nvSpPr>
          <p:spPr bwMode="auto">
            <a:xfrm>
              <a:off x="8175625" y="4000500"/>
              <a:ext cx="923925" cy="336550"/>
            </a:xfrm>
            <a:prstGeom prst="rect">
              <a:avLst/>
            </a:prstGeom>
            <a:noFill/>
            <a:ln w="9525">
              <a:noFill/>
              <a:miter lim="800000"/>
              <a:headEnd/>
              <a:tailEnd/>
            </a:ln>
          </p:spPr>
          <p:txBody>
            <a:bodyPr wrap="none">
              <a:spAutoFit/>
            </a:bodyPr>
            <a:lstStyle/>
            <a:p>
              <a:r>
                <a:rPr lang="en-US" altLang="zh-CN" sz="1600">
                  <a:ea typeface="宋体" charset="-122"/>
                </a:rPr>
                <a:t>10.0.0.2</a:t>
              </a:r>
            </a:p>
          </p:txBody>
        </p:sp>
        <p:sp>
          <p:nvSpPr>
            <p:cNvPr id="66" name="Text Box 38"/>
            <p:cNvSpPr txBox="1">
              <a:spLocks noChangeArrowheads="1"/>
            </p:cNvSpPr>
            <p:nvPr/>
          </p:nvSpPr>
          <p:spPr bwMode="auto">
            <a:xfrm>
              <a:off x="8137525" y="4895850"/>
              <a:ext cx="923925" cy="336550"/>
            </a:xfrm>
            <a:prstGeom prst="rect">
              <a:avLst/>
            </a:prstGeom>
            <a:noFill/>
            <a:ln w="9525">
              <a:noFill/>
              <a:miter lim="800000"/>
              <a:headEnd/>
              <a:tailEnd/>
            </a:ln>
          </p:spPr>
          <p:txBody>
            <a:bodyPr wrap="none">
              <a:spAutoFit/>
            </a:bodyPr>
            <a:lstStyle/>
            <a:p>
              <a:r>
                <a:rPr lang="en-US" altLang="zh-CN" sz="1600">
                  <a:ea typeface="宋体" charset="-122"/>
                </a:rPr>
                <a:t>10.0.0.3</a:t>
              </a:r>
            </a:p>
          </p:txBody>
        </p:sp>
        <p:grpSp>
          <p:nvGrpSpPr>
            <p:cNvPr id="67" name="Group 88"/>
            <p:cNvGrpSpPr>
              <a:grpSpLocks/>
            </p:cNvGrpSpPr>
            <p:nvPr/>
          </p:nvGrpSpPr>
          <p:grpSpPr bwMode="auto">
            <a:xfrm>
              <a:off x="5635625" y="2860678"/>
              <a:ext cx="1871663" cy="1033464"/>
              <a:chOff x="3550" y="2055"/>
              <a:chExt cx="1179" cy="651"/>
            </a:xfrm>
          </p:grpSpPr>
          <p:grpSp>
            <p:nvGrpSpPr>
              <p:cNvPr id="139" name="Group 50"/>
              <p:cNvGrpSpPr>
                <a:grpSpLocks/>
              </p:cNvGrpSpPr>
              <p:nvPr/>
            </p:nvGrpSpPr>
            <p:grpSpPr bwMode="auto">
              <a:xfrm>
                <a:off x="3550" y="2055"/>
                <a:ext cx="1179" cy="357"/>
                <a:chOff x="4381" y="786"/>
                <a:chExt cx="1108" cy="357"/>
              </a:xfrm>
            </p:grpSpPr>
            <p:sp>
              <p:nvSpPr>
                <p:cNvPr id="144" name="Rectangle 40"/>
                <p:cNvSpPr>
                  <a:spLocks noChangeArrowheads="1"/>
                </p:cNvSpPr>
                <p:nvPr/>
              </p:nvSpPr>
              <p:spPr bwMode="auto">
                <a:xfrm>
                  <a:off x="4385" y="860"/>
                  <a:ext cx="1104"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145" name="Text Box 39"/>
                <p:cNvSpPr txBox="1">
                  <a:spLocks noChangeArrowheads="1"/>
                </p:cNvSpPr>
                <p:nvPr/>
              </p:nvSpPr>
              <p:spPr bwMode="auto">
                <a:xfrm>
                  <a:off x="4381" y="849"/>
                  <a:ext cx="1045" cy="288"/>
                </a:xfrm>
                <a:prstGeom prst="rect">
                  <a:avLst/>
                </a:prstGeom>
                <a:noFill/>
                <a:ln w="9525">
                  <a:noFill/>
                  <a:miter lim="800000"/>
                  <a:headEnd/>
                  <a:tailEnd/>
                </a:ln>
              </p:spPr>
              <p:txBody>
                <a:bodyPr>
                  <a:spAutoFit/>
                </a:bodyPr>
                <a:lstStyle/>
                <a:p>
                  <a:r>
                    <a:rPr lang="en-US" altLang="zh-CN" sz="1200" dirty="0">
                      <a:ea typeface="宋体" charset="-122"/>
                    </a:rPr>
                    <a:t>S: 10.0.0.1, 3345</a:t>
                  </a:r>
                </a:p>
                <a:p>
                  <a:r>
                    <a:rPr lang="en-US" altLang="zh-CN" sz="1200" dirty="0">
                      <a:ea typeface="宋体" charset="-122"/>
                    </a:rPr>
                    <a:t>D: 128.119.40.186, 80</a:t>
                  </a:r>
                </a:p>
              </p:txBody>
            </p:sp>
            <p:grpSp>
              <p:nvGrpSpPr>
                <p:cNvPr id="146" name="Group 44"/>
                <p:cNvGrpSpPr>
                  <a:grpSpLocks/>
                </p:cNvGrpSpPr>
                <p:nvPr/>
              </p:nvGrpSpPr>
              <p:grpSpPr bwMode="auto">
                <a:xfrm>
                  <a:off x="5394" y="786"/>
                  <a:ext cx="48" cy="99"/>
                  <a:chOff x="5508" y="1599"/>
                  <a:chExt cx="48" cy="99"/>
                </a:xfrm>
              </p:grpSpPr>
              <p:sp>
                <p:nvSpPr>
                  <p:cNvPr id="151" name="Freeform 43"/>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52" name="Line 41"/>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53" name="Line 42"/>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147" name="Group 45"/>
                <p:cNvGrpSpPr>
                  <a:grpSpLocks/>
                </p:cNvGrpSpPr>
                <p:nvPr/>
              </p:nvGrpSpPr>
              <p:grpSpPr bwMode="auto">
                <a:xfrm>
                  <a:off x="5382" y="1044"/>
                  <a:ext cx="48" cy="99"/>
                  <a:chOff x="5508" y="1599"/>
                  <a:chExt cx="48" cy="99"/>
                </a:xfrm>
              </p:grpSpPr>
              <p:sp>
                <p:nvSpPr>
                  <p:cNvPr id="148" name="Freeform 46"/>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49" name="Line 47"/>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50" name="Line 48"/>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sp>
            <p:nvSpPr>
              <p:cNvPr id="140" name="Freeform 51"/>
              <p:cNvSpPr>
                <a:spLocks/>
              </p:cNvSpPr>
              <p:nvPr/>
            </p:nvSpPr>
            <p:spPr bwMode="auto">
              <a:xfrm>
                <a:off x="3573" y="2364"/>
                <a:ext cx="564" cy="342"/>
              </a:xfrm>
              <a:custGeom>
                <a:avLst/>
                <a:gdLst>
                  <a:gd name="T0" fmla="*/ 0 w 417"/>
                  <a:gd name="T1" fmla="*/ 1755030 h 264"/>
                  <a:gd name="T2" fmla="*/ 12002035 w 417"/>
                  <a:gd name="T3" fmla="*/ 1755030 h 264"/>
                  <a:gd name="T4" fmla="*/ 12002035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chemeClr val="tx1"/>
                </a:solidFill>
                <a:prstDash val="solid"/>
                <a:round/>
                <a:headEnd type="triangle" w="med" len="med"/>
                <a:tailEnd type="none" w="med" len="med"/>
              </a:ln>
            </p:spPr>
            <p:txBody>
              <a:bodyPr wrap="none"/>
              <a:lstStyle/>
              <a:p>
                <a:endParaRPr lang="zh-CN" altLang="en-US"/>
              </a:p>
            </p:txBody>
          </p:sp>
          <p:grpSp>
            <p:nvGrpSpPr>
              <p:cNvPr id="141" name="Group 87"/>
              <p:cNvGrpSpPr>
                <a:grpSpLocks/>
              </p:cNvGrpSpPr>
              <p:nvPr/>
            </p:nvGrpSpPr>
            <p:grpSpPr bwMode="auto">
              <a:xfrm>
                <a:off x="4032" y="2419"/>
                <a:ext cx="240" cy="233"/>
                <a:chOff x="5140" y="403"/>
                <a:chExt cx="240" cy="233"/>
              </a:xfrm>
            </p:grpSpPr>
            <p:sp>
              <p:nvSpPr>
                <p:cNvPr id="142" name="Oval 86"/>
                <p:cNvSpPr>
                  <a:spLocks noChangeArrowheads="1"/>
                </p:cNvSpPr>
                <p:nvPr/>
              </p:nvSpPr>
              <p:spPr bwMode="auto">
                <a:xfrm>
                  <a:off x="5140" y="410"/>
                  <a:ext cx="240" cy="226"/>
                </a:xfrm>
                <a:prstGeom prst="ellipse">
                  <a:avLst/>
                </a:prstGeom>
                <a:solidFill>
                  <a:schemeClr val="bg1"/>
                </a:solidFill>
                <a:ln w="9525">
                  <a:solidFill>
                    <a:srgbClr val="C00000"/>
                  </a:solidFill>
                  <a:round/>
                  <a:headEnd/>
                  <a:tailEnd/>
                </a:ln>
              </p:spPr>
              <p:txBody>
                <a:bodyPr wrap="none" anchor="ctr"/>
                <a:lstStyle/>
                <a:p>
                  <a:endParaRPr lang="zh-CN" altLang="en-US">
                    <a:ea typeface="宋体" charset="-122"/>
                  </a:endParaRPr>
                </a:p>
              </p:txBody>
            </p:sp>
            <p:sp>
              <p:nvSpPr>
                <p:cNvPr id="143" name="Text Box 52"/>
                <p:cNvSpPr txBox="1">
                  <a:spLocks noChangeArrowheads="1"/>
                </p:cNvSpPr>
                <p:nvPr/>
              </p:nvSpPr>
              <p:spPr bwMode="auto">
                <a:xfrm>
                  <a:off x="5154" y="403"/>
                  <a:ext cx="193" cy="233"/>
                </a:xfrm>
                <a:prstGeom prst="rect">
                  <a:avLst/>
                </a:prstGeom>
                <a:noFill/>
                <a:ln w="9525">
                  <a:noFill/>
                  <a:miter lim="800000"/>
                  <a:headEnd/>
                  <a:tailEnd/>
                </a:ln>
              </p:spPr>
              <p:txBody>
                <a:bodyPr wrap="none">
                  <a:spAutoFit/>
                </a:bodyPr>
                <a:lstStyle/>
                <a:p>
                  <a:r>
                    <a:rPr lang="en-US" altLang="zh-CN" dirty="0">
                      <a:solidFill>
                        <a:srgbClr val="C00000"/>
                      </a:solidFill>
                      <a:ea typeface="宋体" charset="-122"/>
                    </a:rPr>
                    <a:t>1</a:t>
                  </a:r>
                </a:p>
              </p:txBody>
            </p:sp>
          </p:grpSp>
        </p:grpSp>
        <p:sp>
          <p:nvSpPr>
            <p:cNvPr id="68" name="Text Box 54"/>
            <p:cNvSpPr txBox="1">
              <a:spLocks noChangeArrowheads="1"/>
            </p:cNvSpPr>
            <p:nvPr/>
          </p:nvSpPr>
          <p:spPr bwMode="auto">
            <a:xfrm>
              <a:off x="4533900" y="3822700"/>
              <a:ext cx="923925" cy="336550"/>
            </a:xfrm>
            <a:prstGeom prst="rect">
              <a:avLst/>
            </a:prstGeom>
            <a:noFill/>
            <a:ln w="9525">
              <a:noFill/>
              <a:miter lim="800000"/>
              <a:headEnd/>
              <a:tailEnd/>
            </a:ln>
          </p:spPr>
          <p:txBody>
            <a:bodyPr wrap="none">
              <a:spAutoFit/>
            </a:bodyPr>
            <a:lstStyle/>
            <a:p>
              <a:r>
                <a:rPr lang="en-US" altLang="zh-CN" sz="1600">
                  <a:ea typeface="宋体" charset="-122"/>
                </a:rPr>
                <a:t>10.0.0.4</a:t>
              </a:r>
            </a:p>
          </p:txBody>
        </p:sp>
        <p:sp>
          <p:nvSpPr>
            <p:cNvPr id="69" name="Line 55"/>
            <p:cNvSpPr>
              <a:spLocks noChangeShapeType="1"/>
            </p:cNvSpPr>
            <p:nvPr/>
          </p:nvSpPr>
          <p:spPr bwMode="auto">
            <a:xfrm flipH="1">
              <a:off x="4657725" y="4073525"/>
              <a:ext cx="85725" cy="128588"/>
            </a:xfrm>
            <a:prstGeom prst="line">
              <a:avLst/>
            </a:prstGeom>
            <a:noFill/>
            <a:ln w="19050">
              <a:solidFill>
                <a:schemeClr val="tx1"/>
              </a:solidFill>
              <a:round/>
              <a:headEnd/>
              <a:tailEnd type="triangle" w="med" len="med"/>
            </a:ln>
          </p:spPr>
          <p:txBody>
            <a:bodyPr wrap="none"/>
            <a:lstStyle/>
            <a:p>
              <a:endParaRPr lang="zh-CN" altLang="en-US"/>
            </a:p>
          </p:txBody>
        </p:sp>
        <p:sp>
          <p:nvSpPr>
            <p:cNvPr id="70" name="Text Box 56"/>
            <p:cNvSpPr txBox="1">
              <a:spLocks noChangeArrowheads="1"/>
            </p:cNvSpPr>
            <p:nvPr/>
          </p:nvSpPr>
          <p:spPr bwMode="auto">
            <a:xfrm>
              <a:off x="2695575" y="4379913"/>
              <a:ext cx="1295400" cy="336550"/>
            </a:xfrm>
            <a:prstGeom prst="rect">
              <a:avLst/>
            </a:prstGeom>
            <a:noFill/>
            <a:ln w="9525">
              <a:noFill/>
              <a:miter lim="800000"/>
              <a:headEnd/>
              <a:tailEnd/>
            </a:ln>
          </p:spPr>
          <p:txBody>
            <a:bodyPr wrap="none">
              <a:spAutoFit/>
            </a:bodyPr>
            <a:lstStyle/>
            <a:p>
              <a:r>
                <a:rPr lang="en-US" altLang="zh-CN" sz="1600">
                  <a:ea typeface="宋体" charset="-122"/>
                </a:rPr>
                <a:t>138.76.29.7</a:t>
              </a:r>
            </a:p>
          </p:txBody>
        </p:sp>
        <p:sp>
          <p:nvSpPr>
            <p:cNvPr id="71" name="Line 57"/>
            <p:cNvSpPr>
              <a:spLocks noChangeShapeType="1"/>
            </p:cNvSpPr>
            <p:nvPr/>
          </p:nvSpPr>
          <p:spPr bwMode="auto">
            <a:xfrm flipH="1">
              <a:off x="3917950" y="4311650"/>
              <a:ext cx="85725" cy="128588"/>
            </a:xfrm>
            <a:prstGeom prst="line">
              <a:avLst/>
            </a:prstGeom>
            <a:noFill/>
            <a:ln w="19050">
              <a:solidFill>
                <a:schemeClr val="tx1"/>
              </a:solidFill>
              <a:round/>
              <a:headEnd type="triangle" w="med" len="med"/>
              <a:tailEnd/>
            </a:ln>
          </p:spPr>
          <p:txBody>
            <a:bodyPr wrap="none"/>
            <a:lstStyle/>
            <a:p>
              <a:endParaRPr lang="zh-CN" altLang="en-US"/>
            </a:p>
          </p:txBody>
        </p:sp>
        <p:grpSp>
          <p:nvGrpSpPr>
            <p:cNvPr id="72" name="Group 59"/>
            <p:cNvGrpSpPr>
              <a:grpSpLocks/>
            </p:cNvGrpSpPr>
            <p:nvPr/>
          </p:nvGrpSpPr>
          <p:grpSpPr bwMode="auto">
            <a:xfrm>
              <a:off x="6469066" y="1541463"/>
              <a:ext cx="2386013" cy="1417637"/>
              <a:chOff x="3944" y="971"/>
              <a:chExt cx="1503" cy="893"/>
            </a:xfrm>
          </p:grpSpPr>
          <p:sp>
            <p:nvSpPr>
              <p:cNvPr id="137" name="Text Box 53"/>
              <p:cNvSpPr txBox="1">
                <a:spLocks noChangeArrowheads="1"/>
              </p:cNvSpPr>
              <p:nvPr/>
            </p:nvSpPr>
            <p:spPr bwMode="auto">
              <a:xfrm>
                <a:off x="4121" y="971"/>
                <a:ext cx="1326" cy="582"/>
              </a:xfrm>
              <a:prstGeom prst="rect">
                <a:avLst/>
              </a:prstGeom>
              <a:noFill/>
              <a:ln w="9525">
                <a:noFill/>
                <a:miter lim="800000"/>
                <a:headEnd/>
                <a:tailEnd/>
              </a:ln>
            </p:spPr>
            <p:txBody>
              <a:bodyPr wrap="none">
                <a:spAutoFit/>
              </a:bodyPr>
              <a:lstStyle/>
              <a:p>
                <a:r>
                  <a:rPr lang="en-US" altLang="zh-CN" u="sng" dirty="0">
                    <a:solidFill>
                      <a:srgbClr val="C00000"/>
                    </a:solidFill>
                    <a:ea typeface="宋体" charset="-122"/>
                  </a:rPr>
                  <a:t>1: host 10.0.0.1 </a:t>
                </a:r>
              </a:p>
              <a:p>
                <a:r>
                  <a:rPr lang="en-US" altLang="zh-CN" u="sng" dirty="0">
                    <a:solidFill>
                      <a:srgbClr val="C00000"/>
                    </a:solidFill>
                    <a:ea typeface="宋体" charset="-122"/>
                  </a:rPr>
                  <a:t>sends datagram to </a:t>
                </a:r>
              </a:p>
              <a:p>
                <a:r>
                  <a:rPr lang="en-US" altLang="zh-CN" u="sng" dirty="0">
                    <a:solidFill>
                      <a:srgbClr val="C00000"/>
                    </a:solidFill>
                    <a:ea typeface="宋体" charset="-122"/>
                  </a:rPr>
                  <a:t>128.119.40.186, 80</a:t>
                </a:r>
              </a:p>
            </p:txBody>
          </p:sp>
          <p:sp>
            <p:nvSpPr>
              <p:cNvPr id="138" name="Line 58"/>
              <p:cNvSpPr>
                <a:spLocks noChangeShapeType="1"/>
              </p:cNvSpPr>
              <p:nvPr/>
            </p:nvSpPr>
            <p:spPr bwMode="auto">
              <a:xfrm flipH="1">
                <a:off x="3944" y="1105"/>
                <a:ext cx="197" cy="759"/>
              </a:xfrm>
              <a:prstGeom prst="line">
                <a:avLst/>
              </a:prstGeom>
              <a:noFill/>
              <a:ln w="19050">
                <a:solidFill>
                  <a:srgbClr val="C00000"/>
                </a:solidFill>
                <a:round/>
                <a:headEnd/>
                <a:tailEnd type="triangle" w="med" len="med"/>
              </a:ln>
            </p:spPr>
            <p:txBody>
              <a:bodyPr wrap="none"/>
              <a:lstStyle/>
              <a:p>
                <a:endParaRPr lang="zh-CN" altLang="en-US"/>
              </a:p>
            </p:txBody>
          </p:sp>
        </p:grpSp>
        <p:sp>
          <p:nvSpPr>
            <p:cNvPr id="73" name="Freeform 67"/>
            <p:cNvSpPr>
              <a:spLocks/>
            </p:cNvSpPr>
            <p:nvPr/>
          </p:nvSpPr>
          <p:spPr bwMode="auto">
            <a:xfrm>
              <a:off x="2344738" y="2627313"/>
              <a:ext cx="3862387" cy="1531937"/>
            </a:xfrm>
            <a:custGeom>
              <a:avLst/>
              <a:gdLst>
                <a:gd name="T0" fmla="*/ 0 w 2433"/>
                <a:gd name="T1" fmla="*/ 2147483646 h 965"/>
                <a:gd name="T2" fmla="*/ 2147483646 w 2433"/>
                <a:gd name="T3" fmla="*/ 2147483646 h 965"/>
                <a:gd name="T4" fmla="*/ 2147483646 w 2433"/>
                <a:gd name="T5" fmla="*/ 2147483646 h 965"/>
                <a:gd name="T6" fmla="*/ 2147483646 w 2433"/>
                <a:gd name="T7" fmla="*/ 2147483646 h 965"/>
                <a:gd name="T8" fmla="*/ 2147483646 w 2433"/>
                <a:gd name="T9" fmla="*/ 2147483646 h 965"/>
                <a:gd name="T10" fmla="*/ 2147483646 w 2433"/>
                <a:gd name="T11" fmla="*/ 2147483646 h 965"/>
                <a:gd name="T12" fmla="*/ 0 w 2433"/>
                <a:gd name="T13" fmla="*/ 2147483646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hlink"/>
                </a:gs>
                <a:gs pos="100000">
                  <a:schemeClr val="bg1"/>
                </a:gs>
              </a:gsLst>
              <a:lin ang="5400000" scaled="1"/>
            </a:gradFill>
            <a:ln w="3175" cap="flat" cmpd="sng">
              <a:solidFill>
                <a:schemeClr val="hlink"/>
              </a:solidFill>
              <a:prstDash val="solid"/>
              <a:round/>
              <a:headEnd/>
              <a:tailEnd/>
            </a:ln>
          </p:spPr>
          <p:txBody>
            <a:bodyPr wrap="none"/>
            <a:lstStyle/>
            <a:p>
              <a:endParaRPr lang="zh-CN" altLang="en-US"/>
            </a:p>
          </p:txBody>
        </p:sp>
        <p:sp>
          <p:nvSpPr>
            <p:cNvPr id="74" name="Rectangle 62"/>
            <p:cNvSpPr>
              <a:spLocks noChangeArrowheads="1"/>
            </p:cNvSpPr>
            <p:nvPr/>
          </p:nvSpPr>
          <p:spPr bwMode="auto">
            <a:xfrm>
              <a:off x="2344738" y="1374775"/>
              <a:ext cx="3784600" cy="1354138"/>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75" name="Text Box 60"/>
            <p:cNvSpPr txBox="1">
              <a:spLocks noChangeArrowheads="1"/>
            </p:cNvSpPr>
            <p:nvPr/>
          </p:nvSpPr>
          <p:spPr bwMode="auto">
            <a:xfrm>
              <a:off x="2274480" y="1423988"/>
              <a:ext cx="3985386" cy="708445"/>
            </a:xfrm>
            <a:prstGeom prst="rect">
              <a:avLst/>
            </a:prstGeom>
            <a:noFill/>
            <a:ln w="9525">
              <a:noFill/>
              <a:miter lim="800000"/>
              <a:headEnd/>
              <a:tailEnd/>
            </a:ln>
          </p:spPr>
          <p:txBody>
            <a:bodyPr wrap="none">
              <a:spAutoFit/>
            </a:bodyPr>
            <a:lstStyle/>
            <a:p>
              <a:pPr algn="ctr"/>
              <a:r>
                <a:rPr lang="en-US" altLang="zh-CN" dirty="0">
                  <a:ea typeface="宋体" charset="-122"/>
                </a:rPr>
                <a:t>NAT </a:t>
              </a:r>
              <a:r>
                <a:rPr lang="zh-CN" altLang="en-US" dirty="0">
                  <a:ea typeface="宋体" charset="-122"/>
                </a:rPr>
                <a:t>转换表</a:t>
              </a:r>
              <a:endParaRPr lang="en-US" altLang="zh-CN" dirty="0">
                <a:ea typeface="宋体" charset="-122"/>
              </a:endParaRPr>
            </a:p>
            <a:p>
              <a:pPr algn="ctr"/>
              <a:r>
                <a:rPr lang="zh-CN" altLang="en-US" sz="1600" dirty="0">
                  <a:ea typeface="宋体" charset="-122"/>
                </a:rPr>
                <a:t>广域网地址及端口</a:t>
              </a:r>
              <a:r>
                <a:rPr lang="en-US" altLang="zh-CN" sz="1600" dirty="0">
                  <a:ea typeface="宋体" charset="-122"/>
                </a:rPr>
                <a:t>        </a:t>
              </a:r>
              <a:r>
                <a:rPr lang="zh-CN" altLang="en-US" sz="1600" dirty="0">
                  <a:ea typeface="宋体" charset="-122"/>
                </a:rPr>
                <a:t>局域网地址及端口</a:t>
              </a:r>
              <a:endParaRPr lang="en-US" altLang="zh-CN" sz="1600" dirty="0">
                <a:ea typeface="宋体" charset="-122"/>
              </a:endParaRPr>
            </a:p>
          </p:txBody>
        </p:sp>
        <p:sp>
          <p:nvSpPr>
            <p:cNvPr id="76" name="Line 63"/>
            <p:cNvSpPr>
              <a:spLocks noChangeShapeType="1"/>
            </p:cNvSpPr>
            <p:nvPr/>
          </p:nvSpPr>
          <p:spPr bwMode="auto">
            <a:xfrm flipV="1">
              <a:off x="2344738" y="1747838"/>
              <a:ext cx="3790950" cy="11112"/>
            </a:xfrm>
            <a:prstGeom prst="line">
              <a:avLst/>
            </a:prstGeom>
            <a:noFill/>
            <a:ln w="9525">
              <a:solidFill>
                <a:schemeClr val="tx1"/>
              </a:solidFill>
              <a:round/>
              <a:headEnd/>
              <a:tailEnd/>
            </a:ln>
          </p:spPr>
          <p:txBody>
            <a:bodyPr wrap="none"/>
            <a:lstStyle/>
            <a:p>
              <a:endParaRPr lang="zh-CN" altLang="en-US"/>
            </a:p>
          </p:txBody>
        </p:sp>
        <p:sp>
          <p:nvSpPr>
            <p:cNvPr id="77" name="Line 64"/>
            <p:cNvSpPr>
              <a:spLocks noChangeShapeType="1"/>
            </p:cNvSpPr>
            <p:nvPr/>
          </p:nvSpPr>
          <p:spPr bwMode="auto">
            <a:xfrm flipV="1">
              <a:off x="2359025" y="2025650"/>
              <a:ext cx="3749675" cy="11113"/>
            </a:xfrm>
            <a:prstGeom prst="line">
              <a:avLst/>
            </a:prstGeom>
            <a:noFill/>
            <a:ln w="9525">
              <a:solidFill>
                <a:schemeClr val="tx1"/>
              </a:solidFill>
              <a:round/>
              <a:headEnd/>
              <a:tailEnd/>
            </a:ln>
          </p:spPr>
          <p:txBody>
            <a:bodyPr wrap="none"/>
            <a:lstStyle/>
            <a:p>
              <a:endParaRPr lang="zh-CN" altLang="en-US"/>
            </a:p>
          </p:txBody>
        </p:sp>
        <p:sp>
          <p:nvSpPr>
            <p:cNvPr id="78" name="Line 65"/>
            <p:cNvSpPr>
              <a:spLocks noChangeShapeType="1"/>
            </p:cNvSpPr>
            <p:nvPr/>
          </p:nvSpPr>
          <p:spPr bwMode="auto">
            <a:xfrm>
              <a:off x="4468813" y="1770063"/>
              <a:ext cx="3175" cy="955675"/>
            </a:xfrm>
            <a:prstGeom prst="line">
              <a:avLst/>
            </a:prstGeom>
            <a:noFill/>
            <a:ln w="9525">
              <a:solidFill>
                <a:schemeClr val="tx1"/>
              </a:solidFill>
              <a:round/>
              <a:headEnd/>
              <a:tailEnd/>
            </a:ln>
          </p:spPr>
          <p:txBody>
            <a:bodyPr wrap="none"/>
            <a:lstStyle/>
            <a:p>
              <a:endParaRPr lang="zh-CN" altLang="en-US"/>
            </a:p>
          </p:txBody>
        </p:sp>
        <p:grpSp>
          <p:nvGrpSpPr>
            <p:cNvPr id="79" name="Group 10"/>
            <p:cNvGrpSpPr>
              <a:grpSpLocks/>
            </p:cNvGrpSpPr>
            <p:nvPr/>
          </p:nvGrpSpPr>
          <p:grpSpPr bwMode="auto">
            <a:xfrm>
              <a:off x="4062424" y="4105267"/>
              <a:ext cx="555626" cy="307969"/>
              <a:chOff x="3600" y="219"/>
              <a:chExt cx="360" cy="175"/>
            </a:xfrm>
          </p:grpSpPr>
          <p:sp>
            <p:nvSpPr>
              <p:cNvPr id="132" name="Oval 11"/>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sp>
            <p:nvSpPr>
              <p:cNvPr id="133" name="Line 12"/>
              <p:cNvSpPr>
                <a:spLocks noChangeShapeType="1"/>
              </p:cNvSpPr>
              <p:nvPr/>
            </p:nvSpPr>
            <p:spPr bwMode="auto">
              <a:xfrm>
                <a:off x="3603" y="289"/>
                <a:ext cx="0" cy="60"/>
              </a:xfrm>
              <a:prstGeom prst="line">
                <a:avLst/>
              </a:prstGeom>
              <a:noFill/>
              <a:ln w="12700">
                <a:solidFill>
                  <a:schemeClr val="tx1"/>
                </a:solidFill>
                <a:round/>
                <a:headEnd/>
                <a:tailEnd/>
              </a:ln>
            </p:spPr>
            <p:txBody>
              <a:bodyPr wrap="none" anchor="ctr"/>
              <a:lstStyle/>
              <a:p>
                <a:endParaRPr lang="zh-CN" altLang="en-US"/>
              </a:p>
            </p:txBody>
          </p:sp>
          <p:sp>
            <p:nvSpPr>
              <p:cNvPr id="134" name="Line 13"/>
              <p:cNvSpPr>
                <a:spLocks noChangeShapeType="1"/>
              </p:cNvSpPr>
              <p:nvPr/>
            </p:nvSpPr>
            <p:spPr bwMode="auto">
              <a:xfrm>
                <a:off x="3960" y="289"/>
                <a:ext cx="0" cy="60"/>
              </a:xfrm>
              <a:prstGeom prst="line">
                <a:avLst/>
              </a:prstGeom>
              <a:noFill/>
              <a:ln w="12700">
                <a:solidFill>
                  <a:schemeClr val="tx1"/>
                </a:solidFill>
                <a:round/>
                <a:headEnd/>
                <a:tailEnd/>
              </a:ln>
            </p:spPr>
            <p:txBody>
              <a:bodyPr wrap="none" anchor="ctr"/>
              <a:lstStyle/>
              <a:p>
                <a:endParaRPr lang="zh-CN" altLang="en-US"/>
              </a:p>
            </p:txBody>
          </p:sp>
          <p:sp>
            <p:nvSpPr>
              <p:cNvPr id="135" name="Rectangle 14"/>
              <p:cNvSpPr>
                <a:spLocks noChangeArrowheads="1"/>
              </p:cNvSpPr>
              <p:nvPr/>
            </p:nvSpPr>
            <p:spPr bwMode="auto">
              <a:xfrm>
                <a:off x="3603" y="289"/>
                <a:ext cx="354" cy="59"/>
              </a:xfrm>
              <a:prstGeom prst="rect">
                <a:avLst/>
              </a:prstGeom>
              <a:solidFill>
                <a:schemeClr val="hlink"/>
              </a:solidFill>
              <a:ln w="12700">
                <a:noFill/>
                <a:miter lim="800000"/>
                <a:headEnd/>
                <a:tailEnd/>
              </a:ln>
            </p:spPr>
            <p:txBody>
              <a:bodyPr wrap="none" anchor="ctr"/>
              <a:lstStyle/>
              <a:p>
                <a:pPr algn="ctr"/>
                <a:endParaRPr lang="zh-CN" altLang="zh-CN" sz="2400">
                  <a:latin typeface="Times New Roman" pitchFamily="18" charset="0"/>
                  <a:ea typeface="宋体" charset="-122"/>
                </a:endParaRPr>
              </a:p>
            </p:txBody>
          </p:sp>
          <p:sp>
            <p:nvSpPr>
              <p:cNvPr id="136" name="Oval 15"/>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grpSp>
        <p:sp>
          <p:nvSpPr>
            <p:cNvPr id="80" name="Text Box 61"/>
            <p:cNvSpPr txBox="1">
              <a:spLocks noChangeArrowheads="1"/>
            </p:cNvSpPr>
            <p:nvPr/>
          </p:nvSpPr>
          <p:spPr bwMode="auto">
            <a:xfrm>
              <a:off x="2476500" y="2049463"/>
              <a:ext cx="3466013" cy="646331"/>
            </a:xfrm>
            <a:prstGeom prst="rect">
              <a:avLst/>
            </a:prstGeom>
            <a:noFill/>
            <a:ln w="9525">
              <a:noFill/>
              <a:miter lim="800000"/>
              <a:headEnd/>
              <a:tailEnd/>
            </a:ln>
          </p:spPr>
          <p:txBody>
            <a:bodyPr wrap="none">
              <a:spAutoFit/>
            </a:bodyPr>
            <a:lstStyle/>
            <a:p>
              <a:pPr algn="ctr"/>
              <a:r>
                <a:rPr lang="en-US" altLang="zh-CN" u="sng" dirty="0">
                  <a:solidFill>
                    <a:srgbClr val="C00000"/>
                  </a:solidFill>
                  <a:ea typeface="宋体" charset="-122"/>
                </a:rPr>
                <a:t>138.76.29.7, 5001   10.0.0.1, 3345</a:t>
              </a:r>
            </a:p>
            <a:p>
              <a:pPr algn="ctr"/>
              <a:r>
                <a:rPr lang="en-US" altLang="zh-CN" dirty="0">
                  <a:ea typeface="宋体" charset="-122"/>
                </a:rPr>
                <a:t>……                                         ……</a:t>
              </a:r>
            </a:p>
          </p:txBody>
        </p:sp>
        <p:grpSp>
          <p:nvGrpSpPr>
            <p:cNvPr id="81" name="Group 135"/>
            <p:cNvGrpSpPr>
              <a:grpSpLocks/>
            </p:cNvGrpSpPr>
            <p:nvPr/>
          </p:nvGrpSpPr>
          <p:grpSpPr bwMode="auto">
            <a:xfrm>
              <a:off x="4765676" y="3435355"/>
              <a:ext cx="2784476" cy="1631952"/>
              <a:chOff x="3002" y="2417"/>
              <a:chExt cx="1754" cy="1028"/>
            </a:xfrm>
          </p:grpSpPr>
          <p:sp>
            <p:nvSpPr>
              <p:cNvPr id="118" name="Rectangle 91"/>
              <p:cNvSpPr>
                <a:spLocks noChangeArrowheads="1"/>
              </p:cNvSpPr>
              <p:nvPr/>
            </p:nvSpPr>
            <p:spPr bwMode="auto">
              <a:xfrm>
                <a:off x="3002" y="3051"/>
                <a:ext cx="1175"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119" name="Text Box 92"/>
              <p:cNvSpPr txBox="1">
                <a:spLocks noChangeArrowheads="1"/>
              </p:cNvSpPr>
              <p:nvPr/>
            </p:nvSpPr>
            <p:spPr bwMode="auto">
              <a:xfrm>
                <a:off x="3104" y="3042"/>
                <a:ext cx="1112" cy="403"/>
              </a:xfrm>
              <a:prstGeom prst="rect">
                <a:avLst/>
              </a:prstGeom>
              <a:noFill/>
              <a:ln w="9525">
                <a:noFill/>
                <a:miter lim="800000"/>
                <a:headEnd/>
                <a:tailEnd/>
              </a:ln>
            </p:spPr>
            <p:txBody>
              <a:bodyPr>
                <a:spAutoFit/>
              </a:bodyPr>
              <a:lstStyle/>
              <a:p>
                <a:r>
                  <a:rPr lang="en-US" altLang="zh-CN" sz="1200">
                    <a:ea typeface="宋体" charset="-122"/>
                  </a:rPr>
                  <a:t>S: 128.119.40.186, 80 </a:t>
                </a:r>
              </a:p>
              <a:p>
                <a:r>
                  <a:rPr lang="en-US" altLang="zh-CN" sz="1200">
                    <a:ea typeface="宋体" charset="-122"/>
                  </a:rPr>
                  <a:t>D: 10.0.0.1, 3345</a:t>
                </a:r>
              </a:p>
              <a:p>
                <a:endParaRPr lang="en-US" altLang="zh-CN" sz="1200">
                  <a:ea typeface="宋体" charset="-122"/>
                </a:endParaRPr>
              </a:p>
            </p:txBody>
          </p:sp>
          <p:grpSp>
            <p:nvGrpSpPr>
              <p:cNvPr id="120" name="Group 93"/>
              <p:cNvGrpSpPr>
                <a:grpSpLocks/>
              </p:cNvGrpSpPr>
              <p:nvPr/>
            </p:nvGrpSpPr>
            <p:grpSpPr bwMode="auto">
              <a:xfrm>
                <a:off x="3054" y="3007"/>
                <a:ext cx="51" cy="99"/>
                <a:chOff x="5508" y="1599"/>
                <a:chExt cx="48" cy="99"/>
              </a:xfrm>
            </p:grpSpPr>
            <p:sp>
              <p:nvSpPr>
                <p:cNvPr id="129" name="Freeform 94"/>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30" name="Line 95"/>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31" name="Line 96"/>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121" name="Group 97"/>
              <p:cNvGrpSpPr>
                <a:grpSpLocks/>
              </p:cNvGrpSpPr>
              <p:nvPr/>
            </p:nvGrpSpPr>
            <p:grpSpPr bwMode="auto">
              <a:xfrm>
                <a:off x="3059" y="3248"/>
                <a:ext cx="51" cy="99"/>
                <a:chOff x="5508" y="1599"/>
                <a:chExt cx="48" cy="99"/>
              </a:xfrm>
            </p:grpSpPr>
            <p:sp>
              <p:nvSpPr>
                <p:cNvPr id="126" name="Freeform 98"/>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27" name="Line 99"/>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28" name="Line 100"/>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sp>
            <p:nvSpPr>
              <p:cNvPr id="122" name="Freeform 101"/>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chemeClr val="tx1"/>
                </a:solidFill>
                <a:prstDash val="solid"/>
                <a:round/>
                <a:headEnd type="triangle" w="med" len="med"/>
                <a:tailEnd type="none" w="med" len="med"/>
              </a:ln>
            </p:spPr>
            <p:txBody>
              <a:bodyPr wrap="none"/>
              <a:lstStyle/>
              <a:p>
                <a:endParaRPr lang="zh-CN" altLang="en-US"/>
              </a:p>
            </p:txBody>
          </p:sp>
          <p:grpSp>
            <p:nvGrpSpPr>
              <p:cNvPr id="123" name="Group 102"/>
              <p:cNvGrpSpPr>
                <a:grpSpLocks/>
              </p:cNvGrpSpPr>
              <p:nvPr/>
            </p:nvGrpSpPr>
            <p:grpSpPr bwMode="auto">
              <a:xfrm>
                <a:off x="4240" y="3064"/>
                <a:ext cx="218" cy="233"/>
                <a:chOff x="5140" y="403"/>
                <a:chExt cx="218" cy="233"/>
              </a:xfrm>
            </p:grpSpPr>
            <p:sp>
              <p:nvSpPr>
                <p:cNvPr id="124" name="Oval 103"/>
                <p:cNvSpPr>
                  <a:spLocks noChangeArrowheads="1"/>
                </p:cNvSpPr>
                <p:nvPr/>
              </p:nvSpPr>
              <p:spPr bwMode="auto">
                <a:xfrm>
                  <a:off x="5140" y="410"/>
                  <a:ext cx="218" cy="218"/>
                </a:xfrm>
                <a:prstGeom prst="ellipse">
                  <a:avLst/>
                </a:prstGeom>
                <a:solidFill>
                  <a:schemeClr val="bg1"/>
                </a:solidFill>
                <a:ln w="9525">
                  <a:solidFill>
                    <a:srgbClr val="C00000"/>
                  </a:solidFill>
                  <a:round/>
                  <a:headEnd/>
                  <a:tailEnd/>
                </a:ln>
              </p:spPr>
              <p:txBody>
                <a:bodyPr wrap="none" anchor="ctr"/>
                <a:lstStyle/>
                <a:p>
                  <a:endParaRPr lang="zh-CN" altLang="en-US">
                    <a:ea typeface="宋体" charset="-122"/>
                  </a:endParaRPr>
                </a:p>
              </p:txBody>
            </p:sp>
            <p:sp>
              <p:nvSpPr>
                <p:cNvPr id="125" name="Text Box 104"/>
                <p:cNvSpPr txBox="1">
                  <a:spLocks noChangeArrowheads="1"/>
                </p:cNvSpPr>
                <p:nvPr/>
              </p:nvSpPr>
              <p:spPr bwMode="auto">
                <a:xfrm>
                  <a:off x="5154" y="403"/>
                  <a:ext cx="193" cy="233"/>
                </a:xfrm>
                <a:prstGeom prst="rect">
                  <a:avLst/>
                </a:prstGeom>
                <a:noFill/>
                <a:ln w="9525">
                  <a:noFill/>
                  <a:miter lim="800000"/>
                  <a:headEnd/>
                  <a:tailEnd/>
                </a:ln>
              </p:spPr>
              <p:txBody>
                <a:bodyPr wrap="none">
                  <a:spAutoFit/>
                </a:bodyPr>
                <a:lstStyle/>
                <a:p>
                  <a:r>
                    <a:rPr lang="en-US" altLang="zh-CN" dirty="0">
                      <a:solidFill>
                        <a:srgbClr val="C00000"/>
                      </a:solidFill>
                      <a:ea typeface="宋体" charset="-122"/>
                    </a:rPr>
                    <a:t>4</a:t>
                  </a:r>
                </a:p>
              </p:txBody>
            </p:sp>
          </p:grpSp>
        </p:grpSp>
        <p:grpSp>
          <p:nvGrpSpPr>
            <p:cNvPr id="82" name="Group 108"/>
            <p:cNvGrpSpPr>
              <a:grpSpLocks/>
            </p:cNvGrpSpPr>
            <p:nvPr/>
          </p:nvGrpSpPr>
          <p:grpSpPr bwMode="auto">
            <a:xfrm>
              <a:off x="1531938" y="3641726"/>
              <a:ext cx="2497137" cy="566738"/>
              <a:chOff x="1026" y="3559"/>
              <a:chExt cx="1573" cy="357"/>
            </a:xfrm>
          </p:grpSpPr>
          <p:sp>
            <p:nvSpPr>
              <p:cNvPr id="106" name="Line 79"/>
              <p:cNvSpPr>
                <a:spLocks noChangeShapeType="1"/>
              </p:cNvSpPr>
              <p:nvPr/>
            </p:nvSpPr>
            <p:spPr bwMode="auto">
              <a:xfrm flipH="1">
                <a:off x="1026" y="3729"/>
                <a:ext cx="376" cy="0"/>
              </a:xfrm>
              <a:prstGeom prst="line">
                <a:avLst/>
              </a:prstGeom>
              <a:noFill/>
              <a:ln w="19050">
                <a:solidFill>
                  <a:schemeClr val="tx1"/>
                </a:solidFill>
                <a:round/>
                <a:headEnd/>
                <a:tailEnd type="triangle" w="med" len="med"/>
              </a:ln>
            </p:spPr>
            <p:txBody>
              <a:bodyPr wrap="none"/>
              <a:lstStyle/>
              <a:p>
                <a:endParaRPr lang="zh-CN" altLang="en-US"/>
              </a:p>
            </p:txBody>
          </p:sp>
          <p:grpSp>
            <p:nvGrpSpPr>
              <p:cNvPr id="107" name="Group 68"/>
              <p:cNvGrpSpPr>
                <a:grpSpLocks/>
              </p:cNvGrpSpPr>
              <p:nvPr/>
            </p:nvGrpSpPr>
            <p:grpSpPr bwMode="auto">
              <a:xfrm>
                <a:off x="1412" y="3559"/>
                <a:ext cx="1187" cy="357"/>
                <a:chOff x="4381" y="786"/>
                <a:chExt cx="1108" cy="357"/>
              </a:xfrm>
            </p:grpSpPr>
            <p:sp>
              <p:nvSpPr>
                <p:cNvPr id="108" name="Rectangle 69"/>
                <p:cNvSpPr>
                  <a:spLocks noChangeArrowheads="1"/>
                </p:cNvSpPr>
                <p:nvPr/>
              </p:nvSpPr>
              <p:spPr bwMode="auto">
                <a:xfrm>
                  <a:off x="4385" y="830"/>
                  <a:ext cx="1104"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109" name="Text Box 70"/>
                <p:cNvSpPr txBox="1">
                  <a:spLocks noChangeArrowheads="1"/>
                </p:cNvSpPr>
                <p:nvPr/>
              </p:nvSpPr>
              <p:spPr bwMode="auto">
                <a:xfrm>
                  <a:off x="4381" y="813"/>
                  <a:ext cx="1045" cy="288"/>
                </a:xfrm>
                <a:prstGeom prst="rect">
                  <a:avLst/>
                </a:prstGeom>
                <a:noFill/>
                <a:ln w="9525">
                  <a:noFill/>
                  <a:miter lim="800000"/>
                  <a:headEnd/>
                  <a:tailEnd/>
                </a:ln>
              </p:spPr>
              <p:txBody>
                <a:bodyPr>
                  <a:spAutoFit/>
                </a:bodyPr>
                <a:lstStyle/>
                <a:p>
                  <a:r>
                    <a:rPr lang="en-US" altLang="zh-CN" sz="1200" dirty="0">
                      <a:ea typeface="宋体" charset="-122"/>
                    </a:rPr>
                    <a:t>S: 138.76.29.7, 5001</a:t>
                  </a:r>
                </a:p>
                <a:p>
                  <a:r>
                    <a:rPr lang="en-US" altLang="zh-CN" sz="1200" dirty="0">
                      <a:ea typeface="宋体" charset="-122"/>
                    </a:rPr>
                    <a:t>D: 128.119.40.186, 80</a:t>
                  </a:r>
                </a:p>
              </p:txBody>
            </p:sp>
            <p:grpSp>
              <p:nvGrpSpPr>
                <p:cNvPr id="110" name="Group 71"/>
                <p:cNvGrpSpPr>
                  <a:grpSpLocks/>
                </p:cNvGrpSpPr>
                <p:nvPr/>
              </p:nvGrpSpPr>
              <p:grpSpPr bwMode="auto">
                <a:xfrm>
                  <a:off x="5394" y="786"/>
                  <a:ext cx="48" cy="99"/>
                  <a:chOff x="5508" y="1599"/>
                  <a:chExt cx="48" cy="99"/>
                </a:xfrm>
              </p:grpSpPr>
              <p:sp>
                <p:nvSpPr>
                  <p:cNvPr id="115" name="Freeform 72"/>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16" name="Line 73"/>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17" name="Line 74"/>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111" name="Group 75"/>
                <p:cNvGrpSpPr>
                  <a:grpSpLocks/>
                </p:cNvGrpSpPr>
                <p:nvPr/>
              </p:nvGrpSpPr>
              <p:grpSpPr bwMode="auto">
                <a:xfrm>
                  <a:off x="5382" y="1044"/>
                  <a:ext cx="48" cy="99"/>
                  <a:chOff x="5508" y="1599"/>
                  <a:chExt cx="48" cy="99"/>
                </a:xfrm>
              </p:grpSpPr>
              <p:sp>
                <p:nvSpPr>
                  <p:cNvPr id="112" name="Freeform 76"/>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13" name="Line 77"/>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14" name="Line 78"/>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grpSp>
        <p:grpSp>
          <p:nvGrpSpPr>
            <p:cNvPr id="83" name="Group 112"/>
            <p:cNvGrpSpPr>
              <a:grpSpLocks/>
            </p:cNvGrpSpPr>
            <p:nvPr/>
          </p:nvGrpSpPr>
          <p:grpSpPr bwMode="auto">
            <a:xfrm>
              <a:off x="71438" y="1541463"/>
              <a:ext cx="5083176" cy="2182813"/>
              <a:chOff x="45" y="1224"/>
              <a:chExt cx="3202" cy="1375"/>
            </a:xfrm>
          </p:grpSpPr>
          <p:sp>
            <p:nvSpPr>
              <p:cNvPr id="102" name="Text Box 82"/>
              <p:cNvSpPr txBox="1">
                <a:spLocks noChangeArrowheads="1"/>
              </p:cNvSpPr>
              <p:nvPr/>
            </p:nvSpPr>
            <p:spPr bwMode="auto">
              <a:xfrm>
                <a:off x="45" y="1224"/>
                <a:ext cx="1515" cy="1280"/>
              </a:xfrm>
              <a:prstGeom prst="rect">
                <a:avLst/>
              </a:prstGeom>
              <a:noFill/>
              <a:ln w="9525">
                <a:noFill/>
                <a:miter lim="800000"/>
                <a:headEnd/>
                <a:tailEnd/>
              </a:ln>
            </p:spPr>
            <p:txBody>
              <a:bodyPr>
                <a:spAutoFit/>
              </a:bodyPr>
              <a:lstStyle/>
              <a:p>
                <a:r>
                  <a:rPr lang="en-US" altLang="zh-CN" u="sng" dirty="0">
                    <a:solidFill>
                      <a:srgbClr val="C00000"/>
                    </a:solidFill>
                    <a:ea typeface="宋体" charset="-122"/>
                  </a:rPr>
                  <a:t>2:</a:t>
                </a:r>
                <a:r>
                  <a:rPr lang="en-US" altLang="zh-CN" dirty="0">
                    <a:solidFill>
                      <a:srgbClr val="C00000"/>
                    </a:solidFill>
                    <a:ea typeface="宋体" charset="-122"/>
                  </a:rPr>
                  <a:t> NAT router</a:t>
                </a:r>
              </a:p>
              <a:p>
                <a:r>
                  <a:rPr lang="en-US" altLang="zh-CN" dirty="0">
                    <a:solidFill>
                      <a:srgbClr val="C00000"/>
                    </a:solidFill>
                    <a:ea typeface="宋体" charset="-122"/>
                  </a:rPr>
                  <a:t>changes datagram</a:t>
                </a:r>
              </a:p>
              <a:p>
                <a:r>
                  <a:rPr lang="en-US" altLang="zh-CN" dirty="0">
                    <a:solidFill>
                      <a:srgbClr val="C00000"/>
                    </a:solidFill>
                    <a:ea typeface="宋体" charset="-122"/>
                  </a:rPr>
                  <a:t>source </a:t>
                </a:r>
                <a:r>
                  <a:rPr lang="en-US" altLang="zh-CN" dirty="0" err="1">
                    <a:solidFill>
                      <a:srgbClr val="C00000"/>
                    </a:solidFill>
                    <a:ea typeface="宋体" charset="-122"/>
                  </a:rPr>
                  <a:t>addr</a:t>
                </a:r>
                <a:r>
                  <a:rPr lang="en-US" altLang="zh-CN" dirty="0">
                    <a:solidFill>
                      <a:srgbClr val="C00000"/>
                    </a:solidFill>
                    <a:ea typeface="宋体" charset="-122"/>
                  </a:rPr>
                  <a:t> &amp; source port from</a:t>
                </a:r>
              </a:p>
              <a:p>
                <a:r>
                  <a:rPr lang="en-US" altLang="zh-CN" dirty="0">
                    <a:solidFill>
                      <a:srgbClr val="C00000"/>
                    </a:solidFill>
                    <a:ea typeface="宋体" charset="-122"/>
                  </a:rPr>
                  <a:t>10.0.0.1, 3345 to</a:t>
                </a:r>
              </a:p>
              <a:p>
                <a:r>
                  <a:rPr lang="en-US" altLang="zh-CN" dirty="0">
                    <a:solidFill>
                      <a:srgbClr val="C00000"/>
                    </a:solidFill>
                    <a:ea typeface="宋体" charset="-122"/>
                  </a:rPr>
                  <a:t>138.76.29.7, 5001,</a:t>
                </a:r>
              </a:p>
              <a:p>
                <a:r>
                  <a:rPr lang="en-US" altLang="zh-CN" dirty="0">
                    <a:solidFill>
                      <a:srgbClr val="C00000"/>
                    </a:solidFill>
                    <a:ea typeface="宋体" charset="-122"/>
                  </a:rPr>
                  <a:t>updates table</a:t>
                </a:r>
              </a:p>
            </p:txBody>
          </p:sp>
          <p:sp>
            <p:nvSpPr>
              <p:cNvPr id="103" name="Line 83"/>
              <p:cNvSpPr>
                <a:spLocks noChangeShapeType="1"/>
              </p:cNvSpPr>
              <p:nvPr/>
            </p:nvSpPr>
            <p:spPr bwMode="auto">
              <a:xfrm>
                <a:off x="1285" y="2243"/>
                <a:ext cx="147" cy="356"/>
              </a:xfrm>
              <a:prstGeom prst="line">
                <a:avLst/>
              </a:prstGeom>
              <a:noFill/>
              <a:ln w="19050">
                <a:solidFill>
                  <a:srgbClr val="C00000"/>
                </a:solidFill>
                <a:round/>
                <a:headEnd/>
                <a:tailEnd type="triangle" w="med" len="med"/>
              </a:ln>
            </p:spPr>
            <p:txBody>
              <a:bodyPr wrap="none"/>
              <a:lstStyle/>
              <a:p>
                <a:endParaRPr lang="zh-CN" altLang="en-US"/>
              </a:p>
            </p:txBody>
          </p:sp>
          <p:sp>
            <p:nvSpPr>
              <p:cNvPr id="104" name="Line 110"/>
              <p:cNvSpPr>
                <a:spLocks noChangeShapeType="1"/>
              </p:cNvSpPr>
              <p:nvPr/>
            </p:nvSpPr>
            <p:spPr bwMode="auto">
              <a:xfrm flipV="1">
                <a:off x="1275" y="1788"/>
                <a:ext cx="663" cy="455"/>
              </a:xfrm>
              <a:prstGeom prst="line">
                <a:avLst/>
              </a:prstGeom>
              <a:noFill/>
              <a:ln w="19050">
                <a:solidFill>
                  <a:srgbClr val="C00000"/>
                </a:solidFill>
                <a:round/>
                <a:headEnd/>
                <a:tailEnd type="triangle" w="med" len="med"/>
              </a:ln>
            </p:spPr>
            <p:txBody>
              <a:bodyPr wrap="none"/>
              <a:lstStyle/>
              <a:p>
                <a:endParaRPr lang="zh-CN" altLang="en-US"/>
              </a:p>
            </p:txBody>
          </p:sp>
          <p:sp>
            <p:nvSpPr>
              <p:cNvPr id="105" name="Line 111"/>
              <p:cNvSpPr>
                <a:spLocks noChangeShapeType="1"/>
              </p:cNvSpPr>
              <p:nvPr/>
            </p:nvSpPr>
            <p:spPr bwMode="auto">
              <a:xfrm flipV="1">
                <a:off x="1275" y="1751"/>
                <a:ext cx="1972" cy="491"/>
              </a:xfrm>
              <a:prstGeom prst="line">
                <a:avLst/>
              </a:prstGeom>
              <a:noFill/>
              <a:ln w="19050">
                <a:solidFill>
                  <a:srgbClr val="C00000"/>
                </a:solidFill>
                <a:round/>
                <a:headEnd/>
                <a:tailEnd type="triangle" w="med" len="med"/>
              </a:ln>
            </p:spPr>
            <p:txBody>
              <a:bodyPr wrap="none"/>
              <a:lstStyle/>
              <a:p>
                <a:endParaRPr lang="zh-CN" altLang="en-US"/>
              </a:p>
            </p:txBody>
          </p:sp>
        </p:grpSp>
        <p:grpSp>
          <p:nvGrpSpPr>
            <p:cNvPr id="84" name="Group 129"/>
            <p:cNvGrpSpPr>
              <a:grpSpLocks/>
            </p:cNvGrpSpPr>
            <p:nvPr/>
          </p:nvGrpSpPr>
          <p:grpSpPr bwMode="auto">
            <a:xfrm>
              <a:off x="1360488" y="4681548"/>
              <a:ext cx="2471735" cy="696913"/>
              <a:chOff x="1163" y="3752"/>
              <a:chExt cx="1557" cy="439"/>
            </a:xfrm>
          </p:grpSpPr>
          <p:sp>
            <p:nvSpPr>
              <p:cNvPr id="88" name="Rectangle 115"/>
              <p:cNvSpPr>
                <a:spLocks noChangeArrowheads="1"/>
              </p:cNvSpPr>
              <p:nvPr/>
            </p:nvSpPr>
            <p:spPr bwMode="auto">
              <a:xfrm>
                <a:off x="1163" y="3796"/>
                <a:ext cx="1183"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89" name="Text Box 116"/>
              <p:cNvSpPr txBox="1">
                <a:spLocks noChangeArrowheads="1"/>
              </p:cNvSpPr>
              <p:nvPr/>
            </p:nvSpPr>
            <p:spPr bwMode="auto">
              <a:xfrm>
                <a:off x="1281" y="3788"/>
                <a:ext cx="1120" cy="403"/>
              </a:xfrm>
              <a:prstGeom prst="rect">
                <a:avLst/>
              </a:prstGeom>
              <a:noFill/>
              <a:ln w="9525">
                <a:noFill/>
                <a:miter lim="800000"/>
                <a:headEnd/>
                <a:tailEnd/>
              </a:ln>
            </p:spPr>
            <p:txBody>
              <a:bodyPr>
                <a:spAutoFit/>
              </a:bodyPr>
              <a:lstStyle/>
              <a:p>
                <a:r>
                  <a:rPr lang="en-US" altLang="zh-CN" sz="1200" dirty="0">
                    <a:ea typeface="宋体" charset="-122"/>
                  </a:rPr>
                  <a:t>S: 128.119.40.186, 80 </a:t>
                </a:r>
              </a:p>
              <a:p>
                <a:r>
                  <a:rPr lang="en-US" altLang="zh-CN" sz="1200" dirty="0">
                    <a:ea typeface="宋体" charset="-122"/>
                  </a:rPr>
                  <a:t>D: 138.76.29.7, 5001</a:t>
                </a:r>
              </a:p>
              <a:p>
                <a:endParaRPr lang="en-US" altLang="zh-CN" sz="1200" dirty="0">
                  <a:ea typeface="宋体" charset="-122"/>
                </a:endParaRPr>
              </a:p>
            </p:txBody>
          </p:sp>
          <p:grpSp>
            <p:nvGrpSpPr>
              <p:cNvPr id="90" name="Group 117"/>
              <p:cNvGrpSpPr>
                <a:grpSpLocks/>
              </p:cNvGrpSpPr>
              <p:nvPr/>
            </p:nvGrpSpPr>
            <p:grpSpPr bwMode="auto">
              <a:xfrm>
                <a:off x="1214" y="3752"/>
                <a:ext cx="52" cy="99"/>
                <a:chOff x="5508" y="1599"/>
                <a:chExt cx="48" cy="99"/>
              </a:xfrm>
            </p:grpSpPr>
            <p:sp>
              <p:nvSpPr>
                <p:cNvPr id="99" name="Freeform 118"/>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00" name="Line 119"/>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01" name="Line 120"/>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91" name="Group 121"/>
              <p:cNvGrpSpPr>
                <a:grpSpLocks/>
              </p:cNvGrpSpPr>
              <p:nvPr/>
            </p:nvGrpSpPr>
            <p:grpSpPr bwMode="auto">
              <a:xfrm>
                <a:off x="1193" y="3984"/>
                <a:ext cx="52" cy="99"/>
                <a:chOff x="5508" y="1599"/>
                <a:chExt cx="48" cy="99"/>
              </a:xfrm>
            </p:grpSpPr>
            <p:sp>
              <p:nvSpPr>
                <p:cNvPr id="96" name="Freeform 122"/>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97" name="Line 123"/>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98" name="Line 124"/>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sp>
            <p:nvSpPr>
              <p:cNvPr id="92" name="Line 125"/>
              <p:cNvSpPr>
                <a:spLocks noChangeShapeType="1"/>
              </p:cNvSpPr>
              <p:nvPr/>
            </p:nvSpPr>
            <p:spPr bwMode="auto">
              <a:xfrm flipH="1">
                <a:off x="2344" y="3931"/>
                <a:ext cx="376" cy="0"/>
              </a:xfrm>
              <a:prstGeom prst="line">
                <a:avLst/>
              </a:prstGeom>
              <a:noFill/>
              <a:ln w="19050">
                <a:solidFill>
                  <a:schemeClr val="tx1"/>
                </a:solidFill>
                <a:round/>
                <a:headEnd type="triangle" w="med" len="med"/>
                <a:tailEnd/>
              </a:ln>
            </p:spPr>
            <p:txBody>
              <a:bodyPr wrap="none"/>
              <a:lstStyle/>
              <a:p>
                <a:endParaRPr lang="zh-CN" altLang="en-US"/>
              </a:p>
            </p:txBody>
          </p:sp>
          <p:grpSp>
            <p:nvGrpSpPr>
              <p:cNvPr id="93" name="Group 126"/>
              <p:cNvGrpSpPr>
                <a:grpSpLocks/>
              </p:cNvGrpSpPr>
              <p:nvPr/>
            </p:nvGrpSpPr>
            <p:grpSpPr bwMode="auto">
              <a:xfrm>
                <a:off x="2409" y="3818"/>
                <a:ext cx="218" cy="233"/>
                <a:chOff x="5140" y="403"/>
                <a:chExt cx="218" cy="233"/>
              </a:xfrm>
            </p:grpSpPr>
            <p:sp>
              <p:nvSpPr>
                <p:cNvPr id="94" name="Oval 127"/>
                <p:cNvSpPr>
                  <a:spLocks noChangeArrowheads="1"/>
                </p:cNvSpPr>
                <p:nvPr/>
              </p:nvSpPr>
              <p:spPr bwMode="auto">
                <a:xfrm>
                  <a:off x="5140" y="410"/>
                  <a:ext cx="218" cy="218"/>
                </a:xfrm>
                <a:prstGeom prst="ellipse">
                  <a:avLst/>
                </a:prstGeom>
                <a:solidFill>
                  <a:schemeClr val="bg1"/>
                </a:solidFill>
                <a:ln w="9525">
                  <a:solidFill>
                    <a:srgbClr val="C00000"/>
                  </a:solidFill>
                  <a:round/>
                  <a:headEnd/>
                  <a:tailEnd/>
                </a:ln>
              </p:spPr>
              <p:txBody>
                <a:bodyPr wrap="none" anchor="ctr"/>
                <a:lstStyle/>
                <a:p>
                  <a:endParaRPr lang="zh-CN" altLang="en-US">
                    <a:ea typeface="宋体" charset="-122"/>
                  </a:endParaRPr>
                </a:p>
              </p:txBody>
            </p:sp>
            <p:sp>
              <p:nvSpPr>
                <p:cNvPr id="95" name="Text Box 128"/>
                <p:cNvSpPr txBox="1">
                  <a:spLocks noChangeArrowheads="1"/>
                </p:cNvSpPr>
                <p:nvPr/>
              </p:nvSpPr>
              <p:spPr bwMode="auto">
                <a:xfrm>
                  <a:off x="5154" y="403"/>
                  <a:ext cx="193" cy="233"/>
                </a:xfrm>
                <a:prstGeom prst="rect">
                  <a:avLst/>
                </a:prstGeom>
                <a:noFill/>
                <a:ln w="9525">
                  <a:noFill/>
                  <a:miter lim="800000"/>
                  <a:headEnd/>
                  <a:tailEnd/>
                </a:ln>
              </p:spPr>
              <p:txBody>
                <a:bodyPr wrap="none">
                  <a:spAutoFit/>
                </a:bodyPr>
                <a:lstStyle/>
                <a:p>
                  <a:r>
                    <a:rPr lang="en-US" altLang="zh-CN" dirty="0">
                      <a:solidFill>
                        <a:srgbClr val="C00000"/>
                      </a:solidFill>
                      <a:ea typeface="宋体" charset="-122"/>
                    </a:rPr>
                    <a:t>3</a:t>
                  </a:r>
                </a:p>
              </p:txBody>
            </p:sp>
          </p:grpSp>
        </p:grpSp>
        <p:sp>
          <p:nvSpPr>
            <p:cNvPr id="85" name="Text Box 131"/>
            <p:cNvSpPr txBox="1">
              <a:spLocks noChangeArrowheads="1"/>
            </p:cNvSpPr>
            <p:nvPr/>
          </p:nvSpPr>
          <p:spPr bwMode="auto">
            <a:xfrm>
              <a:off x="1317625" y="5141913"/>
              <a:ext cx="1976823" cy="923330"/>
            </a:xfrm>
            <a:prstGeom prst="rect">
              <a:avLst/>
            </a:prstGeom>
            <a:noFill/>
            <a:ln w="9525">
              <a:noFill/>
              <a:miter lim="800000"/>
              <a:headEnd/>
              <a:tailEnd/>
            </a:ln>
          </p:spPr>
          <p:txBody>
            <a:bodyPr wrap="none">
              <a:spAutoFit/>
            </a:bodyPr>
            <a:lstStyle/>
            <a:p>
              <a:r>
                <a:rPr lang="en-US" altLang="zh-CN" u="sng" dirty="0">
                  <a:solidFill>
                    <a:srgbClr val="C00000"/>
                  </a:solidFill>
                  <a:ea typeface="宋体" charset="-122"/>
                </a:rPr>
                <a:t>3: Reply arrives</a:t>
              </a:r>
            </a:p>
            <a:p>
              <a:r>
                <a:rPr lang="en-US" altLang="zh-CN" u="sng" dirty="0">
                  <a:solidFill>
                    <a:srgbClr val="C00000"/>
                  </a:solidFill>
                  <a:ea typeface="宋体" charset="-122"/>
                </a:rPr>
                <a:t> </a:t>
              </a:r>
              <a:r>
                <a:rPr lang="en-US" altLang="zh-CN" u="sng" dirty="0" err="1">
                  <a:solidFill>
                    <a:srgbClr val="C00000"/>
                  </a:solidFill>
                  <a:ea typeface="宋体" charset="-122"/>
                </a:rPr>
                <a:t>dest</a:t>
              </a:r>
              <a:r>
                <a:rPr lang="en-US" altLang="zh-CN" u="sng" dirty="0">
                  <a:solidFill>
                    <a:srgbClr val="C00000"/>
                  </a:solidFill>
                  <a:ea typeface="宋体" charset="-122"/>
                </a:rPr>
                <a:t>. address:</a:t>
              </a:r>
            </a:p>
            <a:p>
              <a:r>
                <a:rPr lang="en-US" altLang="zh-CN" u="sng" dirty="0">
                  <a:solidFill>
                    <a:srgbClr val="C00000"/>
                  </a:solidFill>
                  <a:ea typeface="宋体" charset="-122"/>
                </a:rPr>
                <a:t> 138.76.29.7, 5001</a:t>
              </a:r>
            </a:p>
          </p:txBody>
        </p:sp>
        <p:sp>
          <p:nvSpPr>
            <p:cNvPr id="86" name="Text Box 136"/>
            <p:cNvSpPr txBox="1">
              <a:spLocks noChangeArrowheads="1"/>
            </p:cNvSpPr>
            <p:nvPr/>
          </p:nvSpPr>
          <p:spPr bwMode="auto">
            <a:xfrm>
              <a:off x="4741863" y="4976813"/>
              <a:ext cx="3672800" cy="1477328"/>
            </a:xfrm>
            <a:prstGeom prst="rect">
              <a:avLst/>
            </a:prstGeom>
            <a:noFill/>
            <a:ln w="9525">
              <a:noFill/>
              <a:miter lim="800000"/>
              <a:headEnd/>
              <a:tailEnd/>
            </a:ln>
          </p:spPr>
          <p:txBody>
            <a:bodyPr wrap="none">
              <a:spAutoFit/>
            </a:bodyPr>
            <a:lstStyle/>
            <a:p>
              <a:r>
                <a:rPr lang="en-US" altLang="zh-CN" u="sng" dirty="0">
                  <a:solidFill>
                    <a:srgbClr val="C00000"/>
                  </a:solidFill>
                  <a:ea typeface="宋体" charset="-122"/>
                </a:rPr>
                <a:t>4: NAT router</a:t>
              </a:r>
            </a:p>
            <a:p>
              <a:r>
                <a:rPr lang="en-US" altLang="zh-CN" u="sng" dirty="0">
                  <a:solidFill>
                    <a:srgbClr val="C00000"/>
                  </a:solidFill>
                  <a:ea typeface="宋体" charset="-122"/>
                </a:rPr>
                <a:t>changes datagram</a:t>
              </a:r>
            </a:p>
            <a:p>
              <a:r>
                <a:rPr lang="en-US" altLang="zh-CN" u="sng" dirty="0" err="1">
                  <a:solidFill>
                    <a:srgbClr val="C00000"/>
                  </a:solidFill>
                  <a:ea typeface="宋体" charset="-122"/>
                </a:rPr>
                <a:t>dest</a:t>
              </a:r>
              <a:r>
                <a:rPr lang="en-US" altLang="zh-CN" u="sng" dirty="0">
                  <a:solidFill>
                    <a:srgbClr val="C00000"/>
                  </a:solidFill>
                  <a:ea typeface="宋体" charset="-122"/>
                </a:rPr>
                <a:t> </a:t>
              </a:r>
              <a:r>
                <a:rPr lang="en-US" altLang="zh-CN" u="sng" dirty="0" err="1">
                  <a:solidFill>
                    <a:srgbClr val="C00000"/>
                  </a:solidFill>
                  <a:ea typeface="宋体" charset="-122"/>
                </a:rPr>
                <a:t>addr</a:t>
              </a:r>
              <a:r>
                <a:rPr lang="en-US" altLang="zh-CN" u="sng" dirty="0">
                  <a:solidFill>
                    <a:srgbClr val="C00000"/>
                  </a:solidFill>
                  <a:ea typeface="宋体" charset="-122"/>
                </a:rPr>
                <a:t> from</a:t>
              </a:r>
            </a:p>
            <a:p>
              <a:r>
                <a:rPr lang="en-US" altLang="zh-CN" u="sng" dirty="0">
                  <a:solidFill>
                    <a:srgbClr val="C00000"/>
                  </a:solidFill>
                  <a:ea typeface="宋体" charset="-122"/>
                </a:rPr>
                <a:t>138.76.29.7, 5001 to 10.0.0.1, 3345 </a:t>
              </a:r>
            </a:p>
            <a:p>
              <a:endParaRPr lang="en-US" altLang="zh-CN" dirty="0">
                <a:solidFill>
                  <a:srgbClr val="FF0000"/>
                </a:solidFill>
                <a:ea typeface="宋体" charset="-122"/>
              </a:endParaRPr>
            </a:p>
          </p:txBody>
        </p:sp>
        <p:sp>
          <p:nvSpPr>
            <p:cNvPr id="87" name="Line 138"/>
            <p:cNvSpPr>
              <a:spLocks noChangeShapeType="1"/>
            </p:cNvSpPr>
            <p:nvPr/>
          </p:nvSpPr>
          <p:spPr bwMode="auto">
            <a:xfrm>
              <a:off x="1022350" y="4273550"/>
              <a:ext cx="3025775" cy="6350"/>
            </a:xfrm>
            <a:prstGeom prst="line">
              <a:avLst/>
            </a:prstGeom>
            <a:noFill/>
            <a:ln w="19050">
              <a:solidFill>
                <a:schemeClr val="tx1"/>
              </a:solidFill>
              <a:round/>
              <a:headEnd/>
              <a:tailEnd/>
            </a:ln>
          </p:spPr>
          <p:txBody>
            <a:bodyPr wrap="none"/>
            <a:lstStyle/>
            <a:p>
              <a:endParaRPr lang="zh-CN" altLang="en-US"/>
            </a:p>
          </p:txBody>
        </p:sp>
      </p:grpSp>
      <p:grpSp>
        <p:nvGrpSpPr>
          <p:cNvPr id="154" name="组合 690"/>
          <p:cNvGrpSpPr/>
          <p:nvPr/>
        </p:nvGrpSpPr>
        <p:grpSpPr>
          <a:xfrm>
            <a:off x="5348065" y="4033594"/>
            <a:ext cx="284560" cy="91357"/>
            <a:chOff x="5127381" y="4571851"/>
            <a:chExt cx="284560" cy="91357"/>
          </a:xfrm>
        </p:grpSpPr>
        <p:grpSp>
          <p:nvGrpSpPr>
            <p:cNvPr id="155" name="组合 23"/>
            <p:cNvGrpSpPr/>
            <p:nvPr/>
          </p:nvGrpSpPr>
          <p:grpSpPr>
            <a:xfrm>
              <a:off x="5140302" y="4571851"/>
              <a:ext cx="243064" cy="81832"/>
              <a:chOff x="5140302" y="4571851"/>
              <a:chExt cx="243064" cy="81832"/>
            </a:xfrm>
          </p:grpSpPr>
          <p:sp>
            <p:nvSpPr>
              <p:cNvPr id="160" name="Line 17"/>
              <p:cNvSpPr>
                <a:spLocks noChangeShapeType="1"/>
              </p:cNvSpPr>
              <p:nvPr/>
            </p:nvSpPr>
            <p:spPr bwMode="auto">
              <a:xfrm flipV="1">
                <a:off x="5140302" y="4584742"/>
                <a:ext cx="97014" cy="1760"/>
              </a:xfrm>
              <a:prstGeom prst="line">
                <a:avLst/>
              </a:prstGeom>
              <a:noFill/>
              <a:ln w="28575">
                <a:solidFill>
                  <a:schemeClr val="tx1"/>
                </a:solidFill>
                <a:round/>
                <a:headEnd/>
                <a:tailEnd/>
              </a:ln>
            </p:spPr>
            <p:txBody>
              <a:bodyPr wrap="none" anchor="ctr"/>
              <a:lstStyle/>
              <a:p>
                <a:endParaRPr lang="zh-CN" altLang="en-US"/>
              </a:p>
            </p:txBody>
          </p:sp>
          <p:sp>
            <p:nvSpPr>
              <p:cNvPr id="161" name="Line 19"/>
              <p:cNvSpPr>
                <a:spLocks noChangeShapeType="1"/>
              </p:cNvSpPr>
              <p:nvPr/>
            </p:nvSpPr>
            <p:spPr bwMode="auto">
              <a:xfrm>
                <a:off x="5220030" y="4571851"/>
                <a:ext cx="100894" cy="81832"/>
              </a:xfrm>
              <a:prstGeom prst="line">
                <a:avLst/>
              </a:prstGeom>
              <a:noFill/>
              <a:ln w="28575">
                <a:solidFill>
                  <a:schemeClr val="tx1"/>
                </a:solidFill>
                <a:round/>
                <a:headEnd/>
                <a:tailEnd/>
              </a:ln>
            </p:spPr>
            <p:txBody>
              <a:bodyPr wrap="none" anchor="ctr"/>
              <a:lstStyle/>
              <a:p>
                <a:endParaRPr lang="zh-CN" altLang="en-US"/>
              </a:p>
            </p:txBody>
          </p:sp>
          <p:sp>
            <p:nvSpPr>
              <p:cNvPr id="162" name="Line 22"/>
              <p:cNvSpPr>
                <a:spLocks noChangeShapeType="1"/>
              </p:cNvSpPr>
              <p:nvPr/>
            </p:nvSpPr>
            <p:spPr bwMode="auto">
              <a:xfrm flipV="1">
                <a:off x="5297994" y="4644691"/>
                <a:ext cx="85372" cy="0"/>
              </a:xfrm>
              <a:prstGeom prst="line">
                <a:avLst/>
              </a:prstGeom>
              <a:noFill/>
              <a:ln w="28575">
                <a:solidFill>
                  <a:schemeClr val="tx1"/>
                </a:solidFill>
                <a:round/>
                <a:headEnd/>
                <a:tailEnd/>
              </a:ln>
            </p:spPr>
            <p:txBody>
              <a:bodyPr wrap="none" anchor="ctr"/>
              <a:lstStyle/>
              <a:p>
                <a:endParaRPr lang="zh-CN" altLang="en-US"/>
              </a:p>
            </p:txBody>
          </p:sp>
        </p:grpSp>
        <p:grpSp>
          <p:nvGrpSpPr>
            <p:cNvPr id="156" name="组合 27"/>
            <p:cNvGrpSpPr/>
            <p:nvPr/>
          </p:nvGrpSpPr>
          <p:grpSpPr>
            <a:xfrm>
              <a:off x="5127381" y="4574930"/>
              <a:ext cx="284560" cy="88278"/>
              <a:chOff x="5362432" y="4876278"/>
              <a:chExt cx="284560" cy="88278"/>
            </a:xfrm>
          </p:grpSpPr>
          <p:sp>
            <p:nvSpPr>
              <p:cNvPr id="157" name="Line 18"/>
              <p:cNvSpPr>
                <a:spLocks noChangeShapeType="1"/>
              </p:cNvSpPr>
              <p:nvPr/>
            </p:nvSpPr>
            <p:spPr bwMode="auto">
              <a:xfrm>
                <a:off x="5561646" y="4876278"/>
                <a:ext cx="85346" cy="0"/>
              </a:xfrm>
              <a:prstGeom prst="line">
                <a:avLst/>
              </a:prstGeom>
              <a:noFill/>
              <a:ln w="28575">
                <a:solidFill>
                  <a:schemeClr val="tx1"/>
                </a:solidFill>
                <a:round/>
                <a:headEnd/>
                <a:tailEnd/>
              </a:ln>
            </p:spPr>
            <p:txBody>
              <a:bodyPr wrap="none" anchor="ctr"/>
              <a:lstStyle/>
              <a:p>
                <a:endParaRPr lang="zh-CN" altLang="en-US"/>
              </a:p>
            </p:txBody>
          </p:sp>
          <p:sp>
            <p:nvSpPr>
              <p:cNvPr id="158" name="Line 21"/>
              <p:cNvSpPr>
                <a:spLocks noChangeShapeType="1"/>
              </p:cNvSpPr>
              <p:nvPr/>
            </p:nvSpPr>
            <p:spPr bwMode="auto">
              <a:xfrm>
                <a:off x="5362432" y="4962698"/>
                <a:ext cx="97334" cy="1858"/>
              </a:xfrm>
              <a:prstGeom prst="line">
                <a:avLst/>
              </a:prstGeom>
              <a:noFill/>
              <a:ln w="28575">
                <a:solidFill>
                  <a:schemeClr val="tx1"/>
                </a:solidFill>
                <a:round/>
                <a:headEnd/>
                <a:tailEnd/>
              </a:ln>
            </p:spPr>
            <p:txBody>
              <a:bodyPr wrap="none" anchor="ctr"/>
              <a:lstStyle/>
              <a:p>
                <a:endParaRPr lang="zh-CN" altLang="en-US"/>
              </a:p>
            </p:txBody>
          </p:sp>
          <p:sp>
            <p:nvSpPr>
              <p:cNvPr id="159" name="Line 23"/>
              <p:cNvSpPr>
                <a:spLocks noChangeShapeType="1"/>
              </p:cNvSpPr>
              <p:nvPr/>
            </p:nvSpPr>
            <p:spPr bwMode="auto">
              <a:xfrm flipV="1">
                <a:off x="5454621" y="4878178"/>
                <a:ext cx="103294" cy="84520"/>
              </a:xfrm>
              <a:prstGeom prst="line">
                <a:avLst/>
              </a:prstGeom>
              <a:noFill/>
              <a:ln w="28575">
                <a:solidFill>
                  <a:schemeClr val="tx1"/>
                </a:solidFill>
                <a:round/>
                <a:headEnd/>
                <a:tailEnd/>
              </a:ln>
            </p:spPr>
            <p:txBody>
              <a:bodyPr wrap="none" anchor="ctr"/>
              <a:lstStyle/>
              <a:p>
                <a:endParaRPr lang="zh-CN" altLang="en-US"/>
              </a:p>
            </p:txBody>
          </p:sp>
        </p:grpSp>
      </p:grpSp>
      <p:grpSp>
        <p:nvGrpSpPr>
          <p:cNvPr id="163" name="组合 699"/>
          <p:cNvGrpSpPr/>
          <p:nvPr/>
        </p:nvGrpSpPr>
        <p:grpSpPr>
          <a:xfrm>
            <a:off x="2831812" y="3606823"/>
            <a:ext cx="346075" cy="373579"/>
            <a:chOff x="1524000" y="3906262"/>
            <a:chExt cx="346075" cy="373579"/>
          </a:xfrm>
          <a:solidFill>
            <a:schemeClr val="bg1"/>
          </a:solidFill>
        </p:grpSpPr>
        <p:sp>
          <p:nvSpPr>
            <p:cNvPr id="164" name="Text Box 107"/>
            <p:cNvSpPr txBox="1">
              <a:spLocks noChangeArrowheads="1"/>
            </p:cNvSpPr>
            <p:nvPr/>
          </p:nvSpPr>
          <p:spPr bwMode="auto">
            <a:xfrm>
              <a:off x="1533525" y="3910509"/>
              <a:ext cx="306494" cy="369332"/>
            </a:xfrm>
            <a:prstGeom prst="rect">
              <a:avLst/>
            </a:prstGeom>
            <a:grpFill/>
            <a:ln w="9525">
              <a:noFill/>
              <a:miter lim="800000"/>
              <a:headEnd/>
              <a:tailEnd/>
            </a:ln>
          </p:spPr>
          <p:txBody>
            <a:bodyPr wrap="none">
              <a:spAutoFit/>
            </a:bodyPr>
            <a:lstStyle/>
            <a:p>
              <a:r>
                <a:rPr lang="en-US" altLang="zh-CN" dirty="0">
                  <a:solidFill>
                    <a:srgbClr val="C00000"/>
                  </a:solidFill>
                  <a:ea typeface="宋体" charset="-122"/>
                </a:rPr>
                <a:t>2</a:t>
              </a:r>
            </a:p>
          </p:txBody>
        </p:sp>
        <p:sp>
          <p:nvSpPr>
            <p:cNvPr id="165" name="Oval 106"/>
            <p:cNvSpPr>
              <a:spLocks noChangeArrowheads="1"/>
            </p:cNvSpPr>
            <p:nvPr/>
          </p:nvSpPr>
          <p:spPr bwMode="auto">
            <a:xfrm>
              <a:off x="1524000" y="3906262"/>
              <a:ext cx="346075" cy="346075"/>
            </a:xfrm>
            <a:prstGeom prst="ellipse">
              <a:avLst/>
            </a:prstGeom>
            <a:grpFill/>
            <a:ln w="9525">
              <a:solidFill>
                <a:srgbClr val="C00000"/>
              </a:solidFill>
              <a:round/>
              <a:headEnd/>
              <a:tailEnd/>
            </a:ln>
          </p:spPr>
          <p:txBody>
            <a:bodyPr wrap="none" anchor="ctr"/>
            <a:lstStyle/>
            <a:p>
              <a:r>
                <a:rPr lang="en-US" altLang="zh-CN" dirty="0">
                  <a:solidFill>
                    <a:srgbClr val="C00000"/>
                  </a:solidFill>
                  <a:ea typeface="宋体" charset="-122"/>
                </a:rPr>
                <a:t>2</a:t>
              </a:r>
              <a:endParaRPr lang="zh-CN" altLang="en-US" dirty="0">
                <a:solidFill>
                  <a:srgbClr val="C00000"/>
                </a:solidFill>
                <a:ea typeface="宋体" charset="-122"/>
              </a:endParaRPr>
            </a:p>
          </p:txBody>
        </p:sp>
      </p:grpSp>
      <p:pic>
        <p:nvPicPr>
          <p:cNvPr id="166" name="Picture 28" descr="015">
            <a:extLst>
              <a:ext uri="{FF2B5EF4-FFF2-40B4-BE49-F238E27FC236}">
                <a16:creationId xmlns:a16="http://schemas.microsoft.com/office/drawing/2014/main" id="{B4EB8BF8-AB02-4D74-B8E9-8648EA435A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90853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blinds(horizontal)">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NAT</a:t>
            </a:r>
            <a:r>
              <a:rPr lang="zh-CN" altLang="en-US" dirty="0"/>
              <a:t>工作机制</a:t>
            </a:r>
          </a:p>
        </p:txBody>
      </p:sp>
      <p:sp>
        <p:nvSpPr>
          <p:cNvPr id="3" name="内容占位符 2"/>
          <p:cNvSpPr>
            <a:spLocks noGrp="1"/>
          </p:cNvSpPr>
          <p:nvPr>
            <p:ph idx="1"/>
          </p:nvPr>
        </p:nvSpPr>
        <p:spPr>
          <a:xfrm>
            <a:off x="781844" y="4688429"/>
            <a:ext cx="10806630" cy="1800874"/>
          </a:xfrm>
        </p:spPr>
        <p:txBody>
          <a:bodyPr>
            <a:normAutofit/>
          </a:bodyPr>
          <a:lstStyle/>
          <a:p>
            <a:pPr marL="228600" lvl="1">
              <a:buFont typeface="Wingdings" pitchFamily="2" charset="2"/>
              <a:buChar char="Ø"/>
            </a:pPr>
            <a:r>
              <a:rPr lang="zh-CN" altLang="en-US" sz="2200" dirty="0">
                <a:solidFill>
                  <a:srgbClr val="C00000"/>
                </a:solidFill>
              </a:rPr>
              <a:t>出数据报</a:t>
            </a:r>
            <a:r>
              <a:rPr lang="zh-CN" altLang="en-US" sz="2200" dirty="0">
                <a:latin typeface="微软雅黑" pitchFamily="34" charset="-122"/>
                <a:ea typeface="微软雅黑" pitchFamily="34" charset="-122"/>
              </a:rPr>
              <a:t>：外出数据报用</a:t>
            </a:r>
            <a:r>
              <a:rPr lang="en-US" altLang="zh-CN" sz="2200" dirty="0">
                <a:latin typeface="微软雅黑" pitchFamily="34" charset="-122"/>
                <a:ea typeface="微软雅黑" pitchFamily="34" charset="-122"/>
              </a:rPr>
              <a:t> NAT 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全局</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新</a:t>
            </a:r>
            <a:r>
              <a:rPr lang="en-US" altLang="zh-CN" sz="2200" dirty="0">
                <a:latin typeface="微软雅黑" pitchFamily="34" charset="-122"/>
                <a:ea typeface="微软雅黑" pitchFamily="34" charset="-122"/>
              </a:rPr>
              <a:t>port #</a:t>
            </a:r>
            <a:r>
              <a:rPr lang="zh-CN" altLang="en-US" sz="2200" dirty="0">
                <a:latin typeface="微软雅黑" pitchFamily="34" charset="-122"/>
                <a:ea typeface="微软雅黑" pitchFamily="34" charset="-122"/>
              </a:rPr>
              <a:t> </a:t>
            </a:r>
            <a:r>
              <a:rPr lang="zh-CN" altLang="en-US" sz="2200" dirty="0">
                <a:solidFill>
                  <a:srgbClr val="C00000"/>
                </a:solidFill>
              </a:rPr>
              <a:t>替代</a:t>
            </a:r>
            <a:r>
              <a:rPr lang="zh-CN" altLang="en-US" sz="2200" dirty="0">
                <a:solidFill>
                  <a:srgbClr val="0000CC"/>
                </a:solidFill>
                <a:latin typeface="微软雅黑" pitchFamily="34" charset="-122"/>
                <a:ea typeface="微软雅黑" pitchFamily="34" charset="-122"/>
              </a:rPr>
              <a:t> </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私有</a:t>
            </a:r>
            <a:r>
              <a:rPr lang="en-US" altLang="zh-CN" sz="2200" dirty="0">
                <a:latin typeface="微软雅黑" pitchFamily="34" charset="-122"/>
                <a:ea typeface="微软雅黑" pitchFamily="34" charset="-122"/>
              </a:rPr>
              <a:t>), port #</a:t>
            </a:r>
          </a:p>
          <a:p>
            <a:pPr marL="228600" lvl="1">
              <a:buFont typeface="Wingdings" pitchFamily="2" charset="2"/>
              <a:buChar char="Ø"/>
            </a:pPr>
            <a:r>
              <a:rPr lang="en-US" altLang="zh-CN" sz="2200" dirty="0">
                <a:solidFill>
                  <a:srgbClr val="C00000"/>
                </a:solidFill>
              </a:rPr>
              <a:t>NAT</a:t>
            </a:r>
            <a:r>
              <a:rPr lang="zh-CN" altLang="en-US" sz="2200" dirty="0">
                <a:solidFill>
                  <a:srgbClr val="C00000"/>
                </a:solidFill>
              </a:rPr>
              <a:t>转换表</a:t>
            </a:r>
            <a:r>
              <a:rPr lang="zh-CN" altLang="en-US" sz="2200" dirty="0">
                <a:latin typeface="微软雅黑" pitchFamily="34" charset="-122"/>
                <a:ea typeface="微软雅黑" pitchFamily="34" charset="-122"/>
              </a:rPr>
              <a:t>：每个 </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port #)</a:t>
            </a:r>
            <a:r>
              <a:rPr lang="zh-CN" altLang="en-US" sz="2200" dirty="0">
                <a:latin typeface="微软雅黑" pitchFamily="34" charset="-122"/>
                <a:ea typeface="微软雅黑" pitchFamily="34" charset="-122"/>
              </a:rPr>
              <a:t>到</a:t>
            </a:r>
            <a:r>
              <a:rPr lang="en-US" altLang="zh-CN" sz="2200" dirty="0">
                <a:latin typeface="微软雅黑" pitchFamily="34" charset="-122"/>
                <a:ea typeface="微软雅黑" pitchFamily="34" charset="-122"/>
              </a:rPr>
              <a:t>(NAT 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新</a:t>
            </a:r>
            <a:r>
              <a:rPr lang="en-US" altLang="zh-CN" sz="2200" dirty="0">
                <a:latin typeface="微软雅黑" pitchFamily="34" charset="-122"/>
                <a:ea typeface="微软雅黑" pitchFamily="34" charset="-122"/>
              </a:rPr>
              <a:t>port #) </a:t>
            </a:r>
            <a:r>
              <a:rPr lang="zh-CN" altLang="en-US" sz="2200" dirty="0">
                <a:latin typeface="微软雅黑" pitchFamily="34" charset="-122"/>
                <a:ea typeface="微软雅黑" pitchFamily="34" charset="-122"/>
              </a:rPr>
              <a:t>映射项</a:t>
            </a:r>
          </a:p>
          <a:p>
            <a:pPr marL="228600" lvl="1">
              <a:buFont typeface="Wingdings" pitchFamily="2" charset="2"/>
              <a:buChar char="Ø"/>
            </a:pPr>
            <a:r>
              <a:rPr lang="zh-CN" altLang="en-US" sz="2200" dirty="0">
                <a:solidFill>
                  <a:srgbClr val="C00000"/>
                </a:solidFill>
              </a:rPr>
              <a:t>入数据报</a:t>
            </a:r>
            <a:r>
              <a:rPr lang="zh-CN" altLang="en-US" sz="2200" dirty="0">
                <a:latin typeface="微软雅黑" pitchFamily="34" charset="-122"/>
                <a:ea typeface="微软雅黑" pitchFamily="34" charset="-122"/>
              </a:rPr>
              <a:t>：对每个入数据报的地址字段用存储在</a:t>
            </a:r>
            <a:r>
              <a:rPr lang="en-US" altLang="zh-CN" sz="2200" dirty="0">
                <a:latin typeface="微软雅黑" pitchFamily="34" charset="-122"/>
                <a:ea typeface="微软雅黑" pitchFamily="34" charset="-122"/>
              </a:rPr>
              <a:t>NAT</a:t>
            </a:r>
            <a:r>
              <a:rPr lang="zh-CN" altLang="en-US" sz="2200" dirty="0">
                <a:latin typeface="微软雅黑" pitchFamily="34" charset="-122"/>
                <a:ea typeface="微软雅黑" pitchFamily="34" charset="-122"/>
              </a:rPr>
              <a:t>表中的</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port #)</a:t>
            </a:r>
            <a:r>
              <a:rPr lang="zh-CN" altLang="en-US" sz="2200" dirty="0">
                <a:solidFill>
                  <a:srgbClr val="C00000"/>
                </a:solidFill>
              </a:rPr>
              <a:t>替代</a:t>
            </a:r>
            <a:r>
              <a:rPr lang="zh-CN" altLang="en-US" sz="2200" dirty="0">
                <a:latin typeface="微软雅黑" pitchFamily="34" charset="-122"/>
                <a:ea typeface="微软雅黑" pitchFamily="34" charset="-122"/>
              </a:rPr>
              <a:t>对应的</a:t>
            </a:r>
            <a:r>
              <a:rPr lang="en-US" altLang="zh-CN" sz="2200" dirty="0">
                <a:solidFill>
                  <a:schemeClr val="accent2"/>
                </a:solidFill>
                <a:latin typeface="微软雅黑" pitchFamily="34" charset="-122"/>
                <a:ea typeface="微软雅黑" pitchFamily="34" charset="-122"/>
              </a:rPr>
              <a:t> </a:t>
            </a:r>
            <a:r>
              <a:rPr lang="en-US" altLang="zh-CN" sz="2200" dirty="0">
                <a:latin typeface="微软雅黑" pitchFamily="34" charset="-122"/>
                <a:ea typeface="微软雅黑" pitchFamily="34" charset="-122"/>
              </a:rPr>
              <a:t>(NAT 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新</a:t>
            </a:r>
            <a:r>
              <a:rPr lang="en-US" altLang="zh-CN" sz="2200" dirty="0">
                <a:latin typeface="微软雅黑" pitchFamily="34" charset="-122"/>
                <a:ea typeface="微软雅黑" pitchFamily="34" charset="-122"/>
              </a:rPr>
              <a:t>port #) </a:t>
            </a:r>
            <a:endParaRPr lang="zh-CN" altLang="en-US" sz="2200" dirty="0">
              <a:latin typeface="微软雅黑" pitchFamily="34" charset="-122"/>
              <a:ea typeface="微软雅黑" pitchFamily="34" charset="-122"/>
            </a:endParaRPr>
          </a:p>
          <a:p>
            <a:endParaRPr lang="zh-CN" altLang="en-US" dirty="0"/>
          </a:p>
        </p:txBody>
      </p:sp>
      <p:pic>
        <p:nvPicPr>
          <p:cNvPr id="7" name="Picture 3"/>
          <p:cNvPicPr>
            <a:picLocks noChangeAspect="1" noChangeArrowheads="1"/>
          </p:cNvPicPr>
          <p:nvPr/>
        </p:nvPicPr>
        <p:blipFill>
          <a:blip r:embed="rId2"/>
          <a:srcRect/>
          <a:stretch>
            <a:fillRect/>
          </a:stretch>
        </p:blipFill>
        <p:spPr bwMode="auto">
          <a:xfrm>
            <a:off x="1689100" y="1438401"/>
            <a:ext cx="8243888" cy="3061242"/>
          </a:xfrm>
          <a:prstGeom prst="rect">
            <a:avLst/>
          </a:prstGeom>
          <a:noFill/>
          <a:ln w="9525">
            <a:noFill/>
            <a:miter lim="800000"/>
            <a:headEnd/>
            <a:tailEnd/>
          </a:ln>
        </p:spPr>
      </p:pic>
      <p:sp>
        <p:nvSpPr>
          <p:cNvPr id="8"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147</a:t>
            </a:fld>
            <a:endParaRPr kumimoji="1" lang="zh-CN" altLang="en-US" dirty="0"/>
          </a:p>
        </p:txBody>
      </p:sp>
      <p:pic>
        <p:nvPicPr>
          <p:cNvPr id="10" name="Picture 28" descr="015">
            <a:extLst>
              <a:ext uri="{FF2B5EF4-FFF2-40B4-BE49-F238E27FC236}">
                <a16:creationId xmlns:a16="http://schemas.microsoft.com/office/drawing/2014/main" id="{F760FC42-11EB-42B3-80FD-693D3CCECD6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51289230"/>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网络地址转换</a:t>
            </a:r>
          </a:p>
        </p:txBody>
      </p:sp>
      <p:sp>
        <p:nvSpPr>
          <p:cNvPr id="12"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5.6.5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13"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148</a:t>
            </a:fld>
            <a:endParaRPr kumimoji="1" lang="zh-CN" altLang="en-US" dirty="0"/>
          </a:p>
        </p:txBody>
      </p:sp>
      <p:sp>
        <p:nvSpPr>
          <p:cNvPr id="14" name="内容占位符 2">
            <a:extLst>
              <a:ext uri="{FF2B5EF4-FFF2-40B4-BE49-F238E27FC236}">
                <a16:creationId xmlns:a16="http://schemas.microsoft.com/office/drawing/2014/main" id="{DB830B1C-0706-7E41-AE1A-DEBBD115D846}"/>
              </a:ext>
            </a:extLst>
          </p:cNvPr>
          <p:cNvSpPr>
            <a:spLocks noGrp="1"/>
          </p:cNvSpPr>
          <p:nvPr>
            <p:ph idx="1"/>
          </p:nvPr>
        </p:nvSpPr>
        <p:spPr>
          <a:xfrm>
            <a:off x="589856" y="1463276"/>
            <a:ext cx="6681275" cy="4706756"/>
          </a:xfrm>
        </p:spPr>
        <p:txBody>
          <a:bodyPr>
            <a:normAutofit/>
          </a:bodyPr>
          <a:lstStyle/>
          <a:p>
            <a:pPr>
              <a:lnSpc>
                <a:spcPct val="110000"/>
              </a:lnSpc>
            </a:pPr>
            <a:r>
              <a:rPr lang="en-US" altLang="zh-CN" sz="2400" dirty="0"/>
              <a:t>NAT</a:t>
            </a:r>
            <a:r>
              <a:rPr lang="zh-CN" altLang="en-US" sz="2400" dirty="0"/>
              <a:t>根据不同的</a:t>
            </a:r>
            <a:r>
              <a:rPr lang="en-US" altLang="zh-CN" sz="2400" dirty="0"/>
              <a:t>IP</a:t>
            </a:r>
            <a:r>
              <a:rPr lang="zh-CN" altLang="en-US" sz="2400" dirty="0"/>
              <a:t>上层协议进行</a:t>
            </a:r>
            <a:r>
              <a:rPr lang="en-US" altLang="zh-CN" sz="2400" dirty="0"/>
              <a:t>NAT</a:t>
            </a:r>
            <a:r>
              <a:rPr lang="zh-CN" altLang="en-US" sz="2400" dirty="0"/>
              <a:t>表项管理</a:t>
            </a:r>
          </a:p>
          <a:p>
            <a:pPr lvl="1">
              <a:lnSpc>
                <a:spcPct val="110000"/>
              </a:lnSpc>
            </a:pPr>
            <a:r>
              <a:rPr lang="en-US" altLang="zh-CN" sz="2000" dirty="0"/>
              <a:t>TCP</a:t>
            </a:r>
            <a:r>
              <a:rPr lang="zh-CN" altLang="en-US" sz="2000" dirty="0"/>
              <a:t>，</a:t>
            </a:r>
            <a:r>
              <a:rPr lang="en-US" altLang="zh-CN" sz="2000" dirty="0"/>
              <a:t>UDP</a:t>
            </a:r>
            <a:r>
              <a:rPr lang="zh-CN" altLang="en-US" sz="2000" dirty="0"/>
              <a:t>，</a:t>
            </a:r>
            <a:r>
              <a:rPr lang="en-US" altLang="zh-CN" sz="2000" dirty="0"/>
              <a:t>ICMP</a:t>
            </a:r>
          </a:p>
          <a:p>
            <a:pPr>
              <a:lnSpc>
                <a:spcPct val="110000"/>
              </a:lnSpc>
            </a:pPr>
            <a:r>
              <a:rPr lang="zh-CN" altLang="en-US" sz="2400" dirty="0"/>
              <a:t>传输层</a:t>
            </a:r>
            <a:r>
              <a:rPr lang="en-US" altLang="zh-CN" sz="2400" dirty="0"/>
              <a:t>TCP/UDP</a:t>
            </a:r>
            <a:r>
              <a:rPr lang="zh-CN" altLang="en-US" sz="2400" dirty="0"/>
              <a:t>拥有</a:t>
            </a:r>
            <a:r>
              <a:rPr lang="en-US" altLang="zh-CN" sz="2400" dirty="0"/>
              <a:t>16-bit </a:t>
            </a:r>
            <a:r>
              <a:rPr lang="zh-CN" altLang="en-US" sz="2400" dirty="0"/>
              <a:t>端口号字段</a:t>
            </a:r>
          </a:p>
          <a:p>
            <a:pPr lvl="1">
              <a:lnSpc>
                <a:spcPct val="110000"/>
              </a:lnSpc>
            </a:pPr>
            <a:r>
              <a:rPr lang="zh-CN" altLang="en-US" sz="2000" dirty="0"/>
              <a:t>所以一个</a:t>
            </a:r>
            <a:r>
              <a:rPr lang="en-US" altLang="zh-CN" sz="2000" dirty="0"/>
              <a:t>WAN</a:t>
            </a:r>
            <a:r>
              <a:rPr lang="zh-CN" altLang="en-US" sz="2000" dirty="0"/>
              <a:t>侧地址可支持</a:t>
            </a:r>
            <a:r>
              <a:rPr lang="en-US" altLang="zh-CN" sz="2000" dirty="0"/>
              <a:t>60,000</a:t>
            </a:r>
            <a:r>
              <a:rPr lang="zh-CN" altLang="en-US" sz="2000" dirty="0"/>
              <a:t>个并行连接</a:t>
            </a:r>
            <a:endParaRPr lang="en-US" altLang="zh-CN" sz="2000" dirty="0"/>
          </a:p>
          <a:p>
            <a:pPr marL="360363" lvl="1" indent="-360363">
              <a:lnSpc>
                <a:spcPct val="110000"/>
              </a:lnSpc>
              <a:buFont typeface="Wingdings" pitchFamily="2" charset="2"/>
              <a:buChar char="Ø"/>
            </a:pPr>
            <a:endParaRPr lang="en-US" altLang="zh-CN" dirty="0"/>
          </a:p>
          <a:p>
            <a:pPr marL="360363" lvl="1" indent="-360363">
              <a:lnSpc>
                <a:spcPct val="110000"/>
              </a:lnSpc>
              <a:buFont typeface="Wingdings" pitchFamily="2" charset="2"/>
              <a:buChar char="Ø"/>
            </a:pPr>
            <a:r>
              <a:rPr lang="en-US" altLang="zh-CN" dirty="0"/>
              <a:t>NAT</a:t>
            </a:r>
            <a:r>
              <a:rPr lang="zh-CN" altLang="en-US" dirty="0"/>
              <a:t>的优势</a:t>
            </a:r>
            <a:endParaRPr lang="en-US" altLang="zh-CN" dirty="0"/>
          </a:p>
          <a:p>
            <a:pPr marL="800100" lvl="1" indent="-342900" fontAlgn="b"/>
            <a:r>
              <a:rPr lang="zh-CN" altLang="zh-CN" sz="2000" dirty="0"/>
              <a:t>节省合法地址</a:t>
            </a:r>
            <a:r>
              <a:rPr lang="zh-CN" altLang="en-US" sz="2000" dirty="0"/>
              <a:t>，</a:t>
            </a:r>
            <a:r>
              <a:rPr lang="zh-CN" altLang="zh-CN" sz="2000" dirty="0"/>
              <a:t>减少地址冲突</a:t>
            </a:r>
          </a:p>
          <a:p>
            <a:pPr marL="800100" lvl="1" indent="-342900" fontAlgn="b"/>
            <a:r>
              <a:rPr lang="zh-CN" altLang="zh-CN" sz="2000" dirty="0"/>
              <a:t>灵活连接</a:t>
            </a:r>
            <a:r>
              <a:rPr lang="en-US" altLang="zh-CN" sz="2000" dirty="0"/>
              <a:t>Internet</a:t>
            </a:r>
            <a:endParaRPr lang="zh-CN" altLang="zh-CN" sz="2000" dirty="0"/>
          </a:p>
          <a:p>
            <a:pPr marL="800100" lvl="1" indent="-342900" fontAlgn="b"/>
            <a:r>
              <a:rPr lang="zh-CN" altLang="en-US" sz="2000" dirty="0"/>
              <a:t>保护</a:t>
            </a:r>
            <a:r>
              <a:rPr lang="zh-CN" altLang="zh-CN" sz="2000" dirty="0"/>
              <a:t>局域网的私密性</a:t>
            </a:r>
          </a:p>
          <a:p>
            <a:pPr marL="457200" lvl="1" indent="0">
              <a:lnSpc>
                <a:spcPct val="110000"/>
              </a:lnSpc>
              <a:buNone/>
            </a:pPr>
            <a:endParaRPr lang="zh-CN" altLang="en-US" sz="2000" dirty="0"/>
          </a:p>
        </p:txBody>
      </p:sp>
      <p:sp>
        <p:nvSpPr>
          <p:cNvPr id="15" name="内容占位符 2">
            <a:extLst>
              <a:ext uri="{FF2B5EF4-FFF2-40B4-BE49-F238E27FC236}">
                <a16:creationId xmlns:a16="http://schemas.microsoft.com/office/drawing/2014/main" id="{DB830B1C-0706-7E41-AE1A-DEBBD115D846}"/>
              </a:ext>
            </a:extLst>
          </p:cNvPr>
          <p:cNvSpPr txBox="1">
            <a:spLocks/>
          </p:cNvSpPr>
          <p:nvPr/>
        </p:nvSpPr>
        <p:spPr>
          <a:xfrm>
            <a:off x="5520611" y="3717501"/>
            <a:ext cx="6234387" cy="2553696"/>
          </a:xfrm>
          <a:prstGeom prst="rect">
            <a:avLst/>
          </a:prstGeom>
        </p:spPr>
        <p:txBody>
          <a:bodyPr vert="horz" lIns="91440" tIns="45720" rIns="91440" bIns="45720" rtlCol="0">
            <a:normAutofit lnSpcReduction="100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60363" lvl="1" indent="-360363">
              <a:lnSpc>
                <a:spcPct val="110000"/>
              </a:lnSpc>
              <a:buFont typeface="Wingdings" pitchFamily="2" charset="2"/>
              <a:buChar char="Ø"/>
            </a:pPr>
            <a:r>
              <a:rPr lang="zh-CN" altLang="en-US" dirty="0"/>
              <a:t>问题或缺点</a:t>
            </a:r>
            <a:endParaRPr lang="en-US" altLang="zh-CN" dirty="0"/>
          </a:p>
          <a:p>
            <a:pPr marL="800100" lvl="1" indent="-342900" fontAlgn="b"/>
            <a:r>
              <a:rPr kumimoji="1" lang="zh-CN" altLang="en-US" sz="2000" dirty="0">
                <a:solidFill>
                  <a:srgbClr val="000000"/>
                </a:solidFill>
                <a:latin typeface="微软雅黑" panose="020B0503020204020204" pitchFamily="34" charset="-122"/>
                <a:ea typeface="微软雅黑" panose="020B0503020204020204" pitchFamily="34" charset="-122"/>
              </a:rPr>
              <a:t>违反了</a:t>
            </a:r>
            <a:r>
              <a:rPr kumimoji="1" lang="en-US" altLang="zh-CN" sz="2000" dirty="0">
                <a:solidFill>
                  <a:srgbClr val="000000"/>
                </a:solidFill>
                <a:latin typeface="微软雅黑" panose="020B0503020204020204" pitchFamily="34" charset="-122"/>
                <a:ea typeface="微软雅黑" panose="020B0503020204020204" pitchFamily="34" charset="-122"/>
              </a:rPr>
              <a:t>IP</a:t>
            </a:r>
            <a:r>
              <a:rPr kumimoji="1" lang="zh-CN" altLang="en-US" sz="2000" dirty="0">
                <a:solidFill>
                  <a:srgbClr val="000000"/>
                </a:solidFill>
                <a:latin typeface="微软雅黑" panose="020B0503020204020204" pitchFamily="34" charset="-122"/>
                <a:ea typeface="微软雅黑" panose="020B0503020204020204" pitchFamily="34" charset="-122"/>
              </a:rPr>
              <a:t>的结构模型，路由器处理传输层协议</a:t>
            </a:r>
          </a:p>
          <a:p>
            <a:pPr marL="800100" lvl="1" indent="-342900" fontAlgn="b"/>
            <a:r>
              <a:rPr kumimoji="1" lang="zh-CN" altLang="en-US" sz="2000" dirty="0">
                <a:solidFill>
                  <a:srgbClr val="000000"/>
                </a:solidFill>
                <a:latin typeface="微软雅黑" panose="020B0503020204020204" pitchFamily="34" charset="-122"/>
                <a:ea typeface="微软雅黑" panose="020B0503020204020204" pitchFamily="34" charset="-122"/>
              </a:rPr>
              <a:t>违反了端到端的原则</a:t>
            </a:r>
            <a:endParaRPr kumimoji="1" lang="en-US" altLang="zh-CN" sz="2000" dirty="0">
              <a:solidFill>
                <a:srgbClr val="000000"/>
              </a:solidFill>
              <a:latin typeface="微软雅黑" panose="020B0503020204020204" pitchFamily="34" charset="-122"/>
              <a:ea typeface="微软雅黑" panose="020B0503020204020204" pitchFamily="34" charset="-122"/>
            </a:endParaRPr>
          </a:p>
          <a:p>
            <a:pPr marL="800100" lvl="1" indent="-342900" fontAlgn="b"/>
            <a:r>
              <a:rPr kumimoji="1" lang="zh-CN" altLang="en-US" sz="2000" dirty="0">
                <a:solidFill>
                  <a:srgbClr val="000000"/>
                </a:solidFill>
                <a:latin typeface="微软雅黑" panose="020B0503020204020204" pitchFamily="34" charset="-122"/>
                <a:ea typeface="微软雅黑" panose="020B0503020204020204" pitchFamily="34" charset="-122"/>
              </a:rPr>
              <a:t>违反了最基本的协议分层规则</a:t>
            </a:r>
            <a:endParaRPr kumimoji="1" lang="zh-CN" altLang="en-US" sz="2000" dirty="0">
              <a:latin typeface="微软雅黑" panose="020B0503020204020204" pitchFamily="34" charset="-122"/>
              <a:ea typeface="微软雅黑" panose="020B0503020204020204" pitchFamily="34" charset="-122"/>
            </a:endParaRPr>
          </a:p>
          <a:p>
            <a:pPr marL="800100" lvl="1" indent="-342900" fontAlgn="b"/>
            <a:r>
              <a:rPr lang="zh-CN" altLang="en-US" sz="2000" dirty="0">
                <a:latin typeface="微软雅黑" panose="020B0503020204020204" pitchFamily="34" charset="-122"/>
                <a:ea typeface="微软雅黑" panose="020B0503020204020204" pitchFamily="34" charset="-122"/>
              </a:rPr>
              <a:t>不能处理</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报头加密</a:t>
            </a:r>
            <a:endParaRPr lang="en-US" altLang="zh-CN" sz="2000" dirty="0">
              <a:latin typeface="微软雅黑" panose="020B0503020204020204" pitchFamily="34" charset="-122"/>
              <a:ea typeface="微软雅黑" panose="020B0503020204020204" pitchFamily="34" charset="-122"/>
            </a:endParaRPr>
          </a:p>
          <a:p>
            <a:pPr marL="800100" lvl="1" indent="-342900" fontAlgn="b"/>
            <a:r>
              <a:rPr lang="zh-CN" altLang="en-US" sz="2000" dirty="0"/>
              <a:t>新型网络应用的设计者必须要考虑 </a:t>
            </a:r>
            <a:r>
              <a:rPr lang="en-US" altLang="zh-CN" sz="2000" dirty="0"/>
              <a:t>NAT</a:t>
            </a:r>
            <a:r>
              <a:rPr lang="zh-CN" altLang="en-US" sz="2000" dirty="0"/>
              <a:t>场景，如 </a:t>
            </a:r>
            <a:r>
              <a:rPr lang="en-US" altLang="zh-CN" sz="2000" dirty="0"/>
              <a:t>P2P</a:t>
            </a:r>
            <a:r>
              <a:rPr lang="zh-CN" altLang="en-US" sz="2000" dirty="0"/>
              <a:t>应用程序</a:t>
            </a:r>
            <a:endParaRPr lang="zh-CN" altLang="zh-CN" sz="2000" dirty="0"/>
          </a:p>
          <a:p>
            <a:pPr marL="800100" lvl="1" indent="-342900" fontAlgn="b"/>
            <a:endParaRPr lang="zh-CN" altLang="zh-CN" sz="2000" dirty="0"/>
          </a:p>
          <a:p>
            <a:pPr marL="457200" lvl="1" indent="0">
              <a:lnSpc>
                <a:spcPct val="110000"/>
              </a:lnSpc>
              <a:buFont typeface="Arial" panose="020B0604020202020204" pitchFamily="34" charset="0"/>
              <a:buNone/>
            </a:pPr>
            <a:endParaRPr lang="zh-CN" altLang="en-US" sz="2000" dirty="0"/>
          </a:p>
        </p:txBody>
      </p:sp>
      <p:pic>
        <p:nvPicPr>
          <p:cNvPr id="7" name="Picture 28" descr="015">
            <a:extLst>
              <a:ext uri="{FF2B5EF4-FFF2-40B4-BE49-F238E27FC236}">
                <a16:creationId xmlns:a16="http://schemas.microsoft.com/office/drawing/2014/main" id="{5CC288A8-E3E5-48B4-B3EB-3D0F5163B37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37675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120000"/>
              </a:lnSpc>
              <a:spcBef>
                <a:spcPct val="0"/>
              </a:spcBef>
            </a:pPr>
            <a:r>
              <a:rPr lang="en-US" altLang="zh-CN" sz="4000" dirty="0">
                <a:latin typeface="微软雅黑" pitchFamily="34" charset="-122"/>
                <a:ea typeface="微软雅黑" pitchFamily="34" charset="-122"/>
              </a:rPr>
              <a:t>ICMP</a:t>
            </a:r>
            <a:r>
              <a:rPr lang="zh-CN" altLang="en-US" sz="4000" dirty="0">
                <a:latin typeface="微软雅黑" pitchFamily="34" charset="-122"/>
                <a:ea typeface="微软雅黑" pitchFamily="34" charset="-122"/>
              </a:rPr>
              <a:t>协议</a:t>
            </a:r>
            <a:endParaRPr lang="en-US" altLang="zh-CN" sz="4000" dirty="0">
              <a:latin typeface="微软雅黑" pitchFamily="34" charset="-122"/>
              <a:ea typeface="微软雅黑" pitchFamily="34" charset="-122"/>
            </a:endParaRPr>
          </a:p>
        </p:txBody>
      </p:sp>
      <p:sp>
        <p:nvSpPr>
          <p:cNvPr id="3" name="内容占位符 2"/>
          <p:cNvSpPr>
            <a:spLocks noGrp="1"/>
          </p:cNvSpPr>
          <p:nvPr>
            <p:ph idx="1"/>
          </p:nvPr>
        </p:nvSpPr>
        <p:spPr>
          <a:xfrm>
            <a:off x="838198" y="1510758"/>
            <a:ext cx="10515602" cy="4586694"/>
          </a:xfrm>
        </p:spPr>
        <p:txBody>
          <a:bodyPr>
            <a:normAutofit/>
          </a:bodyPr>
          <a:lstStyle/>
          <a:p>
            <a:pPr marL="228600" lvl="1">
              <a:lnSpc>
                <a:spcPct val="120000"/>
              </a:lnSpc>
              <a:buFont typeface="Wingdings" panose="05000000000000000000" pitchFamily="2" charset="2"/>
              <a:buChar char="Ø"/>
            </a:pPr>
            <a:r>
              <a:rPr lang="en-US" altLang="zh-CN" sz="2600" dirty="0">
                <a:cs typeface="Times New Roman" panose="02020603050405020304" pitchFamily="18" charset="0"/>
              </a:rPr>
              <a:t>ICMP: </a:t>
            </a:r>
            <a:r>
              <a:rPr lang="zh-CN" altLang="en-US" sz="2600" dirty="0">
                <a:cs typeface="Times New Roman" panose="02020603050405020304" pitchFamily="18" charset="0"/>
              </a:rPr>
              <a:t>互联网控制报文协议</a:t>
            </a:r>
            <a:endParaRPr lang="en-US" altLang="zh-CN" sz="2600" dirty="0">
              <a:cs typeface="Times New Roman" panose="02020603050405020304" pitchFamily="18" charset="0"/>
            </a:endParaRPr>
          </a:p>
          <a:p>
            <a:pPr lvl="1">
              <a:lnSpc>
                <a:spcPct val="120000"/>
              </a:lnSpc>
            </a:pPr>
            <a:r>
              <a:rPr lang="en-US" altLang="zh-CN" sz="2200" dirty="0"/>
              <a:t>ICMP </a:t>
            </a:r>
            <a:r>
              <a:rPr lang="zh-CN" altLang="en-US" sz="2200" dirty="0"/>
              <a:t>允许主机或路由器报告差错情况和提供有关异常情况的报告</a:t>
            </a:r>
            <a:endParaRPr lang="en-US" altLang="zh-CN" sz="2200" dirty="0"/>
          </a:p>
          <a:p>
            <a:pPr lvl="1">
              <a:lnSpc>
                <a:spcPct val="120000"/>
              </a:lnSpc>
            </a:pPr>
            <a:r>
              <a:rPr lang="zh-CN" altLang="en-US" sz="2200" dirty="0"/>
              <a:t>由主机和路由器用于网络层信息的通信</a:t>
            </a:r>
          </a:p>
          <a:p>
            <a:pPr lvl="1">
              <a:lnSpc>
                <a:spcPct val="120000"/>
              </a:lnSpc>
            </a:pPr>
            <a:r>
              <a:rPr lang="en-US" altLang="zh-CN" sz="2200" dirty="0"/>
              <a:t>ICMP </a:t>
            </a:r>
            <a:r>
              <a:rPr lang="zh-CN" altLang="en-US" sz="2200" dirty="0"/>
              <a:t>报文携带在</a:t>
            </a:r>
            <a:r>
              <a:rPr lang="en-US" altLang="zh-CN" sz="2200" dirty="0"/>
              <a:t>IP </a:t>
            </a:r>
            <a:r>
              <a:rPr lang="zh-CN" altLang="en-US" sz="2200" dirty="0"/>
              <a:t>数据报中：</a:t>
            </a:r>
            <a:r>
              <a:rPr lang="en-US" altLang="zh-CN" sz="2200" dirty="0"/>
              <a:t> IP</a:t>
            </a:r>
            <a:r>
              <a:rPr lang="zh-CN" altLang="en-US" sz="2200" dirty="0"/>
              <a:t>上层协议号为</a:t>
            </a:r>
            <a:r>
              <a:rPr lang="en-US" altLang="zh-CN" sz="2200" dirty="0"/>
              <a:t>1</a:t>
            </a:r>
            <a:endParaRPr lang="zh-CN" altLang="en-US" sz="2200" dirty="0"/>
          </a:p>
          <a:p>
            <a:pPr marL="228600" lvl="1">
              <a:lnSpc>
                <a:spcPct val="120000"/>
              </a:lnSpc>
              <a:buFont typeface="Wingdings" panose="05000000000000000000" pitchFamily="2" charset="2"/>
              <a:buChar char="Ø"/>
            </a:pPr>
            <a:r>
              <a:rPr lang="en-US" altLang="zh-CN" sz="2600" dirty="0">
                <a:cs typeface="Times New Roman" panose="02020603050405020304" pitchFamily="18" charset="0"/>
              </a:rPr>
              <a:t>ICMP</a:t>
            </a:r>
            <a:r>
              <a:rPr lang="zh-CN" altLang="en-US" sz="2600" dirty="0">
                <a:cs typeface="Times New Roman" panose="02020603050405020304" pitchFamily="18" charset="0"/>
              </a:rPr>
              <a:t>报文类型</a:t>
            </a:r>
            <a:endParaRPr lang="en-US" altLang="zh-CN" sz="2600" dirty="0">
              <a:cs typeface="Times New Roman" panose="02020603050405020304" pitchFamily="18" charset="0"/>
            </a:endParaRPr>
          </a:p>
          <a:p>
            <a:pPr lvl="1">
              <a:lnSpc>
                <a:spcPct val="120000"/>
              </a:lnSpc>
            </a:pPr>
            <a:r>
              <a:rPr lang="en-US" altLang="zh-CN" sz="2200" dirty="0">
                <a:solidFill>
                  <a:srgbClr val="C00000"/>
                </a:solidFill>
              </a:rPr>
              <a:t>ICMP </a:t>
            </a:r>
            <a:r>
              <a:rPr lang="zh-CN" altLang="en-US" sz="2200" dirty="0">
                <a:solidFill>
                  <a:srgbClr val="C00000"/>
                </a:solidFill>
              </a:rPr>
              <a:t>差错报告报文</a:t>
            </a:r>
            <a:endParaRPr lang="en-US" altLang="zh-CN" sz="2200" dirty="0">
              <a:solidFill>
                <a:srgbClr val="C00000"/>
              </a:solidFill>
            </a:endParaRPr>
          </a:p>
          <a:p>
            <a:pPr lvl="2">
              <a:lnSpc>
                <a:spcPct val="120000"/>
              </a:lnSpc>
            </a:pPr>
            <a:r>
              <a:rPr lang="zh-CN" altLang="en-US" dirty="0"/>
              <a:t>终点不可达：不可达主机、不可达网络，无效端口、协议</a:t>
            </a:r>
            <a:endParaRPr lang="en-US" altLang="zh-CN" dirty="0"/>
          </a:p>
          <a:p>
            <a:pPr lvl="1">
              <a:lnSpc>
                <a:spcPct val="120000"/>
              </a:lnSpc>
            </a:pPr>
            <a:r>
              <a:rPr lang="en-US" altLang="zh-CN" sz="2200" dirty="0">
                <a:solidFill>
                  <a:srgbClr val="C00000"/>
                </a:solidFill>
              </a:rPr>
              <a:t>ICMP </a:t>
            </a:r>
            <a:r>
              <a:rPr lang="zh-CN" altLang="en-US" sz="2200" dirty="0">
                <a:solidFill>
                  <a:srgbClr val="C00000"/>
                </a:solidFill>
              </a:rPr>
              <a:t>询问报文</a:t>
            </a:r>
            <a:endParaRPr lang="en-US" altLang="zh-CN" sz="2200" dirty="0">
              <a:solidFill>
                <a:srgbClr val="C00000"/>
              </a:solidFill>
            </a:endParaRPr>
          </a:p>
          <a:p>
            <a:pPr lvl="2">
              <a:lnSpc>
                <a:spcPct val="120000"/>
              </a:lnSpc>
            </a:pPr>
            <a:r>
              <a:rPr lang="zh-CN" altLang="en-US" dirty="0"/>
              <a:t>回送请求</a:t>
            </a:r>
            <a:r>
              <a:rPr lang="en-US" altLang="zh-CN" dirty="0"/>
              <a:t>/</a:t>
            </a:r>
            <a:r>
              <a:rPr lang="zh-CN" altLang="en-US" dirty="0"/>
              <a:t>回答</a:t>
            </a:r>
            <a:r>
              <a:rPr lang="en-US" altLang="zh-CN" dirty="0"/>
              <a:t> (ping</a:t>
            </a:r>
            <a:r>
              <a:rPr lang="zh-CN" altLang="en-US" dirty="0"/>
              <a:t>使用</a:t>
            </a:r>
            <a:r>
              <a:rPr lang="en-US" altLang="zh-CN" dirty="0"/>
              <a:t>)</a:t>
            </a:r>
          </a:p>
          <a:p>
            <a:pPr marL="914400" lvl="2" indent="0" eaLnBrk="0" hangingPunct="0">
              <a:lnSpc>
                <a:spcPct val="130000"/>
              </a:lnSpc>
              <a:buClr>
                <a:srgbClr val="0070C0"/>
              </a:buClr>
              <a:buNone/>
            </a:pPr>
            <a:endParaRPr lang="en-US" altLang="zh-CN" sz="2200" dirty="0">
              <a:solidFill>
                <a:srgbClr val="C00000"/>
              </a:solidFill>
              <a:latin typeface="微软雅黑" pitchFamily="34" charset="-122"/>
              <a:ea typeface="微软雅黑" pitchFamily="34" charset="-122"/>
            </a:endParaRPr>
          </a:p>
          <a:p>
            <a:pPr lvl="2" eaLnBrk="0" hangingPunct="0">
              <a:lnSpc>
                <a:spcPct val="130000"/>
              </a:lnSpc>
              <a:buClr>
                <a:srgbClr val="0070C0"/>
              </a:buClr>
            </a:pPr>
            <a:endParaRPr lang="en-US" altLang="zh-CN" sz="2200" dirty="0">
              <a:solidFill>
                <a:srgbClr val="C00000"/>
              </a:solidFill>
              <a:latin typeface="微软雅黑" pitchFamily="34" charset="-122"/>
              <a:ea typeface="微软雅黑" pitchFamily="34" charset="-122"/>
            </a:endParaRPr>
          </a:p>
          <a:p>
            <a:pPr marL="914400" lvl="2" indent="0" eaLnBrk="0" hangingPunct="0">
              <a:lnSpc>
                <a:spcPct val="130000"/>
              </a:lnSpc>
              <a:buClr>
                <a:srgbClr val="0070C0"/>
              </a:buClr>
              <a:buNone/>
            </a:pPr>
            <a:endParaRPr lang="en-US" altLang="zh-CN" dirty="0">
              <a:latin typeface="微软雅黑" pitchFamily="34" charset="-122"/>
              <a:ea typeface="微软雅黑" pitchFamily="34" charset="-122"/>
            </a:endParaRPr>
          </a:p>
          <a:p>
            <a:pPr lvl="1" eaLnBrk="0" hangingPunct="0">
              <a:lnSpc>
                <a:spcPct val="130000"/>
              </a:lnSpc>
              <a:buClr>
                <a:srgbClr val="0070C0"/>
              </a:buClr>
              <a:buFont typeface="Wingdings" pitchFamily="2" charset="2"/>
              <a:buChar char="Ø"/>
            </a:pPr>
            <a:endParaRPr lang="en-US" altLang="zh-CN" sz="2800" dirty="0">
              <a:latin typeface="微软雅黑" pitchFamily="34" charset="-122"/>
              <a:ea typeface="微软雅黑" pitchFamily="34" charset="-122"/>
            </a:endParaRPr>
          </a:p>
          <a:p>
            <a:pPr lvl="1" eaLnBrk="0" hangingPunct="0">
              <a:lnSpc>
                <a:spcPct val="130000"/>
              </a:lnSpc>
              <a:buClr>
                <a:srgbClr val="0070C0"/>
              </a:buClr>
              <a:buFont typeface="Wingdings" pitchFamily="2" charset="2"/>
              <a:buChar char="Ø"/>
            </a:pPr>
            <a:endParaRPr lang="zh-CN" altLang="en-US" sz="2800" dirty="0">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149</a:t>
            </a:fld>
            <a:endParaRPr kumimoji="1" lang="zh-CN" altLang="en-US" dirty="0"/>
          </a:p>
        </p:txBody>
      </p:sp>
      <p:sp>
        <p:nvSpPr>
          <p:cNvPr id="5" name="日期占位符 4"/>
          <p:cNvSpPr>
            <a:spLocks noGrp="1"/>
          </p:cNvSpPr>
          <p:nvPr>
            <p:ph type="dt" sz="half" idx="10"/>
          </p:nvPr>
        </p:nvSpPr>
        <p:spPr/>
        <p:txBody>
          <a:bodyPr/>
          <a:lstStyle/>
          <a:p>
            <a:r>
              <a:rPr kumimoji="1" lang="en-US" altLang="zh-CN" dirty="0"/>
              <a:t>5.6.6 Internet</a:t>
            </a:r>
            <a:r>
              <a:rPr kumimoji="1" lang="zh-CN" altLang="en-US" dirty="0"/>
              <a:t>控制报文协议</a:t>
            </a:r>
          </a:p>
        </p:txBody>
      </p:sp>
      <p:pic>
        <p:nvPicPr>
          <p:cNvPr id="6" name="Picture 28" descr="015">
            <a:extLst>
              <a:ext uri="{FF2B5EF4-FFF2-40B4-BE49-F238E27FC236}">
                <a16:creationId xmlns:a16="http://schemas.microsoft.com/office/drawing/2014/main" id="{7A50417F-5781-4103-AFF7-3B8C1A7CF00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2356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12"/>
          </p:nvPr>
        </p:nvSpPr>
        <p:spPr/>
        <p:txBody>
          <a:bodyPr/>
          <a:lstStyle/>
          <a:p>
            <a:fld id="{8D4D1E41-7A09-AB4A-A4E1-09765ADA2698}" type="slidenum">
              <a:rPr kumimoji="1" lang="zh-CN" altLang="en-US" smtClean="0"/>
              <a:t>150</a:t>
            </a:fld>
            <a:endParaRPr kumimoji="1" lang="zh-CN" altLang="en-US" dirty="0"/>
          </a:p>
        </p:txBody>
      </p:sp>
      <p:grpSp>
        <p:nvGrpSpPr>
          <p:cNvPr id="5" name="组合 4"/>
          <p:cNvGrpSpPr/>
          <p:nvPr/>
        </p:nvGrpSpPr>
        <p:grpSpPr>
          <a:xfrm>
            <a:off x="2163440" y="1306133"/>
            <a:ext cx="7969388" cy="4060219"/>
            <a:chOff x="3046627" y="1659155"/>
            <a:chExt cx="7007576" cy="4060219"/>
          </a:xfrm>
        </p:grpSpPr>
        <p:sp>
          <p:nvSpPr>
            <p:cNvPr id="9" name="AutoShape 31"/>
            <p:cNvSpPr>
              <a:spLocks noChangeArrowheads="1"/>
            </p:cNvSpPr>
            <p:nvPr/>
          </p:nvSpPr>
          <p:spPr bwMode="auto">
            <a:xfrm rot="5400000">
              <a:off x="3160823" y="4798117"/>
              <a:ext cx="302127" cy="53052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0" name="Rectangle 2"/>
            <p:cNvSpPr>
              <a:spLocks noChangeArrowheads="1"/>
            </p:cNvSpPr>
            <p:nvPr/>
          </p:nvSpPr>
          <p:spPr bwMode="auto">
            <a:xfrm>
              <a:off x="3546574" y="4877454"/>
              <a:ext cx="4812447" cy="408369"/>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1" name="Rectangle 4"/>
            <p:cNvSpPr>
              <a:spLocks noChangeArrowheads="1"/>
            </p:cNvSpPr>
            <p:nvPr/>
          </p:nvSpPr>
          <p:spPr bwMode="auto">
            <a:xfrm>
              <a:off x="4859387" y="4902354"/>
              <a:ext cx="3478053" cy="383468"/>
            </a:xfrm>
            <a:prstGeom prst="rect">
              <a:avLst/>
            </a:prstGeom>
            <a:solidFill>
              <a:srgbClr val="99FFCC"/>
            </a:solidFill>
            <a:ln>
              <a:noFill/>
            </a:ln>
            <a:effec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2" name="Freeform 5"/>
            <p:cNvSpPr>
              <a:spLocks/>
            </p:cNvSpPr>
            <p:nvPr/>
          </p:nvSpPr>
          <p:spPr bwMode="auto">
            <a:xfrm>
              <a:off x="3573550" y="3600886"/>
              <a:ext cx="6359047" cy="489711"/>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lIns="121917" tIns="60958" rIns="121917" bIns="60958"/>
            <a:lstStyle/>
            <a:p>
              <a:pPr algn="ctr"/>
              <a:endParaRPr lang="zh-CN" altLang="en-US" sz="1900" b="1">
                <a:latin typeface="微软雅黑" pitchFamily="34" charset="-122"/>
                <a:ea typeface="微软雅黑" pitchFamily="34" charset="-122"/>
              </a:endParaRPr>
            </a:p>
          </p:txBody>
        </p:sp>
        <p:sp>
          <p:nvSpPr>
            <p:cNvPr id="13" name="Line 6"/>
            <p:cNvSpPr>
              <a:spLocks noChangeShapeType="1"/>
            </p:cNvSpPr>
            <p:nvPr/>
          </p:nvSpPr>
          <p:spPr bwMode="auto">
            <a:xfrm>
              <a:off x="3546574" y="5529848"/>
              <a:ext cx="4812447"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dirty="0">
                <a:latin typeface="微软雅黑" pitchFamily="34" charset="-122"/>
                <a:ea typeface="微软雅黑" pitchFamily="34" charset="-122"/>
              </a:endParaRPr>
            </a:p>
          </p:txBody>
        </p:sp>
        <p:sp>
          <p:nvSpPr>
            <p:cNvPr id="14" name="Text Box 7"/>
            <p:cNvSpPr txBox="1">
              <a:spLocks noChangeArrowheads="1"/>
            </p:cNvSpPr>
            <p:nvPr/>
          </p:nvSpPr>
          <p:spPr bwMode="auto">
            <a:xfrm>
              <a:off x="3786850" y="4874134"/>
              <a:ext cx="877799"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zh-CN" altLang="en-US" sz="1900" dirty="0">
                  <a:solidFill>
                    <a:schemeClr val="bg1"/>
                  </a:solidFill>
                  <a:latin typeface="微软雅黑" pitchFamily="34" charset="-122"/>
                  <a:ea typeface="微软雅黑" pitchFamily="34" charset="-122"/>
                </a:rPr>
                <a:t>首  部</a:t>
              </a:r>
            </a:p>
          </p:txBody>
        </p:sp>
        <p:sp>
          <p:nvSpPr>
            <p:cNvPr id="15" name="Rectangle 8"/>
            <p:cNvSpPr>
              <a:spLocks noChangeArrowheads="1"/>
            </p:cNvSpPr>
            <p:nvPr/>
          </p:nvSpPr>
          <p:spPr bwMode="auto">
            <a:xfrm>
              <a:off x="4859387" y="4065695"/>
              <a:ext cx="3499635" cy="410028"/>
            </a:xfrm>
            <a:prstGeom prst="rect">
              <a:avLst/>
            </a:prstGeom>
            <a:solidFill>
              <a:srgbClr val="99FFCC"/>
            </a:solidFill>
            <a:ln w="9525">
              <a:solidFill>
                <a:schemeClr val="tx1"/>
              </a:solidFill>
              <a:miter lim="800000"/>
              <a:headEnd/>
              <a:tailEnd/>
            </a:ln>
            <a:effectLst/>
          </p:spPr>
          <p:txBody>
            <a:bodyPr wrap="none" lIns="121917" tIns="60958" rIns="121917" bIns="60958" anchor="ctr"/>
            <a:lstStyle/>
            <a:p>
              <a:pPr algn="ct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报文</a:t>
              </a:r>
            </a:p>
          </p:txBody>
        </p:sp>
        <p:sp>
          <p:nvSpPr>
            <p:cNvPr id="16" name="Text Box 9"/>
            <p:cNvSpPr txBox="1">
              <a:spLocks noChangeArrowheads="1"/>
            </p:cNvSpPr>
            <p:nvPr/>
          </p:nvSpPr>
          <p:spPr bwMode="auto">
            <a:xfrm>
              <a:off x="3383107" y="1659155"/>
              <a:ext cx="37232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dirty="0">
                  <a:solidFill>
                    <a:srgbClr val="0000FF"/>
                  </a:solidFill>
                  <a:latin typeface="微软雅黑" pitchFamily="34" charset="-122"/>
                  <a:ea typeface="微软雅黑" pitchFamily="34" charset="-122"/>
                </a:rPr>
                <a:t>0</a:t>
              </a:r>
            </a:p>
          </p:txBody>
        </p:sp>
        <p:sp>
          <p:nvSpPr>
            <p:cNvPr id="17" name="Line 10"/>
            <p:cNvSpPr>
              <a:spLocks noChangeShapeType="1"/>
            </p:cNvSpPr>
            <p:nvPr/>
          </p:nvSpPr>
          <p:spPr bwMode="auto">
            <a:xfrm>
              <a:off x="4859387" y="4877454"/>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8" name="Text Box 11"/>
            <p:cNvSpPr txBox="1">
              <a:spLocks noChangeArrowheads="1"/>
            </p:cNvSpPr>
            <p:nvPr/>
          </p:nvSpPr>
          <p:spPr bwMode="auto">
            <a:xfrm>
              <a:off x="5861350" y="4874134"/>
              <a:ext cx="1653653"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zh-CN" altLang="en-US" sz="1900" dirty="0">
                  <a:latin typeface="微软雅黑" pitchFamily="34" charset="-122"/>
                  <a:ea typeface="微软雅黑" pitchFamily="34" charset="-122"/>
                </a:rPr>
                <a:t>数  据  部  分</a:t>
              </a:r>
            </a:p>
          </p:txBody>
        </p:sp>
        <p:sp>
          <p:nvSpPr>
            <p:cNvPr id="19" name="AutoShape 12"/>
            <p:cNvSpPr>
              <a:spLocks noChangeArrowheads="1"/>
            </p:cNvSpPr>
            <p:nvPr/>
          </p:nvSpPr>
          <p:spPr bwMode="auto">
            <a:xfrm>
              <a:off x="6389801" y="4475725"/>
              <a:ext cx="327304" cy="489711"/>
            </a:xfrm>
            <a:prstGeom prst="downArrow">
              <a:avLst>
                <a:gd name="adj1" fmla="val 47222"/>
                <a:gd name="adj2" fmla="val 83746"/>
              </a:avLst>
            </a:prstGeom>
            <a:solidFill>
              <a:srgbClr val="FF99FF"/>
            </a:solidFill>
            <a:ln w="9525">
              <a:solidFill>
                <a:schemeClr val="tx1"/>
              </a:solidFill>
              <a:miter lim="800000"/>
              <a:headEnd/>
              <a:tailEnd/>
            </a:ln>
            <a:effectLst/>
          </p:spPr>
          <p:txBody>
            <a:bodyPr vert="eaVert"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0" name="Rectangle 13"/>
            <p:cNvSpPr>
              <a:spLocks noChangeArrowheads="1"/>
            </p:cNvSpPr>
            <p:nvPr/>
          </p:nvSpPr>
          <p:spPr bwMode="auto">
            <a:xfrm>
              <a:off x="3546574" y="1997291"/>
              <a:ext cx="6344660" cy="1635136"/>
            </a:xfrm>
            <a:prstGeom prst="rect">
              <a:avLst/>
            </a:prstGeom>
            <a:solidFill>
              <a:srgbClr val="99FFCC"/>
            </a:solidFill>
            <a:ln w="9525">
              <a:solidFill>
                <a:schemeClr val="tx1"/>
              </a:solidFill>
              <a:miter lim="800000"/>
              <a:headEnd/>
              <a:tailEnd/>
            </a:ln>
            <a:effec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1" name="Line 14"/>
            <p:cNvSpPr>
              <a:spLocks noChangeShapeType="1"/>
            </p:cNvSpPr>
            <p:nvPr/>
          </p:nvSpPr>
          <p:spPr bwMode="auto">
            <a:xfrm rot="5400000" flipV="1">
              <a:off x="6718904" y="-798213"/>
              <a:ext cx="0" cy="6344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2" name="Line 15"/>
            <p:cNvSpPr>
              <a:spLocks noChangeShapeType="1"/>
            </p:cNvSpPr>
            <p:nvPr/>
          </p:nvSpPr>
          <p:spPr bwMode="auto">
            <a:xfrm flipV="1">
              <a:off x="5130940"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3" name="Line 16"/>
            <p:cNvSpPr>
              <a:spLocks noChangeShapeType="1"/>
            </p:cNvSpPr>
            <p:nvPr/>
          </p:nvSpPr>
          <p:spPr bwMode="auto">
            <a:xfrm flipV="1">
              <a:off x="6717104"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4" name="Line 17"/>
            <p:cNvSpPr>
              <a:spLocks noChangeShapeType="1"/>
            </p:cNvSpPr>
            <p:nvPr/>
          </p:nvSpPr>
          <p:spPr bwMode="auto">
            <a:xfrm flipV="1">
              <a:off x="6717104"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5" name="Text Box 21"/>
            <p:cNvSpPr txBox="1">
              <a:spLocks noChangeArrowheads="1"/>
            </p:cNvSpPr>
            <p:nvPr/>
          </p:nvSpPr>
          <p:spPr bwMode="auto">
            <a:xfrm>
              <a:off x="4454762" y="2399430"/>
              <a:ext cx="4752257"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zh-CN" altLang="en-US" sz="1900" dirty="0">
                  <a:latin typeface="微软雅黑" pitchFamily="34" charset="-122"/>
                  <a:ea typeface="微软雅黑" pitchFamily="34" charset="-122"/>
                </a:rPr>
                <a:t>（这 </a:t>
              </a:r>
              <a:r>
                <a:rPr kumimoji="1" lang="en-US" altLang="zh-CN" sz="1900" dirty="0">
                  <a:latin typeface="微软雅黑" pitchFamily="34" charset="-122"/>
                  <a:ea typeface="微软雅黑" pitchFamily="34" charset="-122"/>
                </a:rPr>
                <a:t>4 </a:t>
              </a:r>
              <a:r>
                <a:rPr kumimoji="1" lang="zh-CN" altLang="en-US" sz="1900" dirty="0">
                  <a:latin typeface="微软雅黑" pitchFamily="34" charset="-122"/>
                  <a:ea typeface="微软雅黑" pitchFamily="34" charset="-122"/>
                </a:rPr>
                <a:t>个字节取决于 </a:t>
              </a: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报文的类型）</a:t>
              </a:r>
            </a:p>
          </p:txBody>
        </p:sp>
        <p:sp>
          <p:nvSpPr>
            <p:cNvPr id="26" name="Text Box 22"/>
            <p:cNvSpPr txBox="1">
              <a:spLocks noChangeArrowheads="1"/>
            </p:cNvSpPr>
            <p:nvPr/>
          </p:nvSpPr>
          <p:spPr bwMode="auto">
            <a:xfrm>
              <a:off x="4947694" y="1659155"/>
              <a:ext cx="37232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a:solidFill>
                    <a:srgbClr val="0000FF"/>
                  </a:solidFill>
                  <a:latin typeface="微软雅黑" pitchFamily="34" charset="-122"/>
                  <a:ea typeface="微软雅黑" pitchFamily="34" charset="-122"/>
                </a:rPr>
                <a:t>8</a:t>
              </a:r>
            </a:p>
          </p:txBody>
        </p:sp>
        <p:sp>
          <p:nvSpPr>
            <p:cNvPr id="27" name="Text Box 23"/>
            <p:cNvSpPr txBox="1">
              <a:spLocks noChangeArrowheads="1"/>
            </p:cNvSpPr>
            <p:nvPr/>
          </p:nvSpPr>
          <p:spPr bwMode="auto">
            <a:xfrm>
              <a:off x="6495677" y="1659155"/>
              <a:ext cx="4984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a:solidFill>
                    <a:srgbClr val="0000FF"/>
                  </a:solidFill>
                  <a:latin typeface="微软雅黑" pitchFamily="34" charset="-122"/>
                  <a:ea typeface="微软雅黑" pitchFamily="34" charset="-122"/>
                </a:rPr>
                <a:t>16</a:t>
              </a:r>
            </a:p>
          </p:txBody>
        </p:sp>
        <p:sp>
          <p:nvSpPr>
            <p:cNvPr id="28" name="Rectangle 24"/>
            <p:cNvSpPr>
              <a:spLocks noChangeArrowheads="1"/>
            </p:cNvSpPr>
            <p:nvPr/>
          </p:nvSpPr>
          <p:spPr bwMode="auto">
            <a:xfrm>
              <a:off x="5166909" y="5367165"/>
              <a:ext cx="1442295" cy="2988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9" name="Text Box 25"/>
            <p:cNvSpPr txBox="1">
              <a:spLocks noChangeArrowheads="1"/>
            </p:cNvSpPr>
            <p:nvPr/>
          </p:nvSpPr>
          <p:spPr bwMode="auto">
            <a:xfrm>
              <a:off x="9555776" y="1659155"/>
              <a:ext cx="4984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dirty="0">
                  <a:solidFill>
                    <a:srgbClr val="0000FF"/>
                  </a:solidFill>
                  <a:latin typeface="微软雅黑" pitchFamily="34" charset="-122"/>
                  <a:ea typeface="微软雅黑" pitchFamily="34" charset="-122"/>
                </a:rPr>
                <a:t>31</a:t>
              </a:r>
            </a:p>
          </p:txBody>
        </p:sp>
        <p:sp>
          <p:nvSpPr>
            <p:cNvPr id="30" name="Text Box 26"/>
            <p:cNvSpPr txBox="1">
              <a:spLocks noChangeArrowheads="1"/>
            </p:cNvSpPr>
            <p:nvPr/>
          </p:nvSpPr>
          <p:spPr bwMode="auto">
            <a:xfrm>
              <a:off x="5079533" y="5303880"/>
              <a:ext cx="1673123"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900" dirty="0">
                  <a:solidFill>
                    <a:srgbClr val="C00000"/>
                  </a:solidFill>
                  <a:latin typeface="微软雅黑" pitchFamily="34" charset="-122"/>
                  <a:ea typeface="微软雅黑" pitchFamily="34" charset="-122"/>
                </a:rPr>
                <a:t>IP </a:t>
              </a:r>
              <a:r>
                <a:rPr kumimoji="1" lang="zh-CN" altLang="en-US" sz="1900" dirty="0">
                  <a:solidFill>
                    <a:srgbClr val="C00000"/>
                  </a:solidFill>
                  <a:latin typeface="微软雅黑" pitchFamily="34" charset="-122"/>
                  <a:ea typeface="微软雅黑" pitchFamily="34" charset="-122"/>
                </a:rPr>
                <a:t>数据报</a:t>
              </a:r>
            </a:p>
          </p:txBody>
        </p:sp>
        <p:sp>
          <p:nvSpPr>
            <p:cNvPr id="31" name="Line 27"/>
            <p:cNvSpPr>
              <a:spLocks noChangeShapeType="1"/>
            </p:cNvSpPr>
            <p:nvPr/>
          </p:nvSpPr>
          <p:spPr bwMode="auto">
            <a:xfrm rot="16200000">
              <a:off x="6718904" y="-388182"/>
              <a:ext cx="0" cy="6344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32" name="Text Box 29"/>
            <p:cNvSpPr txBox="1">
              <a:spLocks noChangeArrowheads="1"/>
            </p:cNvSpPr>
            <p:nvPr/>
          </p:nvSpPr>
          <p:spPr bwMode="auto">
            <a:xfrm>
              <a:off x="4719244" y="2991653"/>
              <a:ext cx="4385170"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的数据部分（长度取决于类型）</a:t>
              </a:r>
            </a:p>
          </p:txBody>
        </p:sp>
        <p:grpSp>
          <p:nvGrpSpPr>
            <p:cNvPr id="33" name="组合 32"/>
            <p:cNvGrpSpPr/>
            <p:nvPr/>
          </p:nvGrpSpPr>
          <p:grpSpPr>
            <a:xfrm>
              <a:off x="4002971" y="1984423"/>
              <a:ext cx="4793527" cy="384722"/>
              <a:chOff x="3002229" y="1488315"/>
              <a:chExt cx="3595146" cy="288541"/>
            </a:xfrm>
          </p:grpSpPr>
          <p:sp>
            <p:nvSpPr>
              <p:cNvPr id="34" name="Text Box 18"/>
              <p:cNvSpPr txBox="1">
                <a:spLocks noChangeArrowheads="1"/>
              </p:cNvSpPr>
              <p:nvPr/>
            </p:nvSpPr>
            <p:spPr bwMode="auto">
              <a:xfrm>
                <a:off x="5910649" y="1488315"/>
                <a:ext cx="686726" cy="288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900" dirty="0">
                    <a:latin typeface="微软雅黑" pitchFamily="34" charset="-122"/>
                    <a:ea typeface="微软雅黑" pitchFamily="34" charset="-122"/>
                  </a:rPr>
                  <a:t>检验和</a:t>
                </a:r>
              </a:p>
            </p:txBody>
          </p:sp>
          <p:sp>
            <p:nvSpPr>
              <p:cNvPr id="35" name="Text Box 19"/>
              <p:cNvSpPr txBox="1">
                <a:spLocks noChangeArrowheads="1"/>
              </p:cNvSpPr>
              <p:nvPr/>
            </p:nvSpPr>
            <p:spPr bwMode="auto">
              <a:xfrm>
                <a:off x="3002229" y="1488315"/>
                <a:ext cx="503984" cy="288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900" dirty="0">
                    <a:latin typeface="微软雅黑" pitchFamily="34" charset="-122"/>
                    <a:ea typeface="微软雅黑" pitchFamily="34" charset="-122"/>
                  </a:rPr>
                  <a:t>类型</a:t>
                </a:r>
              </a:p>
            </p:txBody>
          </p:sp>
          <p:sp>
            <p:nvSpPr>
              <p:cNvPr id="36" name="Text Box 20"/>
              <p:cNvSpPr txBox="1">
                <a:spLocks noChangeArrowheads="1"/>
              </p:cNvSpPr>
              <p:nvPr/>
            </p:nvSpPr>
            <p:spPr bwMode="auto">
              <a:xfrm>
                <a:off x="4259292" y="1488315"/>
                <a:ext cx="503984" cy="288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900" dirty="0">
                    <a:latin typeface="微软雅黑" pitchFamily="34" charset="-122"/>
                    <a:ea typeface="微软雅黑" pitchFamily="34" charset="-122"/>
                  </a:rPr>
                  <a:t>代码</a:t>
                </a:r>
              </a:p>
            </p:txBody>
          </p:sp>
        </p:grpSp>
      </p:grpSp>
      <p:sp>
        <p:nvSpPr>
          <p:cNvPr id="39" name="标题 1"/>
          <p:cNvSpPr txBox="1">
            <a:spLocks/>
          </p:cNvSpPr>
          <p:nvPr/>
        </p:nvSpPr>
        <p:spPr>
          <a:xfrm>
            <a:off x="1294193" y="348193"/>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r>
              <a:rPr lang="en-US" altLang="zh-CN" dirty="0">
                <a:latin typeface="微软雅黑" pitchFamily="34" charset="-122"/>
                <a:ea typeface="微软雅黑" pitchFamily="34" charset="-122"/>
              </a:rPr>
              <a:t>ICMP </a:t>
            </a:r>
            <a:r>
              <a:rPr lang="zh-CN" altLang="en-US" dirty="0">
                <a:latin typeface="微软雅黑" pitchFamily="34" charset="-122"/>
                <a:ea typeface="微软雅黑" pitchFamily="34" charset="-122"/>
              </a:rPr>
              <a:t>报文格式 </a:t>
            </a:r>
            <a:r>
              <a:rPr lang="zh-CN" altLang="en-US" dirty="0">
                <a:solidFill>
                  <a:schemeClr val="bg1"/>
                </a:solidFill>
                <a:latin typeface="微软雅黑" pitchFamily="34" charset="-122"/>
                <a:ea typeface="微软雅黑" pitchFamily="34" charset="-122"/>
              </a:rPr>
              <a:t>格式 </a:t>
            </a:r>
          </a:p>
        </p:txBody>
      </p:sp>
      <p:sp>
        <p:nvSpPr>
          <p:cNvPr id="40" name="内容占位符 2"/>
          <p:cNvSpPr>
            <a:spLocks noGrp="1"/>
          </p:cNvSpPr>
          <p:nvPr>
            <p:ph idx="1"/>
          </p:nvPr>
        </p:nvSpPr>
        <p:spPr>
          <a:xfrm>
            <a:off x="838201" y="5366352"/>
            <a:ext cx="9921948" cy="882048"/>
          </a:xfrm>
        </p:spPr>
        <p:txBody>
          <a:bodyPr>
            <a:normAutofit fontScale="92500" lnSpcReduction="20000"/>
          </a:bodyPr>
          <a:lstStyle/>
          <a:p>
            <a:pPr>
              <a:lnSpc>
                <a:spcPct val="120000"/>
              </a:lnSpc>
            </a:pP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报文的前 </a:t>
            </a:r>
            <a:r>
              <a:rPr lang="en-US" altLang="zh-CN" sz="2400" dirty="0">
                <a:latin typeface="微软雅黑" pitchFamily="34" charset="-122"/>
                <a:ea typeface="微软雅黑" pitchFamily="34" charset="-122"/>
              </a:rPr>
              <a:t>4 </a:t>
            </a:r>
            <a:r>
              <a:rPr lang="zh-CN" altLang="en-US" sz="2400" dirty="0">
                <a:latin typeface="微软雅黑" pitchFamily="34" charset="-122"/>
                <a:ea typeface="微软雅黑" pitchFamily="34" charset="-122"/>
              </a:rPr>
              <a:t>个字节包含格式统一的三个字段：类型、代码、检验和</a:t>
            </a:r>
            <a:endParaRPr lang="en-US" altLang="zh-CN" sz="2400" dirty="0">
              <a:latin typeface="微软雅黑" pitchFamily="34" charset="-122"/>
              <a:ea typeface="微软雅黑" pitchFamily="34" charset="-122"/>
            </a:endParaRPr>
          </a:p>
          <a:p>
            <a:pPr>
              <a:lnSpc>
                <a:spcPct val="120000"/>
              </a:lnSpc>
            </a:pPr>
            <a:r>
              <a:rPr lang="zh-CN" altLang="en-US" sz="2400" dirty="0">
                <a:latin typeface="微软雅黑" pitchFamily="34" charset="-122"/>
                <a:ea typeface="微软雅黑" pitchFamily="34" charset="-122"/>
              </a:rPr>
              <a:t>相邻的后四个字节内容与</a:t>
            </a: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的报文类型有关</a:t>
            </a:r>
            <a:endParaRPr lang="en-US" altLang="zh-CN" dirty="0">
              <a:latin typeface="微软雅黑" pitchFamily="34" charset="-122"/>
              <a:ea typeface="微软雅黑" pitchFamily="34" charset="-122"/>
            </a:endParaRPr>
          </a:p>
          <a:p>
            <a:endParaRPr lang="en-US" altLang="zh-CN" dirty="0">
              <a:latin typeface="微软雅黑" pitchFamily="34" charset="-122"/>
              <a:ea typeface="微软雅黑" pitchFamily="34" charset="-122"/>
            </a:endParaRPr>
          </a:p>
          <a:p>
            <a:endParaRPr lang="en-US" altLang="zh-CN" dirty="0">
              <a:latin typeface="微软雅黑" pitchFamily="34" charset="-122"/>
              <a:ea typeface="微软雅黑" pitchFamily="34" charset="-122"/>
            </a:endParaRPr>
          </a:p>
          <a:p>
            <a:endParaRPr lang="zh-CN" altLang="en-US" dirty="0"/>
          </a:p>
        </p:txBody>
      </p:sp>
      <p:sp>
        <p:nvSpPr>
          <p:cNvPr id="2" name="日期占位符 1"/>
          <p:cNvSpPr>
            <a:spLocks noGrp="1"/>
          </p:cNvSpPr>
          <p:nvPr>
            <p:ph type="dt" sz="half" idx="10"/>
          </p:nvPr>
        </p:nvSpPr>
        <p:spPr/>
        <p:txBody>
          <a:bodyPr/>
          <a:lstStyle/>
          <a:p>
            <a:r>
              <a:rPr kumimoji="1" lang="en-US" altLang="zh-CN" dirty="0"/>
              <a:t>5.6.6 Internet</a:t>
            </a:r>
            <a:r>
              <a:rPr kumimoji="1" lang="zh-CN" altLang="en-US" dirty="0"/>
              <a:t>控制报文协议</a:t>
            </a:r>
          </a:p>
        </p:txBody>
      </p:sp>
    </p:spTree>
    <p:extLst>
      <p:ext uri="{BB962C8B-B14F-4D97-AF65-F5344CB8AC3E}">
        <p14:creationId xmlns:p14="http://schemas.microsoft.com/office/powerpoint/2010/main" val="2752379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0">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0">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90000"/>
              </a:lnSpc>
              <a:spcBef>
                <a:spcPct val="0"/>
              </a:spcBef>
            </a:pPr>
            <a:r>
              <a:rPr lang="en-US" altLang="zh-CN" sz="4000" dirty="0">
                <a:latin typeface="微软雅黑" pitchFamily="34" charset="-122"/>
                <a:ea typeface="微软雅黑" pitchFamily="34" charset="-122"/>
              </a:rPr>
              <a:t>ICMP</a:t>
            </a:r>
            <a:r>
              <a:rPr lang="zh-CN" altLang="en-US" sz="4000" dirty="0">
                <a:latin typeface="微软雅黑" pitchFamily="34" charset="-122"/>
                <a:ea typeface="微软雅黑" pitchFamily="34" charset="-122"/>
              </a:rPr>
              <a:t>报文类型及功能</a:t>
            </a:r>
          </a:p>
        </p:txBody>
      </p:sp>
      <p:graphicFrame>
        <p:nvGraphicFramePr>
          <p:cNvPr id="6" name="内容占位符 5"/>
          <p:cNvGraphicFramePr>
            <a:graphicFrameLocks noGrp="1"/>
          </p:cNvGraphicFramePr>
          <p:nvPr>
            <p:ph idx="1"/>
          </p:nvPr>
        </p:nvGraphicFramePr>
        <p:xfrm>
          <a:off x="821661" y="1544674"/>
          <a:ext cx="6674292" cy="3277728"/>
        </p:xfrm>
        <a:graphic>
          <a:graphicData uri="http://schemas.openxmlformats.org/drawingml/2006/table">
            <a:tbl>
              <a:tblPr firstRow="1" bandRow="1">
                <a:tableStyleId>{5C22544A-7EE6-4342-B048-85BDC9FD1C3A}</a:tableStyleId>
              </a:tblPr>
              <a:tblGrid>
                <a:gridCol w="1382120">
                  <a:extLst>
                    <a:ext uri="{9D8B030D-6E8A-4147-A177-3AD203B41FA5}">
                      <a16:colId xmlns:a16="http://schemas.microsoft.com/office/drawing/2014/main" val="20000"/>
                    </a:ext>
                  </a:extLst>
                </a:gridCol>
                <a:gridCol w="1374975">
                  <a:extLst>
                    <a:ext uri="{9D8B030D-6E8A-4147-A177-3AD203B41FA5}">
                      <a16:colId xmlns:a16="http://schemas.microsoft.com/office/drawing/2014/main" val="20001"/>
                    </a:ext>
                  </a:extLst>
                </a:gridCol>
                <a:gridCol w="3917197">
                  <a:extLst>
                    <a:ext uri="{9D8B030D-6E8A-4147-A177-3AD203B41FA5}">
                      <a16:colId xmlns:a16="http://schemas.microsoft.com/office/drawing/2014/main" val="20002"/>
                    </a:ext>
                  </a:extLst>
                </a:gridCol>
              </a:tblGrid>
              <a:tr h="429448">
                <a:tc>
                  <a:txBody>
                    <a:bodyPr/>
                    <a:lstStyle/>
                    <a:p>
                      <a:pPr algn="ctr"/>
                      <a:r>
                        <a:rPr lang="en-US" altLang="zh-CN" sz="2000" dirty="0">
                          <a:latin typeface="微软雅黑" pitchFamily="34" charset="-122"/>
                          <a:ea typeface="微软雅黑" pitchFamily="34" charset="-122"/>
                        </a:rPr>
                        <a:t>ICMP</a:t>
                      </a:r>
                      <a:r>
                        <a:rPr lang="zh-CN" altLang="en-US" sz="2000" dirty="0">
                          <a:latin typeface="微软雅黑" pitchFamily="34" charset="-122"/>
                          <a:ea typeface="微软雅黑" pitchFamily="34" charset="-122"/>
                        </a:rPr>
                        <a:t>报文类型</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2000" dirty="0">
                          <a:latin typeface="微软雅黑" pitchFamily="34" charset="-122"/>
                          <a:ea typeface="微软雅黑" pitchFamily="34" charset="-122"/>
                        </a:rPr>
                        <a:t>类型值</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2000" dirty="0">
                          <a:latin typeface="微软雅黑" pitchFamily="34" charset="-122"/>
                          <a:ea typeface="微软雅黑" pitchFamily="34" charset="-122"/>
                        </a:rPr>
                        <a:t>功能描述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429448">
                <a:tc rowSpan="4">
                  <a:txBody>
                    <a:bodyPr/>
                    <a:lstStyle/>
                    <a:p>
                      <a:pPr algn="ctr"/>
                      <a:r>
                        <a:rPr lang="zh-CN" altLang="en-US" b="0" dirty="0">
                          <a:latin typeface="微软雅黑" pitchFamily="34" charset="-122"/>
                          <a:ea typeface="微软雅黑" pitchFamily="34" charset="-122"/>
                        </a:rPr>
                        <a:t>差错报告报文</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latin typeface="微软雅黑" pitchFamily="34" charset="-122"/>
                          <a:ea typeface="微软雅黑" pitchFamily="34" charset="-122"/>
                        </a:rPr>
                        <a:t>3</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终点不可达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429448">
                <a:tc vMerge="1">
                  <a:txBody>
                    <a:bodyPr/>
                    <a:lstStyle/>
                    <a:p>
                      <a:endParaRPr lang="zh-CN" altLang="en-US"/>
                    </a:p>
                  </a:txBody>
                  <a:tcPr/>
                </a:tc>
                <a:tc>
                  <a:txBody>
                    <a:bodyPr/>
                    <a:lstStyle/>
                    <a:p>
                      <a:pPr algn="ctr"/>
                      <a:r>
                        <a:rPr lang="en-US" altLang="zh-CN" dirty="0">
                          <a:latin typeface="微软雅黑" pitchFamily="34" charset="-122"/>
                          <a:ea typeface="微软雅黑" pitchFamily="34" charset="-122"/>
                        </a:rPr>
                        <a:t>5</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改变路由</a:t>
                      </a:r>
                      <a:r>
                        <a:rPr lang="en-US" altLang="zh-CN" dirty="0">
                          <a:latin typeface="微软雅黑" pitchFamily="34" charset="-122"/>
                          <a:ea typeface="微软雅黑" pitchFamily="34" charset="-122"/>
                        </a:rPr>
                        <a:t>(Redirect)</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429448">
                <a:tc vMerge="1">
                  <a:txBody>
                    <a:bodyPr/>
                    <a:lstStyle/>
                    <a:p>
                      <a:endParaRPr lang="zh-CN" altLang="en-US"/>
                    </a:p>
                  </a:txBody>
                  <a:tcPr/>
                </a:tc>
                <a:tc>
                  <a:txBody>
                    <a:bodyPr/>
                    <a:lstStyle/>
                    <a:p>
                      <a:pPr algn="ctr"/>
                      <a:r>
                        <a:rPr lang="en-US" altLang="zh-CN" dirty="0">
                          <a:latin typeface="微软雅黑" pitchFamily="34" charset="-122"/>
                          <a:ea typeface="微软雅黑" pitchFamily="34" charset="-122"/>
                        </a:rPr>
                        <a:t>11</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时间超时</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429448">
                <a:tc vMerge="1">
                  <a:txBody>
                    <a:bodyPr/>
                    <a:lstStyle/>
                    <a:p>
                      <a:endParaRPr lang="zh-CN" altLang="en-US"/>
                    </a:p>
                  </a:txBody>
                  <a:tcPr/>
                </a:tc>
                <a:tc>
                  <a:txBody>
                    <a:bodyPr/>
                    <a:lstStyle/>
                    <a:p>
                      <a:pPr algn="ctr"/>
                      <a:r>
                        <a:rPr lang="en-US" altLang="zh-CN" dirty="0">
                          <a:latin typeface="微软雅黑" pitchFamily="34" charset="-122"/>
                          <a:ea typeface="微软雅黑" pitchFamily="34" charset="-122"/>
                        </a:rPr>
                        <a:t>12</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参数问题</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429448">
                <a:tc rowSpan="2">
                  <a:txBody>
                    <a:bodyPr/>
                    <a:lstStyle/>
                    <a:p>
                      <a:pPr algn="ctr"/>
                      <a:r>
                        <a:rPr lang="zh-CN" altLang="en-US" b="0" dirty="0">
                          <a:latin typeface="微软雅黑" pitchFamily="34" charset="-122"/>
                          <a:ea typeface="微软雅黑" pitchFamily="34" charset="-122"/>
                        </a:rPr>
                        <a:t>询问报文</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latin typeface="微软雅黑" pitchFamily="34" charset="-122"/>
                          <a:ea typeface="微软雅黑" pitchFamily="34" charset="-122"/>
                        </a:rPr>
                        <a:t>8</a:t>
                      </a:r>
                      <a:r>
                        <a:rPr lang="zh-CN" altLang="en-US" dirty="0">
                          <a:latin typeface="微软雅黑" pitchFamily="34" charset="-122"/>
                          <a:ea typeface="微软雅黑" pitchFamily="34" charset="-122"/>
                        </a:rPr>
                        <a:t>或</a:t>
                      </a:r>
                      <a:r>
                        <a:rPr lang="en-US" altLang="zh-CN" dirty="0">
                          <a:latin typeface="微软雅黑" pitchFamily="34" charset="-122"/>
                          <a:ea typeface="微软雅黑" pitchFamily="34" charset="-122"/>
                        </a:rPr>
                        <a:t>0</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回送</a:t>
                      </a:r>
                      <a:r>
                        <a:rPr lang="en-US" altLang="zh-CN" dirty="0">
                          <a:latin typeface="微软雅黑" pitchFamily="34" charset="-122"/>
                          <a:ea typeface="微软雅黑" pitchFamily="34" charset="-122"/>
                        </a:rPr>
                        <a:t>(Echo)</a:t>
                      </a:r>
                      <a:r>
                        <a:rPr lang="zh-CN" altLang="en-US" dirty="0">
                          <a:latin typeface="微软雅黑" pitchFamily="34" charset="-122"/>
                          <a:ea typeface="微软雅黑" pitchFamily="34" charset="-122"/>
                        </a:rPr>
                        <a:t>请求或应答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429448">
                <a:tc vMerge="1">
                  <a:txBody>
                    <a:bodyPr/>
                    <a:lstStyle/>
                    <a:p>
                      <a:endParaRPr lang="zh-CN" altLang="en-US" dirty="0"/>
                    </a:p>
                  </a:txBody>
                  <a:tcPr/>
                </a:tc>
                <a:tc>
                  <a:txBody>
                    <a:bodyPr/>
                    <a:lstStyle/>
                    <a:p>
                      <a:pPr algn="ctr"/>
                      <a:r>
                        <a:rPr lang="en-US" altLang="zh-CN" dirty="0">
                          <a:latin typeface="微软雅黑" pitchFamily="34" charset="-122"/>
                          <a:ea typeface="微软雅黑" pitchFamily="34" charset="-122"/>
                        </a:rPr>
                        <a:t>13</a:t>
                      </a:r>
                      <a:r>
                        <a:rPr lang="zh-CN" altLang="en-US" dirty="0">
                          <a:latin typeface="微软雅黑" pitchFamily="34" charset="-122"/>
                          <a:ea typeface="微软雅黑" pitchFamily="34" charset="-122"/>
                        </a:rPr>
                        <a:t>或</a:t>
                      </a:r>
                      <a:r>
                        <a:rPr lang="en-US" altLang="zh-CN" dirty="0">
                          <a:latin typeface="微软雅黑" pitchFamily="34" charset="-122"/>
                          <a:ea typeface="微软雅黑" pitchFamily="34" charset="-122"/>
                        </a:rPr>
                        <a:t>14</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时间戳</a:t>
                      </a:r>
                      <a:r>
                        <a:rPr lang="en-US" altLang="zh-CN" dirty="0">
                          <a:latin typeface="微软雅黑" pitchFamily="34" charset="-122"/>
                          <a:ea typeface="微软雅黑" pitchFamily="34" charset="-122"/>
                        </a:rPr>
                        <a:t>(Timestamp)</a:t>
                      </a:r>
                      <a:r>
                        <a:rPr lang="zh-CN" altLang="en-US" dirty="0">
                          <a:latin typeface="微软雅黑" pitchFamily="34" charset="-122"/>
                          <a:ea typeface="微软雅黑" pitchFamily="34" charset="-122"/>
                        </a:rPr>
                        <a:t>请求或回答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
        <p:nvSpPr>
          <p:cNvPr id="4" name="灯片编号占位符 3"/>
          <p:cNvSpPr>
            <a:spLocks noGrp="1"/>
          </p:cNvSpPr>
          <p:nvPr>
            <p:ph type="sldNum" sz="quarter" idx="12"/>
          </p:nvPr>
        </p:nvSpPr>
        <p:spPr/>
        <p:txBody>
          <a:bodyPr/>
          <a:lstStyle/>
          <a:p>
            <a:fld id="{8D4D1E41-7A09-AB4A-A4E1-09765ADA2698}" type="slidenum">
              <a:rPr kumimoji="1" lang="zh-CN" altLang="en-US" smtClean="0"/>
              <a:t>151</a:t>
            </a:fld>
            <a:endParaRPr kumimoji="1" lang="zh-CN" altLang="en-US" dirty="0"/>
          </a:p>
        </p:txBody>
      </p:sp>
      <p:sp>
        <p:nvSpPr>
          <p:cNvPr id="8" name="TextBox 7"/>
          <p:cNvSpPr txBox="1"/>
          <p:nvPr/>
        </p:nvSpPr>
        <p:spPr>
          <a:xfrm>
            <a:off x="967267" y="5137442"/>
            <a:ext cx="6071486" cy="646331"/>
          </a:xfrm>
          <a:prstGeom prst="rect">
            <a:avLst/>
          </a:prstGeom>
          <a:noFill/>
        </p:spPr>
        <p:txBody>
          <a:bodyPr wrap="square" rtlCol="0">
            <a:spAutoFit/>
          </a:bodyPr>
          <a:lstStyle/>
          <a:p>
            <a:r>
              <a:rPr lang="zh-CN" altLang="en-US" dirty="0">
                <a:ea typeface="微软雅黑" pitchFamily="34" charset="-122"/>
              </a:rPr>
              <a:t>注：根据</a:t>
            </a:r>
            <a:r>
              <a:rPr lang="en-US" altLang="zh-CN" dirty="0">
                <a:ea typeface="微软雅黑" pitchFamily="34" charset="-122"/>
              </a:rPr>
              <a:t>RFC 6633</a:t>
            </a:r>
            <a:r>
              <a:rPr lang="zh-CN" altLang="en-US" dirty="0">
                <a:ea typeface="微软雅黑" pitchFamily="34" charset="-122"/>
              </a:rPr>
              <a:t>规定，已不再使用类型值为</a:t>
            </a:r>
            <a:r>
              <a:rPr lang="en-US" altLang="zh-CN" dirty="0">
                <a:ea typeface="微软雅黑" pitchFamily="34" charset="-122"/>
              </a:rPr>
              <a:t>4</a:t>
            </a:r>
            <a:r>
              <a:rPr lang="zh-CN" altLang="en-US" dirty="0">
                <a:ea typeface="微软雅黑" pitchFamily="34" charset="-122"/>
              </a:rPr>
              <a:t>、</a:t>
            </a:r>
            <a:r>
              <a:rPr lang="en-US" altLang="zh-CN" dirty="0">
                <a:ea typeface="微软雅黑" pitchFamily="34" charset="-122"/>
              </a:rPr>
              <a:t>10</a:t>
            </a:r>
            <a:r>
              <a:rPr lang="zh-CN" altLang="en-US" dirty="0">
                <a:ea typeface="微软雅黑" pitchFamily="34" charset="-122"/>
              </a:rPr>
              <a:t>或</a:t>
            </a:r>
            <a:r>
              <a:rPr lang="en-US" altLang="zh-CN" dirty="0">
                <a:ea typeface="微软雅黑" pitchFamily="34" charset="-122"/>
              </a:rPr>
              <a:t>9</a:t>
            </a:r>
            <a:r>
              <a:rPr lang="zh-CN" altLang="en-US" dirty="0">
                <a:ea typeface="微软雅黑" pitchFamily="34" charset="-122"/>
              </a:rPr>
              <a:t>、</a:t>
            </a:r>
            <a:r>
              <a:rPr lang="en-US" altLang="zh-CN" dirty="0">
                <a:ea typeface="微软雅黑" pitchFamily="34" charset="-122"/>
              </a:rPr>
              <a:t>15</a:t>
            </a:r>
            <a:r>
              <a:rPr lang="zh-CN" altLang="en-US" dirty="0">
                <a:ea typeface="微软雅黑" pitchFamily="34" charset="-122"/>
              </a:rPr>
              <a:t>或</a:t>
            </a:r>
            <a:r>
              <a:rPr lang="en-US" altLang="zh-CN" dirty="0">
                <a:ea typeface="微软雅黑" pitchFamily="34" charset="-122"/>
              </a:rPr>
              <a:t>16</a:t>
            </a:r>
            <a:r>
              <a:rPr lang="zh-CN" altLang="en-US" dirty="0">
                <a:ea typeface="微软雅黑" pitchFamily="34" charset="-122"/>
              </a:rPr>
              <a:t>、</a:t>
            </a:r>
            <a:r>
              <a:rPr lang="en-US" altLang="zh-CN" dirty="0">
                <a:ea typeface="微软雅黑" pitchFamily="34" charset="-122"/>
              </a:rPr>
              <a:t>17</a:t>
            </a:r>
            <a:r>
              <a:rPr lang="zh-CN" altLang="en-US" dirty="0">
                <a:ea typeface="微软雅黑" pitchFamily="34" charset="-122"/>
              </a:rPr>
              <a:t>或</a:t>
            </a:r>
            <a:r>
              <a:rPr lang="en-US" altLang="zh-CN" dirty="0">
                <a:ea typeface="微软雅黑" pitchFamily="34" charset="-122"/>
              </a:rPr>
              <a:t>18</a:t>
            </a:r>
            <a:r>
              <a:rPr lang="zh-CN" altLang="en-US" dirty="0">
                <a:ea typeface="微软雅黑" pitchFamily="34" charset="-122"/>
              </a:rPr>
              <a:t>的报文。</a:t>
            </a:r>
          </a:p>
        </p:txBody>
      </p:sp>
      <p:sp>
        <p:nvSpPr>
          <p:cNvPr id="7" name="Text Box 4"/>
          <p:cNvSpPr txBox="1">
            <a:spLocks noChangeArrowheads="1"/>
          </p:cNvSpPr>
          <p:nvPr/>
        </p:nvSpPr>
        <p:spPr bwMode="auto">
          <a:xfrm>
            <a:off x="7619471" y="1424517"/>
            <a:ext cx="3954463" cy="4450449"/>
          </a:xfrm>
          <a:prstGeom prst="rect">
            <a:avLst/>
          </a:prstGeom>
          <a:solidFill>
            <a:srgbClr val="FFC000"/>
          </a:solidFill>
          <a:ln>
            <a:noFill/>
          </a:ln>
        </p:spPr>
        <p:txBody>
          <a:bodyPr>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a:lnSpc>
                <a:spcPct val="120000"/>
              </a:lnSpc>
            </a:pPr>
            <a:r>
              <a:rPr lang="zh-CN" altLang="en-US" sz="2000" dirty="0">
                <a:latin typeface="微软雅黑" pitchFamily="34" charset="-122"/>
                <a:ea typeface="微软雅黑" pitchFamily="34" charset="-122"/>
              </a:rPr>
              <a:t>类型  代码    功能描述</a:t>
            </a:r>
          </a:p>
          <a:p>
            <a:pPr>
              <a:lnSpc>
                <a:spcPct val="120000"/>
              </a:lnSpc>
            </a:pPr>
            <a:r>
              <a:rPr lang="en-US" altLang="zh-CN" sz="1800" dirty="0">
                <a:latin typeface="微软雅黑" pitchFamily="34" charset="-122"/>
                <a:ea typeface="微软雅黑" pitchFamily="34" charset="-122"/>
              </a:rPr>
              <a:t>0        0         </a:t>
            </a:r>
            <a:r>
              <a:rPr lang="zh-CN" altLang="en-US" sz="1800" dirty="0">
                <a:latin typeface="微软雅黑" pitchFamily="34" charset="-122"/>
                <a:ea typeface="微软雅黑" pitchFamily="34" charset="-122"/>
              </a:rPr>
              <a:t>回送应答 </a:t>
            </a:r>
            <a:r>
              <a:rPr lang="en-US" altLang="zh-CN" sz="1800" dirty="0">
                <a:latin typeface="微软雅黑" pitchFamily="34" charset="-122"/>
                <a:ea typeface="微软雅黑" pitchFamily="34" charset="-122"/>
              </a:rPr>
              <a:t>(ping)</a:t>
            </a:r>
          </a:p>
          <a:p>
            <a:pPr>
              <a:lnSpc>
                <a:spcPct val="120000"/>
              </a:lnSpc>
            </a:pPr>
            <a:r>
              <a:rPr lang="en-US" altLang="zh-CN" sz="1800" dirty="0">
                <a:latin typeface="微软雅黑" pitchFamily="34" charset="-122"/>
                <a:ea typeface="微软雅黑" pitchFamily="34" charset="-122"/>
              </a:rPr>
              <a:t>3        0         </a:t>
            </a:r>
            <a:r>
              <a:rPr lang="zh-CN" altLang="en-US" sz="1800" dirty="0">
                <a:latin typeface="微软雅黑" pitchFamily="34" charset="-122"/>
                <a:ea typeface="微软雅黑" pitchFamily="34" charset="-122"/>
              </a:rPr>
              <a:t>目的网络不可达</a:t>
            </a:r>
          </a:p>
          <a:p>
            <a:pPr>
              <a:lnSpc>
                <a:spcPct val="120000"/>
              </a:lnSpc>
            </a:pPr>
            <a:r>
              <a:rPr lang="en-US" altLang="zh-CN" sz="1800" dirty="0">
                <a:latin typeface="微软雅黑" pitchFamily="34" charset="-122"/>
                <a:ea typeface="微软雅黑" pitchFamily="34" charset="-122"/>
              </a:rPr>
              <a:t>3        1         </a:t>
            </a:r>
            <a:r>
              <a:rPr lang="zh-CN" altLang="en-US" sz="1800" dirty="0">
                <a:latin typeface="微软雅黑" pitchFamily="34" charset="-122"/>
                <a:ea typeface="微软雅黑" pitchFamily="34" charset="-122"/>
              </a:rPr>
              <a:t>目的主机不可达</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3        2         </a:t>
            </a:r>
            <a:r>
              <a:rPr lang="zh-CN" altLang="en-US" sz="1800" dirty="0">
                <a:latin typeface="微软雅黑" pitchFamily="34" charset="-122"/>
                <a:ea typeface="微软雅黑" pitchFamily="34" charset="-122"/>
              </a:rPr>
              <a:t>目的协议不可达</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3        3         </a:t>
            </a:r>
            <a:r>
              <a:rPr lang="zh-CN" altLang="en-US" sz="1800" dirty="0">
                <a:latin typeface="微软雅黑" pitchFamily="34" charset="-122"/>
                <a:ea typeface="微软雅黑" pitchFamily="34" charset="-122"/>
              </a:rPr>
              <a:t>目的端口不可达</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3        6         </a:t>
            </a:r>
            <a:r>
              <a:rPr lang="zh-CN" altLang="en-US" sz="1800" dirty="0">
                <a:latin typeface="微软雅黑" pitchFamily="34" charset="-122"/>
                <a:ea typeface="微软雅黑" pitchFamily="34" charset="-122"/>
              </a:rPr>
              <a:t>目的网络未知</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3        7         </a:t>
            </a:r>
            <a:r>
              <a:rPr lang="zh-CN" altLang="en-US" sz="1800" dirty="0">
                <a:latin typeface="微软雅黑" pitchFamily="34" charset="-122"/>
                <a:ea typeface="微软雅黑" pitchFamily="34" charset="-122"/>
              </a:rPr>
              <a:t>目的主机未知</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8        0         </a:t>
            </a:r>
            <a:r>
              <a:rPr lang="zh-CN" altLang="en-US" sz="1800" dirty="0">
                <a:latin typeface="微软雅黑" pitchFamily="34" charset="-122"/>
                <a:ea typeface="微软雅黑" pitchFamily="34" charset="-122"/>
              </a:rPr>
              <a:t>回送请求</a:t>
            </a:r>
            <a:r>
              <a:rPr lang="en-US" altLang="zh-CN" sz="1800" dirty="0">
                <a:latin typeface="微软雅黑" pitchFamily="34" charset="-122"/>
                <a:ea typeface="微软雅黑" pitchFamily="34" charset="-122"/>
              </a:rPr>
              <a:t> (ping)</a:t>
            </a:r>
          </a:p>
          <a:p>
            <a:pPr>
              <a:lnSpc>
                <a:spcPct val="120000"/>
              </a:lnSpc>
            </a:pPr>
            <a:r>
              <a:rPr lang="en-US" altLang="zh-CN" sz="1800" dirty="0">
                <a:latin typeface="微软雅黑" pitchFamily="34" charset="-122"/>
                <a:ea typeface="微软雅黑" pitchFamily="34" charset="-122"/>
              </a:rPr>
              <a:t>9        0         </a:t>
            </a:r>
            <a:r>
              <a:rPr lang="zh-CN" altLang="en-US" sz="1800" dirty="0">
                <a:latin typeface="微软雅黑" pitchFamily="34" charset="-122"/>
                <a:ea typeface="微软雅黑" pitchFamily="34" charset="-122"/>
                <a:cs typeface="Times New Roman" panose="02020603050405020304" pitchFamily="18" charset="0"/>
              </a:rPr>
              <a:t>路由通告</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10      0         </a:t>
            </a:r>
            <a:r>
              <a:rPr lang="zh-CN" altLang="en-US" sz="1800" dirty="0">
                <a:latin typeface="微软雅黑" pitchFamily="34" charset="-122"/>
                <a:ea typeface="微软雅黑" pitchFamily="34" charset="-122"/>
                <a:cs typeface="Times New Roman" panose="02020603050405020304" pitchFamily="18" charset="0"/>
              </a:rPr>
              <a:t>路由发现</a:t>
            </a:r>
            <a:endParaRPr lang="en-US" altLang="zh-CN" sz="1800" dirty="0">
              <a:latin typeface="微软雅黑" pitchFamily="34" charset="-122"/>
              <a:ea typeface="微软雅黑" pitchFamily="34" charset="-122"/>
              <a:cs typeface="Times New Roman" panose="02020603050405020304" pitchFamily="18" charset="0"/>
            </a:endParaRPr>
          </a:p>
          <a:p>
            <a:pPr>
              <a:lnSpc>
                <a:spcPct val="120000"/>
              </a:lnSpc>
            </a:pPr>
            <a:r>
              <a:rPr lang="en-US" altLang="zh-CN" sz="1800" dirty="0">
                <a:latin typeface="微软雅黑" pitchFamily="34" charset="-122"/>
                <a:ea typeface="微软雅黑" pitchFamily="34" charset="-122"/>
              </a:rPr>
              <a:t>11      0         TTL</a:t>
            </a:r>
            <a:r>
              <a:rPr lang="zh-CN" altLang="en-US" sz="1800" dirty="0">
                <a:latin typeface="微软雅黑" pitchFamily="34" charset="-122"/>
                <a:ea typeface="微软雅黑" pitchFamily="34" charset="-122"/>
              </a:rPr>
              <a:t>过期</a:t>
            </a:r>
          </a:p>
          <a:p>
            <a:pPr>
              <a:lnSpc>
                <a:spcPct val="120000"/>
              </a:lnSpc>
            </a:pPr>
            <a:r>
              <a:rPr lang="en-US" altLang="zh-CN" sz="2000" dirty="0">
                <a:latin typeface="微软雅黑" pitchFamily="34" charset="-122"/>
                <a:ea typeface="微软雅黑" pitchFamily="34" charset="-122"/>
              </a:rPr>
              <a:t>12     0        </a:t>
            </a:r>
            <a:r>
              <a:rPr lang="zh-CN" altLang="en-US" sz="2000" dirty="0">
                <a:latin typeface="微软雅黑" pitchFamily="34" charset="-122"/>
                <a:ea typeface="微软雅黑" pitchFamily="34" charset="-122"/>
              </a:rPr>
              <a:t>坏的</a:t>
            </a:r>
            <a:r>
              <a:rPr lang="en-US" altLang="zh-CN" sz="2000" dirty="0">
                <a:latin typeface="微软雅黑" pitchFamily="34" charset="-122"/>
                <a:ea typeface="微软雅黑" pitchFamily="34" charset="-122"/>
              </a:rPr>
              <a:t>IP</a:t>
            </a:r>
            <a:r>
              <a:rPr lang="zh-CN" altLang="en-US" sz="2000" dirty="0">
                <a:latin typeface="微软雅黑" pitchFamily="34" charset="-122"/>
                <a:ea typeface="微软雅黑" pitchFamily="34" charset="-122"/>
              </a:rPr>
              <a:t>首部</a:t>
            </a:r>
            <a:endParaRPr lang="en-US" altLang="zh-CN" sz="1800" b="1" dirty="0">
              <a:latin typeface="Arial" pitchFamily="34" charset="0"/>
              <a:ea typeface="宋体" pitchFamily="2" charset="-122"/>
            </a:endParaRPr>
          </a:p>
        </p:txBody>
      </p:sp>
      <p:sp>
        <p:nvSpPr>
          <p:cNvPr id="3" name="日期占位符 2"/>
          <p:cNvSpPr>
            <a:spLocks noGrp="1"/>
          </p:cNvSpPr>
          <p:nvPr>
            <p:ph type="dt" sz="half" idx="10"/>
          </p:nvPr>
        </p:nvSpPr>
        <p:spPr/>
        <p:txBody>
          <a:bodyPr/>
          <a:lstStyle/>
          <a:p>
            <a:r>
              <a:rPr kumimoji="1" lang="en-US" altLang="zh-CN" dirty="0"/>
              <a:t>5.6.6 Internet</a:t>
            </a:r>
            <a:r>
              <a:rPr kumimoji="1" lang="zh-CN" altLang="en-US" dirty="0"/>
              <a:t>控制报文协议</a:t>
            </a:r>
          </a:p>
        </p:txBody>
      </p:sp>
      <p:pic>
        <p:nvPicPr>
          <p:cNvPr id="9" name="Picture 28" descr="015">
            <a:extLst>
              <a:ext uri="{FF2B5EF4-FFF2-40B4-BE49-F238E27FC236}">
                <a16:creationId xmlns:a16="http://schemas.microsoft.com/office/drawing/2014/main" id="{5C636820-598A-41E5-8DE6-F03410EBB5B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999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zh-CN" altLang="en-US" dirty="0">
                <a:latin typeface="微软雅黑" pitchFamily="34" charset="-122"/>
                <a:ea typeface="微软雅黑" pitchFamily="34" charset="-122"/>
              </a:rPr>
              <a:t>差错报告报文</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152</a:t>
            </a:fld>
            <a:endParaRPr kumimoji="1" lang="zh-CN" altLang="en-US" dirty="0"/>
          </a:p>
        </p:txBody>
      </p:sp>
      <p:grpSp>
        <p:nvGrpSpPr>
          <p:cNvPr id="5" name="组合 4"/>
          <p:cNvGrpSpPr/>
          <p:nvPr/>
        </p:nvGrpSpPr>
        <p:grpSpPr>
          <a:xfrm>
            <a:off x="1420355" y="1138904"/>
            <a:ext cx="9355871" cy="4664005"/>
            <a:chOff x="1420355" y="844965"/>
            <a:chExt cx="9355871" cy="4664005"/>
          </a:xfrm>
        </p:grpSpPr>
        <p:sp>
          <p:nvSpPr>
            <p:cNvPr id="7" name="Rectangle 6"/>
            <p:cNvSpPr>
              <a:spLocks noChangeArrowheads="1"/>
            </p:cNvSpPr>
            <p:nvPr/>
          </p:nvSpPr>
          <p:spPr bwMode="auto">
            <a:xfrm>
              <a:off x="3027281" y="844965"/>
              <a:ext cx="6162371" cy="533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lang="en-US" altLang="zh-CN" sz="2700" b="1" dirty="0">
                  <a:solidFill>
                    <a:schemeClr val="bg1"/>
                  </a:solidFill>
                  <a:latin typeface="微软雅黑" pitchFamily="34" charset="-122"/>
                  <a:ea typeface="微软雅黑" pitchFamily="34" charset="-122"/>
                </a:rPr>
                <a:t>ICMP </a:t>
              </a:r>
              <a:r>
                <a:rPr lang="zh-CN" altLang="en-US" sz="2700" b="1" dirty="0">
                  <a:solidFill>
                    <a:schemeClr val="bg1"/>
                  </a:solidFill>
                  <a:latin typeface="微软雅黑" pitchFamily="34" charset="-122"/>
                  <a:ea typeface="微软雅黑" pitchFamily="34" charset="-122"/>
                </a:rPr>
                <a:t>差错报告报文的数据字段的内容</a:t>
              </a:r>
            </a:p>
          </p:txBody>
        </p:sp>
        <p:grpSp>
          <p:nvGrpSpPr>
            <p:cNvPr id="9" name="组合 8"/>
            <p:cNvGrpSpPr/>
            <p:nvPr/>
          </p:nvGrpSpPr>
          <p:grpSpPr>
            <a:xfrm>
              <a:off x="1420355" y="1631049"/>
              <a:ext cx="9355871" cy="3877921"/>
              <a:chOff x="614101" y="1556792"/>
              <a:chExt cx="8731387" cy="3619077"/>
            </a:xfrm>
          </p:grpSpPr>
          <p:sp>
            <p:nvSpPr>
              <p:cNvPr id="10"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1"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2"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3" name="Text Box 7"/>
              <p:cNvSpPr txBox="1">
                <a:spLocks noChangeArrowheads="1"/>
              </p:cNvSpPr>
              <p:nvPr/>
            </p:nvSpPr>
            <p:spPr bwMode="auto">
              <a:xfrm>
                <a:off x="614101" y="4323803"/>
                <a:ext cx="853023"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b="1" dirty="0">
                    <a:solidFill>
                      <a:schemeClr val="bg1"/>
                    </a:solidFill>
                    <a:latin typeface="微软雅黑" pitchFamily="34" charset="-122"/>
                    <a:ea typeface="微软雅黑" pitchFamily="34" charset="-122"/>
                  </a:rPr>
                  <a:t>IP</a:t>
                </a:r>
                <a:r>
                  <a:rPr kumimoji="1" lang="zh-CN" altLang="en-US" sz="1900" b="1" dirty="0">
                    <a:solidFill>
                      <a:schemeClr val="bg1"/>
                    </a:solidFill>
                    <a:latin typeface="微软雅黑" pitchFamily="34" charset="-122"/>
                    <a:ea typeface="微软雅黑" pitchFamily="34" charset="-122"/>
                  </a:rPr>
                  <a:t>首部</a:t>
                </a:r>
              </a:p>
            </p:txBody>
          </p:sp>
          <p:sp>
            <p:nvSpPr>
              <p:cNvPr id="14"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5" name="Rectangle 9"/>
              <p:cNvSpPr>
                <a:spLocks noChangeArrowheads="1"/>
              </p:cNvSpPr>
              <p:nvPr/>
            </p:nvSpPr>
            <p:spPr bwMode="auto">
              <a:xfrm>
                <a:off x="2342496" y="4850853"/>
                <a:ext cx="1214173"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6" name="Text Box 10"/>
              <p:cNvSpPr txBox="1">
                <a:spLocks noChangeArrowheads="1"/>
              </p:cNvSpPr>
              <p:nvPr/>
            </p:nvSpPr>
            <p:spPr bwMode="auto">
              <a:xfrm>
                <a:off x="2362324" y="4816827"/>
                <a:ext cx="1147736" cy="359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900" dirty="0">
                    <a:latin typeface="微软雅黑" pitchFamily="34" charset="-122"/>
                    <a:ea typeface="微软雅黑" pitchFamily="34" charset="-122"/>
                  </a:rPr>
                  <a:t>IP </a:t>
                </a:r>
                <a:r>
                  <a:rPr kumimoji="1" lang="zh-CN" altLang="en-US" sz="1900" dirty="0">
                    <a:latin typeface="微软雅黑" pitchFamily="34" charset="-122"/>
                    <a:ea typeface="微软雅黑" pitchFamily="34" charset="-122"/>
                  </a:rPr>
                  <a:t>数据报</a:t>
                </a:r>
              </a:p>
            </p:txBody>
          </p:sp>
          <p:sp>
            <p:nvSpPr>
              <p:cNvPr id="17"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8"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9" name="Text Box 13"/>
              <p:cNvSpPr txBox="1">
                <a:spLocks noChangeArrowheads="1"/>
              </p:cNvSpPr>
              <p:nvPr/>
            </p:nvSpPr>
            <p:spPr bwMode="auto">
              <a:xfrm>
                <a:off x="1567906" y="3218559"/>
                <a:ext cx="1096873" cy="522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的</a:t>
                </a:r>
              </a:p>
              <a:p>
                <a:pPr algn="ctr">
                  <a:lnSpc>
                    <a:spcPct val="80000"/>
                  </a:lnSpc>
                </a:pPr>
                <a:r>
                  <a:rPr kumimoji="1" lang="zh-CN" altLang="en-US" sz="1900" dirty="0">
                    <a:latin typeface="微软雅黑" pitchFamily="34" charset="-122"/>
                    <a:ea typeface="微软雅黑" pitchFamily="34" charset="-122"/>
                  </a:rPr>
                  <a:t>头部字段</a:t>
                </a:r>
              </a:p>
            </p:txBody>
          </p:sp>
          <p:sp>
            <p:nvSpPr>
              <p:cNvPr id="20"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1" name="Text Box 15"/>
              <p:cNvSpPr txBox="1">
                <a:spLocks noChangeArrowheads="1"/>
              </p:cNvSpPr>
              <p:nvPr/>
            </p:nvSpPr>
            <p:spPr bwMode="auto">
              <a:xfrm>
                <a:off x="5775149" y="4296514"/>
                <a:ext cx="3195768" cy="373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dirty="0">
                    <a:solidFill>
                      <a:srgbClr val="C00000"/>
                    </a:solidFill>
                    <a:latin typeface="微软雅黑" pitchFamily="34" charset="-122"/>
                    <a:ea typeface="微软雅黑" pitchFamily="34" charset="-122"/>
                  </a:rPr>
                  <a:t>装入 </a:t>
                </a:r>
                <a:r>
                  <a:rPr kumimoji="1" lang="en-US" altLang="zh-CN" sz="2000" dirty="0">
                    <a:solidFill>
                      <a:srgbClr val="C00000"/>
                    </a:solidFill>
                    <a:latin typeface="微软雅黑" pitchFamily="34" charset="-122"/>
                    <a:ea typeface="微软雅黑" pitchFamily="34" charset="-122"/>
                  </a:rPr>
                  <a:t>ICMP </a:t>
                </a:r>
                <a:r>
                  <a:rPr kumimoji="1" lang="zh-CN" altLang="en-US" sz="2000" dirty="0">
                    <a:solidFill>
                      <a:srgbClr val="C00000"/>
                    </a:solidFill>
                    <a:latin typeface="微软雅黑" pitchFamily="34" charset="-122"/>
                    <a:ea typeface="微软雅黑" pitchFamily="34" charset="-122"/>
                  </a:rPr>
                  <a:t>报文的 </a:t>
                </a:r>
                <a:r>
                  <a:rPr kumimoji="1" lang="en-US" altLang="zh-CN" sz="2000" dirty="0">
                    <a:solidFill>
                      <a:srgbClr val="C00000"/>
                    </a:solidFill>
                    <a:latin typeface="微软雅黑" pitchFamily="34" charset="-122"/>
                    <a:ea typeface="微软雅黑" pitchFamily="34" charset="-122"/>
                  </a:rPr>
                  <a:t>IP </a:t>
                </a:r>
                <a:r>
                  <a:rPr kumimoji="1" lang="zh-CN" altLang="en-US" sz="2000" dirty="0">
                    <a:solidFill>
                      <a:srgbClr val="C00000"/>
                    </a:solidFill>
                    <a:latin typeface="微软雅黑" pitchFamily="34" charset="-122"/>
                    <a:ea typeface="微软雅黑" pitchFamily="34" charset="-122"/>
                  </a:rPr>
                  <a:t>数据报</a:t>
                </a:r>
              </a:p>
            </p:txBody>
          </p:sp>
          <p:sp>
            <p:nvSpPr>
              <p:cNvPr id="22"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3" name="Text Box 17"/>
              <p:cNvSpPr txBox="1">
                <a:spLocks noChangeArrowheads="1"/>
              </p:cNvSpPr>
              <p:nvPr/>
            </p:nvSpPr>
            <p:spPr bwMode="auto">
              <a:xfrm>
                <a:off x="2838563" y="2296087"/>
                <a:ext cx="1648910"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80000"/>
                  </a:lnSpc>
                </a:pPr>
                <a:r>
                  <a:rPr kumimoji="1" lang="en-US" altLang="zh-CN" sz="1900" dirty="0">
                    <a:latin typeface="微软雅黑" pitchFamily="34" charset="-122"/>
                    <a:ea typeface="微软雅黑" pitchFamily="34" charset="-122"/>
                  </a:rPr>
                  <a:t>IP </a:t>
                </a:r>
                <a:r>
                  <a:rPr kumimoji="1" lang="zh-CN" altLang="en-US" sz="1900" dirty="0">
                    <a:latin typeface="微软雅黑" pitchFamily="34" charset="-122"/>
                    <a:ea typeface="微软雅黑" pitchFamily="34" charset="-122"/>
                  </a:rPr>
                  <a:t>数据报首部</a:t>
                </a:r>
              </a:p>
            </p:txBody>
          </p:sp>
          <p:sp>
            <p:nvSpPr>
              <p:cNvPr id="24"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5" name="Text Box 19"/>
              <p:cNvSpPr txBox="1">
                <a:spLocks noChangeArrowheads="1"/>
              </p:cNvSpPr>
              <p:nvPr/>
            </p:nvSpPr>
            <p:spPr bwMode="auto">
              <a:xfrm>
                <a:off x="5792002" y="3292589"/>
                <a:ext cx="2289189" cy="373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dirty="0">
                    <a:solidFill>
                      <a:srgbClr val="C00000"/>
                    </a:solidFill>
                    <a:latin typeface="微软雅黑" pitchFamily="34" charset="-122"/>
                    <a:ea typeface="微软雅黑" pitchFamily="34" charset="-122"/>
                  </a:rPr>
                  <a:t>ICMP </a:t>
                </a:r>
                <a:r>
                  <a:rPr kumimoji="1" lang="zh-CN" altLang="en-US" sz="2000" dirty="0">
                    <a:solidFill>
                      <a:srgbClr val="C00000"/>
                    </a:solidFill>
                    <a:latin typeface="微软雅黑" pitchFamily="34" charset="-122"/>
                    <a:ea typeface="微软雅黑" pitchFamily="34" charset="-122"/>
                  </a:rPr>
                  <a:t>差错报告报文</a:t>
                </a:r>
              </a:p>
            </p:txBody>
          </p:sp>
          <p:sp>
            <p:nvSpPr>
              <p:cNvPr id="26" name="Text Box 20"/>
              <p:cNvSpPr txBox="1">
                <a:spLocks noChangeArrowheads="1"/>
              </p:cNvSpPr>
              <p:nvPr/>
            </p:nvSpPr>
            <p:spPr bwMode="auto">
              <a:xfrm>
                <a:off x="4575944" y="2156867"/>
                <a:ext cx="627126" cy="522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8</a:t>
                </a:r>
              </a:p>
              <a:p>
                <a:pPr algn="ctr">
                  <a:lnSpc>
                    <a:spcPct val="80000"/>
                  </a:lnSpc>
                </a:pPr>
                <a:r>
                  <a:rPr kumimoji="1" lang="zh-CN" altLang="en-US" sz="1900" dirty="0">
                    <a:latin typeface="微软雅黑" pitchFamily="34" charset="-122"/>
                    <a:ea typeface="微软雅黑" pitchFamily="34" charset="-122"/>
                  </a:rPr>
                  <a:t>字节</a:t>
                </a:r>
              </a:p>
            </p:txBody>
          </p:sp>
          <p:sp>
            <p:nvSpPr>
              <p:cNvPr id="27" name="Line 21"/>
              <p:cNvSpPr>
                <a:spLocks noChangeShapeType="1"/>
              </p:cNvSpPr>
              <p:nvPr/>
            </p:nvSpPr>
            <p:spPr bwMode="auto">
              <a:xfrm>
                <a:off x="5193910" y="2152103"/>
                <a:ext cx="0" cy="59690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8" name="Text Box 22"/>
              <p:cNvSpPr txBox="1">
                <a:spLocks noChangeArrowheads="1"/>
              </p:cNvSpPr>
              <p:nvPr/>
            </p:nvSpPr>
            <p:spPr bwMode="auto">
              <a:xfrm>
                <a:off x="1023357" y="2091783"/>
                <a:ext cx="1457413" cy="660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C00000"/>
                    </a:solidFill>
                    <a:latin typeface="微软雅黑" pitchFamily="34" charset="-122"/>
                    <a:ea typeface="微软雅黑" pitchFamily="34" charset="-122"/>
                  </a:rPr>
                  <a:t>收到的 </a:t>
                </a:r>
                <a:r>
                  <a:rPr kumimoji="1" lang="en-US" altLang="zh-CN" sz="2000" dirty="0">
                    <a:solidFill>
                      <a:srgbClr val="C00000"/>
                    </a:solidFill>
                    <a:latin typeface="微软雅黑" pitchFamily="34" charset="-122"/>
                    <a:ea typeface="微软雅黑" pitchFamily="34" charset="-122"/>
                  </a:rPr>
                  <a:t>IP </a:t>
                </a:r>
                <a:r>
                  <a:rPr kumimoji="1" lang="zh-CN" altLang="en-US" sz="2000" dirty="0">
                    <a:solidFill>
                      <a:srgbClr val="C00000"/>
                    </a:solidFill>
                    <a:latin typeface="微软雅黑" pitchFamily="34" charset="-122"/>
                    <a:ea typeface="微软雅黑" pitchFamily="34" charset="-122"/>
                  </a:rPr>
                  <a:t>原始数据报</a:t>
                </a:r>
              </a:p>
            </p:txBody>
          </p:sp>
          <p:sp>
            <p:nvSpPr>
              <p:cNvPr id="29" name="Line 23"/>
              <p:cNvSpPr>
                <a:spLocks noChangeShapeType="1"/>
              </p:cNvSpPr>
              <p:nvPr/>
            </p:nvSpPr>
            <p:spPr bwMode="auto">
              <a:xfrm>
                <a:off x="5193910"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30" name="Line 24"/>
              <p:cNvSpPr>
                <a:spLocks noChangeShapeType="1"/>
              </p:cNvSpPr>
              <p:nvPr/>
            </p:nvSpPr>
            <p:spPr bwMode="auto">
              <a:xfrm>
                <a:off x="4547269" y="3174454"/>
                <a:ext cx="0" cy="595313"/>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31" name="Text Box 25"/>
              <p:cNvSpPr txBox="1">
                <a:spLocks noChangeArrowheads="1"/>
              </p:cNvSpPr>
              <p:nvPr/>
            </p:nvSpPr>
            <p:spPr bwMode="auto">
              <a:xfrm>
                <a:off x="2882723" y="3317021"/>
                <a:ext cx="1602522"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IP </a:t>
                </a:r>
                <a:r>
                  <a:rPr kumimoji="1" lang="zh-CN" altLang="en-US" sz="1900" dirty="0">
                    <a:latin typeface="微软雅黑" pitchFamily="34" charset="-122"/>
                    <a:ea typeface="微软雅黑" pitchFamily="34" charset="-122"/>
                  </a:rPr>
                  <a:t>数据报首部</a:t>
                </a:r>
              </a:p>
            </p:txBody>
          </p:sp>
          <p:sp>
            <p:nvSpPr>
              <p:cNvPr id="32" name="Text Box 26"/>
              <p:cNvSpPr txBox="1">
                <a:spLocks noChangeArrowheads="1"/>
              </p:cNvSpPr>
              <p:nvPr/>
            </p:nvSpPr>
            <p:spPr bwMode="auto">
              <a:xfrm>
                <a:off x="4584542" y="3196679"/>
                <a:ext cx="627126" cy="522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8</a:t>
                </a:r>
              </a:p>
              <a:p>
                <a:pPr algn="ctr">
                  <a:lnSpc>
                    <a:spcPct val="80000"/>
                  </a:lnSpc>
                </a:pPr>
                <a:r>
                  <a:rPr kumimoji="1" lang="zh-CN" altLang="en-US" sz="1900" dirty="0">
                    <a:latin typeface="微软雅黑" pitchFamily="34" charset="-122"/>
                    <a:ea typeface="微软雅黑" pitchFamily="34" charset="-122"/>
                  </a:rPr>
                  <a:t>字节</a:t>
                </a:r>
              </a:p>
            </p:txBody>
          </p:sp>
          <p:sp>
            <p:nvSpPr>
              <p:cNvPr id="33" name="AutoShape 27"/>
              <p:cNvSpPr>
                <a:spLocks noChangeArrowheads="1"/>
              </p:cNvSpPr>
              <p:nvPr/>
            </p:nvSpPr>
            <p:spPr bwMode="auto">
              <a:xfrm>
                <a:off x="3441444" y="2720428"/>
                <a:ext cx="276886" cy="509588"/>
              </a:xfrm>
              <a:prstGeom prst="downArrow">
                <a:avLst>
                  <a:gd name="adj1" fmla="val 47222"/>
                  <a:gd name="adj2" fmla="val 1030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900" b="1">
                  <a:solidFill>
                    <a:srgbClr val="0000CC"/>
                  </a:solidFill>
                  <a:latin typeface="微软雅黑" pitchFamily="34" charset="-122"/>
                  <a:ea typeface="微软雅黑" pitchFamily="34" charset="-122"/>
                </a:endParaRPr>
              </a:p>
            </p:txBody>
          </p:sp>
          <p:sp>
            <p:nvSpPr>
              <p:cNvPr id="34" name="AutoShape 28"/>
              <p:cNvSpPr>
                <a:spLocks noChangeArrowheads="1"/>
              </p:cNvSpPr>
              <p:nvPr/>
            </p:nvSpPr>
            <p:spPr bwMode="auto">
              <a:xfrm>
                <a:off x="4763962" y="2720428"/>
                <a:ext cx="275167" cy="509588"/>
              </a:xfrm>
              <a:prstGeom prst="downArrow">
                <a:avLst>
                  <a:gd name="adj1" fmla="val 47222"/>
                  <a:gd name="adj2" fmla="val 10365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900" b="1">
                  <a:solidFill>
                    <a:srgbClr val="0000CC"/>
                  </a:solidFill>
                  <a:latin typeface="微软雅黑" pitchFamily="34" charset="-122"/>
                  <a:ea typeface="微软雅黑" pitchFamily="34" charset="-122"/>
                </a:endParaRPr>
              </a:p>
            </p:txBody>
          </p:sp>
          <p:sp>
            <p:nvSpPr>
              <p:cNvPr id="35" name="Text Box 29"/>
              <p:cNvSpPr txBox="1">
                <a:spLocks noChangeArrowheads="1"/>
              </p:cNvSpPr>
              <p:nvPr/>
            </p:nvSpPr>
            <p:spPr bwMode="auto">
              <a:xfrm>
                <a:off x="2194676" y="4334744"/>
                <a:ext cx="2215884"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差错报告报文</a:t>
                </a:r>
              </a:p>
            </p:txBody>
          </p:sp>
          <p:sp>
            <p:nvSpPr>
              <p:cNvPr id="36" name="Text Box 30"/>
              <p:cNvSpPr txBox="1">
                <a:spLocks noChangeArrowheads="1"/>
              </p:cNvSpPr>
              <p:nvPr/>
            </p:nvSpPr>
            <p:spPr bwMode="auto">
              <a:xfrm>
                <a:off x="5721222" y="1556792"/>
                <a:ext cx="2853182" cy="373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dirty="0">
                    <a:solidFill>
                      <a:srgbClr val="C00000"/>
                    </a:solidFill>
                    <a:latin typeface="微软雅黑" pitchFamily="34" charset="-122"/>
                    <a:ea typeface="微软雅黑" pitchFamily="34" charset="-122"/>
                  </a:rPr>
                  <a:t>IP </a:t>
                </a:r>
                <a:r>
                  <a:rPr kumimoji="1" lang="zh-CN" altLang="en-US" sz="2000" dirty="0">
                    <a:solidFill>
                      <a:srgbClr val="C00000"/>
                    </a:solidFill>
                    <a:latin typeface="微软雅黑" pitchFamily="34" charset="-122"/>
                    <a:ea typeface="微软雅黑" pitchFamily="34" charset="-122"/>
                  </a:rPr>
                  <a:t>原始数据报的数据字段</a:t>
                </a:r>
              </a:p>
            </p:txBody>
          </p:sp>
          <p:sp>
            <p:nvSpPr>
              <p:cNvPr id="37" name="AutoShape 31"/>
              <p:cNvSpPr>
                <a:spLocks/>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38" name="Line 32"/>
              <p:cNvSpPr>
                <a:spLocks noChangeShapeType="1"/>
              </p:cNvSpPr>
              <p:nvPr/>
            </p:nvSpPr>
            <p:spPr bwMode="auto">
              <a:xfrm>
                <a:off x="2794801"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39" name="Line 33"/>
              <p:cNvSpPr>
                <a:spLocks noChangeShapeType="1"/>
              </p:cNvSpPr>
              <p:nvPr/>
            </p:nvSpPr>
            <p:spPr bwMode="auto">
              <a:xfrm>
                <a:off x="1412089"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40" name="Line 34"/>
              <p:cNvSpPr>
                <a:spLocks noChangeShapeType="1"/>
              </p:cNvSpPr>
              <p:nvPr/>
            </p:nvSpPr>
            <p:spPr bwMode="auto">
              <a:xfrm>
                <a:off x="5193910"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41" name="AutoShape 35"/>
              <p:cNvSpPr>
                <a:spLocks noChangeArrowheads="1"/>
              </p:cNvSpPr>
              <p:nvPr/>
            </p:nvSpPr>
            <p:spPr bwMode="auto">
              <a:xfrm>
                <a:off x="3255706" y="3744367"/>
                <a:ext cx="278606"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900" b="1">
                  <a:solidFill>
                    <a:srgbClr val="0000CC"/>
                  </a:solidFill>
                  <a:latin typeface="微软雅黑" pitchFamily="34" charset="-122"/>
                  <a:ea typeface="微软雅黑" pitchFamily="34" charset="-122"/>
                </a:endParaRPr>
              </a:p>
            </p:txBody>
          </p:sp>
        </p:grpSp>
      </p:grpSp>
      <p:sp>
        <p:nvSpPr>
          <p:cNvPr id="3" name="左箭头 2"/>
          <p:cNvSpPr/>
          <p:nvPr/>
        </p:nvSpPr>
        <p:spPr>
          <a:xfrm>
            <a:off x="6562188" y="3886947"/>
            <a:ext cx="330558" cy="174572"/>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左箭头 41"/>
          <p:cNvSpPr/>
          <p:nvPr/>
        </p:nvSpPr>
        <p:spPr>
          <a:xfrm rot="10800000">
            <a:off x="3420532" y="2836795"/>
            <a:ext cx="258233" cy="169278"/>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左箭头 42"/>
          <p:cNvSpPr/>
          <p:nvPr/>
        </p:nvSpPr>
        <p:spPr>
          <a:xfrm>
            <a:off x="6571176" y="4984628"/>
            <a:ext cx="321570" cy="174572"/>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日期占位符 5"/>
          <p:cNvSpPr>
            <a:spLocks noGrp="1"/>
          </p:cNvSpPr>
          <p:nvPr>
            <p:ph type="dt" sz="half" idx="10"/>
          </p:nvPr>
        </p:nvSpPr>
        <p:spPr/>
        <p:txBody>
          <a:bodyPr/>
          <a:lstStyle/>
          <a:p>
            <a:r>
              <a:rPr kumimoji="1" lang="en-US" altLang="zh-CN" dirty="0"/>
              <a:t>5.6.6 Internet</a:t>
            </a:r>
            <a:r>
              <a:rPr kumimoji="1" lang="zh-CN" altLang="en-US" dirty="0"/>
              <a:t>控制报文协议</a:t>
            </a:r>
          </a:p>
        </p:txBody>
      </p:sp>
    </p:spTree>
    <p:extLst>
      <p:ext uri="{BB962C8B-B14F-4D97-AF65-F5344CB8AC3E}">
        <p14:creationId xmlns:p14="http://schemas.microsoft.com/office/powerpoint/2010/main" val="905379217"/>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defRPr/>
            </a:pPr>
            <a:r>
              <a:rPr lang="en-GB" altLang="zh-CN" kern="0" dirty="0">
                <a:latin typeface="微软雅黑" pitchFamily="34" charset="-122"/>
                <a:ea typeface="微软雅黑" pitchFamily="34" charset="-122"/>
              </a:rPr>
              <a:t>Ping</a:t>
            </a:r>
            <a:r>
              <a:rPr lang="zh-CN" altLang="en-US" kern="0" dirty="0">
                <a:latin typeface="微软雅黑" pitchFamily="34" charset="-122"/>
                <a:ea typeface="微软雅黑" pitchFamily="34" charset="-122"/>
              </a:rPr>
              <a:t>和</a:t>
            </a:r>
            <a:r>
              <a:rPr lang="en-GB" altLang="zh-CN" kern="0" dirty="0">
                <a:latin typeface="微软雅黑" pitchFamily="34" charset="-122"/>
                <a:ea typeface="微软雅黑" pitchFamily="34" charset="-122"/>
              </a:rPr>
              <a:t>ICMP</a:t>
            </a:r>
            <a:endParaRPr lang="en-US" altLang="zh-CN" sz="3200" kern="0" dirty="0">
              <a:latin typeface="微软雅黑" pitchFamily="34" charset="-122"/>
              <a:ea typeface="微软雅黑" pitchFamily="34" charset="-122"/>
            </a:endParaRPr>
          </a:p>
        </p:txBody>
      </p:sp>
      <p:sp>
        <p:nvSpPr>
          <p:cNvPr id="3" name="内容占位符 2"/>
          <p:cNvSpPr>
            <a:spLocks noGrp="1"/>
          </p:cNvSpPr>
          <p:nvPr>
            <p:ph idx="1"/>
          </p:nvPr>
        </p:nvSpPr>
        <p:spPr>
          <a:xfrm>
            <a:off x="838200" y="1510758"/>
            <a:ext cx="10515600" cy="4111109"/>
          </a:xfrm>
        </p:spPr>
        <p:txBody>
          <a:bodyPr/>
          <a:lstStyle/>
          <a:p>
            <a:pPr marL="228600" lvl="1">
              <a:lnSpc>
                <a:spcPct val="120000"/>
              </a:lnSpc>
              <a:buFont typeface="Wingdings" pitchFamily="2" charset="2"/>
              <a:buChar char="Ø"/>
            </a:pPr>
            <a:r>
              <a:rPr lang="en-US" altLang="zh-CN" dirty="0">
                <a:latin typeface="微软雅黑" pitchFamily="34" charset="-122"/>
                <a:ea typeface="微软雅黑" pitchFamily="34" charset="-122"/>
              </a:rPr>
              <a:t>PING (Packet </a:t>
            </a:r>
            <a:r>
              <a:rPr lang="en-US" altLang="zh-CN" dirty="0" err="1">
                <a:latin typeface="微软雅黑" pitchFamily="34" charset="-122"/>
                <a:ea typeface="微软雅黑" pitchFamily="34" charset="-122"/>
              </a:rPr>
              <a:t>InterNet</a:t>
            </a:r>
            <a:r>
              <a:rPr lang="en-US" altLang="zh-CN" dirty="0">
                <a:latin typeface="微软雅黑" pitchFamily="34" charset="-122"/>
                <a:ea typeface="微软雅黑" pitchFamily="34" charset="-122"/>
              </a:rPr>
              <a:t> Groper) </a:t>
            </a:r>
          </a:p>
          <a:p>
            <a:pPr lvl="1">
              <a:lnSpc>
                <a:spcPct val="120000"/>
              </a:lnSpc>
            </a:pPr>
            <a:r>
              <a:rPr lang="en-US" altLang="zh-CN" sz="2000" dirty="0">
                <a:solidFill>
                  <a:srgbClr val="C00000"/>
                </a:solidFill>
                <a:latin typeface="微软雅黑" pitchFamily="34" charset="-122"/>
                <a:ea typeface="微软雅黑" pitchFamily="34" charset="-122"/>
              </a:rPr>
              <a:t>PING </a:t>
            </a:r>
            <a:r>
              <a:rPr lang="zh-CN" altLang="en-US" sz="2000" dirty="0">
                <a:solidFill>
                  <a:srgbClr val="C00000"/>
                </a:solidFill>
                <a:latin typeface="微软雅黑" pitchFamily="34" charset="-122"/>
                <a:ea typeface="微软雅黑" pitchFamily="34" charset="-122"/>
              </a:rPr>
              <a:t>用来测试两个主机之间的连通性</a:t>
            </a:r>
          </a:p>
          <a:p>
            <a:pPr lvl="1">
              <a:lnSpc>
                <a:spcPct val="120000"/>
              </a:lnSpc>
            </a:pPr>
            <a:r>
              <a:rPr lang="en-US" altLang="zh-CN" sz="2000" dirty="0">
                <a:latin typeface="微软雅黑" pitchFamily="34" charset="-122"/>
                <a:ea typeface="微软雅黑" pitchFamily="34" charset="-122"/>
              </a:rPr>
              <a:t>PING </a:t>
            </a:r>
            <a:r>
              <a:rPr lang="zh-CN" altLang="en-US" sz="2000" dirty="0">
                <a:latin typeface="微软雅黑" pitchFamily="34" charset="-122"/>
                <a:ea typeface="微软雅黑" pitchFamily="34" charset="-122"/>
              </a:rPr>
              <a:t>使用了 </a:t>
            </a:r>
            <a:r>
              <a:rPr lang="en-US" altLang="zh-CN" sz="2000" dirty="0">
                <a:latin typeface="微软雅黑" pitchFamily="34" charset="-122"/>
                <a:ea typeface="微软雅黑" pitchFamily="34" charset="-122"/>
              </a:rPr>
              <a:t>ICMP </a:t>
            </a:r>
            <a:r>
              <a:rPr lang="zh-CN" altLang="en-US" sz="2000" dirty="0">
                <a:latin typeface="微软雅黑" pitchFamily="34" charset="-122"/>
                <a:ea typeface="微软雅黑" pitchFamily="34" charset="-122"/>
              </a:rPr>
              <a:t>回送请求与回送回答报文</a:t>
            </a:r>
            <a:endParaRPr lang="en-US" altLang="zh-CN" sz="2000" dirty="0">
              <a:latin typeface="微软雅黑" pitchFamily="34" charset="-122"/>
              <a:ea typeface="微软雅黑" pitchFamily="34" charset="-122"/>
            </a:endParaRPr>
          </a:p>
          <a:p>
            <a:pPr marL="457200" lvl="1" indent="0">
              <a:lnSpc>
                <a:spcPct val="120000"/>
              </a:lnSpc>
              <a:buClr>
                <a:srgbClr val="0070C0"/>
              </a:buClr>
              <a:buNone/>
            </a:pPr>
            <a:endParaRPr lang="zh-CN" altLang="en-US" dirty="0">
              <a:latin typeface="微软雅黑" pitchFamily="34" charset="-122"/>
              <a:ea typeface="微软雅黑" pitchFamily="34" charset="-122"/>
            </a:endParaRPr>
          </a:p>
          <a:p>
            <a:endParaRPr lang="zh-CN" altLang="en-US"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153</a:t>
            </a:fld>
            <a:endParaRPr kumimoji="1" lang="zh-CN" altLang="en-US" dirty="0"/>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265" y="2946400"/>
            <a:ext cx="6005404" cy="25315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7687731" y="2073545"/>
            <a:ext cx="2624667" cy="2828467"/>
          </a:xfrm>
          <a:prstGeom prst="rect">
            <a:avLst/>
          </a:prstGeom>
          <a:noFill/>
          <a:ln w="12700">
            <a:solidFill>
              <a:schemeClr val="tx1"/>
            </a:solidFill>
          </a:ln>
        </p:spPr>
        <p:txBody>
          <a:bodyPr wrap="square" rtlCol="0">
            <a:spAutoFit/>
          </a:bodyPr>
          <a:lstStyle/>
          <a:p>
            <a:pPr>
              <a:lnSpc>
                <a:spcPct val="120000"/>
              </a:lnSpc>
              <a:spcBef>
                <a:spcPts val="600"/>
              </a:spcBef>
            </a:pPr>
            <a:r>
              <a:rPr lang="zh-CN" altLang="en-US" sz="2400" dirty="0">
                <a:solidFill>
                  <a:srgbClr val="C00000"/>
                </a:solidFill>
              </a:rPr>
              <a:t>思考：</a:t>
            </a:r>
            <a:endParaRPr lang="en-US" altLang="zh-CN" sz="2400" dirty="0">
              <a:solidFill>
                <a:srgbClr val="C00000"/>
              </a:solidFill>
            </a:endParaRPr>
          </a:p>
          <a:p>
            <a:pPr>
              <a:lnSpc>
                <a:spcPct val="120000"/>
              </a:lnSpc>
              <a:spcBef>
                <a:spcPts val="600"/>
              </a:spcBef>
            </a:pPr>
            <a:r>
              <a:rPr lang="zh-CN" altLang="en-US" sz="2400" dirty="0">
                <a:solidFill>
                  <a:srgbClr val="C00000"/>
                </a:solidFill>
              </a:rPr>
              <a:t>如何利用</a:t>
            </a:r>
            <a:r>
              <a:rPr lang="en-US" altLang="zh-CN" sz="2400" dirty="0">
                <a:solidFill>
                  <a:srgbClr val="C00000"/>
                </a:solidFill>
              </a:rPr>
              <a:t>Ping</a:t>
            </a:r>
            <a:r>
              <a:rPr lang="zh-CN" altLang="en-US" sz="2400" dirty="0">
                <a:solidFill>
                  <a:srgbClr val="C00000"/>
                </a:solidFill>
              </a:rPr>
              <a:t>命令返回的</a:t>
            </a:r>
            <a:r>
              <a:rPr lang="en-US" altLang="zh-CN" sz="2400" dirty="0">
                <a:solidFill>
                  <a:srgbClr val="C00000"/>
                </a:solidFill>
              </a:rPr>
              <a:t>TTL</a:t>
            </a:r>
            <a:r>
              <a:rPr lang="zh-CN" altLang="en-US" sz="2400" dirty="0">
                <a:solidFill>
                  <a:srgbClr val="C00000"/>
                </a:solidFill>
              </a:rPr>
              <a:t>值</a:t>
            </a:r>
            <a:r>
              <a:rPr lang="en-US" altLang="zh-CN" sz="2400" dirty="0">
                <a:solidFill>
                  <a:srgbClr val="C00000"/>
                </a:solidFill>
              </a:rPr>
              <a:t>(</a:t>
            </a:r>
            <a:r>
              <a:rPr lang="zh-CN" altLang="en-US" sz="2400" dirty="0">
                <a:solidFill>
                  <a:srgbClr val="C00000"/>
                </a:solidFill>
              </a:rPr>
              <a:t>报文剩余跳数</a:t>
            </a:r>
            <a:r>
              <a:rPr lang="en-US" altLang="zh-CN" sz="2400" dirty="0">
                <a:solidFill>
                  <a:srgbClr val="C00000"/>
                </a:solidFill>
              </a:rPr>
              <a:t>)</a:t>
            </a:r>
            <a:r>
              <a:rPr lang="zh-CN" altLang="en-US" sz="2400" dirty="0">
                <a:solidFill>
                  <a:srgbClr val="C00000"/>
                </a:solidFill>
              </a:rPr>
              <a:t>，来判断对方主机操作系统的类型？</a:t>
            </a:r>
          </a:p>
        </p:txBody>
      </p:sp>
      <p:sp>
        <p:nvSpPr>
          <p:cNvPr id="7" name="TextBox 6"/>
          <p:cNvSpPr txBox="1">
            <a:spLocks noChangeArrowheads="1"/>
          </p:cNvSpPr>
          <p:nvPr/>
        </p:nvSpPr>
        <p:spPr bwMode="auto">
          <a:xfrm>
            <a:off x="1075265" y="5687592"/>
            <a:ext cx="1141412" cy="400110"/>
          </a:xfrm>
          <a:prstGeom prst="rect">
            <a:avLst/>
          </a:prstGeom>
          <a:solidFill>
            <a:srgbClr val="C00000"/>
          </a:solidFill>
          <a:ln>
            <a:noFill/>
          </a:ln>
        </p:spPr>
        <p:txBody>
          <a:bodyPr anchor="b" anchorCtr="0">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algn="ctr"/>
            <a:r>
              <a:rPr lang="zh-CN" altLang="en-US" sz="2000" dirty="0">
                <a:solidFill>
                  <a:schemeClr val="bg1"/>
                </a:solidFill>
                <a:latin typeface="微软雅黑" pitchFamily="34" charset="-122"/>
                <a:ea typeface="微软雅黑" pitchFamily="34" charset="-122"/>
              </a:rPr>
              <a:t>连通性</a:t>
            </a:r>
          </a:p>
        </p:txBody>
      </p:sp>
      <p:sp>
        <p:nvSpPr>
          <p:cNvPr id="8" name="TextBox 7"/>
          <p:cNvSpPr txBox="1">
            <a:spLocks noChangeArrowheads="1"/>
          </p:cNvSpPr>
          <p:nvPr/>
        </p:nvSpPr>
        <p:spPr bwMode="auto">
          <a:xfrm>
            <a:off x="2707583" y="5687592"/>
            <a:ext cx="1487487" cy="400110"/>
          </a:xfrm>
          <a:prstGeom prst="rect">
            <a:avLst/>
          </a:prstGeom>
          <a:solidFill>
            <a:srgbClr val="C00000"/>
          </a:solidFill>
          <a:ln w="9525">
            <a:noFill/>
            <a:miter lim="800000"/>
            <a:headEnd/>
            <a:tailEnd/>
          </a:ln>
        </p:spPr>
        <p:txBody>
          <a:bodyPr anchor="b" anchorCtr="0">
            <a:spAutoFit/>
          </a:bodyPr>
          <a:lstStyle/>
          <a:p>
            <a:pPr algn="ctr">
              <a:defRPr/>
            </a:pPr>
            <a:r>
              <a:rPr lang="zh-CN" altLang="en-US" sz="2000" dirty="0">
                <a:solidFill>
                  <a:schemeClr val="bg1"/>
                </a:solidFill>
                <a:latin typeface="微软雅黑" pitchFamily="34" charset="-122"/>
                <a:ea typeface="微软雅黑" pitchFamily="34" charset="-122"/>
              </a:rPr>
              <a:t>往返时延</a:t>
            </a:r>
          </a:p>
        </p:txBody>
      </p:sp>
      <p:sp>
        <p:nvSpPr>
          <p:cNvPr id="9" name="TextBox 8"/>
          <p:cNvSpPr txBox="1">
            <a:spLocks noChangeArrowheads="1"/>
          </p:cNvSpPr>
          <p:nvPr/>
        </p:nvSpPr>
        <p:spPr bwMode="auto">
          <a:xfrm>
            <a:off x="4642908" y="5687592"/>
            <a:ext cx="2138362" cy="400110"/>
          </a:xfrm>
          <a:prstGeom prst="rect">
            <a:avLst/>
          </a:prstGeom>
          <a:solidFill>
            <a:srgbClr val="C00000"/>
          </a:solidFill>
          <a:ln w="9525">
            <a:noFill/>
            <a:miter lim="800000"/>
            <a:headEnd/>
            <a:tailEnd/>
          </a:ln>
        </p:spPr>
        <p:txBody>
          <a:bodyPr anchor="b" anchorCtr="0">
            <a:spAutoFit/>
          </a:bodyPr>
          <a:lstStyle/>
          <a:p>
            <a:pPr algn="ctr">
              <a:defRPr/>
            </a:pPr>
            <a:r>
              <a:rPr lang="zh-CN" altLang="en-US" sz="2000" dirty="0">
                <a:solidFill>
                  <a:schemeClr val="bg1"/>
                </a:solidFill>
                <a:latin typeface="微软雅黑" pitchFamily="34" charset="-122"/>
                <a:ea typeface="微软雅黑" pitchFamily="34" charset="-122"/>
              </a:rPr>
              <a:t>单向转发跳数</a:t>
            </a:r>
          </a:p>
        </p:txBody>
      </p:sp>
      <p:sp>
        <p:nvSpPr>
          <p:cNvPr id="5" name="日期占位符 4"/>
          <p:cNvSpPr>
            <a:spLocks noGrp="1"/>
          </p:cNvSpPr>
          <p:nvPr>
            <p:ph type="dt" sz="half" idx="10"/>
          </p:nvPr>
        </p:nvSpPr>
        <p:spPr/>
        <p:txBody>
          <a:bodyPr/>
          <a:lstStyle/>
          <a:p>
            <a:r>
              <a:rPr kumimoji="1" lang="en-US" altLang="zh-CN" dirty="0"/>
              <a:t>5.6.6 Internet</a:t>
            </a:r>
            <a:r>
              <a:rPr kumimoji="1" lang="zh-CN" altLang="en-US" dirty="0"/>
              <a:t>控制报文协议</a:t>
            </a:r>
          </a:p>
        </p:txBody>
      </p:sp>
    </p:spTree>
    <p:extLst>
      <p:ext uri="{BB962C8B-B14F-4D97-AF65-F5344CB8AC3E}">
        <p14:creationId xmlns:p14="http://schemas.microsoft.com/office/powerpoint/2010/main" val="3359883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par>
                          <p:cTn id="8" fill="hold">
                            <p:stCondLst>
                              <p:cond delay="500"/>
                            </p:stCondLst>
                            <p:childTnLst>
                              <p:par>
                                <p:cTn id="9" presetID="3" presetClass="entr" presetSubtype="1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500"/>
                                        <p:tgtEl>
                                          <p:spTgt spid="8"/>
                                        </p:tgtEl>
                                      </p:cBhvr>
                                    </p:animEffect>
                                  </p:childTnLst>
                                </p:cTn>
                              </p:par>
                            </p:childTnLst>
                          </p:cTn>
                        </p:par>
                        <p:par>
                          <p:cTn id="12" fill="hold">
                            <p:stCondLst>
                              <p:cond delay="1000"/>
                            </p:stCondLst>
                            <p:childTnLst>
                              <p:par>
                                <p:cTn id="13" presetID="3" presetClass="entr" presetSubtype="1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blinds(horizontal)">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4" name="日期占位符 3"/>
          <p:cNvSpPr>
            <a:spLocks noGrp="1"/>
          </p:cNvSpPr>
          <p:nvPr>
            <p:ph type="dt" sz="half" idx="10"/>
          </p:nvPr>
        </p:nvSpPr>
        <p:spPr/>
        <p:txBody>
          <a:bodyPr/>
          <a:lstStyle/>
          <a:p>
            <a:r>
              <a:rPr kumimoji="1" lang="en-US" altLang="zh-CN" dirty="0"/>
              <a:t>5.6.6 Internet</a:t>
            </a:r>
            <a:r>
              <a:rPr kumimoji="1" lang="zh-CN" altLang="en-US" dirty="0"/>
              <a:t>控制报文协议</a:t>
            </a:r>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154</a:t>
            </a:fld>
            <a:endParaRPr kumimoji="1" lang="zh-CN" altLang="en-US" dirty="0"/>
          </a:p>
        </p:txBody>
      </p:sp>
      <p:sp>
        <p:nvSpPr>
          <p:cNvPr id="6" name="内容占位符 2"/>
          <p:cNvSpPr txBox="1">
            <a:spLocks/>
          </p:cNvSpPr>
          <p:nvPr/>
        </p:nvSpPr>
        <p:spPr>
          <a:xfrm>
            <a:off x="838200" y="1510759"/>
            <a:ext cx="6060141" cy="523220"/>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zh-CN" dirty="0">
                <a:solidFill>
                  <a:srgbClr val="C00000"/>
                </a:solidFill>
              </a:rPr>
              <a:t>如何知道整个路径上路由器的地址？</a:t>
            </a:r>
            <a:endParaRPr lang="zh-CN" altLang="en-US" dirty="0">
              <a:solidFill>
                <a:srgbClr val="C00000"/>
              </a:solidFill>
            </a:endParaRPr>
          </a:p>
        </p:txBody>
      </p:sp>
      <p:sp>
        <p:nvSpPr>
          <p:cNvPr id="7" name="TextBox 6"/>
          <p:cNvSpPr txBox="1"/>
          <p:nvPr/>
        </p:nvSpPr>
        <p:spPr>
          <a:xfrm>
            <a:off x="7100047" y="1510758"/>
            <a:ext cx="3415553" cy="523220"/>
          </a:xfrm>
          <a:prstGeom prst="rect">
            <a:avLst/>
          </a:prstGeom>
          <a:noFill/>
        </p:spPr>
        <p:txBody>
          <a:bodyPr wrap="square" rtlCol="0">
            <a:spAutoFit/>
          </a:bodyPr>
          <a:lstStyle/>
          <a:p>
            <a:r>
              <a:rPr lang="zh-CN" altLang="en-US" sz="2800" dirty="0">
                <a:solidFill>
                  <a:srgbClr val="C00000"/>
                </a:solidFill>
                <a:latin typeface="微软雅黑" pitchFamily="34" charset="-122"/>
                <a:ea typeface="微软雅黑" pitchFamily="34" charset="-122"/>
              </a:rPr>
              <a:t>使用</a:t>
            </a:r>
            <a:r>
              <a:rPr lang="en-US" altLang="zh-CN" sz="2800" dirty="0" err="1">
                <a:solidFill>
                  <a:srgbClr val="C00000"/>
                </a:solidFill>
                <a:latin typeface="微软雅黑" pitchFamily="34" charset="-122"/>
                <a:ea typeface="微软雅黑" pitchFamily="34" charset="-122"/>
              </a:rPr>
              <a:t>TraceRT</a:t>
            </a:r>
            <a:r>
              <a:rPr lang="zh-CN" altLang="en-US" sz="2800" dirty="0">
                <a:solidFill>
                  <a:srgbClr val="C00000"/>
                </a:solidFill>
                <a:latin typeface="微软雅黑" pitchFamily="34" charset="-122"/>
                <a:ea typeface="微软雅黑" pitchFamily="34" charset="-122"/>
              </a:rPr>
              <a:t>命令</a:t>
            </a:r>
          </a:p>
        </p:txBody>
      </p:sp>
      <p:graphicFrame>
        <p:nvGraphicFramePr>
          <p:cNvPr id="96" name="Object 11"/>
          <p:cNvGraphicFramePr>
            <a:graphicFrameLocks noChangeAspect="1"/>
          </p:cNvGraphicFramePr>
          <p:nvPr/>
        </p:nvGraphicFramePr>
        <p:xfrm>
          <a:off x="1477800" y="2526807"/>
          <a:ext cx="554567" cy="319087"/>
        </p:xfrm>
        <a:graphic>
          <a:graphicData uri="http://schemas.openxmlformats.org/presentationml/2006/ole">
            <mc:AlternateContent xmlns:mc="http://schemas.openxmlformats.org/markup-compatibility/2006">
              <mc:Choice xmlns:v="urn:schemas-microsoft-com:vml" Requires="v">
                <p:oleObj name="Clip" r:id="rId3" imgW="1307263" imgH="1084139" progId="MS_ClipArt_Gallery.2">
                  <p:embed/>
                </p:oleObj>
              </mc:Choice>
              <mc:Fallback>
                <p:oleObj name="Clip" r:id="rId3" imgW="1307263" imgH="1084139" progId="MS_ClipArt_Gallery.2">
                  <p:embed/>
                  <p:pic>
                    <p:nvPicPr>
                      <p:cNvPr id="96"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77800" y="2526807"/>
                        <a:ext cx="554567" cy="319087"/>
                      </a:xfrm>
                      <a:prstGeom prst="rect">
                        <a:avLst/>
                      </a:prstGeom>
                      <a:noFill/>
                      <a:ln>
                        <a:noFill/>
                      </a:ln>
                      <a:effectLst/>
                    </p:spPr>
                  </p:pic>
                </p:oleObj>
              </mc:Fallback>
            </mc:AlternateContent>
          </a:graphicData>
        </a:graphic>
      </p:graphicFrame>
      <p:sp>
        <p:nvSpPr>
          <p:cNvPr id="97" name="Line 38"/>
          <p:cNvSpPr>
            <a:spLocks noChangeShapeType="1"/>
          </p:cNvSpPr>
          <p:nvPr/>
        </p:nvSpPr>
        <p:spPr bwMode="auto">
          <a:xfrm>
            <a:off x="1879967" y="2768106"/>
            <a:ext cx="385233" cy="2651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8" name="Line 105"/>
          <p:cNvSpPr>
            <a:spLocks noChangeShapeType="1"/>
          </p:cNvSpPr>
          <p:nvPr/>
        </p:nvSpPr>
        <p:spPr bwMode="auto">
          <a:xfrm flipV="1">
            <a:off x="2938300" y="2818906"/>
            <a:ext cx="611716"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 name="Line 106"/>
          <p:cNvSpPr>
            <a:spLocks noChangeShapeType="1"/>
          </p:cNvSpPr>
          <p:nvPr/>
        </p:nvSpPr>
        <p:spPr bwMode="auto">
          <a:xfrm>
            <a:off x="4185016" y="2803031"/>
            <a:ext cx="64770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0" name="Line 108"/>
          <p:cNvSpPr>
            <a:spLocks noChangeShapeType="1"/>
          </p:cNvSpPr>
          <p:nvPr/>
        </p:nvSpPr>
        <p:spPr bwMode="auto">
          <a:xfrm flipH="1">
            <a:off x="3867516" y="2534743"/>
            <a:ext cx="465667"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1" name="Line 113"/>
          <p:cNvSpPr>
            <a:spLocks noChangeShapeType="1"/>
          </p:cNvSpPr>
          <p:nvPr/>
        </p:nvSpPr>
        <p:spPr bwMode="auto">
          <a:xfrm flipH="1">
            <a:off x="5486766" y="2863356"/>
            <a:ext cx="827616" cy="1444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02" name="Group 144"/>
          <p:cNvGrpSpPr>
            <a:grpSpLocks/>
          </p:cNvGrpSpPr>
          <p:nvPr/>
        </p:nvGrpSpPr>
        <p:grpSpPr bwMode="auto">
          <a:xfrm>
            <a:off x="2246149" y="2915744"/>
            <a:ext cx="668867" cy="233363"/>
            <a:chOff x="3600" y="219"/>
            <a:chExt cx="360" cy="175"/>
          </a:xfrm>
        </p:grpSpPr>
        <p:sp>
          <p:nvSpPr>
            <p:cNvPr id="103" name="Oval 145"/>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04" name="Line 146"/>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5" name="Line 147"/>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6" name="Rectangle 148"/>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07" name="Oval 149"/>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08" name="Group 150"/>
            <p:cNvGrpSpPr>
              <a:grpSpLocks/>
            </p:cNvGrpSpPr>
            <p:nvPr/>
          </p:nvGrpSpPr>
          <p:grpSpPr bwMode="auto">
            <a:xfrm>
              <a:off x="3686" y="244"/>
              <a:ext cx="177" cy="66"/>
              <a:chOff x="2848" y="848"/>
              <a:chExt cx="140" cy="98"/>
            </a:xfrm>
          </p:grpSpPr>
          <p:sp>
            <p:nvSpPr>
              <p:cNvPr id="113" name="Line 151"/>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4" name="Line 152"/>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 name="Line 153"/>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09" name="Group 154"/>
            <p:cNvGrpSpPr>
              <a:grpSpLocks/>
            </p:cNvGrpSpPr>
            <p:nvPr/>
          </p:nvGrpSpPr>
          <p:grpSpPr bwMode="auto">
            <a:xfrm flipV="1">
              <a:off x="3686" y="243"/>
              <a:ext cx="177" cy="66"/>
              <a:chOff x="2848" y="848"/>
              <a:chExt cx="140" cy="98"/>
            </a:xfrm>
          </p:grpSpPr>
          <p:sp>
            <p:nvSpPr>
              <p:cNvPr id="110" name="Line 155"/>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1" name="Line 156"/>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2" name="Line 157"/>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16" name="Group 158"/>
          <p:cNvGrpSpPr>
            <a:grpSpLocks/>
          </p:cNvGrpSpPr>
          <p:nvPr/>
        </p:nvGrpSpPr>
        <p:grpSpPr bwMode="auto">
          <a:xfrm>
            <a:off x="3516149" y="2687144"/>
            <a:ext cx="668867" cy="233363"/>
            <a:chOff x="3600" y="219"/>
            <a:chExt cx="360" cy="175"/>
          </a:xfrm>
        </p:grpSpPr>
        <p:sp>
          <p:nvSpPr>
            <p:cNvPr id="117" name="Oval 159"/>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18" name="Line 160"/>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 name="Line 161"/>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 name="Rectangle 162"/>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21" name="Oval 163"/>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22" name="Group 164"/>
            <p:cNvGrpSpPr>
              <a:grpSpLocks/>
            </p:cNvGrpSpPr>
            <p:nvPr/>
          </p:nvGrpSpPr>
          <p:grpSpPr bwMode="auto">
            <a:xfrm>
              <a:off x="3686" y="244"/>
              <a:ext cx="177" cy="66"/>
              <a:chOff x="2848" y="848"/>
              <a:chExt cx="140" cy="98"/>
            </a:xfrm>
          </p:grpSpPr>
          <p:sp>
            <p:nvSpPr>
              <p:cNvPr id="127" name="Line 165"/>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166"/>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9" name="Line 167"/>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23" name="Group 168"/>
            <p:cNvGrpSpPr>
              <a:grpSpLocks/>
            </p:cNvGrpSpPr>
            <p:nvPr/>
          </p:nvGrpSpPr>
          <p:grpSpPr bwMode="auto">
            <a:xfrm flipV="1">
              <a:off x="3686" y="243"/>
              <a:ext cx="177" cy="66"/>
              <a:chOff x="2848" y="848"/>
              <a:chExt cx="140" cy="98"/>
            </a:xfrm>
          </p:grpSpPr>
          <p:sp>
            <p:nvSpPr>
              <p:cNvPr id="124" name="Line 169"/>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 name="Line 170"/>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6" name="Line 171"/>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30" name="Group 186"/>
          <p:cNvGrpSpPr>
            <a:grpSpLocks/>
          </p:cNvGrpSpPr>
          <p:nvPr/>
        </p:nvGrpSpPr>
        <p:grpSpPr bwMode="auto">
          <a:xfrm>
            <a:off x="4832716" y="2895106"/>
            <a:ext cx="666751" cy="233362"/>
            <a:chOff x="3600" y="219"/>
            <a:chExt cx="360" cy="175"/>
          </a:xfrm>
        </p:grpSpPr>
        <p:sp>
          <p:nvSpPr>
            <p:cNvPr id="131" name="Oval 187"/>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32" name="Line 188"/>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3" name="Line 189"/>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 name="Rectangle 19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35" name="Oval 191"/>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36" name="Group 192"/>
            <p:cNvGrpSpPr>
              <a:grpSpLocks/>
            </p:cNvGrpSpPr>
            <p:nvPr/>
          </p:nvGrpSpPr>
          <p:grpSpPr bwMode="auto">
            <a:xfrm>
              <a:off x="3686" y="244"/>
              <a:ext cx="177" cy="66"/>
              <a:chOff x="2848" y="848"/>
              <a:chExt cx="140" cy="98"/>
            </a:xfrm>
          </p:grpSpPr>
          <p:sp>
            <p:nvSpPr>
              <p:cNvPr id="141" name="Line 19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2" name="Line 19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3" name="Line 19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37" name="Group 196"/>
            <p:cNvGrpSpPr>
              <a:grpSpLocks/>
            </p:cNvGrpSpPr>
            <p:nvPr/>
          </p:nvGrpSpPr>
          <p:grpSpPr bwMode="auto">
            <a:xfrm flipV="1">
              <a:off x="3686" y="243"/>
              <a:ext cx="177" cy="66"/>
              <a:chOff x="2848" y="848"/>
              <a:chExt cx="140" cy="98"/>
            </a:xfrm>
          </p:grpSpPr>
          <p:sp>
            <p:nvSpPr>
              <p:cNvPr id="138" name="Line 197"/>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9" name="Line 198"/>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199"/>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44" name="Line 260"/>
          <p:cNvSpPr>
            <a:spLocks noChangeShapeType="1"/>
          </p:cNvSpPr>
          <p:nvPr/>
        </p:nvSpPr>
        <p:spPr bwMode="auto">
          <a:xfrm>
            <a:off x="6979016" y="2828431"/>
            <a:ext cx="64770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5" name="Line 261"/>
          <p:cNvSpPr>
            <a:spLocks noChangeShapeType="1"/>
          </p:cNvSpPr>
          <p:nvPr/>
        </p:nvSpPr>
        <p:spPr bwMode="auto">
          <a:xfrm flipH="1">
            <a:off x="8229967" y="2774456"/>
            <a:ext cx="742949" cy="2778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6" name="Group 262"/>
          <p:cNvGrpSpPr>
            <a:grpSpLocks/>
          </p:cNvGrpSpPr>
          <p:nvPr/>
        </p:nvGrpSpPr>
        <p:grpSpPr bwMode="auto">
          <a:xfrm>
            <a:off x="6310149" y="2712544"/>
            <a:ext cx="668867" cy="233363"/>
            <a:chOff x="3600" y="219"/>
            <a:chExt cx="360" cy="175"/>
          </a:xfrm>
        </p:grpSpPr>
        <p:sp>
          <p:nvSpPr>
            <p:cNvPr id="147" name="Oval 263"/>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48" name="Line 264"/>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 name="Line 265"/>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0" name="Rectangle 266"/>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51" name="Oval 267"/>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52" name="Group 268"/>
            <p:cNvGrpSpPr>
              <a:grpSpLocks/>
            </p:cNvGrpSpPr>
            <p:nvPr/>
          </p:nvGrpSpPr>
          <p:grpSpPr bwMode="auto">
            <a:xfrm>
              <a:off x="3686" y="244"/>
              <a:ext cx="177" cy="66"/>
              <a:chOff x="2848" y="848"/>
              <a:chExt cx="140" cy="98"/>
            </a:xfrm>
          </p:grpSpPr>
          <p:sp>
            <p:nvSpPr>
              <p:cNvPr id="157" name="Line 269"/>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 name="Line 270"/>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9" name="Line 271"/>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3" name="Group 272"/>
            <p:cNvGrpSpPr>
              <a:grpSpLocks/>
            </p:cNvGrpSpPr>
            <p:nvPr/>
          </p:nvGrpSpPr>
          <p:grpSpPr bwMode="auto">
            <a:xfrm flipV="1">
              <a:off x="3686" y="243"/>
              <a:ext cx="177" cy="66"/>
              <a:chOff x="2848" y="848"/>
              <a:chExt cx="140" cy="98"/>
            </a:xfrm>
          </p:grpSpPr>
          <p:sp>
            <p:nvSpPr>
              <p:cNvPr id="154" name="Line 27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5" name="Line 27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 name="Line 27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60" name="Group 276"/>
          <p:cNvGrpSpPr>
            <a:grpSpLocks/>
          </p:cNvGrpSpPr>
          <p:nvPr/>
        </p:nvGrpSpPr>
        <p:grpSpPr bwMode="auto">
          <a:xfrm>
            <a:off x="7626716" y="2920506"/>
            <a:ext cx="666751" cy="233362"/>
            <a:chOff x="3600" y="219"/>
            <a:chExt cx="360" cy="175"/>
          </a:xfrm>
        </p:grpSpPr>
        <p:sp>
          <p:nvSpPr>
            <p:cNvPr id="161" name="Oval 277"/>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62" name="Line 278"/>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3" name="Line 279"/>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 name="Rectangle 28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65" name="Oval 281"/>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66" name="Group 282"/>
            <p:cNvGrpSpPr>
              <a:grpSpLocks/>
            </p:cNvGrpSpPr>
            <p:nvPr/>
          </p:nvGrpSpPr>
          <p:grpSpPr bwMode="auto">
            <a:xfrm>
              <a:off x="3686" y="244"/>
              <a:ext cx="177" cy="66"/>
              <a:chOff x="2848" y="848"/>
              <a:chExt cx="140" cy="98"/>
            </a:xfrm>
          </p:grpSpPr>
          <p:sp>
            <p:nvSpPr>
              <p:cNvPr id="171" name="Line 28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2" name="Line 28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 name="Line 28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7" name="Group 286"/>
            <p:cNvGrpSpPr>
              <a:grpSpLocks/>
            </p:cNvGrpSpPr>
            <p:nvPr/>
          </p:nvGrpSpPr>
          <p:grpSpPr bwMode="auto">
            <a:xfrm flipV="1">
              <a:off x="3686" y="243"/>
              <a:ext cx="177" cy="66"/>
              <a:chOff x="2848" y="848"/>
              <a:chExt cx="140" cy="98"/>
            </a:xfrm>
          </p:grpSpPr>
          <p:sp>
            <p:nvSpPr>
              <p:cNvPr id="168" name="Line 287"/>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 name="Line 288"/>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0" name="Line 289"/>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aphicFrame>
        <p:nvGraphicFramePr>
          <p:cNvPr id="174" name="Object 290"/>
          <p:cNvGraphicFramePr>
            <a:graphicFrameLocks noChangeAspect="1"/>
          </p:cNvGraphicFramePr>
          <p:nvPr/>
        </p:nvGraphicFramePr>
        <p:xfrm>
          <a:off x="8962334" y="2628407"/>
          <a:ext cx="554567" cy="319087"/>
        </p:xfrm>
        <a:graphic>
          <a:graphicData uri="http://schemas.openxmlformats.org/presentationml/2006/ole">
            <mc:AlternateContent xmlns:mc="http://schemas.openxmlformats.org/markup-compatibility/2006">
              <mc:Choice xmlns:v="urn:schemas-microsoft-com:vml" Requires="v">
                <p:oleObj name="Clip" r:id="rId3" imgW="1307263" imgH="1084139" progId="MS_ClipArt_Gallery.2">
                  <p:embed/>
                </p:oleObj>
              </mc:Choice>
              <mc:Fallback>
                <p:oleObj name="Clip" r:id="rId3" imgW="1307263" imgH="1084139" progId="MS_ClipArt_Gallery.2">
                  <p:embed/>
                  <p:pic>
                    <p:nvPicPr>
                      <p:cNvPr id="174" name="Object 29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62334" y="2628407"/>
                        <a:ext cx="554567" cy="319087"/>
                      </a:xfrm>
                      <a:prstGeom prst="rect">
                        <a:avLst/>
                      </a:prstGeom>
                      <a:noFill/>
                      <a:ln>
                        <a:noFill/>
                      </a:ln>
                      <a:effectLst/>
                    </p:spPr>
                  </p:pic>
                </p:oleObj>
              </mc:Fallback>
            </mc:AlternateContent>
          </a:graphicData>
        </a:graphic>
      </p:graphicFrame>
      <p:sp>
        <p:nvSpPr>
          <p:cNvPr id="175" name="Line 291"/>
          <p:cNvSpPr>
            <a:spLocks noChangeShapeType="1"/>
          </p:cNvSpPr>
          <p:nvPr/>
        </p:nvSpPr>
        <p:spPr bwMode="auto">
          <a:xfrm>
            <a:off x="3825182" y="2934793"/>
            <a:ext cx="304800"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6" name="Line 292"/>
          <p:cNvSpPr>
            <a:spLocks noChangeShapeType="1"/>
          </p:cNvSpPr>
          <p:nvPr/>
        </p:nvSpPr>
        <p:spPr bwMode="auto">
          <a:xfrm>
            <a:off x="6390582" y="2522043"/>
            <a:ext cx="304800"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 name="Line 294"/>
          <p:cNvSpPr>
            <a:spLocks noChangeShapeType="1"/>
          </p:cNvSpPr>
          <p:nvPr/>
        </p:nvSpPr>
        <p:spPr bwMode="auto">
          <a:xfrm flipH="1">
            <a:off x="4680316" y="3125293"/>
            <a:ext cx="465667"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8" name="Line 295"/>
          <p:cNvSpPr>
            <a:spLocks noChangeShapeType="1"/>
          </p:cNvSpPr>
          <p:nvPr/>
        </p:nvSpPr>
        <p:spPr bwMode="auto">
          <a:xfrm>
            <a:off x="5154449" y="2629993"/>
            <a:ext cx="8467"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 name="Freeform 299"/>
          <p:cNvSpPr>
            <a:spLocks/>
          </p:cNvSpPr>
          <p:nvPr/>
        </p:nvSpPr>
        <p:spPr bwMode="auto">
          <a:xfrm>
            <a:off x="1884200" y="2744293"/>
            <a:ext cx="558800" cy="419100"/>
          </a:xfrm>
          <a:custGeom>
            <a:avLst/>
            <a:gdLst>
              <a:gd name="T0" fmla="*/ 2147483646 w 264"/>
              <a:gd name="T1" fmla="*/ 0 h 264"/>
              <a:gd name="T2" fmla="*/ 2147483646 w 264"/>
              <a:gd name="T3" fmla="*/ 2147483646 h 264"/>
              <a:gd name="T4" fmla="*/ 0 w 264"/>
              <a:gd name="T5" fmla="*/ 2147483646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C00000"/>
              </a:solidFill>
            </a:endParaRPr>
          </a:p>
        </p:txBody>
      </p:sp>
      <p:sp>
        <p:nvSpPr>
          <p:cNvPr id="180" name="Text Box 300"/>
          <p:cNvSpPr txBox="1">
            <a:spLocks noChangeArrowheads="1"/>
          </p:cNvSpPr>
          <p:nvPr/>
        </p:nvSpPr>
        <p:spPr bwMode="auto">
          <a:xfrm>
            <a:off x="2015433" y="2487119"/>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1800" dirty="0">
                <a:solidFill>
                  <a:srgbClr val="C00000"/>
                </a:solidFill>
                <a:ea typeface="宋体" pitchFamily="2" charset="-122"/>
              </a:rPr>
              <a:t>3 </a:t>
            </a:r>
            <a:r>
              <a:rPr lang="zh-CN" altLang="en-US" sz="1800" dirty="0">
                <a:solidFill>
                  <a:srgbClr val="C00000"/>
                </a:solidFill>
                <a:ea typeface="宋体" pitchFamily="2" charset="-122"/>
              </a:rPr>
              <a:t>探测分组</a:t>
            </a:r>
          </a:p>
        </p:txBody>
      </p:sp>
      <p:sp>
        <p:nvSpPr>
          <p:cNvPr id="181" name="Freeform 301"/>
          <p:cNvSpPr>
            <a:spLocks/>
          </p:cNvSpPr>
          <p:nvPr/>
        </p:nvSpPr>
        <p:spPr bwMode="auto">
          <a:xfrm>
            <a:off x="1875733" y="2668094"/>
            <a:ext cx="1794933" cy="474663"/>
          </a:xfrm>
          <a:custGeom>
            <a:avLst/>
            <a:gdLst>
              <a:gd name="T0" fmla="*/ 2147483646 w 848"/>
              <a:gd name="T1" fmla="*/ 2147483646 h 299"/>
              <a:gd name="T2" fmla="*/ 2147483646 w 848"/>
              <a:gd name="T3" fmla="*/ 2147483646 h 299"/>
              <a:gd name="T4" fmla="*/ 2147483646 w 848"/>
              <a:gd name="T5" fmla="*/ 2147483646 h 299"/>
              <a:gd name="T6" fmla="*/ 2147483646 w 848"/>
              <a:gd name="T7" fmla="*/ 2147483646 h 299"/>
              <a:gd name="T8" fmla="*/ 0 w 848"/>
              <a:gd name="T9" fmla="*/ 2147483646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C00000"/>
              </a:solidFill>
            </a:endParaRPr>
          </a:p>
        </p:txBody>
      </p:sp>
      <p:sp>
        <p:nvSpPr>
          <p:cNvPr id="182" name="Text Box 302"/>
          <p:cNvSpPr txBox="1">
            <a:spLocks noChangeArrowheads="1"/>
          </p:cNvSpPr>
          <p:nvPr/>
        </p:nvSpPr>
        <p:spPr bwMode="auto">
          <a:xfrm>
            <a:off x="2777433" y="2976069"/>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1800" dirty="0">
                <a:solidFill>
                  <a:srgbClr val="C00000"/>
                </a:solidFill>
                <a:ea typeface="宋体" pitchFamily="2" charset="-122"/>
              </a:rPr>
              <a:t>3 </a:t>
            </a:r>
            <a:r>
              <a:rPr lang="zh-CN" altLang="en-US" sz="1800" dirty="0">
                <a:solidFill>
                  <a:srgbClr val="C00000"/>
                </a:solidFill>
                <a:ea typeface="宋体" pitchFamily="2" charset="-122"/>
              </a:rPr>
              <a:t>探测分组</a:t>
            </a:r>
          </a:p>
        </p:txBody>
      </p:sp>
      <p:sp>
        <p:nvSpPr>
          <p:cNvPr id="183" name="Freeform 303"/>
          <p:cNvSpPr>
            <a:spLocks/>
          </p:cNvSpPr>
          <p:nvPr/>
        </p:nvSpPr>
        <p:spPr bwMode="auto">
          <a:xfrm>
            <a:off x="1867266" y="2722069"/>
            <a:ext cx="2997200" cy="403225"/>
          </a:xfrm>
          <a:custGeom>
            <a:avLst/>
            <a:gdLst>
              <a:gd name="T0" fmla="*/ 2147483646 w 1416"/>
              <a:gd name="T1" fmla="*/ 2147483646 h 254"/>
              <a:gd name="T2" fmla="*/ 2147483646 w 1416"/>
              <a:gd name="T3" fmla="*/ 2147483646 h 254"/>
              <a:gd name="T4" fmla="*/ 2147483646 w 1416"/>
              <a:gd name="T5" fmla="*/ 2147483646 h 254"/>
              <a:gd name="T6" fmla="*/ 2147483646 w 1416"/>
              <a:gd name="T7" fmla="*/ 2147483646 h 254"/>
              <a:gd name="T8" fmla="*/ 2147483646 w 1416"/>
              <a:gd name="T9" fmla="*/ 2147483646 h 254"/>
              <a:gd name="T10" fmla="*/ 2147483646 w 1416"/>
              <a:gd name="T11" fmla="*/ 2147483646 h 254"/>
              <a:gd name="T12" fmla="*/ 0 w 1416"/>
              <a:gd name="T13" fmla="*/ 2147483646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C00000"/>
              </a:solidFill>
            </a:endParaRPr>
          </a:p>
        </p:txBody>
      </p:sp>
      <p:sp>
        <p:nvSpPr>
          <p:cNvPr id="184" name="Text Box 304"/>
          <p:cNvSpPr txBox="1">
            <a:spLocks noChangeArrowheads="1"/>
          </p:cNvSpPr>
          <p:nvPr/>
        </p:nvSpPr>
        <p:spPr bwMode="auto">
          <a:xfrm>
            <a:off x="4199833" y="2461719"/>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1800" dirty="0">
                <a:solidFill>
                  <a:srgbClr val="C00000"/>
                </a:solidFill>
                <a:ea typeface="宋体" pitchFamily="2" charset="-122"/>
              </a:rPr>
              <a:t>3 </a:t>
            </a:r>
            <a:r>
              <a:rPr lang="zh-CN" altLang="en-US" sz="1800" dirty="0">
                <a:solidFill>
                  <a:srgbClr val="C00000"/>
                </a:solidFill>
                <a:ea typeface="宋体" pitchFamily="2" charset="-122"/>
              </a:rPr>
              <a:t>探测分组</a:t>
            </a:r>
          </a:p>
        </p:txBody>
      </p:sp>
      <p:sp>
        <p:nvSpPr>
          <p:cNvPr id="185" name="Rectangle 3"/>
          <p:cNvSpPr txBox="1">
            <a:spLocks noChangeArrowheads="1"/>
          </p:cNvSpPr>
          <p:nvPr/>
        </p:nvSpPr>
        <p:spPr>
          <a:xfrm>
            <a:off x="838200" y="3971586"/>
            <a:ext cx="5477933" cy="2161851"/>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zh-CN" altLang="en-US" sz="2400" dirty="0">
                <a:latin typeface="微软雅黑" pitchFamily="34" charset="-122"/>
                <a:ea typeface="微软雅黑" pitchFamily="34" charset="-122"/>
              </a:rPr>
              <a:t>源向目的地发送一系列</a:t>
            </a:r>
            <a:r>
              <a:rPr lang="en-US" altLang="zh-CN" sz="2400" dirty="0">
                <a:latin typeface="微软雅黑" pitchFamily="34" charset="-122"/>
                <a:ea typeface="微软雅黑" pitchFamily="34" charset="-122"/>
              </a:rPr>
              <a:t>UDP</a:t>
            </a:r>
            <a:r>
              <a:rPr lang="zh-CN" altLang="en-US" sz="2400" dirty="0">
                <a:latin typeface="微软雅黑" pitchFamily="34" charset="-122"/>
                <a:ea typeface="微软雅黑" pitchFamily="34" charset="-122"/>
              </a:rPr>
              <a:t>段</a:t>
            </a:r>
            <a:r>
              <a:rPr lang="en-US" altLang="zh-CN" sz="2400" dirty="0">
                <a:latin typeface="微软雅黑" pitchFamily="34" charset="-122"/>
                <a:ea typeface="微软雅黑" pitchFamily="34" charset="-122"/>
              </a:rPr>
              <a:t>(</a:t>
            </a:r>
            <a:r>
              <a:rPr lang="zh-CN" altLang="en-US" sz="2400" dirty="0">
                <a:latin typeface="微软雅黑" pitchFamily="34" charset="-122"/>
                <a:ea typeface="微软雅黑" pitchFamily="34" charset="-122"/>
              </a:rPr>
              <a:t>不可能的端口号</a:t>
            </a:r>
            <a:r>
              <a:rPr lang="en-US" altLang="zh-CN" sz="2400" dirty="0">
                <a:latin typeface="微软雅黑" pitchFamily="34" charset="-122"/>
                <a:ea typeface="微软雅黑" pitchFamily="34" charset="-122"/>
              </a:rPr>
              <a:t>)</a:t>
            </a:r>
          </a:p>
          <a:p>
            <a:pPr lvl="1">
              <a:lnSpc>
                <a:spcPct val="110000"/>
              </a:lnSpc>
            </a:pPr>
            <a:r>
              <a:rPr lang="zh-CN" altLang="en-US" sz="2200" dirty="0">
                <a:latin typeface="微软雅黑" pitchFamily="34" charset="-122"/>
                <a:ea typeface="微软雅黑" pitchFamily="34" charset="-122"/>
              </a:rPr>
              <a:t>第一个 </a:t>
            </a:r>
            <a:r>
              <a:rPr lang="en-US" altLang="zh-CN" sz="2200" dirty="0">
                <a:latin typeface="微软雅黑" pitchFamily="34" charset="-122"/>
                <a:ea typeface="微软雅黑" pitchFamily="34" charset="-122"/>
              </a:rPr>
              <a:t>TTL =1</a:t>
            </a:r>
          </a:p>
          <a:p>
            <a:pPr lvl="1">
              <a:lnSpc>
                <a:spcPct val="110000"/>
              </a:lnSpc>
            </a:pPr>
            <a:r>
              <a:rPr lang="zh-CN" altLang="en-US" sz="2200" dirty="0">
                <a:latin typeface="微软雅黑" pitchFamily="34" charset="-122"/>
                <a:ea typeface="微软雅黑" pitchFamily="34" charset="-122"/>
              </a:rPr>
              <a:t>第二个 </a:t>
            </a:r>
            <a:r>
              <a:rPr lang="en-US" altLang="zh-CN" sz="2200" dirty="0">
                <a:latin typeface="微软雅黑" pitchFamily="34" charset="-122"/>
                <a:ea typeface="微软雅黑" pitchFamily="34" charset="-122"/>
              </a:rPr>
              <a:t>TTL=2, </a:t>
            </a:r>
            <a:r>
              <a:rPr lang="zh-CN" altLang="en-US" sz="2200" dirty="0">
                <a:latin typeface="微软雅黑" pitchFamily="34" charset="-122"/>
                <a:ea typeface="微软雅黑" pitchFamily="34" charset="-122"/>
              </a:rPr>
              <a:t>等</a:t>
            </a:r>
          </a:p>
        </p:txBody>
      </p:sp>
      <p:sp>
        <p:nvSpPr>
          <p:cNvPr id="186" name="Rectangle 3"/>
          <p:cNvSpPr txBox="1">
            <a:spLocks noChangeArrowheads="1"/>
          </p:cNvSpPr>
          <p:nvPr/>
        </p:nvSpPr>
        <p:spPr>
          <a:xfrm>
            <a:off x="6297448" y="3989736"/>
            <a:ext cx="5477933" cy="2143701"/>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zh-CN" altLang="en-US" sz="2400" dirty="0">
                <a:latin typeface="微软雅黑" pitchFamily="34" charset="-122"/>
                <a:ea typeface="微软雅黑" pitchFamily="34" charset="-122"/>
              </a:rPr>
              <a:t>当第</a:t>
            </a:r>
            <a:r>
              <a:rPr lang="en-US" altLang="zh-CN" sz="2400" dirty="0">
                <a:latin typeface="微软雅黑" pitchFamily="34" charset="-122"/>
                <a:ea typeface="微软雅黑" pitchFamily="34" charset="-122"/>
              </a:rPr>
              <a:t>n</a:t>
            </a:r>
            <a:r>
              <a:rPr lang="zh-CN" altLang="en-US" sz="2400" dirty="0">
                <a:latin typeface="微软雅黑" pitchFamily="34" charset="-122"/>
                <a:ea typeface="微软雅黑" pitchFamily="34" charset="-122"/>
              </a:rPr>
              <a:t>个数据报到达第</a:t>
            </a:r>
            <a:r>
              <a:rPr lang="en-US" altLang="zh-CN" sz="2400" dirty="0">
                <a:latin typeface="微软雅黑" pitchFamily="34" charset="-122"/>
                <a:ea typeface="微软雅黑" pitchFamily="34" charset="-122"/>
              </a:rPr>
              <a:t>n</a:t>
            </a:r>
            <a:r>
              <a:rPr lang="zh-CN" altLang="en-US" sz="2400" dirty="0">
                <a:latin typeface="微软雅黑" pitchFamily="34" charset="-122"/>
                <a:ea typeface="微软雅黑" pitchFamily="34" charset="-122"/>
              </a:rPr>
              <a:t>和路由器</a:t>
            </a:r>
            <a:r>
              <a:rPr lang="en-US" altLang="zh-CN" sz="2400" dirty="0">
                <a:latin typeface="微软雅黑" pitchFamily="34" charset="-122"/>
                <a:ea typeface="微软雅黑" pitchFamily="34" charset="-122"/>
              </a:rPr>
              <a:t>:</a:t>
            </a:r>
          </a:p>
          <a:p>
            <a:pPr lvl="1">
              <a:lnSpc>
                <a:spcPct val="110000"/>
              </a:lnSpc>
            </a:pPr>
            <a:r>
              <a:rPr lang="zh-CN" altLang="en-US" sz="2200" dirty="0">
                <a:latin typeface="微软雅黑" pitchFamily="34" charset="-122"/>
                <a:ea typeface="微软雅黑" pitchFamily="34" charset="-122"/>
              </a:rPr>
              <a:t>路由器丢弃数据报</a:t>
            </a:r>
          </a:p>
          <a:p>
            <a:pPr lvl="1">
              <a:lnSpc>
                <a:spcPct val="110000"/>
              </a:lnSpc>
            </a:pPr>
            <a:r>
              <a:rPr lang="zh-CN" altLang="en-US" sz="2200" dirty="0">
                <a:latin typeface="微软雅黑" pitchFamily="34" charset="-122"/>
                <a:ea typeface="微软雅黑" pitchFamily="34" charset="-122"/>
              </a:rPr>
              <a:t>并向源发送一个</a:t>
            </a:r>
            <a:r>
              <a:rPr lang="en-US" altLang="zh-CN" sz="2200" dirty="0">
                <a:latin typeface="微软雅黑" pitchFamily="34" charset="-122"/>
                <a:ea typeface="微软雅黑" pitchFamily="34" charset="-122"/>
              </a:rPr>
              <a:t>ICMP</a:t>
            </a:r>
            <a:r>
              <a:rPr lang="zh-CN" altLang="en-US" sz="2200" dirty="0">
                <a:latin typeface="微软雅黑" pitchFamily="34" charset="-122"/>
                <a:ea typeface="微软雅黑" pitchFamily="34" charset="-122"/>
              </a:rPr>
              <a:t>报文</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类型 </a:t>
            </a:r>
            <a:r>
              <a:rPr lang="en-US" altLang="zh-CN" sz="2200" dirty="0">
                <a:latin typeface="微软雅黑" pitchFamily="34" charset="-122"/>
                <a:ea typeface="微软雅黑" pitchFamily="34" charset="-122"/>
              </a:rPr>
              <a:t>11, </a:t>
            </a:r>
            <a:r>
              <a:rPr lang="zh-CN" altLang="en-US" sz="2200" dirty="0">
                <a:latin typeface="微软雅黑" pitchFamily="34" charset="-122"/>
                <a:ea typeface="微软雅黑" pitchFamily="34" charset="-122"/>
              </a:rPr>
              <a:t>编码</a:t>
            </a:r>
            <a:r>
              <a:rPr lang="en-US" altLang="zh-CN" sz="2200" dirty="0">
                <a:latin typeface="微软雅黑" pitchFamily="34" charset="-122"/>
                <a:ea typeface="微软雅黑" pitchFamily="34" charset="-122"/>
              </a:rPr>
              <a:t>0)</a:t>
            </a:r>
          </a:p>
          <a:p>
            <a:pPr lvl="1">
              <a:lnSpc>
                <a:spcPct val="110000"/>
              </a:lnSpc>
            </a:pPr>
            <a:r>
              <a:rPr lang="zh-CN" altLang="en-US" sz="2200" dirty="0">
                <a:latin typeface="微软雅黑" pitchFamily="34" charset="-122"/>
                <a:ea typeface="微软雅黑" pitchFamily="34" charset="-122"/>
              </a:rPr>
              <a:t>报文的源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地址就是该路由器的</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p>
        </p:txBody>
      </p:sp>
    </p:spTree>
    <p:extLst>
      <p:ext uri="{BB962C8B-B14F-4D97-AF65-F5344CB8AC3E}">
        <p14:creationId xmlns:p14="http://schemas.microsoft.com/office/powerpoint/2010/main" val="1873150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barn(inVertical)">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79"/>
                                        </p:tgtEl>
                                        <p:attrNameLst>
                                          <p:attrName>style.visibility</p:attrName>
                                        </p:attrNameLst>
                                      </p:cBhvr>
                                      <p:to>
                                        <p:strVal val="visible"/>
                                      </p:to>
                                    </p:set>
                                  </p:childTnLst>
                                  <p:subTnLst>
                                    <p:set>
                                      <p:cBhvr override="childStyle">
                                        <p:cTn dur="1" fill="hold" display="0" masterRel="nextClick" afterEffect="1"/>
                                        <p:tgtEl>
                                          <p:spTgt spid="179"/>
                                        </p:tgtEl>
                                        <p:attrNameLst>
                                          <p:attrName>style.visibility</p:attrName>
                                        </p:attrNameLst>
                                      </p:cBhvr>
                                      <p:to>
                                        <p:strVal val="hidden"/>
                                      </p:to>
                                    </p:set>
                                  </p:subTnLst>
                                </p:cTn>
                              </p:par>
                              <p:par>
                                <p:cTn id="16" presetID="1" presetClass="entr" presetSubtype="0" fill="hold" grpId="0" nodeType="withEffect">
                                  <p:stCondLst>
                                    <p:cond delay="0"/>
                                  </p:stCondLst>
                                  <p:childTnLst>
                                    <p:set>
                                      <p:cBhvr>
                                        <p:cTn id="17" dur="1" fill="hold">
                                          <p:stCondLst>
                                            <p:cond delay="0"/>
                                          </p:stCondLst>
                                        </p:cTn>
                                        <p:tgtEl>
                                          <p:spTgt spid="180"/>
                                        </p:tgtEl>
                                        <p:attrNameLst>
                                          <p:attrName>style.visibility</p:attrName>
                                        </p:attrNameLst>
                                      </p:cBhvr>
                                      <p:to>
                                        <p:strVal val="visible"/>
                                      </p:to>
                                    </p:se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81"/>
                                        </p:tgtEl>
                                        <p:attrNameLst>
                                          <p:attrName>style.visibility</p:attrName>
                                        </p:attrNameLst>
                                      </p:cBhvr>
                                      <p:to>
                                        <p:strVal val="visible"/>
                                      </p:to>
                                    </p:set>
                                  </p:childTnLst>
                                  <p:subTnLst>
                                    <p:set>
                                      <p:cBhvr override="childStyle">
                                        <p:cTn dur="1" fill="hold" display="0" masterRel="nextClick" afterEffect="1"/>
                                        <p:tgtEl>
                                          <p:spTgt spid="181"/>
                                        </p:tgtEl>
                                        <p:attrNameLst>
                                          <p:attrName>style.visibility</p:attrName>
                                        </p:attrNameLst>
                                      </p:cBhvr>
                                      <p:to>
                                        <p:strVal val="hidden"/>
                                      </p:to>
                                    </p:set>
                                  </p:subTnLst>
                                </p:cTn>
                              </p:par>
                              <p:par>
                                <p:cTn id="22" presetID="1" presetClass="entr" presetSubtype="0" fill="hold" grpId="0" nodeType="withEffect">
                                  <p:stCondLst>
                                    <p:cond delay="0"/>
                                  </p:stCondLst>
                                  <p:childTnLst>
                                    <p:set>
                                      <p:cBhvr>
                                        <p:cTn id="23" dur="1" fill="hold">
                                          <p:stCondLst>
                                            <p:cond delay="0"/>
                                          </p:stCondLst>
                                        </p:cTn>
                                        <p:tgtEl>
                                          <p:spTgt spid="182"/>
                                        </p:tgtEl>
                                        <p:attrNameLst>
                                          <p:attrName>style.visibility</p:attrName>
                                        </p:attrNameLst>
                                      </p:cBhvr>
                                      <p:to>
                                        <p:strVal val="visible"/>
                                      </p:to>
                                    </p:set>
                                  </p:childTnLst>
                                  <p:subTnLst>
                                    <p:set>
                                      <p:cBhvr override="childStyle">
                                        <p:cTn dur="1" fill="hold" display="0" masterRel="nextClick" afterEffect="1"/>
                                        <p:tgtEl>
                                          <p:spTgt spid="182"/>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83"/>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18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nodeType="clickEffect">
                                  <p:stCondLst>
                                    <p:cond delay="0"/>
                                  </p:stCondLst>
                                  <p:childTnLst>
                                    <p:set>
                                      <p:cBhvr>
                                        <p:cTn id="33" dur="1" fill="hold">
                                          <p:stCondLst>
                                            <p:cond delay="0"/>
                                          </p:stCondLst>
                                        </p:cTn>
                                        <p:tgtEl>
                                          <p:spTgt spid="185">
                                            <p:txEl>
                                              <p:pRg st="0" end="0"/>
                                            </p:txEl>
                                          </p:spTgt>
                                        </p:tgtEl>
                                        <p:attrNameLst>
                                          <p:attrName>style.visibility</p:attrName>
                                        </p:attrNameLst>
                                      </p:cBhvr>
                                      <p:to>
                                        <p:strVal val="visible"/>
                                      </p:to>
                                    </p:set>
                                    <p:animEffect transition="in" filter="blinds(horizontal)">
                                      <p:cBhvr>
                                        <p:cTn id="34" dur="500"/>
                                        <p:tgtEl>
                                          <p:spTgt spid="185">
                                            <p:txEl>
                                              <p:pRg st="0" end="0"/>
                                            </p:txEl>
                                          </p:spTgt>
                                        </p:tgtEl>
                                      </p:cBhvr>
                                    </p:animEffect>
                                  </p:childTnLst>
                                </p:cTn>
                              </p:par>
                              <p:par>
                                <p:cTn id="35" presetID="3" presetClass="entr" presetSubtype="10" fill="hold" nodeType="withEffect">
                                  <p:stCondLst>
                                    <p:cond delay="0"/>
                                  </p:stCondLst>
                                  <p:childTnLst>
                                    <p:set>
                                      <p:cBhvr>
                                        <p:cTn id="36" dur="1" fill="hold">
                                          <p:stCondLst>
                                            <p:cond delay="0"/>
                                          </p:stCondLst>
                                        </p:cTn>
                                        <p:tgtEl>
                                          <p:spTgt spid="185">
                                            <p:txEl>
                                              <p:pRg st="1" end="1"/>
                                            </p:txEl>
                                          </p:spTgt>
                                        </p:tgtEl>
                                        <p:attrNameLst>
                                          <p:attrName>style.visibility</p:attrName>
                                        </p:attrNameLst>
                                      </p:cBhvr>
                                      <p:to>
                                        <p:strVal val="visible"/>
                                      </p:to>
                                    </p:set>
                                    <p:animEffect transition="in" filter="blinds(horizontal)">
                                      <p:cBhvr>
                                        <p:cTn id="37" dur="500"/>
                                        <p:tgtEl>
                                          <p:spTgt spid="185">
                                            <p:txEl>
                                              <p:pRg st="1" end="1"/>
                                            </p:txEl>
                                          </p:spTgt>
                                        </p:tgtEl>
                                      </p:cBhvr>
                                    </p:animEffect>
                                  </p:childTnLst>
                                </p:cTn>
                              </p:par>
                              <p:par>
                                <p:cTn id="38" presetID="3" presetClass="entr" presetSubtype="10" fill="hold" nodeType="withEffect">
                                  <p:stCondLst>
                                    <p:cond delay="0"/>
                                  </p:stCondLst>
                                  <p:childTnLst>
                                    <p:set>
                                      <p:cBhvr>
                                        <p:cTn id="39" dur="1" fill="hold">
                                          <p:stCondLst>
                                            <p:cond delay="0"/>
                                          </p:stCondLst>
                                        </p:cTn>
                                        <p:tgtEl>
                                          <p:spTgt spid="185">
                                            <p:txEl>
                                              <p:pRg st="2" end="2"/>
                                            </p:txEl>
                                          </p:spTgt>
                                        </p:tgtEl>
                                        <p:attrNameLst>
                                          <p:attrName>style.visibility</p:attrName>
                                        </p:attrNameLst>
                                      </p:cBhvr>
                                      <p:to>
                                        <p:strVal val="visible"/>
                                      </p:to>
                                    </p:set>
                                    <p:animEffect transition="in" filter="blinds(horizontal)">
                                      <p:cBhvr>
                                        <p:cTn id="40" dur="500"/>
                                        <p:tgtEl>
                                          <p:spTgt spid="185">
                                            <p:txEl>
                                              <p:pRg st="2"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nodeType="clickEffect">
                                  <p:stCondLst>
                                    <p:cond delay="0"/>
                                  </p:stCondLst>
                                  <p:childTnLst>
                                    <p:set>
                                      <p:cBhvr>
                                        <p:cTn id="44" dur="1" fill="hold">
                                          <p:stCondLst>
                                            <p:cond delay="0"/>
                                          </p:stCondLst>
                                        </p:cTn>
                                        <p:tgtEl>
                                          <p:spTgt spid="186">
                                            <p:txEl>
                                              <p:pRg st="0" end="0"/>
                                            </p:txEl>
                                          </p:spTgt>
                                        </p:tgtEl>
                                        <p:attrNameLst>
                                          <p:attrName>style.visibility</p:attrName>
                                        </p:attrNameLst>
                                      </p:cBhvr>
                                      <p:to>
                                        <p:strVal val="visible"/>
                                      </p:to>
                                    </p:set>
                                    <p:animEffect transition="in" filter="blinds(horizontal)">
                                      <p:cBhvr>
                                        <p:cTn id="45" dur="500"/>
                                        <p:tgtEl>
                                          <p:spTgt spid="186">
                                            <p:txEl>
                                              <p:pRg st="0" end="0"/>
                                            </p:txEl>
                                          </p:spTgt>
                                        </p:tgtEl>
                                      </p:cBhvr>
                                    </p:animEffect>
                                  </p:childTnLst>
                                </p:cTn>
                              </p:par>
                              <p:par>
                                <p:cTn id="46" presetID="3" presetClass="entr" presetSubtype="10" fill="hold" nodeType="withEffect">
                                  <p:stCondLst>
                                    <p:cond delay="0"/>
                                  </p:stCondLst>
                                  <p:childTnLst>
                                    <p:set>
                                      <p:cBhvr>
                                        <p:cTn id="47" dur="1" fill="hold">
                                          <p:stCondLst>
                                            <p:cond delay="0"/>
                                          </p:stCondLst>
                                        </p:cTn>
                                        <p:tgtEl>
                                          <p:spTgt spid="186">
                                            <p:txEl>
                                              <p:pRg st="1" end="1"/>
                                            </p:txEl>
                                          </p:spTgt>
                                        </p:tgtEl>
                                        <p:attrNameLst>
                                          <p:attrName>style.visibility</p:attrName>
                                        </p:attrNameLst>
                                      </p:cBhvr>
                                      <p:to>
                                        <p:strVal val="visible"/>
                                      </p:to>
                                    </p:set>
                                    <p:animEffect transition="in" filter="blinds(horizontal)">
                                      <p:cBhvr>
                                        <p:cTn id="48" dur="500"/>
                                        <p:tgtEl>
                                          <p:spTgt spid="186">
                                            <p:txEl>
                                              <p:pRg st="1" end="1"/>
                                            </p:txEl>
                                          </p:spTgt>
                                        </p:tgtEl>
                                      </p:cBhvr>
                                    </p:animEffect>
                                  </p:childTnLst>
                                </p:cTn>
                              </p:par>
                              <p:par>
                                <p:cTn id="49" presetID="3" presetClass="entr" presetSubtype="10" fill="hold" nodeType="withEffect">
                                  <p:stCondLst>
                                    <p:cond delay="0"/>
                                  </p:stCondLst>
                                  <p:childTnLst>
                                    <p:set>
                                      <p:cBhvr>
                                        <p:cTn id="50" dur="1" fill="hold">
                                          <p:stCondLst>
                                            <p:cond delay="0"/>
                                          </p:stCondLst>
                                        </p:cTn>
                                        <p:tgtEl>
                                          <p:spTgt spid="186">
                                            <p:txEl>
                                              <p:pRg st="2" end="2"/>
                                            </p:txEl>
                                          </p:spTgt>
                                        </p:tgtEl>
                                        <p:attrNameLst>
                                          <p:attrName>style.visibility</p:attrName>
                                        </p:attrNameLst>
                                      </p:cBhvr>
                                      <p:to>
                                        <p:strVal val="visible"/>
                                      </p:to>
                                    </p:set>
                                    <p:animEffect transition="in" filter="blinds(horizontal)">
                                      <p:cBhvr>
                                        <p:cTn id="51" dur="500"/>
                                        <p:tgtEl>
                                          <p:spTgt spid="186">
                                            <p:txEl>
                                              <p:pRg st="2" end="2"/>
                                            </p:txEl>
                                          </p:spTgt>
                                        </p:tgtEl>
                                      </p:cBhvr>
                                    </p:animEffect>
                                  </p:childTnLst>
                                </p:cTn>
                              </p:par>
                              <p:par>
                                <p:cTn id="52" presetID="3" presetClass="entr" presetSubtype="10" fill="hold" nodeType="withEffect">
                                  <p:stCondLst>
                                    <p:cond delay="0"/>
                                  </p:stCondLst>
                                  <p:childTnLst>
                                    <p:set>
                                      <p:cBhvr>
                                        <p:cTn id="53" dur="1" fill="hold">
                                          <p:stCondLst>
                                            <p:cond delay="0"/>
                                          </p:stCondLst>
                                        </p:cTn>
                                        <p:tgtEl>
                                          <p:spTgt spid="186">
                                            <p:txEl>
                                              <p:pRg st="3" end="3"/>
                                            </p:txEl>
                                          </p:spTgt>
                                        </p:tgtEl>
                                        <p:attrNameLst>
                                          <p:attrName>style.visibility</p:attrName>
                                        </p:attrNameLst>
                                      </p:cBhvr>
                                      <p:to>
                                        <p:strVal val="visible"/>
                                      </p:to>
                                    </p:set>
                                    <p:animEffect transition="in" filter="blinds(horizontal)">
                                      <p:cBhvr>
                                        <p:cTn id="54" dur="500"/>
                                        <p:tgtEl>
                                          <p:spTgt spid="18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9" grpId="0" animBg="1"/>
      <p:bldP spid="180" grpId="0"/>
      <p:bldP spid="181" grpId="0" animBg="1"/>
      <p:bldP spid="182" grpId="0"/>
      <p:bldP spid="183" grpId="0" animBg="1"/>
      <p:bldP spid="184"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155</a:t>
            </a:fld>
            <a:endParaRPr kumimoji="1" lang="zh-CN" altLang="en-US" dirty="0"/>
          </a:p>
        </p:txBody>
      </p:sp>
      <p:sp>
        <p:nvSpPr>
          <p:cNvPr id="14" name="Rectangle 4">
            <a:extLst>
              <a:ext uri="{FF2B5EF4-FFF2-40B4-BE49-F238E27FC236}">
                <a16:creationId xmlns:a16="http://schemas.microsoft.com/office/drawing/2014/main" id="{FC811031-3315-0942-A8F2-880E674477A5}"/>
              </a:ext>
            </a:extLst>
          </p:cNvPr>
          <p:cNvSpPr txBox="1">
            <a:spLocks noChangeArrowheads="1"/>
          </p:cNvSpPr>
          <p:nvPr/>
        </p:nvSpPr>
        <p:spPr>
          <a:xfrm>
            <a:off x="6911937" y="2213510"/>
            <a:ext cx="3810000" cy="20050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2575" indent="-282575">
              <a:defRPr/>
            </a:pPr>
            <a:endParaRPr lang="en-US" sz="2400" dirty="0"/>
          </a:p>
        </p:txBody>
      </p:sp>
      <p:sp>
        <p:nvSpPr>
          <p:cNvPr id="320" name="内容占位符 2"/>
          <p:cNvSpPr txBox="1">
            <a:spLocks/>
          </p:cNvSpPr>
          <p:nvPr/>
        </p:nvSpPr>
        <p:spPr>
          <a:xfrm>
            <a:off x="876665" y="1391940"/>
            <a:ext cx="5029200" cy="4715809"/>
          </a:xfrm>
          <a:prstGeom prst="rect">
            <a:avLst/>
          </a:prstGeom>
        </p:spPr>
        <p:txBody>
          <a:bodyPr vert="horz" lIns="91440" tIns="45720" rIns="91440" bIns="45720" rtlCol="0">
            <a:normAutofit fontScale="2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40000"/>
              </a:lnSpc>
              <a:spcBef>
                <a:spcPts val="0"/>
              </a:spcBef>
              <a:buFont typeface="Wingdings" pitchFamily="2" charset="2"/>
              <a:buNone/>
            </a:pPr>
            <a:endParaRPr lang="en-US" altLang="zh-CN" sz="4000" dirty="0"/>
          </a:p>
          <a:p>
            <a:pPr marL="0" indent="0">
              <a:lnSpc>
                <a:spcPct val="140000"/>
              </a:lnSpc>
              <a:spcBef>
                <a:spcPts val="0"/>
              </a:spcBef>
              <a:buFont typeface="Wingdings" pitchFamily="2" charset="2"/>
              <a:buNone/>
            </a:pPr>
            <a:r>
              <a:rPr lang="en-US" altLang="zh-CN" sz="5600" dirty="0"/>
              <a:t>C:\&gt;tracert </a:t>
            </a:r>
            <a:r>
              <a:rPr lang="en-US" altLang="zh-CN" sz="5600" dirty="0">
                <a:hlinkClick r:id="rId3"/>
              </a:rPr>
              <a:t>www.taobao.com</a:t>
            </a:r>
            <a:endParaRPr lang="en-US" altLang="zh-CN" sz="5600" dirty="0"/>
          </a:p>
          <a:p>
            <a:pPr marL="0" indent="0">
              <a:lnSpc>
                <a:spcPct val="140000"/>
              </a:lnSpc>
              <a:spcBef>
                <a:spcPts val="0"/>
              </a:spcBef>
              <a:buFont typeface="Wingdings" pitchFamily="2" charset="2"/>
              <a:buNone/>
            </a:pPr>
            <a:endParaRPr lang="en-US" altLang="zh-CN" sz="5600" dirty="0"/>
          </a:p>
          <a:p>
            <a:pPr marL="0" indent="0">
              <a:lnSpc>
                <a:spcPct val="140000"/>
              </a:lnSpc>
              <a:spcBef>
                <a:spcPts val="0"/>
              </a:spcBef>
              <a:buFont typeface="Wingdings" pitchFamily="2" charset="2"/>
              <a:buNone/>
            </a:pPr>
            <a:r>
              <a:rPr lang="zh-CN" altLang="en-US" sz="5600" dirty="0"/>
              <a:t>通过最多 </a:t>
            </a:r>
            <a:r>
              <a:rPr lang="en-US" altLang="zh-CN" sz="5600" dirty="0"/>
              <a:t>30 </a:t>
            </a:r>
            <a:r>
              <a:rPr lang="zh-CN" altLang="en-US" sz="5600" dirty="0"/>
              <a:t>个跃点跟踪</a:t>
            </a:r>
          </a:p>
          <a:p>
            <a:pPr marL="0" indent="0">
              <a:lnSpc>
                <a:spcPct val="140000"/>
              </a:lnSpc>
              <a:spcBef>
                <a:spcPts val="0"/>
              </a:spcBef>
              <a:buFont typeface="Wingdings" pitchFamily="2" charset="2"/>
              <a:buNone/>
            </a:pPr>
            <a:r>
              <a:rPr lang="zh-CN" altLang="en-US" sz="5600" dirty="0"/>
              <a:t>到 </a:t>
            </a:r>
            <a:r>
              <a:rPr lang="en-US" altLang="zh-CN" sz="5600" dirty="0"/>
              <a:t>www.taobao.com.danuoyi.tbcache.com [27.211.197.171] </a:t>
            </a:r>
            <a:r>
              <a:rPr lang="zh-CN" altLang="en-US" sz="5600" dirty="0"/>
              <a:t>的路由</a:t>
            </a:r>
            <a:r>
              <a:rPr lang="en-US" altLang="zh-CN" sz="5600" dirty="0"/>
              <a:t>:</a:t>
            </a:r>
          </a:p>
          <a:p>
            <a:pPr marL="0" indent="0">
              <a:lnSpc>
                <a:spcPct val="140000"/>
              </a:lnSpc>
              <a:spcBef>
                <a:spcPts val="0"/>
              </a:spcBef>
              <a:buFont typeface="Wingdings" pitchFamily="2" charset="2"/>
              <a:buNone/>
            </a:pPr>
            <a:endParaRPr lang="en-US" altLang="zh-CN" sz="5600" dirty="0"/>
          </a:p>
          <a:p>
            <a:pPr marL="0" indent="0">
              <a:lnSpc>
                <a:spcPct val="140000"/>
              </a:lnSpc>
              <a:spcBef>
                <a:spcPts val="0"/>
              </a:spcBef>
              <a:buFont typeface="Wingdings" pitchFamily="2" charset="2"/>
              <a:buNone/>
            </a:pPr>
            <a:r>
              <a:rPr lang="en-US" altLang="zh-CN" sz="5600" dirty="0"/>
              <a:t>  1     3 </a:t>
            </a:r>
            <a:r>
              <a:rPr lang="en-US" altLang="zh-CN" sz="5600" dirty="0" err="1"/>
              <a:t>ms</a:t>
            </a:r>
            <a:r>
              <a:rPr lang="en-US" altLang="zh-CN" sz="5600" dirty="0"/>
              <a:t>     2 </a:t>
            </a:r>
            <a:r>
              <a:rPr lang="en-US" altLang="zh-CN" sz="5600" dirty="0" err="1"/>
              <a:t>ms</a:t>
            </a:r>
            <a:r>
              <a:rPr lang="en-US" altLang="zh-CN" sz="5600" dirty="0"/>
              <a:t>     4 </a:t>
            </a:r>
            <a:r>
              <a:rPr lang="en-US" altLang="zh-CN" sz="5600" dirty="0" err="1"/>
              <a:t>ms</a:t>
            </a:r>
            <a:r>
              <a:rPr lang="en-US" altLang="zh-CN" sz="5600" dirty="0"/>
              <a:t>  192.168.3.1</a:t>
            </a:r>
          </a:p>
          <a:p>
            <a:pPr marL="0" indent="0">
              <a:lnSpc>
                <a:spcPct val="140000"/>
              </a:lnSpc>
              <a:spcBef>
                <a:spcPts val="0"/>
              </a:spcBef>
              <a:buFont typeface="Wingdings" pitchFamily="2" charset="2"/>
              <a:buNone/>
            </a:pPr>
            <a:r>
              <a:rPr lang="en-US" altLang="zh-CN" sz="5600" dirty="0"/>
              <a:t>  2     3 </a:t>
            </a:r>
            <a:r>
              <a:rPr lang="en-US" altLang="zh-CN" sz="5600" dirty="0" err="1"/>
              <a:t>ms</a:t>
            </a:r>
            <a:r>
              <a:rPr lang="en-US" altLang="zh-CN" sz="5600" dirty="0"/>
              <a:t>     6 </a:t>
            </a:r>
            <a:r>
              <a:rPr lang="en-US" altLang="zh-CN" sz="5600" dirty="0" err="1"/>
              <a:t>ms</a:t>
            </a:r>
            <a:r>
              <a:rPr lang="en-US" altLang="zh-CN" sz="5600" dirty="0"/>
              <a:t>     3 </a:t>
            </a:r>
            <a:r>
              <a:rPr lang="en-US" altLang="zh-CN" sz="5600" dirty="0" err="1"/>
              <a:t>ms</a:t>
            </a:r>
            <a:r>
              <a:rPr lang="en-US" altLang="zh-CN" sz="5600" dirty="0"/>
              <a:t>  SMBSHARE [192.168.1.1]</a:t>
            </a:r>
          </a:p>
          <a:p>
            <a:pPr marL="0" indent="0">
              <a:lnSpc>
                <a:spcPct val="140000"/>
              </a:lnSpc>
              <a:spcBef>
                <a:spcPts val="0"/>
              </a:spcBef>
              <a:buFont typeface="Wingdings" pitchFamily="2" charset="2"/>
              <a:buNone/>
            </a:pPr>
            <a:r>
              <a:rPr lang="en-US" altLang="zh-CN" sz="5600" dirty="0"/>
              <a:t>  3     6 </a:t>
            </a:r>
            <a:r>
              <a:rPr lang="en-US" altLang="zh-CN" sz="5600" dirty="0" err="1"/>
              <a:t>ms</a:t>
            </a:r>
            <a:r>
              <a:rPr lang="en-US" altLang="zh-CN" sz="5600" dirty="0"/>
              <a:t>     9 </a:t>
            </a:r>
            <a:r>
              <a:rPr lang="en-US" altLang="zh-CN" sz="5600" dirty="0" err="1"/>
              <a:t>ms</a:t>
            </a:r>
            <a:r>
              <a:rPr lang="en-US" altLang="zh-CN" sz="5600" dirty="0"/>
              <a:t>     5 </a:t>
            </a:r>
            <a:r>
              <a:rPr lang="en-US" altLang="zh-CN" sz="5600" dirty="0" err="1"/>
              <a:t>ms</a:t>
            </a:r>
            <a:r>
              <a:rPr lang="en-US" altLang="zh-CN" sz="5600" dirty="0"/>
              <a:t>  27.215.136.1</a:t>
            </a:r>
          </a:p>
          <a:p>
            <a:pPr marL="0" indent="0">
              <a:lnSpc>
                <a:spcPct val="140000"/>
              </a:lnSpc>
              <a:spcBef>
                <a:spcPts val="0"/>
              </a:spcBef>
              <a:buFont typeface="Wingdings" pitchFamily="2" charset="2"/>
              <a:buNone/>
            </a:pPr>
            <a:r>
              <a:rPr lang="en-US" altLang="zh-CN" sz="5600" dirty="0"/>
              <a:t>  4     6 </a:t>
            </a:r>
            <a:r>
              <a:rPr lang="en-US" altLang="zh-CN" sz="5600" dirty="0" err="1"/>
              <a:t>ms</a:t>
            </a:r>
            <a:r>
              <a:rPr lang="en-US" altLang="zh-CN" sz="5600" dirty="0"/>
              <a:t>    11 </a:t>
            </a:r>
            <a:r>
              <a:rPr lang="en-US" altLang="zh-CN" sz="5600" dirty="0" err="1"/>
              <a:t>ms</a:t>
            </a:r>
            <a:r>
              <a:rPr lang="en-US" altLang="zh-CN" sz="5600" dirty="0"/>
              <a:t>     7 </a:t>
            </a:r>
            <a:r>
              <a:rPr lang="en-US" altLang="zh-CN" sz="5600" dirty="0" err="1"/>
              <a:t>ms</a:t>
            </a:r>
            <a:r>
              <a:rPr lang="en-US" altLang="zh-CN" sz="5600" dirty="0"/>
              <a:t>  61.162.199.89</a:t>
            </a:r>
          </a:p>
          <a:p>
            <a:pPr marL="0" indent="0">
              <a:lnSpc>
                <a:spcPct val="140000"/>
              </a:lnSpc>
              <a:spcBef>
                <a:spcPts val="0"/>
              </a:spcBef>
              <a:buFont typeface="Wingdings" pitchFamily="2" charset="2"/>
              <a:buNone/>
            </a:pPr>
            <a:r>
              <a:rPr lang="en-US" altLang="zh-CN" sz="5600" dirty="0"/>
              <a:t>  5     7 </a:t>
            </a:r>
            <a:r>
              <a:rPr lang="en-US" altLang="zh-CN" sz="5600" dirty="0" err="1"/>
              <a:t>ms</a:t>
            </a:r>
            <a:r>
              <a:rPr lang="en-US" altLang="zh-CN" sz="5600" dirty="0"/>
              <a:t>    18 </a:t>
            </a:r>
            <a:r>
              <a:rPr lang="en-US" altLang="zh-CN" sz="5600" dirty="0" err="1"/>
              <a:t>ms</a:t>
            </a:r>
            <a:r>
              <a:rPr lang="en-US" altLang="zh-CN" sz="5600" dirty="0"/>
              <a:t>   21 </a:t>
            </a:r>
            <a:r>
              <a:rPr lang="en-US" altLang="zh-CN" sz="5600" dirty="0" err="1"/>
              <a:t>ms</a:t>
            </a:r>
            <a:r>
              <a:rPr lang="en-US" altLang="zh-CN" sz="5600" dirty="0"/>
              <a:t>   61.162.199.9</a:t>
            </a:r>
          </a:p>
          <a:p>
            <a:pPr marL="0" indent="0">
              <a:lnSpc>
                <a:spcPct val="140000"/>
              </a:lnSpc>
              <a:spcBef>
                <a:spcPts val="0"/>
              </a:spcBef>
              <a:buFont typeface="Wingdings" pitchFamily="2" charset="2"/>
              <a:buNone/>
            </a:pPr>
            <a:r>
              <a:rPr lang="en-US" altLang="zh-CN" sz="5600" dirty="0"/>
              <a:t>  6    23 </a:t>
            </a:r>
            <a:r>
              <a:rPr lang="en-US" altLang="zh-CN" sz="5600" dirty="0" err="1"/>
              <a:t>ms</a:t>
            </a:r>
            <a:r>
              <a:rPr lang="en-US" altLang="zh-CN" sz="5600" dirty="0"/>
              <a:t>    29 </a:t>
            </a:r>
            <a:r>
              <a:rPr lang="en-US" altLang="zh-CN" sz="5600" dirty="0" err="1"/>
              <a:t>ms</a:t>
            </a:r>
            <a:r>
              <a:rPr lang="en-US" altLang="zh-CN" sz="5600" dirty="0"/>
              <a:t>  22 </a:t>
            </a:r>
            <a:r>
              <a:rPr lang="en-US" altLang="zh-CN" sz="5600" dirty="0" err="1"/>
              <a:t>ms</a:t>
            </a:r>
            <a:r>
              <a:rPr lang="en-US" altLang="zh-CN" sz="5600" dirty="0"/>
              <a:t>   61.156.223.69</a:t>
            </a:r>
          </a:p>
          <a:p>
            <a:pPr marL="0" indent="0">
              <a:lnSpc>
                <a:spcPct val="140000"/>
              </a:lnSpc>
              <a:spcBef>
                <a:spcPts val="0"/>
              </a:spcBef>
              <a:buFont typeface="Wingdings" pitchFamily="2" charset="2"/>
              <a:buNone/>
            </a:pPr>
            <a:r>
              <a:rPr lang="en-US" altLang="zh-CN" sz="5600" dirty="0"/>
              <a:t>  7    28 </a:t>
            </a:r>
            <a:r>
              <a:rPr lang="en-US" altLang="zh-CN" sz="5600" dirty="0" err="1"/>
              <a:t>ms</a:t>
            </a:r>
            <a:r>
              <a:rPr lang="en-US" altLang="zh-CN" sz="5600" dirty="0"/>
              <a:t>    31 </a:t>
            </a:r>
            <a:r>
              <a:rPr lang="en-US" altLang="zh-CN" sz="5600" dirty="0" err="1"/>
              <a:t>ms</a:t>
            </a:r>
            <a:r>
              <a:rPr lang="en-US" altLang="zh-CN" sz="5600" dirty="0"/>
              <a:t>  20 </a:t>
            </a:r>
            <a:r>
              <a:rPr lang="en-US" altLang="zh-CN" sz="5600" dirty="0" err="1"/>
              <a:t>ms</a:t>
            </a:r>
            <a:r>
              <a:rPr lang="en-US" altLang="zh-CN" sz="5600" dirty="0"/>
              <a:t>  112.230.160.54</a:t>
            </a:r>
          </a:p>
          <a:p>
            <a:pPr marL="0" indent="0">
              <a:lnSpc>
                <a:spcPct val="140000"/>
              </a:lnSpc>
              <a:spcBef>
                <a:spcPts val="0"/>
              </a:spcBef>
              <a:buFont typeface="Wingdings" pitchFamily="2" charset="2"/>
              <a:buNone/>
            </a:pPr>
            <a:r>
              <a:rPr lang="en-US" altLang="zh-CN" sz="5600" dirty="0"/>
              <a:t>  8    19 </a:t>
            </a:r>
            <a:r>
              <a:rPr lang="en-US" altLang="zh-CN" sz="5600" dirty="0" err="1"/>
              <a:t>ms</a:t>
            </a:r>
            <a:r>
              <a:rPr lang="en-US" altLang="zh-CN" sz="5600" dirty="0"/>
              <a:t>    27 </a:t>
            </a:r>
            <a:r>
              <a:rPr lang="en-US" altLang="zh-CN" sz="5600" dirty="0" err="1"/>
              <a:t>ms</a:t>
            </a:r>
            <a:r>
              <a:rPr lang="en-US" altLang="zh-CN" sz="5600" dirty="0"/>
              <a:t>  36 </a:t>
            </a:r>
            <a:r>
              <a:rPr lang="en-US" altLang="zh-CN" sz="5600" dirty="0" err="1"/>
              <a:t>ms</a:t>
            </a:r>
            <a:r>
              <a:rPr lang="en-US" altLang="zh-CN" sz="5600" dirty="0"/>
              <a:t>   60.208.64.230</a:t>
            </a:r>
          </a:p>
          <a:p>
            <a:pPr marL="0" indent="0">
              <a:lnSpc>
                <a:spcPct val="140000"/>
              </a:lnSpc>
              <a:spcBef>
                <a:spcPts val="0"/>
              </a:spcBef>
              <a:buFont typeface="Wingdings" pitchFamily="2" charset="2"/>
              <a:buNone/>
            </a:pPr>
            <a:r>
              <a:rPr lang="en-US" altLang="zh-CN" sz="5600" dirty="0"/>
              <a:t>  9    15 </a:t>
            </a:r>
            <a:r>
              <a:rPr lang="en-US" altLang="zh-CN" sz="5600" dirty="0" err="1"/>
              <a:t>ms</a:t>
            </a:r>
            <a:r>
              <a:rPr lang="en-US" altLang="zh-CN" sz="5600" dirty="0"/>
              <a:t>    15 </a:t>
            </a:r>
            <a:r>
              <a:rPr lang="en-US" altLang="zh-CN" sz="5600" dirty="0" err="1"/>
              <a:t>ms</a:t>
            </a:r>
            <a:r>
              <a:rPr lang="en-US" altLang="zh-CN" sz="5600" dirty="0"/>
              <a:t>  16 </a:t>
            </a:r>
            <a:r>
              <a:rPr lang="en-US" altLang="zh-CN" sz="5600" dirty="0" err="1"/>
              <a:t>ms</a:t>
            </a:r>
            <a:r>
              <a:rPr lang="en-US" altLang="zh-CN" sz="5600" dirty="0"/>
              <a:t>  119.164.254.86</a:t>
            </a:r>
          </a:p>
          <a:p>
            <a:pPr marL="0" indent="0">
              <a:lnSpc>
                <a:spcPct val="140000"/>
              </a:lnSpc>
              <a:spcBef>
                <a:spcPts val="0"/>
              </a:spcBef>
              <a:buFont typeface="Wingdings" pitchFamily="2" charset="2"/>
              <a:buNone/>
            </a:pPr>
            <a:r>
              <a:rPr lang="en-US" altLang="zh-CN" sz="5600" dirty="0"/>
              <a:t> 10   19 </a:t>
            </a:r>
            <a:r>
              <a:rPr lang="en-US" altLang="zh-CN" sz="5600" dirty="0" err="1"/>
              <a:t>ms</a:t>
            </a:r>
            <a:r>
              <a:rPr lang="en-US" altLang="zh-CN" sz="5600" dirty="0"/>
              <a:t>    13 </a:t>
            </a:r>
            <a:r>
              <a:rPr lang="en-US" altLang="zh-CN" sz="5600" dirty="0" err="1"/>
              <a:t>ms</a:t>
            </a:r>
            <a:r>
              <a:rPr lang="en-US" altLang="zh-CN" sz="5600" dirty="0"/>
              <a:t>  13 </a:t>
            </a:r>
            <a:r>
              <a:rPr lang="en-US" altLang="zh-CN" sz="5600" dirty="0" err="1"/>
              <a:t>ms</a:t>
            </a:r>
            <a:r>
              <a:rPr lang="en-US" altLang="zh-CN" sz="5600" dirty="0"/>
              <a:t>  27.211.197.171</a:t>
            </a:r>
          </a:p>
          <a:p>
            <a:pPr marL="0" indent="0">
              <a:lnSpc>
                <a:spcPct val="140000"/>
              </a:lnSpc>
              <a:spcBef>
                <a:spcPts val="0"/>
              </a:spcBef>
              <a:buFont typeface="Wingdings" pitchFamily="2" charset="2"/>
              <a:buNone/>
            </a:pPr>
            <a:endParaRPr lang="en-US" altLang="zh-CN" sz="5600" dirty="0"/>
          </a:p>
          <a:p>
            <a:pPr marL="0" indent="0">
              <a:lnSpc>
                <a:spcPct val="140000"/>
              </a:lnSpc>
              <a:spcBef>
                <a:spcPts val="0"/>
              </a:spcBef>
              <a:buFont typeface="Wingdings" pitchFamily="2" charset="2"/>
              <a:buNone/>
            </a:pPr>
            <a:r>
              <a:rPr lang="zh-CN" altLang="en-US" sz="5600" dirty="0"/>
              <a:t>跟踪完成。</a:t>
            </a:r>
          </a:p>
          <a:p>
            <a:endParaRPr lang="zh-CN" altLang="en-US" dirty="0"/>
          </a:p>
          <a:p>
            <a:pPr marL="0" indent="0">
              <a:buFont typeface="Wingdings" pitchFamily="2" charset="2"/>
              <a:buNone/>
            </a:pPr>
            <a:endParaRPr lang="zh-CN" altLang="en-US" dirty="0"/>
          </a:p>
        </p:txBody>
      </p:sp>
      <p:sp>
        <p:nvSpPr>
          <p:cNvPr id="3" name="日期占位符 2"/>
          <p:cNvSpPr>
            <a:spLocks noGrp="1"/>
          </p:cNvSpPr>
          <p:nvPr>
            <p:ph type="dt" sz="half" idx="10"/>
          </p:nvPr>
        </p:nvSpPr>
        <p:spPr/>
        <p:txBody>
          <a:bodyPr/>
          <a:lstStyle/>
          <a:p>
            <a:r>
              <a:rPr kumimoji="1" lang="en-US" altLang="zh-CN" dirty="0"/>
              <a:t>5.6.6 Internet</a:t>
            </a:r>
            <a:r>
              <a:rPr kumimoji="1" lang="zh-CN" altLang="en-US" dirty="0"/>
              <a:t>控制报文协议</a:t>
            </a:r>
          </a:p>
        </p:txBody>
      </p:sp>
      <p:sp>
        <p:nvSpPr>
          <p:cNvPr id="98" name="Rectangle 4"/>
          <p:cNvSpPr txBox="1">
            <a:spLocks noChangeArrowheads="1"/>
          </p:cNvSpPr>
          <p:nvPr/>
        </p:nvSpPr>
        <p:spPr>
          <a:xfrm>
            <a:off x="6324562" y="1882587"/>
            <a:ext cx="4984749" cy="4343401"/>
          </a:xfrm>
          <a:prstGeom prst="rect">
            <a:avLst/>
          </a:prstGeom>
        </p:spPr>
        <p:txBody>
          <a:bodyPr/>
          <a:lstStyle>
            <a:lvl1pPr marL="228600" indent="-228600" algn="l" defTabSz="914400" rtl="0" eaLnBrk="1" latinLnBrk="0" hangingPunct="1">
              <a:lnSpc>
                <a:spcPct val="100000"/>
              </a:lnSpc>
              <a:spcBef>
                <a:spcPts val="600"/>
              </a:spcBef>
              <a:buFont typeface="Arial" panose="020B060402020202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buFont typeface="Wingdings" pitchFamily="2" charset="2"/>
              <a:buChar char="Ø"/>
            </a:pPr>
            <a:r>
              <a:rPr lang="zh-CN" altLang="en-US" sz="2400" dirty="0">
                <a:latin typeface="微软雅黑" pitchFamily="34" charset="-122"/>
                <a:ea typeface="微软雅黑" pitchFamily="34" charset="-122"/>
              </a:rPr>
              <a:t>当源收到</a:t>
            </a: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报文，计算 </a:t>
            </a:r>
            <a:r>
              <a:rPr lang="en-US" altLang="zh-CN" sz="2400" dirty="0">
                <a:latin typeface="微软雅黑" pitchFamily="34" charset="-122"/>
                <a:ea typeface="微软雅黑" pitchFamily="34" charset="-122"/>
              </a:rPr>
              <a:t>RTT</a:t>
            </a:r>
          </a:p>
          <a:p>
            <a:pPr>
              <a:lnSpc>
                <a:spcPct val="110000"/>
              </a:lnSpc>
              <a:buFont typeface="Wingdings" pitchFamily="2" charset="2"/>
              <a:buChar char="Ø"/>
            </a:pPr>
            <a:r>
              <a:rPr lang="en-US" altLang="zh-CN" sz="2400" dirty="0" err="1">
                <a:latin typeface="微软雅黑" pitchFamily="34" charset="-122"/>
                <a:ea typeface="微软雅黑" pitchFamily="34" charset="-122"/>
              </a:rPr>
              <a:t>Tracert</a:t>
            </a:r>
            <a:r>
              <a:rPr lang="zh-CN" altLang="en-US" sz="2400" dirty="0">
                <a:latin typeface="微软雅黑" pitchFamily="34" charset="-122"/>
                <a:ea typeface="微软雅黑" pitchFamily="34" charset="-122"/>
              </a:rPr>
              <a:t>针对同一</a:t>
            </a:r>
            <a:r>
              <a:rPr lang="en-US" altLang="zh-CN" sz="2400" dirty="0">
                <a:latin typeface="微软雅黑" pitchFamily="34" charset="-122"/>
                <a:ea typeface="微软雅黑" pitchFamily="34" charset="-122"/>
              </a:rPr>
              <a:t>RTT</a:t>
            </a:r>
            <a:r>
              <a:rPr lang="zh-CN" altLang="en-US" sz="2400" dirty="0">
                <a:latin typeface="微软雅黑" pitchFamily="34" charset="-122"/>
                <a:ea typeface="微软雅黑" pitchFamily="34" charset="-122"/>
              </a:rPr>
              <a:t>值执行上述过程</a:t>
            </a:r>
            <a:r>
              <a:rPr lang="en-US" altLang="zh-CN" sz="2400" dirty="0">
                <a:latin typeface="微软雅黑" pitchFamily="34" charset="-122"/>
                <a:ea typeface="微软雅黑" pitchFamily="34" charset="-122"/>
              </a:rPr>
              <a:t>3</a:t>
            </a:r>
            <a:r>
              <a:rPr lang="zh-CN" altLang="en-US" sz="2400" dirty="0">
                <a:latin typeface="微软雅黑" pitchFamily="34" charset="-122"/>
                <a:ea typeface="微软雅黑" pitchFamily="34" charset="-122"/>
              </a:rPr>
              <a:t>次</a:t>
            </a:r>
            <a:endParaRPr lang="en-US" altLang="zh-CN" sz="2400" dirty="0">
              <a:latin typeface="微软雅黑" pitchFamily="34" charset="-122"/>
              <a:ea typeface="微软雅黑" pitchFamily="34" charset="-122"/>
            </a:endParaRPr>
          </a:p>
          <a:p>
            <a:pPr>
              <a:lnSpc>
                <a:spcPct val="110000"/>
              </a:lnSpc>
              <a:buFont typeface="Wingdings" pitchFamily="2" charset="2"/>
              <a:buChar char="Ø"/>
            </a:pPr>
            <a:endParaRPr lang="en-US" altLang="zh-CN" sz="2400" dirty="0">
              <a:latin typeface="微软雅黑" pitchFamily="34" charset="-122"/>
              <a:ea typeface="微软雅黑" pitchFamily="34" charset="-122"/>
            </a:endParaRPr>
          </a:p>
          <a:p>
            <a:pPr>
              <a:lnSpc>
                <a:spcPct val="110000"/>
              </a:lnSpc>
              <a:buFont typeface="ZapfDingbats" pitchFamily="82" charset="2"/>
              <a:buNone/>
            </a:pPr>
            <a:r>
              <a:rPr lang="zh-CN" altLang="en-US" sz="3000" dirty="0">
                <a:solidFill>
                  <a:srgbClr val="C00000"/>
                </a:solidFill>
                <a:latin typeface="微软雅黑" pitchFamily="34" charset="-122"/>
                <a:ea typeface="微软雅黑" pitchFamily="34" charset="-122"/>
              </a:rPr>
              <a:t>停止条件</a:t>
            </a:r>
            <a:endParaRPr lang="en-US" altLang="zh-CN" sz="3000" dirty="0">
              <a:solidFill>
                <a:srgbClr val="C00000"/>
              </a:solidFill>
              <a:latin typeface="微软雅黑" pitchFamily="34" charset="-122"/>
              <a:ea typeface="微软雅黑" pitchFamily="34" charset="-122"/>
            </a:endParaRPr>
          </a:p>
          <a:p>
            <a:pPr>
              <a:lnSpc>
                <a:spcPct val="110000"/>
              </a:lnSpc>
              <a:buFont typeface="Wingdings" pitchFamily="2" charset="2"/>
              <a:buChar char="Ø"/>
            </a:pPr>
            <a:r>
              <a:rPr lang="en-US" altLang="zh-CN" sz="2400" dirty="0">
                <a:latin typeface="微软雅黑" pitchFamily="34" charset="-122"/>
                <a:ea typeface="微软雅黑" pitchFamily="34" charset="-122"/>
              </a:rPr>
              <a:t>UDP</a:t>
            </a:r>
            <a:r>
              <a:rPr lang="zh-CN" altLang="en-US" sz="2400" dirty="0">
                <a:latin typeface="微软雅黑" pitchFamily="34" charset="-122"/>
                <a:ea typeface="微软雅黑" pitchFamily="34" charset="-122"/>
              </a:rPr>
              <a:t>段最终到达目的地主机</a:t>
            </a:r>
            <a:endParaRPr lang="en-US" altLang="zh-CN" sz="2400" dirty="0">
              <a:latin typeface="微软雅黑" pitchFamily="34" charset="-122"/>
              <a:ea typeface="微软雅黑" pitchFamily="34" charset="-122"/>
            </a:endParaRPr>
          </a:p>
          <a:p>
            <a:pPr>
              <a:lnSpc>
                <a:spcPct val="110000"/>
              </a:lnSpc>
              <a:buFont typeface="Wingdings" pitchFamily="2" charset="2"/>
              <a:buChar char="Ø"/>
            </a:pPr>
            <a:r>
              <a:rPr lang="zh-CN" altLang="en-US" sz="2400" dirty="0">
                <a:latin typeface="微软雅黑" pitchFamily="34" charset="-122"/>
                <a:ea typeface="微软雅黑" pitchFamily="34" charset="-122"/>
              </a:rPr>
              <a:t>目的地返回</a:t>
            </a:r>
            <a:r>
              <a:rPr lang="en-US" altLang="zh-CN" sz="2400" dirty="0">
                <a:latin typeface="微软雅黑" pitchFamily="34" charset="-122"/>
                <a:ea typeface="微软雅黑" pitchFamily="34" charset="-122"/>
              </a:rPr>
              <a:t>ICMP </a:t>
            </a:r>
            <a:r>
              <a:rPr lang="zh-CN" altLang="en-US" sz="2400" dirty="0">
                <a:latin typeface="微软雅黑" pitchFamily="34" charset="-122"/>
                <a:ea typeface="微软雅黑" pitchFamily="34" charset="-122"/>
              </a:rPr>
              <a:t>“端口不可达”分组 </a:t>
            </a:r>
            <a:r>
              <a:rPr lang="en-US" altLang="zh-CN" sz="2400" dirty="0">
                <a:latin typeface="微软雅黑" pitchFamily="34" charset="-122"/>
                <a:ea typeface="微软雅黑" pitchFamily="34" charset="-122"/>
              </a:rPr>
              <a:t>(</a:t>
            </a:r>
            <a:r>
              <a:rPr lang="zh-CN" altLang="en-US" sz="2400" dirty="0">
                <a:latin typeface="微软雅黑" pitchFamily="34" charset="-122"/>
                <a:ea typeface="微软雅黑" pitchFamily="34" charset="-122"/>
              </a:rPr>
              <a:t>类型</a:t>
            </a:r>
            <a:r>
              <a:rPr lang="en-US" altLang="zh-CN" sz="2400" dirty="0">
                <a:latin typeface="微软雅黑" pitchFamily="34" charset="-122"/>
                <a:ea typeface="微软雅黑" pitchFamily="34" charset="-122"/>
              </a:rPr>
              <a:t>3, </a:t>
            </a:r>
            <a:r>
              <a:rPr lang="zh-CN" altLang="en-US" sz="2400" dirty="0">
                <a:latin typeface="微软雅黑" pitchFamily="34" charset="-122"/>
                <a:ea typeface="微软雅黑" pitchFamily="34" charset="-122"/>
              </a:rPr>
              <a:t>编码</a:t>
            </a:r>
            <a:r>
              <a:rPr lang="en-US" altLang="zh-CN" sz="2400" dirty="0">
                <a:latin typeface="微软雅黑" pitchFamily="34" charset="-122"/>
                <a:ea typeface="微软雅黑" pitchFamily="34" charset="-122"/>
              </a:rPr>
              <a:t>3)</a:t>
            </a:r>
          </a:p>
          <a:p>
            <a:pPr>
              <a:lnSpc>
                <a:spcPct val="110000"/>
              </a:lnSpc>
              <a:buFont typeface="Wingdings" pitchFamily="2" charset="2"/>
              <a:buChar char="Ø"/>
            </a:pPr>
            <a:r>
              <a:rPr lang="zh-CN" altLang="en-US" sz="2400" dirty="0">
                <a:latin typeface="微软雅黑" pitchFamily="34" charset="-122"/>
                <a:ea typeface="微软雅黑" pitchFamily="34" charset="-122"/>
              </a:rPr>
              <a:t>当源得到该</a:t>
            </a: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，停止</a:t>
            </a:r>
            <a:endParaRPr lang="en-US" altLang="zh-CN" sz="2400" dirty="0">
              <a:latin typeface="微软雅黑" pitchFamily="34" charset="-122"/>
              <a:ea typeface="微软雅黑" pitchFamily="34" charset="-122"/>
            </a:endParaRPr>
          </a:p>
        </p:txBody>
      </p:sp>
      <p:sp>
        <p:nvSpPr>
          <p:cNvPr id="101" name="TextBox 100"/>
          <p:cNvSpPr txBox="1">
            <a:spLocks noChangeArrowheads="1"/>
          </p:cNvSpPr>
          <p:nvPr/>
        </p:nvSpPr>
        <p:spPr bwMode="auto">
          <a:xfrm>
            <a:off x="8233152" y="3776321"/>
            <a:ext cx="3290360" cy="461665"/>
          </a:xfrm>
          <a:prstGeom prst="rect">
            <a:avLst/>
          </a:prstGeom>
          <a:solidFill>
            <a:srgbClr val="C00000"/>
          </a:solidFill>
          <a:ln>
            <a:noFill/>
          </a:ln>
        </p:spPr>
        <p:txBody>
          <a:bodyPr wrap="squar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2400" dirty="0">
                <a:solidFill>
                  <a:srgbClr val="FAF4FF"/>
                </a:solidFill>
                <a:latin typeface="微软雅黑" pitchFamily="34" charset="-122"/>
                <a:ea typeface="微软雅黑" pitchFamily="34" charset="-122"/>
              </a:rPr>
              <a:t>Windows</a:t>
            </a:r>
            <a:r>
              <a:rPr lang="zh-CN" altLang="en-US" sz="2400" dirty="0">
                <a:solidFill>
                  <a:srgbClr val="FAF4FF"/>
                </a:solidFill>
                <a:latin typeface="微软雅黑" pitchFamily="34" charset="-122"/>
                <a:ea typeface="微软雅黑" pitchFamily="34" charset="-122"/>
              </a:rPr>
              <a:t>是</a:t>
            </a:r>
            <a:r>
              <a:rPr lang="en-US" altLang="zh-CN" sz="2400" dirty="0">
                <a:solidFill>
                  <a:srgbClr val="FAF4FF"/>
                </a:solidFill>
                <a:latin typeface="微软雅黑" pitchFamily="34" charset="-122"/>
                <a:ea typeface="微软雅黑" pitchFamily="34" charset="-122"/>
              </a:rPr>
              <a:t>ping</a:t>
            </a:r>
            <a:r>
              <a:rPr lang="zh-CN" altLang="en-US" sz="2400" dirty="0">
                <a:solidFill>
                  <a:srgbClr val="FAF4FF"/>
                </a:solidFill>
                <a:latin typeface="微软雅黑" pitchFamily="34" charset="-122"/>
                <a:ea typeface="微软雅黑" pitchFamily="34" charset="-122"/>
              </a:rPr>
              <a:t>机制</a:t>
            </a:r>
          </a:p>
        </p:txBody>
      </p:sp>
    </p:spTree>
    <p:extLst>
      <p:ext uri="{BB962C8B-B14F-4D97-AF65-F5344CB8AC3E}">
        <p14:creationId xmlns:p14="http://schemas.microsoft.com/office/powerpoint/2010/main" val="3352842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 presetClass="entr" presetSubtype="10" fill="hold" nodeType="clickEffect">
                                  <p:stCondLst>
                                    <p:cond delay="0"/>
                                  </p:stCondLst>
                                  <p:childTnLst>
                                    <p:set>
                                      <p:cBhvr>
                                        <p:cTn id="10" dur="1" fill="hold">
                                          <p:stCondLst>
                                            <p:cond delay="0"/>
                                          </p:stCondLst>
                                        </p:cTn>
                                        <p:tgtEl>
                                          <p:spTgt spid="98">
                                            <p:txEl>
                                              <p:pRg st="0" end="0"/>
                                            </p:txEl>
                                          </p:spTgt>
                                        </p:tgtEl>
                                        <p:attrNameLst>
                                          <p:attrName>style.visibility</p:attrName>
                                        </p:attrNameLst>
                                      </p:cBhvr>
                                      <p:to>
                                        <p:strVal val="visible"/>
                                      </p:to>
                                    </p:set>
                                    <p:animEffect transition="in" filter="blinds(horizontal)">
                                      <p:cBhvr>
                                        <p:cTn id="11" dur="500"/>
                                        <p:tgtEl>
                                          <p:spTgt spid="98">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98">
                                            <p:txEl>
                                              <p:pRg st="1" end="1"/>
                                            </p:txEl>
                                          </p:spTgt>
                                        </p:tgtEl>
                                        <p:attrNameLst>
                                          <p:attrName>style.visibility</p:attrName>
                                        </p:attrNameLst>
                                      </p:cBhvr>
                                      <p:to>
                                        <p:strVal val="visible"/>
                                      </p:to>
                                    </p:set>
                                    <p:animEffect transition="in" filter="blinds(horizontal)">
                                      <p:cBhvr>
                                        <p:cTn id="16" dur="500"/>
                                        <p:tgtEl>
                                          <p:spTgt spid="98">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98">
                                            <p:txEl>
                                              <p:pRg st="3" end="3"/>
                                            </p:txEl>
                                          </p:spTgt>
                                        </p:tgtEl>
                                        <p:attrNameLst>
                                          <p:attrName>style.visibility</p:attrName>
                                        </p:attrNameLst>
                                      </p:cBhvr>
                                      <p:to>
                                        <p:strVal val="visible"/>
                                      </p:to>
                                    </p:set>
                                    <p:animEffect transition="in" filter="blinds(horizontal)">
                                      <p:cBhvr>
                                        <p:cTn id="21" dur="500"/>
                                        <p:tgtEl>
                                          <p:spTgt spid="98">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98">
                                            <p:txEl>
                                              <p:pRg st="4" end="4"/>
                                            </p:txEl>
                                          </p:spTgt>
                                        </p:tgtEl>
                                        <p:attrNameLst>
                                          <p:attrName>style.visibility</p:attrName>
                                        </p:attrNameLst>
                                      </p:cBhvr>
                                      <p:to>
                                        <p:strVal val="visible"/>
                                      </p:to>
                                    </p:set>
                                    <p:animEffect transition="in" filter="blinds(horizontal)">
                                      <p:cBhvr>
                                        <p:cTn id="26" dur="500"/>
                                        <p:tgtEl>
                                          <p:spTgt spid="98">
                                            <p:txEl>
                                              <p:pRg st="4" end="4"/>
                                            </p:txEl>
                                          </p:spTgt>
                                        </p:tgtEl>
                                      </p:cBhvr>
                                    </p:animEffect>
                                  </p:childTnLst>
                                </p:cTn>
                              </p:par>
                              <p:par>
                                <p:cTn id="27" presetID="3" presetClass="entr" presetSubtype="10" fill="hold" nodeType="withEffect">
                                  <p:stCondLst>
                                    <p:cond delay="0"/>
                                  </p:stCondLst>
                                  <p:childTnLst>
                                    <p:set>
                                      <p:cBhvr>
                                        <p:cTn id="28" dur="1" fill="hold">
                                          <p:stCondLst>
                                            <p:cond delay="0"/>
                                          </p:stCondLst>
                                        </p:cTn>
                                        <p:tgtEl>
                                          <p:spTgt spid="98">
                                            <p:txEl>
                                              <p:pRg st="5" end="5"/>
                                            </p:txEl>
                                          </p:spTgt>
                                        </p:tgtEl>
                                        <p:attrNameLst>
                                          <p:attrName>style.visibility</p:attrName>
                                        </p:attrNameLst>
                                      </p:cBhvr>
                                      <p:to>
                                        <p:strVal val="visible"/>
                                      </p:to>
                                    </p:set>
                                    <p:animEffect transition="in" filter="blinds(horizontal)">
                                      <p:cBhvr>
                                        <p:cTn id="29" dur="500"/>
                                        <p:tgtEl>
                                          <p:spTgt spid="98">
                                            <p:txEl>
                                              <p:pRg st="5" end="5"/>
                                            </p:txEl>
                                          </p:spTgt>
                                        </p:tgtEl>
                                      </p:cBhvr>
                                    </p:animEffect>
                                  </p:childTnLst>
                                </p:cTn>
                              </p:par>
                              <p:par>
                                <p:cTn id="30" presetID="3" presetClass="entr" presetSubtype="10" fill="hold" nodeType="withEffect">
                                  <p:stCondLst>
                                    <p:cond delay="0"/>
                                  </p:stCondLst>
                                  <p:childTnLst>
                                    <p:set>
                                      <p:cBhvr>
                                        <p:cTn id="31" dur="1" fill="hold">
                                          <p:stCondLst>
                                            <p:cond delay="0"/>
                                          </p:stCondLst>
                                        </p:cTn>
                                        <p:tgtEl>
                                          <p:spTgt spid="98">
                                            <p:txEl>
                                              <p:pRg st="6" end="6"/>
                                            </p:txEl>
                                          </p:spTgt>
                                        </p:tgtEl>
                                        <p:attrNameLst>
                                          <p:attrName>style.visibility</p:attrName>
                                        </p:attrNameLst>
                                      </p:cBhvr>
                                      <p:to>
                                        <p:strVal val="visible"/>
                                      </p:to>
                                    </p:set>
                                    <p:animEffect transition="in" filter="blinds(horizontal)">
                                      <p:cBhvr>
                                        <p:cTn id="32" dur="500"/>
                                        <p:tgtEl>
                                          <p:spTgt spid="98">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01"/>
                                        </p:tgtEl>
                                        <p:attrNameLst>
                                          <p:attrName>style.visibility</p:attrName>
                                        </p:attrNameLst>
                                      </p:cBhvr>
                                      <p:to>
                                        <p:strVal val="visible"/>
                                      </p:to>
                                    </p:set>
                                    <p:animEffect transition="in" filter="blinds(horizontal)">
                                      <p:cBhvr>
                                        <p:cTn id="3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 grpId="0"/>
      <p:bldP spid="101"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olidFill>
                  <a:srgbClr val="C00000"/>
                </a:solidFill>
                <a:sym typeface="+mn-ea"/>
              </a:rPr>
              <a:t>5.7</a:t>
            </a:r>
            <a:r>
              <a:rPr kumimoji="1" lang="zh-CN" altLang="en-US" dirty="0">
                <a:solidFill>
                  <a:srgbClr val="C00000"/>
                </a:solidFill>
                <a:sym typeface="+mn-ea"/>
              </a:rPr>
              <a:t> </a:t>
            </a:r>
            <a:r>
              <a:rPr kumimoji="1" lang="en-US" altLang="zh-CN" dirty="0">
                <a:solidFill>
                  <a:srgbClr val="C00000"/>
                </a:solidFill>
                <a:sym typeface="+mn-ea"/>
              </a:rPr>
              <a:t>Internet</a:t>
            </a:r>
            <a:r>
              <a:rPr kumimoji="1" lang="zh-CN" altLang="en-US" dirty="0">
                <a:solidFill>
                  <a:srgbClr val="C00000"/>
                </a:solidFill>
                <a:sym typeface="+mn-ea"/>
              </a:rPr>
              <a:t>路由协议</a:t>
            </a:r>
            <a:endParaRPr kumimoji="1" lang="en-US" altLang="zh-CN" dirty="0">
              <a:solidFill>
                <a:srgbClr val="C00000"/>
              </a:solidFill>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156</a:t>
            </a:fld>
            <a:endParaRPr kumimoji="1" lang="zh-CN" altLang="en-US" dirty="0"/>
          </a:p>
        </p:txBody>
      </p:sp>
      <p:sp>
        <p:nvSpPr>
          <p:cNvPr id="7" name="矩形标注 6">
            <a:extLst>
              <a:ext uri="{FF2B5EF4-FFF2-40B4-BE49-F238E27FC236}">
                <a16:creationId xmlns:a16="http://schemas.microsoft.com/office/drawing/2014/main" id="{981187B3-3584-BA4E-A14C-4B26773516C6}"/>
              </a:ext>
            </a:extLst>
          </p:cNvPr>
          <p:cNvSpPr/>
          <p:nvPr/>
        </p:nvSpPr>
        <p:spPr>
          <a:xfrm>
            <a:off x="6602362" y="2863128"/>
            <a:ext cx="4168895" cy="2318794"/>
          </a:xfrm>
          <a:prstGeom prst="wedgeRectCallout">
            <a:avLst>
              <a:gd name="adj1" fmla="val -96770"/>
              <a:gd name="adj2" fmla="val 35792"/>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OPSF-</a:t>
            </a:r>
            <a:r>
              <a:rPr kumimoji="1" lang="zh-CN" altLang="en-US" sz="2400" dirty="0">
                <a:solidFill>
                  <a:prstClr val="black"/>
                </a:solidFill>
                <a:latin typeface="Microsoft YaHei" panose="020B0503020204020204" pitchFamily="34" charset="-122"/>
                <a:ea typeface="Microsoft YaHei" panose="020B0503020204020204" pitchFamily="34" charset="-122"/>
              </a:rPr>
              <a:t>内部网关路由协议</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RIP-</a:t>
            </a:r>
            <a:r>
              <a:rPr kumimoji="1" lang="zh-CN" altLang="en-US" sz="2400" dirty="0">
                <a:solidFill>
                  <a:prstClr val="black"/>
                </a:solidFill>
                <a:latin typeface="Microsoft YaHei" panose="020B0503020204020204" pitchFamily="34" charset="-122"/>
                <a:ea typeface="Microsoft YaHei" panose="020B0503020204020204" pitchFamily="34" charset="-122"/>
              </a:rPr>
              <a:t>内部网关路由协议</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BGP-</a:t>
            </a:r>
            <a:r>
              <a:rPr kumimoji="1" lang="zh-CN" altLang="en-US" sz="2400" dirty="0">
                <a:solidFill>
                  <a:prstClr val="black"/>
                </a:solidFill>
                <a:latin typeface="Microsoft YaHei" panose="020B0503020204020204" pitchFamily="34" charset="-122"/>
                <a:ea typeface="Microsoft YaHei" panose="020B0503020204020204" pitchFamily="34" charset="-122"/>
              </a:rPr>
              <a:t>外部网关路由协议</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标签交换和</a:t>
            </a:r>
            <a:r>
              <a:rPr kumimoji="1" lang="en-US" altLang="zh-CN" sz="2400" dirty="0">
                <a:solidFill>
                  <a:prstClr val="black"/>
                </a:solidFill>
                <a:latin typeface="Microsoft YaHei" panose="020B0503020204020204" pitchFamily="34" charset="-122"/>
                <a:ea typeface="Microsoft YaHei" panose="020B0503020204020204" pitchFamily="34" charset="-122"/>
              </a:rPr>
              <a:t>MPLS</a:t>
            </a:r>
            <a:endParaRPr kumimoji="1" lang="zh-CN" altLang="en-US" sz="2400" dirty="0">
              <a:solidFill>
                <a:prstClr val="black"/>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211456168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概述</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10515600" cy="5131205"/>
          </a:xfrm>
        </p:spPr>
        <p:txBody>
          <a:bodyPr>
            <a:normAutofit/>
          </a:bodyPr>
          <a:lstStyle/>
          <a:p>
            <a:pPr>
              <a:spcBef>
                <a:spcPts val="1200"/>
              </a:spcBef>
            </a:pPr>
            <a:r>
              <a:rPr lang="en-US" altLang="zh-CN" dirty="0"/>
              <a:t>OSPF</a:t>
            </a:r>
            <a:r>
              <a:rPr lang="zh-CN" altLang="en-US" dirty="0"/>
              <a:t>（</a:t>
            </a:r>
            <a:r>
              <a:rPr lang="en-US" altLang="zh-CN" dirty="0"/>
              <a:t>Open Shortest Path First</a:t>
            </a:r>
            <a:r>
              <a:rPr lang="zh-CN" altLang="en-US" dirty="0"/>
              <a:t>）</a:t>
            </a:r>
            <a:r>
              <a:rPr lang="zh-CN" altLang="zh-CN" dirty="0"/>
              <a:t>开放最短路径优先</a:t>
            </a:r>
            <a:r>
              <a:rPr lang="zh-CN" altLang="en-US" dirty="0"/>
              <a:t>协议于</a:t>
            </a:r>
            <a:r>
              <a:rPr lang="en-US" altLang="zh-CN" dirty="0"/>
              <a:t>1989 </a:t>
            </a:r>
            <a:r>
              <a:rPr lang="zh-CN" altLang="zh-CN" dirty="0"/>
              <a:t>年开发</a:t>
            </a:r>
            <a:endParaRPr lang="en-US" altLang="zh-CN" dirty="0"/>
          </a:p>
          <a:p>
            <a:pPr>
              <a:spcBef>
                <a:spcPts val="1200"/>
              </a:spcBef>
            </a:pPr>
            <a:r>
              <a:rPr lang="zh-CN" altLang="en-US" dirty="0"/>
              <a:t>采用</a:t>
            </a:r>
            <a:r>
              <a:rPr lang="zh-CN" altLang="en-US" dirty="0">
                <a:solidFill>
                  <a:srgbClr val="C00000"/>
                </a:solidFill>
              </a:rPr>
              <a:t>分布式的链路状态</a:t>
            </a:r>
            <a:r>
              <a:rPr lang="zh-CN" altLang="en-US" dirty="0"/>
              <a:t>算法 </a:t>
            </a:r>
            <a:endParaRPr lang="en-US" altLang="zh-CN" dirty="0"/>
          </a:p>
          <a:p>
            <a:pPr>
              <a:lnSpc>
                <a:spcPct val="150000"/>
              </a:lnSpc>
            </a:pPr>
            <a:r>
              <a:rPr kumimoji="1" lang="en-US" altLang="zh-CN" dirty="0"/>
              <a:t>OSPF</a:t>
            </a:r>
            <a:r>
              <a:rPr kumimoji="1" lang="zh-CN" altLang="en-US" dirty="0"/>
              <a:t>协议的基本思想</a:t>
            </a:r>
          </a:p>
          <a:p>
            <a:pPr lvl="1">
              <a:lnSpc>
                <a:spcPct val="150000"/>
              </a:lnSpc>
            </a:pPr>
            <a:r>
              <a:rPr lang="zh-CN" altLang="en-US" dirty="0"/>
              <a:t>向本自治系统中所有路由器</a:t>
            </a:r>
            <a:r>
              <a:rPr lang="zh-CN" altLang="en-US" dirty="0">
                <a:solidFill>
                  <a:srgbClr val="C00000"/>
                </a:solidFill>
              </a:rPr>
              <a:t>洪泛</a:t>
            </a:r>
            <a:r>
              <a:rPr lang="zh-CN" altLang="en-US" dirty="0"/>
              <a:t>信息</a:t>
            </a:r>
            <a:endParaRPr lang="en-US" altLang="zh-CN" dirty="0"/>
          </a:p>
          <a:p>
            <a:pPr lvl="1">
              <a:lnSpc>
                <a:spcPct val="150000"/>
              </a:lnSpc>
            </a:pPr>
            <a:r>
              <a:rPr lang="zh-CN" altLang="en-US" dirty="0"/>
              <a:t>发送的信息就是与本路由器</a:t>
            </a:r>
            <a:r>
              <a:rPr lang="zh-CN" altLang="en-US" dirty="0">
                <a:solidFill>
                  <a:srgbClr val="C00000"/>
                </a:solidFill>
              </a:rPr>
              <a:t>相邻</a:t>
            </a:r>
            <a:r>
              <a:rPr lang="zh-CN" altLang="en-US" dirty="0"/>
              <a:t>的所有路由器的链路状态</a:t>
            </a:r>
            <a:endParaRPr lang="en-US" altLang="zh-CN" dirty="0">
              <a:solidFill>
                <a:srgbClr val="FF0000"/>
              </a:solidFill>
            </a:endParaRPr>
          </a:p>
          <a:p>
            <a:pPr lvl="1">
              <a:lnSpc>
                <a:spcPct val="150000"/>
              </a:lnSpc>
            </a:pPr>
            <a:r>
              <a:rPr lang="zh-CN" altLang="en-US" dirty="0"/>
              <a:t>只有</a:t>
            </a:r>
            <a:r>
              <a:rPr lang="zh-CN" altLang="en-US" dirty="0">
                <a:solidFill>
                  <a:srgbClr val="C00000"/>
                </a:solidFill>
              </a:rPr>
              <a:t>当链路状态发生变化时</a:t>
            </a:r>
            <a:r>
              <a:rPr lang="zh-CN" altLang="en-US" dirty="0"/>
              <a:t>路由器才用洪泛法发送此信息</a:t>
            </a:r>
          </a:p>
          <a:p>
            <a:pPr marL="0" indent="0">
              <a:lnSpc>
                <a:spcPct val="120000"/>
              </a:lnSpc>
              <a:buNone/>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4" y="6489303"/>
            <a:ext cx="3013225"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157</a:t>
            </a:fld>
            <a:endParaRPr kumimoji="1" lang="zh-CN" altLang="en-US" dirty="0"/>
          </a:p>
        </p:txBody>
      </p:sp>
      <p:pic>
        <p:nvPicPr>
          <p:cNvPr id="6" name="Picture 28" descr="015">
            <a:extLst>
              <a:ext uri="{FF2B5EF4-FFF2-40B4-BE49-F238E27FC236}">
                <a16:creationId xmlns:a16="http://schemas.microsoft.com/office/drawing/2014/main" id="{49911406-21EB-45ED-8A5F-4CDC96F13BF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14480277"/>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链路状态</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10515600" cy="5131205"/>
          </a:xfrm>
        </p:spPr>
        <p:txBody>
          <a:bodyPr>
            <a:normAutofit/>
          </a:bodyPr>
          <a:lstStyle/>
          <a:p>
            <a:pPr>
              <a:lnSpc>
                <a:spcPct val="120000"/>
              </a:lnSpc>
            </a:pPr>
            <a:r>
              <a:rPr lang="zh-CN" altLang="en-US" dirty="0">
                <a:latin typeface="Arial" charset="0"/>
              </a:rPr>
              <a:t>“链路状态”就是说明本路由器都和哪些路由器相邻，以及该链路的“度量”</a:t>
            </a:r>
            <a:r>
              <a:rPr lang="en-US" altLang="zh-CN" dirty="0">
                <a:latin typeface="Arial" charset="0"/>
              </a:rPr>
              <a:t>(metric)</a:t>
            </a:r>
            <a:r>
              <a:rPr lang="zh-CN" altLang="en-US" dirty="0"/>
              <a:t> </a:t>
            </a:r>
          </a:p>
          <a:p>
            <a:pPr lvl="1" algn="just">
              <a:lnSpc>
                <a:spcPct val="120000"/>
              </a:lnSpc>
            </a:pPr>
            <a:r>
              <a:rPr lang="en-US" altLang="zh-CN" dirty="0"/>
              <a:t>OSPF</a:t>
            </a:r>
            <a:r>
              <a:rPr lang="zh-CN" altLang="en-US" dirty="0"/>
              <a:t>度量值一般包括</a:t>
            </a:r>
            <a:r>
              <a:rPr lang="zh-CN" altLang="en-US" dirty="0">
                <a:solidFill>
                  <a:srgbClr val="C00000"/>
                </a:solidFill>
              </a:rPr>
              <a:t>费用、距离、时延、带宽</a:t>
            </a:r>
            <a:r>
              <a:rPr lang="zh-CN" altLang="en-US" dirty="0"/>
              <a:t>等</a:t>
            </a:r>
            <a:endParaRPr lang="en-US" altLang="zh-CN" dirty="0"/>
          </a:p>
          <a:p>
            <a:pPr>
              <a:lnSpc>
                <a:spcPct val="130000"/>
              </a:lnSpc>
            </a:pPr>
            <a:r>
              <a:rPr lang="zh-CN" altLang="en-US" dirty="0"/>
              <a:t>由于各路由器之间频繁地交换链路状态信息，因此所有的路由器最终都能建立一个</a:t>
            </a:r>
            <a:r>
              <a:rPr lang="zh-CN" altLang="en-US" dirty="0">
                <a:solidFill>
                  <a:srgbClr val="C00000"/>
                </a:solidFill>
              </a:rPr>
              <a:t>链路状态数据库</a:t>
            </a:r>
            <a:r>
              <a:rPr lang="en-US" altLang="zh-CN" dirty="0">
                <a:solidFill>
                  <a:srgbClr val="C00000"/>
                </a:solidFill>
              </a:rPr>
              <a:t>LSDB</a:t>
            </a:r>
            <a:endParaRPr lang="zh-CN" altLang="en-US" dirty="0"/>
          </a:p>
          <a:p>
            <a:pPr>
              <a:lnSpc>
                <a:spcPct val="130000"/>
              </a:lnSpc>
            </a:pPr>
            <a:r>
              <a:rPr lang="zh-CN" altLang="en-US" dirty="0"/>
              <a:t>这个数据库实际上就是</a:t>
            </a:r>
            <a:r>
              <a:rPr lang="zh-CN" altLang="en-US" dirty="0">
                <a:solidFill>
                  <a:srgbClr val="C00000"/>
                </a:solidFill>
              </a:rPr>
              <a:t>区域内的拓扑结构图，它在区域内是一致的</a:t>
            </a:r>
            <a:r>
              <a:rPr lang="zh-CN" altLang="en-US" dirty="0"/>
              <a:t>（这称为链路状态数据库的同步）</a:t>
            </a:r>
          </a:p>
          <a:p>
            <a:pPr marL="0" indent="0">
              <a:lnSpc>
                <a:spcPct val="120000"/>
              </a:lnSpc>
              <a:buNone/>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12159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158</a:t>
            </a:fld>
            <a:endParaRPr kumimoji="1" lang="zh-CN" altLang="en-US" dirty="0"/>
          </a:p>
        </p:txBody>
      </p:sp>
      <p:pic>
        <p:nvPicPr>
          <p:cNvPr id="6" name="Picture 28" descr="015">
            <a:extLst>
              <a:ext uri="{FF2B5EF4-FFF2-40B4-BE49-F238E27FC236}">
                <a16:creationId xmlns:a16="http://schemas.microsoft.com/office/drawing/2014/main" id="{DC1DEFEA-F415-41C5-87F2-11CA47D86A6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0661290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五种报文</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10515600" cy="5131205"/>
          </a:xfrm>
        </p:spPr>
        <p:txBody>
          <a:bodyPr>
            <a:normAutofit fontScale="92500" lnSpcReduction="10000"/>
          </a:bodyPr>
          <a:lstStyle/>
          <a:p>
            <a:pPr>
              <a:lnSpc>
                <a:spcPct val="120000"/>
              </a:lnSpc>
            </a:pPr>
            <a:r>
              <a:rPr lang="en-US" altLang="zh-CN" sz="2400" dirty="0">
                <a:latin typeface="Arial" pitchFamily="34" charset="0"/>
              </a:rPr>
              <a:t>Hello </a:t>
            </a:r>
            <a:r>
              <a:rPr lang="zh-CN" altLang="en-US" sz="2400" dirty="0">
                <a:latin typeface="Arial" pitchFamily="34" charset="0"/>
              </a:rPr>
              <a:t>报文</a:t>
            </a:r>
            <a:endParaRPr lang="en-US" altLang="zh-CN" sz="2400" dirty="0">
              <a:latin typeface="Arial" pitchFamily="34" charset="0"/>
            </a:endParaRPr>
          </a:p>
          <a:p>
            <a:pPr lvl="1">
              <a:lnSpc>
                <a:spcPct val="120000"/>
              </a:lnSpc>
            </a:pPr>
            <a:r>
              <a:rPr lang="zh-CN" altLang="en-US" sz="2200" dirty="0">
                <a:latin typeface="Arial" pitchFamily="34" charset="0"/>
              </a:rPr>
              <a:t>最常用的一种报文，用于发现、维护邻居关系</a:t>
            </a:r>
            <a:endParaRPr lang="en-US" altLang="zh-CN" sz="2200" dirty="0">
              <a:latin typeface="Arial" pitchFamily="34" charset="0"/>
            </a:endParaRPr>
          </a:p>
          <a:p>
            <a:pPr>
              <a:lnSpc>
                <a:spcPct val="120000"/>
              </a:lnSpc>
            </a:pPr>
            <a:r>
              <a:rPr lang="zh-CN" altLang="en-US" sz="2400" dirty="0">
                <a:latin typeface="Arial" pitchFamily="34" charset="0"/>
              </a:rPr>
              <a:t>数据库描述（</a:t>
            </a:r>
            <a:r>
              <a:rPr lang="en-US" altLang="en-US" sz="2400" dirty="0">
                <a:latin typeface="Arial" pitchFamily="34" charset="0"/>
                <a:ea typeface="等线" pitchFamily="2" charset="-122"/>
              </a:rPr>
              <a:t>Database </a:t>
            </a:r>
            <a:r>
              <a:rPr lang="en-US" altLang="en-US" sz="2400" dirty="0" err="1">
                <a:latin typeface="Arial" pitchFamily="34" charset="0"/>
                <a:ea typeface="等线" pitchFamily="2" charset="-122"/>
              </a:rPr>
              <a:t>Description，DD</a:t>
            </a:r>
            <a:r>
              <a:rPr lang="en-US" altLang="en-US" sz="2400" dirty="0">
                <a:latin typeface="Arial" pitchFamily="34" charset="0"/>
                <a:ea typeface="等线" pitchFamily="2" charset="-122"/>
              </a:rPr>
              <a:t>）</a:t>
            </a:r>
            <a:r>
              <a:rPr lang="zh-CN" altLang="en-US" sz="2400" dirty="0">
                <a:latin typeface="Arial" pitchFamily="34" charset="0"/>
              </a:rPr>
              <a:t>报文</a:t>
            </a:r>
            <a:endParaRPr lang="en-US" altLang="zh-CN" sz="2400" dirty="0">
              <a:latin typeface="Arial" pitchFamily="34" charset="0"/>
            </a:endParaRPr>
          </a:p>
          <a:p>
            <a:pPr lvl="1">
              <a:lnSpc>
                <a:spcPct val="120000"/>
              </a:lnSpc>
            </a:pPr>
            <a:r>
              <a:rPr lang="zh-CN" altLang="en-US" sz="2200" dirty="0">
                <a:latin typeface="Arial" pitchFamily="34" charset="0"/>
              </a:rPr>
              <a:t>用于描述自己的</a:t>
            </a:r>
            <a:r>
              <a:rPr lang="en-US" altLang="zh-CN" sz="2200" dirty="0">
                <a:latin typeface="Arial" pitchFamily="34" charset="0"/>
              </a:rPr>
              <a:t>LSDB</a:t>
            </a:r>
          </a:p>
          <a:p>
            <a:pPr lvl="1">
              <a:lnSpc>
                <a:spcPct val="120000"/>
              </a:lnSpc>
            </a:pPr>
            <a:r>
              <a:rPr lang="zh-CN" altLang="en-US" sz="2200" dirty="0">
                <a:latin typeface="Arial" pitchFamily="34" charset="0"/>
              </a:rPr>
              <a:t>内容包括</a:t>
            </a:r>
            <a:r>
              <a:rPr lang="en-US" altLang="zh-CN" sz="2200" dirty="0">
                <a:latin typeface="Arial" pitchFamily="34" charset="0"/>
              </a:rPr>
              <a:t>LSDB </a:t>
            </a:r>
            <a:r>
              <a:rPr lang="zh-CN" altLang="en-US" sz="2200" dirty="0">
                <a:latin typeface="Arial" pitchFamily="34" charset="0"/>
              </a:rPr>
              <a:t>中每一条</a:t>
            </a:r>
            <a:r>
              <a:rPr lang="en-US" altLang="zh-CN" sz="2200" dirty="0">
                <a:latin typeface="Arial" pitchFamily="34" charset="0"/>
              </a:rPr>
              <a:t>LSA </a:t>
            </a:r>
            <a:r>
              <a:rPr lang="zh-CN" altLang="en-US" sz="2200" dirty="0">
                <a:latin typeface="Arial" pitchFamily="34" charset="0"/>
              </a:rPr>
              <a:t>的</a:t>
            </a:r>
            <a:r>
              <a:rPr lang="en-US" altLang="zh-CN" sz="2200" dirty="0">
                <a:latin typeface="Arial" pitchFamily="34" charset="0"/>
              </a:rPr>
              <a:t>Header </a:t>
            </a:r>
            <a:r>
              <a:rPr lang="zh-CN" altLang="en-US" sz="2200" dirty="0">
                <a:latin typeface="Arial" pitchFamily="34" charset="0"/>
              </a:rPr>
              <a:t>头部，对端路由器根据</a:t>
            </a:r>
            <a:r>
              <a:rPr lang="en-US" altLang="en-US" sz="2200" dirty="0">
                <a:latin typeface="Arial" pitchFamily="34" charset="0"/>
                <a:ea typeface="等线" pitchFamily="2" charset="-122"/>
              </a:rPr>
              <a:t>LSA Header </a:t>
            </a:r>
            <a:r>
              <a:rPr lang="zh-CN" altLang="en-US" sz="2200" dirty="0">
                <a:latin typeface="Arial" pitchFamily="34" charset="0"/>
              </a:rPr>
              <a:t>就可以判断出是否已有这条</a:t>
            </a:r>
            <a:r>
              <a:rPr lang="en-US" altLang="en-US" sz="2200" dirty="0">
                <a:latin typeface="Arial" pitchFamily="34" charset="0"/>
                <a:ea typeface="等线" pitchFamily="2" charset="-122"/>
              </a:rPr>
              <a:t>LSA</a:t>
            </a:r>
          </a:p>
          <a:p>
            <a:pPr>
              <a:lnSpc>
                <a:spcPct val="120000"/>
              </a:lnSpc>
            </a:pPr>
            <a:r>
              <a:rPr lang="zh-CN" altLang="en-US" sz="2600" dirty="0">
                <a:latin typeface="Arial" pitchFamily="34" charset="0"/>
              </a:rPr>
              <a:t>链路状态请求（</a:t>
            </a:r>
            <a:r>
              <a:rPr lang="en-US" altLang="zh-CN" sz="2600" dirty="0">
                <a:latin typeface="Arial" pitchFamily="34" charset="0"/>
              </a:rPr>
              <a:t>LSA Request</a:t>
            </a:r>
            <a:r>
              <a:rPr lang="zh-CN" altLang="en-US" sz="2600" dirty="0">
                <a:latin typeface="Arial" pitchFamily="34" charset="0"/>
              </a:rPr>
              <a:t>，</a:t>
            </a:r>
            <a:r>
              <a:rPr lang="en-US" altLang="zh-CN" sz="2600" dirty="0">
                <a:latin typeface="Arial" pitchFamily="34" charset="0"/>
              </a:rPr>
              <a:t>LSR</a:t>
            </a:r>
            <a:r>
              <a:rPr lang="zh-CN" altLang="en-US" sz="2600" dirty="0">
                <a:latin typeface="Arial" pitchFamily="34" charset="0"/>
              </a:rPr>
              <a:t>）报文</a:t>
            </a:r>
            <a:endParaRPr lang="en-US" altLang="zh-CN" sz="2600" dirty="0">
              <a:latin typeface="Arial" pitchFamily="34" charset="0"/>
            </a:endParaRPr>
          </a:p>
          <a:p>
            <a:pPr lvl="1">
              <a:lnSpc>
                <a:spcPct val="120000"/>
              </a:lnSpc>
            </a:pPr>
            <a:r>
              <a:rPr lang="zh-CN" altLang="en-US" sz="2200" dirty="0">
                <a:latin typeface="Arial" pitchFamily="34" charset="0"/>
              </a:rPr>
              <a:t>用于请求缺少的</a:t>
            </a:r>
            <a:r>
              <a:rPr lang="en-US" altLang="zh-CN" sz="2200" dirty="0">
                <a:latin typeface="Arial" pitchFamily="34" charset="0"/>
              </a:rPr>
              <a:t>LSA</a:t>
            </a:r>
            <a:r>
              <a:rPr lang="zh-CN" altLang="en-US" sz="2200" dirty="0">
                <a:latin typeface="Arial" pitchFamily="34" charset="0"/>
              </a:rPr>
              <a:t>，内容包括所需要的</a:t>
            </a:r>
            <a:r>
              <a:rPr lang="en-US" altLang="en-US" sz="2200" dirty="0">
                <a:latin typeface="Arial" pitchFamily="34" charset="0"/>
                <a:ea typeface="等线" pitchFamily="2" charset="-122"/>
              </a:rPr>
              <a:t>LSA </a:t>
            </a:r>
            <a:r>
              <a:rPr lang="zh-CN" altLang="en-US" sz="2200" dirty="0">
                <a:latin typeface="Arial" pitchFamily="34" charset="0"/>
              </a:rPr>
              <a:t>的摘要</a:t>
            </a:r>
          </a:p>
          <a:p>
            <a:pPr>
              <a:lnSpc>
                <a:spcPct val="120000"/>
              </a:lnSpc>
            </a:pPr>
            <a:r>
              <a:rPr lang="zh-CN" altLang="en-US" sz="2600" dirty="0">
                <a:latin typeface="Arial" pitchFamily="34" charset="0"/>
              </a:rPr>
              <a:t>链路状态更新（</a:t>
            </a:r>
            <a:r>
              <a:rPr lang="en-US" altLang="zh-CN" sz="2600" dirty="0">
                <a:latin typeface="Arial" pitchFamily="34" charset="0"/>
              </a:rPr>
              <a:t>LSA Update</a:t>
            </a:r>
            <a:r>
              <a:rPr lang="zh-CN" altLang="en-US" sz="2600" dirty="0">
                <a:latin typeface="Arial" pitchFamily="34" charset="0"/>
              </a:rPr>
              <a:t>，</a:t>
            </a:r>
            <a:r>
              <a:rPr lang="en-US" altLang="zh-CN" sz="2600" dirty="0">
                <a:latin typeface="Arial" pitchFamily="34" charset="0"/>
              </a:rPr>
              <a:t>LSU</a:t>
            </a:r>
            <a:r>
              <a:rPr lang="zh-CN" altLang="en-US" sz="2600" dirty="0">
                <a:latin typeface="Arial" pitchFamily="34" charset="0"/>
              </a:rPr>
              <a:t>）报文</a:t>
            </a:r>
            <a:endParaRPr lang="en-US" altLang="zh-CN" sz="2600" dirty="0">
              <a:latin typeface="Arial" pitchFamily="34" charset="0"/>
            </a:endParaRPr>
          </a:p>
          <a:p>
            <a:pPr lvl="1">
              <a:lnSpc>
                <a:spcPct val="120000"/>
              </a:lnSpc>
            </a:pPr>
            <a:r>
              <a:rPr lang="zh-CN" altLang="en-US" sz="2200" dirty="0">
                <a:latin typeface="Arial" pitchFamily="34" charset="0"/>
              </a:rPr>
              <a:t>用于向对端路由器发送所需要的</a:t>
            </a:r>
            <a:r>
              <a:rPr lang="en-US" altLang="zh-CN" sz="2200" dirty="0">
                <a:latin typeface="Arial" pitchFamily="34" charset="0"/>
              </a:rPr>
              <a:t>LSA</a:t>
            </a:r>
            <a:r>
              <a:rPr lang="zh-CN" altLang="en-US" sz="2200" dirty="0">
                <a:latin typeface="Arial" pitchFamily="34" charset="0"/>
              </a:rPr>
              <a:t>，内容是多条</a:t>
            </a:r>
            <a:r>
              <a:rPr lang="en-US" altLang="zh-CN" sz="2200" dirty="0">
                <a:latin typeface="Arial" pitchFamily="34" charset="0"/>
              </a:rPr>
              <a:t>LSA</a:t>
            </a:r>
            <a:r>
              <a:rPr lang="zh-CN" altLang="en-US" sz="2200" dirty="0">
                <a:latin typeface="Arial" pitchFamily="34" charset="0"/>
              </a:rPr>
              <a:t>（全部内容）的集合</a:t>
            </a:r>
          </a:p>
          <a:p>
            <a:pPr>
              <a:lnSpc>
                <a:spcPct val="120000"/>
              </a:lnSpc>
            </a:pPr>
            <a:r>
              <a:rPr lang="zh-CN" altLang="en-US" sz="2600" dirty="0">
                <a:latin typeface="Arial" pitchFamily="34" charset="0"/>
              </a:rPr>
              <a:t>链路状态确认（</a:t>
            </a:r>
            <a:r>
              <a:rPr lang="en-US" altLang="en-US" sz="2600" dirty="0">
                <a:latin typeface="Arial" pitchFamily="34" charset="0"/>
                <a:ea typeface="等线" pitchFamily="2" charset="-122"/>
              </a:rPr>
              <a:t>Link State </a:t>
            </a:r>
            <a:r>
              <a:rPr lang="en-US" altLang="en-US" sz="2600" dirty="0" err="1">
                <a:latin typeface="Arial" pitchFamily="34" charset="0"/>
                <a:ea typeface="等线" pitchFamily="2" charset="-122"/>
              </a:rPr>
              <a:t>Acknowledgment，LSACK</a:t>
            </a:r>
            <a:r>
              <a:rPr lang="en-US" altLang="en-US" sz="2600" dirty="0">
                <a:latin typeface="Arial" pitchFamily="34" charset="0"/>
                <a:ea typeface="等线" pitchFamily="2" charset="-122"/>
              </a:rPr>
              <a:t>）</a:t>
            </a:r>
            <a:r>
              <a:rPr lang="zh-CN" altLang="en-US" sz="2600" dirty="0">
                <a:latin typeface="Arial" pitchFamily="34" charset="0"/>
              </a:rPr>
              <a:t>报文</a:t>
            </a:r>
            <a:endParaRPr lang="en-US" altLang="zh-CN" sz="2600" dirty="0">
              <a:latin typeface="Arial" pitchFamily="34" charset="0"/>
            </a:endParaRPr>
          </a:p>
          <a:p>
            <a:pPr lvl="1">
              <a:lnSpc>
                <a:spcPct val="120000"/>
              </a:lnSpc>
            </a:pPr>
            <a:r>
              <a:rPr lang="zh-CN" altLang="en-US" sz="2000" dirty="0">
                <a:latin typeface="Arial" pitchFamily="34" charset="0"/>
              </a:rPr>
              <a:t>用来对接收到的</a:t>
            </a:r>
            <a:r>
              <a:rPr lang="en-US" altLang="en-US" sz="2000" dirty="0">
                <a:latin typeface="Arial" pitchFamily="34" charset="0"/>
                <a:ea typeface="等线" pitchFamily="2" charset="-122"/>
              </a:rPr>
              <a:t>LSU </a:t>
            </a:r>
            <a:r>
              <a:rPr lang="zh-CN" altLang="en-US" sz="2000" dirty="0">
                <a:latin typeface="Arial" pitchFamily="34" charset="0"/>
              </a:rPr>
              <a:t>报文进行确认</a:t>
            </a:r>
          </a:p>
          <a:p>
            <a:pPr marL="0" indent="0">
              <a:lnSpc>
                <a:spcPct val="120000"/>
              </a:lnSpc>
              <a:buNone/>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159</a:t>
            </a:fld>
            <a:endParaRPr kumimoji="1" lang="zh-CN" altLang="en-US" dirty="0"/>
          </a:p>
        </p:txBody>
      </p:sp>
      <p:pic>
        <p:nvPicPr>
          <p:cNvPr id="6" name="Picture 28" descr="015">
            <a:extLst>
              <a:ext uri="{FF2B5EF4-FFF2-40B4-BE49-F238E27FC236}">
                <a16:creationId xmlns:a16="http://schemas.microsoft.com/office/drawing/2014/main" id="{EDF769A9-2AE3-4512-9EE3-A4624283BC3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2320599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邻居状态机</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160</a:t>
            </a:fld>
            <a:endParaRPr kumimoji="1" lang="zh-CN" altLang="en-US" dirty="0"/>
          </a:p>
        </p:txBody>
      </p:sp>
      <p:sp>
        <p:nvSpPr>
          <p:cNvPr id="7" name="内容占位符 2"/>
          <p:cNvSpPr txBox="1">
            <a:spLocks/>
          </p:cNvSpPr>
          <p:nvPr/>
        </p:nvSpPr>
        <p:spPr>
          <a:xfrm>
            <a:off x="838200" y="1415936"/>
            <a:ext cx="4134318"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zh-CN" altLang="en-US" dirty="0"/>
              <a:t>邻居</a:t>
            </a:r>
            <a:endParaRPr lang="en-US" altLang="zh-CN" dirty="0"/>
          </a:p>
          <a:p>
            <a:pPr lvl="1">
              <a:lnSpc>
                <a:spcPct val="120000"/>
              </a:lnSpc>
            </a:pPr>
            <a:r>
              <a:rPr lang="zh-CN" altLang="en-US" dirty="0"/>
              <a:t>端口连接到同一个网段</a:t>
            </a:r>
            <a:endParaRPr lang="en-US" altLang="zh-CN" dirty="0"/>
          </a:p>
          <a:p>
            <a:pPr lvl="1">
              <a:lnSpc>
                <a:spcPct val="120000"/>
              </a:lnSpc>
            </a:pPr>
            <a:r>
              <a:rPr lang="zh-CN" altLang="en-US" dirty="0"/>
              <a:t>由</a:t>
            </a:r>
            <a:r>
              <a:rPr lang="en-US" altLang="zh-CN" dirty="0"/>
              <a:t>hello</a:t>
            </a:r>
            <a:r>
              <a:rPr lang="zh-CN" altLang="en-US" dirty="0"/>
              <a:t>报文维护</a:t>
            </a:r>
            <a:endParaRPr lang="en-US" altLang="zh-CN" dirty="0"/>
          </a:p>
          <a:p>
            <a:pPr>
              <a:lnSpc>
                <a:spcPct val="120000"/>
              </a:lnSpc>
            </a:pPr>
            <a:r>
              <a:rPr lang="zh-CN" altLang="en-US" dirty="0"/>
              <a:t>完全邻接</a:t>
            </a:r>
            <a:endParaRPr lang="en-US" altLang="zh-CN" dirty="0"/>
          </a:p>
          <a:p>
            <a:pPr lvl="1">
              <a:lnSpc>
                <a:spcPct val="120000"/>
              </a:lnSpc>
            </a:pPr>
            <a:r>
              <a:rPr lang="zh-CN" altLang="en-US" dirty="0"/>
              <a:t>为了交换路由信息而形成的关系</a:t>
            </a:r>
            <a:endParaRPr lang="en-US" altLang="zh-CN" dirty="0"/>
          </a:p>
          <a:p>
            <a:pPr lvl="1">
              <a:lnSpc>
                <a:spcPct val="120000"/>
              </a:lnSpc>
            </a:pPr>
            <a:r>
              <a:rPr lang="zh-CN" altLang="en-US" dirty="0"/>
              <a:t>并非所有的邻居关系都可以成为邻接关系</a:t>
            </a:r>
            <a:endParaRPr lang="en-US" altLang="zh-CN" dirty="0"/>
          </a:p>
        </p:txBody>
      </p:sp>
      <p:grpSp>
        <p:nvGrpSpPr>
          <p:cNvPr id="8" name="Group 25"/>
          <p:cNvGrpSpPr>
            <a:grpSpLocks/>
          </p:cNvGrpSpPr>
          <p:nvPr/>
        </p:nvGrpSpPr>
        <p:grpSpPr bwMode="auto">
          <a:xfrm>
            <a:off x="4896326" y="1762125"/>
            <a:ext cx="6755244" cy="3994150"/>
            <a:chOff x="1187450" y="1595438"/>
            <a:chExt cx="6755913" cy="3994150"/>
          </a:xfrm>
        </p:grpSpPr>
        <p:cxnSp>
          <p:nvCxnSpPr>
            <p:cNvPr id="9" name="直接箭头连接符 12"/>
            <p:cNvCxnSpPr>
              <a:cxnSpLocks noChangeShapeType="1"/>
            </p:cNvCxnSpPr>
            <p:nvPr/>
          </p:nvCxnSpPr>
          <p:spPr bwMode="auto">
            <a:xfrm>
              <a:off x="4000500" y="1931988"/>
              <a:ext cx="0" cy="776287"/>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1" name="直接箭头连接符 42"/>
            <p:cNvCxnSpPr>
              <a:cxnSpLocks noChangeShapeType="1"/>
            </p:cNvCxnSpPr>
            <p:nvPr/>
          </p:nvCxnSpPr>
          <p:spPr bwMode="auto">
            <a:xfrm>
              <a:off x="2671763" y="5480050"/>
              <a:ext cx="2470150" cy="0"/>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3" name="直接箭头连接符 12"/>
            <p:cNvCxnSpPr>
              <a:cxnSpLocks noChangeShapeType="1"/>
            </p:cNvCxnSpPr>
            <p:nvPr/>
          </p:nvCxnSpPr>
          <p:spPr bwMode="auto">
            <a:xfrm>
              <a:off x="4000500" y="4119563"/>
              <a:ext cx="0" cy="457200"/>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4" name="直接箭头连接符 12"/>
            <p:cNvCxnSpPr>
              <a:cxnSpLocks noChangeShapeType="1"/>
            </p:cNvCxnSpPr>
            <p:nvPr/>
          </p:nvCxnSpPr>
          <p:spPr bwMode="auto">
            <a:xfrm>
              <a:off x="4000500" y="3017838"/>
              <a:ext cx="0" cy="731837"/>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5" name="流程图: 可选过程 3"/>
            <p:cNvSpPr>
              <a:spLocks noChangeArrowheads="1"/>
            </p:cNvSpPr>
            <p:nvPr/>
          </p:nvSpPr>
          <p:spPr bwMode="auto">
            <a:xfrm>
              <a:off x="3240088" y="1595438"/>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dirty="0">
                  <a:solidFill>
                    <a:schemeClr val="bg1"/>
                  </a:solidFill>
                  <a:ea typeface="宋体" charset="-122"/>
                </a:rPr>
                <a:t>Down</a:t>
              </a:r>
              <a:endParaRPr lang="zh-CN" altLang="en-US" sz="1800" dirty="0">
                <a:solidFill>
                  <a:schemeClr val="bg1"/>
                </a:solidFill>
                <a:ea typeface="宋体" charset="-122"/>
              </a:endParaRPr>
            </a:p>
          </p:txBody>
        </p:sp>
        <p:sp>
          <p:nvSpPr>
            <p:cNvPr id="16" name="流程图: 可选过程 4"/>
            <p:cNvSpPr>
              <a:spLocks noChangeArrowheads="1"/>
            </p:cNvSpPr>
            <p:nvPr/>
          </p:nvSpPr>
          <p:spPr bwMode="auto">
            <a:xfrm>
              <a:off x="3240088" y="2708275"/>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Init</a:t>
              </a:r>
              <a:endParaRPr lang="zh-CN" altLang="en-US" sz="1800">
                <a:solidFill>
                  <a:schemeClr val="bg1"/>
                </a:solidFill>
                <a:ea typeface="宋体" charset="-122"/>
              </a:endParaRPr>
            </a:p>
          </p:txBody>
        </p:sp>
        <p:sp>
          <p:nvSpPr>
            <p:cNvPr id="17" name="流程图: 可选过程 5"/>
            <p:cNvSpPr>
              <a:spLocks noChangeArrowheads="1"/>
            </p:cNvSpPr>
            <p:nvPr/>
          </p:nvSpPr>
          <p:spPr bwMode="auto">
            <a:xfrm>
              <a:off x="3240088" y="3752850"/>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ExStart</a:t>
              </a:r>
              <a:endParaRPr lang="zh-CN" altLang="en-US" sz="1800">
                <a:solidFill>
                  <a:schemeClr val="bg1"/>
                </a:solidFill>
                <a:ea typeface="宋体" charset="-122"/>
              </a:endParaRPr>
            </a:p>
          </p:txBody>
        </p:sp>
        <p:sp>
          <p:nvSpPr>
            <p:cNvPr id="18" name="流程图: 可选过程 9"/>
            <p:cNvSpPr>
              <a:spLocks noChangeArrowheads="1"/>
            </p:cNvSpPr>
            <p:nvPr/>
          </p:nvSpPr>
          <p:spPr bwMode="auto">
            <a:xfrm>
              <a:off x="1263650" y="5157788"/>
              <a:ext cx="1439863"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Loading</a:t>
              </a:r>
              <a:endParaRPr lang="zh-CN" altLang="en-US" sz="1800">
                <a:solidFill>
                  <a:schemeClr val="bg1"/>
                </a:solidFill>
                <a:ea typeface="宋体" charset="-122"/>
              </a:endParaRPr>
            </a:p>
          </p:txBody>
        </p:sp>
        <p:sp>
          <p:nvSpPr>
            <p:cNvPr id="19" name="流程图: 可选过程 10"/>
            <p:cNvSpPr>
              <a:spLocks noChangeArrowheads="1"/>
            </p:cNvSpPr>
            <p:nvPr/>
          </p:nvSpPr>
          <p:spPr bwMode="auto">
            <a:xfrm>
              <a:off x="5148263" y="5157788"/>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Full</a:t>
              </a:r>
              <a:endParaRPr lang="zh-CN" altLang="en-US" sz="1800">
                <a:solidFill>
                  <a:schemeClr val="bg1"/>
                </a:solidFill>
                <a:ea typeface="宋体" charset="-122"/>
              </a:endParaRPr>
            </a:p>
          </p:txBody>
        </p:sp>
        <p:cxnSp>
          <p:nvCxnSpPr>
            <p:cNvPr id="20" name="直接箭头连接符 17"/>
            <p:cNvCxnSpPr>
              <a:cxnSpLocks noChangeShapeType="1"/>
              <a:stCxn id="15" idx="3"/>
            </p:cNvCxnSpPr>
            <p:nvPr/>
          </p:nvCxnSpPr>
          <p:spPr bwMode="auto">
            <a:xfrm>
              <a:off x="4679950" y="1811338"/>
              <a:ext cx="1116013" cy="322262"/>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 name="直接箭头连接符 23"/>
            <p:cNvCxnSpPr>
              <a:cxnSpLocks noChangeShapeType="1"/>
              <a:stCxn id="31" idx="2"/>
            </p:cNvCxnSpPr>
            <p:nvPr/>
          </p:nvCxnSpPr>
          <p:spPr bwMode="auto">
            <a:xfrm flipH="1">
              <a:off x="4716463" y="2600325"/>
              <a:ext cx="1152525" cy="252413"/>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2" name="直接箭头连接符 25"/>
            <p:cNvCxnSpPr>
              <a:cxnSpLocks noChangeShapeType="1"/>
              <a:endCxn id="16" idx="3"/>
            </p:cNvCxnSpPr>
            <p:nvPr/>
          </p:nvCxnSpPr>
          <p:spPr bwMode="auto">
            <a:xfrm flipH="1" flipV="1">
              <a:off x="4679950" y="2924175"/>
              <a:ext cx="1224661" cy="288801"/>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3" name="直接连接符 29"/>
            <p:cNvCxnSpPr>
              <a:cxnSpLocks noChangeShapeType="1"/>
            </p:cNvCxnSpPr>
            <p:nvPr/>
          </p:nvCxnSpPr>
          <p:spPr bwMode="auto">
            <a:xfrm>
              <a:off x="1187450" y="3716338"/>
              <a:ext cx="6337300" cy="0"/>
            </a:xfrm>
            <a:prstGeom prst="line">
              <a:avLst/>
            </a:prstGeom>
            <a:noFill/>
            <a:ln w="12700" algn="ctr">
              <a:solidFill>
                <a:srgbClr val="005B9A"/>
              </a:solidFill>
              <a:prstDash val="lgDash"/>
              <a:round/>
              <a:headEnd/>
              <a:tailEnd/>
            </a:ln>
            <a:extLst>
              <a:ext uri="{909E8E84-426E-40DD-AFC4-6F175D3DCCD1}">
                <a14:hiddenFill xmlns:a14="http://schemas.microsoft.com/office/drawing/2010/main">
                  <a:noFill/>
                </a14:hiddenFill>
              </a:ext>
            </a:extLst>
          </p:spPr>
        </p:cxnSp>
        <p:sp>
          <p:nvSpPr>
            <p:cNvPr id="24" name="TextBox 8"/>
            <p:cNvSpPr txBox="1">
              <a:spLocks noChangeArrowheads="1"/>
            </p:cNvSpPr>
            <p:nvPr/>
          </p:nvSpPr>
          <p:spPr bwMode="auto">
            <a:xfrm>
              <a:off x="7207846" y="3368675"/>
              <a:ext cx="595372" cy="338138"/>
            </a:xfrm>
            <a:prstGeom prst="rect">
              <a:avLst/>
            </a:prstGeom>
            <a:noFill/>
            <a:ln w="9525">
              <a:noFill/>
              <a:miter lim="800000"/>
              <a:headEnd/>
              <a:tailEnd/>
            </a:ln>
          </p:spPr>
          <p:txBody>
            <a:bodyPr wrap="none">
              <a:spAutoFit/>
            </a:bodyPr>
            <a:lstStyle/>
            <a:p>
              <a:pPr algn="ctr">
                <a:defRPr/>
              </a:pPr>
              <a:r>
                <a:rPr lang="zh-CN" altLang="en-US" sz="1600" b="1" dirty="0">
                  <a:solidFill>
                    <a:srgbClr val="C00000"/>
                  </a:solidFill>
                  <a:latin typeface="+mn-ea"/>
                  <a:ea typeface="+mn-ea"/>
                </a:rPr>
                <a:t>邻居</a:t>
              </a:r>
              <a:endParaRPr lang="en-US" altLang="zh-CN" sz="1600" b="1" dirty="0">
                <a:solidFill>
                  <a:srgbClr val="C00000"/>
                </a:solidFill>
                <a:latin typeface="+mn-ea"/>
                <a:ea typeface="+mn-ea"/>
              </a:endParaRPr>
            </a:p>
          </p:txBody>
        </p:sp>
        <p:sp>
          <p:nvSpPr>
            <p:cNvPr id="25" name="TextBox 8"/>
            <p:cNvSpPr txBox="1">
              <a:spLocks noChangeArrowheads="1"/>
            </p:cNvSpPr>
            <p:nvPr/>
          </p:nvSpPr>
          <p:spPr bwMode="auto">
            <a:xfrm>
              <a:off x="6937860" y="5230813"/>
              <a:ext cx="10055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r>
                <a:rPr lang="zh-CN" altLang="en-US" sz="1600" b="1" dirty="0">
                  <a:solidFill>
                    <a:srgbClr val="C00000"/>
                  </a:solidFill>
                  <a:latin typeface="华文细黑" pitchFamily="2" charset="-122"/>
                  <a:ea typeface="华文细黑" pitchFamily="2" charset="-122"/>
                </a:rPr>
                <a:t>完全邻接</a:t>
              </a:r>
              <a:endParaRPr lang="en-US" altLang="zh-CN" sz="1600" b="1" dirty="0">
                <a:solidFill>
                  <a:srgbClr val="C00000"/>
                </a:solidFill>
                <a:latin typeface="华文细黑" pitchFamily="2" charset="-122"/>
                <a:ea typeface="华文细黑" pitchFamily="2" charset="-122"/>
              </a:endParaRPr>
            </a:p>
          </p:txBody>
        </p:sp>
        <p:cxnSp>
          <p:nvCxnSpPr>
            <p:cNvPr id="26" name="直接箭头连接符 36"/>
            <p:cNvCxnSpPr>
              <a:cxnSpLocks noChangeShapeType="1"/>
            </p:cNvCxnSpPr>
            <p:nvPr/>
          </p:nvCxnSpPr>
          <p:spPr bwMode="auto">
            <a:xfrm flipH="1">
              <a:off x="2700338" y="5013325"/>
              <a:ext cx="1260475" cy="360363"/>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7" name="直接箭头连接符 38"/>
            <p:cNvCxnSpPr>
              <a:cxnSpLocks noChangeShapeType="1"/>
            </p:cNvCxnSpPr>
            <p:nvPr/>
          </p:nvCxnSpPr>
          <p:spPr bwMode="auto">
            <a:xfrm>
              <a:off x="3960813" y="5013325"/>
              <a:ext cx="1187450" cy="360363"/>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28" name="流程图: 可选过程 8"/>
            <p:cNvSpPr>
              <a:spLocks noChangeArrowheads="1"/>
            </p:cNvSpPr>
            <p:nvPr/>
          </p:nvSpPr>
          <p:spPr bwMode="auto">
            <a:xfrm>
              <a:off x="5148263" y="3213100"/>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2-Way</a:t>
              </a:r>
              <a:endParaRPr lang="zh-CN" altLang="en-US" sz="1800">
                <a:solidFill>
                  <a:schemeClr val="bg1"/>
                </a:solidFill>
                <a:ea typeface="宋体" charset="-122"/>
              </a:endParaRPr>
            </a:p>
          </p:txBody>
        </p:sp>
        <p:cxnSp>
          <p:nvCxnSpPr>
            <p:cNvPr id="29" name="直接箭头连接符 12"/>
            <p:cNvCxnSpPr>
              <a:cxnSpLocks noChangeShapeType="1"/>
            </p:cNvCxnSpPr>
            <p:nvPr/>
          </p:nvCxnSpPr>
          <p:spPr bwMode="auto">
            <a:xfrm rot="-5400000">
              <a:off x="4575175" y="2868613"/>
              <a:ext cx="0" cy="1143000"/>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0" name="流程图: 可选过程 6"/>
            <p:cNvSpPr>
              <a:spLocks noChangeArrowheads="1"/>
            </p:cNvSpPr>
            <p:nvPr/>
          </p:nvSpPr>
          <p:spPr bwMode="auto">
            <a:xfrm>
              <a:off x="3240088" y="4581525"/>
              <a:ext cx="1439862" cy="430213"/>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Exchange</a:t>
              </a:r>
              <a:endParaRPr lang="zh-CN" altLang="en-US" sz="1800">
                <a:solidFill>
                  <a:schemeClr val="bg1"/>
                </a:solidFill>
                <a:ea typeface="宋体" charset="-122"/>
              </a:endParaRPr>
            </a:p>
          </p:txBody>
        </p:sp>
        <p:sp>
          <p:nvSpPr>
            <p:cNvPr id="31" name="流程图: 可选过程 7"/>
            <p:cNvSpPr>
              <a:spLocks noChangeArrowheads="1"/>
            </p:cNvSpPr>
            <p:nvPr/>
          </p:nvSpPr>
          <p:spPr bwMode="auto">
            <a:xfrm>
              <a:off x="5148263" y="2168525"/>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Attempt</a:t>
              </a:r>
              <a:endParaRPr lang="zh-CN" altLang="en-US" sz="1800">
                <a:solidFill>
                  <a:schemeClr val="bg1"/>
                </a:solidFill>
                <a:ea typeface="宋体" charset="-122"/>
              </a:endParaRPr>
            </a:p>
          </p:txBody>
        </p:sp>
      </p:grpSp>
      <p:pic>
        <p:nvPicPr>
          <p:cNvPr id="32" name="Picture 28" descr="015">
            <a:extLst>
              <a:ext uri="{FF2B5EF4-FFF2-40B4-BE49-F238E27FC236}">
                <a16:creationId xmlns:a16="http://schemas.microsoft.com/office/drawing/2014/main" id="{98698842-3931-4C7A-B6C3-D5EF2EA5B41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3253473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报文交互</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10515600" cy="5131205"/>
          </a:xfrm>
        </p:spPr>
        <p:txBody>
          <a:bodyPr>
            <a:normAutofit/>
          </a:bodyPr>
          <a:lstStyle/>
          <a:p>
            <a:pPr>
              <a:lnSpc>
                <a:spcPct val="120000"/>
              </a:lnSpc>
            </a:pPr>
            <a:r>
              <a:rPr kumimoji="1" lang="zh-CN" altLang="en-US" dirty="0"/>
              <a:t>发现邻居</a:t>
            </a:r>
            <a:endParaRPr kumimoji="1" lang="en-US" altLang="zh-CN" dirty="0"/>
          </a:p>
          <a:p>
            <a:pPr lvl="1">
              <a:lnSpc>
                <a:spcPct val="120000"/>
              </a:lnSpc>
            </a:pPr>
            <a:r>
              <a:rPr lang="zh-CN" altLang="en-US" dirty="0">
                <a:latin typeface="Arial" pitchFamily="34" charset="0"/>
              </a:rPr>
              <a:t>使用</a:t>
            </a:r>
            <a:r>
              <a:rPr lang="en-US" altLang="zh-CN" dirty="0">
                <a:latin typeface="Arial" pitchFamily="34" charset="0"/>
              </a:rPr>
              <a:t>HELLO</a:t>
            </a:r>
            <a:r>
              <a:rPr lang="zh-CN" altLang="en-US" dirty="0">
                <a:latin typeface="Arial" pitchFamily="34" charset="0"/>
              </a:rPr>
              <a:t>报文</a:t>
            </a:r>
            <a:endParaRPr lang="en-US" altLang="zh-CN" dirty="0">
              <a:latin typeface="Arial" pitchFamily="34" charset="0"/>
            </a:endParaRPr>
          </a:p>
          <a:p>
            <a:pPr lvl="1">
              <a:lnSpc>
                <a:spcPct val="120000"/>
              </a:lnSpc>
            </a:pPr>
            <a:r>
              <a:rPr lang="zh-CN" altLang="en-US" dirty="0">
                <a:latin typeface="Arial" pitchFamily="34" charset="0"/>
              </a:rPr>
              <a:t>检查</a:t>
            </a:r>
            <a:r>
              <a:rPr lang="en-US" altLang="zh-CN" dirty="0">
                <a:latin typeface="Arial" pitchFamily="34" charset="0"/>
              </a:rPr>
              <a:t>HELLO</a:t>
            </a:r>
            <a:r>
              <a:rPr lang="zh-CN" altLang="en-US" dirty="0">
                <a:latin typeface="Arial" pitchFamily="34" charset="0"/>
              </a:rPr>
              <a:t>报文中的参数，如果参数一致，形成邻居关系</a:t>
            </a:r>
            <a:endParaRPr lang="en-US" altLang="zh-CN" dirty="0">
              <a:latin typeface="Arial" pitchFamily="34" charset="0"/>
            </a:endParaRPr>
          </a:p>
          <a:p>
            <a:pPr lvl="1">
              <a:lnSpc>
                <a:spcPct val="120000"/>
              </a:lnSpc>
            </a:pPr>
            <a:r>
              <a:rPr lang="zh-CN" altLang="en-US" dirty="0">
                <a:latin typeface="Arial" pitchFamily="34" charset="0"/>
              </a:rPr>
              <a:t>对于广播和</a:t>
            </a:r>
            <a:r>
              <a:rPr lang="en-US" altLang="zh-CN" dirty="0">
                <a:latin typeface="Arial" pitchFamily="34" charset="0"/>
              </a:rPr>
              <a:t>NBMA </a:t>
            </a:r>
            <a:r>
              <a:rPr lang="zh-CN" altLang="en-US" dirty="0">
                <a:latin typeface="Arial" pitchFamily="34" charset="0"/>
              </a:rPr>
              <a:t>类型的网络，选举指定路由器（</a:t>
            </a:r>
            <a:r>
              <a:rPr lang="en-US" altLang="en-US" dirty="0">
                <a:latin typeface="Arial" pitchFamily="34" charset="0"/>
                <a:ea typeface="等线" pitchFamily="2" charset="-122"/>
              </a:rPr>
              <a:t>Designated </a:t>
            </a:r>
            <a:r>
              <a:rPr lang="en-US" altLang="en-US" dirty="0" err="1">
                <a:latin typeface="Arial" pitchFamily="34" charset="0"/>
                <a:ea typeface="等线" pitchFamily="2" charset="-122"/>
              </a:rPr>
              <a:t>Router，DR</a:t>
            </a:r>
            <a:r>
              <a:rPr lang="en-US" altLang="en-US" dirty="0">
                <a:latin typeface="Arial" pitchFamily="34" charset="0"/>
                <a:ea typeface="等线" pitchFamily="2" charset="-122"/>
              </a:rPr>
              <a:t>）</a:t>
            </a:r>
            <a:r>
              <a:rPr lang="zh-CN" altLang="en-US" dirty="0">
                <a:latin typeface="Arial" pitchFamily="34" charset="0"/>
              </a:rPr>
              <a:t>和备份指定路由器（</a:t>
            </a:r>
            <a:r>
              <a:rPr lang="en-US" altLang="en-US" dirty="0">
                <a:latin typeface="Arial" pitchFamily="34" charset="0"/>
                <a:ea typeface="等线" pitchFamily="2" charset="-122"/>
              </a:rPr>
              <a:t>Backup Designated </a:t>
            </a:r>
            <a:r>
              <a:rPr lang="en-US" altLang="en-US" dirty="0" err="1">
                <a:latin typeface="Arial" pitchFamily="34" charset="0"/>
                <a:ea typeface="等线" pitchFamily="2" charset="-122"/>
              </a:rPr>
              <a:t>Router，BDR</a:t>
            </a:r>
            <a:r>
              <a:rPr lang="en-US" altLang="en-US" dirty="0">
                <a:latin typeface="Arial" pitchFamily="34" charset="0"/>
                <a:ea typeface="等线" pitchFamily="2" charset="-122"/>
              </a:rPr>
              <a:t>）</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161</a:t>
            </a:fld>
            <a:endParaRPr kumimoji="1" lang="zh-CN" altLang="en-US" dirty="0"/>
          </a:p>
        </p:txBody>
      </p:sp>
      <p:sp>
        <p:nvSpPr>
          <p:cNvPr id="13" name="Line 17"/>
          <p:cNvSpPr>
            <a:spLocks noChangeShapeType="1"/>
          </p:cNvSpPr>
          <p:nvPr/>
        </p:nvSpPr>
        <p:spPr bwMode="auto">
          <a:xfrm flipV="1">
            <a:off x="3914791" y="4839546"/>
            <a:ext cx="3673475" cy="0"/>
          </a:xfrm>
          <a:prstGeom prst="line">
            <a:avLst/>
          </a:prstGeom>
          <a:noFill/>
          <a:ln w="28575">
            <a:solidFill>
              <a:sysClr val="windowText" lastClr="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pic>
        <p:nvPicPr>
          <p:cNvPr id="14"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7453" y="4407746"/>
            <a:ext cx="798513"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54878" y="4407746"/>
            <a:ext cx="798513"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Box 6"/>
          <p:cNvSpPr txBox="1">
            <a:spLocks noChangeArrowheads="1"/>
          </p:cNvSpPr>
          <p:nvPr/>
        </p:nvSpPr>
        <p:spPr bwMode="auto">
          <a:xfrm>
            <a:off x="5419741" y="4391871"/>
            <a:ext cx="5334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200">
                <a:solidFill>
                  <a:prstClr val="black"/>
                </a:solidFill>
                <a:ea typeface="宋体" charset="-122"/>
              </a:rPr>
              <a:t>Hello</a:t>
            </a:r>
          </a:p>
        </p:txBody>
      </p:sp>
      <p:sp>
        <p:nvSpPr>
          <p:cNvPr id="17" name="TextBox 8"/>
          <p:cNvSpPr txBox="1">
            <a:spLocks noChangeArrowheads="1"/>
          </p:cNvSpPr>
          <p:nvPr/>
        </p:nvSpPr>
        <p:spPr bwMode="auto">
          <a:xfrm>
            <a:off x="5419741" y="4999884"/>
            <a:ext cx="5334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200">
                <a:solidFill>
                  <a:prstClr val="black"/>
                </a:solidFill>
                <a:ea typeface="宋体" charset="-122"/>
              </a:rPr>
              <a:t>Hello</a:t>
            </a:r>
          </a:p>
        </p:txBody>
      </p:sp>
      <p:cxnSp>
        <p:nvCxnSpPr>
          <p:cNvPr id="18" name="直接箭头连接符 10"/>
          <p:cNvCxnSpPr>
            <a:cxnSpLocks noChangeShapeType="1"/>
          </p:cNvCxnSpPr>
          <p:nvPr/>
        </p:nvCxnSpPr>
        <p:spPr bwMode="auto">
          <a:xfrm>
            <a:off x="4611703" y="4696671"/>
            <a:ext cx="2286000" cy="0"/>
          </a:xfrm>
          <a:prstGeom prst="straightConnector1">
            <a:avLst/>
          </a:prstGeom>
          <a:noFill/>
          <a:ln w="25400" algn="ctr">
            <a:solidFill>
              <a:srgbClr val="C00000"/>
            </a:solidFill>
            <a:round/>
            <a:headEnd/>
            <a:tailEnd type="arrow" w="med" len="med"/>
          </a:ln>
          <a:extLst>
            <a:ext uri="{909E8E84-426E-40DD-AFC4-6F175D3DCCD1}">
              <a14:hiddenFill xmlns:a14="http://schemas.microsoft.com/office/drawing/2010/main">
                <a:noFill/>
              </a14:hiddenFill>
            </a:ext>
          </a:extLst>
        </p:spPr>
      </p:cxnSp>
      <p:cxnSp>
        <p:nvCxnSpPr>
          <p:cNvPr id="19" name="直接箭头连接符 11"/>
          <p:cNvCxnSpPr>
            <a:cxnSpLocks noChangeShapeType="1"/>
          </p:cNvCxnSpPr>
          <p:nvPr/>
        </p:nvCxnSpPr>
        <p:spPr bwMode="auto">
          <a:xfrm>
            <a:off x="4611703" y="4985596"/>
            <a:ext cx="2286000" cy="0"/>
          </a:xfrm>
          <a:prstGeom prst="straightConnector1">
            <a:avLst/>
          </a:prstGeom>
          <a:noFill/>
          <a:ln w="25400" algn="ctr">
            <a:solidFill>
              <a:srgbClr val="C00000"/>
            </a:solidFill>
            <a:round/>
            <a:headEnd type="arrow" w="med" len="med"/>
            <a:tailEnd/>
          </a:ln>
          <a:extLst>
            <a:ext uri="{909E8E84-426E-40DD-AFC4-6F175D3DCCD1}">
              <a14:hiddenFill xmlns:a14="http://schemas.microsoft.com/office/drawing/2010/main">
                <a:noFill/>
              </a14:hiddenFill>
            </a:ext>
          </a:extLst>
        </p:spPr>
      </p:cxnSp>
      <p:sp>
        <p:nvSpPr>
          <p:cNvPr id="20" name="Text Box 13"/>
          <p:cNvSpPr txBox="1">
            <a:spLocks noChangeArrowheads="1"/>
          </p:cNvSpPr>
          <p:nvPr/>
        </p:nvSpPr>
        <p:spPr bwMode="auto">
          <a:xfrm>
            <a:off x="3698891" y="4191846"/>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algn="l">
              <a:spcBef>
                <a:spcPct val="50000"/>
              </a:spcBef>
            </a:pPr>
            <a:r>
              <a:rPr lang="en-US" altLang="zh-CN" sz="1200">
                <a:solidFill>
                  <a:prstClr val="black"/>
                </a:solidFill>
                <a:ea typeface="宋体" charset="-122"/>
              </a:rPr>
              <a:t>RTA</a:t>
            </a:r>
          </a:p>
        </p:txBody>
      </p:sp>
      <p:sp>
        <p:nvSpPr>
          <p:cNvPr id="21" name="Text Box 13"/>
          <p:cNvSpPr txBox="1">
            <a:spLocks noChangeArrowheads="1"/>
          </p:cNvSpPr>
          <p:nvPr/>
        </p:nvSpPr>
        <p:spPr bwMode="auto">
          <a:xfrm>
            <a:off x="7299341" y="4191846"/>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algn="l">
              <a:spcBef>
                <a:spcPct val="50000"/>
              </a:spcBef>
            </a:pPr>
            <a:r>
              <a:rPr lang="en-US" altLang="zh-CN" sz="1200">
                <a:solidFill>
                  <a:prstClr val="black"/>
                </a:solidFill>
                <a:ea typeface="宋体" charset="-122"/>
              </a:rPr>
              <a:t>RTB</a:t>
            </a:r>
          </a:p>
        </p:txBody>
      </p:sp>
      <p:pic>
        <p:nvPicPr>
          <p:cNvPr id="22" name="Picture 28" descr="015">
            <a:extLst>
              <a:ext uri="{FF2B5EF4-FFF2-40B4-BE49-F238E27FC236}">
                <a16:creationId xmlns:a16="http://schemas.microsoft.com/office/drawing/2014/main" id="{930133FA-6CB5-48DB-83D8-34B5FD677DD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94444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报文交互</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4573687" cy="5131205"/>
          </a:xfrm>
        </p:spPr>
        <p:txBody>
          <a:bodyPr>
            <a:normAutofit fontScale="92500" lnSpcReduction="20000"/>
          </a:bodyPr>
          <a:lstStyle/>
          <a:p>
            <a:pPr>
              <a:lnSpc>
                <a:spcPct val="120000"/>
              </a:lnSpc>
            </a:pPr>
            <a:r>
              <a:rPr kumimoji="1" lang="zh-CN" altLang="en-US" dirty="0"/>
              <a:t>数据库同步</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使用</a:t>
            </a:r>
            <a:r>
              <a:rPr lang="en-US" altLang="zh-CN" dirty="0">
                <a:solidFill>
                  <a:prstClr val="black"/>
                </a:solidFill>
                <a:cs typeface="Arial" charset="0"/>
              </a:rPr>
              <a:t>DD</a:t>
            </a:r>
            <a:r>
              <a:rPr lang="zh-CN" altLang="en-US" dirty="0">
                <a:solidFill>
                  <a:prstClr val="black"/>
                </a:solidFill>
                <a:cs typeface="Arial" charset="0"/>
              </a:rPr>
              <a:t>报文来进行主从路由器的选举和数据库摘要信息的交互</a:t>
            </a:r>
            <a:endParaRPr lang="en-US" altLang="zh-CN"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en-US" altLang="zh-CN" dirty="0">
                <a:solidFill>
                  <a:prstClr val="black"/>
                </a:solidFill>
                <a:cs typeface="Arial" charset="0"/>
              </a:rPr>
              <a:t>DD</a:t>
            </a:r>
            <a:r>
              <a:rPr lang="zh-CN" altLang="en-US" dirty="0">
                <a:solidFill>
                  <a:prstClr val="black"/>
                </a:solidFill>
                <a:cs typeface="Arial" charset="0"/>
              </a:rPr>
              <a:t>报文包含</a:t>
            </a:r>
            <a:r>
              <a:rPr lang="en-US" altLang="zh-CN" dirty="0">
                <a:solidFill>
                  <a:prstClr val="black"/>
                </a:solidFill>
                <a:cs typeface="Arial" charset="0"/>
              </a:rPr>
              <a:t>LSA</a:t>
            </a:r>
            <a:r>
              <a:rPr lang="zh-CN" altLang="en-US" dirty="0">
                <a:solidFill>
                  <a:prstClr val="black"/>
                </a:solidFill>
                <a:cs typeface="Arial" charset="0"/>
              </a:rPr>
              <a:t>的头部信息，用来描述</a:t>
            </a:r>
            <a:r>
              <a:rPr lang="en-US" altLang="zh-CN" dirty="0">
                <a:solidFill>
                  <a:prstClr val="black"/>
                </a:solidFill>
                <a:cs typeface="Arial" charset="0"/>
              </a:rPr>
              <a:t>LSDB</a:t>
            </a:r>
            <a:r>
              <a:rPr lang="zh-CN" altLang="en-US" dirty="0">
                <a:solidFill>
                  <a:prstClr val="black"/>
                </a:solidFill>
                <a:cs typeface="Arial" charset="0"/>
              </a:rPr>
              <a:t>的摘要信息</a:t>
            </a:r>
            <a:endParaRPr kumimoji="1" lang="en-US" altLang="zh-CN" dirty="0"/>
          </a:p>
          <a:p>
            <a:pPr>
              <a:lnSpc>
                <a:spcPct val="120000"/>
              </a:lnSpc>
            </a:pPr>
            <a:r>
              <a:rPr kumimoji="1" lang="zh-CN" altLang="en-US" dirty="0"/>
              <a:t>建立完全邻接关系</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en-US" altLang="zh-CN" kern="0" dirty="0">
                <a:solidFill>
                  <a:prstClr val="black"/>
                </a:solidFill>
                <a:cs typeface="Arial" charset="0"/>
              </a:rPr>
              <a:t>LSR</a:t>
            </a:r>
            <a:r>
              <a:rPr lang="zh-CN" altLang="en-US" kern="0" dirty="0">
                <a:solidFill>
                  <a:prstClr val="black"/>
                </a:solidFill>
              </a:rPr>
              <a:t>用于向对方请求所需的</a:t>
            </a:r>
            <a:r>
              <a:rPr lang="en-US" altLang="zh-CN" kern="0" dirty="0">
                <a:solidFill>
                  <a:prstClr val="black"/>
                </a:solidFill>
              </a:rPr>
              <a:t>LSA</a:t>
            </a:r>
            <a:endParaRPr lang="en-US" altLang="zh-CN" kern="0"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en-US" altLang="zh-CN" kern="0" dirty="0">
                <a:solidFill>
                  <a:prstClr val="black"/>
                </a:solidFill>
              </a:rPr>
              <a:t>LSU</a:t>
            </a:r>
            <a:r>
              <a:rPr lang="zh-CN" altLang="en-US" kern="0" dirty="0">
                <a:solidFill>
                  <a:prstClr val="black"/>
                </a:solidFill>
              </a:rPr>
              <a:t>用于向对方发送其所需要的</a:t>
            </a:r>
            <a:r>
              <a:rPr lang="en-US" altLang="zh-CN" kern="0" dirty="0">
                <a:solidFill>
                  <a:prstClr val="black"/>
                </a:solidFill>
              </a:rPr>
              <a:t>LSA</a:t>
            </a:r>
          </a:p>
          <a:p>
            <a:pPr marL="522287" lvl="1" indent="-252413" defTabSz="801688">
              <a:lnSpc>
                <a:spcPct val="120000"/>
              </a:lnSpc>
              <a:spcBef>
                <a:spcPct val="30000"/>
              </a:spcBef>
              <a:buSzPct val="80000"/>
              <a:buFont typeface="Wingdings" pitchFamily="2" charset="2"/>
              <a:buChar char="l"/>
              <a:defRPr/>
            </a:pPr>
            <a:r>
              <a:rPr lang="en-US" altLang="zh-CN" kern="0" dirty="0">
                <a:solidFill>
                  <a:prstClr val="black"/>
                </a:solidFill>
                <a:cs typeface="Arial" charset="0"/>
              </a:rPr>
              <a:t>LSACK</a:t>
            </a:r>
            <a:r>
              <a:rPr lang="zh-CN" altLang="en-US" kern="0" dirty="0">
                <a:solidFill>
                  <a:prstClr val="black"/>
                </a:solidFill>
                <a:cs typeface="Arial" charset="0"/>
              </a:rPr>
              <a:t>用于向对方发送收到</a:t>
            </a:r>
            <a:r>
              <a:rPr lang="en-US" altLang="zh-CN" kern="0" dirty="0">
                <a:solidFill>
                  <a:prstClr val="black"/>
                </a:solidFill>
                <a:cs typeface="Arial" charset="0"/>
              </a:rPr>
              <a:t>LSA</a:t>
            </a:r>
            <a:r>
              <a:rPr lang="zh-CN" altLang="en-US" kern="0" dirty="0">
                <a:solidFill>
                  <a:prstClr val="black"/>
                </a:solidFill>
                <a:cs typeface="Arial" charset="0"/>
              </a:rPr>
              <a:t>的确认</a:t>
            </a:r>
            <a:endParaRPr lang="en-US" altLang="zh-CN" kern="0" dirty="0">
              <a:solidFill>
                <a:prstClr val="black"/>
              </a:solidFill>
              <a:cs typeface="Arial" charset="0"/>
            </a:endParaRPr>
          </a:p>
          <a:p>
            <a:pPr>
              <a:lnSpc>
                <a:spcPct val="120000"/>
              </a:lnSpc>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162</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grpSp>
        <p:nvGrpSpPr>
          <p:cNvPr id="30" name="组合 29"/>
          <p:cNvGrpSpPr/>
          <p:nvPr/>
        </p:nvGrpSpPr>
        <p:grpSpPr>
          <a:xfrm>
            <a:off x="5792041" y="1600016"/>
            <a:ext cx="6089393" cy="4756332"/>
            <a:chOff x="6076950" y="1600017"/>
            <a:chExt cx="6089393" cy="4756332"/>
          </a:xfrm>
        </p:grpSpPr>
        <p:grpSp>
          <p:nvGrpSpPr>
            <p:cNvPr id="31" name="组合 30"/>
            <p:cNvGrpSpPr/>
            <p:nvPr/>
          </p:nvGrpSpPr>
          <p:grpSpPr>
            <a:xfrm>
              <a:off x="6076950" y="1600017"/>
              <a:ext cx="6089393" cy="4756332"/>
              <a:chOff x="5187156" y="1712958"/>
              <a:chExt cx="6089393" cy="4756332"/>
            </a:xfrm>
          </p:grpSpPr>
          <p:grpSp>
            <p:nvGrpSpPr>
              <p:cNvPr id="41" name="Group 21"/>
              <p:cNvGrpSpPr>
                <a:grpSpLocks/>
              </p:cNvGrpSpPr>
              <p:nvPr/>
            </p:nvGrpSpPr>
            <p:grpSpPr bwMode="auto">
              <a:xfrm>
                <a:off x="5187156" y="1712958"/>
                <a:ext cx="5659438" cy="4756332"/>
                <a:chOff x="1670050" y="1681014"/>
                <a:chExt cx="5659438" cy="4756332"/>
              </a:xfrm>
            </p:grpSpPr>
            <p:sp>
              <p:nvSpPr>
                <p:cNvPr id="46" name="Line 30"/>
                <p:cNvSpPr>
                  <a:spLocks noChangeShapeType="1"/>
                </p:cNvSpPr>
                <p:nvPr/>
              </p:nvSpPr>
              <p:spPr bwMode="auto">
                <a:xfrm flipV="1">
                  <a:off x="6372225" y="2636837"/>
                  <a:ext cx="0" cy="3800508"/>
                </a:xfrm>
                <a:prstGeom prst="line">
                  <a:avLst/>
                </a:prstGeom>
                <a:noFill/>
                <a:ln w="28575">
                  <a:solidFill>
                    <a:srgbClr val="990000"/>
                  </a:solidFill>
                  <a:round/>
                  <a:headEnd type="none"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47" name="Text Box 13"/>
                <p:cNvSpPr txBox="1">
                  <a:spLocks noChangeArrowheads="1"/>
                </p:cNvSpPr>
                <p:nvPr/>
              </p:nvSpPr>
              <p:spPr bwMode="auto">
                <a:xfrm>
                  <a:off x="1670050" y="1681014"/>
                  <a:ext cx="1677988"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RTA  (Router ID=1.1.1.1)</a:t>
                  </a:r>
                </a:p>
              </p:txBody>
            </p:sp>
            <p:sp>
              <p:nvSpPr>
                <p:cNvPr id="48" name="Text Box 13"/>
                <p:cNvSpPr txBox="1">
                  <a:spLocks noChangeArrowheads="1"/>
                </p:cNvSpPr>
                <p:nvPr/>
              </p:nvSpPr>
              <p:spPr bwMode="auto">
                <a:xfrm>
                  <a:off x="5651500" y="1685518"/>
                  <a:ext cx="1677988"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RTB  (Router ID=2.2.2.2)</a:t>
                  </a:r>
                </a:p>
              </p:txBody>
            </p:sp>
            <p:sp>
              <p:nvSpPr>
                <p:cNvPr id="49" name="Line 17"/>
                <p:cNvSpPr>
                  <a:spLocks noChangeShapeType="1"/>
                </p:cNvSpPr>
                <p:nvPr/>
              </p:nvSpPr>
              <p:spPr bwMode="auto">
                <a:xfrm flipV="1">
                  <a:off x="2843213" y="2349500"/>
                  <a:ext cx="3168650" cy="0"/>
                </a:xfrm>
                <a:prstGeom prst="line">
                  <a:avLst/>
                </a:prstGeom>
                <a:noFill/>
                <a:ln w="28575">
                  <a:solidFill>
                    <a:sysClr val="windowText" lastClr="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pic>
              <p:nvPicPr>
                <p:cNvPr id="50"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4075" y="1916113"/>
                  <a:ext cx="798513" cy="7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34075" y="1916113"/>
                  <a:ext cx="798513" cy="7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Line 7"/>
                <p:cNvSpPr>
                  <a:spLocks noChangeShapeType="1"/>
                </p:cNvSpPr>
                <p:nvPr/>
              </p:nvSpPr>
              <p:spPr bwMode="auto">
                <a:xfrm>
                  <a:off x="2643188" y="3068638"/>
                  <a:ext cx="3598862" cy="0"/>
                </a:xfrm>
                <a:prstGeom prst="line">
                  <a:avLst/>
                </a:prstGeom>
                <a:noFill/>
                <a:ln w="28575">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3" name="Line 14"/>
                <p:cNvSpPr>
                  <a:spLocks noChangeShapeType="1"/>
                </p:cNvSpPr>
                <p:nvPr/>
              </p:nvSpPr>
              <p:spPr bwMode="auto">
                <a:xfrm>
                  <a:off x="2627313" y="3482975"/>
                  <a:ext cx="3598862" cy="0"/>
                </a:xfrm>
                <a:prstGeom prst="line">
                  <a:avLst/>
                </a:prstGeom>
                <a:noFill/>
                <a:ln w="28575">
                  <a:solidFill>
                    <a:srgbClr val="990000"/>
                  </a:solidFill>
                  <a:round/>
                  <a:headEnd type="stealth"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4" name="Line 17"/>
                <p:cNvSpPr>
                  <a:spLocks noChangeShapeType="1"/>
                </p:cNvSpPr>
                <p:nvPr/>
              </p:nvSpPr>
              <p:spPr bwMode="auto">
                <a:xfrm>
                  <a:off x="2660650" y="3897313"/>
                  <a:ext cx="3598863" cy="0"/>
                </a:xfrm>
                <a:prstGeom prst="line">
                  <a:avLst/>
                </a:prstGeom>
                <a:noFill/>
                <a:ln w="28575">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5" name="Line 29"/>
                <p:cNvSpPr>
                  <a:spLocks noChangeShapeType="1"/>
                </p:cNvSpPr>
                <p:nvPr/>
              </p:nvSpPr>
              <p:spPr bwMode="auto">
                <a:xfrm>
                  <a:off x="2627313" y="4311650"/>
                  <a:ext cx="3598862" cy="0"/>
                </a:xfrm>
                <a:prstGeom prst="line">
                  <a:avLst/>
                </a:prstGeom>
                <a:noFill/>
                <a:ln w="28575">
                  <a:solidFill>
                    <a:srgbClr val="990000"/>
                  </a:solidFill>
                  <a:round/>
                  <a:headEnd type="stealth"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6" name="Line 30"/>
                <p:cNvSpPr>
                  <a:spLocks noChangeShapeType="1"/>
                </p:cNvSpPr>
                <p:nvPr/>
              </p:nvSpPr>
              <p:spPr bwMode="auto">
                <a:xfrm>
                  <a:off x="2674938" y="4724400"/>
                  <a:ext cx="3598862" cy="0"/>
                </a:xfrm>
                <a:prstGeom prst="line">
                  <a:avLst/>
                </a:prstGeom>
                <a:noFill/>
                <a:ln w="28575">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7" name="Line 30"/>
                <p:cNvSpPr>
                  <a:spLocks noChangeShapeType="1"/>
                </p:cNvSpPr>
                <p:nvPr/>
              </p:nvSpPr>
              <p:spPr bwMode="auto">
                <a:xfrm flipV="1">
                  <a:off x="2484438" y="2636837"/>
                  <a:ext cx="0" cy="3800509"/>
                </a:xfrm>
                <a:prstGeom prst="line">
                  <a:avLst/>
                </a:prstGeom>
                <a:noFill/>
                <a:ln w="28575">
                  <a:solidFill>
                    <a:srgbClr val="990000"/>
                  </a:solidFill>
                  <a:round/>
                  <a:headEnd type="none"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8" name="Text Box 20"/>
                <p:cNvSpPr txBox="1">
                  <a:spLocks noChangeArrowheads="1"/>
                </p:cNvSpPr>
                <p:nvPr/>
              </p:nvSpPr>
              <p:spPr bwMode="auto">
                <a:xfrm>
                  <a:off x="3411538" y="2852738"/>
                  <a:ext cx="187960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1.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主</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)(Sequence=X)</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59" name="Text Box 24"/>
                <p:cNvSpPr txBox="1">
                  <a:spLocks noChangeArrowheads="1"/>
                </p:cNvSpPr>
                <p:nvPr/>
              </p:nvSpPr>
              <p:spPr bwMode="auto">
                <a:xfrm>
                  <a:off x="3411538" y="3265488"/>
                  <a:ext cx="187960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2.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主</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60" name="Text Box 28"/>
                <p:cNvSpPr txBox="1">
                  <a:spLocks noChangeArrowheads="1"/>
                </p:cNvSpPr>
                <p:nvPr/>
              </p:nvSpPr>
              <p:spPr bwMode="auto">
                <a:xfrm>
                  <a:off x="3411538" y="3686175"/>
                  <a:ext cx="18081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3.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从</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61" name="Text Box 38"/>
                <p:cNvSpPr txBox="1">
                  <a:spLocks noChangeArrowheads="1"/>
                </p:cNvSpPr>
                <p:nvPr/>
              </p:nvSpPr>
              <p:spPr bwMode="auto">
                <a:xfrm>
                  <a:off x="3411538" y="4087813"/>
                  <a:ext cx="202406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4.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主</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)(Sequence=Y+1)</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62" name="Text Box 38"/>
                <p:cNvSpPr txBox="1">
                  <a:spLocks noChangeArrowheads="1"/>
                </p:cNvSpPr>
                <p:nvPr/>
              </p:nvSpPr>
              <p:spPr bwMode="auto">
                <a:xfrm>
                  <a:off x="3411538" y="4519613"/>
                  <a:ext cx="202406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5.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从</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)(Sequence=Y+1)</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grpSp>
          <p:sp>
            <p:nvSpPr>
              <p:cNvPr id="42" name="Text Box 13"/>
              <p:cNvSpPr txBox="1">
                <a:spLocks noChangeArrowheads="1"/>
              </p:cNvSpPr>
              <p:nvPr/>
            </p:nvSpPr>
            <p:spPr bwMode="auto">
              <a:xfrm>
                <a:off x="5370508" y="3008507"/>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43" name="Text Box 13"/>
              <p:cNvSpPr txBox="1">
                <a:spLocks noChangeArrowheads="1"/>
              </p:cNvSpPr>
              <p:nvPr/>
            </p:nvSpPr>
            <p:spPr bwMode="auto">
              <a:xfrm>
                <a:off x="5231606" y="3836924"/>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44" name="Text Box 13"/>
              <p:cNvSpPr txBox="1">
                <a:spLocks noChangeArrowheads="1"/>
              </p:cNvSpPr>
              <p:nvPr/>
            </p:nvSpPr>
            <p:spPr bwMode="auto">
              <a:xfrm>
                <a:off x="9898334" y="3422844"/>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45" name="Text Box 13"/>
              <p:cNvSpPr txBox="1">
                <a:spLocks noChangeArrowheads="1"/>
              </p:cNvSpPr>
              <p:nvPr/>
            </p:nvSpPr>
            <p:spPr bwMode="auto">
              <a:xfrm>
                <a:off x="9950769" y="3836924"/>
                <a:ext cx="132578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Exchange</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grpSp>
        <p:grpSp>
          <p:nvGrpSpPr>
            <p:cNvPr id="32" name="组合 31"/>
            <p:cNvGrpSpPr/>
            <p:nvPr/>
          </p:nvGrpSpPr>
          <p:grpSpPr>
            <a:xfrm>
              <a:off x="6245010" y="4871766"/>
              <a:ext cx="4405447" cy="1411385"/>
              <a:chOff x="6284721" y="4138579"/>
              <a:chExt cx="4405447" cy="1411385"/>
            </a:xfrm>
          </p:grpSpPr>
          <p:sp>
            <p:nvSpPr>
              <p:cNvPr id="33" name="Line 14"/>
              <p:cNvSpPr>
                <a:spLocks noChangeShapeType="1"/>
              </p:cNvSpPr>
              <p:nvPr/>
            </p:nvSpPr>
            <p:spPr bwMode="auto">
              <a:xfrm>
                <a:off x="7073843" y="5443732"/>
                <a:ext cx="3598862" cy="0"/>
              </a:xfrm>
              <a:prstGeom prst="line">
                <a:avLst/>
              </a:prstGeom>
              <a:noFill/>
              <a:ln w="25400">
                <a:solidFill>
                  <a:srgbClr val="990000"/>
                </a:solidFill>
                <a:round/>
                <a:headEnd type="none" w="lg" len="lg"/>
                <a:tailEnd type="arrow"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34" name="Line 17"/>
              <p:cNvSpPr>
                <a:spLocks noChangeShapeType="1"/>
              </p:cNvSpPr>
              <p:nvPr/>
            </p:nvSpPr>
            <p:spPr bwMode="auto">
              <a:xfrm>
                <a:off x="7091305" y="4340148"/>
                <a:ext cx="3598863" cy="0"/>
              </a:xfrm>
              <a:prstGeom prst="line">
                <a:avLst/>
              </a:prstGeom>
              <a:noFill/>
              <a:ln w="25400">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35" name="Text Box 24"/>
              <p:cNvSpPr txBox="1">
                <a:spLocks noChangeArrowheads="1"/>
              </p:cNvSpPr>
              <p:nvPr/>
            </p:nvSpPr>
            <p:spPr bwMode="auto">
              <a:xfrm>
                <a:off x="7581843" y="5245078"/>
                <a:ext cx="2589212" cy="18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宋体" charset="-122"/>
                  </a:rPr>
                  <a:t>8.Link State Ack</a:t>
                </a:r>
                <a:endParaRPr kumimoji="0" lang="en-US" altLang="zh-CN" sz="1200" b="0" i="0" u="none" strike="noStrike" kern="0" cap="none" spc="0" normalizeH="0" baseline="0" noProof="0">
                  <a:ln>
                    <a:noFill/>
                  </a:ln>
                  <a:solidFill>
                    <a:srgbClr val="A50021"/>
                  </a:solidFill>
                  <a:effectLst/>
                  <a:uLnTx/>
                  <a:uFillTx/>
                  <a:latin typeface="Arial" charset="0"/>
                  <a:ea typeface="宋体" charset="-122"/>
                </a:endParaRPr>
              </a:p>
            </p:txBody>
          </p:sp>
          <p:sp>
            <p:nvSpPr>
              <p:cNvPr id="36" name="Text Box 28"/>
              <p:cNvSpPr txBox="1">
                <a:spLocks noChangeArrowheads="1"/>
              </p:cNvSpPr>
              <p:nvPr/>
            </p:nvSpPr>
            <p:spPr bwMode="auto">
              <a:xfrm>
                <a:off x="7581843" y="4138579"/>
                <a:ext cx="2589212"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宋体" charset="-122"/>
                  </a:rPr>
                  <a:t>6.Link State Request</a:t>
                </a:r>
                <a:endParaRPr kumimoji="0" lang="en-US" altLang="zh-CN" sz="1200" b="0" i="0" u="none" strike="noStrike" kern="0" cap="none" spc="0" normalizeH="0" baseline="0" noProof="0">
                  <a:ln>
                    <a:noFill/>
                  </a:ln>
                  <a:solidFill>
                    <a:srgbClr val="A50021"/>
                  </a:solidFill>
                  <a:effectLst/>
                  <a:uLnTx/>
                  <a:uFillTx/>
                  <a:latin typeface="Arial" charset="0"/>
                  <a:ea typeface="宋体" charset="-122"/>
                </a:endParaRPr>
              </a:p>
            </p:txBody>
          </p:sp>
          <p:sp>
            <p:nvSpPr>
              <p:cNvPr id="37" name="Line 29"/>
              <p:cNvSpPr>
                <a:spLocks noChangeShapeType="1"/>
              </p:cNvSpPr>
              <p:nvPr/>
            </p:nvSpPr>
            <p:spPr bwMode="auto">
              <a:xfrm>
                <a:off x="7073843" y="4897242"/>
                <a:ext cx="3598862" cy="0"/>
              </a:xfrm>
              <a:prstGeom prst="line">
                <a:avLst/>
              </a:prstGeom>
              <a:noFill/>
              <a:ln w="25400">
                <a:solidFill>
                  <a:srgbClr val="990000"/>
                </a:solidFill>
                <a:round/>
                <a:headEnd type="stealth"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38" name="Text Box 38"/>
              <p:cNvSpPr txBox="1">
                <a:spLocks noChangeArrowheads="1"/>
              </p:cNvSpPr>
              <p:nvPr/>
            </p:nvSpPr>
            <p:spPr bwMode="auto">
              <a:xfrm>
                <a:off x="7581843" y="4698847"/>
                <a:ext cx="2589212"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宋体" charset="-122"/>
                  </a:rPr>
                  <a:t>7.Link State Update</a:t>
                </a:r>
                <a:endParaRPr kumimoji="0" lang="en-US" altLang="zh-CN" sz="1200" b="0" i="0" u="none" strike="noStrike" kern="0" cap="none" spc="0" normalizeH="0" baseline="0" noProof="0">
                  <a:ln>
                    <a:noFill/>
                  </a:ln>
                  <a:solidFill>
                    <a:srgbClr val="A50021"/>
                  </a:solidFill>
                  <a:effectLst/>
                  <a:uLnTx/>
                  <a:uFillTx/>
                  <a:latin typeface="Arial" charset="0"/>
                  <a:ea typeface="宋体" charset="-122"/>
                </a:endParaRPr>
              </a:p>
            </p:txBody>
          </p:sp>
          <p:sp>
            <p:nvSpPr>
              <p:cNvPr id="39" name="Text Box 13"/>
              <p:cNvSpPr txBox="1">
                <a:spLocks noChangeArrowheads="1"/>
              </p:cNvSpPr>
              <p:nvPr/>
            </p:nvSpPr>
            <p:spPr bwMode="auto">
              <a:xfrm>
                <a:off x="6284721" y="4230634"/>
                <a:ext cx="628650"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Loading</a:t>
                </a:r>
              </a:p>
            </p:txBody>
          </p:sp>
          <p:sp>
            <p:nvSpPr>
              <p:cNvPr id="40" name="Text Box 13"/>
              <p:cNvSpPr txBox="1">
                <a:spLocks noChangeArrowheads="1"/>
              </p:cNvSpPr>
              <p:nvPr/>
            </p:nvSpPr>
            <p:spPr bwMode="auto">
              <a:xfrm>
                <a:off x="6513055" y="5364265"/>
                <a:ext cx="497311" cy="185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grpSp>
      </p:grpSp>
      <p:sp>
        <p:nvSpPr>
          <p:cNvPr id="68" name="Text Box 13"/>
          <p:cNvSpPr txBox="1">
            <a:spLocks noChangeArrowheads="1"/>
          </p:cNvSpPr>
          <p:nvPr/>
        </p:nvSpPr>
        <p:spPr bwMode="auto">
          <a:xfrm>
            <a:off x="5232715" y="3290455"/>
            <a:ext cx="13330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Exchange</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69" name="Text Box 13"/>
          <p:cNvSpPr txBox="1">
            <a:spLocks noChangeArrowheads="1"/>
          </p:cNvSpPr>
          <p:nvPr/>
        </p:nvSpPr>
        <p:spPr bwMode="auto">
          <a:xfrm>
            <a:off x="10433259" y="4981278"/>
            <a:ext cx="453217"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sp>
        <p:nvSpPr>
          <p:cNvPr id="70" name="Text Box 13"/>
          <p:cNvSpPr txBox="1">
            <a:spLocks noChangeArrowheads="1"/>
          </p:cNvSpPr>
          <p:nvPr/>
        </p:nvSpPr>
        <p:spPr bwMode="auto">
          <a:xfrm>
            <a:off x="5553707" y="5523811"/>
            <a:ext cx="10120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Loading</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Full</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71" name="Text Box 13"/>
          <p:cNvSpPr txBox="1">
            <a:spLocks noChangeArrowheads="1"/>
          </p:cNvSpPr>
          <p:nvPr/>
        </p:nvSpPr>
        <p:spPr bwMode="auto">
          <a:xfrm>
            <a:off x="10431137" y="5524366"/>
            <a:ext cx="455339"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sp>
        <p:nvSpPr>
          <p:cNvPr id="72" name="Text Box 13"/>
          <p:cNvSpPr txBox="1">
            <a:spLocks noChangeArrowheads="1"/>
          </p:cNvSpPr>
          <p:nvPr/>
        </p:nvSpPr>
        <p:spPr bwMode="auto">
          <a:xfrm>
            <a:off x="10445736" y="6073919"/>
            <a:ext cx="440740"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sp>
        <p:nvSpPr>
          <p:cNvPr id="73" name="Text Box 13"/>
          <p:cNvSpPr txBox="1">
            <a:spLocks noChangeArrowheads="1"/>
          </p:cNvSpPr>
          <p:nvPr/>
        </p:nvSpPr>
        <p:spPr bwMode="auto">
          <a:xfrm>
            <a:off x="5833316" y="4550533"/>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74" name="Text Box 13"/>
          <p:cNvSpPr txBox="1">
            <a:spLocks noChangeArrowheads="1"/>
          </p:cNvSpPr>
          <p:nvPr/>
        </p:nvSpPr>
        <p:spPr bwMode="auto">
          <a:xfrm>
            <a:off x="5833316" y="4192552"/>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75" name="Text Box 13"/>
          <p:cNvSpPr txBox="1">
            <a:spLocks noChangeArrowheads="1"/>
          </p:cNvSpPr>
          <p:nvPr/>
        </p:nvSpPr>
        <p:spPr bwMode="auto">
          <a:xfrm>
            <a:off x="10499920" y="4099683"/>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76" name="Text Box 13"/>
          <p:cNvSpPr txBox="1">
            <a:spLocks noChangeArrowheads="1"/>
          </p:cNvSpPr>
          <p:nvPr/>
        </p:nvSpPr>
        <p:spPr bwMode="auto">
          <a:xfrm>
            <a:off x="10441891" y="4542039"/>
            <a:ext cx="126344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Exchange</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Full</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pic>
        <p:nvPicPr>
          <p:cNvPr id="63" name="Picture 28" descr="015">
            <a:extLst>
              <a:ext uri="{FF2B5EF4-FFF2-40B4-BE49-F238E27FC236}">
                <a16:creationId xmlns:a16="http://schemas.microsoft.com/office/drawing/2014/main" id="{DC703E1B-AF13-44A7-BD71-986CE649060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948418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区域的概念</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10188787" cy="5131205"/>
          </a:xfrm>
        </p:spPr>
        <p:txBody>
          <a:bodyPr>
            <a:normAutofit/>
          </a:bodyPr>
          <a:lstStyle/>
          <a:p>
            <a:pPr algn="just">
              <a:lnSpc>
                <a:spcPct val="120000"/>
              </a:lnSpc>
            </a:pPr>
            <a:r>
              <a:rPr lang="en-US" altLang="zh-CN" dirty="0"/>
              <a:t>OSPF</a:t>
            </a:r>
            <a:r>
              <a:rPr lang="zh-CN" altLang="en-US" dirty="0"/>
              <a:t>支持将一组网段组合在一起，称为一个区域</a:t>
            </a:r>
          </a:p>
          <a:p>
            <a:pPr algn="just">
              <a:lnSpc>
                <a:spcPct val="120000"/>
              </a:lnSpc>
            </a:pPr>
            <a:r>
              <a:rPr lang="zh-CN" altLang="en-US" dirty="0">
                <a:latin typeface="Arial" panose="020B0604020202020204" pitchFamily="34" charset="0"/>
              </a:rPr>
              <a:t>详细的描述拓扑结构的链路状态信息仅在区域内传递，区域间传递的是抽象的路由信息</a:t>
            </a:r>
            <a:endParaRPr lang="en-US" altLang="zh-CN" dirty="0">
              <a:latin typeface="Arial" panose="020B0604020202020204" pitchFamily="34" charset="0"/>
            </a:endParaRPr>
          </a:p>
          <a:p>
            <a:pPr algn="just">
              <a:lnSpc>
                <a:spcPct val="120000"/>
              </a:lnSpc>
            </a:pPr>
            <a:r>
              <a:rPr lang="zh-CN" altLang="en-US" dirty="0"/>
              <a:t>使用</a:t>
            </a:r>
            <a:r>
              <a:rPr lang="zh-CN" altLang="en-US" dirty="0">
                <a:solidFill>
                  <a:srgbClr val="C00000"/>
                </a:solidFill>
              </a:rPr>
              <a:t>层次结构的区域划分</a:t>
            </a:r>
            <a:r>
              <a:rPr lang="zh-CN" altLang="en-US" dirty="0"/>
              <a:t>，上层的区域叫做</a:t>
            </a:r>
            <a:r>
              <a:rPr lang="zh-CN" altLang="en-US" dirty="0">
                <a:solidFill>
                  <a:srgbClr val="C00000"/>
                </a:solidFill>
              </a:rPr>
              <a:t>主干区域 </a:t>
            </a:r>
            <a:r>
              <a:rPr lang="en-US" altLang="zh-CN" dirty="0"/>
              <a:t>(backbone area)</a:t>
            </a:r>
            <a:r>
              <a:rPr lang="zh-CN" altLang="en-US" dirty="0"/>
              <a:t>，其他区域都必须与主干区域相连</a:t>
            </a:r>
            <a:endParaRPr lang="en-US" altLang="zh-CN" dirty="0"/>
          </a:p>
          <a:p>
            <a:pPr algn="just">
              <a:lnSpc>
                <a:spcPct val="120000"/>
              </a:lnSpc>
            </a:pPr>
            <a:r>
              <a:rPr lang="zh-CN" altLang="en-US" dirty="0"/>
              <a:t>非主干区域之间不允许直接发布区域间路由信息</a:t>
            </a:r>
            <a:endParaRPr lang="en-US" altLang="zh-CN" dirty="0"/>
          </a:p>
          <a:p>
            <a:pPr algn="just">
              <a:lnSpc>
                <a:spcPct val="120000"/>
              </a:lnSpc>
            </a:pPr>
            <a:r>
              <a:rPr lang="zh-CN" altLang="en-US" dirty="0"/>
              <a:t>区域也不能太大，在一个区域内的路由器最好不超过 </a:t>
            </a:r>
            <a:r>
              <a:rPr lang="en-US" altLang="zh-CN" dirty="0"/>
              <a:t>200 </a:t>
            </a:r>
            <a:r>
              <a:rPr lang="zh-CN" altLang="en-US" dirty="0"/>
              <a:t>个</a:t>
            </a:r>
            <a:endParaRPr lang="en-US" altLang="zh-CN" dirty="0"/>
          </a:p>
          <a:p>
            <a:pPr algn="just">
              <a:lnSpc>
                <a:spcPct val="120000"/>
              </a:lnSpc>
            </a:pPr>
            <a:r>
              <a:rPr lang="zh-CN" altLang="en-US" dirty="0"/>
              <a:t>划分区域可以缩小</a:t>
            </a:r>
            <a:r>
              <a:rPr lang="en-US" altLang="zh-CN" dirty="0"/>
              <a:t>LSDB</a:t>
            </a:r>
            <a:r>
              <a:rPr lang="zh-CN" altLang="en-US" dirty="0"/>
              <a:t>规模，减少网络流量</a:t>
            </a:r>
            <a:endParaRPr lang="en-US" altLang="zh-CN" dirty="0"/>
          </a:p>
          <a:p>
            <a:pPr marL="0" indent="0">
              <a:lnSpc>
                <a:spcPct val="120000"/>
              </a:lnSpc>
              <a:buNone/>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163</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pic>
        <p:nvPicPr>
          <p:cNvPr id="9" name="Picture 28" descr="015">
            <a:extLst>
              <a:ext uri="{FF2B5EF4-FFF2-40B4-BE49-F238E27FC236}">
                <a16:creationId xmlns:a16="http://schemas.microsoft.com/office/drawing/2014/main" id="{998891D0-1586-4417-BA19-50ABCA4BF86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80630460"/>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区域的概念</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164</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
        <p:nvSpPr>
          <p:cNvPr id="11" name="内容占位符 2"/>
          <p:cNvSpPr txBox="1">
            <a:spLocks/>
          </p:cNvSpPr>
          <p:nvPr/>
        </p:nvSpPr>
        <p:spPr>
          <a:xfrm>
            <a:off x="838197" y="1510758"/>
            <a:ext cx="4420334"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en-US" altLang="zh-CN" dirty="0"/>
              <a:t>OSPF</a:t>
            </a:r>
            <a:r>
              <a:rPr lang="zh-CN" altLang="en-US" dirty="0"/>
              <a:t>的区域</a:t>
            </a:r>
            <a:endParaRPr lang="en-US" altLang="zh-CN" dirty="0"/>
          </a:p>
          <a:p>
            <a:pPr lvl="1" algn="just"/>
            <a:r>
              <a:rPr lang="zh-CN" altLang="en-US" dirty="0"/>
              <a:t>主干区域</a:t>
            </a:r>
            <a:endParaRPr lang="en-US" altLang="zh-CN" dirty="0"/>
          </a:p>
          <a:p>
            <a:pPr lvl="1" algn="just"/>
            <a:r>
              <a:rPr lang="zh-CN" altLang="en-US" dirty="0"/>
              <a:t>非主干区域</a:t>
            </a:r>
            <a:endParaRPr lang="en-US" altLang="zh-CN" dirty="0"/>
          </a:p>
          <a:p>
            <a:pPr algn="just"/>
            <a:r>
              <a:rPr lang="zh-CN" altLang="en-US" dirty="0"/>
              <a:t>路由器角色</a:t>
            </a:r>
            <a:endParaRPr lang="en-US" altLang="zh-CN" dirty="0"/>
          </a:p>
          <a:p>
            <a:pPr lvl="1" algn="just"/>
            <a:r>
              <a:rPr lang="zh-CN" altLang="en-US" dirty="0"/>
              <a:t>内部路由器</a:t>
            </a:r>
            <a:r>
              <a:rPr lang="en-US" altLang="zh-CN" dirty="0"/>
              <a:t>(Internal Router</a:t>
            </a:r>
            <a:r>
              <a:rPr lang="zh-CN" altLang="en-US" dirty="0"/>
              <a:t>，</a:t>
            </a:r>
            <a:r>
              <a:rPr lang="en-US" altLang="zh-CN" dirty="0"/>
              <a:t>IR)</a:t>
            </a:r>
          </a:p>
          <a:p>
            <a:pPr lvl="1" algn="just"/>
            <a:r>
              <a:rPr lang="zh-CN" altLang="en-US" dirty="0"/>
              <a:t>区域边界路由器</a:t>
            </a:r>
            <a:r>
              <a:rPr lang="en-US" altLang="zh-CN" dirty="0"/>
              <a:t>(Area Bounder</a:t>
            </a:r>
            <a:r>
              <a:rPr lang="zh-CN" altLang="en-US" dirty="0"/>
              <a:t> </a:t>
            </a:r>
            <a:r>
              <a:rPr lang="en-US" altLang="zh-CN" dirty="0"/>
              <a:t>Router</a:t>
            </a:r>
            <a:r>
              <a:rPr lang="zh-CN" altLang="en-US" dirty="0"/>
              <a:t>，</a:t>
            </a:r>
            <a:r>
              <a:rPr lang="en-US" altLang="zh-CN" dirty="0"/>
              <a:t>ABR)</a:t>
            </a:r>
          </a:p>
          <a:p>
            <a:pPr lvl="1" algn="just"/>
            <a:r>
              <a:rPr lang="zh-CN" altLang="en-US" dirty="0"/>
              <a:t>自治系统边界路由器</a:t>
            </a:r>
            <a:r>
              <a:rPr lang="en-US" altLang="zh-CN" dirty="0"/>
              <a:t>(AS Bounder Router, ASBR)</a:t>
            </a:r>
          </a:p>
        </p:txBody>
      </p:sp>
      <p:sp>
        <p:nvSpPr>
          <p:cNvPr id="13" name="AutoShape 33"/>
          <p:cNvSpPr>
            <a:spLocks noChangeArrowheads="1"/>
          </p:cNvSpPr>
          <p:nvPr/>
        </p:nvSpPr>
        <p:spPr bwMode="auto">
          <a:xfrm>
            <a:off x="8231595" y="1613391"/>
            <a:ext cx="2376487" cy="1081088"/>
          </a:xfrm>
          <a:prstGeom prst="wedgeRectCallout">
            <a:avLst>
              <a:gd name="adj1" fmla="val -23397"/>
              <a:gd name="adj2" fmla="val 79313"/>
            </a:avLst>
          </a:prstGeom>
          <a:solidFill>
            <a:schemeClr val="bg1"/>
          </a:solidFill>
          <a:ln w="3175" algn="ctr">
            <a:solidFill>
              <a:srgbClr val="999999"/>
            </a:solidFill>
            <a:miter lim="800000"/>
            <a:headEnd/>
            <a:tailEnd/>
          </a:ln>
        </p:spPr>
        <p:txBody>
          <a:bodyPr lIns="0" tIns="0" rIns="0" bIns="0" anchor="ctr" anchorCtr="1"/>
          <a:lstStyle>
            <a:lvl1pPr eaLnBrk="0" hangingPunct="0">
              <a:defRPr>
                <a:solidFill>
                  <a:schemeClr val="tx1"/>
                </a:solidFill>
                <a:latin typeface="Arial" panose="020B0604020202020204" pitchFamily="34" charset="0"/>
                <a:ea typeface="华文细黑" panose="02010600040101010101" pitchFamily="2" charset="-122"/>
              </a:defRPr>
            </a:lvl1pPr>
            <a:lvl2pPr marL="742950" indent="-285750" eaLnBrk="0" hangingPunct="0">
              <a:defRPr>
                <a:solidFill>
                  <a:schemeClr val="tx1"/>
                </a:solidFill>
                <a:latin typeface="Arial" panose="020B0604020202020204" pitchFamily="34" charset="0"/>
                <a:ea typeface="华文细黑" panose="02010600040101010101" pitchFamily="2" charset="-122"/>
              </a:defRPr>
            </a:lvl2pPr>
            <a:lvl3pPr marL="1143000" indent="-228600" eaLnBrk="0" hangingPunct="0">
              <a:defRPr>
                <a:solidFill>
                  <a:schemeClr val="tx1"/>
                </a:solidFill>
                <a:latin typeface="Arial" panose="020B0604020202020204" pitchFamily="34" charset="0"/>
                <a:ea typeface="华文细黑" panose="02010600040101010101" pitchFamily="2" charset="-122"/>
              </a:defRPr>
            </a:lvl3pPr>
            <a:lvl4pPr marL="1600200" indent="-228600" eaLnBrk="0" hangingPunct="0">
              <a:defRPr>
                <a:solidFill>
                  <a:schemeClr val="tx1"/>
                </a:solidFill>
                <a:latin typeface="Arial" panose="020B0604020202020204" pitchFamily="34" charset="0"/>
                <a:ea typeface="华文细黑" panose="02010600040101010101" pitchFamily="2" charset="-122"/>
              </a:defRPr>
            </a:lvl4pPr>
            <a:lvl5pPr marL="2057400" indent="-228600" eaLnBrk="0" hangingPunct="0">
              <a:defRPr>
                <a:solidFill>
                  <a:schemeClr val="tx1"/>
                </a:solidFill>
                <a:latin typeface="Arial" panose="020B0604020202020204" pitchFamily="34" charset="0"/>
                <a:ea typeface="华文细黑" panose="02010600040101010101" pitchFamily="2" charset="-122"/>
              </a:defRPr>
            </a:lvl5pPr>
            <a:lvl6pPr marL="25146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6pPr>
            <a:lvl7pPr marL="29718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7pPr>
            <a:lvl8pPr marL="34290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8pPr>
            <a:lvl9pPr marL="38862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9pPr>
          </a:lstStyle>
          <a:p>
            <a:pPr algn="ctr" eaLnBrk="1" fontAlgn="base" hangingPunct="1">
              <a:spcBef>
                <a:spcPct val="20000"/>
              </a:spcBef>
              <a:buClr>
                <a:srgbClr val="A50021"/>
              </a:buClr>
              <a:buSzPct val="80000"/>
              <a:buFont typeface="Wingdings" panose="05000000000000000000" pitchFamily="2" charset="2"/>
              <a:buNone/>
            </a:pPr>
            <a:r>
              <a:rPr lang="en-US" altLang="zh-CN" dirty="0"/>
              <a:t>Area 0</a:t>
            </a:r>
            <a:r>
              <a:rPr lang="zh-CN" altLang="en-US" dirty="0"/>
              <a:t>为主干区域，所有</a:t>
            </a:r>
            <a:r>
              <a:rPr lang="en-US" altLang="zh-CN" dirty="0"/>
              <a:t>ABR</a:t>
            </a:r>
            <a:r>
              <a:rPr lang="zh-CN" altLang="en-US" dirty="0"/>
              <a:t>都至少有一个接口属于</a:t>
            </a:r>
            <a:r>
              <a:rPr lang="en-US" altLang="zh-CN" dirty="0"/>
              <a:t>Area 0</a:t>
            </a:r>
          </a:p>
        </p:txBody>
      </p:sp>
      <p:sp>
        <p:nvSpPr>
          <p:cNvPr id="14" name="Oval 3"/>
          <p:cNvSpPr>
            <a:spLocks noChangeArrowheads="1"/>
          </p:cNvSpPr>
          <p:nvPr/>
        </p:nvSpPr>
        <p:spPr bwMode="auto">
          <a:xfrm>
            <a:off x="6914715" y="3064187"/>
            <a:ext cx="961464" cy="936104"/>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5" name="Oval 3"/>
          <p:cNvSpPr>
            <a:spLocks noChangeArrowheads="1"/>
          </p:cNvSpPr>
          <p:nvPr/>
        </p:nvSpPr>
        <p:spPr bwMode="auto">
          <a:xfrm>
            <a:off x="9820395" y="2920171"/>
            <a:ext cx="1080120" cy="864096"/>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6" name="Oval 3"/>
          <p:cNvSpPr>
            <a:spLocks noChangeArrowheads="1"/>
          </p:cNvSpPr>
          <p:nvPr/>
        </p:nvSpPr>
        <p:spPr bwMode="auto">
          <a:xfrm>
            <a:off x="6292003" y="4432339"/>
            <a:ext cx="1872208" cy="1440160"/>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7" name="Oval 3"/>
          <p:cNvSpPr>
            <a:spLocks noChangeArrowheads="1"/>
          </p:cNvSpPr>
          <p:nvPr/>
        </p:nvSpPr>
        <p:spPr bwMode="auto">
          <a:xfrm>
            <a:off x="9316339" y="4648363"/>
            <a:ext cx="2088232" cy="1296144"/>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8" name="Oval 3"/>
          <p:cNvSpPr>
            <a:spLocks noChangeArrowheads="1"/>
          </p:cNvSpPr>
          <p:nvPr/>
        </p:nvSpPr>
        <p:spPr bwMode="auto">
          <a:xfrm>
            <a:off x="7804171" y="3064187"/>
            <a:ext cx="2160240" cy="2016224"/>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dirty="0"/>
          </a:p>
        </p:txBody>
      </p:sp>
      <p:pic>
        <p:nvPicPr>
          <p:cNvPr id="19" name="Picture 3"/>
          <p:cNvPicPr>
            <a:picLocks noChangeAspect="1" noChangeArrowheads="1"/>
          </p:cNvPicPr>
          <p:nvPr/>
        </p:nvPicPr>
        <p:blipFill>
          <a:blip r:embed="rId3" cstate="print"/>
          <a:srcRect/>
          <a:stretch>
            <a:fillRect/>
          </a:stretch>
        </p:blipFill>
        <p:spPr bwMode="auto">
          <a:xfrm>
            <a:off x="8308227" y="3640252"/>
            <a:ext cx="432048" cy="288032"/>
          </a:xfrm>
          <a:prstGeom prst="rect">
            <a:avLst/>
          </a:prstGeom>
          <a:noFill/>
          <a:ln w="9525">
            <a:noFill/>
            <a:miter lim="800000"/>
            <a:headEnd/>
            <a:tailEnd/>
          </a:ln>
        </p:spPr>
      </p:pic>
      <p:pic>
        <p:nvPicPr>
          <p:cNvPr id="20" name="Picture 3"/>
          <p:cNvPicPr>
            <a:picLocks noChangeAspect="1" noChangeArrowheads="1"/>
          </p:cNvPicPr>
          <p:nvPr/>
        </p:nvPicPr>
        <p:blipFill>
          <a:blip r:embed="rId3" cstate="print"/>
          <a:srcRect/>
          <a:stretch>
            <a:fillRect/>
          </a:stretch>
        </p:blipFill>
        <p:spPr bwMode="auto">
          <a:xfrm>
            <a:off x="9100315" y="3640251"/>
            <a:ext cx="432048" cy="288032"/>
          </a:xfrm>
          <a:prstGeom prst="rect">
            <a:avLst/>
          </a:prstGeom>
          <a:noFill/>
          <a:ln w="9525">
            <a:noFill/>
            <a:miter lim="800000"/>
            <a:headEnd/>
            <a:tailEnd/>
          </a:ln>
        </p:spPr>
      </p:pic>
      <p:pic>
        <p:nvPicPr>
          <p:cNvPr id="21" name="Picture 3"/>
          <p:cNvPicPr>
            <a:picLocks noChangeAspect="1" noChangeArrowheads="1"/>
          </p:cNvPicPr>
          <p:nvPr/>
        </p:nvPicPr>
        <p:blipFill>
          <a:blip r:embed="rId3" cstate="print"/>
          <a:srcRect/>
          <a:stretch>
            <a:fillRect/>
          </a:stretch>
        </p:blipFill>
        <p:spPr bwMode="auto">
          <a:xfrm>
            <a:off x="9676379" y="3352219"/>
            <a:ext cx="432048" cy="288032"/>
          </a:xfrm>
          <a:prstGeom prst="rect">
            <a:avLst/>
          </a:prstGeom>
          <a:noFill/>
          <a:ln w="9525">
            <a:noFill/>
            <a:miter lim="800000"/>
            <a:headEnd/>
            <a:tailEnd/>
          </a:ln>
        </p:spPr>
      </p:pic>
      <p:pic>
        <p:nvPicPr>
          <p:cNvPr id="22" name="Picture 3"/>
          <p:cNvPicPr>
            <a:picLocks noChangeAspect="1" noChangeArrowheads="1"/>
          </p:cNvPicPr>
          <p:nvPr/>
        </p:nvPicPr>
        <p:blipFill>
          <a:blip r:embed="rId3" cstate="print"/>
          <a:srcRect/>
          <a:stretch>
            <a:fillRect/>
          </a:stretch>
        </p:blipFill>
        <p:spPr bwMode="auto">
          <a:xfrm>
            <a:off x="9100315" y="4288323"/>
            <a:ext cx="432048" cy="288032"/>
          </a:xfrm>
          <a:prstGeom prst="rect">
            <a:avLst/>
          </a:prstGeom>
          <a:noFill/>
          <a:ln w="9525">
            <a:noFill/>
            <a:miter lim="800000"/>
            <a:headEnd/>
            <a:tailEnd/>
          </a:ln>
        </p:spPr>
      </p:pic>
      <p:pic>
        <p:nvPicPr>
          <p:cNvPr id="25" name="Picture 3"/>
          <p:cNvPicPr>
            <a:picLocks noChangeAspect="1" noChangeArrowheads="1"/>
          </p:cNvPicPr>
          <p:nvPr/>
        </p:nvPicPr>
        <p:blipFill>
          <a:blip r:embed="rId3" cstate="print"/>
          <a:srcRect/>
          <a:stretch>
            <a:fillRect/>
          </a:stretch>
        </p:blipFill>
        <p:spPr bwMode="auto">
          <a:xfrm>
            <a:off x="7732163" y="4648363"/>
            <a:ext cx="432048" cy="288032"/>
          </a:xfrm>
          <a:prstGeom prst="rect">
            <a:avLst/>
          </a:prstGeom>
          <a:noFill/>
          <a:ln w="9525">
            <a:noFill/>
            <a:miter lim="800000"/>
            <a:headEnd/>
            <a:tailEnd/>
          </a:ln>
        </p:spPr>
      </p:pic>
      <p:pic>
        <p:nvPicPr>
          <p:cNvPr id="26" name="Picture 3"/>
          <p:cNvPicPr>
            <a:picLocks noChangeAspect="1" noChangeArrowheads="1"/>
          </p:cNvPicPr>
          <p:nvPr/>
        </p:nvPicPr>
        <p:blipFill>
          <a:blip r:embed="rId3" cstate="print"/>
          <a:srcRect/>
          <a:stretch>
            <a:fillRect/>
          </a:stretch>
        </p:blipFill>
        <p:spPr bwMode="auto">
          <a:xfrm>
            <a:off x="6868067" y="4648363"/>
            <a:ext cx="432048" cy="288032"/>
          </a:xfrm>
          <a:prstGeom prst="rect">
            <a:avLst/>
          </a:prstGeom>
          <a:noFill/>
          <a:ln w="9525">
            <a:noFill/>
            <a:miter lim="800000"/>
            <a:headEnd/>
            <a:tailEnd/>
          </a:ln>
        </p:spPr>
      </p:pic>
      <p:pic>
        <p:nvPicPr>
          <p:cNvPr id="27" name="Picture 3"/>
          <p:cNvPicPr>
            <a:picLocks noChangeAspect="1" noChangeArrowheads="1"/>
          </p:cNvPicPr>
          <p:nvPr/>
        </p:nvPicPr>
        <p:blipFill>
          <a:blip r:embed="rId3" cstate="print"/>
          <a:srcRect/>
          <a:stretch>
            <a:fillRect/>
          </a:stretch>
        </p:blipFill>
        <p:spPr bwMode="auto">
          <a:xfrm>
            <a:off x="7650908" y="3352219"/>
            <a:ext cx="432048" cy="288032"/>
          </a:xfrm>
          <a:prstGeom prst="rect">
            <a:avLst/>
          </a:prstGeom>
          <a:noFill/>
          <a:ln w="9525">
            <a:noFill/>
            <a:miter lim="800000"/>
            <a:headEnd/>
            <a:tailEnd/>
          </a:ln>
        </p:spPr>
      </p:pic>
      <p:pic>
        <p:nvPicPr>
          <p:cNvPr id="28" name="Picture 3"/>
          <p:cNvPicPr>
            <a:picLocks noChangeAspect="1" noChangeArrowheads="1"/>
          </p:cNvPicPr>
          <p:nvPr/>
        </p:nvPicPr>
        <p:blipFill>
          <a:blip r:embed="rId3" cstate="print"/>
          <a:srcRect/>
          <a:stretch>
            <a:fillRect/>
          </a:stretch>
        </p:blipFill>
        <p:spPr bwMode="auto">
          <a:xfrm>
            <a:off x="6868067" y="3208203"/>
            <a:ext cx="432048" cy="288032"/>
          </a:xfrm>
          <a:prstGeom prst="rect">
            <a:avLst/>
          </a:prstGeom>
          <a:noFill/>
          <a:ln w="9525">
            <a:noFill/>
            <a:miter lim="800000"/>
            <a:headEnd/>
            <a:tailEnd/>
          </a:ln>
        </p:spPr>
      </p:pic>
      <p:pic>
        <p:nvPicPr>
          <p:cNvPr id="29" name="Picture 3"/>
          <p:cNvPicPr>
            <a:picLocks noChangeAspect="1" noChangeArrowheads="1"/>
          </p:cNvPicPr>
          <p:nvPr/>
        </p:nvPicPr>
        <p:blipFill>
          <a:blip r:embed="rId3" cstate="print"/>
          <a:srcRect/>
          <a:stretch>
            <a:fillRect/>
          </a:stretch>
        </p:blipFill>
        <p:spPr bwMode="auto">
          <a:xfrm>
            <a:off x="7156099" y="5224427"/>
            <a:ext cx="432048" cy="288032"/>
          </a:xfrm>
          <a:prstGeom prst="rect">
            <a:avLst/>
          </a:prstGeom>
          <a:noFill/>
          <a:ln w="9525">
            <a:noFill/>
            <a:miter lim="800000"/>
            <a:headEnd/>
            <a:tailEnd/>
          </a:ln>
        </p:spPr>
      </p:pic>
      <p:pic>
        <p:nvPicPr>
          <p:cNvPr id="30" name="Picture 3"/>
          <p:cNvPicPr>
            <a:picLocks noChangeAspect="1" noChangeArrowheads="1"/>
          </p:cNvPicPr>
          <p:nvPr/>
        </p:nvPicPr>
        <p:blipFill>
          <a:blip r:embed="rId3" cstate="print"/>
          <a:srcRect/>
          <a:stretch>
            <a:fillRect/>
          </a:stretch>
        </p:blipFill>
        <p:spPr bwMode="auto">
          <a:xfrm>
            <a:off x="10324451" y="4720371"/>
            <a:ext cx="432048" cy="288032"/>
          </a:xfrm>
          <a:prstGeom prst="rect">
            <a:avLst/>
          </a:prstGeom>
          <a:noFill/>
          <a:ln w="9525">
            <a:noFill/>
            <a:miter lim="800000"/>
            <a:headEnd/>
            <a:tailEnd/>
          </a:ln>
        </p:spPr>
      </p:pic>
      <p:pic>
        <p:nvPicPr>
          <p:cNvPr id="31" name="Picture 3"/>
          <p:cNvPicPr>
            <a:picLocks noChangeAspect="1" noChangeArrowheads="1"/>
          </p:cNvPicPr>
          <p:nvPr/>
        </p:nvPicPr>
        <p:blipFill>
          <a:blip r:embed="rId3" cstate="print"/>
          <a:srcRect/>
          <a:stretch>
            <a:fillRect/>
          </a:stretch>
        </p:blipFill>
        <p:spPr bwMode="auto">
          <a:xfrm>
            <a:off x="9532363" y="4728755"/>
            <a:ext cx="432048" cy="288032"/>
          </a:xfrm>
          <a:prstGeom prst="rect">
            <a:avLst/>
          </a:prstGeom>
          <a:noFill/>
          <a:ln w="9525">
            <a:noFill/>
            <a:miter lim="800000"/>
            <a:headEnd/>
            <a:tailEnd/>
          </a:ln>
        </p:spPr>
      </p:pic>
      <p:pic>
        <p:nvPicPr>
          <p:cNvPr id="32" name="Picture 3"/>
          <p:cNvPicPr>
            <a:picLocks noChangeAspect="1" noChangeArrowheads="1"/>
          </p:cNvPicPr>
          <p:nvPr/>
        </p:nvPicPr>
        <p:blipFill>
          <a:blip r:embed="rId3" cstate="print"/>
          <a:srcRect/>
          <a:stretch>
            <a:fillRect/>
          </a:stretch>
        </p:blipFill>
        <p:spPr bwMode="auto">
          <a:xfrm>
            <a:off x="9532363" y="5368443"/>
            <a:ext cx="432048" cy="288032"/>
          </a:xfrm>
          <a:prstGeom prst="rect">
            <a:avLst/>
          </a:prstGeom>
          <a:noFill/>
          <a:ln w="9525">
            <a:noFill/>
            <a:miter lim="800000"/>
            <a:headEnd/>
            <a:tailEnd/>
          </a:ln>
        </p:spPr>
      </p:pic>
      <p:pic>
        <p:nvPicPr>
          <p:cNvPr id="33" name="Picture 3"/>
          <p:cNvPicPr>
            <a:picLocks noChangeAspect="1" noChangeArrowheads="1"/>
          </p:cNvPicPr>
          <p:nvPr/>
        </p:nvPicPr>
        <p:blipFill>
          <a:blip r:embed="rId3" cstate="print"/>
          <a:srcRect/>
          <a:stretch>
            <a:fillRect/>
          </a:stretch>
        </p:blipFill>
        <p:spPr bwMode="auto">
          <a:xfrm>
            <a:off x="10324451" y="5368443"/>
            <a:ext cx="432048" cy="288032"/>
          </a:xfrm>
          <a:prstGeom prst="rect">
            <a:avLst/>
          </a:prstGeom>
          <a:noFill/>
          <a:ln w="9525">
            <a:noFill/>
            <a:miter lim="800000"/>
            <a:headEnd/>
            <a:tailEnd/>
          </a:ln>
        </p:spPr>
      </p:pic>
      <p:cxnSp>
        <p:nvCxnSpPr>
          <p:cNvPr id="34" name="直接连接符 33"/>
          <p:cNvCxnSpPr>
            <a:stCxn id="19" idx="3"/>
          </p:cNvCxnSpPr>
          <p:nvPr/>
        </p:nvCxnSpPr>
        <p:spPr bwMode="auto">
          <a:xfrm flipV="1">
            <a:off x="8740275" y="3784267"/>
            <a:ext cx="360040" cy="1"/>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5" name="直接连接符 34"/>
          <p:cNvCxnSpPr>
            <a:stCxn id="19" idx="2"/>
          </p:cNvCxnSpPr>
          <p:nvPr/>
        </p:nvCxnSpPr>
        <p:spPr bwMode="auto">
          <a:xfrm>
            <a:off x="8524251" y="3928284"/>
            <a:ext cx="0" cy="360039"/>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6" name="直接连接符 35"/>
          <p:cNvCxnSpPr>
            <a:stCxn id="20" idx="2"/>
          </p:cNvCxnSpPr>
          <p:nvPr/>
        </p:nvCxnSpPr>
        <p:spPr bwMode="auto">
          <a:xfrm>
            <a:off x="9316339" y="3928283"/>
            <a:ext cx="0" cy="36004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7" name="直接连接符 36"/>
          <p:cNvCxnSpPr>
            <a:stCxn id="27" idx="1"/>
          </p:cNvCxnSpPr>
          <p:nvPr/>
        </p:nvCxnSpPr>
        <p:spPr bwMode="auto">
          <a:xfrm flipH="1" flipV="1">
            <a:off x="7290868" y="3424227"/>
            <a:ext cx="360040" cy="72008"/>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8" name="直接连接符 37"/>
          <p:cNvCxnSpPr>
            <a:stCxn id="25" idx="1"/>
            <a:endCxn id="26" idx="3"/>
          </p:cNvCxnSpPr>
          <p:nvPr/>
        </p:nvCxnSpPr>
        <p:spPr bwMode="auto">
          <a:xfrm flipH="1">
            <a:off x="7300115" y="4792379"/>
            <a:ext cx="432048" cy="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9" name="直接连接符 38"/>
          <p:cNvCxnSpPr/>
          <p:nvPr/>
        </p:nvCxnSpPr>
        <p:spPr bwMode="auto">
          <a:xfrm flipH="1">
            <a:off x="7516139" y="4936395"/>
            <a:ext cx="216024" cy="288032"/>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0" name="直接连接符 39"/>
          <p:cNvCxnSpPr>
            <a:stCxn id="31" idx="2"/>
          </p:cNvCxnSpPr>
          <p:nvPr/>
        </p:nvCxnSpPr>
        <p:spPr bwMode="auto">
          <a:xfrm>
            <a:off x="9748387" y="5016787"/>
            <a:ext cx="0" cy="35165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1" name="直接连接符 40"/>
          <p:cNvCxnSpPr>
            <a:stCxn id="32" idx="3"/>
            <a:endCxn id="33" idx="1"/>
          </p:cNvCxnSpPr>
          <p:nvPr/>
        </p:nvCxnSpPr>
        <p:spPr bwMode="auto">
          <a:xfrm>
            <a:off x="9964411" y="5512459"/>
            <a:ext cx="360040" cy="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2" name="直接连接符 41"/>
          <p:cNvCxnSpPr>
            <a:stCxn id="30" idx="2"/>
            <a:endCxn id="33" idx="0"/>
          </p:cNvCxnSpPr>
          <p:nvPr/>
        </p:nvCxnSpPr>
        <p:spPr bwMode="auto">
          <a:xfrm>
            <a:off x="10540475" y="5008403"/>
            <a:ext cx="0" cy="36004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3" name="直接连接符 42"/>
          <p:cNvCxnSpPr>
            <a:stCxn id="31" idx="3"/>
          </p:cNvCxnSpPr>
          <p:nvPr/>
        </p:nvCxnSpPr>
        <p:spPr bwMode="auto">
          <a:xfrm flipV="1">
            <a:off x="9964411" y="4864387"/>
            <a:ext cx="360040" cy="8384"/>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44" name="TextBox 200"/>
          <p:cNvSpPr txBox="1"/>
          <p:nvPr/>
        </p:nvSpPr>
        <p:spPr>
          <a:xfrm>
            <a:off x="8452243" y="4648363"/>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0</a:t>
            </a:r>
            <a:endParaRPr lang="zh-CN" altLang="en-US" sz="1400" b="1" dirty="0">
              <a:latin typeface="微软雅黑" pitchFamily="34" charset="-122"/>
              <a:ea typeface="微软雅黑" pitchFamily="34" charset="-122"/>
            </a:endParaRPr>
          </a:p>
        </p:txBody>
      </p:sp>
      <p:sp>
        <p:nvSpPr>
          <p:cNvPr id="45" name="TextBox 201"/>
          <p:cNvSpPr txBox="1"/>
          <p:nvPr/>
        </p:nvSpPr>
        <p:spPr>
          <a:xfrm>
            <a:off x="6995970" y="3574340"/>
            <a:ext cx="854849" cy="307777"/>
          </a:xfrm>
          <a:prstGeom prst="rect">
            <a:avLst/>
          </a:prstGeom>
          <a:noFill/>
        </p:spPr>
        <p:txBody>
          <a:bodyPr wrap="square" rtlCol="0">
            <a:spAutoFit/>
          </a:bodyPr>
          <a:lstStyle/>
          <a:p>
            <a:r>
              <a:rPr lang="en-US" altLang="zh-CN" sz="1400" b="1" dirty="0">
                <a:latin typeface="微软雅黑" pitchFamily="34" charset="-122"/>
                <a:ea typeface="微软雅黑" pitchFamily="34" charset="-122"/>
              </a:rPr>
              <a:t>Area 1</a:t>
            </a:r>
            <a:endParaRPr lang="zh-CN" altLang="en-US" sz="1400" b="1" dirty="0">
              <a:latin typeface="微软雅黑" pitchFamily="34" charset="-122"/>
              <a:ea typeface="微软雅黑" pitchFamily="34" charset="-122"/>
            </a:endParaRPr>
          </a:p>
        </p:txBody>
      </p:sp>
      <p:sp>
        <p:nvSpPr>
          <p:cNvPr id="46" name="TextBox 202"/>
          <p:cNvSpPr txBox="1"/>
          <p:nvPr/>
        </p:nvSpPr>
        <p:spPr>
          <a:xfrm>
            <a:off x="6364011" y="5008403"/>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2</a:t>
            </a:r>
            <a:endParaRPr lang="zh-CN" altLang="en-US" sz="1400" b="1" dirty="0">
              <a:latin typeface="微软雅黑" pitchFamily="34" charset="-122"/>
              <a:ea typeface="微软雅黑" pitchFamily="34" charset="-122"/>
            </a:endParaRPr>
          </a:p>
        </p:txBody>
      </p:sp>
      <p:sp>
        <p:nvSpPr>
          <p:cNvPr id="47" name="TextBox 203"/>
          <p:cNvSpPr txBox="1"/>
          <p:nvPr/>
        </p:nvSpPr>
        <p:spPr>
          <a:xfrm>
            <a:off x="9964411" y="2992179"/>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3</a:t>
            </a:r>
            <a:endParaRPr lang="zh-CN" altLang="en-US" sz="1400" b="1" dirty="0">
              <a:latin typeface="微软雅黑" pitchFamily="34" charset="-122"/>
              <a:ea typeface="微软雅黑" pitchFamily="34" charset="-122"/>
            </a:endParaRPr>
          </a:p>
        </p:txBody>
      </p:sp>
      <p:sp>
        <p:nvSpPr>
          <p:cNvPr id="48" name="TextBox 204"/>
          <p:cNvSpPr txBox="1"/>
          <p:nvPr/>
        </p:nvSpPr>
        <p:spPr>
          <a:xfrm>
            <a:off x="10540475" y="5008403"/>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4</a:t>
            </a:r>
            <a:endParaRPr lang="zh-CN" altLang="en-US" sz="1400" b="1" dirty="0">
              <a:latin typeface="微软雅黑" pitchFamily="34" charset="-122"/>
              <a:ea typeface="微软雅黑" pitchFamily="34" charset="-122"/>
            </a:endParaRPr>
          </a:p>
        </p:txBody>
      </p:sp>
      <p:cxnSp>
        <p:nvCxnSpPr>
          <p:cNvPr id="49" name="直接连接符 48"/>
          <p:cNvCxnSpPr/>
          <p:nvPr/>
        </p:nvCxnSpPr>
        <p:spPr bwMode="auto">
          <a:xfrm flipV="1">
            <a:off x="8740275" y="4432338"/>
            <a:ext cx="360040" cy="1"/>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0" name="直接连接符 49"/>
          <p:cNvCxnSpPr>
            <a:stCxn id="27" idx="3"/>
          </p:cNvCxnSpPr>
          <p:nvPr/>
        </p:nvCxnSpPr>
        <p:spPr bwMode="auto">
          <a:xfrm>
            <a:off x="8082956" y="3496235"/>
            <a:ext cx="297279"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1" name="直接连接符 50"/>
          <p:cNvCxnSpPr>
            <a:endCxn id="21" idx="1"/>
          </p:cNvCxnSpPr>
          <p:nvPr/>
        </p:nvCxnSpPr>
        <p:spPr bwMode="auto">
          <a:xfrm flipV="1">
            <a:off x="9532363" y="3496235"/>
            <a:ext cx="144016"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2" name="直接连接符 51"/>
          <p:cNvCxnSpPr/>
          <p:nvPr/>
        </p:nvCxnSpPr>
        <p:spPr bwMode="auto">
          <a:xfrm flipV="1">
            <a:off x="8092203" y="4504347"/>
            <a:ext cx="288032"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pic>
        <p:nvPicPr>
          <p:cNvPr id="53" name="Picture 3"/>
          <p:cNvPicPr>
            <a:picLocks noChangeAspect="1" noChangeArrowheads="1"/>
          </p:cNvPicPr>
          <p:nvPr/>
        </p:nvPicPr>
        <p:blipFill>
          <a:blip r:embed="rId3" cstate="print"/>
          <a:srcRect/>
          <a:stretch>
            <a:fillRect/>
          </a:stretch>
        </p:blipFill>
        <p:spPr bwMode="auto">
          <a:xfrm>
            <a:off x="8308227" y="4288323"/>
            <a:ext cx="432048" cy="288032"/>
          </a:xfrm>
          <a:prstGeom prst="rect">
            <a:avLst/>
          </a:prstGeom>
          <a:noFill/>
          <a:ln w="9525">
            <a:noFill/>
            <a:miter lim="800000"/>
            <a:headEnd/>
            <a:tailEnd/>
          </a:ln>
        </p:spPr>
      </p:pic>
      <p:cxnSp>
        <p:nvCxnSpPr>
          <p:cNvPr id="54" name="直接连接符 53"/>
          <p:cNvCxnSpPr/>
          <p:nvPr/>
        </p:nvCxnSpPr>
        <p:spPr bwMode="auto">
          <a:xfrm>
            <a:off x="9460355" y="4576355"/>
            <a:ext cx="216024"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55" name="TextBox 104"/>
          <p:cNvSpPr txBox="1"/>
          <p:nvPr/>
        </p:nvSpPr>
        <p:spPr>
          <a:xfrm>
            <a:off x="6154016" y="4000291"/>
            <a:ext cx="410690" cy="353943"/>
          </a:xfrm>
          <a:prstGeom prst="rect">
            <a:avLst/>
          </a:prstGeom>
          <a:noFill/>
        </p:spPr>
        <p:txBody>
          <a:bodyPr wrap="none" rtlCol="0">
            <a:spAutoFit/>
          </a:bodyPr>
          <a:lstStyle/>
          <a:p>
            <a:r>
              <a:rPr lang="en-US" altLang="zh-CN" sz="1700" b="1" dirty="0">
                <a:solidFill>
                  <a:srgbClr val="C00000"/>
                </a:solidFill>
                <a:latin typeface="微软雅黑" pitchFamily="34" charset="-122"/>
                <a:ea typeface="微软雅黑" pitchFamily="34" charset="-122"/>
              </a:rPr>
              <a:t>IR</a:t>
            </a:r>
            <a:endParaRPr lang="zh-CN" altLang="en-US" sz="1700" b="1" dirty="0">
              <a:solidFill>
                <a:srgbClr val="C00000"/>
              </a:solidFill>
              <a:latin typeface="微软雅黑" pitchFamily="34" charset="-122"/>
              <a:ea typeface="微软雅黑" pitchFamily="34" charset="-122"/>
            </a:endParaRPr>
          </a:p>
        </p:txBody>
      </p:sp>
      <p:cxnSp>
        <p:nvCxnSpPr>
          <p:cNvPr id="56" name="直接箭头连接符 55"/>
          <p:cNvCxnSpPr/>
          <p:nvPr/>
        </p:nvCxnSpPr>
        <p:spPr bwMode="auto">
          <a:xfrm flipH="1">
            <a:off x="7130739" y="2704147"/>
            <a:ext cx="216024" cy="432048"/>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7" name="直接箭头连接符 56"/>
          <p:cNvCxnSpPr/>
          <p:nvPr/>
        </p:nvCxnSpPr>
        <p:spPr bwMode="auto">
          <a:xfrm>
            <a:off x="7084091" y="4216315"/>
            <a:ext cx="0" cy="360040"/>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8" name="直接箭头连接符 57"/>
          <p:cNvCxnSpPr/>
          <p:nvPr/>
        </p:nvCxnSpPr>
        <p:spPr bwMode="auto">
          <a:xfrm>
            <a:off x="6626683" y="4202886"/>
            <a:ext cx="1636923" cy="91534"/>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59" name="TextBox 113"/>
          <p:cNvSpPr txBox="1"/>
          <p:nvPr/>
        </p:nvSpPr>
        <p:spPr>
          <a:xfrm>
            <a:off x="7202747" y="2416115"/>
            <a:ext cx="780983" cy="353943"/>
          </a:xfrm>
          <a:prstGeom prst="rect">
            <a:avLst/>
          </a:prstGeom>
          <a:noFill/>
        </p:spPr>
        <p:txBody>
          <a:bodyPr wrap="none" rtlCol="0">
            <a:spAutoFit/>
          </a:bodyPr>
          <a:lstStyle/>
          <a:p>
            <a:r>
              <a:rPr lang="en-US" altLang="zh-CN" sz="1700" b="1" dirty="0">
                <a:solidFill>
                  <a:srgbClr val="C00000"/>
                </a:solidFill>
                <a:latin typeface="微软雅黑" pitchFamily="34" charset="-122"/>
                <a:ea typeface="微软雅黑" pitchFamily="34" charset="-122"/>
              </a:rPr>
              <a:t>ASBR</a:t>
            </a:r>
            <a:endParaRPr lang="zh-CN" altLang="en-US" sz="1700" b="1" dirty="0">
              <a:solidFill>
                <a:srgbClr val="C00000"/>
              </a:solidFill>
              <a:latin typeface="微软雅黑" pitchFamily="34" charset="-122"/>
              <a:ea typeface="微软雅黑" pitchFamily="34" charset="-122"/>
            </a:endParaRPr>
          </a:p>
        </p:txBody>
      </p:sp>
      <p:sp>
        <p:nvSpPr>
          <p:cNvPr id="60" name="TextBox 115"/>
          <p:cNvSpPr txBox="1"/>
          <p:nvPr/>
        </p:nvSpPr>
        <p:spPr>
          <a:xfrm>
            <a:off x="8452243" y="5296435"/>
            <a:ext cx="649537" cy="353943"/>
          </a:xfrm>
          <a:prstGeom prst="rect">
            <a:avLst/>
          </a:prstGeom>
          <a:noFill/>
        </p:spPr>
        <p:txBody>
          <a:bodyPr wrap="none" rtlCol="0">
            <a:spAutoFit/>
          </a:bodyPr>
          <a:lstStyle/>
          <a:p>
            <a:r>
              <a:rPr lang="en-US" altLang="zh-CN" sz="1700" b="1" dirty="0">
                <a:solidFill>
                  <a:srgbClr val="C00000"/>
                </a:solidFill>
                <a:latin typeface="微软雅黑" pitchFamily="34" charset="-122"/>
                <a:ea typeface="微软雅黑" pitchFamily="34" charset="-122"/>
              </a:rPr>
              <a:t>ABR</a:t>
            </a:r>
            <a:endParaRPr lang="zh-CN" altLang="en-US" sz="1700" b="1" dirty="0">
              <a:solidFill>
                <a:srgbClr val="C00000"/>
              </a:solidFill>
              <a:latin typeface="微软雅黑" pitchFamily="34" charset="-122"/>
              <a:ea typeface="微软雅黑" pitchFamily="34" charset="-122"/>
            </a:endParaRPr>
          </a:p>
        </p:txBody>
      </p:sp>
      <p:pic>
        <p:nvPicPr>
          <p:cNvPr id="61" name="Picture 2"/>
          <p:cNvPicPr>
            <a:picLocks noChangeAspect="1" noChangeArrowheads="1"/>
          </p:cNvPicPr>
          <p:nvPr/>
        </p:nvPicPr>
        <p:blipFill>
          <a:blip r:embed="rId4" cstate="print"/>
          <a:srcRect/>
          <a:stretch>
            <a:fillRect/>
          </a:stretch>
        </p:blipFill>
        <p:spPr bwMode="auto">
          <a:xfrm>
            <a:off x="5258531" y="1696035"/>
            <a:ext cx="1380280" cy="1152128"/>
          </a:xfrm>
          <a:prstGeom prst="rect">
            <a:avLst/>
          </a:prstGeom>
          <a:noFill/>
          <a:ln w="9525">
            <a:noFill/>
            <a:miter lim="800000"/>
            <a:headEnd/>
            <a:tailEnd/>
          </a:ln>
        </p:spPr>
      </p:pic>
      <p:cxnSp>
        <p:nvCxnSpPr>
          <p:cNvPr id="62" name="直接连接符 61"/>
          <p:cNvCxnSpPr/>
          <p:nvPr/>
        </p:nvCxnSpPr>
        <p:spPr bwMode="auto">
          <a:xfrm>
            <a:off x="6410659" y="2704147"/>
            <a:ext cx="432048" cy="576065"/>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63" name="TextBox 119"/>
          <p:cNvSpPr txBox="1"/>
          <p:nvPr/>
        </p:nvSpPr>
        <p:spPr>
          <a:xfrm>
            <a:off x="5665219" y="2056075"/>
            <a:ext cx="524503" cy="353943"/>
          </a:xfrm>
          <a:prstGeom prst="rect">
            <a:avLst/>
          </a:prstGeom>
          <a:noFill/>
        </p:spPr>
        <p:txBody>
          <a:bodyPr wrap="none" rtlCol="0">
            <a:spAutoFit/>
          </a:bodyPr>
          <a:lstStyle/>
          <a:p>
            <a:r>
              <a:rPr lang="en-US" altLang="zh-CN" sz="1700" dirty="0">
                <a:latin typeface="微软雅黑" pitchFamily="34" charset="-122"/>
                <a:ea typeface="微软雅黑" pitchFamily="34" charset="-122"/>
              </a:rPr>
              <a:t>RIP</a:t>
            </a:r>
            <a:endParaRPr lang="zh-CN" altLang="en-US" sz="1700" dirty="0">
              <a:latin typeface="微软雅黑" pitchFamily="34" charset="-122"/>
              <a:ea typeface="微软雅黑" pitchFamily="34" charset="-122"/>
            </a:endParaRPr>
          </a:p>
        </p:txBody>
      </p:sp>
      <p:cxnSp>
        <p:nvCxnSpPr>
          <p:cNvPr id="64" name="直接箭头连接符 63"/>
          <p:cNvCxnSpPr/>
          <p:nvPr/>
        </p:nvCxnSpPr>
        <p:spPr bwMode="auto">
          <a:xfrm flipH="1" flipV="1">
            <a:off x="8164211" y="4936395"/>
            <a:ext cx="360040" cy="432048"/>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65" name="直接箭头连接符 64"/>
          <p:cNvCxnSpPr/>
          <p:nvPr/>
        </p:nvCxnSpPr>
        <p:spPr bwMode="auto">
          <a:xfrm flipV="1">
            <a:off x="9028307" y="5008403"/>
            <a:ext cx="504056" cy="360040"/>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pic>
        <p:nvPicPr>
          <p:cNvPr id="66" name="Picture 28" descr="015">
            <a:extLst>
              <a:ext uri="{FF2B5EF4-FFF2-40B4-BE49-F238E27FC236}">
                <a16:creationId xmlns:a16="http://schemas.microsoft.com/office/drawing/2014/main" id="{317E52B0-90B4-485C-9FAB-747F8E2703C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89677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报文格式</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4579714" cy="5131205"/>
          </a:xfrm>
        </p:spPr>
        <p:txBody>
          <a:bodyPr>
            <a:normAutofit fontScale="92500"/>
          </a:bodyPr>
          <a:lstStyle/>
          <a:p>
            <a:pPr>
              <a:lnSpc>
                <a:spcPct val="120000"/>
              </a:lnSpc>
            </a:pPr>
            <a:r>
              <a:rPr kumimoji="1" lang="zh-CN" altLang="en-US" dirty="0"/>
              <a:t>协议封装</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运行于</a:t>
            </a:r>
            <a:r>
              <a:rPr lang="en-US" altLang="zh-CN" dirty="0">
                <a:solidFill>
                  <a:prstClr val="black"/>
                </a:solidFill>
                <a:cs typeface="Arial" charset="0"/>
              </a:rPr>
              <a:t>IP</a:t>
            </a:r>
            <a:r>
              <a:rPr lang="zh-CN" altLang="en-US" dirty="0">
                <a:solidFill>
                  <a:prstClr val="black"/>
                </a:solidFill>
                <a:cs typeface="Arial" charset="0"/>
              </a:rPr>
              <a:t>协议之上，协议号</a:t>
            </a:r>
            <a:r>
              <a:rPr lang="en-US" altLang="zh-CN" dirty="0">
                <a:solidFill>
                  <a:prstClr val="black"/>
                </a:solidFill>
                <a:cs typeface="Arial" charset="0"/>
              </a:rPr>
              <a:t>89</a:t>
            </a:r>
          </a:p>
          <a:p>
            <a:pPr>
              <a:lnSpc>
                <a:spcPct val="130000"/>
              </a:lnSpc>
              <a:buSzPct val="80000"/>
              <a:defRPr/>
            </a:pPr>
            <a:r>
              <a:rPr kumimoji="1" lang="zh-CN" altLang="en-US" dirty="0"/>
              <a:t>路由器标识符</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zh-CN" altLang="en-US" kern="0" dirty="0">
                <a:solidFill>
                  <a:prstClr val="black"/>
                </a:solidFill>
              </a:rPr>
              <a:t>一个</a:t>
            </a:r>
            <a:r>
              <a:rPr lang="en-US" altLang="zh-CN" kern="0" dirty="0">
                <a:solidFill>
                  <a:prstClr val="black"/>
                </a:solidFill>
              </a:rPr>
              <a:t>32</a:t>
            </a:r>
            <a:r>
              <a:rPr lang="zh-CN" altLang="en-US" kern="0" dirty="0">
                <a:solidFill>
                  <a:prstClr val="black"/>
                </a:solidFill>
              </a:rPr>
              <a:t>位的值，</a:t>
            </a:r>
            <a:r>
              <a:rPr lang="zh-CN" altLang="en-US" dirty="0"/>
              <a:t>唯一</a:t>
            </a:r>
            <a:r>
              <a:rPr lang="zh-CN" altLang="zh-CN" dirty="0"/>
              <a:t>标识一个自治系统内的路由器</a:t>
            </a:r>
            <a:endParaRPr lang="en-US" altLang="zh-CN" dirty="0"/>
          </a:p>
          <a:p>
            <a:pPr>
              <a:lnSpc>
                <a:spcPct val="130000"/>
              </a:lnSpc>
              <a:buSzPct val="80000"/>
              <a:defRPr/>
            </a:pPr>
            <a:r>
              <a:rPr kumimoji="1" lang="zh-CN" altLang="en-US" dirty="0"/>
              <a:t>区域标识符</a:t>
            </a:r>
            <a:endParaRPr kumimoji="1" lang="en-US" altLang="zh-CN" dirty="0"/>
          </a:p>
          <a:p>
            <a:pPr lvl="1">
              <a:lnSpc>
                <a:spcPct val="130000"/>
              </a:lnSpc>
              <a:buSzPct val="80000"/>
              <a:defRPr/>
            </a:pPr>
            <a:r>
              <a:rPr lang="zh-CN" altLang="en-US" dirty="0"/>
              <a:t>每一个区域都有一个 </a:t>
            </a:r>
            <a:r>
              <a:rPr lang="en-US" altLang="zh-CN" dirty="0"/>
              <a:t>32 </a:t>
            </a:r>
            <a:r>
              <a:rPr lang="zh-CN" altLang="en-US" dirty="0"/>
              <a:t>位的标识符（用点分十进制表示）</a:t>
            </a:r>
            <a:endParaRPr lang="en-US" altLang="zh-CN" dirty="0"/>
          </a:p>
          <a:p>
            <a:pPr lvl="1">
              <a:lnSpc>
                <a:spcPct val="130000"/>
              </a:lnSpc>
              <a:buSzPct val="80000"/>
              <a:defRPr/>
            </a:pPr>
            <a:r>
              <a:rPr lang="zh-CN" altLang="en-US" dirty="0"/>
              <a:t>主干区域为</a:t>
            </a:r>
            <a:r>
              <a:rPr lang="en-US" altLang="zh-CN" dirty="0"/>
              <a:t>0.0.0.0</a:t>
            </a:r>
            <a:endParaRPr lang="zh-CN" altLang="en-US" dirty="0"/>
          </a:p>
          <a:p>
            <a:pPr>
              <a:lnSpc>
                <a:spcPct val="130000"/>
              </a:lnSpc>
              <a:buSzPct val="80000"/>
              <a:defRPr/>
            </a:pPr>
            <a:endParaRPr kumimoji="1" lang="en-US" altLang="zh-CN" dirty="0"/>
          </a:p>
          <a:p>
            <a:pPr lvl="1">
              <a:lnSpc>
                <a:spcPct val="130000"/>
              </a:lnSpc>
              <a:buSzPct val="80000"/>
              <a:defRPr/>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165</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pic>
        <p:nvPicPr>
          <p:cNvPr id="20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7550" y="1510758"/>
            <a:ext cx="6927844" cy="4292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8" descr="015">
            <a:extLst>
              <a:ext uri="{FF2B5EF4-FFF2-40B4-BE49-F238E27FC236}">
                <a16:creationId xmlns:a16="http://schemas.microsoft.com/office/drawing/2014/main" id="{BC3F8D95-2018-4DD5-9920-DDF39370601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3532507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报文格式</a:t>
            </a:r>
            <a:endParaRPr kumimoji="1" lang="zh-CN" altLang="en-US" dirty="0"/>
          </a:p>
        </p:txBody>
      </p:sp>
      <p:sp>
        <p:nvSpPr>
          <p:cNvPr id="3" name="内容占位符 2">
            <a:extLst>
              <a:ext uri="{FF2B5EF4-FFF2-40B4-BE49-F238E27FC236}">
                <a16:creationId xmlns:a16="http://schemas.microsoft.com/office/drawing/2014/main" id="{F94632E6-2D1A-4745-B0F4-BE23638BE196}"/>
              </a:ext>
            </a:extLst>
          </p:cNvPr>
          <p:cNvSpPr>
            <a:spLocks noGrp="1"/>
          </p:cNvSpPr>
          <p:nvPr>
            <p:ph idx="1"/>
          </p:nvPr>
        </p:nvSpPr>
        <p:spPr>
          <a:xfrm>
            <a:off x="838200" y="1417272"/>
            <a:ext cx="2842155" cy="5131205"/>
          </a:xfrm>
        </p:spPr>
        <p:txBody>
          <a:bodyPr>
            <a:normAutofit/>
          </a:bodyPr>
          <a:lstStyle/>
          <a:p>
            <a:pPr>
              <a:lnSpc>
                <a:spcPct val="110000"/>
              </a:lnSpc>
              <a:buSzPct val="80000"/>
              <a:defRPr/>
            </a:pPr>
            <a:r>
              <a:rPr lang="zh-CN" altLang="en-US" sz="2600" dirty="0"/>
              <a:t>请观察：</a:t>
            </a:r>
            <a:endParaRPr lang="en-US" altLang="zh-CN" sz="2600" dirty="0"/>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这是什么报文？</a:t>
            </a:r>
            <a:endParaRPr lang="en-US" altLang="zh-CN"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这个报文在什么区域？</a:t>
            </a:r>
            <a:endParaRPr lang="en-US" altLang="zh-CN"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采用什么认证？</a:t>
            </a:r>
            <a:endParaRPr lang="en-US" altLang="zh-CN" dirty="0">
              <a:solidFill>
                <a:prstClr val="black"/>
              </a:solidFill>
              <a:cs typeface="Arial" charset="0"/>
            </a:endParaRPr>
          </a:p>
          <a:p>
            <a:pPr>
              <a:lnSpc>
                <a:spcPct val="120000"/>
              </a:lnSpc>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166</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80355" y="1823901"/>
            <a:ext cx="7540625" cy="427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74776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wipe(down)">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wipe(down)">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wipe(down)">
                                      <p:cBhvr>
                                        <p:cTn id="17"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OSPF-</a:t>
            </a:r>
            <a:r>
              <a:rPr lang="zh-CN" altLang="en-US" dirty="0"/>
              <a:t>小结</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5.7.1 OSPF-</a:t>
            </a:r>
            <a:r>
              <a:rPr kumimoji="1" lang="zh-CN" altLang="en-US" dirty="0"/>
              <a:t>内部网关路由协议</a:t>
            </a:r>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167</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
        <p:nvSpPr>
          <p:cNvPr id="66" name="内容占位符 2"/>
          <p:cNvSpPr>
            <a:spLocks noGrp="1"/>
          </p:cNvSpPr>
          <p:nvPr>
            <p:ph idx="1"/>
          </p:nvPr>
        </p:nvSpPr>
        <p:spPr>
          <a:xfrm>
            <a:off x="838200" y="1429482"/>
            <a:ext cx="4864947" cy="4586694"/>
          </a:xfrm>
        </p:spPr>
        <p:txBody>
          <a:bodyPr>
            <a:normAutofit/>
          </a:bodyPr>
          <a:lstStyle/>
          <a:p>
            <a:pPr>
              <a:lnSpc>
                <a:spcPct val="120000"/>
              </a:lnSpc>
              <a:spcBef>
                <a:spcPct val="0"/>
              </a:spcBef>
            </a:pPr>
            <a:r>
              <a:rPr lang="en-US" altLang="zh-CN" dirty="0"/>
              <a:t>OSPF</a:t>
            </a:r>
            <a:r>
              <a:rPr lang="zh-CN" altLang="en-US" dirty="0"/>
              <a:t>的特点</a:t>
            </a:r>
            <a:endParaRPr lang="en-US" altLang="zh-CN" dirty="0"/>
          </a:p>
          <a:p>
            <a:pPr lvl="1">
              <a:lnSpc>
                <a:spcPct val="120000"/>
              </a:lnSpc>
              <a:spcBef>
                <a:spcPct val="0"/>
              </a:spcBef>
            </a:pPr>
            <a:r>
              <a:rPr lang="zh-CN" altLang="en-US" dirty="0"/>
              <a:t>支持无类域间路由（</a:t>
            </a:r>
            <a:r>
              <a:rPr lang="en-US" altLang="zh-CN" dirty="0"/>
              <a:t>CIDR</a:t>
            </a:r>
            <a:r>
              <a:rPr lang="zh-CN" altLang="en-US" dirty="0"/>
              <a:t>）</a:t>
            </a:r>
          </a:p>
          <a:p>
            <a:pPr lvl="1">
              <a:lnSpc>
                <a:spcPct val="120000"/>
              </a:lnSpc>
              <a:spcBef>
                <a:spcPct val="0"/>
              </a:spcBef>
            </a:pPr>
            <a:r>
              <a:rPr lang="zh-CN" altLang="en-US" dirty="0"/>
              <a:t>无路由自环</a:t>
            </a:r>
          </a:p>
          <a:p>
            <a:pPr lvl="1">
              <a:lnSpc>
                <a:spcPct val="120000"/>
              </a:lnSpc>
              <a:spcBef>
                <a:spcPct val="0"/>
              </a:spcBef>
            </a:pPr>
            <a:r>
              <a:rPr lang="zh-CN" altLang="en-US" dirty="0"/>
              <a:t>收敛速度快</a:t>
            </a:r>
          </a:p>
          <a:p>
            <a:pPr lvl="1">
              <a:lnSpc>
                <a:spcPct val="120000"/>
              </a:lnSpc>
              <a:spcBef>
                <a:spcPct val="0"/>
              </a:spcBef>
            </a:pPr>
            <a:r>
              <a:rPr lang="zh-CN" altLang="en-US" dirty="0"/>
              <a:t>使用</a:t>
            </a:r>
            <a:r>
              <a:rPr lang="en-US" altLang="zh-CN" dirty="0"/>
              <a:t>IP</a:t>
            </a:r>
            <a:r>
              <a:rPr lang="zh-CN" altLang="en-US" dirty="0"/>
              <a:t>组播收发协议数据</a:t>
            </a:r>
          </a:p>
          <a:p>
            <a:pPr lvl="1">
              <a:lnSpc>
                <a:spcPct val="120000"/>
              </a:lnSpc>
              <a:spcBef>
                <a:spcPct val="0"/>
              </a:spcBef>
            </a:pPr>
            <a:r>
              <a:rPr lang="zh-CN" altLang="en-US" dirty="0"/>
              <a:t>支持多条等值路由</a:t>
            </a:r>
          </a:p>
          <a:p>
            <a:pPr lvl="1">
              <a:lnSpc>
                <a:spcPct val="120000"/>
              </a:lnSpc>
              <a:spcBef>
                <a:spcPct val="0"/>
              </a:spcBef>
            </a:pPr>
            <a:r>
              <a:rPr lang="zh-CN" altLang="en-US" dirty="0"/>
              <a:t>支持协议报文的认证</a:t>
            </a:r>
          </a:p>
          <a:p>
            <a:pPr>
              <a:lnSpc>
                <a:spcPct val="120000"/>
              </a:lnSpc>
            </a:pPr>
            <a:endParaRPr lang="zh-CN" altLang="en-US" dirty="0"/>
          </a:p>
        </p:txBody>
      </p:sp>
      <p:sp>
        <p:nvSpPr>
          <p:cNvPr id="68" name="内容占位符 2"/>
          <p:cNvSpPr txBox="1">
            <a:spLocks/>
          </p:cNvSpPr>
          <p:nvPr/>
        </p:nvSpPr>
        <p:spPr>
          <a:xfrm>
            <a:off x="6178126" y="1463350"/>
            <a:ext cx="4864947"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r>
              <a:rPr lang="zh-CN" altLang="en-US" dirty="0"/>
              <a:t>请思考：</a:t>
            </a:r>
            <a:endParaRPr lang="en-US" altLang="zh-CN" dirty="0"/>
          </a:p>
          <a:p>
            <a:pPr lvl="1">
              <a:lnSpc>
                <a:spcPct val="120000"/>
              </a:lnSpc>
            </a:pPr>
            <a:r>
              <a:rPr kumimoji="1" lang="zh-CN" altLang="en-US" dirty="0"/>
              <a:t>为什么</a:t>
            </a:r>
            <a:r>
              <a:rPr kumimoji="1" lang="en-US" altLang="zh-CN" dirty="0"/>
              <a:t>OSPF</a:t>
            </a:r>
            <a:r>
              <a:rPr kumimoji="1" lang="zh-CN" altLang="en-US" dirty="0"/>
              <a:t>协议适合大型网络？</a:t>
            </a:r>
            <a:endParaRPr kumimoji="1" lang="en-US" altLang="zh-CN" dirty="0"/>
          </a:p>
          <a:p>
            <a:pPr lvl="1">
              <a:lnSpc>
                <a:spcPct val="120000"/>
              </a:lnSpc>
            </a:pPr>
            <a:r>
              <a:rPr kumimoji="1" lang="en-US" altLang="zh-CN" dirty="0"/>
              <a:t>OSPF</a:t>
            </a:r>
            <a:r>
              <a:rPr kumimoji="1" lang="zh-CN" altLang="en-US" dirty="0"/>
              <a:t>会不会存在“坏消息传得比较慢”的问题？</a:t>
            </a:r>
            <a:endParaRPr kumimoji="1" lang="en-US" altLang="zh-CN" dirty="0"/>
          </a:p>
          <a:p>
            <a:pPr>
              <a:lnSpc>
                <a:spcPct val="120000"/>
              </a:lnSpc>
            </a:pPr>
            <a:endParaRPr lang="zh-CN" altLang="en-US" dirty="0"/>
          </a:p>
        </p:txBody>
      </p:sp>
      <p:pic>
        <p:nvPicPr>
          <p:cNvPr id="9" name="Picture 28" descr="015">
            <a:extLst>
              <a:ext uri="{FF2B5EF4-FFF2-40B4-BE49-F238E27FC236}">
                <a16:creationId xmlns:a16="http://schemas.microsoft.com/office/drawing/2014/main" id="{A7E9FDD5-6094-4760-BA2F-8D8BD6DF1BC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64543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8">
                                            <p:txEl>
                                              <p:pRg st="0" end="0"/>
                                            </p:txEl>
                                          </p:spTgt>
                                        </p:tgtEl>
                                        <p:attrNameLst>
                                          <p:attrName>style.visibility</p:attrName>
                                        </p:attrNameLst>
                                      </p:cBhvr>
                                      <p:to>
                                        <p:strVal val="visible"/>
                                      </p:to>
                                    </p:set>
                                    <p:animEffect transition="in" filter="wipe(down)">
                                      <p:cBhvr>
                                        <p:cTn id="7" dur="500"/>
                                        <p:tgtEl>
                                          <p:spTgt spid="6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8">
                                            <p:txEl>
                                              <p:pRg st="1" end="1"/>
                                            </p:txEl>
                                          </p:spTgt>
                                        </p:tgtEl>
                                        <p:attrNameLst>
                                          <p:attrName>style.visibility</p:attrName>
                                        </p:attrNameLst>
                                      </p:cBhvr>
                                      <p:to>
                                        <p:strVal val="visible"/>
                                      </p:to>
                                    </p:set>
                                    <p:animEffect transition="in" filter="wipe(down)">
                                      <p:cBhvr>
                                        <p:cTn id="12" dur="500"/>
                                        <p:tgtEl>
                                          <p:spTgt spid="6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68">
                                            <p:txEl>
                                              <p:pRg st="2" end="2"/>
                                            </p:txEl>
                                          </p:spTgt>
                                        </p:tgtEl>
                                        <p:attrNameLst>
                                          <p:attrName>style.visibility</p:attrName>
                                        </p:attrNameLst>
                                      </p:cBhvr>
                                      <p:to>
                                        <p:strVal val="visible"/>
                                      </p:to>
                                    </p:set>
                                    <p:animEffect transition="in" filter="wipe(down)">
                                      <p:cBhvr>
                                        <p:cTn id="17" dur="500"/>
                                        <p:tgtEl>
                                          <p:spTgt spid="6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RIP-</a:t>
            </a:r>
            <a:r>
              <a:rPr lang="zh-CN" altLang="en-US" dirty="0"/>
              <a:t>概述</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168</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
        <p:nvSpPr>
          <p:cNvPr id="66" name="内容占位符 2"/>
          <p:cNvSpPr>
            <a:spLocks noGrp="1"/>
          </p:cNvSpPr>
          <p:nvPr>
            <p:ph idx="1"/>
          </p:nvPr>
        </p:nvSpPr>
        <p:spPr>
          <a:xfrm>
            <a:off x="838200" y="1429482"/>
            <a:ext cx="10432627" cy="4586694"/>
          </a:xfrm>
        </p:spPr>
        <p:txBody>
          <a:bodyPr>
            <a:normAutofit fontScale="92500" lnSpcReduction="10000"/>
          </a:bodyPr>
          <a:lstStyle/>
          <a:p>
            <a:pPr>
              <a:lnSpc>
                <a:spcPct val="125000"/>
              </a:lnSpc>
            </a:pPr>
            <a:r>
              <a:rPr lang="zh-CN" altLang="en-US" dirty="0"/>
              <a:t>路由选择协议</a:t>
            </a:r>
            <a:r>
              <a:rPr lang="en-US" altLang="zh-CN" dirty="0"/>
              <a:t>RIP</a:t>
            </a:r>
            <a:r>
              <a:rPr lang="zh-CN" altLang="en-US" dirty="0"/>
              <a:t>（</a:t>
            </a:r>
            <a:r>
              <a:rPr lang="en-US" altLang="zh-CN" dirty="0"/>
              <a:t> Routing Information Protocol</a:t>
            </a:r>
            <a:r>
              <a:rPr lang="zh-CN" altLang="en-US" dirty="0"/>
              <a:t>）是基于距离矢量算法的协议</a:t>
            </a:r>
            <a:endParaRPr lang="en-US" altLang="zh-CN" dirty="0"/>
          </a:p>
          <a:p>
            <a:pPr>
              <a:lnSpc>
                <a:spcPct val="125000"/>
              </a:lnSpc>
            </a:pPr>
            <a:r>
              <a:rPr kumimoji="1" lang="zh-CN" altLang="en-US" dirty="0"/>
              <a:t>使用</a:t>
            </a:r>
            <a:r>
              <a:rPr kumimoji="1" lang="zh-CN" altLang="en-US" dirty="0">
                <a:solidFill>
                  <a:srgbClr val="C00000"/>
                </a:solidFill>
              </a:rPr>
              <a:t>跳数</a:t>
            </a:r>
            <a:r>
              <a:rPr kumimoji="1" lang="zh-CN" altLang="en-US" dirty="0"/>
              <a:t>衡量到达目的网络的距离</a:t>
            </a:r>
            <a:endParaRPr kumimoji="1" lang="en-US" altLang="zh-CN" dirty="0"/>
          </a:p>
          <a:p>
            <a:pPr lvl="1" algn="just">
              <a:lnSpc>
                <a:spcPct val="120000"/>
              </a:lnSpc>
            </a:pPr>
            <a:r>
              <a:rPr lang="en-US" altLang="zh-CN" dirty="0"/>
              <a:t>RIP </a:t>
            </a:r>
            <a:r>
              <a:rPr lang="zh-CN" altLang="en-US" dirty="0"/>
              <a:t>认为一个</a:t>
            </a:r>
            <a:r>
              <a:rPr lang="zh-CN" altLang="en-US" dirty="0">
                <a:solidFill>
                  <a:srgbClr val="C00000"/>
                </a:solidFill>
              </a:rPr>
              <a:t>好的路由</a:t>
            </a:r>
            <a:r>
              <a:rPr lang="zh-CN" altLang="en-US" dirty="0"/>
              <a:t>就是它通过的路由器的数目少，即“</a:t>
            </a:r>
            <a:r>
              <a:rPr lang="zh-CN" altLang="en-US" dirty="0">
                <a:solidFill>
                  <a:srgbClr val="C00000"/>
                </a:solidFill>
              </a:rPr>
              <a:t>距离短</a:t>
            </a:r>
            <a:r>
              <a:rPr lang="zh-CN" altLang="en-US" dirty="0"/>
              <a:t>”</a:t>
            </a:r>
          </a:p>
          <a:p>
            <a:pPr lvl="1" algn="just">
              <a:lnSpc>
                <a:spcPct val="120000"/>
              </a:lnSpc>
            </a:pPr>
            <a:r>
              <a:rPr lang="en-US" altLang="zh-CN" dirty="0"/>
              <a:t>RIP </a:t>
            </a:r>
            <a:r>
              <a:rPr lang="zh-CN" altLang="en-US" dirty="0"/>
              <a:t>允许一条路径最多只能包含 </a:t>
            </a:r>
            <a:r>
              <a:rPr lang="en-US" altLang="zh-CN" dirty="0"/>
              <a:t>15 </a:t>
            </a:r>
            <a:r>
              <a:rPr lang="zh-CN" altLang="en-US" dirty="0"/>
              <a:t>个路由器</a:t>
            </a:r>
          </a:p>
          <a:p>
            <a:pPr>
              <a:lnSpc>
                <a:spcPct val="120000"/>
              </a:lnSpc>
            </a:pPr>
            <a:r>
              <a:rPr kumimoji="1" lang="en-US" altLang="zh-CN" dirty="0"/>
              <a:t>RIP</a:t>
            </a:r>
            <a:r>
              <a:rPr kumimoji="1" lang="zh-CN" altLang="en-US" dirty="0"/>
              <a:t>协议的基本思想</a:t>
            </a:r>
          </a:p>
          <a:p>
            <a:pPr lvl="1">
              <a:lnSpc>
                <a:spcPct val="150000"/>
              </a:lnSpc>
            </a:pPr>
            <a:r>
              <a:rPr lang="zh-CN" altLang="en-US" dirty="0"/>
              <a:t>仅和</a:t>
            </a:r>
            <a:r>
              <a:rPr lang="zh-CN" altLang="en-US" dirty="0">
                <a:solidFill>
                  <a:srgbClr val="C00000"/>
                </a:solidFill>
              </a:rPr>
              <a:t>相邻路由器</a:t>
            </a:r>
            <a:r>
              <a:rPr lang="zh-CN" altLang="en-US" dirty="0"/>
              <a:t>交换信息</a:t>
            </a:r>
            <a:endParaRPr lang="en-US" altLang="zh-CN" dirty="0"/>
          </a:p>
          <a:p>
            <a:pPr lvl="1">
              <a:lnSpc>
                <a:spcPct val="150000"/>
              </a:lnSpc>
            </a:pPr>
            <a:r>
              <a:rPr lang="zh-CN" altLang="en-US" dirty="0"/>
              <a:t>路由器交换的内容是自己的</a:t>
            </a:r>
            <a:r>
              <a:rPr lang="zh-CN" altLang="en-US" dirty="0">
                <a:solidFill>
                  <a:srgbClr val="C00000"/>
                </a:solidFill>
              </a:rPr>
              <a:t>路由表</a:t>
            </a:r>
            <a:endParaRPr lang="en-US" altLang="zh-CN" dirty="0">
              <a:solidFill>
                <a:srgbClr val="C00000"/>
              </a:solidFill>
            </a:endParaRPr>
          </a:p>
          <a:p>
            <a:pPr lvl="1">
              <a:lnSpc>
                <a:spcPct val="150000"/>
              </a:lnSpc>
            </a:pPr>
            <a:r>
              <a:rPr lang="zh-CN" altLang="en-US" dirty="0"/>
              <a:t>周期性更新：</a:t>
            </a:r>
            <a:r>
              <a:rPr lang="en-US" altLang="zh-CN" dirty="0">
                <a:solidFill>
                  <a:srgbClr val="C00000"/>
                </a:solidFill>
              </a:rPr>
              <a:t>30s</a:t>
            </a:r>
          </a:p>
        </p:txBody>
      </p:sp>
      <p:pic>
        <p:nvPicPr>
          <p:cNvPr id="8" name="Picture 28" descr="015">
            <a:extLst>
              <a:ext uri="{FF2B5EF4-FFF2-40B4-BE49-F238E27FC236}">
                <a16:creationId xmlns:a16="http://schemas.microsoft.com/office/drawing/2014/main" id="{6F3A1A2D-A71F-48F9-AC2B-6F48D295241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019203"/>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RIP-</a:t>
            </a:r>
            <a:r>
              <a:rPr lang="zh-CN" altLang="en-US" dirty="0"/>
              <a:t>工作过程</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169</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200" y="1429482"/>
            <a:ext cx="10574867" cy="4586694"/>
          </a:xfrm>
        </p:spPr>
        <p:txBody>
          <a:bodyPr>
            <a:normAutofit/>
          </a:bodyPr>
          <a:lstStyle/>
          <a:p>
            <a:pPr>
              <a:lnSpc>
                <a:spcPct val="120000"/>
              </a:lnSpc>
              <a:spcBef>
                <a:spcPct val="0"/>
              </a:spcBef>
            </a:pPr>
            <a:r>
              <a:rPr lang="zh-CN" altLang="en-US" dirty="0"/>
              <a:t>初始化</a:t>
            </a:r>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sp>
        <p:nvSpPr>
          <p:cNvPr id="16" name="Line 64"/>
          <p:cNvSpPr>
            <a:spLocks noChangeShapeType="1"/>
          </p:cNvSpPr>
          <p:nvPr/>
        </p:nvSpPr>
        <p:spPr bwMode="auto">
          <a:xfrm>
            <a:off x="1591733" y="3327401"/>
            <a:ext cx="14405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17" name="Text Box 65"/>
          <p:cNvSpPr txBox="1">
            <a:spLocks noChangeArrowheads="1"/>
          </p:cNvSpPr>
          <p:nvPr/>
        </p:nvSpPr>
        <p:spPr bwMode="auto">
          <a:xfrm>
            <a:off x="1366348" y="2995615"/>
            <a:ext cx="15584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10.1.1.0/30</a:t>
            </a:r>
          </a:p>
        </p:txBody>
      </p:sp>
      <p:sp>
        <p:nvSpPr>
          <p:cNvPr id="18" name="Text Box 66"/>
          <p:cNvSpPr txBox="1">
            <a:spLocks noChangeArrowheads="1"/>
          </p:cNvSpPr>
          <p:nvPr/>
        </p:nvSpPr>
        <p:spPr bwMode="auto">
          <a:xfrm>
            <a:off x="4040333" y="2931319"/>
            <a:ext cx="16437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10.1.2.0/30</a:t>
            </a:r>
          </a:p>
        </p:txBody>
      </p:sp>
      <p:sp>
        <p:nvSpPr>
          <p:cNvPr id="19" name="Text Box 67"/>
          <p:cNvSpPr txBox="1">
            <a:spLocks noChangeArrowheads="1"/>
          </p:cNvSpPr>
          <p:nvPr/>
        </p:nvSpPr>
        <p:spPr bwMode="auto">
          <a:xfrm>
            <a:off x="6408763" y="2932167"/>
            <a:ext cx="19446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10.1.3.0/30</a:t>
            </a:r>
          </a:p>
        </p:txBody>
      </p:sp>
      <p:sp>
        <p:nvSpPr>
          <p:cNvPr id="20" name="Text Box 68"/>
          <p:cNvSpPr txBox="1">
            <a:spLocks noChangeArrowheads="1"/>
          </p:cNvSpPr>
          <p:nvPr/>
        </p:nvSpPr>
        <p:spPr bwMode="auto">
          <a:xfrm>
            <a:off x="9077240" y="2919623"/>
            <a:ext cx="18549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10.1.4.0/30</a:t>
            </a:r>
          </a:p>
        </p:txBody>
      </p:sp>
      <p:sp>
        <p:nvSpPr>
          <p:cNvPr id="21" name="Line 69"/>
          <p:cNvSpPr>
            <a:spLocks noChangeShapeType="1"/>
          </p:cNvSpPr>
          <p:nvPr/>
        </p:nvSpPr>
        <p:spPr bwMode="auto">
          <a:xfrm>
            <a:off x="3897458" y="3324225"/>
            <a:ext cx="1872456"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22" name="Line 70"/>
          <p:cNvSpPr>
            <a:spLocks noChangeShapeType="1"/>
          </p:cNvSpPr>
          <p:nvPr/>
        </p:nvSpPr>
        <p:spPr bwMode="auto">
          <a:xfrm>
            <a:off x="6129482" y="3325814"/>
            <a:ext cx="2089151" cy="56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23" name="Line 71"/>
          <p:cNvSpPr>
            <a:spLocks noChangeShapeType="1"/>
          </p:cNvSpPr>
          <p:nvPr/>
        </p:nvSpPr>
        <p:spPr bwMode="auto">
          <a:xfrm>
            <a:off x="8290069" y="3325812"/>
            <a:ext cx="2526943" cy="56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25" name="Text Box 72"/>
          <p:cNvSpPr txBox="1">
            <a:spLocks noChangeArrowheads="1"/>
          </p:cNvSpPr>
          <p:nvPr/>
        </p:nvSpPr>
        <p:spPr bwMode="auto">
          <a:xfrm>
            <a:off x="2673495" y="3309939"/>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.2</a:t>
            </a:r>
          </a:p>
        </p:txBody>
      </p:sp>
      <p:sp>
        <p:nvSpPr>
          <p:cNvPr id="26" name="Text Box 73"/>
          <p:cNvSpPr txBox="1">
            <a:spLocks noChangeArrowheads="1"/>
          </p:cNvSpPr>
          <p:nvPr/>
        </p:nvSpPr>
        <p:spPr bwMode="auto">
          <a:xfrm>
            <a:off x="3897458" y="3309939"/>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.1</a:t>
            </a:r>
          </a:p>
        </p:txBody>
      </p:sp>
      <p:sp>
        <p:nvSpPr>
          <p:cNvPr id="27" name="Text Box 74"/>
          <p:cNvSpPr txBox="1">
            <a:spLocks noChangeArrowheads="1"/>
          </p:cNvSpPr>
          <p:nvPr/>
        </p:nvSpPr>
        <p:spPr bwMode="auto">
          <a:xfrm>
            <a:off x="5166295" y="3323372"/>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28" name="Text Box 75"/>
          <p:cNvSpPr txBox="1">
            <a:spLocks noChangeArrowheads="1"/>
          </p:cNvSpPr>
          <p:nvPr/>
        </p:nvSpPr>
        <p:spPr bwMode="auto">
          <a:xfrm>
            <a:off x="6492173" y="3338331"/>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29" name="Text Box 76"/>
          <p:cNvSpPr txBox="1">
            <a:spLocks noChangeArrowheads="1"/>
          </p:cNvSpPr>
          <p:nvPr/>
        </p:nvSpPr>
        <p:spPr bwMode="auto">
          <a:xfrm>
            <a:off x="7715395" y="3309879"/>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30" name="Text Box 77"/>
          <p:cNvSpPr txBox="1">
            <a:spLocks noChangeArrowheads="1"/>
          </p:cNvSpPr>
          <p:nvPr/>
        </p:nvSpPr>
        <p:spPr bwMode="auto">
          <a:xfrm>
            <a:off x="8914048" y="3345086"/>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31" name="Text Box 78"/>
          <p:cNvSpPr txBox="1">
            <a:spLocks noChangeArrowheads="1"/>
          </p:cNvSpPr>
          <p:nvPr/>
        </p:nvSpPr>
        <p:spPr bwMode="auto">
          <a:xfrm>
            <a:off x="3032270" y="2605188"/>
            <a:ext cx="1008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solidFill>
                  <a:srgbClr val="006699"/>
                </a:solidFill>
              </a:rPr>
              <a:t>RTA</a:t>
            </a:r>
          </a:p>
        </p:txBody>
      </p:sp>
      <p:sp>
        <p:nvSpPr>
          <p:cNvPr id="32" name="Text Box 79"/>
          <p:cNvSpPr txBox="1">
            <a:spLocks noChangeArrowheads="1"/>
          </p:cNvSpPr>
          <p:nvPr/>
        </p:nvSpPr>
        <p:spPr bwMode="auto">
          <a:xfrm>
            <a:off x="5555548" y="2605187"/>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RTB</a:t>
            </a:r>
          </a:p>
        </p:txBody>
      </p:sp>
      <p:sp>
        <p:nvSpPr>
          <p:cNvPr id="33" name="Text Box 80"/>
          <p:cNvSpPr txBox="1">
            <a:spLocks noChangeArrowheads="1"/>
          </p:cNvSpPr>
          <p:nvPr/>
        </p:nvSpPr>
        <p:spPr bwMode="auto">
          <a:xfrm>
            <a:off x="7941704" y="2615857"/>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RTC</a:t>
            </a:r>
          </a:p>
        </p:txBody>
      </p:sp>
      <p:pic>
        <p:nvPicPr>
          <p:cNvPr id="34" name="Picture 81"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2270" y="2917826"/>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82"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55548" y="2923634"/>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83"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77423" y="2928756"/>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1152" y="4034074"/>
            <a:ext cx="331628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53794" y="4034074"/>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18633" y="4034074"/>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28" descr="015">
            <a:extLst>
              <a:ext uri="{FF2B5EF4-FFF2-40B4-BE49-F238E27FC236}">
                <a16:creationId xmlns:a16="http://schemas.microsoft.com/office/drawing/2014/main" id="{7B47502D-DDA1-42FC-BE36-D2BE406E42B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1871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down)">
                                      <p:cBhvr>
                                        <p:cTn id="7" dur="500"/>
                                        <p:tgtEl>
                                          <p:spTgt spid="3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wipe(down)">
                                      <p:cBhvr>
                                        <p:cTn id="12" dur="5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wipe(down)">
                                      <p:cBhvr>
                                        <p:cTn id="1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RIP-</a:t>
            </a:r>
            <a:r>
              <a:rPr lang="zh-CN" altLang="en-US" dirty="0"/>
              <a:t>工作过程</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170</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200" y="1429482"/>
            <a:ext cx="10574867" cy="4586694"/>
          </a:xfrm>
        </p:spPr>
        <p:txBody>
          <a:bodyPr>
            <a:normAutofit/>
          </a:bodyPr>
          <a:lstStyle/>
          <a:p>
            <a:pPr>
              <a:lnSpc>
                <a:spcPct val="120000"/>
              </a:lnSpc>
              <a:spcBef>
                <a:spcPct val="0"/>
              </a:spcBef>
            </a:pPr>
            <a:r>
              <a:rPr lang="zh-CN" altLang="en-US" dirty="0"/>
              <a:t>周期性更新</a:t>
            </a:r>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sp>
        <p:nvSpPr>
          <p:cNvPr id="41" name="Line 64"/>
          <p:cNvSpPr>
            <a:spLocks noChangeShapeType="1"/>
          </p:cNvSpPr>
          <p:nvPr/>
        </p:nvSpPr>
        <p:spPr bwMode="auto">
          <a:xfrm>
            <a:off x="1700476" y="2841724"/>
            <a:ext cx="14405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2" name="Text Box 65"/>
          <p:cNvSpPr txBox="1">
            <a:spLocks noChangeArrowheads="1"/>
          </p:cNvSpPr>
          <p:nvPr/>
        </p:nvSpPr>
        <p:spPr bwMode="auto">
          <a:xfrm>
            <a:off x="1475091" y="2509938"/>
            <a:ext cx="15584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10.1.1.0/30</a:t>
            </a:r>
          </a:p>
        </p:txBody>
      </p:sp>
      <p:sp>
        <p:nvSpPr>
          <p:cNvPr id="43" name="Text Box 66"/>
          <p:cNvSpPr txBox="1">
            <a:spLocks noChangeArrowheads="1"/>
          </p:cNvSpPr>
          <p:nvPr/>
        </p:nvSpPr>
        <p:spPr bwMode="auto">
          <a:xfrm>
            <a:off x="4149076" y="2445642"/>
            <a:ext cx="16437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10.1.2.0/30</a:t>
            </a:r>
          </a:p>
        </p:txBody>
      </p:sp>
      <p:sp>
        <p:nvSpPr>
          <p:cNvPr id="44" name="Text Box 67"/>
          <p:cNvSpPr txBox="1">
            <a:spLocks noChangeArrowheads="1"/>
          </p:cNvSpPr>
          <p:nvPr/>
        </p:nvSpPr>
        <p:spPr bwMode="auto">
          <a:xfrm>
            <a:off x="6517506" y="2446490"/>
            <a:ext cx="19446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10.1.3.0/30</a:t>
            </a:r>
          </a:p>
        </p:txBody>
      </p:sp>
      <p:sp>
        <p:nvSpPr>
          <p:cNvPr id="45" name="Text Box 68"/>
          <p:cNvSpPr txBox="1">
            <a:spLocks noChangeArrowheads="1"/>
          </p:cNvSpPr>
          <p:nvPr/>
        </p:nvSpPr>
        <p:spPr bwMode="auto">
          <a:xfrm>
            <a:off x="9185983" y="2433946"/>
            <a:ext cx="18549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10.1.4.0/30</a:t>
            </a:r>
          </a:p>
        </p:txBody>
      </p:sp>
      <p:sp>
        <p:nvSpPr>
          <p:cNvPr id="46" name="Line 69"/>
          <p:cNvSpPr>
            <a:spLocks noChangeShapeType="1"/>
          </p:cNvSpPr>
          <p:nvPr/>
        </p:nvSpPr>
        <p:spPr bwMode="auto">
          <a:xfrm>
            <a:off x="4006201" y="2838548"/>
            <a:ext cx="1872456"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7" name="Line 70"/>
          <p:cNvSpPr>
            <a:spLocks noChangeShapeType="1"/>
          </p:cNvSpPr>
          <p:nvPr/>
        </p:nvSpPr>
        <p:spPr bwMode="auto">
          <a:xfrm>
            <a:off x="6238225" y="2840137"/>
            <a:ext cx="2089151" cy="56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8" name="Line 71"/>
          <p:cNvSpPr>
            <a:spLocks noChangeShapeType="1"/>
          </p:cNvSpPr>
          <p:nvPr/>
        </p:nvSpPr>
        <p:spPr bwMode="auto">
          <a:xfrm>
            <a:off x="8398812" y="2840135"/>
            <a:ext cx="2526943" cy="56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9" name="Text Box 72"/>
          <p:cNvSpPr txBox="1">
            <a:spLocks noChangeArrowheads="1"/>
          </p:cNvSpPr>
          <p:nvPr/>
        </p:nvSpPr>
        <p:spPr bwMode="auto">
          <a:xfrm>
            <a:off x="2782238" y="2824262"/>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.2</a:t>
            </a:r>
          </a:p>
        </p:txBody>
      </p:sp>
      <p:sp>
        <p:nvSpPr>
          <p:cNvPr id="50" name="Text Box 73"/>
          <p:cNvSpPr txBox="1">
            <a:spLocks noChangeArrowheads="1"/>
          </p:cNvSpPr>
          <p:nvPr/>
        </p:nvSpPr>
        <p:spPr bwMode="auto">
          <a:xfrm>
            <a:off x="4006201" y="2824262"/>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.1</a:t>
            </a:r>
          </a:p>
        </p:txBody>
      </p:sp>
      <p:sp>
        <p:nvSpPr>
          <p:cNvPr id="51" name="Text Box 74"/>
          <p:cNvSpPr txBox="1">
            <a:spLocks noChangeArrowheads="1"/>
          </p:cNvSpPr>
          <p:nvPr/>
        </p:nvSpPr>
        <p:spPr bwMode="auto">
          <a:xfrm>
            <a:off x="5275038" y="2837695"/>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52" name="Text Box 75"/>
          <p:cNvSpPr txBox="1">
            <a:spLocks noChangeArrowheads="1"/>
          </p:cNvSpPr>
          <p:nvPr/>
        </p:nvSpPr>
        <p:spPr bwMode="auto">
          <a:xfrm>
            <a:off x="6600916" y="2852654"/>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53" name="Text Box 76"/>
          <p:cNvSpPr txBox="1">
            <a:spLocks noChangeArrowheads="1"/>
          </p:cNvSpPr>
          <p:nvPr/>
        </p:nvSpPr>
        <p:spPr bwMode="auto">
          <a:xfrm>
            <a:off x="7824138" y="2824202"/>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54" name="Text Box 77"/>
          <p:cNvSpPr txBox="1">
            <a:spLocks noChangeArrowheads="1"/>
          </p:cNvSpPr>
          <p:nvPr/>
        </p:nvSpPr>
        <p:spPr bwMode="auto">
          <a:xfrm>
            <a:off x="9022791" y="2859409"/>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55" name="Text Box 78"/>
          <p:cNvSpPr txBox="1">
            <a:spLocks noChangeArrowheads="1"/>
          </p:cNvSpPr>
          <p:nvPr/>
        </p:nvSpPr>
        <p:spPr bwMode="auto">
          <a:xfrm>
            <a:off x="3141013" y="2119511"/>
            <a:ext cx="1008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solidFill>
                  <a:srgbClr val="006699"/>
                </a:solidFill>
              </a:rPr>
              <a:t>RTA</a:t>
            </a:r>
          </a:p>
        </p:txBody>
      </p:sp>
      <p:sp>
        <p:nvSpPr>
          <p:cNvPr id="56" name="Text Box 79"/>
          <p:cNvSpPr txBox="1">
            <a:spLocks noChangeArrowheads="1"/>
          </p:cNvSpPr>
          <p:nvPr/>
        </p:nvSpPr>
        <p:spPr bwMode="auto">
          <a:xfrm>
            <a:off x="5664291" y="2119510"/>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RTB</a:t>
            </a:r>
          </a:p>
        </p:txBody>
      </p:sp>
      <p:sp>
        <p:nvSpPr>
          <p:cNvPr id="57" name="Text Box 80"/>
          <p:cNvSpPr txBox="1">
            <a:spLocks noChangeArrowheads="1"/>
          </p:cNvSpPr>
          <p:nvPr/>
        </p:nvSpPr>
        <p:spPr bwMode="auto">
          <a:xfrm>
            <a:off x="8050447" y="2130180"/>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RTC</a:t>
            </a:r>
          </a:p>
        </p:txBody>
      </p:sp>
      <p:pic>
        <p:nvPicPr>
          <p:cNvPr id="58" name="Picture 81"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1013" y="2432149"/>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82"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4291" y="2437957"/>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83"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86166" y="2443079"/>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1228" y="3548397"/>
            <a:ext cx="331628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23870" y="3548397"/>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88709" y="3548397"/>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Line 97"/>
          <p:cNvSpPr>
            <a:spLocks noChangeShapeType="1"/>
          </p:cNvSpPr>
          <p:nvPr/>
        </p:nvSpPr>
        <p:spPr bwMode="auto">
          <a:xfrm flipH="1">
            <a:off x="2828325" y="3355756"/>
            <a:ext cx="72072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7" name="Line 98"/>
          <p:cNvSpPr>
            <a:spLocks noChangeShapeType="1"/>
          </p:cNvSpPr>
          <p:nvPr/>
        </p:nvSpPr>
        <p:spPr bwMode="auto">
          <a:xfrm flipH="1">
            <a:off x="5259262" y="3355756"/>
            <a:ext cx="792163"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8" name="Line 99"/>
          <p:cNvSpPr>
            <a:spLocks noChangeShapeType="1"/>
          </p:cNvSpPr>
          <p:nvPr/>
        </p:nvSpPr>
        <p:spPr bwMode="auto">
          <a:xfrm flipH="1">
            <a:off x="7740980" y="3355756"/>
            <a:ext cx="792163"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9" name="Line 100"/>
          <p:cNvSpPr>
            <a:spLocks noChangeShapeType="1"/>
          </p:cNvSpPr>
          <p:nvPr/>
        </p:nvSpPr>
        <p:spPr bwMode="auto">
          <a:xfrm flipH="1">
            <a:off x="3693512" y="3355756"/>
            <a:ext cx="647700" cy="0"/>
          </a:xfrm>
          <a:prstGeom prst="line">
            <a:avLst/>
          </a:prstGeom>
          <a:noFill/>
          <a:ln w="2857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0" name="Line 101"/>
          <p:cNvSpPr>
            <a:spLocks noChangeShapeType="1"/>
          </p:cNvSpPr>
          <p:nvPr/>
        </p:nvSpPr>
        <p:spPr bwMode="auto">
          <a:xfrm flipH="1">
            <a:off x="6201745" y="3355756"/>
            <a:ext cx="719137" cy="0"/>
          </a:xfrm>
          <a:prstGeom prst="line">
            <a:avLst/>
          </a:prstGeom>
          <a:noFill/>
          <a:ln w="2857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1" name="Line 102"/>
          <p:cNvSpPr>
            <a:spLocks noChangeShapeType="1"/>
          </p:cNvSpPr>
          <p:nvPr/>
        </p:nvSpPr>
        <p:spPr bwMode="auto">
          <a:xfrm flipH="1">
            <a:off x="8677605" y="3355756"/>
            <a:ext cx="792163" cy="0"/>
          </a:xfrm>
          <a:prstGeom prst="line">
            <a:avLst/>
          </a:prstGeom>
          <a:noFill/>
          <a:ln w="2857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pic>
        <p:nvPicPr>
          <p:cNvPr id="7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65343" y="5093222"/>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43197" y="5093222"/>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32416" y="509999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65343" y="561177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40928" y="561177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32416" y="561177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28" descr="015">
            <a:extLst>
              <a:ext uri="{FF2B5EF4-FFF2-40B4-BE49-F238E27FC236}">
                <a16:creationId xmlns:a16="http://schemas.microsoft.com/office/drawing/2014/main" id="{58C6AB32-6555-43C7-84A1-99B238D8B647}"/>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37468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wipe(down)">
                                      <p:cBhvr>
                                        <p:cTn id="7" dur="500"/>
                                        <p:tgtEl>
                                          <p:spTgt spid="65"/>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7"/>
                                        </p:tgtEl>
                                        <p:attrNameLst>
                                          <p:attrName>style.visibility</p:attrName>
                                        </p:attrNameLst>
                                      </p:cBhvr>
                                      <p:to>
                                        <p:strVal val="visible"/>
                                      </p:to>
                                    </p:set>
                                    <p:animEffect transition="in" filter="wipe(down)">
                                      <p:cBhvr>
                                        <p:cTn id="10" dur="500"/>
                                        <p:tgtEl>
                                          <p:spTgt spid="67"/>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70"/>
                                        </p:tgtEl>
                                        <p:attrNameLst>
                                          <p:attrName>style.visibility</p:attrName>
                                        </p:attrNameLst>
                                      </p:cBhvr>
                                      <p:to>
                                        <p:strVal val="visible"/>
                                      </p:to>
                                    </p:set>
                                    <p:animEffect transition="in" filter="wipe(down)">
                                      <p:cBhvr>
                                        <p:cTn id="13" dur="500"/>
                                        <p:tgtEl>
                                          <p:spTgt spid="70"/>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down)">
                                      <p:cBhvr>
                                        <p:cTn id="19" dur="500"/>
                                        <p:tgtEl>
                                          <p:spTgt spid="6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down)">
                                      <p:cBhvr>
                                        <p:cTn id="22" dur="500"/>
                                        <p:tgtEl>
                                          <p:spTgt spid="7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down)">
                                      <p:cBhvr>
                                        <p:cTn id="27" dur="500"/>
                                        <p:tgtEl>
                                          <p:spTgt spid="7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72"/>
                                        </p:tgtEl>
                                        <p:attrNameLst>
                                          <p:attrName>style.visibility</p:attrName>
                                        </p:attrNameLst>
                                      </p:cBhvr>
                                      <p:to>
                                        <p:strVal val="visible"/>
                                      </p:to>
                                    </p:set>
                                    <p:animEffect transition="in" filter="wipe(down)">
                                      <p:cBhvr>
                                        <p:cTn id="32" dur="500"/>
                                        <p:tgtEl>
                                          <p:spTgt spid="7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down)">
                                      <p:cBhvr>
                                        <p:cTn id="37" dur="500"/>
                                        <p:tgtEl>
                                          <p:spTgt spid="7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nodeType="click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down)">
                                      <p:cBhvr>
                                        <p:cTn id="42" dur="500"/>
                                        <p:tgtEl>
                                          <p:spTgt spid="7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4" fill="hold" grpId="1" nodeType="clickEffect">
                                  <p:stCondLst>
                                    <p:cond delay="0"/>
                                  </p:stCondLst>
                                  <p:childTnLst>
                                    <p:set>
                                      <p:cBhvr>
                                        <p:cTn id="46" dur="1" fill="hold">
                                          <p:stCondLst>
                                            <p:cond delay="0"/>
                                          </p:stCondLst>
                                        </p:cTn>
                                        <p:tgtEl>
                                          <p:spTgt spid="65"/>
                                        </p:tgtEl>
                                        <p:attrNameLst>
                                          <p:attrName>style.visibility</p:attrName>
                                        </p:attrNameLst>
                                      </p:cBhvr>
                                      <p:to>
                                        <p:strVal val="visible"/>
                                      </p:to>
                                    </p:set>
                                    <p:animEffect transition="in" filter="wipe(down)">
                                      <p:cBhvr>
                                        <p:cTn id="47" dur="500"/>
                                        <p:tgtEl>
                                          <p:spTgt spid="65"/>
                                        </p:tgtEl>
                                      </p:cBhvr>
                                    </p:animEffect>
                                  </p:childTnLst>
                                </p:cTn>
                              </p:par>
                              <p:par>
                                <p:cTn id="48" presetID="22" presetClass="entr" presetSubtype="4" fill="hold" grpId="1" nodeType="withEffect">
                                  <p:stCondLst>
                                    <p:cond delay="0"/>
                                  </p:stCondLst>
                                  <p:childTnLst>
                                    <p:set>
                                      <p:cBhvr>
                                        <p:cTn id="49" dur="1" fill="hold">
                                          <p:stCondLst>
                                            <p:cond delay="0"/>
                                          </p:stCondLst>
                                        </p:cTn>
                                        <p:tgtEl>
                                          <p:spTgt spid="67"/>
                                        </p:tgtEl>
                                        <p:attrNameLst>
                                          <p:attrName>style.visibility</p:attrName>
                                        </p:attrNameLst>
                                      </p:cBhvr>
                                      <p:to>
                                        <p:strVal val="visible"/>
                                      </p:to>
                                    </p:set>
                                    <p:animEffect transition="in" filter="wipe(down)">
                                      <p:cBhvr>
                                        <p:cTn id="50" dur="500"/>
                                        <p:tgtEl>
                                          <p:spTgt spid="67"/>
                                        </p:tgtEl>
                                      </p:cBhvr>
                                    </p:animEffect>
                                  </p:childTnLst>
                                </p:cTn>
                              </p:par>
                              <p:par>
                                <p:cTn id="51" presetID="22" presetClass="entr" presetSubtype="4" fill="hold" grpId="1" nodeType="withEffect">
                                  <p:stCondLst>
                                    <p:cond delay="0"/>
                                  </p:stCondLst>
                                  <p:childTnLst>
                                    <p:set>
                                      <p:cBhvr>
                                        <p:cTn id="52" dur="1" fill="hold">
                                          <p:stCondLst>
                                            <p:cond delay="0"/>
                                          </p:stCondLst>
                                        </p:cTn>
                                        <p:tgtEl>
                                          <p:spTgt spid="70"/>
                                        </p:tgtEl>
                                        <p:attrNameLst>
                                          <p:attrName>style.visibility</p:attrName>
                                        </p:attrNameLst>
                                      </p:cBhvr>
                                      <p:to>
                                        <p:strVal val="visible"/>
                                      </p:to>
                                    </p:set>
                                    <p:animEffect transition="in" filter="wipe(down)">
                                      <p:cBhvr>
                                        <p:cTn id="53" dur="500"/>
                                        <p:tgtEl>
                                          <p:spTgt spid="70"/>
                                        </p:tgtEl>
                                      </p:cBhvr>
                                    </p:animEffect>
                                  </p:childTnLst>
                                </p:cTn>
                              </p:par>
                              <p:par>
                                <p:cTn id="54" presetID="22" presetClass="entr" presetSubtype="4" fill="hold" grpId="1" nodeType="withEffect">
                                  <p:stCondLst>
                                    <p:cond delay="0"/>
                                  </p:stCondLst>
                                  <p:childTnLst>
                                    <p:set>
                                      <p:cBhvr>
                                        <p:cTn id="55" dur="1" fill="hold">
                                          <p:stCondLst>
                                            <p:cond delay="0"/>
                                          </p:stCondLst>
                                        </p:cTn>
                                        <p:tgtEl>
                                          <p:spTgt spid="69"/>
                                        </p:tgtEl>
                                        <p:attrNameLst>
                                          <p:attrName>style.visibility</p:attrName>
                                        </p:attrNameLst>
                                      </p:cBhvr>
                                      <p:to>
                                        <p:strVal val="visible"/>
                                      </p:to>
                                    </p:set>
                                    <p:animEffect transition="in" filter="wipe(down)">
                                      <p:cBhvr>
                                        <p:cTn id="56" dur="500"/>
                                        <p:tgtEl>
                                          <p:spTgt spid="69"/>
                                        </p:tgtEl>
                                      </p:cBhvr>
                                    </p:animEffect>
                                  </p:childTnLst>
                                </p:cTn>
                              </p:par>
                              <p:par>
                                <p:cTn id="57" presetID="22" presetClass="entr" presetSubtype="4" fill="hold" grpId="1" nodeType="withEffect">
                                  <p:stCondLst>
                                    <p:cond delay="0"/>
                                  </p:stCondLst>
                                  <p:childTnLst>
                                    <p:set>
                                      <p:cBhvr>
                                        <p:cTn id="58" dur="1" fill="hold">
                                          <p:stCondLst>
                                            <p:cond delay="0"/>
                                          </p:stCondLst>
                                        </p:cTn>
                                        <p:tgtEl>
                                          <p:spTgt spid="68"/>
                                        </p:tgtEl>
                                        <p:attrNameLst>
                                          <p:attrName>style.visibility</p:attrName>
                                        </p:attrNameLst>
                                      </p:cBhvr>
                                      <p:to>
                                        <p:strVal val="visible"/>
                                      </p:to>
                                    </p:set>
                                    <p:animEffect transition="in" filter="wipe(down)">
                                      <p:cBhvr>
                                        <p:cTn id="59" dur="500"/>
                                        <p:tgtEl>
                                          <p:spTgt spid="68"/>
                                        </p:tgtEl>
                                      </p:cBhvr>
                                    </p:animEffect>
                                  </p:childTnLst>
                                </p:cTn>
                              </p:par>
                              <p:par>
                                <p:cTn id="60" presetID="22" presetClass="entr" presetSubtype="4" fill="hold" grpId="1" nodeType="withEffect">
                                  <p:stCondLst>
                                    <p:cond delay="0"/>
                                  </p:stCondLst>
                                  <p:childTnLst>
                                    <p:set>
                                      <p:cBhvr>
                                        <p:cTn id="61" dur="1" fill="hold">
                                          <p:stCondLst>
                                            <p:cond delay="0"/>
                                          </p:stCondLst>
                                        </p:cTn>
                                        <p:tgtEl>
                                          <p:spTgt spid="71"/>
                                        </p:tgtEl>
                                        <p:attrNameLst>
                                          <p:attrName>style.visibility</p:attrName>
                                        </p:attrNameLst>
                                      </p:cBhvr>
                                      <p:to>
                                        <p:strVal val="visible"/>
                                      </p:to>
                                    </p:set>
                                    <p:animEffect transition="in" filter="wipe(down)">
                                      <p:cBhvr>
                                        <p:cTn id="62" dur="500"/>
                                        <p:tgtEl>
                                          <p:spTgt spid="71"/>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nodeType="click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down)">
                                      <p:cBhvr>
                                        <p:cTn id="67" dur="500"/>
                                        <p:tgtEl>
                                          <p:spTgt spid="7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4" fill="hold" nodeType="clickEffect">
                                  <p:stCondLst>
                                    <p:cond delay="0"/>
                                  </p:stCondLst>
                                  <p:childTnLst>
                                    <p:set>
                                      <p:cBhvr>
                                        <p:cTn id="71" dur="1" fill="hold">
                                          <p:stCondLst>
                                            <p:cond delay="0"/>
                                          </p:stCondLst>
                                        </p:cTn>
                                        <p:tgtEl>
                                          <p:spTgt spid="77"/>
                                        </p:tgtEl>
                                        <p:attrNameLst>
                                          <p:attrName>style.visibility</p:attrName>
                                        </p:attrNameLst>
                                      </p:cBhvr>
                                      <p:to>
                                        <p:strVal val="visible"/>
                                      </p:to>
                                    </p:set>
                                    <p:animEffect transition="in" filter="wipe(down)">
                                      <p:cBhvr>
                                        <p:cTn id="72"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5" grpId="1" animBg="1"/>
      <p:bldP spid="67" grpId="0" animBg="1"/>
      <p:bldP spid="67" grpId="1" animBg="1"/>
      <p:bldP spid="68" grpId="0" animBg="1"/>
      <p:bldP spid="68" grpId="1" animBg="1"/>
      <p:bldP spid="69" grpId="0" animBg="1"/>
      <p:bldP spid="69" grpId="1" animBg="1"/>
      <p:bldP spid="70" grpId="0" animBg="1"/>
      <p:bldP spid="70" grpId="1" animBg="1"/>
      <p:bldP spid="71" grpId="0" animBg="1"/>
      <p:bldP spid="71" grpId="1"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RIP-</a:t>
            </a:r>
            <a:r>
              <a:rPr lang="zh-CN" altLang="en-US" dirty="0"/>
              <a:t>报文格式</a:t>
            </a:r>
            <a:r>
              <a:rPr lang="en-US" altLang="zh-CN" dirty="0"/>
              <a:t>(V2)</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171</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200" y="1429482"/>
            <a:ext cx="3083560" cy="4586694"/>
          </a:xfrm>
        </p:spPr>
        <p:txBody>
          <a:bodyPr>
            <a:normAutofit/>
          </a:bodyPr>
          <a:lstStyle/>
          <a:p>
            <a:pPr>
              <a:lnSpc>
                <a:spcPct val="120000"/>
              </a:lnSpc>
              <a:spcBef>
                <a:spcPct val="0"/>
              </a:spcBef>
            </a:pPr>
            <a:r>
              <a:rPr lang="zh-CN" altLang="en-US" dirty="0"/>
              <a:t>协议封装</a:t>
            </a:r>
            <a:endParaRPr lang="en-US" altLang="zh-CN" dirty="0"/>
          </a:p>
          <a:p>
            <a:pPr lvl="1">
              <a:lnSpc>
                <a:spcPct val="120000"/>
              </a:lnSpc>
              <a:spcBef>
                <a:spcPct val="0"/>
              </a:spcBef>
            </a:pPr>
            <a:r>
              <a:rPr lang="en-US" altLang="zh-CN" dirty="0"/>
              <a:t>UDP</a:t>
            </a:r>
            <a:r>
              <a:rPr lang="zh-CN" altLang="en-US" dirty="0"/>
              <a:t>，</a:t>
            </a:r>
            <a:r>
              <a:rPr lang="en-US" altLang="zh-CN" dirty="0"/>
              <a:t>520</a:t>
            </a:r>
          </a:p>
          <a:p>
            <a:pPr>
              <a:lnSpc>
                <a:spcPct val="120000"/>
              </a:lnSpc>
              <a:spcBef>
                <a:spcPct val="0"/>
              </a:spcBef>
            </a:pPr>
            <a:r>
              <a:rPr lang="zh-CN" altLang="en-US" dirty="0"/>
              <a:t>版本演进</a:t>
            </a:r>
            <a:endParaRPr lang="en-US" altLang="zh-CN" dirty="0"/>
          </a:p>
          <a:p>
            <a:pPr lvl="1">
              <a:lnSpc>
                <a:spcPct val="120000"/>
              </a:lnSpc>
              <a:spcBef>
                <a:spcPct val="0"/>
              </a:spcBef>
            </a:pPr>
            <a:r>
              <a:rPr lang="en-US" altLang="zh-CN" dirty="0"/>
              <a:t>V1</a:t>
            </a:r>
            <a:r>
              <a:rPr lang="zh-CN" altLang="en-US" dirty="0"/>
              <a:t>：使用标准的</a:t>
            </a:r>
            <a:r>
              <a:rPr lang="en-US" altLang="zh-CN" dirty="0"/>
              <a:t>IP</a:t>
            </a:r>
            <a:r>
              <a:rPr lang="zh-CN" altLang="en-US" dirty="0"/>
              <a:t>地址，不支持子网路由</a:t>
            </a:r>
            <a:endParaRPr lang="en-US" altLang="zh-CN" dirty="0"/>
          </a:p>
          <a:p>
            <a:pPr lvl="1">
              <a:lnSpc>
                <a:spcPct val="120000"/>
              </a:lnSpc>
              <a:spcBef>
                <a:spcPct val="0"/>
              </a:spcBef>
            </a:pPr>
            <a:r>
              <a:rPr lang="en-US" altLang="zh-CN" dirty="0"/>
              <a:t>V2</a:t>
            </a:r>
            <a:r>
              <a:rPr lang="zh-CN" altLang="en-US" dirty="0"/>
              <a:t>：支持子网路由、身份验证、多播</a:t>
            </a:r>
            <a:endParaRPr lang="en-US" altLang="zh-CN" dirty="0"/>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pic>
        <p:nvPicPr>
          <p:cNvPr id="40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40853" y="1331490"/>
            <a:ext cx="8308975" cy="459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8" descr="015">
            <a:extLst>
              <a:ext uri="{FF2B5EF4-FFF2-40B4-BE49-F238E27FC236}">
                <a16:creationId xmlns:a16="http://schemas.microsoft.com/office/drawing/2014/main" id="{222ECF7D-1D00-4123-AAFD-887C8EE9191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618843"/>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RIP-</a:t>
            </a:r>
            <a:r>
              <a:rPr lang="zh-CN" altLang="en-US" dirty="0"/>
              <a:t>报文格式</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172</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199" y="1429482"/>
            <a:ext cx="3395968" cy="4586694"/>
          </a:xfrm>
        </p:spPr>
        <p:txBody>
          <a:bodyPr>
            <a:normAutofit/>
          </a:bodyPr>
          <a:lstStyle/>
          <a:p>
            <a:pPr>
              <a:lnSpc>
                <a:spcPct val="120000"/>
              </a:lnSpc>
              <a:spcBef>
                <a:spcPct val="0"/>
              </a:spcBef>
            </a:pPr>
            <a:r>
              <a:rPr lang="zh-CN" altLang="en-US" dirty="0"/>
              <a:t>请观察：</a:t>
            </a:r>
            <a:endParaRPr lang="en-US" altLang="zh-CN" dirty="0"/>
          </a:p>
          <a:p>
            <a:pPr lvl="1">
              <a:lnSpc>
                <a:spcPct val="120000"/>
              </a:lnSpc>
              <a:spcBef>
                <a:spcPct val="0"/>
              </a:spcBef>
            </a:pPr>
            <a:r>
              <a:rPr lang="zh-CN" altLang="en-US" dirty="0"/>
              <a:t>这个报文是</a:t>
            </a:r>
            <a:r>
              <a:rPr lang="en-US" altLang="zh-CN" dirty="0"/>
              <a:t>RIP</a:t>
            </a:r>
            <a:r>
              <a:rPr lang="zh-CN" altLang="en-US" dirty="0"/>
              <a:t>版本多少？</a:t>
            </a:r>
            <a:endParaRPr lang="en-US" altLang="zh-CN" dirty="0"/>
          </a:p>
          <a:p>
            <a:pPr lvl="1">
              <a:lnSpc>
                <a:spcPct val="120000"/>
              </a:lnSpc>
              <a:spcBef>
                <a:spcPct val="0"/>
              </a:spcBef>
            </a:pPr>
            <a:r>
              <a:rPr lang="en-US" altLang="zh-CN" dirty="0"/>
              <a:t>RIP</a:t>
            </a:r>
            <a:r>
              <a:rPr lang="zh-CN" altLang="en-US" dirty="0"/>
              <a:t>的周期更新如何实现？</a:t>
            </a:r>
            <a:endParaRPr lang="en-US" altLang="zh-CN" dirty="0"/>
          </a:p>
          <a:p>
            <a:pPr lvl="1">
              <a:lnSpc>
                <a:spcPct val="120000"/>
              </a:lnSpc>
              <a:spcBef>
                <a:spcPct val="0"/>
              </a:spcBef>
            </a:pPr>
            <a:r>
              <a:rPr lang="zh-CN" altLang="en-US" dirty="0"/>
              <a:t>实现时是什么时候把跳数加</a:t>
            </a:r>
            <a:r>
              <a:rPr lang="en-US" altLang="zh-CN" dirty="0"/>
              <a:t>1</a:t>
            </a:r>
            <a:r>
              <a:rPr lang="zh-CN" altLang="en-US" dirty="0"/>
              <a:t>？</a:t>
            </a:r>
            <a:endParaRPr lang="en-US" altLang="zh-CN" dirty="0"/>
          </a:p>
          <a:p>
            <a:pPr lvl="1">
              <a:lnSpc>
                <a:spcPct val="120000"/>
              </a:lnSpc>
              <a:spcBef>
                <a:spcPct val="0"/>
              </a:spcBef>
            </a:pPr>
            <a:r>
              <a:rPr lang="zh-CN" altLang="en-US" dirty="0"/>
              <a:t>为什么</a:t>
            </a:r>
            <a:r>
              <a:rPr lang="en-US" altLang="zh-CN" dirty="0"/>
              <a:t>RIP</a:t>
            </a:r>
            <a:r>
              <a:rPr lang="zh-CN" altLang="en-US" dirty="0"/>
              <a:t>没有确认机制？</a:t>
            </a:r>
            <a:endParaRPr lang="en-US" altLang="zh-CN" dirty="0"/>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10070" y="1342320"/>
            <a:ext cx="6364039" cy="52831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397943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6">
                                            <p:txEl>
                                              <p:pRg st="1" end="1"/>
                                            </p:txEl>
                                          </p:spTgt>
                                        </p:tgtEl>
                                        <p:attrNameLst>
                                          <p:attrName>style.visibility</p:attrName>
                                        </p:attrNameLst>
                                      </p:cBhvr>
                                      <p:to>
                                        <p:strVal val="visible"/>
                                      </p:to>
                                    </p:set>
                                    <p:animEffect transition="in" filter="wipe(down)">
                                      <p:cBhvr>
                                        <p:cTn id="7" dur="500"/>
                                        <p:tgtEl>
                                          <p:spTgt spid="6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6">
                                            <p:txEl>
                                              <p:pRg st="2" end="2"/>
                                            </p:txEl>
                                          </p:spTgt>
                                        </p:tgtEl>
                                        <p:attrNameLst>
                                          <p:attrName>style.visibility</p:attrName>
                                        </p:attrNameLst>
                                      </p:cBhvr>
                                      <p:to>
                                        <p:strVal val="visible"/>
                                      </p:to>
                                    </p:set>
                                    <p:animEffect transition="in" filter="wipe(down)">
                                      <p:cBhvr>
                                        <p:cTn id="12" dur="500"/>
                                        <p:tgtEl>
                                          <p:spTgt spid="6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66">
                                            <p:txEl>
                                              <p:pRg st="3" end="3"/>
                                            </p:txEl>
                                          </p:spTgt>
                                        </p:tgtEl>
                                        <p:attrNameLst>
                                          <p:attrName>style.visibility</p:attrName>
                                        </p:attrNameLst>
                                      </p:cBhvr>
                                      <p:to>
                                        <p:strVal val="visible"/>
                                      </p:to>
                                    </p:set>
                                    <p:animEffect transition="in" filter="wipe(down)">
                                      <p:cBhvr>
                                        <p:cTn id="17" dur="500"/>
                                        <p:tgtEl>
                                          <p:spTgt spid="6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66">
                                            <p:txEl>
                                              <p:pRg st="4" end="4"/>
                                            </p:txEl>
                                          </p:spTgt>
                                        </p:tgtEl>
                                        <p:attrNameLst>
                                          <p:attrName>style.visibility</p:attrName>
                                        </p:attrNameLst>
                                      </p:cBhvr>
                                      <p:to>
                                        <p:strVal val="visible"/>
                                      </p:to>
                                    </p:set>
                                    <p:animEffect transition="in" filter="wipe(down)">
                                      <p:cBhvr>
                                        <p:cTn id="22" dur="500"/>
                                        <p:tgtEl>
                                          <p:spTgt spid="6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5B5E7D-8FD9-434B-BAC9-4A5D465A85EA}"/>
              </a:ext>
            </a:extLst>
          </p:cNvPr>
          <p:cNvSpPr>
            <a:spLocks noGrp="1"/>
          </p:cNvSpPr>
          <p:nvPr>
            <p:ph type="title"/>
          </p:nvPr>
        </p:nvSpPr>
        <p:spPr/>
        <p:txBody>
          <a:bodyPr/>
          <a:lstStyle/>
          <a:p>
            <a:r>
              <a:rPr lang="en-US" altLang="zh-CN" dirty="0"/>
              <a:t>RIP-</a:t>
            </a:r>
            <a:r>
              <a:rPr lang="zh-CN" altLang="en-US" dirty="0"/>
              <a:t>小结</a:t>
            </a:r>
            <a:endParaRPr kumimoji="1" lang="zh-CN" altLang="en-US" dirty="0"/>
          </a:p>
        </p:txBody>
      </p:sp>
      <p:sp>
        <p:nvSpPr>
          <p:cNvPr id="10" name="日期占位符 9">
            <a:extLst>
              <a:ext uri="{FF2B5EF4-FFF2-40B4-BE49-F238E27FC236}">
                <a16:creationId xmlns:a16="http://schemas.microsoft.com/office/drawing/2014/main"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5.7.2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id="{550ED307-254A-0A44-A386-B21B3DA050E4}"/>
              </a:ext>
            </a:extLst>
          </p:cNvPr>
          <p:cNvSpPr>
            <a:spLocks noGrp="1"/>
          </p:cNvSpPr>
          <p:nvPr>
            <p:ph type="sldNum" sz="quarter" idx="12"/>
          </p:nvPr>
        </p:nvSpPr>
        <p:spPr/>
        <p:txBody>
          <a:bodyPr/>
          <a:lstStyle/>
          <a:p>
            <a:fld id="{8D4D1E41-7A09-AB4A-A4E1-09765ADA2698}" type="slidenum">
              <a:rPr kumimoji="1" lang="zh-CN" altLang="en-US" smtClean="0"/>
              <a:t>173</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sp>
        <p:nvSpPr>
          <p:cNvPr id="11" name="内容占位符 2"/>
          <p:cNvSpPr txBox="1">
            <a:spLocks/>
          </p:cNvSpPr>
          <p:nvPr/>
        </p:nvSpPr>
        <p:spPr>
          <a:xfrm>
            <a:off x="6102759" y="1375628"/>
            <a:ext cx="52578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a:lnSpc>
                <a:spcPct val="150000"/>
              </a:lnSpc>
            </a:pPr>
            <a:r>
              <a:rPr lang="en-US" altLang="zh-CN" dirty="0"/>
              <a:t>RIP</a:t>
            </a:r>
            <a:r>
              <a:rPr lang="zh-CN" altLang="en-US" dirty="0"/>
              <a:t>协议的防环路机制</a:t>
            </a:r>
            <a:endParaRPr lang="en-US" altLang="zh-CN" dirty="0"/>
          </a:p>
          <a:p>
            <a:pPr lvl="1">
              <a:lnSpc>
                <a:spcPct val="150000"/>
              </a:lnSpc>
            </a:pPr>
            <a:r>
              <a:rPr lang="zh-CN" altLang="en-US" dirty="0"/>
              <a:t>触发更新</a:t>
            </a:r>
            <a:endParaRPr lang="en-US" altLang="zh-CN" dirty="0"/>
          </a:p>
          <a:p>
            <a:pPr lvl="1">
              <a:lnSpc>
                <a:spcPct val="150000"/>
              </a:lnSpc>
            </a:pPr>
            <a:r>
              <a:rPr lang="zh-CN" altLang="en-US" dirty="0"/>
              <a:t>毒性反转</a:t>
            </a:r>
            <a:endParaRPr lang="en-US" altLang="zh-CN" dirty="0"/>
          </a:p>
          <a:p>
            <a:pPr lvl="1">
              <a:lnSpc>
                <a:spcPct val="150000"/>
              </a:lnSpc>
            </a:pPr>
            <a:r>
              <a:rPr lang="zh-CN" altLang="en-US" dirty="0"/>
              <a:t>水平分割</a:t>
            </a:r>
            <a:endParaRPr lang="en-US" altLang="zh-CN" dirty="0"/>
          </a:p>
          <a:p>
            <a:pPr lvl="1">
              <a:lnSpc>
                <a:spcPct val="150000"/>
              </a:lnSpc>
            </a:pPr>
            <a:r>
              <a:rPr lang="zh-CN" altLang="en-US" dirty="0"/>
              <a:t>其他</a:t>
            </a:r>
          </a:p>
        </p:txBody>
      </p:sp>
      <p:sp>
        <p:nvSpPr>
          <p:cNvPr id="13" name="内容占位符 2"/>
          <p:cNvSpPr txBox="1">
            <a:spLocks/>
          </p:cNvSpPr>
          <p:nvPr/>
        </p:nvSpPr>
        <p:spPr>
          <a:xfrm>
            <a:off x="843081" y="1375628"/>
            <a:ext cx="52578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a:lnSpc>
                <a:spcPct val="150000"/>
              </a:lnSpc>
            </a:pPr>
            <a:r>
              <a:rPr lang="en-US" altLang="zh-CN" dirty="0"/>
              <a:t>RIP</a:t>
            </a:r>
            <a:r>
              <a:rPr lang="zh-CN" altLang="en-US" dirty="0"/>
              <a:t>协议的特点</a:t>
            </a:r>
            <a:endParaRPr lang="en-US" altLang="zh-CN" dirty="0"/>
          </a:p>
          <a:p>
            <a:pPr lvl="1">
              <a:lnSpc>
                <a:spcPct val="150000"/>
              </a:lnSpc>
            </a:pPr>
            <a:r>
              <a:rPr lang="zh-CN" altLang="en-US" sz="2800" dirty="0"/>
              <a:t>算法简单，易于实现</a:t>
            </a:r>
            <a:endParaRPr lang="en-US" altLang="zh-CN" sz="2800" dirty="0"/>
          </a:p>
          <a:p>
            <a:pPr lvl="1">
              <a:lnSpc>
                <a:spcPct val="150000"/>
              </a:lnSpc>
            </a:pPr>
            <a:r>
              <a:rPr lang="zh-CN" altLang="en-US" sz="2800" dirty="0"/>
              <a:t>收敛慢</a:t>
            </a:r>
            <a:endParaRPr lang="en-US" altLang="zh-CN" sz="2800" dirty="0"/>
          </a:p>
          <a:p>
            <a:pPr lvl="1">
              <a:lnSpc>
                <a:spcPct val="150000"/>
              </a:lnSpc>
            </a:pPr>
            <a:r>
              <a:rPr lang="zh-CN" altLang="en-US" sz="2800" dirty="0"/>
              <a:t>需要交换的信息量较大</a:t>
            </a:r>
            <a:endParaRPr lang="en-US" altLang="zh-CN" sz="2800" dirty="0"/>
          </a:p>
          <a:p>
            <a:pPr>
              <a:lnSpc>
                <a:spcPct val="150000"/>
              </a:lnSpc>
            </a:pPr>
            <a:r>
              <a:rPr lang="en-US" altLang="zh-CN" dirty="0"/>
              <a:t>RIP</a:t>
            </a:r>
            <a:r>
              <a:rPr lang="zh-CN" altLang="en-US" dirty="0"/>
              <a:t>协议的适用场合</a:t>
            </a:r>
            <a:endParaRPr lang="en-US" altLang="zh-CN" dirty="0"/>
          </a:p>
          <a:p>
            <a:pPr lvl="1">
              <a:lnSpc>
                <a:spcPct val="150000"/>
              </a:lnSpc>
            </a:pPr>
            <a:r>
              <a:rPr lang="zh-CN" altLang="en-US" sz="2800" dirty="0"/>
              <a:t>中小型网络</a:t>
            </a:r>
            <a:endParaRPr lang="en-US" altLang="zh-CN" sz="2800" dirty="0"/>
          </a:p>
          <a:p>
            <a:endParaRPr lang="zh-CN" altLang="en-US" dirty="0"/>
          </a:p>
        </p:txBody>
      </p:sp>
      <p:pic>
        <p:nvPicPr>
          <p:cNvPr id="14" name="Picture 28" descr="015">
            <a:extLst>
              <a:ext uri="{FF2B5EF4-FFF2-40B4-BE49-F238E27FC236}">
                <a16:creationId xmlns:a16="http://schemas.microsoft.com/office/drawing/2014/main" id="{D2474593-9C3A-4C01-80CB-C162161FF25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714629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t>BGP-</a:t>
            </a:r>
            <a:r>
              <a:rPr lang="zh-CN" altLang="zh-CN" dirty="0"/>
              <a:t>外部网关路由协议</a:t>
            </a:r>
            <a:endParaRPr lang="zh-CN" altLang="en-US" dirty="0"/>
          </a:p>
        </p:txBody>
      </p:sp>
      <p:sp>
        <p:nvSpPr>
          <p:cNvPr id="3" name="内容占位符 2"/>
          <p:cNvSpPr>
            <a:spLocks noGrp="1"/>
          </p:cNvSpPr>
          <p:nvPr>
            <p:ph idx="1"/>
          </p:nvPr>
        </p:nvSpPr>
        <p:spPr/>
        <p:txBody>
          <a:bodyPr>
            <a:normAutofit fontScale="92500" lnSpcReduction="10000"/>
          </a:bodyPr>
          <a:lstStyle/>
          <a:p>
            <a:pPr>
              <a:lnSpc>
                <a:spcPct val="130000"/>
              </a:lnSpc>
              <a:defRPr/>
            </a:pPr>
            <a:r>
              <a:rPr lang="zh-CN" altLang="en-US" dirty="0">
                <a:latin typeface="微软雅黑" pitchFamily="34" charset="-122"/>
                <a:ea typeface="微软雅黑" pitchFamily="34" charset="-122"/>
                <a:cs typeface="Times New Roman" panose="02020603050405020304" pitchFamily="18" charset="0"/>
              </a:rPr>
              <a:t>路由协议</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kumimoji="1" lang="zh-CN" altLang="en-US" dirty="0"/>
              <a:t>内部网关协议 </a:t>
            </a:r>
            <a:r>
              <a:rPr kumimoji="1" lang="en-US" altLang="zh-CN" dirty="0"/>
              <a:t>IGP</a:t>
            </a:r>
            <a:r>
              <a:rPr kumimoji="1" lang="zh-CN" altLang="en-US" dirty="0"/>
              <a:t>： 有 </a:t>
            </a:r>
            <a:r>
              <a:rPr kumimoji="1" lang="en-US" altLang="zh-CN" dirty="0"/>
              <a:t>RIP </a:t>
            </a:r>
            <a:r>
              <a:rPr kumimoji="1" lang="zh-CN" altLang="en-US" dirty="0"/>
              <a:t>和、</a:t>
            </a:r>
            <a:r>
              <a:rPr kumimoji="1" lang="en-US" altLang="zh-CN" dirty="0"/>
              <a:t>OSPF</a:t>
            </a:r>
            <a:r>
              <a:rPr kumimoji="1" lang="zh-CN" altLang="en-US" dirty="0"/>
              <a:t>、</a:t>
            </a:r>
            <a:r>
              <a:rPr kumimoji="1" lang="en-US" altLang="zh-CN" dirty="0"/>
              <a:t>ISIS </a:t>
            </a:r>
            <a:r>
              <a:rPr kumimoji="1" lang="zh-CN" altLang="en-US" dirty="0"/>
              <a:t>等多种具体的协议</a:t>
            </a:r>
          </a:p>
          <a:p>
            <a:pPr lvl="1">
              <a:lnSpc>
                <a:spcPct val="130000"/>
              </a:lnSpc>
              <a:defRPr/>
            </a:pPr>
            <a:r>
              <a:rPr kumimoji="1" lang="zh-CN" altLang="en-US" dirty="0"/>
              <a:t>外部网关协议 </a:t>
            </a:r>
            <a:r>
              <a:rPr kumimoji="1" lang="en-US" altLang="zh-CN" dirty="0"/>
              <a:t>EGP</a:t>
            </a:r>
            <a:r>
              <a:rPr kumimoji="1" lang="zh-CN" altLang="en-US" dirty="0"/>
              <a:t>：目前使用的协议就是 </a:t>
            </a:r>
            <a:r>
              <a:rPr kumimoji="1" lang="en-US" altLang="zh-CN" dirty="0"/>
              <a:t>BGP</a:t>
            </a:r>
          </a:p>
          <a:p>
            <a:pPr>
              <a:lnSpc>
                <a:spcPct val="130000"/>
              </a:lnSpc>
              <a:defRPr/>
            </a:pPr>
            <a:r>
              <a:rPr lang="zh-CN" altLang="en-US" dirty="0">
                <a:latin typeface="微软雅黑" pitchFamily="34" charset="-122"/>
                <a:ea typeface="微软雅黑" pitchFamily="34" charset="-122"/>
                <a:cs typeface="Times New Roman" panose="02020603050405020304" pitchFamily="18" charset="0"/>
              </a:rPr>
              <a:t>边界网关协议</a:t>
            </a:r>
            <a:r>
              <a:rPr lang="en-US" altLang="zh-CN" dirty="0">
                <a:solidFill>
                  <a:srgbClr val="C00000"/>
                </a:solidFill>
                <a:latin typeface="微软雅黑" pitchFamily="34" charset="-122"/>
                <a:ea typeface="微软雅黑" pitchFamily="34" charset="-122"/>
                <a:cs typeface="Times New Roman" panose="02020603050405020304" pitchFamily="18" charset="0"/>
              </a:rPr>
              <a:t>BGP (Border Gateway Protocol) </a:t>
            </a:r>
          </a:p>
          <a:p>
            <a:pPr lvl="1">
              <a:lnSpc>
                <a:spcPct val="130000"/>
              </a:lnSpc>
              <a:defRPr/>
            </a:pPr>
            <a:r>
              <a:rPr kumimoji="1" lang="zh-CN" altLang="en-US" dirty="0"/>
              <a:t>目前互联网中唯一实际运行的自治域间的路由协议</a:t>
            </a:r>
            <a:endParaRPr kumimoji="1" lang="en-US" altLang="zh-CN" dirty="0"/>
          </a:p>
          <a:p>
            <a:pPr>
              <a:lnSpc>
                <a:spcPct val="130000"/>
              </a:lnSpc>
              <a:defRPr/>
            </a:pPr>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功能</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kumimoji="1" lang="en-US" altLang="zh-CN" dirty="0" err="1"/>
              <a:t>eBGP</a:t>
            </a:r>
            <a:r>
              <a:rPr kumimoji="1" lang="zh-CN" altLang="en-US" dirty="0"/>
              <a:t>：从相邻的</a:t>
            </a:r>
            <a:r>
              <a:rPr kumimoji="1" lang="en-US" altLang="zh-CN" dirty="0"/>
              <a:t>AS</a:t>
            </a:r>
            <a:r>
              <a:rPr kumimoji="1" lang="zh-CN" altLang="en-US" dirty="0"/>
              <a:t>获得网络可达信息</a:t>
            </a:r>
            <a:endParaRPr kumimoji="1" lang="en-US" altLang="zh-CN" dirty="0"/>
          </a:p>
          <a:p>
            <a:pPr lvl="1">
              <a:lnSpc>
                <a:spcPct val="130000"/>
              </a:lnSpc>
              <a:defRPr/>
            </a:pPr>
            <a:r>
              <a:rPr kumimoji="1" lang="en-US" altLang="zh-CN" dirty="0" err="1"/>
              <a:t>iBGP</a:t>
            </a:r>
            <a:r>
              <a:rPr kumimoji="1" lang="zh-CN" altLang="en-US" dirty="0"/>
              <a:t>： 将网络可达信息传播给</a:t>
            </a:r>
            <a:r>
              <a:rPr kumimoji="1" lang="en-US" altLang="zh-CN" dirty="0"/>
              <a:t>AS</a:t>
            </a:r>
            <a:r>
              <a:rPr kumimoji="1" lang="zh-CN" altLang="en-US" dirty="0"/>
              <a:t>内的路由器</a:t>
            </a:r>
            <a:endParaRPr kumimoji="1" lang="en-US" altLang="zh-CN" dirty="0"/>
          </a:p>
          <a:p>
            <a:pPr lvl="1">
              <a:lnSpc>
                <a:spcPct val="130000"/>
              </a:lnSpc>
              <a:defRPr/>
            </a:pPr>
            <a:r>
              <a:rPr kumimoji="1" lang="zh-CN" altLang="en-US" dirty="0"/>
              <a:t>基于网络可达信息和策略决定到其他网络的“最优”路由</a:t>
            </a:r>
            <a:endParaRPr kumimoji="1" lang="en-US" altLang="zh-CN" dirty="0"/>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174</a:t>
            </a:fld>
            <a:endParaRPr kumimoji="1" lang="zh-CN" altLang="en-US" dirty="0"/>
          </a:p>
        </p:txBody>
      </p:sp>
      <p:sp>
        <p:nvSpPr>
          <p:cNvPr id="6" name="日期占位符 5"/>
          <p:cNvSpPr>
            <a:spLocks noGrp="1"/>
          </p:cNvSpPr>
          <p:nvPr>
            <p:ph type="dt" sz="half" idx="10"/>
          </p:nvPr>
        </p:nvSpPr>
        <p:spPr>
          <a:xfrm>
            <a:off x="197335" y="6489303"/>
            <a:ext cx="2894208" cy="365125"/>
          </a:xfrm>
        </p:spPr>
        <p:txBody>
          <a:bodyPr/>
          <a:lstStyle/>
          <a:p>
            <a:r>
              <a:rPr kumimoji="1" lang="en-US" altLang="zh-CN" dirty="0"/>
              <a:t>5.7.3 BGP-</a:t>
            </a:r>
            <a:r>
              <a:rPr kumimoji="1" lang="zh-CN" altLang="en-US" dirty="0"/>
              <a:t>外部网关路由协议</a:t>
            </a:r>
          </a:p>
        </p:txBody>
      </p:sp>
      <p:pic>
        <p:nvPicPr>
          <p:cNvPr id="7" name="Picture 28" descr="015">
            <a:extLst>
              <a:ext uri="{FF2B5EF4-FFF2-40B4-BE49-F238E27FC236}">
                <a16:creationId xmlns:a16="http://schemas.microsoft.com/office/drawing/2014/main" id="{D2DFC593-9029-4DC3-84B6-F0FB16A590A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9143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sz="3600" dirty="0" err="1">
                <a:latin typeface="微软雅黑" pitchFamily="34" charset="-122"/>
                <a:ea typeface="微软雅黑" pitchFamily="34" charset="-122"/>
                <a:cs typeface="Times New Roman" panose="02020603050405020304" pitchFamily="18" charset="0"/>
              </a:rPr>
              <a:t>eBGP&amp;iBGP</a:t>
            </a:r>
            <a:r>
              <a:rPr lang="zh-CN" altLang="en-US" sz="3600" dirty="0">
                <a:latin typeface="微软雅黑" pitchFamily="34" charset="-122"/>
                <a:ea typeface="微软雅黑" pitchFamily="34" charset="-122"/>
                <a:cs typeface="Times New Roman" panose="02020603050405020304" pitchFamily="18" charset="0"/>
              </a:rPr>
              <a:t>连接</a:t>
            </a:r>
            <a:endParaRPr lang="zh-CN" altLang="en-US" sz="3600" dirty="0"/>
          </a:p>
        </p:txBody>
      </p:sp>
      <p:sp>
        <p:nvSpPr>
          <p:cNvPr id="3" name="内容占位符 2"/>
          <p:cNvSpPr>
            <a:spLocks noGrp="1"/>
          </p:cNvSpPr>
          <p:nvPr>
            <p:ph idx="1"/>
          </p:nvPr>
        </p:nvSpPr>
        <p:spPr/>
        <p:txBody>
          <a:bodyPr/>
          <a:lstStyle/>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175</a:t>
            </a:fld>
            <a:endParaRPr kumimoji="1" lang="zh-CN" altLang="en-US" dirty="0"/>
          </a:p>
        </p:txBody>
      </p:sp>
      <p:cxnSp>
        <p:nvCxnSpPr>
          <p:cNvPr id="6" name="Straight Connector 272"/>
          <p:cNvCxnSpPr/>
          <p:nvPr/>
        </p:nvCxnSpPr>
        <p:spPr bwMode="auto">
          <a:xfrm flipH="1" flipV="1">
            <a:off x="4357999" y="4521673"/>
            <a:ext cx="1029600" cy="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Straight Connector 273"/>
          <p:cNvCxnSpPr/>
          <p:nvPr/>
        </p:nvCxnSpPr>
        <p:spPr bwMode="auto">
          <a:xfrm>
            <a:off x="4379265" y="4856689"/>
            <a:ext cx="1030119" cy="0"/>
          </a:xfrm>
          <a:prstGeom prst="line">
            <a:avLst/>
          </a:prstGeom>
          <a:solidFill>
            <a:schemeClr val="accent1"/>
          </a:solidFill>
          <a:ln w="19050" cap="flat" cmpd="sng" algn="ctr">
            <a:solidFill>
              <a:srgbClr val="2A09B7"/>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TextBox 7"/>
          <p:cNvSpPr txBox="1"/>
          <p:nvPr/>
        </p:nvSpPr>
        <p:spPr>
          <a:xfrm>
            <a:off x="5496376" y="4315492"/>
            <a:ext cx="1117614" cy="338554"/>
          </a:xfrm>
          <a:prstGeom prst="rect">
            <a:avLst/>
          </a:prstGeom>
          <a:noFill/>
        </p:spPr>
        <p:txBody>
          <a:bodyPr wrap="none" rtlCol="0">
            <a:spAutoFit/>
          </a:bodyPr>
          <a:lstStyle/>
          <a:p>
            <a:r>
              <a:rPr lang="en-US" sz="1600" dirty="0" err="1">
                <a:solidFill>
                  <a:srgbClr val="CC0000"/>
                </a:solidFill>
                <a:latin typeface="微软雅黑" pitchFamily="34" charset="-122"/>
                <a:ea typeface="微软雅黑" pitchFamily="34" charset="-122"/>
                <a:cs typeface="Times New Roman" panose="02020603050405020304" pitchFamily="18" charset="0"/>
              </a:rPr>
              <a:t>eBGP</a:t>
            </a:r>
            <a:r>
              <a:rPr lang="zh-CN" altLang="en-US" sz="1600" dirty="0">
                <a:solidFill>
                  <a:srgbClr val="CC0000"/>
                </a:solidFill>
                <a:latin typeface="微软雅黑" pitchFamily="34" charset="-122"/>
                <a:ea typeface="微软雅黑" pitchFamily="34" charset="-122"/>
                <a:cs typeface="Times New Roman" panose="02020603050405020304" pitchFamily="18" charset="0"/>
              </a:rPr>
              <a:t>连接</a:t>
            </a:r>
            <a:endParaRPr lang="en-US" sz="1600" dirty="0">
              <a:solidFill>
                <a:srgbClr val="CC0000"/>
              </a:solidFill>
              <a:latin typeface="微软雅黑" pitchFamily="34" charset="-122"/>
              <a:ea typeface="微软雅黑" pitchFamily="34" charset="-122"/>
              <a:cs typeface="Times New Roman" panose="02020603050405020304" pitchFamily="18" charset="0"/>
            </a:endParaRPr>
          </a:p>
        </p:txBody>
      </p:sp>
      <p:sp>
        <p:nvSpPr>
          <p:cNvPr id="9" name="TextBox 8"/>
          <p:cNvSpPr txBox="1"/>
          <p:nvPr/>
        </p:nvSpPr>
        <p:spPr>
          <a:xfrm>
            <a:off x="5533636" y="4654046"/>
            <a:ext cx="1050288" cy="338554"/>
          </a:xfrm>
          <a:prstGeom prst="rect">
            <a:avLst/>
          </a:prstGeom>
          <a:noFill/>
        </p:spPr>
        <p:txBody>
          <a:bodyPr wrap="none" rtlCol="0">
            <a:spAutoFit/>
          </a:bodyPr>
          <a:lstStyle/>
          <a:p>
            <a:r>
              <a:rPr lang="en-US" sz="1600" dirty="0" err="1">
                <a:solidFill>
                  <a:srgbClr val="2A09B7"/>
                </a:solidFill>
                <a:latin typeface="微软雅黑" pitchFamily="34" charset="-122"/>
                <a:ea typeface="微软雅黑" pitchFamily="34" charset="-122"/>
                <a:cs typeface="Times New Roman" panose="02020603050405020304" pitchFamily="18" charset="0"/>
              </a:rPr>
              <a:t>iBGP</a:t>
            </a:r>
            <a:r>
              <a:rPr lang="zh-CN" altLang="en-US" sz="1600" dirty="0">
                <a:solidFill>
                  <a:srgbClr val="2A09B7"/>
                </a:solidFill>
                <a:latin typeface="微软雅黑" pitchFamily="34" charset="-122"/>
                <a:ea typeface="微软雅黑" pitchFamily="34" charset="-122"/>
                <a:cs typeface="Times New Roman" panose="02020603050405020304" pitchFamily="18" charset="0"/>
              </a:rPr>
              <a:t>连接</a:t>
            </a:r>
            <a:endParaRPr lang="en-US" sz="1600" dirty="0">
              <a:solidFill>
                <a:srgbClr val="2A09B7"/>
              </a:solidFill>
              <a:latin typeface="微软雅黑" pitchFamily="34" charset="-122"/>
              <a:ea typeface="微软雅黑" pitchFamily="34" charset="-122"/>
              <a:cs typeface="Times New Roman" panose="02020603050405020304" pitchFamily="18" charset="0"/>
            </a:endParaRPr>
          </a:p>
        </p:txBody>
      </p:sp>
      <p:sp>
        <p:nvSpPr>
          <p:cNvPr id="10" name="Freeform 2"/>
          <p:cNvSpPr>
            <a:spLocks/>
          </p:cNvSpPr>
          <p:nvPr/>
        </p:nvSpPr>
        <p:spPr bwMode="auto">
          <a:xfrm>
            <a:off x="838199" y="2392317"/>
            <a:ext cx="3382319"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1" name="Group 72"/>
          <p:cNvGrpSpPr/>
          <p:nvPr/>
        </p:nvGrpSpPr>
        <p:grpSpPr>
          <a:xfrm>
            <a:off x="2121023" y="2543179"/>
            <a:ext cx="753533" cy="369332"/>
            <a:chOff x="1736090" y="2873352"/>
            <a:chExt cx="565150" cy="369332"/>
          </a:xfrm>
        </p:grpSpPr>
        <p:grpSp>
          <p:nvGrpSpPr>
            <p:cNvPr id="12" name="Group 327"/>
            <p:cNvGrpSpPr>
              <a:grpSpLocks/>
            </p:cNvGrpSpPr>
            <p:nvPr/>
          </p:nvGrpSpPr>
          <p:grpSpPr bwMode="auto">
            <a:xfrm>
              <a:off x="1736090" y="2893762"/>
              <a:ext cx="565150" cy="292100"/>
              <a:chOff x="1871277" y="1576300"/>
              <a:chExt cx="1128371" cy="437861"/>
            </a:xfrm>
          </p:grpSpPr>
          <p:sp>
            <p:nvSpPr>
              <p:cNvPr id="16" name="Oval 2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 name="Rectangle 2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 name="Oval 2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 name="Freeform 2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 name="Freeform 3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 name="Freeform 3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 name="Freeform 3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 name="Straight Connector 33"/>
              <p:cNvCxnSpPr>
                <a:endCxn id="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 name="Straight Connector 3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 name="Group 71"/>
            <p:cNvGrpSpPr/>
            <p:nvPr/>
          </p:nvGrpSpPr>
          <p:grpSpPr>
            <a:xfrm>
              <a:off x="1770362" y="2873352"/>
              <a:ext cx="414737" cy="369332"/>
              <a:chOff x="667045" y="1708643"/>
              <a:chExt cx="414737" cy="369332"/>
            </a:xfrm>
          </p:grpSpPr>
          <p:sp>
            <p:nvSpPr>
              <p:cNvPr id="14" name="Oval 68"/>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 name="TextBox 14"/>
              <p:cNvSpPr txBox="1"/>
              <p:nvPr/>
            </p:nvSpPr>
            <p:spPr>
              <a:xfrm>
                <a:off x="667045" y="1708643"/>
                <a:ext cx="329658" cy="369332"/>
              </a:xfrm>
              <a:prstGeom prst="rect">
                <a:avLst/>
              </a:prstGeom>
              <a:noFill/>
            </p:spPr>
            <p:txBody>
              <a:bodyPr wrap="none" rtlCol="0">
                <a:spAutoFit/>
              </a:bodyPr>
              <a:lstStyle/>
              <a:p>
                <a:r>
                  <a:rPr lang="en-US" dirty="0"/>
                  <a:t>1b</a:t>
                </a:r>
              </a:p>
            </p:txBody>
          </p:sp>
        </p:grpSp>
      </p:grpSp>
      <p:grpSp>
        <p:nvGrpSpPr>
          <p:cNvPr id="25" name="Group 73"/>
          <p:cNvGrpSpPr/>
          <p:nvPr/>
        </p:nvGrpSpPr>
        <p:grpSpPr>
          <a:xfrm>
            <a:off x="2126663" y="3764496"/>
            <a:ext cx="753533" cy="369332"/>
            <a:chOff x="1736090" y="2873352"/>
            <a:chExt cx="565150" cy="369332"/>
          </a:xfrm>
        </p:grpSpPr>
        <p:grpSp>
          <p:nvGrpSpPr>
            <p:cNvPr id="26" name="Group 327"/>
            <p:cNvGrpSpPr>
              <a:grpSpLocks/>
            </p:cNvGrpSpPr>
            <p:nvPr/>
          </p:nvGrpSpPr>
          <p:grpSpPr bwMode="auto">
            <a:xfrm>
              <a:off x="1736090" y="2893762"/>
              <a:ext cx="565150" cy="292100"/>
              <a:chOff x="1871277" y="1576300"/>
              <a:chExt cx="1128371" cy="437861"/>
            </a:xfrm>
          </p:grpSpPr>
          <p:sp>
            <p:nvSpPr>
              <p:cNvPr id="30"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 name="Straight Connector 85"/>
              <p:cNvCxnSpPr>
                <a:endCxn id="3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 name="Group 75"/>
            <p:cNvGrpSpPr/>
            <p:nvPr/>
          </p:nvGrpSpPr>
          <p:grpSpPr>
            <a:xfrm>
              <a:off x="1770362" y="2873352"/>
              <a:ext cx="414737" cy="369332"/>
              <a:chOff x="667045" y="1708643"/>
              <a:chExt cx="414737" cy="369332"/>
            </a:xfrm>
          </p:grpSpPr>
          <p:sp>
            <p:nvSpPr>
              <p:cNvPr id="28" name="Oval 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 name="TextBox 28"/>
              <p:cNvSpPr txBox="1"/>
              <p:nvPr/>
            </p:nvSpPr>
            <p:spPr>
              <a:xfrm>
                <a:off x="667045" y="1708643"/>
                <a:ext cx="329658" cy="369332"/>
              </a:xfrm>
              <a:prstGeom prst="rect">
                <a:avLst/>
              </a:prstGeom>
              <a:noFill/>
            </p:spPr>
            <p:txBody>
              <a:bodyPr wrap="none" rtlCol="0">
                <a:spAutoFit/>
              </a:bodyPr>
              <a:lstStyle/>
              <a:p>
                <a:r>
                  <a:rPr lang="en-US" dirty="0"/>
                  <a:t>1d</a:t>
                </a:r>
              </a:p>
            </p:txBody>
          </p:sp>
        </p:grpSp>
      </p:grpSp>
      <p:grpSp>
        <p:nvGrpSpPr>
          <p:cNvPr id="39" name="Group 87"/>
          <p:cNvGrpSpPr/>
          <p:nvPr/>
        </p:nvGrpSpPr>
        <p:grpSpPr>
          <a:xfrm>
            <a:off x="3275311" y="3154899"/>
            <a:ext cx="753533" cy="369332"/>
            <a:chOff x="1736090" y="2873352"/>
            <a:chExt cx="565150" cy="369332"/>
          </a:xfrm>
        </p:grpSpPr>
        <p:grpSp>
          <p:nvGrpSpPr>
            <p:cNvPr id="40" name="Group 327"/>
            <p:cNvGrpSpPr>
              <a:grpSpLocks/>
            </p:cNvGrpSpPr>
            <p:nvPr/>
          </p:nvGrpSpPr>
          <p:grpSpPr bwMode="auto">
            <a:xfrm>
              <a:off x="1736090" y="2893762"/>
              <a:ext cx="565150" cy="292100"/>
              <a:chOff x="1871277" y="1576300"/>
              <a:chExt cx="1128371" cy="437861"/>
            </a:xfrm>
          </p:grpSpPr>
          <p:sp>
            <p:nvSpPr>
              <p:cNvPr id="44" name="Oval 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 name="Rectangle 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7"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 name="Straight Connector 99"/>
              <p:cNvCxnSpPr>
                <a:endCxn id="4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1" name="Group 89"/>
            <p:cNvGrpSpPr/>
            <p:nvPr/>
          </p:nvGrpSpPr>
          <p:grpSpPr>
            <a:xfrm>
              <a:off x="1770362" y="2873352"/>
              <a:ext cx="414737" cy="369332"/>
              <a:chOff x="667045" y="1708643"/>
              <a:chExt cx="414737" cy="369332"/>
            </a:xfrm>
          </p:grpSpPr>
          <p:sp>
            <p:nvSpPr>
              <p:cNvPr id="42" name="Oval 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3" name="TextBox 42"/>
              <p:cNvSpPr txBox="1"/>
              <p:nvPr/>
            </p:nvSpPr>
            <p:spPr>
              <a:xfrm>
                <a:off x="667045" y="1708643"/>
                <a:ext cx="308018" cy="369332"/>
              </a:xfrm>
              <a:prstGeom prst="rect">
                <a:avLst/>
              </a:prstGeom>
              <a:noFill/>
            </p:spPr>
            <p:txBody>
              <a:bodyPr wrap="none" rtlCol="0">
                <a:spAutoFit/>
              </a:bodyPr>
              <a:lstStyle/>
              <a:p>
                <a:r>
                  <a:rPr lang="en-US" dirty="0"/>
                  <a:t>1c</a:t>
                </a:r>
              </a:p>
            </p:txBody>
          </p:sp>
        </p:grpSp>
      </p:grpSp>
      <p:grpSp>
        <p:nvGrpSpPr>
          <p:cNvPr id="53" name="Group 101"/>
          <p:cNvGrpSpPr/>
          <p:nvPr/>
        </p:nvGrpSpPr>
        <p:grpSpPr>
          <a:xfrm>
            <a:off x="917344" y="3148546"/>
            <a:ext cx="753533" cy="369332"/>
            <a:chOff x="1736090" y="2873352"/>
            <a:chExt cx="565150" cy="369332"/>
          </a:xfrm>
        </p:grpSpPr>
        <p:grpSp>
          <p:nvGrpSpPr>
            <p:cNvPr id="54" name="Group 327"/>
            <p:cNvGrpSpPr>
              <a:grpSpLocks/>
            </p:cNvGrpSpPr>
            <p:nvPr/>
          </p:nvGrpSpPr>
          <p:grpSpPr bwMode="auto">
            <a:xfrm>
              <a:off x="1736090" y="2893762"/>
              <a:ext cx="565150" cy="292100"/>
              <a:chOff x="1871277" y="1576300"/>
              <a:chExt cx="1128371" cy="437861"/>
            </a:xfrm>
          </p:grpSpPr>
          <p:sp>
            <p:nvSpPr>
              <p:cNvPr id="58"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1"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5" name="Straight Connector 113"/>
              <p:cNvCxnSpPr>
                <a:endCxn id="6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6"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55" name="Group 103"/>
            <p:cNvGrpSpPr/>
            <p:nvPr/>
          </p:nvGrpSpPr>
          <p:grpSpPr>
            <a:xfrm>
              <a:off x="1770362" y="2873352"/>
              <a:ext cx="414737" cy="369332"/>
              <a:chOff x="667045" y="1708643"/>
              <a:chExt cx="414737" cy="369332"/>
            </a:xfrm>
          </p:grpSpPr>
          <p:sp>
            <p:nvSpPr>
              <p:cNvPr id="56" name="Oval 10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7" name="TextBox 56"/>
              <p:cNvSpPr txBox="1"/>
              <p:nvPr/>
            </p:nvSpPr>
            <p:spPr>
              <a:xfrm>
                <a:off x="667045" y="1708643"/>
                <a:ext cx="316433" cy="369332"/>
              </a:xfrm>
              <a:prstGeom prst="rect">
                <a:avLst/>
              </a:prstGeom>
              <a:noFill/>
            </p:spPr>
            <p:txBody>
              <a:bodyPr wrap="none" rtlCol="0">
                <a:spAutoFit/>
              </a:bodyPr>
              <a:lstStyle/>
              <a:p>
                <a:r>
                  <a:rPr lang="en-US" dirty="0"/>
                  <a:t>1a</a:t>
                </a:r>
              </a:p>
            </p:txBody>
          </p:sp>
        </p:grpSp>
      </p:grpSp>
      <p:cxnSp>
        <p:nvCxnSpPr>
          <p:cNvPr id="67" name="Straight Connector 116"/>
          <p:cNvCxnSpPr>
            <a:stCxn id="15" idx="2"/>
            <a:endCxn id="29" idx="0"/>
          </p:cNvCxnSpPr>
          <p:nvPr/>
        </p:nvCxnSpPr>
        <p:spPr bwMode="auto">
          <a:xfrm>
            <a:off x="2386491" y="2912511"/>
            <a:ext cx="564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Straight Connector 117"/>
          <p:cNvCxnSpPr/>
          <p:nvPr/>
        </p:nvCxnSpPr>
        <p:spPr bwMode="auto">
          <a:xfrm>
            <a:off x="1682873" y="3318449"/>
            <a:ext cx="1606551"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Straight Connector 120"/>
          <p:cNvCxnSpPr>
            <a:stCxn id="16" idx="7"/>
          </p:cNvCxnSpPr>
          <p:nvPr/>
        </p:nvCxnSpPr>
        <p:spPr bwMode="auto">
          <a:xfrm>
            <a:off x="2764513" y="2824305"/>
            <a:ext cx="640056"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Straight Connector 123"/>
          <p:cNvCxnSpPr/>
          <p:nvPr/>
        </p:nvCxnSpPr>
        <p:spPr bwMode="auto">
          <a:xfrm>
            <a:off x="1539667" y="3456131"/>
            <a:ext cx="637236"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Straight Connector 128"/>
          <p:cNvCxnSpPr/>
          <p:nvPr/>
        </p:nvCxnSpPr>
        <p:spPr bwMode="auto">
          <a:xfrm flipH="1">
            <a:off x="2734292" y="3453369"/>
            <a:ext cx="677336"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132"/>
          <p:cNvCxnSpPr/>
          <p:nvPr/>
        </p:nvCxnSpPr>
        <p:spPr bwMode="auto">
          <a:xfrm flipH="1">
            <a:off x="1522973" y="2836773"/>
            <a:ext cx="677336"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73" name="Group 136"/>
          <p:cNvGrpSpPr/>
          <p:nvPr/>
        </p:nvGrpSpPr>
        <p:grpSpPr>
          <a:xfrm>
            <a:off x="4081931" y="1607760"/>
            <a:ext cx="3617044" cy="1853712"/>
            <a:chOff x="-2170772" y="2784954"/>
            <a:chExt cx="2712783" cy="1853712"/>
          </a:xfrm>
        </p:grpSpPr>
        <p:sp>
          <p:nvSpPr>
            <p:cNvPr id="74"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5" name="Group 138"/>
            <p:cNvGrpSpPr/>
            <p:nvPr/>
          </p:nvGrpSpPr>
          <p:grpSpPr>
            <a:xfrm>
              <a:off x="-1935370" y="2935816"/>
              <a:ext cx="2333625" cy="1590649"/>
              <a:chOff x="833331" y="2873352"/>
              <a:chExt cx="2333625" cy="1590649"/>
            </a:xfrm>
          </p:grpSpPr>
          <p:grpSp>
            <p:nvGrpSpPr>
              <p:cNvPr id="76" name="Group 139"/>
              <p:cNvGrpSpPr/>
              <p:nvPr/>
            </p:nvGrpSpPr>
            <p:grpSpPr>
              <a:xfrm>
                <a:off x="1736090" y="2873352"/>
                <a:ext cx="565150" cy="369332"/>
                <a:chOff x="1736090" y="2873352"/>
                <a:chExt cx="565150" cy="369332"/>
              </a:xfrm>
            </p:grpSpPr>
            <p:grpSp>
              <p:nvGrpSpPr>
                <p:cNvPr id="125" name="Group 327"/>
                <p:cNvGrpSpPr>
                  <a:grpSpLocks/>
                </p:cNvGrpSpPr>
                <p:nvPr/>
              </p:nvGrpSpPr>
              <p:grpSpPr bwMode="auto">
                <a:xfrm>
                  <a:off x="1736090" y="2893762"/>
                  <a:ext cx="565150" cy="292100"/>
                  <a:chOff x="1871277" y="1576300"/>
                  <a:chExt cx="1128371" cy="437861"/>
                </a:xfrm>
              </p:grpSpPr>
              <p:sp>
                <p:nvSpPr>
                  <p:cNvPr id="129" name="Oval 1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0" name="Rectangle 1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Oval 1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2" name="Freeform 1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3" name="Freeform 1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4" name="Freeform 1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5" name="Freeform 1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6" name="Straight Connector 199"/>
                  <p:cNvCxnSpPr>
                    <a:endCxn id="1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7" name="Straight Connector 2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6" name="Group 189"/>
                <p:cNvGrpSpPr/>
                <p:nvPr/>
              </p:nvGrpSpPr>
              <p:grpSpPr>
                <a:xfrm>
                  <a:off x="1770362" y="2873352"/>
                  <a:ext cx="414737" cy="369332"/>
                  <a:chOff x="667045" y="1708643"/>
                  <a:chExt cx="414737" cy="369332"/>
                </a:xfrm>
              </p:grpSpPr>
              <p:sp>
                <p:nvSpPr>
                  <p:cNvPr id="127" name="Oval 1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8" name="TextBox 127"/>
                  <p:cNvSpPr txBox="1"/>
                  <p:nvPr/>
                </p:nvSpPr>
                <p:spPr>
                  <a:xfrm>
                    <a:off x="667045" y="1708643"/>
                    <a:ext cx="329658" cy="369332"/>
                  </a:xfrm>
                  <a:prstGeom prst="rect">
                    <a:avLst/>
                  </a:prstGeom>
                  <a:noFill/>
                </p:spPr>
                <p:txBody>
                  <a:bodyPr wrap="none" rtlCol="0">
                    <a:spAutoFit/>
                  </a:bodyPr>
                  <a:lstStyle/>
                  <a:p>
                    <a:r>
                      <a:rPr lang="en-US" dirty="0"/>
                      <a:t>2b</a:t>
                    </a:r>
                  </a:p>
                </p:txBody>
              </p:sp>
            </p:grpSp>
          </p:grpSp>
          <p:grpSp>
            <p:nvGrpSpPr>
              <p:cNvPr id="77" name="Group 140"/>
              <p:cNvGrpSpPr/>
              <p:nvPr/>
            </p:nvGrpSpPr>
            <p:grpSpPr>
              <a:xfrm>
                <a:off x="1740320" y="4094669"/>
                <a:ext cx="565150" cy="369332"/>
                <a:chOff x="1736090" y="2873352"/>
                <a:chExt cx="565150" cy="369332"/>
              </a:xfrm>
            </p:grpSpPr>
            <p:grpSp>
              <p:nvGrpSpPr>
                <p:cNvPr id="112" name="Group 327"/>
                <p:cNvGrpSpPr>
                  <a:grpSpLocks/>
                </p:cNvGrpSpPr>
                <p:nvPr/>
              </p:nvGrpSpPr>
              <p:grpSpPr bwMode="auto">
                <a:xfrm>
                  <a:off x="1736090" y="2893762"/>
                  <a:ext cx="565150" cy="292100"/>
                  <a:chOff x="1871277" y="1576300"/>
                  <a:chExt cx="1128371" cy="437861"/>
                </a:xfrm>
              </p:grpSpPr>
              <p:sp>
                <p:nvSpPr>
                  <p:cNvPr id="116" name="Oval 1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7" name="Rectangle 18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Oval 18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9" name="Freeform 18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Freeform 18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Freeform 18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2" name="Freeform 18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3" name="Straight Connector 186"/>
                  <p:cNvCxnSpPr>
                    <a:endCxn id="1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4" name="Straight Connector 18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3" name="Group 176"/>
                <p:cNvGrpSpPr/>
                <p:nvPr/>
              </p:nvGrpSpPr>
              <p:grpSpPr>
                <a:xfrm>
                  <a:off x="1770362" y="2873352"/>
                  <a:ext cx="414737" cy="369332"/>
                  <a:chOff x="667045" y="1708643"/>
                  <a:chExt cx="414737" cy="369332"/>
                </a:xfrm>
              </p:grpSpPr>
              <p:sp>
                <p:nvSpPr>
                  <p:cNvPr id="114" name="Oval 17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5" name="TextBox 114"/>
                  <p:cNvSpPr txBox="1"/>
                  <p:nvPr/>
                </p:nvSpPr>
                <p:spPr>
                  <a:xfrm>
                    <a:off x="667045" y="1708643"/>
                    <a:ext cx="329658" cy="369332"/>
                  </a:xfrm>
                  <a:prstGeom prst="rect">
                    <a:avLst/>
                  </a:prstGeom>
                  <a:noFill/>
                </p:spPr>
                <p:txBody>
                  <a:bodyPr wrap="none" rtlCol="0">
                    <a:spAutoFit/>
                  </a:bodyPr>
                  <a:lstStyle/>
                  <a:p>
                    <a:r>
                      <a:rPr lang="en-US" dirty="0"/>
                      <a:t>2d</a:t>
                    </a:r>
                  </a:p>
                </p:txBody>
              </p:sp>
            </p:grpSp>
          </p:grpSp>
          <p:grpSp>
            <p:nvGrpSpPr>
              <p:cNvPr id="78" name="Group 141"/>
              <p:cNvGrpSpPr/>
              <p:nvPr/>
            </p:nvGrpSpPr>
            <p:grpSpPr>
              <a:xfrm>
                <a:off x="2601806" y="3485072"/>
                <a:ext cx="565150" cy="369332"/>
                <a:chOff x="1736090" y="2873352"/>
                <a:chExt cx="565150" cy="369332"/>
              </a:xfrm>
            </p:grpSpPr>
            <p:grpSp>
              <p:nvGrpSpPr>
                <p:cNvPr id="99" name="Group 327"/>
                <p:cNvGrpSpPr>
                  <a:grpSpLocks/>
                </p:cNvGrpSpPr>
                <p:nvPr/>
              </p:nvGrpSpPr>
              <p:grpSpPr bwMode="auto">
                <a:xfrm>
                  <a:off x="1736090" y="2893762"/>
                  <a:ext cx="565150" cy="292100"/>
                  <a:chOff x="1871277" y="1576300"/>
                  <a:chExt cx="1128371" cy="437861"/>
                </a:xfrm>
              </p:grpSpPr>
              <p:sp>
                <p:nvSpPr>
                  <p:cNvPr id="103" name="Oval 16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Rectangle 16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Oval 16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6" name="Freeform 16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7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8" name="Freeform 17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Freeform 17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0" name="Straight Connector 173"/>
                  <p:cNvCxnSpPr>
                    <a:endCxn id="1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1" name="Straight Connector 17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00" name="Group 163"/>
                <p:cNvGrpSpPr/>
                <p:nvPr/>
              </p:nvGrpSpPr>
              <p:grpSpPr>
                <a:xfrm>
                  <a:off x="1770362" y="2873352"/>
                  <a:ext cx="414737" cy="369332"/>
                  <a:chOff x="667045" y="1708643"/>
                  <a:chExt cx="414737" cy="369332"/>
                </a:xfrm>
              </p:grpSpPr>
              <p:sp>
                <p:nvSpPr>
                  <p:cNvPr id="101" name="Oval 16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2" name="TextBox 101"/>
                  <p:cNvSpPr txBox="1"/>
                  <p:nvPr/>
                </p:nvSpPr>
                <p:spPr>
                  <a:xfrm>
                    <a:off x="667045" y="1708643"/>
                    <a:ext cx="308018" cy="369332"/>
                  </a:xfrm>
                  <a:prstGeom prst="rect">
                    <a:avLst/>
                  </a:prstGeom>
                  <a:noFill/>
                </p:spPr>
                <p:txBody>
                  <a:bodyPr wrap="none" rtlCol="0">
                    <a:spAutoFit/>
                  </a:bodyPr>
                  <a:lstStyle/>
                  <a:p>
                    <a:r>
                      <a:rPr lang="en-US" dirty="0"/>
                      <a:t>2c</a:t>
                    </a:r>
                  </a:p>
                </p:txBody>
              </p:sp>
            </p:grpSp>
          </p:grpSp>
          <p:grpSp>
            <p:nvGrpSpPr>
              <p:cNvPr id="79" name="Group 142"/>
              <p:cNvGrpSpPr/>
              <p:nvPr/>
            </p:nvGrpSpPr>
            <p:grpSpPr>
              <a:xfrm>
                <a:off x="833331" y="3478719"/>
                <a:ext cx="565150" cy="369332"/>
                <a:chOff x="1736090" y="2873352"/>
                <a:chExt cx="565150" cy="369332"/>
              </a:xfrm>
            </p:grpSpPr>
            <p:grpSp>
              <p:nvGrpSpPr>
                <p:cNvPr id="86" name="Group 327"/>
                <p:cNvGrpSpPr>
                  <a:grpSpLocks/>
                </p:cNvGrpSpPr>
                <p:nvPr/>
              </p:nvGrpSpPr>
              <p:grpSpPr bwMode="auto">
                <a:xfrm>
                  <a:off x="1736090" y="2893762"/>
                  <a:ext cx="565150" cy="292100"/>
                  <a:chOff x="1871277" y="1576300"/>
                  <a:chExt cx="1128371" cy="437861"/>
                </a:xfrm>
              </p:grpSpPr>
              <p:sp>
                <p:nvSpPr>
                  <p:cNvPr id="90"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Rectangle 15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Oval 15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Freeform 15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Freeform 15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15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15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7" name="Straight Connector 160"/>
                  <p:cNvCxnSpPr>
                    <a:endCxn id="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8" name="Straight Connector 16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7" name="Group 150"/>
                <p:cNvGrpSpPr/>
                <p:nvPr/>
              </p:nvGrpSpPr>
              <p:grpSpPr>
                <a:xfrm>
                  <a:off x="1770362" y="2873352"/>
                  <a:ext cx="414737" cy="369332"/>
                  <a:chOff x="667045" y="1708643"/>
                  <a:chExt cx="414737" cy="369332"/>
                </a:xfrm>
              </p:grpSpPr>
              <p:sp>
                <p:nvSpPr>
                  <p:cNvPr id="88" name="Oval 15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9" name="TextBox 88"/>
                  <p:cNvSpPr txBox="1"/>
                  <p:nvPr/>
                </p:nvSpPr>
                <p:spPr>
                  <a:xfrm>
                    <a:off x="667045" y="1708643"/>
                    <a:ext cx="316433" cy="369332"/>
                  </a:xfrm>
                  <a:prstGeom prst="rect">
                    <a:avLst/>
                  </a:prstGeom>
                  <a:noFill/>
                </p:spPr>
                <p:txBody>
                  <a:bodyPr wrap="none" rtlCol="0">
                    <a:spAutoFit/>
                  </a:bodyPr>
                  <a:lstStyle/>
                  <a:p>
                    <a:r>
                      <a:rPr lang="en-US" dirty="0"/>
                      <a:t>2a</a:t>
                    </a:r>
                  </a:p>
                </p:txBody>
              </p:sp>
            </p:grpSp>
          </p:grpSp>
          <p:cxnSp>
            <p:nvCxnSpPr>
              <p:cNvPr id="80" name="Straight Connector 143"/>
              <p:cNvCxnSpPr>
                <a:stCxn id="128" idx="2"/>
                <a:endCxn id="115" idx="0"/>
              </p:cNvCxnSpPr>
              <p:nvPr/>
            </p:nvCxnSpPr>
            <p:spPr bwMode="auto">
              <a:xfrm>
                <a:off x="1935191"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Straight Connector 144"/>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Straight Connector 145"/>
              <p:cNvCxnSpPr>
                <a:stCxn id="129"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Straight Connector 146"/>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 name="Straight Connector 147"/>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Straight Connector 148"/>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38" name="Group 201"/>
          <p:cNvGrpSpPr/>
          <p:nvPr/>
        </p:nvGrpSpPr>
        <p:grpSpPr>
          <a:xfrm>
            <a:off x="7643657" y="2426439"/>
            <a:ext cx="3617044" cy="1853712"/>
            <a:chOff x="-2170772" y="2784954"/>
            <a:chExt cx="2712783" cy="1853712"/>
          </a:xfrm>
        </p:grpSpPr>
        <p:sp>
          <p:nvSpPr>
            <p:cNvPr id="139"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40" name="Group 203"/>
            <p:cNvGrpSpPr/>
            <p:nvPr/>
          </p:nvGrpSpPr>
          <p:grpSpPr>
            <a:xfrm>
              <a:off x="-1935370" y="2935816"/>
              <a:ext cx="2333625" cy="1590649"/>
              <a:chOff x="833331" y="2873352"/>
              <a:chExt cx="2333625" cy="1590649"/>
            </a:xfrm>
          </p:grpSpPr>
          <p:grpSp>
            <p:nvGrpSpPr>
              <p:cNvPr id="141" name="Group 204"/>
              <p:cNvGrpSpPr/>
              <p:nvPr/>
            </p:nvGrpSpPr>
            <p:grpSpPr>
              <a:xfrm>
                <a:off x="1736090" y="2873352"/>
                <a:ext cx="565150" cy="369332"/>
                <a:chOff x="1736090" y="2873352"/>
                <a:chExt cx="565150" cy="369332"/>
              </a:xfrm>
            </p:grpSpPr>
            <p:grpSp>
              <p:nvGrpSpPr>
                <p:cNvPr id="190" name="Group 327"/>
                <p:cNvGrpSpPr>
                  <a:grpSpLocks/>
                </p:cNvGrpSpPr>
                <p:nvPr/>
              </p:nvGrpSpPr>
              <p:grpSpPr bwMode="auto">
                <a:xfrm>
                  <a:off x="1736090" y="2893762"/>
                  <a:ext cx="565150" cy="292100"/>
                  <a:chOff x="1871277" y="1576300"/>
                  <a:chExt cx="1128371" cy="437861"/>
                </a:xfrm>
              </p:grpSpPr>
              <p:sp>
                <p:nvSpPr>
                  <p:cNvPr id="194" name="Oval 25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5" name="Rectangle 25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Oval 25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7" name="Freeform 26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26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Freeform 26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0" name="Freeform 26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1" name="Straight Connector 264"/>
                  <p:cNvCxnSpPr>
                    <a:endCxn id="19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2" name="Straight Connector 26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1" name="Group 254"/>
                <p:cNvGrpSpPr/>
                <p:nvPr/>
              </p:nvGrpSpPr>
              <p:grpSpPr>
                <a:xfrm>
                  <a:off x="1770362" y="2873352"/>
                  <a:ext cx="414737" cy="369332"/>
                  <a:chOff x="667045" y="1708643"/>
                  <a:chExt cx="414737" cy="369332"/>
                </a:xfrm>
              </p:grpSpPr>
              <p:sp>
                <p:nvSpPr>
                  <p:cNvPr id="192" name="Oval 25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p:cNvSpPr txBox="1"/>
                  <p:nvPr/>
                </p:nvSpPr>
                <p:spPr>
                  <a:xfrm>
                    <a:off x="667045" y="1708643"/>
                    <a:ext cx="329658" cy="369332"/>
                  </a:xfrm>
                  <a:prstGeom prst="rect">
                    <a:avLst/>
                  </a:prstGeom>
                  <a:noFill/>
                </p:spPr>
                <p:txBody>
                  <a:bodyPr wrap="none" rtlCol="0">
                    <a:spAutoFit/>
                  </a:bodyPr>
                  <a:lstStyle/>
                  <a:p>
                    <a:r>
                      <a:rPr lang="en-US" dirty="0"/>
                      <a:t>3b</a:t>
                    </a:r>
                  </a:p>
                </p:txBody>
              </p:sp>
            </p:grpSp>
          </p:grpSp>
          <p:grpSp>
            <p:nvGrpSpPr>
              <p:cNvPr id="142" name="Group 205"/>
              <p:cNvGrpSpPr/>
              <p:nvPr/>
            </p:nvGrpSpPr>
            <p:grpSpPr>
              <a:xfrm>
                <a:off x="1740320" y="4094669"/>
                <a:ext cx="565150" cy="369332"/>
                <a:chOff x="1736090" y="2873352"/>
                <a:chExt cx="565150" cy="369332"/>
              </a:xfrm>
            </p:grpSpPr>
            <p:grpSp>
              <p:nvGrpSpPr>
                <p:cNvPr id="177" name="Group 327"/>
                <p:cNvGrpSpPr>
                  <a:grpSpLocks/>
                </p:cNvGrpSpPr>
                <p:nvPr/>
              </p:nvGrpSpPr>
              <p:grpSpPr bwMode="auto">
                <a:xfrm>
                  <a:off x="1736090" y="2893762"/>
                  <a:ext cx="565150" cy="292100"/>
                  <a:chOff x="1871277" y="1576300"/>
                  <a:chExt cx="1128371" cy="437861"/>
                </a:xfrm>
              </p:grpSpPr>
              <p:sp>
                <p:nvSpPr>
                  <p:cNvPr id="181"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2" name="Rectangle 24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Oval 24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4" name="Freeform 24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5" name="Freeform 24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24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7" name="Freeform 25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8" name="Straight Connector 251"/>
                  <p:cNvCxnSpPr>
                    <a:endCxn id="18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9" name="Straight Connector 25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8" name="Group 241"/>
                <p:cNvGrpSpPr/>
                <p:nvPr/>
              </p:nvGrpSpPr>
              <p:grpSpPr>
                <a:xfrm>
                  <a:off x="1770362" y="2873352"/>
                  <a:ext cx="414737" cy="369332"/>
                  <a:chOff x="667045" y="1708643"/>
                  <a:chExt cx="414737" cy="369332"/>
                </a:xfrm>
              </p:grpSpPr>
              <p:sp>
                <p:nvSpPr>
                  <p:cNvPr id="179" name="Oval 24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0" name="TextBox 179"/>
                  <p:cNvSpPr txBox="1"/>
                  <p:nvPr/>
                </p:nvSpPr>
                <p:spPr>
                  <a:xfrm>
                    <a:off x="667045" y="1708643"/>
                    <a:ext cx="329658" cy="369332"/>
                  </a:xfrm>
                  <a:prstGeom prst="rect">
                    <a:avLst/>
                  </a:prstGeom>
                  <a:noFill/>
                </p:spPr>
                <p:txBody>
                  <a:bodyPr wrap="none" rtlCol="0">
                    <a:spAutoFit/>
                  </a:bodyPr>
                  <a:lstStyle/>
                  <a:p>
                    <a:r>
                      <a:rPr lang="en-US" dirty="0"/>
                      <a:t>3d</a:t>
                    </a:r>
                  </a:p>
                </p:txBody>
              </p:sp>
            </p:grpSp>
          </p:grpSp>
          <p:grpSp>
            <p:nvGrpSpPr>
              <p:cNvPr id="143" name="Group 206"/>
              <p:cNvGrpSpPr/>
              <p:nvPr/>
            </p:nvGrpSpPr>
            <p:grpSpPr>
              <a:xfrm>
                <a:off x="2601806" y="3485072"/>
                <a:ext cx="565150" cy="369332"/>
                <a:chOff x="1736090" y="2873352"/>
                <a:chExt cx="565150" cy="369332"/>
              </a:xfrm>
            </p:grpSpPr>
            <p:grpSp>
              <p:nvGrpSpPr>
                <p:cNvPr id="164" name="Group 327"/>
                <p:cNvGrpSpPr>
                  <a:grpSpLocks/>
                </p:cNvGrpSpPr>
                <p:nvPr/>
              </p:nvGrpSpPr>
              <p:grpSpPr bwMode="auto">
                <a:xfrm>
                  <a:off x="1736090" y="2893762"/>
                  <a:ext cx="565150" cy="292100"/>
                  <a:chOff x="1871277" y="1576300"/>
                  <a:chExt cx="1128371" cy="437861"/>
                </a:xfrm>
              </p:grpSpPr>
              <p:sp>
                <p:nvSpPr>
                  <p:cNvPr id="168" name="Oval 23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9" name="Rectangle 23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Oval 23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1" name="Freeform 23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2" name="Freeform 23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3" name="Freeform 23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4"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5" name="Straight Connector 238"/>
                  <p:cNvCxnSpPr>
                    <a:endCxn id="17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6" name="Straight Connector 23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5" name="Group 228"/>
                <p:cNvGrpSpPr/>
                <p:nvPr/>
              </p:nvGrpSpPr>
              <p:grpSpPr>
                <a:xfrm>
                  <a:off x="1770362" y="2873352"/>
                  <a:ext cx="414737" cy="369332"/>
                  <a:chOff x="667045" y="1708643"/>
                  <a:chExt cx="414737" cy="369332"/>
                </a:xfrm>
              </p:grpSpPr>
              <p:sp>
                <p:nvSpPr>
                  <p:cNvPr id="166" name="Oval 22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7" name="TextBox 166"/>
                  <p:cNvSpPr txBox="1"/>
                  <p:nvPr/>
                </p:nvSpPr>
                <p:spPr>
                  <a:xfrm>
                    <a:off x="667045" y="1708643"/>
                    <a:ext cx="308018" cy="369332"/>
                  </a:xfrm>
                  <a:prstGeom prst="rect">
                    <a:avLst/>
                  </a:prstGeom>
                  <a:noFill/>
                </p:spPr>
                <p:txBody>
                  <a:bodyPr wrap="none" rtlCol="0">
                    <a:spAutoFit/>
                  </a:bodyPr>
                  <a:lstStyle/>
                  <a:p>
                    <a:r>
                      <a:rPr lang="en-US" dirty="0"/>
                      <a:t>3c</a:t>
                    </a:r>
                  </a:p>
                </p:txBody>
              </p:sp>
            </p:grpSp>
          </p:grpSp>
          <p:grpSp>
            <p:nvGrpSpPr>
              <p:cNvPr id="144" name="Group 207"/>
              <p:cNvGrpSpPr/>
              <p:nvPr/>
            </p:nvGrpSpPr>
            <p:grpSpPr>
              <a:xfrm>
                <a:off x="833331" y="3478719"/>
                <a:ext cx="565150" cy="369332"/>
                <a:chOff x="1736090" y="2873352"/>
                <a:chExt cx="565150" cy="369332"/>
              </a:xfrm>
            </p:grpSpPr>
            <p:grpSp>
              <p:nvGrpSpPr>
                <p:cNvPr id="151" name="Group 327"/>
                <p:cNvGrpSpPr>
                  <a:grpSpLocks/>
                </p:cNvGrpSpPr>
                <p:nvPr/>
              </p:nvGrpSpPr>
              <p:grpSpPr bwMode="auto">
                <a:xfrm>
                  <a:off x="1736090" y="2893762"/>
                  <a:ext cx="565150" cy="292100"/>
                  <a:chOff x="1871277" y="1576300"/>
                  <a:chExt cx="1128371" cy="437861"/>
                </a:xfrm>
              </p:grpSpPr>
              <p:sp>
                <p:nvSpPr>
                  <p:cNvPr id="155" name="Oval 21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6" name="Rectangle 21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Oval 22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8" name="Freeform 22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22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0" name="Freeform 22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1" name="Freeform 22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2" name="Straight Connector 225"/>
                  <p:cNvCxnSpPr>
                    <a:endCxn id="15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3" name="Straight Connector 22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2" name="Group 215"/>
                <p:cNvGrpSpPr/>
                <p:nvPr/>
              </p:nvGrpSpPr>
              <p:grpSpPr>
                <a:xfrm>
                  <a:off x="1770362" y="2873352"/>
                  <a:ext cx="414737" cy="369332"/>
                  <a:chOff x="667045" y="1708643"/>
                  <a:chExt cx="414737" cy="369332"/>
                </a:xfrm>
              </p:grpSpPr>
              <p:sp>
                <p:nvSpPr>
                  <p:cNvPr id="153" name="Oval 21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4" name="TextBox 153"/>
                  <p:cNvSpPr txBox="1"/>
                  <p:nvPr/>
                </p:nvSpPr>
                <p:spPr>
                  <a:xfrm>
                    <a:off x="667045" y="1708643"/>
                    <a:ext cx="316433" cy="369332"/>
                  </a:xfrm>
                  <a:prstGeom prst="rect">
                    <a:avLst/>
                  </a:prstGeom>
                  <a:noFill/>
                </p:spPr>
                <p:txBody>
                  <a:bodyPr wrap="none" rtlCol="0">
                    <a:spAutoFit/>
                  </a:bodyPr>
                  <a:lstStyle/>
                  <a:p>
                    <a:r>
                      <a:rPr lang="en-US" dirty="0"/>
                      <a:t>3a</a:t>
                    </a:r>
                  </a:p>
                </p:txBody>
              </p:sp>
            </p:grpSp>
          </p:grpSp>
          <p:cxnSp>
            <p:nvCxnSpPr>
              <p:cNvPr id="145" name="Straight Connector 208"/>
              <p:cNvCxnSpPr>
                <a:stCxn id="193" idx="2"/>
                <a:endCxn id="180" idx="0"/>
              </p:cNvCxnSpPr>
              <p:nvPr/>
            </p:nvCxnSpPr>
            <p:spPr bwMode="auto">
              <a:xfrm>
                <a:off x="1935191"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20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210"/>
              <p:cNvCxnSpPr>
                <a:stCxn id="194"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21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21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21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203" name="Straight Connector 267"/>
          <p:cNvCxnSpPr/>
          <p:nvPr/>
        </p:nvCxnSpPr>
        <p:spPr bwMode="auto">
          <a:xfrm flipH="1">
            <a:off x="3886201" y="2667267"/>
            <a:ext cx="660617" cy="49545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4" name="Straight Connector 269"/>
          <p:cNvCxnSpPr>
            <a:endCxn id="103" idx="7"/>
          </p:cNvCxnSpPr>
          <p:nvPr/>
        </p:nvCxnSpPr>
        <p:spPr bwMode="auto">
          <a:xfrm flipH="1" flipV="1">
            <a:off x="7397258" y="2651468"/>
            <a:ext cx="665261" cy="573893"/>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 name="TextBox 204"/>
          <p:cNvSpPr txBox="1"/>
          <p:nvPr/>
        </p:nvSpPr>
        <p:spPr>
          <a:xfrm>
            <a:off x="5533636" y="3456813"/>
            <a:ext cx="684803" cy="400110"/>
          </a:xfrm>
          <a:prstGeom prst="rect">
            <a:avLst/>
          </a:prstGeom>
          <a:noFill/>
        </p:spPr>
        <p:txBody>
          <a:bodyPr wrap="none" rtlCol="0">
            <a:spAutoFit/>
          </a:bodyPr>
          <a:lstStyle/>
          <a:p>
            <a:r>
              <a:rPr lang="en-US" sz="2000" dirty="0">
                <a:solidFill>
                  <a:srgbClr val="000090"/>
                </a:solidFill>
              </a:rPr>
              <a:t>AS 2</a:t>
            </a:r>
          </a:p>
        </p:txBody>
      </p:sp>
      <p:sp>
        <p:nvSpPr>
          <p:cNvPr id="206" name="TextBox 205"/>
          <p:cNvSpPr txBox="1"/>
          <p:nvPr/>
        </p:nvSpPr>
        <p:spPr>
          <a:xfrm>
            <a:off x="9103350" y="4303400"/>
            <a:ext cx="684803" cy="400110"/>
          </a:xfrm>
          <a:prstGeom prst="rect">
            <a:avLst/>
          </a:prstGeom>
          <a:noFill/>
        </p:spPr>
        <p:txBody>
          <a:bodyPr wrap="none" rtlCol="0">
            <a:spAutoFit/>
          </a:bodyPr>
          <a:lstStyle/>
          <a:p>
            <a:r>
              <a:rPr lang="en-US" sz="2000" dirty="0"/>
              <a:t>AS 3</a:t>
            </a:r>
          </a:p>
        </p:txBody>
      </p:sp>
      <p:sp>
        <p:nvSpPr>
          <p:cNvPr id="207" name="TextBox 206"/>
          <p:cNvSpPr txBox="1"/>
          <p:nvPr/>
        </p:nvSpPr>
        <p:spPr>
          <a:xfrm>
            <a:off x="2163948" y="4287998"/>
            <a:ext cx="684803" cy="400110"/>
          </a:xfrm>
          <a:prstGeom prst="rect">
            <a:avLst/>
          </a:prstGeom>
          <a:noFill/>
        </p:spPr>
        <p:txBody>
          <a:bodyPr wrap="none" rtlCol="0">
            <a:spAutoFit/>
          </a:bodyPr>
          <a:lstStyle/>
          <a:p>
            <a:r>
              <a:rPr lang="en-US" sz="2000" dirty="0">
                <a:solidFill>
                  <a:srgbClr val="000090"/>
                </a:solidFill>
              </a:rPr>
              <a:t>AS 1</a:t>
            </a:r>
          </a:p>
        </p:txBody>
      </p:sp>
      <p:grpSp>
        <p:nvGrpSpPr>
          <p:cNvPr id="208" name="Group 5"/>
          <p:cNvGrpSpPr/>
          <p:nvPr/>
        </p:nvGrpSpPr>
        <p:grpSpPr>
          <a:xfrm>
            <a:off x="1218778" y="2105413"/>
            <a:ext cx="7645767" cy="3959125"/>
            <a:chOff x="1020408" y="2368720"/>
            <a:chExt cx="5734325" cy="3959125"/>
          </a:xfrm>
        </p:grpSpPr>
        <p:grpSp>
          <p:nvGrpSpPr>
            <p:cNvPr id="209" name="Group 3"/>
            <p:cNvGrpSpPr/>
            <p:nvPr/>
          </p:nvGrpSpPr>
          <p:grpSpPr>
            <a:xfrm>
              <a:off x="1020408" y="2368720"/>
              <a:ext cx="5734325" cy="3959125"/>
              <a:chOff x="1020408" y="2368720"/>
              <a:chExt cx="5734325" cy="3959125"/>
            </a:xfrm>
          </p:grpSpPr>
          <p:grpSp>
            <p:nvGrpSpPr>
              <p:cNvPr id="211" name="Group 270"/>
              <p:cNvGrpSpPr/>
              <p:nvPr/>
            </p:nvGrpSpPr>
            <p:grpSpPr>
              <a:xfrm>
                <a:off x="1146544" y="5725901"/>
                <a:ext cx="565150" cy="400110"/>
                <a:chOff x="1736090" y="2873352"/>
                <a:chExt cx="565150" cy="400110"/>
              </a:xfrm>
            </p:grpSpPr>
            <p:grpSp>
              <p:nvGrpSpPr>
                <p:cNvPr id="217" name="Group 327"/>
                <p:cNvGrpSpPr>
                  <a:grpSpLocks/>
                </p:cNvGrpSpPr>
                <p:nvPr/>
              </p:nvGrpSpPr>
              <p:grpSpPr bwMode="auto">
                <a:xfrm>
                  <a:off x="1736090" y="2893762"/>
                  <a:ext cx="565150" cy="292100"/>
                  <a:chOff x="1871277" y="1576300"/>
                  <a:chExt cx="1128371" cy="437861"/>
                </a:xfrm>
              </p:grpSpPr>
              <p:sp>
                <p:nvSpPr>
                  <p:cNvPr id="221" name="Oval 2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22" name="Rectangle 28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3" name="Oval 28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24" name="Freeform 28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5" name="Freeform 28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6" name="Freeform 29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7" name="Freeform 29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28" name="Straight Connector 292"/>
                  <p:cNvCxnSpPr>
                    <a:endCxn id="22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9" name="Straight Connector 29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8" name="Group 274"/>
                <p:cNvGrpSpPr/>
                <p:nvPr/>
              </p:nvGrpSpPr>
              <p:grpSpPr>
                <a:xfrm>
                  <a:off x="1770362" y="2873352"/>
                  <a:ext cx="414737" cy="400110"/>
                  <a:chOff x="667045" y="1708643"/>
                  <a:chExt cx="414737" cy="400110"/>
                </a:xfrm>
              </p:grpSpPr>
              <p:sp>
                <p:nvSpPr>
                  <p:cNvPr id="219" name="Oval 2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20" name="TextBox 219"/>
                  <p:cNvSpPr txBox="1"/>
                  <p:nvPr/>
                </p:nvSpPr>
                <p:spPr>
                  <a:xfrm>
                    <a:off x="667045" y="1708643"/>
                    <a:ext cx="326051" cy="400110"/>
                  </a:xfrm>
                  <a:prstGeom prst="rect">
                    <a:avLst/>
                  </a:prstGeom>
                  <a:noFill/>
                </p:spPr>
                <p:txBody>
                  <a:bodyPr wrap="none" rtlCol="0">
                    <a:spAutoFit/>
                  </a:bodyPr>
                  <a:lstStyle/>
                  <a:p>
                    <a:r>
                      <a:rPr lang="en-US" sz="2000" dirty="0"/>
                      <a:t>1c</a:t>
                    </a:r>
                  </a:p>
                </p:txBody>
              </p:sp>
            </p:grpSp>
          </p:grpSp>
          <p:sp>
            <p:nvSpPr>
              <p:cNvPr id="212" name="Oval 2"/>
              <p:cNvSpPr/>
              <p:nvPr/>
            </p:nvSpPr>
            <p:spPr bwMode="auto">
              <a:xfrm>
                <a:off x="1020408" y="551134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3" name="Oval 294"/>
              <p:cNvSpPr/>
              <p:nvPr/>
            </p:nvSpPr>
            <p:spPr bwMode="auto">
              <a:xfrm>
                <a:off x="2442651" y="319158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4" name="Oval 295"/>
              <p:cNvSpPr/>
              <p:nvPr/>
            </p:nvSpPr>
            <p:spPr bwMode="auto">
              <a:xfrm>
                <a:off x="3252649" y="236872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5" name="Oval 296"/>
              <p:cNvSpPr/>
              <p:nvPr/>
            </p:nvSpPr>
            <p:spPr bwMode="auto">
              <a:xfrm>
                <a:off x="5037704" y="245307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6" name="Oval 297"/>
              <p:cNvSpPr/>
              <p:nvPr/>
            </p:nvSpPr>
            <p:spPr bwMode="auto">
              <a:xfrm>
                <a:off x="5915729" y="3217852"/>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grpSp>
        <p:sp>
          <p:nvSpPr>
            <p:cNvPr id="210" name="TextBox 209"/>
            <p:cNvSpPr txBox="1"/>
            <p:nvPr/>
          </p:nvSpPr>
          <p:spPr>
            <a:xfrm>
              <a:off x="2018144" y="5692792"/>
              <a:ext cx="4430502" cy="400110"/>
            </a:xfrm>
            <a:prstGeom prst="rect">
              <a:avLst/>
            </a:prstGeom>
            <a:noFill/>
          </p:spPr>
          <p:txBody>
            <a:bodyPr wrap="square" rtlCol="0">
              <a:spAutoFit/>
            </a:bodyPr>
            <a:lstStyle/>
            <a:p>
              <a:r>
                <a:rPr lang="zh-CN" altLang="en-US" sz="2000" dirty="0">
                  <a:latin typeface="微软雅黑" pitchFamily="34" charset="-122"/>
                  <a:ea typeface="微软雅黑" pitchFamily="34" charset="-122"/>
                  <a:cs typeface="Times New Roman" panose="02020603050405020304" pitchFamily="18" charset="0"/>
                </a:rPr>
                <a:t>运行</a:t>
              </a:r>
              <a:r>
                <a:rPr lang="en-US" sz="2000" dirty="0" err="1">
                  <a:latin typeface="微软雅黑" pitchFamily="34" charset="-122"/>
                  <a:ea typeface="微软雅黑" pitchFamily="34" charset="-122"/>
                  <a:cs typeface="Times New Roman" panose="02020603050405020304" pitchFamily="18" charset="0"/>
                </a:rPr>
                <a:t>eBGP</a:t>
              </a:r>
              <a:r>
                <a:rPr lang="en-US" sz="2000" dirty="0">
                  <a:latin typeface="微软雅黑" pitchFamily="34" charset="-122"/>
                  <a:ea typeface="微软雅黑" pitchFamily="34" charset="-122"/>
                  <a:cs typeface="Times New Roman" panose="02020603050405020304" pitchFamily="18" charset="0"/>
                </a:rPr>
                <a:t>, </a:t>
              </a:r>
              <a:r>
                <a:rPr lang="en-US" sz="2000" dirty="0" err="1">
                  <a:latin typeface="微软雅黑" pitchFamily="34" charset="-122"/>
                  <a:ea typeface="微软雅黑" pitchFamily="34" charset="-122"/>
                  <a:cs typeface="Times New Roman" panose="02020603050405020304" pitchFamily="18" charset="0"/>
                </a:rPr>
                <a:t>iBGP</a:t>
              </a:r>
              <a:r>
                <a:rPr lang="zh-CN" altLang="en-US" sz="2000" dirty="0">
                  <a:latin typeface="微软雅黑" pitchFamily="34" charset="-122"/>
                  <a:ea typeface="微软雅黑" pitchFamily="34" charset="-122"/>
                  <a:cs typeface="Times New Roman" panose="02020603050405020304" pitchFamily="18" charset="0"/>
                </a:rPr>
                <a:t>协议和</a:t>
              </a:r>
              <a:r>
                <a:rPr lang="en-US" sz="2000" dirty="0">
                  <a:latin typeface="微软雅黑" pitchFamily="34" charset="-122"/>
                  <a:ea typeface="微软雅黑" pitchFamily="34" charset="-122"/>
                  <a:cs typeface="Times New Roman" panose="02020603050405020304" pitchFamily="18" charset="0"/>
                </a:rPr>
                <a:t>IGP</a:t>
              </a:r>
              <a:r>
                <a:rPr lang="zh-CN" altLang="en-US" sz="2000" dirty="0">
                  <a:latin typeface="微软雅黑" pitchFamily="34" charset="-122"/>
                  <a:ea typeface="微软雅黑" pitchFamily="34" charset="-122"/>
                  <a:cs typeface="Times New Roman" panose="02020603050405020304" pitchFamily="18" charset="0"/>
                </a:rPr>
                <a:t>的路由器</a:t>
              </a:r>
              <a:endParaRPr lang="en-US" sz="2000" dirty="0">
                <a:latin typeface="微软雅黑" pitchFamily="34" charset="-122"/>
                <a:ea typeface="微软雅黑" pitchFamily="34" charset="-122"/>
                <a:cs typeface="Times New Roman" panose="02020603050405020304" pitchFamily="18" charset="0"/>
              </a:endParaRPr>
            </a:p>
          </p:txBody>
        </p:sp>
      </p:grpSp>
      <p:sp>
        <p:nvSpPr>
          <p:cNvPr id="230" name="日期占位符 229"/>
          <p:cNvSpPr>
            <a:spLocks noGrp="1"/>
          </p:cNvSpPr>
          <p:nvPr>
            <p:ph type="dt" sz="half" idx="10"/>
          </p:nvPr>
        </p:nvSpPr>
        <p:spPr>
          <a:xfrm>
            <a:off x="197334" y="6489303"/>
            <a:ext cx="2875625" cy="365125"/>
          </a:xfrm>
        </p:spPr>
        <p:txBody>
          <a:bodyPr/>
          <a:lstStyle/>
          <a:p>
            <a:r>
              <a:rPr kumimoji="1" lang="en-US" altLang="zh-CN" dirty="0"/>
              <a:t>5.7.3 BGP-</a:t>
            </a:r>
            <a:r>
              <a:rPr kumimoji="1" lang="zh-CN" altLang="en-US" dirty="0"/>
              <a:t>外部网关路由协议</a:t>
            </a:r>
          </a:p>
        </p:txBody>
      </p:sp>
      <p:pic>
        <p:nvPicPr>
          <p:cNvPr id="231" name="Picture 28" descr="015">
            <a:extLst>
              <a:ext uri="{FF2B5EF4-FFF2-40B4-BE49-F238E27FC236}">
                <a16:creationId xmlns:a16="http://schemas.microsoft.com/office/drawing/2014/main" id="{0BCE05AE-F1B4-4446-AD5C-5C24A76AFED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1742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8"/>
                                        </p:tgtEl>
                                        <p:attrNameLst>
                                          <p:attrName>style.visibility</p:attrName>
                                        </p:attrNameLst>
                                      </p:cBhvr>
                                      <p:to>
                                        <p:strVal val="visible"/>
                                      </p:to>
                                    </p:set>
                                    <p:animEffect transition="in" filter="dissolve">
                                      <p:cBhvr>
                                        <p:cTn id="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基础</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176</a:t>
            </a:fld>
            <a:endParaRPr kumimoji="1" lang="zh-CN" altLang="en-US" dirty="0"/>
          </a:p>
        </p:txBody>
      </p:sp>
      <p:sp>
        <p:nvSpPr>
          <p:cNvPr id="5" name="Rectangle 116"/>
          <p:cNvSpPr>
            <a:spLocks noChangeArrowheads="1"/>
          </p:cNvSpPr>
          <p:nvPr/>
        </p:nvSpPr>
        <p:spPr bwMode="auto">
          <a:xfrm>
            <a:off x="837083" y="1516518"/>
            <a:ext cx="10516717" cy="204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a:lnSpc>
                <a:spcPct val="120000"/>
              </a:lnSpc>
              <a:spcBef>
                <a:spcPts val="600"/>
              </a:spcBef>
              <a:buFont typeface="Wingdings" pitchFamily="2" charset="2"/>
              <a:buChar char="Ø"/>
              <a:defRPr/>
            </a:pPr>
            <a:r>
              <a:rPr lang="en-US" altLang="zh-CN" sz="2400" dirty="0">
                <a:latin typeface="微软雅黑" pitchFamily="34" charset="-122"/>
                <a:ea typeface="微软雅黑" pitchFamily="34" charset="-122"/>
                <a:cs typeface="Times New Roman" panose="02020603050405020304" pitchFamily="18" charset="0"/>
              </a:rPr>
              <a:t>BGP</a:t>
            </a:r>
            <a:r>
              <a:rPr lang="zh-CN" altLang="en-US" sz="2400" dirty="0">
                <a:solidFill>
                  <a:srgbClr val="C00000"/>
                </a:solidFill>
                <a:latin typeface="微软雅黑" pitchFamily="34" charset="-122"/>
                <a:ea typeface="微软雅黑" pitchFamily="34" charset="-122"/>
                <a:cs typeface="Times New Roman" panose="02020603050405020304" pitchFamily="18" charset="0"/>
              </a:rPr>
              <a:t>会话</a:t>
            </a:r>
            <a:r>
              <a:rPr lang="en-US" altLang="zh-CN" sz="2400" dirty="0">
                <a:solidFill>
                  <a:srgbClr val="CC0000"/>
                </a:solidFill>
                <a:latin typeface="微软雅黑" pitchFamily="34" charset="-122"/>
                <a:ea typeface="微软雅黑" pitchFamily="34" charset="-122"/>
                <a:cs typeface="Times New Roman" panose="02020603050405020304" pitchFamily="18" charset="0"/>
              </a:rPr>
              <a:t>:</a:t>
            </a:r>
            <a:r>
              <a:rPr lang="en-US" altLang="zh-CN" sz="2400" dirty="0">
                <a:solidFill>
                  <a:srgbClr val="FF0000"/>
                </a:solidFill>
                <a:latin typeface="微软雅黑" pitchFamily="34" charset="-122"/>
                <a:ea typeface="微软雅黑" pitchFamily="34" charset="-122"/>
                <a:cs typeface="Times New Roman" panose="02020603050405020304" pitchFamily="18" charset="0"/>
              </a:rPr>
              <a:t> </a:t>
            </a:r>
            <a:r>
              <a:rPr lang="zh-CN" altLang="en-US" sz="2400" dirty="0">
                <a:solidFill>
                  <a:srgbClr val="C00000"/>
                </a:solidFill>
                <a:latin typeface="微软雅黑" pitchFamily="34" charset="-122"/>
                <a:ea typeface="微软雅黑" pitchFamily="34" charset="-122"/>
                <a:cs typeface="Times New Roman" panose="02020603050405020304" pitchFamily="18" charset="0"/>
              </a:rPr>
              <a:t>两个</a:t>
            </a:r>
            <a:r>
              <a:rPr lang="en-US" altLang="zh-CN" sz="2400" dirty="0">
                <a:solidFill>
                  <a:srgbClr val="C00000"/>
                </a:solidFill>
                <a:latin typeface="微软雅黑" pitchFamily="34" charset="-122"/>
                <a:ea typeface="微软雅黑" pitchFamily="34" charset="-122"/>
                <a:cs typeface="Times New Roman" panose="02020603050405020304" pitchFamily="18" charset="0"/>
              </a:rPr>
              <a:t>BGP</a:t>
            </a:r>
            <a:r>
              <a:rPr lang="zh-CN" altLang="en-US" sz="2400" dirty="0">
                <a:solidFill>
                  <a:srgbClr val="C00000"/>
                </a:solidFill>
                <a:latin typeface="微软雅黑" pitchFamily="34" charset="-122"/>
                <a:ea typeface="微软雅黑" pitchFamily="34" charset="-122"/>
                <a:cs typeface="Times New Roman" panose="02020603050405020304" pitchFamily="18" charset="0"/>
              </a:rPr>
              <a:t>路由器通过</a:t>
            </a:r>
            <a:r>
              <a:rPr lang="en-US" altLang="zh-CN" sz="2400" dirty="0">
                <a:solidFill>
                  <a:srgbClr val="C00000"/>
                </a:solidFill>
                <a:latin typeface="微软雅黑" pitchFamily="34" charset="-122"/>
                <a:ea typeface="微软雅黑" pitchFamily="34" charset="-122"/>
                <a:cs typeface="Times New Roman" panose="02020603050405020304" pitchFamily="18" charset="0"/>
              </a:rPr>
              <a:t>TCP</a:t>
            </a:r>
            <a:r>
              <a:rPr lang="zh-CN" altLang="en-US" sz="2400" dirty="0">
                <a:solidFill>
                  <a:srgbClr val="C00000"/>
                </a:solidFill>
                <a:latin typeface="微软雅黑" pitchFamily="34" charset="-122"/>
                <a:ea typeface="微软雅黑" pitchFamily="34" charset="-122"/>
                <a:cs typeface="Times New Roman" panose="02020603050405020304" pitchFamily="18" charset="0"/>
              </a:rPr>
              <a:t>连接交换</a:t>
            </a:r>
            <a:r>
              <a:rPr lang="en-US" altLang="zh-CN" sz="2400" dirty="0">
                <a:solidFill>
                  <a:srgbClr val="C00000"/>
                </a:solidFill>
                <a:latin typeface="微软雅黑" pitchFamily="34" charset="-122"/>
                <a:ea typeface="微软雅黑" pitchFamily="34" charset="-122"/>
                <a:cs typeface="Times New Roman" panose="02020603050405020304" pitchFamily="18" charset="0"/>
              </a:rPr>
              <a:t>BGP</a:t>
            </a:r>
            <a:r>
              <a:rPr lang="zh-CN" altLang="en-US" sz="2400" dirty="0">
                <a:solidFill>
                  <a:srgbClr val="C00000"/>
                </a:solidFill>
                <a:latin typeface="微软雅黑" pitchFamily="34" charset="-122"/>
                <a:ea typeface="微软雅黑" pitchFamily="34" charset="-122"/>
                <a:cs typeface="Times New Roman" panose="02020603050405020304" pitchFamily="18" charset="0"/>
              </a:rPr>
              <a:t>报文</a:t>
            </a:r>
            <a:endParaRPr lang="en-US" altLang="zh-CN" sz="2400" dirty="0">
              <a:solidFill>
                <a:srgbClr val="C00000"/>
              </a:solidFill>
              <a:latin typeface="微软雅黑" pitchFamily="34" charset="-122"/>
              <a:ea typeface="微软雅黑" pitchFamily="34" charset="-122"/>
              <a:cs typeface="Times New Roman" panose="02020603050405020304" pitchFamily="18" charset="0"/>
            </a:endParaRPr>
          </a:p>
          <a:p>
            <a:pPr marL="800100" lvl="1" indent="-342900">
              <a:lnSpc>
                <a:spcPct val="120000"/>
              </a:lnSpc>
              <a:spcBef>
                <a:spcPts val="600"/>
              </a:spcBef>
              <a:buFont typeface="Arial" pitchFamily="34" charset="0"/>
              <a:buChar char="•"/>
              <a:defRPr/>
            </a:pPr>
            <a:r>
              <a:rPr lang="zh-CN" altLang="en-US" sz="2200" dirty="0">
                <a:latin typeface="微软雅黑" pitchFamily="34" charset="-122"/>
                <a:ea typeface="微软雅黑" pitchFamily="34" charset="-122"/>
                <a:cs typeface="Times New Roman" panose="02020603050405020304" pitchFamily="18" charset="0"/>
              </a:rPr>
              <a:t>通告到不同网络前缀的路径，即路径向量协议</a:t>
            </a:r>
            <a:endParaRPr lang="en-US" altLang="zh-CN" sz="2200" dirty="0">
              <a:latin typeface="微软雅黑" pitchFamily="34" charset="-122"/>
              <a:ea typeface="微软雅黑" pitchFamily="34" charset="-122"/>
              <a:cs typeface="Times New Roman" panose="02020603050405020304" pitchFamily="18" charset="0"/>
            </a:endParaRPr>
          </a:p>
          <a:p>
            <a:pPr marL="342900" indent="-342900">
              <a:lnSpc>
                <a:spcPct val="120000"/>
              </a:lnSpc>
              <a:spcBef>
                <a:spcPts val="600"/>
              </a:spcBef>
              <a:buFont typeface="Wingdings" pitchFamily="2" charset="2"/>
              <a:buChar char="Ø"/>
              <a:defRPr/>
            </a:pPr>
            <a:r>
              <a:rPr lang="zh-CN" altLang="en-US" sz="2400" dirty="0">
                <a:latin typeface="微软雅黑" pitchFamily="34" charset="-122"/>
                <a:ea typeface="微软雅黑" pitchFamily="34" charset="-122"/>
                <a:cs typeface="Times New Roman" panose="02020603050405020304" pitchFamily="18" charset="0"/>
              </a:rPr>
              <a:t>例</a:t>
            </a:r>
            <a:r>
              <a:rPr lang="zh-CN" altLang="en-US" sz="2400" dirty="0">
                <a:solidFill>
                  <a:srgbClr val="CC0000"/>
                </a:solidFill>
                <a:latin typeface="微软雅黑" pitchFamily="34" charset="-122"/>
                <a:ea typeface="微软雅黑" pitchFamily="34" charset="-122"/>
                <a:cs typeface="Times New Roman" panose="02020603050405020304" pitchFamily="18" charset="0"/>
              </a:rPr>
              <a:t>：</a:t>
            </a:r>
            <a:r>
              <a:rPr lang="zh-CN" altLang="en-US" sz="2400" dirty="0">
                <a:latin typeface="微软雅黑" pitchFamily="34" charset="-122"/>
                <a:ea typeface="微软雅黑" pitchFamily="34" charset="-122"/>
                <a:cs typeface="Times New Roman" panose="02020603050405020304" pitchFamily="18" charset="0"/>
              </a:rPr>
              <a:t>当</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向</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2c</a:t>
            </a:r>
            <a:r>
              <a:rPr lang="zh-CN" altLang="en-US" sz="2400" dirty="0">
                <a:latin typeface="微软雅黑" pitchFamily="34" charset="-122"/>
                <a:ea typeface="微软雅黑" pitchFamily="34" charset="-122"/>
                <a:cs typeface="Times New Roman" panose="02020603050405020304" pitchFamily="18" charset="0"/>
              </a:rPr>
              <a:t>通告路径</a:t>
            </a:r>
            <a:r>
              <a:rPr lang="en-US" altLang="zh-CN" sz="2400" dirty="0">
                <a:latin typeface="微软雅黑" pitchFamily="34" charset="-122"/>
                <a:ea typeface="微软雅黑" pitchFamily="34" charset="-122"/>
                <a:cs typeface="Times New Roman" panose="02020603050405020304" pitchFamily="18" charset="0"/>
              </a:rPr>
              <a:t>AS3, X</a:t>
            </a:r>
            <a:r>
              <a:rPr lang="zh-CN" altLang="en-US" sz="2400" dirty="0">
                <a:latin typeface="微软雅黑" pitchFamily="34" charset="-122"/>
                <a:ea typeface="微软雅黑" pitchFamily="34" charset="-122"/>
                <a:cs typeface="Times New Roman" panose="02020603050405020304" pitchFamily="18" charset="0"/>
              </a:rPr>
              <a:t>时</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向</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承诺它会向</a:t>
            </a: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转发数据包</a:t>
            </a:r>
            <a:endParaRPr lang="en-US" altLang="zh-CN" sz="2400" dirty="0">
              <a:latin typeface="微软雅黑" pitchFamily="34" charset="-122"/>
              <a:ea typeface="微软雅黑" pitchFamily="34" charset="-122"/>
              <a:cs typeface="Times New Roman" panose="02020603050405020304" pitchFamily="18" charset="0"/>
            </a:endParaRPr>
          </a:p>
        </p:txBody>
      </p:sp>
      <p:grpSp>
        <p:nvGrpSpPr>
          <p:cNvPr id="6" name="组合 5">
            <a:extLst>
              <a:ext uri="{FF2B5EF4-FFF2-40B4-BE49-F238E27FC236}">
                <a16:creationId xmlns:a16="http://schemas.microsoft.com/office/drawing/2014/main" id="{0F439463-5425-40AD-91AC-68AD1428AC23}"/>
              </a:ext>
            </a:extLst>
          </p:cNvPr>
          <p:cNvGrpSpPr/>
          <p:nvPr/>
        </p:nvGrpSpPr>
        <p:grpSpPr>
          <a:xfrm>
            <a:off x="854641" y="4016971"/>
            <a:ext cx="10363840" cy="2385178"/>
            <a:chOff x="624887" y="3798835"/>
            <a:chExt cx="8147674" cy="2788793"/>
          </a:xfrm>
        </p:grpSpPr>
        <p:grpSp>
          <p:nvGrpSpPr>
            <p:cNvPr id="7" name="Group 124"/>
            <p:cNvGrpSpPr/>
            <p:nvPr/>
          </p:nvGrpSpPr>
          <p:grpSpPr>
            <a:xfrm>
              <a:off x="624887" y="3939922"/>
              <a:ext cx="2557336" cy="1719017"/>
              <a:chOff x="-2170772" y="2784954"/>
              <a:chExt cx="2712783" cy="1853712"/>
            </a:xfrm>
          </p:grpSpPr>
          <p:sp>
            <p:nvSpPr>
              <p:cNvPr id="162"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63" name="Group 261"/>
              <p:cNvGrpSpPr/>
              <p:nvPr/>
            </p:nvGrpSpPr>
            <p:grpSpPr>
              <a:xfrm>
                <a:off x="-1935370" y="2935816"/>
                <a:ext cx="2333625" cy="1686983"/>
                <a:chOff x="833331" y="2873352"/>
                <a:chExt cx="2333625" cy="1686983"/>
              </a:xfrm>
            </p:grpSpPr>
            <p:grpSp>
              <p:nvGrpSpPr>
                <p:cNvPr id="164" name="Group 262"/>
                <p:cNvGrpSpPr/>
                <p:nvPr/>
              </p:nvGrpSpPr>
              <p:grpSpPr>
                <a:xfrm>
                  <a:off x="1736090" y="2873352"/>
                  <a:ext cx="565150" cy="465666"/>
                  <a:chOff x="1736090" y="2873352"/>
                  <a:chExt cx="565150" cy="465666"/>
                </a:xfrm>
              </p:grpSpPr>
              <p:grpSp>
                <p:nvGrpSpPr>
                  <p:cNvPr id="213" name="Group 327"/>
                  <p:cNvGrpSpPr>
                    <a:grpSpLocks/>
                  </p:cNvGrpSpPr>
                  <p:nvPr/>
                </p:nvGrpSpPr>
                <p:grpSpPr bwMode="auto">
                  <a:xfrm>
                    <a:off x="1736090" y="2893762"/>
                    <a:ext cx="565150" cy="292100"/>
                    <a:chOff x="1871277" y="1576300"/>
                    <a:chExt cx="1128371" cy="437861"/>
                  </a:xfrm>
                </p:grpSpPr>
                <p:sp>
                  <p:nvSpPr>
                    <p:cNvPr id="217"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8"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0"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1"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2"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3"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4" name="Straight Connector 322"/>
                    <p:cNvCxnSpPr>
                      <a:endCxn id="21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5"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4" name="Group 312"/>
                  <p:cNvGrpSpPr/>
                  <p:nvPr/>
                </p:nvGrpSpPr>
                <p:grpSpPr>
                  <a:xfrm>
                    <a:off x="1770362" y="2873352"/>
                    <a:ext cx="414737" cy="465666"/>
                    <a:chOff x="667045" y="1708643"/>
                    <a:chExt cx="414737" cy="465666"/>
                  </a:xfrm>
                </p:grpSpPr>
                <p:sp>
                  <p:nvSpPr>
                    <p:cNvPr id="215"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6" name="TextBox 215"/>
                    <p:cNvSpPr txBox="1"/>
                    <p:nvPr/>
                  </p:nvSpPr>
                  <p:spPr>
                    <a:xfrm>
                      <a:off x="667045" y="1708643"/>
                      <a:ext cx="366558" cy="465666"/>
                    </a:xfrm>
                    <a:prstGeom prst="rect">
                      <a:avLst/>
                    </a:prstGeom>
                    <a:noFill/>
                  </p:spPr>
                  <p:txBody>
                    <a:bodyPr wrap="none" rtlCol="0">
                      <a:spAutoFit/>
                    </a:bodyPr>
                    <a:lstStyle/>
                    <a:p>
                      <a:r>
                        <a:rPr lang="en-US" dirty="0"/>
                        <a:t>1b</a:t>
                      </a:r>
                    </a:p>
                  </p:txBody>
                </p:sp>
              </p:grpSp>
            </p:grpSp>
            <p:grpSp>
              <p:nvGrpSpPr>
                <p:cNvPr id="165" name="Group 263"/>
                <p:cNvGrpSpPr/>
                <p:nvPr/>
              </p:nvGrpSpPr>
              <p:grpSpPr>
                <a:xfrm>
                  <a:off x="1740320" y="4094669"/>
                  <a:ext cx="565150" cy="465666"/>
                  <a:chOff x="1736090" y="2873352"/>
                  <a:chExt cx="565150" cy="465666"/>
                </a:xfrm>
              </p:grpSpPr>
              <p:grpSp>
                <p:nvGrpSpPr>
                  <p:cNvPr id="200" name="Group 327"/>
                  <p:cNvGrpSpPr>
                    <a:grpSpLocks/>
                  </p:cNvGrpSpPr>
                  <p:nvPr/>
                </p:nvGrpSpPr>
                <p:grpSpPr bwMode="auto">
                  <a:xfrm>
                    <a:off x="1736090" y="2893762"/>
                    <a:ext cx="565150" cy="292100"/>
                    <a:chOff x="1871277" y="1576300"/>
                    <a:chExt cx="1128371" cy="437861"/>
                  </a:xfrm>
                </p:grpSpPr>
                <p:sp>
                  <p:nvSpPr>
                    <p:cNvPr id="204"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5"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7"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8"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9"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0"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1" name="Straight Connector 309"/>
                    <p:cNvCxnSpPr>
                      <a:endCxn id="20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2"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1" name="Group 299"/>
                  <p:cNvGrpSpPr/>
                  <p:nvPr/>
                </p:nvGrpSpPr>
                <p:grpSpPr>
                  <a:xfrm>
                    <a:off x="1770362" y="2873352"/>
                    <a:ext cx="414737" cy="465666"/>
                    <a:chOff x="667045" y="1708643"/>
                    <a:chExt cx="414737" cy="465666"/>
                  </a:xfrm>
                </p:grpSpPr>
                <p:sp>
                  <p:nvSpPr>
                    <p:cNvPr id="202"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3" name="TextBox 202"/>
                    <p:cNvSpPr txBox="1"/>
                    <p:nvPr/>
                  </p:nvSpPr>
                  <p:spPr>
                    <a:xfrm>
                      <a:off x="667045" y="1708643"/>
                      <a:ext cx="366558" cy="465666"/>
                    </a:xfrm>
                    <a:prstGeom prst="rect">
                      <a:avLst/>
                    </a:prstGeom>
                    <a:noFill/>
                  </p:spPr>
                  <p:txBody>
                    <a:bodyPr wrap="none" rtlCol="0">
                      <a:spAutoFit/>
                    </a:bodyPr>
                    <a:lstStyle/>
                    <a:p>
                      <a:r>
                        <a:rPr lang="en-US" dirty="0"/>
                        <a:t>1d</a:t>
                      </a:r>
                    </a:p>
                  </p:txBody>
                </p:sp>
              </p:grpSp>
            </p:grpSp>
            <p:grpSp>
              <p:nvGrpSpPr>
                <p:cNvPr id="166" name="Group 264"/>
                <p:cNvGrpSpPr/>
                <p:nvPr/>
              </p:nvGrpSpPr>
              <p:grpSpPr>
                <a:xfrm>
                  <a:off x="2601806" y="3485072"/>
                  <a:ext cx="565150" cy="465666"/>
                  <a:chOff x="1736090" y="2873352"/>
                  <a:chExt cx="565150" cy="465666"/>
                </a:xfrm>
              </p:grpSpPr>
              <p:grpSp>
                <p:nvGrpSpPr>
                  <p:cNvPr id="187" name="Group 327"/>
                  <p:cNvGrpSpPr>
                    <a:grpSpLocks/>
                  </p:cNvGrpSpPr>
                  <p:nvPr/>
                </p:nvGrpSpPr>
                <p:grpSpPr bwMode="auto">
                  <a:xfrm>
                    <a:off x="1736090" y="2893762"/>
                    <a:ext cx="565150" cy="292100"/>
                    <a:chOff x="1871277" y="1576300"/>
                    <a:chExt cx="1128371" cy="437861"/>
                  </a:xfrm>
                </p:grpSpPr>
                <p:sp>
                  <p:nvSpPr>
                    <p:cNvPr id="191"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2"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8" name="Straight Connector 296"/>
                    <p:cNvCxnSpPr>
                      <a:endCxn id="19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9"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8" name="Group 286"/>
                  <p:cNvGrpSpPr/>
                  <p:nvPr/>
                </p:nvGrpSpPr>
                <p:grpSpPr>
                  <a:xfrm>
                    <a:off x="1770362" y="2873352"/>
                    <a:ext cx="414737" cy="465666"/>
                    <a:chOff x="667045" y="1708643"/>
                    <a:chExt cx="414737" cy="465666"/>
                  </a:xfrm>
                </p:grpSpPr>
                <p:sp>
                  <p:nvSpPr>
                    <p:cNvPr id="189"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0" name="TextBox 189"/>
                    <p:cNvSpPr txBox="1"/>
                    <p:nvPr/>
                  </p:nvSpPr>
                  <p:spPr>
                    <a:xfrm>
                      <a:off x="667045" y="1708643"/>
                      <a:ext cx="342495" cy="465666"/>
                    </a:xfrm>
                    <a:prstGeom prst="rect">
                      <a:avLst/>
                    </a:prstGeom>
                    <a:noFill/>
                  </p:spPr>
                  <p:txBody>
                    <a:bodyPr wrap="none" rtlCol="0">
                      <a:spAutoFit/>
                    </a:bodyPr>
                    <a:lstStyle/>
                    <a:p>
                      <a:r>
                        <a:rPr lang="en-US" dirty="0"/>
                        <a:t>1c</a:t>
                      </a:r>
                    </a:p>
                  </p:txBody>
                </p:sp>
              </p:grpSp>
            </p:grpSp>
            <p:grpSp>
              <p:nvGrpSpPr>
                <p:cNvPr id="167" name="Group 265"/>
                <p:cNvGrpSpPr/>
                <p:nvPr/>
              </p:nvGrpSpPr>
              <p:grpSpPr>
                <a:xfrm>
                  <a:off x="833331" y="3478719"/>
                  <a:ext cx="565150" cy="465666"/>
                  <a:chOff x="1736090" y="2873352"/>
                  <a:chExt cx="565150" cy="465666"/>
                </a:xfrm>
              </p:grpSpPr>
              <p:grpSp>
                <p:nvGrpSpPr>
                  <p:cNvPr id="174" name="Group 327"/>
                  <p:cNvGrpSpPr>
                    <a:grpSpLocks/>
                  </p:cNvGrpSpPr>
                  <p:nvPr/>
                </p:nvGrpSpPr>
                <p:grpSpPr bwMode="auto">
                  <a:xfrm>
                    <a:off x="1736090" y="2893762"/>
                    <a:ext cx="565150" cy="292100"/>
                    <a:chOff x="1871277" y="1576300"/>
                    <a:chExt cx="1128371" cy="437861"/>
                  </a:xfrm>
                </p:grpSpPr>
                <p:sp>
                  <p:nvSpPr>
                    <p:cNvPr id="178"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283"/>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5" name="Group 273"/>
                  <p:cNvGrpSpPr/>
                  <p:nvPr/>
                </p:nvGrpSpPr>
                <p:grpSpPr>
                  <a:xfrm>
                    <a:off x="1770362" y="2873352"/>
                    <a:ext cx="414737" cy="465666"/>
                    <a:chOff x="667045" y="1708643"/>
                    <a:chExt cx="414737" cy="465666"/>
                  </a:xfrm>
                </p:grpSpPr>
                <p:sp>
                  <p:nvSpPr>
                    <p:cNvPr id="176"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7" name="TextBox 176"/>
                    <p:cNvSpPr txBox="1"/>
                    <p:nvPr/>
                  </p:nvSpPr>
                  <p:spPr>
                    <a:xfrm>
                      <a:off x="667045" y="1708643"/>
                      <a:ext cx="351852" cy="465666"/>
                    </a:xfrm>
                    <a:prstGeom prst="rect">
                      <a:avLst/>
                    </a:prstGeom>
                    <a:noFill/>
                  </p:spPr>
                  <p:txBody>
                    <a:bodyPr wrap="none" rtlCol="0">
                      <a:spAutoFit/>
                    </a:bodyPr>
                    <a:lstStyle/>
                    <a:p>
                      <a:r>
                        <a:rPr lang="en-US" dirty="0"/>
                        <a:t>1a</a:t>
                      </a:r>
                    </a:p>
                  </p:txBody>
                </p:sp>
              </p:grpSp>
            </p:grpSp>
            <p:cxnSp>
              <p:nvCxnSpPr>
                <p:cNvPr id="168" name="Straight Connector 266"/>
                <p:cNvCxnSpPr>
                  <a:stCxn id="216" idx="2"/>
                  <a:endCxn id="203" idx="0"/>
                </p:cNvCxnSpPr>
                <p:nvPr/>
              </p:nvCxnSpPr>
              <p:spPr bwMode="auto">
                <a:xfrm>
                  <a:off x="1953641" y="3339018"/>
                  <a:ext cx="4230" cy="75565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9"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0" name="Straight Connector 268"/>
                <p:cNvCxnSpPr>
                  <a:stCxn id="217"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1"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2"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3"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8" name="Group 125"/>
            <p:cNvGrpSpPr/>
            <p:nvPr/>
          </p:nvGrpSpPr>
          <p:grpSpPr>
            <a:xfrm>
              <a:off x="3285692" y="4867093"/>
              <a:ext cx="2545688" cy="1720535"/>
              <a:chOff x="-2170772" y="2784954"/>
              <a:chExt cx="2712783" cy="1853712"/>
            </a:xfrm>
          </p:grpSpPr>
          <p:sp>
            <p:nvSpPr>
              <p:cNvPr id="98"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99" name="Group 197"/>
              <p:cNvGrpSpPr/>
              <p:nvPr/>
            </p:nvGrpSpPr>
            <p:grpSpPr>
              <a:xfrm>
                <a:off x="-1935370" y="2935816"/>
                <a:ext cx="2333625" cy="1686572"/>
                <a:chOff x="833331" y="2873352"/>
                <a:chExt cx="2333625" cy="1686572"/>
              </a:xfrm>
            </p:grpSpPr>
            <p:grpSp>
              <p:nvGrpSpPr>
                <p:cNvPr id="100" name="Group 198"/>
                <p:cNvGrpSpPr/>
                <p:nvPr/>
              </p:nvGrpSpPr>
              <p:grpSpPr>
                <a:xfrm>
                  <a:off x="1736090" y="2873352"/>
                  <a:ext cx="565150" cy="465255"/>
                  <a:chOff x="1736090" y="2873352"/>
                  <a:chExt cx="565150" cy="465255"/>
                </a:xfrm>
              </p:grpSpPr>
              <p:grpSp>
                <p:nvGrpSpPr>
                  <p:cNvPr id="149" name="Group 327"/>
                  <p:cNvGrpSpPr>
                    <a:grpSpLocks/>
                  </p:cNvGrpSpPr>
                  <p:nvPr/>
                </p:nvGrpSpPr>
                <p:grpSpPr bwMode="auto">
                  <a:xfrm>
                    <a:off x="1736090" y="2893762"/>
                    <a:ext cx="565150" cy="292100"/>
                    <a:chOff x="1871277" y="1576300"/>
                    <a:chExt cx="1128371" cy="437861"/>
                  </a:xfrm>
                </p:grpSpPr>
                <p:sp>
                  <p:nvSpPr>
                    <p:cNvPr id="153"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4"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6"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8"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0" name="Straight Connector 258"/>
                    <p:cNvCxnSpPr>
                      <a:endCxn id="15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1"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0" name="Group 248"/>
                  <p:cNvGrpSpPr/>
                  <p:nvPr/>
                </p:nvGrpSpPr>
                <p:grpSpPr>
                  <a:xfrm>
                    <a:off x="1770362" y="2873352"/>
                    <a:ext cx="414737" cy="465255"/>
                    <a:chOff x="667045" y="1708643"/>
                    <a:chExt cx="414737" cy="465255"/>
                  </a:xfrm>
                </p:grpSpPr>
                <p:sp>
                  <p:nvSpPr>
                    <p:cNvPr id="151"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2" name="TextBox 151"/>
                    <p:cNvSpPr txBox="1"/>
                    <p:nvPr/>
                  </p:nvSpPr>
                  <p:spPr>
                    <a:xfrm>
                      <a:off x="667045" y="1708643"/>
                      <a:ext cx="368235" cy="465255"/>
                    </a:xfrm>
                    <a:prstGeom prst="rect">
                      <a:avLst/>
                    </a:prstGeom>
                    <a:noFill/>
                  </p:spPr>
                  <p:txBody>
                    <a:bodyPr wrap="none" rtlCol="0">
                      <a:spAutoFit/>
                    </a:bodyPr>
                    <a:lstStyle/>
                    <a:p>
                      <a:r>
                        <a:rPr lang="en-US" dirty="0"/>
                        <a:t>2b</a:t>
                      </a:r>
                    </a:p>
                  </p:txBody>
                </p:sp>
              </p:grpSp>
            </p:grpSp>
            <p:grpSp>
              <p:nvGrpSpPr>
                <p:cNvPr id="101" name="Group 199"/>
                <p:cNvGrpSpPr/>
                <p:nvPr/>
              </p:nvGrpSpPr>
              <p:grpSpPr>
                <a:xfrm>
                  <a:off x="1740320" y="4094669"/>
                  <a:ext cx="565150" cy="465255"/>
                  <a:chOff x="1736090" y="2873352"/>
                  <a:chExt cx="565150" cy="465255"/>
                </a:xfrm>
              </p:grpSpPr>
              <p:grpSp>
                <p:nvGrpSpPr>
                  <p:cNvPr id="136" name="Group 327"/>
                  <p:cNvGrpSpPr>
                    <a:grpSpLocks/>
                  </p:cNvGrpSpPr>
                  <p:nvPr/>
                </p:nvGrpSpPr>
                <p:grpSpPr bwMode="auto">
                  <a:xfrm>
                    <a:off x="1736090" y="2893762"/>
                    <a:ext cx="565150" cy="292100"/>
                    <a:chOff x="1871277" y="1576300"/>
                    <a:chExt cx="1128371" cy="437861"/>
                  </a:xfrm>
                </p:grpSpPr>
                <p:sp>
                  <p:nvSpPr>
                    <p:cNvPr id="140"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41"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2"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43"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4"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5"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6"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47" name="Straight Connector 245"/>
                    <p:cNvCxnSpPr>
                      <a:endCxn id="14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48"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7" name="Group 235"/>
                  <p:cNvGrpSpPr/>
                  <p:nvPr/>
                </p:nvGrpSpPr>
                <p:grpSpPr>
                  <a:xfrm>
                    <a:off x="1770362" y="2873352"/>
                    <a:ext cx="414737" cy="465255"/>
                    <a:chOff x="667045" y="1708643"/>
                    <a:chExt cx="414737" cy="465255"/>
                  </a:xfrm>
                </p:grpSpPr>
                <p:sp>
                  <p:nvSpPr>
                    <p:cNvPr id="138"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9" name="TextBox 138"/>
                    <p:cNvSpPr txBox="1"/>
                    <p:nvPr/>
                  </p:nvSpPr>
                  <p:spPr>
                    <a:xfrm>
                      <a:off x="667045" y="1708643"/>
                      <a:ext cx="368235" cy="465255"/>
                    </a:xfrm>
                    <a:prstGeom prst="rect">
                      <a:avLst/>
                    </a:prstGeom>
                    <a:noFill/>
                  </p:spPr>
                  <p:txBody>
                    <a:bodyPr wrap="none" rtlCol="0">
                      <a:spAutoFit/>
                    </a:bodyPr>
                    <a:lstStyle/>
                    <a:p>
                      <a:r>
                        <a:rPr lang="en-US" dirty="0"/>
                        <a:t>2d</a:t>
                      </a:r>
                    </a:p>
                  </p:txBody>
                </p:sp>
              </p:grpSp>
            </p:grpSp>
            <p:grpSp>
              <p:nvGrpSpPr>
                <p:cNvPr id="102" name="Group 200"/>
                <p:cNvGrpSpPr/>
                <p:nvPr/>
              </p:nvGrpSpPr>
              <p:grpSpPr>
                <a:xfrm>
                  <a:off x="2601806" y="3485072"/>
                  <a:ext cx="565150" cy="465255"/>
                  <a:chOff x="1736090" y="2873352"/>
                  <a:chExt cx="565150" cy="465255"/>
                </a:xfrm>
              </p:grpSpPr>
              <p:grpSp>
                <p:nvGrpSpPr>
                  <p:cNvPr id="123" name="Group 327"/>
                  <p:cNvGrpSpPr>
                    <a:grpSpLocks/>
                  </p:cNvGrpSpPr>
                  <p:nvPr/>
                </p:nvGrpSpPr>
                <p:grpSpPr bwMode="auto">
                  <a:xfrm>
                    <a:off x="1736090" y="2893762"/>
                    <a:ext cx="565150" cy="292100"/>
                    <a:chOff x="1871277" y="1576300"/>
                    <a:chExt cx="1128371" cy="437861"/>
                  </a:xfrm>
                </p:grpSpPr>
                <p:sp>
                  <p:nvSpPr>
                    <p:cNvPr id="127"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8"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9"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0"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2"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3"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4" name="Straight Connector 232"/>
                    <p:cNvCxnSpPr>
                      <a:endCxn id="1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5"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4" name="Group 222"/>
                  <p:cNvGrpSpPr/>
                  <p:nvPr/>
                </p:nvGrpSpPr>
                <p:grpSpPr>
                  <a:xfrm>
                    <a:off x="1770362" y="2873352"/>
                    <a:ext cx="414737" cy="465255"/>
                    <a:chOff x="667045" y="1708643"/>
                    <a:chExt cx="414737" cy="465255"/>
                  </a:xfrm>
                </p:grpSpPr>
                <p:sp>
                  <p:nvSpPr>
                    <p:cNvPr id="125"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6" name="TextBox 125"/>
                    <p:cNvSpPr txBox="1"/>
                    <p:nvPr/>
                  </p:nvSpPr>
                  <p:spPr>
                    <a:xfrm>
                      <a:off x="667045" y="1708643"/>
                      <a:ext cx="344062" cy="465255"/>
                    </a:xfrm>
                    <a:prstGeom prst="rect">
                      <a:avLst/>
                    </a:prstGeom>
                    <a:noFill/>
                  </p:spPr>
                  <p:txBody>
                    <a:bodyPr wrap="none" rtlCol="0">
                      <a:spAutoFit/>
                    </a:bodyPr>
                    <a:lstStyle/>
                    <a:p>
                      <a:r>
                        <a:rPr lang="en-US" dirty="0"/>
                        <a:t>2c</a:t>
                      </a:r>
                    </a:p>
                  </p:txBody>
                </p:sp>
              </p:grpSp>
            </p:grpSp>
            <p:grpSp>
              <p:nvGrpSpPr>
                <p:cNvPr id="103" name="Group 201"/>
                <p:cNvGrpSpPr/>
                <p:nvPr/>
              </p:nvGrpSpPr>
              <p:grpSpPr>
                <a:xfrm>
                  <a:off x="833331" y="3478719"/>
                  <a:ext cx="565150" cy="465255"/>
                  <a:chOff x="1736090" y="2873352"/>
                  <a:chExt cx="565150" cy="465255"/>
                </a:xfrm>
              </p:grpSpPr>
              <p:grpSp>
                <p:nvGrpSpPr>
                  <p:cNvPr id="110" name="Group 327"/>
                  <p:cNvGrpSpPr>
                    <a:grpSpLocks/>
                  </p:cNvGrpSpPr>
                  <p:nvPr/>
                </p:nvGrpSpPr>
                <p:grpSpPr bwMode="auto">
                  <a:xfrm>
                    <a:off x="1736090" y="2893762"/>
                    <a:ext cx="565150" cy="292100"/>
                    <a:chOff x="1871277" y="1576300"/>
                    <a:chExt cx="1128371" cy="437861"/>
                  </a:xfrm>
                </p:grpSpPr>
                <p:sp>
                  <p:nvSpPr>
                    <p:cNvPr id="114"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7"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9"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1" name="Straight Connector 219"/>
                    <p:cNvCxnSpPr>
                      <a:endCxn id="11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2"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1" name="Group 209"/>
                  <p:cNvGrpSpPr/>
                  <p:nvPr/>
                </p:nvGrpSpPr>
                <p:grpSpPr>
                  <a:xfrm>
                    <a:off x="1770362" y="2873352"/>
                    <a:ext cx="414737" cy="465255"/>
                    <a:chOff x="667045" y="1708643"/>
                    <a:chExt cx="414737" cy="465255"/>
                  </a:xfrm>
                </p:grpSpPr>
                <p:sp>
                  <p:nvSpPr>
                    <p:cNvPr id="112"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3" name="TextBox 112"/>
                    <p:cNvSpPr txBox="1"/>
                    <p:nvPr/>
                  </p:nvSpPr>
                  <p:spPr>
                    <a:xfrm>
                      <a:off x="667045" y="1708643"/>
                      <a:ext cx="353462" cy="465255"/>
                    </a:xfrm>
                    <a:prstGeom prst="rect">
                      <a:avLst/>
                    </a:prstGeom>
                    <a:noFill/>
                  </p:spPr>
                  <p:txBody>
                    <a:bodyPr wrap="none" rtlCol="0">
                      <a:spAutoFit/>
                    </a:bodyPr>
                    <a:lstStyle/>
                    <a:p>
                      <a:r>
                        <a:rPr lang="en-US" dirty="0"/>
                        <a:t>2a</a:t>
                      </a:r>
                    </a:p>
                  </p:txBody>
                </p:sp>
              </p:grpSp>
            </p:grpSp>
            <p:cxnSp>
              <p:nvCxnSpPr>
                <p:cNvPr id="104" name="Straight Connector 202"/>
                <p:cNvCxnSpPr>
                  <a:stCxn id="152" idx="2"/>
                  <a:endCxn id="139" idx="0"/>
                </p:cNvCxnSpPr>
                <p:nvPr/>
              </p:nvCxnSpPr>
              <p:spPr bwMode="auto">
                <a:xfrm>
                  <a:off x="1954480" y="3338607"/>
                  <a:ext cx="4230" cy="75606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Straight Connector 203"/>
                <p:cNvCxnSpPr/>
                <p:nvPr/>
              </p:nvCxnSpPr>
              <p:spPr bwMode="auto">
                <a:xfrm>
                  <a:off x="1407477" y="3648621"/>
                  <a:ext cx="1204913" cy="6353"/>
                </a:xfrm>
                <a:prstGeom prst="line">
                  <a:avLst/>
                </a:prstGeom>
                <a:solidFill>
                  <a:schemeClr val="accent1"/>
                </a:solidFill>
                <a:ln w="19050" cap="flat" cmpd="sng" algn="ctr">
                  <a:solidFill>
                    <a:srgbClr val="7E0C6E"/>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Straight Connector 204"/>
                <p:cNvCxnSpPr>
                  <a:stCxn id="153"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9" name="Freeform 2"/>
            <p:cNvSpPr>
              <a:spLocks/>
            </p:cNvSpPr>
            <p:nvPr/>
          </p:nvSpPr>
          <p:spPr bwMode="auto">
            <a:xfrm>
              <a:off x="5507686" y="37988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0" name="Group 133"/>
            <p:cNvGrpSpPr/>
            <p:nvPr/>
          </p:nvGrpSpPr>
          <p:grpSpPr>
            <a:xfrm>
              <a:off x="5731177" y="3934951"/>
              <a:ext cx="2215548" cy="1533766"/>
              <a:chOff x="833331" y="2873352"/>
              <a:chExt cx="2333625" cy="1699930"/>
            </a:xfrm>
          </p:grpSpPr>
          <p:grpSp>
            <p:nvGrpSpPr>
              <p:cNvPr id="36" name="Group 134"/>
              <p:cNvGrpSpPr/>
              <p:nvPr/>
            </p:nvGrpSpPr>
            <p:grpSpPr>
              <a:xfrm>
                <a:off x="1736090" y="2873352"/>
                <a:ext cx="565150" cy="478613"/>
                <a:chOff x="1736090" y="2873352"/>
                <a:chExt cx="565150" cy="478613"/>
              </a:xfrm>
            </p:grpSpPr>
            <p:grpSp>
              <p:nvGrpSpPr>
                <p:cNvPr id="85" name="Group 327"/>
                <p:cNvGrpSpPr>
                  <a:grpSpLocks/>
                </p:cNvGrpSpPr>
                <p:nvPr/>
              </p:nvGrpSpPr>
              <p:grpSpPr bwMode="auto">
                <a:xfrm>
                  <a:off x="1736090" y="2893762"/>
                  <a:ext cx="565150" cy="292100"/>
                  <a:chOff x="1871277" y="1576300"/>
                  <a:chExt cx="1128371" cy="437861"/>
                </a:xfrm>
              </p:grpSpPr>
              <p:sp>
                <p:nvSpPr>
                  <p:cNvPr id="89"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0"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1"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2"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6" name="Straight Connector 194"/>
                  <p:cNvCxnSpPr>
                    <a:endCxn id="9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7"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6" name="Group 184"/>
                <p:cNvGrpSpPr/>
                <p:nvPr/>
              </p:nvGrpSpPr>
              <p:grpSpPr>
                <a:xfrm>
                  <a:off x="1770362" y="2873352"/>
                  <a:ext cx="414737" cy="478613"/>
                  <a:chOff x="667045" y="1708643"/>
                  <a:chExt cx="414737" cy="478613"/>
                </a:xfrm>
              </p:grpSpPr>
              <p:sp>
                <p:nvSpPr>
                  <p:cNvPr id="87"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8" name="TextBox 87"/>
                  <p:cNvSpPr txBox="1"/>
                  <p:nvPr/>
                </p:nvSpPr>
                <p:spPr>
                  <a:xfrm>
                    <a:off x="667045" y="1708643"/>
                    <a:ext cx="363970" cy="478613"/>
                  </a:xfrm>
                  <a:prstGeom prst="rect">
                    <a:avLst/>
                  </a:prstGeom>
                  <a:noFill/>
                </p:spPr>
                <p:txBody>
                  <a:bodyPr wrap="none" rtlCol="0">
                    <a:spAutoFit/>
                  </a:bodyPr>
                  <a:lstStyle/>
                  <a:p>
                    <a:r>
                      <a:rPr lang="en-US" dirty="0"/>
                      <a:t>3b</a:t>
                    </a:r>
                  </a:p>
                </p:txBody>
              </p:sp>
            </p:grpSp>
          </p:grpSp>
          <p:grpSp>
            <p:nvGrpSpPr>
              <p:cNvPr id="37" name="Group 135"/>
              <p:cNvGrpSpPr/>
              <p:nvPr/>
            </p:nvGrpSpPr>
            <p:grpSpPr>
              <a:xfrm>
                <a:off x="1740320" y="4094669"/>
                <a:ext cx="565150" cy="478613"/>
                <a:chOff x="1736090" y="2873352"/>
                <a:chExt cx="565150" cy="478613"/>
              </a:xfrm>
            </p:grpSpPr>
            <p:grpSp>
              <p:nvGrpSpPr>
                <p:cNvPr id="72" name="Group 327"/>
                <p:cNvGrpSpPr>
                  <a:grpSpLocks/>
                </p:cNvGrpSpPr>
                <p:nvPr/>
              </p:nvGrpSpPr>
              <p:grpSpPr bwMode="auto">
                <a:xfrm>
                  <a:off x="1736090" y="2893762"/>
                  <a:ext cx="565150" cy="292100"/>
                  <a:chOff x="1871277" y="1576300"/>
                  <a:chExt cx="1128371" cy="437861"/>
                </a:xfrm>
              </p:grpSpPr>
              <p:sp>
                <p:nvSpPr>
                  <p:cNvPr id="76"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7"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8"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9"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0"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2"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3" name="Straight Connector 181"/>
                  <p:cNvCxnSpPr>
                    <a:endCxn id="7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4"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3" name="Group 171"/>
                <p:cNvGrpSpPr/>
                <p:nvPr/>
              </p:nvGrpSpPr>
              <p:grpSpPr>
                <a:xfrm>
                  <a:off x="1770362" y="2873352"/>
                  <a:ext cx="414737" cy="478613"/>
                  <a:chOff x="667045" y="1708643"/>
                  <a:chExt cx="414737" cy="478613"/>
                </a:xfrm>
              </p:grpSpPr>
              <p:sp>
                <p:nvSpPr>
                  <p:cNvPr id="74"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5" name="TextBox 74"/>
                  <p:cNvSpPr txBox="1"/>
                  <p:nvPr/>
                </p:nvSpPr>
                <p:spPr>
                  <a:xfrm>
                    <a:off x="667045" y="1708643"/>
                    <a:ext cx="363970" cy="478613"/>
                  </a:xfrm>
                  <a:prstGeom prst="rect">
                    <a:avLst/>
                  </a:prstGeom>
                  <a:noFill/>
                </p:spPr>
                <p:txBody>
                  <a:bodyPr wrap="none" rtlCol="0">
                    <a:spAutoFit/>
                  </a:bodyPr>
                  <a:lstStyle/>
                  <a:p>
                    <a:r>
                      <a:rPr lang="en-US" dirty="0"/>
                      <a:t>3d</a:t>
                    </a:r>
                  </a:p>
                </p:txBody>
              </p:sp>
            </p:grpSp>
          </p:grpSp>
          <p:grpSp>
            <p:nvGrpSpPr>
              <p:cNvPr id="38" name="Group 136"/>
              <p:cNvGrpSpPr/>
              <p:nvPr/>
            </p:nvGrpSpPr>
            <p:grpSpPr>
              <a:xfrm>
                <a:off x="2601806" y="3485072"/>
                <a:ext cx="565150" cy="478613"/>
                <a:chOff x="1736090" y="2873352"/>
                <a:chExt cx="565150" cy="478613"/>
              </a:xfrm>
            </p:grpSpPr>
            <p:grpSp>
              <p:nvGrpSpPr>
                <p:cNvPr id="59" name="Group 327"/>
                <p:cNvGrpSpPr>
                  <a:grpSpLocks/>
                </p:cNvGrpSpPr>
                <p:nvPr/>
              </p:nvGrpSpPr>
              <p:grpSpPr bwMode="auto">
                <a:xfrm>
                  <a:off x="1736090" y="2893762"/>
                  <a:ext cx="565150" cy="292100"/>
                  <a:chOff x="1871277" y="1576300"/>
                  <a:chExt cx="1128371" cy="437861"/>
                </a:xfrm>
              </p:grpSpPr>
              <p:sp>
                <p:nvSpPr>
                  <p:cNvPr id="63"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4"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5"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6"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8"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9"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70" name="Straight Connector 168"/>
                  <p:cNvCxnSpPr>
                    <a:endCxn id="6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71"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60" name="Group 158"/>
                <p:cNvGrpSpPr/>
                <p:nvPr/>
              </p:nvGrpSpPr>
              <p:grpSpPr>
                <a:xfrm>
                  <a:off x="1770362" y="2873352"/>
                  <a:ext cx="414737" cy="478613"/>
                  <a:chOff x="667045" y="1708643"/>
                  <a:chExt cx="414737" cy="478613"/>
                </a:xfrm>
              </p:grpSpPr>
              <p:sp>
                <p:nvSpPr>
                  <p:cNvPr id="61"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2" name="TextBox 61"/>
                  <p:cNvSpPr txBox="1"/>
                  <p:nvPr/>
                </p:nvSpPr>
                <p:spPr>
                  <a:xfrm>
                    <a:off x="667045" y="1708643"/>
                    <a:ext cx="340077" cy="478613"/>
                  </a:xfrm>
                  <a:prstGeom prst="rect">
                    <a:avLst/>
                  </a:prstGeom>
                  <a:noFill/>
                </p:spPr>
                <p:txBody>
                  <a:bodyPr wrap="none" rtlCol="0">
                    <a:spAutoFit/>
                  </a:bodyPr>
                  <a:lstStyle/>
                  <a:p>
                    <a:r>
                      <a:rPr lang="en-US" dirty="0"/>
                      <a:t>3c</a:t>
                    </a:r>
                  </a:p>
                </p:txBody>
              </p:sp>
            </p:grpSp>
          </p:grpSp>
          <p:grpSp>
            <p:nvGrpSpPr>
              <p:cNvPr id="39" name="Group 137"/>
              <p:cNvGrpSpPr/>
              <p:nvPr/>
            </p:nvGrpSpPr>
            <p:grpSpPr>
              <a:xfrm>
                <a:off x="833331" y="3478719"/>
                <a:ext cx="565150" cy="478613"/>
                <a:chOff x="1736090" y="2873352"/>
                <a:chExt cx="565150" cy="478613"/>
              </a:xfrm>
            </p:grpSpPr>
            <p:grpSp>
              <p:nvGrpSpPr>
                <p:cNvPr id="46" name="Group 327"/>
                <p:cNvGrpSpPr>
                  <a:grpSpLocks/>
                </p:cNvGrpSpPr>
                <p:nvPr/>
              </p:nvGrpSpPr>
              <p:grpSpPr bwMode="auto">
                <a:xfrm>
                  <a:off x="1736090" y="2893762"/>
                  <a:ext cx="565150" cy="292100"/>
                  <a:chOff x="1871277" y="1576300"/>
                  <a:chExt cx="1128371" cy="437861"/>
                </a:xfrm>
              </p:grpSpPr>
              <p:sp>
                <p:nvSpPr>
                  <p:cNvPr id="50"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3"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5"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 name="Straight Connector 155"/>
                  <p:cNvCxnSpPr>
                    <a:endCxn id="5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8"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 name="Group 145"/>
                <p:cNvGrpSpPr/>
                <p:nvPr/>
              </p:nvGrpSpPr>
              <p:grpSpPr>
                <a:xfrm>
                  <a:off x="1770362" y="2873352"/>
                  <a:ext cx="414737" cy="478613"/>
                  <a:chOff x="667045" y="1708643"/>
                  <a:chExt cx="414737" cy="478613"/>
                </a:xfrm>
              </p:grpSpPr>
              <p:sp>
                <p:nvSpPr>
                  <p:cNvPr id="48"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9" name="TextBox 48"/>
                  <p:cNvSpPr txBox="1"/>
                  <p:nvPr/>
                </p:nvSpPr>
                <p:spPr>
                  <a:xfrm>
                    <a:off x="667045" y="1708643"/>
                    <a:ext cx="349368" cy="478613"/>
                  </a:xfrm>
                  <a:prstGeom prst="rect">
                    <a:avLst/>
                  </a:prstGeom>
                  <a:noFill/>
                </p:spPr>
                <p:txBody>
                  <a:bodyPr wrap="none" rtlCol="0">
                    <a:spAutoFit/>
                  </a:bodyPr>
                  <a:lstStyle/>
                  <a:p>
                    <a:r>
                      <a:rPr lang="en-US" dirty="0"/>
                      <a:t>3a</a:t>
                    </a:r>
                  </a:p>
                </p:txBody>
              </p:sp>
            </p:grpSp>
          </p:grpSp>
          <p:cxnSp>
            <p:nvCxnSpPr>
              <p:cNvPr id="40" name="Straight Connector 138"/>
              <p:cNvCxnSpPr>
                <a:stCxn id="88" idx="2"/>
                <a:endCxn id="75" idx="0"/>
              </p:cNvCxnSpPr>
              <p:nvPr/>
            </p:nvCxnSpPr>
            <p:spPr bwMode="auto">
              <a:xfrm>
                <a:off x="1952347" y="3351965"/>
                <a:ext cx="4230" cy="742704"/>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Straight Connector 140"/>
              <p:cNvCxnSpPr>
                <a:stCxn id="89"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1" name="Straight Connector 127"/>
            <p:cNvCxnSpPr/>
            <p:nvPr/>
          </p:nvCxnSpPr>
          <p:spPr bwMode="auto">
            <a:xfrm flipH="1" flipV="1">
              <a:off x="3046706" y="4828455"/>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Connector 128"/>
            <p:cNvCxnSpPr/>
            <p:nvPr/>
          </p:nvCxnSpPr>
          <p:spPr bwMode="auto">
            <a:xfrm flipV="1">
              <a:off x="5523188" y="4769573"/>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 name="TextBox 12"/>
            <p:cNvSpPr txBox="1"/>
            <p:nvPr/>
          </p:nvSpPr>
          <p:spPr>
            <a:xfrm>
              <a:off x="3493291" y="4926777"/>
              <a:ext cx="538367" cy="467816"/>
            </a:xfrm>
            <a:prstGeom prst="rect">
              <a:avLst/>
            </a:prstGeom>
            <a:noFill/>
          </p:spPr>
          <p:txBody>
            <a:bodyPr wrap="none" rtlCol="0">
              <a:spAutoFit/>
            </a:bodyPr>
            <a:lstStyle/>
            <a:p>
              <a:r>
                <a:rPr lang="en-US" sz="2000" dirty="0"/>
                <a:t>AS 2</a:t>
              </a:r>
            </a:p>
          </p:txBody>
        </p:sp>
        <p:sp>
          <p:nvSpPr>
            <p:cNvPr id="14" name="TextBox 13"/>
            <p:cNvSpPr txBox="1"/>
            <p:nvPr/>
          </p:nvSpPr>
          <p:spPr>
            <a:xfrm>
              <a:off x="5543950" y="3840074"/>
              <a:ext cx="538367" cy="467816"/>
            </a:xfrm>
            <a:prstGeom prst="rect">
              <a:avLst/>
            </a:prstGeom>
            <a:noFill/>
          </p:spPr>
          <p:txBody>
            <a:bodyPr wrap="none" rtlCol="0">
              <a:spAutoFit/>
            </a:bodyPr>
            <a:lstStyle/>
            <a:p>
              <a:r>
                <a:rPr lang="en-US" sz="2000" dirty="0"/>
                <a:t>AS 3</a:t>
              </a:r>
            </a:p>
          </p:txBody>
        </p:sp>
        <p:sp>
          <p:nvSpPr>
            <p:cNvPr id="15" name="TextBox 14"/>
            <p:cNvSpPr txBox="1"/>
            <p:nvPr/>
          </p:nvSpPr>
          <p:spPr>
            <a:xfrm>
              <a:off x="629020" y="4050751"/>
              <a:ext cx="538367" cy="467816"/>
            </a:xfrm>
            <a:prstGeom prst="rect">
              <a:avLst/>
            </a:prstGeom>
            <a:noFill/>
          </p:spPr>
          <p:txBody>
            <a:bodyPr wrap="none" rtlCol="0">
              <a:spAutoFit/>
            </a:bodyPr>
            <a:lstStyle/>
            <a:p>
              <a:r>
                <a:rPr lang="en-US" sz="2000" dirty="0"/>
                <a:t>AS 1</a:t>
              </a:r>
            </a:p>
          </p:txBody>
        </p:sp>
        <p:grpSp>
          <p:nvGrpSpPr>
            <p:cNvPr id="16" name="Group 10"/>
            <p:cNvGrpSpPr/>
            <p:nvPr/>
          </p:nvGrpSpPr>
          <p:grpSpPr>
            <a:xfrm>
              <a:off x="7070827" y="4901682"/>
              <a:ext cx="1701734" cy="616172"/>
              <a:chOff x="7073692" y="5469792"/>
              <a:chExt cx="1701734" cy="616172"/>
            </a:xfrm>
          </p:grpSpPr>
          <p:grpSp>
            <p:nvGrpSpPr>
              <p:cNvPr id="20" name="Group 9"/>
              <p:cNvGrpSpPr/>
              <p:nvPr/>
            </p:nvGrpSpPr>
            <p:grpSpPr>
              <a:xfrm>
                <a:off x="7073692" y="5469792"/>
                <a:ext cx="1701734" cy="616172"/>
                <a:chOff x="6946249" y="5096269"/>
                <a:chExt cx="1701734" cy="616172"/>
              </a:xfrm>
            </p:grpSpPr>
            <p:sp>
              <p:nvSpPr>
                <p:cNvPr id="22"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23" name="Group 327"/>
                <p:cNvGrpSpPr>
                  <a:grpSpLocks/>
                </p:cNvGrpSpPr>
                <p:nvPr/>
              </p:nvGrpSpPr>
              <p:grpSpPr bwMode="auto">
                <a:xfrm>
                  <a:off x="7908175" y="5241780"/>
                  <a:ext cx="536554" cy="263548"/>
                  <a:chOff x="1871277" y="1576300"/>
                  <a:chExt cx="1128371" cy="437861"/>
                </a:xfrm>
              </p:grpSpPr>
              <p:sp>
                <p:nvSpPr>
                  <p:cNvPr id="27"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 name="Straight Connector 380"/>
                  <p:cNvCxnSpPr>
                    <a:endCxn id="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370"/>
                <p:cNvGrpSpPr/>
                <p:nvPr/>
              </p:nvGrpSpPr>
              <p:grpSpPr>
                <a:xfrm>
                  <a:off x="7935991" y="5223364"/>
                  <a:ext cx="398474" cy="431829"/>
                  <a:chOff x="662071" y="1708643"/>
                  <a:chExt cx="419711" cy="478612"/>
                </a:xfrm>
              </p:grpSpPr>
              <p:sp>
                <p:nvSpPr>
                  <p:cNvPr id="25"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 name="TextBox 25"/>
                  <p:cNvSpPr txBox="1"/>
                  <p:nvPr/>
                </p:nvSpPr>
                <p:spPr>
                  <a:xfrm>
                    <a:off x="662071" y="1708643"/>
                    <a:ext cx="366625" cy="478612"/>
                  </a:xfrm>
                  <a:prstGeom prst="rect">
                    <a:avLst/>
                  </a:prstGeom>
                  <a:noFill/>
                </p:spPr>
                <p:txBody>
                  <a:bodyPr wrap="none" rtlCol="0">
                    <a:spAutoFit/>
                  </a:bodyPr>
                  <a:lstStyle/>
                  <a:p>
                    <a:pPr algn="ctr"/>
                    <a:r>
                      <a:rPr lang="en-US" dirty="0"/>
                      <a:t>  X</a:t>
                    </a:r>
                  </a:p>
                </p:txBody>
              </p:sp>
            </p:grpSp>
          </p:grpSp>
          <p:cxnSp>
            <p:nvCxnSpPr>
              <p:cNvPr id="21" name="Straight Connector 401"/>
              <p:cNvCxnSpPr/>
              <p:nvPr/>
            </p:nvCxnSpPr>
            <p:spPr bwMode="auto">
              <a:xfrm flipH="1">
                <a:off x="7133690" y="5764030"/>
                <a:ext cx="870024" cy="9999"/>
              </a:xfrm>
              <a:prstGeom prst="line">
                <a:avLst/>
              </a:prstGeom>
              <a:solidFill>
                <a:schemeClr val="accent1"/>
              </a:solidFill>
              <a:ln w="19050" cap="flat" cmpd="sng" algn="ctr">
                <a:solidFill>
                  <a:srgbClr val="00B05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7" name="Group 117"/>
            <p:cNvGrpSpPr>
              <a:grpSpLocks/>
            </p:cNvGrpSpPr>
            <p:nvPr/>
          </p:nvGrpSpPr>
          <p:grpSpPr bwMode="auto">
            <a:xfrm>
              <a:off x="5713440" y="4867676"/>
              <a:ext cx="2590803" cy="1196975"/>
              <a:chOff x="2244" y="2236"/>
              <a:chExt cx="1632" cy="754"/>
            </a:xfrm>
          </p:grpSpPr>
          <p:sp>
            <p:nvSpPr>
              <p:cNvPr id="18" name="AutoShape 118"/>
              <p:cNvSpPr>
                <a:spLocks noChangeArrowheads="1"/>
              </p:cNvSpPr>
              <p:nvPr/>
            </p:nvSpPr>
            <p:spPr bwMode="auto">
              <a:xfrm rot="17597965">
                <a:off x="2089" y="2391"/>
                <a:ext cx="484" cy="174"/>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9" name="Text Box 119"/>
              <p:cNvSpPr txBox="1">
                <a:spLocks noChangeArrowheads="1"/>
              </p:cNvSpPr>
              <p:nvPr/>
            </p:nvSpPr>
            <p:spPr bwMode="auto">
              <a:xfrm>
                <a:off x="2325" y="2614"/>
                <a:ext cx="1551"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BGP</a:t>
                </a:r>
                <a:r>
                  <a:rPr lang="zh-CN" altLang="en-US" sz="1600" i="1" dirty="0">
                    <a:solidFill>
                      <a:srgbClr val="CC0000"/>
                    </a:solidFill>
                  </a:rPr>
                  <a:t>通告</a:t>
                </a:r>
                <a:r>
                  <a:rPr lang="en-US" sz="1600" i="1" dirty="0">
                    <a:solidFill>
                      <a:srgbClr val="CC0000"/>
                    </a:solidFill>
                  </a:rPr>
                  <a:t>:</a:t>
                </a:r>
              </a:p>
              <a:p>
                <a:pPr>
                  <a:lnSpc>
                    <a:spcPct val="85000"/>
                  </a:lnSpc>
                </a:pPr>
                <a:r>
                  <a:rPr lang="en-US" sz="1600" i="1" dirty="0">
                    <a:solidFill>
                      <a:srgbClr val="CC0000"/>
                    </a:solidFill>
                  </a:rPr>
                  <a:t>AS3, X</a:t>
                </a:r>
              </a:p>
            </p:txBody>
          </p:sp>
        </p:grpSp>
      </p:grpSp>
      <p:sp>
        <p:nvSpPr>
          <p:cNvPr id="3" name="日期占位符 2"/>
          <p:cNvSpPr>
            <a:spLocks noGrp="1"/>
          </p:cNvSpPr>
          <p:nvPr>
            <p:ph type="dt" sz="half" idx="10"/>
          </p:nvPr>
        </p:nvSpPr>
        <p:spPr>
          <a:xfrm>
            <a:off x="197334" y="6489303"/>
            <a:ext cx="2878197" cy="365125"/>
          </a:xfrm>
        </p:spPr>
        <p:txBody>
          <a:bodyPr/>
          <a:lstStyle/>
          <a:p>
            <a:r>
              <a:rPr kumimoji="1" lang="en-US" altLang="zh-CN" dirty="0"/>
              <a:t>5.7.3 BGP-</a:t>
            </a:r>
            <a:r>
              <a:rPr kumimoji="1" lang="zh-CN" altLang="en-US" dirty="0"/>
              <a:t>外部网关路由协议</a:t>
            </a:r>
          </a:p>
        </p:txBody>
      </p:sp>
      <p:pic>
        <p:nvPicPr>
          <p:cNvPr id="226" name="Picture 28" descr="015">
            <a:extLst>
              <a:ext uri="{FF2B5EF4-FFF2-40B4-BE49-F238E27FC236}">
                <a16:creationId xmlns:a16="http://schemas.microsoft.com/office/drawing/2014/main" id="{5E1E32E1-A620-460F-8002-841ECC60801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3233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nodeType="afterEffect">
                                  <p:stCondLst>
                                    <p:cond delay="500"/>
                                  </p:stCondLst>
                                  <p:childTnLst>
                                    <p:set>
                                      <p:cBhvr>
                                        <p:cTn id="15"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路径通告</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177</a:t>
            </a:fld>
            <a:endParaRPr kumimoji="1" lang="zh-CN" altLang="en-US" dirty="0"/>
          </a:p>
        </p:txBody>
      </p:sp>
      <p:grpSp>
        <p:nvGrpSpPr>
          <p:cNvPr id="5" name="Group 124">
            <a:extLst>
              <a:ext uri="{FF2B5EF4-FFF2-40B4-BE49-F238E27FC236}">
                <a16:creationId xmlns:a16="http://schemas.microsoft.com/office/drawing/2014/main" id="{8E243271-FCAD-4A06-A095-215FCD89DF10}"/>
              </a:ext>
            </a:extLst>
          </p:cNvPr>
          <p:cNvGrpSpPr/>
          <p:nvPr/>
        </p:nvGrpSpPr>
        <p:grpSpPr>
          <a:xfrm>
            <a:off x="833183" y="1451515"/>
            <a:ext cx="3409781" cy="1719017"/>
            <a:chOff x="-2170772" y="2784954"/>
            <a:chExt cx="2712783" cy="1853712"/>
          </a:xfrm>
        </p:grpSpPr>
        <p:sp>
          <p:nvSpPr>
            <p:cNvPr id="6" name="Freeform 2">
              <a:extLst>
                <a:ext uri="{FF2B5EF4-FFF2-40B4-BE49-F238E27FC236}">
                  <a16:creationId xmlns:a16="http://schemas.microsoft.com/office/drawing/2014/main" id="{3D1AD124-A1DE-4699-8C4B-AFCCF34CCA49}"/>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 name="Group 261">
              <a:extLst>
                <a:ext uri="{FF2B5EF4-FFF2-40B4-BE49-F238E27FC236}">
                  <a16:creationId xmlns:a16="http://schemas.microsoft.com/office/drawing/2014/main" id="{7A1FA48E-BB7C-4A82-A1B6-C59B7F2B0C4F}"/>
                </a:ext>
              </a:extLst>
            </p:cNvPr>
            <p:cNvGrpSpPr/>
            <p:nvPr/>
          </p:nvGrpSpPr>
          <p:grpSpPr>
            <a:xfrm>
              <a:off x="-1935370" y="2935816"/>
              <a:ext cx="2333625" cy="1619588"/>
              <a:chOff x="833331" y="2873352"/>
              <a:chExt cx="2333625" cy="1619588"/>
            </a:xfrm>
          </p:grpSpPr>
          <p:grpSp>
            <p:nvGrpSpPr>
              <p:cNvPr id="8" name="Group 262">
                <a:extLst>
                  <a:ext uri="{FF2B5EF4-FFF2-40B4-BE49-F238E27FC236}">
                    <a16:creationId xmlns:a16="http://schemas.microsoft.com/office/drawing/2014/main" id="{3E9CCDE4-B2FD-4D8C-B69B-2D6174866AF2}"/>
                  </a:ext>
                </a:extLst>
              </p:cNvPr>
              <p:cNvGrpSpPr/>
              <p:nvPr/>
            </p:nvGrpSpPr>
            <p:grpSpPr>
              <a:xfrm>
                <a:off x="1736090" y="2873352"/>
                <a:ext cx="565150" cy="398271"/>
                <a:chOff x="1736090" y="2873352"/>
                <a:chExt cx="565150" cy="398271"/>
              </a:xfrm>
            </p:grpSpPr>
            <p:grpSp>
              <p:nvGrpSpPr>
                <p:cNvPr id="57" name="Group 327">
                  <a:extLst>
                    <a:ext uri="{FF2B5EF4-FFF2-40B4-BE49-F238E27FC236}">
                      <a16:creationId xmlns:a16="http://schemas.microsoft.com/office/drawing/2014/main" id="{D5D9DC54-F1D8-4B39-B710-C61B7A9B9B8F}"/>
                    </a:ext>
                  </a:extLst>
                </p:cNvPr>
                <p:cNvGrpSpPr>
                  <a:grpSpLocks/>
                </p:cNvGrpSpPr>
                <p:nvPr/>
              </p:nvGrpSpPr>
              <p:grpSpPr bwMode="auto">
                <a:xfrm>
                  <a:off x="1736090" y="2893762"/>
                  <a:ext cx="565150" cy="292100"/>
                  <a:chOff x="1871277" y="1576300"/>
                  <a:chExt cx="1128371" cy="437861"/>
                </a:xfrm>
              </p:grpSpPr>
              <p:sp>
                <p:nvSpPr>
                  <p:cNvPr id="61" name="Oval 315">
                    <a:extLst>
                      <a:ext uri="{FF2B5EF4-FFF2-40B4-BE49-F238E27FC236}">
                        <a16:creationId xmlns:a16="http://schemas.microsoft.com/office/drawing/2014/main" id="{635F822A-97F8-4171-B458-902782D830D3}"/>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 name="Rectangle 316">
                    <a:extLst>
                      <a:ext uri="{FF2B5EF4-FFF2-40B4-BE49-F238E27FC236}">
                        <a16:creationId xmlns:a16="http://schemas.microsoft.com/office/drawing/2014/main" id="{22FE2C29-63F4-4F1E-904E-A8CCCC2E6419}"/>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 name="Oval 317">
                    <a:extLst>
                      <a:ext uri="{FF2B5EF4-FFF2-40B4-BE49-F238E27FC236}">
                        <a16:creationId xmlns:a16="http://schemas.microsoft.com/office/drawing/2014/main" id="{58FB9D14-2B53-44C9-8789-E5E87A07DB0E}"/>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4" name="Freeform 318">
                    <a:extLst>
                      <a:ext uri="{FF2B5EF4-FFF2-40B4-BE49-F238E27FC236}">
                        <a16:creationId xmlns:a16="http://schemas.microsoft.com/office/drawing/2014/main" id="{032EFED9-1A87-4F91-A157-30EAEA0F78B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5" name="Freeform 319">
                    <a:extLst>
                      <a:ext uri="{FF2B5EF4-FFF2-40B4-BE49-F238E27FC236}">
                        <a16:creationId xmlns:a16="http://schemas.microsoft.com/office/drawing/2014/main" id="{1C60E8E8-358F-489B-96F9-58925A2B8BF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320">
                    <a:extLst>
                      <a:ext uri="{FF2B5EF4-FFF2-40B4-BE49-F238E27FC236}">
                        <a16:creationId xmlns:a16="http://schemas.microsoft.com/office/drawing/2014/main" id="{614F92EA-5F9F-4D01-96A8-79AB32A0976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321">
                    <a:extLst>
                      <a:ext uri="{FF2B5EF4-FFF2-40B4-BE49-F238E27FC236}">
                        <a16:creationId xmlns:a16="http://schemas.microsoft.com/office/drawing/2014/main" id="{E23062E0-EB90-4FBD-A4CA-B168E36250A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8" name="Straight Connector 322">
                    <a:extLst>
                      <a:ext uri="{FF2B5EF4-FFF2-40B4-BE49-F238E27FC236}">
                        <a16:creationId xmlns:a16="http://schemas.microsoft.com/office/drawing/2014/main" id="{CCE02CE0-6C42-4650-B964-BCDEE063B6A8}"/>
                      </a:ext>
                    </a:extLst>
                  </p:cNvPr>
                  <p:cNvCxnSpPr>
                    <a:endCxn id="6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9" name="Straight Connector 323">
                    <a:extLst>
                      <a:ext uri="{FF2B5EF4-FFF2-40B4-BE49-F238E27FC236}">
                        <a16:creationId xmlns:a16="http://schemas.microsoft.com/office/drawing/2014/main" id="{C93379E0-59DA-4C9B-AE05-525251D14B2B}"/>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58" name="Group 312">
                  <a:extLst>
                    <a:ext uri="{FF2B5EF4-FFF2-40B4-BE49-F238E27FC236}">
                      <a16:creationId xmlns:a16="http://schemas.microsoft.com/office/drawing/2014/main" id="{D718B12A-F749-4A85-99ED-DE5C44CCBFEB}"/>
                    </a:ext>
                  </a:extLst>
                </p:cNvPr>
                <p:cNvGrpSpPr/>
                <p:nvPr/>
              </p:nvGrpSpPr>
              <p:grpSpPr>
                <a:xfrm>
                  <a:off x="1770362" y="2873352"/>
                  <a:ext cx="414737" cy="398271"/>
                  <a:chOff x="667045" y="1708643"/>
                  <a:chExt cx="414737" cy="398271"/>
                </a:xfrm>
              </p:grpSpPr>
              <p:sp>
                <p:nvSpPr>
                  <p:cNvPr id="59" name="Oval 313">
                    <a:extLst>
                      <a:ext uri="{FF2B5EF4-FFF2-40B4-BE49-F238E27FC236}">
                        <a16:creationId xmlns:a16="http://schemas.microsoft.com/office/drawing/2014/main" id="{66C5C0D8-2419-487D-A5E5-93BC3CDC8882}"/>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0" name="TextBox 314">
                    <a:extLst>
                      <a:ext uri="{FF2B5EF4-FFF2-40B4-BE49-F238E27FC236}">
                        <a16:creationId xmlns:a16="http://schemas.microsoft.com/office/drawing/2014/main" id="{14344A99-C5D9-4E6A-BB9C-EB51AF9180BA}"/>
                      </a:ext>
                    </a:extLst>
                  </p:cNvPr>
                  <p:cNvSpPr txBox="1"/>
                  <p:nvPr/>
                </p:nvSpPr>
                <p:spPr>
                  <a:xfrm>
                    <a:off x="667045" y="1708643"/>
                    <a:ext cx="349696" cy="398271"/>
                  </a:xfrm>
                  <a:prstGeom prst="rect">
                    <a:avLst/>
                  </a:prstGeom>
                  <a:noFill/>
                </p:spPr>
                <p:txBody>
                  <a:bodyPr wrap="none" rtlCol="0">
                    <a:spAutoFit/>
                  </a:bodyPr>
                  <a:lstStyle/>
                  <a:p>
                    <a:r>
                      <a:rPr lang="en-US" dirty="0"/>
                      <a:t>1b</a:t>
                    </a:r>
                  </a:p>
                </p:txBody>
              </p:sp>
            </p:grpSp>
          </p:grpSp>
          <p:grpSp>
            <p:nvGrpSpPr>
              <p:cNvPr id="9" name="Group 263">
                <a:extLst>
                  <a:ext uri="{FF2B5EF4-FFF2-40B4-BE49-F238E27FC236}">
                    <a16:creationId xmlns:a16="http://schemas.microsoft.com/office/drawing/2014/main" id="{0D7D0D45-C8F0-4C9A-94DF-9DB4C1246096}"/>
                  </a:ext>
                </a:extLst>
              </p:cNvPr>
              <p:cNvGrpSpPr/>
              <p:nvPr/>
            </p:nvGrpSpPr>
            <p:grpSpPr>
              <a:xfrm>
                <a:off x="1740320" y="4094669"/>
                <a:ext cx="565150" cy="398271"/>
                <a:chOff x="1736090" y="2873352"/>
                <a:chExt cx="565150" cy="398271"/>
              </a:xfrm>
            </p:grpSpPr>
            <p:grpSp>
              <p:nvGrpSpPr>
                <p:cNvPr id="44" name="Group 327">
                  <a:extLst>
                    <a:ext uri="{FF2B5EF4-FFF2-40B4-BE49-F238E27FC236}">
                      <a16:creationId xmlns:a16="http://schemas.microsoft.com/office/drawing/2014/main" id="{EDC4B541-73F4-402C-8AE7-F03BBE2C2031}"/>
                    </a:ext>
                  </a:extLst>
                </p:cNvPr>
                <p:cNvGrpSpPr>
                  <a:grpSpLocks/>
                </p:cNvGrpSpPr>
                <p:nvPr/>
              </p:nvGrpSpPr>
              <p:grpSpPr bwMode="auto">
                <a:xfrm>
                  <a:off x="1736090" y="2893762"/>
                  <a:ext cx="565150" cy="292100"/>
                  <a:chOff x="1871277" y="1576300"/>
                  <a:chExt cx="1128371" cy="437861"/>
                </a:xfrm>
              </p:grpSpPr>
              <p:sp>
                <p:nvSpPr>
                  <p:cNvPr id="48" name="Oval 302">
                    <a:extLst>
                      <a:ext uri="{FF2B5EF4-FFF2-40B4-BE49-F238E27FC236}">
                        <a16:creationId xmlns:a16="http://schemas.microsoft.com/office/drawing/2014/main" id="{6575C45E-CE84-4A85-9CD6-E5B9EA8624B3}"/>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 name="Rectangle 303">
                    <a:extLst>
                      <a:ext uri="{FF2B5EF4-FFF2-40B4-BE49-F238E27FC236}">
                        <a16:creationId xmlns:a16="http://schemas.microsoft.com/office/drawing/2014/main" id="{0F6881C9-32B0-454E-96EC-1FFDCF82E6B3}"/>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 name="Oval 304">
                    <a:extLst>
                      <a:ext uri="{FF2B5EF4-FFF2-40B4-BE49-F238E27FC236}">
                        <a16:creationId xmlns:a16="http://schemas.microsoft.com/office/drawing/2014/main" id="{EF7E02AF-4266-46A8-A2D3-E9ECB6F8218A}"/>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 name="Freeform 305">
                    <a:extLst>
                      <a:ext uri="{FF2B5EF4-FFF2-40B4-BE49-F238E27FC236}">
                        <a16:creationId xmlns:a16="http://schemas.microsoft.com/office/drawing/2014/main" id="{1DF365C1-1197-4A62-9317-851E93B4C2C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 name="Freeform 306">
                    <a:extLst>
                      <a:ext uri="{FF2B5EF4-FFF2-40B4-BE49-F238E27FC236}">
                        <a16:creationId xmlns:a16="http://schemas.microsoft.com/office/drawing/2014/main" id="{F614E0D3-98BE-4358-BA67-1D55AA93F96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3" name="Freeform 307">
                    <a:extLst>
                      <a:ext uri="{FF2B5EF4-FFF2-40B4-BE49-F238E27FC236}">
                        <a16:creationId xmlns:a16="http://schemas.microsoft.com/office/drawing/2014/main" id="{92207DF6-8CFA-41D5-91A4-3F80F9DAE5A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 name="Freeform 308">
                    <a:extLst>
                      <a:ext uri="{FF2B5EF4-FFF2-40B4-BE49-F238E27FC236}">
                        <a16:creationId xmlns:a16="http://schemas.microsoft.com/office/drawing/2014/main" id="{75403068-9DF0-496F-B78B-41FF69F5256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 name="Straight Connector 309">
                    <a:extLst>
                      <a:ext uri="{FF2B5EF4-FFF2-40B4-BE49-F238E27FC236}">
                        <a16:creationId xmlns:a16="http://schemas.microsoft.com/office/drawing/2014/main" id="{F3FFCD59-CF14-495E-B15E-3EC934A56072}"/>
                      </a:ext>
                    </a:extLst>
                  </p:cNvPr>
                  <p:cNvCxnSpPr>
                    <a:endCxn id="5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6" name="Straight Connector 310">
                    <a:extLst>
                      <a:ext uri="{FF2B5EF4-FFF2-40B4-BE49-F238E27FC236}">
                        <a16:creationId xmlns:a16="http://schemas.microsoft.com/office/drawing/2014/main" id="{BDEC469E-B3A5-441A-8407-4270DE7A44D6}"/>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5" name="Group 299">
                  <a:extLst>
                    <a:ext uri="{FF2B5EF4-FFF2-40B4-BE49-F238E27FC236}">
                      <a16:creationId xmlns:a16="http://schemas.microsoft.com/office/drawing/2014/main" id="{E5223405-5D5F-4C6E-A410-91817390B6B0}"/>
                    </a:ext>
                  </a:extLst>
                </p:cNvPr>
                <p:cNvGrpSpPr/>
                <p:nvPr/>
              </p:nvGrpSpPr>
              <p:grpSpPr>
                <a:xfrm>
                  <a:off x="1770362" y="2873352"/>
                  <a:ext cx="414737" cy="398271"/>
                  <a:chOff x="667045" y="1708643"/>
                  <a:chExt cx="414737" cy="398271"/>
                </a:xfrm>
              </p:grpSpPr>
              <p:sp>
                <p:nvSpPr>
                  <p:cNvPr id="46" name="Oval 300">
                    <a:extLst>
                      <a:ext uri="{FF2B5EF4-FFF2-40B4-BE49-F238E27FC236}">
                        <a16:creationId xmlns:a16="http://schemas.microsoft.com/office/drawing/2014/main" id="{97B069AC-07ED-4251-A846-FC160586A477}"/>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 name="TextBox 301">
                    <a:extLst>
                      <a:ext uri="{FF2B5EF4-FFF2-40B4-BE49-F238E27FC236}">
                        <a16:creationId xmlns:a16="http://schemas.microsoft.com/office/drawing/2014/main" id="{6093F40C-81EA-4D6B-B174-55E935D6BB79}"/>
                      </a:ext>
                    </a:extLst>
                  </p:cNvPr>
                  <p:cNvSpPr txBox="1"/>
                  <p:nvPr/>
                </p:nvSpPr>
                <p:spPr>
                  <a:xfrm>
                    <a:off x="667045" y="1708643"/>
                    <a:ext cx="349696" cy="398271"/>
                  </a:xfrm>
                  <a:prstGeom prst="rect">
                    <a:avLst/>
                  </a:prstGeom>
                  <a:noFill/>
                </p:spPr>
                <p:txBody>
                  <a:bodyPr wrap="none" rtlCol="0">
                    <a:spAutoFit/>
                  </a:bodyPr>
                  <a:lstStyle/>
                  <a:p>
                    <a:r>
                      <a:rPr lang="en-US" dirty="0"/>
                      <a:t>1d</a:t>
                    </a:r>
                  </a:p>
                </p:txBody>
              </p:sp>
            </p:grpSp>
          </p:grpSp>
          <p:grpSp>
            <p:nvGrpSpPr>
              <p:cNvPr id="10" name="Group 264">
                <a:extLst>
                  <a:ext uri="{FF2B5EF4-FFF2-40B4-BE49-F238E27FC236}">
                    <a16:creationId xmlns:a16="http://schemas.microsoft.com/office/drawing/2014/main" id="{B695FCC5-E95A-474C-91F2-6CA69137EF85}"/>
                  </a:ext>
                </a:extLst>
              </p:cNvPr>
              <p:cNvGrpSpPr/>
              <p:nvPr/>
            </p:nvGrpSpPr>
            <p:grpSpPr>
              <a:xfrm>
                <a:off x="2601806" y="3485072"/>
                <a:ext cx="565150" cy="398272"/>
                <a:chOff x="1736090" y="2873352"/>
                <a:chExt cx="565150" cy="398272"/>
              </a:xfrm>
            </p:grpSpPr>
            <p:grpSp>
              <p:nvGrpSpPr>
                <p:cNvPr id="31" name="Group 327">
                  <a:extLst>
                    <a:ext uri="{FF2B5EF4-FFF2-40B4-BE49-F238E27FC236}">
                      <a16:creationId xmlns:a16="http://schemas.microsoft.com/office/drawing/2014/main" id="{E56F39D2-932E-4AA8-8B71-BE47E407935E}"/>
                    </a:ext>
                  </a:extLst>
                </p:cNvPr>
                <p:cNvGrpSpPr>
                  <a:grpSpLocks/>
                </p:cNvGrpSpPr>
                <p:nvPr/>
              </p:nvGrpSpPr>
              <p:grpSpPr bwMode="auto">
                <a:xfrm>
                  <a:off x="1736090" y="2893762"/>
                  <a:ext cx="565150" cy="292100"/>
                  <a:chOff x="1871277" y="1576300"/>
                  <a:chExt cx="1128371" cy="437861"/>
                </a:xfrm>
              </p:grpSpPr>
              <p:sp>
                <p:nvSpPr>
                  <p:cNvPr id="35" name="Oval 289">
                    <a:extLst>
                      <a:ext uri="{FF2B5EF4-FFF2-40B4-BE49-F238E27FC236}">
                        <a16:creationId xmlns:a16="http://schemas.microsoft.com/office/drawing/2014/main" id="{8116B638-5253-4721-AF47-EE506273F8B3}"/>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 name="Rectangle 290">
                    <a:extLst>
                      <a:ext uri="{FF2B5EF4-FFF2-40B4-BE49-F238E27FC236}">
                        <a16:creationId xmlns:a16="http://schemas.microsoft.com/office/drawing/2014/main" id="{7190B1A1-66EB-4424-96DD-BEFD54A3D294}"/>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 name="Oval 291">
                    <a:extLst>
                      <a:ext uri="{FF2B5EF4-FFF2-40B4-BE49-F238E27FC236}">
                        <a16:creationId xmlns:a16="http://schemas.microsoft.com/office/drawing/2014/main" id="{21EE1F48-04A3-4BD6-A235-A37D8E3ED366}"/>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 name="Freeform 292">
                    <a:extLst>
                      <a:ext uri="{FF2B5EF4-FFF2-40B4-BE49-F238E27FC236}">
                        <a16:creationId xmlns:a16="http://schemas.microsoft.com/office/drawing/2014/main" id="{56786DD1-6786-4775-966F-7B70FA1DB6E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 name="Freeform 293">
                    <a:extLst>
                      <a:ext uri="{FF2B5EF4-FFF2-40B4-BE49-F238E27FC236}">
                        <a16:creationId xmlns:a16="http://schemas.microsoft.com/office/drawing/2014/main" id="{9A262D8B-FBEA-4D31-9660-5435B78E622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0" name="Freeform 294">
                    <a:extLst>
                      <a:ext uri="{FF2B5EF4-FFF2-40B4-BE49-F238E27FC236}">
                        <a16:creationId xmlns:a16="http://schemas.microsoft.com/office/drawing/2014/main" id="{5718FD2F-96B2-4AEC-A9BC-71537CF06FA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 name="Freeform 295">
                    <a:extLst>
                      <a:ext uri="{FF2B5EF4-FFF2-40B4-BE49-F238E27FC236}">
                        <a16:creationId xmlns:a16="http://schemas.microsoft.com/office/drawing/2014/main" id="{766CEFAA-064A-4495-B358-04E05E33E6F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 name="Straight Connector 296">
                    <a:extLst>
                      <a:ext uri="{FF2B5EF4-FFF2-40B4-BE49-F238E27FC236}">
                        <a16:creationId xmlns:a16="http://schemas.microsoft.com/office/drawing/2014/main" id="{4D75F3C6-F6CC-48B9-9A24-6ECDB8326ADF}"/>
                      </a:ext>
                    </a:extLst>
                  </p:cNvPr>
                  <p:cNvCxnSpPr>
                    <a:endCxn id="3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 name="Straight Connector 297">
                    <a:extLst>
                      <a:ext uri="{FF2B5EF4-FFF2-40B4-BE49-F238E27FC236}">
                        <a16:creationId xmlns:a16="http://schemas.microsoft.com/office/drawing/2014/main" id="{692D4D37-13F7-401D-89CF-68D4165FF30C}"/>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 name="Group 286">
                  <a:extLst>
                    <a:ext uri="{FF2B5EF4-FFF2-40B4-BE49-F238E27FC236}">
                      <a16:creationId xmlns:a16="http://schemas.microsoft.com/office/drawing/2014/main" id="{FC8467E2-329F-4021-929F-5378C9BB6D46}"/>
                    </a:ext>
                  </a:extLst>
                </p:cNvPr>
                <p:cNvGrpSpPr/>
                <p:nvPr/>
              </p:nvGrpSpPr>
              <p:grpSpPr>
                <a:xfrm>
                  <a:off x="1770362" y="2873352"/>
                  <a:ext cx="414737" cy="398272"/>
                  <a:chOff x="667045" y="1708643"/>
                  <a:chExt cx="414737" cy="398272"/>
                </a:xfrm>
              </p:grpSpPr>
              <p:sp>
                <p:nvSpPr>
                  <p:cNvPr id="33" name="Oval 287">
                    <a:extLst>
                      <a:ext uri="{FF2B5EF4-FFF2-40B4-BE49-F238E27FC236}">
                        <a16:creationId xmlns:a16="http://schemas.microsoft.com/office/drawing/2014/main" id="{8CE3E897-69A4-44D5-AA2C-CEED2AFEAF2F}"/>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4" name="TextBox 288">
                    <a:extLst>
                      <a:ext uri="{FF2B5EF4-FFF2-40B4-BE49-F238E27FC236}">
                        <a16:creationId xmlns:a16="http://schemas.microsoft.com/office/drawing/2014/main" id="{69D62433-C835-417C-A8D7-91BC91CCFE36}"/>
                      </a:ext>
                    </a:extLst>
                  </p:cNvPr>
                  <p:cNvSpPr txBox="1"/>
                  <p:nvPr/>
                </p:nvSpPr>
                <p:spPr>
                  <a:xfrm>
                    <a:off x="667045" y="1708643"/>
                    <a:ext cx="326740" cy="398272"/>
                  </a:xfrm>
                  <a:prstGeom prst="rect">
                    <a:avLst/>
                  </a:prstGeom>
                  <a:noFill/>
                </p:spPr>
                <p:txBody>
                  <a:bodyPr wrap="none" rtlCol="0">
                    <a:spAutoFit/>
                  </a:bodyPr>
                  <a:lstStyle/>
                  <a:p>
                    <a:r>
                      <a:rPr lang="en-US" dirty="0"/>
                      <a:t>1c</a:t>
                    </a:r>
                  </a:p>
                </p:txBody>
              </p:sp>
            </p:grpSp>
          </p:grpSp>
          <p:grpSp>
            <p:nvGrpSpPr>
              <p:cNvPr id="11" name="Group 265">
                <a:extLst>
                  <a:ext uri="{FF2B5EF4-FFF2-40B4-BE49-F238E27FC236}">
                    <a16:creationId xmlns:a16="http://schemas.microsoft.com/office/drawing/2014/main" id="{46128659-E78B-4483-A374-507589742B0D}"/>
                  </a:ext>
                </a:extLst>
              </p:cNvPr>
              <p:cNvGrpSpPr/>
              <p:nvPr/>
            </p:nvGrpSpPr>
            <p:grpSpPr>
              <a:xfrm>
                <a:off x="833331" y="3478719"/>
                <a:ext cx="565150" cy="398272"/>
                <a:chOff x="1736090" y="2873352"/>
                <a:chExt cx="565150" cy="398272"/>
              </a:xfrm>
            </p:grpSpPr>
            <p:grpSp>
              <p:nvGrpSpPr>
                <p:cNvPr id="18" name="Group 327">
                  <a:extLst>
                    <a:ext uri="{FF2B5EF4-FFF2-40B4-BE49-F238E27FC236}">
                      <a16:creationId xmlns:a16="http://schemas.microsoft.com/office/drawing/2014/main" id="{98852D64-5E90-44A5-B1C3-91DD57E87B86}"/>
                    </a:ext>
                  </a:extLst>
                </p:cNvPr>
                <p:cNvGrpSpPr>
                  <a:grpSpLocks/>
                </p:cNvGrpSpPr>
                <p:nvPr/>
              </p:nvGrpSpPr>
              <p:grpSpPr bwMode="auto">
                <a:xfrm>
                  <a:off x="1736090" y="2893762"/>
                  <a:ext cx="565150" cy="292100"/>
                  <a:chOff x="1871277" y="1576300"/>
                  <a:chExt cx="1128371" cy="437861"/>
                </a:xfrm>
              </p:grpSpPr>
              <p:sp>
                <p:nvSpPr>
                  <p:cNvPr id="22" name="Oval 276">
                    <a:extLst>
                      <a:ext uri="{FF2B5EF4-FFF2-40B4-BE49-F238E27FC236}">
                        <a16:creationId xmlns:a16="http://schemas.microsoft.com/office/drawing/2014/main" id="{48DA2822-C33A-4B18-83CC-8F0024783011}"/>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 name="Rectangle 277">
                    <a:extLst>
                      <a:ext uri="{FF2B5EF4-FFF2-40B4-BE49-F238E27FC236}">
                        <a16:creationId xmlns:a16="http://schemas.microsoft.com/office/drawing/2014/main" id="{17C7743C-39FD-4369-B3DE-F01002660AFF}"/>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 name="Oval 278">
                    <a:extLst>
                      <a:ext uri="{FF2B5EF4-FFF2-40B4-BE49-F238E27FC236}">
                        <a16:creationId xmlns:a16="http://schemas.microsoft.com/office/drawing/2014/main" id="{2DDD0674-1A22-4F01-A88E-1F5A0CC7B7ED}"/>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 name="Freeform 279">
                    <a:extLst>
                      <a:ext uri="{FF2B5EF4-FFF2-40B4-BE49-F238E27FC236}">
                        <a16:creationId xmlns:a16="http://schemas.microsoft.com/office/drawing/2014/main" id="{045FE85B-3C27-4525-BB0A-DDF0880337D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 name="Freeform 280">
                    <a:extLst>
                      <a:ext uri="{FF2B5EF4-FFF2-40B4-BE49-F238E27FC236}">
                        <a16:creationId xmlns:a16="http://schemas.microsoft.com/office/drawing/2014/main" id="{5D16138A-24B2-45C0-886E-25665A55018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 name="Freeform 281">
                    <a:extLst>
                      <a:ext uri="{FF2B5EF4-FFF2-40B4-BE49-F238E27FC236}">
                        <a16:creationId xmlns:a16="http://schemas.microsoft.com/office/drawing/2014/main" id="{F39EF364-A408-450A-B72B-F4D3E72EDC9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 name="Freeform 282">
                    <a:extLst>
                      <a:ext uri="{FF2B5EF4-FFF2-40B4-BE49-F238E27FC236}">
                        <a16:creationId xmlns:a16="http://schemas.microsoft.com/office/drawing/2014/main" id="{B3517B7D-1080-4C79-A740-1D961009E91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 name="Straight Connector 283">
                    <a:extLst>
                      <a:ext uri="{FF2B5EF4-FFF2-40B4-BE49-F238E27FC236}">
                        <a16:creationId xmlns:a16="http://schemas.microsoft.com/office/drawing/2014/main" id="{A84B3B45-C82B-4DDC-9EDD-7A75E07D4BEB}"/>
                      </a:ext>
                    </a:extLst>
                  </p:cNvPr>
                  <p:cNvCxnSpPr>
                    <a:endCxn id="2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 name="Straight Connector 284">
                    <a:extLst>
                      <a:ext uri="{FF2B5EF4-FFF2-40B4-BE49-F238E27FC236}">
                        <a16:creationId xmlns:a16="http://schemas.microsoft.com/office/drawing/2014/main" id="{188A357D-46DB-4FAE-9B27-7086B0E89FEF}"/>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 name="Group 273">
                  <a:extLst>
                    <a:ext uri="{FF2B5EF4-FFF2-40B4-BE49-F238E27FC236}">
                      <a16:creationId xmlns:a16="http://schemas.microsoft.com/office/drawing/2014/main" id="{4FD0FC09-6DAC-4C4B-AB06-31C93E896FF5}"/>
                    </a:ext>
                  </a:extLst>
                </p:cNvPr>
                <p:cNvGrpSpPr/>
                <p:nvPr/>
              </p:nvGrpSpPr>
              <p:grpSpPr>
                <a:xfrm>
                  <a:off x="1770362" y="2873352"/>
                  <a:ext cx="414737" cy="398272"/>
                  <a:chOff x="667045" y="1708643"/>
                  <a:chExt cx="414737" cy="398272"/>
                </a:xfrm>
              </p:grpSpPr>
              <p:sp>
                <p:nvSpPr>
                  <p:cNvPr id="20" name="Oval 274">
                    <a:extLst>
                      <a:ext uri="{FF2B5EF4-FFF2-40B4-BE49-F238E27FC236}">
                        <a16:creationId xmlns:a16="http://schemas.microsoft.com/office/drawing/2014/main" id="{55649870-0F6C-4F68-A3AB-6D23762E129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extBox 275">
                    <a:extLst>
                      <a:ext uri="{FF2B5EF4-FFF2-40B4-BE49-F238E27FC236}">
                        <a16:creationId xmlns:a16="http://schemas.microsoft.com/office/drawing/2014/main" id="{702E50EA-7EFB-4013-9A2E-945CDFD69F3A}"/>
                      </a:ext>
                    </a:extLst>
                  </p:cNvPr>
                  <p:cNvSpPr txBox="1"/>
                  <p:nvPr/>
                </p:nvSpPr>
                <p:spPr>
                  <a:xfrm>
                    <a:off x="667045" y="1708643"/>
                    <a:ext cx="335667" cy="398272"/>
                  </a:xfrm>
                  <a:prstGeom prst="rect">
                    <a:avLst/>
                  </a:prstGeom>
                  <a:noFill/>
                </p:spPr>
                <p:txBody>
                  <a:bodyPr wrap="none" rtlCol="0">
                    <a:spAutoFit/>
                  </a:bodyPr>
                  <a:lstStyle/>
                  <a:p>
                    <a:r>
                      <a:rPr lang="en-US" dirty="0"/>
                      <a:t>1a</a:t>
                    </a:r>
                  </a:p>
                </p:txBody>
              </p:sp>
            </p:grpSp>
          </p:grpSp>
          <p:cxnSp>
            <p:nvCxnSpPr>
              <p:cNvPr id="12" name="Straight Connector 266">
                <a:extLst>
                  <a:ext uri="{FF2B5EF4-FFF2-40B4-BE49-F238E27FC236}">
                    <a16:creationId xmlns:a16="http://schemas.microsoft.com/office/drawing/2014/main" id="{B69B125B-47E2-43F9-BECB-D16A2E58CD29}"/>
                  </a:ext>
                </a:extLst>
              </p:cNvPr>
              <p:cNvCxnSpPr>
                <a:stCxn id="60" idx="2"/>
                <a:endCxn id="47" idx="0"/>
              </p:cNvCxnSpPr>
              <p:nvPr/>
            </p:nvCxnSpPr>
            <p:spPr bwMode="auto">
              <a:xfrm>
                <a:off x="1945210" y="3271623"/>
                <a:ext cx="4230" cy="82304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Connector 267">
                <a:extLst>
                  <a:ext uri="{FF2B5EF4-FFF2-40B4-BE49-F238E27FC236}">
                    <a16:creationId xmlns:a16="http://schemas.microsoft.com/office/drawing/2014/main" id="{02803CF2-01D4-4FB1-9A0E-98BB7CD08539}"/>
                  </a:ext>
                </a:extLst>
              </p:cNvPr>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Connector 268">
                <a:extLst>
                  <a:ext uri="{FF2B5EF4-FFF2-40B4-BE49-F238E27FC236}">
                    <a16:creationId xmlns:a16="http://schemas.microsoft.com/office/drawing/2014/main" id="{A0300267-5A93-4EC2-A68B-7C50037DD3B1}"/>
                  </a:ext>
                </a:extLst>
              </p:cNvPr>
              <p:cNvCxnSpPr>
                <a:stCxn id="61"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Connector 269">
                <a:extLst>
                  <a:ext uri="{FF2B5EF4-FFF2-40B4-BE49-F238E27FC236}">
                    <a16:creationId xmlns:a16="http://schemas.microsoft.com/office/drawing/2014/main" id="{6EBB88D2-6EF7-4C7D-87A6-1F7CF11F2C67}"/>
                  </a:ext>
                </a:extLst>
              </p:cNvPr>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Connector 270">
                <a:extLst>
                  <a:ext uri="{FF2B5EF4-FFF2-40B4-BE49-F238E27FC236}">
                    <a16:creationId xmlns:a16="http://schemas.microsoft.com/office/drawing/2014/main" id="{5170768E-55E0-4BA9-B156-369400021E89}"/>
                  </a:ext>
                </a:extLst>
              </p:cNvPr>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Straight Connector 271">
                <a:extLst>
                  <a:ext uri="{FF2B5EF4-FFF2-40B4-BE49-F238E27FC236}">
                    <a16:creationId xmlns:a16="http://schemas.microsoft.com/office/drawing/2014/main" id="{7372B774-295C-4C93-9AB1-F9D7C0FB33A9}"/>
                  </a:ext>
                </a:extLst>
              </p:cNvPr>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70" name="Group 125">
            <a:extLst>
              <a:ext uri="{FF2B5EF4-FFF2-40B4-BE49-F238E27FC236}">
                <a16:creationId xmlns:a16="http://schemas.microsoft.com/office/drawing/2014/main" id="{4DD5DBE8-2308-45FC-BE4F-10624ADA8E8A}"/>
              </a:ext>
            </a:extLst>
          </p:cNvPr>
          <p:cNvGrpSpPr/>
          <p:nvPr/>
        </p:nvGrpSpPr>
        <p:grpSpPr>
          <a:xfrm>
            <a:off x="4394016" y="2282358"/>
            <a:ext cx="3394251" cy="1720535"/>
            <a:chOff x="-2170772" y="2784954"/>
            <a:chExt cx="2712783" cy="1853712"/>
          </a:xfrm>
        </p:grpSpPr>
        <p:sp>
          <p:nvSpPr>
            <p:cNvPr id="71" name="Freeform 2">
              <a:extLst>
                <a:ext uri="{FF2B5EF4-FFF2-40B4-BE49-F238E27FC236}">
                  <a16:creationId xmlns:a16="http://schemas.microsoft.com/office/drawing/2014/main" id="{24CCDDA4-C967-4CAC-85A1-889EF9C8C2EA}"/>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2" name="Group 197">
              <a:extLst>
                <a:ext uri="{FF2B5EF4-FFF2-40B4-BE49-F238E27FC236}">
                  <a16:creationId xmlns:a16="http://schemas.microsoft.com/office/drawing/2014/main" id="{AFFBC324-6EC9-4045-AA9B-923EF87E7780}"/>
                </a:ext>
              </a:extLst>
            </p:cNvPr>
            <p:cNvGrpSpPr/>
            <p:nvPr/>
          </p:nvGrpSpPr>
          <p:grpSpPr>
            <a:xfrm>
              <a:off x="-1935370" y="2935816"/>
              <a:ext cx="2333625" cy="1619237"/>
              <a:chOff x="833331" y="2873352"/>
              <a:chExt cx="2333625" cy="1619237"/>
            </a:xfrm>
          </p:grpSpPr>
          <p:grpSp>
            <p:nvGrpSpPr>
              <p:cNvPr id="73" name="Group 198">
                <a:extLst>
                  <a:ext uri="{FF2B5EF4-FFF2-40B4-BE49-F238E27FC236}">
                    <a16:creationId xmlns:a16="http://schemas.microsoft.com/office/drawing/2014/main" id="{3A70A2C0-477C-4C40-95D5-091D37A27F39}"/>
                  </a:ext>
                </a:extLst>
              </p:cNvPr>
              <p:cNvGrpSpPr/>
              <p:nvPr/>
            </p:nvGrpSpPr>
            <p:grpSpPr>
              <a:xfrm>
                <a:off x="1736090" y="2873352"/>
                <a:ext cx="565150" cy="397920"/>
                <a:chOff x="1736090" y="2873352"/>
                <a:chExt cx="565150" cy="397920"/>
              </a:xfrm>
            </p:grpSpPr>
            <p:grpSp>
              <p:nvGrpSpPr>
                <p:cNvPr id="122" name="Group 327">
                  <a:extLst>
                    <a:ext uri="{FF2B5EF4-FFF2-40B4-BE49-F238E27FC236}">
                      <a16:creationId xmlns:a16="http://schemas.microsoft.com/office/drawing/2014/main" id="{839745E5-45C3-488E-848B-ED60ED79B1E6}"/>
                    </a:ext>
                  </a:extLst>
                </p:cNvPr>
                <p:cNvGrpSpPr>
                  <a:grpSpLocks/>
                </p:cNvGrpSpPr>
                <p:nvPr/>
              </p:nvGrpSpPr>
              <p:grpSpPr bwMode="auto">
                <a:xfrm>
                  <a:off x="1736090" y="2893762"/>
                  <a:ext cx="565150" cy="292100"/>
                  <a:chOff x="1871277" y="1576300"/>
                  <a:chExt cx="1128371" cy="437861"/>
                </a:xfrm>
              </p:grpSpPr>
              <p:sp>
                <p:nvSpPr>
                  <p:cNvPr id="126" name="Oval 251">
                    <a:extLst>
                      <a:ext uri="{FF2B5EF4-FFF2-40B4-BE49-F238E27FC236}">
                        <a16:creationId xmlns:a16="http://schemas.microsoft.com/office/drawing/2014/main" id="{9B0099F0-C66E-4E68-B89C-9A44B5E99730}"/>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7" name="Rectangle 252">
                    <a:extLst>
                      <a:ext uri="{FF2B5EF4-FFF2-40B4-BE49-F238E27FC236}">
                        <a16:creationId xmlns:a16="http://schemas.microsoft.com/office/drawing/2014/main" id="{0AD75D57-448D-4EF6-8B2F-4E2AA7B88C7F}"/>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8" name="Oval 253">
                    <a:extLst>
                      <a:ext uri="{FF2B5EF4-FFF2-40B4-BE49-F238E27FC236}">
                        <a16:creationId xmlns:a16="http://schemas.microsoft.com/office/drawing/2014/main" id="{A98E2850-3D64-4BB4-BFDD-0438330B5455}"/>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9" name="Freeform 254">
                    <a:extLst>
                      <a:ext uri="{FF2B5EF4-FFF2-40B4-BE49-F238E27FC236}">
                        <a16:creationId xmlns:a16="http://schemas.microsoft.com/office/drawing/2014/main" id="{A12C904F-AFC9-471B-9ED0-75A2F17799F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0" name="Freeform 255">
                    <a:extLst>
                      <a:ext uri="{FF2B5EF4-FFF2-40B4-BE49-F238E27FC236}">
                        <a16:creationId xmlns:a16="http://schemas.microsoft.com/office/drawing/2014/main" id="{D21B9973-5C60-4DFE-A160-103B9F77229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Freeform 256">
                    <a:extLst>
                      <a:ext uri="{FF2B5EF4-FFF2-40B4-BE49-F238E27FC236}">
                        <a16:creationId xmlns:a16="http://schemas.microsoft.com/office/drawing/2014/main" id="{99DDF9C3-AB7A-4AA1-90D1-C3D9619258B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2" name="Freeform 257">
                    <a:extLst>
                      <a:ext uri="{FF2B5EF4-FFF2-40B4-BE49-F238E27FC236}">
                        <a16:creationId xmlns:a16="http://schemas.microsoft.com/office/drawing/2014/main" id="{ACDFCE31-52ED-4019-B0C8-91CE95A6B3A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3" name="Straight Connector 258">
                    <a:extLst>
                      <a:ext uri="{FF2B5EF4-FFF2-40B4-BE49-F238E27FC236}">
                        <a16:creationId xmlns:a16="http://schemas.microsoft.com/office/drawing/2014/main" id="{592345DC-F8BF-443F-BAE7-2CC7F67C5622}"/>
                      </a:ext>
                    </a:extLst>
                  </p:cNvPr>
                  <p:cNvCxnSpPr>
                    <a:endCxn id="1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4" name="Straight Connector 259">
                    <a:extLst>
                      <a:ext uri="{FF2B5EF4-FFF2-40B4-BE49-F238E27FC236}">
                        <a16:creationId xmlns:a16="http://schemas.microsoft.com/office/drawing/2014/main" id="{B874AFD1-6954-4D37-8F7B-E255A7FCC285}"/>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3" name="Group 248">
                  <a:extLst>
                    <a:ext uri="{FF2B5EF4-FFF2-40B4-BE49-F238E27FC236}">
                      <a16:creationId xmlns:a16="http://schemas.microsoft.com/office/drawing/2014/main" id="{F92DD4BA-9C4F-4278-9D85-D27FE869E1C1}"/>
                    </a:ext>
                  </a:extLst>
                </p:cNvPr>
                <p:cNvGrpSpPr/>
                <p:nvPr/>
              </p:nvGrpSpPr>
              <p:grpSpPr>
                <a:xfrm>
                  <a:off x="1770362" y="2873352"/>
                  <a:ext cx="414737" cy="397920"/>
                  <a:chOff x="667045" y="1708643"/>
                  <a:chExt cx="414737" cy="397920"/>
                </a:xfrm>
              </p:grpSpPr>
              <p:sp>
                <p:nvSpPr>
                  <p:cNvPr id="124" name="Oval 249">
                    <a:extLst>
                      <a:ext uri="{FF2B5EF4-FFF2-40B4-BE49-F238E27FC236}">
                        <a16:creationId xmlns:a16="http://schemas.microsoft.com/office/drawing/2014/main" id="{926AE3B0-0F2F-4002-A557-C30A1A9D30A4}"/>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5" name="TextBox 250">
                    <a:extLst>
                      <a:ext uri="{FF2B5EF4-FFF2-40B4-BE49-F238E27FC236}">
                        <a16:creationId xmlns:a16="http://schemas.microsoft.com/office/drawing/2014/main" id="{72F17ECF-928B-44AD-8666-3468F744DC97}"/>
                      </a:ext>
                    </a:extLst>
                  </p:cNvPr>
                  <p:cNvSpPr txBox="1"/>
                  <p:nvPr/>
                </p:nvSpPr>
                <p:spPr>
                  <a:xfrm>
                    <a:off x="667045" y="1708643"/>
                    <a:ext cx="351296" cy="397920"/>
                  </a:xfrm>
                  <a:prstGeom prst="rect">
                    <a:avLst/>
                  </a:prstGeom>
                  <a:noFill/>
                </p:spPr>
                <p:txBody>
                  <a:bodyPr wrap="none" rtlCol="0">
                    <a:spAutoFit/>
                  </a:bodyPr>
                  <a:lstStyle/>
                  <a:p>
                    <a:r>
                      <a:rPr lang="en-US" dirty="0"/>
                      <a:t>2b</a:t>
                    </a:r>
                  </a:p>
                </p:txBody>
              </p:sp>
            </p:grpSp>
          </p:grpSp>
          <p:grpSp>
            <p:nvGrpSpPr>
              <p:cNvPr id="74" name="Group 199">
                <a:extLst>
                  <a:ext uri="{FF2B5EF4-FFF2-40B4-BE49-F238E27FC236}">
                    <a16:creationId xmlns:a16="http://schemas.microsoft.com/office/drawing/2014/main" id="{600D5D11-0DF0-407A-82B9-E5CC5595C0B8}"/>
                  </a:ext>
                </a:extLst>
              </p:cNvPr>
              <p:cNvGrpSpPr/>
              <p:nvPr/>
            </p:nvGrpSpPr>
            <p:grpSpPr>
              <a:xfrm>
                <a:off x="1740320" y="4094669"/>
                <a:ext cx="565150" cy="397920"/>
                <a:chOff x="1736090" y="2873352"/>
                <a:chExt cx="565150" cy="397920"/>
              </a:xfrm>
            </p:grpSpPr>
            <p:grpSp>
              <p:nvGrpSpPr>
                <p:cNvPr id="109" name="Group 327">
                  <a:extLst>
                    <a:ext uri="{FF2B5EF4-FFF2-40B4-BE49-F238E27FC236}">
                      <a16:creationId xmlns:a16="http://schemas.microsoft.com/office/drawing/2014/main" id="{90662939-8008-4CD0-952E-D0A29C93338D}"/>
                    </a:ext>
                  </a:extLst>
                </p:cNvPr>
                <p:cNvGrpSpPr>
                  <a:grpSpLocks/>
                </p:cNvGrpSpPr>
                <p:nvPr/>
              </p:nvGrpSpPr>
              <p:grpSpPr bwMode="auto">
                <a:xfrm>
                  <a:off x="1736090" y="2893762"/>
                  <a:ext cx="565150" cy="292100"/>
                  <a:chOff x="1871277" y="1576300"/>
                  <a:chExt cx="1128371" cy="437861"/>
                </a:xfrm>
              </p:grpSpPr>
              <p:sp>
                <p:nvSpPr>
                  <p:cNvPr id="113" name="Oval 238">
                    <a:extLst>
                      <a:ext uri="{FF2B5EF4-FFF2-40B4-BE49-F238E27FC236}">
                        <a16:creationId xmlns:a16="http://schemas.microsoft.com/office/drawing/2014/main" id="{609F747E-2A19-4B54-92F1-0F5C24DD8DE4}"/>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 name="Rectangle 239">
                    <a:extLst>
                      <a:ext uri="{FF2B5EF4-FFF2-40B4-BE49-F238E27FC236}">
                        <a16:creationId xmlns:a16="http://schemas.microsoft.com/office/drawing/2014/main" id="{6A827180-568A-46D5-83CE-A3E62205FC30}"/>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Oval 240">
                    <a:extLst>
                      <a:ext uri="{FF2B5EF4-FFF2-40B4-BE49-F238E27FC236}">
                        <a16:creationId xmlns:a16="http://schemas.microsoft.com/office/drawing/2014/main" id="{FB19D6A8-FD6E-4469-A59A-1C1CCCC7B773}"/>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 name="Freeform 241">
                    <a:extLst>
                      <a:ext uri="{FF2B5EF4-FFF2-40B4-BE49-F238E27FC236}">
                        <a16:creationId xmlns:a16="http://schemas.microsoft.com/office/drawing/2014/main" id="{47BA6689-2F73-4929-9896-3D6A78CD7A0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 name="Freeform 242">
                    <a:extLst>
                      <a:ext uri="{FF2B5EF4-FFF2-40B4-BE49-F238E27FC236}">
                        <a16:creationId xmlns:a16="http://schemas.microsoft.com/office/drawing/2014/main" id="{C7BEA0F2-3D9C-4444-A22C-8F8E984CC2FD}"/>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Freeform 243">
                    <a:extLst>
                      <a:ext uri="{FF2B5EF4-FFF2-40B4-BE49-F238E27FC236}">
                        <a16:creationId xmlns:a16="http://schemas.microsoft.com/office/drawing/2014/main" id="{5A67555E-4DE3-4F3F-901E-00B938E575D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9" name="Freeform 244">
                    <a:extLst>
                      <a:ext uri="{FF2B5EF4-FFF2-40B4-BE49-F238E27FC236}">
                        <a16:creationId xmlns:a16="http://schemas.microsoft.com/office/drawing/2014/main" id="{898CE87C-22FD-4EE0-BCC1-B78064F7B52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0" name="Straight Connector 245">
                    <a:extLst>
                      <a:ext uri="{FF2B5EF4-FFF2-40B4-BE49-F238E27FC236}">
                        <a16:creationId xmlns:a16="http://schemas.microsoft.com/office/drawing/2014/main" id="{D27AFA2C-7A9C-4249-8323-13AC839E83A0}"/>
                      </a:ext>
                    </a:extLst>
                  </p:cNvPr>
                  <p:cNvCxnSpPr>
                    <a:endCxn id="1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1" name="Straight Connector 246">
                    <a:extLst>
                      <a:ext uri="{FF2B5EF4-FFF2-40B4-BE49-F238E27FC236}">
                        <a16:creationId xmlns:a16="http://schemas.microsoft.com/office/drawing/2014/main" id="{9141B5BB-31AC-47C9-B57E-75B33C34BA05}"/>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0" name="Group 235">
                  <a:extLst>
                    <a:ext uri="{FF2B5EF4-FFF2-40B4-BE49-F238E27FC236}">
                      <a16:creationId xmlns:a16="http://schemas.microsoft.com/office/drawing/2014/main" id="{E34C0925-6CC8-4536-A95F-3EADB3F4EFBF}"/>
                    </a:ext>
                  </a:extLst>
                </p:cNvPr>
                <p:cNvGrpSpPr/>
                <p:nvPr/>
              </p:nvGrpSpPr>
              <p:grpSpPr>
                <a:xfrm>
                  <a:off x="1770362" y="2873352"/>
                  <a:ext cx="414737" cy="397920"/>
                  <a:chOff x="667045" y="1708643"/>
                  <a:chExt cx="414737" cy="397920"/>
                </a:xfrm>
              </p:grpSpPr>
              <p:sp>
                <p:nvSpPr>
                  <p:cNvPr id="111" name="Oval 236">
                    <a:extLst>
                      <a:ext uri="{FF2B5EF4-FFF2-40B4-BE49-F238E27FC236}">
                        <a16:creationId xmlns:a16="http://schemas.microsoft.com/office/drawing/2014/main" id="{8CFD5670-0C06-4E37-89D5-5F16884F3E2C}"/>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2" name="TextBox 237">
                    <a:extLst>
                      <a:ext uri="{FF2B5EF4-FFF2-40B4-BE49-F238E27FC236}">
                        <a16:creationId xmlns:a16="http://schemas.microsoft.com/office/drawing/2014/main" id="{50EB4CB8-18EA-4E67-8CB7-849470C9DBAD}"/>
                      </a:ext>
                    </a:extLst>
                  </p:cNvPr>
                  <p:cNvSpPr txBox="1"/>
                  <p:nvPr/>
                </p:nvSpPr>
                <p:spPr>
                  <a:xfrm>
                    <a:off x="667045" y="1708643"/>
                    <a:ext cx="351296" cy="397920"/>
                  </a:xfrm>
                  <a:prstGeom prst="rect">
                    <a:avLst/>
                  </a:prstGeom>
                  <a:noFill/>
                </p:spPr>
                <p:txBody>
                  <a:bodyPr wrap="none" rtlCol="0">
                    <a:spAutoFit/>
                  </a:bodyPr>
                  <a:lstStyle/>
                  <a:p>
                    <a:r>
                      <a:rPr lang="en-US" dirty="0"/>
                      <a:t>2d</a:t>
                    </a:r>
                  </a:p>
                </p:txBody>
              </p:sp>
            </p:grpSp>
          </p:grpSp>
          <p:grpSp>
            <p:nvGrpSpPr>
              <p:cNvPr id="75" name="Group 200">
                <a:extLst>
                  <a:ext uri="{FF2B5EF4-FFF2-40B4-BE49-F238E27FC236}">
                    <a16:creationId xmlns:a16="http://schemas.microsoft.com/office/drawing/2014/main" id="{7AB271CC-BC22-4B69-A91E-17124573C629}"/>
                  </a:ext>
                </a:extLst>
              </p:cNvPr>
              <p:cNvGrpSpPr/>
              <p:nvPr/>
            </p:nvGrpSpPr>
            <p:grpSpPr>
              <a:xfrm>
                <a:off x="2601806" y="3485072"/>
                <a:ext cx="565150" cy="397920"/>
                <a:chOff x="1736090" y="2873352"/>
                <a:chExt cx="565150" cy="397920"/>
              </a:xfrm>
            </p:grpSpPr>
            <p:grpSp>
              <p:nvGrpSpPr>
                <p:cNvPr id="96" name="Group 327">
                  <a:extLst>
                    <a:ext uri="{FF2B5EF4-FFF2-40B4-BE49-F238E27FC236}">
                      <a16:creationId xmlns:a16="http://schemas.microsoft.com/office/drawing/2014/main" id="{3C0BE5D5-64E5-4B4A-A784-7DDEC5E9A368}"/>
                    </a:ext>
                  </a:extLst>
                </p:cNvPr>
                <p:cNvGrpSpPr>
                  <a:grpSpLocks/>
                </p:cNvGrpSpPr>
                <p:nvPr/>
              </p:nvGrpSpPr>
              <p:grpSpPr bwMode="auto">
                <a:xfrm>
                  <a:off x="1736090" y="2893762"/>
                  <a:ext cx="565150" cy="292100"/>
                  <a:chOff x="1871277" y="1576300"/>
                  <a:chExt cx="1128371" cy="437861"/>
                </a:xfrm>
              </p:grpSpPr>
              <p:sp>
                <p:nvSpPr>
                  <p:cNvPr id="100" name="Oval 225">
                    <a:extLst>
                      <a:ext uri="{FF2B5EF4-FFF2-40B4-BE49-F238E27FC236}">
                        <a16:creationId xmlns:a16="http://schemas.microsoft.com/office/drawing/2014/main" id="{9A59BFDE-DD4C-4679-BF54-41211F2C3BBF}"/>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226">
                    <a:extLst>
                      <a:ext uri="{FF2B5EF4-FFF2-40B4-BE49-F238E27FC236}">
                        <a16:creationId xmlns:a16="http://schemas.microsoft.com/office/drawing/2014/main" id="{2366F756-78C4-4692-8212-6B309E09580B}"/>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227">
                    <a:extLst>
                      <a:ext uri="{FF2B5EF4-FFF2-40B4-BE49-F238E27FC236}">
                        <a16:creationId xmlns:a16="http://schemas.microsoft.com/office/drawing/2014/main" id="{78306CF3-E644-4A61-B0CE-72D448D5315E}"/>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228">
                    <a:extLst>
                      <a:ext uri="{FF2B5EF4-FFF2-40B4-BE49-F238E27FC236}">
                        <a16:creationId xmlns:a16="http://schemas.microsoft.com/office/drawing/2014/main" id="{68444D18-9D94-4C22-864C-EDEC96EDC71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229">
                    <a:extLst>
                      <a:ext uri="{FF2B5EF4-FFF2-40B4-BE49-F238E27FC236}">
                        <a16:creationId xmlns:a16="http://schemas.microsoft.com/office/drawing/2014/main" id="{A2F7B164-A20F-4CB1-89D2-92254146184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230">
                    <a:extLst>
                      <a:ext uri="{FF2B5EF4-FFF2-40B4-BE49-F238E27FC236}">
                        <a16:creationId xmlns:a16="http://schemas.microsoft.com/office/drawing/2014/main" id="{DCD42F82-F184-4F8C-A511-727CBA46FE9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231">
                    <a:extLst>
                      <a:ext uri="{FF2B5EF4-FFF2-40B4-BE49-F238E27FC236}">
                        <a16:creationId xmlns:a16="http://schemas.microsoft.com/office/drawing/2014/main" id="{FEBCF7EB-091F-426B-9462-8A1F0F207C1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232">
                    <a:extLst>
                      <a:ext uri="{FF2B5EF4-FFF2-40B4-BE49-F238E27FC236}">
                        <a16:creationId xmlns:a16="http://schemas.microsoft.com/office/drawing/2014/main" id="{75B1F53A-DC92-42B8-92F3-F58B697421EC}"/>
                      </a:ext>
                    </a:extLst>
                  </p:cNvPr>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233">
                    <a:extLst>
                      <a:ext uri="{FF2B5EF4-FFF2-40B4-BE49-F238E27FC236}">
                        <a16:creationId xmlns:a16="http://schemas.microsoft.com/office/drawing/2014/main" id="{4300AFA5-0EA7-44C8-B2C8-B9635D88666F}"/>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7" name="Group 222">
                  <a:extLst>
                    <a:ext uri="{FF2B5EF4-FFF2-40B4-BE49-F238E27FC236}">
                      <a16:creationId xmlns:a16="http://schemas.microsoft.com/office/drawing/2014/main" id="{C1400C6D-2D1A-46D3-B93C-B12C969EB7F4}"/>
                    </a:ext>
                  </a:extLst>
                </p:cNvPr>
                <p:cNvGrpSpPr/>
                <p:nvPr/>
              </p:nvGrpSpPr>
              <p:grpSpPr>
                <a:xfrm>
                  <a:off x="1770362" y="2873352"/>
                  <a:ext cx="414737" cy="397920"/>
                  <a:chOff x="667045" y="1708643"/>
                  <a:chExt cx="414737" cy="397920"/>
                </a:xfrm>
              </p:grpSpPr>
              <p:sp>
                <p:nvSpPr>
                  <p:cNvPr id="98" name="Oval 223">
                    <a:extLst>
                      <a:ext uri="{FF2B5EF4-FFF2-40B4-BE49-F238E27FC236}">
                        <a16:creationId xmlns:a16="http://schemas.microsoft.com/office/drawing/2014/main" id="{DD762FFF-7924-4195-99A2-B44F63AE26F0}"/>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9" name="TextBox 224">
                    <a:extLst>
                      <a:ext uri="{FF2B5EF4-FFF2-40B4-BE49-F238E27FC236}">
                        <a16:creationId xmlns:a16="http://schemas.microsoft.com/office/drawing/2014/main" id="{260837C8-095E-4B41-AC47-031BA7809668}"/>
                      </a:ext>
                    </a:extLst>
                  </p:cNvPr>
                  <p:cNvSpPr txBox="1"/>
                  <p:nvPr/>
                </p:nvSpPr>
                <p:spPr>
                  <a:xfrm>
                    <a:off x="667045" y="1708643"/>
                    <a:ext cx="328235" cy="397920"/>
                  </a:xfrm>
                  <a:prstGeom prst="rect">
                    <a:avLst/>
                  </a:prstGeom>
                  <a:noFill/>
                </p:spPr>
                <p:txBody>
                  <a:bodyPr wrap="none" rtlCol="0">
                    <a:spAutoFit/>
                  </a:bodyPr>
                  <a:lstStyle/>
                  <a:p>
                    <a:r>
                      <a:rPr lang="en-US" dirty="0"/>
                      <a:t>2c</a:t>
                    </a:r>
                  </a:p>
                </p:txBody>
              </p:sp>
            </p:grpSp>
          </p:grpSp>
          <p:grpSp>
            <p:nvGrpSpPr>
              <p:cNvPr id="76" name="Group 201">
                <a:extLst>
                  <a:ext uri="{FF2B5EF4-FFF2-40B4-BE49-F238E27FC236}">
                    <a16:creationId xmlns:a16="http://schemas.microsoft.com/office/drawing/2014/main" id="{F5D6BCB7-4CBE-450F-A228-EA8CB2E46888}"/>
                  </a:ext>
                </a:extLst>
              </p:cNvPr>
              <p:cNvGrpSpPr/>
              <p:nvPr/>
            </p:nvGrpSpPr>
            <p:grpSpPr>
              <a:xfrm>
                <a:off x="833331" y="3478719"/>
                <a:ext cx="565150" cy="397920"/>
                <a:chOff x="1736090" y="2873352"/>
                <a:chExt cx="565150" cy="397920"/>
              </a:xfrm>
            </p:grpSpPr>
            <p:grpSp>
              <p:nvGrpSpPr>
                <p:cNvPr id="83" name="Group 327">
                  <a:extLst>
                    <a:ext uri="{FF2B5EF4-FFF2-40B4-BE49-F238E27FC236}">
                      <a16:creationId xmlns:a16="http://schemas.microsoft.com/office/drawing/2014/main" id="{ADEAB2ED-819C-4A36-B5A6-4DE0FA9B9F00}"/>
                    </a:ext>
                  </a:extLst>
                </p:cNvPr>
                <p:cNvGrpSpPr>
                  <a:grpSpLocks/>
                </p:cNvGrpSpPr>
                <p:nvPr/>
              </p:nvGrpSpPr>
              <p:grpSpPr bwMode="auto">
                <a:xfrm>
                  <a:off x="1736090" y="2893762"/>
                  <a:ext cx="565150" cy="292100"/>
                  <a:chOff x="1871277" y="1576300"/>
                  <a:chExt cx="1128371" cy="437861"/>
                </a:xfrm>
              </p:grpSpPr>
              <p:sp>
                <p:nvSpPr>
                  <p:cNvPr id="87" name="Oval 212">
                    <a:extLst>
                      <a:ext uri="{FF2B5EF4-FFF2-40B4-BE49-F238E27FC236}">
                        <a16:creationId xmlns:a16="http://schemas.microsoft.com/office/drawing/2014/main" id="{233C67D6-D7D3-4255-8155-FC3DF7178A82}"/>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8" name="Rectangle 213">
                    <a:extLst>
                      <a:ext uri="{FF2B5EF4-FFF2-40B4-BE49-F238E27FC236}">
                        <a16:creationId xmlns:a16="http://schemas.microsoft.com/office/drawing/2014/main" id="{6E70B082-B251-4F95-9F99-4CCD2EB60DF0}"/>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Oval 214">
                    <a:extLst>
                      <a:ext uri="{FF2B5EF4-FFF2-40B4-BE49-F238E27FC236}">
                        <a16:creationId xmlns:a16="http://schemas.microsoft.com/office/drawing/2014/main" id="{95702A55-217E-4D46-BD08-56B02266EDEE}"/>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0" name="Freeform 215">
                    <a:extLst>
                      <a:ext uri="{FF2B5EF4-FFF2-40B4-BE49-F238E27FC236}">
                        <a16:creationId xmlns:a16="http://schemas.microsoft.com/office/drawing/2014/main" id="{75AE8FF0-534A-4684-BAF4-ECDD8803CFA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1" name="Freeform 216">
                    <a:extLst>
                      <a:ext uri="{FF2B5EF4-FFF2-40B4-BE49-F238E27FC236}">
                        <a16:creationId xmlns:a16="http://schemas.microsoft.com/office/drawing/2014/main" id="{E408F6C1-134B-4776-8FF4-59AC920CCBB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217">
                    <a:extLst>
                      <a:ext uri="{FF2B5EF4-FFF2-40B4-BE49-F238E27FC236}">
                        <a16:creationId xmlns:a16="http://schemas.microsoft.com/office/drawing/2014/main" id="{D283536D-AEFC-4328-8FE0-4203DC05EA0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218">
                    <a:extLst>
                      <a:ext uri="{FF2B5EF4-FFF2-40B4-BE49-F238E27FC236}">
                        <a16:creationId xmlns:a16="http://schemas.microsoft.com/office/drawing/2014/main" id="{875B43F1-25BC-4173-B82F-3BEBC25AF24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4" name="Straight Connector 219">
                    <a:extLst>
                      <a:ext uri="{FF2B5EF4-FFF2-40B4-BE49-F238E27FC236}">
                        <a16:creationId xmlns:a16="http://schemas.microsoft.com/office/drawing/2014/main" id="{D4692E5F-FC8F-4B6B-91E0-4B1A0BA21B0B}"/>
                      </a:ext>
                    </a:extLst>
                  </p:cNvPr>
                  <p:cNvCxnSpPr>
                    <a:endCxn id="8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5" name="Straight Connector 220">
                    <a:extLst>
                      <a:ext uri="{FF2B5EF4-FFF2-40B4-BE49-F238E27FC236}">
                        <a16:creationId xmlns:a16="http://schemas.microsoft.com/office/drawing/2014/main" id="{7B0ADC35-88AA-46C1-B33B-DBE50A1A20B4}"/>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209">
                  <a:extLst>
                    <a:ext uri="{FF2B5EF4-FFF2-40B4-BE49-F238E27FC236}">
                      <a16:creationId xmlns:a16="http://schemas.microsoft.com/office/drawing/2014/main" id="{3FFF1934-3C1B-470E-A3B1-4B7D41BE08C0}"/>
                    </a:ext>
                  </a:extLst>
                </p:cNvPr>
                <p:cNvGrpSpPr/>
                <p:nvPr/>
              </p:nvGrpSpPr>
              <p:grpSpPr>
                <a:xfrm>
                  <a:off x="1770362" y="2873352"/>
                  <a:ext cx="414737" cy="397920"/>
                  <a:chOff x="667045" y="1708643"/>
                  <a:chExt cx="414737" cy="397920"/>
                </a:xfrm>
              </p:grpSpPr>
              <p:sp>
                <p:nvSpPr>
                  <p:cNvPr id="85" name="Oval 210">
                    <a:extLst>
                      <a:ext uri="{FF2B5EF4-FFF2-40B4-BE49-F238E27FC236}">
                        <a16:creationId xmlns:a16="http://schemas.microsoft.com/office/drawing/2014/main" id="{12897A1D-CAD3-4A17-BBB4-3B0160B263C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6" name="TextBox 211">
                    <a:extLst>
                      <a:ext uri="{FF2B5EF4-FFF2-40B4-BE49-F238E27FC236}">
                        <a16:creationId xmlns:a16="http://schemas.microsoft.com/office/drawing/2014/main" id="{CCDCA0F9-0FEA-4EAD-B0DB-6167F28BCC0A}"/>
                      </a:ext>
                    </a:extLst>
                  </p:cNvPr>
                  <p:cNvSpPr txBox="1"/>
                  <p:nvPr/>
                </p:nvSpPr>
                <p:spPr>
                  <a:xfrm>
                    <a:off x="667045" y="1708643"/>
                    <a:ext cx="337203" cy="397920"/>
                  </a:xfrm>
                  <a:prstGeom prst="rect">
                    <a:avLst/>
                  </a:prstGeom>
                  <a:noFill/>
                </p:spPr>
                <p:txBody>
                  <a:bodyPr wrap="none" rtlCol="0">
                    <a:spAutoFit/>
                  </a:bodyPr>
                  <a:lstStyle/>
                  <a:p>
                    <a:r>
                      <a:rPr lang="en-US" dirty="0"/>
                      <a:t>2a</a:t>
                    </a:r>
                  </a:p>
                </p:txBody>
              </p:sp>
            </p:grpSp>
          </p:grpSp>
          <p:cxnSp>
            <p:nvCxnSpPr>
              <p:cNvPr id="77" name="Straight Connector 202">
                <a:extLst>
                  <a:ext uri="{FF2B5EF4-FFF2-40B4-BE49-F238E27FC236}">
                    <a16:creationId xmlns:a16="http://schemas.microsoft.com/office/drawing/2014/main" id="{26F635CB-BF5A-4C46-9E21-06A94201C914}"/>
                  </a:ext>
                </a:extLst>
              </p:cNvPr>
              <p:cNvCxnSpPr>
                <a:stCxn id="125" idx="2"/>
                <a:endCxn id="112" idx="0"/>
              </p:cNvCxnSpPr>
              <p:nvPr/>
            </p:nvCxnSpPr>
            <p:spPr bwMode="auto">
              <a:xfrm>
                <a:off x="1946010" y="3271272"/>
                <a:ext cx="4230" cy="82339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Straight Connector 203">
                <a:extLst>
                  <a:ext uri="{FF2B5EF4-FFF2-40B4-BE49-F238E27FC236}">
                    <a16:creationId xmlns:a16="http://schemas.microsoft.com/office/drawing/2014/main" id="{33FAA388-A0E6-4ACF-A57B-C84AD7B70C5F}"/>
                  </a:ext>
                </a:extLst>
              </p:cNvPr>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9" name="Straight Connector 204">
                <a:extLst>
                  <a:ext uri="{FF2B5EF4-FFF2-40B4-BE49-F238E27FC236}">
                    <a16:creationId xmlns:a16="http://schemas.microsoft.com/office/drawing/2014/main" id="{1D10ACD0-00B8-4E3B-8E89-F8953A7CC0AA}"/>
                  </a:ext>
                </a:extLst>
              </p:cNvPr>
              <p:cNvCxnSpPr>
                <a:stCxn id="12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Straight Connector 205">
                <a:extLst>
                  <a:ext uri="{FF2B5EF4-FFF2-40B4-BE49-F238E27FC236}">
                    <a16:creationId xmlns:a16="http://schemas.microsoft.com/office/drawing/2014/main" id="{73C827B3-2CE1-4AE7-9CA9-17C92185ADBE}"/>
                  </a:ext>
                </a:extLst>
              </p:cNvPr>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Straight Connector 206">
                <a:extLst>
                  <a:ext uri="{FF2B5EF4-FFF2-40B4-BE49-F238E27FC236}">
                    <a16:creationId xmlns:a16="http://schemas.microsoft.com/office/drawing/2014/main" id="{87E4330A-34AF-43C0-B984-1A6BD1352C2E}"/>
                  </a:ext>
                </a:extLst>
              </p:cNvPr>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Straight Connector 207">
                <a:extLst>
                  <a:ext uri="{FF2B5EF4-FFF2-40B4-BE49-F238E27FC236}">
                    <a16:creationId xmlns:a16="http://schemas.microsoft.com/office/drawing/2014/main" id="{1B720955-D314-47BC-8EC1-1CD87A06CBFA}"/>
                  </a:ext>
                </a:extLst>
              </p:cNvPr>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35" name="Freeform 2">
            <a:extLst>
              <a:ext uri="{FF2B5EF4-FFF2-40B4-BE49-F238E27FC236}">
                <a16:creationId xmlns:a16="http://schemas.microsoft.com/office/drawing/2014/main" id="{D9D5EC03-DB1D-47E7-B99D-77CDA609FCF3}"/>
              </a:ext>
            </a:extLst>
          </p:cNvPr>
          <p:cNvSpPr>
            <a:spLocks/>
          </p:cNvSpPr>
          <p:nvPr/>
        </p:nvSpPr>
        <p:spPr bwMode="auto">
          <a:xfrm>
            <a:off x="7343582" y="1310427"/>
            <a:ext cx="3434028"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36" name="Group 133">
            <a:extLst>
              <a:ext uri="{FF2B5EF4-FFF2-40B4-BE49-F238E27FC236}">
                <a16:creationId xmlns:a16="http://schemas.microsoft.com/office/drawing/2014/main" id="{49C633EB-57A1-4453-A397-C03F942428E7}"/>
              </a:ext>
            </a:extLst>
          </p:cNvPr>
          <p:cNvGrpSpPr/>
          <p:nvPr/>
        </p:nvGrpSpPr>
        <p:grpSpPr>
          <a:xfrm>
            <a:off x="7641569" y="1446544"/>
            <a:ext cx="2954064" cy="1471268"/>
            <a:chOff x="833331" y="2873352"/>
            <a:chExt cx="2333625" cy="1630661"/>
          </a:xfrm>
        </p:grpSpPr>
        <p:grpSp>
          <p:nvGrpSpPr>
            <p:cNvPr id="137" name="Group 134">
              <a:extLst>
                <a:ext uri="{FF2B5EF4-FFF2-40B4-BE49-F238E27FC236}">
                  <a16:creationId xmlns:a16="http://schemas.microsoft.com/office/drawing/2014/main" id="{57BDE72C-E564-423C-B32B-9F78ED81BB6E}"/>
                </a:ext>
              </a:extLst>
            </p:cNvPr>
            <p:cNvGrpSpPr/>
            <p:nvPr/>
          </p:nvGrpSpPr>
          <p:grpSpPr>
            <a:xfrm>
              <a:off x="1736090" y="2873352"/>
              <a:ext cx="565150" cy="409344"/>
              <a:chOff x="1736090" y="2873352"/>
              <a:chExt cx="565150" cy="409344"/>
            </a:xfrm>
          </p:grpSpPr>
          <p:grpSp>
            <p:nvGrpSpPr>
              <p:cNvPr id="186" name="Group 327">
                <a:extLst>
                  <a:ext uri="{FF2B5EF4-FFF2-40B4-BE49-F238E27FC236}">
                    <a16:creationId xmlns:a16="http://schemas.microsoft.com/office/drawing/2014/main" id="{426AD483-0F94-48FD-984B-31F9769D9D57}"/>
                  </a:ext>
                </a:extLst>
              </p:cNvPr>
              <p:cNvGrpSpPr>
                <a:grpSpLocks/>
              </p:cNvGrpSpPr>
              <p:nvPr/>
            </p:nvGrpSpPr>
            <p:grpSpPr bwMode="auto">
              <a:xfrm>
                <a:off x="1736090" y="2893762"/>
                <a:ext cx="565150" cy="292100"/>
                <a:chOff x="1871277" y="1576300"/>
                <a:chExt cx="1128371" cy="437861"/>
              </a:xfrm>
            </p:grpSpPr>
            <p:sp>
              <p:nvSpPr>
                <p:cNvPr id="190" name="Oval 187">
                  <a:extLst>
                    <a:ext uri="{FF2B5EF4-FFF2-40B4-BE49-F238E27FC236}">
                      <a16:creationId xmlns:a16="http://schemas.microsoft.com/office/drawing/2014/main" id="{A4E9CC77-0C0A-4DE9-BDE2-B6D7847627C2}"/>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Rectangle 188">
                  <a:extLst>
                    <a:ext uri="{FF2B5EF4-FFF2-40B4-BE49-F238E27FC236}">
                      <a16:creationId xmlns:a16="http://schemas.microsoft.com/office/drawing/2014/main" id="{1E3A49FA-2858-458D-AC55-396E66C2D005}"/>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Oval 189">
                  <a:extLst>
                    <a:ext uri="{FF2B5EF4-FFF2-40B4-BE49-F238E27FC236}">
                      <a16:creationId xmlns:a16="http://schemas.microsoft.com/office/drawing/2014/main" id="{534A3E6C-91F3-40AF-A596-DD13D31F47BC}"/>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3" name="Freeform 190">
                  <a:extLst>
                    <a:ext uri="{FF2B5EF4-FFF2-40B4-BE49-F238E27FC236}">
                      <a16:creationId xmlns:a16="http://schemas.microsoft.com/office/drawing/2014/main" id="{4F0291F4-6EDE-4F8C-941A-1DABA53E00F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1">
                  <a:extLst>
                    <a:ext uri="{FF2B5EF4-FFF2-40B4-BE49-F238E27FC236}">
                      <a16:creationId xmlns:a16="http://schemas.microsoft.com/office/drawing/2014/main" id="{2D8CC994-DC77-405C-A0F7-7E13CD0550B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2">
                  <a:extLst>
                    <a:ext uri="{FF2B5EF4-FFF2-40B4-BE49-F238E27FC236}">
                      <a16:creationId xmlns:a16="http://schemas.microsoft.com/office/drawing/2014/main" id="{FA302BB4-E144-4F21-9126-BDB0D3ABDEB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3">
                  <a:extLst>
                    <a:ext uri="{FF2B5EF4-FFF2-40B4-BE49-F238E27FC236}">
                      <a16:creationId xmlns:a16="http://schemas.microsoft.com/office/drawing/2014/main" id="{DB997E19-6C06-4C5F-AFBF-608269E71ED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7" name="Straight Connector 194">
                  <a:extLst>
                    <a:ext uri="{FF2B5EF4-FFF2-40B4-BE49-F238E27FC236}">
                      <a16:creationId xmlns:a16="http://schemas.microsoft.com/office/drawing/2014/main" id="{8BF24306-9E6E-4F16-A6CD-F2C10F71676B}"/>
                    </a:ext>
                  </a:extLst>
                </p:cNvPr>
                <p:cNvCxnSpPr>
                  <a:endCxn id="1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8" name="Straight Connector 195">
                  <a:extLst>
                    <a:ext uri="{FF2B5EF4-FFF2-40B4-BE49-F238E27FC236}">
                      <a16:creationId xmlns:a16="http://schemas.microsoft.com/office/drawing/2014/main" id="{52215AF4-8AB9-441C-966A-2F259DCC9DC7}"/>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7" name="Group 184">
                <a:extLst>
                  <a:ext uri="{FF2B5EF4-FFF2-40B4-BE49-F238E27FC236}">
                    <a16:creationId xmlns:a16="http://schemas.microsoft.com/office/drawing/2014/main" id="{A67A0322-A158-4E31-B666-9E1F92C6E421}"/>
                  </a:ext>
                </a:extLst>
              </p:cNvPr>
              <p:cNvGrpSpPr/>
              <p:nvPr/>
            </p:nvGrpSpPr>
            <p:grpSpPr>
              <a:xfrm>
                <a:off x="1770362" y="2873352"/>
                <a:ext cx="414737" cy="409344"/>
                <a:chOff x="667045" y="1708643"/>
                <a:chExt cx="414737" cy="409344"/>
              </a:xfrm>
            </p:grpSpPr>
            <p:sp>
              <p:nvSpPr>
                <p:cNvPr id="188" name="Oval 185">
                  <a:extLst>
                    <a:ext uri="{FF2B5EF4-FFF2-40B4-BE49-F238E27FC236}">
                      <a16:creationId xmlns:a16="http://schemas.microsoft.com/office/drawing/2014/main" id="{2542CAA7-D193-45A6-BBDF-419D92035CB6}"/>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9" name="TextBox 186">
                  <a:extLst>
                    <a:ext uri="{FF2B5EF4-FFF2-40B4-BE49-F238E27FC236}">
                      <a16:creationId xmlns:a16="http://schemas.microsoft.com/office/drawing/2014/main" id="{D19B2666-3821-440D-BE1F-48E482AFE4A4}"/>
                    </a:ext>
                  </a:extLst>
                </p:cNvPr>
                <p:cNvSpPr txBox="1"/>
                <p:nvPr/>
              </p:nvSpPr>
              <p:spPr>
                <a:xfrm>
                  <a:off x="667045" y="1708643"/>
                  <a:ext cx="347227" cy="409344"/>
                </a:xfrm>
                <a:prstGeom prst="rect">
                  <a:avLst/>
                </a:prstGeom>
                <a:noFill/>
              </p:spPr>
              <p:txBody>
                <a:bodyPr wrap="none" rtlCol="0">
                  <a:spAutoFit/>
                </a:bodyPr>
                <a:lstStyle/>
                <a:p>
                  <a:r>
                    <a:rPr lang="en-US" dirty="0"/>
                    <a:t>3b</a:t>
                  </a:r>
                </a:p>
              </p:txBody>
            </p:sp>
          </p:grpSp>
        </p:grpSp>
        <p:grpSp>
          <p:nvGrpSpPr>
            <p:cNvPr id="138" name="Group 135">
              <a:extLst>
                <a:ext uri="{FF2B5EF4-FFF2-40B4-BE49-F238E27FC236}">
                  <a16:creationId xmlns:a16="http://schemas.microsoft.com/office/drawing/2014/main" id="{10A8B178-D0B8-4EC5-8F9F-997D6718D44F}"/>
                </a:ext>
              </a:extLst>
            </p:cNvPr>
            <p:cNvGrpSpPr/>
            <p:nvPr/>
          </p:nvGrpSpPr>
          <p:grpSpPr>
            <a:xfrm>
              <a:off x="1740320" y="4094669"/>
              <a:ext cx="565150" cy="409344"/>
              <a:chOff x="1736090" y="2873352"/>
              <a:chExt cx="565150" cy="409344"/>
            </a:xfrm>
          </p:grpSpPr>
          <p:grpSp>
            <p:nvGrpSpPr>
              <p:cNvPr id="173" name="Group 327">
                <a:extLst>
                  <a:ext uri="{FF2B5EF4-FFF2-40B4-BE49-F238E27FC236}">
                    <a16:creationId xmlns:a16="http://schemas.microsoft.com/office/drawing/2014/main" id="{B49B8EC0-B4AF-4620-9CD3-5266EE6BCCF6}"/>
                  </a:ext>
                </a:extLst>
              </p:cNvPr>
              <p:cNvGrpSpPr>
                <a:grpSpLocks/>
              </p:cNvGrpSpPr>
              <p:nvPr/>
            </p:nvGrpSpPr>
            <p:grpSpPr bwMode="auto">
              <a:xfrm>
                <a:off x="1736090" y="2893762"/>
                <a:ext cx="565150" cy="292100"/>
                <a:chOff x="1871277" y="1576300"/>
                <a:chExt cx="1128371" cy="437861"/>
              </a:xfrm>
            </p:grpSpPr>
            <p:sp>
              <p:nvSpPr>
                <p:cNvPr id="177" name="Oval 174">
                  <a:extLst>
                    <a:ext uri="{FF2B5EF4-FFF2-40B4-BE49-F238E27FC236}">
                      <a16:creationId xmlns:a16="http://schemas.microsoft.com/office/drawing/2014/main" id="{5D3A03DC-C6CF-4C8F-93CF-41D6C6D5142A}"/>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5">
                  <a:extLst>
                    <a:ext uri="{FF2B5EF4-FFF2-40B4-BE49-F238E27FC236}">
                      <a16:creationId xmlns:a16="http://schemas.microsoft.com/office/drawing/2014/main" id="{8E820247-59AC-44F2-9D09-F15C739894D8}"/>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6">
                  <a:extLst>
                    <a:ext uri="{FF2B5EF4-FFF2-40B4-BE49-F238E27FC236}">
                      <a16:creationId xmlns:a16="http://schemas.microsoft.com/office/drawing/2014/main" id="{91E51956-5DBA-41E6-BB95-AD32468CA7F1}"/>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7">
                  <a:extLst>
                    <a:ext uri="{FF2B5EF4-FFF2-40B4-BE49-F238E27FC236}">
                      <a16:creationId xmlns:a16="http://schemas.microsoft.com/office/drawing/2014/main" id="{2DF0AA55-C726-4869-A456-EA63E170D90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78">
                  <a:extLst>
                    <a:ext uri="{FF2B5EF4-FFF2-40B4-BE49-F238E27FC236}">
                      <a16:creationId xmlns:a16="http://schemas.microsoft.com/office/drawing/2014/main" id="{198A0ACE-F1BF-4B61-8968-8F08B8C3817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79">
                  <a:extLst>
                    <a:ext uri="{FF2B5EF4-FFF2-40B4-BE49-F238E27FC236}">
                      <a16:creationId xmlns:a16="http://schemas.microsoft.com/office/drawing/2014/main" id="{CB30307D-6FCE-4533-B378-7DA4CAA5643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0">
                  <a:extLst>
                    <a:ext uri="{FF2B5EF4-FFF2-40B4-BE49-F238E27FC236}">
                      <a16:creationId xmlns:a16="http://schemas.microsoft.com/office/drawing/2014/main" id="{719F7ACD-8B63-4D28-8D04-8E5B1E1B6B3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1">
                  <a:extLst>
                    <a:ext uri="{FF2B5EF4-FFF2-40B4-BE49-F238E27FC236}">
                      <a16:creationId xmlns:a16="http://schemas.microsoft.com/office/drawing/2014/main" id="{85261DFE-80F8-4C17-ADA3-7C454EC663EE}"/>
                    </a:ext>
                  </a:extLst>
                </p:cNvPr>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2">
                  <a:extLst>
                    <a:ext uri="{FF2B5EF4-FFF2-40B4-BE49-F238E27FC236}">
                      <a16:creationId xmlns:a16="http://schemas.microsoft.com/office/drawing/2014/main" id="{D1DDAC83-B6AA-42DF-8EC4-AE67F2D0CB58}"/>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1">
                <a:extLst>
                  <a:ext uri="{FF2B5EF4-FFF2-40B4-BE49-F238E27FC236}">
                    <a16:creationId xmlns:a16="http://schemas.microsoft.com/office/drawing/2014/main" id="{ABAC08A1-622A-4973-8AE3-BD8C9FE9AF89}"/>
                  </a:ext>
                </a:extLst>
              </p:cNvPr>
              <p:cNvGrpSpPr/>
              <p:nvPr/>
            </p:nvGrpSpPr>
            <p:grpSpPr>
              <a:xfrm>
                <a:off x="1770362" y="2873352"/>
                <a:ext cx="414737" cy="409344"/>
                <a:chOff x="667045" y="1708643"/>
                <a:chExt cx="414737" cy="409344"/>
              </a:xfrm>
            </p:grpSpPr>
            <p:sp>
              <p:nvSpPr>
                <p:cNvPr id="175" name="Oval 172">
                  <a:extLst>
                    <a:ext uri="{FF2B5EF4-FFF2-40B4-BE49-F238E27FC236}">
                      <a16:creationId xmlns:a16="http://schemas.microsoft.com/office/drawing/2014/main" id="{4DE3686C-CBC4-48E8-850E-BB85A20C4B73}"/>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3">
                  <a:extLst>
                    <a:ext uri="{FF2B5EF4-FFF2-40B4-BE49-F238E27FC236}">
                      <a16:creationId xmlns:a16="http://schemas.microsoft.com/office/drawing/2014/main" id="{8D445158-8025-455D-B763-4BEB04F2FFF3}"/>
                    </a:ext>
                  </a:extLst>
                </p:cNvPr>
                <p:cNvSpPr txBox="1"/>
                <p:nvPr/>
              </p:nvSpPr>
              <p:spPr>
                <a:xfrm>
                  <a:off x="667045" y="1708643"/>
                  <a:ext cx="347227" cy="409344"/>
                </a:xfrm>
                <a:prstGeom prst="rect">
                  <a:avLst/>
                </a:prstGeom>
                <a:noFill/>
              </p:spPr>
              <p:txBody>
                <a:bodyPr wrap="none" rtlCol="0">
                  <a:spAutoFit/>
                </a:bodyPr>
                <a:lstStyle/>
                <a:p>
                  <a:r>
                    <a:rPr lang="en-US" dirty="0"/>
                    <a:t>3d</a:t>
                  </a:r>
                </a:p>
              </p:txBody>
            </p:sp>
          </p:grpSp>
        </p:grpSp>
        <p:grpSp>
          <p:nvGrpSpPr>
            <p:cNvPr id="139" name="Group 136">
              <a:extLst>
                <a:ext uri="{FF2B5EF4-FFF2-40B4-BE49-F238E27FC236}">
                  <a16:creationId xmlns:a16="http://schemas.microsoft.com/office/drawing/2014/main" id="{8C37F8F7-31CE-422A-82D0-2C0A668F9DD9}"/>
                </a:ext>
              </a:extLst>
            </p:cNvPr>
            <p:cNvGrpSpPr/>
            <p:nvPr/>
          </p:nvGrpSpPr>
          <p:grpSpPr>
            <a:xfrm>
              <a:off x="2601806" y="3485072"/>
              <a:ext cx="565150" cy="409344"/>
              <a:chOff x="1736090" y="2873352"/>
              <a:chExt cx="565150" cy="409344"/>
            </a:xfrm>
          </p:grpSpPr>
          <p:grpSp>
            <p:nvGrpSpPr>
              <p:cNvPr id="160" name="Group 327">
                <a:extLst>
                  <a:ext uri="{FF2B5EF4-FFF2-40B4-BE49-F238E27FC236}">
                    <a16:creationId xmlns:a16="http://schemas.microsoft.com/office/drawing/2014/main" id="{669651B5-50BF-49A1-9858-2C2B20E308D6}"/>
                  </a:ext>
                </a:extLst>
              </p:cNvPr>
              <p:cNvGrpSpPr>
                <a:grpSpLocks/>
              </p:cNvGrpSpPr>
              <p:nvPr/>
            </p:nvGrpSpPr>
            <p:grpSpPr bwMode="auto">
              <a:xfrm>
                <a:off x="1736090" y="2893762"/>
                <a:ext cx="565150" cy="292100"/>
                <a:chOff x="1871277" y="1576300"/>
                <a:chExt cx="1128371" cy="437861"/>
              </a:xfrm>
            </p:grpSpPr>
            <p:sp>
              <p:nvSpPr>
                <p:cNvPr id="164" name="Oval 161">
                  <a:extLst>
                    <a:ext uri="{FF2B5EF4-FFF2-40B4-BE49-F238E27FC236}">
                      <a16:creationId xmlns:a16="http://schemas.microsoft.com/office/drawing/2014/main" id="{15D48EF5-9F82-4EF3-8DA4-5220308D56BE}"/>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2">
                  <a:extLst>
                    <a:ext uri="{FF2B5EF4-FFF2-40B4-BE49-F238E27FC236}">
                      <a16:creationId xmlns:a16="http://schemas.microsoft.com/office/drawing/2014/main" id="{CFE42D98-C84A-4DD0-8107-661245BBAF4A}"/>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3">
                  <a:extLst>
                    <a:ext uri="{FF2B5EF4-FFF2-40B4-BE49-F238E27FC236}">
                      <a16:creationId xmlns:a16="http://schemas.microsoft.com/office/drawing/2014/main" id="{AB410277-FDC8-41F2-8724-5D0E831E61AB}"/>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4">
                  <a:extLst>
                    <a:ext uri="{FF2B5EF4-FFF2-40B4-BE49-F238E27FC236}">
                      <a16:creationId xmlns:a16="http://schemas.microsoft.com/office/drawing/2014/main" id="{A4E1B118-790C-406E-B6AE-D0F78891EEB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5">
                  <a:extLst>
                    <a:ext uri="{FF2B5EF4-FFF2-40B4-BE49-F238E27FC236}">
                      <a16:creationId xmlns:a16="http://schemas.microsoft.com/office/drawing/2014/main" id="{44FE5946-2939-41CC-9CC5-70667FA5986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6">
                  <a:extLst>
                    <a:ext uri="{FF2B5EF4-FFF2-40B4-BE49-F238E27FC236}">
                      <a16:creationId xmlns:a16="http://schemas.microsoft.com/office/drawing/2014/main" id="{D6483547-5BEB-4F35-9C1F-F85763BA969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7">
                  <a:extLst>
                    <a:ext uri="{FF2B5EF4-FFF2-40B4-BE49-F238E27FC236}">
                      <a16:creationId xmlns:a16="http://schemas.microsoft.com/office/drawing/2014/main" id="{0316C6A5-5DA6-4EFF-9A35-F6D101EC9EC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68">
                  <a:extLst>
                    <a:ext uri="{FF2B5EF4-FFF2-40B4-BE49-F238E27FC236}">
                      <a16:creationId xmlns:a16="http://schemas.microsoft.com/office/drawing/2014/main" id="{3EE06378-12EE-4F53-9F8F-F19FB61DC08F}"/>
                    </a:ext>
                  </a:extLst>
                </p:cNvPr>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69">
                  <a:extLst>
                    <a:ext uri="{FF2B5EF4-FFF2-40B4-BE49-F238E27FC236}">
                      <a16:creationId xmlns:a16="http://schemas.microsoft.com/office/drawing/2014/main" id="{80702C99-3E94-4BEB-9B5D-0154D2D1A1E3}"/>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58">
                <a:extLst>
                  <a:ext uri="{FF2B5EF4-FFF2-40B4-BE49-F238E27FC236}">
                    <a16:creationId xmlns:a16="http://schemas.microsoft.com/office/drawing/2014/main" id="{593D7EB8-675C-4478-8BB1-B4573DCD1E7D}"/>
                  </a:ext>
                </a:extLst>
              </p:cNvPr>
              <p:cNvGrpSpPr/>
              <p:nvPr/>
            </p:nvGrpSpPr>
            <p:grpSpPr>
              <a:xfrm>
                <a:off x="1770362" y="2873352"/>
                <a:ext cx="414737" cy="409344"/>
                <a:chOff x="667045" y="1708643"/>
                <a:chExt cx="414737" cy="409344"/>
              </a:xfrm>
            </p:grpSpPr>
            <p:sp>
              <p:nvSpPr>
                <p:cNvPr id="162" name="Oval 159">
                  <a:extLst>
                    <a:ext uri="{FF2B5EF4-FFF2-40B4-BE49-F238E27FC236}">
                      <a16:creationId xmlns:a16="http://schemas.microsoft.com/office/drawing/2014/main" id="{E5AC5E4C-009F-46F0-B51B-0130191762E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0">
                  <a:extLst>
                    <a:ext uri="{FF2B5EF4-FFF2-40B4-BE49-F238E27FC236}">
                      <a16:creationId xmlns:a16="http://schemas.microsoft.com/office/drawing/2014/main" id="{F81BCED0-CFE1-4F98-8BEB-40DF72179384}"/>
                    </a:ext>
                  </a:extLst>
                </p:cNvPr>
                <p:cNvSpPr txBox="1"/>
                <p:nvPr/>
              </p:nvSpPr>
              <p:spPr>
                <a:xfrm>
                  <a:off x="667045" y="1708643"/>
                  <a:ext cx="324433" cy="409344"/>
                </a:xfrm>
                <a:prstGeom prst="rect">
                  <a:avLst/>
                </a:prstGeom>
                <a:noFill/>
              </p:spPr>
              <p:txBody>
                <a:bodyPr wrap="none" rtlCol="0">
                  <a:spAutoFit/>
                </a:bodyPr>
                <a:lstStyle/>
                <a:p>
                  <a:r>
                    <a:rPr lang="en-US" dirty="0"/>
                    <a:t>3c</a:t>
                  </a:r>
                </a:p>
              </p:txBody>
            </p:sp>
          </p:grpSp>
        </p:grpSp>
        <p:grpSp>
          <p:nvGrpSpPr>
            <p:cNvPr id="140" name="Group 137">
              <a:extLst>
                <a:ext uri="{FF2B5EF4-FFF2-40B4-BE49-F238E27FC236}">
                  <a16:creationId xmlns:a16="http://schemas.microsoft.com/office/drawing/2014/main" id="{FB95A796-F221-4EA8-9F4F-197F5D15DB06}"/>
                </a:ext>
              </a:extLst>
            </p:cNvPr>
            <p:cNvGrpSpPr/>
            <p:nvPr/>
          </p:nvGrpSpPr>
          <p:grpSpPr>
            <a:xfrm>
              <a:off x="833331" y="3478719"/>
              <a:ext cx="565150" cy="409344"/>
              <a:chOff x="1736090" y="2873352"/>
              <a:chExt cx="565150" cy="409344"/>
            </a:xfrm>
          </p:grpSpPr>
          <p:grpSp>
            <p:nvGrpSpPr>
              <p:cNvPr id="147" name="Group 327">
                <a:extLst>
                  <a:ext uri="{FF2B5EF4-FFF2-40B4-BE49-F238E27FC236}">
                    <a16:creationId xmlns:a16="http://schemas.microsoft.com/office/drawing/2014/main" id="{F7B50A7D-080C-4360-9A5A-D5E2C8FB0251}"/>
                  </a:ext>
                </a:extLst>
              </p:cNvPr>
              <p:cNvGrpSpPr>
                <a:grpSpLocks/>
              </p:cNvGrpSpPr>
              <p:nvPr/>
            </p:nvGrpSpPr>
            <p:grpSpPr bwMode="auto">
              <a:xfrm>
                <a:off x="1736090" y="2893762"/>
                <a:ext cx="565150" cy="292100"/>
                <a:chOff x="1871277" y="1576300"/>
                <a:chExt cx="1128371" cy="437861"/>
              </a:xfrm>
            </p:grpSpPr>
            <p:sp>
              <p:nvSpPr>
                <p:cNvPr id="151" name="Oval 148">
                  <a:extLst>
                    <a:ext uri="{FF2B5EF4-FFF2-40B4-BE49-F238E27FC236}">
                      <a16:creationId xmlns:a16="http://schemas.microsoft.com/office/drawing/2014/main" id="{B9DE22B0-2136-4568-9488-8E4258A7CF4C}"/>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Rectangle 149">
                  <a:extLst>
                    <a:ext uri="{FF2B5EF4-FFF2-40B4-BE49-F238E27FC236}">
                      <a16:creationId xmlns:a16="http://schemas.microsoft.com/office/drawing/2014/main" id="{7C238734-7A51-476C-AB48-047A59069F41}"/>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Oval 150">
                  <a:extLst>
                    <a:ext uri="{FF2B5EF4-FFF2-40B4-BE49-F238E27FC236}">
                      <a16:creationId xmlns:a16="http://schemas.microsoft.com/office/drawing/2014/main" id="{92F32E6F-81FA-45D9-A6B7-D727A1B2D0C8}"/>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4" name="Freeform 151">
                  <a:extLst>
                    <a:ext uri="{FF2B5EF4-FFF2-40B4-BE49-F238E27FC236}">
                      <a16:creationId xmlns:a16="http://schemas.microsoft.com/office/drawing/2014/main" id="{4AD1EAE3-EF54-46C9-A795-83A0554E2C7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2">
                  <a:extLst>
                    <a:ext uri="{FF2B5EF4-FFF2-40B4-BE49-F238E27FC236}">
                      <a16:creationId xmlns:a16="http://schemas.microsoft.com/office/drawing/2014/main" id="{87297A12-1FE0-41E6-92C2-F4ABC3D6BFA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Freeform 153">
                  <a:extLst>
                    <a:ext uri="{FF2B5EF4-FFF2-40B4-BE49-F238E27FC236}">
                      <a16:creationId xmlns:a16="http://schemas.microsoft.com/office/drawing/2014/main" id="{2A0D4CB9-1C1F-4125-A69A-3181FAABEA9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4">
                  <a:extLst>
                    <a:ext uri="{FF2B5EF4-FFF2-40B4-BE49-F238E27FC236}">
                      <a16:creationId xmlns:a16="http://schemas.microsoft.com/office/drawing/2014/main" id="{54E18C22-4979-4D70-961B-0C414F0B758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5">
                  <a:extLst>
                    <a:ext uri="{FF2B5EF4-FFF2-40B4-BE49-F238E27FC236}">
                      <a16:creationId xmlns:a16="http://schemas.microsoft.com/office/drawing/2014/main" id="{372005EE-AB71-454A-9C68-84E74D7C3252}"/>
                    </a:ext>
                  </a:extLst>
                </p:cNvPr>
                <p:cNvCxnSpPr>
                  <a:endCxn id="15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6">
                  <a:extLst>
                    <a:ext uri="{FF2B5EF4-FFF2-40B4-BE49-F238E27FC236}">
                      <a16:creationId xmlns:a16="http://schemas.microsoft.com/office/drawing/2014/main" id="{87172178-4496-4DB1-BDFB-90ECF24ABC9D}"/>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8" name="Group 145">
                <a:extLst>
                  <a:ext uri="{FF2B5EF4-FFF2-40B4-BE49-F238E27FC236}">
                    <a16:creationId xmlns:a16="http://schemas.microsoft.com/office/drawing/2014/main" id="{35A32F1D-70F8-4427-B30D-1FB77098F913}"/>
                  </a:ext>
                </a:extLst>
              </p:cNvPr>
              <p:cNvGrpSpPr/>
              <p:nvPr/>
            </p:nvGrpSpPr>
            <p:grpSpPr>
              <a:xfrm>
                <a:off x="1770362" y="2873352"/>
                <a:ext cx="414737" cy="409344"/>
                <a:chOff x="667045" y="1708643"/>
                <a:chExt cx="414737" cy="409344"/>
              </a:xfrm>
            </p:grpSpPr>
            <p:sp>
              <p:nvSpPr>
                <p:cNvPr id="149" name="Oval 146">
                  <a:extLst>
                    <a:ext uri="{FF2B5EF4-FFF2-40B4-BE49-F238E27FC236}">
                      <a16:creationId xmlns:a16="http://schemas.microsoft.com/office/drawing/2014/main" id="{DC5415A4-B695-4950-B66C-FECB9918A3A2}"/>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0" name="TextBox 147">
                  <a:extLst>
                    <a:ext uri="{FF2B5EF4-FFF2-40B4-BE49-F238E27FC236}">
                      <a16:creationId xmlns:a16="http://schemas.microsoft.com/office/drawing/2014/main" id="{12E69F42-525D-43F9-9742-223A324E77BD}"/>
                    </a:ext>
                  </a:extLst>
                </p:cNvPr>
                <p:cNvSpPr txBox="1"/>
                <p:nvPr/>
              </p:nvSpPr>
              <p:spPr>
                <a:xfrm>
                  <a:off x="667045" y="1708643"/>
                  <a:ext cx="333296" cy="409344"/>
                </a:xfrm>
                <a:prstGeom prst="rect">
                  <a:avLst/>
                </a:prstGeom>
                <a:noFill/>
              </p:spPr>
              <p:txBody>
                <a:bodyPr wrap="none" rtlCol="0">
                  <a:spAutoFit/>
                </a:bodyPr>
                <a:lstStyle/>
                <a:p>
                  <a:r>
                    <a:rPr lang="en-US" dirty="0"/>
                    <a:t>3a</a:t>
                  </a:r>
                </a:p>
              </p:txBody>
            </p:sp>
          </p:grpSp>
        </p:grpSp>
        <p:cxnSp>
          <p:nvCxnSpPr>
            <p:cNvPr id="141" name="Straight Connector 138">
              <a:extLst>
                <a:ext uri="{FF2B5EF4-FFF2-40B4-BE49-F238E27FC236}">
                  <a16:creationId xmlns:a16="http://schemas.microsoft.com/office/drawing/2014/main" id="{4DF8575A-6524-4B9A-90E2-1E07A955C4D2}"/>
                </a:ext>
              </a:extLst>
            </p:cNvPr>
            <p:cNvCxnSpPr>
              <a:stCxn id="189" idx="2"/>
              <a:endCxn id="176" idx="0"/>
            </p:cNvCxnSpPr>
            <p:nvPr/>
          </p:nvCxnSpPr>
          <p:spPr bwMode="auto">
            <a:xfrm>
              <a:off x="1943976" y="3282696"/>
              <a:ext cx="4230" cy="81197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Straight Connector 139">
              <a:extLst>
                <a:ext uri="{FF2B5EF4-FFF2-40B4-BE49-F238E27FC236}">
                  <a16:creationId xmlns:a16="http://schemas.microsoft.com/office/drawing/2014/main" id="{FF133C52-7FAC-4182-B375-A70CDE8D0C41}"/>
                </a:ext>
              </a:extLst>
            </p:cNvPr>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Straight Connector 140">
              <a:extLst>
                <a:ext uri="{FF2B5EF4-FFF2-40B4-BE49-F238E27FC236}">
                  <a16:creationId xmlns:a16="http://schemas.microsoft.com/office/drawing/2014/main" id="{AF240801-E9BB-40CF-803F-0700BA6EE34A}"/>
                </a:ext>
              </a:extLst>
            </p:cNvPr>
            <p:cNvCxnSpPr>
              <a:stCxn id="190"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Straight Connector 141">
              <a:extLst>
                <a:ext uri="{FF2B5EF4-FFF2-40B4-BE49-F238E27FC236}">
                  <a16:creationId xmlns:a16="http://schemas.microsoft.com/office/drawing/2014/main" id="{78D89EB6-7EA5-4F6D-A728-36C347FAC92A}"/>
                </a:ext>
              </a:extLst>
            </p:cNvPr>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Straight Connector 142">
              <a:extLst>
                <a:ext uri="{FF2B5EF4-FFF2-40B4-BE49-F238E27FC236}">
                  <a16:creationId xmlns:a16="http://schemas.microsoft.com/office/drawing/2014/main" id="{47D6AB3B-16AF-4BE7-8B44-E9C47A63E2CD}"/>
                </a:ext>
              </a:extLst>
            </p:cNvPr>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143">
              <a:extLst>
                <a:ext uri="{FF2B5EF4-FFF2-40B4-BE49-F238E27FC236}">
                  <a16:creationId xmlns:a16="http://schemas.microsoft.com/office/drawing/2014/main" id="{8AED2036-F6A7-46FE-8194-ACDE34E38B73}"/>
                </a:ext>
              </a:extLst>
            </p:cNvPr>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99" name="Straight Connector 127">
            <a:extLst>
              <a:ext uri="{FF2B5EF4-FFF2-40B4-BE49-F238E27FC236}">
                <a16:creationId xmlns:a16="http://schemas.microsoft.com/office/drawing/2014/main" id="{4ECC9970-1E79-42D6-9832-D0561940F099}"/>
              </a:ext>
            </a:extLst>
          </p:cNvPr>
          <p:cNvCxnSpPr/>
          <p:nvPr/>
        </p:nvCxnSpPr>
        <p:spPr bwMode="auto">
          <a:xfrm flipH="1" flipV="1">
            <a:off x="4062275" y="2340047"/>
            <a:ext cx="641169"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28">
            <a:extLst>
              <a:ext uri="{FF2B5EF4-FFF2-40B4-BE49-F238E27FC236}">
                <a16:creationId xmlns:a16="http://schemas.microsoft.com/office/drawing/2014/main" id="{652B788C-AD36-4E7A-8446-FAF8ACCBA845}"/>
              </a:ext>
            </a:extLst>
          </p:cNvPr>
          <p:cNvCxnSpPr/>
          <p:nvPr/>
        </p:nvCxnSpPr>
        <p:spPr bwMode="auto">
          <a:xfrm flipV="1">
            <a:off x="7364252" y="2281165"/>
            <a:ext cx="450313"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129">
            <a:extLst>
              <a:ext uri="{FF2B5EF4-FFF2-40B4-BE49-F238E27FC236}">
                <a16:creationId xmlns:a16="http://schemas.microsoft.com/office/drawing/2014/main" id="{649BA2DD-C43B-4050-AD6D-AFED6E3D462C}"/>
              </a:ext>
            </a:extLst>
          </p:cNvPr>
          <p:cNvSpPr txBox="1"/>
          <p:nvPr/>
        </p:nvSpPr>
        <p:spPr>
          <a:xfrm>
            <a:off x="4657722" y="2438369"/>
            <a:ext cx="614271" cy="400110"/>
          </a:xfrm>
          <a:prstGeom prst="rect">
            <a:avLst/>
          </a:prstGeom>
          <a:noFill/>
        </p:spPr>
        <p:txBody>
          <a:bodyPr wrap="none" rtlCol="0">
            <a:spAutoFit/>
          </a:bodyPr>
          <a:lstStyle/>
          <a:p>
            <a:r>
              <a:rPr lang="en-US" sz="2000" dirty="0"/>
              <a:t>AS2</a:t>
            </a:r>
          </a:p>
        </p:txBody>
      </p:sp>
      <p:sp>
        <p:nvSpPr>
          <p:cNvPr id="202" name="TextBox 130">
            <a:extLst>
              <a:ext uri="{FF2B5EF4-FFF2-40B4-BE49-F238E27FC236}">
                <a16:creationId xmlns:a16="http://schemas.microsoft.com/office/drawing/2014/main" id="{2A92A894-A4E3-48C2-A532-7F514CB6EA12}"/>
              </a:ext>
            </a:extLst>
          </p:cNvPr>
          <p:cNvSpPr txBox="1"/>
          <p:nvPr/>
        </p:nvSpPr>
        <p:spPr>
          <a:xfrm>
            <a:off x="7391934" y="1351667"/>
            <a:ext cx="614271" cy="400110"/>
          </a:xfrm>
          <a:prstGeom prst="rect">
            <a:avLst/>
          </a:prstGeom>
          <a:noFill/>
        </p:spPr>
        <p:txBody>
          <a:bodyPr wrap="none" rtlCol="0">
            <a:spAutoFit/>
          </a:bodyPr>
          <a:lstStyle/>
          <a:p>
            <a:r>
              <a:rPr lang="en-US" sz="2000" dirty="0"/>
              <a:t>AS3</a:t>
            </a:r>
          </a:p>
        </p:txBody>
      </p:sp>
      <p:sp>
        <p:nvSpPr>
          <p:cNvPr id="203" name="TextBox 131">
            <a:extLst>
              <a:ext uri="{FF2B5EF4-FFF2-40B4-BE49-F238E27FC236}">
                <a16:creationId xmlns:a16="http://schemas.microsoft.com/office/drawing/2014/main" id="{9D0C6CD6-316D-4364-84EB-4F5129816653}"/>
              </a:ext>
            </a:extLst>
          </p:cNvPr>
          <p:cNvSpPr txBox="1"/>
          <p:nvPr/>
        </p:nvSpPr>
        <p:spPr>
          <a:xfrm>
            <a:off x="942897" y="1562343"/>
            <a:ext cx="614271" cy="400110"/>
          </a:xfrm>
          <a:prstGeom prst="rect">
            <a:avLst/>
          </a:prstGeom>
          <a:noFill/>
        </p:spPr>
        <p:txBody>
          <a:bodyPr wrap="none" rtlCol="0">
            <a:spAutoFit/>
          </a:bodyPr>
          <a:lstStyle/>
          <a:p>
            <a:r>
              <a:rPr lang="en-US" sz="2000" dirty="0"/>
              <a:t>AS1</a:t>
            </a:r>
          </a:p>
        </p:txBody>
      </p:sp>
      <p:grpSp>
        <p:nvGrpSpPr>
          <p:cNvPr id="204" name="Group 10">
            <a:extLst>
              <a:ext uri="{FF2B5EF4-FFF2-40B4-BE49-F238E27FC236}">
                <a16:creationId xmlns:a16="http://schemas.microsoft.com/office/drawing/2014/main" id="{A50B52BD-D0F5-42A7-8F62-C2A9E2E66021}"/>
              </a:ext>
            </a:extLst>
          </p:cNvPr>
          <p:cNvGrpSpPr/>
          <p:nvPr/>
        </p:nvGrpSpPr>
        <p:grpSpPr>
          <a:xfrm>
            <a:off x="9427769" y="2413274"/>
            <a:ext cx="2268979" cy="616172"/>
            <a:chOff x="7073692" y="5469792"/>
            <a:chExt cx="1701734" cy="616172"/>
          </a:xfrm>
        </p:grpSpPr>
        <p:grpSp>
          <p:nvGrpSpPr>
            <p:cNvPr id="205" name="Group 9">
              <a:extLst>
                <a:ext uri="{FF2B5EF4-FFF2-40B4-BE49-F238E27FC236}">
                  <a16:creationId xmlns:a16="http://schemas.microsoft.com/office/drawing/2014/main" id="{16FB1842-DC37-45C3-AFE3-E280F91AB9B6}"/>
                </a:ext>
              </a:extLst>
            </p:cNvPr>
            <p:cNvGrpSpPr/>
            <p:nvPr/>
          </p:nvGrpSpPr>
          <p:grpSpPr>
            <a:xfrm>
              <a:off x="7073692" y="5469792"/>
              <a:ext cx="1701734" cy="616172"/>
              <a:chOff x="6946249" y="5096269"/>
              <a:chExt cx="1701734" cy="616172"/>
            </a:xfrm>
          </p:grpSpPr>
          <p:sp>
            <p:nvSpPr>
              <p:cNvPr id="207" name="Freeform 2">
                <a:extLst>
                  <a:ext uri="{FF2B5EF4-FFF2-40B4-BE49-F238E27FC236}">
                    <a16:creationId xmlns:a16="http://schemas.microsoft.com/office/drawing/2014/main" id="{35870175-7904-4816-999D-71627936E3D8}"/>
                  </a:ext>
                </a:extLst>
              </p:cNvPr>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208" name="Group 327">
                <a:extLst>
                  <a:ext uri="{FF2B5EF4-FFF2-40B4-BE49-F238E27FC236}">
                    <a16:creationId xmlns:a16="http://schemas.microsoft.com/office/drawing/2014/main" id="{FF5411F4-57D5-4A3E-9918-C7A615D15068}"/>
                  </a:ext>
                </a:extLst>
              </p:cNvPr>
              <p:cNvGrpSpPr>
                <a:grpSpLocks/>
              </p:cNvGrpSpPr>
              <p:nvPr/>
            </p:nvGrpSpPr>
            <p:grpSpPr bwMode="auto">
              <a:xfrm>
                <a:off x="7908175" y="5241780"/>
                <a:ext cx="536554" cy="263548"/>
                <a:chOff x="1871277" y="1576300"/>
                <a:chExt cx="1128371" cy="437861"/>
              </a:xfrm>
            </p:grpSpPr>
            <p:sp>
              <p:nvSpPr>
                <p:cNvPr id="212" name="Oval 373">
                  <a:extLst>
                    <a:ext uri="{FF2B5EF4-FFF2-40B4-BE49-F238E27FC236}">
                      <a16:creationId xmlns:a16="http://schemas.microsoft.com/office/drawing/2014/main" id="{7CD66CB6-5C1D-42CB-B704-E5937EC0142D}"/>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Rectangle 374">
                  <a:extLst>
                    <a:ext uri="{FF2B5EF4-FFF2-40B4-BE49-F238E27FC236}">
                      <a16:creationId xmlns:a16="http://schemas.microsoft.com/office/drawing/2014/main" id="{6B0896D0-5378-4666-BA3A-760CC3FC63E7}"/>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Oval 375">
                  <a:extLst>
                    <a:ext uri="{FF2B5EF4-FFF2-40B4-BE49-F238E27FC236}">
                      <a16:creationId xmlns:a16="http://schemas.microsoft.com/office/drawing/2014/main" id="{4BD558E6-2120-4A07-B6C5-C560BE62EF1B}"/>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5" name="Freeform 376">
                  <a:extLst>
                    <a:ext uri="{FF2B5EF4-FFF2-40B4-BE49-F238E27FC236}">
                      <a16:creationId xmlns:a16="http://schemas.microsoft.com/office/drawing/2014/main" id="{A3560340-6192-4F5B-9F45-23FA18F03276}"/>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377">
                  <a:extLst>
                    <a:ext uri="{FF2B5EF4-FFF2-40B4-BE49-F238E27FC236}">
                      <a16:creationId xmlns:a16="http://schemas.microsoft.com/office/drawing/2014/main" id="{8D8F57A4-251E-4A35-ABDC-879CD08F830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378">
                  <a:extLst>
                    <a:ext uri="{FF2B5EF4-FFF2-40B4-BE49-F238E27FC236}">
                      <a16:creationId xmlns:a16="http://schemas.microsoft.com/office/drawing/2014/main" id="{F617CD2C-0E88-4869-8F60-8874D3A7B2B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379">
                  <a:extLst>
                    <a:ext uri="{FF2B5EF4-FFF2-40B4-BE49-F238E27FC236}">
                      <a16:creationId xmlns:a16="http://schemas.microsoft.com/office/drawing/2014/main" id="{BC15E283-2CBD-42F7-B116-39BE48594B1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9" name="Straight Connector 380">
                  <a:extLst>
                    <a:ext uri="{FF2B5EF4-FFF2-40B4-BE49-F238E27FC236}">
                      <a16:creationId xmlns:a16="http://schemas.microsoft.com/office/drawing/2014/main" id="{D6C34D1F-DA5D-4F7E-8A0F-E29030A278BA}"/>
                    </a:ext>
                  </a:extLst>
                </p:cNvPr>
                <p:cNvCxnSpPr>
                  <a:endCxn id="21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0" name="Straight Connector 381">
                  <a:extLst>
                    <a:ext uri="{FF2B5EF4-FFF2-40B4-BE49-F238E27FC236}">
                      <a16:creationId xmlns:a16="http://schemas.microsoft.com/office/drawing/2014/main" id="{E0253CD4-B445-478F-9067-93ECBAD69FF9}"/>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9" name="Group 370">
                <a:extLst>
                  <a:ext uri="{FF2B5EF4-FFF2-40B4-BE49-F238E27FC236}">
                    <a16:creationId xmlns:a16="http://schemas.microsoft.com/office/drawing/2014/main" id="{3BB03EF0-C8DD-4167-ACF6-472A61D69AF7}"/>
                  </a:ext>
                </a:extLst>
              </p:cNvPr>
              <p:cNvGrpSpPr/>
              <p:nvPr/>
            </p:nvGrpSpPr>
            <p:grpSpPr>
              <a:xfrm>
                <a:off x="7943996" y="5223365"/>
                <a:ext cx="390467" cy="369332"/>
                <a:chOff x="670504" y="1708643"/>
                <a:chExt cx="411278" cy="409344"/>
              </a:xfrm>
            </p:grpSpPr>
            <p:sp>
              <p:nvSpPr>
                <p:cNvPr id="210" name="Oval 371">
                  <a:extLst>
                    <a:ext uri="{FF2B5EF4-FFF2-40B4-BE49-F238E27FC236}">
                      <a16:creationId xmlns:a16="http://schemas.microsoft.com/office/drawing/2014/main" id="{698D74C0-064A-482F-BC4D-D794E415915E}"/>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1" name="TextBox 372">
                  <a:extLst>
                    <a:ext uri="{FF2B5EF4-FFF2-40B4-BE49-F238E27FC236}">
                      <a16:creationId xmlns:a16="http://schemas.microsoft.com/office/drawing/2014/main" id="{01839195-BBF8-4FAA-97EB-972FF9AB8262}"/>
                    </a:ext>
                  </a:extLst>
                </p:cNvPr>
                <p:cNvSpPr txBox="1"/>
                <p:nvPr/>
              </p:nvSpPr>
              <p:spPr>
                <a:xfrm>
                  <a:off x="670504" y="1708643"/>
                  <a:ext cx="349760" cy="409344"/>
                </a:xfrm>
                <a:prstGeom prst="rect">
                  <a:avLst/>
                </a:prstGeom>
                <a:noFill/>
              </p:spPr>
              <p:txBody>
                <a:bodyPr wrap="none" rtlCol="0">
                  <a:spAutoFit/>
                </a:bodyPr>
                <a:lstStyle/>
                <a:p>
                  <a:pPr algn="ctr"/>
                  <a:r>
                    <a:rPr lang="en-US" dirty="0"/>
                    <a:t>  X</a:t>
                  </a:r>
                </a:p>
              </p:txBody>
            </p:sp>
          </p:grpSp>
        </p:grpSp>
        <p:cxnSp>
          <p:nvCxnSpPr>
            <p:cNvPr id="206" name="Straight Connector 401">
              <a:extLst>
                <a:ext uri="{FF2B5EF4-FFF2-40B4-BE49-F238E27FC236}">
                  <a16:creationId xmlns:a16="http://schemas.microsoft.com/office/drawing/2014/main" id="{E76917DC-0E67-4BB7-A713-F512DA3791F6}"/>
                </a:ext>
              </a:extLst>
            </p:cNvPr>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21" name="Group 6">
            <a:extLst>
              <a:ext uri="{FF2B5EF4-FFF2-40B4-BE49-F238E27FC236}">
                <a16:creationId xmlns:a16="http://schemas.microsoft.com/office/drawing/2014/main" id="{3420648A-AACF-4A08-A58D-88F1EE963B89}"/>
              </a:ext>
            </a:extLst>
          </p:cNvPr>
          <p:cNvGrpSpPr/>
          <p:nvPr/>
        </p:nvGrpSpPr>
        <p:grpSpPr>
          <a:xfrm>
            <a:off x="7617925" y="2379268"/>
            <a:ext cx="1080508" cy="768350"/>
            <a:chOff x="5713444" y="2379268"/>
            <a:chExt cx="810381" cy="768350"/>
          </a:xfrm>
        </p:grpSpPr>
        <p:sp>
          <p:nvSpPr>
            <p:cNvPr id="222" name="AutoShape 118">
              <a:extLst>
                <a:ext uri="{FF2B5EF4-FFF2-40B4-BE49-F238E27FC236}">
                  <a16:creationId xmlns:a16="http://schemas.microsoft.com/office/drawing/2014/main" id="{74D56AAF-6D21-4A0F-9AA5-26B810A55462}"/>
                </a:ext>
              </a:extLst>
            </p:cNvPr>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223" name="Text Box 119">
              <a:extLst>
                <a:ext uri="{FF2B5EF4-FFF2-40B4-BE49-F238E27FC236}">
                  <a16:creationId xmlns:a16="http://schemas.microsoft.com/office/drawing/2014/main" id="{473944EF-7D42-4A54-83CB-B48B24F5E219}"/>
                </a:ext>
              </a:extLst>
            </p:cNvPr>
            <p:cNvSpPr txBox="1">
              <a:spLocks noChangeArrowheads="1"/>
            </p:cNvSpPr>
            <p:nvPr/>
          </p:nvSpPr>
          <p:spPr bwMode="auto">
            <a:xfrm>
              <a:off x="5906829" y="2784958"/>
              <a:ext cx="616996"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224" name="Group 5">
            <a:extLst>
              <a:ext uri="{FF2B5EF4-FFF2-40B4-BE49-F238E27FC236}">
                <a16:creationId xmlns:a16="http://schemas.microsoft.com/office/drawing/2014/main" id="{A0874893-F5BB-4401-8FD1-3A7C876E5000}"/>
              </a:ext>
            </a:extLst>
          </p:cNvPr>
          <p:cNvGrpSpPr/>
          <p:nvPr/>
        </p:nvGrpSpPr>
        <p:grpSpPr>
          <a:xfrm>
            <a:off x="2705105" y="2438605"/>
            <a:ext cx="1637764" cy="882449"/>
            <a:chOff x="2028828" y="2438604"/>
            <a:chExt cx="1228323" cy="882449"/>
          </a:xfrm>
        </p:grpSpPr>
        <p:sp>
          <p:nvSpPr>
            <p:cNvPr id="225" name="Text Box 119">
              <a:extLst>
                <a:ext uri="{FF2B5EF4-FFF2-40B4-BE49-F238E27FC236}">
                  <a16:creationId xmlns:a16="http://schemas.microsoft.com/office/drawing/2014/main" id="{E71483B2-F81E-4D03-9E0B-24B8BD399945}"/>
                </a:ext>
              </a:extLst>
            </p:cNvPr>
            <p:cNvSpPr txBox="1">
              <a:spLocks noChangeArrowheads="1"/>
            </p:cNvSpPr>
            <p:nvPr/>
          </p:nvSpPr>
          <p:spPr bwMode="auto">
            <a:xfrm>
              <a:off x="2028828" y="3019432"/>
              <a:ext cx="950020"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226" name="AutoShape 118">
              <a:extLst>
                <a:ext uri="{FF2B5EF4-FFF2-40B4-BE49-F238E27FC236}">
                  <a16:creationId xmlns:a16="http://schemas.microsoft.com/office/drawing/2014/main" id="{8D4FEC0F-9D63-4001-A375-B0410E6ACACB}"/>
                </a:ext>
              </a:extLst>
            </p:cNvPr>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grpSp>
        <p:nvGrpSpPr>
          <p:cNvPr id="227" name="Group 4">
            <a:extLst>
              <a:ext uri="{FF2B5EF4-FFF2-40B4-BE49-F238E27FC236}">
                <a16:creationId xmlns:a16="http://schemas.microsoft.com/office/drawing/2014/main" id="{58E16E1A-1CFC-4A9E-AD1D-CDB52839DA65}"/>
              </a:ext>
            </a:extLst>
          </p:cNvPr>
          <p:cNvGrpSpPr/>
          <p:nvPr/>
        </p:nvGrpSpPr>
        <p:grpSpPr>
          <a:xfrm>
            <a:off x="5402667" y="2820740"/>
            <a:ext cx="1491783" cy="826267"/>
            <a:chOff x="4052000" y="2820739"/>
            <a:chExt cx="1118837" cy="826267"/>
          </a:xfrm>
        </p:grpSpPr>
        <p:cxnSp>
          <p:nvCxnSpPr>
            <p:cNvPr id="228" name="Straight Arrow Connector 2">
              <a:extLst>
                <a:ext uri="{FF2B5EF4-FFF2-40B4-BE49-F238E27FC236}">
                  <a16:creationId xmlns:a16="http://schemas.microsoft.com/office/drawing/2014/main" id="{E72D3B77-72EB-4ED8-B839-BE83F7028815}"/>
                </a:ext>
              </a:extLst>
            </p:cNvPr>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9" name="Straight Arrow Connector 329">
              <a:extLst>
                <a:ext uri="{FF2B5EF4-FFF2-40B4-BE49-F238E27FC236}">
                  <a16:creationId xmlns:a16="http://schemas.microsoft.com/office/drawing/2014/main" id="{39E35DFA-4CF6-4BD2-9F18-7BD4D8822C18}"/>
                </a:ext>
              </a:extLst>
            </p:cNvPr>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0" name="Straight Arrow Connector 330">
              <a:extLst>
                <a:ext uri="{FF2B5EF4-FFF2-40B4-BE49-F238E27FC236}">
                  <a16:creationId xmlns:a16="http://schemas.microsoft.com/office/drawing/2014/main" id="{7B83DE7B-7033-4B02-A2DA-5C950C8400D2}"/>
                </a:ext>
              </a:extLst>
            </p:cNvPr>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31" name="内容占位符 2"/>
          <p:cNvSpPr txBox="1">
            <a:spLocks/>
          </p:cNvSpPr>
          <p:nvPr/>
        </p:nvSpPr>
        <p:spPr>
          <a:xfrm>
            <a:off x="838200" y="4002894"/>
            <a:ext cx="10515600" cy="2353456"/>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2c</a:t>
            </a:r>
            <a:r>
              <a:rPr lang="zh-CN" altLang="en-US" sz="2400" dirty="0">
                <a:latin typeface="微软雅黑" pitchFamily="34" charset="-122"/>
                <a:ea typeface="微软雅黑" pitchFamily="34" charset="-122"/>
                <a:cs typeface="Times New Roman" panose="02020603050405020304" pitchFamily="18" charset="0"/>
              </a:rPr>
              <a:t>从</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接收到路径</a:t>
            </a:r>
            <a:r>
              <a:rPr lang="en-US" altLang="zh-CN" sz="2400" dirty="0">
                <a:solidFill>
                  <a:srgbClr val="CC0000"/>
                </a:solidFill>
                <a:latin typeface="微软雅黑" pitchFamily="34" charset="-122"/>
                <a:ea typeface="微软雅黑" pitchFamily="34" charset="-122"/>
                <a:cs typeface="Times New Roman" panose="02020603050405020304" pitchFamily="18" charset="0"/>
              </a:rPr>
              <a:t>AS3, X</a:t>
            </a:r>
            <a:endParaRPr lang="en-US" altLang="zh-CN" sz="2400" dirty="0">
              <a:latin typeface="微软雅黑" pitchFamily="34" charset="-122"/>
              <a:ea typeface="微软雅黑" pitchFamily="34" charset="-122"/>
              <a:cs typeface="Times New Roman" panose="02020603050405020304" pitchFamily="18" charset="0"/>
            </a:endParaRPr>
          </a:p>
          <a:p>
            <a:pPr>
              <a:lnSpc>
                <a:spcPct val="110000"/>
              </a:lnSpc>
            </a:pPr>
            <a:r>
              <a:rPr lang="zh-CN" altLang="en-US" sz="2400" dirty="0">
                <a:latin typeface="微软雅黑" pitchFamily="34" charset="-122"/>
                <a:ea typeface="微软雅黑" pitchFamily="34" charset="-122"/>
                <a:cs typeface="Times New Roman" panose="02020603050405020304" pitchFamily="18" charset="0"/>
              </a:rPr>
              <a:t>根据</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的策略，</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2c</a:t>
            </a:r>
            <a:r>
              <a:rPr lang="zh-CN" altLang="en-US" sz="2400" dirty="0">
                <a:latin typeface="微软雅黑" pitchFamily="34" charset="-122"/>
                <a:ea typeface="微软雅黑" pitchFamily="34" charset="-122"/>
                <a:cs typeface="Times New Roman" panose="02020603050405020304" pitchFamily="18" charset="0"/>
              </a:rPr>
              <a:t>接受路径</a:t>
            </a:r>
            <a:r>
              <a:rPr lang="en-US" altLang="zh-CN" sz="2400" dirty="0">
                <a:latin typeface="微软雅黑" pitchFamily="34" charset="-122"/>
                <a:ea typeface="微软雅黑" pitchFamily="34" charset="-122"/>
                <a:cs typeface="Times New Roman" panose="02020603050405020304" pitchFamily="18" charset="0"/>
              </a:rPr>
              <a:t>AS3, X</a:t>
            </a:r>
            <a:r>
              <a:rPr lang="zh-CN" altLang="en-US" sz="2400" dirty="0">
                <a:latin typeface="微软雅黑" pitchFamily="34" charset="-122"/>
                <a:ea typeface="微软雅黑" pitchFamily="34" charset="-122"/>
                <a:cs typeface="Times New Roman" panose="02020603050405020304" pitchFamily="18" charset="0"/>
              </a:rPr>
              <a:t>，通过</a:t>
            </a:r>
            <a:r>
              <a:rPr lang="en-US" altLang="zh-CN" sz="2400" dirty="0" err="1">
                <a:latin typeface="微软雅黑" pitchFamily="34" charset="-122"/>
                <a:ea typeface="微软雅黑" pitchFamily="34" charset="-122"/>
                <a:cs typeface="Times New Roman" panose="02020603050405020304" pitchFamily="18" charset="0"/>
              </a:rPr>
              <a:t>iBGP</a:t>
            </a:r>
            <a:r>
              <a:rPr lang="zh-CN" altLang="en-US" sz="2400" dirty="0">
                <a:latin typeface="微软雅黑" pitchFamily="34" charset="-122"/>
                <a:ea typeface="微软雅黑" pitchFamily="34" charset="-122"/>
                <a:cs typeface="Times New Roman" panose="02020603050405020304" pitchFamily="18" charset="0"/>
              </a:rPr>
              <a:t>传播给</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的所有路由器</a:t>
            </a:r>
            <a:endParaRPr lang="en-US" altLang="zh-CN" sz="2400" dirty="0">
              <a:latin typeface="微软雅黑" pitchFamily="34" charset="-122"/>
              <a:ea typeface="微软雅黑" pitchFamily="34" charset="-122"/>
              <a:cs typeface="Times New Roman" panose="02020603050405020304" pitchFamily="18" charset="0"/>
            </a:endParaRPr>
          </a:p>
          <a:p>
            <a:pPr>
              <a:lnSpc>
                <a:spcPct val="110000"/>
              </a:lnSpc>
            </a:pPr>
            <a:r>
              <a:rPr lang="zh-CN" altLang="en-US" sz="2400" dirty="0">
                <a:latin typeface="微软雅黑" pitchFamily="34" charset="-122"/>
                <a:ea typeface="微软雅黑" pitchFamily="34" charset="-122"/>
                <a:cs typeface="Times New Roman" panose="02020603050405020304" pitchFamily="18" charset="0"/>
              </a:rPr>
              <a:t>根据</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策略，</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2a</a:t>
            </a:r>
            <a:r>
              <a:rPr lang="zh-CN" altLang="en-US" sz="2400" dirty="0">
                <a:latin typeface="微软雅黑" pitchFamily="34" charset="-122"/>
                <a:ea typeface="微软雅黑" pitchFamily="34" charset="-122"/>
                <a:cs typeface="Times New Roman" panose="02020603050405020304" pitchFamily="18" charset="0"/>
              </a:rPr>
              <a:t>通过</a:t>
            </a:r>
            <a:r>
              <a:rPr lang="en-US" altLang="zh-CN" sz="2400" dirty="0" err="1">
                <a:latin typeface="微软雅黑" pitchFamily="34" charset="-122"/>
                <a:ea typeface="微软雅黑" pitchFamily="34" charset="-122"/>
                <a:cs typeface="Times New Roman" panose="02020603050405020304" pitchFamily="18" charset="0"/>
              </a:rPr>
              <a:t>eBGP</a:t>
            </a:r>
            <a:r>
              <a:rPr lang="zh-CN" altLang="en-US" sz="2400" dirty="0">
                <a:latin typeface="微软雅黑" pitchFamily="34" charset="-122"/>
                <a:ea typeface="微软雅黑" pitchFamily="34" charset="-122"/>
                <a:cs typeface="Times New Roman" panose="02020603050405020304" pitchFamily="18" charset="0"/>
              </a:rPr>
              <a:t>向</a:t>
            </a: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通告从</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接收到路径</a:t>
            </a:r>
            <a:r>
              <a:rPr lang="en-US" altLang="zh-CN" sz="2400" dirty="0">
                <a:solidFill>
                  <a:srgbClr val="FF0000"/>
                </a:solidFill>
                <a:latin typeface="微软雅黑" pitchFamily="34" charset="-122"/>
                <a:ea typeface="微软雅黑" pitchFamily="34" charset="-122"/>
                <a:cs typeface="Times New Roman" panose="02020603050405020304" pitchFamily="18" charset="0"/>
              </a:rPr>
              <a:t>AS2, AS3, X</a:t>
            </a:r>
            <a:endParaRPr lang="en-US" altLang="zh-CN" dirty="0">
              <a:latin typeface="微软雅黑" pitchFamily="34" charset="-122"/>
              <a:ea typeface="微软雅黑" pitchFamily="34" charset="-122"/>
              <a:cs typeface="Times New Roman" panose="02020603050405020304" pitchFamily="18" charset="0"/>
            </a:endParaRPr>
          </a:p>
          <a:p>
            <a:endParaRPr lang="zh-CN" altLang="en-US" dirty="0"/>
          </a:p>
        </p:txBody>
      </p:sp>
      <p:sp>
        <p:nvSpPr>
          <p:cNvPr id="3" name="日期占位符 2"/>
          <p:cNvSpPr>
            <a:spLocks noGrp="1"/>
          </p:cNvSpPr>
          <p:nvPr>
            <p:ph type="dt" sz="half" idx="10"/>
          </p:nvPr>
        </p:nvSpPr>
        <p:spPr>
          <a:xfrm>
            <a:off x="197335" y="6489303"/>
            <a:ext cx="3494994" cy="365125"/>
          </a:xfrm>
        </p:spPr>
        <p:txBody>
          <a:bodyPr/>
          <a:lstStyle/>
          <a:p>
            <a:r>
              <a:rPr kumimoji="1" lang="en-US" altLang="zh-CN" dirty="0"/>
              <a:t>5.7.3 BGP-</a:t>
            </a:r>
            <a:r>
              <a:rPr kumimoji="1" lang="zh-CN" altLang="en-US" dirty="0"/>
              <a:t>外部网关路由协议</a:t>
            </a:r>
          </a:p>
        </p:txBody>
      </p:sp>
      <p:pic>
        <p:nvPicPr>
          <p:cNvPr id="232" name="Picture 28" descr="015">
            <a:extLst>
              <a:ext uri="{FF2B5EF4-FFF2-40B4-BE49-F238E27FC236}">
                <a16:creationId xmlns:a16="http://schemas.microsoft.com/office/drawing/2014/main" id="{E368567E-5403-44AB-A2DB-AA2DD481796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8735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1"/>
                                        </p:tgtEl>
                                        <p:attrNameLst>
                                          <p:attrName>style.visibility</p:attrName>
                                        </p:attrNameLst>
                                      </p:cBhvr>
                                      <p:to>
                                        <p:strVal val="visible"/>
                                      </p:to>
                                    </p:set>
                                    <p:animEffect transition="in" filter="wipe(up)">
                                      <p:cBhvr>
                                        <p:cTn id="7" dur="500"/>
                                        <p:tgtEl>
                                          <p:spTgt spid="221"/>
                                        </p:tgtEl>
                                      </p:cBhvr>
                                    </p:animEffect>
                                  </p:childTnLst>
                                </p:cTn>
                              </p:par>
                              <p:par>
                                <p:cTn id="8" presetID="1" presetClass="entr" presetSubtype="0" fill="hold" nodeType="withEffect">
                                  <p:stCondLst>
                                    <p:cond delay="0"/>
                                  </p:stCondLst>
                                  <p:childTnLst>
                                    <p:set>
                                      <p:cBhvr>
                                        <p:cTn id="9" dur="1" fill="hold">
                                          <p:stCondLst>
                                            <p:cond delay="0"/>
                                          </p:stCondLst>
                                        </p:cTn>
                                        <p:tgtEl>
                                          <p:spTgt spid="231">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227"/>
                                        </p:tgtEl>
                                        <p:attrNameLst>
                                          <p:attrName>style.visibility</p:attrName>
                                        </p:attrNameLst>
                                      </p:cBhvr>
                                      <p:to>
                                        <p:strVal val="visible"/>
                                      </p:to>
                                    </p:set>
                                    <p:animEffect transition="in" filter="wipe(right)">
                                      <p:cBhvr>
                                        <p:cTn id="14" dur="500"/>
                                        <p:tgtEl>
                                          <p:spTgt spid="227"/>
                                        </p:tgtEl>
                                      </p:cBhvr>
                                    </p:animEffect>
                                  </p:childTnLst>
                                </p:cTn>
                              </p:par>
                              <p:par>
                                <p:cTn id="15" presetID="1" presetClass="entr" presetSubtype="0" fill="hold" nodeType="withEffect">
                                  <p:stCondLst>
                                    <p:cond delay="0"/>
                                  </p:stCondLst>
                                  <p:childTnLst>
                                    <p:set>
                                      <p:cBhvr>
                                        <p:cTn id="16" dur="1" fill="hold">
                                          <p:stCondLst>
                                            <p:cond delay="0"/>
                                          </p:stCondLst>
                                        </p:cTn>
                                        <p:tgtEl>
                                          <p:spTgt spid="231">
                                            <p:txEl>
                                              <p:pRg st="1" end="1"/>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224"/>
                                        </p:tgtEl>
                                        <p:attrNameLst>
                                          <p:attrName>style.visibility</p:attrName>
                                        </p:attrNameLst>
                                      </p:cBhvr>
                                      <p:to>
                                        <p:strVal val="visible"/>
                                      </p:to>
                                    </p:set>
                                    <p:animEffect transition="in" filter="wipe(down)">
                                      <p:cBhvr>
                                        <p:cTn id="21" dur="500"/>
                                        <p:tgtEl>
                                          <p:spTgt spid="224"/>
                                        </p:tgtEl>
                                      </p:cBhvr>
                                    </p:animEffect>
                                  </p:childTnLst>
                                </p:cTn>
                              </p:par>
                              <p:par>
                                <p:cTn id="22" presetID="1" presetClass="entr" presetSubtype="0" fill="hold" nodeType="withEffect">
                                  <p:stCondLst>
                                    <p:cond delay="0"/>
                                  </p:stCondLst>
                                  <p:childTnLst>
                                    <p:set>
                                      <p:cBhvr>
                                        <p:cTn id="23" dur="1" fill="hold">
                                          <p:stCondLst>
                                            <p:cond delay="0"/>
                                          </p:stCondLst>
                                        </p:cTn>
                                        <p:tgtEl>
                                          <p:spTgt spid="23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路径通告</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178</a:t>
            </a:fld>
            <a:endParaRPr kumimoji="1" lang="zh-CN" altLang="en-US" dirty="0"/>
          </a:p>
        </p:txBody>
      </p:sp>
      <p:grpSp>
        <p:nvGrpSpPr>
          <p:cNvPr id="5" name="Group 124"/>
          <p:cNvGrpSpPr/>
          <p:nvPr/>
        </p:nvGrpSpPr>
        <p:grpSpPr>
          <a:xfrm>
            <a:off x="833183" y="1451515"/>
            <a:ext cx="3409781" cy="1719017"/>
            <a:chOff x="-2170772" y="2784954"/>
            <a:chExt cx="2712783" cy="1853712"/>
          </a:xfrm>
        </p:grpSpPr>
        <p:sp>
          <p:nvSpPr>
            <p:cNvPr id="6"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 name="Group 261"/>
            <p:cNvGrpSpPr/>
            <p:nvPr/>
          </p:nvGrpSpPr>
          <p:grpSpPr>
            <a:xfrm>
              <a:off x="-1935370" y="2935816"/>
              <a:ext cx="2333625" cy="1619588"/>
              <a:chOff x="833331" y="2873352"/>
              <a:chExt cx="2333625" cy="1619588"/>
            </a:xfrm>
          </p:grpSpPr>
          <p:grpSp>
            <p:nvGrpSpPr>
              <p:cNvPr id="8" name="Group 262"/>
              <p:cNvGrpSpPr/>
              <p:nvPr/>
            </p:nvGrpSpPr>
            <p:grpSpPr>
              <a:xfrm>
                <a:off x="1736090" y="2873352"/>
                <a:ext cx="565150" cy="398271"/>
                <a:chOff x="1736090" y="2873352"/>
                <a:chExt cx="565150" cy="398271"/>
              </a:xfrm>
            </p:grpSpPr>
            <p:grpSp>
              <p:nvGrpSpPr>
                <p:cNvPr id="57" name="Group 327"/>
                <p:cNvGrpSpPr>
                  <a:grpSpLocks/>
                </p:cNvGrpSpPr>
                <p:nvPr/>
              </p:nvGrpSpPr>
              <p:grpSpPr bwMode="auto">
                <a:xfrm>
                  <a:off x="1736090" y="2893762"/>
                  <a:ext cx="565150" cy="292100"/>
                  <a:chOff x="1871277" y="1576300"/>
                  <a:chExt cx="1128371" cy="437861"/>
                </a:xfrm>
              </p:grpSpPr>
              <p:sp>
                <p:nvSpPr>
                  <p:cNvPr id="61"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4"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5"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8" name="Straight Connector 322"/>
                  <p:cNvCxnSpPr>
                    <a:endCxn id="6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9"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58" name="Group 312"/>
                <p:cNvGrpSpPr/>
                <p:nvPr/>
              </p:nvGrpSpPr>
              <p:grpSpPr>
                <a:xfrm>
                  <a:off x="1770362" y="2873352"/>
                  <a:ext cx="414737" cy="398271"/>
                  <a:chOff x="667045" y="1708643"/>
                  <a:chExt cx="414737" cy="398271"/>
                </a:xfrm>
              </p:grpSpPr>
              <p:sp>
                <p:nvSpPr>
                  <p:cNvPr id="59"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0" name="TextBox 59"/>
                  <p:cNvSpPr txBox="1"/>
                  <p:nvPr/>
                </p:nvSpPr>
                <p:spPr>
                  <a:xfrm>
                    <a:off x="667045" y="1708643"/>
                    <a:ext cx="349696" cy="398271"/>
                  </a:xfrm>
                  <a:prstGeom prst="rect">
                    <a:avLst/>
                  </a:prstGeom>
                  <a:noFill/>
                </p:spPr>
                <p:txBody>
                  <a:bodyPr wrap="none" rtlCol="0">
                    <a:spAutoFit/>
                  </a:bodyPr>
                  <a:lstStyle/>
                  <a:p>
                    <a:r>
                      <a:rPr lang="en-US" dirty="0"/>
                      <a:t>1b</a:t>
                    </a:r>
                  </a:p>
                </p:txBody>
              </p:sp>
            </p:grpSp>
          </p:grpSp>
          <p:grpSp>
            <p:nvGrpSpPr>
              <p:cNvPr id="9" name="Group 263"/>
              <p:cNvGrpSpPr/>
              <p:nvPr/>
            </p:nvGrpSpPr>
            <p:grpSpPr>
              <a:xfrm>
                <a:off x="1740320" y="4094669"/>
                <a:ext cx="565150" cy="398271"/>
                <a:chOff x="1736090" y="2873352"/>
                <a:chExt cx="565150" cy="398271"/>
              </a:xfrm>
            </p:grpSpPr>
            <p:grpSp>
              <p:nvGrpSpPr>
                <p:cNvPr id="44" name="Group 327"/>
                <p:cNvGrpSpPr>
                  <a:grpSpLocks/>
                </p:cNvGrpSpPr>
                <p:nvPr/>
              </p:nvGrpSpPr>
              <p:grpSpPr bwMode="auto">
                <a:xfrm>
                  <a:off x="1736090" y="2893762"/>
                  <a:ext cx="565150" cy="292100"/>
                  <a:chOff x="1871277" y="1576300"/>
                  <a:chExt cx="1128371" cy="437861"/>
                </a:xfrm>
              </p:grpSpPr>
              <p:sp>
                <p:nvSpPr>
                  <p:cNvPr id="48"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3"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 name="Straight Connector 309"/>
                  <p:cNvCxnSpPr>
                    <a:endCxn id="5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6"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5" name="Group 299"/>
                <p:cNvGrpSpPr/>
                <p:nvPr/>
              </p:nvGrpSpPr>
              <p:grpSpPr>
                <a:xfrm>
                  <a:off x="1770362" y="2873352"/>
                  <a:ext cx="414737" cy="398271"/>
                  <a:chOff x="667045" y="1708643"/>
                  <a:chExt cx="414737" cy="398271"/>
                </a:xfrm>
              </p:grpSpPr>
              <p:sp>
                <p:nvSpPr>
                  <p:cNvPr id="46"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 name="TextBox 46"/>
                  <p:cNvSpPr txBox="1"/>
                  <p:nvPr/>
                </p:nvSpPr>
                <p:spPr>
                  <a:xfrm>
                    <a:off x="667045" y="1708643"/>
                    <a:ext cx="349696" cy="398271"/>
                  </a:xfrm>
                  <a:prstGeom prst="rect">
                    <a:avLst/>
                  </a:prstGeom>
                  <a:noFill/>
                </p:spPr>
                <p:txBody>
                  <a:bodyPr wrap="none" rtlCol="0">
                    <a:spAutoFit/>
                  </a:bodyPr>
                  <a:lstStyle/>
                  <a:p>
                    <a:r>
                      <a:rPr lang="en-US" dirty="0"/>
                      <a:t>1d</a:t>
                    </a:r>
                  </a:p>
                </p:txBody>
              </p:sp>
            </p:grpSp>
          </p:grpSp>
          <p:grpSp>
            <p:nvGrpSpPr>
              <p:cNvPr id="10" name="Group 264"/>
              <p:cNvGrpSpPr/>
              <p:nvPr/>
            </p:nvGrpSpPr>
            <p:grpSpPr>
              <a:xfrm>
                <a:off x="2601806" y="3485072"/>
                <a:ext cx="565150" cy="398272"/>
                <a:chOff x="1736090" y="2873352"/>
                <a:chExt cx="565150" cy="398272"/>
              </a:xfrm>
            </p:grpSpPr>
            <p:grpSp>
              <p:nvGrpSpPr>
                <p:cNvPr id="31" name="Group 327"/>
                <p:cNvGrpSpPr>
                  <a:grpSpLocks/>
                </p:cNvGrpSpPr>
                <p:nvPr/>
              </p:nvGrpSpPr>
              <p:grpSpPr bwMode="auto">
                <a:xfrm>
                  <a:off x="1736090" y="2893762"/>
                  <a:ext cx="565150" cy="292100"/>
                  <a:chOff x="1871277" y="1576300"/>
                  <a:chExt cx="1128371" cy="437861"/>
                </a:xfrm>
              </p:grpSpPr>
              <p:sp>
                <p:nvSpPr>
                  <p:cNvPr id="35"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0"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 name="Straight Connector 296"/>
                  <p:cNvCxnSpPr>
                    <a:endCxn id="3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 name="Group 286"/>
                <p:cNvGrpSpPr/>
                <p:nvPr/>
              </p:nvGrpSpPr>
              <p:grpSpPr>
                <a:xfrm>
                  <a:off x="1770362" y="2873352"/>
                  <a:ext cx="414737" cy="398272"/>
                  <a:chOff x="667045" y="1708643"/>
                  <a:chExt cx="414737" cy="398272"/>
                </a:xfrm>
              </p:grpSpPr>
              <p:sp>
                <p:nvSpPr>
                  <p:cNvPr id="33"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4" name="TextBox 33"/>
                  <p:cNvSpPr txBox="1"/>
                  <p:nvPr/>
                </p:nvSpPr>
                <p:spPr>
                  <a:xfrm>
                    <a:off x="667045" y="1708643"/>
                    <a:ext cx="326740" cy="398272"/>
                  </a:xfrm>
                  <a:prstGeom prst="rect">
                    <a:avLst/>
                  </a:prstGeom>
                  <a:noFill/>
                </p:spPr>
                <p:txBody>
                  <a:bodyPr wrap="none" rtlCol="0">
                    <a:spAutoFit/>
                  </a:bodyPr>
                  <a:lstStyle/>
                  <a:p>
                    <a:r>
                      <a:rPr lang="en-US" dirty="0"/>
                      <a:t>1c</a:t>
                    </a:r>
                  </a:p>
                </p:txBody>
              </p:sp>
            </p:grpSp>
          </p:grpSp>
          <p:grpSp>
            <p:nvGrpSpPr>
              <p:cNvPr id="11" name="Group 265"/>
              <p:cNvGrpSpPr/>
              <p:nvPr/>
            </p:nvGrpSpPr>
            <p:grpSpPr>
              <a:xfrm>
                <a:off x="833331" y="3478719"/>
                <a:ext cx="565150" cy="398272"/>
                <a:chOff x="1736090" y="2873352"/>
                <a:chExt cx="565150" cy="398272"/>
              </a:xfrm>
            </p:grpSpPr>
            <p:grpSp>
              <p:nvGrpSpPr>
                <p:cNvPr id="18" name="Group 327"/>
                <p:cNvGrpSpPr>
                  <a:grpSpLocks/>
                </p:cNvGrpSpPr>
                <p:nvPr/>
              </p:nvGrpSpPr>
              <p:grpSpPr bwMode="auto">
                <a:xfrm>
                  <a:off x="1736090" y="2893762"/>
                  <a:ext cx="565150" cy="292100"/>
                  <a:chOff x="1871277" y="1576300"/>
                  <a:chExt cx="1128371" cy="437861"/>
                </a:xfrm>
              </p:grpSpPr>
              <p:sp>
                <p:nvSpPr>
                  <p:cNvPr id="22"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 name="Straight Connector 283"/>
                  <p:cNvCxnSpPr>
                    <a:endCxn id="2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 name="Group 273"/>
                <p:cNvGrpSpPr/>
                <p:nvPr/>
              </p:nvGrpSpPr>
              <p:grpSpPr>
                <a:xfrm>
                  <a:off x="1770362" y="2873352"/>
                  <a:ext cx="414737" cy="398272"/>
                  <a:chOff x="667045" y="1708643"/>
                  <a:chExt cx="414737" cy="398272"/>
                </a:xfrm>
              </p:grpSpPr>
              <p:sp>
                <p:nvSpPr>
                  <p:cNvPr id="20"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extBox 20"/>
                  <p:cNvSpPr txBox="1"/>
                  <p:nvPr/>
                </p:nvSpPr>
                <p:spPr>
                  <a:xfrm>
                    <a:off x="667045" y="1708643"/>
                    <a:ext cx="335667" cy="398272"/>
                  </a:xfrm>
                  <a:prstGeom prst="rect">
                    <a:avLst/>
                  </a:prstGeom>
                  <a:noFill/>
                </p:spPr>
                <p:txBody>
                  <a:bodyPr wrap="none" rtlCol="0">
                    <a:spAutoFit/>
                  </a:bodyPr>
                  <a:lstStyle/>
                  <a:p>
                    <a:r>
                      <a:rPr lang="en-US" dirty="0"/>
                      <a:t>1a</a:t>
                    </a:r>
                  </a:p>
                </p:txBody>
              </p:sp>
            </p:grpSp>
          </p:grpSp>
          <p:cxnSp>
            <p:nvCxnSpPr>
              <p:cNvPr id="12" name="Straight Connector 266"/>
              <p:cNvCxnSpPr>
                <a:stCxn id="60" idx="2"/>
                <a:endCxn id="47" idx="0"/>
              </p:cNvCxnSpPr>
              <p:nvPr/>
            </p:nvCxnSpPr>
            <p:spPr bwMode="auto">
              <a:xfrm>
                <a:off x="1945210" y="3271623"/>
                <a:ext cx="4230" cy="82304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Connector 268"/>
              <p:cNvCxnSpPr>
                <a:stCxn id="61"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70" name="Group 125"/>
          <p:cNvGrpSpPr/>
          <p:nvPr/>
        </p:nvGrpSpPr>
        <p:grpSpPr>
          <a:xfrm>
            <a:off x="4380923" y="2378686"/>
            <a:ext cx="3394251" cy="1720535"/>
            <a:chOff x="-2170772" y="2784954"/>
            <a:chExt cx="2712783" cy="1853712"/>
          </a:xfrm>
        </p:grpSpPr>
        <p:sp>
          <p:nvSpPr>
            <p:cNvPr id="7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2" name="Group 197"/>
            <p:cNvGrpSpPr/>
            <p:nvPr/>
          </p:nvGrpSpPr>
          <p:grpSpPr>
            <a:xfrm>
              <a:off x="-1935370" y="2935816"/>
              <a:ext cx="2333625" cy="1619237"/>
              <a:chOff x="833331" y="2873352"/>
              <a:chExt cx="2333625" cy="1619237"/>
            </a:xfrm>
          </p:grpSpPr>
          <p:grpSp>
            <p:nvGrpSpPr>
              <p:cNvPr id="73" name="Group 198"/>
              <p:cNvGrpSpPr/>
              <p:nvPr/>
            </p:nvGrpSpPr>
            <p:grpSpPr>
              <a:xfrm>
                <a:off x="1736090" y="2873352"/>
                <a:ext cx="565150" cy="397920"/>
                <a:chOff x="1736090" y="2873352"/>
                <a:chExt cx="565150" cy="397920"/>
              </a:xfrm>
            </p:grpSpPr>
            <p:grpSp>
              <p:nvGrpSpPr>
                <p:cNvPr id="122" name="Group 327"/>
                <p:cNvGrpSpPr>
                  <a:grpSpLocks/>
                </p:cNvGrpSpPr>
                <p:nvPr/>
              </p:nvGrpSpPr>
              <p:grpSpPr bwMode="auto">
                <a:xfrm>
                  <a:off x="1736090" y="2893762"/>
                  <a:ext cx="565150" cy="292100"/>
                  <a:chOff x="1871277" y="1576300"/>
                  <a:chExt cx="1128371" cy="437861"/>
                </a:xfrm>
              </p:grpSpPr>
              <p:sp>
                <p:nvSpPr>
                  <p:cNvPr id="126"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7"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8"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9"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0"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2"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3" name="Straight Connector 258"/>
                  <p:cNvCxnSpPr>
                    <a:endCxn id="1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4"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3" name="Group 248"/>
                <p:cNvGrpSpPr/>
                <p:nvPr/>
              </p:nvGrpSpPr>
              <p:grpSpPr>
                <a:xfrm>
                  <a:off x="1770362" y="2873352"/>
                  <a:ext cx="414737" cy="397920"/>
                  <a:chOff x="667045" y="1708643"/>
                  <a:chExt cx="414737" cy="397920"/>
                </a:xfrm>
              </p:grpSpPr>
              <p:sp>
                <p:nvSpPr>
                  <p:cNvPr id="124"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5" name="TextBox 124"/>
                  <p:cNvSpPr txBox="1"/>
                  <p:nvPr/>
                </p:nvSpPr>
                <p:spPr>
                  <a:xfrm>
                    <a:off x="667045" y="1708643"/>
                    <a:ext cx="351296" cy="397920"/>
                  </a:xfrm>
                  <a:prstGeom prst="rect">
                    <a:avLst/>
                  </a:prstGeom>
                  <a:noFill/>
                </p:spPr>
                <p:txBody>
                  <a:bodyPr wrap="none" rtlCol="0">
                    <a:spAutoFit/>
                  </a:bodyPr>
                  <a:lstStyle/>
                  <a:p>
                    <a:r>
                      <a:rPr lang="en-US" dirty="0"/>
                      <a:t>2b</a:t>
                    </a:r>
                  </a:p>
                </p:txBody>
              </p:sp>
            </p:grpSp>
          </p:grpSp>
          <p:grpSp>
            <p:nvGrpSpPr>
              <p:cNvPr id="74" name="Group 199"/>
              <p:cNvGrpSpPr/>
              <p:nvPr/>
            </p:nvGrpSpPr>
            <p:grpSpPr>
              <a:xfrm>
                <a:off x="1740320" y="4094669"/>
                <a:ext cx="565150" cy="397920"/>
                <a:chOff x="1736090" y="2873352"/>
                <a:chExt cx="565150" cy="397920"/>
              </a:xfrm>
            </p:grpSpPr>
            <p:grpSp>
              <p:nvGrpSpPr>
                <p:cNvPr id="109" name="Group 327"/>
                <p:cNvGrpSpPr>
                  <a:grpSpLocks/>
                </p:cNvGrpSpPr>
                <p:nvPr/>
              </p:nvGrpSpPr>
              <p:grpSpPr bwMode="auto">
                <a:xfrm>
                  <a:off x="1736090" y="2893762"/>
                  <a:ext cx="565150" cy="292100"/>
                  <a:chOff x="1871277" y="1576300"/>
                  <a:chExt cx="1128371" cy="437861"/>
                </a:xfrm>
              </p:grpSpPr>
              <p:sp>
                <p:nvSpPr>
                  <p:cNvPr id="113"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9"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0" name="Straight Connector 245"/>
                  <p:cNvCxnSpPr>
                    <a:endCxn id="1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1"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0" name="Group 235"/>
                <p:cNvGrpSpPr/>
                <p:nvPr/>
              </p:nvGrpSpPr>
              <p:grpSpPr>
                <a:xfrm>
                  <a:off x="1770362" y="2873352"/>
                  <a:ext cx="414737" cy="397920"/>
                  <a:chOff x="667045" y="1708643"/>
                  <a:chExt cx="414737" cy="397920"/>
                </a:xfrm>
              </p:grpSpPr>
              <p:sp>
                <p:nvSpPr>
                  <p:cNvPr id="111"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2" name="TextBox 111"/>
                  <p:cNvSpPr txBox="1"/>
                  <p:nvPr/>
                </p:nvSpPr>
                <p:spPr>
                  <a:xfrm>
                    <a:off x="667045" y="1708643"/>
                    <a:ext cx="351296" cy="397920"/>
                  </a:xfrm>
                  <a:prstGeom prst="rect">
                    <a:avLst/>
                  </a:prstGeom>
                  <a:noFill/>
                </p:spPr>
                <p:txBody>
                  <a:bodyPr wrap="none" rtlCol="0">
                    <a:spAutoFit/>
                  </a:bodyPr>
                  <a:lstStyle/>
                  <a:p>
                    <a:r>
                      <a:rPr lang="en-US" dirty="0"/>
                      <a:t>2d</a:t>
                    </a:r>
                  </a:p>
                </p:txBody>
              </p:sp>
            </p:grpSp>
          </p:grpSp>
          <p:grpSp>
            <p:nvGrpSpPr>
              <p:cNvPr id="75" name="Group 200"/>
              <p:cNvGrpSpPr/>
              <p:nvPr/>
            </p:nvGrpSpPr>
            <p:grpSpPr>
              <a:xfrm>
                <a:off x="2601806" y="3485072"/>
                <a:ext cx="565150" cy="397920"/>
                <a:chOff x="1736090" y="2873352"/>
                <a:chExt cx="565150" cy="397920"/>
              </a:xfrm>
            </p:grpSpPr>
            <p:grpSp>
              <p:nvGrpSpPr>
                <p:cNvPr id="96" name="Group 327"/>
                <p:cNvGrpSpPr>
                  <a:grpSpLocks/>
                </p:cNvGrpSpPr>
                <p:nvPr/>
              </p:nvGrpSpPr>
              <p:grpSpPr bwMode="auto">
                <a:xfrm>
                  <a:off x="1736090" y="2893762"/>
                  <a:ext cx="565150" cy="292100"/>
                  <a:chOff x="1871277" y="1576300"/>
                  <a:chExt cx="1128371" cy="437861"/>
                </a:xfrm>
              </p:grpSpPr>
              <p:sp>
                <p:nvSpPr>
                  <p:cNvPr id="100"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232"/>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7" name="Group 222"/>
                <p:cNvGrpSpPr/>
                <p:nvPr/>
              </p:nvGrpSpPr>
              <p:grpSpPr>
                <a:xfrm>
                  <a:off x="1770362" y="2873352"/>
                  <a:ext cx="414737" cy="397920"/>
                  <a:chOff x="667045" y="1708643"/>
                  <a:chExt cx="414737" cy="397920"/>
                </a:xfrm>
              </p:grpSpPr>
              <p:sp>
                <p:nvSpPr>
                  <p:cNvPr id="98"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9" name="TextBox 98"/>
                  <p:cNvSpPr txBox="1"/>
                  <p:nvPr/>
                </p:nvSpPr>
                <p:spPr>
                  <a:xfrm>
                    <a:off x="667045" y="1708643"/>
                    <a:ext cx="328235" cy="397920"/>
                  </a:xfrm>
                  <a:prstGeom prst="rect">
                    <a:avLst/>
                  </a:prstGeom>
                  <a:noFill/>
                </p:spPr>
                <p:txBody>
                  <a:bodyPr wrap="none" rtlCol="0">
                    <a:spAutoFit/>
                  </a:bodyPr>
                  <a:lstStyle/>
                  <a:p>
                    <a:r>
                      <a:rPr lang="en-US" dirty="0"/>
                      <a:t>2c</a:t>
                    </a:r>
                  </a:p>
                </p:txBody>
              </p:sp>
            </p:grpSp>
          </p:grpSp>
          <p:grpSp>
            <p:nvGrpSpPr>
              <p:cNvPr id="76" name="Group 201"/>
              <p:cNvGrpSpPr/>
              <p:nvPr/>
            </p:nvGrpSpPr>
            <p:grpSpPr>
              <a:xfrm>
                <a:off x="833331" y="3478719"/>
                <a:ext cx="565150" cy="397920"/>
                <a:chOff x="1736090" y="2873352"/>
                <a:chExt cx="565150" cy="397920"/>
              </a:xfrm>
            </p:grpSpPr>
            <p:grpSp>
              <p:nvGrpSpPr>
                <p:cNvPr id="83" name="Group 327"/>
                <p:cNvGrpSpPr>
                  <a:grpSpLocks/>
                </p:cNvGrpSpPr>
                <p:nvPr/>
              </p:nvGrpSpPr>
              <p:grpSpPr bwMode="auto">
                <a:xfrm>
                  <a:off x="1736090" y="2893762"/>
                  <a:ext cx="565150" cy="292100"/>
                  <a:chOff x="1871277" y="1576300"/>
                  <a:chExt cx="1128371" cy="437861"/>
                </a:xfrm>
              </p:grpSpPr>
              <p:sp>
                <p:nvSpPr>
                  <p:cNvPr id="87"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8"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0"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1"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4" name="Straight Connector 219"/>
                  <p:cNvCxnSpPr>
                    <a:endCxn id="8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5"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209"/>
                <p:cNvGrpSpPr/>
                <p:nvPr/>
              </p:nvGrpSpPr>
              <p:grpSpPr>
                <a:xfrm>
                  <a:off x="1770362" y="2873352"/>
                  <a:ext cx="414737" cy="397920"/>
                  <a:chOff x="667045" y="1708643"/>
                  <a:chExt cx="414737" cy="397920"/>
                </a:xfrm>
              </p:grpSpPr>
              <p:sp>
                <p:nvSpPr>
                  <p:cNvPr id="85"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6" name="TextBox 85"/>
                  <p:cNvSpPr txBox="1"/>
                  <p:nvPr/>
                </p:nvSpPr>
                <p:spPr>
                  <a:xfrm>
                    <a:off x="667045" y="1708643"/>
                    <a:ext cx="337203" cy="397920"/>
                  </a:xfrm>
                  <a:prstGeom prst="rect">
                    <a:avLst/>
                  </a:prstGeom>
                  <a:noFill/>
                </p:spPr>
                <p:txBody>
                  <a:bodyPr wrap="none" rtlCol="0">
                    <a:spAutoFit/>
                  </a:bodyPr>
                  <a:lstStyle/>
                  <a:p>
                    <a:r>
                      <a:rPr lang="en-US" dirty="0"/>
                      <a:t>2a</a:t>
                    </a:r>
                  </a:p>
                </p:txBody>
              </p:sp>
            </p:grpSp>
          </p:grpSp>
          <p:cxnSp>
            <p:nvCxnSpPr>
              <p:cNvPr id="77" name="Straight Connector 202"/>
              <p:cNvCxnSpPr>
                <a:stCxn id="125" idx="2"/>
                <a:endCxn id="112" idx="0"/>
              </p:cNvCxnSpPr>
              <p:nvPr/>
            </p:nvCxnSpPr>
            <p:spPr bwMode="auto">
              <a:xfrm>
                <a:off x="1946010" y="3271272"/>
                <a:ext cx="4230" cy="82339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9" name="Straight Connector 204"/>
              <p:cNvCxnSpPr>
                <a:stCxn id="12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35" name="Freeform 2"/>
          <p:cNvSpPr>
            <a:spLocks/>
          </p:cNvSpPr>
          <p:nvPr/>
        </p:nvSpPr>
        <p:spPr bwMode="auto">
          <a:xfrm>
            <a:off x="7343582" y="1310427"/>
            <a:ext cx="3434028"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36" name="Group 133"/>
          <p:cNvGrpSpPr/>
          <p:nvPr/>
        </p:nvGrpSpPr>
        <p:grpSpPr>
          <a:xfrm>
            <a:off x="7641569" y="1446544"/>
            <a:ext cx="2954064" cy="1471268"/>
            <a:chOff x="833331" y="2873352"/>
            <a:chExt cx="2333625" cy="1630661"/>
          </a:xfrm>
        </p:grpSpPr>
        <p:grpSp>
          <p:nvGrpSpPr>
            <p:cNvPr id="137" name="Group 134"/>
            <p:cNvGrpSpPr/>
            <p:nvPr/>
          </p:nvGrpSpPr>
          <p:grpSpPr>
            <a:xfrm>
              <a:off x="1736090" y="2873352"/>
              <a:ext cx="565150" cy="409344"/>
              <a:chOff x="1736090" y="2873352"/>
              <a:chExt cx="565150" cy="409344"/>
            </a:xfrm>
          </p:grpSpPr>
          <p:grpSp>
            <p:nvGrpSpPr>
              <p:cNvPr id="186" name="Group 327"/>
              <p:cNvGrpSpPr>
                <a:grpSpLocks/>
              </p:cNvGrpSpPr>
              <p:nvPr/>
            </p:nvGrpSpPr>
            <p:grpSpPr bwMode="auto">
              <a:xfrm>
                <a:off x="1736090" y="2893762"/>
                <a:ext cx="565150" cy="292100"/>
                <a:chOff x="1871277" y="1576300"/>
                <a:chExt cx="1128371" cy="437861"/>
              </a:xfrm>
            </p:grpSpPr>
            <p:sp>
              <p:nvSpPr>
                <p:cNvPr id="190"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3"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7" name="Straight Connector 194"/>
                <p:cNvCxnSpPr>
                  <a:endCxn id="1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8"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7" name="Group 184"/>
              <p:cNvGrpSpPr/>
              <p:nvPr/>
            </p:nvGrpSpPr>
            <p:grpSpPr>
              <a:xfrm>
                <a:off x="1770362" y="2873352"/>
                <a:ext cx="414737" cy="409344"/>
                <a:chOff x="667045" y="1708643"/>
                <a:chExt cx="414737" cy="409344"/>
              </a:xfrm>
            </p:grpSpPr>
            <p:sp>
              <p:nvSpPr>
                <p:cNvPr id="188"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9" name="TextBox 188"/>
                <p:cNvSpPr txBox="1"/>
                <p:nvPr/>
              </p:nvSpPr>
              <p:spPr>
                <a:xfrm>
                  <a:off x="667045" y="1708643"/>
                  <a:ext cx="347227" cy="409344"/>
                </a:xfrm>
                <a:prstGeom prst="rect">
                  <a:avLst/>
                </a:prstGeom>
                <a:noFill/>
              </p:spPr>
              <p:txBody>
                <a:bodyPr wrap="none" rtlCol="0">
                  <a:spAutoFit/>
                </a:bodyPr>
                <a:lstStyle/>
                <a:p>
                  <a:r>
                    <a:rPr lang="en-US" dirty="0"/>
                    <a:t>3b</a:t>
                  </a:r>
                </a:p>
              </p:txBody>
            </p:sp>
          </p:grpSp>
        </p:grpSp>
        <p:grpSp>
          <p:nvGrpSpPr>
            <p:cNvPr id="138" name="Group 135"/>
            <p:cNvGrpSpPr/>
            <p:nvPr/>
          </p:nvGrpSpPr>
          <p:grpSpPr>
            <a:xfrm>
              <a:off x="1740320" y="4094669"/>
              <a:ext cx="565150" cy="409344"/>
              <a:chOff x="1736090" y="2873352"/>
              <a:chExt cx="565150" cy="409344"/>
            </a:xfrm>
          </p:grpSpPr>
          <p:grpSp>
            <p:nvGrpSpPr>
              <p:cNvPr id="173" name="Group 327"/>
              <p:cNvGrpSpPr>
                <a:grpSpLocks/>
              </p:cNvGrpSpPr>
              <p:nvPr/>
            </p:nvGrpSpPr>
            <p:grpSpPr bwMode="auto">
              <a:xfrm>
                <a:off x="1736090" y="2893762"/>
                <a:ext cx="565150" cy="292100"/>
                <a:chOff x="1871277" y="1576300"/>
                <a:chExt cx="1128371" cy="437861"/>
              </a:xfrm>
            </p:grpSpPr>
            <p:sp>
              <p:nvSpPr>
                <p:cNvPr id="177"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1"/>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1"/>
              <p:cNvGrpSpPr/>
              <p:nvPr/>
            </p:nvGrpSpPr>
            <p:grpSpPr>
              <a:xfrm>
                <a:off x="1770362" y="2873352"/>
                <a:ext cx="414737" cy="409344"/>
                <a:chOff x="667045" y="1708643"/>
                <a:chExt cx="414737" cy="409344"/>
              </a:xfrm>
            </p:grpSpPr>
            <p:sp>
              <p:nvSpPr>
                <p:cNvPr id="175"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p:cNvSpPr txBox="1"/>
                <p:nvPr/>
              </p:nvSpPr>
              <p:spPr>
                <a:xfrm>
                  <a:off x="667045" y="1708643"/>
                  <a:ext cx="347227" cy="409344"/>
                </a:xfrm>
                <a:prstGeom prst="rect">
                  <a:avLst/>
                </a:prstGeom>
                <a:noFill/>
              </p:spPr>
              <p:txBody>
                <a:bodyPr wrap="none" rtlCol="0">
                  <a:spAutoFit/>
                </a:bodyPr>
                <a:lstStyle/>
                <a:p>
                  <a:r>
                    <a:rPr lang="en-US" dirty="0"/>
                    <a:t>3d</a:t>
                  </a:r>
                </a:p>
              </p:txBody>
            </p:sp>
          </p:grpSp>
        </p:grpSp>
        <p:grpSp>
          <p:nvGrpSpPr>
            <p:cNvPr id="139" name="Group 136"/>
            <p:cNvGrpSpPr/>
            <p:nvPr/>
          </p:nvGrpSpPr>
          <p:grpSpPr>
            <a:xfrm>
              <a:off x="2601806" y="3485072"/>
              <a:ext cx="565150" cy="409344"/>
              <a:chOff x="1736090" y="2873352"/>
              <a:chExt cx="565150" cy="409344"/>
            </a:xfrm>
          </p:grpSpPr>
          <p:grpSp>
            <p:nvGrpSpPr>
              <p:cNvPr id="160" name="Group 327"/>
              <p:cNvGrpSpPr>
                <a:grpSpLocks/>
              </p:cNvGrpSpPr>
              <p:nvPr/>
            </p:nvGrpSpPr>
            <p:grpSpPr bwMode="auto">
              <a:xfrm>
                <a:off x="1736090" y="2893762"/>
                <a:ext cx="565150" cy="292100"/>
                <a:chOff x="1871277" y="1576300"/>
                <a:chExt cx="1128371" cy="437861"/>
              </a:xfrm>
            </p:grpSpPr>
            <p:sp>
              <p:nvSpPr>
                <p:cNvPr id="164"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68"/>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58"/>
              <p:cNvGrpSpPr/>
              <p:nvPr/>
            </p:nvGrpSpPr>
            <p:grpSpPr>
              <a:xfrm>
                <a:off x="1770362" y="2873352"/>
                <a:ext cx="414737" cy="409344"/>
                <a:chOff x="667045" y="1708643"/>
                <a:chExt cx="414737" cy="409344"/>
              </a:xfrm>
            </p:grpSpPr>
            <p:sp>
              <p:nvSpPr>
                <p:cNvPr id="162"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2"/>
                <p:cNvSpPr txBox="1"/>
                <p:nvPr/>
              </p:nvSpPr>
              <p:spPr>
                <a:xfrm>
                  <a:off x="667045" y="1708643"/>
                  <a:ext cx="324433" cy="409344"/>
                </a:xfrm>
                <a:prstGeom prst="rect">
                  <a:avLst/>
                </a:prstGeom>
                <a:noFill/>
              </p:spPr>
              <p:txBody>
                <a:bodyPr wrap="none" rtlCol="0">
                  <a:spAutoFit/>
                </a:bodyPr>
                <a:lstStyle/>
                <a:p>
                  <a:r>
                    <a:rPr lang="en-US" dirty="0"/>
                    <a:t>3c</a:t>
                  </a:r>
                </a:p>
              </p:txBody>
            </p:sp>
          </p:grpSp>
        </p:grpSp>
        <p:grpSp>
          <p:nvGrpSpPr>
            <p:cNvPr id="140" name="Group 137"/>
            <p:cNvGrpSpPr/>
            <p:nvPr/>
          </p:nvGrpSpPr>
          <p:grpSpPr>
            <a:xfrm>
              <a:off x="833331" y="3478719"/>
              <a:ext cx="565150" cy="409344"/>
              <a:chOff x="1736090" y="2873352"/>
              <a:chExt cx="565150" cy="409344"/>
            </a:xfrm>
          </p:grpSpPr>
          <p:grpSp>
            <p:nvGrpSpPr>
              <p:cNvPr id="147" name="Group 327"/>
              <p:cNvGrpSpPr>
                <a:grpSpLocks/>
              </p:cNvGrpSpPr>
              <p:nvPr/>
            </p:nvGrpSpPr>
            <p:grpSpPr bwMode="auto">
              <a:xfrm>
                <a:off x="1736090" y="2893762"/>
                <a:ext cx="565150" cy="292100"/>
                <a:chOff x="1871277" y="1576300"/>
                <a:chExt cx="1128371" cy="437861"/>
              </a:xfrm>
            </p:grpSpPr>
            <p:sp>
              <p:nvSpPr>
                <p:cNvPr id="151"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4"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5"/>
                <p:cNvCxnSpPr>
                  <a:endCxn id="15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8" name="Group 145"/>
              <p:cNvGrpSpPr/>
              <p:nvPr/>
            </p:nvGrpSpPr>
            <p:grpSpPr>
              <a:xfrm>
                <a:off x="1770362" y="2873352"/>
                <a:ext cx="414737" cy="409344"/>
                <a:chOff x="667045" y="1708643"/>
                <a:chExt cx="414737" cy="409344"/>
              </a:xfrm>
            </p:grpSpPr>
            <p:sp>
              <p:nvSpPr>
                <p:cNvPr id="149"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0" name="TextBox 149"/>
                <p:cNvSpPr txBox="1"/>
                <p:nvPr/>
              </p:nvSpPr>
              <p:spPr>
                <a:xfrm>
                  <a:off x="667045" y="1708643"/>
                  <a:ext cx="333296" cy="409344"/>
                </a:xfrm>
                <a:prstGeom prst="rect">
                  <a:avLst/>
                </a:prstGeom>
                <a:noFill/>
              </p:spPr>
              <p:txBody>
                <a:bodyPr wrap="none" rtlCol="0">
                  <a:spAutoFit/>
                </a:bodyPr>
                <a:lstStyle/>
                <a:p>
                  <a:r>
                    <a:rPr lang="en-US" dirty="0"/>
                    <a:t>3a</a:t>
                  </a:r>
                </a:p>
              </p:txBody>
            </p:sp>
          </p:grpSp>
        </p:grpSp>
        <p:cxnSp>
          <p:nvCxnSpPr>
            <p:cNvPr id="141" name="Straight Connector 138"/>
            <p:cNvCxnSpPr>
              <a:stCxn id="189" idx="2"/>
              <a:endCxn id="176" idx="0"/>
            </p:cNvCxnSpPr>
            <p:nvPr/>
          </p:nvCxnSpPr>
          <p:spPr bwMode="auto">
            <a:xfrm>
              <a:off x="1943976" y="3282696"/>
              <a:ext cx="4230" cy="81197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Straight Connector 140"/>
            <p:cNvCxnSpPr>
              <a:stCxn id="190"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99" name="Straight Connector 127"/>
          <p:cNvCxnSpPr/>
          <p:nvPr/>
        </p:nvCxnSpPr>
        <p:spPr bwMode="auto">
          <a:xfrm flipH="1" flipV="1">
            <a:off x="4062275" y="2340047"/>
            <a:ext cx="641169"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28"/>
          <p:cNvCxnSpPr/>
          <p:nvPr/>
        </p:nvCxnSpPr>
        <p:spPr bwMode="auto">
          <a:xfrm flipV="1">
            <a:off x="7364252" y="2281165"/>
            <a:ext cx="450313"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200"/>
          <p:cNvSpPr txBox="1"/>
          <p:nvPr/>
        </p:nvSpPr>
        <p:spPr>
          <a:xfrm>
            <a:off x="4657722" y="2438369"/>
            <a:ext cx="614271" cy="400110"/>
          </a:xfrm>
          <a:prstGeom prst="rect">
            <a:avLst/>
          </a:prstGeom>
          <a:noFill/>
        </p:spPr>
        <p:txBody>
          <a:bodyPr wrap="none" rtlCol="0">
            <a:spAutoFit/>
          </a:bodyPr>
          <a:lstStyle/>
          <a:p>
            <a:r>
              <a:rPr lang="en-US" sz="2000" dirty="0">
                <a:solidFill>
                  <a:srgbClr val="000090"/>
                </a:solidFill>
              </a:rPr>
              <a:t>AS2</a:t>
            </a:r>
          </a:p>
        </p:txBody>
      </p:sp>
      <p:sp>
        <p:nvSpPr>
          <p:cNvPr id="202" name="TextBox 201"/>
          <p:cNvSpPr txBox="1"/>
          <p:nvPr/>
        </p:nvSpPr>
        <p:spPr>
          <a:xfrm>
            <a:off x="7391934" y="1351667"/>
            <a:ext cx="614271" cy="400110"/>
          </a:xfrm>
          <a:prstGeom prst="rect">
            <a:avLst/>
          </a:prstGeom>
          <a:noFill/>
        </p:spPr>
        <p:txBody>
          <a:bodyPr wrap="none" rtlCol="0">
            <a:spAutoFit/>
          </a:bodyPr>
          <a:lstStyle/>
          <a:p>
            <a:r>
              <a:rPr lang="en-US" sz="2000" dirty="0">
                <a:solidFill>
                  <a:srgbClr val="000090"/>
                </a:solidFill>
              </a:rPr>
              <a:t>AS3</a:t>
            </a:r>
          </a:p>
        </p:txBody>
      </p:sp>
      <p:sp>
        <p:nvSpPr>
          <p:cNvPr id="203" name="TextBox 202"/>
          <p:cNvSpPr txBox="1"/>
          <p:nvPr/>
        </p:nvSpPr>
        <p:spPr>
          <a:xfrm>
            <a:off x="942897" y="1562343"/>
            <a:ext cx="614271" cy="400110"/>
          </a:xfrm>
          <a:prstGeom prst="rect">
            <a:avLst/>
          </a:prstGeom>
          <a:noFill/>
        </p:spPr>
        <p:txBody>
          <a:bodyPr wrap="none" rtlCol="0">
            <a:spAutoFit/>
          </a:bodyPr>
          <a:lstStyle/>
          <a:p>
            <a:r>
              <a:rPr lang="en-US" sz="2000" dirty="0">
                <a:solidFill>
                  <a:srgbClr val="000090"/>
                </a:solidFill>
              </a:rPr>
              <a:t>AS1</a:t>
            </a:r>
          </a:p>
        </p:txBody>
      </p:sp>
      <p:grpSp>
        <p:nvGrpSpPr>
          <p:cNvPr id="204" name="Group 10"/>
          <p:cNvGrpSpPr/>
          <p:nvPr/>
        </p:nvGrpSpPr>
        <p:grpSpPr>
          <a:xfrm>
            <a:off x="9427769" y="2413274"/>
            <a:ext cx="2268979" cy="616172"/>
            <a:chOff x="7073692" y="5469792"/>
            <a:chExt cx="1701734" cy="616172"/>
          </a:xfrm>
        </p:grpSpPr>
        <p:grpSp>
          <p:nvGrpSpPr>
            <p:cNvPr id="205" name="Group 9"/>
            <p:cNvGrpSpPr/>
            <p:nvPr/>
          </p:nvGrpSpPr>
          <p:grpSpPr>
            <a:xfrm>
              <a:off x="7073692" y="5469792"/>
              <a:ext cx="1701734" cy="616172"/>
              <a:chOff x="6946249" y="5096269"/>
              <a:chExt cx="1701734" cy="616172"/>
            </a:xfrm>
          </p:grpSpPr>
          <p:sp>
            <p:nvSpPr>
              <p:cNvPr id="207"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208" name="Group 327"/>
              <p:cNvGrpSpPr>
                <a:grpSpLocks/>
              </p:cNvGrpSpPr>
              <p:nvPr/>
            </p:nvGrpSpPr>
            <p:grpSpPr bwMode="auto">
              <a:xfrm>
                <a:off x="7908175" y="5241780"/>
                <a:ext cx="536554" cy="263548"/>
                <a:chOff x="1871277" y="1576300"/>
                <a:chExt cx="1128371" cy="437861"/>
              </a:xfrm>
            </p:grpSpPr>
            <p:sp>
              <p:nvSpPr>
                <p:cNvPr id="212"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5"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9" name="Straight Connector 380"/>
                <p:cNvCxnSpPr>
                  <a:endCxn id="21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0"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9" name="Group 370"/>
              <p:cNvGrpSpPr/>
              <p:nvPr/>
            </p:nvGrpSpPr>
            <p:grpSpPr>
              <a:xfrm>
                <a:off x="7943996" y="5223365"/>
                <a:ext cx="390467" cy="369332"/>
                <a:chOff x="670504" y="1708643"/>
                <a:chExt cx="411278" cy="409344"/>
              </a:xfrm>
            </p:grpSpPr>
            <p:sp>
              <p:nvSpPr>
                <p:cNvPr id="210"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1" name="TextBox 210"/>
                <p:cNvSpPr txBox="1"/>
                <p:nvPr/>
              </p:nvSpPr>
              <p:spPr>
                <a:xfrm>
                  <a:off x="670504" y="1708643"/>
                  <a:ext cx="349760" cy="409344"/>
                </a:xfrm>
                <a:prstGeom prst="rect">
                  <a:avLst/>
                </a:prstGeom>
                <a:noFill/>
              </p:spPr>
              <p:txBody>
                <a:bodyPr wrap="none" rtlCol="0">
                  <a:spAutoFit/>
                </a:bodyPr>
                <a:lstStyle/>
                <a:p>
                  <a:pPr algn="ctr"/>
                  <a:r>
                    <a:rPr lang="en-US" dirty="0"/>
                    <a:t>  X</a:t>
                  </a:r>
                </a:p>
              </p:txBody>
            </p:sp>
          </p:grpSp>
        </p:grpSp>
        <p:cxnSp>
          <p:nvCxnSpPr>
            <p:cNvPr id="206"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21" name="Group 6"/>
          <p:cNvGrpSpPr/>
          <p:nvPr/>
        </p:nvGrpSpPr>
        <p:grpSpPr>
          <a:xfrm>
            <a:off x="7617925" y="2379268"/>
            <a:ext cx="1080508" cy="768350"/>
            <a:chOff x="5713444" y="2379268"/>
            <a:chExt cx="810381" cy="768350"/>
          </a:xfrm>
        </p:grpSpPr>
        <p:sp>
          <p:nvSpPr>
            <p:cNvPr id="222"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223" name="Text Box 119"/>
            <p:cNvSpPr txBox="1">
              <a:spLocks noChangeArrowheads="1"/>
            </p:cNvSpPr>
            <p:nvPr/>
          </p:nvSpPr>
          <p:spPr bwMode="auto">
            <a:xfrm>
              <a:off x="5906829" y="2784958"/>
              <a:ext cx="616996"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224" name="Group 5"/>
          <p:cNvGrpSpPr/>
          <p:nvPr/>
        </p:nvGrpSpPr>
        <p:grpSpPr>
          <a:xfrm>
            <a:off x="2705105" y="2438605"/>
            <a:ext cx="1637764" cy="882449"/>
            <a:chOff x="2028828" y="2438604"/>
            <a:chExt cx="1228323" cy="882449"/>
          </a:xfrm>
        </p:grpSpPr>
        <p:sp>
          <p:nvSpPr>
            <p:cNvPr id="225" name="Text Box 119"/>
            <p:cNvSpPr txBox="1">
              <a:spLocks noChangeArrowheads="1"/>
            </p:cNvSpPr>
            <p:nvPr/>
          </p:nvSpPr>
          <p:spPr bwMode="auto">
            <a:xfrm>
              <a:off x="2028828" y="3019432"/>
              <a:ext cx="950020"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226"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sp>
        <p:nvSpPr>
          <p:cNvPr id="227" name="Rectangle 4"/>
          <p:cNvSpPr txBox="1">
            <a:spLocks noChangeArrowheads="1"/>
          </p:cNvSpPr>
          <p:nvPr/>
        </p:nvSpPr>
        <p:spPr bwMode="auto">
          <a:xfrm>
            <a:off x="838200" y="4246362"/>
            <a:ext cx="10515600" cy="2175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ts val="2140"/>
              </a:lnSpc>
              <a:buNone/>
            </a:pPr>
            <a:r>
              <a:rPr lang="zh-CN" altLang="en-US" dirty="0">
                <a:solidFill>
                  <a:srgbClr val="C00000"/>
                </a:solidFill>
                <a:latin typeface="微软雅黑" pitchFamily="34" charset="-122"/>
                <a:ea typeface="微软雅黑" pitchFamily="34" charset="-122"/>
                <a:cs typeface="Times New Roman" panose="02020603050405020304" pitchFamily="18" charset="0"/>
              </a:rPr>
              <a:t>路由器可能会学到多条到目的网络的路径</a:t>
            </a:r>
            <a:r>
              <a:rPr lang="en-US" dirty="0">
                <a:solidFill>
                  <a:srgbClr val="C00000"/>
                </a:solidFill>
                <a:latin typeface="微软雅黑" pitchFamily="34" charset="-122"/>
                <a:ea typeface="微软雅黑" pitchFamily="34" charset="-122"/>
                <a:cs typeface="Times New Roman" panose="02020603050405020304" pitchFamily="18" charset="0"/>
              </a:rPr>
              <a:t>:</a:t>
            </a:r>
          </a:p>
          <a:p>
            <a:pPr>
              <a:lnSpc>
                <a:spcPct val="120000"/>
              </a:lnSpc>
              <a:spcBef>
                <a:spcPts val="600"/>
              </a:spcBef>
              <a:buClrTx/>
              <a:buFont typeface="Wingdings" pitchFamily="2" charset="2"/>
              <a:buChar char="Ø"/>
            </a:pP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从</a:t>
            </a:r>
            <a:r>
              <a:rPr lang="en-US" altLang="zh-CN" sz="2400" dirty="0">
                <a:latin typeface="微软雅黑" pitchFamily="34" charset="-122"/>
                <a:ea typeface="微软雅黑" pitchFamily="34" charset="-122"/>
                <a:cs typeface="Times New Roman" panose="02020603050405020304" pitchFamily="18" charset="0"/>
              </a:rPr>
              <a:t>2a</a:t>
            </a:r>
            <a:r>
              <a:rPr lang="zh-CN" altLang="en-US" sz="2400" dirty="0">
                <a:latin typeface="微软雅黑" pitchFamily="34" charset="-122"/>
                <a:ea typeface="微软雅黑" pitchFamily="34" charset="-122"/>
                <a:cs typeface="Times New Roman" panose="02020603050405020304" pitchFamily="18" charset="0"/>
              </a:rPr>
              <a:t>学到路径</a:t>
            </a:r>
            <a:r>
              <a:rPr lang="en-US" altLang="zh-CN" sz="2400" i="1" dirty="0">
                <a:solidFill>
                  <a:srgbClr val="C00000"/>
                </a:solidFill>
                <a:latin typeface="微软雅黑" pitchFamily="34" charset="-122"/>
                <a:ea typeface="微软雅黑" pitchFamily="34" charset="-122"/>
                <a:cs typeface="Times New Roman" panose="02020603050405020304" pitchFamily="18" charset="0"/>
              </a:rPr>
              <a:t>AS2,  AS3, X</a:t>
            </a:r>
          </a:p>
          <a:p>
            <a:pPr>
              <a:lnSpc>
                <a:spcPct val="120000"/>
              </a:lnSpc>
              <a:spcBef>
                <a:spcPts val="600"/>
              </a:spcBef>
              <a:buClrTx/>
              <a:buFont typeface="Wingdings" pitchFamily="2" charset="2"/>
              <a:buChar char="Ø"/>
            </a:pP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从</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学到路径</a:t>
            </a:r>
            <a:r>
              <a:rPr lang="en-US" altLang="zh-CN" sz="2400" i="1" dirty="0">
                <a:solidFill>
                  <a:srgbClr val="C00000"/>
                </a:solidFill>
                <a:latin typeface="微软雅黑" pitchFamily="34" charset="-122"/>
                <a:ea typeface="微软雅黑" pitchFamily="34" charset="-122"/>
                <a:cs typeface="Times New Roman" panose="02020603050405020304" pitchFamily="18" charset="0"/>
              </a:rPr>
              <a:t>AS3, X</a:t>
            </a:r>
          </a:p>
          <a:p>
            <a:pPr>
              <a:lnSpc>
                <a:spcPct val="120000"/>
              </a:lnSpc>
              <a:spcBef>
                <a:spcPts val="600"/>
              </a:spcBef>
              <a:buClrTx/>
              <a:buFont typeface="Wingdings" pitchFamily="2" charset="2"/>
              <a:buChar char="Ø"/>
            </a:pPr>
            <a:r>
              <a:rPr lang="zh-CN" altLang="en-US" sz="2400" dirty="0">
                <a:latin typeface="微软雅黑" pitchFamily="34" charset="-122"/>
                <a:ea typeface="微软雅黑" pitchFamily="34" charset="-122"/>
                <a:cs typeface="Times New Roman" panose="02020603050405020304" pitchFamily="18" charset="0"/>
              </a:rPr>
              <a:t>由策略，</a:t>
            </a: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可能选择路径</a:t>
            </a:r>
            <a:r>
              <a:rPr lang="en-US" altLang="zh-CN" sz="2400" i="1" dirty="0">
                <a:solidFill>
                  <a:srgbClr val="C00000"/>
                </a:solidFill>
                <a:latin typeface="微软雅黑" pitchFamily="34" charset="-122"/>
                <a:ea typeface="微软雅黑" pitchFamily="34" charset="-122"/>
                <a:cs typeface="Times New Roman" panose="02020603050405020304" pitchFamily="18" charset="0"/>
              </a:rPr>
              <a:t>AS3, X</a:t>
            </a:r>
            <a:r>
              <a:rPr lang="en-US" altLang="zh-CN" sz="2400" i="1" dirty="0">
                <a:solidFill>
                  <a:srgbClr val="CC0000"/>
                </a:solidFill>
                <a:latin typeface="微软雅黑" pitchFamily="34" charset="-122"/>
                <a:ea typeface="微软雅黑" pitchFamily="34" charset="-122"/>
                <a:cs typeface="Times New Roman" panose="02020603050405020304" pitchFamily="18" charset="0"/>
              </a:rPr>
              <a:t>, </a:t>
            </a:r>
            <a:r>
              <a:rPr lang="zh-CN" altLang="en-US" sz="2400" dirty="0">
                <a:latin typeface="微软雅黑" pitchFamily="34" charset="-122"/>
                <a:ea typeface="微软雅黑" pitchFamily="34" charset="-122"/>
                <a:cs typeface="Times New Roman" panose="02020603050405020304" pitchFamily="18" charset="0"/>
              </a:rPr>
              <a:t>并在</a:t>
            </a: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中通过</a:t>
            </a:r>
            <a:r>
              <a:rPr lang="en-US" altLang="zh-CN" sz="2400" dirty="0" err="1">
                <a:latin typeface="微软雅黑" pitchFamily="34" charset="-122"/>
                <a:ea typeface="微软雅黑" pitchFamily="34" charset="-122"/>
                <a:cs typeface="Times New Roman" panose="02020603050405020304" pitchFamily="18" charset="0"/>
              </a:rPr>
              <a:t>iBGP</a:t>
            </a:r>
            <a:r>
              <a:rPr lang="zh-CN" altLang="en-US" sz="2400" dirty="0">
                <a:latin typeface="微软雅黑" pitchFamily="34" charset="-122"/>
                <a:ea typeface="微软雅黑" pitchFamily="34" charset="-122"/>
                <a:cs typeface="Times New Roman" panose="02020603050405020304" pitchFamily="18" charset="0"/>
              </a:rPr>
              <a:t>通告路径</a:t>
            </a:r>
            <a:endParaRPr lang="en-US" altLang="zh-CN" sz="2400" dirty="0">
              <a:latin typeface="微软雅黑" pitchFamily="34" charset="-122"/>
              <a:ea typeface="微软雅黑" pitchFamily="34" charset="-122"/>
              <a:cs typeface="Times New Roman" panose="02020603050405020304" pitchFamily="18" charset="0"/>
            </a:endParaRPr>
          </a:p>
          <a:p>
            <a:pPr>
              <a:lnSpc>
                <a:spcPts val="2140"/>
              </a:lnSpc>
              <a:buFont typeface="Wingdings" pitchFamily="2" charset="2"/>
              <a:buChar char="Ø"/>
            </a:pPr>
            <a:endParaRPr lang="en-US" b="1" dirty="0">
              <a:solidFill>
                <a:srgbClr val="FF0000"/>
              </a:solidFill>
              <a:latin typeface="微软雅黑" pitchFamily="34" charset="-122"/>
              <a:ea typeface="微软雅黑" pitchFamily="34" charset="-122"/>
              <a:cs typeface="Times New Roman" panose="02020603050405020304" pitchFamily="18" charset="0"/>
            </a:endParaRPr>
          </a:p>
        </p:txBody>
      </p:sp>
      <p:grpSp>
        <p:nvGrpSpPr>
          <p:cNvPr id="228" name="Group 4"/>
          <p:cNvGrpSpPr/>
          <p:nvPr/>
        </p:nvGrpSpPr>
        <p:grpSpPr>
          <a:xfrm>
            <a:off x="1859693" y="1902432"/>
            <a:ext cx="1491783" cy="826267"/>
            <a:chOff x="4052000" y="2820739"/>
            <a:chExt cx="1118837" cy="826267"/>
          </a:xfrm>
        </p:grpSpPr>
        <p:cxnSp>
          <p:nvCxnSpPr>
            <p:cNvPr id="229"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232" name="Straight Connector 324"/>
          <p:cNvCxnSpPr/>
          <p:nvPr/>
        </p:nvCxnSpPr>
        <p:spPr bwMode="auto">
          <a:xfrm flipH="1">
            <a:off x="4189498" y="2168220"/>
            <a:ext cx="3379604" cy="14521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33" name="Group 3"/>
          <p:cNvGrpSpPr/>
          <p:nvPr/>
        </p:nvGrpSpPr>
        <p:grpSpPr>
          <a:xfrm>
            <a:off x="6157281" y="1621327"/>
            <a:ext cx="1092933" cy="547957"/>
            <a:chOff x="4617960" y="1621326"/>
            <a:chExt cx="819700" cy="547957"/>
          </a:xfrm>
        </p:grpSpPr>
        <p:sp>
          <p:nvSpPr>
            <p:cNvPr id="234"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235" name="TextBox 234"/>
            <p:cNvSpPr txBox="1"/>
            <p:nvPr/>
          </p:nvSpPr>
          <p:spPr>
            <a:xfrm rot="21418560">
              <a:off x="4919249" y="1621326"/>
              <a:ext cx="518411" cy="338554"/>
            </a:xfrm>
            <a:prstGeom prst="rect">
              <a:avLst/>
            </a:prstGeom>
            <a:noFill/>
          </p:spPr>
          <p:txBody>
            <a:bodyPr wrap="none" rtlCol="0">
              <a:spAutoFit/>
            </a:bodyPr>
            <a:lstStyle/>
            <a:p>
              <a:r>
                <a:rPr lang="en-US" sz="1600" i="1" dirty="0">
                  <a:solidFill>
                    <a:srgbClr val="CC0000"/>
                  </a:solidFill>
                </a:rPr>
                <a:t>AS3,X</a:t>
              </a:r>
            </a:p>
          </p:txBody>
        </p:sp>
      </p:grpSp>
      <p:sp>
        <p:nvSpPr>
          <p:cNvPr id="3" name="日期占位符 2"/>
          <p:cNvSpPr>
            <a:spLocks noGrp="1"/>
          </p:cNvSpPr>
          <p:nvPr>
            <p:ph type="dt" sz="half" idx="10"/>
          </p:nvPr>
        </p:nvSpPr>
        <p:spPr>
          <a:xfrm>
            <a:off x="197334" y="6489303"/>
            <a:ext cx="3230539" cy="365125"/>
          </a:xfrm>
        </p:spPr>
        <p:txBody>
          <a:bodyPr/>
          <a:lstStyle/>
          <a:p>
            <a:r>
              <a:rPr kumimoji="1" lang="en-US" altLang="zh-CN" dirty="0"/>
              <a:t>5.7.3 BGP-</a:t>
            </a:r>
            <a:r>
              <a:rPr kumimoji="1" lang="zh-CN" altLang="en-US" dirty="0"/>
              <a:t>外部网关路由协议</a:t>
            </a:r>
          </a:p>
        </p:txBody>
      </p:sp>
      <p:pic>
        <p:nvPicPr>
          <p:cNvPr id="236" name="Picture 28" descr="015">
            <a:extLst>
              <a:ext uri="{FF2B5EF4-FFF2-40B4-BE49-F238E27FC236}">
                <a16:creationId xmlns:a16="http://schemas.microsoft.com/office/drawing/2014/main" id="{24897A8D-C739-47C7-A737-DF52ABE1528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86770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1"/>
                                        </p:tgtEl>
                                        <p:attrNameLst>
                                          <p:attrName>style.visibility</p:attrName>
                                        </p:attrNameLst>
                                      </p:cBhvr>
                                      <p:to>
                                        <p:strVal val="visible"/>
                                      </p:to>
                                    </p:set>
                                    <p:animEffect transition="in" filter="wipe(up)">
                                      <p:cBhvr>
                                        <p:cTn id="7" dur="500"/>
                                        <p:tgtEl>
                                          <p:spTgt spid="22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24"/>
                                        </p:tgtEl>
                                        <p:attrNameLst>
                                          <p:attrName>style.visibility</p:attrName>
                                        </p:attrNameLst>
                                      </p:cBhvr>
                                      <p:to>
                                        <p:strVal val="visible"/>
                                      </p:to>
                                    </p:set>
                                    <p:animEffect transition="in" filter="wipe(down)">
                                      <p:cBhvr>
                                        <p:cTn id="11" dur="500"/>
                                        <p:tgtEl>
                                          <p:spTgt spid="224"/>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227">
                                            <p:txEl>
                                              <p:pRg st="1" end="1"/>
                                            </p:txEl>
                                          </p:spTgt>
                                        </p:tgtEl>
                                        <p:attrNameLst>
                                          <p:attrName>style.visibility</p:attrName>
                                        </p:attrNameLst>
                                      </p:cBhvr>
                                      <p:to>
                                        <p:strVal val="visible"/>
                                      </p:to>
                                    </p:set>
                                    <p:animEffect transition="in" filter="dissolve">
                                      <p:cBhvr>
                                        <p:cTn id="15" dur="500"/>
                                        <p:tgtEl>
                                          <p:spTgt spid="227">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233"/>
                                        </p:tgtEl>
                                        <p:attrNameLst>
                                          <p:attrName>style.visibility</p:attrName>
                                        </p:attrNameLst>
                                      </p:cBhvr>
                                      <p:to>
                                        <p:strVal val="visible"/>
                                      </p:to>
                                    </p:set>
                                    <p:animEffect transition="in" filter="wipe(right)">
                                      <p:cBhvr>
                                        <p:cTn id="20" dur="500"/>
                                        <p:tgtEl>
                                          <p:spTgt spid="233"/>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227">
                                            <p:txEl>
                                              <p:pRg st="2" end="2"/>
                                            </p:txEl>
                                          </p:spTgt>
                                        </p:tgtEl>
                                        <p:attrNameLst>
                                          <p:attrName>style.visibility</p:attrName>
                                        </p:attrNameLst>
                                      </p:cBhvr>
                                      <p:to>
                                        <p:strVal val="visible"/>
                                      </p:to>
                                    </p:set>
                                    <p:animEffect transition="in" filter="dissolve">
                                      <p:cBhvr>
                                        <p:cTn id="24" dur="500"/>
                                        <p:tgtEl>
                                          <p:spTgt spid="227">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27">
                                            <p:txEl>
                                              <p:pRg st="3" end="3"/>
                                            </p:txEl>
                                          </p:spTgt>
                                        </p:tgtEl>
                                        <p:attrNameLst>
                                          <p:attrName>style.visibility</p:attrName>
                                        </p:attrNameLst>
                                      </p:cBhvr>
                                      <p:to>
                                        <p:strVal val="visible"/>
                                      </p:to>
                                    </p:set>
                                    <p:animEffect transition="in" filter="dissolve">
                                      <p:cBhvr>
                                        <p:cTn id="29" dur="500"/>
                                        <p:tgtEl>
                                          <p:spTgt spid="227">
                                            <p:txEl>
                                              <p:pRg st="3" end="3"/>
                                            </p:txEl>
                                          </p:spTgt>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228"/>
                                        </p:tgtEl>
                                        <p:attrNameLst>
                                          <p:attrName>style.visibility</p:attrName>
                                        </p:attrNameLst>
                                      </p:cBhvr>
                                      <p:to>
                                        <p:strVal val="visible"/>
                                      </p:to>
                                    </p:set>
                                    <p:animEffect transition="in" filter="wipe(right)">
                                      <p:cBhvr>
                                        <p:cTn id="33"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BGP</a:t>
            </a:r>
            <a:r>
              <a:rPr lang="zh-CN" altLang="en-US" dirty="0">
                <a:latin typeface="微软雅黑" pitchFamily="34" charset="-122"/>
                <a:ea typeface="微软雅黑" pitchFamily="34" charset="-122"/>
              </a:rPr>
              <a:t>协议的特点</a:t>
            </a:r>
            <a:endParaRPr lang="zh-CN" altLang="en-US" sz="3200" dirty="0"/>
          </a:p>
        </p:txBody>
      </p:sp>
      <p:sp>
        <p:nvSpPr>
          <p:cNvPr id="3" name="内容占位符 2"/>
          <p:cNvSpPr>
            <a:spLocks noGrp="1"/>
          </p:cNvSpPr>
          <p:nvPr>
            <p:ph idx="1"/>
          </p:nvPr>
        </p:nvSpPr>
        <p:spPr/>
        <p:txBody>
          <a:bodyPr/>
          <a:lstStyle/>
          <a:p>
            <a:pPr>
              <a:lnSpc>
                <a:spcPct val="120000"/>
              </a:lnSpc>
            </a:pP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协议交换路由信息的结点数量级是</a:t>
            </a:r>
            <a:r>
              <a:rPr lang="zh-CN" altLang="en-US" sz="2600" dirty="0">
                <a:solidFill>
                  <a:srgbClr val="C00000"/>
                </a:solidFill>
                <a:latin typeface="微软雅黑" pitchFamily="34" charset="-122"/>
                <a:ea typeface="微软雅黑" pitchFamily="34" charset="-122"/>
              </a:rPr>
              <a:t>自治系统数的量级</a:t>
            </a:r>
            <a:endParaRPr lang="en-US" altLang="zh-CN" sz="2600" dirty="0">
              <a:solidFill>
                <a:srgbClr val="C00000"/>
              </a:solidFill>
              <a:latin typeface="微软雅黑" pitchFamily="34" charset="-122"/>
              <a:ea typeface="微软雅黑" pitchFamily="34" charset="-122"/>
            </a:endParaRPr>
          </a:p>
          <a:p>
            <a:pPr>
              <a:lnSpc>
                <a:spcPct val="120000"/>
              </a:lnSpc>
            </a:pPr>
            <a:r>
              <a:rPr lang="zh-CN" altLang="en-US" sz="2600" dirty="0">
                <a:latin typeface="微软雅黑" pitchFamily="34" charset="-122"/>
                <a:ea typeface="微软雅黑" pitchFamily="34" charset="-122"/>
              </a:rPr>
              <a:t>每一个自治系统边界路由器的数目是很少的</a:t>
            </a:r>
            <a:endParaRPr lang="en-US" altLang="zh-CN" sz="2600" dirty="0">
              <a:latin typeface="微软雅黑" pitchFamily="34" charset="-122"/>
              <a:ea typeface="微软雅黑" pitchFamily="34" charset="-122"/>
            </a:endParaRPr>
          </a:p>
          <a:p>
            <a:pPr>
              <a:lnSpc>
                <a:spcPct val="120000"/>
              </a:lnSpc>
            </a:pPr>
            <a:r>
              <a:rPr lang="zh-CN" altLang="en-US" sz="2600" dirty="0">
                <a:latin typeface="微软雅黑" pitchFamily="34" charset="-122"/>
                <a:ea typeface="微软雅黑" pitchFamily="34" charset="-122"/>
              </a:rPr>
              <a:t>在 </a:t>
            </a: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刚刚运行时，</a:t>
            </a: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的邻站是交换整个的 </a:t>
            </a: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路由表；以后只需要在发生变化时</a:t>
            </a:r>
            <a:r>
              <a:rPr lang="zh-CN" altLang="en-US" sz="2600" dirty="0">
                <a:solidFill>
                  <a:srgbClr val="C00000"/>
                </a:solidFill>
                <a:latin typeface="微软雅黑" pitchFamily="34" charset="-122"/>
                <a:ea typeface="微软雅黑" pitchFamily="34" charset="-122"/>
              </a:rPr>
              <a:t>更新有变化的部分</a:t>
            </a:r>
            <a:endParaRPr lang="en-US" altLang="zh-CN" sz="2600" dirty="0">
              <a:solidFill>
                <a:srgbClr val="C00000"/>
              </a:solidFill>
              <a:latin typeface="微软雅黑" pitchFamily="34" charset="-122"/>
              <a:ea typeface="微软雅黑" pitchFamily="34" charset="-122"/>
            </a:endParaRPr>
          </a:p>
          <a:p>
            <a:pPr marL="228600" lvl="1">
              <a:lnSpc>
                <a:spcPct val="120000"/>
              </a:lnSpc>
              <a:buFont typeface="Wingdings" pitchFamily="2" charset="2"/>
              <a:buChar char="Ø"/>
            </a:pP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为每个</a:t>
            </a:r>
            <a:r>
              <a:rPr lang="en-US" altLang="zh-CN" sz="2600" dirty="0">
                <a:latin typeface="微软雅黑" pitchFamily="34" charset="-122"/>
                <a:ea typeface="微软雅黑" pitchFamily="34" charset="-122"/>
              </a:rPr>
              <a:t>AS</a:t>
            </a:r>
            <a:r>
              <a:rPr lang="zh-CN" altLang="en-US" sz="2600" dirty="0">
                <a:latin typeface="微软雅黑" pitchFamily="34" charset="-122"/>
                <a:ea typeface="微软雅黑" pitchFamily="34" charset="-122"/>
              </a:rPr>
              <a:t>提供：</a:t>
            </a:r>
            <a:endParaRPr lang="en-US" altLang="zh-CN" sz="2600" dirty="0">
              <a:latin typeface="微软雅黑" pitchFamily="34" charset="-122"/>
              <a:ea typeface="微软雅黑" pitchFamily="34" charset="-122"/>
            </a:endParaRPr>
          </a:p>
          <a:p>
            <a:pPr lvl="1">
              <a:lnSpc>
                <a:spcPct val="120000"/>
              </a:lnSpc>
              <a:defRPr/>
            </a:pPr>
            <a:r>
              <a:rPr lang="zh-CN" altLang="en-US" kern="0" dirty="0">
                <a:latin typeface="微软雅黑" pitchFamily="34" charset="-122"/>
                <a:ea typeface="微软雅黑" pitchFamily="34" charset="-122"/>
              </a:rPr>
              <a:t>从邻居</a:t>
            </a:r>
            <a:r>
              <a:rPr lang="en-US" altLang="zh-CN" kern="0" dirty="0">
                <a:latin typeface="微软雅黑" pitchFamily="34" charset="-122"/>
                <a:ea typeface="微软雅黑" pitchFamily="34" charset="-122"/>
              </a:rPr>
              <a:t>AS</a:t>
            </a:r>
            <a:r>
              <a:rPr lang="zh-CN" altLang="en-US" kern="0" dirty="0">
                <a:latin typeface="微软雅黑" pitchFamily="34" charset="-122"/>
                <a:ea typeface="微软雅黑" pitchFamily="34" charset="-122"/>
              </a:rPr>
              <a:t>获取网络可达信息 </a:t>
            </a:r>
            <a:r>
              <a:rPr lang="en-US" altLang="zh-CN" kern="0" dirty="0">
                <a:latin typeface="微软雅黑" pitchFamily="34" charset="-122"/>
                <a:ea typeface="微软雅黑" pitchFamily="34" charset="-122"/>
              </a:rPr>
              <a:t>( </a:t>
            </a:r>
            <a:r>
              <a:rPr lang="en-US" altLang="zh-CN" kern="0" dirty="0" err="1">
                <a:latin typeface="微软雅黑" pitchFamily="34" charset="-122"/>
                <a:ea typeface="微软雅黑" pitchFamily="34" charset="-122"/>
              </a:rPr>
              <a:t>eBGP</a:t>
            </a:r>
            <a:r>
              <a:rPr lang="zh-CN" altLang="en-US" kern="0" dirty="0">
                <a:latin typeface="微软雅黑" pitchFamily="34" charset="-122"/>
                <a:ea typeface="微软雅黑" pitchFamily="34" charset="-122"/>
              </a:rPr>
              <a:t>协议</a:t>
            </a:r>
            <a:r>
              <a:rPr lang="en-US" altLang="zh-CN" kern="0" dirty="0">
                <a:latin typeface="微软雅黑" pitchFamily="34" charset="-122"/>
                <a:ea typeface="微软雅黑" pitchFamily="34" charset="-122"/>
              </a:rPr>
              <a:t> )</a:t>
            </a:r>
          </a:p>
          <a:p>
            <a:pPr lvl="1">
              <a:lnSpc>
                <a:spcPct val="120000"/>
              </a:lnSpc>
              <a:defRPr/>
            </a:pPr>
            <a:r>
              <a:rPr lang="zh-CN" altLang="en-US" kern="0" dirty="0">
                <a:latin typeface="微软雅黑" pitchFamily="34" charset="-122"/>
                <a:ea typeface="微软雅黑" pitchFamily="34" charset="-122"/>
              </a:rPr>
              <a:t>传播可达信息给所有的域内路由器 </a:t>
            </a:r>
            <a:r>
              <a:rPr lang="en-US" altLang="zh-CN" kern="0" dirty="0">
                <a:latin typeface="微软雅黑" pitchFamily="34" charset="-122"/>
                <a:ea typeface="微软雅黑" pitchFamily="34" charset="-122"/>
              </a:rPr>
              <a:t>( </a:t>
            </a:r>
            <a:r>
              <a:rPr lang="en-US" altLang="zh-CN" kern="0" dirty="0" err="1">
                <a:latin typeface="微软雅黑" pitchFamily="34" charset="-122"/>
                <a:ea typeface="微软雅黑" pitchFamily="34" charset="-122"/>
              </a:rPr>
              <a:t>iBGP</a:t>
            </a:r>
            <a:r>
              <a:rPr lang="zh-CN" altLang="en-US" kern="0" dirty="0">
                <a:latin typeface="微软雅黑" pitchFamily="34" charset="-122"/>
                <a:ea typeface="微软雅黑" pitchFamily="34" charset="-122"/>
              </a:rPr>
              <a:t>协议</a:t>
            </a:r>
            <a:r>
              <a:rPr lang="en-US" altLang="zh-CN" kern="0" dirty="0">
                <a:latin typeface="微软雅黑" pitchFamily="34" charset="-122"/>
                <a:ea typeface="微软雅黑" pitchFamily="34" charset="-122"/>
              </a:rPr>
              <a:t> )</a:t>
            </a:r>
          </a:p>
          <a:p>
            <a:pPr lvl="1">
              <a:lnSpc>
                <a:spcPct val="120000"/>
              </a:lnSpc>
              <a:defRPr/>
            </a:pPr>
            <a:r>
              <a:rPr lang="zh-CN" altLang="en-US" kern="0" dirty="0">
                <a:latin typeface="微软雅黑" pitchFamily="34" charset="-122"/>
                <a:ea typeface="微软雅黑" pitchFamily="34" charset="-122"/>
              </a:rPr>
              <a:t>根据“可达信息”和“策略”决定路由</a:t>
            </a:r>
            <a:endParaRPr lang="en-US" altLang="zh-CN" kern="0" dirty="0">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179</a:t>
            </a:fld>
            <a:endParaRPr kumimoji="1" lang="zh-CN" altLang="en-US" dirty="0"/>
          </a:p>
        </p:txBody>
      </p:sp>
      <p:sp>
        <p:nvSpPr>
          <p:cNvPr id="6" name="日期占位符 5"/>
          <p:cNvSpPr>
            <a:spLocks noGrp="1"/>
          </p:cNvSpPr>
          <p:nvPr>
            <p:ph type="dt" sz="half" idx="10"/>
          </p:nvPr>
        </p:nvSpPr>
        <p:spPr>
          <a:xfrm>
            <a:off x="197334" y="6489303"/>
            <a:ext cx="2839779" cy="365125"/>
          </a:xfrm>
        </p:spPr>
        <p:txBody>
          <a:bodyPr/>
          <a:lstStyle/>
          <a:p>
            <a:r>
              <a:rPr kumimoji="1" lang="en-US" altLang="zh-CN" dirty="0"/>
              <a:t>5.7.3 BGP-</a:t>
            </a:r>
            <a:r>
              <a:rPr kumimoji="1" lang="zh-CN" altLang="en-US" dirty="0"/>
              <a:t>外部网关路由协议</a:t>
            </a:r>
          </a:p>
        </p:txBody>
      </p:sp>
      <p:pic>
        <p:nvPicPr>
          <p:cNvPr id="7" name="Picture 28" descr="015">
            <a:extLst>
              <a:ext uri="{FF2B5EF4-FFF2-40B4-BE49-F238E27FC236}">
                <a16:creationId xmlns:a16="http://schemas.microsoft.com/office/drawing/2014/main" id="{F747D3EF-F96B-4D0C-A531-2307AA9C0E6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8965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报文</a:t>
            </a:r>
            <a:endParaRPr lang="zh-CN" altLang="en-US" sz="3200" dirty="0"/>
          </a:p>
        </p:txBody>
      </p:sp>
      <p:sp>
        <p:nvSpPr>
          <p:cNvPr id="3" name="内容占位符 2"/>
          <p:cNvSpPr>
            <a:spLocks noGrp="1"/>
          </p:cNvSpPr>
          <p:nvPr>
            <p:ph idx="1"/>
          </p:nvPr>
        </p:nvSpPr>
        <p:spPr/>
        <p:txBody>
          <a:bodyPr>
            <a:normAutofit/>
          </a:bodyPr>
          <a:lstStyle/>
          <a:p>
            <a:pPr>
              <a:lnSpc>
                <a:spcPct val="130000"/>
              </a:lnSpc>
            </a:pPr>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通过</a:t>
            </a:r>
            <a:r>
              <a:rPr lang="en-US" altLang="zh-CN" dirty="0">
                <a:latin typeface="微软雅黑" pitchFamily="34" charset="-122"/>
                <a:ea typeface="微软雅黑" pitchFamily="34" charset="-122"/>
                <a:cs typeface="Times New Roman" panose="02020603050405020304" pitchFamily="18" charset="0"/>
              </a:rPr>
              <a:t>TCP</a:t>
            </a:r>
            <a:r>
              <a:rPr lang="zh-CN" altLang="en-US" dirty="0">
                <a:latin typeface="微软雅黑" pitchFamily="34" charset="-122"/>
                <a:ea typeface="微软雅黑" pitchFamily="34" charset="-122"/>
                <a:cs typeface="Times New Roman" panose="02020603050405020304" pitchFamily="18" charset="0"/>
              </a:rPr>
              <a:t>的</a:t>
            </a:r>
            <a:r>
              <a:rPr lang="en-US" altLang="zh-CN" dirty="0">
                <a:latin typeface="微软雅黑" pitchFamily="34" charset="-122"/>
                <a:ea typeface="微软雅黑" pitchFamily="34" charset="-122"/>
                <a:cs typeface="Times New Roman" panose="02020603050405020304" pitchFamily="18" charset="0"/>
              </a:rPr>
              <a:t>179</a:t>
            </a:r>
            <a:r>
              <a:rPr lang="zh-CN" altLang="en-US" dirty="0">
                <a:latin typeface="微软雅黑" pitchFamily="34" charset="-122"/>
                <a:ea typeface="微软雅黑" pitchFamily="34" charset="-122"/>
                <a:cs typeface="Times New Roman" panose="02020603050405020304" pitchFamily="18" charset="0"/>
              </a:rPr>
              <a:t>端口交换报文</a:t>
            </a:r>
            <a:endParaRPr lang="en-US" altLang="zh-CN" dirty="0">
              <a:latin typeface="微软雅黑" pitchFamily="34" charset="-122"/>
              <a:ea typeface="微软雅黑" pitchFamily="34" charset="-122"/>
              <a:cs typeface="Times New Roman" panose="02020603050405020304" pitchFamily="18" charset="0"/>
            </a:endParaRPr>
          </a:p>
          <a:p>
            <a:pPr>
              <a:lnSpc>
                <a:spcPct val="130000"/>
              </a:lnSpc>
            </a:pPr>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报文包括</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pPr>
            <a:r>
              <a:rPr lang="en-US" altLang="zh-CN" sz="2600" dirty="0">
                <a:solidFill>
                  <a:srgbClr val="C00000"/>
                </a:solidFill>
                <a:latin typeface="微软雅黑" pitchFamily="34" charset="-122"/>
                <a:ea typeface="微软雅黑" pitchFamily="34" charset="-122"/>
              </a:rPr>
              <a:t>Open</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：用于建立</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对等体（</a:t>
            </a:r>
            <a:r>
              <a:rPr lang="en-US" altLang="zh-CN" sz="2600" dirty="0">
                <a:latin typeface="微软雅黑" pitchFamily="34" charset="-122"/>
                <a:ea typeface="微软雅黑" pitchFamily="34" charset="-122"/>
              </a:rPr>
              <a:t>peer</a:t>
            </a:r>
            <a:r>
              <a:rPr lang="zh-CN" altLang="en-US" sz="2600" dirty="0">
                <a:latin typeface="微软雅黑" pitchFamily="34" charset="-122"/>
                <a:ea typeface="微软雅黑" pitchFamily="34" charset="-122"/>
              </a:rPr>
              <a:t>）之间的会话连接，协商</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参数（该过程需要认证）</a:t>
            </a:r>
            <a:endParaRPr lang="en-US" altLang="zh-CN" sz="2600" dirty="0">
              <a:latin typeface="微软雅黑" pitchFamily="34" charset="-122"/>
              <a:ea typeface="微软雅黑" pitchFamily="34" charset="-122"/>
            </a:endParaRPr>
          </a:p>
          <a:p>
            <a:pPr lvl="1">
              <a:lnSpc>
                <a:spcPct val="130000"/>
              </a:lnSpc>
            </a:pPr>
            <a:r>
              <a:rPr lang="en-US" altLang="zh-CN" sz="2600" dirty="0">
                <a:solidFill>
                  <a:srgbClr val="C00000"/>
                </a:solidFill>
                <a:latin typeface="微软雅黑" pitchFamily="34" charset="-122"/>
                <a:ea typeface="微软雅黑" pitchFamily="34" charset="-122"/>
              </a:rPr>
              <a:t>Update</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：用于在对等体之间交换路由信息</a:t>
            </a:r>
            <a:endParaRPr lang="en-US" altLang="zh-CN" sz="2600" dirty="0">
              <a:latin typeface="微软雅黑" pitchFamily="34" charset="-122"/>
              <a:ea typeface="微软雅黑" pitchFamily="34" charset="-122"/>
            </a:endParaRPr>
          </a:p>
          <a:p>
            <a:pPr lvl="1">
              <a:lnSpc>
                <a:spcPct val="130000"/>
              </a:lnSpc>
            </a:pPr>
            <a:r>
              <a:rPr lang="en-US" altLang="zh-CN" sz="2600" dirty="0" err="1">
                <a:solidFill>
                  <a:srgbClr val="C00000"/>
                </a:solidFill>
                <a:latin typeface="微软雅黑" pitchFamily="34" charset="-122"/>
                <a:ea typeface="微软雅黑" pitchFamily="34" charset="-122"/>
              </a:rPr>
              <a:t>Keepalive</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：用于保持</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会话连接</a:t>
            </a:r>
            <a:endParaRPr lang="en-US" altLang="zh-CN" sz="2600" dirty="0">
              <a:latin typeface="微软雅黑" pitchFamily="34" charset="-122"/>
              <a:ea typeface="微软雅黑" pitchFamily="34" charset="-122"/>
            </a:endParaRPr>
          </a:p>
          <a:p>
            <a:pPr lvl="1">
              <a:lnSpc>
                <a:spcPct val="130000"/>
              </a:lnSpc>
            </a:pPr>
            <a:r>
              <a:rPr lang="en-US" altLang="zh-CN" sz="2600" dirty="0">
                <a:solidFill>
                  <a:srgbClr val="C00000"/>
                </a:solidFill>
                <a:latin typeface="微软雅黑" pitchFamily="34" charset="-122"/>
                <a:ea typeface="微软雅黑" pitchFamily="34" charset="-122"/>
              </a:rPr>
              <a:t>Notification</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：用于差错报告和关闭</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连接</a:t>
            </a:r>
            <a:endParaRPr lang="en-US" altLang="zh-CN" sz="2600"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180</a:t>
            </a:fld>
            <a:endParaRPr kumimoji="1" lang="zh-CN" altLang="en-US" dirty="0"/>
          </a:p>
        </p:txBody>
      </p:sp>
      <p:sp>
        <p:nvSpPr>
          <p:cNvPr id="6" name="日期占位符 5"/>
          <p:cNvSpPr>
            <a:spLocks noGrp="1"/>
          </p:cNvSpPr>
          <p:nvPr>
            <p:ph type="dt" sz="half" idx="10"/>
          </p:nvPr>
        </p:nvSpPr>
        <p:spPr>
          <a:xfrm>
            <a:off x="197334" y="6489303"/>
            <a:ext cx="2850665" cy="365125"/>
          </a:xfrm>
        </p:spPr>
        <p:txBody>
          <a:bodyPr/>
          <a:lstStyle/>
          <a:p>
            <a:r>
              <a:rPr kumimoji="1" lang="en-US" altLang="zh-CN" dirty="0"/>
              <a:t>5.7.3 BGP-</a:t>
            </a:r>
            <a:r>
              <a:rPr kumimoji="1" lang="zh-CN" altLang="en-US" dirty="0"/>
              <a:t>外部网关路由协议</a:t>
            </a:r>
          </a:p>
        </p:txBody>
      </p:sp>
      <p:pic>
        <p:nvPicPr>
          <p:cNvPr id="7" name="Picture 28" descr="015">
            <a:extLst>
              <a:ext uri="{FF2B5EF4-FFF2-40B4-BE49-F238E27FC236}">
                <a16:creationId xmlns:a16="http://schemas.microsoft.com/office/drawing/2014/main" id="{39BB9FBC-C041-483A-9453-9DB21867171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46467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par>
                          <p:cTn id="15" fill="hold">
                            <p:stCondLst>
                              <p:cond delay="0"/>
                            </p:stCondLst>
                            <p:childTnLst>
                              <p:par>
                                <p:cTn id="16" presetID="1" presetClass="entr" presetSubtype="0" fill="hold" nodeType="afterEffect">
                                  <p:stCondLst>
                                    <p:cond delay="500"/>
                                  </p:stCondLst>
                                  <p:childTnLst>
                                    <p:set>
                                      <p:cBhvr>
                                        <p:cTn id="17" dur="1" fill="hold">
                                          <p:stCondLst>
                                            <p:cond delay="0"/>
                                          </p:stCondLst>
                                        </p:cTn>
                                        <p:tgtEl>
                                          <p:spTgt spid="3">
                                            <p:txEl>
                                              <p:pRg st="3" end="3"/>
                                            </p:txEl>
                                          </p:spTgt>
                                        </p:tgtEl>
                                        <p:attrNameLst>
                                          <p:attrName>style.visibility</p:attrName>
                                        </p:attrNameLst>
                                      </p:cBhvr>
                                      <p:to>
                                        <p:strVal val="visible"/>
                                      </p:to>
                                    </p:set>
                                  </p:childTnLst>
                                </p:cTn>
                              </p:par>
                            </p:childTnLst>
                          </p:cTn>
                        </p:par>
                        <p:par>
                          <p:cTn id="18" fill="hold">
                            <p:stCondLst>
                              <p:cond delay="500"/>
                            </p:stCondLst>
                            <p:childTnLst>
                              <p:par>
                                <p:cTn id="19" presetID="1" presetClass="entr" presetSubtype="0" fill="hold" nodeType="afterEffect">
                                  <p:stCondLst>
                                    <p:cond delay="50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childTnLst>
                          </p:cTn>
                        </p:par>
                        <p:par>
                          <p:cTn id="21" fill="hold">
                            <p:stCondLst>
                              <p:cond delay="1000"/>
                            </p:stCondLst>
                            <p:childTnLst>
                              <p:par>
                                <p:cTn id="22" presetID="1" presetClass="entr" presetSubtype="0" fill="hold" nodeType="afterEffect">
                                  <p:stCondLst>
                                    <p:cond delay="500"/>
                                  </p:stCondLst>
                                  <p:childTnLst>
                                    <p:set>
                                      <p:cBhvr>
                                        <p:cTn id="23"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rPr>
              <a:t>路径属性</a:t>
            </a:r>
            <a:endParaRPr lang="zh-CN" altLang="en-US" sz="3200" dirty="0"/>
          </a:p>
        </p:txBody>
      </p:sp>
      <p:sp>
        <p:nvSpPr>
          <p:cNvPr id="3" name="内容占位符 2"/>
          <p:cNvSpPr>
            <a:spLocks noGrp="1"/>
          </p:cNvSpPr>
          <p:nvPr>
            <p:ph idx="1"/>
          </p:nvPr>
        </p:nvSpPr>
        <p:spPr/>
        <p:txBody>
          <a:bodyPr>
            <a:normAutofit fontScale="85000" lnSpcReduction="20000"/>
          </a:bodyPr>
          <a:lstStyle/>
          <a:p>
            <a:pPr>
              <a:lnSpc>
                <a:spcPct val="130000"/>
              </a:lnSpc>
            </a:pPr>
            <a:r>
              <a:rPr lang="zh-CN" altLang="en-US" sz="3100" kern="0" dirty="0">
                <a:latin typeface="微软雅黑" pitchFamily="34" charset="-122"/>
                <a:ea typeface="微软雅黑" pitchFamily="34" charset="-122"/>
              </a:rPr>
              <a:t>发布的前缀信息包括</a:t>
            </a:r>
            <a:r>
              <a:rPr lang="en-US" altLang="zh-CN" sz="3100" kern="0" dirty="0">
                <a:latin typeface="微软雅黑" pitchFamily="34" charset="-122"/>
                <a:ea typeface="微软雅黑" pitchFamily="34" charset="-122"/>
              </a:rPr>
              <a:t>BGP</a:t>
            </a:r>
            <a:r>
              <a:rPr lang="zh-CN" altLang="en-US" sz="3100" kern="0" dirty="0">
                <a:latin typeface="微软雅黑" pitchFamily="34" charset="-122"/>
                <a:ea typeface="微软雅黑" pitchFamily="34" charset="-122"/>
              </a:rPr>
              <a:t>属性</a:t>
            </a:r>
            <a:r>
              <a:rPr lang="en-US" altLang="zh-CN" sz="3100" kern="0" dirty="0">
                <a:latin typeface="微软雅黑" pitchFamily="34" charset="-122"/>
                <a:ea typeface="微软雅黑" pitchFamily="34" charset="-122"/>
              </a:rPr>
              <a:t>(BGP attributes)</a:t>
            </a:r>
          </a:p>
          <a:p>
            <a:pPr lvl="1">
              <a:lnSpc>
                <a:spcPct val="130000"/>
              </a:lnSpc>
              <a:spcAft>
                <a:spcPts val="600"/>
              </a:spcAft>
              <a:defRPr/>
            </a:pPr>
            <a:r>
              <a:rPr lang="zh-CN" altLang="en-US" sz="2600" kern="0" dirty="0">
                <a:latin typeface="微软雅黑" pitchFamily="34" charset="-122"/>
                <a:ea typeface="微软雅黑" pitchFamily="34" charset="-122"/>
              </a:rPr>
              <a:t>路由</a:t>
            </a:r>
            <a:r>
              <a:rPr lang="en-US" altLang="zh-CN" sz="2600" kern="0" dirty="0">
                <a:solidFill>
                  <a:srgbClr val="C00000"/>
                </a:solidFill>
                <a:latin typeface="微软雅黑" pitchFamily="34" charset="-122"/>
                <a:ea typeface="微软雅黑" pitchFamily="34" charset="-122"/>
              </a:rPr>
              <a:t>“route”=prefix + attributes </a:t>
            </a:r>
            <a:endParaRPr lang="en-US" altLang="zh-CN" sz="2600" kern="0" dirty="0">
              <a:latin typeface="微软雅黑" pitchFamily="34" charset="-122"/>
              <a:ea typeface="微软雅黑" pitchFamily="34" charset="-122"/>
            </a:endParaRPr>
          </a:p>
          <a:p>
            <a:pPr>
              <a:lnSpc>
                <a:spcPct val="130000"/>
              </a:lnSpc>
              <a:spcAft>
                <a:spcPts val="1200"/>
              </a:spcAft>
              <a:defRPr/>
            </a:pPr>
            <a:r>
              <a:rPr lang="zh-CN" altLang="en-US" sz="3100" kern="0" dirty="0">
                <a:latin typeface="微软雅黑" pitchFamily="34" charset="-122"/>
                <a:ea typeface="微软雅黑" pitchFamily="34" charset="-122"/>
              </a:rPr>
              <a:t>两个重要属性</a:t>
            </a:r>
            <a:endParaRPr lang="en-US" altLang="zh-CN" sz="3100" kern="0" dirty="0">
              <a:latin typeface="微软雅黑" pitchFamily="34" charset="-122"/>
              <a:ea typeface="微软雅黑" pitchFamily="34" charset="-122"/>
            </a:endParaRPr>
          </a:p>
          <a:p>
            <a:pPr lvl="1">
              <a:lnSpc>
                <a:spcPct val="130000"/>
              </a:lnSpc>
              <a:spcAft>
                <a:spcPts val="600"/>
              </a:spcAft>
              <a:defRPr/>
            </a:pPr>
            <a:r>
              <a:rPr lang="en-US" altLang="zh-CN" sz="2600" kern="0" dirty="0">
                <a:latin typeface="微软雅黑" pitchFamily="34" charset="-122"/>
                <a:ea typeface="微软雅黑" pitchFamily="34" charset="-122"/>
              </a:rPr>
              <a:t>AS</a:t>
            </a:r>
            <a:r>
              <a:rPr lang="zh-CN" altLang="en-US" sz="2600" kern="0" dirty="0">
                <a:latin typeface="微软雅黑" pitchFamily="34" charset="-122"/>
                <a:ea typeface="微软雅黑" pitchFamily="34" charset="-122"/>
              </a:rPr>
              <a:t>路径</a:t>
            </a:r>
            <a:r>
              <a:rPr lang="zh-CN" altLang="en-US" sz="2600" kern="0" dirty="0">
                <a:solidFill>
                  <a:srgbClr val="C00000"/>
                </a:solidFill>
                <a:latin typeface="微软雅黑" pitchFamily="34" charset="-122"/>
                <a:ea typeface="微软雅黑" pitchFamily="34" charset="-122"/>
              </a:rPr>
              <a:t>（</a:t>
            </a:r>
            <a:r>
              <a:rPr lang="en-US" altLang="zh-CN" sz="2600" kern="0" dirty="0">
                <a:solidFill>
                  <a:srgbClr val="C00000"/>
                </a:solidFill>
                <a:latin typeface="微软雅黑" pitchFamily="34" charset="-122"/>
                <a:ea typeface="微软雅黑" pitchFamily="34" charset="-122"/>
              </a:rPr>
              <a:t>AS-PATH</a:t>
            </a:r>
            <a:r>
              <a:rPr lang="zh-CN" altLang="en-US" sz="2600" kern="0" dirty="0">
                <a:solidFill>
                  <a:srgbClr val="C00000"/>
                </a:solidFill>
                <a:latin typeface="微软雅黑" pitchFamily="34" charset="-122"/>
                <a:ea typeface="微软雅黑" pitchFamily="34" charset="-122"/>
              </a:rPr>
              <a:t>）：</a:t>
            </a:r>
            <a:r>
              <a:rPr lang="en-US" altLang="zh-CN" sz="2600" kern="0" dirty="0">
                <a:latin typeface="微软雅黑" pitchFamily="34" charset="-122"/>
                <a:ea typeface="微软雅黑" pitchFamily="34" charset="-122"/>
              </a:rPr>
              <a:t>IP</a:t>
            </a:r>
            <a:r>
              <a:rPr lang="zh-CN" altLang="en-US" sz="2600" kern="0" dirty="0">
                <a:latin typeface="微软雅黑" pitchFamily="34" charset="-122"/>
                <a:ea typeface="微软雅黑" pitchFamily="34" charset="-122"/>
              </a:rPr>
              <a:t>前缀通过经过的所有</a:t>
            </a:r>
            <a:r>
              <a:rPr lang="en-US" altLang="zh-CN" sz="2600" kern="0" dirty="0">
                <a:latin typeface="微软雅黑" pitchFamily="34" charset="-122"/>
                <a:ea typeface="微软雅黑" pitchFamily="34" charset="-122"/>
              </a:rPr>
              <a:t>AS</a:t>
            </a:r>
            <a:r>
              <a:rPr lang="zh-CN" altLang="en-US" sz="2600" kern="0" dirty="0">
                <a:latin typeface="微软雅黑" pitchFamily="34" charset="-122"/>
                <a:ea typeface="微软雅黑" pitchFamily="34" charset="-122"/>
              </a:rPr>
              <a:t>号</a:t>
            </a:r>
            <a:endParaRPr lang="en-US" altLang="zh-CN" sz="2600" kern="0" dirty="0">
              <a:latin typeface="微软雅黑" pitchFamily="34" charset="-122"/>
              <a:ea typeface="微软雅黑" pitchFamily="34" charset="-122"/>
            </a:endParaRPr>
          </a:p>
          <a:p>
            <a:pPr lvl="1">
              <a:lnSpc>
                <a:spcPct val="130000"/>
              </a:lnSpc>
              <a:spcAft>
                <a:spcPts val="600"/>
              </a:spcAft>
              <a:buNone/>
              <a:defRPr/>
            </a:pPr>
            <a:r>
              <a:rPr lang="en-US" altLang="zh-CN" sz="2600" kern="0" dirty="0">
                <a:latin typeface="微软雅黑" pitchFamily="34" charset="-122"/>
                <a:ea typeface="微软雅黑" pitchFamily="34" charset="-122"/>
              </a:rPr>
              <a:t>    </a:t>
            </a:r>
            <a:r>
              <a:rPr lang="zh-CN" altLang="en-US" sz="2600" kern="0" dirty="0">
                <a:latin typeface="微软雅黑" pitchFamily="34" charset="-122"/>
                <a:ea typeface="微软雅黑" pitchFamily="34" charset="-122"/>
              </a:rPr>
              <a:t>如：</a:t>
            </a:r>
            <a:r>
              <a:rPr lang="en-US" altLang="zh-CN" sz="2600" kern="0" dirty="0">
                <a:latin typeface="微软雅黑" pitchFamily="34" charset="-122"/>
                <a:ea typeface="微软雅黑" pitchFamily="34" charset="-122"/>
              </a:rPr>
              <a:t>AS 67, AS 17 </a:t>
            </a:r>
          </a:p>
          <a:p>
            <a:pPr lvl="1">
              <a:lnSpc>
                <a:spcPct val="130000"/>
              </a:lnSpc>
              <a:spcAft>
                <a:spcPts val="1200"/>
              </a:spcAft>
              <a:defRPr/>
            </a:pPr>
            <a:r>
              <a:rPr lang="zh-CN" altLang="en-US" sz="2600" kern="0" dirty="0">
                <a:latin typeface="微软雅黑" pitchFamily="34" charset="-122"/>
                <a:ea typeface="微软雅黑" pitchFamily="34" charset="-122"/>
              </a:rPr>
              <a:t>下一跳</a:t>
            </a:r>
            <a:r>
              <a:rPr lang="zh-CN" altLang="en-US" sz="2600" kern="0" dirty="0">
                <a:solidFill>
                  <a:srgbClr val="C00000"/>
                </a:solidFill>
                <a:latin typeface="微软雅黑" pitchFamily="34" charset="-122"/>
                <a:ea typeface="微软雅黑" pitchFamily="34" charset="-122"/>
              </a:rPr>
              <a:t>（</a:t>
            </a:r>
            <a:r>
              <a:rPr lang="en-US" altLang="zh-CN" sz="2600" kern="0" dirty="0">
                <a:solidFill>
                  <a:srgbClr val="C00000"/>
                </a:solidFill>
                <a:latin typeface="微软雅黑" pitchFamily="34" charset="-122"/>
                <a:ea typeface="微软雅黑" pitchFamily="34" charset="-122"/>
              </a:rPr>
              <a:t>NEXT-HOP</a:t>
            </a:r>
            <a:r>
              <a:rPr lang="zh-CN" altLang="en-US" sz="2600" kern="0" dirty="0">
                <a:solidFill>
                  <a:srgbClr val="C00000"/>
                </a:solidFill>
                <a:latin typeface="微软雅黑" pitchFamily="34" charset="-122"/>
                <a:ea typeface="微软雅黑" pitchFamily="34" charset="-122"/>
              </a:rPr>
              <a:t>）：</a:t>
            </a:r>
            <a:r>
              <a:rPr lang="zh-CN" altLang="en-US" sz="2600" kern="0" dirty="0">
                <a:latin typeface="微软雅黑" pitchFamily="34" charset="-122"/>
                <a:ea typeface="微软雅黑" pitchFamily="34" charset="-122"/>
              </a:rPr>
              <a:t>说明路由信息对应的下一跳</a:t>
            </a:r>
            <a:r>
              <a:rPr lang="en-US" altLang="zh-CN" sz="2600" kern="0" dirty="0">
                <a:latin typeface="微软雅黑" pitchFamily="34" charset="-122"/>
                <a:ea typeface="微软雅黑" pitchFamily="34" charset="-122"/>
              </a:rPr>
              <a:t>IP</a:t>
            </a:r>
            <a:r>
              <a:rPr lang="zh-CN" altLang="en-US" sz="2600" kern="0" dirty="0">
                <a:latin typeface="微软雅黑" pitchFamily="34" charset="-122"/>
                <a:ea typeface="微软雅黑" pitchFamily="34" charset="-122"/>
              </a:rPr>
              <a:t>地址</a:t>
            </a:r>
            <a:endParaRPr lang="en-US" altLang="zh-CN" sz="2600" kern="0" dirty="0">
              <a:latin typeface="微软雅黑" pitchFamily="34" charset="-122"/>
              <a:ea typeface="微软雅黑" pitchFamily="34" charset="-122"/>
            </a:endParaRPr>
          </a:p>
          <a:p>
            <a:pPr>
              <a:lnSpc>
                <a:spcPct val="130000"/>
              </a:lnSpc>
              <a:spcAft>
                <a:spcPts val="1200"/>
              </a:spcAft>
              <a:defRPr/>
            </a:pPr>
            <a:r>
              <a:rPr lang="zh-CN" altLang="en-US" sz="3100" kern="0" dirty="0">
                <a:latin typeface="微软雅黑" pitchFamily="34" charset="-122"/>
                <a:ea typeface="微软雅黑" pitchFamily="34" charset="-122"/>
              </a:rPr>
              <a:t>网关路由器接收到路由通告时，通过既定策略采纳或拒绝</a:t>
            </a:r>
            <a:r>
              <a:rPr lang="en-US" altLang="zh-CN" sz="3100" kern="0" dirty="0">
                <a:latin typeface="微软雅黑" pitchFamily="34" charset="-122"/>
                <a:ea typeface="微软雅黑" pitchFamily="34" charset="-122"/>
              </a:rPr>
              <a:t>(accept/ decline)</a:t>
            </a: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181</a:t>
            </a:fld>
            <a:endParaRPr kumimoji="1" lang="zh-CN" altLang="en-US" dirty="0"/>
          </a:p>
        </p:txBody>
      </p:sp>
      <p:sp>
        <p:nvSpPr>
          <p:cNvPr id="6" name="日期占位符 5"/>
          <p:cNvSpPr>
            <a:spLocks noGrp="1"/>
          </p:cNvSpPr>
          <p:nvPr>
            <p:ph type="dt" sz="half" idx="10"/>
          </p:nvPr>
        </p:nvSpPr>
        <p:spPr>
          <a:xfrm>
            <a:off x="197334" y="6489303"/>
            <a:ext cx="2850665" cy="365125"/>
          </a:xfrm>
        </p:spPr>
        <p:txBody>
          <a:bodyPr/>
          <a:lstStyle/>
          <a:p>
            <a:r>
              <a:rPr kumimoji="1" lang="en-US" altLang="zh-CN" dirty="0"/>
              <a:t>5.7.3 BGP-</a:t>
            </a:r>
            <a:r>
              <a:rPr kumimoji="1" lang="zh-CN" altLang="en-US" dirty="0"/>
              <a:t>外部网关路由协议</a:t>
            </a:r>
          </a:p>
        </p:txBody>
      </p:sp>
    </p:spTree>
    <p:extLst>
      <p:ext uri="{BB962C8B-B14F-4D97-AF65-F5344CB8AC3E}">
        <p14:creationId xmlns:p14="http://schemas.microsoft.com/office/powerpoint/2010/main" val="3752405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itchFamily="2" charset="-122"/>
              </a:rPr>
              <a:t>BGP </a:t>
            </a:r>
            <a:r>
              <a:rPr lang="zh-CN" altLang="en-US" dirty="0">
                <a:latin typeface="微软雅黑" pitchFamily="34" charset="-122"/>
                <a:ea typeface="微软雅黑" pitchFamily="34" charset="-122"/>
              </a:rPr>
              <a:t>路由选择</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182</a:t>
            </a:fld>
            <a:endParaRPr kumimoji="1" lang="zh-CN" altLang="en-US" dirty="0"/>
          </a:p>
        </p:txBody>
      </p:sp>
      <p:sp>
        <p:nvSpPr>
          <p:cNvPr id="6" name="内容占位符 2"/>
          <p:cNvSpPr txBox="1">
            <a:spLocks/>
          </p:cNvSpPr>
          <p:nvPr/>
        </p:nvSpPr>
        <p:spPr>
          <a:xfrm>
            <a:off x="838200" y="1392865"/>
            <a:ext cx="5052238" cy="4963485"/>
          </a:xfrm>
          <a:prstGeom prst="rect">
            <a:avLst/>
          </a:prstGeom>
        </p:spPr>
        <p:txBody>
          <a:bodyPr vert="horz" lIns="91440" tIns="45720" rIns="91440" bIns="45720" rtlCol="0">
            <a:normAutofit fontScale="775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40000"/>
              </a:lnSpc>
              <a:buSzPct val="85000"/>
            </a:pPr>
            <a:r>
              <a:rPr lang="zh-CN" altLang="en-US" sz="3400" dirty="0">
                <a:latin typeface="微软雅黑" pitchFamily="34" charset="-122"/>
                <a:ea typeface="微软雅黑" pitchFamily="34" charset="-122"/>
              </a:rPr>
              <a:t>路由器可能从多个对等体收到针对同一目的</a:t>
            </a:r>
            <a:r>
              <a:rPr lang="en-US" altLang="zh-CN" sz="3400" dirty="0">
                <a:latin typeface="微软雅黑" pitchFamily="34" charset="-122"/>
                <a:ea typeface="微软雅黑" pitchFamily="34" charset="-122"/>
              </a:rPr>
              <a:t>IP</a:t>
            </a:r>
            <a:r>
              <a:rPr lang="zh-CN" altLang="en-US" sz="3400" dirty="0">
                <a:latin typeface="微软雅黑" pitchFamily="34" charset="-122"/>
                <a:ea typeface="微软雅黑" pitchFamily="34" charset="-122"/>
              </a:rPr>
              <a:t>的路由</a:t>
            </a:r>
            <a:endParaRPr lang="en-US" altLang="zh-CN" sz="3400" dirty="0">
              <a:latin typeface="微软雅黑" pitchFamily="34" charset="-122"/>
              <a:ea typeface="微软雅黑" pitchFamily="34" charset="-122"/>
            </a:endParaRPr>
          </a:p>
          <a:p>
            <a:pPr>
              <a:lnSpc>
                <a:spcPct val="140000"/>
              </a:lnSpc>
              <a:buSzPct val="85000"/>
            </a:pPr>
            <a:r>
              <a:rPr lang="zh-CN" altLang="en-US" sz="3400" dirty="0">
                <a:latin typeface="微软雅黑" pitchFamily="34" charset="-122"/>
                <a:ea typeface="微软雅黑" pitchFamily="34" charset="-122"/>
              </a:rPr>
              <a:t>需要选择一条最佳路由</a:t>
            </a:r>
          </a:p>
          <a:p>
            <a:pPr>
              <a:lnSpc>
                <a:spcPct val="140000"/>
              </a:lnSpc>
              <a:buSzPct val="85000"/>
            </a:pPr>
            <a:r>
              <a:rPr lang="zh-CN" altLang="en-US" sz="3400" dirty="0">
                <a:latin typeface="微软雅黑" pitchFamily="34" charset="-122"/>
                <a:ea typeface="微软雅黑" pitchFamily="34" charset="-122"/>
              </a:rPr>
              <a:t>选择规则：自上向下，依次排序</a:t>
            </a:r>
            <a:endParaRPr lang="en-US" altLang="zh-CN" sz="3400" dirty="0">
              <a:latin typeface="微软雅黑" pitchFamily="34" charset="-122"/>
              <a:ea typeface="微软雅黑" pitchFamily="34" charset="-122"/>
            </a:endParaRPr>
          </a:p>
          <a:p>
            <a:pPr lvl="1">
              <a:lnSpc>
                <a:spcPct val="140000"/>
              </a:lnSpc>
              <a:buClr>
                <a:schemeClr val="tx1"/>
              </a:buClr>
              <a:buSzPct val="85000"/>
              <a:defRPr/>
            </a:pPr>
            <a:r>
              <a:rPr kumimoji="1" lang="zh-CN" altLang="en-US" sz="2900" dirty="0"/>
              <a:t>本地偏好值属性：政策决策</a:t>
            </a:r>
          </a:p>
          <a:p>
            <a:pPr lvl="1">
              <a:lnSpc>
                <a:spcPct val="140000"/>
              </a:lnSpc>
              <a:buClr>
                <a:schemeClr val="tx1"/>
              </a:buClr>
              <a:buSzPct val="85000"/>
              <a:defRPr/>
            </a:pPr>
            <a:r>
              <a:rPr kumimoji="1" lang="zh-CN" altLang="en-US" sz="2900" dirty="0"/>
              <a:t>最短的</a:t>
            </a:r>
            <a:r>
              <a:rPr kumimoji="1" lang="en-US" altLang="zh-CN" sz="2900" dirty="0"/>
              <a:t>AS-PATH</a:t>
            </a:r>
          </a:p>
          <a:p>
            <a:pPr lvl="1">
              <a:lnSpc>
                <a:spcPct val="140000"/>
              </a:lnSpc>
              <a:buClr>
                <a:schemeClr val="tx1"/>
              </a:buClr>
              <a:buSzPct val="85000"/>
              <a:defRPr/>
            </a:pPr>
            <a:r>
              <a:rPr kumimoji="1" lang="zh-CN" altLang="en-US" sz="2900" dirty="0"/>
              <a:t>最近的</a:t>
            </a:r>
            <a:r>
              <a:rPr kumimoji="1" lang="en-US" altLang="zh-CN" sz="2900" dirty="0"/>
              <a:t>NEXT-HOP</a:t>
            </a:r>
            <a:r>
              <a:rPr kumimoji="1" lang="zh-CN" altLang="en-US" sz="2900" dirty="0"/>
              <a:t>路由器</a:t>
            </a:r>
          </a:p>
          <a:p>
            <a:pPr lvl="1">
              <a:lnSpc>
                <a:spcPct val="140000"/>
              </a:lnSpc>
              <a:buClr>
                <a:schemeClr val="tx1"/>
              </a:buClr>
              <a:buSzPct val="85000"/>
              <a:defRPr/>
            </a:pPr>
            <a:r>
              <a:rPr kumimoji="1" lang="zh-CN" altLang="en-US" sz="2900" dirty="0"/>
              <a:t>附加标准</a:t>
            </a:r>
            <a:r>
              <a:rPr kumimoji="1" lang="en-US" altLang="zh-CN" sz="2900" dirty="0"/>
              <a:t>…</a:t>
            </a:r>
            <a:endParaRPr kumimoji="1" lang="zh-CN" altLang="en-US" sz="2900" dirty="0"/>
          </a:p>
          <a:p>
            <a:pPr lvl="1">
              <a:lnSpc>
                <a:spcPct val="140000"/>
              </a:lnSpc>
              <a:buClr>
                <a:schemeClr val="tx1"/>
              </a:buClr>
              <a:buSzPct val="85000"/>
              <a:defRPr/>
            </a:pPr>
            <a:r>
              <a:rPr kumimoji="1" lang="zh-CN" altLang="en-US" sz="2900" dirty="0"/>
              <a:t>最低路由器</a:t>
            </a:r>
            <a:r>
              <a:rPr kumimoji="1" lang="en-US" altLang="zh-CN" sz="2900" dirty="0"/>
              <a:t>ID</a:t>
            </a:r>
            <a:endParaRPr lang="en-US" altLang="zh-CN" dirty="0">
              <a:latin typeface="微软雅黑" pitchFamily="34" charset="-122"/>
              <a:ea typeface="微软雅黑" pitchFamily="34" charset="-122"/>
            </a:endParaRPr>
          </a:p>
          <a:p>
            <a:endParaRPr lang="zh-CN" altLang="en-US" dirty="0"/>
          </a:p>
        </p:txBody>
      </p:sp>
      <p:pic>
        <p:nvPicPr>
          <p:cNvPr id="7" name="Picture 1028"/>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43333" y="2654694"/>
            <a:ext cx="1134533" cy="70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1029"/>
          <p:cNvSpPr>
            <a:spLocks noChangeArrowheads="1"/>
          </p:cNvSpPr>
          <p:nvPr/>
        </p:nvSpPr>
        <p:spPr bwMode="auto">
          <a:xfrm>
            <a:off x="7372300" y="2807093"/>
            <a:ext cx="657534" cy="457200"/>
          </a:xfrm>
          <a:prstGeom prst="rightArrow">
            <a:avLst>
              <a:gd name="adj1" fmla="val 50000"/>
              <a:gd name="adj2" fmla="val 41667"/>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9" name="AutoShape 1030"/>
          <p:cNvSpPr>
            <a:spLocks noChangeArrowheads="1"/>
          </p:cNvSpPr>
          <p:nvPr/>
        </p:nvSpPr>
        <p:spPr bwMode="auto">
          <a:xfrm rot="5400000" flipV="1">
            <a:off x="8175786" y="2075317"/>
            <a:ext cx="647700" cy="609600"/>
          </a:xfrm>
          <a:prstGeom prst="rightArrow">
            <a:avLst>
              <a:gd name="adj1" fmla="val 50000"/>
              <a:gd name="adj2" fmla="val 35417"/>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10" name="AutoShape 1031"/>
          <p:cNvSpPr>
            <a:spLocks noChangeArrowheads="1"/>
          </p:cNvSpPr>
          <p:nvPr/>
        </p:nvSpPr>
        <p:spPr bwMode="auto">
          <a:xfrm rot="16200000" flipV="1">
            <a:off x="8156736" y="3302393"/>
            <a:ext cx="685800" cy="609600"/>
          </a:xfrm>
          <a:prstGeom prst="rightArrow">
            <a:avLst>
              <a:gd name="adj1" fmla="val 50000"/>
              <a:gd name="adj2" fmla="val 37500"/>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11" name="AutoShape 1032"/>
          <p:cNvSpPr>
            <a:spLocks noChangeArrowheads="1"/>
          </p:cNvSpPr>
          <p:nvPr/>
        </p:nvSpPr>
        <p:spPr bwMode="auto">
          <a:xfrm flipH="1">
            <a:off x="9133528" y="2778667"/>
            <a:ext cx="616528" cy="457200"/>
          </a:xfrm>
          <a:prstGeom prst="rightArrow">
            <a:avLst>
              <a:gd name="adj1" fmla="val 50000"/>
              <a:gd name="adj2" fmla="val 50000"/>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12" name="Text Box 1033"/>
          <p:cNvSpPr txBox="1">
            <a:spLocks noChangeArrowheads="1"/>
          </p:cNvSpPr>
          <p:nvPr/>
        </p:nvSpPr>
        <p:spPr bwMode="auto">
          <a:xfrm>
            <a:off x="5988588" y="2717112"/>
            <a:ext cx="1383712" cy="584775"/>
          </a:xfrm>
          <a:prstGeom prst="rect">
            <a:avLst/>
          </a:prstGeom>
          <a:solidFill>
            <a:srgbClr val="C00000"/>
          </a:solidFill>
          <a:ln>
            <a:noFill/>
          </a:ln>
        </p:spPr>
        <p:txBody>
          <a:bodyPr wrap="none" anchor="b">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eaLnBrk="1" hangingPunct="1"/>
            <a:r>
              <a:rPr lang="zh-CN" altLang="en-US" sz="1600" dirty="0">
                <a:solidFill>
                  <a:schemeClr val="bg1"/>
                </a:solidFill>
                <a:latin typeface="微软雅黑" pitchFamily="34" charset="-122"/>
                <a:ea typeface="微软雅黑" pitchFamily="34" charset="-122"/>
              </a:rPr>
              <a:t>192.0.2.0/24</a:t>
            </a:r>
          </a:p>
          <a:p>
            <a:pPr eaLnBrk="1" hangingPunct="1"/>
            <a:r>
              <a:rPr lang="en-US" altLang="zh-CN" sz="1600" dirty="0">
                <a:solidFill>
                  <a:schemeClr val="bg1"/>
                </a:solidFill>
                <a:latin typeface="微软雅黑" pitchFamily="34" charset="-122"/>
                <a:ea typeface="微软雅黑" pitchFamily="34" charset="-122"/>
              </a:rPr>
              <a:t>pick me!</a:t>
            </a:r>
          </a:p>
        </p:txBody>
      </p:sp>
      <p:sp>
        <p:nvSpPr>
          <p:cNvPr id="13" name="Text Box 1034"/>
          <p:cNvSpPr txBox="1">
            <a:spLocks noChangeArrowheads="1"/>
          </p:cNvSpPr>
          <p:nvPr/>
        </p:nvSpPr>
        <p:spPr bwMode="auto">
          <a:xfrm>
            <a:off x="7749816" y="1439594"/>
            <a:ext cx="1383712" cy="584775"/>
          </a:xfrm>
          <a:prstGeom prst="rect">
            <a:avLst/>
          </a:prstGeom>
          <a:solidFill>
            <a:srgbClr val="C00000"/>
          </a:solidFill>
          <a:ln>
            <a:noFill/>
          </a:ln>
        </p:spPr>
        <p:txBody>
          <a:bodyPr wrap="none" anchor="ctr" anchorCtr="1">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eaLnBrk="1" hangingPunct="1"/>
            <a:r>
              <a:rPr lang="zh-CN" altLang="en-US" sz="1600" dirty="0">
                <a:solidFill>
                  <a:schemeClr val="bg1"/>
                </a:solidFill>
                <a:latin typeface="微软雅黑" pitchFamily="34" charset="-122"/>
                <a:ea typeface="微软雅黑" pitchFamily="34" charset="-122"/>
              </a:rPr>
              <a:t>192.0.2.0/24</a:t>
            </a:r>
          </a:p>
          <a:p>
            <a:pPr eaLnBrk="1" hangingPunct="1"/>
            <a:r>
              <a:rPr lang="en-US" altLang="zh-CN" sz="1600" dirty="0">
                <a:solidFill>
                  <a:schemeClr val="bg1"/>
                </a:solidFill>
                <a:latin typeface="微软雅黑" pitchFamily="34" charset="-122"/>
                <a:ea typeface="微软雅黑" pitchFamily="34" charset="-122"/>
              </a:rPr>
              <a:t>pick me!</a:t>
            </a:r>
          </a:p>
        </p:txBody>
      </p:sp>
      <p:sp>
        <p:nvSpPr>
          <p:cNvPr id="14" name="Text Box 1035"/>
          <p:cNvSpPr txBox="1">
            <a:spLocks noChangeArrowheads="1"/>
          </p:cNvSpPr>
          <p:nvPr/>
        </p:nvSpPr>
        <p:spPr bwMode="auto">
          <a:xfrm>
            <a:off x="9835780" y="2778667"/>
            <a:ext cx="1383712" cy="584775"/>
          </a:xfrm>
          <a:prstGeom prst="rect">
            <a:avLst/>
          </a:prstGeom>
          <a:solidFill>
            <a:srgbClr val="C00000"/>
          </a:solidFill>
          <a:ln>
            <a:noFill/>
          </a:ln>
        </p:spPr>
        <p:txBody>
          <a:bodyPr wrap="none" anchor="b">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zh-CN" altLang="en-US" sz="1600" dirty="0">
                <a:solidFill>
                  <a:schemeClr val="bg1"/>
                </a:solidFill>
                <a:latin typeface="微软雅黑" pitchFamily="34" charset="-122"/>
                <a:ea typeface="微软雅黑" pitchFamily="34" charset="-122"/>
              </a:rPr>
              <a:t>192.0.2.0/24</a:t>
            </a:r>
          </a:p>
          <a:p>
            <a:r>
              <a:rPr lang="en-US" altLang="zh-CN" sz="1600" dirty="0">
                <a:solidFill>
                  <a:schemeClr val="bg1"/>
                </a:solidFill>
                <a:latin typeface="微软雅黑" pitchFamily="34" charset="-122"/>
                <a:ea typeface="微软雅黑" pitchFamily="34" charset="-122"/>
              </a:rPr>
              <a:t>pick me!</a:t>
            </a:r>
          </a:p>
        </p:txBody>
      </p:sp>
      <p:sp>
        <p:nvSpPr>
          <p:cNvPr id="15" name="Text Box 1036"/>
          <p:cNvSpPr txBox="1">
            <a:spLocks noChangeArrowheads="1"/>
          </p:cNvSpPr>
          <p:nvPr/>
        </p:nvSpPr>
        <p:spPr bwMode="auto">
          <a:xfrm>
            <a:off x="7823047" y="4001580"/>
            <a:ext cx="1383712" cy="584775"/>
          </a:xfrm>
          <a:prstGeom prst="rect">
            <a:avLst/>
          </a:prstGeom>
          <a:solidFill>
            <a:srgbClr val="C00000"/>
          </a:solidFill>
          <a:ln>
            <a:noFill/>
          </a:ln>
        </p:spPr>
        <p:txBody>
          <a:bodyPr wrap="none" anchor="ctr" anchorCtr="1">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zh-CN" altLang="en-US" sz="1600" dirty="0">
                <a:solidFill>
                  <a:schemeClr val="bg1"/>
                </a:solidFill>
                <a:latin typeface="微软雅黑" pitchFamily="34" charset="-122"/>
                <a:ea typeface="微软雅黑" pitchFamily="34" charset="-122"/>
              </a:rPr>
              <a:t>192.0.2.0/24</a:t>
            </a:r>
          </a:p>
          <a:p>
            <a:r>
              <a:rPr lang="en-US" altLang="zh-CN" sz="1600" dirty="0">
                <a:solidFill>
                  <a:schemeClr val="bg1"/>
                </a:solidFill>
                <a:latin typeface="微软雅黑" pitchFamily="34" charset="-122"/>
                <a:ea typeface="微软雅黑" pitchFamily="34" charset="-122"/>
              </a:rPr>
              <a:t>pick me!</a:t>
            </a:r>
          </a:p>
        </p:txBody>
      </p:sp>
      <p:sp>
        <p:nvSpPr>
          <p:cNvPr id="3" name="日期占位符 2"/>
          <p:cNvSpPr>
            <a:spLocks noGrp="1"/>
          </p:cNvSpPr>
          <p:nvPr>
            <p:ph type="dt" sz="half" idx="10"/>
          </p:nvPr>
        </p:nvSpPr>
        <p:spPr>
          <a:xfrm>
            <a:off x="197335" y="6489303"/>
            <a:ext cx="3244052" cy="365125"/>
          </a:xfrm>
        </p:spPr>
        <p:txBody>
          <a:bodyPr/>
          <a:lstStyle/>
          <a:p>
            <a:r>
              <a:rPr kumimoji="1" lang="en-US" altLang="zh-CN" dirty="0"/>
              <a:t>5.7.3 BGP-</a:t>
            </a:r>
            <a:r>
              <a:rPr kumimoji="1" lang="zh-CN" altLang="en-US" dirty="0"/>
              <a:t>外部网关路由协议</a:t>
            </a:r>
          </a:p>
        </p:txBody>
      </p:sp>
    </p:spTree>
    <p:extLst>
      <p:ext uri="{BB962C8B-B14F-4D97-AF65-F5344CB8AC3E}">
        <p14:creationId xmlns:p14="http://schemas.microsoft.com/office/powerpoint/2010/main" val="211761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6">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P spid="14" grpId="0" animBg="1"/>
      <p:bldP spid="15"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itchFamily="2" charset="-122"/>
              </a:rPr>
              <a:t>BGP</a:t>
            </a:r>
            <a:r>
              <a:rPr lang="zh-CN" altLang="en-US" dirty="0">
                <a:latin typeface="微软雅黑" pitchFamily="34" charset="-122"/>
                <a:ea typeface="微软雅黑" pitchFamily="34" charset="-122"/>
              </a:rPr>
              <a:t>路由策略</a:t>
            </a:r>
            <a:endParaRPr lang="zh-CN" altLang="en-US" sz="3200" dirty="0">
              <a:latin typeface="微软雅黑" pitchFamily="34" charset="-122"/>
              <a:ea typeface="微软雅黑" pitchFamily="34" charset="-122"/>
            </a:endParaRP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183</a:t>
            </a:fld>
            <a:endParaRPr kumimoji="1" lang="zh-CN" altLang="en-US" dirty="0"/>
          </a:p>
        </p:txBody>
      </p:sp>
      <p:sp>
        <p:nvSpPr>
          <p:cNvPr id="34" name="Rectangle 5">
            <a:extLst>
              <a:ext uri="{FF2B5EF4-FFF2-40B4-BE49-F238E27FC236}">
                <a16:creationId xmlns:a16="http://schemas.microsoft.com/office/drawing/2014/main" id="{07DCA248-AD2D-44A0-9FCA-C03A0D9743DC}"/>
              </a:ext>
            </a:extLst>
          </p:cNvPr>
          <p:cNvSpPr>
            <a:spLocks noChangeArrowheads="1"/>
          </p:cNvSpPr>
          <p:nvPr/>
        </p:nvSpPr>
        <p:spPr bwMode="auto">
          <a:xfrm>
            <a:off x="838199" y="4535444"/>
            <a:ext cx="10515601" cy="1562008"/>
          </a:xfrm>
          <a:prstGeom prst="rect">
            <a:avLst/>
          </a:prstGeom>
          <a:noFill/>
          <a:ln w="9525">
            <a:noFill/>
            <a:miter lim="800000"/>
            <a:headEnd/>
            <a:tailEnd/>
          </a:ln>
        </p:spPr>
        <p:txBody>
          <a:bodyPr/>
          <a:lstStyle/>
          <a:p>
            <a:pPr marL="457200" indent="-457200">
              <a:lnSpc>
                <a:spcPct val="120000"/>
              </a:lnSpc>
              <a:spcBef>
                <a:spcPts val="600"/>
              </a:spcBef>
              <a:buFont typeface="Wingdings" pitchFamily="2" charset="2"/>
              <a:buChar char="Ø"/>
              <a:defRPr/>
            </a:pPr>
            <a:r>
              <a:rPr lang="zh-CN" altLang="en-US" sz="2800" dirty="0">
                <a:latin typeface="微软雅黑" pitchFamily="34" charset="-122"/>
                <a:ea typeface="微软雅黑" pitchFamily="34" charset="-122"/>
                <a:cs typeface="Times New Roman" panose="02020603050405020304" pitchFamily="18" charset="0"/>
              </a:rPr>
              <a:t>例如：</a:t>
            </a:r>
            <a:r>
              <a:rPr lang="en-US" altLang="zh-CN" sz="2800" dirty="0">
                <a:latin typeface="微软雅黑" pitchFamily="34" charset="-122"/>
                <a:ea typeface="微软雅黑" pitchFamily="34" charset="-122"/>
                <a:cs typeface="Times New Roman" panose="02020603050405020304" pitchFamily="18" charset="0"/>
              </a:rPr>
              <a:t>X</a:t>
            </a:r>
            <a:r>
              <a:rPr lang="zh-CN" altLang="en-US" sz="2800" dirty="0">
                <a:latin typeface="微软雅黑" pitchFamily="34" charset="-122"/>
                <a:ea typeface="微软雅黑" pitchFamily="34" charset="-122"/>
                <a:cs typeface="Times New Roman" panose="02020603050405020304" pitchFamily="18" charset="0"/>
              </a:rPr>
              <a:t>连接到两个提供者网络（</a:t>
            </a:r>
            <a:r>
              <a:rPr lang="en-US" altLang="zh-CN" sz="2800" dirty="0">
                <a:latin typeface="微软雅黑" pitchFamily="34" charset="-122"/>
                <a:ea typeface="微软雅黑" pitchFamily="34" charset="-122"/>
                <a:cs typeface="Times New Roman" panose="02020603050405020304" pitchFamily="18" charset="0"/>
              </a:rPr>
              <a:t>dual-homed</a:t>
            </a:r>
            <a:r>
              <a:rPr lang="zh-CN" altLang="en-US" sz="2800" dirty="0">
                <a:latin typeface="微软雅黑" pitchFamily="34" charset="-122"/>
                <a:ea typeface="微软雅黑" pitchFamily="34" charset="-122"/>
                <a:cs typeface="Times New Roman" panose="02020603050405020304" pitchFamily="18" charset="0"/>
              </a:rPr>
              <a:t>）</a:t>
            </a:r>
            <a:endParaRPr lang="en-US" altLang="zh-CN" sz="2800" dirty="0">
              <a:latin typeface="微软雅黑" pitchFamily="34" charset="-122"/>
              <a:ea typeface="微软雅黑" pitchFamily="34" charset="-122"/>
              <a:cs typeface="Times New Roman" panose="02020603050405020304" pitchFamily="18" charset="0"/>
            </a:endParaRPr>
          </a:p>
          <a:p>
            <a:pPr marL="800100" lvl="1" indent="-342900">
              <a:lnSpc>
                <a:spcPct val="120000"/>
              </a:lnSpc>
              <a:spcBef>
                <a:spcPts val="600"/>
              </a:spcBef>
              <a:buFont typeface="Arial" pitchFamily="34" charset="0"/>
              <a:buChar char="•"/>
              <a:defRPr/>
            </a:pP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为用户网络，</a:t>
            </a: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不希望从</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到</a:t>
            </a:r>
            <a:r>
              <a:rPr lang="en-US" altLang="zh-CN" sz="2400" dirty="0">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的数据包经过</a:t>
            </a:r>
            <a:r>
              <a:rPr lang="en-US" altLang="zh-CN" sz="2400" dirty="0">
                <a:latin typeface="微软雅黑" pitchFamily="34" charset="-122"/>
                <a:ea typeface="微软雅黑" pitchFamily="34" charset="-122"/>
                <a:cs typeface="Times New Roman" panose="02020603050405020304" pitchFamily="18" charset="0"/>
              </a:rPr>
              <a:t>X</a:t>
            </a:r>
          </a:p>
          <a:p>
            <a:pPr marL="800100" lvl="1" indent="-342900">
              <a:lnSpc>
                <a:spcPct val="120000"/>
              </a:lnSpc>
              <a:spcBef>
                <a:spcPts val="600"/>
              </a:spcBef>
              <a:buFont typeface="Arial" pitchFamily="34" charset="0"/>
              <a:buChar char="•"/>
              <a:defRPr/>
            </a:pP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则不向</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通告到</a:t>
            </a:r>
            <a:r>
              <a:rPr lang="en-US" altLang="zh-CN" sz="2400" dirty="0">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的路由</a:t>
            </a:r>
            <a:endParaRPr lang="en-US" altLang="zh-CN" sz="2400" dirty="0">
              <a:latin typeface="微软雅黑" pitchFamily="34" charset="-122"/>
              <a:ea typeface="微软雅黑" pitchFamily="34" charset="-122"/>
              <a:cs typeface="Times New Roman" panose="02020603050405020304" pitchFamily="18" charset="0"/>
            </a:endParaRPr>
          </a:p>
        </p:txBody>
      </p:sp>
      <p:sp>
        <p:nvSpPr>
          <p:cNvPr id="35" name="AutoShape 6">
            <a:extLst>
              <a:ext uri="{FF2B5EF4-FFF2-40B4-BE49-F238E27FC236}">
                <a16:creationId xmlns:a16="http://schemas.microsoft.com/office/drawing/2014/main" id="{440052F2-3F94-484E-82C1-1F7F608356F4}"/>
              </a:ext>
            </a:extLst>
          </p:cNvPr>
          <p:cNvSpPr>
            <a:spLocks noChangeAspect="1" noChangeArrowheads="1" noTextEdit="1"/>
          </p:cNvSpPr>
          <p:nvPr/>
        </p:nvSpPr>
        <p:spPr bwMode="auto">
          <a:xfrm>
            <a:off x="1037650" y="2242033"/>
            <a:ext cx="10116701"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grpSp>
        <p:nvGrpSpPr>
          <p:cNvPr id="36" name="组合 35">
            <a:extLst>
              <a:ext uri="{FF2B5EF4-FFF2-40B4-BE49-F238E27FC236}">
                <a16:creationId xmlns:a16="http://schemas.microsoft.com/office/drawing/2014/main" id="{E13B42FE-2F0F-4C50-B487-D413DDC57958}"/>
              </a:ext>
            </a:extLst>
          </p:cNvPr>
          <p:cNvGrpSpPr/>
          <p:nvPr/>
        </p:nvGrpSpPr>
        <p:grpSpPr>
          <a:xfrm>
            <a:off x="1342280" y="2678124"/>
            <a:ext cx="8575441" cy="1845548"/>
            <a:chOff x="1006710" y="2543658"/>
            <a:chExt cx="6431581" cy="2009775"/>
          </a:xfrm>
        </p:grpSpPr>
        <p:sp>
          <p:nvSpPr>
            <p:cNvPr id="37" name="Freeform 7">
              <a:extLst>
                <a:ext uri="{FF2B5EF4-FFF2-40B4-BE49-F238E27FC236}">
                  <a16:creationId xmlns:a16="http://schemas.microsoft.com/office/drawing/2014/main" id="{52C29464-8272-4FF1-AFFC-F1EB31E1CCC8}"/>
                </a:ext>
              </a:extLst>
            </p:cNvPr>
            <p:cNvSpPr>
              <a:spLocks/>
            </p:cNvSpPr>
            <p:nvPr/>
          </p:nvSpPr>
          <p:spPr bwMode="auto">
            <a:xfrm>
              <a:off x="2858456" y="2634146"/>
              <a:ext cx="899511" cy="577850"/>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8" name="Freeform 8">
              <a:extLst>
                <a:ext uri="{FF2B5EF4-FFF2-40B4-BE49-F238E27FC236}">
                  <a16:creationId xmlns:a16="http://schemas.microsoft.com/office/drawing/2014/main" id="{EEDA5B69-83AC-4717-A06D-3523A0C055D9}"/>
                </a:ext>
              </a:extLst>
            </p:cNvPr>
            <p:cNvSpPr>
              <a:spLocks/>
            </p:cNvSpPr>
            <p:nvPr/>
          </p:nvSpPr>
          <p:spPr bwMode="auto">
            <a:xfrm>
              <a:off x="1818346" y="3165958"/>
              <a:ext cx="897913"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 name="Rectangle 9">
              <a:extLst>
                <a:ext uri="{FF2B5EF4-FFF2-40B4-BE49-F238E27FC236}">
                  <a16:creationId xmlns:a16="http://schemas.microsoft.com/office/drawing/2014/main" id="{AC9D0587-5ED6-45C2-A805-4DE2E711DD95}"/>
                </a:ext>
              </a:extLst>
            </p:cNvPr>
            <p:cNvSpPr>
              <a:spLocks noChangeArrowheads="1"/>
            </p:cNvSpPr>
            <p:nvPr/>
          </p:nvSpPr>
          <p:spPr bwMode="auto">
            <a:xfrm flipH="1">
              <a:off x="2190613" y="3316771"/>
              <a:ext cx="118231"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r>
                <a:rPr lang="en-US" b="1">
                  <a:latin typeface="Times New Roman" panose="02020603050405020304" pitchFamily="18" charset="0"/>
                  <a:ea typeface="宋体" panose="02010600030101010101" pitchFamily="2" charset="-122"/>
                  <a:cs typeface="Times New Roman" panose="02020603050405020304" pitchFamily="18" charset="0"/>
                </a:rPr>
                <a:t>A</a:t>
              </a:r>
            </a:p>
          </p:txBody>
        </p:sp>
        <p:sp>
          <p:nvSpPr>
            <p:cNvPr id="40" name="Rectangle 10">
              <a:extLst>
                <a:ext uri="{FF2B5EF4-FFF2-40B4-BE49-F238E27FC236}">
                  <a16:creationId xmlns:a16="http://schemas.microsoft.com/office/drawing/2014/main" id="{F41A33C2-A2B4-4BB7-81AD-14C3195AC30D}"/>
                </a:ext>
              </a:extLst>
            </p:cNvPr>
            <p:cNvSpPr>
              <a:spLocks noChangeArrowheads="1"/>
            </p:cNvSpPr>
            <p:nvPr/>
          </p:nvSpPr>
          <p:spPr bwMode="auto">
            <a:xfrm>
              <a:off x="3281849" y="2796071"/>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B</a:t>
              </a:r>
            </a:p>
          </p:txBody>
        </p:sp>
        <p:sp>
          <p:nvSpPr>
            <p:cNvPr id="41" name="Freeform 11">
              <a:extLst>
                <a:ext uri="{FF2B5EF4-FFF2-40B4-BE49-F238E27FC236}">
                  <a16:creationId xmlns:a16="http://schemas.microsoft.com/office/drawing/2014/main" id="{A6CD5621-70FA-4A32-98F5-C600ABD446A3}"/>
                </a:ext>
              </a:extLst>
            </p:cNvPr>
            <p:cNvSpPr>
              <a:spLocks/>
            </p:cNvSpPr>
            <p:nvPr/>
          </p:nvSpPr>
          <p:spPr bwMode="auto">
            <a:xfrm>
              <a:off x="2919169" y="3629508"/>
              <a:ext cx="902706" cy="574675"/>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2" name="Rectangle 12">
              <a:extLst>
                <a:ext uri="{FF2B5EF4-FFF2-40B4-BE49-F238E27FC236}">
                  <a16:creationId xmlns:a16="http://schemas.microsoft.com/office/drawing/2014/main" id="{78276079-60C2-49CA-ADFD-06A35E21F6A5}"/>
                </a:ext>
              </a:extLst>
            </p:cNvPr>
            <p:cNvSpPr>
              <a:spLocks noChangeArrowheads="1"/>
            </p:cNvSpPr>
            <p:nvPr/>
          </p:nvSpPr>
          <p:spPr bwMode="auto">
            <a:xfrm>
              <a:off x="3328183" y="3748571"/>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C</a:t>
              </a:r>
            </a:p>
          </p:txBody>
        </p:sp>
        <p:sp>
          <p:nvSpPr>
            <p:cNvPr id="43" name="Rectangle 13">
              <a:extLst>
                <a:ext uri="{FF2B5EF4-FFF2-40B4-BE49-F238E27FC236}">
                  <a16:creationId xmlns:a16="http://schemas.microsoft.com/office/drawing/2014/main" id="{D567829E-D641-4922-A84A-F6CA78E5279F}"/>
                </a:ext>
              </a:extLst>
            </p:cNvPr>
            <p:cNvSpPr>
              <a:spLocks noChangeArrowheads="1"/>
            </p:cNvSpPr>
            <p:nvPr/>
          </p:nvSpPr>
          <p:spPr bwMode="auto">
            <a:xfrm>
              <a:off x="3435229" y="3748571"/>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4" name="Freeform 14">
              <a:extLst>
                <a:ext uri="{FF2B5EF4-FFF2-40B4-BE49-F238E27FC236}">
                  <a16:creationId xmlns:a16="http://schemas.microsoft.com/office/drawing/2014/main" id="{A9F56B8D-130E-49B4-8610-0D7DBEFEC82B}"/>
                </a:ext>
              </a:extLst>
            </p:cNvPr>
            <p:cNvSpPr>
              <a:spLocks/>
            </p:cNvSpPr>
            <p:nvPr/>
          </p:nvSpPr>
          <p:spPr bwMode="auto">
            <a:xfrm>
              <a:off x="1006710" y="3237396"/>
              <a:ext cx="348301"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5" name="Rectangle 15">
              <a:extLst>
                <a:ext uri="{FF2B5EF4-FFF2-40B4-BE49-F238E27FC236}">
                  <a16:creationId xmlns:a16="http://schemas.microsoft.com/office/drawing/2014/main" id="{916E7FF7-2EF0-463C-8288-B76B3257DA09}"/>
                </a:ext>
              </a:extLst>
            </p:cNvPr>
            <p:cNvSpPr>
              <a:spLocks noChangeArrowheads="1"/>
            </p:cNvSpPr>
            <p:nvPr/>
          </p:nvSpPr>
          <p:spPr bwMode="auto">
            <a:xfrm>
              <a:off x="1086595" y="3305658"/>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a:latin typeface="Times New Roman" panose="02020603050405020304" pitchFamily="18" charset="0"/>
                  <a:ea typeface="宋体" panose="02010600030101010101" pitchFamily="2" charset="-122"/>
                  <a:cs typeface="Times New Roman" panose="02020603050405020304" pitchFamily="18" charset="0"/>
                </a:rPr>
                <a:t>W</a:t>
              </a:r>
            </a:p>
          </p:txBody>
        </p:sp>
        <p:sp>
          <p:nvSpPr>
            <p:cNvPr id="46" name="Rectangle 16">
              <a:extLst>
                <a:ext uri="{FF2B5EF4-FFF2-40B4-BE49-F238E27FC236}">
                  <a16:creationId xmlns:a16="http://schemas.microsoft.com/office/drawing/2014/main" id="{B05D6E58-9B2A-4A6D-9D5D-48CA509A408F}"/>
                </a:ext>
              </a:extLst>
            </p:cNvPr>
            <p:cNvSpPr>
              <a:spLocks noChangeArrowheads="1"/>
            </p:cNvSpPr>
            <p:nvPr/>
          </p:nvSpPr>
          <p:spPr bwMode="auto">
            <a:xfrm>
              <a:off x="1284711" y="3277083"/>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7" name="Freeform 17">
              <a:extLst>
                <a:ext uri="{FF2B5EF4-FFF2-40B4-BE49-F238E27FC236}">
                  <a16:creationId xmlns:a16="http://schemas.microsoft.com/office/drawing/2014/main" id="{E2053CE5-3F88-4538-8F14-3EEBB49488BE}"/>
                </a:ext>
              </a:extLst>
            </p:cNvPr>
            <p:cNvSpPr>
              <a:spLocks/>
            </p:cNvSpPr>
            <p:nvPr/>
          </p:nvSpPr>
          <p:spPr bwMode="auto">
            <a:xfrm>
              <a:off x="4427407" y="3054833"/>
              <a:ext cx="348301" cy="336550"/>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8" name="Rectangle 18">
              <a:extLst>
                <a:ext uri="{FF2B5EF4-FFF2-40B4-BE49-F238E27FC236}">
                  <a16:creationId xmlns:a16="http://schemas.microsoft.com/office/drawing/2014/main" id="{13A4983F-E21E-4FA2-AC93-49DE831F7F24}"/>
                </a:ext>
              </a:extLst>
            </p:cNvPr>
            <p:cNvSpPr>
              <a:spLocks noChangeArrowheads="1"/>
            </p:cNvSpPr>
            <p:nvPr/>
          </p:nvSpPr>
          <p:spPr bwMode="auto">
            <a:xfrm>
              <a:off x="4522811" y="308683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49" name="Freeform 19">
              <a:extLst>
                <a:ext uri="{FF2B5EF4-FFF2-40B4-BE49-F238E27FC236}">
                  <a16:creationId xmlns:a16="http://schemas.microsoft.com/office/drawing/2014/main" id="{71A31049-0FE0-4D07-A848-CAE7148AF38F}"/>
                </a:ext>
              </a:extLst>
            </p:cNvPr>
            <p:cNvSpPr>
              <a:spLocks/>
            </p:cNvSpPr>
            <p:nvPr/>
          </p:nvSpPr>
          <p:spPr bwMode="auto">
            <a:xfrm>
              <a:off x="4419419" y="4216883"/>
              <a:ext cx="348301" cy="336550"/>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0" name="Rectangle 20">
              <a:extLst>
                <a:ext uri="{FF2B5EF4-FFF2-40B4-BE49-F238E27FC236}">
                  <a16:creationId xmlns:a16="http://schemas.microsoft.com/office/drawing/2014/main" id="{EFEA6412-F467-4A52-B431-9543B683C3EC}"/>
                </a:ext>
              </a:extLst>
            </p:cNvPr>
            <p:cNvSpPr>
              <a:spLocks noChangeArrowheads="1"/>
            </p:cNvSpPr>
            <p:nvPr/>
          </p:nvSpPr>
          <p:spPr bwMode="auto">
            <a:xfrm>
              <a:off x="4515979" y="426609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Y</a:t>
              </a:r>
            </a:p>
          </p:txBody>
        </p:sp>
        <p:sp>
          <p:nvSpPr>
            <p:cNvPr id="51" name="Line 21">
              <a:extLst>
                <a:ext uri="{FF2B5EF4-FFF2-40B4-BE49-F238E27FC236}">
                  <a16:creationId xmlns:a16="http://schemas.microsoft.com/office/drawing/2014/main" id="{4CD860E4-BFC6-4054-B067-AE964D0CD397}"/>
                </a:ext>
              </a:extLst>
            </p:cNvPr>
            <p:cNvSpPr>
              <a:spLocks noChangeShapeType="1"/>
            </p:cNvSpPr>
            <p:nvPr/>
          </p:nvSpPr>
          <p:spPr bwMode="auto">
            <a:xfrm>
              <a:off x="1375781" y="3416783"/>
              <a:ext cx="447359"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2" name="Line 22">
              <a:extLst>
                <a:ext uri="{FF2B5EF4-FFF2-40B4-BE49-F238E27FC236}">
                  <a16:creationId xmlns:a16="http://schemas.microsoft.com/office/drawing/2014/main" id="{D7B2ED8D-8E7A-4F13-B9E6-D37519D2C770}"/>
                </a:ext>
              </a:extLst>
            </p:cNvPr>
            <p:cNvSpPr>
              <a:spLocks noChangeShapeType="1"/>
            </p:cNvSpPr>
            <p:nvPr/>
          </p:nvSpPr>
          <p:spPr bwMode="auto">
            <a:xfrm>
              <a:off x="3757967" y="2927833"/>
              <a:ext cx="669441" cy="2762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3" name="Line 23">
              <a:extLst>
                <a:ext uri="{FF2B5EF4-FFF2-40B4-BE49-F238E27FC236}">
                  <a16:creationId xmlns:a16="http://schemas.microsoft.com/office/drawing/2014/main" id="{C8D20C2F-0C76-4021-8B30-33C9EDC98627}"/>
                </a:ext>
              </a:extLst>
            </p:cNvPr>
            <p:cNvSpPr>
              <a:spLocks noChangeShapeType="1"/>
            </p:cNvSpPr>
            <p:nvPr/>
          </p:nvSpPr>
          <p:spPr bwMode="auto">
            <a:xfrm flipV="1">
              <a:off x="3801105" y="3310421"/>
              <a:ext cx="674234" cy="5667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4" name="Line 24">
              <a:extLst>
                <a:ext uri="{FF2B5EF4-FFF2-40B4-BE49-F238E27FC236}">
                  <a16:creationId xmlns:a16="http://schemas.microsoft.com/office/drawing/2014/main" id="{0C9799D2-913B-4528-8BA9-BB68F50B3323}"/>
                </a:ext>
              </a:extLst>
            </p:cNvPr>
            <p:cNvSpPr>
              <a:spLocks noChangeShapeType="1"/>
            </p:cNvSpPr>
            <p:nvPr/>
          </p:nvSpPr>
          <p:spPr bwMode="auto">
            <a:xfrm>
              <a:off x="3809093" y="4008921"/>
              <a:ext cx="618314" cy="3190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5" name="Line 25">
              <a:extLst>
                <a:ext uri="{FF2B5EF4-FFF2-40B4-BE49-F238E27FC236}">
                  <a16:creationId xmlns:a16="http://schemas.microsoft.com/office/drawing/2014/main" id="{246DD4A8-8CE2-416C-B045-AF23F8ABEA94}"/>
                </a:ext>
              </a:extLst>
            </p:cNvPr>
            <p:cNvSpPr>
              <a:spLocks noChangeShapeType="1"/>
            </p:cNvSpPr>
            <p:nvPr/>
          </p:nvSpPr>
          <p:spPr bwMode="auto">
            <a:xfrm flipV="1">
              <a:off x="2665133" y="3067533"/>
              <a:ext cx="292381" cy="2349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6" name="Line 26">
              <a:extLst>
                <a:ext uri="{FF2B5EF4-FFF2-40B4-BE49-F238E27FC236}">
                  <a16:creationId xmlns:a16="http://schemas.microsoft.com/office/drawing/2014/main" id="{83A9DA2A-47CC-496D-96F0-7AE456060392}"/>
                </a:ext>
              </a:extLst>
            </p:cNvPr>
            <p:cNvSpPr>
              <a:spLocks noChangeShapeType="1"/>
            </p:cNvSpPr>
            <p:nvPr/>
          </p:nvSpPr>
          <p:spPr bwMode="auto">
            <a:xfrm flipV="1">
              <a:off x="3542276" y="3196121"/>
              <a:ext cx="1598" cy="4254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7" name="Line 27">
              <a:extLst>
                <a:ext uri="{FF2B5EF4-FFF2-40B4-BE49-F238E27FC236}">
                  <a16:creationId xmlns:a16="http://schemas.microsoft.com/office/drawing/2014/main" id="{0C1EA602-7CD8-458E-8231-E6EF17BAC2A3}"/>
                </a:ext>
              </a:extLst>
            </p:cNvPr>
            <p:cNvSpPr>
              <a:spLocks noChangeShapeType="1"/>
            </p:cNvSpPr>
            <p:nvPr/>
          </p:nvSpPr>
          <p:spPr bwMode="auto">
            <a:xfrm>
              <a:off x="2690696" y="3621571"/>
              <a:ext cx="266818" cy="16510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8" name="Rectangle 30">
              <a:extLst>
                <a:ext uri="{FF2B5EF4-FFF2-40B4-BE49-F238E27FC236}">
                  <a16:creationId xmlns:a16="http://schemas.microsoft.com/office/drawing/2014/main" id="{310E497D-2430-407F-B2AC-07AB0D778213}"/>
                </a:ext>
              </a:extLst>
            </p:cNvPr>
            <p:cNvSpPr>
              <a:spLocks noChangeArrowheads="1"/>
            </p:cNvSpPr>
            <p:nvPr/>
          </p:nvSpPr>
          <p:spPr bwMode="auto">
            <a:xfrm>
              <a:off x="5967600" y="2543658"/>
              <a:ext cx="4087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9" name="Rectangle 32">
              <a:extLst>
                <a:ext uri="{FF2B5EF4-FFF2-40B4-BE49-F238E27FC236}">
                  <a16:creationId xmlns:a16="http://schemas.microsoft.com/office/drawing/2014/main" id="{158D4FF4-19F5-4710-A85A-0D574908ED4D}"/>
                </a:ext>
              </a:extLst>
            </p:cNvPr>
            <p:cNvSpPr>
              <a:spLocks noChangeArrowheads="1"/>
            </p:cNvSpPr>
            <p:nvPr/>
          </p:nvSpPr>
          <p:spPr bwMode="auto">
            <a:xfrm>
              <a:off x="6476489" y="3520069"/>
              <a:ext cx="817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用户网络</a:t>
              </a:r>
              <a:r>
                <a:rPr lang="en-US" sz="2000" dirty="0">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60" name="Rectangle 36">
              <a:extLst>
                <a:ext uri="{FF2B5EF4-FFF2-40B4-BE49-F238E27FC236}">
                  <a16:creationId xmlns:a16="http://schemas.microsoft.com/office/drawing/2014/main" id="{DB39D30A-3CFD-4933-A80C-2B8AE3D44387}"/>
                </a:ext>
              </a:extLst>
            </p:cNvPr>
            <p:cNvSpPr>
              <a:spLocks noChangeArrowheads="1"/>
            </p:cNvSpPr>
            <p:nvPr/>
          </p:nvSpPr>
          <p:spPr bwMode="auto">
            <a:xfrm>
              <a:off x="6476489" y="2661298"/>
              <a:ext cx="9618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提供者网络</a:t>
              </a:r>
              <a:endParaRPr 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61" name="Freeform 40">
              <a:extLst>
                <a:ext uri="{FF2B5EF4-FFF2-40B4-BE49-F238E27FC236}">
                  <a16:creationId xmlns:a16="http://schemas.microsoft.com/office/drawing/2014/main" id="{695C0636-AC52-4FDD-8986-7ED8F533CF8B}"/>
                </a:ext>
              </a:extLst>
            </p:cNvPr>
            <p:cNvSpPr>
              <a:spLocks/>
            </p:cNvSpPr>
            <p:nvPr/>
          </p:nvSpPr>
          <p:spPr bwMode="auto">
            <a:xfrm>
              <a:off x="5531425" y="2548421"/>
              <a:ext cx="899511"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2" name="Freeform 41">
              <a:extLst>
                <a:ext uri="{FF2B5EF4-FFF2-40B4-BE49-F238E27FC236}">
                  <a16:creationId xmlns:a16="http://schemas.microsoft.com/office/drawing/2014/main" id="{97A9ADD9-300E-405B-A252-DA2D6FFDEC26}"/>
                </a:ext>
              </a:extLst>
            </p:cNvPr>
            <p:cNvSpPr>
              <a:spLocks/>
            </p:cNvSpPr>
            <p:nvPr/>
          </p:nvSpPr>
          <p:spPr bwMode="auto">
            <a:xfrm>
              <a:off x="6034704" y="3505683"/>
              <a:ext cx="348301"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63" name="Rectangle 5">
            <a:extLst>
              <a:ext uri="{FF2B5EF4-FFF2-40B4-BE49-F238E27FC236}">
                <a16:creationId xmlns:a16="http://schemas.microsoft.com/office/drawing/2014/main" id="{7D7F4520-754D-4CD9-B280-15940738A241}"/>
              </a:ext>
            </a:extLst>
          </p:cNvPr>
          <p:cNvSpPr>
            <a:spLocks noChangeArrowheads="1"/>
          </p:cNvSpPr>
          <p:nvPr/>
        </p:nvSpPr>
        <p:spPr bwMode="auto">
          <a:xfrm>
            <a:off x="838200" y="1510757"/>
            <a:ext cx="10515600" cy="1032901"/>
          </a:xfrm>
          <a:prstGeom prst="rect">
            <a:avLst/>
          </a:prstGeom>
          <a:noFill/>
          <a:ln w="9525">
            <a:noFill/>
            <a:miter lim="800000"/>
            <a:headEnd/>
            <a:tailEnd/>
          </a:ln>
        </p:spPr>
        <p:txBody>
          <a:bodyPr/>
          <a:lstStyle/>
          <a:p>
            <a:pPr marL="342900" indent="-342900">
              <a:lnSpc>
                <a:spcPct val="120000"/>
              </a:lnSpc>
              <a:spcBef>
                <a:spcPts val="600"/>
              </a:spcBef>
              <a:buFont typeface="Wingdings" pitchFamily="2" charset="2"/>
              <a:buChar char="Ø"/>
              <a:defRPr/>
            </a:pPr>
            <a:r>
              <a:rPr kumimoji="0" lang="zh-CN" altLang="en-US" sz="2800" dirty="0">
                <a:latin typeface="微软雅黑" pitchFamily="34" charset="-122"/>
                <a:ea typeface="微软雅黑" pitchFamily="34" charset="-122"/>
                <a:cs typeface="Times New Roman" panose="02020603050405020304" pitchFamily="18" charset="0"/>
              </a:rPr>
              <a:t>路由器使用策略决定接受或拒绝接收到的路由通告</a:t>
            </a:r>
            <a:endParaRPr kumimoji="0" lang="en-US" altLang="zh-CN" sz="2800" dirty="0">
              <a:latin typeface="微软雅黑" pitchFamily="34" charset="-122"/>
              <a:ea typeface="微软雅黑" pitchFamily="34" charset="-122"/>
              <a:cs typeface="Times New Roman" panose="02020603050405020304" pitchFamily="18" charset="0"/>
            </a:endParaRPr>
          </a:p>
          <a:p>
            <a:pPr marL="342900" indent="-342900">
              <a:lnSpc>
                <a:spcPct val="120000"/>
              </a:lnSpc>
              <a:spcBef>
                <a:spcPts val="600"/>
              </a:spcBef>
              <a:buFont typeface="Wingdings" pitchFamily="2" charset="2"/>
              <a:buChar char="Ø"/>
              <a:defRPr/>
            </a:pPr>
            <a:r>
              <a:rPr kumimoji="0" lang="zh-CN" altLang="en-US" sz="2800" dirty="0">
                <a:latin typeface="微软雅黑" pitchFamily="34" charset="-122"/>
                <a:ea typeface="微软雅黑" pitchFamily="34" charset="-122"/>
                <a:cs typeface="Times New Roman" panose="02020603050405020304" pitchFamily="18" charset="0"/>
              </a:rPr>
              <a:t>路由器也会基于策略决定是否向其他相邻</a:t>
            </a:r>
            <a:r>
              <a:rPr kumimoji="0" lang="en-US" altLang="zh-CN" sz="2800" dirty="0">
                <a:latin typeface="微软雅黑" pitchFamily="34" charset="-122"/>
                <a:ea typeface="微软雅黑" pitchFamily="34" charset="-122"/>
                <a:cs typeface="Times New Roman" panose="02020603050405020304" pitchFamily="18" charset="0"/>
              </a:rPr>
              <a:t>AS</a:t>
            </a:r>
            <a:r>
              <a:rPr kumimoji="0" lang="zh-CN" altLang="en-US" sz="2800" dirty="0">
                <a:latin typeface="微软雅黑" pitchFamily="34" charset="-122"/>
                <a:ea typeface="微软雅黑" pitchFamily="34" charset="-122"/>
                <a:cs typeface="Times New Roman" panose="02020603050405020304" pitchFamily="18" charset="0"/>
              </a:rPr>
              <a:t>通告路径信息</a:t>
            </a:r>
            <a:endParaRPr kumimoji="0" lang="en-US" altLang="zh-CN" sz="2800" dirty="0">
              <a:latin typeface="微软雅黑" pitchFamily="34" charset="-122"/>
              <a:ea typeface="微软雅黑" pitchFamily="34" charset="-122"/>
              <a:cs typeface="Times New Roman" panose="02020603050405020304" pitchFamily="18" charset="0"/>
            </a:endParaRPr>
          </a:p>
        </p:txBody>
      </p:sp>
      <p:sp>
        <p:nvSpPr>
          <p:cNvPr id="3" name="日期占位符 2"/>
          <p:cNvSpPr>
            <a:spLocks noGrp="1"/>
          </p:cNvSpPr>
          <p:nvPr>
            <p:ph type="dt" sz="half" idx="10"/>
          </p:nvPr>
        </p:nvSpPr>
        <p:spPr>
          <a:xfrm>
            <a:off x="197335" y="6489303"/>
            <a:ext cx="2825734" cy="365125"/>
          </a:xfrm>
        </p:spPr>
        <p:txBody>
          <a:bodyPr/>
          <a:lstStyle/>
          <a:p>
            <a:r>
              <a:rPr kumimoji="1" lang="en-US" altLang="zh-CN" dirty="0"/>
              <a:t>5.7.3 BGP-</a:t>
            </a:r>
            <a:r>
              <a:rPr kumimoji="1" lang="zh-CN" altLang="en-US" dirty="0"/>
              <a:t>外部网关路由协议</a:t>
            </a:r>
          </a:p>
        </p:txBody>
      </p:sp>
    </p:spTree>
    <p:extLst>
      <p:ext uri="{BB962C8B-B14F-4D97-AF65-F5344CB8AC3E}">
        <p14:creationId xmlns:p14="http://schemas.microsoft.com/office/powerpoint/2010/main" val="3240443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63"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itchFamily="2" charset="-122"/>
              </a:rPr>
              <a:t>BGP</a:t>
            </a:r>
            <a:r>
              <a:rPr lang="zh-CN" altLang="en-US" dirty="0">
                <a:latin typeface="微软雅黑" pitchFamily="34" charset="-122"/>
                <a:ea typeface="微软雅黑" pitchFamily="34" charset="-122"/>
              </a:rPr>
              <a:t>路由策略</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184</a:t>
            </a:fld>
            <a:endParaRPr kumimoji="1" lang="zh-CN" altLang="en-US" dirty="0"/>
          </a:p>
        </p:txBody>
      </p:sp>
      <p:sp>
        <p:nvSpPr>
          <p:cNvPr id="6" name="Rectangle 5">
            <a:extLst>
              <a:ext uri="{FF2B5EF4-FFF2-40B4-BE49-F238E27FC236}">
                <a16:creationId xmlns:a16="http://schemas.microsoft.com/office/drawing/2014/main" id="{07DCA248-AD2D-44A0-9FCA-C03A0D9743DC}"/>
              </a:ext>
            </a:extLst>
          </p:cNvPr>
          <p:cNvSpPr>
            <a:spLocks noChangeArrowheads="1"/>
          </p:cNvSpPr>
          <p:nvPr/>
        </p:nvSpPr>
        <p:spPr bwMode="auto">
          <a:xfrm>
            <a:off x="838199" y="3466876"/>
            <a:ext cx="10506733" cy="2742538"/>
          </a:xfrm>
          <a:prstGeom prst="rect">
            <a:avLst/>
          </a:prstGeom>
          <a:noFill/>
          <a:ln w="9525">
            <a:noFill/>
            <a:miter lim="800000"/>
            <a:headEnd/>
            <a:tailEnd/>
          </a:ln>
        </p:spPr>
        <p:txBody>
          <a:bodyPr/>
          <a:lstStyle/>
          <a:p>
            <a:pPr marL="342900" indent="-342900">
              <a:lnSpc>
                <a:spcPct val="120000"/>
              </a:lnSpc>
              <a:spcBef>
                <a:spcPts val="600"/>
              </a:spcBef>
              <a:buFont typeface="Wingdings" pitchFamily="2" charset="2"/>
              <a:buChar char="Ø"/>
              <a:defRPr/>
            </a:pPr>
            <a:r>
              <a:rPr lang="en-US" altLang="zh-CN" sz="2800" dirty="0">
                <a:latin typeface="微软雅黑" pitchFamily="34" charset="-122"/>
                <a:ea typeface="微软雅黑" pitchFamily="34" charset="-122"/>
                <a:cs typeface="Times New Roman" panose="02020603050405020304" pitchFamily="18" charset="0"/>
              </a:rPr>
              <a:t>A</a:t>
            </a:r>
            <a:r>
              <a:rPr lang="zh-CN" altLang="en-US" sz="2800" dirty="0">
                <a:latin typeface="微软雅黑" pitchFamily="34" charset="-122"/>
                <a:ea typeface="微软雅黑" pitchFamily="34" charset="-122"/>
                <a:cs typeface="Times New Roman" panose="02020603050405020304" pitchFamily="18" charset="0"/>
              </a:rPr>
              <a:t>向</a:t>
            </a:r>
            <a:r>
              <a:rPr lang="en-US" altLang="zh-CN" sz="2800" dirty="0">
                <a:latin typeface="微软雅黑" pitchFamily="34" charset="-122"/>
                <a:ea typeface="微软雅黑" pitchFamily="34" charset="-122"/>
                <a:cs typeface="Times New Roman" panose="02020603050405020304" pitchFamily="18" charset="0"/>
              </a:rPr>
              <a:t>B</a:t>
            </a:r>
            <a:r>
              <a:rPr lang="zh-CN" altLang="en-US" sz="2800" dirty="0">
                <a:latin typeface="微软雅黑" pitchFamily="34" charset="-122"/>
                <a:ea typeface="微软雅黑" pitchFamily="34" charset="-122"/>
                <a:cs typeface="Times New Roman" panose="02020603050405020304" pitchFamily="18" charset="0"/>
              </a:rPr>
              <a:t>通告路径</a:t>
            </a:r>
            <a:r>
              <a:rPr lang="en-US" altLang="zh-CN" sz="2800" i="1" dirty="0">
                <a:latin typeface="微软雅黑" pitchFamily="34" charset="-122"/>
                <a:ea typeface="微软雅黑" pitchFamily="34" charset="-122"/>
                <a:cs typeface="Times New Roman" panose="02020603050405020304" pitchFamily="18" charset="0"/>
              </a:rPr>
              <a:t>AW</a:t>
            </a:r>
          </a:p>
          <a:p>
            <a:pPr marL="342900" indent="-342900">
              <a:lnSpc>
                <a:spcPct val="120000"/>
              </a:lnSpc>
              <a:spcBef>
                <a:spcPts val="600"/>
              </a:spcBef>
              <a:buFont typeface="Wingdings" pitchFamily="2" charset="2"/>
              <a:buChar char="Ø"/>
              <a:defRPr/>
            </a:pPr>
            <a:r>
              <a:rPr lang="en-US" altLang="zh-CN" sz="2800" dirty="0">
                <a:latin typeface="微软雅黑" pitchFamily="34" charset="-122"/>
                <a:ea typeface="微软雅黑" pitchFamily="34" charset="-122"/>
                <a:cs typeface="Times New Roman" panose="02020603050405020304" pitchFamily="18" charset="0"/>
              </a:rPr>
              <a:t>B</a:t>
            </a:r>
            <a:r>
              <a:rPr lang="zh-CN" altLang="en-US" sz="2800" dirty="0">
                <a:latin typeface="微软雅黑" pitchFamily="34" charset="-122"/>
                <a:ea typeface="微软雅黑" pitchFamily="34" charset="-122"/>
                <a:cs typeface="Times New Roman" panose="02020603050405020304" pitchFamily="18" charset="0"/>
              </a:rPr>
              <a:t>通告到目的</a:t>
            </a:r>
            <a:r>
              <a:rPr lang="en-US" altLang="zh-CN" sz="2800" dirty="0">
                <a:latin typeface="微软雅黑" pitchFamily="34" charset="-122"/>
                <a:ea typeface="微软雅黑" pitchFamily="34" charset="-122"/>
                <a:cs typeface="Times New Roman" panose="02020603050405020304" pitchFamily="18" charset="0"/>
              </a:rPr>
              <a:t>W</a:t>
            </a:r>
            <a:r>
              <a:rPr lang="zh-CN" altLang="en-US" sz="2800" dirty="0">
                <a:latin typeface="微软雅黑" pitchFamily="34" charset="-122"/>
                <a:ea typeface="微软雅黑" pitchFamily="34" charset="-122"/>
                <a:cs typeface="Times New Roman" panose="02020603050405020304" pitchFamily="18" charset="0"/>
              </a:rPr>
              <a:t>的路径为</a:t>
            </a:r>
            <a:r>
              <a:rPr lang="en-US" altLang="zh-CN" sz="2800" i="1" dirty="0">
                <a:latin typeface="微软雅黑" pitchFamily="34" charset="-122"/>
                <a:ea typeface="微软雅黑" pitchFamily="34" charset="-122"/>
                <a:cs typeface="Times New Roman" panose="02020603050405020304" pitchFamily="18" charset="0"/>
              </a:rPr>
              <a:t>BAW</a:t>
            </a:r>
          </a:p>
          <a:p>
            <a:pPr marL="342900" indent="-342900">
              <a:lnSpc>
                <a:spcPct val="120000"/>
              </a:lnSpc>
              <a:spcBef>
                <a:spcPts val="600"/>
              </a:spcBef>
              <a:buFont typeface="Wingdings" pitchFamily="2" charset="2"/>
              <a:buChar char="Ø"/>
              <a:defRPr/>
            </a:pPr>
            <a:r>
              <a:rPr lang="en-US" altLang="zh-CN" sz="2800" dirty="0">
                <a:latin typeface="微软雅黑" pitchFamily="34" charset="-122"/>
                <a:ea typeface="微软雅黑" pitchFamily="34" charset="-122"/>
                <a:cs typeface="Times New Roman" panose="02020603050405020304" pitchFamily="18" charset="0"/>
              </a:rPr>
              <a:t>B</a:t>
            </a:r>
            <a:r>
              <a:rPr lang="zh-CN" altLang="en-US" sz="2800" dirty="0">
                <a:latin typeface="微软雅黑" pitchFamily="34" charset="-122"/>
                <a:ea typeface="微软雅黑" pitchFamily="34" charset="-122"/>
                <a:cs typeface="Times New Roman" panose="02020603050405020304" pitchFamily="18" charset="0"/>
              </a:rPr>
              <a:t>是否向</a:t>
            </a:r>
            <a:r>
              <a:rPr lang="en-US" altLang="zh-CN" sz="2800" dirty="0">
                <a:latin typeface="微软雅黑" pitchFamily="34" charset="-122"/>
                <a:ea typeface="微软雅黑" pitchFamily="34" charset="-122"/>
                <a:cs typeface="Times New Roman" panose="02020603050405020304" pitchFamily="18" charset="0"/>
              </a:rPr>
              <a:t>C</a:t>
            </a:r>
            <a:r>
              <a:rPr lang="zh-CN" altLang="en-US" sz="2800" dirty="0">
                <a:latin typeface="微软雅黑" pitchFamily="34" charset="-122"/>
                <a:ea typeface="微软雅黑" pitchFamily="34" charset="-122"/>
                <a:cs typeface="Times New Roman" panose="02020603050405020304" pitchFamily="18" charset="0"/>
              </a:rPr>
              <a:t>通告路径</a:t>
            </a:r>
            <a:r>
              <a:rPr lang="en-US" altLang="zh-CN" sz="2800" i="1" dirty="0">
                <a:latin typeface="微软雅黑" pitchFamily="34" charset="-122"/>
                <a:ea typeface="微软雅黑" pitchFamily="34" charset="-122"/>
                <a:cs typeface="Times New Roman" panose="02020603050405020304" pitchFamily="18" charset="0"/>
              </a:rPr>
              <a:t>BAW</a:t>
            </a:r>
            <a:r>
              <a:rPr lang="en-US" altLang="zh-CN" sz="2800" dirty="0">
                <a:latin typeface="微软雅黑" pitchFamily="34" charset="-122"/>
                <a:ea typeface="微软雅黑" pitchFamily="34" charset="-122"/>
                <a:cs typeface="Times New Roman" panose="02020603050405020304" pitchFamily="18" charset="0"/>
              </a:rPr>
              <a:t> ?</a:t>
            </a:r>
          </a:p>
          <a:p>
            <a:pPr marL="800100" lvl="1" indent="-342900">
              <a:lnSpc>
                <a:spcPct val="120000"/>
              </a:lnSpc>
              <a:spcBef>
                <a:spcPts val="600"/>
              </a:spcBef>
              <a:buFont typeface="Arial" pitchFamily="34" charset="0"/>
              <a:buChar char="•"/>
              <a:defRPr/>
            </a:pPr>
            <a:r>
              <a:rPr lang="zh-CN" altLang="en-US" sz="2400" dirty="0">
                <a:latin typeface="微软雅黑" pitchFamily="34" charset="-122"/>
                <a:ea typeface="微软雅黑" pitchFamily="34" charset="-122"/>
                <a:cs typeface="Times New Roman" panose="02020603050405020304" pitchFamily="18" charset="0"/>
              </a:rPr>
              <a:t>由于</a:t>
            </a:r>
            <a:r>
              <a:rPr lang="en-US" altLang="zh-CN" sz="2400" dirty="0">
                <a:solidFill>
                  <a:srgbClr val="C00000"/>
                </a:solidFill>
                <a:latin typeface="微软雅黑" pitchFamily="34" charset="-122"/>
                <a:ea typeface="微软雅黑" pitchFamily="34" charset="-122"/>
                <a:cs typeface="Times New Roman" panose="02020603050405020304" pitchFamily="18" charset="0"/>
              </a:rPr>
              <a:t>W</a:t>
            </a:r>
            <a:r>
              <a:rPr lang="zh-CN" altLang="en-US" sz="2400" dirty="0">
                <a:latin typeface="微软雅黑" pitchFamily="34" charset="-122"/>
                <a:ea typeface="微软雅黑" pitchFamily="34" charset="-122"/>
                <a:cs typeface="Times New Roman" panose="02020603050405020304" pitchFamily="18" charset="0"/>
              </a:rPr>
              <a:t>和</a:t>
            </a:r>
            <a:r>
              <a:rPr lang="en-US" altLang="zh-CN" sz="2400" dirty="0">
                <a:solidFill>
                  <a:srgbClr val="C00000"/>
                </a:solidFill>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都不是</a:t>
            </a:r>
            <a:r>
              <a:rPr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的用户，</a:t>
            </a:r>
            <a:r>
              <a:rPr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要迫使</a:t>
            </a:r>
            <a:r>
              <a:rPr lang="en-US" altLang="zh-CN" sz="2400" dirty="0">
                <a:solidFill>
                  <a:srgbClr val="C00000"/>
                </a:solidFill>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通过</a:t>
            </a:r>
            <a:r>
              <a:rPr lang="en-US" altLang="zh-CN" sz="2400" dirty="0">
                <a:solidFill>
                  <a:srgbClr val="C00000"/>
                </a:solidFill>
                <a:latin typeface="微软雅黑" pitchFamily="34" charset="-122"/>
                <a:ea typeface="微软雅黑" pitchFamily="34" charset="-122"/>
                <a:cs typeface="Times New Roman" panose="02020603050405020304" pitchFamily="18" charset="0"/>
              </a:rPr>
              <a:t>A</a:t>
            </a:r>
            <a:r>
              <a:rPr lang="zh-CN" altLang="en-US" sz="2400" dirty="0">
                <a:latin typeface="微软雅黑" pitchFamily="34" charset="-122"/>
                <a:ea typeface="微软雅黑" pitchFamily="34" charset="-122"/>
                <a:cs typeface="Times New Roman" panose="02020603050405020304" pitchFamily="18" charset="0"/>
              </a:rPr>
              <a:t>路由到</a:t>
            </a:r>
            <a:r>
              <a:rPr lang="en-US" altLang="zh-CN" sz="2400" dirty="0">
                <a:solidFill>
                  <a:srgbClr val="C00000"/>
                </a:solidFill>
                <a:latin typeface="微软雅黑" pitchFamily="34" charset="-122"/>
                <a:ea typeface="微软雅黑" pitchFamily="34" charset="-122"/>
                <a:cs typeface="Times New Roman" panose="02020603050405020304" pitchFamily="18" charset="0"/>
              </a:rPr>
              <a:t>W</a:t>
            </a:r>
          </a:p>
          <a:p>
            <a:pPr marL="800100" lvl="1" indent="-342900">
              <a:lnSpc>
                <a:spcPct val="120000"/>
              </a:lnSpc>
              <a:spcBef>
                <a:spcPts val="600"/>
              </a:spcBef>
              <a:buFont typeface="Arial" pitchFamily="34" charset="0"/>
              <a:buChar char="•"/>
              <a:defRPr/>
            </a:pPr>
            <a:r>
              <a:rPr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只路由来自于或到达其用户的数据包</a:t>
            </a:r>
            <a:endParaRPr lang="en-US" altLang="zh-CN" sz="2400" dirty="0">
              <a:latin typeface="微软雅黑" pitchFamily="34" charset="-122"/>
              <a:ea typeface="微软雅黑" pitchFamily="34" charset="-122"/>
              <a:cs typeface="Times New Roman" panose="02020603050405020304" pitchFamily="18" charset="0"/>
            </a:endParaRPr>
          </a:p>
        </p:txBody>
      </p:sp>
      <p:grpSp>
        <p:nvGrpSpPr>
          <p:cNvPr id="8" name="组合 7">
            <a:extLst>
              <a:ext uri="{FF2B5EF4-FFF2-40B4-BE49-F238E27FC236}">
                <a16:creationId xmlns:a16="http://schemas.microsoft.com/office/drawing/2014/main" id="{E13B42FE-2F0F-4C50-B487-D413DDC57958}"/>
              </a:ext>
            </a:extLst>
          </p:cNvPr>
          <p:cNvGrpSpPr/>
          <p:nvPr/>
        </p:nvGrpSpPr>
        <p:grpSpPr>
          <a:xfrm>
            <a:off x="1469400" y="1629260"/>
            <a:ext cx="8575441" cy="1845548"/>
            <a:chOff x="1006710" y="2543658"/>
            <a:chExt cx="6431581" cy="2009775"/>
          </a:xfrm>
        </p:grpSpPr>
        <p:sp>
          <p:nvSpPr>
            <p:cNvPr id="9" name="Freeform 7">
              <a:extLst>
                <a:ext uri="{FF2B5EF4-FFF2-40B4-BE49-F238E27FC236}">
                  <a16:creationId xmlns:a16="http://schemas.microsoft.com/office/drawing/2014/main" id="{52C29464-8272-4FF1-AFFC-F1EB31E1CCC8}"/>
                </a:ext>
              </a:extLst>
            </p:cNvPr>
            <p:cNvSpPr>
              <a:spLocks/>
            </p:cNvSpPr>
            <p:nvPr/>
          </p:nvSpPr>
          <p:spPr bwMode="auto">
            <a:xfrm>
              <a:off x="2858456" y="2634146"/>
              <a:ext cx="899511" cy="577850"/>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 name="Freeform 8">
              <a:extLst>
                <a:ext uri="{FF2B5EF4-FFF2-40B4-BE49-F238E27FC236}">
                  <a16:creationId xmlns:a16="http://schemas.microsoft.com/office/drawing/2014/main" id="{EEDA5B69-83AC-4717-A06D-3523A0C055D9}"/>
                </a:ext>
              </a:extLst>
            </p:cNvPr>
            <p:cNvSpPr>
              <a:spLocks/>
            </p:cNvSpPr>
            <p:nvPr/>
          </p:nvSpPr>
          <p:spPr bwMode="auto">
            <a:xfrm>
              <a:off x="1818346" y="3165958"/>
              <a:ext cx="897913"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 name="Rectangle 9">
              <a:extLst>
                <a:ext uri="{FF2B5EF4-FFF2-40B4-BE49-F238E27FC236}">
                  <a16:creationId xmlns:a16="http://schemas.microsoft.com/office/drawing/2014/main" id="{AC9D0587-5ED6-45C2-A805-4DE2E711DD95}"/>
                </a:ext>
              </a:extLst>
            </p:cNvPr>
            <p:cNvSpPr>
              <a:spLocks noChangeArrowheads="1"/>
            </p:cNvSpPr>
            <p:nvPr/>
          </p:nvSpPr>
          <p:spPr bwMode="auto">
            <a:xfrm flipH="1">
              <a:off x="2190613" y="3316771"/>
              <a:ext cx="118231"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r>
                <a:rPr lang="en-US" b="1">
                  <a:latin typeface="Times New Roman" panose="02020603050405020304" pitchFamily="18" charset="0"/>
                  <a:ea typeface="宋体" panose="02010600030101010101" pitchFamily="2" charset="-122"/>
                  <a:cs typeface="Times New Roman" panose="02020603050405020304" pitchFamily="18" charset="0"/>
                </a:rPr>
                <a:t>A</a:t>
              </a:r>
            </a:p>
          </p:txBody>
        </p:sp>
        <p:sp>
          <p:nvSpPr>
            <p:cNvPr id="12" name="Rectangle 10">
              <a:extLst>
                <a:ext uri="{FF2B5EF4-FFF2-40B4-BE49-F238E27FC236}">
                  <a16:creationId xmlns:a16="http://schemas.microsoft.com/office/drawing/2014/main" id="{F41A33C2-A2B4-4BB7-81AD-14C3195AC30D}"/>
                </a:ext>
              </a:extLst>
            </p:cNvPr>
            <p:cNvSpPr>
              <a:spLocks noChangeArrowheads="1"/>
            </p:cNvSpPr>
            <p:nvPr/>
          </p:nvSpPr>
          <p:spPr bwMode="auto">
            <a:xfrm>
              <a:off x="3281849" y="2796071"/>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B</a:t>
              </a:r>
            </a:p>
          </p:txBody>
        </p:sp>
        <p:sp>
          <p:nvSpPr>
            <p:cNvPr id="13" name="Freeform 11">
              <a:extLst>
                <a:ext uri="{FF2B5EF4-FFF2-40B4-BE49-F238E27FC236}">
                  <a16:creationId xmlns:a16="http://schemas.microsoft.com/office/drawing/2014/main" id="{A6CD5621-70FA-4A32-98F5-C600ABD446A3}"/>
                </a:ext>
              </a:extLst>
            </p:cNvPr>
            <p:cNvSpPr>
              <a:spLocks/>
            </p:cNvSpPr>
            <p:nvPr/>
          </p:nvSpPr>
          <p:spPr bwMode="auto">
            <a:xfrm>
              <a:off x="2919169" y="3629508"/>
              <a:ext cx="902706" cy="574675"/>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4" name="Rectangle 12">
              <a:extLst>
                <a:ext uri="{FF2B5EF4-FFF2-40B4-BE49-F238E27FC236}">
                  <a16:creationId xmlns:a16="http://schemas.microsoft.com/office/drawing/2014/main" id="{78276079-60C2-49CA-ADFD-06A35E21F6A5}"/>
                </a:ext>
              </a:extLst>
            </p:cNvPr>
            <p:cNvSpPr>
              <a:spLocks noChangeArrowheads="1"/>
            </p:cNvSpPr>
            <p:nvPr/>
          </p:nvSpPr>
          <p:spPr bwMode="auto">
            <a:xfrm>
              <a:off x="3328183" y="3748571"/>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C</a:t>
              </a:r>
            </a:p>
          </p:txBody>
        </p:sp>
        <p:sp>
          <p:nvSpPr>
            <p:cNvPr id="15" name="Rectangle 13">
              <a:extLst>
                <a:ext uri="{FF2B5EF4-FFF2-40B4-BE49-F238E27FC236}">
                  <a16:creationId xmlns:a16="http://schemas.microsoft.com/office/drawing/2014/main" id="{D567829E-D641-4922-A84A-F6CA78E5279F}"/>
                </a:ext>
              </a:extLst>
            </p:cNvPr>
            <p:cNvSpPr>
              <a:spLocks noChangeArrowheads="1"/>
            </p:cNvSpPr>
            <p:nvPr/>
          </p:nvSpPr>
          <p:spPr bwMode="auto">
            <a:xfrm>
              <a:off x="3435229" y="3748571"/>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dirty="0">
                  <a:latin typeface="Times New Roman" panose="02020603050405020304" pitchFamily="18" charset="0"/>
                  <a:ea typeface="宋体" panose="02010600030101010101" pitchFamily="2" charset="-122"/>
                  <a:cs typeface="Times New Roman" panose="02020603050405020304" pitchFamily="18" charset="0"/>
                </a:rPr>
                <a:t> </a:t>
              </a:r>
              <a:endParaRPr lang="en-US"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6" name="Freeform 14">
              <a:extLst>
                <a:ext uri="{FF2B5EF4-FFF2-40B4-BE49-F238E27FC236}">
                  <a16:creationId xmlns:a16="http://schemas.microsoft.com/office/drawing/2014/main" id="{A9F56B8D-130E-49B4-8610-0D7DBEFEC82B}"/>
                </a:ext>
              </a:extLst>
            </p:cNvPr>
            <p:cNvSpPr>
              <a:spLocks/>
            </p:cNvSpPr>
            <p:nvPr/>
          </p:nvSpPr>
          <p:spPr bwMode="auto">
            <a:xfrm>
              <a:off x="1006710" y="3237396"/>
              <a:ext cx="348301"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7" name="Rectangle 15">
              <a:extLst>
                <a:ext uri="{FF2B5EF4-FFF2-40B4-BE49-F238E27FC236}">
                  <a16:creationId xmlns:a16="http://schemas.microsoft.com/office/drawing/2014/main" id="{916E7FF7-2EF0-463C-8288-B76B3257DA09}"/>
                </a:ext>
              </a:extLst>
            </p:cNvPr>
            <p:cNvSpPr>
              <a:spLocks noChangeArrowheads="1"/>
            </p:cNvSpPr>
            <p:nvPr/>
          </p:nvSpPr>
          <p:spPr bwMode="auto">
            <a:xfrm>
              <a:off x="1086595" y="3305658"/>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a:latin typeface="Times New Roman" panose="02020603050405020304" pitchFamily="18" charset="0"/>
                  <a:ea typeface="宋体" panose="02010600030101010101" pitchFamily="2" charset="-122"/>
                  <a:cs typeface="Times New Roman" panose="02020603050405020304" pitchFamily="18" charset="0"/>
                </a:rPr>
                <a:t>W</a:t>
              </a:r>
            </a:p>
          </p:txBody>
        </p:sp>
        <p:sp>
          <p:nvSpPr>
            <p:cNvPr id="18" name="Rectangle 16">
              <a:extLst>
                <a:ext uri="{FF2B5EF4-FFF2-40B4-BE49-F238E27FC236}">
                  <a16:creationId xmlns:a16="http://schemas.microsoft.com/office/drawing/2014/main" id="{B05D6E58-9B2A-4A6D-9D5D-48CA509A408F}"/>
                </a:ext>
              </a:extLst>
            </p:cNvPr>
            <p:cNvSpPr>
              <a:spLocks noChangeArrowheads="1"/>
            </p:cNvSpPr>
            <p:nvPr/>
          </p:nvSpPr>
          <p:spPr bwMode="auto">
            <a:xfrm>
              <a:off x="1284711" y="3277083"/>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9" name="Freeform 17">
              <a:extLst>
                <a:ext uri="{FF2B5EF4-FFF2-40B4-BE49-F238E27FC236}">
                  <a16:creationId xmlns:a16="http://schemas.microsoft.com/office/drawing/2014/main" id="{E2053CE5-3F88-4538-8F14-3EEBB49488BE}"/>
                </a:ext>
              </a:extLst>
            </p:cNvPr>
            <p:cNvSpPr>
              <a:spLocks/>
            </p:cNvSpPr>
            <p:nvPr/>
          </p:nvSpPr>
          <p:spPr bwMode="auto">
            <a:xfrm>
              <a:off x="4427407" y="3054833"/>
              <a:ext cx="348301" cy="336550"/>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0" name="Rectangle 18">
              <a:extLst>
                <a:ext uri="{FF2B5EF4-FFF2-40B4-BE49-F238E27FC236}">
                  <a16:creationId xmlns:a16="http://schemas.microsoft.com/office/drawing/2014/main" id="{13A4983F-E21E-4FA2-AC93-49DE831F7F24}"/>
                </a:ext>
              </a:extLst>
            </p:cNvPr>
            <p:cNvSpPr>
              <a:spLocks noChangeArrowheads="1"/>
            </p:cNvSpPr>
            <p:nvPr/>
          </p:nvSpPr>
          <p:spPr bwMode="auto">
            <a:xfrm>
              <a:off x="4522811" y="308683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21" name="Freeform 19">
              <a:extLst>
                <a:ext uri="{FF2B5EF4-FFF2-40B4-BE49-F238E27FC236}">
                  <a16:creationId xmlns:a16="http://schemas.microsoft.com/office/drawing/2014/main" id="{71A31049-0FE0-4D07-A848-CAE7148AF38F}"/>
                </a:ext>
              </a:extLst>
            </p:cNvPr>
            <p:cNvSpPr>
              <a:spLocks/>
            </p:cNvSpPr>
            <p:nvPr/>
          </p:nvSpPr>
          <p:spPr bwMode="auto">
            <a:xfrm>
              <a:off x="4419419" y="4216883"/>
              <a:ext cx="348301" cy="336550"/>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2" name="Rectangle 20">
              <a:extLst>
                <a:ext uri="{FF2B5EF4-FFF2-40B4-BE49-F238E27FC236}">
                  <a16:creationId xmlns:a16="http://schemas.microsoft.com/office/drawing/2014/main" id="{EFEA6412-F467-4A52-B431-9543B683C3EC}"/>
                </a:ext>
              </a:extLst>
            </p:cNvPr>
            <p:cNvSpPr>
              <a:spLocks noChangeArrowheads="1"/>
            </p:cNvSpPr>
            <p:nvPr/>
          </p:nvSpPr>
          <p:spPr bwMode="auto">
            <a:xfrm>
              <a:off x="4515979" y="426609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Y</a:t>
              </a:r>
            </a:p>
          </p:txBody>
        </p:sp>
        <p:sp>
          <p:nvSpPr>
            <p:cNvPr id="23" name="Line 21">
              <a:extLst>
                <a:ext uri="{FF2B5EF4-FFF2-40B4-BE49-F238E27FC236}">
                  <a16:creationId xmlns:a16="http://schemas.microsoft.com/office/drawing/2014/main" id="{4CD860E4-BFC6-4054-B067-AE964D0CD397}"/>
                </a:ext>
              </a:extLst>
            </p:cNvPr>
            <p:cNvSpPr>
              <a:spLocks noChangeShapeType="1"/>
            </p:cNvSpPr>
            <p:nvPr/>
          </p:nvSpPr>
          <p:spPr bwMode="auto">
            <a:xfrm>
              <a:off x="1375781" y="3416783"/>
              <a:ext cx="447359"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4" name="Line 22">
              <a:extLst>
                <a:ext uri="{FF2B5EF4-FFF2-40B4-BE49-F238E27FC236}">
                  <a16:creationId xmlns:a16="http://schemas.microsoft.com/office/drawing/2014/main" id="{D7B2ED8D-8E7A-4F13-B9E6-D37519D2C770}"/>
                </a:ext>
              </a:extLst>
            </p:cNvPr>
            <p:cNvSpPr>
              <a:spLocks noChangeShapeType="1"/>
            </p:cNvSpPr>
            <p:nvPr/>
          </p:nvSpPr>
          <p:spPr bwMode="auto">
            <a:xfrm>
              <a:off x="3757967" y="2927833"/>
              <a:ext cx="669441" cy="2762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5" name="Line 23">
              <a:extLst>
                <a:ext uri="{FF2B5EF4-FFF2-40B4-BE49-F238E27FC236}">
                  <a16:creationId xmlns:a16="http://schemas.microsoft.com/office/drawing/2014/main" id="{C8D20C2F-0C76-4021-8B30-33C9EDC98627}"/>
                </a:ext>
              </a:extLst>
            </p:cNvPr>
            <p:cNvSpPr>
              <a:spLocks noChangeShapeType="1"/>
            </p:cNvSpPr>
            <p:nvPr/>
          </p:nvSpPr>
          <p:spPr bwMode="auto">
            <a:xfrm flipV="1">
              <a:off x="3801105" y="3310421"/>
              <a:ext cx="674234" cy="5667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6" name="Line 24">
              <a:extLst>
                <a:ext uri="{FF2B5EF4-FFF2-40B4-BE49-F238E27FC236}">
                  <a16:creationId xmlns:a16="http://schemas.microsoft.com/office/drawing/2014/main" id="{0C9799D2-913B-4528-8BA9-BB68F50B3323}"/>
                </a:ext>
              </a:extLst>
            </p:cNvPr>
            <p:cNvSpPr>
              <a:spLocks noChangeShapeType="1"/>
            </p:cNvSpPr>
            <p:nvPr/>
          </p:nvSpPr>
          <p:spPr bwMode="auto">
            <a:xfrm>
              <a:off x="3809093" y="4008921"/>
              <a:ext cx="618314" cy="3190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7" name="Line 25">
              <a:extLst>
                <a:ext uri="{FF2B5EF4-FFF2-40B4-BE49-F238E27FC236}">
                  <a16:creationId xmlns:a16="http://schemas.microsoft.com/office/drawing/2014/main" id="{246DD4A8-8CE2-416C-B045-AF23F8ABEA94}"/>
                </a:ext>
              </a:extLst>
            </p:cNvPr>
            <p:cNvSpPr>
              <a:spLocks noChangeShapeType="1"/>
            </p:cNvSpPr>
            <p:nvPr/>
          </p:nvSpPr>
          <p:spPr bwMode="auto">
            <a:xfrm flipV="1">
              <a:off x="2665133" y="3067533"/>
              <a:ext cx="292381" cy="2349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8" name="Line 26">
              <a:extLst>
                <a:ext uri="{FF2B5EF4-FFF2-40B4-BE49-F238E27FC236}">
                  <a16:creationId xmlns:a16="http://schemas.microsoft.com/office/drawing/2014/main" id="{83A9DA2A-47CC-496D-96F0-7AE456060392}"/>
                </a:ext>
              </a:extLst>
            </p:cNvPr>
            <p:cNvSpPr>
              <a:spLocks noChangeShapeType="1"/>
            </p:cNvSpPr>
            <p:nvPr/>
          </p:nvSpPr>
          <p:spPr bwMode="auto">
            <a:xfrm flipV="1">
              <a:off x="3542276" y="3196121"/>
              <a:ext cx="1598" cy="4254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9" name="Line 27">
              <a:extLst>
                <a:ext uri="{FF2B5EF4-FFF2-40B4-BE49-F238E27FC236}">
                  <a16:creationId xmlns:a16="http://schemas.microsoft.com/office/drawing/2014/main" id="{0C1EA602-7CD8-458E-8231-E6EF17BAC2A3}"/>
                </a:ext>
              </a:extLst>
            </p:cNvPr>
            <p:cNvSpPr>
              <a:spLocks noChangeShapeType="1"/>
            </p:cNvSpPr>
            <p:nvPr/>
          </p:nvSpPr>
          <p:spPr bwMode="auto">
            <a:xfrm>
              <a:off x="2690696" y="3621571"/>
              <a:ext cx="266818" cy="16510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0" name="Rectangle 30">
              <a:extLst>
                <a:ext uri="{FF2B5EF4-FFF2-40B4-BE49-F238E27FC236}">
                  <a16:creationId xmlns:a16="http://schemas.microsoft.com/office/drawing/2014/main" id="{310E497D-2430-407F-B2AC-07AB0D778213}"/>
                </a:ext>
              </a:extLst>
            </p:cNvPr>
            <p:cNvSpPr>
              <a:spLocks noChangeArrowheads="1"/>
            </p:cNvSpPr>
            <p:nvPr/>
          </p:nvSpPr>
          <p:spPr bwMode="auto">
            <a:xfrm>
              <a:off x="5967600" y="2543658"/>
              <a:ext cx="4087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1" name="Rectangle 32">
              <a:extLst>
                <a:ext uri="{FF2B5EF4-FFF2-40B4-BE49-F238E27FC236}">
                  <a16:creationId xmlns:a16="http://schemas.microsoft.com/office/drawing/2014/main" id="{158D4FF4-19F5-4710-A85A-0D574908ED4D}"/>
                </a:ext>
              </a:extLst>
            </p:cNvPr>
            <p:cNvSpPr>
              <a:spLocks noChangeArrowheads="1"/>
            </p:cNvSpPr>
            <p:nvPr/>
          </p:nvSpPr>
          <p:spPr bwMode="auto">
            <a:xfrm>
              <a:off x="6476489" y="3520069"/>
              <a:ext cx="817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用户网络</a:t>
              </a:r>
              <a:r>
                <a:rPr lang="en-US" sz="2000" dirty="0">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32" name="Rectangle 36">
              <a:extLst>
                <a:ext uri="{FF2B5EF4-FFF2-40B4-BE49-F238E27FC236}">
                  <a16:creationId xmlns:a16="http://schemas.microsoft.com/office/drawing/2014/main" id="{DB39D30A-3CFD-4933-A80C-2B8AE3D44387}"/>
                </a:ext>
              </a:extLst>
            </p:cNvPr>
            <p:cNvSpPr>
              <a:spLocks noChangeArrowheads="1"/>
            </p:cNvSpPr>
            <p:nvPr/>
          </p:nvSpPr>
          <p:spPr bwMode="auto">
            <a:xfrm>
              <a:off x="6476489" y="2661298"/>
              <a:ext cx="9618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提供者网络</a:t>
              </a:r>
              <a:endParaRPr 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33" name="Freeform 40">
              <a:extLst>
                <a:ext uri="{FF2B5EF4-FFF2-40B4-BE49-F238E27FC236}">
                  <a16:creationId xmlns:a16="http://schemas.microsoft.com/office/drawing/2014/main" id="{695C0636-AC52-4FDD-8986-7ED8F533CF8B}"/>
                </a:ext>
              </a:extLst>
            </p:cNvPr>
            <p:cNvSpPr>
              <a:spLocks/>
            </p:cNvSpPr>
            <p:nvPr/>
          </p:nvSpPr>
          <p:spPr bwMode="auto">
            <a:xfrm>
              <a:off x="5531425" y="2548421"/>
              <a:ext cx="899511"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4" name="Freeform 41">
              <a:extLst>
                <a:ext uri="{FF2B5EF4-FFF2-40B4-BE49-F238E27FC236}">
                  <a16:creationId xmlns:a16="http://schemas.microsoft.com/office/drawing/2014/main" id="{97A9ADD9-300E-405B-A252-DA2D6FFDEC26}"/>
                </a:ext>
              </a:extLst>
            </p:cNvPr>
            <p:cNvSpPr>
              <a:spLocks/>
            </p:cNvSpPr>
            <p:nvPr/>
          </p:nvSpPr>
          <p:spPr bwMode="auto">
            <a:xfrm>
              <a:off x="6034704" y="3505683"/>
              <a:ext cx="348301"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3" name="日期占位符 2"/>
          <p:cNvSpPr>
            <a:spLocks noGrp="1"/>
          </p:cNvSpPr>
          <p:nvPr>
            <p:ph type="dt" sz="half" idx="10"/>
          </p:nvPr>
        </p:nvSpPr>
        <p:spPr>
          <a:xfrm>
            <a:off x="197334" y="6489303"/>
            <a:ext cx="3311619" cy="365125"/>
          </a:xfrm>
        </p:spPr>
        <p:txBody>
          <a:bodyPr/>
          <a:lstStyle/>
          <a:p>
            <a:r>
              <a:rPr kumimoji="1" lang="en-US" altLang="zh-CN" dirty="0"/>
              <a:t>5.7.3 BGP-</a:t>
            </a:r>
            <a:r>
              <a:rPr kumimoji="1" lang="zh-CN" altLang="en-US" dirty="0"/>
              <a:t>外部网关路由协议</a:t>
            </a:r>
          </a:p>
        </p:txBody>
      </p:sp>
    </p:spTree>
    <p:extLst>
      <p:ext uri="{BB962C8B-B14F-4D97-AF65-F5344CB8AC3E}">
        <p14:creationId xmlns:p14="http://schemas.microsoft.com/office/powerpoint/2010/main" val="321974132"/>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BGP</a:t>
            </a:r>
            <a:r>
              <a:rPr lang="zh-CN" altLang="en-US" dirty="0"/>
              <a:t>配置实例</a:t>
            </a:r>
            <a:endParaRPr lang="zh-CN" altLang="en-US" sz="3200" dirty="0">
              <a:latin typeface="微软雅黑" pitchFamily="34" charset="-122"/>
              <a:ea typeface="微软雅黑" pitchFamily="34" charset="-122"/>
            </a:endParaRPr>
          </a:p>
        </p:txBody>
      </p:sp>
      <p:sp>
        <p:nvSpPr>
          <p:cNvPr id="3" name="内容占位符 2"/>
          <p:cNvSpPr>
            <a:spLocks noGrp="1"/>
          </p:cNvSpPr>
          <p:nvPr>
            <p:ph idx="1"/>
          </p:nvPr>
        </p:nvSpPr>
        <p:spPr>
          <a:xfrm>
            <a:off x="838200" y="1510758"/>
            <a:ext cx="10515600" cy="4586694"/>
          </a:xfrm>
        </p:spPr>
        <p:txBody>
          <a:bodyPr/>
          <a:lstStyle/>
          <a:p>
            <a:endParaRPr lang="zh-CN" altLang="en-US"/>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185</a:t>
            </a:fld>
            <a:endParaRPr kumimoji="1" lang="zh-CN" altLang="en-US" dirty="0"/>
          </a:p>
        </p:txBody>
      </p:sp>
      <p:pic>
        <p:nvPicPr>
          <p:cNvPr id="6" name="内容占位符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8200" y="1510757"/>
            <a:ext cx="10515600" cy="4586695"/>
          </a:xfrm>
          <a:prstGeom prst="rect">
            <a:avLst/>
          </a:prstGeom>
        </p:spPr>
      </p:pic>
      <p:sp>
        <p:nvSpPr>
          <p:cNvPr id="7" name="日期占位符 6"/>
          <p:cNvSpPr>
            <a:spLocks noGrp="1"/>
          </p:cNvSpPr>
          <p:nvPr>
            <p:ph type="dt" sz="half" idx="10"/>
          </p:nvPr>
        </p:nvSpPr>
        <p:spPr>
          <a:xfrm>
            <a:off x="197334" y="6489303"/>
            <a:ext cx="2839779" cy="365125"/>
          </a:xfrm>
        </p:spPr>
        <p:txBody>
          <a:bodyPr/>
          <a:lstStyle/>
          <a:p>
            <a:r>
              <a:rPr kumimoji="1" lang="en-US" altLang="zh-CN" dirty="0"/>
              <a:t>5.7.3 BGP-</a:t>
            </a:r>
            <a:r>
              <a:rPr kumimoji="1" lang="zh-CN" altLang="en-US" dirty="0"/>
              <a:t>外部网关路由协议</a:t>
            </a:r>
          </a:p>
        </p:txBody>
      </p:sp>
    </p:spTree>
    <p:extLst>
      <p:ext uri="{BB962C8B-B14F-4D97-AF65-F5344CB8AC3E}">
        <p14:creationId xmlns:p14="http://schemas.microsoft.com/office/powerpoint/2010/main" val="3776121399"/>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概述</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kumimoji="0" lang="en-US" altLang="zh-CN"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rPr>
              <a:t>5.7.4 </a:t>
            </a:r>
            <a:r>
              <a:rPr lang="zh-CN" altLang="zh-CN" dirty="0"/>
              <a:t>标签交换和</a:t>
            </a:r>
            <a:r>
              <a:rPr lang="en-US" altLang="zh-CN" dirty="0"/>
              <a:t>MPLS</a:t>
            </a:r>
            <a:endParaRPr kumimoji="0" lang="zh-CN" altLang="en-US"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5" name="内容占位符 2">
            <a:extLst>
              <a:ext uri="{FF2B5EF4-FFF2-40B4-BE49-F238E27FC236}">
                <a16:creationId xmlns:a16="http://schemas.microsoft.com/office/drawing/2014/main" id="{DB830B1C-0706-7E41-AE1A-DEBBD115D846}"/>
              </a:ext>
            </a:extLst>
          </p:cNvPr>
          <p:cNvSpPr>
            <a:spLocks noGrp="1"/>
          </p:cNvSpPr>
          <p:nvPr>
            <p:ph idx="1"/>
          </p:nvPr>
        </p:nvSpPr>
        <p:spPr>
          <a:xfrm>
            <a:off x="838200" y="1510757"/>
            <a:ext cx="10567026" cy="4954697"/>
          </a:xfrm>
        </p:spPr>
        <p:txBody>
          <a:bodyPr>
            <a:normAutofit/>
          </a:bodyPr>
          <a:lstStyle/>
          <a:p>
            <a:pPr>
              <a:lnSpc>
                <a:spcPct val="120000"/>
              </a:lnSpc>
            </a:pPr>
            <a:r>
              <a:rPr lang="en-US" altLang="zh-CN" sz="2400" dirty="0"/>
              <a:t>MPLS (</a:t>
            </a:r>
            <a:r>
              <a:rPr lang="en-US" altLang="zh-CN" sz="2400" dirty="0" err="1"/>
              <a:t>MultiProtocol</a:t>
            </a:r>
            <a:r>
              <a:rPr lang="en-US" altLang="zh-CN" sz="2400" dirty="0"/>
              <a:t> Label Switching)</a:t>
            </a:r>
            <a:r>
              <a:rPr lang="zh-CN" altLang="en-US" sz="2400" dirty="0"/>
              <a:t>全称是</a:t>
            </a:r>
            <a:r>
              <a:rPr lang="zh-CN" altLang="zh-CN" sz="2400" dirty="0">
                <a:solidFill>
                  <a:srgbClr val="C00000"/>
                </a:solidFill>
              </a:rPr>
              <a:t>多协议标</a:t>
            </a:r>
            <a:r>
              <a:rPr lang="zh-CN" altLang="en-US" sz="2400" dirty="0">
                <a:solidFill>
                  <a:srgbClr val="C00000"/>
                </a:solidFill>
              </a:rPr>
              <a:t>签</a:t>
            </a:r>
            <a:r>
              <a:rPr lang="zh-CN" altLang="zh-CN" sz="2400" dirty="0">
                <a:solidFill>
                  <a:srgbClr val="C00000"/>
                </a:solidFill>
              </a:rPr>
              <a:t>交换</a:t>
            </a:r>
            <a:r>
              <a:rPr lang="en-US" altLang="zh-CN" sz="2400" dirty="0">
                <a:solidFill>
                  <a:srgbClr val="C00000"/>
                </a:solidFill>
              </a:rPr>
              <a:t> </a:t>
            </a:r>
          </a:p>
          <a:p>
            <a:pPr lvl="1">
              <a:lnSpc>
                <a:spcPct val="120000"/>
              </a:lnSpc>
            </a:pPr>
            <a:r>
              <a:rPr lang="zh-CN" altLang="zh-CN" sz="2000" dirty="0"/>
              <a:t>多协议表示在</a:t>
            </a:r>
            <a:r>
              <a:rPr lang="en-US" altLang="zh-CN" sz="2000" dirty="0"/>
              <a:t> MPLS </a:t>
            </a:r>
            <a:r>
              <a:rPr lang="zh-CN" altLang="zh-CN" sz="2000" dirty="0"/>
              <a:t>的</a:t>
            </a:r>
            <a:r>
              <a:rPr lang="zh-CN" altLang="zh-CN" sz="2000" dirty="0">
                <a:solidFill>
                  <a:srgbClr val="C00000"/>
                </a:solidFill>
              </a:rPr>
              <a:t>上层</a:t>
            </a:r>
            <a:r>
              <a:rPr lang="zh-CN" altLang="zh-CN" sz="2000" dirty="0"/>
              <a:t>可以采用多种协议</a:t>
            </a:r>
            <a:r>
              <a:rPr lang="zh-CN" altLang="en-US" sz="2000" dirty="0"/>
              <a:t>，例如：</a:t>
            </a:r>
            <a:r>
              <a:rPr lang="en-US" altLang="zh-CN" sz="2000" dirty="0"/>
              <a:t>IP</a:t>
            </a:r>
            <a:r>
              <a:rPr lang="zh-CN" altLang="en-US" sz="2000" dirty="0"/>
              <a:t>，</a:t>
            </a:r>
            <a:r>
              <a:rPr lang="en-US" altLang="zh-CN" sz="2000" dirty="0"/>
              <a:t>IPv6</a:t>
            </a:r>
            <a:r>
              <a:rPr lang="zh-CN" altLang="en-US" sz="2000" dirty="0"/>
              <a:t>、</a:t>
            </a:r>
            <a:r>
              <a:rPr lang="en-US" altLang="zh-CN" sz="2000" dirty="0"/>
              <a:t>IPX</a:t>
            </a:r>
          </a:p>
          <a:p>
            <a:pPr lvl="1">
              <a:lnSpc>
                <a:spcPct val="120000"/>
              </a:lnSpc>
            </a:pPr>
            <a:r>
              <a:rPr lang="zh-CN" altLang="en-US" sz="2000" dirty="0"/>
              <a:t>标签是指每个分组被分配一个标签，路由器根据该标签对分组进行转发</a:t>
            </a:r>
            <a:endParaRPr lang="en-US" altLang="zh-CN" sz="2000" dirty="0"/>
          </a:p>
          <a:p>
            <a:pPr lvl="1">
              <a:lnSpc>
                <a:spcPct val="120000"/>
              </a:lnSpc>
            </a:pPr>
            <a:r>
              <a:rPr lang="zh-CN" altLang="en-US" sz="2000" dirty="0"/>
              <a:t>交换是指标签的交换，</a:t>
            </a:r>
            <a:r>
              <a:rPr lang="en-US" altLang="zh-CN" sz="2000" dirty="0"/>
              <a:t>MPLS </a:t>
            </a:r>
            <a:r>
              <a:rPr lang="zh-CN" altLang="en-US" sz="2000" dirty="0"/>
              <a:t>报文交换和转发是基于标签的</a:t>
            </a:r>
            <a:endParaRPr lang="en-US" altLang="zh-CN" sz="2000" dirty="0"/>
          </a:p>
          <a:p>
            <a:pPr>
              <a:lnSpc>
                <a:spcPct val="120000"/>
              </a:lnSpc>
            </a:pPr>
            <a:r>
              <a:rPr lang="en-US" altLang="zh-CN" sz="2400" dirty="0"/>
              <a:t>MPLS </a:t>
            </a:r>
            <a:r>
              <a:rPr lang="zh-CN" altLang="en-US" sz="2400" dirty="0"/>
              <a:t>设计初衷为了提升查找速度</a:t>
            </a:r>
            <a:endParaRPr lang="en-US" altLang="zh-CN" sz="2400" dirty="0"/>
          </a:p>
          <a:p>
            <a:pPr>
              <a:lnSpc>
                <a:spcPct val="120000"/>
              </a:lnSpc>
            </a:pPr>
            <a:r>
              <a:rPr lang="en-US" altLang="zh-CN" sz="2400" dirty="0"/>
              <a:t>MPLS </a:t>
            </a:r>
            <a:r>
              <a:rPr lang="zh-CN" altLang="en-US" sz="2400" dirty="0"/>
              <a:t>主要有以下三个方面的应用</a:t>
            </a:r>
            <a:endParaRPr lang="en-US" altLang="zh-CN" sz="2400" dirty="0"/>
          </a:p>
          <a:p>
            <a:pPr lvl="1">
              <a:lnSpc>
                <a:spcPct val="120000"/>
              </a:lnSpc>
            </a:pPr>
            <a:r>
              <a:rPr lang="zh-CN" altLang="en-US" sz="2000" dirty="0"/>
              <a:t>面向连接的服务质量管理</a:t>
            </a:r>
            <a:endParaRPr lang="en-US" altLang="zh-CN" sz="2000" dirty="0"/>
          </a:p>
          <a:p>
            <a:pPr lvl="1">
              <a:lnSpc>
                <a:spcPct val="120000"/>
              </a:lnSpc>
            </a:pPr>
            <a:r>
              <a:rPr lang="zh-CN" altLang="en-US" sz="2000" dirty="0"/>
              <a:t>流量工程，平衡网络负载</a:t>
            </a:r>
            <a:endParaRPr lang="en-US" altLang="zh-CN" sz="2000" dirty="0"/>
          </a:p>
          <a:p>
            <a:pPr lvl="1">
              <a:lnSpc>
                <a:spcPct val="120000"/>
              </a:lnSpc>
            </a:pPr>
            <a:r>
              <a:rPr lang="zh-CN" altLang="en-US" sz="2000" dirty="0"/>
              <a:t>虚拟专用网</a:t>
            </a:r>
            <a:r>
              <a:rPr lang="en-US" altLang="zh-CN" sz="2000" dirty="0"/>
              <a:t>VPN</a:t>
            </a:r>
            <a:endParaRPr lang="zh-CN" altLang="en-US" sz="2000" dirty="0"/>
          </a:p>
        </p:txBody>
      </p:sp>
    </p:spTree>
    <p:extLst>
      <p:ext uri="{BB962C8B-B14F-4D97-AF65-F5344CB8AC3E}">
        <p14:creationId xmlns:p14="http://schemas.microsoft.com/office/powerpoint/2010/main" val="1552104931"/>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kumimoji="0" lang="en-US" altLang="zh-CN"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rPr>
              <a:t>5.7.4 </a:t>
            </a:r>
            <a:r>
              <a:rPr lang="zh-CN" altLang="zh-CN" dirty="0"/>
              <a:t>标签交换和</a:t>
            </a:r>
            <a:r>
              <a:rPr lang="en-US" altLang="zh-CN" dirty="0"/>
              <a:t>MPLS</a:t>
            </a:r>
            <a:endParaRPr kumimoji="0" lang="zh-CN" altLang="en-US"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5" name="内容占位符 2">
            <a:extLst>
              <a:ext uri="{FF2B5EF4-FFF2-40B4-BE49-F238E27FC236}">
                <a16:creationId xmlns:a16="http://schemas.microsoft.com/office/drawing/2014/main" id="{DB830B1C-0706-7E41-AE1A-DEBBD115D846}"/>
              </a:ext>
            </a:extLst>
          </p:cNvPr>
          <p:cNvSpPr>
            <a:spLocks noGrp="1"/>
          </p:cNvSpPr>
          <p:nvPr>
            <p:ph idx="1"/>
          </p:nvPr>
        </p:nvSpPr>
        <p:spPr>
          <a:xfrm>
            <a:off x="838199" y="1510757"/>
            <a:ext cx="4737129" cy="4954697"/>
          </a:xfrm>
        </p:spPr>
        <p:txBody>
          <a:bodyPr>
            <a:noAutofit/>
          </a:bodyPr>
          <a:lstStyle/>
          <a:p>
            <a:pPr>
              <a:lnSpc>
                <a:spcPct val="130000"/>
              </a:lnSpc>
            </a:pPr>
            <a:r>
              <a:rPr lang="zh-CN" altLang="en-US" sz="2400" dirty="0"/>
              <a:t>标签交换路由器</a:t>
            </a:r>
            <a:r>
              <a:rPr lang="en-US" altLang="zh-CN" sz="2400" dirty="0"/>
              <a:t>LSR</a:t>
            </a:r>
          </a:p>
          <a:p>
            <a:pPr lvl="1">
              <a:lnSpc>
                <a:spcPct val="130000"/>
              </a:lnSpc>
            </a:pPr>
            <a:r>
              <a:rPr lang="zh-CN" altLang="en-US" sz="2000" dirty="0"/>
              <a:t>支持</a:t>
            </a:r>
            <a:r>
              <a:rPr lang="en-US" altLang="zh-CN" sz="2000" dirty="0"/>
              <a:t>MPLS</a:t>
            </a:r>
            <a:r>
              <a:rPr lang="zh-CN" altLang="en-US" sz="2000" dirty="0"/>
              <a:t>的路由器</a:t>
            </a:r>
            <a:endParaRPr lang="en-US" altLang="zh-CN" sz="2000" dirty="0"/>
          </a:p>
          <a:p>
            <a:pPr lvl="1">
              <a:lnSpc>
                <a:spcPct val="130000"/>
              </a:lnSpc>
            </a:pPr>
            <a:r>
              <a:rPr lang="zh-CN" altLang="en-US" sz="2000" dirty="0"/>
              <a:t>具备</a:t>
            </a:r>
            <a:r>
              <a:rPr lang="zh-CN" altLang="en-US" sz="2000" dirty="0">
                <a:solidFill>
                  <a:srgbClr val="C00000"/>
                </a:solidFill>
              </a:rPr>
              <a:t>标签交换</a:t>
            </a:r>
            <a:r>
              <a:rPr lang="zh-CN" altLang="en-US" sz="2000" dirty="0"/>
              <a:t>、</a:t>
            </a:r>
            <a:r>
              <a:rPr lang="zh-CN" altLang="en-US" sz="2000" dirty="0">
                <a:solidFill>
                  <a:srgbClr val="C00000"/>
                </a:solidFill>
              </a:rPr>
              <a:t>路由选择</a:t>
            </a:r>
            <a:r>
              <a:rPr lang="zh-CN" altLang="en-US" sz="2000" dirty="0"/>
              <a:t>两种功能</a:t>
            </a:r>
            <a:endParaRPr lang="en-US" altLang="zh-CN" sz="2000" dirty="0"/>
          </a:p>
          <a:p>
            <a:pPr>
              <a:lnSpc>
                <a:spcPct val="130000"/>
              </a:lnSpc>
            </a:pPr>
            <a:r>
              <a:rPr lang="en-US" altLang="zh-CN" sz="2400" dirty="0"/>
              <a:t>MPLS </a:t>
            </a:r>
            <a:r>
              <a:rPr lang="zh-CN" altLang="en-US" sz="2400" dirty="0"/>
              <a:t>域</a:t>
            </a:r>
            <a:endParaRPr lang="en-US" altLang="zh-CN" sz="2400" dirty="0"/>
          </a:p>
          <a:p>
            <a:pPr lvl="1" indent="-360363">
              <a:lnSpc>
                <a:spcPct val="130000"/>
              </a:lnSpc>
            </a:pPr>
            <a:r>
              <a:rPr lang="zh-CN" altLang="en-US" sz="2000" dirty="0"/>
              <a:t>所有相邻的支持</a:t>
            </a:r>
            <a:r>
              <a:rPr lang="en-US" altLang="zh-CN" sz="2000" dirty="0"/>
              <a:t>MPLS</a:t>
            </a:r>
            <a:r>
              <a:rPr lang="zh-CN" altLang="en-US" sz="2000" dirty="0"/>
              <a:t>技术的路由器构成的区域</a:t>
            </a:r>
            <a:endParaRPr lang="en-US" altLang="zh-CN" sz="2000" dirty="0"/>
          </a:p>
          <a:p>
            <a:pPr>
              <a:lnSpc>
                <a:spcPct val="130000"/>
              </a:lnSpc>
            </a:pPr>
            <a:r>
              <a:rPr lang="zh-CN" altLang="en-US" sz="2400" dirty="0"/>
              <a:t>标签分配协议</a:t>
            </a:r>
            <a:r>
              <a:rPr lang="en-US" altLang="zh-CN" sz="2400" dirty="0"/>
              <a:t>LDP</a:t>
            </a:r>
          </a:p>
          <a:p>
            <a:pPr lvl="1">
              <a:lnSpc>
                <a:spcPct val="130000"/>
              </a:lnSpc>
            </a:pPr>
            <a:r>
              <a:rPr lang="zh-CN" altLang="en-US" sz="2000" dirty="0"/>
              <a:t>用来在</a:t>
            </a:r>
            <a:r>
              <a:rPr lang="en-US" altLang="zh-CN" sz="2000" dirty="0"/>
              <a:t>LSR</a:t>
            </a:r>
            <a:r>
              <a:rPr lang="zh-CN" altLang="en-US" sz="2000" dirty="0"/>
              <a:t>之间建立</a:t>
            </a:r>
            <a:r>
              <a:rPr lang="en-US" altLang="zh-CN" sz="2000" dirty="0"/>
              <a:t>LDP </a:t>
            </a:r>
            <a:r>
              <a:rPr lang="zh-CN" altLang="en-US" sz="2000" dirty="0"/>
              <a:t>会话并交换</a:t>
            </a:r>
            <a:r>
              <a:rPr lang="en-US" altLang="zh-CN" sz="2000" dirty="0"/>
              <a:t>Label/FEC</a:t>
            </a:r>
            <a:r>
              <a:rPr lang="zh-CN" altLang="en-US" sz="2000" dirty="0"/>
              <a:t>映射信息</a:t>
            </a:r>
          </a:p>
        </p:txBody>
      </p:sp>
      <p:pic>
        <p:nvPicPr>
          <p:cNvPr id="61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29" y="1933412"/>
            <a:ext cx="6222961" cy="34448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75863300"/>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工作过程</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kumimoji="0" lang="en-US" altLang="zh-CN"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rPr>
              <a:t>5.7.4 </a:t>
            </a:r>
            <a:r>
              <a:rPr lang="zh-CN" altLang="zh-CN" dirty="0"/>
              <a:t>标签交换和</a:t>
            </a:r>
            <a:r>
              <a:rPr lang="en-US" altLang="zh-CN" dirty="0"/>
              <a:t>MPLS</a:t>
            </a:r>
            <a:endParaRPr kumimoji="0" lang="zh-CN" altLang="en-US"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3" name="内容占位符 2"/>
          <p:cNvSpPr>
            <a:spLocks noGrp="1"/>
          </p:cNvSpPr>
          <p:nvPr>
            <p:ph idx="1"/>
          </p:nvPr>
        </p:nvSpPr>
        <p:spPr>
          <a:xfrm>
            <a:off x="838199" y="1510757"/>
            <a:ext cx="3107685" cy="4858511"/>
          </a:xfrm>
        </p:spPr>
        <p:txBody>
          <a:bodyPr>
            <a:normAutofit fontScale="85000" lnSpcReduction="10000"/>
          </a:bodyPr>
          <a:lstStyle/>
          <a:p>
            <a:r>
              <a:rPr lang="zh-CN" altLang="en-US" sz="2600" dirty="0"/>
              <a:t>加标签</a:t>
            </a:r>
            <a:endParaRPr lang="en-US" altLang="zh-CN" sz="2600" dirty="0"/>
          </a:p>
          <a:p>
            <a:pPr lvl="1"/>
            <a:r>
              <a:rPr lang="zh-CN" altLang="zh-CN" sz="2200" dirty="0"/>
              <a:t>在</a:t>
            </a:r>
            <a:r>
              <a:rPr lang="en-US" altLang="zh-CN" sz="2200" dirty="0"/>
              <a:t> </a:t>
            </a:r>
            <a:r>
              <a:rPr lang="en-US" altLang="zh-CN" sz="2200" dirty="0">
                <a:solidFill>
                  <a:srgbClr val="C00000"/>
                </a:solidFill>
              </a:rPr>
              <a:t>MPLS </a:t>
            </a:r>
            <a:r>
              <a:rPr lang="zh-CN" altLang="zh-CN" sz="2200" dirty="0">
                <a:solidFill>
                  <a:srgbClr val="C00000"/>
                </a:solidFill>
              </a:rPr>
              <a:t>域</a:t>
            </a:r>
            <a:r>
              <a:rPr lang="zh-CN" altLang="zh-CN" sz="2200" dirty="0"/>
              <a:t>的</a:t>
            </a:r>
            <a:r>
              <a:rPr lang="zh-CN" altLang="zh-CN" sz="2200" dirty="0">
                <a:solidFill>
                  <a:srgbClr val="C00000"/>
                </a:solidFill>
              </a:rPr>
              <a:t>入口</a:t>
            </a:r>
            <a:r>
              <a:rPr lang="zh-CN" altLang="zh-CN" sz="2200" dirty="0"/>
              <a:t>处，给每一个</a:t>
            </a:r>
            <a:r>
              <a:rPr lang="en-US" altLang="zh-CN" sz="2200" dirty="0"/>
              <a:t> IP </a:t>
            </a:r>
            <a:r>
              <a:rPr lang="zh-CN" altLang="zh-CN" sz="2200" dirty="0"/>
              <a:t>数据报</a:t>
            </a:r>
            <a:r>
              <a:rPr lang="zh-CN" altLang="en-US" sz="2200" dirty="0"/>
              <a:t>加</a:t>
            </a:r>
            <a:r>
              <a:rPr lang="zh-CN" altLang="zh-CN" sz="2200" dirty="0"/>
              <a:t>上 </a:t>
            </a:r>
            <a:r>
              <a:rPr lang="zh-CN" altLang="zh-CN" sz="2200" dirty="0">
                <a:solidFill>
                  <a:srgbClr val="C00000"/>
                </a:solidFill>
              </a:rPr>
              <a:t>标</a:t>
            </a:r>
            <a:r>
              <a:rPr lang="zh-CN" altLang="en-US" sz="2200" dirty="0">
                <a:solidFill>
                  <a:srgbClr val="C00000"/>
                </a:solidFill>
              </a:rPr>
              <a:t>签</a:t>
            </a:r>
            <a:r>
              <a:rPr lang="zh-CN" altLang="zh-CN" sz="2200" dirty="0"/>
              <a:t>，然后对</a:t>
            </a:r>
            <a:r>
              <a:rPr lang="zh-CN" altLang="en-US" sz="2200" dirty="0"/>
              <a:t>加</a:t>
            </a:r>
            <a:r>
              <a:rPr lang="zh-CN" altLang="zh-CN" sz="2200" dirty="0"/>
              <a:t>上标记的</a:t>
            </a:r>
            <a:r>
              <a:rPr lang="en-US" altLang="zh-CN" sz="2200" dirty="0"/>
              <a:t> IP </a:t>
            </a:r>
            <a:r>
              <a:rPr lang="zh-CN" altLang="zh-CN" sz="2200" dirty="0"/>
              <a:t>数据报用</a:t>
            </a:r>
            <a:r>
              <a:rPr lang="zh-CN" altLang="zh-CN" sz="2200" dirty="0">
                <a:solidFill>
                  <a:srgbClr val="C00000"/>
                </a:solidFill>
              </a:rPr>
              <a:t>硬件进行</a:t>
            </a:r>
            <a:r>
              <a:rPr lang="zh-CN" altLang="zh-CN" sz="2200" dirty="0"/>
              <a:t>转发</a:t>
            </a:r>
            <a:endParaRPr lang="en-US" altLang="zh-CN" sz="2200" dirty="0"/>
          </a:p>
          <a:p>
            <a:r>
              <a:rPr lang="zh-CN" altLang="en-US" sz="2600" dirty="0"/>
              <a:t>标签交换</a:t>
            </a:r>
            <a:endParaRPr lang="en-US" altLang="zh-CN" sz="2600" dirty="0"/>
          </a:p>
          <a:p>
            <a:pPr lvl="1"/>
            <a:r>
              <a:rPr lang="zh-CN" altLang="zh-CN" sz="2200" dirty="0"/>
              <a:t>采用硬件技术对</a:t>
            </a:r>
            <a:r>
              <a:rPr lang="zh-CN" altLang="en-US" sz="2200" dirty="0"/>
              <a:t>加</a:t>
            </a:r>
            <a:r>
              <a:rPr lang="zh-CN" altLang="zh-CN" sz="2200" dirty="0"/>
              <a:t>上标记的</a:t>
            </a:r>
            <a:r>
              <a:rPr lang="en-US" altLang="zh-CN" sz="2200" dirty="0"/>
              <a:t> IP </a:t>
            </a:r>
            <a:r>
              <a:rPr lang="zh-CN" altLang="zh-CN" sz="2200" dirty="0"/>
              <a:t>数据报进行转发称为</a:t>
            </a:r>
            <a:r>
              <a:rPr lang="zh-CN" altLang="en-US" sz="2200" dirty="0">
                <a:solidFill>
                  <a:srgbClr val="C00000"/>
                </a:solidFill>
              </a:rPr>
              <a:t>标签</a:t>
            </a:r>
            <a:r>
              <a:rPr lang="zh-CN" altLang="zh-CN" sz="2200" dirty="0">
                <a:solidFill>
                  <a:srgbClr val="C00000"/>
                </a:solidFill>
              </a:rPr>
              <a:t>交换</a:t>
            </a:r>
            <a:endParaRPr lang="en-US" altLang="zh-CN" sz="2200" dirty="0">
              <a:solidFill>
                <a:srgbClr val="C00000"/>
              </a:solidFill>
            </a:endParaRPr>
          </a:p>
          <a:p>
            <a:r>
              <a:rPr lang="zh-CN" altLang="en-US" sz="2600" dirty="0"/>
              <a:t>去标签</a:t>
            </a:r>
            <a:endParaRPr lang="en-US" altLang="zh-CN" sz="2600" dirty="0"/>
          </a:p>
          <a:p>
            <a:pPr lvl="1"/>
            <a:r>
              <a:rPr lang="zh-CN" altLang="en-US" sz="2200" dirty="0"/>
              <a:t>当分组离开 </a:t>
            </a:r>
            <a:r>
              <a:rPr lang="en-US" altLang="zh-CN" sz="2200" dirty="0"/>
              <a:t>MPLS </a:t>
            </a:r>
            <a:r>
              <a:rPr lang="zh-CN" altLang="en-US" sz="2200" dirty="0"/>
              <a:t>域时，</a:t>
            </a:r>
            <a:r>
              <a:rPr lang="en-US" altLang="zh-CN" sz="2200" dirty="0"/>
              <a:t>MPLS </a:t>
            </a:r>
            <a:r>
              <a:rPr lang="zh-CN" altLang="en-US" sz="2200" dirty="0">
                <a:solidFill>
                  <a:srgbClr val="C00000"/>
                </a:solidFill>
              </a:rPr>
              <a:t>出口路由器把分组的标签去除</a:t>
            </a:r>
            <a:r>
              <a:rPr lang="zh-CN" altLang="en-US" sz="2200" dirty="0"/>
              <a:t>。后续按照一般</a:t>
            </a:r>
            <a:r>
              <a:rPr lang="en-US" altLang="zh-CN" sz="2200" dirty="0"/>
              <a:t>IP</a:t>
            </a:r>
            <a:r>
              <a:rPr lang="zh-CN" altLang="en-US" sz="2200" dirty="0"/>
              <a:t>分组的转发方法进行转发</a:t>
            </a:r>
            <a:endParaRPr lang="en-US" altLang="zh-CN" sz="2400" dirty="0"/>
          </a:p>
          <a:p>
            <a:pPr marL="0" indent="0">
              <a:buNone/>
            </a:pPr>
            <a:endParaRPr lang="zh-CN" altLang="en-US" dirty="0"/>
          </a:p>
        </p:txBody>
      </p:sp>
      <p:sp>
        <p:nvSpPr>
          <p:cNvPr id="8"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zh-CN" altLang="en-US" dirty="0"/>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pic>
        <p:nvPicPr>
          <p:cNvPr id="15" name="Picture 2" descr="云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9764" y="4417633"/>
            <a:ext cx="1584325"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AutoShape 3"/>
          <p:cNvSpPr>
            <a:spLocks noChangeArrowheads="1"/>
          </p:cNvSpPr>
          <p:nvPr/>
        </p:nvSpPr>
        <p:spPr bwMode="auto">
          <a:xfrm>
            <a:off x="5047826" y="2028445"/>
            <a:ext cx="5832475" cy="2017713"/>
          </a:xfrm>
          <a:prstGeom prst="flowChartAlternateProcess">
            <a:avLst/>
          </a:prstGeom>
          <a:solidFill>
            <a:srgbClr val="F8F8F8">
              <a:alpha val="49019"/>
            </a:srgbClr>
          </a:solidFill>
          <a:ln w="9525" algn="ctr">
            <a:solidFill>
              <a:srgbClr val="80808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2100">
              <a:ea typeface="MS PGothic" pitchFamily="34" charset="-128"/>
            </a:endParaRPr>
          </a:p>
        </p:txBody>
      </p:sp>
      <p:sp>
        <p:nvSpPr>
          <p:cNvPr id="19" name="Text Box 5"/>
          <p:cNvSpPr txBox="1">
            <a:spLocks noChangeArrowheads="1"/>
          </p:cNvSpPr>
          <p:nvPr/>
        </p:nvSpPr>
        <p:spPr bwMode="auto">
          <a:xfrm>
            <a:off x="4527126" y="2588833"/>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RTA</a:t>
            </a:r>
          </a:p>
        </p:txBody>
      </p:sp>
      <p:sp>
        <p:nvSpPr>
          <p:cNvPr id="20" name="Text Box 6"/>
          <p:cNvSpPr txBox="1">
            <a:spLocks noChangeArrowheads="1"/>
          </p:cNvSpPr>
          <p:nvPr/>
        </p:nvSpPr>
        <p:spPr bwMode="auto">
          <a:xfrm>
            <a:off x="6551189" y="2588833"/>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RTB</a:t>
            </a:r>
          </a:p>
        </p:txBody>
      </p:sp>
      <p:sp>
        <p:nvSpPr>
          <p:cNvPr id="21" name="Line 7"/>
          <p:cNvSpPr>
            <a:spLocks noChangeShapeType="1"/>
          </p:cNvSpPr>
          <p:nvPr/>
        </p:nvSpPr>
        <p:spPr bwMode="auto">
          <a:xfrm>
            <a:off x="7279851" y="3100008"/>
            <a:ext cx="1395413" cy="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pic>
        <p:nvPicPr>
          <p:cNvPr id="22" name="Picture 8"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1101" y="28094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9"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05164" y="28094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10"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75264" y="28094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11"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00914" y="27840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12"/>
          <p:cNvSpPr txBox="1">
            <a:spLocks noChangeArrowheads="1"/>
          </p:cNvSpPr>
          <p:nvPr/>
        </p:nvSpPr>
        <p:spPr bwMode="auto">
          <a:xfrm>
            <a:off x="8576839" y="2588833"/>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RTC</a:t>
            </a:r>
          </a:p>
        </p:txBody>
      </p:sp>
      <p:sp>
        <p:nvSpPr>
          <p:cNvPr id="27" name="Text Box 13"/>
          <p:cNvSpPr txBox="1">
            <a:spLocks noChangeArrowheads="1"/>
          </p:cNvSpPr>
          <p:nvPr/>
        </p:nvSpPr>
        <p:spPr bwMode="auto">
          <a:xfrm>
            <a:off x="10692976" y="2579308"/>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RTD</a:t>
            </a:r>
          </a:p>
        </p:txBody>
      </p:sp>
      <p:sp>
        <p:nvSpPr>
          <p:cNvPr id="28" name="Line 14"/>
          <p:cNvSpPr>
            <a:spLocks noChangeShapeType="1"/>
          </p:cNvSpPr>
          <p:nvPr/>
        </p:nvSpPr>
        <p:spPr bwMode="auto">
          <a:xfrm>
            <a:off x="5255789" y="3100008"/>
            <a:ext cx="1395412" cy="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29" name="Line 15"/>
          <p:cNvSpPr>
            <a:spLocks noChangeShapeType="1"/>
          </p:cNvSpPr>
          <p:nvPr/>
        </p:nvSpPr>
        <p:spPr bwMode="auto">
          <a:xfrm>
            <a:off x="9349951" y="3100008"/>
            <a:ext cx="1395413" cy="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0" name="Line 16"/>
          <p:cNvSpPr>
            <a:spLocks noChangeShapeType="1"/>
          </p:cNvSpPr>
          <p:nvPr/>
        </p:nvSpPr>
        <p:spPr bwMode="auto">
          <a:xfrm flipH="1">
            <a:off x="11096201" y="3414333"/>
            <a:ext cx="9525" cy="989012"/>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1" name="Text Box 17"/>
          <p:cNvSpPr txBox="1">
            <a:spLocks noChangeArrowheads="1"/>
          </p:cNvSpPr>
          <p:nvPr/>
        </p:nvSpPr>
        <p:spPr bwMode="auto">
          <a:xfrm>
            <a:off x="4184226" y="4549395"/>
            <a:ext cx="12604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10.1.0.0/24</a:t>
            </a:r>
          </a:p>
        </p:txBody>
      </p:sp>
      <p:sp>
        <p:nvSpPr>
          <p:cNvPr id="32" name="Text Box 18"/>
          <p:cNvSpPr txBox="1">
            <a:spLocks noChangeArrowheads="1"/>
          </p:cNvSpPr>
          <p:nvPr/>
        </p:nvSpPr>
        <p:spPr bwMode="auto">
          <a:xfrm>
            <a:off x="5362151" y="3123820"/>
            <a:ext cx="11255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10.1.1.0/30</a:t>
            </a:r>
          </a:p>
        </p:txBody>
      </p:sp>
      <p:sp>
        <p:nvSpPr>
          <p:cNvPr id="33" name="Text Box 19"/>
          <p:cNvSpPr txBox="1">
            <a:spLocks noChangeArrowheads="1"/>
          </p:cNvSpPr>
          <p:nvPr/>
        </p:nvSpPr>
        <p:spPr bwMode="auto">
          <a:xfrm>
            <a:off x="7424314" y="3109533"/>
            <a:ext cx="1125537"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10.1.1.4/30</a:t>
            </a:r>
          </a:p>
        </p:txBody>
      </p:sp>
      <p:sp>
        <p:nvSpPr>
          <p:cNvPr id="34" name="Text Box 20"/>
          <p:cNvSpPr txBox="1">
            <a:spLocks noChangeArrowheads="1"/>
          </p:cNvSpPr>
          <p:nvPr/>
        </p:nvSpPr>
        <p:spPr bwMode="auto">
          <a:xfrm>
            <a:off x="5263726" y="2822195"/>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s0</a:t>
            </a:r>
          </a:p>
        </p:txBody>
      </p:sp>
      <p:sp>
        <p:nvSpPr>
          <p:cNvPr id="35" name="Text Box 21"/>
          <p:cNvSpPr txBox="1">
            <a:spLocks noChangeArrowheads="1"/>
          </p:cNvSpPr>
          <p:nvPr/>
        </p:nvSpPr>
        <p:spPr bwMode="auto">
          <a:xfrm>
            <a:off x="6271789" y="2834895"/>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s0</a:t>
            </a:r>
          </a:p>
        </p:txBody>
      </p:sp>
      <p:sp>
        <p:nvSpPr>
          <p:cNvPr id="36" name="Text Box 22"/>
          <p:cNvSpPr txBox="1">
            <a:spLocks noChangeArrowheads="1"/>
          </p:cNvSpPr>
          <p:nvPr/>
        </p:nvSpPr>
        <p:spPr bwMode="auto">
          <a:xfrm>
            <a:off x="7235401" y="2844420"/>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s3</a:t>
            </a:r>
          </a:p>
        </p:txBody>
      </p:sp>
      <p:sp>
        <p:nvSpPr>
          <p:cNvPr id="37" name="Text Box 23"/>
          <p:cNvSpPr txBox="1">
            <a:spLocks noChangeArrowheads="1"/>
          </p:cNvSpPr>
          <p:nvPr/>
        </p:nvSpPr>
        <p:spPr bwMode="auto">
          <a:xfrm>
            <a:off x="8316489" y="2834895"/>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s2</a:t>
            </a:r>
          </a:p>
        </p:txBody>
      </p:sp>
      <p:sp>
        <p:nvSpPr>
          <p:cNvPr id="38" name="Text Box 24"/>
          <p:cNvSpPr txBox="1">
            <a:spLocks noChangeArrowheads="1"/>
          </p:cNvSpPr>
          <p:nvPr/>
        </p:nvSpPr>
        <p:spPr bwMode="auto">
          <a:xfrm>
            <a:off x="9349951" y="2834895"/>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s3</a:t>
            </a:r>
          </a:p>
        </p:txBody>
      </p:sp>
      <p:sp>
        <p:nvSpPr>
          <p:cNvPr id="39" name="Text Box 25"/>
          <p:cNvSpPr txBox="1">
            <a:spLocks noChangeArrowheads="1"/>
          </p:cNvSpPr>
          <p:nvPr/>
        </p:nvSpPr>
        <p:spPr bwMode="auto">
          <a:xfrm>
            <a:off x="10386589" y="2834895"/>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s3</a:t>
            </a:r>
          </a:p>
        </p:txBody>
      </p:sp>
      <p:sp>
        <p:nvSpPr>
          <p:cNvPr id="40" name="Text Box 26"/>
          <p:cNvSpPr txBox="1">
            <a:spLocks noChangeArrowheads="1"/>
          </p:cNvSpPr>
          <p:nvPr/>
        </p:nvSpPr>
        <p:spPr bwMode="auto">
          <a:xfrm>
            <a:off x="6300364" y="3123820"/>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.2</a:t>
            </a:r>
          </a:p>
        </p:txBody>
      </p:sp>
      <p:sp>
        <p:nvSpPr>
          <p:cNvPr id="41" name="Text Box 27"/>
          <p:cNvSpPr txBox="1">
            <a:spLocks noChangeArrowheads="1"/>
          </p:cNvSpPr>
          <p:nvPr/>
        </p:nvSpPr>
        <p:spPr bwMode="auto">
          <a:xfrm>
            <a:off x="5147839" y="3123820"/>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a:t>
            </a:r>
          </a:p>
        </p:txBody>
      </p:sp>
      <p:sp>
        <p:nvSpPr>
          <p:cNvPr id="42" name="Text Box 28"/>
          <p:cNvSpPr txBox="1">
            <a:spLocks noChangeArrowheads="1"/>
          </p:cNvSpPr>
          <p:nvPr/>
        </p:nvSpPr>
        <p:spPr bwMode="auto">
          <a:xfrm>
            <a:off x="7235401" y="3123820"/>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.5</a:t>
            </a:r>
          </a:p>
        </p:txBody>
      </p:sp>
      <p:sp>
        <p:nvSpPr>
          <p:cNvPr id="43" name="Text Box 29"/>
          <p:cNvSpPr txBox="1">
            <a:spLocks noChangeArrowheads="1"/>
          </p:cNvSpPr>
          <p:nvPr/>
        </p:nvSpPr>
        <p:spPr bwMode="auto">
          <a:xfrm>
            <a:off x="8316489" y="3109533"/>
            <a:ext cx="40481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.6</a:t>
            </a:r>
          </a:p>
        </p:txBody>
      </p:sp>
      <p:sp>
        <p:nvSpPr>
          <p:cNvPr id="44" name="Text Box 30"/>
          <p:cNvSpPr txBox="1">
            <a:spLocks noChangeArrowheads="1"/>
          </p:cNvSpPr>
          <p:nvPr/>
        </p:nvSpPr>
        <p:spPr bwMode="auto">
          <a:xfrm>
            <a:off x="9511876" y="3109533"/>
            <a:ext cx="1125538"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10.1.1.8/30</a:t>
            </a:r>
          </a:p>
        </p:txBody>
      </p:sp>
      <p:sp>
        <p:nvSpPr>
          <p:cNvPr id="45" name="Text Box 31"/>
          <p:cNvSpPr txBox="1">
            <a:spLocks noChangeArrowheads="1"/>
          </p:cNvSpPr>
          <p:nvPr/>
        </p:nvSpPr>
        <p:spPr bwMode="auto">
          <a:xfrm>
            <a:off x="9322964" y="3123820"/>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.9</a:t>
            </a:r>
          </a:p>
        </p:txBody>
      </p:sp>
      <p:sp>
        <p:nvSpPr>
          <p:cNvPr id="46" name="Text Box 32"/>
          <p:cNvSpPr txBox="1">
            <a:spLocks noChangeArrowheads="1"/>
          </p:cNvSpPr>
          <p:nvPr/>
        </p:nvSpPr>
        <p:spPr bwMode="auto">
          <a:xfrm>
            <a:off x="10404051" y="3109533"/>
            <a:ext cx="404813"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a:t>
            </a:r>
          </a:p>
        </p:txBody>
      </p:sp>
      <p:sp>
        <p:nvSpPr>
          <p:cNvPr id="47" name="Text Box 33"/>
          <p:cNvSpPr txBox="1">
            <a:spLocks noChangeArrowheads="1"/>
          </p:cNvSpPr>
          <p:nvPr/>
        </p:nvSpPr>
        <p:spPr bwMode="auto">
          <a:xfrm>
            <a:off x="4544589" y="2330070"/>
            <a:ext cx="11255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b="1">
                <a:solidFill>
                  <a:schemeClr val="tx2"/>
                </a:solidFill>
                <a:ea typeface="MS PGothic" pitchFamily="34" charset="-128"/>
              </a:rPr>
              <a:t>1.1.1.1/32</a:t>
            </a:r>
          </a:p>
        </p:txBody>
      </p:sp>
      <p:grpSp>
        <p:nvGrpSpPr>
          <p:cNvPr id="48" name="Group 34"/>
          <p:cNvGrpSpPr>
            <a:grpSpLocks/>
          </p:cNvGrpSpPr>
          <p:nvPr/>
        </p:nvGrpSpPr>
        <p:grpSpPr bwMode="auto">
          <a:xfrm>
            <a:off x="4112789" y="3250820"/>
            <a:ext cx="433387" cy="1206500"/>
            <a:chOff x="1564" y="2841"/>
            <a:chExt cx="273" cy="760"/>
          </a:xfrm>
        </p:grpSpPr>
        <p:sp>
          <p:nvSpPr>
            <p:cNvPr id="49" name="Rectangle 35"/>
            <p:cNvSpPr>
              <a:spLocks noChangeArrowheads="1"/>
            </p:cNvSpPr>
            <p:nvPr/>
          </p:nvSpPr>
          <p:spPr bwMode="auto">
            <a:xfrm rot="5400000">
              <a:off x="1525" y="3288"/>
              <a:ext cx="352" cy="273"/>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50" name="Rectangle 36"/>
            <p:cNvSpPr>
              <a:spLocks noChangeArrowheads="1"/>
            </p:cNvSpPr>
            <p:nvPr/>
          </p:nvSpPr>
          <p:spPr bwMode="auto">
            <a:xfrm rot="5400000">
              <a:off x="1497" y="2908"/>
              <a:ext cx="408" cy="273"/>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IP </a:t>
              </a:r>
            </a:p>
            <a:p>
              <a:pPr algn="ctr"/>
              <a:r>
                <a:rPr lang="en-US" altLang="zh-CN" sz="1200" b="1">
                  <a:ea typeface="MS PGothic" pitchFamily="34" charset="-128"/>
                </a:rPr>
                <a:t>Header </a:t>
              </a:r>
            </a:p>
          </p:txBody>
        </p:sp>
      </p:grpSp>
      <p:sp>
        <p:nvSpPr>
          <p:cNvPr id="51" name="Line 37"/>
          <p:cNvSpPr>
            <a:spLocks noChangeShapeType="1"/>
          </p:cNvSpPr>
          <p:nvPr/>
        </p:nvSpPr>
        <p:spPr bwMode="auto">
          <a:xfrm flipH="1">
            <a:off x="4831926" y="3396870"/>
            <a:ext cx="0" cy="107950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52" name="Text Box 38"/>
          <p:cNvSpPr txBox="1">
            <a:spLocks noChangeArrowheads="1"/>
          </p:cNvSpPr>
          <p:nvPr/>
        </p:nvSpPr>
        <p:spPr bwMode="auto">
          <a:xfrm>
            <a:off x="8648276" y="3612770"/>
            <a:ext cx="18732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339966"/>
                </a:solidFill>
                <a:ea typeface="MS PGothic" pitchFamily="34" charset="-128"/>
              </a:rPr>
              <a:t>MPLS Domain</a:t>
            </a:r>
          </a:p>
        </p:txBody>
      </p:sp>
      <p:sp>
        <p:nvSpPr>
          <p:cNvPr id="53" name="Rectangle 40"/>
          <p:cNvSpPr>
            <a:spLocks noChangeArrowheads="1"/>
          </p:cNvSpPr>
          <p:nvPr/>
        </p:nvSpPr>
        <p:spPr bwMode="auto">
          <a:xfrm>
            <a:off x="4831926" y="1812540"/>
            <a:ext cx="460415" cy="430218"/>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1024</a:t>
            </a:r>
          </a:p>
        </p:txBody>
      </p:sp>
      <p:grpSp>
        <p:nvGrpSpPr>
          <p:cNvPr id="54" name="组合 53"/>
          <p:cNvGrpSpPr/>
          <p:nvPr/>
        </p:nvGrpSpPr>
        <p:grpSpPr>
          <a:xfrm>
            <a:off x="5292341" y="1810958"/>
            <a:ext cx="1123910" cy="431800"/>
            <a:chOff x="4822441" y="1695759"/>
            <a:chExt cx="1123910" cy="431800"/>
          </a:xfrm>
        </p:grpSpPr>
        <p:sp>
          <p:nvSpPr>
            <p:cNvPr id="55" name="Rectangle 41"/>
            <p:cNvSpPr>
              <a:spLocks noChangeArrowheads="1"/>
            </p:cNvSpPr>
            <p:nvPr/>
          </p:nvSpPr>
          <p:spPr bwMode="auto">
            <a:xfrm>
              <a:off x="5400674" y="1695759"/>
              <a:ext cx="545677" cy="431800"/>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56" name="Rectangle 42"/>
            <p:cNvSpPr>
              <a:spLocks noChangeArrowheads="1"/>
            </p:cNvSpPr>
            <p:nvPr/>
          </p:nvSpPr>
          <p:spPr bwMode="auto">
            <a:xfrm>
              <a:off x="4822441" y="1695759"/>
              <a:ext cx="632490" cy="431800"/>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IP </a:t>
              </a:r>
            </a:p>
            <a:p>
              <a:pPr algn="ctr"/>
              <a:r>
                <a:rPr lang="en-US" altLang="zh-CN" sz="1200" b="1" dirty="0">
                  <a:ea typeface="MS PGothic" pitchFamily="34" charset="-128"/>
                </a:rPr>
                <a:t>Header </a:t>
              </a:r>
            </a:p>
          </p:txBody>
        </p:sp>
      </p:grpSp>
      <p:sp>
        <p:nvSpPr>
          <p:cNvPr id="57" name="Rectangle 43"/>
          <p:cNvSpPr>
            <a:spLocks noChangeArrowheads="1"/>
          </p:cNvSpPr>
          <p:nvPr/>
        </p:nvSpPr>
        <p:spPr bwMode="auto">
          <a:xfrm>
            <a:off x="5336751" y="5266945"/>
            <a:ext cx="471488" cy="431800"/>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1200" b="1">
              <a:ea typeface="MS PGothic" pitchFamily="34" charset="-128"/>
            </a:endParaRPr>
          </a:p>
        </p:txBody>
      </p:sp>
      <p:sp>
        <p:nvSpPr>
          <p:cNvPr id="58" name="Text Box 44"/>
          <p:cNvSpPr txBox="1">
            <a:spLocks noChangeArrowheads="1"/>
          </p:cNvSpPr>
          <p:nvPr/>
        </p:nvSpPr>
        <p:spPr bwMode="auto">
          <a:xfrm>
            <a:off x="5624089" y="5290758"/>
            <a:ext cx="18716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MPLS Header</a:t>
            </a:r>
          </a:p>
        </p:txBody>
      </p:sp>
      <p:sp>
        <p:nvSpPr>
          <p:cNvPr id="59" name="Rectangle 45"/>
          <p:cNvSpPr>
            <a:spLocks noChangeArrowheads="1"/>
          </p:cNvSpPr>
          <p:nvPr/>
        </p:nvSpPr>
        <p:spPr bwMode="auto">
          <a:xfrm>
            <a:off x="7424314" y="5266945"/>
            <a:ext cx="558800" cy="433388"/>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1200" b="1">
              <a:ea typeface="MS PGothic" pitchFamily="34" charset="-128"/>
            </a:endParaRPr>
          </a:p>
        </p:txBody>
      </p:sp>
      <p:sp>
        <p:nvSpPr>
          <p:cNvPr id="60" name="Text Box 46"/>
          <p:cNvSpPr txBox="1">
            <a:spLocks noChangeArrowheads="1"/>
          </p:cNvSpPr>
          <p:nvPr/>
        </p:nvSpPr>
        <p:spPr bwMode="auto">
          <a:xfrm>
            <a:off x="7784676" y="5290758"/>
            <a:ext cx="11525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Data</a:t>
            </a:r>
          </a:p>
        </p:txBody>
      </p:sp>
      <p:sp>
        <p:nvSpPr>
          <p:cNvPr id="61" name="Rectangle 47"/>
          <p:cNvSpPr>
            <a:spLocks noChangeArrowheads="1"/>
          </p:cNvSpPr>
          <p:nvPr/>
        </p:nvSpPr>
        <p:spPr bwMode="auto">
          <a:xfrm>
            <a:off x="8937201" y="5266945"/>
            <a:ext cx="647700" cy="433388"/>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1200" b="1">
              <a:ea typeface="MS PGothic" pitchFamily="34" charset="-128"/>
            </a:endParaRPr>
          </a:p>
        </p:txBody>
      </p:sp>
      <p:sp>
        <p:nvSpPr>
          <p:cNvPr id="62" name="Text Box 48"/>
          <p:cNvSpPr txBox="1">
            <a:spLocks noChangeArrowheads="1"/>
          </p:cNvSpPr>
          <p:nvPr/>
        </p:nvSpPr>
        <p:spPr bwMode="auto">
          <a:xfrm>
            <a:off x="9656339" y="5292345"/>
            <a:ext cx="11525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IP Header</a:t>
            </a:r>
          </a:p>
        </p:txBody>
      </p:sp>
      <p:pic>
        <p:nvPicPr>
          <p:cNvPr id="63" name="Picture 60" descr="云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61164" y="4403345"/>
            <a:ext cx="1584325" cy="63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Text Box 61"/>
          <p:cNvSpPr txBox="1">
            <a:spLocks noChangeArrowheads="1"/>
          </p:cNvSpPr>
          <p:nvPr/>
        </p:nvSpPr>
        <p:spPr bwMode="auto">
          <a:xfrm>
            <a:off x="10305626" y="4546220"/>
            <a:ext cx="12604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dirty="0">
                <a:ea typeface="MS PGothic" pitchFamily="34" charset="-128"/>
              </a:rPr>
              <a:t>10.2.0.0/24</a:t>
            </a:r>
          </a:p>
        </p:txBody>
      </p:sp>
      <p:sp>
        <p:nvSpPr>
          <p:cNvPr id="65" name="Rectangle 50"/>
          <p:cNvSpPr>
            <a:spLocks noChangeArrowheads="1"/>
          </p:cNvSpPr>
          <p:nvPr/>
        </p:nvSpPr>
        <p:spPr bwMode="auto">
          <a:xfrm>
            <a:off x="6995667" y="1784062"/>
            <a:ext cx="471488" cy="431800"/>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1029</a:t>
            </a:r>
          </a:p>
        </p:txBody>
      </p:sp>
      <p:grpSp>
        <p:nvGrpSpPr>
          <p:cNvPr id="66" name="组合 65"/>
          <p:cNvGrpSpPr/>
          <p:nvPr/>
        </p:nvGrpSpPr>
        <p:grpSpPr>
          <a:xfrm>
            <a:off x="7467155" y="1782475"/>
            <a:ext cx="1150937" cy="433387"/>
            <a:chOff x="7135389" y="1584591"/>
            <a:chExt cx="1150937" cy="433387"/>
          </a:xfrm>
        </p:grpSpPr>
        <p:sp>
          <p:nvSpPr>
            <p:cNvPr id="67" name="Rectangle 51"/>
            <p:cNvSpPr>
              <a:spLocks noChangeArrowheads="1"/>
            </p:cNvSpPr>
            <p:nvPr/>
          </p:nvSpPr>
          <p:spPr bwMode="auto">
            <a:xfrm>
              <a:off x="7727526" y="1584591"/>
              <a:ext cx="558800" cy="433387"/>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68" name="Rectangle 52"/>
            <p:cNvSpPr>
              <a:spLocks noChangeArrowheads="1"/>
            </p:cNvSpPr>
            <p:nvPr/>
          </p:nvSpPr>
          <p:spPr bwMode="auto">
            <a:xfrm>
              <a:off x="7135389" y="1584591"/>
              <a:ext cx="647700" cy="433387"/>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IP </a:t>
              </a:r>
            </a:p>
            <a:p>
              <a:pPr algn="ctr"/>
              <a:r>
                <a:rPr lang="en-US" altLang="zh-CN" sz="1200" b="1" dirty="0">
                  <a:ea typeface="MS PGothic" pitchFamily="34" charset="-128"/>
                </a:rPr>
                <a:t>Header </a:t>
              </a:r>
            </a:p>
          </p:txBody>
        </p:sp>
      </p:grpSp>
      <p:sp>
        <p:nvSpPr>
          <p:cNvPr id="69" name="Rectangle 54"/>
          <p:cNvSpPr>
            <a:spLocks noChangeArrowheads="1"/>
          </p:cNvSpPr>
          <p:nvPr/>
        </p:nvSpPr>
        <p:spPr bwMode="auto">
          <a:xfrm>
            <a:off x="9083229" y="1784062"/>
            <a:ext cx="471488" cy="431800"/>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1039</a:t>
            </a:r>
          </a:p>
        </p:txBody>
      </p:sp>
      <p:grpSp>
        <p:nvGrpSpPr>
          <p:cNvPr id="70" name="组合 69"/>
          <p:cNvGrpSpPr/>
          <p:nvPr/>
        </p:nvGrpSpPr>
        <p:grpSpPr>
          <a:xfrm>
            <a:off x="9554717" y="1782475"/>
            <a:ext cx="1150937" cy="433387"/>
            <a:chOff x="9222951" y="1584591"/>
            <a:chExt cx="1150937" cy="433387"/>
          </a:xfrm>
        </p:grpSpPr>
        <p:sp>
          <p:nvSpPr>
            <p:cNvPr id="71" name="Rectangle 55"/>
            <p:cNvSpPr>
              <a:spLocks noChangeArrowheads="1"/>
            </p:cNvSpPr>
            <p:nvPr/>
          </p:nvSpPr>
          <p:spPr bwMode="auto">
            <a:xfrm>
              <a:off x="9815088" y="1584591"/>
              <a:ext cx="558800" cy="433387"/>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72" name="Rectangle 56"/>
            <p:cNvSpPr>
              <a:spLocks noChangeArrowheads="1"/>
            </p:cNvSpPr>
            <p:nvPr/>
          </p:nvSpPr>
          <p:spPr bwMode="auto">
            <a:xfrm>
              <a:off x="9222951" y="1584591"/>
              <a:ext cx="647700" cy="433387"/>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IP </a:t>
              </a:r>
            </a:p>
            <a:p>
              <a:pPr algn="ctr"/>
              <a:r>
                <a:rPr lang="en-US" altLang="zh-CN" sz="1200" b="1" dirty="0">
                  <a:ea typeface="MS PGothic" pitchFamily="34" charset="-128"/>
                </a:rPr>
                <a:t>Header </a:t>
              </a:r>
            </a:p>
          </p:txBody>
        </p:sp>
      </p:grpSp>
      <p:grpSp>
        <p:nvGrpSpPr>
          <p:cNvPr id="73" name="Group 57"/>
          <p:cNvGrpSpPr>
            <a:grpSpLocks/>
          </p:cNvGrpSpPr>
          <p:nvPr/>
        </p:nvGrpSpPr>
        <p:grpSpPr bwMode="auto">
          <a:xfrm>
            <a:off x="11442090" y="3161920"/>
            <a:ext cx="433388" cy="1206500"/>
            <a:chOff x="1564" y="2841"/>
            <a:chExt cx="273" cy="760"/>
          </a:xfrm>
        </p:grpSpPr>
        <p:sp>
          <p:nvSpPr>
            <p:cNvPr id="74" name="Rectangle 58"/>
            <p:cNvSpPr>
              <a:spLocks noChangeArrowheads="1"/>
            </p:cNvSpPr>
            <p:nvPr/>
          </p:nvSpPr>
          <p:spPr bwMode="auto">
            <a:xfrm rot="5400000">
              <a:off x="1525" y="3288"/>
              <a:ext cx="352" cy="273"/>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75" name="Rectangle 59"/>
            <p:cNvSpPr>
              <a:spLocks noChangeArrowheads="1"/>
            </p:cNvSpPr>
            <p:nvPr/>
          </p:nvSpPr>
          <p:spPr bwMode="auto">
            <a:xfrm rot="5400000">
              <a:off x="1497" y="2908"/>
              <a:ext cx="408" cy="273"/>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IP </a:t>
              </a:r>
            </a:p>
            <a:p>
              <a:pPr algn="ctr"/>
              <a:r>
                <a:rPr lang="en-US" altLang="zh-CN" sz="1200" b="1">
                  <a:ea typeface="MS PGothic" pitchFamily="34" charset="-128"/>
                </a:rPr>
                <a:t>Header </a:t>
              </a:r>
            </a:p>
          </p:txBody>
        </p:sp>
      </p:grpSp>
    </p:spTree>
    <p:extLst>
      <p:ext uri="{BB962C8B-B14F-4D97-AF65-F5344CB8AC3E}">
        <p14:creationId xmlns:p14="http://schemas.microsoft.com/office/powerpoint/2010/main" val="1800644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blinds(horizontal)">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nodeType="clickEffect">
                                  <p:stCondLst>
                                    <p:cond delay="0"/>
                                  </p:stCondLst>
                                  <p:childTnLst>
                                    <p:set>
                                      <p:cBhvr>
                                        <p:cTn id="11" dur="1" fill="hold">
                                          <p:stCondLst>
                                            <p:cond delay="0"/>
                                          </p:stCondLst>
                                        </p:cTn>
                                        <p:tgtEl>
                                          <p:spTgt spid="48"/>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54"/>
                                        </p:tgtEl>
                                        <p:attrNameLst>
                                          <p:attrName>style.visibility</p:attrName>
                                        </p:attrNameLst>
                                      </p:cBhvr>
                                      <p:to>
                                        <p:strVal val="visible"/>
                                      </p:to>
                                    </p:set>
                                    <p:animEffect transition="in" filter="blinds(horizontal)">
                                      <p:cBhvr>
                                        <p:cTn id="16" dur="500"/>
                                        <p:tgtEl>
                                          <p:spTgt spid="54"/>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blinds(horizontal)">
                                      <p:cBhvr>
                                        <p:cTn id="21" dur="500"/>
                                        <p:tgtEl>
                                          <p:spTgt spid="53"/>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nodeType="clickEffect">
                                  <p:stCondLst>
                                    <p:cond delay="0"/>
                                  </p:stCondLst>
                                  <p:childTnLst>
                                    <p:set>
                                      <p:cBhvr>
                                        <p:cTn id="25" dur="1" fill="hold">
                                          <p:stCondLst>
                                            <p:cond delay="0"/>
                                          </p:stCondLst>
                                        </p:cTn>
                                        <p:tgtEl>
                                          <p:spTgt spid="54"/>
                                        </p:tgtEl>
                                        <p:attrNameLst>
                                          <p:attrName>style.visibility</p:attrName>
                                        </p:attrNameLst>
                                      </p:cBhvr>
                                      <p:to>
                                        <p:strVal val="hidden"/>
                                      </p:to>
                                    </p:set>
                                  </p:childTnLst>
                                </p:cTn>
                              </p:par>
                              <p:par>
                                <p:cTn id="26" presetID="1" presetClass="exit" presetSubtype="0" fill="hold" grpId="1" nodeType="withEffect">
                                  <p:stCondLst>
                                    <p:cond delay="0"/>
                                  </p:stCondLst>
                                  <p:childTnLst>
                                    <p:set>
                                      <p:cBhvr>
                                        <p:cTn id="27" dur="1" fill="hold">
                                          <p:stCondLst>
                                            <p:cond delay="0"/>
                                          </p:stCondLst>
                                        </p:cTn>
                                        <p:tgtEl>
                                          <p:spTgt spid="53"/>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66"/>
                                        </p:tgtEl>
                                        <p:attrNameLst>
                                          <p:attrName>style.visibility</p:attrName>
                                        </p:attrNameLst>
                                      </p:cBhvr>
                                      <p:to>
                                        <p:strVal val="visible"/>
                                      </p:to>
                                    </p:set>
                                    <p:animEffect transition="in" filter="blinds(horizontal)">
                                      <p:cBhvr>
                                        <p:cTn id="32" dur="500"/>
                                        <p:tgtEl>
                                          <p:spTgt spid="66"/>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65"/>
                                        </p:tgtEl>
                                        <p:attrNameLst>
                                          <p:attrName>style.visibility</p:attrName>
                                        </p:attrNameLst>
                                      </p:cBhvr>
                                      <p:to>
                                        <p:strVal val="visible"/>
                                      </p:to>
                                    </p:set>
                                    <p:animEffect transition="in" filter="blinds(horizontal)">
                                      <p:cBhvr>
                                        <p:cTn id="37" dur="500"/>
                                        <p:tgtEl>
                                          <p:spTgt spid="65"/>
                                        </p:tgtEl>
                                      </p:cBhvr>
                                    </p:animEffect>
                                  </p:childTnLst>
                                </p:cTn>
                              </p:par>
                            </p:childTnLst>
                          </p:cTn>
                        </p:par>
                      </p:childTnLst>
                    </p:cTn>
                  </p:par>
                  <p:par>
                    <p:cTn id="38" fill="hold">
                      <p:stCondLst>
                        <p:cond delay="indefinite"/>
                      </p:stCondLst>
                      <p:childTnLst>
                        <p:par>
                          <p:cTn id="39" fill="hold">
                            <p:stCondLst>
                              <p:cond delay="0"/>
                            </p:stCondLst>
                            <p:childTnLst>
                              <p:par>
                                <p:cTn id="40" presetID="1" presetClass="exit" presetSubtype="0" fill="hold" nodeType="clickEffect">
                                  <p:stCondLst>
                                    <p:cond delay="0"/>
                                  </p:stCondLst>
                                  <p:childTnLst>
                                    <p:set>
                                      <p:cBhvr>
                                        <p:cTn id="41" dur="1" fill="hold">
                                          <p:stCondLst>
                                            <p:cond delay="0"/>
                                          </p:stCondLst>
                                        </p:cTn>
                                        <p:tgtEl>
                                          <p:spTgt spid="66"/>
                                        </p:tgtEl>
                                        <p:attrNameLst>
                                          <p:attrName>style.visibility</p:attrName>
                                        </p:attrNameLst>
                                      </p:cBhvr>
                                      <p:to>
                                        <p:strVal val="hidden"/>
                                      </p:to>
                                    </p:set>
                                  </p:childTnLst>
                                </p:cTn>
                              </p:par>
                              <p:par>
                                <p:cTn id="42" presetID="1" presetClass="exit" presetSubtype="0" fill="hold" grpId="1" nodeType="withEffect">
                                  <p:stCondLst>
                                    <p:cond delay="0"/>
                                  </p:stCondLst>
                                  <p:childTnLst>
                                    <p:set>
                                      <p:cBhvr>
                                        <p:cTn id="43" dur="1" fill="hold">
                                          <p:stCondLst>
                                            <p:cond delay="0"/>
                                          </p:stCondLst>
                                        </p:cTn>
                                        <p:tgtEl>
                                          <p:spTgt spid="65"/>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70"/>
                                        </p:tgtEl>
                                        <p:attrNameLst>
                                          <p:attrName>style.visibility</p:attrName>
                                        </p:attrNameLst>
                                      </p:cBhvr>
                                      <p:to>
                                        <p:strVal val="visible"/>
                                      </p:to>
                                    </p:set>
                                    <p:animEffect transition="in" filter="blinds(horizontal)">
                                      <p:cBhvr>
                                        <p:cTn id="48" dur="500"/>
                                        <p:tgtEl>
                                          <p:spTgt spid="70"/>
                                        </p:tgtEl>
                                      </p:cBhvr>
                                    </p:animEffect>
                                  </p:childTnLst>
                                </p:cTn>
                              </p:par>
                            </p:childTnLst>
                          </p:cTn>
                        </p:par>
                      </p:childTnLst>
                    </p:cTn>
                  </p:par>
                  <p:par>
                    <p:cTn id="49" fill="hold">
                      <p:stCondLst>
                        <p:cond delay="indefinite"/>
                      </p:stCondLst>
                      <p:childTnLst>
                        <p:par>
                          <p:cTn id="50" fill="hold">
                            <p:stCondLst>
                              <p:cond delay="0"/>
                            </p:stCondLst>
                            <p:childTnLst>
                              <p:par>
                                <p:cTn id="51" presetID="3" presetClass="entr" presetSubtype="10" fill="hold" grpId="0" nodeType="clickEffect">
                                  <p:stCondLst>
                                    <p:cond delay="0"/>
                                  </p:stCondLst>
                                  <p:childTnLst>
                                    <p:set>
                                      <p:cBhvr>
                                        <p:cTn id="52" dur="1" fill="hold">
                                          <p:stCondLst>
                                            <p:cond delay="0"/>
                                          </p:stCondLst>
                                        </p:cTn>
                                        <p:tgtEl>
                                          <p:spTgt spid="69"/>
                                        </p:tgtEl>
                                        <p:attrNameLst>
                                          <p:attrName>style.visibility</p:attrName>
                                        </p:attrNameLst>
                                      </p:cBhvr>
                                      <p:to>
                                        <p:strVal val="visible"/>
                                      </p:to>
                                    </p:set>
                                    <p:animEffect transition="in" filter="blinds(horizontal)">
                                      <p:cBhvr>
                                        <p:cTn id="53" dur="500"/>
                                        <p:tgtEl>
                                          <p:spTgt spid="69"/>
                                        </p:tgtEl>
                                      </p:cBhvr>
                                    </p:animEffect>
                                  </p:childTnLst>
                                </p:cTn>
                              </p:par>
                            </p:childTnLst>
                          </p:cTn>
                        </p:par>
                      </p:childTnLst>
                    </p:cTn>
                  </p:par>
                  <p:par>
                    <p:cTn id="54" fill="hold">
                      <p:stCondLst>
                        <p:cond delay="indefinite"/>
                      </p:stCondLst>
                      <p:childTnLst>
                        <p:par>
                          <p:cTn id="55" fill="hold">
                            <p:stCondLst>
                              <p:cond delay="0"/>
                            </p:stCondLst>
                            <p:childTnLst>
                              <p:par>
                                <p:cTn id="56" presetID="1" presetClass="exit" presetSubtype="0" fill="hold" nodeType="clickEffect">
                                  <p:stCondLst>
                                    <p:cond delay="0"/>
                                  </p:stCondLst>
                                  <p:childTnLst>
                                    <p:set>
                                      <p:cBhvr>
                                        <p:cTn id="57" dur="1" fill="hold">
                                          <p:stCondLst>
                                            <p:cond delay="0"/>
                                          </p:stCondLst>
                                        </p:cTn>
                                        <p:tgtEl>
                                          <p:spTgt spid="70"/>
                                        </p:tgtEl>
                                        <p:attrNameLst>
                                          <p:attrName>style.visibility</p:attrName>
                                        </p:attrNameLst>
                                      </p:cBhvr>
                                      <p:to>
                                        <p:strVal val="hidden"/>
                                      </p:to>
                                    </p:set>
                                  </p:childTnLst>
                                </p:cTn>
                              </p:par>
                              <p:par>
                                <p:cTn id="58" presetID="1" presetClass="exit" presetSubtype="0" fill="hold" grpId="1" nodeType="withEffect">
                                  <p:stCondLst>
                                    <p:cond delay="0"/>
                                  </p:stCondLst>
                                  <p:childTnLst>
                                    <p:set>
                                      <p:cBhvr>
                                        <p:cTn id="59" dur="1" fill="hold">
                                          <p:stCondLst>
                                            <p:cond delay="0"/>
                                          </p:stCondLst>
                                        </p:cTn>
                                        <p:tgtEl>
                                          <p:spTgt spid="69"/>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3" presetClass="entr" presetSubtype="10" fill="hold" nodeType="clickEffect">
                                  <p:stCondLst>
                                    <p:cond delay="0"/>
                                  </p:stCondLst>
                                  <p:childTnLst>
                                    <p:set>
                                      <p:cBhvr>
                                        <p:cTn id="63" dur="1" fill="hold">
                                          <p:stCondLst>
                                            <p:cond delay="0"/>
                                          </p:stCondLst>
                                        </p:cTn>
                                        <p:tgtEl>
                                          <p:spTgt spid="73"/>
                                        </p:tgtEl>
                                        <p:attrNameLst>
                                          <p:attrName>style.visibility</p:attrName>
                                        </p:attrNameLst>
                                      </p:cBhvr>
                                      <p:to>
                                        <p:strVal val="visible"/>
                                      </p:to>
                                    </p:set>
                                    <p:animEffect transition="in" filter="blinds(horizontal)">
                                      <p:cBhvr>
                                        <p:cTn id="64"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3" grpId="1" animBg="1"/>
      <p:bldP spid="65" grpId="0" animBg="1"/>
      <p:bldP spid="65" grpId="1" animBg="1"/>
      <p:bldP spid="69" grpId="0" animBg="1"/>
      <p:bldP spid="69" grpId="1"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标签</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5.7.4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58"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zh-CN" altLang="en-US" dirty="0"/>
              <a:t>标签</a:t>
            </a:r>
            <a:r>
              <a:rPr lang="zh-CN" altLang="zh-CN" dirty="0"/>
              <a:t>仅仅在两个</a:t>
            </a:r>
            <a:r>
              <a:rPr lang="en-US" altLang="zh-CN" dirty="0"/>
              <a:t>LSR </a:t>
            </a:r>
            <a:r>
              <a:rPr lang="zh-CN" altLang="zh-CN" dirty="0"/>
              <a:t>之间才有意义</a:t>
            </a:r>
            <a:endParaRPr lang="en-US" altLang="zh-CN" dirty="0"/>
          </a:p>
          <a:p>
            <a:pPr>
              <a:lnSpc>
                <a:spcPct val="120000"/>
              </a:lnSpc>
            </a:pPr>
            <a:r>
              <a:rPr lang="en-US" altLang="zh-CN" dirty="0"/>
              <a:t>LSR</a:t>
            </a:r>
            <a:r>
              <a:rPr lang="zh-CN" altLang="en-US" dirty="0"/>
              <a:t>会维护一张转发表</a:t>
            </a:r>
            <a:endParaRPr lang="en-US" altLang="zh-CN" dirty="0"/>
          </a:p>
        </p:txBody>
      </p:sp>
      <p:graphicFrame>
        <p:nvGraphicFramePr>
          <p:cNvPr id="59" name="表格 58"/>
          <p:cNvGraphicFramePr>
            <a:graphicFrameLocks noGrp="1"/>
          </p:cNvGraphicFramePr>
          <p:nvPr/>
        </p:nvGraphicFramePr>
        <p:xfrm>
          <a:off x="2349464" y="3135635"/>
          <a:ext cx="6408716" cy="1107678"/>
        </p:xfrm>
        <a:graphic>
          <a:graphicData uri="http://schemas.openxmlformats.org/drawingml/2006/table">
            <a:tbl>
              <a:tblPr firstRow="1" firstCol="1" lastRow="1" lastCol="1" bandRow="1" bandCol="1">
                <a:tableStyleId>{5C22544A-7EE6-4342-B048-85BDC9FD1C3A}</a:tableStyleId>
              </a:tblPr>
              <a:tblGrid>
                <a:gridCol w="1602179">
                  <a:extLst>
                    <a:ext uri="{9D8B030D-6E8A-4147-A177-3AD203B41FA5}">
                      <a16:colId xmlns:a16="http://schemas.microsoft.com/office/drawing/2014/main" val="20000"/>
                    </a:ext>
                  </a:extLst>
                </a:gridCol>
                <a:gridCol w="1602179">
                  <a:extLst>
                    <a:ext uri="{9D8B030D-6E8A-4147-A177-3AD203B41FA5}">
                      <a16:colId xmlns:a16="http://schemas.microsoft.com/office/drawing/2014/main" val="20001"/>
                    </a:ext>
                  </a:extLst>
                </a:gridCol>
                <a:gridCol w="1602179">
                  <a:extLst>
                    <a:ext uri="{9D8B030D-6E8A-4147-A177-3AD203B41FA5}">
                      <a16:colId xmlns:a16="http://schemas.microsoft.com/office/drawing/2014/main" val="20002"/>
                    </a:ext>
                  </a:extLst>
                </a:gridCol>
                <a:gridCol w="1602179">
                  <a:extLst>
                    <a:ext uri="{9D8B030D-6E8A-4147-A177-3AD203B41FA5}">
                      <a16:colId xmlns:a16="http://schemas.microsoft.com/office/drawing/2014/main" val="20003"/>
                    </a:ext>
                  </a:extLst>
                </a:gridCol>
              </a:tblGrid>
              <a:tr h="553839">
                <a:tc>
                  <a:txBody>
                    <a:bodyPr/>
                    <a:lstStyle/>
                    <a:p>
                      <a:pPr algn="ctr">
                        <a:lnSpc>
                          <a:spcPct val="100000"/>
                        </a:lnSpc>
                        <a:spcAft>
                          <a:spcPts val="0"/>
                        </a:spcAft>
                      </a:pPr>
                      <a:r>
                        <a:rPr lang="zh-CN" sz="2800" b="1" dirty="0">
                          <a:solidFill>
                            <a:schemeClr val="tx1"/>
                          </a:solidFill>
                          <a:effectLst/>
                          <a:latin typeface="+mn-lt"/>
                          <a:ea typeface="黑体" pitchFamily="2" charset="-122"/>
                        </a:rPr>
                        <a:t>入接口</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入标记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出接口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出标记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extLst>
                  <a:ext uri="{0D108BD9-81ED-4DB2-BD59-A6C34878D82A}">
                    <a16:rowId xmlns:a16="http://schemas.microsoft.com/office/drawing/2014/main" val="10000"/>
                  </a:ext>
                </a:extLst>
              </a:tr>
              <a:tr h="553839">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3</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1</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bl>
          </a:graphicData>
        </a:graphic>
      </p:graphicFrame>
      <p:sp>
        <p:nvSpPr>
          <p:cNvPr id="60" name="矩形 59"/>
          <p:cNvSpPr/>
          <p:nvPr/>
        </p:nvSpPr>
        <p:spPr>
          <a:xfrm>
            <a:off x="4717801" y="2659137"/>
            <a:ext cx="1112805" cy="461665"/>
          </a:xfrm>
          <a:prstGeom prst="rect">
            <a:avLst/>
          </a:prstGeom>
        </p:spPr>
        <p:txBody>
          <a:bodyPr wrap="none">
            <a:spAutoFit/>
          </a:bodyPr>
          <a:lstStyle/>
          <a:p>
            <a:r>
              <a:rPr lang="zh-CN" altLang="en-US" sz="2400" b="1" dirty="0">
                <a:latin typeface="+mn-lt"/>
                <a:ea typeface="黑体" pitchFamily="2" charset="-122"/>
              </a:rPr>
              <a:t>转发表</a:t>
            </a:r>
          </a:p>
        </p:txBody>
      </p:sp>
      <p:sp>
        <p:nvSpPr>
          <p:cNvPr id="65" name="矩形 64"/>
          <p:cNvSpPr/>
          <p:nvPr/>
        </p:nvSpPr>
        <p:spPr>
          <a:xfrm>
            <a:off x="838200" y="5038285"/>
            <a:ext cx="10608733" cy="954107"/>
          </a:xfrm>
          <a:prstGeom prst="rect">
            <a:avLst/>
          </a:prstGeom>
          <a:ln>
            <a:noFill/>
          </a:ln>
        </p:spPr>
        <p:style>
          <a:lnRef idx="2">
            <a:schemeClr val="dk1"/>
          </a:lnRef>
          <a:fillRef idx="1">
            <a:schemeClr val="lt1"/>
          </a:fillRef>
          <a:effectRef idx="0">
            <a:schemeClr val="dk1"/>
          </a:effectRef>
          <a:fontRef idx="minor">
            <a:schemeClr val="dk1"/>
          </a:fontRef>
        </p:style>
        <p:txBody>
          <a:bodyPr wrap="square">
            <a:spAutoFit/>
          </a:bodyPr>
          <a:lstStyle/>
          <a:p>
            <a:r>
              <a:rPr lang="zh-CN" altLang="en-US" sz="2800" dirty="0">
                <a:solidFill>
                  <a:schemeClr val="tx1"/>
                </a:solidFill>
                <a:latin typeface="+mn-lt"/>
                <a:ea typeface="黑体" pitchFamily="2" charset="-122"/>
              </a:rPr>
              <a:t>表项含义：</a:t>
            </a:r>
            <a:r>
              <a:rPr lang="zh-CN" altLang="zh-CN" sz="2800" dirty="0">
                <a:solidFill>
                  <a:schemeClr val="tx1"/>
                </a:solidFill>
                <a:latin typeface="+mn-lt"/>
                <a:ea typeface="黑体" pitchFamily="2" charset="-122"/>
              </a:rPr>
              <a:t>从入接口</a:t>
            </a:r>
            <a:r>
              <a:rPr lang="en-US" altLang="zh-CN" sz="2800" dirty="0">
                <a:solidFill>
                  <a:schemeClr val="tx1"/>
                </a:solidFill>
                <a:latin typeface="+mn-lt"/>
                <a:ea typeface="黑体" pitchFamily="2" charset="-122"/>
              </a:rPr>
              <a:t> 0 </a:t>
            </a:r>
            <a:r>
              <a:rPr lang="zh-CN" altLang="zh-CN" sz="2800" dirty="0">
                <a:solidFill>
                  <a:schemeClr val="tx1"/>
                </a:solidFill>
                <a:latin typeface="+mn-lt"/>
                <a:ea typeface="黑体" pitchFamily="2" charset="-122"/>
              </a:rPr>
              <a:t>收到一个入标记为</a:t>
            </a:r>
            <a:r>
              <a:rPr lang="en-US" altLang="zh-CN" sz="2800" dirty="0">
                <a:solidFill>
                  <a:schemeClr val="tx1"/>
                </a:solidFill>
                <a:latin typeface="+mn-lt"/>
                <a:ea typeface="黑体" pitchFamily="2" charset="-122"/>
              </a:rPr>
              <a:t> 3 </a:t>
            </a:r>
            <a:r>
              <a:rPr lang="zh-CN" altLang="zh-CN" sz="2800" dirty="0">
                <a:solidFill>
                  <a:schemeClr val="tx1"/>
                </a:solidFill>
                <a:latin typeface="+mn-lt"/>
                <a:ea typeface="黑体" pitchFamily="2" charset="-122"/>
              </a:rPr>
              <a:t>的</a:t>
            </a:r>
            <a:r>
              <a:rPr lang="en-US" altLang="zh-CN" sz="2800" dirty="0">
                <a:solidFill>
                  <a:schemeClr val="tx1"/>
                </a:solidFill>
                <a:latin typeface="+mn-lt"/>
                <a:ea typeface="黑体" pitchFamily="2" charset="-122"/>
              </a:rPr>
              <a:t>IP </a:t>
            </a:r>
            <a:r>
              <a:rPr lang="zh-CN" altLang="zh-CN" sz="2800" dirty="0">
                <a:solidFill>
                  <a:schemeClr val="tx1"/>
                </a:solidFill>
                <a:latin typeface="+mn-lt"/>
                <a:ea typeface="黑体" pitchFamily="2" charset="-122"/>
              </a:rPr>
              <a:t>数据报</a:t>
            </a:r>
            <a:r>
              <a:rPr lang="zh-CN" altLang="en-US" sz="2800" dirty="0">
                <a:solidFill>
                  <a:schemeClr val="tx1"/>
                </a:solidFill>
                <a:latin typeface="+mn-lt"/>
                <a:ea typeface="黑体" pitchFamily="2" charset="-122"/>
              </a:rPr>
              <a:t>，转发时，</a:t>
            </a:r>
            <a:r>
              <a:rPr lang="zh-CN" altLang="zh-CN" sz="2800" dirty="0">
                <a:solidFill>
                  <a:schemeClr val="tx1"/>
                </a:solidFill>
                <a:latin typeface="+mn-lt"/>
                <a:ea typeface="黑体" pitchFamily="2" charset="-122"/>
              </a:rPr>
              <a:t>应当把该</a:t>
            </a:r>
            <a:r>
              <a:rPr lang="en-US" altLang="zh-CN" sz="2800" dirty="0">
                <a:solidFill>
                  <a:schemeClr val="tx1"/>
                </a:solidFill>
                <a:latin typeface="+mn-lt"/>
                <a:ea typeface="黑体" pitchFamily="2" charset="-122"/>
              </a:rPr>
              <a:t>IP</a:t>
            </a:r>
            <a:r>
              <a:rPr lang="zh-CN" altLang="zh-CN" sz="2800" dirty="0">
                <a:solidFill>
                  <a:schemeClr val="tx1"/>
                </a:solidFill>
                <a:latin typeface="+mn-lt"/>
                <a:ea typeface="黑体" pitchFamily="2" charset="-122"/>
              </a:rPr>
              <a:t>数据报从出接口</a:t>
            </a:r>
            <a:r>
              <a:rPr lang="en-US" altLang="zh-CN" sz="2800" dirty="0">
                <a:solidFill>
                  <a:schemeClr val="tx1"/>
                </a:solidFill>
                <a:latin typeface="+mn-lt"/>
                <a:ea typeface="黑体" pitchFamily="2" charset="-122"/>
              </a:rPr>
              <a:t> 1 </a:t>
            </a:r>
            <a:r>
              <a:rPr lang="zh-CN" altLang="zh-CN" sz="2800" dirty="0">
                <a:solidFill>
                  <a:schemeClr val="tx1"/>
                </a:solidFill>
                <a:latin typeface="+mn-lt"/>
                <a:ea typeface="黑体" pitchFamily="2" charset="-122"/>
              </a:rPr>
              <a:t>转发出去，同时把标记对换为</a:t>
            </a:r>
            <a:r>
              <a:rPr lang="en-US" altLang="zh-CN" sz="2800" dirty="0">
                <a:solidFill>
                  <a:schemeClr val="tx1"/>
                </a:solidFill>
                <a:latin typeface="+mn-lt"/>
                <a:ea typeface="黑体" pitchFamily="2" charset="-122"/>
              </a:rPr>
              <a:t> 1</a:t>
            </a:r>
            <a:r>
              <a:rPr lang="zh-CN" altLang="zh-CN" sz="2800" dirty="0">
                <a:solidFill>
                  <a:schemeClr val="tx1"/>
                </a:solidFill>
                <a:latin typeface="+mn-lt"/>
                <a:ea typeface="黑体" pitchFamily="2" charset="-122"/>
              </a:rPr>
              <a:t>。</a:t>
            </a:r>
            <a:endParaRPr lang="zh-CN" altLang="en-US" sz="2800" dirty="0">
              <a:solidFill>
                <a:schemeClr val="tx1"/>
              </a:solidFill>
              <a:latin typeface="+mn-lt"/>
              <a:ea typeface="黑体" pitchFamily="2" charset="-122"/>
            </a:endParaRPr>
          </a:p>
        </p:txBody>
      </p:sp>
    </p:spTree>
    <p:extLst>
      <p:ext uri="{BB962C8B-B14F-4D97-AF65-F5344CB8AC3E}">
        <p14:creationId xmlns:p14="http://schemas.microsoft.com/office/powerpoint/2010/main" val="51061813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转发等价类</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5.7.4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9" name="内容占位符 2"/>
          <p:cNvSpPr>
            <a:spLocks noGrp="1"/>
          </p:cNvSpPr>
          <p:nvPr>
            <p:ph idx="1"/>
          </p:nvPr>
        </p:nvSpPr>
        <p:spPr>
          <a:xfrm>
            <a:off x="838200" y="1510758"/>
            <a:ext cx="10515600" cy="4586694"/>
          </a:xfrm>
        </p:spPr>
        <p:txBody>
          <a:bodyPr>
            <a:normAutofit/>
          </a:bodyPr>
          <a:lstStyle/>
          <a:p>
            <a:r>
              <a:rPr lang="zh-CN" altLang="en-US" dirty="0"/>
              <a:t>路由器</a:t>
            </a:r>
            <a:r>
              <a:rPr lang="zh-CN" altLang="en-US" dirty="0">
                <a:solidFill>
                  <a:srgbClr val="C00000"/>
                </a:solidFill>
              </a:rPr>
              <a:t>按照同样方式对待</a:t>
            </a:r>
            <a:r>
              <a:rPr lang="zh-CN" altLang="en-US" dirty="0"/>
              <a:t>的分组的集合就是一个</a:t>
            </a:r>
            <a:r>
              <a:rPr lang="zh-CN" altLang="en-US" dirty="0">
                <a:solidFill>
                  <a:srgbClr val="C00000"/>
                </a:solidFill>
              </a:rPr>
              <a:t>转发等价类</a:t>
            </a:r>
            <a:r>
              <a:rPr lang="en-US" altLang="zh-CN" dirty="0">
                <a:solidFill>
                  <a:srgbClr val="C00000"/>
                </a:solidFill>
              </a:rPr>
              <a:t>FEC</a:t>
            </a:r>
          </a:p>
          <a:p>
            <a:r>
              <a:rPr lang="zh-CN" altLang="en-US" dirty="0"/>
              <a:t>通常对一个</a:t>
            </a:r>
            <a:r>
              <a:rPr lang="en-US" altLang="zh-CN" dirty="0"/>
              <a:t>FEC</a:t>
            </a:r>
            <a:r>
              <a:rPr lang="zh-CN" altLang="en-US" dirty="0"/>
              <a:t>分配唯一的标签</a:t>
            </a:r>
            <a:endParaRPr lang="en-US" altLang="zh-CN" dirty="0"/>
          </a:p>
          <a:p>
            <a:pPr marL="996950" lvl="1" indent="-342900">
              <a:buFont typeface="Arial" panose="020B0604020202020204" pitchFamily="34" charset="0"/>
              <a:buChar char="•"/>
              <a:defRPr/>
            </a:pPr>
            <a:r>
              <a:rPr lang="zh-CN" altLang="en-US" dirty="0"/>
              <a:t>属于某特定组的组播报文</a:t>
            </a:r>
            <a:endParaRPr lang="en-US" altLang="zh-CN" dirty="0"/>
          </a:p>
          <a:p>
            <a:pPr marL="996950" lvl="1" indent="-342900">
              <a:buFont typeface="Arial" panose="020B0604020202020204" pitchFamily="34" charset="0"/>
              <a:buChar char="•"/>
              <a:defRPr/>
            </a:pPr>
            <a:r>
              <a:rPr lang="zh-CN" altLang="en-US" b="1" dirty="0">
                <a:solidFill>
                  <a:srgbClr val="C00000"/>
                </a:solidFill>
              </a:rPr>
              <a:t>目的</a:t>
            </a:r>
            <a:r>
              <a:rPr lang="en-US" altLang="zh-CN" b="1" dirty="0">
                <a:solidFill>
                  <a:srgbClr val="C00000"/>
                </a:solidFill>
              </a:rPr>
              <a:t>IP</a:t>
            </a:r>
            <a:r>
              <a:rPr lang="zh-CN" altLang="en-US" b="1" dirty="0">
                <a:solidFill>
                  <a:srgbClr val="C00000"/>
                </a:solidFill>
              </a:rPr>
              <a:t>地址匹配了一个特定前缀的报文</a:t>
            </a:r>
            <a:endParaRPr lang="en-US" altLang="zh-CN" b="1" dirty="0">
              <a:solidFill>
                <a:srgbClr val="C00000"/>
              </a:solidFill>
            </a:endParaRPr>
          </a:p>
          <a:p>
            <a:pPr marL="996950" lvl="1" indent="-342900">
              <a:buFont typeface="Arial" panose="020B0604020202020204" pitchFamily="34" charset="0"/>
              <a:buChar char="•"/>
              <a:defRPr/>
            </a:pPr>
            <a:r>
              <a:rPr lang="zh-CN" altLang="en-US" dirty="0"/>
              <a:t>有相同</a:t>
            </a:r>
            <a:r>
              <a:rPr lang="en-US" altLang="zh-CN" dirty="0" err="1"/>
              <a:t>QoS</a:t>
            </a:r>
            <a:r>
              <a:rPr lang="zh-CN" altLang="en-US" dirty="0"/>
              <a:t>策略的报文</a:t>
            </a:r>
            <a:endParaRPr lang="en-US" altLang="zh-CN" dirty="0"/>
          </a:p>
          <a:p>
            <a:pPr marL="996950" lvl="1" indent="-342900">
              <a:buFont typeface="Arial" panose="020B0604020202020204" pitchFamily="34" charset="0"/>
              <a:buChar char="•"/>
              <a:defRPr/>
            </a:pPr>
            <a:r>
              <a:rPr lang="zh-CN" altLang="en-US" dirty="0"/>
              <a:t>属于同一个</a:t>
            </a:r>
            <a:r>
              <a:rPr lang="en-US" altLang="zh-CN" dirty="0"/>
              <a:t>VPN</a:t>
            </a:r>
            <a:r>
              <a:rPr lang="zh-CN" altLang="en-US" dirty="0"/>
              <a:t>的报文（</a:t>
            </a:r>
            <a:r>
              <a:rPr lang="en-US" altLang="zh-CN" dirty="0"/>
              <a:t>MPLS VPN</a:t>
            </a:r>
            <a:r>
              <a:rPr lang="zh-CN" altLang="en-US" dirty="0"/>
              <a:t>中）</a:t>
            </a:r>
            <a:endParaRPr lang="en-US" altLang="zh-CN" dirty="0"/>
          </a:p>
          <a:p>
            <a:pPr marL="996950" lvl="1" indent="-342900">
              <a:buFont typeface="Arial" panose="020B0604020202020204" pitchFamily="34" charset="0"/>
              <a:buChar char="•"/>
              <a:defRPr/>
            </a:pPr>
            <a:r>
              <a:rPr lang="zh-CN" altLang="en-US" dirty="0"/>
              <a:t>报文的目的</a:t>
            </a:r>
            <a:r>
              <a:rPr lang="en-US" altLang="zh-CN" dirty="0"/>
              <a:t>IP</a:t>
            </a:r>
            <a:r>
              <a:rPr lang="zh-CN" altLang="en-US" dirty="0"/>
              <a:t>地址属于</a:t>
            </a:r>
            <a:r>
              <a:rPr lang="en-US" altLang="zh-CN" dirty="0"/>
              <a:t>BGP</a:t>
            </a:r>
            <a:r>
              <a:rPr lang="zh-CN" altLang="en-US" dirty="0"/>
              <a:t>学习到的路由，并且下一跳相同</a:t>
            </a:r>
            <a:endParaRPr lang="en-US" altLang="zh-CN" dirty="0"/>
          </a:p>
          <a:p>
            <a:pPr marL="996950" lvl="1" indent="-342900">
              <a:buFont typeface="Arial" panose="020B0604020202020204" pitchFamily="34" charset="0"/>
              <a:buChar char="•"/>
              <a:defRPr/>
            </a:pPr>
            <a:r>
              <a:rPr lang="zh-CN" altLang="en-US" dirty="0"/>
              <a:t>其他</a:t>
            </a:r>
          </a:p>
        </p:txBody>
      </p:sp>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5268" y="1510758"/>
            <a:ext cx="7121525" cy="442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3907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8194"/>
                                        </p:tgtEl>
                                        <p:attrNameLst>
                                          <p:attrName>style.visibility</p:attrName>
                                        </p:attrNameLst>
                                      </p:cBhvr>
                                      <p:to>
                                        <p:strVal val="visible"/>
                                      </p:to>
                                    </p:set>
                                    <p:animEffect transition="in" filter="wipe(down)">
                                      <p:cBhvr>
                                        <p:cTn id="7" dur="500"/>
                                        <p:tgtEl>
                                          <p:spTgt spid="8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报文结构</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5.7.4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3" name="内容占位符 2"/>
          <p:cNvSpPr>
            <a:spLocks noGrp="1"/>
          </p:cNvSpPr>
          <p:nvPr>
            <p:ph idx="1"/>
          </p:nvPr>
        </p:nvSpPr>
        <p:spPr>
          <a:xfrm>
            <a:off x="838200" y="1510758"/>
            <a:ext cx="10431893" cy="4586694"/>
          </a:xfrm>
        </p:spPr>
        <p:txBody>
          <a:bodyPr>
            <a:normAutofit/>
          </a:bodyPr>
          <a:lstStyle/>
          <a:p>
            <a:r>
              <a:rPr lang="zh-CN" altLang="zh-CN" dirty="0">
                <a:ea typeface="黑体" pitchFamily="2" charset="-122"/>
              </a:rPr>
              <a:t>“给</a:t>
            </a:r>
            <a:r>
              <a:rPr lang="en-US" altLang="zh-CN" dirty="0">
                <a:ea typeface="黑体" pitchFamily="2" charset="-122"/>
              </a:rPr>
              <a:t> IP </a:t>
            </a:r>
            <a:r>
              <a:rPr lang="zh-CN" altLang="zh-CN" dirty="0">
                <a:ea typeface="黑体" pitchFamily="2" charset="-122"/>
              </a:rPr>
              <a:t>数据报</a:t>
            </a:r>
            <a:r>
              <a:rPr lang="zh-CN" altLang="en-US" dirty="0">
                <a:ea typeface="黑体" pitchFamily="2" charset="-122"/>
              </a:rPr>
              <a:t>加</a:t>
            </a:r>
            <a:r>
              <a:rPr lang="zh-CN" altLang="zh-CN" dirty="0">
                <a:ea typeface="黑体" pitchFamily="2" charset="-122"/>
              </a:rPr>
              <a:t>标</a:t>
            </a:r>
            <a:r>
              <a:rPr lang="zh-CN" altLang="en-US" dirty="0">
                <a:ea typeface="黑体" pitchFamily="2" charset="-122"/>
              </a:rPr>
              <a:t>签</a:t>
            </a:r>
            <a:r>
              <a:rPr lang="zh-CN" altLang="zh-CN" dirty="0">
                <a:ea typeface="黑体" pitchFamily="2" charset="-122"/>
              </a:rPr>
              <a:t>”其实就是在以太网的帧首部和</a:t>
            </a:r>
            <a:r>
              <a:rPr lang="en-US" altLang="zh-CN" dirty="0">
                <a:ea typeface="黑体" pitchFamily="2" charset="-122"/>
              </a:rPr>
              <a:t>IP</a:t>
            </a:r>
            <a:r>
              <a:rPr lang="zh-CN" altLang="zh-CN" dirty="0">
                <a:ea typeface="黑体" pitchFamily="2" charset="-122"/>
              </a:rPr>
              <a:t>数据报的首部之间</a:t>
            </a:r>
            <a:r>
              <a:rPr lang="zh-CN" altLang="zh-CN" dirty="0">
                <a:solidFill>
                  <a:srgbClr val="C00000"/>
                </a:solidFill>
                <a:ea typeface="黑体" pitchFamily="2" charset="-122"/>
              </a:rPr>
              <a:t>插入一个</a:t>
            </a:r>
            <a:r>
              <a:rPr lang="en-US" altLang="zh-CN" dirty="0">
                <a:solidFill>
                  <a:srgbClr val="C00000"/>
                </a:solidFill>
                <a:ea typeface="黑体" pitchFamily="2" charset="-122"/>
              </a:rPr>
              <a:t> 4 </a:t>
            </a:r>
            <a:r>
              <a:rPr lang="zh-CN" altLang="zh-CN" dirty="0">
                <a:solidFill>
                  <a:srgbClr val="C00000"/>
                </a:solidFill>
                <a:ea typeface="黑体" pitchFamily="2" charset="-122"/>
              </a:rPr>
              <a:t>字节的</a:t>
            </a:r>
            <a:r>
              <a:rPr lang="en-US" altLang="zh-CN" dirty="0">
                <a:solidFill>
                  <a:srgbClr val="C00000"/>
                </a:solidFill>
                <a:ea typeface="黑体" pitchFamily="2" charset="-122"/>
              </a:rPr>
              <a:t> MPLS </a:t>
            </a:r>
            <a:r>
              <a:rPr lang="zh-CN" altLang="zh-CN" dirty="0">
                <a:solidFill>
                  <a:srgbClr val="C00000"/>
                </a:solidFill>
                <a:ea typeface="黑体" pitchFamily="2" charset="-122"/>
              </a:rPr>
              <a:t>首部</a:t>
            </a:r>
            <a:endParaRPr lang="en-US" altLang="zh-CN" dirty="0">
              <a:ea typeface="黑体" pitchFamily="2" charset="-122"/>
            </a:endParaRPr>
          </a:p>
          <a:p>
            <a:r>
              <a:rPr lang="en-US" altLang="zh-CN" dirty="0">
                <a:ea typeface="黑体" pitchFamily="2" charset="-122"/>
              </a:rPr>
              <a:t>MPLS</a:t>
            </a:r>
            <a:r>
              <a:rPr lang="zh-CN" altLang="en-US" dirty="0">
                <a:ea typeface="黑体" pitchFamily="2" charset="-122"/>
              </a:rPr>
              <a:t>又称为</a:t>
            </a:r>
            <a:r>
              <a:rPr lang="en-US" altLang="zh-CN" dirty="0">
                <a:solidFill>
                  <a:srgbClr val="C00000"/>
                </a:solidFill>
                <a:ea typeface="黑体" pitchFamily="2" charset="-122"/>
              </a:rPr>
              <a:t>2.5</a:t>
            </a:r>
            <a:r>
              <a:rPr lang="zh-CN" altLang="en-US" dirty="0">
                <a:ea typeface="黑体" pitchFamily="2" charset="-122"/>
              </a:rPr>
              <a:t>层协议</a:t>
            </a:r>
          </a:p>
          <a:p>
            <a:endParaRPr lang="zh-CN" altLang="en-US" dirty="0"/>
          </a:p>
        </p:txBody>
      </p:sp>
      <p:sp>
        <p:nvSpPr>
          <p:cNvPr id="8" name="Freeform 41"/>
          <p:cNvSpPr>
            <a:spLocks/>
          </p:cNvSpPr>
          <p:nvPr/>
        </p:nvSpPr>
        <p:spPr bwMode="auto">
          <a:xfrm>
            <a:off x="2330442" y="4032237"/>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CCECFF">
                  <a:gamma/>
                  <a:shade val="63529"/>
                  <a:invGamma/>
                </a:srgbClr>
              </a:gs>
              <a:gs pos="100000">
                <a:srgbClr val="66FFFF"/>
              </a:gs>
            </a:gsLst>
            <a:lin ang="5400000" scaled="1"/>
          </a:gradFill>
          <a:ln>
            <a:noFill/>
          </a:ln>
          <a:effectLst/>
        </p:spPr>
        <p:txBody>
          <a:bodyPr/>
          <a:lstStyle/>
          <a:p>
            <a:endParaRPr lang="zh-CN" altLang="en-US" b="1">
              <a:solidFill>
                <a:srgbClr val="000099"/>
              </a:solidFill>
              <a:latin typeface="+mn-lt"/>
              <a:ea typeface="黑体" pitchFamily="2" charset="-122"/>
            </a:endParaRPr>
          </a:p>
        </p:txBody>
      </p:sp>
      <p:sp>
        <p:nvSpPr>
          <p:cNvPr id="10" name="Line 2"/>
          <p:cNvSpPr>
            <a:spLocks noChangeShapeType="1"/>
          </p:cNvSpPr>
          <p:nvPr/>
        </p:nvSpPr>
        <p:spPr bwMode="auto">
          <a:xfrm flipV="1">
            <a:off x="5233451" y="4059225"/>
            <a:ext cx="5138738" cy="603250"/>
          </a:xfrm>
          <a:prstGeom prst="line">
            <a:avLst/>
          </a:prstGeom>
          <a:noFill/>
          <a:ln w="952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1" name="Text Box 3"/>
          <p:cNvSpPr txBox="1">
            <a:spLocks noChangeArrowheads="1"/>
          </p:cNvSpPr>
          <p:nvPr/>
        </p:nvSpPr>
        <p:spPr bwMode="auto">
          <a:xfrm>
            <a:off x="6365074" y="4286238"/>
            <a:ext cx="697627"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栈底</a:t>
            </a:r>
          </a:p>
        </p:txBody>
      </p:sp>
      <p:sp>
        <p:nvSpPr>
          <p:cNvPr id="12" name="Text Box 6"/>
          <p:cNvSpPr txBox="1">
            <a:spLocks noChangeArrowheads="1"/>
          </p:cNvSpPr>
          <p:nvPr/>
        </p:nvSpPr>
        <p:spPr bwMode="auto">
          <a:xfrm>
            <a:off x="4153422" y="4252900"/>
            <a:ext cx="697627" cy="400110"/>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栈顶</a:t>
            </a:r>
          </a:p>
        </p:txBody>
      </p:sp>
      <p:sp>
        <p:nvSpPr>
          <p:cNvPr id="13" name="Rectangle 8"/>
          <p:cNvSpPr>
            <a:spLocks noChangeArrowheads="1"/>
          </p:cNvSpPr>
          <p:nvPr/>
        </p:nvSpPr>
        <p:spPr bwMode="auto">
          <a:xfrm>
            <a:off x="2844661" y="4662475"/>
            <a:ext cx="982000"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dirty="0">
                <a:solidFill>
                  <a:srgbClr val="000099"/>
                </a:solidFill>
                <a:latin typeface="+mn-lt"/>
                <a:ea typeface="黑体" pitchFamily="2" charset="-122"/>
              </a:rPr>
              <a:t>帧首部  </a:t>
            </a:r>
          </a:p>
        </p:txBody>
      </p:sp>
      <p:sp>
        <p:nvSpPr>
          <p:cNvPr id="14" name="Rectangle 9"/>
          <p:cNvSpPr>
            <a:spLocks noChangeArrowheads="1"/>
          </p:cNvSpPr>
          <p:nvPr/>
        </p:nvSpPr>
        <p:spPr bwMode="auto">
          <a:xfrm>
            <a:off x="2320124" y="3506775"/>
            <a:ext cx="8038306" cy="525462"/>
          </a:xfrm>
          <a:prstGeom prst="rect">
            <a:avLst/>
          </a:prstGeom>
          <a:solidFill>
            <a:srgbClr val="66FFFF"/>
          </a:solidFill>
          <a:ln w="952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15" name="Line 10"/>
          <p:cNvSpPr>
            <a:spLocks noChangeShapeType="1"/>
          </p:cNvSpPr>
          <p:nvPr/>
        </p:nvSpPr>
        <p:spPr bwMode="auto">
          <a:xfrm>
            <a:off x="7343636" y="3506775"/>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7" name="Line 11"/>
          <p:cNvSpPr>
            <a:spLocks noChangeShapeType="1"/>
          </p:cNvSpPr>
          <p:nvPr/>
        </p:nvSpPr>
        <p:spPr bwMode="auto">
          <a:xfrm>
            <a:off x="8110663" y="3506775"/>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9" name="Line 12"/>
          <p:cNvSpPr>
            <a:spLocks noChangeShapeType="1"/>
          </p:cNvSpPr>
          <p:nvPr/>
        </p:nvSpPr>
        <p:spPr bwMode="auto">
          <a:xfrm>
            <a:off x="8349713" y="3506775"/>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0" name="Text Box 13"/>
          <p:cNvSpPr txBox="1">
            <a:spLocks noChangeArrowheads="1"/>
          </p:cNvSpPr>
          <p:nvPr/>
        </p:nvSpPr>
        <p:spPr bwMode="auto">
          <a:xfrm>
            <a:off x="4187817" y="3606788"/>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标   签   值</a:t>
            </a:r>
          </a:p>
        </p:txBody>
      </p:sp>
      <p:sp>
        <p:nvSpPr>
          <p:cNvPr id="21" name="Text Box 14"/>
          <p:cNvSpPr txBox="1">
            <a:spLocks noChangeArrowheads="1"/>
          </p:cNvSpPr>
          <p:nvPr/>
        </p:nvSpPr>
        <p:spPr bwMode="auto">
          <a:xfrm>
            <a:off x="8437424" y="3606788"/>
            <a:ext cx="17588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生存时间 </a:t>
            </a:r>
            <a:r>
              <a:rPr kumimoji="1" lang="en-US" altLang="zh-CN" sz="2000" b="1">
                <a:solidFill>
                  <a:srgbClr val="000099"/>
                </a:solidFill>
                <a:latin typeface="+mn-lt"/>
                <a:ea typeface="黑体" pitchFamily="2" charset="-122"/>
              </a:rPr>
              <a:t>TTL</a:t>
            </a:r>
          </a:p>
        </p:txBody>
      </p:sp>
      <p:sp>
        <p:nvSpPr>
          <p:cNvPr id="22" name="Text Box 15"/>
          <p:cNvSpPr txBox="1">
            <a:spLocks noChangeArrowheads="1"/>
          </p:cNvSpPr>
          <p:nvPr/>
        </p:nvSpPr>
        <p:spPr bwMode="auto">
          <a:xfrm>
            <a:off x="7293761" y="3606788"/>
            <a:ext cx="7713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试 验</a:t>
            </a:r>
          </a:p>
        </p:txBody>
      </p:sp>
      <p:sp>
        <p:nvSpPr>
          <p:cNvPr id="23" name="Text Box 16"/>
          <p:cNvSpPr txBox="1">
            <a:spLocks noChangeArrowheads="1"/>
          </p:cNvSpPr>
          <p:nvPr/>
        </p:nvSpPr>
        <p:spPr bwMode="auto">
          <a:xfrm>
            <a:off x="8045311" y="3606788"/>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S</a:t>
            </a:r>
          </a:p>
        </p:txBody>
      </p:sp>
      <p:sp>
        <p:nvSpPr>
          <p:cNvPr id="24" name="Text Box 17"/>
          <p:cNvSpPr txBox="1">
            <a:spLocks noChangeArrowheads="1"/>
          </p:cNvSpPr>
          <p:nvPr/>
        </p:nvSpPr>
        <p:spPr bwMode="auto">
          <a:xfrm>
            <a:off x="1968404" y="3100376"/>
            <a:ext cx="83900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b="1" dirty="0">
                <a:solidFill>
                  <a:srgbClr val="000099"/>
                </a:solidFill>
                <a:latin typeface="+mn-lt"/>
                <a:ea typeface="黑体" pitchFamily="2" charset="-122"/>
              </a:rPr>
              <a:t>位                            </a:t>
            </a:r>
            <a:r>
              <a:rPr kumimoji="1" lang="en-US" altLang="zh-CN" sz="2000" b="1" dirty="0">
                <a:solidFill>
                  <a:srgbClr val="000099"/>
                </a:solidFill>
                <a:latin typeface="+mn-lt"/>
                <a:ea typeface="黑体" pitchFamily="2" charset="-122"/>
              </a:rPr>
              <a:t>20                                            3     1             8</a:t>
            </a:r>
          </a:p>
        </p:txBody>
      </p:sp>
      <p:sp>
        <p:nvSpPr>
          <p:cNvPr id="25" name="Line 19"/>
          <p:cNvSpPr>
            <a:spLocks noChangeShapeType="1"/>
          </p:cNvSpPr>
          <p:nvPr/>
        </p:nvSpPr>
        <p:spPr bwMode="auto">
          <a:xfrm>
            <a:off x="5234311" y="5184703"/>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6" name="Line 21"/>
          <p:cNvSpPr>
            <a:spLocks noChangeShapeType="1"/>
          </p:cNvSpPr>
          <p:nvPr/>
        </p:nvSpPr>
        <p:spPr bwMode="auto">
          <a:xfrm>
            <a:off x="2320124" y="4046525"/>
            <a:ext cx="1520296" cy="615950"/>
          </a:xfrm>
          <a:prstGeom prst="line">
            <a:avLst/>
          </a:prstGeom>
          <a:noFill/>
          <a:ln w="952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7" name="Line 22"/>
          <p:cNvSpPr>
            <a:spLocks noChangeShapeType="1"/>
          </p:cNvSpPr>
          <p:nvPr/>
        </p:nvSpPr>
        <p:spPr bwMode="auto">
          <a:xfrm>
            <a:off x="8986335" y="5201754"/>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8" name="Line 33"/>
          <p:cNvSpPr>
            <a:spLocks noChangeShapeType="1"/>
          </p:cNvSpPr>
          <p:nvPr/>
        </p:nvSpPr>
        <p:spPr bwMode="auto">
          <a:xfrm>
            <a:off x="5231236" y="5527503"/>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9" name="Text Box 34"/>
          <p:cNvSpPr txBox="1">
            <a:spLocks noChangeArrowheads="1"/>
          </p:cNvSpPr>
          <p:nvPr/>
        </p:nvSpPr>
        <p:spPr bwMode="auto">
          <a:xfrm>
            <a:off x="6462158" y="5292554"/>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 </a:t>
            </a:r>
            <a:r>
              <a:rPr kumimoji="1" lang="zh-CN" altLang="en-US" sz="2000" b="1" dirty="0">
                <a:solidFill>
                  <a:srgbClr val="000099"/>
                </a:solidFill>
                <a:latin typeface="+mn-lt"/>
                <a:ea typeface="黑体" pitchFamily="2" charset="-122"/>
              </a:rPr>
              <a:t>数据报</a:t>
            </a:r>
          </a:p>
        </p:txBody>
      </p:sp>
      <p:sp>
        <p:nvSpPr>
          <p:cNvPr id="30" name="Text Box 37"/>
          <p:cNvSpPr txBox="1">
            <a:spLocks noChangeArrowheads="1"/>
          </p:cNvSpPr>
          <p:nvPr/>
        </p:nvSpPr>
        <p:spPr bwMode="auto">
          <a:xfrm>
            <a:off x="2142986" y="562132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发送在前</a:t>
            </a:r>
          </a:p>
        </p:txBody>
      </p:sp>
      <p:sp>
        <p:nvSpPr>
          <p:cNvPr id="31" name="Line 38"/>
          <p:cNvSpPr>
            <a:spLocks noChangeShapeType="1"/>
          </p:cNvSpPr>
          <p:nvPr/>
        </p:nvSpPr>
        <p:spPr bwMode="auto">
          <a:xfrm flipV="1">
            <a:off x="2844661" y="5189526"/>
            <a:ext cx="0" cy="503237"/>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2" name="Rectangle 8"/>
          <p:cNvSpPr>
            <a:spLocks noChangeArrowheads="1"/>
          </p:cNvSpPr>
          <p:nvPr/>
        </p:nvSpPr>
        <p:spPr bwMode="auto">
          <a:xfrm>
            <a:off x="3826661" y="4662475"/>
            <a:ext cx="1406790" cy="482600"/>
          </a:xfrm>
          <a:prstGeom prst="rect">
            <a:avLst/>
          </a:prstGeom>
          <a:solidFill>
            <a:srgbClr val="66FFFF"/>
          </a:solidFill>
          <a:ln w="19050">
            <a:solidFill>
              <a:schemeClr val="tx1"/>
            </a:solidFill>
            <a:miter lim="800000"/>
            <a:headEnd/>
            <a:tailEnd/>
          </a:ln>
          <a:effectLst/>
        </p:spPr>
        <p:txBody>
          <a:bodyPr wrap="none" anchor="ctr"/>
          <a:lstStyle/>
          <a:p>
            <a:pPr lvl="0" algn="just"/>
            <a:r>
              <a:rPr kumimoji="1" lang="en-US" altLang="zh-CN" sz="2000" b="1" dirty="0">
                <a:solidFill>
                  <a:srgbClr val="000099"/>
                </a:solidFill>
                <a:latin typeface="Arial"/>
                <a:ea typeface="黑体" pitchFamily="2" charset="-122"/>
              </a:rPr>
              <a:t>MPLS</a:t>
            </a:r>
            <a:r>
              <a:rPr kumimoji="1" lang="zh-CN" altLang="en-US" sz="2000" b="1" dirty="0">
                <a:solidFill>
                  <a:srgbClr val="000099"/>
                </a:solidFill>
                <a:latin typeface="Arial"/>
                <a:ea typeface="黑体" pitchFamily="2" charset="-122"/>
              </a:rPr>
              <a:t>标记</a:t>
            </a:r>
          </a:p>
        </p:txBody>
      </p:sp>
      <p:sp>
        <p:nvSpPr>
          <p:cNvPr id="33" name="Rectangle 8"/>
          <p:cNvSpPr>
            <a:spLocks noChangeArrowheads="1"/>
          </p:cNvSpPr>
          <p:nvPr/>
        </p:nvSpPr>
        <p:spPr bwMode="auto">
          <a:xfrm>
            <a:off x="5234311" y="4662475"/>
            <a:ext cx="910556"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2000" b="1" dirty="0">
                <a:solidFill>
                  <a:srgbClr val="000099"/>
                </a:solidFill>
                <a:latin typeface="Arial"/>
                <a:ea typeface="黑体" pitchFamily="2" charset="-122"/>
              </a:rPr>
              <a:t>IP</a:t>
            </a:r>
            <a:r>
              <a:rPr kumimoji="1" lang="zh-CN" altLang="en-US" sz="2000" b="1" dirty="0">
                <a:solidFill>
                  <a:srgbClr val="000099"/>
                </a:solidFill>
                <a:latin typeface="Arial"/>
                <a:ea typeface="黑体" pitchFamily="2" charset="-122"/>
              </a:rPr>
              <a:t>首部</a:t>
            </a:r>
          </a:p>
        </p:txBody>
      </p:sp>
      <p:sp>
        <p:nvSpPr>
          <p:cNvPr id="34" name="Rectangle 8"/>
          <p:cNvSpPr>
            <a:spLocks noChangeArrowheads="1"/>
          </p:cNvSpPr>
          <p:nvPr/>
        </p:nvSpPr>
        <p:spPr bwMode="auto">
          <a:xfrm>
            <a:off x="6144867" y="4662475"/>
            <a:ext cx="2841468"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2000" b="1" dirty="0">
                <a:solidFill>
                  <a:srgbClr val="000099"/>
                </a:solidFill>
                <a:latin typeface="Arial"/>
                <a:ea typeface="黑体" pitchFamily="2" charset="-122"/>
              </a:rPr>
              <a:t>         </a:t>
            </a:r>
            <a:r>
              <a:rPr kumimoji="1" lang="en-US" altLang="zh-CN" sz="2000" b="1" dirty="0">
                <a:solidFill>
                  <a:srgbClr val="000099"/>
                </a:solidFill>
                <a:latin typeface="Arial"/>
                <a:ea typeface="黑体" pitchFamily="2" charset="-122"/>
              </a:rPr>
              <a:t>IP  </a:t>
            </a:r>
            <a:r>
              <a:rPr kumimoji="1" lang="zh-CN" altLang="en-US" sz="2000" b="1" dirty="0">
                <a:solidFill>
                  <a:srgbClr val="000099"/>
                </a:solidFill>
                <a:latin typeface="Arial"/>
                <a:ea typeface="黑体" pitchFamily="2" charset="-122"/>
              </a:rPr>
              <a:t>数  据  部  分</a:t>
            </a:r>
          </a:p>
        </p:txBody>
      </p:sp>
      <p:sp>
        <p:nvSpPr>
          <p:cNvPr id="35" name="Rectangle 8"/>
          <p:cNvSpPr>
            <a:spLocks noChangeArrowheads="1"/>
          </p:cNvSpPr>
          <p:nvPr/>
        </p:nvSpPr>
        <p:spPr bwMode="auto">
          <a:xfrm>
            <a:off x="8986335" y="4662475"/>
            <a:ext cx="982000"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dirty="0">
                <a:solidFill>
                  <a:srgbClr val="000099"/>
                </a:solidFill>
                <a:latin typeface="+mn-lt"/>
                <a:ea typeface="黑体" pitchFamily="2" charset="-122"/>
              </a:rPr>
              <a:t>帧尾部  </a:t>
            </a:r>
          </a:p>
        </p:txBody>
      </p:sp>
    </p:spTree>
    <p:extLst>
      <p:ext uri="{BB962C8B-B14F-4D97-AF65-F5344CB8AC3E}">
        <p14:creationId xmlns:p14="http://schemas.microsoft.com/office/powerpoint/2010/main" val="139193688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应用</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5.7.4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pic>
        <p:nvPicPr>
          <p:cNvPr id="10242" name="Picture 2"/>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1840623" y="1752962"/>
            <a:ext cx="8510754" cy="41029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34886168"/>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应用</a:t>
            </a:r>
            <a:endParaRPr kumimoji="1" lang="zh-CN" altLang="en-US" dirty="0"/>
          </a:p>
        </p:txBody>
      </p:sp>
      <p:sp>
        <p:nvSpPr>
          <p:cNvPr id="16" name="日期占位符 15">
            <a:extLst>
              <a:ext uri="{FF2B5EF4-FFF2-40B4-BE49-F238E27FC236}">
                <a16:creationId xmlns:a16="http://schemas.microsoft.com/office/drawing/2014/main"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5.7.4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pic>
        <p:nvPicPr>
          <p:cNvPr id="92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1961" y="1509677"/>
            <a:ext cx="9368228" cy="44846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2099874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olidFill>
                  <a:srgbClr val="C00000"/>
                </a:solidFill>
                <a:sym typeface="+mn-ea"/>
              </a:rPr>
              <a:t>5.8</a:t>
            </a:r>
            <a:r>
              <a:rPr kumimoji="1" lang="zh-CN" altLang="en-US" dirty="0">
                <a:solidFill>
                  <a:srgbClr val="C00000"/>
                </a:solidFill>
                <a:sym typeface="+mn-ea"/>
              </a:rPr>
              <a:t> 路由器工作原理</a:t>
            </a:r>
            <a:endParaRPr kumimoji="1" lang="en-US" altLang="zh-CN" dirty="0">
              <a:solidFill>
                <a:srgbClr val="C00000"/>
              </a:solidFill>
              <a:sym typeface="+mn-ea"/>
            </a:endParaRPr>
          </a:p>
          <a:p>
            <a:pPr marL="0" indent="0">
              <a:lnSpc>
                <a:spcPct val="130000"/>
              </a:lnSpc>
              <a:buNone/>
            </a:pPr>
            <a:r>
              <a:rPr kumimoji="1" lang="en-US" altLang="zh-CN" dirty="0">
                <a:sym typeface="+mn-ea"/>
              </a:rPr>
              <a:t>5.9 IPv6</a:t>
            </a:r>
            <a:r>
              <a:rPr kumimoji="1" lang="zh-CN" altLang="en-US" dirty="0">
                <a:sym typeface="+mn-ea"/>
              </a:rPr>
              <a:t>技术</a:t>
            </a:r>
            <a:endParaRPr kumimoji="1" lang="en-US" altLang="zh-CN" dirty="0">
              <a:solidFill>
                <a:srgbClr val="C00000"/>
              </a:solidFill>
            </a:endParaRPr>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194</a:t>
            </a:fld>
            <a:endParaRPr kumimoji="1" lang="zh-CN" altLang="en-US" dirty="0"/>
          </a:p>
        </p:txBody>
      </p:sp>
      <p:sp>
        <p:nvSpPr>
          <p:cNvPr id="6" name="矩形标注 5">
            <a:extLst>
              <a:ext uri="{FF2B5EF4-FFF2-40B4-BE49-F238E27FC236}">
                <a16:creationId xmlns:a16="http://schemas.microsoft.com/office/drawing/2014/main" id="{981187B3-3584-BA4E-A14C-4B26773516C6}"/>
              </a:ext>
            </a:extLst>
          </p:cNvPr>
          <p:cNvSpPr/>
          <p:nvPr/>
        </p:nvSpPr>
        <p:spPr>
          <a:xfrm>
            <a:off x="6042584" y="3209566"/>
            <a:ext cx="3061824" cy="2376670"/>
          </a:xfrm>
          <a:prstGeom prst="wedgeRectCallout">
            <a:avLst>
              <a:gd name="adj1" fmla="val -102432"/>
              <a:gd name="adj2" fmla="val 39042"/>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路由器概述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路由器控制层</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路由器数据层</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路由器交换结构</a:t>
            </a:r>
            <a:endParaRPr kumimoji="1" lang="zh-CN" altLang="en-US" sz="2400" dirty="0">
              <a:solidFill>
                <a:prstClr val="black"/>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2982506343"/>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zh-CN" altLang="en-US" dirty="0"/>
              <a:t>路由器概述</a:t>
            </a:r>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grpSp>
        <p:nvGrpSpPr>
          <p:cNvPr id="337" name="Group 4"/>
          <p:cNvGrpSpPr>
            <a:grpSpLocks/>
          </p:cNvGrpSpPr>
          <p:nvPr/>
        </p:nvGrpSpPr>
        <p:grpSpPr bwMode="auto">
          <a:xfrm>
            <a:off x="1827369" y="2700606"/>
            <a:ext cx="8207375" cy="3846026"/>
            <a:chOff x="86" y="1270"/>
            <a:chExt cx="5394" cy="2289"/>
          </a:xfrm>
        </p:grpSpPr>
        <p:sp>
          <p:nvSpPr>
            <p:cNvPr id="338" name="Line 5"/>
            <p:cNvSpPr>
              <a:spLocks noChangeShapeType="1"/>
            </p:cNvSpPr>
            <p:nvPr/>
          </p:nvSpPr>
          <p:spPr bwMode="auto">
            <a:xfrm flipV="1">
              <a:off x="1920" y="1520"/>
              <a:ext cx="720" cy="12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39" name="Line 6"/>
            <p:cNvSpPr>
              <a:spLocks noChangeShapeType="1"/>
            </p:cNvSpPr>
            <p:nvPr/>
          </p:nvSpPr>
          <p:spPr bwMode="auto">
            <a:xfrm flipH="1" flipV="1">
              <a:off x="2640" y="1507"/>
              <a:ext cx="1104" cy="127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0" name="Line 7"/>
            <p:cNvSpPr>
              <a:spLocks noChangeShapeType="1"/>
            </p:cNvSpPr>
            <p:nvPr/>
          </p:nvSpPr>
          <p:spPr bwMode="auto">
            <a:xfrm flipH="1" flipV="1">
              <a:off x="2640" y="1503"/>
              <a:ext cx="1248" cy="4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1" name="Line 8"/>
            <p:cNvSpPr>
              <a:spLocks noChangeShapeType="1"/>
            </p:cNvSpPr>
            <p:nvPr/>
          </p:nvSpPr>
          <p:spPr bwMode="auto">
            <a:xfrm flipV="1">
              <a:off x="1776" y="1539"/>
              <a:ext cx="912" cy="2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2" name="Line 9"/>
            <p:cNvSpPr>
              <a:spLocks noChangeShapeType="1"/>
            </p:cNvSpPr>
            <p:nvPr/>
          </p:nvSpPr>
          <p:spPr bwMode="auto">
            <a:xfrm>
              <a:off x="1774" y="1915"/>
              <a:ext cx="154" cy="8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3" name="Line 10"/>
            <p:cNvSpPr>
              <a:spLocks noChangeShapeType="1"/>
            </p:cNvSpPr>
            <p:nvPr/>
          </p:nvSpPr>
          <p:spPr bwMode="auto">
            <a:xfrm>
              <a:off x="1872" y="2733"/>
              <a:ext cx="1920" cy="19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4" name="Line 11"/>
            <p:cNvSpPr>
              <a:spLocks noChangeShapeType="1"/>
            </p:cNvSpPr>
            <p:nvPr/>
          </p:nvSpPr>
          <p:spPr bwMode="auto">
            <a:xfrm flipV="1">
              <a:off x="3842" y="1840"/>
              <a:ext cx="41" cy="10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5" name="Line 12"/>
            <p:cNvSpPr>
              <a:spLocks noChangeShapeType="1"/>
            </p:cNvSpPr>
            <p:nvPr/>
          </p:nvSpPr>
          <p:spPr bwMode="auto">
            <a:xfrm>
              <a:off x="462" y="1620"/>
              <a:ext cx="1314" cy="2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6" name="Line 13"/>
            <p:cNvSpPr>
              <a:spLocks noChangeShapeType="1"/>
            </p:cNvSpPr>
            <p:nvPr/>
          </p:nvSpPr>
          <p:spPr bwMode="auto">
            <a:xfrm flipV="1">
              <a:off x="462" y="1824"/>
              <a:ext cx="1266" cy="5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7" name="Line 14"/>
            <p:cNvSpPr>
              <a:spLocks noChangeShapeType="1"/>
            </p:cNvSpPr>
            <p:nvPr/>
          </p:nvSpPr>
          <p:spPr bwMode="auto">
            <a:xfrm flipV="1">
              <a:off x="3840" y="1620"/>
              <a:ext cx="1127" cy="2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8" name="Line 15"/>
            <p:cNvSpPr>
              <a:spLocks noChangeShapeType="1"/>
            </p:cNvSpPr>
            <p:nvPr/>
          </p:nvSpPr>
          <p:spPr bwMode="auto">
            <a:xfrm>
              <a:off x="3840" y="1917"/>
              <a:ext cx="1279" cy="65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9" name="Line 16"/>
            <p:cNvSpPr>
              <a:spLocks noChangeShapeType="1"/>
            </p:cNvSpPr>
            <p:nvPr/>
          </p:nvSpPr>
          <p:spPr bwMode="auto">
            <a:xfrm flipV="1">
              <a:off x="576" y="2685"/>
              <a:ext cx="1344" cy="38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50" name="Line 17"/>
            <p:cNvSpPr>
              <a:spLocks noChangeShapeType="1"/>
            </p:cNvSpPr>
            <p:nvPr/>
          </p:nvSpPr>
          <p:spPr bwMode="auto">
            <a:xfrm>
              <a:off x="3840" y="2877"/>
              <a:ext cx="1030" cy="38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nvGrpSpPr>
            <p:cNvPr id="351" name="Group 18"/>
            <p:cNvGrpSpPr>
              <a:grpSpLocks/>
            </p:cNvGrpSpPr>
            <p:nvPr/>
          </p:nvGrpSpPr>
          <p:grpSpPr bwMode="auto">
            <a:xfrm>
              <a:off x="288" y="1485"/>
              <a:ext cx="475" cy="442"/>
              <a:chOff x="192" y="1632"/>
              <a:chExt cx="475" cy="442"/>
            </a:xfrm>
          </p:grpSpPr>
          <p:sp>
            <p:nvSpPr>
              <p:cNvPr id="568" name="Rectangle 19"/>
              <p:cNvSpPr>
                <a:spLocks noChangeArrowheads="1"/>
              </p:cNvSpPr>
              <p:nvPr/>
            </p:nvSpPr>
            <p:spPr bwMode="auto">
              <a:xfrm>
                <a:off x="278" y="1654"/>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569" name="Rectangle 20"/>
              <p:cNvSpPr>
                <a:spLocks noChangeArrowheads="1"/>
              </p:cNvSpPr>
              <p:nvPr/>
            </p:nvSpPr>
            <p:spPr bwMode="auto">
              <a:xfrm>
                <a:off x="220" y="1956"/>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70" name="Group 21"/>
              <p:cNvGrpSpPr>
                <a:grpSpLocks/>
              </p:cNvGrpSpPr>
              <p:nvPr/>
            </p:nvGrpSpPr>
            <p:grpSpPr bwMode="auto">
              <a:xfrm>
                <a:off x="192" y="1632"/>
                <a:ext cx="475" cy="442"/>
                <a:chOff x="5285" y="1536"/>
                <a:chExt cx="475" cy="442"/>
              </a:xfrm>
            </p:grpSpPr>
            <p:sp>
              <p:nvSpPr>
                <p:cNvPr id="571" name="Rectangle 22"/>
                <p:cNvSpPr>
                  <a:spLocks noChangeArrowheads="1"/>
                </p:cNvSpPr>
                <p:nvPr/>
              </p:nvSpPr>
              <p:spPr bwMode="auto">
                <a:xfrm>
                  <a:off x="5424" y="1612"/>
                  <a:ext cx="192" cy="144"/>
                </a:xfrm>
                <a:prstGeom prst="rect">
                  <a:avLst/>
                </a:prstGeom>
                <a:solidFill>
                  <a:srgbClr val="00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72" name="Group 23"/>
                <p:cNvGrpSpPr>
                  <a:grpSpLocks/>
                </p:cNvGrpSpPr>
                <p:nvPr/>
              </p:nvGrpSpPr>
              <p:grpSpPr bwMode="auto">
                <a:xfrm>
                  <a:off x="5285" y="1536"/>
                  <a:ext cx="475" cy="442"/>
                  <a:chOff x="5285" y="1536"/>
                  <a:chExt cx="475" cy="442"/>
                </a:xfrm>
              </p:grpSpPr>
              <p:sp>
                <p:nvSpPr>
                  <p:cNvPr id="573" name="Freeform 24"/>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4" name="Freeform 25"/>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5" name="Freeform 26"/>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6" name="Freeform 27"/>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7" name="Freeform 28"/>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8" name="Freeform 29"/>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9" name="Freeform 30"/>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0" name="Freeform 31"/>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1" name="Freeform 32"/>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2" name="Freeform 33"/>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3" name="Freeform 34"/>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4" name="Freeform 35"/>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5" name="Freeform 36"/>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6" name="Freeform 37"/>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7" name="Freeform 38"/>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8" name="Freeform 39"/>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9" name="Freeform 40"/>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0" name="Freeform 41"/>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1" name="Freeform 42"/>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2" name="Freeform 43"/>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3" name="Freeform 44"/>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4" name="Freeform 45"/>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5" name="Freeform 46"/>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6" name="Freeform 47"/>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7" name="Freeform 48"/>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8" name="Freeform 49"/>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9" name="Freeform 50"/>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600" name="Freeform 51"/>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601" name="Freeform 52"/>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602" name="Freeform 53"/>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2" name="Group 54"/>
            <p:cNvGrpSpPr>
              <a:grpSpLocks/>
            </p:cNvGrpSpPr>
            <p:nvPr/>
          </p:nvGrpSpPr>
          <p:grpSpPr bwMode="auto">
            <a:xfrm>
              <a:off x="1701" y="2493"/>
              <a:ext cx="363" cy="369"/>
              <a:chOff x="1884" y="1812"/>
              <a:chExt cx="363" cy="369"/>
            </a:xfrm>
          </p:grpSpPr>
          <p:sp>
            <p:nvSpPr>
              <p:cNvPr id="564" name="AutoShape 55"/>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65" name="Group 56"/>
              <p:cNvGrpSpPr>
                <a:grpSpLocks/>
              </p:cNvGrpSpPr>
              <p:nvPr/>
            </p:nvGrpSpPr>
            <p:grpSpPr bwMode="auto">
              <a:xfrm>
                <a:off x="1932" y="1863"/>
                <a:ext cx="279" cy="81"/>
                <a:chOff x="1470" y="1821"/>
                <a:chExt cx="279" cy="93"/>
              </a:xfrm>
            </p:grpSpPr>
            <p:sp>
              <p:nvSpPr>
                <p:cNvPr id="566" name="Freeform 57"/>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67" name="Freeform 58"/>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3" name="Group 59"/>
            <p:cNvGrpSpPr>
              <a:grpSpLocks/>
            </p:cNvGrpSpPr>
            <p:nvPr/>
          </p:nvGrpSpPr>
          <p:grpSpPr bwMode="auto">
            <a:xfrm>
              <a:off x="1584" y="1584"/>
              <a:ext cx="363" cy="369"/>
              <a:chOff x="1884" y="1812"/>
              <a:chExt cx="363" cy="369"/>
            </a:xfrm>
          </p:grpSpPr>
          <p:sp>
            <p:nvSpPr>
              <p:cNvPr id="560" name="AutoShape 60"/>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61" name="Group 61"/>
              <p:cNvGrpSpPr>
                <a:grpSpLocks/>
              </p:cNvGrpSpPr>
              <p:nvPr/>
            </p:nvGrpSpPr>
            <p:grpSpPr bwMode="auto">
              <a:xfrm>
                <a:off x="1932" y="1863"/>
                <a:ext cx="279" cy="81"/>
                <a:chOff x="1470" y="1821"/>
                <a:chExt cx="279" cy="93"/>
              </a:xfrm>
            </p:grpSpPr>
            <p:sp>
              <p:nvSpPr>
                <p:cNvPr id="562" name="Freeform 62"/>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63" name="Freeform 63"/>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4" name="Group 64"/>
            <p:cNvGrpSpPr>
              <a:grpSpLocks/>
            </p:cNvGrpSpPr>
            <p:nvPr/>
          </p:nvGrpSpPr>
          <p:grpSpPr bwMode="auto">
            <a:xfrm>
              <a:off x="3648" y="1725"/>
              <a:ext cx="363" cy="369"/>
              <a:chOff x="1884" y="1812"/>
              <a:chExt cx="363" cy="369"/>
            </a:xfrm>
          </p:grpSpPr>
          <p:sp>
            <p:nvSpPr>
              <p:cNvPr id="556" name="AutoShape 65"/>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57" name="Group 66"/>
              <p:cNvGrpSpPr>
                <a:grpSpLocks/>
              </p:cNvGrpSpPr>
              <p:nvPr/>
            </p:nvGrpSpPr>
            <p:grpSpPr bwMode="auto">
              <a:xfrm>
                <a:off x="1932" y="1863"/>
                <a:ext cx="279" cy="81"/>
                <a:chOff x="1470" y="1821"/>
                <a:chExt cx="279" cy="93"/>
              </a:xfrm>
            </p:grpSpPr>
            <p:sp>
              <p:nvSpPr>
                <p:cNvPr id="558" name="Freeform 67"/>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9" name="Freeform 68"/>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5" name="Group 69"/>
            <p:cNvGrpSpPr>
              <a:grpSpLocks/>
            </p:cNvGrpSpPr>
            <p:nvPr/>
          </p:nvGrpSpPr>
          <p:grpSpPr bwMode="auto">
            <a:xfrm>
              <a:off x="3648" y="2733"/>
              <a:ext cx="363" cy="369"/>
              <a:chOff x="1884" y="1812"/>
              <a:chExt cx="363" cy="369"/>
            </a:xfrm>
          </p:grpSpPr>
          <p:sp>
            <p:nvSpPr>
              <p:cNvPr id="552" name="AutoShape 70"/>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53" name="Group 71"/>
              <p:cNvGrpSpPr>
                <a:grpSpLocks/>
              </p:cNvGrpSpPr>
              <p:nvPr/>
            </p:nvGrpSpPr>
            <p:grpSpPr bwMode="auto">
              <a:xfrm>
                <a:off x="1932" y="1863"/>
                <a:ext cx="279" cy="81"/>
                <a:chOff x="1470" y="1821"/>
                <a:chExt cx="279" cy="93"/>
              </a:xfrm>
            </p:grpSpPr>
            <p:sp>
              <p:nvSpPr>
                <p:cNvPr id="554" name="Freeform 72"/>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5" name="Freeform 73"/>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6" name="Group 74"/>
            <p:cNvGrpSpPr>
              <a:grpSpLocks/>
            </p:cNvGrpSpPr>
            <p:nvPr/>
          </p:nvGrpSpPr>
          <p:grpSpPr bwMode="auto">
            <a:xfrm>
              <a:off x="287" y="2253"/>
              <a:ext cx="475" cy="442"/>
              <a:chOff x="287" y="2253"/>
              <a:chExt cx="475" cy="442"/>
            </a:xfrm>
          </p:grpSpPr>
          <p:sp>
            <p:nvSpPr>
              <p:cNvPr id="517" name="Rectangle 75"/>
              <p:cNvSpPr>
                <a:spLocks noChangeArrowheads="1"/>
              </p:cNvSpPr>
              <p:nvPr/>
            </p:nvSpPr>
            <p:spPr bwMode="auto">
              <a:xfrm>
                <a:off x="373" y="2275"/>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518" name="Rectangle 76"/>
              <p:cNvSpPr>
                <a:spLocks noChangeArrowheads="1"/>
              </p:cNvSpPr>
              <p:nvPr/>
            </p:nvSpPr>
            <p:spPr bwMode="auto">
              <a:xfrm>
                <a:off x="315" y="2577"/>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19" name="Group 77"/>
              <p:cNvGrpSpPr>
                <a:grpSpLocks/>
              </p:cNvGrpSpPr>
              <p:nvPr/>
            </p:nvGrpSpPr>
            <p:grpSpPr bwMode="auto">
              <a:xfrm>
                <a:off x="287" y="2253"/>
                <a:ext cx="475" cy="442"/>
                <a:chOff x="287" y="2253"/>
                <a:chExt cx="475" cy="442"/>
              </a:xfrm>
            </p:grpSpPr>
            <p:sp>
              <p:nvSpPr>
                <p:cNvPr id="520" name="Rectangle 78"/>
                <p:cNvSpPr>
                  <a:spLocks noChangeArrowheads="1"/>
                </p:cNvSpPr>
                <p:nvPr/>
              </p:nvSpPr>
              <p:spPr bwMode="auto">
                <a:xfrm>
                  <a:off x="426" y="2329"/>
                  <a:ext cx="192"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21" name="Group 79"/>
                <p:cNvGrpSpPr>
                  <a:grpSpLocks/>
                </p:cNvGrpSpPr>
                <p:nvPr/>
              </p:nvGrpSpPr>
              <p:grpSpPr bwMode="auto">
                <a:xfrm>
                  <a:off x="287" y="2253"/>
                  <a:ext cx="475" cy="442"/>
                  <a:chOff x="5285" y="1536"/>
                  <a:chExt cx="475" cy="442"/>
                </a:xfrm>
              </p:grpSpPr>
              <p:sp>
                <p:nvSpPr>
                  <p:cNvPr id="522" name="Freeform 80"/>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3" name="Freeform 81"/>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4" name="Freeform 82"/>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5" name="Freeform 83"/>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6" name="Freeform 84"/>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7" name="Freeform 85"/>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8" name="Freeform 86"/>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9" name="Freeform 87"/>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0" name="Freeform 88"/>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1" name="Freeform 89"/>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2" name="Freeform 90"/>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3" name="Freeform 91"/>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4" name="Freeform 92"/>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5" name="Freeform 93"/>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6" name="Freeform 94"/>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7" name="Freeform 95"/>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8" name="Freeform 96"/>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9" name="Freeform 97"/>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0" name="Freeform 98"/>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1" name="Freeform 99"/>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2" name="Freeform 100"/>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3" name="Freeform 101"/>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4" name="Freeform 102"/>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5" name="Freeform 103"/>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6" name="Freeform 104"/>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7" name="Freeform 105"/>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8" name="Freeform 106"/>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9" name="Freeform 107"/>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0" name="Freeform 108"/>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1" name="Freeform 109"/>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7" name="Group 110"/>
            <p:cNvGrpSpPr>
              <a:grpSpLocks/>
            </p:cNvGrpSpPr>
            <p:nvPr/>
          </p:nvGrpSpPr>
          <p:grpSpPr bwMode="auto">
            <a:xfrm>
              <a:off x="4656" y="3117"/>
              <a:ext cx="475" cy="442"/>
              <a:chOff x="4656" y="3117"/>
              <a:chExt cx="475" cy="442"/>
            </a:xfrm>
          </p:grpSpPr>
          <p:sp>
            <p:nvSpPr>
              <p:cNvPr id="482" name="Rectangle 111"/>
              <p:cNvSpPr>
                <a:spLocks noChangeArrowheads="1"/>
              </p:cNvSpPr>
              <p:nvPr/>
            </p:nvSpPr>
            <p:spPr bwMode="auto">
              <a:xfrm>
                <a:off x="4742" y="3139"/>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483" name="Rectangle 112"/>
              <p:cNvSpPr>
                <a:spLocks noChangeArrowheads="1"/>
              </p:cNvSpPr>
              <p:nvPr/>
            </p:nvSpPr>
            <p:spPr bwMode="auto">
              <a:xfrm>
                <a:off x="4684" y="3441"/>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84" name="Group 113"/>
              <p:cNvGrpSpPr>
                <a:grpSpLocks/>
              </p:cNvGrpSpPr>
              <p:nvPr/>
            </p:nvGrpSpPr>
            <p:grpSpPr bwMode="auto">
              <a:xfrm>
                <a:off x="4656" y="3117"/>
                <a:ext cx="475" cy="442"/>
                <a:chOff x="4656" y="3117"/>
                <a:chExt cx="475" cy="442"/>
              </a:xfrm>
            </p:grpSpPr>
            <p:sp>
              <p:nvSpPr>
                <p:cNvPr id="485" name="Rectangle 114"/>
                <p:cNvSpPr>
                  <a:spLocks noChangeArrowheads="1"/>
                </p:cNvSpPr>
                <p:nvPr/>
              </p:nvSpPr>
              <p:spPr bwMode="auto">
                <a:xfrm>
                  <a:off x="4795" y="3193"/>
                  <a:ext cx="192"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86" name="Group 115"/>
                <p:cNvGrpSpPr>
                  <a:grpSpLocks/>
                </p:cNvGrpSpPr>
                <p:nvPr/>
              </p:nvGrpSpPr>
              <p:grpSpPr bwMode="auto">
                <a:xfrm>
                  <a:off x="4656" y="3117"/>
                  <a:ext cx="475" cy="442"/>
                  <a:chOff x="5285" y="1536"/>
                  <a:chExt cx="475" cy="442"/>
                </a:xfrm>
              </p:grpSpPr>
              <p:sp>
                <p:nvSpPr>
                  <p:cNvPr id="487" name="Freeform 116"/>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8" name="Freeform 117"/>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9" name="Freeform 118"/>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0" name="Freeform 119"/>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1" name="Freeform 120"/>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2" name="Freeform 121"/>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3" name="Freeform 122"/>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4" name="Freeform 123"/>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5" name="Freeform 124"/>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6" name="Freeform 125"/>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7" name="Freeform 126"/>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8" name="Freeform 127"/>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9" name="Freeform 128"/>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0" name="Freeform 129"/>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1" name="Freeform 130"/>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2" name="Freeform 131"/>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3" name="Freeform 132"/>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4" name="Freeform 133"/>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5" name="Freeform 134"/>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6" name="Freeform 135"/>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7" name="Freeform 136"/>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8" name="Freeform 137"/>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9" name="Freeform 138"/>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0" name="Freeform 139"/>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1" name="Freeform 140"/>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2" name="Freeform 141"/>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3" name="Freeform 142"/>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4" name="Freeform 143"/>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5" name="Freeform 144"/>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6" name="Freeform 145"/>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8" name="Group 146"/>
            <p:cNvGrpSpPr>
              <a:grpSpLocks/>
            </p:cNvGrpSpPr>
            <p:nvPr/>
          </p:nvGrpSpPr>
          <p:grpSpPr bwMode="auto">
            <a:xfrm>
              <a:off x="4752" y="2301"/>
              <a:ext cx="475" cy="442"/>
              <a:chOff x="192" y="1632"/>
              <a:chExt cx="475" cy="442"/>
            </a:xfrm>
          </p:grpSpPr>
          <p:sp>
            <p:nvSpPr>
              <p:cNvPr id="447" name="Rectangle 147"/>
              <p:cNvSpPr>
                <a:spLocks noChangeArrowheads="1"/>
              </p:cNvSpPr>
              <p:nvPr/>
            </p:nvSpPr>
            <p:spPr bwMode="auto">
              <a:xfrm>
                <a:off x="278" y="1654"/>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448" name="Rectangle 148"/>
              <p:cNvSpPr>
                <a:spLocks noChangeArrowheads="1"/>
              </p:cNvSpPr>
              <p:nvPr/>
            </p:nvSpPr>
            <p:spPr bwMode="auto">
              <a:xfrm>
                <a:off x="220" y="1956"/>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49" name="Group 149"/>
              <p:cNvGrpSpPr>
                <a:grpSpLocks/>
              </p:cNvGrpSpPr>
              <p:nvPr/>
            </p:nvGrpSpPr>
            <p:grpSpPr bwMode="auto">
              <a:xfrm>
                <a:off x="192" y="1632"/>
                <a:ext cx="475" cy="442"/>
                <a:chOff x="5285" y="1536"/>
                <a:chExt cx="475" cy="442"/>
              </a:xfrm>
            </p:grpSpPr>
            <p:sp>
              <p:nvSpPr>
                <p:cNvPr id="450" name="Rectangle 150"/>
                <p:cNvSpPr>
                  <a:spLocks noChangeArrowheads="1"/>
                </p:cNvSpPr>
                <p:nvPr/>
              </p:nvSpPr>
              <p:spPr bwMode="auto">
                <a:xfrm>
                  <a:off x="5424" y="1612"/>
                  <a:ext cx="192" cy="144"/>
                </a:xfrm>
                <a:prstGeom prst="rect">
                  <a:avLst/>
                </a:prstGeom>
                <a:solidFill>
                  <a:srgbClr val="00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51" name="Group 151"/>
                <p:cNvGrpSpPr>
                  <a:grpSpLocks/>
                </p:cNvGrpSpPr>
                <p:nvPr/>
              </p:nvGrpSpPr>
              <p:grpSpPr bwMode="auto">
                <a:xfrm>
                  <a:off x="5285" y="1536"/>
                  <a:ext cx="475" cy="442"/>
                  <a:chOff x="5285" y="1536"/>
                  <a:chExt cx="475" cy="442"/>
                </a:xfrm>
              </p:grpSpPr>
              <p:sp>
                <p:nvSpPr>
                  <p:cNvPr id="452" name="Freeform 152"/>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3" name="Freeform 153"/>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4" name="Freeform 154"/>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5" name="Freeform 155"/>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6" name="Freeform 156"/>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7" name="Freeform 157"/>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8" name="Freeform 158"/>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9" name="Freeform 159"/>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0" name="Freeform 160"/>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1" name="Freeform 161"/>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2" name="Freeform 162"/>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3" name="Freeform 163"/>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4" name="Freeform 164"/>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5" name="Freeform 165"/>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6" name="Freeform 166"/>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7" name="Freeform 167"/>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8" name="Freeform 168"/>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9" name="Freeform 169"/>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0" name="Freeform 170"/>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1" name="Freeform 171"/>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2" name="Freeform 172"/>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3" name="Freeform 173"/>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4" name="Freeform 174"/>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5" name="Freeform 175"/>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6" name="Freeform 176"/>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7" name="Freeform 177"/>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8" name="Freeform 178"/>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9" name="Freeform 179"/>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0" name="Freeform 180"/>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1" name="Freeform 181"/>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9" name="Group 182"/>
            <p:cNvGrpSpPr>
              <a:grpSpLocks/>
            </p:cNvGrpSpPr>
            <p:nvPr/>
          </p:nvGrpSpPr>
          <p:grpSpPr bwMode="auto">
            <a:xfrm>
              <a:off x="4752" y="1437"/>
              <a:ext cx="475" cy="442"/>
              <a:chOff x="4752" y="1437"/>
              <a:chExt cx="475" cy="442"/>
            </a:xfrm>
          </p:grpSpPr>
          <p:sp>
            <p:nvSpPr>
              <p:cNvPr id="412" name="Rectangle 183"/>
              <p:cNvSpPr>
                <a:spLocks noChangeArrowheads="1"/>
              </p:cNvSpPr>
              <p:nvPr/>
            </p:nvSpPr>
            <p:spPr bwMode="auto">
              <a:xfrm>
                <a:off x="4838" y="1459"/>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413" name="Rectangle 184"/>
              <p:cNvSpPr>
                <a:spLocks noChangeArrowheads="1"/>
              </p:cNvSpPr>
              <p:nvPr/>
            </p:nvSpPr>
            <p:spPr bwMode="auto">
              <a:xfrm>
                <a:off x="4780" y="1761"/>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14" name="Group 185"/>
              <p:cNvGrpSpPr>
                <a:grpSpLocks/>
              </p:cNvGrpSpPr>
              <p:nvPr/>
            </p:nvGrpSpPr>
            <p:grpSpPr bwMode="auto">
              <a:xfrm>
                <a:off x="4752" y="1437"/>
                <a:ext cx="475" cy="442"/>
                <a:chOff x="4752" y="1437"/>
                <a:chExt cx="475" cy="442"/>
              </a:xfrm>
            </p:grpSpPr>
            <p:sp>
              <p:nvSpPr>
                <p:cNvPr id="415" name="Rectangle 186"/>
                <p:cNvSpPr>
                  <a:spLocks noChangeArrowheads="1"/>
                </p:cNvSpPr>
                <p:nvPr/>
              </p:nvSpPr>
              <p:spPr bwMode="auto">
                <a:xfrm>
                  <a:off x="4891" y="1513"/>
                  <a:ext cx="192"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16" name="Group 187"/>
                <p:cNvGrpSpPr>
                  <a:grpSpLocks/>
                </p:cNvGrpSpPr>
                <p:nvPr/>
              </p:nvGrpSpPr>
              <p:grpSpPr bwMode="auto">
                <a:xfrm>
                  <a:off x="4752" y="1437"/>
                  <a:ext cx="475" cy="442"/>
                  <a:chOff x="5285" y="1536"/>
                  <a:chExt cx="475" cy="442"/>
                </a:xfrm>
              </p:grpSpPr>
              <p:sp>
                <p:nvSpPr>
                  <p:cNvPr id="417" name="Freeform 188"/>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8" name="Freeform 189"/>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9" name="Freeform 190"/>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0" name="Freeform 191"/>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1" name="Freeform 192"/>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2" name="Freeform 193"/>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3" name="Freeform 194"/>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4" name="Freeform 195"/>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5" name="Freeform 196"/>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6" name="Freeform 197"/>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7" name="Freeform 198"/>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8" name="Freeform 199"/>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9" name="Freeform 200"/>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0" name="Freeform 201"/>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1" name="Freeform 202"/>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2" name="Freeform 203"/>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3" name="Freeform 204"/>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4" name="Freeform 205"/>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5" name="Freeform 206"/>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6" name="Freeform 207"/>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7" name="Freeform 208"/>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8" name="Freeform 209"/>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9" name="Freeform 210"/>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0" name="Freeform 211"/>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1" name="Freeform 212"/>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2" name="Freeform 213"/>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3" name="Freeform 214"/>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4" name="Freeform 215"/>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5" name="Freeform 216"/>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6" name="Freeform 217"/>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60" name="Group 218"/>
            <p:cNvGrpSpPr>
              <a:grpSpLocks/>
            </p:cNvGrpSpPr>
            <p:nvPr/>
          </p:nvGrpSpPr>
          <p:grpSpPr bwMode="auto">
            <a:xfrm>
              <a:off x="288" y="2925"/>
              <a:ext cx="475" cy="442"/>
              <a:chOff x="288" y="2925"/>
              <a:chExt cx="475" cy="442"/>
            </a:xfrm>
          </p:grpSpPr>
          <p:sp>
            <p:nvSpPr>
              <p:cNvPr id="377" name="Rectangle 219"/>
              <p:cNvSpPr>
                <a:spLocks noChangeArrowheads="1"/>
              </p:cNvSpPr>
              <p:nvPr/>
            </p:nvSpPr>
            <p:spPr bwMode="auto">
              <a:xfrm>
                <a:off x="374" y="2947"/>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8" name="Rectangle 220"/>
              <p:cNvSpPr>
                <a:spLocks noChangeArrowheads="1"/>
              </p:cNvSpPr>
              <p:nvPr/>
            </p:nvSpPr>
            <p:spPr bwMode="auto">
              <a:xfrm>
                <a:off x="316" y="3249"/>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379" name="Group 221"/>
              <p:cNvGrpSpPr>
                <a:grpSpLocks/>
              </p:cNvGrpSpPr>
              <p:nvPr/>
            </p:nvGrpSpPr>
            <p:grpSpPr bwMode="auto">
              <a:xfrm>
                <a:off x="288" y="2925"/>
                <a:ext cx="475" cy="442"/>
                <a:chOff x="288" y="2925"/>
                <a:chExt cx="475" cy="442"/>
              </a:xfrm>
            </p:grpSpPr>
            <p:sp>
              <p:nvSpPr>
                <p:cNvPr id="380" name="Rectangle 222"/>
                <p:cNvSpPr>
                  <a:spLocks noChangeArrowheads="1"/>
                </p:cNvSpPr>
                <p:nvPr/>
              </p:nvSpPr>
              <p:spPr bwMode="auto">
                <a:xfrm>
                  <a:off x="427" y="3001"/>
                  <a:ext cx="192"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381" name="Group 223"/>
                <p:cNvGrpSpPr>
                  <a:grpSpLocks/>
                </p:cNvGrpSpPr>
                <p:nvPr/>
              </p:nvGrpSpPr>
              <p:grpSpPr bwMode="auto">
                <a:xfrm>
                  <a:off x="288" y="2925"/>
                  <a:ext cx="475" cy="442"/>
                  <a:chOff x="5285" y="1536"/>
                  <a:chExt cx="475" cy="442"/>
                </a:xfrm>
              </p:grpSpPr>
              <p:sp>
                <p:nvSpPr>
                  <p:cNvPr id="382" name="Freeform 224"/>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3" name="Freeform 225"/>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4" name="Freeform 226"/>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5" name="Freeform 227"/>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6" name="Freeform 228"/>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7" name="Freeform 229"/>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8" name="Freeform 230"/>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9" name="Freeform 231"/>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0" name="Freeform 232"/>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1" name="Freeform 233"/>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2" name="Freeform 234"/>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3" name="Freeform 235"/>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4" name="Freeform 236"/>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5" name="Freeform 237"/>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6" name="Freeform 238"/>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7" name="Freeform 239"/>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8" name="Freeform 240"/>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9" name="Freeform 241"/>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0" name="Freeform 242"/>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1" name="Freeform 243"/>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2" name="Freeform 244"/>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3" name="Freeform 245"/>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4" name="Freeform 246"/>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5" name="Freeform 247"/>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6" name="Freeform 248"/>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7" name="Freeform 249"/>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8" name="Freeform 250"/>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9" name="Freeform 251"/>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0" name="Freeform 252"/>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1" name="Freeform 253"/>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61" name="Group 254"/>
            <p:cNvGrpSpPr>
              <a:grpSpLocks/>
            </p:cNvGrpSpPr>
            <p:nvPr/>
          </p:nvGrpSpPr>
          <p:grpSpPr bwMode="auto">
            <a:xfrm>
              <a:off x="2506" y="1293"/>
              <a:ext cx="363" cy="369"/>
              <a:chOff x="1884" y="1812"/>
              <a:chExt cx="363" cy="369"/>
            </a:xfrm>
          </p:grpSpPr>
          <p:sp>
            <p:nvSpPr>
              <p:cNvPr id="373" name="AutoShape 255"/>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374" name="Group 256"/>
              <p:cNvGrpSpPr>
                <a:grpSpLocks/>
              </p:cNvGrpSpPr>
              <p:nvPr/>
            </p:nvGrpSpPr>
            <p:grpSpPr bwMode="auto">
              <a:xfrm>
                <a:off x="1932" y="1863"/>
                <a:ext cx="279" cy="81"/>
                <a:chOff x="1470" y="1821"/>
                <a:chExt cx="279" cy="93"/>
              </a:xfrm>
            </p:grpSpPr>
            <p:sp>
              <p:nvSpPr>
                <p:cNvPr id="375" name="Freeform 257"/>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76" name="Freeform 258"/>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sp>
          <p:nvSpPr>
            <p:cNvPr id="362" name="Text Box 259"/>
            <p:cNvSpPr txBox="1">
              <a:spLocks noChangeArrowheads="1"/>
            </p:cNvSpPr>
            <p:nvPr/>
          </p:nvSpPr>
          <p:spPr bwMode="auto">
            <a:xfrm>
              <a:off x="86" y="1488"/>
              <a:ext cx="26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A</a:t>
              </a:r>
            </a:p>
          </p:txBody>
        </p:sp>
        <p:sp>
          <p:nvSpPr>
            <p:cNvPr id="363" name="Text Box 260"/>
            <p:cNvSpPr txBox="1">
              <a:spLocks noChangeArrowheads="1"/>
            </p:cNvSpPr>
            <p:nvPr/>
          </p:nvSpPr>
          <p:spPr bwMode="auto">
            <a:xfrm>
              <a:off x="86" y="2282"/>
              <a:ext cx="24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B</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4" name="Text Box 261"/>
            <p:cNvSpPr txBox="1">
              <a:spLocks noChangeArrowheads="1"/>
            </p:cNvSpPr>
            <p:nvPr/>
          </p:nvSpPr>
          <p:spPr bwMode="auto">
            <a:xfrm>
              <a:off x="86" y="2928"/>
              <a:ext cx="244"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C</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5" name="Text Box 262"/>
            <p:cNvSpPr txBox="1">
              <a:spLocks noChangeArrowheads="1"/>
            </p:cNvSpPr>
            <p:nvPr/>
          </p:nvSpPr>
          <p:spPr bwMode="auto">
            <a:xfrm>
              <a:off x="1622" y="1390"/>
              <a:ext cx="33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rPr>
                <a:t>R1</a:t>
              </a:r>
              <a:endParaRPr kumimoji="0" lang="en-U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6" name="Text Box 263"/>
            <p:cNvSpPr txBox="1">
              <a:spLocks noChangeArrowheads="1"/>
            </p:cNvSpPr>
            <p:nvPr/>
          </p:nvSpPr>
          <p:spPr bwMode="auto">
            <a:xfrm>
              <a:off x="1729" y="2832"/>
              <a:ext cx="37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rPr>
                <a:t>R2</a:t>
              </a:r>
              <a:endParaRPr kumimoji="0" lang="en-U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7" name="Text Box 264"/>
            <p:cNvSpPr txBox="1">
              <a:spLocks noChangeArrowheads="1"/>
            </p:cNvSpPr>
            <p:nvPr/>
          </p:nvSpPr>
          <p:spPr bwMode="auto">
            <a:xfrm>
              <a:off x="2230" y="1270"/>
              <a:ext cx="37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rPr>
                <a:t>R3</a:t>
              </a:r>
              <a:endParaRPr kumimoji="0" lang="en-U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8" name="Text Box 265"/>
            <p:cNvSpPr txBox="1">
              <a:spLocks noChangeArrowheads="1"/>
            </p:cNvSpPr>
            <p:nvPr/>
          </p:nvSpPr>
          <p:spPr bwMode="auto">
            <a:xfrm>
              <a:off x="3654" y="1479"/>
              <a:ext cx="408"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R4</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9" name="Text Box 266"/>
            <p:cNvSpPr txBox="1">
              <a:spLocks noChangeArrowheads="1"/>
            </p:cNvSpPr>
            <p:nvPr/>
          </p:nvSpPr>
          <p:spPr bwMode="auto">
            <a:xfrm>
              <a:off x="5184" y="1440"/>
              <a:ext cx="26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D</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0" name="Text Box 267"/>
            <p:cNvSpPr txBox="1">
              <a:spLocks noChangeArrowheads="1"/>
            </p:cNvSpPr>
            <p:nvPr/>
          </p:nvSpPr>
          <p:spPr bwMode="auto">
            <a:xfrm>
              <a:off x="5232" y="2304"/>
              <a:ext cx="24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E</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1" name="Text Box 268"/>
            <p:cNvSpPr txBox="1">
              <a:spLocks noChangeArrowheads="1"/>
            </p:cNvSpPr>
            <p:nvPr/>
          </p:nvSpPr>
          <p:spPr bwMode="auto">
            <a:xfrm>
              <a:off x="5136" y="3168"/>
              <a:ext cx="245"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F</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2" name="Text Box 269"/>
            <p:cNvSpPr txBox="1">
              <a:spLocks noChangeArrowheads="1"/>
            </p:cNvSpPr>
            <p:nvPr/>
          </p:nvSpPr>
          <p:spPr bwMode="auto">
            <a:xfrm>
              <a:off x="3696" y="3069"/>
              <a:ext cx="37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R5</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03" name="Group 271"/>
          <p:cNvGrpSpPr>
            <a:grpSpLocks/>
          </p:cNvGrpSpPr>
          <p:nvPr/>
        </p:nvGrpSpPr>
        <p:grpSpPr bwMode="auto">
          <a:xfrm rot="-919250">
            <a:off x="2489356" y="5240134"/>
            <a:ext cx="771525" cy="241300"/>
            <a:chOff x="1776" y="3840"/>
            <a:chExt cx="720" cy="144"/>
          </a:xfrm>
        </p:grpSpPr>
        <p:sp>
          <p:nvSpPr>
            <p:cNvPr id="604" name="Rectangle 27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05" name="Rectangle 27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06" name="Group 274"/>
          <p:cNvGrpSpPr>
            <a:grpSpLocks/>
          </p:cNvGrpSpPr>
          <p:nvPr/>
        </p:nvGrpSpPr>
        <p:grpSpPr bwMode="auto">
          <a:xfrm rot="483778">
            <a:off x="2597306" y="3123996"/>
            <a:ext cx="519113" cy="241300"/>
            <a:chOff x="244" y="1056"/>
            <a:chExt cx="341" cy="144"/>
          </a:xfrm>
        </p:grpSpPr>
        <p:sp>
          <p:nvSpPr>
            <p:cNvPr id="607" name="Rectangle 27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08" name="Rectangle 27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09" name="Group 277"/>
          <p:cNvGrpSpPr>
            <a:grpSpLocks/>
          </p:cNvGrpSpPr>
          <p:nvPr/>
        </p:nvGrpSpPr>
        <p:grpSpPr bwMode="auto">
          <a:xfrm rot="-1446465">
            <a:off x="2538569" y="3957434"/>
            <a:ext cx="669925" cy="241300"/>
            <a:chOff x="144" y="1252"/>
            <a:chExt cx="441" cy="144"/>
          </a:xfrm>
        </p:grpSpPr>
        <p:sp>
          <p:nvSpPr>
            <p:cNvPr id="610" name="Rectangle 27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11" name="Rectangle 27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12" name="Group 281"/>
          <p:cNvGrpSpPr>
            <a:grpSpLocks/>
          </p:cNvGrpSpPr>
          <p:nvPr/>
        </p:nvGrpSpPr>
        <p:grpSpPr bwMode="auto">
          <a:xfrm rot="-3488662">
            <a:off x="4343557" y="4084433"/>
            <a:ext cx="850900" cy="219075"/>
            <a:chOff x="1776" y="3840"/>
            <a:chExt cx="720" cy="144"/>
          </a:xfrm>
        </p:grpSpPr>
        <p:sp>
          <p:nvSpPr>
            <p:cNvPr id="613" name="Rectangle 28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14" name="Rectangle 28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15" name="Group 284"/>
          <p:cNvGrpSpPr>
            <a:grpSpLocks/>
          </p:cNvGrpSpPr>
          <p:nvPr/>
        </p:nvGrpSpPr>
        <p:grpSpPr bwMode="auto">
          <a:xfrm rot="-987679">
            <a:off x="4586444" y="3155746"/>
            <a:ext cx="519112" cy="241300"/>
            <a:chOff x="244" y="1056"/>
            <a:chExt cx="341" cy="144"/>
          </a:xfrm>
        </p:grpSpPr>
        <p:sp>
          <p:nvSpPr>
            <p:cNvPr id="616" name="Rectangle 28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17" name="Rectangle 28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18" name="Group 287"/>
          <p:cNvGrpSpPr>
            <a:grpSpLocks/>
          </p:cNvGrpSpPr>
          <p:nvPr/>
        </p:nvGrpSpPr>
        <p:grpSpPr bwMode="auto">
          <a:xfrm rot="4879582">
            <a:off x="3744276" y="4326527"/>
            <a:ext cx="741362" cy="219075"/>
            <a:chOff x="144" y="1252"/>
            <a:chExt cx="441" cy="144"/>
          </a:xfrm>
        </p:grpSpPr>
        <p:sp>
          <p:nvSpPr>
            <p:cNvPr id="619" name="Rectangle 28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0" name="Rectangle 28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21" name="Group 291"/>
          <p:cNvGrpSpPr>
            <a:grpSpLocks/>
          </p:cNvGrpSpPr>
          <p:nvPr/>
        </p:nvGrpSpPr>
        <p:grpSpPr bwMode="auto">
          <a:xfrm rot="1001747">
            <a:off x="5877081" y="3035096"/>
            <a:ext cx="771525" cy="241300"/>
            <a:chOff x="1776" y="3840"/>
            <a:chExt cx="720" cy="144"/>
          </a:xfrm>
        </p:grpSpPr>
        <p:sp>
          <p:nvSpPr>
            <p:cNvPr id="622" name="Rectangle 29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3" name="Rectangle 29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24" name="Group 294"/>
          <p:cNvGrpSpPr>
            <a:grpSpLocks/>
          </p:cNvGrpSpPr>
          <p:nvPr/>
        </p:nvGrpSpPr>
        <p:grpSpPr bwMode="auto">
          <a:xfrm rot="946197">
            <a:off x="6626381" y="3243059"/>
            <a:ext cx="519113" cy="242887"/>
            <a:chOff x="244" y="1056"/>
            <a:chExt cx="341" cy="144"/>
          </a:xfrm>
        </p:grpSpPr>
        <p:sp>
          <p:nvSpPr>
            <p:cNvPr id="625" name="Rectangle 29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6" name="Rectangle 29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27" name="Group 297"/>
          <p:cNvGrpSpPr>
            <a:grpSpLocks/>
          </p:cNvGrpSpPr>
          <p:nvPr/>
        </p:nvGrpSpPr>
        <p:grpSpPr bwMode="auto">
          <a:xfrm rot="406491">
            <a:off x="5362731" y="5022646"/>
            <a:ext cx="671513" cy="241300"/>
            <a:chOff x="144" y="1252"/>
            <a:chExt cx="441" cy="144"/>
          </a:xfrm>
        </p:grpSpPr>
        <p:sp>
          <p:nvSpPr>
            <p:cNvPr id="628" name="Rectangle 29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9" name="Rectangle 29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30" name="Group 301"/>
          <p:cNvGrpSpPr>
            <a:grpSpLocks/>
          </p:cNvGrpSpPr>
          <p:nvPr/>
        </p:nvGrpSpPr>
        <p:grpSpPr bwMode="auto">
          <a:xfrm rot="-932719">
            <a:off x="7643969" y="3304971"/>
            <a:ext cx="771525" cy="241300"/>
            <a:chOff x="1776" y="3840"/>
            <a:chExt cx="720" cy="144"/>
          </a:xfrm>
        </p:grpSpPr>
        <p:sp>
          <p:nvSpPr>
            <p:cNvPr id="631" name="Rectangle 30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32" name="Rectangle 30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33" name="Group 304"/>
          <p:cNvGrpSpPr>
            <a:grpSpLocks/>
          </p:cNvGrpSpPr>
          <p:nvPr/>
        </p:nvGrpSpPr>
        <p:grpSpPr bwMode="auto">
          <a:xfrm rot="1715192">
            <a:off x="7896381" y="3973309"/>
            <a:ext cx="519113" cy="242887"/>
            <a:chOff x="244" y="1056"/>
            <a:chExt cx="341" cy="144"/>
          </a:xfrm>
        </p:grpSpPr>
        <p:sp>
          <p:nvSpPr>
            <p:cNvPr id="634" name="Rectangle 30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35" name="Rectangle 30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36" name="Group 307"/>
          <p:cNvGrpSpPr>
            <a:grpSpLocks/>
          </p:cNvGrpSpPr>
          <p:nvPr/>
        </p:nvGrpSpPr>
        <p:grpSpPr bwMode="auto">
          <a:xfrm rot="1243891">
            <a:off x="7743981" y="5425871"/>
            <a:ext cx="671513" cy="241300"/>
            <a:chOff x="144" y="1252"/>
            <a:chExt cx="441" cy="144"/>
          </a:xfrm>
        </p:grpSpPr>
        <p:sp>
          <p:nvSpPr>
            <p:cNvPr id="637" name="Rectangle 30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38" name="Rectangle 30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sp>
        <p:nvSpPr>
          <p:cNvPr id="639" name="TextBox 312"/>
          <p:cNvSpPr txBox="1"/>
          <p:nvPr/>
        </p:nvSpPr>
        <p:spPr>
          <a:xfrm>
            <a:off x="3380468" y="5740126"/>
            <a:ext cx="3385505" cy="400110"/>
          </a:xfrm>
          <a:prstGeom prst="rect">
            <a:avLst/>
          </a:prstGeom>
          <a:solidFill>
            <a:srgbClr val="5B307E"/>
          </a:solidFill>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zh-CN" altLang="en-US" sz="20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将不同报文转发到不同链路</a:t>
            </a:r>
            <a:endParaRPr kumimoji="0" lang="en-GB" sz="20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sp>
        <p:nvSpPr>
          <p:cNvPr id="312" name="内容占位符 2">
            <a:extLst>
              <a:ext uri="{FF2B5EF4-FFF2-40B4-BE49-F238E27FC236}">
                <a16:creationId xmlns:a16="http://schemas.microsoft.com/office/drawing/2014/main" id="{DB830B1C-0706-7E41-AE1A-DEBBD115D846}"/>
              </a:ext>
            </a:extLst>
          </p:cNvPr>
          <p:cNvSpPr>
            <a:spLocks noGrp="1"/>
          </p:cNvSpPr>
          <p:nvPr>
            <p:ph idx="1"/>
          </p:nvPr>
        </p:nvSpPr>
        <p:spPr>
          <a:xfrm>
            <a:off x="756745" y="1440447"/>
            <a:ext cx="10804634" cy="1416636"/>
          </a:xfrm>
        </p:spPr>
        <p:txBody>
          <a:bodyPr>
            <a:normAutofit/>
          </a:bodyPr>
          <a:lstStyle/>
          <a:p>
            <a:r>
              <a:rPr lang="zh-CN" altLang="en-US" sz="2400" dirty="0"/>
              <a:t>路由器是互联网最主要的网络设备，包含</a:t>
            </a:r>
            <a:r>
              <a:rPr lang="en-US" altLang="zh-CN" sz="2400" dirty="0"/>
              <a:t>2</a:t>
            </a:r>
            <a:r>
              <a:rPr lang="zh-CN" altLang="en-US" sz="2400" dirty="0"/>
              <a:t>个核心功能</a:t>
            </a:r>
            <a:endParaRPr lang="en-US" altLang="zh-CN" sz="2400" dirty="0"/>
          </a:p>
          <a:p>
            <a:pPr lvl="1"/>
            <a:r>
              <a:rPr lang="zh-CN" altLang="en-US" sz="2000" dirty="0">
                <a:solidFill>
                  <a:srgbClr val="C00000"/>
                </a:solidFill>
              </a:rPr>
              <a:t>控制层：</a:t>
            </a:r>
            <a:r>
              <a:rPr lang="zh-CN" altLang="en-US" sz="2000" dirty="0"/>
              <a:t>运行各种路由协议：</a:t>
            </a:r>
            <a:r>
              <a:rPr lang="en-US" altLang="zh-CN" sz="2000" dirty="0"/>
              <a:t>BGP</a:t>
            </a:r>
            <a:r>
              <a:rPr lang="zh-CN" altLang="en-US" sz="2000" dirty="0"/>
              <a:t>、</a:t>
            </a:r>
            <a:r>
              <a:rPr lang="en-US" altLang="zh-CN" sz="2000" dirty="0"/>
              <a:t>OSPF</a:t>
            </a:r>
            <a:r>
              <a:rPr lang="zh-CN" altLang="en-US" sz="2000" dirty="0"/>
              <a:t>、</a:t>
            </a:r>
            <a:r>
              <a:rPr lang="en-US" altLang="zh-CN" sz="2000" dirty="0"/>
              <a:t>RIP</a:t>
            </a:r>
            <a:r>
              <a:rPr lang="zh-CN" altLang="en-US" sz="2000" dirty="0"/>
              <a:t>，学习去往不同目的的转发路径：路由表</a:t>
            </a:r>
            <a:endParaRPr lang="en-US" altLang="zh-CN" sz="2000" dirty="0"/>
          </a:p>
          <a:p>
            <a:pPr lvl="1"/>
            <a:r>
              <a:rPr lang="zh-CN" altLang="en-US" sz="2000" dirty="0">
                <a:solidFill>
                  <a:srgbClr val="C00000"/>
                </a:solidFill>
              </a:rPr>
              <a:t>数据层：</a:t>
            </a:r>
            <a:r>
              <a:rPr lang="zh-CN" altLang="en-US" sz="2000" dirty="0"/>
              <a:t>根据上述路由表，将收到的</a:t>
            </a:r>
            <a:r>
              <a:rPr lang="en-US" altLang="zh-CN" sz="2000" dirty="0"/>
              <a:t>IP</a:t>
            </a:r>
            <a:r>
              <a:rPr lang="zh-CN" altLang="en-US" sz="2000" dirty="0"/>
              <a:t>分组转发到正确的下一跳链路</a:t>
            </a:r>
            <a:endParaRPr lang="en-US" altLang="zh-CN" sz="2000" dirty="0"/>
          </a:p>
        </p:txBody>
      </p:sp>
      <p:sp>
        <p:nvSpPr>
          <p:cNvPr id="309" name="灯片编号占位符 3">
            <a:extLst>
              <a:ext uri="{FF2B5EF4-FFF2-40B4-BE49-F238E27FC236}">
                <a16:creationId xmlns:a16="http://schemas.microsoft.com/office/drawing/2014/main" id="{A62951EF-BB43-D848-A67E-C8665859AC3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195</a:t>
            </a:fld>
            <a:endParaRPr kumimoji="1" lang="zh-CN" altLang="en-US" dirty="0"/>
          </a:p>
        </p:txBody>
      </p:sp>
    </p:spTree>
    <p:extLst>
      <p:ext uri="{BB962C8B-B14F-4D97-AF65-F5344CB8AC3E}">
        <p14:creationId xmlns:p14="http://schemas.microsoft.com/office/powerpoint/2010/main" val="2002246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09"/>
                                        </p:tgtEl>
                                        <p:attrNameLst>
                                          <p:attrName>style.visibility</p:attrName>
                                        </p:attrNameLst>
                                      </p:cBhvr>
                                      <p:to>
                                        <p:strVal val="visible"/>
                                      </p:to>
                                    </p:set>
                                    <p:animEffect transition="in" filter="blinds(horizontal)">
                                      <p:cBhvr>
                                        <p:cTn id="7" dur="500"/>
                                        <p:tgtEl>
                                          <p:spTgt spid="609"/>
                                        </p:tgtEl>
                                      </p:cBhvr>
                                    </p:animEffect>
                                  </p:childTnLst>
                                </p:cTn>
                              </p:par>
                              <p:par>
                                <p:cTn id="8" presetID="3" presetClass="entr" presetSubtype="10" fill="hold" nodeType="withEffect">
                                  <p:stCondLst>
                                    <p:cond delay="0"/>
                                  </p:stCondLst>
                                  <p:childTnLst>
                                    <p:set>
                                      <p:cBhvr>
                                        <p:cTn id="9" dur="1" fill="hold">
                                          <p:stCondLst>
                                            <p:cond delay="0"/>
                                          </p:stCondLst>
                                        </p:cTn>
                                        <p:tgtEl>
                                          <p:spTgt spid="618"/>
                                        </p:tgtEl>
                                        <p:attrNameLst>
                                          <p:attrName>style.visibility</p:attrName>
                                        </p:attrNameLst>
                                      </p:cBhvr>
                                      <p:to>
                                        <p:strVal val="visible"/>
                                      </p:to>
                                    </p:set>
                                    <p:animEffect transition="in" filter="blinds(horizontal)">
                                      <p:cBhvr>
                                        <p:cTn id="10" dur="500"/>
                                        <p:tgtEl>
                                          <p:spTgt spid="618"/>
                                        </p:tgtEl>
                                      </p:cBhvr>
                                    </p:animEffect>
                                  </p:childTnLst>
                                </p:cTn>
                              </p:par>
                              <p:par>
                                <p:cTn id="11" presetID="3" presetClass="entr" presetSubtype="10" fill="hold" nodeType="withEffect">
                                  <p:stCondLst>
                                    <p:cond delay="0"/>
                                  </p:stCondLst>
                                  <p:childTnLst>
                                    <p:set>
                                      <p:cBhvr>
                                        <p:cTn id="12" dur="1" fill="hold">
                                          <p:stCondLst>
                                            <p:cond delay="0"/>
                                          </p:stCondLst>
                                        </p:cTn>
                                        <p:tgtEl>
                                          <p:spTgt spid="627"/>
                                        </p:tgtEl>
                                        <p:attrNameLst>
                                          <p:attrName>style.visibility</p:attrName>
                                        </p:attrNameLst>
                                      </p:cBhvr>
                                      <p:to>
                                        <p:strVal val="visible"/>
                                      </p:to>
                                    </p:set>
                                    <p:animEffect transition="in" filter="blinds(horizontal)">
                                      <p:cBhvr>
                                        <p:cTn id="13" dur="500"/>
                                        <p:tgtEl>
                                          <p:spTgt spid="627"/>
                                        </p:tgtEl>
                                      </p:cBhvr>
                                    </p:animEffect>
                                  </p:childTnLst>
                                </p:cTn>
                              </p:par>
                              <p:par>
                                <p:cTn id="14" presetID="3" presetClass="entr" presetSubtype="10" fill="hold" nodeType="withEffect">
                                  <p:stCondLst>
                                    <p:cond delay="0"/>
                                  </p:stCondLst>
                                  <p:childTnLst>
                                    <p:set>
                                      <p:cBhvr>
                                        <p:cTn id="15" dur="1" fill="hold">
                                          <p:stCondLst>
                                            <p:cond delay="0"/>
                                          </p:stCondLst>
                                        </p:cTn>
                                        <p:tgtEl>
                                          <p:spTgt spid="636"/>
                                        </p:tgtEl>
                                        <p:attrNameLst>
                                          <p:attrName>style.visibility</p:attrName>
                                        </p:attrNameLst>
                                      </p:cBhvr>
                                      <p:to>
                                        <p:strVal val="visible"/>
                                      </p:to>
                                    </p:set>
                                    <p:animEffect transition="in" filter="blinds(horizontal)">
                                      <p:cBhvr>
                                        <p:cTn id="16" dur="500"/>
                                        <p:tgtEl>
                                          <p:spTgt spid="636"/>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606"/>
                                        </p:tgtEl>
                                        <p:attrNameLst>
                                          <p:attrName>style.visibility</p:attrName>
                                        </p:attrNameLst>
                                      </p:cBhvr>
                                      <p:to>
                                        <p:strVal val="visible"/>
                                      </p:to>
                                    </p:set>
                                    <p:animEffect transition="in" filter="blinds(horizontal)">
                                      <p:cBhvr>
                                        <p:cTn id="21" dur="500"/>
                                        <p:tgtEl>
                                          <p:spTgt spid="606"/>
                                        </p:tgtEl>
                                      </p:cBhvr>
                                    </p:animEffect>
                                  </p:childTnLst>
                                </p:cTn>
                              </p:par>
                              <p:par>
                                <p:cTn id="22" presetID="3" presetClass="entr" presetSubtype="10" fill="hold" nodeType="withEffect">
                                  <p:stCondLst>
                                    <p:cond delay="0"/>
                                  </p:stCondLst>
                                  <p:childTnLst>
                                    <p:set>
                                      <p:cBhvr>
                                        <p:cTn id="23" dur="1" fill="hold">
                                          <p:stCondLst>
                                            <p:cond delay="0"/>
                                          </p:stCondLst>
                                        </p:cTn>
                                        <p:tgtEl>
                                          <p:spTgt spid="615"/>
                                        </p:tgtEl>
                                        <p:attrNameLst>
                                          <p:attrName>style.visibility</p:attrName>
                                        </p:attrNameLst>
                                      </p:cBhvr>
                                      <p:to>
                                        <p:strVal val="visible"/>
                                      </p:to>
                                    </p:set>
                                    <p:animEffect transition="in" filter="blinds(horizontal)">
                                      <p:cBhvr>
                                        <p:cTn id="24" dur="500"/>
                                        <p:tgtEl>
                                          <p:spTgt spid="615"/>
                                        </p:tgtEl>
                                      </p:cBhvr>
                                    </p:animEffect>
                                  </p:childTnLst>
                                </p:cTn>
                              </p:par>
                              <p:par>
                                <p:cTn id="25" presetID="3" presetClass="entr" presetSubtype="10" fill="hold" nodeType="withEffect">
                                  <p:stCondLst>
                                    <p:cond delay="0"/>
                                  </p:stCondLst>
                                  <p:childTnLst>
                                    <p:set>
                                      <p:cBhvr>
                                        <p:cTn id="26" dur="1" fill="hold">
                                          <p:stCondLst>
                                            <p:cond delay="0"/>
                                          </p:stCondLst>
                                        </p:cTn>
                                        <p:tgtEl>
                                          <p:spTgt spid="624"/>
                                        </p:tgtEl>
                                        <p:attrNameLst>
                                          <p:attrName>style.visibility</p:attrName>
                                        </p:attrNameLst>
                                      </p:cBhvr>
                                      <p:to>
                                        <p:strVal val="visible"/>
                                      </p:to>
                                    </p:set>
                                    <p:animEffect transition="in" filter="blinds(horizontal)">
                                      <p:cBhvr>
                                        <p:cTn id="27" dur="500"/>
                                        <p:tgtEl>
                                          <p:spTgt spid="624"/>
                                        </p:tgtEl>
                                      </p:cBhvr>
                                    </p:animEffect>
                                  </p:childTnLst>
                                </p:cTn>
                              </p:par>
                              <p:par>
                                <p:cTn id="28" presetID="3" presetClass="entr" presetSubtype="10" fill="hold" nodeType="withEffect">
                                  <p:stCondLst>
                                    <p:cond delay="0"/>
                                  </p:stCondLst>
                                  <p:childTnLst>
                                    <p:set>
                                      <p:cBhvr>
                                        <p:cTn id="29" dur="1" fill="hold">
                                          <p:stCondLst>
                                            <p:cond delay="0"/>
                                          </p:stCondLst>
                                        </p:cTn>
                                        <p:tgtEl>
                                          <p:spTgt spid="633"/>
                                        </p:tgtEl>
                                        <p:attrNameLst>
                                          <p:attrName>style.visibility</p:attrName>
                                        </p:attrNameLst>
                                      </p:cBhvr>
                                      <p:to>
                                        <p:strVal val="visible"/>
                                      </p:to>
                                    </p:set>
                                    <p:animEffect transition="in" filter="blinds(horizontal)">
                                      <p:cBhvr>
                                        <p:cTn id="30" dur="500"/>
                                        <p:tgtEl>
                                          <p:spTgt spid="633"/>
                                        </p:tgtEl>
                                      </p:cBhvr>
                                    </p:animEffect>
                                  </p:childTnLst>
                                </p:cTn>
                              </p:par>
                            </p:childTnLst>
                          </p:cTn>
                        </p:par>
                      </p:childTnLst>
                    </p:cTn>
                  </p:par>
                  <p:par>
                    <p:cTn id="31" fill="hold">
                      <p:stCondLst>
                        <p:cond delay="indefinite"/>
                      </p:stCondLst>
                      <p:childTnLst>
                        <p:par>
                          <p:cTn id="32" fill="hold">
                            <p:stCondLst>
                              <p:cond delay="0"/>
                            </p:stCondLst>
                            <p:childTnLst>
                              <p:par>
                                <p:cTn id="33" presetID="3" presetClass="entr" presetSubtype="10" fill="hold" nodeType="clickEffect">
                                  <p:stCondLst>
                                    <p:cond delay="0"/>
                                  </p:stCondLst>
                                  <p:childTnLst>
                                    <p:set>
                                      <p:cBhvr>
                                        <p:cTn id="34" dur="1" fill="hold">
                                          <p:stCondLst>
                                            <p:cond delay="0"/>
                                          </p:stCondLst>
                                        </p:cTn>
                                        <p:tgtEl>
                                          <p:spTgt spid="603"/>
                                        </p:tgtEl>
                                        <p:attrNameLst>
                                          <p:attrName>style.visibility</p:attrName>
                                        </p:attrNameLst>
                                      </p:cBhvr>
                                      <p:to>
                                        <p:strVal val="visible"/>
                                      </p:to>
                                    </p:set>
                                    <p:animEffect transition="in" filter="blinds(horizontal)">
                                      <p:cBhvr>
                                        <p:cTn id="35" dur="500"/>
                                        <p:tgtEl>
                                          <p:spTgt spid="603"/>
                                        </p:tgtEl>
                                      </p:cBhvr>
                                    </p:animEffect>
                                  </p:childTnLst>
                                </p:cTn>
                              </p:par>
                              <p:par>
                                <p:cTn id="36" presetID="3" presetClass="entr" presetSubtype="10" fill="hold" nodeType="withEffect">
                                  <p:stCondLst>
                                    <p:cond delay="0"/>
                                  </p:stCondLst>
                                  <p:childTnLst>
                                    <p:set>
                                      <p:cBhvr>
                                        <p:cTn id="37" dur="1" fill="hold">
                                          <p:stCondLst>
                                            <p:cond delay="0"/>
                                          </p:stCondLst>
                                        </p:cTn>
                                        <p:tgtEl>
                                          <p:spTgt spid="612"/>
                                        </p:tgtEl>
                                        <p:attrNameLst>
                                          <p:attrName>style.visibility</p:attrName>
                                        </p:attrNameLst>
                                      </p:cBhvr>
                                      <p:to>
                                        <p:strVal val="visible"/>
                                      </p:to>
                                    </p:set>
                                    <p:animEffect transition="in" filter="blinds(horizontal)">
                                      <p:cBhvr>
                                        <p:cTn id="38" dur="500"/>
                                        <p:tgtEl>
                                          <p:spTgt spid="612"/>
                                        </p:tgtEl>
                                      </p:cBhvr>
                                    </p:animEffect>
                                  </p:childTnLst>
                                </p:cTn>
                              </p:par>
                              <p:par>
                                <p:cTn id="39" presetID="3" presetClass="entr" presetSubtype="10" fill="hold" nodeType="withEffect">
                                  <p:stCondLst>
                                    <p:cond delay="0"/>
                                  </p:stCondLst>
                                  <p:childTnLst>
                                    <p:set>
                                      <p:cBhvr>
                                        <p:cTn id="40" dur="1" fill="hold">
                                          <p:stCondLst>
                                            <p:cond delay="0"/>
                                          </p:stCondLst>
                                        </p:cTn>
                                        <p:tgtEl>
                                          <p:spTgt spid="621"/>
                                        </p:tgtEl>
                                        <p:attrNameLst>
                                          <p:attrName>style.visibility</p:attrName>
                                        </p:attrNameLst>
                                      </p:cBhvr>
                                      <p:to>
                                        <p:strVal val="visible"/>
                                      </p:to>
                                    </p:set>
                                    <p:animEffect transition="in" filter="blinds(horizontal)">
                                      <p:cBhvr>
                                        <p:cTn id="41" dur="500"/>
                                        <p:tgtEl>
                                          <p:spTgt spid="621"/>
                                        </p:tgtEl>
                                      </p:cBhvr>
                                    </p:animEffect>
                                  </p:childTnLst>
                                </p:cTn>
                              </p:par>
                              <p:par>
                                <p:cTn id="42" presetID="3" presetClass="entr" presetSubtype="10" fill="hold" nodeType="withEffect">
                                  <p:stCondLst>
                                    <p:cond delay="0"/>
                                  </p:stCondLst>
                                  <p:childTnLst>
                                    <p:set>
                                      <p:cBhvr>
                                        <p:cTn id="43" dur="1" fill="hold">
                                          <p:stCondLst>
                                            <p:cond delay="0"/>
                                          </p:stCondLst>
                                        </p:cTn>
                                        <p:tgtEl>
                                          <p:spTgt spid="630"/>
                                        </p:tgtEl>
                                        <p:attrNameLst>
                                          <p:attrName>style.visibility</p:attrName>
                                        </p:attrNameLst>
                                      </p:cBhvr>
                                      <p:to>
                                        <p:strVal val="visible"/>
                                      </p:to>
                                    </p:set>
                                    <p:animEffect transition="in" filter="blinds(horizontal)">
                                      <p:cBhvr>
                                        <p:cTn id="44" dur="500"/>
                                        <p:tgtEl>
                                          <p:spTgt spid="6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zh-CN" altLang="en-US" dirty="0"/>
              <a:t>路由器控制层</a:t>
            </a:r>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sp>
        <p:nvSpPr>
          <p:cNvPr id="5" name="内容占位符 4"/>
          <p:cNvSpPr>
            <a:spLocks noGrp="1"/>
          </p:cNvSpPr>
          <p:nvPr>
            <p:ph idx="1"/>
          </p:nvPr>
        </p:nvSpPr>
        <p:spPr>
          <a:xfrm>
            <a:off x="674557" y="1744049"/>
            <a:ext cx="5535680" cy="4455923"/>
          </a:xfrm>
        </p:spPr>
        <p:txBody>
          <a:bodyPr>
            <a:normAutofit/>
          </a:bodyPr>
          <a:lstStyle/>
          <a:p>
            <a:pPr marL="360363" lvl="1" indent="-360363" algn="just">
              <a:spcBef>
                <a:spcPts val="1800"/>
              </a:spcBef>
              <a:buFont typeface="Wingdings" pitchFamily="2" charset="2"/>
              <a:buChar char="Ø"/>
            </a:pPr>
            <a:r>
              <a:rPr lang="zh-CN" altLang="en-US" sz="2800" dirty="0"/>
              <a:t>路由器可同时运行多个路由协议</a:t>
            </a:r>
            <a:endParaRPr lang="en-US" altLang="zh-CN" sz="2800" dirty="0"/>
          </a:p>
          <a:p>
            <a:pPr marL="360363" lvl="1" indent="-360363" algn="just">
              <a:spcBef>
                <a:spcPts val="1800"/>
              </a:spcBef>
              <a:buFont typeface="Wingdings" pitchFamily="2" charset="2"/>
              <a:buChar char="Ø"/>
            </a:pPr>
            <a:r>
              <a:rPr lang="zh-CN" altLang="en-US" sz="2800" dirty="0"/>
              <a:t>路由器也可不运行任何路由协议，只使用静态路由和直连路由</a:t>
            </a:r>
            <a:endParaRPr lang="en-US" altLang="zh-CN" sz="2800" dirty="0"/>
          </a:p>
          <a:p>
            <a:pPr marL="360363" lvl="1" indent="-360363" algn="just">
              <a:spcBef>
                <a:spcPts val="1800"/>
              </a:spcBef>
              <a:buFont typeface="Wingdings" pitchFamily="2" charset="2"/>
              <a:buChar char="Ø"/>
            </a:pPr>
            <a:r>
              <a:rPr lang="zh-CN" altLang="en-US" sz="2800" dirty="0"/>
              <a:t>路由管理根据路由优先级，选择最佳路由，形成核心路由表</a:t>
            </a:r>
            <a:endParaRPr lang="en-US" altLang="zh-CN" sz="2800" dirty="0"/>
          </a:p>
          <a:p>
            <a:pPr marL="360363" lvl="1" indent="-360363" algn="just">
              <a:spcBef>
                <a:spcPts val="1800"/>
              </a:spcBef>
              <a:buFont typeface="Wingdings" pitchFamily="2" charset="2"/>
              <a:buChar char="Ø"/>
            </a:pPr>
            <a:r>
              <a:rPr lang="zh-CN" altLang="en-US" sz="2800" dirty="0"/>
              <a:t>控制层将核心路由表下发到数据层，形成转发表（</a:t>
            </a:r>
            <a:r>
              <a:rPr lang="en-US" altLang="zh-CN" sz="2800" dirty="0"/>
              <a:t>FIB</a:t>
            </a:r>
            <a:r>
              <a:rPr lang="zh-CN" altLang="en-US" sz="2800" dirty="0"/>
              <a:t>）</a:t>
            </a:r>
            <a:endParaRPr lang="en-US" altLang="zh-CN" dirty="0"/>
          </a:p>
          <a:p>
            <a:pPr lvl="1" algn="just">
              <a:spcBef>
                <a:spcPts val="1800"/>
              </a:spcBef>
            </a:pPr>
            <a:endParaRPr lang="zh-CN" altLang="en-US" dirty="0"/>
          </a:p>
        </p:txBody>
      </p:sp>
      <p:grpSp>
        <p:nvGrpSpPr>
          <p:cNvPr id="42" name="组合 41"/>
          <p:cNvGrpSpPr/>
          <p:nvPr/>
        </p:nvGrpSpPr>
        <p:grpSpPr>
          <a:xfrm>
            <a:off x="6541227" y="1743381"/>
            <a:ext cx="5277080" cy="4418540"/>
            <a:chOff x="6544019" y="1830835"/>
            <a:chExt cx="5277080" cy="4418540"/>
          </a:xfrm>
        </p:grpSpPr>
        <p:sp>
          <p:nvSpPr>
            <p:cNvPr id="8" name="文本框 7"/>
            <p:cNvSpPr txBox="1"/>
            <p:nvPr/>
          </p:nvSpPr>
          <p:spPr>
            <a:xfrm>
              <a:off x="6753339" y="1993435"/>
              <a:ext cx="900000" cy="400110"/>
            </a:xfrm>
            <a:prstGeom prst="rect">
              <a:avLst/>
            </a:prstGeom>
            <a:solidFill>
              <a:schemeClr val="bg1"/>
            </a:solidFill>
            <a:ln w="19050">
              <a:solidFill>
                <a:srgbClr val="C00000"/>
              </a:solidFill>
            </a:ln>
          </p:spPr>
          <p:txBody>
            <a:bodyPr wrap="square" rtlCol="0">
              <a:spAutoFit/>
            </a:bodyPr>
            <a:lstStyle/>
            <a:p>
              <a:pPr algn="ctr"/>
              <a:r>
                <a:rPr lang="en-US" altLang="zh-CN" sz="2000" dirty="0">
                  <a:latin typeface="微软雅黑" panose="020B0503020204020204" pitchFamily="34" charset="-122"/>
                  <a:ea typeface="微软雅黑" panose="020B0503020204020204" pitchFamily="34" charset="-122"/>
                </a:rPr>
                <a:t>OSPF</a:t>
              </a:r>
              <a:endParaRPr lang="zh-CN" altLang="en-US" sz="2000" dirty="0">
                <a:latin typeface="微软雅黑" panose="020B0503020204020204" pitchFamily="34" charset="-122"/>
                <a:ea typeface="微软雅黑" panose="020B0503020204020204" pitchFamily="34" charset="-122"/>
              </a:endParaRPr>
            </a:p>
          </p:txBody>
        </p:sp>
        <p:sp>
          <p:nvSpPr>
            <p:cNvPr id="314" name="文本框 313"/>
            <p:cNvSpPr txBox="1"/>
            <p:nvPr/>
          </p:nvSpPr>
          <p:spPr>
            <a:xfrm>
              <a:off x="7743019" y="1993435"/>
              <a:ext cx="900000" cy="400110"/>
            </a:xfrm>
            <a:prstGeom prst="rect">
              <a:avLst/>
            </a:prstGeom>
            <a:solidFill>
              <a:schemeClr val="bg1"/>
            </a:solidFill>
            <a:ln w="19050">
              <a:solidFill>
                <a:srgbClr val="C00000"/>
              </a:solidFill>
            </a:ln>
          </p:spPr>
          <p:txBody>
            <a:bodyPr wrap="square" rtlCol="0">
              <a:spAutoFit/>
            </a:bodyPr>
            <a:lstStyle/>
            <a:p>
              <a:pPr algn="ctr"/>
              <a:r>
                <a:rPr lang="en-US" altLang="zh-CN" sz="2000" dirty="0">
                  <a:latin typeface="微软雅黑" panose="020B0503020204020204" pitchFamily="34" charset="-122"/>
                  <a:ea typeface="微软雅黑" panose="020B0503020204020204" pitchFamily="34" charset="-122"/>
                </a:rPr>
                <a:t>BGP</a:t>
              </a:r>
              <a:endParaRPr lang="zh-CN" altLang="en-US" sz="2000" dirty="0">
                <a:latin typeface="微软雅黑" panose="020B0503020204020204" pitchFamily="34" charset="-122"/>
                <a:ea typeface="微软雅黑" panose="020B0503020204020204" pitchFamily="34" charset="-122"/>
              </a:endParaRPr>
            </a:p>
          </p:txBody>
        </p:sp>
        <p:sp>
          <p:nvSpPr>
            <p:cNvPr id="315" name="文本框 314"/>
            <p:cNvSpPr txBox="1"/>
            <p:nvPr/>
          </p:nvSpPr>
          <p:spPr>
            <a:xfrm>
              <a:off x="9294913" y="1993435"/>
              <a:ext cx="1224000" cy="400110"/>
            </a:xfrm>
            <a:prstGeom prst="rect">
              <a:avLst/>
            </a:prstGeom>
            <a:solidFill>
              <a:schemeClr val="bg1"/>
            </a:solidFill>
            <a:ln w="19050">
              <a:solidFill>
                <a:srgbClr val="C00000"/>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静态路由</a:t>
              </a:r>
            </a:p>
          </p:txBody>
        </p:sp>
        <p:sp>
          <p:nvSpPr>
            <p:cNvPr id="316" name="文本框 315"/>
            <p:cNvSpPr txBox="1"/>
            <p:nvPr/>
          </p:nvSpPr>
          <p:spPr>
            <a:xfrm>
              <a:off x="7844010" y="3148652"/>
              <a:ext cx="2996588" cy="400110"/>
            </a:xfrm>
            <a:prstGeom prst="rect">
              <a:avLst/>
            </a:prstGeom>
            <a:solidFill>
              <a:schemeClr val="bg1"/>
            </a:solidFill>
            <a:ln w="19050">
              <a:no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路由管理</a:t>
              </a:r>
            </a:p>
          </p:txBody>
        </p:sp>
        <p:sp>
          <p:nvSpPr>
            <p:cNvPr id="9" name="椭圆 8"/>
            <p:cNvSpPr/>
            <p:nvPr/>
          </p:nvSpPr>
          <p:spPr>
            <a:xfrm>
              <a:off x="8064020" y="3587590"/>
              <a:ext cx="2528884" cy="572877"/>
            </a:xfrm>
            <a:prstGeom prst="ellipse">
              <a:avLst/>
            </a:prstGeom>
            <a:solidFill>
              <a:schemeClr val="bg1"/>
            </a:solidFill>
            <a:ln w="28575">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rPr>
                <a:t>核心路由表</a:t>
              </a:r>
            </a:p>
          </p:txBody>
        </p:sp>
        <p:sp>
          <p:nvSpPr>
            <p:cNvPr id="10" name="矩形 9"/>
            <p:cNvSpPr/>
            <p:nvPr/>
          </p:nvSpPr>
          <p:spPr>
            <a:xfrm>
              <a:off x="7844010" y="3029481"/>
              <a:ext cx="2996588" cy="1317827"/>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p:cNvCxnSpPr/>
            <p:nvPr/>
          </p:nvCxnSpPr>
          <p:spPr>
            <a:xfrm>
              <a:off x="6544019" y="4622729"/>
              <a:ext cx="5277080" cy="0"/>
            </a:xfrm>
            <a:prstGeom prst="line">
              <a:avLst/>
            </a:prstGeom>
            <a:ln w="285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24" name="文本框 323"/>
            <p:cNvSpPr txBox="1"/>
            <p:nvPr/>
          </p:nvSpPr>
          <p:spPr>
            <a:xfrm>
              <a:off x="7844010" y="5799862"/>
              <a:ext cx="2996588" cy="400110"/>
            </a:xfrm>
            <a:prstGeom prst="rect">
              <a:avLst/>
            </a:prstGeom>
            <a:solidFill>
              <a:schemeClr val="bg1"/>
            </a:solidFill>
            <a:ln w="19050">
              <a:noFill/>
            </a:ln>
          </p:spPr>
          <p:txBody>
            <a:bodyPr wrap="square" rtlCol="0">
              <a:spAutoFit/>
            </a:bodyPr>
            <a:lstStyle/>
            <a:p>
              <a:pPr algn="ctr"/>
              <a:r>
                <a:rPr lang="zh-CN" altLang="en-US" sz="2000">
                  <a:latin typeface="微软雅黑" panose="020B0503020204020204" pitchFamily="34" charset="-122"/>
                  <a:ea typeface="微软雅黑" panose="020B0503020204020204" pitchFamily="34" charset="-122"/>
                </a:rPr>
                <a:t>转发引擎</a:t>
              </a:r>
              <a:endParaRPr lang="zh-CN" altLang="en-US" sz="2000" dirty="0">
                <a:latin typeface="微软雅黑" panose="020B0503020204020204" pitchFamily="34" charset="-122"/>
                <a:ea typeface="微软雅黑" panose="020B0503020204020204" pitchFamily="34" charset="-122"/>
              </a:endParaRPr>
            </a:p>
          </p:txBody>
        </p:sp>
        <p:sp>
          <p:nvSpPr>
            <p:cNvPr id="325" name="椭圆 324"/>
            <p:cNvSpPr/>
            <p:nvPr/>
          </p:nvSpPr>
          <p:spPr>
            <a:xfrm>
              <a:off x="7997917" y="5126097"/>
              <a:ext cx="2688443" cy="572877"/>
            </a:xfrm>
            <a:prstGeom prst="ellipse">
              <a:avLst/>
            </a:prstGeom>
            <a:solidFill>
              <a:schemeClr val="bg1"/>
            </a:solidFill>
            <a:ln w="28575">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rPr>
                <a:t>转发表</a:t>
              </a:r>
              <a:r>
                <a:rPr lang="en-US" altLang="zh-CN" sz="2000" dirty="0">
                  <a:solidFill>
                    <a:schemeClr val="tx1"/>
                  </a:solidFill>
                </a:rPr>
                <a:t>(FIB)</a:t>
              </a:r>
              <a:endParaRPr lang="zh-CN" altLang="en-US" sz="2000" dirty="0">
                <a:solidFill>
                  <a:schemeClr val="tx1"/>
                </a:solidFill>
              </a:endParaRPr>
            </a:p>
          </p:txBody>
        </p:sp>
        <p:sp>
          <p:nvSpPr>
            <p:cNvPr id="326" name="矩形 325"/>
            <p:cNvSpPr/>
            <p:nvPr/>
          </p:nvSpPr>
          <p:spPr>
            <a:xfrm>
              <a:off x="7844010" y="4931548"/>
              <a:ext cx="2996588" cy="1317827"/>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7" name="直接箭头连接符 16"/>
            <p:cNvCxnSpPr>
              <a:stCxn id="8" idx="2"/>
            </p:cNvCxnSpPr>
            <p:nvPr/>
          </p:nvCxnSpPr>
          <p:spPr>
            <a:xfrm>
              <a:off x="7203339" y="2393545"/>
              <a:ext cx="1223678" cy="621168"/>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cxnSp>
          <p:nvCxnSpPr>
            <p:cNvPr id="329" name="直接箭头连接符 328"/>
            <p:cNvCxnSpPr>
              <a:stCxn id="314" idx="2"/>
            </p:cNvCxnSpPr>
            <p:nvPr/>
          </p:nvCxnSpPr>
          <p:spPr>
            <a:xfrm>
              <a:off x="8193019" y="2393545"/>
              <a:ext cx="799642" cy="643218"/>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cxnSp>
          <p:nvCxnSpPr>
            <p:cNvPr id="332" name="直接箭头连接符 331"/>
            <p:cNvCxnSpPr/>
            <p:nvPr/>
          </p:nvCxnSpPr>
          <p:spPr>
            <a:xfrm flipH="1">
              <a:off x="9528320" y="2400827"/>
              <a:ext cx="407956" cy="628654"/>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sp>
          <p:nvSpPr>
            <p:cNvPr id="336" name="文本框 335"/>
            <p:cNvSpPr txBox="1"/>
            <p:nvPr/>
          </p:nvSpPr>
          <p:spPr>
            <a:xfrm>
              <a:off x="8346162" y="1830835"/>
              <a:ext cx="1292999" cy="523220"/>
            </a:xfrm>
            <a:prstGeom prst="rect">
              <a:avLst/>
            </a:prstGeom>
            <a:noFill/>
            <a:ln w="19050">
              <a:noFill/>
            </a:ln>
          </p:spPr>
          <p:txBody>
            <a:bodyPr wrap="square" rtlCol="0">
              <a:spAutoFit/>
            </a:bodyPr>
            <a:lstStyle/>
            <a:p>
              <a:pPr algn="ctr"/>
              <a:r>
                <a:rPr lang="en-US" altLang="zh-CN" sz="2800" dirty="0">
                  <a:latin typeface="微软雅黑" panose="020B0503020204020204" pitchFamily="34" charset="-122"/>
                  <a:ea typeface="微软雅黑" panose="020B0503020204020204" pitchFamily="34" charset="-122"/>
                </a:rPr>
                <a:t>. . .</a:t>
              </a:r>
              <a:endParaRPr lang="zh-CN" altLang="en-US" sz="2800" dirty="0">
                <a:latin typeface="微软雅黑" panose="020B0503020204020204" pitchFamily="34" charset="-122"/>
                <a:ea typeface="微软雅黑" panose="020B0503020204020204" pitchFamily="34" charset="-122"/>
              </a:endParaRPr>
            </a:p>
          </p:txBody>
        </p:sp>
        <p:sp>
          <p:nvSpPr>
            <p:cNvPr id="642" name="文本框 641"/>
            <p:cNvSpPr txBox="1"/>
            <p:nvPr/>
          </p:nvSpPr>
          <p:spPr>
            <a:xfrm>
              <a:off x="6720289" y="3431330"/>
              <a:ext cx="1123721" cy="461665"/>
            </a:xfrm>
            <a:prstGeom prst="rect">
              <a:avLst/>
            </a:prstGeom>
            <a:noFill/>
            <a:ln w="19050">
              <a:noFill/>
            </a:ln>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控制层</a:t>
              </a:r>
            </a:p>
          </p:txBody>
        </p:sp>
        <p:sp>
          <p:nvSpPr>
            <p:cNvPr id="643" name="文本框 642"/>
            <p:cNvSpPr txBox="1"/>
            <p:nvPr/>
          </p:nvSpPr>
          <p:spPr>
            <a:xfrm>
              <a:off x="6720289" y="5251816"/>
              <a:ext cx="1142258" cy="461665"/>
            </a:xfrm>
            <a:prstGeom prst="rect">
              <a:avLst/>
            </a:prstGeom>
            <a:noFill/>
            <a:ln w="19050">
              <a:noFill/>
            </a:ln>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数据层</a:t>
              </a:r>
            </a:p>
          </p:txBody>
        </p:sp>
        <p:cxnSp>
          <p:nvCxnSpPr>
            <p:cNvPr id="644" name="直接箭头连接符 643"/>
            <p:cNvCxnSpPr>
              <a:stCxn id="9" idx="4"/>
              <a:endCxn id="325" idx="0"/>
            </p:cNvCxnSpPr>
            <p:nvPr/>
          </p:nvCxnSpPr>
          <p:spPr>
            <a:xfrm>
              <a:off x="9328462" y="4160467"/>
              <a:ext cx="13677" cy="965630"/>
            </a:xfrm>
            <a:prstGeom prst="straightConnector1">
              <a:avLst/>
            </a:prstGeom>
            <a:ln w="57150">
              <a:tailEnd type="triangle" w="lg" len="lg"/>
            </a:ln>
          </p:spPr>
          <p:style>
            <a:lnRef idx="1">
              <a:schemeClr val="accent1"/>
            </a:lnRef>
            <a:fillRef idx="0">
              <a:schemeClr val="accent1"/>
            </a:fillRef>
            <a:effectRef idx="0">
              <a:schemeClr val="accent1"/>
            </a:effectRef>
            <a:fontRef idx="minor">
              <a:schemeClr val="tx1"/>
            </a:fontRef>
          </p:style>
        </p:cxnSp>
        <p:sp>
          <p:nvSpPr>
            <p:cNvPr id="645" name="文本框 644"/>
            <p:cNvSpPr txBox="1"/>
            <p:nvPr/>
          </p:nvSpPr>
          <p:spPr>
            <a:xfrm>
              <a:off x="10594307" y="1993435"/>
              <a:ext cx="1224000" cy="400110"/>
            </a:xfrm>
            <a:prstGeom prst="rect">
              <a:avLst/>
            </a:prstGeom>
            <a:solidFill>
              <a:schemeClr val="bg1"/>
            </a:solidFill>
            <a:ln w="19050">
              <a:solidFill>
                <a:srgbClr val="C00000"/>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直连路由</a:t>
              </a:r>
            </a:p>
          </p:txBody>
        </p:sp>
        <p:cxnSp>
          <p:nvCxnSpPr>
            <p:cNvPr id="646" name="直接箭头连接符 645"/>
            <p:cNvCxnSpPr>
              <a:stCxn id="645" idx="2"/>
            </p:cNvCxnSpPr>
            <p:nvPr/>
          </p:nvCxnSpPr>
          <p:spPr>
            <a:xfrm flipH="1">
              <a:off x="10007437" y="2393545"/>
              <a:ext cx="1198870" cy="635936"/>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grpSp>
      <p:sp>
        <p:nvSpPr>
          <p:cNvPr id="26" name="灯片编号占位符 3">
            <a:extLst>
              <a:ext uri="{FF2B5EF4-FFF2-40B4-BE49-F238E27FC236}">
                <a16:creationId xmlns:a16="http://schemas.microsoft.com/office/drawing/2014/main" id="{2966C84A-7FE1-4D4E-B225-6B9233BAE99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196</a:t>
            </a:fld>
            <a:endParaRPr kumimoji="1" lang="zh-CN" altLang="en-US" dirty="0"/>
          </a:p>
        </p:txBody>
      </p:sp>
      <p:pic>
        <p:nvPicPr>
          <p:cNvPr id="27" name="Picture 28" descr="015">
            <a:extLst>
              <a:ext uri="{FF2B5EF4-FFF2-40B4-BE49-F238E27FC236}">
                <a16:creationId xmlns:a16="http://schemas.microsoft.com/office/drawing/2014/main" id="{7BCCB226-3163-43D2-8AD0-CDE467A9801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66121035"/>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zh-CN" altLang="en-US" dirty="0"/>
              <a:t>路由器控制层</a:t>
            </a:r>
          </a:p>
        </p:txBody>
      </p:sp>
      <p:sp>
        <p:nvSpPr>
          <p:cNvPr id="3" name="内容占位符 2">
            <a:extLst>
              <a:ext uri="{FF2B5EF4-FFF2-40B4-BE49-F238E27FC236}">
                <a16:creationId xmlns:a16="http://schemas.microsoft.com/office/drawing/2014/main" id="{DB830B1C-0706-7E41-AE1A-DEBBD115D846}"/>
              </a:ext>
            </a:extLst>
          </p:cNvPr>
          <p:cNvSpPr>
            <a:spLocks noGrp="1"/>
          </p:cNvSpPr>
          <p:nvPr>
            <p:ph idx="1"/>
          </p:nvPr>
        </p:nvSpPr>
        <p:spPr>
          <a:xfrm>
            <a:off x="1270063" y="1415661"/>
            <a:ext cx="9765799" cy="1839589"/>
          </a:xfrm>
        </p:spPr>
        <p:txBody>
          <a:bodyPr>
            <a:normAutofit/>
          </a:bodyPr>
          <a:lstStyle/>
          <a:p>
            <a:pPr marL="360363" lvl="1" indent="-360363" algn="just">
              <a:spcBef>
                <a:spcPts val="1800"/>
              </a:spcBef>
              <a:buFont typeface="Wingdings" pitchFamily="2" charset="2"/>
              <a:buChar char="Ø"/>
            </a:pPr>
            <a:r>
              <a:rPr lang="zh-CN" altLang="en-US" sz="2800" dirty="0"/>
              <a:t>若存在多个“去往同一目的</a:t>
            </a:r>
            <a:r>
              <a:rPr lang="en-US" altLang="zh-CN" sz="2800" dirty="0"/>
              <a:t>IP</a:t>
            </a:r>
            <a:r>
              <a:rPr lang="zh-CN" altLang="en-US" sz="2800" dirty="0"/>
              <a:t>前缀”的不同类型路由，路由器根据优先级选择最佳路由</a:t>
            </a:r>
            <a:endParaRPr lang="en-US" altLang="zh-CN" sz="2800" dirty="0"/>
          </a:p>
          <a:p>
            <a:pPr marL="360363" lvl="1" indent="-360363" algn="just">
              <a:spcBef>
                <a:spcPts val="1800"/>
              </a:spcBef>
              <a:buFont typeface="Wingdings" pitchFamily="2" charset="2"/>
              <a:buChar char="Ø"/>
            </a:pPr>
            <a:r>
              <a:rPr lang="zh-CN" altLang="en-US" sz="2800" dirty="0"/>
              <a:t>优先级数值越小，优先级越高</a:t>
            </a:r>
            <a:endParaRPr lang="en-US" altLang="zh-CN" sz="2000" dirty="0"/>
          </a:p>
          <a:p>
            <a:pPr lvl="1">
              <a:spcBef>
                <a:spcPts val="1800"/>
              </a:spcBef>
            </a:pPr>
            <a:endParaRPr lang="en-US" altLang="zh-CN" sz="2000" dirty="0"/>
          </a:p>
          <a:p>
            <a:pPr lvl="1">
              <a:spcBef>
                <a:spcPts val="1800"/>
              </a:spcBef>
            </a:pPr>
            <a:endParaRPr lang="en-US" altLang="zh-CN" sz="2000" dirty="0"/>
          </a:p>
          <a:p>
            <a:pPr lvl="1">
              <a:spcBef>
                <a:spcPts val="1800"/>
              </a:spcBef>
            </a:pPr>
            <a:endParaRPr lang="en-US" altLang="zh-CN" sz="2000" dirty="0"/>
          </a:p>
          <a:p>
            <a:pPr lvl="1">
              <a:spcBef>
                <a:spcPts val="1800"/>
              </a:spcBef>
            </a:pPr>
            <a:endParaRPr lang="en-US" altLang="zh-CN" sz="2000" dirty="0"/>
          </a:p>
          <a:p>
            <a:pPr lvl="1">
              <a:spcBef>
                <a:spcPts val="1800"/>
              </a:spcBef>
            </a:pPr>
            <a:endParaRPr lang="en-US" altLang="zh-CN" sz="2000" dirty="0"/>
          </a:p>
          <a:p>
            <a:pPr marL="457200" lvl="1" indent="0">
              <a:spcBef>
                <a:spcPts val="1800"/>
              </a:spcBef>
              <a:buNone/>
            </a:pPr>
            <a:endParaRPr lang="en-US" altLang="zh-CN" sz="2000" dirty="0"/>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graphicFrame>
        <p:nvGraphicFramePr>
          <p:cNvPr id="5" name="表格 4"/>
          <p:cNvGraphicFramePr>
            <a:graphicFrameLocks noGrp="1"/>
          </p:cNvGraphicFramePr>
          <p:nvPr/>
        </p:nvGraphicFramePr>
        <p:xfrm>
          <a:off x="1733406" y="3163598"/>
          <a:ext cx="8030704" cy="3200400"/>
        </p:xfrm>
        <a:graphic>
          <a:graphicData uri="http://schemas.openxmlformats.org/drawingml/2006/table">
            <a:tbl>
              <a:tblPr firstRow="1" bandRow="1">
                <a:tableStyleId>{5C22544A-7EE6-4342-B048-85BDC9FD1C3A}</a:tableStyleId>
              </a:tblPr>
              <a:tblGrid>
                <a:gridCol w="4015352">
                  <a:extLst>
                    <a:ext uri="{9D8B030D-6E8A-4147-A177-3AD203B41FA5}">
                      <a16:colId xmlns:a16="http://schemas.microsoft.com/office/drawing/2014/main" val="2610972709"/>
                    </a:ext>
                  </a:extLst>
                </a:gridCol>
                <a:gridCol w="4015352">
                  <a:extLst>
                    <a:ext uri="{9D8B030D-6E8A-4147-A177-3AD203B41FA5}">
                      <a16:colId xmlns:a16="http://schemas.microsoft.com/office/drawing/2014/main" val="1218477464"/>
                    </a:ext>
                  </a:extLst>
                </a:gridCol>
              </a:tblGrid>
              <a:tr h="0">
                <a:tc>
                  <a:txBody>
                    <a:bodyPr/>
                    <a:lstStyle/>
                    <a:p>
                      <a:pPr algn="ctr"/>
                      <a:r>
                        <a:rPr lang="zh-CN" altLang="en-US" sz="2400" dirty="0"/>
                        <a:t>路由种类</a:t>
                      </a:r>
                    </a:p>
                  </a:txBody>
                  <a:tcPr/>
                </a:tc>
                <a:tc>
                  <a:txBody>
                    <a:bodyPr/>
                    <a:lstStyle/>
                    <a:p>
                      <a:pPr algn="ctr"/>
                      <a:r>
                        <a:rPr lang="zh-CN" altLang="en-US" sz="2400" dirty="0"/>
                        <a:t>路由优先级</a:t>
                      </a:r>
                    </a:p>
                  </a:txBody>
                  <a:tcPr/>
                </a:tc>
                <a:extLst>
                  <a:ext uri="{0D108BD9-81ED-4DB2-BD59-A6C34878D82A}">
                    <a16:rowId xmlns:a16="http://schemas.microsoft.com/office/drawing/2014/main" val="1401361891"/>
                  </a:ext>
                </a:extLst>
              </a:tr>
              <a:tr h="350592">
                <a:tc>
                  <a:txBody>
                    <a:bodyPr/>
                    <a:lstStyle/>
                    <a:p>
                      <a:pPr algn="ctr"/>
                      <a:r>
                        <a:rPr lang="zh-CN" altLang="en-US" sz="2400" dirty="0">
                          <a:latin typeface="微软雅黑" pitchFamily="34" charset="-122"/>
                          <a:ea typeface="微软雅黑" pitchFamily="34" charset="-122"/>
                        </a:rPr>
                        <a:t>直连路由</a:t>
                      </a:r>
                    </a:p>
                  </a:txBody>
                  <a:tcPr/>
                </a:tc>
                <a:tc>
                  <a:txBody>
                    <a:bodyPr/>
                    <a:lstStyle/>
                    <a:p>
                      <a:pPr algn="ctr"/>
                      <a:r>
                        <a:rPr lang="en-US" altLang="zh-CN" sz="2400" dirty="0">
                          <a:latin typeface="微软雅黑" pitchFamily="34" charset="-122"/>
                          <a:ea typeface="微软雅黑" pitchFamily="34" charset="-122"/>
                        </a:rPr>
                        <a:t>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val="3944623521"/>
                  </a:ext>
                </a:extLst>
              </a:tr>
              <a:tr h="350592">
                <a:tc>
                  <a:txBody>
                    <a:bodyPr/>
                    <a:lstStyle/>
                    <a:p>
                      <a:pPr algn="ctr"/>
                      <a:r>
                        <a:rPr lang="zh-CN" altLang="en-US" sz="2400" dirty="0">
                          <a:latin typeface="微软雅黑" pitchFamily="34" charset="-122"/>
                          <a:ea typeface="微软雅黑" pitchFamily="34" charset="-122"/>
                        </a:rPr>
                        <a:t>静态路由</a:t>
                      </a:r>
                    </a:p>
                  </a:txBody>
                  <a:tcPr/>
                </a:tc>
                <a:tc>
                  <a:txBody>
                    <a:bodyPr/>
                    <a:lstStyle/>
                    <a:p>
                      <a:pPr algn="ctr"/>
                      <a:r>
                        <a:rPr lang="en-US" altLang="zh-CN" sz="2400" dirty="0">
                          <a:latin typeface="微软雅黑" pitchFamily="34" charset="-122"/>
                          <a:ea typeface="微软雅黑" pitchFamily="34" charset="-122"/>
                        </a:rPr>
                        <a:t>1</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val="2546780747"/>
                  </a:ext>
                </a:extLst>
              </a:tr>
              <a:tr h="350592">
                <a:tc>
                  <a:txBody>
                    <a:bodyPr/>
                    <a:lstStyle/>
                    <a:p>
                      <a:pPr algn="ctr"/>
                      <a:r>
                        <a:rPr lang="en-US" altLang="zh-CN" sz="2400" dirty="0" err="1">
                          <a:latin typeface="微软雅黑" pitchFamily="34" charset="-122"/>
                          <a:ea typeface="微软雅黑" pitchFamily="34" charset="-122"/>
                        </a:rPr>
                        <a:t>eBGP</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20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val="2212337131"/>
                  </a:ext>
                </a:extLst>
              </a:tr>
              <a:tr h="350592">
                <a:tc>
                  <a:txBody>
                    <a:bodyPr/>
                    <a:lstStyle/>
                    <a:p>
                      <a:pPr algn="ctr"/>
                      <a:r>
                        <a:rPr lang="en-US" altLang="zh-CN" sz="2400" dirty="0">
                          <a:latin typeface="微软雅黑" pitchFamily="34" charset="-122"/>
                          <a:ea typeface="微软雅黑" pitchFamily="34" charset="-122"/>
                        </a:rPr>
                        <a:t>OSPF</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110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val="1910183013"/>
                  </a:ext>
                </a:extLst>
              </a:tr>
              <a:tr h="350592">
                <a:tc>
                  <a:txBody>
                    <a:bodyPr/>
                    <a:lstStyle/>
                    <a:p>
                      <a:pPr algn="ctr"/>
                      <a:r>
                        <a:rPr lang="en-US" altLang="zh-CN" sz="2400" dirty="0">
                          <a:latin typeface="微软雅黑" pitchFamily="34" charset="-122"/>
                          <a:ea typeface="微软雅黑" pitchFamily="34" charset="-122"/>
                        </a:rPr>
                        <a:t>RIP</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120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val="1491618129"/>
                  </a:ext>
                </a:extLst>
              </a:tr>
              <a:tr h="35059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400" dirty="0" err="1">
                          <a:latin typeface="微软雅黑" pitchFamily="34" charset="-122"/>
                          <a:ea typeface="微软雅黑" pitchFamily="34" charset="-122"/>
                        </a:rPr>
                        <a:t>iBGP</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200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val="1209783376"/>
                  </a:ext>
                </a:extLst>
              </a:tr>
            </a:tbl>
          </a:graphicData>
        </a:graphic>
      </p:graphicFrame>
      <p:sp>
        <p:nvSpPr>
          <p:cNvPr id="7" name="灯片编号占位符 3">
            <a:extLst>
              <a:ext uri="{FF2B5EF4-FFF2-40B4-BE49-F238E27FC236}">
                <a16:creationId xmlns:a16="http://schemas.microsoft.com/office/drawing/2014/main" id="{0C32A49F-BD7C-9140-B80D-E5451967667F}"/>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197</a:t>
            </a:fld>
            <a:endParaRPr kumimoji="1" lang="zh-CN" altLang="en-US" dirty="0"/>
          </a:p>
        </p:txBody>
      </p:sp>
    </p:spTree>
    <p:extLst>
      <p:ext uri="{BB962C8B-B14F-4D97-AF65-F5344CB8AC3E}">
        <p14:creationId xmlns:p14="http://schemas.microsoft.com/office/powerpoint/2010/main" val="130977005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zh-CN" altLang="en-US" dirty="0"/>
              <a:t>路由器数据层</a:t>
            </a:r>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sp>
        <p:nvSpPr>
          <p:cNvPr id="8" name="内容占位符 2">
            <a:extLst>
              <a:ext uri="{FF2B5EF4-FFF2-40B4-BE49-F238E27FC236}">
                <a16:creationId xmlns:a16="http://schemas.microsoft.com/office/drawing/2014/main" id="{DB830B1C-0706-7E41-AE1A-DEBBD115D846}"/>
              </a:ext>
            </a:extLst>
          </p:cNvPr>
          <p:cNvSpPr>
            <a:spLocks noGrp="1"/>
          </p:cNvSpPr>
          <p:nvPr>
            <p:ph idx="1"/>
          </p:nvPr>
        </p:nvSpPr>
        <p:spPr>
          <a:xfrm>
            <a:off x="573609" y="1430455"/>
            <a:ext cx="10390506" cy="5163371"/>
          </a:xfrm>
        </p:spPr>
        <p:txBody>
          <a:bodyPr>
            <a:normAutofit lnSpcReduction="10000"/>
          </a:bodyPr>
          <a:lstStyle/>
          <a:p>
            <a:r>
              <a:rPr lang="zh-CN" altLang="en-US" dirty="0"/>
              <a:t>路由器中</a:t>
            </a:r>
            <a:r>
              <a:rPr lang="en-US" altLang="zh-CN" dirty="0"/>
              <a:t>IP</a:t>
            </a:r>
            <a:r>
              <a:rPr lang="zh-CN" altLang="en-US" dirty="0"/>
              <a:t>报文转发核心功能</a:t>
            </a:r>
            <a:endParaRPr lang="en-US" altLang="zh-CN" dirty="0"/>
          </a:p>
          <a:p>
            <a:pPr lvl="1"/>
            <a:r>
              <a:rPr lang="zh-CN" altLang="en-US" dirty="0"/>
              <a:t>链路层解封装，</a:t>
            </a:r>
            <a:r>
              <a:rPr lang="en-US" altLang="zh-CN" dirty="0"/>
              <a:t>IP</a:t>
            </a:r>
            <a:r>
              <a:rPr lang="zh-CN" altLang="en-US" dirty="0"/>
              <a:t>头部校验</a:t>
            </a:r>
            <a:endParaRPr lang="en-US" altLang="zh-CN" dirty="0"/>
          </a:p>
          <a:p>
            <a:pPr lvl="1"/>
            <a:r>
              <a:rPr lang="zh-CN" altLang="en-US" dirty="0"/>
              <a:t>获取报文目的</a:t>
            </a:r>
            <a:r>
              <a:rPr lang="en-US" altLang="zh-CN" dirty="0"/>
              <a:t>IP</a:t>
            </a:r>
            <a:r>
              <a:rPr lang="zh-CN" altLang="en-US" dirty="0"/>
              <a:t>地址</a:t>
            </a:r>
            <a:endParaRPr lang="en-US" altLang="zh-CN" dirty="0"/>
          </a:p>
          <a:p>
            <a:pPr lvl="1"/>
            <a:r>
              <a:rPr lang="zh-CN" altLang="en-US" dirty="0"/>
              <a:t>用目的</a:t>
            </a:r>
            <a:r>
              <a:rPr lang="en-US" altLang="zh-CN" dirty="0"/>
              <a:t>IP</a:t>
            </a:r>
            <a:r>
              <a:rPr lang="zh-CN" altLang="en-US" dirty="0"/>
              <a:t>地址，基于最长前缀匹配规则查询转发表</a:t>
            </a:r>
            <a:endParaRPr lang="en-US" altLang="zh-CN" dirty="0"/>
          </a:p>
          <a:p>
            <a:pPr lvl="1"/>
            <a:r>
              <a:rPr lang="zh-CN" altLang="en-US" dirty="0"/>
              <a:t>查询失败，丢弃报文</a:t>
            </a:r>
            <a:endParaRPr lang="en-US" altLang="zh-CN" dirty="0"/>
          </a:p>
          <a:p>
            <a:pPr lvl="1"/>
            <a:r>
              <a:rPr lang="zh-CN" altLang="en-US" dirty="0"/>
              <a:t>查询成功</a:t>
            </a:r>
            <a:endParaRPr lang="en-US" altLang="zh-CN" dirty="0"/>
          </a:p>
          <a:p>
            <a:pPr lvl="2"/>
            <a:r>
              <a:rPr lang="zh-CN" altLang="en-US" dirty="0"/>
              <a:t>获取转发出接口和下一跳</a:t>
            </a:r>
            <a:r>
              <a:rPr lang="en-US" altLang="zh-CN" dirty="0"/>
              <a:t>IP</a:t>
            </a:r>
            <a:r>
              <a:rPr lang="zh-CN" altLang="en-US" dirty="0"/>
              <a:t>地址</a:t>
            </a:r>
            <a:endParaRPr lang="en-US" altLang="zh-CN" dirty="0"/>
          </a:p>
          <a:p>
            <a:pPr lvl="2"/>
            <a:r>
              <a:rPr lang="en-US" altLang="zh-CN" dirty="0"/>
              <a:t>IP</a:t>
            </a:r>
            <a:r>
              <a:rPr lang="zh-CN" altLang="en-US" dirty="0"/>
              <a:t>头部“</a:t>
            </a:r>
            <a:r>
              <a:rPr lang="en-US" altLang="zh-CN" dirty="0"/>
              <a:t>TTL</a:t>
            </a:r>
            <a:r>
              <a:rPr lang="zh-CN" altLang="en-US" dirty="0"/>
              <a:t>”字段值减</a:t>
            </a:r>
            <a:r>
              <a:rPr lang="en-US" altLang="zh-CN" dirty="0"/>
              <a:t>1</a:t>
            </a:r>
            <a:r>
              <a:rPr lang="zh-CN" altLang="en-US" dirty="0"/>
              <a:t>，重新计算</a:t>
            </a:r>
            <a:r>
              <a:rPr lang="en-US" altLang="zh-CN" dirty="0"/>
              <a:t>IP</a:t>
            </a:r>
            <a:r>
              <a:rPr lang="zh-CN" altLang="en-US" dirty="0"/>
              <a:t>头部“校验和”</a:t>
            </a:r>
            <a:endParaRPr lang="en-US" altLang="zh-CN" dirty="0"/>
          </a:p>
          <a:p>
            <a:pPr lvl="2"/>
            <a:r>
              <a:rPr lang="zh-CN" altLang="en-US" dirty="0"/>
              <a:t>重新进行链路层封装，发送报文</a:t>
            </a:r>
            <a:endParaRPr lang="en-US" altLang="zh-CN" sz="2400" dirty="0"/>
          </a:p>
          <a:p>
            <a:pPr marL="457200" lvl="1" indent="0">
              <a:spcBef>
                <a:spcPts val="1200"/>
              </a:spcBef>
              <a:buNone/>
            </a:pPr>
            <a:r>
              <a:rPr lang="zh-CN" altLang="en-US" i="1" dirty="0">
                <a:solidFill>
                  <a:srgbClr val="C00000"/>
                </a:solidFill>
              </a:rPr>
              <a:t>注：普通</a:t>
            </a:r>
            <a:r>
              <a:rPr lang="en-US" altLang="zh-CN" i="1" dirty="0">
                <a:solidFill>
                  <a:srgbClr val="C00000"/>
                </a:solidFill>
              </a:rPr>
              <a:t>IP</a:t>
            </a:r>
            <a:r>
              <a:rPr lang="zh-CN" altLang="en-US" i="1" dirty="0">
                <a:solidFill>
                  <a:srgbClr val="C00000"/>
                </a:solidFill>
              </a:rPr>
              <a:t>报文转发过程中，路由器不查看传输层及以上层协议的内容</a:t>
            </a:r>
            <a:endParaRPr lang="en-US" altLang="zh-CN" i="1" dirty="0">
              <a:solidFill>
                <a:srgbClr val="C00000"/>
              </a:solidFill>
            </a:endParaRPr>
          </a:p>
          <a:p>
            <a:pPr lvl="0">
              <a:spcBef>
                <a:spcPts val="1200"/>
              </a:spcBef>
            </a:pPr>
            <a:r>
              <a:rPr lang="en-US" altLang="zh-CN" sz="2800" dirty="0"/>
              <a:t>IP</a:t>
            </a:r>
            <a:r>
              <a:rPr lang="zh-CN" altLang="en-US" dirty="0"/>
              <a:t>报文在路由器转发</a:t>
            </a:r>
            <a:r>
              <a:rPr lang="zh-CN" altLang="en-US" sz="2800" dirty="0"/>
              <a:t>前后的变化</a:t>
            </a:r>
            <a:endParaRPr lang="en-US" altLang="zh-CN" sz="2800" dirty="0"/>
          </a:p>
          <a:p>
            <a:pPr lvl="1"/>
            <a:r>
              <a:rPr lang="zh-CN" altLang="en-US" dirty="0">
                <a:solidFill>
                  <a:srgbClr val="C00000"/>
                </a:solidFill>
              </a:rPr>
              <a:t>链路层封装更新，</a:t>
            </a:r>
            <a:r>
              <a:rPr lang="en-US" altLang="zh-CN" dirty="0">
                <a:solidFill>
                  <a:srgbClr val="C00000"/>
                </a:solidFill>
              </a:rPr>
              <a:t>IP</a:t>
            </a:r>
            <a:r>
              <a:rPr lang="zh-CN" altLang="en-US" dirty="0">
                <a:solidFill>
                  <a:srgbClr val="C00000"/>
                </a:solidFill>
              </a:rPr>
              <a:t>头部“</a:t>
            </a:r>
            <a:r>
              <a:rPr lang="en-US" altLang="zh-CN" dirty="0">
                <a:solidFill>
                  <a:srgbClr val="C00000"/>
                </a:solidFill>
              </a:rPr>
              <a:t>TTL”</a:t>
            </a:r>
            <a:r>
              <a:rPr lang="zh-CN" altLang="en-US" dirty="0">
                <a:solidFill>
                  <a:srgbClr val="C00000"/>
                </a:solidFill>
              </a:rPr>
              <a:t>减</a:t>
            </a:r>
            <a:r>
              <a:rPr lang="en-US" altLang="zh-CN" dirty="0">
                <a:solidFill>
                  <a:srgbClr val="C00000"/>
                </a:solidFill>
              </a:rPr>
              <a:t>1</a:t>
            </a:r>
            <a:r>
              <a:rPr lang="zh-CN" altLang="en-US" dirty="0">
                <a:solidFill>
                  <a:srgbClr val="C00000"/>
                </a:solidFill>
              </a:rPr>
              <a:t>，</a:t>
            </a:r>
            <a:r>
              <a:rPr lang="en-US" altLang="zh-CN" dirty="0">
                <a:solidFill>
                  <a:srgbClr val="C00000"/>
                </a:solidFill>
              </a:rPr>
              <a:t>IP</a:t>
            </a:r>
            <a:r>
              <a:rPr lang="zh-CN" altLang="en-US" dirty="0">
                <a:solidFill>
                  <a:srgbClr val="C00000"/>
                </a:solidFill>
              </a:rPr>
              <a:t>头部“校验和”更新</a:t>
            </a:r>
          </a:p>
        </p:txBody>
      </p:sp>
      <p:sp>
        <p:nvSpPr>
          <p:cNvPr id="7" name="灯片编号占位符 3">
            <a:extLst>
              <a:ext uri="{FF2B5EF4-FFF2-40B4-BE49-F238E27FC236}">
                <a16:creationId xmlns:a16="http://schemas.microsoft.com/office/drawing/2014/main" id="{6C28D299-754C-0E44-B70A-56FDE26100F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198</a:t>
            </a:fld>
            <a:endParaRPr kumimoji="1" lang="zh-CN" altLang="en-US" dirty="0"/>
          </a:p>
        </p:txBody>
      </p:sp>
    </p:spTree>
    <p:extLst>
      <p:ext uri="{BB962C8B-B14F-4D97-AF65-F5344CB8AC3E}">
        <p14:creationId xmlns:p14="http://schemas.microsoft.com/office/powerpoint/2010/main" val="4174862834"/>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p:cNvGrpSpPr/>
          <p:nvPr/>
        </p:nvGrpSpPr>
        <p:grpSpPr>
          <a:xfrm>
            <a:off x="8582930" y="1999392"/>
            <a:ext cx="1443910" cy="3381905"/>
            <a:chOff x="8684279" y="2674360"/>
            <a:chExt cx="1229845" cy="1518745"/>
          </a:xfrm>
        </p:grpSpPr>
        <p:sp>
          <p:nvSpPr>
            <p:cNvPr id="9" name="矩形 8"/>
            <p:cNvSpPr/>
            <p:nvPr/>
          </p:nvSpPr>
          <p:spPr>
            <a:xfrm>
              <a:off x="8778734" y="2674360"/>
              <a:ext cx="1135390" cy="1429406"/>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8684279" y="2763699"/>
              <a:ext cx="1135390" cy="1429406"/>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zh-CN" altLang="en-US" dirty="0"/>
              <a:t>路由器数据层</a:t>
            </a:r>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sp>
        <p:nvSpPr>
          <p:cNvPr id="8" name="内容占位符 2">
            <a:extLst>
              <a:ext uri="{FF2B5EF4-FFF2-40B4-BE49-F238E27FC236}">
                <a16:creationId xmlns:a16="http://schemas.microsoft.com/office/drawing/2014/main" id="{DB830B1C-0706-7E41-AE1A-DEBBD115D846}"/>
              </a:ext>
            </a:extLst>
          </p:cNvPr>
          <p:cNvSpPr>
            <a:spLocks noGrp="1"/>
          </p:cNvSpPr>
          <p:nvPr>
            <p:ph idx="1"/>
          </p:nvPr>
        </p:nvSpPr>
        <p:spPr>
          <a:xfrm>
            <a:off x="655367" y="1421393"/>
            <a:ext cx="5932618" cy="5307730"/>
          </a:xfrm>
        </p:spPr>
        <p:txBody>
          <a:bodyPr>
            <a:normAutofit/>
          </a:bodyPr>
          <a:lstStyle/>
          <a:p>
            <a:r>
              <a:rPr lang="zh-CN" altLang="en-US" dirty="0"/>
              <a:t>数据报在不同硬件单元的处理</a:t>
            </a:r>
            <a:endParaRPr lang="en-US" altLang="zh-CN" dirty="0"/>
          </a:p>
          <a:p>
            <a:pPr lvl="1"/>
            <a:r>
              <a:rPr lang="zh-CN" altLang="en-US" dirty="0"/>
              <a:t>报文输入的接口卡</a:t>
            </a:r>
            <a:endParaRPr lang="en-US" altLang="zh-CN" dirty="0"/>
          </a:p>
          <a:p>
            <a:pPr lvl="2"/>
            <a:r>
              <a:rPr lang="zh-CN" altLang="en-US" dirty="0"/>
              <a:t>链路层解封装</a:t>
            </a:r>
            <a:endParaRPr lang="en-US" altLang="zh-CN" dirty="0"/>
          </a:p>
          <a:p>
            <a:pPr lvl="2"/>
            <a:r>
              <a:rPr lang="zh-CN" altLang="en-US" dirty="0"/>
              <a:t>转发表查询</a:t>
            </a:r>
            <a:r>
              <a:rPr lang="zh-CN" altLang="en-US" dirty="0">
                <a:solidFill>
                  <a:srgbClr val="C00000"/>
                </a:solidFill>
              </a:rPr>
              <a:t>（该工作在输入接口卡处理）</a:t>
            </a:r>
            <a:endParaRPr lang="en-US" altLang="zh-CN" dirty="0">
              <a:solidFill>
                <a:srgbClr val="C00000"/>
              </a:solidFill>
            </a:endParaRPr>
          </a:p>
          <a:p>
            <a:pPr lvl="2"/>
            <a:r>
              <a:rPr lang="zh-CN" altLang="en-US" dirty="0"/>
              <a:t>通过交换结构将报文排队发往目的接口卡（发送过快将产生拥塞）</a:t>
            </a:r>
            <a:endParaRPr lang="en-US" altLang="zh-CN" dirty="0"/>
          </a:p>
          <a:p>
            <a:pPr lvl="1"/>
            <a:r>
              <a:rPr lang="zh-CN" altLang="en-US" dirty="0"/>
              <a:t>交换结构</a:t>
            </a:r>
            <a:endParaRPr lang="en-US" altLang="zh-CN" dirty="0"/>
          </a:p>
          <a:p>
            <a:pPr lvl="2"/>
            <a:r>
              <a:rPr lang="zh-CN" altLang="en-US" dirty="0"/>
              <a:t>从输入接口卡发往输出接口卡</a:t>
            </a:r>
            <a:endParaRPr lang="en-US" altLang="zh-CN" dirty="0"/>
          </a:p>
          <a:p>
            <a:pPr lvl="1"/>
            <a:r>
              <a:rPr lang="zh-CN" altLang="en-US" dirty="0"/>
              <a:t>报文输出的接口卡</a:t>
            </a:r>
            <a:endParaRPr lang="en-US" altLang="zh-CN" dirty="0"/>
          </a:p>
          <a:p>
            <a:pPr lvl="2"/>
            <a:r>
              <a:rPr lang="zh-CN" altLang="en-US" dirty="0"/>
              <a:t>从交换结构接收报文（排队进行后续处理，到达太快将产生拥塞）</a:t>
            </a:r>
            <a:endParaRPr lang="en-US" altLang="zh-CN" dirty="0"/>
          </a:p>
          <a:p>
            <a:pPr lvl="2"/>
            <a:r>
              <a:rPr lang="zh-CN" altLang="en-US" dirty="0"/>
              <a:t>链路层封装</a:t>
            </a:r>
            <a:endParaRPr lang="en-US" altLang="zh-CN" dirty="0"/>
          </a:p>
          <a:p>
            <a:pPr lvl="2"/>
            <a:r>
              <a:rPr lang="zh-CN" altLang="en-US" dirty="0"/>
              <a:t>从输出接口发送报文</a:t>
            </a:r>
            <a:endParaRPr lang="en-US" altLang="zh-CN" dirty="0"/>
          </a:p>
        </p:txBody>
      </p:sp>
      <p:grpSp>
        <p:nvGrpSpPr>
          <p:cNvPr id="54" name="组合 53"/>
          <p:cNvGrpSpPr/>
          <p:nvPr/>
        </p:nvGrpSpPr>
        <p:grpSpPr>
          <a:xfrm>
            <a:off x="7099716" y="4408508"/>
            <a:ext cx="1531907" cy="378372"/>
            <a:chOff x="6479110" y="3089395"/>
            <a:chExt cx="1531907" cy="378372"/>
          </a:xfrm>
        </p:grpSpPr>
        <p:sp>
          <p:nvSpPr>
            <p:cNvPr id="23" name="矩形 22"/>
            <p:cNvSpPr/>
            <p:nvPr/>
          </p:nvSpPr>
          <p:spPr>
            <a:xfrm>
              <a:off x="6836417" y="3089395"/>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4" name="组合 23"/>
            <p:cNvGrpSpPr/>
            <p:nvPr/>
          </p:nvGrpSpPr>
          <p:grpSpPr>
            <a:xfrm>
              <a:off x="7326583" y="3147202"/>
              <a:ext cx="243309" cy="262756"/>
              <a:chOff x="6961534" y="2888927"/>
              <a:chExt cx="243309" cy="262756"/>
            </a:xfrm>
          </p:grpSpPr>
          <p:sp>
            <p:nvSpPr>
              <p:cNvPr id="25" name="矩形 24"/>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7" name="矩形 26"/>
            <p:cNvSpPr/>
            <p:nvPr/>
          </p:nvSpPr>
          <p:spPr>
            <a:xfrm>
              <a:off x="6904775" y="3163614"/>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8" name="直接箭头连接符 27"/>
            <p:cNvCxnSpPr/>
            <p:nvPr/>
          </p:nvCxnSpPr>
          <p:spPr>
            <a:xfrm flipV="1">
              <a:off x="7651017" y="329697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9" name="直接箭头连接符 28"/>
            <p:cNvCxnSpPr/>
            <p:nvPr/>
          </p:nvCxnSpPr>
          <p:spPr>
            <a:xfrm flipV="1">
              <a:off x="6479110" y="330223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3" name="组合 52"/>
          <p:cNvGrpSpPr/>
          <p:nvPr/>
        </p:nvGrpSpPr>
        <p:grpSpPr>
          <a:xfrm>
            <a:off x="9917965" y="4402749"/>
            <a:ext cx="1531907" cy="378372"/>
            <a:chOff x="9297359" y="3062311"/>
            <a:chExt cx="1531907" cy="378372"/>
          </a:xfrm>
        </p:grpSpPr>
        <p:sp>
          <p:nvSpPr>
            <p:cNvPr id="44" name="矩形 43"/>
            <p:cNvSpPr/>
            <p:nvPr/>
          </p:nvSpPr>
          <p:spPr>
            <a:xfrm>
              <a:off x="9654666" y="3062311"/>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5" name="组合 44"/>
            <p:cNvGrpSpPr/>
            <p:nvPr/>
          </p:nvGrpSpPr>
          <p:grpSpPr>
            <a:xfrm>
              <a:off x="9734933" y="3120118"/>
              <a:ext cx="243309" cy="262756"/>
              <a:chOff x="6961534" y="2888927"/>
              <a:chExt cx="243309" cy="262756"/>
            </a:xfrm>
          </p:grpSpPr>
          <p:sp>
            <p:nvSpPr>
              <p:cNvPr id="46" name="矩形 45"/>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8" name="矩形 47"/>
            <p:cNvSpPr/>
            <p:nvPr/>
          </p:nvSpPr>
          <p:spPr>
            <a:xfrm>
              <a:off x="10090887" y="3136530"/>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9" name="直接箭头连接符 48"/>
            <p:cNvCxnSpPr/>
            <p:nvPr/>
          </p:nvCxnSpPr>
          <p:spPr>
            <a:xfrm flipV="1">
              <a:off x="10469266" y="326988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p:cNvCxnSpPr/>
            <p:nvPr/>
          </p:nvCxnSpPr>
          <p:spPr>
            <a:xfrm flipV="1">
              <a:off x="9297359" y="327514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1" name="文本框 50"/>
          <p:cNvSpPr txBox="1"/>
          <p:nvPr/>
        </p:nvSpPr>
        <p:spPr>
          <a:xfrm>
            <a:off x="7426767" y="4776115"/>
            <a:ext cx="954107" cy="400110"/>
          </a:xfrm>
          <a:prstGeom prst="rect">
            <a:avLst/>
          </a:prstGeom>
          <a:noFill/>
        </p:spPr>
        <p:txBody>
          <a:bodyPr wrap="none" rtlCol="0">
            <a:spAutoFit/>
          </a:bodyPr>
          <a:lstStyle/>
          <a:p>
            <a:r>
              <a:rPr lang="zh-CN" altLang="en-US" sz="2000" dirty="0"/>
              <a:t>接口卡</a:t>
            </a:r>
          </a:p>
        </p:txBody>
      </p:sp>
      <p:sp>
        <p:nvSpPr>
          <p:cNvPr id="52" name="文本框 51"/>
          <p:cNvSpPr txBox="1"/>
          <p:nvPr/>
        </p:nvSpPr>
        <p:spPr>
          <a:xfrm>
            <a:off x="10302193" y="4776115"/>
            <a:ext cx="954107" cy="400110"/>
          </a:xfrm>
          <a:prstGeom prst="rect">
            <a:avLst/>
          </a:prstGeom>
          <a:noFill/>
        </p:spPr>
        <p:txBody>
          <a:bodyPr wrap="none" rtlCol="0">
            <a:spAutoFit/>
          </a:bodyPr>
          <a:lstStyle/>
          <a:p>
            <a:r>
              <a:rPr lang="zh-CN" altLang="en-US" sz="2000" dirty="0"/>
              <a:t>接口卡</a:t>
            </a:r>
          </a:p>
        </p:txBody>
      </p:sp>
      <p:grpSp>
        <p:nvGrpSpPr>
          <p:cNvPr id="55" name="组合 54"/>
          <p:cNvGrpSpPr/>
          <p:nvPr/>
        </p:nvGrpSpPr>
        <p:grpSpPr>
          <a:xfrm>
            <a:off x="7099716" y="2450668"/>
            <a:ext cx="1531907" cy="378372"/>
            <a:chOff x="6479110" y="3089395"/>
            <a:chExt cx="1531907" cy="378372"/>
          </a:xfrm>
        </p:grpSpPr>
        <p:sp>
          <p:nvSpPr>
            <p:cNvPr id="56" name="矩形 55"/>
            <p:cNvSpPr/>
            <p:nvPr/>
          </p:nvSpPr>
          <p:spPr>
            <a:xfrm>
              <a:off x="6836417" y="3089395"/>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7" name="组合 56"/>
            <p:cNvGrpSpPr/>
            <p:nvPr/>
          </p:nvGrpSpPr>
          <p:grpSpPr>
            <a:xfrm>
              <a:off x="7326583" y="3147202"/>
              <a:ext cx="243309" cy="262756"/>
              <a:chOff x="6961534" y="2888927"/>
              <a:chExt cx="243309" cy="262756"/>
            </a:xfrm>
          </p:grpSpPr>
          <p:sp>
            <p:nvSpPr>
              <p:cNvPr id="61" name="矩形 60"/>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61"/>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8" name="矩形 57"/>
            <p:cNvSpPr/>
            <p:nvPr/>
          </p:nvSpPr>
          <p:spPr>
            <a:xfrm>
              <a:off x="6904775" y="3163614"/>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9" name="直接箭头连接符 58"/>
            <p:cNvCxnSpPr/>
            <p:nvPr/>
          </p:nvCxnSpPr>
          <p:spPr>
            <a:xfrm flipV="1">
              <a:off x="7651017" y="329697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直接箭头连接符 59"/>
            <p:cNvCxnSpPr/>
            <p:nvPr/>
          </p:nvCxnSpPr>
          <p:spPr>
            <a:xfrm flipV="1">
              <a:off x="6479110" y="330223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63" name="组合 62"/>
          <p:cNvGrpSpPr/>
          <p:nvPr/>
        </p:nvGrpSpPr>
        <p:grpSpPr>
          <a:xfrm>
            <a:off x="9917965" y="2444909"/>
            <a:ext cx="1531907" cy="378372"/>
            <a:chOff x="9297359" y="3062311"/>
            <a:chExt cx="1531907" cy="378372"/>
          </a:xfrm>
        </p:grpSpPr>
        <p:sp>
          <p:nvSpPr>
            <p:cNvPr id="64" name="矩形 63"/>
            <p:cNvSpPr/>
            <p:nvPr/>
          </p:nvSpPr>
          <p:spPr>
            <a:xfrm>
              <a:off x="9654666" y="3062311"/>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组合 64"/>
            <p:cNvGrpSpPr/>
            <p:nvPr/>
          </p:nvGrpSpPr>
          <p:grpSpPr>
            <a:xfrm>
              <a:off x="9734933" y="3120118"/>
              <a:ext cx="243309" cy="262756"/>
              <a:chOff x="6961534" y="2888927"/>
              <a:chExt cx="243309" cy="262756"/>
            </a:xfrm>
          </p:grpSpPr>
          <p:sp>
            <p:nvSpPr>
              <p:cNvPr id="69" name="矩形 68"/>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矩形 69"/>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6" name="矩形 65"/>
            <p:cNvSpPr/>
            <p:nvPr/>
          </p:nvSpPr>
          <p:spPr>
            <a:xfrm>
              <a:off x="10090887" y="3136530"/>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7" name="直接箭头连接符 66"/>
            <p:cNvCxnSpPr/>
            <p:nvPr/>
          </p:nvCxnSpPr>
          <p:spPr>
            <a:xfrm flipV="1">
              <a:off x="10469266" y="326988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8" name="直接箭头连接符 67"/>
            <p:cNvCxnSpPr/>
            <p:nvPr/>
          </p:nvCxnSpPr>
          <p:spPr>
            <a:xfrm flipV="1">
              <a:off x="9297359" y="327514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71" name="文本框 70"/>
          <p:cNvSpPr txBox="1"/>
          <p:nvPr/>
        </p:nvSpPr>
        <p:spPr>
          <a:xfrm>
            <a:off x="7426767" y="2818275"/>
            <a:ext cx="954107" cy="400110"/>
          </a:xfrm>
          <a:prstGeom prst="rect">
            <a:avLst/>
          </a:prstGeom>
          <a:noFill/>
        </p:spPr>
        <p:txBody>
          <a:bodyPr wrap="none" rtlCol="0">
            <a:spAutoFit/>
          </a:bodyPr>
          <a:lstStyle/>
          <a:p>
            <a:r>
              <a:rPr lang="zh-CN" altLang="en-US" sz="2000" dirty="0"/>
              <a:t>接口卡</a:t>
            </a:r>
          </a:p>
        </p:txBody>
      </p:sp>
      <p:sp>
        <p:nvSpPr>
          <p:cNvPr id="72" name="文本框 71"/>
          <p:cNvSpPr txBox="1"/>
          <p:nvPr/>
        </p:nvSpPr>
        <p:spPr>
          <a:xfrm>
            <a:off x="10302193" y="2818275"/>
            <a:ext cx="954107" cy="400110"/>
          </a:xfrm>
          <a:prstGeom prst="rect">
            <a:avLst/>
          </a:prstGeom>
          <a:noFill/>
        </p:spPr>
        <p:txBody>
          <a:bodyPr wrap="none" rtlCol="0">
            <a:spAutoFit/>
          </a:bodyPr>
          <a:lstStyle/>
          <a:p>
            <a:r>
              <a:rPr lang="zh-CN" altLang="en-US" sz="2000" dirty="0"/>
              <a:t>接口卡</a:t>
            </a:r>
          </a:p>
        </p:txBody>
      </p:sp>
      <p:sp>
        <p:nvSpPr>
          <p:cNvPr id="73" name="文本框 72"/>
          <p:cNvSpPr txBox="1"/>
          <p:nvPr/>
        </p:nvSpPr>
        <p:spPr>
          <a:xfrm>
            <a:off x="8580909" y="3019440"/>
            <a:ext cx="1317990" cy="1323439"/>
          </a:xfrm>
          <a:prstGeom prst="rect">
            <a:avLst/>
          </a:prstGeom>
          <a:noFill/>
        </p:spPr>
        <p:txBody>
          <a:bodyPr wrap="none" rtlCol="0">
            <a:spAutoFit/>
          </a:bodyPr>
          <a:lstStyle/>
          <a:p>
            <a:pPr algn="ctr"/>
            <a:r>
              <a:rPr lang="zh-CN" altLang="en-US" sz="2000" b="1" dirty="0"/>
              <a:t>交换结构</a:t>
            </a:r>
            <a:endParaRPr lang="en-US" altLang="zh-CN" sz="2000" b="1" dirty="0"/>
          </a:p>
          <a:p>
            <a:pPr algn="ctr"/>
            <a:endParaRPr lang="en-US" altLang="zh-CN" sz="2000" b="1" dirty="0"/>
          </a:p>
          <a:p>
            <a:pPr algn="ctr"/>
            <a:r>
              <a:rPr lang="en-US" altLang="zh-CN" sz="2000" b="1" dirty="0"/>
              <a:t>Switching</a:t>
            </a:r>
          </a:p>
          <a:p>
            <a:pPr algn="ctr"/>
            <a:r>
              <a:rPr lang="en-US" altLang="zh-CN" sz="2000" b="1" dirty="0"/>
              <a:t>Fabric</a:t>
            </a:r>
            <a:endParaRPr lang="zh-CN" altLang="en-US" sz="2000" b="1" dirty="0"/>
          </a:p>
        </p:txBody>
      </p:sp>
      <p:sp>
        <p:nvSpPr>
          <p:cNvPr id="74" name="文本框 73"/>
          <p:cNvSpPr txBox="1"/>
          <p:nvPr/>
        </p:nvSpPr>
        <p:spPr>
          <a:xfrm>
            <a:off x="7547372" y="3401350"/>
            <a:ext cx="643126" cy="523220"/>
          </a:xfrm>
          <a:prstGeom prst="rect">
            <a:avLst/>
          </a:prstGeom>
          <a:noFill/>
        </p:spPr>
        <p:txBody>
          <a:bodyPr wrap="none" rtlCol="0">
            <a:spAutoFit/>
          </a:bodyPr>
          <a:lstStyle/>
          <a:p>
            <a:pPr algn="ctr"/>
            <a:r>
              <a:rPr lang="en-US" altLang="zh-CN" sz="2800" b="1" dirty="0"/>
              <a:t>. . .</a:t>
            </a:r>
            <a:endParaRPr lang="zh-CN" altLang="en-US" sz="2800" b="1" dirty="0"/>
          </a:p>
        </p:txBody>
      </p:sp>
      <p:sp>
        <p:nvSpPr>
          <p:cNvPr id="75" name="文本框 74"/>
          <p:cNvSpPr txBox="1"/>
          <p:nvPr/>
        </p:nvSpPr>
        <p:spPr>
          <a:xfrm>
            <a:off x="10401549" y="3407480"/>
            <a:ext cx="643126" cy="523220"/>
          </a:xfrm>
          <a:prstGeom prst="rect">
            <a:avLst/>
          </a:prstGeom>
          <a:noFill/>
        </p:spPr>
        <p:txBody>
          <a:bodyPr wrap="none" rtlCol="0">
            <a:spAutoFit/>
          </a:bodyPr>
          <a:lstStyle/>
          <a:p>
            <a:pPr algn="ctr"/>
            <a:r>
              <a:rPr lang="en-US" altLang="zh-CN" sz="2800" b="1" dirty="0"/>
              <a:t>. . .</a:t>
            </a:r>
            <a:endParaRPr lang="zh-CN" altLang="en-US" sz="2800" b="1" dirty="0"/>
          </a:p>
        </p:txBody>
      </p:sp>
      <p:sp>
        <p:nvSpPr>
          <p:cNvPr id="76" name="灯片编号占位符 3">
            <a:extLst>
              <a:ext uri="{FF2B5EF4-FFF2-40B4-BE49-F238E27FC236}">
                <a16:creationId xmlns:a16="http://schemas.microsoft.com/office/drawing/2014/main" id="{D295E6D8-AA8A-9142-99CF-F405F87B5E1B}"/>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199</a:t>
            </a:fld>
            <a:endParaRPr kumimoji="1" lang="zh-CN" altLang="en-US" dirty="0"/>
          </a:p>
        </p:txBody>
      </p:sp>
    </p:spTree>
    <p:extLst>
      <p:ext uri="{BB962C8B-B14F-4D97-AF65-F5344CB8AC3E}">
        <p14:creationId xmlns:p14="http://schemas.microsoft.com/office/powerpoint/2010/main" val="387163040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t>3</a:t>
            </a:r>
            <a:r>
              <a:rPr kumimoji="1" lang="zh-CN" altLang="en-US" dirty="0"/>
              <a:t>种典型的交换结构</a:t>
            </a:r>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pic>
        <p:nvPicPr>
          <p:cNvPr id="7" name="图片 6"/>
          <p:cNvPicPr>
            <a:picLocks noChangeAspect="1"/>
          </p:cNvPicPr>
          <p:nvPr/>
        </p:nvPicPr>
        <p:blipFill>
          <a:blip r:embed="rId3"/>
          <a:stretch>
            <a:fillRect/>
          </a:stretch>
        </p:blipFill>
        <p:spPr>
          <a:xfrm>
            <a:off x="472470" y="2752396"/>
            <a:ext cx="3952875" cy="1752600"/>
          </a:xfrm>
          <a:prstGeom prst="rect">
            <a:avLst/>
          </a:prstGeom>
        </p:spPr>
      </p:pic>
      <p:pic>
        <p:nvPicPr>
          <p:cNvPr id="10" name="图片 9"/>
          <p:cNvPicPr>
            <a:picLocks noChangeAspect="1"/>
          </p:cNvPicPr>
          <p:nvPr/>
        </p:nvPicPr>
        <p:blipFill>
          <a:blip r:embed="rId4"/>
          <a:stretch>
            <a:fillRect/>
          </a:stretch>
        </p:blipFill>
        <p:spPr>
          <a:xfrm>
            <a:off x="4824737" y="2752396"/>
            <a:ext cx="2894248" cy="1672455"/>
          </a:xfrm>
          <a:prstGeom prst="rect">
            <a:avLst/>
          </a:prstGeom>
        </p:spPr>
      </p:pic>
      <p:pic>
        <p:nvPicPr>
          <p:cNvPr id="11" name="图片 10"/>
          <p:cNvPicPr>
            <a:picLocks noChangeAspect="1"/>
          </p:cNvPicPr>
          <p:nvPr/>
        </p:nvPicPr>
        <p:blipFill>
          <a:blip r:embed="rId5"/>
          <a:stretch>
            <a:fillRect/>
          </a:stretch>
        </p:blipFill>
        <p:spPr>
          <a:xfrm>
            <a:off x="8120716" y="1924377"/>
            <a:ext cx="3486581" cy="2580619"/>
          </a:xfrm>
          <a:prstGeom prst="rect">
            <a:avLst/>
          </a:prstGeom>
        </p:spPr>
      </p:pic>
      <p:sp>
        <p:nvSpPr>
          <p:cNvPr id="76" name="文本框 75"/>
          <p:cNvSpPr txBox="1"/>
          <p:nvPr/>
        </p:nvSpPr>
        <p:spPr>
          <a:xfrm>
            <a:off x="1436635" y="4737024"/>
            <a:ext cx="1877400" cy="461665"/>
          </a:xfrm>
          <a:prstGeom prst="rect">
            <a:avLst/>
          </a:prstGeom>
          <a:noFill/>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共享内存</a:t>
            </a:r>
          </a:p>
        </p:txBody>
      </p:sp>
      <p:sp>
        <p:nvSpPr>
          <p:cNvPr id="77" name="文本框 76"/>
          <p:cNvSpPr txBox="1"/>
          <p:nvPr/>
        </p:nvSpPr>
        <p:spPr>
          <a:xfrm>
            <a:off x="5162550" y="4737024"/>
            <a:ext cx="1877400" cy="461665"/>
          </a:xfrm>
          <a:prstGeom prst="rect">
            <a:avLst/>
          </a:prstGeom>
          <a:noFill/>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共享总线</a:t>
            </a:r>
          </a:p>
        </p:txBody>
      </p:sp>
      <p:sp>
        <p:nvSpPr>
          <p:cNvPr id="78" name="文本框 77"/>
          <p:cNvSpPr txBox="1"/>
          <p:nvPr/>
        </p:nvSpPr>
        <p:spPr>
          <a:xfrm>
            <a:off x="8460828" y="4737024"/>
            <a:ext cx="3331779" cy="769441"/>
          </a:xfrm>
          <a:prstGeom prst="rect">
            <a:avLst/>
          </a:prstGeom>
          <a:noFill/>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纵横式 </a:t>
            </a:r>
            <a:r>
              <a:rPr lang="en-US" altLang="zh-CN" sz="2400" dirty="0">
                <a:latin typeface="微软雅黑" panose="020B0503020204020204" pitchFamily="34" charset="-122"/>
                <a:ea typeface="微软雅黑" panose="020B0503020204020204" pitchFamily="34" charset="-122"/>
              </a:rPr>
              <a:t>Crossbar</a:t>
            </a:r>
          </a:p>
          <a:p>
            <a:pPr algn="ctr"/>
            <a:r>
              <a:rPr lang="zh-CN" altLang="en-US" sz="2000" dirty="0">
                <a:solidFill>
                  <a:srgbClr val="C00000"/>
                </a:solidFill>
                <a:latin typeface="微软雅黑" panose="020B0503020204020204" pitchFamily="34" charset="-122"/>
                <a:ea typeface="微软雅黑" panose="020B0503020204020204" pitchFamily="34" charset="-122"/>
              </a:rPr>
              <a:t>应用于高性能分布式路由器</a:t>
            </a:r>
          </a:p>
        </p:txBody>
      </p:sp>
      <p:sp>
        <p:nvSpPr>
          <p:cNvPr id="12" name="灯片编号占位符 3">
            <a:extLst>
              <a:ext uri="{FF2B5EF4-FFF2-40B4-BE49-F238E27FC236}">
                <a16:creationId xmlns:a16="http://schemas.microsoft.com/office/drawing/2014/main" id="{01A93771-E0CC-6047-BA01-396EA86BA1E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200</a:t>
            </a:fld>
            <a:endParaRPr kumimoji="1" lang="zh-CN" altLang="en-US" dirty="0"/>
          </a:p>
        </p:txBody>
      </p:sp>
    </p:spTree>
    <p:extLst>
      <p:ext uri="{BB962C8B-B14F-4D97-AF65-F5344CB8AC3E}">
        <p14:creationId xmlns:p14="http://schemas.microsoft.com/office/powerpoint/2010/main" val="275709169"/>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zh-CN" altLang="en-US" dirty="0"/>
              <a:t>路由器扩展知识</a:t>
            </a:r>
          </a:p>
        </p:txBody>
      </p:sp>
      <p:sp>
        <p:nvSpPr>
          <p:cNvPr id="6" name="日期占位符 5"/>
          <p:cNvSpPr>
            <a:spLocks noGrp="1"/>
          </p:cNvSpPr>
          <p:nvPr>
            <p:ph type="dt" sz="half" idx="10"/>
          </p:nvPr>
        </p:nvSpPr>
        <p:spPr/>
        <p:txBody>
          <a:bodyPr/>
          <a:lstStyle/>
          <a:p>
            <a:r>
              <a:rPr kumimoji="1" lang="en-US" altLang="zh-CN" dirty="0"/>
              <a:t>5.8 </a:t>
            </a:r>
            <a:r>
              <a:rPr kumimoji="1" lang="zh-CN" altLang="en-US" dirty="0"/>
              <a:t>路由器工作原理</a:t>
            </a:r>
          </a:p>
        </p:txBody>
      </p:sp>
      <p:sp>
        <p:nvSpPr>
          <p:cNvPr id="8" name="内容占位符 2">
            <a:extLst>
              <a:ext uri="{FF2B5EF4-FFF2-40B4-BE49-F238E27FC236}">
                <a16:creationId xmlns:a16="http://schemas.microsoft.com/office/drawing/2014/main" id="{DB830B1C-0706-7E41-AE1A-DEBBD115D846}"/>
              </a:ext>
            </a:extLst>
          </p:cNvPr>
          <p:cNvSpPr>
            <a:spLocks noGrp="1"/>
          </p:cNvSpPr>
          <p:nvPr>
            <p:ph idx="1"/>
          </p:nvPr>
        </p:nvSpPr>
        <p:spPr>
          <a:xfrm>
            <a:off x="501805" y="1500871"/>
            <a:ext cx="5564459" cy="4288031"/>
          </a:xfrm>
        </p:spPr>
        <p:txBody>
          <a:bodyPr>
            <a:normAutofit/>
          </a:bodyPr>
          <a:lstStyle/>
          <a:p>
            <a:r>
              <a:rPr lang="zh-CN" altLang="en-US" dirty="0"/>
              <a:t>路由器的端系统角色</a:t>
            </a:r>
            <a:endParaRPr lang="en-US" altLang="zh-CN" dirty="0"/>
          </a:p>
          <a:p>
            <a:pPr lvl="1"/>
            <a:r>
              <a:rPr lang="zh-CN" altLang="en-US" dirty="0"/>
              <a:t>也作为网络端系统进行协议交互</a:t>
            </a:r>
            <a:endParaRPr lang="en-US" altLang="zh-CN" dirty="0"/>
          </a:p>
          <a:p>
            <a:pPr lvl="2"/>
            <a:r>
              <a:rPr lang="zh-CN" altLang="en-US" dirty="0"/>
              <a:t>远程网络管理，</a:t>
            </a:r>
            <a:r>
              <a:rPr lang="en-US" altLang="zh-CN" dirty="0"/>
              <a:t>SNMP</a:t>
            </a:r>
          </a:p>
          <a:p>
            <a:pPr lvl="2"/>
            <a:r>
              <a:rPr lang="zh-CN" altLang="en-US" dirty="0"/>
              <a:t>远程网络配置，</a:t>
            </a:r>
            <a:r>
              <a:rPr lang="en-US" altLang="zh-CN" dirty="0"/>
              <a:t>SSH</a:t>
            </a:r>
          </a:p>
          <a:p>
            <a:pPr lvl="2"/>
            <a:r>
              <a:rPr lang="zh-CN" altLang="en-US" dirty="0"/>
              <a:t>文件传输，</a:t>
            </a:r>
            <a:r>
              <a:rPr lang="en-US" altLang="zh-CN" dirty="0"/>
              <a:t>FTP</a:t>
            </a:r>
            <a:r>
              <a:rPr lang="zh-CN" altLang="en-US" dirty="0"/>
              <a:t>，</a:t>
            </a:r>
            <a:r>
              <a:rPr lang="en-US" altLang="zh-CN" dirty="0"/>
              <a:t>TFTP</a:t>
            </a:r>
          </a:p>
          <a:p>
            <a:pPr lvl="2"/>
            <a:r>
              <a:rPr lang="zh-CN" altLang="en-US" dirty="0"/>
              <a:t>各种路由协议交互</a:t>
            </a:r>
            <a:endParaRPr lang="en-US" altLang="zh-CN" dirty="0"/>
          </a:p>
          <a:p>
            <a:pPr lvl="2"/>
            <a:r>
              <a:rPr lang="en-US" altLang="zh-CN" dirty="0"/>
              <a:t> . . .</a:t>
            </a:r>
          </a:p>
          <a:p>
            <a:pPr lvl="1"/>
            <a:r>
              <a:rPr lang="zh-CN" altLang="en-US" dirty="0"/>
              <a:t>路由器系统包含完整</a:t>
            </a:r>
            <a:r>
              <a:rPr lang="en-US" altLang="zh-CN" dirty="0"/>
              <a:t>TCP/IP</a:t>
            </a:r>
            <a:r>
              <a:rPr lang="zh-CN" altLang="en-US" dirty="0"/>
              <a:t>协议栈</a:t>
            </a:r>
            <a:endParaRPr lang="en-US" altLang="zh-CN" dirty="0"/>
          </a:p>
          <a:p>
            <a:pPr lvl="2"/>
            <a:r>
              <a:rPr lang="zh-CN" altLang="en-US" dirty="0"/>
              <a:t>传输层协议</a:t>
            </a:r>
            <a:endParaRPr lang="en-US" altLang="zh-CN" dirty="0"/>
          </a:p>
          <a:p>
            <a:pPr lvl="2"/>
            <a:r>
              <a:rPr lang="zh-CN" altLang="en-US" dirty="0"/>
              <a:t>应用层协议</a:t>
            </a:r>
            <a:endParaRPr lang="en-US" altLang="zh-CN" dirty="0"/>
          </a:p>
        </p:txBody>
      </p:sp>
      <p:sp>
        <p:nvSpPr>
          <p:cNvPr id="5" name="矩形 4"/>
          <p:cNvSpPr/>
          <p:nvPr/>
        </p:nvSpPr>
        <p:spPr>
          <a:xfrm>
            <a:off x="6774392" y="5709424"/>
            <a:ext cx="4565997" cy="523220"/>
          </a:xfrm>
          <a:prstGeom prst="rect">
            <a:avLst/>
          </a:prstGeom>
          <a:solidFill>
            <a:srgbClr val="C00000"/>
          </a:solidFill>
        </p:spPr>
        <p:txBody>
          <a:bodyPr wrap="square">
            <a:spAutoFit/>
          </a:bodyPr>
          <a:lstStyle/>
          <a:p>
            <a:pPr algn="ctr"/>
            <a:r>
              <a:rPr lang="zh-CN" altLang="en-US" sz="2800" dirty="0">
                <a:solidFill>
                  <a:schemeClr val="bg1"/>
                </a:solidFill>
              </a:rPr>
              <a:t>与典型网络路由器差异较大</a:t>
            </a:r>
          </a:p>
        </p:txBody>
      </p:sp>
      <p:sp>
        <p:nvSpPr>
          <p:cNvPr id="76" name="内容占位符 2">
            <a:extLst>
              <a:ext uri="{FF2B5EF4-FFF2-40B4-BE49-F238E27FC236}">
                <a16:creationId xmlns:a16="http://schemas.microsoft.com/office/drawing/2014/main" id="{DB830B1C-0706-7E41-AE1A-DEBBD115D846}"/>
              </a:ext>
            </a:extLst>
          </p:cNvPr>
          <p:cNvSpPr txBox="1">
            <a:spLocks/>
          </p:cNvSpPr>
          <p:nvPr/>
        </p:nvSpPr>
        <p:spPr>
          <a:xfrm>
            <a:off x="6218664" y="1500871"/>
            <a:ext cx="5410896" cy="428803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dirty="0"/>
              <a:t>家用路由器</a:t>
            </a:r>
            <a:endParaRPr lang="en-US" altLang="zh-CN" dirty="0"/>
          </a:p>
          <a:p>
            <a:pPr lvl="1"/>
            <a:r>
              <a:rPr lang="zh-CN" altLang="en-US" dirty="0"/>
              <a:t>不运行动态路由协议（出口唯一）</a:t>
            </a:r>
            <a:endParaRPr lang="en-US" altLang="zh-CN" dirty="0"/>
          </a:p>
          <a:p>
            <a:pPr lvl="1"/>
            <a:r>
              <a:rPr lang="zh-CN" altLang="en-US" dirty="0"/>
              <a:t>运行</a:t>
            </a:r>
            <a:r>
              <a:rPr lang="en-US" altLang="zh-CN" dirty="0"/>
              <a:t>DHCP</a:t>
            </a:r>
            <a:r>
              <a:rPr lang="zh-CN" altLang="en-US" dirty="0"/>
              <a:t>协议，分配私有</a:t>
            </a:r>
            <a:r>
              <a:rPr lang="en-US" altLang="zh-CN" dirty="0"/>
              <a:t>IP</a:t>
            </a:r>
          </a:p>
          <a:p>
            <a:pPr lvl="1"/>
            <a:r>
              <a:rPr lang="en-US" altLang="zh-CN" dirty="0"/>
              <a:t>NAT</a:t>
            </a:r>
            <a:r>
              <a:rPr lang="zh-CN" altLang="en-US" dirty="0"/>
              <a:t>地址转换</a:t>
            </a:r>
            <a:endParaRPr lang="en-US" altLang="zh-CN" dirty="0"/>
          </a:p>
          <a:p>
            <a:pPr lvl="1"/>
            <a:r>
              <a:rPr lang="zh-CN" altLang="en-US" dirty="0"/>
              <a:t>本地</a:t>
            </a:r>
            <a:r>
              <a:rPr lang="en-US" altLang="zh-CN" dirty="0"/>
              <a:t>DNS</a:t>
            </a:r>
            <a:r>
              <a:rPr lang="zh-CN" altLang="en-US" dirty="0"/>
              <a:t>服务</a:t>
            </a:r>
            <a:endParaRPr lang="en-US" altLang="zh-CN" dirty="0"/>
          </a:p>
          <a:p>
            <a:pPr lvl="1"/>
            <a:r>
              <a:rPr lang="zh-CN" altLang="en-US" dirty="0"/>
              <a:t>用户管理及认证</a:t>
            </a:r>
            <a:endParaRPr lang="en-US" altLang="zh-CN" dirty="0"/>
          </a:p>
          <a:p>
            <a:pPr lvl="1"/>
            <a:r>
              <a:rPr lang="zh-CN" altLang="en-US" dirty="0"/>
              <a:t>防火墙功能</a:t>
            </a:r>
            <a:endParaRPr lang="en-US" altLang="zh-CN" dirty="0"/>
          </a:p>
          <a:p>
            <a:pPr lvl="1"/>
            <a:r>
              <a:rPr lang="zh-CN" altLang="en-US" dirty="0"/>
              <a:t>无线</a:t>
            </a:r>
            <a:r>
              <a:rPr lang="en-US" altLang="zh-CN" dirty="0"/>
              <a:t>AP</a:t>
            </a:r>
          </a:p>
          <a:p>
            <a:pPr lvl="1"/>
            <a:r>
              <a:rPr lang="en-US" altLang="zh-CN" dirty="0"/>
              <a:t>. . .</a:t>
            </a:r>
          </a:p>
          <a:p>
            <a:pPr lvl="1"/>
            <a:endParaRPr lang="en-US" altLang="zh-CN" dirty="0"/>
          </a:p>
        </p:txBody>
      </p:sp>
      <p:sp>
        <p:nvSpPr>
          <p:cNvPr id="9" name="灯片编号占位符 3">
            <a:extLst>
              <a:ext uri="{FF2B5EF4-FFF2-40B4-BE49-F238E27FC236}">
                <a16:creationId xmlns:a16="http://schemas.microsoft.com/office/drawing/2014/main" id="{DFAD28D2-6373-484E-86C0-7443A1F09BA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201</a:t>
            </a:fld>
            <a:endParaRPr kumimoji="1" lang="zh-CN" altLang="en-US" dirty="0"/>
          </a:p>
        </p:txBody>
      </p:sp>
    </p:spTree>
    <p:extLst>
      <p:ext uri="{BB962C8B-B14F-4D97-AF65-F5344CB8AC3E}">
        <p14:creationId xmlns:p14="http://schemas.microsoft.com/office/powerpoint/2010/main" val="757276503"/>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路由器工作原理</a:t>
            </a:r>
            <a:endParaRPr kumimoji="1" lang="en-US" altLang="zh-CN" dirty="0">
              <a:sym typeface="+mn-ea"/>
            </a:endParaRPr>
          </a:p>
          <a:p>
            <a:pPr marL="0" indent="0">
              <a:lnSpc>
                <a:spcPct val="130000"/>
              </a:lnSpc>
              <a:buNone/>
            </a:pPr>
            <a:r>
              <a:rPr kumimoji="1" lang="en-US" altLang="zh-CN" dirty="0">
                <a:solidFill>
                  <a:srgbClr val="C00000"/>
                </a:solidFill>
                <a:sym typeface="+mn-ea"/>
              </a:rPr>
              <a:t>5.9 IPv6</a:t>
            </a:r>
            <a:r>
              <a:rPr kumimoji="1" lang="zh-CN" altLang="en-US" dirty="0">
                <a:solidFill>
                  <a:srgbClr val="C00000"/>
                </a:solidFill>
                <a:sym typeface="+mn-ea"/>
              </a:rPr>
              <a:t>技术</a:t>
            </a:r>
            <a:endParaRPr kumimoji="1" lang="en-US" altLang="zh-CN" dirty="0"/>
          </a:p>
          <a:p>
            <a:pPr marL="0">
              <a:lnSpc>
                <a:spcPct val="130000"/>
              </a:lnSpc>
              <a:buNone/>
            </a:pPr>
            <a:r>
              <a:rPr kumimoji="1" lang="zh-CN" altLang="en-US" dirty="0">
                <a:sym typeface="+mn-ea"/>
              </a:rPr>
              <a:t>5.</a:t>
            </a:r>
            <a:r>
              <a:rPr kumimoji="1" lang="en-US" altLang="zh-CN" dirty="0">
                <a:sym typeface="+mn-ea"/>
              </a:rPr>
              <a:t>10</a:t>
            </a:r>
            <a:r>
              <a:rPr kumimoji="1" lang="zh-CN" altLang="en-US" dirty="0">
                <a:sym typeface="+mn-ea"/>
              </a:rPr>
              <a:t> 三层交换与</a:t>
            </a:r>
            <a:r>
              <a:rPr kumimoji="1" lang="en-US" altLang="zh-CN" dirty="0">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202</a:t>
            </a:fld>
            <a:endParaRPr kumimoji="1" lang="zh-CN" altLang="en-US" dirty="0"/>
          </a:p>
        </p:txBody>
      </p:sp>
      <p:sp>
        <p:nvSpPr>
          <p:cNvPr id="6" name="矩形标注 5">
            <a:extLst>
              <a:ext uri="{FF2B5EF4-FFF2-40B4-BE49-F238E27FC236}">
                <a16:creationId xmlns:a16="http://schemas.microsoft.com/office/drawing/2014/main" id="{981187B3-3584-BA4E-A14C-4B26773516C6}"/>
              </a:ext>
            </a:extLst>
          </p:cNvPr>
          <p:cNvSpPr/>
          <p:nvPr/>
        </p:nvSpPr>
        <p:spPr>
          <a:xfrm>
            <a:off x="5782641" y="2675823"/>
            <a:ext cx="3434931" cy="3883429"/>
          </a:xfrm>
          <a:prstGeom prst="wedgeRectCallout">
            <a:avLst>
              <a:gd name="adj1" fmla="val -106825"/>
              <a:gd name="adj2" fmla="val 31486"/>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头部结构</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扩展头</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邻居发现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地址配置</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路由协议</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IPv4/IPv6</a:t>
            </a:r>
            <a:r>
              <a:rPr kumimoji="1" lang="zh-CN" altLang="en-US" sz="2400" dirty="0">
                <a:solidFill>
                  <a:schemeClr val="tx1"/>
                </a:solidFill>
                <a:latin typeface="Microsoft YaHei" panose="020B0503020204020204" pitchFamily="34" charset="-122"/>
                <a:ea typeface="Microsoft YaHei" panose="020B0503020204020204" pitchFamily="34" charset="-122"/>
              </a:rPr>
              <a:t>过渡技术</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SRv6</a:t>
            </a:r>
            <a:endParaRPr kumimoji="1" lang="zh-CN" altLang="en-US" sz="2400" dirty="0">
              <a:solidFill>
                <a:prstClr val="black"/>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397646483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协议</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203</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420414" y="1414584"/>
            <a:ext cx="11466786" cy="5257281"/>
          </a:xfrm>
          <a:prstGeom prst="rect">
            <a:avLst/>
          </a:prstGeom>
        </p:spPr>
        <p:txBody>
          <a:bodyPr vert="horz" lIns="91440" tIns="45720" rIns="91440" bIns="45720" rtlCol="0">
            <a:normAutofit fontScale="925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a:t>
            </a:r>
            <a:r>
              <a:rPr lang="en-US" altLang="zh-CN" sz="2600" dirty="0">
                <a:latin typeface="微软雅黑" panose="020B0503020204020204" pitchFamily="34" charset="-122"/>
                <a:ea typeface="微软雅黑" panose="020B0503020204020204" pitchFamily="34" charset="-122"/>
              </a:rPr>
              <a:t>Internet Protocol version 6</a:t>
            </a:r>
            <a:r>
              <a:rPr lang="zh-CN" altLang="en-US" sz="2600" dirty="0">
                <a:latin typeface="微软雅黑" panose="020B0503020204020204" pitchFamily="34" charset="-122"/>
                <a:ea typeface="微软雅黑" panose="020B0503020204020204" pitchFamily="34" charset="-122"/>
              </a:rPr>
              <a:t>）是互联网工程任务组（</a:t>
            </a:r>
            <a:r>
              <a:rPr lang="en-US" altLang="zh-CN" sz="2600" dirty="0">
                <a:latin typeface="微软雅黑" panose="020B0503020204020204" pitchFamily="34" charset="-122"/>
                <a:ea typeface="微软雅黑" panose="020B0503020204020204" pitchFamily="34" charset="-122"/>
              </a:rPr>
              <a:t>IETF</a:t>
            </a:r>
            <a:r>
              <a:rPr lang="zh-CN" altLang="en-US" sz="2600" dirty="0">
                <a:latin typeface="微软雅黑" panose="020B0503020204020204" pitchFamily="34" charset="-122"/>
                <a:ea typeface="微软雅黑" panose="020B0503020204020204" pitchFamily="34" charset="-122"/>
              </a:rPr>
              <a:t>）设计的用于替代</a:t>
            </a:r>
            <a:r>
              <a:rPr lang="en-US" altLang="zh-CN" sz="2600" dirty="0">
                <a:latin typeface="微软雅黑" panose="020B0503020204020204" pitchFamily="34" charset="-122"/>
                <a:ea typeface="微软雅黑" panose="020B0503020204020204" pitchFamily="34" charset="-122"/>
              </a:rPr>
              <a:t>IPv4</a:t>
            </a:r>
            <a:r>
              <a:rPr lang="zh-CN" altLang="en-US" sz="2600" dirty="0">
                <a:latin typeface="微软雅黑" panose="020B0503020204020204" pitchFamily="34" charset="-122"/>
                <a:ea typeface="微软雅黑" panose="020B0503020204020204" pitchFamily="34" charset="-122"/>
              </a:rPr>
              <a:t>的下一代协议</a:t>
            </a:r>
          </a:p>
          <a:p>
            <a:pPr algn="just">
              <a:lnSpc>
                <a:spcPct val="120000"/>
              </a:lnSpc>
            </a:pPr>
            <a:r>
              <a:rPr lang="zh-CN" altLang="en-US" sz="2600" dirty="0">
                <a:latin typeface="微软雅黑" panose="020B0503020204020204" pitchFamily="34" charset="-122"/>
                <a:ea typeface="微软雅黑" panose="020B0503020204020204" pitchFamily="34" charset="-122"/>
              </a:rPr>
              <a:t>初始动机：应付“</a:t>
            </a:r>
            <a:r>
              <a:rPr lang="en-US" altLang="zh-CN" sz="2600" dirty="0">
                <a:latin typeface="微软雅黑" panose="020B0503020204020204" pitchFamily="34" charset="-122"/>
                <a:ea typeface="微软雅黑" panose="020B0503020204020204" pitchFamily="34" charset="-122"/>
              </a:rPr>
              <a:t>32-bit</a:t>
            </a:r>
            <a:r>
              <a:rPr lang="zh-CN" altLang="en-US" sz="2600" dirty="0">
                <a:latin typeface="微软雅黑" panose="020B0503020204020204" pitchFamily="34" charset="-122"/>
                <a:ea typeface="微软雅黑" panose="020B0503020204020204" pitchFamily="34" charset="-122"/>
              </a:rPr>
              <a:t>地址空间耗尽”问题（</a:t>
            </a:r>
            <a:r>
              <a:rPr lang="en-US" altLang="zh-CN" sz="2600" dirty="0">
                <a:latin typeface="微软雅黑" panose="020B0503020204020204" pitchFamily="34" charset="-122"/>
                <a:ea typeface="微软雅黑" panose="020B0503020204020204" pitchFamily="34" charset="-122"/>
              </a:rPr>
              <a:t>CIDR</a:t>
            </a:r>
            <a:r>
              <a:rPr lang="zh-CN" altLang="en-US" sz="2600" dirty="0">
                <a:latin typeface="微软雅黑" panose="020B0503020204020204" pitchFamily="34" charset="-122"/>
                <a:ea typeface="微软雅黑" panose="020B0503020204020204" pitchFamily="34" charset="-122"/>
              </a:rPr>
              <a:t>和</a:t>
            </a:r>
            <a:r>
              <a:rPr lang="en-US" altLang="zh-CN" sz="2600" dirty="0">
                <a:latin typeface="微软雅黑" panose="020B0503020204020204" pitchFamily="34" charset="-122"/>
                <a:ea typeface="微软雅黑" panose="020B0503020204020204" pitchFamily="34" charset="-122"/>
              </a:rPr>
              <a:t>NAT</a:t>
            </a:r>
            <a:r>
              <a:rPr lang="zh-CN" altLang="en-US" sz="2600" dirty="0">
                <a:latin typeface="微软雅黑" panose="020B0503020204020204" pitchFamily="34" charset="-122"/>
                <a:ea typeface="微软雅黑" panose="020B0503020204020204" pitchFamily="34" charset="-122"/>
              </a:rPr>
              <a:t>都无法从根本上解决地址短缺问题），增加地址空间</a:t>
            </a:r>
            <a:endParaRPr lang="en-US" altLang="zh-CN" sz="2600" dirty="0">
              <a:latin typeface="微软雅黑" panose="020B0503020204020204" pitchFamily="34" charset="-122"/>
              <a:ea typeface="微软雅黑" panose="020B0503020204020204" pitchFamily="34" charset="-122"/>
            </a:endParaRPr>
          </a:p>
          <a:p>
            <a:pPr algn="just">
              <a:lnSpc>
                <a:spcPct val="120000"/>
              </a:lnSpc>
            </a:pPr>
            <a:r>
              <a:rPr lang="en-US" altLang="zh-CN" sz="2600" dirty="0">
                <a:latin typeface="微软雅黑" panose="020B0503020204020204" pitchFamily="34" charset="-122"/>
                <a:ea typeface="微软雅黑" panose="020B0503020204020204" pitchFamily="34" charset="-122"/>
              </a:rPr>
              <a:t>IPv6 </a:t>
            </a:r>
            <a:r>
              <a:rPr lang="zh-CN" altLang="en-US" sz="2600" dirty="0">
                <a:latin typeface="微软雅黑" panose="020B0503020204020204" pitchFamily="34" charset="-122"/>
                <a:ea typeface="微软雅黑" panose="020B0503020204020204" pitchFamily="34" charset="-122"/>
              </a:rPr>
              <a:t>地址</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地址长度为</a:t>
            </a:r>
            <a:r>
              <a:rPr lang="en-US" altLang="zh-CN" dirty="0">
                <a:latin typeface="微软雅黑" panose="020B0503020204020204" pitchFamily="34" charset="-122"/>
                <a:ea typeface="微软雅黑" panose="020B0503020204020204" pitchFamily="34" charset="-122"/>
              </a:rPr>
              <a:t>128bit</a:t>
            </a:r>
            <a:r>
              <a:rPr lang="zh-CN" altLang="en-US" dirty="0">
                <a:latin typeface="微软雅黑" panose="020B0503020204020204" pitchFamily="34" charset="-122"/>
                <a:ea typeface="微软雅黑" panose="020B0503020204020204" pitchFamily="34" charset="-122"/>
              </a:rPr>
              <a:t>，是</a:t>
            </a:r>
            <a:r>
              <a:rPr lang="en-US" altLang="zh-CN" dirty="0">
                <a:latin typeface="微软雅黑" panose="020B0503020204020204" pitchFamily="34" charset="-122"/>
                <a:ea typeface="微软雅黑" panose="020B0503020204020204" pitchFamily="34" charset="-122"/>
              </a:rPr>
              <a:t>IPv4</a:t>
            </a:r>
            <a:r>
              <a:rPr lang="zh-CN" altLang="en-US" dirty="0">
                <a:latin typeface="微软雅黑" panose="020B0503020204020204" pitchFamily="34" charset="-122"/>
                <a:ea typeface="微软雅黑" panose="020B0503020204020204" pitchFamily="34" charset="-122"/>
              </a:rPr>
              <a:t>地址长度的</a:t>
            </a:r>
            <a:r>
              <a:rPr lang="en-US" altLang="zh-CN" dirty="0">
                <a:latin typeface="微软雅黑" panose="020B0503020204020204" pitchFamily="34" charset="-122"/>
                <a:ea typeface="微软雅黑" panose="020B0503020204020204" pitchFamily="34" charset="-122"/>
              </a:rPr>
              <a:t>4</a:t>
            </a:r>
            <a:r>
              <a:rPr lang="zh-CN" altLang="en-US" dirty="0">
                <a:latin typeface="微软雅黑" panose="020B0503020204020204" pitchFamily="34" charset="-122"/>
                <a:ea typeface="微软雅黑" panose="020B0503020204020204" pitchFamily="34" charset="-122"/>
              </a:rPr>
              <a:t>倍 </a:t>
            </a:r>
            <a:endParaRPr lang="en-US" altLang="zh-CN" dirty="0">
              <a:latin typeface="微软雅黑" panose="020B0503020204020204" pitchFamily="34" charset="-122"/>
              <a:ea typeface="微软雅黑" panose="020B0503020204020204" pitchFamily="34" charset="-122"/>
            </a:endParaRPr>
          </a:p>
          <a:p>
            <a:pPr lvl="1" algn="just">
              <a:lnSpc>
                <a:spcPct val="120000"/>
              </a:lnSpc>
            </a:pPr>
            <a:r>
              <a:rPr lang="en-US" altLang="zh-CN" dirty="0">
                <a:latin typeface="微软雅黑" panose="020B0503020204020204" pitchFamily="34" charset="-122"/>
                <a:ea typeface="微软雅黑" panose="020B0503020204020204" pitchFamily="34" charset="-122"/>
              </a:rPr>
              <a:t>IPv6</a:t>
            </a:r>
            <a:r>
              <a:rPr lang="zh-CN" altLang="en-US" dirty="0">
                <a:latin typeface="微软雅黑" panose="020B0503020204020204" pitchFamily="34" charset="-122"/>
                <a:ea typeface="微软雅黑" panose="020B0503020204020204" pitchFamily="34" charset="-122"/>
              </a:rPr>
              <a:t>地址空间数量约为</a:t>
            </a:r>
            <a:r>
              <a:rPr lang="en-US" altLang="zh-CN" dirty="0">
                <a:solidFill>
                  <a:srgbClr val="C00000"/>
                </a:solidFill>
                <a:latin typeface="微软雅黑" panose="020B0503020204020204" pitchFamily="34" charset="-122"/>
                <a:ea typeface="微软雅黑" panose="020B0503020204020204" pitchFamily="34" charset="-122"/>
              </a:rPr>
              <a:t>3</a:t>
            </a:r>
            <a:r>
              <a:rPr lang="zh-CN" altLang="en-US" dirty="0">
                <a:solidFill>
                  <a:srgbClr val="C00000"/>
                </a:solidFill>
                <a:latin typeface="微软雅黑" panose="020B0503020204020204" pitchFamily="34" charset="-122"/>
                <a:ea typeface="微软雅黑" panose="020B0503020204020204" pitchFamily="34" charset="-122"/>
              </a:rPr>
              <a:t>*</a:t>
            </a:r>
            <a:r>
              <a:rPr lang="en-US" altLang="zh-CN" dirty="0">
                <a:solidFill>
                  <a:srgbClr val="C00000"/>
                </a:solidFill>
                <a:latin typeface="微软雅黑" panose="020B0503020204020204" pitchFamily="34" charset="-122"/>
                <a:ea typeface="微软雅黑" panose="020B0503020204020204" pitchFamily="34" charset="-122"/>
              </a:rPr>
              <a:t>10</a:t>
            </a:r>
            <a:r>
              <a:rPr lang="en-US" altLang="zh-CN" baseline="30000" dirty="0">
                <a:solidFill>
                  <a:srgbClr val="C00000"/>
                </a:solidFill>
                <a:latin typeface="微软雅黑" panose="020B0503020204020204" pitchFamily="34" charset="-122"/>
                <a:ea typeface="微软雅黑" panose="020B0503020204020204" pitchFamily="34" charset="-122"/>
              </a:rPr>
              <a:t>38</a:t>
            </a:r>
            <a:endParaRPr lang="zh-CN" altLang="en-US" baseline="30000" dirty="0">
              <a:solidFill>
                <a:srgbClr val="C00000"/>
              </a:solidFill>
              <a:latin typeface="微软雅黑" panose="020B0503020204020204" pitchFamily="34" charset="-122"/>
              <a:ea typeface="微软雅黑" panose="020B0503020204020204" pitchFamily="34" charset="-122"/>
            </a:endParaRPr>
          </a:p>
          <a:p>
            <a:pPr lvl="1" algn="just">
              <a:lnSpc>
                <a:spcPct val="120000"/>
              </a:lnSpc>
              <a:buClr>
                <a:srgbClr val="3333CC"/>
              </a:buClr>
            </a:pPr>
            <a:r>
              <a:rPr lang="en-US" altLang="zh-CN" dirty="0">
                <a:latin typeface="微软雅黑" panose="020B0503020204020204" pitchFamily="34" charset="-122"/>
                <a:ea typeface="微软雅黑" panose="020B0503020204020204" pitchFamily="34" charset="-122"/>
              </a:rPr>
              <a:t>IPv6</a:t>
            </a:r>
            <a:r>
              <a:rPr lang="zh-CN" altLang="en-US" dirty="0">
                <a:latin typeface="微软雅黑" panose="020B0503020204020204" pitchFamily="34" charset="-122"/>
                <a:ea typeface="微软雅黑" panose="020B0503020204020204" pitchFamily="34" charset="-122"/>
              </a:rPr>
              <a:t>地址表示法，冒分十六进制，</a:t>
            </a:r>
            <a:r>
              <a:rPr lang="en-US" altLang="zh-CN" dirty="0">
                <a:latin typeface="微软雅黑" panose="020B0503020204020204" pitchFamily="34" charset="-122"/>
                <a:ea typeface="微软雅黑" panose="020B0503020204020204" pitchFamily="34" charset="-122"/>
              </a:rPr>
              <a:t>x:x:x:x:x:x:x:x</a:t>
            </a:r>
          </a:p>
          <a:p>
            <a:pPr lvl="2" algn="just">
              <a:lnSpc>
                <a:spcPct val="120000"/>
              </a:lnSpc>
              <a:buClr>
                <a:srgbClr val="3333CC"/>
              </a:buClr>
            </a:pPr>
            <a:r>
              <a:rPr lang="zh-CN" altLang="en-US" sz="2200" dirty="0">
                <a:latin typeface="微软雅黑" panose="020B0503020204020204" pitchFamily="34" charset="-122"/>
                <a:ea typeface="微软雅黑" panose="020B0503020204020204" pitchFamily="34" charset="-122"/>
              </a:rPr>
              <a:t>简化方法：每个</a:t>
            </a:r>
            <a:r>
              <a:rPr lang="en-US" altLang="zh-CN" sz="2200" dirty="0">
                <a:latin typeface="微软雅黑" panose="020B0503020204020204" pitchFamily="34" charset="-122"/>
                <a:ea typeface="微软雅黑" panose="020B0503020204020204" pitchFamily="34" charset="-122"/>
              </a:rPr>
              <a:t>x</a:t>
            </a:r>
            <a:r>
              <a:rPr lang="zh-CN" altLang="en-US" sz="2200" dirty="0">
                <a:latin typeface="微软雅黑" panose="020B0503020204020204" pitchFamily="34" charset="-122"/>
                <a:ea typeface="微软雅黑" panose="020B0503020204020204" pitchFamily="34" charset="-122"/>
              </a:rPr>
              <a:t>前面的</a:t>
            </a:r>
            <a:r>
              <a:rPr lang="en-US" altLang="zh-CN" sz="2200" dirty="0">
                <a:latin typeface="微软雅黑" panose="020B0503020204020204" pitchFamily="34" charset="-122"/>
                <a:ea typeface="微软雅黑" panose="020B0503020204020204" pitchFamily="34" charset="-122"/>
              </a:rPr>
              <a:t>0</a:t>
            </a:r>
            <a:r>
              <a:rPr lang="zh-CN" altLang="en-US" sz="2200" dirty="0">
                <a:latin typeface="微软雅黑" panose="020B0503020204020204" pitchFamily="34" charset="-122"/>
                <a:ea typeface="微软雅黑" panose="020B0503020204020204" pitchFamily="34" charset="-122"/>
              </a:rPr>
              <a:t>可省略，可把连续的值为</a:t>
            </a:r>
            <a:r>
              <a:rPr lang="en-US" altLang="zh-CN" sz="2200" dirty="0">
                <a:latin typeface="微软雅黑" panose="020B0503020204020204" pitchFamily="34" charset="-122"/>
                <a:ea typeface="微软雅黑" panose="020B0503020204020204" pitchFamily="34" charset="-122"/>
              </a:rPr>
              <a:t>0</a:t>
            </a:r>
            <a:r>
              <a:rPr lang="zh-CN" altLang="en-US" sz="2200" dirty="0">
                <a:latin typeface="微软雅黑" panose="020B0503020204020204" pitchFamily="34" charset="-122"/>
                <a:ea typeface="微软雅黑" panose="020B0503020204020204" pitchFamily="34" charset="-122"/>
              </a:rPr>
              <a:t>的</a:t>
            </a:r>
            <a:r>
              <a:rPr lang="en-US" altLang="zh-CN" sz="2200" dirty="0">
                <a:latin typeface="微软雅黑" panose="020B0503020204020204" pitchFamily="34" charset="-122"/>
                <a:ea typeface="微软雅黑" panose="020B0503020204020204" pitchFamily="34" charset="-122"/>
              </a:rPr>
              <a:t>x</a:t>
            </a:r>
            <a:r>
              <a:rPr lang="zh-CN" altLang="en-US" sz="2200" dirty="0">
                <a:latin typeface="微软雅黑" panose="020B0503020204020204" pitchFamily="34" charset="-122"/>
                <a:ea typeface="微软雅黑" panose="020B0503020204020204" pitchFamily="34" charset="-122"/>
              </a:rPr>
              <a:t>表示为“</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a:t>
            </a:r>
            <a:r>
              <a:rPr lang="en-US" altLang="zh-CN" sz="2200" dirty="0">
                <a:latin typeface="微软雅黑" panose="020B0503020204020204" pitchFamily="34" charset="-122"/>
                <a:ea typeface="微软雅黑" panose="020B0503020204020204" pitchFamily="34" charset="-122"/>
              </a:rPr>
              <a:t>, </a:t>
            </a:r>
            <a:r>
              <a:rPr lang="zh-CN" altLang="en-US" sz="2200" dirty="0">
                <a:latin typeface="微软雅黑" panose="020B0503020204020204" pitchFamily="34" charset="-122"/>
                <a:ea typeface="微软雅黑" panose="020B0503020204020204" pitchFamily="34" charset="-122"/>
              </a:rPr>
              <a:t>且“</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a:t>
            </a:r>
            <a:r>
              <a:rPr lang="zh-CN" altLang="en-US" sz="2200" dirty="0">
                <a:solidFill>
                  <a:srgbClr val="C00000"/>
                </a:solidFill>
                <a:latin typeface="微软雅黑" panose="020B0503020204020204" pitchFamily="34" charset="-122"/>
                <a:ea typeface="微软雅黑" panose="020B0503020204020204" pitchFamily="34" charset="-122"/>
              </a:rPr>
              <a:t>只能出现</a:t>
            </a:r>
            <a:r>
              <a:rPr lang="en-US" altLang="zh-CN" sz="2200" dirty="0">
                <a:solidFill>
                  <a:srgbClr val="C00000"/>
                </a:solidFill>
                <a:latin typeface="微软雅黑" panose="020B0503020204020204" pitchFamily="34" charset="-122"/>
                <a:ea typeface="微软雅黑" panose="020B0503020204020204" pitchFamily="34" charset="-122"/>
              </a:rPr>
              <a:t>1</a:t>
            </a:r>
            <a:r>
              <a:rPr lang="zh-CN" altLang="en-US" sz="2200" dirty="0">
                <a:solidFill>
                  <a:srgbClr val="C00000"/>
                </a:solidFill>
                <a:latin typeface="微软雅黑" panose="020B0503020204020204" pitchFamily="34" charset="-122"/>
                <a:ea typeface="微软雅黑" panose="020B0503020204020204" pitchFamily="34" charset="-122"/>
              </a:rPr>
              <a:t>次</a:t>
            </a:r>
            <a:endParaRPr lang="en-US" altLang="zh-CN" sz="2200" dirty="0">
              <a:solidFill>
                <a:srgbClr val="C00000"/>
              </a:solidFill>
              <a:latin typeface="微软雅黑" panose="020B0503020204020204" pitchFamily="34" charset="-122"/>
              <a:ea typeface="微软雅黑" panose="020B0503020204020204" pitchFamily="34" charset="-122"/>
            </a:endParaRPr>
          </a:p>
          <a:p>
            <a:pPr lvl="2" algn="just">
              <a:lnSpc>
                <a:spcPct val="120000"/>
              </a:lnSpc>
              <a:buClr>
                <a:srgbClr val="3333CC"/>
              </a:buClr>
            </a:pPr>
            <a:r>
              <a:rPr lang="zh-CN" altLang="en-US" sz="2200" dirty="0">
                <a:latin typeface="微软雅黑" panose="020B0503020204020204" pitchFamily="34" charset="-122"/>
                <a:ea typeface="微软雅黑" panose="020B0503020204020204" pitchFamily="34" charset="-122"/>
              </a:rPr>
              <a:t>简化前地址，</a:t>
            </a:r>
            <a:r>
              <a:rPr lang="en-US" altLang="zh-CN" sz="2200" dirty="0">
                <a:latin typeface="微软雅黑" panose="020B0503020204020204" pitchFamily="34" charset="-122"/>
                <a:ea typeface="微软雅黑" panose="020B0503020204020204" pitchFamily="34" charset="-122"/>
              </a:rPr>
              <a:t>2001:0DA8:0000:0000:200C:0000:0000:00A5</a:t>
            </a:r>
          </a:p>
          <a:p>
            <a:pPr lvl="2" algn="just">
              <a:lnSpc>
                <a:spcPct val="120000"/>
              </a:lnSpc>
              <a:buClr>
                <a:srgbClr val="3333CC"/>
              </a:buClr>
            </a:pPr>
            <a:r>
              <a:rPr lang="zh-CN" altLang="en-US" sz="2200" dirty="0">
                <a:latin typeface="微软雅黑" panose="020B0503020204020204" pitchFamily="34" charset="-122"/>
                <a:ea typeface="微软雅黑" panose="020B0503020204020204" pitchFamily="34" charset="-122"/>
              </a:rPr>
              <a:t>简化后地址，</a:t>
            </a:r>
            <a:r>
              <a:rPr lang="en-US" altLang="zh-CN" sz="2200" dirty="0">
                <a:latin typeface="微软雅黑" panose="020B0503020204020204" pitchFamily="34" charset="-122"/>
                <a:ea typeface="微软雅黑" panose="020B0503020204020204" pitchFamily="34" charset="-122"/>
              </a:rPr>
              <a:t>2001:</a:t>
            </a:r>
            <a:r>
              <a:rPr lang="en-US" altLang="zh-CN" sz="2200" dirty="0">
                <a:solidFill>
                  <a:srgbClr val="C00000"/>
                </a:solidFill>
                <a:latin typeface="微软雅黑" panose="020B0503020204020204" pitchFamily="34" charset="-122"/>
                <a:ea typeface="微软雅黑" panose="020B0503020204020204" pitchFamily="34" charset="-122"/>
              </a:rPr>
              <a:t>DA8</a:t>
            </a:r>
            <a:r>
              <a:rPr lang="en-US" altLang="zh-CN" sz="2200" dirty="0">
                <a:latin typeface="微软雅黑" panose="020B0503020204020204" pitchFamily="34" charset="-122"/>
                <a:ea typeface="微软雅黑" panose="020B0503020204020204" pitchFamily="34" charset="-122"/>
              </a:rPr>
              <a:t>:0000:0000:200C</a:t>
            </a:r>
            <a:r>
              <a:rPr lang="en-US" altLang="zh-CN" sz="2200" dirty="0">
                <a:solidFill>
                  <a:srgbClr val="C00000"/>
                </a:solidFill>
                <a:latin typeface="微软雅黑" panose="020B0503020204020204" pitchFamily="34" charset="-122"/>
                <a:ea typeface="微软雅黑" panose="020B0503020204020204" pitchFamily="34" charset="-122"/>
              </a:rPr>
              <a:t>::A5</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Picture 28" descr="015">
            <a:extLst>
              <a:ext uri="{FF2B5EF4-FFF2-40B4-BE49-F238E27FC236}">
                <a16:creationId xmlns:a16="http://schemas.microsoft.com/office/drawing/2014/main" id="{82E4AAAD-124F-4AF1-809A-7FB2922C0FB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29110710"/>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头部</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204</a:t>
            </a:fld>
            <a:endParaRPr kumimoji="1" lang="zh-CN" altLang="en-US" dirty="0"/>
          </a:p>
        </p:txBody>
      </p:sp>
      <p:grpSp>
        <p:nvGrpSpPr>
          <p:cNvPr id="6" name="组合 5"/>
          <p:cNvGrpSpPr/>
          <p:nvPr/>
        </p:nvGrpSpPr>
        <p:grpSpPr>
          <a:xfrm>
            <a:off x="3194472" y="3410824"/>
            <a:ext cx="6191266" cy="3179162"/>
            <a:chOff x="6502297" y="1597242"/>
            <a:chExt cx="5088344" cy="2527084"/>
          </a:xfrm>
        </p:grpSpPr>
        <p:grpSp>
          <p:nvGrpSpPr>
            <p:cNvPr id="7" name="组合 30"/>
            <p:cNvGrpSpPr/>
            <p:nvPr/>
          </p:nvGrpSpPr>
          <p:grpSpPr>
            <a:xfrm>
              <a:off x="6502297" y="2018678"/>
              <a:ext cx="5088344" cy="2105648"/>
              <a:chOff x="3044722" y="1485276"/>
              <a:chExt cx="5088344" cy="2105648"/>
            </a:xfrm>
          </p:grpSpPr>
          <p:sp>
            <p:nvSpPr>
              <p:cNvPr id="15" name="矩形 14"/>
              <p:cNvSpPr/>
              <p:nvPr/>
            </p:nvSpPr>
            <p:spPr>
              <a:xfrm>
                <a:off x="3044723" y="1485276"/>
                <a:ext cx="66567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版本</a:t>
                </a:r>
              </a:p>
            </p:txBody>
          </p:sp>
          <p:sp>
            <p:nvSpPr>
              <p:cNvPr id="16" name="矩形 15"/>
              <p:cNvSpPr/>
              <p:nvPr/>
            </p:nvSpPr>
            <p:spPr>
              <a:xfrm>
                <a:off x="3710402" y="1485276"/>
                <a:ext cx="132705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流量类型</a:t>
                </a:r>
              </a:p>
            </p:txBody>
          </p:sp>
          <p:sp>
            <p:nvSpPr>
              <p:cNvPr id="17" name="矩形 16"/>
              <p:cNvSpPr/>
              <p:nvPr/>
            </p:nvSpPr>
            <p:spPr>
              <a:xfrm>
                <a:off x="5037451" y="1485276"/>
                <a:ext cx="309024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流标签</a:t>
                </a:r>
              </a:p>
            </p:txBody>
          </p:sp>
          <p:sp>
            <p:nvSpPr>
              <p:cNvPr id="18" name="矩形 17"/>
              <p:cNvSpPr/>
              <p:nvPr/>
            </p:nvSpPr>
            <p:spPr>
              <a:xfrm>
                <a:off x="3044722" y="1854553"/>
                <a:ext cx="2479663"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有效载荷长度</a:t>
                </a:r>
              </a:p>
            </p:txBody>
          </p:sp>
          <p:sp>
            <p:nvSpPr>
              <p:cNvPr id="19" name="矩形 18"/>
              <p:cNvSpPr/>
              <p:nvPr/>
            </p:nvSpPr>
            <p:spPr>
              <a:xfrm>
                <a:off x="5524385" y="1854553"/>
                <a:ext cx="12035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下一个首部</a:t>
                </a:r>
              </a:p>
            </p:txBody>
          </p:sp>
          <p:sp>
            <p:nvSpPr>
              <p:cNvPr id="20" name="矩形 19"/>
              <p:cNvSpPr/>
              <p:nvPr/>
            </p:nvSpPr>
            <p:spPr>
              <a:xfrm>
                <a:off x="6721863" y="1854553"/>
                <a:ext cx="1405835"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跳数限制</a:t>
                </a:r>
              </a:p>
            </p:txBody>
          </p:sp>
          <p:sp>
            <p:nvSpPr>
              <p:cNvPr id="21" name="矩形 20"/>
              <p:cNvSpPr/>
              <p:nvPr/>
            </p:nvSpPr>
            <p:spPr>
              <a:xfrm>
                <a:off x="3044722" y="2867025"/>
                <a:ext cx="5088344" cy="723899"/>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endParaRPr lang="en-US" altLang="zh-CN" b="1" dirty="0">
                  <a:solidFill>
                    <a:schemeClr val="tx1"/>
                  </a:solidFill>
                </a:endParaRPr>
              </a:p>
              <a:p>
                <a:pPr algn="ctr"/>
                <a:r>
                  <a:rPr lang="zh-CN" altLang="en-US" b="1" dirty="0">
                    <a:solidFill>
                      <a:schemeClr val="tx1"/>
                    </a:solidFill>
                  </a:rPr>
                  <a:t>（</a:t>
                </a:r>
                <a:r>
                  <a:rPr lang="en-US" altLang="zh-CN" b="1" dirty="0">
                    <a:solidFill>
                      <a:schemeClr val="tx1"/>
                    </a:solidFill>
                  </a:rPr>
                  <a:t>128</a:t>
                </a:r>
                <a:r>
                  <a:rPr lang="zh-CN" altLang="en-US" b="1" dirty="0">
                    <a:solidFill>
                      <a:schemeClr val="tx1"/>
                    </a:solidFill>
                  </a:rPr>
                  <a:t>位）</a:t>
                </a:r>
              </a:p>
            </p:txBody>
          </p:sp>
          <p:sp>
            <p:nvSpPr>
              <p:cNvPr id="22" name="矩形 21"/>
              <p:cNvSpPr/>
              <p:nvPr/>
            </p:nvSpPr>
            <p:spPr>
              <a:xfrm>
                <a:off x="3044722" y="2223830"/>
                <a:ext cx="5088344" cy="645393"/>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2060"/>
                    </a:solidFill>
                  </a:rPr>
                  <a:t>源地址</a:t>
                </a:r>
                <a:endParaRPr lang="en-US" altLang="zh-CN" b="1" dirty="0">
                  <a:solidFill>
                    <a:srgbClr val="002060"/>
                  </a:solidFill>
                </a:endParaRPr>
              </a:p>
              <a:p>
                <a:pPr algn="ctr"/>
                <a:r>
                  <a:rPr lang="zh-CN" altLang="en-US" b="1" dirty="0">
                    <a:solidFill>
                      <a:srgbClr val="002060"/>
                    </a:solidFill>
                  </a:rPr>
                  <a:t>（</a:t>
                </a:r>
                <a:r>
                  <a:rPr lang="en-US" altLang="zh-CN" b="1" dirty="0">
                    <a:solidFill>
                      <a:srgbClr val="002060"/>
                    </a:solidFill>
                  </a:rPr>
                  <a:t>128</a:t>
                </a:r>
                <a:r>
                  <a:rPr lang="zh-CN" altLang="en-US" b="1" dirty="0">
                    <a:solidFill>
                      <a:srgbClr val="002060"/>
                    </a:solidFill>
                  </a:rPr>
                  <a:t>位）</a:t>
                </a:r>
              </a:p>
            </p:txBody>
          </p:sp>
        </p:grpSp>
        <p:grpSp>
          <p:nvGrpSpPr>
            <p:cNvPr id="8" name="组合 54"/>
            <p:cNvGrpSpPr/>
            <p:nvPr/>
          </p:nvGrpSpPr>
          <p:grpSpPr>
            <a:xfrm>
              <a:off x="6502297" y="1597242"/>
              <a:ext cx="5082976" cy="422040"/>
              <a:chOff x="6502297" y="1597242"/>
              <a:chExt cx="5082976" cy="422040"/>
            </a:xfrm>
          </p:grpSpPr>
          <p:cxnSp>
            <p:nvCxnSpPr>
              <p:cNvPr id="9" name="直接连接符 8"/>
              <p:cNvCxnSpPr/>
              <p:nvPr/>
            </p:nvCxnSpPr>
            <p:spPr>
              <a:xfrm rot="5400000">
                <a:off x="6301728" y="1797811"/>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rot="5400000">
                <a:off x="11383257" y="1817266"/>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箭头连接符 11"/>
              <p:cNvCxnSpPr/>
              <p:nvPr/>
            </p:nvCxnSpPr>
            <p:spPr>
              <a:xfrm rot="10800000">
                <a:off x="6502300" y="1819215"/>
                <a:ext cx="2108201"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 name="TextBox 28"/>
              <p:cNvSpPr txBox="1"/>
              <p:nvPr/>
            </p:nvSpPr>
            <p:spPr>
              <a:xfrm>
                <a:off x="8273560" y="1621984"/>
                <a:ext cx="1562197" cy="318043"/>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 bit</a:t>
                </a:r>
                <a:endParaRPr lang="zh-CN" altLang="en-US" sz="2000" b="1" dirty="0">
                  <a:solidFill>
                    <a:srgbClr val="C00000"/>
                  </a:solidFill>
                  <a:latin typeface="Arial" pitchFamily="34" charset="0"/>
                  <a:ea typeface="黑体" pitchFamily="2" charset="-122"/>
                </a:endParaRPr>
              </a:p>
            </p:txBody>
          </p:sp>
          <p:cxnSp>
            <p:nvCxnSpPr>
              <p:cNvPr id="14" name="直接箭头连接符 13"/>
              <p:cNvCxnSpPr/>
              <p:nvPr/>
            </p:nvCxnSpPr>
            <p:spPr>
              <a:xfrm>
                <a:off x="9528320" y="1819214"/>
                <a:ext cx="2055505"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3" name="内容占位符 2">
            <a:extLst>
              <a:ext uri="{FF2B5EF4-FFF2-40B4-BE49-F238E27FC236}">
                <a16:creationId xmlns:a16="http://schemas.microsoft.com/office/drawing/2014/main" id="{F088ADF8-202B-CD4A-A707-9886A69D1A4C}"/>
              </a:ext>
            </a:extLst>
          </p:cNvPr>
          <p:cNvSpPr txBox="1">
            <a:spLocks/>
          </p:cNvSpPr>
          <p:nvPr/>
        </p:nvSpPr>
        <p:spPr>
          <a:xfrm>
            <a:off x="651640" y="1463318"/>
            <a:ext cx="11109435" cy="138960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lvl="1">
              <a:buFont typeface="Wingdings" pitchFamily="2" charset="2"/>
              <a:buChar char="Ø"/>
            </a:pPr>
            <a:r>
              <a:rPr lang="zh-CN" altLang="en-US" dirty="0"/>
              <a:t>版本：</a:t>
            </a:r>
            <a:r>
              <a:rPr lang="en-US" altLang="zh-CN" dirty="0"/>
              <a:t>4bit</a:t>
            </a:r>
            <a:r>
              <a:rPr lang="zh-CN" altLang="en-US" dirty="0"/>
              <a:t>，协议版本号，值为</a:t>
            </a:r>
            <a:r>
              <a:rPr lang="en-US" altLang="zh-CN" dirty="0"/>
              <a:t>6</a:t>
            </a:r>
          </a:p>
          <a:p>
            <a:pPr marL="228600" lvl="1">
              <a:buFont typeface="Wingdings" pitchFamily="2" charset="2"/>
              <a:buChar char="Ø"/>
            </a:pPr>
            <a:r>
              <a:rPr lang="zh-CN" altLang="en-US" dirty="0"/>
              <a:t>流量类型：</a:t>
            </a:r>
            <a:r>
              <a:rPr lang="en-US" altLang="zh-CN" dirty="0"/>
              <a:t>8bit</a:t>
            </a:r>
            <a:r>
              <a:rPr lang="zh-CN" altLang="en-US" dirty="0"/>
              <a:t>，区分数据包的服务类别或优先级</a:t>
            </a:r>
            <a:endParaRPr lang="en-US" altLang="zh-CN" dirty="0"/>
          </a:p>
          <a:p>
            <a:pPr marL="228600" lvl="1">
              <a:buFont typeface="Wingdings" pitchFamily="2" charset="2"/>
              <a:buChar char="Ø"/>
            </a:pPr>
            <a:r>
              <a:rPr lang="zh-CN" altLang="en-US" dirty="0"/>
              <a:t>流标签：</a:t>
            </a:r>
            <a:r>
              <a:rPr lang="en-US" altLang="zh-CN" dirty="0"/>
              <a:t>20bit</a:t>
            </a:r>
            <a:r>
              <a:rPr lang="zh-CN" altLang="en-US" dirty="0"/>
              <a:t>，标识同一个数据流</a:t>
            </a:r>
            <a:endParaRPr lang="en-US" altLang="zh-CN" dirty="0"/>
          </a:p>
          <a:p>
            <a:pPr marL="228600" lvl="1">
              <a:buFont typeface="Wingdings" pitchFamily="2" charset="2"/>
              <a:buChar char="Ø"/>
            </a:pPr>
            <a:r>
              <a:rPr lang="zh-CN" altLang="en-US" dirty="0"/>
              <a:t>有效载荷长度：</a:t>
            </a:r>
            <a:r>
              <a:rPr lang="en-US" altLang="zh-CN" dirty="0"/>
              <a:t>16bit</a:t>
            </a:r>
            <a:r>
              <a:rPr lang="zh-CN" altLang="en-US" dirty="0"/>
              <a:t> ，</a:t>
            </a:r>
            <a:r>
              <a:rPr lang="en-US" altLang="zh-CN" dirty="0"/>
              <a:t>IPv6</a:t>
            </a:r>
            <a:r>
              <a:rPr lang="zh-CN" altLang="en-US" dirty="0"/>
              <a:t>报头之后载荷的字节数（含扩展头），最大值</a:t>
            </a:r>
            <a:r>
              <a:rPr lang="en-US" altLang="zh-CN" dirty="0"/>
              <a:t>64K</a:t>
            </a:r>
          </a:p>
          <a:p>
            <a:pPr marL="228600" lvl="1">
              <a:buFont typeface="Wingdings" pitchFamily="2" charset="2"/>
              <a:buChar char="Ø"/>
            </a:pPr>
            <a:endParaRPr lang="zh-CN" altLang="en-US" dirty="0"/>
          </a:p>
        </p:txBody>
      </p:sp>
      <p:sp>
        <p:nvSpPr>
          <p:cNvPr id="24" name="日期占位符 3"/>
          <p:cNvSpPr>
            <a:spLocks noGrp="1"/>
          </p:cNvSpPr>
          <p:nvPr>
            <p:ph type="dt" sz="half" idx="10"/>
          </p:nvPr>
        </p:nvSpPr>
        <p:spPr>
          <a:xfrm>
            <a:off x="197335" y="6489303"/>
            <a:ext cx="2743200" cy="365125"/>
          </a:xfrm>
        </p:spPr>
        <p:txBody>
          <a:bodyPr/>
          <a:lstStyle/>
          <a:p>
            <a:r>
              <a:rPr kumimoji="1" lang="en-US" altLang="zh-CN" dirty="0"/>
              <a:t>5.9 IPv6</a:t>
            </a:r>
            <a:r>
              <a:rPr kumimoji="1" lang="zh-CN" altLang="en-US" dirty="0"/>
              <a:t>技术</a:t>
            </a:r>
          </a:p>
        </p:txBody>
      </p:sp>
      <p:pic>
        <p:nvPicPr>
          <p:cNvPr id="25" name="Picture 28" descr="015">
            <a:extLst>
              <a:ext uri="{FF2B5EF4-FFF2-40B4-BE49-F238E27FC236}">
                <a16:creationId xmlns:a16="http://schemas.microsoft.com/office/drawing/2014/main" id="{D9C03D92-3275-45B5-A7FA-9055637BBEA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9970034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头部</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205</a:t>
            </a:fld>
            <a:endParaRPr kumimoji="1" lang="zh-CN" altLang="en-US" dirty="0"/>
          </a:p>
        </p:txBody>
      </p:sp>
      <p:grpSp>
        <p:nvGrpSpPr>
          <p:cNvPr id="6" name="组合 5"/>
          <p:cNvGrpSpPr/>
          <p:nvPr/>
        </p:nvGrpSpPr>
        <p:grpSpPr>
          <a:xfrm>
            <a:off x="3194472" y="3410824"/>
            <a:ext cx="6191266" cy="3179162"/>
            <a:chOff x="6502297" y="1597242"/>
            <a:chExt cx="5088344" cy="2527084"/>
          </a:xfrm>
        </p:grpSpPr>
        <p:grpSp>
          <p:nvGrpSpPr>
            <p:cNvPr id="7" name="组合 30"/>
            <p:cNvGrpSpPr/>
            <p:nvPr/>
          </p:nvGrpSpPr>
          <p:grpSpPr>
            <a:xfrm>
              <a:off x="6502297" y="2018678"/>
              <a:ext cx="5088344" cy="2105648"/>
              <a:chOff x="3044722" y="1485276"/>
              <a:chExt cx="5088344" cy="2105648"/>
            </a:xfrm>
          </p:grpSpPr>
          <p:sp>
            <p:nvSpPr>
              <p:cNvPr id="15" name="矩形 14"/>
              <p:cNvSpPr/>
              <p:nvPr/>
            </p:nvSpPr>
            <p:spPr>
              <a:xfrm>
                <a:off x="3044723" y="1485276"/>
                <a:ext cx="66567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版本</a:t>
                </a:r>
              </a:p>
            </p:txBody>
          </p:sp>
          <p:sp>
            <p:nvSpPr>
              <p:cNvPr id="16" name="矩形 15"/>
              <p:cNvSpPr/>
              <p:nvPr/>
            </p:nvSpPr>
            <p:spPr>
              <a:xfrm>
                <a:off x="3710402" y="1485276"/>
                <a:ext cx="132705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流量类型</a:t>
                </a:r>
              </a:p>
            </p:txBody>
          </p:sp>
          <p:sp>
            <p:nvSpPr>
              <p:cNvPr id="17" name="矩形 16"/>
              <p:cNvSpPr/>
              <p:nvPr/>
            </p:nvSpPr>
            <p:spPr>
              <a:xfrm>
                <a:off x="5037451" y="1485276"/>
                <a:ext cx="309024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流标签</a:t>
                </a:r>
              </a:p>
            </p:txBody>
          </p:sp>
          <p:sp>
            <p:nvSpPr>
              <p:cNvPr id="18" name="矩形 17"/>
              <p:cNvSpPr/>
              <p:nvPr/>
            </p:nvSpPr>
            <p:spPr>
              <a:xfrm>
                <a:off x="3044722" y="1854553"/>
                <a:ext cx="2479663"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有效载荷长度</a:t>
                </a:r>
              </a:p>
            </p:txBody>
          </p:sp>
          <p:sp>
            <p:nvSpPr>
              <p:cNvPr id="19" name="矩形 18"/>
              <p:cNvSpPr/>
              <p:nvPr/>
            </p:nvSpPr>
            <p:spPr>
              <a:xfrm>
                <a:off x="5524385" y="1854553"/>
                <a:ext cx="12035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下一个首部</a:t>
                </a:r>
              </a:p>
            </p:txBody>
          </p:sp>
          <p:sp>
            <p:nvSpPr>
              <p:cNvPr id="20" name="矩形 19"/>
              <p:cNvSpPr/>
              <p:nvPr/>
            </p:nvSpPr>
            <p:spPr>
              <a:xfrm>
                <a:off x="6721863" y="1854553"/>
                <a:ext cx="1405835"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跳数限制</a:t>
                </a:r>
              </a:p>
            </p:txBody>
          </p:sp>
          <p:sp>
            <p:nvSpPr>
              <p:cNvPr id="21" name="矩形 20"/>
              <p:cNvSpPr/>
              <p:nvPr/>
            </p:nvSpPr>
            <p:spPr>
              <a:xfrm>
                <a:off x="3044722" y="2867025"/>
                <a:ext cx="5088344" cy="723899"/>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endParaRPr lang="en-US" altLang="zh-CN" b="1" dirty="0">
                  <a:solidFill>
                    <a:schemeClr val="tx1"/>
                  </a:solidFill>
                </a:endParaRPr>
              </a:p>
              <a:p>
                <a:pPr algn="ctr"/>
                <a:r>
                  <a:rPr lang="zh-CN" altLang="en-US" b="1" dirty="0">
                    <a:solidFill>
                      <a:schemeClr val="tx1"/>
                    </a:solidFill>
                  </a:rPr>
                  <a:t>（</a:t>
                </a:r>
                <a:r>
                  <a:rPr lang="en-US" altLang="zh-CN" b="1" dirty="0">
                    <a:solidFill>
                      <a:schemeClr val="tx1"/>
                    </a:solidFill>
                  </a:rPr>
                  <a:t>128</a:t>
                </a:r>
                <a:r>
                  <a:rPr lang="zh-CN" altLang="en-US" b="1" dirty="0">
                    <a:solidFill>
                      <a:schemeClr val="tx1"/>
                    </a:solidFill>
                  </a:rPr>
                  <a:t>位）</a:t>
                </a:r>
              </a:p>
            </p:txBody>
          </p:sp>
          <p:sp>
            <p:nvSpPr>
              <p:cNvPr id="22" name="矩形 21"/>
              <p:cNvSpPr/>
              <p:nvPr/>
            </p:nvSpPr>
            <p:spPr>
              <a:xfrm>
                <a:off x="3044722" y="2223830"/>
                <a:ext cx="5088344" cy="645393"/>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2060"/>
                    </a:solidFill>
                  </a:rPr>
                  <a:t>源地址</a:t>
                </a:r>
                <a:endParaRPr lang="en-US" altLang="zh-CN" b="1" dirty="0">
                  <a:solidFill>
                    <a:srgbClr val="002060"/>
                  </a:solidFill>
                </a:endParaRPr>
              </a:p>
              <a:p>
                <a:pPr algn="ctr"/>
                <a:r>
                  <a:rPr lang="zh-CN" altLang="en-US" b="1" dirty="0">
                    <a:solidFill>
                      <a:srgbClr val="002060"/>
                    </a:solidFill>
                  </a:rPr>
                  <a:t>（</a:t>
                </a:r>
                <a:r>
                  <a:rPr lang="en-US" altLang="zh-CN" b="1" dirty="0">
                    <a:solidFill>
                      <a:srgbClr val="002060"/>
                    </a:solidFill>
                  </a:rPr>
                  <a:t>128</a:t>
                </a:r>
                <a:r>
                  <a:rPr lang="zh-CN" altLang="en-US" b="1" dirty="0">
                    <a:solidFill>
                      <a:srgbClr val="002060"/>
                    </a:solidFill>
                  </a:rPr>
                  <a:t>位）</a:t>
                </a:r>
              </a:p>
            </p:txBody>
          </p:sp>
        </p:grpSp>
        <p:grpSp>
          <p:nvGrpSpPr>
            <p:cNvPr id="8" name="组合 54"/>
            <p:cNvGrpSpPr/>
            <p:nvPr/>
          </p:nvGrpSpPr>
          <p:grpSpPr>
            <a:xfrm>
              <a:off x="6502297" y="1597242"/>
              <a:ext cx="5082976" cy="422040"/>
              <a:chOff x="6502297" y="1597242"/>
              <a:chExt cx="5082976" cy="422040"/>
            </a:xfrm>
          </p:grpSpPr>
          <p:cxnSp>
            <p:nvCxnSpPr>
              <p:cNvPr id="9" name="直接连接符 8"/>
              <p:cNvCxnSpPr/>
              <p:nvPr/>
            </p:nvCxnSpPr>
            <p:spPr>
              <a:xfrm rot="5400000">
                <a:off x="6301728" y="1797811"/>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rot="5400000">
                <a:off x="11383257" y="1817266"/>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箭头连接符 11"/>
              <p:cNvCxnSpPr/>
              <p:nvPr/>
            </p:nvCxnSpPr>
            <p:spPr>
              <a:xfrm rot="10800000">
                <a:off x="6502300" y="1819215"/>
                <a:ext cx="2108201"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 name="TextBox 28"/>
              <p:cNvSpPr txBox="1"/>
              <p:nvPr/>
            </p:nvSpPr>
            <p:spPr>
              <a:xfrm>
                <a:off x="8273560" y="1621984"/>
                <a:ext cx="1562197" cy="318043"/>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 bit</a:t>
                </a:r>
                <a:endParaRPr lang="zh-CN" altLang="en-US" sz="2000" b="1" dirty="0">
                  <a:solidFill>
                    <a:srgbClr val="C00000"/>
                  </a:solidFill>
                  <a:latin typeface="Arial" pitchFamily="34" charset="0"/>
                  <a:ea typeface="黑体" pitchFamily="2" charset="-122"/>
                </a:endParaRPr>
              </a:p>
            </p:txBody>
          </p:sp>
          <p:cxnSp>
            <p:nvCxnSpPr>
              <p:cNvPr id="14" name="直接箭头连接符 13"/>
              <p:cNvCxnSpPr/>
              <p:nvPr/>
            </p:nvCxnSpPr>
            <p:spPr>
              <a:xfrm>
                <a:off x="9528320" y="1819214"/>
                <a:ext cx="2055505"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3" name="内容占位符 2">
            <a:extLst>
              <a:ext uri="{FF2B5EF4-FFF2-40B4-BE49-F238E27FC236}">
                <a16:creationId xmlns:a16="http://schemas.microsoft.com/office/drawing/2014/main" id="{F088ADF8-202B-CD4A-A707-9886A69D1A4C}"/>
              </a:ext>
            </a:extLst>
          </p:cNvPr>
          <p:cNvSpPr txBox="1">
            <a:spLocks/>
          </p:cNvSpPr>
          <p:nvPr/>
        </p:nvSpPr>
        <p:spPr>
          <a:xfrm>
            <a:off x="651640" y="1295158"/>
            <a:ext cx="11109435" cy="138960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lvl="1">
              <a:buFont typeface="Wingdings" pitchFamily="2" charset="2"/>
              <a:buChar char="Ø"/>
            </a:pPr>
            <a:r>
              <a:rPr lang="zh-CN" altLang="en-US" dirty="0"/>
              <a:t>下一个首部：</a:t>
            </a:r>
            <a:r>
              <a:rPr lang="en-US" altLang="zh-CN" dirty="0"/>
              <a:t>8bit </a:t>
            </a:r>
            <a:r>
              <a:rPr lang="zh-CN" altLang="en-US" dirty="0"/>
              <a:t>，</a:t>
            </a:r>
            <a:r>
              <a:rPr lang="en-US" altLang="zh-CN" dirty="0"/>
              <a:t>IPv6</a:t>
            </a:r>
            <a:r>
              <a:rPr lang="zh-CN" altLang="en-US" dirty="0"/>
              <a:t>报头后的协议类型，可能是</a:t>
            </a:r>
            <a:r>
              <a:rPr lang="en-US" altLang="zh-CN" dirty="0"/>
              <a:t>TCP/UDP/ICMP</a:t>
            </a:r>
            <a:r>
              <a:rPr lang="zh-CN" altLang="en-US" dirty="0"/>
              <a:t>等，也可能是扩展头</a:t>
            </a:r>
          </a:p>
          <a:p>
            <a:pPr marL="228600" lvl="1">
              <a:buFont typeface="Wingdings" pitchFamily="2" charset="2"/>
              <a:buChar char="Ø"/>
            </a:pPr>
            <a:r>
              <a:rPr lang="zh-CN" altLang="en-US" dirty="0"/>
              <a:t>跳数限制：</a:t>
            </a:r>
            <a:r>
              <a:rPr lang="en-US" altLang="zh-CN" dirty="0"/>
              <a:t>8bit </a:t>
            </a:r>
            <a:r>
              <a:rPr lang="zh-CN" altLang="en-US" dirty="0"/>
              <a:t>，类似</a:t>
            </a:r>
            <a:r>
              <a:rPr lang="en-US" altLang="zh-CN" dirty="0"/>
              <a:t>IPv4</a:t>
            </a:r>
            <a:r>
              <a:rPr lang="zh-CN" altLang="en-US" dirty="0"/>
              <a:t>的</a:t>
            </a:r>
            <a:r>
              <a:rPr lang="en-US" altLang="zh-CN" dirty="0"/>
              <a:t>TTL</a:t>
            </a:r>
            <a:r>
              <a:rPr lang="zh-CN" altLang="en-US" dirty="0"/>
              <a:t>，每次转发跳数减</a:t>
            </a:r>
            <a:r>
              <a:rPr lang="en-US" altLang="zh-CN" dirty="0"/>
              <a:t>1</a:t>
            </a:r>
            <a:r>
              <a:rPr lang="zh-CN" altLang="en-US" dirty="0"/>
              <a:t>，值为</a:t>
            </a:r>
            <a:r>
              <a:rPr lang="en-US" altLang="zh-CN" dirty="0"/>
              <a:t>0</a:t>
            </a:r>
            <a:r>
              <a:rPr lang="zh-CN" altLang="en-US" dirty="0"/>
              <a:t>时包将会被丢弃</a:t>
            </a:r>
          </a:p>
          <a:p>
            <a:pPr marL="228600" lvl="1">
              <a:buFont typeface="Wingdings" pitchFamily="2" charset="2"/>
              <a:buChar char="Ø"/>
            </a:pPr>
            <a:r>
              <a:rPr lang="zh-CN" altLang="en-US" dirty="0"/>
              <a:t>源地址： </a:t>
            </a:r>
            <a:r>
              <a:rPr lang="en-US" altLang="zh-CN" dirty="0"/>
              <a:t>128bit </a:t>
            </a:r>
            <a:r>
              <a:rPr lang="zh-CN" altLang="en-US" dirty="0"/>
              <a:t>，标识该报文的源地址</a:t>
            </a:r>
          </a:p>
          <a:p>
            <a:pPr marL="228600" lvl="1">
              <a:buFont typeface="Wingdings" pitchFamily="2" charset="2"/>
              <a:buChar char="Ø"/>
            </a:pPr>
            <a:r>
              <a:rPr lang="zh-CN" altLang="en-US" dirty="0"/>
              <a:t>目的地址： </a:t>
            </a:r>
            <a:r>
              <a:rPr lang="en-US" altLang="zh-CN" dirty="0"/>
              <a:t>128bit </a:t>
            </a:r>
            <a:r>
              <a:rPr lang="zh-CN" altLang="en-US" dirty="0"/>
              <a:t>，标识该报文的目的地址</a:t>
            </a:r>
          </a:p>
          <a:p>
            <a:pPr marL="0" lvl="1" indent="0">
              <a:buNone/>
            </a:pPr>
            <a:endParaRPr lang="zh-CN" altLang="en-US" dirty="0"/>
          </a:p>
        </p:txBody>
      </p:sp>
      <p:sp>
        <p:nvSpPr>
          <p:cNvPr id="24" name="日期占位符 3"/>
          <p:cNvSpPr>
            <a:spLocks noGrp="1"/>
          </p:cNvSpPr>
          <p:nvPr>
            <p:ph type="dt" sz="half" idx="10"/>
          </p:nvPr>
        </p:nvSpPr>
        <p:spPr>
          <a:xfrm>
            <a:off x="197335" y="6489303"/>
            <a:ext cx="2743200" cy="365125"/>
          </a:xfrm>
        </p:spPr>
        <p:txBody>
          <a:bodyPr/>
          <a:lstStyle/>
          <a:p>
            <a:r>
              <a:rPr kumimoji="1" lang="en-US" altLang="zh-CN" dirty="0"/>
              <a:t>5.9 IPv6</a:t>
            </a:r>
            <a:r>
              <a:rPr kumimoji="1" lang="zh-CN" altLang="en-US" dirty="0"/>
              <a:t>技术</a:t>
            </a:r>
          </a:p>
        </p:txBody>
      </p:sp>
      <p:pic>
        <p:nvPicPr>
          <p:cNvPr id="25" name="Picture 28" descr="015">
            <a:extLst>
              <a:ext uri="{FF2B5EF4-FFF2-40B4-BE49-F238E27FC236}">
                <a16:creationId xmlns:a16="http://schemas.microsoft.com/office/drawing/2014/main" id="{429B00C5-BD4F-4699-BF0A-AB965F6372D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3341839"/>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头部字段分析</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206</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767254" y="1414584"/>
            <a:ext cx="10930759"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头部长度固定</a:t>
            </a:r>
            <a:r>
              <a:rPr lang="en-US" altLang="zh-CN" sz="2600" dirty="0">
                <a:latin typeface="微软雅黑" panose="020B0503020204020204" pitchFamily="34" charset="-122"/>
                <a:ea typeface="微软雅黑" panose="020B0503020204020204" pitchFamily="34" charset="-122"/>
              </a:rPr>
              <a:t>40</a:t>
            </a:r>
            <a:r>
              <a:rPr lang="zh-CN" altLang="en-US" sz="2600" dirty="0">
                <a:latin typeface="微软雅黑" panose="020B0503020204020204" pitchFamily="34" charset="-122"/>
                <a:ea typeface="微软雅黑" panose="020B0503020204020204" pitchFamily="34" charset="-122"/>
              </a:rPr>
              <a:t>字节，所有“选项”字段都在</a:t>
            </a: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扩展头部分</a:t>
            </a:r>
            <a:endParaRPr lang="en-US" altLang="zh-CN" sz="2600" dirty="0">
              <a:latin typeface="微软雅黑" panose="020B0503020204020204" pitchFamily="34" charset="-122"/>
              <a:ea typeface="微软雅黑" panose="020B0503020204020204" pitchFamily="34" charset="-122"/>
            </a:endParaRPr>
          </a:p>
          <a:p>
            <a:pPr algn="just">
              <a:lnSpc>
                <a:spcPct val="120000"/>
              </a:lnSpc>
            </a:pPr>
            <a:r>
              <a:rPr lang="zh-CN" altLang="en-US" sz="2600" dirty="0">
                <a:latin typeface="微软雅黑" panose="020B0503020204020204" pitchFamily="34" charset="-122"/>
                <a:ea typeface="微软雅黑" panose="020B0503020204020204" pitchFamily="34" charset="-122"/>
              </a:rPr>
              <a:t>与</a:t>
            </a:r>
            <a:r>
              <a:rPr lang="en-US" altLang="zh-CN" sz="2600" dirty="0">
                <a:latin typeface="微软雅黑" panose="020B0503020204020204" pitchFamily="34" charset="-122"/>
                <a:ea typeface="微软雅黑" panose="020B0503020204020204" pitchFamily="34" charset="-122"/>
              </a:rPr>
              <a:t>IPv4</a:t>
            </a:r>
            <a:r>
              <a:rPr lang="zh-CN" altLang="en-US" sz="2600" dirty="0">
                <a:latin typeface="微软雅黑" panose="020B0503020204020204" pitchFamily="34" charset="-122"/>
                <a:ea typeface="微软雅黑" panose="020B0503020204020204" pitchFamily="34" charset="-122"/>
              </a:rPr>
              <a:t>头部的比较</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去除“首部长度”（首部长度固定为</a:t>
            </a:r>
            <a:r>
              <a:rPr lang="en-US" altLang="zh-CN" dirty="0">
                <a:latin typeface="微软雅黑" panose="020B0503020204020204" pitchFamily="34" charset="-122"/>
                <a:ea typeface="微软雅黑" panose="020B0503020204020204" pitchFamily="34" charset="-122"/>
              </a:rPr>
              <a:t>40</a:t>
            </a:r>
            <a:r>
              <a:rPr lang="zh-CN" altLang="en-US" dirty="0">
                <a:latin typeface="微软雅黑" panose="020B0503020204020204" pitchFamily="34" charset="-122"/>
                <a:ea typeface="微软雅黑" panose="020B0503020204020204" pitchFamily="34" charset="-122"/>
              </a:rPr>
              <a:t>字节）</a:t>
            </a:r>
            <a:endParaRPr lang="en-US" altLang="zh-CN"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去除“首部校验和”（传输层校验会涉及</a:t>
            </a:r>
            <a:r>
              <a:rPr lang="zh-CN" altLang="en-US" dirty="0"/>
              <a:t>伪头部信息</a:t>
            </a:r>
            <a:r>
              <a:rPr lang="zh-CN" altLang="en-US" dirty="0">
                <a:latin typeface="微软雅黑" panose="020B0503020204020204" pitchFamily="34" charset="-122"/>
                <a:ea typeface="微软雅黑" panose="020B0503020204020204" pitchFamily="34" charset="-122"/>
              </a:rPr>
              <a:t>），提升转发速度</a:t>
            </a:r>
            <a:endParaRPr lang="en-US" altLang="zh-CN"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去除分片字段：“标识”“标志”“片偏移”，移至扩展头（分段头）</a:t>
            </a:r>
            <a:endParaRPr lang="en-US" altLang="zh-CN" dirty="0">
              <a:latin typeface="微软雅黑" panose="020B0503020204020204" pitchFamily="34" charset="-122"/>
              <a:ea typeface="微软雅黑" panose="020B0503020204020204" pitchFamily="34" charset="-122"/>
            </a:endParaRPr>
          </a:p>
          <a:p>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分片机制</a:t>
            </a:r>
            <a:endParaRPr lang="en-US" altLang="zh-CN" sz="2600" dirty="0">
              <a:latin typeface="微软雅黑" panose="020B0503020204020204" pitchFamily="34" charset="-122"/>
              <a:ea typeface="微软雅黑" panose="020B0503020204020204" pitchFamily="34" charset="-122"/>
            </a:endParaRPr>
          </a:p>
          <a:p>
            <a:pPr lvl="1"/>
            <a:r>
              <a:rPr lang="en-US" altLang="zh-CN" dirty="0">
                <a:latin typeface="微软雅黑" panose="020B0503020204020204" pitchFamily="34" charset="-122"/>
                <a:ea typeface="微软雅黑" panose="020B0503020204020204" pitchFamily="34" charset="-122"/>
              </a:rPr>
              <a:t>IPv6</a:t>
            </a:r>
            <a:r>
              <a:rPr lang="zh-CN" altLang="en-US" dirty="0">
                <a:latin typeface="微软雅黑" panose="020B0503020204020204" pitchFamily="34" charset="-122"/>
                <a:ea typeface="微软雅黑" panose="020B0503020204020204" pitchFamily="34" charset="-122"/>
              </a:rPr>
              <a:t>分组</a:t>
            </a:r>
            <a:r>
              <a:rPr lang="zh-CN" altLang="en-US" dirty="0">
                <a:solidFill>
                  <a:srgbClr val="C00000"/>
                </a:solidFill>
                <a:latin typeface="微软雅黑" panose="020B0503020204020204" pitchFamily="34" charset="-122"/>
                <a:ea typeface="微软雅黑" panose="020B0503020204020204" pitchFamily="34" charset="-122"/>
              </a:rPr>
              <a:t>不能在传输途中分片</a:t>
            </a:r>
            <a:r>
              <a:rPr lang="zh-CN" altLang="en-US" dirty="0">
                <a:latin typeface="微软雅黑" panose="020B0503020204020204" pitchFamily="34" charset="-122"/>
                <a:ea typeface="微软雅黑" panose="020B0503020204020204" pitchFamily="34" charset="-122"/>
              </a:rPr>
              <a:t>，</a:t>
            </a:r>
            <a:r>
              <a:rPr lang="zh-CN" altLang="en-US" dirty="0"/>
              <a:t>只在源端进行分片</a:t>
            </a:r>
            <a:endParaRPr lang="en-US" altLang="zh-CN" dirty="0"/>
          </a:p>
          <a:p>
            <a:pPr lvl="1"/>
            <a:r>
              <a:rPr lang="en-US" altLang="zh-CN" dirty="0"/>
              <a:t>IPv6</a:t>
            </a:r>
            <a:r>
              <a:rPr lang="zh-CN" altLang="en-US" dirty="0"/>
              <a:t>设计了专门的分片扩展头，分片字段不存在基本</a:t>
            </a:r>
            <a:r>
              <a:rPr lang="en-US" altLang="zh-CN" dirty="0"/>
              <a:t>IPv6</a:t>
            </a:r>
            <a:r>
              <a:rPr lang="zh-CN" altLang="en-US" dirty="0"/>
              <a:t>头部中</a:t>
            </a:r>
            <a:endParaRPr lang="en-US" altLang="zh-CN" dirty="0"/>
          </a:p>
          <a:p>
            <a:pPr lvl="1"/>
            <a:r>
              <a:rPr lang="en-US" altLang="zh-CN" dirty="0"/>
              <a:t>IPv6</a:t>
            </a:r>
            <a:r>
              <a:rPr lang="zh-CN" altLang="en-US" dirty="0"/>
              <a:t>支持</a:t>
            </a:r>
            <a:r>
              <a:rPr lang="en-US" altLang="zh-CN" dirty="0"/>
              <a:t>Path MTU</a:t>
            </a:r>
            <a:r>
              <a:rPr lang="zh-CN" altLang="en-US" dirty="0"/>
              <a:t>发现机制</a:t>
            </a:r>
            <a:endParaRPr lang="en-US" altLang="zh-CN" dirty="0"/>
          </a:p>
          <a:p>
            <a:pPr marL="0" indent="0" algn="just">
              <a:lnSpc>
                <a:spcPct val="120000"/>
              </a:lnSpc>
              <a:buNone/>
            </a:pPr>
            <a:endParaRPr lang="en-US" altLang="zh-CN" sz="2200" dirty="0">
              <a:solidFill>
                <a:srgbClr val="C00000"/>
              </a:solidFill>
              <a:latin typeface="微软雅黑" panose="020B0503020204020204" pitchFamily="34" charset="-122"/>
              <a:ea typeface="微软雅黑" panose="020B0503020204020204" pitchFamily="34" charset="-122"/>
            </a:endParaRPr>
          </a:p>
        </p:txBody>
      </p:sp>
      <p:sp>
        <p:nvSpPr>
          <p:cNvPr id="6" name="矩形 5"/>
          <p:cNvSpPr/>
          <p:nvPr/>
        </p:nvSpPr>
        <p:spPr>
          <a:xfrm>
            <a:off x="3757218" y="5946909"/>
            <a:ext cx="5211683" cy="523220"/>
          </a:xfrm>
          <a:prstGeom prst="rect">
            <a:avLst/>
          </a:prstGeom>
          <a:solidFill>
            <a:srgbClr val="5B307E"/>
          </a:solidFill>
        </p:spPr>
        <p:txBody>
          <a:bodyPr wrap="none">
            <a:spAutoFit/>
          </a:bodyPr>
          <a:lstStyle/>
          <a:p>
            <a:r>
              <a:rPr lang="zh-CN" altLang="en-US" sz="2800" b="1" dirty="0">
                <a:solidFill>
                  <a:schemeClr val="bg1"/>
                </a:solidFill>
                <a:ea typeface="宋体" panose="02010600030101010101" pitchFamily="2" charset="-122"/>
              </a:rPr>
              <a:t>首部格式改变提升转发处理速度</a:t>
            </a:r>
            <a:endParaRPr lang="zh-CN" altLang="en-US" sz="2800" b="1" dirty="0">
              <a:solidFill>
                <a:schemeClr val="bg1"/>
              </a:solidFill>
            </a:endParaRPr>
          </a:p>
        </p:txBody>
      </p:sp>
      <p:sp>
        <p:nvSpPr>
          <p:cNvPr id="7" name="日期占位符 3"/>
          <p:cNvSpPr>
            <a:spLocks noGrp="1"/>
          </p:cNvSpPr>
          <p:nvPr>
            <p:ph type="dt" sz="half" idx="10"/>
          </p:nvPr>
        </p:nvSpPr>
        <p:spPr>
          <a:xfrm>
            <a:off x="197335" y="6489303"/>
            <a:ext cx="2743200" cy="365125"/>
          </a:xfrm>
        </p:spPr>
        <p:txBody>
          <a:bodyPr/>
          <a:lstStyle/>
          <a:p>
            <a:r>
              <a:rPr kumimoji="1" lang="en-US" altLang="zh-CN" dirty="0"/>
              <a:t>5.9 IPv6</a:t>
            </a:r>
            <a:r>
              <a:rPr kumimoji="1" lang="zh-CN" altLang="en-US" dirty="0"/>
              <a:t>技术</a:t>
            </a:r>
          </a:p>
        </p:txBody>
      </p:sp>
      <p:pic>
        <p:nvPicPr>
          <p:cNvPr id="8" name="Picture 28" descr="015">
            <a:extLst>
              <a:ext uri="{FF2B5EF4-FFF2-40B4-BE49-F238E27FC236}">
                <a16:creationId xmlns:a16="http://schemas.microsoft.com/office/drawing/2014/main" id="{09C906B9-1590-4E09-A126-4D0F51CCA6F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93949451"/>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扩展头</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207</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777766" y="1414584"/>
            <a:ext cx="10888717"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报文可承载多个扩展头</a:t>
            </a:r>
            <a:endParaRPr lang="en-US" altLang="zh-CN" sz="2600" dirty="0">
              <a:latin typeface="微软雅黑" panose="020B0503020204020204" pitchFamily="34" charset="-122"/>
              <a:ea typeface="微软雅黑" panose="020B0503020204020204" pitchFamily="34" charset="-122"/>
            </a:endParaRPr>
          </a:p>
          <a:p>
            <a:pPr algn="just">
              <a:lnSpc>
                <a:spcPct val="120000"/>
              </a:lnSpc>
            </a:pPr>
            <a:r>
              <a:rPr lang="zh-CN" altLang="en-US" sz="2600" dirty="0">
                <a:latin typeface="微软雅黑" panose="020B0503020204020204" pitchFamily="34" charset="-122"/>
                <a:ea typeface="微软雅黑" panose="020B0503020204020204" pitchFamily="34" charset="-122"/>
              </a:rPr>
              <a:t>每个扩展头都包含“</a:t>
            </a:r>
            <a:r>
              <a:rPr lang="zh-CN" altLang="en-US" sz="2600" dirty="0"/>
              <a:t>下一个首部</a:t>
            </a:r>
            <a:r>
              <a:rPr lang="zh-CN" altLang="en-US" sz="2600" dirty="0">
                <a:latin typeface="微软雅黑" panose="020B0503020204020204" pitchFamily="34" charset="-122"/>
                <a:ea typeface="微软雅黑" panose="020B0503020204020204" pitchFamily="34" charset="-122"/>
              </a:rPr>
              <a:t>”字段（</a:t>
            </a: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首部固定字段也有）</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可指向下一个扩展头类型</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或指明传统上层协议类型（最后一个扩展头）：</a:t>
            </a:r>
            <a:r>
              <a:rPr lang="en-US" altLang="zh-CN" sz="2000" dirty="0"/>
              <a:t> TCP/UDP/ICMP . . . </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600" dirty="0">
                <a:latin typeface="微软雅黑" panose="020B0503020204020204" pitchFamily="34" charset="-122"/>
                <a:ea typeface="微软雅黑" panose="020B0503020204020204" pitchFamily="34" charset="-122"/>
              </a:rPr>
              <a:t>如有多个扩展头，需按规定顺序出现</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逐跳选项头，转发路径上每个节点都需检查该扩展头的信息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路由头，指明转发途中需经过哪些节点，类似于</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的源路由机制</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solidFill>
                  <a:srgbClr val="C00000"/>
                </a:solidFill>
                <a:latin typeface="微软雅黑" panose="020B0503020204020204" pitchFamily="34" charset="-122"/>
                <a:ea typeface="微软雅黑" panose="020B0503020204020204" pitchFamily="34" charset="-122"/>
              </a:rPr>
              <a:t>分段头，包含类似</a:t>
            </a:r>
            <a:r>
              <a:rPr lang="en-US" altLang="zh-CN" sz="2000" dirty="0">
                <a:solidFill>
                  <a:srgbClr val="C00000"/>
                </a:solidFill>
                <a:latin typeface="微软雅黑" panose="020B0503020204020204" pitchFamily="34" charset="-122"/>
                <a:ea typeface="微软雅黑" panose="020B0503020204020204" pitchFamily="34" charset="-122"/>
              </a:rPr>
              <a:t>IPv4</a:t>
            </a:r>
            <a:r>
              <a:rPr lang="zh-CN" altLang="en-US" sz="2000" dirty="0">
                <a:solidFill>
                  <a:srgbClr val="C00000"/>
                </a:solidFill>
                <a:latin typeface="微软雅黑" panose="020B0503020204020204" pitchFamily="34" charset="-122"/>
                <a:ea typeface="微软雅黑" panose="020B0503020204020204" pitchFamily="34" charset="-122"/>
              </a:rPr>
              <a:t>分片处理信息：片偏移、“更多段”标志、标识符</a:t>
            </a:r>
            <a:endParaRPr lang="en-US" altLang="zh-CN" sz="2000" dirty="0">
              <a:solidFill>
                <a:srgbClr val="C00000"/>
              </a:solidFill>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目的地选项头，目的端系统需要确认的信息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 . . </a:t>
            </a:r>
          </a:p>
        </p:txBody>
      </p:sp>
      <p:sp>
        <p:nvSpPr>
          <p:cNvPr id="6" name="日期占位符 3"/>
          <p:cNvSpPr>
            <a:spLocks noGrp="1"/>
          </p:cNvSpPr>
          <p:nvPr>
            <p:ph type="dt" sz="half" idx="10"/>
          </p:nvPr>
        </p:nvSpPr>
        <p:spPr>
          <a:xfrm>
            <a:off x="197335" y="6489303"/>
            <a:ext cx="2743200" cy="365125"/>
          </a:xfrm>
        </p:spPr>
        <p:txBody>
          <a:bodyPr/>
          <a:lstStyle/>
          <a:p>
            <a:r>
              <a:rPr kumimoji="1" lang="en-US" altLang="zh-CN" dirty="0"/>
              <a:t>5.9 IPv6</a:t>
            </a:r>
            <a:r>
              <a:rPr kumimoji="1" lang="zh-CN" altLang="en-US" dirty="0"/>
              <a:t>技术</a:t>
            </a:r>
          </a:p>
        </p:txBody>
      </p:sp>
      <p:pic>
        <p:nvPicPr>
          <p:cNvPr id="7" name="Picture 28" descr="015">
            <a:extLst>
              <a:ext uri="{FF2B5EF4-FFF2-40B4-BE49-F238E27FC236}">
                <a16:creationId xmlns:a16="http://schemas.microsoft.com/office/drawing/2014/main" id="{D6F1C3AE-23A2-461B-8261-96DD006C85D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1839201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邻居发现</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208</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861848" y="1414584"/>
            <a:ext cx="10794124" cy="5257281"/>
          </a:xfrm>
          <a:prstGeom prst="rect">
            <a:avLst/>
          </a:prstGeom>
        </p:spPr>
        <p:txBody>
          <a:bodyPr vert="horz" lIns="91440" tIns="45720" rIns="91440" bIns="45720" rtlCol="0">
            <a:normAutofit fontScale="92500" lnSpcReduction="100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zh-CN" altLang="en-US" sz="2400" dirty="0">
                <a:latin typeface="微软雅黑" panose="020B0503020204020204" pitchFamily="34" charset="-122"/>
                <a:ea typeface="微软雅黑" panose="020B0503020204020204" pitchFamily="34" charset="-122"/>
              </a:rPr>
              <a:t>邻居发现协议（</a:t>
            </a:r>
            <a:r>
              <a:rPr lang="en-US" altLang="zh-CN" sz="2400" dirty="0">
                <a:latin typeface="微软雅黑" panose="020B0503020204020204" pitchFamily="34" charset="-122"/>
                <a:ea typeface="微软雅黑" panose="020B0503020204020204" pitchFamily="34" charset="-122"/>
              </a:rPr>
              <a:t>Neighbor Discovery Protocol</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ND</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邻居发现基于</a:t>
            </a:r>
            <a:r>
              <a:rPr lang="en-US" altLang="zh-CN" sz="2000" dirty="0">
                <a:latin typeface="微软雅黑" panose="020B0503020204020204" pitchFamily="34" charset="-122"/>
                <a:ea typeface="微软雅黑" panose="020B0503020204020204" pitchFamily="34" charset="-122"/>
              </a:rPr>
              <a:t>ICMPv6</a:t>
            </a:r>
            <a:r>
              <a:rPr lang="zh-CN" altLang="en-US" sz="2000" dirty="0">
                <a:latin typeface="微软雅黑" panose="020B0503020204020204" pitchFamily="34" charset="-122"/>
                <a:ea typeface="微软雅黑" panose="020B0503020204020204" pitchFamily="34" charset="-122"/>
              </a:rPr>
              <a:t>实现，不同的</a:t>
            </a:r>
            <a:r>
              <a:rPr lang="en-US" altLang="zh-CN" sz="2000" dirty="0">
                <a:latin typeface="微软雅黑" panose="020B0503020204020204" pitchFamily="34" charset="-122"/>
                <a:ea typeface="微软雅黑" panose="020B0503020204020204" pitchFamily="34" charset="-122"/>
              </a:rPr>
              <a:t>Type</a:t>
            </a:r>
            <a:r>
              <a:rPr lang="zh-CN" altLang="en-US" sz="2000" dirty="0">
                <a:latin typeface="微软雅黑" panose="020B0503020204020204" pitchFamily="34" charset="-122"/>
                <a:ea typeface="微软雅黑" panose="020B0503020204020204" pitchFamily="34" charset="-122"/>
              </a:rPr>
              <a:t>值和</a:t>
            </a:r>
            <a:r>
              <a:rPr lang="en-US" altLang="zh-CN" sz="2000" dirty="0">
                <a:latin typeface="微软雅黑" panose="020B0503020204020204" pitchFamily="34" charset="-122"/>
                <a:ea typeface="微软雅黑" panose="020B0503020204020204" pitchFamily="34" charset="-122"/>
              </a:rPr>
              <a:t>Code</a:t>
            </a:r>
            <a:r>
              <a:rPr lang="zh-CN" altLang="en-US" sz="2000" dirty="0">
                <a:latin typeface="微软雅黑" panose="020B0503020204020204" pitchFamily="34" charset="-122"/>
                <a:ea typeface="微软雅黑" panose="020B0503020204020204" pitchFamily="34" charset="-122"/>
              </a:rPr>
              <a:t>值表示不同的</a:t>
            </a:r>
            <a:r>
              <a:rPr lang="en-US" altLang="zh-CN" sz="2000" dirty="0">
                <a:latin typeface="微软雅黑" panose="020B0503020204020204" pitchFamily="34" charset="-122"/>
                <a:ea typeface="微软雅黑" panose="020B0503020204020204" pitchFamily="34" charset="-122"/>
              </a:rPr>
              <a:t>ND</a:t>
            </a:r>
            <a:r>
              <a:rPr lang="zh-CN" altLang="en-US" sz="2000" dirty="0">
                <a:latin typeface="微软雅黑" panose="020B0503020204020204" pitchFamily="34" charset="-122"/>
                <a:ea typeface="微软雅黑" panose="020B0503020204020204" pitchFamily="34" charset="-122"/>
              </a:rPr>
              <a:t>消息</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：邻居请求</a:t>
            </a:r>
            <a:r>
              <a:rPr lang="en-US" altLang="zh-CN" sz="2400" dirty="0">
                <a:latin typeface="微软雅黑" panose="020B0503020204020204" pitchFamily="34" charset="-122"/>
                <a:ea typeface="微软雅黑" panose="020B0503020204020204" pitchFamily="34" charset="-122"/>
              </a:rPr>
              <a:t>(Neighbor Solicitation</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NS)</a:t>
            </a:r>
          </a:p>
          <a:p>
            <a:pPr lvl="1" algn="just">
              <a:lnSpc>
                <a:spcPct val="120000"/>
              </a:lnSpc>
            </a:pPr>
            <a:r>
              <a:rPr lang="zh-CN" altLang="en-US" sz="2000" dirty="0">
                <a:latin typeface="微软雅黑" panose="020B0503020204020204" pitchFamily="34" charset="-122"/>
                <a:ea typeface="微软雅黑" panose="020B0503020204020204" pitchFamily="34" charset="-122"/>
              </a:rPr>
              <a:t>类似于</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中的</a:t>
            </a:r>
            <a:r>
              <a:rPr lang="en-US" altLang="zh-CN" sz="2000" dirty="0">
                <a:solidFill>
                  <a:srgbClr val="C00000"/>
                </a:solidFill>
                <a:latin typeface="微软雅黑" panose="020B0503020204020204" pitchFamily="34" charset="-122"/>
                <a:ea typeface="微软雅黑" panose="020B0503020204020204" pitchFamily="34" charset="-122"/>
              </a:rPr>
              <a:t>ARP</a:t>
            </a:r>
            <a:r>
              <a:rPr lang="zh-CN" altLang="en-US" sz="2000" dirty="0">
                <a:solidFill>
                  <a:srgbClr val="C00000"/>
                </a:solidFill>
                <a:latin typeface="微软雅黑" panose="020B0503020204020204" pitchFamily="34" charset="-122"/>
                <a:ea typeface="微软雅黑" panose="020B0503020204020204" pitchFamily="34" charset="-122"/>
              </a:rPr>
              <a:t>请求报文</a:t>
            </a:r>
            <a:r>
              <a:rPr lang="zh-CN" altLang="en-US" sz="2000" dirty="0">
                <a:latin typeface="微软雅黑" panose="020B0503020204020204" pitchFamily="34" charset="-122"/>
                <a:ea typeface="微软雅黑" panose="020B0503020204020204" pitchFamily="34" charset="-122"/>
              </a:rPr>
              <a:t>，获取邻居的链路层地址，验证邻居可达，</a:t>
            </a:r>
            <a:r>
              <a:rPr lang="zh-CN" altLang="en-US" sz="2000" dirty="0">
                <a:solidFill>
                  <a:srgbClr val="C00000"/>
                </a:solidFill>
                <a:latin typeface="微软雅黑" panose="020B0503020204020204" pitchFamily="34" charset="-122"/>
                <a:ea typeface="微软雅黑" panose="020B0503020204020204" pitchFamily="34" charset="-122"/>
              </a:rPr>
              <a:t>重复地址检测</a:t>
            </a:r>
            <a:endParaRPr lang="en-US" altLang="zh-CN" sz="1600" dirty="0">
              <a:solidFill>
                <a:srgbClr val="C00000"/>
              </a:solidFill>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2 </a:t>
            </a:r>
            <a:r>
              <a:rPr lang="zh-CN" altLang="en-US" sz="2400" dirty="0">
                <a:latin typeface="微软雅黑" panose="020B0503020204020204" pitchFamily="34" charset="-122"/>
                <a:ea typeface="微软雅黑" panose="020B0503020204020204" pitchFamily="34" charset="-122"/>
              </a:rPr>
              <a:t>：邻居通告</a:t>
            </a:r>
            <a:r>
              <a:rPr lang="en-US" altLang="zh-CN" sz="2400" dirty="0">
                <a:latin typeface="微软雅黑" panose="020B0503020204020204" pitchFamily="34" charset="-122"/>
                <a:ea typeface="微软雅黑" panose="020B0503020204020204" pitchFamily="34" charset="-122"/>
              </a:rPr>
              <a:t>(Neighbor </a:t>
            </a:r>
            <a:r>
              <a:rPr lang="en-US" altLang="zh-CN" sz="2400" dirty="0" err="1">
                <a:latin typeface="微软雅黑" panose="020B0503020204020204" pitchFamily="34" charset="-122"/>
                <a:ea typeface="微软雅黑" panose="020B0503020204020204" pitchFamily="34" charset="-122"/>
              </a:rPr>
              <a:t>Adivertisment</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NA)</a:t>
            </a:r>
          </a:p>
          <a:p>
            <a:pPr lvl="1" algn="just">
              <a:lnSpc>
                <a:spcPct val="120000"/>
              </a:lnSpc>
            </a:pPr>
            <a:r>
              <a:rPr lang="zh-CN" altLang="en-US" sz="2000" dirty="0">
                <a:latin typeface="微软雅黑" panose="020B0503020204020204" pitchFamily="34" charset="-122"/>
                <a:ea typeface="微软雅黑" panose="020B0503020204020204" pitchFamily="34" charset="-122"/>
              </a:rPr>
              <a:t>类似于</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中的</a:t>
            </a:r>
            <a:r>
              <a:rPr lang="en-US" altLang="zh-CN" sz="2000" dirty="0">
                <a:solidFill>
                  <a:srgbClr val="C00000"/>
                </a:solidFill>
                <a:latin typeface="微软雅黑" panose="020B0503020204020204" pitchFamily="34" charset="-122"/>
                <a:ea typeface="微软雅黑" panose="020B0503020204020204" pitchFamily="34" charset="-122"/>
              </a:rPr>
              <a:t>ARP</a:t>
            </a:r>
            <a:r>
              <a:rPr lang="zh-CN" altLang="en-US" sz="2000" dirty="0">
                <a:solidFill>
                  <a:srgbClr val="C00000"/>
                </a:solidFill>
                <a:latin typeface="微软雅黑" panose="020B0503020204020204" pitchFamily="34" charset="-122"/>
                <a:ea typeface="微软雅黑" panose="020B0503020204020204" pitchFamily="34" charset="-122"/>
              </a:rPr>
              <a:t>应答报文</a:t>
            </a:r>
            <a:r>
              <a:rPr lang="zh-CN" altLang="en-US" sz="2000" dirty="0">
                <a:latin typeface="微软雅黑" panose="020B0503020204020204" pitchFamily="34" charset="-122"/>
                <a:ea typeface="微软雅黑" panose="020B0503020204020204" pitchFamily="34" charset="-122"/>
              </a:rPr>
              <a:t>，对</a:t>
            </a:r>
            <a:r>
              <a:rPr lang="en-US" altLang="zh-CN" sz="2000" dirty="0">
                <a:latin typeface="微软雅黑" panose="020B0503020204020204" pitchFamily="34" charset="-122"/>
                <a:ea typeface="微软雅黑" panose="020B0503020204020204" pitchFamily="34" charset="-122"/>
              </a:rPr>
              <a:t>NS</a:t>
            </a:r>
            <a:r>
              <a:rPr lang="zh-CN" altLang="en-US" sz="2000" dirty="0">
                <a:latin typeface="微软雅黑" panose="020B0503020204020204" pitchFamily="34" charset="-122"/>
                <a:ea typeface="微软雅黑" panose="020B0503020204020204" pitchFamily="34" charset="-122"/>
              </a:rPr>
              <a:t>消息进行响应</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3 </a:t>
            </a:r>
            <a:r>
              <a:rPr lang="zh-CN" altLang="en-US" sz="2400" dirty="0">
                <a:latin typeface="微软雅黑" panose="020B0503020204020204" pitchFamily="34" charset="-122"/>
                <a:ea typeface="微软雅黑" panose="020B0503020204020204" pitchFamily="34" charset="-122"/>
              </a:rPr>
              <a:t>：路由器请求</a:t>
            </a:r>
            <a:r>
              <a:rPr lang="en-US" altLang="zh-CN" sz="2400" dirty="0">
                <a:latin typeface="微软雅黑" panose="020B0503020204020204" pitchFamily="34" charset="-122"/>
                <a:ea typeface="微软雅黑" panose="020B0503020204020204" pitchFamily="34" charset="-122"/>
              </a:rPr>
              <a:t>(Router Solicitation</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RS)</a:t>
            </a:r>
          </a:p>
          <a:p>
            <a:pPr lvl="1" algn="just">
              <a:lnSpc>
                <a:spcPct val="120000"/>
              </a:lnSpc>
            </a:pPr>
            <a:r>
              <a:rPr lang="zh-CN" altLang="en-US" sz="2000" dirty="0">
                <a:latin typeface="微软雅黑" panose="020B0503020204020204" pitchFamily="34" charset="-122"/>
                <a:ea typeface="微软雅黑" panose="020B0503020204020204" pitchFamily="34" charset="-122"/>
              </a:rPr>
              <a:t>端系统通过</a:t>
            </a:r>
            <a:r>
              <a:rPr lang="en-US" altLang="zh-CN" sz="2000" dirty="0">
                <a:latin typeface="微软雅黑" panose="020B0503020204020204" pitchFamily="34" charset="-122"/>
                <a:ea typeface="微软雅黑" panose="020B0503020204020204" pitchFamily="34" charset="-122"/>
              </a:rPr>
              <a:t>RS</a:t>
            </a:r>
            <a:r>
              <a:rPr lang="zh-CN" altLang="en-US" sz="2000" dirty="0">
                <a:latin typeface="微软雅黑" panose="020B0503020204020204" pitchFamily="34" charset="-122"/>
                <a:ea typeface="微软雅黑" panose="020B0503020204020204" pitchFamily="34" charset="-122"/>
              </a:rPr>
              <a:t>消息向路由器发出请求，请求</a:t>
            </a:r>
            <a:r>
              <a:rPr lang="zh-CN" altLang="en-US" sz="2000" dirty="0">
                <a:solidFill>
                  <a:srgbClr val="C00000"/>
                </a:solidFill>
                <a:latin typeface="微软雅黑" panose="020B0503020204020204" pitchFamily="34" charset="-122"/>
                <a:ea typeface="微软雅黑" panose="020B0503020204020204" pitchFamily="34" charset="-122"/>
              </a:rPr>
              <a:t>地址前缀</a:t>
            </a:r>
            <a:r>
              <a:rPr lang="zh-CN" altLang="en-US" sz="2000" dirty="0">
                <a:latin typeface="微软雅黑" panose="020B0503020204020204" pitchFamily="34" charset="-122"/>
                <a:ea typeface="微软雅黑" panose="020B0503020204020204" pitchFamily="34" charset="-122"/>
              </a:rPr>
              <a:t>和其他信息，用于节点的自动配置</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4 </a:t>
            </a:r>
            <a:r>
              <a:rPr lang="zh-CN" altLang="en-US" sz="2400" dirty="0">
                <a:latin typeface="微软雅黑" panose="020B0503020204020204" pitchFamily="34" charset="-122"/>
                <a:ea typeface="微软雅黑" panose="020B0503020204020204" pitchFamily="34" charset="-122"/>
              </a:rPr>
              <a:t>：路由器通告</a:t>
            </a:r>
            <a:r>
              <a:rPr lang="en-US" altLang="zh-CN" sz="2400" dirty="0">
                <a:latin typeface="微软雅黑" panose="020B0503020204020204" pitchFamily="34" charset="-122"/>
                <a:ea typeface="微软雅黑" panose="020B0503020204020204" pitchFamily="34" charset="-122"/>
              </a:rPr>
              <a:t>(Router Advertisement</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RA)</a:t>
            </a:r>
          </a:p>
          <a:p>
            <a:pPr lvl="1" algn="just">
              <a:lnSpc>
                <a:spcPct val="120000"/>
              </a:lnSpc>
            </a:pPr>
            <a:r>
              <a:rPr lang="zh-CN" altLang="en-US" sz="2000" dirty="0">
                <a:latin typeface="微软雅黑" panose="020B0503020204020204" pitchFamily="34" charset="-122"/>
                <a:ea typeface="微软雅黑" panose="020B0503020204020204" pitchFamily="34" charset="-122"/>
              </a:rPr>
              <a:t>路由器通过</a:t>
            </a:r>
            <a:r>
              <a:rPr lang="en-US" altLang="zh-CN" sz="2000" dirty="0">
                <a:latin typeface="微软雅黑" panose="020B0503020204020204" pitchFamily="34" charset="-122"/>
                <a:ea typeface="微软雅黑" panose="020B0503020204020204" pitchFamily="34" charset="-122"/>
              </a:rPr>
              <a:t>RA</a:t>
            </a:r>
            <a:r>
              <a:rPr lang="zh-CN" altLang="en-US" sz="2000" dirty="0">
                <a:latin typeface="微软雅黑" panose="020B0503020204020204" pitchFamily="34" charset="-122"/>
                <a:ea typeface="微软雅黑" panose="020B0503020204020204" pitchFamily="34" charset="-122"/>
              </a:rPr>
              <a:t>消息向端系统发布地址前缀（</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地址自动配置）和其他配置信息</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5 </a:t>
            </a:r>
            <a:r>
              <a:rPr lang="zh-CN" altLang="en-US" sz="2400" dirty="0">
                <a:latin typeface="微软雅黑" panose="020B0503020204020204" pitchFamily="34" charset="-122"/>
                <a:ea typeface="微软雅黑" panose="020B0503020204020204" pitchFamily="34" charset="-122"/>
              </a:rPr>
              <a:t>：重定向</a:t>
            </a:r>
            <a:r>
              <a:rPr lang="en-US" altLang="zh-CN" sz="2400" dirty="0">
                <a:latin typeface="微软雅黑" panose="020B0503020204020204" pitchFamily="34" charset="-122"/>
                <a:ea typeface="微软雅黑" panose="020B0503020204020204" pitchFamily="34" charset="-122"/>
              </a:rPr>
              <a:t>(Redirect)</a:t>
            </a:r>
          </a:p>
          <a:p>
            <a:pPr lvl="1" algn="just">
              <a:lnSpc>
                <a:spcPct val="120000"/>
              </a:lnSpc>
            </a:pPr>
            <a:r>
              <a:rPr lang="zh-CN" altLang="en-US" sz="2000" dirty="0">
                <a:latin typeface="微软雅黑" panose="020B0503020204020204" pitchFamily="34" charset="-122"/>
                <a:ea typeface="微软雅黑" panose="020B0503020204020204" pitchFamily="34" charset="-122"/>
              </a:rPr>
              <a:t>通知主机重新选择正确的下一跳地址（针对某个目的</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a:t>
            </a:r>
            <a:endParaRPr lang="en-US" altLang="zh-CN" sz="2000" dirty="0">
              <a:latin typeface="微软雅黑" panose="020B0503020204020204" pitchFamily="34" charset="-122"/>
              <a:ea typeface="微软雅黑" panose="020B0503020204020204" pitchFamily="34" charset="-122"/>
            </a:endParaRPr>
          </a:p>
        </p:txBody>
      </p:sp>
      <p:sp>
        <p:nvSpPr>
          <p:cNvPr id="6" name="日期占位符 3"/>
          <p:cNvSpPr>
            <a:spLocks noGrp="1"/>
          </p:cNvSpPr>
          <p:nvPr>
            <p:ph type="dt" sz="half" idx="10"/>
          </p:nvPr>
        </p:nvSpPr>
        <p:spPr>
          <a:xfrm>
            <a:off x="197335" y="6489303"/>
            <a:ext cx="2743200" cy="365125"/>
          </a:xfrm>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3943301870"/>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地址及配置</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209</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672662" y="1414584"/>
            <a:ext cx="10857186" cy="5257281"/>
          </a:xfrm>
          <a:prstGeom prst="rect">
            <a:avLst/>
          </a:prstGeom>
        </p:spPr>
        <p:txBody>
          <a:bodyPr vert="horz" lIns="91440" tIns="45720" rIns="91440" bIns="45720" rtlCol="0">
            <a:normAutofit lnSpcReduction="100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地址分类</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未指定地址（</a:t>
            </a:r>
            <a:r>
              <a:rPr lang="en-US" altLang="zh-CN" sz="2000" dirty="0">
                <a:latin typeface="微软雅黑" panose="020B0503020204020204" pitchFamily="34" charset="-122"/>
                <a:ea typeface="微软雅黑" panose="020B0503020204020204" pitchFamily="34" charset="-122"/>
              </a:rPr>
              <a:t>::/128</a:t>
            </a:r>
            <a:r>
              <a:rPr lang="zh-CN" altLang="en-US" sz="2000" dirty="0">
                <a:latin typeface="微软雅黑" panose="020B0503020204020204" pitchFamily="34" charset="-122"/>
                <a:ea typeface="微软雅黑" panose="020B0503020204020204" pitchFamily="34" charset="-122"/>
              </a:rPr>
              <a:t>），不能分配给任何节点</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回环地址（</a:t>
            </a:r>
            <a:r>
              <a:rPr lang="en-US" altLang="zh-CN" sz="2000" dirty="0">
                <a:latin typeface="微软雅黑" panose="020B0503020204020204" pitchFamily="34" charset="-122"/>
                <a:ea typeface="微软雅黑" panose="020B0503020204020204" pitchFamily="34" charset="-122"/>
              </a:rPr>
              <a:t>::1/128</a:t>
            </a:r>
            <a:r>
              <a:rPr lang="zh-CN" altLang="en-US" sz="2000" dirty="0">
                <a:latin typeface="微软雅黑" panose="020B0503020204020204" pitchFamily="34" charset="-122"/>
                <a:ea typeface="微软雅黑" panose="020B0503020204020204" pitchFamily="34" charset="-122"/>
              </a:rPr>
              <a:t>），表示节点自己，不分配，类似</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中的</a:t>
            </a:r>
            <a:r>
              <a:rPr lang="en-US" altLang="zh-CN" sz="2000" dirty="0">
                <a:latin typeface="微软雅黑" panose="020B0503020204020204" pitchFamily="34" charset="-122"/>
                <a:ea typeface="微软雅黑" panose="020B0503020204020204" pitchFamily="34" charset="-122"/>
              </a:rPr>
              <a:t>127.0.0.1</a:t>
            </a:r>
          </a:p>
          <a:p>
            <a:pPr lvl="1" algn="just">
              <a:lnSpc>
                <a:spcPct val="120000"/>
              </a:lnSpc>
            </a:pPr>
            <a:r>
              <a:rPr lang="zh-CN" altLang="en-US" sz="2000" dirty="0">
                <a:latin typeface="微软雅黑" panose="020B0503020204020204" pitchFamily="34" charset="-122"/>
                <a:ea typeface="微软雅黑" panose="020B0503020204020204" pitchFamily="34" charset="-122"/>
              </a:rPr>
              <a:t>组播地址（</a:t>
            </a:r>
            <a:r>
              <a:rPr lang="en-US" altLang="zh-CN" sz="2000" dirty="0">
                <a:latin typeface="微软雅黑" panose="020B0503020204020204" pitchFamily="34" charset="-122"/>
                <a:ea typeface="微软雅黑" panose="020B0503020204020204" pitchFamily="34" charset="-122"/>
              </a:rPr>
              <a:t>FF00::/8</a:t>
            </a:r>
            <a:r>
              <a:rPr lang="zh-CN" altLang="en-US" sz="2000" dirty="0">
                <a:latin typeface="微软雅黑" panose="020B0503020204020204" pitchFamily="34" charset="-122"/>
                <a:ea typeface="微软雅黑" panose="020B0503020204020204" pitchFamily="34" charset="-122"/>
              </a:rPr>
              <a:t>）</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链路本地地址（</a:t>
            </a:r>
            <a:r>
              <a:rPr lang="en-US" altLang="zh-CN" sz="2000" dirty="0">
                <a:latin typeface="微软雅黑" panose="020B0503020204020204" pitchFamily="34" charset="-122"/>
                <a:ea typeface="微软雅黑" panose="020B0503020204020204" pitchFamily="34" charset="-122"/>
              </a:rPr>
              <a:t>FE80::/10</a:t>
            </a:r>
            <a:r>
              <a:rPr lang="zh-CN" altLang="en-US" sz="2000" dirty="0">
                <a:latin typeface="微软雅黑" panose="020B0503020204020204" pitchFamily="34" charset="-122"/>
                <a:ea typeface="微软雅黑" panose="020B0503020204020204" pitchFamily="34" charset="-122"/>
              </a:rPr>
              <a:t>），也称为</a:t>
            </a:r>
            <a:r>
              <a:rPr lang="en-US" altLang="zh-CN" sz="2000" dirty="0">
                <a:latin typeface="微软雅黑" panose="020B0503020204020204" pitchFamily="34" charset="-122"/>
                <a:ea typeface="微软雅黑" panose="020B0503020204020204" pitchFamily="34" charset="-122"/>
              </a:rPr>
              <a:t>Link-local</a:t>
            </a:r>
            <a:r>
              <a:rPr lang="zh-CN" altLang="en-US" sz="2000" dirty="0">
                <a:latin typeface="微软雅黑" panose="020B0503020204020204" pitchFamily="34" charset="-122"/>
                <a:ea typeface="微软雅黑" panose="020B0503020204020204" pitchFamily="34" charset="-122"/>
              </a:rPr>
              <a:t>地址，仅在本地链路上使用，网络设备根据接口</a:t>
            </a:r>
            <a:r>
              <a:rPr lang="en-US" altLang="zh-CN" sz="2000" dirty="0">
                <a:latin typeface="微软雅黑" panose="020B0503020204020204" pitchFamily="34" charset="-122"/>
                <a:ea typeface="微软雅黑" panose="020B0503020204020204" pitchFamily="34" charset="-122"/>
              </a:rPr>
              <a:t>MAC</a:t>
            </a:r>
            <a:r>
              <a:rPr lang="zh-CN" altLang="en-US" sz="2000" dirty="0">
                <a:latin typeface="微软雅黑" panose="020B0503020204020204" pitchFamily="34" charset="-122"/>
                <a:ea typeface="微软雅黑" panose="020B0503020204020204" pitchFamily="34" charset="-122"/>
              </a:rPr>
              <a:t>地址自动生成</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全局单播地址，其它地址</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地址配置方式</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手动配置</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DHCPv6</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动态主机配置协议）</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无状态地址自动配置，基于</a:t>
            </a:r>
            <a:r>
              <a:rPr lang="en-US" altLang="zh-CN" sz="2000" dirty="0">
                <a:latin typeface="微软雅黑" panose="020B0503020204020204" pitchFamily="34" charset="-122"/>
                <a:ea typeface="微软雅黑" panose="020B0503020204020204" pitchFamily="34" charset="-122"/>
              </a:rPr>
              <a:t>ND</a:t>
            </a:r>
            <a:r>
              <a:rPr lang="zh-CN" altLang="en-US" sz="2000" dirty="0">
                <a:latin typeface="微软雅黑" panose="020B0503020204020204" pitchFamily="34" charset="-122"/>
                <a:ea typeface="微软雅黑" panose="020B0503020204020204" pitchFamily="34" charset="-122"/>
              </a:rPr>
              <a:t>协议的</a:t>
            </a:r>
            <a:r>
              <a:rPr lang="en-US" altLang="zh-CN" sz="2000" dirty="0">
                <a:latin typeface="微软雅黑" panose="020B0503020204020204" pitchFamily="34" charset="-122"/>
                <a:ea typeface="微软雅黑" panose="020B0503020204020204" pitchFamily="34" charset="-122"/>
              </a:rPr>
              <a:t>RS</a:t>
            </a:r>
            <a:r>
              <a:rPr lang="zh-CN" altLang="en-US" sz="2000" dirty="0">
                <a:latin typeface="微软雅黑" panose="020B0503020204020204" pitchFamily="34" charset="-122"/>
                <a:ea typeface="微软雅黑" panose="020B0503020204020204" pitchFamily="34" charset="-122"/>
              </a:rPr>
              <a:t>报文的</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前缀信息，结合自己的链路层地址生成</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a:t>
            </a:r>
            <a:endParaRPr lang="en-US" altLang="zh-CN" sz="1600" dirty="0">
              <a:latin typeface="微软雅黑" panose="020B0503020204020204" pitchFamily="34" charset="-122"/>
              <a:ea typeface="微软雅黑" panose="020B0503020204020204" pitchFamily="34" charset="-122"/>
            </a:endParaRPr>
          </a:p>
        </p:txBody>
      </p:sp>
      <p:sp>
        <p:nvSpPr>
          <p:cNvPr id="6" name="日期占位符 3"/>
          <p:cNvSpPr>
            <a:spLocks noGrp="1"/>
          </p:cNvSpPr>
          <p:nvPr>
            <p:ph type="dt" sz="half" idx="10"/>
          </p:nvPr>
        </p:nvSpPr>
        <p:spPr>
          <a:xfrm>
            <a:off x="197335" y="6489303"/>
            <a:ext cx="2743200" cy="365125"/>
          </a:xfrm>
        </p:spPr>
        <p:txBody>
          <a:bodyPr/>
          <a:lstStyle/>
          <a:p>
            <a:r>
              <a:rPr kumimoji="1" lang="en-US" altLang="zh-CN" dirty="0"/>
              <a:t>5.9 IPv6</a:t>
            </a:r>
            <a:r>
              <a:rPr kumimoji="1" lang="zh-CN" altLang="en-US" dirty="0"/>
              <a:t>技术</a:t>
            </a:r>
          </a:p>
        </p:txBody>
      </p:sp>
      <p:pic>
        <p:nvPicPr>
          <p:cNvPr id="7" name="Picture 28" descr="015">
            <a:extLst>
              <a:ext uri="{FF2B5EF4-FFF2-40B4-BE49-F238E27FC236}">
                <a16:creationId xmlns:a16="http://schemas.microsoft.com/office/drawing/2014/main" id="{14E84495-D80E-4D66-8F12-E02126A4268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5600829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IPv6</a:t>
            </a:r>
            <a:r>
              <a:rPr kumimoji="1" lang="zh-CN" altLang="en-US" dirty="0"/>
              <a:t>路由协议</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210</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798785" y="1414584"/>
            <a:ext cx="10268607"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400" dirty="0" err="1"/>
              <a:t>RIPng</a:t>
            </a:r>
            <a:r>
              <a:rPr lang="en-US" altLang="zh-CN" sz="2400" dirty="0"/>
              <a:t> for IPv6</a:t>
            </a:r>
            <a:r>
              <a:rPr lang="zh-CN" altLang="en-US" sz="2400" dirty="0"/>
              <a:t>，</a:t>
            </a:r>
            <a:r>
              <a:rPr lang="en-US" altLang="zh-CN" sz="2400" dirty="0"/>
              <a:t>RFC 2080</a:t>
            </a:r>
            <a:r>
              <a:rPr lang="zh-CN" altLang="en-US" sz="2400" dirty="0"/>
              <a:t>，对</a:t>
            </a:r>
            <a:r>
              <a:rPr lang="en-US" altLang="zh-CN" sz="2400" dirty="0"/>
              <a:t>RIP</a:t>
            </a:r>
            <a:r>
              <a:rPr lang="zh-CN" altLang="en-US" sz="2400" dirty="0"/>
              <a:t>修改以适应</a:t>
            </a:r>
            <a:r>
              <a:rPr lang="en-US" altLang="zh-CN" sz="2400" dirty="0"/>
              <a:t>IPv6</a:t>
            </a:r>
            <a:r>
              <a:rPr lang="zh-CN" altLang="en-US" sz="2400" dirty="0"/>
              <a:t>环境</a:t>
            </a:r>
            <a:endParaRPr lang="en-US" altLang="zh-CN" sz="2400" dirty="0"/>
          </a:p>
          <a:p>
            <a:pPr lvl="1" algn="just">
              <a:lnSpc>
                <a:spcPct val="120000"/>
              </a:lnSpc>
            </a:pPr>
            <a:r>
              <a:rPr lang="zh-CN" altLang="en-US" sz="2000" dirty="0">
                <a:solidFill>
                  <a:prstClr val="black"/>
                </a:solidFill>
                <a:latin typeface="微软雅黑" panose="020B0503020204020204" pitchFamily="34" charset="-122"/>
                <a:ea typeface="微软雅黑" panose="020B0503020204020204" pitchFamily="34" charset="-122"/>
              </a:rPr>
              <a:t>使用路由器的链路本地</a:t>
            </a:r>
            <a:r>
              <a:rPr lang="en-US" altLang="zh-CN" sz="2000" dirty="0">
                <a:solidFill>
                  <a:prstClr val="black"/>
                </a:solidFill>
                <a:latin typeface="微软雅黑" panose="020B0503020204020204" pitchFamily="34" charset="-122"/>
                <a:ea typeface="微软雅黑" panose="020B0503020204020204" pitchFamily="34" charset="-122"/>
              </a:rPr>
              <a:t>IPv6</a:t>
            </a:r>
            <a:r>
              <a:rPr lang="zh-CN" altLang="en-US" sz="2000" dirty="0">
                <a:solidFill>
                  <a:prstClr val="black"/>
                </a:solidFill>
                <a:latin typeface="微软雅黑" panose="020B0503020204020204" pitchFamily="34" charset="-122"/>
                <a:ea typeface="微软雅黑" panose="020B0503020204020204" pitchFamily="34" charset="-122"/>
              </a:rPr>
              <a:t>地址作为源地址，发送路由更新信息</a:t>
            </a:r>
            <a:endParaRPr lang="en-US" altLang="zh-CN" sz="1600" dirty="0">
              <a:latin typeface="微软雅黑" panose="020B0503020204020204" pitchFamily="34" charset="-122"/>
              <a:ea typeface="微软雅黑" panose="020B0503020204020204" pitchFamily="34" charset="-122"/>
            </a:endParaRPr>
          </a:p>
          <a:p>
            <a:pPr algn="just">
              <a:lnSpc>
                <a:spcPct val="120000"/>
              </a:lnSpc>
            </a:pPr>
            <a:r>
              <a:rPr lang="en-US" altLang="zh-CN" sz="2400" dirty="0">
                <a:latin typeface="微软雅黑" panose="020B0503020204020204" pitchFamily="34" charset="-122"/>
                <a:ea typeface="微软雅黑" panose="020B0503020204020204" pitchFamily="34" charset="-122"/>
              </a:rPr>
              <a:t>OSPFv3 for IPv6</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RFC 5340</a:t>
            </a:r>
            <a:r>
              <a:rPr lang="zh-CN" altLang="en-US" sz="2400" dirty="0">
                <a:latin typeface="微软雅黑" panose="020B0503020204020204" pitchFamily="34" charset="-122"/>
                <a:ea typeface="微软雅黑" panose="020B0503020204020204" pitchFamily="34" charset="-122"/>
              </a:rPr>
              <a:t>，适应</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网络</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使用路由器的链路本地</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地址作为源地址，并作为下一跳地址</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OSPFv3</a:t>
            </a:r>
            <a:r>
              <a:rPr lang="zh-CN" altLang="en-US" sz="2000" dirty="0">
                <a:latin typeface="微软雅黑" panose="020B0503020204020204" pitchFamily="34" charset="-122"/>
                <a:ea typeface="微软雅黑" panose="020B0503020204020204" pitchFamily="34" charset="-122"/>
              </a:rPr>
              <a:t>有</a:t>
            </a:r>
            <a:r>
              <a:rPr lang="en-US" altLang="zh-CN" sz="2000" dirty="0">
                <a:latin typeface="微软雅黑" panose="020B0503020204020204" pitchFamily="34" charset="-122"/>
                <a:ea typeface="微软雅黑" panose="020B0503020204020204" pitchFamily="34" charset="-122"/>
              </a:rPr>
              <a:t>7</a:t>
            </a:r>
            <a:r>
              <a:rPr lang="zh-CN" altLang="en-US" sz="2000" dirty="0">
                <a:latin typeface="微软雅黑" panose="020B0503020204020204" pitchFamily="34" charset="-122"/>
                <a:ea typeface="微软雅黑" panose="020B0503020204020204" pitchFamily="34" charset="-122"/>
              </a:rPr>
              <a:t>种类型的</a:t>
            </a:r>
            <a:r>
              <a:rPr lang="en-US" altLang="zh-CN" sz="2000" dirty="0">
                <a:latin typeface="微软雅黑" panose="020B0503020204020204" pitchFamily="34" charset="-122"/>
                <a:ea typeface="微软雅黑" panose="020B0503020204020204" pitchFamily="34" charset="-122"/>
              </a:rPr>
              <a:t>LSA</a:t>
            </a:r>
            <a:r>
              <a:rPr lang="zh-CN" altLang="en-US" sz="2000" dirty="0">
                <a:latin typeface="微软雅黑" panose="020B0503020204020204" pitchFamily="34" charset="-122"/>
                <a:ea typeface="微软雅黑" panose="020B0503020204020204" pitchFamily="34" charset="-122"/>
              </a:rPr>
              <a:t>，新增</a:t>
            </a:r>
            <a:r>
              <a:rPr lang="en-US" altLang="zh-CN" sz="2000" dirty="0">
                <a:latin typeface="微软雅黑" panose="020B0503020204020204" pitchFamily="34" charset="-122"/>
                <a:ea typeface="微软雅黑" panose="020B0503020204020204" pitchFamily="34" charset="-122"/>
              </a:rPr>
              <a:t>Link LSA</a:t>
            </a:r>
            <a:r>
              <a:rPr lang="zh-CN" altLang="en-US" sz="2000" dirty="0">
                <a:latin typeface="微软雅黑" panose="020B0503020204020204" pitchFamily="34" charset="-122"/>
                <a:ea typeface="微软雅黑" panose="020B0503020204020204" pitchFamily="34" charset="-122"/>
              </a:rPr>
              <a:t>和</a:t>
            </a:r>
            <a:r>
              <a:rPr lang="en-US" altLang="zh-CN" sz="2000" dirty="0">
                <a:latin typeface="微软雅黑" panose="020B0503020204020204" pitchFamily="34" charset="-122"/>
                <a:ea typeface="微软雅黑" panose="020B0503020204020204" pitchFamily="34" charset="-122"/>
              </a:rPr>
              <a:t>Intra Area Prefix LSA</a:t>
            </a:r>
          </a:p>
          <a:p>
            <a:pPr algn="just">
              <a:lnSpc>
                <a:spcPct val="120000"/>
              </a:lnSpc>
            </a:pPr>
            <a:r>
              <a:rPr lang="en-US" altLang="zh-CN" sz="2400" dirty="0">
                <a:latin typeface="微软雅黑" panose="020B0503020204020204" pitchFamily="34" charset="-122"/>
                <a:ea typeface="微软雅黑" panose="020B0503020204020204" pitchFamily="34" charset="-122"/>
              </a:rPr>
              <a:t>MP-BGP(Multi-Protocol BGP)</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RFC 4760</a:t>
            </a:r>
            <a:r>
              <a:rPr lang="zh-CN" altLang="en-US" sz="2400" dirty="0">
                <a:latin typeface="微软雅黑" panose="020B0503020204020204" pitchFamily="34" charset="-122"/>
                <a:ea typeface="微软雅黑" panose="020B0503020204020204" pitchFamily="34" charset="-122"/>
              </a:rPr>
              <a:t>，支持多种网络层协议（</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IPX</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MP-BGP</a:t>
            </a:r>
            <a:r>
              <a:rPr lang="zh-CN" altLang="en-US" sz="2000" dirty="0">
                <a:latin typeface="微软雅黑" panose="020B0503020204020204" pitchFamily="34" charset="-122"/>
                <a:ea typeface="微软雅黑" panose="020B0503020204020204" pitchFamily="34" charset="-122"/>
              </a:rPr>
              <a:t>向前兼容，并支持组播</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BGP</a:t>
            </a:r>
            <a:r>
              <a:rPr lang="zh-CN" altLang="en-US" sz="2000" dirty="0">
                <a:latin typeface="微软雅黑" panose="020B0503020204020204" pitchFamily="34" charset="-122"/>
                <a:ea typeface="微软雅黑" panose="020B0503020204020204" pitchFamily="34" charset="-122"/>
              </a:rPr>
              <a:t>连接可以是</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或</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，报文内可传递其它网络协议的路由信息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多协议可达</a:t>
            </a:r>
            <a:r>
              <a:rPr lang="en-US" altLang="zh-CN" sz="2000" dirty="0">
                <a:latin typeface="微软雅黑" panose="020B0503020204020204" pitchFamily="34" charset="-122"/>
                <a:ea typeface="微软雅黑" panose="020B0503020204020204" pitchFamily="34" charset="-122"/>
              </a:rPr>
              <a:t>NLRI</a:t>
            </a:r>
            <a:r>
              <a:rPr lang="zh-CN" altLang="en-US" sz="2000" dirty="0">
                <a:latin typeface="微软雅黑" panose="020B0503020204020204" pitchFamily="34" charset="-122"/>
                <a:ea typeface="微软雅黑" panose="020B0503020204020204" pitchFamily="34" charset="-122"/>
              </a:rPr>
              <a:t>描述了到达目的地的信息：地址属于哪个网络层协议，下一跳地址</a:t>
            </a:r>
            <a:endParaRPr lang="en-US" altLang="zh-CN" sz="2000" dirty="0">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98193971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IPv4</a:t>
            </a:r>
            <a:r>
              <a:rPr kumimoji="1" lang="zh-CN" altLang="en-US" dirty="0"/>
              <a:t>到</a:t>
            </a:r>
            <a:r>
              <a:rPr kumimoji="1" lang="en-US" altLang="zh-CN" dirty="0"/>
              <a:t>IPv6</a:t>
            </a:r>
            <a:r>
              <a:rPr kumimoji="1" lang="zh-CN" altLang="en-US" dirty="0"/>
              <a:t>迁移及过渡技术</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211</a:t>
            </a:fld>
            <a:endParaRPr kumimoji="1" lang="zh-CN" altLang="en-US" dirty="0"/>
          </a:p>
        </p:txBody>
      </p:sp>
      <p:sp>
        <p:nvSpPr>
          <p:cNvPr id="5" name="内容占位符 2">
            <a:extLst>
              <a:ext uri="{FF2B5EF4-FFF2-40B4-BE49-F238E27FC236}">
                <a16:creationId xmlns:a16="http://schemas.microsoft.com/office/drawing/2014/main" id="{DB830B1C-0706-7E41-AE1A-DEBBD115D846}"/>
              </a:ext>
            </a:extLst>
          </p:cNvPr>
          <p:cNvSpPr txBox="1">
            <a:spLocks/>
          </p:cNvSpPr>
          <p:nvPr/>
        </p:nvSpPr>
        <p:spPr>
          <a:xfrm>
            <a:off x="704192" y="1414584"/>
            <a:ext cx="11088415"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400" dirty="0">
                <a:latin typeface="微软雅黑" panose="020B0503020204020204" pitchFamily="34" charset="-122"/>
                <a:ea typeface="微软雅黑" panose="020B0503020204020204" pitchFamily="34" charset="-122"/>
              </a:rPr>
              <a:t>IPv4</a:t>
            </a:r>
            <a:r>
              <a:rPr lang="zh-CN" altLang="en-US" sz="2400" dirty="0">
                <a:latin typeface="微软雅黑" panose="020B0503020204020204" pitchFamily="34" charset="-122"/>
                <a:ea typeface="微软雅黑" panose="020B0503020204020204" pitchFamily="34" charset="-122"/>
              </a:rPr>
              <a:t>协议和</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协议并不兼容，迁移可能经历很长时间</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涉及：互联网用户、互联网服务提供商（</a:t>
            </a:r>
            <a:r>
              <a:rPr lang="en-US" altLang="zh-CN" sz="2000" dirty="0">
                <a:latin typeface="微软雅黑" panose="020B0503020204020204" pitchFamily="34" charset="-122"/>
                <a:ea typeface="微软雅黑" panose="020B0503020204020204" pitchFamily="34" charset="-122"/>
              </a:rPr>
              <a:t>ISP</a:t>
            </a:r>
            <a:r>
              <a:rPr lang="zh-CN" altLang="en-US" sz="2000" dirty="0">
                <a:latin typeface="微软雅黑" panose="020B0503020204020204" pitchFamily="34" charset="-122"/>
                <a:ea typeface="微软雅黑" panose="020B0503020204020204" pitchFamily="34" charset="-122"/>
              </a:rPr>
              <a:t>）、互联网内容提供商（</a:t>
            </a:r>
            <a:r>
              <a:rPr lang="en-US" altLang="zh-CN" sz="2000" dirty="0">
                <a:latin typeface="微软雅黑" panose="020B0503020204020204" pitchFamily="34" charset="-122"/>
                <a:ea typeface="微软雅黑" panose="020B0503020204020204" pitchFamily="34" charset="-122"/>
              </a:rPr>
              <a:t>ICP</a:t>
            </a:r>
            <a:r>
              <a:rPr lang="zh-CN" altLang="en-US" sz="2000" dirty="0">
                <a:latin typeface="微软雅黑" panose="020B0503020204020204" pitchFamily="34" charset="-122"/>
                <a:ea typeface="微软雅黑" panose="020B0503020204020204" pitchFamily="34" charset="-122"/>
              </a:rPr>
              <a:t>）、网络设备厂家</a:t>
            </a:r>
          </a:p>
          <a:p>
            <a:pPr algn="just">
              <a:lnSpc>
                <a:spcPct val="120000"/>
              </a:lnSpc>
            </a:pPr>
            <a:r>
              <a:rPr kumimoji="1" lang="en-US" altLang="zh-CN" sz="2400" dirty="0"/>
              <a:t>IPv4/IPv6</a:t>
            </a:r>
            <a:r>
              <a:rPr lang="zh-CN" altLang="en-US" sz="2400" dirty="0">
                <a:latin typeface="微软雅黑" panose="020B0503020204020204" pitchFamily="34" charset="-122"/>
                <a:ea typeface="微软雅黑" panose="020B0503020204020204" pitchFamily="34" charset="-122"/>
              </a:rPr>
              <a:t>过渡技术的关键要素</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尽量保证端到端透明原则</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高效、可行的编址及地址规划</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路由可扩展性，避免路由表膨胀（消耗转发资源 ）</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状态维护，减少因为过渡机制引起的状态维护，如</a:t>
            </a:r>
            <a:r>
              <a:rPr lang="en-US" altLang="zh-CN" sz="2000" dirty="0">
                <a:latin typeface="微软雅黑" panose="020B0503020204020204" pitchFamily="34" charset="-122"/>
                <a:ea typeface="微软雅黑" panose="020B0503020204020204" pitchFamily="34" charset="-122"/>
              </a:rPr>
              <a:t>IPv4-IPv6</a:t>
            </a:r>
            <a:r>
              <a:rPr lang="zh-CN" altLang="en-US" sz="2000" dirty="0">
                <a:latin typeface="微软雅黑" panose="020B0503020204020204" pitchFamily="34" charset="-122"/>
                <a:ea typeface="微软雅黑" panose="020B0503020204020204" pitchFamily="34" charset="-122"/>
              </a:rPr>
              <a:t>映射关系</a:t>
            </a:r>
          </a:p>
          <a:p>
            <a:pPr algn="just">
              <a:lnSpc>
                <a:spcPct val="120000"/>
              </a:lnSpc>
            </a:pPr>
            <a:r>
              <a:rPr lang="zh-CN" altLang="en-US" sz="2400" dirty="0">
                <a:latin typeface="微软雅黑" panose="020B0503020204020204" pitchFamily="34" charset="-122"/>
                <a:ea typeface="微软雅黑" panose="020B0503020204020204" pitchFamily="34" charset="-122"/>
              </a:rPr>
              <a:t>主流过渡技术</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双栈技术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隧道技术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翻译技术</a:t>
            </a:r>
            <a:endParaRPr lang="en-US" altLang="zh-CN" sz="2000" dirty="0">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3" name="矩形 2"/>
          <p:cNvSpPr/>
          <p:nvPr/>
        </p:nvSpPr>
        <p:spPr>
          <a:xfrm>
            <a:off x="3048000" y="2136339"/>
            <a:ext cx="6096000" cy="465640"/>
          </a:xfrm>
          <a:prstGeom prst="rect">
            <a:avLst/>
          </a:prstGeom>
        </p:spPr>
        <p:txBody>
          <a:bodyPr>
            <a:spAutoFit/>
          </a:bodyPr>
          <a:lstStyle/>
          <a:p>
            <a:pPr>
              <a:lnSpc>
                <a:spcPct val="150000"/>
              </a:lnSpc>
            </a:pPr>
            <a:endParaRPr lang="en-US" altLang="zh-CN" dirty="0">
              <a:ea typeface="宋体" panose="02010600030101010101" pitchFamily="2" charset="-122"/>
            </a:endParaRPr>
          </a:p>
        </p:txBody>
      </p:sp>
    </p:spTree>
    <p:extLst>
      <p:ext uri="{BB962C8B-B14F-4D97-AF65-F5344CB8AC3E}">
        <p14:creationId xmlns:p14="http://schemas.microsoft.com/office/powerpoint/2010/main" val="2769803181"/>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Line 147"/>
          <p:cNvSpPr>
            <a:spLocks noChangeShapeType="1"/>
          </p:cNvSpPr>
          <p:nvPr/>
        </p:nvSpPr>
        <p:spPr bwMode="auto">
          <a:xfrm>
            <a:off x="7476072" y="3446227"/>
            <a:ext cx="37280" cy="3025692"/>
          </a:xfrm>
          <a:prstGeom prst="line">
            <a:avLst/>
          </a:prstGeom>
          <a:noFill/>
          <a:ln w="19050">
            <a:solidFill>
              <a:schemeClr val="tx1"/>
            </a:solidFill>
            <a:prstDash val="lgDashDotDot"/>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43" name="Line 147"/>
          <p:cNvSpPr>
            <a:spLocks noChangeShapeType="1"/>
          </p:cNvSpPr>
          <p:nvPr/>
        </p:nvSpPr>
        <p:spPr bwMode="auto">
          <a:xfrm>
            <a:off x="9752519" y="3434741"/>
            <a:ext cx="37280" cy="3025692"/>
          </a:xfrm>
          <a:prstGeom prst="line">
            <a:avLst/>
          </a:prstGeom>
          <a:noFill/>
          <a:ln w="19050">
            <a:solidFill>
              <a:schemeClr val="tx1"/>
            </a:solidFill>
            <a:prstDash val="lgDashDotDot"/>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40" name="Rectangle 183"/>
          <p:cNvSpPr>
            <a:spLocks noChangeArrowheads="1"/>
          </p:cNvSpPr>
          <p:nvPr/>
        </p:nvSpPr>
        <p:spPr bwMode="auto">
          <a:xfrm>
            <a:off x="8179031" y="4453483"/>
            <a:ext cx="1075507" cy="1896597"/>
          </a:xfrm>
          <a:prstGeom prst="rect">
            <a:avLst/>
          </a:prstGeom>
          <a:solidFill>
            <a:schemeClr val="bg1"/>
          </a:solidFill>
          <a:ln w="9525">
            <a:solidFill>
              <a:srgbClr val="C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194" name="Text Box 180"/>
          <p:cNvSpPr txBox="1">
            <a:spLocks noChangeArrowheads="1"/>
          </p:cNvSpPr>
          <p:nvPr/>
        </p:nvSpPr>
        <p:spPr bwMode="auto">
          <a:xfrm>
            <a:off x="5906316" y="2461018"/>
            <a:ext cx="3032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S</a:t>
            </a:r>
          </a:p>
        </p:txBody>
      </p:sp>
      <p:sp>
        <p:nvSpPr>
          <p:cNvPr id="195" name="Text Box 180"/>
          <p:cNvSpPr txBox="1">
            <a:spLocks noChangeArrowheads="1"/>
          </p:cNvSpPr>
          <p:nvPr/>
        </p:nvSpPr>
        <p:spPr bwMode="auto">
          <a:xfrm>
            <a:off x="6645765" y="2461018"/>
            <a:ext cx="3353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A</a:t>
            </a:r>
          </a:p>
        </p:txBody>
      </p:sp>
      <p:sp>
        <p:nvSpPr>
          <p:cNvPr id="196" name="Text Box 180"/>
          <p:cNvSpPr txBox="1">
            <a:spLocks noChangeArrowheads="1"/>
          </p:cNvSpPr>
          <p:nvPr/>
        </p:nvSpPr>
        <p:spPr bwMode="auto">
          <a:xfrm>
            <a:off x="7437979" y="2461018"/>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B</a:t>
            </a:r>
          </a:p>
        </p:txBody>
      </p:sp>
      <p:sp>
        <p:nvSpPr>
          <p:cNvPr id="197" name="Text Box 180"/>
          <p:cNvSpPr txBox="1">
            <a:spLocks noChangeArrowheads="1"/>
          </p:cNvSpPr>
          <p:nvPr/>
        </p:nvSpPr>
        <p:spPr bwMode="auto">
          <a:xfrm>
            <a:off x="8455298" y="2461018"/>
            <a:ext cx="3225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C</a:t>
            </a:r>
          </a:p>
        </p:txBody>
      </p:sp>
      <p:sp>
        <p:nvSpPr>
          <p:cNvPr id="198" name="Text Box 180"/>
          <p:cNvSpPr txBox="1">
            <a:spLocks noChangeArrowheads="1"/>
          </p:cNvSpPr>
          <p:nvPr/>
        </p:nvSpPr>
        <p:spPr bwMode="auto">
          <a:xfrm>
            <a:off x="9517985" y="2461018"/>
            <a:ext cx="2968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E</a:t>
            </a:r>
          </a:p>
        </p:txBody>
      </p:sp>
      <p:sp>
        <p:nvSpPr>
          <p:cNvPr id="199" name="Text Box 180"/>
          <p:cNvSpPr txBox="1">
            <a:spLocks noChangeArrowheads="1"/>
          </p:cNvSpPr>
          <p:nvPr/>
        </p:nvSpPr>
        <p:spPr bwMode="auto">
          <a:xfrm>
            <a:off x="10257434" y="2461018"/>
            <a:ext cx="293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F</a:t>
            </a:r>
          </a:p>
        </p:txBody>
      </p:sp>
      <p:sp>
        <p:nvSpPr>
          <p:cNvPr id="200" name="Text Box 180"/>
          <p:cNvSpPr txBox="1">
            <a:spLocks noChangeArrowheads="1"/>
          </p:cNvSpPr>
          <p:nvPr/>
        </p:nvSpPr>
        <p:spPr bwMode="auto">
          <a:xfrm>
            <a:off x="11017502" y="2461018"/>
            <a:ext cx="341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D</a:t>
            </a:r>
          </a:p>
        </p:txBody>
      </p:sp>
      <p:sp>
        <p:nvSpPr>
          <p:cNvPr id="185" name="Line 147"/>
          <p:cNvSpPr>
            <a:spLocks noChangeShapeType="1"/>
          </p:cNvSpPr>
          <p:nvPr/>
        </p:nvSpPr>
        <p:spPr bwMode="auto">
          <a:xfrm>
            <a:off x="7702446" y="2293436"/>
            <a:ext cx="1998708"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隧道技术</a:t>
            </a:r>
          </a:p>
        </p:txBody>
      </p:sp>
      <p:sp>
        <p:nvSpPr>
          <p:cNvPr id="4" name="灯片编号占位符 3">
            <a:extLst>
              <a:ext uri="{FF2B5EF4-FFF2-40B4-BE49-F238E27FC236}">
                <a16:creationId xmlns:a16="http://schemas.microsoft.com/office/drawing/2014/main" id="{E852B801-B608-C343-9A93-C7F2EAAC62BE}"/>
              </a:ext>
            </a:extLst>
          </p:cNvPr>
          <p:cNvSpPr>
            <a:spLocks noGrp="1"/>
          </p:cNvSpPr>
          <p:nvPr>
            <p:ph type="sldNum" sz="quarter" idx="12"/>
          </p:nvPr>
        </p:nvSpPr>
        <p:spPr/>
        <p:txBody>
          <a:bodyPr/>
          <a:lstStyle/>
          <a:p>
            <a:fld id="{8D4D1E41-7A09-AB4A-A4E1-09765ADA2698}" type="slidenum">
              <a:rPr kumimoji="1" lang="zh-CN" altLang="en-US" smtClean="0"/>
              <a:t>212</a:t>
            </a:fld>
            <a:endParaRPr kumimoji="1" lang="zh-CN" altLang="en-US" dirty="0"/>
          </a:p>
        </p:txBody>
      </p:sp>
      <p:sp>
        <p:nvSpPr>
          <p:cNvPr id="110" name="Text Box 180"/>
          <p:cNvSpPr txBox="1">
            <a:spLocks noChangeArrowheads="1"/>
          </p:cNvSpPr>
          <p:nvPr/>
        </p:nvSpPr>
        <p:spPr bwMode="auto">
          <a:xfrm>
            <a:off x="8287101" y="1641881"/>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C00000"/>
                </a:solidFill>
                <a:latin typeface="微软雅黑" panose="020B0503020204020204" pitchFamily="34" charset="-122"/>
                <a:ea typeface="微软雅黑" panose="020B0503020204020204" pitchFamily="34" charset="-122"/>
              </a:rPr>
              <a:t>IPv6</a:t>
            </a:r>
          </a:p>
        </p:txBody>
      </p:sp>
      <p:pic>
        <p:nvPicPr>
          <p:cNvPr id="3" name="图片 2"/>
          <p:cNvPicPr>
            <a:picLocks noChangeAspect="1"/>
          </p:cNvPicPr>
          <p:nvPr/>
        </p:nvPicPr>
        <p:blipFill>
          <a:blip r:embed="rId2"/>
          <a:stretch>
            <a:fillRect/>
          </a:stretch>
        </p:blipFill>
        <p:spPr>
          <a:xfrm>
            <a:off x="5828312" y="2096524"/>
            <a:ext cx="483343" cy="428967"/>
          </a:xfrm>
          <a:prstGeom prst="rect">
            <a:avLst/>
          </a:prstGeom>
        </p:spPr>
      </p:pic>
      <p:pic>
        <p:nvPicPr>
          <p:cNvPr id="125" name="图片 124"/>
          <p:cNvPicPr>
            <a:picLocks noChangeAspect="1"/>
          </p:cNvPicPr>
          <p:nvPr/>
        </p:nvPicPr>
        <p:blipFill>
          <a:blip r:embed="rId2"/>
          <a:stretch>
            <a:fillRect/>
          </a:stretch>
        </p:blipFill>
        <p:spPr>
          <a:xfrm>
            <a:off x="10944939" y="2119317"/>
            <a:ext cx="483343" cy="428967"/>
          </a:xfrm>
          <a:prstGeom prst="rect">
            <a:avLst/>
          </a:prstGeom>
        </p:spPr>
      </p:pic>
      <p:sp>
        <p:nvSpPr>
          <p:cNvPr id="186" name="Line 141"/>
          <p:cNvSpPr>
            <a:spLocks noChangeShapeType="1"/>
          </p:cNvSpPr>
          <p:nvPr/>
        </p:nvSpPr>
        <p:spPr bwMode="auto">
          <a:xfrm flipV="1">
            <a:off x="7056487"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187" name="Line 141"/>
          <p:cNvSpPr>
            <a:spLocks noChangeShapeType="1"/>
          </p:cNvSpPr>
          <p:nvPr/>
        </p:nvSpPr>
        <p:spPr bwMode="auto">
          <a:xfrm flipV="1">
            <a:off x="6236694"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188" name="Line 141"/>
          <p:cNvSpPr>
            <a:spLocks noChangeShapeType="1"/>
          </p:cNvSpPr>
          <p:nvPr/>
        </p:nvSpPr>
        <p:spPr bwMode="auto">
          <a:xfrm flipV="1">
            <a:off x="9874381"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189" name="Line 141"/>
          <p:cNvSpPr>
            <a:spLocks noChangeShapeType="1"/>
          </p:cNvSpPr>
          <p:nvPr/>
        </p:nvSpPr>
        <p:spPr bwMode="auto">
          <a:xfrm flipV="1">
            <a:off x="10676137"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178" name="对象 177"/>
          <p:cNvGraphicFramePr>
            <a:graphicFrameLocks noChangeAspect="1"/>
          </p:cNvGraphicFramePr>
          <p:nvPr/>
        </p:nvGraphicFramePr>
        <p:xfrm>
          <a:off x="6560544" y="2119317"/>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178" name="对象 1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60544" y="2119317"/>
                        <a:ext cx="516910" cy="474262"/>
                      </a:xfrm>
                      <a:prstGeom prst="rect">
                        <a:avLst/>
                      </a:prstGeom>
                      <a:noFill/>
                    </p:spPr>
                  </p:pic>
                </p:oleObj>
              </mc:Fallback>
            </mc:AlternateContent>
          </a:graphicData>
        </a:graphic>
      </p:graphicFrame>
      <p:graphicFrame>
        <p:nvGraphicFramePr>
          <p:cNvPr id="179" name="对象 178"/>
          <p:cNvGraphicFramePr>
            <a:graphicFrameLocks noChangeAspect="1"/>
          </p:cNvGraphicFramePr>
          <p:nvPr/>
        </p:nvGraphicFramePr>
        <p:xfrm>
          <a:off x="7339536" y="2119317"/>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179" name="对象 17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39536" y="2119317"/>
                        <a:ext cx="516910" cy="474262"/>
                      </a:xfrm>
                      <a:prstGeom prst="rect">
                        <a:avLst/>
                      </a:prstGeom>
                      <a:noFill/>
                    </p:spPr>
                  </p:pic>
                </p:oleObj>
              </mc:Fallback>
            </mc:AlternateContent>
          </a:graphicData>
        </a:graphic>
      </p:graphicFrame>
      <p:graphicFrame>
        <p:nvGraphicFramePr>
          <p:cNvPr id="180" name="对象 179"/>
          <p:cNvGraphicFramePr>
            <a:graphicFrameLocks noChangeAspect="1"/>
          </p:cNvGraphicFramePr>
          <p:nvPr/>
        </p:nvGraphicFramePr>
        <p:xfrm>
          <a:off x="8354223" y="2109793"/>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180" name="对象 17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54223" y="2109793"/>
                        <a:ext cx="516910" cy="474262"/>
                      </a:xfrm>
                      <a:prstGeom prst="rect">
                        <a:avLst/>
                      </a:prstGeom>
                      <a:noFill/>
                    </p:spPr>
                  </p:pic>
                </p:oleObj>
              </mc:Fallback>
            </mc:AlternateContent>
          </a:graphicData>
        </a:graphic>
      </p:graphicFrame>
      <p:graphicFrame>
        <p:nvGraphicFramePr>
          <p:cNvPr id="182" name="对象 181"/>
          <p:cNvGraphicFramePr>
            <a:graphicFrameLocks noChangeAspect="1"/>
          </p:cNvGraphicFramePr>
          <p:nvPr/>
        </p:nvGraphicFramePr>
        <p:xfrm>
          <a:off x="9386955" y="2119317"/>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182" name="对象 18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86955" y="2119317"/>
                        <a:ext cx="516910" cy="474262"/>
                      </a:xfrm>
                      <a:prstGeom prst="rect">
                        <a:avLst/>
                      </a:prstGeom>
                      <a:noFill/>
                    </p:spPr>
                  </p:pic>
                </p:oleObj>
              </mc:Fallback>
            </mc:AlternateContent>
          </a:graphicData>
        </a:graphic>
      </p:graphicFrame>
      <p:graphicFrame>
        <p:nvGraphicFramePr>
          <p:cNvPr id="183" name="对象 182"/>
          <p:cNvGraphicFramePr>
            <a:graphicFrameLocks noChangeAspect="1"/>
          </p:cNvGraphicFramePr>
          <p:nvPr/>
        </p:nvGraphicFramePr>
        <p:xfrm>
          <a:off x="10165947" y="2119317"/>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183" name="对象 18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5947" y="2119317"/>
                        <a:ext cx="516910" cy="474262"/>
                      </a:xfrm>
                      <a:prstGeom prst="rect">
                        <a:avLst/>
                      </a:prstGeom>
                      <a:noFill/>
                    </p:spPr>
                  </p:pic>
                </p:oleObj>
              </mc:Fallback>
            </mc:AlternateContent>
          </a:graphicData>
        </a:graphic>
      </p:graphicFrame>
      <p:sp>
        <p:nvSpPr>
          <p:cNvPr id="76" name="椭圆 75"/>
          <p:cNvSpPr/>
          <p:nvPr/>
        </p:nvSpPr>
        <p:spPr>
          <a:xfrm>
            <a:off x="5591168" y="1536155"/>
            <a:ext cx="2006823" cy="1347537"/>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90" name="椭圆 189"/>
          <p:cNvSpPr/>
          <p:nvPr/>
        </p:nvSpPr>
        <p:spPr>
          <a:xfrm>
            <a:off x="9645410" y="1536154"/>
            <a:ext cx="2006823" cy="1347537"/>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91" name="椭圆 190"/>
          <p:cNvSpPr/>
          <p:nvPr/>
        </p:nvSpPr>
        <p:spPr>
          <a:xfrm>
            <a:off x="7602901" y="1536155"/>
            <a:ext cx="2006823" cy="1347537"/>
          </a:xfrm>
          <a:prstGeom prst="ellipse">
            <a:avLst/>
          </a:prstGeom>
          <a:noFill/>
          <a:ln w="190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92" name="Text Box 180"/>
          <p:cNvSpPr txBox="1">
            <a:spLocks noChangeArrowheads="1"/>
          </p:cNvSpPr>
          <p:nvPr/>
        </p:nvSpPr>
        <p:spPr bwMode="auto">
          <a:xfrm>
            <a:off x="6280278" y="1628107"/>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193" name="Text Box 180"/>
          <p:cNvSpPr txBox="1">
            <a:spLocks noChangeArrowheads="1"/>
          </p:cNvSpPr>
          <p:nvPr/>
        </p:nvSpPr>
        <p:spPr bwMode="auto">
          <a:xfrm>
            <a:off x="10312321" y="1635976"/>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202" name="Text Box 180"/>
          <p:cNvSpPr txBox="1">
            <a:spLocks noChangeArrowheads="1"/>
          </p:cNvSpPr>
          <p:nvPr/>
        </p:nvSpPr>
        <p:spPr bwMode="auto">
          <a:xfrm>
            <a:off x="5906316" y="4093191"/>
            <a:ext cx="3032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S</a:t>
            </a:r>
          </a:p>
        </p:txBody>
      </p:sp>
      <p:sp>
        <p:nvSpPr>
          <p:cNvPr id="203" name="Text Box 180"/>
          <p:cNvSpPr txBox="1">
            <a:spLocks noChangeArrowheads="1"/>
          </p:cNvSpPr>
          <p:nvPr/>
        </p:nvSpPr>
        <p:spPr bwMode="auto">
          <a:xfrm>
            <a:off x="6645765" y="4093191"/>
            <a:ext cx="3353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A</a:t>
            </a:r>
          </a:p>
        </p:txBody>
      </p:sp>
      <p:sp>
        <p:nvSpPr>
          <p:cNvPr id="204" name="Text Box 180"/>
          <p:cNvSpPr txBox="1">
            <a:spLocks noChangeArrowheads="1"/>
          </p:cNvSpPr>
          <p:nvPr/>
        </p:nvSpPr>
        <p:spPr bwMode="auto">
          <a:xfrm>
            <a:off x="7437979" y="4093191"/>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B</a:t>
            </a:r>
          </a:p>
        </p:txBody>
      </p:sp>
      <p:sp>
        <p:nvSpPr>
          <p:cNvPr id="206" name="Text Box 180"/>
          <p:cNvSpPr txBox="1">
            <a:spLocks noChangeArrowheads="1"/>
          </p:cNvSpPr>
          <p:nvPr/>
        </p:nvSpPr>
        <p:spPr bwMode="auto">
          <a:xfrm>
            <a:off x="9517985" y="4093191"/>
            <a:ext cx="2968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E</a:t>
            </a:r>
          </a:p>
        </p:txBody>
      </p:sp>
      <p:sp>
        <p:nvSpPr>
          <p:cNvPr id="207" name="Text Box 180"/>
          <p:cNvSpPr txBox="1">
            <a:spLocks noChangeArrowheads="1"/>
          </p:cNvSpPr>
          <p:nvPr/>
        </p:nvSpPr>
        <p:spPr bwMode="auto">
          <a:xfrm>
            <a:off x="10257434" y="4093191"/>
            <a:ext cx="293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F</a:t>
            </a:r>
          </a:p>
        </p:txBody>
      </p:sp>
      <p:sp>
        <p:nvSpPr>
          <p:cNvPr id="208" name="Text Box 180"/>
          <p:cNvSpPr txBox="1">
            <a:spLocks noChangeArrowheads="1"/>
          </p:cNvSpPr>
          <p:nvPr/>
        </p:nvSpPr>
        <p:spPr bwMode="auto">
          <a:xfrm>
            <a:off x="11017502" y="4093191"/>
            <a:ext cx="341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D</a:t>
            </a:r>
          </a:p>
        </p:txBody>
      </p:sp>
      <p:sp>
        <p:nvSpPr>
          <p:cNvPr id="209" name="Line 147"/>
          <p:cNvSpPr>
            <a:spLocks noChangeShapeType="1"/>
          </p:cNvSpPr>
          <p:nvPr/>
        </p:nvSpPr>
        <p:spPr bwMode="auto">
          <a:xfrm>
            <a:off x="7702446" y="3925609"/>
            <a:ext cx="1998708" cy="0"/>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pic>
        <p:nvPicPr>
          <p:cNvPr id="211" name="图片 210"/>
          <p:cNvPicPr>
            <a:picLocks noChangeAspect="1"/>
          </p:cNvPicPr>
          <p:nvPr/>
        </p:nvPicPr>
        <p:blipFill>
          <a:blip r:embed="rId2"/>
          <a:stretch>
            <a:fillRect/>
          </a:stretch>
        </p:blipFill>
        <p:spPr>
          <a:xfrm>
            <a:off x="5828312" y="3728697"/>
            <a:ext cx="483343" cy="428967"/>
          </a:xfrm>
          <a:prstGeom prst="rect">
            <a:avLst/>
          </a:prstGeom>
        </p:spPr>
      </p:pic>
      <p:pic>
        <p:nvPicPr>
          <p:cNvPr id="212" name="图片 211"/>
          <p:cNvPicPr>
            <a:picLocks noChangeAspect="1"/>
          </p:cNvPicPr>
          <p:nvPr/>
        </p:nvPicPr>
        <p:blipFill>
          <a:blip r:embed="rId2"/>
          <a:stretch>
            <a:fillRect/>
          </a:stretch>
        </p:blipFill>
        <p:spPr>
          <a:xfrm>
            <a:off x="10944939" y="3751490"/>
            <a:ext cx="483343" cy="428967"/>
          </a:xfrm>
          <a:prstGeom prst="rect">
            <a:avLst/>
          </a:prstGeom>
        </p:spPr>
      </p:pic>
      <p:sp>
        <p:nvSpPr>
          <p:cNvPr id="213" name="Line 141"/>
          <p:cNvSpPr>
            <a:spLocks noChangeShapeType="1"/>
          </p:cNvSpPr>
          <p:nvPr/>
        </p:nvSpPr>
        <p:spPr bwMode="auto">
          <a:xfrm flipV="1">
            <a:off x="7056487"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14" name="Line 141"/>
          <p:cNvSpPr>
            <a:spLocks noChangeShapeType="1"/>
          </p:cNvSpPr>
          <p:nvPr/>
        </p:nvSpPr>
        <p:spPr bwMode="auto">
          <a:xfrm flipV="1">
            <a:off x="6236694"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15" name="Line 141"/>
          <p:cNvSpPr>
            <a:spLocks noChangeShapeType="1"/>
          </p:cNvSpPr>
          <p:nvPr/>
        </p:nvSpPr>
        <p:spPr bwMode="auto">
          <a:xfrm flipV="1">
            <a:off x="9874381"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16" name="Line 141"/>
          <p:cNvSpPr>
            <a:spLocks noChangeShapeType="1"/>
          </p:cNvSpPr>
          <p:nvPr/>
        </p:nvSpPr>
        <p:spPr bwMode="auto">
          <a:xfrm flipV="1">
            <a:off x="10676137"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217" name="对象 216"/>
          <p:cNvGraphicFramePr>
            <a:graphicFrameLocks noChangeAspect="1"/>
          </p:cNvGraphicFramePr>
          <p:nvPr/>
        </p:nvGraphicFramePr>
        <p:xfrm>
          <a:off x="6560544" y="3751490"/>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217" name="对象 2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60544" y="3751490"/>
                        <a:ext cx="516910" cy="474262"/>
                      </a:xfrm>
                      <a:prstGeom prst="rect">
                        <a:avLst/>
                      </a:prstGeom>
                      <a:noFill/>
                    </p:spPr>
                  </p:pic>
                </p:oleObj>
              </mc:Fallback>
            </mc:AlternateContent>
          </a:graphicData>
        </a:graphic>
      </p:graphicFrame>
      <p:graphicFrame>
        <p:nvGraphicFramePr>
          <p:cNvPr id="218" name="对象 217"/>
          <p:cNvGraphicFramePr>
            <a:graphicFrameLocks noChangeAspect="1"/>
          </p:cNvGraphicFramePr>
          <p:nvPr/>
        </p:nvGraphicFramePr>
        <p:xfrm>
          <a:off x="7339536" y="3751490"/>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218" name="对象 2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39536" y="3751490"/>
                        <a:ext cx="516910" cy="474262"/>
                      </a:xfrm>
                      <a:prstGeom prst="rect">
                        <a:avLst/>
                      </a:prstGeom>
                      <a:noFill/>
                    </p:spPr>
                  </p:pic>
                </p:oleObj>
              </mc:Fallback>
            </mc:AlternateContent>
          </a:graphicData>
        </a:graphic>
      </p:graphicFrame>
      <p:graphicFrame>
        <p:nvGraphicFramePr>
          <p:cNvPr id="220" name="对象 219"/>
          <p:cNvGraphicFramePr>
            <a:graphicFrameLocks noChangeAspect="1"/>
          </p:cNvGraphicFramePr>
          <p:nvPr/>
        </p:nvGraphicFramePr>
        <p:xfrm>
          <a:off x="9386955" y="3751490"/>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220" name="对象 2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86955" y="3751490"/>
                        <a:ext cx="516910" cy="474262"/>
                      </a:xfrm>
                      <a:prstGeom prst="rect">
                        <a:avLst/>
                      </a:prstGeom>
                      <a:noFill/>
                    </p:spPr>
                  </p:pic>
                </p:oleObj>
              </mc:Fallback>
            </mc:AlternateContent>
          </a:graphicData>
        </a:graphic>
      </p:graphicFrame>
      <p:graphicFrame>
        <p:nvGraphicFramePr>
          <p:cNvPr id="221" name="对象 220"/>
          <p:cNvGraphicFramePr>
            <a:graphicFrameLocks noChangeAspect="1"/>
          </p:cNvGraphicFramePr>
          <p:nvPr/>
        </p:nvGraphicFramePr>
        <p:xfrm>
          <a:off x="10165947" y="3751490"/>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221" name="对象 2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5947" y="3751490"/>
                        <a:ext cx="516910" cy="474262"/>
                      </a:xfrm>
                      <a:prstGeom prst="rect">
                        <a:avLst/>
                      </a:prstGeom>
                      <a:noFill/>
                    </p:spPr>
                  </p:pic>
                </p:oleObj>
              </mc:Fallback>
            </mc:AlternateContent>
          </a:graphicData>
        </a:graphic>
      </p:graphicFrame>
      <p:sp>
        <p:nvSpPr>
          <p:cNvPr id="225" name="Text Box 180"/>
          <p:cNvSpPr txBox="1">
            <a:spLocks noChangeArrowheads="1"/>
          </p:cNvSpPr>
          <p:nvPr/>
        </p:nvSpPr>
        <p:spPr bwMode="auto">
          <a:xfrm>
            <a:off x="6879718" y="3392360"/>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226" name="Text Box 180"/>
          <p:cNvSpPr txBox="1">
            <a:spLocks noChangeArrowheads="1"/>
          </p:cNvSpPr>
          <p:nvPr/>
        </p:nvSpPr>
        <p:spPr bwMode="auto">
          <a:xfrm>
            <a:off x="9794161" y="3400229"/>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227" name="Text Box 180"/>
          <p:cNvSpPr txBox="1">
            <a:spLocks noChangeArrowheads="1"/>
          </p:cNvSpPr>
          <p:nvPr/>
        </p:nvSpPr>
        <p:spPr bwMode="auto">
          <a:xfrm>
            <a:off x="7622457" y="3393550"/>
            <a:ext cx="20730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b="1" dirty="0">
                <a:solidFill>
                  <a:srgbClr val="0000FF"/>
                </a:solidFill>
                <a:latin typeface="微软雅黑" panose="020B0503020204020204" pitchFamily="34" charset="-122"/>
                <a:ea typeface="微软雅黑" panose="020B0503020204020204" pitchFamily="34" charset="-122"/>
              </a:rPr>
              <a:t>IPv4</a:t>
            </a:r>
            <a:r>
              <a:rPr lang="zh-CN" altLang="en-US" sz="1600" b="1" dirty="0">
                <a:solidFill>
                  <a:srgbClr val="0000FF"/>
                </a:solidFill>
                <a:latin typeface="微软雅黑" panose="020B0503020204020204" pitchFamily="34" charset="-122"/>
                <a:ea typeface="微软雅黑" panose="020B0503020204020204" pitchFamily="34" charset="-122"/>
              </a:rPr>
              <a:t>链路</a:t>
            </a:r>
            <a:r>
              <a:rPr lang="en-US" altLang="zh-CN" sz="1600" b="1" dirty="0">
                <a:solidFill>
                  <a:srgbClr val="0000FF"/>
                </a:solidFill>
                <a:latin typeface="微软雅黑" panose="020B0503020204020204" pitchFamily="34" charset="-122"/>
                <a:ea typeface="微软雅黑" panose="020B0503020204020204" pitchFamily="34" charset="-122"/>
              </a:rPr>
              <a:t>(</a:t>
            </a:r>
            <a:r>
              <a:rPr lang="en-US" altLang="zh-CN" sz="1600" dirty="0">
                <a:solidFill>
                  <a:srgbClr val="0000FF"/>
                </a:solidFill>
                <a:latin typeface="微软雅黑" panose="020B0503020204020204" pitchFamily="34" charset="-122"/>
                <a:ea typeface="微软雅黑" panose="020B0503020204020204" pitchFamily="34" charset="-122"/>
              </a:rPr>
              <a:t>IPv6</a:t>
            </a:r>
            <a:r>
              <a:rPr lang="zh-CN" altLang="en-US" sz="1600" b="1" dirty="0">
                <a:solidFill>
                  <a:srgbClr val="0000FF"/>
                </a:solidFill>
                <a:latin typeface="微软雅黑" panose="020B0503020204020204" pitchFamily="34" charset="-122"/>
                <a:ea typeface="微软雅黑" panose="020B0503020204020204" pitchFamily="34" charset="-122"/>
              </a:rPr>
              <a:t>隧道</a:t>
            </a:r>
            <a:r>
              <a:rPr lang="en-US" altLang="zh-CN" sz="1600" b="1" dirty="0">
                <a:solidFill>
                  <a:srgbClr val="0000FF"/>
                </a:solidFill>
                <a:latin typeface="微软雅黑" panose="020B0503020204020204" pitchFamily="34" charset="-122"/>
                <a:ea typeface="微软雅黑" panose="020B0503020204020204" pitchFamily="34" charset="-122"/>
              </a:rPr>
              <a:t>)</a:t>
            </a:r>
          </a:p>
        </p:txBody>
      </p:sp>
      <p:sp>
        <p:nvSpPr>
          <p:cNvPr id="229" name="Rectangle 183"/>
          <p:cNvSpPr>
            <a:spLocks noChangeArrowheads="1"/>
          </p:cNvSpPr>
          <p:nvPr/>
        </p:nvSpPr>
        <p:spPr bwMode="auto">
          <a:xfrm>
            <a:off x="6457044" y="4465362"/>
            <a:ext cx="733425" cy="1173966"/>
          </a:xfrm>
          <a:prstGeom prst="rect">
            <a:avLst/>
          </a:prstGeom>
          <a:solidFill>
            <a:schemeClr val="bg1"/>
          </a:solidFill>
          <a:ln w="9525">
            <a:solidFill>
              <a:srgbClr val="0000FF"/>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230" name="Text Box 184"/>
          <p:cNvSpPr txBox="1">
            <a:spLocks noChangeArrowheads="1"/>
          </p:cNvSpPr>
          <p:nvPr/>
        </p:nvSpPr>
        <p:spPr bwMode="auto">
          <a:xfrm>
            <a:off x="6418944" y="4492104"/>
            <a:ext cx="864339"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源</a:t>
            </a:r>
            <a:r>
              <a:rPr lang="en-US" altLang="zh-CN" sz="1600" dirty="0">
                <a:solidFill>
                  <a:srgbClr val="0000FF"/>
                </a:solidFill>
                <a:latin typeface="微软雅黑" panose="020B0503020204020204" pitchFamily="34" charset="-122"/>
                <a:ea typeface="微软雅黑" panose="020B0503020204020204" pitchFamily="34" charset="-122"/>
              </a:rPr>
              <a:t>: S</a:t>
            </a:r>
          </a:p>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目的</a:t>
            </a:r>
            <a:r>
              <a:rPr lang="en-US" altLang="zh-CN" sz="1600" dirty="0">
                <a:solidFill>
                  <a:srgbClr val="0000FF"/>
                </a:solidFill>
                <a:latin typeface="微软雅黑" panose="020B0503020204020204" pitchFamily="34" charset="-122"/>
                <a:ea typeface="微软雅黑" panose="020B0503020204020204" pitchFamily="34" charset="-122"/>
              </a:rPr>
              <a:t>: D</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8" name="矩形 77"/>
          <p:cNvSpPr/>
          <p:nvPr/>
        </p:nvSpPr>
        <p:spPr>
          <a:xfrm>
            <a:off x="6535233" y="5050904"/>
            <a:ext cx="596728" cy="499846"/>
          </a:xfrm>
          <a:prstGeom prst="rect">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数据</a:t>
            </a:r>
          </a:p>
        </p:txBody>
      </p:sp>
      <p:sp>
        <p:nvSpPr>
          <p:cNvPr id="231" name="Text Box 180"/>
          <p:cNvSpPr txBox="1">
            <a:spLocks noChangeArrowheads="1"/>
          </p:cNvSpPr>
          <p:nvPr/>
        </p:nvSpPr>
        <p:spPr bwMode="auto">
          <a:xfrm>
            <a:off x="6321667" y="5649443"/>
            <a:ext cx="1008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r>
              <a:rPr lang="zh-CN" altLang="en-US" sz="1600" dirty="0">
                <a:solidFill>
                  <a:srgbClr val="0000FF"/>
                </a:solidFill>
                <a:latin typeface="微软雅黑" panose="020B0503020204020204" pitchFamily="34" charset="-122"/>
                <a:ea typeface="微软雅黑" panose="020B0503020204020204" pitchFamily="34" charset="-122"/>
              </a:rPr>
              <a:t>报文</a:t>
            </a: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239" name="Text Box 180"/>
          <p:cNvSpPr txBox="1">
            <a:spLocks noChangeArrowheads="1"/>
          </p:cNvSpPr>
          <p:nvPr/>
        </p:nvSpPr>
        <p:spPr bwMode="auto">
          <a:xfrm>
            <a:off x="8189824" y="6381027"/>
            <a:ext cx="10390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C00000"/>
                </a:solidFill>
                <a:latin typeface="微软雅黑" panose="020B0503020204020204" pitchFamily="34" charset="-122"/>
                <a:ea typeface="微软雅黑" panose="020B0503020204020204" pitchFamily="34" charset="-122"/>
              </a:rPr>
              <a:t>IPv6</a:t>
            </a:r>
            <a:r>
              <a:rPr lang="zh-CN" altLang="en-US" sz="1600" dirty="0">
                <a:solidFill>
                  <a:srgbClr val="C00000"/>
                </a:solidFill>
                <a:latin typeface="微软雅黑" panose="020B0503020204020204" pitchFamily="34" charset="-122"/>
                <a:ea typeface="微软雅黑" panose="020B0503020204020204" pitchFamily="34" charset="-122"/>
              </a:rPr>
              <a:t>报文</a:t>
            </a:r>
            <a:endParaRPr lang="en-US" altLang="zh-CN" sz="1600" dirty="0">
              <a:solidFill>
                <a:srgbClr val="C00000"/>
              </a:solidFill>
              <a:latin typeface="微软雅黑" panose="020B0503020204020204" pitchFamily="34" charset="-122"/>
              <a:ea typeface="微软雅黑" panose="020B0503020204020204" pitchFamily="34" charset="-122"/>
            </a:endParaRPr>
          </a:p>
        </p:txBody>
      </p:sp>
      <p:sp>
        <p:nvSpPr>
          <p:cNvPr id="241" name="Text Box 184"/>
          <p:cNvSpPr txBox="1">
            <a:spLocks noChangeArrowheads="1"/>
          </p:cNvSpPr>
          <p:nvPr/>
        </p:nvSpPr>
        <p:spPr bwMode="auto">
          <a:xfrm>
            <a:off x="8257036" y="4461624"/>
            <a:ext cx="845103"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C00000"/>
                </a:solidFill>
                <a:latin typeface="微软雅黑" panose="020B0503020204020204" pitchFamily="34" charset="-122"/>
                <a:ea typeface="微软雅黑" panose="020B0503020204020204" pitchFamily="34" charset="-122"/>
              </a:rPr>
              <a:t>源</a:t>
            </a:r>
            <a:r>
              <a:rPr lang="en-US" altLang="zh-CN" sz="1600" dirty="0">
                <a:solidFill>
                  <a:srgbClr val="C00000"/>
                </a:solidFill>
                <a:latin typeface="微软雅黑" panose="020B0503020204020204" pitchFamily="34" charset="-122"/>
                <a:ea typeface="微软雅黑" panose="020B0503020204020204" pitchFamily="34" charset="-122"/>
              </a:rPr>
              <a:t>: B</a:t>
            </a:r>
          </a:p>
          <a:p>
            <a:pPr>
              <a:spcBef>
                <a:spcPct val="0"/>
              </a:spcBef>
              <a:buClrTx/>
              <a:buSzTx/>
              <a:buFontTx/>
              <a:buNone/>
            </a:pPr>
            <a:r>
              <a:rPr lang="zh-CN" altLang="en-US" sz="1600" dirty="0">
                <a:solidFill>
                  <a:srgbClr val="C00000"/>
                </a:solidFill>
                <a:latin typeface="微软雅黑" panose="020B0503020204020204" pitchFamily="34" charset="-122"/>
                <a:ea typeface="微软雅黑" panose="020B0503020204020204" pitchFamily="34" charset="-122"/>
              </a:rPr>
              <a:t>目的</a:t>
            </a:r>
            <a:r>
              <a:rPr lang="en-US" altLang="zh-CN" sz="1600" dirty="0">
                <a:solidFill>
                  <a:srgbClr val="C00000"/>
                </a:solidFill>
                <a:latin typeface="微软雅黑" panose="020B0503020204020204" pitchFamily="34" charset="-122"/>
                <a:ea typeface="微软雅黑" panose="020B0503020204020204" pitchFamily="34" charset="-122"/>
              </a:rPr>
              <a:t>: E</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9" name="下箭头 78"/>
          <p:cNvSpPr/>
          <p:nvPr/>
        </p:nvSpPr>
        <p:spPr>
          <a:xfrm>
            <a:off x="8355681" y="3105839"/>
            <a:ext cx="426720" cy="205993"/>
          </a:xfrm>
          <a:prstGeom prst="downArrow">
            <a:avLst/>
          </a:prstGeom>
          <a:solidFill>
            <a:srgbClr val="B348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68" name="Rectangle 183"/>
          <p:cNvSpPr>
            <a:spLocks noChangeArrowheads="1"/>
          </p:cNvSpPr>
          <p:nvPr/>
        </p:nvSpPr>
        <p:spPr bwMode="auto">
          <a:xfrm>
            <a:off x="10173788" y="4465362"/>
            <a:ext cx="733425" cy="1173966"/>
          </a:xfrm>
          <a:prstGeom prst="rect">
            <a:avLst/>
          </a:prstGeom>
          <a:solidFill>
            <a:schemeClr val="bg1"/>
          </a:solidFill>
          <a:ln w="9525">
            <a:solidFill>
              <a:srgbClr val="0000FF"/>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69" name="Text Box 184"/>
          <p:cNvSpPr txBox="1">
            <a:spLocks noChangeArrowheads="1"/>
          </p:cNvSpPr>
          <p:nvPr/>
        </p:nvSpPr>
        <p:spPr bwMode="auto">
          <a:xfrm>
            <a:off x="10135688" y="4492104"/>
            <a:ext cx="864339"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源</a:t>
            </a:r>
            <a:r>
              <a:rPr lang="en-US" altLang="zh-CN" sz="1600" dirty="0">
                <a:solidFill>
                  <a:srgbClr val="0000FF"/>
                </a:solidFill>
                <a:latin typeface="微软雅黑" panose="020B0503020204020204" pitchFamily="34" charset="-122"/>
                <a:ea typeface="微软雅黑" panose="020B0503020204020204" pitchFamily="34" charset="-122"/>
              </a:rPr>
              <a:t>: S</a:t>
            </a:r>
          </a:p>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目的</a:t>
            </a:r>
            <a:r>
              <a:rPr lang="en-US" altLang="zh-CN" sz="1600" dirty="0">
                <a:solidFill>
                  <a:srgbClr val="0000FF"/>
                </a:solidFill>
                <a:latin typeface="微软雅黑" panose="020B0503020204020204" pitchFamily="34" charset="-122"/>
                <a:ea typeface="微软雅黑" panose="020B0503020204020204" pitchFamily="34" charset="-122"/>
              </a:rPr>
              <a:t>: D</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0" name="矩形 69"/>
          <p:cNvSpPr/>
          <p:nvPr/>
        </p:nvSpPr>
        <p:spPr>
          <a:xfrm>
            <a:off x="10251977" y="5050904"/>
            <a:ext cx="596728" cy="499846"/>
          </a:xfrm>
          <a:prstGeom prst="rect">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数据</a:t>
            </a:r>
          </a:p>
        </p:txBody>
      </p:sp>
      <p:sp>
        <p:nvSpPr>
          <p:cNvPr id="71" name="Text Box 180"/>
          <p:cNvSpPr txBox="1">
            <a:spLocks noChangeArrowheads="1"/>
          </p:cNvSpPr>
          <p:nvPr/>
        </p:nvSpPr>
        <p:spPr bwMode="auto">
          <a:xfrm>
            <a:off x="10038411" y="5649443"/>
            <a:ext cx="1008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r>
              <a:rPr lang="zh-CN" altLang="en-US" sz="1600" dirty="0">
                <a:solidFill>
                  <a:srgbClr val="0000FF"/>
                </a:solidFill>
                <a:latin typeface="微软雅黑" panose="020B0503020204020204" pitchFamily="34" charset="-122"/>
                <a:ea typeface="微软雅黑" panose="020B0503020204020204" pitchFamily="34" charset="-122"/>
              </a:rPr>
              <a:t>报文</a:t>
            </a: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7" name="Rectangle 183"/>
          <p:cNvSpPr>
            <a:spLocks noChangeArrowheads="1"/>
          </p:cNvSpPr>
          <p:nvPr/>
        </p:nvSpPr>
        <p:spPr bwMode="auto">
          <a:xfrm>
            <a:off x="8348774" y="5082334"/>
            <a:ext cx="733425" cy="1173966"/>
          </a:xfrm>
          <a:prstGeom prst="rect">
            <a:avLst/>
          </a:prstGeom>
          <a:solidFill>
            <a:schemeClr val="bg1"/>
          </a:solidFill>
          <a:ln w="9525">
            <a:solidFill>
              <a:srgbClr val="0000FF"/>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81" name="Text Box 184"/>
          <p:cNvSpPr txBox="1">
            <a:spLocks noChangeArrowheads="1"/>
          </p:cNvSpPr>
          <p:nvPr/>
        </p:nvSpPr>
        <p:spPr bwMode="auto">
          <a:xfrm>
            <a:off x="8310674" y="5109076"/>
            <a:ext cx="864339"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源</a:t>
            </a:r>
            <a:r>
              <a:rPr lang="en-US" altLang="zh-CN" sz="1600" dirty="0">
                <a:solidFill>
                  <a:srgbClr val="0000FF"/>
                </a:solidFill>
                <a:latin typeface="微软雅黑" panose="020B0503020204020204" pitchFamily="34" charset="-122"/>
                <a:ea typeface="微软雅黑" panose="020B0503020204020204" pitchFamily="34" charset="-122"/>
              </a:rPr>
              <a:t>: S</a:t>
            </a:r>
          </a:p>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目的</a:t>
            </a:r>
            <a:r>
              <a:rPr lang="en-US" altLang="zh-CN" sz="1600" dirty="0">
                <a:solidFill>
                  <a:srgbClr val="0000FF"/>
                </a:solidFill>
                <a:latin typeface="微软雅黑" panose="020B0503020204020204" pitchFamily="34" charset="-122"/>
                <a:ea typeface="微软雅黑" panose="020B0503020204020204" pitchFamily="34" charset="-122"/>
              </a:rPr>
              <a:t>: D</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82" name="矩形 81"/>
          <p:cNvSpPr/>
          <p:nvPr/>
        </p:nvSpPr>
        <p:spPr>
          <a:xfrm>
            <a:off x="8426963" y="5667876"/>
            <a:ext cx="596728" cy="499846"/>
          </a:xfrm>
          <a:prstGeom prst="rect">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数据</a:t>
            </a:r>
          </a:p>
        </p:txBody>
      </p:sp>
      <p:sp>
        <p:nvSpPr>
          <p:cNvPr id="72" name="矩形 71"/>
          <p:cNvSpPr/>
          <p:nvPr/>
        </p:nvSpPr>
        <p:spPr>
          <a:xfrm>
            <a:off x="554808" y="1457215"/>
            <a:ext cx="4960055" cy="1184940"/>
          </a:xfrm>
          <a:prstGeom prst="rect">
            <a:avLst/>
          </a:prstGeom>
        </p:spPr>
        <p:txBody>
          <a:bodyPr wrap="square">
            <a:spAutoFit/>
          </a:bodyPr>
          <a:lstStyle/>
          <a:p>
            <a:pPr>
              <a:spcBef>
                <a:spcPts val="600"/>
              </a:spcBef>
            </a:pPr>
            <a:r>
              <a:rPr lang="zh-CN" altLang="en-US" sz="2200" b="1" dirty="0">
                <a:latin typeface="Microsoft YaHei" panose="020B0503020204020204" pitchFamily="34" charset="-122"/>
                <a:ea typeface="Microsoft YaHei" panose="020B0503020204020204" pitchFamily="34" charset="-122"/>
              </a:rPr>
              <a:t>隧道技术（</a:t>
            </a:r>
            <a:r>
              <a:rPr lang="en-US" altLang="zh-CN" sz="2200" b="1" dirty="0">
                <a:latin typeface="Microsoft YaHei" panose="020B0503020204020204" pitchFamily="34" charset="-122"/>
                <a:ea typeface="Microsoft YaHei" panose="020B0503020204020204" pitchFamily="34" charset="-122"/>
              </a:rPr>
              <a:t>2</a:t>
            </a:r>
            <a:r>
              <a:rPr lang="zh-CN" altLang="en-US" sz="2200" b="1" dirty="0">
                <a:latin typeface="Microsoft YaHei" panose="020B0503020204020204" pitchFamily="34" charset="-122"/>
                <a:ea typeface="Microsoft YaHei" panose="020B0503020204020204" pitchFamily="34" charset="-122"/>
              </a:rPr>
              <a:t>个同构网络的系统，跨越中间异构网络进行通信）</a:t>
            </a:r>
            <a:endParaRPr lang="en-US" altLang="zh-CN" sz="2200" b="1" dirty="0">
              <a:latin typeface="Microsoft YaHei" panose="020B0503020204020204" pitchFamily="34" charset="-122"/>
              <a:ea typeface="Microsoft YaHei" panose="020B0503020204020204" pitchFamily="34" charset="-122"/>
            </a:endParaRPr>
          </a:p>
          <a:p>
            <a:pPr>
              <a:spcBef>
                <a:spcPts val="600"/>
              </a:spcBef>
            </a:pPr>
            <a:r>
              <a:rPr lang="zh-CN" altLang="en-US" sz="2200" i="1" dirty="0">
                <a:latin typeface="Microsoft YaHei" panose="020B0503020204020204" pitchFamily="34" charset="-122"/>
                <a:ea typeface="Microsoft YaHei" panose="020B0503020204020204" pitchFamily="34" charset="-122"/>
              </a:rPr>
              <a:t>将</a:t>
            </a:r>
            <a:r>
              <a:rPr lang="en-US" altLang="zh-CN" sz="2200" i="1" dirty="0">
                <a:latin typeface="Microsoft YaHei" panose="020B0503020204020204" pitchFamily="34" charset="-122"/>
                <a:ea typeface="Microsoft YaHei" panose="020B0503020204020204" pitchFamily="34" charset="-122"/>
              </a:rPr>
              <a:t>A</a:t>
            </a:r>
            <a:r>
              <a:rPr lang="zh-CN" altLang="en-US" sz="2200" i="1" dirty="0">
                <a:latin typeface="Microsoft YaHei" panose="020B0503020204020204" pitchFamily="34" charset="-122"/>
                <a:ea typeface="Microsoft YaHei" panose="020B0503020204020204" pitchFamily="34" charset="-122"/>
              </a:rPr>
              <a:t>协议数据包封装在</a:t>
            </a:r>
            <a:r>
              <a:rPr lang="en-US" altLang="zh-CN" sz="2200" i="1" dirty="0">
                <a:latin typeface="Microsoft YaHei" panose="020B0503020204020204" pitchFamily="34" charset="-122"/>
                <a:ea typeface="Microsoft YaHei" panose="020B0503020204020204" pitchFamily="34" charset="-122"/>
              </a:rPr>
              <a:t>B</a:t>
            </a:r>
            <a:r>
              <a:rPr lang="zh-CN" altLang="en-US" sz="2200" i="1" dirty="0">
                <a:latin typeface="Microsoft YaHei" panose="020B0503020204020204" pitchFamily="34" charset="-122"/>
                <a:ea typeface="Microsoft YaHei" panose="020B0503020204020204" pitchFamily="34" charset="-122"/>
              </a:rPr>
              <a:t>协议中传输</a:t>
            </a:r>
          </a:p>
        </p:txBody>
      </p:sp>
      <p:sp>
        <p:nvSpPr>
          <p:cNvPr id="73" name="内容占位符 2">
            <a:extLst>
              <a:ext uri="{FF2B5EF4-FFF2-40B4-BE49-F238E27FC236}">
                <a16:creationId xmlns:a16="http://schemas.microsoft.com/office/drawing/2014/main" id="{DB830B1C-0706-7E41-AE1A-DEBBD115D846}"/>
              </a:ext>
            </a:extLst>
          </p:cNvPr>
          <p:cNvSpPr>
            <a:spLocks noGrp="1"/>
          </p:cNvSpPr>
          <p:nvPr>
            <p:ph idx="1"/>
          </p:nvPr>
        </p:nvSpPr>
        <p:spPr>
          <a:xfrm>
            <a:off x="580248" y="2635946"/>
            <a:ext cx="4753381" cy="4178741"/>
          </a:xfrm>
        </p:spPr>
        <p:txBody>
          <a:bodyPr>
            <a:normAutofit fontScale="92500" lnSpcReduction="10000"/>
          </a:bodyPr>
          <a:lstStyle/>
          <a:p>
            <a:pPr marL="0" indent="0">
              <a:buNone/>
            </a:pPr>
            <a:r>
              <a:rPr lang="zh-CN" altLang="en-US" sz="2400" b="1" dirty="0"/>
              <a:t>隧道类型：</a:t>
            </a:r>
            <a:endParaRPr lang="en-US" altLang="zh-CN" sz="2400" b="1" dirty="0"/>
          </a:p>
          <a:p>
            <a:r>
              <a:rPr lang="zh-CN" altLang="en-US" sz="2400" dirty="0"/>
              <a:t>应用层隧道</a:t>
            </a:r>
            <a:endParaRPr lang="en-US" altLang="zh-CN" sz="2400" dirty="0"/>
          </a:p>
          <a:p>
            <a:pPr lvl="1"/>
            <a:r>
              <a:rPr lang="en-US" altLang="zh-CN" sz="2000" dirty="0"/>
              <a:t>SSH</a:t>
            </a:r>
            <a:r>
              <a:rPr lang="zh-CN" altLang="en-US" sz="2000" dirty="0"/>
              <a:t>隧道，</a:t>
            </a:r>
            <a:r>
              <a:rPr lang="en-US" altLang="zh-CN" sz="2000" dirty="0"/>
              <a:t>HTTPS</a:t>
            </a:r>
            <a:r>
              <a:rPr lang="zh-CN" altLang="en-US" sz="2000" dirty="0"/>
              <a:t>隧道</a:t>
            </a:r>
            <a:endParaRPr lang="en-US" altLang="zh-CN" sz="2000" dirty="0"/>
          </a:p>
          <a:p>
            <a:r>
              <a:rPr lang="zh-CN" altLang="en-US" sz="2400" dirty="0"/>
              <a:t>传输层隧道</a:t>
            </a:r>
            <a:endParaRPr lang="en-US" altLang="zh-CN" sz="2400" dirty="0"/>
          </a:p>
          <a:p>
            <a:pPr lvl="1"/>
            <a:r>
              <a:rPr lang="en-US" altLang="zh-CN" sz="2000" dirty="0"/>
              <a:t>TCP</a:t>
            </a:r>
            <a:r>
              <a:rPr lang="zh-CN" altLang="en-US" sz="2000" dirty="0"/>
              <a:t>隧道，</a:t>
            </a:r>
            <a:r>
              <a:rPr lang="en-US" altLang="zh-CN" sz="2000" dirty="0"/>
              <a:t>UDP</a:t>
            </a:r>
            <a:r>
              <a:rPr lang="zh-CN" altLang="en-US" sz="2000" dirty="0"/>
              <a:t>隧道</a:t>
            </a:r>
            <a:endParaRPr lang="en-US" altLang="zh-CN" sz="2000" dirty="0"/>
          </a:p>
          <a:p>
            <a:r>
              <a:rPr lang="zh-CN" altLang="en-US" sz="2400" dirty="0"/>
              <a:t>网络层隧道</a:t>
            </a:r>
            <a:endParaRPr lang="en-US" altLang="zh-CN" sz="2400" dirty="0"/>
          </a:p>
          <a:p>
            <a:pPr lvl="1"/>
            <a:r>
              <a:rPr lang="en-US" altLang="zh-CN" sz="2000" dirty="0"/>
              <a:t>4 in 4,  </a:t>
            </a:r>
            <a:r>
              <a:rPr lang="en-US" altLang="zh-CN" sz="2000" dirty="0">
                <a:solidFill>
                  <a:srgbClr val="C00000"/>
                </a:solidFill>
              </a:rPr>
              <a:t>4 in 6,  6 in 4</a:t>
            </a:r>
          </a:p>
          <a:p>
            <a:pPr lvl="1"/>
            <a:r>
              <a:rPr lang="en-US" altLang="zh-CN" sz="2000" dirty="0"/>
              <a:t>GRE</a:t>
            </a:r>
            <a:r>
              <a:rPr lang="zh-CN" altLang="en-US" sz="2000" dirty="0"/>
              <a:t>，通用路由封装隧道</a:t>
            </a:r>
            <a:endParaRPr lang="en-US" altLang="zh-CN" sz="2000" dirty="0"/>
          </a:p>
          <a:p>
            <a:r>
              <a:rPr lang="zh-CN" altLang="en-US" sz="2400" dirty="0"/>
              <a:t>链路层层隧道</a:t>
            </a:r>
            <a:endParaRPr lang="en-US" altLang="zh-CN" sz="2400" dirty="0"/>
          </a:p>
          <a:p>
            <a:pPr lvl="1"/>
            <a:r>
              <a:rPr lang="en-US" altLang="zh-CN" sz="2000" dirty="0"/>
              <a:t>L2TP</a:t>
            </a:r>
            <a:r>
              <a:rPr lang="zh-CN" altLang="en-US" sz="2000" dirty="0"/>
              <a:t>协议，链路层隧道</a:t>
            </a:r>
            <a:endParaRPr lang="en-US" altLang="zh-CN" sz="2000" dirty="0"/>
          </a:p>
          <a:p>
            <a:pPr lvl="1"/>
            <a:r>
              <a:rPr lang="en-US" altLang="zh-CN" sz="2000" dirty="0"/>
              <a:t>PPTP</a:t>
            </a:r>
            <a:r>
              <a:rPr lang="zh-CN" altLang="en-US" sz="2000" dirty="0"/>
              <a:t>协议，点对点隧道</a:t>
            </a:r>
            <a:endParaRPr lang="en-US" altLang="zh-CN" sz="2000" dirty="0"/>
          </a:p>
        </p:txBody>
      </p:sp>
      <p:sp>
        <p:nvSpPr>
          <p:cNvPr id="5" name="日期占位符 4"/>
          <p:cNvSpPr>
            <a:spLocks noGrp="1"/>
          </p:cNvSpPr>
          <p:nvPr>
            <p:ph type="dt" sz="half" idx="10"/>
          </p:nvPr>
        </p:nvSpPr>
        <p:spPr/>
        <p:txBody>
          <a:bodyPr/>
          <a:lstStyle/>
          <a:p>
            <a:r>
              <a:rPr kumimoji="1" lang="en-US" altLang="zh-CN" dirty="0"/>
              <a:t>5.9 IPv6</a:t>
            </a:r>
            <a:r>
              <a:rPr kumimoji="1" lang="zh-CN" altLang="en-US" dirty="0"/>
              <a:t>技术</a:t>
            </a:r>
          </a:p>
        </p:txBody>
      </p:sp>
      <p:sp>
        <p:nvSpPr>
          <p:cNvPr id="74" name="Text Box 180"/>
          <p:cNvSpPr txBox="1">
            <a:spLocks noChangeArrowheads="1"/>
          </p:cNvSpPr>
          <p:nvPr/>
        </p:nvSpPr>
        <p:spPr bwMode="auto">
          <a:xfrm>
            <a:off x="6974796" y="2752446"/>
            <a:ext cx="13260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b="1" dirty="0">
                <a:latin typeface="微软雅黑" panose="020B0503020204020204" pitchFamily="34" charset="-122"/>
                <a:ea typeface="微软雅黑" panose="020B0503020204020204" pitchFamily="34" charset="-122"/>
              </a:rPr>
              <a:t>封装</a:t>
            </a:r>
            <a:r>
              <a:rPr lang="en-US" altLang="zh-CN" sz="1600" b="1" dirty="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解封装</a:t>
            </a:r>
            <a:endParaRPr lang="en-US" altLang="zh-CN" sz="1600" b="1" dirty="0">
              <a:latin typeface="微软雅黑" panose="020B0503020204020204" pitchFamily="34" charset="-122"/>
              <a:ea typeface="微软雅黑" panose="020B0503020204020204" pitchFamily="34" charset="-122"/>
            </a:endParaRPr>
          </a:p>
        </p:txBody>
      </p:sp>
      <p:sp>
        <p:nvSpPr>
          <p:cNvPr id="75" name="Text Box 180"/>
          <p:cNvSpPr txBox="1">
            <a:spLocks noChangeArrowheads="1"/>
          </p:cNvSpPr>
          <p:nvPr/>
        </p:nvSpPr>
        <p:spPr bwMode="auto">
          <a:xfrm>
            <a:off x="9041946" y="2758007"/>
            <a:ext cx="13260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b="1" dirty="0">
                <a:latin typeface="微软雅黑" panose="020B0503020204020204" pitchFamily="34" charset="-122"/>
                <a:ea typeface="微软雅黑" panose="020B0503020204020204" pitchFamily="34" charset="-122"/>
              </a:rPr>
              <a:t>封装</a:t>
            </a:r>
            <a:r>
              <a:rPr lang="en-US" altLang="zh-CN" sz="1600" b="1" dirty="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解封装</a:t>
            </a:r>
            <a:endParaRPr lang="en-US" altLang="zh-CN" sz="16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24593657"/>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隧道技术</a:t>
            </a:r>
          </a:p>
        </p:txBody>
      </p:sp>
      <p:sp>
        <p:nvSpPr>
          <p:cNvPr id="4" name="灯片编号占位符 3">
            <a:extLst>
              <a:ext uri="{FF2B5EF4-FFF2-40B4-BE49-F238E27FC236}">
                <a16:creationId xmlns:a16="http://schemas.microsoft.com/office/drawing/2014/main" id="{E852B801-B608-C343-9A93-C7F2EAAC62BE}"/>
              </a:ext>
            </a:extLst>
          </p:cNvPr>
          <p:cNvSpPr>
            <a:spLocks noGrp="1"/>
          </p:cNvSpPr>
          <p:nvPr>
            <p:ph type="sldNum" sz="quarter" idx="12"/>
          </p:nvPr>
        </p:nvSpPr>
        <p:spPr/>
        <p:txBody>
          <a:bodyPr/>
          <a:lstStyle/>
          <a:p>
            <a:fld id="{8D4D1E41-7A09-AB4A-A4E1-09765ADA2698}" type="slidenum">
              <a:rPr kumimoji="1" lang="zh-CN" altLang="en-US" smtClean="0"/>
              <a:t>213</a:t>
            </a:fld>
            <a:endParaRPr kumimoji="1" lang="zh-CN" altLang="en-US" dirty="0"/>
          </a:p>
        </p:txBody>
      </p:sp>
      <p:sp>
        <p:nvSpPr>
          <p:cNvPr id="21" name="内容占位符 2">
            <a:extLst>
              <a:ext uri="{FF2B5EF4-FFF2-40B4-BE49-F238E27FC236}">
                <a16:creationId xmlns:a16="http://schemas.microsoft.com/office/drawing/2014/main" id="{DB830B1C-0706-7E41-AE1A-DEBBD115D846}"/>
              </a:ext>
            </a:extLst>
          </p:cNvPr>
          <p:cNvSpPr>
            <a:spLocks noGrp="1"/>
          </p:cNvSpPr>
          <p:nvPr>
            <p:ph idx="1"/>
          </p:nvPr>
        </p:nvSpPr>
        <p:spPr>
          <a:xfrm>
            <a:off x="727114" y="1362525"/>
            <a:ext cx="4772926" cy="2784617"/>
          </a:xfrm>
        </p:spPr>
        <p:txBody>
          <a:bodyPr>
            <a:normAutofit fontScale="92500"/>
          </a:bodyPr>
          <a:lstStyle/>
          <a:p>
            <a:pPr>
              <a:lnSpc>
                <a:spcPct val="110000"/>
              </a:lnSpc>
            </a:pPr>
            <a:r>
              <a:rPr lang="zh-CN" altLang="en-US" sz="2400" dirty="0"/>
              <a:t>隧道链路的选择问题：</a:t>
            </a:r>
            <a:endParaRPr lang="en-US" altLang="zh-CN" sz="2400" dirty="0"/>
          </a:p>
          <a:p>
            <a:pPr lvl="1">
              <a:lnSpc>
                <a:spcPct val="110000"/>
              </a:lnSpc>
            </a:pPr>
            <a:r>
              <a:rPr lang="en-US" altLang="zh-CN" sz="1900" dirty="0"/>
              <a:t>A</a:t>
            </a:r>
            <a:r>
              <a:rPr lang="zh-CN" altLang="en-US" sz="1900" dirty="0"/>
              <a:t>发往</a:t>
            </a:r>
            <a:r>
              <a:rPr lang="en-US" altLang="zh-CN" sz="1900" dirty="0"/>
              <a:t>B</a:t>
            </a:r>
            <a:r>
              <a:rPr lang="zh-CN" altLang="en-US" sz="1900" dirty="0"/>
              <a:t>、</a:t>
            </a:r>
            <a:r>
              <a:rPr lang="en-US" altLang="zh-CN" sz="1900" dirty="0"/>
              <a:t>C</a:t>
            </a:r>
            <a:r>
              <a:rPr lang="zh-CN" altLang="en-US" sz="1900" dirty="0"/>
              <a:t>的报文，通过哪条隧道发送？</a:t>
            </a:r>
            <a:endParaRPr lang="en-US" altLang="zh-CN" sz="1900" dirty="0"/>
          </a:p>
          <a:p>
            <a:r>
              <a:rPr lang="zh-CN" altLang="en-US" sz="2400" dirty="0"/>
              <a:t>静态配置</a:t>
            </a:r>
            <a:endParaRPr lang="en-US" altLang="zh-CN" sz="2400" dirty="0"/>
          </a:p>
          <a:p>
            <a:pPr lvl="1"/>
            <a:r>
              <a:rPr lang="en-US" altLang="zh-CN" sz="1900" dirty="0" err="1"/>
              <a:t>ip</a:t>
            </a:r>
            <a:r>
              <a:rPr lang="en-US" altLang="zh-CN" sz="1900" dirty="0"/>
              <a:t> route 30.0.0.0/8  tunnel 1</a:t>
            </a:r>
          </a:p>
          <a:p>
            <a:r>
              <a:rPr lang="zh-CN" altLang="en-US" sz="2400" dirty="0"/>
              <a:t>动态学习</a:t>
            </a:r>
            <a:endParaRPr lang="en-US" altLang="zh-CN" sz="2400" dirty="0"/>
          </a:p>
          <a:p>
            <a:pPr lvl="1"/>
            <a:r>
              <a:rPr lang="en-US" altLang="zh-CN" sz="1900" dirty="0" err="1"/>
              <a:t>Softwire</a:t>
            </a:r>
            <a:r>
              <a:rPr lang="zh-CN" altLang="en-US" sz="1900" dirty="0"/>
              <a:t>，软线隧道过渡技术</a:t>
            </a:r>
            <a:endParaRPr lang="en-US" altLang="zh-CN" sz="1900" dirty="0"/>
          </a:p>
          <a:p>
            <a:pPr marL="457200" lvl="1" indent="0">
              <a:buNone/>
            </a:pPr>
            <a:r>
              <a:rPr lang="en-US" altLang="zh-CN" sz="1900" dirty="0"/>
              <a:t>   RFC 5565 [</a:t>
            </a:r>
            <a:r>
              <a:rPr lang="zh-CN" altLang="en-US" sz="1900" dirty="0"/>
              <a:t>清华大学：吴建平、崔勇</a:t>
            </a:r>
            <a:r>
              <a:rPr lang="en-US" altLang="zh-CN" sz="1900" dirty="0"/>
              <a:t>]</a:t>
            </a:r>
          </a:p>
        </p:txBody>
      </p:sp>
      <p:sp>
        <p:nvSpPr>
          <p:cNvPr id="56" name="内容占位符 2">
            <a:extLst>
              <a:ext uri="{FF2B5EF4-FFF2-40B4-BE49-F238E27FC236}">
                <a16:creationId xmlns:a16="http://schemas.microsoft.com/office/drawing/2014/main" id="{DB830B1C-0706-7E41-AE1A-DEBBD115D846}"/>
              </a:ext>
            </a:extLst>
          </p:cNvPr>
          <p:cNvSpPr txBox="1">
            <a:spLocks/>
          </p:cNvSpPr>
          <p:nvPr/>
        </p:nvSpPr>
        <p:spPr>
          <a:xfrm>
            <a:off x="6295737" y="1362525"/>
            <a:ext cx="5258958" cy="2688196"/>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sz="2200" dirty="0"/>
              <a:t>报文长度在传输途中增大导致分片问题</a:t>
            </a:r>
            <a:endParaRPr lang="en-US" altLang="zh-CN" sz="2200" dirty="0"/>
          </a:p>
          <a:p>
            <a:pPr lvl="1"/>
            <a:r>
              <a:rPr lang="zh-CN" altLang="en-US" sz="1800" dirty="0"/>
              <a:t>途中分片与重组对传输性能影响较大</a:t>
            </a:r>
          </a:p>
          <a:p>
            <a:pPr>
              <a:spcBef>
                <a:spcPts val="1200"/>
              </a:spcBef>
            </a:pPr>
            <a:r>
              <a:rPr lang="zh-CN" altLang="en-US" sz="2200" dirty="0"/>
              <a:t>解决方法</a:t>
            </a:r>
            <a:endParaRPr lang="en-US" altLang="zh-CN" sz="2200" dirty="0"/>
          </a:p>
          <a:p>
            <a:pPr lvl="1"/>
            <a:r>
              <a:rPr lang="zh-CN" altLang="en-US" sz="1800" dirty="0"/>
              <a:t>隧道网关提前分片</a:t>
            </a:r>
            <a:endParaRPr lang="en-US" altLang="zh-CN" sz="1800" dirty="0"/>
          </a:p>
          <a:p>
            <a:pPr lvl="1"/>
            <a:r>
              <a:rPr lang="en-US" altLang="zh-CN" sz="1800" dirty="0"/>
              <a:t>Path MTU</a:t>
            </a:r>
            <a:r>
              <a:rPr lang="zh-CN" altLang="en-US" sz="1800" dirty="0"/>
              <a:t>发现机制</a:t>
            </a:r>
            <a:endParaRPr lang="en-US" altLang="zh-CN" sz="1800" dirty="0"/>
          </a:p>
        </p:txBody>
      </p:sp>
      <p:sp>
        <p:nvSpPr>
          <p:cNvPr id="43" name="椭圆 42"/>
          <p:cNvSpPr/>
          <p:nvPr/>
        </p:nvSpPr>
        <p:spPr>
          <a:xfrm>
            <a:off x="1977252" y="4786166"/>
            <a:ext cx="2006823" cy="1347537"/>
          </a:xfrm>
          <a:prstGeom prst="ellipse">
            <a:avLst/>
          </a:prstGeom>
          <a:noFill/>
          <a:ln w="1905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45" name="椭圆 44"/>
          <p:cNvSpPr/>
          <p:nvPr/>
        </p:nvSpPr>
        <p:spPr>
          <a:xfrm>
            <a:off x="2441678" y="4100490"/>
            <a:ext cx="985610" cy="667204"/>
          </a:xfrm>
          <a:prstGeom prst="ellipse">
            <a:avLst/>
          </a:prstGeom>
          <a:noFill/>
          <a:ln w="19050">
            <a:solidFill>
              <a:srgbClr val="0000FF"/>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46" name="椭圆 45"/>
          <p:cNvSpPr/>
          <p:nvPr/>
        </p:nvSpPr>
        <p:spPr>
          <a:xfrm>
            <a:off x="1374876" y="5818573"/>
            <a:ext cx="985610" cy="667204"/>
          </a:xfrm>
          <a:prstGeom prst="ellipse">
            <a:avLst/>
          </a:prstGeom>
          <a:noFill/>
          <a:ln w="19050">
            <a:solidFill>
              <a:srgbClr val="0000FF"/>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48" name="椭圆 47"/>
          <p:cNvSpPr/>
          <p:nvPr/>
        </p:nvSpPr>
        <p:spPr>
          <a:xfrm>
            <a:off x="3565158" y="5823073"/>
            <a:ext cx="985610" cy="667204"/>
          </a:xfrm>
          <a:prstGeom prst="ellipse">
            <a:avLst/>
          </a:prstGeom>
          <a:noFill/>
          <a:ln w="19050">
            <a:solidFill>
              <a:srgbClr val="0000FF"/>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graphicFrame>
        <p:nvGraphicFramePr>
          <p:cNvPr id="49" name="对象 48"/>
          <p:cNvGraphicFramePr>
            <a:graphicFrameLocks noChangeAspect="1"/>
          </p:cNvGraphicFramePr>
          <p:nvPr/>
        </p:nvGraphicFramePr>
        <p:xfrm>
          <a:off x="1977252" y="5756538"/>
          <a:ext cx="431215" cy="395637"/>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49" name="对象 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7252" y="5756538"/>
                        <a:ext cx="431215" cy="395637"/>
                      </a:xfrm>
                      <a:prstGeom prst="rect">
                        <a:avLst/>
                      </a:prstGeom>
                      <a:noFill/>
                    </p:spPr>
                  </p:pic>
                </p:oleObj>
              </mc:Fallback>
            </mc:AlternateContent>
          </a:graphicData>
        </a:graphic>
      </p:graphicFrame>
      <p:graphicFrame>
        <p:nvGraphicFramePr>
          <p:cNvPr id="50" name="对象 49"/>
          <p:cNvGraphicFramePr>
            <a:graphicFrameLocks noChangeAspect="1"/>
          </p:cNvGraphicFramePr>
          <p:nvPr/>
        </p:nvGraphicFramePr>
        <p:xfrm>
          <a:off x="3397531" y="5756537"/>
          <a:ext cx="431215" cy="395637"/>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50" name="对象 4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97531" y="5756537"/>
                        <a:ext cx="431215" cy="395637"/>
                      </a:xfrm>
                      <a:prstGeom prst="rect">
                        <a:avLst/>
                      </a:prstGeom>
                      <a:noFill/>
                    </p:spPr>
                  </p:pic>
                </p:oleObj>
              </mc:Fallback>
            </mc:AlternateContent>
          </a:graphicData>
        </a:graphic>
      </p:graphicFrame>
      <p:sp>
        <p:nvSpPr>
          <p:cNvPr id="51" name="Line 147"/>
          <p:cNvSpPr>
            <a:spLocks noChangeShapeType="1"/>
          </p:cNvSpPr>
          <p:nvPr/>
        </p:nvSpPr>
        <p:spPr bwMode="auto">
          <a:xfrm>
            <a:off x="2360486" y="5901334"/>
            <a:ext cx="1156691" cy="0"/>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57" name="Line 147"/>
          <p:cNvSpPr>
            <a:spLocks noChangeShapeType="1"/>
          </p:cNvSpPr>
          <p:nvPr/>
        </p:nvSpPr>
        <p:spPr bwMode="auto">
          <a:xfrm flipV="1">
            <a:off x="2265518" y="4850456"/>
            <a:ext cx="565320" cy="949646"/>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58" name="Line 147"/>
          <p:cNvSpPr>
            <a:spLocks noChangeShapeType="1"/>
          </p:cNvSpPr>
          <p:nvPr/>
        </p:nvSpPr>
        <p:spPr bwMode="auto">
          <a:xfrm>
            <a:off x="3010843" y="4857362"/>
            <a:ext cx="570854" cy="899175"/>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59" name="对象 58"/>
          <p:cNvGraphicFramePr>
            <a:graphicFrameLocks noChangeAspect="1"/>
          </p:cNvGraphicFramePr>
          <p:nvPr/>
        </p:nvGraphicFramePr>
        <p:xfrm>
          <a:off x="2718875" y="4616539"/>
          <a:ext cx="431215" cy="395637"/>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59" name="对象 5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18875" y="4616539"/>
                        <a:ext cx="431215" cy="395637"/>
                      </a:xfrm>
                      <a:prstGeom prst="rect">
                        <a:avLst/>
                      </a:prstGeom>
                      <a:noFill/>
                    </p:spPr>
                  </p:pic>
                </p:oleObj>
              </mc:Fallback>
            </mc:AlternateContent>
          </a:graphicData>
        </a:graphic>
      </p:graphicFrame>
      <p:sp>
        <p:nvSpPr>
          <p:cNvPr id="60" name="Text Box 180"/>
          <p:cNvSpPr txBox="1">
            <a:spLocks noChangeArrowheads="1"/>
          </p:cNvSpPr>
          <p:nvPr/>
        </p:nvSpPr>
        <p:spPr bwMode="auto">
          <a:xfrm>
            <a:off x="2718875" y="4214693"/>
            <a:ext cx="3722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rgbClr val="0000FF"/>
                </a:solidFill>
                <a:latin typeface="微软雅黑" panose="020B0503020204020204" pitchFamily="34" charset="-122"/>
                <a:ea typeface="微软雅黑" panose="020B0503020204020204" pitchFamily="34" charset="-122"/>
              </a:rPr>
              <a:t>A</a:t>
            </a:r>
          </a:p>
        </p:txBody>
      </p:sp>
      <p:sp>
        <p:nvSpPr>
          <p:cNvPr id="61" name="Text Box 180"/>
          <p:cNvSpPr txBox="1">
            <a:spLocks noChangeArrowheads="1"/>
          </p:cNvSpPr>
          <p:nvPr/>
        </p:nvSpPr>
        <p:spPr bwMode="auto">
          <a:xfrm>
            <a:off x="1694396" y="5970591"/>
            <a:ext cx="3465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rgbClr val="0000FF"/>
                </a:solidFill>
                <a:latin typeface="微软雅黑" panose="020B0503020204020204" pitchFamily="34" charset="-122"/>
                <a:ea typeface="微软雅黑" panose="020B0503020204020204" pitchFamily="34" charset="-122"/>
              </a:rPr>
              <a:t>B</a:t>
            </a:r>
          </a:p>
        </p:txBody>
      </p:sp>
      <p:sp>
        <p:nvSpPr>
          <p:cNvPr id="62" name="Text Box 180"/>
          <p:cNvSpPr txBox="1">
            <a:spLocks noChangeArrowheads="1"/>
          </p:cNvSpPr>
          <p:nvPr/>
        </p:nvSpPr>
        <p:spPr bwMode="auto">
          <a:xfrm>
            <a:off x="3892463" y="5965500"/>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rgbClr val="0000FF"/>
                </a:solidFill>
                <a:latin typeface="微软雅黑" panose="020B0503020204020204" pitchFamily="34" charset="-122"/>
                <a:ea typeface="微软雅黑" panose="020B0503020204020204" pitchFamily="34" charset="-122"/>
              </a:rPr>
              <a:t>C</a:t>
            </a:r>
          </a:p>
        </p:txBody>
      </p:sp>
      <p:sp>
        <p:nvSpPr>
          <p:cNvPr id="63" name="Text Box 180"/>
          <p:cNvSpPr txBox="1">
            <a:spLocks noChangeArrowheads="1"/>
          </p:cNvSpPr>
          <p:nvPr/>
        </p:nvSpPr>
        <p:spPr bwMode="auto">
          <a:xfrm>
            <a:off x="6633217" y="5160244"/>
            <a:ext cx="3353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A</a:t>
            </a:r>
          </a:p>
        </p:txBody>
      </p:sp>
      <p:sp>
        <p:nvSpPr>
          <p:cNvPr id="64" name="Text Box 180"/>
          <p:cNvSpPr txBox="1">
            <a:spLocks noChangeArrowheads="1"/>
          </p:cNvSpPr>
          <p:nvPr/>
        </p:nvSpPr>
        <p:spPr bwMode="auto">
          <a:xfrm>
            <a:off x="7425431" y="5160244"/>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B</a:t>
            </a:r>
          </a:p>
        </p:txBody>
      </p:sp>
      <p:sp>
        <p:nvSpPr>
          <p:cNvPr id="65" name="Text Box 180"/>
          <p:cNvSpPr txBox="1">
            <a:spLocks noChangeArrowheads="1"/>
          </p:cNvSpPr>
          <p:nvPr/>
        </p:nvSpPr>
        <p:spPr bwMode="auto">
          <a:xfrm>
            <a:off x="8442750" y="5160244"/>
            <a:ext cx="3225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C</a:t>
            </a:r>
          </a:p>
        </p:txBody>
      </p:sp>
      <p:sp>
        <p:nvSpPr>
          <p:cNvPr id="66" name="Text Box 180"/>
          <p:cNvSpPr txBox="1">
            <a:spLocks noChangeArrowheads="1"/>
          </p:cNvSpPr>
          <p:nvPr/>
        </p:nvSpPr>
        <p:spPr bwMode="auto">
          <a:xfrm>
            <a:off x="9505437" y="5160244"/>
            <a:ext cx="2968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E</a:t>
            </a:r>
          </a:p>
        </p:txBody>
      </p:sp>
      <p:sp>
        <p:nvSpPr>
          <p:cNvPr id="67" name="Text Box 180"/>
          <p:cNvSpPr txBox="1">
            <a:spLocks noChangeArrowheads="1"/>
          </p:cNvSpPr>
          <p:nvPr/>
        </p:nvSpPr>
        <p:spPr bwMode="auto">
          <a:xfrm>
            <a:off x="10244886" y="5160244"/>
            <a:ext cx="293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F</a:t>
            </a:r>
          </a:p>
        </p:txBody>
      </p:sp>
      <p:sp>
        <p:nvSpPr>
          <p:cNvPr id="68" name="Line 147"/>
          <p:cNvSpPr>
            <a:spLocks noChangeShapeType="1"/>
          </p:cNvSpPr>
          <p:nvPr/>
        </p:nvSpPr>
        <p:spPr bwMode="auto">
          <a:xfrm>
            <a:off x="7689898" y="4992662"/>
            <a:ext cx="1998708"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pic>
        <p:nvPicPr>
          <p:cNvPr id="69" name="图片 68"/>
          <p:cNvPicPr>
            <a:picLocks noChangeAspect="1"/>
          </p:cNvPicPr>
          <p:nvPr/>
        </p:nvPicPr>
        <p:blipFill>
          <a:blip r:embed="rId5"/>
          <a:stretch>
            <a:fillRect/>
          </a:stretch>
        </p:blipFill>
        <p:spPr>
          <a:xfrm>
            <a:off x="5815764" y="4795750"/>
            <a:ext cx="483343" cy="428967"/>
          </a:xfrm>
          <a:prstGeom prst="rect">
            <a:avLst/>
          </a:prstGeom>
        </p:spPr>
      </p:pic>
      <p:pic>
        <p:nvPicPr>
          <p:cNvPr id="70" name="图片 69"/>
          <p:cNvPicPr>
            <a:picLocks noChangeAspect="1"/>
          </p:cNvPicPr>
          <p:nvPr/>
        </p:nvPicPr>
        <p:blipFill>
          <a:blip r:embed="rId5"/>
          <a:stretch>
            <a:fillRect/>
          </a:stretch>
        </p:blipFill>
        <p:spPr>
          <a:xfrm>
            <a:off x="10932391" y="4818543"/>
            <a:ext cx="483343" cy="428967"/>
          </a:xfrm>
          <a:prstGeom prst="rect">
            <a:avLst/>
          </a:prstGeom>
        </p:spPr>
      </p:pic>
      <p:sp>
        <p:nvSpPr>
          <p:cNvPr id="71" name="Line 141"/>
          <p:cNvSpPr>
            <a:spLocks noChangeShapeType="1"/>
          </p:cNvSpPr>
          <p:nvPr/>
        </p:nvSpPr>
        <p:spPr bwMode="auto">
          <a:xfrm flipV="1">
            <a:off x="7043939"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72" name="Line 141"/>
          <p:cNvSpPr>
            <a:spLocks noChangeShapeType="1"/>
          </p:cNvSpPr>
          <p:nvPr/>
        </p:nvSpPr>
        <p:spPr bwMode="auto">
          <a:xfrm flipV="1">
            <a:off x="6224146"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73" name="Line 141"/>
          <p:cNvSpPr>
            <a:spLocks noChangeShapeType="1"/>
          </p:cNvSpPr>
          <p:nvPr/>
        </p:nvSpPr>
        <p:spPr bwMode="auto">
          <a:xfrm flipV="1">
            <a:off x="9861833"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74" name="Line 141"/>
          <p:cNvSpPr>
            <a:spLocks noChangeShapeType="1"/>
          </p:cNvSpPr>
          <p:nvPr/>
        </p:nvSpPr>
        <p:spPr bwMode="auto">
          <a:xfrm flipV="1">
            <a:off x="10663589"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75" name="对象 74"/>
          <p:cNvGraphicFramePr>
            <a:graphicFrameLocks noChangeAspect="1"/>
          </p:cNvGraphicFramePr>
          <p:nvPr/>
        </p:nvGraphicFramePr>
        <p:xfrm>
          <a:off x="6547996" y="4818543"/>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75" name="对象 7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7996" y="4818543"/>
                        <a:ext cx="516910" cy="474262"/>
                      </a:xfrm>
                      <a:prstGeom prst="rect">
                        <a:avLst/>
                      </a:prstGeom>
                      <a:noFill/>
                    </p:spPr>
                  </p:pic>
                </p:oleObj>
              </mc:Fallback>
            </mc:AlternateContent>
          </a:graphicData>
        </a:graphic>
      </p:graphicFrame>
      <p:graphicFrame>
        <p:nvGraphicFramePr>
          <p:cNvPr id="76" name="对象 75"/>
          <p:cNvGraphicFramePr>
            <a:graphicFrameLocks noChangeAspect="1"/>
          </p:cNvGraphicFramePr>
          <p:nvPr/>
        </p:nvGraphicFramePr>
        <p:xfrm>
          <a:off x="7326988" y="4818543"/>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76" name="对象 7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26988" y="4818543"/>
                        <a:ext cx="516910" cy="474262"/>
                      </a:xfrm>
                      <a:prstGeom prst="rect">
                        <a:avLst/>
                      </a:prstGeom>
                      <a:noFill/>
                    </p:spPr>
                  </p:pic>
                </p:oleObj>
              </mc:Fallback>
            </mc:AlternateContent>
          </a:graphicData>
        </a:graphic>
      </p:graphicFrame>
      <p:graphicFrame>
        <p:nvGraphicFramePr>
          <p:cNvPr id="77" name="对象 76"/>
          <p:cNvGraphicFramePr>
            <a:graphicFrameLocks noChangeAspect="1"/>
          </p:cNvGraphicFramePr>
          <p:nvPr/>
        </p:nvGraphicFramePr>
        <p:xfrm>
          <a:off x="8341675" y="4809019"/>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77" name="对象 7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41675" y="4809019"/>
                        <a:ext cx="516910" cy="474262"/>
                      </a:xfrm>
                      <a:prstGeom prst="rect">
                        <a:avLst/>
                      </a:prstGeom>
                      <a:noFill/>
                    </p:spPr>
                  </p:pic>
                </p:oleObj>
              </mc:Fallback>
            </mc:AlternateContent>
          </a:graphicData>
        </a:graphic>
      </p:graphicFrame>
      <p:graphicFrame>
        <p:nvGraphicFramePr>
          <p:cNvPr id="78" name="对象 77"/>
          <p:cNvGraphicFramePr>
            <a:graphicFrameLocks noChangeAspect="1"/>
          </p:cNvGraphicFramePr>
          <p:nvPr/>
        </p:nvGraphicFramePr>
        <p:xfrm>
          <a:off x="9374407" y="4818543"/>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78" name="对象 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4407" y="4818543"/>
                        <a:ext cx="516910" cy="474262"/>
                      </a:xfrm>
                      <a:prstGeom prst="rect">
                        <a:avLst/>
                      </a:prstGeom>
                      <a:noFill/>
                    </p:spPr>
                  </p:pic>
                </p:oleObj>
              </mc:Fallback>
            </mc:AlternateContent>
          </a:graphicData>
        </a:graphic>
      </p:graphicFrame>
      <p:graphicFrame>
        <p:nvGraphicFramePr>
          <p:cNvPr id="79" name="对象 78"/>
          <p:cNvGraphicFramePr>
            <a:graphicFrameLocks noChangeAspect="1"/>
          </p:cNvGraphicFramePr>
          <p:nvPr/>
        </p:nvGraphicFramePr>
        <p:xfrm>
          <a:off x="10153399" y="4818543"/>
          <a:ext cx="516910" cy="474262"/>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79" name="对象 7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53399" y="4818543"/>
                        <a:ext cx="516910" cy="474262"/>
                      </a:xfrm>
                      <a:prstGeom prst="rect">
                        <a:avLst/>
                      </a:prstGeom>
                      <a:noFill/>
                    </p:spPr>
                  </p:pic>
                </p:oleObj>
              </mc:Fallback>
            </mc:AlternateContent>
          </a:graphicData>
        </a:graphic>
      </p:graphicFrame>
      <p:sp>
        <p:nvSpPr>
          <p:cNvPr id="80" name="椭圆 79"/>
          <p:cNvSpPr/>
          <p:nvPr/>
        </p:nvSpPr>
        <p:spPr>
          <a:xfrm>
            <a:off x="7590353" y="4322492"/>
            <a:ext cx="2006823" cy="1240412"/>
          </a:xfrm>
          <a:prstGeom prst="ellipse">
            <a:avLst/>
          </a:prstGeom>
          <a:noFill/>
          <a:ln w="190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81" name="Text Box 180"/>
          <p:cNvSpPr txBox="1">
            <a:spLocks noChangeArrowheads="1"/>
          </p:cNvSpPr>
          <p:nvPr/>
        </p:nvSpPr>
        <p:spPr bwMode="auto">
          <a:xfrm>
            <a:off x="7896302" y="4443992"/>
            <a:ext cx="14285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b="1" dirty="0">
                <a:latin typeface="微软雅黑" panose="020B0503020204020204" pitchFamily="34" charset="-122"/>
                <a:ea typeface="微软雅黑" panose="020B0503020204020204" pitchFamily="34" charset="-122"/>
              </a:rPr>
              <a:t>隧道传输区域</a:t>
            </a:r>
            <a:endParaRPr lang="en-US" altLang="zh-CN" sz="1600" b="1" dirty="0">
              <a:latin typeface="微软雅黑" panose="020B0503020204020204" pitchFamily="34" charset="-122"/>
              <a:ea typeface="微软雅黑" panose="020B0503020204020204" pitchFamily="34" charset="-122"/>
            </a:endParaRPr>
          </a:p>
        </p:txBody>
      </p:sp>
      <p:sp>
        <p:nvSpPr>
          <p:cNvPr id="82" name="Text Box 180"/>
          <p:cNvSpPr txBox="1">
            <a:spLocks noChangeArrowheads="1"/>
          </p:cNvSpPr>
          <p:nvPr/>
        </p:nvSpPr>
        <p:spPr bwMode="auto">
          <a:xfrm>
            <a:off x="8469925" y="5645800"/>
            <a:ext cx="1058396" cy="52322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原始</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分组</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83" name="Text Box 180"/>
          <p:cNvSpPr txBox="1">
            <a:spLocks noChangeArrowheads="1"/>
          </p:cNvSpPr>
          <p:nvPr/>
        </p:nvSpPr>
        <p:spPr bwMode="auto">
          <a:xfrm>
            <a:off x="7769243" y="5645800"/>
            <a:ext cx="690765" cy="523220"/>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C00000"/>
                </a:solidFill>
                <a:latin typeface="微软雅黑" panose="020B0503020204020204" pitchFamily="34" charset="-122"/>
                <a:ea typeface="微软雅黑" panose="020B0503020204020204" pitchFamily="34" charset="-122"/>
              </a:rPr>
              <a:t>隧道</a:t>
            </a:r>
            <a:endParaRPr lang="en-US" altLang="zh-CN" sz="1400" b="1" dirty="0">
              <a:solidFill>
                <a:srgbClr val="C00000"/>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C00000"/>
                </a:solidFill>
                <a:latin typeface="微软雅黑" panose="020B0503020204020204" pitchFamily="34" charset="-122"/>
                <a:ea typeface="微软雅黑" panose="020B0503020204020204" pitchFamily="34" charset="-122"/>
              </a:rPr>
              <a:t>封装</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4" name="Text Box 180"/>
          <p:cNvSpPr txBox="1">
            <a:spLocks noChangeArrowheads="1"/>
          </p:cNvSpPr>
          <p:nvPr/>
        </p:nvSpPr>
        <p:spPr bwMode="auto">
          <a:xfrm>
            <a:off x="6276291" y="5645800"/>
            <a:ext cx="1058396" cy="52322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原始</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分组</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85" name="Text Box 180"/>
          <p:cNvSpPr txBox="1">
            <a:spLocks noChangeArrowheads="1"/>
          </p:cNvSpPr>
          <p:nvPr/>
        </p:nvSpPr>
        <p:spPr bwMode="auto">
          <a:xfrm>
            <a:off x="10017017" y="5645800"/>
            <a:ext cx="1058396" cy="52322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原始</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分组</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3" name="日期占位符 2"/>
          <p:cNvSpPr>
            <a:spLocks noGrp="1"/>
          </p:cNvSpPr>
          <p:nvPr>
            <p:ph type="dt" sz="half" idx="10"/>
          </p:nvPr>
        </p:nvSpPr>
        <p:spPr/>
        <p:txBody>
          <a:bodyPr/>
          <a:lstStyle/>
          <a:p>
            <a:r>
              <a:rPr kumimoji="1" lang="en-US" altLang="zh-CN" dirty="0"/>
              <a:t>5.9 IPv6</a:t>
            </a:r>
            <a:r>
              <a:rPr kumimoji="1" lang="zh-CN" altLang="en-US" dirty="0"/>
              <a:t>技术</a:t>
            </a:r>
          </a:p>
        </p:txBody>
      </p:sp>
      <p:sp>
        <p:nvSpPr>
          <p:cNvPr id="5" name="矩形 4"/>
          <p:cNvSpPr/>
          <p:nvPr/>
        </p:nvSpPr>
        <p:spPr>
          <a:xfrm>
            <a:off x="1971377" y="5117704"/>
            <a:ext cx="646331" cy="369332"/>
          </a:xfrm>
          <a:prstGeom prst="rect">
            <a:avLst/>
          </a:prstGeom>
        </p:spPr>
        <p:txBody>
          <a:bodyPr wrap="none">
            <a:spAutoFit/>
          </a:bodyPr>
          <a:lstStyle/>
          <a:p>
            <a:r>
              <a:rPr lang="zh-CN" altLang="en-US" dirty="0">
                <a:latin typeface="微软雅黑" panose="020B0503020204020204" pitchFamily="34" charset="-122"/>
                <a:ea typeface="微软雅黑" panose="020B0503020204020204" pitchFamily="34" charset="-122"/>
              </a:rPr>
              <a:t>隧道</a:t>
            </a:r>
          </a:p>
        </p:txBody>
      </p:sp>
      <p:sp>
        <p:nvSpPr>
          <p:cNvPr id="44" name="矩形 43"/>
          <p:cNvSpPr/>
          <p:nvPr/>
        </p:nvSpPr>
        <p:spPr>
          <a:xfrm>
            <a:off x="2614330" y="5532002"/>
            <a:ext cx="646331" cy="369332"/>
          </a:xfrm>
          <a:prstGeom prst="rect">
            <a:avLst/>
          </a:prstGeom>
        </p:spPr>
        <p:txBody>
          <a:bodyPr wrap="none">
            <a:spAutoFit/>
          </a:bodyPr>
          <a:lstStyle/>
          <a:p>
            <a:r>
              <a:rPr lang="zh-CN" altLang="en-US" dirty="0">
                <a:latin typeface="微软雅黑" panose="020B0503020204020204" pitchFamily="34" charset="-122"/>
                <a:ea typeface="微软雅黑" panose="020B0503020204020204" pitchFamily="34" charset="-122"/>
              </a:rPr>
              <a:t>隧道</a:t>
            </a:r>
          </a:p>
        </p:txBody>
      </p:sp>
      <p:sp>
        <p:nvSpPr>
          <p:cNvPr id="47" name="矩形 46"/>
          <p:cNvSpPr/>
          <p:nvPr/>
        </p:nvSpPr>
        <p:spPr>
          <a:xfrm>
            <a:off x="3295019" y="5117704"/>
            <a:ext cx="646331" cy="369332"/>
          </a:xfrm>
          <a:prstGeom prst="rect">
            <a:avLst/>
          </a:prstGeom>
        </p:spPr>
        <p:txBody>
          <a:bodyPr wrap="none">
            <a:spAutoFit/>
          </a:bodyPr>
          <a:lstStyle/>
          <a:p>
            <a:r>
              <a:rPr lang="zh-CN" altLang="en-US" dirty="0">
                <a:latin typeface="微软雅黑" panose="020B0503020204020204" pitchFamily="34" charset="-122"/>
                <a:ea typeface="微软雅黑" panose="020B0503020204020204" pitchFamily="34" charset="-122"/>
              </a:rPr>
              <a:t>隧道</a:t>
            </a:r>
          </a:p>
        </p:txBody>
      </p:sp>
    </p:spTree>
    <p:extLst>
      <p:ext uri="{BB962C8B-B14F-4D97-AF65-F5344CB8AC3E}">
        <p14:creationId xmlns:p14="http://schemas.microsoft.com/office/powerpoint/2010/main" val="1728371558"/>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隧道配置</a:t>
            </a:r>
            <a:r>
              <a:rPr kumimoji="1" lang="en-US" altLang="zh-CN" dirty="0"/>
              <a:t>(</a:t>
            </a:r>
            <a:r>
              <a:rPr kumimoji="1" lang="zh-CN" altLang="en-US" dirty="0"/>
              <a:t>参考华三交换机</a:t>
            </a:r>
            <a:r>
              <a:rPr kumimoji="1" lang="en-US" altLang="zh-CN" dirty="0"/>
              <a:t>)</a:t>
            </a:r>
            <a:endParaRPr kumimoji="1" lang="zh-CN" altLang="en-US" dirty="0"/>
          </a:p>
        </p:txBody>
      </p:sp>
      <p:sp>
        <p:nvSpPr>
          <p:cNvPr id="4" name="灯片编号占位符 3">
            <a:extLst>
              <a:ext uri="{FF2B5EF4-FFF2-40B4-BE49-F238E27FC236}">
                <a16:creationId xmlns:a16="http://schemas.microsoft.com/office/drawing/2014/main" id="{E852B801-B608-C343-9A93-C7F2EAAC62BE}"/>
              </a:ext>
            </a:extLst>
          </p:cNvPr>
          <p:cNvSpPr>
            <a:spLocks noGrp="1"/>
          </p:cNvSpPr>
          <p:nvPr>
            <p:ph type="sldNum" sz="quarter" idx="12"/>
          </p:nvPr>
        </p:nvSpPr>
        <p:spPr/>
        <p:txBody>
          <a:bodyPr/>
          <a:lstStyle/>
          <a:p>
            <a:fld id="{8D4D1E41-7A09-AB4A-A4E1-09765ADA2698}" type="slidenum">
              <a:rPr kumimoji="1" lang="zh-CN" altLang="en-US" smtClean="0"/>
              <a:t>214</a:t>
            </a:fld>
            <a:endParaRPr kumimoji="1" lang="zh-CN" altLang="en-US" dirty="0"/>
          </a:p>
        </p:txBody>
      </p:sp>
      <p:sp>
        <p:nvSpPr>
          <p:cNvPr id="21" name="内容占位符 2">
            <a:extLst>
              <a:ext uri="{FF2B5EF4-FFF2-40B4-BE49-F238E27FC236}">
                <a16:creationId xmlns:a16="http://schemas.microsoft.com/office/drawing/2014/main" id="{DB830B1C-0706-7E41-AE1A-DEBBD115D846}"/>
              </a:ext>
            </a:extLst>
          </p:cNvPr>
          <p:cNvSpPr>
            <a:spLocks noGrp="1"/>
          </p:cNvSpPr>
          <p:nvPr>
            <p:ph idx="1"/>
          </p:nvPr>
        </p:nvSpPr>
        <p:spPr>
          <a:xfrm>
            <a:off x="673343" y="1567622"/>
            <a:ext cx="11459688" cy="2152443"/>
          </a:xfrm>
        </p:spPr>
        <p:txBody>
          <a:bodyPr>
            <a:normAutofit fontScale="92500"/>
          </a:bodyPr>
          <a:lstStyle/>
          <a:p>
            <a:pPr marL="0" indent="0" fontAlgn="base">
              <a:buNone/>
            </a:pPr>
            <a:r>
              <a:rPr lang="zh-CN" altLang="en-US" sz="3200" b="1" dirty="0">
                <a:solidFill>
                  <a:srgbClr val="C00000"/>
                </a:solidFill>
              </a:rPr>
              <a:t>隧道配置命令</a:t>
            </a:r>
            <a:endParaRPr lang="en-US" altLang="zh-CN" sz="3200" b="1" dirty="0">
              <a:solidFill>
                <a:srgbClr val="C00000"/>
              </a:solidFill>
            </a:endParaRPr>
          </a:p>
          <a:p>
            <a:pPr fontAlgn="base"/>
            <a:r>
              <a:rPr lang="en-US" altLang="zh-CN" sz="2200" b="1" dirty="0"/>
              <a:t>interface tunnel</a:t>
            </a:r>
            <a:r>
              <a:rPr lang="en-US" altLang="zh-CN" sz="2200" dirty="0"/>
              <a:t> </a:t>
            </a:r>
            <a:r>
              <a:rPr lang="en-US" altLang="zh-CN" sz="2200" i="1" dirty="0"/>
              <a:t>number </a:t>
            </a:r>
            <a:r>
              <a:rPr lang="en-US" altLang="zh-CN" sz="2200" dirty="0"/>
              <a:t>[ </a:t>
            </a:r>
            <a:r>
              <a:rPr lang="en-US" altLang="zh-CN" sz="2200" b="1" dirty="0"/>
              <a:t>mode</a:t>
            </a:r>
            <a:r>
              <a:rPr lang="en-US" altLang="zh-CN" sz="2200" dirty="0"/>
              <a:t> </a:t>
            </a:r>
            <a:r>
              <a:rPr lang="en-US" altLang="zh-CN" sz="2200" b="1" dirty="0"/>
              <a:t>ipv6</a:t>
            </a:r>
            <a:r>
              <a:rPr lang="en-US" altLang="zh-CN" sz="2200" dirty="0"/>
              <a:t> ]  </a:t>
            </a:r>
            <a:r>
              <a:rPr lang="en-US" altLang="zh-CN" sz="2000" dirty="0"/>
              <a:t>//</a:t>
            </a:r>
            <a:r>
              <a:rPr lang="zh-CN" altLang="en-US" sz="2000" dirty="0"/>
              <a:t>创建隧道并设置隧道模式</a:t>
            </a:r>
            <a:endParaRPr lang="en-US" altLang="zh-CN" sz="2000" dirty="0"/>
          </a:p>
          <a:p>
            <a:pPr fontAlgn="base"/>
            <a:r>
              <a:rPr lang="en-US" altLang="zh-CN" sz="2200" b="1" dirty="0" err="1"/>
              <a:t>ip</a:t>
            </a:r>
            <a:r>
              <a:rPr lang="en-US" altLang="zh-CN" sz="2200" dirty="0"/>
              <a:t> </a:t>
            </a:r>
            <a:r>
              <a:rPr lang="en-US" altLang="zh-CN" sz="2200" b="1" dirty="0"/>
              <a:t>address</a:t>
            </a:r>
            <a:r>
              <a:rPr lang="en-US" altLang="zh-CN" sz="2200" i="1" dirty="0"/>
              <a:t> </a:t>
            </a:r>
            <a:r>
              <a:rPr lang="en-US" altLang="zh-CN" sz="2200" i="1" dirty="0" err="1"/>
              <a:t>ip</a:t>
            </a:r>
            <a:r>
              <a:rPr lang="en-US" altLang="zh-CN" sz="2200" i="1" dirty="0"/>
              <a:t>-address</a:t>
            </a:r>
            <a:r>
              <a:rPr lang="en-US" altLang="zh-CN" sz="2200" dirty="0"/>
              <a:t> { </a:t>
            </a:r>
            <a:r>
              <a:rPr lang="en-US" altLang="zh-CN" sz="2200" i="1" dirty="0"/>
              <a:t>mask</a:t>
            </a:r>
            <a:r>
              <a:rPr lang="en-US" altLang="zh-CN" sz="2200" dirty="0"/>
              <a:t> | </a:t>
            </a:r>
            <a:r>
              <a:rPr lang="en-US" altLang="zh-CN" sz="2200" i="1" dirty="0"/>
              <a:t>mask-length</a:t>
            </a:r>
            <a:r>
              <a:rPr lang="en-US" altLang="zh-CN" sz="2200" dirty="0"/>
              <a:t> } [ </a:t>
            </a:r>
            <a:r>
              <a:rPr lang="en-US" altLang="zh-CN" sz="2200" b="1" dirty="0"/>
              <a:t>sub</a:t>
            </a:r>
            <a:r>
              <a:rPr lang="en-US" altLang="zh-CN" sz="2200" dirty="0"/>
              <a:t> ]  </a:t>
            </a:r>
            <a:r>
              <a:rPr lang="en-US" altLang="zh-CN" sz="2000" dirty="0"/>
              <a:t>//</a:t>
            </a:r>
            <a:r>
              <a:rPr lang="zh-CN" altLang="en-US" sz="2000" dirty="0"/>
              <a:t>设置</a:t>
            </a:r>
            <a:r>
              <a:rPr lang="en-US" altLang="zh-CN" sz="2000" dirty="0"/>
              <a:t>Tunnel</a:t>
            </a:r>
            <a:r>
              <a:rPr lang="zh-CN" altLang="en-US" sz="2000" dirty="0"/>
              <a:t>接口的</a:t>
            </a:r>
            <a:r>
              <a:rPr lang="en-US" altLang="zh-CN" sz="2000" dirty="0"/>
              <a:t>IPv4</a:t>
            </a:r>
            <a:r>
              <a:rPr lang="zh-CN" altLang="en-US" sz="2000" dirty="0"/>
              <a:t>地址</a:t>
            </a:r>
            <a:endParaRPr lang="en-US" altLang="zh-CN" sz="2000" dirty="0"/>
          </a:p>
          <a:p>
            <a:pPr fontAlgn="base"/>
            <a:r>
              <a:rPr lang="en-US" altLang="zh-CN" sz="2200" b="1" dirty="0"/>
              <a:t>source</a:t>
            </a:r>
            <a:r>
              <a:rPr lang="en-US" altLang="zh-CN" sz="2200" dirty="0"/>
              <a:t> { </a:t>
            </a:r>
            <a:r>
              <a:rPr lang="en-US" altLang="zh-CN" sz="2200" i="1" dirty="0"/>
              <a:t>ipv6-address</a:t>
            </a:r>
            <a:r>
              <a:rPr lang="en-US" altLang="zh-CN" sz="2200" dirty="0"/>
              <a:t> | </a:t>
            </a:r>
            <a:r>
              <a:rPr lang="en-US" altLang="zh-CN" sz="2200" i="1" dirty="0"/>
              <a:t>interface-type interface-number</a:t>
            </a:r>
            <a:r>
              <a:rPr lang="en-US" altLang="zh-CN" sz="2200" dirty="0"/>
              <a:t> } </a:t>
            </a:r>
            <a:r>
              <a:rPr lang="en-US" altLang="zh-CN" sz="2000" dirty="0"/>
              <a:t>//</a:t>
            </a:r>
            <a:r>
              <a:rPr lang="zh-CN" altLang="en-US" sz="2000" dirty="0"/>
              <a:t>设置隧道源端地址或源接口</a:t>
            </a:r>
            <a:endParaRPr lang="en-US" altLang="zh-CN" sz="2000" dirty="0"/>
          </a:p>
          <a:p>
            <a:pPr fontAlgn="base"/>
            <a:r>
              <a:rPr lang="en-US" altLang="zh-CN" sz="2200" b="1" dirty="0"/>
              <a:t>destination </a:t>
            </a:r>
            <a:r>
              <a:rPr lang="en-US" altLang="zh-CN" sz="2200" i="1" dirty="0"/>
              <a:t>ipv6-address  </a:t>
            </a:r>
            <a:r>
              <a:rPr lang="en-US" altLang="zh-CN" sz="2000" i="1" dirty="0"/>
              <a:t>//  </a:t>
            </a:r>
            <a:r>
              <a:rPr lang="zh-CN" altLang="en-US" sz="2000" dirty="0"/>
              <a:t>设置隧道的目的端地址</a:t>
            </a:r>
            <a:endParaRPr lang="en-US" altLang="zh-CN" sz="2000" dirty="0"/>
          </a:p>
        </p:txBody>
      </p:sp>
      <p:sp>
        <p:nvSpPr>
          <p:cNvPr id="42" name="内容占位符 2">
            <a:extLst>
              <a:ext uri="{FF2B5EF4-FFF2-40B4-BE49-F238E27FC236}">
                <a16:creationId xmlns:a16="http://schemas.microsoft.com/office/drawing/2014/main" id="{DB830B1C-0706-7E41-AE1A-DEBBD115D846}"/>
              </a:ext>
            </a:extLst>
          </p:cNvPr>
          <p:cNvSpPr txBox="1">
            <a:spLocks/>
          </p:cNvSpPr>
          <p:nvPr/>
        </p:nvSpPr>
        <p:spPr>
          <a:xfrm>
            <a:off x="673343" y="3859480"/>
            <a:ext cx="11459688" cy="2814589"/>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base">
              <a:buFont typeface="Wingdings" pitchFamily="2" charset="2"/>
              <a:buNone/>
            </a:pPr>
            <a:r>
              <a:rPr lang="zh-CN" altLang="en-US" sz="3200" b="1" dirty="0">
                <a:solidFill>
                  <a:srgbClr val="C00000"/>
                </a:solidFill>
              </a:rPr>
              <a:t>隧道配置示例</a:t>
            </a:r>
            <a:endParaRPr lang="en-US" altLang="zh-CN" sz="3200" b="1" dirty="0">
              <a:solidFill>
                <a:srgbClr val="C00000"/>
              </a:solidFill>
            </a:endParaRPr>
          </a:p>
          <a:p>
            <a:pPr fontAlgn="base"/>
            <a:r>
              <a:rPr lang="en-US" altLang="zh-CN" sz="2200" dirty="0"/>
              <a:t>[</a:t>
            </a:r>
            <a:r>
              <a:rPr lang="en-US" altLang="zh-CN" sz="2200" dirty="0" err="1"/>
              <a:t>SwitchA</a:t>
            </a:r>
            <a:r>
              <a:rPr lang="en-US" altLang="zh-CN" sz="2200" dirty="0"/>
              <a:t>] interface tunnel 1 mode ipv6   </a:t>
            </a:r>
            <a:r>
              <a:rPr lang="en-US" altLang="zh-CN" sz="2000" dirty="0"/>
              <a:t>//</a:t>
            </a:r>
            <a:r>
              <a:rPr lang="zh-CN" altLang="en-US" sz="2000" dirty="0"/>
              <a:t>创建模式为</a:t>
            </a:r>
            <a:r>
              <a:rPr lang="en-US" altLang="zh-CN" sz="2000" dirty="0"/>
              <a:t>IPv6</a:t>
            </a:r>
            <a:r>
              <a:rPr lang="zh-CN" altLang="en-US" sz="2000" dirty="0"/>
              <a:t>隧道的接口</a:t>
            </a:r>
            <a:r>
              <a:rPr lang="en-US" altLang="zh-CN" sz="2000" dirty="0"/>
              <a:t>Tunnel1</a:t>
            </a:r>
          </a:p>
          <a:p>
            <a:pPr fontAlgn="base"/>
            <a:r>
              <a:rPr lang="en-US" altLang="zh-CN" sz="2200" dirty="0"/>
              <a:t>[SwitchA-Tunnel1] </a:t>
            </a:r>
            <a:r>
              <a:rPr lang="en-US" altLang="zh-CN" sz="2200" dirty="0" err="1"/>
              <a:t>ip</a:t>
            </a:r>
            <a:r>
              <a:rPr lang="en-US" altLang="zh-CN" sz="2200" dirty="0"/>
              <a:t> address 30.1.2.1 255.255.255.0  </a:t>
            </a:r>
            <a:r>
              <a:rPr lang="en-US" altLang="zh-CN" sz="2000" dirty="0"/>
              <a:t>//</a:t>
            </a:r>
            <a:r>
              <a:rPr lang="zh-CN" altLang="en-US" sz="2000" dirty="0"/>
              <a:t>配置</a:t>
            </a:r>
            <a:r>
              <a:rPr lang="en-US" altLang="zh-CN" sz="2000" dirty="0"/>
              <a:t>Tunnel1</a:t>
            </a:r>
            <a:r>
              <a:rPr lang="zh-CN" altLang="en-US" sz="2000" dirty="0"/>
              <a:t>接口的</a:t>
            </a:r>
            <a:r>
              <a:rPr lang="en-US" altLang="zh-CN" sz="2000" dirty="0"/>
              <a:t>IP</a:t>
            </a:r>
            <a:r>
              <a:rPr lang="zh-CN" altLang="en-US" sz="2000" dirty="0"/>
              <a:t>地址</a:t>
            </a:r>
            <a:endParaRPr lang="en-US" altLang="zh-CN" sz="2000" dirty="0"/>
          </a:p>
          <a:p>
            <a:pPr fontAlgn="base"/>
            <a:r>
              <a:rPr lang="en-US" altLang="zh-CN" sz="2200" dirty="0"/>
              <a:t>[SwitchA-Tunnel1] source 2001::1:1   </a:t>
            </a:r>
            <a:r>
              <a:rPr lang="en-US" altLang="zh-CN" sz="2000" dirty="0"/>
              <a:t>//</a:t>
            </a:r>
            <a:r>
              <a:rPr lang="zh-CN" altLang="en-US" sz="2000" dirty="0"/>
              <a:t>配置</a:t>
            </a:r>
            <a:r>
              <a:rPr lang="en-US" altLang="zh-CN" sz="2000" dirty="0"/>
              <a:t>Tunnel1</a:t>
            </a:r>
            <a:r>
              <a:rPr lang="zh-CN" altLang="en-US" sz="2000" dirty="0"/>
              <a:t>接口的源端地址</a:t>
            </a:r>
            <a:endParaRPr lang="en-US" altLang="zh-CN" sz="2000" dirty="0"/>
          </a:p>
          <a:p>
            <a:pPr fontAlgn="base"/>
            <a:r>
              <a:rPr lang="en-US" altLang="zh-CN" sz="2200" dirty="0"/>
              <a:t>[SwitchA-Tunnel1] destination 2002::2:1   </a:t>
            </a:r>
            <a:r>
              <a:rPr lang="en-US" altLang="zh-CN" sz="2000" dirty="0"/>
              <a:t>//</a:t>
            </a:r>
            <a:r>
              <a:rPr lang="zh-CN" altLang="en-US" sz="2000" dirty="0"/>
              <a:t>配置</a:t>
            </a:r>
            <a:r>
              <a:rPr lang="en-US" altLang="zh-CN" sz="2000" dirty="0"/>
              <a:t>Tunnel1</a:t>
            </a:r>
            <a:r>
              <a:rPr lang="zh-CN" altLang="en-US" sz="2000" dirty="0"/>
              <a:t>接口的目的端地址</a:t>
            </a:r>
            <a:endParaRPr lang="en-US" altLang="zh-CN" sz="2000" dirty="0"/>
          </a:p>
          <a:p>
            <a:pPr fontAlgn="base"/>
            <a:r>
              <a:rPr lang="en-US" altLang="zh-CN" sz="2200" dirty="0"/>
              <a:t>[</a:t>
            </a:r>
            <a:r>
              <a:rPr lang="en-US" altLang="zh-CN" sz="2200" dirty="0" err="1"/>
              <a:t>SwitchA</a:t>
            </a:r>
            <a:r>
              <a:rPr lang="en-US" altLang="zh-CN" sz="2200" dirty="0"/>
              <a:t>] </a:t>
            </a:r>
            <a:r>
              <a:rPr lang="en-US" altLang="zh-CN" sz="2200" dirty="0" err="1"/>
              <a:t>ip</a:t>
            </a:r>
            <a:r>
              <a:rPr lang="en-US" altLang="zh-CN" sz="2200" dirty="0"/>
              <a:t> route-static 30.1.3.0 255.255.255.0 tunnel 1 </a:t>
            </a:r>
            <a:r>
              <a:rPr lang="en-US" altLang="zh-CN" sz="2000" dirty="0"/>
              <a:t>//</a:t>
            </a:r>
            <a:r>
              <a:rPr lang="zh-CN" altLang="en-US" sz="2000" dirty="0"/>
              <a:t>配置哪些报文经隧道传输</a:t>
            </a:r>
            <a:endParaRPr lang="en-US" altLang="zh-CN" sz="2000" dirty="0"/>
          </a:p>
        </p:txBody>
      </p:sp>
      <p:sp>
        <p:nvSpPr>
          <p:cNvPr id="3" name="日期占位符 2"/>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1953508830"/>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IPv4/IPv6</a:t>
            </a:r>
            <a:r>
              <a:rPr kumimoji="1" lang="zh-CN" altLang="en-US" dirty="0"/>
              <a:t>翻译</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215</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6" name="内容占位符 2">
            <a:extLst>
              <a:ext uri="{FF2B5EF4-FFF2-40B4-BE49-F238E27FC236}">
                <a16:creationId xmlns:a16="http://schemas.microsoft.com/office/drawing/2014/main" id="{DB830B1C-0706-7E41-AE1A-DEBBD115D846}"/>
              </a:ext>
            </a:extLst>
          </p:cNvPr>
          <p:cNvSpPr>
            <a:spLocks noGrp="1"/>
          </p:cNvSpPr>
          <p:nvPr>
            <p:ph idx="1"/>
          </p:nvPr>
        </p:nvSpPr>
        <p:spPr>
          <a:xfrm>
            <a:off x="603813" y="1459296"/>
            <a:ext cx="5978442" cy="5087264"/>
          </a:xfrm>
        </p:spPr>
        <p:txBody>
          <a:bodyPr>
            <a:normAutofit/>
          </a:bodyPr>
          <a:lstStyle/>
          <a:p>
            <a:pPr>
              <a:lnSpc>
                <a:spcPct val="110000"/>
              </a:lnSpc>
            </a:pPr>
            <a:r>
              <a:rPr lang="en-US" altLang="zh-CN" sz="2400" dirty="0">
                <a:latin typeface="微软雅黑" panose="020B0503020204020204" pitchFamily="34" charset="-122"/>
                <a:ea typeface="微软雅黑" panose="020B0503020204020204" pitchFamily="34" charset="-122"/>
              </a:rPr>
              <a:t>IPv4-IPv6</a:t>
            </a:r>
            <a:r>
              <a:rPr lang="zh-CN" altLang="en-US" sz="2400" dirty="0">
                <a:latin typeface="微软雅黑" panose="020B0503020204020204" pitchFamily="34" charset="-122"/>
                <a:ea typeface="微软雅黑" panose="020B0503020204020204" pitchFamily="34" charset="-122"/>
              </a:rPr>
              <a:t>地址往返转换</a:t>
            </a:r>
            <a:endParaRPr lang="en-US" altLang="zh-CN" sz="2400" dirty="0">
              <a:latin typeface="微软雅黑" panose="020B0503020204020204" pitchFamily="34" charset="-122"/>
              <a:ea typeface="微软雅黑" panose="020B0503020204020204" pitchFamily="34" charset="-122"/>
            </a:endParaRPr>
          </a:p>
          <a:p>
            <a:pPr>
              <a:lnSpc>
                <a:spcPct val="110000"/>
              </a:lnSpc>
            </a:pPr>
            <a:r>
              <a:rPr lang="en-US" altLang="zh-CN" sz="2400" dirty="0">
                <a:latin typeface="微软雅黑" panose="020B0503020204020204" pitchFamily="34" charset="-122"/>
                <a:ea typeface="微软雅黑" panose="020B0503020204020204" pitchFamily="34" charset="-122"/>
              </a:rPr>
              <a:t>IPv4</a:t>
            </a:r>
            <a:r>
              <a:rPr lang="zh-CN" altLang="en-US" sz="2400" dirty="0">
                <a:latin typeface="微软雅黑" panose="020B0503020204020204" pitchFamily="34" charset="-122"/>
                <a:ea typeface="微软雅黑" panose="020B0503020204020204" pitchFamily="34" charset="-122"/>
              </a:rPr>
              <a:t>报头和</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报头翻译</a:t>
            </a:r>
            <a:endParaRPr lang="en-US" altLang="zh-CN" sz="2400" dirty="0">
              <a:latin typeface="微软雅黑" panose="020B0503020204020204" pitchFamily="34" charset="-122"/>
              <a:ea typeface="微软雅黑" panose="020B0503020204020204" pitchFamily="34" charset="-122"/>
            </a:endParaRPr>
          </a:p>
          <a:p>
            <a:pPr lvl="1">
              <a:lnSpc>
                <a:spcPct val="110000"/>
              </a:lnSpc>
            </a:pPr>
            <a:r>
              <a:rPr lang="zh-CN" altLang="en-US" sz="2000" dirty="0">
                <a:latin typeface="微软雅黑" panose="020B0503020204020204" pitchFamily="34" charset="-122"/>
                <a:ea typeface="微软雅黑" panose="020B0503020204020204" pitchFamily="34" charset="-122"/>
              </a:rPr>
              <a:t>各字段对应，包括</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选项翻译</a:t>
            </a:r>
            <a:endParaRPr lang="en-US" altLang="zh-CN" sz="2000" dirty="0">
              <a:latin typeface="微软雅黑" panose="020B0503020204020204" pitchFamily="34" charset="-122"/>
              <a:ea typeface="微软雅黑" panose="020B0503020204020204" pitchFamily="34" charset="-122"/>
            </a:endParaRPr>
          </a:p>
          <a:p>
            <a:pPr>
              <a:lnSpc>
                <a:spcPct val="110000"/>
              </a:lnSpc>
            </a:pPr>
            <a:r>
              <a:rPr lang="zh-CN" altLang="en-US" sz="2400" dirty="0">
                <a:latin typeface="微软雅黑" panose="020B0503020204020204" pitchFamily="34" charset="-122"/>
                <a:ea typeface="微软雅黑" panose="020B0503020204020204" pitchFamily="34" charset="-122"/>
              </a:rPr>
              <a:t>传输层校验和转换，涉及</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地址</a:t>
            </a:r>
            <a:endParaRPr lang="en-US" altLang="zh-CN" sz="2400" dirty="0">
              <a:latin typeface="微软雅黑" panose="020B0503020204020204" pitchFamily="34" charset="-122"/>
              <a:ea typeface="微软雅黑" panose="020B0503020204020204" pitchFamily="34" charset="-122"/>
            </a:endParaRPr>
          </a:p>
          <a:p>
            <a:pPr>
              <a:lnSpc>
                <a:spcPct val="110000"/>
              </a:lnSpc>
            </a:pPr>
            <a:r>
              <a:rPr lang="en-US" altLang="zh-CN" sz="2400" dirty="0">
                <a:latin typeface="微软雅黑" panose="020B0503020204020204" pitchFamily="34" charset="-122"/>
                <a:ea typeface="微软雅黑" panose="020B0503020204020204" pitchFamily="34" charset="-122"/>
              </a:rPr>
              <a:t>ICMP</a:t>
            </a:r>
            <a:r>
              <a:rPr lang="zh-CN" altLang="en-US" sz="2400" dirty="0">
                <a:latin typeface="微软雅黑" panose="020B0503020204020204" pitchFamily="34" charset="-122"/>
                <a:ea typeface="微软雅黑" panose="020B0503020204020204" pitchFamily="34" charset="-122"/>
              </a:rPr>
              <a:t>翻译</a:t>
            </a:r>
            <a:endParaRPr lang="en-US" altLang="zh-CN" sz="2400" dirty="0">
              <a:latin typeface="微软雅黑" panose="020B0503020204020204" pitchFamily="34" charset="-122"/>
              <a:ea typeface="微软雅黑" panose="020B0503020204020204" pitchFamily="34" charset="-122"/>
            </a:endParaRPr>
          </a:p>
          <a:p>
            <a:pPr lvl="1">
              <a:lnSpc>
                <a:spcPct val="110000"/>
              </a:lnSpc>
            </a:pPr>
            <a:r>
              <a:rPr lang="en-US" altLang="zh-CN" sz="2000" dirty="0">
                <a:latin typeface="微软雅黑" panose="020B0503020204020204" pitchFamily="34" charset="-122"/>
                <a:ea typeface="微软雅黑" panose="020B0503020204020204" pitchFamily="34" charset="-122"/>
              </a:rPr>
              <a:t>ICMPv6</a:t>
            </a:r>
            <a:r>
              <a:rPr lang="zh-CN" altLang="en-US" sz="2000" dirty="0">
                <a:latin typeface="微软雅黑" panose="020B0503020204020204" pitchFamily="34" charset="-122"/>
                <a:ea typeface="微软雅黑" panose="020B0503020204020204" pitchFamily="34" charset="-122"/>
              </a:rPr>
              <a:t>重新设计了类型值和代码值</a:t>
            </a:r>
            <a:endParaRPr lang="en-US" altLang="zh-CN" sz="2000" dirty="0">
              <a:latin typeface="微软雅黑" panose="020B0503020204020204" pitchFamily="34" charset="-122"/>
              <a:ea typeface="微软雅黑" panose="020B0503020204020204" pitchFamily="34" charset="-122"/>
            </a:endParaRPr>
          </a:p>
          <a:p>
            <a:pPr>
              <a:lnSpc>
                <a:spcPct val="110000"/>
              </a:lnSpc>
            </a:pPr>
            <a:r>
              <a:rPr lang="zh-CN" altLang="en-US" sz="2400" dirty="0"/>
              <a:t>其它应用层协议翻译</a:t>
            </a:r>
            <a:endParaRPr lang="en-US" altLang="zh-CN" sz="2400" dirty="0"/>
          </a:p>
          <a:p>
            <a:pPr lvl="1">
              <a:lnSpc>
                <a:spcPct val="110000"/>
              </a:lnSpc>
            </a:pPr>
            <a:r>
              <a:rPr lang="en-US" altLang="zh-CN" sz="2000" dirty="0"/>
              <a:t>FTP</a:t>
            </a:r>
            <a:r>
              <a:rPr lang="zh-CN" altLang="en-US" sz="2000" dirty="0"/>
              <a:t>（命令名称变化，内嵌</a:t>
            </a:r>
            <a:r>
              <a:rPr lang="en-US" altLang="zh-CN" sz="2000" dirty="0"/>
              <a:t>IP</a:t>
            </a:r>
            <a:r>
              <a:rPr lang="zh-CN" altLang="en-US" sz="2000" dirty="0"/>
              <a:t>地址）</a:t>
            </a:r>
            <a:endParaRPr lang="en-US" altLang="zh-CN" sz="2000" dirty="0"/>
          </a:p>
          <a:p>
            <a:pPr lvl="1">
              <a:lnSpc>
                <a:spcPct val="110000"/>
              </a:lnSpc>
            </a:pPr>
            <a:r>
              <a:rPr lang="zh-CN" altLang="en-US" sz="2000" dirty="0"/>
              <a:t>内嵌</a:t>
            </a:r>
            <a:r>
              <a:rPr lang="en-US" altLang="zh-CN" sz="2000" dirty="0"/>
              <a:t>IP</a:t>
            </a:r>
            <a:r>
              <a:rPr lang="zh-CN" altLang="en-US" sz="2000" dirty="0"/>
              <a:t>地址的其它应用层协议</a:t>
            </a:r>
            <a:endParaRPr lang="en-US" altLang="zh-CN" sz="2000" dirty="0"/>
          </a:p>
          <a:p>
            <a:pPr marL="360363" lvl="1" indent="-360363">
              <a:lnSpc>
                <a:spcPct val="110000"/>
              </a:lnSpc>
              <a:buFont typeface="Wingdings" pitchFamily="2" charset="2"/>
              <a:buChar char="Ø"/>
            </a:pPr>
            <a:r>
              <a:rPr lang="en-US" altLang="zh-CN" dirty="0">
                <a:latin typeface="微软雅黑" panose="020B0503020204020204" pitchFamily="34" charset="-122"/>
                <a:ea typeface="微软雅黑" panose="020B0503020204020204" pitchFamily="34" charset="-122"/>
              </a:rPr>
              <a:t>DNS</a:t>
            </a:r>
            <a:r>
              <a:rPr lang="zh-CN" altLang="en-US" dirty="0">
                <a:latin typeface="微软雅黑" panose="020B0503020204020204" pitchFamily="34" charset="-122"/>
                <a:ea typeface="微软雅黑" panose="020B0503020204020204" pitchFamily="34" charset="-122"/>
              </a:rPr>
              <a:t>处理</a:t>
            </a:r>
            <a:endParaRPr lang="en-US" altLang="zh-CN" dirty="0">
              <a:latin typeface="微软雅黑" panose="020B0503020204020204" pitchFamily="34" charset="-122"/>
              <a:ea typeface="微软雅黑" panose="020B0503020204020204" pitchFamily="34" charset="-122"/>
            </a:endParaRPr>
          </a:p>
          <a:p>
            <a:pPr marL="817563" lvl="2" indent="-360363">
              <a:lnSpc>
                <a:spcPct val="110000"/>
              </a:lnSpc>
              <a:buFont typeface="Wingdings" pitchFamily="2" charset="2"/>
              <a:buChar char="Ø"/>
            </a:pPr>
            <a:r>
              <a:rPr lang="zh-CN" altLang="en-US" dirty="0">
                <a:latin typeface="微软雅黑" panose="020B0503020204020204" pitchFamily="34" charset="-122"/>
                <a:ea typeface="微软雅黑" panose="020B0503020204020204" pitchFamily="34" charset="-122"/>
              </a:rPr>
              <a:t>实现域名查询中</a:t>
            </a:r>
            <a:r>
              <a:rPr lang="en-US" altLang="zh-CN" dirty="0">
                <a:latin typeface="微软雅黑" panose="020B0503020204020204" pitchFamily="34" charset="-122"/>
                <a:ea typeface="微软雅黑" panose="020B0503020204020204" pitchFamily="34" charset="-122"/>
              </a:rPr>
              <a:t>A</a:t>
            </a:r>
            <a:r>
              <a:rPr lang="zh-CN" altLang="en-US" dirty="0">
                <a:latin typeface="微软雅黑" panose="020B0503020204020204" pitchFamily="34" charset="-122"/>
                <a:ea typeface="微软雅黑" panose="020B0503020204020204" pitchFamily="34" charset="-122"/>
              </a:rPr>
              <a:t>记录和</a:t>
            </a:r>
            <a:r>
              <a:rPr lang="en-US" altLang="zh-CN" dirty="0">
                <a:latin typeface="微软雅黑" panose="020B0503020204020204" pitchFamily="34" charset="-122"/>
                <a:ea typeface="微软雅黑" panose="020B0503020204020204" pitchFamily="34" charset="-122"/>
              </a:rPr>
              <a:t>4A</a:t>
            </a:r>
            <a:r>
              <a:rPr lang="zh-CN" altLang="en-US" dirty="0">
                <a:latin typeface="微软雅黑" panose="020B0503020204020204" pitchFamily="34" charset="-122"/>
                <a:ea typeface="微软雅黑" panose="020B0503020204020204" pitchFamily="34" charset="-122"/>
              </a:rPr>
              <a:t>记录的双向翻译</a:t>
            </a:r>
            <a:endParaRPr lang="en-US" altLang="zh-CN" dirty="0">
              <a:latin typeface="微软雅黑" panose="020B0503020204020204" pitchFamily="34" charset="-122"/>
              <a:ea typeface="微软雅黑" panose="020B0503020204020204" pitchFamily="34" charset="-122"/>
            </a:endParaRPr>
          </a:p>
        </p:txBody>
      </p:sp>
      <p:sp>
        <p:nvSpPr>
          <p:cNvPr id="7" name="Text Box 180"/>
          <p:cNvSpPr txBox="1">
            <a:spLocks noChangeArrowheads="1"/>
          </p:cNvSpPr>
          <p:nvPr/>
        </p:nvSpPr>
        <p:spPr bwMode="auto">
          <a:xfrm>
            <a:off x="6764370" y="5913973"/>
            <a:ext cx="3914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0000FF"/>
                </a:solidFill>
                <a:latin typeface="微软雅黑" panose="020B0503020204020204" pitchFamily="34" charset="-122"/>
                <a:ea typeface="微软雅黑" panose="020B0503020204020204" pitchFamily="34" charset="-122"/>
              </a:rPr>
              <a:t>S</a:t>
            </a:r>
          </a:p>
        </p:txBody>
      </p:sp>
      <p:sp>
        <p:nvSpPr>
          <p:cNvPr id="8" name="Text Box 180"/>
          <p:cNvSpPr txBox="1">
            <a:spLocks noChangeArrowheads="1"/>
          </p:cNvSpPr>
          <p:nvPr/>
        </p:nvSpPr>
        <p:spPr bwMode="auto">
          <a:xfrm>
            <a:off x="8731223" y="5977647"/>
            <a:ext cx="9028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b="1" dirty="0">
                <a:solidFill>
                  <a:srgbClr val="0000FF"/>
                </a:solidFill>
                <a:latin typeface="微软雅黑" panose="020B0503020204020204" pitchFamily="34" charset="-122"/>
                <a:ea typeface="微软雅黑" panose="020B0503020204020204" pitchFamily="34" charset="-122"/>
              </a:rPr>
              <a:t>网关</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9" name="Text Box 180"/>
          <p:cNvSpPr txBox="1">
            <a:spLocks noChangeArrowheads="1"/>
          </p:cNvSpPr>
          <p:nvPr/>
        </p:nvSpPr>
        <p:spPr bwMode="auto">
          <a:xfrm>
            <a:off x="9753951" y="5468289"/>
            <a:ext cx="9092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C00000"/>
                </a:solidFill>
                <a:latin typeface="微软雅黑" panose="020B0503020204020204" pitchFamily="34" charset="-122"/>
                <a:ea typeface="微软雅黑" panose="020B0503020204020204" pitchFamily="34" charset="-122"/>
              </a:rPr>
              <a:t>IPv6</a:t>
            </a:r>
          </a:p>
        </p:txBody>
      </p:sp>
      <p:pic>
        <p:nvPicPr>
          <p:cNvPr id="11" name="图片 10"/>
          <p:cNvPicPr>
            <a:picLocks noChangeAspect="1"/>
          </p:cNvPicPr>
          <p:nvPr/>
        </p:nvPicPr>
        <p:blipFill>
          <a:blip r:embed="rId2"/>
          <a:stretch>
            <a:fillRect/>
          </a:stretch>
        </p:blipFill>
        <p:spPr>
          <a:xfrm>
            <a:off x="6686366" y="5549479"/>
            <a:ext cx="483343" cy="428967"/>
          </a:xfrm>
          <a:prstGeom prst="rect">
            <a:avLst/>
          </a:prstGeom>
        </p:spPr>
      </p:pic>
      <p:graphicFrame>
        <p:nvGraphicFramePr>
          <p:cNvPr id="12" name="对象 11"/>
          <p:cNvGraphicFramePr>
            <a:graphicFrameLocks noChangeAspect="1"/>
          </p:cNvGraphicFramePr>
          <p:nvPr/>
        </p:nvGraphicFramePr>
        <p:xfrm>
          <a:off x="8791355" y="5585044"/>
          <a:ext cx="710076" cy="651491"/>
        </p:xfrm>
        <a:graphic>
          <a:graphicData uri="http://schemas.openxmlformats.org/presentationml/2006/ole">
            <mc:AlternateContent xmlns:mc="http://schemas.openxmlformats.org/markup-compatibility/2006">
              <mc:Choice xmlns:v="urn:schemas-microsoft-com:vml" Requires="v">
                <p:oleObj name="Visio" r:id="rId3" imgW="755654" imgH="1035050" progId="Visio.Drawing.15">
                  <p:embed/>
                </p:oleObj>
              </mc:Choice>
              <mc:Fallback>
                <p:oleObj name="Visio" r:id="rId3" imgW="755654" imgH="1035050" progId="Visio.Drawing.15">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91355" y="5585044"/>
                        <a:ext cx="710076" cy="651491"/>
                      </a:xfrm>
                      <a:prstGeom prst="rect">
                        <a:avLst/>
                      </a:prstGeom>
                      <a:noFill/>
                    </p:spPr>
                  </p:pic>
                </p:oleObj>
              </mc:Fallback>
            </mc:AlternateContent>
          </a:graphicData>
        </a:graphic>
      </p:graphicFrame>
      <p:sp>
        <p:nvSpPr>
          <p:cNvPr id="13" name="椭圆 12"/>
          <p:cNvSpPr/>
          <p:nvPr/>
        </p:nvSpPr>
        <p:spPr>
          <a:xfrm>
            <a:off x="7137987" y="4989110"/>
            <a:ext cx="2006823" cy="1347537"/>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a:latin typeface="微软雅黑" panose="020B0503020204020204" pitchFamily="34" charset="-122"/>
              <a:ea typeface="微软雅黑" panose="020B0503020204020204" pitchFamily="34" charset="-122"/>
            </a:endParaRPr>
          </a:p>
        </p:txBody>
      </p:sp>
      <p:sp>
        <p:nvSpPr>
          <p:cNvPr id="14" name="椭圆 13"/>
          <p:cNvSpPr/>
          <p:nvPr/>
        </p:nvSpPr>
        <p:spPr>
          <a:xfrm>
            <a:off x="9149720" y="4989110"/>
            <a:ext cx="2006823" cy="1347537"/>
          </a:xfrm>
          <a:prstGeom prst="ellipse">
            <a:avLst/>
          </a:prstGeom>
          <a:noFill/>
          <a:ln w="190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a:latin typeface="微软雅黑" panose="020B0503020204020204" pitchFamily="34" charset="-122"/>
              <a:ea typeface="微软雅黑" panose="020B0503020204020204" pitchFamily="34" charset="-122"/>
            </a:endParaRPr>
          </a:p>
        </p:txBody>
      </p:sp>
      <p:sp>
        <p:nvSpPr>
          <p:cNvPr id="15" name="Text Box 180"/>
          <p:cNvSpPr txBox="1">
            <a:spLocks noChangeArrowheads="1"/>
          </p:cNvSpPr>
          <p:nvPr/>
        </p:nvSpPr>
        <p:spPr bwMode="auto">
          <a:xfrm>
            <a:off x="7602855" y="5468289"/>
            <a:ext cx="9092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0000FF"/>
                </a:solidFill>
                <a:latin typeface="微软雅黑" panose="020B0503020204020204" pitchFamily="34" charset="-122"/>
                <a:ea typeface="微软雅黑" panose="020B0503020204020204" pitchFamily="34" charset="-122"/>
              </a:rPr>
              <a:t>IPv4</a:t>
            </a:r>
          </a:p>
        </p:txBody>
      </p:sp>
      <p:sp>
        <p:nvSpPr>
          <p:cNvPr id="16" name="Text Box 180"/>
          <p:cNvSpPr txBox="1">
            <a:spLocks noChangeArrowheads="1"/>
          </p:cNvSpPr>
          <p:nvPr/>
        </p:nvSpPr>
        <p:spPr bwMode="auto">
          <a:xfrm>
            <a:off x="11200048" y="5913973"/>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C00000"/>
                </a:solidFill>
                <a:latin typeface="微软雅黑" panose="020B0503020204020204" pitchFamily="34" charset="-122"/>
                <a:ea typeface="微软雅黑" panose="020B0503020204020204" pitchFamily="34" charset="-122"/>
              </a:rPr>
              <a:t>D</a:t>
            </a:r>
          </a:p>
        </p:txBody>
      </p:sp>
      <p:pic>
        <p:nvPicPr>
          <p:cNvPr id="17" name="图片 16"/>
          <p:cNvPicPr>
            <a:picLocks noChangeAspect="1"/>
          </p:cNvPicPr>
          <p:nvPr/>
        </p:nvPicPr>
        <p:blipFill>
          <a:blip r:embed="rId2"/>
          <a:stretch>
            <a:fillRect/>
          </a:stretch>
        </p:blipFill>
        <p:spPr>
          <a:xfrm>
            <a:off x="11122044" y="5549479"/>
            <a:ext cx="483343" cy="428967"/>
          </a:xfrm>
          <a:prstGeom prst="rect">
            <a:avLst/>
          </a:prstGeom>
        </p:spPr>
      </p:pic>
      <p:sp>
        <p:nvSpPr>
          <p:cNvPr id="18" name="矩形 17"/>
          <p:cNvSpPr/>
          <p:nvPr/>
        </p:nvSpPr>
        <p:spPr>
          <a:xfrm>
            <a:off x="6554850" y="4205805"/>
            <a:ext cx="1365663" cy="486889"/>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网络层</a:t>
            </a:r>
          </a:p>
        </p:txBody>
      </p:sp>
      <p:sp>
        <p:nvSpPr>
          <p:cNvPr id="19" name="矩形 18"/>
          <p:cNvSpPr/>
          <p:nvPr/>
        </p:nvSpPr>
        <p:spPr>
          <a:xfrm>
            <a:off x="6554849" y="3137328"/>
            <a:ext cx="1365663" cy="486889"/>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传输层</a:t>
            </a:r>
          </a:p>
        </p:txBody>
      </p:sp>
      <p:sp>
        <p:nvSpPr>
          <p:cNvPr id="20" name="矩形 19"/>
          <p:cNvSpPr/>
          <p:nvPr/>
        </p:nvSpPr>
        <p:spPr>
          <a:xfrm>
            <a:off x="6554848" y="2038917"/>
            <a:ext cx="1365663" cy="486889"/>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应用层</a:t>
            </a:r>
          </a:p>
        </p:txBody>
      </p:sp>
      <p:sp>
        <p:nvSpPr>
          <p:cNvPr id="21" name="矩形 20"/>
          <p:cNvSpPr/>
          <p:nvPr/>
        </p:nvSpPr>
        <p:spPr>
          <a:xfrm>
            <a:off x="10302485" y="4205805"/>
            <a:ext cx="1365663" cy="48688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网络层</a:t>
            </a:r>
          </a:p>
        </p:txBody>
      </p:sp>
      <p:sp>
        <p:nvSpPr>
          <p:cNvPr id="22" name="矩形 21"/>
          <p:cNvSpPr/>
          <p:nvPr/>
        </p:nvSpPr>
        <p:spPr>
          <a:xfrm>
            <a:off x="10302484" y="3137328"/>
            <a:ext cx="1365663" cy="48688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传输层</a:t>
            </a:r>
          </a:p>
        </p:txBody>
      </p:sp>
      <p:sp>
        <p:nvSpPr>
          <p:cNvPr id="23" name="矩形 22"/>
          <p:cNvSpPr/>
          <p:nvPr/>
        </p:nvSpPr>
        <p:spPr>
          <a:xfrm>
            <a:off x="10302483" y="2038917"/>
            <a:ext cx="1365663" cy="48688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应用层</a:t>
            </a:r>
          </a:p>
        </p:txBody>
      </p:sp>
      <p:sp>
        <p:nvSpPr>
          <p:cNvPr id="24" name="Text Box 180"/>
          <p:cNvSpPr txBox="1">
            <a:spLocks noChangeArrowheads="1"/>
          </p:cNvSpPr>
          <p:nvPr/>
        </p:nvSpPr>
        <p:spPr bwMode="auto">
          <a:xfrm>
            <a:off x="8229434" y="3989743"/>
            <a:ext cx="176413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地址格式和报头格式字段变化</a:t>
            </a:r>
            <a:r>
              <a:rPr lang="en-US" altLang="zh-CN" sz="2000" dirty="0">
                <a:latin typeface="微软雅黑" panose="020B0503020204020204" pitchFamily="34" charset="-122"/>
                <a:ea typeface="微软雅黑" panose="020B0503020204020204" pitchFamily="34" charset="-122"/>
              </a:rPr>
              <a:t>(</a:t>
            </a:r>
            <a:r>
              <a:rPr lang="zh-CN" altLang="en-US" sz="2000" dirty="0">
                <a:latin typeface="微软雅黑" panose="020B0503020204020204" pitchFamily="34" charset="-122"/>
                <a:ea typeface="微软雅黑" panose="020B0503020204020204" pitchFamily="34" charset="-122"/>
              </a:rPr>
              <a:t>扩展头</a:t>
            </a:r>
            <a:r>
              <a:rPr lang="en-US" altLang="zh-CN" sz="2000" dirty="0">
                <a:latin typeface="微软雅黑" panose="020B0503020204020204" pitchFamily="34" charset="-122"/>
                <a:ea typeface="微软雅黑" panose="020B0503020204020204" pitchFamily="34" charset="-122"/>
              </a:rPr>
              <a:t>)</a:t>
            </a:r>
          </a:p>
        </p:txBody>
      </p:sp>
      <p:sp>
        <p:nvSpPr>
          <p:cNvPr id="25" name="Text Box 180"/>
          <p:cNvSpPr txBox="1">
            <a:spLocks noChangeArrowheads="1"/>
          </p:cNvSpPr>
          <p:nvPr/>
        </p:nvSpPr>
        <p:spPr bwMode="auto">
          <a:xfrm>
            <a:off x="8204659" y="3048282"/>
            <a:ext cx="17641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2000" dirty="0">
                <a:latin typeface="微软雅黑" panose="020B0503020204020204" pitchFamily="34" charset="-122"/>
                <a:ea typeface="微软雅黑" panose="020B0503020204020204" pitchFamily="34" charset="-122"/>
              </a:rPr>
              <a:t>传输层校验涉及</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地址</a:t>
            </a:r>
            <a:endParaRPr lang="en-US" altLang="zh-CN" sz="2000" dirty="0">
              <a:latin typeface="微软雅黑" panose="020B0503020204020204" pitchFamily="34" charset="-122"/>
              <a:ea typeface="微软雅黑" panose="020B0503020204020204" pitchFamily="34" charset="-122"/>
            </a:endParaRPr>
          </a:p>
        </p:txBody>
      </p:sp>
      <p:sp>
        <p:nvSpPr>
          <p:cNvPr id="26" name="Text Box 180"/>
          <p:cNvSpPr txBox="1">
            <a:spLocks noChangeArrowheads="1"/>
          </p:cNvSpPr>
          <p:nvPr/>
        </p:nvSpPr>
        <p:spPr bwMode="auto">
          <a:xfrm>
            <a:off x="8146471" y="1843741"/>
            <a:ext cx="198318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2000" dirty="0">
                <a:latin typeface="微软雅黑" panose="020B0503020204020204" pitchFamily="34" charset="-122"/>
                <a:ea typeface="微软雅黑" panose="020B0503020204020204" pitchFamily="34" charset="-122"/>
              </a:rPr>
              <a:t>部分协议有差异</a:t>
            </a:r>
            <a:r>
              <a:rPr lang="en-US" altLang="zh-CN" sz="2000" dirty="0">
                <a:latin typeface="微软雅黑" panose="020B0503020204020204" pitchFamily="34" charset="-122"/>
                <a:ea typeface="微软雅黑" panose="020B0503020204020204" pitchFamily="34" charset="-122"/>
              </a:rPr>
              <a:t>(DNS</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FTP)</a:t>
            </a:r>
            <a:r>
              <a:rPr lang="zh-CN" altLang="en-US" sz="2000" dirty="0">
                <a:latin typeface="微软雅黑" panose="020B0503020204020204" pitchFamily="34" charset="-122"/>
                <a:ea typeface="微软雅黑" panose="020B0503020204020204" pitchFamily="34" charset="-122"/>
              </a:rPr>
              <a:t>，</a:t>
            </a:r>
            <a:endParaRPr lang="en-US" altLang="zh-CN" sz="2000" dirty="0">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2000" dirty="0">
                <a:latin typeface="微软雅黑" panose="020B0503020204020204" pitchFamily="34" charset="-122"/>
                <a:ea typeface="微软雅黑" panose="020B0503020204020204" pitchFamily="34" charset="-122"/>
              </a:rPr>
              <a:t>内嵌</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地址问题</a:t>
            </a:r>
            <a:endParaRPr lang="en-US" altLang="zh-CN" sz="2000" dirty="0">
              <a:latin typeface="微软雅黑" panose="020B0503020204020204" pitchFamily="34" charset="-122"/>
              <a:ea typeface="微软雅黑" panose="020B0503020204020204" pitchFamily="34" charset="-122"/>
            </a:endParaRPr>
          </a:p>
        </p:txBody>
      </p:sp>
      <p:sp>
        <p:nvSpPr>
          <p:cNvPr id="27" name="Text Box 180"/>
          <p:cNvSpPr txBox="1">
            <a:spLocks noChangeArrowheads="1"/>
          </p:cNvSpPr>
          <p:nvPr/>
        </p:nvSpPr>
        <p:spPr bwMode="auto">
          <a:xfrm>
            <a:off x="8204659" y="1431138"/>
            <a:ext cx="1764130" cy="400110"/>
          </a:xfrm>
          <a:prstGeom prst="rect">
            <a:avLst/>
          </a:prstGeom>
          <a:solidFill>
            <a:schemeClr val="accent4">
              <a:lumMod val="60000"/>
              <a:lumOff val="40000"/>
            </a:schemeClr>
          </a:solidFill>
          <a:ln>
            <a:noFill/>
          </a:ln>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2000" b="1" i="1" dirty="0">
                <a:latin typeface="微软雅黑" panose="020B0503020204020204" pitchFamily="34" charset="-122"/>
                <a:ea typeface="微软雅黑" panose="020B0503020204020204" pitchFamily="34" charset="-122"/>
              </a:rPr>
              <a:t>协议翻译困难</a:t>
            </a:r>
            <a:endParaRPr lang="en-US" altLang="zh-CN" sz="2000" b="1" i="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05620870"/>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en-US" altLang="zh-CN" dirty="0"/>
              <a:t>IPv4/IPv6</a:t>
            </a:r>
            <a:r>
              <a:rPr kumimoji="1" lang="zh-CN" altLang="en-US" dirty="0"/>
              <a:t>翻译的问题</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216</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6" name="内容占位符 2">
            <a:extLst>
              <a:ext uri="{FF2B5EF4-FFF2-40B4-BE49-F238E27FC236}">
                <a16:creationId xmlns:a16="http://schemas.microsoft.com/office/drawing/2014/main" id="{DB830B1C-0706-7E41-AE1A-DEBBD115D846}"/>
              </a:ext>
            </a:extLst>
          </p:cNvPr>
          <p:cNvSpPr>
            <a:spLocks noGrp="1"/>
          </p:cNvSpPr>
          <p:nvPr>
            <p:ph idx="1"/>
          </p:nvPr>
        </p:nvSpPr>
        <p:spPr>
          <a:xfrm>
            <a:off x="812861" y="1447144"/>
            <a:ext cx="9686313" cy="5087264"/>
          </a:xfrm>
        </p:spPr>
        <p:txBody>
          <a:bodyPr>
            <a:normAutofit/>
          </a:bodyPr>
          <a:lstStyle/>
          <a:p>
            <a:r>
              <a:rPr lang="zh-CN" altLang="en-US" sz="2400" dirty="0"/>
              <a:t>破坏互联网端到端原则</a:t>
            </a:r>
            <a:endParaRPr lang="en-US" altLang="zh-CN" sz="2400" dirty="0"/>
          </a:p>
          <a:p>
            <a:pPr lvl="1"/>
            <a:r>
              <a:rPr lang="zh-CN" altLang="en-US" dirty="0"/>
              <a:t>通信双方只看到通信对端在本网络对应的地址</a:t>
            </a:r>
            <a:endParaRPr lang="en-US" altLang="zh-CN" dirty="0"/>
          </a:p>
          <a:p>
            <a:pPr lvl="1"/>
            <a:r>
              <a:rPr lang="zh-CN" altLang="en-US" dirty="0"/>
              <a:t>翻译网关处理传输层、应用层数据（上层数据无法透明传输）</a:t>
            </a:r>
            <a:endParaRPr lang="en-US" altLang="zh-CN" dirty="0"/>
          </a:p>
          <a:p>
            <a:r>
              <a:rPr lang="zh-CN" altLang="en-US" sz="2400" dirty="0"/>
              <a:t>异构地址寻址问题</a:t>
            </a:r>
            <a:endParaRPr lang="en-US" altLang="zh-CN" sz="2400" dirty="0"/>
          </a:p>
          <a:p>
            <a:pPr lvl="1"/>
            <a:r>
              <a:rPr lang="zh-CN" altLang="en-US" dirty="0"/>
              <a:t>通信双方至少有一方需感知本次通信涉及翻译技术</a:t>
            </a:r>
            <a:endParaRPr lang="en-US" altLang="zh-CN" dirty="0"/>
          </a:p>
          <a:p>
            <a:pPr lvl="1"/>
            <a:r>
              <a:rPr lang="zh-CN" altLang="en-US" dirty="0"/>
              <a:t>域名访问需</a:t>
            </a:r>
            <a:r>
              <a:rPr lang="en-US" altLang="zh-CN" dirty="0"/>
              <a:t>DNS</a:t>
            </a:r>
            <a:r>
              <a:rPr lang="zh-CN" altLang="en-US" dirty="0"/>
              <a:t>服务支撑</a:t>
            </a:r>
            <a:endParaRPr lang="en-US" altLang="zh-CN" dirty="0"/>
          </a:p>
          <a:p>
            <a:r>
              <a:rPr lang="zh-CN" altLang="en-US" sz="2400" dirty="0"/>
              <a:t>路由可扩展问题</a:t>
            </a:r>
            <a:endParaRPr lang="en-US" altLang="zh-CN" sz="2400" dirty="0"/>
          </a:p>
          <a:p>
            <a:pPr lvl="1"/>
            <a:r>
              <a:rPr lang="en-US" altLang="zh-CN" sz="2000" dirty="0"/>
              <a:t>IPv4/IPv6</a:t>
            </a:r>
            <a:r>
              <a:rPr lang="zh-CN" altLang="en-US" sz="2000" dirty="0"/>
              <a:t>翻译专用的</a:t>
            </a:r>
            <a:r>
              <a:rPr lang="en-US" altLang="zh-CN" sz="2000" dirty="0"/>
              <a:t>96</a:t>
            </a:r>
            <a:r>
              <a:rPr lang="zh-CN" altLang="en-US" sz="2000" dirty="0"/>
              <a:t>位前缀，给路由聚合带来困难</a:t>
            </a:r>
            <a:endParaRPr lang="en-US" altLang="zh-CN" sz="2000" dirty="0"/>
          </a:p>
          <a:p>
            <a:r>
              <a:rPr lang="zh-CN" altLang="en-US" sz="2400" dirty="0"/>
              <a:t>应用层内嵌</a:t>
            </a:r>
            <a:r>
              <a:rPr lang="en-US" altLang="zh-CN" sz="2400" dirty="0"/>
              <a:t>IP</a:t>
            </a:r>
            <a:r>
              <a:rPr lang="zh-CN" altLang="en-US" sz="2400" dirty="0"/>
              <a:t>地址</a:t>
            </a:r>
            <a:endParaRPr lang="en-US" altLang="zh-CN" sz="2400" dirty="0"/>
          </a:p>
          <a:p>
            <a:pPr lvl="1"/>
            <a:r>
              <a:rPr lang="zh-CN" altLang="en-US" sz="2000" dirty="0"/>
              <a:t>部分应用层协议内嵌</a:t>
            </a:r>
            <a:r>
              <a:rPr lang="en-US" altLang="zh-CN" sz="2000" dirty="0"/>
              <a:t>IP</a:t>
            </a:r>
            <a:r>
              <a:rPr lang="zh-CN" altLang="en-US" sz="2000" dirty="0"/>
              <a:t>地址，将使翻译技术实施难度极大</a:t>
            </a:r>
            <a:endParaRPr lang="en-US" altLang="zh-CN" sz="2000" dirty="0"/>
          </a:p>
          <a:p>
            <a:r>
              <a:rPr lang="zh-CN" altLang="en-US" sz="2400" dirty="0"/>
              <a:t>翻译导致报文变长可能导致分片问题，影响转发性能</a:t>
            </a:r>
            <a:endParaRPr lang="en-US" altLang="zh-CN" sz="2400" dirty="0"/>
          </a:p>
        </p:txBody>
      </p:sp>
    </p:spTree>
    <p:extLst>
      <p:ext uri="{BB962C8B-B14F-4D97-AF65-F5344CB8AC3E}">
        <p14:creationId xmlns:p14="http://schemas.microsoft.com/office/powerpoint/2010/main" val="2017934840"/>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背景：</a:t>
            </a:r>
            <a:r>
              <a:rPr kumimoji="1" lang="en-US" altLang="zh-CN" dirty="0">
                <a:sym typeface="微软雅黑" panose="020B0503020204020204" pitchFamily="34" charset="-122"/>
              </a:rPr>
              <a:t>IP/MPLS</a:t>
            </a:r>
            <a:r>
              <a:rPr kumimoji="1" lang="zh-CN" altLang="en-US" dirty="0">
                <a:sym typeface="微软雅黑" panose="020B0503020204020204" pitchFamily="34" charset="-122"/>
              </a:rPr>
              <a:t>遇到瓶颈</a:t>
            </a:r>
            <a:endParaRPr kumimoji="1" lang="zh-CN" altLang="en-US" dirty="0"/>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217</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7" name="圆角矩形 6"/>
          <p:cNvSpPr/>
          <p:nvPr/>
        </p:nvSpPr>
        <p:spPr bwMode="auto">
          <a:xfrm>
            <a:off x="2570989" y="2160633"/>
            <a:ext cx="1280987" cy="443759"/>
          </a:xfrm>
          <a:prstGeom prst="roundRect">
            <a:avLst/>
          </a:prstGeom>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IP</a:t>
            </a:r>
          </a:p>
        </p:txBody>
      </p:sp>
      <p:sp>
        <p:nvSpPr>
          <p:cNvPr id="8" name="圆角矩形 7"/>
          <p:cNvSpPr/>
          <p:nvPr/>
        </p:nvSpPr>
        <p:spPr bwMode="auto">
          <a:xfrm>
            <a:off x="2570989" y="3417014"/>
            <a:ext cx="1266141" cy="443759"/>
          </a:xfrm>
          <a:prstGeom prst="roundRect">
            <a:avLst/>
          </a:prstGeom>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LDP</a:t>
            </a:r>
          </a:p>
        </p:txBody>
      </p:sp>
      <p:sp>
        <p:nvSpPr>
          <p:cNvPr id="9" name="圆角矩形 8"/>
          <p:cNvSpPr/>
          <p:nvPr/>
        </p:nvSpPr>
        <p:spPr bwMode="auto">
          <a:xfrm>
            <a:off x="2570989" y="4673394"/>
            <a:ext cx="1266141" cy="443759"/>
          </a:xfrm>
          <a:prstGeom prst="roundRect">
            <a:avLst/>
          </a:prstGeom>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RSVP-TE</a:t>
            </a:r>
          </a:p>
        </p:txBody>
      </p:sp>
      <p:sp>
        <p:nvSpPr>
          <p:cNvPr id="11" name="圆角矩形 10"/>
          <p:cNvSpPr/>
          <p:nvPr/>
        </p:nvSpPr>
        <p:spPr bwMode="auto">
          <a:xfrm>
            <a:off x="623584" y="2388747"/>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ECMP</a:t>
            </a:r>
          </a:p>
        </p:txBody>
      </p:sp>
      <p:sp>
        <p:nvSpPr>
          <p:cNvPr id="12" name="圆角矩形 11"/>
          <p:cNvSpPr/>
          <p:nvPr/>
        </p:nvSpPr>
        <p:spPr bwMode="auto">
          <a:xfrm>
            <a:off x="623584" y="3944384"/>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标签转发</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13" name="圆角矩形 12"/>
          <p:cNvSpPr/>
          <p:nvPr/>
        </p:nvSpPr>
        <p:spPr bwMode="auto">
          <a:xfrm>
            <a:off x="623584" y="1610929"/>
            <a:ext cx="1405033" cy="443759"/>
          </a:xfrm>
          <a:prstGeom prst="roundRect">
            <a:avLst/>
          </a:prstGeom>
          <a:solidFill>
            <a:srgbClr val="0070C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逐跳查表</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14" name="圆角矩形 13"/>
          <p:cNvSpPr/>
          <p:nvPr/>
        </p:nvSpPr>
        <p:spPr bwMode="auto">
          <a:xfrm>
            <a:off x="623584" y="4722202"/>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带宽预留</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15" name="圆角矩形 14"/>
          <p:cNvSpPr/>
          <p:nvPr/>
        </p:nvSpPr>
        <p:spPr bwMode="auto">
          <a:xfrm>
            <a:off x="623584" y="5500019"/>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路径规划</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16" name="直接连接符 15"/>
          <p:cNvCxnSpPr>
            <a:stCxn id="7" idx="1"/>
            <a:endCxn id="13" idx="3"/>
          </p:cNvCxnSpPr>
          <p:nvPr/>
        </p:nvCxnSpPr>
        <p:spPr bwMode="auto">
          <a:xfrm flipH="1" flipV="1">
            <a:off x="2028617" y="1832809"/>
            <a:ext cx="542372" cy="549704"/>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连接符 16"/>
          <p:cNvCxnSpPr>
            <a:stCxn id="7" idx="1"/>
            <a:endCxn id="11" idx="3"/>
          </p:cNvCxnSpPr>
          <p:nvPr/>
        </p:nvCxnSpPr>
        <p:spPr bwMode="auto">
          <a:xfrm flipH="1">
            <a:off x="2028617" y="2382514"/>
            <a:ext cx="542372" cy="228114"/>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a:stCxn id="8" idx="1"/>
            <a:endCxn id="11" idx="3"/>
          </p:cNvCxnSpPr>
          <p:nvPr/>
        </p:nvCxnSpPr>
        <p:spPr bwMode="auto">
          <a:xfrm flipH="1" flipV="1">
            <a:off x="2028617" y="2610627"/>
            <a:ext cx="542372" cy="1028266"/>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18"/>
          <p:cNvCxnSpPr>
            <a:stCxn id="8" idx="1"/>
            <a:endCxn id="12" idx="3"/>
          </p:cNvCxnSpPr>
          <p:nvPr/>
        </p:nvCxnSpPr>
        <p:spPr bwMode="auto">
          <a:xfrm flipH="1">
            <a:off x="2028617" y="3638894"/>
            <a:ext cx="542372" cy="527370"/>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9" idx="1"/>
            <a:endCxn id="14" idx="3"/>
          </p:cNvCxnSpPr>
          <p:nvPr/>
        </p:nvCxnSpPr>
        <p:spPr bwMode="auto">
          <a:xfrm flipH="1">
            <a:off x="2028617" y="4895274"/>
            <a:ext cx="542372" cy="48808"/>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20"/>
          <p:cNvCxnSpPr>
            <a:stCxn id="9" idx="1"/>
            <a:endCxn id="15" idx="3"/>
          </p:cNvCxnSpPr>
          <p:nvPr/>
        </p:nvCxnSpPr>
        <p:spPr bwMode="auto">
          <a:xfrm flipH="1">
            <a:off x="2028617" y="4895274"/>
            <a:ext cx="542372" cy="826625"/>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2" name="图片 2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6584391" y="3474917"/>
            <a:ext cx="976861" cy="708833"/>
          </a:xfrm>
          <a:prstGeom prst="rect">
            <a:avLst/>
          </a:prstGeom>
        </p:spPr>
      </p:pic>
      <p:pic>
        <p:nvPicPr>
          <p:cNvPr id="23" name="Picture 2" descr="âsegment routingâçå¾çæç´¢ç»æ"/>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28075" y="3906659"/>
            <a:ext cx="1772543" cy="1664407"/>
          </a:xfrm>
          <a:prstGeom prst="rect">
            <a:avLst/>
          </a:prstGeom>
          <a:noFill/>
          <a:extLst>
            <a:ext uri="{909E8E84-426E-40DD-AFC4-6F175D3DCCD1}">
              <a14:hiddenFill xmlns:a14="http://schemas.microsoft.com/office/drawing/2010/main">
                <a:solidFill>
                  <a:srgbClr val="FFFFFF"/>
                </a:solidFill>
              </a14:hiddenFill>
            </a:ext>
          </a:extLst>
        </p:spPr>
      </p:pic>
      <p:sp>
        <p:nvSpPr>
          <p:cNvPr id="24" name="圆角矩形 23"/>
          <p:cNvSpPr/>
          <p:nvPr/>
        </p:nvSpPr>
        <p:spPr bwMode="auto">
          <a:xfrm>
            <a:off x="4291635" y="1643321"/>
            <a:ext cx="2321259" cy="590866"/>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缺乏路径规划能力</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25" name="直接连接符 24"/>
          <p:cNvCxnSpPr>
            <a:stCxn id="24" idx="1"/>
            <a:endCxn id="7" idx="3"/>
          </p:cNvCxnSpPr>
          <p:nvPr/>
        </p:nvCxnSpPr>
        <p:spPr bwMode="auto">
          <a:xfrm flipH="1">
            <a:off x="3851976" y="1938754"/>
            <a:ext cx="439660" cy="443759"/>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24" idx="1"/>
            <a:endCxn id="8" idx="3"/>
          </p:cNvCxnSpPr>
          <p:nvPr/>
        </p:nvCxnSpPr>
        <p:spPr bwMode="auto">
          <a:xfrm flipH="1">
            <a:off x="3837129" y="1938754"/>
            <a:ext cx="454506" cy="1700140"/>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 name="圆角矩形 26"/>
          <p:cNvSpPr/>
          <p:nvPr/>
        </p:nvSpPr>
        <p:spPr bwMode="auto">
          <a:xfrm>
            <a:off x="4315541" y="3930726"/>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配置</a:t>
            </a: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a:t>
            </a: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维护复杂</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28" name="圆角矩形 27"/>
          <p:cNvSpPr/>
          <p:nvPr/>
        </p:nvSpPr>
        <p:spPr bwMode="auto">
          <a:xfrm>
            <a:off x="4291634" y="3152760"/>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缺乏负载分担能力</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29" name="圆角矩形 28"/>
          <p:cNvSpPr/>
          <p:nvPr/>
        </p:nvSpPr>
        <p:spPr bwMode="auto">
          <a:xfrm>
            <a:off x="4315541" y="4673394"/>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规模部署问题</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30" name="直接连接符 29"/>
          <p:cNvCxnSpPr>
            <a:stCxn id="28" idx="1"/>
            <a:endCxn id="9" idx="3"/>
          </p:cNvCxnSpPr>
          <p:nvPr/>
        </p:nvCxnSpPr>
        <p:spPr bwMode="auto">
          <a:xfrm flipH="1">
            <a:off x="3837129" y="3432529"/>
            <a:ext cx="454505" cy="1462745"/>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a:stCxn id="27" idx="1"/>
            <a:endCxn id="9" idx="3"/>
          </p:cNvCxnSpPr>
          <p:nvPr/>
        </p:nvCxnSpPr>
        <p:spPr bwMode="auto">
          <a:xfrm flipH="1">
            <a:off x="3837129" y="4210495"/>
            <a:ext cx="478411" cy="684779"/>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stCxn id="29" idx="1"/>
            <a:endCxn id="9" idx="3"/>
          </p:cNvCxnSpPr>
          <p:nvPr/>
        </p:nvCxnSpPr>
        <p:spPr bwMode="auto">
          <a:xfrm flipH="1" flipV="1">
            <a:off x="3837129" y="4895274"/>
            <a:ext cx="478411" cy="57889"/>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圆角矩形 32"/>
          <p:cNvSpPr/>
          <p:nvPr/>
        </p:nvSpPr>
        <p:spPr bwMode="auto">
          <a:xfrm>
            <a:off x="4315541" y="5413119"/>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分布式计算，网络资源非最优化</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34" name="直接连接符 33"/>
          <p:cNvCxnSpPr>
            <a:stCxn id="33" idx="1"/>
            <a:endCxn id="9" idx="3"/>
          </p:cNvCxnSpPr>
          <p:nvPr/>
        </p:nvCxnSpPr>
        <p:spPr bwMode="auto">
          <a:xfrm flipH="1" flipV="1">
            <a:off x="3837129" y="4895274"/>
            <a:ext cx="478411" cy="797615"/>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圆角矩形 34"/>
          <p:cNvSpPr/>
          <p:nvPr/>
        </p:nvSpPr>
        <p:spPr bwMode="auto">
          <a:xfrm>
            <a:off x="4291634" y="2371194"/>
            <a:ext cx="2321259" cy="590866"/>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与</a:t>
            </a: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IGP</a:t>
            </a: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同步问题</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36" name="直接连接符 35"/>
          <p:cNvCxnSpPr>
            <a:stCxn id="35" idx="1"/>
            <a:endCxn id="8" idx="3"/>
          </p:cNvCxnSpPr>
          <p:nvPr/>
        </p:nvCxnSpPr>
        <p:spPr bwMode="auto">
          <a:xfrm flipH="1">
            <a:off x="3837129" y="2666627"/>
            <a:ext cx="454505" cy="972267"/>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7" name="组合 36"/>
          <p:cNvGrpSpPr/>
          <p:nvPr/>
        </p:nvGrpSpPr>
        <p:grpSpPr>
          <a:xfrm>
            <a:off x="7052552" y="1832809"/>
            <a:ext cx="4726830" cy="1890712"/>
            <a:chOff x="7501100" y="1407935"/>
            <a:chExt cx="4838840" cy="2061265"/>
          </a:xfrm>
        </p:grpSpPr>
        <p:pic>
          <p:nvPicPr>
            <p:cNvPr id="38" name="Picture 2" descr="https://timgsa.baidu.com/timg?image&amp;quality=80&amp;size=b9999_10000&amp;sec=1540841003236&amp;di=89b1f7e47ae4a65de3c2988e3be49e1f&amp;imgtype=0&amp;src=http%3A%2F%2Fsem.g3img.com%2Fg3img%2Fheshanyuan%2Fc2_20171113141842_36350.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89107" y="1938980"/>
              <a:ext cx="2810403" cy="1530220"/>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a:extLst>
              <a:ext uri="{909E8E84-426E-40DD-AFC4-6F175D3DCCD1}">
                <a14:hiddenFill xmlns:a14="http://schemas.microsoft.com/office/drawing/2010/main">
                  <a:solidFill>
                    <a:srgbClr val="FFFFFF"/>
                  </a:solidFill>
                </a14:hiddenFill>
              </a:ext>
            </a:extLst>
          </p:spPr>
        </p:pic>
        <p:sp>
          <p:nvSpPr>
            <p:cNvPr id="39" name="标题 1"/>
            <p:cNvSpPr txBox="1">
              <a:spLocks/>
            </p:cNvSpPr>
            <p:nvPr/>
          </p:nvSpPr>
          <p:spPr>
            <a:xfrm>
              <a:off x="7501100" y="1407935"/>
              <a:ext cx="4838840" cy="763786"/>
            </a:xfrm>
            <a:prstGeom prst="rect">
              <a:avLst/>
            </a:prstGeom>
          </p:spPr>
          <p:txBody>
            <a:bodyPr>
              <a:noAutofit/>
            </a:bodyPr>
            <a:lstStyle>
              <a:lvl1pPr marL="0" marR="0" indent="0" algn="l" defTabSz="1087580" rtl="0" eaLnBrk="1" fontAlgn="auto" latinLnBrk="0" hangingPunct="1">
                <a:lnSpc>
                  <a:spcPct val="100000"/>
                </a:lnSpc>
                <a:spcBef>
                  <a:spcPct val="0"/>
                </a:spcBef>
                <a:spcAft>
                  <a:spcPts val="0"/>
                </a:spcAft>
                <a:buClrTx/>
                <a:buSzTx/>
                <a:buFontTx/>
                <a:buNone/>
                <a:tabLst/>
                <a:defRPr sz="2899" b="1">
                  <a:solidFill>
                    <a:srgbClr val="C00000"/>
                  </a:solidFill>
                  <a:latin typeface="微软雅黑" panose="020B0503020204020204" pitchFamily="34" charset="-122"/>
                  <a:ea typeface="微软雅黑" panose="020B0503020204020204" pitchFamily="34" charset="-122"/>
                  <a:cs typeface="+mj-cs"/>
                </a:defRPr>
              </a:lvl1pPr>
              <a:lvl2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2pPr>
              <a:lvl3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3pPr>
              <a:lvl4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4pPr>
              <a:lvl5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5pPr>
              <a:lvl6pPr marL="48282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6pPr>
              <a:lvl7pPr marL="96564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7pPr>
              <a:lvl8pPr marL="144846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8pPr>
              <a:lvl9pPr marL="193128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9pPr>
            </a:lstStyle>
            <a:p>
              <a:pPr marL="457200" lvl="1" defTabSz="799924" eaLnBrk="1" hangingPunct="1">
                <a:lnSpc>
                  <a:spcPts val="3592"/>
                </a:lnSpc>
                <a:buClr>
                  <a:srgbClr val="CC9900"/>
                </a:buClr>
                <a:defRPr/>
              </a:pPr>
              <a:r>
                <a:rPr lang="zh-CN" altLang="en-US" sz="28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鱼和熊掌，如何兼得？</a:t>
              </a:r>
              <a:endParaRPr lang="zh-CN" altLang="en-US" sz="2800" kern="12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grpSp>
      <p:cxnSp>
        <p:nvCxnSpPr>
          <p:cNvPr id="40" name="直接连接符 39"/>
          <p:cNvCxnSpPr>
            <a:stCxn id="9" idx="1"/>
            <a:endCxn id="12" idx="3"/>
          </p:cNvCxnSpPr>
          <p:nvPr/>
        </p:nvCxnSpPr>
        <p:spPr bwMode="auto">
          <a:xfrm flipH="1" flipV="1">
            <a:off x="2028617" y="4166264"/>
            <a:ext cx="542372" cy="729010"/>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 name="标题 1"/>
          <p:cNvSpPr txBox="1">
            <a:spLocks/>
          </p:cNvSpPr>
          <p:nvPr/>
        </p:nvSpPr>
        <p:spPr>
          <a:xfrm>
            <a:off x="3770910" y="6094380"/>
            <a:ext cx="3493701" cy="521361"/>
          </a:xfrm>
          <a:prstGeom prst="rect">
            <a:avLst/>
          </a:prstGeom>
        </p:spPr>
        <p:txBody>
          <a:bodyPr>
            <a:noAutofit/>
          </a:bodyPr>
          <a:lstStyle>
            <a:lvl1pPr marL="0" marR="0" indent="0" algn="l" defTabSz="1087580" rtl="0" eaLnBrk="1" fontAlgn="auto" latinLnBrk="0" hangingPunct="1">
              <a:lnSpc>
                <a:spcPct val="100000"/>
              </a:lnSpc>
              <a:spcBef>
                <a:spcPct val="0"/>
              </a:spcBef>
              <a:spcAft>
                <a:spcPts val="0"/>
              </a:spcAft>
              <a:buClrTx/>
              <a:buSzTx/>
              <a:buFontTx/>
              <a:buNone/>
              <a:tabLst/>
              <a:defRPr sz="2899" b="1">
                <a:solidFill>
                  <a:srgbClr val="C00000"/>
                </a:solidFill>
                <a:latin typeface="微软雅黑" panose="020B0503020204020204" pitchFamily="34" charset="-122"/>
                <a:ea typeface="微软雅黑" panose="020B0503020204020204" pitchFamily="34" charset="-122"/>
                <a:cs typeface="+mj-cs"/>
              </a:defRPr>
            </a:lvl1pPr>
            <a:lvl2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2pPr>
            <a:lvl3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3pPr>
            <a:lvl4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4pPr>
            <a:lvl5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5pPr>
            <a:lvl6pPr marL="48282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6pPr>
            <a:lvl7pPr marL="96564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7pPr>
            <a:lvl8pPr marL="144846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8pPr>
            <a:lvl9pPr marL="193128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9pPr>
          </a:lstStyle>
          <a:p>
            <a:pPr marL="457200" lvl="1" defTabSz="799924" eaLnBrk="1" hangingPunct="1">
              <a:lnSpc>
                <a:spcPts val="3592"/>
              </a:lnSpc>
              <a:buClr>
                <a:srgbClr val="CC9900"/>
              </a:buClr>
              <a:defRPr/>
            </a:pPr>
            <a:r>
              <a:rPr lang="zh-CN" altLang="en-US" sz="2800" kern="12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要解决</a:t>
            </a:r>
            <a:r>
              <a:rPr lang="zh-CN" altLang="en-US" sz="28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的弊端</a:t>
            </a:r>
            <a:r>
              <a:rPr lang="zh-CN" altLang="en-US" sz="2800" kern="12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a:t>
            </a:r>
          </a:p>
        </p:txBody>
      </p:sp>
      <p:sp>
        <p:nvSpPr>
          <p:cNvPr id="42" name="圆角矩形 41"/>
          <p:cNvSpPr/>
          <p:nvPr/>
        </p:nvSpPr>
        <p:spPr bwMode="auto">
          <a:xfrm>
            <a:off x="636634" y="3166566"/>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配置简单</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43" name="直接连接符 42"/>
          <p:cNvCxnSpPr>
            <a:stCxn id="7" idx="1"/>
            <a:endCxn id="42" idx="3"/>
          </p:cNvCxnSpPr>
          <p:nvPr/>
        </p:nvCxnSpPr>
        <p:spPr bwMode="auto">
          <a:xfrm flipH="1">
            <a:off x="2041667" y="2382514"/>
            <a:ext cx="529322" cy="1005932"/>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a:stCxn id="8" idx="1"/>
            <a:endCxn id="42" idx="3"/>
          </p:cNvCxnSpPr>
          <p:nvPr/>
        </p:nvCxnSpPr>
        <p:spPr bwMode="auto">
          <a:xfrm flipH="1" flipV="1">
            <a:off x="2041667" y="3388446"/>
            <a:ext cx="529322" cy="250448"/>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4045793481"/>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背景：追求更高的</a:t>
            </a:r>
            <a:r>
              <a:rPr kumimoji="1" lang="en-US" altLang="zh-CN" dirty="0">
                <a:sym typeface="微软雅黑" panose="020B0503020204020204" pitchFamily="34" charset="-122"/>
              </a:rPr>
              <a:t>FRR</a:t>
            </a:r>
            <a:r>
              <a:rPr kumimoji="1" lang="zh-CN" altLang="en-US" dirty="0">
                <a:sym typeface="微软雅黑" panose="020B0503020204020204" pitchFamily="34" charset="-122"/>
              </a:rPr>
              <a:t>覆盖率</a:t>
            </a:r>
            <a:endParaRPr kumimoji="1" lang="zh-CN" altLang="en-US" dirty="0"/>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218</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467470" y="1399918"/>
            <a:ext cx="11306195" cy="4998900"/>
            <a:chOff x="467470" y="836712"/>
            <a:chExt cx="11306195" cy="5760640"/>
          </a:xfrm>
        </p:grpSpPr>
        <p:sp>
          <p:nvSpPr>
            <p:cNvPr id="45" name="矩形 44"/>
            <p:cNvSpPr/>
            <p:nvPr/>
          </p:nvSpPr>
          <p:spPr>
            <a:xfrm>
              <a:off x="948541" y="5069883"/>
              <a:ext cx="8698296" cy="1527469"/>
            </a:xfrm>
            <a:prstGeom prst="rect">
              <a:avLst/>
            </a:prstGeom>
          </p:spPr>
          <p:txBody>
            <a:bodyPr wrap="square">
              <a:spAutoFit/>
            </a:bodyPr>
            <a:lstStyle>
              <a:defPPr/>
            </a:lstStyle>
            <a:p>
              <a:pPr>
                <a:lnSpc>
                  <a:spcPct val="150000"/>
                </a:lnSpc>
              </a:pPr>
              <a:r>
                <a:rPr lang="en-US" altLang="zh-CN" sz="1600" b="1" dirty="0">
                  <a:solidFill>
                    <a:prstClr val="black"/>
                  </a:solidFill>
                  <a:latin typeface="Calibri" pitchFamily="34" charset="0"/>
                  <a:cs typeface="Calibri" pitchFamily="34" charset="0"/>
                </a:rPr>
                <a:t>P-space(S, protected  link/node):  </a:t>
              </a:r>
              <a:r>
                <a:rPr lang="zh-CN" altLang="en-US" sz="1600" b="1" dirty="0">
                  <a:solidFill>
                    <a:prstClr val="black"/>
                  </a:solidFill>
                  <a:latin typeface="Calibri" pitchFamily="34" charset="0"/>
                  <a:cs typeface="Calibri" pitchFamily="34" charset="0"/>
                </a:rPr>
                <a:t>使用最短路径算法可以</a:t>
              </a:r>
              <a:r>
                <a:rPr lang="en-US" altLang="zh-CN" sz="1600" b="1" dirty="0" err="1">
                  <a:solidFill>
                    <a:prstClr val="black"/>
                  </a:solidFill>
                  <a:latin typeface="Calibri" pitchFamily="34" charset="0"/>
                  <a:cs typeface="Calibri" pitchFamily="34" charset="0"/>
                </a:rPr>
                <a:t>从S节点</a:t>
              </a:r>
              <a:r>
                <a:rPr lang="zh-CN" altLang="en-US" sz="1600" b="1" dirty="0">
                  <a:solidFill>
                    <a:prstClr val="black"/>
                  </a:solidFill>
                  <a:latin typeface="Calibri" pitchFamily="34" charset="0"/>
                  <a:cs typeface="Calibri" pitchFamily="34" charset="0"/>
                </a:rPr>
                <a:t>到</a:t>
              </a:r>
              <a:r>
                <a:rPr lang="en-US" altLang="zh-CN" sz="1600" b="1" dirty="0">
                  <a:solidFill>
                    <a:prstClr val="black"/>
                  </a:solidFill>
                  <a:latin typeface="Calibri" pitchFamily="34" charset="0"/>
                  <a:cs typeface="Calibri" pitchFamily="34" charset="0"/>
                </a:rPr>
                <a:t>达</a:t>
              </a:r>
              <a:r>
                <a:rPr lang="zh-CN" altLang="en-US" sz="1600" b="1" dirty="0">
                  <a:solidFill>
                    <a:prstClr val="black"/>
                  </a:solidFill>
                  <a:latin typeface="Calibri" pitchFamily="34" charset="0"/>
                  <a:cs typeface="Calibri" pitchFamily="34" charset="0"/>
                </a:rPr>
                <a:t>且不经过保护链路</a:t>
              </a:r>
              <a:r>
                <a:rPr lang="en-US" altLang="zh-CN" sz="1600" b="1" dirty="0">
                  <a:solidFill>
                    <a:prstClr val="black"/>
                  </a:solidFill>
                  <a:latin typeface="Calibri" pitchFamily="34" charset="0"/>
                  <a:cs typeface="Calibri" pitchFamily="34" charset="0"/>
                </a:rPr>
                <a:t>/</a:t>
              </a:r>
              <a:r>
                <a:rPr lang="zh-CN" altLang="en-US" sz="1600" b="1" dirty="0">
                  <a:solidFill>
                    <a:prstClr val="black"/>
                  </a:solidFill>
                  <a:latin typeface="Calibri" pitchFamily="34" charset="0"/>
                  <a:cs typeface="Calibri" pitchFamily="34" charset="0"/>
                </a:rPr>
                <a:t>节点</a:t>
              </a:r>
              <a:r>
                <a:rPr lang="en-US" altLang="zh-CN" sz="1600" b="1" dirty="0" err="1">
                  <a:solidFill>
                    <a:prstClr val="black"/>
                  </a:solidFill>
                  <a:latin typeface="Calibri" pitchFamily="34" charset="0"/>
                  <a:cs typeface="Calibri" pitchFamily="34" charset="0"/>
                </a:rPr>
                <a:t>的路由器集合</a:t>
              </a:r>
              <a:endParaRPr lang="en-US" altLang="zh-CN" sz="1600" b="1" dirty="0">
                <a:solidFill>
                  <a:prstClr val="black"/>
                </a:solidFill>
                <a:latin typeface="Calibri" pitchFamily="34" charset="0"/>
                <a:cs typeface="Calibri" pitchFamily="34" charset="0"/>
              </a:endParaRPr>
            </a:p>
            <a:p>
              <a:pPr>
                <a:lnSpc>
                  <a:spcPct val="150000"/>
                </a:lnSpc>
              </a:pPr>
              <a:r>
                <a:rPr lang="en-US" altLang="zh-CN" sz="1600" b="1" dirty="0">
                  <a:solidFill>
                    <a:prstClr val="black"/>
                  </a:solidFill>
                  <a:latin typeface="Calibri" pitchFamily="34" charset="0"/>
                  <a:cs typeface="Calibri" pitchFamily="34" charset="0"/>
                </a:rPr>
                <a:t>Q-space(D, protected link/node): </a:t>
              </a:r>
              <a:r>
                <a:rPr lang="zh-CN" altLang="en-US" sz="1600" b="1" dirty="0">
                  <a:solidFill>
                    <a:prstClr val="black"/>
                  </a:solidFill>
                  <a:latin typeface="Calibri" pitchFamily="34" charset="0"/>
                  <a:cs typeface="Calibri" pitchFamily="34" charset="0"/>
                </a:rPr>
                <a:t>使用最短路径算法可以</a:t>
              </a:r>
              <a:r>
                <a:rPr lang="en-US" altLang="zh-CN" sz="1600" b="1" dirty="0" err="1">
                  <a:solidFill>
                    <a:prstClr val="black"/>
                  </a:solidFill>
                  <a:latin typeface="Calibri" pitchFamily="34" charset="0"/>
                  <a:cs typeface="Calibri" pitchFamily="34" charset="0"/>
                </a:rPr>
                <a:t>从D节点</a:t>
              </a:r>
              <a:r>
                <a:rPr lang="zh-CN" altLang="en-US" sz="1600" b="1" dirty="0">
                  <a:solidFill>
                    <a:prstClr val="black"/>
                  </a:solidFill>
                  <a:latin typeface="Calibri" pitchFamily="34" charset="0"/>
                  <a:cs typeface="Calibri" pitchFamily="34" charset="0"/>
                </a:rPr>
                <a:t>到</a:t>
              </a:r>
              <a:r>
                <a:rPr lang="en-US" altLang="zh-CN" sz="1600" b="1" dirty="0">
                  <a:solidFill>
                    <a:prstClr val="black"/>
                  </a:solidFill>
                  <a:latin typeface="Calibri" pitchFamily="34" charset="0"/>
                  <a:cs typeface="Calibri" pitchFamily="34" charset="0"/>
                </a:rPr>
                <a:t>达</a:t>
              </a:r>
              <a:r>
                <a:rPr lang="zh-CN" altLang="en-US" sz="1600" b="1" dirty="0">
                  <a:solidFill>
                    <a:prstClr val="black"/>
                  </a:solidFill>
                  <a:latin typeface="Calibri" pitchFamily="34" charset="0"/>
                  <a:cs typeface="Calibri" pitchFamily="34" charset="0"/>
                </a:rPr>
                <a:t>且不经过保护链路</a:t>
              </a:r>
              <a:r>
                <a:rPr lang="en-US" altLang="zh-CN" sz="1600" b="1" dirty="0">
                  <a:solidFill>
                    <a:prstClr val="black"/>
                  </a:solidFill>
                  <a:latin typeface="Calibri" pitchFamily="34" charset="0"/>
                  <a:cs typeface="Calibri" pitchFamily="34" charset="0"/>
                </a:rPr>
                <a:t>/</a:t>
              </a:r>
              <a:r>
                <a:rPr lang="zh-CN" altLang="en-US" sz="1600" b="1" dirty="0">
                  <a:solidFill>
                    <a:prstClr val="black"/>
                  </a:solidFill>
                  <a:latin typeface="Calibri" pitchFamily="34" charset="0"/>
                  <a:cs typeface="Calibri" pitchFamily="34" charset="0"/>
                </a:rPr>
                <a:t>节点</a:t>
              </a:r>
              <a:r>
                <a:rPr lang="en-US" altLang="zh-CN" sz="1600" b="1" dirty="0" err="1">
                  <a:solidFill>
                    <a:prstClr val="black"/>
                  </a:solidFill>
                  <a:latin typeface="Calibri" pitchFamily="34" charset="0"/>
                  <a:cs typeface="Calibri" pitchFamily="34" charset="0"/>
                </a:rPr>
                <a:t>的路由器集合</a:t>
              </a:r>
              <a:endParaRPr lang="en-US" altLang="zh-CN" sz="1600" b="1" dirty="0">
                <a:solidFill>
                  <a:prstClr val="black"/>
                </a:solidFill>
                <a:latin typeface="Calibri" pitchFamily="34" charset="0"/>
                <a:cs typeface="Calibri" pitchFamily="34" charset="0"/>
              </a:endParaRPr>
            </a:p>
          </p:txBody>
        </p:sp>
        <p:sp>
          <p:nvSpPr>
            <p:cNvPr id="46" name="文本框 45"/>
            <p:cNvSpPr txBox="1"/>
            <p:nvPr/>
          </p:nvSpPr>
          <p:spPr>
            <a:xfrm>
              <a:off x="10833026" y="5464733"/>
              <a:ext cx="940639" cy="305105"/>
            </a:xfrm>
            <a:prstGeom prst="rect">
              <a:avLst/>
            </a:prstGeom>
            <a:noFill/>
          </p:spPr>
          <p:txBody>
            <a:bodyPr wrap="square" rtlCol="0">
              <a:spAutoFit/>
            </a:bodyPr>
            <a:lstStyle>
              <a:defPPr/>
            </a:lstStyle>
            <a:p>
              <a:r>
                <a:rPr lang="en-US" altLang="zh-CN" sz="1400" dirty="0">
                  <a:solidFill>
                    <a:prstClr val="black"/>
                  </a:solidFill>
                  <a:latin typeface="Calibri" pitchFamily="34" charset="0"/>
                  <a:ea typeface="微软雅黑" panose="020B0503020204020204" pitchFamily="34" charset="-122"/>
                  <a:cs typeface="Calibri" pitchFamily="34" charset="0"/>
                </a:rPr>
                <a:t>cost</a:t>
              </a:r>
              <a:endParaRPr lang="zh-CN" altLang="en-US" sz="1400" dirty="0">
                <a:solidFill>
                  <a:prstClr val="black"/>
                </a:solidFill>
                <a:latin typeface="Calibri" pitchFamily="34" charset="0"/>
                <a:ea typeface="微软雅黑" panose="020B0503020204020204" pitchFamily="34" charset="-122"/>
                <a:cs typeface="Calibri" pitchFamily="34" charset="0"/>
              </a:endParaRPr>
            </a:p>
          </p:txBody>
        </p:sp>
        <p:sp>
          <p:nvSpPr>
            <p:cNvPr id="47" name="文本框 46"/>
            <p:cNvSpPr txBox="1"/>
            <p:nvPr/>
          </p:nvSpPr>
          <p:spPr>
            <a:xfrm>
              <a:off x="10335419" y="5483192"/>
              <a:ext cx="448389" cy="213573"/>
            </a:xfrm>
            <a:prstGeom prst="rect">
              <a:avLst/>
            </a:prstGeom>
            <a:noFill/>
            <a:ln>
              <a:solidFill>
                <a:schemeClr val="accent1">
                  <a:lumMod val="40000"/>
                  <a:lumOff val="60000"/>
                </a:schemeClr>
              </a:solidFill>
            </a:ln>
          </p:spPr>
          <p:txBody>
            <a:bodyPr wrap="square" lIns="0" tIns="0" rIns="0" bIns="0" rtlCol="0">
              <a:spAutoFit/>
            </a:bodyPr>
            <a:lstStyle>
              <a:defPPr/>
            </a:lstStyle>
            <a:p>
              <a:pPr algn="ctr"/>
              <a:r>
                <a:rPr lang="en-US" altLang="zh-CN" sz="1400">
                  <a:solidFill>
                    <a:prstClr val="black"/>
                  </a:solidFill>
                  <a:latin typeface="Calibri" pitchFamily="34" charset="0"/>
                  <a:ea typeface="微软雅黑" panose="020B0503020204020204" pitchFamily="34" charset="-122"/>
                  <a:cs typeface="Calibri" pitchFamily="34" charset="0"/>
                </a:rPr>
                <a:t>10、</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sp>
          <p:nvSpPr>
            <p:cNvPr id="48" name="文本框 47"/>
            <p:cNvSpPr txBox="1"/>
            <p:nvPr/>
          </p:nvSpPr>
          <p:spPr>
            <a:xfrm>
              <a:off x="10284447" y="5157192"/>
              <a:ext cx="1342583" cy="305105"/>
            </a:xfrm>
            <a:prstGeom prst="rect">
              <a:avLst/>
            </a:prstGeom>
            <a:noFill/>
          </p:spPr>
          <p:txBody>
            <a:bodyPr wrap="square" rtlCol="0">
              <a:spAutoFit/>
            </a:bodyPr>
            <a:lstStyle>
              <a:defPPr/>
            </a:lstStyle>
            <a:p>
              <a:r>
                <a:rPr lang="en-US" altLang="zh-CN" sz="1400">
                  <a:solidFill>
                    <a:prstClr val="black"/>
                  </a:solidFill>
                  <a:latin typeface="Calibri" pitchFamily="34" charset="0"/>
                  <a:ea typeface="微软雅黑" panose="020B0503020204020204" pitchFamily="34" charset="-122"/>
                  <a:cs typeface="Calibri" pitchFamily="34" charset="0"/>
                </a:rPr>
                <a:t>图例</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sp>
          <p:nvSpPr>
            <p:cNvPr id="49" name="Round Same Side Corner Rectangle 28"/>
            <p:cNvSpPr/>
            <p:nvPr/>
          </p:nvSpPr>
          <p:spPr>
            <a:xfrm>
              <a:off x="10289464" y="5776298"/>
              <a:ext cx="557106" cy="252000"/>
            </a:xfrm>
            <a:prstGeom prst="round2SameRect">
              <a:avLst>
                <a:gd name="adj1" fmla="val 16667"/>
                <a:gd name="adj2" fmla="val 281"/>
              </a:avLst>
            </a:prstGeom>
            <a:solidFill>
              <a:srgbClr val="92D050">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lstStyle>
            <a:p>
              <a:pPr algn="ctr"/>
              <a:endParaRPr lang="en-US" sz="2000">
                <a:solidFill>
                  <a:prstClr val="white"/>
                </a:solidFill>
                <a:latin typeface="Calibri" pitchFamily="34" charset="0"/>
                <a:cs typeface="Calibri" pitchFamily="34" charset="0"/>
              </a:endParaRPr>
            </a:p>
          </p:txBody>
        </p:sp>
        <p:sp>
          <p:nvSpPr>
            <p:cNvPr id="50" name="文本框 49"/>
            <p:cNvSpPr txBox="1"/>
            <p:nvPr/>
          </p:nvSpPr>
          <p:spPr>
            <a:xfrm>
              <a:off x="10833026" y="5763799"/>
              <a:ext cx="940639" cy="305105"/>
            </a:xfrm>
            <a:prstGeom prst="rect">
              <a:avLst/>
            </a:prstGeom>
            <a:noFill/>
          </p:spPr>
          <p:txBody>
            <a:bodyPr wrap="square" rtlCol="0">
              <a:spAutoFit/>
            </a:bodyPr>
            <a:lstStyle>
              <a:defPPr/>
            </a:lstStyle>
            <a:p>
              <a:r>
                <a:rPr lang="en-US" altLang="zh-CN" sz="1400">
                  <a:solidFill>
                    <a:prstClr val="black"/>
                  </a:solidFill>
                  <a:latin typeface="Calibri" pitchFamily="34" charset="0"/>
                  <a:ea typeface="微软雅黑" panose="020B0503020204020204" pitchFamily="34" charset="-122"/>
                  <a:cs typeface="Calibri" pitchFamily="34" charset="0"/>
                </a:rPr>
                <a:t>p空间</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sp>
          <p:nvSpPr>
            <p:cNvPr id="51" name="Round Same Side Corner Rectangle 29"/>
            <p:cNvSpPr/>
            <p:nvPr/>
          </p:nvSpPr>
          <p:spPr>
            <a:xfrm>
              <a:off x="10289464" y="6125305"/>
              <a:ext cx="557264" cy="252000"/>
            </a:xfrm>
            <a:prstGeom prst="round2SameRect">
              <a:avLst>
                <a:gd name="adj1" fmla="val 16667"/>
                <a:gd name="adj2" fmla="val 281"/>
              </a:avLst>
            </a:prstGeom>
            <a:solidFill>
              <a:srgbClr val="F68B1F">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lstStyle>
            <a:p>
              <a:pPr algn="ctr"/>
              <a:endParaRPr lang="en-US" sz="2000">
                <a:solidFill>
                  <a:prstClr val="white"/>
                </a:solidFill>
                <a:latin typeface="Calibri" pitchFamily="34" charset="0"/>
                <a:cs typeface="Calibri" pitchFamily="34" charset="0"/>
              </a:endParaRPr>
            </a:p>
          </p:txBody>
        </p:sp>
        <p:sp>
          <p:nvSpPr>
            <p:cNvPr id="52" name="文本框 51"/>
            <p:cNvSpPr txBox="1"/>
            <p:nvPr/>
          </p:nvSpPr>
          <p:spPr>
            <a:xfrm>
              <a:off x="10833026" y="6112806"/>
              <a:ext cx="940639" cy="305105"/>
            </a:xfrm>
            <a:prstGeom prst="rect">
              <a:avLst/>
            </a:prstGeom>
            <a:noFill/>
          </p:spPr>
          <p:txBody>
            <a:bodyPr wrap="square" rtlCol="0">
              <a:spAutoFit/>
            </a:bodyPr>
            <a:lstStyle>
              <a:defPPr/>
            </a:lstStyle>
            <a:p>
              <a:r>
                <a:rPr lang="en-US" altLang="zh-CN" sz="1400">
                  <a:solidFill>
                    <a:prstClr val="black"/>
                  </a:solidFill>
                  <a:latin typeface="Calibri" pitchFamily="34" charset="0"/>
                  <a:ea typeface="微软雅黑" panose="020B0503020204020204" pitchFamily="34" charset="-122"/>
                  <a:cs typeface="Calibri" pitchFamily="34" charset="0"/>
                </a:rPr>
                <a:t>Q空间</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cxnSp>
          <p:nvCxnSpPr>
            <p:cNvPr id="53" name="直接连接符 52"/>
            <p:cNvCxnSpPr/>
            <p:nvPr/>
          </p:nvCxnSpPr>
          <p:spPr bwMode="auto">
            <a:xfrm>
              <a:off x="1151908" y="2997936"/>
              <a:ext cx="10009112"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p:nvPr/>
          </p:nvCxnSpPr>
          <p:spPr bwMode="auto">
            <a:xfrm>
              <a:off x="3240140" y="1062316"/>
              <a:ext cx="0" cy="3938002"/>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文本框 54"/>
            <p:cNvSpPr txBox="1"/>
            <p:nvPr/>
          </p:nvSpPr>
          <p:spPr>
            <a:xfrm>
              <a:off x="1987747" y="1399918"/>
              <a:ext cx="1215044" cy="369332"/>
            </a:xfrm>
            <a:prstGeom prst="rect">
              <a:avLst/>
            </a:prstGeom>
            <a:noFill/>
          </p:spPr>
          <p:txBody>
            <a:bodyPr wrap="square" rtlCol="0">
              <a:spAutoFit/>
            </a:bodyPr>
            <a:lstStyle/>
            <a:p>
              <a:pPr algn="ctr"/>
              <a:r>
                <a:rPr lang="en-US" altLang="zh-CN" b="1" dirty="0">
                  <a:solidFill>
                    <a:prstClr val="black"/>
                  </a:solidFill>
                  <a:latin typeface="Calibri" pitchFamily="34" charset="0"/>
                  <a:ea typeface="微软雅黑" panose="020B0503020204020204" pitchFamily="34" charset="-122"/>
                  <a:cs typeface="Calibri" pitchFamily="34" charset="0"/>
                </a:rPr>
                <a:t>Scenario</a:t>
              </a:r>
              <a:endParaRPr lang="zh-CN" altLang="en-US" b="1" dirty="0">
                <a:solidFill>
                  <a:prstClr val="black"/>
                </a:solidFill>
                <a:latin typeface="Calibri" pitchFamily="34" charset="0"/>
                <a:ea typeface="微软雅黑" panose="020B0503020204020204" pitchFamily="34" charset="-122"/>
                <a:cs typeface="Calibri" pitchFamily="34" charset="0"/>
              </a:endParaRPr>
            </a:p>
          </p:txBody>
        </p:sp>
        <p:sp>
          <p:nvSpPr>
            <p:cNvPr id="56" name="矩形 55"/>
            <p:cNvSpPr/>
            <p:nvPr/>
          </p:nvSpPr>
          <p:spPr>
            <a:xfrm>
              <a:off x="964091" y="2920641"/>
              <a:ext cx="2573162" cy="738664"/>
            </a:xfrm>
            <a:prstGeom prst="rect">
              <a:avLst/>
            </a:prstGeom>
            <a:noFill/>
          </p:spPr>
          <p:txBody>
            <a:bodyPr wrap="square" rtlCol="0">
              <a:spAutoFit/>
            </a:bodyPr>
            <a:lstStyle/>
            <a:p>
              <a:r>
                <a:rPr lang="en-US" altLang="zh-CN" b="1" dirty="0">
                  <a:solidFill>
                    <a:prstClr val="black"/>
                  </a:solidFill>
                  <a:latin typeface="Calibri" pitchFamily="34" charset="0"/>
                  <a:ea typeface="微软雅黑" panose="020B0503020204020204" pitchFamily="34" charset="-122"/>
                  <a:cs typeface="Calibri" pitchFamily="34" charset="0"/>
                </a:rPr>
                <a:t>  LFA</a:t>
              </a:r>
            </a:p>
            <a:p>
              <a:r>
                <a:rPr lang="en-US" altLang="zh-CN" sz="1200" dirty="0">
                  <a:solidFill>
                    <a:prstClr val="black"/>
                  </a:solidFill>
                  <a:latin typeface="Calibri" pitchFamily="34" charset="0"/>
                  <a:ea typeface="微软雅黑" panose="020B0503020204020204" pitchFamily="34" charset="-122"/>
                  <a:cs typeface="Calibri" pitchFamily="34" charset="0"/>
                </a:rPr>
                <a:t>Prerequisite:</a:t>
              </a:r>
            </a:p>
            <a:p>
              <a:r>
                <a:rPr lang="en-US" altLang="zh-CN" sz="1200" dirty="0">
                  <a:solidFill>
                    <a:prstClr val="black"/>
                  </a:solidFill>
                  <a:latin typeface="Calibri" pitchFamily="34" charset="0"/>
                  <a:ea typeface="微软雅黑" panose="020B0503020204020204" pitchFamily="34" charset="-122"/>
                  <a:cs typeface="Calibri" pitchFamily="34" charset="0"/>
                </a:rPr>
                <a:t>Cost(N, D) &lt; Cost(N, S) + Cost(S, D)</a:t>
              </a:r>
            </a:p>
          </p:txBody>
        </p:sp>
        <p:cxnSp>
          <p:nvCxnSpPr>
            <p:cNvPr id="57" name="直接连接符 56"/>
            <p:cNvCxnSpPr/>
            <p:nvPr/>
          </p:nvCxnSpPr>
          <p:spPr bwMode="auto">
            <a:xfrm>
              <a:off x="1151908" y="3704174"/>
              <a:ext cx="10009112"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p:nvPr/>
          </p:nvCxnSpPr>
          <p:spPr bwMode="auto">
            <a:xfrm>
              <a:off x="1151908" y="4424254"/>
              <a:ext cx="10009112"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p:nvPr/>
          </p:nvCxnSpPr>
          <p:spPr bwMode="auto">
            <a:xfrm>
              <a:off x="5723071" y="1099281"/>
              <a:ext cx="0" cy="3901037"/>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 name="直接连接符 59"/>
            <p:cNvCxnSpPr/>
            <p:nvPr/>
          </p:nvCxnSpPr>
          <p:spPr bwMode="auto">
            <a:xfrm>
              <a:off x="8243351" y="1090316"/>
              <a:ext cx="0" cy="3910002"/>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矩形 60"/>
            <p:cNvSpPr/>
            <p:nvPr/>
          </p:nvSpPr>
          <p:spPr>
            <a:xfrm>
              <a:off x="980713" y="3650963"/>
              <a:ext cx="2111338" cy="738664"/>
            </a:xfrm>
            <a:prstGeom prst="rect">
              <a:avLst/>
            </a:prstGeom>
            <a:noFill/>
          </p:spPr>
          <p:txBody>
            <a:bodyPr wrap="square" rtlCol="0">
              <a:spAutoFit/>
            </a:bodyPr>
            <a:lstStyle/>
            <a:p>
              <a:r>
                <a:rPr lang="en-US" altLang="zh-CN" b="1" dirty="0">
                  <a:solidFill>
                    <a:prstClr val="black"/>
                  </a:solidFill>
                  <a:latin typeface="Calibri" pitchFamily="34" charset="0"/>
                  <a:ea typeface="微软雅黑" panose="020B0503020204020204" pitchFamily="34" charset="-122"/>
                  <a:cs typeface="Calibri" pitchFamily="34" charset="0"/>
                </a:rPr>
                <a:t>R-LFA</a:t>
              </a:r>
              <a:endParaRPr lang="zh-CN" altLang="en-US" dirty="0">
                <a:solidFill>
                  <a:prstClr val="black"/>
                </a:solidFill>
                <a:latin typeface="Calibri" pitchFamily="34" charset="0"/>
                <a:ea typeface="微软雅黑" panose="020B0503020204020204" pitchFamily="34" charset="-122"/>
                <a:cs typeface="Calibri" pitchFamily="34" charset="0"/>
              </a:endParaRPr>
            </a:p>
            <a:p>
              <a:r>
                <a:rPr lang="en-US" altLang="zh-CN" sz="1200" dirty="0">
                  <a:solidFill>
                    <a:prstClr val="black"/>
                  </a:solidFill>
                  <a:latin typeface="Calibri" pitchFamily="34" charset="0"/>
                  <a:ea typeface="微软雅黑" panose="020B0503020204020204" pitchFamily="34" charset="-122"/>
                  <a:cs typeface="Calibri" pitchFamily="34" charset="0"/>
                </a:rPr>
                <a:t>Prerequisite:</a:t>
              </a:r>
            </a:p>
            <a:p>
              <a:r>
                <a:rPr lang="en-US" altLang="zh-CN" sz="1200" dirty="0">
                  <a:solidFill>
                    <a:prstClr val="black"/>
                  </a:solidFill>
                  <a:latin typeface="Calibri" pitchFamily="34" charset="0"/>
                  <a:ea typeface="微软雅黑" panose="020B0503020204020204" pitchFamily="34" charset="-122"/>
                  <a:cs typeface="Calibri" pitchFamily="34" charset="0"/>
                </a:rPr>
                <a:t>There is Node in PQ Space</a:t>
              </a:r>
            </a:p>
          </p:txBody>
        </p:sp>
        <p:grpSp>
          <p:nvGrpSpPr>
            <p:cNvPr id="62" name="组合 461"/>
            <p:cNvGrpSpPr/>
            <p:nvPr/>
          </p:nvGrpSpPr>
          <p:grpSpPr>
            <a:xfrm>
              <a:off x="3274799" y="883068"/>
              <a:ext cx="2415941" cy="2022247"/>
              <a:chOff x="2985422" y="895926"/>
              <a:chExt cx="2415941" cy="2022247"/>
            </a:xfrm>
          </p:grpSpPr>
          <p:grpSp>
            <p:nvGrpSpPr>
              <p:cNvPr id="63" name="组合 207"/>
              <p:cNvGrpSpPr/>
              <p:nvPr/>
            </p:nvGrpSpPr>
            <p:grpSpPr>
              <a:xfrm>
                <a:off x="3270688" y="1164358"/>
                <a:ext cx="1824043" cy="1458437"/>
                <a:chOff x="1619598" y="1406615"/>
                <a:chExt cx="1824043" cy="1458437"/>
              </a:xfrm>
            </p:grpSpPr>
            <p:grpSp>
              <p:nvGrpSpPr>
                <p:cNvPr id="72" name="组合 1566"/>
                <p:cNvGrpSpPr>
                  <a:grpSpLocks noChangeAspect="1"/>
                </p:cNvGrpSpPr>
                <p:nvPr/>
              </p:nvGrpSpPr>
              <p:grpSpPr>
                <a:xfrm>
                  <a:off x="1619598" y="1961019"/>
                  <a:ext cx="414351" cy="397436"/>
                  <a:chOff x="5710841" y="1427396"/>
                  <a:chExt cx="189169" cy="185471"/>
                </a:xfrm>
                <a:solidFill>
                  <a:schemeClr val="tx2"/>
                </a:solidFill>
              </p:grpSpPr>
              <p:sp>
                <p:nvSpPr>
                  <p:cNvPr id="121"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2"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3"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4"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5"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6"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7"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8"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9"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0"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1"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2"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3"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4"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5"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6"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7"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8"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9"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40"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41"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73" name="组合 3"/>
                <p:cNvGrpSpPr/>
                <p:nvPr/>
              </p:nvGrpSpPr>
              <p:grpSpPr>
                <a:xfrm>
                  <a:off x="3029290" y="1406615"/>
                  <a:ext cx="414351" cy="1458437"/>
                  <a:chOff x="3029290" y="1406615"/>
                  <a:chExt cx="414351" cy="1458437"/>
                </a:xfrm>
              </p:grpSpPr>
              <p:grpSp>
                <p:nvGrpSpPr>
                  <p:cNvPr id="77" name="组合 1566"/>
                  <p:cNvGrpSpPr>
                    <a:grpSpLocks noChangeAspect="1"/>
                  </p:cNvGrpSpPr>
                  <p:nvPr/>
                </p:nvGrpSpPr>
                <p:grpSpPr>
                  <a:xfrm>
                    <a:off x="3029290" y="1406615"/>
                    <a:ext cx="414351" cy="397436"/>
                    <a:chOff x="5710841" y="1427396"/>
                    <a:chExt cx="189169" cy="185471"/>
                  </a:xfrm>
                  <a:solidFill>
                    <a:schemeClr val="tx2"/>
                  </a:solidFill>
                </p:grpSpPr>
                <p:sp>
                  <p:nvSpPr>
                    <p:cNvPr id="100"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1"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2"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3"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4"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5"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6"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7"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8"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9"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0"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1"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2"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3"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4"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5"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6"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7"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8"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9"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0"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78" name="组合 1566"/>
                  <p:cNvGrpSpPr>
                    <a:grpSpLocks noChangeAspect="1"/>
                  </p:cNvGrpSpPr>
                  <p:nvPr/>
                </p:nvGrpSpPr>
                <p:grpSpPr>
                  <a:xfrm>
                    <a:off x="3029290" y="2467616"/>
                    <a:ext cx="414351" cy="397436"/>
                    <a:chOff x="5710841" y="1427396"/>
                    <a:chExt cx="189169" cy="185471"/>
                  </a:xfrm>
                  <a:solidFill>
                    <a:schemeClr val="tx2"/>
                  </a:solidFill>
                </p:grpSpPr>
                <p:sp>
                  <p:nvSpPr>
                    <p:cNvPr id="79"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0"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1"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2"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3"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4"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5"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6"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7"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8"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9"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0"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1"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2"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3"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4"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5"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6"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7"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8"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9"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cxnSp>
              <p:nvCxnSpPr>
                <p:cNvPr id="74" name="直接连接符 73"/>
                <p:cNvCxnSpPr/>
                <p:nvPr/>
              </p:nvCxnSpPr>
              <p:spPr bwMode="auto">
                <a:xfrm flipV="1">
                  <a:off x="2033949" y="1633720"/>
                  <a:ext cx="995341" cy="526017"/>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p:nvPr/>
              </p:nvCxnSpPr>
              <p:spPr bwMode="auto">
                <a:xfrm>
                  <a:off x="2033949" y="2188125"/>
                  <a:ext cx="995341" cy="506596"/>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连接符 75"/>
                <p:cNvCxnSpPr/>
                <p:nvPr/>
              </p:nvCxnSpPr>
              <p:spPr bwMode="auto">
                <a:xfrm flipH="1">
                  <a:off x="3215137" y="1804051"/>
                  <a:ext cx="2" cy="696436"/>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 name="文本框 63"/>
              <p:cNvSpPr txBox="1"/>
              <p:nvPr/>
            </p:nvSpPr>
            <p:spPr>
              <a:xfrm>
                <a:off x="4029265" y="1317746"/>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5" name="文本框 64"/>
              <p:cNvSpPr txBox="1"/>
              <p:nvPr/>
            </p:nvSpPr>
            <p:spPr>
              <a:xfrm>
                <a:off x="4744359" y="2641174"/>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N</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6" name="文本框 65"/>
              <p:cNvSpPr txBox="1"/>
              <p:nvPr/>
            </p:nvSpPr>
            <p:spPr>
              <a:xfrm>
                <a:off x="3334667" y="1456245"/>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S</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7" name="文本框 66"/>
              <p:cNvSpPr txBox="1"/>
              <p:nvPr/>
            </p:nvSpPr>
            <p:spPr>
              <a:xfrm>
                <a:off x="4735076" y="895926"/>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D</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8" name="文本框 67"/>
              <p:cNvSpPr txBox="1"/>
              <p:nvPr/>
            </p:nvSpPr>
            <p:spPr>
              <a:xfrm>
                <a:off x="3984889" y="2295121"/>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9" name="文本框 68"/>
              <p:cNvSpPr txBox="1"/>
              <p:nvPr/>
            </p:nvSpPr>
            <p:spPr>
              <a:xfrm>
                <a:off x="4979225" y="177830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70" name="爆炸形 2 69"/>
              <p:cNvSpPr/>
              <p:nvPr/>
            </p:nvSpPr>
            <p:spPr>
              <a:xfrm>
                <a:off x="4073583" y="1535023"/>
                <a:ext cx="358148" cy="249631"/>
              </a:xfrm>
              <a:prstGeom prst="irregularSeal2">
                <a:avLst/>
              </a:prstGeom>
              <a:solidFill>
                <a:srgbClr val="FF0000"/>
              </a:solidFill>
              <a:ln w="25400" cap="flat" cmpd="sng" algn="ctr">
                <a:noFill/>
                <a:prstDash val="solid"/>
              </a:ln>
              <a:effectLst/>
            </p:spPr>
            <p:txBody>
              <a:bodyPr rtlCol="0" anchor="ctr"/>
              <a:lstStyle/>
              <a:p>
                <a:pPr algn="ctr" defTabSz="965698" fontAlgn="auto">
                  <a:spcBef>
                    <a:spcPts val="0"/>
                  </a:spcBef>
                  <a:spcAft>
                    <a:spcPts val="0"/>
                  </a:spcAft>
                  <a:defRPr/>
                </a:pPr>
                <a:endParaRPr lang="zh-CN" altLang="en-US" sz="1901" kern="0" dirty="0">
                  <a:solidFill>
                    <a:prstClr val="black"/>
                  </a:solidFill>
                  <a:latin typeface="Calibri" pitchFamily="34" charset="0"/>
                  <a:ea typeface="宋体"/>
                  <a:cs typeface="Calibri" pitchFamily="34" charset="0"/>
                </a:endParaRPr>
              </a:p>
            </p:txBody>
          </p:sp>
          <p:sp>
            <p:nvSpPr>
              <p:cNvPr id="71" name="任意多边形 70"/>
              <p:cNvSpPr/>
              <p:nvPr/>
            </p:nvSpPr>
            <p:spPr>
              <a:xfrm>
                <a:off x="2985422" y="1271333"/>
                <a:ext cx="2415941" cy="676221"/>
              </a:xfrm>
              <a:custGeom>
                <a:avLst/>
                <a:gdLst>
                  <a:gd name="connsiteX0" fmla="*/ 0 w 2415941"/>
                  <a:gd name="connsiteY0" fmla="*/ 666596 h 676221"/>
                  <a:gd name="connsiteX1" fmla="*/ 442762 w 2415941"/>
                  <a:gd name="connsiteY1" fmla="*/ 656971 h 676221"/>
                  <a:gd name="connsiteX2" fmla="*/ 837398 w 2415941"/>
                  <a:gd name="connsiteY2" fmla="*/ 493341 h 676221"/>
                  <a:gd name="connsiteX3" fmla="*/ 1126156 w 2415941"/>
                  <a:gd name="connsiteY3" fmla="*/ 310461 h 676221"/>
                  <a:gd name="connsiteX4" fmla="*/ 1530417 w 2415941"/>
                  <a:gd name="connsiteY4" fmla="*/ 127581 h 676221"/>
                  <a:gd name="connsiteX5" fmla="*/ 1799924 w 2415941"/>
                  <a:gd name="connsiteY5" fmla="*/ 12078 h 676221"/>
                  <a:gd name="connsiteX6" fmla="*/ 2059806 w 2415941"/>
                  <a:gd name="connsiteY6" fmla="*/ 2453 h 676221"/>
                  <a:gd name="connsiteX7" fmla="*/ 2415941 w 2415941"/>
                  <a:gd name="connsiteY7" fmla="*/ 2453 h 67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941" h="676221">
                    <a:moveTo>
                      <a:pt x="0" y="666596"/>
                    </a:moveTo>
                    <a:cubicBezTo>
                      <a:pt x="151598" y="676221"/>
                      <a:pt x="303196" y="685847"/>
                      <a:pt x="442762" y="656971"/>
                    </a:cubicBezTo>
                    <a:cubicBezTo>
                      <a:pt x="582328" y="628095"/>
                      <a:pt x="723499" y="551093"/>
                      <a:pt x="837398" y="493341"/>
                    </a:cubicBezTo>
                    <a:cubicBezTo>
                      <a:pt x="951297" y="435589"/>
                      <a:pt x="1010653" y="371421"/>
                      <a:pt x="1126156" y="310461"/>
                    </a:cubicBezTo>
                    <a:cubicBezTo>
                      <a:pt x="1241659" y="249501"/>
                      <a:pt x="1418122" y="177311"/>
                      <a:pt x="1530417" y="127581"/>
                    </a:cubicBezTo>
                    <a:cubicBezTo>
                      <a:pt x="1642712" y="77850"/>
                      <a:pt x="1711692" y="32933"/>
                      <a:pt x="1799924" y="12078"/>
                    </a:cubicBezTo>
                    <a:cubicBezTo>
                      <a:pt x="1888156" y="-8777"/>
                      <a:pt x="1957137" y="4057"/>
                      <a:pt x="2059806" y="2453"/>
                    </a:cubicBezTo>
                    <a:cubicBezTo>
                      <a:pt x="2162475" y="849"/>
                      <a:pt x="2289208" y="1651"/>
                      <a:pt x="2415941" y="2453"/>
                    </a:cubicBezTo>
                  </a:path>
                </a:pathLst>
              </a:custGeom>
              <a:noFill/>
              <a:ln>
                <a:solidFill>
                  <a:srgbClr val="00B050"/>
                </a:solidFill>
                <a:headEnd type="none" w="med" len="med"/>
                <a:tailEnd type="triangle" w="med" len="med"/>
              </a:ln>
            </p:spPr>
            <p:style>
              <a:lnRef idx="3">
                <a:schemeClr val="lt1"/>
              </a:lnRef>
              <a:fillRef idx="1">
                <a:schemeClr val="accent6"/>
              </a:fillRef>
              <a:effectRef idx="1">
                <a:schemeClr val="accent6"/>
              </a:effectRef>
              <a:fontRef idx="minor">
                <a:schemeClr val="lt1"/>
              </a:fontRef>
            </p:style>
            <p:txBody>
              <a:bodyPr rtlCol="0" anchor="ctr"/>
              <a:lstStyle/>
              <a:p>
                <a:pPr algn="ctr"/>
                <a:endParaRPr lang="zh-CN" altLang="en-US">
                  <a:solidFill>
                    <a:prstClr val="white"/>
                  </a:solidFill>
                  <a:latin typeface="Calibri" pitchFamily="34" charset="0"/>
                  <a:cs typeface="Calibri" pitchFamily="34" charset="0"/>
                </a:endParaRPr>
              </a:p>
            </p:txBody>
          </p:sp>
        </p:grpSp>
        <p:grpSp>
          <p:nvGrpSpPr>
            <p:cNvPr id="142" name="组合 451"/>
            <p:cNvGrpSpPr/>
            <p:nvPr/>
          </p:nvGrpSpPr>
          <p:grpSpPr>
            <a:xfrm>
              <a:off x="5795079" y="874501"/>
              <a:ext cx="2420608" cy="2077830"/>
              <a:chOff x="5125598" y="3194171"/>
              <a:chExt cx="2420608" cy="2077830"/>
            </a:xfrm>
          </p:grpSpPr>
          <p:grpSp>
            <p:nvGrpSpPr>
              <p:cNvPr id="143" name="组合 206"/>
              <p:cNvGrpSpPr/>
              <p:nvPr/>
            </p:nvGrpSpPr>
            <p:grpSpPr>
              <a:xfrm>
                <a:off x="5327209" y="3471170"/>
                <a:ext cx="1881867" cy="1539850"/>
                <a:chOff x="5120634" y="1260193"/>
                <a:chExt cx="1881867" cy="1539850"/>
              </a:xfrm>
            </p:grpSpPr>
            <p:grpSp>
              <p:nvGrpSpPr>
                <p:cNvPr id="155" name="组合 1566"/>
                <p:cNvGrpSpPr>
                  <a:grpSpLocks noChangeAspect="1"/>
                </p:cNvGrpSpPr>
                <p:nvPr/>
              </p:nvGrpSpPr>
              <p:grpSpPr>
                <a:xfrm>
                  <a:off x="5120634" y="1260193"/>
                  <a:ext cx="414351" cy="397436"/>
                  <a:chOff x="5710841" y="1427396"/>
                  <a:chExt cx="189169" cy="185471"/>
                </a:xfrm>
                <a:solidFill>
                  <a:schemeClr val="tx2"/>
                </a:solidFill>
              </p:grpSpPr>
              <p:sp>
                <p:nvSpPr>
                  <p:cNvPr id="226"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7"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8"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9"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0"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1"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2"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3"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4"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5"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6"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7"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8"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9"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0"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1"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2"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3"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4"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5"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6"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156" name="组合 1566"/>
                <p:cNvGrpSpPr>
                  <a:grpSpLocks noChangeAspect="1"/>
                </p:cNvGrpSpPr>
                <p:nvPr/>
              </p:nvGrpSpPr>
              <p:grpSpPr>
                <a:xfrm>
                  <a:off x="6588150" y="1260193"/>
                  <a:ext cx="414351" cy="397436"/>
                  <a:chOff x="5710841" y="1427396"/>
                  <a:chExt cx="189169" cy="185471"/>
                </a:xfrm>
                <a:solidFill>
                  <a:schemeClr val="tx2"/>
                </a:solidFill>
              </p:grpSpPr>
              <p:sp>
                <p:nvSpPr>
                  <p:cNvPr id="205"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6"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7"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8"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9"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0"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1"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2"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3"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4"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5"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6"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7"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8"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9"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0"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1"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2"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3"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4"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5"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157" name="组合 1566"/>
                <p:cNvGrpSpPr>
                  <a:grpSpLocks noChangeAspect="1"/>
                </p:cNvGrpSpPr>
                <p:nvPr/>
              </p:nvGrpSpPr>
              <p:grpSpPr>
                <a:xfrm>
                  <a:off x="6588150" y="2402607"/>
                  <a:ext cx="414351" cy="397436"/>
                  <a:chOff x="5710841" y="1427396"/>
                  <a:chExt cx="189169" cy="185471"/>
                </a:xfrm>
                <a:solidFill>
                  <a:schemeClr val="tx2"/>
                </a:solidFill>
              </p:grpSpPr>
              <p:sp>
                <p:nvSpPr>
                  <p:cNvPr id="184"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5"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6"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7"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8"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9"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0"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1"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2"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3"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4"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5"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6"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7"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8"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9"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0"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1"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2"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3"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4"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158" name="直接连接符 157"/>
                <p:cNvCxnSpPr/>
                <p:nvPr/>
              </p:nvCxnSpPr>
              <p:spPr bwMode="auto">
                <a:xfrm>
                  <a:off x="5541787" y="1454427"/>
                  <a:ext cx="1046363"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9" name="直接连接符 158"/>
                <p:cNvCxnSpPr/>
                <p:nvPr/>
              </p:nvCxnSpPr>
              <p:spPr bwMode="auto">
                <a:xfrm>
                  <a:off x="5484620" y="2611049"/>
                  <a:ext cx="1103530"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 name="直接连接符 159"/>
                <p:cNvCxnSpPr/>
                <p:nvPr/>
              </p:nvCxnSpPr>
              <p:spPr bwMode="auto">
                <a:xfrm>
                  <a:off x="6773999" y="1657629"/>
                  <a:ext cx="0" cy="777849"/>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61" name="组合 1566"/>
                <p:cNvGrpSpPr>
                  <a:grpSpLocks noChangeAspect="1"/>
                </p:cNvGrpSpPr>
                <p:nvPr/>
              </p:nvGrpSpPr>
              <p:grpSpPr>
                <a:xfrm>
                  <a:off x="5120634" y="2402607"/>
                  <a:ext cx="414351" cy="397436"/>
                  <a:chOff x="5710841" y="1427396"/>
                  <a:chExt cx="189169" cy="185471"/>
                </a:xfrm>
                <a:solidFill>
                  <a:schemeClr val="tx2"/>
                </a:solidFill>
              </p:grpSpPr>
              <p:sp>
                <p:nvSpPr>
                  <p:cNvPr id="163"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4"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5"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6"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7"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8"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9"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0"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1"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2"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3"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4"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5"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6"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7"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8"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9"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0"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1"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2"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3"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162" name="直接连接符 161"/>
                <p:cNvCxnSpPr/>
                <p:nvPr/>
              </p:nvCxnSpPr>
              <p:spPr bwMode="auto">
                <a:xfrm>
                  <a:off x="5318668" y="1633720"/>
                  <a:ext cx="0" cy="777849"/>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4" name="文本框 143"/>
              <p:cNvSpPr txBox="1"/>
              <p:nvPr/>
            </p:nvSpPr>
            <p:spPr>
              <a:xfrm>
                <a:off x="5391188" y="4995002"/>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N</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5" name="文本框 144"/>
              <p:cNvSpPr txBox="1"/>
              <p:nvPr/>
            </p:nvSpPr>
            <p:spPr>
              <a:xfrm>
                <a:off x="5391188" y="3194171"/>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S</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6" name="文本框 145"/>
              <p:cNvSpPr txBox="1"/>
              <p:nvPr/>
            </p:nvSpPr>
            <p:spPr>
              <a:xfrm>
                <a:off x="6870846" y="3201369"/>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D</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7" name="文本框 146"/>
              <p:cNvSpPr txBox="1"/>
              <p:nvPr/>
            </p:nvSpPr>
            <p:spPr>
              <a:xfrm>
                <a:off x="6069794" y="3367186"/>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8" name="文本框 147"/>
              <p:cNvSpPr txBox="1"/>
              <p:nvPr/>
            </p:nvSpPr>
            <p:spPr>
              <a:xfrm>
                <a:off x="5125598" y="413287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9" name="文本框 148"/>
              <p:cNvSpPr txBox="1"/>
              <p:nvPr/>
            </p:nvSpPr>
            <p:spPr>
              <a:xfrm>
                <a:off x="6101157" y="4614189"/>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50" name="文本框 149"/>
              <p:cNvSpPr txBox="1"/>
              <p:nvPr/>
            </p:nvSpPr>
            <p:spPr>
              <a:xfrm>
                <a:off x="7009483" y="413287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15</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51" name="任意多边形 150"/>
              <p:cNvSpPr/>
              <p:nvPr/>
            </p:nvSpPr>
            <p:spPr>
              <a:xfrm>
                <a:off x="5139891" y="3573016"/>
                <a:ext cx="2406315" cy="19251"/>
              </a:xfrm>
              <a:custGeom>
                <a:avLst/>
                <a:gdLst>
                  <a:gd name="connsiteX0" fmla="*/ 0 w 2406315"/>
                  <a:gd name="connsiteY0" fmla="*/ 0 h 19251"/>
                  <a:gd name="connsiteX1" fmla="*/ 2406315 w 2406315"/>
                  <a:gd name="connsiteY1" fmla="*/ 19251 h 19251"/>
                </a:gdLst>
                <a:ahLst/>
                <a:cxnLst>
                  <a:cxn ang="0">
                    <a:pos x="connsiteX0" y="connsiteY0"/>
                  </a:cxn>
                  <a:cxn ang="0">
                    <a:pos x="connsiteX1" y="connsiteY1"/>
                  </a:cxn>
                </a:cxnLst>
                <a:rect l="l" t="t" r="r" b="b"/>
                <a:pathLst>
                  <a:path w="2406315" h="19251">
                    <a:moveTo>
                      <a:pt x="0" y="0"/>
                    </a:moveTo>
                    <a:lnTo>
                      <a:pt x="2406315" y="19251"/>
                    </a:lnTo>
                  </a:path>
                </a:pathLst>
              </a:custGeom>
              <a:noFill/>
              <a:ln>
                <a:solidFill>
                  <a:srgbClr val="00B050"/>
                </a:solidFill>
                <a:headEnd type="none" w="med" len="med"/>
                <a:tailEnd type="triangle" w="med" len="med"/>
              </a:ln>
            </p:spPr>
            <p:style>
              <a:lnRef idx="3">
                <a:schemeClr val="lt1"/>
              </a:lnRef>
              <a:fillRef idx="1">
                <a:schemeClr val="accent6"/>
              </a:fillRef>
              <a:effectRef idx="1">
                <a:schemeClr val="accent6"/>
              </a:effectRef>
              <a:fontRef idx="minor">
                <a:schemeClr val="lt1"/>
              </a:fontRef>
            </p:style>
            <p:txBody>
              <a:bodyPr rtlCol="0" anchor="ctr"/>
              <a:lstStyle/>
              <a:p>
                <a:pPr algn="ctr"/>
                <a:endParaRPr lang="zh-CN" altLang="en-US">
                  <a:solidFill>
                    <a:prstClr val="white"/>
                  </a:solidFill>
                  <a:latin typeface="Calibri" pitchFamily="34" charset="0"/>
                  <a:cs typeface="Calibri" pitchFamily="34" charset="0"/>
                </a:endParaRPr>
              </a:p>
            </p:txBody>
          </p:sp>
          <p:sp>
            <p:nvSpPr>
              <p:cNvPr id="152" name="Round Same Side Corner Rectangle 28"/>
              <p:cNvSpPr/>
              <p:nvPr/>
            </p:nvSpPr>
            <p:spPr>
              <a:xfrm rot="16200000">
                <a:off x="6066787" y="3734341"/>
                <a:ext cx="489461" cy="2183036"/>
              </a:xfrm>
              <a:prstGeom prst="round2SameRect">
                <a:avLst>
                  <a:gd name="adj1" fmla="val 16667"/>
                  <a:gd name="adj2" fmla="val 281"/>
                </a:avLst>
              </a:prstGeom>
              <a:solidFill>
                <a:srgbClr val="92D050">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153" name="Round Same Side Corner Rectangle 29"/>
              <p:cNvSpPr/>
              <p:nvPr/>
            </p:nvSpPr>
            <p:spPr>
              <a:xfrm>
                <a:off x="6677171" y="4481339"/>
                <a:ext cx="631059" cy="675853"/>
              </a:xfrm>
              <a:prstGeom prst="round2SameRect">
                <a:avLst>
                  <a:gd name="adj1" fmla="val 16667"/>
                  <a:gd name="adj2" fmla="val 14008"/>
                </a:avLst>
              </a:prstGeom>
              <a:solidFill>
                <a:srgbClr val="F68B1F">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154" name="爆炸形 2 153"/>
              <p:cNvSpPr/>
              <p:nvPr/>
            </p:nvSpPr>
            <p:spPr>
              <a:xfrm>
                <a:off x="6266569" y="3488868"/>
                <a:ext cx="356539" cy="265902"/>
              </a:xfrm>
              <a:prstGeom prst="irregularSeal2">
                <a:avLst/>
              </a:prstGeom>
              <a:solidFill>
                <a:srgbClr val="FF0000"/>
              </a:solidFill>
              <a:ln w="25400" cap="flat" cmpd="sng" algn="ctr">
                <a:noFill/>
                <a:prstDash val="solid"/>
              </a:ln>
              <a:effectLst/>
            </p:spPr>
            <p:txBody>
              <a:bodyPr rtlCol="0" anchor="ctr"/>
              <a:lstStyle/>
              <a:p>
                <a:pPr algn="ctr" defTabSz="965698" fontAlgn="auto">
                  <a:spcBef>
                    <a:spcPts val="0"/>
                  </a:spcBef>
                  <a:spcAft>
                    <a:spcPts val="0"/>
                  </a:spcAft>
                  <a:defRPr/>
                </a:pPr>
                <a:endParaRPr lang="zh-CN" altLang="en-US" sz="1901" kern="0" dirty="0">
                  <a:solidFill>
                    <a:prstClr val="black"/>
                  </a:solidFill>
                  <a:latin typeface="Calibri" pitchFamily="34" charset="0"/>
                  <a:ea typeface="宋体"/>
                  <a:cs typeface="Calibri" pitchFamily="34" charset="0"/>
                </a:endParaRPr>
              </a:p>
            </p:txBody>
          </p:sp>
        </p:grpSp>
        <p:sp>
          <p:nvSpPr>
            <p:cNvPr id="247" name="矩形 246"/>
            <p:cNvSpPr/>
            <p:nvPr/>
          </p:nvSpPr>
          <p:spPr>
            <a:xfrm>
              <a:off x="1006464" y="4424254"/>
              <a:ext cx="2111338" cy="677108"/>
            </a:xfrm>
            <a:prstGeom prst="rect">
              <a:avLst/>
            </a:prstGeom>
            <a:noFill/>
          </p:spPr>
          <p:txBody>
            <a:bodyPr wrap="square" rtlCol="0">
              <a:spAutoFit/>
            </a:bodyPr>
            <a:lstStyle/>
            <a:p>
              <a:r>
                <a:rPr lang="en-US" altLang="zh-CN" sz="1600" b="1" dirty="0">
                  <a:solidFill>
                    <a:prstClr val="black"/>
                  </a:solidFill>
                  <a:latin typeface="Calibri" pitchFamily="34" charset="0"/>
                  <a:ea typeface="微软雅黑" panose="020B0503020204020204" pitchFamily="34" charset="-122"/>
                  <a:cs typeface="Calibri" pitchFamily="34" charset="0"/>
                </a:rPr>
                <a:t>TI-LFA</a:t>
              </a:r>
            </a:p>
            <a:p>
              <a:r>
                <a:rPr lang="en-US" altLang="zh-CN" sz="1100" b="1" dirty="0">
                  <a:solidFill>
                    <a:srgbClr val="C00000"/>
                  </a:solidFill>
                  <a:latin typeface="Calibri" pitchFamily="34" charset="0"/>
                  <a:ea typeface="微软雅黑" panose="020B0503020204020204" pitchFamily="34" charset="-122"/>
                  <a:cs typeface="Calibri" pitchFamily="34" charset="0"/>
                </a:rPr>
                <a:t>No Constraint Condition, 100% topology protection</a:t>
              </a:r>
            </a:p>
          </p:txBody>
        </p:sp>
        <p:sp>
          <p:nvSpPr>
            <p:cNvPr id="248" name="文本框 247"/>
            <p:cNvSpPr txBox="1"/>
            <p:nvPr/>
          </p:nvSpPr>
          <p:spPr>
            <a:xfrm>
              <a:off x="1151907" y="2398738"/>
              <a:ext cx="1474819" cy="369332"/>
            </a:xfrm>
            <a:prstGeom prst="rect">
              <a:avLst/>
            </a:prstGeom>
            <a:noFill/>
          </p:spPr>
          <p:txBody>
            <a:bodyPr wrap="square" rtlCol="0">
              <a:spAutoFit/>
            </a:bodyPr>
            <a:lstStyle/>
            <a:p>
              <a:pPr algn="ctr"/>
              <a:r>
                <a:rPr lang="en-US" altLang="zh-CN" b="1" dirty="0">
                  <a:solidFill>
                    <a:prstClr val="black"/>
                  </a:solidFill>
                  <a:latin typeface="Calibri" pitchFamily="34" charset="0"/>
                  <a:ea typeface="微软雅黑" panose="020B0503020204020204" pitchFamily="34" charset="-122"/>
                  <a:cs typeface="Calibri" pitchFamily="34" charset="0"/>
                </a:rPr>
                <a:t>LFA Evolution</a:t>
              </a:r>
              <a:endParaRPr lang="zh-CN" altLang="en-US" b="1" dirty="0">
                <a:solidFill>
                  <a:prstClr val="black"/>
                </a:solidFill>
                <a:latin typeface="Calibri" pitchFamily="34" charset="0"/>
                <a:ea typeface="微软雅黑" panose="020B0503020204020204" pitchFamily="34" charset="-122"/>
                <a:cs typeface="Calibri" pitchFamily="34" charset="0"/>
              </a:endParaRPr>
            </a:p>
          </p:txBody>
        </p:sp>
        <p:cxnSp>
          <p:nvCxnSpPr>
            <p:cNvPr id="249" name="直接连接符 248"/>
            <p:cNvCxnSpPr/>
            <p:nvPr/>
          </p:nvCxnSpPr>
          <p:spPr bwMode="auto">
            <a:xfrm flipH="1" flipV="1">
              <a:off x="1385248" y="1378605"/>
              <a:ext cx="1854892" cy="1619331"/>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0" name="下箭头 249"/>
            <p:cNvSpPr/>
            <p:nvPr/>
          </p:nvSpPr>
          <p:spPr>
            <a:xfrm>
              <a:off x="467470" y="3031658"/>
              <a:ext cx="374283" cy="1844913"/>
            </a:xfrm>
            <a:prstGeom prst="downArrow">
              <a:avLst/>
            </a:prstGeom>
            <a:solidFill>
              <a:schemeClr val="accent3"/>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251" name="五角星 250"/>
            <p:cNvSpPr>
              <a:spLocks noChangeAspect="1"/>
            </p:cNvSpPr>
            <p:nvPr/>
          </p:nvSpPr>
          <p:spPr>
            <a:xfrm>
              <a:off x="1917997" y="4404704"/>
              <a:ext cx="304256" cy="307582"/>
            </a:xfrm>
            <a:prstGeom prst="star5">
              <a:avLst/>
            </a:prstGeom>
            <a:solidFill>
              <a:srgbClr val="C00000"/>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252" name="文本框 251"/>
            <p:cNvSpPr txBox="1"/>
            <p:nvPr/>
          </p:nvSpPr>
          <p:spPr>
            <a:xfrm>
              <a:off x="7476474" y="269135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M</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grpSp>
          <p:nvGrpSpPr>
            <p:cNvPr id="253" name="组合 470"/>
            <p:cNvGrpSpPr/>
            <p:nvPr/>
          </p:nvGrpSpPr>
          <p:grpSpPr>
            <a:xfrm>
              <a:off x="8315359" y="836712"/>
              <a:ext cx="3385359" cy="2073508"/>
              <a:chOff x="8387367" y="849570"/>
              <a:chExt cx="3385359" cy="2073508"/>
            </a:xfrm>
          </p:grpSpPr>
          <p:grpSp>
            <p:nvGrpSpPr>
              <p:cNvPr id="254" name="组合 347"/>
              <p:cNvGrpSpPr/>
              <p:nvPr/>
            </p:nvGrpSpPr>
            <p:grpSpPr>
              <a:xfrm>
                <a:off x="8530492" y="1126569"/>
                <a:ext cx="1881867" cy="397436"/>
                <a:chOff x="9036422" y="1643904"/>
                <a:chExt cx="1881867" cy="397436"/>
              </a:xfrm>
            </p:grpSpPr>
            <p:grpSp>
              <p:nvGrpSpPr>
                <p:cNvPr id="364" name="组合 1566"/>
                <p:cNvGrpSpPr>
                  <a:grpSpLocks noChangeAspect="1"/>
                </p:cNvGrpSpPr>
                <p:nvPr/>
              </p:nvGrpSpPr>
              <p:grpSpPr>
                <a:xfrm>
                  <a:off x="9036422" y="1643904"/>
                  <a:ext cx="414351" cy="397436"/>
                  <a:chOff x="5710841" y="1427396"/>
                  <a:chExt cx="189169" cy="185471"/>
                </a:xfrm>
                <a:solidFill>
                  <a:schemeClr val="tx2"/>
                </a:solidFill>
              </p:grpSpPr>
              <p:sp>
                <p:nvSpPr>
                  <p:cNvPr id="388"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9"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0"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1"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2"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3"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4"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5"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6"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7"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8"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9"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0"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1"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2"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3"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4"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5"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6"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7"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8"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365" name="组合 1566"/>
                <p:cNvGrpSpPr>
                  <a:grpSpLocks noChangeAspect="1"/>
                </p:cNvGrpSpPr>
                <p:nvPr/>
              </p:nvGrpSpPr>
              <p:grpSpPr>
                <a:xfrm>
                  <a:off x="10503938" y="1643904"/>
                  <a:ext cx="414351" cy="397436"/>
                  <a:chOff x="5710841" y="1427396"/>
                  <a:chExt cx="189169" cy="185471"/>
                </a:xfrm>
                <a:solidFill>
                  <a:schemeClr val="tx2"/>
                </a:solidFill>
              </p:grpSpPr>
              <p:sp>
                <p:nvSpPr>
                  <p:cNvPr id="367"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8"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9"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0"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1"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2"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3"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4"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5"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6"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7"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8"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9"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0"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1"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2"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3"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4"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5"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6"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7"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366" name="直接连接符 365"/>
                <p:cNvCxnSpPr/>
                <p:nvPr/>
              </p:nvCxnSpPr>
              <p:spPr bwMode="auto">
                <a:xfrm>
                  <a:off x="9457575" y="1838138"/>
                  <a:ext cx="1046363"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255" name="直接连接符 254"/>
              <p:cNvCxnSpPr/>
              <p:nvPr/>
            </p:nvCxnSpPr>
            <p:spPr bwMode="auto">
              <a:xfrm>
                <a:off x="10193516" y="1502412"/>
                <a:ext cx="0" cy="102323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56" name="组合 348"/>
              <p:cNvGrpSpPr/>
              <p:nvPr/>
            </p:nvGrpSpPr>
            <p:grpSpPr>
              <a:xfrm>
                <a:off x="8530492" y="2525642"/>
                <a:ext cx="1881867" cy="397436"/>
                <a:chOff x="9036422" y="2786318"/>
                <a:chExt cx="1881867" cy="397436"/>
              </a:xfrm>
            </p:grpSpPr>
            <p:grpSp>
              <p:nvGrpSpPr>
                <p:cNvPr id="319" name="组合 1566"/>
                <p:cNvGrpSpPr>
                  <a:grpSpLocks noChangeAspect="1"/>
                </p:cNvGrpSpPr>
                <p:nvPr/>
              </p:nvGrpSpPr>
              <p:grpSpPr>
                <a:xfrm>
                  <a:off x="10503938" y="2786318"/>
                  <a:ext cx="414351" cy="397436"/>
                  <a:chOff x="5710841" y="1427396"/>
                  <a:chExt cx="189169" cy="185471"/>
                </a:xfrm>
                <a:solidFill>
                  <a:schemeClr val="tx2"/>
                </a:solidFill>
              </p:grpSpPr>
              <p:sp>
                <p:nvSpPr>
                  <p:cNvPr id="343"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4"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5"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6"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7"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8"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9"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0"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1"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2"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3"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4"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5"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6"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7"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8"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9"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0"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1"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2"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3"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320" name="直接连接符 319"/>
                <p:cNvCxnSpPr/>
                <p:nvPr/>
              </p:nvCxnSpPr>
              <p:spPr bwMode="auto">
                <a:xfrm>
                  <a:off x="9400408" y="2994760"/>
                  <a:ext cx="1103530"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21" name="组合 1566"/>
                <p:cNvGrpSpPr>
                  <a:grpSpLocks noChangeAspect="1"/>
                </p:cNvGrpSpPr>
                <p:nvPr/>
              </p:nvGrpSpPr>
              <p:grpSpPr>
                <a:xfrm>
                  <a:off x="9036422" y="2786318"/>
                  <a:ext cx="414351" cy="397436"/>
                  <a:chOff x="5710841" y="1427396"/>
                  <a:chExt cx="189169" cy="185471"/>
                </a:xfrm>
                <a:solidFill>
                  <a:schemeClr val="tx2"/>
                </a:solidFill>
              </p:grpSpPr>
              <p:sp>
                <p:nvSpPr>
                  <p:cNvPr id="322"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3"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4"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5"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6"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7"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8"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9"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0"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1"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2"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3"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4"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5"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6"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7"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8"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9"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0"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1"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2"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cxnSp>
            <p:nvCxnSpPr>
              <p:cNvPr id="257" name="直接连接符 256"/>
              <p:cNvCxnSpPr/>
              <p:nvPr/>
            </p:nvCxnSpPr>
            <p:spPr bwMode="auto">
              <a:xfrm>
                <a:off x="8738185" y="1524005"/>
                <a:ext cx="0" cy="1033865"/>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58" name="组合 1566"/>
              <p:cNvGrpSpPr>
                <a:grpSpLocks noChangeAspect="1"/>
              </p:cNvGrpSpPr>
              <p:nvPr/>
            </p:nvGrpSpPr>
            <p:grpSpPr>
              <a:xfrm>
                <a:off x="11081248" y="1126569"/>
                <a:ext cx="414351" cy="397436"/>
                <a:chOff x="5710841" y="1427396"/>
                <a:chExt cx="189169" cy="185471"/>
              </a:xfrm>
              <a:solidFill>
                <a:schemeClr val="tx2"/>
              </a:solidFill>
            </p:grpSpPr>
            <p:sp>
              <p:nvSpPr>
                <p:cNvPr id="298"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9"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0"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1"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2"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3"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4"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5"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6"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7"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8"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9"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0"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1"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2"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3"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4"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5"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6"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7"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8"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259" name="直接连接符 258"/>
              <p:cNvCxnSpPr/>
              <p:nvPr/>
            </p:nvCxnSpPr>
            <p:spPr bwMode="auto">
              <a:xfrm flipH="1" flipV="1">
                <a:off x="10412359" y="1292187"/>
                <a:ext cx="668890"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0" name="文本框 259"/>
              <p:cNvSpPr txBox="1"/>
              <p:nvPr/>
            </p:nvSpPr>
            <p:spPr>
              <a:xfrm>
                <a:off x="8604374" y="84957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S</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1" name="文本框 260"/>
              <p:cNvSpPr txBox="1"/>
              <p:nvPr/>
            </p:nvSpPr>
            <p:spPr>
              <a:xfrm>
                <a:off x="11173570" y="84957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D</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grpSp>
            <p:nvGrpSpPr>
              <p:cNvPr id="262" name="组合 1566"/>
              <p:cNvGrpSpPr>
                <a:grpSpLocks noChangeAspect="1"/>
              </p:cNvGrpSpPr>
              <p:nvPr/>
            </p:nvGrpSpPr>
            <p:grpSpPr>
              <a:xfrm>
                <a:off x="8538370" y="1842268"/>
                <a:ext cx="414351" cy="397436"/>
                <a:chOff x="5710841" y="1427396"/>
                <a:chExt cx="189169" cy="185471"/>
              </a:xfrm>
              <a:solidFill>
                <a:schemeClr val="tx2"/>
              </a:solidFill>
            </p:grpSpPr>
            <p:sp>
              <p:nvSpPr>
                <p:cNvPr id="277"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78"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79"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0"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1"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2"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3"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4"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5"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6"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7"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8"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9"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0"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1"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2"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3"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4"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5"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6"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7"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sp>
            <p:nvSpPr>
              <p:cNvPr id="263" name="任意多边形 262"/>
              <p:cNvSpPr/>
              <p:nvPr/>
            </p:nvSpPr>
            <p:spPr>
              <a:xfrm flipV="1">
                <a:off x="8429228" y="1220485"/>
                <a:ext cx="3343498" cy="45719"/>
              </a:xfrm>
              <a:custGeom>
                <a:avLst/>
                <a:gdLst>
                  <a:gd name="connsiteX0" fmla="*/ 0 w 2406315"/>
                  <a:gd name="connsiteY0" fmla="*/ 0 h 19251"/>
                  <a:gd name="connsiteX1" fmla="*/ 2406315 w 2406315"/>
                  <a:gd name="connsiteY1" fmla="*/ 19251 h 19251"/>
                </a:gdLst>
                <a:ahLst/>
                <a:cxnLst>
                  <a:cxn ang="0">
                    <a:pos x="connsiteX0" y="connsiteY0"/>
                  </a:cxn>
                  <a:cxn ang="0">
                    <a:pos x="connsiteX1" y="connsiteY1"/>
                  </a:cxn>
                </a:cxnLst>
                <a:rect l="l" t="t" r="r" b="b"/>
                <a:pathLst>
                  <a:path w="2406315" h="19251">
                    <a:moveTo>
                      <a:pt x="0" y="0"/>
                    </a:moveTo>
                    <a:lnTo>
                      <a:pt x="2406315" y="19251"/>
                    </a:lnTo>
                  </a:path>
                </a:pathLst>
              </a:custGeom>
              <a:noFill/>
              <a:ln>
                <a:solidFill>
                  <a:srgbClr val="00B050"/>
                </a:solidFill>
                <a:headEnd type="none" w="med" len="med"/>
                <a:tailEnd type="triangle" w="med" len="med"/>
              </a:ln>
            </p:spPr>
            <p:style>
              <a:lnRef idx="3">
                <a:schemeClr val="lt1"/>
              </a:lnRef>
              <a:fillRef idx="1">
                <a:schemeClr val="accent6"/>
              </a:fillRef>
              <a:effectRef idx="1">
                <a:schemeClr val="accent6"/>
              </a:effectRef>
              <a:fontRef idx="minor">
                <a:schemeClr val="lt1"/>
              </a:fontRef>
            </p:style>
            <p:txBody>
              <a:bodyPr rtlCol="0" anchor="ctr"/>
              <a:lstStyle/>
              <a:p>
                <a:pPr algn="ctr"/>
                <a:endParaRPr lang="zh-CN" altLang="en-US">
                  <a:solidFill>
                    <a:prstClr val="white"/>
                  </a:solidFill>
                  <a:latin typeface="Calibri" pitchFamily="34" charset="0"/>
                  <a:cs typeface="Calibri" pitchFamily="34" charset="0"/>
                </a:endParaRPr>
              </a:p>
            </p:txBody>
          </p:sp>
          <p:sp>
            <p:nvSpPr>
              <p:cNvPr id="264" name="Round Same Side Corner Rectangle 28"/>
              <p:cNvSpPr/>
              <p:nvPr/>
            </p:nvSpPr>
            <p:spPr>
              <a:xfrm>
                <a:off x="8497707" y="1708832"/>
                <a:ext cx="489461" cy="1213556"/>
              </a:xfrm>
              <a:prstGeom prst="round2SameRect">
                <a:avLst>
                  <a:gd name="adj1" fmla="val 16667"/>
                  <a:gd name="adj2" fmla="val 281"/>
                </a:avLst>
              </a:prstGeom>
              <a:solidFill>
                <a:srgbClr val="92D050">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265" name="Round Same Side Corner Rectangle 29"/>
              <p:cNvSpPr/>
              <p:nvPr/>
            </p:nvSpPr>
            <p:spPr>
              <a:xfrm>
                <a:off x="9921562" y="1134305"/>
                <a:ext cx="592369" cy="1788083"/>
              </a:xfrm>
              <a:prstGeom prst="round2SameRect">
                <a:avLst>
                  <a:gd name="adj1" fmla="val 16667"/>
                  <a:gd name="adj2" fmla="val 281"/>
                </a:avLst>
              </a:prstGeom>
              <a:solidFill>
                <a:srgbClr val="F68B1F">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266" name="文本框 265"/>
              <p:cNvSpPr txBox="1"/>
              <p:nvPr/>
            </p:nvSpPr>
            <p:spPr>
              <a:xfrm>
                <a:off x="9180438" y="98905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7" name="文本框 266"/>
              <p:cNvSpPr txBox="1"/>
              <p:nvPr/>
            </p:nvSpPr>
            <p:spPr>
              <a:xfrm>
                <a:off x="8387367" y="1570076"/>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8" name="文本框 267"/>
              <p:cNvSpPr txBox="1"/>
              <p:nvPr/>
            </p:nvSpPr>
            <p:spPr>
              <a:xfrm>
                <a:off x="8387367" y="2327992"/>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9" name="文本框 268"/>
              <p:cNvSpPr txBox="1"/>
              <p:nvPr/>
            </p:nvSpPr>
            <p:spPr>
              <a:xfrm>
                <a:off x="9777958" y="1922950"/>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0" name="文本框 269"/>
              <p:cNvSpPr txBox="1"/>
              <p:nvPr/>
            </p:nvSpPr>
            <p:spPr>
              <a:xfrm>
                <a:off x="10606188" y="1017413"/>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1" name="文本框 270"/>
              <p:cNvSpPr txBox="1"/>
              <p:nvPr/>
            </p:nvSpPr>
            <p:spPr>
              <a:xfrm>
                <a:off x="9240456" y="2526247"/>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1000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2" name="爆炸形 2 271"/>
              <p:cNvSpPr/>
              <p:nvPr/>
            </p:nvSpPr>
            <p:spPr>
              <a:xfrm>
                <a:off x="9328939" y="1222511"/>
                <a:ext cx="380613" cy="187709"/>
              </a:xfrm>
              <a:prstGeom prst="irregularSeal2">
                <a:avLst/>
              </a:prstGeom>
              <a:solidFill>
                <a:srgbClr val="FF0000"/>
              </a:solidFill>
              <a:ln w="25400" cap="flat" cmpd="sng" algn="ctr">
                <a:noFill/>
                <a:prstDash val="solid"/>
              </a:ln>
              <a:effectLst/>
            </p:spPr>
            <p:txBody>
              <a:bodyPr rtlCol="0" anchor="ctr"/>
              <a:lstStyle/>
              <a:p>
                <a:pPr algn="ctr" defTabSz="965698" fontAlgn="auto">
                  <a:spcBef>
                    <a:spcPts val="0"/>
                  </a:spcBef>
                  <a:spcAft>
                    <a:spcPts val="0"/>
                  </a:spcAft>
                  <a:defRPr/>
                </a:pPr>
                <a:endParaRPr lang="zh-CN" altLang="en-US" sz="1901" kern="0" dirty="0">
                  <a:solidFill>
                    <a:prstClr val="black"/>
                  </a:solidFill>
                  <a:latin typeface="Calibri" pitchFamily="34" charset="0"/>
                  <a:ea typeface="宋体"/>
                  <a:cs typeface="Calibri" pitchFamily="34" charset="0"/>
                </a:endParaRPr>
              </a:p>
            </p:txBody>
          </p:sp>
          <p:sp>
            <p:nvSpPr>
              <p:cNvPr id="273" name="文本框 272"/>
              <p:cNvSpPr txBox="1"/>
              <p:nvPr/>
            </p:nvSpPr>
            <p:spPr>
              <a:xfrm>
                <a:off x="8898947" y="1916832"/>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N</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4" name="文本框 273"/>
              <p:cNvSpPr txBox="1"/>
              <p:nvPr/>
            </p:nvSpPr>
            <p:spPr>
              <a:xfrm>
                <a:off x="8898947" y="2503929"/>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Y</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5" name="文本框 274"/>
              <p:cNvSpPr txBox="1"/>
              <p:nvPr/>
            </p:nvSpPr>
            <p:spPr>
              <a:xfrm>
                <a:off x="10372142" y="2472343"/>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Z</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6" name="文本框 275"/>
              <p:cNvSpPr txBox="1"/>
              <p:nvPr/>
            </p:nvSpPr>
            <p:spPr>
              <a:xfrm>
                <a:off x="10044534" y="84957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X</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grpSp>
        <p:pic>
          <p:nvPicPr>
            <p:cNvPr id="409" name="图片 403" descr="叉号.jpg"/>
            <p:cNvPicPr>
              <a:picLocks noChangeAspect="1"/>
            </p:cNvPicPr>
            <p:nvPr/>
          </p:nvPicPr>
          <p:blipFill>
            <a:blip r:embed="rId2" cstate="print"/>
            <a:stretch>
              <a:fillRect/>
            </a:stretch>
          </p:blipFill>
          <p:spPr>
            <a:xfrm flipH="1">
              <a:off x="5809109" y="3172194"/>
              <a:ext cx="387872" cy="360000"/>
            </a:xfrm>
            <a:prstGeom prst="rect">
              <a:avLst/>
            </a:prstGeom>
          </p:spPr>
        </p:pic>
        <p:pic>
          <p:nvPicPr>
            <p:cNvPr id="410" name="图片 393" descr="对号.png"/>
            <p:cNvPicPr>
              <a:picLocks noChangeAspect="1"/>
            </p:cNvPicPr>
            <p:nvPr/>
          </p:nvPicPr>
          <p:blipFill>
            <a:blip r:embed="rId3" cstate="print"/>
            <a:stretch>
              <a:fillRect/>
            </a:stretch>
          </p:blipFill>
          <p:spPr>
            <a:xfrm>
              <a:off x="4263060" y="3174768"/>
              <a:ext cx="412950" cy="324000"/>
            </a:xfrm>
            <a:prstGeom prst="rect">
              <a:avLst/>
            </a:prstGeom>
          </p:spPr>
        </p:pic>
        <p:pic>
          <p:nvPicPr>
            <p:cNvPr id="411" name="图片 403" descr="叉号.jpg"/>
            <p:cNvPicPr>
              <a:picLocks noChangeAspect="1"/>
            </p:cNvPicPr>
            <p:nvPr/>
          </p:nvPicPr>
          <p:blipFill>
            <a:blip r:embed="rId2" cstate="print"/>
            <a:stretch>
              <a:fillRect/>
            </a:stretch>
          </p:blipFill>
          <p:spPr>
            <a:xfrm flipH="1">
              <a:off x="8425308" y="3889805"/>
              <a:ext cx="387872" cy="360000"/>
            </a:xfrm>
            <a:prstGeom prst="rect">
              <a:avLst/>
            </a:prstGeom>
          </p:spPr>
        </p:pic>
        <p:pic>
          <p:nvPicPr>
            <p:cNvPr id="412" name="图片 403" descr="叉号.jpg"/>
            <p:cNvPicPr>
              <a:picLocks noChangeAspect="1"/>
            </p:cNvPicPr>
            <p:nvPr/>
          </p:nvPicPr>
          <p:blipFill>
            <a:blip r:embed="rId2" cstate="print"/>
            <a:stretch>
              <a:fillRect/>
            </a:stretch>
          </p:blipFill>
          <p:spPr>
            <a:xfrm flipH="1">
              <a:off x="8391441" y="3202204"/>
              <a:ext cx="387872" cy="360000"/>
            </a:xfrm>
            <a:prstGeom prst="rect">
              <a:avLst/>
            </a:prstGeom>
          </p:spPr>
        </p:pic>
        <p:sp>
          <p:nvSpPr>
            <p:cNvPr id="413" name="矩形 412"/>
            <p:cNvSpPr/>
            <p:nvPr/>
          </p:nvSpPr>
          <p:spPr>
            <a:xfrm>
              <a:off x="6156102" y="3129271"/>
              <a:ext cx="2245451" cy="461665"/>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Cost(N, D) = 10+15</a:t>
              </a:r>
            </a:p>
            <a:p>
              <a:r>
                <a:rPr lang="en-US" altLang="zh-CN" sz="1200" dirty="0">
                  <a:solidFill>
                    <a:prstClr val="black"/>
                  </a:solidFill>
                  <a:latin typeface="Calibri" pitchFamily="34" charset="0"/>
                  <a:ea typeface="微软雅黑" panose="020B0503020204020204" pitchFamily="34" charset="-122"/>
                  <a:cs typeface="Calibri" pitchFamily="34" charset="0"/>
                </a:rPr>
                <a:t>Cost(N, S) + Cost(S, D) = 10+ 10</a:t>
              </a:r>
            </a:p>
          </p:txBody>
        </p:sp>
        <p:sp>
          <p:nvSpPr>
            <p:cNvPr id="414" name="矩形 413"/>
            <p:cNvSpPr/>
            <p:nvPr/>
          </p:nvSpPr>
          <p:spPr>
            <a:xfrm>
              <a:off x="6228110" y="3799852"/>
              <a:ext cx="1873817" cy="646331"/>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P-space(S, S-&gt;D) = {N, M}</a:t>
              </a:r>
            </a:p>
            <a:p>
              <a:r>
                <a:rPr lang="en-US" altLang="zh-CN" sz="1200" dirty="0">
                  <a:solidFill>
                    <a:prstClr val="black"/>
                  </a:solidFill>
                  <a:latin typeface="Calibri" pitchFamily="34" charset="0"/>
                  <a:ea typeface="微软雅黑" panose="020B0503020204020204" pitchFamily="34" charset="-122"/>
                  <a:cs typeface="Calibri" pitchFamily="34" charset="0"/>
                </a:rPr>
                <a:t>Q-Space(D, S-&gt;D) = {M}</a:t>
              </a:r>
            </a:p>
            <a:p>
              <a:r>
                <a:rPr lang="en-US" altLang="zh-CN" sz="1200" dirty="0">
                  <a:solidFill>
                    <a:prstClr val="black"/>
                  </a:solidFill>
                  <a:latin typeface="Calibri" pitchFamily="34" charset="0"/>
                  <a:ea typeface="微软雅黑" panose="020B0503020204020204" pitchFamily="34" charset="-122"/>
                  <a:cs typeface="Calibri" pitchFamily="34" charset="0"/>
                </a:rPr>
                <a:t>M node is in PQ space.</a:t>
              </a:r>
            </a:p>
          </p:txBody>
        </p:sp>
        <p:sp>
          <p:nvSpPr>
            <p:cNvPr id="415" name="矩形 414"/>
            <p:cNvSpPr/>
            <p:nvPr/>
          </p:nvSpPr>
          <p:spPr>
            <a:xfrm>
              <a:off x="9106820" y="3730462"/>
              <a:ext cx="2474569" cy="738664"/>
            </a:xfrm>
            <a:prstGeom prst="rect">
              <a:avLst/>
            </a:prstGeom>
            <a:noFill/>
          </p:spPr>
          <p:txBody>
            <a:bodyPr wrap="square" rtlCol="0">
              <a:spAutoFit/>
            </a:bodyPr>
            <a:lstStyle/>
            <a:p>
              <a:r>
                <a:rPr lang="en-US" altLang="zh-CN" sz="1400" dirty="0">
                  <a:solidFill>
                    <a:prstClr val="black"/>
                  </a:solidFill>
                  <a:latin typeface="Calibri" pitchFamily="34" charset="0"/>
                  <a:ea typeface="微软雅黑" panose="020B0503020204020204" pitchFamily="34" charset="-122"/>
                  <a:cs typeface="Calibri" pitchFamily="34" charset="0"/>
                </a:rPr>
                <a:t>P-space(S, S-&gt;X) = {N, Y}</a:t>
              </a:r>
            </a:p>
            <a:p>
              <a:r>
                <a:rPr lang="en-US" altLang="zh-CN" sz="1400" dirty="0">
                  <a:solidFill>
                    <a:prstClr val="black"/>
                  </a:solidFill>
                  <a:latin typeface="Calibri" pitchFamily="34" charset="0"/>
                  <a:ea typeface="微软雅黑" panose="020B0503020204020204" pitchFamily="34" charset="-122"/>
                  <a:cs typeface="Calibri" pitchFamily="34" charset="0"/>
                </a:rPr>
                <a:t>Q-Space(D, S-&gt;X) = {X,Z}</a:t>
              </a:r>
            </a:p>
            <a:p>
              <a:r>
                <a:rPr lang="en-US" altLang="zh-CN" sz="1400" dirty="0">
                  <a:solidFill>
                    <a:prstClr val="black"/>
                  </a:solidFill>
                  <a:latin typeface="Calibri" pitchFamily="34" charset="0"/>
                  <a:ea typeface="微软雅黑" panose="020B0503020204020204" pitchFamily="34" charset="-122"/>
                  <a:cs typeface="Calibri" pitchFamily="34" charset="0"/>
                </a:rPr>
                <a:t>There is no PQ node.</a:t>
              </a:r>
            </a:p>
          </p:txBody>
        </p:sp>
        <p:pic>
          <p:nvPicPr>
            <p:cNvPr id="416" name="图片 393" descr="对号.png"/>
            <p:cNvPicPr>
              <a:picLocks noChangeAspect="1"/>
            </p:cNvPicPr>
            <p:nvPr/>
          </p:nvPicPr>
          <p:blipFill>
            <a:blip r:embed="rId3" cstate="print"/>
            <a:stretch>
              <a:fillRect/>
            </a:stretch>
          </p:blipFill>
          <p:spPr>
            <a:xfrm>
              <a:off x="5826219" y="3928051"/>
              <a:ext cx="412950" cy="324000"/>
            </a:xfrm>
            <a:prstGeom prst="rect">
              <a:avLst/>
            </a:prstGeom>
          </p:spPr>
        </p:pic>
        <p:pic>
          <p:nvPicPr>
            <p:cNvPr id="417" name="图片 393" descr="对号.png"/>
            <p:cNvPicPr>
              <a:picLocks noChangeAspect="1"/>
            </p:cNvPicPr>
            <p:nvPr/>
          </p:nvPicPr>
          <p:blipFill>
            <a:blip r:embed="rId3" cstate="print"/>
            <a:stretch>
              <a:fillRect/>
            </a:stretch>
          </p:blipFill>
          <p:spPr>
            <a:xfrm>
              <a:off x="8414746" y="4614401"/>
              <a:ext cx="412950" cy="324000"/>
            </a:xfrm>
            <a:prstGeom prst="rect">
              <a:avLst/>
            </a:prstGeom>
          </p:spPr>
        </p:pic>
        <p:pic>
          <p:nvPicPr>
            <p:cNvPr id="418" name="图片 393" descr="对号.png"/>
            <p:cNvPicPr>
              <a:picLocks noChangeAspect="1"/>
            </p:cNvPicPr>
            <p:nvPr/>
          </p:nvPicPr>
          <p:blipFill>
            <a:blip r:embed="rId3" cstate="print"/>
            <a:stretch>
              <a:fillRect/>
            </a:stretch>
          </p:blipFill>
          <p:spPr>
            <a:xfrm>
              <a:off x="4263060" y="3907805"/>
              <a:ext cx="412950" cy="324000"/>
            </a:xfrm>
            <a:prstGeom prst="rect">
              <a:avLst/>
            </a:prstGeom>
          </p:spPr>
        </p:pic>
        <p:pic>
          <p:nvPicPr>
            <p:cNvPr id="419" name="图片 393" descr="对号.png"/>
            <p:cNvPicPr>
              <a:picLocks noChangeAspect="1"/>
            </p:cNvPicPr>
            <p:nvPr/>
          </p:nvPicPr>
          <p:blipFill>
            <a:blip r:embed="rId3" cstate="print"/>
            <a:stretch>
              <a:fillRect/>
            </a:stretch>
          </p:blipFill>
          <p:spPr>
            <a:xfrm>
              <a:off x="4221730" y="4685846"/>
              <a:ext cx="412950" cy="324000"/>
            </a:xfrm>
            <a:prstGeom prst="rect">
              <a:avLst/>
            </a:prstGeom>
          </p:spPr>
        </p:pic>
        <p:pic>
          <p:nvPicPr>
            <p:cNvPr id="420" name="图片 393" descr="对号.png"/>
            <p:cNvPicPr>
              <a:picLocks noChangeAspect="1"/>
            </p:cNvPicPr>
            <p:nvPr/>
          </p:nvPicPr>
          <p:blipFill>
            <a:blip r:embed="rId3" cstate="print"/>
            <a:stretch>
              <a:fillRect/>
            </a:stretch>
          </p:blipFill>
          <p:spPr>
            <a:xfrm>
              <a:off x="5860008" y="4664923"/>
              <a:ext cx="412950" cy="324000"/>
            </a:xfrm>
            <a:prstGeom prst="rect">
              <a:avLst/>
            </a:prstGeom>
          </p:spPr>
        </p:pic>
        <p:sp>
          <p:nvSpPr>
            <p:cNvPr id="421" name="五角星 420"/>
            <p:cNvSpPr>
              <a:spLocks noChangeAspect="1"/>
            </p:cNvSpPr>
            <p:nvPr/>
          </p:nvSpPr>
          <p:spPr>
            <a:xfrm>
              <a:off x="2236849" y="4404704"/>
              <a:ext cx="304256" cy="307582"/>
            </a:xfrm>
            <a:prstGeom prst="star5">
              <a:avLst/>
            </a:prstGeom>
            <a:solidFill>
              <a:srgbClr val="C00000"/>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422" name="五角星 421"/>
            <p:cNvSpPr>
              <a:spLocks noChangeAspect="1"/>
            </p:cNvSpPr>
            <p:nvPr/>
          </p:nvSpPr>
          <p:spPr>
            <a:xfrm>
              <a:off x="2555702" y="4404704"/>
              <a:ext cx="304256" cy="307582"/>
            </a:xfrm>
            <a:prstGeom prst="star5">
              <a:avLst/>
            </a:prstGeom>
            <a:solidFill>
              <a:srgbClr val="C00000"/>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423" name="矩形 422"/>
            <p:cNvSpPr/>
            <p:nvPr/>
          </p:nvSpPr>
          <p:spPr>
            <a:xfrm>
              <a:off x="9108430" y="4505498"/>
              <a:ext cx="2474569" cy="307777"/>
            </a:xfrm>
            <a:prstGeom prst="rect">
              <a:avLst/>
            </a:prstGeom>
            <a:noFill/>
          </p:spPr>
          <p:txBody>
            <a:bodyPr wrap="square" rtlCol="0">
              <a:spAutoFit/>
            </a:bodyPr>
            <a:lstStyle/>
            <a:p>
              <a:r>
                <a:rPr lang="en-US" altLang="zh-CN" sz="1400" dirty="0">
                  <a:solidFill>
                    <a:prstClr val="black"/>
                  </a:solidFill>
                  <a:latin typeface="Calibri" pitchFamily="34" charset="0"/>
                  <a:ea typeface="微软雅黑" panose="020B0503020204020204" pitchFamily="34" charset="-122"/>
                  <a:cs typeface="Calibri" pitchFamily="34" charset="0"/>
                </a:rPr>
                <a:t>100% topology protection</a:t>
              </a:r>
            </a:p>
          </p:txBody>
        </p:sp>
      </p:grpSp>
    </p:spTree>
    <p:extLst>
      <p:ext uri="{BB962C8B-B14F-4D97-AF65-F5344CB8AC3E}">
        <p14:creationId xmlns:p14="http://schemas.microsoft.com/office/powerpoint/2010/main" val="1830545760"/>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背景：经典</a:t>
            </a:r>
            <a:r>
              <a:rPr kumimoji="1" lang="en-US" altLang="zh-CN" dirty="0">
                <a:sym typeface="微软雅黑" panose="020B0503020204020204" pitchFamily="34" charset="-122"/>
              </a:rPr>
              <a:t>SDN</a:t>
            </a:r>
            <a:r>
              <a:rPr kumimoji="1" lang="zh-CN" altLang="en-US" dirty="0">
                <a:sym typeface="微软雅黑" panose="020B0503020204020204" pitchFamily="34" charset="-122"/>
              </a:rPr>
              <a:t>遇到扩展性问题</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5" name="组合 4"/>
          <p:cNvGrpSpPr/>
          <p:nvPr/>
        </p:nvGrpSpPr>
        <p:grpSpPr>
          <a:xfrm>
            <a:off x="447201" y="1443549"/>
            <a:ext cx="11530452" cy="5157543"/>
            <a:chOff x="208966" y="707362"/>
            <a:chExt cx="11649784" cy="5559165"/>
          </a:xfrm>
        </p:grpSpPr>
        <p:grpSp>
          <p:nvGrpSpPr>
            <p:cNvPr id="439" name="组合 438"/>
            <p:cNvGrpSpPr/>
            <p:nvPr/>
          </p:nvGrpSpPr>
          <p:grpSpPr>
            <a:xfrm>
              <a:off x="208966" y="707362"/>
              <a:ext cx="5104906" cy="5417393"/>
              <a:chOff x="208966" y="707362"/>
              <a:chExt cx="4554747" cy="5440245"/>
            </a:xfrm>
          </p:grpSpPr>
          <p:grpSp>
            <p:nvGrpSpPr>
              <p:cNvPr id="440" name="组合 439"/>
              <p:cNvGrpSpPr/>
              <p:nvPr/>
            </p:nvGrpSpPr>
            <p:grpSpPr>
              <a:xfrm>
                <a:off x="208966" y="707362"/>
                <a:ext cx="4554747" cy="4235574"/>
                <a:chOff x="299969" y="629724"/>
                <a:chExt cx="4554747" cy="4929523"/>
              </a:xfrm>
            </p:grpSpPr>
            <p:sp>
              <p:nvSpPr>
                <p:cNvPr id="446" name="矩形 445"/>
                <p:cNvSpPr/>
                <p:nvPr/>
              </p:nvSpPr>
              <p:spPr>
                <a:xfrm>
                  <a:off x="299969" y="629724"/>
                  <a:ext cx="4554747" cy="4929523"/>
                </a:xfrm>
                <a:prstGeom prst="rect">
                  <a:avLst/>
                </a:prstGeom>
                <a:solidFill>
                  <a:srgbClr val="44546A">
                    <a:alpha val="23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Arial"/>
                    <a:ea typeface="黑体" panose="02010609060101010101" pitchFamily="49" charset="-122"/>
                    <a:cs typeface="Arial"/>
                  </a:endParaRPr>
                </a:p>
              </p:txBody>
            </p:sp>
            <p:pic>
              <p:nvPicPr>
                <p:cNvPr id="447" name="图片 446"/>
                <p:cNvPicPr>
                  <a:picLocks noChangeAspect="1"/>
                </p:cNvPicPr>
                <p:nvPr/>
              </p:nvPicPr>
              <p:blipFill>
                <a:blip r:embed="rId4"/>
                <a:stretch>
                  <a:fillRect/>
                </a:stretch>
              </p:blipFill>
              <p:spPr>
                <a:xfrm>
                  <a:off x="412113" y="703526"/>
                  <a:ext cx="4330461" cy="4855721"/>
                </a:xfrm>
                <a:prstGeom prst="rect">
                  <a:avLst/>
                </a:prstGeom>
              </p:spPr>
            </p:pic>
          </p:grpSp>
          <p:grpSp>
            <p:nvGrpSpPr>
              <p:cNvPr id="441" name="组合 440"/>
              <p:cNvGrpSpPr/>
              <p:nvPr/>
            </p:nvGrpSpPr>
            <p:grpSpPr>
              <a:xfrm>
                <a:off x="776376" y="4304581"/>
                <a:ext cx="1311217" cy="552092"/>
                <a:chOff x="5693432" y="3372929"/>
                <a:chExt cx="1311217" cy="552092"/>
              </a:xfrm>
            </p:grpSpPr>
            <p:sp>
              <p:nvSpPr>
                <p:cNvPr id="443" name="矩形 442"/>
                <p:cNvSpPr/>
                <p:nvPr/>
              </p:nvSpPr>
              <p:spPr>
                <a:xfrm>
                  <a:off x="5693433" y="3372929"/>
                  <a:ext cx="1311215" cy="276046"/>
                </a:xfrm>
                <a:prstGeom prst="rect">
                  <a:avLst/>
                </a:prstGeom>
                <a:solidFill>
                  <a:srgbClr val="44546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Flow Table</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sp>
              <p:nvSpPr>
                <p:cNvPr id="444" name="矩形 443"/>
                <p:cNvSpPr/>
                <p:nvPr/>
              </p:nvSpPr>
              <p:spPr>
                <a:xfrm>
                  <a:off x="5693432" y="3648975"/>
                  <a:ext cx="672861" cy="276046"/>
                </a:xfrm>
                <a:prstGeom prst="rect">
                  <a:avLst/>
                </a:prstGeom>
                <a:solidFill>
                  <a:srgbClr val="00B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Rule</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sp>
              <p:nvSpPr>
                <p:cNvPr id="445" name="矩形 444"/>
                <p:cNvSpPr/>
                <p:nvPr/>
              </p:nvSpPr>
              <p:spPr>
                <a:xfrm>
                  <a:off x="6366295" y="3648975"/>
                  <a:ext cx="638354" cy="276046"/>
                </a:xfrm>
                <a:prstGeom prst="rect">
                  <a:avLst/>
                </a:prstGeom>
                <a:solidFill>
                  <a:srgbClr val="FFC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Action</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grpSp>
          <p:sp>
            <p:nvSpPr>
              <p:cNvPr id="442" name="圆角矩形 441"/>
              <p:cNvSpPr/>
              <p:nvPr>
                <p:custDataLst>
                  <p:tags r:id="rId2"/>
                </p:custDataLst>
              </p:nvPr>
            </p:nvSpPr>
            <p:spPr>
              <a:xfrm>
                <a:off x="208966" y="5218982"/>
                <a:ext cx="4554747" cy="928625"/>
              </a:xfrm>
              <a:prstGeom prst="roundRect">
                <a:avLst>
                  <a:gd name="adj" fmla="val 4493"/>
                </a:avLst>
              </a:prstGeom>
              <a:solidFill>
                <a:srgbClr val="FFFFFF"/>
              </a:solidFill>
              <a:ln w="1905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经典 </a:t>
                </a:r>
                <a:r>
                  <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SDN</a:t>
                </a: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有扩展性问题。随着网络规模增大，流表成</a:t>
                </a:r>
                <a:r>
                  <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N2</a:t>
                </a: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级增长</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可靠性问题，单点故障</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性能问题，网络故障涉及海量的表项更新</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endParaRPr kumimoji="1" lang="en-US" altLang="zh-CN" sz="12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p:txBody>
          </p:sp>
        </p:grpSp>
        <p:sp>
          <p:nvSpPr>
            <p:cNvPr id="448" name="矩形 447"/>
            <p:cNvSpPr/>
            <p:nvPr/>
          </p:nvSpPr>
          <p:spPr>
            <a:xfrm>
              <a:off x="6753844" y="707362"/>
              <a:ext cx="5104906" cy="4217782"/>
            </a:xfrm>
            <a:prstGeom prst="rect">
              <a:avLst/>
            </a:prstGeom>
            <a:solidFill>
              <a:srgbClr val="44546A">
                <a:alpha val="23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Arial"/>
                <a:ea typeface="黑体" panose="02010609060101010101" pitchFamily="49" charset="-122"/>
                <a:cs typeface="Arial"/>
              </a:endParaRPr>
            </a:p>
          </p:txBody>
        </p:sp>
        <p:grpSp>
          <p:nvGrpSpPr>
            <p:cNvPr id="449" name="组合 448"/>
            <p:cNvGrpSpPr/>
            <p:nvPr/>
          </p:nvGrpSpPr>
          <p:grpSpPr>
            <a:xfrm>
              <a:off x="7608888" y="4340939"/>
              <a:ext cx="1193296" cy="445213"/>
              <a:chOff x="8108576" y="3686840"/>
              <a:chExt cx="1469595" cy="549774"/>
            </a:xfrm>
          </p:grpSpPr>
          <p:sp>
            <p:nvSpPr>
              <p:cNvPr id="450" name="矩形 449"/>
              <p:cNvSpPr/>
              <p:nvPr/>
            </p:nvSpPr>
            <p:spPr>
              <a:xfrm>
                <a:off x="8108576" y="3686840"/>
                <a:ext cx="1469594" cy="274887"/>
              </a:xfrm>
              <a:prstGeom prst="rect">
                <a:avLst/>
              </a:prstGeom>
              <a:solidFill>
                <a:srgbClr val="44546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Forward Table</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sp>
            <p:nvSpPr>
              <p:cNvPr id="451" name="矩形 450"/>
              <p:cNvSpPr/>
              <p:nvPr/>
            </p:nvSpPr>
            <p:spPr>
              <a:xfrm>
                <a:off x="8108576" y="3961727"/>
                <a:ext cx="1469595" cy="274887"/>
              </a:xfrm>
              <a:prstGeom prst="rect">
                <a:avLst/>
              </a:prstGeom>
              <a:solidFill>
                <a:srgbClr val="FFC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Action</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grpSp>
        <p:sp>
          <p:nvSpPr>
            <p:cNvPr id="452" name="圆角矩形 451"/>
            <p:cNvSpPr/>
            <p:nvPr>
              <p:custDataLst>
                <p:tags r:id="rId1"/>
              </p:custDataLst>
            </p:nvPr>
          </p:nvSpPr>
          <p:spPr>
            <a:xfrm>
              <a:off x="6753844" y="5136000"/>
              <a:ext cx="5104906" cy="1130527"/>
            </a:xfrm>
            <a:prstGeom prst="roundRect">
              <a:avLst>
                <a:gd name="adj" fmla="val 4493"/>
              </a:avLst>
            </a:prstGeom>
            <a:solidFill>
              <a:srgbClr val="FFFFFF"/>
            </a:solidFill>
            <a:ln w="19050" cap="flat" cmpd="sng" algn="ctr">
              <a:noFill/>
              <a:prstDash val="solid"/>
              <a:miter lim="800000"/>
            </a:ln>
            <a:effectLst/>
          </p:spPr>
          <p:txBody>
            <a:bodyPr rtlCol="0" anchor="ctr"/>
            <a:lstStyle/>
            <a:p>
              <a:r>
                <a:rPr kumimoji="1" lang="en-US" altLang="zh-CN" sz="1400" b="1" dirty="0">
                  <a:solidFill>
                    <a:srgbClr val="000000"/>
                  </a:solidFill>
                  <a:latin typeface="Microsoft YaHei" panose="020B0503020204020204" pitchFamily="34" charset="-122"/>
                  <a:ea typeface="Microsoft YaHei" panose="020B0503020204020204" pitchFamily="34" charset="-122"/>
                  <a:cs typeface="Arial"/>
                </a:rPr>
                <a:t>Hybrid SDN</a:t>
              </a: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a:t>
              </a: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a:p>
              <a:pPr marL="457200" indent="-457200">
                <a:buFontTx/>
                <a:buAutoNum type="arabicPeriod"/>
              </a:pP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可扩展性：表项数量从</a:t>
              </a:r>
              <a:r>
                <a:rPr kumimoji="1" lang="en-US" altLang="zh-CN" sz="1400" b="1" dirty="0">
                  <a:solidFill>
                    <a:srgbClr val="000000"/>
                  </a:solidFill>
                  <a:latin typeface="Microsoft YaHei" panose="020B0503020204020204" pitchFamily="34" charset="-122"/>
                  <a:ea typeface="Microsoft YaHei" panose="020B0503020204020204" pitchFamily="34" charset="-122"/>
                  <a:cs typeface="Arial"/>
                </a:rPr>
                <a:t>N</a:t>
              </a: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平方到</a:t>
              </a:r>
              <a:r>
                <a:rPr kumimoji="1" lang="en-US" altLang="zh-CN" sz="1400" b="1" dirty="0">
                  <a:solidFill>
                    <a:srgbClr val="000000"/>
                  </a:solidFill>
                  <a:latin typeface="Microsoft YaHei" panose="020B0503020204020204" pitchFamily="34" charset="-122"/>
                  <a:ea typeface="Microsoft YaHei" panose="020B0503020204020204" pitchFamily="34" charset="-122"/>
                  <a:cs typeface="Arial"/>
                </a:rPr>
                <a:t>N</a:t>
              </a:r>
            </a:p>
            <a:p>
              <a:pPr marL="457200" indent="-457200">
                <a:buFontTx/>
                <a:buAutoNum type="arabicPeriod"/>
              </a:pP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可靠性：集中式和分布式相结合，集中式故障分布式还可以维持连通性</a:t>
              </a: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a:p>
              <a:pPr marL="457200" indent="-457200">
                <a:buFontTx/>
                <a:buAutoNum type="arabicPeriod"/>
              </a:pP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高性能：收敛只需要更新头结点</a:t>
              </a: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a:p>
              <a:pPr marL="457200" indent="-457200">
                <a:buFontTx/>
                <a:buAutoNum type="arabicPeriod"/>
              </a:pP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p:txBody>
        </p:sp>
        <p:pic>
          <p:nvPicPr>
            <p:cNvPr id="453" name="图片 452"/>
            <p:cNvPicPr>
              <a:picLocks noChangeAspect="1"/>
            </p:cNvPicPr>
            <p:nvPr/>
          </p:nvPicPr>
          <p:blipFill>
            <a:blip r:embed="rId5"/>
            <a:stretch>
              <a:fillRect/>
            </a:stretch>
          </p:blipFill>
          <p:spPr>
            <a:xfrm>
              <a:off x="7121144" y="707362"/>
              <a:ext cx="4370306" cy="4148146"/>
            </a:xfrm>
            <a:prstGeom prst="rect">
              <a:avLst/>
            </a:prstGeom>
          </p:spPr>
        </p:pic>
      </p:grpSp>
    </p:spTree>
    <p:extLst>
      <p:ext uri="{BB962C8B-B14F-4D97-AF65-F5344CB8AC3E}">
        <p14:creationId xmlns:p14="http://schemas.microsoft.com/office/powerpoint/2010/main" val="2514081625"/>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原理：源路由技术</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197335" y="1350220"/>
            <a:ext cx="11706471" cy="5061566"/>
            <a:chOff x="-20754" y="1059351"/>
            <a:chExt cx="11706471" cy="5465939"/>
          </a:xfrm>
        </p:grpSpPr>
        <p:sp>
          <p:nvSpPr>
            <p:cNvPr id="20" name="圆角矩形 19"/>
            <p:cNvSpPr/>
            <p:nvPr/>
          </p:nvSpPr>
          <p:spPr bwMode="auto">
            <a:xfrm>
              <a:off x="3598071" y="3427716"/>
              <a:ext cx="4872537" cy="1874052"/>
            </a:xfrm>
            <a:prstGeom prst="roundRect">
              <a:avLst>
                <a:gd name="adj" fmla="val 13258"/>
              </a:avLst>
            </a:prstGeom>
            <a:solidFill>
              <a:schemeClr val="bg1">
                <a:lumMod val="90000"/>
              </a:schemeClr>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40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 name="TextBox 190"/>
            <p:cNvSpPr txBox="1"/>
            <p:nvPr/>
          </p:nvSpPr>
          <p:spPr>
            <a:xfrm>
              <a:off x="7571469" y="3434392"/>
              <a:ext cx="578782"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RSG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22" name="直接连接符 21"/>
            <p:cNvCxnSpPr>
              <a:stCxn id="28" idx="3"/>
              <a:endCxn id="44" idx="1"/>
            </p:cNvCxnSpPr>
            <p:nvPr/>
          </p:nvCxnSpPr>
          <p:spPr bwMode="auto">
            <a:xfrm flipV="1">
              <a:off x="8500230" y="4319003"/>
              <a:ext cx="551297" cy="457636"/>
            </a:xfrm>
            <a:prstGeom prst="lin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212"/>
            <p:cNvSpPr txBox="1"/>
            <p:nvPr/>
          </p:nvSpPr>
          <p:spPr>
            <a:xfrm>
              <a:off x="4369549" y="3414238"/>
              <a:ext cx="1020392"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PRE-AGG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 name="TextBox 212"/>
            <p:cNvSpPr txBox="1"/>
            <p:nvPr/>
          </p:nvSpPr>
          <p:spPr>
            <a:xfrm>
              <a:off x="6248648" y="3427716"/>
              <a:ext cx="588551"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ASG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25" name="直接连接符 24"/>
            <p:cNvCxnSpPr>
              <a:stCxn id="27" idx="3"/>
              <a:endCxn id="44" idx="1"/>
            </p:cNvCxnSpPr>
            <p:nvPr/>
          </p:nvCxnSpPr>
          <p:spPr bwMode="auto">
            <a:xfrm>
              <a:off x="8501226" y="3991101"/>
              <a:ext cx="550301" cy="327902"/>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 name="椭圆 25"/>
            <p:cNvSpPr/>
            <p:nvPr/>
          </p:nvSpPr>
          <p:spPr bwMode="auto">
            <a:xfrm>
              <a:off x="6524479" y="3808433"/>
              <a:ext cx="1798875" cy="1191806"/>
            </a:xfrm>
            <a:prstGeom prst="ellips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600" dirty="0">
                <a:latin typeface="微软雅黑" panose="020B0503020204020204" pitchFamily="34" charset="-122"/>
                <a:ea typeface="微软雅黑" panose="020B0503020204020204" pitchFamily="34" charset="-122"/>
                <a:sym typeface="微软雅黑" panose="020B0503020204020204" pitchFamily="34" charset="-122"/>
              </a:endParaRPr>
            </a:p>
          </p:txBody>
        </p:sp>
        <p:pic>
          <p:nvPicPr>
            <p:cNvPr id="27" name="图片 26" descr="图片3.png"/>
            <p:cNvPicPr>
              <a:picLocks/>
            </p:cNvPicPr>
            <p:nvPr/>
          </p:nvPicPr>
          <p:blipFill>
            <a:blip r:embed="rId2" cstate="print"/>
            <a:stretch>
              <a:fillRect/>
            </a:stretch>
          </p:blipFill>
          <p:spPr>
            <a:xfrm>
              <a:off x="7883545" y="3808433"/>
              <a:ext cx="617681" cy="365334"/>
            </a:xfrm>
            <a:prstGeom prst="rect">
              <a:avLst/>
            </a:prstGeom>
          </p:spPr>
        </p:pic>
        <p:pic>
          <p:nvPicPr>
            <p:cNvPr id="28" name="图片 27" descr="图片3.png"/>
            <p:cNvPicPr>
              <a:picLocks/>
            </p:cNvPicPr>
            <p:nvPr/>
          </p:nvPicPr>
          <p:blipFill>
            <a:blip r:embed="rId2" cstate="print"/>
            <a:stretch>
              <a:fillRect/>
            </a:stretch>
          </p:blipFill>
          <p:spPr>
            <a:xfrm>
              <a:off x="7891538" y="4620017"/>
              <a:ext cx="608692" cy="313244"/>
            </a:xfrm>
            <a:prstGeom prst="rect">
              <a:avLst/>
            </a:prstGeom>
          </p:spPr>
        </p:pic>
        <p:pic>
          <p:nvPicPr>
            <p:cNvPr id="29" name="Picture 307" descr="图片234"/>
            <p:cNvPicPr>
              <a:picLocks noChangeAspect="1" noChangeArrowheads="1"/>
            </p:cNvPicPr>
            <p:nvPr/>
          </p:nvPicPr>
          <p:blipFill>
            <a:blip r:embed="rId3" cstate="print"/>
            <a:srcRect/>
            <a:stretch>
              <a:fillRect/>
            </a:stretch>
          </p:blipFill>
          <p:spPr bwMode="auto">
            <a:xfrm>
              <a:off x="6259169" y="4578543"/>
              <a:ext cx="642064" cy="374710"/>
            </a:xfrm>
            <a:prstGeom prst="rect">
              <a:avLst/>
            </a:prstGeom>
            <a:noFill/>
            <a:ln w="9525">
              <a:noFill/>
              <a:miter lim="800000"/>
              <a:headEnd/>
              <a:tailEnd/>
            </a:ln>
          </p:spPr>
        </p:pic>
        <p:cxnSp>
          <p:nvCxnSpPr>
            <p:cNvPr id="30" name="直接连接符 29"/>
            <p:cNvCxnSpPr>
              <a:endCxn id="37" idx="1"/>
            </p:cNvCxnSpPr>
            <p:nvPr/>
          </p:nvCxnSpPr>
          <p:spPr bwMode="auto">
            <a:xfrm flipV="1">
              <a:off x="2618137" y="4451275"/>
              <a:ext cx="658715" cy="220058"/>
            </a:xfrm>
            <a:prstGeom prst="lin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1" name="Picture 508" descr="图片719"/>
            <p:cNvPicPr>
              <a:picLocks noChangeAspect="1" noChangeArrowheads="1"/>
            </p:cNvPicPr>
            <p:nvPr/>
          </p:nvPicPr>
          <p:blipFill>
            <a:blip r:embed="rId4" cstate="print"/>
            <a:srcRect/>
            <a:stretch>
              <a:fillRect/>
            </a:stretch>
          </p:blipFill>
          <p:spPr bwMode="auto">
            <a:xfrm>
              <a:off x="1963756" y="4627903"/>
              <a:ext cx="867224" cy="466056"/>
            </a:xfrm>
            <a:prstGeom prst="rect">
              <a:avLst/>
            </a:prstGeom>
            <a:noFill/>
          </p:spPr>
        </p:pic>
        <p:pic>
          <p:nvPicPr>
            <p:cNvPr id="32" name="Picture 528" descr="图片131"/>
            <p:cNvPicPr>
              <a:picLocks noChangeAspect="1" noChangeArrowheads="1"/>
            </p:cNvPicPr>
            <p:nvPr/>
          </p:nvPicPr>
          <p:blipFill>
            <a:blip r:embed="rId5" cstate="print"/>
            <a:srcRect/>
            <a:stretch>
              <a:fillRect/>
            </a:stretch>
          </p:blipFill>
          <p:spPr bwMode="auto">
            <a:xfrm>
              <a:off x="2101392" y="3784771"/>
              <a:ext cx="616984" cy="569099"/>
            </a:xfrm>
            <a:prstGeom prst="rect">
              <a:avLst/>
            </a:prstGeom>
            <a:noFill/>
          </p:spPr>
        </p:pic>
        <p:cxnSp>
          <p:nvCxnSpPr>
            <p:cNvPr id="33" name="直接连接符 32"/>
            <p:cNvCxnSpPr>
              <a:endCxn id="37" idx="1"/>
            </p:cNvCxnSpPr>
            <p:nvPr/>
          </p:nvCxnSpPr>
          <p:spPr bwMode="auto">
            <a:xfrm>
              <a:off x="2552194" y="4126542"/>
              <a:ext cx="724658" cy="324733"/>
            </a:xfrm>
            <a:prstGeom prst="lin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椭圆 33"/>
            <p:cNvSpPr/>
            <p:nvPr/>
          </p:nvSpPr>
          <p:spPr bwMode="auto">
            <a:xfrm>
              <a:off x="4840641" y="3844268"/>
              <a:ext cx="1660567" cy="1102764"/>
            </a:xfrm>
            <a:prstGeom prst="ellips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600"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 name="椭圆 34"/>
            <p:cNvSpPr/>
            <p:nvPr/>
          </p:nvSpPr>
          <p:spPr bwMode="auto">
            <a:xfrm>
              <a:off x="3571552" y="4043928"/>
              <a:ext cx="1269089" cy="726880"/>
            </a:xfrm>
            <a:prstGeom prst="ellips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600"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 name="TextBox 212"/>
            <p:cNvSpPr txBox="1"/>
            <p:nvPr/>
          </p:nvSpPr>
          <p:spPr>
            <a:xfrm>
              <a:off x="2957141" y="3897146"/>
              <a:ext cx="574874"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CSG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pic>
          <p:nvPicPr>
            <p:cNvPr id="37" name="Picture 307" descr="图片234"/>
            <p:cNvPicPr>
              <a:picLocks noChangeAspect="1" noChangeArrowheads="1"/>
            </p:cNvPicPr>
            <p:nvPr/>
          </p:nvPicPr>
          <p:blipFill>
            <a:blip r:embed="rId3" cstate="print"/>
            <a:srcRect/>
            <a:stretch>
              <a:fillRect/>
            </a:stretch>
          </p:blipFill>
          <p:spPr bwMode="auto">
            <a:xfrm>
              <a:off x="3276852" y="4291507"/>
              <a:ext cx="547525" cy="319537"/>
            </a:xfrm>
            <a:prstGeom prst="rect">
              <a:avLst/>
            </a:prstGeom>
            <a:noFill/>
            <a:ln w="9525">
              <a:noFill/>
              <a:miter lim="800000"/>
              <a:headEnd/>
              <a:tailEnd/>
            </a:ln>
          </p:spPr>
        </p:pic>
        <p:pic>
          <p:nvPicPr>
            <p:cNvPr id="38" name="Picture 307" descr="图片234"/>
            <p:cNvPicPr>
              <a:picLocks noChangeAspect="1" noChangeArrowheads="1"/>
            </p:cNvPicPr>
            <p:nvPr/>
          </p:nvPicPr>
          <p:blipFill>
            <a:blip r:embed="rId3" cstate="print"/>
            <a:srcRect/>
            <a:stretch>
              <a:fillRect/>
            </a:stretch>
          </p:blipFill>
          <p:spPr bwMode="auto">
            <a:xfrm>
              <a:off x="4538416" y="3856172"/>
              <a:ext cx="642064" cy="374710"/>
            </a:xfrm>
            <a:prstGeom prst="rect">
              <a:avLst/>
            </a:prstGeom>
            <a:noFill/>
            <a:ln w="9525">
              <a:noFill/>
              <a:miter lim="800000"/>
              <a:headEnd/>
              <a:tailEnd/>
            </a:ln>
          </p:spPr>
        </p:pic>
        <p:pic>
          <p:nvPicPr>
            <p:cNvPr id="39" name="Picture 307" descr="图片234"/>
            <p:cNvPicPr>
              <a:picLocks noChangeAspect="1" noChangeArrowheads="1"/>
            </p:cNvPicPr>
            <p:nvPr/>
          </p:nvPicPr>
          <p:blipFill>
            <a:blip r:embed="rId3" cstate="print"/>
            <a:srcRect/>
            <a:stretch>
              <a:fillRect/>
            </a:stretch>
          </p:blipFill>
          <p:spPr bwMode="auto">
            <a:xfrm>
              <a:off x="4520456" y="4493414"/>
              <a:ext cx="642064" cy="374710"/>
            </a:xfrm>
            <a:prstGeom prst="rect">
              <a:avLst/>
            </a:prstGeom>
            <a:noFill/>
            <a:ln w="9525">
              <a:noFill/>
              <a:miter lim="800000"/>
              <a:headEnd/>
              <a:tailEnd/>
            </a:ln>
          </p:spPr>
        </p:pic>
        <p:pic>
          <p:nvPicPr>
            <p:cNvPr id="40" name="Picture 307" descr="图片234"/>
            <p:cNvPicPr>
              <a:picLocks noChangeAspect="1" noChangeArrowheads="1"/>
            </p:cNvPicPr>
            <p:nvPr/>
          </p:nvPicPr>
          <p:blipFill>
            <a:blip r:embed="rId3" cstate="print"/>
            <a:srcRect/>
            <a:stretch>
              <a:fillRect/>
            </a:stretch>
          </p:blipFill>
          <p:spPr bwMode="auto">
            <a:xfrm>
              <a:off x="6195604" y="3818014"/>
              <a:ext cx="642064" cy="374710"/>
            </a:xfrm>
            <a:prstGeom prst="rect">
              <a:avLst/>
            </a:prstGeom>
            <a:noFill/>
            <a:ln w="9525">
              <a:noFill/>
              <a:miter lim="800000"/>
              <a:headEnd/>
              <a:tailEnd/>
            </a:ln>
          </p:spPr>
        </p:pic>
        <p:grpSp>
          <p:nvGrpSpPr>
            <p:cNvPr id="41" name="组合 40"/>
            <p:cNvGrpSpPr/>
            <p:nvPr/>
          </p:nvGrpSpPr>
          <p:grpSpPr>
            <a:xfrm>
              <a:off x="8675694" y="3764665"/>
              <a:ext cx="1524949" cy="1291927"/>
              <a:chOff x="9333858" y="4827382"/>
              <a:chExt cx="819695" cy="936444"/>
            </a:xfrm>
          </p:grpSpPr>
          <p:sp>
            <p:nvSpPr>
              <p:cNvPr id="42" name="圆角矩形 41"/>
              <p:cNvSpPr/>
              <p:nvPr/>
            </p:nvSpPr>
            <p:spPr bwMode="auto">
              <a:xfrm>
                <a:off x="9490808" y="4827382"/>
                <a:ext cx="492380" cy="936444"/>
              </a:xfrm>
              <a:prstGeom prst="roundRect">
                <a:avLst>
                  <a:gd name="adj" fmla="val 8596"/>
                </a:avLst>
              </a:prstGeom>
              <a:solidFill>
                <a:srgbClr val="FFFF00">
                  <a:alpha val="40000"/>
                </a:srgbClr>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61" tIns="45731" rIns="91461" bIns="45731" numCol="1" rtlCol="0" anchor="t" anchorCtr="0" compatLnSpc="1">
                <a:prstTxWarp prst="textNoShape">
                  <a:avLst/>
                </a:prstTxWarp>
              </a:bodyPr>
              <a:lstStyle/>
              <a:p>
                <a:pPr defTabSz="914583" fontAlgn="base">
                  <a:spcBef>
                    <a:spcPct val="0"/>
                  </a:spcBef>
                  <a:spcAft>
                    <a:spcPct val="0"/>
                  </a:spcAft>
                  <a:buClr>
                    <a:srgbClr val="CC9900"/>
                  </a:buClr>
                  <a:buFont typeface="Wingdings" pitchFamily="2" charset="2"/>
                  <a:buChar char="n"/>
                </a:pPr>
                <a:endParaRPr lang="zh-CN" altLang="en-US" sz="120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 name="矩形 42"/>
              <p:cNvSpPr/>
              <p:nvPr/>
            </p:nvSpPr>
            <p:spPr>
              <a:xfrm>
                <a:off x="9333858" y="5426701"/>
                <a:ext cx="819695" cy="247581"/>
              </a:xfrm>
              <a:prstGeom prst="rect">
                <a:avLst/>
              </a:prstGeom>
            </p:spPr>
            <p:txBody>
              <a:bodyPr wrap="square">
                <a:spAutoFit/>
              </a:bodyPr>
              <a:lstStyle/>
              <a:p>
                <a:pPr algn="ctr"/>
                <a:r>
                  <a:rPr lang="zh-CN" altLang="en-US" sz="1100" b="1" dirty="0">
                    <a:solidFill>
                      <a:srgbClr val="C00000"/>
                    </a:solidFill>
                    <a:latin typeface="微软雅黑" pitchFamily="34" charset="-122"/>
                    <a:ea typeface="微软雅黑" pitchFamily="34" charset="-122"/>
                    <a:sym typeface="微软雅黑" panose="020B0503020204020204" pitchFamily="34" charset="-122"/>
                  </a:rPr>
                  <a:t>核心网</a:t>
                </a:r>
                <a:endParaRPr lang="en-US" altLang="zh-CN" sz="1100" b="1" dirty="0">
                  <a:solidFill>
                    <a:srgbClr val="C00000"/>
                  </a:solidFill>
                  <a:latin typeface="微软雅黑" pitchFamily="34" charset="-122"/>
                  <a:ea typeface="微软雅黑" pitchFamily="34" charset="-122"/>
                  <a:sym typeface="微软雅黑" panose="020B0503020204020204" pitchFamily="34" charset="-122"/>
                </a:endParaRPr>
              </a:p>
            </p:txBody>
          </p:sp>
          <p:pic>
            <p:nvPicPr>
              <p:cNvPr id="44" name="Picture 367" descr="图片399"/>
              <p:cNvPicPr>
                <a:picLocks noChangeAspect="1" noChangeArrowheads="1"/>
              </p:cNvPicPr>
              <p:nvPr/>
            </p:nvPicPr>
            <p:blipFill>
              <a:blip r:embed="rId6" cstate="print"/>
              <a:srcRect/>
              <a:stretch>
                <a:fillRect/>
              </a:stretch>
            </p:blipFill>
            <p:spPr bwMode="auto">
              <a:xfrm>
                <a:off x="9535877" y="5025893"/>
                <a:ext cx="389931" cy="406595"/>
              </a:xfrm>
              <a:prstGeom prst="rect">
                <a:avLst/>
              </a:prstGeom>
              <a:noFill/>
            </p:spPr>
          </p:pic>
        </p:grpSp>
        <p:sp>
          <p:nvSpPr>
            <p:cNvPr id="45" name="TextBox 212"/>
            <p:cNvSpPr txBox="1"/>
            <p:nvPr/>
          </p:nvSpPr>
          <p:spPr>
            <a:xfrm>
              <a:off x="2969011" y="4741793"/>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1.1.1.1/32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 name="TextBox 212"/>
            <p:cNvSpPr txBox="1"/>
            <p:nvPr/>
          </p:nvSpPr>
          <p:spPr>
            <a:xfrm>
              <a:off x="7613372" y="4126542"/>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6.6.6.6/32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 name="TextBox 212"/>
            <p:cNvSpPr txBox="1"/>
            <p:nvPr/>
          </p:nvSpPr>
          <p:spPr>
            <a:xfrm>
              <a:off x="4686941" y="4193959"/>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2.2.2.2/32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 name="TextBox 212"/>
            <p:cNvSpPr txBox="1"/>
            <p:nvPr/>
          </p:nvSpPr>
          <p:spPr>
            <a:xfrm>
              <a:off x="4366726" y="4956389"/>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3.3.3.3/32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 name="TextBox 212"/>
            <p:cNvSpPr txBox="1"/>
            <p:nvPr/>
          </p:nvSpPr>
          <p:spPr>
            <a:xfrm>
              <a:off x="6099386" y="4132892"/>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4.4.4.4/32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 name="TextBox 212"/>
            <p:cNvSpPr txBox="1"/>
            <p:nvPr/>
          </p:nvSpPr>
          <p:spPr>
            <a:xfrm>
              <a:off x="6095378" y="4973282"/>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5.5.5.5/32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 name="TextBox 212"/>
            <p:cNvSpPr txBox="1"/>
            <p:nvPr/>
          </p:nvSpPr>
          <p:spPr>
            <a:xfrm>
              <a:off x="7585985" y="4994105"/>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7.7.7.7/32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pic>
          <p:nvPicPr>
            <p:cNvPr id="52" name="Picture 307" descr="图片234"/>
            <p:cNvPicPr>
              <a:picLocks noChangeAspect="1" noChangeArrowheads="1"/>
            </p:cNvPicPr>
            <p:nvPr/>
          </p:nvPicPr>
          <p:blipFill>
            <a:blip r:embed="rId3" cstate="print"/>
            <a:srcRect/>
            <a:stretch>
              <a:fillRect/>
            </a:stretch>
          </p:blipFill>
          <p:spPr bwMode="auto">
            <a:xfrm>
              <a:off x="3931469" y="3920485"/>
              <a:ext cx="435256" cy="254017"/>
            </a:xfrm>
            <a:prstGeom prst="rect">
              <a:avLst/>
            </a:prstGeom>
            <a:noFill/>
            <a:ln w="9525">
              <a:noFill/>
              <a:miter lim="800000"/>
              <a:headEnd/>
              <a:tailEnd/>
            </a:ln>
          </p:spPr>
        </p:pic>
        <p:pic>
          <p:nvPicPr>
            <p:cNvPr id="53" name="Picture 307" descr="图片234"/>
            <p:cNvPicPr>
              <a:picLocks noChangeAspect="1" noChangeArrowheads="1"/>
            </p:cNvPicPr>
            <p:nvPr/>
          </p:nvPicPr>
          <p:blipFill>
            <a:blip r:embed="rId3" cstate="print"/>
            <a:srcRect/>
            <a:stretch>
              <a:fillRect/>
            </a:stretch>
          </p:blipFill>
          <p:spPr bwMode="auto">
            <a:xfrm>
              <a:off x="3852265" y="4597716"/>
              <a:ext cx="435256" cy="254017"/>
            </a:xfrm>
            <a:prstGeom prst="rect">
              <a:avLst/>
            </a:prstGeom>
            <a:noFill/>
            <a:ln w="9525">
              <a:noFill/>
              <a:miter lim="800000"/>
              <a:headEnd/>
              <a:tailEnd/>
            </a:ln>
          </p:spPr>
        </p:pic>
        <p:sp>
          <p:nvSpPr>
            <p:cNvPr id="54" name="文本框 53"/>
            <p:cNvSpPr txBox="1"/>
            <p:nvPr/>
          </p:nvSpPr>
          <p:spPr>
            <a:xfrm>
              <a:off x="7666375" y="5173342"/>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en-US" altLang="zh-CN"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16007</a:t>
              </a:r>
              <a:endPar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55" name="组合 54"/>
            <p:cNvGrpSpPr/>
            <p:nvPr/>
          </p:nvGrpSpPr>
          <p:grpSpPr>
            <a:xfrm>
              <a:off x="3677616" y="3171165"/>
              <a:ext cx="2241755" cy="1014387"/>
              <a:chOff x="3677616" y="3171165"/>
              <a:chExt cx="2241755" cy="1014387"/>
            </a:xfrm>
          </p:grpSpPr>
          <p:sp>
            <p:nvSpPr>
              <p:cNvPr id="56" name="圆柱形 55"/>
              <p:cNvSpPr/>
              <p:nvPr/>
            </p:nvSpPr>
            <p:spPr bwMode="auto">
              <a:xfrm rot="5400000">
                <a:off x="4571053" y="2837234"/>
                <a:ext cx="454881" cy="2241755"/>
              </a:xfrm>
              <a:prstGeom prst="can">
                <a:avLst/>
              </a:prstGeom>
              <a:solidFill>
                <a:srgbClr val="00B0F0">
                  <a:alpha val="80000"/>
                </a:srgbClr>
              </a:solidFill>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57" name="直接连接符 56"/>
              <p:cNvCxnSpPr>
                <a:stCxn id="70" idx="3"/>
                <a:endCxn id="56" idx="2"/>
              </p:cNvCxnSpPr>
              <p:nvPr/>
            </p:nvCxnSpPr>
            <p:spPr bwMode="auto">
              <a:xfrm>
                <a:off x="3797302" y="3171165"/>
                <a:ext cx="1001191" cy="559506"/>
              </a:xfrm>
              <a:prstGeom prst="line">
                <a:avLst/>
              </a:prstGeom>
              <a:noFill/>
              <a:ln w="12700" cap="flat" cmpd="sng" algn="ctr">
                <a:solidFill>
                  <a:schemeClr val="tx1"/>
                </a:solidFill>
                <a:prstDash val="sysDot"/>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58" name="右箭头 57"/>
            <p:cNvSpPr/>
            <p:nvPr/>
          </p:nvSpPr>
          <p:spPr bwMode="auto">
            <a:xfrm>
              <a:off x="5137276" y="3056009"/>
              <a:ext cx="499377" cy="323874"/>
            </a:xfrm>
            <a:prstGeom prst="rightArrow">
              <a:avLst/>
            </a:prstGeom>
            <a:solidFill>
              <a:srgbClr val="C00000"/>
            </a:solidFill>
            <a:ln>
              <a:noFill/>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 name="右箭头 58"/>
            <p:cNvSpPr/>
            <p:nvPr/>
          </p:nvSpPr>
          <p:spPr bwMode="auto">
            <a:xfrm>
              <a:off x="5137276" y="2591134"/>
              <a:ext cx="499377" cy="323874"/>
            </a:xfrm>
            <a:prstGeom prst="rightArrow">
              <a:avLst/>
            </a:prstGeom>
            <a:solidFill>
              <a:srgbClr val="C00000"/>
            </a:solidFill>
            <a:ln>
              <a:noFill/>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 name="文本框 59"/>
            <p:cNvSpPr txBox="1"/>
            <p:nvPr/>
          </p:nvSpPr>
          <p:spPr>
            <a:xfrm>
              <a:off x="1581069" y="6006192"/>
              <a:ext cx="8806718" cy="519098"/>
            </a:xfrm>
            <a:prstGeom prst="rect">
              <a:avLst/>
            </a:prstGeom>
            <a:solidFill>
              <a:srgbClr val="0070C0"/>
            </a:solidFill>
          </p:spPr>
          <p:txBody>
            <a:bodyPr wrap="square" rtlCol="0" anchor="ctr">
              <a:noAutofit/>
            </a:bodyPr>
            <a:lstStyle/>
            <a:p>
              <a:pPr algn="ctr">
                <a:lnSpc>
                  <a:spcPct val="150000"/>
                </a:lnSpc>
              </a:pP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根据转发面的不同，</a:t>
              </a:r>
              <a:r>
                <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SR</a:t>
              </a: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分为</a:t>
              </a:r>
              <a:r>
                <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SR MPLS</a:t>
              </a: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和</a:t>
              </a:r>
              <a:r>
                <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SRv6</a:t>
              </a: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两种。</a:t>
              </a:r>
              <a:endPar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 name="文本框 60"/>
            <p:cNvSpPr txBox="1"/>
            <p:nvPr/>
          </p:nvSpPr>
          <p:spPr>
            <a:xfrm>
              <a:off x="5984428" y="3695366"/>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en-US" altLang="zh-CN"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16004</a:t>
              </a:r>
              <a:endPar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62" name="组合 61"/>
            <p:cNvGrpSpPr/>
            <p:nvPr/>
          </p:nvGrpSpPr>
          <p:grpSpPr>
            <a:xfrm>
              <a:off x="-20754" y="2953809"/>
              <a:ext cx="2296781" cy="1338828"/>
              <a:chOff x="9264387" y="2536264"/>
              <a:chExt cx="2452003" cy="1180080"/>
            </a:xfrm>
          </p:grpSpPr>
          <p:sp>
            <p:nvSpPr>
              <p:cNvPr id="63" name="椭圆形标注 62"/>
              <p:cNvSpPr/>
              <p:nvPr/>
            </p:nvSpPr>
            <p:spPr bwMode="auto">
              <a:xfrm>
                <a:off x="9264387" y="2536264"/>
                <a:ext cx="2430973" cy="1176610"/>
              </a:xfrm>
              <a:prstGeom prst="wedgeEllipseCallout">
                <a:avLst>
                  <a:gd name="adj1" fmla="val 50492"/>
                  <a:gd name="adj2" fmla="val -44725"/>
                </a:avLst>
              </a:prstGeom>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 name="TextBox 212"/>
              <p:cNvSpPr txBox="1"/>
              <p:nvPr/>
            </p:nvSpPr>
            <p:spPr>
              <a:xfrm>
                <a:off x="9295917" y="2536264"/>
                <a:ext cx="2420473" cy="1180080"/>
              </a:xfrm>
              <a:prstGeom prst="rect">
                <a:avLst/>
              </a:prstGeom>
              <a:noFill/>
            </p:spPr>
            <p:txBody>
              <a:bodyPr wrap="square" rtlCol="0">
                <a:spAutoFit/>
              </a:bodyPr>
              <a:lstStyle/>
              <a:p>
                <a:pPr algn="ct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头结点压入有序</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Segment</a:t>
                </a: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列表，有序的关键点！</a:t>
                </a:r>
                <a:endParaRPr lang="en-US" altLang="zh-CN" b="1" dirty="0">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65" name="文本框 64"/>
            <p:cNvSpPr txBox="1"/>
            <p:nvPr/>
          </p:nvSpPr>
          <p:spPr>
            <a:xfrm>
              <a:off x="1788456" y="1059351"/>
              <a:ext cx="8512267" cy="553998"/>
            </a:xfrm>
            <a:prstGeom prst="rect">
              <a:avLst/>
            </a:prstGeom>
            <a:solidFill>
              <a:srgbClr val="C00000"/>
            </a:solidFill>
          </p:spPr>
          <p:txBody>
            <a:bodyPr wrap="none" anchor="ctr">
              <a:spAutoFit/>
            </a:bodyPr>
            <a:lstStyle>
              <a:defPPr>
                <a:defRPr lang="zh-CN"/>
              </a:defPPr>
              <a:lvl1pPr>
                <a:lnSpc>
                  <a:spcPct val="150000"/>
                </a:lnSpc>
                <a:defRPr sz="2000" b="1">
                  <a:latin typeface="微软雅黑" panose="020B0503020204020204" pitchFamily="34" charset="-122"/>
                  <a:ea typeface="微软雅黑" panose="020B0503020204020204" pitchFamily="34" charset="-122"/>
                </a:defRPr>
              </a:lvl1pPr>
            </a:lstStyle>
            <a:p>
              <a:r>
                <a:rPr lang="en-US" altLang="zh-CN" dirty="0">
                  <a:solidFill>
                    <a:schemeClr val="bg1"/>
                  </a:solidFill>
                  <a:sym typeface="微软雅黑" panose="020B0503020204020204" pitchFamily="34" charset="-122"/>
                </a:rPr>
                <a:t>Segment</a:t>
              </a:r>
              <a:r>
                <a:rPr lang="zh-CN" altLang="en-US" dirty="0">
                  <a:solidFill>
                    <a:schemeClr val="bg1"/>
                  </a:solidFill>
                  <a:sym typeface="微软雅黑" panose="020B0503020204020204" pitchFamily="34" charset="-122"/>
                </a:rPr>
                <a:t>：本质是指令，指引报文去哪？怎么去？同时表示一个路径段。</a:t>
              </a:r>
              <a:endParaRPr lang="en-US" altLang="zh-CN" dirty="0">
                <a:solidFill>
                  <a:schemeClr val="bg1"/>
                </a:solidFill>
                <a:sym typeface="微软雅黑" panose="020B0503020204020204" pitchFamily="34" charset="-122"/>
              </a:endParaRPr>
            </a:p>
          </p:txBody>
        </p:sp>
        <p:grpSp>
          <p:nvGrpSpPr>
            <p:cNvPr id="66" name="组合 65"/>
            <p:cNvGrpSpPr/>
            <p:nvPr/>
          </p:nvGrpSpPr>
          <p:grpSpPr>
            <a:xfrm>
              <a:off x="2795404" y="1854156"/>
              <a:ext cx="1012132" cy="1456048"/>
              <a:chOff x="2162151" y="1752370"/>
              <a:chExt cx="1012132" cy="1456048"/>
            </a:xfrm>
          </p:grpSpPr>
          <p:grpSp>
            <p:nvGrpSpPr>
              <p:cNvPr id="67" name="组合 66"/>
              <p:cNvGrpSpPr/>
              <p:nvPr/>
            </p:nvGrpSpPr>
            <p:grpSpPr>
              <a:xfrm>
                <a:off x="2162151" y="1752370"/>
                <a:ext cx="1012132" cy="1456048"/>
                <a:chOff x="2109926" y="1782876"/>
                <a:chExt cx="1012132" cy="1456048"/>
              </a:xfrm>
            </p:grpSpPr>
            <p:sp>
              <p:nvSpPr>
                <p:cNvPr id="69" name="文本框 68"/>
                <p:cNvSpPr txBox="1"/>
                <p:nvPr/>
              </p:nvSpPr>
              <p:spPr>
                <a:xfrm>
                  <a:off x="2109926" y="2576110"/>
                  <a:ext cx="1002975" cy="292820"/>
                </a:xfrm>
                <a:prstGeom prst="rect">
                  <a:avLst/>
                </a:prstGeom>
                <a:solidFill>
                  <a:srgbClr val="00B0F0"/>
                </a:solidFill>
              </p:spPr>
              <p:txBody>
                <a:bodyPr wrap="square" rtlCol="0" anchor="ctr">
                  <a:noAutofit/>
                </a:bodyPr>
                <a:lstStyle>
                  <a:defPPr>
                    <a:defRPr lang="zh-CN"/>
                  </a:defPPr>
                  <a:lvl1pPr algn="ctr">
                    <a:lnSpc>
                      <a:spcPct val="150000"/>
                    </a:lnSpc>
                    <a:defRPr sz="1600">
                      <a:solidFill>
                        <a:schemeClr val="bg1"/>
                      </a:solidFill>
                      <a:latin typeface="+mn-ea"/>
                      <a:ea typeface="+mn-ea"/>
                    </a:defRPr>
                  </a:lvl1pPr>
                </a:lstStyle>
                <a:p>
                  <a:r>
                    <a:rPr lang="en-US" altLang="zh-CN" sz="1800" dirty="0">
                      <a:latin typeface="微软雅黑" panose="020B0503020204020204" pitchFamily="34" charset="-122"/>
                      <a:ea typeface="微软雅黑" panose="020B0503020204020204" pitchFamily="34" charset="-122"/>
                      <a:sym typeface="微软雅黑" panose="020B0503020204020204" pitchFamily="34" charset="-122"/>
                    </a:rPr>
                    <a:t>16045</a:t>
                  </a:r>
                </a:p>
              </p:txBody>
            </p:sp>
            <p:sp>
              <p:nvSpPr>
                <p:cNvPr id="70" name="文本框 69"/>
                <p:cNvSpPr txBox="1"/>
                <p:nvPr/>
              </p:nvSpPr>
              <p:spPr>
                <a:xfrm>
                  <a:off x="2109926" y="2960845"/>
                  <a:ext cx="1001898" cy="278079"/>
                </a:xfrm>
                <a:prstGeom prst="rect">
                  <a:avLst/>
                </a:prstGeom>
                <a:solidFill>
                  <a:srgbClr val="00B050"/>
                </a:solidFill>
              </p:spPr>
              <p:txBody>
                <a:bodyPr wrap="square" rtlCol="0" anchor="ctr">
                  <a:noAutofit/>
                </a:bodyPr>
                <a:lstStyle>
                  <a:defPPr>
                    <a:defRPr lang="zh-CN"/>
                  </a:defPPr>
                  <a:lvl1pPr algn="ctr">
                    <a:lnSpc>
                      <a:spcPct val="150000"/>
                    </a:lnSpc>
                    <a:defRPr sz="1600">
                      <a:solidFill>
                        <a:schemeClr val="bg1"/>
                      </a:solidFill>
                      <a:latin typeface="+mn-ea"/>
                      <a:ea typeface="+mn-ea"/>
                    </a:defRPr>
                  </a:lvl1pPr>
                </a:lstStyle>
                <a:p>
                  <a:r>
                    <a:rPr lang="en-US" altLang="zh-CN" sz="1800" dirty="0">
                      <a:latin typeface="微软雅黑" panose="020B0503020204020204" pitchFamily="34" charset="-122"/>
                      <a:ea typeface="微软雅黑" panose="020B0503020204020204" pitchFamily="34" charset="-122"/>
                      <a:sym typeface="微软雅黑" panose="020B0503020204020204" pitchFamily="34" charset="-122"/>
                    </a:rPr>
                    <a:t>16004</a:t>
                  </a:r>
                </a:p>
              </p:txBody>
            </p:sp>
            <p:sp>
              <p:nvSpPr>
                <p:cNvPr id="71" name="Rectangle 5"/>
                <p:cNvSpPr/>
                <p:nvPr/>
              </p:nvSpPr>
              <p:spPr bwMode="auto">
                <a:xfrm>
                  <a:off x="2120160" y="1782876"/>
                  <a:ext cx="1001898" cy="379375"/>
                </a:xfrm>
                <a:prstGeom prst="rect">
                  <a:avLst/>
                </a:prstGeom>
                <a:solidFill>
                  <a:srgbClr val="7030A0"/>
                </a:solidFill>
                <a:ln>
                  <a:noFill/>
                  <a:headEnd/>
                  <a:tailEn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latin typeface="微软雅黑" pitchFamily="34" charset="-122"/>
                      <a:ea typeface="微软雅黑" pitchFamily="34" charset="-122"/>
                      <a:sym typeface="微软雅黑" panose="020B0503020204020204" pitchFamily="34" charset="-122"/>
                    </a:rPr>
                    <a:t>packet</a:t>
                  </a:r>
                  <a:endParaRPr lang="en-GB" altLang="zh-CN" sz="2000" dirty="0">
                    <a:solidFill>
                      <a:schemeClr val="bg1"/>
                    </a:solidFill>
                    <a:latin typeface="微软雅黑" pitchFamily="34" charset="-122"/>
                    <a:ea typeface="微软雅黑" pitchFamily="34" charset="-122"/>
                    <a:sym typeface="微软雅黑" panose="020B0503020204020204" pitchFamily="34" charset="-122"/>
                  </a:endParaRPr>
                </a:p>
              </p:txBody>
            </p:sp>
          </p:grpSp>
          <p:sp>
            <p:nvSpPr>
              <p:cNvPr id="68" name="文本框 67"/>
              <p:cNvSpPr txBox="1"/>
              <p:nvPr/>
            </p:nvSpPr>
            <p:spPr>
              <a:xfrm>
                <a:off x="2162151" y="2204088"/>
                <a:ext cx="1001898" cy="278079"/>
              </a:xfrm>
              <a:prstGeom prst="rect">
                <a:avLst/>
              </a:prstGeom>
              <a:solidFill>
                <a:srgbClr val="00B050"/>
              </a:solidFill>
            </p:spPr>
            <p:txBody>
              <a:bodyPr wrap="square" rtlCol="0" anchor="ctr">
                <a:noAutofit/>
              </a:bodyPr>
              <a:lstStyle>
                <a:defPPr>
                  <a:defRPr lang="zh-CN"/>
                </a:defPPr>
                <a:lvl1pPr algn="ctr">
                  <a:lnSpc>
                    <a:spcPct val="150000"/>
                  </a:lnSpc>
                  <a:defRPr sz="1600">
                    <a:solidFill>
                      <a:schemeClr val="bg1"/>
                    </a:solidFill>
                    <a:latin typeface="+mn-ea"/>
                    <a:ea typeface="+mn-ea"/>
                  </a:defRPr>
                </a:lvl1pPr>
              </a:lstStyle>
              <a:p>
                <a:r>
                  <a:rPr lang="en-US" altLang="zh-CN" sz="1800" dirty="0">
                    <a:latin typeface="微软雅黑" panose="020B0503020204020204" pitchFamily="34" charset="-122"/>
                    <a:ea typeface="微软雅黑" panose="020B0503020204020204" pitchFamily="34" charset="-122"/>
                    <a:sym typeface="微软雅黑" panose="020B0503020204020204" pitchFamily="34" charset="-122"/>
                  </a:rPr>
                  <a:t>16007</a:t>
                </a:r>
              </a:p>
            </p:txBody>
          </p:sp>
        </p:grpSp>
        <p:sp>
          <p:nvSpPr>
            <p:cNvPr id="72" name="文本框 71"/>
            <p:cNvSpPr txBox="1"/>
            <p:nvPr/>
          </p:nvSpPr>
          <p:spPr>
            <a:xfrm>
              <a:off x="6053612" y="5167609"/>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en-US" altLang="zh-CN"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16005</a:t>
              </a:r>
              <a:endPar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73" name="组合 72"/>
            <p:cNvGrpSpPr/>
            <p:nvPr/>
          </p:nvGrpSpPr>
          <p:grpSpPr>
            <a:xfrm>
              <a:off x="3797302" y="2444914"/>
              <a:ext cx="4065114" cy="2575355"/>
              <a:chOff x="3797302" y="2444914"/>
              <a:chExt cx="4065114" cy="2575355"/>
            </a:xfrm>
          </p:grpSpPr>
          <p:cxnSp>
            <p:nvCxnSpPr>
              <p:cNvPr id="74" name="直接连接符 73"/>
              <p:cNvCxnSpPr>
                <a:stCxn id="68" idx="3"/>
                <a:endCxn id="75" idx="2"/>
              </p:cNvCxnSpPr>
              <p:nvPr/>
            </p:nvCxnSpPr>
            <p:spPr bwMode="auto">
              <a:xfrm>
                <a:off x="3797302" y="2444914"/>
                <a:ext cx="3616022" cy="2130557"/>
              </a:xfrm>
              <a:prstGeom prst="line">
                <a:avLst/>
              </a:prstGeom>
              <a:noFill/>
              <a:ln w="12700" cap="flat" cmpd="sng" algn="ctr">
                <a:solidFill>
                  <a:schemeClr val="tx1"/>
                </a:solidFill>
                <a:prstDash val="sysDot"/>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 name="圆柱形 74"/>
              <p:cNvSpPr/>
              <p:nvPr/>
            </p:nvSpPr>
            <p:spPr bwMode="auto">
              <a:xfrm rot="5400000">
                <a:off x="7190925" y="4348777"/>
                <a:ext cx="444798" cy="898185"/>
              </a:xfrm>
              <a:prstGeom prst="can">
                <a:avLst/>
              </a:prstGeom>
              <a:solidFill>
                <a:srgbClr val="00B0F0">
                  <a:alpha val="80000"/>
                </a:srgbClr>
              </a:solidFill>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76" name="矩形 75"/>
            <p:cNvSpPr/>
            <p:nvPr/>
          </p:nvSpPr>
          <p:spPr>
            <a:xfrm>
              <a:off x="6687323" y="2978217"/>
              <a:ext cx="788999" cy="458908"/>
            </a:xfrm>
            <a:prstGeom prst="rect">
              <a:avLst/>
            </a:prstGeom>
          </p:spPr>
          <p:txBody>
            <a:bodyPr wrap="none">
              <a:spAutoFit/>
            </a:bodyPr>
            <a:lstStyle/>
            <a:p>
              <a:pP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节点</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4</a:t>
              </a:r>
            </a:p>
          </p:txBody>
        </p:sp>
        <p:sp>
          <p:nvSpPr>
            <p:cNvPr id="77" name="文本框 76"/>
            <p:cNvSpPr txBox="1"/>
            <p:nvPr/>
          </p:nvSpPr>
          <p:spPr>
            <a:xfrm>
              <a:off x="5723873" y="3037053"/>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到哪？</a:t>
              </a:r>
            </a:p>
          </p:txBody>
        </p:sp>
        <p:sp>
          <p:nvSpPr>
            <p:cNvPr id="78" name="矩形 77"/>
            <p:cNvSpPr/>
            <p:nvPr/>
          </p:nvSpPr>
          <p:spPr>
            <a:xfrm>
              <a:off x="8470608" y="3068804"/>
              <a:ext cx="3185487"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沿着</a:t>
              </a:r>
              <a:r>
                <a:rPr lang="zh-CN" altLang="en-US" b="1" dirty="0">
                  <a:solidFill>
                    <a:srgbClr val="C00000"/>
                  </a:solidFill>
                  <a:latin typeface="微软雅黑" panose="020B0503020204020204" pitchFamily="34" charset="-122"/>
                  <a:ea typeface="微软雅黑" panose="020B0503020204020204" pitchFamily="34" charset="-122"/>
                  <a:sym typeface="微软雅黑" panose="020B0503020204020204" pitchFamily="34" charset="-122"/>
                </a:rPr>
                <a:t>支持负载分担的最短路径</a:t>
              </a:r>
              <a:endParaRPr lang="zh-CN" altLang="en-US" dirty="0">
                <a:solidFill>
                  <a:srgbClr val="C00000"/>
                </a:solidFill>
              </a:endParaRPr>
            </a:p>
          </p:txBody>
        </p:sp>
        <p:sp>
          <p:nvSpPr>
            <p:cNvPr id="79" name="文本框 78"/>
            <p:cNvSpPr txBox="1"/>
            <p:nvPr/>
          </p:nvSpPr>
          <p:spPr>
            <a:xfrm>
              <a:off x="7457340" y="3044906"/>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怎么去？</a:t>
              </a:r>
            </a:p>
          </p:txBody>
        </p:sp>
        <p:sp>
          <p:nvSpPr>
            <p:cNvPr id="80" name="文本框 79"/>
            <p:cNvSpPr txBox="1"/>
            <p:nvPr/>
          </p:nvSpPr>
          <p:spPr>
            <a:xfrm>
              <a:off x="5713830" y="2548651"/>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到哪？</a:t>
              </a:r>
            </a:p>
          </p:txBody>
        </p:sp>
        <p:sp>
          <p:nvSpPr>
            <p:cNvPr id="81" name="矩形 80"/>
            <p:cNvSpPr/>
            <p:nvPr/>
          </p:nvSpPr>
          <p:spPr>
            <a:xfrm>
              <a:off x="6683358" y="2491679"/>
              <a:ext cx="788999" cy="507831"/>
            </a:xfrm>
            <a:prstGeom prst="rect">
              <a:avLst/>
            </a:prstGeom>
          </p:spPr>
          <p:txBody>
            <a:bodyPr wrap="none">
              <a:spAutoFit/>
            </a:bodyPr>
            <a:lstStyle/>
            <a:p>
              <a:pP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邻居</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5</a:t>
              </a:r>
            </a:p>
          </p:txBody>
        </p:sp>
        <p:sp>
          <p:nvSpPr>
            <p:cNvPr id="82" name="文本框 81"/>
            <p:cNvSpPr txBox="1"/>
            <p:nvPr/>
          </p:nvSpPr>
          <p:spPr>
            <a:xfrm>
              <a:off x="7467814" y="2559232"/>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怎么去？</a:t>
              </a:r>
            </a:p>
          </p:txBody>
        </p:sp>
        <p:sp>
          <p:nvSpPr>
            <p:cNvPr id="83" name="矩形 82"/>
            <p:cNvSpPr/>
            <p:nvPr/>
          </p:nvSpPr>
          <p:spPr>
            <a:xfrm>
              <a:off x="8500230" y="2566599"/>
              <a:ext cx="180049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沿着</a:t>
              </a:r>
              <a:r>
                <a:rPr lang="zh-CN" altLang="en-US" b="1" dirty="0">
                  <a:solidFill>
                    <a:srgbClr val="C00000"/>
                  </a:solidFill>
                  <a:latin typeface="微软雅黑" panose="020B0503020204020204" pitchFamily="34" charset="-122"/>
                  <a:ea typeface="微软雅黑" panose="020B0503020204020204" pitchFamily="34" charset="-122"/>
                  <a:sym typeface="微软雅黑" panose="020B0503020204020204" pitchFamily="34" charset="-122"/>
                </a:rPr>
                <a:t>指定出接口</a:t>
              </a:r>
              <a:endParaRPr lang="zh-CN" altLang="en-US" dirty="0">
                <a:solidFill>
                  <a:srgbClr val="C00000"/>
                </a:solidFill>
              </a:endParaRPr>
            </a:p>
          </p:txBody>
        </p:sp>
        <p:sp>
          <p:nvSpPr>
            <p:cNvPr id="84" name="右箭头 83"/>
            <p:cNvSpPr/>
            <p:nvPr/>
          </p:nvSpPr>
          <p:spPr bwMode="auto">
            <a:xfrm>
              <a:off x="5137276" y="2119453"/>
              <a:ext cx="499377" cy="323874"/>
            </a:xfrm>
            <a:prstGeom prst="rightArrow">
              <a:avLst/>
            </a:prstGeom>
            <a:solidFill>
              <a:srgbClr val="C00000"/>
            </a:solidFill>
            <a:ln>
              <a:noFill/>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 name="文本框 84"/>
            <p:cNvSpPr txBox="1"/>
            <p:nvPr/>
          </p:nvSpPr>
          <p:spPr>
            <a:xfrm>
              <a:off x="5713830" y="2076970"/>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到哪？</a:t>
              </a:r>
            </a:p>
          </p:txBody>
        </p:sp>
        <p:sp>
          <p:nvSpPr>
            <p:cNvPr id="86" name="矩形 85"/>
            <p:cNvSpPr/>
            <p:nvPr/>
          </p:nvSpPr>
          <p:spPr>
            <a:xfrm>
              <a:off x="6683358" y="2019998"/>
              <a:ext cx="788999" cy="507831"/>
            </a:xfrm>
            <a:prstGeom prst="rect">
              <a:avLst/>
            </a:prstGeom>
          </p:spPr>
          <p:txBody>
            <a:bodyPr wrap="none">
              <a:spAutoFit/>
            </a:bodyPr>
            <a:lstStyle/>
            <a:p>
              <a:pP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节点</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7</a:t>
              </a:r>
            </a:p>
          </p:txBody>
        </p:sp>
        <p:sp>
          <p:nvSpPr>
            <p:cNvPr id="87" name="文本框 86"/>
            <p:cNvSpPr txBox="1"/>
            <p:nvPr/>
          </p:nvSpPr>
          <p:spPr>
            <a:xfrm>
              <a:off x="7467814" y="2087551"/>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怎么去？</a:t>
              </a:r>
            </a:p>
          </p:txBody>
        </p:sp>
        <p:sp>
          <p:nvSpPr>
            <p:cNvPr id="88" name="矩形 87"/>
            <p:cNvSpPr/>
            <p:nvPr/>
          </p:nvSpPr>
          <p:spPr>
            <a:xfrm>
              <a:off x="8500230" y="2094918"/>
              <a:ext cx="3185487"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沿着</a:t>
              </a:r>
              <a:r>
                <a:rPr lang="zh-CN" altLang="en-US" b="1" dirty="0">
                  <a:solidFill>
                    <a:srgbClr val="C00000"/>
                  </a:solidFill>
                  <a:latin typeface="微软雅黑" panose="020B0503020204020204" pitchFamily="34" charset="-122"/>
                  <a:ea typeface="微软雅黑" panose="020B0503020204020204" pitchFamily="34" charset="-122"/>
                  <a:sym typeface="微软雅黑" panose="020B0503020204020204" pitchFamily="34" charset="-122"/>
                </a:rPr>
                <a:t>支持负载分担的最短路径</a:t>
              </a:r>
              <a:endParaRPr lang="zh-CN" altLang="en-US" dirty="0">
                <a:solidFill>
                  <a:srgbClr val="C00000"/>
                </a:solidFill>
              </a:endParaRPr>
            </a:p>
          </p:txBody>
        </p:sp>
        <p:sp>
          <p:nvSpPr>
            <p:cNvPr id="89" name="文本框 88"/>
            <p:cNvSpPr txBox="1"/>
            <p:nvPr/>
          </p:nvSpPr>
          <p:spPr>
            <a:xfrm rot="16200000">
              <a:off x="6111185" y="4284673"/>
              <a:ext cx="890272" cy="486946"/>
            </a:xfrm>
            <a:prstGeom prst="leftArrow">
              <a:avLst>
                <a:gd name="adj1" fmla="val 50000"/>
                <a:gd name="adj2" fmla="val 55935"/>
              </a:avLst>
            </a:prstGeom>
            <a:solidFill>
              <a:srgbClr val="309ECC"/>
            </a:solidFill>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zh-CN" sz="1400"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a:t>
              </a:r>
              <a:r>
                <a:rPr lang="en-US" altLang="zh-CN" sz="1400" b="1" i="1" dirty="0">
                  <a:solidFill>
                    <a:srgbClr val="FFFF00"/>
                  </a:solidFill>
                  <a:latin typeface="微软雅黑" panose="020B0503020204020204" pitchFamily="34" charset="-122"/>
                  <a:ea typeface="微软雅黑" panose="020B0503020204020204" pitchFamily="34" charset="-122"/>
                  <a:sym typeface="微软雅黑" panose="020B0503020204020204" pitchFamily="34" charset="-122"/>
                </a:rPr>
                <a:t>45</a:t>
              </a:r>
              <a:endParaRPr lang="zh-CN" altLang="en-US" sz="1400" b="1" i="1" dirty="0">
                <a:solidFill>
                  <a:srgbClr val="FFFF00"/>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90" name="组合 89"/>
            <p:cNvGrpSpPr/>
            <p:nvPr/>
          </p:nvGrpSpPr>
          <p:grpSpPr>
            <a:xfrm>
              <a:off x="3798379" y="2793800"/>
              <a:ext cx="2822324" cy="1810168"/>
              <a:chOff x="3798379" y="2793800"/>
              <a:chExt cx="2822324" cy="1810168"/>
            </a:xfrm>
          </p:grpSpPr>
          <p:sp>
            <p:nvSpPr>
              <p:cNvPr id="91" name="圆柱形 90"/>
              <p:cNvSpPr/>
              <p:nvPr/>
            </p:nvSpPr>
            <p:spPr bwMode="auto">
              <a:xfrm rot="10800000">
                <a:off x="6175905" y="4083010"/>
                <a:ext cx="444798" cy="520958"/>
              </a:xfrm>
              <a:prstGeom prst="can">
                <a:avLst/>
              </a:prstGeom>
              <a:solidFill>
                <a:srgbClr val="00B0F0">
                  <a:alpha val="80000"/>
                </a:srgbClr>
              </a:solidFill>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92" name="直接连接符 91"/>
              <p:cNvCxnSpPr>
                <a:stCxn id="69" idx="3"/>
                <a:endCxn id="91" idx="4"/>
              </p:cNvCxnSpPr>
              <p:nvPr/>
            </p:nvCxnSpPr>
            <p:spPr bwMode="auto">
              <a:xfrm>
                <a:off x="3798379" y="2793800"/>
                <a:ext cx="2377526" cy="1549689"/>
              </a:xfrm>
              <a:prstGeom prst="line">
                <a:avLst/>
              </a:prstGeom>
              <a:noFill/>
              <a:ln w="12700" cap="flat" cmpd="sng" algn="ctr">
                <a:solidFill>
                  <a:schemeClr val="tx1"/>
                </a:solidFill>
                <a:prstDash val="sysDot"/>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Tree>
    <p:extLst>
      <p:ext uri="{BB962C8B-B14F-4D97-AF65-F5344CB8AC3E}">
        <p14:creationId xmlns:p14="http://schemas.microsoft.com/office/powerpoint/2010/main" val="4263533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段</a:t>
            </a:r>
            <a:r>
              <a:rPr lang="en-US" altLang="zh-CN" dirty="0"/>
              <a:t>ID</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93" name="矩形 92"/>
          <p:cNvSpPr/>
          <p:nvPr/>
        </p:nvSpPr>
        <p:spPr>
          <a:xfrm>
            <a:off x="5275556" y="2504147"/>
            <a:ext cx="1861283" cy="923330"/>
          </a:xfrm>
          <a:prstGeom prst="rect">
            <a:avLst/>
          </a:prstGeom>
        </p:spPr>
        <p:txBody>
          <a:bodyPr wrap="square">
            <a:spAutoFit/>
          </a:bodyPr>
          <a:lstStyle>
            <a:defPPr/>
          </a:lstStyle>
          <a:p>
            <a:r>
              <a:rPr lang="en-US" altLang="zh-CN" i="1" dirty="0" err="1"/>
              <a:t>参数可以用于该SID，它是可选的</a:t>
            </a:r>
            <a:endParaRPr lang="zh-CN" altLang="en-US" i="1" dirty="0"/>
          </a:p>
        </p:txBody>
      </p:sp>
      <p:grpSp>
        <p:nvGrpSpPr>
          <p:cNvPr id="94" name="组合 93"/>
          <p:cNvGrpSpPr/>
          <p:nvPr/>
        </p:nvGrpSpPr>
        <p:grpSpPr>
          <a:xfrm>
            <a:off x="942623" y="1380287"/>
            <a:ext cx="5586745" cy="462816"/>
            <a:chOff x="2305772" y="1268760"/>
            <a:chExt cx="4354386" cy="720081"/>
          </a:xfrm>
        </p:grpSpPr>
        <p:grpSp>
          <p:nvGrpSpPr>
            <p:cNvPr id="95" name="组合 6"/>
            <p:cNvGrpSpPr/>
            <p:nvPr/>
          </p:nvGrpSpPr>
          <p:grpSpPr>
            <a:xfrm>
              <a:off x="2305772" y="1268761"/>
              <a:ext cx="3274267" cy="720080"/>
              <a:chOff x="4579145" y="2060848"/>
              <a:chExt cx="2385543" cy="407031"/>
            </a:xfrm>
          </p:grpSpPr>
          <p:sp>
            <p:nvSpPr>
              <p:cNvPr id="97" name="矩形 96"/>
              <p:cNvSpPr/>
              <p:nvPr/>
            </p:nvSpPr>
            <p:spPr bwMode="auto">
              <a:xfrm>
                <a:off x="4579145" y="2060848"/>
                <a:ext cx="856877" cy="407031"/>
              </a:xfrm>
              <a:prstGeom prst="rect">
                <a:avLst/>
              </a:prstGeom>
              <a:solidFill>
                <a:srgbClr val="FFCC99">
                  <a:lumMod val="75000"/>
                </a:srgbClr>
              </a:solidFill>
              <a:ln w="9525" cap="flat" cmpd="sng" algn="ctr">
                <a:solidFill>
                  <a:srgbClr val="000000"/>
                </a:solidFill>
                <a:prstDash val="solid"/>
                <a:round/>
                <a:headEnd type="none" w="med" len="med"/>
                <a:tailEnd type="none" w="med" len="med"/>
              </a:ln>
              <a:effectLst/>
            </p:spPr>
            <p:txBody>
              <a:bodyPr vert="horz" wrap="square" lIns="91217" tIns="45608" rIns="91217" bIns="45608" numCol="1" rtlCol="0" anchor="ctr" anchorCtr="0" compatLnSpc="1">
                <a:prstTxWarp prst="textNoShape">
                  <a:avLst/>
                </a:prstTxWarp>
              </a:bodyPr>
              <a:lstStyle>
                <a:defPPr/>
              </a:lstStyle>
              <a:p>
                <a:pPr marL="269144" indent="-269144" algn="ctr" defTabSz="912109">
                  <a:buClr>
                    <a:srgbClr val="5F5F5F"/>
                  </a:buClr>
                  <a:buSzPct val="80000"/>
                  <a:defRPr/>
                </a:pPr>
                <a:r>
                  <a:rPr lang="en-US" altLang="zh-CN" sz="2400" b="1" kern="0" dirty="0">
                    <a:solidFill>
                      <a:schemeClr val="bg1"/>
                    </a:solidFill>
                  </a:rPr>
                  <a:t>Locator</a:t>
                </a:r>
                <a:endParaRPr lang="zh-CN" altLang="en-US" sz="2400" b="1" kern="0" dirty="0">
                  <a:solidFill>
                    <a:schemeClr val="bg1"/>
                  </a:solidFill>
                </a:endParaRPr>
              </a:p>
            </p:txBody>
          </p:sp>
          <p:sp>
            <p:nvSpPr>
              <p:cNvPr id="98" name="矩形 97"/>
              <p:cNvSpPr/>
              <p:nvPr/>
            </p:nvSpPr>
            <p:spPr bwMode="auto">
              <a:xfrm>
                <a:off x="5436022" y="2060848"/>
                <a:ext cx="1528666" cy="407031"/>
              </a:xfrm>
              <a:prstGeom prst="rect">
                <a:avLst/>
              </a:prstGeom>
              <a:solidFill>
                <a:srgbClr val="00B0F0"/>
              </a:solidFill>
              <a:ln w="9525" cap="flat" cmpd="sng" algn="ctr">
                <a:solidFill>
                  <a:srgbClr val="000000"/>
                </a:solidFill>
                <a:prstDash val="solid"/>
                <a:round/>
                <a:headEnd type="none" w="med" len="med"/>
                <a:tailEnd type="none" w="med" len="med"/>
              </a:ln>
              <a:effectLst/>
            </p:spPr>
            <p:txBody>
              <a:bodyPr vert="horz" wrap="square" lIns="91217" tIns="45608" rIns="91217" bIns="45608" numCol="1" rtlCol="0" anchor="ctr" anchorCtr="0" compatLnSpc="1">
                <a:prstTxWarp prst="textNoShape">
                  <a:avLst/>
                </a:prstTxWarp>
              </a:bodyPr>
              <a:lstStyle>
                <a:defPPr/>
              </a:lstStyle>
              <a:p>
                <a:pPr marL="269144" indent="-269144" algn="ctr" defTabSz="912109">
                  <a:spcBef>
                    <a:spcPct val="0"/>
                  </a:spcBef>
                  <a:spcAft>
                    <a:spcPct val="0"/>
                  </a:spcAft>
                  <a:buClr>
                    <a:srgbClr val="5F5F5F"/>
                  </a:buClr>
                  <a:buSzPct val="80000"/>
                  <a:defRPr/>
                </a:pPr>
                <a:r>
                  <a:rPr lang="en-US" altLang="zh-CN" sz="2400" b="1" kern="0" dirty="0">
                    <a:solidFill>
                      <a:schemeClr val="bg1"/>
                    </a:solidFill>
                  </a:rPr>
                  <a:t>Function</a:t>
                </a:r>
                <a:endParaRPr lang="zh-CN" altLang="en-US" sz="2400" b="1" kern="0" dirty="0">
                  <a:solidFill>
                    <a:schemeClr val="bg1"/>
                  </a:solidFill>
                </a:endParaRPr>
              </a:p>
            </p:txBody>
          </p:sp>
        </p:grpSp>
        <p:sp>
          <p:nvSpPr>
            <p:cNvPr id="96" name="矩形 95"/>
            <p:cNvSpPr/>
            <p:nvPr/>
          </p:nvSpPr>
          <p:spPr bwMode="auto">
            <a:xfrm>
              <a:off x="5580038" y="1268760"/>
              <a:ext cx="1080120" cy="720080"/>
            </a:xfrm>
            <a:prstGeom prst="rect">
              <a:avLst/>
            </a:prstGeom>
            <a:solidFill>
              <a:srgbClr val="92D050"/>
            </a:solidFill>
            <a:ln w="9525" cap="flat" cmpd="sng" algn="ctr">
              <a:solidFill>
                <a:srgbClr val="000000"/>
              </a:solidFill>
              <a:prstDash val="solid"/>
              <a:round/>
              <a:headEnd type="none" w="med" len="med"/>
              <a:tailEnd type="none" w="med" len="med"/>
            </a:ln>
            <a:effectLst/>
          </p:spPr>
          <p:txBody>
            <a:bodyPr vert="horz" wrap="square" lIns="91217" tIns="45608" rIns="91217" bIns="45608" numCol="1" rtlCol="0" anchor="ctr" anchorCtr="0" compatLnSpc="1">
              <a:prstTxWarp prst="textNoShape">
                <a:avLst/>
              </a:prstTxWarp>
            </a:bodyPr>
            <a:lstStyle>
              <a:defPPr/>
            </a:lstStyle>
            <a:p>
              <a:pPr marL="269144" indent="-269144" algn="ctr" defTabSz="912109">
                <a:spcBef>
                  <a:spcPct val="0"/>
                </a:spcBef>
                <a:spcAft>
                  <a:spcPct val="0"/>
                </a:spcAft>
                <a:buClr>
                  <a:srgbClr val="5F5F5F"/>
                </a:buClr>
                <a:buSzPct val="80000"/>
                <a:defRPr/>
              </a:pPr>
              <a:r>
                <a:rPr lang="en-US" altLang="zh-CN" sz="2400" b="1" kern="0" dirty="0" err="1">
                  <a:solidFill>
                    <a:schemeClr val="bg1"/>
                  </a:solidFill>
                </a:rPr>
                <a:t>Args</a:t>
              </a:r>
              <a:endParaRPr lang="zh-CN" altLang="en-US" sz="2400" b="1" kern="0" dirty="0">
                <a:solidFill>
                  <a:schemeClr val="bg1"/>
                </a:solidFill>
              </a:endParaRPr>
            </a:p>
          </p:txBody>
        </p:sp>
      </p:grpSp>
      <p:cxnSp>
        <p:nvCxnSpPr>
          <p:cNvPr id="99" name="直接箭头连接符 98"/>
          <p:cNvCxnSpPr/>
          <p:nvPr/>
        </p:nvCxnSpPr>
        <p:spPr bwMode="auto">
          <a:xfrm>
            <a:off x="948358" y="2000542"/>
            <a:ext cx="1523472" cy="0"/>
          </a:xfrm>
          <a:prstGeom prst="straightConnector1">
            <a:avLst/>
          </a:prstGeom>
          <a:noFill/>
          <a:ln w="9525" cap="flat" cmpd="sng" algn="ctr">
            <a:solidFill>
              <a:srgbClr val="FFC000"/>
            </a:solidFill>
            <a:prstDash val="solid"/>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0" name="直接箭头连接符 99"/>
          <p:cNvCxnSpPr/>
          <p:nvPr/>
        </p:nvCxnSpPr>
        <p:spPr bwMode="auto">
          <a:xfrm flipV="1">
            <a:off x="2551777" y="2005050"/>
            <a:ext cx="2583003" cy="0"/>
          </a:xfrm>
          <a:prstGeom prst="straightConnector1">
            <a:avLst/>
          </a:prstGeom>
          <a:noFill/>
          <a:ln w="9525" cap="flat" cmpd="sng" algn="ctr">
            <a:solidFill>
              <a:srgbClr val="6699FF"/>
            </a:solidFill>
            <a:prstDash val="solid"/>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直接箭头连接符 100"/>
          <p:cNvCxnSpPr/>
          <p:nvPr/>
        </p:nvCxnSpPr>
        <p:spPr bwMode="auto">
          <a:xfrm>
            <a:off x="5219288" y="2000542"/>
            <a:ext cx="1296000" cy="0"/>
          </a:xfrm>
          <a:prstGeom prst="straightConnector1">
            <a:avLst/>
          </a:prstGeom>
          <a:noFill/>
          <a:ln w="9525" cap="flat" cmpd="sng" algn="ctr">
            <a:solidFill>
              <a:srgbClr val="00B050"/>
            </a:solidFill>
            <a:prstDash val="solid"/>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2" name="矩形 101"/>
          <p:cNvSpPr/>
          <p:nvPr/>
        </p:nvSpPr>
        <p:spPr>
          <a:xfrm>
            <a:off x="1147937" y="1995196"/>
            <a:ext cx="1184271" cy="366126"/>
          </a:xfrm>
          <a:prstGeom prst="rect">
            <a:avLst/>
          </a:prstGeom>
        </p:spPr>
        <p:txBody>
          <a:bodyPr wrap="square">
            <a:spAutoFit/>
          </a:bodyPr>
          <a:lstStyle>
            <a:defPPr/>
          </a:lstStyle>
          <a:p>
            <a:r>
              <a:rPr lang="en-US" altLang="zh-CN" i="1"/>
              <a:t>长度X</a:t>
            </a:r>
            <a:endParaRPr lang="zh-CN" altLang="en-US" i="1"/>
          </a:p>
        </p:txBody>
      </p:sp>
      <p:sp>
        <p:nvSpPr>
          <p:cNvPr id="103" name="矩形 102"/>
          <p:cNvSpPr/>
          <p:nvPr/>
        </p:nvSpPr>
        <p:spPr>
          <a:xfrm>
            <a:off x="3308177" y="1995196"/>
            <a:ext cx="1184271" cy="366126"/>
          </a:xfrm>
          <a:prstGeom prst="rect">
            <a:avLst/>
          </a:prstGeom>
        </p:spPr>
        <p:txBody>
          <a:bodyPr wrap="square">
            <a:spAutoFit/>
          </a:bodyPr>
          <a:lstStyle>
            <a:defPPr/>
          </a:lstStyle>
          <a:p>
            <a:r>
              <a:rPr lang="en-US" altLang="zh-CN"/>
              <a:t>长度Y</a:t>
            </a:r>
            <a:endParaRPr lang="zh-CN" altLang="en-US"/>
          </a:p>
        </p:txBody>
      </p:sp>
      <p:sp>
        <p:nvSpPr>
          <p:cNvPr id="104" name="矩形 103"/>
          <p:cNvSpPr/>
          <p:nvPr/>
        </p:nvSpPr>
        <p:spPr>
          <a:xfrm>
            <a:off x="5396408" y="1978941"/>
            <a:ext cx="1184271" cy="366126"/>
          </a:xfrm>
          <a:prstGeom prst="rect">
            <a:avLst/>
          </a:prstGeom>
        </p:spPr>
        <p:txBody>
          <a:bodyPr wrap="square">
            <a:spAutoFit/>
          </a:bodyPr>
          <a:lstStyle>
            <a:defPPr/>
          </a:lstStyle>
          <a:p>
            <a:r>
              <a:rPr lang="en-US" altLang="zh-CN"/>
              <a:t>长度Z</a:t>
            </a:r>
            <a:endParaRPr lang="zh-CN" altLang="en-US"/>
          </a:p>
        </p:txBody>
      </p:sp>
      <p:sp>
        <p:nvSpPr>
          <p:cNvPr id="105" name="矩形 104"/>
          <p:cNvSpPr/>
          <p:nvPr/>
        </p:nvSpPr>
        <p:spPr>
          <a:xfrm>
            <a:off x="510738" y="2430422"/>
            <a:ext cx="1855499" cy="640720"/>
          </a:xfrm>
          <a:prstGeom prst="rect">
            <a:avLst/>
          </a:prstGeom>
        </p:spPr>
        <p:txBody>
          <a:bodyPr wrap="square">
            <a:spAutoFit/>
          </a:bodyPr>
          <a:lstStyle>
            <a:defPPr/>
          </a:lstStyle>
          <a:p>
            <a:r>
              <a:rPr lang="en-US" altLang="zh-CN" i="1" dirty="0" err="1"/>
              <a:t>网络中应该执行</a:t>
            </a:r>
            <a:r>
              <a:rPr lang="zh-CN" altLang="en-US" i="1" dirty="0"/>
              <a:t>对应</a:t>
            </a:r>
            <a:r>
              <a:rPr lang="en-US" altLang="zh-CN" i="1" dirty="0" err="1"/>
              <a:t>功能的节点</a:t>
            </a:r>
            <a:endParaRPr lang="zh-CN" altLang="en-US" i="1" dirty="0"/>
          </a:p>
        </p:txBody>
      </p:sp>
      <p:sp>
        <p:nvSpPr>
          <p:cNvPr id="106" name="矩形 105"/>
          <p:cNvSpPr/>
          <p:nvPr/>
        </p:nvSpPr>
        <p:spPr>
          <a:xfrm>
            <a:off x="2703952" y="2430422"/>
            <a:ext cx="2695148" cy="640720"/>
          </a:xfrm>
          <a:prstGeom prst="rect">
            <a:avLst/>
          </a:prstGeom>
        </p:spPr>
        <p:txBody>
          <a:bodyPr wrap="square">
            <a:spAutoFit/>
          </a:bodyPr>
          <a:lstStyle>
            <a:defPPr/>
          </a:lstStyle>
          <a:p>
            <a:r>
              <a:rPr lang="en-US" altLang="zh-CN" i="1" dirty="0" err="1"/>
              <a:t>与该节点绑定的任何可能的本地</a:t>
            </a:r>
            <a:r>
              <a:rPr lang="zh-CN" altLang="en-US" i="1" dirty="0"/>
              <a:t>功能</a:t>
            </a:r>
          </a:p>
        </p:txBody>
      </p:sp>
      <p:cxnSp>
        <p:nvCxnSpPr>
          <p:cNvPr id="107" name="直接连接符 106"/>
          <p:cNvCxnSpPr/>
          <p:nvPr/>
        </p:nvCxnSpPr>
        <p:spPr bwMode="auto">
          <a:xfrm flipH="1">
            <a:off x="2551776" y="1795921"/>
            <a:ext cx="0" cy="840947"/>
          </a:xfrm>
          <a:prstGeom prst="line">
            <a:avLst/>
          </a:prstGeom>
          <a:noFill/>
          <a:ln w="9525" cap="flat" cmpd="sng" algn="ctr">
            <a:solidFill>
              <a:schemeClr val="bg1">
                <a:lumMod val="75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直接连接符 107"/>
          <p:cNvCxnSpPr/>
          <p:nvPr/>
        </p:nvCxnSpPr>
        <p:spPr bwMode="auto">
          <a:xfrm flipH="1">
            <a:off x="388740" y="1853977"/>
            <a:ext cx="559618" cy="739601"/>
          </a:xfrm>
          <a:prstGeom prst="line">
            <a:avLst/>
          </a:prstGeom>
          <a:noFill/>
          <a:ln w="9525" cap="flat" cmpd="sng" algn="ctr">
            <a:solidFill>
              <a:schemeClr val="bg1">
                <a:lumMod val="75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直接连接符 108"/>
          <p:cNvCxnSpPr/>
          <p:nvPr/>
        </p:nvCxnSpPr>
        <p:spPr bwMode="auto">
          <a:xfrm>
            <a:off x="6577220" y="1830266"/>
            <a:ext cx="559618" cy="739601"/>
          </a:xfrm>
          <a:prstGeom prst="line">
            <a:avLst/>
          </a:prstGeom>
          <a:noFill/>
          <a:ln w="9525" cap="flat" cmpd="sng" algn="ctr">
            <a:solidFill>
              <a:schemeClr val="bg1">
                <a:lumMod val="75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0" name="矩形 109"/>
          <p:cNvSpPr/>
          <p:nvPr/>
        </p:nvSpPr>
        <p:spPr>
          <a:xfrm>
            <a:off x="0" y="1974997"/>
            <a:ext cx="1245859" cy="366126"/>
          </a:xfrm>
          <a:prstGeom prst="rect">
            <a:avLst/>
          </a:prstGeom>
        </p:spPr>
        <p:txBody>
          <a:bodyPr wrap="square">
            <a:spAutoFit/>
          </a:bodyPr>
          <a:lstStyle>
            <a:defPPr/>
          </a:lstStyle>
          <a:p>
            <a:r>
              <a:rPr lang="zh-CN" altLang="en-US" i="1" dirty="0">
                <a:solidFill>
                  <a:srgbClr val="FF0000"/>
                </a:solidFill>
              </a:rPr>
              <a:t>用于路由</a:t>
            </a:r>
          </a:p>
        </p:txBody>
      </p:sp>
      <p:sp>
        <p:nvSpPr>
          <p:cNvPr id="111" name="矩形 110"/>
          <p:cNvSpPr/>
          <p:nvPr/>
        </p:nvSpPr>
        <p:spPr>
          <a:xfrm>
            <a:off x="388739" y="3488298"/>
            <a:ext cx="6748099" cy="3046960"/>
          </a:xfrm>
          <a:prstGeom prst="rect">
            <a:avLst/>
          </a:prstGeom>
          <a:ln>
            <a:solidFill>
              <a:srgbClr val="0070C0"/>
            </a:solidFill>
            <a:prstDash val="dash"/>
          </a:ln>
        </p:spPr>
        <p:txBody>
          <a:bodyPr wrap="square" lIns="91412" tIns="45706" rIns="91412" bIns="45706">
            <a:spAutoFit/>
          </a:bodyPr>
          <a:lstStyle>
            <a:defPPr/>
          </a:lstStyle>
          <a:p>
            <a:r>
              <a:rPr lang="en-US" altLang="zh-CN" sz="1600" b="1" kern="0" dirty="0">
                <a:solidFill>
                  <a:srgbClr val="0070C0"/>
                </a:solidFill>
              </a:rPr>
              <a:t>SRv6 Sid: </a:t>
            </a:r>
            <a:r>
              <a:rPr lang="zh-CN" altLang="en-US" sz="1600" b="1" kern="0" dirty="0">
                <a:solidFill>
                  <a:srgbClr val="0070C0"/>
                </a:solidFill>
              </a:rPr>
              <a:t>标识</a:t>
            </a:r>
            <a:r>
              <a:rPr lang="en-US" altLang="zh-CN" sz="1600" b="1" kern="0" dirty="0">
                <a:solidFill>
                  <a:srgbClr val="0070C0"/>
                </a:solidFill>
              </a:rPr>
              <a:t>SRv6 Segment </a:t>
            </a:r>
            <a:r>
              <a:rPr lang="zh-CN" altLang="en-US" sz="1600" b="1" kern="0" dirty="0">
                <a:solidFill>
                  <a:srgbClr val="0070C0"/>
                </a:solidFill>
              </a:rPr>
              <a:t>的</a:t>
            </a:r>
            <a:r>
              <a:rPr lang="en-US" altLang="zh-CN" sz="1600" b="1" kern="0" dirty="0">
                <a:solidFill>
                  <a:srgbClr val="0070C0"/>
                </a:solidFill>
              </a:rPr>
              <a:t>ID </a:t>
            </a:r>
            <a:r>
              <a:rPr lang="zh-CN" altLang="en-US" sz="1600" b="1" kern="0" dirty="0">
                <a:solidFill>
                  <a:srgbClr val="0070C0"/>
                </a:solidFill>
              </a:rPr>
              <a:t>被称为</a:t>
            </a:r>
            <a:r>
              <a:rPr lang="en-US" altLang="zh-CN" sz="1600" b="1" kern="0" dirty="0">
                <a:solidFill>
                  <a:srgbClr val="0070C0"/>
                </a:solidFill>
              </a:rPr>
              <a:t>SRv6 SID</a:t>
            </a:r>
            <a:r>
              <a:rPr lang="zh-CN" altLang="en-US" sz="1600" b="1" kern="0" dirty="0">
                <a:solidFill>
                  <a:srgbClr val="0070C0"/>
                </a:solidFill>
              </a:rPr>
              <a:t>，</a:t>
            </a:r>
            <a:r>
              <a:rPr lang="en-US" altLang="zh-CN" sz="1600" b="1" kern="0" dirty="0">
                <a:solidFill>
                  <a:srgbClr val="0070C0"/>
                </a:solidFill>
              </a:rPr>
              <a:t>SRv6 SID</a:t>
            </a:r>
          </a:p>
          <a:p>
            <a:r>
              <a:rPr lang="zh-CN" altLang="en-US" sz="1600" b="1" kern="0" dirty="0">
                <a:solidFill>
                  <a:srgbClr val="0070C0"/>
                </a:solidFill>
              </a:rPr>
              <a:t>是一个</a:t>
            </a:r>
            <a:r>
              <a:rPr lang="en-US" altLang="zh-CN" sz="1600" b="1" kern="0" dirty="0">
                <a:solidFill>
                  <a:srgbClr val="0070C0"/>
                </a:solidFill>
              </a:rPr>
              <a:t>128 bit </a:t>
            </a:r>
            <a:r>
              <a:rPr lang="zh-CN" altLang="en-US" sz="1600" b="1" kern="0" dirty="0">
                <a:solidFill>
                  <a:srgbClr val="0070C0"/>
                </a:solidFill>
              </a:rPr>
              <a:t>的值，它通常由</a:t>
            </a:r>
            <a:r>
              <a:rPr lang="en-US" altLang="zh-CN" sz="1600" b="1" kern="0" dirty="0">
                <a:solidFill>
                  <a:srgbClr val="0070C0"/>
                </a:solidFill>
              </a:rPr>
              <a:t>3 </a:t>
            </a:r>
            <a:r>
              <a:rPr lang="zh-CN" altLang="en-US" sz="1600" b="1" kern="0" dirty="0">
                <a:solidFill>
                  <a:srgbClr val="0070C0"/>
                </a:solidFill>
              </a:rPr>
              <a:t>个部分组成。</a:t>
            </a:r>
            <a:endParaRPr lang="en-US" altLang="zh-CN" sz="1600" b="1" kern="0" dirty="0">
              <a:solidFill>
                <a:srgbClr val="0070C0"/>
              </a:solidFill>
            </a:endParaRPr>
          </a:p>
          <a:p>
            <a:pPr marL="285750" indent="-285750">
              <a:buFont typeface="Wingdings" panose="05000000000000000000" pitchFamily="2" charset="2"/>
              <a:buChar char="Ø"/>
            </a:pPr>
            <a:r>
              <a:rPr lang="en-US" altLang="zh-CN" sz="1600" b="1" kern="0" dirty="0">
                <a:solidFill>
                  <a:srgbClr val="0070C0"/>
                </a:solidFill>
              </a:rPr>
              <a:t>Locator: Locator </a:t>
            </a:r>
            <a:r>
              <a:rPr lang="zh-CN" altLang="en-US" sz="1600" b="1" kern="0" dirty="0">
                <a:solidFill>
                  <a:srgbClr val="0070C0"/>
                </a:solidFill>
              </a:rPr>
              <a:t>是网络拓扑中一个网络节点的标识，用于路由和转发报文到该节点。</a:t>
            </a:r>
            <a:r>
              <a:rPr lang="en-US" altLang="zh-CN" sz="1600" b="1" kern="0" dirty="0">
                <a:solidFill>
                  <a:srgbClr val="0070C0"/>
                </a:solidFill>
              </a:rPr>
              <a:t>Locator </a:t>
            </a:r>
            <a:r>
              <a:rPr lang="zh-CN" altLang="en-US" sz="1600" b="1" kern="0" dirty="0">
                <a:solidFill>
                  <a:srgbClr val="0070C0"/>
                </a:solidFill>
              </a:rPr>
              <a:t>标识的位置信息有两个重要的属性：可路由和可聚合。</a:t>
            </a:r>
            <a:endParaRPr lang="en-US" altLang="zh-CN" sz="1600" b="1" kern="0" dirty="0">
              <a:solidFill>
                <a:srgbClr val="0070C0"/>
              </a:solidFill>
            </a:endParaRPr>
          </a:p>
          <a:p>
            <a:pPr marL="285750" indent="-285750">
              <a:buFont typeface="Wingdings" panose="05000000000000000000" pitchFamily="2" charset="2"/>
              <a:buChar char="Ø"/>
            </a:pPr>
            <a:r>
              <a:rPr lang="en-US" altLang="zh-CN" sz="1600" b="1" kern="0" dirty="0">
                <a:solidFill>
                  <a:srgbClr val="0070C0"/>
                </a:solidFill>
              </a:rPr>
              <a:t>Function : Function </a:t>
            </a:r>
            <a:r>
              <a:rPr lang="zh-CN" altLang="en-US" sz="1600" b="1" kern="0" dirty="0">
                <a:solidFill>
                  <a:srgbClr val="0070C0"/>
                </a:solidFill>
              </a:rPr>
              <a:t>用来表达该指令要执行的转发动作， 相当于计算机指令的</a:t>
            </a:r>
            <a:r>
              <a:rPr lang="en-US" altLang="zh-CN" sz="1600" b="1" kern="0" dirty="0" err="1">
                <a:solidFill>
                  <a:srgbClr val="0070C0"/>
                </a:solidFill>
              </a:rPr>
              <a:t>Opcode</a:t>
            </a:r>
            <a:r>
              <a:rPr lang="zh-CN" altLang="en-US" sz="1600" b="1" kern="0" dirty="0">
                <a:solidFill>
                  <a:srgbClr val="0070C0"/>
                </a:solidFill>
              </a:rPr>
              <a:t>。在</a:t>
            </a:r>
            <a:r>
              <a:rPr lang="en-US" altLang="zh-CN" sz="1600" b="1" kern="0" dirty="0">
                <a:solidFill>
                  <a:srgbClr val="0070C0"/>
                </a:solidFill>
              </a:rPr>
              <a:t>SRv6 </a:t>
            </a:r>
            <a:r>
              <a:rPr lang="zh-CN" altLang="en-US" sz="1600" b="1" kern="0" dirty="0">
                <a:solidFill>
                  <a:srgbClr val="0070C0"/>
                </a:solidFill>
              </a:rPr>
              <a:t>网络编程中，不同的转发行为由不同的</a:t>
            </a:r>
            <a:r>
              <a:rPr lang="en-US" altLang="zh-CN" sz="1600" b="1" kern="0" dirty="0">
                <a:solidFill>
                  <a:srgbClr val="0070C0"/>
                </a:solidFill>
              </a:rPr>
              <a:t>Function </a:t>
            </a:r>
            <a:r>
              <a:rPr lang="zh-CN" altLang="en-US" sz="1600" b="1" kern="0" dirty="0">
                <a:solidFill>
                  <a:srgbClr val="0070C0"/>
                </a:solidFill>
              </a:rPr>
              <a:t>来表达。和计算机的指令类似，按照不同功能将</a:t>
            </a:r>
            <a:r>
              <a:rPr lang="en-US" altLang="zh-CN" sz="1600" b="1" kern="0" dirty="0">
                <a:solidFill>
                  <a:srgbClr val="0070C0"/>
                </a:solidFill>
              </a:rPr>
              <a:t>Function </a:t>
            </a:r>
            <a:r>
              <a:rPr lang="zh-CN" altLang="en-US" sz="1600" b="1" kern="0" dirty="0">
                <a:solidFill>
                  <a:srgbClr val="0070C0"/>
                </a:solidFill>
              </a:rPr>
              <a:t>定义成不同类型的</a:t>
            </a:r>
            <a:r>
              <a:rPr lang="en-US" altLang="zh-CN" sz="1600" b="1" kern="0" dirty="0">
                <a:solidFill>
                  <a:srgbClr val="0070C0"/>
                </a:solidFill>
              </a:rPr>
              <a:t>SID</a:t>
            </a:r>
            <a:r>
              <a:rPr lang="zh-CN" altLang="en-US" sz="1600" b="1" kern="0" dirty="0">
                <a:solidFill>
                  <a:srgbClr val="0070C0"/>
                </a:solidFill>
              </a:rPr>
              <a:t>，表达对应的转发行为，如转发报文到指定链路，或在指定表中进行查表转发等。</a:t>
            </a:r>
            <a:endParaRPr lang="en-US" altLang="zh-CN" sz="1600" b="1" kern="0" dirty="0">
              <a:solidFill>
                <a:srgbClr val="0070C0"/>
              </a:solidFill>
            </a:endParaRPr>
          </a:p>
          <a:p>
            <a:pPr marL="285750" indent="-285750">
              <a:buFont typeface="Wingdings" panose="05000000000000000000" pitchFamily="2" charset="2"/>
              <a:buChar char="Ø"/>
            </a:pPr>
            <a:r>
              <a:rPr lang="en-US" altLang="zh-CN" sz="1600" b="1" kern="0" dirty="0" err="1">
                <a:solidFill>
                  <a:srgbClr val="0070C0"/>
                </a:solidFill>
              </a:rPr>
              <a:t>Args</a:t>
            </a:r>
            <a:r>
              <a:rPr lang="en-US" altLang="zh-CN" sz="1600" b="1" kern="0" dirty="0">
                <a:solidFill>
                  <a:srgbClr val="0070C0"/>
                </a:solidFill>
              </a:rPr>
              <a:t> : Arguments</a:t>
            </a:r>
            <a:r>
              <a:rPr lang="zh-CN" altLang="en-US" sz="1600" b="1" kern="0" dirty="0">
                <a:solidFill>
                  <a:srgbClr val="0070C0"/>
                </a:solidFill>
              </a:rPr>
              <a:t>（</a:t>
            </a:r>
            <a:r>
              <a:rPr lang="en-US" altLang="zh-CN" sz="1600" b="1" kern="0" dirty="0" err="1">
                <a:solidFill>
                  <a:srgbClr val="0070C0"/>
                </a:solidFill>
              </a:rPr>
              <a:t>Args</a:t>
            </a:r>
            <a:r>
              <a:rPr lang="zh-CN" altLang="en-US" sz="1600" b="1" kern="0" dirty="0">
                <a:solidFill>
                  <a:srgbClr val="0070C0"/>
                </a:solidFill>
              </a:rPr>
              <a:t>）是一个可选字段。它是指令在执行时对应的参数，这些参数可能包含流、服务或任何其他相关的信息。</a:t>
            </a:r>
            <a:endParaRPr lang="en-US" altLang="zh-CN" sz="1600" b="1" kern="0" dirty="0">
              <a:solidFill>
                <a:srgbClr val="0070C0"/>
              </a:solidFill>
            </a:endParaRPr>
          </a:p>
        </p:txBody>
      </p:sp>
      <p:grpSp>
        <p:nvGrpSpPr>
          <p:cNvPr id="112" name="组合 111"/>
          <p:cNvGrpSpPr/>
          <p:nvPr/>
        </p:nvGrpSpPr>
        <p:grpSpPr>
          <a:xfrm>
            <a:off x="7866559" y="1237011"/>
            <a:ext cx="3962741" cy="5368677"/>
            <a:chOff x="611486" y="1124744"/>
            <a:chExt cx="4968552" cy="4680520"/>
          </a:xfrm>
        </p:grpSpPr>
        <p:sp>
          <p:nvSpPr>
            <p:cNvPr id="113" name="矩形 112"/>
            <p:cNvSpPr/>
            <p:nvPr/>
          </p:nvSpPr>
          <p:spPr bwMode="auto">
            <a:xfrm>
              <a:off x="611486" y="1376772"/>
              <a:ext cx="1800200" cy="576064"/>
            </a:xfrm>
            <a:prstGeom prst="rect">
              <a:avLst/>
            </a:prstGeom>
            <a:solidFill>
              <a:srgbClr val="0070C0">
                <a:alpha val="66000"/>
              </a:srgb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dirty="0">
                  <a:solidFill>
                    <a:schemeClr val="bg1"/>
                  </a:solidFill>
                  <a:latin typeface="FrutigerNext LT Regular" pitchFamily="34" charset="0"/>
                  <a:ea typeface="华文细黑" pitchFamily="2" charset="-122"/>
                </a:rPr>
                <a:t>End Sid</a:t>
              </a:r>
              <a:endParaRPr lang="zh-CN" altLang="en-US" dirty="0">
                <a:solidFill>
                  <a:schemeClr val="bg1"/>
                </a:solidFill>
                <a:latin typeface="FrutigerNext LT Regular" pitchFamily="34" charset="0"/>
                <a:ea typeface="华文细黑" pitchFamily="2" charset="-122"/>
              </a:endParaRPr>
            </a:p>
          </p:txBody>
        </p:sp>
        <p:cxnSp>
          <p:nvCxnSpPr>
            <p:cNvPr id="114" name="直接箭头连接符 113"/>
            <p:cNvCxnSpPr>
              <a:stCxn id="113" idx="3"/>
              <a:endCxn id="115" idx="1"/>
            </p:cNvCxnSpPr>
            <p:nvPr/>
          </p:nvCxnSpPr>
          <p:spPr bwMode="auto">
            <a:xfrm>
              <a:off x="2411686" y="1664804"/>
              <a:ext cx="720080" cy="0"/>
            </a:xfrm>
            <a:prstGeom prst="straightConnector1">
              <a:avLst/>
            </a:prstGeom>
            <a:noFill/>
            <a:ln w="19050" cap="flat" cmpd="sng" algn="ctr">
              <a:solidFill>
                <a:schemeClr val="tx1"/>
              </a:solidFill>
              <a:prstDash val="solid"/>
              <a:round/>
              <a:headEnd type="triangle"/>
              <a:tailEnd type="triangle"/>
            </a:ln>
            <a:effectLst/>
          </p:spPr>
        </p:cxnSp>
        <p:sp>
          <p:nvSpPr>
            <p:cNvPr id="115" name="矩形 114"/>
            <p:cNvSpPr/>
            <p:nvPr/>
          </p:nvSpPr>
          <p:spPr bwMode="auto">
            <a:xfrm>
              <a:off x="3131766" y="1124744"/>
              <a:ext cx="2448272" cy="1080120"/>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sz="1200" dirty="0">
                  <a:solidFill>
                    <a:srgbClr val="FF0000"/>
                  </a:solidFill>
                  <a:latin typeface="FrutigerNext LT Regular" pitchFamily="34" charset="0"/>
                  <a:ea typeface="华文细黑" pitchFamily="2" charset="-122"/>
                </a:rPr>
                <a:t>SL--</a:t>
              </a:r>
              <a:r>
                <a:rPr lang="zh-CN" altLang="en-US" sz="1200" dirty="0">
                  <a:solidFill>
                    <a:srgbClr val="FF0000"/>
                  </a:solidFill>
                  <a:latin typeface="FrutigerNext LT Regular" pitchFamily="34" charset="0"/>
                  <a:ea typeface="华文细黑" pitchFamily="2" charset="-122"/>
                </a:rPr>
                <a:t>；</a:t>
              </a:r>
              <a:endParaRPr lang="en-US" altLang="zh-CN" sz="1200" dirty="0">
                <a:solidFill>
                  <a:srgbClr val="FF0000"/>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rgbClr val="FF0000"/>
                  </a:solidFill>
                  <a:latin typeface="FrutigerNext LT Regular" pitchFamily="34" charset="0"/>
                  <a:ea typeface="华文细黑" pitchFamily="2" charset="-122"/>
                </a:rPr>
                <a:t>Copy </a:t>
              </a:r>
              <a:r>
                <a:rPr lang="en-US" altLang="zh-CN" sz="1200" dirty="0" err="1">
                  <a:solidFill>
                    <a:srgbClr val="FF0000"/>
                  </a:solidFill>
                  <a:latin typeface="FrutigerNext LT Regular" pitchFamily="34" charset="0"/>
                  <a:ea typeface="华文细黑" pitchFamily="2" charset="-122"/>
                </a:rPr>
                <a:t>SegmentList</a:t>
              </a:r>
              <a:r>
                <a:rPr lang="en-US" altLang="zh-CN" sz="1200" dirty="0">
                  <a:solidFill>
                    <a:srgbClr val="FF0000"/>
                  </a:solidFill>
                  <a:latin typeface="FrutigerNext LT Regular" pitchFamily="34" charset="0"/>
                  <a:ea typeface="华文细黑" pitchFamily="2" charset="-122"/>
                </a:rPr>
                <a:t>[SL] to Ipv6 DA</a:t>
              </a: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Lookup fib and forwarding;</a:t>
              </a:r>
              <a:endParaRPr lang="zh-CN" altLang="en-US" sz="1200" dirty="0">
                <a:solidFill>
                  <a:schemeClr val="bg1"/>
                </a:solidFill>
                <a:latin typeface="FrutigerNext LT Regular" pitchFamily="34" charset="0"/>
                <a:ea typeface="华文细黑" pitchFamily="2" charset="-122"/>
              </a:endParaRPr>
            </a:p>
          </p:txBody>
        </p:sp>
        <p:sp>
          <p:nvSpPr>
            <p:cNvPr id="116" name="矩形 115"/>
            <p:cNvSpPr/>
            <p:nvPr/>
          </p:nvSpPr>
          <p:spPr bwMode="auto">
            <a:xfrm>
              <a:off x="611486" y="3176972"/>
              <a:ext cx="1800200" cy="576064"/>
            </a:xfrm>
            <a:prstGeom prst="rect">
              <a:avLst/>
            </a:prstGeom>
            <a:solidFill>
              <a:srgbClr val="0070C0">
                <a:alpha val="66000"/>
              </a:srgb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dirty="0" err="1">
                  <a:solidFill>
                    <a:schemeClr val="bg1"/>
                  </a:solidFill>
                  <a:latin typeface="FrutigerNext LT Regular" pitchFamily="34" charset="0"/>
                  <a:ea typeface="华文细黑" pitchFamily="2" charset="-122"/>
                </a:rPr>
                <a:t>End.x</a:t>
              </a:r>
              <a:r>
                <a:rPr lang="en-US" altLang="zh-CN" dirty="0">
                  <a:solidFill>
                    <a:schemeClr val="bg1"/>
                  </a:solidFill>
                  <a:latin typeface="FrutigerNext LT Regular" pitchFamily="34" charset="0"/>
                  <a:ea typeface="华文细黑" pitchFamily="2" charset="-122"/>
                </a:rPr>
                <a:t> Sid</a:t>
              </a:r>
              <a:endParaRPr lang="zh-CN" altLang="en-US" dirty="0">
                <a:solidFill>
                  <a:schemeClr val="bg1"/>
                </a:solidFill>
                <a:latin typeface="FrutigerNext LT Regular" pitchFamily="34" charset="0"/>
                <a:ea typeface="华文细黑" pitchFamily="2" charset="-122"/>
              </a:endParaRPr>
            </a:p>
          </p:txBody>
        </p:sp>
        <p:cxnSp>
          <p:nvCxnSpPr>
            <p:cNvPr id="117" name="直接箭头连接符 116"/>
            <p:cNvCxnSpPr>
              <a:stCxn id="116" idx="3"/>
              <a:endCxn id="118" idx="1"/>
            </p:cNvCxnSpPr>
            <p:nvPr/>
          </p:nvCxnSpPr>
          <p:spPr bwMode="auto">
            <a:xfrm>
              <a:off x="2411686" y="3465004"/>
              <a:ext cx="720080" cy="0"/>
            </a:xfrm>
            <a:prstGeom prst="straightConnector1">
              <a:avLst/>
            </a:prstGeom>
            <a:noFill/>
            <a:ln w="19050" cap="flat" cmpd="sng" algn="ctr">
              <a:solidFill>
                <a:schemeClr val="tx1"/>
              </a:solidFill>
              <a:prstDash val="solid"/>
              <a:round/>
              <a:headEnd type="triangle"/>
              <a:tailEnd type="triangle"/>
            </a:ln>
            <a:effectLst/>
          </p:spPr>
        </p:cxnSp>
        <p:sp>
          <p:nvSpPr>
            <p:cNvPr id="118" name="矩形 117"/>
            <p:cNvSpPr/>
            <p:nvPr/>
          </p:nvSpPr>
          <p:spPr bwMode="auto">
            <a:xfrm>
              <a:off x="3131766" y="2924944"/>
              <a:ext cx="2448272" cy="1080120"/>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SL--</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Copy </a:t>
              </a:r>
              <a:r>
                <a:rPr lang="en-US" altLang="zh-CN" sz="1200" dirty="0" err="1">
                  <a:solidFill>
                    <a:schemeClr val="bg1"/>
                  </a:solidFill>
                  <a:latin typeface="FrutigerNext LT Regular" pitchFamily="34" charset="0"/>
                  <a:ea typeface="华文细黑" pitchFamily="2" charset="-122"/>
                </a:rPr>
                <a:t>SegmentList</a:t>
              </a:r>
              <a:r>
                <a:rPr lang="en-US" altLang="zh-CN" sz="1200" dirty="0">
                  <a:solidFill>
                    <a:schemeClr val="bg1"/>
                  </a:solidFill>
                  <a:latin typeface="FrutigerNext LT Regular" pitchFamily="34" charset="0"/>
                  <a:ea typeface="华文细黑" pitchFamily="2" charset="-122"/>
                </a:rPr>
                <a:t>[SL] to Ipv6 DA;</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Forwarding towards </a:t>
              </a:r>
              <a:r>
                <a:rPr lang="en-US" altLang="zh-CN" sz="1200" dirty="0" err="1">
                  <a:solidFill>
                    <a:schemeClr val="bg1"/>
                  </a:solidFill>
                  <a:latin typeface="FrutigerNext LT Regular" pitchFamily="34" charset="0"/>
                  <a:ea typeface="华文细黑" pitchFamily="2" charset="-122"/>
                </a:rPr>
                <a:t>End.x.Intf</a:t>
              </a:r>
              <a:r>
                <a:rPr lang="en-US" altLang="zh-CN" sz="1200" dirty="0">
                  <a:solidFill>
                    <a:schemeClr val="bg1"/>
                  </a:solidFill>
                  <a:latin typeface="FrutigerNext LT Regular" pitchFamily="34" charset="0"/>
                  <a:ea typeface="华文细黑" pitchFamily="2" charset="-122"/>
                </a:rPr>
                <a:t>;</a:t>
              </a:r>
              <a:endParaRPr lang="zh-CN" altLang="en-US" sz="1200" dirty="0">
                <a:solidFill>
                  <a:schemeClr val="bg1"/>
                </a:solidFill>
                <a:latin typeface="FrutigerNext LT Regular" pitchFamily="34" charset="0"/>
                <a:ea typeface="华文细黑" pitchFamily="2" charset="-122"/>
              </a:endParaRPr>
            </a:p>
          </p:txBody>
        </p:sp>
        <p:sp>
          <p:nvSpPr>
            <p:cNvPr id="119" name="矩形 118"/>
            <p:cNvSpPr/>
            <p:nvPr/>
          </p:nvSpPr>
          <p:spPr bwMode="auto">
            <a:xfrm>
              <a:off x="611486" y="4977172"/>
              <a:ext cx="1800200" cy="576064"/>
            </a:xfrm>
            <a:prstGeom prst="rect">
              <a:avLst/>
            </a:prstGeom>
            <a:solidFill>
              <a:srgbClr val="0070C0">
                <a:alpha val="66000"/>
              </a:srgb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dirty="0">
                  <a:solidFill>
                    <a:schemeClr val="bg1"/>
                  </a:solidFill>
                  <a:latin typeface="FrutigerNext LT Regular" pitchFamily="34" charset="0"/>
                  <a:ea typeface="华文细黑" pitchFamily="2" charset="-122"/>
                </a:rPr>
                <a:t>End.DT4 Sid</a:t>
              </a:r>
              <a:endParaRPr lang="zh-CN" altLang="en-US" dirty="0">
                <a:solidFill>
                  <a:schemeClr val="bg1"/>
                </a:solidFill>
                <a:latin typeface="FrutigerNext LT Regular" pitchFamily="34" charset="0"/>
                <a:ea typeface="华文细黑" pitchFamily="2" charset="-122"/>
              </a:endParaRPr>
            </a:p>
          </p:txBody>
        </p:sp>
        <p:cxnSp>
          <p:nvCxnSpPr>
            <p:cNvPr id="120" name="直接箭头连接符 119"/>
            <p:cNvCxnSpPr>
              <a:stCxn id="119" idx="3"/>
              <a:endCxn id="121" idx="1"/>
            </p:cNvCxnSpPr>
            <p:nvPr/>
          </p:nvCxnSpPr>
          <p:spPr bwMode="auto">
            <a:xfrm>
              <a:off x="2411686" y="5265204"/>
              <a:ext cx="720080" cy="0"/>
            </a:xfrm>
            <a:prstGeom prst="straightConnector1">
              <a:avLst/>
            </a:prstGeom>
            <a:noFill/>
            <a:ln w="19050" cap="flat" cmpd="sng" algn="ctr">
              <a:solidFill>
                <a:schemeClr val="tx1"/>
              </a:solidFill>
              <a:prstDash val="solid"/>
              <a:round/>
              <a:headEnd type="triangle"/>
              <a:tailEnd type="triangle"/>
            </a:ln>
            <a:effectLst/>
          </p:spPr>
        </p:cxnSp>
        <p:sp>
          <p:nvSpPr>
            <p:cNvPr id="121" name="矩形 120"/>
            <p:cNvSpPr/>
            <p:nvPr/>
          </p:nvSpPr>
          <p:spPr bwMode="auto">
            <a:xfrm>
              <a:off x="3131766" y="4725144"/>
              <a:ext cx="2448272" cy="1080120"/>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Remove IPv6 header and extension header</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Lookup End.DT4.Table Fib;</a:t>
              </a: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Forwarding;</a:t>
              </a:r>
              <a:endParaRPr lang="zh-CN" altLang="en-US" sz="1200" dirty="0">
                <a:solidFill>
                  <a:schemeClr val="bg1"/>
                </a:solidFill>
                <a:latin typeface="FrutigerNext LT Regular" pitchFamily="34" charset="0"/>
                <a:ea typeface="华文细黑" pitchFamily="2" charset="-122"/>
              </a:endParaRPr>
            </a:p>
          </p:txBody>
        </p:sp>
      </p:grpSp>
    </p:spTree>
    <p:extLst>
      <p:ext uri="{BB962C8B-B14F-4D97-AF65-F5344CB8AC3E}">
        <p14:creationId xmlns:p14="http://schemas.microsoft.com/office/powerpoint/2010/main" val="2924082229"/>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报文格式</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33" name="矩形 32"/>
          <p:cNvSpPr/>
          <p:nvPr/>
        </p:nvSpPr>
        <p:spPr>
          <a:xfrm>
            <a:off x="7035452" y="1392300"/>
            <a:ext cx="4762251" cy="3970289"/>
          </a:xfrm>
          <a:prstGeom prst="rect">
            <a:avLst/>
          </a:prstGeom>
          <a:ln>
            <a:solidFill>
              <a:srgbClr val="0070C0"/>
            </a:solidFill>
            <a:prstDash val="dash"/>
          </a:ln>
        </p:spPr>
        <p:txBody>
          <a:bodyPr wrap="square" lIns="91412" tIns="45706" rIns="91412" bIns="45706">
            <a:spAutoFit/>
          </a:bodyPr>
          <a:lstStyle>
            <a:defPPr/>
          </a:lstStyle>
          <a:p>
            <a:pPr algn="just" fontAlgn="auto">
              <a:lnSpc>
                <a:spcPct val="150000"/>
              </a:lnSpc>
              <a:buClr>
                <a:srgbClr val="FF0000"/>
              </a:buClr>
              <a:defRPr/>
            </a:pPr>
            <a:r>
              <a:rPr lang="en-US" altLang="zh-CN" sz="1400" b="1" kern="0" dirty="0">
                <a:solidFill>
                  <a:prstClr val="black"/>
                </a:solidFill>
              </a:rPr>
              <a:t>SRH （</a:t>
            </a:r>
            <a:r>
              <a:rPr lang="en-US" altLang="zh-CN" sz="1400" b="1" kern="0" dirty="0" err="1">
                <a:solidFill>
                  <a:prstClr val="black"/>
                </a:solidFill>
              </a:rPr>
              <a:t>段路由头）是</a:t>
            </a:r>
            <a:r>
              <a:rPr lang="en-US" altLang="zh-CN" sz="1400" kern="0" dirty="0">
                <a:solidFill>
                  <a:prstClr val="black"/>
                </a:solidFill>
              </a:rPr>
              <a:t> Routing Header </a:t>
            </a:r>
            <a:r>
              <a:rPr lang="en-US" altLang="zh-CN" sz="1400" b="1" kern="0" dirty="0">
                <a:solidFill>
                  <a:prstClr val="black"/>
                </a:solidFill>
              </a:rPr>
              <a:t>(RFC8200)</a:t>
            </a:r>
            <a:r>
              <a:rPr lang="en-US" altLang="zh-CN" sz="1400" b="1" kern="0" dirty="0" err="1">
                <a:solidFill>
                  <a:prstClr val="black"/>
                </a:solidFill>
              </a:rPr>
              <a:t>的一种</a:t>
            </a:r>
            <a:r>
              <a:rPr lang="en-US" altLang="zh-CN" sz="1400" b="1" kern="0" dirty="0">
                <a:solidFill>
                  <a:prstClr val="black"/>
                </a:solidFill>
              </a:rPr>
              <a:t>，</a:t>
            </a:r>
            <a:r>
              <a:rPr lang="en-US" altLang="zh-CN" sz="1400" kern="0" dirty="0">
                <a:solidFill>
                  <a:prstClr val="black"/>
                </a:solidFill>
              </a:rPr>
              <a:t>Next Header = 43; Routing Type = 4</a:t>
            </a:r>
          </a:p>
          <a:p>
            <a:pPr algn="just" fontAlgn="auto">
              <a:lnSpc>
                <a:spcPct val="150000"/>
              </a:lnSpc>
              <a:buClr>
                <a:srgbClr val="FF0000"/>
              </a:buClr>
              <a:defRPr/>
            </a:pPr>
            <a:endParaRPr lang="en-US" altLang="zh-CN" sz="1400" b="1" kern="0" dirty="0">
              <a:solidFill>
                <a:prstClr val="black"/>
              </a:solidFill>
            </a:endParaRPr>
          </a:p>
          <a:p>
            <a:pPr algn="just">
              <a:lnSpc>
                <a:spcPct val="150000"/>
              </a:lnSpc>
              <a:spcBef>
                <a:spcPct val="0"/>
              </a:spcBef>
              <a:spcAft>
                <a:spcPct val="0"/>
              </a:spcAft>
              <a:buClr>
                <a:srgbClr val="FF0000"/>
              </a:buClr>
              <a:defRPr/>
            </a:pPr>
            <a:endParaRPr lang="en-US" altLang="zh-CN" sz="1400" kern="0" dirty="0">
              <a:solidFill>
                <a:prstClr val="black"/>
              </a:solidFill>
            </a:endParaRPr>
          </a:p>
          <a:p>
            <a:pPr algn="just">
              <a:lnSpc>
                <a:spcPct val="150000"/>
              </a:lnSpc>
              <a:spcBef>
                <a:spcPct val="0"/>
              </a:spcBef>
              <a:spcAft>
                <a:spcPct val="0"/>
              </a:spcAft>
              <a:buClr>
                <a:srgbClr val="FF0000"/>
              </a:buClr>
              <a:defRPr/>
            </a:pPr>
            <a:r>
              <a:rPr lang="en-US" altLang="zh-CN" sz="1400" b="1" kern="0" dirty="0" err="1">
                <a:solidFill>
                  <a:prstClr val="black"/>
                </a:solidFill>
              </a:rPr>
              <a:t>SRH中的重要字段</a:t>
            </a:r>
            <a:r>
              <a:rPr lang="en-US" altLang="zh-CN" sz="1400" b="1" kern="0" dirty="0">
                <a:solidFill>
                  <a:prstClr val="black"/>
                </a:solidFill>
              </a:rPr>
              <a:t>：</a:t>
            </a:r>
          </a:p>
          <a:p>
            <a:pPr lvl="0" algn="just" fontAlgn="auto">
              <a:lnSpc>
                <a:spcPct val="150000"/>
              </a:lnSpc>
              <a:buClr>
                <a:srgbClr val="FF0000"/>
              </a:buClr>
              <a:defRPr/>
            </a:pPr>
            <a:r>
              <a:rPr lang="en-US" altLang="zh-CN" sz="1400" b="1" kern="0" dirty="0">
                <a:solidFill>
                  <a:srgbClr val="0070C0"/>
                </a:solidFill>
              </a:rPr>
              <a:t>Segments Left :</a:t>
            </a:r>
            <a:r>
              <a:rPr lang="en-US" altLang="zh-CN" sz="1400" b="1" kern="0" dirty="0" err="1">
                <a:solidFill>
                  <a:srgbClr val="0070C0"/>
                </a:solidFill>
              </a:rPr>
              <a:t>剩余的路由段数，即在到达最终目的地之前仍需访问的显式列出的中间节点的数目</a:t>
            </a:r>
            <a:r>
              <a:rPr lang="en-US" altLang="zh-CN" sz="1400" b="1" kern="0" dirty="0">
                <a:solidFill>
                  <a:srgbClr val="0070C0"/>
                </a:solidFill>
              </a:rPr>
              <a:t>。</a:t>
            </a:r>
          </a:p>
          <a:p>
            <a:pPr lvl="0" fontAlgn="auto">
              <a:lnSpc>
                <a:spcPct val="150000"/>
              </a:lnSpc>
              <a:defRPr/>
            </a:pPr>
            <a:r>
              <a:rPr lang="en-US" altLang="zh-CN" sz="1400" b="1" kern="0" dirty="0">
                <a:solidFill>
                  <a:srgbClr val="0070C0"/>
                </a:solidFill>
              </a:rPr>
              <a:t>Segment List[n]:  表示分片列表中第n个分片的128位IPv6地址，从路径的最后一段开始编码。例如，Segment List [0]</a:t>
            </a:r>
            <a:r>
              <a:rPr lang="en-US" altLang="zh-CN" sz="1400" b="1" kern="0" dirty="0" err="1">
                <a:solidFill>
                  <a:srgbClr val="0070C0"/>
                </a:solidFill>
              </a:rPr>
              <a:t>包含路径的最后一段</a:t>
            </a:r>
            <a:r>
              <a:rPr lang="en-US" altLang="zh-CN" sz="1400" b="1" kern="0" dirty="0">
                <a:solidFill>
                  <a:srgbClr val="0070C0"/>
                </a:solidFill>
              </a:rPr>
              <a:t>。</a:t>
            </a:r>
          </a:p>
          <a:p>
            <a:pPr lvl="0" fontAlgn="auto">
              <a:lnSpc>
                <a:spcPct val="150000"/>
              </a:lnSpc>
              <a:defRPr/>
            </a:pPr>
            <a:r>
              <a:rPr lang="en-US" altLang="zh-CN" sz="1400" b="1" kern="0" dirty="0">
                <a:solidFill>
                  <a:srgbClr val="0070C0"/>
                </a:solidFill>
              </a:rPr>
              <a:t>Optional TLV Objects: </a:t>
            </a:r>
            <a:r>
              <a:rPr lang="en-US" altLang="zh-CN" sz="1400" b="1" kern="0" dirty="0" err="1">
                <a:solidFill>
                  <a:srgbClr val="0070C0"/>
                </a:solidFill>
              </a:rPr>
              <a:t>可以作为Segment列表中所有SID的全局参数，如NSH元数据、HMAC</a:t>
            </a:r>
            <a:r>
              <a:rPr lang="en-US" altLang="zh-CN" sz="1400" b="1" kern="0" dirty="0">
                <a:solidFill>
                  <a:srgbClr val="0070C0"/>
                </a:solidFill>
              </a:rPr>
              <a:t> </a:t>
            </a:r>
            <a:r>
              <a:rPr lang="en-US" altLang="zh-CN" sz="1400" b="1" kern="0" dirty="0" err="1">
                <a:solidFill>
                  <a:srgbClr val="0070C0"/>
                </a:solidFill>
              </a:rPr>
              <a:t>TLV、填充TLV等</a:t>
            </a:r>
            <a:r>
              <a:rPr lang="en-US" altLang="zh-CN" sz="1400" b="1" kern="0" dirty="0">
                <a:solidFill>
                  <a:srgbClr val="0070C0"/>
                </a:solidFill>
              </a:rPr>
              <a:t>。</a:t>
            </a:r>
          </a:p>
        </p:txBody>
      </p:sp>
      <p:sp>
        <p:nvSpPr>
          <p:cNvPr id="34" name="左大括号 33"/>
          <p:cNvSpPr/>
          <p:nvPr/>
        </p:nvSpPr>
        <p:spPr bwMode="auto">
          <a:xfrm>
            <a:off x="638648" y="1361824"/>
            <a:ext cx="144016" cy="1812769"/>
          </a:xfrm>
          <a:prstGeom prst="leftBrace">
            <a:avLst/>
          </a:prstGeom>
          <a:noFill/>
          <a:ln w="19050" cap="flat" cmpd="sng" algn="ctr">
            <a:solidFill>
              <a:sysClr val="window" lastClr="FFFFFF">
                <a:lumMod val="50000"/>
              </a:sys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defPPr/>
          </a:lstStyle>
          <a:p>
            <a:pPr algn="ctr">
              <a:spcBef>
                <a:spcPct val="0"/>
              </a:spcBef>
              <a:spcAft>
                <a:spcPct val="0"/>
              </a:spcAft>
              <a:defRPr/>
            </a:pPr>
            <a:endParaRPr lang="zh-CN" altLang="en-US" kern="0">
              <a:solidFill>
                <a:prstClr val="black"/>
              </a:solidFill>
            </a:endParaRPr>
          </a:p>
        </p:txBody>
      </p:sp>
      <p:sp>
        <p:nvSpPr>
          <p:cNvPr id="35" name="文本框 38"/>
          <p:cNvSpPr txBox="1"/>
          <p:nvPr/>
        </p:nvSpPr>
        <p:spPr>
          <a:xfrm rot="16200000">
            <a:off x="-298348" y="2127070"/>
            <a:ext cx="1357466" cy="366098"/>
          </a:xfrm>
          <a:prstGeom prst="rect">
            <a:avLst/>
          </a:prstGeom>
          <a:noFill/>
        </p:spPr>
        <p:txBody>
          <a:bodyPr wrap="square" lIns="91412" tIns="45706" rIns="91412" bIns="45706" rtlCol="0">
            <a:spAutoFit/>
          </a:bodyPr>
          <a:lstStyle>
            <a:defPPr/>
          </a:lstStyle>
          <a:p>
            <a:r>
              <a:rPr lang="en-US" altLang="zh-CN">
                <a:solidFill>
                  <a:srgbClr val="92D050"/>
                </a:solidFill>
                <a:latin typeface="Calibri" pitchFamily="34" charset="0"/>
                <a:ea typeface="宋体" pitchFamily="2" charset="-122"/>
              </a:rPr>
              <a:t>IPv6头</a:t>
            </a:r>
            <a:endParaRPr lang="zh-CN" altLang="en-US">
              <a:solidFill>
                <a:srgbClr val="C00000"/>
              </a:solidFill>
              <a:latin typeface="Calibri" pitchFamily="34" charset="0"/>
              <a:ea typeface="宋体" pitchFamily="2" charset="-122"/>
            </a:endParaRPr>
          </a:p>
        </p:txBody>
      </p:sp>
      <p:sp>
        <p:nvSpPr>
          <p:cNvPr id="36" name="左大括号 35"/>
          <p:cNvSpPr/>
          <p:nvPr/>
        </p:nvSpPr>
        <p:spPr bwMode="auto">
          <a:xfrm>
            <a:off x="635190" y="3195181"/>
            <a:ext cx="144016" cy="2703147"/>
          </a:xfrm>
          <a:prstGeom prst="leftBrace">
            <a:avLst/>
          </a:prstGeom>
          <a:noFill/>
          <a:ln w="19050" cap="flat" cmpd="sng" algn="ctr">
            <a:solidFill>
              <a:sysClr val="window" lastClr="FFFFFF">
                <a:lumMod val="50000"/>
              </a:sys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defPPr/>
          </a:lstStyle>
          <a:p>
            <a:pPr algn="ctr">
              <a:spcBef>
                <a:spcPct val="0"/>
              </a:spcBef>
              <a:spcAft>
                <a:spcPct val="0"/>
              </a:spcAft>
              <a:defRPr/>
            </a:pPr>
            <a:endParaRPr lang="zh-CN" altLang="en-US" kern="0">
              <a:solidFill>
                <a:prstClr val="black"/>
              </a:solidFill>
            </a:endParaRPr>
          </a:p>
        </p:txBody>
      </p:sp>
      <p:sp>
        <p:nvSpPr>
          <p:cNvPr id="37" name="文本框 38"/>
          <p:cNvSpPr txBox="1"/>
          <p:nvPr/>
        </p:nvSpPr>
        <p:spPr>
          <a:xfrm rot="16200000">
            <a:off x="-471840" y="4358998"/>
            <a:ext cx="1704449" cy="366098"/>
          </a:xfrm>
          <a:prstGeom prst="rect">
            <a:avLst/>
          </a:prstGeom>
          <a:noFill/>
        </p:spPr>
        <p:txBody>
          <a:bodyPr wrap="square" lIns="91412" tIns="45706" rIns="91412" bIns="45706" rtlCol="0">
            <a:spAutoFit/>
          </a:bodyPr>
          <a:lstStyle>
            <a:defPPr/>
          </a:lstStyle>
          <a:p>
            <a:r>
              <a:rPr lang="en-US" altLang="zh-CN">
                <a:solidFill>
                  <a:srgbClr val="FFC000"/>
                </a:solidFill>
                <a:latin typeface="Calibri" pitchFamily="34" charset="0"/>
                <a:ea typeface="宋体" pitchFamily="2" charset="-122"/>
              </a:rPr>
              <a:t>SRH扩展</a:t>
            </a:r>
            <a:endParaRPr lang="zh-CN" altLang="en-US">
              <a:solidFill>
                <a:srgbClr val="FFC000"/>
              </a:solidFill>
              <a:latin typeface="Calibri" pitchFamily="34" charset="0"/>
              <a:ea typeface="宋体" pitchFamily="2" charset="-122"/>
            </a:endParaRPr>
          </a:p>
        </p:txBody>
      </p:sp>
      <p:sp>
        <p:nvSpPr>
          <p:cNvPr id="38" name="矩形 82"/>
          <p:cNvSpPr>
            <a:spLocks noChangeArrowheads="1"/>
          </p:cNvSpPr>
          <p:nvPr/>
        </p:nvSpPr>
        <p:spPr bwMode="auto">
          <a:xfrm>
            <a:off x="7047360" y="5413257"/>
            <a:ext cx="47527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lvl1pPr marL="180975" indent="-180975" defTabSz="801688">
              <a:spcBef>
                <a:spcPct val="20000"/>
              </a:spcBef>
              <a:buClr>
                <a:srgbClr val="990000"/>
              </a:buClr>
              <a:buChar char="•"/>
              <a:defRPr sz="2400" b="1">
                <a:solidFill>
                  <a:schemeClr val="tx1"/>
                </a:solidFill>
                <a:latin typeface="FrutigerNext LT Medium" pitchFamily="34" charset="0"/>
                <a:ea typeface="华文细黑" pitchFamily="2" charset="-122"/>
                <a:cs typeface="宋体" panose="02010600030101010101" pitchFamily="2" charset="-122"/>
              </a:defRPr>
            </a:lvl1pPr>
            <a:lvl2pPr marL="742950" indent="-285750" defTabSz="801688">
              <a:spcBef>
                <a:spcPct val="20000"/>
              </a:spcBef>
              <a:buFont typeface="Arial" panose="020B0604020202020204" pitchFamily="34" charset="0"/>
              <a:buChar char="›"/>
              <a:defRPr sz="2000">
                <a:solidFill>
                  <a:schemeClr val="tx1"/>
                </a:solidFill>
                <a:latin typeface="FrutigerNext LT Medium" pitchFamily="34" charset="0"/>
                <a:ea typeface="华文细黑" pitchFamily="2" charset="-122"/>
                <a:cs typeface="宋体" panose="02010600030101010101" pitchFamily="2" charset="-122"/>
              </a:defRPr>
            </a:lvl2pPr>
            <a:lvl3pPr marL="1143000" indent="-228600" defTabSz="801688">
              <a:spcBef>
                <a:spcPct val="20000"/>
              </a:spcBef>
              <a:buFont typeface="FrutigerNext LT Medium" pitchFamily="34" charset="0"/>
              <a:buChar char="»"/>
              <a:defRPr>
                <a:solidFill>
                  <a:schemeClr val="tx1"/>
                </a:solidFill>
                <a:latin typeface="FrutigerNext LT Medium" pitchFamily="34" charset="0"/>
                <a:ea typeface="华文细黑" pitchFamily="2" charset="-122"/>
                <a:cs typeface="宋体" panose="02010600030101010101" pitchFamily="2" charset="-122"/>
              </a:defRPr>
            </a:lvl3pPr>
            <a:lvl4pPr marL="1600200" indent="-228600" defTabSz="801688">
              <a:spcBef>
                <a:spcPct val="20000"/>
              </a:spcBef>
              <a:buChar char="–"/>
              <a:defRPr sz="1600">
                <a:solidFill>
                  <a:schemeClr val="tx1"/>
                </a:solidFill>
                <a:latin typeface="FrutigerNext LT Medium" pitchFamily="34" charset="0"/>
                <a:ea typeface="华文细黑" pitchFamily="2" charset="-122"/>
                <a:cs typeface="宋体" panose="02010600030101010101" pitchFamily="2" charset="-122"/>
              </a:defRPr>
            </a:lvl4pPr>
            <a:lvl5pPr marL="2057400" indent="-228600" defTabSz="801688">
              <a:spcBef>
                <a:spcPct val="20000"/>
              </a:spcBef>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5pPr>
            <a:lvl6pPr marL="25146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6pPr>
            <a:lvl7pPr marL="29718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7pPr>
            <a:lvl8pPr marL="34290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8pPr>
            <a:lvl9pPr marL="38862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9pPr>
          </a:lstStyle>
          <a:p>
            <a:pPr>
              <a:spcBef>
                <a:spcPct val="0"/>
              </a:spcBef>
              <a:buSzPct val="60000"/>
              <a:buFont typeface="Wingdings" panose="05000000000000000000" pitchFamily="2" charset="2"/>
              <a:buChar char="n"/>
              <a:defRPr/>
            </a:pPr>
            <a:endParaRPr lang="en-US" altLang="zh-CN" sz="1200" b="0" i="1" dirty="0">
              <a:solidFill>
                <a:srgbClr val="FFCC99">
                  <a:lumMod val="50000"/>
                </a:srgbClr>
              </a:solidFill>
              <a:latin typeface="Arial" panose="020B0604020202020204" pitchFamily="34" charset="0"/>
              <a:cs typeface="Arial" panose="020B0604020202020204" pitchFamily="34" charset="0"/>
            </a:endParaRPr>
          </a:p>
          <a:p>
            <a:pPr>
              <a:spcBef>
                <a:spcPct val="0"/>
              </a:spcBef>
              <a:buSzPct val="60000"/>
              <a:buFont typeface="Wingdings" panose="05000000000000000000" pitchFamily="2" charset="2"/>
              <a:buChar char="n"/>
              <a:defRPr/>
            </a:pPr>
            <a:r>
              <a:rPr lang="en-US" altLang="zh-CN" sz="1200" b="0" i="1" dirty="0">
                <a:solidFill>
                  <a:srgbClr val="FFCC99">
                    <a:lumMod val="50000"/>
                  </a:srgbClr>
                </a:solidFill>
                <a:latin typeface="Arial" panose="020B0604020202020204" pitchFamily="34" charset="0"/>
                <a:cs typeface="Arial" panose="020B0604020202020204" pitchFamily="34" charset="0"/>
              </a:rPr>
              <a:t>RFC 8200, Internet Protocol, Version 6 (IPv6) Specification</a:t>
            </a:r>
          </a:p>
          <a:p>
            <a:pPr>
              <a:spcBef>
                <a:spcPct val="0"/>
              </a:spcBef>
              <a:buSzPct val="60000"/>
              <a:buFont typeface="Wingdings" panose="05000000000000000000" pitchFamily="2" charset="2"/>
              <a:buChar char="n"/>
              <a:defRPr/>
            </a:pPr>
            <a:r>
              <a:rPr lang="en-US" altLang="zh-CN" sz="1200" b="0" i="1" dirty="0">
                <a:solidFill>
                  <a:srgbClr val="FFCC99">
                    <a:lumMod val="50000"/>
                  </a:srgbClr>
                </a:solidFill>
                <a:latin typeface="Arial" panose="020B0604020202020204" pitchFamily="34" charset="0"/>
                <a:cs typeface="Arial" panose="020B0604020202020204" pitchFamily="34" charset="0"/>
              </a:rPr>
              <a:t>draft-ietf-6man-segment-routing-header-xx, IPv6 Segment Routing Header (SRH)</a:t>
            </a:r>
          </a:p>
        </p:txBody>
      </p:sp>
      <p:graphicFrame>
        <p:nvGraphicFramePr>
          <p:cNvPr id="39" name="表格 38"/>
          <p:cNvGraphicFramePr>
            <a:graphicFrameLocks noGrp="1"/>
          </p:cNvGraphicFramePr>
          <p:nvPr/>
        </p:nvGraphicFramePr>
        <p:xfrm>
          <a:off x="782663" y="1347548"/>
          <a:ext cx="6130516" cy="5041817"/>
        </p:xfrm>
        <a:graphic>
          <a:graphicData uri="http://schemas.openxmlformats.org/drawingml/2006/table">
            <a:tbl>
              <a:tblPr/>
              <a:tblGrid>
                <a:gridCol w="864097">
                  <a:extLst>
                    <a:ext uri="{9D8B030D-6E8A-4147-A177-3AD203B41FA5}">
                      <a16:colId xmlns:a16="http://schemas.microsoft.com/office/drawing/2014/main" val="20000"/>
                    </a:ext>
                  </a:extLst>
                </a:gridCol>
                <a:gridCol w="668532">
                  <a:extLst>
                    <a:ext uri="{9D8B030D-6E8A-4147-A177-3AD203B41FA5}">
                      <a16:colId xmlns:a16="http://schemas.microsoft.com/office/drawing/2014/main" val="20001"/>
                    </a:ext>
                  </a:extLst>
                </a:gridCol>
                <a:gridCol w="771628">
                  <a:extLst>
                    <a:ext uri="{9D8B030D-6E8A-4147-A177-3AD203B41FA5}">
                      <a16:colId xmlns:a16="http://schemas.microsoft.com/office/drawing/2014/main" val="20002"/>
                    </a:ext>
                  </a:extLst>
                </a:gridCol>
                <a:gridCol w="761001">
                  <a:extLst>
                    <a:ext uri="{9D8B030D-6E8A-4147-A177-3AD203B41FA5}">
                      <a16:colId xmlns:a16="http://schemas.microsoft.com/office/drawing/2014/main" val="20003"/>
                    </a:ext>
                  </a:extLst>
                </a:gridCol>
                <a:gridCol w="1532629">
                  <a:extLst>
                    <a:ext uri="{9D8B030D-6E8A-4147-A177-3AD203B41FA5}">
                      <a16:colId xmlns:a16="http://schemas.microsoft.com/office/drawing/2014/main" val="20004"/>
                    </a:ext>
                  </a:extLst>
                </a:gridCol>
                <a:gridCol w="1532629">
                  <a:extLst>
                    <a:ext uri="{9D8B030D-6E8A-4147-A177-3AD203B41FA5}">
                      <a16:colId xmlns:a16="http://schemas.microsoft.com/office/drawing/2014/main" val="20005"/>
                    </a:ext>
                  </a:extLst>
                </a:gridCol>
              </a:tblGrid>
              <a:tr h="458347">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Version</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gridSpan="2">
                  <a:txBody>
                    <a:bodyPr/>
                    <a:lstStyle>
                      <a:lvl1pPr marL="0" algn="l" defTabSz="1219444" rtl="0" eaLnBrk="1" latinLnBrk="0" hangingPunct="1">
                        <a:defRPr sz="2400" kern="1200">
                          <a:solidFill>
                            <a:schemeClr val="tx1"/>
                          </a:solidFill>
                          <a:latin typeface="Calibri"/>
                          <a:ea typeface="宋体"/>
                        </a:defRPr>
                      </a:lvl1pPr>
                      <a:lvl2pPr marL="609722" algn="l" defTabSz="1219444" rtl="0" eaLnBrk="1" latinLnBrk="0" hangingPunct="1">
                        <a:defRPr sz="2400" kern="1200">
                          <a:solidFill>
                            <a:schemeClr val="tx1"/>
                          </a:solidFill>
                          <a:latin typeface="Calibri"/>
                          <a:ea typeface="宋体"/>
                        </a:defRPr>
                      </a:lvl2pPr>
                      <a:lvl3pPr marL="1219444" algn="l" defTabSz="1219444" rtl="0" eaLnBrk="1" latinLnBrk="0" hangingPunct="1">
                        <a:defRPr sz="2400" kern="1200">
                          <a:solidFill>
                            <a:schemeClr val="tx1"/>
                          </a:solidFill>
                          <a:latin typeface="Calibri"/>
                          <a:ea typeface="宋体"/>
                        </a:defRPr>
                      </a:lvl3pPr>
                      <a:lvl4pPr marL="1829166" algn="l" defTabSz="1219444" rtl="0" eaLnBrk="1" latinLnBrk="0" hangingPunct="1">
                        <a:defRPr sz="2400" kern="1200">
                          <a:solidFill>
                            <a:schemeClr val="tx1"/>
                          </a:solidFill>
                          <a:latin typeface="Calibri"/>
                          <a:ea typeface="宋体"/>
                        </a:defRPr>
                      </a:lvl4pPr>
                      <a:lvl5pPr marL="2438888" algn="l" defTabSz="1219444" rtl="0" eaLnBrk="1" latinLnBrk="0" hangingPunct="1">
                        <a:defRPr sz="2400" kern="1200">
                          <a:solidFill>
                            <a:schemeClr val="tx1"/>
                          </a:solidFill>
                          <a:latin typeface="Calibri"/>
                          <a:ea typeface="宋体"/>
                        </a:defRPr>
                      </a:lvl5pPr>
                      <a:lvl6pPr marL="3048610" algn="l" defTabSz="1219444" rtl="0" eaLnBrk="1" latinLnBrk="0" hangingPunct="1">
                        <a:defRPr sz="2400" kern="1200">
                          <a:solidFill>
                            <a:schemeClr val="tx1"/>
                          </a:solidFill>
                          <a:latin typeface="Calibri"/>
                          <a:ea typeface="宋体"/>
                        </a:defRPr>
                      </a:lvl6pPr>
                      <a:lvl7pPr marL="3658332" algn="l" defTabSz="1219444" rtl="0" eaLnBrk="1" latinLnBrk="0" hangingPunct="1">
                        <a:defRPr sz="2400" kern="1200">
                          <a:solidFill>
                            <a:schemeClr val="tx1"/>
                          </a:solidFill>
                          <a:latin typeface="Calibri"/>
                          <a:ea typeface="宋体"/>
                        </a:defRPr>
                      </a:lvl7pPr>
                      <a:lvl8pPr marL="4268053" algn="l" defTabSz="1219444" rtl="0" eaLnBrk="1" latinLnBrk="0" hangingPunct="1">
                        <a:defRPr sz="2400" kern="1200">
                          <a:solidFill>
                            <a:schemeClr val="tx1"/>
                          </a:solidFill>
                          <a:latin typeface="Calibri"/>
                          <a:ea typeface="宋体"/>
                        </a:defRPr>
                      </a:lvl8pPr>
                      <a:lvl9pPr marL="4877775" algn="l" defTabSz="1219444" rtl="0" eaLnBrk="1" latinLnBrk="0" hangingPunct="1">
                        <a:defRPr sz="2400" kern="1200">
                          <a:solidFill>
                            <a:schemeClr val="tx1"/>
                          </a:solidFill>
                          <a:latin typeface="Calibri"/>
                          <a:ea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Traffic Class</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gridSpan="3">
                  <a:txBody>
                    <a:bodyPr/>
                    <a:lstStyle>
                      <a:lvl1pPr marL="0" algn="l" defTabSz="1219444" rtl="0" eaLnBrk="1" latinLnBrk="0" hangingPunct="1">
                        <a:defRPr sz="2400" kern="1200">
                          <a:solidFill>
                            <a:schemeClr val="tx1"/>
                          </a:solidFill>
                          <a:latin typeface="Calibri"/>
                          <a:ea typeface="宋体"/>
                        </a:defRPr>
                      </a:lvl1pPr>
                      <a:lvl2pPr marL="609722" algn="l" defTabSz="1219444" rtl="0" eaLnBrk="1" latinLnBrk="0" hangingPunct="1">
                        <a:defRPr sz="2400" kern="1200">
                          <a:solidFill>
                            <a:schemeClr val="tx1"/>
                          </a:solidFill>
                          <a:latin typeface="Calibri"/>
                          <a:ea typeface="宋体"/>
                        </a:defRPr>
                      </a:lvl2pPr>
                      <a:lvl3pPr marL="1219444" algn="l" defTabSz="1219444" rtl="0" eaLnBrk="1" latinLnBrk="0" hangingPunct="1">
                        <a:defRPr sz="2400" kern="1200">
                          <a:solidFill>
                            <a:schemeClr val="tx1"/>
                          </a:solidFill>
                          <a:latin typeface="Calibri"/>
                          <a:ea typeface="宋体"/>
                        </a:defRPr>
                      </a:lvl3pPr>
                      <a:lvl4pPr marL="1829166" algn="l" defTabSz="1219444" rtl="0" eaLnBrk="1" latinLnBrk="0" hangingPunct="1">
                        <a:defRPr sz="2400" kern="1200">
                          <a:solidFill>
                            <a:schemeClr val="tx1"/>
                          </a:solidFill>
                          <a:latin typeface="Calibri"/>
                          <a:ea typeface="宋体"/>
                        </a:defRPr>
                      </a:lvl4pPr>
                      <a:lvl5pPr marL="2438888" algn="l" defTabSz="1219444" rtl="0" eaLnBrk="1" latinLnBrk="0" hangingPunct="1">
                        <a:defRPr sz="2400" kern="1200">
                          <a:solidFill>
                            <a:schemeClr val="tx1"/>
                          </a:solidFill>
                          <a:latin typeface="Calibri"/>
                          <a:ea typeface="宋体"/>
                        </a:defRPr>
                      </a:lvl5pPr>
                      <a:lvl6pPr marL="3048610" algn="l" defTabSz="1219444" rtl="0" eaLnBrk="1" latinLnBrk="0" hangingPunct="1">
                        <a:defRPr sz="2400" kern="1200">
                          <a:solidFill>
                            <a:schemeClr val="tx1"/>
                          </a:solidFill>
                          <a:latin typeface="Calibri"/>
                          <a:ea typeface="宋体"/>
                        </a:defRPr>
                      </a:lvl6pPr>
                      <a:lvl7pPr marL="3658332" algn="l" defTabSz="1219444" rtl="0" eaLnBrk="1" latinLnBrk="0" hangingPunct="1">
                        <a:defRPr sz="2400" kern="1200">
                          <a:solidFill>
                            <a:schemeClr val="tx1"/>
                          </a:solidFill>
                          <a:latin typeface="Calibri"/>
                          <a:ea typeface="宋体"/>
                        </a:defRPr>
                      </a:lvl7pPr>
                      <a:lvl8pPr marL="4268053" algn="l" defTabSz="1219444" rtl="0" eaLnBrk="1" latinLnBrk="0" hangingPunct="1">
                        <a:defRPr sz="2400" kern="1200">
                          <a:solidFill>
                            <a:schemeClr val="tx1"/>
                          </a:solidFill>
                          <a:latin typeface="Calibri"/>
                          <a:ea typeface="宋体"/>
                        </a:defRPr>
                      </a:lvl8pPr>
                      <a:lvl9pPr marL="4877775" algn="l" defTabSz="1219444" rtl="0" eaLnBrk="1" latinLnBrk="0" hangingPunct="1">
                        <a:defRPr sz="2400" kern="1200">
                          <a:solidFill>
                            <a:schemeClr val="tx1"/>
                          </a:solidFill>
                          <a:latin typeface="Calibri"/>
                          <a:ea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Flow Label</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extLst>
                  <a:ext uri="{0D108BD9-81ED-4DB2-BD59-A6C34878D82A}">
                    <a16:rowId xmlns:a16="http://schemas.microsoft.com/office/drawing/2014/main" val="10000"/>
                  </a:ext>
                </a:extLst>
              </a:tr>
              <a:tr h="458347">
                <a:tc gridSpan="4">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Payload</a:t>
                      </a:r>
                      <a:r>
                        <a:rPr lang="en-US" altLang="zh-CN" sz="1600" b="0" i="0" u="none" strike="noStrike" baseline="0" dirty="0">
                          <a:solidFill>
                            <a:schemeClr val="tx1"/>
                          </a:solidFill>
                          <a:effectLst/>
                          <a:latin typeface="Calibri" pitchFamily="34" charset="0"/>
                          <a:ea typeface="宋体" panose="02010600030101010101" pitchFamily="2" charset="-122"/>
                          <a:cs typeface="Calibri" pitchFamily="34" charset="0"/>
                        </a:rPr>
                        <a:t> Length</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endParaRPr lang="zh-CN" altLang="en-US"/>
                    </a:p>
                  </a:txBody>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endParaRPr lang="zh-CN" altLang="en-US"/>
                    </a:p>
                  </a:txBody>
                  <a:tcPr/>
                </a:tc>
                <a:tc>
                  <a:txBody>
                    <a:bodyPr/>
                    <a:lstStyle>
                      <a:lvl1pPr marL="0" algn="l" defTabSz="1219444" rtl="0" eaLnBrk="1" latinLnBrk="0" hangingPunct="1">
                        <a:defRPr sz="2400" kern="1200">
                          <a:solidFill>
                            <a:schemeClr val="tx1"/>
                          </a:solidFill>
                          <a:latin typeface="Calibri"/>
                          <a:ea typeface="宋体"/>
                        </a:defRPr>
                      </a:lvl1pPr>
                      <a:lvl2pPr marL="609722" algn="l" defTabSz="1219444" rtl="0" eaLnBrk="1" latinLnBrk="0" hangingPunct="1">
                        <a:defRPr sz="2400" kern="1200">
                          <a:solidFill>
                            <a:schemeClr val="tx1"/>
                          </a:solidFill>
                          <a:latin typeface="Calibri"/>
                          <a:ea typeface="宋体"/>
                        </a:defRPr>
                      </a:lvl2pPr>
                      <a:lvl3pPr marL="1219444" algn="l" defTabSz="1219444" rtl="0" eaLnBrk="1" latinLnBrk="0" hangingPunct="1">
                        <a:defRPr sz="2400" kern="1200">
                          <a:solidFill>
                            <a:schemeClr val="tx1"/>
                          </a:solidFill>
                          <a:latin typeface="Calibri"/>
                          <a:ea typeface="宋体"/>
                        </a:defRPr>
                      </a:lvl3pPr>
                      <a:lvl4pPr marL="1829166" algn="l" defTabSz="1219444" rtl="0" eaLnBrk="1" latinLnBrk="0" hangingPunct="1">
                        <a:defRPr sz="2400" kern="1200">
                          <a:solidFill>
                            <a:schemeClr val="tx1"/>
                          </a:solidFill>
                          <a:latin typeface="Calibri"/>
                          <a:ea typeface="宋体"/>
                        </a:defRPr>
                      </a:lvl4pPr>
                      <a:lvl5pPr marL="2438888" algn="l" defTabSz="1219444" rtl="0" eaLnBrk="1" latinLnBrk="0" hangingPunct="1">
                        <a:defRPr sz="2400" kern="1200">
                          <a:solidFill>
                            <a:schemeClr val="tx1"/>
                          </a:solidFill>
                          <a:latin typeface="Calibri"/>
                          <a:ea typeface="宋体"/>
                        </a:defRPr>
                      </a:lvl5pPr>
                      <a:lvl6pPr marL="3048610" algn="l" defTabSz="1219444" rtl="0" eaLnBrk="1" latinLnBrk="0" hangingPunct="1">
                        <a:defRPr sz="2400" kern="1200">
                          <a:solidFill>
                            <a:schemeClr val="tx1"/>
                          </a:solidFill>
                          <a:latin typeface="Calibri"/>
                          <a:ea typeface="宋体"/>
                        </a:defRPr>
                      </a:lvl6pPr>
                      <a:lvl7pPr marL="3658332" algn="l" defTabSz="1219444" rtl="0" eaLnBrk="1" latinLnBrk="0" hangingPunct="1">
                        <a:defRPr sz="2400" kern="1200">
                          <a:solidFill>
                            <a:schemeClr val="tx1"/>
                          </a:solidFill>
                          <a:latin typeface="Calibri"/>
                          <a:ea typeface="宋体"/>
                        </a:defRPr>
                      </a:lvl7pPr>
                      <a:lvl8pPr marL="4268053" algn="l" defTabSz="1219444" rtl="0" eaLnBrk="1" latinLnBrk="0" hangingPunct="1">
                        <a:defRPr sz="2400" kern="1200">
                          <a:solidFill>
                            <a:schemeClr val="tx1"/>
                          </a:solidFill>
                          <a:latin typeface="Calibri"/>
                          <a:ea typeface="宋体"/>
                        </a:defRPr>
                      </a:lvl8pPr>
                      <a:lvl9pPr marL="4877775" algn="l" defTabSz="1219444" rtl="0" eaLnBrk="1" latinLnBrk="0" hangingPunct="1">
                        <a:defRPr sz="2400" kern="1200">
                          <a:solidFill>
                            <a:schemeClr val="tx1"/>
                          </a:solidFill>
                          <a:latin typeface="Calibri"/>
                          <a:ea typeface="宋体"/>
                        </a:defRPr>
                      </a:lvl9pPr>
                    </a:lstStyle>
                    <a:p>
                      <a:pPr algn="l" fontAlgn="ctr"/>
                      <a:r>
                        <a:rPr lang="en-US" altLang="zh-CN" sz="1600" b="0" i="0" u="none" strike="noStrike" dirty="0">
                          <a:solidFill>
                            <a:srgbClr val="0070C0"/>
                          </a:solidFill>
                          <a:effectLst/>
                          <a:latin typeface="Calibri" pitchFamily="34" charset="0"/>
                          <a:ea typeface="宋体" panose="02010600030101010101" pitchFamily="2" charset="-122"/>
                          <a:cs typeface="Calibri" pitchFamily="34" charset="0"/>
                        </a:rPr>
                        <a:t>Next Header = 43</a:t>
                      </a:r>
                      <a:endParaRPr lang="zh-CN" altLang="en-US" sz="1600" b="0" i="0" u="none" strike="noStrike"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Hop Limit</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val="10001"/>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Source Address</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extLst>
                  <a:ext uri="{0D108BD9-81ED-4DB2-BD59-A6C34878D82A}">
                    <a16:rowId xmlns:a16="http://schemas.microsoft.com/office/drawing/2014/main" val="10002"/>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Destination Address</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extLst>
                  <a:ext uri="{0D108BD9-81ED-4DB2-BD59-A6C34878D82A}">
                    <a16:rowId xmlns:a16="http://schemas.microsoft.com/office/drawing/2014/main" val="10003"/>
                  </a:ext>
                </a:extLst>
              </a:tr>
              <a:tr h="458347">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Next </a:t>
                      </a:r>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Header</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err="1">
                          <a:solidFill>
                            <a:schemeClr val="tx1"/>
                          </a:solidFill>
                          <a:effectLst/>
                          <a:latin typeface="Calibri" pitchFamily="34" charset="0"/>
                          <a:ea typeface="宋体" panose="02010600030101010101" pitchFamily="2" charset="-122"/>
                          <a:cs typeface="Calibri" pitchFamily="34" charset="0"/>
                        </a:rPr>
                        <a:t>Hdr</a:t>
                      </a:r>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 Ext Len</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Routing Type = 4 </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Segments Left</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val="10004"/>
                  </a:ext>
                </a:extLst>
              </a:tr>
              <a:tr h="458347">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Last Entry</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Flags </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Tag </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val="10005"/>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Segment List[0]</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a:t>
                      </a: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128bits IPv6 Address</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a:t>
                      </a: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val="10006"/>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marR="0" lvl="0" indent="0" algn="l" defTabSz="911273" rtl="0" eaLnBrk="1" fontAlgn="ctr" latinLnBrk="0" hangingPunct="1">
                        <a:lnSpc>
                          <a:spcPct val="100000"/>
                        </a:lnSpc>
                        <a:spcBef>
                          <a:spcPts val="0"/>
                        </a:spcBef>
                        <a:spcAft>
                          <a:spcPts val="0"/>
                        </a:spcAft>
                        <a:buClrTx/>
                        <a:buSzTx/>
                        <a:buFontTx/>
                        <a:buNone/>
                        <a:tabLst/>
                        <a:defRPr/>
                      </a:pP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val="10007"/>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marR="0" lvl="0" indent="0" algn="l" defTabSz="911273" rtl="0" eaLnBrk="1" fontAlgn="ctr" latinLnBrk="0" hangingPunct="1">
                        <a:lnSpc>
                          <a:spcPct val="100000"/>
                        </a:lnSpc>
                        <a:spcBef>
                          <a:spcPts val="0"/>
                        </a:spcBef>
                        <a:spcAft>
                          <a:spcPts val="0"/>
                        </a:spcAft>
                        <a:buClrTx/>
                        <a:buSzTx/>
                        <a:buFontTx/>
                        <a:buNone/>
                        <a:tabLst/>
                        <a:defRPr/>
                      </a:pP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Segment List[n]</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 （</a:t>
                      </a: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128bits IPv6 Address</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a:t>
                      </a: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val="10008"/>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marR="0" lvl="0" indent="0" algn="l" defTabSz="911273" rtl="0" eaLnBrk="1" fontAlgn="ctr" latinLnBrk="0" hangingPunct="1">
                        <a:lnSpc>
                          <a:spcPct val="100000"/>
                        </a:lnSpc>
                        <a:spcBef>
                          <a:spcPts val="0"/>
                        </a:spcBef>
                        <a:spcAft>
                          <a:spcPts val="0"/>
                        </a:spcAft>
                        <a:buClrTx/>
                        <a:buSzTx/>
                        <a:buFontTx/>
                        <a:buNone/>
                        <a:tabLst/>
                        <a:defRPr/>
                      </a:pPr>
                      <a:r>
                        <a:rPr lang="en-US" sz="1600" b="0" i="0" u="none" strike="noStrike" kern="1200" dirty="0">
                          <a:solidFill>
                            <a:srgbClr val="0070C0"/>
                          </a:solidFill>
                          <a:effectLst/>
                          <a:latin typeface="Calibri" pitchFamily="34" charset="0"/>
                          <a:ea typeface="宋体" panose="02010600030101010101" pitchFamily="2" charset="-122"/>
                          <a:cs typeface="Calibri" pitchFamily="34" charset="0"/>
                        </a:rPr>
                        <a:t>Optional TLV Objects (variable)</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endParaRPr lang="en-US"/>
                    </a:p>
                  </a:txBody>
                  <a:tcPr/>
                </a:tc>
                <a:tc hMerge="1">
                  <a:txBody>
                    <a:bodyPr/>
                    <a:lstStyle/>
                    <a:p>
                      <a:endParaRPr lang="zh-CN" alt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Payload</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ysClr val="window" lastClr="FFFFFF">
                        <a:lumMod val="75000"/>
                      </a:sys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3862491624"/>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网络编程</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315534" y="1283868"/>
            <a:ext cx="11826941" cy="5259209"/>
            <a:chOff x="315534" y="1283868"/>
            <a:chExt cx="11826941" cy="5422556"/>
          </a:xfrm>
        </p:grpSpPr>
        <p:pic>
          <p:nvPicPr>
            <p:cNvPr id="11" name="图片 10"/>
            <p:cNvPicPr>
              <a:picLocks noChangeAspect="1"/>
            </p:cNvPicPr>
            <p:nvPr/>
          </p:nvPicPr>
          <p:blipFill>
            <a:blip r:embed="rId2"/>
            <a:stretch>
              <a:fillRect/>
            </a:stretch>
          </p:blipFill>
          <p:spPr>
            <a:xfrm>
              <a:off x="315534" y="1283868"/>
              <a:ext cx="7858479" cy="1065065"/>
            </a:xfrm>
            <a:prstGeom prst="rect">
              <a:avLst/>
            </a:prstGeom>
          </p:spPr>
        </p:pic>
        <p:sp>
          <p:nvSpPr>
            <p:cNvPr id="12" name="矩形 11"/>
            <p:cNvSpPr/>
            <p:nvPr/>
          </p:nvSpPr>
          <p:spPr bwMode="auto">
            <a:xfrm>
              <a:off x="384457" y="2392997"/>
              <a:ext cx="7789556" cy="350134"/>
            </a:xfrm>
            <a:prstGeom prst="rect">
              <a:avLst/>
            </a:prstGeom>
            <a:solidFill>
              <a:srgbClr val="0070C0"/>
            </a:solidFill>
            <a:ln w="31750" cap="flat" cmpd="sng" algn="ctr">
              <a:solidFill>
                <a:srgbClr val="0000FF"/>
              </a:solidFill>
              <a:prstDash val="solid"/>
              <a:round/>
              <a:headEnd type="none" w="med" len="med"/>
              <a:tailEnd type="none" w="med" len="med"/>
            </a:ln>
            <a:effectLst/>
          </p:spPr>
          <p:txBody>
            <a:bodyPr vert="horz" wrap="square" lIns="80152" tIns="40076" rIns="80152" bIns="40076" numCol="1" rtlCol="0" anchor="t" anchorCtr="0" compatLnSpc="1">
              <a:prstTxWarp prst="textNoShape">
                <a:avLst/>
              </a:prstTxWarp>
            </a:bodyPr>
            <a:lstStyle/>
            <a:p>
              <a:pPr marL="0" marR="0" indent="0" algn="l" defTabSz="801688" rtl="0" eaLnBrk="1" fontAlgn="base" latinLnBrk="0" hangingPunct="1">
                <a:lnSpc>
                  <a:spcPct val="140000"/>
                </a:lnSpc>
                <a:spcBef>
                  <a:spcPct val="0"/>
                </a:spcBef>
                <a:spcAft>
                  <a:spcPct val="0"/>
                </a:spcAft>
                <a:buClr>
                  <a:schemeClr val="bg2"/>
                </a:buClr>
                <a:buSzPct val="60000"/>
                <a:tabLst/>
              </a:pPr>
              <a:r>
                <a:rPr lang="en-US" altLang="zh-CN" sz="1400" dirty="0" err="1">
                  <a:solidFill>
                    <a:schemeClr val="bg1"/>
                  </a:solidFill>
                  <a:latin typeface="FrutigerNext LT Regular" pitchFamily="34" charset="0"/>
                  <a:ea typeface="华文细黑" pitchFamily="2" charset="-122"/>
                </a:rPr>
                <a:t>SegmentList</a:t>
              </a:r>
              <a:r>
                <a:rPr lang="en-US" altLang="zh-CN" sz="1400" dirty="0">
                  <a:solidFill>
                    <a:schemeClr val="bg1"/>
                  </a:solidFill>
                  <a:latin typeface="FrutigerNext LT Regular" pitchFamily="34" charset="0"/>
                  <a:ea typeface="华文细黑" pitchFamily="2" charset="-122"/>
                </a:rPr>
                <a:t>: A2::23, A3::34, A4::45, A5::56, A6::100.    </a:t>
              </a:r>
              <a:r>
                <a:rPr lang="zh-CN" altLang="en-US" sz="1400" dirty="0">
                  <a:solidFill>
                    <a:schemeClr val="bg1"/>
                  </a:solidFill>
                  <a:latin typeface="FrutigerNext LT Regular" pitchFamily="34" charset="0"/>
                  <a:ea typeface="华文细黑" pitchFamily="2" charset="-122"/>
                </a:rPr>
                <a:t>若干个有序的段</a:t>
              </a:r>
              <a:r>
                <a:rPr lang="en-US" altLang="zh-CN" sz="1400" dirty="0">
                  <a:solidFill>
                    <a:schemeClr val="bg1"/>
                  </a:solidFill>
                  <a:latin typeface="FrutigerNext LT Regular" pitchFamily="34" charset="0"/>
                  <a:ea typeface="华文细黑" pitchFamily="2" charset="-122"/>
                </a:rPr>
                <a:t>ID</a:t>
              </a:r>
              <a:r>
                <a:rPr lang="zh-CN" altLang="en-US" sz="1400" dirty="0">
                  <a:solidFill>
                    <a:schemeClr val="bg1"/>
                  </a:solidFill>
                  <a:latin typeface="FrutigerNext LT Regular" pitchFamily="34" charset="0"/>
                  <a:ea typeface="华文细黑" pitchFamily="2" charset="-122"/>
                </a:rPr>
                <a:t>组合成段列表。</a:t>
              </a:r>
              <a:r>
                <a:rPr lang="en-US" altLang="zh-CN" sz="1400" dirty="0">
                  <a:solidFill>
                    <a:schemeClr val="bg1"/>
                  </a:solidFill>
                  <a:latin typeface="FrutigerNext LT Regular" pitchFamily="34" charset="0"/>
                  <a:ea typeface="华文细黑" pitchFamily="2" charset="-122"/>
                </a:rPr>
                <a:t> </a:t>
              </a:r>
              <a:endParaRPr kumimoji="0" lang="zh-CN" altLang="en-US" sz="1400" b="0" i="0" u="none" strike="noStrike" cap="none" normalizeH="0" baseline="0" dirty="0">
                <a:ln>
                  <a:noFill/>
                </a:ln>
                <a:solidFill>
                  <a:schemeClr val="bg1"/>
                </a:solidFill>
                <a:effectLst/>
                <a:latin typeface="FrutigerNext LT Regular" pitchFamily="34" charset="0"/>
                <a:ea typeface="华文细黑" pitchFamily="2" charset="-122"/>
              </a:endParaRPr>
            </a:p>
          </p:txBody>
        </p:sp>
        <p:sp>
          <p:nvSpPr>
            <p:cNvPr id="13" name="矩形 12"/>
            <p:cNvSpPr/>
            <p:nvPr/>
          </p:nvSpPr>
          <p:spPr bwMode="auto">
            <a:xfrm>
              <a:off x="8605013" y="1507695"/>
              <a:ext cx="3418821" cy="2986825"/>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Router to B:</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SL--</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Copy </a:t>
              </a:r>
              <a:r>
                <a:rPr lang="en-US" altLang="zh-CN" sz="1200" dirty="0" err="1">
                  <a:solidFill>
                    <a:schemeClr val="bg1"/>
                  </a:solidFill>
                  <a:latin typeface="FrutigerNext LT Regular" pitchFamily="34" charset="0"/>
                  <a:ea typeface="华文细黑" pitchFamily="2" charset="-122"/>
                </a:rPr>
                <a:t>SegmentList</a:t>
              </a:r>
              <a:r>
                <a:rPr lang="en-US" altLang="zh-CN" sz="1200" dirty="0">
                  <a:solidFill>
                    <a:schemeClr val="bg1"/>
                  </a:solidFill>
                  <a:latin typeface="FrutigerNext LT Regular" pitchFamily="34" charset="0"/>
                  <a:ea typeface="华文细黑" pitchFamily="2" charset="-122"/>
                </a:rPr>
                <a:t>[SL] to Ipv6 DA;</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Forwarding towards </a:t>
              </a:r>
              <a:r>
                <a:rPr lang="en-US" altLang="zh-CN" sz="1200" dirty="0" err="1">
                  <a:solidFill>
                    <a:schemeClr val="bg1"/>
                  </a:solidFill>
                  <a:latin typeface="FrutigerNext LT Regular" pitchFamily="34" charset="0"/>
                  <a:ea typeface="华文细黑" pitchFamily="2" charset="-122"/>
                </a:rPr>
                <a:t>End.x.Intf</a:t>
              </a: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Router to C:</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SL--</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Copy </a:t>
              </a:r>
              <a:r>
                <a:rPr lang="en-US" altLang="zh-CN" sz="1200" dirty="0" err="1">
                  <a:solidFill>
                    <a:schemeClr val="bg1"/>
                  </a:solidFill>
                  <a:latin typeface="FrutigerNext LT Regular" pitchFamily="34" charset="0"/>
                  <a:ea typeface="华文细黑" pitchFamily="2" charset="-122"/>
                </a:rPr>
                <a:t>SegmentList</a:t>
              </a:r>
              <a:r>
                <a:rPr lang="en-US" altLang="zh-CN" sz="1200" dirty="0">
                  <a:solidFill>
                    <a:schemeClr val="bg1"/>
                  </a:solidFill>
                  <a:latin typeface="FrutigerNext LT Regular" pitchFamily="34" charset="0"/>
                  <a:ea typeface="华文细黑" pitchFamily="2" charset="-122"/>
                </a:rPr>
                <a:t>[SL] to Ipv6 DA;</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Forwarding towards </a:t>
              </a:r>
              <a:r>
                <a:rPr lang="en-US" altLang="zh-CN" sz="1200" dirty="0" err="1">
                  <a:solidFill>
                    <a:schemeClr val="bg1"/>
                  </a:solidFill>
                  <a:latin typeface="FrutigerNext LT Regular" pitchFamily="34" charset="0"/>
                  <a:ea typeface="华文细黑" pitchFamily="2" charset="-122"/>
                </a:rPr>
                <a:t>End.x.Intf</a:t>
              </a: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Router to F:</a:t>
              </a: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Remove IPv6 header and extension header</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Lookup End.DT4.Table Fib;</a:t>
              </a: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Forwarding;</a:t>
              </a:r>
            </a:p>
          </p:txBody>
        </p:sp>
        <p:grpSp>
          <p:nvGrpSpPr>
            <p:cNvPr id="14" name="组合 13"/>
            <p:cNvGrpSpPr/>
            <p:nvPr/>
          </p:nvGrpSpPr>
          <p:grpSpPr>
            <a:xfrm>
              <a:off x="384457" y="2919000"/>
              <a:ext cx="7872353" cy="3731980"/>
              <a:chOff x="850316" y="1616106"/>
              <a:chExt cx="7039515" cy="4441793"/>
            </a:xfrm>
          </p:grpSpPr>
          <p:sp>
            <p:nvSpPr>
              <p:cNvPr id="15" name="矩形 14"/>
              <p:cNvSpPr/>
              <p:nvPr/>
            </p:nvSpPr>
            <p:spPr>
              <a:xfrm>
                <a:off x="850316" y="1628775"/>
                <a:ext cx="7039515" cy="4429124"/>
              </a:xfrm>
              <a:prstGeom prst="rect">
                <a:avLst/>
              </a:prstGeom>
              <a:solidFill>
                <a:srgbClr val="FFFFFF"/>
              </a:solidFill>
              <a:ln w="12700" cap="flat" cmpd="sng" algn="ctr">
                <a:gradFill>
                  <a:gsLst>
                    <a:gs pos="0">
                      <a:srgbClr val="DDDDDD"/>
                    </a:gs>
                    <a:gs pos="49000">
                      <a:srgbClr val="FFFFFF">
                        <a:lumMod val="85000"/>
                        <a:alpha val="31000"/>
                      </a:srgbClr>
                    </a:gs>
                    <a:gs pos="100000">
                      <a:srgbClr val="DDDDDD">
                        <a:alpha val="0"/>
                      </a:srgbClr>
                    </a:gs>
                  </a:gsLst>
                  <a:lin ang="5400000" scaled="1"/>
                </a:gradFill>
                <a:prstDash val="solid"/>
                <a:miter lim="800000"/>
              </a:ln>
              <a:effectLst>
                <a:outerShdw blurRad="101600" dist="114300" dir="2700000" algn="tl" rotWithShape="0">
                  <a:prstClr val="black">
                    <a:alpha val="36000"/>
                  </a:prstClr>
                </a:outerShdw>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16" name="矩形 15"/>
              <p:cNvSpPr/>
              <p:nvPr/>
            </p:nvSpPr>
            <p:spPr>
              <a:xfrm>
                <a:off x="1040970" y="1616106"/>
                <a:ext cx="2531165" cy="4032735"/>
              </a:xfrm>
              <a:prstGeom prst="rect">
                <a:avLst/>
              </a:prstGeom>
              <a:gradFill flip="none" rotWithShape="1">
                <a:gsLst>
                  <a:gs pos="0">
                    <a:srgbClr val="666666">
                      <a:alpha val="5000"/>
                    </a:srgbClr>
                  </a:gs>
                  <a:gs pos="100000">
                    <a:srgbClr val="666666">
                      <a:alpha val="0"/>
                    </a:srgbClr>
                  </a:gs>
                </a:gsLst>
                <a:lin ang="16200000" scaled="1"/>
                <a:tileRect/>
              </a:gradFill>
              <a:ln>
                <a:noFill/>
              </a:ln>
            </p:spPr>
            <p:txBody>
              <a:bodyPr vert="horz" wrap="square" lIns="244171" tIns="122085" rIns="244171" bIns="122085" numCol="1" anchor="t" anchorCtr="0" compatLnSpc="1">
                <a:prstTxWarp prst="textNoShape">
                  <a:avLst/>
                </a:prstTxWarp>
              </a:bodyPr>
              <a:lstStyle/>
              <a:p>
                <a:pPr defTabSz="914478"/>
                <a:endParaRPr lang="zh-CN" altLang="en-US">
                  <a:solidFill>
                    <a:srgbClr val="1D1D1A"/>
                  </a:solidFill>
                  <a:ea typeface="方正兰亭黑简体"/>
                  <a:cs typeface="+mn-ea"/>
                  <a:sym typeface="+mn-lt"/>
                </a:endParaRPr>
              </a:p>
            </p:txBody>
          </p:sp>
          <p:grpSp>
            <p:nvGrpSpPr>
              <p:cNvPr id="17" name="组合 16"/>
              <p:cNvGrpSpPr/>
              <p:nvPr/>
            </p:nvGrpSpPr>
            <p:grpSpPr>
              <a:xfrm>
                <a:off x="4180366" y="3730437"/>
                <a:ext cx="3527079" cy="973402"/>
                <a:chOff x="4180366" y="3189027"/>
                <a:chExt cx="3527079" cy="973402"/>
              </a:xfrm>
            </p:grpSpPr>
            <p:sp>
              <p:nvSpPr>
                <p:cNvPr id="81" name="矩形 60"/>
                <p:cNvSpPr/>
                <p:nvPr/>
              </p:nvSpPr>
              <p:spPr bwMode="auto">
                <a:xfrm>
                  <a:off x="4180367" y="3189027"/>
                  <a:ext cx="3527078" cy="973402"/>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82" name="矩形 22"/>
                <p:cNvSpPr/>
                <p:nvPr/>
              </p:nvSpPr>
              <p:spPr bwMode="auto">
                <a:xfrm>
                  <a:off x="4317286" y="3536704"/>
                  <a:ext cx="900000" cy="213616"/>
                </a:xfrm>
                <a:prstGeom prst="rect">
                  <a:avLst/>
                </a:prstGeom>
                <a:solidFill>
                  <a:srgbClr val="FFFFFF">
                    <a:lumMod val="75000"/>
                  </a:srgbClr>
                </a:solidFill>
                <a:ln>
                  <a:noFill/>
                </a:ln>
                <a:effectLst/>
              </p:spPr>
              <p:txBody>
                <a:bodyPr vert="horz" wrap="square" lIns="91440" tIns="45720" rIns="91440" bIns="45720" numCol="1" rtlCol="0" anchor="ctr"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r>
                    <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rPr>
                    <a:t>Locator</a:t>
                  </a:r>
                </a:p>
              </p:txBody>
            </p:sp>
            <p:sp>
              <p:nvSpPr>
                <p:cNvPr id="83" name="矩形 23"/>
                <p:cNvSpPr/>
                <p:nvPr/>
              </p:nvSpPr>
              <p:spPr bwMode="auto">
                <a:xfrm>
                  <a:off x="5478766" y="3536704"/>
                  <a:ext cx="900000" cy="213616"/>
                </a:xfrm>
                <a:prstGeom prst="rect">
                  <a:avLst/>
                </a:prstGeom>
                <a:solidFill>
                  <a:srgbClr val="FFFFFF">
                    <a:lumMod val="85000"/>
                  </a:srgbClr>
                </a:solidFill>
                <a:ln>
                  <a:noFill/>
                </a:ln>
                <a:effectLst/>
              </p:spPr>
              <p:txBody>
                <a:bodyPr vert="horz" wrap="square" lIns="91440" tIns="45720" rIns="91440" bIns="45720" numCol="1" rtlCol="0" anchor="ctr"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r>
                    <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rPr>
                    <a:t>Function</a:t>
                  </a:r>
                </a:p>
              </p:txBody>
            </p:sp>
            <p:sp>
              <p:nvSpPr>
                <p:cNvPr id="84" name="矩形 24"/>
                <p:cNvSpPr/>
                <p:nvPr/>
              </p:nvSpPr>
              <p:spPr bwMode="auto">
                <a:xfrm>
                  <a:off x="6640246" y="3536704"/>
                  <a:ext cx="900000" cy="213616"/>
                </a:xfrm>
                <a:prstGeom prst="rect">
                  <a:avLst/>
                </a:prstGeom>
                <a:solidFill>
                  <a:srgbClr val="FFFFFF">
                    <a:lumMod val="95000"/>
                  </a:srgbClr>
                </a:solidFill>
                <a:ln>
                  <a:noFill/>
                </a:ln>
                <a:effectLst/>
              </p:spPr>
              <p:txBody>
                <a:bodyPr vert="horz" wrap="square" lIns="91440" tIns="45720" rIns="91440" bIns="45720" numCol="1" rtlCol="0" anchor="ctr"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r>
                    <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rPr>
                    <a:t>A</a:t>
                  </a:r>
                  <a:r>
                    <a:rPr kumimoji="0" lang="en-US" altLang="zh-CN" sz="1050" b="0" i="0" u="none" strike="noStrike" kern="0" cap="none" spc="0" normalizeH="0" baseline="0" noProof="0" dirty="0">
                      <a:ln>
                        <a:noFill/>
                      </a:ln>
                      <a:solidFill>
                        <a:srgbClr val="EBEBEB">
                          <a:lumMod val="25000"/>
                        </a:srgbClr>
                      </a:solidFill>
                      <a:effectLst/>
                      <a:uLnTx/>
                      <a:uFillTx/>
                      <a:ea typeface="方正兰亭黑简体"/>
                      <a:cs typeface="+mn-ea"/>
                      <a:sym typeface="+mn-lt"/>
                    </a:rPr>
                    <a:t>rgument</a:t>
                  </a:r>
                  <a:endPar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85" name="矩形 84"/>
                <p:cNvSpPr/>
                <p:nvPr/>
              </p:nvSpPr>
              <p:spPr>
                <a:xfrm>
                  <a:off x="4252999" y="3730087"/>
                  <a:ext cx="1028091" cy="415402"/>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位置信息</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可达性</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sp>
              <p:nvSpPr>
                <p:cNvPr id="86" name="矩形 85"/>
                <p:cNvSpPr/>
                <p:nvPr/>
              </p:nvSpPr>
              <p:spPr>
                <a:xfrm>
                  <a:off x="5402231" y="3730087"/>
                  <a:ext cx="1026566" cy="25391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业务功能定义</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sp>
              <p:nvSpPr>
                <p:cNvPr id="87" name="矩形 86"/>
                <p:cNvSpPr/>
                <p:nvPr/>
              </p:nvSpPr>
              <p:spPr>
                <a:xfrm>
                  <a:off x="6763506" y="3730087"/>
                  <a:ext cx="689936" cy="253857"/>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增强</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sp>
              <p:nvSpPr>
                <p:cNvPr id="88" name="文本框 87"/>
                <p:cNvSpPr txBox="1"/>
                <p:nvPr/>
              </p:nvSpPr>
              <p:spPr>
                <a:xfrm>
                  <a:off x="4180366" y="3224149"/>
                  <a:ext cx="3001900" cy="461665"/>
                </a:xfrm>
                <a:prstGeom prst="rect">
                  <a:avLst/>
                </a:prstGeom>
                <a:noFill/>
              </p:spPr>
              <p:txBody>
                <a:bodyPr wrap="square" rtlCol="0">
                  <a:spAutoFit/>
                </a:bodyPr>
                <a:lstStyle/>
                <a:p>
                  <a:pPr marL="0" marR="0" lvl="0" indent="0" defTabSz="121902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可灵活编程的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Segment</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，使能业务可编程</a:t>
                  </a:r>
                </a:p>
              </p:txBody>
            </p:sp>
          </p:grpSp>
          <p:sp>
            <p:nvSpPr>
              <p:cNvPr id="18" name="梯形 5"/>
              <p:cNvSpPr/>
              <p:nvPr/>
            </p:nvSpPr>
            <p:spPr>
              <a:xfrm rot="16200000">
                <a:off x="2989974" y="3319653"/>
                <a:ext cx="1588056" cy="781637"/>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385882 w 1657354"/>
                  <a:gd name="connsiteY0" fmla="*/ 820784 h 820784"/>
                  <a:gd name="connsiteX1" fmla="*/ 0 w 1657354"/>
                  <a:gd name="connsiteY1" fmla="*/ 0 h 820784"/>
                  <a:gd name="connsiteX2" fmla="*/ 1157411 w 1657354"/>
                  <a:gd name="connsiteY2" fmla="*/ 271463 h 820784"/>
                  <a:gd name="connsiteX3" fmla="*/ 1657354 w 1657354"/>
                  <a:gd name="connsiteY3" fmla="*/ 820784 h 820784"/>
                  <a:gd name="connsiteX4" fmla="*/ 385882 w 1657354"/>
                  <a:gd name="connsiteY4" fmla="*/ 820784 h 820784"/>
                  <a:gd name="connsiteX0" fmla="*/ 385882 w 1657354"/>
                  <a:gd name="connsiteY0" fmla="*/ 820784 h 820784"/>
                  <a:gd name="connsiteX1" fmla="*/ 0 w 1657354"/>
                  <a:gd name="connsiteY1" fmla="*/ 0 h 820784"/>
                  <a:gd name="connsiteX2" fmla="*/ 271586 w 1657354"/>
                  <a:gd name="connsiteY2" fmla="*/ 0 h 820784"/>
                  <a:gd name="connsiteX3" fmla="*/ 1657354 w 1657354"/>
                  <a:gd name="connsiteY3" fmla="*/ 820784 h 820784"/>
                  <a:gd name="connsiteX4" fmla="*/ 385882 w 1657354"/>
                  <a:gd name="connsiteY4" fmla="*/ 820784 h 820784"/>
                  <a:gd name="connsiteX0" fmla="*/ 0 w 2563562"/>
                  <a:gd name="connsiteY0" fmla="*/ 831377 h 831377"/>
                  <a:gd name="connsiteX1" fmla="*/ 906208 w 2563562"/>
                  <a:gd name="connsiteY1" fmla="*/ 0 h 831377"/>
                  <a:gd name="connsiteX2" fmla="*/ 1177794 w 2563562"/>
                  <a:gd name="connsiteY2" fmla="*/ 0 h 831377"/>
                  <a:gd name="connsiteX3" fmla="*/ 2563562 w 2563562"/>
                  <a:gd name="connsiteY3" fmla="*/ 820784 h 831377"/>
                  <a:gd name="connsiteX4" fmla="*/ 0 w 2563562"/>
                  <a:gd name="connsiteY4" fmla="*/ 831377 h 831377"/>
                  <a:gd name="connsiteX0" fmla="*/ 0 w 1281414"/>
                  <a:gd name="connsiteY0" fmla="*/ 831377 h 831377"/>
                  <a:gd name="connsiteX1" fmla="*/ 906208 w 1281414"/>
                  <a:gd name="connsiteY1" fmla="*/ 0 h 831377"/>
                  <a:gd name="connsiteX2" fmla="*/ 1177794 w 1281414"/>
                  <a:gd name="connsiteY2" fmla="*/ 0 h 831377"/>
                  <a:gd name="connsiteX3" fmla="*/ 1281414 w 1281414"/>
                  <a:gd name="connsiteY3" fmla="*/ 831377 h 831377"/>
                  <a:gd name="connsiteX4" fmla="*/ 0 w 1281414"/>
                  <a:gd name="connsiteY4" fmla="*/ 831377 h 831377"/>
                  <a:gd name="connsiteX0" fmla="*/ 17717 w 1299131"/>
                  <a:gd name="connsiteY0" fmla="*/ 831377 h 831377"/>
                  <a:gd name="connsiteX1" fmla="*/ 0 w 1299131"/>
                  <a:gd name="connsiteY1" fmla="*/ 0 h 831377"/>
                  <a:gd name="connsiteX2" fmla="*/ 1195511 w 1299131"/>
                  <a:gd name="connsiteY2" fmla="*/ 0 h 831377"/>
                  <a:gd name="connsiteX3" fmla="*/ 1299131 w 1299131"/>
                  <a:gd name="connsiteY3" fmla="*/ 831377 h 831377"/>
                  <a:gd name="connsiteX4" fmla="*/ 17717 w 1299131"/>
                  <a:gd name="connsiteY4" fmla="*/ 831377 h 831377"/>
                  <a:gd name="connsiteX0" fmla="*/ 17717 w 1299131"/>
                  <a:gd name="connsiteY0" fmla="*/ 851678 h 851678"/>
                  <a:gd name="connsiteX1" fmla="*/ 0 w 1299131"/>
                  <a:gd name="connsiteY1" fmla="*/ 20301 h 851678"/>
                  <a:gd name="connsiteX2" fmla="*/ 290636 w 1299131"/>
                  <a:gd name="connsiteY2" fmla="*/ 0 h 851678"/>
                  <a:gd name="connsiteX3" fmla="*/ 1299131 w 1299131"/>
                  <a:gd name="connsiteY3" fmla="*/ 851678 h 851678"/>
                  <a:gd name="connsiteX4" fmla="*/ 17717 w 1299131"/>
                  <a:gd name="connsiteY4" fmla="*/ 851678 h 851678"/>
                  <a:gd name="connsiteX0" fmla="*/ 17717 w 1299131"/>
                  <a:gd name="connsiteY0" fmla="*/ 841524 h 841524"/>
                  <a:gd name="connsiteX1" fmla="*/ 0 w 1299131"/>
                  <a:gd name="connsiteY1" fmla="*/ 10147 h 841524"/>
                  <a:gd name="connsiteX2" fmla="*/ 852611 w 1299131"/>
                  <a:gd name="connsiteY2" fmla="*/ 0 h 841524"/>
                  <a:gd name="connsiteX3" fmla="*/ 1299131 w 1299131"/>
                  <a:gd name="connsiteY3" fmla="*/ 841524 h 841524"/>
                  <a:gd name="connsiteX4" fmla="*/ 17717 w 1299131"/>
                  <a:gd name="connsiteY4" fmla="*/ 841524 h 841524"/>
                  <a:gd name="connsiteX0" fmla="*/ 17717 w 2061131"/>
                  <a:gd name="connsiteY0" fmla="*/ 841524 h 841524"/>
                  <a:gd name="connsiteX1" fmla="*/ 0 w 2061131"/>
                  <a:gd name="connsiteY1" fmla="*/ 10147 h 841524"/>
                  <a:gd name="connsiteX2" fmla="*/ 852611 w 2061131"/>
                  <a:gd name="connsiteY2" fmla="*/ 0 h 841524"/>
                  <a:gd name="connsiteX3" fmla="*/ 2061131 w 2061131"/>
                  <a:gd name="connsiteY3" fmla="*/ 841524 h 841524"/>
                  <a:gd name="connsiteX4" fmla="*/ 17717 w 2061131"/>
                  <a:gd name="connsiteY4" fmla="*/ 841524 h 841524"/>
                  <a:gd name="connsiteX0" fmla="*/ 1417892 w 2061131"/>
                  <a:gd name="connsiteY0" fmla="*/ 831372 h 841524"/>
                  <a:gd name="connsiteX1" fmla="*/ 0 w 2061131"/>
                  <a:gd name="connsiteY1" fmla="*/ 10147 h 841524"/>
                  <a:gd name="connsiteX2" fmla="*/ 852611 w 2061131"/>
                  <a:gd name="connsiteY2" fmla="*/ 0 h 841524"/>
                  <a:gd name="connsiteX3" fmla="*/ 2061131 w 2061131"/>
                  <a:gd name="connsiteY3" fmla="*/ 841524 h 841524"/>
                  <a:gd name="connsiteX4" fmla="*/ 1417892 w 2061131"/>
                  <a:gd name="connsiteY4" fmla="*/ 831372 h 841524"/>
                  <a:gd name="connsiteX0" fmla="*/ 1713167 w 2356406"/>
                  <a:gd name="connsiteY0" fmla="*/ 831372 h 841524"/>
                  <a:gd name="connsiteX1" fmla="*/ 0 w 2356406"/>
                  <a:gd name="connsiteY1" fmla="*/ 30451 h 841524"/>
                  <a:gd name="connsiteX2" fmla="*/ 1147886 w 2356406"/>
                  <a:gd name="connsiteY2" fmla="*/ 0 h 841524"/>
                  <a:gd name="connsiteX3" fmla="*/ 2356406 w 2356406"/>
                  <a:gd name="connsiteY3" fmla="*/ 841524 h 841524"/>
                  <a:gd name="connsiteX4" fmla="*/ 1713167 w 2356406"/>
                  <a:gd name="connsiteY4" fmla="*/ 831372 h 841524"/>
                  <a:gd name="connsiteX0" fmla="*/ 1656017 w 2356406"/>
                  <a:gd name="connsiteY0" fmla="*/ 817839 h 841524"/>
                  <a:gd name="connsiteX1" fmla="*/ 0 w 2356406"/>
                  <a:gd name="connsiteY1" fmla="*/ 30451 h 841524"/>
                  <a:gd name="connsiteX2" fmla="*/ 1147886 w 2356406"/>
                  <a:gd name="connsiteY2" fmla="*/ 0 h 841524"/>
                  <a:gd name="connsiteX3" fmla="*/ 2356406 w 2356406"/>
                  <a:gd name="connsiteY3" fmla="*/ 841524 h 841524"/>
                  <a:gd name="connsiteX4" fmla="*/ 1656017 w 2356406"/>
                  <a:gd name="connsiteY4" fmla="*/ 817839 h 841524"/>
                  <a:gd name="connsiteX0" fmla="*/ 1656017 w 2286556"/>
                  <a:gd name="connsiteY0" fmla="*/ 817839 h 834759"/>
                  <a:gd name="connsiteX1" fmla="*/ 0 w 2286556"/>
                  <a:gd name="connsiteY1" fmla="*/ 30451 h 834759"/>
                  <a:gd name="connsiteX2" fmla="*/ 1147886 w 2286556"/>
                  <a:gd name="connsiteY2" fmla="*/ 0 h 834759"/>
                  <a:gd name="connsiteX3" fmla="*/ 2286556 w 2286556"/>
                  <a:gd name="connsiteY3" fmla="*/ 834759 h 834759"/>
                  <a:gd name="connsiteX4" fmla="*/ 1656017 w 2286556"/>
                  <a:gd name="connsiteY4" fmla="*/ 817839 h 834759"/>
                  <a:gd name="connsiteX0" fmla="*/ 1646492 w 2286556"/>
                  <a:gd name="connsiteY0" fmla="*/ 838143 h 838143"/>
                  <a:gd name="connsiteX1" fmla="*/ 0 w 2286556"/>
                  <a:gd name="connsiteY1" fmla="*/ 30451 h 838143"/>
                  <a:gd name="connsiteX2" fmla="*/ 1147886 w 2286556"/>
                  <a:gd name="connsiteY2" fmla="*/ 0 h 838143"/>
                  <a:gd name="connsiteX3" fmla="*/ 2286556 w 2286556"/>
                  <a:gd name="connsiteY3" fmla="*/ 834759 h 838143"/>
                  <a:gd name="connsiteX4" fmla="*/ 1646492 w 2286556"/>
                  <a:gd name="connsiteY4" fmla="*/ 838143 h 838143"/>
                  <a:gd name="connsiteX0" fmla="*/ 1084517 w 2286556"/>
                  <a:gd name="connsiteY0" fmla="*/ 827994 h 834759"/>
                  <a:gd name="connsiteX1" fmla="*/ 0 w 2286556"/>
                  <a:gd name="connsiteY1" fmla="*/ 30451 h 834759"/>
                  <a:gd name="connsiteX2" fmla="*/ 1147886 w 2286556"/>
                  <a:gd name="connsiteY2" fmla="*/ 0 h 834759"/>
                  <a:gd name="connsiteX3" fmla="*/ 2286556 w 2286556"/>
                  <a:gd name="connsiteY3" fmla="*/ 834759 h 834759"/>
                  <a:gd name="connsiteX4" fmla="*/ 1084517 w 2286556"/>
                  <a:gd name="connsiteY4" fmla="*/ 827994 h 834759"/>
                  <a:gd name="connsiteX0" fmla="*/ 1084517 w 1734106"/>
                  <a:gd name="connsiteY0" fmla="*/ 827994 h 829683"/>
                  <a:gd name="connsiteX1" fmla="*/ 0 w 1734106"/>
                  <a:gd name="connsiteY1" fmla="*/ 30451 h 829683"/>
                  <a:gd name="connsiteX2" fmla="*/ 1147886 w 1734106"/>
                  <a:gd name="connsiteY2" fmla="*/ 0 h 829683"/>
                  <a:gd name="connsiteX3" fmla="*/ 1734106 w 1734106"/>
                  <a:gd name="connsiteY3" fmla="*/ 829683 h 829683"/>
                  <a:gd name="connsiteX4" fmla="*/ 1084517 w 1734106"/>
                  <a:gd name="connsiteY4" fmla="*/ 827994 h 829683"/>
                  <a:gd name="connsiteX0" fmla="*/ 1084517 w 1845231"/>
                  <a:gd name="connsiteY0" fmla="*/ 827994 h 833066"/>
                  <a:gd name="connsiteX1" fmla="*/ 0 w 1845231"/>
                  <a:gd name="connsiteY1" fmla="*/ 30451 h 833066"/>
                  <a:gd name="connsiteX2" fmla="*/ 1147886 w 1845231"/>
                  <a:gd name="connsiteY2" fmla="*/ 0 h 833066"/>
                  <a:gd name="connsiteX3" fmla="*/ 1845231 w 1845231"/>
                  <a:gd name="connsiteY3" fmla="*/ 833066 h 833066"/>
                  <a:gd name="connsiteX4" fmla="*/ 1084517 w 1845231"/>
                  <a:gd name="connsiteY4" fmla="*/ 827994 h 833066"/>
                  <a:gd name="connsiteX0" fmla="*/ 1189292 w 1845231"/>
                  <a:gd name="connsiteY0" fmla="*/ 831378 h 833066"/>
                  <a:gd name="connsiteX1" fmla="*/ 0 w 1845231"/>
                  <a:gd name="connsiteY1" fmla="*/ 30451 h 833066"/>
                  <a:gd name="connsiteX2" fmla="*/ 1147886 w 1845231"/>
                  <a:gd name="connsiteY2" fmla="*/ 0 h 833066"/>
                  <a:gd name="connsiteX3" fmla="*/ 1845231 w 1845231"/>
                  <a:gd name="connsiteY3" fmla="*/ 833066 h 833066"/>
                  <a:gd name="connsiteX4" fmla="*/ 1189292 w 1845231"/>
                  <a:gd name="connsiteY4" fmla="*/ 831378 h 833066"/>
                  <a:gd name="connsiteX0" fmla="*/ 936880 w 1845231"/>
                  <a:gd name="connsiteY0" fmla="*/ 826301 h 833066"/>
                  <a:gd name="connsiteX1" fmla="*/ 0 w 1845231"/>
                  <a:gd name="connsiteY1" fmla="*/ 30451 h 833066"/>
                  <a:gd name="connsiteX2" fmla="*/ 1147886 w 1845231"/>
                  <a:gd name="connsiteY2" fmla="*/ 0 h 833066"/>
                  <a:gd name="connsiteX3" fmla="*/ 1845231 w 1845231"/>
                  <a:gd name="connsiteY3" fmla="*/ 833066 h 833066"/>
                  <a:gd name="connsiteX4" fmla="*/ 936880 w 1845231"/>
                  <a:gd name="connsiteY4" fmla="*/ 826301 h 833066"/>
                  <a:gd name="connsiteX0" fmla="*/ 936880 w 1588056"/>
                  <a:gd name="connsiteY0" fmla="*/ 826301 h 833066"/>
                  <a:gd name="connsiteX1" fmla="*/ 0 w 1588056"/>
                  <a:gd name="connsiteY1" fmla="*/ 30451 h 833066"/>
                  <a:gd name="connsiteX2" fmla="*/ 1147886 w 1588056"/>
                  <a:gd name="connsiteY2" fmla="*/ 0 h 833066"/>
                  <a:gd name="connsiteX3" fmla="*/ 1588056 w 1588056"/>
                  <a:gd name="connsiteY3" fmla="*/ 833066 h 833066"/>
                  <a:gd name="connsiteX4" fmla="*/ 936880 w 1588056"/>
                  <a:gd name="connsiteY4" fmla="*/ 826301 h 833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056" h="833066">
                    <a:moveTo>
                      <a:pt x="936880" y="826301"/>
                    </a:moveTo>
                    <a:lnTo>
                      <a:pt x="0" y="30451"/>
                    </a:lnTo>
                    <a:lnTo>
                      <a:pt x="1147886" y="0"/>
                    </a:lnTo>
                    <a:lnTo>
                      <a:pt x="1588056" y="833066"/>
                    </a:lnTo>
                    <a:lnTo>
                      <a:pt x="936880" y="826301"/>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sp>
            <p:nvSpPr>
              <p:cNvPr id="19" name="梯形 161"/>
              <p:cNvSpPr/>
              <p:nvPr/>
            </p:nvSpPr>
            <p:spPr>
              <a:xfrm rot="16200000">
                <a:off x="3162934" y="4964182"/>
                <a:ext cx="1249683" cy="794311"/>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0 w 1271472"/>
                  <a:gd name="connsiteY0" fmla="*/ 835069 h 835069"/>
                  <a:gd name="connsiteX1" fmla="*/ 499943 w 1271472"/>
                  <a:gd name="connsiteY1" fmla="*/ 285748 h 835069"/>
                  <a:gd name="connsiteX2" fmla="*/ 1044579 w 1271472"/>
                  <a:gd name="connsiteY2" fmla="*/ 0 h 835069"/>
                  <a:gd name="connsiteX3" fmla="*/ 1271472 w 1271472"/>
                  <a:gd name="connsiteY3" fmla="*/ 835069 h 835069"/>
                  <a:gd name="connsiteX4" fmla="*/ 0 w 1271472"/>
                  <a:gd name="connsiteY4" fmla="*/ 835069 h 835069"/>
                  <a:gd name="connsiteX0" fmla="*/ 0 w 1271472"/>
                  <a:gd name="connsiteY0" fmla="*/ 835069 h 835069"/>
                  <a:gd name="connsiteX1" fmla="*/ 779343 w 1271472"/>
                  <a:gd name="connsiteY1" fmla="*/ 1 h 835069"/>
                  <a:gd name="connsiteX2" fmla="*/ 1044579 w 1271472"/>
                  <a:gd name="connsiteY2" fmla="*/ 0 h 835069"/>
                  <a:gd name="connsiteX3" fmla="*/ 1271472 w 1271472"/>
                  <a:gd name="connsiteY3" fmla="*/ 835069 h 835069"/>
                  <a:gd name="connsiteX4" fmla="*/ 0 w 1271472"/>
                  <a:gd name="connsiteY4" fmla="*/ 835069 h 835069"/>
                  <a:gd name="connsiteX0" fmla="*/ 0 w 1271472"/>
                  <a:gd name="connsiteY0" fmla="*/ 838241 h 838241"/>
                  <a:gd name="connsiteX1" fmla="*/ 788868 w 1271472"/>
                  <a:gd name="connsiteY1" fmla="*/ 0 h 838241"/>
                  <a:gd name="connsiteX2" fmla="*/ 1044579 w 1271472"/>
                  <a:gd name="connsiteY2" fmla="*/ 3172 h 838241"/>
                  <a:gd name="connsiteX3" fmla="*/ 1271472 w 1271472"/>
                  <a:gd name="connsiteY3" fmla="*/ 838241 h 838241"/>
                  <a:gd name="connsiteX4" fmla="*/ 0 w 1271472"/>
                  <a:gd name="connsiteY4" fmla="*/ 838241 h 838241"/>
                  <a:gd name="connsiteX0" fmla="*/ 0 w 1271472"/>
                  <a:gd name="connsiteY0" fmla="*/ 838241 h 838241"/>
                  <a:gd name="connsiteX1" fmla="*/ 788868 w 1271472"/>
                  <a:gd name="connsiteY1" fmla="*/ 0 h 838241"/>
                  <a:gd name="connsiteX2" fmla="*/ 1044579 w 1271472"/>
                  <a:gd name="connsiteY2" fmla="*/ 3175 h 838241"/>
                  <a:gd name="connsiteX3" fmla="*/ 1271472 w 1271472"/>
                  <a:gd name="connsiteY3" fmla="*/ 838241 h 838241"/>
                  <a:gd name="connsiteX4" fmla="*/ 0 w 1271472"/>
                  <a:gd name="connsiteY4" fmla="*/ 838241 h 838241"/>
                  <a:gd name="connsiteX0" fmla="*/ 0 w 1728672"/>
                  <a:gd name="connsiteY0" fmla="*/ 838241 h 838241"/>
                  <a:gd name="connsiteX1" fmla="*/ 1246068 w 1728672"/>
                  <a:gd name="connsiteY1" fmla="*/ 0 h 838241"/>
                  <a:gd name="connsiteX2" fmla="*/ 1501779 w 1728672"/>
                  <a:gd name="connsiteY2" fmla="*/ 3175 h 838241"/>
                  <a:gd name="connsiteX3" fmla="*/ 1728672 w 1728672"/>
                  <a:gd name="connsiteY3" fmla="*/ 838241 h 838241"/>
                  <a:gd name="connsiteX4" fmla="*/ 0 w 1728672"/>
                  <a:gd name="connsiteY4" fmla="*/ 838241 h 838241"/>
                  <a:gd name="connsiteX0" fmla="*/ 0 w 1501779"/>
                  <a:gd name="connsiteY0" fmla="*/ 838241 h 838241"/>
                  <a:gd name="connsiteX1" fmla="*/ 1246068 w 1501779"/>
                  <a:gd name="connsiteY1" fmla="*/ 0 h 838241"/>
                  <a:gd name="connsiteX2" fmla="*/ 1501779 w 1501779"/>
                  <a:gd name="connsiteY2" fmla="*/ 3175 h 838241"/>
                  <a:gd name="connsiteX3" fmla="*/ 1301290 w 1501779"/>
                  <a:gd name="connsiteY3" fmla="*/ 838241 h 838241"/>
                  <a:gd name="connsiteX4" fmla="*/ 0 w 1501779"/>
                  <a:gd name="connsiteY4" fmla="*/ 838241 h 838241"/>
                  <a:gd name="connsiteX0" fmla="*/ 0 w 1501779"/>
                  <a:gd name="connsiteY0" fmla="*/ 835066 h 835066"/>
                  <a:gd name="connsiteX1" fmla="*/ 626943 w 1501779"/>
                  <a:gd name="connsiteY1" fmla="*/ 6979 h 835066"/>
                  <a:gd name="connsiteX2" fmla="*/ 1501779 w 1501779"/>
                  <a:gd name="connsiteY2" fmla="*/ 0 h 835066"/>
                  <a:gd name="connsiteX3" fmla="*/ 1301290 w 1501779"/>
                  <a:gd name="connsiteY3" fmla="*/ 835066 h 835066"/>
                  <a:gd name="connsiteX4" fmla="*/ 0 w 1501779"/>
                  <a:gd name="connsiteY4" fmla="*/ 835066 h 835066"/>
                  <a:gd name="connsiteX0" fmla="*/ 0 w 1301290"/>
                  <a:gd name="connsiteY0" fmla="*/ 845218 h 845218"/>
                  <a:gd name="connsiteX1" fmla="*/ 626943 w 1301290"/>
                  <a:gd name="connsiteY1" fmla="*/ 17131 h 845218"/>
                  <a:gd name="connsiteX2" fmla="*/ 911229 w 1301290"/>
                  <a:gd name="connsiteY2" fmla="*/ 0 h 845218"/>
                  <a:gd name="connsiteX3" fmla="*/ 1301290 w 1301290"/>
                  <a:gd name="connsiteY3" fmla="*/ 845218 h 845218"/>
                  <a:gd name="connsiteX4" fmla="*/ 0 w 1301290"/>
                  <a:gd name="connsiteY4" fmla="*/ 845218 h 845218"/>
                  <a:gd name="connsiteX0" fmla="*/ 0 w 1560370"/>
                  <a:gd name="connsiteY0" fmla="*/ 853339 h 853339"/>
                  <a:gd name="connsiteX1" fmla="*/ 886023 w 1560370"/>
                  <a:gd name="connsiteY1" fmla="*/ 17131 h 853339"/>
                  <a:gd name="connsiteX2" fmla="*/ 1170309 w 1560370"/>
                  <a:gd name="connsiteY2" fmla="*/ 0 h 853339"/>
                  <a:gd name="connsiteX3" fmla="*/ 1560370 w 1560370"/>
                  <a:gd name="connsiteY3" fmla="*/ 845218 h 853339"/>
                  <a:gd name="connsiteX4" fmla="*/ 0 w 1560370"/>
                  <a:gd name="connsiteY4" fmla="*/ 853339 h 853339"/>
                  <a:gd name="connsiteX0" fmla="*/ 0 w 1278430"/>
                  <a:gd name="connsiteY0" fmla="*/ 853339 h 853339"/>
                  <a:gd name="connsiteX1" fmla="*/ 886023 w 1278430"/>
                  <a:gd name="connsiteY1" fmla="*/ 17131 h 853339"/>
                  <a:gd name="connsiteX2" fmla="*/ 1170309 w 1278430"/>
                  <a:gd name="connsiteY2" fmla="*/ 0 h 853339"/>
                  <a:gd name="connsiteX3" fmla="*/ 1278430 w 1278430"/>
                  <a:gd name="connsiteY3" fmla="*/ 853339 h 853339"/>
                  <a:gd name="connsiteX4" fmla="*/ 0 w 1278430"/>
                  <a:gd name="connsiteY4" fmla="*/ 853339 h 853339"/>
                  <a:gd name="connsiteX0" fmla="*/ 0 w 1616567"/>
                  <a:gd name="connsiteY0" fmla="*/ 843187 h 853339"/>
                  <a:gd name="connsiteX1" fmla="*/ 1224160 w 1616567"/>
                  <a:gd name="connsiteY1" fmla="*/ 17131 h 853339"/>
                  <a:gd name="connsiteX2" fmla="*/ 1508446 w 1616567"/>
                  <a:gd name="connsiteY2" fmla="*/ 0 h 853339"/>
                  <a:gd name="connsiteX3" fmla="*/ 1616567 w 1616567"/>
                  <a:gd name="connsiteY3" fmla="*/ 853339 h 853339"/>
                  <a:gd name="connsiteX4" fmla="*/ 0 w 1616567"/>
                  <a:gd name="connsiteY4" fmla="*/ 843187 h 853339"/>
                  <a:gd name="connsiteX0" fmla="*/ 0 w 1508446"/>
                  <a:gd name="connsiteY0" fmla="*/ 843187 h 843190"/>
                  <a:gd name="connsiteX1" fmla="*/ 1224160 w 1508446"/>
                  <a:gd name="connsiteY1" fmla="*/ 17131 h 843190"/>
                  <a:gd name="connsiteX2" fmla="*/ 1508446 w 1508446"/>
                  <a:gd name="connsiteY2" fmla="*/ 0 h 843190"/>
                  <a:gd name="connsiteX3" fmla="*/ 1287954 w 1508446"/>
                  <a:gd name="connsiteY3" fmla="*/ 843190 h 843190"/>
                  <a:gd name="connsiteX4" fmla="*/ 0 w 1508446"/>
                  <a:gd name="connsiteY4" fmla="*/ 843187 h 843190"/>
                  <a:gd name="connsiteX0" fmla="*/ 0 w 1508446"/>
                  <a:gd name="connsiteY0" fmla="*/ 843187 h 846574"/>
                  <a:gd name="connsiteX1" fmla="*/ 1224160 w 1508446"/>
                  <a:gd name="connsiteY1" fmla="*/ 17131 h 846574"/>
                  <a:gd name="connsiteX2" fmla="*/ 1508446 w 1508446"/>
                  <a:gd name="connsiteY2" fmla="*/ 0 h 846574"/>
                  <a:gd name="connsiteX3" fmla="*/ 1386379 w 1508446"/>
                  <a:gd name="connsiteY3" fmla="*/ 846574 h 846574"/>
                  <a:gd name="connsiteX4" fmla="*/ 0 w 1508446"/>
                  <a:gd name="connsiteY4" fmla="*/ 843187 h 846574"/>
                  <a:gd name="connsiteX0" fmla="*/ 0 w 1416371"/>
                  <a:gd name="connsiteY0" fmla="*/ 839806 h 846574"/>
                  <a:gd name="connsiteX1" fmla="*/ 1132085 w 1416371"/>
                  <a:gd name="connsiteY1" fmla="*/ 17131 h 846574"/>
                  <a:gd name="connsiteX2" fmla="*/ 1416371 w 1416371"/>
                  <a:gd name="connsiteY2" fmla="*/ 0 h 846574"/>
                  <a:gd name="connsiteX3" fmla="*/ 1294304 w 1416371"/>
                  <a:gd name="connsiteY3" fmla="*/ 846574 h 846574"/>
                  <a:gd name="connsiteX4" fmla="*/ 0 w 1416371"/>
                  <a:gd name="connsiteY4" fmla="*/ 839806 h 846574"/>
                  <a:gd name="connsiteX0" fmla="*/ 0 w 1249683"/>
                  <a:gd name="connsiteY0" fmla="*/ 844883 h 846574"/>
                  <a:gd name="connsiteX1" fmla="*/ 965397 w 1249683"/>
                  <a:gd name="connsiteY1" fmla="*/ 17131 h 846574"/>
                  <a:gd name="connsiteX2" fmla="*/ 1249683 w 1249683"/>
                  <a:gd name="connsiteY2" fmla="*/ 0 h 846574"/>
                  <a:gd name="connsiteX3" fmla="*/ 1127616 w 1249683"/>
                  <a:gd name="connsiteY3" fmla="*/ 846574 h 846574"/>
                  <a:gd name="connsiteX4" fmla="*/ 0 w 1249683"/>
                  <a:gd name="connsiteY4" fmla="*/ 844883 h 846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83" h="846574">
                    <a:moveTo>
                      <a:pt x="0" y="844883"/>
                    </a:moveTo>
                    <a:lnTo>
                      <a:pt x="965397" y="17131"/>
                    </a:lnTo>
                    <a:lnTo>
                      <a:pt x="1249683" y="0"/>
                    </a:lnTo>
                    <a:lnTo>
                      <a:pt x="1127616" y="846574"/>
                    </a:lnTo>
                    <a:lnTo>
                      <a:pt x="0" y="844883"/>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grpSp>
            <p:nvGrpSpPr>
              <p:cNvPr id="20" name="组合 19"/>
              <p:cNvGrpSpPr/>
              <p:nvPr/>
            </p:nvGrpSpPr>
            <p:grpSpPr>
              <a:xfrm>
                <a:off x="4180366" y="4864223"/>
                <a:ext cx="3527078" cy="1117874"/>
                <a:chOff x="4180366" y="4800600"/>
                <a:chExt cx="3527078" cy="1117874"/>
              </a:xfrm>
            </p:grpSpPr>
            <p:sp>
              <p:nvSpPr>
                <p:cNvPr id="69" name="矩形 60"/>
                <p:cNvSpPr/>
                <p:nvPr/>
              </p:nvSpPr>
              <p:spPr bwMode="auto">
                <a:xfrm>
                  <a:off x="4180366" y="4800600"/>
                  <a:ext cx="3527078" cy="1117874"/>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70" name="文本框 69"/>
                <p:cNvSpPr txBox="1"/>
                <p:nvPr/>
              </p:nvSpPr>
              <p:spPr>
                <a:xfrm>
                  <a:off x="4180366" y="4818604"/>
                  <a:ext cx="3071224" cy="276999"/>
                </a:xfrm>
                <a:prstGeom prst="rect">
                  <a:avLst/>
                </a:prstGeom>
                <a:noFill/>
              </p:spPr>
              <p:txBody>
                <a:bodyPr vert="horz" wrap="square" rtlCol="0">
                  <a:spAutoFit/>
                </a:bodyPr>
                <a:lstStyle/>
                <a:p>
                  <a:pPr marL="0" marR="0" lvl="0" indent="0" defTabSz="121902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可编程的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Optional TLV</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，使能应用可编程</a:t>
                  </a:r>
                </a:p>
              </p:txBody>
            </p:sp>
            <p:grpSp>
              <p:nvGrpSpPr>
                <p:cNvPr id="71" name="组合 70"/>
                <p:cNvGrpSpPr/>
                <p:nvPr/>
              </p:nvGrpSpPr>
              <p:grpSpPr>
                <a:xfrm>
                  <a:off x="4508144" y="5250420"/>
                  <a:ext cx="2927299" cy="590512"/>
                  <a:chOff x="5331385" y="4899525"/>
                  <a:chExt cx="3119907" cy="590512"/>
                </a:xfrm>
              </p:grpSpPr>
              <p:grpSp>
                <p:nvGrpSpPr>
                  <p:cNvPr id="73" name="组合 72"/>
                  <p:cNvGrpSpPr/>
                  <p:nvPr/>
                </p:nvGrpSpPr>
                <p:grpSpPr>
                  <a:xfrm>
                    <a:off x="5331385" y="4899525"/>
                    <a:ext cx="1288800" cy="587822"/>
                    <a:chOff x="6950526" y="4910600"/>
                    <a:chExt cx="1288800" cy="587822"/>
                  </a:xfrm>
                </p:grpSpPr>
                <p:sp>
                  <p:nvSpPr>
                    <p:cNvPr id="78" name="矩形 77"/>
                    <p:cNvSpPr/>
                    <p:nvPr/>
                  </p:nvSpPr>
                  <p:spPr bwMode="auto">
                    <a:xfrm>
                      <a:off x="6950527" y="4910600"/>
                      <a:ext cx="1288214" cy="196303"/>
                    </a:xfrm>
                    <a:prstGeom prst="rect">
                      <a:avLst/>
                    </a:prstGeom>
                    <a:solidFill>
                      <a:srgbClr val="FFFFFF">
                        <a:lumMod val="8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APP ID</a:t>
                      </a:r>
                    </a:p>
                  </p:txBody>
                </p:sp>
                <p:sp>
                  <p:nvSpPr>
                    <p:cNvPr id="79" name="矩形 78"/>
                    <p:cNvSpPr/>
                    <p:nvPr/>
                  </p:nvSpPr>
                  <p:spPr bwMode="auto">
                    <a:xfrm>
                      <a:off x="6950526" y="5109199"/>
                      <a:ext cx="1288800" cy="188691"/>
                    </a:xfrm>
                    <a:prstGeom prst="rect">
                      <a:avLst/>
                    </a:prstGeom>
                    <a:solidFill>
                      <a:srgbClr val="FFFFFF">
                        <a:lumMod val="8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U</a:t>
                      </a:r>
                      <a:r>
                        <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rPr>
                        <a:t>ser</a:t>
                      </a: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 ID</a:t>
                      </a:r>
                    </a:p>
                  </p:txBody>
                </p:sp>
                <p:sp>
                  <p:nvSpPr>
                    <p:cNvPr id="80" name="矩形 79"/>
                    <p:cNvSpPr/>
                    <p:nvPr/>
                  </p:nvSpPr>
                  <p:spPr bwMode="auto">
                    <a:xfrm>
                      <a:off x="6950527" y="5302119"/>
                      <a:ext cx="1288214" cy="196303"/>
                    </a:xfrm>
                    <a:prstGeom prst="rect">
                      <a:avLst/>
                    </a:prstGeom>
                    <a:solidFill>
                      <a:srgbClr val="FFFFFF">
                        <a:lumMod val="8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Net Req.</a:t>
                      </a:r>
                    </a:p>
                  </p:txBody>
                </p:sp>
              </p:grpSp>
              <p:grpSp>
                <p:nvGrpSpPr>
                  <p:cNvPr id="74" name="组合 73"/>
                  <p:cNvGrpSpPr/>
                  <p:nvPr/>
                </p:nvGrpSpPr>
                <p:grpSpPr>
                  <a:xfrm>
                    <a:off x="7163078" y="4909835"/>
                    <a:ext cx="1288214" cy="580202"/>
                    <a:chOff x="5342134" y="4918219"/>
                    <a:chExt cx="1288214" cy="580202"/>
                  </a:xfrm>
                </p:grpSpPr>
                <p:sp>
                  <p:nvSpPr>
                    <p:cNvPr id="75" name="矩形 74"/>
                    <p:cNvSpPr/>
                    <p:nvPr/>
                  </p:nvSpPr>
                  <p:spPr bwMode="auto">
                    <a:xfrm>
                      <a:off x="5342134" y="4918219"/>
                      <a:ext cx="1288214" cy="196303"/>
                    </a:xfrm>
                    <a:prstGeom prst="rect">
                      <a:avLst/>
                    </a:prstGeom>
                    <a:solidFill>
                      <a:srgbClr val="FFFFFF">
                        <a:lumMod val="9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Type</a:t>
                      </a:r>
                    </a:p>
                  </p:txBody>
                </p:sp>
                <p:sp>
                  <p:nvSpPr>
                    <p:cNvPr id="76" name="矩形 75"/>
                    <p:cNvSpPr/>
                    <p:nvPr/>
                  </p:nvSpPr>
                  <p:spPr bwMode="auto">
                    <a:xfrm>
                      <a:off x="5342134" y="5116818"/>
                      <a:ext cx="1285861" cy="188691"/>
                    </a:xfrm>
                    <a:prstGeom prst="rect">
                      <a:avLst/>
                    </a:prstGeom>
                    <a:solidFill>
                      <a:srgbClr val="FFFFFF">
                        <a:lumMod val="9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Length</a:t>
                      </a:r>
                    </a:p>
                  </p:txBody>
                </p:sp>
                <p:sp>
                  <p:nvSpPr>
                    <p:cNvPr id="77" name="矩形 76"/>
                    <p:cNvSpPr/>
                    <p:nvPr/>
                  </p:nvSpPr>
                  <p:spPr bwMode="auto">
                    <a:xfrm>
                      <a:off x="5342134" y="5302118"/>
                      <a:ext cx="1288214" cy="196303"/>
                    </a:xfrm>
                    <a:prstGeom prst="rect">
                      <a:avLst/>
                    </a:prstGeom>
                    <a:solidFill>
                      <a:srgbClr val="FFFFFF">
                        <a:lumMod val="9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Service Meta</a:t>
                      </a:r>
                    </a:p>
                  </p:txBody>
                </p:sp>
              </p:grpSp>
            </p:grpSp>
            <p:sp>
              <p:nvSpPr>
                <p:cNvPr id="72" name="文本框 71"/>
                <p:cNvSpPr txBox="1"/>
                <p:nvPr/>
              </p:nvSpPr>
              <p:spPr>
                <a:xfrm>
                  <a:off x="6182238" y="4995836"/>
                  <a:ext cx="1369286" cy="300210"/>
                </a:xfrm>
                <a:prstGeom prst="rect">
                  <a:avLst/>
                </a:prstGeom>
                <a:noFill/>
              </p:spPr>
              <p:txBody>
                <a:bodyPr wrap="none" rtlCol="0" anchor="t" anchorCtr="0">
                  <a:spAutoFit/>
                </a:bodyPr>
                <a:lstStyle/>
                <a:p>
                  <a:pPr marL="266700" marR="0" lvl="0" indent="-266700" defTabSz="914400" eaLnBrk="1" fontAlgn="base" latinLnBrk="0" hangingPunct="1">
                    <a:lnSpc>
                      <a:spcPct val="150000"/>
                    </a:lnSpc>
                    <a:spcBef>
                      <a:spcPct val="0"/>
                    </a:spcBef>
                    <a:spcAft>
                      <a:spcPct val="0"/>
                    </a:spcAft>
                    <a:buClrTx/>
                    <a:buSzTx/>
                    <a:buFontTx/>
                    <a:buNone/>
                    <a:tabLst/>
                    <a:defRPr/>
                  </a:pPr>
                  <a:r>
                    <a:rPr kumimoji="0" lang="en-US" altLang="zh-CN" sz="1000" b="1" i="0" u="none" strike="noStrike" kern="0" cap="none" spc="0" normalizeH="0" baseline="0" noProof="0" dirty="0">
                      <a:ln>
                        <a:noFill/>
                      </a:ln>
                      <a:solidFill>
                        <a:srgbClr val="666666">
                          <a:lumMod val="75000"/>
                        </a:srgbClr>
                      </a:solidFill>
                      <a:effectLst/>
                      <a:uLnTx/>
                      <a:uFillTx/>
                      <a:ea typeface="方正兰亭黑简体"/>
                      <a:cs typeface="+mn-ea"/>
                      <a:sym typeface="+mn-lt"/>
                    </a:rPr>
                    <a:t>Service chain TLV</a:t>
                  </a:r>
                  <a:endParaRPr kumimoji="0" lang="zh-CN" altLang="en-US" sz="1000" b="1"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grpSp>
          <p:sp>
            <p:nvSpPr>
              <p:cNvPr id="21" name="矩形 20"/>
              <p:cNvSpPr/>
              <p:nvPr/>
            </p:nvSpPr>
            <p:spPr>
              <a:xfrm>
                <a:off x="1165946" y="2019256"/>
                <a:ext cx="10287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rgbClr val="666666"/>
                    </a:solidFill>
                    <a:effectLst/>
                    <a:uLnTx/>
                    <a:uFillTx/>
                    <a:ea typeface="方正兰亭黑简体"/>
                    <a:cs typeface="+mn-ea"/>
                    <a:sym typeface="+mn-lt"/>
                  </a:rPr>
                  <a:t>SA</a:t>
                </a:r>
                <a:endParaRPr kumimoji="0" lang="zh-CN" altLang="en-US" sz="14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2" name="矩形 21"/>
              <p:cNvSpPr/>
              <p:nvPr/>
            </p:nvSpPr>
            <p:spPr>
              <a:xfrm>
                <a:off x="2422386" y="2019256"/>
                <a:ext cx="10287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rgbClr val="666666"/>
                    </a:solidFill>
                    <a:effectLst/>
                    <a:uLnTx/>
                    <a:uFillTx/>
                    <a:ea typeface="方正兰亭黑简体"/>
                    <a:cs typeface="+mn-ea"/>
                    <a:sym typeface="+mn-lt"/>
                  </a:rPr>
                  <a:t>DA</a:t>
                </a:r>
                <a:endParaRPr kumimoji="0" lang="zh-CN" altLang="en-US" sz="14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3" name="矩形 22"/>
              <p:cNvSpPr/>
              <p:nvPr/>
            </p:nvSpPr>
            <p:spPr>
              <a:xfrm>
                <a:off x="1210502" y="3291231"/>
                <a:ext cx="21921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Segment[0]</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4" name="矩形 23"/>
              <p:cNvSpPr/>
              <p:nvPr/>
            </p:nvSpPr>
            <p:spPr>
              <a:xfrm>
                <a:off x="1210502" y="3603362"/>
                <a:ext cx="21921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Segment[1]</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5" name="矩形 24"/>
              <p:cNvSpPr/>
              <p:nvPr/>
            </p:nvSpPr>
            <p:spPr>
              <a:xfrm>
                <a:off x="1210502" y="3915493"/>
                <a:ext cx="2192100" cy="279760"/>
              </a:xfrm>
              <a:prstGeom prst="rect">
                <a:avLst/>
              </a:prstGeom>
              <a:noFill/>
              <a:ln w="12700" cap="flat" cmpd="sng" algn="ctr">
                <a:solidFill>
                  <a:srgbClr val="FFFFFF">
                    <a:lumMod val="75000"/>
                  </a:srgbClr>
                </a:solidFill>
                <a:prstDash val="solid"/>
                <a:miter lim="800000"/>
              </a:ln>
              <a:effectLst/>
            </p:spPr>
            <p:txBody>
              <a:bodyPr rtlCol="0" anchor="b"/>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800" b="0" i="0" u="none" strike="noStrike" kern="0" cap="none" spc="0" normalizeH="0" baseline="0" noProof="0" dirty="0">
                    <a:ln>
                      <a:noFill/>
                    </a:ln>
                    <a:solidFill>
                      <a:srgbClr val="666666"/>
                    </a:solidFill>
                    <a:effectLst/>
                    <a:uLnTx/>
                    <a:uFillTx/>
                    <a:ea typeface="方正兰亭黑简体"/>
                    <a:cs typeface="+mn-ea"/>
                    <a:sym typeface="+mn-lt"/>
                  </a:rPr>
                  <a:t>…</a:t>
                </a:r>
                <a:endParaRPr kumimoji="0" lang="zh-CN" altLang="en-US" sz="18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6" name="矩形 25"/>
              <p:cNvSpPr/>
              <p:nvPr/>
            </p:nvSpPr>
            <p:spPr>
              <a:xfrm>
                <a:off x="1210502" y="4227624"/>
                <a:ext cx="21921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Segment[n]</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7" name="矩形 26"/>
              <p:cNvSpPr/>
              <p:nvPr/>
            </p:nvSpPr>
            <p:spPr>
              <a:xfrm>
                <a:off x="1212036" y="4722900"/>
                <a:ext cx="2189032"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Optional TLV</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8" name="文本框 27"/>
              <p:cNvSpPr txBox="1"/>
              <p:nvPr/>
            </p:nvSpPr>
            <p:spPr>
              <a:xfrm>
                <a:off x="1488040" y="1713832"/>
                <a:ext cx="1605436" cy="307777"/>
              </a:xfrm>
              <a:prstGeom prst="rect">
                <a:avLst/>
              </a:prstGeom>
              <a:noFill/>
            </p:spPr>
            <p:txBody>
              <a:bodyPr vert="horz" wrap="square" rtlCol="0">
                <a:spAutoFit/>
              </a:bodyPr>
              <a:lstStyle/>
              <a:p>
                <a:pPr algn="ctr" defTabSz="914478"/>
                <a:r>
                  <a:rPr lang="en-US" altLang="zh-CN" sz="1400" b="1" dirty="0">
                    <a:solidFill>
                      <a:srgbClr val="666666">
                        <a:lumMod val="75000"/>
                      </a:srgbClr>
                    </a:solidFill>
                    <a:ea typeface="方正兰亭黑简体"/>
                    <a:cs typeface="+mn-ea"/>
                    <a:sym typeface="+mn-lt"/>
                  </a:rPr>
                  <a:t>IPv6 Header</a:t>
                </a:r>
              </a:p>
            </p:txBody>
          </p:sp>
          <p:sp>
            <p:nvSpPr>
              <p:cNvPr id="29" name="文本框 28"/>
              <p:cNvSpPr txBox="1"/>
              <p:nvPr/>
            </p:nvSpPr>
            <p:spPr>
              <a:xfrm>
                <a:off x="1224765" y="2878586"/>
                <a:ext cx="2316846" cy="276999"/>
              </a:xfrm>
              <a:prstGeom prst="rect">
                <a:avLst/>
              </a:prstGeom>
              <a:noFill/>
            </p:spPr>
            <p:txBody>
              <a:bodyPr vert="horz" wrap="square" rtlCol="0">
                <a:spAutoFit/>
              </a:bodyPr>
              <a:lstStyle/>
              <a:p>
                <a:pPr defTabSz="914478"/>
                <a:r>
                  <a:rPr lang="en-US" altLang="zh-CN" sz="1200" b="1" dirty="0">
                    <a:solidFill>
                      <a:srgbClr val="666666">
                        <a:lumMod val="75000"/>
                      </a:srgbClr>
                    </a:solidFill>
                    <a:ea typeface="方正兰亭黑简体"/>
                    <a:cs typeface="+mn-ea"/>
                    <a:sym typeface="+mn-lt"/>
                  </a:rPr>
                  <a:t>SR </a:t>
                </a:r>
                <a:r>
                  <a:rPr lang="zh-CN" altLang="en-US" sz="1200" b="1" dirty="0">
                    <a:solidFill>
                      <a:srgbClr val="666666">
                        <a:lumMod val="75000"/>
                      </a:srgbClr>
                    </a:solidFill>
                    <a:ea typeface="方正兰亭黑简体"/>
                    <a:cs typeface="+mn-ea"/>
                    <a:sym typeface="+mn-lt"/>
                  </a:rPr>
                  <a:t>扩展头（</a:t>
                </a:r>
                <a:r>
                  <a:rPr lang="en-US" altLang="zh-CN" sz="1200" b="1" dirty="0">
                    <a:solidFill>
                      <a:srgbClr val="666666">
                        <a:lumMod val="75000"/>
                      </a:srgbClr>
                    </a:solidFill>
                    <a:ea typeface="方正兰亭黑简体"/>
                    <a:cs typeface="+mn-ea"/>
                    <a:sym typeface="+mn-lt"/>
                  </a:rPr>
                  <a:t>Routing Header</a:t>
                </a:r>
                <a:r>
                  <a:rPr lang="zh-CN" altLang="en-US" sz="1200" b="1" dirty="0">
                    <a:solidFill>
                      <a:srgbClr val="666666">
                        <a:lumMod val="75000"/>
                      </a:srgbClr>
                    </a:solidFill>
                    <a:ea typeface="方正兰亭黑简体"/>
                    <a:cs typeface="+mn-ea"/>
                    <a:sym typeface="+mn-lt"/>
                  </a:rPr>
                  <a:t>）</a:t>
                </a:r>
                <a:endParaRPr lang="en-US" altLang="zh-CN" sz="1200" b="1" dirty="0">
                  <a:solidFill>
                    <a:srgbClr val="666666">
                      <a:lumMod val="75000"/>
                    </a:srgbClr>
                  </a:solidFill>
                  <a:ea typeface="方正兰亭黑简体"/>
                  <a:cs typeface="+mn-ea"/>
                  <a:sym typeface="+mn-lt"/>
                </a:endParaRPr>
              </a:p>
            </p:txBody>
          </p:sp>
          <p:sp>
            <p:nvSpPr>
              <p:cNvPr id="30" name="上箭头 29"/>
              <p:cNvSpPr/>
              <p:nvPr/>
            </p:nvSpPr>
            <p:spPr>
              <a:xfrm>
                <a:off x="2798229" y="2307905"/>
                <a:ext cx="209550" cy="950956"/>
              </a:xfrm>
              <a:prstGeom prst="upArrow">
                <a:avLst/>
              </a:prstGeom>
              <a:gradFill flip="none" rotWithShape="1">
                <a:gsLst>
                  <a:gs pos="100000">
                    <a:srgbClr val="666666">
                      <a:alpha val="51000"/>
                    </a:srgbClr>
                  </a:gs>
                  <a:gs pos="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sp>
            <p:nvSpPr>
              <p:cNvPr id="31" name="矩形 60"/>
              <p:cNvSpPr/>
              <p:nvPr/>
            </p:nvSpPr>
            <p:spPr bwMode="auto">
              <a:xfrm rot="5400000">
                <a:off x="1626108" y="2771789"/>
                <a:ext cx="1364816" cy="2285140"/>
              </a:xfrm>
              <a:prstGeom prst="rect">
                <a:avLst/>
              </a:prstGeom>
              <a:noFill/>
              <a:ln>
                <a:solidFill>
                  <a:srgbClr val="666666">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32" name="文本框 31"/>
              <p:cNvSpPr txBox="1"/>
              <p:nvPr/>
            </p:nvSpPr>
            <p:spPr>
              <a:xfrm rot="5400000">
                <a:off x="1854204" y="2617849"/>
                <a:ext cx="896888" cy="276999"/>
              </a:xfrm>
              <a:prstGeom prst="rect">
                <a:avLst/>
              </a:prstGeom>
              <a:noFill/>
            </p:spPr>
            <p:txBody>
              <a:bodyPr vert="horz" wrap="square" rtlCol="0">
                <a:spAutoFit/>
              </a:bodyPr>
              <a:lstStyle/>
              <a:p>
                <a:pPr algn="ctr" defTabSz="914478"/>
                <a:r>
                  <a:rPr lang="en-US" altLang="zh-CN" sz="1200" b="1" dirty="0">
                    <a:solidFill>
                      <a:srgbClr val="666666">
                        <a:lumMod val="75000"/>
                      </a:srgbClr>
                    </a:solidFill>
                    <a:ea typeface="方正兰亭黑简体"/>
                    <a:cs typeface="+mn-ea"/>
                    <a:sym typeface="+mn-lt"/>
                  </a:rPr>
                  <a:t>...</a:t>
                </a:r>
              </a:p>
            </p:txBody>
          </p:sp>
          <p:sp>
            <p:nvSpPr>
              <p:cNvPr id="40" name="文本框 39"/>
              <p:cNvSpPr txBox="1"/>
              <p:nvPr/>
            </p:nvSpPr>
            <p:spPr>
              <a:xfrm>
                <a:off x="1202464" y="2393422"/>
                <a:ext cx="1235517" cy="276999"/>
              </a:xfrm>
              <a:prstGeom prst="rect">
                <a:avLst/>
              </a:prstGeom>
              <a:noFill/>
            </p:spPr>
            <p:txBody>
              <a:bodyPr vert="horz" wrap="square" rtlCol="0">
                <a:spAutoFit/>
              </a:bodyPr>
              <a:lstStyle/>
              <a:p>
                <a:pPr defTabSz="914478"/>
                <a:r>
                  <a:rPr lang="en-US" altLang="zh-CN" sz="1200" b="1" dirty="0">
                    <a:solidFill>
                      <a:srgbClr val="666666">
                        <a:lumMod val="75000"/>
                      </a:srgbClr>
                    </a:solidFill>
                    <a:ea typeface="方正兰亭黑简体"/>
                    <a:cs typeface="+mn-ea"/>
                    <a:sym typeface="+mn-lt"/>
                  </a:rPr>
                  <a:t>IPv6</a:t>
                </a:r>
                <a:r>
                  <a:rPr lang="zh-CN" altLang="en-US" sz="1200" b="1" dirty="0">
                    <a:solidFill>
                      <a:srgbClr val="666666">
                        <a:lumMod val="75000"/>
                      </a:srgbClr>
                    </a:solidFill>
                    <a:ea typeface="方正兰亭黑简体"/>
                    <a:cs typeface="+mn-ea"/>
                    <a:sym typeface="+mn-lt"/>
                  </a:rPr>
                  <a:t>扩展头</a:t>
                </a:r>
                <a:r>
                  <a:rPr lang="en-US" altLang="zh-CN" sz="1200" b="1" dirty="0">
                    <a:solidFill>
                      <a:srgbClr val="666666">
                        <a:lumMod val="75000"/>
                      </a:srgbClr>
                    </a:solidFill>
                    <a:ea typeface="方正兰亭黑简体"/>
                    <a:cs typeface="+mn-ea"/>
                    <a:sym typeface="+mn-lt"/>
                  </a:rPr>
                  <a:t>1 </a:t>
                </a:r>
              </a:p>
            </p:txBody>
          </p:sp>
          <p:sp>
            <p:nvSpPr>
              <p:cNvPr id="41" name="矩形 40"/>
              <p:cNvSpPr/>
              <p:nvPr/>
            </p:nvSpPr>
            <p:spPr>
              <a:xfrm>
                <a:off x="1208133" y="5148477"/>
                <a:ext cx="2189032"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Payload</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42" name="梯形 5"/>
              <p:cNvSpPr/>
              <p:nvPr/>
            </p:nvSpPr>
            <p:spPr>
              <a:xfrm rot="16200000">
                <a:off x="3301277" y="3809660"/>
                <a:ext cx="969634" cy="795622"/>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385882 w 1657354"/>
                  <a:gd name="connsiteY0" fmla="*/ 820784 h 820784"/>
                  <a:gd name="connsiteX1" fmla="*/ 0 w 1657354"/>
                  <a:gd name="connsiteY1" fmla="*/ 0 h 820784"/>
                  <a:gd name="connsiteX2" fmla="*/ 1157411 w 1657354"/>
                  <a:gd name="connsiteY2" fmla="*/ 271463 h 820784"/>
                  <a:gd name="connsiteX3" fmla="*/ 1657354 w 1657354"/>
                  <a:gd name="connsiteY3" fmla="*/ 820784 h 820784"/>
                  <a:gd name="connsiteX4" fmla="*/ 385882 w 1657354"/>
                  <a:gd name="connsiteY4" fmla="*/ 820784 h 820784"/>
                  <a:gd name="connsiteX0" fmla="*/ 385882 w 1657354"/>
                  <a:gd name="connsiteY0" fmla="*/ 820784 h 820784"/>
                  <a:gd name="connsiteX1" fmla="*/ 0 w 1657354"/>
                  <a:gd name="connsiteY1" fmla="*/ 0 h 820784"/>
                  <a:gd name="connsiteX2" fmla="*/ 271586 w 1657354"/>
                  <a:gd name="connsiteY2" fmla="*/ 0 h 820784"/>
                  <a:gd name="connsiteX3" fmla="*/ 1657354 w 1657354"/>
                  <a:gd name="connsiteY3" fmla="*/ 820784 h 820784"/>
                  <a:gd name="connsiteX4" fmla="*/ 385882 w 1657354"/>
                  <a:gd name="connsiteY4" fmla="*/ 820784 h 820784"/>
                  <a:gd name="connsiteX0" fmla="*/ 0 w 2563562"/>
                  <a:gd name="connsiteY0" fmla="*/ 831377 h 831377"/>
                  <a:gd name="connsiteX1" fmla="*/ 906208 w 2563562"/>
                  <a:gd name="connsiteY1" fmla="*/ 0 h 831377"/>
                  <a:gd name="connsiteX2" fmla="*/ 1177794 w 2563562"/>
                  <a:gd name="connsiteY2" fmla="*/ 0 h 831377"/>
                  <a:gd name="connsiteX3" fmla="*/ 2563562 w 2563562"/>
                  <a:gd name="connsiteY3" fmla="*/ 820784 h 831377"/>
                  <a:gd name="connsiteX4" fmla="*/ 0 w 2563562"/>
                  <a:gd name="connsiteY4" fmla="*/ 831377 h 831377"/>
                  <a:gd name="connsiteX0" fmla="*/ 0 w 1281414"/>
                  <a:gd name="connsiteY0" fmla="*/ 831377 h 831377"/>
                  <a:gd name="connsiteX1" fmla="*/ 906208 w 1281414"/>
                  <a:gd name="connsiteY1" fmla="*/ 0 h 831377"/>
                  <a:gd name="connsiteX2" fmla="*/ 1177794 w 1281414"/>
                  <a:gd name="connsiteY2" fmla="*/ 0 h 831377"/>
                  <a:gd name="connsiteX3" fmla="*/ 1281414 w 1281414"/>
                  <a:gd name="connsiteY3" fmla="*/ 831377 h 831377"/>
                  <a:gd name="connsiteX4" fmla="*/ 0 w 1281414"/>
                  <a:gd name="connsiteY4" fmla="*/ 831377 h 831377"/>
                  <a:gd name="connsiteX0" fmla="*/ 17717 w 1299131"/>
                  <a:gd name="connsiteY0" fmla="*/ 831377 h 831377"/>
                  <a:gd name="connsiteX1" fmla="*/ 0 w 1299131"/>
                  <a:gd name="connsiteY1" fmla="*/ 0 h 831377"/>
                  <a:gd name="connsiteX2" fmla="*/ 1195511 w 1299131"/>
                  <a:gd name="connsiteY2" fmla="*/ 0 h 831377"/>
                  <a:gd name="connsiteX3" fmla="*/ 1299131 w 1299131"/>
                  <a:gd name="connsiteY3" fmla="*/ 831377 h 831377"/>
                  <a:gd name="connsiteX4" fmla="*/ 17717 w 1299131"/>
                  <a:gd name="connsiteY4" fmla="*/ 831377 h 831377"/>
                  <a:gd name="connsiteX0" fmla="*/ 17717 w 1299131"/>
                  <a:gd name="connsiteY0" fmla="*/ 851678 h 851678"/>
                  <a:gd name="connsiteX1" fmla="*/ 0 w 1299131"/>
                  <a:gd name="connsiteY1" fmla="*/ 20301 h 851678"/>
                  <a:gd name="connsiteX2" fmla="*/ 290636 w 1299131"/>
                  <a:gd name="connsiteY2" fmla="*/ 0 h 851678"/>
                  <a:gd name="connsiteX3" fmla="*/ 1299131 w 1299131"/>
                  <a:gd name="connsiteY3" fmla="*/ 851678 h 851678"/>
                  <a:gd name="connsiteX4" fmla="*/ 17717 w 1299131"/>
                  <a:gd name="connsiteY4" fmla="*/ 851678 h 851678"/>
                  <a:gd name="connsiteX0" fmla="*/ 17717 w 1184831"/>
                  <a:gd name="connsiteY0" fmla="*/ 851678 h 851678"/>
                  <a:gd name="connsiteX1" fmla="*/ 0 w 1184831"/>
                  <a:gd name="connsiteY1" fmla="*/ 20301 h 851678"/>
                  <a:gd name="connsiteX2" fmla="*/ 290636 w 1184831"/>
                  <a:gd name="connsiteY2" fmla="*/ 0 h 851678"/>
                  <a:gd name="connsiteX3" fmla="*/ 1184831 w 1184831"/>
                  <a:gd name="connsiteY3" fmla="*/ 729860 h 851678"/>
                  <a:gd name="connsiteX4" fmla="*/ 17717 w 1184831"/>
                  <a:gd name="connsiteY4" fmla="*/ 851678 h 851678"/>
                  <a:gd name="connsiteX0" fmla="*/ 0 w 1296655"/>
                  <a:gd name="connsiteY0" fmla="*/ 737981 h 737981"/>
                  <a:gd name="connsiteX1" fmla="*/ 111824 w 1296655"/>
                  <a:gd name="connsiteY1" fmla="*/ 20301 h 737981"/>
                  <a:gd name="connsiteX2" fmla="*/ 402460 w 1296655"/>
                  <a:gd name="connsiteY2" fmla="*/ 0 h 737981"/>
                  <a:gd name="connsiteX3" fmla="*/ 1296655 w 1296655"/>
                  <a:gd name="connsiteY3" fmla="*/ 729860 h 737981"/>
                  <a:gd name="connsiteX4" fmla="*/ 0 w 1296655"/>
                  <a:gd name="connsiteY4" fmla="*/ 737981 h 737981"/>
                  <a:gd name="connsiteX0" fmla="*/ 0 w 1296656"/>
                  <a:gd name="connsiteY0" fmla="*/ 737984 h 737984"/>
                  <a:gd name="connsiteX1" fmla="*/ 111825 w 1296656"/>
                  <a:gd name="connsiteY1" fmla="*/ 20301 h 737984"/>
                  <a:gd name="connsiteX2" fmla="*/ 402461 w 1296656"/>
                  <a:gd name="connsiteY2" fmla="*/ 0 h 737984"/>
                  <a:gd name="connsiteX3" fmla="*/ 1296656 w 1296656"/>
                  <a:gd name="connsiteY3" fmla="*/ 729860 h 737984"/>
                  <a:gd name="connsiteX4" fmla="*/ 0 w 1296656"/>
                  <a:gd name="connsiteY4" fmla="*/ 737984 h 737984"/>
                  <a:gd name="connsiteX0" fmla="*/ 0 w 1477631"/>
                  <a:gd name="connsiteY0" fmla="*/ 737984 h 737984"/>
                  <a:gd name="connsiteX1" fmla="*/ 111825 w 1477631"/>
                  <a:gd name="connsiteY1" fmla="*/ 20301 h 737984"/>
                  <a:gd name="connsiteX2" fmla="*/ 402461 w 1477631"/>
                  <a:gd name="connsiteY2" fmla="*/ 0 h 737984"/>
                  <a:gd name="connsiteX3" fmla="*/ 1477631 w 1477631"/>
                  <a:gd name="connsiteY3" fmla="*/ 729863 h 737984"/>
                  <a:gd name="connsiteX4" fmla="*/ 0 w 1477631"/>
                  <a:gd name="connsiteY4" fmla="*/ 737984 h 737984"/>
                  <a:gd name="connsiteX0" fmla="*/ 50100 w 1365806"/>
                  <a:gd name="connsiteY0" fmla="*/ 737984 h 737984"/>
                  <a:gd name="connsiteX1" fmla="*/ 0 w 1365806"/>
                  <a:gd name="connsiteY1" fmla="*/ 20301 h 737984"/>
                  <a:gd name="connsiteX2" fmla="*/ 290636 w 1365806"/>
                  <a:gd name="connsiteY2" fmla="*/ 0 h 737984"/>
                  <a:gd name="connsiteX3" fmla="*/ 1365806 w 1365806"/>
                  <a:gd name="connsiteY3" fmla="*/ 729863 h 737984"/>
                  <a:gd name="connsiteX4" fmla="*/ 50100 w 1365806"/>
                  <a:gd name="connsiteY4" fmla="*/ 737984 h 737984"/>
                  <a:gd name="connsiteX0" fmla="*/ 69150 w 1365806"/>
                  <a:gd name="connsiteY0" fmla="*/ 727835 h 729863"/>
                  <a:gd name="connsiteX1" fmla="*/ 0 w 1365806"/>
                  <a:gd name="connsiteY1" fmla="*/ 20301 h 729863"/>
                  <a:gd name="connsiteX2" fmla="*/ 290636 w 1365806"/>
                  <a:gd name="connsiteY2" fmla="*/ 0 h 729863"/>
                  <a:gd name="connsiteX3" fmla="*/ 1365806 w 1365806"/>
                  <a:gd name="connsiteY3" fmla="*/ 729863 h 729863"/>
                  <a:gd name="connsiteX4" fmla="*/ 69150 w 1365806"/>
                  <a:gd name="connsiteY4" fmla="*/ 727835 h 729863"/>
                  <a:gd name="connsiteX0" fmla="*/ 0 w 1768145"/>
                  <a:gd name="connsiteY0" fmla="*/ 727837 h 729863"/>
                  <a:gd name="connsiteX1" fmla="*/ 402339 w 1768145"/>
                  <a:gd name="connsiteY1" fmla="*/ 20301 h 729863"/>
                  <a:gd name="connsiteX2" fmla="*/ 692975 w 1768145"/>
                  <a:gd name="connsiteY2" fmla="*/ 0 h 729863"/>
                  <a:gd name="connsiteX3" fmla="*/ 1768145 w 1768145"/>
                  <a:gd name="connsiteY3" fmla="*/ 729863 h 729863"/>
                  <a:gd name="connsiteX4" fmla="*/ 0 w 1768145"/>
                  <a:gd name="connsiteY4" fmla="*/ 727837 h 729863"/>
                  <a:gd name="connsiteX0" fmla="*/ 0 w 1306183"/>
                  <a:gd name="connsiteY0" fmla="*/ 727837 h 729863"/>
                  <a:gd name="connsiteX1" fmla="*/ 402339 w 1306183"/>
                  <a:gd name="connsiteY1" fmla="*/ 20301 h 729863"/>
                  <a:gd name="connsiteX2" fmla="*/ 692975 w 1306183"/>
                  <a:gd name="connsiteY2" fmla="*/ 0 h 729863"/>
                  <a:gd name="connsiteX3" fmla="*/ 1306183 w 1306183"/>
                  <a:gd name="connsiteY3" fmla="*/ 729863 h 729863"/>
                  <a:gd name="connsiteX4" fmla="*/ 0 w 1306183"/>
                  <a:gd name="connsiteY4" fmla="*/ 727837 h 729863"/>
                  <a:gd name="connsiteX0" fmla="*/ 0 w 1306183"/>
                  <a:gd name="connsiteY0" fmla="*/ 768446 h 770472"/>
                  <a:gd name="connsiteX1" fmla="*/ 235652 w 1306183"/>
                  <a:gd name="connsiteY1" fmla="*/ 0 h 770472"/>
                  <a:gd name="connsiteX2" fmla="*/ 692975 w 1306183"/>
                  <a:gd name="connsiteY2" fmla="*/ 40609 h 770472"/>
                  <a:gd name="connsiteX3" fmla="*/ 1306183 w 1306183"/>
                  <a:gd name="connsiteY3" fmla="*/ 770472 h 770472"/>
                  <a:gd name="connsiteX4" fmla="*/ 0 w 1306183"/>
                  <a:gd name="connsiteY4" fmla="*/ 768446 h 770472"/>
                  <a:gd name="connsiteX0" fmla="*/ 0 w 1306183"/>
                  <a:gd name="connsiteY0" fmla="*/ 783672 h 785698"/>
                  <a:gd name="connsiteX1" fmla="*/ 235652 w 1306183"/>
                  <a:gd name="connsiteY1" fmla="*/ 15226 h 785698"/>
                  <a:gd name="connsiteX2" fmla="*/ 897763 w 1306183"/>
                  <a:gd name="connsiteY2" fmla="*/ 0 h 785698"/>
                  <a:gd name="connsiteX3" fmla="*/ 1306183 w 1306183"/>
                  <a:gd name="connsiteY3" fmla="*/ 785698 h 785698"/>
                  <a:gd name="connsiteX4" fmla="*/ 0 w 1306183"/>
                  <a:gd name="connsiteY4" fmla="*/ 783672 h 785698"/>
                  <a:gd name="connsiteX0" fmla="*/ 0 w 1404608"/>
                  <a:gd name="connsiteY0" fmla="*/ 783672 h 785698"/>
                  <a:gd name="connsiteX1" fmla="*/ 235652 w 1404608"/>
                  <a:gd name="connsiteY1" fmla="*/ 15226 h 785698"/>
                  <a:gd name="connsiteX2" fmla="*/ 897763 w 1404608"/>
                  <a:gd name="connsiteY2" fmla="*/ 0 h 785698"/>
                  <a:gd name="connsiteX3" fmla="*/ 1404608 w 1404608"/>
                  <a:gd name="connsiteY3" fmla="*/ 785698 h 785698"/>
                  <a:gd name="connsiteX4" fmla="*/ 0 w 1404608"/>
                  <a:gd name="connsiteY4" fmla="*/ 783672 h 785698"/>
                  <a:gd name="connsiteX0" fmla="*/ 0 w 1293483"/>
                  <a:gd name="connsiteY0" fmla="*/ 787058 h 787058"/>
                  <a:gd name="connsiteX1" fmla="*/ 124527 w 1293483"/>
                  <a:gd name="connsiteY1" fmla="*/ 15226 h 787058"/>
                  <a:gd name="connsiteX2" fmla="*/ 786638 w 1293483"/>
                  <a:gd name="connsiteY2" fmla="*/ 0 h 787058"/>
                  <a:gd name="connsiteX3" fmla="*/ 1293483 w 1293483"/>
                  <a:gd name="connsiteY3" fmla="*/ 785698 h 787058"/>
                  <a:gd name="connsiteX4" fmla="*/ 0 w 1293483"/>
                  <a:gd name="connsiteY4" fmla="*/ 787058 h 787058"/>
                  <a:gd name="connsiteX0" fmla="*/ 0 w 993446"/>
                  <a:gd name="connsiteY0" fmla="*/ 787058 h 787058"/>
                  <a:gd name="connsiteX1" fmla="*/ 124527 w 993446"/>
                  <a:gd name="connsiteY1" fmla="*/ 15226 h 787058"/>
                  <a:gd name="connsiteX2" fmla="*/ 786638 w 993446"/>
                  <a:gd name="connsiteY2" fmla="*/ 0 h 787058"/>
                  <a:gd name="connsiteX3" fmla="*/ 993446 w 993446"/>
                  <a:gd name="connsiteY3" fmla="*/ 780622 h 787058"/>
                  <a:gd name="connsiteX4" fmla="*/ 0 w 993446"/>
                  <a:gd name="connsiteY4" fmla="*/ 787058 h 787058"/>
                  <a:gd name="connsiteX0" fmla="*/ 0 w 969634"/>
                  <a:gd name="connsiteY0" fmla="*/ 787061 h 787061"/>
                  <a:gd name="connsiteX1" fmla="*/ 100715 w 969634"/>
                  <a:gd name="connsiteY1" fmla="*/ 15226 h 787061"/>
                  <a:gd name="connsiteX2" fmla="*/ 762826 w 969634"/>
                  <a:gd name="connsiteY2" fmla="*/ 0 h 787061"/>
                  <a:gd name="connsiteX3" fmla="*/ 969634 w 969634"/>
                  <a:gd name="connsiteY3" fmla="*/ 780622 h 787061"/>
                  <a:gd name="connsiteX4" fmla="*/ 0 w 969634"/>
                  <a:gd name="connsiteY4" fmla="*/ 787061 h 787061"/>
                  <a:gd name="connsiteX0" fmla="*/ 0 w 969634"/>
                  <a:gd name="connsiteY0" fmla="*/ 847971 h 847971"/>
                  <a:gd name="connsiteX1" fmla="*/ 100715 w 969634"/>
                  <a:gd name="connsiteY1" fmla="*/ 76136 h 847971"/>
                  <a:gd name="connsiteX2" fmla="*/ 461201 w 969634"/>
                  <a:gd name="connsiteY2" fmla="*/ 0 h 847971"/>
                  <a:gd name="connsiteX3" fmla="*/ 969634 w 969634"/>
                  <a:gd name="connsiteY3" fmla="*/ 841532 h 847971"/>
                  <a:gd name="connsiteX4" fmla="*/ 0 w 969634"/>
                  <a:gd name="connsiteY4" fmla="*/ 847971 h 847971"/>
                  <a:gd name="connsiteX0" fmla="*/ 0 w 969634"/>
                  <a:gd name="connsiteY0" fmla="*/ 847971 h 847971"/>
                  <a:gd name="connsiteX1" fmla="*/ 221365 w 969634"/>
                  <a:gd name="connsiteY1" fmla="*/ 1690 h 847971"/>
                  <a:gd name="connsiteX2" fmla="*/ 461201 w 969634"/>
                  <a:gd name="connsiteY2" fmla="*/ 0 h 847971"/>
                  <a:gd name="connsiteX3" fmla="*/ 969634 w 969634"/>
                  <a:gd name="connsiteY3" fmla="*/ 841532 h 847971"/>
                  <a:gd name="connsiteX4" fmla="*/ 0 w 969634"/>
                  <a:gd name="connsiteY4" fmla="*/ 847971 h 84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9634" h="847971">
                    <a:moveTo>
                      <a:pt x="0" y="847971"/>
                    </a:moveTo>
                    <a:lnTo>
                      <a:pt x="221365" y="1690"/>
                    </a:lnTo>
                    <a:lnTo>
                      <a:pt x="461201" y="0"/>
                    </a:lnTo>
                    <a:lnTo>
                      <a:pt x="969634" y="841532"/>
                    </a:lnTo>
                    <a:lnTo>
                      <a:pt x="0" y="847971"/>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grpSp>
            <p:nvGrpSpPr>
              <p:cNvPr id="43" name="组合 42"/>
              <p:cNvGrpSpPr/>
              <p:nvPr/>
            </p:nvGrpSpPr>
            <p:grpSpPr>
              <a:xfrm>
                <a:off x="4142946" y="2911036"/>
                <a:ext cx="3555419" cy="659018"/>
                <a:chOff x="4142946" y="2430093"/>
                <a:chExt cx="3555419" cy="659018"/>
              </a:xfrm>
            </p:grpSpPr>
            <p:sp>
              <p:nvSpPr>
                <p:cNvPr id="62" name="矩形 60"/>
                <p:cNvSpPr/>
                <p:nvPr/>
              </p:nvSpPr>
              <p:spPr bwMode="auto">
                <a:xfrm>
                  <a:off x="4171287" y="2430093"/>
                  <a:ext cx="3527078" cy="659018"/>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63" name="文本框 62"/>
                <p:cNvSpPr txBox="1"/>
                <p:nvPr/>
              </p:nvSpPr>
              <p:spPr>
                <a:xfrm>
                  <a:off x="4142946" y="2430093"/>
                  <a:ext cx="3108644" cy="276999"/>
                </a:xfrm>
                <a:prstGeom prst="rect">
                  <a:avLst/>
                </a:prstGeom>
                <a:noFill/>
              </p:spPr>
              <p:txBody>
                <a:bodyPr vert="horz" wrap="square" rtlCol="0">
                  <a:spAutoFit/>
                </a:bodyPr>
                <a:lstStyle/>
                <a:p>
                  <a:pPr marL="0" marR="0" lvl="0" indent="0" defTabSz="121902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可灵活编程的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SID List</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，使能路径可编程</a:t>
                  </a:r>
                </a:p>
              </p:txBody>
            </p:sp>
            <p:sp>
              <p:nvSpPr>
                <p:cNvPr id="64" name="Rectangle 2"/>
                <p:cNvSpPr/>
                <p:nvPr/>
              </p:nvSpPr>
              <p:spPr bwMode="auto">
                <a:xfrm>
                  <a:off x="4243153" y="2722360"/>
                  <a:ext cx="687520"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 Bit</a:t>
                  </a:r>
                  <a:endPar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65" name="Rectangle 2"/>
                <p:cNvSpPr/>
                <p:nvPr/>
              </p:nvSpPr>
              <p:spPr bwMode="auto">
                <a:xfrm>
                  <a:off x="4933753" y="2722360"/>
                  <a:ext cx="706623"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 Bit</a:t>
                  </a:r>
                  <a:endPar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66" name="Rectangle 2"/>
                <p:cNvSpPr/>
                <p:nvPr/>
              </p:nvSpPr>
              <p:spPr bwMode="auto">
                <a:xfrm>
                  <a:off x="5649461" y="2722360"/>
                  <a:ext cx="648394"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 Bit</a:t>
                  </a:r>
                  <a:endPar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67" name="Rectangle 2"/>
                <p:cNvSpPr/>
                <p:nvPr/>
              </p:nvSpPr>
              <p:spPr bwMode="auto">
                <a:xfrm>
                  <a:off x="6297855" y="2722360"/>
                  <a:ext cx="539310"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b"/>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rPr>
                    <a:t>…</a:t>
                  </a:r>
                </a:p>
              </p:txBody>
            </p:sp>
            <p:sp>
              <p:nvSpPr>
                <p:cNvPr id="68" name="Rectangle 2"/>
                <p:cNvSpPr/>
                <p:nvPr/>
              </p:nvSpPr>
              <p:spPr bwMode="auto">
                <a:xfrm>
                  <a:off x="6826560" y="2722360"/>
                  <a:ext cx="811410" cy="219495"/>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altLang="zh-CN"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128bit</a:t>
                  </a:r>
                </a:p>
              </p:txBody>
            </p:sp>
          </p:grpSp>
          <p:grpSp>
            <p:nvGrpSpPr>
              <p:cNvPr id="44" name="组合 43"/>
              <p:cNvGrpSpPr/>
              <p:nvPr/>
            </p:nvGrpSpPr>
            <p:grpSpPr>
              <a:xfrm>
                <a:off x="4171287" y="1954231"/>
                <a:ext cx="3591380" cy="796422"/>
                <a:chOff x="4171287" y="1515958"/>
                <a:chExt cx="3591380" cy="796422"/>
              </a:xfrm>
            </p:grpSpPr>
            <p:sp>
              <p:nvSpPr>
                <p:cNvPr id="47" name="矩形 60"/>
                <p:cNvSpPr/>
                <p:nvPr/>
              </p:nvSpPr>
              <p:spPr bwMode="auto">
                <a:xfrm>
                  <a:off x="4180366" y="1527400"/>
                  <a:ext cx="3527078" cy="784980"/>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48" name="文本框 47"/>
                <p:cNvSpPr txBox="1"/>
                <p:nvPr/>
              </p:nvSpPr>
              <p:spPr>
                <a:xfrm>
                  <a:off x="4171287" y="1515958"/>
                  <a:ext cx="1929222" cy="276999"/>
                </a:xfrm>
                <a:prstGeom prst="rect">
                  <a:avLst/>
                </a:prstGeom>
                <a:noFill/>
              </p:spPr>
              <p:txBody>
                <a:bodyPr vert="horz" wrap="square" rtlCol="0">
                  <a:spAutoFit/>
                </a:bodyPr>
                <a:lstStyle/>
                <a:p>
                  <a:pPr marL="0" marR="0" lvl="0" indent="0" defTabSz="91447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可灵活选择的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IPv6</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扩展头</a:t>
                  </a:r>
                </a:p>
              </p:txBody>
            </p:sp>
            <p:grpSp>
              <p:nvGrpSpPr>
                <p:cNvPr id="49" name="组合 48"/>
                <p:cNvGrpSpPr/>
                <p:nvPr/>
              </p:nvGrpSpPr>
              <p:grpSpPr>
                <a:xfrm>
                  <a:off x="4191060" y="1893917"/>
                  <a:ext cx="857190" cy="279760"/>
                  <a:chOff x="4415731" y="2076227"/>
                  <a:chExt cx="857190" cy="279760"/>
                </a:xfrm>
              </p:grpSpPr>
              <p:sp>
                <p:nvSpPr>
                  <p:cNvPr id="60" name="矩形 59"/>
                  <p:cNvSpPr/>
                  <p:nvPr/>
                </p:nvSpPr>
                <p:spPr>
                  <a:xfrm>
                    <a:off x="4514017" y="2076227"/>
                    <a:ext cx="659584"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61" name="矩形 60"/>
                  <p:cNvSpPr/>
                  <p:nvPr/>
                </p:nvSpPr>
                <p:spPr>
                  <a:xfrm>
                    <a:off x="4415731" y="2102885"/>
                    <a:ext cx="857190" cy="215444"/>
                  </a:xfrm>
                  <a:prstGeom prst="rect">
                    <a:avLst/>
                  </a:prstGeom>
                  <a:noFill/>
                  <a:ln>
                    <a:noFill/>
                  </a:ln>
                </p:spPr>
                <p:txBody>
                  <a:bodyPr wrap="squar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rPr>
                      <a:t>Hop-by-hop</a:t>
                    </a:r>
                  </a:p>
                </p:txBody>
              </p:sp>
            </p:grpSp>
            <p:sp>
              <p:nvSpPr>
                <p:cNvPr id="50" name="文本框 49"/>
                <p:cNvSpPr txBox="1"/>
                <p:nvPr/>
              </p:nvSpPr>
              <p:spPr>
                <a:xfrm>
                  <a:off x="5666541" y="1849572"/>
                  <a:ext cx="896888" cy="276999"/>
                </a:xfrm>
                <a:prstGeom prst="rect">
                  <a:avLst/>
                </a:prstGeom>
                <a:noFill/>
                <a:ln>
                  <a:noFill/>
                </a:ln>
              </p:spPr>
              <p:txBody>
                <a:bodyPr vert="horz" wrap="square" rtlCol="0">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666666">
                          <a:lumMod val="75000"/>
                        </a:srgbClr>
                      </a:solidFill>
                      <a:effectLst/>
                      <a:uLnTx/>
                      <a:uFillTx/>
                      <a:ea typeface="方正兰亭黑简体"/>
                      <a:cs typeface="+mn-ea"/>
                      <a:sym typeface="+mn-lt"/>
                    </a:rPr>
                    <a:t>...</a:t>
                  </a:r>
                </a:p>
              </p:txBody>
            </p:sp>
            <p:grpSp>
              <p:nvGrpSpPr>
                <p:cNvPr id="51" name="组合 50"/>
                <p:cNvGrpSpPr/>
                <p:nvPr/>
              </p:nvGrpSpPr>
              <p:grpSpPr>
                <a:xfrm>
                  <a:off x="5028152" y="1888417"/>
                  <a:ext cx="1003801" cy="279760"/>
                  <a:chOff x="5354407" y="2070727"/>
                  <a:chExt cx="1003801" cy="279760"/>
                </a:xfrm>
              </p:grpSpPr>
              <p:sp>
                <p:nvSpPr>
                  <p:cNvPr id="58" name="矩形 57"/>
                  <p:cNvSpPr/>
                  <p:nvPr/>
                </p:nvSpPr>
                <p:spPr>
                  <a:xfrm>
                    <a:off x="5369961" y="2070727"/>
                    <a:ext cx="901608"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59" name="矩形 58"/>
                  <p:cNvSpPr/>
                  <p:nvPr/>
                </p:nvSpPr>
                <p:spPr>
                  <a:xfrm>
                    <a:off x="5354407" y="2100710"/>
                    <a:ext cx="1003801" cy="215444"/>
                  </a:xfrm>
                  <a:prstGeom prst="rect">
                    <a:avLst/>
                  </a:prstGeom>
                  <a:noFill/>
                  <a:ln>
                    <a:noFill/>
                  </a:ln>
                </p:spPr>
                <p:txBody>
                  <a:bodyPr wrap="non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rPr>
                      <a:t>Routing Header</a:t>
                    </a:r>
                  </a:p>
                </p:txBody>
              </p:sp>
            </p:grpSp>
            <p:grpSp>
              <p:nvGrpSpPr>
                <p:cNvPr id="52" name="组合 51"/>
                <p:cNvGrpSpPr/>
                <p:nvPr/>
              </p:nvGrpSpPr>
              <p:grpSpPr>
                <a:xfrm>
                  <a:off x="6305076" y="1902400"/>
                  <a:ext cx="638445" cy="279760"/>
                  <a:chOff x="7251919" y="2070727"/>
                  <a:chExt cx="638445" cy="279760"/>
                </a:xfrm>
              </p:grpSpPr>
              <p:sp>
                <p:nvSpPr>
                  <p:cNvPr id="56" name="矩形 55"/>
                  <p:cNvSpPr/>
                  <p:nvPr/>
                </p:nvSpPr>
                <p:spPr>
                  <a:xfrm>
                    <a:off x="7251919" y="2070727"/>
                    <a:ext cx="638445"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57" name="矩形 56"/>
                  <p:cNvSpPr/>
                  <p:nvPr/>
                </p:nvSpPr>
                <p:spPr>
                  <a:xfrm>
                    <a:off x="7251920" y="2095998"/>
                    <a:ext cx="633870" cy="215444"/>
                  </a:xfrm>
                  <a:prstGeom prst="rect">
                    <a:avLst/>
                  </a:prstGeom>
                  <a:noFill/>
                  <a:ln>
                    <a:noFill/>
                  </a:ln>
                </p:spPr>
                <p:txBody>
                  <a:bodyPr wrap="squar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zh-CN" altLang="en-US" sz="800" b="1" i="0" u="none" strike="noStrike" kern="0" cap="none" spc="0" normalizeH="0" baseline="0" noProof="0" dirty="0">
                        <a:ln>
                          <a:noFill/>
                        </a:ln>
                        <a:solidFill>
                          <a:srgbClr val="333333"/>
                        </a:solidFill>
                        <a:effectLst/>
                        <a:uLnTx/>
                        <a:uFillTx/>
                        <a:ea typeface="方正兰亭黑简体"/>
                        <a:cs typeface="+mn-ea"/>
                        <a:sym typeface="+mn-lt"/>
                      </a:rPr>
                      <a:t>认证</a:t>
                    </a:r>
                    <a:endPar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endParaRPr>
                  </a:p>
                </p:txBody>
              </p:sp>
            </p:grpSp>
            <p:grpSp>
              <p:nvGrpSpPr>
                <p:cNvPr id="53" name="组合 52"/>
                <p:cNvGrpSpPr/>
                <p:nvPr/>
              </p:nvGrpSpPr>
              <p:grpSpPr>
                <a:xfrm>
                  <a:off x="6940525" y="1902400"/>
                  <a:ext cx="822142" cy="279760"/>
                  <a:chOff x="7157784" y="2070727"/>
                  <a:chExt cx="822142" cy="279760"/>
                </a:xfrm>
              </p:grpSpPr>
              <p:sp>
                <p:nvSpPr>
                  <p:cNvPr id="54" name="矩形 53"/>
                  <p:cNvSpPr/>
                  <p:nvPr/>
                </p:nvSpPr>
                <p:spPr>
                  <a:xfrm>
                    <a:off x="7251919" y="2070727"/>
                    <a:ext cx="638445"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55" name="矩形 54"/>
                  <p:cNvSpPr/>
                  <p:nvPr/>
                </p:nvSpPr>
                <p:spPr>
                  <a:xfrm>
                    <a:off x="7157784" y="2095997"/>
                    <a:ext cx="822142" cy="215444"/>
                  </a:xfrm>
                  <a:prstGeom prst="rect">
                    <a:avLst/>
                  </a:prstGeom>
                  <a:noFill/>
                  <a:ln>
                    <a:noFill/>
                  </a:ln>
                </p:spPr>
                <p:txBody>
                  <a:bodyPr wrap="squar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rPr>
                      <a:t>Destination</a:t>
                    </a:r>
                  </a:p>
                </p:txBody>
              </p:sp>
            </p:grpSp>
          </p:grpSp>
          <p:sp>
            <p:nvSpPr>
              <p:cNvPr id="45" name="梯形 5"/>
              <p:cNvSpPr/>
              <p:nvPr/>
            </p:nvSpPr>
            <p:spPr>
              <a:xfrm rot="16200000">
                <a:off x="3219015" y="2180346"/>
                <a:ext cx="1192769" cy="739933"/>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385882 w 1657354"/>
                  <a:gd name="connsiteY0" fmla="*/ 820784 h 820784"/>
                  <a:gd name="connsiteX1" fmla="*/ 0 w 1657354"/>
                  <a:gd name="connsiteY1" fmla="*/ 0 h 820784"/>
                  <a:gd name="connsiteX2" fmla="*/ 1157411 w 1657354"/>
                  <a:gd name="connsiteY2" fmla="*/ 271463 h 820784"/>
                  <a:gd name="connsiteX3" fmla="*/ 1657354 w 1657354"/>
                  <a:gd name="connsiteY3" fmla="*/ 820784 h 820784"/>
                  <a:gd name="connsiteX4" fmla="*/ 385882 w 1657354"/>
                  <a:gd name="connsiteY4" fmla="*/ 820784 h 820784"/>
                  <a:gd name="connsiteX0" fmla="*/ 385882 w 1657354"/>
                  <a:gd name="connsiteY0" fmla="*/ 820784 h 820784"/>
                  <a:gd name="connsiteX1" fmla="*/ 0 w 1657354"/>
                  <a:gd name="connsiteY1" fmla="*/ 0 h 820784"/>
                  <a:gd name="connsiteX2" fmla="*/ 271586 w 1657354"/>
                  <a:gd name="connsiteY2" fmla="*/ 0 h 820784"/>
                  <a:gd name="connsiteX3" fmla="*/ 1657354 w 1657354"/>
                  <a:gd name="connsiteY3" fmla="*/ 820784 h 820784"/>
                  <a:gd name="connsiteX4" fmla="*/ 385882 w 1657354"/>
                  <a:gd name="connsiteY4" fmla="*/ 820784 h 820784"/>
                  <a:gd name="connsiteX0" fmla="*/ 0 w 2563562"/>
                  <a:gd name="connsiteY0" fmla="*/ 831377 h 831377"/>
                  <a:gd name="connsiteX1" fmla="*/ 906208 w 2563562"/>
                  <a:gd name="connsiteY1" fmla="*/ 0 h 831377"/>
                  <a:gd name="connsiteX2" fmla="*/ 1177794 w 2563562"/>
                  <a:gd name="connsiteY2" fmla="*/ 0 h 831377"/>
                  <a:gd name="connsiteX3" fmla="*/ 2563562 w 2563562"/>
                  <a:gd name="connsiteY3" fmla="*/ 820784 h 831377"/>
                  <a:gd name="connsiteX4" fmla="*/ 0 w 2563562"/>
                  <a:gd name="connsiteY4" fmla="*/ 831377 h 831377"/>
                  <a:gd name="connsiteX0" fmla="*/ 0 w 1281414"/>
                  <a:gd name="connsiteY0" fmla="*/ 831377 h 831377"/>
                  <a:gd name="connsiteX1" fmla="*/ 906208 w 1281414"/>
                  <a:gd name="connsiteY1" fmla="*/ 0 h 831377"/>
                  <a:gd name="connsiteX2" fmla="*/ 1177794 w 1281414"/>
                  <a:gd name="connsiteY2" fmla="*/ 0 h 831377"/>
                  <a:gd name="connsiteX3" fmla="*/ 1281414 w 1281414"/>
                  <a:gd name="connsiteY3" fmla="*/ 831377 h 831377"/>
                  <a:gd name="connsiteX4" fmla="*/ 0 w 1281414"/>
                  <a:gd name="connsiteY4" fmla="*/ 831377 h 831377"/>
                  <a:gd name="connsiteX0" fmla="*/ 17717 w 1299131"/>
                  <a:gd name="connsiteY0" fmla="*/ 831377 h 831377"/>
                  <a:gd name="connsiteX1" fmla="*/ 0 w 1299131"/>
                  <a:gd name="connsiteY1" fmla="*/ 0 h 831377"/>
                  <a:gd name="connsiteX2" fmla="*/ 1195511 w 1299131"/>
                  <a:gd name="connsiteY2" fmla="*/ 0 h 831377"/>
                  <a:gd name="connsiteX3" fmla="*/ 1299131 w 1299131"/>
                  <a:gd name="connsiteY3" fmla="*/ 831377 h 831377"/>
                  <a:gd name="connsiteX4" fmla="*/ 17717 w 1299131"/>
                  <a:gd name="connsiteY4" fmla="*/ 831377 h 831377"/>
                  <a:gd name="connsiteX0" fmla="*/ 17717 w 1299131"/>
                  <a:gd name="connsiteY0" fmla="*/ 851678 h 851678"/>
                  <a:gd name="connsiteX1" fmla="*/ 0 w 1299131"/>
                  <a:gd name="connsiteY1" fmla="*/ 20301 h 851678"/>
                  <a:gd name="connsiteX2" fmla="*/ 290636 w 1299131"/>
                  <a:gd name="connsiteY2" fmla="*/ 0 h 851678"/>
                  <a:gd name="connsiteX3" fmla="*/ 1299131 w 1299131"/>
                  <a:gd name="connsiteY3" fmla="*/ 851678 h 851678"/>
                  <a:gd name="connsiteX4" fmla="*/ 17717 w 1299131"/>
                  <a:gd name="connsiteY4" fmla="*/ 851678 h 851678"/>
                  <a:gd name="connsiteX0" fmla="*/ 17717 w 1299131"/>
                  <a:gd name="connsiteY0" fmla="*/ 841524 h 841524"/>
                  <a:gd name="connsiteX1" fmla="*/ 0 w 1299131"/>
                  <a:gd name="connsiteY1" fmla="*/ 10147 h 841524"/>
                  <a:gd name="connsiteX2" fmla="*/ 852611 w 1299131"/>
                  <a:gd name="connsiteY2" fmla="*/ 0 h 841524"/>
                  <a:gd name="connsiteX3" fmla="*/ 1299131 w 1299131"/>
                  <a:gd name="connsiteY3" fmla="*/ 841524 h 841524"/>
                  <a:gd name="connsiteX4" fmla="*/ 17717 w 1299131"/>
                  <a:gd name="connsiteY4" fmla="*/ 841524 h 841524"/>
                  <a:gd name="connsiteX0" fmla="*/ 17717 w 2061131"/>
                  <a:gd name="connsiteY0" fmla="*/ 841524 h 841524"/>
                  <a:gd name="connsiteX1" fmla="*/ 0 w 2061131"/>
                  <a:gd name="connsiteY1" fmla="*/ 10147 h 841524"/>
                  <a:gd name="connsiteX2" fmla="*/ 852611 w 2061131"/>
                  <a:gd name="connsiteY2" fmla="*/ 0 h 841524"/>
                  <a:gd name="connsiteX3" fmla="*/ 2061131 w 2061131"/>
                  <a:gd name="connsiteY3" fmla="*/ 841524 h 841524"/>
                  <a:gd name="connsiteX4" fmla="*/ 17717 w 2061131"/>
                  <a:gd name="connsiteY4" fmla="*/ 841524 h 841524"/>
                  <a:gd name="connsiteX0" fmla="*/ 1417892 w 2061131"/>
                  <a:gd name="connsiteY0" fmla="*/ 831372 h 841524"/>
                  <a:gd name="connsiteX1" fmla="*/ 0 w 2061131"/>
                  <a:gd name="connsiteY1" fmla="*/ 10147 h 841524"/>
                  <a:gd name="connsiteX2" fmla="*/ 852611 w 2061131"/>
                  <a:gd name="connsiteY2" fmla="*/ 0 h 841524"/>
                  <a:gd name="connsiteX3" fmla="*/ 2061131 w 2061131"/>
                  <a:gd name="connsiteY3" fmla="*/ 841524 h 841524"/>
                  <a:gd name="connsiteX4" fmla="*/ 1417892 w 2061131"/>
                  <a:gd name="connsiteY4" fmla="*/ 831372 h 841524"/>
                  <a:gd name="connsiteX0" fmla="*/ 1713167 w 2356406"/>
                  <a:gd name="connsiteY0" fmla="*/ 831372 h 841524"/>
                  <a:gd name="connsiteX1" fmla="*/ 0 w 2356406"/>
                  <a:gd name="connsiteY1" fmla="*/ 30451 h 841524"/>
                  <a:gd name="connsiteX2" fmla="*/ 1147886 w 2356406"/>
                  <a:gd name="connsiteY2" fmla="*/ 0 h 841524"/>
                  <a:gd name="connsiteX3" fmla="*/ 2356406 w 2356406"/>
                  <a:gd name="connsiteY3" fmla="*/ 841524 h 841524"/>
                  <a:gd name="connsiteX4" fmla="*/ 1713167 w 2356406"/>
                  <a:gd name="connsiteY4" fmla="*/ 831372 h 841524"/>
                  <a:gd name="connsiteX0" fmla="*/ 1656017 w 2356406"/>
                  <a:gd name="connsiteY0" fmla="*/ 817839 h 841524"/>
                  <a:gd name="connsiteX1" fmla="*/ 0 w 2356406"/>
                  <a:gd name="connsiteY1" fmla="*/ 30451 h 841524"/>
                  <a:gd name="connsiteX2" fmla="*/ 1147886 w 2356406"/>
                  <a:gd name="connsiteY2" fmla="*/ 0 h 841524"/>
                  <a:gd name="connsiteX3" fmla="*/ 2356406 w 2356406"/>
                  <a:gd name="connsiteY3" fmla="*/ 841524 h 841524"/>
                  <a:gd name="connsiteX4" fmla="*/ 1656017 w 2356406"/>
                  <a:gd name="connsiteY4" fmla="*/ 817839 h 841524"/>
                  <a:gd name="connsiteX0" fmla="*/ 1656017 w 2286556"/>
                  <a:gd name="connsiteY0" fmla="*/ 817839 h 834759"/>
                  <a:gd name="connsiteX1" fmla="*/ 0 w 2286556"/>
                  <a:gd name="connsiteY1" fmla="*/ 30451 h 834759"/>
                  <a:gd name="connsiteX2" fmla="*/ 1147886 w 2286556"/>
                  <a:gd name="connsiteY2" fmla="*/ 0 h 834759"/>
                  <a:gd name="connsiteX3" fmla="*/ 2286556 w 2286556"/>
                  <a:gd name="connsiteY3" fmla="*/ 834759 h 834759"/>
                  <a:gd name="connsiteX4" fmla="*/ 1656017 w 2286556"/>
                  <a:gd name="connsiteY4" fmla="*/ 817839 h 834759"/>
                  <a:gd name="connsiteX0" fmla="*/ 1646492 w 2286556"/>
                  <a:gd name="connsiteY0" fmla="*/ 838143 h 838143"/>
                  <a:gd name="connsiteX1" fmla="*/ 0 w 2286556"/>
                  <a:gd name="connsiteY1" fmla="*/ 30451 h 838143"/>
                  <a:gd name="connsiteX2" fmla="*/ 1147886 w 2286556"/>
                  <a:gd name="connsiteY2" fmla="*/ 0 h 838143"/>
                  <a:gd name="connsiteX3" fmla="*/ 2286556 w 2286556"/>
                  <a:gd name="connsiteY3" fmla="*/ 834759 h 838143"/>
                  <a:gd name="connsiteX4" fmla="*/ 1646492 w 2286556"/>
                  <a:gd name="connsiteY4" fmla="*/ 838143 h 838143"/>
                  <a:gd name="connsiteX0" fmla="*/ 1084517 w 2286556"/>
                  <a:gd name="connsiteY0" fmla="*/ 827994 h 834759"/>
                  <a:gd name="connsiteX1" fmla="*/ 0 w 2286556"/>
                  <a:gd name="connsiteY1" fmla="*/ 30451 h 834759"/>
                  <a:gd name="connsiteX2" fmla="*/ 1147886 w 2286556"/>
                  <a:gd name="connsiteY2" fmla="*/ 0 h 834759"/>
                  <a:gd name="connsiteX3" fmla="*/ 2286556 w 2286556"/>
                  <a:gd name="connsiteY3" fmla="*/ 834759 h 834759"/>
                  <a:gd name="connsiteX4" fmla="*/ 1084517 w 2286556"/>
                  <a:gd name="connsiteY4" fmla="*/ 827994 h 834759"/>
                  <a:gd name="connsiteX0" fmla="*/ 1084517 w 1734106"/>
                  <a:gd name="connsiteY0" fmla="*/ 827994 h 829683"/>
                  <a:gd name="connsiteX1" fmla="*/ 0 w 1734106"/>
                  <a:gd name="connsiteY1" fmla="*/ 30451 h 829683"/>
                  <a:gd name="connsiteX2" fmla="*/ 1147886 w 1734106"/>
                  <a:gd name="connsiteY2" fmla="*/ 0 h 829683"/>
                  <a:gd name="connsiteX3" fmla="*/ 1734106 w 1734106"/>
                  <a:gd name="connsiteY3" fmla="*/ 829683 h 829683"/>
                  <a:gd name="connsiteX4" fmla="*/ 1084517 w 1734106"/>
                  <a:gd name="connsiteY4" fmla="*/ 827994 h 829683"/>
                  <a:gd name="connsiteX0" fmla="*/ 652717 w 1302306"/>
                  <a:gd name="connsiteY0" fmla="*/ 2049585 h 2051274"/>
                  <a:gd name="connsiteX1" fmla="*/ 0 w 1302306"/>
                  <a:gd name="connsiteY1" fmla="*/ 0 h 2051274"/>
                  <a:gd name="connsiteX2" fmla="*/ 716086 w 1302306"/>
                  <a:gd name="connsiteY2" fmla="*/ 1221591 h 2051274"/>
                  <a:gd name="connsiteX3" fmla="*/ 1302306 w 1302306"/>
                  <a:gd name="connsiteY3" fmla="*/ 2051274 h 2051274"/>
                  <a:gd name="connsiteX4" fmla="*/ 652717 w 1302306"/>
                  <a:gd name="connsiteY4" fmla="*/ 2049585 h 2051274"/>
                  <a:gd name="connsiteX0" fmla="*/ 652717 w 1302306"/>
                  <a:gd name="connsiteY0" fmla="*/ 2049585 h 2051274"/>
                  <a:gd name="connsiteX1" fmla="*/ 0 w 1302306"/>
                  <a:gd name="connsiteY1" fmla="*/ 0 h 2051274"/>
                  <a:gd name="connsiteX2" fmla="*/ 563686 w 1302306"/>
                  <a:gd name="connsiteY2" fmla="*/ 341776 h 2051274"/>
                  <a:gd name="connsiteX3" fmla="*/ 1302306 w 1302306"/>
                  <a:gd name="connsiteY3" fmla="*/ 2051274 h 2051274"/>
                  <a:gd name="connsiteX4" fmla="*/ 652717 w 1302306"/>
                  <a:gd name="connsiteY4" fmla="*/ 2049585 h 2051274"/>
                  <a:gd name="connsiteX0" fmla="*/ 646367 w 1295956"/>
                  <a:gd name="connsiteY0" fmla="*/ 1711195 h 1712884"/>
                  <a:gd name="connsiteX1" fmla="*/ 0 w 1295956"/>
                  <a:gd name="connsiteY1" fmla="*/ 0 h 1712884"/>
                  <a:gd name="connsiteX2" fmla="*/ 557336 w 1295956"/>
                  <a:gd name="connsiteY2" fmla="*/ 3386 h 1712884"/>
                  <a:gd name="connsiteX3" fmla="*/ 1295956 w 1295956"/>
                  <a:gd name="connsiteY3" fmla="*/ 1712884 h 1712884"/>
                  <a:gd name="connsiteX4" fmla="*/ 646367 w 1295956"/>
                  <a:gd name="connsiteY4" fmla="*/ 1711195 h 1712884"/>
                  <a:gd name="connsiteX0" fmla="*/ 519367 w 1295956"/>
                  <a:gd name="connsiteY0" fmla="*/ 1717963 h 1717963"/>
                  <a:gd name="connsiteX1" fmla="*/ 0 w 1295956"/>
                  <a:gd name="connsiteY1" fmla="*/ 0 h 1717963"/>
                  <a:gd name="connsiteX2" fmla="*/ 557336 w 1295956"/>
                  <a:gd name="connsiteY2" fmla="*/ 3386 h 1717963"/>
                  <a:gd name="connsiteX3" fmla="*/ 1295956 w 1295956"/>
                  <a:gd name="connsiteY3" fmla="*/ 1712884 h 1717963"/>
                  <a:gd name="connsiteX4" fmla="*/ 519367 w 1295956"/>
                  <a:gd name="connsiteY4" fmla="*/ 1717963 h 1717963"/>
                  <a:gd name="connsiteX0" fmla="*/ 519367 w 1378506"/>
                  <a:gd name="connsiteY0" fmla="*/ 1717963 h 1727808"/>
                  <a:gd name="connsiteX1" fmla="*/ 0 w 1378506"/>
                  <a:gd name="connsiteY1" fmla="*/ 0 h 1727808"/>
                  <a:gd name="connsiteX2" fmla="*/ 557336 w 1378506"/>
                  <a:gd name="connsiteY2" fmla="*/ 3386 h 1727808"/>
                  <a:gd name="connsiteX3" fmla="*/ 1378506 w 1378506"/>
                  <a:gd name="connsiteY3" fmla="*/ 1727808 h 1727808"/>
                  <a:gd name="connsiteX4" fmla="*/ 519367 w 1378506"/>
                  <a:gd name="connsiteY4" fmla="*/ 1717963 h 1727808"/>
                  <a:gd name="connsiteX0" fmla="*/ 598739 w 1378506"/>
                  <a:gd name="connsiteY0" fmla="*/ 1732893 h 1732894"/>
                  <a:gd name="connsiteX1" fmla="*/ 0 w 1378506"/>
                  <a:gd name="connsiteY1" fmla="*/ 0 h 1732894"/>
                  <a:gd name="connsiteX2" fmla="*/ 557336 w 1378506"/>
                  <a:gd name="connsiteY2" fmla="*/ 3386 h 1732894"/>
                  <a:gd name="connsiteX3" fmla="*/ 1378506 w 1378506"/>
                  <a:gd name="connsiteY3" fmla="*/ 1727808 h 1732894"/>
                  <a:gd name="connsiteX4" fmla="*/ 598739 w 1378506"/>
                  <a:gd name="connsiteY4" fmla="*/ 1732893 h 1732894"/>
                  <a:gd name="connsiteX0" fmla="*/ 403474 w 1378506"/>
                  <a:gd name="connsiteY0" fmla="*/ 1732900 h 1732901"/>
                  <a:gd name="connsiteX1" fmla="*/ 0 w 1378506"/>
                  <a:gd name="connsiteY1" fmla="*/ 0 h 1732901"/>
                  <a:gd name="connsiteX2" fmla="*/ 557336 w 1378506"/>
                  <a:gd name="connsiteY2" fmla="*/ 3386 h 1732901"/>
                  <a:gd name="connsiteX3" fmla="*/ 1378506 w 1378506"/>
                  <a:gd name="connsiteY3" fmla="*/ 1727808 h 1732901"/>
                  <a:gd name="connsiteX4" fmla="*/ 403474 w 1378506"/>
                  <a:gd name="connsiteY4" fmla="*/ 1732900 h 1732901"/>
                  <a:gd name="connsiteX0" fmla="*/ 403474 w 1192769"/>
                  <a:gd name="connsiteY0" fmla="*/ 1732900 h 1739000"/>
                  <a:gd name="connsiteX1" fmla="*/ 0 w 1192769"/>
                  <a:gd name="connsiteY1" fmla="*/ 0 h 1739000"/>
                  <a:gd name="connsiteX2" fmla="*/ 557336 w 1192769"/>
                  <a:gd name="connsiteY2" fmla="*/ 3386 h 1739000"/>
                  <a:gd name="connsiteX3" fmla="*/ 1192769 w 1192769"/>
                  <a:gd name="connsiteY3" fmla="*/ 1739000 h 1739000"/>
                  <a:gd name="connsiteX4" fmla="*/ 403474 w 1192769"/>
                  <a:gd name="connsiteY4" fmla="*/ 1732900 h 1739000"/>
                  <a:gd name="connsiteX0" fmla="*/ 403474 w 1192769"/>
                  <a:gd name="connsiteY0" fmla="*/ 1732900 h 1739000"/>
                  <a:gd name="connsiteX1" fmla="*/ 0 w 1192769"/>
                  <a:gd name="connsiteY1" fmla="*/ 0 h 1739000"/>
                  <a:gd name="connsiteX2" fmla="*/ 728786 w 1192769"/>
                  <a:gd name="connsiteY2" fmla="*/ 3387 h 1739000"/>
                  <a:gd name="connsiteX3" fmla="*/ 1192769 w 1192769"/>
                  <a:gd name="connsiteY3" fmla="*/ 1739000 h 1739000"/>
                  <a:gd name="connsiteX4" fmla="*/ 403474 w 1192769"/>
                  <a:gd name="connsiteY4" fmla="*/ 1732900 h 173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769" h="1739000">
                    <a:moveTo>
                      <a:pt x="403474" y="1732900"/>
                    </a:moveTo>
                    <a:lnTo>
                      <a:pt x="0" y="0"/>
                    </a:lnTo>
                    <a:lnTo>
                      <a:pt x="728786" y="3387"/>
                    </a:lnTo>
                    <a:lnTo>
                      <a:pt x="1192769" y="1739000"/>
                    </a:lnTo>
                    <a:lnTo>
                      <a:pt x="403474" y="1732900"/>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1D1D1A"/>
                  </a:solidFill>
                  <a:effectLst/>
                  <a:uLnTx/>
                  <a:uFillTx/>
                  <a:ea typeface="方正兰亭黑简体"/>
                  <a:cs typeface="+mn-ea"/>
                  <a:sym typeface="+mn-lt"/>
                </a:endParaRPr>
              </a:p>
            </p:txBody>
          </p:sp>
          <p:sp>
            <p:nvSpPr>
              <p:cNvPr id="46" name="矩形 45"/>
              <p:cNvSpPr/>
              <p:nvPr/>
            </p:nvSpPr>
            <p:spPr>
              <a:xfrm>
                <a:off x="1165946" y="2380232"/>
                <a:ext cx="2285140" cy="766465"/>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grpSp>
        <p:sp>
          <p:nvSpPr>
            <p:cNvPr id="89" name="矩形 88"/>
            <p:cNvSpPr/>
            <p:nvPr/>
          </p:nvSpPr>
          <p:spPr>
            <a:xfrm>
              <a:off x="8443750" y="4631047"/>
              <a:ext cx="3698725" cy="2075377"/>
            </a:xfrm>
            <a:prstGeom prst="rect">
              <a:avLst/>
            </a:prstGeom>
            <a:noFill/>
          </p:spPr>
          <p:txBody>
            <a:bodyPr vert="horz" wrap="square" rtlCol="0">
              <a:spAutoFit/>
            </a:bodyPr>
            <a:lstStyle/>
            <a:p>
              <a:pPr marL="285750" indent="-285750" defTabSz="914478">
                <a:lnSpc>
                  <a:spcPct val="130000"/>
                </a:lnSpc>
                <a:buFont typeface="Wingdings" panose="05000000000000000000" pitchFamily="2" charset="2"/>
                <a:buChar char="Ø"/>
              </a:pPr>
              <a:r>
                <a:rPr lang="en-US" altLang="zh-CN" sz="1600" dirty="0">
                  <a:solidFill>
                    <a:srgbClr val="1D1D1A"/>
                  </a:solidFill>
                  <a:ea typeface="方正兰亭黑简体"/>
                  <a:cs typeface="+mn-ea"/>
                  <a:sym typeface="+mn-lt"/>
                </a:rPr>
                <a:t>SRv6</a:t>
              </a:r>
              <a:r>
                <a:rPr lang="zh-CN" altLang="en-US" sz="1600" dirty="0">
                  <a:solidFill>
                    <a:srgbClr val="1D1D1A"/>
                  </a:solidFill>
                  <a:ea typeface="方正兰亭黑简体"/>
                  <a:cs typeface="+mn-ea"/>
                  <a:sym typeface="+mn-lt"/>
                </a:rPr>
                <a:t>网络可编程：</a:t>
              </a:r>
              <a:endParaRPr lang="en-US" altLang="zh-CN" sz="1600" dirty="0">
                <a:solidFill>
                  <a:srgbClr val="1D1D1A"/>
                </a:solidFill>
                <a:ea typeface="方正兰亭黑简体"/>
                <a:cs typeface="+mn-ea"/>
                <a:sym typeface="+mn-lt"/>
              </a:endParaRPr>
            </a:p>
            <a:p>
              <a:pPr marL="285750" indent="-285750" defTabSz="914478">
                <a:lnSpc>
                  <a:spcPct val="130000"/>
                </a:lnSpc>
                <a:buFont typeface="Wingdings" panose="05000000000000000000" pitchFamily="2" charset="2"/>
                <a:buChar char="Ø"/>
              </a:pPr>
              <a:r>
                <a:rPr lang="zh-CN" altLang="en-US" sz="1600" dirty="0">
                  <a:solidFill>
                    <a:srgbClr val="1D1D1A"/>
                  </a:solidFill>
                  <a:ea typeface="方正兰亭黑简体"/>
                  <a:cs typeface="+mn-ea"/>
                  <a:sym typeface="+mn-lt"/>
                </a:rPr>
                <a:t>指令编程：</a:t>
              </a:r>
              <a:r>
                <a:rPr lang="en-US" altLang="zh-CN" sz="1600" dirty="0">
                  <a:solidFill>
                    <a:srgbClr val="1D1D1A"/>
                  </a:solidFill>
                  <a:ea typeface="方正兰亭黑简体"/>
                  <a:cs typeface="+mn-ea"/>
                  <a:sym typeface="+mn-lt"/>
                </a:rPr>
                <a:t>VPN</a:t>
              </a:r>
              <a:r>
                <a:rPr lang="zh-CN" altLang="en-US" sz="1600" dirty="0">
                  <a:solidFill>
                    <a:srgbClr val="1D1D1A"/>
                  </a:solidFill>
                  <a:ea typeface="方正兰亭黑简体"/>
                  <a:cs typeface="+mn-ea"/>
                  <a:sym typeface="+mn-lt"/>
                </a:rPr>
                <a:t>，</a:t>
              </a:r>
              <a:r>
                <a:rPr lang="en-US" altLang="zh-CN" sz="1600" dirty="0">
                  <a:solidFill>
                    <a:srgbClr val="1D1D1A"/>
                  </a:solidFill>
                  <a:ea typeface="方正兰亭黑简体"/>
                  <a:cs typeface="+mn-ea"/>
                  <a:sym typeface="+mn-lt"/>
                </a:rPr>
                <a:t>SFC</a:t>
              </a:r>
              <a:r>
                <a:rPr lang="zh-CN" altLang="en-US" sz="1600" dirty="0">
                  <a:solidFill>
                    <a:srgbClr val="1D1D1A"/>
                  </a:solidFill>
                  <a:ea typeface="方正兰亭黑简体"/>
                  <a:cs typeface="+mn-ea"/>
                  <a:sym typeface="+mn-lt"/>
                </a:rPr>
                <a:t>， 网络服务化</a:t>
              </a:r>
              <a:endParaRPr lang="en-US" altLang="zh-CN" sz="1600" dirty="0">
                <a:solidFill>
                  <a:srgbClr val="1D1D1A"/>
                </a:solidFill>
                <a:ea typeface="方正兰亭黑简体"/>
                <a:cs typeface="+mn-ea"/>
                <a:sym typeface="+mn-lt"/>
              </a:endParaRPr>
            </a:p>
            <a:p>
              <a:pPr marL="285750" indent="-285750" defTabSz="914478">
                <a:lnSpc>
                  <a:spcPct val="130000"/>
                </a:lnSpc>
                <a:buFont typeface="Wingdings" panose="05000000000000000000" pitchFamily="2" charset="2"/>
                <a:buChar char="Ø"/>
              </a:pPr>
              <a:r>
                <a:rPr lang="en-US" altLang="zh-CN" sz="1600" dirty="0" err="1">
                  <a:solidFill>
                    <a:srgbClr val="1D1D1A"/>
                  </a:solidFill>
                  <a:ea typeface="方正兰亭黑简体"/>
                  <a:cs typeface="+mn-ea"/>
                  <a:sym typeface="+mn-lt"/>
                </a:rPr>
                <a:t>SegmentList</a:t>
              </a:r>
              <a:r>
                <a:rPr lang="en-US" altLang="zh-CN" sz="1600" dirty="0">
                  <a:solidFill>
                    <a:srgbClr val="1D1D1A"/>
                  </a:solidFill>
                  <a:ea typeface="方正兰亭黑简体"/>
                  <a:cs typeface="+mn-ea"/>
                  <a:sym typeface="+mn-lt"/>
                </a:rPr>
                <a:t>: </a:t>
              </a:r>
              <a:r>
                <a:rPr lang="zh-CN" altLang="en-US" sz="1600" dirty="0">
                  <a:solidFill>
                    <a:srgbClr val="1D1D1A"/>
                  </a:solidFill>
                  <a:ea typeface="方正兰亭黑简体"/>
                  <a:cs typeface="+mn-ea"/>
                  <a:sym typeface="+mn-lt"/>
                </a:rPr>
                <a:t>路径编程</a:t>
              </a:r>
              <a:endParaRPr lang="en-US" altLang="zh-CN" sz="1600" dirty="0">
                <a:solidFill>
                  <a:srgbClr val="1D1D1A"/>
                </a:solidFill>
                <a:ea typeface="方正兰亭黑简体"/>
                <a:cs typeface="+mn-ea"/>
                <a:sym typeface="+mn-lt"/>
              </a:endParaRPr>
            </a:p>
            <a:p>
              <a:pPr marL="285750" indent="-285750" defTabSz="914478">
                <a:lnSpc>
                  <a:spcPct val="130000"/>
                </a:lnSpc>
                <a:buFont typeface="Wingdings" panose="05000000000000000000" pitchFamily="2" charset="2"/>
                <a:buChar char="Ø"/>
              </a:pPr>
              <a:r>
                <a:rPr lang="en-US" altLang="zh-CN" sz="1600" dirty="0">
                  <a:solidFill>
                    <a:srgbClr val="1D1D1A"/>
                  </a:solidFill>
                  <a:ea typeface="方正兰亭黑简体"/>
                  <a:cs typeface="+mn-ea"/>
                  <a:sym typeface="+mn-lt"/>
                </a:rPr>
                <a:t>HBH Option(</a:t>
              </a:r>
              <a:r>
                <a:rPr lang="zh-CN" altLang="en-US" sz="1600" dirty="0">
                  <a:solidFill>
                    <a:srgbClr val="1D1D1A"/>
                  </a:solidFill>
                  <a:ea typeface="方正兰亭黑简体"/>
                  <a:cs typeface="+mn-ea"/>
                  <a:sym typeface="+mn-lt"/>
                </a:rPr>
                <a:t>逐跳选项</a:t>
              </a:r>
              <a:r>
                <a:rPr lang="en-US" altLang="zh-CN" sz="1600" dirty="0">
                  <a:solidFill>
                    <a:srgbClr val="1D1D1A"/>
                  </a:solidFill>
                  <a:ea typeface="方正兰亭黑简体"/>
                  <a:cs typeface="+mn-ea"/>
                  <a:sym typeface="+mn-lt"/>
                </a:rPr>
                <a:t>)</a:t>
              </a:r>
              <a:r>
                <a:rPr lang="zh-CN" altLang="en-US" sz="1600" dirty="0">
                  <a:solidFill>
                    <a:srgbClr val="1D1D1A"/>
                  </a:solidFill>
                  <a:ea typeface="方正兰亭黑简体"/>
                  <a:cs typeface="+mn-ea"/>
                  <a:sym typeface="+mn-lt"/>
                </a:rPr>
                <a:t>：切片，检测，</a:t>
              </a:r>
              <a:r>
                <a:rPr lang="en-US" altLang="zh-CN" sz="1600" dirty="0">
                  <a:solidFill>
                    <a:srgbClr val="1D1D1A"/>
                  </a:solidFill>
                  <a:ea typeface="方正兰亭黑简体"/>
                  <a:cs typeface="+mn-ea"/>
                  <a:sym typeface="+mn-lt"/>
                </a:rPr>
                <a:t>APN6</a:t>
              </a:r>
            </a:p>
            <a:p>
              <a:pPr marL="285750" indent="-285750" defTabSz="914478">
                <a:lnSpc>
                  <a:spcPct val="130000"/>
                </a:lnSpc>
                <a:buFont typeface="Wingdings" panose="05000000000000000000" pitchFamily="2" charset="2"/>
                <a:buChar char="Ø"/>
              </a:pPr>
              <a:r>
                <a:rPr lang="zh-CN" altLang="en-US" sz="1600" dirty="0">
                  <a:solidFill>
                    <a:srgbClr val="1D1D1A"/>
                  </a:solidFill>
                  <a:ea typeface="方正兰亭黑简体"/>
                  <a:cs typeface="+mn-ea"/>
                  <a:sym typeface="+mn-lt"/>
                </a:rPr>
                <a:t>原生</a:t>
              </a:r>
              <a:r>
                <a:rPr lang="en-US" altLang="zh-CN" sz="1600" dirty="0">
                  <a:solidFill>
                    <a:srgbClr val="1D1D1A"/>
                  </a:solidFill>
                  <a:ea typeface="方正兰亭黑简体"/>
                  <a:cs typeface="+mn-ea"/>
                  <a:sym typeface="+mn-lt"/>
                </a:rPr>
                <a:t>IPv6: Overlay</a:t>
              </a:r>
              <a:r>
                <a:rPr lang="zh-CN" altLang="en-US" sz="1600" dirty="0">
                  <a:solidFill>
                    <a:srgbClr val="1D1D1A"/>
                  </a:solidFill>
                  <a:ea typeface="方正兰亭黑简体"/>
                  <a:cs typeface="+mn-ea"/>
                  <a:sym typeface="+mn-lt"/>
                </a:rPr>
                <a:t>技术</a:t>
              </a:r>
              <a:endParaRPr lang="en-US" altLang="zh-CN" sz="1600" dirty="0">
                <a:solidFill>
                  <a:srgbClr val="1D1D1A"/>
                </a:solidFill>
                <a:ea typeface="方正兰亭黑简体"/>
                <a:cs typeface="+mn-ea"/>
                <a:sym typeface="+mn-lt"/>
              </a:endParaRPr>
            </a:p>
          </p:txBody>
        </p:sp>
      </p:grpSp>
    </p:spTree>
    <p:extLst>
      <p:ext uri="{BB962C8B-B14F-4D97-AF65-F5344CB8AC3E}">
        <p14:creationId xmlns:p14="http://schemas.microsoft.com/office/powerpoint/2010/main" val="2132818068"/>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90" name="图片 89"/>
          <p:cNvPicPr>
            <a:picLocks noChangeAspect="1"/>
          </p:cNvPicPr>
          <p:nvPr/>
        </p:nvPicPr>
        <p:blipFill>
          <a:blip r:embed="rId2"/>
          <a:stretch>
            <a:fillRect/>
          </a:stretch>
        </p:blipFill>
        <p:spPr>
          <a:xfrm>
            <a:off x="643078" y="1497753"/>
            <a:ext cx="7972275" cy="4680520"/>
          </a:xfrm>
          <a:prstGeom prst="rect">
            <a:avLst/>
          </a:prstGeom>
        </p:spPr>
      </p:pic>
      <p:sp>
        <p:nvSpPr>
          <p:cNvPr id="91" name="矩形 90"/>
          <p:cNvSpPr/>
          <p:nvPr/>
        </p:nvSpPr>
        <p:spPr>
          <a:xfrm>
            <a:off x="8366235" y="2250929"/>
            <a:ext cx="3351874" cy="3416320"/>
          </a:xfrm>
          <a:prstGeom prst="rect">
            <a:avLst/>
          </a:prstGeom>
        </p:spPr>
        <p:txBody>
          <a:bodyPr wrap="square">
            <a:spAutoFit/>
          </a:bodyPr>
          <a:lstStyle/>
          <a:p>
            <a:pPr algn="just">
              <a:lnSpc>
                <a:spcPct val="120000"/>
              </a:lnSpc>
            </a:pPr>
            <a:r>
              <a:rPr lang="en-US" altLang="zh-CN" dirty="0" err="1"/>
              <a:t>H.Encaps</a:t>
            </a:r>
            <a:r>
              <a:rPr lang="en-US" altLang="zh-CN" dirty="0"/>
              <a:t> </a:t>
            </a:r>
            <a:r>
              <a:rPr lang="zh-CN" altLang="en-US" dirty="0"/>
              <a:t>：头结点封装处理，原始报文在进入</a:t>
            </a:r>
            <a:r>
              <a:rPr lang="en-US" altLang="zh-CN" dirty="0"/>
              <a:t>SRv6</a:t>
            </a:r>
            <a:r>
              <a:rPr lang="zh-CN" altLang="en-US" dirty="0"/>
              <a:t>域对报文做</a:t>
            </a:r>
            <a:r>
              <a:rPr lang="en-US" altLang="zh-CN" dirty="0"/>
              <a:t>SRv6</a:t>
            </a:r>
            <a:r>
              <a:rPr lang="zh-CN" altLang="en-US" dirty="0"/>
              <a:t>封装处理。</a:t>
            </a:r>
            <a:r>
              <a:rPr lang="en-US" altLang="zh-CN" dirty="0" err="1"/>
              <a:t>H.Encap</a:t>
            </a:r>
            <a:r>
              <a:rPr lang="zh-CN" altLang="en-US" dirty="0"/>
              <a:t>执行的动作是在原始数据报文封装一个 </a:t>
            </a:r>
            <a:r>
              <a:rPr lang="en-US" altLang="zh-CN" dirty="0"/>
              <a:t>IPv6 </a:t>
            </a:r>
            <a:r>
              <a:rPr lang="zh-CN" altLang="en-US" dirty="0"/>
              <a:t>报文头与 </a:t>
            </a:r>
            <a:r>
              <a:rPr lang="en-US" altLang="zh-CN" dirty="0"/>
              <a:t>SRH</a:t>
            </a:r>
            <a:r>
              <a:rPr lang="zh-CN" altLang="en-US" dirty="0"/>
              <a:t>，并设置源地址为当前节点的地址，目的地址为 </a:t>
            </a:r>
            <a:r>
              <a:rPr lang="en-US" altLang="zh-CN" dirty="0"/>
              <a:t>SRv6 Policy </a:t>
            </a:r>
            <a:r>
              <a:rPr lang="zh-CN" altLang="en-US" dirty="0"/>
              <a:t>的第一 个 </a:t>
            </a:r>
            <a:r>
              <a:rPr lang="en-US" altLang="zh-CN" dirty="0"/>
              <a:t>SID</a:t>
            </a:r>
            <a:r>
              <a:rPr lang="zh-CN" altLang="en-US" dirty="0"/>
              <a:t>，此外还要设置好外层</a:t>
            </a:r>
            <a:r>
              <a:rPr lang="en-US" altLang="zh-CN" dirty="0"/>
              <a:t>IPv6</a:t>
            </a:r>
            <a:r>
              <a:rPr lang="zh-CN" altLang="en-US" dirty="0"/>
              <a:t>报文头的各个字段，最后对这个新的</a:t>
            </a:r>
            <a:r>
              <a:rPr lang="en-US" altLang="zh-CN" dirty="0"/>
              <a:t>IPv6</a:t>
            </a:r>
            <a:r>
              <a:rPr lang="zh-CN" altLang="en-US" dirty="0"/>
              <a:t>报文进行查表转发。  </a:t>
            </a:r>
          </a:p>
        </p:txBody>
      </p:sp>
    </p:spTree>
    <p:extLst>
      <p:ext uri="{BB962C8B-B14F-4D97-AF65-F5344CB8AC3E}">
        <p14:creationId xmlns:p14="http://schemas.microsoft.com/office/powerpoint/2010/main" val="2534282090"/>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图片 5"/>
          <p:cNvPicPr>
            <a:picLocks noChangeAspect="1"/>
          </p:cNvPicPr>
          <p:nvPr/>
        </p:nvPicPr>
        <p:blipFill>
          <a:blip r:embed="rId2"/>
          <a:stretch>
            <a:fillRect/>
          </a:stretch>
        </p:blipFill>
        <p:spPr>
          <a:xfrm>
            <a:off x="458093" y="1556116"/>
            <a:ext cx="8064896" cy="4621282"/>
          </a:xfrm>
          <a:prstGeom prst="rect">
            <a:avLst/>
          </a:prstGeom>
        </p:spPr>
      </p:pic>
      <p:sp>
        <p:nvSpPr>
          <p:cNvPr id="7" name="矩形 6"/>
          <p:cNvSpPr/>
          <p:nvPr/>
        </p:nvSpPr>
        <p:spPr>
          <a:xfrm>
            <a:off x="8411993" y="2236089"/>
            <a:ext cx="3102755" cy="2419124"/>
          </a:xfrm>
          <a:prstGeom prst="rect">
            <a:avLst/>
          </a:prstGeom>
        </p:spPr>
        <p:txBody>
          <a:bodyPr wrap="square">
            <a:spAutoFit/>
          </a:bodyPr>
          <a:lstStyle/>
          <a:p>
            <a:pPr algn="just">
              <a:lnSpc>
                <a:spcPct val="120000"/>
              </a:lnSpc>
            </a:pPr>
            <a:r>
              <a:rPr lang="en-US" altLang="zh-CN" dirty="0"/>
              <a:t>Endpoint </a:t>
            </a:r>
            <a:r>
              <a:rPr lang="zh-CN" altLang="en-US" dirty="0"/>
              <a:t>：在 </a:t>
            </a:r>
            <a:r>
              <a:rPr lang="en-US" altLang="zh-CN" dirty="0"/>
              <a:t>SRv6 </a:t>
            </a:r>
            <a:r>
              <a:rPr lang="zh-CN" altLang="en-US" dirty="0"/>
              <a:t>报文转发过程中，节点接收的报文的 </a:t>
            </a:r>
            <a:r>
              <a:rPr lang="en-US" altLang="zh-CN" dirty="0"/>
              <a:t>IPv6 </a:t>
            </a:r>
            <a:r>
              <a:rPr lang="zh-CN" altLang="en-US" dirty="0"/>
              <a:t>目的地址是本地配置的 </a:t>
            </a:r>
            <a:r>
              <a:rPr lang="en-US" altLang="zh-CN" dirty="0"/>
              <a:t>SID</a:t>
            </a:r>
            <a:r>
              <a:rPr lang="zh-CN" altLang="en-US" dirty="0"/>
              <a:t>，则该节点被称为 </a:t>
            </a:r>
            <a:r>
              <a:rPr lang="en-US" altLang="zh-CN" dirty="0"/>
              <a:t>Endpoint </a:t>
            </a:r>
            <a:r>
              <a:rPr lang="zh-CN" altLang="en-US" dirty="0"/>
              <a:t>节点。因此 </a:t>
            </a:r>
            <a:r>
              <a:rPr lang="en-US" altLang="zh-CN" dirty="0"/>
              <a:t>Endpoint </a:t>
            </a:r>
            <a:r>
              <a:rPr lang="zh-CN" altLang="en-US" dirty="0"/>
              <a:t>节点需要处理 </a:t>
            </a:r>
            <a:r>
              <a:rPr lang="en-US" altLang="zh-CN" dirty="0"/>
              <a:t>SRv6 SID </a:t>
            </a:r>
            <a:r>
              <a:rPr lang="zh-CN" altLang="en-US" dirty="0"/>
              <a:t>和 </a:t>
            </a:r>
            <a:r>
              <a:rPr lang="en-US" altLang="zh-CN" dirty="0"/>
              <a:t>SRH</a:t>
            </a:r>
            <a:r>
              <a:rPr lang="zh-CN" altLang="en-US" dirty="0"/>
              <a:t>。  </a:t>
            </a:r>
          </a:p>
        </p:txBody>
      </p:sp>
    </p:spTree>
    <p:extLst>
      <p:ext uri="{BB962C8B-B14F-4D97-AF65-F5344CB8AC3E}">
        <p14:creationId xmlns:p14="http://schemas.microsoft.com/office/powerpoint/2010/main" val="964576338"/>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图片 5"/>
          <p:cNvPicPr>
            <a:picLocks noChangeAspect="1"/>
          </p:cNvPicPr>
          <p:nvPr/>
        </p:nvPicPr>
        <p:blipFill>
          <a:blip r:embed="rId2"/>
          <a:stretch>
            <a:fillRect/>
          </a:stretch>
        </p:blipFill>
        <p:spPr>
          <a:xfrm>
            <a:off x="646661" y="1750522"/>
            <a:ext cx="8090120" cy="4568405"/>
          </a:xfrm>
          <a:prstGeom prst="rect">
            <a:avLst/>
          </a:prstGeom>
        </p:spPr>
      </p:pic>
      <p:sp>
        <p:nvSpPr>
          <p:cNvPr id="7" name="矩形 6"/>
          <p:cNvSpPr/>
          <p:nvPr/>
        </p:nvSpPr>
        <p:spPr>
          <a:xfrm>
            <a:off x="8736781" y="1465119"/>
            <a:ext cx="3102755" cy="5056897"/>
          </a:xfrm>
          <a:prstGeom prst="rect">
            <a:avLst/>
          </a:prstGeom>
        </p:spPr>
        <p:txBody>
          <a:bodyPr wrap="square">
            <a:spAutoFit/>
          </a:bodyPr>
          <a:lstStyle/>
          <a:p>
            <a:pPr algn="just">
              <a:lnSpc>
                <a:spcPct val="120000"/>
              </a:lnSpc>
            </a:pPr>
            <a:r>
              <a:rPr lang="en-US" altLang="zh-CN" dirty="0"/>
              <a:t>Transit </a:t>
            </a:r>
            <a:r>
              <a:rPr lang="zh-CN" altLang="en-US" dirty="0"/>
              <a:t>：中转节点是在 </a:t>
            </a:r>
            <a:r>
              <a:rPr lang="en-US" altLang="zh-CN" dirty="0"/>
              <a:t>SRv6 </a:t>
            </a:r>
            <a:r>
              <a:rPr lang="zh-CN" altLang="en-US" dirty="0"/>
              <a:t>报文转发路径上不参与 </a:t>
            </a:r>
            <a:r>
              <a:rPr lang="en-US" altLang="zh-CN" dirty="0"/>
              <a:t>SRv6 </a:t>
            </a:r>
            <a:r>
              <a:rPr lang="zh-CN" altLang="en-US" dirty="0"/>
              <a:t>处理的 </a:t>
            </a:r>
            <a:r>
              <a:rPr lang="en-US" altLang="zh-CN" dirty="0"/>
              <a:t>IPv6 </a:t>
            </a:r>
            <a:r>
              <a:rPr lang="zh-CN" altLang="en-US" dirty="0"/>
              <a:t>节点，即中 转节点只执行普通的 </a:t>
            </a:r>
            <a:r>
              <a:rPr lang="en-US" altLang="zh-CN" dirty="0"/>
              <a:t>IPv6 </a:t>
            </a:r>
            <a:r>
              <a:rPr lang="zh-CN" altLang="en-US" dirty="0"/>
              <a:t>报文转发。当节点收到 </a:t>
            </a:r>
            <a:r>
              <a:rPr lang="en-US" altLang="zh-CN" dirty="0"/>
              <a:t>SRv6 </a:t>
            </a:r>
            <a:r>
              <a:rPr lang="zh-CN" altLang="en-US" dirty="0"/>
              <a:t>报文以后，会解析报文 的 </a:t>
            </a:r>
            <a:r>
              <a:rPr lang="en-US" altLang="zh-CN" dirty="0"/>
              <a:t>IPv6 DA</a:t>
            </a:r>
            <a:r>
              <a:rPr lang="zh-CN" altLang="en-US" dirty="0"/>
              <a:t>（</a:t>
            </a:r>
            <a:r>
              <a:rPr lang="en-US" altLang="zh-CN" dirty="0"/>
              <a:t>Destination Address</a:t>
            </a:r>
            <a:r>
              <a:rPr lang="zh-CN" altLang="en-US" dirty="0"/>
              <a:t>，目的地址）字段。如果 </a:t>
            </a:r>
            <a:r>
              <a:rPr lang="en-US" altLang="zh-CN" dirty="0"/>
              <a:t>IPv6 </a:t>
            </a:r>
            <a:r>
              <a:rPr lang="zh-CN" altLang="en-US" dirty="0"/>
              <a:t>目的地址既 不是本地配置的 </a:t>
            </a:r>
            <a:r>
              <a:rPr lang="en-US" altLang="zh-CN" dirty="0"/>
              <a:t>SRv6 SID</a:t>
            </a:r>
            <a:r>
              <a:rPr lang="zh-CN" altLang="en-US" dirty="0"/>
              <a:t>，也不是本地接口地址，则节点将 </a:t>
            </a:r>
            <a:r>
              <a:rPr lang="en-US" altLang="zh-CN" dirty="0"/>
              <a:t>SRv6 </a:t>
            </a:r>
            <a:r>
              <a:rPr lang="zh-CN" altLang="en-US" dirty="0"/>
              <a:t>报文当作普 通的 </a:t>
            </a:r>
            <a:r>
              <a:rPr lang="en-US" altLang="zh-CN" dirty="0"/>
              <a:t>IPv6 </a:t>
            </a:r>
            <a:r>
              <a:rPr lang="zh-CN" altLang="en-US" dirty="0"/>
              <a:t>报文，按照最长匹配原则查找 </a:t>
            </a:r>
            <a:r>
              <a:rPr lang="en-US" altLang="zh-CN" dirty="0"/>
              <a:t>IPv6 </a:t>
            </a:r>
            <a:r>
              <a:rPr lang="zh-CN" altLang="en-US" dirty="0"/>
              <a:t>路由表，进行处理和转发，不处 理 </a:t>
            </a:r>
            <a:r>
              <a:rPr lang="en-US" altLang="zh-CN" dirty="0"/>
              <a:t>SRH</a:t>
            </a:r>
            <a:r>
              <a:rPr lang="zh-CN" altLang="en-US" dirty="0"/>
              <a:t>，此时该节点就是中转节点。 </a:t>
            </a:r>
          </a:p>
        </p:txBody>
      </p:sp>
    </p:spTree>
    <p:extLst>
      <p:ext uri="{BB962C8B-B14F-4D97-AF65-F5344CB8AC3E}">
        <p14:creationId xmlns:p14="http://schemas.microsoft.com/office/powerpoint/2010/main" val="363425295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图片 5"/>
          <p:cNvPicPr>
            <a:picLocks noChangeAspect="1"/>
          </p:cNvPicPr>
          <p:nvPr/>
        </p:nvPicPr>
        <p:blipFill>
          <a:blip r:embed="rId2"/>
          <a:stretch>
            <a:fillRect/>
          </a:stretch>
        </p:blipFill>
        <p:spPr>
          <a:xfrm>
            <a:off x="551384" y="1449265"/>
            <a:ext cx="8082601" cy="4629933"/>
          </a:xfrm>
          <a:prstGeom prst="rect">
            <a:avLst/>
          </a:prstGeom>
        </p:spPr>
      </p:pic>
      <p:sp>
        <p:nvSpPr>
          <p:cNvPr id="7" name="矩形 6"/>
          <p:cNvSpPr/>
          <p:nvPr/>
        </p:nvSpPr>
        <p:spPr>
          <a:xfrm>
            <a:off x="8827789" y="1357307"/>
            <a:ext cx="3102755" cy="5078313"/>
          </a:xfrm>
          <a:prstGeom prst="rect">
            <a:avLst/>
          </a:prstGeom>
        </p:spPr>
        <p:txBody>
          <a:bodyPr wrap="square">
            <a:spAutoFit/>
          </a:bodyPr>
          <a:lstStyle/>
          <a:p>
            <a:pPr algn="just">
              <a:lnSpc>
                <a:spcPct val="120000"/>
              </a:lnSpc>
            </a:pPr>
            <a:r>
              <a:rPr lang="en-US" altLang="zh-CN" dirty="0"/>
              <a:t>Endpoint </a:t>
            </a:r>
            <a:r>
              <a:rPr lang="zh-CN" altLang="en-US" dirty="0"/>
              <a:t>：在 </a:t>
            </a:r>
            <a:r>
              <a:rPr lang="en-US" altLang="zh-CN" dirty="0"/>
              <a:t>SRv6 </a:t>
            </a:r>
            <a:r>
              <a:rPr lang="zh-CN" altLang="en-US" dirty="0"/>
              <a:t>报文转发过程中，节点接收的报文的 </a:t>
            </a:r>
            <a:r>
              <a:rPr lang="en-US" altLang="zh-CN" dirty="0"/>
              <a:t>IPv6 </a:t>
            </a:r>
            <a:r>
              <a:rPr lang="zh-CN" altLang="en-US" dirty="0"/>
              <a:t>目的地址是本地配置的 </a:t>
            </a:r>
            <a:r>
              <a:rPr lang="en-US" altLang="zh-CN" dirty="0"/>
              <a:t>SID</a:t>
            </a:r>
            <a:r>
              <a:rPr lang="zh-CN" altLang="en-US" dirty="0"/>
              <a:t>，则该节点被称为 </a:t>
            </a:r>
            <a:r>
              <a:rPr lang="en-US" altLang="zh-CN" dirty="0"/>
              <a:t>Endpoint </a:t>
            </a:r>
            <a:r>
              <a:rPr lang="zh-CN" altLang="en-US" dirty="0"/>
              <a:t>节点。因此 </a:t>
            </a:r>
            <a:r>
              <a:rPr lang="en-US" altLang="zh-CN" dirty="0"/>
              <a:t>Endpoint </a:t>
            </a:r>
            <a:r>
              <a:rPr lang="zh-CN" altLang="en-US" dirty="0"/>
              <a:t>节点需要处理 </a:t>
            </a:r>
            <a:r>
              <a:rPr lang="en-US" altLang="zh-CN" dirty="0"/>
              <a:t>SRv6 SID </a:t>
            </a:r>
            <a:r>
              <a:rPr lang="zh-CN" altLang="en-US" dirty="0"/>
              <a:t>和 </a:t>
            </a:r>
            <a:r>
              <a:rPr lang="en-US" altLang="zh-CN" dirty="0"/>
              <a:t>SRH</a:t>
            </a:r>
            <a:r>
              <a:rPr lang="zh-CN" altLang="en-US" dirty="0"/>
              <a:t>。  </a:t>
            </a:r>
            <a:endParaRPr lang="en-US" altLang="zh-CN" dirty="0"/>
          </a:p>
          <a:p>
            <a:pPr algn="just">
              <a:lnSpc>
                <a:spcPct val="120000"/>
              </a:lnSpc>
            </a:pPr>
            <a:r>
              <a:rPr lang="en-US" altLang="zh-CN" dirty="0"/>
              <a:t>PSP: </a:t>
            </a:r>
            <a:r>
              <a:rPr lang="zh-CN" altLang="en-US" dirty="0"/>
              <a:t>（</a:t>
            </a:r>
            <a:r>
              <a:rPr lang="en-US" altLang="zh-CN" dirty="0"/>
              <a:t>Penultimate Segment Pop of the SRH</a:t>
            </a:r>
            <a:r>
              <a:rPr lang="zh-CN" altLang="en-US" dirty="0"/>
              <a:t>，倒数第二段弹出 </a:t>
            </a:r>
            <a:r>
              <a:rPr lang="en-US" altLang="zh-CN" dirty="0"/>
              <a:t>SRH</a:t>
            </a:r>
            <a:r>
              <a:rPr lang="zh-CN" altLang="en-US" dirty="0"/>
              <a:t>）是 指在倒数第二个 </a:t>
            </a:r>
            <a:r>
              <a:rPr lang="en-US" altLang="zh-CN" dirty="0"/>
              <a:t>Endpoint </a:t>
            </a:r>
            <a:r>
              <a:rPr lang="zh-CN" altLang="en-US" dirty="0"/>
              <a:t>节点执行移除 </a:t>
            </a:r>
            <a:r>
              <a:rPr lang="en-US" altLang="zh-CN" dirty="0"/>
              <a:t>SRH </a:t>
            </a:r>
            <a:r>
              <a:rPr lang="zh-CN" altLang="en-US" dirty="0"/>
              <a:t>的动作。</a:t>
            </a:r>
            <a:r>
              <a:rPr lang="en-US" altLang="zh-CN" dirty="0"/>
              <a:t>PSP </a:t>
            </a:r>
            <a:r>
              <a:rPr lang="zh-CN" altLang="en-US" dirty="0"/>
              <a:t>需要与 </a:t>
            </a:r>
            <a:r>
              <a:rPr lang="en-US" altLang="zh-CN" dirty="0"/>
              <a:t>End</a:t>
            </a:r>
            <a:r>
              <a:rPr lang="zh-CN" altLang="en-US" dirty="0"/>
              <a:t>、</a:t>
            </a:r>
            <a:r>
              <a:rPr lang="en-US" altLang="zh-CN" dirty="0" err="1"/>
              <a:t>End.X</a:t>
            </a:r>
            <a:r>
              <a:rPr lang="en-US" altLang="zh-CN" dirty="0"/>
              <a:t> </a:t>
            </a:r>
            <a:r>
              <a:rPr lang="zh-CN" altLang="en-US" dirty="0"/>
              <a:t>和 </a:t>
            </a:r>
            <a:r>
              <a:rPr lang="en-US" altLang="zh-CN" dirty="0" err="1"/>
              <a:t>End.T</a:t>
            </a:r>
            <a:r>
              <a:rPr lang="en-US" altLang="zh-CN" dirty="0"/>
              <a:t> </a:t>
            </a:r>
            <a:r>
              <a:rPr lang="zh-CN" altLang="en-US" dirty="0"/>
              <a:t>结合使用，是附着在它们之上的额外动作。 </a:t>
            </a:r>
          </a:p>
        </p:txBody>
      </p:sp>
    </p:spTree>
    <p:extLst>
      <p:ext uri="{BB962C8B-B14F-4D97-AF65-F5344CB8AC3E}">
        <p14:creationId xmlns:p14="http://schemas.microsoft.com/office/powerpoint/2010/main" val="109391056"/>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8" name="图片 7"/>
          <p:cNvPicPr>
            <a:picLocks noChangeAspect="1"/>
          </p:cNvPicPr>
          <p:nvPr/>
        </p:nvPicPr>
        <p:blipFill>
          <a:blip r:embed="rId2"/>
          <a:stretch>
            <a:fillRect/>
          </a:stretch>
        </p:blipFill>
        <p:spPr>
          <a:xfrm>
            <a:off x="470226" y="1607569"/>
            <a:ext cx="8135890" cy="4580780"/>
          </a:xfrm>
          <a:prstGeom prst="rect">
            <a:avLst/>
          </a:prstGeom>
        </p:spPr>
      </p:pic>
      <p:sp>
        <p:nvSpPr>
          <p:cNvPr id="9" name="矩形 8"/>
          <p:cNvSpPr/>
          <p:nvPr/>
        </p:nvSpPr>
        <p:spPr>
          <a:xfrm>
            <a:off x="8606116" y="1935742"/>
            <a:ext cx="3102755" cy="3083921"/>
          </a:xfrm>
          <a:prstGeom prst="rect">
            <a:avLst/>
          </a:prstGeom>
        </p:spPr>
        <p:txBody>
          <a:bodyPr wrap="square">
            <a:spAutoFit/>
          </a:bodyPr>
          <a:lstStyle/>
          <a:p>
            <a:pPr algn="just">
              <a:lnSpc>
                <a:spcPct val="120000"/>
              </a:lnSpc>
            </a:pPr>
            <a:r>
              <a:rPr lang="en-US" altLang="zh-CN" dirty="0"/>
              <a:t>Endpoint </a:t>
            </a:r>
            <a:r>
              <a:rPr lang="zh-CN" altLang="en-US" dirty="0"/>
              <a:t>：在 </a:t>
            </a:r>
            <a:r>
              <a:rPr lang="en-US" altLang="zh-CN" dirty="0"/>
              <a:t>SRv6 </a:t>
            </a:r>
            <a:r>
              <a:rPr lang="zh-CN" altLang="en-US" dirty="0"/>
              <a:t>报文转发过程中，节点接收的报文的 </a:t>
            </a:r>
            <a:r>
              <a:rPr lang="en-US" altLang="zh-CN" dirty="0"/>
              <a:t>IPv6 </a:t>
            </a:r>
            <a:r>
              <a:rPr lang="zh-CN" altLang="en-US" dirty="0"/>
              <a:t>目的地址是本地配置的 </a:t>
            </a:r>
            <a:r>
              <a:rPr lang="en-US" altLang="zh-CN" dirty="0"/>
              <a:t>SID</a:t>
            </a:r>
            <a:r>
              <a:rPr lang="zh-CN" altLang="en-US" dirty="0"/>
              <a:t>，则该节点被称为 </a:t>
            </a:r>
            <a:r>
              <a:rPr lang="en-US" altLang="zh-CN" dirty="0"/>
              <a:t>Endpoint </a:t>
            </a:r>
            <a:r>
              <a:rPr lang="zh-CN" altLang="en-US" dirty="0"/>
              <a:t>节点。因此 </a:t>
            </a:r>
            <a:r>
              <a:rPr lang="en-US" altLang="zh-CN" dirty="0"/>
              <a:t>Endpoint </a:t>
            </a:r>
            <a:r>
              <a:rPr lang="zh-CN" altLang="en-US" dirty="0"/>
              <a:t>节点需要处理 </a:t>
            </a:r>
            <a:r>
              <a:rPr lang="en-US" altLang="zh-CN" dirty="0"/>
              <a:t>SRv6 SID </a:t>
            </a:r>
            <a:r>
              <a:rPr lang="zh-CN" altLang="en-US" dirty="0"/>
              <a:t>和 </a:t>
            </a:r>
            <a:r>
              <a:rPr lang="en-US" altLang="zh-CN" dirty="0"/>
              <a:t>SRH</a:t>
            </a:r>
            <a:r>
              <a:rPr lang="zh-CN" altLang="en-US" dirty="0"/>
              <a:t>。  </a:t>
            </a:r>
            <a:endParaRPr lang="en-US" altLang="zh-CN" dirty="0"/>
          </a:p>
          <a:p>
            <a:pPr algn="just">
              <a:lnSpc>
                <a:spcPct val="120000"/>
              </a:lnSpc>
            </a:pPr>
            <a:r>
              <a:rPr lang="en-US" altLang="zh-CN" dirty="0" err="1"/>
              <a:t>Decapsulation</a:t>
            </a:r>
            <a:r>
              <a:rPr lang="en-US" altLang="zh-CN" dirty="0"/>
              <a:t> : </a:t>
            </a:r>
            <a:r>
              <a:rPr lang="zh-CN" altLang="en-US" dirty="0"/>
              <a:t>解封装</a:t>
            </a:r>
            <a:r>
              <a:rPr lang="en-US" altLang="zh-CN" dirty="0"/>
              <a:t>SRH</a:t>
            </a:r>
            <a:r>
              <a:rPr lang="zh-CN" altLang="en-US" dirty="0"/>
              <a:t>头和外层</a:t>
            </a:r>
            <a:r>
              <a:rPr lang="en-US" altLang="zh-CN" dirty="0"/>
              <a:t>IPv6</a:t>
            </a:r>
            <a:r>
              <a:rPr lang="zh-CN" altLang="en-US" dirty="0"/>
              <a:t>头。 </a:t>
            </a:r>
          </a:p>
        </p:txBody>
      </p:sp>
    </p:spTree>
    <p:extLst>
      <p:ext uri="{BB962C8B-B14F-4D97-AF65-F5344CB8AC3E}">
        <p14:creationId xmlns:p14="http://schemas.microsoft.com/office/powerpoint/2010/main" val="400283134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pPr defTabSz="913212"/>
            <a:r>
              <a:rPr kumimoji="1" lang="en-US" altLang="zh-CN" dirty="0">
                <a:sym typeface="微软雅黑" panose="020B0503020204020204" pitchFamily="34" charset="-122"/>
              </a:rPr>
              <a:t>SRv6</a:t>
            </a:r>
            <a:r>
              <a:rPr kumimoji="1" lang="zh-CN" altLang="en-US" dirty="0">
                <a:sym typeface="微软雅黑" panose="020B0503020204020204" pitchFamily="34" charset="-122"/>
              </a:rPr>
              <a:t>应用：</a:t>
            </a:r>
            <a:r>
              <a:rPr kumimoji="1" lang="en-US" altLang="zh-CN" dirty="0"/>
              <a:t>Native IPv6</a:t>
            </a:r>
            <a:r>
              <a:rPr kumimoji="1" lang="zh-CN" altLang="en-US" dirty="0"/>
              <a:t>能力</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207840" y="1308326"/>
            <a:ext cx="11844655" cy="5180978"/>
            <a:chOff x="170424" y="618920"/>
            <a:chExt cx="11844655" cy="5751824"/>
          </a:xfrm>
        </p:grpSpPr>
        <p:grpSp>
          <p:nvGrpSpPr>
            <p:cNvPr id="6" name="组合 5"/>
            <p:cNvGrpSpPr/>
            <p:nvPr/>
          </p:nvGrpSpPr>
          <p:grpSpPr>
            <a:xfrm>
              <a:off x="170424" y="622192"/>
              <a:ext cx="5583397" cy="5748552"/>
              <a:chOff x="265313" y="639444"/>
              <a:chExt cx="4387401" cy="5592998"/>
            </a:xfrm>
          </p:grpSpPr>
          <p:sp>
            <p:nvSpPr>
              <p:cNvPr id="7" name="圆角矩形 6"/>
              <p:cNvSpPr/>
              <p:nvPr/>
            </p:nvSpPr>
            <p:spPr>
              <a:xfrm>
                <a:off x="265313" y="798095"/>
                <a:ext cx="4384302" cy="5434347"/>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10" name="矩形 32"/>
              <p:cNvSpPr/>
              <p:nvPr>
                <p:custDataLst>
                  <p:tags r:id="rId2"/>
                </p:custDataLst>
              </p:nvPr>
            </p:nvSpPr>
            <p:spPr>
              <a:xfrm>
                <a:off x="1245825" y="639444"/>
                <a:ext cx="2691466" cy="329393"/>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           SRv6</a:t>
                </a:r>
                <a:r>
                  <a:rPr lang="zh-CN" altLang="en-US" sz="1600" b="1" dirty="0">
                    <a:solidFill>
                      <a:prstClr val="black"/>
                    </a:solidFill>
                    <a:latin typeface="微软雅黑" panose="020B0503020204020204" pitchFamily="34" charset="-122"/>
                    <a:ea typeface="微软雅黑" panose="020B0503020204020204" pitchFamily="34" charset="-122"/>
                  </a:rPr>
                  <a:t>跨域：一跳入云</a:t>
                </a:r>
              </a:p>
            </p:txBody>
          </p:sp>
          <p:sp>
            <p:nvSpPr>
              <p:cNvPr id="11" name="矩形 10"/>
              <p:cNvSpPr/>
              <p:nvPr/>
            </p:nvSpPr>
            <p:spPr>
              <a:xfrm>
                <a:off x="393759" y="3817550"/>
                <a:ext cx="714752" cy="377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AS-IS</a:t>
                </a:r>
                <a:endParaRPr lang="zh-CN" altLang="en-US" sz="1400" dirty="0">
                  <a:solidFill>
                    <a:prstClr val="white"/>
                  </a:solidFill>
                </a:endParaRPr>
              </a:p>
            </p:txBody>
          </p:sp>
          <p:sp>
            <p:nvSpPr>
              <p:cNvPr id="12" name="文本框 11"/>
              <p:cNvSpPr txBox="1"/>
              <p:nvPr/>
            </p:nvSpPr>
            <p:spPr>
              <a:xfrm>
                <a:off x="1209436" y="3689520"/>
                <a:ext cx="3364779" cy="805307"/>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buFont typeface="Wingdings" panose="05000000000000000000" pitchFamily="2" charset="2"/>
                  <a:buChar char="Ø"/>
                </a:pPr>
                <a:r>
                  <a:rPr lang="en-US" altLang="zh-CN" dirty="0"/>
                  <a:t>VPN+VLAN</a:t>
                </a:r>
                <a:r>
                  <a:rPr lang="zh-CN" altLang="en-US" dirty="0"/>
                  <a:t>分段跨域，部署运维复杂</a:t>
                </a:r>
                <a:endParaRPr lang="en-US" altLang="zh-CN" dirty="0"/>
              </a:p>
              <a:p>
                <a:pPr>
                  <a:lnSpc>
                    <a:spcPct val="200000"/>
                  </a:lnSpc>
                  <a:buFont typeface="Wingdings" panose="05000000000000000000" pitchFamily="2" charset="2"/>
                  <a:buChar char="Ø"/>
                </a:pPr>
                <a:r>
                  <a:rPr lang="zh-CN" altLang="en-US" dirty="0"/>
                  <a:t>骨干网业务开通时间</a:t>
                </a:r>
                <a:r>
                  <a:rPr lang="en-US" altLang="zh-CN" dirty="0"/>
                  <a:t>&gt;2</a:t>
                </a:r>
                <a:r>
                  <a:rPr lang="zh-CN" altLang="en-US" dirty="0"/>
                  <a:t>周</a:t>
                </a:r>
                <a:endParaRPr lang="en-US" altLang="zh-CN" dirty="0"/>
              </a:p>
            </p:txBody>
          </p:sp>
          <p:sp>
            <p:nvSpPr>
              <p:cNvPr id="13" name="矩形 12"/>
              <p:cNvSpPr/>
              <p:nvPr/>
            </p:nvSpPr>
            <p:spPr>
              <a:xfrm>
                <a:off x="393759" y="5291564"/>
                <a:ext cx="714752" cy="377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TO-BE</a:t>
                </a:r>
                <a:endParaRPr lang="zh-CN" altLang="en-US" sz="1400" dirty="0">
                  <a:solidFill>
                    <a:prstClr val="white"/>
                  </a:solidFill>
                </a:endParaRPr>
              </a:p>
            </p:txBody>
          </p:sp>
          <p:sp>
            <p:nvSpPr>
              <p:cNvPr id="14" name="文本框 13"/>
              <p:cNvSpPr txBox="1"/>
              <p:nvPr/>
            </p:nvSpPr>
            <p:spPr>
              <a:xfrm>
                <a:off x="1248924" y="4715470"/>
                <a:ext cx="3403790" cy="1257683"/>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pPr>
                <a:r>
                  <a:rPr lang="en-US" altLang="zh-CN" dirty="0"/>
                  <a:t>SRv6</a:t>
                </a:r>
                <a:r>
                  <a:rPr lang="zh-CN" altLang="en-US" dirty="0"/>
                  <a:t>一跳直达，一跳入云</a:t>
                </a:r>
                <a:endParaRPr lang="en-US" altLang="zh-CN" dirty="0"/>
              </a:p>
              <a:p>
                <a:pPr>
                  <a:lnSpc>
                    <a:spcPct val="200000"/>
                  </a:lnSpc>
                </a:pPr>
                <a:r>
                  <a:rPr lang="zh-CN" altLang="en-US" dirty="0"/>
                  <a:t>路由可聚合，支持超大规模网络</a:t>
                </a:r>
                <a:endParaRPr lang="en-US" altLang="zh-CN" dirty="0"/>
              </a:p>
              <a:p>
                <a:pPr>
                  <a:lnSpc>
                    <a:spcPct val="200000"/>
                  </a:lnSpc>
                </a:pPr>
                <a:r>
                  <a:rPr lang="zh-CN" altLang="en-US" dirty="0"/>
                  <a:t>快速收敛</a:t>
                </a:r>
                <a:endParaRPr lang="en-US" altLang="zh-CN" dirty="0"/>
              </a:p>
            </p:txBody>
          </p:sp>
          <p:sp>
            <p:nvSpPr>
              <p:cNvPr id="15" name="右箭头 14"/>
              <p:cNvSpPr/>
              <p:nvPr/>
            </p:nvSpPr>
            <p:spPr>
              <a:xfrm rot="16200000" flipH="1" flipV="1">
                <a:off x="442157" y="4598739"/>
                <a:ext cx="649138" cy="283187"/>
              </a:xfrm>
              <a:prstGeom prst="rightArrow">
                <a:avLst/>
              </a:prstGeom>
              <a:gradFill flip="none" rotWithShape="1">
                <a:gsLst>
                  <a:gs pos="0">
                    <a:srgbClr val="FFCF01"/>
                  </a:gs>
                  <a:gs pos="90000">
                    <a:srgbClr val="E22000"/>
                  </a:gs>
                </a:gsLst>
                <a:lin ang="0" scaled="1"/>
                <a:tileRect/>
              </a:gradFill>
              <a:ln w="25400">
                <a:noFill/>
              </a:ln>
              <a:effectLst>
                <a:outerShdw blurRad="225425" dist="38100" dir="5220000" algn="ctr">
                  <a:srgbClr val="000000">
                    <a:alpha val="33000"/>
                  </a:srgbClr>
                </a:outerShdw>
              </a:effectLst>
              <a:scene3d>
                <a:camera prst="orthographicFront"/>
                <a:lightRig rig="flat" dir="t"/>
              </a:scene3d>
              <a:sp3d extrusionH="304800" contourW="19050">
                <a:bevelT w="101600" prst="convex"/>
                <a:bevelB w="0" h="63500"/>
                <a:contourClr>
                  <a:srgbClr val="FFE593"/>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defRPr/>
                </a:pPr>
                <a:endParaRPr lang="zh-CN" altLang="en-US" sz="1600" b="1">
                  <a:solidFill>
                    <a:prstClr val="white"/>
                  </a:solidFill>
                  <a:latin typeface="微软雅黑" pitchFamily="34" charset="-122"/>
                  <a:ea typeface="微软雅黑" pitchFamily="34" charset="-122"/>
                </a:endParaRPr>
              </a:p>
            </p:txBody>
          </p:sp>
          <p:grpSp>
            <p:nvGrpSpPr>
              <p:cNvPr id="16" name="组合 15"/>
              <p:cNvGrpSpPr/>
              <p:nvPr/>
            </p:nvGrpSpPr>
            <p:grpSpPr>
              <a:xfrm>
                <a:off x="356805" y="1092495"/>
                <a:ext cx="4294003" cy="2431987"/>
                <a:chOff x="5796322" y="4054850"/>
                <a:chExt cx="4394743" cy="2174519"/>
              </a:xfrm>
            </p:grpSpPr>
            <p:grpSp>
              <p:nvGrpSpPr>
                <p:cNvPr id="19" name="组合 18"/>
                <p:cNvGrpSpPr/>
                <p:nvPr/>
              </p:nvGrpSpPr>
              <p:grpSpPr>
                <a:xfrm>
                  <a:off x="5796322" y="4248265"/>
                  <a:ext cx="4394743" cy="1981104"/>
                  <a:chOff x="4355517" y="1739568"/>
                  <a:chExt cx="6004988" cy="3895052"/>
                </a:xfrm>
              </p:grpSpPr>
              <p:sp>
                <p:nvSpPr>
                  <p:cNvPr id="26" name="平行四边形 25"/>
                  <p:cNvSpPr/>
                  <p:nvPr/>
                </p:nvSpPr>
                <p:spPr bwMode="auto">
                  <a:xfrm>
                    <a:off x="5377737" y="3601775"/>
                    <a:ext cx="4982768" cy="1064273"/>
                  </a:xfrm>
                  <a:prstGeom prst="parallelogram">
                    <a:avLst>
                      <a:gd name="adj" fmla="val 68333"/>
                    </a:avLst>
                  </a:prstGeom>
                  <a:solidFill>
                    <a:sysClr val="window" lastClr="FFFFFF">
                      <a:lumMod val="95000"/>
                    </a:sysClr>
                  </a:solidFill>
                  <a:ln w="9525" cap="flat" cmpd="sng" algn="ctr">
                    <a:no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21948" tIns="60974" rIns="121948" bIns="60974" numCol="1" rtlCol="0" anchor="t" anchorCtr="0" compatLnSpc="1">
                    <a:prstTxWarp prst="textNoShape">
                      <a:avLst/>
                    </a:prstTxWarp>
                  </a:bodyPr>
                  <a:lstStyle/>
                  <a:p>
                    <a:pPr defTabSz="1219444" fontAlgn="base" hangingPunct="1">
                      <a:spcBef>
                        <a:spcPct val="0"/>
                      </a:spcBef>
                      <a:spcAft>
                        <a:spcPct val="0"/>
                      </a:spcAft>
                      <a:defRPr/>
                    </a:pPr>
                    <a:endParaRPr lang="zh-CN" altLang="en-US" sz="2400" kern="1200">
                      <a:solidFill>
                        <a:prstClr val="black"/>
                      </a:solidFill>
                      <a:latin typeface="Arial" panose="020B0604020202020204" pitchFamily="34" charset="0"/>
                      <a:cs typeface="Arial" panose="020B0604020202020204" pitchFamily="34" charset="0"/>
                    </a:endParaRPr>
                  </a:p>
                </p:txBody>
              </p:sp>
              <p:sp>
                <p:nvSpPr>
                  <p:cNvPr id="27" name="椭圆 159"/>
                  <p:cNvSpPr>
                    <a:spLocks noChangeArrowheads="1"/>
                  </p:cNvSpPr>
                  <p:nvPr/>
                </p:nvSpPr>
                <p:spPr bwMode="auto">
                  <a:xfrm>
                    <a:off x="8259677" y="2430022"/>
                    <a:ext cx="1688819" cy="836634"/>
                  </a:xfrm>
                  <a:prstGeom prst="ellipse">
                    <a:avLst/>
                  </a:prstGeom>
                  <a:noFill/>
                  <a:ln w="12700" algn="ctr">
                    <a:gradFill>
                      <a:gsLst>
                        <a:gs pos="0">
                          <a:srgbClr val="FF3399"/>
                        </a:gs>
                        <a:gs pos="25000">
                          <a:srgbClr val="FF6633"/>
                        </a:gs>
                        <a:gs pos="50000">
                          <a:srgbClr val="FFFF00"/>
                        </a:gs>
                        <a:gs pos="75000">
                          <a:srgbClr val="01A78F"/>
                        </a:gs>
                        <a:gs pos="100000">
                          <a:srgbClr val="3366FF"/>
                        </a:gs>
                      </a:gsLst>
                      <a:lin ang="5400000" scaled="0"/>
                    </a:gradFill>
                    <a:prstDash val="dash"/>
                    <a:round/>
                    <a:headEnd/>
                    <a:tailEnd/>
                  </a:ln>
                </p:spPr>
                <p:txBody>
                  <a:bodyPr lIns="91417" tIns="45709" rIns="91417" bIns="45709"/>
                  <a:lstStyle/>
                  <a:p>
                    <a:pPr algn="ctr" defTabSz="1218866" hangingPunct="1"/>
                    <a:endParaRPr lang="zh-CN" altLang="en-US" sz="1867"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28" name="椭圆 170"/>
                  <p:cNvSpPr/>
                  <p:nvPr/>
                </p:nvSpPr>
                <p:spPr bwMode="auto">
                  <a:xfrm>
                    <a:off x="8159988" y="3787763"/>
                    <a:ext cx="1737005" cy="696272"/>
                  </a:xfrm>
                  <a:prstGeom prst="ellips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txBody>
                  <a:bodyPr lIns="91460" tIns="45729" rIns="91460" bIns="45729"/>
                  <a:lstStyle/>
                  <a:p>
                    <a:pPr algn="ctr" defTabSz="1217635" hangingPunct="1">
                      <a:defRPr/>
                    </a:pPr>
                    <a:endParaRPr lang="zh-CN" altLang="en-US" sz="1200" b="1"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29" name="椭圆 159"/>
                  <p:cNvSpPr>
                    <a:spLocks noChangeArrowheads="1"/>
                  </p:cNvSpPr>
                  <p:nvPr/>
                </p:nvSpPr>
                <p:spPr bwMode="auto">
                  <a:xfrm>
                    <a:off x="5982882" y="2503930"/>
                    <a:ext cx="1442040" cy="836634"/>
                  </a:xfrm>
                  <a:prstGeom prst="ellipse">
                    <a:avLst/>
                  </a:prstGeom>
                  <a:noFill/>
                  <a:ln w="12700" algn="ctr">
                    <a:gradFill>
                      <a:gsLst>
                        <a:gs pos="0">
                          <a:srgbClr val="FF3399"/>
                        </a:gs>
                        <a:gs pos="25000">
                          <a:srgbClr val="FF6633"/>
                        </a:gs>
                        <a:gs pos="50000">
                          <a:srgbClr val="FFFF00"/>
                        </a:gs>
                        <a:gs pos="75000">
                          <a:srgbClr val="01A78F"/>
                        </a:gs>
                        <a:gs pos="100000">
                          <a:srgbClr val="3366FF"/>
                        </a:gs>
                      </a:gsLst>
                      <a:lin ang="5400000" scaled="0"/>
                    </a:gradFill>
                    <a:prstDash val="dash"/>
                    <a:round/>
                    <a:headEnd/>
                    <a:tailEnd/>
                  </a:ln>
                </p:spPr>
                <p:txBody>
                  <a:bodyPr lIns="91417" tIns="45709" rIns="91417" bIns="45709"/>
                  <a:lstStyle/>
                  <a:p>
                    <a:pPr algn="ctr" defTabSz="1218866" hangingPunct="1"/>
                    <a:endParaRPr lang="zh-CN" altLang="en-US" sz="1867"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30" name="椭圆 159"/>
                  <p:cNvSpPr>
                    <a:spLocks noChangeArrowheads="1"/>
                  </p:cNvSpPr>
                  <p:nvPr/>
                </p:nvSpPr>
                <p:spPr bwMode="auto">
                  <a:xfrm>
                    <a:off x="4476463" y="2400457"/>
                    <a:ext cx="1480667" cy="940106"/>
                  </a:xfrm>
                  <a:prstGeom prst="ellipse">
                    <a:avLst/>
                  </a:prstGeom>
                  <a:noFill/>
                  <a:ln w="12700" algn="ctr">
                    <a:solidFill>
                      <a:srgbClr val="0070C0"/>
                    </a:solidFill>
                    <a:round/>
                    <a:headEnd/>
                    <a:tailEnd/>
                  </a:ln>
                </p:spPr>
                <p:txBody>
                  <a:bodyPr lIns="91417" tIns="45709" rIns="91417" bIns="45709"/>
                  <a:lstStyle/>
                  <a:p>
                    <a:pPr algn="ctr" defTabSz="1218866" hangingPunct="1"/>
                    <a:endParaRPr lang="zh-CN" altLang="en-US" sz="1867" dirty="0">
                      <a:solidFill>
                        <a:srgbClr val="2D2015"/>
                      </a:solidFill>
                      <a:latin typeface="Arial" panose="020B0604020202020204" pitchFamily="34" charset="0"/>
                      <a:ea typeface="微软雅黑" pitchFamily="34" charset="-122"/>
                      <a:cs typeface="Arial" panose="020B0604020202020204" pitchFamily="34" charset="0"/>
                    </a:endParaRPr>
                  </a:p>
                </p:txBody>
              </p:sp>
              <p:pic>
                <p:nvPicPr>
                  <p:cNvPr id="31" name="Picture 5" descr="绘图1"/>
                  <p:cNvPicPr>
                    <a:picLocks noChangeAspect="1" noChangeArrowheads="1"/>
                  </p:cNvPicPr>
                  <p:nvPr/>
                </p:nvPicPr>
                <p:blipFill>
                  <a:blip r:embed="rId4" cstate="print"/>
                  <a:srcRect/>
                  <a:stretch>
                    <a:fillRect/>
                  </a:stretch>
                </p:blipFill>
                <p:spPr bwMode="auto">
                  <a:xfrm>
                    <a:off x="4987435" y="2284121"/>
                    <a:ext cx="383778" cy="300934"/>
                  </a:xfrm>
                  <a:prstGeom prst="rect">
                    <a:avLst/>
                  </a:prstGeom>
                  <a:noFill/>
                  <a:ln w="9525">
                    <a:noFill/>
                    <a:miter lim="800000"/>
                    <a:headEnd/>
                    <a:tailEnd/>
                  </a:ln>
                </p:spPr>
              </p:pic>
              <p:sp>
                <p:nvSpPr>
                  <p:cNvPr id="32" name="椭圆 170"/>
                  <p:cNvSpPr/>
                  <p:nvPr/>
                </p:nvSpPr>
                <p:spPr bwMode="auto">
                  <a:xfrm>
                    <a:off x="5818813" y="3808457"/>
                    <a:ext cx="2365756" cy="696272"/>
                  </a:xfrm>
                  <a:prstGeom prst="ellips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txBody>
                  <a:bodyPr lIns="91460" tIns="45729" rIns="91460" bIns="45729"/>
                  <a:lstStyle/>
                  <a:p>
                    <a:pPr algn="ctr" defTabSz="1217635" hangingPunct="1">
                      <a:defRPr/>
                    </a:pPr>
                    <a:endParaRPr lang="zh-CN" altLang="en-US" sz="1200" b="1" dirty="0">
                      <a:latin typeface="Arial" panose="020B0604020202020204" pitchFamily="34" charset="0"/>
                      <a:ea typeface="微软雅黑" pitchFamily="34" charset="-122"/>
                      <a:cs typeface="Arial" panose="020B0604020202020204" pitchFamily="34" charset="0"/>
                    </a:endParaRPr>
                  </a:p>
                </p:txBody>
              </p:sp>
              <p:pic>
                <p:nvPicPr>
                  <p:cNvPr id="33" name="Picture 128" descr="图片24"/>
                  <p:cNvPicPr preferRelativeResize="0">
                    <a:picLocks noChangeArrowheads="1"/>
                  </p:cNvPicPr>
                  <p:nvPr/>
                </p:nvPicPr>
                <p:blipFill>
                  <a:blip r:embed="rId5" cstate="print"/>
                  <a:srcRect/>
                  <a:stretch>
                    <a:fillRect/>
                  </a:stretch>
                </p:blipFill>
                <p:spPr bwMode="auto">
                  <a:xfrm>
                    <a:off x="5771287" y="3783919"/>
                    <a:ext cx="225573" cy="310762"/>
                  </a:xfrm>
                  <a:prstGeom prst="rect">
                    <a:avLst/>
                  </a:prstGeom>
                  <a:noFill/>
                  <a:ln w="9525">
                    <a:noFill/>
                    <a:miter lim="800000"/>
                    <a:headEnd/>
                    <a:tailEnd/>
                  </a:ln>
                </p:spPr>
              </p:pic>
              <p:cxnSp>
                <p:nvCxnSpPr>
                  <p:cNvPr id="34" name="直接连接符 325"/>
                  <p:cNvCxnSpPr>
                    <a:stCxn id="36" idx="3"/>
                    <a:endCxn id="96" idx="1"/>
                  </p:cNvCxnSpPr>
                  <p:nvPr/>
                </p:nvCxnSpPr>
                <p:spPr>
                  <a:xfrm>
                    <a:off x="8328861" y="3939299"/>
                    <a:ext cx="533809" cy="190946"/>
                  </a:xfrm>
                  <a:prstGeom prst="lin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35" name="直接连接符 326"/>
                  <p:cNvCxnSpPr>
                    <a:stCxn id="33" idx="3"/>
                    <a:endCxn id="98" idx="1"/>
                  </p:cNvCxnSpPr>
                  <p:nvPr/>
                </p:nvCxnSpPr>
                <p:spPr>
                  <a:xfrm>
                    <a:off x="5996859" y="3939300"/>
                    <a:ext cx="732792" cy="179122"/>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pic>
                <p:nvPicPr>
                  <p:cNvPr id="36" name="Picture 128" descr="图片24"/>
                  <p:cNvPicPr preferRelativeResize="0">
                    <a:picLocks noChangeArrowheads="1"/>
                  </p:cNvPicPr>
                  <p:nvPr/>
                </p:nvPicPr>
                <p:blipFill>
                  <a:blip r:embed="rId6" cstate="print"/>
                  <a:srcRect/>
                  <a:stretch>
                    <a:fillRect/>
                  </a:stretch>
                </p:blipFill>
                <p:spPr bwMode="auto">
                  <a:xfrm>
                    <a:off x="8058175" y="3752843"/>
                    <a:ext cx="270688" cy="372915"/>
                  </a:xfrm>
                  <a:prstGeom prst="rect">
                    <a:avLst/>
                  </a:prstGeom>
                  <a:noFill/>
                  <a:ln w="9525">
                    <a:noFill/>
                    <a:miter lim="800000"/>
                    <a:headEnd/>
                    <a:tailEnd/>
                  </a:ln>
                </p:spPr>
              </p:pic>
              <p:pic>
                <p:nvPicPr>
                  <p:cNvPr id="37" name="Picture 5" descr="绘图1"/>
                  <p:cNvPicPr>
                    <a:picLocks noChangeAspect="1" noChangeArrowheads="1"/>
                  </p:cNvPicPr>
                  <p:nvPr/>
                </p:nvPicPr>
                <p:blipFill>
                  <a:blip r:embed="rId4" cstate="print"/>
                  <a:srcRect/>
                  <a:stretch>
                    <a:fillRect/>
                  </a:stretch>
                </p:blipFill>
                <p:spPr bwMode="auto">
                  <a:xfrm>
                    <a:off x="4773835" y="3188775"/>
                    <a:ext cx="383778" cy="300934"/>
                  </a:xfrm>
                  <a:prstGeom prst="rect">
                    <a:avLst/>
                  </a:prstGeom>
                  <a:noFill/>
                  <a:ln w="9525">
                    <a:noFill/>
                    <a:miter lim="800000"/>
                    <a:headEnd/>
                    <a:tailEnd/>
                  </a:ln>
                </p:spPr>
              </p:pic>
              <p:pic>
                <p:nvPicPr>
                  <p:cNvPr id="38" name="Picture 5" descr="绘图1"/>
                  <p:cNvPicPr>
                    <a:picLocks noChangeAspect="1" noChangeArrowheads="1"/>
                  </p:cNvPicPr>
                  <p:nvPr/>
                </p:nvPicPr>
                <p:blipFill>
                  <a:blip r:embed="rId4" cstate="print"/>
                  <a:srcRect/>
                  <a:stretch>
                    <a:fillRect/>
                  </a:stretch>
                </p:blipFill>
                <p:spPr bwMode="auto">
                  <a:xfrm>
                    <a:off x="5722321" y="2491082"/>
                    <a:ext cx="383778" cy="300934"/>
                  </a:xfrm>
                  <a:prstGeom prst="rect">
                    <a:avLst/>
                  </a:prstGeom>
                  <a:noFill/>
                  <a:ln w="9525">
                    <a:noFill/>
                    <a:miter lim="800000"/>
                    <a:headEnd/>
                    <a:tailEnd/>
                  </a:ln>
                </p:spPr>
              </p:pic>
              <p:pic>
                <p:nvPicPr>
                  <p:cNvPr id="39" name="Picture 5" descr="绘图1"/>
                  <p:cNvPicPr>
                    <a:picLocks noChangeAspect="1" noChangeArrowheads="1"/>
                  </p:cNvPicPr>
                  <p:nvPr/>
                </p:nvPicPr>
                <p:blipFill>
                  <a:blip r:embed="rId4" cstate="print"/>
                  <a:srcRect/>
                  <a:stretch>
                    <a:fillRect/>
                  </a:stretch>
                </p:blipFill>
                <p:spPr bwMode="auto">
                  <a:xfrm>
                    <a:off x="6838185" y="3141470"/>
                    <a:ext cx="383778" cy="300934"/>
                  </a:xfrm>
                  <a:prstGeom prst="rect">
                    <a:avLst/>
                  </a:prstGeom>
                  <a:noFill/>
                  <a:ln w="9525">
                    <a:noFill/>
                    <a:miter lim="800000"/>
                    <a:headEnd/>
                    <a:tailEnd/>
                  </a:ln>
                </p:spPr>
              </p:pic>
              <p:pic>
                <p:nvPicPr>
                  <p:cNvPr id="40" name="Picture 5" descr="绘图1"/>
                  <p:cNvPicPr>
                    <a:picLocks noChangeAspect="1" noChangeArrowheads="1"/>
                  </p:cNvPicPr>
                  <p:nvPr/>
                </p:nvPicPr>
                <p:blipFill>
                  <a:blip r:embed="rId4" cstate="print"/>
                  <a:srcRect/>
                  <a:stretch>
                    <a:fillRect/>
                  </a:stretch>
                </p:blipFill>
                <p:spPr bwMode="auto">
                  <a:xfrm>
                    <a:off x="6655786" y="2340312"/>
                    <a:ext cx="383778" cy="300934"/>
                  </a:xfrm>
                  <a:prstGeom prst="rect">
                    <a:avLst/>
                  </a:prstGeom>
                  <a:noFill/>
                  <a:ln w="9525">
                    <a:noFill/>
                    <a:miter lim="800000"/>
                    <a:headEnd/>
                    <a:tailEnd/>
                  </a:ln>
                </p:spPr>
              </p:pic>
              <p:cxnSp>
                <p:nvCxnSpPr>
                  <p:cNvPr id="41" name="直接连接符 40"/>
                  <p:cNvCxnSpPr>
                    <a:stCxn id="38" idx="3"/>
                    <a:endCxn id="54" idx="1"/>
                  </p:cNvCxnSpPr>
                  <p:nvPr/>
                </p:nvCxnSpPr>
                <p:spPr bwMode="auto">
                  <a:xfrm>
                    <a:off x="6106099" y="2641551"/>
                    <a:ext cx="1912137" cy="29256"/>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48" idx="3"/>
                    <a:endCxn id="53" idx="1"/>
                  </p:cNvCxnSpPr>
                  <p:nvPr/>
                </p:nvCxnSpPr>
                <p:spPr bwMode="auto">
                  <a:xfrm flipV="1">
                    <a:off x="6206955" y="3117208"/>
                    <a:ext cx="1903555" cy="306"/>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3" name="Picture 128" descr="图片24"/>
                  <p:cNvPicPr preferRelativeResize="0">
                    <a:picLocks noChangeArrowheads="1"/>
                  </p:cNvPicPr>
                  <p:nvPr/>
                </p:nvPicPr>
                <p:blipFill>
                  <a:blip r:embed="rId5" cstate="print"/>
                  <a:srcRect/>
                  <a:stretch>
                    <a:fillRect/>
                  </a:stretch>
                </p:blipFill>
                <p:spPr bwMode="auto">
                  <a:xfrm>
                    <a:off x="5885019" y="4224408"/>
                    <a:ext cx="225573" cy="310762"/>
                  </a:xfrm>
                  <a:prstGeom prst="rect">
                    <a:avLst/>
                  </a:prstGeom>
                  <a:noFill/>
                  <a:ln w="9525">
                    <a:noFill/>
                    <a:miter lim="800000"/>
                    <a:headEnd/>
                    <a:tailEnd/>
                  </a:ln>
                </p:spPr>
              </p:pic>
              <p:pic>
                <p:nvPicPr>
                  <p:cNvPr id="44" name="Picture 128" descr="图片24"/>
                  <p:cNvPicPr preferRelativeResize="0">
                    <a:picLocks noChangeArrowheads="1"/>
                  </p:cNvPicPr>
                  <p:nvPr/>
                </p:nvPicPr>
                <p:blipFill>
                  <a:blip r:embed="rId5" cstate="print"/>
                  <a:srcRect/>
                  <a:stretch>
                    <a:fillRect/>
                  </a:stretch>
                </p:blipFill>
                <p:spPr bwMode="auto">
                  <a:xfrm>
                    <a:off x="6912903" y="4345617"/>
                    <a:ext cx="225573" cy="310762"/>
                  </a:xfrm>
                  <a:prstGeom prst="rect">
                    <a:avLst/>
                  </a:prstGeom>
                  <a:noFill/>
                  <a:ln w="9525">
                    <a:noFill/>
                    <a:miter lim="800000"/>
                    <a:headEnd/>
                    <a:tailEnd/>
                  </a:ln>
                </p:spPr>
              </p:pic>
              <p:pic>
                <p:nvPicPr>
                  <p:cNvPr id="45" name="Picture 128" descr="图片24"/>
                  <p:cNvPicPr preferRelativeResize="0">
                    <a:picLocks noChangeArrowheads="1"/>
                  </p:cNvPicPr>
                  <p:nvPr/>
                </p:nvPicPr>
                <p:blipFill>
                  <a:blip r:embed="rId5" cstate="print"/>
                  <a:srcRect/>
                  <a:stretch>
                    <a:fillRect/>
                  </a:stretch>
                </p:blipFill>
                <p:spPr bwMode="auto">
                  <a:xfrm>
                    <a:off x="6704753" y="3650884"/>
                    <a:ext cx="225573" cy="310762"/>
                  </a:xfrm>
                  <a:prstGeom prst="rect">
                    <a:avLst/>
                  </a:prstGeom>
                  <a:noFill/>
                  <a:ln w="9525">
                    <a:noFill/>
                    <a:miter lim="800000"/>
                    <a:headEnd/>
                    <a:tailEnd/>
                  </a:ln>
                </p:spPr>
              </p:pic>
              <p:cxnSp>
                <p:nvCxnSpPr>
                  <p:cNvPr id="46" name="直接连接符 45"/>
                  <p:cNvCxnSpPr>
                    <a:stCxn id="38" idx="2"/>
                    <a:endCxn id="33" idx="0"/>
                  </p:cNvCxnSpPr>
                  <p:nvPr/>
                </p:nvCxnSpPr>
                <p:spPr bwMode="auto">
                  <a:xfrm flipH="1">
                    <a:off x="5884074" y="2792019"/>
                    <a:ext cx="30136" cy="991902"/>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46"/>
                  <p:cNvCxnSpPr>
                    <a:stCxn id="48" idx="2"/>
                    <a:endCxn id="43" idx="0"/>
                  </p:cNvCxnSpPr>
                  <p:nvPr/>
                </p:nvCxnSpPr>
                <p:spPr bwMode="auto">
                  <a:xfrm flipH="1">
                    <a:off x="5997807" y="3267984"/>
                    <a:ext cx="17260" cy="956425"/>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8" name="Picture 5" descr="绘图1"/>
                  <p:cNvPicPr>
                    <a:picLocks noChangeAspect="1" noChangeArrowheads="1"/>
                  </p:cNvPicPr>
                  <p:nvPr/>
                </p:nvPicPr>
                <p:blipFill>
                  <a:blip r:embed="rId4" cstate="print"/>
                  <a:srcRect/>
                  <a:stretch>
                    <a:fillRect/>
                  </a:stretch>
                </p:blipFill>
                <p:spPr bwMode="auto">
                  <a:xfrm>
                    <a:off x="5823177" y="2967049"/>
                    <a:ext cx="383778" cy="300934"/>
                  </a:xfrm>
                  <a:prstGeom prst="rect">
                    <a:avLst/>
                  </a:prstGeom>
                  <a:noFill/>
                  <a:ln w="9525">
                    <a:noFill/>
                    <a:miter lim="800000"/>
                    <a:headEnd/>
                    <a:tailEnd/>
                  </a:ln>
                </p:spPr>
              </p:pic>
              <p:cxnSp>
                <p:nvCxnSpPr>
                  <p:cNvPr id="49" name="直接连接符 48"/>
                  <p:cNvCxnSpPr>
                    <a:stCxn id="40" idx="2"/>
                    <a:endCxn id="45" idx="0"/>
                  </p:cNvCxnSpPr>
                  <p:nvPr/>
                </p:nvCxnSpPr>
                <p:spPr bwMode="auto">
                  <a:xfrm flipH="1">
                    <a:off x="6817539" y="2641247"/>
                    <a:ext cx="30135" cy="1009639"/>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49"/>
                  <p:cNvCxnSpPr>
                    <a:stCxn id="39" idx="2"/>
                    <a:endCxn id="44" idx="0"/>
                  </p:cNvCxnSpPr>
                  <p:nvPr/>
                </p:nvCxnSpPr>
                <p:spPr bwMode="auto">
                  <a:xfrm flipH="1">
                    <a:off x="7025691" y="3442405"/>
                    <a:ext cx="4385" cy="903211"/>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50"/>
                  <p:cNvCxnSpPr>
                    <a:stCxn id="53" idx="2"/>
                    <a:endCxn id="60" idx="0"/>
                  </p:cNvCxnSpPr>
                  <p:nvPr/>
                </p:nvCxnSpPr>
                <p:spPr bwMode="auto">
                  <a:xfrm flipH="1">
                    <a:off x="8294377" y="3314202"/>
                    <a:ext cx="8022" cy="825918"/>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51"/>
                  <p:cNvCxnSpPr>
                    <a:stCxn id="54" idx="2"/>
                    <a:endCxn id="36" idx="0"/>
                  </p:cNvCxnSpPr>
                  <p:nvPr/>
                </p:nvCxnSpPr>
                <p:spPr bwMode="auto">
                  <a:xfrm flipH="1">
                    <a:off x="8193519" y="2867800"/>
                    <a:ext cx="16607" cy="885044"/>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3" name="Picture 8" descr="绘图1"/>
                  <p:cNvPicPr>
                    <a:picLocks noChangeAspect="1" noChangeArrowheads="1"/>
                  </p:cNvPicPr>
                  <p:nvPr/>
                </p:nvPicPr>
                <p:blipFill>
                  <a:blip r:embed="rId7" cstate="print"/>
                  <a:srcRect/>
                  <a:stretch>
                    <a:fillRect/>
                  </a:stretch>
                </p:blipFill>
                <p:spPr bwMode="auto">
                  <a:xfrm>
                    <a:off x="8110509" y="2920216"/>
                    <a:ext cx="383778" cy="393987"/>
                  </a:xfrm>
                  <a:prstGeom prst="rect">
                    <a:avLst/>
                  </a:prstGeom>
                  <a:noFill/>
                  <a:ln w="9525">
                    <a:noFill/>
                    <a:miter lim="800000"/>
                    <a:headEnd/>
                    <a:tailEnd/>
                  </a:ln>
                </p:spPr>
              </p:pic>
              <p:pic>
                <p:nvPicPr>
                  <p:cNvPr id="54" name="Picture 8" descr="绘图1"/>
                  <p:cNvPicPr>
                    <a:picLocks noChangeAspect="1" noChangeArrowheads="1"/>
                  </p:cNvPicPr>
                  <p:nvPr/>
                </p:nvPicPr>
                <p:blipFill>
                  <a:blip r:embed="rId7" cstate="print"/>
                  <a:srcRect/>
                  <a:stretch>
                    <a:fillRect/>
                  </a:stretch>
                </p:blipFill>
                <p:spPr bwMode="auto">
                  <a:xfrm>
                    <a:off x="8018236" y="2473811"/>
                    <a:ext cx="383778" cy="393987"/>
                  </a:xfrm>
                  <a:prstGeom prst="rect">
                    <a:avLst/>
                  </a:prstGeom>
                  <a:noFill/>
                  <a:ln w="9525">
                    <a:noFill/>
                    <a:miter lim="800000"/>
                    <a:headEnd/>
                    <a:tailEnd/>
                  </a:ln>
                </p:spPr>
              </p:pic>
              <p:grpSp>
                <p:nvGrpSpPr>
                  <p:cNvPr id="55" name="组合 591"/>
                  <p:cNvGrpSpPr>
                    <a:grpSpLocks/>
                  </p:cNvGrpSpPr>
                  <p:nvPr/>
                </p:nvGrpSpPr>
                <p:grpSpPr bwMode="auto">
                  <a:xfrm>
                    <a:off x="6729652" y="4014601"/>
                    <a:ext cx="256411" cy="207641"/>
                    <a:chOff x="7775598" y="1969477"/>
                    <a:chExt cx="409242" cy="216371"/>
                  </a:xfrm>
                </p:grpSpPr>
                <p:sp>
                  <p:nvSpPr>
                    <p:cNvPr id="98" name="矩形 322"/>
                    <p:cNvSpPr/>
                    <p:nvPr/>
                  </p:nvSpPr>
                  <p:spPr>
                    <a:xfrm>
                      <a:off x="7775598" y="1969477"/>
                      <a:ext cx="409242" cy="216371"/>
                    </a:xfrm>
                    <a:prstGeom prst="rect">
                      <a:avLst/>
                    </a:prstGeom>
                    <a:gradFill flip="none" rotWithShape="1">
                      <a:gsLst>
                        <a:gs pos="0">
                          <a:srgbClr val="FF3399"/>
                        </a:gs>
                        <a:gs pos="25000">
                          <a:srgbClr val="FF6633"/>
                        </a:gs>
                        <a:gs pos="50000">
                          <a:srgbClr val="FFFF00"/>
                        </a:gs>
                        <a:gs pos="75000">
                          <a:srgbClr val="01A78F"/>
                        </a:gs>
                        <a:gs pos="100000">
                          <a:srgbClr val="3366FF"/>
                        </a:gs>
                      </a:gsLst>
                      <a:lin ang="13500000" scaled="1"/>
                      <a:tileRect/>
                    </a:gradFill>
                    <a:ln>
                      <a:solidFill>
                        <a:sysClr val="windowText" lastClr="000000"/>
                      </a:solidFill>
                    </a:ln>
                  </p:spPr>
                  <p:txBody>
                    <a:bodyPr anchor="ctr"/>
                    <a:lstStyle/>
                    <a:p>
                      <a:pPr algn="ctr" defTabSz="1218866" hangingPunct="1">
                        <a:defRPr/>
                      </a:pPr>
                      <a:endParaRPr lang="zh-CN" altLang="en-US" sz="1867" dirty="0">
                        <a:ln>
                          <a:solidFill>
                            <a:srgbClr val="FF0000"/>
                          </a:solidFill>
                        </a:ln>
                        <a:solidFill>
                          <a:srgbClr val="2D2015"/>
                        </a:solidFill>
                        <a:latin typeface="Arial" panose="020B0604020202020204" pitchFamily="34" charset="0"/>
                        <a:ea typeface="微软雅黑" pitchFamily="34" charset="-122"/>
                        <a:cs typeface="Arial" panose="020B0604020202020204" pitchFamily="34" charset="0"/>
                      </a:endParaRPr>
                    </a:p>
                  </p:txBody>
                </p:sp>
                <p:sp>
                  <p:nvSpPr>
                    <p:cNvPr id="99" name="Freeform 16"/>
                    <p:cNvSpPr>
                      <a:spLocks noEditPoints="1"/>
                    </p:cNvSpPr>
                    <p:nvPr/>
                  </p:nvSpPr>
                  <p:spPr bwMode="auto">
                    <a:xfrm rot="16200000">
                      <a:off x="7919651" y="1953499"/>
                      <a:ext cx="134631" cy="256338"/>
                    </a:xfrm>
                    <a:custGeom>
                      <a:avLst/>
                      <a:gdLst>
                        <a:gd name="T0" fmla="*/ 2147483647 w 6455"/>
                        <a:gd name="T1" fmla="*/ 2147483647 h 5166"/>
                        <a:gd name="T2" fmla="*/ 2147483647 w 6455"/>
                        <a:gd name="T3" fmla="*/ 2147483647 h 5166"/>
                        <a:gd name="T4" fmla="*/ 2147483647 w 6455"/>
                        <a:gd name="T5" fmla="*/ 2147483647 h 5166"/>
                        <a:gd name="T6" fmla="*/ 2147483647 w 6455"/>
                        <a:gd name="T7" fmla="*/ 2147483647 h 5166"/>
                        <a:gd name="T8" fmla="*/ 2147483647 w 6455"/>
                        <a:gd name="T9" fmla="*/ 2147483647 h 5166"/>
                        <a:gd name="T10" fmla="*/ 2147483647 w 6455"/>
                        <a:gd name="T11" fmla="*/ 2147483647 h 5166"/>
                        <a:gd name="T12" fmla="*/ 2147483647 w 6455"/>
                        <a:gd name="T13" fmla="*/ 2147483647 h 5166"/>
                        <a:gd name="T14" fmla="*/ 2147483647 w 6455"/>
                        <a:gd name="T15" fmla="*/ 2147483647 h 5166"/>
                        <a:gd name="T16" fmla="*/ 2147483647 w 6455"/>
                        <a:gd name="T17" fmla="*/ 2147483647 h 5166"/>
                        <a:gd name="T18" fmla="*/ 2147483647 w 6455"/>
                        <a:gd name="T19" fmla="*/ 2147483647 h 5166"/>
                        <a:gd name="T20" fmla="*/ 2147483647 w 6455"/>
                        <a:gd name="T21" fmla="*/ 2147483647 h 5166"/>
                        <a:gd name="T22" fmla="*/ 2147483647 w 6455"/>
                        <a:gd name="T23" fmla="*/ 2147483647 h 5166"/>
                        <a:gd name="T24" fmla="*/ 2147483647 w 6455"/>
                        <a:gd name="T25" fmla="*/ 2147483647 h 5166"/>
                        <a:gd name="T26" fmla="*/ 2147483647 w 6455"/>
                        <a:gd name="T27" fmla="*/ 2147483647 h 5166"/>
                        <a:gd name="T28" fmla="*/ 2147483647 w 6455"/>
                        <a:gd name="T29" fmla="*/ 2147483647 h 5166"/>
                        <a:gd name="T30" fmla="*/ 2147483647 w 6455"/>
                        <a:gd name="T31" fmla="*/ 2147483647 h 5166"/>
                        <a:gd name="T32" fmla="*/ 2147483647 w 6455"/>
                        <a:gd name="T33" fmla="*/ 2147483647 h 5166"/>
                        <a:gd name="T34" fmla="*/ 2147483647 w 6455"/>
                        <a:gd name="T35" fmla="*/ 2147483647 h 5166"/>
                        <a:gd name="T36" fmla="*/ 2147483647 w 6455"/>
                        <a:gd name="T37" fmla="*/ 2147483647 h 5166"/>
                        <a:gd name="T38" fmla="*/ 2147483647 w 6455"/>
                        <a:gd name="T39" fmla="*/ 2147483647 h 5166"/>
                        <a:gd name="T40" fmla="*/ 2147483647 w 6455"/>
                        <a:gd name="T41" fmla="*/ 2147483647 h 5166"/>
                        <a:gd name="T42" fmla="*/ 2147483647 w 6455"/>
                        <a:gd name="T43" fmla="*/ 2147483647 h 5166"/>
                        <a:gd name="T44" fmla="*/ 2147483647 w 6455"/>
                        <a:gd name="T45" fmla="*/ 2147483647 h 5166"/>
                        <a:gd name="T46" fmla="*/ 2147483647 w 6455"/>
                        <a:gd name="T47" fmla="*/ 2147483647 h 5166"/>
                        <a:gd name="T48" fmla="*/ 2147483647 w 6455"/>
                        <a:gd name="T49" fmla="*/ 2147483647 h 5166"/>
                        <a:gd name="T50" fmla="*/ 2147483647 w 6455"/>
                        <a:gd name="T51" fmla="*/ 2147483647 h 5166"/>
                        <a:gd name="T52" fmla="*/ 2147483647 w 6455"/>
                        <a:gd name="T53" fmla="*/ 2147483647 h 5166"/>
                        <a:gd name="T54" fmla="*/ 2147483647 w 6455"/>
                        <a:gd name="T55" fmla="*/ 2147483647 h 5166"/>
                        <a:gd name="T56" fmla="*/ 2147483647 w 6455"/>
                        <a:gd name="T57" fmla="*/ 2147483647 h 5166"/>
                        <a:gd name="T58" fmla="*/ 2147483647 w 6455"/>
                        <a:gd name="T59" fmla="*/ 2147483647 h 5166"/>
                        <a:gd name="T60" fmla="*/ 2147483647 w 6455"/>
                        <a:gd name="T61" fmla="*/ 2147483647 h 5166"/>
                        <a:gd name="T62" fmla="*/ 2147483647 w 6455"/>
                        <a:gd name="T63" fmla="*/ 2147483647 h 5166"/>
                        <a:gd name="T64" fmla="*/ 2147483647 w 6455"/>
                        <a:gd name="T65" fmla="*/ 2147483647 h 5166"/>
                        <a:gd name="T66" fmla="*/ 2147483647 w 6455"/>
                        <a:gd name="T67" fmla="*/ 2147483647 h 5166"/>
                        <a:gd name="T68" fmla="*/ 2147483647 w 6455"/>
                        <a:gd name="T69" fmla="*/ 2147483647 h 5166"/>
                        <a:gd name="T70" fmla="*/ 2147483647 w 6455"/>
                        <a:gd name="T71" fmla="*/ 2147483647 h 5166"/>
                        <a:gd name="T72" fmla="*/ 2147483647 w 6455"/>
                        <a:gd name="T73" fmla="*/ 2147483647 h 5166"/>
                        <a:gd name="T74" fmla="*/ 2147483647 w 6455"/>
                        <a:gd name="T75" fmla="*/ 2147483647 h 5166"/>
                        <a:gd name="T76" fmla="*/ 2147483647 w 6455"/>
                        <a:gd name="T77" fmla="*/ 2147483647 h 5166"/>
                        <a:gd name="T78" fmla="*/ 2147483647 w 6455"/>
                        <a:gd name="T79" fmla="*/ 2147483647 h 5166"/>
                        <a:gd name="T80" fmla="*/ 2147483647 w 6455"/>
                        <a:gd name="T81" fmla="*/ 2147483647 h 5166"/>
                        <a:gd name="T82" fmla="*/ 2147483647 w 6455"/>
                        <a:gd name="T83" fmla="*/ 2147483647 h 5166"/>
                        <a:gd name="T84" fmla="*/ 2147483647 w 6455"/>
                        <a:gd name="T85" fmla="*/ 2147483647 h 5166"/>
                        <a:gd name="T86" fmla="*/ 2147483647 w 6455"/>
                        <a:gd name="T87" fmla="*/ 2147483647 h 5166"/>
                        <a:gd name="T88" fmla="*/ 2147483647 w 6455"/>
                        <a:gd name="T89" fmla="*/ 2147483647 h 5166"/>
                        <a:gd name="T90" fmla="*/ 2147483647 w 6455"/>
                        <a:gd name="T91" fmla="*/ 2147483647 h 5166"/>
                        <a:gd name="T92" fmla="*/ 2147483647 w 6455"/>
                        <a:gd name="T93" fmla="*/ 2147483647 h 5166"/>
                        <a:gd name="T94" fmla="*/ 2147483647 w 6455"/>
                        <a:gd name="T95" fmla="*/ 2147483647 h 5166"/>
                        <a:gd name="T96" fmla="*/ 2147483647 w 6455"/>
                        <a:gd name="T97" fmla="*/ 2147483647 h 5166"/>
                        <a:gd name="T98" fmla="*/ 2147483647 w 6455"/>
                        <a:gd name="T99" fmla="*/ 2147483647 h 5166"/>
                        <a:gd name="T100" fmla="*/ 2147483647 w 6455"/>
                        <a:gd name="T101" fmla="*/ 2147483647 h 5166"/>
                        <a:gd name="T102" fmla="*/ 2147483647 w 6455"/>
                        <a:gd name="T103" fmla="*/ 2147483647 h 5166"/>
                        <a:gd name="T104" fmla="*/ 2147483647 w 6455"/>
                        <a:gd name="T105" fmla="*/ 2147483647 h 5166"/>
                        <a:gd name="T106" fmla="*/ 2147483647 w 6455"/>
                        <a:gd name="T107" fmla="*/ 2147483647 h 5166"/>
                        <a:gd name="T108" fmla="*/ 2147483647 w 6455"/>
                        <a:gd name="T109" fmla="*/ 2147483647 h 51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5"/>
                        <a:gd name="T166" fmla="*/ 0 h 5166"/>
                        <a:gd name="T167" fmla="*/ 6455 w 6455"/>
                        <a:gd name="T168" fmla="*/ 5166 h 51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5" h="5166">
                          <a:moveTo>
                            <a:pt x="2573" y="3988"/>
                          </a:moveTo>
                          <a:lnTo>
                            <a:pt x="1930" y="4694"/>
                          </a:lnTo>
                          <a:lnTo>
                            <a:pt x="768" y="4708"/>
                          </a:lnTo>
                          <a:lnTo>
                            <a:pt x="759" y="5166"/>
                          </a:lnTo>
                          <a:lnTo>
                            <a:pt x="0" y="4495"/>
                          </a:lnTo>
                          <a:lnTo>
                            <a:pt x="754" y="3775"/>
                          </a:lnTo>
                          <a:lnTo>
                            <a:pt x="754" y="4252"/>
                          </a:lnTo>
                          <a:lnTo>
                            <a:pt x="1631" y="4252"/>
                          </a:lnTo>
                          <a:lnTo>
                            <a:pt x="1649" y="4235"/>
                          </a:lnTo>
                          <a:lnTo>
                            <a:pt x="1698" y="4188"/>
                          </a:lnTo>
                          <a:lnTo>
                            <a:pt x="1769" y="4118"/>
                          </a:lnTo>
                          <a:lnTo>
                            <a:pt x="1855" y="4034"/>
                          </a:lnTo>
                          <a:lnTo>
                            <a:pt x="1948" y="3942"/>
                          </a:lnTo>
                          <a:lnTo>
                            <a:pt x="2040" y="3849"/>
                          </a:lnTo>
                          <a:lnTo>
                            <a:pt x="2084" y="3804"/>
                          </a:lnTo>
                          <a:lnTo>
                            <a:pt x="2123" y="3763"/>
                          </a:lnTo>
                          <a:lnTo>
                            <a:pt x="2160" y="3723"/>
                          </a:lnTo>
                          <a:lnTo>
                            <a:pt x="2190" y="3689"/>
                          </a:lnTo>
                          <a:lnTo>
                            <a:pt x="2166" y="3663"/>
                          </a:lnTo>
                          <a:lnTo>
                            <a:pt x="2142" y="3634"/>
                          </a:lnTo>
                          <a:lnTo>
                            <a:pt x="2118" y="3606"/>
                          </a:lnTo>
                          <a:lnTo>
                            <a:pt x="2095" y="3578"/>
                          </a:lnTo>
                          <a:lnTo>
                            <a:pt x="2073" y="3548"/>
                          </a:lnTo>
                          <a:lnTo>
                            <a:pt x="2051" y="3518"/>
                          </a:lnTo>
                          <a:lnTo>
                            <a:pt x="2030" y="3488"/>
                          </a:lnTo>
                          <a:lnTo>
                            <a:pt x="2011" y="3456"/>
                          </a:lnTo>
                          <a:lnTo>
                            <a:pt x="1991" y="3425"/>
                          </a:lnTo>
                          <a:lnTo>
                            <a:pt x="1972" y="3392"/>
                          </a:lnTo>
                          <a:lnTo>
                            <a:pt x="1954" y="3360"/>
                          </a:lnTo>
                          <a:lnTo>
                            <a:pt x="1937" y="3327"/>
                          </a:lnTo>
                          <a:lnTo>
                            <a:pt x="1920" y="3293"/>
                          </a:lnTo>
                          <a:lnTo>
                            <a:pt x="1905" y="3260"/>
                          </a:lnTo>
                          <a:lnTo>
                            <a:pt x="1889" y="3225"/>
                          </a:lnTo>
                          <a:lnTo>
                            <a:pt x="1875" y="3190"/>
                          </a:lnTo>
                          <a:lnTo>
                            <a:pt x="1861" y="3154"/>
                          </a:lnTo>
                          <a:lnTo>
                            <a:pt x="1849" y="3119"/>
                          </a:lnTo>
                          <a:lnTo>
                            <a:pt x="1837" y="3083"/>
                          </a:lnTo>
                          <a:lnTo>
                            <a:pt x="1826" y="3046"/>
                          </a:lnTo>
                          <a:lnTo>
                            <a:pt x="1814" y="3010"/>
                          </a:lnTo>
                          <a:lnTo>
                            <a:pt x="1805" y="2972"/>
                          </a:lnTo>
                          <a:lnTo>
                            <a:pt x="1797" y="2935"/>
                          </a:lnTo>
                          <a:lnTo>
                            <a:pt x="1789" y="2896"/>
                          </a:lnTo>
                          <a:lnTo>
                            <a:pt x="1782" y="2859"/>
                          </a:lnTo>
                          <a:lnTo>
                            <a:pt x="1776" y="2820"/>
                          </a:lnTo>
                          <a:lnTo>
                            <a:pt x="1771" y="2781"/>
                          </a:lnTo>
                          <a:lnTo>
                            <a:pt x="1767" y="2742"/>
                          </a:lnTo>
                          <a:lnTo>
                            <a:pt x="1764" y="2703"/>
                          </a:lnTo>
                          <a:lnTo>
                            <a:pt x="1761" y="2662"/>
                          </a:lnTo>
                          <a:lnTo>
                            <a:pt x="1760" y="2623"/>
                          </a:lnTo>
                          <a:lnTo>
                            <a:pt x="1759" y="2582"/>
                          </a:lnTo>
                          <a:lnTo>
                            <a:pt x="1760" y="2543"/>
                          </a:lnTo>
                          <a:lnTo>
                            <a:pt x="1761" y="2502"/>
                          </a:lnTo>
                          <a:lnTo>
                            <a:pt x="1764" y="2463"/>
                          </a:lnTo>
                          <a:lnTo>
                            <a:pt x="1767" y="2424"/>
                          </a:lnTo>
                          <a:lnTo>
                            <a:pt x="1771" y="2384"/>
                          </a:lnTo>
                          <a:lnTo>
                            <a:pt x="1776" y="2346"/>
                          </a:lnTo>
                          <a:lnTo>
                            <a:pt x="1782" y="2307"/>
                          </a:lnTo>
                          <a:lnTo>
                            <a:pt x="1789" y="2269"/>
                          </a:lnTo>
                          <a:lnTo>
                            <a:pt x="1797" y="2231"/>
                          </a:lnTo>
                          <a:lnTo>
                            <a:pt x="1805" y="2194"/>
                          </a:lnTo>
                          <a:lnTo>
                            <a:pt x="1814" y="2156"/>
                          </a:lnTo>
                          <a:lnTo>
                            <a:pt x="1826" y="2119"/>
                          </a:lnTo>
                          <a:lnTo>
                            <a:pt x="1837" y="2082"/>
                          </a:lnTo>
                          <a:lnTo>
                            <a:pt x="1848" y="2047"/>
                          </a:lnTo>
                          <a:lnTo>
                            <a:pt x="1861" y="2011"/>
                          </a:lnTo>
                          <a:lnTo>
                            <a:pt x="1875" y="1976"/>
                          </a:lnTo>
                          <a:lnTo>
                            <a:pt x="1889" y="1941"/>
                          </a:lnTo>
                          <a:lnTo>
                            <a:pt x="1905" y="1906"/>
                          </a:lnTo>
                          <a:lnTo>
                            <a:pt x="1920" y="1873"/>
                          </a:lnTo>
                          <a:lnTo>
                            <a:pt x="1937" y="1838"/>
                          </a:lnTo>
                          <a:lnTo>
                            <a:pt x="1954" y="1806"/>
                          </a:lnTo>
                          <a:lnTo>
                            <a:pt x="1972" y="1774"/>
                          </a:lnTo>
                          <a:lnTo>
                            <a:pt x="1991" y="1741"/>
                          </a:lnTo>
                          <a:lnTo>
                            <a:pt x="2010" y="1710"/>
                          </a:lnTo>
                          <a:lnTo>
                            <a:pt x="2030" y="1678"/>
                          </a:lnTo>
                          <a:lnTo>
                            <a:pt x="2051" y="1648"/>
                          </a:lnTo>
                          <a:lnTo>
                            <a:pt x="2073" y="1618"/>
                          </a:lnTo>
                          <a:lnTo>
                            <a:pt x="2095" y="1588"/>
                          </a:lnTo>
                          <a:lnTo>
                            <a:pt x="2118" y="1560"/>
                          </a:lnTo>
                          <a:lnTo>
                            <a:pt x="2142" y="1532"/>
                          </a:lnTo>
                          <a:lnTo>
                            <a:pt x="2166" y="1503"/>
                          </a:lnTo>
                          <a:lnTo>
                            <a:pt x="2190" y="1476"/>
                          </a:lnTo>
                          <a:lnTo>
                            <a:pt x="2160" y="1442"/>
                          </a:lnTo>
                          <a:lnTo>
                            <a:pt x="2123" y="1403"/>
                          </a:lnTo>
                          <a:lnTo>
                            <a:pt x="2084" y="1362"/>
                          </a:lnTo>
                          <a:lnTo>
                            <a:pt x="2040" y="1317"/>
                          </a:lnTo>
                          <a:lnTo>
                            <a:pt x="1948" y="1224"/>
                          </a:lnTo>
                          <a:lnTo>
                            <a:pt x="1855" y="1131"/>
                          </a:lnTo>
                          <a:lnTo>
                            <a:pt x="1769" y="1047"/>
                          </a:lnTo>
                          <a:lnTo>
                            <a:pt x="1698" y="978"/>
                          </a:lnTo>
                          <a:lnTo>
                            <a:pt x="1649" y="931"/>
                          </a:lnTo>
                          <a:lnTo>
                            <a:pt x="1631" y="914"/>
                          </a:lnTo>
                          <a:lnTo>
                            <a:pt x="754" y="914"/>
                          </a:lnTo>
                          <a:lnTo>
                            <a:pt x="754" y="1391"/>
                          </a:lnTo>
                          <a:lnTo>
                            <a:pt x="0" y="670"/>
                          </a:lnTo>
                          <a:lnTo>
                            <a:pt x="759" y="0"/>
                          </a:lnTo>
                          <a:lnTo>
                            <a:pt x="768" y="456"/>
                          </a:lnTo>
                          <a:lnTo>
                            <a:pt x="1930" y="472"/>
                          </a:lnTo>
                          <a:lnTo>
                            <a:pt x="2573" y="1177"/>
                          </a:lnTo>
                          <a:lnTo>
                            <a:pt x="2613" y="1156"/>
                          </a:lnTo>
                          <a:lnTo>
                            <a:pt x="2653" y="1137"/>
                          </a:lnTo>
                          <a:lnTo>
                            <a:pt x="2694" y="1118"/>
                          </a:lnTo>
                          <a:lnTo>
                            <a:pt x="2735" y="1100"/>
                          </a:lnTo>
                          <a:lnTo>
                            <a:pt x="2778" y="1084"/>
                          </a:lnTo>
                          <a:lnTo>
                            <a:pt x="2820" y="1070"/>
                          </a:lnTo>
                          <a:lnTo>
                            <a:pt x="2863" y="1056"/>
                          </a:lnTo>
                          <a:lnTo>
                            <a:pt x="2907" y="1044"/>
                          </a:lnTo>
                          <a:lnTo>
                            <a:pt x="2951" y="1033"/>
                          </a:lnTo>
                          <a:lnTo>
                            <a:pt x="2996" y="1023"/>
                          </a:lnTo>
                          <a:lnTo>
                            <a:pt x="3041" y="1015"/>
                          </a:lnTo>
                          <a:lnTo>
                            <a:pt x="3086" y="1008"/>
                          </a:lnTo>
                          <a:lnTo>
                            <a:pt x="3133" y="1003"/>
                          </a:lnTo>
                          <a:lnTo>
                            <a:pt x="3180" y="1000"/>
                          </a:lnTo>
                          <a:lnTo>
                            <a:pt x="3226" y="997"/>
                          </a:lnTo>
                          <a:lnTo>
                            <a:pt x="3274" y="996"/>
                          </a:lnTo>
                          <a:lnTo>
                            <a:pt x="3316" y="997"/>
                          </a:lnTo>
                          <a:lnTo>
                            <a:pt x="3358" y="999"/>
                          </a:lnTo>
                          <a:lnTo>
                            <a:pt x="3400" y="1002"/>
                          </a:lnTo>
                          <a:lnTo>
                            <a:pt x="3442" y="1006"/>
                          </a:lnTo>
                          <a:lnTo>
                            <a:pt x="3483" y="1012"/>
                          </a:lnTo>
                          <a:lnTo>
                            <a:pt x="3524" y="1018"/>
                          </a:lnTo>
                          <a:lnTo>
                            <a:pt x="3564" y="1026"/>
                          </a:lnTo>
                          <a:lnTo>
                            <a:pt x="3605" y="1036"/>
                          </a:lnTo>
                          <a:lnTo>
                            <a:pt x="3645" y="1046"/>
                          </a:lnTo>
                          <a:lnTo>
                            <a:pt x="3685" y="1057"/>
                          </a:lnTo>
                          <a:lnTo>
                            <a:pt x="3723" y="1069"/>
                          </a:lnTo>
                          <a:lnTo>
                            <a:pt x="3762" y="1082"/>
                          </a:lnTo>
                          <a:lnTo>
                            <a:pt x="3800" y="1096"/>
                          </a:lnTo>
                          <a:lnTo>
                            <a:pt x="3838" y="1111"/>
                          </a:lnTo>
                          <a:lnTo>
                            <a:pt x="3875" y="1128"/>
                          </a:lnTo>
                          <a:lnTo>
                            <a:pt x="3912" y="1145"/>
                          </a:lnTo>
                          <a:lnTo>
                            <a:pt x="4525" y="472"/>
                          </a:lnTo>
                          <a:lnTo>
                            <a:pt x="5687" y="456"/>
                          </a:lnTo>
                          <a:lnTo>
                            <a:pt x="5696" y="0"/>
                          </a:lnTo>
                          <a:lnTo>
                            <a:pt x="6455" y="670"/>
                          </a:lnTo>
                          <a:lnTo>
                            <a:pt x="5701" y="1391"/>
                          </a:lnTo>
                          <a:lnTo>
                            <a:pt x="5701" y="914"/>
                          </a:lnTo>
                          <a:lnTo>
                            <a:pt x="4823" y="914"/>
                          </a:lnTo>
                          <a:lnTo>
                            <a:pt x="4808" y="928"/>
                          </a:lnTo>
                          <a:lnTo>
                            <a:pt x="4768" y="968"/>
                          </a:lnTo>
                          <a:lnTo>
                            <a:pt x="4706" y="1027"/>
                          </a:lnTo>
                          <a:lnTo>
                            <a:pt x="4631" y="1100"/>
                          </a:lnTo>
                          <a:lnTo>
                            <a:pt x="4547" y="1182"/>
                          </a:lnTo>
                          <a:lnTo>
                            <a:pt x="4462" y="1268"/>
                          </a:lnTo>
                          <a:lnTo>
                            <a:pt x="4381" y="1351"/>
                          </a:lnTo>
                          <a:lnTo>
                            <a:pt x="4309" y="1427"/>
                          </a:lnTo>
                          <a:lnTo>
                            <a:pt x="4336" y="1455"/>
                          </a:lnTo>
                          <a:lnTo>
                            <a:pt x="4363" y="1483"/>
                          </a:lnTo>
                          <a:lnTo>
                            <a:pt x="4389" y="1511"/>
                          </a:lnTo>
                          <a:lnTo>
                            <a:pt x="4414" y="1542"/>
                          </a:lnTo>
                          <a:lnTo>
                            <a:pt x="4438" y="1572"/>
                          </a:lnTo>
                          <a:lnTo>
                            <a:pt x="4462" y="1602"/>
                          </a:lnTo>
                          <a:lnTo>
                            <a:pt x="4485" y="1634"/>
                          </a:lnTo>
                          <a:lnTo>
                            <a:pt x="4507" y="1666"/>
                          </a:lnTo>
                          <a:lnTo>
                            <a:pt x="4530" y="1699"/>
                          </a:lnTo>
                          <a:lnTo>
                            <a:pt x="4550" y="1732"/>
                          </a:lnTo>
                          <a:lnTo>
                            <a:pt x="4570" y="1765"/>
                          </a:lnTo>
                          <a:lnTo>
                            <a:pt x="4589" y="1800"/>
                          </a:lnTo>
                          <a:lnTo>
                            <a:pt x="4608" y="1835"/>
                          </a:lnTo>
                          <a:lnTo>
                            <a:pt x="4626" y="1871"/>
                          </a:lnTo>
                          <a:lnTo>
                            <a:pt x="4642" y="1906"/>
                          </a:lnTo>
                          <a:lnTo>
                            <a:pt x="4658" y="1943"/>
                          </a:lnTo>
                          <a:lnTo>
                            <a:pt x="4673" y="1980"/>
                          </a:lnTo>
                          <a:lnTo>
                            <a:pt x="4688" y="2018"/>
                          </a:lnTo>
                          <a:lnTo>
                            <a:pt x="4701" y="2055"/>
                          </a:lnTo>
                          <a:lnTo>
                            <a:pt x="4714" y="2093"/>
                          </a:lnTo>
                          <a:lnTo>
                            <a:pt x="4725" y="2132"/>
                          </a:lnTo>
                          <a:lnTo>
                            <a:pt x="4736" y="2171"/>
                          </a:lnTo>
                          <a:lnTo>
                            <a:pt x="4745" y="2211"/>
                          </a:lnTo>
                          <a:lnTo>
                            <a:pt x="4754" y="2251"/>
                          </a:lnTo>
                          <a:lnTo>
                            <a:pt x="4762" y="2291"/>
                          </a:lnTo>
                          <a:lnTo>
                            <a:pt x="4769" y="2332"/>
                          </a:lnTo>
                          <a:lnTo>
                            <a:pt x="4775" y="2373"/>
                          </a:lnTo>
                          <a:lnTo>
                            <a:pt x="4779" y="2414"/>
                          </a:lnTo>
                          <a:lnTo>
                            <a:pt x="4783" y="2456"/>
                          </a:lnTo>
                          <a:lnTo>
                            <a:pt x="4786" y="2498"/>
                          </a:lnTo>
                          <a:lnTo>
                            <a:pt x="4787" y="2540"/>
                          </a:lnTo>
                          <a:lnTo>
                            <a:pt x="4788" y="2582"/>
                          </a:lnTo>
                          <a:lnTo>
                            <a:pt x="4787" y="2625"/>
                          </a:lnTo>
                          <a:lnTo>
                            <a:pt x="4786" y="2667"/>
                          </a:lnTo>
                          <a:lnTo>
                            <a:pt x="4783" y="2709"/>
                          </a:lnTo>
                          <a:lnTo>
                            <a:pt x="4779" y="2752"/>
                          </a:lnTo>
                          <a:lnTo>
                            <a:pt x="4775" y="2793"/>
                          </a:lnTo>
                          <a:lnTo>
                            <a:pt x="4769" y="2834"/>
                          </a:lnTo>
                          <a:lnTo>
                            <a:pt x="4762" y="2874"/>
                          </a:lnTo>
                          <a:lnTo>
                            <a:pt x="4754" y="2915"/>
                          </a:lnTo>
                          <a:lnTo>
                            <a:pt x="4745" y="2955"/>
                          </a:lnTo>
                          <a:lnTo>
                            <a:pt x="4736" y="2994"/>
                          </a:lnTo>
                          <a:lnTo>
                            <a:pt x="4725" y="3033"/>
                          </a:lnTo>
                          <a:lnTo>
                            <a:pt x="4714" y="3072"/>
                          </a:lnTo>
                          <a:lnTo>
                            <a:pt x="4701" y="3111"/>
                          </a:lnTo>
                          <a:lnTo>
                            <a:pt x="4688" y="3148"/>
                          </a:lnTo>
                          <a:lnTo>
                            <a:pt x="4673" y="3186"/>
                          </a:lnTo>
                          <a:lnTo>
                            <a:pt x="4658" y="3222"/>
                          </a:lnTo>
                          <a:lnTo>
                            <a:pt x="4642" y="3259"/>
                          </a:lnTo>
                          <a:lnTo>
                            <a:pt x="4626" y="3295"/>
                          </a:lnTo>
                          <a:lnTo>
                            <a:pt x="4608" y="3331"/>
                          </a:lnTo>
                          <a:lnTo>
                            <a:pt x="4589" y="3365"/>
                          </a:lnTo>
                          <a:lnTo>
                            <a:pt x="4570" y="3400"/>
                          </a:lnTo>
                          <a:lnTo>
                            <a:pt x="4550" y="3434"/>
                          </a:lnTo>
                          <a:lnTo>
                            <a:pt x="4530" y="3467"/>
                          </a:lnTo>
                          <a:lnTo>
                            <a:pt x="4507" y="3500"/>
                          </a:lnTo>
                          <a:lnTo>
                            <a:pt x="4485" y="3532"/>
                          </a:lnTo>
                          <a:lnTo>
                            <a:pt x="4462" y="3563"/>
                          </a:lnTo>
                          <a:lnTo>
                            <a:pt x="4438" y="3594"/>
                          </a:lnTo>
                          <a:lnTo>
                            <a:pt x="4414" y="3624"/>
                          </a:lnTo>
                          <a:lnTo>
                            <a:pt x="4389" y="3654"/>
                          </a:lnTo>
                          <a:lnTo>
                            <a:pt x="4363" y="3683"/>
                          </a:lnTo>
                          <a:lnTo>
                            <a:pt x="4336" y="3711"/>
                          </a:lnTo>
                          <a:lnTo>
                            <a:pt x="4309" y="3739"/>
                          </a:lnTo>
                          <a:lnTo>
                            <a:pt x="4381" y="3815"/>
                          </a:lnTo>
                          <a:lnTo>
                            <a:pt x="4462" y="3898"/>
                          </a:lnTo>
                          <a:lnTo>
                            <a:pt x="4547" y="3983"/>
                          </a:lnTo>
                          <a:lnTo>
                            <a:pt x="4631" y="4065"/>
                          </a:lnTo>
                          <a:lnTo>
                            <a:pt x="4706" y="4138"/>
                          </a:lnTo>
                          <a:lnTo>
                            <a:pt x="4768" y="4198"/>
                          </a:lnTo>
                          <a:lnTo>
                            <a:pt x="4808" y="4238"/>
                          </a:lnTo>
                          <a:lnTo>
                            <a:pt x="4823" y="4252"/>
                          </a:lnTo>
                          <a:lnTo>
                            <a:pt x="5701" y="4252"/>
                          </a:lnTo>
                          <a:lnTo>
                            <a:pt x="5701" y="3775"/>
                          </a:lnTo>
                          <a:lnTo>
                            <a:pt x="6455" y="4495"/>
                          </a:lnTo>
                          <a:lnTo>
                            <a:pt x="5696" y="5166"/>
                          </a:lnTo>
                          <a:lnTo>
                            <a:pt x="5687" y="4708"/>
                          </a:lnTo>
                          <a:lnTo>
                            <a:pt x="4525" y="4694"/>
                          </a:lnTo>
                          <a:lnTo>
                            <a:pt x="3912" y="4020"/>
                          </a:lnTo>
                          <a:lnTo>
                            <a:pt x="3875" y="4038"/>
                          </a:lnTo>
                          <a:lnTo>
                            <a:pt x="3838" y="4054"/>
                          </a:lnTo>
                          <a:lnTo>
                            <a:pt x="3800" y="4070"/>
                          </a:lnTo>
                          <a:lnTo>
                            <a:pt x="3762" y="4084"/>
                          </a:lnTo>
                          <a:lnTo>
                            <a:pt x="3723" y="4097"/>
                          </a:lnTo>
                          <a:lnTo>
                            <a:pt x="3685" y="4109"/>
                          </a:lnTo>
                          <a:lnTo>
                            <a:pt x="3645" y="4120"/>
                          </a:lnTo>
                          <a:lnTo>
                            <a:pt x="3605" y="4130"/>
                          </a:lnTo>
                          <a:lnTo>
                            <a:pt x="3564" y="4139"/>
                          </a:lnTo>
                          <a:lnTo>
                            <a:pt x="3524" y="4147"/>
                          </a:lnTo>
                          <a:lnTo>
                            <a:pt x="3483" y="4154"/>
                          </a:lnTo>
                          <a:lnTo>
                            <a:pt x="3442" y="4159"/>
                          </a:lnTo>
                          <a:lnTo>
                            <a:pt x="3400" y="4164"/>
                          </a:lnTo>
                          <a:lnTo>
                            <a:pt x="3358" y="4167"/>
                          </a:lnTo>
                          <a:lnTo>
                            <a:pt x="3316" y="4168"/>
                          </a:lnTo>
                          <a:lnTo>
                            <a:pt x="3274" y="4169"/>
                          </a:lnTo>
                          <a:lnTo>
                            <a:pt x="3226" y="4168"/>
                          </a:lnTo>
                          <a:lnTo>
                            <a:pt x="3180" y="4166"/>
                          </a:lnTo>
                          <a:lnTo>
                            <a:pt x="3133" y="4162"/>
                          </a:lnTo>
                          <a:lnTo>
                            <a:pt x="3086" y="4157"/>
                          </a:lnTo>
                          <a:lnTo>
                            <a:pt x="3041" y="4151"/>
                          </a:lnTo>
                          <a:lnTo>
                            <a:pt x="2996" y="4143"/>
                          </a:lnTo>
                          <a:lnTo>
                            <a:pt x="2951" y="4132"/>
                          </a:lnTo>
                          <a:lnTo>
                            <a:pt x="2907" y="4121"/>
                          </a:lnTo>
                          <a:lnTo>
                            <a:pt x="2863" y="4109"/>
                          </a:lnTo>
                          <a:lnTo>
                            <a:pt x="2820" y="4096"/>
                          </a:lnTo>
                          <a:lnTo>
                            <a:pt x="2777" y="4081"/>
                          </a:lnTo>
                          <a:lnTo>
                            <a:pt x="2735" y="4065"/>
                          </a:lnTo>
                          <a:lnTo>
                            <a:pt x="2694" y="4047"/>
                          </a:lnTo>
                          <a:lnTo>
                            <a:pt x="2652" y="4029"/>
                          </a:lnTo>
                          <a:lnTo>
                            <a:pt x="2613" y="4009"/>
                          </a:lnTo>
                          <a:lnTo>
                            <a:pt x="2573" y="3988"/>
                          </a:lnTo>
                          <a:close/>
                          <a:moveTo>
                            <a:pt x="3274" y="1530"/>
                          </a:moveTo>
                          <a:lnTo>
                            <a:pt x="3325" y="1532"/>
                          </a:lnTo>
                          <a:lnTo>
                            <a:pt x="3376" y="1536"/>
                          </a:lnTo>
                          <a:lnTo>
                            <a:pt x="3426" y="1543"/>
                          </a:lnTo>
                          <a:lnTo>
                            <a:pt x="3475" y="1552"/>
                          </a:lnTo>
                          <a:lnTo>
                            <a:pt x="3524" y="1563"/>
                          </a:lnTo>
                          <a:lnTo>
                            <a:pt x="3572" y="1577"/>
                          </a:lnTo>
                          <a:lnTo>
                            <a:pt x="3618" y="1594"/>
                          </a:lnTo>
                          <a:lnTo>
                            <a:pt x="3664" y="1613"/>
                          </a:lnTo>
                          <a:lnTo>
                            <a:pt x="3708" y="1634"/>
                          </a:lnTo>
                          <a:lnTo>
                            <a:pt x="3752" y="1657"/>
                          </a:lnTo>
                          <a:lnTo>
                            <a:pt x="3793" y="1682"/>
                          </a:lnTo>
                          <a:lnTo>
                            <a:pt x="3835" y="1710"/>
                          </a:lnTo>
                          <a:lnTo>
                            <a:pt x="3874" y="1739"/>
                          </a:lnTo>
                          <a:lnTo>
                            <a:pt x="3912" y="1771"/>
                          </a:lnTo>
                          <a:lnTo>
                            <a:pt x="3948" y="1804"/>
                          </a:lnTo>
                          <a:lnTo>
                            <a:pt x="3984" y="1838"/>
                          </a:lnTo>
                          <a:lnTo>
                            <a:pt x="4017" y="1876"/>
                          </a:lnTo>
                          <a:lnTo>
                            <a:pt x="4049" y="1913"/>
                          </a:lnTo>
                          <a:lnTo>
                            <a:pt x="4078" y="1954"/>
                          </a:lnTo>
                          <a:lnTo>
                            <a:pt x="4106" y="1994"/>
                          </a:lnTo>
                          <a:lnTo>
                            <a:pt x="4133" y="2038"/>
                          </a:lnTo>
                          <a:lnTo>
                            <a:pt x="4157" y="2081"/>
                          </a:lnTo>
                          <a:lnTo>
                            <a:pt x="4179" y="2127"/>
                          </a:lnTo>
                          <a:lnTo>
                            <a:pt x="4199" y="2173"/>
                          </a:lnTo>
                          <a:lnTo>
                            <a:pt x="4217" y="2221"/>
                          </a:lnTo>
                          <a:lnTo>
                            <a:pt x="4233" y="2271"/>
                          </a:lnTo>
                          <a:lnTo>
                            <a:pt x="4246" y="2320"/>
                          </a:lnTo>
                          <a:lnTo>
                            <a:pt x="4258" y="2371"/>
                          </a:lnTo>
                          <a:lnTo>
                            <a:pt x="4266" y="2422"/>
                          </a:lnTo>
                          <a:lnTo>
                            <a:pt x="4273" y="2475"/>
                          </a:lnTo>
                          <a:lnTo>
                            <a:pt x="4277" y="2529"/>
                          </a:lnTo>
                          <a:lnTo>
                            <a:pt x="4278" y="2582"/>
                          </a:lnTo>
                          <a:lnTo>
                            <a:pt x="4277" y="2637"/>
                          </a:lnTo>
                          <a:lnTo>
                            <a:pt x="4273" y="2690"/>
                          </a:lnTo>
                          <a:lnTo>
                            <a:pt x="4266" y="2742"/>
                          </a:lnTo>
                          <a:lnTo>
                            <a:pt x="4258" y="2794"/>
                          </a:lnTo>
                          <a:lnTo>
                            <a:pt x="4246" y="2846"/>
                          </a:lnTo>
                          <a:lnTo>
                            <a:pt x="4233" y="2895"/>
                          </a:lnTo>
                          <a:lnTo>
                            <a:pt x="4217" y="2944"/>
                          </a:lnTo>
                          <a:lnTo>
                            <a:pt x="4199" y="2991"/>
                          </a:lnTo>
                          <a:lnTo>
                            <a:pt x="4179" y="3038"/>
                          </a:lnTo>
                          <a:lnTo>
                            <a:pt x="4157" y="3084"/>
                          </a:lnTo>
                          <a:lnTo>
                            <a:pt x="4133" y="3128"/>
                          </a:lnTo>
                          <a:lnTo>
                            <a:pt x="4106" y="3171"/>
                          </a:lnTo>
                          <a:lnTo>
                            <a:pt x="4078" y="3212"/>
                          </a:lnTo>
                          <a:lnTo>
                            <a:pt x="4049" y="3252"/>
                          </a:lnTo>
                          <a:lnTo>
                            <a:pt x="4017" y="3290"/>
                          </a:lnTo>
                          <a:lnTo>
                            <a:pt x="3984" y="3327"/>
                          </a:lnTo>
                          <a:lnTo>
                            <a:pt x="3948" y="3361"/>
                          </a:lnTo>
                          <a:lnTo>
                            <a:pt x="3912" y="3394"/>
                          </a:lnTo>
                          <a:lnTo>
                            <a:pt x="3874" y="3426"/>
                          </a:lnTo>
                          <a:lnTo>
                            <a:pt x="3835" y="3455"/>
                          </a:lnTo>
                          <a:lnTo>
                            <a:pt x="3793" y="3482"/>
                          </a:lnTo>
                          <a:lnTo>
                            <a:pt x="3752" y="3508"/>
                          </a:lnTo>
                          <a:lnTo>
                            <a:pt x="3708" y="3531"/>
                          </a:lnTo>
                          <a:lnTo>
                            <a:pt x="3664" y="3552"/>
                          </a:lnTo>
                          <a:lnTo>
                            <a:pt x="3618" y="3572"/>
                          </a:lnTo>
                          <a:lnTo>
                            <a:pt x="3572" y="3588"/>
                          </a:lnTo>
                          <a:lnTo>
                            <a:pt x="3524" y="3602"/>
                          </a:lnTo>
                          <a:lnTo>
                            <a:pt x="3475" y="3614"/>
                          </a:lnTo>
                          <a:lnTo>
                            <a:pt x="3426" y="3623"/>
                          </a:lnTo>
                          <a:lnTo>
                            <a:pt x="3376" y="3630"/>
                          </a:lnTo>
                          <a:lnTo>
                            <a:pt x="3325" y="3634"/>
                          </a:lnTo>
                          <a:lnTo>
                            <a:pt x="3274" y="3635"/>
                          </a:lnTo>
                          <a:lnTo>
                            <a:pt x="3222" y="3634"/>
                          </a:lnTo>
                          <a:lnTo>
                            <a:pt x="3171" y="3630"/>
                          </a:lnTo>
                          <a:lnTo>
                            <a:pt x="3121" y="3623"/>
                          </a:lnTo>
                          <a:lnTo>
                            <a:pt x="3071" y="3614"/>
                          </a:lnTo>
                          <a:lnTo>
                            <a:pt x="3023" y="3602"/>
                          </a:lnTo>
                          <a:lnTo>
                            <a:pt x="2975" y="3588"/>
                          </a:lnTo>
                          <a:lnTo>
                            <a:pt x="2928" y="3572"/>
                          </a:lnTo>
                          <a:lnTo>
                            <a:pt x="2883" y="3552"/>
                          </a:lnTo>
                          <a:lnTo>
                            <a:pt x="2838" y="3531"/>
                          </a:lnTo>
                          <a:lnTo>
                            <a:pt x="2795" y="3508"/>
                          </a:lnTo>
                          <a:lnTo>
                            <a:pt x="2753" y="3482"/>
                          </a:lnTo>
                          <a:lnTo>
                            <a:pt x="2712" y="3455"/>
                          </a:lnTo>
                          <a:lnTo>
                            <a:pt x="2672" y="3426"/>
                          </a:lnTo>
                          <a:lnTo>
                            <a:pt x="2635" y="3394"/>
                          </a:lnTo>
                          <a:lnTo>
                            <a:pt x="2598" y="3361"/>
                          </a:lnTo>
                          <a:lnTo>
                            <a:pt x="2563" y="3327"/>
                          </a:lnTo>
                          <a:lnTo>
                            <a:pt x="2529" y="3290"/>
                          </a:lnTo>
                          <a:lnTo>
                            <a:pt x="2498" y="3252"/>
                          </a:lnTo>
                          <a:lnTo>
                            <a:pt x="2469" y="3212"/>
                          </a:lnTo>
                          <a:lnTo>
                            <a:pt x="2440" y="3171"/>
                          </a:lnTo>
                          <a:lnTo>
                            <a:pt x="2414" y="3128"/>
                          </a:lnTo>
                          <a:lnTo>
                            <a:pt x="2390" y="3084"/>
                          </a:lnTo>
                          <a:lnTo>
                            <a:pt x="2367" y="3038"/>
                          </a:lnTo>
                          <a:lnTo>
                            <a:pt x="2348" y="2991"/>
                          </a:lnTo>
                          <a:lnTo>
                            <a:pt x="2330" y="2944"/>
                          </a:lnTo>
                          <a:lnTo>
                            <a:pt x="2314" y="2895"/>
                          </a:lnTo>
                          <a:lnTo>
                            <a:pt x="2301" y="2846"/>
                          </a:lnTo>
                          <a:lnTo>
                            <a:pt x="2289" y="2794"/>
                          </a:lnTo>
                          <a:lnTo>
                            <a:pt x="2280" y="2742"/>
                          </a:lnTo>
                          <a:lnTo>
                            <a:pt x="2273" y="2690"/>
                          </a:lnTo>
                          <a:lnTo>
                            <a:pt x="2270" y="2637"/>
                          </a:lnTo>
                          <a:lnTo>
                            <a:pt x="2268" y="2582"/>
                          </a:lnTo>
                          <a:lnTo>
                            <a:pt x="2270" y="2529"/>
                          </a:lnTo>
                          <a:lnTo>
                            <a:pt x="2273" y="2475"/>
                          </a:lnTo>
                          <a:lnTo>
                            <a:pt x="2280" y="2422"/>
                          </a:lnTo>
                          <a:lnTo>
                            <a:pt x="2289" y="2371"/>
                          </a:lnTo>
                          <a:lnTo>
                            <a:pt x="2301" y="2320"/>
                          </a:lnTo>
                          <a:lnTo>
                            <a:pt x="2314" y="2271"/>
                          </a:lnTo>
                          <a:lnTo>
                            <a:pt x="2330" y="2221"/>
                          </a:lnTo>
                          <a:lnTo>
                            <a:pt x="2348" y="2173"/>
                          </a:lnTo>
                          <a:lnTo>
                            <a:pt x="2367" y="2127"/>
                          </a:lnTo>
                          <a:lnTo>
                            <a:pt x="2390" y="2081"/>
                          </a:lnTo>
                          <a:lnTo>
                            <a:pt x="2414" y="2038"/>
                          </a:lnTo>
                          <a:lnTo>
                            <a:pt x="2440" y="1994"/>
                          </a:lnTo>
                          <a:lnTo>
                            <a:pt x="2469" y="1954"/>
                          </a:lnTo>
                          <a:lnTo>
                            <a:pt x="2498" y="1913"/>
                          </a:lnTo>
                          <a:lnTo>
                            <a:pt x="2529" y="1876"/>
                          </a:lnTo>
                          <a:lnTo>
                            <a:pt x="2563" y="1838"/>
                          </a:lnTo>
                          <a:lnTo>
                            <a:pt x="2598" y="1804"/>
                          </a:lnTo>
                          <a:lnTo>
                            <a:pt x="2635" y="1771"/>
                          </a:lnTo>
                          <a:lnTo>
                            <a:pt x="2672" y="1739"/>
                          </a:lnTo>
                          <a:lnTo>
                            <a:pt x="2712" y="1710"/>
                          </a:lnTo>
                          <a:lnTo>
                            <a:pt x="2753" y="1682"/>
                          </a:lnTo>
                          <a:lnTo>
                            <a:pt x="2795" y="1657"/>
                          </a:lnTo>
                          <a:lnTo>
                            <a:pt x="2838" y="1634"/>
                          </a:lnTo>
                          <a:lnTo>
                            <a:pt x="2883" y="1613"/>
                          </a:lnTo>
                          <a:lnTo>
                            <a:pt x="2928" y="1594"/>
                          </a:lnTo>
                          <a:lnTo>
                            <a:pt x="2975" y="1577"/>
                          </a:lnTo>
                          <a:lnTo>
                            <a:pt x="3023" y="1563"/>
                          </a:lnTo>
                          <a:lnTo>
                            <a:pt x="3071" y="1552"/>
                          </a:lnTo>
                          <a:lnTo>
                            <a:pt x="3121" y="1543"/>
                          </a:lnTo>
                          <a:lnTo>
                            <a:pt x="3171" y="1536"/>
                          </a:lnTo>
                          <a:lnTo>
                            <a:pt x="3222" y="1532"/>
                          </a:lnTo>
                          <a:lnTo>
                            <a:pt x="3274" y="1530"/>
                          </a:lnTo>
                          <a:close/>
                        </a:path>
                      </a:pathLst>
                    </a:custGeom>
                    <a:solidFill>
                      <a:srgbClr val="FFFFFF"/>
                    </a:solidFill>
                    <a:ln w="9525">
                      <a:solidFill>
                        <a:sysClr val="windowText" lastClr="000000"/>
                      </a:solidFill>
                      <a:round/>
                      <a:headEnd/>
                      <a:tailEnd/>
                    </a:ln>
                  </p:spPr>
                  <p:txBody>
                    <a:bodyPr/>
                    <a:lstStyle/>
                    <a:p>
                      <a:pPr algn="ctr" defTabSz="1232809" hangingPunct="1">
                        <a:defRPr/>
                      </a:pPr>
                      <a:endParaRPr lang="en-US" sz="1600" dirty="0">
                        <a:solidFill>
                          <a:srgbClr val="2D2015"/>
                        </a:solidFill>
                        <a:latin typeface="Arial" panose="020B0604020202020204" pitchFamily="34" charset="0"/>
                        <a:ea typeface="微软雅黑" pitchFamily="34" charset="-122"/>
                        <a:cs typeface="Arial" panose="020B0604020202020204" pitchFamily="34" charset="0"/>
                      </a:endParaRPr>
                    </a:p>
                  </p:txBody>
                </p:sp>
              </p:grpSp>
              <p:cxnSp>
                <p:nvCxnSpPr>
                  <p:cNvPr id="56" name="直接连接符 326"/>
                  <p:cNvCxnSpPr>
                    <a:stCxn id="43" idx="3"/>
                    <a:endCxn id="98" idx="1"/>
                  </p:cNvCxnSpPr>
                  <p:nvPr/>
                </p:nvCxnSpPr>
                <p:spPr>
                  <a:xfrm flipV="1">
                    <a:off x="6110593" y="4118421"/>
                    <a:ext cx="619060" cy="261368"/>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57" name="直接连接符 326"/>
                  <p:cNvCxnSpPr>
                    <a:stCxn id="36" idx="1"/>
                    <a:endCxn id="94" idx="3"/>
                  </p:cNvCxnSpPr>
                  <p:nvPr/>
                </p:nvCxnSpPr>
                <p:spPr>
                  <a:xfrm flipH="1">
                    <a:off x="7537559" y="3939300"/>
                    <a:ext cx="520617" cy="176163"/>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58" name="直接连接符 326"/>
                  <p:cNvCxnSpPr>
                    <a:stCxn id="60" idx="1"/>
                    <a:endCxn id="94" idx="3"/>
                  </p:cNvCxnSpPr>
                  <p:nvPr/>
                </p:nvCxnSpPr>
                <p:spPr>
                  <a:xfrm flipH="1" flipV="1">
                    <a:off x="7537559" y="4115464"/>
                    <a:ext cx="621475" cy="211113"/>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pic>
                <p:nvPicPr>
                  <p:cNvPr id="59" name="Picture 8" descr="绘图1"/>
                  <p:cNvPicPr>
                    <a:picLocks noChangeAspect="1" noChangeArrowheads="1"/>
                  </p:cNvPicPr>
                  <p:nvPr/>
                </p:nvPicPr>
                <p:blipFill>
                  <a:blip r:embed="rId7" cstate="print"/>
                  <a:srcRect/>
                  <a:stretch>
                    <a:fillRect/>
                  </a:stretch>
                </p:blipFill>
                <p:spPr bwMode="auto">
                  <a:xfrm>
                    <a:off x="8904490" y="2293476"/>
                    <a:ext cx="383778" cy="393987"/>
                  </a:xfrm>
                  <a:prstGeom prst="rect">
                    <a:avLst/>
                  </a:prstGeom>
                  <a:noFill/>
                  <a:ln w="9525">
                    <a:noFill/>
                    <a:miter lim="800000"/>
                    <a:headEnd/>
                    <a:tailEnd/>
                  </a:ln>
                </p:spPr>
              </p:pic>
              <p:pic>
                <p:nvPicPr>
                  <p:cNvPr id="60" name="Picture 128" descr="图片24"/>
                  <p:cNvPicPr preferRelativeResize="0">
                    <a:picLocks noChangeArrowheads="1"/>
                  </p:cNvPicPr>
                  <p:nvPr/>
                </p:nvPicPr>
                <p:blipFill>
                  <a:blip r:embed="rId6" cstate="print"/>
                  <a:srcRect/>
                  <a:stretch>
                    <a:fillRect/>
                  </a:stretch>
                </p:blipFill>
                <p:spPr bwMode="auto">
                  <a:xfrm>
                    <a:off x="8159033" y="4140118"/>
                    <a:ext cx="270688" cy="372915"/>
                  </a:xfrm>
                  <a:prstGeom prst="rect">
                    <a:avLst/>
                  </a:prstGeom>
                  <a:noFill/>
                  <a:ln w="9525">
                    <a:noFill/>
                    <a:miter lim="800000"/>
                    <a:headEnd/>
                    <a:tailEnd/>
                  </a:ln>
                </p:spPr>
              </p:pic>
              <p:pic>
                <p:nvPicPr>
                  <p:cNvPr id="61" name="Picture 128" descr="图片24"/>
                  <p:cNvPicPr preferRelativeResize="0">
                    <a:picLocks noChangeArrowheads="1"/>
                  </p:cNvPicPr>
                  <p:nvPr/>
                </p:nvPicPr>
                <p:blipFill>
                  <a:blip r:embed="rId6" cstate="print"/>
                  <a:srcRect/>
                  <a:stretch>
                    <a:fillRect/>
                  </a:stretch>
                </p:blipFill>
                <p:spPr bwMode="auto">
                  <a:xfrm>
                    <a:off x="9045287" y="4296803"/>
                    <a:ext cx="270688" cy="372915"/>
                  </a:xfrm>
                  <a:prstGeom prst="rect">
                    <a:avLst/>
                  </a:prstGeom>
                  <a:noFill/>
                  <a:ln w="9525">
                    <a:noFill/>
                    <a:miter lim="800000"/>
                    <a:headEnd/>
                    <a:tailEnd/>
                  </a:ln>
                </p:spPr>
              </p:pic>
              <p:pic>
                <p:nvPicPr>
                  <p:cNvPr id="62" name="Picture 128" descr="图片24"/>
                  <p:cNvPicPr preferRelativeResize="0">
                    <a:picLocks noChangeArrowheads="1"/>
                  </p:cNvPicPr>
                  <p:nvPr/>
                </p:nvPicPr>
                <p:blipFill>
                  <a:blip r:embed="rId6" cstate="print"/>
                  <a:srcRect/>
                  <a:stretch>
                    <a:fillRect/>
                  </a:stretch>
                </p:blipFill>
                <p:spPr bwMode="auto">
                  <a:xfrm>
                    <a:off x="8942284" y="3534073"/>
                    <a:ext cx="270688" cy="372915"/>
                  </a:xfrm>
                  <a:prstGeom prst="rect">
                    <a:avLst/>
                  </a:prstGeom>
                  <a:noFill/>
                  <a:ln w="9525">
                    <a:noFill/>
                    <a:miter lim="800000"/>
                    <a:headEnd/>
                    <a:tailEnd/>
                  </a:ln>
                </p:spPr>
              </p:pic>
              <p:pic>
                <p:nvPicPr>
                  <p:cNvPr id="63" name="Picture 128" descr="图片24"/>
                  <p:cNvPicPr preferRelativeResize="0">
                    <a:picLocks noChangeArrowheads="1"/>
                  </p:cNvPicPr>
                  <p:nvPr/>
                </p:nvPicPr>
                <p:blipFill>
                  <a:blip r:embed="rId6" cstate="print"/>
                  <a:srcRect/>
                  <a:stretch>
                    <a:fillRect/>
                  </a:stretch>
                </p:blipFill>
                <p:spPr bwMode="auto">
                  <a:xfrm>
                    <a:off x="9779184" y="3942045"/>
                    <a:ext cx="270688" cy="372915"/>
                  </a:xfrm>
                  <a:prstGeom prst="rect">
                    <a:avLst/>
                  </a:prstGeom>
                  <a:noFill/>
                  <a:ln w="9525">
                    <a:noFill/>
                    <a:miter lim="800000"/>
                    <a:headEnd/>
                    <a:tailEnd/>
                  </a:ln>
                </p:spPr>
              </p:pic>
              <p:grpSp>
                <p:nvGrpSpPr>
                  <p:cNvPr id="64" name="组合 591"/>
                  <p:cNvGrpSpPr>
                    <a:grpSpLocks/>
                  </p:cNvGrpSpPr>
                  <p:nvPr/>
                </p:nvGrpSpPr>
                <p:grpSpPr bwMode="auto">
                  <a:xfrm>
                    <a:off x="8862671" y="4026426"/>
                    <a:ext cx="256411" cy="207641"/>
                    <a:chOff x="7775598" y="1969477"/>
                    <a:chExt cx="409242" cy="216371"/>
                  </a:xfrm>
                </p:grpSpPr>
                <p:sp>
                  <p:nvSpPr>
                    <p:cNvPr id="96" name="矩形 322"/>
                    <p:cNvSpPr/>
                    <p:nvPr/>
                  </p:nvSpPr>
                  <p:spPr>
                    <a:xfrm>
                      <a:off x="7775598" y="1969477"/>
                      <a:ext cx="409242" cy="216371"/>
                    </a:xfrm>
                    <a:prstGeom prst="rect">
                      <a:avLst/>
                    </a:prstGeom>
                    <a:gradFill flip="none" rotWithShape="1">
                      <a:gsLst>
                        <a:gs pos="0">
                          <a:srgbClr val="FF3399"/>
                        </a:gs>
                        <a:gs pos="25000">
                          <a:srgbClr val="FF6633"/>
                        </a:gs>
                        <a:gs pos="50000">
                          <a:srgbClr val="FFFF00"/>
                        </a:gs>
                        <a:gs pos="75000">
                          <a:srgbClr val="01A78F"/>
                        </a:gs>
                        <a:gs pos="100000">
                          <a:srgbClr val="3366FF"/>
                        </a:gs>
                      </a:gsLst>
                      <a:lin ang="13500000" scaled="1"/>
                      <a:tileRect/>
                    </a:gradFill>
                    <a:ln>
                      <a:solidFill>
                        <a:sysClr val="windowText" lastClr="000000"/>
                      </a:solidFill>
                    </a:ln>
                  </p:spPr>
                  <p:txBody>
                    <a:bodyPr anchor="ctr"/>
                    <a:lstStyle/>
                    <a:p>
                      <a:pPr algn="ctr" defTabSz="1218866" hangingPunct="1">
                        <a:defRPr/>
                      </a:pPr>
                      <a:endParaRPr lang="zh-CN" altLang="en-US" sz="1867" dirty="0">
                        <a:ln>
                          <a:solidFill>
                            <a:srgbClr val="FF0000"/>
                          </a:solidFill>
                        </a:ln>
                        <a:solidFill>
                          <a:srgbClr val="2D2015"/>
                        </a:solidFill>
                        <a:latin typeface="Arial" panose="020B0604020202020204" pitchFamily="34" charset="0"/>
                        <a:ea typeface="微软雅黑" pitchFamily="34" charset="-122"/>
                        <a:cs typeface="Arial" panose="020B0604020202020204" pitchFamily="34" charset="0"/>
                      </a:endParaRPr>
                    </a:p>
                  </p:txBody>
                </p:sp>
                <p:sp>
                  <p:nvSpPr>
                    <p:cNvPr id="97" name="Freeform 16"/>
                    <p:cNvSpPr>
                      <a:spLocks noEditPoints="1"/>
                    </p:cNvSpPr>
                    <p:nvPr/>
                  </p:nvSpPr>
                  <p:spPr bwMode="auto">
                    <a:xfrm rot="16200000">
                      <a:off x="7919651" y="1953499"/>
                      <a:ext cx="134631" cy="256338"/>
                    </a:xfrm>
                    <a:custGeom>
                      <a:avLst/>
                      <a:gdLst>
                        <a:gd name="T0" fmla="*/ 2147483647 w 6455"/>
                        <a:gd name="T1" fmla="*/ 2147483647 h 5166"/>
                        <a:gd name="T2" fmla="*/ 2147483647 w 6455"/>
                        <a:gd name="T3" fmla="*/ 2147483647 h 5166"/>
                        <a:gd name="T4" fmla="*/ 2147483647 w 6455"/>
                        <a:gd name="T5" fmla="*/ 2147483647 h 5166"/>
                        <a:gd name="T6" fmla="*/ 2147483647 w 6455"/>
                        <a:gd name="T7" fmla="*/ 2147483647 h 5166"/>
                        <a:gd name="T8" fmla="*/ 2147483647 w 6455"/>
                        <a:gd name="T9" fmla="*/ 2147483647 h 5166"/>
                        <a:gd name="T10" fmla="*/ 2147483647 w 6455"/>
                        <a:gd name="T11" fmla="*/ 2147483647 h 5166"/>
                        <a:gd name="T12" fmla="*/ 2147483647 w 6455"/>
                        <a:gd name="T13" fmla="*/ 2147483647 h 5166"/>
                        <a:gd name="T14" fmla="*/ 2147483647 w 6455"/>
                        <a:gd name="T15" fmla="*/ 2147483647 h 5166"/>
                        <a:gd name="T16" fmla="*/ 2147483647 w 6455"/>
                        <a:gd name="T17" fmla="*/ 2147483647 h 5166"/>
                        <a:gd name="T18" fmla="*/ 2147483647 w 6455"/>
                        <a:gd name="T19" fmla="*/ 2147483647 h 5166"/>
                        <a:gd name="T20" fmla="*/ 2147483647 w 6455"/>
                        <a:gd name="T21" fmla="*/ 2147483647 h 5166"/>
                        <a:gd name="T22" fmla="*/ 2147483647 w 6455"/>
                        <a:gd name="T23" fmla="*/ 2147483647 h 5166"/>
                        <a:gd name="T24" fmla="*/ 2147483647 w 6455"/>
                        <a:gd name="T25" fmla="*/ 2147483647 h 5166"/>
                        <a:gd name="T26" fmla="*/ 2147483647 w 6455"/>
                        <a:gd name="T27" fmla="*/ 2147483647 h 5166"/>
                        <a:gd name="T28" fmla="*/ 2147483647 w 6455"/>
                        <a:gd name="T29" fmla="*/ 2147483647 h 5166"/>
                        <a:gd name="T30" fmla="*/ 2147483647 w 6455"/>
                        <a:gd name="T31" fmla="*/ 2147483647 h 5166"/>
                        <a:gd name="T32" fmla="*/ 2147483647 w 6455"/>
                        <a:gd name="T33" fmla="*/ 2147483647 h 5166"/>
                        <a:gd name="T34" fmla="*/ 2147483647 w 6455"/>
                        <a:gd name="T35" fmla="*/ 2147483647 h 5166"/>
                        <a:gd name="T36" fmla="*/ 2147483647 w 6455"/>
                        <a:gd name="T37" fmla="*/ 2147483647 h 5166"/>
                        <a:gd name="T38" fmla="*/ 2147483647 w 6455"/>
                        <a:gd name="T39" fmla="*/ 2147483647 h 5166"/>
                        <a:gd name="T40" fmla="*/ 2147483647 w 6455"/>
                        <a:gd name="T41" fmla="*/ 2147483647 h 5166"/>
                        <a:gd name="T42" fmla="*/ 2147483647 w 6455"/>
                        <a:gd name="T43" fmla="*/ 2147483647 h 5166"/>
                        <a:gd name="T44" fmla="*/ 2147483647 w 6455"/>
                        <a:gd name="T45" fmla="*/ 2147483647 h 5166"/>
                        <a:gd name="T46" fmla="*/ 2147483647 w 6455"/>
                        <a:gd name="T47" fmla="*/ 2147483647 h 5166"/>
                        <a:gd name="T48" fmla="*/ 2147483647 w 6455"/>
                        <a:gd name="T49" fmla="*/ 2147483647 h 5166"/>
                        <a:gd name="T50" fmla="*/ 2147483647 w 6455"/>
                        <a:gd name="T51" fmla="*/ 2147483647 h 5166"/>
                        <a:gd name="T52" fmla="*/ 2147483647 w 6455"/>
                        <a:gd name="T53" fmla="*/ 2147483647 h 5166"/>
                        <a:gd name="T54" fmla="*/ 2147483647 w 6455"/>
                        <a:gd name="T55" fmla="*/ 2147483647 h 5166"/>
                        <a:gd name="T56" fmla="*/ 2147483647 w 6455"/>
                        <a:gd name="T57" fmla="*/ 2147483647 h 5166"/>
                        <a:gd name="T58" fmla="*/ 2147483647 w 6455"/>
                        <a:gd name="T59" fmla="*/ 2147483647 h 5166"/>
                        <a:gd name="T60" fmla="*/ 2147483647 w 6455"/>
                        <a:gd name="T61" fmla="*/ 2147483647 h 5166"/>
                        <a:gd name="T62" fmla="*/ 2147483647 w 6455"/>
                        <a:gd name="T63" fmla="*/ 2147483647 h 5166"/>
                        <a:gd name="T64" fmla="*/ 2147483647 w 6455"/>
                        <a:gd name="T65" fmla="*/ 2147483647 h 5166"/>
                        <a:gd name="T66" fmla="*/ 2147483647 w 6455"/>
                        <a:gd name="T67" fmla="*/ 2147483647 h 5166"/>
                        <a:gd name="T68" fmla="*/ 2147483647 w 6455"/>
                        <a:gd name="T69" fmla="*/ 2147483647 h 5166"/>
                        <a:gd name="T70" fmla="*/ 2147483647 w 6455"/>
                        <a:gd name="T71" fmla="*/ 2147483647 h 5166"/>
                        <a:gd name="T72" fmla="*/ 2147483647 w 6455"/>
                        <a:gd name="T73" fmla="*/ 2147483647 h 5166"/>
                        <a:gd name="T74" fmla="*/ 2147483647 w 6455"/>
                        <a:gd name="T75" fmla="*/ 2147483647 h 5166"/>
                        <a:gd name="T76" fmla="*/ 2147483647 w 6455"/>
                        <a:gd name="T77" fmla="*/ 2147483647 h 5166"/>
                        <a:gd name="T78" fmla="*/ 2147483647 w 6455"/>
                        <a:gd name="T79" fmla="*/ 2147483647 h 5166"/>
                        <a:gd name="T80" fmla="*/ 2147483647 w 6455"/>
                        <a:gd name="T81" fmla="*/ 2147483647 h 5166"/>
                        <a:gd name="T82" fmla="*/ 2147483647 w 6455"/>
                        <a:gd name="T83" fmla="*/ 2147483647 h 5166"/>
                        <a:gd name="T84" fmla="*/ 2147483647 w 6455"/>
                        <a:gd name="T85" fmla="*/ 2147483647 h 5166"/>
                        <a:gd name="T86" fmla="*/ 2147483647 w 6455"/>
                        <a:gd name="T87" fmla="*/ 2147483647 h 5166"/>
                        <a:gd name="T88" fmla="*/ 2147483647 w 6455"/>
                        <a:gd name="T89" fmla="*/ 2147483647 h 5166"/>
                        <a:gd name="T90" fmla="*/ 2147483647 w 6455"/>
                        <a:gd name="T91" fmla="*/ 2147483647 h 5166"/>
                        <a:gd name="T92" fmla="*/ 2147483647 w 6455"/>
                        <a:gd name="T93" fmla="*/ 2147483647 h 5166"/>
                        <a:gd name="T94" fmla="*/ 2147483647 w 6455"/>
                        <a:gd name="T95" fmla="*/ 2147483647 h 5166"/>
                        <a:gd name="T96" fmla="*/ 2147483647 w 6455"/>
                        <a:gd name="T97" fmla="*/ 2147483647 h 5166"/>
                        <a:gd name="T98" fmla="*/ 2147483647 w 6455"/>
                        <a:gd name="T99" fmla="*/ 2147483647 h 5166"/>
                        <a:gd name="T100" fmla="*/ 2147483647 w 6455"/>
                        <a:gd name="T101" fmla="*/ 2147483647 h 5166"/>
                        <a:gd name="T102" fmla="*/ 2147483647 w 6455"/>
                        <a:gd name="T103" fmla="*/ 2147483647 h 5166"/>
                        <a:gd name="T104" fmla="*/ 2147483647 w 6455"/>
                        <a:gd name="T105" fmla="*/ 2147483647 h 5166"/>
                        <a:gd name="T106" fmla="*/ 2147483647 w 6455"/>
                        <a:gd name="T107" fmla="*/ 2147483647 h 5166"/>
                        <a:gd name="T108" fmla="*/ 2147483647 w 6455"/>
                        <a:gd name="T109" fmla="*/ 2147483647 h 51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5"/>
                        <a:gd name="T166" fmla="*/ 0 h 5166"/>
                        <a:gd name="T167" fmla="*/ 6455 w 6455"/>
                        <a:gd name="T168" fmla="*/ 5166 h 51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5" h="5166">
                          <a:moveTo>
                            <a:pt x="2573" y="3988"/>
                          </a:moveTo>
                          <a:lnTo>
                            <a:pt x="1930" y="4694"/>
                          </a:lnTo>
                          <a:lnTo>
                            <a:pt x="768" y="4708"/>
                          </a:lnTo>
                          <a:lnTo>
                            <a:pt x="759" y="5166"/>
                          </a:lnTo>
                          <a:lnTo>
                            <a:pt x="0" y="4495"/>
                          </a:lnTo>
                          <a:lnTo>
                            <a:pt x="754" y="3775"/>
                          </a:lnTo>
                          <a:lnTo>
                            <a:pt x="754" y="4252"/>
                          </a:lnTo>
                          <a:lnTo>
                            <a:pt x="1631" y="4252"/>
                          </a:lnTo>
                          <a:lnTo>
                            <a:pt x="1649" y="4235"/>
                          </a:lnTo>
                          <a:lnTo>
                            <a:pt x="1698" y="4188"/>
                          </a:lnTo>
                          <a:lnTo>
                            <a:pt x="1769" y="4118"/>
                          </a:lnTo>
                          <a:lnTo>
                            <a:pt x="1855" y="4034"/>
                          </a:lnTo>
                          <a:lnTo>
                            <a:pt x="1948" y="3942"/>
                          </a:lnTo>
                          <a:lnTo>
                            <a:pt x="2040" y="3849"/>
                          </a:lnTo>
                          <a:lnTo>
                            <a:pt x="2084" y="3804"/>
                          </a:lnTo>
                          <a:lnTo>
                            <a:pt x="2123" y="3763"/>
                          </a:lnTo>
                          <a:lnTo>
                            <a:pt x="2160" y="3723"/>
                          </a:lnTo>
                          <a:lnTo>
                            <a:pt x="2190" y="3689"/>
                          </a:lnTo>
                          <a:lnTo>
                            <a:pt x="2166" y="3663"/>
                          </a:lnTo>
                          <a:lnTo>
                            <a:pt x="2142" y="3634"/>
                          </a:lnTo>
                          <a:lnTo>
                            <a:pt x="2118" y="3606"/>
                          </a:lnTo>
                          <a:lnTo>
                            <a:pt x="2095" y="3578"/>
                          </a:lnTo>
                          <a:lnTo>
                            <a:pt x="2073" y="3548"/>
                          </a:lnTo>
                          <a:lnTo>
                            <a:pt x="2051" y="3518"/>
                          </a:lnTo>
                          <a:lnTo>
                            <a:pt x="2030" y="3488"/>
                          </a:lnTo>
                          <a:lnTo>
                            <a:pt x="2011" y="3456"/>
                          </a:lnTo>
                          <a:lnTo>
                            <a:pt x="1991" y="3425"/>
                          </a:lnTo>
                          <a:lnTo>
                            <a:pt x="1972" y="3392"/>
                          </a:lnTo>
                          <a:lnTo>
                            <a:pt x="1954" y="3360"/>
                          </a:lnTo>
                          <a:lnTo>
                            <a:pt x="1937" y="3327"/>
                          </a:lnTo>
                          <a:lnTo>
                            <a:pt x="1920" y="3293"/>
                          </a:lnTo>
                          <a:lnTo>
                            <a:pt x="1905" y="3260"/>
                          </a:lnTo>
                          <a:lnTo>
                            <a:pt x="1889" y="3225"/>
                          </a:lnTo>
                          <a:lnTo>
                            <a:pt x="1875" y="3190"/>
                          </a:lnTo>
                          <a:lnTo>
                            <a:pt x="1861" y="3154"/>
                          </a:lnTo>
                          <a:lnTo>
                            <a:pt x="1849" y="3119"/>
                          </a:lnTo>
                          <a:lnTo>
                            <a:pt x="1837" y="3083"/>
                          </a:lnTo>
                          <a:lnTo>
                            <a:pt x="1826" y="3046"/>
                          </a:lnTo>
                          <a:lnTo>
                            <a:pt x="1814" y="3010"/>
                          </a:lnTo>
                          <a:lnTo>
                            <a:pt x="1805" y="2972"/>
                          </a:lnTo>
                          <a:lnTo>
                            <a:pt x="1797" y="2935"/>
                          </a:lnTo>
                          <a:lnTo>
                            <a:pt x="1789" y="2896"/>
                          </a:lnTo>
                          <a:lnTo>
                            <a:pt x="1782" y="2859"/>
                          </a:lnTo>
                          <a:lnTo>
                            <a:pt x="1776" y="2820"/>
                          </a:lnTo>
                          <a:lnTo>
                            <a:pt x="1771" y="2781"/>
                          </a:lnTo>
                          <a:lnTo>
                            <a:pt x="1767" y="2742"/>
                          </a:lnTo>
                          <a:lnTo>
                            <a:pt x="1764" y="2703"/>
                          </a:lnTo>
                          <a:lnTo>
                            <a:pt x="1761" y="2662"/>
                          </a:lnTo>
                          <a:lnTo>
                            <a:pt x="1760" y="2623"/>
                          </a:lnTo>
                          <a:lnTo>
                            <a:pt x="1759" y="2582"/>
                          </a:lnTo>
                          <a:lnTo>
                            <a:pt x="1760" y="2543"/>
                          </a:lnTo>
                          <a:lnTo>
                            <a:pt x="1761" y="2502"/>
                          </a:lnTo>
                          <a:lnTo>
                            <a:pt x="1764" y="2463"/>
                          </a:lnTo>
                          <a:lnTo>
                            <a:pt x="1767" y="2424"/>
                          </a:lnTo>
                          <a:lnTo>
                            <a:pt x="1771" y="2384"/>
                          </a:lnTo>
                          <a:lnTo>
                            <a:pt x="1776" y="2346"/>
                          </a:lnTo>
                          <a:lnTo>
                            <a:pt x="1782" y="2307"/>
                          </a:lnTo>
                          <a:lnTo>
                            <a:pt x="1789" y="2269"/>
                          </a:lnTo>
                          <a:lnTo>
                            <a:pt x="1797" y="2231"/>
                          </a:lnTo>
                          <a:lnTo>
                            <a:pt x="1805" y="2194"/>
                          </a:lnTo>
                          <a:lnTo>
                            <a:pt x="1814" y="2156"/>
                          </a:lnTo>
                          <a:lnTo>
                            <a:pt x="1826" y="2119"/>
                          </a:lnTo>
                          <a:lnTo>
                            <a:pt x="1837" y="2082"/>
                          </a:lnTo>
                          <a:lnTo>
                            <a:pt x="1848" y="2047"/>
                          </a:lnTo>
                          <a:lnTo>
                            <a:pt x="1861" y="2011"/>
                          </a:lnTo>
                          <a:lnTo>
                            <a:pt x="1875" y="1976"/>
                          </a:lnTo>
                          <a:lnTo>
                            <a:pt x="1889" y="1941"/>
                          </a:lnTo>
                          <a:lnTo>
                            <a:pt x="1905" y="1906"/>
                          </a:lnTo>
                          <a:lnTo>
                            <a:pt x="1920" y="1873"/>
                          </a:lnTo>
                          <a:lnTo>
                            <a:pt x="1937" y="1838"/>
                          </a:lnTo>
                          <a:lnTo>
                            <a:pt x="1954" y="1806"/>
                          </a:lnTo>
                          <a:lnTo>
                            <a:pt x="1972" y="1774"/>
                          </a:lnTo>
                          <a:lnTo>
                            <a:pt x="1991" y="1741"/>
                          </a:lnTo>
                          <a:lnTo>
                            <a:pt x="2010" y="1710"/>
                          </a:lnTo>
                          <a:lnTo>
                            <a:pt x="2030" y="1678"/>
                          </a:lnTo>
                          <a:lnTo>
                            <a:pt x="2051" y="1648"/>
                          </a:lnTo>
                          <a:lnTo>
                            <a:pt x="2073" y="1618"/>
                          </a:lnTo>
                          <a:lnTo>
                            <a:pt x="2095" y="1588"/>
                          </a:lnTo>
                          <a:lnTo>
                            <a:pt x="2118" y="1560"/>
                          </a:lnTo>
                          <a:lnTo>
                            <a:pt x="2142" y="1532"/>
                          </a:lnTo>
                          <a:lnTo>
                            <a:pt x="2166" y="1503"/>
                          </a:lnTo>
                          <a:lnTo>
                            <a:pt x="2190" y="1476"/>
                          </a:lnTo>
                          <a:lnTo>
                            <a:pt x="2160" y="1442"/>
                          </a:lnTo>
                          <a:lnTo>
                            <a:pt x="2123" y="1403"/>
                          </a:lnTo>
                          <a:lnTo>
                            <a:pt x="2084" y="1362"/>
                          </a:lnTo>
                          <a:lnTo>
                            <a:pt x="2040" y="1317"/>
                          </a:lnTo>
                          <a:lnTo>
                            <a:pt x="1948" y="1224"/>
                          </a:lnTo>
                          <a:lnTo>
                            <a:pt x="1855" y="1131"/>
                          </a:lnTo>
                          <a:lnTo>
                            <a:pt x="1769" y="1047"/>
                          </a:lnTo>
                          <a:lnTo>
                            <a:pt x="1698" y="978"/>
                          </a:lnTo>
                          <a:lnTo>
                            <a:pt x="1649" y="931"/>
                          </a:lnTo>
                          <a:lnTo>
                            <a:pt x="1631" y="914"/>
                          </a:lnTo>
                          <a:lnTo>
                            <a:pt x="754" y="914"/>
                          </a:lnTo>
                          <a:lnTo>
                            <a:pt x="754" y="1391"/>
                          </a:lnTo>
                          <a:lnTo>
                            <a:pt x="0" y="670"/>
                          </a:lnTo>
                          <a:lnTo>
                            <a:pt x="759" y="0"/>
                          </a:lnTo>
                          <a:lnTo>
                            <a:pt x="768" y="456"/>
                          </a:lnTo>
                          <a:lnTo>
                            <a:pt x="1930" y="472"/>
                          </a:lnTo>
                          <a:lnTo>
                            <a:pt x="2573" y="1177"/>
                          </a:lnTo>
                          <a:lnTo>
                            <a:pt x="2613" y="1156"/>
                          </a:lnTo>
                          <a:lnTo>
                            <a:pt x="2653" y="1137"/>
                          </a:lnTo>
                          <a:lnTo>
                            <a:pt x="2694" y="1118"/>
                          </a:lnTo>
                          <a:lnTo>
                            <a:pt x="2735" y="1100"/>
                          </a:lnTo>
                          <a:lnTo>
                            <a:pt x="2778" y="1084"/>
                          </a:lnTo>
                          <a:lnTo>
                            <a:pt x="2820" y="1070"/>
                          </a:lnTo>
                          <a:lnTo>
                            <a:pt x="2863" y="1056"/>
                          </a:lnTo>
                          <a:lnTo>
                            <a:pt x="2907" y="1044"/>
                          </a:lnTo>
                          <a:lnTo>
                            <a:pt x="2951" y="1033"/>
                          </a:lnTo>
                          <a:lnTo>
                            <a:pt x="2996" y="1023"/>
                          </a:lnTo>
                          <a:lnTo>
                            <a:pt x="3041" y="1015"/>
                          </a:lnTo>
                          <a:lnTo>
                            <a:pt x="3086" y="1008"/>
                          </a:lnTo>
                          <a:lnTo>
                            <a:pt x="3133" y="1003"/>
                          </a:lnTo>
                          <a:lnTo>
                            <a:pt x="3180" y="1000"/>
                          </a:lnTo>
                          <a:lnTo>
                            <a:pt x="3226" y="997"/>
                          </a:lnTo>
                          <a:lnTo>
                            <a:pt x="3274" y="996"/>
                          </a:lnTo>
                          <a:lnTo>
                            <a:pt x="3316" y="997"/>
                          </a:lnTo>
                          <a:lnTo>
                            <a:pt x="3358" y="999"/>
                          </a:lnTo>
                          <a:lnTo>
                            <a:pt x="3400" y="1002"/>
                          </a:lnTo>
                          <a:lnTo>
                            <a:pt x="3442" y="1006"/>
                          </a:lnTo>
                          <a:lnTo>
                            <a:pt x="3483" y="1012"/>
                          </a:lnTo>
                          <a:lnTo>
                            <a:pt x="3524" y="1018"/>
                          </a:lnTo>
                          <a:lnTo>
                            <a:pt x="3564" y="1026"/>
                          </a:lnTo>
                          <a:lnTo>
                            <a:pt x="3605" y="1036"/>
                          </a:lnTo>
                          <a:lnTo>
                            <a:pt x="3645" y="1046"/>
                          </a:lnTo>
                          <a:lnTo>
                            <a:pt x="3685" y="1057"/>
                          </a:lnTo>
                          <a:lnTo>
                            <a:pt x="3723" y="1069"/>
                          </a:lnTo>
                          <a:lnTo>
                            <a:pt x="3762" y="1082"/>
                          </a:lnTo>
                          <a:lnTo>
                            <a:pt x="3800" y="1096"/>
                          </a:lnTo>
                          <a:lnTo>
                            <a:pt x="3838" y="1111"/>
                          </a:lnTo>
                          <a:lnTo>
                            <a:pt x="3875" y="1128"/>
                          </a:lnTo>
                          <a:lnTo>
                            <a:pt x="3912" y="1145"/>
                          </a:lnTo>
                          <a:lnTo>
                            <a:pt x="4525" y="472"/>
                          </a:lnTo>
                          <a:lnTo>
                            <a:pt x="5687" y="456"/>
                          </a:lnTo>
                          <a:lnTo>
                            <a:pt x="5696" y="0"/>
                          </a:lnTo>
                          <a:lnTo>
                            <a:pt x="6455" y="670"/>
                          </a:lnTo>
                          <a:lnTo>
                            <a:pt x="5701" y="1391"/>
                          </a:lnTo>
                          <a:lnTo>
                            <a:pt x="5701" y="914"/>
                          </a:lnTo>
                          <a:lnTo>
                            <a:pt x="4823" y="914"/>
                          </a:lnTo>
                          <a:lnTo>
                            <a:pt x="4808" y="928"/>
                          </a:lnTo>
                          <a:lnTo>
                            <a:pt x="4768" y="968"/>
                          </a:lnTo>
                          <a:lnTo>
                            <a:pt x="4706" y="1027"/>
                          </a:lnTo>
                          <a:lnTo>
                            <a:pt x="4631" y="1100"/>
                          </a:lnTo>
                          <a:lnTo>
                            <a:pt x="4547" y="1182"/>
                          </a:lnTo>
                          <a:lnTo>
                            <a:pt x="4462" y="1268"/>
                          </a:lnTo>
                          <a:lnTo>
                            <a:pt x="4381" y="1351"/>
                          </a:lnTo>
                          <a:lnTo>
                            <a:pt x="4309" y="1427"/>
                          </a:lnTo>
                          <a:lnTo>
                            <a:pt x="4336" y="1455"/>
                          </a:lnTo>
                          <a:lnTo>
                            <a:pt x="4363" y="1483"/>
                          </a:lnTo>
                          <a:lnTo>
                            <a:pt x="4389" y="1511"/>
                          </a:lnTo>
                          <a:lnTo>
                            <a:pt x="4414" y="1542"/>
                          </a:lnTo>
                          <a:lnTo>
                            <a:pt x="4438" y="1572"/>
                          </a:lnTo>
                          <a:lnTo>
                            <a:pt x="4462" y="1602"/>
                          </a:lnTo>
                          <a:lnTo>
                            <a:pt x="4485" y="1634"/>
                          </a:lnTo>
                          <a:lnTo>
                            <a:pt x="4507" y="1666"/>
                          </a:lnTo>
                          <a:lnTo>
                            <a:pt x="4530" y="1699"/>
                          </a:lnTo>
                          <a:lnTo>
                            <a:pt x="4550" y="1732"/>
                          </a:lnTo>
                          <a:lnTo>
                            <a:pt x="4570" y="1765"/>
                          </a:lnTo>
                          <a:lnTo>
                            <a:pt x="4589" y="1800"/>
                          </a:lnTo>
                          <a:lnTo>
                            <a:pt x="4608" y="1835"/>
                          </a:lnTo>
                          <a:lnTo>
                            <a:pt x="4626" y="1871"/>
                          </a:lnTo>
                          <a:lnTo>
                            <a:pt x="4642" y="1906"/>
                          </a:lnTo>
                          <a:lnTo>
                            <a:pt x="4658" y="1943"/>
                          </a:lnTo>
                          <a:lnTo>
                            <a:pt x="4673" y="1980"/>
                          </a:lnTo>
                          <a:lnTo>
                            <a:pt x="4688" y="2018"/>
                          </a:lnTo>
                          <a:lnTo>
                            <a:pt x="4701" y="2055"/>
                          </a:lnTo>
                          <a:lnTo>
                            <a:pt x="4714" y="2093"/>
                          </a:lnTo>
                          <a:lnTo>
                            <a:pt x="4725" y="2132"/>
                          </a:lnTo>
                          <a:lnTo>
                            <a:pt x="4736" y="2171"/>
                          </a:lnTo>
                          <a:lnTo>
                            <a:pt x="4745" y="2211"/>
                          </a:lnTo>
                          <a:lnTo>
                            <a:pt x="4754" y="2251"/>
                          </a:lnTo>
                          <a:lnTo>
                            <a:pt x="4762" y="2291"/>
                          </a:lnTo>
                          <a:lnTo>
                            <a:pt x="4769" y="2332"/>
                          </a:lnTo>
                          <a:lnTo>
                            <a:pt x="4775" y="2373"/>
                          </a:lnTo>
                          <a:lnTo>
                            <a:pt x="4779" y="2414"/>
                          </a:lnTo>
                          <a:lnTo>
                            <a:pt x="4783" y="2456"/>
                          </a:lnTo>
                          <a:lnTo>
                            <a:pt x="4786" y="2498"/>
                          </a:lnTo>
                          <a:lnTo>
                            <a:pt x="4787" y="2540"/>
                          </a:lnTo>
                          <a:lnTo>
                            <a:pt x="4788" y="2582"/>
                          </a:lnTo>
                          <a:lnTo>
                            <a:pt x="4787" y="2625"/>
                          </a:lnTo>
                          <a:lnTo>
                            <a:pt x="4786" y="2667"/>
                          </a:lnTo>
                          <a:lnTo>
                            <a:pt x="4783" y="2709"/>
                          </a:lnTo>
                          <a:lnTo>
                            <a:pt x="4779" y="2752"/>
                          </a:lnTo>
                          <a:lnTo>
                            <a:pt x="4775" y="2793"/>
                          </a:lnTo>
                          <a:lnTo>
                            <a:pt x="4769" y="2834"/>
                          </a:lnTo>
                          <a:lnTo>
                            <a:pt x="4762" y="2874"/>
                          </a:lnTo>
                          <a:lnTo>
                            <a:pt x="4754" y="2915"/>
                          </a:lnTo>
                          <a:lnTo>
                            <a:pt x="4745" y="2955"/>
                          </a:lnTo>
                          <a:lnTo>
                            <a:pt x="4736" y="2994"/>
                          </a:lnTo>
                          <a:lnTo>
                            <a:pt x="4725" y="3033"/>
                          </a:lnTo>
                          <a:lnTo>
                            <a:pt x="4714" y="3072"/>
                          </a:lnTo>
                          <a:lnTo>
                            <a:pt x="4701" y="3111"/>
                          </a:lnTo>
                          <a:lnTo>
                            <a:pt x="4688" y="3148"/>
                          </a:lnTo>
                          <a:lnTo>
                            <a:pt x="4673" y="3186"/>
                          </a:lnTo>
                          <a:lnTo>
                            <a:pt x="4658" y="3222"/>
                          </a:lnTo>
                          <a:lnTo>
                            <a:pt x="4642" y="3259"/>
                          </a:lnTo>
                          <a:lnTo>
                            <a:pt x="4626" y="3295"/>
                          </a:lnTo>
                          <a:lnTo>
                            <a:pt x="4608" y="3331"/>
                          </a:lnTo>
                          <a:lnTo>
                            <a:pt x="4589" y="3365"/>
                          </a:lnTo>
                          <a:lnTo>
                            <a:pt x="4570" y="3400"/>
                          </a:lnTo>
                          <a:lnTo>
                            <a:pt x="4550" y="3434"/>
                          </a:lnTo>
                          <a:lnTo>
                            <a:pt x="4530" y="3467"/>
                          </a:lnTo>
                          <a:lnTo>
                            <a:pt x="4507" y="3500"/>
                          </a:lnTo>
                          <a:lnTo>
                            <a:pt x="4485" y="3532"/>
                          </a:lnTo>
                          <a:lnTo>
                            <a:pt x="4462" y="3563"/>
                          </a:lnTo>
                          <a:lnTo>
                            <a:pt x="4438" y="3594"/>
                          </a:lnTo>
                          <a:lnTo>
                            <a:pt x="4414" y="3624"/>
                          </a:lnTo>
                          <a:lnTo>
                            <a:pt x="4389" y="3654"/>
                          </a:lnTo>
                          <a:lnTo>
                            <a:pt x="4363" y="3683"/>
                          </a:lnTo>
                          <a:lnTo>
                            <a:pt x="4336" y="3711"/>
                          </a:lnTo>
                          <a:lnTo>
                            <a:pt x="4309" y="3739"/>
                          </a:lnTo>
                          <a:lnTo>
                            <a:pt x="4381" y="3815"/>
                          </a:lnTo>
                          <a:lnTo>
                            <a:pt x="4462" y="3898"/>
                          </a:lnTo>
                          <a:lnTo>
                            <a:pt x="4547" y="3983"/>
                          </a:lnTo>
                          <a:lnTo>
                            <a:pt x="4631" y="4065"/>
                          </a:lnTo>
                          <a:lnTo>
                            <a:pt x="4706" y="4138"/>
                          </a:lnTo>
                          <a:lnTo>
                            <a:pt x="4768" y="4198"/>
                          </a:lnTo>
                          <a:lnTo>
                            <a:pt x="4808" y="4238"/>
                          </a:lnTo>
                          <a:lnTo>
                            <a:pt x="4823" y="4252"/>
                          </a:lnTo>
                          <a:lnTo>
                            <a:pt x="5701" y="4252"/>
                          </a:lnTo>
                          <a:lnTo>
                            <a:pt x="5701" y="3775"/>
                          </a:lnTo>
                          <a:lnTo>
                            <a:pt x="6455" y="4495"/>
                          </a:lnTo>
                          <a:lnTo>
                            <a:pt x="5696" y="5166"/>
                          </a:lnTo>
                          <a:lnTo>
                            <a:pt x="5687" y="4708"/>
                          </a:lnTo>
                          <a:lnTo>
                            <a:pt x="4525" y="4694"/>
                          </a:lnTo>
                          <a:lnTo>
                            <a:pt x="3912" y="4020"/>
                          </a:lnTo>
                          <a:lnTo>
                            <a:pt x="3875" y="4038"/>
                          </a:lnTo>
                          <a:lnTo>
                            <a:pt x="3838" y="4054"/>
                          </a:lnTo>
                          <a:lnTo>
                            <a:pt x="3800" y="4070"/>
                          </a:lnTo>
                          <a:lnTo>
                            <a:pt x="3762" y="4084"/>
                          </a:lnTo>
                          <a:lnTo>
                            <a:pt x="3723" y="4097"/>
                          </a:lnTo>
                          <a:lnTo>
                            <a:pt x="3685" y="4109"/>
                          </a:lnTo>
                          <a:lnTo>
                            <a:pt x="3645" y="4120"/>
                          </a:lnTo>
                          <a:lnTo>
                            <a:pt x="3605" y="4130"/>
                          </a:lnTo>
                          <a:lnTo>
                            <a:pt x="3564" y="4139"/>
                          </a:lnTo>
                          <a:lnTo>
                            <a:pt x="3524" y="4147"/>
                          </a:lnTo>
                          <a:lnTo>
                            <a:pt x="3483" y="4154"/>
                          </a:lnTo>
                          <a:lnTo>
                            <a:pt x="3442" y="4159"/>
                          </a:lnTo>
                          <a:lnTo>
                            <a:pt x="3400" y="4164"/>
                          </a:lnTo>
                          <a:lnTo>
                            <a:pt x="3358" y="4167"/>
                          </a:lnTo>
                          <a:lnTo>
                            <a:pt x="3316" y="4168"/>
                          </a:lnTo>
                          <a:lnTo>
                            <a:pt x="3274" y="4169"/>
                          </a:lnTo>
                          <a:lnTo>
                            <a:pt x="3226" y="4168"/>
                          </a:lnTo>
                          <a:lnTo>
                            <a:pt x="3180" y="4166"/>
                          </a:lnTo>
                          <a:lnTo>
                            <a:pt x="3133" y="4162"/>
                          </a:lnTo>
                          <a:lnTo>
                            <a:pt x="3086" y="4157"/>
                          </a:lnTo>
                          <a:lnTo>
                            <a:pt x="3041" y="4151"/>
                          </a:lnTo>
                          <a:lnTo>
                            <a:pt x="2996" y="4143"/>
                          </a:lnTo>
                          <a:lnTo>
                            <a:pt x="2951" y="4132"/>
                          </a:lnTo>
                          <a:lnTo>
                            <a:pt x="2907" y="4121"/>
                          </a:lnTo>
                          <a:lnTo>
                            <a:pt x="2863" y="4109"/>
                          </a:lnTo>
                          <a:lnTo>
                            <a:pt x="2820" y="4096"/>
                          </a:lnTo>
                          <a:lnTo>
                            <a:pt x="2777" y="4081"/>
                          </a:lnTo>
                          <a:lnTo>
                            <a:pt x="2735" y="4065"/>
                          </a:lnTo>
                          <a:lnTo>
                            <a:pt x="2694" y="4047"/>
                          </a:lnTo>
                          <a:lnTo>
                            <a:pt x="2652" y="4029"/>
                          </a:lnTo>
                          <a:lnTo>
                            <a:pt x="2613" y="4009"/>
                          </a:lnTo>
                          <a:lnTo>
                            <a:pt x="2573" y="3988"/>
                          </a:lnTo>
                          <a:close/>
                          <a:moveTo>
                            <a:pt x="3274" y="1530"/>
                          </a:moveTo>
                          <a:lnTo>
                            <a:pt x="3325" y="1532"/>
                          </a:lnTo>
                          <a:lnTo>
                            <a:pt x="3376" y="1536"/>
                          </a:lnTo>
                          <a:lnTo>
                            <a:pt x="3426" y="1543"/>
                          </a:lnTo>
                          <a:lnTo>
                            <a:pt x="3475" y="1552"/>
                          </a:lnTo>
                          <a:lnTo>
                            <a:pt x="3524" y="1563"/>
                          </a:lnTo>
                          <a:lnTo>
                            <a:pt x="3572" y="1577"/>
                          </a:lnTo>
                          <a:lnTo>
                            <a:pt x="3618" y="1594"/>
                          </a:lnTo>
                          <a:lnTo>
                            <a:pt x="3664" y="1613"/>
                          </a:lnTo>
                          <a:lnTo>
                            <a:pt x="3708" y="1634"/>
                          </a:lnTo>
                          <a:lnTo>
                            <a:pt x="3752" y="1657"/>
                          </a:lnTo>
                          <a:lnTo>
                            <a:pt x="3793" y="1682"/>
                          </a:lnTo>
                          <a:lnTo>
                            <a:pt x="3835" y="1710"/>
                          </a:lnTo>
                          <a:lnTo>
                            <a:pt x="3874" y="1739"/>
                          </a:lnTo>
                          <a:lnTo>
                            <a:pt x="3912" y="1771"/>
                          </a:lnTo>
                          <a:lnTo>
                            <a:pt x="3948" y="1804"/>
                          </a:lnTo>
                          <a:lnTo>
                            <a:pt x="3984" y="1838"/>
                          </a:lnTo>
                          <a:lnTo>
                            <a:pt x="4017" y="1876"/>
                          </a:lnTo>
                          <a:lnTo>
                            <a:pt x="4049" y="1913"/>
                          </a:lnTo>
                          <a:lnTo>
                            <a:pt x="4078" y="1954"/>
                          </a:lnTo>
                          <a:lnTo>
                            <a:pt x="4106" y="1994"/>
                          </a:lnTo>
                          <a:lnTo>
                            <a:pt x="4133" y="2038"/>
                          </a:lnTo>
                          <a:lnTo>
                            <a:pt x="4157" y="2081"/>
                          </a:lnTo>
                          <a:lnTo>
                            <a:pt x="4179" y="2127"/>
                          </a:lnTo>
                          <a:lnTo>
                            <a:pt x="4199" y="2173"/>
                          </a:lnTo>
                          <a:lnTo>
                            <a:pt x="4217" y="2221"/>
                          </a:lnTo>
                          <a:lnTo>
                            <a:pt x="4233" y="2271"/>
                          </a:lnTo>
                          <a:lnTo>
                            <a:pt x="4246" y="2320"/>
                          </a:lnTo>
                          <a:lnTo>
                            <a:pt x="4258" y="2371"/>
                          </a:lnTo>
                          <a:lnTo>
                            <a:pt x="4266" y="2422"/>
                          </a:lnTo>
                          <a:lnTo>
                            <a:pt x="4273" y="2475"/>
                          </a:lnTo>
                          <a:lnTo>
                            <a:pt x="4277" y="2529"/>
                          </a:lnTo>
                          <a:lnTo>
                            <a:pt x="4278" y="2582"/>
                          </a:lnTo>
                          <a:lnTo>
                            <a:pt x="4277" y="2637"/>
                          </a:lnTo>
                          <a:lnTo>
                            <a:pt x="4273" y="2690"/>
                          </a:lnTo>
                          <a:lnTo>
                            <a:pt x="4266" y="2742"/>
                          </a:lnTo>
                          <a:lnTo>
                            <a:pt x="4258" y="2794"/>
                          </a:lnTo>
                          <a:lnTo>
                            <a:pt x="4246" y="2846"/>
                          </a:lnTo>
                          <a:lnTo>
                            <a:pt x="4233" y="2895"/>
                          </a:lnTo>
                          <a:lnTo>
                            <a:pt x="4217" y="2944"/>
                          </a:lnTo>
                          <a:lnTo>
                            <a:pt x="4199" y="2991"/>
                          </a:lnTo>
                          <a:lnTo>
                            <a:pt x="4179" y="3038"/>
                          </a:lnTo>
                          <a:lnTo>
                            <a:pt x="4157" y="3084"/>
                          </a:lnTo>
                          <a:lnTo>
                            <a:pt x="4133" y="3128"/>
                          </a:lnTo>
                          <a:lnTo>
                            <a:pt x="4106" y="3171"/>
                          </a:lnTo>
                          <a:lnTo>
                            <a:pt x="4078" y="3212"/>
                          </a:lnTo>
                          <a:lnTo>
                            <a:pt x="4049" y="3252"/>
                          </a:lnTo>
                          <a:lnTo>
                            <a:pt x="4017" y="3290"/>
                          </a:lnTo>
                          <a:lnTo>
                            <a:pt x="3984" y="3327"/>
                          </a:lnTo>
                          <a:lnTo>
                            <a:pt x="3948" y="3361"/>
                          </a:lnTo>
                          <a:lnTo>
                            <a:pt x="3912" y="3394"/>
                          </a:lnTo>
                          <a:lnTo>
                            <a:pt x="3874" y="3426"/>
                          </a:lnTo>
                          <a:lnTo>
                            <a:pt x="3835" y="3455"/>
                          </a:lnTo>
                          <a:lnTo>
                            <a:pt x="3793" y="3482"/>
                          </a:lnTo>
                          <a:lnTo>
                            <a:pt x="3752" y="3508"/>
                          </a:lnTo>
                          <a:lnTo>
                            <a:pt x="3708" y="3531"/>
                          </a:lnTo>
                          <a:lnTo>
                            <a:pt x="3664" y="3552"/>
                          </a:lnTo>
                          <a:lnTo>
                            <a:pt x="3618" y="3572"/>
                          </a:lnTo>
                          <a:lnTo>
                            <a:pt x="3572" y="3588"/>
                          </a:lnTo>
                          <a:lnTo>
                            <a:pt x="3524" y="3602"/>
                          </a:lnTo>
                          <a:lnTo>
                            <a:pt x="3475" y="3614"/>
                          </a:lnTo>
                          <a:lnTo>
                            <a:pt x="3426" y="3623"/>
                          </a:lnTo>
                          <a:lnTo>
                            <a:pt x="3376" y="3630"/>
                          </a:lnTo>
                          <a:lnTo>
                            <a:pt x="3325" y="3634"/>
                          </a:lnTo>
                          <a:lnTo>
                            <a:pt x="3274" y="3635"/>
                          </a:lnTo>
                          <a:lnTo>
                            <a:pt x="3222" y="3634"/>
                          </a:lnTo>
                          <a:lnTo>
                            <a:pt x="3171" y="3630"/>
                          </a:lnTo>
                          <a:lnTo>
                            <a:pt x="3121" y="3623"/>
                          </a:lnTo>
                          <a:lnTo>
                            <a:pt x="3071" y="3614"/>
                          </a:lnTo>
                          <a:lnTo>
                            <a:pt x="3023" y="3602"/>
                          </a:lnTo>
                          <a:lnTo>
                            <a:pt x="2975" y="3588"/>
                          </a:lnTo>
                          <a:lnTo>
                            <a:pt x="2928" y="3572"/>
                          </a:lnTo>
                          <a:lnTo>
                            <a:pt x="2883" y="3552"/>
                          </a:lnTo>
                          <a:lnTo>
                            <a:pt x="2838" y="3531"/>
                          </a:lnTo>
                          <a:lnTo>
                            <a:pt x="2795" y="3508"/>
                          </a:lnTo>
                          <a:lnTo>
                            <a:pt x="2753" y="3482"/>
                          </a:lnTo>
                          <a:lnTo>
                            <a:pt x="2712" y="3455"/>
                          </a:lnTo>
                          <a:lnTo>
                            <a:pt x="2672" y="3426"/>
                          </a:lnTo>
                          <a:lnTo>
                            <a:pt x="2635" y="3394"/>
                          </a:lnTo>
                          <a:lnTo>
                            <a:pt x="2598" y="3361"/>
                          </a:lnTo>
                          <a:lnTo>
                            <a:pt x="2563" y="3327"/>
                          </a:lnTo>
                          <a:lnTo>
                            <a:pt x="2529" y="3290"/>
                          </a:lnTo>
                          <a:lnTo>
                            <a:pt x="2498" y="3252"/>
                          </a:lnTo>
                          <a:lnTo>
                            <a:pt x="2469" y="3212"/>
                          </a:lnTo>
                          <a:lnTo>
                            <a:pt x="2440" y="3171"/>
                          </a:lnTo>
                          <a:lnTo>
                            <a:pt x="2414" y="3128"/>
                          </a:lnTo>
                          <a:lnTo>
                            <a:pt x="2390" y="3084"/>
                          </a:lnTo>
                          <a:lnTo>
                            <a:pt x="2367" y="3038"/>
                          </a:lnTo>
                          <a:lnTo>
                            <a:pt x="2348" y="2991"/>
                          </a:lnTo>
                          <a:lnTo>
                            <a:pt x="2330" y="2944"/>
                          </a:lnTo>
                          <a:lnTo>
                            <a:pt x="2314" y="2895"/>
                          </a:lnTo>
                          <a:lnTo>
                            <a:pt x="2301" y="2846"/>
                          </a:lnTo>
                          <a:lnTo>
                            <a:pt x="2289" y="2794"/>
                          </a:lnTo>
                          <a:lnTo>
                            <a:pt x="2280" y="2742"/>
                          </a:lnTo>
                          <a:lnTo>
                            <a:pt x="2273" y="2690"/>
                          </a:lnTo>
                          <a:lnTo>
                            <a:pt x="2270" y="2637"/>
                          </a:lnTo>
                          <a:lnTo>
                            <a:pt x="2268" y="2582"/>
                          </a:lnTo>
                          <a:lnTo>
                            <a:pt x="2270" y="2529"/>
                          </a:lnTo>
                          <a:lnTo>
                            <a:pt x="2273" y="2475"/>
                          </a:lnTo>
                          <a:lnTo>
                            <a:pt x="2280" y="2422"/>
                          </a:lnTo>
                          <a:lnTo>
                            <a:pt x="2289" y="2371"/>
                          </a:lnTo>
                          <a:lnTo>
                            <a:pt x="2301" y="2320"/>
                          </a:lnTo>
                          <a:lnTo>
                            <a:pt x="2314" y="2271"/>
                          </a:lnTo>
                          <a:lnTo>
                            <a:pt x="2330" y="2221"/>
                          </a:lnTo>
                          <a:lnTo>
                            <a:pt x="2348" y="2173"/>
                          </a:lnTo>
                          <a:lnTo>
                            <a:pt x="2367" y="2127"/>
                          </a:lnTo>
                          <a:lnTo>
                            <a:pt x="2390" y="2081"/>
                          </a:lnTo>
                          <a:lnTo>
                            <a:pt x="2414" y="2038"/>
                          </a:lnTo>
                          <a:lnTo>
                            <a:pt x="2440" y="1994"/>
                          </a:lnTo>
                          <a:lnTo>
                            <a:pt x="2469" y="1954"/>
                          </a:lnTo>
                          <a:lnTo>
                            <a:pt x="2498" y="1913"/>
                          </a:lnTo>
                          <a:lnTo>
                            <a:pt x="2529" y="1876"/>
                          </a:lnTo>
                          <a:lnTo>
                            <a:pt x="2563" y="1838"/>
                          </a:lnTo>
                          <a:lnTo>
                            <a:pt x="2598" y="1804"/>
                          </a:lnTo>
                          <a:lnTo>
                            <a:pt x="2635" y="1771"/>
                          </a:lnTo>
                          <a:lnTo>
                            <a:pt x="2672" y="1739"/>
                          </a:lnTo>
                          <a:lnTo>
                            <a:pt x="2712" y="1710"/>
                          </a:lnTo>
                          <a:lnTo>
                            <a:pt x="2753" y="1682"/>
                          </a:lnTo>
                          <a:lnTo>
                            <a:pt x="2795" y="1657"/>
                          </a:lnTo>
                          <a:lnTo>
                            <a:pt x="2838" y="1634"/>
                          </a:lnTo>
                          <a:lnTo>
                            <a:pt x="2883" y="1613"/>
                          </a:lnTo>
                          <a:lnTo>
                            <a:pt x="2928" y="1594"/>
                          </a:lnTo>
                          <a:lnTo>
                            <a:pt x="2975" y="1577"/>
                          </a:lnTo>
                          <a:lnTo>
                            <a:pt x="3023" y="1563"/>
                          </a:lnTo>
                          <a:lnTo>
                            <a:pt x="3071" y="1552"/>
                          </a:lnTo>
                          <a:lnTo>
                            <a:pt x="3121" y="1543"/>
                          </a:lnTo>
                          <a:lnTo>
                            <a:pt x="3171" y="1536"/>
                          </a:lnTo>
                          <a:lnTo>
                            <a:pt x="3222" y="1532"/>
                          </a:lnTo>
                          <a:lnTo>
                            <a:pt x="3274" y="1530"/>
                          </a:lnTo>
                          <a:close/>
                        </a:path>
                      </a:pathLst>
                    </a:custGeom>
                    <a:solidFill>
                      <a:srgbClr val="FFFFFF"/>
                    </a:solidFill>
                    <a:ln w="9525">
                      <a:solidFill>
                        <a:sysClr val="windowText" lastClr="000000"/>
                      </a:solidFill>
                      <a:round/>
                      <a:headEnd/>
                      <a:tailEnd/>
                    </a:ln>
                  </p:spPr>
                  <p:txBody>
                    <a:bodyPr/>
                    <a:lstStyle/>
                    <a:p>
                      <a:pPr algn="ctr" defTabSz="1232809" hangingPunct="1">
                        <a:defRPr/>
                      </a:pPr>
                      <a:endParaRPr lang="en-US" sz="1600" dirty="0">
                        <a:solidFill>
                          <a:srgbClr val="2D2015"/>
                        </a:solidFill>
                        <a:latin typeface="Arial" panose="020B0604020202020204" pitchFamily="34" charset="0"/>
                        <a:ea typeface="微软雅黑" pitchFamily="34" charset="-122"/>
                        <a:cs typeface="Arial" panose="020B0604020202020204" pitchFamily="34" charset="0"/>
                      </a:endParaRPr>
                    </a:p>
                  </p:txBody>
                </p:sp>
              </p:grpSp>
              <p:cxnSp>
                <p:nvCxnSpPr>
                  <p:cNvPr id="65" name="直接连接符 325"/>
                  <p:cNvCxnSpPr>
                    <a:stCxn id="60" idx="3"/>
                    <a:endCxn id="96" idx="1"/>
                  </p:cNvCxnSpPr>
                  <p:nvPr/>
                </p:nvCxnSpPr>
                <p:spPr>
                  <a:xfrm flipV="1">
                    <a:off x="8429720" y="4130246"/>
                    <a:ext cx="432951" cy="196330"/>
                  </a:xfrm>
                  <a:prstGeom prst="lin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66" name="直接连接符 324"/>
                  <p:cNvCxnSpPr>
                    <a:stCxn id="96" idx="3"/>
                    <a:endCxn id="63" idx="1"/>
                  </p:cNvCxnSpPr>
                  <p:nvPr/>
                </p:nvCxnSpPr>
                <p:spPr>
                  <a:xfrm flipV="1">
                    <a:off x="9119081" y="4128504"/>
                    <a:ext cx="660102" cy="1742"/>
                  </a:xfrm>
                  <a:prstGeom prst="lin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67" name="直接连接符 66"/>
                  <p:cNvCxnSpPr>
                    <a:stCxn id="59" idx="2"/>
                    <a:endCxn id="62" idx="0"/>
                  </p:cNvCxnSpPr>
                  <p:nvPr/>
                </p:nvCxnSpPr>
                <p:spPr bwMode="auto">
                  <a:xfrm flipH="1">
                    <a:off x="9077628" y="2687464"/>
                    <a:ext cx="18752" cy="846611"/>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直接连接符 67"/>
                  <p:cNvCxnSpPr>
                    <a:stCxn id="74" idx="2"/>
                    <a:endCxn id="61" idx="0"/>
                  </p:cNvCxnSpPr>
                  <p:nvPr/>
                </p:nvCxnSpPr>
                <p:spPr bwMode="auto">
                  <a:xfrm>
                    <a:off x="9175778" y="3435409"/>
                    <a:ext cx="4853" cy="861394"/>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9" name="组合 591"/>
                  <p:cNvGrpSpPr>
                    <a:grpSpLocks/>
                  </p:cNvGrpSpPr>
                  <p:nvPr/>
                </p:nvGrpSpPr>
                <p:grpSpPr bwMode="auto">
                  <a:xfrm>
                    <a:off x="7281147" y="4011643"/>
                    <a:ext cx="256411" cy="207641"/>
                    <a:chOff x="7775598" y="1969477"/>
                    <a:chExt cx="409242" cy="216371"/>
                  </a:xfrm>
                </p:grpSpPr>
                <p:sp>
                  <p:nvSpPr>
                    <p:cNvPr id="94" name="矩形 322"/>
                    <p:cNvSpPr/>
                    <p:nvPr/>
                  </p:nvSpPr>
                  <p:spPr>
                    <a:xfrm>
                      <a:off x="7775598" y="1969477"/>
                      <a:ext cx="409242" cy="216371"/>
                    </a:xfrm>
                    <a:prstGeom prst="rect">
                      <a:avLst/>
                    </a:prstGeom>
                    <a:gradFill flip="none" rotWithShape="1">
                      <a:gsLst>
                        <a:gs pos="0">
                          <a:srgbClr val="FF3399"/>
                        </a:gs>
                        <a:gs pos="25000">
                          <a:srgbClr val="FF6633"/>
                        </a:gs>
                        <a:gs pos="50000">
                          <a:srgbClr val="FFFF00"/>
                        </a:gs>
                        <a:gs pos="75000">
                          <a:srgbClr val="01A78F"/>
                        </a:gs>
                        <a:gs pos="100000">
                          <a:srgbClr val="3366FF"/>
                        </a:gs>
                      </a:gsLst>
                      <a:lin ang="13500000" scaled="1"/>
                      <a:tileRect/>
                    </a:gradFill>
                    <a:ln>
                      <a:solidFill>
                        <a:sysClr val="windowText" lastClr="000000"/>
                      </a:solidFill>
                    </a:ln>
                  </p:spPr>
                  <p:txBody>
                    <a:bodyPr anchor="ctr"/>
                    <a:lstStyle/>
                    <a:p>
                      <a:pPr algn="ctr" defTabSz="1218866" hangingPunct="1">
                        <a:defRPr/>
                      </a:pPr>
                      <a:endParaRPr lang="zh-CN" altLang="en-US" sz="1867" dirty="0">
                        <a:ln>
                          <a:solidFill>
                            <a:srgbClr val="FF0000"/>
                          </a:solidFill>
                        </a:ln>
                        <a:solidFill>
                          <a:srgbClr val="2D2015"/>
                        </a:solidFill>
                        <a:latin typeface="Arial" panose="020B0604020202020204" pitchFamily="34" charset="0"/>
                        <a:ea typeface="微软雅黑" pitchFamily="34" charset="-122"/>
                        <a:cs typeface="Arial" panose="020B0604020202020204" pitchFamily="34" charset="0"/>
                      </a:endParaRPr>
                    </a:p>
                  </p:txBody>
                </p:sp>
                <p:sp>
                  <p:nvSpPr>
                    <p:cNvPr id="95" name="Freeform 16"/>
                    <p:cNvSpPr>
                      <a:spLocks noEditPoints="1"/>
                    </p:cNvSpPr>
                    <p:nvPr/>
                  </p:nvSpPr>
                  <p:spPr bwMode="auto">
                    <a:xfrm rot="16200000">
                      <a:off x="7919651" y="1953499"/>
                      <a:ext cx="134631" cy="256338"/>
                    </a:xfrm>
                    <a:custGeom>
                      <a:avLst/>
                      <a:gdLst>
                        <a:gd name="T0" fmla="*/ 2147483647 w 6455"/>
                        <a:gd name="T1" fmla="*/ 2147483647 h 5166"/>
                        <a:gd name="T2" fmla="*/ 2147483647 w 6455"/>
                        <a:gd name="T3" fmla="*/ 2147483647 h 5166"/>
                        <a:gd name="T4" fmla="*/ 2147483647 w 6455"/>
                        <a:gd name="T5" fmla="*/ 2147483647 h 5166"/>
                        <a:gd name="T6" fmla="*/ 2147483647 w 6455"/>
                        <a:gd name="T7" fmla="*/ 2147483647 h 5166"/>
                        <a:gd name="T8" fmla="*/ 2147483647 w 6455"/>
                        <a:gd name="T9" fmla="*/ 2147483647 h 5166"/>
                        <a:gd name="T10" fmla="*/ 2147483647 w 6455"/>
                        <a:gd name="T11" fmla="*/ 2147483647 h 5166"/>
                        <a:gd name="T12" fmla="*/ 2147483647 w 6455"/>
                        <a:gd name="T13" fmla="*/ 2147483647 h 5166"/>
                        <a:gd name="T14" fmla="*/ 2147483647 w 6455"/>
                        <a:gd name="T15" fmla="*/ 2147483647 h 5166"/>
                        <a:gd name="T16" fmla="*/ 2147483647 w 6455"/>
                        <a:gd name="T17" fmla="*/ 2147483647 h 5166"/>
                        <a:gd name="T18" fmla="*/ 2147483647 w 6455"/>
                        <a:gd name="T19" fmla="*/ 2147483647 h 5166"/>
                        <a:gd name="T20" fmla="*/ 2147483647 w 6455"/>
                        <a:gd name="T21" fmla="*/ 2147483647 h 5166"/>
                        <a:gd name="T22" fmla="*/ 2147483647 w 6455"/>
                        <a:gd name="T23" fmla="*/ 2147483647 h 5166"/>
                        <a:gd name="T24" fmla="*/ 2147483647 w 6455"/>
                        <a:gd name="T25" fmla="*/ 2147483647 h 5166"/>
                        <a:gd name="T26" fmla="*/ 2147483647 w 6455"/>
                        <a:gd name="T27" fmla="*/ 2147483647 h 5166"/>
                        <a:gd name="T28" fmla="*/ 2147483647 w 6455"/>
                        <a:gd name="T29" fmla="*/ 2147483647 h 5166"/>
                        <a:gd name="T30" fmla="*/ 2147483647 w 6455"/>
                        <a:gd name="T31" fmla="*/ 2147483647 h 5166"/>
                        <a:gd name="T32" fmla="*/ 2147483647 w 6455"/>
                        <a:gd name="T33" fmla="*/ 2147483647 h 5166"/>
                        <a:gd name="T34" fmla="*/ 2147483647 w 6455"/>
                        <a:gd name="T35" fmla="*/ 2147483647 h 5166"/>
                        <a:gd name="T36" fmla="*/ 2147483647 w 6455"/>
                        <a:gd name="T37" fmla="*/ 2147483647 h 5166"/>
                        <a:gd name="T38" fmla="*/ 2147483647 w 6455"/>
                        <a:gd name="T39" fmla="*/ 2147483647 h 5166"/>
                        <a:gd name="T40" fmla="*/ 2147483647 w 6455"/>
                        <a:gd name="T41" fmla="*/ 2147483647 h 5166"/>
                        <a:gd name="T42" fmla="*/ 2147483647 w 6455"/>
                        <a:gd name="T43" fmla="*/ 2147483647 h 5166"/>
                        <a:gd name="T44" fmla="*/ 2147483647 w 6455"/>
                        <a:gd name="T45" fmla="*/ 2147483647 h 5166"/>
                        <a:gd name="T46" fmla="*/ 2147483647 w 6455"/>
                        <a:gd name="T47" fmla="*/ 2147483647 h 5166"/>
                        <a:gd name="T48" fmla="*/ 2147483647 w 6455"/>
                        <a:gd name="T49" fmla="*/ 2147483647 h 5166"/>
                        <a:gd name="T50" fmla="*/ 2147483647 w 6455"/>
                        <a:gd name="T51" fmla="*/ 2147483647 h 5166"/>
                        <a:gd name="T52" fmla="*/ 2147483647 w 6455"/>
                        <a:gd name="T53" fmla="*/ 2147483647 h 5166"/>
                        <a:gd name="T54" fmla="*/ 2147483647 w 6455"/>
                        <a:gd name="T55" fmla="*/ 2147483647 h 5166"/>
                        <a:gd name="T56" fmla="*/ 2147483647 w 6455"/>
                        <a:gd name="T57" fmla="*/ 2147483647 h 5166"/>
                        <a:gd name="T58" fmla="*/ 2147483647 w 6455"/>
                        <a:gd name="T59" fmla="*/ 2147483647 h 5166"/>
                        <a:gd name="T60" fmla="*/ 2147483647 w 6455"/>
                        <a:gd name="T61" fmla="*/ 2147483647 h 5166"/>
                        <a:gd name="T62" fmla="*/ 2147483647 w 6455"/>
                        <a:gd name="T63" fmla="*/ 2147483647 h 5166"/>
                        <a:gd name="T64" fmla="*/ 2147483647 w 6455"/>
                        <a:gd name="T65" fmla="*/ 2147483647 h 5166"/>
                        <a:gd name="T66" fmla="*/ 2147483647 w 6455"/>
                        <a:gd name="T67" fmla="*/ 2147483647 h 5166"/>
                        <a:gd name="T68" fmla="*/ 2147483647 w 6455"/>
                        <a:gd name="T69" fmla="*/ 2147483647 h 5166"/>
                        <a:gd name="T70" fmla="*/ 2147483647 w 6455"/>
                        <a:gd name="T71" fmla="*/ 2147483647 h 5166"/>
                        <a:gd name="T72" fmla="*/ 2147483647 w 6455"/>
                        <a:gd name="T73" fmla="*/ 2147483647 h 5166"/>
                        <a:gd name="T74" fmla="*/ 2147483647 w 6455"/>
                        <a:gd name="T75" fmla="*/ 2147483647 h 5166"/>
                        <a:gd name="T76" fmla="*/ 2147483647 w 6455"/>
                        <a:gd name="T77" fmla="*/ 2147483647 h 5166"/>
                        <a:gd name="T78" fmla="*/ 2147483647 w 6455"/>
                        <a:gd name="T79" fmla="*/ 2147483647 h 5166"/>
                        <a:gd name="T80" fmla="*/ 2147483647 w 6455"/>
                        <a:gd name="T81" fmla="*/ 2147483647 h 5166"/>
                        <a:gd name="T82" fmla="*/ 2147483647 w 6455"/>
                        <a:gd name="T83" fmla="*/ 2147483647 h 5166"/>
                        <a:gd name="T84" fmla="*/ 2147483647 w 6455"/>
                        <a:gd name="T85" fmla="*/ 2147483647 h 5166"/>
                        <a:gd name="T86" fmla="*/ 2147483647 w 6455"/>
                        <a:gd name="T87" fmla="*/ 2147483647 h 5166"/>
                        <a:gd name="T88" fmla="*/ 2147483647 w 6455"/>
                        <a:gd name="T89" fmla="*/ 2147483647 h 5166"/>
                        <a:gd name="T90" fmla="*/ 2147483647 w 6455"/>
                        <a:gd name="T91" fmla="*/ 2147483647 h 5166"/>
                        <a:gd name="T92" fmla="*/ 2147483647 w 6455"/>
                        <a:gd name="T93" fmla="*/ 2147483647 h 5166"/>
                        <a:gd name="T94" fmla="*/ 2147483647 w 6455"/>
                        <a:gd name="T95" fmla="*/ 2147483647 h 5166"/>
                        <a:gd name="T96" fmla="*/ 2147483647 w 6455"/>
                        <a:gd name="T97" fmla="*/ 2147483647 h 5166"/>
                        <a:gd name="T98" fmla="*/ 2147483647 w 6455"/>
                        <a:gd name="T99" fmla="*/ 2147483647 h 5166"/>
                        <a:gd name="T100" fmla="*/ 2147483647 w 6455"/>
                        <a:gd name="T101" fmla="*/ 2147483647 h 5166"/>
                        <a:gd name="T102" fmla="*/ 2147483647 w 6455"/>
                        <a:gd name="T103" fmla="*/ 2147483647 h 5166"/>
                        <a:gd name="T104" fmla="*/ 2147483647 w 6455"/>
                        <a:gd name="T105" fmla="*/ 2147483647 h 5166"/>
                        <a:gd name="T106" fmla="*/ 2147483647 w 6455"/>
                        <a:gd name="T107" fmla="*/ 2147483647 h 5166"/>
                        <a:gd name="T108" fmla="*/ 2147483647 w 6455"/>
                        <a:gd name="T109" fmla="*/ 2147483647 h 51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5"/>
                        <a:gd name="T166" fmla="*/ 0 h 5166"/>
                        <a:gd name="T167" fmla="*/ 6455 w 6455"/>
                        <a:gd name="T168" fmla="*/ 5166 h 51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5" h="5166">
                          <a:moveTo>
                            <a:pt x="2573" y="3988"/>
                          </a:moveTo>
                          <a:lnTo>
                            <a:pt x="1930" y="4694"/>
                          </a:lnTo>
                          <a:lnTo>
                            <a:pt x="768" y="4708"/>
                          </a:lnTo>
                          <a:lnTo>
                            <a:pt x="759" y="5166"/>
                          </a:lnTo>
                          <a:lnTo>
                            <a:pt x="0" y="4495"/>
                          </a:lnTo>
                          <a:lnTo>
                            <a:pt x="754" y="3775"/>
                          </a:lnTo>
                          <a:lnTo>
                            <a:pt x="754" y="4252"/>
                          </a:lnTo>
                          <a:lnTo>
                            <a:pt x="1631" y="4252"/>
                          </a:lnTo>
                          <a:lnTo>
                            <a:pt x="1649" y="4235"/>
                          </a:lnTo>
                          <a:lnTo>
                            <a:pt x="1698" y="4188"/>
                          </a:lnTo>
                          <a:lnTo>
                            <a:pt x="1769" y="4118"/>
                          </a:lnTo>
                          <a:lnTo>
                            <a:pt x="1855" y="4034"/>
                          </a:lnTo>
                          <a:lnTo>
                            <a:pt x="1948" y="3942"/>
                          </a:lnTo>
                          <a:lnTo>
                            <a:pt x="2040" y="3849"/>
                          </a:lnTo>
                          <a:lnTo>
                            <a:pt x="2084" y="3804"/>
                          </a:lnTo>
                          <a:lnTo>
                            <a:pt x="2123" y="3763"/>
                          </a:lnTo>
                          <a:lnTo>
                            <a:pt x="2160" y="3723"/>
                          </a:lnTo>
                          <a:lnTo>
                            <a:pt x="2190" y="3689"/>
                          </a:lnTo>
                          <a:lnTo>
                            <a:pt x="2166" y="3663"/>
                          </a:lnTo>
                          <a:lnTo>
                            <a:pt x="2142" y="3634"/>
                          </a:lnTo>
                          <a:lnTo>
                            <a:pt x="2118" y="3606"/>
                          </a:lnTo>
                          <a:lnTo>
                            <a:pt x="2095" y="3578"/>
                          </a:lnTo>
                          <a:lnTo>
                            <a:pt x="2073" y="3548"/>
                          </a:lnTo>
                          <a:lnTo>
                            <a:pt x="2051" y="3518"/>
                          </a:lnTo>
                          <a:lnTo>
                            <a:pt x="2030" y="3488"/>
                          </a:lnTo>
                          <a:lnTo>
                            <a:pt x="2011" y="3456"/>
                          </a:lnTo>
                          <a:lnTo>
                            <a:pt x="1991" y="3425"/>
                          </a:lnTo>
                          <a:lnTo>
                            <a:pt x="1972" y="3392"/>
                          </a:lnTo>
                          <a:lnTo>
                            <a:pt x="1954" y="3360"/>
                          </a:lnTo>
                          <a:lnTo>
                            <a:pt x="1937" y="3327"/>
                          </a:lnTo>
                          <a:lnTo>
                            <a:pt x="1920" y="3293"/>
                          </a:lnTo>
                          <a:lnTo>
                            <a:pt x="1905" y="3260"/>
                          </a:lnTo>
                          <a:lnTo>
                            <a:pt x="1889" y="3225"/>
                          </a:lnTo>
                          <a:lnTo>
                            <a:pt x="1875" y="3190"/>
                          </a:lnTo>
                          <a:lnTo>
                            <a:pt x="1861" y="3154"/>
                          </a:lnTo>
                          <a:lnTo>
                            <a:pt x="1849" y="3119"/>
                          </a:lnTo>
                          <a:lnTo>
                            <a:pt x="1837" y="3083"/>
                          </a:lnTo>
                          <a:lnTo>
                            <a:pt x="1826" y="3046"/>
                          </a:lnTo>
                          <a:lnTo>
                            <a:pt x="1814" y="3010"/>
                          </a:lnTo>
                          <a:lnTo>
                            <a:pt x="1805" y="2972"/>
                          </a:lnTo>
                          <a:lnTo>
                            <a:pt x="1797" y="2935"/>
                          </a:lnTo>
                          <a:lnTo>
                            <a:pt x="1789" y="2896"/>
                          </a:lnTo>
                          <a:lnTo>
                            <a:pt x="1782" y="2859"/>
                          </a:lnTo>
                          <a:lnTo>
                            <a:pt x="1776" y="2820"/>
                          </a:lnTo>
                          <a:lnTo>
                            <a:pt x="1771" y="2781"/>
                          </a:lnTo>
                          <a:lnTo>
                            <a:pt x="1767" y="2742"/>
                          </a:lnTo>
                          <a:lnTo>
                            <a:pt x="1764" y="2703"/>
                          </a:lnTo>
                          <a:lnTo>
                            <a:pt x="1761" y="2662"/>
                          </a:lnTo>
                          <a:lnTo>
                            <a:pt x="1760" y="2623"/>
                          </a:lnTo>
                          <a:lnTo>
                            <a:pt x="1759" y="2582"/>
                          </a:lnTo>
                          <a:lnTo>
                            <a:pt x="1760" y="2543"/>
                          </a:lnTo>
                          <a:lnTo>
                            <a:pt x="1761" y="2502"/>
                          </a:lnTo>
                          <a:lnTo>
                            <a:pt x="1764" y="2463"/>
                          </a:lnTo>
                          <a:lnTo>
                            <a:pt x="1767" y="2424"/>
                          </a:lnTo>
                          <a:lnTo>
                            <a:pt x="1771" y="2384"/>
                          </a:lnTo>
                          <a:lnTo>
                            <a:pt x="1776" y="2346"/>
                          </a:lnTo>
                          <a:lnTo>
                            <a:pt x="1782" y="2307"/>
                          </a:lnTo>
                          <a:lnTo>
                            <a:pt x="1789" y="2269"/>
                          </a:lnTo>
                          <a:lnTo>
                            <a:pt x="1797" y="2231"/>
                          </a:lnTo>
                          <a:lnTo>
                            <a:pt x="1805" y="2194"/>
                          </a:lnTo>
                          <a:lnTo>
                            <a:pt x="1814" y="2156"/>
                          </a:lnTo>
                          <a:lnTo>
                            <a:pt x="1826" y="2119"/>
                          </a:lnTo>
                          <a:lnTo>
                            <a:pt x="1837" y="2082"/>
                          </a:lnTo>
                          <a:lnTo>
                            <a:pt x="1848" y="2047"/>
                          </a:lnTo>
                          <a:lnTo>
                            <a:pt x="1861" y="2011"/>
                          </a:lnTo>
                          <a:lnTo>
                            <a:pt x="1875" y="1976"/>
                          </a:lnTo>
                          <a:lnTo>
                            <a:pt x="1889" y="1941"/>
                          </a:lnTo>
                          <a:lnTo>
                            <a:pt x="1905" y="1906"/>
                          </a:lnTo>
                          <a:lnTo>
                            <a:pt x="1920" y="1873"/>
                          </a:lnTo>
                          <a:lnTo>
                            <a:pt x="1937" y="1838"/>
                          </a:lnTo>
                          <a:lnTo>
                            <a:pt x="1954" y="1806"/>
                          </a:lnTo>
                          <a:lnTo>
                            <a:pt x="1972" y="1774"/>
                          </a:lnTo>
                          <a:lnTo>
                            <a:pt x="1991" y="1741"/>
                          </a:lnTo>
                          <a:lnTo>
                            <a:pt x="2010" y="1710"/>
                          </a:lnTo>
                          <a:lnTo>
                            <a:pt x="2030" y="1678"/>
                          </a:lnTo>
                          <a:lnTo>
                            <a:pt x="2051" y="1648"/>
                          </a:lnTo>
                          <a:lnTo>
                            <a:pt x="2073" y="1618"/>
                          </a:lnTo>
                          <a:lnTo>
                            <a:pt x="2095" y="1588"/>
                          </a:lnTo>
                          <a:lnTo>
                            <a:pt x="2118" y="1560"/>
                          </a:lnTo>
                          <a:lnTo>
                            <a:pt x="2142" y="1532"/>
                          </a:lnTo>
                          <a:lnTo>
                            <a:pt x="2166" y="1503"/>
                          </a:lnTo>
                          <a:lnTo>
                            <a:pt x="2190" y="1476"/>
                          </a:lnTo>
                          <a:lnTo>
                            <a:pt x="2160" y="1442"/>
                          </a:lnTo>
                          <a:lnTo>
                            <a:pt x="2123" y="1403"/>
                          </a:lnTo>
                          <a:lnTo>
                            <a:pt x="2084" y="1362"/>
                          </a:lnTo>
                          <a:lnTo>
                            <a:pt x="2040" y="1317"/>
                          </a:lnTo>
                          <a:lnTo>
                            <a:pt x="1948" y="1224"/>
                          </a:lnTo>
                          <a:lnTo>
                            <a:pt x="1855" y="1131"/>
                          </a:lnTo>
                          <a:lnTo>
                            <a:pt x="1769" y="1047"/>
                          </a:lnTo>
                          <a:lnTo>
                            <a:pt x="1698" y="978"/>
                          </a:lnTo>
                          <a:lnTo>
                            <a:pt x="1649" y="931"/>
                          </a:lnTo>
                          <a:lnTo>
                            <a:pt x="1631" y="914"/>
                          </a:lnTo>
                          <a:lnTo>
                            <a:pt x="754" y="914"/>
                          </a:lnTo>
                          <a:lnTo>
                            <a:pt x="754" y="1391"/>
                          </a:lnTo>
                          <a:lnTo>
                            <a:pt x="0" y="670"/>
                          </a:lnTo>
                          <a:lnTo>
                            <a:pt x="759" y="0"/>
                          </a:lnTo>
                          <a:lnTo>
                            <a:pt x="768" y="456"/>
                          </a:lnTo>
                          <a:lnTo>
                            <a:pt x="1930" y="472"/>
                          </a:lnTo>
                          <a:lnTo>
                            <a:pt x="2573" y="1177"/>
                          </a:lnTo>
                          <a:lnTo>
                            <a:pt x="2613" y="1156"/>
                          </a:lnTo>
                          <a:lnTo>
                            <a:pt x="2653" y="1137"/>
                          </a:lnTo>
                          <a:lnTo>
                            <a:pt x="2694" y="1118"/>
                          </a:lnTo>
                          <a:lnTo>
                            <a:pt x="2735" y="1100"/>
                          </a:lnTo>
                          <a:lnTo>
                            <a:pt x="2778" y="1084"/>
                          </a:lnTo>
                          <a:lnTo>
                            <a:pt x="2820" y="1070"/>
                          </a:lnTo>
                          <a:lnTo>
                            <a:pt x="2863" y="1056"/>
                          </a:lnTo>
                          <a:lnTo>
                            <a:pt x="2907" y="1044"/>
                          </a:lnTo>
                          <a:lnTo>
                            <a:pt x="2951" y="1033"/>
                          </a:lnTo>
                          <a:lnTo>
                            <a:pt x="2996" y="1023"/>
                          </a:lnTo>
                          <a:lnTo>
                            <a:pt x="3041" y="1015"/>
                          </a:lnTo>
                          <a:lnTo>
                            <a:pt x="3086" y="1008"/>
                          </a:lnTo>
                          <a:lnTo>
                            <a:pt x="3133" y="1003"/>
                          </a:lnTo>
                          <a:lnTo>
                            <a:pt x="3180" y="1000"/>
                          </a:lnTo>
                          <a:lnTo>
                            <a:pt x="3226" y="997"/>
                          </a:lnTo>
                          <a:lnTo>
                            <a:pt x="3274" y="996"/>
                          </a:lnTo>
                          <a:lnTo>
                            <a:pt x="3316" y="997"/>
                          </a:lnTo>
                          <a:lnTo>
                            <a:pt x="3358" y="999"/>
                          </a:lnTo>
                          <a:lnTo>
                            <a:pt x="3400" y="1002"/>
                          </a:lnTo>
                          <a:lnTo>
                            <a:pt x="3442" y="1006"/>
                          </a:lnTo>
                          <a:lnTo>
                            <a:pt x="3483" y="1012"/>
                          </a:lnTo>
                          <a:lnTo>
                            <a:pt x="3524" y="1018"/>
                          </a:lnTo>
                          <a:lnTo>
                            <a:pt x="3564" y="1026"/>
                          </a:lnTo>
                          <a:lnTo>
                            <a:pt x="3605" y="1036"/>
                          </a:lnTo>
                          <a:lnTo>
                            <a:pt x="3645" y="1046"/>
                          </a:lnTo>
                          <a:lnTo>
                            <a:pt x="3685" y="1057"/>
                          </a:lnTo>
                          <a:lnTo>
                            <a:pt x="3723" y="1069"/>
                          </a:lnTo>
                          <a:lnTo>
                            <a:pt x="3762" y="1082"/>
                          </a:lnTo>
                          <a:lnTo>
                            <a:pt x="3800" y="1096"/>
                          </a:lnTo>
                          <a:lnTo>
                            <a:pt x="3838" y="1111"/>
                          </a:lnTo>
                          <a:lnTo>
                            <a:pt x="3875" y="1128"/>
                          </a:lnTo>
                          <a:lnTo>
                            <a:pt x="3912" y="1145"/>
                          </a:lnTo>
                          <a:lnTo>
                            <a:pt x="4525" y="472"/>
                          </a:lnTo>
                          <a:lnTo>
                            <a:pt x="5687" y="456"/>
                          </a:lnTo>
                          <a:lnTo>
                            <a:pt x="5696" y="0"/>
                          </a:lnTo>
                          <a:lnTo>
                            <a:pt x="6455" y="670"/>
                          </a:lnTo>
                          <a:lnTo>
                            <a:pt x="5701" y="1391"/>
                          </a:lnTo>
                          <a:lnTo>
                            <a:pt x="5701" y="914"/>
                          </a:lnTo>
                          <a:lnTo>
                            <a:pt x="4823" y="914"/>
                          </a:lnTo>
                          <a:lnTo>
                            <a:pt x="4808" y="928"/>
                          </a:lnTo>
                          <a:lnTo>
                            <a:pt x="4768" y="968"/>
                          </a:lnTo>
                          <a:lnTo>
                            <a:pt x="4706" y="1027"/>
                          </a:lnTo>
                          <a:lnTo>
                            <a:pt x="4631" y="1100"/>
                          </a:lnTo>
                          <a:lnTo>
                            <a:pt x="4547" y="1182"/>
                          </a:lnTo>
                          <a:lnTo>
                            <a:pt x="4462" y="1268"/>
                          </a:lnTo>
                          <a:lnTo>
                            <a:pt x="4381" y="1351"/>
                          </a:lnTo>
                          <a:lnTo>
                            <a:pt x="4309" y="1427"/>
                          </a:lnTo>
                          <a:lnTo>
                            <a:pt x="4336" y="1455"/>
                          </a:lnTo>
                          <a:lnTo>
                            <a:pt x="4363" y="1483"/>
                          </a:lnTo>
                          <a:lnTo>
                            <a:pt x="4389" y="1511"/>
                          </a:lnTo>
                          <a:lnTo>
                            <a:pt x="4414" y="1542"/>
                          </a:lnTo>
                          <a:lnTo>
                            <a:pt x="4438" y="1572"/>
                          </a:lnTo>
                          <a:lnTo>
                            <a:pt x="4462" y="1602"/>
                          </a:lnTo>
                          <a:lnTo>
                            <a:pt x="4485" y="1634"/>
                          </a:lnTo>
                          <a:lnTo>
                            <a:pt x="4507" y="1666"/>
                          </a:lnTo>
                          <a:lnTo>
                            <a:pt x="4530" y="1699"/>
                          </a:lnTo>
                          <a:lnTo>
                            <a:pt x="4550" y="1732"/>
                          </a:lnTo>
                          <a:lnTo>
                            <a:pt x="4570" y="1765"/>
                          </a:lnTo>
                          <a:lnTo>
                            <a:pt x="4589" y="1800"/>
                          </a:lnTo>
                          <a:lnTo>
                            <a:pt x="4608" y="1835"/>
                          </a:lnTo>
                          <a:lnTo>
                            <a:pt x="4626" y="1871"/>
                          </a:lnTo>
                          <a:lnTo>
                            <a:pt x="4642" y="1906"/>
                          </a:lnTo>
                          <a:lnTo>
                            <a:pt x="4658" y="1943"/>
                          </a:lnTo>
                          <a:lnTo>
                            <a:pt x="4673" y="1980"/>
                          </a:lnTo>
                          <a:lnTo>
                            <a:pt x="4688" y="2018"/>
                          </a:lnTo>
                          <a:lnTo>
                            <a:pt x="4701" y="2055"/>
                          </a:lnTo>
                          <a:lnTo>
                            <a:pt x="4714" y="2093"/>
                          </a:lnTo>
                          <a:lnTo>
                            <a:pt x="4725" y="2132"/>
                          </a:lnTo>
                          <a:lnTo>
                            <a:pt x="4736" y="2171"/>
                          </a:lnTo>
                          <a:lnTo>
                            <a:pt x="4745" y="2211"/>
                          </a:lnTo>
                          <a:lnTo>
                            <a:pt x="4754" y="2251"/>
                          </a:lnTo>
                          <a:lnTo>
                            <a:pt x="4762" y="2291"/>
                          </a:lnTo>
                          <a:lnTo>
                            <a:pt x="4769" y="2332"/>
                          </a:lnTo>
                          <a:lnTo>
                            <a:pt x="4775" y="2373"/>
                          </a:lnTo>
                          <a:lnTo>
                            <a:pt x="4779" y="2414"/>
                          </a:lnTo>
                          <a:lnTo>
                            <a:pt x="4783" y="2456"/>
                          </a:lnTo>
                          <a:lnTo>
                            <a:pt x="4786" y="2498"/>
                          </a:lnTo>
                          <a:lnTo>
                            <a:pt x="4787" y="2540"/>
                          </a:lnTo>
                          <a:lnTo>
                            <a:pt x="4788" y="2582"/>
                          </a:lnTo>
                          <a:lnTo>
                            <a:pt x="4787" y="2625"/>
                          </a:lnTo>
                          <a:lnTo>
                            <a:pt x="4786" y="2667"/>
                          </a:lnTo>
                          <a:lnTo>
                            <a:pt x="4783" y="2709"/>
                          </a:lnTo>
                          <a:lnTo>
                            <a:pt x="4779" y="2752"/>
                          </a:lnTo>
                          <a:lnTo>
                            <a:pt x="4775" y="2793"/>
                          </a:lnTo>
                          <a:lnTo>
                            <a:pt x="4769" y="2834"/>
                          </a:lnTo>
                          <a:lnTo>
                            <a:pt x="4762" y="2874"/>
                          </a:lnTo>
                          <a:lnTo>
                            <a:pt x="4754" y="2915"/>
                          </a:lnTo>
                          <a:lnTo>
                            <a:pt x="4745" y="2955"/>
                          </a:lnTo>
                          <a:lnTo>
                            <a:pt x="4736" y="2994"/>
                          </a:lnTo>
                          <a:lnTo>
                            <a:pt x="4725" y="3033"/>
                          </a:lnTo>
                          <a:lnTo>
                            <a:pt x="4714" y="3072"/>
                          </a:lnTo>
                          <a:lnTo>
                            <a:pt x="4701" y="3111"/>
                          </a:lnTo>
                          <a:lnTo>
                            <a:pt x="4688" y="3148"/>
                          </a:lnTo>
                          <a:lnTo>
                            <a:pt x="4673" y="3186"/>
                          </a:lnTo>
                          <a:lnTo>
                            <a:pt x="4658" y="3222"/>
                          </a:lnTo>
                          <a:lnTo>
                            <a:pt x="4642" y="3259"/>
                          </a:lnTo>
                          <a:lnTo>
                            <a:pt x="4626" y="3295"/>
                          </a:lnTo>
                          <a:lnTo>
                            <a:pt x="4608" y="3331"/>
                          </a:lnTo>
                          <a:lnTo>
                            <a:pt x="4589" y="3365"/>
                          </a:lnTo>
                          <a:lnTo>
                            <a:pt x="4570" y="3400"/>
                          </a:lnTo>
                          <a:lnTo>
                            <a:pt x="4550" y="3434"/>
                          </a:lnTo>
                          <a:lnTo>
                            <a:pt x="4530" y="3467"/>
                          </a:lnTo>
                          <a:lnTo>
                            <a:pt x="4507" y="3500"/>
                          </a:lnTo>
                          <a:lnTo>
                            <a:pt x="4485" y="3532"/>
                          </a:lnTo>
                          <a:lnTo>
                            <a:pt x="4462" y="3563"/>
                          </a:lnTo>
                          <a:lnTo>
                            <a:pt x="4438" y="3594"/>
                          </a:lnTo>
                          <a:lnTo>
                            <a:pt x="4414" y="3624"/>
                          </a:lnTo>
                          <a:lnTo>
                            <a:pt x="4389" y="3654"/>
                          </a:lnTo>
                          <a:lnTo>
                            <a:pt x="4363" y="3683"/>
                          </a:lnTo>
                          <a:lnTo>
                            <a:pt x="4336" y="3711"/>
                          </a:lnTo>
                          <a:lnTo>
                            <a:pt x="4309" y="3739"/>
                          </a:lnTo>
                          <a:lnTo>
                            <a:pt x="4381" y="3815"/>
                          </a:lnTo>
                          <a:lnTo>
                            <a:pt x="4462" y="3898"/>
                          </a:lnTo>
                          <a:lnTo>
                            <a:pt x="4547" y="3983"/>
                          </a:lnTo>
                          <a:lnTo>
                            <a:pt x="4631" y="4065"/>
                          </a:lnTo>
                          <a:lnTo>
                            <a:pt x="4706" y="4138"/>
                          </a:lnTo>
                          <a:lnTo>
                            <a:pt x="4768" y="4198"/>
                          </a:lnTo>
                          <a:lnTo>
                            <a:pt x="4808" y="4238"/>
                          </a:lnTo>
                          <a:lnTo>
                            <a:pt x="4823" y="4252"/>
                          </a:lnTo>
                          <a:lnTo>
                            <a:pt x="5701" y="4252"/>
                          </a:lnTo>
                          <a:lnTo>
                            <a:pt x="5701" y="3775"/>
                          </a:lnTo>
                          <a:lnTo>
                            <a:pt x="6455" y="4495"/>
                          </a:lnTo>
                          <a:lnTo>
                            <a:pt x="5696" y="5166"/>
                          </a:lnTo>
                          <a:lnTo>
                            <a:pt x="5687" y="4708"/>
                          </a:lnTo>
                          <a:lnTo>
                            <a:pt x="4525" y="4694"/>
                          </a:lnTo>
                          <a:lnTo>
                            <a:pt x="3912" y="4020"/>
                          </a:lnTo>
                          <a:lnTo>
                            <a:pt x="3875" y="4038"/>
                          </a:lnTo>
                          <a:lnTo>
                            <a:pt x="3838" y="4054"/>
                          </a:lnTo>
                          <a:lnTo>
                            <a:pt x="3800" y="4070"/>
                          </a:lnTo>
                          <a:lnTo>
                            <a:pt x="3762" y="4084"/>
                          </a:lnTo>
                          <a:lnTo>
                            <a:pt x="3723" y="4097"/>
                          </a:lnTo>
                          <a:lnTo>
                            <a:pt x="3685" y="4109"/>
                          </a:lnTo>
                          <a:lnTo>
                            <a:pt x="3645" y="4120"/>
                          </a:lnTo>
                          <a:lnTo>
                            <a:pt x="3605" y="4130"/>
                          </a:lnTo>
                          <a:lnTo>
                            <a:pt x="3564" y="4139"/>
                          </a:lnTo>
                          <a:lnTo>
                            <a:pt x="3524" y="4147"/>
                          </a:lnTo>
                          <a:lnTo>
                            <a:pt x="3483" y="4154"/>
                          </a:lnTo>
                          <a:lnTo>
                            <a:pt x="3442" y="4159"/>
                          </a:lnTo>
                          <a:lnTo>
                            <a:pt x="3400" y="4164"/>
                          </a:lnTo>
                          <a:lnTo>
                            <a:pt x="3358" y="4167"/>
                          </a:lnTo>
                          <a:lnTo>
                            <a:pt x="3316" y="4168"/>
                          </a:lnTo>
                          <a:lnTo>
                            <a:pt x="3274" y="4169"/>
                          </a:lnTo>
                          <a:lnTo>
                            <a:pt x="3226" y="4168"/>
                          </a:lnTo>
                          <a:lnTo>
                            <a:pt x="3180" y="4166"/>
                          </a:lnTo>
                          <a:lnTo>
                            <a:pt x="3133" y="4162"/>
                          </a:lnTo>
                          <a:lnTo>
                            <a:pt x="3086" y="4157"/>
                          </a:lnTo>
                          <a:lnTo>
                            <a:pt x="3041" y="4151"/>
                          </a:lnTo>
                          <a:lnTo>
                            <a:pt x="2996" y="4143"/>
                          </a:lnTo>
                          <a:lnTo>
                            <a:pt x="2951" y="4132"/>
                          </a:lnTo>
                          <a:lnTo>
                            <a:pt x="2907" y="4121"/>
                          </a:lnTo>
                          <a:lnTo>
                            <a:pt x="2863" y="4109"/>
                          </a:lnTo>
                          <a:lnTo>
                            <a:pt x="2820" y="4096"/>
                          </a:lnTo>
                          <a:lnTo>
                            <a:pt x="2777" y="4081"/>
                          </a:lnTo>
                          <a:lnTo>
                            <a:pt x="2735" y="4065"/>
                          </a:lnTo>
                          <a:lnTo>
                            <a:pt x="2694" y="4047"/>
                          </a:lnTo>
                          <a:lnTo>
                            <a:pt x="2652" y="4029"/>
                          </a:lnTo>
                          <a:lnTo>
                            <a:pt x="2613" y="4009"/>
                          </a:lnTo>
                          <a:lnTo>
                            <a:pt x="2573" y="3988"/>
                          </a:lnTo>
                          <a:close/>
                          <a:moveTo>
                            <a:pt x="3274" y="1530"/>
                          </a:moveTo>
                          <a:lnTo>
                            <a:pt x="3325" y="1532"/>
                          </a:lnTo>
                          <a:lnTo>
                            <a:pt x="3376" y="1536"/>
                          </a:lnTo>
                          <a:lnTo>
                            <a:pt x="3426" y="1543"/>
                          </a:lnTo>
                          <a:lnTo>
                            <a:pt x="3475" y="1552"/>
                          </a:lnTo>
                          <a:lnTo>
                            <a:pt x="3524" y="1563"/>
                          </a:lnTo>
                          <a:lnTo>
                            <a:pt x="3572" y="1577"/>
                          </a:lnTo>
                          <a:lnTo>
                            <a:pt x="3618" y="1594"/>
                          </a:lnTo>
                          <a:lnTo>
                            <a:pt x="3664" y="1613"/>
                          </a:lnTo>
                          <a:lnTo>
                            <a:pt x="3708" y="1634"/>
                          </a:lnTo>
                          <a:lnTo>
                            <a:pt x="3752" y="1657"/>
                          </a:lnTo>
                          <a:lnTo>
                            <a:pt x="3793" y="1682"/>
                          </a:lnTo>
                          <a:lnTo>
                            <a:pt x="3835" y="1710"/>
                          </a:lnTo>
                          <a:lnTo>
                            <a:pt x="3874" y="1739"/>
                          </a:lnTo>
                          <a:lnTo>
                            <a:pt x="3912" y="1771"/>
                          </a:lnTo>
                          <a:lnTo>
                            <a:pt x="3948" y="1804"/>
                          </a:lnTo>
                          <a:lnTo>
                            <a:pt x="3984" y="1838"/>
                          </a:lnTo>
                          <a:lnTo>
                            <a:pt x="4017" y="1876"/>
                          </a:lnTo>
                          <a:lnTo>
                            <a:pt x="4049" y="1913"/>
                          </a:lnTo>
                          <a:lnTo>
                            <a:pt x="4078" y="1954"/>
                          </a:lnTo>
                          <a:lnTo>
                            <a:pt x="4106" y="1994"/>
                          </a:lnTo>
                          <a:lnTo>
                            <a:pt x="4133" y="2038"/>
                          </a:lnTo>
                          <a:lnTo>
                            <a:pt x="4157" y="2081"/>
                          </a:lnTo>
                          <a:lnTo>
                            <a:pt x="4179" y="2127"/>
                          </a:lnTo>
                          <a:lnTo>
                            <a:pt x="4199" y="2173"/>
                          </a:lnTo>
                          <a:lnTo>
                            <a:pt x="4217" y="2221"/>
                          </a:lnTo>
                          <a:lnTo>
                            <a:pt x="4233" y="2271"/>
                          </a:lnTo>
                          <a:lnTo>
                            <a:pt x="4246" y="2320"/>
                          </a:lnTo>
                          <a:lnTo>
                            <a:pt x="4258" y="2371"/>
                          </a:lnTo>
                          <a:lnTo>
                            <a:pt x="4266" y="2422"/>
                          </a:lnTo>
                          <a:lnTo>
                            <a:pt x="4273" y="2475"/>
                          </a:lnTo>
                          <a:lnTo>
                            <a:pt x="4277" y="2529"/>
                          </a:lnTo>
                          <a:lnTo>
                            <a:pt x="4278" y="2582"/>
                          </a:lnTo>
                          <a:lnTo>
                            <a:pt x="4277" y="2637"/>
                          </a:lnTo>
                          <a:lnTo>
                            <a:pt x="4273" y="2690"/>
                          </a:lnTo>
                          <a:lnTo>
                            <a:pt x="4266" y="2742"/>
                          </a:lnTo>
                          <a:lnTo>
                            <a:pt x="4258" y="2794"/>
                          </a:lnTo>
                          <a:lnTo>
                            <a:pt x="4246" y="2846"/>
                          </a:lnTo>
                          <a:lnTo>
                            <a:pt x="4233" y="2895"/>
                          </a:lnTo>
                          <a:lnTo>
                            <a:pt x="4217" y="2944"/>
                          </a:lnTo>
                          <a:lnTo>
                            <a:pt x="4199" y="2991"/>
                          </a:lnTo>
                          <a:lnTo>
                            <a:pt x="4179" y="3038"/>
                          </a:lnTo>
                          <a:lnTo>
                            <a:pt x="4157" y="3084"/>
                          </a:lnTo>
                          <a:lnTo>
                            <a:pt x="4133" y="3128"/>
                          </a:lnTo>
                          <a:lnTo>
                            <a:pt x="4106" y="3171"/>
                          </a:lnTo>
                          <a:lnTo>
                            <a:pt x="4078" y="3212"/>
                          </a:lnTo>
                          <a:lnTo>
                            <a:pt x="4049" y="3252"/>
                          </a:lnTo>
                          <a:lnTo>
                            <a:pt x="4017" y="3290"/>
                          </a:lnTo>
                          <a:lnTo>
                            <a:pt x="3984" y="3327"/>
                          </a:lnTo>
                          <a:lnTo>
                            <a:pt x="3948" y="3361"/>
                          </a:lnTo>
                          <a:lnTo>
                            <a:pt x="3912" y="3394"/>
                          </a:lnTo>
                          <a:lnTo>
                            <a:pt x="3874" y="3426"/>
                          </a:lnTo>
                          <a:lnTo>
                            <a:pt x="3835" y="3455"/>
                          </a:lnTo>
                          <a:lnTo>
                            <a:pt x="3793" y="3482"/>
                          </a:lnTo>
                          <a:lnTo>
                            <a:pt x="3752" y="3508"/>
                          </a:lnTo>
                          <a:lnTo>
                            <a:pt x="3708" y="3531"/>
                          </a:lnTo>
                          <a:lnTo>
                            <a:pt x="3664" y="3552"/>
                          </a:lnTo>
                          <a:lnTo>
                            <a:pt x="3618" y="3572"/>
                          </a:lnTo>
                          <a:lnTo>
                            <a:pt x="3572" y="3588"/>
                          </a:lnTo>
                          <a:lnTo>
                            <a:pt x="3524" y="3602"/>
                          </a:lnTo>
                          <a:lnTo>
                            <a:pt x="3475" y="3614"/>
                          </a:lnTo>
                          <a:lnTo>
                            <a:pt x="3426" y="3623"/>
                          </a:lnTo>
                          <a:lnTo>
                            <a:pt x="3376" y="3630"/>
                          </a:lnTo>
                          <a:lnTo>
                            <a:pt x="3325" y="3634"/>
                          </a:lnTo>
                          <a:lnTo>
                            <a:pt x="3274" y="3635"/>
                          </a:lnTo>
                          <a:lnTo>
                            <a:pt x="3222" y="3634"/>
                          </a:lnTo>
                          <a:lnTo>
                            <a:pt x="3171" y="3630"/>
                          </a:lnTo>
                          <a:lnTo>
                            <a:pt x="3121" y="3623"/>
                          </a:lnTo>
                          <a:lnTo>
                            <a:pt x="3071" y="3614"/>
                          </a:lnTo>
                          <a:lnTo>
                            <a:pt x="3023" y="3602"/>
                          </a:lnTo>
                          <a:lnTo>
                            <a:pt x="2975" y="3588"/>
                          </a:lnTo>
                          <a:lnTo>
                            <a:pt x="2928" y="3572"/>
                          </a:lnTo>
                          <a:lnTo>
                            <a:pt x="2883" y="3552"/>
                          </a:lnTo>
                          <a:lnTo>
                            <a:pt x="2838" y="3531"/>
                          </a:lnTo>
                          <a:lnTo>
                            <a:pt x="2795" y="3508"/>
                          </a:lnTo>
                          <a:lnTo>
                            <a:pt x="2753" y="3482"/>
                          </a:lnTo>
                          <a:lnTo>
                            <a:pt x="2712" y="3455"/>
                          </a:lnTo>
                          <a:lnTo>
                            <a:pt x="2672" y="3426"/>
                          </a:lnTo>
                          <a:lnTo>
                            <a:pt x="2635" y="3394"/>
                          </a:lnTo>
                          <a:lnTo>
                            <a:pt x="2598" y="3361"/>
                          </a:lnTo>
                          <a:lnTo>
                            <a:pt x="2563" y="3327"/>
                          </a:lnTo>
                          <a:lnTo>
                            <a:pt x="2529" y="3290"/>
                          </a:lnTo>
                          <a:lnTo>
                            <a:pt x="2498" y="3252"/>
                          </a:lnTo>
                          <a:lnTo>
                            <a:pt x="2469" y="3212"/>
                          </a:lnTo>
                          <a:lnTo>
                            <a:pt x="2440" y="3171"/>
                          </a:lnTo>
                          <a:lnTo>
                            <a:pt x="2414" y="3128"/>
                          </a:lnTo>
                          <a:lnTo>
                            <a:pt x="2390" y="3084"/>
                          </a:lnTo>
                          <a:lnTo>
                            <a:pt x="2367" y="3038"/>
                          </a:lnTo>
                          <a:lnTo>
                            <a:pt x="2348" y="2991"/>
                          </a:lnTo>
                          <a:lnTo>
                            <a:pt x="2330" y="2944"/>
                          </a:lnTo>
                          <a:lnTo>
                            <a:pt x="2314" y="2895"/>
                          </a:lnTo>
                          <a:lnTo>
                            <a:pt x="2301" y="2846"/>
                          </a:lnTo>
                          <a:lnTo>
                            <a:pt x="2289" y="2794"/>
                          </a:lnTo>
                          <a:lnTo>
                            <a:pt x="2280" y="2742"/>
                          </a:lnTo>
                          <a:lnTo>
                            <a:pt x="2273" y="2690"/>
                          </a:lnTo>
                          <a:lnTo>
                            <a:pt x="2270" y="2637"/>
                          </a:lnTo>
                          <a:lnTo>
                            <a:pt x="2268" y="2582"/>
                          </a:lnTo>
                          <a:lnTo>
                            <a:pt x="2270" y="2529"/>
                          </a:lnTo>
                          <a:lnTo>
                            <a:pt x="2273" y="2475"/>
                          </a:lnTo>
                          <a:lnTo>
                            <a:pt x="2280" y="2422"/>
                          </a:lnTo>
                          <a:lnTo>
                            <a:pt x="2289" y="2371"/>
                          </a:lnTo>
                          <a:lnTo>
                            <a:pt x="2301" y="2320"/>
                          </a:lnTo>
                          <a:lnTo>
                            <a:pt x="2314" y="2271"/>
                          </a:lnTo>
                          <a:lnTo>
                            <a:pt x="2330" y="2221"/>
                          </a:lnTo>
                          <a:lnTo>
                            <a:pt x="2348" y="2173"/>
                          </a:lnTo>
                          <a:lnTo>
                            <a:pt x="2367" y="2127"/>
                          </a:lnTo>
                          <a:lnTo>
                            <a:pt x="2390" y="2081"/>
                          </a:lnTo>
                          <a:lnTo>
                            <a:pt x="2414" y="2038"/>
                          </a:lnTo>
                          <a:lnTo>
                            <a:pt x="2440" y="1994"/>
                          </a:lnTo>
                          <a:lnTo>
                            <a:pt x="2469" y="1954"/>
                          </a:lnTo>
                          <a:lnTo>
                            <a:pt x="2498" y="1913"/>
                          </a:lnTo>
                          <a:lnTo>
                            <a:pt x="2529" y="1876"/>
                          </a:lnTo>
                          <a:lnTo>
                            <a:pt x="2563" y="1838"/>
                          </a:lnTo>
                          <a:lnTo>
                            <a:pt x="2598" y="1804"/>
                          </a:lnTo>
                          <a:lnTo>
                            <a:pt x="2635" y="1771"/>
                          </a:lnTo>
                          <a:lnTo>
                            <a:pt x="2672" y="1739"/>
                          </a:lnTo>
                          <a:lnTo>
                            <a:pt x="2712" y="1710"/>
                          </a:lnTo>
                          <a:lnTo>
                            <a:pt x="2753" y="1682"/>
                          </a:lnTo>
                          <a:lnTo>
                            <a:pt x="2795" y="1657"/>
                          </a:lnTo>
                          <a:lnTo>
                            <a:pt x="2838" y="1634"/>
                          </a:lnTo>
                          <a:lnTo>
                            <a:pt x="2883" y="1613"/>
                          </a:lnTo>
                          <a:lnTo>
                            <a:pt x="2928" y="1594"/>
                          </a:lnTo>
                          <a:lnTo>
                            <a:pt x="2975" y="1577"/>
                          </a:lnTo>
                          <a:lnTo>
                            <a:pt x="3023" y="1563"/>
                          </a:lnTo>
                          <a:lnTo>
                            <a:pt x="3071" y="1552"/>
                          </a:lnTo>
                          <a:lnTo>
                            <a:pt x="3121" y="1543"/>
                          </a:lnTo>
                          <a:lnTo>
                            <a:pt x="3171" y="1536"/>
                          </a:lnTo>
                          <a:lnTo>
                            <a:pt x="3222" y="1532"/>
                          </a:lnTo>
                          <a:lnTo>
                            <a:pt x="3274" y="1530"/>
                          </a:lnTo>
                          <a:close/>
                        </a:path>
                      </a:pathLst>
                    </a:custGeom>
                    <a:solidFill>
                      <a:srgbClr val="FFFFFF"/>
                    </a:solidFill>
                    <a:ln w="9525">
                      <a:solidFill>
                        <a:sysClr val="windowText" lastClr="000000"/>
                      </a:solidFill>
                      <a:round/>
                      <a:headEnd/>
                      <a:tailEnd/>
                    </a:ln>
                  </p:spPr>
                  <p:txBody>
                    <a:bodyPr/>
                    <a:lstStyle/>
                    <a:p>
                      <a:pPr algn="ctr" defTabSz="1232809" hangingPunct="1">
                        <a:defRPr/>
                      </a:pPr>
                      <a:endParaRPr lang="en-US" sz="1600" dirty="0">
                        <a:solidFill>
                          <a:srgbClr val="2D2015"/>
                        </a:solidFill>
                        <a:latin typeface="Arial" panose="020B0604020202020204" pitchFamily="34" charset="0"/>
                        <a:ea typeface="微软雅黑" pitchFamily="34" charset="-122"/>
                        <a:cs typeface="Arial" panose="020B0604020202020204" pitchFamily="34" charset="0"/>
                      </a:endParaRPr>
                    </a:p>
                  </p:txBody>
                </p:sp>
              </p:grpSp>
              <p:cxnSp>
                <p:nvCxnSpPr>
                  <p:cNvPr id="70" name="直接连接符 326"/>
                  <p:cNvCxnSpPr>
                    <a:stCxn id="98" idx="3"/>
                    <a:endCxn id="94" idx="1"/>
                  </p:cNvCxnSpPr>
                  <p:nvPr/>
                </p:nvCxnSpPr>
                <p:spPr>
                  <a:xfrm flipV="1">
                    <a:off x="6986062" y="4115464"/>
                    <a:ext cx="295083" cy="2957"/>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pic>
                <p:nvPicPr>
                  <p:cNvPr id="71" name="Picture 8" descr="绘图1"/>
                  <p:cNvPicPr>
                    <a:picLocks noChangeAspect="1" noChangeArrowheads="1"/>
                  </p:cNvPicPr>
                  <p:nvPr/>
                </p:nvPicPr>
                <p:blipFill>
                  <a:blip r:embed="rId7" cstate="print"/>
                  <a:srcRect/>
                  <a:stretch>
                    <a:fillRect/>
                  </a:stretch>
                </p:blipFill>
                <p:spPr bwMode="auto">
                  <a:xfrm>
                    <a:off x="9610490" y="2432421"/>
                    <a:ext cx="383778" cy="393987"/>
                  </a:xfrm>
                  <a:prstGeom prst="rect">
                    <a:avLst/>
                  </a:prstGeom>
                  <a:noFill/>
                  <a:ln w="9525">
                    <a:noFill/>
                    <a:miter lim="800000"/>
                    <a:headEnd/>
                    <a:tailEnd/>
                  </a:ln>
                </p:spPr>
              </p:pic>
              <p:pic>
                <p:nvPicPr>
                  <p:cNvPr id="72" name="Picture 128" descr="图片24"/>
                  <p:cNvPicPr preferRelativeResize="0">
                    <a:picLocks noChangeArrowheads="1"/>
                  </p:cNvPicPr>
                  <p:nvPr/>
                </p:nvPicPr>
                <p:blipFill>
                  <a:blip r:embed="rId6" cstate="print"/>
                  <a:srcRect/>
                  <a:stretch>
                    <a:fillRect/>
                  </a:stretch>
                </p:blipFill>
                <p:spPr bwMode="auto">
                  <a:xfrm>
                    <a:off x="9661159" y="3637546"/>
                    <a:ext cx="270688" cy="372915"/>
                  </a:xfrm>
                  <a:prstGeom prst="rect">
                    <a:avLst/>
                  </a:prstGeom>
                  <a:noFill/>
                  <a:ln w="9525">
                    <a:noFill/>
                    <a:miter lim="800000"/>
                    <a:headEnd/>
                    <a:tailEnd/>
                  </a:ln>
                </p:spPr>
              </p:pic>
              <p:cxnSp>
                <p:nvCxnSpPr>
                  <p:cNvPr id="73" name="直接连接符 72"/>
                  <p:cNvCxnSpPr>
                    <a:stCxn id="71" idx="2"/>
                    <a:endCxn id="72" idx="0"/>
                  </p:cNvCxnSpPr>
                  <p:nvPr/>
                </p:nvCxnSpPr>
                <p:spPr bwMode="auto">
                  <a:xfrm flipH="1">
                    <a:off x="9796502" y="2826409"/>
                    <a:ext cx="5878" cy="811138"/>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4" name="Picture 8" descr="绘图1"/>
                  <p:cNvPicPr>
                    <a:picLocks noChangeAspect="1" noChangeArrowheads="1"/>
                  </p:cNvPicPr>
                  <p:nvPr/>
                </p:nvPicPr>
                <p:blipFill>
                  <a:blip r:embed="rId7" cstate="print"/>
                  <a:srcRect/>
                  <a:stretch>
                    <a:fillRect/>
                  </a:stretch>
                </p:blipFill>
                <p:spPr bwMode="auto">
                  <a:xfrm>
                    <a:off x="8983889" y="3041422"/>
                    <a:ext cx="383778" cy="393987"/>
                  </a:xfrm>
                  <a:prstGeom prst="rect">
                    <a:avLst/>
                  </a:prstGeom>
                  <a:noFill/>
                  <a:ln w="9525">
                    <a:noFill/>
                    <a:miter lim="800000"/>
                    <a:headEnd/>
                    <a:tailEnd/>
                  </a:ln>
                </p:spPr>
              </p:pic>
              <p:pic>
                <p:nvPicPr>
                  <p:cNvPr id="75" name="Picture 8" descr="绘图1"/>
                  <p:cNvPicPr>
                    <a:picLocks noChangeAspect="1" noChangeArrowheads="1"/>
                  </p:cNvPicPr>
                  <p:nvPr/>
                </p:nvPicPr>
                <p:blipFill>
                  <a:blip r:embed="rId7" cstate="print"/>
                  <a:srcRect/>
                  <a:stretch>
                    <a:fillRect/>
                  </a:stretch>
                </p:blipFill>
                <p:spPr bwMode="auto">
                  <a:xfrm>
                    <a:off x="9728515" y="2914302"/>
                    <a:ext cx="383778" cy="393987"/>
                  </a:xfrm>
                  <a:prstGeom prst="rect">
                    <a:avLst/>
                  </a:prstGeom>
                  <a:noFill/>
                  <a:ln w="9525">
                    <a:noFill/>
                    <a:miter lim="800000"/>
                    <a:headEnd/>
                    <a:tailEnd/>
                  </a:ln>
                </p:spPr>
              </p:pic>
              <p:cxnSp>
                <p:nvCxnSpPr>
                  <p:cNvPr id="76" name="直接连接符 75"/>
                  <p:cNvCxnSpPr>
                    <a:stCxn id="75" idx="2"/>
                    <a:endCxn id="63" idx="0"/>
                  </p:cNvCxnSpPr>
                  <p:nvPr/>
                </p:nvCxnSpPr>
                <p:spPr bwMode="auto">
                  <a:xfrm flipH="1">
                    <a:off x="9914530" y="3308289"/>
                    <a:ext cx="5876" cy="633757"/>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stCxn id="40" idx="3"/>
                    <a:endCxn id="54" idx="1"/>
                  </p:cNvCxnSpPr>
                  <p:nvPr/>
                </p:nvCxnSpPr>
                <p:spPr bwMode="auto">
                  <a:xfrm>
                    <a:off x="7039563" y="2490779"/>
                    <a:ext cx="978674" cy="180027"/>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连接符 77"/>
                  <p:cNvCxnSpPr>
                    <a:stCxn id="39" idx="3"/>
                    <a:endCxn id="53" idx="1"/>
                  </p:cNvCxnSpPr>
                  <p:nvPr/>
                </p:nvCxnSpPr>
                <p:spPr bwMode="auto">
                  <a:xfrm flipV="1">
                    <a:off x="7221964" y="3117210"/>
                    <a:ext cx="888546" cy="174730"/>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9" name="Picture 5" descr="绘图1"/>
                  <p:cNvPicPr>
                    <a:picLocks noChangeAspect="1" noChangeArrowheads="1"/>
                  </p:cNvPicPr>
                  <p:nvPr/>
                </p:nvPicPr>
                <p:blipFill>
                  <a:blip r:embed="rId4" cstate="print"/>
                  <a:srcRect/>
                  <a:stretch>
                    <a:fillRect/>
                  </a:stretch>
                </p:blipFill>
                <p:spPr bwMode="auto">
                  <a:xfrm>
                    <a:off x="4355517" y="2700705"/>
                    <a:ext cx="383778" cy="300934"/>
                  </a:xfrm>
                  <a:prstGeom prst="rect">
                    <a:avLst/>
                  </a:prstGeom>
                  <a:noFill/>
                  <a:ln w="9525">
                    <a:noFill/>
                    <a:miter lim="800000"/>
                    <a:headEnd/>
                    <a:tailEnd/>
                  </a:ln>
                </p:spPr>
              </p:pic>
              <p:cxnSp>
                <p:nvCxnSpPr>
                  <p:cNvPr id="80" name="直接箭头连接符 79"/>
                  <p:cNvCxnSpPr/>
                  <p:nvPr/>
                </p:nvCxnSpPr>
                <p:spPr bwMode="auto">
                  <a:xfrm>
                    <a:off x="4552962" y="4714372"/>
                    <a:ext cx="1377665" cy="0"/>
                  </a:xfrm>
                  <a:prstGeom prst="straightConnector1">
                    <a:avLst/>
                  </a:prstGeom>
                  <a:noFill/>
                  <a:ln w="9525" cap="flat" cmpd="sng" algn="ctr">
                    <a:solidFill>
                      <a:sysClr val="windowText" lastClr="000000">
                        <a:lumMod val="50000"/>
                      </a:sysClr>
                    </a:solidFill>
                    <a:prstDash val="sysDash"/>
                    <a:round/>
                    <a:headEnd type="triangl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直接箭头连接符 80"/>
                  <p:cNvCxnSpPr/>
                  <p:nvPr/>
                </p:nvCxnSpPr>
                <p:spPr bwMode="auto">
                  <a:xfrm flipV="1">
                    <a:off x="5968932" y="4696209"/>
                    <a:ext cx="2141577" cy="31501"/>
                  </a:xfrm>
                  <a:prstGeom prst="straightConnector1">
                    <a:avLst/>
                  </a:prstGeom>
                  <a:noFill/>
                  <a:ln w="9525" cap="flat" cmpd="sng" algn="ctr">
                    <a:solidFill>
                      <a:sysClr val="windowText" lastClr="000000">
                        <a:lumMod val="50000"/>
                      </a:sysClr>
                    </a:solidFill>
                    <a:prstDash val="sysDash"/>
                    <a:round/>
                    <a:headEnd type="triangl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82" name="Picture 5" descr="绘图1"/>
                  <p:cNvPicPr>
                    <a:picLocks noChangeAspect="1" noChangeArrowheads="1"/>
                  </p:cNvPicPr>
                  <p:nvPr/>
                </p:nvPicPr>
                <p:blipFill>
                  <a:blip r:embed="rId4" cstate="print"/>
                  <a:srcRect/>
                  <a:stretch>
                    <a:fillRect/>
                  </a:stretch>
                </p:blipFill>
                <p:spPr bwMode="auto">
                  <a:xfrm>
                    <a:off x="7237323" y="2768975"/>
                    <a:ext cx="383778" cy="300934"/>
                  </a:xfrm>
                  <a:prstGeom prst="rect">
                    <a:avLst/>
                  </a:prstGeom>
                  <a:noFill/>
                  <a:ln w="9525">
                    <a:noFill/>
                    <a:miter lim="800000"/>
                    <a:headEnd/>
                    <a:tailEnd/>
                  </a:ln>
                </p:spPr>
              </p:pic>
              <p:cxnSp>
                <p:nvCxnSpPr>
                  <p:cNvPr id="83" name="直接箭头连接符 82"/>
                  <p:cNvCxnSpPr/>
                  <p:nvPr/>
                </p:nvCxnSpPr>
                <p:spPr bwMode="auto">
                  <a:xfrm>
                    <a:off x="8189845" y="4695969"/>
                    <a:ext cx="1909848" cy="0"/>
                  </a:xfrm>
                  <a:prstGeom prst="straightConnector1">
                    <a:avLst/>
                  </a:prstGeom>
                  <a:noFill/>
                  <a:ln w="9525" cap="flat" cmpd="sng" algn="ctr">
                    <a:solidFill>
                      <a:sysClr val="windowText" lastClr="000000">
                        <a:lumMod val="50000"/>
                      </a:sysClr>
                    </a:solidFill>
                    <a:prstDash val="sysDash"/>
                    <a:round/>
                    <a:headEnd type="triangl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4" name="TextBox 638"/>
                  <p:cNvSpPr txBox="1"/>
                  <p:nvPr/>
                </p:nvSpPr>
                <p:spPr>
                  <a:xfrm>
                    <a:off x="6802660" y="4631664"/>
                    <a:ext cx="685695" cy="514352"/>
                  </a:xfrm>
                  <a:prstGeom prst="rect">
                    <a:avLst/>
                  </a:prstGeom>
                </p:spPr>
                <p:txBody>
                  <a:bodyPr wrap="square" rtlCol="0">
                    <a:spAutoFit/>
                  </a:bodyPr>
                  <a:lstStyle/>
                  <a:p>
                    <a:pPr defTabSz="1217635" hangingPunct="1"/>
                    <a:r>
                      <a:rPr lang="zh-CN" altLang="en-US" sz="1100" kern="1200" dirty="0">
                        <a:solidFill>
                          <a:prstClr val="black"/>
                        </a:solidFill>
                        <a:latin typeface="Arial" panose="020B0604020202020204" pitchFamily="34" charset="0"/>
                        <a:ea typeface="微软雅黑" pitchFamily="34" charset="-122"/>
                        <a:cs typeface="Arial" panose="020B0604020202020204" pitchFamily="34" charset="0"/>
                      </a:rPr>
                      <a:t>汇聚</a:t>
                    </a:r>
                  </a:p>
                </p:txBody>
              </p:sp>
              <p:sp>
                <p:nvSpPr>
                  <p:cNvPr id="85" name="TextBox 639"/>
                  <p:cNvSpPr txBox="1"/>
                  <p:nvPr/>
                </p:nvSpPr>
                <p:spPr>
                  <a:xfrm>
                    <a:off x="8880010" y="4638020"/>
                    <a:ext cx="499075" cy="514352"/>
                  </a:xfrm>
                  <a:prstGeom prst="rect">
                    <a:avLst/>
                  </a:prstGeom>
                </p:spPr>
                <p:txBody>
                  <a:bodyPr wrap="none" rtlCol="0">
                    <a:spAutoFit/>
                  </a:bodyPr>
                  <a:lstStyle/>
                  <a:p>
                    <a:pPr defTabSz="1217635" hangingPunct="1"/>
                    <a:r>
                      <a:rPr lang="zh-CN" altLang="en-US" sz="1100" kern="1200" dirty="0">
                        <a:solidFill>
                          <a:prstClr val="black"/>
                        </a:solidFill>
                        <a:latin typeface="Arial" panose="020B0604020202020204" pitchFamily="34" charset="0"/>
                        <a:ea typeface="微软雅黑" pitchFamily="34" charset="-122"/>
                        <a:cs typeface="Arial" panose="020B0604020202020204" pitchFamily="34" charset="0"/>
                      </a:rPr>
                      <a:t>核心</a:t>
                    </a:r>
                  </a:p>
                </p:txBody>
              </p:sp>
              <p:cxnSp>
                <p:nvCxnSpPr>
                  <p:cNvPr id="86" name="直接连接符 85"/>
                  <p:cNvCxnSpPr>
                    <a:stCxn id="82" idx="2"/>
                    <a:endCxn id="94" idx="0"/>
                  </p:cNvCxnSpPr>
                  <p:nvPr/>
                </p:nvCxnSpPr>
                <p:spPr bwMode="auto">
                  <a:xfrm flipH="1">
                    <a:off x="7409353" y="3069910"/>
                    <a:ext cx="19859" cy="941734"/>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7" name="Freeform 203"/>
                  <p:cNvSpPr>
                    <a:spLocks/>
                  </p:cNvSpPr>
                  <p:nvPr/>
                </p:nvSpPr>
                <p:spPr bwMode="auto">
                  <a:xfrm>
                    <a:off x="9502138" y="1739568"/>
                    <a:ext cx="802717" cy="613776"/>
                  </a:xfrm>
                  <a:custGeom>
                    <a:avLst/>
                    <a:gdLst/>
                    <a:ahLst/>
                    <a:cxnLst>
                      <a:cxn ang="0">
                        <a:pos x="329" y="121"/>
                      </a:cxn>
                      <a:cxn ang="0">
                        <a:pos x="326" y="121"/>
                      </a:cxn>
                      <a:cxn ang="0">
                        <a:pos x="326" y="119"/>
                      </a:cxn>
                      <a:cxn ang="0">
                        <a:pos x="257" y="49"/>
                      </a:cxn>
                      <a:cxn ang="0">
                        <a:pos x="227" y="56"/>
                      </a:cxn>
                      <a:cxn ang="0">
                        <a:pos x="147" y="0"/>
                      </a:cxn>
                      <a:cxn ang="0">
                        <a:pos x="63" y="85"/>
                      </a:cxn>
                      <a:cxn ang="0">
                        <a:pos x="63" y="94"/>
                      </a:cxn>
                      <a:cxn ang="0">
                        <a:pos x="0" y="158"/>
                      </a:cxn>
                      <a:cxn ang="0">
                        <a:pos x="63" y="223"/>
                      </a:cxn>
                      <a:cxn ang="0">
                        <a:pos x="63" y="223"/>
                      </a:cxn>
                      <a:cxn ang="0">
                        <a:pos x="326" y="223"/>
                      </a:cxn>
                      <a:cxn ang="0">
                        <a:pos x="326" y="223"/>
                      </a:cxn>
                      <a:cxn ang="0">
                        <a:pos x="329" y="223"/>
                      </a:cxn>
                      <a:cxn ang="0">
                        <a:pos x="380" y="172"/>
                      </a:cxn>
                      <a:cxn ang="0">
                        <a:pos x="329" y="121"/>
                      </a:cxn>
                    </a:cxnLst>
                    <a:rect l="0" t="0" r="r" b="b"/>
                    <a:pathLst>
                      <a:path w="380" h="223">
                        <a:moveTo>
                          <a:pt x="329" y="121"/>
                        </a:moveTo>
                        <a:cubicBezTo>
                          <a:pt x="328" y="121"/>
                          <a:pt x="327" y="121"/>
                          <a:pt x="326" y="121"/>
                        </a:cubicBezTo>
                        <a:cubicBezTo>
                          <a:pt x="326" y="120"/>
                          <a:pt x="326" y="119"/>
                          <a:pt x="326" y="119"/>
                        </a:cubicBezTo>
                        <a:cubicBezTo>
                          <a:pt x="326" y="80"/>
                          <a:pt x="295" y="49"/>
                          <a:pt x="257" y="49"/>
                        </a:cubicBezTo>
                        <a:cubicBezTo>
                          <a:pt x="246" y="49"/>
                          <a:pt x="236" y="51"/>
                          <a:pt x="227" y="56"/>
                        </a:cubicBezTo>
                        <a:cubicBezTo>
                          <a:pt x="215" y="23"/>
                          <a:pt x="184" y="0"/>
                          <a:pt x="147" y="0"/>
                        </a:cubicBezTo>
                        <a:cubicBezTo>
                          <a:pt x="101" y="0"/>
                          <a:pt x="63" y="38"/>
                          <a:pt x="63" y="85"/>
                        </a:cubicBezTo>
                        <a:cubicBezTo>
                          <a:pt x="63" y="88"/>
                          <a:pt x="63" y="91"/>
                          <a:pt x="63" y="94"/>
                        </a:cubicBezTo>
                        <a:cubicBezTo>
                          <a:pt x="28" y="94"/>
                          <a:pt x="0" y="123"/>
                          <a:pt x="0" y="158"/>
                        </a:cubicBezTo>
                        <a:cubicBezTo>
                          <a:pt x="0" y="194"/>
                          <a:pt x="28" y="222"/>
                          <a:pt x="63" y="223"/>
                        </a:cubicBezTo>
                        <a:cubicBezTo>
                          <a:pt x="63" y="223"/>
                          <a:pt x="63" y="223"/>
                          <a:pt x="63" y="223"/>
                        </a:cubicBezTo>
                        <a:cubicBezTo>
                          <a:pt x="326" y="223"/>
                          <a:pt x="326" y="223"/>
                          <a:pt x="326" y="223"/>
                        </a:cubicBezTo>
                        <a:cubicBezTo>
                          <a:pt x="326" y="223"/>
                          <a:pt x="326" y="223"/>
                          <a:pt x="326" y="223"/>
                        </a:cubicBezTo>
                        <a:cubicBezTo>
                          <a:pt x="327" y="223"/>
                          <a:pt x="328" y="223"/>
                          <a:pt x="329" y="223"/>
                        </a:cubicBezTo>
                        <a:cubicBezTo>
                          <a:pt x="357" y="223"/>
                          <a:pt x="380" y="200"/>
                          <a:pt x="380" y="172"/>
                        </a:cubicBezTo>
                        <a:cubicBezTo>
                          <a:pt x="380" y="144"/>
                          <a:pt x="357" y="121"/>
                          <a:pt x="329" y="121"/>
                        </a:cubicBezTo>
                        <a:close/>
                      </a:path>
                    </a:pathLst>
                  </a:custGeom>
                  <a:gradFill flip="none" rotWithShape="1">
                    <a:gsLst>
                      <a:gs pos="0">
                        <a:srgbClr val="00292E">
                          <a:alpha val="5000"/>
                        </a:srgbClr>
                      </a:gs>
                      <a:gs pos="100000">
                        <a:srgbClr val="00B6F6">
                          <a:alpha val="60000"/>
                        </a:srgbClr>
                      </a:gs>
                    </a:gsLst>
                    <a:path path="circle">
                      <a:fillToRect l="100000" t="100000"/>
                    </a:path>
                    <a:tileRect r="-100000" b="-100000"/>
                  </a:gradFill>
                  <a:ln w="28575">
                    <a:solidFill>
                      <a:sysClr val="window" lastClr="FFFFFF"/>
                    </a:solidFill>
                    <a:round/>
                    <a:headEnd/>
                    <a:tailEnd/>
                  </a:ln>
                </p:spPr>
                <p:txBody>
                  <a:bodyPr wrap="none" lIns="0" tIns="0" rIns="0" bIns="0"/>
                  <a:lstStyle/>
                  <a:p>
                    <a:pPr indent="-179920" algn="ctr" defTabSz="1218866" hangingPunct="1">
                      <a:lnSpc>
                        <a:spcPts val="2799"/>
                      </a:lnSpc>
                      <a:buFont typeface="Arial" pitchFamily="34" charset="0"/>
                      <a:buChar char="•"/>
                      <a:defRPr/>
                    </a:pPr>
                    <a:endParaRPr lang="zh-CN" altLang="en-US" sz="800"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88" name="文本框 87"/>
                  <p:cNvSpPr txBox="1"/>
                  <p:nvPr/>
                </p:nvSpPr>
                <p:spPr>
                  <a:xfrm>
                    <a:off x="6483716" y="5029499"/>
                    <a:ext cx="1626793" cy="605121"/>
                  </a:xfrm>
                  <a:prstGeom prst="rect">
                    <a:avLst/>
                  </a:prstGeom>
                  <a:noFill/>
                </p:spPr>
                <p:txBody>
                  <a:bodyPr wrap="none" rtlCol="0">
                    <a:spAutoFit/>
                  </a:bodyPr>
                  <a:lstStyle/>
                  <a:p>
                    <a:pPr defTabSz="1217635" hangingPunct="1"/>
                    <a:r>
                      <a:rPr lang="en-US" altLang="zh-CN" sz="1400" b="1" kern="1200" dirty="0">
                        <a:solidFill>
                          <a:prstClr val="white"/>
                        </a:solidFill>
                        <a:latin typeface="Arial" panose="020B0604020202020204" pitchFamily="34" charset="0"/>
                        <a:cs typeface="Arial" panose="020B0604020202020204" pitchFamily="34" charset="0"/>
                      </a:rPr>
                      <a:t>SRv6</a:t>
                    </a:r>
                    <a:r>
                      <a:rPr lang="zh-CN" altLang="en-US" sz="1400" b="1" kern="1200" dirty="0">
                        <a:solidFill>
                          <a:prstClr val="white"/>
                        </a:solidFill>
                        <a:latin typeface="Arial" panose="020B0604020202020204" pitchFamily="34" charset="0"/>
                        <a:cs typeface="Arial" panose="020B0604020202020204" pitchFamily="34" charset="0"/>
                      </a:rPr>
                      <a:t>端到端部署</a:t>
                    </a:r>
                    <a:endParaRPr lang="en-US" sz="1400" b="1" kern="1200" dirty="0">
                      <a:solidFill>
                        <a:prstClr val="white"/>
                      </a:solidFill>
                      <a:latin typeface="Arial" panose="020B0604020202020204" pitchFamily="34" charset="0"/>
                      <a:cs typeface="Arial" panose="020B0604020202020204" pitchFamily="34" charset="0"/>
                    </a:endParaRPr>
                  </a:p>
                </p:txBody>
              </p:sp>
              <p:cxnSp>
                <p:nvCxnSpPr>
                  <p:cNvPr id="89" name="直接连接符 88"/>
                  <p:cNvCxnSpPr/>
                  <p:nvPr/>
                </p:nvCxnSpPr>
                <p:spPr>
                  <a:xfrm flipV="1">
                    <a:off x="4502214" y="5114048"/>
                    <a:ext cx="5610079" cy="4239"/>
                  </a:xfrm>
                  <a:prstGeom prst="line">
                    <a:avLst/>
                  </a:prstGeom>
                  <a:noFill/>
                  <a:ln w="9525" cap="flat" cmpd="sng" algn="ctr">
                    <a:solidFill>
                      <a:sysClr val="window" lastClr="FFFFFF">
                        <a:lumMod val="50000"/>
                      </a:sysClr>
                    </a:solidFill>
                    <a:prstDash val="dash"/>
                  </a:ln>
                  <a:effectLst/>
                </p:spPr>
              </p:cxnSp>
              <p:cxnSp>
                <p:nvCxnSpPr>
                  <p:cNvPr id="90" name="直接连接符 89"/>
                  <p:cNvCxnSpPr/>
                  <p:nvPr/>
                </p:nvCxnSpPr>
                <p:spPr>
                  <a:xfrm>
                    <a:off x="10137181" y="3573809"/>
                    <a:ext cx="10962" cy="1774466"/>
                  </a:xfrm>
                  <a:prstGeom prst="line">
                    <a:avLst/>
                  </a:prstGeom>
                  <a:noFill/>
                  <a:ln w="9525" cap="flat" cmpd="sng" algn="ctr">
                    <a:solidFill>
                      <a:srgbClr val="4F81BD">
                        <a:shade val="95000"/>
                        <a:satMod val="105000"/>
                      </a:srgbClr>
                    </a:solidFill>
                    <a:prstDash val="dash"/>
                  </a:ln>
                  <a:effectLst/>
                </p:spPr>
              </p:cxnSp>
              <p:cxnSp>
                <p:nvCxnSpPr>
                  <p:cNvPr id="91" name="直接连接符 90"/>
                  <p:cNvCxnSpPr/>
                  <p:nvPr/>
                </p:nvCxnSpPr>
                <p:spPr>
                  <a:xfrm flipH="1">
                    <a:off x="4447430" y="3750834"/>
                    <a:ext cx="10240" cy="1682125"/>
                  </a:xfrm>
                  <a:prstGeom prst="line">
                    <a:avLst/>
                  </a:prstGeom>
                  <a:noFill/>
                  <a:ln w="9525" cap="flat" cmpd="sng" algn="ctr">
                    <a:solidFill>
                      <a:srgbClr val="4F81BD">
                        <a:shade val="95000"/>
                        <a:satMod val="105000"/>
                      </a:srgbClr>
                    </a:solidFill>
                    <a:prstDash val="dash"/>
                  </a:ln>
                  <a:effectLst/>
                </p:spPr>
              </p:cxnSp>
              <p:sp>
                <p:nvSpPr>
                  <p:cNvPr id="92" name="TextBox 638"/>
                  <p:cNvSpPr txBox="1"/>
                  <p:nvPr/>
                </p:nvSpPr>
                <p:spPr>
                  <a:xfrm>
                    <a:off x="5039820" y="4656380"/>
                    <a:ext cx="499075" cy="514352"/>
                  </a:xfrm>
                  <a:prstGeom prst="rect">
                    <a:avLst/>
                  </a:prstGeom>
                </p:spPr>
                <p:txBody>
                  <a:bodyPr wrap="none" rtlCol="0">
                    <a:spAutoFit/>
                  </a:bodyPr>
                  <a:lstStyle/>
                  <a:p>
                    <a:pPr defTabSz="1217635" hangingPunct="1"/>
                    <a:r>
                      <a:rPr lang="zh-CN" altLang="en-US" sz="1050" kern="1200" dirty="0">
                        <a:solidFill>
                          <a:prstClr val="black"/>
                        </a:solidFill>
                        <a:latin typeface="Arial" panose="020B0604020202020204" pitchFamily="34" charset="0"/>
                        <a:ea typeface="微软雅黑" pitchFamily="34" charset="-122"/>
                        <a:cs typeface="Arial" panose="020B0604020202020204" pitchFamily="34" charset="0"/>
                      </a:rPr>
                      <a:t>接入</a:t>
                    </a:r>
                  </a:p>
                </p:txBody>
              </p:sp>
              <p:sp>
                <p:nvSpPr>
                  <p:cNvPr id="93" name="文本框 92"/>
                  <p:cNvSpPr txBox="1"/>
                  <p:nvPr/>
                </p:nvSpPr>
                <p:spPr>
                  <a:xfrm>
                    <a:off x="5348060" y="1856511"/>
                    <a:ext cx="1670297" cy="417124"/>
                  </a:xfrm>
                  <a:prstGeom prst="rect">
                    <a:avLst/>
                  </a:prstGeom>
                  <a:noFill/>
                </p:spPr>
                <p:txBody>
                  <a:bodyPr wrap="none" rtlCol="0">
                    <a:spAutoFit/>
                  </a:bodyPr>
                  <a:lstStyle/>
                  <a:p>
                    <a:pPr defTabSz="1217635" hangingPunct="1"/>
                    <a:r>
                      <a:rPr lang="en-US" altLang="zh-CN" sz="1050" kern="1200" dirty="0">
                        <a:solidFill>
                          <a:prstClr val="black"/>
                        </a:solidFill>
                        <a:latin typeface="Arial" panose="020B0604020202020204" pitchFamily="34" charset="0"/>
                        <a:cs typeface="Arial" panose="020B0604020202020204" pitchFamily="34" charset="0"/>
                      </a:rPr>
                      <a:t>SRv6</a:t>
                    </a:r>
                    <a:r>
                      <a:rPr lang="zh-CN" altLang="en-US" sz="1050" kern="1200" dirty="0">
                        <a:solidFill>
                          <a:prstClr val="black"/>
                        </a:solidFill>
                        <a:latin typeface="Arial" panose="020B0604020202020204" pitchFamily="34" charset="0"/>
                        <a:cs typeface="Arial" panose="020B0604020202020204" pitchFamily="34" charset="0"/>
                      </a:rPr>
                      <a:t>端到端隧道</a:t>
                    </a:r>
                    <a:endParaRPr lang="en-US" sz="1050" kern="1200" dirty="0">
                      <a:solidFill>
                        <a:prstClr val="black"/>
                      </a:solidFill>
                      <a:latin typeface="Arial" panose="020B0604020202020204" pitchFamily="34" charset="0"/>
                      <a:cs typeface="Arial" panose="020B0604020202020204" pitchFamily="34" charset="0"/>
                    </a:endParaRPr>
                  </a:p>
                </p:txBody>
              </p:sp>
            </p:grpSp>
            <p:grpSp>
              <p:nvGrpSpPr>
                <p:cNvPr id="20" name="组合 19"/>
                <p:cNvGrpSpPr/>
                <p:nvPr/>
              </p:nvGrpSpPr>
              <p:grpSpPr>
                <a:xfrm>
                  <a:off x="5862601" y="4054850"/>
                  <a:ext cx="4165023" cy="2028883"/>
                  <a:chOff x="5862601" y="4054850"/>
                  <a:chExt cx="5125843" cy="2028883"/>
                </a:xfrm>
              </p:grpSpPr>
              <p:sp>
                <p:nvSpPr>
                  <p:cNvPr id="21" name="上下箭头 20"/>
                  <p:cNvSpPr/>
                  <p:nvPr/>
                </p:nvSpPr>
                <p:spPr>
                  <a:xfrm rot="5400000">
                    <a:off x="8326313" y="3421601"/>
                    <a:ext cx="198420" cy="5125843"/>
                  </a:xfrm>
                  <a:prstGeom prst="upDownArrow">
                    <a:avLst>
                      <a:gd name="adj1" fmla="val 61125"/>
                      <a:gd name="adj2" fmla="val 47219"/>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 name="文本框 21"/>
                  <p:cNvSpPr txBox="1"/>
                  <p:nvPr/>
                </p:nvSpPr>
                <p:spPr>
                  <a:xfrm>
                    <a:off x="8290765" y="4054850"/>
                    <a:ext cx="569388" cy="246221"/>
                  </a:xfrm>
                  <a:prstGeom prst="rect">
                    <a:avLst/>
                  </a:prstGeom>
                  <a:solidFill>
                    <a:schemeClr val="bg1">
                      <a:lumMod val="95000"/>
                    </a:schemeClr>
                  </a:solidFill>
                </p:spPr>
                <p:txBody>
                  <a:bodyPr wrap="none" rtlCol="0">
                    <a:spAutoFit/>
                  </a:bodyPr>
                  <a:lstStyle/>
                  <a:p>
                    <a:r>
                      <a:rPr lang="zh-CN" altLang="en-US" sz="1000" dirty="0"/>
                      <a:t>控制器</a:t>
                    </a:r>
                  </a:p>
                </p:txBody>
              </p:sp>
              <p:cxnSp>
                <p:nvCxnSpPr>
                  <p:cNvPr id="23" name="直接箭头连接符 22"/>
                  <p:cNvCxnSpPr>
                    <a:stCxn id="22" idx="2"/>
                    <a:endCxn id="79" idx="0"/>
                  </p:cNvCxnSpPr>
                  <p:nvPr/>
                </p:nvCxnSpPr>
                <p:spPr>
                  <a:xfrm flipH="1">
                    <a:off x="5953862" y="4301071"/>
                    <a:ext cx="2621596" cy="436049"/>
                  </a:xfrm>
                  <a:prstGeom prst="straightConnector1">
                    <a:avLst/>
                  </a:prstGeom>
                  <a:ln>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4" name="直接箭头连接符 23"/>
                  <p:cNvCxnSpPr>
                    <a:stCxn id="22" idx="2"/>
                    <a:endCxn id="71" idx="0"/>
                  </p:cNvCxnSpPr>
                  <p:nvPr/>
                </p:nvCxnSpPr>
                <p:spPr>
                  <a:xfrm>
                    <a:off x="8575459" y="4301071"/>
                    <a:ext cx="2111438" cy="299594"/>
                  </a:xfrm>
                  <a:prstGeom prst="straightConnector1">
                    <a:avLst/>
                  </a:prstGeom>
                  <a:ln>
                    <a:prstDash val="dash"/>
                    <a:tailEnd type="triangle"/>
                  </a:ln>
                </p:spPr>
                <p:style>
                  <a:lnRef idx="1">
                    <a:schemeClr val="accent1"/>
                  </a:lnRef>
                  <a:fillRef idx="0">
                    <a:schemeClr val="accent1"/>
                  </a:fillRef>
                  <a:effectRef idx="0">
                    <a:schemeClr val="accent1"/>
                  </a:effectRef>
                  <a:fontRef idx="minor">
                    <a:schemeClr val="tx1"/>
                  </a:fontRef>
                </p:style>
              </p:cxnSp>
              <p:sp>
                <p:nvSpPr>
                  <p:cNvPr id="25" name="任意多边形 24"/>
                  <p:cNvSpPr/>
                  <p:nvPr/>
                </p:nvSpPr>
                <p:spPr>
                  <a:xfrm>
                    <a:off x="5928115" y="4494513"/>
                    <a:ext cx="4955458" cy="416599"/>
                  </a:xfrm>
                  <a:custGeom>
                    <a:avLst/>
                    <a:gdLst>
                      <a:gd name="connsiteX0" fmla="*/ 0 w 4955458"/>
                      <a:gd name="connsiteY0" fmla="*/ 252419 h 416599"/>
                      <a:gd name="connsiteX1" fmla="*/ 486697 w 4955458"/>
                      <a:gd name="connsiteY1" fmla="*/ 38568 h 416599"/>
                      <a:gd name="connsiteX2" fmla="*/ 1290484 w 4955458"/>
                      <a:gd name="connsiteY2" fmla="*/ 127058 h 416599"/>
                      <a:gd name="connsiteX3" fmla="*/ 2160639 w 4955458"/>
                      <a:gd name="connsiteY3" fmla="*/ 1697 h 416599"/>
                      <a:gd name="connsiteX4" fmla="*/ 2765322 w 4955458"/>
                      <a:gd name="connsiteY4" fmla="*/ 237671 h 416599"/>
                      <a:gd name="connsiteX5" fmla="*/ 3605981 w 4955458"/>
                      <a:gd name="connsiteY5" fmla="*/ 348284 h 416599"/>
                      <a:gd name="connsiteX6" fmla="*/ 4431890 w 4955458"/>
                      <a:gd name="connsiteY6" fmla="*/ 407277 h 416599"/>
                      <a:gd name="connsiteX7" fmla="*/ 4955458 w 4955458"/>
                      <a:gd name="connsiteY7" fmla="*/ 149180 h 41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5458" h="416599">
                        <a:moveTo>
                          <a:pt x="0" y="252419"/>
                        </a:moveTo>
                        <a:cubicBezTo>
                          <a:pt x="135808" y="155940"/>
                          <a:pt x="271616" y="59461"/>
                          <a:pt x="486697" y="38568"/>
                        </a:cubicBezTo>
                        <a:cubicBezTo>
                          <a:pt x="701778" y="17674"/>
                          <a:pt x="1011494" y="133203"/>
                          <a:pt x="1290484" y="127058"/>
                        </a:cubicBezTo>
                        <a:cubicBezTo>
                          <a:pt x="1569474" y="120913"/>
                          <a:pt x="1914833" y="-16739"/>
                          <a:pt x="2160639" y="1697"/>
                        </a:cubicBezTo>
                        <a:cubicBezTo>
                          <a:pt x="2406445" y="20133"/>
                          <a:pt x="2524432" y="179907"/>
                          <a:pt x="2765322" y="237671"/>
                        </a:cubicBezTo>
                        <a:cubicBezTo>
                          <a:pt x="3006212" y="295435"/>
                          <a:pt x="3328220" y="320016"/>
                          <a:pt x="3605981" y="348284"/>
                        </a:cubicBezTo>
                        <a:cubicBezTo>
                          <a:pt x="3883742" y="376552"/>
                          <a:pt x="4206977" y="440461"/>
                          <a:pt x="4431890" y="407277"/>
                        </a:cubicBezTo>
                        <a:cubicBezTo>
                          <a:pt x="4656803" y="374093"/>
                          <a:pt x="4806130" y="261636"/>
                          <a:pt x="4955458" y="149180"/>
                        </a:cubicBezTo>
                      </a:path>
                    </a:pathLst>
                  </a:custGeom>
                  <a:noFill/>
                  <a:ln w="25400">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sp>
            <p:nvSpPr>
              <p:cNvPr id="17" name="文本框 16"/>
              <p:cNvSpPr txBox="1"/>
              <p:nvPr/>
            </p:nvSpPr>
            <p:spPr>
              <a:xfrm>
                <a:off x="2058637" y="3223338"/>
                <a:ext cx="917279" cy="369332"/>
              </a:xfrm>
              <a:prstGeom prst="rect">
                <a:avLst/>
              </a:prstGeom>
              <a:noFill/>
            </p:spPr>
            <p:txBody>
              <a:bodyPr wrap="square" rtlCol="0">
                <a:spAutoFit/>
              </a:bodyPr>
              <a:lstStyle/>
              <a:p>
                <a:r>
                  <a:rPr lang="en-US" altLang="zh-CN" dirty="0"/>
                  <a:t>SRv6</a:t>
                </a:r>
                <a:endParaRPr lang="zh-CN" altLang="en-US" dirty="0"/>
              </a:p>
            </p:txBody>
          </p:sp>
          <p:sp>
            <p:nvSpPr>
              <p:cNvPr id="18" name="文本框 17"/>
              <p:cNvSpPr txBox="1"/>
              <p:nvPr/>
            </p:nvSpPr>
            <p:spPr>
              <a:xfrm>
                <a:off x="3185932" y="2211380"/>
                <a:ext cx="533702" cy="316370"/>
              </a:xfrm>
              <a:prstGeom prst="rect">
                <a:avLst/>
              </a:prstGeom>
              <a:noFill/>
            </p:spPr>
            <p:txBody>
              <a:bodyPr wrap="none" rtlCol="0">
                <a:spAutoFit/>
              </a:bodyPr>
              <a:lstStyle/>
              <a:p>
                <a:r>
                  <a:rPr lang="en-US" altLang="zh-CN" sz="1600" dirty="0">
                    <a:solidFill>
                      <a:prstClr val="black"/>
                    </a:solidFill>
                  </a:rPr>
                  <a:t>CN2</a:t>
                </a:r>
                <a:endParaRPr lang="zh-CN" altLang="en-US" sz="1600" dirty="0">
                  <a:solidFill>
                    <a:prstClr val="black"/>
                  </a:solidFill>
                </a:endParaRPr>
              </a:p>
            </p:txBody>
          </p:sp>
        </p:grpSp>
        <p:grpSp>
          <p:nvGrpSpPr>
            <p:cNvPr id="100" name="组合 99"/>
            <p:cNvGrpSpPr/>
            <p:nvPr/>
          </p:nvGrpSpPr>
          <p:grpSpPr>
            <a:xfrm>
              <a:off x="6092853" y="933936"/>
              <a:ext cx="5759841" cy="2954752"/>
              <a:chOff x="6092853" y="933936"/>
              <a:chExt cx="5759841" cy="3603564"/>
            </a:xfrm>
          </p:grpSpPr>
          <p:sp>
            <p:nvSpPr>
              <p:cNvPr id="101" name="圆角矩形 17"/>
              <p:cNvSpPr/>
              <p:nvPr/>
            </p:nvSpPr>
            <p:spPr>
              <a:xfrm>
                <a:off x="8068222" y="933936"/>
                <a:ext cx="1461030" cy="783468"/>
              </a:xfrm>
              <a:prstGeom prst="roundRect">
                <a:avLst/>
              </a:prstGeom>
              <a:solidFill>
                <a:srgbClr val="315F97"/>
              </a:solidFill>
              <a:ln w="12700" cap="flat" cmpd="sng" algn="ctr">
                <a:noFill/>
                <a:prstDash val="sysDash"/>
                <a:headEnd type="none" w="sm" len="med"/>
                <a:tailEnd type="none" w="sm" len="med"/>
              </a:ln>
              <a:effectLst/>
            </p:spPr>
            <p:txBody>
              <a:bodyPr rot="0" spcFirstLastPara="0" vertOverflow="overflow" horzOverflow="overflow" vert="horz" wrap="square" lIns="91353" tIns="45677" rIns="91353" bIns="45677" numCol="1" spcCol="0" rtlCol="0" fromWordArt="0" anchor="ctr" anchorCtr="0" forceAA="0" compatLnSpc="1">
                <a:prstTxWarp prst="textNoShape">
                  <a:avLst/>
                </a:prstTxWarp>
                <a:noAutofit/>
              </a:bodyPr>
              <a:lstStyle/>
              <a:p>
                <a:pPr algn="ctr" defTabSz="1217941"/>
                <a:r>
                  <a:rPr lang="en-US" altLang="zh-CN" sz="1000" b="1" kern="0" dirty="0">
                    <a:solidFill>
                      <a:prstClr val="white"/>
                    </a:solidFill>
                    <a:latin typeface="微软雅黑"/>
                    <a:ea typeface="微软雅黑"/>
                  </a:rPr>
                  <a:t> </a:t>
                </a:r>
              </a:p>
            </p:txBody>
          </p:sp>
          <p:sp>
            <p:nvSpPr>
              <p:cNvPr id="102" name="云形 101"/>
              <p:cNvSpPr/>
              <p:nvPr/>
            </p:nvSpPr>
            <p:spPr>
              <a:xfrm>
                <a:off x="7545713" y="3498277"/>
                <a:ext cx="1919692" cy="733969"/>
              </a:xfrm>
              <a:prstGeom prst="cloud">
                <a:avLst/>
              </a:prstGeom>
              <a:solidFill>
                <a:srgbClr val="333399">
                  <a:lumMod val="20000"/>
                  <a:lumOff val="80000"/>
                </a:srgbClr>
              </a:solidFill>
              <a:ln w="6350" cap="flat" cmpd="sng" algn="ctr">
                <a:solidFill>
                  <a:srgbClr val="BBE0E3">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rgbClr val="FFFFFF"/>
                  </a:solidFill>
                  <a:effectLst/>
                  <a:uLnTx/>
                  <a:uFillTx/>
                  <a:latin typeface="Arial"/>
                  <a:ea typeface="宋体"/>
                  <a:cs typeface="+mn-cs"/>
                </a:endParaRPr>
              </a:p>
            </p:txBody>
          </p:sp>
          <p:cxnSp>
            <p:nvCxnSpPr>
              <p:cNvPr id="103" name="直接连接符 102"/>
              <p:cNvCxnSpPr>
                <a:stCxn id="261" idx="6"/>
                <a:endCxn id="109" idx="1"/>
              </p:cNvCxnSpPr>
              <p:nvPr/>
            </p:nvCxnSpPr>
            <p:spPr>
              <a:xfrm flipV="1">
                <a:off x="9433432" y="3913264"/>
                <a:ext cx="878695" cy="1600"/>
              </a:xfrm>
              <a:prstGeom prst="line">
                <a:avLst/>
              </a:prstGeom>
              <a:noFill/>
              <a:ln w="9525" cap="flat" cmpd="sng" algn="ctr">
                <a:solidFill>
                  <a:srgbClr val="000000"/>
                </a:solidFill>
                <a:prstDash val="solid"/>
              </a:ln>
              <a:effectLst/>
            </p:spPr>
          </p:cxnSp>
          <p:sp>
            <p:nvSpPr>
              <p:cNvPr id="104" name="文本框 103"/>
              <p:cNvSpPr txBox="1"/>
              <p:nvPr/>
            </p:nvSpPr>
            <p:spPr>
              <a:xfrm flipH="1">
                <a:off x="7076792" y="3581938"/>
                <a:ext cx="404667" cy="224006"/>
              </a:xfrm>
              <a:prstGeom prst="rect">
                <a:avLst/>
              </a:prstGeom>
              <a:noFill/>
            </p:spPr>
            <p:txBody>
              <a:bodyPr wrap="square" rtlCol="0">
                <a:spAutoFit/>
              </a:bodyPr>
              <a:lstStyle/>
              <a:p>
                <a:pPr defTabSz="914400"/>
                <a:r>
                  <a:rPr lang="en-US" altLang="zh-CN" sz="1400" b="1" dirty="0">
                    <a:solidFill>
                      <a:srgbClr val="000000"/>
                    </a:solidFill>
                    <a:latin typeface="Arial"/>
                    <a:ea typeface="宋体"/>
                  </a:rPr>
                  <a:t>AR1</a:t>
                </a:r>
              </a:p>
            </p:txBody>
          </p:sp>
          <p:sp>
            <p:nvSpPr>
              <p:cNvPr id="105" name="文本框 104"/>
              <p:cNvSpPr txBox="1"/>
              <p:nvPr/>
            </p:nvSpPr>
            <p:spPr>
              <a:xfrm flipH="1">
                <a:off x="10089263" y="3501497"/>
                <a:ext cx="472890" cy="224006"/>
              </a:xfrm>
              <a:prstGeom prst="rect">
                <a:avLst/>
              </a:prstGeom>
              <a:noFill/>
            </p:spPr>
            <p:txBody>
              <a:bodyPr wrap="square" rtlCol="0">
                <a:spAutoFit/>
              </a:bodyPr>
              <a:lstStyle/>
              <a:p>
                <a:pPr defTabSz="914400"/>
                <a:r>
                  <a:rPr lang="en-US" altLang="zh-CN" sz="1400" b="1" dirty="0">
                    <a:solidFill>
                      <a:srgbClr val="000000"/>
                    </a:solidFill>
                    <a:latin typeface="Arial"/>
                    <a:ea typeface="宋体"/>
                  </a:rPr>
                  <a:t>AR2</a:t>
                </a:r>
              </a:p>
            </p:txBody>
          </p:sp>
          <p:grpSp>
            <p:nvGrpSpPr>
              <p:cNvPr id="106" name="Group 131"/>
              <p:cNvGrpSpPr>
                <a:grpSpLocks noChangeAspect="1"/>
              </p:cNvGrpSpPr>
              <p:nvPr/>
            </p:nvGrpSpPr>
            <p:grpSpPr>
              <a:xfrm>
                <a:off x="7526965" y="3838903"/>
                <a:ext cx="237836" cy="162855"/>
                <a:chOff x="2207218" y="3714322"/>
                <a:chExt cx="704596" cy="704596"/>
              </a:xfrm>
              <a:solidFill>
                <a:srgbClr val="1262AA"/>
              </a:solidFill>
            </p:grpSpPr>
            <p:sp>
              <p:nvSpPr>
                <p:cNvPr id="267"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268" name="Group 30"/>
                <p:cNvGrpSpPr>
                  <a:grpSpLocks noChangeAspect="1"/>
                </p:cNvGrpSpPr>
                <p:nvPr/>
              </p:nvGrpSpPr>
              <p:grpSpPr bwMode="auto">
                <a:xfrm rot="2700000">
                  <a:off x="2334275" y="3840176"/>
                  <a:ext cx="457656" cy="456962"/>
                  <a:chOff x="6736" y="2389"/>
                  <a:chExt cx="660" cy="659"/>
                </a:xfrm>
                <a:grpFill/>
              </p:grpSpPr>
              <p:sp>
                <p:nvSpPr>
                  <p:cNvPr id="269"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70"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71"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72"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07" name="文本框 106"/>
              <p:cNvSpPr txBox="1"/>
              <p:nvPr/>
            </p:nvSpPr>
            <p:spPr>
              <a:xfrm>
                <a:off x="7462010" y="4000542"/>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NE1</a:t>
                </a:r>
                <a:endParaRPr lang="zh-CN" altLang="en-US" sz="1100" dirty="0">
                  <a:solidFill>
                    <a:srgbClr val="000000"/>
                  </a:solidFill>
                  <a:latin typeface="Arial"/>
                  <a:ea typeface="宋体"/>
                </a:endParaRPr>
              </a:p>
            </p:txBody>
          </p:sp>
          <p:pic>
            <p:nvPicPr>
              <p:cNvPr id="108" name="Picture 2" descr="G:\做的项目\公共\扁平图标切换\更新2015_01_21\oss扁平图标库2015_01_21更新-04.png"/>
              <p:cNvPicPr>
                <a:picLocks noChangeAspect="1" noChangeArrowheads="1"/>
              </p:cNvPicPr>
              <p:nvPr/>
            </p:nvPicPr>
            <p:blipFill>
              <a:blip r:embed="rId8" cstate="print"/>
              <a:stretch>
                <a:fillRect/>
              </a:stretch>
            </p:blipFill>
            <p:spPr bwMode="auto">
              <a:xfrm>
                <a:off x="6961208" y="3784785"/>
                <a:ext cx="296034" cy="269038"/>
              </a:xfrm>
              <a:prstGeom prst="rect">
                <a:avLst/>
              </a:prstGeom>
              <a:noFill/>
            </p:spPr>
          </p:pic>
          <p:pic>
            <p:nvPicPr>
              <p:cNvPr id="109" name="Picture 2" descr="G:\做的项目\公共\扁平图标切换\更新2015_01_21\oss扁平图标库2015_01_21更新-04.png"/>
              <p:cNvPicPr>
                <a:picLocks noChangeAspect="1" noChangeArrowheads="1"/>
              </p:cNvPicPr>
              <p:nvPr/>
            </p:nvPicPr>
            <p:blipFill>
              <a:blip r:embed="rId8" cstate="print"/>
              <a:stretch>
                <a:fillRect/>
              </a:stretch>
            </p:blipFill>
            <p:spPr bwMode="auto">
              <a:xfrm>
                <a:off x="10312128" y="3778745"/>
                <a:ext cx="296034" cy="269038"/>
              </a:xfrm>
              <a:prstGeom prst="rect">
                <a:avLst/>
              </a:prstGeom>
              <a:noFill/>
            </p:spPr>
          </p:pic>
          <p:grpSp>
            <p:nvGrpSpPr>
              <p:cNvPr id="110" name="Group 131"/>
              <p:cNvGrpSpPr>
                <a:grpSpLocks noChangeAspect="1"/>
              </p:cNvGrpSpPr>
              <p:nvPr/>
            </p:nvGrpSpPr>
            <p:grpSpPr>
              <a:xfrm>
                <a:off x="9195596" y="3833437"/>
                <a:ext cx="237836" cy="162855"/>
                <a:chOff x="2207218" y="3714322"/>
                <a:chExt cx="704596" cy="704596"/>
              </a:xfrm>
              <a:solidFill>
                <a:srgbClr val="1262AA"/>
              </a:solidFill>
            </p:grpSpPr>
            <p:sp>
              <p:nvSpPr>
                <p:cNvPr id="261"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262" name="Group 30"/>
                <p:cNvGrpSpPr>
                  <a:grpSpLocks noChangeAspect="1"/>
                </p:cNvGrpSpPr>
                <p:nvPr/>
              </p:nvGrpSpPr>
              <p:grpSpPr bwMode="auto">
                <a:xfrm rot="2700000">
                  <a:off x="2334275" y="3840176"/>
                  <a:ext cx="457656" cy="456962"/>
                  <a:chOff x="6736" y="2389"/>
                  <a:chExt cx="660" cy="659"/>
                </a:xfrm>
                <a:grpFill/>
              </p:grpSpPr>
              <p:sp>
                <p:nvSpPr>
                  <p:cNvPr id="263"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64"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65"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66"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11" name="文本框 110"/>
              <p:cNvSpPr txBox="1"/>
              <p:nvPr/>
            </p:nvSpPr>
            <p:spPr>
              <a:xfrm>
                <a:off x="8884078" y="3838413"/>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NE4</a:t>
                </a:r>
                <a:endParaRPr lang="zh-CN" altLang="en-US" sz="1100" dirty="0">
                  <a:solidFill>
                    <a:srgbClr val="000000"/>
                  </a:solidFill>
                  <a:latin typeface="Arial"/>
                  <a:ea typeface="宋体"/>
                </a:endParaRPr>
              </a:p>
            </p:txBody>
          </p:sp>
          <p:cxnSp>
            <p:nvCxnSpPr>
              <p:cNvPr id="112" name="直接连接符 111"/>
              <p:cNvCxnSpPr>
                <a:stCxn id="108" idx="3"/>
                <a:endCxn id="267" idx="2"/>
              </p:cNvCxnSpPr>
              <p:nvPr/>
            </p:nvCxnSpPr>
            <p:spPr>
              <a:xfrm>
                <a:off x="7257242" y="3919304"/>
                <a:ext cx="269724" cy="1027"/>
              </a:xfrm>
              <a:prstGeom prst="line">
                <a:avLst/>
              </a:prstGeom>
              <a:noFill/>
              <a:ln w="9525" cap="flat" cmpd="sng" algn="ctr">
                <a:solidFill>
                  <a:srgbClr val="000000"/>
                </a:solidFill>
                <a:prstDash val="solid"/>
              </a:ln>
              <a:effectLst/>
            </p:spPr>
          </p:cxnSp>
          <p:sp>
            <p:nvSpPr>
              <p:cNvPr id="113" name="圆角矩形 17"/>
              <p:cNvSpPr/>
              <p:nvPr/>
            </p:nvSpPr>
            <p:spPr>
              <a:xfrm>
                <a:off x="8134949" y="2786565"/>
                <a:ext cx="1330198" cy="459532"/>
              </a:xfrm>
              <a:prstGeom prst="roundRect">
                <a:avLst/>
              </a:prstGeom>
              <a:solidFill>
                <a:srgbClr val="315F97"/>
              </a:solidFill>
              <a:ln w="12700" cap="flat" cmpd="sng" algn="ctr">
                <a:noFill/>
                <a:prstDash val="sysDash"/>
                <a:headEnd type="none" w="sm" len="med"/>
                <a:tailEnd type="none" w="sm" len="med"/>
              </a:ln>
              <a:effectLst/>
            </p:spPr>
            <p:txBody>
              <a:bodyPr rot="0" spcFirstLastPara="0" vertOverflow="overflow" horzOverflow="overflow" vert="horz" wrap="square" lIns="91353" tIns="45677" rIns="91353" bIns="45677" numCol="1" spcCol="0" rtlCol="0" fromWordArt="0" anchor="ctr" anchorCtr="0" forceAA="0" compatLnSpc="1">
                <a:prstTxWarp prst="textNoShape">
                  <a:avLst/>
                </a:prstTxWarp>
                <a:noAutofit/>
              </a:bodyPr>
              <a:lstStyle/>
              <a:p>
                <a:pPr algn="ctr" defTabSz="1217941"/>
                <a:r>
                  <a:rPr lang="en-US" altLang="zh-CN" sz="800" b="1" kern="0" dirty="0">
                    <a:solidFill>
                      <a:srgbClr val="FFFF00"/>
                    </a:solidFill>
                    <a:latin typeface="微软雅黑"/>
                    <a:ea typeface="微软雅黑"/>
                  </a:rPr>
                  <a:t>SDN-WAN</a:t>
                </a:r>
                <a:r>
                  <a:rPr lang="zh-CN" altLang="en-US" sz="800" b="1" kern="0" dirty="0">
                    <a:solidFill>
                      <a:srgbClr val="FFFF00"/>
                    </a:solidFill>
                    <a:latin typeface="微软雅黑"/>
                    <a:ea typeface="微软雅黑"/>
                  </a:rPr>
                  <a:t>控制器</a:t>
                </a:r>
                <a:endParaRPr lang="en-US" altLang="zh-CN" sz="800" b="1" kern="0" dirty="0">
                  <a:solidFill>
                    <a:srgbClr val="FFFF00"/>
                  </a:solidFill>
                  <a:latin typeface="微软雅黑"/>
                  <a:ea typeface="微软雅黑"/>
                </a:endParaRPr>
              </a:p>
              <a:p>
                <a:pPr algn="ctr" defTabSz="1217941"/>
                <a:r>
                  <a:rPr lang="en-US" altLang="zh-CN" sz="600" b="1" kern="0" dirty="0">
                    <a:solidFill>
                      <a:prstClr val="white"/>
                    </a:solidFill>
                    <a:latin typeface="微软雅黑"/>
                    <a:ea typeface="微软雅黑"/>
                  </a:rPr>
                  <a:t>Bsid1-sr tunnel1</a:t>
                </a:r>
              </a:p>
              <a:p>
                <a:pPr algn="ctr" defTabSz="1217941"/>
                <a:r>
                  <a:rPr lang="en-US" altLang="zh-CN" sz="600" b="1" kern="0" dirty="0">
                    <a:solidFill>
                      <a:prstClr val="white"/>
                    </a:solidFill>
                    <a:latin typeface="微软雅黑"/>
                    <a:ea typeface="微软雅黑"/>
                  </a:rPr>
                  <a:t>Bsid2-sr tunnel2</a:t>
                </a:r>
              </a:p>
              <a:p>
                <a:pPr algn="ctr" defTabSz="1217941"/>
                <a:r>
                  <a:rPr lang="en-US" altLang="zh-CN" sz="600" b="1" kern="0" dirty="0">
                    <a:solidFill>
                      <a:prstClr val="white"/>
                    </a:solidFill>
                    <a:latin typeface="微软雅黑"/>
                    <a:ea typeface="微软雅黑"/>
                  </a:rPr>
                  <a:t>Bsid3-sr tunnel3</a:t>
                </a:r>
              </a:p>
            </p:txBody>
          </p:sp>
          <p:sp>
            <p:nvSpPr>
              <p:cNvPr id="114" name="圆角矩形 17"/>
              <p:cNvSpPr/>
              <p:nvPr/>
            </p:nvSpPr>
            <p:spPr>
              <a:xfrm>
                <a:off x="8135207" y="2007096"/>
                <a:ext cx="1330198" cy="508479"/>
              </a:xfrm>
              <a:prstGeom prst="roundRect">
                <a:avLst/>
              </a:prstGeom>
              <a:solidFill>
                <a:srgbClr val="315F97"/>
              </a:solidFill>
              <a:ln w="12700" cap="flat" cmpd="sng" algn="ctr">
                <a:noFill/>
                <a:prstDash val="sysDash"/>
                <a:headEnd type="none" w="sm" len="med"/>
                <a:tailEnd type="none" w="sm" len="med"/>
              </a:ln>
              <a:effectLst/>
            </p:spPr>
            <p:txBody>
              <a:bodyPr rot="0" spcFirstLastPara="0" vertOverflow="overflow" horzOverflow="overflow" vert="horz" wrap="square" lIns="91353" tIns="45677" rIns="91353" bIns="45677" numCol="1" spcCol="0" rtlCol="0" fromWordArt="0" anchor="ctr" anchorCtr="0" forceAA="0" compatLnSpc="1">
                <a:prstTxWarp prst="textNoShape">
                  <a:avLst/>
                </a:prstTxWarp>
                <a:noAutofit/>
              </a:bodyPr>
              <a:lstStyle/>
              <a:p>
                <a:pPr algn="ctr" defTabSz="1217941"/>
                <a:r>
                  <a:rPr lang="en-US" altLang="zh-CN" sz="800" b="1" kern="0" dirty="0">
                    <a:solidFill>
                      <a:srgbClr val="FFFF00"/>
                    </a:solidFill>
                    <a:latin typeface="微软雅黑"/>
                    <a:ea typeface="微软雅黑"/>
                  </a:rPr>
                  <a:t>SD-WAN</a:t>
                </a:r>
                <a:r>
                  <a:rPr lang="zh-CN" altLang="en-US" sz="800" b="1" kern="0" dirty="0">
                    <a:solidFill>
                      <a:srgbClr val="FFFF00"/>
                    </a:solidFill>
                    <a:latin typeface="微软雅黑"/>
                    <a:ea typeface="微软雅黑"/>
                  </a:rPr>
                  <a:t>控制器</a:t>
                </a:r>
                <a:endParaRPr lang="en-US" altLang="zh-CN" sz="800" b="1" kern="0" dirty="0">
                  <a:solidFill>
                    <a:srgbClr val="FFFF00"/>
                  </a:solidFill>
                  <a:latin typeface="微软雅黑"/>
                  <a:ea typeface="微软雅黑"/>
                </a:endParaRPr>
              </a:p>
              <a:p>
                <a:pPr algn="ctr" defTabSz="1217941"/>
                <a:r>
                  <a:rPr lang="en-US" altLang="zh-CN" sz="600" b="1" kern="0" dirty="0">
                    <a:solidFill>
                      <a:prstClr val="white"/>
                    </a:solidFill>
                    <a:latin typeface="微软雅黑"/>
                    <a:ea typeface="微软雅黑"/>
                  </a:rPr>
                  <a:t>Sla1-bsid1-app1</a:t>
                </a:r>
              </a:p>
              <a:p>
                <a:pPr algn="ctr" defTabSz="1217941"/>
                <a:r>
                  <a:rPr lang="en-US" altLang="zh-CN" sz="600" b="1" kern="0" dirty="0">
                    <a:solidFill>
                      <a:prstClr val="white"/>
                    </a:solidFill>
                    <a:latin typeface="微软雅黑"/>
                    <a:ea typeface="微软雅黑"/>
                  </a:rPr>
                  <a:t>Sla2-bsid2-app2</a:t>
                </a:r>
              </a:p>
              <a:p>
                <a:pPr algn="ctr" defTabSz="1217941"/>
                <a:r>
                  <a:rPr lang="en-US" altLang="zh-CN" sz="600" b="1" kern="0" dirty="0">
                    <a:solidFill>
                      <a:prstClr val="white"/>
                    </a:solidFill>
                    <a:latin typeface="微软雅黑"/>
                    <a:ea typeface="微软雅黑"/>
                  </a:rPr>
                  <a:t>Sla3-bsid3-app3</a:t>
                </a:r>
              </a:p>
            </p:txBody>
          </p:sp>
          <p:cxnSp>
            <p:nvCxnSpPr>
              <p:cNvPr id="115" name="直接箭头连接符 114"/>
              <p:cNvCxnSpPr>
                <a:stCxn id="113" idx="2"/>
                <a:endCxn id="267" idx="0"/>
              </p:cNvCxnSpPr>
              <p:nvPr/>
            </p:nvCxnSpPr>
            <p:spPr>
              <a:xfrm flipH="1">
                <a:off x="7645883" y="3246096"/>
                <a:ext cx="1154165" cy="592806"/>
              </a:xfrm>
              <a:prstGeom prst="straightConnector1">
                <a:avLst/>
              </a:prstGeom>
              <a:noFill/>
              <a:ln w="9525" cap="flat" cmpd="sng" algn="ctr">
                <a:solidFill>
                  <a:srgbClr val="BBE0E3">
                    <a:lumMod val="50000"/>
                  </a:srgbClr>
                </a:solidFill>
                <a:prstDash val="dash"/>
                <a:tailEnd type="triangle"/>
              </a:ln>
              <a:effectLst/>
            </p:spPr>
          </p:cxnSp>
          <p:cxnSp>
            <p:nvCxnSpPr>
              <p:cNvPr id="116" name="直接箭头连接符 115"/>
              <p:cNvCxnSpPr>
                <a:stCxn id="113" idx="2"/>
                <a:endCxn id="263" idx="0"/>
              </p:cNvCxnSpPr>
              <p:nvPr/>
            </p:nvCxnSpPr>
            <p:spPr>
              <a:xfrm>
                <a:off x="8800048" y="3246096"/>
                <a:ext cx="528853" cy="576602"/>
              </a:xfrm>
              <a:prstGeom prst="straightConnector1">
                <a:avLst/>
              </a:prstGeom>
              <a:noFill/>
              <a:ln w="9525" cap="flat" cmpd="sng" algn="ctr">
                <a:solidFill>
                  <a:srgbClr val="BBE0E3">
                    <a:lumMod val="50000"/>
                  </a:srgbClr>
                </a:solidFill>
                <a:prstDash val="dash"/>
                <a:tailEnd type="triangle"/>
              </a:ln>
              <a:effectLst/>
            </p:spPr>
          </p:cxnSp>
          <p:cxnSp>
            <p:nvCxnSpPr>
              <p:cNvPr id="117" name="直接箭头连接符 116"/>
              <p:cNvCxnSpPr>
                <a:stCxn id="113" idx="2"/>
              </p:cNvCxnSpPr>
              <p:nvPr/>
            </p:nvCxnSpPr>
            <p:spPr>
              <a:xfrm flipH="1">
                <a:off x="8283142" y="3246096"/>
                <a:ext cx="516906" cy="517229"/>
              </a:xfrm>
              <a:prstGeom prst="straightConnector1">
                <a:avLst/>
              </a:prstGeom>
              <a:noFill/>
              <a:ln w="9525" cap="flat" cmpd="sng" algn="ctr">
                <a:solidFill>
                  <a:srgbClr val="BBE0E3">
                    <a:lumMod val="50000"/>
                  </a:srgbClr>
                </a:solidFill>
                <a:prstDash val="dash"/>
                <a:tailEnd type="triangle"/>
              </a:ln>
              <a:effectLst/>
            </p:spPr>
          </p:cxnSp>
          <p:cxnSp>
            <p:nvCxnSpPr>
              <p:cNvPr id="118" name="肘形连接符 117"/>
              <p:cNvCxnSpPr>
                <a:stCxn id="114" idx="1"/>
                <a:endCxn id="108" idx="0"/>
              </p:cNvCxnSpPr>
              <p:nvPr/>
            </p:nvCxnSpPr>
            <p:spPr>
              <a:xfrm rot="10800000" flipV="1">
                <a:off x="7109225" y="2261336"/>
                <a:ext cx="1025982" cy="1523449"/>
              </a:xfrm>
              <a:prstGeom prst="bentConnector2">
                <a:avLst/>
              </a:prstGeom>
              <a:noFill/>
              <a:ln w="38100" cap="flat" cmpd="sng" algn="ctr">
                <a:solidFill>
                  <a:srgbClr val="00B0F0"/>
                </a:solidFill>
                <a:prstDash val="solid"/>
                <a:tailEnd type="triangle"/>
              </a:ln>
              <a:effectLst/>
            </p:spPr>
          </p:cxnSp>
          <p:cxnSp>
            <p:nvCxnSpPr>
              <p:cNvPr id="119" name="肘形连接符 118"/>
              <p:cNvCxnSpPr>
                <a:stCxn id="114" idx="3"/>
                <a:endCxn id="109" idx="0"/>
              </p:cNvCxnSpPr>
              <p:nvPr/>
            </p:nvCxnSpPr>
            <p:spPr>
              <a:xfrm>
                <a:off x="9465405" y="2261336"/>
                <a:ext cx="994740" cy="1517409"/>
              </a:xfrm>
              <a:prstGeom prst="bentConnector2">
                <a:avLst/>
              </a:prstGeom>
              <a:noFill/>
              <a:ln w="38100" cap="flat" cmpd="sng" algn="ctr">
                <a:solidFill>
                  <a:srgbClr val="00B0F0"/>
                </a:solidFill>
                <a:prstDash val="solid"/>
                <a:tailEnd type="triangle"/>
              </a:ln>
              <a:effectLst/>
            </p:spPr>
          </p:cxnSp>
          <p:graphicFrame>
            <p:nvGraphicFramePr>
              <p:cNvPr id="120" name="Object 9"/>
              <p:cNvGraphicFramePr>
                <a:graphicFrameLocks noChangeAspect="1"/>
              </p:cNvGraphicFramePr>
              <p:nvPr/>
            </p:nvGraphicFramePr>
            <p:xfrm>
              <a:off x="10689566" y="3189133"/>
              <a:ext cx="1123369" cy="1348367"/>
            </p:xfrm>
            <a:graphic>
              <a:graphicData uri="http://schemas.openxmlformats.org/presentationml/2006/ole">
                <mc:AlternateContent xmlns:mc="http://schemas.openxmlformats.org/markup-compatibility/2006">
                  <mc:Choice xmlns:v="urn:schemas-microsoft-com:vml" Requires="v">
                    <p:oleObj name="CorelDRAW" r:id="rId9" imgW="1719163" imgH="2081814" progId="CorelDRAW.Graphic.9">
                      <p:embed/>
                    </p:oleObj>
                  </mc:Choice>
                  <mc:Fallback>
                    <p:oleObj name="CorelDRAW" r:id="rId9" imgW="1719163" imgH="2081814" progId="CorelDRAW.Graphic.9">
                      <p:embed/>
                      <p:pic>
                        <p:nvPicPr>
                          <p:cNvPr id="12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89566" y="3189133"/>
                            <a:ext cx="1123369" cy="134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21" name="Picture 2"/>
              <p:cNvPicPr>
                <a:picLocks noChangeAspect="1" noChangeArrowheads="1"/>
              </p:cNvPicPr>
              <p:nvPr/>
            </p:nvPicPr>
            <p:blipFill>
              <a:blip r:embed="rId11" cstate="print"/>
              <a:srcRect/>
              <a:stretch>
                <a:fillRect/>
              </a:stretch>
            </p:blipFill>
            <p:spPr bwMode="auto">
              <a:xfrm>
                <a:off x="11119975" y="3319290"/>
                <a:ext cx="286206" cy="195257"/>
              </a:xfrm>
              <a:prstGeom prst="rect">
                <a:avLst/>
              </a:prstGeom>
              <a:noFill/>
              <a:ln w="9525">
                <a:noFill/>
                <a:miter lim="800000"/>
                <a:headEnd/>
                <a:tailEnd/>
              </a:ln>
              <a:effectLst/>
            </p:spPr>
          </p:pic>
          <p:cxnSp>
            <p:nvCxnSpPr>
              <p:cNvPr id="122" name="直接连接符 121"/>
              <p:cNvCxnSpPr>
                <a:stCxn id="109" idx="3"/>
                <a:endCxn id="121" idx="1"/>
              </p:cNvCxnSpPr>
              <p:nvPr/>
            </p:nvCxnSpPr>
            <p:spPr>
              <a:xfrm flipV="1">
                <a:off x="10608161" y="3416918"/>
                <a:ext cx="511814" cy="496347"/>
              </a:xfrm>
              <a:prstGeom prst="line">
                <a:avLst/>
              </a:prstGeom>
              <a:noFill/>
              <a:ln w="9525" cap="flat" cmpd="sng" algn="ctr">
                <a:solidFill>
                  <a:srgbClr val="000000"/>
                </a:solidFill>
                <a:prstDash val="solid"/>
              </a:ln>
              <a:effectLst/>
            </p:spPr>
          </p:cxnSp>
          <p:cxnSp>
            <p:nvCxnSpPr>
              <p:cNvPr id="123" name="直接连接符 122"/>
              <p:cNvCxnSpPr>
                <a:stCxn id="109" idx="3"/>
              </p:cNvCxnSpPr>
              <p:nvPr/>
            </p:nvCxnSpPr>
            <p:spPr>
              <a:xfrm flipV="1">
                <a:off x="10608161" y="3741102"/>
                <a:ext cx="567850" cy="172162"/>
              </a:xfrm>
              <a:prstGeom prst="line">
                <a:avLst/>
              </a:prstGeom>
              <a:noFill/>
              <a:ln w="9525" cap="flat" cmpd="sng" algn="ctr">
                <a:solidFill>
                  <a:srgbClr val="000000"/>
                </a:solidFill>
                <a:prstDash val="solid"/>
              </a:ln>
              <a:effectLst/>
            </p:spPr>
          </p:cxnSp>
          <p:cxnSp>
            <p:nvCxnSpPr>
              <p:cNvPr id="124" name="直接连接符 123"/>
              <p:cNvCxnSpPr>
                <a:stCxn id="109" idx="3"/>
              </p:cNvCxnSpPr>
              <p:nvPr/>
            </p:nvCxnSpPr>
            <p:spPr>
              <a:xfrm>
                <a:off x="10608161" y="3913264"/>
                <a:ext cx="498494" cy="364912"/>
              </a:xfrm>
              <a:prstGeom prst="line">
                <a:avLst/>
              </a:prstGeom>
              <a:noFill/>
              <a:ln w="9525" cap="flat" cmpd="sng" algn="ctr">
                <a:solidFill>
                  <a:srgbClr val="000000"/>
                </a:solidFill>
                <a:prstDash val="solid"/>
              </a:ln>
              <a:effectLst/>
            </p:spPr>
          </p:cxnSp>
          <p:grpSp>
            <p:nvGrpSpPr>
              <p:cNvPr id="125" name="Group 74"/>
              <p:cNvGrpSpPr>
                <a:grpSpLocks/>
              </p:cNvGrpSpPr>
              <p:nvPr/>
            </p:nvGrpSpPr>
            <p:grpSpPr bwMode="auto">
              <a:xfrm>
                <a:off x="9368419" y="3729446"/>
                <a:ext cx="638015" cy="394313"/>
                <a:chOff x="3100" y="1178"/>
                <a:chExt cx="1562" cy="499"/>
              </a:xfrm>
            </p:grpSpPr>
            <p:sp>
              <p:nvSpPr>
                <p:cNvPr id="242" name="Freeform 75"/>
                <p:cNvSpPr>
                  <a:spLocks noChangeAspect="1"/>
                </p:cNvSpPr>
                <p:nvPr/>
              </p:nvSpPr>
              <p:spPr bwMode="auto">
                <a:xfrm>
                  <a:off x="3253" y="1178"/>
                  <a:ext cx="534" cy="220"/>
                </a:xfrm>
                <a:custGeom>
                  <a:avLst/>
                  <a:gdLst>
                    <a:gd name="T0" fmla="*/ 946 w 1341"/>
                    <a:gd name="T1" fmla="*/ 0 h 553"/>
                    <a:gd name="T2" fmla="*/ 1218 w 1341"/>
                    <a:gd name="T3" fmla="*/ 384 h 553"/>
                    <a:gd name="T4" fmla="*/ 1340 w 1341"/>
                    <a:gd name="T5" fmla="*/ 383 h 553"/>
                    <a:gd name="T6" fmla="*/ 1340 w 1341"/>
                    <a:gd name="T7" fmla="*/ 549 h 553"/>
                    <a:gd name="T8" fmla="*/ 1119 w 1341"/>
                    <a:gd name="T9" fmla="*/ 552 h 553"/>
                    <a:gd name="T10" fmla="*/ 862 w 1341"/>
                    <a:gd name="T11" fmla="*/ 186 h 553"/>
                    <a:gd name="T12" fmla="*/ 0 w 1341"/>
                    <a:gd name="T13" fmla="*/ 184 h 553"/>
                    <a:gd name="T14" fmla="*/ 0 w 1341"/>
                    <a:gd name="T15" fmla="*/ 0 h 5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553">
                      <a:moveTo>
                        <a:pt x="946" y="0"/>
                      </a:moveTo>
                      <a:lnTo>
                        <a:pt x="1218" y="384"/>
                      </a:lnTo>
                      <a:lnTo>
                        <a:pt x="1340" y="383"/>
                      </a:lnTo>
                      <a:lnTo>
                        <a:pt x="1340" y="549"/>
                      </a:lnTo>
                      <a:lnTo>
                        <a:pt x="1119" y="552"/>
                      </a:lnTo>
                      <a:lnTo>
                        <a:pt x="862" y="186"/>
                      </a:lnTo>
                      <a:lnTo>
                        <a:pt x="0" y="184"/>
                      </a:lnTo>
                      <a:lnTo>
                        <a:pt x="0" y="0"/>
                      </a:lnTo>
                    </a:path>
                  </a:pathLst>
                </a:custGeom>
                <a:gradFill rotWithShape="0">
                  <a:gsLst>
                    <a:gs pos="0">
                      <a:srgbClr val="6600FF"/>
                    </a:gs>
                    <a:gs pos="100000">
                      <a:srgbClr val="6600FF">
                        <a:gamma/>
                        <a:shade val="25882"/>
                        <a:invGamma/>
                      </a:srgbClr>
                    </a:gs>
                  </a:gsLst>
                  <a:lin ang="0" scaled="1"/>
                </a:gra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3" name="Freeform 76"/>
                <p:cNvSpPr>
                  <a:spLocks noChangeAspect="1"/>
                </p:cNvSpPr>
                <p:nvPr/>
              </p:nvSpPr>
              <p:spPr bwMode="auto">
                <a:xfrm>
                  <a:off x="3246" y="1185"/>
                  <a:ext cx="555" cy="155"/>
                </a:xfrm>
                <a:custGeom>
                  <a:avLst/>
                  <a:gdLst>
                    <a:gd name="T0" fmla="*/ 0 w 1392"/>
                    <a:gd name="T1" fmla="*/ 0 h 388"/>
                    <a:gd name="T2" fmla="*/ 940 w 1392"/>
                    <a:gd name="T3" fmla="*/ 0 h 388"/>
                    <a:gd name="T4" fmla="*/ 1208 w 1392"/>
                    <a:gd name="T5" fmla="*/ 388 h 388"/>
                    <a:gd name="T6" fmla="*/ 1392 w 1392"/>
                    <a:gd name="T7" fmla="*/ 388 h 388"/>
                  </a:gdLst>
                  <a:ahLst/>
                  <a:cxnLst>
                    <a:cxn ang="0">
                      <a:pos x="T0" y="T1"/>
                    </a:cxn>
                    <a:cxn ang="0">
                      <a:pos x="T2" y="T3"/>
                    </a:cxn>
                    <a:cxn ang="0">
                      <a:pos x="T4" y="T5"/>
                    </a:cxn>
                    <a:cxn ang="0">
                      <a:pos x="T6" y="T7"/>
                    </a:cxn>
                  </a:cxnLst>
                  <a:rect l="0" t="0" r="r" b="b"/>
                  <a:pathLst>
                    <a:path w="1392" h="388">
                      <a:moveTo>
                        <a:pt x="0" y="0"/>
                      </a:moveTo>
                      <a:lnTo>
                        <a:pt x="940" y="0"/>
                      </a:lnTo>
                      <a:lnTo>
                        <a:pt x="1208" y="388"/>
                      </a:lnTo>
                      <a:lnTo>
                        <a:pt x="1392" y="388"/>
                      </a:lnTo>
                    </a:path>
                  </a:pathLst>
                </a:custGeom>
                <a:noFill/>
                <a:ln w="28575" cmpd="sng">
                  <a:solidFill>
                    <a:srgbClr val="AD75FF"/>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4" name="Freeform 77"/>
                <p:cNvSpPr>
                  <a:spLocks noChangeAspect="1"/>
                </p:cNvSpPr>
                <p:nvPr/>
              </p:nvSpPr>
              <p:spPr bwMode="auto">
                <a:xfrm>
                  <a:off x="3184" y="1452"/>
                  <a:ext cx="613" cy="225"/>
                </a:xfrm>
                <a:custGeom>
                  <a:avLst/>
                  <a:gdLst>
                    <a:gd name="T0" fmla="*/ 0 w 1540"/>
                    <a:gd name="T1" fmla="*/ 565 h 565"/>
                    <a:gd name="T2" fmla="*/ 942 w 1540"/>
                    <a:gd name="T3" fmla="*/ 565 h 565"/>
                    <a:gd name="T4" fmla="*/ 1229 w 1540"/>
                    <a:gd name="T5" fmla="*/ 164 h 565"/>
                    <a:gd name="T6" fmla="*/ 1540 w 1540"/>
                    <a:gd name="T7" fmla="*/ 164 h 565"/>
                    <a:gd name="T8" fmla="*/ 1540 w 1540"/>
                    <a:gd name="T9" fmla="*/ 2 h 565"/>
                    <a:gd name="T10" fmla="*/ 1128 w 1540"/>
                    <a:gd name="T11" fmla="*/ 0 h 565"/>
                    <a:gd name="T12" fmla="*/ 859 w 1540"/>
                    <a:gd name="T13" fmla="*/ 375 h 565"/>
                    <a:gd name="T14" fmla="*/ 1 w 1540"/>
                    <a:gd name="T15" fmla="*/ 373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0" h="565">
                      <a:moveTo>
                        <a:pt x="0" y="565"/>
                      </a:moveTo>
                      <a:lnTo>
                        <a:pt x="942" y="565"/>
                      </a:lnTo>
                      <a:lnTo>
                        <a:pt x="1229" y="164"/>
                      </a:lnTo>
                      <a:lnTo>
                        <a:pt x="1540" y="164"/>
                      </a:lnTo>
                      <a:lnTo>
                        <a:pt x="1540" y="2"/>
                      </a:lnTo>
                      <a:lnTo>
                        <a:pt x="1128" y="0"/>
                      </a:lnTo>
                      <a:lnTo>
                        <a:pt x="859" y="375"/>
                      </a:lnTo>
                      <a:lnTo>
                        <a:pt x="1" y="373"/>
                      </a:lnTo>
                    </a:path>
                  </a:pathLst>
                </a:custGeom>
                <a:gradFill rotWithShape="0">
                  <a:gsLst>
                    <a:gs pos="0">
                      <a:srgbClr val="333399"/>
                    </a:gs>
                    <a:gs pos="100000">
                      <a:srgbClr val="333399">
                        <a:gamma/>
                        <a:shade val="16078"/>
                        <a:invGamma/>
                      </a:srgbClr>
                    </a:gs>
                  </a:gsLst>
                  <a:lin ang="0" scaled="1"/>
                </a:gra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5" name="Freeform 78"/>
                <p:cNvSpPr>
                  <a:spLocks noChangeAspect="1"/>
                </p:cNvSpPr>
                <p:nvPr/>
              </p:nvSpPr>
              <p:spPr bwMode="auto">
                <a:xfrm>
                  <a:off x="3186" y="1449"/>
                  <a:ext cx="626" cy="163"/>
                </a:xfrm>
                <a:custGeom>
                  <a:avLst/>
                  <a:gdLst>
                    <a:gd name="T0" fmla="*/ 0 w 1572"/>
                    <a:gd name="T1" fmla="*/ 404 h 408"/>
                    <a:gd name="T2" fmla="*/ 864 w 1572"/>
                    <a:gd name="T3" fmla="*/ 408 h 408"/>
                    <a:gd name="T4" fmla="*/ 1156 w 1572"/>
                    <a:gd name="T5" fmla="*/ 0 h 408"/>
                    <a:gd name="T6" fmla="*/ 1572 w 1572"/>
                    <a:gd name="T7" fmla="*/ 0 h 408"/>
                  </a:gdLst>
                  <a:ahLst/>
                  <a:cxnLst>
                    <a:cxn ang="0">
                      <a:pos x="T0" y="T1"/>
                    </a:cxn>
                    <a:cxn ang="0">
                      <a:pos x="T2" y="T3"/>
                    </a:cxn>
                    <a:cxn ang="0">
                      <a:pos x="T4" y="T5"/>
                    </a:cxn>
                    <a:cxn ang="0">
                      <a:pos x="T6" y="T7"/>
                    </a:cxn>
                  </a:cxnLst>
                  <a:rect l="0" t="0" r="r" b="b"/>
                  <a:pathLst>
                    <a:path w="1572" h="408">
                      <a:moveTo>
                        <a:pt x="0" y="404"/>
                      </a:moveTo>
                      <a:lnTo>
                        <a:pt x="864" y="408"/>
                      </a:lnTo>
                      <a:lnTo>
                        <a:pt x="1156" y="0"/>
                      </a:lnTo>
                      <a:lnTo>
                        <a:pt x="1572" y="0"/>
                      </a:lnTo>
                    </a:path>
                  </a:pathLst>
                </a:custGeom>
                <a:noFill/>
                <a:ln w="28575" cmpd="sng">
                  <a:solidFill>
                    <a:srgbClr val="F23655"/>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6" name="Oval 81"/>
                <p:cNvSpPr>
                  <a:spLocks noChangeAspect="1" noChangeArrowheads="1"/>
                </p:cNvSpPr>
                <p:nvPr/>
              </p:nvSpPr>
              <p:spPr bwMode="auto">
                <a:xfrm>
                  <a:off x="3769" y="1467"/>
                  <a:ext cx="24" cy="47"/>
                </a:xfrm>
                <a:prstGeom prst="ellipse">
                  <a:avLst/>
                </a:prstGeom>
                <a:gradFill rotWithShape="0">
                  <a:gsLst>
                    <a:gs pos="0">
                      <a:srgbClr val="333399">
                        <a:gamma/>
                        <a:shade val="56078"/>
                        <a:invGamma/>
                      </a:srgbClr>
                    </a:gs>
                    <a:gs pos="50000">
                      <a:srgbClr val="333399"/>
                    </a:gs>
                    <a:gs pos="100000">
                      <a:srgbClr val="333399">
                        <a:gamma/>
                        <a:shade val="56078"/>
                        <a:invGamma/>
                      </a:srgbClr>
                    </a:gs>
                  </a:gsLst>
                  <a:lin ang="540000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7" name="Rectangle 82"/>
                <p:cNvSpPr>
                  <a:spLocks noChangeAspect="1" noChangeArrowheads="1"/>
                </p:cNvSpPr>
                <p:nvPr/>
              </p:nvSpPr>
              <p:spPr bwMode="auto">
                <a:xfrm>
                  <a:off x="3784" y="1437"/>
                  <a:ext cx="849" cy="63"/>
                </a:xfrm>
                <a:prstGeom prst="rect">
                  <a:avLst/>
                </a:prstGeom>
                <a:solidFill>
                  <a:srgbClr val="F23655"/>
                </a:solidFill>
                <a:ln w="9525">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8" name="Freeform 84"/>
                <p:cNvSpPr>
                  <a:spLocks noChangeAspect="1"/>
                </p:cNvSpPr>
                <p:nvPr/>
              </p:nvSpPr>
              <p:spPr bwMode="auto">
                <a:xfrm>
                  <a:off x="3115" y="1261"/>
                  <a:ext cx="674" cy="171"/>
                </a:xfrm>
                <a:custGeom>
                  <a:avLst/>
                  <a:gdLst>
                    <a:gd name="T0" fmla="*/ 0 w 1692"/>
                    <a:gd name="T1" fmla="*/ 0 h 425"/>
                    <a:gd name="T2" fmla="*/ 943 w 1692"/>
                    <a:gd name="T3" fmla="*/ 0 h 425"/>
                    <a:gd name="T4" fmla="*/ 1131 w 1692"/>
                    <a:gd name="T5" fmla="*/ 269 h 425"/>
                    <a:gd name="T6" fmla="*/ 1691 w 1692"/>
                    <a:gd name="T7" fmla="*/ 269 h 425"/>
                    <a:gd name="T8" fmla="*/ 1691 w 1692"/>
                    <a:gd name="T9" fmla="*/ 424 h 425"/>
                    <a:gd name="T10" fmla="*/ 1030 w 1692"/>
                    <a:gd name="T11" fmla="*/ 424 h 425"/>
                    <a:gd name="T12" fmla="*/ 859 w 1692"/>
                    <a:gd name="T13" fmla="*/ 183 h 425"/>
                    <a:gd name="T14" fmla="*/ 0 w 1692"/>
                    <a:gd name="T15" fmla="*/ 183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2" h="425">
                      <a:moveTo>
                        <a:pt x="0" y="0"/>
                      </a:moveTo>
                      <a:lnTo>
                        <a:pt x="943" y="0"/>
                      </a:lnTo>
                      <a:lnTo>
                        <a:pt x="1131" y="269"/>
                      </a:lnTo>
                      <a:lnTo>
                        <a:pt x="1691" y="269"/>
                      </a:lnTo>
                      <a:lnTo>
                        <a:pt x="1691" y="424"/>
                      </a:lnTo>
                      <a:lnTo>
                        <a:pt x="1030" y="424"/>
                      </a:lnTo>
                      <a:lnTo>
                        <a:pt x="859" y="183"/>
                      </a:lnTo>
                      <a:lnTo>
                        <a:pt x="0" y="183"/>
                      </a:lnTo>
                    </a:path>
                  </a:pathLst>
                </a:custGeom>
                <a:gradFill rotWithShape="0">
                  <a:gsLst>
                    <a:gs pos="0">
                      <a:srgbClr val="00CC66"/>
                    </a:gs>
                    <a:gs pos="100000">
                      <a:srgbClr val="00CC66">
                        <a:gamma/>
                        <a:shade val="16078"/>
                        <a:invGamma/>
                      </a:srgbClr>
                    </a:gs>
                  </a:gsLst>
                  <a:lin ang="0" scaled="1"/>
                </a:gra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9" name="Oval 85"/>
                <p:cNvSpPr>
                  <a:spLocks noChangeAspect="1" noChangeArrowheads="1"/>
                </p:cNvSpPr>
                <p:nvPr/>
              </p:nvSpPr>
              <p:spPr bwMode="auto">
                <a:xfrm>
                  <a:off x="3232" y="1178"/>
                  <a:ext cx="40" cy="74"/>
                </a:xfrm>
                <a:prstGeom prst="ellipse">
                  <a:avLst/>
                </a:prstGeom>
                <a:gradFill rotWithShape="0">
                  <a:gsLst>
                    <a:gs pos="0">
                      <a:srgbClr val="6600FF"/>
                    </a:gs>
                    <a:gs pos="100000">
                      <a:srgbClr val="6600FF">
                        <a:gamma/>
                        <a:shade val="0"/>
                        <a:invGamma/>
                      </a:srgbClr>
                    </a:gs>
                  </a:gsLst>
                  <a:lin ang="189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0" name="Line 86"/>
                <p:cNvSpPr>
                  <a:spLocks noChangeAspect="1" noChangeShapeType="1"/>
                </p:cNvSpPr>
                <p:nvPr/>
              </p:nvSpPr>
              <p:spPr bwMode="auto">
                <a:xfrm>
                  <a:off x="3786" y="1326"/>
                  <a:ext cx="872" cy="0"/>
                </a:xfrm>
                <a:prstGeom prst="line">
                  <a:avLst/>
                </a:prstGeom>
                <a:noFill/>
                <a:ln w="25400">
                  <a:solidFill>
                    <a:srgbClr val="0099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1" name="Line 87"/>
                <p:cNvSpPr>
                  <a:spLocks noChangeAspect="1" noChangeShapeType="1"/>
                </p:cNvSpPr>
                <p:nvPr/>
              </p:nvSpPr>
              <p:spPr bwMode="auto">
                <a:xfrm>
                  <a:off x="3776" y="1518"/>
                  <a:ext cx="857" cy="0"/>
                </a:xfrm>
                <a:prstGeom prst="line">
                  <a:avLst/>
                </a:prstGeom>
                <a:noFill/>
                <a:ln w="28575">
                  <a:solidFill>
                    <a:srgbClr val="0099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2" name="Oval 88"/>
                <p:cNvSpPr>
                  <a:spLocks noChangeAspect="1" noChangeArrowheads="1"/>
                </p:cNvSpPr>
                <p:nvPr/>
              </p:nvSpPr>
              <p:spPr bwMode="auto">
                <a:xfrm>
                  <a:off x="3164" y="1600"/>
                  <a:ext cx="38" cy="76"/>
                </a:xfrm>
                <a:prstGeom prst="ellipse">
                  <a:avLst/>
                </a:prstGeom>
                <a:gradFill rotWithShape="0">
                  <a:gsLst>
                    <a:gs pos="0">
                      <a:srgbClr val="333399"/>
                    </a:gs>
                    <a:gs pos="100000">
                      <a:srgbClr val="333399">
                        <a:gamma/>
                        <a:shade val="26275"/>
                        <a:invGamma/>
                      </a:srgbClr>
                    </a:gs>
                  </a:gsLst>
                  <a:lin ang="18900000" scaled="1"/>
                </a:gradFill>
                <a:ln w="9525">
                  <a:solidFill>
                    <a:srgbClr val="F23655"/>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3" name="Rectangle 89"/>
                <p:cNvSpPr>
                  <a:spLocks noChangeAspect="1" noChangeArrowheads="1"/>
                </p:cNvSpPr>
                <p:nvPr/>
              </p:nvSpPr>
              <p:spPr bwMode="auto">
                <a:xfrm>
                  <a:off x="3782" y="1330"/>
                  <a:ext cx="859" cy="53"/>
                </a:xfrm>
                <a:prstGeom prst="rect">
                  <a:avLst/>
                </a:prstGeom>
                <a:gradFill rotWithShape="0">
                  <a:gsLst>
                    <a:gs pos="0">
                      <a:srgbClr val="6600FF">
                        <a:gamma/>
                        <a:shade val="16078"/>
                        <a:invGamma/>
                      </a:srgbClr>
                    </a:gs>
                    <a:gs pos="50000">
                      <a:srgbClr val="6600FF"/>
                    </a:gs>
                    <a:gs pos="100000">
                      <a:srgbClr val="6600FF">
                        <a:gamma/>
                        <a:shade val="16078"/>
                        <a:invGamma/>
                      </a:srgbClr>
                    </a:gs>
                  </a:gsLst>
                  <a:lin ang="5400000" scaled="1"/>
                </a:gradFill>
                <a:ln>
                  <a:noFill/>
                </a:ln>
                <a:effectLst/>
                <a:extLs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4" name="Oval 90"/>
                <p:cNvSpPr>
                  <a:spLocks noChangeAspect="1" noChangeArrowheads="1"/>
                </p:cNvSpPr>
                <p:nvPr/>
              </p:nvSpPr>
              <p:spPr bwMode="auto">
                <a:xfrm>
                  <a:off x="3768" y="1333"/>
                  <a:ext cx="24" cy="48"/>
                </a:xfrm>
                <a:prstGeom prst="ellipse">
                  <a:avLst/>
                </a:prstGeom>
                <a:gradFill rotWithShape="0">
                  <a:gsLst>
                    <a:gs pos="0">
                      <a:srgbClr val="6600FF">
                        <a:gamma/>
                        <a:shade val="46275"/>
                        <a:invGamma/>
                      </a:srgbClr>
                    </a:gs>
                    <a:gs pos="50000">
                      <a:srgbClr val="6600FF"/>
                    </a:gs>
                    <a:gs pos="100000">
                      <a:srgbClr val="6600FF">
                        <a:gamma/>
                        <a:shade val="46275"/>
                        <a:invGamma/>
                      </a:srgbClr>
                    </a:gs>
                  </a:gsLst>
                  <a:lin ang="540000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5" name="Rectangle 91"/>
                <p:cNvSpPr>
                  <a:spLocks noChangeAspect="1" noChangeArrowheads="1"/>
                </p:cNvSpPr>
                <p:nvPr/>
              </p:nvSpPr>
              <p:spPr bwMode="auto">
                <a:xfrm>
                  <a:off x="3758" y="1371"/>
                  <a:ext cx="866" cy="61"/>
                </a:xfrm>
                <a:prstGeom prst="rect">
                  <a:avLst/>
                </a:prstGeom>
                <a:gradFill rotWithShape="0">
                  <a:gsLst>
                    <a:gs pos="0">
                      <a:srgbClr val="00CC66">
                        <a:gamma/>
                        <a:shade val="16078"/>
                        <a:invGamma/>
                      </a:srgbClr>
                    </a:gs>
                    <a:gs pos="50000">
                      <a:srgbClr val="00CC66"/>
                    </a:gs>
                    <a:gs pos="100000">
                      <a:srgbClr val="00CC66">
                        <a:gamma/>
                        <a:shade val="16078"/>
                        <a:invGamma/>
                      </a:srgbClr>
                    </a:gs>
                  </a:gsLst>
                  <a:lin ang="5400000" scaled="1"/>
                </a:gradFill>
                <a:ln>
                  <a:noFill/>
                </a:ln>
                <a:effectLst/>
                <a:extLs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6" name="Arc 92"/>
                <p:cNvSpPr>
                  <a:spLocks noChangeAspect="1"/>
                </p:cNvSpPr>
                <p:nvPr/>
              </p:nvSpPr>
              <p:spPr bwMode="auto">
                <a:xfrm>
                  <a:off x="3758" y="1420"/>
                  <a:ext cx="35" cy="98"/>
                </a:xfrm>
                <a:custGeom>
                  <a:avLst/>
                  <a:gdLst>
                    <a:gd name="G0" fmla="+- 21600 0 0"/>
                    <a:gd name="G1" fmla="+- 0 0 0"/>
                    <a:gd name="G2" fmla="+- 21600 0 0"/>
                    <a:gd name="T0" fmla="*/ 17423 w 21600"/>
                    <a:gd name="T1" fmla="*/ 21192 h 21192"/>
                    <a:gd name="T2" fmla="*/ 0 w 21600"/>
                    <a:gd name="T3" fmla="*/ 0 h 21192"/>
                    <a:gd name="T4" fmla="*/ 21600 w 21600"/>
                    <a:gd name="T5" fmla="*/ 0 h 21192"/>
                  </a:gdLst>
                  <a:ahLst/>
                  <a:cxnLst>
                    <a:cxn ang="0">
                      <a:pos x="T0" y="T1"/>
                    </a:cxn>
                    <a:cxn ang="0">
                      <a:pos x="T2" y="T3"/>
                    </a:cxn>
                    <a:cxn ang="0">
                      <a:pos x="T4" y="T5"/>
                    </a:cxn>
                  </a:cxnLst>
                  <a:rect l="0" t="0" r="r" b="b"/>
                  <a:pathLst>
                    <a:path w="21600" h="21192" fill="none" extrusionOk="0">
                      <a:moveTo>
                        <a:pt x="17422" y="21192"/>
                      </a:moveTo>
                      <a:cubicBezTo>
                        <a:pt x="7298" y="19196"/>
                        <a:pt x="0" y="10318"/>
                        <a:pt x="0" y="0"/>
                      </a:cubicBezTo>
                    </a:path>
                    <a:path w="21600" h="21192" stroke="0" extrusionOk="0">
                      <a:moveTo>
                        <a:pt x="17422" y="21192"/>
                      </a:moveTo>
                      <a:cubicBezTo>
                        <a:pt x="7298" y="19196"/>
                        <a:pt x="0" y="10318"/>
                        <a:pt x="0" y="0"/>
                      </a:cubicBezTo>
                      <a:lnTo>
                        <a:pt x="21600" y="0"/>
                      </a:lnTo>
                      <a:close/>
                    </a:path>
                  </a:pathLst>
                </a:custGeom>
                <a:noFill/>
                <a:ln w="25400" cap="rnd">
                  <a:solidFill>
                    <a:srgbClr val="009999"/>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7" name="Arc 93"/>
                <p:cNvSpPr>
                  <a:spLocks noChangeAspect="1"/>
                </p:cNvSpPr>
                <p:nvPr/>
              </p:nvSpPr>
              <p:spPr bwMode="auto">
                <a:xfrm rot="10800000">
                  <a:off x="3757" y="1327"/>
                  <a:ext cx="35" cy="94"/>
                </a:xfrm>
                <a:custGeom>
                  <a:avLst/>
                  <a:gdLst>
                    <a:gd name="G0" fmla="+- 0 0 0"/>
                    <a:gd name="G1" fmla="+- 0 0 0"/>
                    <a:gd name="G2" fmla="+- 21600 0 0"/>
                    <a:gd name="T0" fmla="*/ 21600 w 21600"/>
                    <a:gd name="T1" fmla="*/ 0 h 21323"/>
                    <a:gd name="T2" fmla="*/ 3450 w 21600"/>
                    <a:gd name="T3" fmla="*/ 21323 h 21323"/>
                    <a:gd name="T4" fmla="*/ 0 w 21600"/>
                    <a:gd name="T5" fmla="*/ 0 h 21323"/>
                  </a:gdLst>
                  <a:ahLst/>
                  <a:cxnLst>
                    <a:cxn ang="0">
                      <a:pos x="T0" y="T1"/>
                    </a:cxn>
                    <a:cxn ang="0">
                      <a:pos x="T2" y="T3"/>
                    </a:cxn>
                    <a:cxn ang="0">
                      <a:pos x="T4" y="T5"/>
                    </a:cxn>
                  </a:cxnLst>
                  <a:rect l="0" t="0" r="r" b="b"/>
                  <a:pathLst>
                    <a:path w="21600" h="21323" fill="none" extrusionOk="0">
                      <a:moveTo>
                        <a:pt x="21600" y="0"/>
                      </a:moveTo>
                      <a:cubicBezTo>
                        <a:pt x="21600" y="10597"/>
                        <a:pt x="13911" y="19630"/>
                        <a:pt x="3449" y="21322"/>
                      </a:cubicBezTo>
                    </a:path>
                    <a:path w="21600" h="21323" stroke="0" extrusionOk="0">
                      <a:moveTo>
                        <a:pt x="21600" y="0"/>
                      </a:moveTo>
                      <a:cubicBezTo>
                        <a:pt x="21600" y="10597"/>
                        <a:pt x="13911" y="19630"/>
                        <a:pt x="3449" y="21322"/>
                      </a:cubicBezTo>
                      <a:lnTo>
                        <a:pt x="0" y="0"/>
                      </a:lnTo>
                      <a:close/>
                    </a:path>
                  </a:pathLst>
                </a:custGeom>
                <a:noFill/>
                <a:ln w="25400" cap="rnd">
                  <a:solidFill>
                    <a:srgbClr val="009999"/>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8" name="Oval 94"/>
                <p:cNvSpPr>
                  <a:spLocks noChangeAspect="1" noChangeArrowheads="1"/>
                </p:cNvSpPr>
                <p:nvPr/>
              </p:nvSpPr>
              <p:spPr bwMode="auto">
                <a:xfrm>
                  <a:off x="4621" y="1331"/>
                  <a:ext cx="41" cy="183"/>
                </a:xfrm>
                <a:prstGeom prst="ellipse">
                  <a:avLst/>
                </a:prstGeom>
                <a:gradFill rotWithShape="0">
                  <a:gsLst>
                    <a:gs pos="0">
                      <a:srgbClr val="330099"/>
                    </a:gs>
                    <a:gs pos="100000">
                      <a:srgbClr val="86091F"/>
                    </a:gs>
                  </a:gsLst>
                  <a:lin ang="5400000" scaled="1"/>
                </a:gradFill>
                <a:ln w="25400">
                  <a:solidFill>
                    <a:srgbClr val="0099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9" name="Freeform 96"/>
                <p:cNvSpPr>
                  <a:spLocks noChangeAspect="1"/>
                </p:cNvSpPr>
                <p:nvPr/>
              </p:nvSpPr>
              <p:spPr bwMode="auto">
                <a:xfrm>
                  <a:off x="3113" y="1270"/>
                  <a:ext cx="651" cy="108"/>
                </a:xfrm>
                <a:custGeom>
                  <a:avLst/>
                  <a:gdLst>
                    <a:gd name="T0" fmla="*/ 0 w 1636"/>
                    <a:gd name="T1" fmla="*/ 0 h 272"/>
                    <a:gd name="T2" fmla="*/ 940 w 1636"/>
                    <a:gd name="T3" fmla="*/ 0 h 272"/>
                    <a:gd name="T4" fmla="*/ 1120 w 1636"/>
                    <a:gd name="T5" fmla="*/ 272 h 272"/>
                    <a:gd name="T6" fmla="*/ 1636 w 1636"/>
                    <a:gd name="T7" fmla="*/ 272 h 272"/>
                  </a:gdLst>
                  <a:ahLst/>
                  <a:cxnLst>
                    <a:cxn ang="0">
                      <a:pos x="T0" y="T1"/>
                    </a:cxn>
                    <a:cxn ang="0">
                      <a:pos x="T2" y="T3"/>
                    </a:cxn>
                    <a:cxn ang="0">
                      <a:pos x="T4" y="T5"/>
                    </a:cxn>
                    <a:cxn ang="0">
                      <a:pos x="T6" y="T7"/>
                    </a:cxn>
                  </a:cxnLst>
                  <a:rect l="0" t="0" r="r" b="b"/>
                  <a:pathLst>
                    <a:path w="1636" h="272">
                      <a:moveTo>
                        <a:pt x="0" y="0"/>
                      </a:moveTo>
                      <a:lnTo>
                        <a:pt x="940" y="0"/>
                      </a:lnTo>
                      <a:lnTo>
                        <a:pt x="1120" y="272"/>
                      </a:lnTo>
                      <a:lnTo>
                        <a:pt x="1636" y="272"/>
                      </a:lnTo>
                    </a:path>
                  </a:pathLst>
                </a:custGeom>
                <a:noFill/>
                <a:ln w="28575" cmpd="sng">
                  <a:solidFill>
                    <a:srgbClr val="53DD9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60" name="Oval 97"/>
                <p:cNvSpPr>
                  <a:spLocks noChangeAspect="1" noChangeArrowheads="1"/>
                </p:cNvSpPr>
                <p:nvPr/>
              </p:nvSpPr>
              <p:spPr bwMode="auto">
                <a:xfrm>
                  <a:off x="3100" y="1260"/>
                  <a:ext cx="39" cy="72"/>
                </a:xfrm>
                <a:prstGeom prst="ellipse">
                  <a:avLst/>
                </a:prstGeom>
                <a:gradFill rotWithShape="0">
                  <a:gsLst>
                    <a:gs pos="0">
                      <a:srgbClr val="00CC66"/>
                    </a:gs>
                    <a:gs pos="100000">
                      <a:srgbClr val="00CC66">
                        <a:gamma/>
                        <a:shade val="6275"/>
                        <a:invGamma/>
                      </a:srgbClr>
                    </a:gs>
                  </a:gsLst>
                  <a:lin ang="18900000" scaled="1"/>
                </a:gradFill>
                <a:ln w="9525">
                  <a:solidFill>
                    <a:srgbClr val="53DD9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126" name="组合 528"/>
              <p:cNvGrpSpPr/>
              <p:nvPr/>
            </p:nvGrpSpPr>
            <p:grpSpPr>
              <a:xfrm>
                <a:off x="10994695" y="4116940"/>
                <a:ext cx="571818" cy="266538"/>
                <a:chOff x="-964407" y="3344863"/>
                <a:chExt cx="1928813" cy="769938"/>
              </a:xfrm>
              <a:solidFill>
                <a:srgbClr val="333399">
                  <a:lumMod val="50000"/>
                </a:srgbClr>
              </a:solidFill>
            </p:grpSpPr>
            <p:grpSp>
              <p:nvGrpSpPr>
                <p:cNvPr id="224" name="组合 155"/>
                <p:cNvGrpSpPr/>
                <p:nvPr/>
              </p:nvGrpSpPr>
              <p:grpSpPr>
                <a:xfrm>
                  <a:off x="-964407" y="3344863"/>
                  <a:ext cx="1928813" cy="769938"/>
                  <a:chOff x="9391650" y="3060700"/>
                  <a:chExt cx="1928813" cy="769938"/>
                </a:xfrm>
                <a:grpFill/>
              </p:grpSpPr>
              <p:sp>
                <p:nvSpPr>
                  <p:cNvPr id="240" name="Freeform 6"/>
                  <p:cNvSpPr>
                    <a:spLocks noEditPoints="1"/>
                  </p:cNvSpPr>
                  <p:nvPr/>
                </p:nvSpPr>
                <p:spPr bwMode="auto">
                  <a:xfrm>
                    <a:off x="9391650" y="3384550"/>
                    <a:ext cx="1928813" cy="446088"/>
                  </a:xfrm>
                  <a:custGeom>
                    <a:avLst/>
                    <a:gdLst/>
                    <a:ahLst/>
                    <a:cxnLst>
                      <a:cxn ang="0">
                        <a:pos x="62" y="330"/>
                      </a:cxn>
                      <a:cxn ang="0">
                        <a:pos x="212" y="278"/>
                      </a:cxn>
                      <a:cxn ang="0">
                        <a:pos x="2393" y="128"/>
                      </a:cxn>
                      <a:cxn ang="0">
                        <a:pos x="4510" y="206"/>
                      </a:cxn>
                      <a:cxn ang="0">
                        <a:pos x="7765" y="353"/>
                      </a:cxn>
                      <a:cxn ang="0">
                        <a:pos x="10877" y="240"/>
                      </a:cxn>
                      <a:cxn ang="0">
                        <a:pos x="13961" y="54"/>
                      </a:cxn>
                      <a:cxn ang="0">
                        <a:pos x="16864" y="102"/>
                      </a:cxn>
                      <a:cxn ang="0">
                        <a:pos x="16999" y="197"/>
                      </a:cxn>
                      <a:cxn ang="0">
                        <a:pos x="16963" y="378"/>
                      </a:cxn>
                      <a:cxn ang="0">
                        <a:pos x="16746" y="799"/>
                      </a:cxn>
                      <a:cxn ang="0">
                        <a:pos x="16144" y="2365"/>
                      </a:cxn>
                      <a:cxn ang="0">
                        <a:pos x="15928" y="2534"/>
                      </a:cxn>
                      <a:cxn ang="0">
                        <a:pos x="15168" y="2502"/>
                      </a:cxn>
                      <a:cxn ang="0">
                        <a:pos x="14362" y="2416"/>
                      </a:cxn>
                      <a:cxn ang="0">
                        <a:pos x="14106" y="2326"/>
                      </a:cxn>
                      <a:cxn ang="0">
                        <a:pos x="13964" y="2178"/>
                      </a:cxn>
                      <a:cxn ang="0">
                        <a:pos x="13919" y="2001"/>
                      </a:cxn>
                      <a:cxn ang="0">
                        <a:pos x="12236" y="3551"/>
                      </a:cxn>
                      <a:cxn ang="0">
                        <a:pos x="12157" y="3752"/>
                      </a:cxn>
                      <a:cxn ang="0">
                        <a:pos x="11921" y="3844"/>
                      </a:cxn>
                      <a:cxn ang="0">
                        <a:pos x="11645" y="3844"/>
                      </a:cxn>
                      <a:cxn ang="0">
                        <a:pos x="10774" y="3204"/>
                      </a:cxn>
                      <a:cxn ang="0">
                        <a:pos x="10657" y="2863"/>
                      </a:cxn>
                      <a:cxn ang="0">
                        <a:pos x="10627" y="2313"/>
                      </a:cxn>
                      <a:cxn ang="0">
                        <a:pos x="6840" y="1774"/>
                      </a:cxn>
                      <a:cxn ang="0">
                        <a:pos x="6783" y="3140"/>
                      </a:cxn>
                      <a:cxn ang="0">
                        <a:pos x="6615" y="3402"/>
                      </a:cxn>
                      <a:cxn ang="0">
                        <a:pos x="6098" y="3899"/>
                      </a:cxn>
                      <a:cxn ang="0">
                        <a:pos x="5811" y="3936"/>
                      </a:cxn>
                      <a:cxn ang="0">
                        <a:pos x="5562" y="3846"/>
                      </a:cxn>
                      <a:cxn ang="0">
                        <a:pos x="5461" y="3601"/>
                      </a:cxn>
                      <a:cxn ang="0">
                        <a:pos x="5457" y="2622"/>
                      </a:cxn>
                      <a:cxn ang="0">
                        <a:pos x="3263" y="2085"/>
                      </a:cxn>
                      <a:cxn ang="0">
                        <a:pos x="3115" y="2420"/>
                      </a:cxn>
                      <a:cxn ang="0">
                        <a:pos x="2862" y="2578"/>
                      </a:cxn>
                      <a:cxn ang="0">
                        <a:pos x="1682" y="2738"/>
                      </a:cxn>
                      <a:cxn ang="0">
                        <a:pos x="1208" y="2739"/>
                      </a:cxn>
                      <a:cxn ang="0">
                        <a:pos x="954" y="2606"/>
                      </a:cxn>
                      <a:cxn ang="0">
                        <a:pos x="728" y="2303"/>
                      </a:cxn>
                      <a:cxn ang="0">
                        <a:pos x="504" y="937"/>
                      </a:cxn>
                      <a:cxn ang="0">
                        <a:pos x="320" y="728"/>
                      </a:cxn>
                      <a:cxn ang="0">
                        <a:pos x="0" y="493"/>
                      </a:cxn>
                      <a:cxn ang="0">
                        <a:pos x="15805" y="1979"/>
                      </a:cxn>
                      <a:cxn ang="0">
                        <a:pos x="15716" y="2093"/>
                      </a:cxn>
                      <a:cxn ang="0">
                        <a:pos x="15355" y="2064"/>
                      </a:cxn>
                      <a:cxn ang="0">
                        <a:pos x="14590" y="1994"/>
                      </a:cxn>
                      <a:cxn ang="0">
                        <a:pos x="12376" y="1529"/>
                      </a:cxn>
                      <a:cxn ang="0">
                        <a:pos x="11066" y="2953"/>
                      </a:cxn>
                      <a:cxn ang="0">
                        <a:pos x="11017" y="2709"/>
                      </a:cxn>
                      <a:cxn ang="0">
                        <a:pos x="11018" y="1948"/>
                      </a:cxn>
                      <a:cxn ang="0">
                        <a:pos x="6398" y="3094"/>
                      </a:cxn>
                      <a:cxn ang="0">
                        <a:pos x="6480" y="2792"/>
                      </a:cxn>
                      <a:cxn ang="0">
                        <a:pos x="6479" y="2171"/>
                      </a:cxn>
                      <a:cxn ang="0">
                        <a:pos x="2589" y="2054"/>
                      </a:cxn>
                      <a:cxn ang="0">
                        <a:pos x="2512" y="2140"/>
                      </a:cxn>
                      <a:cxn ang="0">
                        <a:pos x="1684" y="2267"/>
                      </a:cxn>
                      <a:cxn ang="0">
                        <a:pos x="1357" y="2281"/>
                      </a:cxn>
                      <a:cxn ang="0">
                        <a:pos x="1307" y="2205"/>
                      </a:cxn>
                    </a:cxnLst>
                    <a:rect l="0" t="0" r="r" b="b"/>
                    <a:pathLst>
                      <a:path w="17010" h="3937">
                        <a:moveTo>
                          <a:pt x="0" y="493"/>
                        </a:moveTo>
                        <a:lnTo>
                          <a:pt x="1" y="483"/>
                        </a:lnTo>
                        <a:lnTo>
                          <a:pt x="5" y="460"/>
                        </a:lnTo>
                        <a:lnTo>
                          <a:pt x="10" y="444"/>
                        </a:lnTo>
                        <a:lnTo>
                          <a:pt x="14" y="426"/>
                        </a:lnTo>
                        <a:lnTo>
                          <a:pt x="20" y="406"/>
                        </a:lnTo>
                        <a:lnTo>
                          <a:pt x="28" y="386"/>
                        </a:lnTo>
                        <a:lnTo>
                          <a:pt x="37" y="366"/>
                        </a:lnTo>
                        <a:lnTo>
                          <a:pt x="48" y="347"/>
                        </a:lnTo>
                        <a:lnTo>
                          <a:pt x="54" y="338"/>
                        </a:lnTo>
                        <a:lnTo>
                          <a:pt x="62" y="330"/>
                        </a:lnTo>
                        <a:lnTo>
                          <a:pt x="68" y="321"/>
                        </a:lnTo>
                        <a:lnTo>
                          <a:pt x="77" y="313"/>
                        </a:lnTo>
                        <a:lnTo>
                          <a:pt x="84" y="306"/>
                        </a:lnTo>
                        <a:lnTo>
                          <a:pt x="94" y="300"/>
                        </a:lnTo>
                        <a:lnTo>
                          <a:pt x="103" y="294"/>
                        </a:lnTo>
                        <a:lnTo>
                          <a:pt x="113" y="289"/>
                        </a:lnTo>
                        <a:lnTo>
                          <a:pt x="123" y="285"/>
                        </a:lnTo>
                        <a:lnTo>
                          <a:pt x="135" y="282"/>
                        </a:lnTo>
                        <a:lnTo>
                          <a:pt x="147" y="281"/>
                        </a:lnTo>
                        <a:lnTo>
                          <a:pt x="159" y="280"/>
                        </a:lnTo>
                        <a:lnTo>
                          <a:pt x="212" y="278"/>
                        </a:lnTo>
                        <a:lnTo>
                          <a:pt x="311" y="272"/>
                        </a:lnTo>
                        <a:lnTo>
                          <a:pt x="453" y="263"/>
                        </a:lnTo>
                        <a:lnTo>
                          <a:pt x="627" y="252"/>
                        </a:lnTo>
                        <a:lnTo>
                          <a:pt x="829" y="238"/>
                        </a:lnTo>
                        <a:lnTo>
                          <a:pt x="1050" y="222"/>
                        </a:lnTo>
                        <a:lnTo>
                          <a:pt x="1284" y="206"/>
                        </a:lnTo>
                        <a:lnTo>
                          <a:pt x="1523" y="189"/>
                        </a:lnTo>
                        <a:lnTo>
                          <a:pt x="1761" y="172"/>
                        </a:lnTo>
                        <a:lnTo>
                          <a:pt x="1990" y="156"/>
                        </a:lnTo>
                        <a:lnTo>
                          <a:pt x="2203" y="141"/>
                        </a:lnTo>
                        <a:lnTo>
                          <a:pt x="2393" y="128"/>
                        </a:lnTo>
                        <a:lnTo>
                          <a:pt x="2554" y="116"/>
                        </a:lnTo>
                        <a:lnTo>
                          <a:pt x="2677" y="107"/>
                        </a:lnTo>
                        <a:lnTo>
                          <a:pt x="2756" y="101"/>
                        </a:lnTo>
                        <a:lnTo>
                          <a:pt x="2784" y="99"/>
                        </a:lnTo>
                        <a:lnTo>
                          <a:pt x="2829" y="102"/>
                        </a:lnTo>
                        <a:lnTo>
                          <a:pt x="2958" y="111"/>
                        </a:lnTo>
                        <a:lnTo>
                          <a:pt x="3160" y="123"/>
                        </a:lnTo>
                        <a:lnTo>
                          <a:pt x="3426" y="140"/>
                        </a:lnTo>
                        <a:lnTo>
                          <a:pt x="3746" y="161"/>
                        </a:lnTo>
                        <a:lnTo>
                          <a:pt x="4111" y="183"/>
                        </a:lnTo>
                        <a:lnTo>
                          <a:pt x="4510" y="206"/>
                        </a:lnTo>
                        <a:lnTo>
                          <a:pt x="4934" y="231"/>
                        </a:lnTo>
                        <a:lnTo>
                          <a:pt x="5373" y="255"/>
                        </a:lnTo>
                        <a:lnTo>
                          <a:pt x="5816" y="279"/>
                        </a:lnTo>
                        <a:lnTo>
                          <a:pt x="6255" y="300"/>
                        </a:lnTo>
                        <a:lnTo>
                          <a:pt x="6680" y="319"/>
                        </a:lnTo>
                        <a:lnTo>
                          <a:pt x="6883" y="328"/>
                        </a:lnTo>
                        <a:lnTo>
                          <a:pt x="7078" y="335"/>
                        </a:lnTo>
                        <a:lnTo>
                          <a:pt x="7266" y="341"/>
                        </a:lnTo>
                        <a:lnTo>
                          <a:pt x="7444" y="347"/>
                        </a:lnTo>
                        <a:lnTo>
                          <a:pt x="7611" y="350"/>
                        </a:lnTo>
                        <a:lnTo>
                          <a:pt x="7765" y="353"/>
                        </a:lnTo>
                        <a:lnTo>
                          <a:pt x="7906" y="354"/>
                        </a:lnTo>
                        <a:lnTo>
                          <a:pt x="8033" y="354"/>
                        </a:lnTo>
                        <a:lnTo>
                          <a:pt x="8161" y="352"/>
                        </a:lnTo>
                        <a:lnTo>
                          <a:pt x="8304" y="350"/>
                        </a:lnTo>
                        <a:lnTo>
                          <a:pt x="8465" y="346"/>
                        </a:lnTo>
                        <a:lnTo>
                          <a:pt x="8639" y="340"/>
                        </a:lnTo>
                        <a:lnTo>
                          <a:pt x="9025" y="326"/>
                        </a:lnTo>
                        <a:lnTo>
                          <a:pt x="9452" y="309"/>
                        </a:lnTo>
                        <a:lnTo>
                          <a:pt x="9910" y="287"/>
                        </a:lnTo>
                        <a:lnTo>
                          <a:pt x="10389" y="265"/>
                        </a:lnTo>
                        <a:lnTo>
                          <a:pt x="10877" y="240"/>
                        </a:lnTo>
                        <a:lnTo>
                          <a:pt x="11365" y="214"/>
                        </a:lnTo>
                        <a:lnTo>
                          <a:pt x="11840" y="188"/>
                        </a:lnTo>
                        <a:lnTo>
                          <a:pt x="12294" y="163"/>
                        </a:lnTo>
                        <a:lnTo>
                          <a:pt x="12715" y="138"/>
                        </a:lnTo>
                        <a:lnTo>
                          <a:pt x="13092" y="116"/>
                        </a:lnTo>
                        <a:lnTo>
                          <a:pt x="13417" y="95"/>
                        </a:lnTo>
                        <a:lnTo>
                          <a:pt x="13677" y="78"/>
                        </a:lnTo>
                        <a:lnTo>
                          <a:pt x="13779" y="70"/>
                        </a:lnTo>
                        <a:lnTo>
                          <a:pt x="13862" y="64"/>
                        </a:lnTo>
                        <a:lnTo>
                          <a:pt x="13923" y="59"/>
                        </a:lnTo>
                        <a:lnTo>
                          <a:pt x="13961" y="54"/>
                        </a:lnTo>
                        <a:lnTo>
                          <a:pt x="14058" y="41"/>
                        </a:lnTo>
                        <a:lnTo>
                          <a:pt x="14135" y="31"/>
                        </a:lnTo>
                        <a:lnTo>
                          <a:pt x="14196" y="21"/>
                        </a:lnTo>
                        <a:lnTo>
                          <a:pt x="14242" y="14"/>
                        </a:lnTo>
                        <a:lnTo>
                          <a:pt x="14275" y="7"/>
                        </a:lnTo>
                        <a:lnTo>
                          <a:pt x="14295" y="3"/>
                        </a:lnTo>
                        <a:lnTo>
                          <a:pt x="14306" y="0"/>
                        </a:lnTo>
                        <a:lnTo>
                          <a:pt x="14310" y="0"/>
                        </a:lnTo>
                        <a:lnTo>
                          <a:pt x="16831" y="91"/>
                        </a:lnTo>
                        <a:lnTo>
                          <a:pt x="16841" y="94"/>
                        </a:lnTo>
                        <a:lnTo>
                          <a:pt x="16864" y="102"/>
                        </a:lnTo>
                        <a:lnTo>
                          <a:pt x="16879" y="107"/>
                        </a:lnTo>
                        <a:lnTo>
                          <a:pt x="16896" y="115"/>
                        </a:lnTo>
                        <a:lnTo>
                          <a:pt x="16914" y="123"/>
                        </a:lnTo>
                        <a:lnTo>
                          <a:pt x="16932" y="134"/>
                        </a:lnTo>
                        <a:lnTo>
                          <a:pt x="16950" y="146"/>
                        </a:lnTo>
                        <a:lnTo>
                          <a:pt x="16966" y="159"/>
                        </a:lnTo>
                        <a:lnTo>
                          <a:pt x="16975" y="165"/>
                        </a:lnTo>
                        <a:lnTo>
                          <a:pt x="16981" y="172"/>
                        </a:lnTo>
                        <a:lnTo>
                          <a:pt x="16988" y="180"/>
                        </a:lnTo>
                        <a:lnTo>
                          <a:pt x="16994" y="188"/>
                        </a:lnTo>
                        <a:lnTo>
                          <a:pt x="16999" y="197"/>
                        </a:lnTo>
                        <a:lnTo>
                          <a:pt x="17004" y="205"/>
                        </a:lnTo>
                        <a:lnTo>
                          <a:pt x="17007" y="215"/>
                        </a:lnTo>
                        <a:lnTo>
                          <a:pt x="17009" y="224"/>
                        </a:lnTo>
                        <a:lnTo>
                          <a:pt x="17010" y="234"/>
                        </a:lnTo>
                        <a:lnTo>
                          <a:pt x="17010" y="244"/>
                        </a:lnTo>
                        <a:lnTo>
                          <a:pt x="17009" y="254"/>
                        </a:lnTo>
                        <a:lnTo>
                          <a:pt x="17006" y="266"/>
                        </a:lnTo>
                        <a:lnTo>
                          <a:pt x="16998" y="289"/>
                        </a:lnTo>
                        <a:lnTo>
                          <a:pt x="16988" y="317"/>
                        </a:lnTo>
                        <a:lnTo>
                          <a:pt x="16976" y="346"/>
                        </a:lnTo>
                        <a:lnTo>
                          <a:pt x="16963" y="378"/>
                        </a:lnTo>
                        <a:lnTo>
                          <a:pt x="16933" y="443"/>
                        </a:lnTo>
                        <a:lnTo>
                          <a:pt x="16902" y="510"/>
                        </a:lnTo>
                        <a:lnTo>
                          <a:pt x="16871" y="574"/>
                        </a:lnTo>
                        <a:lnTo>
                          <a:pt x="16842" y="631"/>
                        </a:lnTo>
                        <a:lnTo>
                          <a:pt x="16819" y="677"/>
                        </a:lnTo>
                        <a:lnTo>
                          <a:pt x="16804" y="706"/>
                        </a:lnTo>
                        <a:lnTo>
                          <a:pt x="16793" y="727"/>
                        </a:lnTo>
                        <a:lnTo>
                          <a:pt x="16782" y="746"/>
                        </a:lnTo>
                        <a:lnTo>
                          <a:pt x="16772" y="763"/>
                        </a:lnTo>
                        <a:lnTo>
                          <a:pt x="16761" y="778"/>
                        </a:lnTo>
                        <a:lnTo>
                          <a:pt x="16746" y="799"/>
                        </a:lnTo>
                        <a:lnTo>
                          <a:pt x="16740" y="807"/>
                        </a:lnTo>
                        <a:lnTo>
                          <a:pt x="16300" y="899"/>
                        </a:lnTo>
                        <a:lnTo>
                          <a:pt x="16235" y="2164"/>
                        </a:lnTo>
                        <a:lnTo>
                          <a:pt x="16230" y="2182"/>
                        </a:lnTo>
                        <a:lnTo>
                          <a:pt x="16215" y="2228"/>
                        </a:lnTo>
                        <a:lnTo>
                          <a:pt x="16202" y="2257"/>
                        </a:lnTo>
                        <a:lnTo>
                          <a:pt x="16186" y="2291"/>
                        </a:lnTo>
                        <a:lnTo>
                          <a:pt x="16178" y="2309"/>
                        </a:lnTo>
                        <a:lnTo>
                          <a:pt x="16167" y="2328"/>
                        </a:lnTo>
                        <a:lnTo>
                          <a:pt x="16155" y="2347"/>
                        </a:lnTo>
                        <a:lnTo>
                          <a:pt x="16144" y="2365"/>
                        </a:lnTo>
                        <a:lnTo>
                          <a:pt x="16130" y="2384"/>
                        </a:lnTo>
                        <a:lnTo>
                          <a:pt x="16115" y="2402"/>
                        </a:lnTo>
                        <a:lnTo>
                          <a:pt x="16099" y="2420"/>
                        </a:lnTo>
                        <a:lnTo>
                          <a:pt x="16082" y="2438"/>
                        </a:lnTo>
                        <a:lnTo>
                          <a:pt x="16064" y="2454"/>
                        </a:lnTo>
                        <a:lnTo>
                          <a:pt x="16045" y="2471"/>
                        </a:lnTo>
                        <a:lnTo>
                          <a:pt x="16024" y="2486"/>
                        </a:lnTo>
                        <a:lnTo>
                          <a:pt x="16002" y="2500"/>
                        </a:lnTo>
                        <a:lnTo>
                          <a:pt x="15979" y="2513"/>
                        </a:lnTo>
                        <a:lnTo>
                          <a:pt x="15953" y="2523"/>
                        </a:lnTo>
                        <a:lnTo>
                          <a:pt x="15928" y="2534"/>
                        </a:lnTo>
                        <a:lnTo>
                          <a:pt x="15900" y="2541"/>
                        </a:lnTo>
                        <a:lnTo>
                          <a:pt x="15870" y="2548"/>
                        </a:lnTo>
                        <a:lnTo>
                          <a:pt x="15839" y="2551"/>
                        </a:lnTo>
                        <a:lnTo>
                          <a:pt x="15808" y="2553"/>
                        </a:lnTo>
                        <a:lnTo>
                          <a:pt x="15774" y="2553"/>
                        </a:lnTo>
                        <a:lnTo>
                          <a:pt x="15697" y="2549"/>
                        </a:lnTo>
                        <a:lnTo>
                          <a:pt x="15607" y="2541"/>
                        </a:lnTo>
                        <a:lnTo>
                          <a:pt x="15507" y="2534"/>
                        </a:lnTo>
                        <a:lnTo>
                          <a:pt x="15398" y="2524"/>
                        </a:lnTo>
                        <a:lnTo>
                          <a:pt x="15285" y="2514"/>
                        </a:lnTo>
                        <a:lnTo>
                          <a:pt x="15168" y="2502"/>
                        </a:lnTo>
                        <a:lnTo>
                          <a:pt x="15050" y="2490"/>
                        </a:lnTo>
                        <a:lnTo>
                          <a:pt x="14934" y="2479"/>
                        </a:lnTo>
                        <a:lnTo>
                          <a:pt x="14822" y="2467"/>
                        </a:lnTo>
                        <a:lnTo>
                          <a:pt x="14718" y="2455"/>
                        </a:lnTo>
                        <a:lnTo>
                          <a:pt x="14622" y="2445"/>
                        </a:lnTo>
                        <a:lnTo>
                          <a:pt x="14539" y="2436"/>
                        </a:lnTo>
                        <a:lnTo>
                          <a:pt x="14469" y="2429"/>
                        </a:lnTo>
                        <a:lnTo>
                          <a:pt x="14417" y="2422"/>
                        </a:lnTo>
                        <a:lnTo>
                          <a:pt x="14384" y="2418"/>
                        </a:lnTo>
                        <a:lnTo>
                          <a:pt x="14372" y="2417"/>
                        </a:lnTo>
                        <a:lnTo>
                          <a:pt x="14362" y="2416"/>
                        </a:lnTo>
                        <a:lnTo>
                          <a:pt x="14334" y="2409"/>
                        </a:lnTo>
                        <a:lnTo>
                          <a:pt x="14315" y="2405"/>
                        </a:lnTo>
                        <a:lnTo>
                          <a:pt x="14293" y="2400"/>
                        </a:lnTo>
                        <a:lnTo>
                          <a:pt x="14268" y="2393"/>
                        </a:lnTo>
                        <a:lnTo>
                          <a:pt x="14242" y="2385"/>
                        </a:lnTo>
                        <a:lnTo>
                          <a:pt x="14215" y="2376"/>
                        </a:lnTo>
                        <a:lnTo>
                          <a:pt x="14187" y="2366"/>
                        </a:lnTo>
                        <a:lnTo>
                          <a:pt x="14159" y="2354"/>
                        </a:lnTo>
                        <a:lnTo>
                          <a:pt x="14132" y="2340"/>
                        </a:lnTo>
                        <a:lnTo>
                          <a:pt x="14118" y="2334"/>
                        </a:lnTo>
                        <a:lnTo>
                          <a:pt x="14106" y="2326"/>
                        </a:lnTo>
                        <a:lnTo>
                          <a:pt x="14093" y="2318"/>
                        </a:lnTo>
                        <a:lnTo>
                          <a:pt x="14080" y="2309"/>
                        </a:lnTo>
                        <a:lnTo>
                          <a:pt x="14068" y="2301"/>
                        </a:lnTo>
                        <a:lnTo>
                          <a:pt x="14058" y="2291"/>
                        </a:lnTo>
                        <a:lnTo>
                          <a:pt x="14047" y="2283"/>
                        </a:lnTo>
                        <a:lnTo>
                          <a:pt x="14038" y="2272"/>
                        </a:lnTo>
                        <a:lnTo>
                          <a:pt x="14019" y="2252"/>
                        </a:lnTo>
                        <a:lnTo>
                          <a:pt x="14003" y="2233"/>
                        </a:lnTo>
                        <a:lnTo>
                          <a:pt x="13989" y="2214"/>
                        </a:lnTo>
                        <a:lnTo>
                          <a:pt x="13976" y="2196"/>
                        </a:lnTo>
                        <a:lnTo>
                          <a:pt x="13964" y="2178"/>
                        </a:lnTo>
                        <a:lnTo>
                          <a:pt x="13955" y="2161"/>
                        </a:lnTo>
                        <a:lnTo>
                          <a:pt x="13945" y="2143"/>
                        </a:lnTo>
                        <a:lnTo>
                          <a:pt x="13938" y="2126"/>
                        </a:lnTo>
                        <a:lnTo>
                          <a:pt x="13932" y="2111"/>
                        </a:lnTo>
                        <a:lnTo>
                          <a:pt x="13927" y="2093"/>
                        </a:lnTo>
                        <a:lnTo>
                          <a:pt x="13923" y="2079"/>
                        </a:lnTo>
                        <a:lnTo>
                          <a:pt x="13921" y="2063"/>
                        </a:lnTo>
                        <a:lnTo>
                          <a:pt x="13918" y="2047"/>
                        </a:lnTo>
                        <a:lnTo>
                          <a:pt x="13918" y="2032"/>
                        </a:lnTo>
                        <a:lnTo>
                          <a:pt x="13918" y="2016"/>
                        </a:lnTo>
                        <a:lnTo>
                          <a:pt x="13919" y="2001"/>
                        </a:lnTo>
                        <a:lnTo>
                          <a:pt x="13927" y="1946"/>
                        </a:lnTo>
                        <a:lnTo>
                          <a:pt x="13932" y="1903"/>
                        </a:lnTo>
                        <a:lnTo>
                          <a:pt x="13937" y="1875"/>
                        </a:lnTo>
                        <a:lnTo>
                          <a:pt x="13938" y="1865"/>
                        </a:lnTo>
                        <a:lnTo>
                          <a:pt x="12265" y="1792"/>
                        </a:lnTo>
                        <a:lnTo>
                          <a:pt x="12247" y="3421"/>
                        </a:lnTo>
                        <a:lnTo>
                          <a:pt x="12247" y="3435"/>
                        </a:lnTo>
                        <a:lnTo>
                          <a:pt x="12245" y="3470"/>
                        </a:lnTo>
                        <a:lnTo>
                          <a:pt x="12243" y="3494"/>
                        </a:lnTo>
                        <a:lnTo>
                          <a:pt x="12240" y="3521"/>
                        </a:lnTo>
                        <a:lnTo>
                          <a:pt x="12236" y="3551"/>
                        </a:lnTo>
                        <a:lnTo>
                          <a:pt x="12230" y="3582"/>
                        </a:lnTo>
                        <a:lnTo>
                          <a:pt x="12223" y="3614"/>
                        </a:lnTo>
                        <a:lnTo>
                          <a:pt x="12214" y="3644"/>
                        </a:lnTo>
                        <a:lnTo>
                          <a:pt x="12209" y="3660"/>
                        </a:lnTo>
                        <a:lnTo>
                          <a:pt x="12204" y="3675"/>
                        </a:lnTo>
                        <a:lnTo>
                          <a:pt x="12197" y="3690"/>
                        </a:lnTo>
                        <a:lnTo>
                          <a:pt x="12190" y="3704"/>
                        </a:lnTo>
                        <a:lnTo>
                          <a:pt x="12182" y="3717"/>
                        </a:lnTo>
                        <a:lnTo>
                          <a:pt x="12175" y="3730"/>
                        </a:lnTo>
                        <a:lnTo>
                          <a:pt x="12165" y="3741"/>
                        </a:lnTo>
                        <a:lnTo>
                          <a:pt x="12157" y="3752"/>
                        </a:lnTo>
                        <a:lnTo>
                          <a:pt x="12146" y="3761"/>
                        </a:lnTo>
                        <a:lnTo>
                          <a:pt x="12136" y="3770"/>
                        </a:lnTo>
                        <a:lnTo>
                          <a:pt x="12124" y="3777"/>
                        </a:lnTo>
                        <a:lnTo>
                          <a:pt x="12111" y="3783"/>
                        </a:lnTo>
                        <a:lnTo>
                          <a:pt x="12086" y="3793"/>
                        </a:lnTo>
                        <a:lnTo>
                          <a:pt x="12059" y="3803"/>
                        </a:lnTo>
                        <a:lnTo>
                          <a:pt x="12032" y="3813"/>
                        </a:lnTo>
                        <a:lnTo>
                          <a:pt x="12005" y="3821"/>
                        </a:lnTo>
                        <a:lnTo>
                          <a:pt x="11976" y="3830"/>
                        </a:lnTo>
                        <a:lnTo>
                          <a:pt x="11948" y="3837"/>
                        </a:lnTo>
                        <a:lnTo>
                          <a:pt x="11921" y="3844"/>
                        </a:lnTo>
                        <a:lnTo>
                          <a:pt x="11892" y="3850"/>
                        </a:lnTo>
                        <a:lnTo>
                          <a:pt x="11864" y="3855"/>
                        </a:lnTo>
                        <a:lnTo>
                          <a:pt x="11837" y="3859"/>
                        </a:lnTo>
                        <a:lnTo>
                          <a:pt x="11810" y="3861"/>
                        </a:lnTo>
                        <a:lnTo>
                          <a:pt x="11784" y="3864"/>
                        </a:lnTo>
                        <a:lnTo>
                          <a:pt x="11758" y="3864"/>
                        </a:lnTo>
                        <a:lnTo>
                          <a:pt x="11733" y="3863"/>
                        </a:lnTo>
                        <a:lnTo>
                          <a:pt x="11709" y="3859"/>
                        </a:lnTo>
                        <a:lnTo>
                          <a:pt x="11687" y="3855"/>
                        </a:lnTo>
                        <a:lnTo>
                          <a:pt x="11666" y="3850"/>
                        </a:lnTo>
                        <a:lnTo>
                          <a:pt x="11645" y="3844"/>
                        </a:lnTo>
                        <a:lnTo>
                          <a:pt x="11627" y="3838"/>
                        </a:lnTo>
                        <a:lnTo>
                          <a:pt x="11610" y="3832"/>
                        </a:lnTo>
                        <a:lnTo>
                          <a:pt x="11594" y="3824"/>
                        </a:lnTo>
                        <a:lnTo>
                          <a:pt x="11581" y="3818"/>
                        </a:lnTo>
                        <a:lnTo>
                          <a:pt x="11568" y="3811"/>
                        </a:lnTo>
                        <a:lnTo>
                          <a:pt x="11557" y="3805"/>
                        </a:lnTo>
                        <a:lnTo>
                          <a:pt x="11538" y="3792"/>
                        </a:lnTo>
                        <a:lnTo>
                          <a:pt x="11525" y="3783"/>
                        </a:lnTo>
                        <a:lnTo>
                          <a:pt x="11518" y="3776"/>
                        </a:lnTo>
                        <a:lnTo>
                          <a:pt x="11515" y="3774"/>
                        </a:lnTo>
                        <a:lnTo>
                          <a:pt x="10774" y="3204"/>
                        </a:lnTo>
                        <a:lnTo>
                          <a:pt x="10768" y="3194"/>
                        </a:lnTo>
                        <a:lnTo>
                          <a:pt x="10755" y="3165"/>
                        </a:lnTo>
                        <a:lnTo>
                          <a:pt x="10746" y="3144"/>
                        </a:lnTo>
                        <a:lnTo>
                          <a:pt x="10735" y="3119"/>
                        </a:lnTo>
                        <a:lnTo>
                          <a:pt x="10724" y="3091"/>
                        </a:lnTo>
                        <a:lnTo>
                          <a:pt x="10712" y="3059"/>
                        </a:lnTo>
                        <a:lnTo>
                          <a:pt x="10700" y="3025"/>
                        </a:lnTo>
                        <a:lnTo>
                          <a:pt x="10689" y="2988"/>
                        </a:lnTo>
                        <a:lnTo>
                          <a:pt x="10677" y="2948"/>
                        </a:lnTo>
                        <a:lnTo>
                          <a:pt x="10666" y="2906"/>
                        </a:lnTo>
                        <a:lnTo>
                          <a:pt x="10657" y="2863"/>
                        </a:lnTo>
                        <a:lnTo>
                          <a:pt x="10649" y="2818"/>
                        </a:lnTo>
                        <a:lnTo>
                          <a:pt x="10645" y="2796"/>
                        </a:lnTo>
                        <a:lnTo>
                          <a:pt x="10642" y="2772"/>
                        </a:lnTo>
                        <a:lnTo>
                          <a:pt x="10640" y="2749"/>
                        </a:lnTo>
                        <a:lnTo>
                          <a:pt x="10638" y="2724"/>
                        </a:lnTo>
                        <a:lnTo>
                          <a:pt x="10634" y="2672"/>
                        </a:lnTo>
                        <a:lnTo>
                          <a:pt x="10632" y="2612"/>
                        </a:lnTo>
                        <a:lnTo>
                          <a:pt x="10630" y="2543"/>
                        </a:lnTo>
                        <a:lnTo>
                          <a:pt x="10629" y="2469"/>
                        </a:lnTo>
                        <a:lnTo>
                          <a:pt x="10628" y="2392"/>
                        </a:lnTo>
                        <a:lnTo>
                          <a:pt x="10627" y="2313"/>
                        </a:lnTo>
                        <a:lnTo>
                          <a:pt x="10627" y="2233"/>
                        </a:lnTo>
                        <a:lnTo>
                          <a:pt x="10627" y="2155"/>
                        </a:lnTo>
                        <a:lnTo>
                          <a:pt x="10627" y="2080"/>
                        </a:lnTo>
                        <a:lnTo>
                          <a:pt x="10627" y="2008"/>
                        </a:lnTo>
                        <a:lnTo>
                          <a:pt x="10627" y="1945"/>
                        </a:lnTo>
                        <a:lnTo>
                          <a:pt x="10628" y="1887"/>
                        </a:lnTo>
                        <a:lnTo>
                          <a:pt x="10628" y="1840"/>
                        </a:lnTo>
                        <a:lnTo>
                          <a:pt x="10628" y="1805"/>
                        </a:lnTo>
                        <a:lnTo>
                          <a:pt x="10629" y="1783"/>
                        </a:lnTo>
                        <a:lnTo>
                          <a:pt x="10629" y="1774"/>
                        </a:lnTo>
                        <a:lnTo>
                          <a:pt x="6840" y="1774"/>
                        </a:lnTo>
                        <a:lnTo>
                          <a:pt x="6840" y="2797"/>
                        </a:lnTo>
                        <a:lnTo>
                          <a:pt x="6840" y="2812"/>
                        </a:lnTo>
                        <a:lnTo>
                          <a:pt x="6837" y="2851"/>
                        </a:lnTo>
                        <a:lnTo>
                          <a:pt x="6835" y="2877"/>
                        </a:lnTo>
                        <a:lnTo>
                          <a:pt x="6832" y="2908"/>
                        </a:lnTo>
                        <a:lnTo>
                          <a:pt x="6826" y="2943"/>
                        </a:lnTo>
                        <a:lnTo>
                          <a:pt x="6821" y="2981"/>
                        </a:lnTo>
                        <a:lnTo>
                          <a:pt x="6814" y="3019"/>
                        </a:lnTo>
                        <a:lnTo>
                          <a:pt x="6805" y="3059"/>
                        </a:lnTo>
                        <a:lnTo>
                          <a:pt x="6795" y="3100"/>
                        </a:lnTo>
                        <a:lnTo>
                          <a:pt x="6783" y="3140"/>
                        </a:lnTo>
                        <a:lnTo>
                          <a:pt x="6776" y="3160"/>
                        </a:lnTo>
                        <a:lnTo>
                          <a:pt x="6769" y="3180"/>
                        </a:lnTo>
                        <a:lnTo>
                          <a:pt x="6761" y="3199"/>
                        </a:lnTo>
                        <a:lnTo>
                          <a:pt x="6753" y="3218"/>
                        </a:lnTo>
                        <a:lnTo>
                          <a:pt x="6744" y="3236"/>
                        </a:lnTo>
                        <a:lnTo>
                          <a:pt x="6735" y="3253"/>
                        </a:lnTo>
                        <a:lnTo>
                          <a:pt x="6724" y="3270"/>
                        </a:lnTo>
                        <a:lnTo>
                          <a:pt x="6714" y="3286"/>
                        </a:lnTo>
                        <a:lnTo>
                          <a:pt x="6688" y="3319"/>
                        </a:lnTo>
                        <a:lnTo>
                          <a:pt x="6654" y="3358"/>
                        </a:lnTo>
                        <a:lnTo>
                          <a:pt x="6615" y="3402"/>
                        </a:lnTo>
                        <a:lnTo>
                          <a:pt x="6571" y="3449"/>
                        </a:lnTo>
                        <a:lnTo>
                          <a:pt x="6523" y="3499"/>
                        </a:lnTo>
                        <a:lnTo>
                          <a:pt x="6473" y="3549"/>
                        </a:lnTo>
                        <a:lnTo>
                          <a:pt x="6422" y="3600"/>
                        </a:lnTo>
                        <a:lnTo>
                          <a:pt x="6371" y="3650"/>
                        </a:lnTo>
                        <a:lnTo>
                          <a:pt x="6275" y="3743"/>
                        </a:lnTo>
                        <a:lnTo>
                          <a:pt x="6194" y="3820"/>
                        </a:lnTo>
                        <a:lnTo>
                          <a:pt x="6137" y="3872"/>
                        </a:lnTo>
                        <a:lnTo>
                          <a:pt x="6117" y="3891"/>
                        </a:lnTo>
                        <a:lnTo>
                          <a:pt x="6112" y="3893"/>
                        </a:lnTo>
                        <a:lnTo>
                          <a:pt x="6098" y="3899"/>
                        </a:lnTo>
                        <a:lnTo>
                          <a:pt x="6075" y="3906"/>
                        </a:lnTo>
                        <a:lnTo>
                          <a:pt x="6045" y="3915"/>
                        </a:lnTo>
                        <a:lnTo>
                          <a:pt x="6027" y="3919"/>
                        </a:lnTo>
                        <a:lnTo>
                          <a:pt x="6008" y="3923"/>
                        </a:lnTo>
                        <a:lnTo>
                          <a:pt x="5986" y="3926"/>
                        </a:lnTo>
                        <a:lnTo>
                          <a:pt x="5964" y="3930"/>
                        </a:lnTo>
                        <a:lnTo>
                          <a:pt x="5941" y="3933"/>
                        </a:lnTo>
                        <a:lnTo>
                          <a:pt x="5916" y="3935"/>
                        </a:lnTo>
                        <a:lnTo>
                          <a:pt x="5891" y="3937"/>
                        </a:lnTo>
                        <a:lnTo>
                          <a:pt x="5864" y="3937"/>
                        </a:lnTo>
                        <a:lnTo>
                          <a:pt x="5811" y="3936"/>
                        </a:lnTo>
                        <a:lnTo>
                          <a:pt x="5763" y="3933"/>
                        </a:lnTo>
                        <a:lnTo>
                          <a:pt x="5721" y="3928"/>
                        </a:lnTo>
                        <a:lnTo>
                          <a:pt x="5683" y="3923"/>
                        </a:lnTo>
                        <a:lnTo>
                          <a:pt x="5653" y="3919"/>
                        </a:lnTo>
                        <a:lnTo>
                          <a:pt x="5630" y="3914"/>
                        </a:lnTo>
                        <a:lnTo>
                          <a:pt x="5615" y="3911"/>
                        </a:lnTo>
                        <a:lnTo>
                          <a:pt x="5611" y="3909"/>
                        </a:lnTo>
                        <a:lnTo>
                          <a:pt x="5604" y="3902"/>
                        </a:lnTo>
                        <a:lnTo>
                          <a:pt x="5587" y="3880"/>
                        </a:lnTo>
                        <a:lnTo>
                          <a:pt x="5575" y="3865"/>
                        </a:lnTo>
                        <a:lnTo>
                          <a:pt x="5562" y="3846"/>
                        </a:lnTo>
                        <a:lnTo>
                          <a:pt x="5548" y="3824"/>
                        </a:lnTo>
                        <a:lnTo>
                          <a:pt x="5534" y="3800"/>
                        </a:lnTo>
                        <a:lnTo>
                          <a:pt x="5520" y="3774"/>
                        </a:lnTo>
                        <a:lnTo>
                          <a:pt x="5506" y="3746"/>
                        </a:lnTo>
                        <a:lnTo>
                          <a:pt x="5492" y="3716"/>
                        </a:lnTo>
                        <a:lnTo>
                          <a:pt x="5481" y="3685"/>
                        </a:lnTo>
                        <a:lnTo>
                          <a:pt x="5476" y="3669"/>
                        </a:lnTo>
                        <a:lnTo>
                          <a:pt x="5471" y="3652"/>
                        </a:lnTo>
                        <a:lnTo>
                          <a:pt x="5467" y="3635"/>
                        </a:lnTo>
                        <a:lnTo>
                          <a:pt x="5463" y="3618"/>
                        </a:lnTo>
                        <a:lnTo>
                          <a:pt x="5461" y="3601"/>
                        </a:lnTo>
                        <a:lnTo>
                          <a:pt x="5459" y="3584"/>
                        </a:lnTo>
                        <a:lnTo>
                          <a:pt x="5457" y="3566"/>
                        </a:lnTo>
                        <a:lnTo>
                          <a:pt x="5457" y="3548"/>
                        </a:lnTo>
                        <a:lnTo>
                          <a:pt x="5457" y="3498"/>
                        </a:lnTo>
                        <a:lnTo>
                          <a:pt x="5457" y="3420"/>
                        </a:lnTo>
                        <a:lnTo>
                          <a:pt x="5457" y="3320"/>
                        </a:lnTo>
                        <a:lnTo>
                          <a:pt x="5457" y="3201"/>
                        </a:lnTo>
                        <a:lnTo>
                          <a:pt x="5457" y="3067"/>
                        </a:lnTo>
                        <a:lnTo>
                          <a:pt x="5457" y="2923"/>
                        </a:lnTo>
                        <a:lnTo>
                          <a:pt x="5457" y="2773"/>
                        </a:lnTo>
                        <a:lnTo>
                          <a:pt x="5457" y="2622"/>
                        </a:lnTo>
                        <a:lnTo>
                          <a:pt x="5457" y="2472"/>
                        </a:lnTo>
                        <a:lnTo>
                          <a:pt x="5457" y="2329"/>
                        </a:lnTo>
                        <a:lnTo>
                          <a:pt x="5457" y="2197"/>
                        </a:lnTo>
                        <a:lnTo>
                          <a:pt x="5457" y="2079"/>
                        </a:lnTo>
                        <a:lnTo>
                          <a:pt x="5457" y="1980"/>
                        </a:lnTo>
                        <a:lnTo>
                          <a:pt x="5457" y="1903"/>
                        </a:lnTo>
                        <a:lnTo>
                          <a:pt x="5457" y="1855"/>
                        </a:lnTo>
                        <a:lnTo>
                          <a:pt x="5457" y="1838"/>
                        </a:lnTo>
                        <a:lnTo>
                          <a:pt x="3278" y="2009"/>
                        </a:lnTo>
                        <a:lnTo>
                          <a:pt x="3274" y="2031"/>
                        </a:lnTo>
                        <a:lnTo>
                          <a:pt x="3263" y="2085"/>
                        </a:lnTo>
                        <a:lnTo>
                          <a:pt x="3252" y="2121"/>
                        </a:lnTo>
                        <a:lnTo>
                          <a:pt x="3240" y="2163"/>
                        </a:lnTo>
                        <a:lnTo>
                          <a:pt x="3226" y="2208"/>
                        </a:lnTo>
                        <a:lnTo>
                          <a:pt x="3206" y="2255"/>
                        </a:lnTo>
                        <a:lnTo>
                          <a:pt x="3197" y="2280"/>
                        </a:lnTo>
                        <a:lnTo>
                          <a:pt x="3185" y="2304"/>
                        </a:lnTo>
                        <a:lnTo>
                          <a:pt x="3173" y="2328"/>
                        </a:lnTo>
                        <a:lnTo>
                          <a:pt x="3160" y="2352"/>
                        </a:lnTo>
                        <a:lnTo>
                          <a:pt x="3146" y="2375"/>
                        </a:lnTo>
                        <a:lnTo>
                          <a:pt x="3131" y="2398"/>
                        </a:lnTo>
                        <a:lnTo>
                          <a:pt x="3115" y="2420"/>
                        </a:lnTo>
                        <a:lnTo>
                          <a:pt x="3099" y="2441"/>
                        </a:lnTo>
                        <a:lnTo>
                          <a:pt x="3081" y="2462"/>
                        </a:lnTo>
                        <a:lnTo>
                          <a:pt x="3062" y="2481"/>
                        </a:lnTo>
                        <a:lnTo>
                          <a:pt x="3042" y="2499"/>
                        </a:lnTo>
                        <a:lnTo>
                          <a:pt x="3021" y="2515"/>
                        </a:lnTo>
                        <a:lnTo>
                          <a:pt x="2999" y="2530"/>
                        </a:lnTo>
                        <a:lnTo>
                          <a:pt x="2976" y="2542"/>
                        </a:lnTo>
                        <a:lnTo>
                          <a:pt x="2951" y="2553"/>
                        </a:lnTo>
                        <a:lnTo>
                          <a:pt x="2926" y="2562"/>
                        </a:lnTo>
                        <a:lnTo>
                          <a:pt x="2896" y="2570"/>
                        </a:lnTo>
                        <a:lnTo>
                          <a:pt x="2862" y="2578"/>
                        </a:lnTo>
                        <a:lnTo>
                          <a:pt x="2823" y="2586"/>
                        </a:lnTo>
                        <a:lnTo>
                          <a:pt x="2778" y="2595"/>
                        </a:lnTo>
                        <a:lnTo>
                          <a:pt x="2679" y="2612"/>
                        </a:lnTo>
                        <a:lnTo>
                          <a:pt x="2565" y="2629"/>
                        </a:lnTo>
                        <a:lnTo>
                          <a:pt x="2442" y="2647"/>
                        </a:lnTo>
                        <a:lnTo>
                          <a:pt x="2313" y="2664"/>
                        </a:lnTo>
                        <a:lnTo>
                          <a:pt x="2180" y="2681"/>
                        </a:lnTo>
                        <a:lnTo>
                          <a:pt x="2048" y="2697"/>
                        </a:lnTo>
                        <a:lnTo>
                          <a:pt x="1918" y="2712"/>
                        </a:lnTo>
                        <a:lnTo>
                          <a:pt x="1795" y="2725"/>
                        </a:lnTo>
                        <a:lnTo>
                          <a:pt x="1682" y="2738"/>
                        </a:lnTo>
                        <a:lnTo>
                          <a:pt x="1582" y="2749"/>
                        </a:lnTo>
                        <a:lnTo>
                          <a:pt x="1498" y="2757"/>
                        </a:lnTo>
                        <a:lnTo>
                          <a:pt x="1434" y="2765"/>
                        </a:lnTo>
                        <a:lnTo>
                          <a:pt x="1394" y="2769"/>
                        </a:lnTo>
                        <a:lnTo>
                          <a:pt x="1379" y="2770"/>
                        </a:lnTo>
                        <a:lnTo>
                          <a:pt x="1366" y="2769"/>
                        </a:lnTo>
                        <a:lnTo>
                          <a:pt x="1330" y="2766"/>
                        </a:lnTo>
                        <a:lnTo>
                          <a:pt x="1304" y="2762"/>
                        </a:lnTo>
                        <a:lnTo>
                          <a:pt x="1276" y="2756"/>
                        </a:lnTo>
                        <a:lnTo>
                          <a:pt x="1243" y="2749"/>
                        </a:lnTo>
                        <a:lnTo>
                          <a:pt x="1208" y="2739"/>
                        </a:lnTo>
                        <a:lnTo>
                          <a:pt x="1171" y="2728"/>
                        </a:lnTo>
                        <a:lnTo>
                          <a:pt x="1131" y="2713"/>
                        </a:lnTo>
                        <a:lnTo>
                          <a:pt x="1111" y="2704"/>
                        </a:lnTo>
                        <a:lnTo>
                          <a:pt x="1091" y="2696"/>
                        </a:lnTo>
                        <a:lnTo>
                          <a:pt x="1072" y="2685"/>
                        </a:lnTo>
                        <a:lnTo>
                          <a:pt x="1051" y="2674"/>
                        </a:lnTo>
                        <a:lnTo>
                          <a:pt x="1031" y="2663"/>
                        </a:lnTo>
                        <a:lnTo>
                          <a:pt x="1011" y="2650"/>
                        </a:lnTo>
                        <a:lnTo>
                          <a:pt x="992" y="2636"/>
                        </a:lnTo>
                        <a:lnTo>
                          <a:pt x="973" y="2622"/>
                        </a:lnTo>
                        <a:lnTo>
                          <a:pt x="954" y="2606"/>
                        </a:lnTo>
                        <a:lnTo>
                          <a:pt x="936" y="2589"/>
                        </a:lnTo>
                        <a:lnTo>
                          <a:pt x="917" y="2572"/>
                        </a:lnTo>
                        <a:lnTo>
                          <a:pt x="900" y="2553"/>
                        </a:lnTo>
                        <a:lnTo>
                          <a:pt x="868" y="2515"/>
                        </a:lnTo>
                        <a:lnTo>
                          <a:pt x="839" y="2479"/>
                        </a:lnTo>
                        <a:lnTo>
                          <a:pt x="813" y="2443"/>
                        </a:lnTo>
                        <a:lnTo>
                          <a:pt x="791" y="2412"/>
                        </a:lnTo>
                        <a:lnTo>
                          <a:pt x="772" y="2381"/>
                        </a:lnTo>
                        <a:lnTo>
                          <a:pt x="755" y="2353"/>
                        </a:lnTo>
                        <a:lnTo>
                          <a:pt x="740" y="2326"/>
                        </a:lnTo>
                        <a:lnTo>
                          <a:pt x="728" y="2303"/>
                        </a:lnTo>
                        <a:lnTo>
                          <a:pt x="719" y="2282"/>
                        </a:lnTo>
                        <a:lnTo>
                          <a:pt x="710" y="2263"/>
                        </a:lnTo>
                        <a:lnTo>
                          <a:pt x="704" y="2247"/>
                        </a:lnTo>
                        <a:lnTo>
                          <a:pt x="700" y="2234"/>
                        </a:lnTo>
                        <a:lnTo>
                          <a:pt x="693" y="2215"/>
                        </a:lnTo>
                        <a:lnTo>
                          <a:pt x="692" y="2209"/>
                        </a:lnTo>
                        <a:lnTo>
                          <a:pt x="689" y="2085"/>
                        </a:lnTo>
                        <a:lnTo>
                          <a:pt x="830" y="1948"/>
                        </a:lnTo>
                        <a:lnTo>
                          <a:pt x="768" y="1021"/>
                        </a:lnTo>
                        <a:lnTo>
                          <a:pt x="511" y="943"/>
                        </a:lnTo>
                        <a:lnTo>
                          <a:pt x="504" y="937"/>
                        </a:lnTo>
                        <a:lnTo>
                          <a:pt x="485" y="921"/>
                        </a:lnTo>
                        <a:lnTo>
                          <a:pt x="458" y="897"/>
                        </a:lnTo>
                        <a:lnTo>
                          <a:pt x="425" y="866"/>
                        </a:lnTo>
                        <a:lnTo>
                          <a:pt x="408" y="848"/>
                        </a:lnTo>
                        <a:lnTo>
                          <a:pt x="391" y="830"/>
                        </a:lnTo>
                        <a:lnTo>
                          <a:pt x="374" y="810"/>
                        </a:lnTo>
                        <a:lnTo>
                          <a:pt x="358" y="789"/>
                        </a:lnTo>
                        <a:lnTo>
                          <a:pt x="344" y="769"/>
                        </a:lnTo>
                        <a:lnTo>
                          <a:pt x="332" y="749"/>
                        </a:lnTo>
                        <a:lnTo>
                          <a:pt x="325" y="738"/>
                        </a:lnTo>
                        <a:lnTo>
                          <a:pt x="320" y="728"/>
                        </a:lnTo>
                        <a:lnTo>
                          <a:pt x="316" y="717"/>
                        </a:lnTo>
                        <a:lnTo>
                          <a:pt x="313" y="707"/>
                        </a:lnTo>
                        <a:lnTo>
                          <a:pt x="301" y="669"/>
                        </a:lnTo>
                        <a:lnTo>
                          <a:pt x="291" y="636"/>
                        </a:lnTo>
                        <a:lnTo>
                          <a:pt x="285" y="608"/>
                        </a:lnTo>
                        <a:lnTo>
                          <a:pt x="281" y="585"/>
                        </a:lnTo>
                        <a:lnTo>
                          <a:pt x="279" y="567"/>
                        </a:lnTo>
                        <a:lnTo>
                          <a:pt x="276" y="554"/>
                        </a:lnTo>
                        <a:lnTo>
                          <a:pt x="276" y="547"/>
                        </a:lnTo>
                        <a:lnTo>
                          <a:pt x="276" y="545"/>
                        </a:lnTo>
                        <a:lnTo>
                          <a:pt x="0" y="493"/>
                        </a:lnTo>
                        <a:close/>
                        <a:moveTo>
                          <a:pt x="1208" y="1116"/>
                        </a:moveTo>
                        <a:lnTo>
                          <a:pt x="1894" y="1205"/>
                        </a:lnTo>
                        <a:lnTo>
                          <a:pt x="2601" y="1652"/>
                        </a:lnTo>
                        <a:lnTo>
                          <a:pt x="2595" y="1817"/>
                        </a:lnTo>
                        <a:lnTo>
                          <a:pt x="1276" y="1914"/>
                        </a:lnTo>
                        <a:lnTo>
                          <a:pt x="1208" y="1116"/>
                        </a:lnTo>
                        <a:close/>
                        <a:moveTo>
                          <a:pt x="14533" y="1838"/>
                        </a:moveTo>
                        <a:lnTo>
                          <a:pt x="15819" y="1936"/>
                        </a:lnTo>
                        <a:lnTo>
                          <a:pt x="15817" y="1945"/>
                        </a:lnTo>
                        <a:lnTo>
                          <a:pt x="15811" y="1965"/>
                        </a:lnTo>
                        <a:lnTo>
                          <a:pt x="15805" y="1979"/>
                        </a:lnTo>
                        <a:lnTo>
                          <a:pt x="15800" y="1995"/>
                        </a:lnTo>
                        <a:lnTo>
                          <a:pt x="15793" y="2011"/>
                        </a:lnTo>
                        <a:lnTo>
                          <a:pt x="15783" y="2026"/>
                        </a:lnTo>
                        <a:lnTo>
                          <a:pt x="15774" y="2042"/>
                        </a:lnTo>
                        <a:lnTo>
                          <a:pt x="15761" y="2058"/>
                        </a:lnTo>
                        <a:lnTo>
                          <a:pt x="15754" y="2066"/>
                        </a:lnTo>
                        <a:lnTo>
                          <a:pt x="15748" y="2072"/>
                        </a:lnTo>
                        <a:lnTo>
                          <a:pt x="15741" y="2079"/>
                        </a:lnTo>
                        <a:lnTo>
                          <a:pt x="15733" y="2084"/>
                        </a:lnTo>
                        <a:lnTo>
                          <a:pt x="15725" y="2089"/>
                        </a:lnTo>
                        <a:lnTo>
                          <a:pt x="15716" y="2093"/>
                        </a:lnTo>
                        <a:lnTo>
                          <a:pt x="15708" y="2097"/>
                        </a:lnTo>
                        <a:lnTo>
                          <a:pt x="15698" y="2099"/>
                        </a:lnTo>
                        <a:lnTo>
                          <a:pt x="15689" y="2101"/>
                        </a:lnTo>
                        <a:lnTo>
                          <a:pt x="15678" y="2101"/>
                        </a:lnTo>
                        <a:lnTo>
                          <a:pt x="15667" y="2101"/>
                        </a:lnTo>
                        <a:lnTo>
                          <a:pt x="15657" y="2099"/>
                        </a:lnTo>
                        <a:lnTo>
                          <a:pt x="15624" y="2093"/>
                        </a:lnTo>
                        <a:lnTo>
                          <a:pt x="15576" y="2087"/>
                        </a:lnTo>
                        <a:lnTo>
                          <a:pt x="15512" y="2080"/>
                        </a:lnTo>
                        <a:lnTo>
                          <a:pt x="15438" y="2072"/>
                        </a:lnTo>
                        <a:lnTo>
                          <a:pt x="15355" y="2064"/>
                        </a:lnTo>
                        <a:lnTo>
                          <a:pt x="15265" y="2055"/>
                        </a:lnTo>
                        <a:lnTo>
                          <a:pt x="15172" y="2046"/>
                        </a:lnTo>
                        <a:lnTo>
                          <a:pt x="15077" y="2037"/>
                        </a:lnTo>
                        <a:lnTo>
                          <a:pt x="14984" y="2029"/>
                        </a:lnTo>
                        <a:lnTo>
                          <a:pt x="14895" y="2020"/>
                        </a:lnTo>
                        <a:lnTo>
                          <a:pt x="14813" y="2013"/>
                        </a:lnTo>
                        <a:lnTo>
                          <a:pt x="14739" y="2006"/>
                        </a:lnTo>
                        <a:lnTo>
                          <a:pt x="14678" y="2001"/>
                        </a:lnTo>
                        <a:lnTo>
                          <a:pt x="14631" y="1997"/>
                        </a:lnTo>
                        <a:lnTo>
                          <a:pt x="14601" y="1994"/>
                        </a:lnTo>
                        <a:lnTo>
                          <a:pt x="14590" y="1994"/>
                        </a:lnTo>
                        <a:lnTo>
                          <a:pt x="14533" y="1838"/>
                        </a:lnTo>
                        <a:close/>
                        <a:moveTo>
                          <a:pt x="14557" y="1651"/>
                        </a:moveTo>
                        <a:lnTo>
                          <a:pt x="15811" y="1733"/>
                        </a:lnTo>
                        <a:lnTo>
                          <a:pt x="15860" y="1007"/>
                        </a:lnTo>
                        <a:lnTo>
                          <a:pt x="15192" y="1081"/>
                        </a:lnTo>
                        <a:lnTo>
                          <a:pt x="14549" y="1504"/>
                        </a:lnTo>
                        <a:lnTo>
                          <a:pt x="14557" y="1651"/>
                        </a:lnTo>
                        <a:close/>
                        <a:moveTo>
                          <a:pt x="12376" y="1529"/>
                        </a:moveTo>
                        <a:lnTo>
                          <a:pt x="13914" y="1627"/>
                        </a:lnTo>
                        <a:lnTo>
                          <a:pt x="13947" y="1277"/>
                        </a:lnTo>
                        <a:lnTo>
                          <a:pt x="12376" y="1529"/>
                        </a:lnTo>
                        <a:close/>
                        <a:moveTo>
                          <a:pt x="11017" y="1773"/>
                        </a:moveTo>
                        <a:lnTo>
                          <a:pt x="11815" y="1773"/>
                        </a:lnTo>
                        <a:lnTo>
                          <a:pt x="11799" y="3516"/>
                        </a:lnTo>
                        <a:lnTo>
                          <a:pt x="11147" y="3092"/>
                        </a:lnTo>
                        <a:lnTo>
                          <a:pt x="11142" y="3085"/>
                        </a:lnTo>
                        <a:lnTo>
                          <a:pt x="11126" y="3063"/>
                        </a:lnTo>
                        <a:lnTo>
                          <a:pt x="11115" y="3047"/>
                        </a:lnTo>
                        <a:lnTo>
                          <a:pt x="11103" y="3027"/>
                        </a:lnTo>
                        <a:lnTo>
                          <a:pt x="11092" y="3005"/>
                        </a:lnTo>
                        <a:lnTo>
                          <a:pt x="11079" y="2981"/>
                        </a:lnTo>
                        <a:lnTo>
                          <a:pt x="11066" y="2953"/>
                        </a:lnTo>
                        <a:lnTo>
                          <a:pt x="11054" y="2924"/>
                        </a:lnTo>
                        <a:lnTo>
                          <a:pt x="11044" y="2892"/>
                        </a:lnTo>
                        <a:lnTo>
                          <a:pt x="11034" y="2859"/>
                        </a:lnTo>
                        <a:lnTo>
                          <a:pt x="11030" y="2841"/>
                        </a:lnTo>
                        <a:lnTo>
                          <a:pt x="11026" y="2823"/>
                        </a:lnTo>
                        <a:lnTo>
                          <a:pt x="11022" y="2805"/>
                        </a:lnTo>
                        <a:lnTo>
                          <a:pt x="11020" y="2787"/>
                        </a:lnTo>
                        <a:lnTo>
                          <a:pt x="11018" y="2768"/>
                        </a:lnTo>
                        <a:lnTo>
                          <a:pt x="11017" y="2749"/>
                        </a:lnTo>
                        <a:lnTo>
                          <a:pt x="11016" y="2730"/>
                        </a:lnTo>
                        <a:lnTo>
                          <a:pt x="11017" y="2709"/>
                        </a:lnTo>
                        <a:lnTo>
                          <a:pt x="11018" y="2665"/>
                        </a:lnTo>
                        <a:lnTo>
                          <a:pt x="11019" y="2608"/>
                        </a:lnTo>
                        <a:lnTo>
                          <a:pt x="11019" y="2545"/>
                        </a:lnTo>
                        <a:lnTo>
                          <a:pt x="11020" y="2474"/>
                        </a:lnTo>
                        <a:lnTo>
                          <a:pt x="11020" y="2399"/>
                        </a:lnTo>
                        <a:lnTo>
                          <a:pt x="11020" y="2320"/>
                        </a:lnTo>
                        <a:lnTo>
                          <a:pt x="11020" y="2241"/>
                        </a:lnTo>
                        <a:lnTo>
                          <a:pt x="11020" y="2162"/>
                        </a:lnTo>
                        <a:lnTo>
                          <a:pt x="11019" y="2086"/>
                        </a:lnTo>
                        <a:lnTo>
                          <a:pt x="11019" y="2014"/>
                        </a:lnTo>
                        <a:lnTo>
                          <a:pt x="11018" y="1948"/>
                        </a:lnTo>
                        <a:lnTo>
                          <a:pt x="11018" y="1889"/>
                        </a:lnTo>
                        <a:lnTo>
                          <a:pt x="11017" y="1841"/>
                        </a:lnTo>
                        <a:lnTo>
                          <a:pt x="11017" y="1805"/>
                        </a:lnTo>
                        <a:lnTo>
                          <a:pt x="11017" y="1782"/>
                        </a:lnTo>
                        <a:lnTo>
                          <a:pt x="11017" y="1773"/>
                        </a:lnTo>
                        <a:close/>
                        <a:moveTo>
                          <a:pt x="6481" y="1773"/>
                        </a:moveTo>
                        <a:lnTo>
                          <a:pt x="5876" y="1773"/>
                        </a:lnTo>
                        <a:lnTo>
                          <a:pt x="5888" y="3559"/>
                        </a:lnTo>
                        <a:lnTo>
                          <a:pt x="6382" y="3125"/>
                        </a:lnTo>
                        <a:lnTo>
                          <a:pt x="6386" y="3117"/>
                        </a:lnTo>
                        <a:lnTo>
                          <a:pt x="6398" y="3094"/>
                        </a:lnTo>
                        <a:lnTo>
                          <a:pt x="6406" y="3077"/>
                        </a:lnTo>
                        <a:lnTo>
                          <a:pt x="6415" y="3058"/>
                        </a:lnTo>
                        <a:lnTo>
                          <a:pt x="6424" y="3036"/>
                        </a:lnTo>
                        <a:lnTo>
                          <a:pt x="6434" y="3010"/>
                        </a:lnTo>
                        <a:lnTo>
                          <a:pt x="6443" y="2983"/>
                        </a:lnTo>
                        <a:lnTo>
                          <a:pt x="6452" y="2952"/>
                        </a:lnTo>
                        <a:lnTo>
                          <a:pt x="6461" y="2920"/>
                        </a:lnTo>
                        <a:lnTo>
                          <a:pt x="6468" y="2886"/>
                        </a:lnTo>
                        <a:lnTo>
                          <a:pt x="6473" y="2850"/>
                        </a:lnTo>
                        <a:lnTo>
                          <a:pt x="6479" y="2812"/>
                        </a:lnTo>
                        <a:lnTo>
                          <a:pt x="6480" y="2792"/>
                        </a:lnTo>
                        <a:lnTo>
                          <a:pt x="6481" y="2773"/>
                        </a:lnTo>
                        <a:lnTo>
                          <a:pt x="6481" y="2753"/>
                        </a:lnTo>
                        <a:lnTo>
                          <a:pt x="6481" y="2733"/>
                        </a:lnTo>
                        <a:lnTo>
                          <a:pt x="6480" y="2686"/>
                        </a:lnTo>
                        <a:lnTo>
                          <a:pt x="6479" y="2630"/>
                        </a:lnTo>
                        <a:lnTo>
                          <a:pt x="6479" y="2564"/>
                        </a:lnTo>
                        <a:lnTo>
                          <a:pt x="6478" y="2491"/>
                        </a:lnTo>
                        <a:lnTo>
                          <a:pt x="6478" y="2414"/>
                        </a:lnTo>
                        <a:lnTo>
                          <a:pt x="6478" y="2334"/>
                        </a:lnTo>
                        <a:lnTo>
                          <a:pt x="6478" y="2252"/>
                        </a:lnTo>
                        <a:lnTo>
                          <a:pt x="6479" y="2171"/>
                        </a:lnTo>
                        <a:lnTo>
                          <a:pt x="6479" y="2093"/>
                        </a:lnTo>
                        <a:lnTo>
                          <a:pt x="6479" y="2020"/>
                        </a:lnTo>
                        <a:lnTo>
                          <a:pt x="6480" y="1952"/>
                        </a:lnTo>
                        <a:lnTo>
                          <a:pt x="6480" y="1892"/>
                        </a:lnTo>
                        <a:lnTo>
                          <a:pt x="6480" y="1844"/>
                        </a:lnTo>
                        <a:lnTo>
                          <a:pt x="6481" y="1805"/>
                        </a:lnTo>
                        <a:lnTo>
                          <a:pt x="6481" y="1782"/>
                        </a:lnTo>
                        <a:lnTo>
                          <a:pt x="6481" y="1773"/>
                        </a:lnTo>
                        <a:close/>
                        <a:moveTo>
                          <a:pt x="1303" y="2202"/>
                        </a:moveTo>
                        <a:lnTo>
                          <a:pt x="2588" y="2051"/>
                        </a:lnTo>
                        <a:lnTo>
                          <a:pt x="2589" y="2054"/>
                        </a:lnTo>
                        <a:lnTo>
                          <a:pt x="2588" y="2062"/>
                        </a:lnTo>
                        <a:lnTo>
                          <a:pt x="2586" y="2072"/>
                        </a:lnTo>
                        <a:lnTo>
                          <a:pt x="2581" y="2085"/>
                        </a:lnTo>
                        <a:lnTo>
                          <a:pt x="2577" y="2092"/>
                        </a:lnTo>
                        <a:lnTo>
                          <a:pt x="2573" y="2100"/>
                        </a:lnTo>
                        <a:lnTo>
                          <a:pt x="2566" y="2107"/>
                        </a:lnTo>
                        <a:lnTo>
                          <a:pt x="2559" y="2115"/>
                        </a:lnTo>
                        <a:lnTo>
                          <a:pt x="2550" y="2122"/>
                        </a:lnTo>
                        <a:lnTo>
                          <a:pt x="2540" y="2129"/>
                        </a:lnTo>
                        <a:lnTo>
                          <a:pt x="2527" y="2135"/>
                        </a:lnTo>
                        <a:lnTo>
                          <a:pt x="2512" y="2140"/>
                        </a:lnTo>
                        <a:lnTo>
                          <a:pt x="2487" y="2147"/>
                        </a:lnTo>
                        <a:lnTo>
                          <a:pt x="2443" y="2155"/>
                        </a:lnTo>
                        <a:lnTo>
                          <a:pt x="2385" y="2165"/>
                        </a:lnTo>
                        <a:lnTo>
                          <a:pt x="2312" y="2176"/>
                        </a:lnTo>
                        <a:lnTo>
                          <a:pt x="2230" y="2189"/>
                        </a:lnTo>
                        <a:lnTo>
                          <a:pt x="2142" y="2202"/>
                        </a:lnTo>
                        <a:lnTo>
                          <a:pt x="2048" y="2216"/>
                        </a:lnTo>
                        <a:lnTo>
                          <a:pt x="1953" y="2230"/>
                        </a:lnTo>
                        <a:lnTo>
                          <a:pt x="1858" y="2243"/>
                        </a:lnTo>
                        <a:lnTo>
                          <a:pt x="1768" y="2256"/>
                        </a:lnTo>
                        <a:lnTo>
                          <a:pt x="1684" y="2267"/>
                        </a:lnTo>
                        <a:lnTo>
                          <a:pt x="1609" y="2278"/>
                        </a:lnTo>
                        <a:lnTo>
                          <a:pt x="1546" y="2286"/>
                        </a:lnTo>
                        <a:lnTo>
                          <a:pt x="1497" y="2292"/>
                        </a:lnTo>
                        <a:lnTo>
                          <a:pt x="1466" y="2297"/>
                        </a:lnTo>
                        <a:lnTo>
                          <a:pt x="1454" y="2299"/>
                        </a:lnTo>
                        <a:lnTo>
                          <a:pt x="1437" y="2298"/>
                        </a:lnTo>
                        <a:lnTo>
                          <a:pt x="1398" y="2293"/>
                        </a:lnTo>
                        <a:lnTo>
                          <a:pt x="1387" y="2291"/>
                        </a:lnTo>
                        <a:lnTo>
                          <a:pt x="1377" y="2288"/>
                        </a:lnTo>
                        <a:lnTo>
                          <a:pt x="1366" y="2285"/>
                        </a:lnTo>
                        <a:lnTo>
                          <a:pt x="1357" y="2281"/>
                        </a:lnTo>
                        <a:lnTo>
                          <a:pt x="1348" y="2276"/>
                        </a:lnTo>
                        <a:lnTo>
                          <a:pt x="1341" y="2271"/>
                        </a:lnTo>
                        <a:lnTo>
                          <a:pt x="1337" y="2268"/>
                        </a:lnTo>
                        <a:lnTo>
                          <a:pt x="1335" y="2265"/>
                        </a:lnTo>
                        <a:lnTo>
                          <a:pt x="1333" y="2261"/>
                        </a:lnTo>
                        <a:lnTo>
                          <a:pt x="1331" y="2257"/>
                        </a:lnTo>
                        <a:lnTo>
                          <a:pt x="1326" y="2243"/>
                        </a:lnTo>
                        <a:lnTo>
                          <a:pt x="1321" y="2232"/>
                        </a:lnTo>
                        <a:lnTo>
                          <a:pt x="1316" y="2222"/>
                        </a:lnTo>
                        <a:lnTo>
                          <a:pt x="1312" y="2215"/>
                        </a:lnTo>
                        <a:lnTo>
                          <a:pt x="1307" y="2205"/>
                        </a:lnTo>
                        <a:lnTo>
                          <a:pt x="1303" y="220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1" name="Freeform 7"/>
                  <p:cNvSpPr>
                    <a:spLocks noEditPoints="1"/>
                  </p:cNvSpPr>
                  <p:nvPr/>
                </p:nvSpPr>
                <p:spPr bwMode="auto">
                  <a:xfrm>
                    <a:off x="9586913" y="3060700"/>
                    <a:ext cx="1512888" cy="342900"/>
                  </a:xfrm>
                  <a:custGeom>
                    <a:avLst/>
                    <a:gdLst/>
                    <a:ahLst/>
                    <a:cxnLst>
                      <a:cxn ang="0">
                        <a:pos x="12983" y="15"/>
                      </a:cxn>
                      <a:cxn ang="0">
                        <a:pos x="13125" y="80"/>
                      </a:cxn>
                      <a:cxn ang="0">
                        <a:pos x="13238" y="187"/>
                      </a:cxn>
                      <a:cxn ang="0">
                        <a:pos x="13309" y="327"/>
                      </a:cxn>
                      <a:cxn ang="0">
                        <a:pos x="13330" y="2696"/>
                      </a:cxn>
                      <a:cxn ang="0">
                        <a:pos x="12299" y="2713"/>
                      </a:cxn>
                      <a:cxn ang="0">
                        <a:pos x="11963" y="2746"/>
                      </a:cxn>
                      <a:cxn ang="0">
                        <a:pos x="10964" y="2808"/>
                      </a:cxn>
                      <a:cxn ang="0">
                        <a:pos x="9474" y="2891"/>
                      </a:cxn>
                      <a:cxn ang="0">
                        <a:pos x="8162" y="2957"/>
                      </a:cxn>
                      <a:cxn ang="0">
                        <a:pos x="7295" y="2994"/>
                      </a:cxn>
                      <a:cxn ang="0">
                        <a:pos x="6428" y="3021"/>
                      </a:cxn>
                      <a:cxn ang="0">
                        <a:pos x="5784" y="3017"/>
                      </a:cxn>
                      <a:cxn ang="0">
                        <a:pos x="5142" y="2996"/>
                      </a:cxn>
                      <a:cxn ang="0">
                        <a:pos x="3825" y="2933"/>
                      </a:cxn>
                      <a:cxn ang="0">
                        <a:pos x="2239" y="2842"/>
                      </a:cxn>
                      <a:cxn ang="0">
                        <a:pos x="1229" y="2779"/>
                      </a:cxn>
                      <a:cxn ang="0">
                        <a:pos x="923" y="2776"/>
                      </a:cxn>
                      <a:cxn ang="0">
                        <a:pos x="463" y="2809"/>
                      </a:cxn>
                      <a:cxn ang="0">
                        <a:pos x="4" y="2842"/>
                      </a:cxn>
                      <a:cxn ang="0">
                        <a:pos x="2" y="417"/>
                      </a:cxn>
                      <a:cxn ang="0">
                        <a:pos x="45" y="263"/>
                      </a:cxn>
                      <a:cxn ang="0">
                        <a:pos x="136" y="136"/>
                      </a:cxn>
                      <a:cxn ang="0">
                        <a:pos x="262" y="46"/>
                      </a:cxn>
                      <a:cxn ang="0">
                        <a:pos x="416" y="2"/>
                      </a:cxn>
                      <a:cxn ang="0">
                        <a:pos x="6288" y="165"/>
                      </a:cxn>
                      <a:cxn ang="0">
                        <a:pos x="6323" y="197"/>
                      </a:cxn>
                      <a:cxn ang="0">
                        <a:pos x="6331" y="246"/>
                      </a:cxn>
                      <a:cxn ang="0">
                        <a:pos x="6306" y="286"/>
                      </a:cxn>
                      <a:cxn ang="0">
                        <a:pos x="6260" y="303"/>
                      </a:cxn>
                      <a:cxn ang="0">
                        <a:pos x="6215" y="286"/>
                      </a:cxn>
                      <a:cxn ang="0">
                        <a:pos x="6190" y="246"/>
                      </a:cxn>
                      <a:cxn ang="0">
                        <a:pos x="6198" y="197"/>
                      </a:cxn>
                      <a:cxn ang="0">
                        <a:pos x="6233" y="165"/>
                      </a:cxn>
                      <a:cxn ang="0">
                        <a:pos x="6679" y="161"/>
                      </a:cxn>
                      <a:cxn ang="0">
                        <a:pos x="6721" y="186"/>
                      </a:cxn>
                      <a:cxn ang="0">
                        <a:pos x="6737" y="231"/>
                      </a:cxn>
                      <a:cxn ang="0">
                        <a:pos x="6721" y="277"/>
                      </a:cxn>
                      <a:cxn ang="0">
                        <a:pos x="6679" y="301"/>
                      </a:cxn>
                      <a:cxn ang="0">
                        <a:pos x="6631" y="295"/>
                      </a:cxn>
                      <a:cxn ang="0">
                        <a:pos x="6600" y="260"/>
                      </a:cxn>
                      <a:cxn ang="0">
                        <a:pos x="6596" y="210"/>
                      </a:cxn>
                      <a:cxn ang="0">
                        <a:pos x="6625" y="172"/>
                      </a:cxn>
                      <a:cxn ang="0">
                        <a:pos x="7069" y="160"/>
                      </a:cxn>
                      <a:cxn ang="0">
                        <a:pos x="7115" y="177"/>
                      </a:cxn>
                      <a:cxn ang="0">
                        <a:pos x="7140" y="217"/>
                      </a:cxn>
                      <a:cxn ang="0">
                        <a:pos x="7132" y="265"/>
                      </a:cxn>
                      <a:cxn ang="0">
                        <a:pos x="7098" y="297"/>
                      </a:cxn>
                      <a:cxn ang="0">
                        <a:pos x="7048" y="300"/>
                      </a:cxn>
                      <a:cxn ang="0">
                        <a:pos x="7011" y="271"/>
                      </a:cxn>
                      <a:cxn ang="0">
                        <a:pos x="6998" y="224"/>
                      </a:cxn>
                      <a:cxn ang="0">
                        <a:pos x="7019" y="181"/>
                      </a:cxn>
                      <a:cxn ang="0">
                        <a:pos x="7062" y="160"/>
                      </a:cxn>
                      <a:cxn ang="0">
                        <a:pos x="589" y="468"/>
                      </a:cxn>
                      <a:cxn ang="0">
                        <a:pos x="8587" y="2531"/>
                      </a:cxn>
                      <a:cxn ang="0">
                        <a:pos x="8898" y="468"/>
                      </a:cxn>
                    </a:cxnLst>
                    <a:rect l="0" t="0" r="r" b="b"/>
                    <a:pathLst>
                      <a:path w="13330" h="3022">
                        <a:moveTo>
                          <a:pt x="463" y="0"/>
                        </a:moveTo>
                        <a:lnTo>
                          <a:pt x="12867" y="0"/>
                        </a:lnTo>
                        <a:lnTo>
                          <a:pt x="12891" y="1"/>
                        </a:lnTo>
                        <a:lnTo>
                          <a:pt x="12914" y="2"/>
                        </a:lnTo>
                        <a:lnTo>
                          <a:pt x="12937" y="5"/>
                        </a:lnTo>
                        <a:lnTo>
                          <a:pt x="12960" y="10"/>
                        </a:lnTo>
                        <a:lnTo>
                          <a:pt x="12983" y="15"/>
                        </a:lnTo>
                        <a:lnTo>
                          <a:pt x="13004" y="21"/>
                        </a:lnTo>
                        <a:lnTo>
                          <a:pt x="13026" y="29"/>
                        </a:lnTo>
                        <a:lnTo>
                          <a:pt x="13046" y="36"/>
                        </a:lnTo>
                        <a:lnTo>
                          <a:pt x="13068" y="46"/>
                        </a:lnTo>
                        <a:lnTo>
                          <a:pt x="13088" y="56"/>
                        </a:lnTo>
                        <a:lnTo>
                          <a:pt x="13107" y="67"/>
                        </a:lnTo>
                        <a:lnTo>
                          <a:pt x="13125" y="80"/>
                        </a:lnTo>
                        <a:lnTo>
                          <a:pt x="13144" y="93"/>
                        </a:lnTo>
                        <a:lnTo>
                          <a:pt x="13161" y="106"/>
                        </a:lnTo>
                        <a:lnTo>
                          <a:pt x="13178" y="121"/>
                        </a:lnTo>
                        <a:lnTo>
                          <a:pt x="13194" y="136"/>
                        </a:lnTo>
                        <a:lnTo>
                          <a:pt x="13210" y="152"/>
                        </a:lnTo>
                        <a:lnTo>
                          <a:pt x="13224" y="169"/>
                        </a:lnTo>
                        <a:lnTo>
                          <a:pt x="13238" y="187"/>
                        </a:lnTo>
                        <a:lnTo>
                          <a:pt x="13250" y="205"/>
                        </a:lnTo>
                        <a:lnTo>
                          <a:pt x="13263" y="223"/>
                        </a:lnTo>
                        <a:lnTo>
                          <a:pt x="13274" y="244"/>
                        </a:lnTo>
                        <a:lnTo>
                          <a:pt x="13284" y="263"/>
                        </a:lnTo>
                        <a:lnTo>
                          <a:pt x="13294" y="284"/>
                        </a:lnTo>
                        <a:lnTo>
                          <a:pt x="13303" y="305"/>
                        </a:lnTo>
                        <a:lnTo>
                          <a:pt x="13309" y="327"/>
                        </a:lnTo>
                        <a:lnTo>
                          <a:pt x="13315" y="348"/>
                        </a:lnTo>
                        <a:lnTo>
                          <a:pt x="13321" y="370"/>
                        </a:lnTo>
                        <a:lnTo>
                          <a:pt x="13325" y="394"/>
                        </a:lnTo>
                        <a:lnTo>
                          <a:pt x="13328" y="417"/>
                        </a:lnTo>
                        <a:lnTo>
                          <a:pt x="13330" y="440"/>
                        </a:lnTo>
                        <a:lnTo>
                          <a:pt x="13330" y="464"/>
                        </a:lnTo>
                        <a:lnTo>
                          <a:pt x="13330" y="2696"/>
                        </a:lnTo>
                        <a:lnTo>
                          <a:pt x="12564" y="2668"/>
                        </a:lnTo>
                        <a:lnTo>
                          <a:pt x="12520" y="2677"/>
                        </a:lnTo>
                        <a:lnTo>
                          <a:pt x="12475" y="2686"/>
                        </a:lnTo>
                        <a:lnTo>
                          <a:pt x="12432" y="2693"/>
                        </a:lnTo>
                        <a:lnTo>
                          <a:pt x="12387" y="2700"/>
                        </a:lnTo>
                        <a:lnTo>
                          <a:pt x="12344" y="2707"/>
                        </a:lnTo>
                        <a:lnTo>
                          <a:pt x="12299" y="2713"/>
                        </a:lnTo>
                        <a:lnTo>
                          <a:pt x="12255" y="2719"/>
                        </a:lnTo>
                        <a:lnTo>
                          <a:pt x="12211" y="2724"/>
                        </a:lnTo>
                        <a:lnTo>
                          <a:pt x="12161" y="2730"/>
                        </a:lnTo>
                        <a:lnTo>
                          <a:pt x="12112" y="2734"/>
                        </a:lnTo>
                        <a:lnTo>
                          <a:pt x="12062" y="2738"/>
                        </a:lnTo>
                        <a:lnTo>
                          <a:pt x="12013" y="2741"/>
                        </a:lnTo>
                        <a:lnTo>
                          <a:pt x="11963" y="2746"/>
                        </a:lnTo>
                        <a:lnTo>
                          <a:pt x="11913" y="2749"/>
                        </a:lnTo>
                        <a:lnTo>
                          <a:pt x="11864" y="2752"/>
                        </a:lnTo>
                        <a:lnTo>
                          <a:pt x="11814" y="2755"/>
                        </a:lnTo>
                        <a:lnTo>
                          <a:pt x="11602" y="2769"/>
                        </a:lnTo>
                        <a:lnTo>
                          <a:pt x="11389" y="2783"/>
                        </a:lnTo>
                        <a:lnTo>
                          <a:pt x="11176" y="2796"/>
                        </a:lnTo>
                        <a:lnTo>
                          <a:pt x="10964" y="2808"/>
                        </a:lnTo>
                        <a:lnTo>
                          <a:pt x="10751" y="2821"/>
                        </a:lnTo>
                        <a:lnTo>
                          <a:pt x="10538" y="2834"/>
                        </a:lnTo>
                        <a:lnTo>
                          <a:pt x="10326" y="2846"/>
                        </a:lnTo>
                        <a:lnTo>
                          <a:pt x="10112" y="2857"/>
                        </a:lnTo>
                        <a:lnTo>
                          <a:pt x="9899" y="2869"/>
                        </a:lnTo>
                        <a:lnTo>
                          <a:pt x="9687" y="2881"/>
                        </a:lnTo>
                        <a:lnTo>
                          <a:pt x="9474" y="2891"/>
                        </a:lnTo>
                        <a:lnTo>
                          <a:pt x="9262" y="2903"/>
                        </a:lnTo>
                        <a:lnTo>
                          <a:pt x="9049" y="2914"/>
                        </a:lnTo>
                        <a:lnTo>
                          <a:pt x="8835" y="2924"/>
                        </a:lnTo>
                        <a:lnTo>
                          <a:pt x="8623" y="2935"/>
                        </a:lnTo>
                        <a:lnTo>
                          <a:pt x="8410" y="2946"/>
                        </a:lnTo>
                        <a:lnTo>
                          <a:pt x="8287" y="2951"/>
                        </a:lnTo>
                        <a:lnTo>
                          <a:pt x="8162" y="2957"/>
                        </a:lnTo>
                        <a:lnTo>
                          <a:pt x="8039" y="2963"/>
                        </a:lnTo>
                        <a:lnTo>
                          <a:pt x="7915" y="2968"/>
                        </a:lnTo>
                        <a:lnTo>
                          <a:pt x="7791" y="2974"/>
                        </a:lnTo>
                        <a:lnTo>
                          <a:pt x="7667" y="2980"/>
                        </a:lnTo>
                        <a:lnTo>
                          <a:pt x="7544" y="2985"/>
                        </a:lnTo>
                        <a:lnTo>
                          <a:pt x="7419" y="2990"/>
                        </a:lnTo>
                        <a:lnTo>
                          <a:pt x="7295" y="2994"/>
                        </a:lnTo>
                        <a:lnTo>
                          <a:pt x="7171" y="3000"/>
                        </a:lnTo>
                        <a:lnTo>
                          <a:pt x="7047" y="3004"/>
                        </a:lnTo>
                        <a:lnTo>
                          <a:pt x="6924" y="3008"/>
                        </a:lnTo>
                        <a:lnTo>
                          <a:pt x="6799" y="3012"/>
                        </a:lnTo>
                        <a:lnTo>
                          <a:pt x="6676" y="3016"/>
                        </a:lnTo>
                        <a:lnTo>
                          <a:pt x="6552" y="3019"/>
                        </a:lnTo>
                        <a:lnTo>
                          <a:pt x="6428" y="3021"/>
                        </a:lnTo>
                        <a:lnTo>
                          <a:pt x="6336" y="3022"/>
                        </a:lnTo>
                        <a:lnTo>
                          <a:pt x="6244" y="3022"/>
                        </a:lnTo>
                        <a:lnTo>
                          <a:pt x="6152" y="3022"/>
                        </a:lnTo>
                        <a:lnTo>
                          <a:pt x="6061" y="3022"/>
                        </a:lnTo>
                        <a:lnTo>
                          <a:pt x="5968" y="3021"/>
                        </a:lnTo>
                        <a:lnTo>
                          <a:pt x="5877" y="3019"/>
                        </a:lnTo>
                        <a:lnTo>
                          <a:pt x="5784" y="3017"/>
                        </a:lnTo>
                        <a:lnTo>
                          <a:pt x="5693" y="3015"/>
                        </a:lnTo>
                        <a:lnTo>
                          <a:pt x="5601" y="3012"/>
                        </a:lnTo>
                        <a:lnTo>
                          <a:pt x="5509" y="3009"/>
                        </a:lnTo>
                        <a:lnTo>
                          <a:pt x="5417" y="3006"/>
                        </a:lnTo>
                        <a:lnTo>
                          <a:pt x="5325" y="3003"/>
                        </a:lnTo>
                        <a:lnTo>
                          <a:pt x="5233" y="2999"/>
                        </a:lnTo>
                        <a:lnTo>
                          <a:pt x="5142" y="2996"/>
                        </a:lnTo>
                        <a:lnTo>
                          <a:pt x="5049" y="2991"/>
                        </a:lnTo>
                        <a:lnTo>
                          <a:pt x="4958" y="2988"/>
                        </a:lnTo>
                        <a:lnTo>
                          <a:pt x="4732" y="2977"/>
                        </a:lnTo>
                        <a:lnTo>
                          <a:pt x="4504" y="2967"/>
                        </a:lnTo>
                        <a:lnTo>
                          <a:pt x="4278" y="2956"/>
                        </a:lnTo>
                        <a:lnTo>
                          <a:pt x="4051" y="2944"/>
                        </a:lnTo>
                        <a:lnTo>
                          <a:pt x="3825" y="2933"/>
                        </a:lnTo>
                        <a:lnTo>
                          <a:pt x="3598" y="2921"/>
                        </a:lnTo>
                        <a:lnTo>
                          <a:pt x="3372" y="2908"/>
                        </a:lnTo>
                        <a:lnTo>
                          <a:pt x="3144" y="2896"/>
                        </a:lnTo>
                        <a:lnTo>
                          <a:pt x="2918" y="2883"/>
                        </a:lnTo>
                        <a:lnTo>
                          <a:pt x="2691" y="2870"/>
                        </a:lnTo>
                        <a:lnTo>
                          <a:pt x="2465" y="2856"/>
                        </a:lnTo>
                        <a:lnTo>
                          <a:pt x="2239" y="2842"/>
                        </a:lnTo>
                        <a:lnTo>
                          <a:pt x="2012" y="2829"/>
                        </a:lnTo>
                        <a:lnTo>
                          <a:pt x="1786" y="2815"/>
                        </a:lnTo>
                        <a:lnTo>
                          <a:pt x="1559" y="2800"/>
                        </a:lnTo>
                        <a:lnTo>
                          <a:pt x="1333" y="2786"/>
                        </a:lnTo>
                        <a:lnTo>
                          <a:pt x="1298" y="2784"/>
                        </a:lnTo>
                        <a:lnTo>
                          <a:pt x="1264" y="2781"/>
                        </a:lnTo>
                        <a:lnTo>
                          <a:pt x="1229" y="2779"/>
                        </a:lnTo>
                        <a:lnTo>
                          <a:pt x="1194" y="2776"/>
                        </a:lnTo>
                        <a:lnTo>
                          <a:pt x="1158" y="2774"/>
                        </a:lnTo>
                        <a:lnTo>
                          <a:pt x="1124" y="2772"/>
                        </a:lnTo>
                        <a:lnTo>
                          <a:pt x="1089" y="2770"/>
                        </a:lnTo>
                        <a:lnTo>
                          <a:pt x="1054" y="2768"/>
                        </a:lnTo>
                        <a:lnTo>
                          <a:pt x="988" y="2772"/>
                        </a:lnTo>
                        <a:lnTo>
                          <a:pt x="923" y="2776"/>
                        </a:lnTo>
                        <a:lnTo>
                          <a:pt x="858" y="2782"/>
                        </a:lnTo>
                        <a:lnTo>
                          <a:pt x="792" y="2786"/>
                        </a:lnTo>
                        <a:lnTo>
                          <a:pt x="726" y="2790"/>
                        </a:lnTo>
                        <a:lnTo>
                          <a:pt x="660" y="2796"/>
                        </a:lnTo>
                        <a:lnTo>
                          <a:pt x="595" y="2800"/>
                        </a:lnTo>
                        <a:lnTo>
                          <a:pt x="529" y="2805"/>
                        </a:lnTo>
                        <a:lnTo>
                          <a:pt x="463" y="2809"/>
                        </a:lnTo>
                        <a:lnTo>
                          <a:pt x="397" y="2815"/>
                        </a:lnTo>
                        <a:lnTo>
                          <a:pt x="332" y="2819"/>
                        </a:lnTo>
                        <a:lnTo>
                          <a:pt x="266" y="2823"/>
                        </a:lnTo>
                        <a:lnTo>
                          <a:pt x="201" y="2829"/>
                        </a:lnTo>
                        <a:lnTo>
                          <a:pt x="135" y="2833"/>
                        </a:lnTo>
                        <a:lnTo>
                          <a:pt x="69" y="2838"/>
                        </a:lnTo>
                        <a:lnTo>
                          <a:pt x="4" y="2842"/>
                        </a:lnTo>
                        <a:lnTo>
                          <a:pt x="2" y="2827"/>
                        </a:lnTo>
                        <a:lnTo>
                          <a:pt x="1" y="2813"/>
                        </a:lnTo>
                        <a:lnTo>
                          <a:pt x="0" y="2798"/>
                        </a:lnTo>
                        <a:lnTo>
                          <a:pt x="0" y="2783"/>
                        </a:lnTo>
                        <a:lnTo>
                          <a:pt x="0" y="464"/>
                        </a:lnTo>
                        <a:lnTo>
                          <a:pt x="1" y="440"/>
                        </a:lnTo>
                        <a:lnTo>
                          <a:pt x="2" y="417"/>
                        </a:lnTo>
                        <a:lnTo>
                          <a:pt x="5" y="394"/>
                        </a:lnTo>
                        <a:lnTo>
                          <a:pt x="9" y="370"/>
                        </a:lnTo>
                        <a:lnTo>
                          <a:pt x="15" y="348"/>
                        </a:lnTo>
                        <a:lnTo>
                          <a:pt x="21" y="327"/>
                        </a:lnTo>
                        <a:lnTo>
                          <a:pt x="28" y="305"/>
                        </a:lnTo>
                        <a:lnTo>
                          <a:pt x="36" y="284"/>
                        </a:lnTo>
                        <a:lnTo>
                          <a:pt x="45" y="263"/>
                        </a:lnTo>
                        <a:lnTo>
                          <a:pt x="56" y="244"/>
                        </a:lnTo>
                        <a:lnTo>
                          <a:pt x="67" y="223"/>
                        </a:lnTo>
                        <a:lnTo>
                          <a:pt x="79" y="205"/>
                        </a:lnTo>
                        <a:lnTo>
                          <a:pt x="92" y="187"/>
                        </a:lnTo>
                        <a:lnTo>
                          <a:pt x="106" y="169"/>
                        </a:lnTo>
                        <a:lnTo>
                          <a:pt x="121" y="152"/>
                        </a:lnTo>
                        <a:lnTo>
                          <a:pt x="136" y="136"/>
                        </a:lnTo>
                        <a:lnTo>
                          <a:pt x="152" y="121"/>
                        </a:lnTo>
                        <a:lnTo>
                          <a:pt x="169" y="106"/>
                        </a:lnTo>
                        <a:lnTo>
                          <a:pt x="187" y="93"/>
                        </a:lnTo>
                        <a:lnTo>
                          <a:pt x="205" y="80"/>
                        </a:lnTo>
                        <a:lnTo>
                          <a:pt x="223" y="67"/>
                        </a:lnTo>
                        <a:lnTo>
                          <a:pt x="243" y="56"/>
                        </a:lnTo>
                        <a:lnTo>
                          <a:pt x="262" y="46"/>
                        </a:lnTo>
                        <a:lnTo>
                          <a:pt x="283" y="36"/>
                        </a:lnTo>
                        <a:lnTo>
                          <a:pt x="305" y="29"/>
                        </a:lnTo>
                        <a:lnTo>
                          <a:pt x="326" y="21"/>
                        </a:lnTo>
                        <a:lnTo>
                          <a:pt x="347" y="15"/>
                        </a:lnTo>
                        <a:lnTo>
                          <a:pt x="370" y="10"/>
                        </a:lnTo>
                        <a:lnTo>
                          <a:pt x="393" y="5"/>
                        </a:lnTo>
                        <a:lnTo>
                          <a:pt x="416" y="2"/>
                        </a:lnTo>
                        <a:lnTo>
                          <a:pt x="440" y="1"/>
                        </a:lnTo>
                        <a:lnTo>
                          <a:pt x="463" y="0"/>
                        </a:lnTo>
                        <a:close/>
                        <a:moveTo>
                          <a:pt x="6260" y="160"/>
                        </a:moveTo>
                        <a:lnTo>
                          <a:pt x="6268" y="160"/>
                        </a:lnTo>
                        <a:lnTo>
                          <a:pt x="6274" y="161"/>
                        </a:lnTo>
                        <a:lnTo>
                          <a:pt x="6282" y="163"/>
                        </a:lnTo>
                        <a:lnTo>
                          <a:pt x="6288" y="165"/>
                        </a:lnTo>
                        <a:lnTo>
                          <a:pt x="6294" y="168"/>
                        </a:lnTo>
                        <a:lnTo>
                          <a:pt x="6300" y="172"/>
                        </a:lnTo>
                        <a:lnTo>
                          <a:pt x="6306" y="177"/>
                        </a:lnTo>
                        <a:lnTo>
                          <a:pt x="6310" y="181"/>
                        </a:lnTo>
                        <a:lnTo>
                          <a:pt x="6316" y="186"/>
                        </a:lnTo>
                        <a:lnTo>
                          <a:pt x="6320" y="191"/>
                        </a:lnTo>
                        <a:lnTo>
                          <a:pt x="6323" y="197"/>
                        </a:lnTo>
                        <a:lnTo>
                          <a:pt x="6326" y="203"/>
                        </a:lnTo>
                        <a:lnTo>
                          <a:pt x="6328" y="210"/>
                        </a:lnTo>
                        <a:lnTo>
                          <a:pt x="6331" y="217"/>
                        </a:lnTo>
                        <a:lnTo>
                          <a:pt x="6332" y="224"/>
                        </a:lnTo>
                        <a:lnTo>
                          <a:pt x="6332" y="231"/>
                        </a:lnTo>
                        <a:lnTo>
                          <a:pt x="6332" y="238"/>
                        </a:lnTo>
                        <a:lnTo>
                          <a:pt x="6331" y="246"/>
                        </a:lnTo>
                        <a:lnTo>
                          <a:pt x="6328" y="252"/>
                        </a:lnTo>
                        <a:lnTo>
                          <a:pt x="6326" y="260"/>
                        </a:lnTo>
                        <a:lnTo>
                          <a:pt x="6323" y="265"/>
                        </a:lnTo>
                        <a:lnTo>
                          <a:pt x="6320" y="271"/>
                        </a:lnTo>
                        <a:lnTo>
                          <a:pt x="6316" y="277"/>
                        </a:lnTo>
                        <a:lnTo>
                          <a:pt x="6310" y="282"/>
                        </a:lnTo>
                        <a:lnTo>
                          <a:pt x="6306" y="286"/>
                        </a:lnTo>
                        <a:lnTo>
                          <a:pt x="6300" y="290"/>
                        </a:lnTo>
                        <a:lnTo>
                          <a:pt x="6294" y="295"/>
                        </a:lnTo>
                        <a:lnTo>
                          <a:pt x="6288" y="297"/>
                        </a:lnTo>
                        <a:lnTo>
                          <a:pt x="6282" y="300"/>
                        </a:lnTo>
                        <a:lnTo>
                          <a:pt x="6274" y="301"/>
                        </a:lnTo>
                        <a:lnTo>
                          <a:pt x="6268" y="302"/>
                        </a:lnTo>
                        <a:lnTo>
                          <a:pt x="6260" y="303"/>
                        </a:lnTo>
                        <a:lnTo>
                          <a:pt x="6253" y="302"/>
                        </a:lnTo>
                        <a:lnTo>
                          <a:pt x="6246" y="301"/>
                        </a:lnTo>
                        <a:lnTo>
                          <a:pt x="6239" y="300"/>
                        </a:lnTo>
                        <a:lnTo>
                          <a:pt x="6233" y="297"/>
                        </a:lnTo>
                        <a:lnTo>
                          <a:pt x="6226" y="295"/>
                        </a:lnTo>
                        <a:lnTo>
                          <a:pt x="6220" y="290"/>
                        </a:lnTo>
                        <a:lnTo>
                          <a:pt x="6215" y="286"/>
                        </a:lnTo>
                        <a:lnTo>
                          <a:pt x="6209" y="282"/>
                        </a:lnTo>
                        <a:lnTo>
                          <a:pt x="6205" y="277"/>
                        </a:lnTo>
                        <a:lnTo>
                          <a:pt x="6201" y="271"/>
                        </a:lnTo>
                        <a:lnTo>
                          <a:pt x="6198" y="265"/>
                        </a:lnTo>
                        <a:lnTo>
                          <a:pt x="6194" y="260"/>
                        </a:lnTo>
                        <a:lnTo>
                          <a:pt x="6192" y="252"/>
                        </a:lnTo>
                        <a:lnTo>
                          <a:pt x="6190" y="246"/>
                        </a:lnTo>
                        <a:lnTo>
                          <a:pt x="6189" y="238"/>
                        </a:lnTo>
                        <a:lnTo>
                          <a:pt x="6189" y="231"/>
                        </a:lnTo>
                        <a:lnTo>
                          <a:pt x="6189" y="224"/>
                        </a:lnTo>
                        <a:lnTo>
                          <a:pt x="6190" y="217"/>
                        </a:lnTo>
                        <a:lnTo>
                          <a:pt x="6192" y="210"/>
                        </a:lnTo>
                        <a:lnTo>
                          <a:pt x="6194" y="203"/>
                        </a:lnTo>
                        <a:lnTo>
                          <a:pt x="6198" y="197"/>
                        </a:lnTo>
                        <a:lnTo>
                          <a:pt x="6201" y="191"/>
                        </a:lnTo>
                        <a:lnTo>
                          <a:pt x="6205" y="186"/>
                        </a:lnTo>
                        <a:lnTo>
                          <a:pt x="6209" y="181"/>
                        </a:lnTo>
                        <a:lnTo>
                          <a:pt x="6215" y="177"/>
                        </a:lnTo>
                        <a:lnTo>
                          <a:pt x="6220" y="172"/>
                        </a:lnTo>
                        <a:lnTo>
                          <a:pt x="6226" y="168"/>
                        </a:lnTo>
                        <a:lnTo>
                          <a:pt x="6233" y="165"/>
                        </a:lnTo>
                        <a:lnTo>
                          <a:pt x="6239" y="163"/>
                        </a:lnTo>
                        <a:lnTo>
                          <a:pt x="6246" y="161"/>
                        </a:lnTo>
                        <a:lnTo>
                          <a:pt x="6253" y="160"/>
                        </a:lnTo>
                        <a:lnTo>
                          <a:pt x="6260" y="160"/>
                        </a:lnTo>
                        <a:close/>
                        <a:moveTo>
                          <a:pt x="6665" y="160"/>
                        </a:moveTo>
                        <a:lnTo>
                          <a:pt x="6672" y="160"/>
                        </a:lnTo>
                        <a:lnTo>
                          <a:pt x="6679" y="161"/>
                        </a:lnTo>
                        <a:lnTo>
                          <a:pt x="6687" y="163"/>
                        </a:lnTo>
                        <a:lnTo>
                          <a:pt x="6693" y="165"/>
                        </a:lnTo>
                        <a:lnTo>
                          <a:pt x="6699" y="168"/>
                        </a:lnTo>
                        <a:lnTo>
                          <a:pt x="6705" y="172"/>
                        </a:lnTo>
                        <a:lnTo>
                          <a:pt x="6710" y="177"/>
                        </a:lnTo>
                        <a:lnTo>
                          <a:pt x="6715" y="181"/>
                        </a:lnTo>
                        <a:lnTo>
                          <a:pt x="6721" y="186"/>
                        </a:lnTo>
                        <a:lnTo>
                          <a:pt x="6724" y="191"/>
                        </a:lnTo>
                        <a:lnTo>
                          <a:pt x="6728" y="197"/>
                        </a:lnTo>
                        <a:lnTo>
                          <a:pt x="6731" y="203"/>
                        </a:lnTo>
                        <a:lnTo>
                          <a:pt x="6733" y="210"/>
                        </a:lnTo>
                        <a:lnTo>
                          <a:pt x="6736" y="217"/>
                        </a:lnTo>
                        <a:lnTo>
                          <a:pt x="6737" y="224"/>
                        </a:lnTo>
                        <a:lnTo>
                          <a:pt x="6737" y="231"/>
                        </a:lnTo>
                        <a:lnTo>
                          <a:pt x="6737" y="238"/>
                        </a:lnTo>
                        <a:lnTo>
                          <a:pt x="6736" y="246"/>
                        </a:lnTo>
                        <a:lnTo>
                          <a:pt x="6733" y="252"/>
                        </a:lnTo>
                        <a:lnTo>
                          <a:pt x="6731" y="260"/>
                        </a:lnTo>
                        <a:lnTo>
                          <a:pt x="6728" y="265"/>
                        </a:lnTo>
                        <a:lnTo>
                          <a:pt x="6724" y="271"/>
                        </a:lnTo>
                        <a:lnTo>
                          <a:pt x="6721" y="277"/>
                        </a:lnTo>
                        <a:lnTo>
                          <a:pt x="6715" y="282"/>
                        </a:lnTo>
                        <a:lnTo>
                          <a:pt x="6710" y="286"/>
                        </a:lnTo>
                        <a:lnTo>
                          <a:pt x="6705" y="290"/>
                        </a:lnTo>
                        <a:lnTo>
                          <a:pt x="6699" y="295"/>
                        </a:lnTo>
                        <a:lnTo>
                          <a:pt x="6693" y="297"/>
                        </a:lnTo>
                        <a:lnTo>
                          <a:pt x="6687" y="300"/>
                        </a:lnTo>
                        <a:lnTo>
                          <a:pt x="6679" y="301"/>
                        </a:lnTo>
                        <a:lnTo>
                          <a:pt x="6672" y="302"/>
                        </a:lnTo>
                        <a:lnTo>
                          <a:pt x="6665" y="303"/>
                        </a:lnTo>
                        <a:lnTo>
                          <a:pt x="6658" y="302"/>
                        </a:lnTo>
                        <a:lnTo>
                          <a:pt x="6651" y="301"/>
                        </a:lnTo>
                        <a:lnTo>
                          <a:pt x="6644" y="300"/>
                        </a:lnTo>
                        <a:lnTo>
                          <a:pt x="6637" y="297"/>
                        </a:lnTo>
                        <a:lnTo>
                          <a:pt x="6631" y="295"/>
                        </a:lnTo>
                        <a:lnTo>
                          <a:pt x="6625" y="290"/>
                        </a:lnTo>
                        <a:lnTo>
                          <a:pt x="6620" y="286"/>
                        </a:lnTo>
                        <a:lnTo>
                          <a:pt x="6614" y="282"/>
                        </a:lnTo>
                        <a:lnTo>
                          <a:pt x="6610" y="277"/>
                        </a:lnTo>
                        <a:lnTo>
                          <a:pt x="6606" y="271"/>
                        </a:lnTo>
                        <a:lnTo>
                          <a:pt x="6602" y="265"/>
                        </a:lnTo>
                        <a:lnTo>
                          <a:pt x="6600" y="260"/>
                        </a:lnTo>
                        <a:lnTo>
                          <a:pt x="6596" y="252"/>
                        </a:lnTo>
                        <a:lnTo>
                          <a:pt x="6595" y="246"/>
                        </a:lnTo>
                        <a:lnTo>
                          <a:pt x="6594" y="238"/>
                        </a:lnTo>
                        <a:lnTo>
                          <a:pt x="6593" y="231"/>
                        </a:lnTo>
                        <a:lnTo>
                          <a:pt x="6594" y="224"/>
                        </a:lnTo>
                        <a:lnTo>
                          <a:pt x="6595" y="217"/>
                        </a:lnTo>
                        <a:lnTo>
                          <a:pt x="6596" y="210"/>
                        </a:lnTo>
                        <a:lnTo>
                          <a:pt x="6600" y="203"/>
                        </a:lnTo>
                        <a:lnTo>
                          <a:pt x="6602" y="197"/>
                        </a:lnTo>
                        <a:lnTo>
                          <a:pt x="6606" y="191"/>
                        </a:lnTo>
                        <a:lnTo>
                          <a:pt x="6610" y="186"/>
                        </a:lnTo>
                        <a:lnTo>
                          <a:pt x="6614" y="181"/>
                        </a:lnTo>
                        <a:lnTo>
                          <a:pt x="6620" y="177"/>
                        </a:lnTo>
                        <a:lnTo>
                          <a:pt x="6625" y="172"/>
                        </a:lnTo>
                        <a:lnTo>
                          <a:pt x="6631" y="168"/>
                        </a:lnTo>
                        <a:lnTo>
                          <a:pt x="6637" y="165"/>
                        </a:lnTo>
                        <a:lnTo>
                          <a:pt x="6644" y="163"/>
                        </a:lnTo>
                        <a:lnTo>
                          <a:pt x="6651" y="161"/>
                        </a:lnTo>
                        <a:lnTo>
                          <a:pt x="6658" y="160"/>
                        </a:lnTo>
                        <a:lnTo>
                          <a:pt x="6665" y="160"/>
                        </a:lnTo>
                        <a:close/>
                        <a:moveTo>
                          <a:pt x="7069" y="160"/>
                        </a:moveTo>
                        <a:lnTo>
                          <a:pt x="7077" y="160"/>
                        </a:lnTo>
                        <a:lnTo>
                          <a:pt x="7084" y="161"/>
                        </a:lnTo>
                        <a:lnTo>
                          <a:pt x="7091" y="163"/>
                        </a:lnTo>
                        <a:lnTo>
                          <a:pt x="7098" y="165"/>
                        </a:lnTo>
                        <a:lnTo>
                          <a:pt x="7103" y="168"/>
                        </a:lnTo>
                        <a:lnTo>
                          <a:pt x="7110" y="172"/>
                        </a:lnTo>
                        <a:lnTo>
                          <a:pt x="7115" y="177"/>
                        </a:lnTo>
                        <a:lnTo>
                          <a:pt x="7120" y="181"/>
                        </a:lnTo>
                        <a:lnTo>
                          <a:pt x="7125" y="186"/>
                        </a:lnTo>
                        <a:lnTo>
                          <a:pt x="7129" y="191"/>
                        </a:lnTo>
                        <a:lnTo>
                          <a:pt x="7132" y="197"/>
                        </a:lnTo>
                        <a:lnTo>
                          <a:pt x="7135" y="203"/>
                        </a:lnTo>
                        <a:lnTo>
                          <a:pt x="7139" y="210"/>
                        </a:lnTo>
                        <a:lnTo>
                          <a:pt x="7140" y="217"/>
                        </a:lnTo>
                        <a:lnTo>
                          <a:pt x="7141" y="224"/>
                        </a:lnTo>
                        <a:lnTo>
                          <a:pt x="7142" y="231"/>
                        </a:lnTo>
                        <a:lnTo>
                          <a:pt x="7141" y="238"/>
                        </a:lnTo>
                        <a:lnTo>
                          <a:pt x="7140" y="246"/>
                        </a:lnTo>
                        <a:lnTo>
                          <a:pt x="7139" y="252"/>
                        </a:lnTo>
                        <a:lnTo>
                          <a:pt x="7135" y="260"/>
                        </a:lnTo>
                        <a:lnTo>
                          <a:pt x="7132" y="265"/>
                        </a:lnTo>
                        <a:lnTo>
                          <a:pt x="7129" y="271"/>
                        </a:lnTo>
                        <a:lnTo>
                          <a:pt x="7125" y="277"/>
                        </a:lnTo>
                        <a:lnTo>
                          <a:pt x="7120" y="282"/>
                        </a:lnTo>
                        <a:lnTo>
                          <a:pt x="7115" y="286"/>
                        </a:lnTo>
                        <a:lnTo>
                          <a:pt x="7110" y="290"/>
                        </a:lnTo>
                        <a:lnTo>
                          <a:pt x="7103" y="295"/>
                        </a:lnTo>
                        <a:lnTo>
                          <a:pt x="7098" y="297"/>
                        </a:lnTo>
                        <a:lnTo>
                          <a:pt x="7091" y="300"/>
                        </a:lnTo>
                        <a:lnTo>
                          <a:pt x="7084" y="301"/>
                        </a:lnTo>
                        <a:lnTo>
                          <a:pt x="7077" y="302"/>
                        </a:lnTo>
                        <a:lnTo>
                          <a:pt x="7069" y="303"/>
                        </a:lnTo>
                        <a:lnTo>
                          <a:pt x="7062" y="302"/>
                        </a:lnTo>
                        <a:lnTo>
                          <a:pt x="7056" y="301"/>
                        </a:lnTo>
                        <a:lnTo>
                          <a:pt x="7048" y="300"/>
                        </a:lnTo>
                        <a:lnTo>
                          <a:pt x="7042" y="297"/>
                        </a:lnTo>
                        <a:lnTo>
                          <a:pt x="7035" y="295"/>
                        </a:lnTo>
                        <a:lnTo>
                          <a:pt x="7030" y="290"/>
                        </a:lnTo>
                        <a:lnTo>
                          <a:pt x="7025" y="286"/>
                        </a:lnTo>
                        <a:lnTo>
                          <a:pt x="7019" y="282"/>
                        </a:lnTo>
                        <a:lnTo>
                          <a:pt x="7014" y="277"/>
                        </a:lnTo>
                        <a:lnTo>
                          <a:pt x="7011" y="271"/>
                        </a:lnTo>
                        <a:lnTo>
                          <a:pt x="7007" y="265"/>
                        </a:lnTo>
                        <a:lnTo>
                          <a:pt x="7004" y="260"/>
                        </a:lnTo>
                        <a:lnTo>
                          <a:pt x="7001" y="252"/>
                        </a:lnTo>
                        <a:lnTo>
                          <a:pt x="6999" y="246"/>
                        </a:lnTo>
                        <a:lnTo>
                          <a:pt x="6998" y="238"/>
                        </a:lnTo>
                        <a:lnTo>
                          <a:pt x="6998" y="231"/>
                        </a:lnTo>
                        <a:lnTo>
                          <a:pt x="6998" y="224"/>
                        </a:lnTo>
                        <a:lnTo>
                          <a:pt x="6999" y="217"/>
                        </a:lnTo>
                        <a:lnTo>
                          <a:pt x="7001" y="210"/>
                        </a:lnTo>
                        <a:lnTo>
                          <a:pt x="7004" y="203"/>
                        </a:lnTo>
                        <a:lnTo>
                          <a:pt x="7007" y="197"/>
                        </a:lnTo>
                        <a:lnTo>
                          <a:pt x="7011" y="191"/>
                        </a:lnTo>
                        <a:lnTo>
                          <a:pt x="7014" y="186"/>
                        </a:lnTo>
                        <a:lnTo>
                          <a:pt x="7019" y="181"/>
                        </a:lnTo>
                        <a:lnTo>
                          <a:pt x="7025" y="177"/>
                        </a:lnTo>
                        <a:lnTo>
                          <a:pt x="7030" y="172"/>
                        </a:lnTo>
                        <a:lnTo>
                          <a:pt x="7035" y="168"/>
                        </a:lnTo>
                        <a:lnTo>
                          <a:pt x="7042" y="165"/>
                        </a:lnTo>
                        <a:lnTo>
                          <a:pt x="7048" y="163"/>
                        </a:lnTo>
                        <a:lnTo>
                          <a:pt x="7056" y="161"/>
                        </a:lnTo>
                        <a:lnTo>
                          <a:pt x="7062" y="160"/>
                        </a:lnTo>
                        <a:lnTo>
                          <a:pt x="7069" y="160"/>
                        </a:lnTo>
                        <a:close/>
                        <a:moveTo>
                          <a:pt x="6044" y="78"/>
                        </a:moveTo>
                        <a:lnTo>
                          <a:pt x="7286" y="78"/>
                        </a:lnTo>
                        <a:lnTo>
                          <a:pt x="7286" y="385"/>
                        </a:lnTo>
                        <a:lnTo>
                          <a:pt x="6044" y="385"/>
                        </a:lnTo>
                        <a:lnTo>
                          <a:pt x="6044" y="78"/>
                        </a:lnTo>
                        <a:close/>
                        <a:moveTo>
                          <a:pt x="589" y="468"/>
                        </a:moveTo>
                        <a:lnTo>
                          <a:pt x="4432" y="468"/>
                        </a:lnTo>
                        <a:lnTo>
                          <a:pt x="4432" y="2531"/>
                        </a:lnTo>
                        <a:lnTo>
                          <a:pt x="589" y="2531"/>
                        </a:lnTo>
                        <a:lnTo>
                          <a:pt x="589" y="468"/>
                        </a:lnTo>
                        <a:close/>
                        <a:moveTo>
                          <a:pt x="4743" y="468"/>
                        </a:moveTo>
                        <a:lnTo>
                          <a:pt x="8587" y="468"/>
                        </a:lnTo>
                        <a:lnTo>
                          <a:pt x="8587" y="2531"/>
                        </a:lnTo>
                        <a:lnTo>
                          <a:pt x="4743" y="2531"/>
                        </a:lnTo>
                        <a:lnTo>
                          <a:pt x="4743" y="468"/>
                        </a:lnTo>
                        <a:close/>
                        <a:moveTo>
                          <a:pt x="8898" y="468"/>
                        </a:moveTo>
                        <a:lnTo>
                          <a:pt x="12741" y="468"/>
                        </a:lnTo>
                        <a:lnTo>
                          <a:pt x="12741" y="2531"/>
                        </a:lnTo>
                        <a:lnTo>
                          <a:pt x="8898" y="2531"/>
                        </a:lnTo>
                        <a:lnTo>
                          <a:pt x="8898" y="4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225" name="组合 198"/>
                <p:cNvGrpSpPr/>
                <p:nvPr/>
              </p:nvGrpSpPr>
              <p:grpSpPr>
                <a:xfrm>
                  <a:off x="-583221" y="3441738"/>
                  <a:ext cx="206454" cy="175314"/>
                  <a:chOff x="-297471" y="2514638"/>
                  <a:chExt cx="206454" cy="175314"/>
                </a:xfrm>
                <a:grpFill/>
              </p:grpSpPr>
              <p:sp>
                <p:nvSpPr>
                  <p:cNvPr id="236" name="Freeform 25"/>
                  <p:cNvSpPr>
                    <a:spLocks/>
                  </p:cNvSpPr>
                  <p:nvPr/>
                </p:nvSpPr>
                <p:spPr bwMode="auto">
                  <a:xfrm>
                    <a:off x="-250853" y="2514638"/>
                    <a:ext cx="112477" cy="71528"/>
                  </a:xfrm>
                  <a:custGeom>
                    <a:avLst/>
                    <a:gdLst/>
                    <a:ahLst/>
                    <a:cxnLst>
                      <a:cxn ang="0">
                        <a:pos x="1175" y="2128"/>
                      </a:cxn>
                      <a:cxn ang="0">
                        <a:pos x="1331" y="2100"/>
                      </a:cxn>
                      <a:cxn ang="0">
                        <a:pos x="1479" y="2050"/>
                      </a:cxn>
                      <a:cxn ang="0">
                        <a:pos x="1617" y="1979"/>
                      </a:cxn>
                      <a:cxn ang="0">
                        <a:pos x="1742" y="1889"/>
                      </a:cxn>
                      <a:cxn ang="0">
                        <a:pos x="1853" y="1783"/>
                      </a:cxn>
                      <a:cxn ang="0">
                        <a:pos x="1948" y="1662"/>
                      </a:cxn>
                      <a:cxn ang="0">
                        <a:pos x="2026" y="1529"/>
                      </a:cxn>
                      <a:cxn ang="0">
                        <a:pos x="2083" y="1383"/>
                      </a:cxn>
                      <a:cxn ang="0">
                        <a:pos x="2119" y="1229"/>
                      </a:cxn>
                      <a:cxn ang="0">
                        <a:pos x="2131" y="1066"/>
                      </a:cxn>
                      <a:cxn ang="0">
                        <a:pos x="2119" y="905"/>
                      </a:cxn>
                      <a:cxn ang="0">
                        <a:pos x="2083" y="750"/>
                      </a:cxn>
                      <a:cxn ang="0">
                        <a:pos x="2026" y="605"/>
                      </a:cxn>
                      <a:cxn ang="0">
                        <a:pos x="1948" y="471"/>
                      </a:cxn>
                      <a:cxn ang="0">
                        <a:pos x="1853" y="350"/>
                      </a:cxn>
                      <a:cxn ang="0">
                        <a:pos x="1742" y="244"/>
                      </a:cxn>
                      <a:cxn ang="0">
                        <a:pos x="1617" y="154"/>
                      </a:cxn>
                      <a:cxn ang="0">
                        <a:pos x="1479" y="84"/>
                      </a:cxn>
                      <a:cxn ang="0">
                        <a:pos x="1331" y="33"/>
                      </a:cxn>
                      <a:cxn ang="0">
                        <a:pos x="1175" y="5"/>
                      </a:cxn>
                      <a:cxn ang="0">
                        <a:pos x="1011" y="1"/>
                      </a:cxn>
                      <a:cxn ang="0">
                        <a:pos x="851" y="21"/>
                      </a:cxn>
                      <a:cxn ang="0">
                        <a:pos x="700" y="65"/>
                      </a:cxn>
                      <a:cxn ang="0">
                        <a:pos x="558" y="129"/>
                      </a:cxn>
                      <a:cxn ang="0">
                        <a:pos x="428" y="212"/>
                      </a:cxn>
                      <a:cxn ang="0">
                        <a:pos x="312" y="313"/>
                      </a:cxn>
                      <a:cxn ang="0">
                        <a:pos x="212" y="429"/>
                      </a:cxn>
                      <a:cxn ang="0">
                        <a:pos x="129" y="558"/>
                      </a:cxn>
                      <a:cxn ang="0">
                        <a:pos x="65" y="701"/>
                      </a:cxn>
                      <a:cxn ang="0">
                        <a:pos x="22" y="852"/>
                      </a:cxn>
                      <a:cxn ang="0">
                        <a:pos x="2" y="1012"/>
                      </a:cxn>
                      <a:cxn ang="0">
                        <a:pos x="6" y="1175"/>
                      </a:cxn>
                      <a:cxn ang="0">
                        <a:pos x="34" y="1333"/>
                      </a:cxn>
                      <a:cxn ang="0">
                        <a:pos x="84" y="1481"/>
                      </a:cxn>
                      <a:cxn ang="0">
                        <a:pos x="155" y="1620"/>
                      </a:cxn>
                      <a:cxn ang="0">
                        <a:pos x="244" y="1745"/>
                      </a:cxn>
                      <a:cxn ang="0">
                        <a:pos x="350" y="1856"/>
                      </a:cxn>
                      <a:cxn ang="0">
                        <a:pos x="471" y="1951"/>
                      </a:cxn>
                      <a:cxn ang="0">
                        <a:pos x="604" y="2028"/>
                      </a:cxn>
                      <a:cxn ang="0">
                        <a:pos x="749" y="2085"/>
                      </a:cxn>
                      <a:cxn ang="0">
                        <a:pos x="903" y="2121"/>
                      </a:cxn>
                      <a:cxn ang="0">
                        <a:pos x="1066" y="2134"/>
                      </a:cxn>
                    </a:cxnLst>
                    <a:rect l="0" t="0" r="r" b="b"/>
                    <a:pathLst>
                      <a:path w="2131" h="2134">
                        <a:moveTo>
                          <a:pt x="1066" y="2134"/>
                        </a:moveTo>
                        <a:lnTo>
                          <a:pt x="1120" y="2133"/>
                        </a:lnTo>
                        <a:lnTo>
                          <a:pt x="1175" y="2128"/>
                        </a:lnTo>
                        <a:lnTo>
                          <a:pt x="1227" y="2121"/>
                        </a:lnTo>
                        <a:lnTo>
                          <a:pt x="1279" y="2111"/>
                        </a:lnTo>
                        <a:lnTo>
                          <a:pt x="1331" y="2100"/>
                        </a:lnTo>
                        <a:lnTo>
                          <a:pt x="1381" y="2085"/>
                        </a:lnTo>
                        <a:lnTo>
                          <a:pt x="1431" y="2069"/>
                        </a:lnTo>
                        <a:lnTo>
                          <a:pt x="1479" y="2050"/>
                        </a:lnTo>
                        <a:lnTo>
                          <a:pt x="1527" y="2028"/>
                        </a:lnTo>
                        <a:lnTo>
                          <a:pt x="1573" y="2004"/>
                        </a:lnTo>
                        <a:lnTo>
                          <a:pt x="1617" y="1979"/>
                        </a:lnTo>
                        <a:lnTo>
                          <a:pt x="1661" y="1951"/>
                        </a:lnTo>
                        <a:lnTo>
                          <a:pt x="1702" y="1922"/>
                        </a:lnTo>
                        <a:lnTo>
                          <a:pt x="1742" y="1889"/>
                        </a:lnTo>
                        <a:lnTo>
                          <a:pt x="1782" y="1856"/>
                        </a:lnTo>
                        <a:lnTo>
                          <a:pt x="1818" y="1821"/>
                        </a:lnTo>
                        <a:lnTo>
                          <a:pt x="1853" y="1783"/>
                        </a:lnTo>
                        <a:lnTo>
                          <a:pt x="1887" y="1745"/>
                        </a:lnTo>
                        <a:lnTo>
                          <a:pt x="1919" y="1704"/>
                        </a:lnTo>
                        <a:lnTo>
                          <a:pt x="1948" y="1662"/>
                        </a:lnTo>
                        <a:lnTo>
                          <a:pt x="1976" y="1620"/>
                        </a:lnTo>
                        <a:lnTo>
                          <a:pt x="2002" y="1574"/>
                        </a:lnTo>
                        <a:lnTo>
                          <a:pt x="2026" y="1529"/>
                        </a:lnTo>
                        <a:lnTo>
                          <a:pt x="2047" y="1481"/>
                        </a:lnTo>
                        <a:lnTo>
                          <a:pt x="2066" y="1433"/>
                        </a:lnTo>
                        <a:lnTo>
                          <a:pt x="2083" y="1383"/>
                        </a:lnTo>
                        <a:lnTo>
                          <a:pt x="2097" y="1333"/>
                        </a:lnTo>
                        <a:lnTo>
                          <a:pt x="2110" y="1281"/>
                        </a:lnTo>
                        <a:lnTo>
                          <a:pt x="2119" y="1229"/>
                        </a:lnTo>
                        <a:lnTo>
                          <a:pt x="2126" y="1175"/>
                        </a:lnTo>
                        <a:lnTo>
                          <a:pt x="2130" y="1122"/>
                        </a:lnTo>
                        <a:lnTo>
                          <a:pt x="2131" y="1066"/>
                        </a:lnTo>
                        <a:lnTo>
                          <a:pt x="2130" y="1012"/>
                        </a:lnTo>
                        <a:lnTo>
                          <a:pt x="2126" y="958"/>
                        </a:lnTo>
                        <a:lnTo>
                          <a:pt x="2119" y="905"/>
                        </a:lnTo>
                        <a:lnTo>
                          <a:pt x="2110" y="852"/>
                        </a:lnTo>
                        <a:lnTo>
                          <a:pt x="2097" y="801"/>
                        </a:lnTo>
                        <a:lnTo>
                          <a:pt x="2083" y="750"/>
                        </a:lnTo>
                        <a:lnTo>
                          <a:pt x="2066" y="701"/>
                        </a:lnTo>
                        <a:lnTo>
                          <a:pt x="2047" y="652"/>
                        </a:lnTo>
                        <a:lnTo>
                          <a:pt x="2026" y="605"/>
                        </a:lnTo>
                        <a:lnTo>
                          <a:pt x="2002" y="558"/>
                        </a:lnTo>
                        <a:lnTo>
                          <a:pt x="1976" y="514"/>
                        </a:lnTo>
                        <a:lnTo>
                          <a:pt x="1948" y="471"/>
                        </a:lnTo>
                        <a:lnTo>
                          <a:pt x="1919" y="429"/>
                        </a:lnTo>
                        <a:lnTo>
                          <a:pt x="1887" y="389"/>
                        </a:lnTo>
                        <a:lnTo>
                          <a:pt x="1853" y="350"/>
                        </a:lnTo>
                        <a:lnTo>
                          <a:pt x="1818" y="313"/>
                        </a:lnTo>
                        <a:lnTo>
                          <a:pt x="1782" y="278"/>
                        </a:lnTo>
                        <a:lnTo>
                          <a:pt x="1742" y="244"/>
                        </a:lnTo>
                        <a:lnTo>
                          <a:pt x="1702" y="212"/>
                        </a:lnTo>
                        <a:lnTo>
                          <a:pt x="1661" y="183"/>
                        </a:lnTo>
                        <a:lnTo>
                          <a:pt x="1617" y="154"/>
                        </a:lnTo>
                        <a:lnTo>
                          <a:pt x="1573" y="129"/>
                        </a:lnTo>
                        <a:lnTo>
                          <a:pt x="1527" y="105"/>
                        </a:lnTo>
                        <a:lnTo>
                          <a:pt x="1479" y="84"/>
                        </a:lnTo>
                        <a:lnTo>
                          <a:pt x="1431" y="65"/>
                        </a:lnTo>
                        <a:lnTo>
                          <a:pt x="1381" y="47"/>
                        </a:lnTo>
                        <a:lnTo>
                          <a:pt x="1331" y="33"/>
                        </a:lnTo>
                        <a:lnTo>
                          <a:pt x="1279" y="21"/>
                        </a:lnTo>
                        <a:lnTo>
                          <a:pt x="1227" y="12"/>
                        </a:lnTo>
                        <a:lnTo>
                          <a:pt x="1175" y="5"/>
                        </a:lnTo>
                        <a:lnTo>
                          <a:pt x="1120" y="1"/>
                        </a:lnTo>
                        <a:lnTo>
                          <a:pt x="1066" y="0"/>
                        </a:lnTo>
                        <a:lnTo>
                          <a:pt x="1011" y="1"/>
                        </a:lnTo>
                        <a:lnTo>
                          <a:pt x="957" y="5"/>
                        </a:lnTo>
                        <a:lnTo>
                          <a:pt x="903" y="12"/>
                        </a:lnTo>
                        <a:lnTo>
                          <a:pt x="851" y="21"/>
                        </a:lnTo>
                        <a:lnTo>
                          <a:pt x="799" y="33"/>
                        </a:lnTo>
                        <a:lnTo>
                          <a:pt x="749" y="47"/>
                        </a:lnTo>
                        <a:lnTo>
                          <a:pt x="700" y="65"/>
                        </a:lnTo>
                        <a:lnTo>
                          <a:pt x="651" y="84"/>
                        </a:lnTo>
                        <a:lnTo>
                          <a:pt x="604" y="105"/>
                        </a:lnTo>
                        <a:lnTo>
                          <a:pt x="558" y="129"/>
                        </a:lnTo>
                        <a:lnTo>
                          <a:pt x="514" y="154"/>
                        </a:lnTo>
                        <a:lnTo>
                          <a:pt x="471" y="183"/>
                        </a:lnTo>
                        <a:lnTo>
                          <a:pt x="428" y="212"/>
                        </a:lnTo>
                        <a:lnTo>
                          <a:pt x="388" y="244"/>
                        </a:lnTo>
                        <a:lnTo>
                          <a:pt x="350" y="278"/>
                        </a:lnTo>
                        <a:lnTo>
                          <a:pt x="312" y="313"/>
                        </a:lnTo>
                        <a:lnTo>
                          <a:pt x="277" y="350"/>
                        </a:lnTo>
                        <a:lnTo>
                          <a:pt x="244" y="389"/>
                        </a:lnTo>
                        <a:lnTo>
                          <a:pt x="212" y="429"/>
                        </a:lnTo>
                        <a:lnTo>
                          <a:pt x="182" y="471"/>
                        </a:lnTo>
                        <a:lnTo>
                          <a:pt x="155" y="514"/>
                        </a:lnTo>
                        <a:lnTo>
                          <a:pt x="129" y="558"/>
                        </a:lnTo>
                        <a:lnTo>
                          <a:pt x="106" y="605"/>
                        </a:lnTo>
                        <a:lnTo>
                          <a:pt x="84" y="652"/>
                        </a:lnTo>
                        <a:lnTo>
                          <a:pt x="65" y="701"/>
                        </a:lnTo>
                        <a:lnTo>
                          <a:pt x="48" y="750"/>
                        </a:lnTo>
                        <a:lnTo>
                          <a:pt x="34" y="801"/>
                        </a:lnTo>
                        <a:lnTo>
                          <a:pt x="22" y="852"/>
                        </a:lnTo>
                        <a:lnTo>
                          <a:pt x="12" y="905"/>
                        </a:lnTo>
                        <a:lnTo>
                          <a:pt x="6" y="958"/>
                        </a:lnTo>
                        <a:lnTo>
                          <a:pt x="2" y="1012"/>
                        </a:lnTo>
                        <a:lnTo>
                          <a:pt x="0" y="1066"/>
                        </a:lnTo>
                        <a:lnTo>
                          <a:pt x="2" y="1122"/>
                        </a:lnTo>
                        <a:lnTo>
                          <a:pt x="6" y="1175"/>
                        </a:lnTo>
                        <a:lnTo>
                          <a:pt x="12" y="1229"/>
                        </a:lnTo>
                        <a:lnTo>
                          <a:pt x="22" y="1281"/>
                        </a:lnTo>
                        <a:lnTo>
                          <a:pt x="34" y="1333"/>
                        </a:lnTo>
                        <a:lnTo>
                          <a:pt x="48" y="1383"/>
                        </a:lnTo>
                        <a:lnTo>
                          <a:pt x="65" y="1433"/>
                        </a:lnTo>
                        <a:lnTo>
                          <a:pt x="84" y="1481"/>
                        </a:lnTo>
                        <a:lnTo>
                          <a:pt x="106" y="1529"/>
                        </a:lnTo>
                        <a:lnTo>
                          <a:pt x="129" y="1574"/>
                        </a:lnTo>
                        <a:lnTo>
                          <a:pt x="155" y="1620"/>
                        </a:lnTo>
                        <a:lnTo>
                          <a:pt x="182" y="1662"/>
                        </a:lnTo>
                        <a:lnTo>
                          <a:pt x="212" y="1704"/>
                        </a:lnTo>
                        <a:lnTo>
                          <a:pt x="244" y="1745"/>
                        </a:lnTo>
                        <a:lnTo>
                          <a:pt x="277" y="1783"/>
                        </a:lnTo>
                        <a:lnTo>
                          <a:pt x="312" y="1821"/>
                        </a:lnTo>
                        <a:lnTo>
                          <a:pt x="350" y="1856"/>
                        </a:lnTo>
                        <a:lnTo>
                          <a:pt x="388" y="1889"/>
                        </a:lnTo>
                        <a:lnTo>
                          <a:pt x="428" y="1922"/>
                        </a:lnTo>
                        <a:lnTo>
                          <a:pt x="471" y="1951"/>
                        </a:lnTo>
                        <a:lnTo>
                          <a:pt x="514" y="1979"/>
                        </a:lnTo>
                        <a:lnTo>
                          <a:pt x="558" y="2004"/>
                        </a:lnTo>
                        <a:lnTo>
                          <a:pt x="604" y="2028"/>
                        </a:lnTo>
                        <a:lnTo>
                          <a:pt x="651" y="2050"/>
                        </a:lnTo>
                        <a:lnTo>
                          <a:pt x="700" y="2069"/>
                        </a:lnTo>
                        <a:lnTo>
                          <a:pt x="749" y="2085"/>
                        </a:lnTo>
                        <a:lnTo>
                          <a:pt x="799" y="2100"/>
                        </a:lnTo>
                        <a:lnTo>
                          <a:pt x="851" y="2111"/>
                        </a:lnTo>
                        <a:lnTo>
                          <a:pt x="903" y="2121"/>
                        </a:lnTo>
                        <a:lnTo>
                          <a:pt x="957" y="2128"/>
                        </a:lnTo>
                        <a:lnTo>
                          <a:pt x="1011" y="2133"/>
                        </a:lnTo>
                        <a:lnTo>
                          <a:pt x="1066" y="2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7" name="Freeform 26"/>
                  <p:cNvSpPr>
                    <a:spLocks/>
                  </p:cNvSpPr>
                  <p:nvPr/>
                </p:nvSpPr>
                <p:spPr bwMode="auto">
                  <a:xfrm>
                    <a:off x="-297471" y="2595516"/>
                    <a:ext cx="206454" cy="94436"/>
                  </a:xfrm>
                  <a:custGeom>
                    <a:avLst/>
                    <a:gdLst/>
                    <a:ahLst/>
                    <a:cxnLst>
                      <a:cxn ang="0">
                        <a:pos x="1123" y="0"/>
                      </a:cxn>
                      <a:cxn ang="0">
                        <a:pos x="615" y="3"/>
                      </a:cxn>
                      <a:cxn ang="0">
                        <a:pos x="549" y="19"/>
                      </a:cxn>
                      <a:cxn ang="0">
                        <a:pos x="483" y="40"/>
                      </a:cxn>
                      <a:cxn ang="0">
                        <a:pos x="408" y="69"/>
                      </a:cxn>
                      <a:cxn ang="0">
                        <a:pos x="347" y="97"/>
                      </a:cxn>
                      <a:cxn ang="0">
                        <a:pos x="308" y="119"/>
                      </a:cxn>
                      <a:cxn ang="0">
                        <a:pos x="268" y="145"/>
                      </a:cxn>
                      <a:cxn ang="0">
                        <a:pos x="231" y="173"/>
                      </a:cxn>
                      <a:cxn ang="0">
                        <a:pos x="196" y="204"/>
                      </a:cxn>
                      <a:cxn ang="0">
                        <a:pos x="164" y="239"/>
                      </a:cxn>
                      <a:cxn ang="0">
                        <a:pos x="136" y="277"/>
                      </a:cxn>
                      <a:cxn ang="0">
                        <a:pos x="111" y="315"/>
                      </a:cxn>
                      <a:cxn ang="0">
                        <a:pos x="90" y="354"/>
                      </a:cxn>
                      <a:cxn ang="0">
                        <a:pos x="72" y="393"/>
                      </a:cxn>
                      <a:cxn ang="0">
                        <a:pos x="56" y="430"/>
                      </a:cxn>
                      <a:cxn ang="0">
                        <a:pos x="42" y="469"/>
                      </a:cxn>
                      <a:cxn ang="0">
                        <a:pos x="26" y="523"/>
                      </a:cxn>
                      <a:cxn ang="0">
                        <a:pos x="12" y="593"/>
                      </a:cxn>
                      <a:cxn ang="0">
                        <a:pos x="5" y="656"/>
                      </a:cxn>
                      <a:cxn ang="0">
                        <a:pos x="0" y="733"/>
                      </a:cxn>
                      <a:cxn ang="0">
                        <a:pos x="0" y="809"/>
                      </a:cxn>
                      <a:cxn ang="0">
                        <a:pos x="0" y="993"/>
                      </a:cxn>
                      <a:cxn ang="0">
                        <a:pos x="0" y="1287"/>
                      </a:cxn>
                      <a:cxn ang="0">
                        <a:pos x="0" y="1643"/>
                      </a:cxn>
                      <a:cxn ang="0">
                        <a:pos x="0" y="2019"/>
                      </a:cxn>
                      <a:cxn ang="0">
                        <a:pos x="0" y="2367"/>
                      </a:cxn>
                      <a:cxn ang="0">
                        <a:pos x="0" y="2645"/>
                      </a:cxn>
                      <a:cxn ang="0">
                        <a:pos x="0" y="2804"/>
                      </a:cxn>
                      <a:cxn ang="0">
                        <a:pos x="1893" y="2827"/>
                      </a:cxn>
                      <a:cxn ang="0">
                        <a:pos x="3913" y="2827"/>
                      </a:cxn>
                      <a:cxn ang="0">
                        <a:pos x="3913" y="2742"/>
                      </a:cxn>
                      <a:cxn ang="0">
                        <a:pos x="3913" y="2518"/>
                      </a:cxn>
                      <a:cxn ang="0">
                        <a:pos x="3913" y="2200"/>
                      </a:cxn>
                      <a:cxn ang="0">
                        <a:pos x="3913" y="1831"/>
                      </a:cxn>
                      <a:cxn ang="0">
                        <a:pos x="3913" y="1459"/>
                      </a:cxn>
                      <a:cxn ang="0">
                        <a:pos x="3913" y="1129"/>
                      </a:cxn>
                      <a:cxn ang="0">
                        <a:pos x="3913" y="885"/>
                      </a:cxn>
                      <a:cxn ang="0">
                        <a:pos x="3913" y="772"/>
                      </a:cxn>
                      <a:cxn ang="0">
                        <a:pos x="3911" y="684"/>
                      </a:cxn>
                      <a:cxn ang="0">
                        <a:pos x="3905" y="625"/>
                      </a:cxn>
                      <a:cxn ang="0">
                        <a:pos x="3895" y="559"/>
                      </a:cxn>
                      <a:cxn ang="0">
                        <a:pos x="3877" y="487"/>
                      </a:cxn>
                      <a:cxn ang="0">
                        <a:pos x="3865" y="450"/>
                      </a:cxn>
                      <a:cxn ang="0">
                        <a:pos x="3851" y="411"/>
                      </a:cxn>
                      <a:cxn ang="0">
                        <a:pos x="3834" y="373"/>
                      </a:cxn>
                      <a:cxn ang="0">
                        <a:pos x="3814" y="335"/>
                      </a:cxn>
                      <a:cxn ang="0">
                        <a:pos x="3790" y="296"/>
                      </a:cxn>
                      <a:cxn ang="0">
                        <a:pos x="3764" y="258"/>
                      </a:cxn>
                      <a:cxn ang="0">
                        <a:pos x="3734" y="221"/>
                      </a:cxn>
                      <a:cxn ang="0">
                        <a:pos x="3701" y="188"/>
                      </a:cxn>
                      <a:cxn ang="0">
                        <a:pos x="3664" y="159"/>
                      </a:cxn>
                      <a:cxn ang="0">
                        <a:pos x="3626" y="132"/>
                      </a:cxn>
                      <a:cxn ang="0">
                        <a:pos x="3587" y="108"/>
                      </a:cxn>
                      <a:cxn ang="0">
                        <a:pos x="3546" y="87"/>
                      </a:cxn>
                      <a:cxn ang="0">
                        <a:pos x="3468" y="53"/>
                      </a:cxn>
                      <a:cxn ang="0">
                        <a:pos x="3396" y="29"/>
                      </a:cxn>
                      <a:cxn ang="0">
                        <a:pos x="3337" y="12"/>
                      </a:cxn>
                      <a:cxn ang="0">
                        <a:pos x="3284" y="0"/>
                      </a:cxn>
                      <a:cxn ang="0">
                        <a:pos x="1957" y="1290"/>
                      </a:cxn>
                    </a:cxnLst>
                    <a:rect l="0" t="0" r="r" b="b"/>
                    <a:pathLst>
                      <a:path w="3913" h="2827">
                        <a:moveTo>
                          <a:pt x="1957" y="1290"/>
                        </a:moveTo>
                        <a:lnTo>
                          <a:pt x="1123" y="0"/>
                        </a:lnTo>
                        <a:lnTo>
                          <a:pt x="630" y="0"/>
                        </a:lnTo>
                        <a:lnTo>
                          <a:pt x="615" y="3"/>
                        </a:lnTo>
                        <a:lnTo>
                          <a:pt x="576" y="12"/>
                        </a:lnTo>
                        <a:lnTo>
                          <a:pt x="549" y="19"/>
                        </a:lnTo>
                        <a:lnTo>
                          <a:pt x="517" y="29"/>
                        </a:lnTo>
                        <a:lnTo>
                          <a:pt x="483" y="40"/>
                        </a:lnTo>
                        <a:lnTo>
                          <a:pt x="446" y="53"/>
                        </a:lnTo>
                        <a:lnTo>
                          <a:pt x="408" y="69"/>
                        </a:lnTo>
                        <a:lnTo>
                          <a:pt x="367" y="87"/>
                        </a:lnTo>
                        <a:lnTo>
                          <a:pt x="347" y="97"/>
                        </a:lnTo>
                        <a:lnTo>
                          <a:pt x="328" y="108"/>
                        </a:lnTo>
                        <a:lnTo>
                          <a:pt x="308" y="119"/>
                        </a:lnTo>
                        <a:lnTo>
                          <a:pt x="287" y="132"/>
                        </a:lnTo>
                        <a:lnTo>
                          <a:pt x="268" y="145"/>
                        </a:lnTo>
                        <a:lnTo>
                          <a:pt x="249" y="159"/>
                        </a:lnTo>
                        <a:lnTo>
                          <a:pt x="231" y="173"/>
                        </a:lnTo>
                        <a:lnTo>
                          <a:pt x="213" y="188"/>
                        </a:lnTo>
                        <a:lnTo>
                          <a:pt x="196" y="204"/>
                        </a:lnTo>
                        <a:lnTo>
                          <a:pt x="180" y="221"/>
                        </a:lnTo>
                        <a:lnTo>
                          <a:pt x="164" y="239"/>
                        </a:lnTo>
                        <a:lnTo>
                          <a:pt x="149" y="258"/>
                        </a:lnTo>
                        <a:lnTo>
                          <a:pt x="136" y="277"/>
                        </a:lnTo>
                        <a:lnTo>
                          <a:pt x="123" y="296"/>
                        </a:lnTo>
                        <a:lnTo>
                          <a:pt x="111" y="315"/>
                        </a:lnTo>
                        <a:lnTo>
                          <a:pt x="100" y="335"/>
                        </a:lnTo>
                        <a:lnTo>
                          <a:pt x="90" y="354"/>
                        </a:lnTo>
                        <a:lnTo>
                          <a:pt x="81" y="373"/>
                        </a:lnTo>
                        <a:lnTo>
                          <a:pt x="72" y="393"/>
                        </a:lnTo>
                        <a:lnTo>
                          <a:pt x="64" y="411"/>
                        </a:lnTo>
                        <a:lnTo>
                          <a:pt x="56" y="430"/>
                        </a:lnTo>
                        <a:lnTo>
                          <a:pt x="48" y="450"/>
                        </a:lnTo>
                        <a:lnTo>
                          <a:pt x="42" y="469"/>
                        </a:lnTo>
                        <a:lnTo>
                          <a:pt x="36" y="487"/>
                        </a:lnTo>
                        <a:lnTo>
                          <a:pt x="26" y="523"/>
                        </a:lnTo>
                        <a:lnTo>
                          <a:pt x="19" y="559"/>
                        </a:lnTo>
                        <a:lnTo>
                          <a:pt x="12" y="593"/>
                        </a:lnTo>
                        <a:lnTo>
                          <a:pt x="8" y="625"/>
                        </a:lnTo>
                        <a:lnTo>
                          <a:pt x="5" y="656"/>
                        </a:lnTo>
                        <a:lnTo>
                          <a:pt x="2" y="684"/>
                        </a:lnTo>
                        <a:lnTo>
                          <a:pt x="0" y="733"/>
                        </a:lnTo>
                        <a:lnTo>
                          <a:pt x="0" y="772"/>
                        </a:lnTo>
                        <a:lnTo>
                          <a:pt x="0" y="809"/>
                        </a:lnTo>
                        <a:lnTo>
                          <a:pt x="0" y="885"/>
                        </a:lnTo>
                        <a:lnTo>
                          <a:pt x="0" y="993"/>
                        </a:lnTo>
                        <a:lnTo>
                          <a:pt x="0" y="1129"/>
                        </a:lnTo>
                        <a:lnTo>
                          <a:pt x="0" y="1287"/>
                        </a:lnTo>
                        <a:lnTo>
                          <a:pt x="0" y="1459"/>
                        </a:lnTo>
                        <a:lnTo>
                          <a:pt x="0" y="1643"/>
                        </a:lnTo>
                        <a:lnTo>
                          <a:pt x="0" y="1831"/>
                        </a:lnTo>
                        <a:lnTo>
                          <a:pt x="0" y="2019"/>
                        </a:lnTo>
                        <a:lnTo>
                          <a:pt x="0" y="2200"/>
                        </a:lnTo>
                        <a:lnTo>
                          <a:pt x="0" y="2367"/>
                        </a:lnTo>
                        <a:lnTo>
                          <a:pt x="0" y="2518"/>
                        </a:lnTo>
                        <a:lnTo>
                          <a:pt x="0" y="2645"/>
                        </a:lnTo>
                        <a:lnTo>
                          <a:pt x="0" y="2742"/>
                        </a:lnTo>
                        <a:lnTo>
                          <a:pt x="0" y="2804"/>
                        </a:lnTo>
                        <a:lnTo>
                          <a:pt x="0" y="2827"/>
                        </a:lnTo>
                        <a:lnTo>
                          <a:pt x="1893" y="2827"/>
                        </a:lnTo>
                        <a:lnTo>
                          <a:pt x="2021" y="2827"/>
                        </a:lnTo>
                        <a:lnTo>
                          <a:pt x="3913" y="2827"/>
                        </a:lnTo>
                        <a:lnTo>
                          <a:pt x="3913" y="2804"/>
                        </a:lnTo>
                        <a:lnTo>
                          <a:pt x="3913" y="2742"/>
                        </a:lnTo>
                        <a:lnTo>
                          <a:pt x="3913" y="2645"/>
                        </a:lnTo>
                        <a:lnTo>
                          <a:pt x="3913" y="2518"/>
                        </a:lnTo>
                        <a:lnTo>
                          <a:pt x="3913" y="2367"/>
                        </a:lnTo>
                        <a:lnTo>
                          <a:pt x="3913" y="2200"/>
                        </a:lnTo>
                        <a:lnTo>
                          <a:pt x="3913" y="2019"/>
                        </a:lnTo>
                        <a:lnTo>
                          <a:pt x="3913" y="1831"/>
                        </a:lnTo>
                        <a:lnTo>
                          <a:pt x="3913" y="1643"/>
                        </a:lnTo>
                        <a:lnTo>
                          <a:pt x="3913" y="1459"/>
                        </a:lnTo>
                        <a:lnTo>
                          <a:pt x="3913" y="1287"/>
                        </a:lnTo>
                        <a:lnTo>
                          <a:pt x="3913" y="1129"/>
                        </a:lnTo>
                        <a:lnTo>
                          <a:pt x="3913" y="993"/>
                        </a:lnTo>
                        <a:lnTo>
                          <a:pt x="3913" y="885"/>
                        </a:lnTo>
                        <a:lnTo>
                          <a:pt x="3913" y="809"/>
                        </a:lnTo>
                        <a:lnTo>
                          <a:pt x="3913" y="772"/>
                        </a:lnTo>
                        <a:lnTo>
                          <a:pt x="3913" y="733"/>
                        </a:lnTo>
                        <a:lnTo>
                          <a:pt x="3911" y="684"/>
                        </a:lnTo>
                        <a:lnTo>
                          <a:pt x="3909" y="656"/>
                        </a:lnTo>
                        <a:lnTo>
                          <a:pt x="3905" y="625"/>
                        </a:lnTo>
                        <a:lnTo>
                          <a:pt x="3901" y="593"/>
                        </a:lnTo>
                        <a:lnTo>
                          <a:pt x="3895" y="559"/>
                        </a:lnTo>
                        <a:lnTo>
                          <a:pt x="3887" y="523"/>
                        </a:lnTo>
                        <a:lnTo>
                          <a:pt x="3877" y="487"/>
                        </a:lnTo>
                        <a:lnTo>
                          <a:pt x="3871" y="469"/>
                        </a:lnTo>
                        <a:lnTo>
                          <a:pt x="3865" y="450"/>
                        </a:lnTo>
                        <a:lnTo>
                          <a:pt x="3858" y="430"/>
                        </a:lnTo>
                        <a:lnTo>
                          <a:pt x="3851" y="411"/>
                        </a:lnTo>
                        <a:lnTo>
                          <a:pt x="3842" y="393"/>
                        </a:lnTo>
                        <a:lnTo>
                          <a:pt x="3834" y="373"/>
                        </a:lnTo>
                        <a:lnTo>
                          <a:pt x="3824" y="354"/>
                        </a:lnTo>
                        <a:lnTo>
                          <a:pt x="3814" y="335"/>
                        </a:lnTo>
                        <a:lnTo>
                          <a:pt x="3802" y="315"/>
                        </a:lnTo>
                        <a:lnTo>
                          <a:pt x="3790" y="296"/>
                        </a:lnTo>
                        <a:lnTo>
                          <a:pt x="3777" y="277"/>
                        </a:lnTo>
                        <a:lnTo>
                          <a:pt x="3764" y="258"/>
                        </a:lnTo>
                        <a:lnTo>
                          <a:pt x="3749" y="239"/>
                        </a:lnTo>
                        <a:lnTo>
                          <a:pt x="3734" y="221"/>
                        </a:lnTo>
                        <a:lnTo>
                          <a:pt x="3718" y="204"/>
                        </a:lnTo>
                        <a:lnTo>
                          <a:pt x="3701" y="188"/>
                        </a:lnTo>
                        <a:lnTo>
                          <a:pt x="3682" y="173"/>
                        </a:lnTo>
                        <a:lnTo>
                          <a:pt x="3664" y="159"/>
                        </a:lnTo>
                        <a:lnTo>
                          <a:pt x="3645" y="145"/>
                        </a:lnTo>
                        <a:lnTo>
                          <a:pt x="3626" y="132"/>
                        </a:lnTo>
                        <a:lnTo>
                          <a:pt x="3606" y="119"/>
                        </a:lnTo>
                        <a:lnTo>
                          <a:pt x="3587" y="108"/>
                        </a:lnTo>
                        <a:lnTo>
                          <a:pt x="3566" y="97"/>
                        </a:lnTo>
                        <a:lnTo>
                          <a:pt x="3546" y="87"/>
                        </a:lnTo>
                        <a:lnTo>
                          <a:pt x="3507" y="69"/>
                        </a:lnTo>
                        <a:lnTo>
                          <a:pt x="3468" y="53"/>
                        </a:lnTo>
                        <a:lnTo>
                          <a:pt x="3430" y="40"/>
                        </a:lnTo>
                        <a:lnTo>
                          <a:pt x="3396" y="29"/>
                        </a:lnTo>
                        <a:lnTo>
                          <a:pt x="3365" y="19"/>
                        </a:lnTo>
                        <a:lnTo>
                          <a:pt x="3337" y="12"/>
                        </a:lnTo>
                        <a:lnTo>
                          <a:pt x="3298" y="3"/>
                        </a:lnTo>
                        <a:lnTo>
                          <a:pt x="3284" y="0"/>
                        </a:lnTo>
                        <a:lnTo>
                          <a:pt x="2791" y="0"/>
                        </a:lnTo>
                        <a:lnTo>
                          <a:pt x="1957" y="12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8" name="Freeform 27"/>
                  <p:cNvSpPr>
                    <a:spLocks/>
                  </p:cNvSpPr>
                  <p:nvPr/>
                </p:nvSpPr>
                <p:spPr bwMode="auto">
                  <a:xfrm>
                    <a:off x="-199054" y="2595516"/>
                    <a:ext cx="8880" cy="4675"/>
                  </a:xfrm>
                  <a:custGeom>
                    <a:avLst/>
                    <a:gdLst/>
                    <a:ahLst/>
                    <a:cxnLst>
                      <a:cxn ang="0">
                        <a:pos x="85" y="148"/>
                      </a:cxn>
                      <a:cxn ang="0">
                        <a:pos x="127" y="74"/>
                      </a:cxn>
                      <a:cxn ang="0">
                        <a:pos x="169" y="0"/>
                      </a:cxn>
                      <a:cxn ang="0">
                        <a:pos x="85" y="0"/>
                      </a:cxn>
                      <a:cxn ang="0">
                        <a:pos x="0" y="0"/>
                      </a:cxn>
                      <a:cxn ang="0">
                        <a:pos x="42" y="74"/>
                      </a:cxn>
                      <a:cxn ang="0">
                        <a:pos x="85" y="148"/>
                      </a:cxn>
                    </a:cxnLst>
                    <a:rect l="0" t="0" r="r" b="b"/>
                    <a:pathLst>
                      <a:path w="169" h="148">
                        <a:moveTo>
                          <a:pt x="85" y="148"/>
                        </a:moveTo>
                        <a:lnTo>
                          <a:pt x="127" y="74"/>
                        </a:lnTo>
                        <a:lnTo>
                          <a:pt x="169" y="0"/>
                        </a:lnTo>
                        <a:lnTo>
                          <a:pt x="85" y="0"/>
                        </a:lnTo>
                        <a:lnTo>
                          <a:pt x="0" y="0"/>
                        </a:lnTo>
                        <a:lnTo>
                          <a:pt x="42" y="74"/>
                        </a:lnTo>
                        <a:lnTo>
                          <a:pt x="85" y="1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9" name="Freeform 28"/>
                  <p:cNvSpPr>
                    <a:spLocks/>
                  </p:cNvSpPr>
                  <p:nvPr/>
                </p:nvSpPr>
                <p:spPr bwMode="auto">
                  <a:xfrm>
                    <a:off x="-204974" y="2598789"/>
                    <a:ext cx="20719" cy="32258"/>
                  </a:xfrm>
                  <a:custGeom>
                    <a:avLst/>
                    <a:gdLst/>
                    <a:ahLst/>
                    <a:cxnLst>
                      <a:cxn ang="0">
                        <a:pos x="197" y="0"/>
                      </a:cxn>
                      <a:cxn ang="0">
                        <a:pos x="296" y="358"/>
                      </a:cxn>
                      <a:cxn ang="0">
                        <a:pos x="388" y="697"/>
                      </a:cxn>
                      <a:cxn ang="0">
                        <a:pos x="393" y="697"/>
                      </a:cxn>
                      <a:cxn ang="0">
                        <a:pos x="390" y="702"/>
                      </a:cxn>
                      <a:cxn ang="0">
                        <a:pos x="393" y="716"/>
                      </a:cxn>
                      <a:cxn ang="0">
                        <a:pos x="380" y="716"/>
                      </a:cxn>
                      <a:cxn ang="0">
                        <a:pos x="296" y="830"/>
                      </a:cxn>
                      <a:cxn ang="0">
                        <a:pos x="197" y="963"/>
                      </a:cxn>
                      <a:cxn ang="0">
                        <a:pos x="99" y="830"/>
                      </a:cxn>
                      <a:cxn ang="0">
                        <a:pos x="14" y="716"/>
                      </a:cxn>
                      <a:cxn ang="0">
                        <a:pos x="0" y="716"/>
                      </a:cxn>
                      <a:cxn ang="0">
                        <a:pos x="4" y="702"/>
                      </a:cxn>
                      <a:cxn ang="0">
                        <a:pos x="0" y="697"/>
                      </a:cxn>
                      <a:cxn ang="0">
                        <a:pos x="5" y="697"/>
                      </a:cxn>
                      <a:cxn ang="0">
                        <a:pos x="99" y="358"/>
                      </a:cxn>
                      <a:cxn ang="0">
                        <a:pos x="197" y="0"/>
                      </a:cxn>
                    </a:cxnLst>
                    <a:rect l="0" t="0" r="r" b="b"/>
                    <a:pathLst>
                      <a:path w="393" h="963">
                        <a:moveTo>
                          <a:pt x="197" y="0"/>
                        </a:moveTo>
                        <a:lnTo>
                          <a:pt x="296" y="358"/>
                        </a:lnTo>
                        <a:lnTo>
                          <a:pt x="388" y="697"/>
                        </a:lnTo>
                        <a:lnTo>
                          <a:pt x="393" y="697"/>
                        </a:lnTo>
                        <a:lnTo>
                          <a:pt x="390" y="702"/>
                        </a:lnTo>
                        <a:lnTo>
                          <a:pt x="393" y="716"/>
                        </a:lnTo>
                        <a:lnTo>
                          <a:pt x="380" y="716"/>
                        </a:lnTo>
                        <a:lnTo>
                          <a:pt x="296" y="830"/>
                        </a:lnTo>
                        <a:lnTo>
                          <a:pt x="197" y="963"/>
                        </a:lnTo>
                        <a:lnTo>
                          <a:pt x="99" y="830"/>
                        </a:lnTo>
                        <a:lnTo>
                          <a:pt x="14" y="716"/>
                        </a:lnTo>
                        <a:lnTo>
                          <a:pt x="0" y="716"/>
                        </a:lnTo>
                        <a:lnTo>
                          <a:pt x="4" y="702"/>
                        </a:lnTo>
                        <a:lnTo>
                          <a:pt x="0" y="697"/>
                        </a:lnTo>
                        <a:lnTo>
                          <a:pt x="5" y="697"/>
                        </a:lnTo>
                        <a:lnTo>
                          <a:pt x="99" y="358"/>
                        </a:lnTo>
                        <a:lnTo>
                          <a:pt x="19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226" name="组合 199"/>
                <p:cNvGrpSpPr/>
                <p:nvPr/>
              </p:nvGrpSpPr>
              <p:grpSpPr>
                <a:xfrm>
                  <a:off x="-103227" y="3441738"/>
                  <a:ext cx="206454" cy="175314"/>
                  <a:chOff x="-297471" y="2514638"/>
                  <a:chExt cx="206454" cy="175314"/>
                </a:xfrm>
                <a:grpFill/>
              </p:grpSpPr>
              <p:sp>
                <p:nvSpPr>
                  <p:cNvPr id="232" name="Freeform 25"/>
                  <p:cNvSpPr>
                    <a:spLocks/>
                  </p:cNvSpPr>
                  <p:nvPr/>
                </p:nvSpPr>
                <p:spPr bwMode="auto">
                  <a:xfrm>
                    <a:off x="-250853" y="2514638"/>
                    <a:ext cx="112477" cy="71528"/>
                  </a:xfrm>
                  <a:custGeom>
                    <a:avLst/>
                    <a:gdLst/>
                    <a:ahLst/>
                    <a:cxnLst>
                      <a:cxn ang="0">
                        <a:pos x="1175" y="2128"/>
                      </a:cxn>
                      <a:cxn ang="0">
                        <a:pos x="1331" y="2100"/>
                      </a:cxn>
                      <a:cxn ang="0">
                        <a:pos x="1479" y="2050"/>
                      </a:cxn>
                      <a:cxn ang="0">
                        <a:pos x="1617" y="1979"/>
                      </a:cxn>
                      <a:cxn ang="0">
                        <a:pos x="1742" y="1889"/>
                      </a:cxn>
                      <a:cxn ang="0">
                        <a:pos x="1853" y="1783"/>
                      </a:cxn>
                      <a:cxn ang="0">
                        <a:pos x="1948" y="1662"/>
                      </a:cxn>
                      <a:cxn ang="0">
                        <a:pos x="2026" y="1529"/>
                      </a:cxn>
                      <a:cxn ang="0">
                        <a:pos x="2083" y="1383"/>
                      </a:cxn>
                      <a:cxn ang="0">
                        <a:pos x="2119" y="1229"/>
                      </a:cxn>
                      <a:cxn ang="0">
                        <a:pos x="2131" y="1066"/>
                      </a:cxn>
                      <a:cxn ang="0">
                        <a:pos x="2119" y="905"/>
                      </a:cxn>
                      <a:cxn ang="0">
                        <a:pos x="2083" y="750"/>
                      </a:cxn>
                      <a:cxn ang="0">
                        <a:pos x="2026" y="605"/>
                      </a:cxn>
                      <a:cxn ang="0">
                        <a:pos x="1948" y="471"/>
                      </a:cxn>
                      <a:cxn ang="0">
                        <a:pos x="1853" y="350"/>
                      </a:cxn>
                      <a:cxn ang="0">
                        <a:pos x="1742" y="244"/>
                      </a:cxn>
                      <a:cxn ang="0">
                        <a:pos x="1617" y="154"/>
                      </a:cxn>
                      <a:cxn ang="0">
                        <a:pos x="1479" y="84"/>
                      </a:cxn>
                      <a:cxn ang="0">
                        <a:pos x="1331" y="33"/>
                      </a:cxn>
                      <a:cxn ang="0">
                        <a:pos x="1175" y="5"/>
                      </a:cxn>
                      <a:cxn ang="0">
                        <a:pos x="1011" y="1"/>
                      </a:cxn>
                      <a:cxn ang="0">
                        <a:pos x="851" y="21"/>
                      </a:cxn>
                      <a:cxn ang="0">
                        <a:pos x="700" y="65"/>
                      </a:cxn>
                      <a:cxn ang="0">
                        <a:pos x="558" y="129"/>
                      </a:cxn>
                      <a:cxn ang="0">
                        <a:pos x="428" y="212"/>
                      </a:cxn>
                      <a:cxn ang="0">
                        <a:pos x="312" y="313"/>
                      </a:cxn>
                      <a:cxn ang="0">
                        <a:pos x="212" y="429"/>
                      </a:cxn>
                      <a:cxn ang="0">
                        <a:pos x="129" y="558"/>
                      </a:cxn>
                      <a:cxn ang="0">
                        <a:pos x="65" y="701"/>
                      </a:cxn>
                      <a:cxn ang="0">
                        <a:pos x="22" y="852"/>
                      </a:cxn>
                      <a:cxn ang="0">
                        <a:pos x="2" y="1012"/>
                      </a:cxn>
                      <a:cxn ang="0">
                        <a:pos x="6" y="1175"/>
                      </a:cxn>
                      <a:cxn ang="0">
                        <a:pos x="34" y="1333"/>
                      </a:cxn>
                      <a:cxn ang="0">
                        <a:pos x="84" y="1481"/>
                      </a:cxn>
                      <a:cxn ang="0">
                        <a:pos x="155" y="1620"/>
                      </a:cxn>
                      <a:cxn ang="0">
                        <a:pos x="244" y="1745"/>
                      </a:cxn>
                      <a:cxn ang="0">
                        <a:pos x="350" y="1856"/>
                      </a:cxn>
                      <a:cxn ang="0">
                        <a:pos x="471" y="1951"/>
                      </a:cxn>
                      <a:cxn ang="0">
                        <a:pos x="604" y="2028"/>
                      </a:cxn>
                      <a:cxn ang="0">
                        <a:pos x="749" y="2085"/>
                      </a:cxn>
                      <a:cxn ang="0">
                        <a:pos x="903" y="2121"/>
                      </a:cxn>
                      <a:cxn ang="0">
                        <a:pos x="1066" y="2134"/>
                      </a:cxn>
                    </a:cxnLst>
                    <a:rect l="0" t="0" r="r" b="b"/>
                    <a:pathLst>
                      <a:path w="2131" h="2134">
                        <a:moveTo>
                          <a:pt x="1066" y="2134"/>
                        </a:moveTo>
                        <a:lnTo>
                          <a:pt x="1120" y="2133"/>
                        </a:lnTo>
                        <a:lnTo>
                          <a:pt x="1175" y="2128"/>
                        </a:lnTo>
                        <a:lnTo>
                          <a:pt x="1227" y="2121"/>
                        </a:lnTo>
                        <a:lnTo>
                          <a:pt x="1279" y="2111"/>
                        </a:lnTo>
                        <a:lnTo>
                          <a:pt x="1331" y="2100"/>
                        </a:lnTo>
                        <a:lnTo>
                          <a:pt x="1381" y="2085"/>
                        </a:lnTo>
                        <a:lnTo>
                          <a:pt x="1431" y="2069"/>
                        </a:lnTo>
                        <a:lnTo>
                          <a:pt x="1479" y="2050"/>
                        </a:lnTo>
                        <a:lnTo>
                          <a:pt x="1527" y="2028"/>
                        </a:lnTo>
                        <a:lnTo>
                          <a:pt x="1573" y="2004"/>
                        </a:lnTo>
                        <a:lnTo>
                          <a:pt x="1617" y="1979"/>
                        </a:lnTo>
                        <a:lnTo>
                          <a:pt x="1661" y="1951"/>
                        </a:lnTo>
                        <a:lnTo>
                          <a:pt x="1702" y="1922"/>
                        </a:lnTo>
                        <a:lnTo>
                          <a:pt x="1742" y="1889"/>
                        </a:lnTo>
                        <a:lnTo>
                          <a:pt x="1782" y="1856"/>
                        </a:lnTo>
                        <a:lnTo>
                          <a:pt x="1818" y="1821"/>
                        </a:lnTo>
                        <a:lnTo>
                          <a:pt x="1853" y="1783"/>
                        </a:lnTo>
                        <a:lnTo>
                          <a:pt x="1887" y="1745"/>
                        </a:lnTo>
                        <a:lnTo>
                          <a:pt x="1919" y="1704"/>
                        </a:lnTo>
                        <a:lnTo>
                          <a:pt x="1948" y="1662"/>
                        </a:lnTo>
                        <a:lnTo>
                          <a:pt x="1976" y="1620"/>
                        </a:lnTo>
                        <a:lnTo>
                          <a:pt x="2002" y="1574"/>
                        </a:lnTo>
                        <a:lnTo>
                          <a:pt x="2026" y="1529"/>
                        </a:lnTo>
                        <a:lnTo>
                          <a:pt x="2047" y="1481"/>
                        </a:lnTo>
                        <a:lnTo>
                          <a:pt x="2066" y="1433"/>
                        </a:lnTo>
                        <a:lnTo>
                          <a:pt x="2083" y="1383"/>
                        </a:lnTo>
                        <a:lnTo>
                          <a:pt x="2097" y="1333"/>
                        </a:lnTo>
                        <a:lnTo>
                          <a:pt x="2110" y="1281"/>
                        </a:lnTo>
                        <a:lnTo>
                          <a:pt x="2119" y="1229"/>
                        </a:lnTo>
                        <a:lnTo>
                          <a:pt x="2126" y="1175"/>
                        </a:lnTo>
                        <a:lnTo>
                          <a:pt x="2130" y="1122"/>
                        </a:lnTo>
                        <a:lnTo>
                          <a:pt x="2131" y="1066"/>
                        </a:lnTo>
                        <a:lnTo>
                          <a:pt x="2130" y="1012"/>
                        </a:lnTo>
                        <a:lnTo>
                          <a:pt x="2126" y="958"/>
                        </a:lnTo>
                        <a:lnTo>
                          <a:pt x="2119" y="905"/>
                        </a:lnTo>
                        <a:lnTo>
                          <a:pt x="2110" y="852"/>
                        </a:lnTo>
                        <a:lnTo>
                          <a:pt x="2097" y="801"/>
                        </a:lnTo>
                        <a:lnTo>
                          <a:pt x="2083" y="750"/>
                        </a:lnTo>
                        <a:lnTo>
                          <a:pt x="2066" y="701"/>
                        </a:lnTo>
                        <a:lnTo>
                          <a:pt x="2047" y="652"/>
                        </a:lnTo>
                        <a:lnTo>
                          <a:pt x="2026" y="605"/>
                        </a:lnTo>
                        <a:lnTo>
                          <a:pt x="2002" y="558"/>
                        </a:lnTo>
                        <a:lnTo>
                          <a:pt x="1976" y="514"/>
                        </a:lnTo>
                        <a:lnTo>
                          <a:pt x="1948" y="471"/>
                        </a:lnTo>
                        <a:lnTo>
                          <a:pt x="1919" y="429"/>
                        </a:lnTo>
                        <a:lnTo>
                          <a:pt x="1887" y="389"/>
                        </a:lnTo>
                        <a:lnTo>
                          <a:pt x="1853" y="350"/>
                        </a:lnTo>
                        <a:lnTo>
                          <a:pt x="1818" y="313"/>
                        </a:lnTo>
                        <a:lnTo>
                          <a:pt x="1782" y="278"/>
                        </a:lnTo>
                        <a:lnTo>
                          <a:pt x="1742" y="244"/>
                        </a:lnTo>
                        <a:lnTo>
                          <a:pt x="1702" y="212"/>
                        </a:lnTo>
                        <a:lnTo>
                          <a:pt x="1661" y="183"/>
                        </a:lnTo>
                        <a:lnTo>
                          <a:pt x="1617" y="154"/>
                        </a:lnTo>
                        <a:lnTo>
                          <a:pt x="1573" y="129"/>
                        </a:lnTo>
                        <a:lnTo>
                          <a:pt x="1527" y="105"/>
                        </a:lnTo>
                        <a:lnTo>
                          <a:pt x="1479" y="84"/>
                        </a:lnTo>
                        <a:lnTo>
                          <a:pt x="1431" y="65"/>
                        </a:lnTo>
                        <a:lnTo>
                          <a:pt x="1381" y="47"/>
                        </a:lnTo>
                        <a:lnTo>
                          <a:pt x="1331" y="33"/>
                        </a:lnTo>
                        <a:lnTo>
                          <a:pt x="1279" y="21"/>
                        </a:lnTo>
                        <a:lnTo>
                          <a:pt x="1227" y="12"/>
                        </a:lnTo>
                        <a:lnTo>
                          <a:pt x="1175" y="5"/>
                        </a:lnTo>
                        <a:lnTo>
                          <a:pt x="1120" y="1"/>
                        </a:lnTo>
                        <a:lnTo>
                          <a:pt x="1066" y="0"/>
                        </a:lnTo>
                        <a:lnTo>
                          <a:pt x="1011" y="1"/>
                        </a:lnTo>
                        <a:lnTo>
                          <a:pt x="957" y="5"/>
                        </a:lnTo>
                        <a:lnTo>
                          <a:pt x="903" y="12"/>
                        </a:lnTo>
                        <a:lnTo>
                          <a:pt x="851" y="21"/>
                        </a:lnTo>
                        <a:lnTo>
                          <a:pt x="799" y="33"/>
                        </a:lnTo>
                        <a:lnTo>
                          <a:pt x="749" y="47"/>
                        </a:lnTo>
                        <a:lnTo>
                          <a:pt x="700" y="65"/>
                        </a:lnTo>
                        <a:lnTo>
                          <a:pt x="651" y="84"/>
                        </a:lnTo>
                        <a:lnTo>
                          <a:pt x="604" y="105"/>
                        </a:lnTo>
                        <a:lnTo>
                          <a:pt x="558" y="129"/>
                        </a:lnTo>
                        <a:lnTo>
                          <a:pt x="514" y="154"/>
                        </a:lnTo>
                        <a:lnTo>
                          <a:pt x="471" y="183"/>
                        </a:lnTo>
                        <a:lnTo>
                          <a:pt x="428" y="212"/>
                        </a:lnTo>
                        <a:lnTo>
                          <a:pt x="388" y="244"/>
                        </a:lnTo>
                        <a:lnTo>
                          <a:pt x="350" y="278"/>
                        </a:lnTo>
                        <a:lnTo>
                          <a:pt x="312" y="313"/>
                        </a:lnTo>
                        <a:lnTo>
                          <a:pt x="277" y="350"/>
                        </a:lnTo>
                        <a:lnTo>
                          <a:pt x="244" y="389"/>
                        </a:lnTo>
                        <a:lnTo>
                          <a:pt x="212" y="429"/>
                        </a:lnTo>
                        <a:lnTo>
                          <a:pt x="182" y="471"/>
                        </a:lnTo>
                        <a:lnTo>
                          <a:pt x="155" y="514"/>
                        </a:lnTo>
                        <a:lnTo>
                          <a:pt x="129" y="558"/>
                        </a:lnTo>
                        <a:lnTo>
                          <a:pt x="106" y="605"/>
                        </a:lnTo>
                        <a:lnTo>
                          <a:pt x="84" y="652"/>
                        </a:lnTo>
                        <a:lnTo>
                          <a:pt x="65" y="701"/>
                        </a:lnTo>
                        <a:lnTo>
                          <a:pt x="48" y="750"/>
                        </a:lnTo>
                        <a:lnTo>
                          <a:pt x="34" y="801"/>
                        </a:lnTo>
                        <a:lnTo>
                          <a:pt x="22" y="852"/>
                        </a:lnTo>
                        <a:lnTo>
                          <a:pt x="12" y="905"/>
                        </a:lnTo>
                        <a:lnTo>
                          <a:pt x="6" y="958"/>
                        </a:lnTo>
                        <a:lnTo>
                          <a:pt x="2" y="1012"/>
                        </a:lnTo>
                        <a:lnTo>
                          <a:pt x="0" y="1066"/>
                        </a:lnTo>
                        <a:lnTo>
                          <a:pt x="2" y="1122"/>
                        </a:lnTo>
                        <a:lnTo>
                          <a:pt x="6" y="1175"/>
                        </a:lnTo>
                        <a:lnTo>
                          <a:pt x="12" y="1229"/>
                        </a:lnTo>
                        <a:lnTo>
                          <a:pt x="22" y="1281"/>
                        </a:lnTo>
                        <a:lnTo>
                          <a:pt x="34" y="1333"/>
                        </a:lnTo>
                        <a:lnTo>
                          <a:pt x="48" y="1383"/>
                        </a:lnTo>
                        <a:lnTo>
                          <a:pt x="65" y="1433"/>
                        </a:lnTo>
                        <a:lnTo>
                          <a:pt x="84" y="1481"/>
                        </a:lnTo>
                        <a:lnTo>
                          <a:pt x="106" y="1529"/>
                        </a:lnTo>
                        <a:lnTo>
                          <a:pt x="129" y="1574"/>
                        </a:lnTo>
                        <a:lnTo>
                          <a:pt x="155" y="1620"/>
                        </a:lnTo>
                        <a:lnTo>
                          <a:pt x="182" y="1662"/>
                        </a:lnTo>
                        <a:lnTo>
                          <a:pt x="212" y="1704"/>
                        </a:lnTo>
                        <a:lnTo>
                          <a:pt x="244" y="1745"/>
                        </a:lnTo>
                        <a:lnTo>
                          <a:pt x="277" y="1783"/>
                        </a:lnTo>
                        <a:lnTo>
                          <a:pt x="312" y="1821"/>
                        </a:lnTo>
                        <a:lnTo>
                          <a:pt x="350" y="1856"/>
                        </a:lnTo>
                        <a:lnTo>
                          <a:pt x="388" y="1889"/>
                        </a:lnTo>
                        <a:lnTo>
                          <a:pt x="428" y="1922"/>
                        </a:lnTo>
                        <a:lnTo>
                          <a:pt x="471" y="1951"/>
                        </a:lnTo>
                        <a:lnTo>
                          <a:pt x="514" y="1979"/>
                        </a:lnTo>
                        <a:lnTo>
                          <a:pt x="558" y="2004"/>
                        </a:lnTo>
                        <a:lnTo>
                          <a:pt x="604" y="2028"/>
                        </a:lnTo>
                        <a:lnTo>
                          <a:pt x="651" y="2050"/>
                        </a:lnTo>
                        <a:lnTo>
                          <a:pt x="700" y="2069"/>
                        </a:lnTo>
                        <a:lnTo>
                          <a:pt x="749" y="2085"/>
                        </a:lnTo>
                        <a:lnTo>
                          <a:pt x="799" y="2100"/>
                        </a:lnTo>
                        <a:lnTo>
                          <a:pt x="851" y="2111"/>
                        </a:lnTo>
                        <a:lnTo>
                          <a:pt x="903" y="2121"/>
                        </a:lnTo>
                        <a:lnTo>
                          <a:pt x="957" y="2128"/>
                        </a:lnTo>
                        <a:lnTo>
                          <a:pt x="1011" y="2133"/>
                        </a:lnTo>
                        <a:lnTo>
                          <a:pt x="1066" y="2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3" name="Freeform 26"/>
                  <p:cNvSpPr>
                    <a:spLocks/>
                  </p:cNvSpPr>
                  <p:nvPr/>
                </p:nvSpPr>
                <p:spPr bwMode="auto">
                  <a:xfrm>
                    <a:off x="-297471" y="2595516"/>
                    <a:ext cx="206454" cy="94436"/>
                  </a:xfrm>
                  <a:custGeom>
                    <a:avLst/>
                    <a:gdLst/>
                    <a:ahLst/>
                    <a:cxnLst>
                      <a:cxn ang="0">
                        <a:pos x="1123" y="0"/>
                      </a:cxn>
                      <a:cxn ang="0">
                        <a:pos x="615" y="3"/>
                      </a:cxn>
                      <a:cxn ang="0">
                        <a:pos x="549" y="19"/>
                      </a:cxn>
                      <a:cxn ang="0">
                        <a:pos x="483" y="40"/>
                      </a:cxn>
                      <a:cxn ang="0">
                        <a:pos x="408" y="69"/>
                      </a:cxn>
                      <a:cxn ang="0">
                        <a:pos x="347" y="97"/>
                      </a:cxn>
                      <a:cxn ang="0">
                        <a:pos x="308" y="119"/>
                      </a:cxn>
                      <a:cxn ang="0">
                        <a:pos x="268" y="145"/>
                      </a:cxn>
                      <a:cxn ang="0">
                        <a:pos x="231" y="173"/>
                      </a:cxn>
                      <a:cxn ang="0">
                        <a:pos x="196" y="204"/>
                      </a:cxn>
                      <a:cxn ang="0">
                        <a:pos x="164" y="239"/>
                      </a:cxn>
                      <a:cxn ang="0">
                        <a:pos x="136" y="277"/>
                      </a:cxn>
                      <a:cxn ang="0">
                        <a:pos x="111" y="315"/>
                      </a:cxn>
                      <a:cxn ang="0">
                        <a:pos x="90" y="354"/>
                      </a:cxn>
                      <a:cxn ang="0">
                        <a:pos x="72" y="393"/>
                      </a:cxn>
                      <a:cxn ang="0">
                        <a:pos x="56" y="430"/>
                      </a:cxn>
                      <a:cxn ang="0">
                        <a:pos x="42" y="469"/>
                      </a:cxn>
                      <a:cxn ang="0">
                        <a:pos x="26" y="523"/>
                      </a:cxn>
                      <a:cxn ang="0">
                        <a:pos x="12" y="593"/>
                      </a:cxn>
                      <a:cxn ang="0">
                        <a:pos x="5" y="656"/>
                      </a:cxn>
                      <a:cxn ang="0">
                        <a:pos x="0" y="733"/>
                      </a:cxn>
                      <a:cxn ang="0">
                        <a:pos x="0" y="809"/>
                      </a:cxn>
                      <a:cxn ang="0">
                        <a:pos x="0" y="993"/>
                      </a:cxn>
                      <a:cxn ang="0">
                        <a:pos x="0" y="1287"/>
                      </a:cxn>
                      <a:cxn ang="0">
                        <a:pos x="0" y="1643"/>
                      </a:cxn>
                      <a:cxn ang="0">
                        <a:pos x="0" y="2019"/>
                      </a:cxn>
                      <a:cxn ang="0">
                        <a:pos x="0" y="2367"/>
                      </a:cxn>
                      <a:cxn ang="0">
                        <a:pos x="0" y="2645"/>
                      </a:cxn>
                      <a:cxn ang="0">
                        <a:pos x="0" y="2804"/>
                      </a:cxn>
                      <a:cxn ang="0">
                        <a:pos x="1893" y="2827"/>
                      </a:cxn>
                      <a:cxn ang="0">
                        <a:pos x="3913" y="2827"/>
                      </a:cxn>
                      <a:cxn ang="0">
                        <a:pos x="3913" y="2742"/>
                      </a:cxn>
                      <a:cxn ang="0">
                        <a:pos x="3913" y="2518"/>
                      </a:cxn>
                      <a:cxn ang="0">
                        <a:pos x="3913" y="2200"/>
                      </a:cxn>
                      <a:cxn ang="0">
                        <a:pos x="3913" y="1831"/>
                      </a:cxn>
                      <a:cxn ang="0">
                        <a:pos x="3913" y="1459"/>
                      </a:cxn>
                      <a:cxn ang="0">
                        <a:pos x="3913" y="1129"/>
                      </a:cxn>
                      <a:cxn ang="0">
                        <a:pos x="3913" y="885"/>
                      </a:cxn>
                      <a:cxn ang="0">
                        <a:pos x="3913" y="772"/>
                      </a:cxn>
                      <a:cxn ang="0">
                        <a:pos x="3911" y="684"/>
                      </a:cxn>
                      <a:cxn ang="0">
                        <a:pos x="3905" y="625"/>
                      </a:cxn>
                      <a:cxn ang="0">
                        <a:pos x="3895" y="559"/>
                      </a:cxn>
                      <a:cxn ang="0">
                        <a:pos x="3877" y="487"/>
                      </a:cxn>
                      <a:cxn ang="0">
                        <a:pos x="3865" y="450"/>
                      </a:cxn>
                      <a:cxn ang="0">
                        <a:pos x="3851" y="411"/>
                      </a:cxn>
                      <a:cxn ang="0">
                        <a:pos x="3834" y="373"/>
                      </a:cxn>
                      <a:cxn ang="0">
                        <a:pos x="3814" y="335"/>
                      </a:cxn>
                      <a:cxn ang="0">
                        <a:pos x="3790" y="296"/>
                      </a:cxn>
                      <a:cxn ang="0">
                        <a:pos x="3764" y="258"/>
                      </a:cxn>
                      <a:cxn ang="0">
                        <a:pos x="3734" y="221"/>
                      </a:cxn>
                      <a:cxn ang="0">
                        <a:pos x="3701" y="188"/>
                      </a:cxn>
                      <a:cxn ang="0">
                        <a:pos x="3664" y="159"/>
                      </a:cxn>
                      <a:cxn ang="0">
                        <a:pos x="3626" y="132"/>
                      </a:cxn>
                      <a:cxn ang="0">
                        <a:pos x="3587" y="108"/>
                      </a:cxn>
                      <a:cxn ang="0">
                        <a:pos x="3546" y="87"/>
                      </a:cxn>
                      <a:cxn ang="0">
                        <a:pos x="3468" y="53"/>
                      </a:cxn>
                      <a:cxn ang="0">
                        <a:pos x="3396" y="29"/>
                      </a:cxn>
                      <a:cxn ang="0">
                        <a:pos x="3337" y="12"/>
                      </a:cxn>
                      <a:cxn ang="0">
                        <a:pos x="3284" y="0"/>
                      </a:cxn>
                      <a:cxn ang="0">
                        <a:pos x="1957" y="1290"/>
                      </a:cxn>
                    </a:cxnLst>
                    <a:rect l="0" t="0" r="r" b="b"/>
                    <a:pathLst>
                      <a:path w="3913" h="2827">
                        <a:moveTo>
                          <a:pt x="1957" y="1290"/>
                        </a:moveTo>
                        <a:lnTo>
                          <a:pt x="1123" y="0"/>
                        </a:lnTo>
                        <a:lnTo>
                          <a:pt x="630" y="0"/>
                        </a:lnTo>
                        <a:lnTo>
                          <a:pt x="615" y="3"/>
                        </a:lnTo>
                        <a:lnTo>
                          <a:pt x="576" y="12"/>
                        </a:lnTo>
                        <a:lnTo>
                          <a:pt x="549" y="19"/>
                        </a:lnTo>
                        <a:lnTo>
                          <a:pt x="517" y="29"/>
                        </a:lnTo>
                        <a:lnTo>
                          <a:pt x="483" y="40"/>
                        </a:lnTo>
                        <a:lnTo>
                          <a:pt x="446" y="53"/>
                        </a:lnTo>
                        <a:lnTo>
                          <a:pt x="408" y="69"/>
                        </a:lnTo>
                        <a:lnTo>
                          <a:pt x="367" y="87"/>
                        </a:lnTo>
                        <a:lnTo>
                          <a:pt x="347" y="97"/>
                        </a:lnTo>
                        <a:lnTo>
                          <a:pt x="328" y="108"/>
                        </a:lnTo>
                        <a:lnTo>
                          <a:pt x="308" y="119"/>
                        </a:lnTo>
                        <a:lnTo>
                          <a:pt x="287" y="132"/>
                        </a:lnTo>
                        <a:lnTo>
                          <a:pt x="268" y="145"/>
                        </a:lnTo>
                        <a:lnTo>
                          <a:pt x="249" y="159"/>
                        </a:lnTo>
                        <a:lnTo>
                          <a:pt x="231" y="173"/>
                        </a:lnTo>
                        <a:lnTo>
                          <a:pt x="213" y="188"/>
                        </a:lnTo>
                        <a:lnTo>
                          <a:pt x="196" y="204"/>
                        </a:lnTo>
                        <a:lnTo>
                          <a:pt x="180" y="221"/>
                        </a:lnTo>
                        <a:lnTo>
                          <a:pt x="164" y="239"/>
                        </a:lnTo>
                        <a:lnTo>
                          <a:pt x="149" y="258"/>
                        </a:lnTo>
                        <a:lnTo>
                          <a:pt x="136" y="277"/>
                        </a:lnTo>
                        <a:lnTo>
                          <a:pt x="123" y="296"/>
                        </a:lnTo>
                        <a:lnTo>
                          <a:pt x="111" y="315"/>
                        </a:lnTo>
                        <a:lnTo>
                          <a:pt x="100" y="335"/>
                        </a:lnTo>
                        <a:lnTo>
                          <a:pt x="90" y="354"/>
                        </a:lnTo>
                        <a:lnTo>
                          <a:pt x="81" y="373"/>
                        </a:lnTo>
                        <a:lnTo>
                          <a:pt x="72" y="393"/>
                        </a:lnTo>
                        <a:lnTo>
                          <a:pt x="64" y="411"/>
                        </a:lnTo>
                        <a:lnTo>
                          <a:pt x="56" y="430"/>
                        </a:lnTo>
                        <a:lnTo>
                          <a:pt x="48" y="450"/>
                        </a:lnTo>
                        <a:lnTo>
                          <a:pt x="42" y="469"/>
                        </a:lnTo>
                        <a:lnTo>
                          <a:pt x="36" y="487"/>
                        </a:lnTo>
                        <a:lnTo>
                          <a:pt x="26" y="523"/>
                        </a:lnTo>
                        <a:lnTo>
                          <a:pt x="19" y="559"/>
                        </a:lnTo>
                        <a:lnTo>
                          <a:pt x="12" y="593"/>
                        </a:lnTo>
                        <a:lnTo>
                          <a:pt x="8" y="625"/>
                        </a:lnTo>
                        <a:lnTo>
                          <a:pt x="5" y="656"/>
                        </a:lnTo>
                        <a:lnTo>
                          <a:pt x="2" y="684"/>
                        </a:lnTo>
                        <a:lnTo>
                          <a:pt x="0" y="733"/>
                        </a:lnTo>
                        <a:lnTo>
                          <a:pt x="0" y="772"/>
                        </a:lnTo>
                        <a:lnTo>
                          <a:pt x="0" y="809"/>
                        </a:lnTo>
                        <a:lnTo>
                          <a:pt x="0" y="885"/>
                        </a:lnTo>
                        <a:lnTo>
                          <a:pt x="0" y="993"/>
                        </a:lnTo>
                        <a:lnTo>
                          <a:pt x="0" y="1129"/>
                        </a:lnTo>
                        <a:lnTo>
                          <a:pt x="0" y="1287"/>
                        </a:lnTo>
                        <a:lnTo>
                          <a:pt x="0" y="1459"/>
                        </a:lnTo>
                        <a:lnTo>
                          <a:pt x="0" y="1643"/>
                        </a:lnTo>
                        <a:lnTo>
                          <a:pt x="0" y="1831"/>
                        </a:lnTo>
                        <a:lnTo>
                          <a:pt x="0" y="2019"/>
                        </a:lnTo>
                        <a:lnTo>
                          <a:pt x="0" y="2200"/>
                        </a:lnTo>
                        <a:lnTo>
                          <a:pt x="0" y="2367"/>
                        </a:lnTo>
                        <a:lnTo>
                          <a:pt x="0" y="2518"/>
                        </a:lnTo>
                        <a:lnTo>
                          <a:pt x="0" y="2645"/>
                        </a:lnTo>
                        <a:lnTo>
                          <a:pt x="0" y="2742"/>
                        </a:lnTo>
                        <a:lnTo>
                          <a:pt x="0" y="2804"/>
                        </a:lnTo>
                        <a:lnTo>
                          <a:pt x="0" y="2827"/>
                        </a:lnTo>
                        <a:lnTo>
                          <a:pt x="1893" y="2827"/>
                        </a:lnTo>
                        <a:lnTo>
                          <a:pt x="2021" y="2827"/>
                        </a:lnTo>
                        <a:lnTo>
                          <a:pt x="3913" y="2827"/>
                        </a:lnTo>
                        <a:lnTo>
                          <a:pt x="3913" y="2804"/>
                        </a:lnTo>
                        <a:lnTo>
                          <a:pt x="3913" y="2742"/>
                        </a:lnTo>
                        <a:lnTo>
                          <a:pt x="3913" y="2645"/>
                        </a:lnTo>
                        <a:lnTo>
                          <a:pt x="3913" y="2518"/>
                        </a:lnTo>
                        <a:lnTo>
                          <a:pt x="3913" y="2367"/>
                        </a:lnTo>
                        <a:lnTo>
                          <a:pt x="3913" y="2200"/>
                        </a:lnTo>
                        <a:lnTo>
                          <a:pt x="3913" y="2019"/>
                        </a:lnTo>
                        <a:lnTo>
                          <a:pt x="3913" y="1831"/>
                        </a:lnTo>
                        <a:lnTo>
                          <a:pt x="3913" y="1643"/>
                        </a:lnTo>
                        <a:lnTo>
                          <a:pt x="3913" y="1459"/>
                        </a:lnTo>
                        <a:lnTo>
                          <a:pt x="3913" y="1287"/>
                        </a:lnTo>
                        <a:lnTo>
                          <a:pt x="3913" y="1129"/>
                        </a:lnTo>
                        <a:lnTo>
                          <a:pt x="3913" y="993"/>
                        </a:lnTo>
                        <a:lnTo>
                          <a:pt x="3913" y="885"/>
                        </a:lnTo>
                        <a:lnTo>
                          <a:pt x="3913" y="809"/>
                        </a:lnTo>
                        <a:lnTo>
                          <a:pt x="3913" y="772"/>
                        </a:lnTo>
                        <a:lnTo>
                          <a:pt x="3913" y="733"/>
                        </a:lnTo>
                        <a:lnTo>
                          <a:pt x="3911" y="684"/>
                        </a:lnTo>
                        <a:lnTo>
                          <a:pt x="3909" y="656"/>
                        </a:lnTo>
                        <a:lnTo>
                          <a:pt x="3905" y="625"/>
                        </a:lnTo>
                        <a:lnTo>
                          <a:pt x="3901" y="593"/>
                        </a:lnTo>
                        <a:lnTo>
                          <a:pt x="3895" y="559"/>
                        </a:lnTo>
                        <a:lnTo>
                          <a:pt x="3887" y="523"/>
                        </a:lnTo>
                        <a:lnTo>
                          <a:pt x="3877" y="487"/>
                        </a:lnTo>
                        <a:lnTo>
                          <a:pt x="3871" y="469"/>
                        </a:lnTo>
                        <a:lnTo>
                          <a:pt x="3865" y="450"/>
                        </a:lnTo>
                        <a:lnTo>
                          <a:pt x="3858" y="430"/>
                        </a:lnTo>
                        <a:lnTo>
                          <a:pt x="3851" y="411"/>
                        </a:lnTo>
                        <a:lnTo>
                          <a:pt x="3842" y="393"/>
                        </a:lnTo>
                        <a:lnTo>
                          <a:pt x="3834" y="373"/>
                        </a:lnTo>
                        <a:lnTo>
                          <a:pt x="3824" y="354"/>
                        </a:lnTo>
                        <a:lnTo>
                          <a:pt x="3814" y="335"/>
                        </a:lnTo>
                        <a:lnTo>
                          <a:pt x="3802" y="315"/>
                        </a:lnTo>
                        <a:lnTo>
                          <a:pt x="3790" y="296"/>
                        </a:lnTo>
                        <a:lnTo>
                          <a:pt x="3777" y="277"/>
                        </a:lnTo>
                        <a:lnTo>
                          <a:pt x="3764" y="258"/>
                        </a:lnTo>
                        <a:lnTo>
                          <a:pt x="3749" y="239"/>
                        </a:lnTo>
                        <a:lnTo>
                          <a:pt x="3734" y="221"/>
                        </a:lnTo>
                        <a:lnTo>
                          <a:pt x="3718" y="204"/>
                        </a:lnTo>
                        <a:lnTo>
                          <a:pt x="3701" y="188"/>
                        </a:lnTo>
                        <a:lnTo>
                          <a:pt x="3682" y="173"/>
                        </a:lnTo>
                        <a:lnTo>
                          <a:pt x="3664" y="159"/>
                        </a:lnTo>
                        <a:lnTo>
                          <a:pt x="3645" y="145"/>
                        </a:lnTo>
                        <a:lnTo>
                          <a:pt x="3626" y="132"/>
                        </a:lnTo>
                        <a:lnTo>
                          <a:pt x="3606" y="119"/>
                        </a:lnTo>
                        <a:lnTo>
                          <a:pt x="3587" y="108"/>
                        </a:lnTo>
                        <a:lnTo>
                          <a:pt x="3566" y="97"/>
                        </a:lnTo>
                        <a:lnTo>
                          <a:pt x="3546" y="87"/>
                        </a:lnTo>
                        <a:lnTo>
                          <a:pt x="3507" y="69"/>
                        </a:lnTo>
                        <a:lnTo>
                          <a:pt x="3468" y="53"/>
                        </a:lnTo>
                        <a:lnTo>
                          <a:pt x="3430" y="40"/>
                        </a:lnTo>
                        <a:lnTo>
                          <a:pt x="3396" y="29"/>
                        </a:lnTo>
                        <a:lnTo>
                          <a:pt x="3365" y="19"/>
                        </a:lnTo>
                        <a:lnTo>
                          <a:pt x="3337" y="12"/>
                        </a:lnTo>
                        <a:lnTo>
                          <a:pt x="3298" y="3"/>
                        </a:lnTo>
                        <a:lnTo>
                          <a:pt x="3284" y="0"/>
                        </a:lnTo>
                        <a:lnTo>
                          <a:pt x="2791" y="0"/>
                        </a:lnTo>
                        <a:lnTo>
                          <a:pt x="1957" y="12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4" name="Freeform 27"/>
                  <p:cNvSpPr>
                    <a:spLocks/>
                  </p:cNvSpPr>
                  <p:nvPr/>
                </p:nvSpPr>
                <p:spPr bwMode="auto">
                  <a:xfrm>
                    <a:off x="-199054" y="2595516"/>
                    <a:ext cx="8880" cy="4675"/>
                  </a:xfrm>
                  <a:custGeom>
                    <a:avLst/>
                    <a:gdLst/>
                    <a:ahLst/>
                    <a:cxnLst>
                      <a:cxn ang="0">
                        <a:pos x="85" y="148"/>
                      </a:cxn>
                      <a:cxn ang="0">
                        <a:pos x="127" y="74"/>
                      </a:cxn>
                      <a:cxn ang="0">
                        <a:pos x="169" y="0"/>
                      </a:cxn>
                      <a:cxn ang="0">
                        <a:pos x="85" y="0"/>
                      </a:cxn>
                      <a:cxn ang="0">
                        <a:pos x="0" y="0"/>
                      </a:cxn>
                      <a:cxn ang="0">
                        <a:pos x="42" y="74"/>
                      </a:cxn>
                      <a:cxn ang="0">
                        <a:pos x="85" y="148"/>
                      </a:cxn>
                    </a:cxnLst>
                    <a:rect l="0" t="0" r="r" b="b"/>
                    <a:pathLst>
                      <a:path w="169" h="148">
                        <a:moveTo>
                          <a:pt x="85" y="148"/>
                        </a:moveTo>
                        <a:lnTo>
                          <a:pt x="127" y="74"/>
                        </a:lnTo>
                        <a:lnTo>
                          <a:pt x="169" y="0"/>
                        </a:lnTo>
                        <a:lnTo>
                          <a:pt x="85" y="0"/>
                        </a:lnTo>
                        <a:lnTo>
                          <a:pt x="0" y="0"/>
                        </a:lnTo>
                        <a:lnTo>
                          <a:pt x="42" y="74"/>
                        </a:lnTo>
                        <a:lnTo>
                          <a:pt x="85" y="1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5" name="Freeform 28"/>
                  <p:cNvSpPr>
                    <a:spLocks/>
                  </p:cNvSpPr>
                  <p:nvPr/>
                </p:nvSpPr>
                <p:spPr bwMode="auto">
                  <a:xfrm>
                    <a:off x="-204974" y="2598789"/>
                    <a:ext cx="20719" cy="32258"/>
                  </a:xfrm>
                  <a:custGeom>
                    <a:avLst/>
                    <a:gdLst/>
                    <a:ahLst/>
                    <a:cxnLst>
                      <a:cxn ang="0">
                        <a:pos x="197" y="0"/>
                      </a:cxn>
                      <a:cxn ang="0">
                        <a:pos x="296" y="358"/>
                      </a:cxn>
                      <a:cxn ang="0">
                        <a:pos x="388" y="697"/>
                      </a:cxn>
                      <a:cxn ang="0">
                        <a:pos x="393" y="697"/>
                      </a:cxn>
                      <a:cxn ang="0">
                        <a:pos x="390" y="702"/>
                      </a:cxn>
                      <a:cxn ang="0">
                        <a:pos x="393" y="716"/>
                      </a:cxn>
                      <a:cxn ang="0">
                        <a:pos x="380" y="716"/>
                      </a:cxn>
                      <a:cxn ang="0">
                        <a:pos x="296" y="830"/>
                      </a:cxn>
                      <a:cxn ang="0">
                        <a:pos x="197" y="963"/>
                      </a:cxn>
                      <a:cxn ang="0">
                        <a:pos x="99" y="830"/>
                      </a:cxn>
                      <a:cxn ang="0">
                        <a:pos x="14" y="716"/>
                      </a:cxn>
                      <a:cxn ang="0">
                        <a:pos x="0" y="716"/>
                      </a:cxn>
                      <a:cxn ang="0">
                        <a:pos x="4" y="702"/>
                      </a:cxn>
                      <a:cxn ang="0">
                        <a:pos x="0" y="697"/>
                      </a:cxn>
                      <a:cxn ang="0">
                        <a:pos x="5" y="697"/>
                      </a:cxn>
                      <a:cxn ang="0">
                        <a:pos x="99" y="358"/>
                      </a:cxn>
                      <a:cxn ang="0">
                        <a:pos x="197" y="0"/>
                      </a:cxn>
                    </a:cxnLst>
                    <a:rect l="0" t="0" r="r" b="b"/>
                    <a:pathLst>
                      <a:path w="393" h="963">
                        <a:moveTo>
                          <a:pt x="197" y="0"/>
                        </a:moveTo>
                        <a:lnTo>
                          <a:pt x="296" y="358"/>
                        </a:lnTo>
                        <a:lnTo>
                          <a:pt x="388" y="697"/>
                        </a:lnTo>
                        <a:lnTo>
                          <a:pt x="393" y="697"/>
                        </a:lnTo>
                        <a:lnTo>
                          <a:pt x="390" y="702"/>
                        </a:lnTo>
                        <a:lnTo>
                          <a:pt x="393" y="716"/>
                        </a:lnTo>
                        <a:lnTo>
                          <a:pt x="380" y="716"/>
                        </a:lnTo>
                        <a:lnTo>
                          <a:pt x="296" y="830"/>
                        </a:lnTo>
                        <a:lnTo>
                          <a:pt x="197" y="963"/>
                        </a:lnTo>
                        <a:lnTo>
                          <a:pt x="99" y="830"/>
                        </a:lnTo>
                        <a:lnTo>
                          <a:pt x="14" y="716"/>
                        </a:lnTo>
                        <a:lnTo>
                          <a:pt x="0" y="716"/>
                        </a:lnTo>
                        <a:lnTo>
                          <a:pt x="4" y="702"/>
                        </a:lnTo>
                        <a:lnTo>
                          <a:pt x="0" y="697"/>
                        </a:lnTo>
                        <a:lnTo>
                          <a:pt x="5" y="697"/>
                        </a:lnTo>
                        <a:lnTo>
                          <a:pt x="99" y="358"/>
                        </a:lnTo>
                        <a:lnTo>
                          <a:pt x="19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227" name="组合 204"/>
                <p:cNvGrpSpPr/>
                <p:nvPr/>
              </p:nvGrpSpPr>
              <p:grpSpPr>
                <a:xfrm>
                  <a:off x="361950" y="3441738"/>
                  <a:ext cx="206454" cy="175314"/>
                  <a:chOff x="-297471" y="2514638"/>
                  <a:chExt cx="206454" cy="175314"/>
                </a:xfrm>
                <a:grpFill/>
              </p:grpSpPr>
              <p:sp>
                <p:nvSpPr>
                  <p:cNvPr id="228" name="Freeform 25"/>
                  <p:cNvSpPr>
                    <a:spLocks/>
                  </p:cNvSpPr>
                  <p:nvPr/>
                </p:nvSpPr>
                <p:spPr bwMode="auto">
                  <a:xfrm>
                    <a:off x="-250853" y="2514638"/>
                    <a:ext cx="112477" cy="71528"/>
                  </a:xfrm>
                  <a:custGeom>
                    <a:avLst/>
                    <a:gdLst/>
                    <a:ahLst/>
                    <a:cxnLst>
                      <a:cxn ang="0">
                        <a:pos x="1175" y="2128"/>
                      </a:cxn>
                      <a:cxn ang="0">
                        <a:pos x="1331" y="2100"/>
                      </a:cxn>
                      <a:cxn ang="0">
                        <a:pos x="1479" y="2050"/>
                      </a:cxn>
                      <a:cxn ang="0">
                        <a:pos x="1617" y="1979"/>
                      </a:cxn>
                      <a:cxn ang="0">
                        <a:pos x="1742" y="1889"/>
                      </a:cxn>
                      <a:cxn ang="0">
                        <a:pos x="1853" y="1783"/>
                      </a:cxn>
                      <a:cxn ang="0">
                        <a:pos x="1948" y="1662"/>
                      </a:cxn>
                      <a:cxn ang="0">
                        <a:pos x="2026" y="1529"/>
                      </a:cxn>
                      <a:cxn ang="0">
                        <a:pos x="2083" y="1383"/>
                      </a:cxn>
                      <a:cxn ang="0">
                        <a:pos x="2119" y="1229"/>
                      </a:cxn>
                      <a:cxn ang="0">
                        <a:pos x="2131" y="1066"/>
                      </a:cxn>
                      <a:cxn ang="0">
                        <a:pos x="2119" y="905"/>
                      </a:cxn>
                      <a:cxn ang="0">
                        <a:pos x="2083" y="750"/>
                      </a:cxn>
                      <a:cxn ang="0">
                        <a:pos x="2026" y="605"/>
                      </a:cxn>
                      <a:cxn ang="0">
                        <a:pos x="1948" y="471"/>
                      </a:cxn>
                      <a:cxn ang="0">
                        <a:pos x="1853" y="350"/>
                      </a:cxn>
                      <a:cxn ang="0">
                        <a:pos x="1742" y="244"/>
                      </a:cxn>
                      <a:cxn ang="0">
                        <a:pos x="1617" y="154"/>
                      </a:cxn>
                      <a:cxn ang="0">
                        <a:pos x="1479" y="84"/>
                      </a:cxn>
                      <a:cxn ang="0">
                        <a:pos x="1331" y="33"/>
                      </a:cxn>
                      <a:cxn ang="0">
                        <a:pos x="1175" y="5"/>
                      </a:cxn>
                      <a:cxn ang="0">
                        <a:pos x="1011" y="1"/>
                      </a:cxn>
                      <a:cxn ang="0">
                        <a:pos x="851" y="21"/>
                      </a:cxn>
                      <a:cxn ang="0">
                        <a:pos x="700" y="65"/>
                      </a:cxn>
                      <a:cxn ang="0">
                        <a:pos x="558" y="129"/>
                      </a:cxn>
                      <a:cxn ang="0">
                        <a:pos x="428" y="212"/>
                      </a:cxn>
                      <a:cxn ang="0">
                        <a:pos x="312" y="313"/>
                      </a:cxn>
                      <a:cxn ang="0">
                        <a:pos x="212" y="429"/>
                      </a:cxn>
                      <a:cxn ang="0">
                        <a:pos x="129" y="558"/>
                      </a:cxn>
                      <a:cxn ang="0">
                        <a:pos x="65" y="701"/>
                      </a:cxn>
                      <a:cxn ang="0">
                        <a:pos x="22" y="852"/>
                      </a:cxn>
                      <a:cxn ang="0">
                        <a:pos x="2" y="1012"/>
                      </a:cxn>
                      <a:cxn ang="0">
                        <a:pos x="6" y="1175"/>
                      </a:cxn>
                      <a:cxn ang="0">
                        <a:pos x="34" y="1333"/>
                      </a:cxn>
                      <a:cxn ang="0">
                        <a:pos x="84" y="1481"/>
                      </a:cxn>
                      <a:cxn ang="0">
                        <a:pos x="155" y="1620"/>
                      </a:cxn>
                      <a:cxn ang="0">
                        <a:pos x="244" y="1745"/>
                      </a:cxn>
                      <a:cxn ang="0">
                        <a:pos x="350" y="1856"/>
                      </a:cxn>
                      <a:cxn ang="0">
                        <a:pos x="471" y="1951"/>
                      </a:cxn>
                      <a:cxn ang="0">
                        <a:pos x="604" y="2028"/>
                      </a:cxn>
                      <a:cxn ang="0">
                        <a:pos x="749" y="2085"/>
                      </a:cxn>
                      <a:cxn ang="0">
                        <a:pos x="903" y="2121"/>
                      </a:cxn>
                      <a:cxn ang="0">
                        <a:pos x="1066" y="2134"/>
                      </a:cxn>
                    </a:cxnLst>
                    <a:rect l="0" t="0" r="r" b="b"/>
                    <a:pathLst>
                      <a:path w="2131" h="2134">
                        <a:moveTo>
                          <a:pt x="1066" y="2134"/>
                        </a:moveTo>
                        <a:lnTo>
                          <a:pt x="1120" y="2133"/>
                        </a:lnTo>
                        <a:lnTo>
                          <a:pt x="1175" y="2128"/>
                        </a:lnTo>
                        <a:lnTo>
                          <a:pt x="1227" y="2121"/>
                        </a:lnTo>
                        <a:lnTo>
                          <a:pt x="1279" y="2111"/>
                        </a:lnTo>
                        <a:lnTo>
                          <a:pt x="1331" y="2100"/>
                        </a:lnTo>
                        <a:lnTo>
                          <a:pt x="1381" y="2085"/>
                        </a:lnTo>
                        <a:lnTo>
                          <a:pt x="1431" y="2069"/>
                        </a:lnTo>
                        <a:lnTo>
                          <a:pt x="1479" y="2050"/>
                        </a:lnTo>
                        <a:lnTo>
                          <a:pt x="1527" y="2028"/>
                        </a:lnTo>
                        <a:lnTo>
                          <a:pt x="1573" y="2004"/>
                        </a:lnTo>
                        <a:lnTo>
                          <a:pt x="1617" y="1979"/>
                        </a:lnTo>
                        <a:lnTo>
                          <a:pt x="1661" y="1951"/>
                        </a:lnTo>
                        <a:lnTo>
                          <a:pt x="1702" y="1922"/>
                        </a:lnTo>
                        <a:lnTo>
                          <a:pt x="1742" y="1889"/>
                        </a:lnTo>
                        <a:lnTo>
                          <a:pt x="1782" y="1856"/>
                        </a:lnTo>
                        <a:lnTo>
                          <a:pt x="1818" y="1821"/>
                        </a:lnTo>
                        <a:lnTo>
                          <a:pt x="1853" y="1783"/>
                        </a:lnTo>
                        <a:lnTo>
                          <a:pt x="1887" y="1745"/>
                        </a:lnTo>
                        <a:lnTo>
                          <a:pt x="1919" y="1704"/>
                        </a:lnTo>
                        <a:lnTo>
                          <a:pt x="1948" y="1662"/>
                        </a:lnTo>
                        <a:lnTo>
                          <a:pt x="1976" y="1620"/>
                        </a:lnTo>
                        <a:lnTo>
                          <a:pt x="2002" y="1574"/>
                        </a:lnTo>
                        <a:lnTo>
                          <a:pt x="2026" y="1529"/>
                        </a:lnTo>
                        <a:lnTo>
                          <a:pt x="2047" y="1481"/>
                        </a:lnTo>
                        <a:lnTo>
                          <a:pt x="2066" y="1433"/>
                        </a:lnTo>
                        <a:lnTo>
                          <a:pt x="2083" y="1383"/>
                        </a:lnTo>
                        <a:lnTo>
                          <a:pt x="2097" y="1333"/>
                        </a:lnTo>
                        <a:lnTo>
                          <a:pt x="2110" y="1281"/>
                        </a:lnTo>
                        <a:lnTo>
                          <a:pt x="2119" y="1229"/>
                        </a:lnTo>
                        <a:lnTo>
                          <a:pt x="2126" y="1175"/>
                        </a:lnTo>
                        <a:lnTo>
                          <a:pt x="2130" y="1122"/>
                        </a:lnTo>
                        <a:lnTo>
                          <a:pt x="2131" y="1066"/>
                        </a:lnTo>
                        <a:lnTo>
                          <a:pt x="2130" y="1012"/>
                        </a:lnTo>
                        <a:lnTo>
                          <a:pt x="2126" y="958"/>
                        </a:lnTo>
                        <a:lnTo>
                          <a:pt x="2119" y="905"/>
                        </a:lnTo>
                        <a:lnTo>
                          <a:pt x="2110" y="852"/>
                        </a:lnTo>
                        <a:lnTo>
                          <a:pt x="2097" y="801"/>
                        </a:lnTo>
                        <a:lnTo>
                          <a:pt x="2083" y="750"/>
                        </a:lnTo>
                        <a:lnTo>
                          <a:pt x="2066" y="701"/>
                        </a:lnTo>
                        <a:lnTo>
                          <a:pt x="2047" y="652"/>
                        </a:lnTo>
                        <a:lnTo>
                          <a:pt x="2026" y="605"/>
                        </a:lnTo>
                        <a:lnTo>
                          <a:pt x="2002" y="558"/>
                        </a:lnTo>
                        <a:lnTo>
                          <a:pt x="1976" y="514"/>
                        </a:lnTo>
                        <a:lnTo>
                          <a:pt x="1948" y="471"/>
                        </a:lnTo>
                        <a:lnTo>
                          <a:pt x="1919" y="429"/>
                        </a:lnTo>
                        <a:lnTo>
                          <a:pt x="1887" y="389"/>
                        </a:lnTo>
                        <a:lnTo>
                          <a:pt x="1853" y="350"/>
                        </a:lnTo>
                        <a:lnTo>
                          <a:pt x="1818" y="313"/>
                        </a:lnTo>
                        <a:lnTo>
                          <a:pt x="1782" y="278"/>
                        </a:lnTo>
                        <a:lnTo>
                          <a:pt x="1742" y="244"/>
                        </a:lnTo>
                        <a:lnTo>
                          <a:pt x="1702" y="212"/>
                        </a:lnTo>
                        <a:lnTo>
                          <a:pt x="1661" y="183"/>
                        </a:lnTo>
                        <a:lnTo>
                          <a:pt x="1617" y="154"/>
                        </a:lnTo>
                        <a:lnTo>
                          <a:pt x="1573" y="129"/>
                        </a:lnTo>
                        <a:lnTo>
                          <a:pt x="1527" y="105"/>
                        </a:lnTo>
                        <a:lnTo>
                          <a:pt x="1479" y="84"/>
                        </a:lnTo>
                        <a:lnTo>
                          <a:pt x="1431" y="65"/>
                        </a:lnTo>
                        <a:lnTo>
                          <a:pt x="1381" y="47"/>
                        </a:lnTo>
                        <a:lnTo>
                          <a:pt x="1331" y="33"/>
                        </a:lnTo>
                        <a:lnTo>
                          <a:pt x="1279" y="21"/>
                        </a:lnTo>
                        <a:lnTo>
                          <a:pt x="1227" y="12"/>
                        </a:lnTo>
                        <a:lnTo>
                          <a:pt x="1175" y="5"/>
                        </a:lnTo>
                        <a:lnTo>
                          <a:pt x="1120" y="1"/>
                        </a:lnTo>
                        <a:lnTo>
                          <a:pt x="1066" y="0"/>
                        </a:lnTo>
                        <a:lnTo>
                          <a:pt x="1011" y="1"/>
                        </a:lnTo>
                        <a:lnTo>
                          <a:pt x="957" y="5"/>
                        </a:lnTo>
                        <a:lnTo>
                          <a:pt x="903" y="12"/>
                        </a:lnTo>
                        <a:lnTo>
                          <a:pt x="851" y="21"/>
                        </a:lnTo>
                        <a:lnTo>
                          <a:pt x="799" y="33"/>
                        </a:lnTo>
                        <a:lnTo>
                          <a:pt x="749" y="47"/>
                        </a:lnTo>
                        <a:lnTo>
                          <a:pt x="700" y="65"/>
                        </a:lnTo>
                        <a:lnTo>
                          <a:pt x="651" y="84"/>
                        </a:lnTo>
                        <a:lnTo>
                          <a:pt x="604" y="105"/>
                        </a:lnTo>
                        <a:lnTo>
                          <a:pt x="558" y="129"/>
                        </a:lnTo>
                        <a:lnTo>
                          <a:pt x="514" y="154"/>
                        </a:lnTo>
                        <a:lnTo>
                          <a:pt x="471" y="183"/>
                        </a:lnTo>
                        <a:lnTo>
                          <a:pt x="428" y="212"/>
                        </a:lnTo>
                        <a:lnTo>
                          <a:pt x="388" y="244"/>
                        </a:lnTo>
                        <a:lnTo>
                          <a:pt x="350" y="278"/>
                        </a:lnTo>
                        <a:lnTo>
                          <a:pt x="312" y="313"/>
                        </a:lnTo>
                        <a:lnTo>
                          <a:pt x="277" y="350"/>
                        </a:lnTo>
                        <a:lnTo>
                          <a:pt x="244" y="389"/>
                        </a:lnTo>
                        <a:lnTo>
                          <a:pt x="212" y="429"/>
                        </a:lnTo>
                        <a:lnTo>
                          <a:pt x="182" y="471"/>
                        </a:lnTo>
                        <a:lnTo>
                          <a:pt x="155" y="514"/>
                        </a:lnTo>
                        <a:lnTo>
                          <a:pt x="129" y="558"/>
                        </a:lnTo>
                        <a:lnTo>
                          <a:pt x="106" y="605"/>
                        </a:lnTo>
                        <a:lnTo>
                          <a:pt x="84" y="652"/>
                        </a:lnTo>
                        <a:lnTo>
                          <a:pt x="65" y="701"/>
                        </a:lnTo>
                        <a:lnTo>
                          <a:pt x="48" y="750"/>
                        </a:lnTo>
                        <a:lnTo>
                          <a:pt x="34" y="801"/>
                        </a:lnTo>
                        <a:lnTo>
                          <a:pt x="22" y="852"/>
                        </a:lnTo>
                        <a:lnTo>
                          <a:pt x="12" y="905"/>
                        </a:lnTo>
                        <a:lnTo>
                          <a:pt x="6" y="958"/>
                        </a:lnTo>
                        <a:lnTo>
                          <a:pt x="2" y="1012"/>
                        </a:lnTo>
                        <a:lnTo>
                          <a:pt x="0" y="1066"/>
                        </a:lnTo>
                        <a:lnTo>
                          <a:pt x="2" y="1122"/>
                        </a:lnTo>
                        <a:lnTo>
                          <a:pt x="6" y="1175"/>
                        </a:lnTo>
                        <a:lnTo>
                          <a:pt x="12" y="1229"/>
                        </a:lnTo>
                        <a:lnTo>
                          <a:pt x="22" y="1281"/>
                        </a:lnTo>
                        <a:lnTo>
                          <a:pt x="34" y="1333"/>
                        </a:lnTo>
                        <a:lnTo>
                          <a:pt x="48" y="1383"/>
                        </a:lnTo>
                        <a:lnTo>
                          <a:pt x="65" y="1433"/>
                        </a:lnTo>
                        <a:lnTo>
                          <a:pt x="84" y="1481"/>
                        </a:lnTo>
                        <a:lnTo>
                          <a:pt x="106" y="1529"/>
                        </a:lnTo>
                        <a:lnTo>
                          <a:pt x="129" y="1574"/>
                        </a:lnTo>
                        <a:lnTo>
                          <a:pt x="155" y="1620"/>
                        </a:lnTo>
                        <a:lnTo>
                          <a:pt x="182" y="1662"/>
                        </a:lnTo>
                        <a:lnTo>
                          <a:pt x="212" y="1704"/>
                        </a:lnTo>
                        <a:lnTo>
                          <a:pt x="244" y="1745"/>
                        </a:lnTo>
                        <a:lnTo>
                          <a:pt x="277" y="1783"/>
                        </a:lnTo>
                        <a:lnTo>
                          <a:pt x="312" y="1821"/>
                        </a:lnTo>
                        <a:lnTo>
                          <a:pt x="350" y="1856"/>
                        </a:lnTo>
                        <a:lnTo>
                          <a:pt x="388" y="1889"/>
                        </a:lnTo>
                        <a:lnTo>
                          <a:pt x="428" y="1922"/>
                        </a:lnTo>
                        <a:lnTo>
                          <a:pt x="471" y="1951"/>
                        </a:lnTo>
                        <a:lnTo>
                          <a:pt x="514" y="1979"/>
                        </a:lnTo>
                        <a:lnTo>
                          <a:pt x="558" y="2004"/>
                        </a:lnTo>
                        <a:lnTo>
                          <a:pt x="604" y="2028"/>
                        </a:lnTo>
                        <a:lnTo>
                          <a:pt x="651" y="2050"/>
                        </a:lnTo>
                        <a:lnTo>
                          <a:pt x="700" y="2069"/>
                        </a:lnTo>
                        <a:lnTo>
                          <a:pt x="749" y="2085"/>
                        </a:lnTo>
                        <a:lnTo>
                          <a:pt x="799" y="2100"/>
                        </a:lnTo>
                        <a:lnTo>
                          <a:pt x="851" y="2111"/>
                        </a:lnTo>
                        <a:lnTo>
                          <a:pt x="903" y="2121"/>
                        </a:lnTo>
                        <a:lnTo>
                          <a:pt x="957" y="2128"/>
                        </a:lnTo>
                        <a:lnTo>
                          <a:pt x="1011" y="2133"/>
                        </a:lnTo>
                        <a:lnTo>
                          <a:pt x="1066" y="2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29" name="Freeform 26"/>
                  <p:cNvSpPr>
                    <a:spLocks/>
                  </p:cNvSpPr>
                  <p:nvPr/>
                </p:nvSpPr>
                <p:spPr bwMode="auto">
                  <a:xfrm>
                    <a:off x="-297471" y="2595516"/>
                    <a:ext cx="206454" cy="94436"/>
                  </a:xfrm>
                  <a:custGeom>
                    <a:avLst/>
                    <a:gdLst/>
                    <a:ahLst/>
                    <a:cxnLst>
                      <a:cxn ang="0">
                        <a:pos x="1123" y="0"/>
                      </a:cxn>
                      <a:cxn ang="0">
                        <a:pos x="615" y="3"/>
                      </a:cxn>
                      <a:cxn ang="0">
                        <a:pos x="549" y="19"/>
                      </a:cxn>
                      <a:cxn ang="0">
                        <a:pos x="483" y="40"/>
                      </a:cxn>
                      <a:cxn ang="0">
                        <a:pos x="408" y="69"/>
                      </a:cxn>
                      <a:cxn ang="0">
                        <a:pos x="347" y="97"/>
                      </a:cxn>
                      <a:cxn ang="0">
                        <a:pos x="308" y="119"/>
                      </a:cxn>
                      <a:cxn ang="0">
                        <a:pos x="268" y="145"/>
                      </a:cxn>
                      <a:cxn ang="0">
                        <a:pos x="231" y="173"/>
                      </a:cxn>
                      <a:cxn ang="0">
                        <a:pos x="196" y="204"/>
                      </a:cxn>
                      <a:cxn ang="0">
                        <a:pos x="164" y="239"/>
                      </a:cxn>
                      <a:cxn ang="0">
                        <a:pos x="136" y="277"/>
                      </a:cxn>
                      <a:cxn ang="0">
                        <a:pos x="111" y="315"/>
                      </a:cxn>
                      <a:cxn ang="0">
                        <a:pos x="90" y="354"/>
                      </a:cxn>
                      <a:cxn ang="0">
                        <a:pos x="72" y="393"/>
                      </a:cxn>
                      <a:cxn ang="0">
                        <a:pos x="56" y="430"/>
                      </a:cxn>
                      <a:cxn ang="0">
                        <a:pos x="42" y="469"/>
                      </a:cxn>
                      <a:cxn ang="0">
                        <a:pos x="26" y="523"/>
                      </a:cxn>
                      <a:cxn ang="0">
                        <a:pos x="12" y="593"/>
                      </a:cxn>
                      <a:cxn ang="0">
                        <a:pos x="5" y="656"/>
                      </a:cxn>
                      <a:cxn ang="0">
                        <a:pos x="0" y="733"/>
                      </a:cxn>
                      <a:cxn ang="0">
                        <a:pos x="0" y="809"/>
                      </a:cxn>
                      <a:cxn ang="0">
                        <a:pos x="0" y="993"/>
                      </a:cxn>
                      <a:cxn ang="0">
                        <a:pos x="0" y="1287"/>
                      </a:cxn>
                      <a:cxn ang="0">
                        <a:pos x="0" y="1643"/>
                      </a:cxn>
                      <a:cxn ang="0">
                        <a:pos x="0" y="2019"/>
                      </a:cxn>
                      <a:cxn ang="0">
                        <a:pos x="0" y="2367"/>
                      </a:cxn>
                      <a:cxn ang="0">
                        <a:pos x="0" y="2645"/>
                      </a:cxn>
                      <a:cxn ang="0">
                        <a:pos x="0" y="2804"/>
                      </a:cxn>
                      <a:cxn ang="0">
                        <a:pos x="1893" y="2827"/>
                      </a:cxn>
                      <a:cxn ang="0">
                        <a:pos x="3913" y="2827"/>
                      </a:cxn>
                      <a:cxn ang="0">
                        <a:pos x="3913" y="2742"/>
                      </a:cxn>
                      <a:cxn ang="0">
                        <a:pos x="3913" y="2518"/>
                      </a:cxn>
                      <a:cxn ang="0">
                        <a:pos x="3913" y="2200"/>
                      </a:cxn>
                      <a:cxn ang="0">
                        <a:pos x="3913" y="1831"/>
                      </a:cxn>
                      <a:cxn ang="0">
                        <a:pos x="3913" y="1459"/>
                      </a:cxn>
                      <a:cxn ang="0">
                        <a:pos x="3913" y="1129"/>
                      </a:cxn>
                      <a:cxn ang="0">
                        <a:pos x="3913" y="885"/>
                      </a:cxn>
                      <a:cxn ang="0">
                        <a:pos x="3913" y="772"/>
                      </a:cxn>
                      <a:cxn ang="0">
                        <a:pos x="3911" y="684"/>
                      </a:cxn>
                      <a:cxn ang="0">
                        <a:pos x="3905" y="625"/>
                      </a:cxn>
                      <a:cxn ang="0">
                        <a:pos x="3895" y="559"/>
                      </a:cxn>
                      <a:cxn ang="0">
                        <a:pos x="3877" y="487"/>
                      </a:cxn>
                      <a:cxn ang="0">
                        <a:pos x="3865" y="450"/>
                      </a:cxn>
                      <a:cxn ang="0">
                        <a:pos x="3851" y="411"/>
                      </a:cxn>
                      <a:cxn ang="0">
                        <a:pos x="3834" y="373"/>
                      </a:cxn>
                      <a:cxn ang="0">
                        <a:pos x="3814" y="335"/>
                      </a:cxn>
                      <a:cxn ang="0">
                        <a:pos x="3790" y="296"/>
                      </a:cxn>
                      <a:cxn ang="0">
                        <a:pos x="3764" y="258"/>
                      </a:cxn>
                      <a:cxn ang="0">
                        <a:pos x="3734" y="221"/>
                      </a:cxn>
                      <a:cxn ang="0">
                        <a:pos x="3701" y="188"/>
                      </a:cxn>
                      <a:cxn ang="0">
                        <a:pos x="3664" y="159"/>
                      </a:cxn>
                      <a:cxn ang="0">
                        <a:pos x="3626" y="132"/>
                      </a:cxn>
                      <a:cxn ang="0">
                        <a:pos x="3587" y="108"/>
                      </a:cxn>
                      <a:cxn ang="0">
                        <a:pos x="3546" y="87"/>
                      </a:cxn>
                      <a:cxn ang="0">
                        <a:pos x="3468" y="53"/>
                      </a:cxn>
                      <a:cxn ang="0">
                        <a:pos x="3396" y="29"/>
                      </a:cxn>
                      <a:cxn ang="0">
                        <a:pos x="3337" y="12"/>
                      </a:cxn>
                      <a:cxn ang="0">
                        <a:pos x="3284" y="0"/>
                      </a:cxn>
                      <a:cxn ang="0">
                        <a:pos x="1957" y="1290"/>
                      </a:cxn>
                    </a:cxnLst>
                    <a:rect l="0" t="0" r="r" b="b"/>
                    <a:pathLst>
                      <a:path w="3913" h="2827">
                        <a:moveTo>
                          <a:pt x="1957" y="1290"/>
                        </a:moveTo>
                        <a:lnTo>
                          <a:pt x="1123" y="0"/>
                        </a:lnTo>
                        <a:lnTo>
                          <a:pt x="630" y="0"/>
                        </a:lnTo>
                        <a:lnTo>
                          <a:pt x="615" y="3"/>
                        </a:lnTo>
                        <a:lnTo>
                          <a:pt x="576" y="12"/>
                        </a:lnTo>
                        <a:lnTo>
                          <a:pt x="549" y="19"/>
                        </a:lnTo>
                        <a:lnTo>
                          <a:pt x="517" y="29"/>
                        </a:lnTo>
                        <a:lnTo>
                          <a:pt x="483" y="40"/>
                        </a:lnTo>
                        <a:lnTo>
                          <a:pt x="446" y="53"/>
                        </a:lnTo>
                        <a:lnTo>
                          <a:pt x="408" y="69"/>
                        </a:lnTo>
                        <a:lnTo>
                          <a:pt x="367" y="87"/>
                        </a:lnTo>
                        <a:lnTo>
                          <a:pt x="347" y="97"/>
                        </a:lnTo>
                        <a:lnTo>
                          <a:pt x="328" y="108"/>
                        </a:lnTo>
                        <a:lnTo>
                          <a:pt x="308" y="119"/>
                        </a:lnTo>
                        <a:lnTo>
                          <a:pt x="287" y="132"/>
                        </a:lnTo>
                        <a:lnTo>
                          <a:pt x="268" y="145"/>
                        </a:lnTo>
                        <a:lnTo>
                          <a:pt x="249" y="159"/>
                        </a:lnTo>
                        <a:lnTo>
                          <a:pt x="231" y="173"/>
                        </a:lnTo>
                        <a:lnTo>
                          <a:pt x="213" y="188"/>
                        </a:lnTo>
                        <a:lnTo>
                          <a:pt x="196" y="204"/>
                        </a:lnTo>
                        <a:lnTo>
                          <a:pt x="180" y="221"/>
                        </a:lnTo>
                        <a:lnTo>
                          <a:pt x="164" y="239"/>
                        </a:lnTo>
                        <a:lnTo>
                          <a:pt x="149" y="258"/>
                        </a:lnTo>
                        <a:lnTo>
                          <a:pt x="136" y="277"/>
                        </a:lnTo>
                        <a:lnTo>
                          <a:pt x="123" y="296"/>
                        </a:lnTo>
                        <a:lnTo>
                          <a:pt x="111" y="315"/>
                        </a:lnTo>
                        <a:lnTo>
                          <a:pt x="100" y="335"/>
                        </a:lnTo>
                        <a:lnTo>
                          <a:pt x="90" y="354"/>
                        </a:lnTo>
                        <a:lnTo>
                          <a:pt x="81" y="373"/>
                        </a:lnTo>
                        <a:lnTo>
                          <a:pt x="72" y="393"/>
                        </a:lnTo>
                        <a:lnTo>
                          <a:pt x="64" y="411"/>
                        </a:lnTo>
                        <a:lnTo>
                          <a:pt x="56" y="430"/>
                        </a:lnTo>
                        <a:lnTo>
                          <a:pt x="48" y="450"/>
                        </a:lnTo>
                        <a:lnTo>
                          <a:pt x="42" y="469"/>
                        </a:lnTo>
                        <a:lnTo>
                          <a:pt x="36" y="487"/>
                        </a:lnTo>
                        <a:lnTo>
                          <a:pt x="26" y="523"/>
                        </a:lnTo>
                        <a:lnTo>
                          <a:pt x="19" y="559"/>
                        </a:lnTo>
                        <a:lnTo>
                          <a:pt x="12" y="593"/>
                        </a:lnTo>
                        <a:lnTo>
                          <a:pt x="8" y="625"/>
                        </a:lnTo>
                        <a:lnTo>
                          <a:pt x="5" y="656"/>
                        </a:lnTo>
                        <a:lnTo>
                          <a:pt x="2" y="684"/>
                        </a:lnTo>
                        <a:lnTo>
                          <a:pt x="0" y="733"/>
                        </a:lnTo>
                        <a:lnTo>
                          <a:pt x="0" y="772"/>
                        </a:lnTo>
                        <a:lnTo>
                          <a:pt x="0" y="809"/>
                        </a:lnTo>
                        <a:lnTo>
                          <a:pt x="0" y="885"/>
                        </a:lnTo>
                        <a:lnTo>
                          <a:pt x="0" y="993"/>
                        </a:lnTo>
                        <a:lnTo>
                          <a:pt x="0" y="1129"/>
                        </a:lnTo>
                        <a:lnTo>
                          <a:pt x="0" y="1287"/>
                        </a:lnTo>
                        <a:lnTo>
                          <a:pt x="0" y="1459"/>
                        </a:lnTo>
                        <a:lnTo>
                          <a:pt x="0" y="1643"/>
                        </a:lnTo>
                        <a:lnTo>
                          <a:pt x="0" y="1831"/>
                        </a:lnTo>
                        <a:lnTo>
                          <a:pt x="0" y="2019"/>
                        </a:lnTo>
                        <a:lnTo>
                          <a:pt x="0" y="2200"/>
                        </a:lnTo>
                        <a:lnTo>
                          <a:pt x="0" y="2367"/>
                        </a:lnTo>
                        <a:lnTo>
                          <a:pt x="0" y="2518"/>
                        </a:lnTo>
                        <a:lnTo>
                          <a:pt x="0" y="2645"/>
                        </a:lnTo>
                        <a:lnTo>
                          <a:pt x="0" y="2742"/>
                        </a:lnTo>
                        <a:lnTo>
                          <a:pt x="0" y="2804"/>
                        </a:lnTo>
                        <a:lnTo>
                          <a:pt x="0" y="2827"/>
                        </a:lnTo>
                        <a:lnTo>
                          <a:pt x="1893" y="2827"/>
                        </a:lnTo>
                        <a:lnTo>
                          <a:pt x="2021" y="2827"/>
                        </a:lnTo>
                        <a:lnTo>
                          <a:pt x="3913" y="2827"/>
                        </a:lnTo>
                        <a:lnTo>
                          <a:pt x="3913" y="2804"/>
                        </a:lnTo>
                        <a:lnTo>
                          <a:pt x="3913" y="2742"/>
                        </a:lnTo>
                        <a:lnTo>
                          <a:pt x="3913" y="2645"/>
                        </a:lnTo>
                        <a:lnTo>
                          <a:pt x="3913" y="2518"/>
                        </a:lnTo>
                        <a:lnTo>
                          <a:pt x="3913" y="2367"/>
                        </a:lnTo>
                        <a:lnTo>
                          <a:pt x="3913" y="2200"/>
                        </a:lnTo>
                        <a:lnTo>
                          <a:pt x="3913" y="2019"/>
                        </a:lnTo>
                        <a:lnTo>
                          <a:pt x="3913" y="1831"/>
                        </a:lnTo>
                        <a:lnTo>
                          <a:pt x="3913" y="1643"/>
                        </a:lnTo>
                        <a:lnTo>
                          <a:pt x="3913" y="1459"/>
                        </a:lnTo>
                        <a:lnTo>
                          <a:pt x="3913" y="1287"/>
                        </a:lnTo>
                        <a:lnTo>
                          <a:pt x="3913" y="1129"/>
                        </a:lnTo>
                        <a:lnTo>
                          <a:pt x="3913" y="993"/>
                        </a:lnTo>
                        <a:lnTo>
                          <a:pt x="3913" y="885"/>
                        </a:lnTo>
                        <a:lnTo>
                          <a:pt x="3913" y="809"/>
                        </a:lnTo>
                        <a:lnTo>
                          <a:pt x="3913" y="772"/>
                        </a:lnTo>
                        <a:lnTo>
                          <a:pt x="3913" y="733"/>
                        </a:lnTo>
                        <a:lnTo>
                          <a:pt x="3911" y="684"/>
                        </a:lnTo>
                        <a:lnTo>
                          <a:pt x="3909" y="656"/>
                        </a:lnTo>
                        <a:lnTo>
                          <a:pt x="3905" y="625"/>
                        </a:lnTo>
                        <a:lnTo>
                          <a:pt x="3901" y="593"/>
                        </a:lnTo>
                        <a:lnTo>
                          <a:pt x="3895" y="559"/>
                        </a:lnTo>
                        <a:lnTo>
                          <a:pt x="3887" y="523"/>
                        </a:lnTo>
                        <a:lnTo>
                          <a:pt x="3877" y="487"/>
                        </a:lnTo>
                        <a:lnTo>
                          <a:pt x="3871" y="469"/>
                        </a:lnTo>
                        <a:lnTo>
                          <a:pt x="3865" y="450"/>
                        </a:lnTo>
                        <a:lnTo>
                          <a:pt x="3858" y="430"/>
                        </a:lnTo>
                        <a:lnTo>
                          <a:pt x="3851" y="411"/>
                        </a:lnTo>
                        <a:lnTo>
                          <a:pt x="3842" y="393"/>
                        </a:lnTo>
                        <a:lnTo>
                          <a:pt x="3834" y="373"/>
                        </a:lnTo>
                        <a:lnTo>
                          <a:pt x="3824" y="354"/>
                        </a:lnTo>
                        <a:lnTo>
                          <a:pt x="3814" y="335"/>
                        </a:lnTo>
                        <a:lnTo>
                          <a:pt x="3802" y="315"/>
                        </a:lnTo>
                        <a:lnTo>
                          <a:pt x="3790" y="296"/>
                        </a:lnTo>
                        <a:lnTo>
                          <a:pt x="3777" y="277"/>
                        </a:lnTo>
                        <a:lnTo>
                          <a:pt x="3764" y="258"/>
                        </a:lnTo>
                        <a:lnTo>
                          <a:pt x="3749" y="239"/>
                        </a:lnTo>
                        <a:lnTo>
                          <a:pt x="3734" y="221"/>
                        </a:lnTo>
                        <a:lnTo>
                          <a:pt x="3718" y="204"/>
                        </a:lnTo>
                        <a:lnTo>
                          <a:pt x="3701" y="188"/>
                        </a:lnTo>
                        <a:lnTo>
                          <a:pt x="3682" y="173"/>
                        </a:lnTo>
                        <a:lnTo>
                          <a:pt x="3664" y="159"/>
                        </a:lnTo>
                        <a:lnTo>
                          <a:pt x="3645" y="145"/>
                        </a:lnTo>
                        <a:lnTo>
                          <a:pt x="3626" y="132"/>
                        </a:lnTo>
                        <a:lnTo>
                          <a:pt x="3606" y="119"/>
                        </a:lnTo>
                        <a:lnTo>
                          <a:pt x="3587" y="108"/>
                        </a:lnTo>
                        <a:lnTo>
                          <a:pt x="3566" y="97"/>
                        </a:lnTo>
                        <a:lnTo>
                          <a:pt x="3546" y="87"/>
                        </a:lnTo>
                        <a:lnTo>
                          <a:pt x="3507" y="69"/>
                        </a:lnTo>
                        <a:lnTo>
                          <a:pt x="3468" y="53"/>
                        </a:lnTo>
                        <a:lnTo>
                          <a:pt x="3430" y="40"/>
                        </a:lnTo>
                        <a:lnTo>
                          <a:pt x="3396" y="29"/>
                        </a:lnTo>
                        <a:lnTo>
                          <a:pt x="3365" y="19"/>
                        </a:lnTo>
                        <a:lnTo>
                          <a:pt x="3337" y="12"/>
                        </a:lnTo>
                        <a:lnTo>
                          <a:pt x="3298" y="3"/>
                        </a:lnTo>
                        <a:lnTo>
                          <a:pt x="3284" y="0"/>
                        </a:lnTo>
                        <a:lnTo>
                          <a:pt x="2791" y="0"/>
                        </a:lnTo>
                        <a:lnTo>
                          <a:pt x="1957" y="12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0" name="Freeform 27"/>
                  <p:cNvSpPr>
                    <a:spLocks/>
                  </p:cNvSpPr>
                  <p:nvPr/>
                </p:nvSpPr>
                <p:spPr bwMode="auto">
                  <a:xfrm>
                    <a:off x="-199054" y="2595516"/>
                    <a:ext cx="8880" cy="4675"/>
                  </a:xfrm>
                  <a:custGeom>
                    <a:avLst/>
                    <a:gdLst/>
                    <a:ahLst/>
                    <a:cxnLst>
                      <a:cxn ang="0">
                        <a:pos x="85" y="148"/>
                      </a:cxn>
                      <a:cxn ang="0">
                        <a:pos x="127" y="74"/>
                      </a:cxn>
                      <a:cxn ang="0">
                        <a:pos x="169" y="0"/>
                      </a:cxn>
                      <a:cxn ang="0">
                        <a:pos x="85" y="0"/>
                      </a:cxn>
                      <a:cxn ang="0">
                        <a:pos x="0" y="0"/>
                      </a:cxn>
                      <a:cxn ang="0">
                        <a:pos x="42" y="74"/>
                      </a:cxn>
                      <a:cxn ang="0">
                        <a:pos x="85" y="148"/>
                      </a:cxn>
                    </a:cxnLst>
                    <a:rect l="0" t="0" r="r" b="b"/>
                    <a:pathLst>
                      <a:path w="169" h="148">
                        <a:moveTo>
                          <a:pt x="85" y="148"/>
                        </a:moveTo>
                        <a:lnTo>
                          <a:pt x="127" y="74"/>
                        </a:lnTo>
                        <a:lnTo>
                          <a:pt x="169" y="0"/>
                        </a:lnTo>
                        <a:lnTo>
                          <a:pt x="85" y="0"/>
                        </a:lnTo>
                        <a:lnTo>
                          <a:pt x="0" y="0"/>
                        </a:lnTo>
                        <a:lnTo>
                          <a:pt x="42" y="74"/>
                        </a:lnTo>
                        <a:lnTo>
                          <a:pt x="85" y="1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1" name="Freeform 28"/>
                  <p:cNvSpPr>
                    <a:spLocks/>
                  </p:cNvSpPr>
                  <p:nvPr/>
                </p:nvSpPr>
                <p:spPr bwMode="auto">
                  <a:xfrm>
                    <a:off x="-204974" y="2598789"/>
                    <a:ext cx="20719" cy="32258"/>
                  </a:xfrm>
                  <a:custGeom>
                    <a:avLst/>
                    <a:gdLst/>
                    <a:ahLst/>
                    <a:cxnLst>
                      <a:cxn ang="0">
                        <a:pos x="197" y="0"/>
                      </a:cxn>
                      <a:cxn ang="0">
                        <a:pos x="296" y="358"/>
                      </a:cxn>
                      <a:cxn ang="0">
                        <a:pos x="388" y="697"/>
                      </a:cxn>
                      <a:cxn ang="0">
                        <a:pos x="393" y="697"/>
                      </a:cxn>
                      <a:cxn ang="0">
                        <a:pos x="390" y="702"/>
                      </a:cxn>
                      <a:cxn ang="0">
                        <a:pos x="393" y="716"/>
                      </a:cxn>
                      <a:cxn ang="0">
                        <a:pos x="380" y="716"/>
                      </a:cxn>
                      <a:cxn ang="0">
                        <a:pos x="296" y="830"/>
                      </a:cxn>
                      <a:cxn ang="0">
                        <a:pos x="197" y="963"/>
                      </a:cxn>
                      <a:cxn ang="0">
                        <a:pos x="99" y="830"/>
                      </a:cxn>
                      <a:cxn ang="0">
                        <a:pos x="14" y="716"/>
                      </a:cxn>
                      <a:cxn ang="0">
                        <a:pos x="0" y="716"/>
                      </a:cxn>
                      <a:cxn ang="0">
                        <a:pos x="4" y="702"/>
                      </a:cxn>
                      <a:cxn ang="0">
                        <a:pos x="0" y="697"/>
                      </a:cxn>
                      <a:cxn ang="0">
                        <a:pos x="5" y="697"/>
                      </a:cxn>
                      <a:cxn ang="0">
                        <a:pos x="99" y="358"/>
                      </a:cxn>
                      <a:cxn ang="0">
                        <a:pos x="197" y="0"/>
                      </a:cxn>
                    </a:cxnLst>
                    <a:rect l="0" t="0" r="r" b="b"/>
                    <a:pathLst>
                      <a:path w="393" h="963">
                        <a:moveTo>
                          <a:pt x="197" y="0"/>
                        </a:moveTo>
                        <a:lnTo>
                          <a:pt x="296" y="358"/>
                        </a:lnTo>
                        <a:lnTo>
                          <a:pt x="388" y="697"/>
                        </a:lnTo>
                        <a:lnTo>
                          <a:pt x="393" y="697"/>
                        </a:lnTo>
                        <a:lnTo>
                          <a:pt x="390" y="702"/>
                        </a:lnTo>
                        <a:lnTo>
                          <a:pt x="393" y="716"/>
                        </a:lnTo>
                        <a:lnTo>
                          <a:pt x="380" y="716"/>
                        </a:lnTo>
                        <a:lnTo>
                          <a:pt x="296" y="830"/>
                        </a:lnTo>
                        <a:lnTo>
                          <a:pt x="197" y="963"/>
                        </a:lnTo>
                        <a:lnTo>
                          <a:pt x="99" y="830"/>
                        </a:lnTo>
                        <a:lnTo>
                          <a:pt x="14" y="716"/>
                        </a:lnTo>
                        <a:lnTo>
                          <a:pt x="0" y="716"/>
                        </a:lnTo>
                        <a:lnTo>
                          <a:pt x="4" y="702"/>
                        </a:lnTo>
                        <a:lnTo>
                          <a:pt x="0" y="697"/>
                        </a:lnTo>
                        <a:lnTo>
                          <a:pt x="5" y="697"/>
                        </a:lnTo>
                        <a:lnTo>
                          <a:pt x="99" y="358"/>
                        </a:lnTo>
                        <a:lnTo>
                          <a:pt x="19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grpSp>
            <p:nvGrpSpPr>
              <p:cNvPr id="127" name="组合 478"/>
              <p:cNvGrpSpPr/>
              <p:nvPr/>
            </p:nvGrpSpPr>
            <p:grpSpPr>
              <a:xfrm>
                <a:off x="6092853" y="3498277"/>
                <a:ext cx="881134" cy="573013"/>
                <a:chOff x="9796411" y="2826066"/>
                <a:chExt cx="1683501" cy="985148"/>
              </a:xfrm>
            </p:grpSpPr>
            <p:sp>
              <p:nvSpPr>
                <p:cNvPr id="194" name="Freeform 27"/>
                <p:cNvSpPr>
                  <a:spLocks noEditPoints="1"/>
                </p:cNvSpPr>
                <p:nvPr/>
              </p:nvSpPr>
              <p:spPr bwMode="auto">
                <a:xfrm>
                  <a:off x="9796411" y="2826066"/>
                  <a:ext cx="1683501" cy="98514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solidFill>
                  <a:srgbClr val="92ABB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nvGrpSpPr>
                <p:cNvPr id="195" name="组合 381"/>
                <p:cNvGrpSpPr/>
                <p:nvPr/>
              </p:nvGrpSpPr>
              <p:grpSpPr>
                <a:xfrm>
                  <a:off x="10563731" y="2944420"/>
                  <a:ext cx="385622" cy="366875"/>
                  <a:chOff x="12379325" y="6088063"/>
                  <a:chExt cx="601663" cy="606425"/>
                </a:xfrm>
                <a:solidFill>
                  <a:srgbClr val="FFFFFF">
                    <a:lumMod val="95000"/>
                  </a:srgbClr>
                </a:solidFill>
              </p:grpSpPr>
              <p:sp>
                <p:nvSpPr>
                  <p:cNvPr id="215" name="Freeform 721"/>
                  <p:cNvSpPr>
                    <a:spLocks/>
                  </p:cNvSpPr>
                  <p:nvPr/>
                </p:nvSpPr>
                <p:spPr bwMode="auto">
                  <a:xfrm>
                    <a:off x="12379325" y="6088063"/>
                    <a:ext cx="601663" cy="606425"/>
                  </a:xfrm>
                  <a:custGeom>
                    <a:avLst/>
                    <a:gdLst/>
                    <a:ahLst/>
                    <a:cxnLst>
                      <a:cxn ang="0">
                        <a:pos x="346" y="190"/>
                      </a:cxn>
                      <a:cxn ang="0">
                        <a:pos x="338" y="237"/>
                      </a:cxn>
                      <a:cxn ang="0">
                        <a:pos x="320" y="278"/>
                      </a:cxn>
                      <a:cxn ang="0">
                        <a:pos x="299" y="302"/>
                      </a:cxn>
                      <a:cxn ang="0">
                        <a:pos x="265" y="329"/>
                      </a:cxn>
                      <a:cxn ang="0">
                        <a:pos x="220" y="345"/>
                      </a:cxn>
                      <a:cxn ang="0">
                        <a:pos x="189" y="347"/>
                      </a:cxn>
                      <a:cxn ang="0">
                        <a:pos x="142" y="341"/>
                      </a:cxn>
                      <a:cxn ang="0">
                        <a:pos x="102" y="320"/>
                      </a:cxn>
                      <a:cxn ang="0">
                        <a:pos x="79" y="302"/>
                      </a:cxn>
                      <a:cxn ang="0">
                        <a:pos x="51" y="265"/>
                      </a:cxn>
                      <a:cxn ang="0">
                        <a:pos x="36" y="223"/>
                      </a:cxn>
                      <a:cxn ang="0">
                        <a:pos x="32" y="190"/>
                      </a:cxn>
                      <a:cxn ang="0">
                        <a:pos x="38" y="143"/>
                      </a:cxn>
                      <a:cxn ang="0">
                        <a:pos x="59" y="102"/>
                      </a:cxn>
                      <a:cxn ang="0">
                        <a:pos x="79" y="80"/>
                      </a:cxn>
                      <a:cxn ang="0">
                        <a:pos x="114" y="53"/>
                      </a:cxn>
                      <a:cxn ang="0">
                        <a:pos x="157" y="37"/>
                      </a:cxn>
                      <a:cxn ang="0">
                        <a:pos x="189" y="33"/>
                      </a:cxn>
                      <a:cxn ang="0">
                        <a:pos x="236" y="41"/>
                      </a:cxn>
                      <a:cxn ang="0">
                        <a:pos x="277" y="62"/>
                      </a:cxn>
                      <a:cxn ang="0">
                        <a:pos x="299" y="80"/>
                      </a:cxn>
                      <a:cxn ang="0">
                        <a:pos x="328" y="117"/>
                      </a:cxn>
                      <a:cxn ang="0">
                        <a:pos x="342" y="159"/>
                      </a:cxn>
                      <a:cxn ang="0">
                        <a:pos x="363" y="190"/>
                      </a:cxn>
                      <a:cxn ang="0">
                        <a:pos x="379" y="172"/>
                      </a:cxn>
                      <a:cxn ang="0">
                        <a:pos x="365" y="117"/>
                      </a:cxn>
                      <a:cxn ang="0">
                        <a:pos x="336" y="70"/>
                      </a:cxn>
                      <a:cxn ang="0">
                        <a:pos x="295" y="33"/>
                      </a:cxn>
                      <a:cxn ang="0">
                        <a:pos x="246" y="8"/>
                      </a:cxn>
                      <a:cxn ang="0">
                        <a:pos x="189" y="0"/>
                      </a:cxn>
                      <a:cxn ang="0">
                        <a:pos x="151" y="4"/>
                      </a:cxn>
                      <a:cxn ang="0">
                        <a:pos x="98" y="23"/>
                      </a:cxn>
                      <a:cxn ang="0">
                        <a:pos x="55" y="55"/>
                      </a:cxn>
                      <a:cxn ang="0">
                        <a:pos x="22" y="100"/>
                      </a:cxn>
                      <a:cxn ang="0">
                        <a:pos x="4" y="151"/>
                      </a:cxn>
                      <a:cxn ang="0">
                        <a:pos x="0" y="190"/>
                      </a:cxn>
                      <a:cxn ang="0">
                        <a:pos x="8" y="247"/>
                      </a:cxn>
                      <a:cxn ang="0">
                        <a:pos x="32" y="296"/>
                      </a:cxn>
                      <a:cxn ang="0">
                        <a:pos x="69" y="337"/>
                      </a:cxn>
                      <a:cxn ang="0">
                        <a:pos x="116" y="365"/>
                      </a:cxn>
                      <a:cxn ang="0">
                        <a:pos x="169" y="380"/>
                      </a:cxn>
                      <a:cxn ang="0">
                        <a:pos x="208" y="380"/>
                      </a:cxn>
                      <a:cxn ang="0">
                        <a:pos x="263" y="365"/>
                      </a:cxn>
                      <a:cxn ang="0">
                        <a:pos x="310" y="337"/>
                      </a:cxn>
                      <a:cxn ang="0">
                        <a:pos x="346" y="296"/>
                      </a:cxn>
                      <a:cxn ang="0">
                        <a:pos x="371" y="247"/>
                      </a:cxn>
                      <a:cxn ang="0">
                        <a:pos x="379" y="190"/>
                      </a:cxn>
                    </a:cxnLst>
                    <a:rect l="0" t="0" r="r" b="b"/>
                    <a:pathLst>
                      <a:path w="379" h="382">
                        <a:moveTo>
                          <a:pt x="363" y="190"/>
                        </a:moveTo>
                        <a:lnTo>
                          <a:pt x="346" y="190"/>
                        </a:lnTo>
                        <a:lnTo>
                          <a:pt x="346" y="190"/>
                        </a:lnTo>
                        <a:lnTo>
                          <a:pt x="344" y="206"/>
                        </a:lnTo>
                        <a:lnTo>
                          <a:pt x="342" y="223"/>
                        </a:lnTo>
                        <a:lnTo>
                          <a:pt x="338" y="237"/>
                        </a:lnTo>
                        <a:lnTo>
                          <a:pt x="334" y="251"/>
                        </a:lnTo>
                        <a:lnTo>
                          <a:pt x="328" y="265"/>
                        </a:lnTo>
                        <a:lnTo>
                          <a:pt x="320" y="278"/>
                        </a:lnTo>
                        <a:lnTo>
                          <a:pt x="310" y="290"/>
                        </a:lnTo>
                        <a:lnTo>
                          <a:pt x="299" y="302"/>
                        </a:lnTo>
                        <a:lnTo>
                          <a:pt x="299" y="302"/>
                        </a:lnTo>
                        <a:lnTo>
                          <a:pt x="289" y="312"/>
                        </a:lnTo>
                        <a:lnTo>
                          <a:pt x="277" y="320"/>
                        </a:lnTo>
                        <a:lnTo>
                          <a:pt x="265" y="329"/>
                        </a:lnTo>
                        <a:lnTo>
                          <a:pt x="250" y="335"/>
                        </a:lnTo>
                        <a:lnTo>
                          <a:pt x="236" y="341"/>
                        </a:lnTo>
                        <a:lnTo>
                          <a:pt x="220" y="345"/>
                        </a:lnTo>
                        <a:lnTo>
                          <a:pt x="206" y="347"/>
                        </a:lnTo>
                        <a:lnTo>
                          <a:pt x="189" y="347"/>
                        </a:lnTo>
                        <a:lnTo>
                          <a:pt x="189" y="347"/>
                        </a:lnTo>
                        <a:lnTo>
                          <a:pt x="173" y="347"/>
                        </a:lnTo>
                        <a:lnTo>
                          <a:pt x="157" y="345"/>
                        </a:lnTo>
                        <a:lnTo>
                          <a:pt x="142" y="341"/>
                        </a:lnTo>
                        <a:lnTo>
                          <a:pt x="128" y="335"/>
                        </a:lnTo>
                        <a:lnTo>
                          <a:pt x="114" y="329"/>
                        </a:lnTo>
                        <a:lnTo>
                          <a:pt x="102" y="320"/>
                        </a:lnTo>
                        <a:lnTo>
                          <a:pt x="89" y="312"/>
                        </a:lnTo>
                        <a:lnTo>
                          <a:pt x="79" y="302"/>
                        </a:lnTo>
                        <a:lnTo>
                          <a:pt x="79" y="302"/>
                        </a:lnTo>
                        <a:lnTo>
                          <a:pt x="69" y="290"/>
                        </a:lnTo>
                        <a:lnTo>
                          <a:pt x="59" y="278"/>
                        </a:lnTo>
                        <a:lnTo>
                          <a:pt x="51" y="265"/>
                        </a:lnTo>
                        <a:lnTo>
                          <a:pt x="45" y="251"/>
                        </a:lnTo>
                        <a:lnTo>
                          <a:pt x="38" y="237"/>
                        </a:lnTo>
                        <a:lnTo>
                          <a:pt x="36" y="223"/>
                        </a:lnTo>
                        <a:lnTo>
                          <a:pt x="32" y="206"/>
                        </a:lnTo>
                        <a:lnTo>
                          <a:pt x="32" y="190"/>
                        </a:lnTo>
                        <a:lnTo>
                          <a:pt x="32" y="190"/>
                        </a:lnTo>
                        <a:lnTo>
                          <a:pt x="32" y="174"/>
                        </a:lnTo>
                        <a:lnTo>
                          <a:pt x="36" y="159"/>
                        </a:lnTo>
                        <a:lnTo>
                          <a:pt x="38" y="143"/>
                        </a:lnTo>
                        <a:lnTo>
                          <a:pt x="45" y="129"/>
                        </a:lnTo>
                        <a:lnTo>
                          <a:pt x="51" y="117"/>
                        </a:lnTo>
                        <a:lnTo>
                          <a:pt x="59" y="102"/>
                        </a:lnTo>
                        <a:lnTo>
                          <a:pt x="69" y="90"/>
                        </a:lnTo>
                        <a:lnTo>
                          <a:pt x="79" y="80"/>
                        </a:lnTo>
                        <a:lnTo>
                          <a:pt x="79" y="80"/>
                        </a:lnTo>
                        <a:lnTo>
                          <a:pt x="89" y="70"/>
                        </a:lnTo>
                        <a:lnTo>
                          <a:pt x="102" y="62"/>
                        </a:lnTo>
                        <a:lnTo>
                          <a:pt x="114" y="53"/>
                        </a:lnTo>
                        <a:lnTo>
                          <a:pt x="128" y="45"/>
                        </a:lnTo>
                        <a:lnTo>
                          <a:pt x="142" y="41"/>
                        </a:lnTo>
                        <a:lnTo>
                          <a:pt x="157" y="37"/>
                        </a:lnTo>
                        <a:lnTo>
                          <a:pt x="173" y="35"/>
                        </a:lnTo>
                        <a:lnTo>
                          <a:pt x="189" y="33"/>
                        </a:lnTo>
                        <a:lnTo>
                          <a:pt x="189" y="33"/>
                        </a:lnTo>
                        <a:lnTo>
                          <a:pt x="206" y="35"/>
                        </a:lnTo>
                        <a:lnTo>
                          <a:pt x="220" y="37"/>
                        </a:lnTo>
                        <a:lnTo>
                          <a:pt x="236" y="41"/>
                        </a:lnTo>
                        <a:lnTo>
                          <a:pt x="250" y="45"/>
                        </a:lnTo>
                        <a:lnTo>
                          <a:pt x="265" y="53"/>
                        </a:lnTo>
                        <a:lnTo>
                          <a:pt x="277" y="62"/>
                        </a:lnTo>
                        <a:lnTo>
                          <a:pt x="289" y="70"/>
                        </a:lnTo>
                        <a:lnTo>
                          <a:pt x="299" y="80"/>
                        </a:lnTo>
                        <a:lnTo>
                          <a:pt x="299" y="80"/>
                        </a:lnTo>
                        <a:lnTo>
                          <a:pt x="310" y="90"/>
                        </a:lnTo>
                        <a:lnTo>
                          <a:pt x="320" y="102"/>
                        </a:lnTo>
                        <a:lnTo>
                          <a:pt x="328" y="117"/>
                        </a:lnTo>
                        <a:lnTo>
                          <a:pt x="334" y="129"/>
                        </a:lnTo>
                        <a:lnTo>
                          <a:pt x="338" y="143"/>
                        </a:lnTo>
                        <a:lnTo>
                          <a:pt x="342" y="159"/>
                        </a:lnTo>
                        <a:lnTo>
                          <a:pt x="344" y="174"/>
                        </a:lnTo>
                        <a:lnTo>
                          <a:pt x="346" y="190"/>
                        </a:lnTo>
                        <a:lnTo>
                          <a:pt x="363" y="190"/>
                        </a:lnTo>
                        <a:lnTo>
                          <a:pt x="379" y="190"/>
                        </a:lnTo>
                        <a:lnTo>
                          <a:pt x="379" y="190"/>
                        </a:lnTo>
                        <a:lnTo>
                          <a:pt x="379" y="172"/>
                        </a:lnTo>
                        <a:lnTo>
                          <a:pt x="375" y="151"/>
                        </a:lnTo>
                        <a:lnTo>
                          <a:pt x="371" y="135"/>
                        </a:lnTo>
                        <a:lnTo>
                          <a:pt x="365" y="117"/>
                        </a:lnTo>
                        <a:lnTo>
                          <a:pt x="356" y="100"/>
                        </a:lnTo>
                        <a:lnTo>
                          <a:pt x="346" y="84"/>
                        </a:lnTo>
                        <a:lnTo>
                          <a:pt x="336" y="70"/>
                        </a:lnTo>
                        <a:lnTo>
                          <a:pt x="324" y="55"/>
                        </a:lnTo>
                        <a:lnTo>
                          <a:pt x="310" y="43"/>
                        </a:lnTo>
                        <a:lnTo>
                          <a:pt x="295" y="33"/>
                        </a:lnTo>
                        <a:lnTo>
                          <a:pt x="279" y="23"/>
                        </a:lnTo>
                        <a:lnTo>
                          <a:pt x="263" y="15"/>
                        </a:lnTo>
                        <a:lnTo>
                          <a:pt x="246" y="8"/>
                        </a:lnTo>
                        <a:lnTo>
                          <a:pt x="228" y="4"/>
                        </a:lnTo>
                        <a:lnTo>
                          <a:pt x="208" y="2"/>
                        </a:lnTo>
                        <a:lnTo>
                          <a:pt x="189" y="0"/>
                        </a:lnTo>
                        <a:lnTo>
                          <a:pt x="189" y="0"/>
                        </a:lnTo>
                        <a:lnTo>
                          <a:pt x="169" y="2"/>
                        </a:lnTo>
                        <a:lnTo>
                          <a:pt x="151" y="4"/>
                        </a:lnTo>
                        <a:lnTo>
                          <a:pt x="132" y="8"/>
                        </a:lnTo>
                        <a:lnTo>
                          <a:pt x="116" y="15"/>
                        </a:lnTo>
                        <a:lnTo>
                          <a:pt x="98" y="23"/>
                        </a:lnTo>
                        <a:lnTo>
                          <a:pt x="83" y="33"/>
                        </a:lnTo>
                        <a:lnTo>
                          <a:pt x="69" y="43"/>
                        </a:lnTo>
                        <a:lnTo>
                          <a:pt x="55" y="55"/>
                        </a:lnTo>
                        <a:lnTo>
                          <a:pt x="42" y="70"/>
                        </a:lnTo>
                        <a:lnTo>
                          <a:pt x="32" y="84"/>
                        </a:lnTo>
                        <a:lnTo>
                          <a:pt x="22" y="100"/>
                        </a:lnTo>
                        <a:lnTo>
                          <a:pt x="14" y="117"/>
                        </a:lnTo>
                        <a:lnTo>
                          <a:pt x="8" y="135"/>
                        </a:lnTo>
                        <a:lnTo>
                          <a:pt x="4" y="151"/>
                        </a:lnTo>
                        <a:lnTo>
                          <a:pt x="0" y="172"/>
                        </a:lnTo>
                        <a:lnTo>
                          <a:pt x="0" y="190"/>
                        </a:lnTo>
                        <a:lnTo>
                          <a:pt x="0" y="190"/>
                        </a:lnTo>
                        <a:lnTo>
                          <a:pt x="0" y="210"/>
                        </a:lnTo>
                        <a:lnTo>
                          <a:pt x="4" y="229"/>
                        </a:lnTo>
                        <a:lnTo>
                          <a:pt x="8" y="247"/>
                        </a:lnTo>
                        <a:lnTo>
                          <a:pt x="14" y="265"/>
                        </a:lnTo>
                        <a:lnTo>
                          <a:pt x="22" y="282"/>
                        </a:lnTo>
                        <a:lnTo>
                          <a:pt x="32" y="296"/>
                        </a:lnTo>
                        <a:lnTo>
                          <a:pt x="42" y="312"/>
                        </a:lnTo>
                        <a:lnTo>
                          <a:pt x="55" y="325"/>
                        </a:lnTo>
                        <a:lnTo>
                          <a:pt x="69" y="337"/>
                        </a:lnTo>
                        <a:lnTo>
                          <a:pt x="83" y="349"/>
                        </a:lnTo>
                        <a:lnTo>
                          <a:pt x="98" y="357"/>
                        </a:lnTo>
                        <a:lnTo>
                          <a:pt x="116" y="365"/>
                        </a:lnTo>
                        <a:lnTo>
                          <a:pt x="132" y="371"/>
                        </a:lnTo>
                        <a:lnTo>
                          <a:pt x="151" y="378"/>
                        </a:lnTo>
                        <a:lnTo>
                          <a:pt x="169" y="380"/>
                        </a:lnTo>
                        <a:lnTo>
                          <a:pt x="189" y="382"/>
                        </a:lnTo>
                        <a:lnTo>
                          <a:pt x="189" y="382"/>
                        </a:lnTo>
                        <a:lnTo>
                          <a:pt x="208" y="380"/>
                        </a:lnTo>
                        <a:lnTo>
                          <a:pt x="228" y="378"/>
                        </a:lnTo>
                        <a:lnTo>
                          <a:pt x="246" y="371"/>
                        </a:lnTo>
                        <a:lnTo>
                          <a:pt x="263" y="365"/>
                        </a:lnTo>
                        <a:lnTo>
                          <a:pt x="279" y="357"/>
                        </a:lnTo>
                        <a:lnTo>
                          <a:pt x="295" y="349"/>
                        </a:lnTo>
                        <a:lnTo>
                          <a:pt x="310" y="337"/>
                        </a:lnTo>
                        <a:lnTo>
                          <a:pt x="324" y="325"/>
                        </a:lnTo>
                        <a:lnTo>
                          <a:pt x="336" y="312"/>
                        </a:lnTo>
                        <a:lnTo>
                          <a:pt x="346" y="296"/>
                        </a:lnTo>
                        <a:lnTo>
                          <a:pt x="356" y="282"/>
                        </a:lnTo>
                        <a:lnTo>
                          <a:pt x="365" y="265"/>
                        </a:lnTo>
                        <a:lnTo>
                          <a:pt x="371" y="247"/>
                        </a:lnTo>
                        <a:lnTo>
                          <a:pt x="375" y="229"/>
                        </a:lnTo>
                        <a:lnTo>
                          <a:pt x="379" y="210"/>
                        </a:lnTo>
                        <a:lnTo>
                          <a:pt x="379" y="190"/>
                        </a:lnTo>
                        <a:lnTo>
                          <a:pt x="363" y="1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6" name="Freeform 722"/>
                  <p:cNvSpPr>
                    <a:spLocks noEditPoints="1"/>
                  </p:cNvSpPr>
                  <p:nvPr/>
                </p:nvSpPr>
                <p:spPr bwMode="auto">
                  <a:xfrm>
                    <a:off x="12634913" y="6240463"/>
                    <a:ext cx="284163" cy="336550"/>
                  </a:xfrm>
                  <a:custGeom>
                    <a:avLst/>
                    <a:gdLst/>
                    <a:ahLst/>
                    <a:cxnLst>
                      <a:cxn ang="0">
                        <a:pos x="163" y="39"/>
                      </a:cxn>
                      <a:cxn ang="0">
                        <a:pos x="144" y="21"/>
                      </a:cxn>
                      <a:cxn ang="0">
                        <a:pos x="122" y="8"/>
                      </a:cxn>
                      <a:cxn ang="0">
                        <a:pos x="83" y="10"/>
                      </a:cxn>
                      <a:cxn ang="0">
                        <a:pos x="73" y="10"/>
                      </a:cxn>
                      <a:cxn ang="0">
                        <a:pos x="53" y="0"/>
                      </a:cxn>
                      <a:cxn ang="0">
                        <a:pos x="41" y="2"/>
                      </a:cxn>
                      <a:cxn ang="0">
                        <a:pos x="36" y="16"/>
                      </a:cxn>
                      <a:cxn ang="0">
                        <a:pos x="32" y="37"/>
                      </a:cxn>
                      <a:cxn ang="0">
                        <a:pos x="16" y="39"/>
                      </a:cxn>
                      <a:cxn ang="0">
                        <a:pos x="20" y="49"/>
                      </a:cxn>
                      <a:cxn ang="0">
                        <a:pos x="28" y="55"/>
                      </a:cxn>
                      <a:cxn ang="0">
                        <a:pos x="16" y="59"/>
                      </a:cxn>
                      <a:cxn ang="0">
                        <a:pos x="10" y="63"/>
                      </a:cxn>
                      <a:cxn ang="0">
                        <a:pos x="18" y="67"/>
                      </a:cxn>
                      <a:cxn ang="0">
                        <a:pos x="14" y="76"/>
                      </a:cxn>
                      <a:cxn ang="0">
                        <a:pos x="2" y="96"/>
                      </a:cxn>
                      <a:cxn ang="0">
                        <a:pos x="2" y="125"/>
                      </a:cxn>
                      <a:cxn ang="0">
                        <a:pos x="14" y="133"/>
                      </a:cxn>
                      <a:cxn ang="0">
                        <a:pos x="34" y="139"/>
                      </a:cxn>
                      <a:cxn ang="0">
                        <a:pos x="38" y="147"/>
                      </a:cxn>
                      <a:cxn ang="0">
                        <a:pos x="38" y="190"/>
                      </a:cxn>
                      <a:cxn ang="0">
                        <a:pos x="43" y="206"/>
                      </a:cxn>
                      <a:cxn ang="0">
                        <a:pos x="57" y="210"/>
                      </a:cxn>
                      <a:cxn ang="0">
                        <a:pos x="63" y="206"/>
                      </a:cxn>
                      <a:cxn ang="0">
                        <a:pos x="71" y="182"/>
                      </a:cxn>
                      <a:cxn ang="0">
                        <a:pos x="83" y="186"/>
                      </a:cxn>
                      <a:cxn ang="0">
                        <a:pos x="91" y="184"/>
                      </a:cxn>
                      <a:cxn ang="0">
                        <a:pos x="94" y="169"/>
                      </a:cxn>
                      <a:cxn ang="0">
                        <a:pos x="83" y="165"/>
                      </a:cxn>
                      <a:cxn ang="0">
                        <a:pos x="81" y="159"/>
                      </a:cxn>
                      <a:cxn ang="0">
                        <a:pos x="94" y="143"/>
                      </a:cxn>
                      <a:cxn ang="0">
                        <a:pos x="98" y="125"/>
                      </a:cxn>
                      <a:cxn ang="0">
                        <a:pos x="110" y="100"/>
                      </a:cxn>
                      <a:cxn ang="0">
                        <a:pos x="122" y="100"/>
                      </a:cxn>
                      <a:cxn ang="0">
                        <a:pos x="134" y="127"/>
                      </a:cxn>
                      <a:cxn ang="0">
                        <a:pos x="140" y="118"/>
                      </a:cxn>
                      <a:cxn ang="0">
                        <a:pos x="147" y="106"/>
                      </a:cxn>
                      <a:cxn ang="0">
                        <a:pos x="157" y="116"/>
                      </a:cxn>
                      <a:cxn ang="0">
                        <a:pos x="167" y="151"/>
                      </a:cxn>
                      <a:cxn ang="0">
                        <a:pos x="177" y="118"/>
                      </a:cxn>
                      <a:cxn ang="0">
                        <a:pos x="175" y="72"/>
                      </a:cxn>
                      <a:cxn ang="0">
                        <a:pos x="163" y="39"/>
                      </a:cxn>
                      <a:cxn ang="0">
                        <a:pos x="75" y="82"/>
                      </a:cxn>
                      <a:cxn ang="0">
                        <a:pos x="61" y="84"/>
                      </a:cxn>
                      <a:cxn ang="0">
                        <a:pos x="51" y="78"/>
                      </a:cxn>
                      <a:cxn ang="0">
                        <a:pos x="45" y="74"/>
                      </a:cxn>
                      <a:cxn ang="0">
                        <a:pos x="41" y="63"/>
                      </a:cxn>
                      <a:cxn ang="0">
                        <a:pos x="47" y="57"/>
                      </a:cxn>
                      <a:cxn ang="0">
                        <a:pos x="51" y="59"/>
                      </a:cxn>
                      <a:cxn ang="0">
                        <a:pos x="53" y="67"/>
                      </a:cxn>
                      <a:cxn ang="0">
                        <a:pos x="57" y="67"/>
                      </a:cxn>
                      <a:cxn ang="0">
                        <a:pos x="65" y="61"/>
                      </a:cxn>
                      <a:cxn ang="0">
                        <a:pos x="75" y="72"/>
                      </a:cxn>
                    </a:cxnLst>
                    <a:rect l="0" t="0" r="r" b="b"/>
                    <a:pathLst>
                      <a:path w="179" h="212">
                        <a:moveTo>
                          <a:pt x="6" y="82"/>
                        </a:moveTo>
                        <a:lnTo>
                          <a:pt x="6" y="82"/>
                        </a:lnTo>
                        <a:close/>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close/>
                        <a:moveTo>
                          <a:pt x="77" y="80"/>
                        </a:moveTo>
                        <a:lnTo>
                          <a:pt x="77" y="80"/>
                        </a:lnTo>
                        <a:lnTo>
                          <a:pt x="75" y="82"/>
                        </a:lnTo>
                        <a:lnTo>
                          <a:pt x="73" y="84"/>
                        </a:lnTo>
                        <a:lnTo>
                          <a:pt x="67" y="86"/>
                        </a:lnTo>
                        <a:lnTo>
                          <a:pt x="61" y="84"/>
                        </a:lnTo>
                        <a:lnTo>
                          <a:pt x="55" y="82"/>
                        </a:lnTo>
                        <a:lnTo>
                          <a:pt x="55" y="82"/>
                        </a:lnTo>
                        <a:lnTo>
                          <a:pt x="51" y="78"/>
                        </a:lnTo>
                        <a:lnTo>
                          <a:pt x="51" y="78"/>
                        </a:lnTo>
                        <a:lnTo>
                          <a:pt x="45" y="74"/>
                        </a:lnTo>
                        <a:lnTo>
                          <a:pt x="45" y="74"/>
                        </a:lnTo>
                        <a:lnTo>
                          <a:pt x="41" y="69"/>
                        </a:lnTo>
                        <a:lnTo>
                          <a:pt x="41" y="65"/>
                        </a:lnTo>
                        <a:lnTo>
                          <a:pt x="41" y="63"/>
                        </a:lnTo>
                        <a:lnTo>
                          <a:pt x="41" y="63"/>
                        </a:lnTo>
                        <a:lnTo>
                          <a:pt x="43" y="59"/>
                        </a:lnTo>
                        <a:lnTo>
                          <a:pt x="47" y="57"/>
                        </a:lnTo>
                        <a:lnTo>
                          <a:pt x="49" y="57"/>
                        </a:lnTo>
                        <a:lnTo>
                          <a:pt x="49" y="57"/>
                        </a:lnTo>
                        <a:lnTo>
                          <a:pt x="51" y="59"/>
                        </a:lnTo>
                        <a:lnTo>
                          <a:pt x="51" y="61"/>
                        </a:lnTo>
                        <a:lnTo>
                          <a:pt x="51" y="65"/>
                        </a:lnTo>
                        <a:lnTo>
                          <a:pt x="53" y="67"/>
                        </a:lnTo>
                        <a:lnTo>
                          <a:pt x="53" y="67"/>
                        </a:lnTo>
                        <a:lnTo>
                          <a:pt x="55" y="69"/>
                        </a:lnTo>
                        <a:lnTo>
                          <a:pt x="57" y="67"/>
                        </a:lnTo>
                        <a:lnTo>
                          <a:pt x="61" y="61"/>
                        </a:lnTo>
                        <a:lnTo>
                          <a:pt x="61" y="61"/>
                        </a:lnTo>
                        <a:lnTo>
                          <a:pt x="65" y="61"/>
                        </a:lnTo>
                        <a:lnTo>
                          <a:pt x="67" y="61"/>
                        </a:lnTo>
                        <a:lnTo>
                          <a:pt x="73" y="65"/>
                        </a:lnTo>
                        <a:lnTo>
                          <a:pt x="75" y="72"/>
                        </a:lnTo>
                        <a:lnTo>
                          <a:pt x="77" y="80"/>
                        </a:lnTo>
                        <a:lnTo>
                          <a:pt x="77"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7" name="Line 723"/>
                  <p:cNvSpPr>
                    <a:spLocks noChangeShapeType="1"/>
                  </p:cNvSpPr>
                  <p:nvPr/>
                </p:nvSpPr>
                <p:spPr bwMode="auto">
                  <a:xfrm>
                    <a:off x="12644438" y="6370638"/>
                    <a:ext cx="1588" cy="1588"/>
                  </a:xfrm>
                  <a:prstGeom prst="lin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8" name="Freeform 724"/>
                  <p:cNvSpPr>
                    <a:spLocks/>
                  </p:cNvSpPr>
                  <p:nvPr/>
                </p:nvSpPr>
                <p:spPr bwMode="auto">
                  <a:xfrm>
                    <a:off x="12634913" y="6240463"/>
                    <a:ext cx="284163" cy="336550"/>
                  </a:xfrm>
                  <a:custGeom>
                    <a:avLst/>
                    <a:gdLst/>
                    <a:ahLst/>
                    <a:cxnLst>
                      <a:cxn ang="0">
                        <a:pos x="163" y="39"/>
                      </a:cxn>
                      <a:cxn ang="0">
                        <a:pos x="144" y="21"/>
                      </a:cxn>
                      <a:cxn ang="0">
                        <a:pos x="122" y="8"/>
                      </a:cxn>
                      <a:cxn ang="0">
                        <a:pos x="110" y="4"/>
                      </a:cxn>
                      <a:cxn ang="0">
                        <a:pos x="83" y="10"/>
                      </a:cxn>
                      <a:cxn ang="0">
                        <a:pos x="79" y="12"/>
                      </a:cxn>
                      <a:cxn ang="0">
                        <a:pos x="65" y="6"/>
                      </a:cxn>
                      <a:cxn ang="0">
                        <a:pos x="53" y="0"/>
                      </a:cxn>
                      <a:cxn ang="0">
                        <a:pos x="47" y="0"/>
                      </a:cxn>
                      <a:cxn ang="0">
                        <a:pos x="38" y="6"/>
                      </a:cxn>
                      <a:cxn ang="0">
                        <a:pos x="36" y="16"/>
                      </a:cxn>
                      <a:cxn ang="0">
                        <a:pos x="36" y="35"/>
                      </a:cxn>
                      <a:cxn ang="0">
                        <a:pos x="32" y="37"/>
                      </a:cxn>
                      <a:cxn ang="0">
                        <a:pos x="16" y="39"/>
                      </a:cxn>
                      <a:cxn ang="0">
                        <a:pos x="16" y="43"/>
                      </a:cxn>
                      <a:cxn ang="0">
                        <a:pos x="20" y="49"/>
                      </a:cxn>
                      <a:cxn ang="0">
                        <a:pos x="28" y="55"/>
                      </a:cxn>
                      <a:cxn ang="0">
                        <a:pos x="24" y="57"/>
                      </a:cxn>
                      <a:cxn ang="0">
                        <a:pos x="12" y="61"/>
                      </a:cxn>
                      <a:cxn ang="0">
                        <a:pos x="10" y="63"/>
                      </a:cxn>
                      <a:cxn ang="0">
                        <a:pos x="18" y="67"/>
                      </a:cxn>
                      <a:cxn ang="0">
                        <a:pos x="18" y="69"/>
                      </a:cxn>
                      <a:cxn ang="0">
                        <a:pos x="14" y="76"/>
                      </a:cxn>
                      <a:cxn ang="0">
                        <a:pos x="6" y="82"/>
                      </a:cxn>
                      <a:cxn ang="0">
                        <a:pos x="0" y="110"/>
                      </a:cxn>
                      <a:cxn ang="0">
                        <a:pos x="2" y="125"/>
                      </a:cxn>
                      <a:cxn ang="0">
                        <a:pos x="14" y="133"/>
                      </a:cxn>
                      <a:cxn ang="0">
                        <a:pos x="22" y="135"/>
                      </a:cxn>
                      <a:cxn ang="0">
                        <a:pos x="34" y="139"/>
                      </a:cxn>
                      <a:cxn ang="0">
                        <a:pos x="38" y="147"/>
                      </a:cxn>
                      <a:cxn ang="0">
                        <a:pos x="38" y="159"/>
                      </a:cxn>
                      <a:cxn ang="0">
                        <a:pos x="38" y="190"/>
                      </a:cxn>
                      <a:cxn ang="0">
                        <a:pos x="38" y="198"/>
                      </a:cxn>
                      <a:cxn ang="0">
                        <a:pos x="49" y="210"/>
                      </a:cxn>
                      <a:cxn ang="0">
                        <a:pos x="57" y="210"/>
                      </a:cxn>
                      <a:cxn ang="0">
                        <a:pos x="59" y="208"/>
                      </a:cxn>
                      <a:cxn ang="0">
                        <a:pos x="67" y="198"/>
                      </a:cxn>
                      <a:cxn ang="0">
                        <a:pos x="71" y="182"/>
                      </a:cxn>
                      <a:cxn ang="0">
                        <a:pos x="77" y="180"/>
                      </a:cxn>
                      <a:cxn ang="0">
                        <a:pos x="87" y="188"/>
                      </a:cxn>
                      <a:cxn ang="0">
                        <a:pos x="91" y="184"/>
                      </a:cxn>
                      <a:cxn ang="0">
                        <a:pos x="94" y="175"/>
                      </a:cxn>
                      <a:cxn ang="0">
                        <a:pos x="91" y="167"/>
                      </a:cxn>
                      <a:cxn ang="0">
                        <a:pos x="83" y="165"/>
                      </a:cxn>
                      <a:cxn ang="0">
                        <a:pos x="81" y="159"/>
                      </a:cxn>
                      <a:cxn ang="0">
                        <a:pos x="83" y="153"/>
                      </a:cxn>
                      <a:cxn ang="0">
                        <a:pos x="94" y="143"/>
                      </a:cxn>
                      <a:cxn ang="0">
                        <a:pos x="96" y="137"/>
                      </a:cxn>
                      <a:cxn ang="0">
                        <a:pos x="102" y="110"/>
                      </a:cxn>
                      <a:cxn ang="0">
                        <a:pos x="110" y="100"/>
                      </a:cxn>
                      <a:cxn ang="0">
                        <a:pos x="122" y="100"/>
                      </a:cxn>
                      <a:cxn ang="0">
                        <a:pos x="126" y="108"/>
                      </a:cxn>
                      <a:cxn ang="0">
                        <a:pos x="134" y="127"/>
                      </a:cxn>
                      <a:cxn ang="0">
                        <a:pos x="138" y="127"/>
                      </a:cxn>
                      <a:cxn ang="0">
                        <a:pos x="140" y="118"/>
                      </a:cxn>
                      <a:cxn ang="0">
                        <a:pos x="147" y="106"/>
                      </a:cxn>
                      <a:cxn ang="0">
                        <a:pos x="153" y="110"/>
                      </a:cxn>
                      <a:cxn ang="0">
                        <a:pos x="163" y="135"/>
                      </a:cxn>
                      <a:cxn ang="0">
                        <a:pos x="167" y="151"/>
                      </a:cxn>
                      <a:cxn ang="0">
                        <a:pos x="175" y="133"/>
                      </a:cxn>
                      <a:cxn ang="0">
                        <a:pos x="179" y="104"/>
                      </a:cxn>
                      <a:cxn ang="0">
                        <a:pos x="175" y="72"/>
                      </a:cxn>
                      <a:cxn ang="0">
                        <a:pos x="163" y="39"/>
                      </a:cxn>
                    </a:cxnLst>
                    <a:rect l="0" t="0" r="r" b="b"/>
                    <a:pathLst>
                      <a:path w="179" h="212">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9" name="Freeform 725"/>
                  <p:cNvSpPr>
                    <a:spLocks/>
                  </p:cNvSpPr>
                  <p:nvPr/>
                </p:nvSpPr>
                <p:spPr bwMode="auto">
                  <a:xfrm>
                    <a:off x="12700000" y="6330950"/>
                    <a:ext cx="57150" cy="46038"/>
                  </a:xfrm>
                  <a:custGeom>
                    <a:avLst/>
                    <a:gdLst/>
                    <a:ahLst/>
                    <a:cxnLst>
                      <a:cxn ang="0">
                        <a:pos x="36" y="23"/>
                      </a:cxn>
                      <a:cxn ang="0">
                        <a:pos x="36" y="23"/>
                      </a:cxn>
                      <a:cxn ang="0">
                        <a:pos x="34" y="25"/>
                      </a:cxn>
                      <a:cxn ang="0">
                        <a:pos x="32" y="27"/>
                      </a:cxn>
                      <a:cxn ang="0">
                        <a:pos x="26" y="29"/>
                      </a:cxn>
                      <a:cxn ang="0">
                        <a:pos x="20" y="27"/>
                      </a:cxn>
                      <a:cxn ang="0">
                        <a:pos x="14" y="25"/>
                      </a:cxn>
                      <a:cxn ang="0">
                        <a:pos x="14" y="25"/>
                      </a:cxn>
                      <a:cxn ang="0">
                        <a:pos x="10" y="21"/>
                      </a:cxn>
                      <a:cxn ang="0">
                        <a:pos x="10" y="21"/>
                      </a:cxn>
                      <a:cxn ang="0">
                        <a:pos x="4" y="17"/>
                      </a:cxn>
                      <a:cxn ang="0">
                        <a:pos x="4" y="17"/>
                      </a:cxn>
                      <a:cxn ang="0">
                        <a:pos x="0" y="12"/>
                      </a:cxn>
                      <a:cxn ang="0">
                        <a:pos x="0" y="8"/>
                      </a:cxn>
                      <a:cxn ang="0">
                        <a:pos x="0" y="6"/>
                      </a:cxn>
                      <a:cxn ang="0">
                        <a:pos x="0" y="6"/>
                      </a:cxn>
                      <a:cxn ang="0">
                        <a:pos x="2" y="2"/>
                      </a:cxn>
                      <a:cxn ang="0">
                        <a:pos x="6" y="0"/>
                      </a:cxn>
                      <a:cxn ang="0">
                        <a:pos x="8" y="0"/>
                      </a:cxn>
                      <a:cxn ang="0">
                        <a:pos x="8" y="0"/>
                      </a:cxn>
                      <a:cxn ang="0">
                        <a:pos x="10" y="2"/>
                      </a:cxn>
                      <a:cxn ang="0">
                        <a:pos x="10" y="4"/>
                      </a:cxn>
                      <a:cxn ang="0">
                        <a:pos x="10" y="8"/>
                      </a:cxn>
                      <a:cxn ang="0">
                        <a:pos x="12" y="10"/>
                      </a:cxn>
                      <a:cxn ang="0">
                        <a:pos x="12" y="10"/>
                      </a:cxn>
                      <a:cxn ang="0">
                        <a:pos x="14" y="12"/>
                      </a:cxn>
                      <a:cxn ang="0">
                        <a:pos x="16" y="10"/>
                      </a:cxn>
                      <a:cxn ang="0">
                        <a:pos x="20" y="4"/>
                      </a:cxn>
                      <a:cxn ang="0">
                        <a:pos x="20" y="4"/>
                      </a:cxn>
                      <a:cxn ang="0">
                        <a:pos x="24" y="4"/>
                      </a:cxn>
                      <a:cxn ang="0">
                        <a:pos x="26" y="4"/>
                      </a:cxn>
                      <a:cxn ang="0">
                        <a:pos x="32" y="8"/>
                      </a:cxn>
                      <a:cxn ang="0">
                        <a:pos x="34" y="15"/>
                      </a:cxn>
                      <a:cxn ang="0">
                        <a:pos x="36" y="23"/>
                      </a:cxn>
                      <a:cxn ang="0">
                        <a:pos x="36" y="23"/>
                      </a:cxn>
                    </a:cxnLst>
                    <a:rect l="0" t="0" r="r" b="b"/>
                    <a:pathLst>
                      <a:path w="36" h="29">
                        <a:moveTo>
                          <a:pt x="36" y="23"/>
                        </a:moveTo>
                        <a:lnTo>
                          <a:pt x="36" y="23"/>
                        </a:lnTo>
                        <a:lnTo>
                          <a:pt x="34" y="25"/>
                        </a:lnTo>
                        <a:lnTo>
                          <a:pt x="32" y="27"/>
                        </a:lnTo>
                        <a:lnTo>
                          <a:pt x="26" y="29"/>
                        </a:lnTo>
                        <a:lnTo>
                          <a:pt x="20" y="27"/>
                        </a:lnTo>
                        <a:lnTo>
                          <a:pt x="14" y="25"/>
                        </a:lnTo>
                        <a:lnTo>
                          <a:pt x="14" y="25"/>
                        </a:lnTo>
                        <a:lnTo>
                          <a:pt x="10" y="21"/>
                        </a:lnTo>
                        <a:lnTo>
                          <a:pt x="10" y="21"/>
                        </a:lnTo>
                        <a:lnTo>
                          <a:pt x="4" y="17"/>
                        </a:lnTo>
                        <a:lnTo>
                          <a:pt x="4" y="17"/>
                        </a:lnTo>
                        <a:lnTo>
                          <a:pt x="0" y="12"/>
                        </a:lnTo>
                        <a:lnTo>
                          <a:pt x="0" y="8"/>
                        </a:lnTo>
                        <a:lnTo>
                          <a:pt x="0" y="6"/>
                        </a:lnTo>
                        <a:lnTo>
                          <a:pt x="0" y="6"/>
                        </a:lnTo>
                        <a:lnTo>
                          <a:pt x="2" y="2"/>
                        </a:lnTo>
                        <a:lnTo>
                          <a:pt x="6" y="0"/>
                        </a:lnTo>
                        <a:lnTo>
                          <a:pt x="8" y="0"/>
                        </a:lnTo>
                        <a:lnTo>
                          <a:pt x="8" y="0"/>
                        </a:lnTo>
                        <a:lnTo>
                          <a:pt x="10" y="2"/>
                        </a:lnTo>
                        <a:lnTo>
                          <a:pt x="10" y="4"/>
                        </a:lnTo>
                        <a:lnTo>
                          <a:pt x="10" y="8"/>
                        </a:lnTo>
                        <a:lnTo>
                          <a:pt x="12" y="10"/>
                        </a:lnTo>
                        <a:lnTo>
                          <a:pt x="12" y="10"/>
                        </a:lnTo>
                        <a:lnTo>
                          <a:pt x="14" y="12"/>
                        </a:lnTo>
                        <a:lnTo>
                          <a:pt x="16" y="10"/>
                        </a:lnTo>
                        <a:lnTo>
                          <a:pt x="20" y="4"/>
                        </a:lnTo>
                        <a:lnTo>
                          <a:pt x="20" y="4"/>
                        </a:lnTo>
                        <a:lnTo>
                          <a:pt x="24" y="4"/>
                        </a:lnTo>
                        <a:lnTo>
                          <a:pt x="26" y="4"/>
                        </a:lnTo>
                        <a:lnTo>
                          <a:pt x="32" y="8"/>
                        </a:lnTo>
                        <a:lnTo>
                          <a:pt x="34" y="15"/>
                        </a:lnTo>
                        <a:lnTo>
                          <a:pt x="36" y="23"/>
                        </a:lnTo>
                        <a:lnTo>
                          <a:pt x="36" y="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0" name="Freeform 726"/>
                  <p:cNvSpPr>
                    <a:spLocks/>
                  </p:cNvSpPr>
                  <p:nvPr/>
                </p:nvSpPr>
                <p:spPr bwMode="auto">
                  <a:xfrm>
                    <a:off x="12442825" y="6215063"/>
                    <a:ext cx="185738" cy="187325"/>
                  </a:xfrm>
                  <a:custGeom>
                    <a:avLst/>
                    <a:gdLst/>
                    <a:ahLst/>
                    <a:cxnLst>
                      <a:cxn ang="0">
                        <a:pos x="15" y="102"/>
                      </a:cxn>
                      <a:cxn ang="0">
                        <a:pos x="7" y="98"/>
                      </a:cxn>
                      <a:cxn ang="0">
                        <a:pos x="2" y="90"/>
                      </a:cxn>
                      <a:cxn ang="0">
                        <a:pos x="0" y="81"/>
                      </a:cxn>
                      <a:cxn ang="0">
                        <a:pos x="5" y="63"/>
                      </a:cxn>
                      <a:cxn ang="0">
                        <a:pos x="11" y="55"/>
                      </a:cxn>
                      <a:cxn ang="0">
                        <a:pos x="51" y="20"/>
                      </a:cxn>
                      <a:cxn ang="0">
                        <a:pos x="58" y="18"/>
                      </a:cxn>
                      <a:cxn ang="0">
                        <a:pos x="62" y="22"/>
                      </a:cxn>
                      <a:cxn ang="0">
                        <a:pos x="68" y="22"/>
                      </a:cxn>
                      <a:cxn ang="0">
                        <a:pos x="82" y="8"/>
                      </a:cxn>
                      <a:cxn ang="0">
                        <a:pos x="92" y="2"/>
                      </a:cxn>
                      <a:cxn ang="0">
                        <a:pos x="102" y="0"/>
                      </a:cxn>
                      <a:cxn ang="0">
                        <a:pos x="115" y="4"/>
                      </a:cxn>
                      <a:cxn ang="0">
                        <a:pos x="117" y="12"/>
                      </a:cxn>
                      <a:cxn ang="0">
                        <a:pos x="111" y="24"/>
                      </a:cxn>
                      <a:cxn ang="0">
                        <a:pos x="102" y="30"/>
                      </a:cxn>
                      <a:cxn ang="0">
                        <a:pos x="86" y="45"/>
                      </a:cxn>
                      <a:cxn ang="0">
                        <a:pos x="80" y="43"/>
                      </a:cxn>
                      <a:cxn ang="0">
                        <a:pos x="80" y="39"/>
                      </a:cxn>
                      <a:cxn ang="0">
                        <a:pos x="82" y="32"/>
                      </a:cxn>
                      <a:cxn ang="0">
                        <a:pos x="84" y="22"/>
                      </a:cxn>
                      <a:cxn ang="0">
                        <a:pos x="84" y="20"/>
                      </a:cxn>
                      <a:cxn ang="0">
                        <a:pos x="76" y="20"/>
                      </a:cxn>
                      <a:cxn ang="0">
                        <a:pos x="72" y="28"/>
                      </a:cxn>
                      <a:cxn ang="0">
                        <a:pos x="72" y="32"/>
                      </a:cxn>
                      <a:cxn ang="0">
                        <a:pos x="72" y="41"/>
                      </a:cxn>
                      <a:cxn ang="0">
                        <a:pos x="66" y="47"/>
                      </a:cxn>
                      <a:cxn ang="0">
                        <a:pos x="64" y="51"/>
                      </a:cxn>
                      <a:cxn ang="0">
                        <a:pos x="68" y="61"/>
                      </a:cxn>
                      <a:cxn ang="0">
                        <a:pos x="66" y="67"/>
                      </a:cxn>
                      <a:cxn ang="0">
                        <a:pos x="60" y="73"/>
                      </a:cxn>
                      <a:cxn ang="0">
                        <a:pos x="39" y="83"/>
                      </a:cxn>
                      <a:cxn ang="0">
                        <a:pos x="35" y="85"/>
                      </a:cxn>
                      <a:cxn ang="0">
                        <a:pos x="25" y="98"/>
                      </a:cxn>
                      <a:cxn ang="0">
                        <a:pos x="23" y="100"/>
                      </a:cxn>
                      <a:cxn ang="0">
                        <a:pos x="25" y="106"/>
                      </a:cxn>
                      <a:cxn ang="0">
                        <a:pos x="31" y="114"/>
                      </a:cxn>
                      <a:cxn ang="0">
                        <a:pos x="31" y="118"/>
                      </a:cxn>
                      <a:cxn ang="0">
                        <a:pos x="23" y="112"/>
                      </a:cxn>
                      <a:cxn ang="0">
                        <a:pos x="15" y="102"/>
                      </a:cxn>
                      <a:cxn ang="0">
                        <a:pos x="15" y="102"/>
                      </a:cxn>
                    </a:cxnLst>
                    <a:rect l="0" t="0" r="r" b="b"/>
                    <a:pathLst>
                      <a:path w="117" h="118">
                        <a:moveTo>
                          <a:pt x="15" y="102"/>
                        </a:moveTo>
                        <a:lnTo>
                          <a:pt x="15" y="102"/>
                        </a:lnTo>
                        <a:lnTo>
                          <a:pt x="11" y="100"/>
                        </a:lnTo>
                        <a:lnTo>
                          <a:pt x="7" y="98"/>
                        </a:lnTo>
                        <a:lnTo>
                          <a:pt x="5" y="98"/>
                        </a:lnTo>
                        <a:lnTo>
                          <a:pt x="2" y="90"/>
                        </a:lnTo>
                        <a:lnTo>
                          <a:pt x="2" y="90"/>
                        </a:lnTo>
                        <a:lnTo>
                          <a:pt x="0" y="81"/>
                        </a:lnTo>
                        <a:lnTo>
                          <a:pt x="2" y="71"/>
                        </a:lnTo>
                        <a:lnTo>
                          <a:pt x="5" y="63"/>
                        </a:lnTo>
                        <a:lnTo>
                          <a:pt x="11" y="55"/>
                        </a:lnTo>
                        <a:lnTo>
                          <a:pt x="11" y="55"/>
                        </a:lnTo>
                        <a:lnTo>
                          <a:pt x="35" y="32"/>
                        </a:lnTo>
                        <a:lnTo>
                          <a:pt x="51" y="20"/>
                        </a:lnTo>
                        <a:lnTo>
                          <a:pt x="55" y="16"/>
                        </a:lnTo>
                        <a:lnTo>
                          <a:pt x="58" y="18"/>
                        </a:lnTo>
                        <a:lnTo>
                          <a:pt x="58" y="18"/>
                        </a:lnTo>
                        <a:lnTo>
                          <a:pt x="62" y="22"/>
                        </a:lnTo>
                        <a:lnTo>
                          <a:pt x="64" y="22"/>
                        </a:lnTo>
                        <a:lnTo>
                          <a:pt x="68" y="22"/>
                        </a:lnTo>
                        <a:lnTo>
                          <a:pt x="74" y="18"/>
                        </a:lnTo>
                        <a:lnTo>
                          <a:pt x="82" y="8"/>
                        </a:lnTo>
                        <a:lnTo>
                          <a:pt x="88" y="4"/>
                        </a:lnTo>
                        <a:lnTo>
                          <a:pt x="92" y="2"/>
                        </a:lnTo>
                        <a:lnTo>
                          <a:pt x="92" y="2"/>
                        </a:lnTo>
                        <a:lnTo>
                          <a:pt x="102" y="0"/>
                        </a:lnTo>
                        <a:lnTo>
                          <a:pt x="111" y="2"/>
                        </a:lnTo>
                        <a:lnTo>
                          <a:pt x="115" y="4"/>
                        </a:lnTo>
                        <a:lnTo>
                          <a:pt x="117" y="8"/>
                        </a:lnTo>
                        <a:lnTo>
                          <a:pt x="117" y="12"/>
                        </a:lnTo>
                        <a:lnTo>
                          <a:pt x="115" y="18"/>
                        </a:lnTo>
                        <a:lnTo>
                          <a:pt x="111" y="24"/>
                        </a:lnTo>
                        <a:lnTo>
                          <a:pt x="102" y="30"/>
                        </a:lnTo>
                        <a:lnTo>
                          <a:pt x="102" y="30"/>
                        </a:lnTo>
                        <a:lnTo>
                          <a:pt x="92" y="41"/>
                        </a:lnTo>
                        <a:lnTo>
                          <a:pt x="86" y="45"/>
                        </a:lnTo>
                        <a:lnTo>
                          <a:pt x="84" y="45"/>
                        </a:lnTo>
                        <a:lnTo>
                          <a:pt x="80" y="43"/>
                        </a:lnTo>
                        <a:lnTo>
                          <a:pt x="80" y="43"/>
                        </a:lnTo>
                        <a:lnTo>
                          <a:pt x="80" y="39"/>
                        </a:lnTo>
                        <a:lnTo>
                          <a:pt x="80" y="37"/>
                        </a:lnTo>
                        <a:lnTo>
                          <a:pt x="82" y="32"/>
                        </a:lnTo>
                        <a:lnTo>
                          <a:pt x="84" y="28"/>
                        </a:lnTo>
                        <a:lnTo>
                          <a:pt x="84" y="22"/>
                        </a:lnTo>
                        <a:lnTo>
                          <a:pt x="84" y="22"/>
                        </a:lnTo>
                        <a:lnTo>
                          <a:pt x="84" y="20"/>
                        </a:lnTo>
                        <a:lnTo>
                          <a:pt x="82" y="20"/>
                        </a:lnTo>
                        <a:lnTo>
                          <a:pt x="76" y="20"/>
                        </a:lnTo>
                        <a:lnTo>
                          <a:pt x="72" y="26"/>
                        </a:lnTo>
                        <a:lnTo>
                          <a:pt x="72" y="28"/>
                        </a:lnTo>
                        <a:lnTo>
                          <a:pt x="72" y="32"/>
                        </a:lnTo>
                        <a:lnTo>
                          <a:pt x="72" y="32"/>
                        </a:lnTo>
                        <a:lnTo>
                          <a:pt x="74" y="39"/>
                        </a:lnTo>
                        <a:lnTo>
                          <a:pt x="72" y="41"/>
                        </a:lnTo>
                        <a:lnTo>
                          <a:pt x="70" y="43"/>
                        </a:lnTo>
                        <a:lnTo>
                          <a:pt x="66" y="47"/>
                        </a:lnTo>
                        <a:lnTo>
                          <a:pt x="66" y="47"/>
                        </a:lnTo>
                        <a:lnTo>
                          <a:pt x="64" y="51"/>
                        </a:lnTo>
                        <a:lnTo>
                          <a:pt x="66" y="57"/>
                        </a:lnTo>
                        <a:lnTo>
                          <a:pt x="68" y="61"/>
                        </a:lnTo>
                        <a:lnTo>
                          <a:pt x="68" y="65"/>
                        </a:lnTo>
                        <a:lnTo>
                          <a:pt x="66" y="67"/>
                        </a:lnTo>
                        <a:lnTo>
                          <a:pt x="66" y="67"/>
                        </a:lnTo>
                        <a:lnTo>
                          <a:pt x="60" y="73"/>
                        </a:lnTo>
                        <a:lnTo>
                          <a:pt x="53" y="77"/>
                        </a:lnTo>
                        <a:lnTo>
                          <a:pt x="39" y="83"/>
                        </a:lnTo>
                        <a:lnTo>
                          <a:pt x="39" y="83"/>
                        </a:lnTo>
                        <a:lnTo>
                          <a:pt x="35" y="85"/>
                        </a:lnTo>
                        <a:lnTo>
                          <a:pt x="31" y="90"/>
                        </a:lnTo>
                        <a:lnTo>
                          <a:pt x="25" y="98"/>
                        </a:lnTo>
                        <a:lnTo>
                          <a:pt x="25" y="98"/>
                        </a:lnTo>
                        <a:lnTo>
                          <a:pt x="23" y="100"/>
                        </a:lnTo>
                        <a:lnTo>
                          <a:pt x="23" y="104"/>
                        </a:lnTo>
                        <a:lnTo>
                          <a:pt x="25" y="106"/>
                        </a:lnTo>
                        <a:lnTo>
                          <a:pt x="29" y="110"/>
                        </a:lnTo>
                        <a:lnTo>
                          <a:pt x="31" y="114"/>
                        </a:lnTo>
                        <a:lnTo>
                          <a:pt x="31" y="114"/>
                        </a:lnTo>
                        <a:lnTo>
                          <a:pt x="31" y="118"/>
                        </a:lnTo>
                        <a:lnTo>
                          <a:pt x="29" y="118"/>
                        </a:lnTo>
                        <a:lnTo>
                          <a:pt x="23" y="112"/>
                        </a:lnTo>
                        <a:lnTo>
                          <a:pt x="15" y="102"/>
                        </a:lnTo>
                        <a:lnTo>
                          <a:pt x="15" y="102"/>
                        </a:lnTo>
                        <a:lnTo>
                          <a:pt x="15" y="102"/>
                        </a:lnTo>
                        <a:lnTo>
                          <a:pt x="15" y="102"/>
                        </a:lnTo>
                        <a:lnTo>
                          <a:pt x="15" y="10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1" name="Freeform 727"/>
                  <p:cNvSpPr>
                    <a:spLocks/>
                  </p:cNvSpPr>
                  <p:nvPr/>
                </p:nvSpPr>
                <p:spPr bwMode="auto">
                  <a:xfrm>
                    <a:off x="12439650" y="6396038"/>
                    <a:ext cx="130175" cy="187325"/>
                  </a:xfrm>
                  <a:custGeom>
                    <a:avLst/>
                    <a:gdLst/>
                    <a:ahLst/>
                    <a:cxnLst>
                      <a:cxn ang="0">
                        <a:pos x="9" y="0"/>
                      </a:cxn>
                      <a:cxn ang="0">
                        <a:pos x="9" y="0"/>
                      </a:cxn>
                      <a:cxn ang="0">
                        <a:pos x="2" y="0"/>
                      </a:cxn>
                      <a:cxn ang="0">
                        <a:pos x="0" y="2"/>
                      </a:cxn>
                      <a:cxn ang="0">
                        <a:pos x="2" y="6"/>
                      </a:cxn>
                      <a:cxn ang="0">
                        <a:pos x="4" y="12"/>
                      </a:cxn>
                      <a:cxn ang="0">
                        <a:pos x="17" y="24"/>
                      </a:cxn>
                      <a:cxn ang="0">
                        <a:pos x="17" y="24"/>
                      </a:cxn>
                      <a:cxn ang="0">
                        <a:pos x="19" y="39"/>
                      </a:cxn>
                      <a:cxn ang="0">
                        <a:pos x="23" y="47"/>
                      </a:cxn>
                      <a:cxn ang="0">
                        <a:pos x="37" y="63"/>
                      </a:cxn>
                      <a:cxn ang="0">
                        <a:pos x="37" y="63"/>
                      </a:cxn>
                      <a:cxn ang="0">
                        <a:pos x="41" y="69"/>
                      </a:cxn>
                      <a:cxn ang="0">
                        <a:pos x="43" y="75"/>
                      </a:cxn>
                      <a:cxn ang="0">
                        <a:pos x="47" y="88"/>
                      </a:cxn>
                      <a:cxn ang="0">
                        <a:pos x="51" y="100"/>
                      </a:cxn>
                      <a:cxn ang="0">
                        <a:pos x="53" y="106"/>
                      </a:cxn>
                      <a:cxn ang="0">
                        <a:pos x="60" y="112"/>
                      </a:cxn>
                      <a:cxn ang="0">
                        <a:pos x="60" y="112"/>
                      </a:cxn>
                      <a:cxn ang="0">
                        <a:pos x="68" y="118"/>
                      </a:cxn>
                      <a:cxn ang="0">
                        <a:pos x="70" y="118"/>
                      </a:cxn>
                      <a:cxn ang="0">
                        <a:pos x="72" y="116"/>
                      </a:cxn>
                      <a:cxn ang="0">
                        <a:pos x="74" y="110"/>
                      </a:cxn>
                      <a:cxn ang="0">
                        <a:pos x="72" y="102"/>
                      </a:cxn>
                      <a:cxn ang="0">
                        <a:pos x="72" y="102"/>
                      </a:cxn>
                      <a:cxn ang="0">
                        <a:pos x="72" y="92"/>
                      </a:cxn>
                      <a:cxn ang="0">
                        <a:pos x="74" y="84"/>
                      </a:cxn>
                      <a:cxn ang="0">
                        <a:pos x="80" y="65"/>
                      </a:cxn>
                      <a:cxn ang="0">
                        <a:pos x="80" y="65"/>
                      </a:cxn>
                      <a:cxn ang="0">
                        <a:pos x="82" y="59"/>
                      </a:cxn>
                      <a:cxn ang="0">
                        <a:pos x="80" y="53"/>
                      </a:cxn>
                      <a:cxn ang="0">
                        <a:pos x="76" y="49"/>
                      </a:cxn>
                      <a:cxn ang="0">
                        <a:pos x="72" y="45"/>
                      </a:cxn>
                      <a:cxn ang="0">
                        <a:pos x="60" y="37"/>
                      </a:cxn>
                      <a:cxn ang="0">
                        <a:pos x="51" y="27"/>
                      </a:cxn>
                      <a:cxn ang="0">
                        <a:pos x="51" y="27"/>
                      </a:cxn>
                      <a:cxn ang="0">
                        <a:pos x="47" y="22"/>
                      </a:cxn>
                      <a:cxn ang="0">
                        <a:pos x="43" y="20"/>
                      </a:cxn>
                      <a:cxn ang="0">
                        <a:pos x="31" y="20"/>
                      </a:cxn>
                      <a:cxn ang="0">
                        <a:pos x="23" y="20"/>
                      </a:cxn>
                      <a:cxn ang="0">
                        <a:pos x="19" y="18"/>
                      </a:cxn>
                      <a:cxn ang="0">
                        <a:pos x="17" y="14"/>
                      </a:cxn>
                      <a:cxn ang="0">
                        <a:pos x="17" y="14"/>
                      </a:cxn>
                      <a:cxn ang="0">
                        <a:pos x="15" y="8"/>
                      </a:cxn>
                      <a:cxn ang="0">
                        <a:pos x="13" y="2"/>
                      </a:cxn>
                      <a:cxn ang="0">
                        <a:pos x="9" y="0"/>
                      </a:cxn>
                      <a:cxn ang="0">
                        <a:pos x="9" y="0"/>
                      </a:cxn>
                    </a:cxnLst>
                    <a:rect l="0" t="0" r="r" b="b"/>
                    <a:pathLst>
                      <a:path w="82" h="118">
                        <a:moveTo>
                          <a:pt x="9" y="0"/>
                        </a:moveTo>
                        <a:lnTo>
                          <a:pt x="9" y="0"/>
                        </a:lnTo>
                        <a:lnTo>
                          <a:pt x="2" y="0"/>
                        </a:lnTo>
                        <a:lnTo>
                          <a:pt x="0" y="2"/>
                        </a:lnTo>
                        <a:lnTo>
                          <a:pt x="2" y="6"/>
                        </a:lnTo>
                        <a:lnTo>
                          <a:pt x="4" y="12"/>
                        </a:lnTo>
                        <a:lnTo>
                          <a:pt x="17" y="24"/>
                        </a:lnTo>
                        <a:lnTo>
                          <a:pt x="17" y="24"/>
                        </a:lnTo>
                        <a:lnTo>
                          <a:pt x="19" y="39"/>
                        </a:lnTo>
                        <a:lnTo>
                          <a:pt x="23" y="47"/>
                        </a:lnTo>
                        <a:lnTo>
                          <a:pt x="37" y="63"/>
                        </a:lnTo>
                        <a:lnTo>
                          <a:pt x="37" y="63"/>
                        </a:lnTo>
                        <a:lnTo>
                          <a:pt x="41" y="69"/>
                        </a:lnTo>
                        <a:lnTo>
                          <a:pt x="43" y="75"/>
                        </a:lnTo>
                        <a:lnTo>
                          <a:pt x="47" y="88"/>
                        </a:lnTo>
                        <a:lnTo>
                          <a:pt x="51" y="100"/>
                        </a:lnTo>
                        <a:lnTo>
                          <a:pt x="53" y="106"/>
                        </a:lnTo>
                        <a:lnTo>
                          <a:pt x="60" y="112"/>
                        </a:lnTo>
                        <a:lnTo>
                          <a:pt x="60" y="112"/>
                        </a:lnTo>
                        <a:lnTo>
                          <a:pt x="68" y="118"/>
                        </a:lnTo>
                        <a:lnTo>
                          <a:pt x="70" y="118"/>
                        </a:lnTo>
                        <a:lnTo>
                          <a:pt x="72" y="116"/>
                        </a:lnTo>
                        <a:lnTo>
                          <a:pt x="74" y="110"/>
                        </a:lnTo>
                        <a:lnTo>
                          <a:pt x="72" y="102"/>
                        </a:lnTo>
                        <a:lnTo>
                          <a:pt x="72" y="102"/>
                        </a:lnTo>
                        <a:lnTo>
                          <a:pt x="72" y="92"/>
                        </a:lnTo>
                        <a:lnTo>
                          <a:pt x="74" y="84"/>
                        </a:lnTo>
                        <a:lnTo>
                          <a:pt x="80" y="65"/>
                        </a:lnTo>
                        <a:lnTo>
                          <a:pt x="80" y="65"/>
                        </a:lnTo>
                        <a:lnTo>
                          <a:pt x="82" y="59"/>
                        </a:lnTo>
                        <a:lnTo>
                          <a:pt x="80" y="53"/>
                        </a:lnTo>
                        <a:lnTo>
                          <a:pt x="76" y="49"/>
                        </a:lnTo>
                        <a:lnTo>
                          <a:pt x="72" y="45"/>
                        </a:lnTo>
                        <a:lnTo>
                          <a:pt x="60" y="37"/>
                        </a:lnTo>
                        <a:lnTo>
                          <a:pt x="51" y="27"/>
                        </a:lnTo>
                        <a:lnTo>
                          <a:pt x="51" y="27"/>
                        </a:lnTo>
                        <a:lnTo>
                          <a:pt x="47" y="22"/>
                        </a:lnTo>
                        <a:lnTo>
                          <a:pt x="43" y="20"/>
                        </a:lnTo>
                        <a:lnTo>
                          <a:pt x="31" y="20"/>
                        </a:lnTo>
                        <a:lnTo>
                          <a:pt x="23" y="20"/>
                        </a:lnTo>
                        <a:lnTo>
                          <a:pt x="19" y="18"/>
                        </a:lnTo>
                        <a:lnTo>
                          <a:pt x="17" y="14"/>
                        </a:lnTo>
                        <a:lnTo>
                          <a:pt x="17" y="14"/>
                        </a:lnTo>
                        <a:lnTo>
                          <a:pt x="15" y="8"/>
                        </a:lnTo>
                        <a:lnTo>
                          <a:pt x="13" y="2"/>
                        </a:lnTo>
                        <a:lnTo>
                          <a:pt x="9" y="0"/>
                        </a:lnTo>
                        <a:lnTo>
                          <a:pt x="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2" name="Freeform 728"/>
                  <p:cNvSpPr>
                    <a:spLocks/>
                  </p:cNvSpPr>
                  <p:nvPr/>
                </p:nvSpPr>
                <p:spPr bwMode="auto">
                  <a:xfrm>
                    <a:off x="12614275" y="6149975"/>
                    <a:ext cx="139700" cy="49213"/>
                  </a:xfrm>
                  <a:custGeom>
                    <a:avLst/>
                    <a:gdLst/>
                    <a:ahLst/>
                    <a:cxnLst>
                      <a:cxn ang="0">
                        <a:pos x="29" y="31"/>
                      </a:cxn>
                      <a:cxn ang="0">
                        <a:pos x="29" y="31"/>
                      </a:cxn>
                      <a:cxn ang="0">
                        <a:pos x="35" y="29"/>
                      </a:cxn>
                      <a:cxn ang="0">
                        <a:pos x="41" y="25"/>
                      </a:cxn>
                      <a:cxn ang="0">
                        <a:pos x="47" y="23"/>
                      </a:cxn>
                      <a:cxn ang="0">
                        <a:pos x="54" y="20"/>
                      </a:cxn>
                      <a:cxn ang="0">
                        <a:pos x="54" y="20"/>
                      </a:cxn>
                      <a:cxn ang="0">
                        <a:pos x="76" y="25"/>
                      </a:cxn>
                      <a:cxn ang="0">
                        <a:pos x="82" y="25"/>
                      </a:cxn>
                      <a:cxn ang="0">
                        <a:pos x="88" y="23"/>
                      </a:cxn>
                      <a:cxn ang="0">
                        <a:pos x="88" y="18"/>
                      </a:cxn>
                      <a:cxn ang="0">
                        <a:pos x="86" y="14"/>
                      </a:cxn>
                      <a:cxn ang="0">
                        <a:pos x="86" y="14"/>
                      </a:cxn>
                      <a:cxn ang="0">
                        <a:pos x="78" y="8"/>
                      </a:cxn>
                      <a:cxn ang="0">
                        <a:pos x="70" y="4"/>
                      </a:cxn>
                      <a:cxn ang="0">
                        <a:pos x="60" y="2"/>
                      </a:cxn>
                      <a:cxn ang="0">
                        <a:pos x="49" y="0"/>
                      </a:cxn>
                      <a:cxn ang="0">
                        <a:pos x="39" y="0"/>
                      </a:cxn>
                      <a:cxn ang="0">
                        <a:pos x="29" y="0"/>
                      </a:cxn>
                      <a:cxn ang="0">
                        <a:pos x="19" y="4"/>
                      </a:cxn>
                      <a:cxn ang="0">
                        <a:pos x="13" y="8"/>
                      </a:cxn>
                      <a:cxn ang="0">
                        <a:pos x="13" y="8"/>
                      </a:cxn>
                      <a:cxn ang="0">
                        <a:pos x="5" y="12"/>
                      </a:cxn>
                      <a:cxn ang="0">
                        <a:pos x="0" y="18"/>
                      </a:cxn>
                      <a:cxn ang="0">
                        <a:pos x="0" y="23"/>
                      </a:cxn>
                      <a:cxn ang="0">
                        <a:pos x="3" y="27"/>
                      </a:cxn>
                      <a:cxn ang="0">
                        <a:pos x="9" y="29"/>
                      </a:cxn>
                      <a:cxn ang="0">
                        <a:pos x="15" y="31"/>
                      </a:cxn>
                      <a:cxn ang="0">
                        <a:pos x="21" y="31"/>
                      </a:cxn>
                      <a:cxn ang="0">
                        <a:pos x="29" y="31"/>
                      </a:cxn>
                      <a:cxn ang="0">
                        <a:pos x="29" y="31"/>
                      </a:cxn>
                      <a:cxn ang="0">
                        <a:pos x="31" y="31"/>
                      </a:cxn>
                      <a:cxn ang="0">
                        <a:pos x="29" y="31"/>
                      </a:cxn>
                      <a:cxn ang="0">
                        <a:pos x="29" y="31"/>
                      </a:cxn>
                    </a:cxnLst>
                    <a:rect l="0" t="0" r="r" b="b"/>
                    <a:pathLst>
                      <a:path w="88" h="31">
                        <a:moveTo>
                          <a:pt x="29" y="31"/>
                        </a:moveTo>
                        <a:lnTo>
                          <a:pt x="29" y="31"/>
                        </a:lnTo>
                        <a:lnTo>
                          <a:pt x="35" y="29"/>
                        </a:lnTo>
                        <a:lnTo>
                          <a:pt x="41" y="25"/>
                        </a:lnTo>
                        <a:lnTo>
                          <a:pt x="47" y="23"/>
                        </a:lnTo>
                        <a:lnTo>
                          <a:pt x="54" y="20"/>
                        </a:lnTo>
                        <a:lnTo>
                          <a:pt x="54" y="20"/>
                        </a:lnTo>
                        <a:lnTo>
                          <a:pt x="76" y="25"/>
                        </a:lnTo>
                        <a:lnTo>
                          <a:pt x="82" y="25"/>
                        </a:lnTo>
                        <a:lnTo>
                          <a:pt x="88" y="23"/>
                        </a:lnTo>
                        <a:lnTo>
                          <a:pt x="88" y="18"/>
                        </a:lnTo>
                        <a:lnTo>
                          <a:pt x="86" y="14"/>
                        </a:lnTo>
                        <a:lnTo>
                          <a:pt x="86" y="14"/>
                        </a:lnTo>
                        <a:lnTo>
                          <a:pt x="78" y="8"/>
                        </a:lnTo>
                        <a:lnTo>
                          <a:pt x="70" y="4"/>
                        </a:lnTo>
                        <a:lnTo>
                          <a:pt x="60" y="2"/>
                        </a:lnTo>
                        <a:lnTo>
                          <a:pt x="49" y="0"/>
                        </a:lnTo>
                        <a:lnTo>
                          <a:pt x="39" y="0"/>
                        </a:lnTo>
                        <a:lnTo>
                          <a:pt x="29" y="0"/>
                        </a:lnTo>
                        <a:lnTo>
                          <a:pt x="19" y="4"/>
                        </a:lnTo>
                        <a:lnTo>
                          <a:pt x="13" y="8"/>
                        </a:lnTo>
                        <a:lnTo>
                          <a:pt x="13" y="8"/>
                        </a:lnTo>
                        <a:lnTo>
                          <a:pt x="5" y="12"/>
                        </a:lnTo>
                        <a:lnTo>
                          <a:pt x="0" y="18"/>
                        </a:lnTo>
                        <a:lnTo>
                          <a:pt x="0" y="23"/>
                        </a:lnTo>
                        <a:lnTo>
                          <a:pt x="3" y="27"/>
                        </a:lnTo>
                        <a:lnTo>
                          <a:pt x="9" y="29"/>
                        </a:lnTo>
                        <a:lnTo>
                          <a:pt x="15" y="31"/>
                        </a:lnTo>
                        <a:lnTo>
                          <a:pt x="21" y="31"/>
                        </a:lnTo>
                        <a:lnTo>
                          <a:pt x="29" y="31"/>
                        </a:lnTo>
                        <a:lnTo>
                          <a:pt x="29" y="31"/>
                        </a:lnTo>
                        <a:lnTo>
                          <a:pt x="31" y="31"/>
                        </a:lnTo>
                        <a:lnTo>
                          <a:pt x="29" y="31"/>
                        </a:lnTo>
                        <a:lnTo>
                          <a:pt x="29"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3" name="Freeform 729"/>
                  <p:cNvSpPr>
                    <a:spLocks/>
                  </p:cNvSpPr>
                  <p:nvPr/>
                </p:nvSpPr>
                <p:spPr bwMode="auto">
                  <a:xfrm>
                    <a:off x="12611100" y="6580188"/>
                    <a:ext cx="123825" cy="49213"/>
                  </a:xfrm>
                  <a:custGeom>
                    <a:avLst/>
                    <a:gdLst/>
                    <a:ahLst/>
                    <a:cxnLst>
                      <a:cxn ang="0">
                        <a:pos x="27" y="8"/>
                      </a:cxn>
                      <a:cxn ang="0">
                        <a:pos x="27" y="8"/>
                      </a:cxn>
                      <a:cxn ang="0">
                        <a:pos x="31" y="6"/>
                      </a:cxn>
                      <a:cxn ang="0">
                        <a:pos x="35" y="4"/>
                      </a:cxn>
                      <a:cxn ang="0">
                        <a:pos x="39" y="0"/>
                      </a:cxn>
                      <a:cxn ang="0">
                        <a:pos x="43" y="0"/>
                      </a:cxn>
                      <a:cxn ang="0">
                        <a:pos x="45" y="2"/>
                      </a:cxn>
                      <a:cxn ang="0">
                        <a:pos x="45" y="2"/>
                      </a:cxn>
                      <a:cxn ang="0">
                        <a:pos x="64" y="12"/>
                      </a:cxn>
                      <a:cxn ang="0">
                        <a:pos x="74" y="19"/>
                      </a:cxn>
                      <a:cxn ang="0">
                        <a:pos x="78" y="23"/>
                      </a:cxn>
                      <a:cxn ang="0">
                        <a:pos x="78" y="27"/>
                      </a:cxn>
                      <a:cxn ang="0">
                        <a:pos x="78" y="27"/>
                      </a:cxn>
                      <a:cxn ang="0">
                        <a:pos x="64" y="29"/>
                      </a:cxn>
                      <a:cxn ang="0">
                        <a:pos x="47" y="31"/>
                      </a:cxn>
                      <a:cxn ang="0">
                        <a:pos x="25" y="29"/>
                      </a:cxn>
                      <a:cxn ang="0">
                        <a:pos x="25" y="29"/>
                      </a:cxn>
                      <a:cxn ang="0">
                        <a:pos x="15" y="27"/>
                      </a:cxn>
                      <a:cxn ang="0">
                        <a:pos x="7" y="25"/>
                      </a:cxn>
                      <a:cxn ang="0">
                        <a:pos x="2" y="21"/>
                      </a:cxn>
                      <a:cxn ang="0">
                        <a:pos x="0" y="15"/>
                      </a:cxn>
                      <a:cxn ang="0">
                        <a:pos x="2" y="12"/>
                      </a:cxn>
                      <a:cxn ang="0">
                        <a:pos x="7" y="8"/>
                      </a:cxn>
                      <a:cxn ang="0">
                        <a:pos x="15" y="8"/>
                      </a:cxn>
                      <a:cxn ang="0">
                        <a:pos x="27" y="8"/>
                      </a:cxn>
                      <a:cxn ang="0">
                        <a:pos x="27" y="8"/>
                      </a:cxn>
                      <a:cxn ang="0">
                        <a:pos x="19" y="6"/>
                      </a:cxn>
                      <a:cxn ang="0">
                        <a:pos x="27" y="8"/>
                      </a:cxn>
                      <a:cxn ang="0">
                        <a:pos x="27" y="8"/>
                      </a:cxn>
                    </a:cxnLst>
                    <a:rect l="0" t="0" r="r" b="b"/>
                    <a:pathLst>
                      <a:path w="78" h="31">
                        <a:moveTo>
                          <a:pt x="27" y="8"/>
                        </a:moveTo>
                        <a:lnTo>
                          <a:pt x="27" y="8"/>
                        </a:lnTo>
                        <a:lnTo>
                          <a:pt x="31" y="6"/>
                        </a:lnTo>
                        <a:lnTo>
                          <a:pt x="35" y="4"/>
                        </a:lnTo>
                        <a:lnTo>
                          <a:pt x="39" y="0"/>
                        </a:lnTo>
                        <a:lnTo>
                          <a:pt x="43" y="0"/>
                        </a:lnTo>
                        <a:lnTo>
                          <a:pt x="45" y="2"/>
                        </a:lnTo>
                        <a:lnTo>
                          <a:pt x="45" y="2"/>
                        </a:lnTo>
                        <a:lnTo>
                          <a:pt x="64" y="12"/>
                        </a:lnTo>
                        <a:lnTo>
                          <a:pt x="74" y="19"/>
                        </a:lnTo>
                        <a:lnTo>
                          <a:pt x="78" y="23"/>
                        </a:lnTo>
                        <a:lnTo>
                          <a:pt x="78" y="27"/>
                        </a:lnTo>
                        <a:lnTo>
                          <a:pt x="78" y="27"/>
                        </a:lnTo>
                        <a:lnTo>
                          <a:pt x="64" y="29"/>
                        </a:lnTo>
                        <a:lnTo>
                          <a:pt x="47" y="31"/>
                        </a:lnTo>
                        <a:lnTo>
                          <a:pt x="25" y="29"/>
                        </a:lnTo>
                        <a:lnTo>
                          <a:pt x="25" y="29"/>
                        </a:lnTo>
                        <a:lnTo>
                          <a:pt x="15" y="27"/>
                        </a:lnTo>
                        <a:lnTo>
                          <a:pt x="7" y="25"/>
                        </a:lnTo>
                        <a:lnTo>
                          <a:pt x="2" y="21"/>
                        </a:lnTo>
                        <a:lnTo>
                          <a:pt x="0" y="15"/>
                        </a:lnTo>
                        <a:lnTo>
                          <a:pt x="2" y="12"/>
                        </a:lnTo>
                        <a:lnTo>
                          <a:pt x="7" y="8"/>
                        </a:lnTo>
                        <a:lnTo>
                          <a:pt x="15" y="8"/>
                        </a:lnTo>
                        <a:lnTo>
                          <a:pt x="27" y="8"/>
                        </a:lnTo>
                        <a:lnTo>
                          <a:pt x="27" y="8"/>
                        </a:lnTo>
                        <a:lnTo>
                          <a:pt x="19" y="6"/>
                        </a:lnTo>
                        <a:lnTo>
                          <a:pt x="27" y="8"/>
                        </a:lnTo>
                        <a:lnTo>
                          <a:pt x="27"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sp>
              <p:nvSpPr>
                <p:cNvPr id="196" name="Freeform 16"/>
                <p:cNvSpPr>
                  <a:spLocks noEditPoints="1"/>
                </p:cNvSpPr>
                <p:nvPr/>
              </p:nvSpPr>
              <p:spPr bwMode="auto">
                <a:xfrm>
                  <a:off x="11023437" y="3193582"/>
                  <a:ext cx="302235" cy="176958"/>
                </a:xfrm>
                <a:custGeom>
                  <a:avLst/>
                  <a:gdLst/>
                  <a:ahLst/>
                  <a:cxnLst>
                    <a:cxn ang="0">
                      <a:pos x="38" y="0"/>
                    </a:cxn>
                    <a:cxn ang="0">
                      <a:pos x="30" y="2"/>
                    </a:cxn>
                    <a:cxn ang="0">
                      <a:pos x="16" y="8"/>
                    </a:cxn>
                    <a:cxn ang="0">
                      <a:pos x="6" y="18"/>
                    </a:cxn>
                    <a:cxn ang="0">
                      <a:pos x="0" y="32"/>
                    </a:cxn>
                    <a:cxn ang="0">
                      <a:pos x="0" y="96"/>
                    </a:cxn>
                    <a:cxn ang="0">
                      <a:pos x="0" y="104"/>
                    </a:cxn>
                    <a:cxn ang="0">
                      <a:pos x="6" y="118"/>
                    </a:cxn>
                    <a:cxn ang="0">
                      <a:pos x="16" y="128"/>
                    </a:cxn>
                    <a:cxn ang="0">
                      <a:pos x="30" y="134"/>
                    </a:cxn>
                    <a:cxn ang="0">
                      <a:pos x="166" y="136"/>
                    </a:cxn>
                    <a:cxn ang="0">
                      <a:pos x="174" y="134"/>
                    </a:cxn>
                    <a:cxn ang="0">
                      <a:pos x="188" y="128"/>
                    </a:cxn>
                    <a:cxn ang="0">
                      <a:pos x="198" y="118"/>
                    </a:cxn>
                    <a:cxn ang="0">
                      <a:pos x="204" y="104"/>
                    </a:cxn>
                    <a:cxn ang="0">
                      <a:pos x="206" y="40"/>
                    </a:cxn>
                    <a:cxn ang="0">
                      <a:pos x="204" y="32"/>
                    </a:cxn>
                    <a:cxn ang="0">
                      <a:pos x="198" y="18"/>
                    </a:cxn>
                    <a:cxn ang="0">
                      <a:pos x="188" y="8"/>
                    </a:cxn>
                    <a:cxn ang="0">
                      <a:pos x="174" y="2"/>
                    </a:cxn>
                    <a:cxn ang="0">
                      <a:pos x="166" y="0"/>
                    </a:cxn>
                    <a:cxn ang="0">
                      <a:pos x="196" y="116"/>
                    </a:cxn>
                    <a:cxn ang="0">
                      <a:pos x="194" y="116"/>
                    </a:cxn>
                    <a:cxn ang="0">
                      <a:pos x="190" y="116"/>
                    </a:cxn>
                    <a:cxn ang="0">
                      <a:pos x="106" y="92"/>
                    </a:cxn>
                    <a:cxn ang="0">
                      <a:pos x="102" y="94"/>
                    </a:cxn>
                    <a:cxn ang="0">
                      <a:pos x="100" y="92"/>
                    </a:cxn>
                    <a:cxn ang="0">
                      <a:pos x="16" y="114"/>
                    </a:cxn>
                    <a:cxn ang="0">
                      <a:pos x="14" y="114"/>
                    </a:cxn>
                    <a:cxn ang="0">
                      <a:pos x="14" y="114"/>
                    </a:cxn>
                    <a:cxn ang="0">
                      <a:pos x="10" y="114"/>
                    </a:cxn>
                    <a:cxn ang="0">
                      <a:pos x="10" y="110"/>
                    </a:cxn>
                    <a:cxn ang="0">
                      <a:pos x="12" y="108"/>
                    </a:cxn>
                    <a:cxn ang="0">
                      <a:pos x="14" y="22"/>
                    </a:cxn>
                    <a:cxn ang="0">
                      <a:pos x="14" y="18"/>
                    </a:cxn>
                    <a:cxn ang="0">
                      <a:pos x="14" y="16"/>
                    </a:cxn>
                    <a:cxn ang="0">
                      <a:pos x="20" y="16"/>
                    </a:cxn>
                    <a:cxn ang="0">
                      <a:pos x="102" y="84"/>
                    </a:cxn>
                    <a:cxn ang="0">
                      <a:pos x="184" y="14"/>
                    </a:cxn>
                    <a:cxn ang="0">
                      <a:pos x="188" y="14"/>
                    </a:cxn>
                    <a:cxn ang="0">
                      <a:pos x="190" y="16"/>
                    </a:cxn>
                    <a:cxn ang="0">
                      <a:pos x="190" y="22"/>
                    </a:cxn>
                    <a:cxn ang="0">
                      <a:pos x="196" y="110"/>
                    </a:cxn>
                    <a:cxn ang="0">
                      <a:pos x="198" y="112"/>
                    </a:cxn>
                    <a:cxn ang="0">
                      <a:pos x="198" y="112"/>
                    </a:cxn>
                    <a:cxn ang="0">
                      <a:pos x="196" y="116"/>
                    </a:cxn>
                  </a:cxnLst>
                  <a:rect l="0" t="0" r="r" b="b"/>
                  <a:pathLst>
                    <a:path w="206" h="136">
                      <a:moveTo>
                        <a:pt x="166" y="0"/>
                      </a:moveTo>
                      <a:lnTo>
                        <a:pt x="38" y="0"/>
                      </a:lnTo>
                      <a:lnTo>
                        <a:pt x="38" y="0"/>
                      </a:lnTo>
                      <a:lnTo>
                        <a:pt x="30" y="2"/>
                      </a:lnTo>
                      <a:lnTo>
                        <a:pt x="24" y="4"/>
                      </a:lnTo>
                      <a:lnTo>
                        <a:pt x="16" y="8"/>
                      </a:lnTo>
                      <a:lnTo>
                        <a:pt x="10" y="12"/>
                      </a:lnTo>
                      <a:lnTo>
                        <a:pt x="6" y="18"/>
                      </a:lnTo>
                      <a:lnTo>
                        <a:pt x="2" y="24"/>
                      </a:lnTo>
                      <a:lnTo>
                        <a:pt x="0" y="32"/>
                      </a:lnTo>
                      <a:lnTo>
                        <a:pt x="0" y="40"/>
                      </a:lnTo>
                      <a:lnTo>
                        <a:pt x="0" y="96"/>
                      </a:lnTo>
                      <a:lnTo>
                        <a:pt x="0" y="96"/>
                      </a:lnTo>
                      <a:lnTo>
                        <a:pt x="0" y="104"/>
                      </a:lnTo>
                      <a:lnTo>
                        <a:pt x="2" y="112"/>
                      </a:lnTo>
                      <a:lnTo>
                        <a:pt x="6" y="118"/>
                      </a:lnTo>
                      <a:lnTo>
                        <a:pt x="10" y="124"/>
                      </a:lnTo>
                      <a:lnTo>
                        <a:pt x="16" y="128"/>
                      </a:lnTo>
                      <a:lnTo>
                        <a:pt x="24" y="132"/>
                      </a:lnTo>
                      <a:lnTo>
                        <a:pt x="30" y="134"/>
                      </a:lnTo>
                      <a:lnTo>
                        <a:pt x="38" y="136"/>
                      </a:lnTo>
                      <a:lnTo>
                        <a:pt x="166" y="136"/>
                      </a:lnTo>
                      <a:lnTo>
                        <a:pt x="166" y="136"/>
                      </a:lnTo>
                      <a:lnTo>
                        <a:pt x="174" y="134"/>
                      </a:lnTo>
                      <a:lnTo>
                        <a:pt x="182" y="132"/>
                      </a:lnTo>
                      <a:lnTo>
                        <a:pt x="188" y="128"/>
                      </a:lnTo>
                      <a:lnTo>
                        <a:pt x="194" y="124"/>
                      </a:lnTo>
                      <a:lnTo>
                        <a:pt x="198" y="118"/>
                      </a:lnTo>
                      <a:lnTo>
                        <a:pt x="202" y="112"/>
                      </a:lnTo>
                      <a:lnTo>
                        <a:pt x="204" y="104"/>
                      </a:lnTo>
                      <a:lnTo>
                        <a:pt x="206" y="96"/>
                      </a:lnTo>
                      <a:lnTo>
                        <a:pt x="206" y="40"/>
                      </a:lnTo>
                      <a:lnTo>
                        <a:pt x="206" y="40"/>
                      </a:lnTo>
                      <a:lnTo>
                        <a:pt x="204" y="32"/>
                      </a:lnTo>
                      <a:lnTo>
                        <a:pt x="202" y="24"/>
                      </a:lnTo>
                      <a:lnTo>
                        <a:pt x="198" y="18"/>
                      </a:lnTo>
                      <a:lnTo>
                        <a:pt x="194" y="12"/>
                      </a:lnTo>
                      <a:lnTo>
                        <a:pt x="188" y="8"/>
                      </a:lnTo>
                      <a:lnTo>
                        <a:pt x="182" y="4"/>
                      </a:lnTo>
                      <a:lnTo>
                        <a:pt x="174" y="2"/>
                      </a:lnTo>
                      <a:lnTo>
                        <a:pt x="166" y="0"/>
                      </a:lnTo>
                      <a:lnTo>
                        <a:pt x="166" y="0"/>
                      </a:lnTo>
                      <a:close/>
                      <a:moveTo>
                        <a:pt x="196" y="116"/>
                      </a:moveTo>
                      <a:lnTo>
                        <a:pt x="196" y="116"/>
                      </a:lnTo>
                      <a:lnTo>
                        <a:pt x="194" y="116"/>
                      </a:lnTo>
                      <a:lnTo>
                        <a:pt x="194" y="116"/>
                      </a:lnTo>
                      <a:lnTo>
                        <a:pt x="194" y="116"/>
                      </a:lnTo>
                      <a:lnTo>
                        <a:pt x="190" y="116"/>
                      </a:lnTo>
                      <a:lnTo>
                        <a:pt x="136" y="66"/>
                      </a:lnTo>
                      <a:lnTo>
                        <a:pt x="106" y="92"/>
                      </a:lnTo>
                      <a:lnTo>
                        <a:pt x="106" y="92"/>
                      </a:lnTo>
                      <a:lnTo>
                        <a:pt x="102" y="94"/>
                      </a:lnTo>
                      <a:lnTo>
                        <a:pt x="102" y="94"/>
                      </a:lnTo>
                      <a:lnTo>
                        <a:pt x="100" y="92"/>
                      </a:lnTo>
                      <a:lnTo>
                        <a:pt x="68" y="66"/>
                      </a:lnTo>
                      <a:lnTo>
                        <a:pt x="16" y="114"/>
                      </a:lnTo>
                      <a:lnTo>
                        <a:pt x="16" y="114"/>
                      </a:lnTo>
                      <a:lnTo>
                        <a:pt x="14" y="114"/>
                      </a:lnTo>
                      <a:lnTo>
                        <a:pt x="14" y="114"/>
                      </a:lnTo>
                      <a:lnTo>
                        <a:pt x="14" y="114"/>
                      </a:lnTo>
                      <a:lnTo>
                        <a:pt x="10" y="114"/>
                      </a:lnTo>
                      <a:lnTo>
                        <a:pt x="10" y="114"/>
                      </a:lnTo>
                      <a:lnTo>
                        <a:pt x="10" y="110"/>
                      </a:lnTo>
                      <a:lnTo>
                        <a:pt x="10" y="110"/>
                      </a:lnTo>
                      <a:lnTo>
                        <a:pt x="10" y="110"/>
                      </a:lnTo>
                      <a:lnTo>
                        <a:pt x="12" y="108"/>
                      </a:lnTo>
                      <a:lnTo>
                        <a:pt x="62" y="60"/>
                      </a:lnTo>
                      <a:lnTo>
                        <a:pt x="14" y="22"/>
                      </a:lnTo>
                      <a:lnTo>
                        <a:pt x="14" y="22"/>
                      </a:lnTo>
                      <a:lnTo>
                        <a:pt x="14" y="18"/>
                      </a:lnTo>
                      <a:lnTo>
                        <a:pt x="14" y="16"/>
                      </a:lnTo>
                      <a:lnTo>
                        <a:pt x="14" y="16"/>
                      </a:lnTo>
                      <a:lnTo>
                        <a:pt x="18" y="14"/>
                      </a:lnTo>
                      <a:lnTo>
                        <a:pt x="20" y="16"/>
                      </a:lnTo>
                      <a:lnTo>
                        <a:pt x="24" y="18"/>
                      </a:lnTo>
                      <a:lnTo>
                        <a:pt x="102" y="84"/>
                      </a:lnTo>
                      <a:lnTo>
                        <a:pt x="180" y="18"/>
                      </a:lnTo>
                      <a:lnTo>
                        <a:pt x="184" y="14"/>
                      </a:lnTo>
                      <a:lnTo>
                        <a:pt x="184" y="14"/>
                      </a:lnTo>
                      <a:lnTo>
                        <a:pt x="188" y="14"/>
                      </a:lnTo>
                      <a:lnTo>
                        <a:pt x="190" y="16"/>
                      </a:lnTo>
                      <a:lnTo>
                        <a:pt x="190" y="16"/>
                      </a:lnTo>
                      <a:lnTo>
                        <a:pt x="192" y="18"/>
                      </a:lnTo>
                      <a:lnTo>
                        <a:pt x="190" y="22"/>
                      </a:lnTo>
                      <a:lnTo>
                        <a:pt x="142" y="60"/>
                      </a:lnTo>
                      <a:lnTo>
                        <a:pt x="196" y="110"/>
                      </a:lnTo>
                      <a:lnTo>
                        <a:pt x="196" y="110"/>
                      </a:lnTo>
                      <a:lnTo>
                        <a:pt x="198" y="112"/>
                      </a:lnTo>
                      <a:lnTo>
                        <a:pt x="198" y="112"/>
                      </a:lnTo>
                      <a:lnTo>
                        <a:pt x="198" y="112"/>
                      </a:lnTo>
                      <a:lnTo>
                        <a:pt x="196" y="116"/>
                      </a:lnTo>
                      <a:lnTo>
                        <a:pt x="196" y="116"/>
                      </a:lnTo>
                      <a:close/>
                    </a:path>
                  </a:pathLst>
                </a:custGeom>
                <a:solidFill>
                  <a:srgbClr val="FFFFFF">
                    <a:lumMod val="9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nvGrpSpPr>
                <p:cNvPr id="197" name="组合 428"/>
                <p:cNvGrpSpPr/>
                <p:nvPr/>
              </p:nvGrpSpPr>
              <p:grpSpPr>
                <a:xfrm>
                  <a:off x="9885261" y="3403947"/>
                  <a:ext cx="577417" cy="296007"/>
                  <a:chOff x="6744313" y="3323223"/>
                  <a:chExt cx="545032" cy="296007"/>
                </a:xfrm>
                <a:solidFill>
                  <a:srgbClr val="FFFFFF">
                    <a:lumMod val="95000"/>
                  </a:srgbClr>
                </a:solidFill>
              </p:grpSpPr>
              <p:grpSp>
                <p:nvGrpSpPr>
                  <p:cNvPr id="209" name="组合 395"/>
                  <p:cNvGrpSpPr/>
                  <p:nvPr/>
                </p:nvGrpSpPr>
                <p:grpSpPr>
                  <a:xfrm>
                    <a:off x="6744313" y="3352800"/>
                    <a:ext cx="229499" cy="266430"/>
                    <a:chOff x="11139033" y="4151540"/>
                    <a:chExt cx="276225" cy="320675"/>
                  </a:xfrm>
                  <a:grpFill/>
                </p:grpSpPr>
                <p:sp>
                  <p:nvSpPr>
                    <p:cNvPr id="211" name="Freeform 32"/>
                    <p:cNvSpPr>
                      <a:spLocks/>
                    </p:cNvSpPr>
                    <p:nvPr/>
                  </p:nvSpPr>
                  <p:spPr bwMode="auto">
                    <a:xfrm>
                      <a:off x="11189833" y="4399190"/>
                      <a:ext cx="60325" cy="73025"/>
                    </a:xfrm>
                    <a:custGeom>
                      <a:avLst/>
                      <a:gdLst/>
                      <a:ahLst/>
                      <a:cxnLst>
                        <a:cxn ang="0">
                          <a:pos x="2" y="28"/>
                        </a:cxn>
                        <a:cxn ang="0">
                          <a:pos x="2" y="28"/>
                        </a:cxn>
                        <a:cxn ang="0">
                          <a:pos x="0" y="32"/>
                        </a:cxn>
                        <a:cxn ang="0">
                          <a:pos x="2" y="36"/>
                        </a:cxn>
                        <a:cxn ang="0">
                          <a:pos x="4" y="40"/>
                        </a:cxn>
                        <a:cxn ang="0">
                          <a:pos x="6" y="44"/>
                        </a:cxn>
                        <a:cxn ang="0">
                          <a:pos x="8" y="44"/>
                        </a:cxn>
                        <a:cxn ang="0">
                          <a:pos x="8" y="44"/>
                        </a:cxn>
                        <a:cxn ang="0">
                          <a:pos x="12" y="46"/>
                        </a:cxn>
                        <a:cxn ang="0">
                          <a:pos x="16" y="44"/>
                        </a:cxn>
                        <a:cxn ang="0">
                          <a:pos x="20" y="42"/>
                        </a:cxn>
                        <a:cxn ang="0">
                          <a:pos x="24" y="40"/>
                        </a:cxn>
                        <a:cxn ang="0">
                          <a:pos x="38" y="10"/>
                        </a:cxn>
                        <a:cxn ang="0">
                          <a:pos x="38" y="10"/>
                        </a:cxn>
                        <a:cxn ang="0">
                          <a:pos x="28" y="6"/>
                        </a:cxn>
                        <a:cxn ang="0">
                          <a:pos x="16" y="0"/>
                        </a:cxn>
                        <a:cxn ang="0">
                          <a:pos x="2" y="28"/>
                        </a:cxn>
                      </a:cxnLst>
                      <a:rect l="0" t="0" r="r" b="b"/>
                      <a:pathLst>
                        <a:path w="38" h="46">
                          <a:moveTo>
                            <a:pt x="2" y="28"/>
                          </a:moveTo>
                          <a:lnTo>
                            <a:pt x="2" y="28"/>
                          </a:lnTo>
                          <a:lnTo>
                            <a:pt x="0" y="32"/>
                          </a:lnTo>
                          <a:lnTo>
                            <a:pt x="2" y="36"/>
                          </a:lnTo>
                          <a:lnTo>
                            <a:pt x="4" y="40"/>
                          </a:lnTo>
                          <a:lnTo>
                            <a:pt x="6" y="44"/>
                          </a:lnTo>
                          <a:lnTo>
                            <a:pt x="8" y="44"/>
                          </a:lnTo>
                          <a:lnTo>
                            <a:pt x="8" y="44"/>
                          </a:lnTo>
                          <a:lnTo>
                            <a:pt x="12" y="46"/>
                          </a:lnTo>
                          <a:lnTo>
                            <a:pt x="16" y="44"/>
                          </a:lnTo>
                          <a:lnTo>
                            <a:pt x="20" y="42"/>
                          </a:lnTo>
                          <a:lnTo>
                            <a:pt x="24" y="40"/>
                          </a:lnTo>
                          <a:lnTo>
                            <a:pt x="38" y="10"/>
                          </a:lnTo>
                          <a:lnTo>
                            <a:pt x="38" y="10"/>
                          </a:lnTo>
                          <a:lnTo>
                            <a:pt x="28" y="6"/>
                          </a:lnTo>
                          <a:lnTo>
                            <a:pt x="16" y="0"/>
                          </a:lnTo>
                          <a:lnTo>
                            <a:pt x="2"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2" name="Freeform 33"/>
                    <p:cNvSpPr>
                      <a:spLocks/>
                    </p:cNvSpPr>
                    <p:nvPr/>
                  </p:nvSpPr>
                  <p:spPr bwMode="auto">
                    <a:xfrm>
                      <a:off x="11300958" y="4402365"/>
                      <a:ext cx="60325" cy="69850"/>
                    </a:xfrm>
                    <a:custGeom>
                      <a:avLst/>
                      <a:gdLst/>
                      <a:ahLst/>
                      <a:cxnLst>
                        <a:cxn ang="0">
                          <a:pos x="38" y="26"/>
                        </a:cxn>
                        <a:cxn ang="0">
                          <a:pos x="24" y="0"/>
                        </a:cxn>
                        <a:cxn ang="0">
                          <a:pos x="24" y="0"/>
                        </a:cxn>
                        <a:cxn ang="0">
                          <a:pos x="12" y="6"/>
                        </a:cxn>
                        <a:cxn ang="0">
                          <a:pos x="0" y="8"/>
                        </a:cxn>
                        <a:cxn ang="0">
                          <a:pos x="16" y="38"/>
                        </a:cxn>
                        <a:cxn ang="0">
                          <a:pos x="16" y="38"/>
                        </a:cxn>
                        <a:cxn ang="0">
                          <a:pos x="18" y="40"/>
                        </a:cxn>
                        <a:cxn ang="0">
                          <a:pos x="22" y="42"/>
                        </a:cxn>
                        <a:cxn ang="0">
                          <a:pos x="26" y="44"/>
                        </a:cxn>
                        <a:cxn ang="0">
                          <a:pos x="30" y="42"/>
                        </a:cxn>
                        <a:cxn ang="0">
                          <a:pos x="32" y="42"/>
                        </a:cxn>
                        <a:cxn ang="0">
                          <a:pos x="32" y="42"/>
                        </a:cxn>
                        <a:cxn ang="0">
                          <a:pos x="36" y="38"/>
                        </a:cxn>
                        <a:cxn ang="0">
                          <a:pos x="38" y="34"/>
                        </a:cxn>
                        <a:cxn ang="0">
                          <a:pos x="38" y="30"/>
                        </a:cxn>
                        <a:cxn ang="0">
                          <a:pos x="38" y="26"/>
                        </a:cxn>
                        <a:cxn ang="0">
                          <a:pos x="38" y="26"/>
                        </a:cxn>
                      </a:cxnLst>
                      <a:rect l="0" t="0" r="r" b="b"/>
                      <a:pathLst>
                        <a:path w="38" h="44">
                          <a:moveTo>
                            <a:pt x="38" y="26"/>
                          </a:moveTo>
                          <a:lnTo>
                            <a:pt x="24" y="0"/>
                          </a:lnTo>
                          <a:lnTo>
                            <a:pt x="24" y="0"/>
                          </a:lnTo>
                          <a:lnTo>
                            <a:pt x="12" y="6"/>
                          </a:lnTo>
                          <a:lnTo>
                            <a:pt x="0" y="8"/>
                          </a:lnTo>
                          <a:lnTo>
                            <a:pt x="16" y="38"/>
                          </a:lnTo>
                          <a:lnTo>
                            <a:pt x="16" y="38"/>
                          </a:lnTo>
                          <a:lnTo>
                            <a:pt x="18" y="40"/>
                          </a:lnTo>
                          <a:lnTo>
                            <a:pt x="22" y="42"/>
                          </a:lnTo>
                          <a:lnTo>
                            <a:pt x="26" y="44"/>
                          </a:lnTo>
                          <a:lnTo>
                            <a:pt x="30" y="42"/>
                          </a:lnTo>
                          <a:lnTo>
                            <a:pt x="32" y="42"/>
                          </a:lnTo>
                          <a:lnTo>
                            <a:pt x="32" y="42"/>
                          </a:lnTo>
                          <a:lnTo>
                            <a:pt x="36" y="38"/>
                          </a:lnTo>
                          <a:lnTo>
                            <a:pt x="38" y="34"/>
                          </a:lnTo>
                          <a:lnTo>
                            <a:pt x="38" y="30"/>
                          </a:lnTo>
                          <a:lnTo>
                            <a:pt x="38" y="26"/>
                          </a:lnTo>
                          <a:lnTo>
                            <a:pt x="38" y="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3" name="Freeform 34"/>
                    <p:cNvSpPr>
                      <a:spLocks noEditPoints="1"/>
                    </p:cNvSpPr>
                    <p:nvPr/>
                  </p:nvSpPr>
                  <p:spPr bwMode="auto">
                    <a:xfrm>
                      <a:off x="11139033" y="4151540"/>
                      <a:ext cx="276225" cy="276225"/>
                    </a:xfrm>
                    <a:custGeom>
                      <a:avLst/>
                      <a:gdLst/>
                      <a:ahLst/>
                      <a:cxnLst>
                        <a:cxn ang="0">
                          <a:pos x="86" y="0"/>
                        </a:cxn>
                        <a:cxn ang="0">
                          <a:pos x="52" y="6"/>
                        </a:cxn>
                        <a:cxn ang="0">
                          <a:pos x="26" y="26"/>
                        </a:cxn>
                        <a:cxn ang="0">
                          <a:pos x="6" y="54"/>
                        </a:cxn>
                        <a:cxn ang="0">
                          <a:pos x="0" y="86"/>
                        </a:cxn>
                        <a:cxn ang="0">
                          <a:pos x="2" y="104"/>
                        </a:cxn>
                        <a:cxn ang="0">
                          <a:pos x="14" y="136"/>
                        </a:cxn>
                        <a:cxn ang="0">
                          <a:pos x="38" y="160"/>
                        </a:cxn>
                        <a:cxn ang="0">
                          <a:pos x="68" y="172"/>
                        </a:cxn>
                        <a:cxn ang="0">
                          <a:pos x="86" y="174"/>
                        </a:cxn>
                        <a:cxn ang="0">
                          <a:pos x="120" y="168"/>
                        </a:cxn>
                        <a:cxn ang="0">
                          <a:pos x="148" y="148"/>
                        </a:cxn>
                        <a:cxn ang="0">
                          <a:pos x="166" y="120"/>
                        </a:cxn>
                        <a:cxn ang="0">
                          <a:pos x="174" y="86"/>
                        </a:cxn>
                        <a:cxn ang="0">
                          <a:pos x="172" y="70"/>
                        </a:cxn>
                        <a:cxn ang="0">
                          <a:pos x="158" y="38"/>
                        </a:cxn>
                        <a:cxn ang="0">
                          <a:pos x="136" y="14"/>
                        </a:cxn>
                        <a:cxn ang="0">
                          <a:pos x="104" y="2"/>
                        </a:cxn>
                        <a:cxn ang="0">
                          <a:pos x="86" y="0"/>
                        </a:cxn>
                        <a:cxn ang="0">
                          <a:pos x="86" y="162"/>
                        </a:cxn>
                        <a:cxn ang="0">
                          <a:pos x="62" y="156"/>
                        </a:cxn>
                        <a:cxn ang="0">
                          <a:pos x="42" y="144"/>
                        </a:cxn>
                        <a:cxn ang="0">
                          <a:pos x="30" y="124"/>
                        </a:cxn>
                        <a:cxn ang="0">
                          <a:pos x="24" y="100"/>
                        </a:cxn>
                        <a:cxn ang="0">
                          <a:pos x="26" y="88"/>
                        </a:cxn>
                        <a:cxn ang="0">
                          <a:pos x="36" y="66"/>
                        </a:cxn>
                        <a:cxn ang="0">
                          <a:pos x="52" y="48"/>
                        </a:cxn>
                        <a:cxn ang="0">
                          <a:pos x="74" y="40"/>
                        </a:cxn>
                        <a:cxn ang="0">
                          <a:pos x="86" y="38"/>
                        </a:cxn>
                        <a:cxn ang="0">
                          <a:pos x="110" y="42"/>
                        </a:cxn>
                        <a:cxn ang="0">
                          <a:pos x="130" y="56"/>
                        </a:cxn>
                        <a:cxn ang="0">
                          <a:pos x="144" y="76"/>
                        </a:cxn>
                        <a:cxn ang="0">
                          <a:pos x="148" y="100"/>
                        </a:cxn>
                        <a:cxn ang="0">
                          <a:pos x="148" y="112"/>
                        </a:cxn>
                        <a:cxn ang="0">
                          <a:pos x="138" y="134"/>
                        </a:cxn>
                        <a:cxn ang="0">
                          <a:pos x="122" y="152"/>
                        </a:cxn>
                        <a:cxn ang="0">
                          <a:pos x="98" y="160"/>
                        </a:cxn>
                        <a:cxn ang="0">
                          <a:pos x="86" y="162"/>
                        </a:cxn>
                      </a:cxnLst>
                      <a:rect l="0" t="0" r="r" b="b"/>
                      <a:pathLst>
                        <a:path w="174" h="174">
                          <a:moveTo>
                            <a:pt x="86" y="0"/>
                          </a:moveTo>
                          <a:lnTo>
                            <a:pt x="86" y="0"/>
                          </a:lnTo>
                          <a:lnTo>
                            <a:pt x="68" y="2"/>
                          </a:lnTo>
                          <a:lnTo>
                            <a:pt x="52" y="6"/>
                          </a:lnTo>
                          <a:lnTo>
                            <a:pt x="38" y="14"/>
                          </a:lnTo>
                          <a:lnTo>
                            <a:pt x="26" y="26"/>
                          </a:lnTo>
                          <a:lnTo>
                            <a:pt x="14" y="38"/>
                          </a:lnTo>
                          <a:lnTo>
                            <a:pt x="6" y="54"/>
                          </a:lnTo>
                          <a:lnTo>
                            <a:pt x="2" y="70"/>
                          </a:lnTo>
                          <a:lnTo>
                            <a:pt x="0" y="86"/>
                          </a:lnTo>
                          <a:lnTo>
                            <a:pt x="0" y="86"/>
                          </a:lnTo>
                          <a:lnTo>
                            <a:pt x="2" y="104"/>
                          </a:lnTo>
                          <a:lnTo>
                            <a:pt x="6" y="120"/>
                          </a:lnTo>
                          <a:lnTo>
                            <a:pt x="14" y="136"/>
                          </a:lnTo>
                          <a:lnTo>
                            <a:pt x="26" y="148"/>
                          </a:lnTo>
                          <a:lnTo>
                            <a:pt x="38" y="160"/>
                          </a:lnTo>
                          <a:lnTo>
                            <a:pt x="52" y="168"/>
                          </a:lnTo>
                          <a:lnTo>
                            <a:pt x="68" y="172"/>
                          </a:lnTo>
                          <a:lnTo>
                            <a:pt x="86" y="174"/>
                          </a:lnTo>
                          <a:lnTo>
                            <a:pt x="86" y="174"/>
                          </a:lnTo>
                          <a:lnTo>
                            <a:pt x="104" y="172"/>
                          </a:lnTo>
                          <a:lnTo>
                            <a:pt x="120" y="168"/>
                          </a:lnTo>
                          <a:lnTo>
                            <a:pt x="136" y="160"/>
                          </a:lnTo>
                          <a:lnTo>
                            <a:pt x="148" y="148"/>
                          </a:lnTo>
                          <a:lnTo>
                            <a:pt x="158" y="136"/>
                          </a:lnTo>
                          <a:lnTo>
                            <a:pt x="166" y="120"/>
                          </a:lnTo>
                          <a:lnTo>
                            <a:pt x="172" y="104"/>
                          </a:lnTo>
                          <a:lnTo>
                            <a:pt x="174" y="86"/>
                          </a:lnTo>
                          <a:lnTo>
                            <a:pt x="174" y="86"/>
                          </a:lnTo>
                          <a:lnTo>
                            <a:pt x="172" y="70"/>
                          </a:lnTo>
                          <a:lnTo>
                            <a:pt x="166" y="54"/>
                          </a:lnTo>
                          <a:lnTo>
                            <a:pt x="158" y="38"/>
                          </a:lnTo>
                          <a:lnTo>
                            <a:pt x="148" y="26"/>
                          </a:lnTo>
                          <a:lnTo>
                            <a:pt x="136" y="14"/>
                          </a:lnTo>
                          <a:lnTo>
                            <a:pt x="120" y="6"/>
                          </a:lnTo>
                          <a:lnTo>
                            <a:pt x="104" y="2"/>
                          </a:lnTo>
                          <a:lnTo>
                            <a:pt x="86" y="0"/>
                          </a:lnTo>
                          <a:lnTo>
                            <a:pt x="86" y="0"/>
                          </a:lnTo>
                          <a:close/>
                          <a:moveTo>
                            <a:pt x="86" y="162"/>
                          </a:moveTo>
                          <a:lnTo>
                            <a:pt x="86" y="162"/>
                          </a:lnTo>
                          <a:lnTo>
                            <a:pt x="74" y="160"/>
                          </a:lnTo>
                          <a:lnTo>
                            <a:pt x="62" y="156"/>
                          </a:lnTo>
                          <a:lnTo>
                            <a:pt x="52" y="152"/>
                          </a:lnTo>
                          <a:lnTo>
                            <a:pt x="42" y="144"/>
                          </a:lnTo>
                          <a:lnTo>
                            <a:pt x="36" y="134"/>
                          </a:lnTo>
                          <a:lnTo>
                            <a:pt x="30" y="124"/>
                          </a:lnTo>
                          <a:lnTo>
                            <a:pt x="26" y="112"/>
                          </a:lnTo>
                          <a:lnTo>
                            <a:pt x="24" y="100"/>
                          </a:lnTo>
                          <a:lnTo>
                            <a:pt x="24" y="100"/>
                          </a:lnTo>
                          <a:lnTo>
                            <a:pt x="26" y="88"/>
                          </a:lnTo>
                          <a:lnTo>
                            <a:pt x="30" y="76"/>
                          </a:lnTo>
                          <a:lnTo>
                            <a:pt x="36" y="66"/>
                          </a:lnTo>
                          <a:lnTo>
                            <a:pt x="42" y="56"/>
                          </a:lnTo>
                          <a:lnTo>
                            <a:pt x="52" y="48"/>
                          </a:lnTo>
                          <a:lnTo>
                            <a:pt x="62" y="42"/>
                          </a:lnTo>
                          <a:lnTo>
                            <a:pt x="74" y="40"/>
                          </a:lnTo>
                          <a:lnTo>
                            <a:pt x="86" y="38"/>
                          </a:lnTo>
                          <a:lnTo>
                            <a:pt x="86" y="38"/>
                          </a:lnTo>
                          <a:lnTo>
                            <a:pt x="98" y="40"/>
                          </a:lnTo>
                          <a:lnTo>
                            <a:pt x="110" y="42"/>
                          </a:lnTo>
                          <a:lnTo>
                            <a:pt x="122" y="48"/>
                          </a:lnTo>
                          <a:lnTo>
                            <a:pt x="130" y="56"/>
                          </a:lnTo>
                          <a:lnTo>
                            <a:pt x="138" y="66"/>
                          </a:lnTo>
                          <a:lnTo>
                            <a:pt x="144" y="76"/>
                          </a:lnTo>
                          <a:lnTo>
                            <a:pt x="148" y="88"/>
                          </a:lnTo>
                          <a:lnTo>
                            <a:pt x="148" y="100"/>
                          </a:lnTo>
                          <a:lnTo>
                            <a:pt x="148" y="100"/>
                          </a:lnTo>
                          <a:lnTo>
                            <a:pt x="148" y="112"/>
                          </a:lnTo>
                          <a:lnTo>
                            <a:pt x="144" y="124"/>
                          </a:lnTo>
                          <a:lnTo>
                            <a:pt x="138" y="134"/>
                          </a:lnTo>
                          <a:lnTo>
                            <a:pt x="130" y="144"/>
                          </a:lnTo>
                          <a:lnTo>
                            <a:pt x="122" y="152"/>
                          </a:lnTo>
                          <a:lnTo>
                            <a:pt x="110" y="156"/>
                          </a:lnTo>
                          <a:lnTo>
                            <a:pt x="98" y="160"/>
                          </a:lnTo>
                          <a:lnTo>
                            <a:pt x="86" y="162"/>
                          </a:lnTo>
                          <a:lnTo>
                            <a:pt x="86" y="1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4" name="Freeform 35"/>
                    <p:cNvSpPr>
                      <a:spLocks noEditPoints="1"/>
                    </p:cNvSpPr>
                    <p:nvPr/>
                  </p:nvSpPr>
                  <p:spPr bwMode="auto">
                    <a:xfrm>
                      <a:off x="11221583" y="4256315"/>
                      <a:ext cx="104775" cy="104775"/>
                    </a:xfrm>
                    <a:custGeom>
                      <a:avLst/>
                      <a:gdLst/>
                      <a:ahLst/>
                      <a:cxnLst>
                        <a:cxn ang="0">
                          <a:pos x="34" y="0"/>
                        </a:cxn>
                        <a:cxn ang="0">
                          <a:pos x="34" y="0"/>
                        </a:cxn>
                        <a:cxn ang="0">
                          <a:pos x="26" y="0"/>
                        </a:cxn>
                        <a:cxn ang="0">
                          <a:pos x="20" y="2"/>
                        </a:cxn>
                        <a:cxn ang="0">
                          <a:pos x="16" y="6"/>
                        </a:cxn>
                        <a:cxn ang="0">
                          <a:pos x="10" y="10"/>
                        </a:cxn>
                        <a:cxn ang="0">
                          <a:pos x="6" y="14"/>
                        </a:cxn>
                        <a:cxn ang="0">
                          <a:pos x="4" y="20"/>
                        </a:cxn>
                        <a:cxn ang="0">
                          <a:pos x="2" y="26"/>
                        </a:cxn>
                        <a:cxn ang="0">
                          <a:pos x="0" y="32"/>
                        </a:cxn>
                        <a:cxn ang="0">
                          <a:pos x="0" y="32"/>
                        </a:cxn>
                        <a:cxn ang="0">
                          <a:pos x="2" y="40"/>
                        </a:cxn>
                        <a:cxn ang="0">
                          <a:pos x="4" y="46"/>
                        </a:cxn>
                        <a:cxn ang="0">
                          <a:pos x="6" y="52"/>
                        </a:cxn>
                        <a:cxn ang="0">
                          <a:pos x="10" y="56"/>
                        </a:cxn>
                        <a:cxn ang="0">
                          <a:pos x="16" y="60"/>
                        </a:cxn>
                        <a:cxn ang="0">
                          <a:pos x="20" y="62"/>
                        </a:cxn>
                        <a:cxn ang="0">
                          <a:pos x="26" y="64"/>
                        </a:cxn>
                        <a:cxn ang="0">
                          <a:pos x="34" y="66"/>
                        </a:cxn>
                        <a:cxn ang="0">
                          <a:pos x="34" y="66"/>
                        </a:cxn>
                        <a:cxn ang="0">
                          <a:pos x="40" y="64"/>
                        </a:cxn>
                        <a:cxn ang="0">
                          <a:pos x="46" y="62"/>
                        </a:cxn>
                        <a:cxn ang="0">
                          <a:pos x="52" y="60"/>
                        </a:cxn>
                        <a:cxn ang="0">
                          <a:pos x="56" y="56"/>
                        </a:cxn>
                        <a:cxn ang="0">
                          <a:pos x="60" y="52"/>
                        </a:cxn>
                        <a:cxn ang="0">
                          <a:pos x="64" y="46"/>
                        </a:cxn>
                        <a:cxn ang="0">
                          <a:pos x="66" y="40"/>
                        </a:cxn>
                        <a:cxn ang="0">
                          <a:pos x="66" y="32"/>
                        </a:cxn>
                        <a:cxn ang="0">
                          <a:pos x="66" y="32"/>
                        </a:cxn>
                        <a:cxn ang="0">
                          <a:pos x="66" y="26"/>
                        </a:cxn>
                        <a:cxn ang="0">
                          <a:pos x="64" y="20"/>
                        </a:cxn>
                        <a:cxn ang="0">
                          <a:pos x="60" y="14"/>
                        </a:cxn>
                        <a:cxn ang="0">
                          <a:pos x="56" y="10"/>
                        </a:cxn>
                        <a:cxn ang="0">
                          <a:pos x="52" y="6"/>
                        </a:cxn>
                        <a:cxn ang="0">
                          <a:pos x="46" y="2"/>
                        </a:cxn>
                        <a:cxn ang="0">
                          <a:pos x="40" y="0"/>
                        </a:cxn>
                        <a:cxn ang="0">
                          <a:pos x="34" y="0"/>
                        </a:cxn>
                        <a:cxn ang="0">
                          <a:pos x="34" y="0"/>
                        </a:cxn>
                        <a:cxn ang="0">
                          <a:pos x="34" y="46"/>
                        </a:cxn>
                        <a:cxn ang="0">
                          <a:pos x="34" y="46"/>
                        </a:cxn>
                        <a:cxn ang="0">
                          <a:pos x="28" y="44"/>
                        </a:cxn>
                        <a:cxn ang="0">
                          <a:pos x="24" y="42"/>
                        </a:cxn>
                        <a:cxn ang="0">
                          <a:pos x="22" y="38"/>
                        </a:cxn>
                        <a:cxn ang="0">
                          <a:pos x="20" y="32"/>
                        </a:cxn>
                        <a:cxn ang="0">
                          <a:pos x="20" y="32"/>
                        </a:cxn>
                        <a:cxn ang="0">
                          <a:pos x="22" y="28"/>
                        </a:cxn>
                        <a:cxn ang="0">
                          <a:pos x="24" y="24"/>
                        </a:cxn>
                        <a:cxn ang="0">
                          <a:pos x="28" y="22"/>
                        </a:cxn>
                        <a:cxn ang="0">
                          <a:pos x="34" y="20"/>
                        </a:cxn>
                        <a:cxn ang="0">
                          <a:pos x="34" y="20"/>
                        </a:cxn>
                        <a:cxn ang="0">
                          <a:pos x="38" y="22"/>
                        </a:cxn>
                        <a:cxn ang="0">
                          <a:pos x="42" y="24"/>
                        </a:cxn>
                        <a:cxn ang="0">
                          <a:pos x="46" y="28"/>
                        </a:cxn>
                        <a:cxn ang="0">
                          <a:pos x="46" y="32"/>
                        </a:cxn>
                        <a:cxn ang="0">
                          <a:pos x="46" y="32"/>
                        </a:cxn>
                        <a:cxn ang="0">
                          <a:pos x="46" y="38"/>
                        </a:cxn>
                        <a:cxn ang="0">
                          <a:pos x="42" y="42"/>
                        </a:cxn>
                        <a:cxn ang="0">
                          <a:pos x="38" y="44"/>
                        </a:cxn>
                        <a:cxn ang="0">
                          <a:pos x="34" y="46"/>
                        </a:cxn>
                        <a:cxn ang="0">
                          <a:pos x="34" y="46"/>
                        </a:cxn>
                      </a:cxnLst>
                      <a:rect l="0" t="0" r="r" b="b"/>
                      <a:pathLst>
                        <a:path w="66" h="66">
                          <a:moveTo>
                            <a:pt x="34" y="0"/>
                          </a:moveTo>
                          <a:lnTo>
                            <a:pt x="34" y="0"/>
                          </a:lnTo>
                          <a:lnTo>
                            <a:pt x="26" y="0"/>
                          </a:lnTo>
                          <a:lnTo>
                            <a:pt x="20" y="2"/>
                          </a:lnTo>
                          <a:lnTo>
                            <a:pt x="16" y="6"/>
                          </a:lnTo>
                          <a:lnTo>
                            <a:pt x="10" y="10"/>
                          </a:lnTo>
                          <a:lnTo>
                            <a:pt x="6" y="14"/>
                          </a:lnTo>
                          <a:lnTo>
                            <a:pt x="4" y="20"/>
                          </a:lnTo>
                          <a:lnTo>
                            <a:pt x="2" y="26"/>
                          </a:lnTo>
                          <a:lnTo>
                            <a:pt x="0" y="32"/>
                          </a:lnTo>
                          <a:lnTo>
                            <a:pt x="0" y="32"/>
                          </a:lnTo>
                          <a:lnTo>
                            <a:pt x="2" y="40"/>
                          </a:lnTo>
                          <a:lnTo>
                            <a:pt x="4" y="46"/>
                          </a:lnTo>
                          <a:lnTo>
                            <a:pt x="6" y="52"/>
                          </a:lnTo>
                          <a:lnTo>
                            <a:pt x="10" y="56"/>
                          </a:lnTo>
                          <a:lnTo>
                            <a:pt x="16" y="60"/>
                          </a:lnTo>
                          <a:lnTo>
                            <a:pt x="20" y="62"/>
                          </a:lnTo>
                          <a:lnTo>
                            <a:pt x="26" y="64"/>
                          </a:lnTo>
                          <a:lnTo>
                            <a:pt x="34" y="66"/>
                          </a:lnTo>
                          <a:lnTo>
                            <a:pt x="34" y="66"/>
                          </a:lnTo>
                          <a:lnTo>
                            <a:pt x="40" y="64"/>
                          </a:lnTo>
                          <a:lnTo>
                            <a:pt x="46" y="62"/>
                          </a:lnTo>
                          <a:lnTo>
                            <a:pt x="52" y="60"/>
                          </a:lnTo>
                          <a:lnTo>
                            <a:pt x="56" y="56"/>
                          </a:lnTo>
                          <a:lnTo>
                            <a:pt x="60" y="52"/>
                          </a:lnTo>
                          <a:lnTo>
                            <a:pt x="64" y="46"/>
                          </a:lnTo>
                          <a:lnTo>
                            <a:pt x="66" y="40"/>
                          </a:lnTo>
                          <a:lnTo>
                            <a:pt x="66" y="32"/>
                          </a:lnTo>
                          <a:lnTo>
                            <a:pt x="66" y="32"/>
                          </a:lnTo>
                          <a:lnTo>
                            <a:pt x="66" y="26"/>
                          </a:lnTo>
                          <a:lnTo>
                            <a:pt x="64" y="20"/>
                          </a:lnTo>
                          <a:lnTo>
                            <a:pt x="60" y="14"/>
                          </a:lnTo>
                          <a:lnTo>
                            <a:pt x="56" y="10"/>
                          </a:lnTo>
                          <a:lnTo>
                            <a:pt x="52" y="6"/>
                          </a:lnTo>
                          <a:lnTo>
                            <a:pt x="46" y="2"/>
                          </a:lnTo>
                          <a:lnTo>
                            <a:pt x="40" y="0"/>
                          </a:lnTo>
                          <a:lnTo>
                            <a:pt x="34" y="0"/>
                          </a:lnTo>
                          <a:lnTo>
                            <a:pt x="34" y="0"/>
                          </a:lnTo>
                          <a:close/>
                          <a:moveTo>
                            <a:pt x="34" y="46"/>
                          </a:moveTo>
                          <a:lnTo>
                            <a:pt x="34" y="46"/>
                          </a:lnTo>
                          <a:lnTo>
                            <a:pt x="28" y="44"/>
                          </a:lnTo>
                          <a:lnTo>
                            <a:pt x="24" y="42"/>
                          </a:lnTo>
                          <a:lnTo>
                            <a:pt x="22" y="38"/>
                          </a:lnTo>
                          <a:lnTo>
                            <a:pt x="20" y="32"/>
                          </a:lnTo>
                          <a:lnTo>
                            <a:pt x="20" y="32"/>
                          </a:lnTo>
                          <a:lnTo>
                            <a:pt x="22" y="28"/>
                          </a:lnTo>
                          <a:lnTo>
                            <a:pt x="24" y="24"/>
                          </a:lnTo>
                          <a:lnTo>
                            <a:pt x="28" y="22"/>
                          </a:lnTo>
                          <a:lnTo>
                            <a:pt x="34" y="20"/>
                          </a:lnTo>
                          <a:lnTo>
                            <a:pt x="34" y="20"/>
                          </a:lnTo>
                          <a:lnTo>
                            <a:pt x="38" y="22"/>
                          </a:lnTo>
                          <a:lnTo>
                            <a:pt x="42" y="24"/>
                          </a:lnTo>
                          <a:lnTo>
                            <a:pt x="46" y="28"/>
                          </a:lnTo>
                          <a:lnTo>
                            <a:pt x="46" y="32"/>
                          </a:lnTo>
                          <a:lnTo>
                            <a:pt x="46" y="32"/>
                          </a:lnTo>
                          <a:lnTo>
                            <a:pt x="46" y="38"/>
                          </a:lnTo>
                          <a:lnTo>
                            <a:pt x="42" y="42"/>
                          </a:lnTo>
                          <a:lnTo>
                            <a:pt x="38" y="44"/>
                          </a:lnTo>
                          <a:lnTo>
                            <a:pt x="34" y="46"/>
                          </a:lnTo>
                          <a:lnTo>
                            <a:pt x="34"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sp>
                <p:nvSpPr>
                  <p:cNvPr id="210" name="Freeform 167"/>
                  <p:cNvSpPr>
                    <a:spLocks noEditPoints="1"/>
                  </p:cNvSpPr>
                  <p:nvPr/>
                </p:nvSpPr>
                <p:spPr bwMode="auto">
                  <a:xfrm>
                    <a:off x="6937210" y="3323223"/>
                    <a:ext cx="352135" cy="283578"/>
                  </a:xfrm>
                  <a:custGeom>
                    <a:avLst/>
                    <a:gdLst/>
                    <a:ahLst/>
                    <a:cxnLst>
                      <a:cxn ang="0">
                        <a:pos x="184" y="42"/>
                      </a:cxn>
                      <a:cxn ang="0">
                        <a:pos x="184" y="26"/>
                      </a:cxn>
                      <a:cxn ang="0">
                        <a:pos x="180" y="14"/>
                      </a:cxn>
                      <a:cxn ang="0">
                        <a:pos x="172" y="6"/>
                      </a:cxn>
                      <a:cxn ang="0">
                        <a:pos x="162" y="6"/>
                      </a:cxn>
                      <a:cxn ang="0">
                        <a:pos x="94" y="18"/>
                      </a:cxn>
                      <a:cxn ang="0">
                        <a:pos x="92" y="10"/>
                      </a:cxn>
                      <a:cxn ang="0">
                        <a:pos x="80" y="0"/>
                      </a:cxn>
                      <a:cxn ang="0">
                        <a:pos x="34" y="8"/>
                      </a:cxn>
                      <a:cxn ang="0">
                        <a:pos x="30" y="10"/>
                      </a:cxn>
                      <a:cxn ang="0">
                        <a:pos x="20" y="24"/>
                      </a:cxn>
                      <a:cxn ang="0">
                        <a:pos x="20" y="32"/>
                      </a:cxn>
                      <a:cxn ang="0">
                        <a:pos x="10" y="36"/>
                      </a:cxn>
                      <a:cxn ang="0">
                        <a:pos x="0" y="58"/>
                      </a:cxn>
                      <a:cxn ang="0">
                        <a:pos x="8" y="150"/>
                      </a:cxn>
                      <a:cxn ang="0">
                        <a:pos x="10" y="158"/>
                      </a:cxn>
                      <a:cxn ang="0">
                        <a:pos x="16" y="168"/>
                      </a:cxn>
                      <a:cxn ang="0">
                        <a:pos x="20" y="172"/>
                      </a:cxn>
                      <a:cxn ang="0">
                        <a:pos x="20" y="108"/>
                      </a:cxn>
                      <a:cxn ang="0">
                        <a:pos x="18" y="102"/>
                      </a:cxn>
                      <a:cxn ang="0">
                        <a:pos x="20" y="94"/>
                      </a:cxn>
                      <a:cxn ang="0">
                        <a:pos x="24" y="80"/>
                      </a:cxn>
                      <a:cxn ang="0">
                        <a:pos x="28" y="74"/>
                      </a:cxn>
                      <a:cxn ang="0">
                        <a:pos x="40" y="64"/>
                      </a:cxn>
                      <a:cxn ang="0">
                        <a:pos x="56" y="58"/>
                      </a:cxn>
                      <a:cxn ang="0">
                        <a:pos x="224" y="64"/>
                      </a:cxn>
                      <a:cxn ang="0">
                        <a:pos x="222" y="62"/>
                      </a:cxn>
                      <a:cxn ang="0">
                        <a:pos x="218" y="62"/>
                      </a:cxn>
                      <a:cxn ang="0">
                        <a:pos x="56" y="74"/>
                      </a:cxn>
                      <a:cxn ang="0">
                        <a:pos x="48" y="78"/>
                      </a:cxn>
                      <a:cxn ang="0">
                        <a:pos x="42" y="84"/>
                      </a:cxn>
                      <a:cxn ang="0">
                        <a:pos x="36" y="102"/>
                      </a:cxn>
                      <a:cxn ang="0">
                        <a:pos x="36" y="106"/>
                      </a:cxn>
                      <a:cxn ang="0">
                        <a:pos x="36" y="170"/>
                      </a:cxn>
                      <a:cxn ang="0">
                        <a:pos x="38" y="174"/>
                      </a:cxn>
                      <a:cxn ang="0">
                        <a:pos x="42" y="178"/>
                      </a:cxn>
                      <a:cxn ang="0">
                        <a:pos x="52" y="182"/>
                      </a:cxn>
                      <a:cxn ang="0">
                        <a:pos x="164" y="170"/>
                      </a:cxn>
                      <a:cxn ang="0">
                        <a:pos x="178" y="164"/>
                      </a:cxn>
                      <a:cxn ang="0">
                        <a:pos x="184" y="158"/>
                      </a:cxn>
                      <a:cxn ang="0">
                        <a:pos x="188" y="150"/>
                      </a:cxn>
                      <a:cxn ang="0">
                        <a:pos x="222" y="86"/>
                      </a:cxn>
                      <a:cxn ang="0">
                        <a:pos x="226" y="70"/>
                      </a:cxn>
                      <a:cxn ang="0">
                        <a:pos x="226" y="66"/>
                      </a:cxn>
                      <a:cxn ang="0">
                        <a:pos x="224" y="64"/>
                      </a:cxn>
                    </a:cxnLst>
                    <a:rect l="0" t="0" r="r" b="b"/>
                    <a:pathLst>
                      <a:path w="226" h="182">
                        <a:moveTo>
                          <a:pt x="182" y="48"/>
                        </a:moveTo>
                        <a:lnTo>
                          <a:pt x="184" y="42"/>
                        </a:lnTo>
                        <a:lnTo>
                          <a:pt x="184" y="42"/>
                        </a:lnTo>
                        <a:lnTo>
                          <a:pt x="184" y="26"/>
                        </a:lnTo>
                        <a:lnTo>
                          <a:pt x="182" y="20"/>
                        </a:lnTo>
                        <a:lnTo>
                          <a:pt x="180" y="14"/>
                        </a:lnTo>
                        <a:lnTo>
                          <a:pt x="176" y="10"/>
                        </a:lnTo>
                        <a:lnTo>
                          <a:pt x="172" y="6"/>
                        </a:lnTo>
                        <a:lnTo>
                          <a:pt x="168" y="4"/>
                        </a:lnTo>
                        <a:lnTo>
                          <a:pt x="162" y="6"/>
                        </a:lnTo>
                        <a:lnTo>
                          <a:pt x="94" y="18"/>
                        </a:lnTo>
                        <a:lnTo>
                          <a:pt x="94" y="18"/>
                        </a:lnTo>
                        <a:lnTo>
                          <a:pt x="94" y="14"/>
                        </a:lnTo>
                        <a:lnTo>
                          <a:pt x="92" y="10"/>
                        </a:lnTo>
                        <a:lnTo>
                          <a:pt x="86" y="4"/>
                        </a:lnTo>
                        <a:lnTo>
                          <a:pt x="80" y="0"/>
                        </a:lnTo>
                        <a:lnTo>
                          <a:pt x="72" y="0"/>
                        </a:lnTo>
                        <a:lnTo>
                          <a:pt x="34" y="8"/>
                        </a:lnTo>
                        <a:lnTo>
                          <a:pt x="34" y="8"/>
                        </a:lnTo>
                        <a:lnTo>
                          <a:pt x="30" y="10"/>
                        </a:lnTo>
                        <a:lnTo>
                          <a:pt x="24" y="16"/>
                        </a:lnTo>
                        <a:lnTo>
                          <a:pt x="20" y="24"/>
                        </a:lnTo>
                        <a:lnTo>
                          <a:pt x="20" y="32"/>
                        </a:lnTo>
                        <a:lnTo>
                          <a:pt x="20" y="32"/>
                        </a:lnTo>
                        <a:lnTo>
                          <a:pt x="14" y="34"/>
                        </a:lnTo>
                        <a:lnTo>
                          <a:pt x="10" y="36"/>
                        </a:lnTo>
                        <a:lnTo>
                          <a:pt x="4" y="46"/>
                        </a:lnTo>
                        <a:lnTo>
                          <a:pt x="0" y="58"/>
                        </a:lnTo>
                        <a:lnTo>
                          <a:pt x="0" y="74"/>
                        </a:lnTo>
                        <a:lnTo>
                          <a:pt x="8" y="150"/>
                        </a:lnTo>
                        <a:lnTo>
                          <a:pt x="8" y="150"/>
                        </a:lnTo>
                        <a:lnTo>
                          <a:pt x="10" y="158"/>
                        </a:lnTo>
                        <a:lnTo>
                          <a:pt x="12" y="164"/>
                        </a:lnTo>
                        <a:lnTo>
                          <a:pt x="16" y="168"/>
                        </a:lnTo>
                        <a:lnTo>
                          <a:pt x="20" y="172"/>
                        </a:lnTo>
                        <a:lnTo>
                          <a:pt x="20" y="172"/>
                        </a:lnTo>
                        <a:lnTo>
                          <a:pt x="20" y="170"/>
                        </a:lnTo>
                        <a:lnTo>
                          <a:pt x="20" y="108"/>
                        </a:lnTo>
                        <a:lnTo>
                          <a:pt x="20" y="108"/>
                        </a:lnTo>
                        <a:lnTo>
                          <a:pt x="18" y="102"/>
                        </a:lnTo>
                        <a:lnTo>
                          <a:pt x="18" y="102"/>
                        </a:lnTo>
                        <a:lnTo>
                          <a:pt x="20" y="94"/>
                        </a:lnTo>
                        <a:lnTo>
                          <a:pt x="22" y="88"/>
                        </a:lnTo>
                        <a:lnTo>
                          <a:pt x="24" y="80"/>
                        </a:lnTo>
                        <a:lnTo>
                          <a:pt x="28" y="74"/>
                        </a:lnTo>
                        <a:lnTo>
                          <a:pt x="28" y="74"/>
                        </a:lnTo>
                        <a:lnTo>
                          <a:pt x="34" y="68"/>
                        </a:lnTo>
                        <a:lnTo>
                          <a:pt x="40" y="64"/>
                        </a:lnTo>
                        <a:lnTo>
                          <a:pt x="48" y="60"/>
                        </a:lnTo>
                        <a:lnTo>
                          <a:pt x="56" y="58"/>
                        </a:lnTo>
                        <a:lnTo>
                          <a:pt x="182" y="48"/>
                        </a:lnTo>
                        <a:close/>
                        <a:moveTo>
                          <a:pt x="224" y="64"/>
                        </a:moveTo>
                        <a:lnTo>
                          <a:pt x="224" y="64"/>
                        </a:lnTo>
                        <a:lnTo>
                          <a:pt x="222" y="62"/>
                        </a:lnTo>
                        <a:lnTo>
                          <a:pt x="218" y="62"/>
                        </a:lnTo>
                        <a:lnTo>
                          <a:pt x="218" y="62"/>
                        </a:lnTo>
                        <a:lnTo>
                          <a:pt x="180" y="64"/>
                        </a:lnTo>
                        <a:lnTo>
                          <a:pt x="56" y="74"/>
                        </a:lnTo>
                        <a:lnTo>
                          <a:pt x="56" y="74"/>
                        </a:lnTo>
                        <a:lnTo>
                          <a:pt x="48" y="78"/>
                        </a:lnTo>
                        <a:lnTo>
                          <a:pt x="42" y="84"/>
                        </a:lnTo>
                        <a:lnTo>
                          <a:pt x="42" y="84"/>
                        </a:lnTo>
                        <a:lnTo>
                          <a:pt x="38" y="92"/>
                        </a:lnTo>
                        <a:lnTo>
                          <a:pt x="36" y="102"/>
                        </a:lnTo>
                        <a:lnTo>
                          <a:pt x="36" y="102"/>
                        </a:lnTo>
                        <a:lnTo>
                          <a:pt x="36" y="106"/>
                        </a:lnTo>
                        <a:lnTo>
                          <a:pt x="36" y="106"/>
                        </a:lnTo>
                        <a:lnTo>
                          <a:pt x="36" y="170"/>
                        </a:lnTo>
                        <a:lnTo>
                          <a:pt x="36" y="170"/>
                        </a:lnTo>
                        <a:lnTo>
                          <a:pt x="38" y="174"/>
                        </a:lnTo>
                        <a:lnTo>
                          <a:pt x="38" y="174"/>
                        </a:lnTo>
                        <a:lnTo>
                          <a:pt x="42" y="178"/>
                        </a:lnTo>
                        <a:lnTo>
                          <a:pt x="50" y="182"/>
                        </a:lnTo>
                        <a:lnTo>
                          <a:pt x="52" y="182"/>
                        </a:lnTo>
                        <a:lnTo>
                          <a:pt x="164" y="170"/>
                        </a:lnTo>
                        <a:lnTo>
                          <a:pt x="164" y="170"/>
                        </a:lnTo>
                        <a:lnTo>
                          <a:pt x="170" y="168"/>
                        </a:lnTo>
                        <a:lnTo>
                          <a:pt x="178" y="164"/>
                        </a:lnTo>
                        <a:lnTo>
                          <a:pt x="178" y="164"/>
                        </a:lnTo>
                        <a:lnTo>
                          <a:pt x="184" y="158"/>
                        </a:lnTo>
                        <a:lnTo>
                          <a:pt x="188" y="152"/>
                        </a:lnTo>
                        <a:lnTo>
                          <a:pt x="188" y="150"/>
                        </a:lnTo>
                        <a:lnTo>
                          <a:pt x="222" y="86"/>
                        </a:lnTo>
                        <a:lnTo>
                          <a:pt x="222" y="86"/>
                        </a:lnTo>
                        <a:lnTo>
                          <a:pt x="224" y="78"/>
                        </a:lnTo>
                        <a:lnTo>
                          <a:pt x="226" y="70"/>
                        </a:lnTo>
                        <a:lnTo>
                          <a:pt x="226" y="70"/>
                        </a:lnTo>
                        <a:lnTo>
                          <a:pt x="226" y="66"/>
                        </a:lnTo>
                        <a:lnTo>
                          <a:pt x="224" y="64"/>
                        </a:lnTo>
                        <a:lnTo>
                          <a:pt x="224" y="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grpSp>
              <p:nvGrpSpPr>
                <p:cNvPr id="198" name="组合 723"/>
                <p:cNvGrpSpPr/>
                <p:nvPr/>
              </p:nvGrpSpPr>
              <p:grpSpPr>
                <a:xfrm>
                  <a:off x="10471722" y="3392414"/>
                  <a:ext cx="488839" cy="319087"/>
                  <a:chOff x="9855200" y="3744913"/>
                  <a:chExt cx="1255713" cy="868362"/>
                </a:xfrm>
                <a:solidFill>
                  <a:srgbClr val="FFFFFF">
                    <a:lumMod val="95000"/>
                  </a:srgbClr>
                </a:solidFill>
              </p:grpSpPr>
              <p:sp>
                <p:nvSpPr>
                  <p:cNvPr id="204" name="Freeform 312"/>
                  <p:cNvSpPr>
                    <a:spLocks/>
                  </p:cNvSpPr>
                  <p:nvPr/>
                </p:nvSpPr>
                <p:spPr bwMode="auto">
                  <a:xfrm>
                    <a:off x="9896475" y="3919538"/>
                    <a:ext cx="998538" cy="666750"/>
                  </a:xfrm>
                  <a:custGeom>
                    <a:avLst/>
                    <a:gdLst/>
                    <a:ahLst/>
                    <a:cxnLst>
                      <a:cxn ang="0">
                        <a:pos x="260" y="2202"/>
                      </a:cxn>
                      <a:cxn ang="0">
                        <a:pos x="2143" y="2202"/>
                      </a:cxn>
                      <a:cxn ang="0">
                        <a:pos x="2143" y="619"/>
                      </a:cxn>
                      <a:cxn ang="0">
                        <a:pos x="2718" y="619"/>
                      </a:cxn>
                      <a:cxn ang="0">
                        <a:pos x="2718" y="2202"/>
                      </a:cxn>
                      <a:cxn ang="0">
                        <a:pos x="4314" y="2202"/>
                      </a:cxn>
                      <a:cxn ang="0">
                        <a:pos x="4314" y="2274"/>
                      </a:cxn>
                      <a:cxn ang="0">
                        <a:pos x="4314" y="2777"/>
                      </a:cxn>
                      <a:cxn ang="0">
                        <a:pos x="4314" y="5752"/>
                      </a:cxn>
                      <a:cxn ang="0">
                        <a:pos x="8420" y="5752"/>
                      </a:cxn>
                      <a:cxn ang="0">
                        <a:pos x="9343" y="4844"/>
                      </a:cxn>
                      <a:cxn ang="0">
                        <a:pos x="4574" y="0"/>
                      </a:cxn>
                      <a:cxn ang="0">
                        <a:pos x="5381" y="0"/>
                      </a:cxn>
                      <a:cxn ang="0">
                        <a:pos x="7501" y="2152"/>
                      </a:cxn>
                      <a:cxn ang="0">
                        <a:pos x="9202" y="441"/>
                      </a:cxn>
                      <a:cxn ang="0">
                        <a:pos x="10012" y="441"/>
                      </a:cxn>
                      <a:cxn ang="0">
                        <a:pos x="7904" y="2562"/>
                      </a:cxn>
                      <a:cxn ang="0">
                        <a:pos x="9753" y="4441"/>
                      </a:cxn>
                      <a:cxn ang="0">
                        <a:pos x="13116" y="1133"/>
                      </a:cxn>
                      <a:cxn ang="0">
                        <a:pos x="13116" y="1859"/>
                      </a:cxn>
                      <a:cxn ang="0">
                        <a:pos x="13199" y="1859"/>
                      </a:cxn>
                      <a:cxn ang="0">
                        <a:pos x="9240" y="5752"/>
                      </a:cxn>
                      <a:cxn ang="0">
                        <a:pos x="12624" y="5752"/>
                      </a:cxn>
                      <a:cxn ang="0">
                        <a:pos x="12624" y="6327"/>
                      </a:cxn>
                      <a:cxn ang="0">
                        <a:pos x="8656" y="6327"/>
                      </a:cxn>
                      <a:cxn ang="0">
                        <a:pos x="6127" y="8815"/>
                      </a:cxn>
                      <a:cxn ang="0">
                        <a:pos x="5724" y="8405"/>
                      </a:cxn>
                      <a:cxn ang="0">
                        <a:pos x="7835" y="6327"/>
                      </a:cxn>
                      <a:cxn ang="0">
                        <a:pos x="4314" y="6327"/>
                      </a:cxn>
                      <a:cxn ang="0">
                        <a:pos x="3825" y="6327"/>
                      </a:cxn>
                      <a:cxn ang="0">
                        <a:pos x="3739" y="6327"/>
                      </a:cxn>
                      <a:cxn ang="0">
                        <a:pos x="3739" y="2777"/>
                      </a:cxn>
                      <a:cxn ang="0">
                        <a:pos x="2718" y="2777"/>
                      </a:cxn>
                      <a:cxn ang="0">
                        <a:pos x="2718" y="7433"/>
                      </a:cxn>
                      <a:cxn ang="0">
                        <a:pos x="2617" y="7433"/>
                      </a:cxn>
                      <a:cxn ang="0">
                        <a:pos x="2143" y="7433"/>
                      </a:cxn>
                      <a:cxn ang="0">
                        <a:pos x="0" y="7433"/>
                      </a:cxn>
                      <a:cxn ang="0">
                        <a:pos x="0" y="6858"/>
                      </a:cxn>
                      <a:cxn ang="0">
                        <a:pos x="2143" y="6858"/>
                      </a:cxn>
                      <a:cxn ang="0">
                        <a:pos x="2143" y="2777"/>
                      </a:cxn>
                      <a:cxn ang="0">
                        <a:pos x="260" y="2777"/>
                      </a:cxn>
                      <a:cxn ang="0">
                        <a:pos x="260" y="2202"/>
                      </a:cxn>
                    </a:cxnLst>
                    <a:rect l="0" t="0" r="r" b="b"/>
                    <a:pathLst>
                      <a:path w="13199" h="8815">
                        <a:moveTo>
                          <a:pt x="260" y="2202"/>
                        </a:moveTo>
                        <a:lnTo>
                          <a:pt x="2143" y="2202"/>
                        </a:lnTo>
                        <a:lnTo>
                          <a:pt x="2143" y="619"/>
                        </a:lnTo>
                        <a:lnTo>
                          <a:pt x="2718" y="619"/>
                        </a:lnTo>
                        <a:lnTo>
                          <a:pt x="2718" y="2202"/>
                        </a:lnTo>
                        <a:lnTo>
                          <a:pt x="4314" y="2202"/>
                        </a:lnTo>
                        <a:lnTo>
                          <a:pt x="4314" y="2274"/>
                        </a:lnTo>
                        <a:lnTo>
                          <a:pt x="4314" y="2777"/>
                        </a:lnTo>
                        <a:lnTo>
                          <a:pt x="4314" y="5752"/>
                        </a:lnTo>
                        <a:lnTo>
                          <a:pt x="8420" y="5752"/>
                        </a:lnTo>
                        <a:lnTo>
                          <a:pt x="9343" y="4844"/>
                        </a:lnTo>
                        <a:lnTo>
                          <a:pt x="4574" y="0"/>
                        </a:lnTo>
                        <a:lnTo>
                          <a:pt x="5381" y="0"/>
                        </a:lnTo>
                        <a:lnTo>
                          <a:pt x="7501" y="2152"/>
                        </a:lnTo>
                        <a:lnTo>
                          <a:pt x="9202" y="441"/>
                        </a:lnTo>
                        <a:lnTo>
                          <a:pt x="10012" y="441"/>
                        </a:lnTo>
                        <a:lnTo>
                          <a:pt x="7904" y="2562"/>
                        </a:lnTo>
                        <a:lnTo>
                          <a:pt x="9753" y="4441"/>
                        </a:lnTo>
                        <a:lnTo>
                          <a:pt x="13116" y="1133"/>
                        </a:lnTo>
                        <a:lnTo>
                          <a:pt x="13116" y="1859"/>
                        </a:lnTo>
                        <a:lnTo>
                          <a:pt x="13199" y="1859"/>
                        </a:lnTo>
                        <a:lnTo>
                          <a:pt x="9240" y="5752"/>
                        </a:lnTo>
                        <a:lnTo>
                          <a:pt x="12624" y="5752"/>
                        </a:lnTo>
                        <a:lnTo>
                          <a:pt x="12624" y="6327"/>
                        </a:lnTo>
                        <a:lnTo>
                          <a:pt x="8656" y="6327"/>
                        </a:lnTo>
                        <a:lnTo>
                          <a:pt x="6127" y="8815"/>
                        </a:lnTo>
                        <a:lnTo>
                          <a:pt x="5724" y="8405"/>
                        </a:lnTo>
                        <a:lnTo>
                          <a:pt x="7835" y="6327"/>
                        </a:lnTo>
                        <a:lnTo>
                          <a:pt x="4314" y="6327"/>
                        </a:lnTo>
                        <a:lnTo>
                          <a:pt x="3825" y="6327"/>
                        </a:lnTo>
                        <a:lnTo>
                          <a:pt x="3739" y="6327"/>
                        </a:lnTo>
                        <a:lnTo>
                          <a:pt x="3739" y="2777"/>
                        </a:lnTo>
                        <a:lnTo>
                          <a:pt x="2718" y="2777"/>
                        </a:lnTo>
                        <a:lnTo>
                          <a:pt x="2718" y="7433"/>
                        </a:lnTo>
                        <a:lnTo>
                          <a:pt x="2617" y="7433"/>
                        </a:lnTo>
                        <a:lnTo>
                          <a:pt x="2143" y="7433"/>
                        </a:lnTo>
                        <a:lnTo>
                          <a:pt x="0" y="7433"/>
                        </a:lnTo>
                        <a:lnTo>
                          <a:pt x="0" y="6858"/>
                        </a:lnTo>
                        <a:lnTo>
                          <a:pt x="2143" y="6858"/>
                        </a:lnTo>
                        <a:lnTo>
                          <a:pt x="2143" y="2777"/>
                        </a:lnTo>
                        <a:lnTo>
                          <a:pt x="260" y="2777"/>
                        </a:lnTo>
                        <a:lnTo>
                          <a:pt x="260" y="220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5" name="Freeform 313"/>
                  <p:cNvSpPr>
                    <a:spLocks/>
                  </p:cNvSpPr>
                  <p:nvPr/>
                </p:nvSpPr>
                <p:spPr bwMode="auto">
                  <a:xfrm>
                    <a:off x="10887075" y="3802063"/>
                    <a:ext cx="166688" cy="174625"/>
                  </a:xfrm>
                  <a:custGeom>
                    <a:avLst/>
                    <a:gdLst/>
                    <a:ahLst/>
                    <a:cxnLst>
                      <a:cxn ang="0">
                        <a:pos x="1801" y="2312"/>
                      </a:cxn>
                      <a:cxn ang="0">
                        <a:pos x="1802" y="2293"/>
                      </a:cxn>
                      <a:cxn ang="0">
                        <a:pos x="1803" y="2275"/>
                      </a:cxn>
                      <a:cxn ang="0">
                        <a:pos x="1798" y="2090"/>
                      </a:cxn>
                      <a:cxn ang="0">
                        <a:pos x="1775" y="1909"/>
                      </a:cxn>
                      <a:cxn ang="0">
                        <a:pos x="1735" y="1735"/>
                      </a:cxn>
                      <a:cxn ang="0">
                        <a:pos x="1679" y="1567"/>
                      </a:cxn>
                      <a:cxn ang="0">
                        <a:pos x="1606" y="1407"/>
                      </a:cxn>
                      <a:cxn ang="0">
                        <a:pos x="1519" y="1255"/>
                      </a:cxn>
                      <a:cxn ang="0">
                        <a:pos x="1418" y="1113"/>
                      </a:cxn>
                      <a:cxn ang="0">
                        <a:pos x="1304" y="981"/>
                      </a:cxn>
                      <a:cxn ang="0">
                        <a:pos x="1178" y="861"/>
                      </a:cxn>
                      <a:cxn ang="0">
                        <a:pos x="1041" y="753"/>
                      </a:cxn>
                      <a:cxn ang="0">
                        <a:pos x="895" y="658"/>
                      </a:cxn>
                      <a:cxn ang="0">
                        <a:pos x="738" y="578"/>
                      </a:cxn>
                      <a:cxn ang="0">
                        <a:pos x="574" y="512"/>
                      </a:cxn>
                      <a:cxn ang="0">
                        <a:pos x="402" y="463"/>
                      </a:cxn>
                      <a:cxn ang="0">
                        <a:pos x="223" y="431"/>
                      </a:cxn>
                      <a:cxn ang="0">
                        <a:pos x="38" y="417"/>
                      </a:cxn>
                      <a:cxn ang="0">
                        <a:pos x="20" y="417"/>
                      </a:cxn>
                      <a:cxn ang="0">
                        <a:pos x="0" y="417"/>
                      </a:cxn>
                      <a:cxn ang="0">
                        <a:pos x="21" y="0"/>
                      </a:cxn>
                      <a:cxn ang="0">
                        <a:pos x="39" y="0"/>
                      </a:cxn>
                      <a:cxn ang="0">
                        <a:pos x="163" y="7"/>
                      </a:cxn>
                      <a:cxn ang="0">
                        <a:pos x="386" y="36"/>
                      </a:cxn>
                      <a:cxn ang="0">
                        <a:pos x="602" y="86"/>
                      </a:cxn>
                      <a:cxn ang="0">
                        <a:pos x="810" y="156"/>
                      </a:cxn>
                      <a:cxn ang="0">
                        <a:pos x="1007" y="245"/>
                      </a:cxn>
                      <a:cxn ang="0">
                        <a:pos x="1194" y="353"/>
                      </a:cxn>
                      <a:cxn ang="0">
                        <a:pos x="1368" y="479"/>
                      </a:cxn>
                      <a:cxn ang="0">
                        <a:pos x="1530" y="619"/>
                      </a:cxn>
                      <a:cxn ang="0">
                        <a:pos x="1677" y="774"/>
                      </a:cxn>
                      <a:cxn ang="0">
                        <a:pos x="1809" y="943"/>
                      </a:cxn>
                      <a:cxn ang="0">
                        <a:pos x="1926" y="1123"/>
                      </a:cxn>
                      <a:cxn ang="0">
                        <a:pos x="2023" y="1315"/>
                      </a:cxn>
                      <a:cxn ang="0">
                        <a:pos x="2103" y="1517"/>
                      </a:cxn>
                      <a:cxn ang="0">
                        <a:pos x="2163" y="1728"/>
                      </a:cxn>
                      <a:cxn ang="0">
                        <a:pos x="2202" y="1946"/>
                      </a:cxn>
                      <a:cxn ang="0">
                        <a:pos x="2219" y="2171"/>
                      </a:cxn>
                      <a:cxn ang="0">
                        <a:pos x="2219" y="2294"/>
                      </a:cxn>
                      <a:cxn ang="0">
                        <a:pos x="2218" y="2313"/>
                      </a:cxn>
                    </a:cxnLst>
                    <a:rect l="0" t="0" r="r" b="b"/>
                    <a:pathLst>
                      <a:path w="2219" h="2323">
                        <a:moveTo>
                          <a:pt x="2217" y="2323"/>
                        </a:moveTo>
                        <a:lnTo>
                          <a:pt x="1801" y="2312"/>
                        </a:lnTo>
                        <a:lnTo>
                          <a:pt x="1802" y="2303"/>
                        </a:lnTo>
                        <a:lnTo>
                          <a:pt x="1802" y="2293"/>
                        </a:lnTo>
                        <a:lnTo>
                          <a:pt x="1803" y="2284"/>
                        </a:lnTo>
                        <a:lnTo>
                          <a:pt x="1803" y="2275"/>
                        </a:lnTo>
                        <a:lnTo>
                          <a:pt x="1803" y="2181"/>
                        </a:lnTo>
                        <a:lnTo>
                          <a:pt x="1798" y="2090"/>
                        </a:lnTo>
                        <a:lnTo>
                          <a:pt x="1789" y="1998"/>
                        </a:lnTo>
                        <a:lnTo>
                          <a:pt x="1775" y="1909"/>
                        </a:lnTo>
                        <a:lnTo>
                          <a:pt x="1757" y="1821"/>
                        </a:lnTo>
                        <a:lnTo>
                          <a:pt x="1735" y="1735"/>
                        </a:lnTo>
                        <a:lnTo>
                          <a:pt x="1709" y="1650"/>
                        </a:lnTo>
                        <a:lnTo>
                          <a:pt x="1679" y="1567"/>
                        </a:lnTo>
                        <a:lnTo>
                          <a:pt x="1644" y="1486"/>
                        </a:lnTo>
                        <a:lnTo>
                          <a:pt x="1606" y="1407"/>
                        </a:lnTo>
                        <a:lnTo>
                          <a:pt x="1564" y="1330"/>
                        </a:lnTo>
                        <a:lnTo>
                          <a:pt x="1519" y="1255"/>
                        </a:lnTo>
                        <a:lnTo>
                          <a:pt x="1470" y="1183"/>
                        </a:lnTo>
                        <a:lnTo>
                          <a:pt x="1418" y="1113"/>
                        </a:lnTo>
                        <a:lnTo>
                          <a:pt x="1363" y="1046"/>
                        </a:lnTo>
                        <a:lnTo>
                          <a:pt x="1304" y="981"/>
                        </a:lnTo>
                        <a:lnTo>
                          <a:pt x="1242" y="920"/>
                        </a:lnTo>
                        <a:lnTo>
                          <a:pt x="1178" y="861"/>
                        </a:lnTo>
                        <a:lnTo>
                          <a:pt x="1112" y="806"/>
                        </a:lnTo>
                        <a:lnTo>
                          <a:pt x="1041" y="753"/>
                        </a:lnTo>
                        <a:lnTo>
                          <a:pt x="969" y="704"/>
                        </a:lnTo>
                        <a:lnTo>
                          <a:pt x="895" y="658"/>
                        </a:lnTo>
                        <a:lnTo>
                          <a:pt x="818" y="616"/>
                        </a:lnTo>
                        <a:lnTo>
                          <a:pt x="738" y="578"/>
                        </a:lnTo>
                        <a:lnTo>
                          <a:pt x="657" y="543"/>
                        </a:lnTo>
                        <a:lnTo>
                          <a:pt x="574" y="512"/>
                        </a:lnTo>
                        <a:lnTo>
                          <a:pt x="489" y="486"/>
                        </a:lnTo>
                        <a:lnTo>
                          <a:pt x="402" y="463"/>
                        </a:lnTo>
                        <a:lnTo>
                          <a:pt x="312" y="445"/>
                        </a:lnTo>
                        <a:lnTo>
                          <a:pt x="223" y="431"/>
                        </a:lnTo>
                        <a:lnTo>
                          <a:pt x="131" y="422"/>
                        </a:lnTo>
                        <a:lnTo>
                          <a:pt x="38" y="417"/>
                        </a:lnTo>
                        <a:lnTo>
                          <a:pt x="29" y="417"/>
                        </a:lnTo>
                        <a:lnTo>
                          <a:pt x="20" y="417"/>
                        </a:lnTo>
                        <a:lnTo>
                          <a:pt x="9" y="417"/>
                        </a:lnTo>
                        <a:lnTo>
                          <a:pt x="0" y="417"/>
                        </a:lnTo>
                        <a:lnTo>
                          <a:pt x="11" y="0"/>
                        </a:lnTo>
                        <a:lnTo>
                          <a:pt x="21" y="0"/>
                        </a:lnTo>
                        <a:lnTo>
                          <a:pt x="30" y="0"/>
                        </a:lnTo>
                        <a:lnTo>
                          <a:pt x="39" y="0"/>
                        </a:lnTo>
                        <a:lnTo>
                          <a:pt x="49" y="0"/>
                        </a:lnTo>
                        <a:lnTo>
                          <a:pt x="163" y="7"/>
                        </a:lnTo>
                        <a:lnTo>
                          <a:pt x="276" y="18"/>
                        </a:lnTo>
                        <a:lnTo>
                          <a:pt x="386" y="36"/>
                        </a:lnTo>
                        <a:lnTo>
                          <a:pt x="495" y="57"/>
                        </a:lnTo>
                        <a:lnTo>
                          <a:pt x="602" y="86"/>
                        </a:lnTo>
                        <a:lnTo>
                          <a:pt x="707" y="119"/>
                        </a:lnTo>
                        <a:lnTo>
                          <a:pt x="810" y="156"/>
                        </a:lnTo>
                        <a:lnTo>
                          <a:pt x="910" y="199"/>
                        </a:lnTo>
                        <a:lnTo>
                          <a:pt x="1007" y="245"/>
                        </a:lnTo>
                        <a:lnTo>
                          <a:pt x="1102" y="297"/>
                        </a:lnTo>
                        <a:lnTo>
                          <a:pt x="1194" y="353"/>
                        </a:lnTo>
                        <a:lnTo>
                          <a:pt x="1283" y="414"/>
                        </a:lnTo>
                        <a:lnTo>
                          <a:pt x="1368" y="479"/>
                        </a:lnTo>
                        <a:lnTo>
                          <a:pt x="1451" y="546"/>
                        </a:lnTo>
                        <a:lnTo>
                          <a:pt x="1530" y="619"/>
                        </a:lnTo>
                        <a:lnTo>
                          <a:pt x="1606" y="695"/>
                        </a:lnTo>
                        <a:lnTo>
                          <a:pt x="1677" y="774"/>
                        </a:lnTo>
                        <a:lnTo>
                          <a:pt x="1746" y="857"/>
                        </a:lnTo>
                        <a:lnTo>
                          <a:pt x="1809" y="943"/>
                        </a:lnTo>
                        <a:lnTo>
                          <a:pt x="1870" y="1031"/>
                        </a:lnTo>
                        <a:lnTo>
                          <a:pt x="1926" y="1123"/>
                        </a:lnTo>
                        <a:lnTo>
                          <a:pt x="1976" y="1218"/>
                        </a:lnTo>
                        <a:lnTo>
                          <a:pt x="2023" y="1315"/>
                        </a:lnTo>
                        <a:lnTo>
                          <a:pt x="2066" y="1415"/>
                        </a:lnTo>
                        <a:lnTo>
                          <a:pt x="2103" y="1517"/>
                        </a:lnTo>
                        <a:lnTo>
                          <a:pt x="2135" y="1622"/>
                        </a:lnTo>
                        <a:lnTo>
                          <a:pt x="2163" y="1728"/>
                        </a:lnTo>
                        <a:lnTo>
                          <a:pt x="2185" y="1835"/>
                        </a:lnTo>
                        <a:lnTo>
                          <a:pt x="2202" y="1946"/>
                        </a:lnTo>
                        <a:lnTo>
                          <a:pt x="2213" y="2058"/>
                        </a:lnTo>
                        <a:lnTo>
                          <a:pt x="2219" y="2171"/>
                        </a:lnTo>
                        <a:lnTo>
                          <a:pt x="2219" y="2285"/>
                        </a:lnTo>
                        <a:lnTo>
                          <a:pt x="2219" y="2294"/>
                        </a:lnTo>
                        <a:lnTo>
                          <a:pt x="2218" y="2304"/>
                        </a:lnTo>
                        <a:lnTo>
                          <a:pt x="2218" y="2313"/>
                        </a:lnTo>
                        <a:lnTo>
                          <a:pt x="2217" y="23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6" name="Freeform 314"/>
                  <p:cNvSpPr>
                    <a:spLocks/>
                  </p:cNvSpPr>
                  <p:nvPr/>
                </p:nvSpPr>
                <p:spPr bwMode="auto">
                  <a:xfrm>
                    <a:off x="10888663" y="3744913"/>
                    <a:ext cx="222250" cy="233362"/>
                  </a:xfrm>
                  <a:custGeom>
                    <a:avLst/>
                    <a:gdLst/>
                    <a:ahLst/>
                    <a:cxnLst>
                      <a:cxn ang="0">
                        <a:pos x="2948" y="3062"/>
                      </a:cxn>
                      <a:cxn ang="0">
                        <a:pos x="2947" y="3082"/>
                      </a:cxn>
                      <a:cxn ang="0">
                        <a:pos x="2562" y="3081"/>
                      </a:cxn>
                      <a:cxn ang="0">
                        <a:pos x="2562" y="3062"/>
                      </a:cxn>
                      <a:cxn ang="0">
                        <a:pos x="2563" y="3043"/>
                      </a:cxn>
                      <a:cxn ang="0">
                        <a:pos x="2556" y="2779"/>
                      </a:cxn>
                      <a:cxn ang="0">
                        <a:pos x="2523" y="2521"/>
                      </a:cxn>
                      <a:cxn ang="0">
                        <a:pos x="2465" y="2271"/>
                      </a:cxn>
                      <a:cxn ang="0">
                        <a:pos x="2384" y="2031"/>
                      </a:cxn>
                      <a:cxn ang="0">
                        <a:pos x="2280" y="1802"/>
                      </a:cxn>
                      <a:cxn ang="0">
                        <a:pos x="2156" y="1585"/>
                      </a:cxn>
                      <a:cxn ang="0">
                        <a:pos x="2012" y="1382"/>
                      </a:cxn>
                      <a:cxn ang="0">
                        <a:pos x="1849" y="1193"/>
                      </a:cxn>
                      <a:cxn ang="0">
                        <a:pos x="1669" y="1020"/>
                      </a:cxn>
                      <a:cxn ang="0">
                        <a:pos x="1473" y="867"/>
                      </a:cxn>
                      <a:cxn ang="0">
                        <a:pos x="1262" y="731"/>
                      </a:cxn>
                      <a:cxn ang="0">
                        <a:pos x="1039" y="616"/>
                      </a:cxn>
                      <a:cxn ang="0">
                        <a:pos x="803" y="522"/>
                      </a:cxn>
                      <a:cxn ang="0">
                        <a:pos x="557" y="452"/>
                      </a:cxn>
                      <a:cxn ang="0">
                        <a:pos x="301" y="406"/>
                      </a:cxn>
                      <a:cxn ang="0">
                        <a:pos x="37" y="386"/>
                      </a:cxn>
                      <a:cxn ang="0">
                        <a:pos x="18" y="385"/>
                      </a:cxn>
                      <a:cxn ang="0">
                        <a:pos x="0" y="385"/>
                      </a:cxn>
                      <a:cxn ang="0">
                        <a:pos x="18" y="0"/>
                      </a:cxn>
                      <a:cxn ang="0">
                        <a:pos x="37" y="0"/>
                      </a:cxn>
                      <a:cxn ang="0">
                        <a:pos x="200" y="8"/>
                      </a:cxn>
                      <a:cxn ang="0">
                        <a:pos x="498" y="47"/>
                      </a:cxn>
                      <a:cxn ang="0">
                        <a:pos x="786" y="113"/>
                      </a:cxn>
                      <a:cxn ang="0">
                        <a:pos x="1064" y="208"/>
                      </a:cxn>
                      <a:cxn ang="0">
                        <a:pos x="1328" y="328"/>
                      </a:cxn>
                      <a:cxn ang="0">
                        <a:pos x="1578" y="472"/>
                      </a:cxn>
                      <a:cxn ang="0">
                        <a:pos x="1811" y="638"/>
                      </a:cxn>
                      <a:cxn ang="0">
                        <a:pos x="2027" y="826"/>
                      </a:cxn>
                      <a:cxn ang="0">
                        <a:pos x="2224" y="1034"/>
                      </a:cxn>
                      <a:cxn ang="0">
                        <a:pos x="2401" y="1259"/>
                      </a:cxn>
                      <a:cxn ang="0">
                        <a:pos x="2556" y="1501"/>
                      </a:cxn>
                      <a:cxn ang="0">
                        <a:pos x="2686" y="1757"/>
                      </a:cxn>
                      <a:cxn ang="0">
                        <a:pos x="2793" y="2027"/>
                      </a:cxn>
                      <a:cxn ang="0">
                        <a:pos x="2873" y="2308"/>
                      </a:cxn>
                      <a:cxn ang="0">
                        <a:pos x="2925" y="2600"/>
                      </a:cxn>
                      <a:cxn ang="0">
                        <a:pos x="2948" y="2900"/>
                      </a:cxn>
                    </a:cxnLst>
                    <a:rect l="0" t="0" r="r" b="b"/>
                    <a:pathLst>
                      <a:path w="2948" h="3091">
                        <a:moveTo>
                          <a:pt x="2948" y="3053"/>
                        </a:moveTo>
                        <a:lnTo>
                          <a:pt x="2948" y="3062"/>
                        </a:lnTo>
                        <a:lnTo>
                          <a:pt x="2947" y="3072"/>
                        </a:lnTo>
                        <a:lnTo>
                          <a:pt x="2947" y="3082"/>
                        </a:lnTo>
                        <a:lnTo>
                          <a:pt x="2947" y="3091"/>
                        </a:lnTo>
                        <a:lnTo>
                          <a:pt x="2562" y="3081"/>
                        </a:lnTo>
                        <a:lnTo>
                          <a:pt x="2562" y="3071"/>
                        </a:lnTo>
                        <a:lnTo>
                          <a:pt x="2562" y="3062"/>
                        </a:lnTo>
                        <a:lnTo>
                          <a:pt x="2563" y="3053"/>
                        </a:lnTo>
                        <a:lnTo>
                          <a:pt x="2563" y="3043"/>
                        </a:lnTo>
                        <a:lnTo>
                          <a:pt x="2563" y="2910"/>
                        </a:lnTo>
                        <a:lnTo>
                          <a:pt x="2556" y="2779"/>
                        </a:lnTo>
                        <a:lnTo>
                          <a:pt x="2543" y="2649"/>
                        </a:lnTo>
                        <a:lnTo>
                          <a:pt x="2523" y="2521"/>
                        </a:lnTo>
                        <a:lnTo>
                          <a:pt x="2497" y="2395"/>
                        </a:lnTo>
                        <a:lnTo>
                          <a:pt x="2465" y="2271"/>
                        </a:lnTo>
                        <a:lnTo>
                          <a:pt x="2428" y="2150"/>
                        </a:lnTo>
                        <a:lnTo>
                          <a:pt x="2384" y="2031"/>
                        </a:lnTo>
                        <a:lnTo>
                          <a:pt x="2335" y="1915"/>
                        </a:lnTo>
                        <a:lnTo>
                          <a:pt x="2280" y="1802"/>
                        </a:lnTo>
                        <a:lnTo>
                          <a:pt x="2220" y="1692"/>
                        </a:lnTo>
                        <a:lnTo>
                          <a:pt x="2156" y="1585"/>
                        </a:lnTo>
                        <a:lnTo>
                          <a:pt x="2086" y="1481"/>
                        </a:lnTo>
                        <a:lnTo>
                          <a:pt x="2012" y="1382"/>
                        </a:lnTo>
                        <a:lnTo>
                          <a:pt x="1933" y="1285"/>
                        </a:lnTo>
                        <a:lnTo>
                          <a:pt x="1849" y="1193"/>
                        </a:lnTo>
                        <a:lnTo>
                          <a:pt x="1760" y="1104"/>
                        </a:lnTo>
                        <a:lnTo>
                          <a:pt x="1669" y="1020"/>
                        </a:lnTo>
                        <a:lnTo>
                          <a:pt x="1572" y="941"/>
                        </a:lnTo>
                        <a:lnTo>
                          <a:pt x="1473" y="867"/>
                        </a:lnTo>
                        <a:lnTo>
                          <a:pt x="1369" y="796"/>
                        </a:lnTo>
                        <a:lnTo>
                          <a:pt x="1262" y="731"/>
                        </a:lnTo>
                        <a:lnTo>
                          <a:pt x="1152" y="671"/>
                        </a:lnTo>
                        <a:lnTo>
                          <a:pt x="1039" y="616"/>
                        </a:lnTo>
                        <a:lnTo>
                          <a:pt x="922" y="566"/>
                        </a:lnTo>
                        <a:lnTo>
                          <a:pt x="803" y="522"/>
                        </a:lnTo>
                        <a:lnTo>
                          <a:pt x="682" y="484"/>
                        </a:lnTo>
                        <a:lnTo>
                          <a:pt x="557" y="452"/>
                        </a:lnTo>
                        <a:lnTo>
                          <a:pt x="430" y="426"/>
                        </a:lnTo>
                        <a:lnTo>
                          <a:pt x="301" y="406"/>
                        </a:lnTo>
                        <a:lnTo>
                          <a:pt x="170" y="392"/>
                        </a:lnTo>
                        <a:lnTo>
                          <a:pt x="37" y="386"/>
                        </a:lnTo>
                        <a:lnTo>
                          <a:pt x="28" y="385"/>
                        </a:lnTo>
                        <a:lnTo>
                          <a:pt x="18" y="385"/>
                        </a:lnTo>
                        <a:lnTo>
                          <a:pt x="9" y="385"/>
                        </a:lnTo>
                        <a:lnTo>
                          <a:pt x="0" y="385"/>
                        </a:lnTo>
                        <a:lnTo>
                          <a:pt x="9" y="0"/>
                        </a:lnTo>
                        <a:lnTo>
                          <a:pt x="18" y="0"/>
                        </a:lnTo>
                        <a:lnTo>
                          <a:pt x="28" y="0"/>
                        </a:lnTo>
                        <a:lnTo>
                          <a:pt x="37" y="0"/>
                        </a:lnTo>
                        <a:lnTo>
                          <a:pt x="47" y="0"/>
                        </a:lnTo>
                        <a:lnTo>
                          <a:pt x="200" y="8"/>
                        </a:lnTo>
                        <a:lnTo>
                          <a:pt x="350" y="24"/>
                        </a:lnTo>
                        <a:lnTo>
                          <a:pt x="498" y="47"/>
                        </a:lnTo>
                        <a:lnTo>
                          <a:pt x="644" y="77"/>
                        </a:lnTo>
                        <a:lnTo>
                          <a:pt x="786" y="113"/>
                        </a:lnTo>
                        <a:lnTo>
                          <a:pt x="927" y="158"/>
                        </a:lnTo>
                        <a:lnTo>
                          <a:pt x="1064" y="208"/>
                        </a:lnTo>
                        <a:lnTo>
                          <a:pt x="1198" y="265"/>
                        </a:lnTo>
                        <a:lnTo>
                          <a:pt x="1328" y="328"/>
                        </a:lnTo>
                        <a:lnTo>
                          <a:pt x="1455" y="396"/>
                        </a:lnTo>
                        <a:lnTo>
                          <a:pt x="1578" y="472"/>
                        </a:lnTo>
                        <a:lnTo>
                          <a:pt x="1696" y="552"/>
                        </a:lnTo>
                        <a:lnTo>
                          <a:pt x="1811" y="638"/>
                        </a:lnTo>
                        <a:lnTo>
                          <a:pt x="1921" y="730"/>
                        </a:lnTo>
                        <a:lnTo>
                          <a:pt x="2027" y="826"/>
                        </a:lnTo>
                        <a:lnTo>
                          <a:pt x="2128" y="928"/>
                        </a:lnTo>
                        <a:lnTo>
                          <a:pt x="2224" y="1034"/>
                        </a:lnTo>
                        <a:lnTo>
                          <a:pt x="2315" y="1144"/>
                        </a:lnTo>
                        <a:lnTo>
                          <a:pt x="2401" y="1259"/>
                        </a:lnTo>
                        <a:lnTo>
                          <a:pt x="2481" y="1377"/>
                        </a:lnTo>
                        <a:lnTo>
                          <a:pt x="2556" y="1501"/>
                        </a:lnTo>
                        <a:lnTo>
                          <a:pt x="2624" y="1626"/>
                        </a:lnTo>
                        <a:lnTo>
                          <a:pt x="2686" y="1757"/>
                        </a:lnTo>
                        <a:lnTo>
                          <a:pt x="2742" y="1890"/>
                        </a:lnTo>
                        <a:lnTo>
                          <a:pt x="2793" y="2027"/>
                        </a:lnTo>
                        <a:lnTo>
                          <a:pt x="2836" y="2166"/>
                        </a:lnTo>
                        <a:lnTo>
                          <a:pt x="2873" y="2308"/>
                        </a:lnTo>
                        <a:lnTo>
                          <a:pt x="2902" y="2453"/>
                        </a:lnTo>
                        <a:lnTo>
                          <a:pt x="2925" y="2600"/>
                        </a:lnTo>
                        <a:lnTo>
                          <a:pt x="2941" y="2748"/>
                        </a:lnTo>
                        <a:lnTo>
                          <a:pt x="2948" y="2900"/>
                        </a:lnTo>
                        <a:lnTo>
                          <a:pt x="2948" y="30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7" name="Freeform 315"/>
                  <p:cNvSpPr>
                    <a:spLocks noEditPoints="1"/>
                  </p:cNvSpPr>
                  <p:nvPr/>
                </p:nvSpPr>
                <p:spPr bwMode="auto">
                  <a:xfrm>
                    <a:off x="9855200" y="3897313"/>
                    <a:ext cx="1076325" cy="715962"/>
                  </a:xfrm>
                  <a:custGeom>
                    <a:avLst/>
                    <a:gdLst/>
                    <a:ahLst/>
                    <a:cxnLst>
                      <a:cxn ang="0">
                        <a:pos x="13800" y="1"/>
                      </a:cxn>
                      <a:cxn ang="0">
                        <a:pos x="13870" y="11"/>
                      </a:cxn>
                      <a:cxn ang="0">
                        <a:pos x="13938" y="29"/>
                      </a:cxn>
                      <a:cxn ang="0">
                        <a:pos x="14000" y="58"/>
                      </a:cxn>
                      <a:cxn ang="0">
                        <a:pos x="14057" y="95"/>
                      </a:cxn>
                      <a:cxn ang="0">
                        <a:pos x="14109" y="139"/>
                      </a:cxn>
                      <a:cxn ang="0">
                        <a:pos x="14154" y="190"/>
                      </a:cxn>
                      <a:cxn ang="0">
                        <a:pos x="14190" y="248"/>
                      </a:cxn>
                      <a:cxn ang="0">
                        <a:pos x="14219" y="311"/>
                      </a:cxn>
                      <a:cxn ang="0">
                        <a:pos x="14238" y="378"/>
                      </a:cxn>
                      <a:cxn ang="0">
                        <a:pos x="14247" y="449"/>
                      </a:cxn>
                      <a:cxn ang="0">
                        <a:pos x="14247" y="9034"/>
                      </a:cxn>
                      <a:cxn ang="0">
                        <a:pos x="14238" y="9104"/>
                      </a:cxn>
                      <a:cxn ang="0">
                        <a:pos x="14219" y="9171"/>
                      </a:cxn>
                      <a:cxn ang="0">
                        <a:pos x="14190" y="9234"/>
                      </a:cxn>
                      <a:cxn ang="0">
                        <a:pos x="14154" y="9291"/>
                      </a:cxn>
                      <a:cxn ang="0">
                        <a:pos x="14109" y="9343"/>
                      </a:cxn>
                      <a:cxn ang="0">
                        <a:pos x="14057" y="9387"/>
                      </a:cxn>
                      <a:cxn ang="0">
                        <a:pos x="14000" y="9424"/>
                      </a:cxn>
                      <a:cxn ang="0">
                        <a:pos x="13938" y="9452"/>
                      </a:cxn>
                      <a:cxn ang="0">
                        <a:pos x="13870" y="9472"/>
                      </a:cxn>
                      <a:cxn ang="0">
                        <a:pos x="13800" y="9480"/>
                      </a:cxn>
                      <a:cxn ang="0">
                        <a:pos x="447" y="9480"/>
                      </a:cxn>
                      <a:cxn ang="0">
                        <a:pos x="377" y="9472"/>
                      </a:cxn>
                      <a:cxn ang="0">
                        <a:pos x="309" y="9452"/>
                      </a:cxn>
                      <a:cxn ang="0">
                        <a:pos x="247" y="9424"/>
                      </a:cxn>
                      <a:cxn ang="0">
                        <a:pos x="190" y="9387"/>
                      </a:cxn>
                      <a:cxn ang="0">
                        <a:pos x="138" y="9343"/>
                      </a:cxn>
                      <a:cxn ang="0">
                        <a:pos x="93" y="9291"/>
                      </a:cxn>
                      <a:cxn ang="0">
                        <a:pos x="57" y="9234"/>
                      </a:cxn>
                      <a:cxn ang="0">
                        <a:pos x="29" y="9171"/>
                      </a:cxn>
                      <a:cxn ang="0">
                        <a:pos x="9" y="9104"/>
                      </a:cxn>
                      <a:cxn ang="0">
                        <a:pos x="1" y="9034"/>
                      </a:cxn>
                      <a:cxn ang="0">
                        <a:pos x="1" y="449"/>
                      </a:cxn>
                      <a:cxn ang="0">
                        <a:pos x="9" y="378"/>
                      </a:cxn>
                      <a:cxn ang="0">
                        <a:pos x="29" y="311"/>
                      </a:cxn>
                      <a:cxn ang="0">
                        <a:pos x="57" y="248"/>
                      </a:cxn>
                      <a:cxn ang="0">
                        <a:pos x="93" y="190"/>
                      </a:cxn>
                      <a:cxn ang="0">
                        <a:pos x="138" y="139"/>
                      </a:cxn>
                      <a:cxn ang="0">
                        <a:pos x="190" y="95"/>
                      </a:cxn>
                      <a:cxn ang="0">
                        <a:pos x="247" y="58"/>
                      </a:cxn>
                      <a:cxn ang="0">
                        <a:pos x="309" y="29"/>
                      </a:cxn>
                      <a:cxn ang="0">
                        <a:pos x="377" y="11"/>
                      </a:cxn>
                      <a:cxn ang="0">
                        <a:pos x="447" y="1"/>
                      </a:cxn>
                      <a:cxn ang="0">
                        <a:pos x="12797" y="1205"/>
                      </a:cxn>
                      <a:cxn ang="0">
                        <a:pos x="1451" y="1205"/>
                      </a:cxn>
                    </a:cxnLst>
                    <a:rect l="0" t="0" r="r" b="b"/>
                    <a:pathLst>
                      <a:path w="14247" h="9481">
                        <a:moveTo>
                          <a:pt x="471" y="0"/>
                        </a:moveTo>
                        <a:lnTo>
                          <a:pt x="13776" y="0"/>
                        </a:lnTo>
                        <a:lnTo>
                          <a:pt x="13800" y="1"/>
                        </a:lnTo>
                        <a:lnTo>
                          <a:pt x="13823" y="3"/>
                        </a:lnTo>
                        <a:lnTo>
                          <a:pt x="13847" y="7"/>
                        </a:lnTo>
                        <a:lnTo>
                          <a:pt x="13870" y="11"/>
                        </a:lnTo>
                        <a:lnTo>
                          <a:pt x="13893" y="16"/>
                        </a:lnTo>
                        <a:lnTo>
                          <a:pt x="13916" y="22"/>
                        </a:lnTo>
                        <a:lnTo>
                          <a:pt x="13938" y="29"/>
                        </a:lnTo>
                        <a:lnTo>
                          <a:pt x="13958" y="38"/>
                        </a:lnTo>
                        <a:lnTo>
                          <a:pt x="13979" y="47"/>
                        </a:lnTo>
                        <a:lnTo>
                          <a:pt x="14000" y="58"/>
                        </a:lnTo>
                        <a:lnTo>
                          <a:pt x="14020" y="70"/>
                        </a:lnTo>
                        <a:lnTo>
                          <a:pt x="14038" y="81"/>
                        </a:lnTo>
                        <a:lnTo>
                          <a:pt x="14057" y="95"/>
                        </a:lnTo>
                        <a:lnTo>
                          <a:pt x="14075" y="109"/>
                        </a:lnTo>
                        <a:lnTo>
                          <a:pt x="14092" y="124"/>
                        </a:lnTo>
                        <a:lnTo>
                          <a:pt x="14109" y="139"/>
                        </a:lnTo>
                        <a:lnTo>
                          <a:pt x="14125" y="156"/>
                        </a:lnTo>
                        <a:lnTo>
                          <a:pt x="14139" y="173"/>
                        </a:lnTo>
                        <a:lnTo>
                          <a:pt x="14154" y="190"/>
                        </a:lnTo>
                        <a:lnTo>
                          <a:pt x="14166" y="209"/>
                        </a:lnTo>
                        <a:lnTo>
                          <a:pt x="14179" y="229"/>
                        </a:lnTo>
                        <a:lnTo>
                          <a:pt x="14190" y="248"/>
                        </a:lnTo>
                        <a:lnTo>
                          <a:pt x="14200" y="268"/>
                        </a:lnTo>
                        <a:lnTo>
                          <a:pt x="14210" y="289"/>
                        </a:lnTo>
                        <a:lnTo>
                          <a:pt x="14219" y="311"/>
                        </a:lnTo>
                        <a:lnTo>
                          <a:pt x="14226" y="333"/>
                        </a:lnTo>
                        <a:lnTo>
                          <a:pt x="14233" y="355"/>
                        </a:lnTo>
                        <a:lnTo>
                          <a:pt x="14238" y="378"/>
                        </a:lnTo>
                        <a:lnTo>
                          <a:pt x="14242" y="401"/>
                        </a:lnTo>
                        <a:lnTo>
                          <a:pt x="14245" y="425"/>
                        </a:lnTo>
                        <a:lnTo>
                          <a:pt x="14247" y="449"/>
                        </a:lnTo>
                        <a:lnTo>
                          <a:pt x="14247" y="473"/>
                        </a:lnTo>
                        <a:lnTo>
                          <a:pt x="14247" y="9010"/>
                        </a:lnTo>
                        <a:lnTo>
                          <a:pt x="14247" y="9034"/>
                        </a:lnTo>
                        <a:lnTo>
                          <a:pt x="14245" y="9058"/>
                        </a:lnTo>
                        <a:lnTo>
                          <a:pt x="14242" y="9081"/>
                        </a:lnTo>
                        <a:lnTo>
                          <a:pt x="14238" y="9104"/>
                        </a:lnTo>
                        <a:lnTo>
                          <a:pt x="14233" y="9127"/>
                        </a:lnTo>
                        <a:lnTo>
                          <a:pt x="14226" y="9149"/>
                        </a:lnTo>
                        <a:lnTo>
                          <a:pt x="14219" y="9171"/>
                        </a:lnTo>
                        <a:lnTo>
                          <a:pt x="14210" y="9192"/>
                        </a:lnTo>
                        <a:lnTo>
                          <a:pt x="14200" y="9213"/>
                        </a:lnTo>
                        <a:lnTo>
                          <a:pt x="14190" y="9234"/>
                        </a:lnTo>
                        <a:lnTo>
                          <a:pt x="14179" y="9254"/>
                        </a:lnTo>
                        <a:lnTo>
                          <a:pt x="14166" y="9272"/>
                        </a:lnTo>
                        <a:lnTo>
                          <a:pt x="14154" y="9291"/>
                        </a:lnTo>
                        <a:lnTo>
                          <a:pt x="14139" y="9309"/>
                        </a:lnTo>
                        <a:lnTo>
                          <a:pt x="14125" y="9326"/>
                        </a:lnTo>
                        <a:lnTo>
                          <a:pt x="14109" y="9343"/>
                        </a:lnTo>
                        <a:lnTo>
                          <a:pt x="14092" y="9359"/>
                        </a:lnTo>
                        <a:lnTo>
                          <a:pt x="14075" y="9373"/>
                        </a:lnTo>
                        <a:lnTo>
                          <a:pt x="14057" y="9387"/>
                        </a:lnTo>
                        <a:lnTo>
                          <a:pt x="14038" y="9400"/>
                        </a:lnTo>
                        <a:lnTo>
                          <a:pt x="14020" y="9412"/>
                        </a:lnTo>
                        <a:lnTo>
                          <a:pt x="14000" y="9424"/>
                        </a:lnTo>
                        <a:lnTo>
                          <a:pt x="13979" y="9434"/>
                        </a:lnTo>
                        <a:lnTo>
                          <a:pt x="13958" y="9444"/>
                        </a:lnTo>
                        <a:lnTo>
                          <a:pt x="13938" y="9452"/>
                        </a:lnTo>
                        <a:lnTo>
                          <a:pt x="13916" y="9460"/>
                        </a:lnTo>
                        <a:lnTo>
                          <a:pt x="13893" y="9466"/>
                        </a:lnTo>
                        <a:lnTo>
                          <a:pt x="13870" y="9472"/>
                        </a:lnTo>
                        <a:lnTo>
                          <a:pt x="13847" y="9476"/>
                        </a:lnTo>
                        <a:lnTo>
                          <a:pt x="13823" y="9479"/>
                        </a:lnTo>
                        <a:lnTo>
                          <a:pt x="13800" y="9480"/>
                        </a:lnTo>
                        <a:lnTo>
                          <a:pt x="13776" y="9481"/>
                        </a:lnTo>
                        <a:lnTo>
                          <a:pt x="471" y="9481"/>
                        </a:lnTo>
                        <a:lnTo>
                          <a:pt x="447" y="9480"/>
                        </a:lnTo>
                        <a:lnTo>
                          <a:pt x="424" y="9479"/>
                        </a:lnTo>
                        <a:lnTo>
                          <a:pt x="400" y="9476"/>
                        </a:lnTo>
                        <a:lnTo>
                          <a:pt x="377" y="9472"/>
                        </a:lnTo>
                        <a:lnTo>
                          <a:pt x="354" y="9466"/>
                        </a:lnTo>
                        <a:lnTo>
                          <a:pt x="332" y="9460"/>
                        </a:lnTo>
                        <a:lnTo>
                          <a:pt x="309" y="9452"/>
                        </a:lnTo>
                        <a:lnTo>
                          <a:pt x="289" y="9444"/>
                        </a:lnTo>
                        <a:lnTo>
                          <a:pt x="268" y="9434"/>
                        </a:lnTo>
                        <a:lnTo>
                          <a:pt x="247" y="9424"/>
                        </a:lnTo>
                        <a:lnTo>
                          <a:pt x="227" y="9412"/>
                        </a:lnTo>
                        <a:lnTo>
                          <a:pt x="209" y="9400"/>
                        </a:lnTo>
                        <a:lnTo>
                          <a:pt x="190" y="9387"/>
                        </a:lnTo>
                        <a:lnTo>
                          <a:pt x="172" y="9373"/>
                        </a:lnTo>
                        <a:lnTo>
                          <a:pt x="155" y="9359"/>
                        </a:lnTo>
                        <a:lnTo>
                          <a:pt x="138" y="9343"/>
                        </a:lnTo>
                        <a:lnTo>
                          <a:pt x="123" y="9326"/>
                        </a:lnTo>
                        <a:lnTo>
                          <a:pt x="108" y="9309"/>
                        </a:lnTo>
                        <a:lnTo>
                          <a:pt x="93" y="9291"/>
                        </a:lnTo>
                        <a:lnTo>
                          <a:pt x="81" y="9272"/>
                        </a:lnTo>
                        <a:lnTo>
                          <a:pt x="69" y="9254"/>
                        </a:lnTo>
                        <a:lnTo>
                          <a:pt x="57" y="9234"/>
                        </a:lnTo>
                        <a:lnTo>
                          <a:pt x="47" y="9213"/>
                        </a:lnTo>
                        <a:lnTo>
                          <a:pt x="37" y="9192"/>
                        </a:lnTo>
                        <a:lnTo>
                          <a:pt x="29" y="9171"/>
                        </a:lnTo>
                        <a:lnTo>
                          <a:pt x="21" y="9149"/>
                        </a:lnTo>
                        <a:lnTo>
                          <a:pt x="15" y="9127"/>
                        </a:lnTo>
                        <a:lnTo>
                          <a:pt x="9" y="9104"/>
                        </a:lnTo>
                        <a:lnTo>
                          <a:pt x="5" y="9081"/>
                        </a:lnTo>
                        <a:lnTo>
                          <a:pt x="2" y="9058"/>
                        </a:lnTo>
                        <a:lnTo>
                          <a:pt x="1" y="9034"/>
                        </a:lnTo>
                        <a:lnTo>
                          <a:pt x="0" y="9010"/>
                        </a:lnTo>
                        <a:lnTo>
                          <a:pt x="0" y="473"/>
                        </a:lnTo>
                        <a:lnTo>
                          <a:pt x="1" y="449"/>
                        </a:lnTo>
                        <a:lnTo>
                          <a:pt x="2" y="425"/>
                        </a:lnTo>
                        <a:lnTo>
                          <a:pt x="5" y="401"/>
                        </a:lnTo>
                        <a:lnTo>
                          <a:pt x="9" y="378"/>
                        </a:lnTo>
                        <a:lnTo>
                          <a:pt x="15" y="355"/>
                        </a:lnTo>
                        <a:lnTo>
                          <a:pt x="21" y="333"/>
                        </a:lnTo>
                        <a:lnTo>
                          <a:pt x="29" y="311"/>
                        </a:lnTo>
                        <a:lnTo>
                          <a:pt x="37" y="289"/>
                        </a:lnTo>
                        <a:lnTo>
                          <a:pt x="47" y="268"/>
                        </a:lnTo>
                        <a:lnTo>
                          <a:pt x="57" y="248"/>
                        </a:lnTo>
                        <a:lnTo>
                          <a:pt x="69" y="229"/>
                        </a:lnTo>
                        <a:lnTo>
                          <a:pt x="81" y="209"/>
                        </a:lnTo>
                        <a:lnTo>
                          <a:pt x="93" y="190"/>
                        </a:lnTo>
                        <a:lnTo>
                          <a:pt x="108" y="173"/>
                        </a:lnTo>
                        <a:lnTo>
                          <a:pt x="123" y="156"/>
                        </a:lnTo>
                        <a:lnTo>
                          <a:pt x="138" y="139"/>
                        </a:lnTo>
                        <a:lnTo>
                          <a:pt x="155" y="124"/>
                        </a:lnTo>
                        <a:lnTo>
                          <a:pt x="172" y="109"/>
                        </a:lnTo>
                        <a:lnTo>
                          <a:pt x="190" y="95"/>
                        </a:lnTo>
                        <a:lnTo>
                          <a:pt x="209" y="81"/>
                        </a:lnTo>
                        <a:lnTo>
                          <a:pt x="227" y="70"/>
                        </a:lnTo>
                        <a:lnTo>
                          <a:pt x="247" y="58"/>
                        </a:lnTo>
                        <a:lnTo>
                          <a:pt x="268" y="47"/>
                        </a:lnTo>
                        <a:lnTo>
                          <a:pt x="289" y="38"/>
                        </a:lnTo>
                        <a:lnTo>
                          <a:pt x="309" y="29"/>
                        </a:lnTo>
                        <a:lnTo>
                          <a:pt x="332" y="22"/>
                        </a:lnTo>
                        <a:lnTo>
                          <a:pt x="354" y="16"/>
                        </a:lnTo>
                        <a:lnTo>
                          <a:pt x="377" y="11"/>
                        </a:lnTo>
                        <a:lnTo>
                          <a:pt x="400" y="7"/>
                        </a:lnTo>
                        <a:lnTo>
                          <a:pt x="424" y="3"/>
                        </a:lnTo>
                        <a:lnTo>
                          <a:pt x="447" y="1"/>
                        </a:lnTo>
                        <a:lnTo>
                          <a:pt x="471" y="0"/>
                        </a:lnTo>
                        <a:close/>
                        <a:moveTo>
                          <a:pt x="1451" y="1205"/>
                        </a:moveTo>
                        <a:lnTo>
                          <a:pt x="12797" y="1205"/>
                        </a:lnTo>
                        <a:lnTo>
                          <a:pt x="12797" y="8276"/>
                        </a:lnTo>
                        <a:lnTo>
                          <a:pt x="1451" y="8276"/>
                        </a:lnTo>
                        <a:lnTo>
                          <a:pt x="1451" y="12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8" name="Freeform 316"/>
                  <p:cNvSpPr>
                    <a:spLocks noEditPoints="1"/>
                  </p:cNvSpPr>
                  <p:nvPr/>
                </p:nvSpPr>
                <p:spPr bwMode="auto">
                  <a:xfrm>
                    <a:off x="10250488" y="4113213"/>
                    <a:ext cx="149225" cy="222250"/>
                  </a:xfrm>
                  <a:custGeom>
                    <a:avLst/>
                    <a:gdLst/>
                    <a:ahLst/>
                    <a:cxnLst>
                      <a:cxn ang="0">
                        <a:pos x="1143" y="12"/>
                      </a:cxn>
                      <a:cxn ang="0">
                        <a:pos x="1333" y="61"/>
                      </a:cxn>
                      <a:cxn ang="0">
                        <a:pos x="1506" y="145"/>
                      </a:cxn>
                      <a:cxn ang="0">
                        <a:pos x="1659" y="259"/>
                      </a:cxn>
                      <a:cxn ang="0">
                        <a:pos x="1787" y="399"/>
                      </a:cxn>
                      <a:cxn ang="0">
                        <a:pos x="1887" y="563"/>
                      </a:cxn>
                      <a:cxn ang="0">
                        <a:pos x="1953" y="745"/>
                      </a:cxn>
                      <a:cxn ang="0">
                        <a:pos x="1983" y="942"/>
                      </a:cxn>
                      <a:cxn ang="0">
                        <a:pos x="1977" y="1112"/>
                      </a:cxn>
                      <a:cxn ang="0">
                        <a:pos x="1946" y="1265"/>
                      </a:cxn>
                      <a:cxn ang="0">
                        <a:pos x="1893" y="1408"/>
                      </a:cxn>
                      <a:cxn ang="0">
                        <a:pos x="1818" y="1540"/>
                      </a:cxn>
                      <a:cxn ang="0">
                        <a:pos x="202" y="1591"/>
                      </a:cxn>
                      <a:cxn ang="0">
                        <a:pos x="118" y="1458"/>
                      </a:cxn>
                      <a:cxn ang="0">
                        <a:pos x="53" y="1312"/>
                      </a:cxn>
                      <a:cxn ang="0">
                        <a:pos x="14" y="1157"/>
                      </a:cxn>
                      <a:cxn ang="0">
                        <a:pos x="0" y="993"/>
                      </a:cxn>
                      <a:cxn ang="0">
                        <a:pos x="20" y="792"/>
                      </a:cxn>
                      <a:cxn ang="0">
                        <a:pos x="78" y="607"/>
                      </a:cxn>
                      <a:cxn ang="0">
                        <a:pos x="170" y="438"/>
                      </a:cxn>
                      <a:cxn ang="0">
                        <a:pos x="291" y="291"/>
                      </a:cxn>
                      <a:cxn ang="0">
                        <a:pos x="438" y="170"/>
                      </a:cxn>
                      <a:cxn ang="0">
                        <a:pos x="607" y="78"/>
                      </a:cxn>
                      <a:cxn ang="0">
                        <a:pos x="792" y="20"/>
                      </a:cxn>
                      <a:cxn ang="0">
                        <a:pos x="993" y="0"/>
                      </a:cxn>
                      <a:cxn ang="0">
                        <a:pos x="1079" y="428"/>
                      </a:cxn>
                      <a:cxn ang="0">
                        <a:pos x="1188" y="456"/>
                      </a:cxn>
                      <a:cxn ang="0">
                        <a:pos x="1289" y="504"/>
                      </a:cxn>
                      <a:cxn ang="0">
                        <a:pos x="1376" y="570"/>
                      </a:cxn>
                      <a:cxn ang="0">
                        <a:pos x="1450" y="651"/>
                      </a:cxn>
                      <a:cxn ang="0">
                        <a:pos x="1507" y="745"/>
                      </a:cxn>
                      <a:cxn ang="0">
                        <a:pos x="1545" y="850"/>
                      </a:cxn>
                      <a:cxn ang="0">
                        <a:pos x="1563" y="963"/>
                      </a:cxn>
                      <a:cxn ang="0">
                        <a:pos x="1557" y="1079"/>
                      </a:cxn>
                      <a:cxn ang="0">
                        <a:pos x="1529" y="1188"/>
                      </a:cxn>
                      <a:cxn ang="0">
                        <a:pos x="1481" y="1289"/>
                      </a:cxn>
                      <a:cxn ang="0">
                        <a:pos x="1415" y="1376"/>
                      </a:cxn>
                      <a:cxn ang="0">
                        <a:pos x="1333" y="1449"/>
                      </a:cxn>
                      <a:cxn ang="0">
                        <a:pos x="1240" y="1507"/>
                      </a:cxn>
                      <a:cxn ang="0">
                        <a:pos x="1135" y="1545"/>
                      </a:cxn>
                      <a:cxn ang="0">
                        <a:pos x="1022" y="1563"/>
                      </a:cxn>
                      <a:cxn ang="0">
                        <a:pos x="906" y="1556"/>
                      </a:cxn>
                      <a:cxn ang="0">
                        <a:pos x="797" y="1528"/>
                      </a:cxn>
                      <a:cxn ang="0">
                        <a:pos x="697" y="1481"/>
                      </a:cxn>
                      <a:cxn ang="0">
                        <a:pos x="609" y="1415"/>
                      </a:cxn>
                      <a:cxn ang="0">
                        <a:pos x="535" y="1334"/>
                      </a:cxn>
                      <a:cxn ang="0">
                        <a:pos x="478" y="1240"/>
                      </a:cxn>
                      <a:cxn ang="0">
                        <a:pos x="440" y="1135"/>
                      </a:cxn>
                      <a:cxn ang="0">
                        <a:pos x="422" y="1022"/>
                      </a:cxn>
                      <a:cxn ang="0">
                        <a:pos x="428" y="906"/>
                      </a:cxn>
                      <a:cxn ang="0">
                        <a:pos x="456" y="797"/>
                      </a:cxn>
                      <a:cxn ang="0">
                        <a:pos x="504" y="697"/>
                      </a:cxn>
                      <a:cxn ang="0">
                        <a:pos x="570" y="609"/>
                      </a:cxn>
                      <a:cxn ang="0">
                        <a:pos x="651" y="535"/>
                      </a:cxn>
                      <a:cxn ang="0">
                        <a:pos x="745" y="478"/>
                      </a:cxn>
                      <a:cxn ang="0">
                        <a:pos x="850" y="440"/>
                      </a:cxn>
                      <a:cxn ang="0">
                        <a:pos x="963" y="422"/>
                      </a:cxn>
                    </a:cxnLst>
                    <a:rect l="0" t="0" r="r" b="b"/>
                    <a:pathLst>
                      <a:path w="1984" h="2926">
                        <a:moveTo>
                          <a:pt x="993" y="0"/>
                        </a:moveTo>
                        <a:lnTo>
                          <a:pt x="1044" y="2"/>
                        </a:lnTo>
                        <a:lnTo>
                          <a:pt x="1094" y="6"/>
                        </a:lnTo>
                        <a:lnTo>
                          <a:pt x="1143" y="12"/>
                        </a:lnTo>
                        <a:lnTo>
                          <a:pt x="1192" y="20"/>
                        </a:lnTo>
                        <a:lnTo>
                          <a:pt x="1240" y="32"/>
                        </a:lnTo>
                        <a:lnTo>
                          <a:pt x="1287" y="45"/>
                        </a:lnTo>
                        <a:lnTo>
                          <a:pt x="1333" y="61"/>
                        </a:lnTo>
                        <a:lnTo>
                          <a:pt x="1378" y="78"/>
                        </a:lnTo>
                        <a:lnTo>
                          <a:pt x="1422" y="98"/>
                        </a:lnTo>
                        <a:lnTo>
                          <a:pt x="1464" y="121"/>
                        </a:lnTo>
                        <a:lnTo>
                          <a:pt x="1506" y="145"/>
                        </a:lnTo>
                        <a:lnTo>
                          <a:pt x="1546" y="170"/>
                        </a:lnTo>
                        <a:lnTo>
                          <a:pt x="1586" y="198"/>
                        </a:lnTo>
                        <a:lnTo>
                          <a:pt x="1623" y="228"/>
                        </a:lnTo>
                        <a:lnTo>
                          <a:pt x="1659" y="259"/>
                        </a:lnTo>
                        <a:lnTo>
                          <a:pt x="1694" y="291"/>
                        </a:lnTo>
                        <a:lnTo>
                          <a:pt x="1727" y="326"/>
                        </a:lnTo>
                        <a:lnTo>
                          <a:pt x="1758" y="362"/>
                        </a:lnTo>
                        <a:lnTo>
                          <a:pt x="1787" y="399"/>
                        </a:lnTo>
                        <a:lnTo>
                          <a:pt x="1815" y="438"/>
                        </a:lnTo>
                        <a:lnTo>
                          <a:pt x="1841" y="479"/>
                        </a:lnTo>
                        <a:lnTo>
                          <a:pt x="1865" y="520"/>
                        </a:lnTo>
                        <a:lnTo>
                          <a:pt x="1887" y="563"/>
                        </a:lnTo>
                        <a:lnTo>
                          <a:pt x="1906" y="607"/>
                        </a:lnTo>
                        <a:lnTo>
                          <a:pt x="1924" y="652"/>
                        </a:lnTo>
                        <a:lnTo>
                          <a:pt x="1940" y="698"/>
                        </a:lnTo>
                        <a:lnTo>
                          <a:pt x="1953" y="745"/>
                        </a:lnTo>
                        <a:lnTo>
                          <a:pt x="1965" y="792"/>
                        </a:lnTo>
                        <a:lnTo>
                          <a:pt x="1973" y="841"/>
                        </a:lnTo>
                        <a:lnTo>
                          <a:pt x="1979" y="891"/>
                        </a:lnTo>
                        <a:lnTo>
                          <a:pt x="1983" y="942"/>
                        </a:lnTo>
                        <a:lnTo>
                          <a:pt x="1984" y="993"/>
                        </a:lnTo>
                        <a:lnTo>
                          <a:pt x="1984" y="1032"/>
                        </a:lnTo>
                        <a:lnTo>
                          <a:pt x="1981" y="1073"/>
                        </a:lnTo>
                        <a:lnTo>
                          <a:pt x="1977" y="1112"/>
                        </a:lnTo>
                        <a:lnTo>
                          <a:pt x="1972" y="1151"/>
                        </a:lnTo>
                        <a:lnTo>
                          <a:pt x="1965" y="1189"/>
                        </a:lnTo>
                        <a:lnTo>
                          <a:pt x="1956" y="1227"/>
                        </a:lnTo>
                        <a:lnTo>
                          <a:pt x="1946" y="1265"/>
                        </a:lnTo>
                        <a:lnTo>
                          <a:pt x="1936" y="1301"/>
                        </a:lnTo>
                        <a:lnTo>
                          <a:pt x="1922" y="1337"/>
                        </a:lnTo>
                        <a:lnTo>
                          <a:pt x="1909" y="1373"/>
                        </a:lnTo>
                        <a:lnTo>
                          <a:pt x="1893" y="1408"/>
                        </a:lnTo>
                        <a:lnTo>
                          <a:pt x="1876" y="1442"/>
                        </a:lnTo>
                        <a:lnTo>
                          <a:pt x="1859" y="1475"/>
                        </a:lnTo>
                        <a:lnTo>
                          <a:pt x="1839" y="1508"/>
                        </a:lnTo>
                        <a:lnTo>
                          <a:pt x="1818" y="1540"/>
                        </a:lnTo>
                        <a:lnTo>
                          <a:pt x="1797" y="1571"/>
                        </a:lnTo>
                        <a:lnTo>
                          <a:pt x="1023" y="2926"/>
                        </a:lnTo>
                        <a:lnTo>
                          <a:pt x="199" y="1591"/>
                        </a:lnTo>
                        <a:lnTo>
                          <a:pt x="202" y="1591"/>
                        </a:lnTo>
                        <a:lnTo>
                          <a:pt x="179" y="1558"/>
                        </a:lnTo>
                        <a:lnTo>
                          <a:pt x="157" y="1526"/>
                        </a:lnTo>
                        <a:lnTo>
                          <a:pt x="136" y="1492"/>
                        </a:lnTo>
                        <a:lnTo>
                          <a:pt x="118" y="1458"/>
                        </a:lnTo>
                        <a:lnTo>
                          <a:pt x="99" y="1422"/>
                        </a:lnTo>
                        <a:lnTo>
                          <a:pt x="82" y="1387"/>
                        </a:lnTo>
                        <a:lnTo>
                          <a:pt x="68" y="1351"/>
                        </a:lnTo>
                        <a:lnTo>
                          <a:pt x="53" y="1312"/>
                        </a:lnTo>
                        <a:lnTo>
                          <a:pt x="42" y="1275"/>
                        </a:lnTo>
                        <a:lnTo>
                          <a:pt x="30" y="1237"/>
                        </a:lnTo>
                        <a:lnTo>
                          <a:pt x="21" y="1197"/>
                        </a:lnTo>
                        <a:lnTo>
                          <a:pt x="14" y="1157"/>
                        </a:lnTo>
                        <a:lnTo>
                          <a:pt x="8" y="1116"/>
                        </a:lnTo>
                        <a:lnTo>
                          <a:pt x="3" y="1076"/>
                        </a:lnTo>
                        <a:lnTo>
                          <a:pt x="1" y="1034"/>
                        </a:lnTo>
                        <a:lnTo>
                          <a:pt x="0" y="993"/>
                        </a:lnTo>
                        <a:lnTo>
                          <a:pt x="1" y="942"/>
                        </a:lnTo>
                        <a:lnTo>
                          <a:pt x="6" y="891"/>
                        </a:lnTo>
                        <a:lnTo>
                          <a:pt x="12" y="841"/>
                        </a:lnTo>
                        <a:lnTo>
                          <a:pt x="20" y="792"/>
                        </a:lnTo>
                        <a:lnTo>
                          <a:pt x="31" y="745"/>
                        </a:lnTo>
                        <a:lnTo>
                          <a:pt x="45" y="698"/>
                        </a:lnTo>
                        <a:lnTo>
                          <a:pt x="61" y="652"/>
                        </a:lnTo>
                        <a:lnTo>
                          <a:pt x="78" y="607"/>
                        </a:lnTo>
                        <a:lnTo>
                          <a:pt x="98" y="563"/>
                        </a:lnTo>
                        <a:lnTo>
                          <a:pt x="120" y="520"/>
                        </a:lnTo>
                        <a:lnTo>
                          <a:pt x="144" y="479"/>
                        </a:lnTo>
                        <a:lnTo>
                          <a:pt x="170" y="438"/>
                        </a:lnTo>
                        <a:lnTo>
                          <a:pt x="198" y="399"/>
                        </a:lnTo>
                        <a:lnTo>
                          <a:pt x="228" y="362"/>
                        </a:lnTo>
                        <a:lnTo>
                          <a:pt x="259" y="326"/>
                        </a:lnTo>
                        <a:lnTo>
                          <a:pt x="291" y="291"/>
                        </a:lnTo>
                        <a:lnTo>
                          <a:pt x="326" y="259"/>
                        </a:lnTo>
                        <a:lnTo>
                          <a:pt x="362" y="228"/>
                        </a:lnTo>
                        <a:lnTo>
                          <a:pt x="399" y="198"/>
                        </a:lnTo>
                        <a:lnTo>
                          <a:pt x="438" y="170"/>
                        </a:lnTo>
                        <a:lnTo>
                          <a:pt x="479" y="145"/>
                        </a:lnTo>
                        <a:lnTo>
                          <a:pt x="520" y="121"/>
                        </a:lnTo>
                        <a:lnTo>
                          <a:pt x="563" y="98"/>
                        </a:lnTo>
                        <a:lnTo>
                          <a:pt x="607" y="78"/>
                        </a:lnTo>
                        <a:lnTo>
                          <a:pt x="651" y="61"/>
                        </a:lnTo>
                        <a:lnTo>
                          <a:pt x="698" y="45"/>
                        </a:lnTo>
                        <a:lnTo>
                          <a:pt x="745" y="32"/>
                        </a:lnTo>
                        <a:lnTo>
                          <a:pt x="792" y="20"/>
                        </a:lnTo>
                        <a:lnTo>
                          <a:pt x="841" y="12"/>
                        </a:lnTo>
                        <a:lnTo>
                          <a:pt x="891" y="6"/>
                        </a:lnTo>
                        <a:lnTo>
                          <a:pt x="942" y="2"/>
                        </a:lnTo>
                        <a:lnTo>
                          <a:pt x="993" y="0"/>
                        </a:lnTo>
                        <a:close/>
                        <a:moveTo>
                          <a:pt x="993" y="421"/>
                        </a:moveTo>
                        <a:lnTo>
                          <a:pt x="1022" y="422"/>
                        </a:lnTo>
                        <a:lnTo>
                          <a:pt x="1051" y="424"/>
                        </a:lnTo>
                        <a:lnTo>
                          <a:pt x="1079" y="428"/>
                        </a:lnTo>
                        <a:lnTo>
                          <a:pt x="1107" y="433"/>
                        </a:lnTo>
                        <a:lnTo>
                          <a:pt x="1135" y="440"/>
                        </a:lnTo>
                        <a:lnTo>
                          <a:pt x="1162" y="447"/>
                        </a:lnTo>
                        <a:lnTo>
                          <a:pt x="1188" y="456"/>
                        </a:lnTo>
                        <a:lnTo>
                          <a:pt x="1214" y="467"/>
                        </a:lnTo>
                        <a:lnTo>
                          <a:pt x="1240" y="478"/>
                        </a:lnTo>
                        <a:lnTo>
                          <a:pt x="1264" y="490"/>
                        </a:lnTo>
                        <a:lnTo>
                          <a:pt x="1289" y="504"/>
                        </a:lnTo>
                        <a:lnTo>
                          <a:pt x="1312" y="518"/>
                        </a:lnTo>
                        <a:lnTo>
                          <a:pt x="1333" y="535"/>
                        </a:lnTo>
                        <a:lnTo>
                          <a:pt x="1355" y="552"/>
                        </a:lnTo>
                        <a:lnTo>
                          <a:pt x="1376" y="570"/>
                        </a:lnTo>
                        <a:lnTo>
                          <a:pt x="1396" y="589"/>
                        </a:lnTo>
                        <a:lnTo>
                          <a:pt x="1415" y="609"/>
                        </a:lnTo>
                        <a:lnTo>
                          <a:pt x="1433" y="629"/>
                        </a:lnTo>
                        <a:lnTo>
                          <a:pt x="1450" y="651"/>
                        </a:lnTo>
                        <a:lnTo>
                          <a:pt x="1466" y="673"/>
                        </a:lnTo>
                        <a:lnTo>
                          <a:pt x="1481" y="697"/>
                        </a:lnTo>
                        <a:lnTo>
                          <a:pt x="1494" y="721"/>
                        </a:lnTo>
                        <a:lnTo>
                          <a:pt x="1507" y="745"/>
                        </a:lnTo>
                        <a:lnTo>
                          <a:pt x="1518" y="771"/>
                        </a:lnTo>
                        <a:lnTo>
                          <a:pt x="1529" y="797"/>
                        </a:lnTo>
                        <a:lnTo>
                          <a:pt x="1538" y="823"/>
                        </a:lnTo>
                        <a:lnTo>
                          <a:pt x="1545" y="850"/>
                        </a:lnTo>
                        <a:lnTo>
                          <a:pt x="1552" y="878"/>
                        </a:lnTo>
                        <a:lnTo>
                          <a:pt x="1557" y="906"/>
                        </a:lnTo>
                        <a:lnTo>
                          <a:pt x="1561" y="934"/>
                        </a:lnTo>
                        <a:lnTo>
                          <a:pt x="1563" y="963"/>
                        </a:lnTo>
                        <a:lnTo>
                          <a:pt x="1564" y="993"/>
                        </a:lnTo>
                        <a:lnTo>
                          <a:pt x="1563" y="1022"/>
                        </a:lnTo>
                        <a:lnTo>
                          <a:pt x="1561" y="1051"/>
                        </a:lnTo>
                        <a:lnTo>
                          <a:pt x="1557" y="1079"/>
                        </a:lnTo>
                        <a:lnTo>
                          <a:pt x="1552" y="1107"/>
                        </a:lnTo>
                        <a:lnTo>
                          <a:pt x="1545" y="1135"/>
                        </a:lnTo>
                        <a:lnTo>
                          <a:pt x="1538" y="1162"/>
                        </a:lnTo>
                        <a:lnTo>
                          <a:pt x="1529" y="1188"/>
                        </a:lnTo>
                        <a:lnTo>
                          <a:pt x="1518" y="1214"/>
                        </a:lnTo>
                        <a:lnTo>
                          <a:pt x="1507" y="1240"/>
                        </a:lnTo>
                        <a:lnTo>
                          <a:pt x="1494" y="1265"/>
                        </a:lnTo>
                        <a:lnTo>
                          <a:pt x="1481" y="1289"/>
                        </a:lnTo>
                        <a:lnTo>
                          <a:pt x="1466" y="1311"/>
                        </a:lnTo>
                        <a:lnTo>
                          <a:pt x="1450" y="1334"/>
                        </a:lnTo>
                        <a:lnTo>
                          <a:pt x="1433" y="1355"/>
                        </a:lnTo>
                        <a:lnTo>
                          <a:pt x="1415" y="1376"/>
                        </a:lnTo>
                        <a:lnTo>
                          <a:pt x="1396" y="1395"/>
                        </a:lnTo>
                        <a:lnTo>
                          <a:pt x="1376" y="1415"/>
                        </a:lnTo>
                        <a:lnTo>
                          <a:pt x="1355" y="1433"/>
                        </a:lnTo>
                        <a:lnTo>
                          <a:pt x="1333" y="1449"/>
                        </a:lnTo>
                        <a:lnTo>
                          <a:pt x="1312" y="1466"/>
                        </a:lnTo>
                        <a:lnTo>
                          <a:pt x="1289" y="1481"/>
                        </a:lnTo>
                        <a:lnTo>
                          <a:pt x="1264" y="1494"/>
                        </a:lnTo>
                        <a:lnTo>
                          <a:pt x="1240" y="1507"/>
                        </a:lnTo>
                        <a:lnTo>
                          <a:pt x="1214" y="1518"/>
                        </a:lnTo>
                        <a:lnTo>
                          <a:pt x="1188" y="1528"/>
                        </a:lnTo>
                        <a:lnTo>
                          <a:pt x="1162" y="1538"/>
                        </a:lnTo>
                        <a:lnTo>
                          <a:pt x="1135" y="1545"/>
                        </a:lnTo>
                        <a:lnTo>
                          <a:pt x="1107" y="1552"/>
                        </a:lnTo>
                        <a:lnTo>
                          <a:pt x="1079" y="1556"/>
                        </a:lnTo>
                        <a:lnTo>
                          <a:pt x="1051" y="1561"/>
                        </a:lnTo>
                        <a:lnTo>
                          <a:pt x="1022" y="1563"/>
                        </a:lnTo>
                        <a:lnTo>
                          <a:pt x="993" y="1564"/>
                        </a:lnTo>
                        <a:lnTo>
                          <a:pt x="963" y="1563"/>
                        </a:lnTo>
                        <a:lnTo>
                          <a:pt x="934" y="1561"/>
                        </a:lnTo>
                        <a:lnTo>
                          <a:pt x="906" y="1556"/>
                        </a:lnTo>
                        <a:lnTo>
                          <a:pt x="878" y="1552"/>
                        </a:lnTo>
                        <a:lnTo>
                          <a:pt x="850" y="1545"/>
                        </a:lnTo>
                        <a:lnTo>
                          <a:pt x="823" y="1538"/>
                        </a:lnTo>
                        <a:lnTo>
                          <a:pt x="797" y="1528"/>
                        </a:lnTo>
                        <a:lnTo>
                          <a:pt x="771" y="1518"/>
                        </a:lnTo>
                        <a:lnTo>
                          <a:pt x="745" y="1507"/>
                        </a:lnTo>
                        <a:lnTo>
                          <a:pt x="721" y="1494"/>
                        </a:lnTo>
                        <a:lnTo>
                          <a:pt x="697" y="1481"/>
                        </a:lnTo>
                        <a:lnTo>
                          <a:pt x="673" y="1466"/>
                        </a:lnTo>
                        <a:lnTo>
                          <a:pt x="651" y="1449"/>
                        </a:lnTo>
                        <a:lnTo>
                          <a:pt x="629" y="1433"/>
                        </a:lnTo>
                        <a:lnTo>
                          <a:pt x="609" y="1415"/>
                        </a:lnTo>
                        <a:lnTo>
                          <a:pt x="589" y="1395"/>
                        </a:lnTo>
                        <a:lnTo>
                          <a:pt x="570" y="1376"/>
                        </a:lnTo>
                        <a:lnTo>
                          <a:pt x="552" y="1355"/>
                        </a:lnTo>
                        <a:lnTo>
                          <a:pt x="535" y="1334"/>
                        </a:lnTo>
                        <a:lnTo>
                          <a:pt x="519" y="1311"/>
                        </a:lnTo>
                        <a:lnTo>
                          <a:pt x="504" y="1289"/>
                        </a:lnTo>
                        <a:lnTo>
                          <a:pt x="490" y="1265"/>
                        </a:lnTo>
                        <a:lnTo>
                          <a:pt x="478" y="1240"/>
                        </a:lnTo>
                        <a:lnTo>
                          <a:pt x="466" y="1214"/>
                        </a:lnTo>
                        <a:lnTo>
                          <a:pt x="456" y="1188"/>
                        </a:lnTo>
                        <a:lnTo>
                          <a:pt x="447" y="1162"/>
                        </a:lnTo>
                        <a:lnTo>
                          <a:pt x="440" y="1135"/>
                        </a:lnTo>
                        <a:lnTo>
                          <a:pt x="433" y="1107"/>
                        </a:lnTo>
                        <a:lnTo>
                          <a:pt x="428" y="1079"/>
                        </a:lnTo>
                        <a:lnTo>
                          <a:pt x="424" y="1051"/>
                        </a:lnTo>
                        <a:lnTo>
                          <a:pt x="422" y="1022"/>
                        </a:lnTo>
                        <a:lnTo>
                          <a:pt x="422" y="993"/>
                        </a:lnTo>
                        <a:lnTo>
                          <a:pt x="422" y="963"/>
                        </a:lnTo>
                        <a:lnTo>
                          <a:pt x="424" y="934"/>
                        </a:lnTo>
                        <a:lnTo>
                          <a:pt x="428" y="906"/>
                        </a:lnTo>
                        <a:lnTo>
                          <a:pt x="433" y="878"/>
                        </a:lnTo>
                        <a:lnTo>
                          <a:pt x="440" y="850"/>
                        </a:lnTo>
                        <a:lnTo>
                          <a:pt x="447" y="823"/>
                        </a:lnTo>
                        <a:lnTo>
                          <a:pt x="456" y="797"/>
                        </a:lnTo>
                        <a:lnTo>
                          <a:pt x="466" y="771"/>
                        </a:lnTo>
                        <a:lnTo>
                          <a:pt x="478" y="745"/>
                        </a:lnTo>
                        <a:lnTo>
                          <a:pt x="490" y="721"/>
                        </a:lnTo>
                        <a:lnTo>
                          <a:pt x="504" y="697"/>
                        </a:lnTo>
                        <a:lnTo>
                          <a:pt x="519" y="673"/>
                        </a:lnTo>
                        <a:lnTo>
                          <a:pt x="535" y="651"/>
                        </a:lnTo>
                        <a:lnTo>
                          <a:pt x="552" y="629"/>
                        </a:lnTo>
                        <a:lnTo>
                          <a:pt x="570" y="609"/>
                        </a:lnTo>
                        <a:lnTo>
                          <a:pt x="589" y="589"/>
                        </a:lnTo>
                        <a:lnTo>
                          <a:pt x="609" y="570"/>
                        </a:lnTo>
                        <a:lnTo>
                          <a:pt x="629" y="552"/>
                        </a:lnTo>
                        <a:lnTo>
                          <a:pt x="651" y="535"/>
                        </a:lnTo>
                        <a:lnTo>
                          <a:pt x="673" y="518"/>
                        </a:lnTo>
                        <a:lnTo>
                          <a:pt x="697" y="504"/>
                        </a:lnTo>
                        <a:lnTo>
                          <a:pt x="721" y="490"/>
                        </a:lnTo>
                        <a:lnTo>
                          <a:pt x="745" y="478"/>
                        </a:lnTo>
                        <a:lnTo>
                          <a:pt x="771" y="467"/>
                        </a:lnTo>
                        <a:lnTo>
                          <a:pt x="797" y="456"/>
                        </a:lnTo>
                        <a:lnTo>
                          <a:pt x="823" y="447"/>
                        </a:lnTo>
                        <a:lnTo>
                          <a:pt x="850" y="440"/>
                        </a:lnTo>
                        <a:lnTo>
                          <a:pt x="878" y="433"/>
                        </a:lnTo>
                        <a:lnTo>
                          <a:pt x="906" y="428"/>
                        </a:lnTo>
                        <a:lnTo>
                          <a:pt x="934" y="424"/>
                        </a:lnTo>
                        <a:lnTo>
                          <a:pt x="963" y="422"/>
                        </a:lnTo>
                        <a:lnTo>
                          <a:pt x="993" y="4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sp>
              <p:nvSpPr>
                <p:cNvPr id="199" name="Freeform 321"/>
                <p:cNvSpPr>
                  <a:spLocks noEditPoints="1"/>
                </p:cNvSpPr>
                <p:nvPr/>
              </p:nvSpPr>
              <p:spPr bwMode="auto">
                <a:xfrm>
                  <a:off x="10990734" y="3428926"/>
                  <a:ext cx="415540" cy="279400"/>
                </a:xfrm>
                <a:custGeom>
                  <a:avLst/>
                  <a:gdLst/>
                  <a:ahLst/>
                  <a:cxnLst>
                    <a:cxn ang="0">
                      <a:pos x="15727" y="26"/>
                    </a:cxn>
                    <a:cxn ang="0">
                      <a:pos x="15922" y="132"/>
                    </a:cxn>
                    <a:cxn ang="0">
                      <a:pos x="16062" y="303"/>
                    </a:cxn>
                    <a:cxn ang="0">
                      <a:pos x="16130" y="519"/>
                    </a:cxn>
                    <a:cxn ang="0">
                      <a:pos x="7" y="490"/>
                    </a:cxn>
                    <a:cxn ang="0">
                      <a:pos x="84" y="279"/>
                    </a:cxn>
                    <a:cxn ang="0">
                      <a:pos x="233" y="115"/>
                    </a:cxn>
                    <a:cxn ang="0">
                      <a:pos x="434" y="18"/>
                    </a:cxn>
                    <a:cxn ang="0">
                      <a:pos x="6998" y="7311"/>
                    </a:cxn>
                    <a:cxn ang="0">
                      <a:pos x="8559" y="2549"/>
                    </a:cxn>
                    <a:cxn ang="0">
                      <a:pos x="9743" y="2981"/>
                    </a:cxn>
                    <a:cxn ang="0">
                      <a:pos x="10660" y="3813"/>
                    </a:cxn>
                    <a:cxn ang="0">
                      <a:pos x="11202" y="4939"/>
                    </a:cxn>
                    <a:cxn ang="0">
                      <a:pos x="11268" y="6237"/>
                    </a:cxn>
                    <a:cxn ang="0">
                      <a:pos x="10835" y="7422"/>
                    </a:cxn>
                    <a:cxn ang="0">
                      <a:pos x="10002" y="8337"/>
                    </a:cxn>
                    <a:cxn ang="0">
                      <a:pos x="8874" y="8879"/>
                    </a:cxn>
                    <a:cxn ang="0">
                      <a:pos x="7574" y="8943"/>
                    </a:cxn>
                    <a:cxn ang="0">
                      <a:pos x="6389" y="8511"/>
                    </a:cxn>
                    <a:cxn ang="0">
                      <a:pos x="5472" y="7679"/>
                    </a:cxn>
                    <a:cxn ang="0">
                      <a:pos x="4930" y="6553"/>
                    </a:cxn>
                    <a:cxn ang="0">
                      <a:pos x="4865" y="5255"/>
                    </a:cxn>
                    <a:cxn ang="0">
                      <a:pos x="5298" y="4071"/>
                    </a:cxn>
                    <a:cxn ang="0">
                      <a:pos x="6131" y="3156"/>
                    </a:cxn>
                    <a:cxn ang="0">
                      <a:pos x="7259" y="2614"/>
                    </a:cxn>
                    <a:cxn ang="0">
                      <a:pos x="8299" y="3474"/>
                    </a:cxn>
                    <a:cxn ang="0">
                      <a:pos x="9154" y="3739"/>
                    </a:cxn>
                    <a:cxn ang="0">
                      <a:pos x="9829" y="4295"/>
                    </a:cxn>
                    <a:cxn ang="0">
                      <a:pos x="10249" y="5068"/>
                    </a:cxn>
                    <a:cxn ang="0">
                      <a:pos x="10341" y="5979"/>
                    </a:cxn>
                    <a:cxn ang="0">
                      <a:pos x="10076" y="6833"/>
                    </a:cxn>
                    <a:cxn ang="0">
                      <a:pos x="9519" y="7507"/>
                    </a:cxn>
                    <a:cxn ang="0">
                      <a:pos x="8745" y="7926"/>
                    </a:cxn>
                    <a:cxn ang="0">
                      <a:pos x="7834" y="8018"/>
                    </a:cxn>
                    <a:cxn ang="0">
                      <a:pos x="6979" y="7753"/>
                    </a:cxn>
                    <a:cxn ang="0">
                      <a:pos x="6303" y="7197"/>
                    </a:cxn>
                    <a:cxn ang="0">
                      <a:pos x="5884" y="6424"/>
                    </a:cxn>
                    <a:cxn ang="0">
                      <a:pos x="5792" y="5513"/>
                    </a:cxn>
                    <a:cxn ang="0">
                      <a:pos x="6057" y="4659"/>
                    </a:cxn>
                    <a:cxn ang="0">
                      <a:pos x="6614" y="3986"/>
                    </a:cxn>
                    <a:cxn ang="0">
                      <a:pos x="7388" y="3566"/>
                    </a:cxn>
                    <a:cxn ang="0">
                      <a:pos x="16133" y="9543"/>
                    </a:cxn>
                    <a:cxn ang="0">
                      <a:pos x="16126" y="11003"/>
                    </a:cxn>
                    <a:cxn ang="0">
                      <a:pos x="16049" y="11213"/>
                    </a:cxn>
                    <a:cxn ang="0">
                      <a:pos x="15900" y="11377"/>
                    </a:cxn>
                    <a:cxn ang="0">
                      <a:pos x="15698" y="11474"/>
                    </a:cxn>
                    <a:cxn ang="0">
                      <a:pos x="519" y="11489"/>
                    </a:cxn>
                    <a:cxn ang="0">
                      <a:pos x="304" y="11423"/>
                    </a:cxn>
                    <a:cxn ang="0">
                      <a:pos x="132" y="11282"/>
                    </a:cxn>
                    <a:cxn ang="0">
                      <a:pos x="26" y="11086"/>
                    </a:cxn>
                    <a:cxn ang="0">
                      <a:pos x="16133" y="9750"/>
                    </a:cxn>
                    <a:cxn ang="0">
                      <a:pos x="3483" y="1338"/>
                    </a:cxn>
                    <a:cxn ang="0">
                      <a:pos x="5884" y="703"/>
                    </a:cxn>
                    <a:cxn ang="0">
                      <a:pos x="7575" y="1338"/>
                    </a:cxn>
                    <a:cxn ang="0">
                      <a:pos x="11941" y="703"/>
                    </a:cxn>
                    <a:cxn ang="0">
                      <a:pos x="12650" y="703"/>
                    </a:cxn>
                    <a:cxn ang="0">
                      <a:pos x="1791" y="10868"/>
                    </a:cxn>
                    <a:cxn ang="0">
                      <a:pos x="4192" y="10232"/>
                    </a:cxn>
                    <a:cxn ang="0">
                      <a:pos x="5884" y="10868"/>
                    </a:cxn>
                    <a:cxn ang="0">
                      <a:pos x="10249" y="10232"/>
                    </a:cxn>
                    <a:cxn ang="0">
                      <a:pos x="10958" y="10232"/>
                    </a:cxn>
                    <a:cxn ang="0">
                      <a:pos x="15325" y="10868"/>
                    </a:cxn>
                  </a:cxnLst>
                  <a:rect l="0" t="0" r="r" b="b"/>
                  <a:pathLst>
                    <a:path w="16133" h="11492">
                      <a:moveTo>
                        <a:pt x="578" y="0"/>
                      </a:moveTo>
                      <a:lnTo>
                        <a:pt x="15555" y="0"/>
                      </a:lnTo>
                      <a:lnTo>
                        <a:pt x="15584" y="1"/>
                      </a:lnTo>
                      <a:lnTo>
                        <a:pt x="15614" y="3"/>
                      </a:lnTo>
                      <a:lnTo>
                        <a:pt x="15642" y="7"/>
                      </a:lnTo>
                      <a:lnTo>
                        <a:pt x="15671" y="12"/>
                      </a:lnTo>
                      <a:lnTo>
                        <a:pt x="15698" y="18"/>
                      </a:lnTo>
                      <a:lnTo>
                        <a:pt x="15727" y="26"/>
                      </a:lnTo>
                      <a:lnTo>
                        <a:pt x="15753" y="35"/>
                      </a:lnTo>
                      <a:lnTo>
                        <a:pt x="15779" y="45"/>
                      </a:lnTo>
                      <a:lnTo>
                        <a:pt x="15805" y="57"/>
                      </a:lnTo>
                      <a:lnTo>
                        <a:pt x="15829" y="70"/>
                      </a:lnTo>
                      <a:lnTo>
                        <a:pt x="15854" y="84"/>
                      </a:lnTo>
                      <a:lnTo>
                        <a:pt x="15878" y="99"/>
                      </a:lnTo>
                      <a:lnTo>
                        <a:pt x="15900" y="115"/>
                      </a:lnTo>
                      <a:lnTo>
                        <a:pt x="15922" y="132"/>
                      </a:lnTo>
                      <a:lnTo>
                        <a:pt x="15943" y="151"/>
                      </a:lnTo>
                      <a:lnTo>
                        <a:pt x="15964" y="169"/>
                      </a:lnTo>
                      <a:lnTo>
                        <a:pt x="15982" y="189"/>
                      </a:lnTo>
                      <a:lnTo>
                        <a:pt x="16001" y="210"/>
                      </a:lnTo>
                      <a:lnTo>
                        <a:pt x="16018" y="233"/>
                      </a:lnTo>
                      <a:lnTo>
                        <a:pt x="16034" y="255"/>
                      </a:lnTo>
                      <a:lnTo>
                        <a:pt x="16049" y="279"/>
                      </a:lnTo>
                      <a:lnTo>
                        <a:pt x="16062" y="303"/>
                      </a:lnTo>
                      <a:lnTo>
                        <a:pt x="16076" y="327"/>
                      </a:lnTo>
                      <a:lnTo>
                        <a:pt x="16088" y="353"/>
                      </a:lnTo>
                      <a:lnTo>
                        <a:pt x="16098" y="380"/>
                      </a:lnTo>
                      <a:lnTo>
                        <a:pt x="16107" y="406"/>
                      </a:lnTo>
                      <a:lnTo>
                        <a:pt x="16115" y="434"/>
                      </a:lnTo>
                      <a:lnTo>
                        <a:pt x="16121" y="461"/>
                      </a:lnTo>
                      <a:lnTo>
                        <a:pt x="16126" y="490"/>
                      </a:lnTo>
                      <a:lnTo>
                        <a:pt x="16130" y="519"/>
                      </a:lnTo>
                      <a:lnTo>
                        <a:pt x="16132" y="548"/>
                      </a:lnTo>
                      <a:lnTo>
                        <a:pt x="16133" y="577"/>
                      </a:lnTo>
                      <a:lnTo>
                        <a:pt x="16133" y="1742"/>
                      </a:lnTo>
                      <a:lnTo>
                        <a:pt x="0" y="1742"/>
                      </a:lnTo>
                      <a:lnTo>
                        <a:pt x="0" y="577"/>
                      </a:lnTo>
                      <a:lnTo>
                        <a:pt x="1" y="548"/>
                      </a:lnTo>
                      <a:lnTo>
                        <a:pt x="3" y="519"/>
                      </a:lnTo>
                      <a:lnTo>
                        <a:pt x="7" y="490"/>
                      </a:lnTo>
                      <a:lnTo>
                        <a:pt x="12" y="461"/>
                      </a:lnTo>
                      <a:lnTo>
                        <a:pt x="18" y="434"/>
                      </a:lnTo>
                      <a:lnTo>
                        <a:pt x="26" y="406"/>
                      </a:lnTo>
                      <a:lnTo>
                        <a:pt x="35" y="380"/>
                      </a:lnTo>
                      <a:lnTo>
                        <a:pt x="45" y="353"/>
                      </a:lnTo>
                      <a:lnTo>
                        <a:pt x="57" y="327"/>
                      </a:lnTo>
                      <a:lnTo>
                        <a:pt x="70" y="303"/>
                      </a:lnTo>
                      <a:lnTo>
                        <a:pt x="84" y="279"/>
                      </a:lnTo>
                      <a:lnTo>
                        <a:pt x="99" y="255"/>
                      </a:lnTo>
                      <a:lnTo>
                        <a:pt x="115" y="233"/>
                      </a:lnTo>
                      <a:lnTo>
                        <a:pt x="132" y="210"/>
                      </a:lnTo>
                      <a:lnTo>
                        <a:pt x="150" y="189"/>
                      </a:lnTo>
                      <a:lnTo>
                        <a:pt x="169" y="169"/>
                      </a:lnTo>
                      <a:lnTo>
                        <a:pt x="190" y="151"/>
                      </a:lnTo>
                      <a:lnTo>
                        <a:pt x="211" y="132"/>
                      </a:lnTo>
                      <a:lnTo>
                        <a:pt x="233" y="115"/>
                      </a:lnTo>
                      <a:lnTo>
                        <a:pt x="255" y="99"/>
                      </a:lnTo>
                      <a:lnTo>
                        <a:pt x="279" y="84"/>
                      </a:lnTo>
                      <a:lnTo>
                        <a:pt x="304" y="70"/>
                      </a:lnTo>
                      <a:lnTo>
                        <a:pt x="328" y="57"/>
                      </a:lnTo>
                      <a:lnTo>
                        <a:pt x="354" y="45"/>
                      </a:lnTo>
                      <a:lnTo>
                        <a:pt x="380" y="35"/>
                      </a:lnTo>
                      <a:lnTo>
                        <a:pt x="406" y="26"/>
                      </a:lnTo>
                      <a:lnTo>
                        <a:pt x="434" y="18"/>
                      </a:lnTo>
                      <a:lnTo>
                        <a:pt x="462" y="12"/>
                      </a:lnTo>
                      <a:lnTo>
                        <a:pt x="490" y="7"/>
                      </a:lnTo>
                      <a:lnTo>
                        <a:pt x="519" y="3"/>
                      </a:lnTo>
                      <a:lnTo>
                        <a:pt x="549" y="1"/>
                      </a:lnTo>
                      <a:lnTo>
                        <a:pt x="578" y="0"/>
                      </a:lnTo>
                      <a:close/>
                      <a:moveTo>
                        <a:pt x="9712" y="5746"/>
                      </a:moveTo>
                      <a:lnTo>
                        <a:pt x="8355" y="6528"/>
                      </a:lnTo>
                      <a:lnTo>
                        <a:pt x="6998" y="7311"/>
                      </a:lnTo>
                      <a:lnTo>
                        <a:pt x="6998" y="5746"/>
                      </a:lnTo>
                      <a:lnTo>
                        <a:pt x="6998" y="4181"/>
                      </a:lnTo>
                      <a:lnTo>
                        <a:pt x="8355" y="4964"/>
                      </a:lnTo>
                      <a:lnTo>
                        <a:pt x="9712" y="5746"/>
                      </a:lnTo>
                      <a:close/>
                      <a:moveTo>
                        <a:pt x="8067" y="2511"/>
                      </a:moveTo>
                      <a:lnTo>
                        <a:pt x="8233" y="2516"/>
                      </a:lnTo>
                      <a:lnTo>
                        <a:pt x="8397" y="2529"/>
                      </a:lnTo>
                      <a:lnTo>
                        <a:pt x="8559" y="2549"/>
                      </a:lnTo>
                      <a:lnTo>
                        <a:pt x="8718" y="2578"/>
                      </a:lnTo>
                      <a:lnTo>
                        <a:pt x="8874" y="2614"/>
                      </a:lnTo>
                      <a:lnTo>
                        <a:pt x="9027" y="2657"/>
                      </a:lnTo>
                      <a:lnTo>
                        <a:pt x="9178" y="2709"/>
                      </a:lnTo>
                      <a:lnTo>
                        <a:pt x="9325" y="2766"/>
                      </a:lnTo>
                      <a:lnTo>
                        <a:pt x="9468" y="2832"/>
                      </a:lnTo>
                      <a:lnTo>
                        <a:pt x="9608" y="2903"/>
                      </a:lnTo>
                      <a:lnTo>
                        <a:pt x="9743" y="2981"/>
                      </a:lnTo>
                      <a:lnTo>
                        <a:pt x="9875" y="3065"/>
                      </a:lnTo>
                      <a:lnTo>
                        <a:pt x="10002" y="3156"/>
                      </a:lnTo>
                      <a:lnTo>
                        <a:pt x="10124" y="3252"/>
                      </a:lnTo>
                      <a:lnTo>
                        <a:pt x="10242" y="3353"/>
                      </a:lnTo>
                      <a:lnTo>
                        <a:pt x="10354" y="3461"/>
                      </a:lnTo>
                      <a:lnTo>
                        <a:pt x="10462" y="3573"/>
                      </a:lnTo>
                      <a:lnTo>
                        <a:pt x="10564" y="3691"/>
                      </a:lnTo>
                      <a:lnTo>
                        <a:pt x="10660" y="3813"/>
                      </a:lnTo>
                      <a:lnTo>
                        <a:pt x="10751" y="3939"/>
                      </a:lnTo>
                      <a:lnTo>
                        <a:pt x="10835" y="4071"/>
                      </a:lnTo>
                      <a:lnTo>
                        <a:pt x="10913" y="4206"/>
                      </a:lnTo>
                      <a:lnTo>
                        <a:pt x="10985" y="4346"/>
                      </a:lnTo>
                      <a:lnTo>
                        <a:pt x="11050" y="4489"/>
                      </a:lnTo>
                      <a:lnTo>
                        <a:pt x="11108" y="4636"/>
                      </a:lnTo>
                      <a:lnTo>
                        <a:pt x="11159" y="4786"/>
                      </a:lnTo>
                      <a:lnTo>
                        <a:pt x="11202" y="4939"/>
                      </a:lnTo>
                      <a:lnTo>
                        <a:pt x="11240" y="5095"/>
                      </a:lnTo>
                      <a:lnTo>
                        <a:pt x="11268" y="5255"/>
                      </a:lnTo>
                      <a:lnTo>
                        <a:pt x="11288" y="5416"/>
                      </a:lnTo>
                      <a:lnTo>
                        <a:pt x="11301" y="5580"/>
                      </a:lnTo>
                      <a:lnTo>
                        <a:pt x="11305" y="5746"/>
                      </a:lnTo>
                      <a:lnTo>
                        <a:pt x="11301" y="5912"/>
                      </a:lnTo>
                      <a:lnTo>
                        <a:pt x="11288" y="6076"/>
                      </a:lnTo>
                      <a:lnTo>
                        <a:pt x="11268" y="6237"/>
                      </a:lnTo>
                      <a:lnTo>
                        <a:pt x="11240" y="6397"/>
                      </a:lnTo>
                      <a:lnTo>
                        <a:pt x="11202" y="6553"/>
                      </a:lnTo>
                      <a:lnTo>
                        <a:pt x="11159" y="6706"/>
                      </a:lnTo>
                      <a:lnTo>
                        <a:pt x="11108" y="6857"/>
                      </a:lnTo>
                      <a:lnTo>
                        <a:pt x="11050" y="7003"/>
                      </a:lnTo>
                      <a:lnTo>
                        <a:pt x="10985" y="7147"/>
                      </a:lnTo>
                      <a:lnTo>
                        <a:pt x="10913" y="7286"/>
                      </a:lnTo>
                      <a:lnTo>
                        <a:pt x="10835" y="7422"/>
                      </a:lnTo>
                      <a:lnTo>
                        <a:pt x="10751" y="7553"/>
                      </a:lnTo>
                      <a:lnTo>
                        <a:pt x="10660" y="7679"/>
                      </a:lnTo>
                      <a:lnTo>
                        <a:pt x="10564" y="7801"/>
                      </a:lnTo>
                      <a:lnTo>
                        <a:pt x="10462" y="7919"/>
                      </a:lnTo>
                      <a:lnTo>
                        <a:pt x="10354" y="8031"/>
                      </a:lnTo>
                      <a:lnTo>
                        <a:pt x="10242" y="8139"/>
                      </a:lnTo>
                      <a:lnTo>
                        <a:pt x="10124" y="8240"/>
                      </a:lnTo>
                      <a:lnTo>
                        <a:pt x="10002" y="8337"/>
                      </a:lnTo>
                      <a:lnTo>
                        <a:pt x="9875" y="8427"/>
                      </a:lnTo>
                      <a:lnTo>
                        <a:pt x="9743" y="8511"/>
                      </a:lnTo>
                      <a:lnTo>
                        <a:pt x="9608" y="8589"/>
                      </a:lnTo>
                      <a:lnTo>
                        <a:pt x="9468" y="8660"/>
                      </a:lnTo>
                      <a:lnTo>
                        <a:pt x="9325" y="8726"/>
                      </a:lnTo>
                      <a:lnTo>
                        <a:pt x="9178" y="8784"/>
                      </a:lnTo>
                      <a:lnTo>
                        <a:pt x="9027" y="8835"/>
                      </a:lnTo>
                      <a:lnTo>
                        <a:pt x="8874" y="8879"/>
                      </a:lnTo>
                      <a:lnTo>
                        <a:pt x="8718" y="8915"/>
                      </a:lnTo>
                      <a:lnTo>
                        <a:pt x="8559" y="8943"/>
                      </a:lnTo>
                      <a:lnTo>
                        <a:pt x="8397" y="8963"/>
                      </a:lnTo>
                      <a:lnTo>
                        <a:pt x="8233" y="8976"/>
                      </a:lnTo>
                      <a:lnTo>
                        <a:pt x="8067" y="8981"/>
                      </a:lnTo>
                      <a:lnTo>
                        <a:pt x="7900" y="8976"/>
                      </a:lnTo>
                      <a:lnTo>
                        <a:pt x="7736" y="8963"/>
                      </a:lnTo>
                      <a:lnTo>
                        <a:pt x="7574" y="8943"/>
                      </a:lnTo>
                      <a:lnTo>
                        <a:pt x="7415" y="8915"/>
                      </a:lnTo>
                      <a:lnTo>
                        <a:pt x="7259" y="8879"/>
                      </a:lnTo>
                      <a:lnTo>
                        <a:pt x="7106" y="8835"/>
                      </a:lnTo>
                      <a:lnTo>
                        <a:pt x="6954" y="8784"/>
                      </a:lnTo>
                      <a:lnTo>
                        <a:pt x="6808" y="8726"/>
                      </a:lnTo>
                      <a:lnTo>
                        <a:pt x="6664" y="8660"/>
                      </a:lnTo>
                      <a:lnTo>
                        <a:pt x="6525" y="8589"/>
                      </a:lnTo>
                      <a:lnTo>
                        <a:pt x="6389" y="8511"/>
                      </a:lnTo>
                      <a:lnTo>
                        <a:pt x="6258" y="8427"/>
                      </a:lnTo>
                      <a:lnTo>
                        <a:pt x="6131" y="8337"/>
                      </a:lnTo>
                      <a:lnTo>
                        <a:pt x="6009" y="8240"/>
                      </a:lnTo>
                      <a:lnTo>
                        <a:pt x="5891" y="8139"/>
                      </a:lnTo>
                      <a:lnTo>
                        <a:pt x="5779" y="8031"/>
                      </a:lnTo>
                      <a:lnTo>
                        <a:pt x="5671" y="7919"/>
                      </a:lnTo>
                      <a:lnTo>
                        <a:pt x="5569" y="7801"/>
                      </a:lnTo>
                      <a:lnTo>
                        <a:pt x="5472" y="7679"/>
                      </a:lnTo>
                      <a:lnTo>
                        <a:pt x="5382" y="7553"/>
                      </a:lnTo>
                      <a:lnTo>
                        <a:pt x="5298" y="7422"/>
                      </a:lnTo>
                      <a:lnTo>
                        <a:pt x="5220" y="7286"/>
                      </a:lnTo>
                      <a:lnTo>
                        <a:pt x="5147" y="7147"/>
                      </a:lnTo>
                      <a:lnTo>
                        <a:pt x="5083" y="7003"/>
                      </a:lnTo>
                      <a:lnTo>
                        <a:pt x="5024" y="6857"/>
                      </a:lnTo>
                      <a:lnTo>
                        <a:pt x="4974" y="6706"/>
                      </a:lnTo>
                      <a:lnTo>
                        <a:pt x="4930" y="6553"/>
                      </a:lnTo>
                      <a:lnTo>
                        <a:pt x="4893" y="6397"/>
                      </a:lnTo>
                      <a:lnTo>
                        <a:pt x="4865" y="6237"/>
                      </a:lnTo>
                      <a:lnTo>
                        <a:pt x="4845" y="6076"/>
                      </a:lnTo>
                      <a:lnTo>
                        <a:pt x="4832" y="5912"/>
                      </a:lnTo>
                      <a:lnTo>
                        <a:pt x="4828" y="5746"/>
                      </a:lnTo>
                      <a:lnTo>
                        <a:pt x="4832" y="5580"/>
                      </a:lnTo>
                      <a:lnTo>
                        <a:pt x="4845" y="5416"/>
                      </a:lnTo>
                      <a:lnTo>
                        <a:pt x="4865" y="5255"/>
                      </a:lnTo>
                      <a:lnTo>
                        <a:pt x="4893" y="5095"/>
                      </a:lnTo>
                      <a:lnTo>
                        <a:pt x="4930" y="4939"/>
                      </a:lnTo>
                      <a:lnTo>
                        <a:pt x="4974" y="4786"/>
                      </a:lnTo>
                      <a:lnTo>
                        <a:pt x="5024" y="4636"/>
                      </a:lnTo>
                      <a:lnTo>
                        <a:pt x="5083" y="4489"/>
                      </a:lnTo>
                      <a:lnTo>
                        <a:pt x="5147" y="4346"/>
                      </a:lnTo>
                      <a:lnTo>
                        <a:pt x="5220" y="4206"/>
                      </a:lnTo>
                      <a:lnTo>
                        <a:pt x="5298" y="4071"/>
                      </a:lnTo>
                      <a:lnTo>
                        <a:pt x="5382" y="3939"/>
                      </a:lnTo>
                      <a:lnTo>
                        <a:pt x="5472" y="3813"/>
                      </a:lnTo>
                      <a:lnTo>
                        <a:pt x="5569" y="3691"/>
                      </a:lnTo>
                      <a:lnTo>
                        <a:pt x="5671" y="3573"/>
                      </a:lnTo>
                      <a:lnTo>
                        <a:pt x="5779" y="3461"/>
                      </a:lnTo>
                      <a:lnTo>
                        <a:pt x="5891" y="3353"/>
                      </a:lnTo>
                      <a:lnTo>
                        <a:pt x="6009" y="3252"/>
                      </a:lnTo>
                      <a:lnTo>
                        <a:pt x="6131" y="3156"/>
                      </a:lnTo>
                      <a:lnTo>
                        <a:pt x="6258" y="3065"/>
                      </a:lnTo>
                      <a:lnTo>
                        <a:pt x="6389" y="2981"/>
                      </a:lnTo>
                      <a:lnTo>
                        <a:pt x="6525" y="2903"/>
                      </a:lnTo>
                      <a:lnTo>
                        <a:pt x="6664" y="2832"/>
                      </a:lnTo>
                      <a:lnTo>
                        <a:pt x="6808" y="2766"/>
                      </a:lnTo>
                      <a:lnTo>
                        <a:pt x="6954" y="2709"/>
                      </a:lnTo>
                      <a:lnTo>
                        <a:pt x="7106" y="2657"/>
                      </a:lnTo>
                      <a:lnTo>
                        <a:pt x="7259" y="2614"/>
                      </a:lnTo>
                      <a:lnTo>
                        <a:pt x="7415" y="2578"/>
                      </a:lnTo>
                      <a:lnTo>
                        <a:pt x="7574" y="2549"/>
                      </a:lnTo>
                      <a:lnTo>
                        <a:pt x="7736" y="2529"/>
                      </a:lnTo>
                      <a:lnTo>
                        <a:pt x="7900" y="2516"/>
                      </a:lnTo>
                      <a:lnTo>
                        <a:pt x="8067" y="2511"/>
                      </a:lnTo>
                      <a:close/>
                      <a:moveTo>
                        <a:pt x="8067" y="3463"/>
                      </a:moveTo>
                      <a:lnTo>
                        <a:pt x="8183" y="3466"/>
                      </a:lnTo>
                      <a:lnTo>
                        <a:pt x="8299" y="3474"/>
                      </a:lnTo>
                      <a:lnTo>
                        <a:pt x="8413" y="3489"/>
                      </a:lnTo>
                      <a:lnTo>
                        <a:pt x="8526" y="3509"/>
                      </a:lnTo>
                      <a:lnTo>
                        <a:pt x="8636" y="3535"/>
                      </a:lnTo>
                      <a:lnTo>
                        <a:pt x="8745" y="3566"/>
                      </a:lnTo>
                      <a:lnTo>
                        <a:pt x="8851" y="3602"/>
                      </a:lnTo>
                      <a:lnTo>
                        <a:pt x="8955" y="3642"/>
                      </a:lnTo>
                      <a:lnTo>
                        <a:pt x="9056" y="3689"/>
                      </a:lnTo>
                      <a:lnTo>
                        <a:pt x="9154" y="3739"/>
                      </a:lnTo>
                      <a:lnTo>
                        <a:pt x="9250" y="3794"/>
                      </a:lnTo>
                      <a:lnTo>
                        <a:pt x="9343" y="3854"/>
                      </a:lnTo>
                      <a:lnTo>
                        <a:pt x="9433" y="3917"/>
                      </a:lnTo>
                      <a:lnTo>
                        <a:pt x="9519" y="3986"/>
                      </a:lnTo>
                      <a:lnTo>
                        <a:pt x="9602" y="4057"/>
                      </a:lnTo>
                      <a:lnTo>
                        <a:pt x="9682" y="4133"/>
                      </a:lnTo>
                      <a:lnTo>
                        <a:pt x="9757" y="4212"/>
                      </a:lnTo>
                      <a:lnTo>
                        <a:pt x="9829" y="4295"/>
                      </a:lnTo>
                      <a:lnTo>
                        <a:pt x="9898" y="4382"/>
                      </a:lnTo>
                      <a:lnTo>
                        <a:pt x="9961" y="4471"/>
                      </a:lnTo>
                      <a:lnTo>
                        <a:pt x="10021" y="4564"/>
                      </a:lnTo>
                      <a:lnTo>
                        <a:pt x="10076" y="4659"/>
                      </a:lnTo>
                      <a:lnTo>
                        <a:pt x="10126" y="4758"/>
                      </a:lnTo>
                      <a:lnTo>
                        <a:pt x="10173" y="4859"/>
                      </a:lnTo>
                      <a:lnTo>
                        <a:pt x="10213" y="4963"/>
                      </a:lnTo>
                      <a:lnTo>
                        <a:pt x="10249" y="5068"/>
                      </a:lnTo>
                      <a:lnTo>
                        <a:pt x="10281" y="5177"/>
                      </a:lnTo>
                      <a:lnTo>
                        <a:pt x="10306" y="5287"/>
                      </a:lnTo>
                      <a:lnTo>
                        <a:pt x="10326" y="5400"/>
                      </a:lnTo>
                      <a:lnTo>
                        <a:pt x="10341" y="5513"/>
                      </a:lnTo>
                      <a:lnTo>
                        <a:pt x="10349" y="5629"/>
                      </a:lnTo>
                      <a:lnTo>
                        <a:pt x="10352" y="5746"/>
                      </a:lnTo>
                      <a:lnTo>
                        <a:pt x="10349" y="5863"/>
                      </a:lnTo>
                      <a:lnTo>
                        <a:pt x="10341" y="5979"/>
                      </a:lnTo>
                      <a:lnTo>
                        <a:pt x="10326" y="6093"/>
                      </a:lnTo>
                      <a:lnTo>
                        <a:pt x="10306" y="6205"/>
                      </a:lnTo>
                      <a:lnTo>
                        <a:pt x="10281" y="6316"/>
                      </a:lnTo>
                      <a:lnTo>
                        <a:pt x="10249" y="6424"/>
                      </a:lnTo>
                      <a:lnTo>
                        <a:pt x="10213" y="6529"/>
                      </a:lnTo>
                      <a:lnTo>
                        <a:pt x="10173" y="6633"/>
                      </a:lnTo>
                      <a:lnTo>
                        <a:pt x="10126" y="6735"/>
                      </a:lnTo>
                      <a:lnTo>
                        <a:pt x="10076" y="6833"/>
                      </a:lnTo>
                      <a:lnTo>
                        <a:pt x="10021" y="6928"/>
                      </a:lnTo>
                      <a:lnTo>
                        <a:pt x="9961" y="7021"/>
                      </a:lnTo>
                      <a:lnTo>
                        <a:pt x="9898" y="7110"/>
                      </a:lnTo>
                      <a:lnTo>
                        <a:pt x="9829" y="7197"/>
                      </a:lnTo>
                      <a:lnTo>
                        <a:pt x="9757" y="7280"/>
                      </a:lnTo>
                      <a:lnTo>
                        <a:pt x="9682" y="7359"/>
                      </a:lnTo>
                      <a:lnTo>
                        <a:pt x="9602" y="7435"/>
                      </a:lnTo>
                      <a:lnTo>
                        <a:pt x="9519" y="7507"/>
                      </a:lnTo>
                      <a:lnTo>
                        <a:pt x="9433" y="7575"/>
                      </a:lnTo>
                      <a:lnTo>
                        <a:pt x="9343" y="7638"/>
                      </a:lnTo>
                      <a:lnTo>
                        <a:pt x="9250" y="7698"/>
                      </a:lnTo>
                      <a:lnTo>
                        <a:pt x="9154" y="7753"/>
                      </a:lnTo>
                      <a:lnTo>
                        <a:pt x="9056" y="7803"/>
                      </a:lnTo>
                      <a:lnTo>
                        <a:pt x="8955" y="7850"/>
                      </a:lnTo>
                      <a:lnTo>
                        <a:pt x="8851" y="7890"/>
                      </a:lnTo>
                      <a:lnTo>
                        <a:pt x="8745" y="7926"/>
                      </a:lnTo>
                      <a:lnTo>
                        <a:pt x="8636" y="7957"/>
                      </a:lnTo>
                      <a:lnTo>
                        <a:pt x="8526" y="7983"/>
                      </a:lnTo>
                      <a:lnTo>
                        <a:pt x="8413" y="8003"/>
                      </a:lnTo>
                      <a:lnTo>
                        <a:pt x="8299" y="8018"/>
                      </a:lnTo>
                      <a:lnTo>
                        <a:pt x="8183" y="8026"/>
                      </a:lnTo>
                      <a:lnTo>
                        <a:pt x="8067" y="8029"/>
                      </a:lnTo>
                      <a:lnTo>
                        <a:pt x="7950" y="8026"/>
                      </a:lnTo>
                      <a:lnTo>
                        <a:pt x="7834" y="8018"/>
                      </a:lnTo>
                      <a:lnTo>
                        <a:pt x="7719" y="8003"/>
                      </a:lnTo>
                      <a:lnTo>
                        <a:pt x="7607" y="7983"/>
                      </a:lnTo>
                      <a:lnTo>
                        <a:pt x="7496" y="7957"/>
                      </a:lnTo>
                      <a:lnTo>
                        <a:pt x="7388" y="7926"/>
                      </a:lnTo>
                      <a:lnTo>
                        <a:pt x="7282" y="7890"/>
                      </a:lnTo>
                      <a:lnTo>
                        <a:pt x="7178" y="7850"/>
                      </a:lnTo>
                      <a:lnTo>
                        <a:pt x="7076" y="7803"/>
                      </a:lnTo>
                      <a:lnTo>
                        <a:pt x="6979" y="7753"/>
                      </a:lnTo>
                      <a:lnTo>
                        <a:pt x="6883" y="7698"/>
                      </a:lnTo>
                      <a:lnTo>
                        <a:pt x="6790" y="7638"/>
                      </a:lnTo>
                      <a:lnTo>
                        <a:pt x="6700" y="7575"/>
                      </a:lnTo>
                      <a:lnTo>
                        <a:pt x="6614" y="7507"/>
                      </a:lnTo>
                      <a:lnTo>
                        <a:pt x="6531" y="7435"/>
                      </a:lnTo>
                      <a:lnTo>
                        <a:pt x="6451" y="7359"/>
                      </a:lnTo>
                      <a:lnTo>
                        <a:pt x="6376" y="7280"/>
                      </a:lnTo>
                      <a:lnTo>
                        <a:pt x="6303" y="7197"/>
                      </a:lnTo>
                      <a:lnTo>
                        <a:pt x="6235" y="7110"/>
                      </a:lnTo>
                      <a:lnTo>
                        <a:pt x="6172" y="7021"/>
                      </a:lnTo>
                      <a:lnTo>
                        <a:pt x="6112" y="6928"/>
                      </a:lnTo>
                      <a:lnTo>
                        <a:pt x="6057" y="6833"/>
                      </a:lnTo>
                      <a:lnTo>
                        <a:pt x="6007" y="6735"/>
                      </a:lnTo>
                      <a:lnTo>
                        <a:pt x="5960" y="6633"/>
                      </a:lnTo>
                      <a:lnTo>
                        <a:pt x="5920" y="6529"/>
                      </a:lnTo>
                      <a:lnTo>
                        <a:pt x="5884" y="6424"/>
                      </a:lnTo>
                      <a:lnTo>
                        <a:pt x="5852" y="6316"/>
                      </a:lnTo>
                      <a:lnTo>
                        <a:pt x="5827" y="6205"/>
                      </a:lnTo>
                      <a:lnTo>
                        <a:pt x="5807" y="6093"/>
                      </a:lnTo>
                      <a:lnTo>
                        <a:pt x="5792" y="5979"/>
                      </a:lnTo>
                      <a:lnTo>
                        <a:pt x="5784" y="5863"/>
                      </a:lnTo>
                      <a:lnTo>
                        <a:pt x="5781" y="5746"/>
                      </a:lnTo>
                      <a:lnTo>
                        <a:pt x="5784" y="5629"/>
                      </a:lnTo>
                      <a:lnTo>
                        <a:pt x="5792" y="5513"/>
                      </a:lnTo>
                      <a:lnTo>
                        <a:pt x="5807" y="5400"/>
                      </a:lnTo>
                      <a:lnTo>
                        <a:pt x="5827" y="5287"/>
                      </a:lnTo>
                      <a:lnTo>
                        <a:pt x="5852" y="5177"/>
                      </a:lnTo>
                      <a:lnTo>
                        <a:pt x="5884" y="5068"/>
                      </a:lnTo>
                      <a:lnTo>
                        <a:pt x="5920" y="4963"/>
                      </a:lnTo>
                      <a:lnTo>
                        <a:pt x="5960" y="4859"/>
                      </a:lnTo>
                      <a:lnTo>
                        <a:pt x="6007" y="4758"/>
                      </a:lnTo>
                      <a:lnTo>
                        <a:pt x="6057" y="4659"/>
                      </a:lnTo>
                      <a:lnTo>
                        <a:pt x="6112" y="4564"/>
                      </a:lnTo>
                      <a:lnTo>
                        <a:pt x="6172" y="4471"/>
                      </a:lnTo>
                      <a:lnTo>
                        <a:pt x="6235" y="4382"/>
                      </a:lnTo>
                      <a:lnTo>
                        <a:pt x="6303" y="4295"/>
                      </a:lnTo>
                      <a:lnTo>
                        <a:pt x="6376" y="4212"/>
                      </a:lnTo>
                      <a:lnTo>
                        <a:pt x="6451" y="4133"/>
                      </a:lnTo>
                      <a:lnTo>
                        <a:pt x="6531" y="4057"/>
                      </a:lnTo>
                      <a:lnTo>
                        <a:pt x="6614" y="3986"/>
                      </a:lnTo>
                      <a:lnTo>
                        <a:pt x="6700" y="3917"/>
                      </a:lnTo>
                      <a:lnTo>
                        <a:pt x="6790" y="3854"/>
                      </a:lnTo>
                      <a:lnTo>
                        <a:pt x="6883" y="3794"/>
                      </a:lnTo>
                      <a:lnTo>
                        <a:pt x="6979" y="3739"/>
                      </a:lnTo>
                      <a:lnTo>
                        <a:pt x="7076" y="3689"/>
                      </a:lnTo>
                      <a:lnTo>
                        <a:pt x="7178" y="3642"/>
                      </a:lnTo>
                      <a:lnTo>
                        <a:pt x="7282" y="3602"/>
                      </a:lnTo>
                      <a:lnTo>
                        <a:pt x="7388" y="3566"/>
                      </a:lnTo>
                      <a:lnTo>
                        <a:pt x="7496" y="3535"/>
                      </a:lnTo>
                      <a:lnTo>
                        <a:pt x="7607" y="3509"/>
                      </a:lnTo>
                      <a:lnTo>
                        <a:pt x="7719" y="3489"/>
                      </a:lnTo>
                      <a:lnTo>
                        <a:pt x="7834" y="3474"/>
                      </a:lnTo>
                      <a:lnTo>
                        <a:pt x="7950" y="3466"/>
                      </a:lnTo>
                      <a:lnTo>
                        <a:pt x="8067" y="3463"/>
                      </a:lnTo>
                      <a:close/>
                      <a:moveTo>
                        <a:pt x="16133" y="1949"/>
                      </a:moveTo>
                      <a:lnTo>
                        <a:pt x="16133" y="9543"/>
                      </a:lnTo>
                      <a:lnTo>
                        <a:pt x="0" y="9543"/>
                      </a:lnTo>
                      <a:lnTo>
                        <a:pt x="0" y="1949"/>
                      </a:lnTo>
                      <a:lnTo>
                        <a:pt x="16133" y="1949"/>
                      </a:lnTo>
                      <a:close/>
                      <a:moveTo>
                        <a:pt x="16133" y="9750"/>
                      </a:moveTo>
                      <a:lnTo>
                        <a:pt x="16133" y="10915"/>
                      </a:lnTo>
                      <a:lnTo>
                        <a:pt x="16132" y="10944"/>
                      </a:lnTo>
                      <a:lnTo>
                        <a:pt x="16130" y="10973"/>
                      </a:lnTo>
                      <a:lnTo>
                        <a:pt x="16126" y="11003"/>
                      </a:lnTo>
                      <a:lnTo>
                        <a:pt x="16121" y="11031"/>
                      </a:lnTo>
                      <a:lnTo>
                        <a:pt x="16115" y="11059"/>
                      </a:lnTo>
                      <a:lnTo>
                        <a:pt x="16107" y="11086"/>
                      </a:lnTo>
                      <a:lnTo>
                        <a:pt x="16098" y="11112"/>
                      </a:lnTo>
                      <a:lnTo>
                        <a:pt x="16088" y="11139"/>
                      </a:lnTo>
                      <a:lnTo>
                        <a:pt x="16076" y="11165"/>
                      </a:lnTo>
                      <a:lnTo>
                        <a:pt x="16062" y="11189"/>
                      </a:lnTo>
                      <a:lnTo>
                        <a:pt x="16049" y="11213"/>
                      </a:lnTo>
                      <a:lnTo>
                        <a:pt x="16034" y="11237"/>
                      </a:lnTo>
                      <a:lnTo>
                        <a:pt x="16018" y="11259"/>
                      </a:lnTo>
                      <a:lnTo>
                        <a:pt x="16001" y="11282"/>
                      </a:lnTo>
                      <a:lnTo>
                        <a:pt x="15982" y="11303"/>
                      </a:lnTo>
                      <a:lnTo>
                        <a:pt x="15964" y="11323"/>
                      </a:lnTo>
                      <a:lnTo>
                        <a:pt x="15943" y="11342"/>
                      </a:lnTo>
                      <a:lnTo>
                        <a:pt x="15922" y="11360"/>
                      </a:lnTo>
                      <a:lnTo>
                        <a:pt x="15900" y="11377"/>
                      </a:lnTo>
                      <a:lnTo>
                        <a:pt x="15878" y="11393"/>
                      </a:lnTo>
                      <a:lnTo>
                        <a:pt x="15854" y="11408"/>
                      </a:lnTo>
                      <a:lnTo>
                        <a:pt x="15829" y="11423"/>
                      </a:lnTo>
                      <a:lnTo>
                        <a:pt x="15805" y="11435"/>
                      </a:lnTo>
                      <a:lnTo>
                        <a:pt x="15779" y="11447"/>
                      </a:lnTo>
                      <a:lnTo>
                        <a:pt x="15753" y="11457"/>
                      </a:lnTo>
                      <a:lnTo>
                        <a:pt x="15727" y="11466"/>
                      </a:lnTo>
                      <a:lnTo>
                        <a:pt x="15698" y="11474"/>
                      </a:lnTo>
                      <a:lnTo>
                        <a:pt x="15671" y="11480"/>
                      </a:lnTo>
                      <a:lnTo>
                        <a:pt x="15642" y="11485"/>
                      </a:lnTo>
                      <a:lnTo>
                        <a:pt x="15614" y="11489"/>
                      </a:lnTo>
                      <a:lnTo>
                        <a:pt x="15584" y="11491"/>
                      </a:lnTo>
                      <a:lnTo>
                        <a:pt x="15555" y="11492"/>
                      </a:lnTo>
                      <a:lnTo>
                        <a:pt x="578" y="11492"/>
                      </a:lnTo>
                      <a:lnTo>
                        <a:pt x="549" y="11491"/>
                      </a:lnTo>
                      <a:lnTo>
                        <a:pt x="519" y="11489"/>
                      </a:lnTo>
                      <a:lnTo>
                        <a:pt x="490" y="11485"/>
                      </a:lnTo>
                      <a:lnTo>
                        <a:pt x="462" y="11480"/>
                      </a:lnTo>
                      <a:lnTo>
                        <a:pt x="434" y="11474"/>
                      </a:lnTo>
                      <a:lnTo>
                        <a:pt x="406" y="11466"/>
                      </a:lnTo>
                      <a:lnTo>
                        <a:pt x="380" y="11457"/>
                      </a:lnTo>
                      <a:lnTo>
                        <a:pt x="354" y="11447"/>
                      </a:lnTo>
                      <a:lnTo>
                        <a:pt x="328" y="11435"/>
                      </a:lnTo>
                      <a:lnTo>
                        <a:pt x="304" y="11423"/>
                      </a:lnTo>
                      <a:lnTo>
                        <a:pt x="279" y="11408"/>
                      </a:lnTo>
                      <a:lnTo>
                        <a:pt x="255" y="11393"/>
                      </a:lnTo>
                      <a:lnTo>
                        <a:pt x="233" y="11377"/>
                      </a:lnTo>
                      <a:lnTo>
                        <a:pt x="211" y="11360"/>
                      </a:lnTo>
                      <a:lnTo>
                        <a:pt x="190" y="11342"/>
                      </a:lnTo>
                      <a:lnTo>
                        <a:pt x="169" y="11323"/>
                      </a:lnTo>
                      <a:lnTo>
                        <a:pt x="150" y="11303"/>
                      </a:lnTo>
                      <a:lnTo>
                        <a:pt x="132" y="11282"/>
                      </a:lnTo>
                      <a:lnTo>
                        <a:pt x="115" y="11259"/>
                      </a:lnTo>
                      <a:lnTo>
                        <a:pt x="99" y="11237"/>
                      </a:lnTo>
                      <a:lnTo>
                        <a:pt x="84" y="11213"/>
                      </a:lnTo>
                      <a:lnTo>
                        <a:pt x="70" y="11189"/>
                      </a:lnTo>
                      <a:lnTo>
                        <a:pt x="57" y="11165"/>
                      </a:lnTo>
                      <a:lnTo>
                        <a:pt x="45" y="11139"/>
                      </a:lnTo>
                      <a:lnTo>
                        <a:pt x="35" y="11112"/>
                      </a:lnTo>
                      <a:lnTo>
                        <a:pt x="26" y="11086"/>
                      </a:lnTo>
                      <a:lnTo>
                        <a:pt x="18" y="11059"/>
                      </a:lnTo>
                      <a:lnTo>
                        <a:pt x="12" y="11031"/>
                      </a:lnTo>
                      <a:lnTo>
                        <a:pt x="7" y="11003"/>
                      </a:lnTo>
                      <a:lnTo>
                        <a:pt x="3" y="10973"/>
                      </a:lnTo>
                      <a:lnTo>
                        <a:pt x="1" y="10944"/>
                      </a:lnTo>
                      <a:lnTo>
                        <a:pt x="0" y="10915"/>
                      </a:lnTo>
                      <a:lnTo>
                        <a:pt x="0" y="9750"/>
                      </a:lnTo>
                      <a:lnTo>
                        <a:pt x="16133" y="9750"/>
                      </a:lnTo>
                      <a:close/>
                      <a:moveTo>
                        <a:pt x="808" y="703"/>
                      </a:moveTo>
                      <a:lnTo>
                        <a:pt x="1791" y="703"/>
                      </a:lnTo>
                      <a:lnTo>
                        <a:pt x="1791" y="1338"/>
                      </a:lnTo>
                      <a:lnTo>
                        <a:pt x="808" y="1338"/>
                      </a:lnTo>
                      <a:lnTo>
                        <a:pt x="808" y="703"/>
                      </a:lnTo>
                      <a:close/>
                      <a:moveTo>
                        <a:pt x="2500" y="703"/>
                      </a:moveTo>
                      <a:lnTo>
                        <a:pt x="3483" y="703"/>
                      </a:lnTo>
                      <a:lnTo>
                        <a:pt x="3483" y="1338"/>
                      </a:lnTo>
                      <a:lnTo>
                        <a:pt x="2500" y="1338"/>
                      </a:lnTo>
                      <a:lnTo>
                        <a:pt x="2500" y="703"/>
                      </a:lnTo>
                      <a:close/>
                      <a:moveTo>
                        <a:pt x="4192" y="703"/>
                      </a:moveTo>
                      <a:lnTo>
                        <a:pt x="5175" y="703"/>
                      </a:lnTo>
                      <a:lnTo>
                        <a:pt x="5175" y="1338"/>
                      </a:lnTo>
                      <a:lnTo>
                        <a:pt x="4192" y="1338"/>
                      </a:lnTo>
                      <a:lnTo>
                        <a:pt x="4192" y="703"/>
                      </a:lnTo>
                      <a:close/>
                      <a:moveTo>
                        <a:pt x="5884" y="703"/>
                      </a:moveTo>
                      <a:lnTo>
                        <a:pt x="6867" y="703"/>
                      </a:lnTo>
                      <a:lnTo>
                        <a:pt x="6867" y="1338"/>
                      </a:lnTo>
                      <a:lnTo>
                        <a:pt x="5884" y="1338"/>
                      </a:lnTo>
                      <a:lnTo>
                        <a:pt x="5884" y="703"/>
                      </a:lnTo>
                      <a:close/>
                      <a:moveTo>
                        <a:pt x="7575" y="703"/>
                      </a:moveTo>
                      <a:lnTo>
                        <a:pt x="8558" y="703"/>
                      </a:lnTo>
                      <a:lnTo>
                        <a:pt x="8558" y="1338"/>
                      </a:lnTo>
                      <a:lnTo>
                        <a:pt x="7575" y="1338"/>
                      </a:lnTo>
                      <a:lnTo>
                        <a:pt x="7575" y="703"/>
                      </a:lnTo>
                      <a:close/>
                      <a:moveTo>
                        <a:pt x="9266" y="703"/>
                      </a:moveTo>
                      <a:lnTo>
                        <a:pt x="10249" y="703"/>
                      </a:lnTo>
                      <a:lnTo>
                        <a:pt x="10249" y="1338"/>
                      </a:lnTo>
                      <a:lnTo>
                        <a:pt x="9266" y="1338"/>
                      </a:lnTo>
                      <a:lnTo>
                        <a:pt x="9266" y="703"/>
                      </a:lnTo>
                      <a:close/>
                      <a:moveTo>
                        <a:pt x="10958" y="703"/>
                      </a:moveTo>
                      <a:lnTo>
                        <a:pt x="11941" y="703"/>
                      </a:lnTo>
                      <a:lnTo>
                        <a:pt x="11941" y="1338"/>
                      </a:lnTo>
                      <a:lnTo>
                        <a:pt x="10958" y="1338"/>
                      </a:lnTo>
                      <a:lnTo>
                        <a:pt x="10958" y="703"/>
                      </a:lnTo>
                      <a:close/>
                      <a:moveTo>
                        <a:pt x="12650" y="703"/>
                      </a:moveTo>
                      <a:lnTo>
                        <a:pt x="13633" y="703"/>
                      </a:lnTo>
                      <a:lnTo>
                        <a:pt x="13633" y="1338"/>
                      </a:lnTo>
                      <a:lnTo>
                        <a:pt x="12650" y="1338"/>
                      </a:lnTo>
                      <a:lnTo>
                        <a:pt x="12650" y="703"/>
                      </a:lnTo>
                      <a:close/>
                      <a:moveTo>
                        <a:pt x="14342" y="703"/>
                      </a:moveTo>
                      <a:lnTo>
                        <a:pt x="15325" y="703"/>
                      </a:lnTo>
                      <a:lnTo>
                        <a:pt x="15325" y="1338"/>
                      </a:lnTo>
                      <a:lnTo>
                        <a:pt x="14342" y="1338"/>
                      </a:lnTo>
                      <a:lnTo>
                        <a:pt x="14342" y="703"/>
                      </a:lnTo>
                      <a:close/>
                      <a:moveTo>
                        <a:pt x="808" y="10232"/>
                      </a:moveTo>
                      <a:lnTo>
                        <a:pt x="1791" y="10232"/>
                      </a:lnTo>
                      <a:lnTo>
                        <a:pt x="1791" y="10868"/>
                      </a:lnTo>
                      <a:lnTo>
                        <a:pt x="808" y="10868"/>
                      </a:lnTo>
                      <a:lnTo>
                        <a:pt x="808" y="10232"/>
                      </a:lnTo>
                      <a:close/>
                      <a:moveTo>
                        <a:pt x="2500" y="10232"/>
                      </a:moveTo>
                      <a:lnTo>
                        <a:pt x="3483" y="10232"/>
                      </a:lnTo>
                      <a:lnTo>
                        <a:pt x="3483" y="10868"/>
                      </a:lnTo>
                      <a:lnTo>
                        <a:pt x="2500" y="10868"/>
                      </a:lnTo>
                      <a:lnTo>
                        <a:pt x="2500" y="10232"/>
                      </a:lnTo>
                      <a:close/>
                      <a:moveTo>
                        <a:pt x="4192" y="10232"/>
                      </a:moveTo>
                      <a:lnTo>
                        <a:pt x="5175" y="10232"/>
                      </a:lnTo>
                      <a:lnTo>
                        <a:pt x="5175" y="10868"/>
                      </a:lnTo>
                      <a:lnTo>
                        <a:pt x="4192" y="10868"/>
                      </a:lnTo>
                      <a:lnTo>
                        <a:pt x="4192" y="10232"/>
                      </a:lnTo>
                      <a:close/>
                      <a:moveTo>
                        <a:pt x="5884" y="10232"/>
                      </a:moveTo>
                      <a:lnTo>
                        <a:pt x="6867" y="10232"/>
                      </a:lnTo>
                      <a:lnTo>
                        <a:pt x="6867" y="10868"/>
                      </a:lnTo>
                      <a:lnTo>
                        <a:pt x="5884" y="10868"/>
                      </a:lnTo>
                      <a:lnTo>
                        <a:pt x="5884" y="10232"/>
                      </a:lnTo>
                      <a:close/>
                      <a:moveTo>
                        <a:pt x="7575" y="10232"/>
                      </a:moveTo>
                      <a:lnTo>
                        <a:pt x="8558" y="10232"/>
                      </a:lnTo>
                      <a:lnTo>
                        <a:pt x="8558" y="10868"/>
                      </a:lnTo>
                      <a:lnTo>
                        <a:pt x="7575" y="10868"/>
                      </a:lnTo>
                      <a:lnTo>
                        <a:pt x="7575" y="10232"/>
                      </a:lnTo>
                      <a:close/>
                      <a:moveTo>
                        <a:pt x="9266" y="10232"/>
                      </a:moveTo>
                      <a:lnTo>
                        <a:pt x="10249" y="10232"/>
                      </a:lnTo>
                      <a:lnTo>
                        <a:pt x="10249" y="10868"/>
                      </a:lnTo>
                      <a:lnTo>
                        <a:pt x="9266" y="10868"/>
                      </a:lnTo>
                      <a:lnTo>
                        <a:pt x="9266" y="10232"/>
                      </a:lnTo>
                      <a:close/>
                      <a:moveTo>
                        <a:pt x="10958" y="10232"/>
                      </a:moveTo>
                      <a:lnTo>
                        <a:pt x="11941" y="10232"/>
                      </a:lnTo>
                      <a:lnTo>
                        <a:pt x="11941" y="10868"/>
                      </a:lnTo>
                      <a:lnTo>
                        <a:pt x="10958" y="10868"/>
                      </a:lnTo>
                      <a:lnTo>
                        <a:pt x="10958" y="10232"/>
                      </a:lnTo>
                      <a:close/>
                      <a:moveTo>
                        <a:pt x="12650" y="10232"/>
                      </a:moveTo>
                      <a:lnTo>
                        <a:pt x="13633" y="10232"/>
                      </a:lnTo>
                      <a:lnTo>
                        <a:pt x="13633" y="10868"/>
                      </a:lnTo>
                      <a:lnTo>
                        <a:pt x="12650" y="10868"/>
                      </a:lnTo>
                      <a:lnTo>
                        <a:pt x="12650" y="10232"/>
                      </a:lnTo>
                      <a:close/>
                      <a:moveTo>
                        <a:pt x="14342" y="10232"/>
                      </a:moveTo>
                      <a:lnTo>
                        <a:pt x="15325" y="10232"/>
                      </a:lnTo>
                      <a:lnTo>
                        <a:pt x="15325" y="10868"/>
                      </a:lnTo>
                      <a:lnTo>
                        <a:pt x="14342" y="10868"/>
                      </a:lnTo>
                      <a:lnTo>
                        <a:pt x="14342" y="10232"/>
                      </a:lnTo>
                      <a:close/>
                    </a:path>
                  </a:pathLst>
                </a:custGeom>
                <a:solidFill>
                  <a:srgbClr val="FFFFFF">
                    <a:lumMod val="9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nvGrpSpPr>
                <p:cNvPr id="200" name="组合 746"/>
                <p:cNvGrpSpPr/>
                <p:nvPr/>
              </p:nvGrpSpPr>
              <p:grpSpPr>
                <a:xfrm>
                  <a:off x="10169096" y="3045813"/>
                  <a:ext cx="317866" cy="296216"/>
                  <a:chOff x="11897858" y="3411765"/>
                  <a:chExt cx="498475" cy="492125"/>
                </a:xfrm>
                <a:solidFill>
                  <a:srgbClr val="FFFFFF">
                    <a:lumMod val="95000"/>
                  </a:srgbClr>
                </a:solidFill>
              </p:grpSpPr>
              <p:sp>
                <p:nvSpPr>
                  <p:cNvPr id="201" name="Freeform 7"/>
                  <p:cNvSpPr>
                    <a:spLocks/>
                  </p:cNvSpPr>
                  <p:nvPr/>
                </p:nvSpPr>
                <p:spPr bwMode="auto">
                  <a:xfrm>
                    <a:off x="12113758" y="3411765"/>
                    <a:ext cx="282575" cy="282575"/>
                  </a:xfrm>
                  <a:custGeom>
                    <a:avLst/>
                    <a:gdLst/>
                    <a:ahLst/>
                    <a:cxnLst>
                      <a:cxn ang="0">
                        <a:pos x="14" y="0"/>
                      </a:cxn>
                      <a:cxn ang="0">
                        <a:pos x="14" y="0"/>
                      </a:cxn>
                      <a:cxn ang="0">
                        <a:pos x="8" y="2"/>
                      </a:cxn>
                      <a:cxn ang="0">
                        <a:pos x="4" y="4"/>
                      </a:cxn>
                      <a:cxn ang="0">
                        <a:pos x="2" y="8"/>
                      </a:cxn>
                      <a:cxn ang="0">
                        <a:pos x="0" y="14"/>
                      </a:cxn>
                      <a:cxn ang="0">
                        <a:pos x="0" y="14"/>
                      </a:cxn>
                      <a:cxn ang="0">
                        <a:pos x="2" y="20"/>
                      </a:cxn>
                      <a:cxn ang="0">
                        <a:pos x="4" y="24"/>
                      </a:cxn>
                      <a:cxn ang="0">
                        <a:pos x="8" y="28"/>
                      </a:cxn>
                      <a:cxn ang="0">
                        <a:pos x="14" y="28"/>
                      </a:cxn>
                      <a:cxn ang="0">
                        <a:pos x="14" y="28"/>
                      </a:cxn>
                      <a:cxn ang="0">
                        <a:pos x="28" y="30"/>
                      </a:cxn>
                      <a:cxn ang="0">
                        <a:pos x="42" y="32"/>
                      </a:cxn>
                      <a:cxn ang="0">
                        <a:pos x="54" y="34"/>
                      </a:cxn>
                      <a:cxn ang="0">
                        <a:pos x="68" y="40"/>
                      </a:cxn>
                      <a:cxn ang="0">
                        <a:pos x="78" y="44"/>
                      </a:cxn>
                      <a:cxn ang="0">
                        <a:pos x="90" y="52"/>
                      </a:cxn>
                      <a:cxn ang="0">
                        <a:pos x="100" y="60"/>
                      </a:cxn>
                      <a:cxn ang="0">
                        <a:pos x="110" y="68"/>
                      </a:cxn>
                      <a:cxn ang="0">
                        <a:pos x="118" y="78"/>
                      </a:cxn>
                      <a:cxn ang="0">
                        <a:pos x="126" y="88"/>
                      </a:cxn>
                      <a:cxn ang="0">
                        <a:pos x="134" y="100"/>
                      </a:cxn>
                      <a:cxn ang="0">
                        <a:pos x="138" y="110"/>
                      </a:cxn>
                      <a:cxn ang="0">
                        <a:pos x="144" y="124"/>
                      </a:cxn>
                      <a:cxn ang="0">
                        <a:pos x="146" y="136"/>
                      </a:cxn>
                      <a:cxn ang="0">
                        <a:pos x="148" y="150"/>
                      </a:cxn>
                      <a:cxn ang="0">
                        <a:pos x="150" y="164"/>
                      </a:cxn>
                      <a:cxn ang="0">
                        <a:pos x="150" y="164"/>
                      </a:cxn>
                      <a:cxn ang="0">
                        <a:pos x="150" y="168"/>
                      </a:cxn>
                      <a:cxn ang="0">
                        <a:pos x="154" y="174"/>
                      </a:cxn>
                      <a:cxn ang="0">
                        <a:pos x="158" y="176"/>
                      </a:cxn>
                      <a:cxn ang="0">
                        <a:pos x="164" y="178"/>
                      </a:cxn>
                      <a:cxn ang="0">
                        <a:pos x="164" y="178"/>
                      </a:cxn>
                      <a:cxn ang="0">
                        <a:pos x="170" y="176"/>
                      </a:cxn>
                      <a:cxn ang="0">
                        <a:pos x="174" y="174"/>
                      </a:cxn>
                      <a:cxn ang="0">
                        <a:pos x="178" y="168"/>
                      </a:cxn>
                      <a:cxn ang="0">
                        <a:pos x="178" y="164"/>
                      </a:cxn>
                      <a:cxn ang="0">
                        <a:pos x="178" y="164"/>
                      </a:cxn>
                      <a:cxn ang="0">
                        <a:pos x="178" y="146"/>
                      </a:cxn>
                      <a:cxn ang="0">
                        <a:pos x="176" y="130"/>
                      </a:cxn>
                      <a:cxn ang="0">
                        <a:pos x="172" y="114"/>
                      </a:cxn>
                      <a:cxn ang="0">
                        <a:pos x="166" y="100"/>
                      </a:cxn>
                      <a:cxn ang="0">
                        <a:pos x="158" y="86"/>
                      </a:cxn>
                      <a:cxn ang="0">
                        <a:pos x="150" y="72"/>
                      </a:cxn>
                      <a:cxn ang="0">
                        <a:pos x="142" y="60"/>
                      </a:cxn>
                      <a:cxn ang="0">
                        <a:pos x="130" y="48"/>
                      </a:cxn>
                      <a:cxn ang="0">
                        <a:pos x="118" y="38"/>
                      </a:cxn>
                      <a:cxn ang="0">
                        <a:pos x="106" y="28"/>
                      </a:cxn>
                      <a:cxn ang="0">
                        <a:pos x="92" y="20"/>
                      </a:cxn>
                      <a:cxn ang="0">
                        <a:pos x="78" y="12"/>
                      </a:cxn>
                      <a:cxn ang="0">
                        <a:pos x="64" y="8"/>
                      </a:cxn>
                      <a:cxn ang="0">
                        <a:pos x="48" y="4"/>
                      </a:cxn>
                      <a:cxn ang="0">
                        <a:pos x="32" y="0"/>
                      </a:cxn>
                      <a:cxn ang="0">
                        <a:pos x="14" y="0"/>
                      </a:cxn>
                      <a:cxn ang="0">
                        <a:pos x="14" y="0"/>
                      </a:cxn>
                    </a:cxnLst>
                    <a:rect l="0" t="0" r="r" b="b"/>
                    <a:pathLst>
                      <a:path w="178" h="178">
                        <a:moveTo>
                          <a:pt x="14" y="0"/>
                        </a:moveTo>
                        <a:lnTo>
                          <a:pt x="14" y="0"/>
                        </a:lnTo>
                        <a:lnTo>
                          <a:pt x="8" y="2"/>
                        </a:lnTo>
                        <a:lnTo>
                          <a:pt x="4" y="4"/>
                        </a:lnTo>
                        <a:lnTo>
                          <a:pt x="2" y="8"/>
                        </a:lnTo>
                        <a:lnTo>
                          <a:pt x="0" y="14"/>
                        </a:lnTo>
                        <a:lnTo>
                          <a:pt x="0" y="14"/>
                        </a:lnTo>
                        <a:lnTo>
                          <a:pt x="2" y="20"/>
                        </a:lnTo>
                        <a:lnTo>
                          <a:pt x="4" y="24"/>
                        </a:lnTo>
                        <a:lnTo>
                          <a:pt x="8" y="28"/>
                        </a:lnTo>
                        <a:lnTo>
                          <a:pt x="14" y="28"/>
                        </a:lnTo>
                        <a:lnTo>
                          <a:pt x="14" y="28"/>
                        </a:lnTo>
                        <a:lnTo>
                          <a:pt x="28" y="30"/>
                        </a:lnTo>
                        <a:lnTo>
                          <a:pt x="42" y="32"/>
                        </a:lnTo>
                        <a:lnTo>
                          <a:pt x="54" y="34"/>
                        </a:lnTo>
                        <a:lnTo>
                          <a:pt x="68" y="40"/>
                        </a:lnTo>
                        <a:lnTo>
                          <a:pt x="78" y="44"/>
                        </a:lnTo>
                        <a:lnTo>
                          <a:pt x="90" y="52"/>
                        </a:lnTo>
                        <a:lnTo>
                          <a:pt x="100" y="60"/>
                        </a:lnTo>
                        <a:lnTo>
                          <a:pt x="110" y="68"/>
                        </a:lnTo>
                        <a:lnTo>
                          <a:pt x="118" y="78"/>
                        </a:lnTo>
                        <a:lnTo>
                          <a:pt x="126" y="88"/>
                        </a:lnTo>
                        <a:lnTo>
                          <a:pt x="134" y="100"/>
                        </a:lnTo>
                        <a:lnTo>
                          <a:pt x="138" y="110"/>
                        </a:lnTo>
                        <a:lnTo>
                          <a:pt x="144" y="124"/>
                        </a:lnTo>
                        <a:lnTo>
                          <a:pt x="146" y="136"/>
                        </a:lnTo>
                        <a:lnTo>
                          <a:pt x="148" y="150"/>
                        </a:lnTo>
                        <a:lnTo>
                          <a:pt x="150" y="164"/>
                        </a:lnTo>
                        <a:lnTo>
                          <a:pt x="150" y="164"/>
                        </a:lnTo>
                        <a:lnTo>
                          <a:pt x="150" y="168"/>
                        </a:lnTo>
                        <a:lnTo>
                          <a:pt x="154" y="174"/>
                        </a:lnTo>
                        <a:lnTo>
                          <a:pt x="158" y="176"/>
                        </a:lnTo>
                        <a:lnTo>
                          <a:pt x="164" y="178"/>
                        </a:lnTo>
                        <a:lnTo>
                          <a:pt x="164" y="178"/>
                        </a:lnTo>
                        <a:lnTo>
                          <a:pt x="170" y="176"/>
                        </a:lnTo>
                        <a:lnTo>
                          <a:pt x="174" y="174"/>
                        </a:lnTo>
                        <a:lnTo>
                          <a:pt x="178" y="168"/>
                        </a:lnTo>
                        <a:lnTo>
                          <a:pt x="178" y="164"/>
                        </a:lnTo>
                        <a:lnTo>
                          <a:pt x="178" y="164"/>
                        </a:lnTo>
                        <a:lnTo>
                          <a:pt x="178" y="146"/>
                        </a:lnTo>
                        <a:lnTo>
                          <a:pt x="176" y="130"/>
                        </a:lnTo>
                        <a:lnTo>
                          <a:pt x="172" y="114"/>
                        </a:lnTo>
                        <a:lnTo>
                          <a:pt x="166" y="100"/>
                        </a:lnTo>
                        <a:lnTo>
                          <a:pt x="158" y="86"/>
                        </a:lnTo>
                        <a:lnTo>
                          <a:pt x="150" y="72"/>
                        </a:lnTo>
                        <a:lnTo>
                          <a:pt x="142" y="60"/>
                        </a:lnTo>
                        <a:lnTo>
                          <a:pt x="130" y="48"/>
                        </a:lnTo>
                        <a:lnTo>
                          <a:pt x="118" y="38"/>
                        </a:lnTo>
                        <a:lnTo>
                          <a:pt x="106" y="28"/>
                        </a:lnTo>
                        <a:lnTo>
                          <a:pt x="92" y="20"/>
                        </a:lnTo>
                        <a:lnTo>
                          <a:pt x="78" y="12"/>
                        </a:lnTo>
                        <a:lnTo>
                          <a:pt x="64" y="8"/>
                        </a:lnTo>
                        <a:lnTo>
                          <a:pt x="48" y="4"/>
                        </a:lnTo>
                        <a:lnTo>
                          <a:pt x="32" y="0"/>
                        </a:lnTo>
                        <a:lnTo>
                          <a:pt x="14" y="0"/>
                        </a:lnTo>
                        <a:lnTo>
                          <a:pt x="1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2" name="Freeform 8"/>
                  <p:cNvSpPr>
                    <a:spLocks/>
                  </p:cNvSpPr>
                  <p:nvPr/>
                </p:nvSpPr>
                <p:spPr bwMode="auto">
                  <a:xfrm>
                    <a:off x="12113758" y="3497490"/>
                    <a:ext cx="193675" cy="196850"/>
                  </a:xfrm>
                  <a:custGeom>
                    <a:avLst/>
                    <a:gdLst/>
                    <a:ahLst/>
                    <a:cxnLst>
                      <a:cxn ang="0">
                        <a:pos x="92" y="110"/>
                      </a:cxn>
                      <a:cxn ang="0">
                        <a:pos x="92" y="110"/>
                      </a:cxn>
                      <a:cxn ang="0">
                        <a:pos x="94" y="114"/>
                      </a:cxn>
                      <a:cxn ang="0">
                        <a:pos x="96" y="120"/>
                      </a:cxn>
                      <a:cxn ang="0">
                        <a:pos x="100" y="122"/>
                      </a:cxn>
                      <a:cxn ang="0">
                        <a:pos x="106" y="124"/>
                      </a:cxn>
                      <a:cxn ang="0">
                        <a:pos x="106" y="124"/>
                      </a:cxn>
                      <a:cxn ang="0">
                        <a:pos x="112" y="122"/>
                      </a:cxn>
                      <a:cxn ang="0">
                        <a:pos x="116" y="120"/>
                      </a:cxn>
                      <a:cxn ang="0">
                        <a:pos x="120" y="114"/>
                      </a:cxn>
                      <a:cxn ang="0">
                        <a:pos x="122" y="110"/>
                      </a:cxn>
                      <a:cxn ang="0">
                        <a:pos x="122" y="110"/>
                      </a:cxn>
                      <a:cxn ang="0">
                        <a:pos x="120" y="88"/>
                      </a:cxn>
                      <a:cxn ang="0">
                        <a:pos x="112" y="68"/>
                      </a:cxn>
                      <a:cxn ang="0">
                        <a:pos x="102" y="48"/>
                      </a:cxn>
                      <a:cxn ang="0">
                        <a:pos x="90" y="32"/>
                      </a:cxn>
                      <a:cxn ang="0">
                        <a:pos x="74" y="20"/>
                      </a:cxn>
                      <a:cxn ang="0">
                        <a:pos x="56" y="10"/>
                      </a:cxn>
                      <a:cxn ang="0">
                        <a:pos x="36" y="2"/>
                      </a:cxn>
                      <a:cxn ang="0">
                        <a:pos x="14" y="0"/>
                      </a:cxn>
                      <a:cxn ang="0">
                        <a:pos x="14" y="0"/>
                      </a:cxn>
                      <a:cxn ang="0">
                        <a:pos x="8" y="2"/>
                      </a:cxn>
                      <a:cxn ang="0">
                        <a:pos x="4" y="4"/>
                      </a:cxn>
                      <a:cxn ang="0">
                        <a:pos x="2" y="10"/>
                      </a:cxn>
                      <a:cxn ang="0">
                        <a:pos x="0" y="14"/>
                      </a:cxn>
                      <a:cxn ang="0">
                        <a:pos x="0" y="14"/>
                      </a:cxn>
                      <a:cxn ang="0">
                        <a:pos x="2" y="20"/>
                      </a:cxn>
                      <a:cxn ang="0">
                        <a:pos x="4" y="26"/>
                      </a:cxn>
                      <a:cxn ang="0">
                        <a:pos x="8" y="28"/>
                      </a:cxn>
                      <a:cxn ang="0">
                        <a:pos x="14" y="30"/>
                      </a:cxn>
                      <a:cxn ang="0">
                        <a:pos x="14" y="30"/>
                      </a:cxn>
                      <a:cxn ang="0">
                        <a:pos x="30" y="30"/>
                      </a:cxn>
                      <a:cxn ang="0">
                        <a:pos x="44" y="36"/>
                      </a:cxn>
                      <a:cxn ang="0">
                        <a:pos x="58" y="42"/>
                      </a:cxn>
                      <a:cxn ang="0">
                        <a:pos x="70" y="52"/>
                      </a:cxn>
                      <a:cxn ang="0">
                        <a:pos x="78" y="64"/>
                      </a:cxn>
                      <a:cxn ang="0">
                        <a:pos x="86" y="78"/>
                      </a:cxn>
                      <a:cxn ang="0">
                        <a:pos x="90" y="94"/>
                      </a:cxn>
                      <a:cxn ang="0">
                        <a:pos x="92" y="110"/>
                      </a:cxn>
                      <a:cxn ang="0">
                        <a:pos x="92" y="110"/>
                      </a:cxn>
                    </a:cxnLst>
                    <a:rect l="0" t="0" r="r" b="b"/>
                    <a:pathLst>
                      <a:path w="122" h="124">
                        <a:moveTo>
                          <a:pt x="92" y="110"/>
                        </a:moveTo>
                        <a:lnTo>
                          <a:pt x="92" y="110"/>
                        </a:lnTo>
                        <a:lnTo>
                          <a:pt x="94" y="114"/>
                        </a:lnTo>
                        <a:lnTo>
                          <a:pt x="96" y="120"/>
                        </a:lnTo>
                        <a:lnTo>
                          <a:pt x="100" y="122"/>
                        </a:lnTo>
                        <a:lnTo>
                          <a:pt x="106" y="124"/>
                        </a:lnTo>
                        <a:lnTo>
                          <a:pt x="106" y="124"/>
                        </a:lnTo>
                        <a:lnTo>
                          <a:pt x="112" y="122"/>
                        </a:lnTo>
                        <a:lnTo>
                          <a:pt x="116" y="120"/>
                        </a:lnTo>
                        <a:lnTo>
                          <a:pt x="120" y="114"/>
                        </a:lnTo>
                        <a:lnTo>
                          <a:pt x="122" y="110"/>
                        </a:lnTo>
                        <a:lnTo>
                          <a:pt x="122" y="110"/>
                        </a:lnTo>
                        <a:lnTo>
                          <a:pt x="120" y="88"/>
                        </a:lnTo>
                        <a:lnTo>
                          <a:pt x="112" y="68"/>
                        </a:lnTo>
                        <a:lnTo>
                          <a:pt x="102" y="48"/>
                        </a:lnTo>
                        <a:lnTo>
                          <a:pt x="90" y="32"/>
                        </a:lnTo>
                        <a:lnTo>
                          <a:pt x="74" y="20"/>
                        </a:lnTo>
                        <a:lnTo>
                          <a:pt x="56" y="10"/>
                        </a:lnTo>
                        <a:lnTo>
                          <a:pt x="36" y="2"/>
                        </a:lnTo>
                        <a:lnTo>
                          <a:pt x="14" y="0"/>
                        </a:lnTo>
                        <a:lnTo>
                          <a:pt x="14" y="0"/>
                        </a:lnTo>
                        <a:lnTo>
                          <a:pt x="8" y="2"/>
                        </a:lnTo>
                        <a:lnTo>
                          <a:pt x="4" y="4"/>
                        </a:lnTo>
                        <a:lnTo>
                          <a:pt x="2" y="10"/>
                        </a:lnTo>
                        <a:lnTo>
                          <a:pt x="0" y="14"/>
                        </a:lnTo>
                        <a:lnTo>
                          <a:pt x="0" y="14"/>
                        </a:lnTo>
                        <a:lnTo>
                          <a:pt x="2" y="20"/>
                        </a:lnTo>
                        <a:lnTo>
                          <a:pt x="4" y="26"/>
                        </a:lnTo>
                        <a:lnTo>
                          <a:pt x="8" y="28"/>
                        </a:lnTo>
                        <a:lnTo>
                          <a:pt x="14" y="30"/>
                        </a:lnTo>
                        <a:lnTo>
                          <a:pt x="14" y="30"/>
                        </a:lnTo>
                        <a:lnTo>
                          <a:pt x="30" y="30"/>
                        </a:lnTo>
                        <a:lnTo>
                          <a:pt x="44" y="36"/>
                        </a:lnTo>
                        <a:lnTo>
                          <a:pt x="58" y="42"/>
                        </a:lnTo>
                        <a:lnTo>
                          <a:pt x="70" y="52"/>
                        </a:lnTo>
                        <a:lnTo>
                          <a:pt x="78" y="64"/>
                        </a:lnTo>
                        <a:lnTo>
                          <a:pt x="86" y="78"/>
                        </a:lnTo>
                        <a:lnTo>
                          <a:pt x="90" y="94"/>
                        </a:lnTo>
                        <a:lnTo>
                          <a:pt x="92" y="110"/>
                        </a:lnTo>
                        <a:lnTo>
                          <a:pt x="92" y="1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3" name="Freeform 9"/>
                  <p:cNvSpPr>
                    <a:spLocks/>
                  </p:cNvSpPr>
                  <p:nvPr/>
                </p:nvSpPr>
                <p:spPr bwMode="auto">
                  <a:xfrm>
                    <a:off x="11897858" y="3446690"/>
                    <a:ext cx="454025" cy="457200"/>
                  </a:xfrm>
                  <a:custGeom>
                    <a:avLst/>
                    <a:gdLst/>
                    <a:ahLst/>
                    <a:cxnLst>
                      <a:cxn ang="0">
                        <a:pos x="244" y="188"/>
                      </a:cxn>
                      <a:cxn ang="0">
                        <a:pos x="244" y="188"/>
                      </a:cxn>
                      <a:cxn ang="0">
                        <a:pos x="238" y="182"/>
                      </a:cxn>
                      <a:cxn ang="0">
                        <a:pos x="230" y="180"/>
                      </a:cxn>
                      <a:cxn ang="0">
                        <a:pos x="224" y="182"/>
                      </a:cxn>
                      <a:cxn ang="0">
                        <a:pos x="218" y="184"/>
                      </a:cxn>
                      <a:cxn ang="0">
                        <a:pos x="198" y="206"/>
                      </a:cxn>
                      <a:cxn ang="0">
                        <a:pos x="82" y="92"/>
                      </a:cxn>
                      <a:cxn ang="0">
                        <a:pos x="106" y="68"/>
                      </a:cxn>
                      <a:cxn ang="0">
                        <a:pos x="106" y="68"/>
                      </a:cxn>
                      <a:cxn ang="0">
                        <a:pos x="108" y="62"/>
                      </a:cxn>
                      <a:cxn ang="0">
                        <a:pos x="110" y="56"/>
                      </a:cxn>
                      <a:cxn ang="0">
                        <a:pos x="108" y="50"/>
                      </a:cxn>
                      <a:cxn ang="0">
                        <a:pos x="102" y="42"/>
                      </a:cxn>
                      <a:cxn ang="0">
                        <a:pos x="66" y="6"/>
                      </a:cxn>
                      <a:cxn ang="0">
                        <a:pos x="66" y="6"/>
                      </a:cxn>
                      <a:cxn ang="0">
                        <a:pos x="60" y="2"/>
                      </a:cxn>
                      <a:cxn ang="0">
                        <a:pos x="54" y="0"/>
                      </a:cxn>
                      <a:cxn ang="0">
                        <a:pos x="48" y="0"/>
                      </a:cxn>
                      <a:cxn ang="0">
                        <a:pos x="42" y="4"/>
                      </a:cxn>
                      <a:cxn ang="0">
                        <a:pos x="14" y="32"/>
                      </a:cxn>
                      <a:cxn ang="0">
                        <a:pos x="14" y="32"/>
                      </a:cxn>
                      <a:cxn ang="0">
                        <a:pos x="8" y="38"/>
                      </a:cxn>
                      <a:cxn ang="0">
                        <a:pos x="4" y="46"/>
                      </a:cxn>
                      <a:cxn ang="0">
                        <a:pos x="2" y="54"/>
                      </a:cxn>
                      <a:cxn ang="0">
                        <a:pos x="0" y="62"/>
                      </a:cxn>
                      <a:cxn ang="0">
                        <a:pos x="0" y="72"/>
                      </a:cxn>
                      <a:cxn ang="0">
                        <a:pos x="2" y="80"/>
                      </a:cxn>
                      <a:cxn ang="0">
                        <a:pos x="6" y="90"/>
                      </a:cxn>
                      <a:cxn ang="0">
                        <a:pos x="12" y="98"/>
                      </a:cxn>
                      <a:cxn ang="0">
                        <a:pos x="12" y="98"/>
                      </a:cxn>
                      <a:cxn ang="0">
                        <a:pos x="32" y="128"/>
                      </a:cxn>
                      <a:cxn ang="0">
                        <a:pos x="50" y="154"/>
                      </a:cxn>
                      <a:cxn ang="0">
                        <a:pos x="70" y="178"/>
                      </a:cxn>
                      <a:cxn ang="0">
                        <a:pos x="90" y="200"/>
                      </a:cxn>
                      <a:cxn ang="0">
                        <a:pos x="112" y="220"/>
                      </a:cxn>
                      <a:cxn ang="0">
                        <a:pos x="136" y="240"/>
                      </a:cxn>
                      <a:cxn ang="0">
                        <a:pos x="162" y="258"/>
                      </a:cxn>
                      <a:cxn ang="0">
                        <a:pos x="190" y="278"/>
                      </a:cxn>
                      <a:cxn ang="0">
                        <a:pos x="190" y="278"/>
                      </a:cxn>
                      <a:cxn ang="0">
                        <a:pos x="198" y="282"/>
                      </a:cxn>
                      <a:cxn ang="0">
                        <a:pos x="208" y="286"/>
                      </a:cxn>
                      <a:cxn ang="0">
                        <a:pos x="216" y="288"/>
                      </a:cxn>
                      <a:cxn ang="0">
                        <a:pos x="226" y="288"/>
                      </a:cxn>
                      <a:cxn ang="0">
                        <a:pos x="234" y="286"/>
                      </a:cxn>
                      <a:cxn ang="0">
                        <a:pos x="242" y="284"/>
                      </a:cxn>
                      <a:cxn ang="0">
                        <a:pos x="250" y="280"/>
                      </a:cxn>
                      <a:cxn ang="0">
                        <a:pos x="258" y="274"/>
                      </a:cxn>
                      <a:cxn ang="0">
                        <a:pos x="282" y="248"/>
                      </a:cxn>
                      <a:cxn ang="0">
                        <a:pos x="282" y="248"/>
                      </a:cxn>
                      <a:cxn ang="0">
                        <a:pos x="286" y="244"/>
                      </a:cxn>
                      <a:cxn ang="0">
                        <a:pos x="286" y="236"/>
                      </a:cxn>
                      <a:cxn ang="0">
                        <a:pos x="284" y="230"/>
                      </a:cxn>
                      <a:cxn ang="0">
                        <a:pos x="280" y="224"/>
                      </a:cxn>
                      <a:cxn ang="0">
                        <a:pos x="244" y="188"/>
                      </a:cxn>
                    </a:cxnLst>
                    <a:rect l="0" t="0" r="r" b="b"/>
                    <a:pathLst>
                      <a:path w="286" h="288">
                        <a:moveTo>
                          <a:pt x="244" y="188"/>
                        </a:moveTo>
                        <a:lnTo>
                          <a:pt x="244" y="188"/>
                        </a:lnTo>
                        <a:lnTo>
                          <a:pt x="238" y="182"/>
                        </a:lnTo>
                        <a:lnTo>
                          <a:pt x="230" y="180"/>
                        </a:lnTo>
                        <a:lnTo>
                          <a:pt x="224" y="182"/>
                        </a:lnTo>
                        <a:lnTo>
                          <a:pt x="218" y="184"/>
                        </a:lnTo>
                        <a:lnTo>
                          <a:pt x="198" y="206"/>
                        </a:lnTo>
                        <a:lnTo>
                          <a:pt x="82" y="92"/>
                        </a:lnTo>
                        <a:lnTo>
                          <a:pt x="106" y="68"/>
                        </a:lnTo>
                        <a:lnTo>
                          <a:pt x="106" y="68"/>
                        </a:lnTo>
                        <a:lnTo>
                          <a:pt x="108" y="62"/>
                        </a:lnTo>
                        <a:lnTo>
                          <a:pt x="110" y="56"/>
                        </a:lnTo>
                        <a:lnTo>
                          <a:pt x="108" y="50"/>
                        </a:lnTo>
                        <a:lnTo>
                          <a:pt x="102" y="42"/>
                        </a:lnTo>
                        <a:lnTo>
                          <a:pt x="66" y="6"/>
                        </a:lnTo>
                        <a:lnTo>
                          <a:pt x="66" y="6"/>
                        </a:lnTo>
                        <a:lnTo>
                          <a:pt x="60" y="2"/>
                        </a:lnTo>
                        <a:lnTo>
                          <a:pt x="54" y="0"/>
                        </a:lnTo>
                        <a:lnTo>
                          <a:pt x="48" y="0"/>
                        </a:lnTo>
                        <a:lnTo>
                          <a:pt x="42" y="4"/>
                        </a:lnTo>
                        <a:lnTo>
                          <a:pt x="14" y="32"/>
                        </a:lnTo>
                        <a:lnTo>
                          <a:pt x="14" y="32"/>
                        </a:lnTo>
                        <a:lnTo>
                          <a:pt x="8" y="38"/>
                        </a:lnTo>
                        <a:lnTo>
                          <a:pt x="4" y="46"/>
                        </a:lnTo>
                        <a:lnTo>
                          <a:pt x="2" y="54"/>
                        </a:lnTo>
                        <a:lnTo>
                          <a:pt x="0" y="62"/>
                        </a:lnTo>
                        <a:lnTo>
                          <a:pt x="0" y="72"/>
                        </a:lnTo>
                        <a:lnTo>
                          <a:pt x="2" y="80"/>
                        </a:lnTo>
                        <a:lnTo>
                          <a:pt x="6" y="90"/>
                        </a:lnTo>
                        <a:lnTo>
                          <a:pt x="12" y="98"/>
                        </a:lnTo>
                        <a:lnTo>
                          <a:pt x="12" y="98"/>
                        </a:lnTo>
                        <a:lnTo>
                          <a:pt x="32" y="128"/>
                        </a:lnTo>
                        <a:lnTo>
                          <a:pt x="50" y="154"/>
                        </a:lnTo>
                        <a:lnTo>
                          <a:pt x="70" y="178"/>
                        </a:lnTo>
                        <a:lnTo>
                          <a:pt x="90" y="200"/>
                        </a:lnTo>
                        <a:lnTo>
                          <a:pt x="112" y="220"/>
                        </a:lnTo>
                        <a:lnTo>
                          <a:pt x="136" y="240"/>
                        </a:lnTo>
                        <a:lnTo>
                          <a:pt x="162" y="258"/>
                        </a:lnTo>
                        <a:lnTo>
                          <a:pt x="190" y="278"/>
                        </a:lnTo>
                        <a:lnTo>
                          <a:pt x="190" y="278"/>
                        </a:lnTo>
                        <a:lnTo>
                          <a:pt x="198" y="282"/>
                        </a:lnTo>
                        <a:lnTo>
                          <a:pt x="208" y="286"/>
                        </a:lnTo>
                        <a:lnTo>
                          <a:pt x="216" y="288"/>
                        </a:lnTo>
                        <a:lnTo>
                          <a:pt x="226" y="288"/>
                        </a:lnTo>
                        <a:lnTo>
                          <a:pt x="234" y="286"/>
                        </a:lnTo>
                        <a:lnTo>
                          <a:pt x="242" y="284"/>
                        </a:lnTo>
                        <a:lnTo>
                          <a:pt x="250" y="280"/>
                        </a:lnTo>
                        <a:lnTo>
                          <a:pt x="258" y="274"/>
                        </a:lnTo>
                        <a:lnTo>
                          <a:pt x="282" y="248"/>
                        </a:lnTo>
                        <a:lnTo>
                          <a:pt x="282" y="248"/>
                        </a:lnTo>
                        <a:lnTo>
                          <a:pt x="286" y="244"/>
                        </a:lnTo>
                        <a:lnTo>
                          <a:pt x="286" y="236"/>
                        </a:lnTo>
                        <a:lnTo>
                          <a:pt x="284" y="230"/>
                        </a:lnTo>
                        <a:lnTo>
                          <a:pt x="280" y="224"/>
                        </a:lnTo>
                        <a:lnTo>
                          <a:pt x="244"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grpSp>
          <p:sp>
            <p:nvSpPr>
              <p:cNvPr id="128" name="矩形 127"/>
              <p:cNvSpPr/>
              <p:nvPr/>
            </p:nvSpPr>
            <p:spPr>
              <a:xfrm>
                <a:off x="10006280" y="3750670"/>
                <a:ext cx="287360" cy="102531"/>
              </a:xfrm>
              <a:prstGeom prst="rect">
                <a:avLst/>
              </a:prstGeom>
              <a:solidFill>
                <a:srgbClr val="6400F9"/>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100" b="0" i="0" u="none" strike="noStrike" kern="0" cap="none" spc="0" normalizeH="0" baseline="0" noProof="0">
                  <a:ln>
                    <a:noFill/>
                  </a:ln>
                  <a:solidFill>
                    <a:srgbClr val="FFFFFF"/>
                  </a:solidFill>
                  <a:effectLst/>
                  <a:uLnTx/>
                  <a:uFillTx/>
                  <a:latin typeface="Arial"/>
                  <a:ea typeface="宋体"/>
                  <a:cs typeface="+mn-cs"/>
                </a:endParaRPr>
              </a:p>
            </p:txBody>
          </p:sp>
          <p:sp>
            <p:nvSpPr>
              <p:cNvPr id="129" name="矩形 128"/>
              <p:cNvSpPr/>
              <p:nvPr/>
            </p:nvSpPr>
            <p:spPr>
              <a:xfrm>
                <a:off x="10006404" y="3856025"/>
                <a:ext cx="287360" cy="102531"/>
              </a:xfrm>
              <a:prstGeom prst="rect">
                <a:avLst/>
              </a:prstGeom>
              <a:solidFill>
                <a:srgbClr val="00C86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100" b="0" i="0" u="none" strike="noStrike" kern="0" cap="none" spc="0" normalizeH="0" baseline="0" noProof="0">
                  <a:ln>
                    <a:noFill/>
                  </a:ln>
                  <a:solidFill>
                    <a:srgbClr val="FFFFFF"/>
                  </a:solidFill>
                  <a:effectLst/>
                  <a:uLnTx/>
                  <a:uFillTx/>
                  <a:latin typeface="Arial"/>
                  <a:ea typeface="宋体"/>
                  <a:cs typeface="+mn-cs"/>
                </a:endParaRPr>
              </a:p>
            </p:txBody>
          </p:sp>
          <p:sp>
            <p:nvSpPr>
              <p:cNvPr id="130" name="矩形 129"/>
              <p:cNvSpPr/>
              <p:nvPr/>
            </p:nvSpPr>
            <p:spPr>
              <a:xfrm>
                <a:off x="10010001" y="3961023"/>
                <a:ext cx="287360" cy="102531"/>
              </a:xfrm>
              <a:prstGeom prst="rect">
                <a:avLst/>
              </a:prstGeom>
              <a:solidFill>
                <a:srgbClr val="F2365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100" b="0" i="0" u="none" strike="noStrike" kern="0" cap="none" spc="0" normalizeH="0" baseline="0" noProof="0">
                  <a:ln>
                    <a:noFill/>
                  </a:ln>
                  <a:solidFill>
                    <a:srgbClr val="FFFFFF"/>
                  </a:solidFill>
                  <a:effectLst/>
                  <a:uLnTx/>
                  <a:uFillTx/>
                  <a:latin typeface="Arial"/>
                  <a:ea typeface="宋体"/>
                  <a:cs typeface="+mn-cs"/>
                </a:endParaRPr>
              </a:p>
            </p:txBody>
          </p:sp>
          <p:sp>
            <p:nvSpPr>
              <p:cNvPr id="131" name="文本框 130"/>
              <p:cNvSpPr txBox="1"/>
              <p:nvPr/>
            </p:nvSpPr>
            <p:spPr>
              <a:xfrm>
                <a:off x="9951555" y="3728429"/>
                <a:ext cx="354422" cy="156804"/>
              </a:xfrm>
              <a:prstGeom prst="rect">
                <a:avLst/>
              </a:prstGeom>
              <a:noFill/>
            </p:spPr>
            <p:txBody>
              <a:bodyPr wrap="none" rtlCol="0">
                <a:spAutoFit/>
              </a:bodyPr>
              <a:lstStyle/>
              <a:p>
                <a:pPr defTabSz="914400"/>
                <a:r>
                  <a:rPr lang="en-US" altLang="zh-CN" sz="800" dirty="0">
                    <a:solidFill>
                      <a:srgbClr val="FFFFFF"/>
                    </a:solidFill>
                    <a:latin typeface="Arial"/>
                    <a:ea typeface="宋体"/>
                  </a:rPr>
                  <a:t>BSID1</a:t>
                </a:r>
                <a:endParaRPr lang="zh-CN" altLang="en-US" sz="800" dirty="0">
                  <a:solidFill>
                    <a:srgbClr val="FFFFFF"/>
                  </a:solidFill>
                  <a:latin typeface="Arial"/>
                  <a:ea typeface="宋体"/>
                </a:endParaRPr>
              </a:p>
            </p:txBody>
          </p:sp>
          <p:sp>
            <p:nvSpPr>
              <p:cNvPr id="132" name="文本框 131"/>
              <p:cNvSpPr txBox="1"/>
              <p:nvPr/>
            </p:nvSpPr>
            <p:spPr>
              <a:xfrm>
                <a:off x="9951679" y="3833784"/>
                <a:ext cx="354422" cy="156804"/>
              </a:xfrm>
              <a:prstGeom prst="rect">
                <a:avLst/>
              </a:prstGeom>
              <a:noFill/>
            </p:spPr>
            <p:txBody>
              <a:bodyPr wrap="none" rtlCol="0">
                <a:spAutoFit/>
              </a:bodyPr>
              <a:lstStyle/>
              <a:p>
                <a:pPr defTabSz="914400"/>
                <a:r>
                  <a:rPr lang="en-US" altLang="zh-CN" sz="800" dirty="0">
                    <a:solidFill>
                      <a:srgbClr val="FFFFFF"/>
                    </a:solidFill>
                    <a:latin typeface="Arial"/>
                    <a:ea typeface="宋体"/>
                  </a:rPr>
                  <a:t>BSID2</a:t>
                </a:r>
                <a:endParaRPr lang="zh-CN" altLang="en-US" sz="800" dirty="0">
                  <a:solidFill>
                    <a:srgbClr val="FFFFFF"/>
                  </a:solidFill>
                  <a:latin typeface="Arial"/>
                  <a:ea typeface="宋体"/>
                </a:endParaRPr>
              </a:p>
            </p:txBody>
          </p:sp>
          <p:sp>
            <p:nvSpPr>
              <p:cNvPr id="133" name="文本框 132"/>
              <p:cNvSpPr txBox="1"/>
              <p:nvPr/>
            </p:nvSpPr>
            <p:spPr>
              <a:xfrm>
                <a:off x="9954833" y="3935265"/>
                <a:ext cx="354422" cy="156804"/>
              </a:xfrm>
              <a:prstGeom prst="rect">
                <a:avLst/>
              </a:prstGeom>
              <a:noFill/>
            </p:spPr>
            <p:txBody>
              <a:bodyPr wrap="none" rtlCol="0">
                <a:spAutoFit/>
              </a:bodyPr>
              <a:lstStyle/>
              <a:p>
                <a:pPr defTabSz="914400"/>
                <a:r>
                  <a:rPr lang="en-US" altLang="zh-CN" sz="800" dirty="0">
                    <a:solidFill>
                      <a:srgbClr val="FFFFFF"/>
                    </a:solidFill>
                    <a:latin typeface="Arial"/>
                    <a:ea typeface="宋体"/>
                  </a:rPr>
                  <a:t>BSID3</a:t>
                </a:r>
                <a:endParaRPr lang="zh-CN" altLang="en-US" sz="800" dirty="0">
                  <a:solidFill>
                    <a:srgbClr val="FFFFFF"/>
                  </a:solidFill>
                  <a:latin typeface="Arial"/>
                  <a:ea typeface="宋体"/>
                </a:endParaRPr>
              </a:p>
            </p:txBody>
          </p:sp>
          <p:pic>
            <p:nvPicPr>
              <p:cNvPr id="134" name="Picture 10" descr="B-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78589" y="1108171"/>
                <a:ext cx="237655" cy="509484"/>
              </a:xfrm>
              <a:prstGeom prst="rect">
                <a:avLst/>
              </a:prstGeom>
              <a:noFill/>
              <a:extLst>
                <a:ext uri="{909E8E84-426E-40DD-AFC4-6F175D3DCCD1}">
                  <a14:hiddenFill xmlns:a14="http://schemas.microsoft.com/office/drawing/2010/main">
                    <a:solidFill>
                      <a:srgbClr val="FFFFFF"/>
                    </a:solidFill>
                  </a14:hiddenFill>
                </a:ext>
              </a:extLst>
            </p:spPr>
          </p:pic>
          <p:sp>
            <p:nvSpPr>
              <p:cNvPr id="135" name="Freeform 321"/>
              <p:cNvSpPr>
                <a:spLocks noEditPoints="1"/>
              </p:cNvSpPr>
              <p:nvPr/>
            </p:nvSpPr>
            <p:spPr bwMode="auto">
              <a:xfrm>
                <a:off x="8244775" y="986180"/>
                <a:ext cx="167069" cy="101507"/>
              </a:xfrm>
              <a:custGeom>
                <a:avLst/>
                <a:gdLst/>
                <a:ahLst/>
                <a:cxnLst>
                  <a:cxn ang="0">
                    <a:pos x="15727" y="26"/>
                  </a:cxn>
                  <a:cxn ang="0">
                    <a:pos x="15922" y="132"/>
                  </a:cxn>
                  <a:cxn ang="0">
                    <a:pos x="16062" y="303"/>
                  </a:cxn>
                  <a:cxn ang="0">
                    <a:pos x="16130" y="519"/>
                  </a:cxn>
                  <a:cxn ang="0">
                    <a:pos x="7" y="490"/>
                  </a:cxn>
                  <a:cxn ang="0">
                    <a:pos x="84" y="279"/>
                  </a:cxn>
                  <a:cxn ang="0">
                    <a:pos x="233" y="115"/>
                  </a:cxn>
                  <a:cxn ang="0">
                    <a:pos x="434" y="18"/>
                  </a:cxn>
                  <a:cxn ang="0">
                    <a:pos x="6998" y="7311"/>
                  </a:cxn>
                  <a:cxn ang="0">
                    <a:pos x="8559" y="2549"/>
                  </a:cxn>
                  <a:cxn ang="0">
                    <a:pos x="9743" y="2981"/>
                  </a:cxn>
                  <a:cxn ang="0">
                    <a:pos x="10660" y="3813"/>
                  </a:cxn>
                  <a:cxn ang="0">
                    <a:pos x="11202" y="4939"/>
                  </a:cxn>
                  <a:cxn ang="0">
                    <a:pos x="11268" y="6237"/>
                  </a:cxn>
                  <a:cxn ang="0">
                    <a:pos x="10835" y="7422"/>
                  </a:cxn>
                  <a:cxn ang="0">
                    <a:pos x="10002" y="8337"/>
                  </a:cxn>
                  <a:cxn ang="0">
                    <a:pos x="8874" y="8879"/>
                  </a:cxn>
                  <a:cxn ang="0">
                    <a:pos x="7574" y="8943"/>
                  </a:cxn>
                  <a:cxn ang="0">
                    <a:pos x="6389" y="8511"/>
                  </a:cxn>
                  <a:cxn ang="0">
                    <a:pos x="5472" y="7679"/>
                  </a:cxn>
                  <a:cxn ang="0">
                    <a:pos x="4930" y="6553"/>
                  </a:cxn>
                  <a:cxn ang="0">
                    <a:pos x="4865" y="5255"/>
                  </a:cxn>
                  <a:cxn ang="0">
                    <a:pos x="5298" y="4071"/>
                  </a:cxn>
                  <a:cxn ang="0">
                    <a:pos x="6131" y="3156"/>
                  </a:cxn>
                  <a:cxn ang="0">
                    <a:pos x="7259" y="2614"/>
                  </a:cxn>
                  <a:cxn ang="0">
                    <a:pos x="8299" y="3474"/>
                  </a:cxn>
                  <a:cxn ang="0">
                    <a:pos x="9154" y="3739"/>
                  </a:cxn>
                  <a:cxn ang="0">
                    <a:pos x="9829" y="4295"/>
                  </a:cxn>
                  <a:cxn ang="0">
                    <a:pos x="10249" y="5068"/>
                  </a:cxn>
                  <a:cxn ang="0">
                    <a:pos x="10341" y="5979"/>
                  </a:cxn>
                  <a:cxn ang="0">
                    <a:pos x="10076" y="6833"/>
                  </a:cxn>
                  <a:cxn ang="0">
                    <a:pos x="9519" y="7507"/>
                  </a:cxn>
                  <a:cxn ang="0">
                    <a:pos x="8745" y="7926"/>
                  </a:cxn>
                  <a:cxn ang="0">
                    <a:pos x="7834" y="8018"/>
                  </a:cxn>
                  <a:cxn ang="0">
                    <a:pos x="6979" y="7753"/>
                  </a:cxn>
                  <a:cxn ang="0">
                    <a:pos x="6303" y="7197"/>
                  </a:cxn>
                  <a:cxn ang="0">
                    <a:pos x="5884" y="6424"/>
                  </a:cxn>
                  <a:cxn ang="0">
                    <a:pos x="5792" y="5513"/>
                  </a:cxn>
                  <a:cxn ang="0">
                    <a:pos x="6057" y="4659"/>
                  </a:cxn>
                  <a:cxn ang="0">
                    <a:pos x="6614" y="3986"/>
                  </a:cxn>
                  <a:cxn ang="0">
                    <a:pos x="7388" y="3566"/>
                  </a:cxn>
                  <a:cxn ang="0">
                    <a:pos x="16133" y="9543"/>
                  </a:cxn>
                  <a:cxn ang="0">
                    <a:pos x="16126" y="11003"/>
                  </a:cxn>
                  <a:cxn ang="0">
                    <a:pos x="16049" y="11213"/>
                  </a:cxn>
                  <a:cxn ang="0">
                    <a:pos x="15900" y="11377"/>
                  </a:cxn>
                  <a:cxn ang="0">
                    <a:pos x="15698" y="11474"/>
                  </a:cxn>
                  <a:cxn ang="0">
                    <a:pos x="519" y="11489"/>
                  </a:cxn>
                  <a:cxn ang="0">
                    <a:pos x="304" y="11423"/>
                  </a:cxn>
                  <a:cxn ang="0">
                    <a:pos x="132" y="11282"/>
                  </a:cxn>
                  <a:cxn ang="0">
                    <a:pos x="26" y="11086"/>
                  </a:cxn>
                  <a:cxn ang="0">
                    <a:pos x="16133" y="9750"/>
                  </a:cxn>
                  <a:cxn ang="0">
                    <a:pos x="3483" y="1338"/>
                  </a:cxn>
                  <a:cxn ang="0">
                    <a:pos x="5884" y="703"/>
                  </a:cxn>
                  <a:cxn ang="0">
                    <a:pos x="7575" y="1338"/>
                  </a:cxn>
                  <a:cxn ang="0">
                    <a:pos x="11941" y="703"/>
                  </a:cxn>
                  <a:cxn ang="0">
                    <a:pos x="12650" y="703"/>
                  </a:cxn>
                  <a:cxn ang="0">
                    <a:pos x="1791" y="10868"/>
                  </a:cxn>
                  <a:cxn ang="0">
                    <a:pos x="4192" y="10232"/>
                  </a:cxn>
                  <a:cxn ang="0">
                    <a:pos x="5884" y="10868"/>
                  </a:cxn>
                  <a:cxn ang="0">
                    <a:pos x="10249" y="10232"/>
                  </a:cxn>
                  <a:cxn ang="0">
                    <a:pos x="10958" y="10232"/>
                  </a:cxn>
                  <a:cxn ang="0">
                    <a:pos x="15325" y="10868"/>
                  </a:cxn>
                </a:cxnLst>
                <a:rect l="0" t="0" r="r" b="b"/>
                <a:pathLst>
                  <a:path w="16133" h="11492">
                    <a:moveTo>
                      <a:pt x="578" y="0"/>
                    </a:moveTo>
                    <a:lnTo>
                      <a:pt x="15555" y="0"/>
                    </a:lnTo>
                    <a:lnTo>
                      <a:pt x="15584" y="1"/>
                    </a:lnTo>
                    <a:lnTo>
                      <a:pt x="15614" y="3"/>
                    </a:lnTo>
                    <a:lnTo>
                      <a:pt x="15642" y="7"/>
                    </a:lnTo>
                    <a:lnTo>
                      <a:pt x="15671" y="12"/>
                    </a:lnTo>
                    <a:lnTo>
                      <a:pt x="15698" y="18"/>
                    </a:lnTo>
                    <a:lnTo>
                      <a:pt x="15727" y="26"/>
                    </a:lnTo>
                    <a:lnTo>
                      <a:pt x="15753" y="35"/>
                    </a:lnTo>
                    <a:lnTo>
                      <a:pt x="15779" y="45"/>
                    </a:lnTo>
                    <a:lnTo>
                      <a:pt x="15805" y="57"/>
                    </a:lnTo>
                    <a:lnTo>
                      <a:pt x="15829" y="70"/>
                    </a:lnTo>
                    <a:lnTo>
                      <a:pt x="15854" y="84"/>
                    </a:lnTo>
                    <a:lnTo>
                      <a:pt x="15878" y="99"/>
                    </a:lnTo>
                    <a:lnTo>
                      <a:pt x="15900" y="115"/>
                    </a:lnTo>
                    <a:lnTo>
                      <a:pt x="15922" y="132"/>
                    </a:lnTo>
                    <a:lnTo>
                      <a:pt x="15943" y="151"/>
                    </a:lnTo>
                    <a:lnTo>
                      <a:pt x="15964" y="169"/>
                    </a:lnTo>
                    <a:lnTo>
                      <a:pt x="15982" y="189"/>
                    </a:lnTo>
                    <a:lnTo>
                      <a:pt x="16001" y="210"/>
                    </a:lnTo>
                    <a:lnTo>
                      <a:pt x="16018" y="233"/>
                    </a:lnTo>
                    <a:lnTo>
                      <a:pt x="16034" y="255"/>
                    </a:lnTo>
                    <a:lnTo>
                      <a:pt x="16049" y="279"/>
                    </a:lnTo>
                    <a:lnTo>
                      <a:pt x="16062" y="303"/>
                    </a:lnTo>
                    <a:lnTo>
                      <a:pt x="16076" y="327"/>
                    </a:lnTo>
                    <a:lnTo>
                      <a:pt x="16088" y="353"/>
                    </a:lnTo>
                    <a:lnTo>
                      <a:pt x="16098" y="380"/>
                    </a:lnTo>
                    <a:lnTo>
                      <a:pt x="16107" y="406"/>
                    </a:lnTo>
                    <a:lnTo>
                      <a:pt x="16115" y="434"/>
                    </a:lnTo>
                    <a:lnTo>
                      <a:pt x="16121" y="461"/>
                    </a:lnTo>
                    <a:lnTo>
                      <a:pt x="16126" y="490"/>
                    </a:lnTo>
                    <a:lnTo>
                      <a:pt x="16130" y="519"/>
                    </a:lnTo>
                    <a:lnTo>
                      <a:pt x="16132" y="548"/>
                    </a:lnTo>
                    <a:lnTo>
                      <a:pt x="16133" y="577"/>
                    </a:lnTo>
                    <a:lnTo>
                      <a:pt x="16133" y="1742"/>
                    </a:lnTo>
                    <a:lnTo>
                      <a:pt x="0" y="1742"/>
                    </a:lnTo>
                    <a:lnTo>
                      <a:pt x="0" y="577"/>
                    </a:lnTo>
                    <a:lnTo>
                      <a:pt x="1" y="548"/>
                    </a:lnTo>
                    <a:lnTo>
                      <a:pt x="3" y="519"/>
                    </a:lnTo>
                    <a:lnTo>
                      <a:pt x="7" y="490"/>
                    </a:lnTo>
                    <a:lnTo>
                      <a:pt x="12" y="461"/>
                    </a:lnTo>
                    <a:lnTo>
                      <a:pt x="18" y="434"/>
                    </a:lnTo>
                    <a:lnTo>
                      <a:pt x="26" y="406"/>
                    </a:lnTo>
                    <a:lnTo>
                      <a:pt x="35" y="380"/>
                    </a:lnTo>
                    <a:lnTo>
                      <a:pt x="45" y="353"/>
                    </a:lnTo>
                    <a:lnTo>
                      <a:pt x="57" y="327"/>
                    </a:lnTo>
                    <a:lnTo>
                      <a:pt x="70" y="303"/>
                    </a:lnTo>
                    <a:lnTo>
                      <a:pt x="84" y="279"/>
                    </a:lnTo>
                    <a:lnTo>
                      <a:pt x="99" y="255"/>
                    </a:lnTo>
                    <a:lnTo>
                      <a:pt x="115" y="233"/>
                    </a:lnTo>
                    <a:lnTo>
                      <a:pt x="132" y="210"/>
                    </a:lnTo>
                    <a:lnTo>
                      <a:pt x="150" y="189"/>
                    </a:lnTo>
                    <a:lnTo>
                      <a:pt x="169" y="169"/>
                    </a:lnTo>
                    <a:lnTo>
                      <a:pt x="190" y="151"/>
                    </a:lnTo>
                    <a:lnTo>
                      <a:pt x="211" y="132"/>
                    </a:lnTo>
                    <a:lnTo>
                      <a:pt x="233" y="115"/>
                    </a:lnTo>
                    <a:lnTo>
                      <a:pt x="255" y="99"/>
                    </a:lnTo>
                    <a:lnTo>
                      <a:pt x="279" y="84"/>
                    </a:lnTo>
                    <a:lnTo>
                      <a:pt x="304" y="70"/>
                    </a:lnTo>
                    <a:lnTo>
                      <a:pt x="328" y="57"/>
                    </a:lnTo>
                    <a:lnTo>
                      <a:pt x="354" y="45"/>
                    </a:lnTo>
                    <a:lnTo>
                      <a:pt x="380" y="35"/>
                    </a:lnTo>
                    <a:lnTo>
                      <a:pt x="406" y="26"/>
                    </a:lnTo>
                    <a:lnTo>
                      <a:pt x="434" y="18"/>
                    </a:lnTo>
                    <a:lnTo>
                      <a:pt x="462" y="12"/>
                    </a:lnTo>
                    <a:lnTo>
                      <a:pt x="490" y="7"/>
                    </a:lnTo>
                    <a:lnTo>
                      <a:pt x="519" y="3"/>
                    </a:lnTo>
                    <a:lnTo>
                      <a:pt x="549" y="1"/>
                    </a:lnTo>
                    <a:lnTo>
                      <a:pt x="578" y="0"/>
                    </a:lnTo>
                    <a:close/>
                    <a:moveTo>
                      <a:pt x="9712" y="5746"/>
                    </a:moveTo>
                    <a:lnTo>
                      <a:pt x="8355" y="6528"/>
                    </a:lnTo>
                    <a:lnTo>
                      <a:pt x="6998" y="7311"/>
                    </a:lnTo>
                    <a:lnTo>
                      <a:pt x="6998" y="5746"/>
                    </a:lnTo>
                    <a:lnTo>
                      <a:pt x="6998" y="4181"/>
                    </a:lnTo>
                    <a:lnTo>
                      <a:pt x="8355" y="4964"/>
                    </a:lnTo>
                    <a:lnTo>
                      <a:pt x="9712" y="5746"/>
                    </a:lnTo>
                    <a:close/>
                    <a:moveTo>
                      <a:pt x="8067" y="2511"/>
                    </a:moveTo>
                    <a:lnTo>
                      <a:pt x="8233" y="2516"/>
                    </a:lnTo>
                    <a:lnTo>
                      <a:pt x="8397" y="2529"/>
                    </a:lnTo>
                    <a:lnTo>
                      <a:pt x="8559" y="2549"/>
                    </a:lnTo>
                    <a:lnTo>
                      <a:pt x="8718" y="2578"/>
                    </a:lnTo>
                    <a:lnTo>
                      <a:pt x="8874" y="2614"/>
                    </a:lnTo>
                    <a:lnTo>
                      <a:pt x="9027" y="2657"/>
                    </a:lnTo>
                    <a:lnTo>
                      <a:pt x="9178" y="2709"/>
                    </a:lnTo>
                    <a:lnTo>
                      <a:pt x="9325" y="2766"/>
                    </a:lnTo>
                    <a:lnTo>
                      <a:pt x="9468" y="2832"/>
                    </a:lnTo>
                    <a:lnTo>
                      <a:pt x="9608" y="2903"/>
                    </a:lnTo>
                    <a:lnTo>
                      <a:pt x="9743" y="2981"/>
                    </a:lnTo>
                    <a:lnTo>
                      <a:pt x="9875" y="3065"/>
                    </a:lnTo>
                    <a:lnTo>
                      <a:pt x="10002" y="3156"/>
                    </a:lnTo>
                    <a:lnTo>
                      <a:pt x="10124" y="3252"/>
                    </a:lnTo>
                    <a:lnTo>
                      <a:pt x="10242" y="3353"/>
                    </a:lnTo>
                    <a:lnTo>
                      <a:pt x="10354" y="3461"/>
                    </a:lnTo>
                    <a:lnTo>
                      <a:pt x="10462" y="3573"/>
                    </a:lnTo>
                    <a:lnTo>
                      <a:pt x="10564" y="3691"/>
                    </a:lnTo>
                    <a:lnTo>
                      <a:pt x="10660" y="3813"/>
                    </a:lnTo>
                    <a:lnTo>
                      <a:pt x="10751" y="3939"/>
                    </a:lnTo>
                    <a:lnTo>
                      <a:pt x="10835" y="4071"/>
                    </a:lnTo>
                    <a:lnTo>
                      <a:pt x="10913" y="4206"/>
                    </a:lnTo>
                    <a:lnTo>
                      <a:pt x="10985" y="4346"/>
                    </a:lnTo>
                    <a:lnTo>
                      <a:pt x="11050" y="4489"/>
                    </a:lnTo>
                    <a:lnTo>
                      <a:pt x="11108" y="4636"/>
                    </a:lnTo>
                    <a:lnTo>
                      <a:pt x="11159" y="4786"/>
                    </a:lnTo>
                    <a:lnTo>
                      <a:pt x="11202" y="4939"/>
                    </a:lnTo>
                    <a:lnTo>
                      <a:pt x="11240" y="5095"/>
                    </a:lnTo>
                    <a:lnTo>
                      <a:pt x="11268" y="5255"/>
                    </a:lnTo>
                    <a:lnTo>
                      <a:pt x="11288" y="5416"/>
                    </a:lnTo>
                    <a:lnTo>
                      <a:pt x="11301" y="5580"/>
                    </a:lnTo>
                    <a:lnTo>
                      <a:pt x="11305" y="5746"/>
                    </a:lnTo>
                    <a:lnTo>
                      <a:pt x="11301" y="5912"/>
                    </a:lnTo>
                    <a:lnTo>
                      <a:pt x="11288" y="6076"/>
                    </a:lnTo>
                    <a:lnTo>
                      <a:pt x="11268" y="6237"/>
                    </a:lnTo>
                    <a:lnTo>
                      <a:pt x="11240" y="6397"/>
                    </a:lnTo>
                    <a:lnTo>
                      <a:pt x="11202" y="6553"/>
                    </a:lnTo>
                    <a:lnTo>
                      <a:pt x="11159" y="6706"/>
                    </a:lnTo>
                    <a:lnTo>
                      <a:pt x="11108" y="6857"/>
                    </a:lnTo>
                    <a:lnTo>
                      <a:pt x="11050" y="7003"/>
                    </a:lnTo>
                    <a:lnTo>
                      <a:pt x="10985" y="7147"/>
                    </a:lnTo>
                    <a:lnTo>
                      <a:pt x="10913" y="7286"/>
                    </a:lnTo>
                    <a:lnTo>
                      <a:pt x="10835" y="7422"/>
                    </a:lnTo>
                    <a:lnTo>
                      <a:pt x="10751" y="7553"/>
                    </a:lnTo>
                    <a:lnTo>
                      <a:pt x="10660" y="7679"/>
                    </a:lnTo>
                    <a:lnTo>
                      <a:pt x="10564" y="7801"/>
                    </a:lnTo>
                    <a:lnTo>
                      <a:pt x="10462" y="7919"/>
                    </a:lnTo>
                    <a:lnTo>
                      <a:pt x="10354" y="8031"/>
                    </a:lnTo>
                    <a:lnTo>
                      <a:pt x="10242" y="8139"/>
                    </a:lnTo>
                    <a:lnTo>
                      <a:pt x="10124" y="8240"/>
                    </a:lnTo>
                    <a:lnTo>
                      <a:pt x="10002" y="8337"/>
                    </a:lnTo>
                    <a:lnTo>
                      <a:pt x="9875" y="8427"/>
                    </a:lnTo>
                    <a:lnTo>
                      <a:pt x="9743" y="8511"/>
                    </a:lnTo>
                    <a:lnTo>
                      <a:pt x="9608" y="8589"/>
                    </a:lnTo>
                    <a:lnTo>
                      <a:pt x="9468" y="8660"/>
                    </a:lnTo>
                    <a:lnTo>
                      <a:pt x="9325" y="8726"/>
                    </a:lnTo>
                    <a:lnTo>
                      <a:pt x="9178" y="8784"/>
                    </a:lnTo>
                    <a:lnTo>
                      <a:pt x="9027" y="8835"/>
                    </a:lnTo>
                    <a:lnTo>
                      <a:pt x="8874" y="8879"/>
                    </a:lnTo>
                    <a:lnTo>
                      <a:pt x="8718" y="8915"/>
                    </a:lnTo>
                    <a:lnTo>
                      <a:pt x="8559" y="8943"/>
                    </a:lnTo>
                    <a:lnTo>
                      <a:pt x="8397" y="8963"/>
                    </a:lnTo>
                    <a:lnTo>
                      <a:pt x="8233" y="8976"/>
                    </a:lnTo>
                    <a:lnTo>
                      <a:pt x="8067" y="8981"/>
                    </a:lnTo>
                    <a:lnTo>
                      <a:pt x="7900" y="8976"/>
                    </a:lnTo>
                    <a:lnTo>
                      <a:pt x="7736" y="8963"/>
                    </a:lnTo>
                    <a:lnTo>
                      <a:pt x="7574" y="8943"/>
                    </a:lnTo>
                    <a:lnTo>
                      <a:pt x="7415" y="8915"/>
                    </a:lnTo>
                    <a:lnTo>
                      <a:pt x="7259" y="8879"/>
                    </a:lnTo>
                    <a:lnTo>
                      <a:pt x="7106" y="8835"/>
                    </a:lnTo>
                    <a:lnTo>
                      <a:pt x="6954" y="8784"/>
                    </a:lnTo>
                    <a:lnTo>
                      <a:pt x="6808" y="8726"/>
                    </a:lnTo>
                    <a:lnTo>
                      <a:pt x="6664" y="8660"/>
                    </a:lnTo>
                    <a:lnTo>
                      <a:pt x="6525" y="8589"/>
                    </a:lnTo>
                    <a:lnTo>
                      <a:pt x="6389" y="8511"/>
                    </a:lnTo>
                    <a:lnTo>
                      <a:pt x="6258" y="8427"/>
                    </a:lnTo>
                    <a:lnTo>
                      <a:pt x="6131" y="8337"/>
                    </a:lnTo>
                    <a:lnTo>
                      <a:pt x="6009" y="8240"/>
                    </a:lnTo>
                    <a:lnTo>
                      <a:pt x="5891" y="8139"/>
                    </a:lnTo>
                    <a:lnTo>
                      <a:pt x="5779" y="8031"/>
                    </a:lnTo>
                    <a:lnTo>
                      <a:pt x="5671" y="7919"/>
                    </a:lnTo>
                    <a:lnTo>
                      <a:pt x="5569" y="7801"/>
                    </a:lnTo>
                    <a:lnTo>
                      <a:pt x="5472" y="7679"/>
                    </a:lnTo>
                    <a:lnTo>
                      <a:pt x="5382" y="7553"/>
                    </a:lnTo>
                    <a:lnTo>
                      <a:pt x="5298" y="7422"/>
                    </a:lnTo>
                    <a:lnTo>
                      <a:pt x="5220" y="7286"/>
                    </a:lnTo>
                    <a:lnTo>
                      <a:pt x="5147" y="7147"/>
                    </a:lnTo>
                    <a:lnTo>
                      <a:pt x="5083" y="7003"/>
                    </a:lnTo>
                    <a:lnTo>
                      <a:pt x="5024" y="6857"/>
                    </a:lnTo>
                    <a:lnTo>
                      <a:pt x="4974" y="6706"/>
                    </a:lnTo>
                    <a:lnTo>
                      <a:pt x="4930" y="6553"/>
                    </a:lnTo>
                    <a:lnTo>
                      <a:pt x="4893" y="6397"/>
                    </a:lnTo>
                    <a:lnTo>
                      <a:pt x="4865" y="6237"/>
                    </a:lnTo>
                    <a:lnTo>
                      <a:pt x="4845" y="6076"/>
                    </a:lnTo>
                    <a:lnTo>
                      <a:pt x="4832" y="5912"/>
                    </a:lnTo>
                    <a:lnTo>
                      <a:pt x="4828" y="5746"/>
                    </a:lnTo>
                    <a:lnTo>
                      <a:pt x="4832" y="5580"/>
                    </a:lnTo>
                    <a:lnTo>
                      <a:pt x="4845" y="5416"/>
                    </a:lnTo>
                    <a:lnTo>
                      <a:pt x="4865" y="5255"/>
                    </a:lnTo>
                    <a:lnTo>
                      <a:pt x="4893" y="5095"/>
                    </a:lnTo>
                    <a:lnTo>
                      <a:pt x="4930" y="4939"/>
                    </a:lnTo>
                    <a:lnTo>
                      <a:pt x="4974" y="4786"/>
                    </a:lnTo>
                    <a:lnTo>
                      <a:pt x="5024" y="4636"/>
                    </a:lnTo>
                    <a:lnTo>
                      <a:pt x="5083" y="4489"/>
                    </a:lnTo>
                    <a:lnTo>
                      <a:pt x="5147" y="4346"/>
                    </a:lnTo>
                    <a:lnTo>
                      <a:pt x="5220" y="4206"/>
                    </a:lnTo>
                    <a:lnTo>
                      <a:pt x="5298" y="4071"/>
                    </a:lnTo>
                    <a:lnTo>
                      <a:pt x="5382" y="3939"/>
                    </a:lnTo>
                    <a:lnTo>
                      <a:pt x="5472" y="3813"/>
                    </a:lnTo>
                    <a:lnTo>
                      <a:pt x="5569" y="3691"/>
                    </a:lnTo>
                    <a:lnTo>
                      <a:pt x="5671" y="3573"/>
                    </a:lnTo>
                    <a:lnTo>
                      <a:pt x="5779" y="3461"/>
                    </a:lnTo>
                    <a:lnTo>
                      <a:pt x="5891" y="3353"/>
                    </a:lnTo>
                    <a:lnTo>
                      <a:pt x="6009" y="3252"/>
                    </a:lnTo>
                    <a:lnTo>
                      <a:pt x="6131" y="3156"/>
                    </a:lnTo>
                    <a:lnTo>
                      <a:pt x="6258" y="3065"/>
                    </a:lnTo>
                    <a:lnTo>
                      <a:pt x="6389" y="2981"/>
                    </a:lnTo>
                    <a:lnTo>
                      <a:pt x="6525" y="2903"/>
                    </a:lnTo>
                    <a:lnTo>
                      <a:pt x="6664" y="2832"/>
                    </a:lnTo>
                    <a:lnTo>
                      <a:pt x="6808" y="2766"/>
                    </a:lnTo>
                    <a:lnTo>
                      <a:pt x="6954" y="2709"/>
                    </a:lnTo>
                    <a:lnTo>
                      <a:pt x="7106" y="2657"/>
                    </a:lnTo>
                    <a:lnTo>
                      <a:pt x="7259" y="2614"/>
                    </a:lnTo>
                    <a:lnTo>
                      <a:pt x="7415" y="2578"/>
                    </a:lnTo>
                    <a:lnTo>
                      <a:pt x="7574" y="2549"/>
                    </a:lnTo>
                    <a:lnTo>
                      <a:pt x="7736" y="2529"/>
                    </a:lnTo>
                    <a:lnTo>
                      <a:pt x="7900" y="2516"/>
                    </a:lnTo>
                    <a:lnTo>
                      <a:pt x="8067" y="2511"/>
                    </a:lnTo>
                    <a:close/>
                    <a:moveTo>
                      <a:pt x="8067" y="3463"/>
                    </a:moveTo>
                    <a:lnTo>
                      <a:pt x="8183" y="3466"/>
                    </a:lnTo>
                    <a:lnTo>
                      <a:pt x="8299" y="3474"/>
                    </a:lnTo>
                    <a:lnTo>
                      <a:pt x="8413" y="3489"/>
                    </a:lnTo>
                    <a:lnTo>
                      <a:pt x="8526" y="3509"/>
                    </a:lnTo>
                    <a:lnTo>
                      <a:pt x="8636" y="3535"/>
                    </a:lnTo>
                    <a:lnTo>
                      <a:pt x="8745" y="3566"/>
                    </a:lnTo>
                    <a:lnTo>
                      <a:pt x="8851" y="3602"/>
                    </a:lnTo>
                    <a:lnTo>
                      <a:pt x="8955" y="3642"/>
                    </a:lnTo>
                    <a:lnTo>
                      <a:pt x="9056" y="3689"/>
                    </a:lnTo>
                    <a:lnTo>
                      <a:pt x="9154" y="3739"/>
                    </a:lnTo>
                    <a:lnTo>
                      <a:pt x="9250" y="3794"/>
                    </a:lnTo>
                    <a:lnTo>
                      <a:pt x="9343" y="3854"/>
                    </a:lnTo>
                    <a:lnTo>
                      <a:pt x="9433" y="3917"/>
                    </a:lnTo>
                    <a:lnTo>
                      <a:pt x="9519" y="3986"/>
                    </a:lnTo>
                    <a:lnTo>
                      <a:pt x="9602" y="4057"/>
                    </a:lnTo>
                    <a:lnTo>
                      <a:pt x="9682" y="4133"/>
                    </a:lnTo>
                    <a:lnTo>
                      <a:pt x="9757" y="4212"/>
                    </a:lnTo>
                    <a:lnTo>
                      <a:pt x="9829" y="4295"/>
                    </a:lnTo>
                    <a:lnTo>
                      <a:pt x="9898" y="4382"/>
                    </a:lnTo>
                    <a:lnTo>
                      <a:pt x="9961" y="4471"/>
                    </a:lnTo>
                    <a:lnTo>
                      <a:pt x="10021" y="4564"/>
                    </a:lnTo>
                    <a:lnTo>
                      <a:pt x="10076" y="4659"/>
                    </a:lnTo>
                    <a:lnTo>
                      <a:pt x="10126" y="4758"/>
                    </a:lnTo>
                    <a:lnTo>
                      <a:pt x="10173" y="4859"/>
                    </a:lnTo>
                    <a:lnTo>
                      <a:pt x="10213" y="4963"/>
                    </a:lnTo>
                    <a:lnTo>
                      <a:pt x="10249" y="5068"/>
                    </a:lnTo>
                    <a:lnTo>
                      <a:pt x="10281" y="5177"/>
                    </a:lnTo>
                    <a:lnTo>
                      <a:pt x="10306" y="5287"/>
                    </a:lnTo>
                    <a:lnTo>
                      <a:pt x="10326" y="5400"/>
                    </a:lnTo>
                    <a:lnTo>
                      <a:pt x="10341" y="5513"/>
                    </a:lnTo>
                    <a:lnTo>
                      <a:pt x="10349" y="5629"/>
                    </a:lnTo>
                    <a:lnTo>
                      <a:pt x="10352" y="5746"/>
                    </a:lnTo>
                    <a:lnTo>
                      <a:pt x="10349" y="5863"/>
                    </a:lnTo>
                    <a:lnTo>
                      <a:pt x="10341" y="5979"/>
                    </a:lnTo>
                    <a:lnTo>
                      <a:pt x="10326" y="6093"/>
                    </a:lnTo>
                    <a:lnTo>
                      <a:pt x="10306" y="6205"/>
                    </a:lnTo>
                    <a:lnTo>
                      <a:pt x="10281" y="6316"/>
                    </a:lnTo>
                    <a:lnTo>
                      <a:pt x="10249" y="6424"/>
                    </a:lnTo>
                    <a:lnTo>
                      <a:pt x="10213" y="6529"/>
                    </a:lnTo>
                    <a:lnTo>
                      <a:pt x="10173" y="6633"/>
                    </a:lnTo>
                    <a:lnTo>
                      <a:pt x="10126" y="6735"/>
                    </a:lnTo>
                    <a:lnTo>
                      <a:pt x="10076" y="6833"/>
                    </a:lnTo>
                    <a:lnTo>
                      <a:pt x="10021" y="6928"/>
                    </a:lnTo>
                    <a:lnTo>
                      <a:pt x="9961" y="7021"/>
                    </a:lnTo>
                    <a:lnTo>
                      <a:pt x="9898" y="7110"/>
                    </a:lnTo>
                    <a:lnTo>
                      <a:pt x="9829" y="7197"/>
                    </a:lnTo>
                    <a:lnTo>
                      <a:pt x="9757" y="7280"/>
                    </a:lnTo>
                    <a:lnTo>
                      <a:pt x="9682" y="7359"/>
                    </a:lnTo>
                    <a:lnTo>
                      <a:pt x="9602" y="7435"/>
                    </a:lnTo>
                    <a:lnTo>
                      <a:pt x="9519" y="7507"/>
                    </a:lnTo>
                    <a:lnTo>
                      <a:pt x="9433" y="7575"/>
                    </a:lnTo>
                    <a:lnTo>
                      <a:pt x="9343" y="7638"/>
                    </a:lnTo>
                    <a:lnTo>
                      <a:pt x="9250" y="7698"/>
                    </a:lnTo>
                    <a:lnTo>
                      <a:pt x="9154" y="7753"/>
                    </a:lnTo>
                    <a:lnTo>
                      <a:pt x="9056" y="7803"/>
                    </a:lnTo>
                    <a:lnTo>
                      <a:pt x="8955" y="7850"/>
                    </a:lnTo>
                    <a:lnTo>
                      <a:pt x="8851" y="7890"/>
                    </a:lnTo>
                    <a:lnTo>
                      <a:pt x="8745" y="7926"/>
                    </a:lnTo>
                    <a:lnTo>
                      <a:pt x="8636" y="7957"/>
                    </a:lnTo>
                    <a:lnTo>
                      <a:pt x="8526" y="7983"/>
                    </a:lnTo>
                    <a:lnTo>
                      <a:pt x="8413" y="8003"/>
                    </a:lnTo>
                    <a:lnTo>
                      <a:pt x="8299" y="8018"/>
                    </a:lnTo>
                    <a:lnTo>
                      <a:pt x="8183" y="8026"/>
                    </a:lnTo>
                    <a:lnTo>
                      <a:pt x="8067" y="8029"/>
                    </a:lnTo>
                    <a:lnTo>
                      <a:pt x="7950" y="8026"/>
                    </a:lnTo>
                    <a:lnTo>
                      <a:pt x="7834" y="8018"/>
                    </a:lnTo>
                    <a:lnTo>
                      <a:pt x="7719" y="8003"/>
                    </a:lnTo>
                    <a:lnTo>
                      <a:pt x="7607" y="7983"/>
                    </a:lnTo>
                    <a:lnTo>
                      <a:pt x="7496" y="7957"/>
                    </a:lnTo>
                    <a:lnTo>
                      <a:pt x="7388" y="7926"/>
                    </a:lnTo>
                    <a:lnTo>
                      <a:pt x="7282" y="7890"/>
                    </a:lnTo>
                    <a:lnTo>
                      <a:pt x="7178" y="7850"/>
                    </a:lnTo>
                    <a:lnTo>
                      <a:pt x="7076" y="7803"/>
                    </a:lnTo>
                    <a:lnTo>
                      <a:pt x="6979" y="7753"/>
                    </a:lnTo>
                    <a:lnTo>
                      <a:pt x="6883" y="7698"/>
                    </a:lnTo>
                    <a:lnTo>
                      <a:pt x="6790" y="7638"/>
                    </a:lnTo>
                    <a:lnTo>
                      <a:pt x="6700" y="7575"/>
                    </a:lnTo>
                    <a:lnTo>
                      <a:pt x="6614" y="7507"/>
                    </a:lnTo>
                    <a:lnTo>
                      <a:pt x="6531" y="7435"/>
                    </a:lnTo>
                    <a:lnTo>
                      <a:pt x="6451" y="7359"/>
                    </a:lnTo>
                    <a:lnTo>
                      <a:pt x="6376" y="7280"/>
                    </a:lnTo>
                    <a:lnTo>
                      <a:pt x="6303" y="7197"/>
                    </a:lnTo>
                    <a:lnTo>
                      <a:pt x="6235" y="7110"/>
                    </a:lnTo>
                    <a:lnTo>
                      <a:pt x="6172" y="7021"/>
                    </a:lnTo>
                    <a:lnTo>
                      <a:pt x="6112" y="6928"/>
                    </a:lnTo>
                    <a:lnTo>
                      <a:pt x="6057" y="6833"/>
                    </a:lnTo>
                    <a:lnTo>
                      <a:pt x="6007" y="6735"/>
                    </a:lnTo>
                    <a:lnTo>
                      <a:pt x="5960" y="6633"/>
                    </a:lnTo>
                    <a:lnTo>
                      <a:pt x="5920" y="6529"/>
                    </a:lnTo>
                    <a:lnTo>
                      <a:pt x="5884" y="6424"/>
                    </a:lnTo>
                    <a:lnTo>
                      <a:pt x="5852" y="6316"/>
                    </a:lnTo>
                    <a:lnTo>
                      <a:pt x="5827" y="6205"/>
                    </a:lnTo>
                    <a:lnTo>
                      <a:pt x="5807" y="6093"/>
                    </a:lnTo>
                    <a:lnTo>
                      <a:pt x="5792" y="5979"/>
                    </a:lnTo>
                    <a:lnTo>
                      <a:pt x="5784" y="5863"/>
                    </a:lnTo>
                    <a:lnTo>
                      <a:pt x="5781" y="5746"/>
                    </a:lnTo>
                    <a:lnTo>
                      <a:pt x="5784" y="5629"/>
                    </a:lnTo>
                    <a:lnTo>
                      <a:pt x="5792" y="5513"/>
                    </a:lnTo>
                    <a:lnTo>
                      <a:pt x="5807" y="5400"/>
                    </a:lnTo>
                    <a:lnTo>
                      <a:pt x="5827" y="5287"/>
                    </a:lnTo>
                    <a:lnTo>
                      <a:pt x="5852" y="5177"/>
                    </a:lnTo>
                    <a:lnTo>
                      <a:pt x="5884" y="5068"/>
                    </a:lnTo>
                    <a:lnTo>
                      <a:pt x="5920" y="4963"/>
                    </a:lnTo>
                    <a:lnTo>
                      <a:pt x="5960" y="4859"/>
                    </a:lnTo>
                    <a:lnTo>
                      <a:pt x="6007" y="4758"/>
                    </a:lnTo>
                    <a:lnTo>
                      <a:pt x="6057" y="4659"/>
                    </a:lnTo>
                    <a:lnTo>
                      <a:pt x="6112" y="4564"/>
                    </a:lnTo>
                    <a:lnTo>
                      <a:pt x="6172" y="4471"/>
                    </a:lnTo>
                    <a:lnTo>
                      <a:pt x="6235" y="4382"/>
                    </a:lnTo>
                    <a:lnTo>
                      <a:pt x="6303" y="4295"/>
                    </a:lnTo>
                    <a:lnTo>
                      <a:pt x="6376" y="4212"/>
                    </a:lnTo>
                    <a:lnTo>
                      <a:pt x="6451" y="4133"/>
                    </a:lnTo>
                    <a:lnTo>
                      <a:pt x="6531" y="4057"/>
                    </a:lnTo>
                    <a:lnTo>
                      <a:pt x="6614" y="3986"/>
                    </a:lnTo>
                    <a:lnTo>
                      <a:pt x="6700" y="3917"/>
                    </a:lnTo>
                    <a:lnTo>
                      <a:pt x="6790" y="3854"/>
                    </a:lnTo>
                    <a:lnTo>
                      <a:pt x="6883" y="3794"/>
                    </a:lnTo>
                    <a:lnTo>
                      <a:pt x="6979" y="3739"/>
                    </a:lnTo>
                    <a:lnTo>
                      <a:pt x="7076" y="3689"/>
                    </a:lnTo>
                    <a:lnTo>
                      <a:pt x="7178" y="3642"/>
                    </a:lnTo>
                    <a:lnTo>
                      <a:pt x="7282" y="3602"/>
                    </a:lnTo>
                    <a:lnTo>
                      <a:pt x="7388" y="3566"/>
                    </a:lnTo>
                    <a:lnTo>
                      <a:pt x="7496" y="3535"/>
                    </a:lnTo>
                    <a:lnTo>
                      <a:pt x="7607" y="3509"/>
                    </a:lnTo>
                    <a:lnTo>
                      <a:pt x="7719" y="3489"/>
                    </a:lnTo>
                    <a:lnTo>
                      <a:pt x="7834" y="3474"/>
                    </a:lnTo>
                    <a:lnTo>
                      <a:pt x="7950" y="3466"/>
                    </a:lnTo>
                    <a:lnTo>
                      <a:pt x="8067" y="3463"/>
                    </a:lnTo>
                    <a:close/>
                    <a:moveTo>
                      <a:pt x="16133" y="1949"/>
                    </a:moveTo>
                    <a:lnTo>
                      <a:pt x="16133" y="9543"/>
                    </a:lnTo>
                    <a:lnTo>
                      <a:pt x="0" y="9543"/>
                    </a:lnTo>
                    <a:lnTo>
                      <a:pt x="0" y="1949"/>
                    </a:lnTo>
                    <a:lnTo>
                      <a:pt x="16133" y="1949"/>
                    </a:lnTo>
                    <a:close/>
                    <a:moveTo>
                      <a:pt x="16133" y="9750"/>
                    </a:moveTo>
                    <a:lnTo>
                      <a:pt x="16133" y="10915"/>
                    </a:lnTo>
                    <a:lnTo>
                      <a:pt x="16132" y="10944"/>
                    </a:lnTo>
                    <a:lnTo>
                      <a:pt x="16130" y="10973"/>
                    </a:lnTo>
                    <a:lnTo>
                      <a:pt x="16126" y="11003"/>
                    </a:lnTo>
                    <a:lnTo>
                      <a:pt x="16121" y="11031"/>
                    </a:lnTo>
                    <a:lnTo>
                      <a:pt x="16115" y="11059"/>
                    </a:lnTo>
                    <a:lnTo>
                      <a:pt x="16107" y="11086"/>
                    </a:lnTo>
                    <a:lnTo>
                      <a:pt x="16098" y="11112"/>
                    </a:lnTo>
                    <a:lnTo>
                      <a:pt x="16088" y="11139"/>
                    </a:lnTo>
                    <a:lnTo>
                      <a:pt x="16076" y="11165"/>
                    </a:lnTo>
                    <a:lnTo>
                      <a:pt x="16062" y="11189"/>
                    </a:lnTo>
                    <a:lnTo>
                      <a:pt x="16049" y="11213"/>
                    </a:lnTo>
                    <a:lnTo>
                      <a:pt x="16034" y="11237"/>
                    </a:lnTo>
                    <a:lnTo>
                      <a:pt x="16018" y="11259"/>
                    </a:lnTo>
                    <a:lnTo>
                      <a:pt x="16001" y="11282"/>
                    </a:lnTo>
                    <a:lnTo>
                      <a:pt x="15982" y="11303"/>
                    </a:lnTo>
                    <a:lnTo>
                      <a:pt x="15964" y="11323"/>
                    </a:lnTo>
                    <a:lnTo>
                      <a:pt x="15943" y="11342"/>
                    </a:lnTo>
                    <a:lnTo>
                      <a:pt x="15922" y="11360"/>
                    </a:lnTo>
                    <a:lnTo>
                      <a:pt x="15900" y="11377"/>
                    </a:lnTo>
                    <a:lnTo>
                      <a:pt x="15878" y="11393"/>
                    </a:lnTo>
                    <a:lnTo>
                      <a:pt x="15854" y="11408"/>
                    </a:lnTo>
                    <a:lnTo>
                      <a:pt x="15829" y="11423"/>
                    </a:lnTo>
                    <a:lnTo>
                      <a:pt x="15805" y="11435"/>
                    </a:lnTo>
                    <a:lnTo>
                      <a:pt x="15779" y="11447"/>
                    </a:lnTo>
                    <a:lnTo>
                      <a:pt x="15753" y="11457"/>
                    </a:lnTo>
                    <a:lnTo>
                      <a:pt x="15727" y="11466"/>
                    </a:lnTo>
                    <a:lnTo>
                      <a:pt x="15698" y="11474"/>
                    </a:lnTo>
                    <a:lnTo>
                      <a:pt x="15671" y="11480"/>
                    </a:lnTo>
                    <a:lnTo>
                      <a:pt x="15642" y="11485"/>
                    </a:lnTo>
                    <a:lnTo>
                      <a:pt x="15614" y="11489"/>
                    </a:lnTo>
                    <a:lnTo>
                      <a:pt x="15584" y="11491"/>
                    </a:lnTo>
                    <a:lnTo>
                      <a:pt x="15555" y="11492"/>
                    </a:lnTo>
                    <a:lnTo>
                      <a:pt x="578" y="11492"/>
                    </a:lnTo>
                    <a:lnTo>
                      <a:pt x="549" y="11491"/>
                    </a:lnTo>
                    <a:lnTo>
                      <a:pt x="519" y="11489"/>
                    </a:lnTo>
                    <a:lnTo>
                      <a:pt x="490" y="11485"/>
                    </a:lnTo>
                    <a:lnTo>
                      <a:pt x="462" y="11480"/>
                    </a:lnTo>
                    <a:lnTo>
                      <a:pt x="434" y="11474"/>
                    </a:lnTo>
                    <a:lnTo>
                      <a:pt x="406" y="11466"/>
                    </a:lnTo>
                    <a:lnTo>
                      <a:pt x="380" y="11457"/>
                    </a:lnTo>
                    <a:lnTo>
                      <a:pt x="354" y="11447"/>
                    </a:lnTo>
                    <a:lnTo>
                      <a:pt x="328" y="11435"/>
                    </a:lnTo>
                    <a:lnTo>
                      <a:pt x="304" y="11423"/>
                    </a:lnTo>
                    <a:lnTo>
                      <a:pt x="279" y="11408"/>
                    </a:lnTo>
                    <a:lnTo>
                      <a:pt x="255" y="11393"/>
                    </a:lnTo>
                    <a:lnTo>
                      <a:pt x="233" y="11377"/>
                    </a:lnTo>
                    <a:lnTo>
                      <a:pt x="211" y="11360"/>
                    </a:lnTo>
                    <a:lnTo>
                      <a:pt x="190" y="11342"/>
                    </a:lnTo>
                    <a:lnTo>
                      <a:pt x="169" y="11323"/>
                    </a:lnTo>
                    <a:lnTo>
                      <a:pt x="150" y="11303"/>
                    </a:lnTo>
                    <a:lnTo>
                      <a:pt x="132" y="11282"/>
                    </a:lnTo>
                    <a:lnTo>
                      <a:pt x="115" y="11259"/>
                    </a:lnTo>
                    <a:lnTo>
                      <a:pt x="99" y="11237"/>
                    </a:lnTo>
                    <a:lnTo>
                      <a:pt x="84" y="11213"/>
                    </a:lnTo>
                    <a:lnTo>
                      <a:pt x="70" y="11189"/>
                    </a:lnTo>
                    <a:lnTo>
                      <a:pt x="57" y="11165"/>
                    </a:lnTo>
                    <a:lnTo>
                      <a:pt x="45" y="11139"/>
                    </a:lnTo>
                    <a:lnTo>
                      <a:pt x="35" y="11112"/>
                    </a:lnTo>
                    <a:lnTo>
                      <a:pt x="26" y="11086"/>
                    </a:lnTo>
                    <a:lnTo>
                      <a:pt x="18" y="11059"/>
                    </a:lnTo>
                    <a:lnTo>
                      <a:pt x="12" y="11031"/>
                    </a:lnTo>
                    <a:lnTo>
                      <a:pt x="7" y="11003"/>
                    </a:lnTo>
                    <a:lnTo>
                      <a:pt x="3" y="10973"/>
                    </a:lnTo>
                    <a:lnTo>
                      <a:pt x="1" y="10944"/>
                    </a:lnTo>
                    <a:lnTo>
                      <a:pt x="0" y="10915"/>
                    </a:lnTo>
                    <a:lnTo>
                      <a:pt x="0" y="9750"/>
                    </a:lnTo>
                    <a:lnTo>
                      <a:pt x="16133" y="9750"/>
                    </a:lnTo>
                    <a:close/>
                    <a:moveTo>
                      <a:pt x="808" y="703"/>
                    </a:moveTo>
                    <a:lnTo>
                      <a:pt x="1791" y="703"/>
                    </a:lnTo>
                    <a:lnTo>
                      <a:pt x="1791" y="1338"/>
                    </a:lnTo>
                    <a:lnTo>
                      <a:pt x="808" y="1338"/>
                    </a:lnTo>
                    <a:lnTo>
                      <a:pt x="808" y="703"/>
                    </a:lnTo>
                    <a:close/>
                    <a:moveTo>
                      <a:pt x="2500" y="703"/>
                    </a:moveTo>
                    <a:lnTo>
                      <a:pt x="3483" y="703"/>
                    </a:lnTo>
                    <a:lnTo>
                      <a:pt x="3483" y="1338"/>
                    </a:lnTo>
                    <a:lnTo>
                      <a:pt x="2500" y="1338"/>
                    </a:lnTo>
                    <a:lnTo>
                      <a:pt x="2500" y="703"/>
                    </a:lnTo>
                    <a:close/>
                    <a:moveTo>
                      <a:pt x="4192" y="703"/>
                    </a:moveTo>
                    <a:lnTo>
                      <a:pt x="5175" y="703"/>
                    </a:lnTo>
                    <a:lnTo>
                      <a:pt x="5175" y="1338"/>
                    </a:lnTo>
                    <a:lnTo>
                      <a:pt x="4192" y="1338"/>
                    </a:lnTo>
                    <a:lnTo>
                      <a:pt x="4192" y="703"/>
                    </a:lnTo>
                    <a:close/>
                    <a:moveTo>
                      <a:pt x="5884" y="703"/>
                    </a:moveTo>
                    <a:lnTo>
                      <a:pt x="6867" y="703"/>
                    </a:lnTo>
                    <a:lnTo>
                      <a:pt x="6867" y="1338"/>
                    </a:lnTo>
                    <a:lnTo>
                      <a:pt x="5884" y="1338"/>
                    </a:lnTo>
                    <a:lnTo>
                      <a:pt x="5884" y="703"/>
                    </a:lnTo>
                    <a:close/>
                    <a:moveTo>
                      <a:pt x="7575" y="703"/>
                    </a:moveTo>
                    <a:lnTo>
                      <a:pt x="8558" y="703"/>
                    </a:lnTo>
                    <a:lnTo>
                      <a:pt x="8558" y="1338"/>
                    </a:lnTo>
                    <a:lnTo>
                      <a:pt x="7575" y="1338"/>
                    </a:lnTo>
                    <a:lnTo>
                      <a:pt x="7575" y="703"/>
                    </a:lnTo>
                    <a:close/>
                    <a:moveTo>
                      <a:pt x="9266" y="703"/>
                    </a:moveTo>
                    <a:lnTo>
                      <a:pt x="10249" y="703"/>
                    </a:lnTo>
                    <a:lnTo>
                      <a:pt x="10249" y="1338"/>
                    </a:lnTo>
                    <a:lnTo>
                      <a:pt x="9266" y="1338"/>
                    </a:lnTo>
                    <a:lnTo>
                      <a:pt x="9266" y="703"/>
                    </a:lnTo>
                    <a:close/>
                    <a:moveTo>
                      <a:pt x="10958" y="703"/>
                    </a:moveTo>
                    <a:lnTo>
                      <a:pt x="11941" y="703"/>
                    </a:lnTo>
                    <a:lnTo>
                      <a:pt x="11941" y="1338"/>
                    </a:lnTo>
                    <a:lnTo>
                      <a:pt x="10958" y="1338"/>
                    </a:lnTo>
                    <a:lnTo>
                      <a:pt x="10958" y="703"/>
                    </a:lnTo>
                    <a:close/>
                    <a:moveTo>
                      <a:pt x="12650" y="703"/>
                    </a:moveTo>
                    <a:lnTo>
                      <a:pt x="13633" y="703"/>
                    </a:lnTo>
                    <a:lnTo>
                      <a:pt x="13633" y="1338"/>
                    </a:lnTo>
                    <a:lnTo>
                      <a:pt x="12650" y="1338"/>
                    </a:lnTo>
                    <a:lnTo>
                      <a:pt x="12650" y="703"/>
                    </a:lnTo>
                    <a:close/>
                    <a:moveTo>
                      <a:pt x="14342" y="703"/>
                    </a:moveTo>
                    <a:lnTo>
                      <a:pt x="15325" y="703"/>
                    </a:lnTo>
                    <a:lnTo>
                      <a:pt x="15325" y="1338"/>
                    </a:lnTo>
                    <a:lnTo>
                      <a:pt x="14342" y="1338"/>
                    </a:lnTo>
                    <a:lnTo>
                      <a:pt x="14342" y="703"/>
                    </a:lnTo>
                    <a:close/>
                    <a:moveTo>
                      <a:pt x="808" y="10232"/>
                    </a:moveTo>
                    <a:lnTo>
                      <a:pt x="1791" y="10232"/>
                    </a:lnTo>
                    <a:lnTo>
                      <a:pt x="1791" y="10868"/>
                    </a:lnTo>
                    <a:lnTo>
                      <a:pt x="808" y="10868"/>
                    </a:lnTo>
                    <a:lnTo>
                      <a:pt x="808" y="10232"/>
                    </a:lnTo>
                    <a:close/>
                    <a:moveTo>
                      <a:pt x="2500" y="10232"/>
                    </a:moveTo>
                    <a:lnTo>
                      <a:pt x="3483" y="10232"/>
                    </a:lnTo>
                    <a:lnTo>
                      <a:pt x="3483" y="10868"/>
                    </a:lnTo>
                    <a:lnTo>
                      <a:pt x="2500" y="10868"/>
                    </a:lnTo>
                    <a:lnTo>
                      <a:pt x="2500" y="10232"/>
                    </a:lnTo>
                    <a:close/>
                    <a:moveTo>
                      <a:pt x="4192" y="10232"/>
                    </a:moveTo>
                    <a:lnTo>
                      <a:pt x="5175" y="10232"/>
                    </a:lnTo>
                    <a:lnTo>
                      <a:pt x="5175" y="10868"/>
                    </a:lnTo>
                    <a:lnTo>
                      <a:pt x="4192" y="10868"/>
                    </a:lnTo>
                    <a:lnTo>
                      <a:pt x="4192" y="10232"/>
                    </a:lnTo>
                    <a:close/>
                    <a:moveTo>
                      <a:pt x="5884" y="10232"/>
                    </a:moveTo>
                    <a:lnTo>
                      <a:pt x="6867" y="10232"/>
                    </a:lnTo>
                    <a:lnTo>
                      <a:pt x="6867" y="10868"/>
                    </a:lnTo>
                    <a:lnTo>
                      <a:pt x="5884" y="10868"/>
                    </a:lnTo>
                    <a:lnTo>
                      <a:pt x="5884" y="10232"/>
                    </a:lnTo>
                    <a:close/>
                    <a:moveTo>
                      <a:pt x="7575" y="10232"/>
                    </a:moveTo>
                    <a:lnTo>
                      <a:pt x="8558" y="10232"/>
                    </a:lnTo>
                    <a:lnTo>
                      <a:pt x="8558" y="10868"/>
                    </a:lnTo>
                    <a:lnTo>
                      <a:pt x="7575" y="10868"/>
                    </a:lnTo>
                    <a:lnTo>
                      <a:pt x="7575" y="10232"/>
                    </a:lnTo>
                    <a:close/>
                    <a:moveTo>
                      <a:pt x="9266" y="10232"/>
                    </a:moveTo>
                    <a:lnTo>
                      <a:pt x="10249" y="10232"/>
                    </a:lnTo>
                    <a:lnTo>
                      <a:pt x="10249" y="10868"/>
                    </a:lnTo>
                    <a:lnTo>
                      <a:pt x="9266" y="10868"/>
                    </a:lnTo>
                    <a:lnTo>
                      <a:pt x="9266" y="10232"/>
                    </a:lnTo>
                    <a:close/>
                    <a:moveTo>
                      <a:pt x="10958" y="10232"/>
                    </a:moveTo>
                    <a:lnTo>
                      <a:pt x="11941" y="10232"/>
                    </a:lnTo>
                    <a:lnTo>
                      <a:pt x="11941" y="10868"/>
                    </a:lnTo>
                    <a:lnTo>
                      <a:pt x="10958" y="10868"/>
                    </a:lnTo>
                    <a:lnTo>
                      <a:pt x="10958" y="10232"/>
                    </a:lnTo>
                    <a:close/>
                    <a:moveTo>
                      <a:pt x="12650" y="10232"/>
                    </a:moveTo>
                    <a:lnTo>
                      <a:pt x="13633" y="10232"/>
                    </a:lnTo>
                    <a:lnTo>
                      <a:pt x="13633" y="10868"/>
                    </a:lnTo>
                    <a:lnTo>
                      <a:pt x="12650" y="10868"/>
                    </a:lnTo>
                    <a:lnTo>
                      <a:pt x="12650" y="10232"/>
                    </a:lnTo>
                    <a:close/>
                    <a:moveTo>
                      <a:pt x="14342" y="10232"/>
                    </a:moveTo>
                    <a:lnTo>
                      <a:pt x="15325" y="10232"/>
                    </a:lnTo>
                    <a:lnTo>
                      <a:pt x="15325" y="10868"/>
                    </a:lnTo>
                    <a:lnTo>
                      <a:pt x="14342" y="10868"/>
                    </a:lnTo>
                    <a:lnTo>
                      <a:pt x="14342" y="10232"/>
                    </a:lnTo>
                    <a:close/>
                  </a:path>
                </a:pathLst>
              </a:custGeom>
              <a:solidFill>
                <a:srgbClr val="FFFF0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FFFF00"/>
                  </a:solidFill>
                  <a:latin typeface="Arial" pitchFamily="34" charset="0"/>
                  <a:ea typeface="宋体"/>
                  <a:cs typeface="Arial" pitchFamily="34" charset="0"/>
                </a:endParaRPr>
              </a:p>
            </p:txBody>
          </p:sp>
          <p:sp>
            <p:nvSpPr>
              <p:cNvPr id="136" name="Freeform 9"/>
              <p:cNvSpPr>
                <a:spLocks/>
              </p:cNvSpPr>
              <p:nvPr/>
            </p:nvSpPr>
            <p:spPr bwMode="auto">
              <a:xfrm>
                <a:off x="8695422" y="959582"/>
                <a:ext cx="151533" cy="160067"/>
              </a:xfrm>
              <a:custGeom>
                <a:avLst/>
                <a:gdLst/>
                <a:ahLst/>
                <a:cxnLst>
                  <a:cxn ang="0">
                    <a:pos x="244" y="188"/>
                  </a:cxn>
                  <a:cxn ang="0">
                    <a:pos x="244" y="188"/>
                  </a:cxn>
                  <a:cxn ang="0">
                    <a:pos x="238" y="182"/>
                  </a:cxn>
                  <a:cxn ang="0">
                    <a:pos x="230" y="180"/>
                  </a:cxn>
                  <a:cxn ang="0">
                    <a:pos x="224" y="182"/>
                  </a:cxn>
                  <a:cxn ang="0">
                    <a:pos x="218" y="184"/>
                  </a:cxn>
                  <a:cxn ang="0">
                    <a:pos x="198" y="206"/>
                  </a:cxn>
                  <a:cxn ang="0">
                    <a:pos x="82" y="92"/>
                  </a:cxn>
                  <a:cxn ang="0">
                    <a:pos x="106" y="68"/>
                  </a:cxn>
                  <a:cxn ang="0">
                    <a:pos x="106" y="68"/>
                  </a:cxn>
                  <a:cxn ang="0">
                    <a:pos x="108" y="62"/>
                  </a:cxn>
                  <a:cxn ang="0">
                    <a:pos x="110" y="56"/>
                  </a:cxn>
                  <a:cxn ang="0">
                    <a:pos x="108" y="50"/>
                  </a:cxn>
                  <a:cxn ang="0">
                    <a:pos x="102" y="42"/>
                  </a:cxn>
                  <a:cxn ang="0">
                    <a:pos x="66" y="6"/>
                  </a:cxn>
                  <a:cxn ang="0">
                    <a:pos x="66" y="6"/>
                  </a:cxn>
                  <a:cxn ang="0">
                    <a:pos x="60" y="2"/>
                  </a:cxn>
                  <a:cxn ang="0">
                    <a:pos x="54" y="0"/>
                  </a:cxn>
                  <a:cxn ang="0">
                    <a:pos x="48" y="0"/>
                  </a:cxn>
                  <a:cxn ang="0">
                    <a:pos x="42" y="4"/>
                  </a:cxn>
                  <a:cxn ang="0">
                    <a:pos x="14" y="32"/>
                  </a:cxn>
                  <a:cxn ang="0">
                    <a:pos x="14" y="32"/>
                  </a:cxn>
                  <a:cxn ang="0">
                    <a:pos x="8" y="38"/>
                  </a:cxn>
                  <a:cxn ang="0">
                    <a:pos x="4" y="46"/>
                  </a:cxn>
                  <a:cxn ang="0">
                    <a:pos x="2" y="54"/>
                  </a:cxn>
                  <a:cxn ang="0">
                    <a:pos x="0" y="62"/>
                  </a:cxn>
                  <a:cxn ang="0">
                    <a:pos x="0" y="72"/>
                  </a:cxn>
                  <a:cxn ang="0">
                    <a:pos x="2" y="80"/>
                  </a:cxn>
                  <a:cxn ang="0">
                    <a:pos x="6" y="90"/>
                  </a:cxn>
                  <a:cxn ang="0">
                    <a:pos x="12" y="98"/>
                  </a:cxn>
                  <a:cxn ang="0">
                    <a:pos x="12" y="98"/>
                  </a:cxn>
                  <a:cxn ang="0">
                    <a:pos x="32" y="128"/>
                  </a:cxn>
                  <a:cxn ang="0">
                    <a:pos x="50" y="154"/>
                  </a:cxn>
                  <a:cxn ang="0">
                    <a:pos x="70" y="178"/>
                  </a:cxn>
                  <a:cxn ang="0">
                    <a:pos x="90" y="200"/>
                  </a:cxn>
                  <a:cxn ang="0">
                    <a:pos x="112" y="220"/>
                  </a:cxn>
                  <a:cxn ang="0">
                    <a:pos x="136" y="240"/>
                  </a:cxn>
                  <a:cxn ang="0">
                    <a:pos x="162" y="258"/>
                  </a:cxn>
                  <a:cxn ang="0">
                    <a:pos x="190" y="278"/>
                  </a:cxn>
                  <a:cxn ang="0">
                    <a:pos x="190" y="278"/>
                  </a:cxn>
                  <a:cxn ang="0">
                    <a:pos x="198" y="282"/>
                  </a:cxn>
                  <a:cxn ang="0">
                    <a:pos x="208" y="286"/>
                  </a:cxn>
                  <a:cxn ang="0">
                    <a:pos x="216" y="288"/>
                  </a:cxn>
                  <a:cxn ang="0">
                    <a:pos x="226" y="288"/>
                  </a:cxn>
                  <a:cxn ang="0">
                    <a:pos x="234" y="286"/>
                  </a:cxn>
                  <a:cxn ang="0">
                    <a:pos x="242" y="284"/>
                  </a:cxn>
                  <a:cxn ang="0">
                    <a:pos x="250" y="280"/>
                  </a:cxn>
                  <a:cxn ang="0">
                    <a:pos x="258" y="274"/>
                  </a:cxn>
                  <a:cxn ang="0">
                    <a:pos x="282" y="248"/>
                  </a:cxn>
                  <a:cxn ang="0">
                    <a:pos x="282" y="248"/>
                  </a:cxn>
                  <a:cxn ang="0">
                    <a:pos x="286" y="244"/>
                  </a:cxn>
                  <a:cxn ang="0">
                    <a:pos x="286" y="236"/>
                  </a:cxn>
                  <a:cxn ang="0">
                    <a:pos x="284" y="230"/>
                  </a:cxn>
                  <a:cxn ang="0">
                    <a:pos x="280" y="224"/>
                  </a:cxn>
                  <a:cxn ang="0">
                    <a:pos x="244" y="188"/>
                  </a:cxn>
                </a:cxnLst>
                <a:rect l="0" t="0" r="r" b="b"/>
                <a:pathLst>
                  <a:path w="286" h="288">
                    <a:moveTo>
                      <a:pt x="244" y="188"/>
                    </a:moveTo>
                    <a:lnTo>
                      <a:pt x="244" y="188"/>
                    </a:lnTo>
                    <a:lnTo>
                      <a:pt x="238" y="182"/>
                    </a:lnTo>
                    <a:lnTo>
                      <a:pt x="230" y="180"/>
                    </a:lnTo>
                    <a:lnTo>
                      <a:pt x="224" y="182"/>
                    </a:lnTo>
                    <a:lnTo>
                      <a:pt x="218" y="184"/>
                    </a:lnTo>
                    <a:lnTo>
                      <a:pt x="198" y="206"/>
                    </a:lnTo>
                    <a:lnTo>
                      <a:pt x="82" y="92"/>
                    </a:lnTo>
                    <a:lnTo>
                      <a:pt x="106" y="68"/>
                    </a:lnTo>
                    <a:lnTo>
                      <a:pt x="106" y="68"/>
                    </a:lnTo>
                    <a:lnTo>
                      <a:pt x="108" y="62"/>
                    </a:lnTo>
                    <a:lnTo>
                      <a:pt x="110" y="56"/>
                    </a:lnTo>
                    <a:lnTo>
                      <a:pt x="108" y="50"/>
                    </a:lnTo>
                    <a:lnTo>
                      <a:pt x="102" y="42"/>
                    </a:lnTo>
                    <a:lnTo>
                      <a:pt x="66" y="6"/>
                    </a:lnTo>
                    <a:lnTo>
                      <a:pt x="66" y="6"/>
                    </a:lnTo>
                    <a:lnTo>
                      <a:pt x="60" y="2"/>
                    </a:lnTo>
                    <a:lnTo>
                      <a:pt x="54" y="0"/>
                    </a:lnTo>
                    <a:lnTo>
                      <a:pt x="48" y="0"/>
                    </a:lnTo>
                    <a:lnTo>
                      <a:pt x="42" y="4"/>
                    </a:lnTo>
                    <a:lnTo>
                      <a:pt x="14" y="32"/>
                    </a:lnTo>
                    <a:lnTo>
                      <a:pt x="14" y="32"/>
                    </a:lnTo>
                    <a:lnTo>
                      <a:pt x="8" y="38"/>
                    </a:lnTo>
                    <a:lnTo>
                      <a:pt x="4" y="46"/>
                    </a:lnTo>
                    <a:lnTo>
                      <a:pt x="2" y="54"/>
                    </a:lnTo>
                    <a:lnTo>
                      <a:pt x="0" y="62"/>
                    </a:lnTo>
                    <a:lnTo>
                      <a:pt x="0" y="72"/>
                    </a:lnTo>
                    <a:lnTo>
                      <a:pt x="2" y="80"/>
                    </a:lnTo>
                    <a:lnTo>
                      <a:pt x="6" y="90"/>
                    </a:lnTo>
                    <a:lnTo>
                      <a:pt x="12" y="98"/>
                    </a:lnTo>
                    <a:lnTo>
                      <a:pt x="12" y="98"/>
                    </a:lnTo>
                    <a:lnTo>
                      <a:pt x="32" y="128"/>
                    </a:lnTo>
                    <a:lnTo>
                      <a:pt x="50" y="154"/>
                    </a:lnTo>
                    <a:lnTo>
                      <a:pt x="70" y="178"/>
                    </a:lnTo>
                    <a:lnTo>
                      <a:pt x="90" y="200"/>
                    </a:lnTo>
                    <a:lnTo>
                      <a:pt x="112" y="220"/>
                    </a:lnTo>
                    <a:lnTo>
                      <a:pt x="136" y="240"/>
                    </a:lnTo>
                    <a:lnTo>
                      <a:pt x="162" y="258"/>
                    </a:lnTo>
                    <a:lnTo>
                      <a:pt x="190" y="278"/>
                    </a:lnTo>
                    <a:lnTo>
                      <a:pt x="190" y="278"/>
                    </a:lnTo>
                    <a:lnTo>
                      <a:pt x="198" y="282"/>
                    </a:lnTo>
                    <a:lnTo>
                      <a:pt x="208" y="286"/>
                    </a:lnTo>
                    <a:lnTo>
                      <a:pt x="216" y="288"/>
                    </a:lnTo>
                    <a:lnTo>
                      <a:pt x="226" y="288"/>
                    </a:lnTo>
                    <a:lnTo>
                      <a:pt x="234" y="286"/>
                    </a:lnTo>
                    <a:lnTo>
                      <a:pt x="242" y="284"/>
                    </a:lnTo>
                    <a:lnTo>
                      <a:pt x="250" y="280"/>
                    </a:lnTo>
                    <a:lnTo>
                      <a:pt x="258" y="274"/>
                    </a:lnTo>
                    <a:lnTo>
                      <a:pt x="282" y="248"/>
                    </a:lnTo>
                    <a:lnTo>
                      <a:pt x="282" y="248"/>
                    </a:lnTo>
                    <a:lnTo>
                      <a:pt x="286" y="244"/>
                    </a:lnTo>
                    <a:lnTo>
                      <a:pt x="286" y="236"/>
                    </a:lnTo>
                    <a:lnTo>
                      <a:pt x="284" y="230"/>
                    </a:lnTo>
                    <a:lnTo>
                      <a:pt x="280" y="224"/>
                    </a:lnTo>
                    <a:lnTo>
                      <a:pt x="244" y="188"/>
                    </a:lnTo>
                    <a:close/>
                  </a:path>
                </a:pathLst>
              </a:custGeom>
              <a:solidFill>
                <a:srgbClr val="FFFF0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FFFF00"/>
                  </a:solidFill>
                  <a:latin typeface="Arial" pitchFamily="34" charset="0"/>
                  <a:ea typeface="宋体"/>
                  <a:cs typeface="Arial" pitchFamily="34" charset="0"/>
                </a:endParaRPr>
              </a:p>
            </p:txBody>
          </p:sp>
          <p:sp>
            <p:nvSpPr>
              <p:cNvPr id="137" name="Freeform 167"/>
              <p:cNvSpPr>
                <a:spLocks noEditPoints="1"/>
              </p:cNvSpPr>
              <p:nvPr/>
            </p:nvSpPr>
            <p:spPr bwMode="auto">
              <a:xfrm>
                <a:off x="9039989" y="987336"/>
                <a:ext cx="166533" cy="104559"/>
              </a:xfrm>
              <a:custGeom>
                <a:avLst/>
                <a:gdLst/>
                <a:ahLst/>
                <a:cxnLst>
                  <a:cxn ang="0">
                    <a:pos x="184" y="42"/>
                  </a:cxn>
                  <a:cxn ang="0">
                    <a:pos x="184" y="26"/>
                  </a:cxn>
                  <a:cxn ang="0">
                    <a:pos x="180" y="14"/>
                  </a:cxn>
                  <a:cxn ang="0">
                    <a:pos x="172" y="6"/>
                  </a:cxn>
                  <a:cxn ang="0">
                    <a:pos x="162" y="6"/>
                  </a:cxn>
                  <a:cxn ang="0">
                    <a:pos x="94" y="18"/>
                  </a:cxn>
                  <a:cxn ang="0">
                    <a:pos x="92" y="10"/>
                  </a:cxn>
                  <a:cxn ang="0">
                    <a:pos x="80" y="0"/>
                  </a:cxn>
                  <a:cxn ang="0">
                    <a:pos x="34" y="8"/>
                  </a:cxn>
                  <a:cxn ang="0">
                    <a:pos x="30" y="10"/>
                  </a:cxn>
                  <a:cxn ang="0">
                    <a:pos x="20" y="24"/>
                  </a:cxn>
                  <a:cxn ang="0">
                    <a:pos x="20" y="32"/>
                  </a:cxn>
                  <a:cxn ang="0">
                    <a:pos x="10" y="36"/>
                  </a:cxn>
                  <a:cxn ang="0">
                    <a:pos x="0" y="58"/>
                  </a:cxn>
                  <a:cxn ang="0">
                    <a:pos x="8" y="150"/>
                  </a:cxn>
                  <a:cxn ang="0">
                    <a:pos x="10" y="158"/>
                  </a:cxn>
                  <a:cxn ang="0">
                    <a:pos x="16" y="168"/>
                  </a:cxn>
                  <a:cxn ang="0">
                    <a:pos x="20" y="172"/>
                  </a:cxn>
                  <a:cxn ang="0">
                    <a:pos x="20" y="108"/>
                  </a:cxn>
                  <a:cxn ang="0">
                    <a:pos x="18" y="102"/>
                  </a:cxn>
                  <a:cxn ang="0">
                    <a:pos x="20" y="94"/>
                  </a:cxn>
                  <a:cxn ang="0">
                    <a:pos x="24" y="80"/>
                  </a:cxn>
                  <a:cxn ang="0">
                    <a:pos x="28" y="74"/>
                  </a:cxn>
                  <a:cxn ang="0">
                    <a:pos x="40" y="64"/>
                  </a:cxn>
                  <a:cxn ang="0">
                    <a:pos x="56" y="58"/>
                  </a:cxn>
                  <a:cxn ang="0">
                    <a:pos x="224" y="64"/>
                  </a:cxn>
                  <a:cxn ang="0">
                    <a:pos x="222" y="62"/>
                  </a:cxn>
                  <a:cxn ang="0">
                    <a:pos x="218" y="62"/>
                  </a:cxn>
                  <a:cxn ang="0">
                    <a:pos x="56" y="74"/>
                  </a:cxn>
                  <a:cxn ang="0">
                    <a:pos x="48" y="78"/>
                  </a:cxn>
                  <a:cxn ang="0">
                    <a:pos x="42" y="84"/>
                  </a:cxn>
                  <a:cxn ang="0">
                    <a:pos x="36" y="102"/>
                  </a:cxn>
                  <a:cxn ang="0">
                    <a:pos x="36" y="106"/>
                  </a:cxn>
                  <a:cxn ang="0">
                    <a:pos x="36" y="170"/>
                  </a:cxn>
                  <a:cxn ang="0">
                    <a:pos x="38" y="174"/>
                  </a:cxn>
                  <a:cxn ang="0">
                    <a:pos x="42" y="178"/>
                  </a:cxn>
                  <a:cxn ang="0">
                    <a:pos x="52" y="182"/>
                  </a:cxn>
                  <a:cxn ang="0">
                    <a:pos x="164" y="170"/>
                  </a:cxn>
                  <a:cxn ang="0">
                    <a:pos x="178" y="164"/>
                  </a:cxn>
                  <a:cxn ang="0">
                    <a:pos x="184" y="158"/>
                  </a:cxn>
                  <a:cxn ang="0">
                    <a:pos x="188" y="150"/>
                  </a:cxn>
                  <a:cxn ang="0">
                    <a:pos x="222" y="86"/>
                  </a:cxn>
                  <a:cxn ang="0">
                    <a:pos x="226" y="70"/>
                  </a:cxn>
                  <a:cxn ang="0">
                    <a:pos x="226" y="66"/>
                  </a:cxn>
                  <a:cxn ang="0">
                    <a:pos x="224" y="64"/>
                  </a:cxn>
                </a:cxnLst>
                <a:rect l="0" t="0" r="r" b="b"/>
                <a:pathLst>
                  <a:path w="226" h="182">
                    <a:moveTo>
                      <a:pt x="182" y="48"/>
                    </a:moveTo>
                    <a:lnTo>
                      <a:pt x="184" y="42"/>
                    </a:lnTo>
                    <a:lnTo>
                      <a:pt x="184" y="42"/>
                    </a:lnTo>
                    <a:lnTo>
                      <a:pt x="184" y="26"/>
                    </a:lnTo>
                    <a:lnTo>
                      <a:pt x="182" y="20"/>
                    </a:lnTo>
                    <a:lnTo>
                      <a:pt x="180" y="14"/>
                    </a:lnTo>
                    <a:lnTo>
                      <a:pt x="176" y="10"/>
                    </a:lnTo>
                    <a:lnTo>
                      <a:pt x="172" y="6"/>
                    </a:lnTo>
                    <a:lnTo>
                      <a:pt x="168" y="4"/>
                    </a:lnTo>
                    <a:lnTo>
                      <a:pt x="162" y="6"/>
                    </a:lnTo>
                    <a:lnTo>
                      <a:pt x="94" y="18"/>
                    </a:lnTo>
                    <a:lnTo>
                      <a:pt x="94" y="18"/>
                    </a:lnTo>
                    <a:lnTo>
                      <a:pt x="94" y="14"/>
                    </a:lnTo>
                    <a:lnTo>
                      <a:pt x="92" y="10"/>
                    </a:lnTo>
                    <a:lnTo>
                      <a:pt x="86" y="4"/>
                    </a:lnTo>
                    <a:lnTo>
                      <a:pt x="80" y="0"/>
                    </a:lnTo>
                    <a:lnTo>
                      <a:pt x="72" y="0"/>
                    </a:lnTo>
                    <a:lnTo>
                      <a:pt x="34" y="8"/>
                    </a:lnTo>
                    <a:lnTo>
                      <a:pt x="34" y="8"/>
                    </a:lnTo>
                    <a:lnTo>
                      <a:pt x="30" y="10"/>
                    </a:lnTo>
                    <a:lnTo>
                      <a:pt x="24" y="16"/>
                    </a:lnTo>
                    <a:lnTo>
                      <a:pt x="20" y="24"/>
                    </a:lnTo>
                    <a:lnTo>
                      <a:pt x="20" y="32"/>
                    </a:lnTo>
                    <a:lnTo>
                      <a:pt x="20" y="32"/>
                    </a:lnTo>
                    <a:lnTo>
                      <a:pt x="14" y="34"/>
                    </a:lnTo>
                    <a:lnTo>
                      <a:pt x="10" y="36"/>
                    </a:lnTo>
                    <a:lnTo>
                      <a:pt x="4" y="46"/>
                    </a:lnTo>
                    <a:lnTo>
                      <a:pt x="0" y="58"/>
                    </a:lnTo>
                    <a:lnTo>
                      <a:pt x="0" y="74"/>
                    </a:lnTo>
                    <a:lnTo>
                      <a:pt x="8" y="150"/>
                    </a:lnTo>
                    <a:lnTo>
                      <a:pt x="8" y="150"/>
                    </a:lnTo>
                    <a:lnTo>
                      <a:pt x="10" y="158"/>
                    </a:lnTo>
                    <a:lnTo>
                      <a:pt x="12" y="164"/>
                    </a:lnTo>
                    <a:lnTo>
                      <a:pt x="16" y="168"/>
                    </a:lnTo>
                    <a:lnTo>
                      <a:pt x="20" y="172"/>
                    </a:lnTo>
                    <a:lnTo>
                      <a:pt x="20" y="172"/>
                    </a:lnTo>
                    <a:lnTo>
                      <a:pt x="20" y="170"/>
                    </a:lnTo>
                    <a:lnTo>
                      <a:pt x="20" y="108"/>
                    </a:lnTo>
                    <a:lnTo>
                      <a:pt x="20" y="108"/>
                    </a:lnTo>
                    <a:lnTo>
                      <a:pt x="18" y="102"/>
                    </a:lnTo>
                    <a:lnTo>
                      <a:pt x="18" y="102"/>
                    </a:lnTo>
                    <a:lnTo>
                      <a:pt x="20" y="94"/>
                    </a:lnTo>
                    <a:lnTo>
                      <a:pt x="22" y="88"/>
                    </a:lnTo>
                    <a:lnTo>
                      <a:pt x="24" y="80"/>
                    </a:lnTo>
                    <a:lnTo>
                      <a:pt x="28" y="74"/>
                    </a:lnTo>
                    <a:lnTo>
                      <a:pt x="28" y="74"/>
                    </a:lnTo>
                    <a:lnTo>
                      <a:pt x="34" y="68"/>
                    </a:lnTo>
                    <a:lnTo>
                      <a:pt x="40" y="64"/>
                    </a:lnTo>
                    <a:lnTo>
                      <a:pt x="48" y="60"/>
                    </a:lnTo>
                    <a:lnTo>
                      <a:pt x="56" y="58"/>
                    </a:lnTo>
                    <a:lnTo>
                      <a:pt x="182" y="48"/>
                    </a:lnTo>
                    <a:close/>
                    <a:moveTo>
                      <a:pt x="224" y="64"/>
                    </a:moveTo>
                    <a:lnTo>
                      <a:pt x="224" y="64"/>
                    </a:lnTo>
                    <a:lnTo>
                      <a:pt x="222" y="62"/>
                    </a:lnTo>
                    <a:lnTo>
                      <a:pt x="218" y="62"/>
                    </a:lnTo>
                    <a:lnTo>
                      <a:pt x="218" y="62"/>
                    </a:lnTo>
                    <a:lnTo>
                      <a:pt x="180" y="64"/>
                    </a:lnTo>
                    <a:lnTo>
                      <a:pt x="56" y="74"/>
                    </a:lnTo>
                    <a:lnTo>
                      <a:pt x="56" y="74"/>
                    </a:lnTo>
                    <a:lnTo>
                      <a:pt x="48" y="78"/>
                    </a:lnTo>
                    <a:lnTo>
                      <a:pt x="42" y="84"/>
                    </a:lnTo>
                    <a:lnTo>
                      <a:pt x="42" y="84"/>
                    </a:lnTo>
                    <a:lnTo>
                      <a:pt x="38" y="92"/>
                    </a:lnTo>
                    <a:lnTo>
                      <a:pt x="36" y="102"/>
                    </a:lnTo>
                    <a:lnTo>
                      <a:pt x="36" y="102"/>
                    </a:lnTo>
                    <a:lnTo>
                      <a:pt x="36" y="106"/>
                    </a:lnTo>
                    <a:lnTo>
                      <a:pt x="36" y="106"/>
                    </a:lnTo>
                    <a:lnTo>
                      <a:pt x="36" y="170"/>
                    </a:lnTo>
                    <a:lnTo>
                      <a:pt x="36" y="170"/>
                    </a:lnTo>
                    <a:lnTo>
                      <a:pt x="38" y="174"/>
                    </a:lnTo>
                    <a:lnTo>
                      <a:pt x="38" y="174"/>
                    </a:lnTo>
                    <a:lnTo>
                      <a:pt x="42" y="178"/>
                    </a:lnTo>
                    <a:lnTo>
                      <a:pt x="50" y="182"/>
                    </a:lnTo>
                    <a:lnTo>
                      <a:pt x="52" y="182"/>
                    </a:lnTo>
                    <a:lnTo>
                      <a:pt x="164" y="170"/>
                    </a:lnTo>
                    <a:lnTo>
                      <a:pt x="164" y="170"/>
                    </a:lnTo>
                    <a:lnTo>
                      <a:pt x="170" y="168"/>
                    </a:lnTo>
                    <a:lnTo>
                      <a:pt x="178" y="164"/>
                    </a:lnTo>
                    <a:lnTo>
                      <a:pt x="178" y="164"/>
                    </a:lnTo>
                    <a:lnTo>
                      <a:pt x="184" y="158"/>
                    </a:lnTo>
                    <a:lnTo>
                      <a:pt x="188" y="152"/>
                    </a:lnTo>
                    <a:lnTo>
                      <a:pt x="188" y="150"/>
                    </a:lnTo>
                    <a:lnTo>
                      <a:pt x="222" y="86"/>
                    </a:lnTo>
                    <a:lnTo>
                      <a:pt x="222" y="86"/>
                    </a:lnTo>
                    <a:lnTo>
                      <a:pt x="224" y="78"/>
                    </a:lnTo>
                    <a:lnTo>
                      <a:pt x="226" y="70"/>
                    </a:lnTo>
                    <a:lnTo>
                      <a:pt x="226" y="70"/>
                    </a:lnTo>
                    <a:lnTo>
                      <a:pt x="226" y="66"/>
                    </a:lnTo>
                    <a:lnTo>
                      <a:pt x="224" y="64"/>
                    </a:lnTo>
                    <a:lnTo>
                      <a:pt x="224" y="64"/>
                    </a:lnTo>
                    <a:close/>
                  </a:path>
                </a:pathLst>
              </a:custGeom>
              <a:solidFill>
                <a:srgbClr val="FFFF0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FFFF00"/>
                  </a:solidFill>
                  <a:latin typeface="Arial" pitchFamily="34" charset="0"/>
                  <a:ea typeface="宋体"/>
                  <a:cs typeface="Arial" pitchFamily="34" charset="0"/>
                </a:endParaRPr>
              </a:p>
            </p:txBody>
          </p:sp>
          <p:cxnSp>
            <p:nvCxnSpPr>
              <p:cNvPr id="138" name="直接箭头连接符 137"/>
              <p:cNvCxnSpPr/>
              <p:nvPr/>
            </p:nvCxnSpPr>
            <p:spPr>
              <a:xfrm>
                <a:off x="8427225" y="1620774"/>
                <a:ext cx="0" cy="397536"/>
              </a:xfrm>
              <a:prstGeom prst="straightConnector1">
                <a:avLst/>
              </a:prstGeom>
              <a:noFill/>
              <a:ln w="38100" cap="flat" cmpd="sng" algn="ctr">
                <a:solidFill>
                  <a:srgbClr val="00B050"/>
                </a:solidFill>
                <a:prstDash val="solid"/>
                <a:tailEnd type="triangle"/>
              </a:ln>
              <a:effectLst/>
            </p:spPr>
          </p:cxnSp>
          <p:cxnSp>
            <p:nvCxnSpPr>
              <p:cNvPr id="139" name="直接箭头连接符 138"/>
              <p:cNvCxnSpPr/>
              <p:nvPr/>
            </p:nvCxnSpPr>
            <p:spPr>
              <a:xfrm>
                <a:off x="8423744" y="2399364"/>
                <a:ext cx="0" cy="397536"/>
              </a:xfrm>
              <a:prstGeom prst="straightConnector1">
                <a:avLst/>
              </a:prstGeom>
              <a:noFill/>
              <a:ln w="38100" cap="flat" cmpd="sng" algn="ctr">
                <a:solidFill>
                  <a:srgbClr val="00B050"/>
                </a:solidFill>
                <a:prstDash val="solid"/>
                <a:tailEnd type="triangle"/>
              </a:ln>
              <a:effectLst/>
            </p:spPr>
          </p:cxnSp>
          <p:cxnSp>
            <p:nvCxnSpPr>
              <p:cNvPr id="140" name="直接箭头连接符 139"/>
              <p:cNvCxnSpPr/>
              <p:nvPr/>
            </p:nvCxnSpPr>
            <p:spPr>
              <a:xfrm flipH="1" flipV="1">
                <a:off x="9214957" y="2385691"/>
                <a:ext cx="3236" cy="420138"/>
              </a:xfrm>
              <a:prstGeom prst="straightConnector1">
                <a:avLst/>
              </a:prstGeom>
              <a:noFill/>
              <a:ln w="38100" cap="flat" cmpd="sng" algn="ctr">
                <a:solidFill>
                  <a:srgbClr val="00B050"/>
                </a:solidFill>
                <a:prstDash val="solid"/>
                <a:tailEnd type="triangle"/>
              </a:ln>
              <a:effectLst/>
            </p:spPr>
          </p:cxnSp>
          <p:cxnSp>
            <p:nvCxnSpPr>
              <p:cNvPr id="141" name="直接箭头连接符 140"/>
              <p:cNvCxnSpPr/>
              <p:nvPr/>
            </p:nvCxnSpPr>
            <p:spPr>
              <a:xfrm>
                <a:off x="9202431" y="1594279"/>
                <a:ext cx="0" cy="397536"/>
              </a:xfrm>
              <a:prstGeom prst="straightConnector1">
                <a:avLst/>
              </a:prstGeom>
              <a:noFill/>
              <a:ln w="38100" cap="flat" cmpd="sng" algn="ctr">
                <a:solidFill>
                  <a:srgbClr val="00B050"/>
                </a:solidFill>
                <a:prstDash val="solid"/>
                <a:tailEnd type="triangle"/>
              </a:ln>
              <a:effectLst/>
            </p:spPr>
          </p:cxnSp>
          <p:sp>
            <p:nvSpPr>
              <p:cNvPr id="142" name="文本框 141"/>
              <p:cNvSpPr txBox="1"/>
              <p:nvPr/>
            </p:nvSpPr>
            <p:spPr>
              <a:xfrm>
                <a:off x="8124611" y="1445478"/>
                <a:ext cx="574466" cy="201605"/>
              </a:xfrm>
              <a:prstGeom prst="rect">
                <a:avLst/>
              </a:prstGeom>
              <a:noFill/>
            </p:spPr>
            <p:txBody>
              <a:bodyPr wrap="none" rtlCol="0">
                <a:spAutoFit/>
              </a:bodyPr>
              <a:lstStyle/>
              <a:p>
                <a:pPr defTabSz="914400"/>
                <a:r>
                  <a:rPr lang="zh-CN" altLang="en-US" sz="1200" dirty="0">
                    <a:solidFill>
                      <a:srgbClr val="FFFFFF"/>
                    </a:solidFill>
                    <a:latin typeface="Arial"/>
                    <a:ea typeface="宋体"/>
                  </a:rPr>
                  <a:t>申请</a:t>
                </a:r>
                <a:r>
                  <a:rPr lang="en-US" altLang="zh-CN" sz="1200" dirty="0">
                    <a:solidFill>
                      <a:srgbClr val="FFFFFF"/>
                    </a:solidFill>
                    <a:latin typeface="Arial"/>
                    <a:ea typeface="宋体"/>
                  </a:rPr>
                  <a:t>SLA</a:t>
                </a:r>
                <a:endParaRPr lang="zh-CN" altLang="en-US" sz="1200" dirty="0">
                  <a:solidFill>
                    <a:srgbClr val="FFFFFF"/>
                  </a:solidFill>
                  <a:latin typeface="Arial"/>
                  <a:ea typeface="宋体"/>
                </a:endParaRPr>
              </a:p>
            </p:txBody>
          </p:sp>
          <p:sp>
            <p:nvSpPr>
              <p:cNvPr id="143" name="文本框 142"/>
              <p:cNvSpPr txBox="1"/>
              <p:nvPr/>
            </p:nvSpPr>
            <p:spPr>
              <a:xfrm>
                <a:off x="7415126" y="2453821"/>
                <a:ext cx="913355"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申请</a:t>
                </a:r>
                <a:r>
                  <a:rPr lang="en-US" altLang="zh-CN" sz="1200" dirty="0">
                    <a:solidFill>
                      <a:srgbClr val="000000"/>
                    </a:solidFill>
                    <a:latin typeface="Arial"/>
                    <a:ea typeface="宋体"/>
                  </a:rPr>
                  <a:t>SLA</a:t>
                </a:r>
                <a:r>
                  <a:rPr lang="zh-CN" altLang="en-US" sz="1200" dirty="0">
                    <a:solidFill>
                      <a:srgbClr val="000000"/>
                    </a:solidFill>
                    <a:latin typeface="Arial"/>
                    <a:ea typeface="宋体"/>
                  </a:rPr>
                  <a:t>的链路</a:t>
                </a:r>
              </a:p>
            </p:txBody>
          </p:sp>
          <p:sp>
            <p:nvSpPr>
              <p:cNvPr id="144" name="文本框 143"/>
              <p:cNvSpPr txBox="1"/>
              <p:nvPr/>
            </p:nvSpPr>
            <p:spPr>
              <a:xfrm>
                <a:off x="9280714" y="2506052"/>
                <a:ext cx="625063"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返回</a:t>
                </a:r>
                <a:r>
                  <a:rPr lang="en-US" altLang="zh-CN" sz="1200" dirty="0">
                    <a:solidFill>
                      <a:srgbClr val="000000"/>
                    </a:solidFill>
                    <a:latin typeface="Arial"/>
                    <a:ea typeface="宋体"/>
                  </a:rPr>
                  <a:t>BSID</a:t>
                </a:r>
                <a:endParaRPr lang="zh-CN" altLang="en-US" sz="1200" dirty="0">
                  <a:solidFill>
                    <a:srgbClr val="000000"/>
                  </a:solidFill>
                  <a:latin typeface="Arial"/>
                  <a:ea typeface="宋体"/>
                </a:endParaRPr>
              </a:p>
            </p:txBody>
          </p:sp>
          <p:sp>
            <p:nvSpPr>
              <p:cNvPr id="145" name="文本框 144"/>
              <p:cNvSpPr txBox="1"/>
              <p:nvPr/>
            </p:nvSpPr>
            <p:spPr>
              <a:xfrm>
                <a:off x="10538017" y="2231862"/>
                <a:ext cx="963953"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绑定</a:t>
                </a:r>
                <a:r>
                  <a:rPr lang="en-US" altLang="zh-CN" sz="1200" dirty="0">
                    <a:solidFill>
                      <a:srgbClr val="000000"/>
                    </a:solidFill>
                    <a:latin typeface="Arial"/>
                    <a:ea typeface="宋体"/>
                  </a:rPr>
                  <a:t>BSID</a:t>
                </a:r>
                <a:r>
                  <a:rPr lang="zh-CN" altLang="en-US" sz="1200" dirty="0">
                    <a:solidFill>
                      <a:srgbClr val="000000"/>
                    </a:solidFill>
                    <a:latin typeface="Arial"/>
                    <a:ea typeface="宋体"/>
                  </a:rPr>
                  <a:t>到</a:t>
                </a:r>
                <a:r>
                  <a:rPr lang="en-US" altLang="zh-CN" sz="1200" dirty="0">
                    <a:solidFill>
                      <a:srgbClr val="000000"/>
                    </a:solidFill>
                    <a:latin typeface="Arial"/>
                    <a:ea typeface="宋体"/>
                  </a:rPr>
                  <a:t>APP</a:t>
                </a:r>
                <a:endParaRPr lang="zh-CN" altLang="en-US" sz="1200" dirty="0">
                  <a:solidFill>
                    <a:srgbClr val="000000"/>
                  </a:solidFill>
                  <a:latin typeface="Arial"/>
                  <a:ea typeface="宋体"/>
                </a:endParaRPr>
              </a:p>
            </p:txBody>
          </p:sp>
          <p:sp>
            <p:nvSpPr>
              <p:cNvPr id="146" name="椭圆 145"/>
              <p:cNvSpPr/>
              <p:nvPr/>
            </p:nvSpPr>
            <p:spPr>
              <a:xfrm>
                <a:off x="8313311" y="1690319"/>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47" name="文本框 146"/>
              <p:cNvSpPr txBox="1"/>
              <p:nvPr/>
            </p:nvSpPr>
            <p:spPr>
              <a:xfrm>
                <a:off x="8314569" y="1662764"/>
                <a:ext cx="229692" cy="248863"/>
              </a:xfrm>
              <a:prstGeom prst="rect">
                <a:avLst/>
              </a:prstGeom>
              <a:noFill/>
            </p:spPr>
            <p:txBody>
              <a:bodyPr wrap="none" rtlCol="0">
                <a:spAutoFit/>
              </a:bodyPr>
              <a:lstStyle/>
              <a:p>
                <a:pPr defTabSz="914400"/>
                <a:r>
                  <a:rPr lang="en-US" altLang="zh-CN" b="1" dirty="0">
                    <a:solidFill>
                      <a:srgbClr val="FFFFFF"/>
                    </a:solidFill>
                    <a:latin typeface="Arial"/>
                    <a:ea typeface="宋体"/>
                  </a:rPr>
                  <a:t>1</a:t>
                </a:r>
                <a:endParaRPr lang="zh-CN" altLang="en-US" b="1" dirty="0">
                  <a:solidFill>
                    <a:srgbClr val="FFFFFF"/>
                  </a:solidFill>
                  <a:latin typeface="Arial"/>
                  <a:ea typeface="宋体"/>
                </a:endParaRPr>
              </a:p>
            </p:txBody>
          </p:sp>
          <p:sp>
            <p:nvSpPr>
              <p:cNvPr id="148" name="椭圆 147"/>
              <p:cNvSpPr/>
              <p:nvPr/>
            </p:nvSpPr>
            <p:spPr>
              <a:xfrm>
                <a:off x="8310097" y="2463661"/>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49" name="文本框 148"/>
              <p:cNvSpPr txBox="1"/>
              <p:nvPr/>
            </p:nvSpPr>
            <p:spPr>
              <a:xfrm>
                <a:off x="8311960" y="2430690"/>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2</a:t>
                </a:r>
                <a:endParaRPr lang="zh-CN" altLang="en-US" b="1" dirty="0">
                  <a:solidFill>
                    <a:srgbClr val="FFFFFF"/>
                  </a:solidFill>
                  <a:latin typeface="Arial"/>
                  <a:ea typeface="宋体"/>
                </a:endParaRPr>
              </a:p>
            </p:txBody>
          </p:sp>
          <p:sp>
            <p:nvSpPr>
              <p:cNvPr id="150" name="椭圆 149"/>
              <p:cNvSpPr/>
              <p:nvPr/>
            </p:nvSpPr>
            <p:spPr>
              <a:xfrm>
                <a:off x="9103940" y="1674907"/>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1" name="文本框 150"/>
              <p:cNvSpPr txBox="1"/>
              <p:nvPr/>
            </p:nvSpPr>
            <p:spPr>
              <a:xfrm>
                <a:off x="9105802" y="1641936"/>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5</a:t>
                </a:r>
                <a:endParaRPr lang="zh-CN" altLang="en-US" b="1" dirty="0">
                  <a:solidFill>
                    <a:srgbClr val="FFFFFF"/>
                  </a:solidFill>
                  <a:latin typeface="Arial"/>
                  <a:ea typeface="宋体"/>
                </a:endParaRPr>
              </a:p>
            </p:txBody>
          </p:sp>
          <p:sp>
            <p:nvSpPr>
              <p:cNvPr id="152" name="椭圆 151"/>
              <p:cNvSpPr/>
              <p:nvPr/>
            </p:nvSpPr>
            <p:spPr>
              <a:xfrm>
                <a:off x="9101716" y="2500969"/>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3" name="文本框 152"/>
              <p:cNvSpPr txBox="1"/>
              <p:nvPr/>
            </p:nvSpPr>
            <p:spPr>
              <a:xfrm>
                <a:off x="9103578" y="2467998"/>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4</a:t>
                </a:r>
                <a:endParaRPr lang="zh-CN" altLang="en-US" b="1" dirty="0">
                  <a:solidFill>
                    <a:srgbClr val="FFFFFF"/>
                  </a:solidFill>
                  <a:latin typeface="Arial"/>
                  <a:ea typeface="宋体"/>
                </a:endParaRPr>
              </a:p>
            </p:txBody>
          </p:sp>
          <p:sp>
            <p:nvSpPr>
              <p:cNvPr id="154" name="椭圆 153"/>
              <p:cNvSpPr/>
              <p:nvPr/>
            </p:nvSpPr>
            <p:spPr>
              <a:xfrm>
                <a:off x="10340131" y="2249147"/>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5" name="文本框 154"/>
              <p:cNvSpPr txBox="1"/>
              <p:nvPr/>
            </p:nvSpPr>
            <p:spPr>
              <a:xfrm>
                <a:off x="10341993" y="2216176"/>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6</a:t>
                </a:r>
                <a:endParaRPr lang="zh-CN" altLang="en-US" b="1" dirty="0">
                  <a:solidFill>
                    <a:srgbClr val="FFFFFF"/>
                  </a:solidFill>
                  <a:latin typeface="Arial"/>
                  <a:ea typeface="宋体"/>
                </a:endParaRPr>
              </a:p>
            </p:txBody>
          </p:sp>
          <p:sp>
            <p:nvSpPr>
              <p:cNvPr id="156" name="文本框 155"/>
              <p:cNvSpPr txBox="1"/>
              <p:nvPr/>
            </p:nvSpPr>
            <p:spPr>
              <a:xfrm>
                <a:off x="10051753" y="4236904"/>
                <a:ext cx="856873" cy="201605"/>
              </a:xfrm>
              <a:prstGeom prst="rect">
                <a:avLst/>
              </a:prstGeom>
              <a:noFill/>
            </p:spPr>
            <p:txBody>
              <a:bodyPr wrap="none" rtlCol="0">
                <a:spAutoFit/>
              </a:bodyPr>
              <a:lstStyle/>
              <a:p>
                <a:pPr defTabSz="914400"/>
                <a:r>
                  <a:rPr lang="en-US" altLang="zh-CN" sz="1200" dirty="0">
                    <a:solidFill>
                      <a:srgbClr val="000000"/>
                    </a:solidFill>
                    <a:latin typeface="Arial"/>
                    <a:ea typeface="宋体"/>
                  </a:rPr>
                  <a:t>AR</a:t>
                </a:r>
                <a:r>
                  <a:rPr lang="zh-CN" altLang="en-US" sz="1200" dirty="0">
                    <a:solidFill>
                      <a:srgbClr val="000000"/>
                    </a:solidFill>
                    <a:latin typeface="Arial"/>
                    <a:ea typeface="宋体"/>
                  </a:rPr>
                  <a:t>对报文着色</a:t>
                </a:r>
              </a:p>
            </p:txBody>
          </p:sp>
          <p:sp>
            <p:nvSpPr>
              <p:cNvPr id="157" name="椭圆 156"/>
              <p:cNvSpPr/>
              <p:nvPr/>
            </p:nvSpPr>
            <p:spPr>
              <a:xfrm>
                <a:off x="10339478" y="4076401"/>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8" name="文本框 157"/>
              <p:cNvSpPr txBox="1"/>
              <p:nvPr/>
            </p:nvSpPr>
            <p:spPr>
              <a:xfrm>
                <a:off x="10341340" y="4043430"/>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7</a:t>
                </a:r>
                <a:endParaRPr lang="zh-CN" altLang="en-US" b="1" dirty="0">
                  <a:solidFill>
                    <a:srgbClr val="FFFFFF"/>
                  </a:solidFill>
                  <a:latin typeface="Arial"/>
                  <a:ea typeface="宋体"/>
                </a:endParaRPr>
              </a:p>
            </p:txBody>
          </p:sp>
          <p:sp>
            <p:nvSpPr>
              <p:cNvPr id="159" name="文本框 158"/>
              <p:cNvSpPr txBox="1"/>
              <p:nvPr/>
            </p:nvSpPr>
            <p:spPr>
              <a:xfrm>
                <a:off x="8234442" y="4251491"/>
                <a:ext cx="1420184" cy="201605"/>
              </a:xfrm>
              <a:prstGeom prst="rect">
                <a:avLst/>
              </a:prstGeom>
              <a:noFill/>
            </p:spPr>
            <p:txBody>
              <a:bodyPr wrap="none" rtlCol="0">
                <a:spAutoFit/>
              </a:bodyPr>
              <a:lstStyle/>
              <a:p>
                <a:pPr defTabSz="914400"/>
                <a:r>
                  <a:rPr lang="en-US" altLang="zh-CN" sz="1200" dirty="0">
                    <a:solidFill>
                      <a:srgbClr val="000000"/>
                    </a:solidFill>
                    <a:latin typeface="Arial"/>
                    <a:ea typeface="宋体"/>
                  </a:rPr>
                  <a:t>NE</a:t>
                </a:r>
                <a:r>
                  <a:rPr lang="zh-CN" altLang="en-US" sz="1200" dirty="0">
                    <a:solidFill>
                      <a:srgbClr val="000000"/>
                    </a:solidFill>
                    <a:latin typeface="Arial"/>
                    <a:ea typeface="宋体"/>
                  </a:rPr>
                  <a:t>根据</a:t>
                </a:r>
                <a:r>
                  <a:rPr lang="en-US" altLang="zh-CN" sz="1200" dirty="0">
                    <a:solidFill>
                      <a:srgbClr val="000000"/>
                    </a:solidFill>
                    <a:latin typeface="Arial"/>
                    <a:ea typeface="宋体"/>
                  </a:rPr>
                  <a:t>BSID</a:t>
                </a:r>
                <a:r>
                  <a:rPr lang="zh-CN" altLang="en-US" sz="1200" dirty="0">
                    <a:solidFill>
                      <a:srgbClr val="000000"/>
                    </a:solidFill>
                    <a:latin typeface="Arial"/>
                    <a:ea typeface="宋体"/>
                  </a:rPr>
                  <a:t>入</a:t>
                </a:r>
                <a:r>
                  <a:rPr lang="en-US" altLang="zh-CN" sz="1200" dirty="0">
                    <a:solidFill>
                      <a:srgbClr val="000000"/>
                    </a:solidFill>
                    <a:latin typeface="Arial"/>
                    <a:ea typeface="宋体"/>
                  </a:rPr>
                  <a:t>SR Tunnel</a:t>
                </a:r>
                <a:endParaRPr lang="zh-CN" altLang="en-US" sz="1200" dirty="0">
                  <a:solidFill>
                    <a:srgbClr val="000000"/>
                  </a:solidFill>
                  <a:latin typeface="Arial"/>
                  <a:ea typeface="宋体"/>
                </a:endParaRPr>
              </a:p>
            </p:txBody>
          </p:sp>
          <p:sp>
            <p:nvSpPr>
              <p:cNvPr id="160" name="任意多边形 159"/>
              <p:cNvSpPr/>
              <p:nvPr/>
            </p:nvSpPr>
            <p:spPr>
              <a:xfrm flipV="1">
                <a:off x="7602959" y="3586397"/>
                <a:ext cx="1747115" cy="233563"/>
              </a:xfrm>
              <a:custGeom>
                <a:avLst/>
                <a:gdLst>
                  <a:gd name="connsiteX0" fmla="*/ 0 w 3259667"/>
                  <a:gd name="connsiteY0" fmla="*/ 42333 h 694378"/>
                  <a:gd name="connsiteX1" fmla="*/ 1507067 w 3259667"/>
                  <a:gd name="connsiteY1" fmla="*/ 694267 h 694378"/>
                  <a:gd name="connsiteX2" fmla="*/ 3259667 w 3259667"/>
                  <a:gd name="connsiteY2" fmla="*/ 0 h 694378"/>
                </a:gdLst>
                <a:ahLst/>
                <a:cxnLst>
                  <a:cxn ang="0">
                    <a:pos x="connsiteX0" y="connsiteY0"/>
                  </a:cxn>
                  <a:cxn ang="0">
                    <a:pos x="connsiteX1" y="connsiteY1"/>
                  </a:cxn>
                  <a:cxn ang="0">
                    <a:pos x="connsiteX2" y="connsiteY2"/>
                  </a:cxn>
                </a:cxnLst>
                <a:rect l="l" t="t" r="r" b="b"/>
                <a:pathLst>
                  <a:path w="3259667" h="694378">
                    <a:moveTo>
                      <a:pt x="0" y="42333"/>
                    </a:moveTo>
                    <a:cubicBezTo>
                      <a:pt x="481894" y="371827"/>
                      <a:pt x="963789" y="701322"/>
                      <a:pt x="1507067" y="694267"/>
                    </a:cubicBezTo>
                    <a:cubicBezTo>
                      <a:pt x="2050345" y="687212"/>
                      <a:pt x="2655006" y="343606"/>
                      <a:pt x="3259667" y="0"/>
                    </a:cubicBezTo>
                  </a:path>
                </a:pathLst>
              </a:custGeom>
              <a:noFill/>
              <a:ln w="76200" cap="flat" cmpd="sng" algn="ctr">
                <a:solidFill>
                  <a:srgbClr val="00B050">
                    <a:alpha val="56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61" name="任意多边形 160"/>
              <p:cNvSpPr/>
              <p:nvPr/>
            </p:nvSpPr>
            <p:spPr>
              <a:xfrm flipV="1">
                <a:off x="7602959" y="3519807"/>
                <a:ext cx="1793123" cy="233563"/>
              </a:xfrm>
              <a:custGeom>
                <a:avLst/>
                <a:gdLst>
                  <a:gd name="connsiteX0" fmla="*/ 0 w 3259667"/>
                  <a:gd name="connsiteY0" fmla="*/ 42333 h 694378"/>
                  <a:gd name="connsiteX1" fmla="*/ 1507067 w 3259667"/>
                  <a:gd name="connsiteY1" fmla="*/ 694267 h 694378"/>
                  <a:gd name="connsiteX2" fmla="*/ 3259667 w 3259667"/>
                  <a:gd name="connsiteY2" fmla="*/ 0 h 694378"/>
                </a:gdLst>
                <a:ahLst/>
                <a:cxnLst>
                  <a:cxn ang="0">
                    <a:pos x="connsiteX0" y="connsiteY0"/>
                  </a:cxn>
                  <a:cxn ang="0">
                    <a:pos x="connsiteX1" y="connsiteY1"/>
                  </a:cxn>
                  <a:cxn ang="0">
                    <a:pos x="connsiteX2" y="connsiteY2"/>
                  </a:cxn>
                </a:cxnLst>
                <a:rect l="l" t="t" r="r" b="b"/>
                <a:pathLst>
                  <a:path w="3259667" h="694378">
                    <a:moveTo>
                      <a:pt x="0" y="42333"/>
                    </a:moveTo>
                    <a:cubicBezTo>
                      <a:pt x="481894" y="371827"/>
                      <a:pt x="963789" y="701322"/>
                      <a:pt x="1507067" y="694267"/>
                    </a:cubicBezTo>
                    <a:cubicBezTo>
                      <a:pt x="2050345" y="687212"/>
                      <a:pt x="2655006" y="343606"/>
                      <a:pt x="3259667" y="0"/>
                    </a:cubicBezTo>
                  </a:path>
                </a:pathLst>
              </a:custGeom>
              <a:noFill/>
              <a:ln w="76200" cap="flat" cmpd="sng" algn="ctr">
                <a:solidFill>
                  <a:srgbClr val="5700DC"/>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62" name="任意多边形 161"/>
              <p:cNvSpPr/>
              <p:nvPr/>
            </p:nvSpPr>
            <p:spPr>
              <a:xfrm>
                <a:off x="7677997" y="3747175"/>
                <a:ext cx="1682967" cy="491368"/>
              </a:xfrm>
              <a:custGeom>
                <a:avLst/>
                <a:gdLst>
                  <a:gd name="connsiteX0" fmla="*/ 0 w 2057400"/>
                  <a:gd name="connsiteY0" fmla="*/ 280242 h 665784"/>
                  <a:gd name="connsiteX1" fmla="*/ 762000 w 2057400"/>
                  <a:gd name="connsiteY1" fmla="*/ 13542 h 665784"/>
                  <a:gd name="connsiteX2" fmla="*/ 1155700 w 2057400"/>
                  <a:gd name="connsiteY2" fmla="*/ 654892 h 665784"/>
                  <a:gd name="connsiteX3" fmla="*/ 2057400 w 2057400"/>
                  <a:gd name="connsiteY3" fmla="*/ 356442 h 665784"/>
                  <a:gd name="connsiteX0" fmla="*/ 0 w 2209800"/>
                  <a:gd name="connsiteY0" fmla="*/ 280242 h 684010"/>
                  <a:gd name="connsiteX1" fmla="*/ 762000 w 2209800"/>
                  <a:gd name="connsiteY1" fmla="*/ 13542 h 684010"/>
                  <a:gd name="connsiteX2" fmla="*/ 1155700 w 2209800"/>
                  <a:gd name="connsiteY2" fmla="*/ 654892 h 684010"/>
                  <a:gd name="connsiteX3" fmla="*/ 2209800 w 2209800"/>
                  <a:gd name="connsiteY3" fmla="*/ 473917 h 684010"/>
                  <a:gd name="connsiteX0" fmla="*/ 0 w 2209800"/>
                  <a:gd name="connsiteY0" fmla="*/ 280242 h 675124"/>
                  <a:gd name="connsiteX1" fmla="*/ 762000 w 2209800"/>
                  <a:gd name="connsiteY1" fmla="*/ 13542 h 675124"/>
                  <a:gd name="connsiteX2" fmla="*/ 1155700 w 2209800"/>
                  <a:gd name="connsiteY2" fmla="*/ 654892 h 675124"/>
                  <a:gd name="connsiteX3" fmla="*/ 2209800 w 2209800"/>
                  <a:gd name="connsiteY3" fmla="*/ 473917 h 675124"/>
                </a:gdLst>
                <a:ahLst/>
                <a:cxnLst>
                  <a:cxn ang="0">
                    <a:pos x="connsiteX0" y="connsiteY0"/>
                  </a:cxn>
                  <a:cxn ang="0">
                    <a:pos x="connsiteX1" y="connsiteY1"/>
                  </a:cxn>
                  <a:cxn ang="0">
                    <a:pos x="connsiteX2" y="connsiteY2"/>
                  </a:cxn>
                  <a:cxn ang="0">
                    <a:pos x="connsiteX3" y="connsiteY3"/>
                  </a:cxn>
                </a:cxnLst>
                <a:rect l="l" t="t" r="r" b="b"/>
                <a:pathLst>
                  <a:path w="2209800" h="675124">
                    <a:moveTo>
                      <a:pt x="0" y="280242"/>
                    </a:moveTo>
                    <a:cubicBezTo>
                      <a:pt x="284691" y="115671"/>
                      <a:pt x="569383" y="-48900"/>
                      <a:pt x="762000" y="13542"/>
                    </a:cubicBezTo>
                    <a:cubicBezTo>
                      <a:pt x="954617" y="75984"/>
                      <a:pt x="914400" y="578163"/>
                      <a:pt x="1155700" y="654892"/>
                    </a:cubicBezTo>
                    <a:cubicBezTo>
                      <a:pt x="1397000" y="731621"/>
                      <a:pt x="1822450" y="572342"/>
                      <a:pt x="2209800" y="473917"/>
                    </a:cubicBezTo>
                  </a:path>
                </a:pathLst>
              </a:custGeom>
              <a:noFill/>
              <a:ln w="76200" cap="flat" cmpd="sng" algn="ctr">
                <a:solidFill>
                  <a:srgbClr val="F23655"/>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grpSp>
            <p:nvGrpSpPr>
              <p:cNvPr id="163" name="Group 131"/>
              <p:cNvGrpSpPr>
                <a:grpSpLocks noChangeAspect="1"/>
              </p:cNvGrpSpPr>
              <p:nvPr/>
            </p:nvGrpSpPr>
            <p:grpSpPr>
              <a:xfrm>
                <a:off x="8505697" y="4150057"/>
                <a:ext cx="198384" cy="135841"/>
                <a:chOff x="2207218" y="3714322"/>
                <a:chExt cx="704596" cy="704596"/>
              </a:xfrm>
              <a:solidFill>
                <a:srgbClr val="1262AA"/>
              </a:solidFill>
            </p:grpSpPr>
            <p:sp>
              <p:nvSpPr>
                <p:cNvPr id="188"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189" name="Group 30"/>
                <p:cNvGrpSpPr>
                  <a:grpSpLocks noChangeAspect="1"/>
                </p:cNvGrpSpPr>
                <p:nvPr/>
              </p:nvGrpSpPr>
              <p:grpSpPr bwMode="auto">
                <a:xfrm rot="2700000">
                  <a:off x="2334275" y="3840176"/>
                  <a:ext cx="457656" cy="456962"/>
                  <a:chOff x="6736" y="2389"/>
                  <a:chExt cx="660" cy="659"/>
                </a:xfrm>
                <a:grpFill/>
              </p:grpSpPr>
              <p:sp>
                <p:nvSpPr>
                  <p:cNvPr id="190"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91"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92"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93"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64" name="文本框 163"/>
              <p:cNvSpPr txBox="1"/>
              <p:nvPr/>
            </p:nvSpPr>
            <p:spPr>
              <a:xfrm>
                <a:off x="8211338" y="4140443"/>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NE3</a:t>
                </a:r>
                <a:endParaRPr lang="zh-CN" altLang="en-US" sz="1100" dirty="0">
                  <a:solidFill>
                    <a:srgbClr val="000000"/>
                  </a:solidFill>
                  <a:latin typeface="Arial"/>
                  <a:ea typeface="宋体"/>
                </a:endParaRPr>
              </a:p>
            </p:txBody>
          </p:sp>
          <p:grpSp>
            <p:nvGrpSpPr>
              <p:cNvPr id="165" name="Group 131"/>
              <p:cNvGrpSpPr>
                <a:grpSpLocks noChangeAspect="1"/>
              </p:cNvGrpSpPr>
              <p:nvPr/>
            </p:nvGrpSpPr>
            <p:grpSpPr>
              <a:xfrm>
                <a:off x="8193201" y="3527677"/>
                <a:ext cx="180349" cy="123492"/>
                <a:chOff x="2207218" y="3714322"/>
                <a:chExt cx="704596" cy="704596"/>
              </a:xfrm>
              <a:solidFill>
                <a:srgbClr val="1262AA"/>
              </a:solidFill>
            </p:grpSpPr>
            <p:sp>
              <p:nvSpPr>
                <p:cNvPr id="182"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183" name="Group 30"/>
                <p:cNvGrpSpPr>
                  <a:grpSpLocks noChangeAspect="1"/>
                </p:cNvGrpSpPr>
                <p:nvPr/>
              </p:nvGrpSpPr>
              <p:grpSpPr bwMode="auto">
                <a:xfrm rot="2700000">
                  <a:off x="2334275" y="3840176"/>
                  <a:ext cx="457656" cy="456962"/>
                  <a:chOff x="6736" y="2389"/>
                  <a:chExt cx="660" cy="659"/>
                </a:xfrm>
                <a:grpFill/>
              </p:grpSpPr>
              <p:sp>
                <p:nvSpPr>
                  <p:cNvPr id="184"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85"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86"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87"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66" name="文本框 165"/>
              <p:cNvSpPr txBox="1"/>
              <p:nvPr/>
            </p:nvSpPr>
            <p:spPr>
              <a:xfrm>
                <a:off x="8279295" y="3587011"/>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NE2</a:t>
                </a:r>
                <a:endParaRPr lang="zh-CN" altLang="en-US" sz="1100" dirty="0">
                  <a:solidFill>
                    <a:srgbClr val="000000"/>
                  </a:solidFill>
                  <a:latin typeface="Arial"/>
                  <a:ea typeface="宋体"/>
                </a:endParaRPr>
              </a:p>
            </p:txBody>
          </p:sp>
          <p:grpSp>
            <p:nvGrpSpPr>
              <p:cNvPr id="167" name="组合 166"/>
              <p:cNvGrpSpPr/>
              <p:nvPr/>
            </p:nvGrpSpPr>
            <p:grpSpPr>
              <a:xfrm>
                <a:off x="8152276" y="1102921"/>
                <a:ext cx="1197798" cy="280507"/>
                <a:chOff x="3925535" y="719097"/>
                <a:chExt cx="1631744" cy="407703"/>
              </a:xfrm>
            </p:grpSpPr>
            <p:sp>
              <p:nvSpPr>
                <p:cNvPr id="179" name="文本框 178"/>
                <p:cNvSpPr txBox="1"/>
                <p:nvPr/>
              </p:nvSpPr>
              <p:spPr>
                <a:xfrm>
                  <a:off x="3925535" y="719097"/>
                  <a:ext cx="479618" cy="390698"/>
                </a:xfrm>
                <a:prstGeom prst="rect">
                  <a:avLst/>
                </a:prstGeom>
                <a:noFill/>
              </p:spPr>
              <p:txBody>
                <a:bodyPr wrap="none" rtlCol="0">
                  <a:spAutoFit/>
                </a:bodyPr>
                <a:lstStyle/>
                <a:p>
                  <a:pPr defTabSz="914400"/>
                  <a:r>
                    <a:rPr lang="en-US" altLang="zh-CN" sz="900" b="1" dirty="0">
                      <a:solidFill>
                        <a:srgbClr val="FFFF00"/>
                      </a:solidFill>
                      <a:latin typeface="Arial"/>
                      <a:ea typeface="宋体"/>
                    </a:rPr>
                    <a:t>SLA1</a:t>
                  </a:r>
                </a:p>
                <a:p>
                  <a:pPr defTabSz="914400"/>
                  <a:r>
                    <a:rPr lang="en-US" altLang="zh-CN" sz="900" b="1" dirty="0">
                      <a:solidFill>
                        <a:srgbClr val="FFFF00"/>
                      </a:solidFill>
                      <a:latin typeface="Arial"/>
                      <a:ea typeface="宋体"/>
                    </a:rPr>
                    <a:t>0</a:t>
                  </a:r>
                  <a:r>
                    <a:rPr lang="zh-CN" altLang="en-US" sz="900" b="1" dirty="0">
                      <a:solidFill>
                        <a:srgbClr val="FFFF00"/>
                      </a:solidFill>
                      <a:latin typeface="Arial"/>
                      <a:ea typeface="宋体"/>
                    </a:rPr>
                    <a:t>丢包</a:t>
                  </a:r>
                </a:p>
              </p:txBody>
            </p:sp>
            <p:sp>
              <p:nvSpPr>
                <p:cNvPr id="180" name="文本框 179"/>
                <p:cNvSpPr txBox="1"/>
                <p:nvPr/>
              </p:nvSpPr>
              <p:spPr>
                <a:xfrm>
                  <a:off x="4466377" y="727892"/>
                  <a:ext cx="530915" cy="390698"/>
                </a:xfrm>
                <a:prstGeom prst="rect">
                  <a:avLst/>
                </a:prstGeom>
                <a:noFill/>
              </p:spPr>
              <p:txBody>
                <a:bodyPr wrap="none" rtlCol="0">
                  <a:spAutoFit/>
                </a:bodyPr>
                <a:lstStyle/>
                <a:p>
                  <a:pPr defTabSz="914400"/>
                  <a:r>
                    <a:rPr lang="en-US" altLang="zh-CN" sz="900" b="1" dirty="0">
                      <a:solidFill>
                        <a:srgbClr val="FFFF00"/>
                      </a:solidFill>
                      <a:latin typeface="Arial"/>
                      <a:ea typeface="宋体"/>
                    </a:rPr>
                    <a:t>SLA2</a:t>
                  </a:r>
                </a:p>
                <a:p>
                  <a:pPr defTabSz="914400"/>
                  <a:r>
                    <a:rPr lang="zh-CN" altLang="en-US" sz="900" b="1" dirty="0">
                      <a:solidFill>
                        <a:srgbClr val="FFFF00"/>
                      </a:solidFill>
                      <a:latin typeface="Arial"/>
                      <a:ea typeface="宋体"/>
                    </a:rPr>
                    <a:t>低时延</a:t>
                  </a:r>
                </a:p>
              </p:txBody>
            </p:sp>
            <p:sp>
              <p:nvSpPr>
                <p:cNvPr id="181" name="文本框 180"/>
                <p:cNvSpPr txBox="1"/>
                <p:nvPr/>
              </p:nvSpPr>
              <p:spPr>
                <a:xfrm>
                  <a:off x="5026364" y="736102"/>
                  <a:ext cx="530915" cy="390698"/>
                </a:xfrm>
                <a:prstGeom prst="rect">
                  <a:avLst/>
                </a:prstGeom>
                <a:noFill/>
              </p:spPr>
              <p:txBody>
                <a:bodyPr wrap="none" rtlCol="0">
                  <a:spAutoFit/>
                </a:bodyPr>
                <a:lstStyle/>
                <a:p>
                  <a:pPr defTabSz="914400"/>
                  <a:r>
                    <a:rPr lang="en-US" altLang="zh-CN" sz="900" b="1" dirty="0">
                      <a:solidFill>
                        <a:srgbClr val="FFFF00"/>
                      </a:solidFill>
                      <a:latin typeface="Arial"/>
                      <a:ea typeface="宋体"/>
                    </a:rPr>
                    <a:t>SLA3</a:t>
                  </a:r>
                </a:p>
                <a:p>
                  <a:pPr defTabSz="914400"/>
                  <a:r>
                    <a:rPr lang="zh-CN" altLang="en-US" sz="900" b="1" dirty="0">
                      <a:solidFill>
                        <a:srgbClr val="FFFF00"/>
                      </a:solidFill>
                      <a:latin typeface="Arial"/>
                      <a:ea typeface="宋体"/>
                    </a:rPr>
                    <a:t>高并发</a:t>
                  </a:r>
                </a:p>
              </p:txBody>
            </p:sp>
          </p:grpSp>
          <p:sp>
            <p:nvSpPr>
              <p:cNvPr id="168" name="Freeform 321"/>
              <p:cNvSpPr>
                <a:spLocks noEditPoints="1"/>
              </p:cNvSpPr>
              <p:nvPr/>
            </p:nvSpPr>
            <p:spPr bwMode="auto">
              <a:xfrm>
                <a:off x="11566954" y="4171348"/>
                <a:ext cx="285740" cy="133889"/>
              </a:xfrm>
              <a:custGeom>
                <a:avLst/>
                <a:gdLst/>
                <a:ahLst/>
                <a:cxnLst>
                  <a:cxn ang="0">
                    <a:pos x="15727" y="26"/>
                  </a:cxn>
                  <a:cxn ang="0">
                    <a:pos x="15922" y="132"/>
                  </a:cxn>
                  <a:cxn ang="0">
                    <a:pos x="16062" y="303"/>
                  </a:cxn>
                  <a:cxn ang="0">
                    <a:pos x="16130" y="519"/>
                  </a:cxn>
                  <a:cxn ang="0">
                    <a:pos x="7" y="490"/>
                  </a:cxn>
                  <a:cxn ang="0">
                    <a:pos x="84" y="279"/>
                  </a:cxn>
                  <a:cxn ang="0">
                    <a:pos x="233" y="115"/>
                  </a:cxn>
                  <a:cxn ang="0">
                    <a:pos x="434" y="18"/>
                  </a:cxn>
                  <a:cxn ang="0">
                    <a:pos x="6998" y="7311"/>
                  </a:cxn>
                  <a:cxn ang="0">
                    <a:pos x="8559" y="2549"/>
                  </a:cxn>
                  <a:cxn ang="0">
                    <a:pos x="9743" y="2981"/>
                  </a:cxn>
                  <a:cxn ang="0">
                    <a:pos x="10660" y="3813"/>
                  </a:cxn>
                  <a:cxn ang="0">
                    <a:pos x="11202" y="4939"/>
                  </a:cxn>
                  <a:cxn ang="0">
                    <a:pos x="11268" y="6237"/>
                  </a:cxn>
                  <a:cxn ang="0">
                    <a:pos x="10835" y="7422"/>
                  </a:cxn>
                  <a:cxn ang="0">
                    <a:pos x="10002" y="8337"/>
                  </a:cxn>
                  <a:cxn ang="0">
                    <a:pos x="8874" y="8879"/>
                  </a:cxn>
                  <a:cxn ang="0">
                    <a:pos x="7574" y="8943"/>
                  </a:cxn>
                  <a:cxn ang="0">
                    <a:pos x="6389" y="8511"/>
                  </a:cxn>
                  <a:cxn ang="0">
                    <a:pos x="5472" y="7679"/>
                  </a:cxn>
                  <a:cxn ang="0">
                    <a:pos x="4930" y="6553"/>
                  </a:cxn>
                  <a:cxn ang="0">
                    <a:pos x="4865" y="5255"/>
                  </a:cxn>
                  <a:cxn ang="0">
                    <a:pos x="5298" y="4071"/>
                  </a:cxn>
                  <a:cxn ang="0">
                    <a:pos x="6131" y="3156"/>
                  </a:cxn>
                  <a:cxn ang="0">
                    <a:pos x="7259" y="2614"/>
                  </a:cxn>
                  <a:cxn ang="0">
                    <a:pos x="8299" y="3474"/>
                  </a:cxn>
                  <a:cxn ang="0">
                    <a:pos x="9154" y="3739"/>
                  </a:cxn>
                  <a:cxn ang="0">
                    <a:pos x="9829" y="4295"/>
                  </a:cxn>
                  <a:cxn ang="0">
                    <a:pos x="10249" y="5068"/>
                  </a:cxn>
                  <a:cxn ang="0">
                    <a:pos x="10341" y="5979"/>
                  </a:cxn>
                  <a:cxn ang="0">
                    <a:pos x="10076" y="6833"/>
                  </a:cxn>
                  <a:cxn ang="0">
                    <a:pos x="9519" y="7507"/>
                  </a:cxn>
                  <a:cxn ang="0">
                    <a:pos x="8745" y="7926"/>
                  </a:cxn>
                  <a:cxn ang="0">
                    <a:pos x="7834" y="8018"/>
                  </a:cxn>
                  <a:cxn ang="0">
                    <a:pos x="6979" y="7753"/>
                  </a:cxn>
                  <a:cxn ang="0">
                    <a:pos x="6303" y="7197"/>
                  </a:cxn>
                  <a:cxn ang="0">
                    <a:pos x="5884" y="6424"/>
                  </a:cxn>
                  <a:cxn ang="0">
                    <a:pos x="5792" y="5513"/>
                  </a:cxn>
                  <a:cxn ang="0">
                    <a:pos x="6057" y="4659"/>
                  </a:cxn>
                  <a:cxn ang="0">
                    <a:pos x="6614" y="3986"/>
                  </a:cxn>
                  <a:cxn ang="0">
                    <a:pos x="7388" y="3566"/>
                  </a:cxn>
                  <a:cxn ang="0">
                    <a:pos x="16133" y="9543"/>
                  </a:cxn>
                  <a:cxn ang="0">
                    <a:pos x="16126" y="11003"/>
                  </a:cxn>
                  <a:cxn ang="0">
                    <a:pos x="16049" y="11213"/>
                  </a:cxn>
                  <a:cxn ang="0">
                    <a:pos x="15900" y="11377"/>
                  </a:cxn>
                  <a:cxn ang="0">
                    <a:pos x="15698" y="11474"/>
                  </a:cxn>
                  <a:cxn ang="0">
                    <a:pos x="519" y="11489"/>
                  </a:cxn>
                  <a:cxn ang="0">
                    <a:pos x="304" y="11423"/>
                  </a:cxn>
                  <a:cxn ang="0">
                    <a:pos x="132" y="11282"/>
                  </a:cxn>
                  <a:cxn ang="0">
                    <a:pos x="26" y="11086"/>
                  </a:cxn>
                  <a:cxn ang="0">
                    <a:pos x="16133" y="9750"/>
                  </a:cxn>
                  <a:cxn ang="0">
                    <a:pos x="3483" y="1338"/>
                  </a:cxn>
                  <a:cxn ang="0">
                    <a:pos x="5884" y="703"/>
                  </a:cxn>
                  <a:cxn ang="0">
                    <a:pos x="7575" y="1338"/>
                  </a:cxn>
                  <a:cxn ang="0">
                    <a:pos x="11941" y="703"/>
                  </a:cxn>
                  <a:cxn ang="0">
                    <a:pos x="12650" y="703"/>
                  </a:cxn>
                  <a:cxn ang="0">
                    <a:pos x="1791" y="10868"/>
                  </a:cxn>
                  <a:cxn ang="0">
                    <a:pos x="4192" y="10232"/>
                  </a:cxn>
                  <a:cxn ang="0">
                    <a:pos x="5884" y="10868"/>
                  </a:cxn>
                  <a:cxn ang="0">
                    <a:pos x="10249" y="10232"/>
                  </a:cxn>
                  <a:cxn ang="0">
                    <a:pos x="10958" y="10232"/>
                  </a:cxn>
                  <a:cxn ang="0">
                    <a:pos x="15325" y="10868"/>
                  </a:cxn>
                </a:cxnLst>
                <a:rect l="0" t="0" r="r" b="b"/>
                <a:pathLst>
                  <a:path w="16133" h="11492">
                    <a:moveTo>
                      <a:pt x="578" y="0"/>
                    </a:moveTo>
                    <a:lnTo>
                      <a:pt x="15555" y="0"/>
                    </a:lnTo>
                    <a:lnTo>
                      <a:pt x="15584" y="1"/>
                    </a:lnTo>
                    <a:lnTo>
                      <a:pt x="15614" y="3"/>
                    </a:lnTo>
                    <a:lnTo>
                      <a:pt x="15642" y="7"/>
                    </a:lnTo>
                    <a:lnTo>
                      <a:pt x="15671" y="12"/>
                    </a:lnTo>
                    <a:lnTo>
                      <a:pt x="15698" y="18"/>
                    </a:lnTo>
                    <a:lnTo>
                      <a:pt x="15727" y="26"/>
                    </a:lnTo>
                    <a:lnTo>
                      <a:pt x="15753" y="35"/>
                    </a:lnTo>
                    <a:lnTo>
                      <a:pt x="15779" y="45"/>
                    </a:lnTo>
                    <a:lnTo>
                      <a:pt x="15805" y="57"/>
                    </a:lnTo>
                    <a:lnTo>
                      <a:pt x="15829" y="70"/>
                    </a:lnTo>
                    <a:lnTo>
                      <a:pt x="15854" y="84"/>
                    </a:lnTo>
                    <a:lnTo>
                      <a:pt x="15878" y="99"/>
                    </a:lnTo>
                    <a:lnTo>
                      <a:pt x="15900" y="115"/>
                    </a:lnTo>
                    <a:lnTo>
                      <a:pt x="15922" y="132"/>
                    </a:lnTo>
                    <a:lnTo>
                      <a:pt x="15943" y="151"/>
                    </a:lnTo>
                    <a:lnTo>
                      <a:pt x="15964" y="169"/>
                    </a:lnTo>
                    <a:lnTo>
                      <a:pt x="15982" y="189"/>
                    </a:lnTo>
                    <a:lnTo>
                      <a:pt x="16001" y="210"/>
                    </a:lnTo>
                    <a:lnTo>
                      <a:pt x="16018" y="233"/>
                    </a:lnTo>
                    <a:lnTo>
                      <a:pt x="16034" y="255"/>
                    </a:lnTo>
                    <a:lnTo>
                      <a:pt x="16049" y="279"/>
                    </a:lnTo>
                    <a:lnTo>
                      <a:pt x="16062" y="303"/>
                    </a:lnTo>
                    <a:lnTo>
                      <a:pt x="16076" y="327"/>
                    </a:lnTo>
                    <a:lnTo>
                      <a:pt x="16088" y="353"/>
                    </a:lnTo>
                    <a:lnTo>
                      <a:pt x="16098" y="380"/>
                    </a:lnTo>
                    <a:lnTo>
                      <a:pt x="16107" y="406"/>
                    </a:lnTo>
                    <a:lnTo>
                      <a:pt x="16115" y="434"/>
                    </a:lnTo>
                    <a:lnTo>
                      <a:pt x="16121" y="461"/>
                    </a:lnTo>
                    <a:lnTo>
                      <a:pt x="16126" y="490"/>
                    </a:lnTo>
                    <a:lnTo>
                      <a:pt x="16130" y="519"/>
                    </a:lnTo>
                    <a:lnTo>
                      <a:pt x="16132" y="548"/>
                    </a:lnTo>
                    <a:lnTo>
                      <a:pt x="16133" y="577"/>
                    </a:lnTo>
                    <a:lnTo>
                      <a:pt x="16133" y="1742"/>
                    </a:lnTo>
                    <a:lnTo>
                      <a:pt x="0" y="1742"/>
                    </a:lnTo>
                    <a:lnTo>
                      <a:pt x="0" y="577"/>
                    </a:lnTo>
                    <a:lnTo>
                      <a:pt x="1" y="548"/>
                    </a:lnTo>
                    <a:lnTo>
                      <a:pt x="3" y="519"/>
                    </a:lnTo>
                    <a:lnTo>
                      <a:pt x="7" y="490"/>
                    </a:lnTo>
                    <a:lnTo>
                      <a:pt x="12" y="461"/>
                    </a:lnTo>
                    <a:lnTo>
                      <a:pt x="18" y="434"/>
                    </a:lnTo>
                    <a:lnTo>
                      <a:pt x="26" y="406"/>
                    </a:lnTo>
                    <a:lnTo>
                      <a:pt x="35" y="380"/>
                    </a:lnTo>
                    <a:lnTo>
                      <a:pt x="45" y="353"/>
                    </a:lnTo>
                    <a:lnTo>
                      <a:pt x="57" y="327"/>
                    </a:lnTo>
                    <a:lnTo>
                      <a:pt x="70" y="303"/>
                    </a:lnTo>
                    <a:lnTo>
                      <a:pt x="84" y="279"/>
                    </a:lnTo>
                    <a:lnTo>
                      <a:pt x="99" y="255"/>
                    </a:lnTo>
                    <a:lnTo>
                      <a:pt x="115" y="233"/>
                    </a:lnTo>
                    <a:lnTo>
                      <a:pt x="132" y="210"/>
                    </a:lnTo>
                    <a:lnTo>
                      <a:pt x="150" y="189"/>
                    </a:lnTo>
                    <a:lnTo>
                      <a:pt x="169" y="169"/>
                    </a:lnTo>
                    <a:lnTo>
                      <a:pt x="190" y="151"/>
                    </a:lnTo>
                    <a:lnTo>
                      <a:pt x="211" y="132"/>
                    </a:lnTo>
                    <a:lnTo>
                      <a:pt x="233" y="115"/>
                    </a:lnTo>
                    <a:lnTo>
                      <a:pt x="255" y="99"/>
                    </a:lnTo>
                    <a:lnTo>
                      <a:pt x="279" y="84"/>
                    </a:lnTo>
                    <a:lnTo>
                      <a:pt x="304" y="70"/>
                    </a:lnTo>
                    <a:lnTo>
                      <a:pt x="328" y="57"/>
                    </a:lnTo>
                    <a:lnTo>
                      <a:pt x="354" y="45"/>
                    </a:lnTo>
                    <a:lnTo>
                      <a:pt x="380" y="35"/>
                    </a:lnTo>
                    <a:lnTo>
                      <a:pt x="406" y="26"/>
                    </a:lnTo>
                    <a:lnTo>
                      <a:pt x="434" y="18"/>
                    </a:lnTo>
                    <a:lnTo>
                      <a:pt x="462" y="12"/>
                    </a:lnTo>
                    <a:lnTo>
                      <a:pt x="490" y="7"/>
                    </a:lnTo>
                    <a:lnTo>
                      <a:pt x="519" y="3"/>
                    </a:lnTo>
                    <a:lnTo>
                      <a:pt x="549" y="1"/>
                    </a:lnTo>
                    <a:lnTo>
                      <a:pt x="578" y="0"/>
                    </a:lnTo>
                    <a:close/>
                    <a:moveTo>
                      <a:pt x="9712" y="5746"/>
                    </a:moveTo>
                    <a:lnTo>
                      <a:pt x="8355" y="6528"/>
                    </a:lnTo>
                    <a:lnTo>
                      <a:pt x="6998" y="7311"/>
                    </a:lnTo>
                    <a:lnTo>
                      <a:pt x="6998" y="5746"/>
                    </a:lnTo>
                    <a:lnTo>
                      <a:pt x="6998" y="4181"/>
                    </a:lnTo>
                    <a:lnTo>
                      <a:pt x="8355" y="4964"/>
                    </a:lnTo>
                    <a:lnTo>
                      <a:pt x="9712" y="5746"/>
                    </a:lnTo>
                    <a:close/>
                    <a:moveTo>
                      <a:pt x="8067" y="2511"/>
                    </a:moveTo>
                    <a:lnTo>
                      <a:pt x="8233" y="2516"/>
                    </a:lnTo>
                    <a:lnTo>
                      <a:pt x="8397" y="2529"/>
                    </a:lnTo>
                    <a:lnTo>
                      <a:pt x="8559" y="2549"/>
                    </a:lnTo>
                    <a:lnTo>
                      <a:pt x="8718" y="2578"/>
                    </a:lnTo>
                    <a:lnTo>
                      <a:pt x="8874" y="2614"/>
                    </a:lnTo>
                    <a:lnTo>
                      <a:pt x="9027" y="2657"/>
                    </a:lnTo>
                    <a:lnTo>
                      <a:pt x="9178" y="2709"/>
                    </a:lnTo>
                    <a:lnTo>
                      <a:pt x="9325" y="2766"/>
                    </a:lnTo>
                    <a:lnTo>
                      <a:pt x="9468" y="2832"/>
                    </a:lnTo>
                    <a:lnTo>
                      <a:pt x="9608" y="2903"/>
                    </a:lnTo>
                    <a:lnTo>
                      <a:pt x="9743" y="2981"/>
                    </a:lnTo>
                    <a:lnTo>
                      <a:pt x="9875" y="3065"/>
                    </a:lnTo>
                    <a:lnTo>
                      <a:pt x="10002" y="3156"/>
                    </a:lnTo>
                    <a:lnTo>
                      <a:pt x="10124" y="3252"/>
                    </a:lnTo>
                    <a:lnTo>
                      <a:pt x="10242" y="3353"/>
                    </a:lnTo>
                    <a:lnTo>
                      <a:pt x="10354" y="3461"/>
                    </a:lnTo>
                    <a:lnTo>
                      <a:pt x="10462" y="3573"/>
                    </a:lnTo>
                    <a:lnTo>
                      <a:pt x="10564" y="3691"/>
                    </a:lnTo>
                    <a:lnTo>
                      <a:pt x="10660" y="3813"/>
                    </a:lnTo>
                    <a:lnTo>
                      <a:pt x="10751" y="3939"/>
                    </a:lnTo>
                    <a:lnTo>
                      <a:pt x="10835" y="4071"/>
                    </a:lnTo>
                    <a:lnTo>
                      <a:pt x="10913" y="4206"/>
                    </a:lnTo>
                    <a:lnTo>
                      <a:pt x="10985" y="4346"/>
                    </a:lnTo>
                    <a:lnTo>
                      <a:pt x="11050" y="4489"/>
                    </a:lnTo>
                    <a:lnTo>
                      <a:pt x="11108" y="4636"/>
                    </a:lnTo>
                    <a:lnTo>
                      <a:pt x="11159" y="4786"/>
                    </a:lnTo>
                    <a:lnTo>
                      <a:pt x="11202" y="4939"/>
                    </a:lnTo>
                    <a:lnTo>
                      <a:pt x="11240" y="5095"/>
                    </a:lnTo>
                    <a:lnTo>
                      <a:pt x="11268" y="5255"/>
                    </a:lnTo>
                    <a:lnTo>
                      <a:pt x="11288" y="5416"/>
                    </a:lnTo>
                    <a:lnTo>
                      <a:pt x="11301" y="5580"/>
                    </a:lnTo>
                    <a:lnTo>
                      <a:pt x="11305" y="5746"/>
                    </a:lnTo>
                    <a:lnTo>
                      <a:pt x="11301" y="5912"/>
                    </a:lnTo>
                    <a:lnTo>
                      <a:pt x="11288" y="6076"/>
                    </a:lnTo>
                    <a:lnTo>
                      <a:pt x="11268" y="6237"/>
                    </a:lnTo>
                    <a:lnTo>
                      <a:pt x="11240" y="6397"/>
                    </a:lnTo>
                    <a:lnTo>
                      <a:pt x="11202" y="6553"/>
                    </a:lnTo>
                    <a:lnTo>
                      <a:pt x="11159" y="6706"/>
                    </a:lnTo>
                    <a:lnTo>
                      <a:pt x="11108" y="6857"/>
                    </a:lnTo>
                    <a:lnTo>
                      <a:pt x="11050" y="7003"/>
                    </a:lnTo>
                    <a:lnTo>
                      <a:pt x="10985" y="7147"/>
                    </a:lnTo>
                    <a:lnTo>
                      <a:pt x="10913" y="7286"/>
                    </a:lnTo>
                    <a:lnTo>
                      <a:pt x="10835" y="7422"/>
                    </a:lnTo>
                    <a:lnTo>
                      <a:pt x="10751" y="7553"/>
                    </a:lnTo>
                    <a:lnTo>
                      <a:pt x="10660" y="7679"/>
                    </a:lnTo>
                    <a:lnTo>
                      <a:pt x="10564" y="7801"/>
                    </a:lnTo>
                    <a:lnTo>
                      <a:pt x="10462" y="7919"/>
                    </a:lnTo>
                    <a:lnTo>
                      <a:pt x="10354" y="8031"/>
                    </a:lnTo>
                    <a:lnTo>
                      <a:pt x="10242" y="8139"/>
                    </a:lnTo>
                    <a:lnTo>
                      <a:pt x="10124" y="8240"/>
                    </a:lnTo>
                    <a:lnTo>
                      <a:pt x="10002" y="8337"/>
                    </a:lnTo>
                    <a:lnTo>
                      <a:pt x="9875" y="8427"/>
                    </a:lnTo>
                    <a:lnTo>
                      <a:pt x="9743" y="8511"/>
                    </a:lnTo>
                    <a:lnTo>
                      <a:pt x="9608" y="8589"/>
                    </a:lnTo>
                    <a:lnTo>
                      <a:pt x="9468" y="8660"/>
                    </a:lnTo>
                    <a:lnTo>
                      <a:pt x="9325" y="8726"/>
                    </a:lnTo>
                    <a:lnTo>
                      <a:pt x="9178" y="8784"/>
                    </a:lnTo>
                    <a:lnTo>
                      <a:pt x="9027" y="8835"/>
                    </a:lnTo>
                    <a:lnTo>
                      <a:pt x="8874" y="8879"/>
                    </a:lnTo>
                    <a:lnTo>
                      <a:pt x="8718" y="8915"/>
                    </a:lnTo>
                    <a:lnTo>
                      <a:pt x="8559" y="8943"/>
                    </a:lnTo>
                    <a:lnTo>
                      <a:pt x="8397" y="8963"/>
                    </a:lnTo>
                    <a:lnTo>
                      <a:pt x="8233" y="8976"/>
                    </a:lnTo>
                    <a:lnTo>
                      <a:pt x="8067" y="8981"/>
                    </a:lnTo>
                    <a:lnTo>
                      <a:pt x="7900" y="8976"/>
                    </a:lnTo>
                    <a:lnTo>
                      <a:pt x="7736" y="8963"/>
                    </a:lnTo>
                    <a:lnTo>
                      <a:pt x="7574" y="8943"/>
                    </a:lnTo>
                    <a:lnTo>
                      <a:pt x="7415" y="8915"/>
                    </a:lnTo>
                    <a:lnTo>
                      <a:pt x="7259" y="8879"/>
                    </a:lnTo>
                    <a:lnTo>
                      <a:pt x="7106" y="8835"/>
                    </a:lnTo>
                    <a:lnTo>
                      <a:pt x="6954" y="8784"/>
                    </a:lnTo>
                    <a:lnTo>
                      <a:pt x="6808" y="8726"/>
                    </a:lnTo>
                    <a:lnTo>
                      <a:pt x="6664" y="8660"/>
                    </a:lnTo>
                    <a:lnTo>
                      <a:pt x="6525" y="8589"/>
                    </a:lnTo>
                    <a:lnTo>
                      <a:pt x="6389" y="8511"/>
                    </a:lnTo>
                    <a:lnTo>
                      <a:pt x="6258" y="8427"/>
                    </a:lnTo>
                    <a:lnTo>
                      <a:pt x="6131" y="8337"/>
                    </a:lnTo>
                    <a:lnTo>
                      <a:pt x="6009" y="8240"/>
                    </a:lnTo>
                    <a:lnTo>
                      <a:pt x="5891" y="8139"/>
                    </a:lnTo>
                    <a:lnTo>
                      <a:pt x="5779" y="8031"/>
                    </a:lnTo>
                    <a:lnTo>
                      <a:pt x="5671" y="7919"/>
                    </a:lnTo>
                    <a:lnTo>
                      <a:pt x="5569" y="7801"/>
                    </a:lnTo>
                    <a:lnTo>
                      <a:pt x="5472" y="7679"/>
                    </a:lnTo>
                    <a:lnTo>
                      <a:pt x="5382" y="7553"/>
                    </a:lnTo>
                    <a:lnTo>
                      <a:pt x="5298" y="7422"/>
                    </a:lnTo>
                    <a:lnTo>
                      <a:pt x="5220" y="7286"/>
                    </a:lnTo>
                    <a:lnTo>
                      <a:pt x="5147" y="7147"/>
                    </a:lnTo>
                    <a:lnTo>
                      <a:pt x="5083" y="7003"/>
                    </a:lnTo>
                    <a:lnTo>
                      <a:pt x="5024" y="6857"/>
                    </a:lnTo>
                    <a:lnTo>
                      <a:pt x="4974" y="6706"/>
                    </a:lnTo>
                    <a:lnTo>
                      <a:pt x="4930" y="6553"/>
                    </a:lnTo>
                    <a:lnTo>
                      <a:pt x="4893" y="6397"/>
                    </a:lnTo>
                    <a:lnTo>
                      <a:pt x="4865" y="6237"/>
                    </a:lnTo>
                    <a:lnTo>
                      <a:pt x="4845" y="6076"/>
                    </a:lnTo>
                    <a:lnTo>
                      <a:pt x="4832" y="5912"/>
                    </a:lnTo>
                    <a:lnTo>
                      <a:pt x="4828" y="5746"/>
                    </a:lnTo>
                    <a:lnTo>
                      <a:pt x="4832" y="5580"/>
                    </a:lnTo>
                    <a:lnTo>
                      <a:pt x="4845" y="5416"/>
                    </a:lnTo>
                    <a:lnTo>
                      <a:pt x="4865" y="5255"/>
                    </a:lnTo>
                    <a:lnTo>
                      <a:pt x="4893" y="5095"/>
                    </a:lnTo>
                    <a:lnTo>
                      <a:pt x="4930" y="4939"/>
                    </a:lnTo>
                    <a:lnTo>
                      <a:pt x="4974" y="4786"/>
                    </a:lnTo>
                    <a:lnTo>
                      <a:pt x="5024" y="4636"/>
                    </a:lnTo>
                    <a:lnTo>
                      <a:pt x="5083" y="4489"/>
                    </a:lnTo>
                    <a:lnTo>
                      <a:pt x="5147" y="4346"/>
                    </a:lnTo>
                    <a:lnTo>
                      <a:pt x="5220" y="4206"/>
                    </a:lnTo>
                    <a:lnTo>
                      <a:pt x="5298" y="4071"/>
                    </a:lnTo>
                    <a:lnTo>
                      <a:pt x="5382" y="3939"/>
                    </a:lnTo>
                    <a:lnTo>
                      <a:pt x="5472" y="3813"/>
                    </a:lnTo>
                    <a:lnTo>
                      <a:pt x="5569" y="3691"/>
                    </a:lnTo>
                    <a:lnTo>
                      <a:pt x="5671" y="3573"/>
                    </a:lnTo>
                    <a:lnTo>
                      <a:pt x="5779" y="3461"/>
                    </a:lnTo>
                    <a:lnTo>
                      <a:pt x="5891" y="3353"/>
                    </a:lnTo>
                    <a:lnTo>
                      <a:pt x="6009" y="3252"/>
                    </a:lnTo>
                    <a:lnTo>
                      <a:pt x="6131" y="3156"/>
                    </a:lnTo>
                    <a:lnTo>
                      <a:pt x="6258" y="3065"/>
                    </a:lnTo>
                    <a:lnTo>
                      <a:pt x="6389" y="2981"/>
                    </a:lnTo>
                    <a:lnTo>
                      <a:pt x="6525" y="2903"/>
                    </a:lnTo>
                    <a:lnTo>
                      <a:pt x="6664" y="2832"/>
                    </a:lnTo>
                    <a:lnTo>
                      <a:pt x="6808" y="2766"/>
                    </a:lnTo>
                    <a:lnTo>
                      <a:pt x="6954" y="2709"/>
                    </a:lnTo>
                    <a:lnTo>
                      <a:pt x="7106" y="2657"/>
                    </a:lnTo>
                    <a:lnTo>
                      <a:pt x="7259" y="2614"/>
                    </a:lnTo>
                    <a:lnTo>
                      <a:pt x="7415" y="2578"/>
                    </a:lnTo>
                    <a:lnTo>
                      <a:pt x="7574" y="2549"/>
                    </a:lnTo>
                    <a:lnTo>
                      <a:pt x="7736" y="2529"/>
                    </a:lnTo>
                    <a:lnTo>
                      <a:pt x="7900" y="2516"/>
                    </a:lnTo>
                    <a:lnTo>
                      <a:pt x="8067" y="2511"/>
                    </a:lnTo>
                    <a:close/>
                    <a:moveTo>
                      <a:pt x="8067" y="3463"/>
                    </a:moveTo>
                    <a:lnTo>
                      <a:pt x="8183" y="3466"/>
                    </a:lnTo>
                    <a:lnTo>
                      <a:pt x="8299" y="3474"/>
                    </a:lnTo>
                    <a:lnTo>
                      <a:pt x="8413" y="3489"/>
                    </a:lnTo>
                    <a:lnTo>
                      <a:pt x="8526" y="3509"/>
                    </a:lnTo>
                    <a:lnTo>
                      <a:pt x="8636" y="3535"/>
                    </a:lnTo>
                    <a:lnTo>
                      <a:pt x="8745" y="3566"/>
                    </a:lnTo>
                    <a:lnTo>
                      <a:pt x="8851" y="3602"/>
                    </a:lnTo>
                    <a:lnTo>
                      <a:pt x="8955" y="3642"/>
                    </a:lnTo>
                    <a:lnTo>
                      <a:pt x="9056" y="3689"/>
                    </a:lnTo>
                    <a:lnTo>
                      <a:pt x="9154" y="3739"/>
                    </a:lnTo>
                    <a:lnTo>
                      <a:pt x="9250" y="3794"/>
                    </a:lnTo>
                    <a:lnTo>
                      <a:pt x="9343" y="3854"/>
                    </a:lnTo>
                    <a:lnTo>
                      <a:pt x="9433" y="3917"/>
                    </a:lnTo>
                    <a:lnTo>
                      <a:pt x="9519" y="3986"/>
                    </a:lnTo>
                    <a:lnTo>
                      <a:pt x="9602" y="4057"/>
                    </a:lnTo>
                    <a:lnTo>
                      <a:pt x="9682" y="4133"/>
                    </a:lnTo>
                    <a:lnTo>
                      <a:pt x="9757" y="4212"/>
                    </a:lnTo>
                    <a:lnTo>
                      <a:pt x="9829" y="4295"/>
                    </a:lnTo>
                    <a:lnTo>
                      <a:pt x="9898" y="4382"/>
                    </a:lnTo>
                    <a:lnTo>
                      <a:pt x="9961" y="4471"/>
                    </a:lnTo>
                    <a:lnTo>
                      <a:pt x="10021" y="4564"/>
                    </a:lnTo>
                    <a:lnTo>
                      <a:pt x="10076" y="4659"/>
                    </a:lnTo>
                    <a:lnTo>
                      <a:pt x="10126" y="4758"/>
                    </a:lnTo>
                    <a:lnTo>
                      <a:pt x="10173" y="4859"/>
                    </a:lnTo>
                    <a:lnTo>
                      <a:pt x="10213" y="4963"/>
                    </a:lnTo>
                    <a:lnTo>
                      <a:pt x="10249" y="5068"/>
                    </a:lnTo>
                    <a:lnTo>
                      <a:pt x="10281" y="5177"/>
                    </a:lnTo>
                    <a:lnTo>
                      <a:pt x="10306" y="5287"/>
                    </a:lnTo>
                    <a:lnTo>
                      <a:pt x="10326" y="5400"/>
                    </a:lnTo>
                    <a:lnTo>
                      <a:pt x="10341" y="5513"/>
                    </a:lnTo>
                    <a:lnTo>
                      <a:pt x="10349" y="5629"/>
                    </a:lnTo>
                    <a:lnTo>
                      <a:pt x="10352" y="5746"/>
                    </a:lnTo>
                    <a:lnTo>
                      <a:pt x="10349" y="5863"/>
                    </a:lnTo>
                    <a:lnTo>
                      <a:pt x="10341" y="5979"/>
                    </a:lnTo>
                    <a:lnTo>
                      <a:pt x="10326" y="6093"/>
                    </a:lnTo>
                    <a:lnTo>
                      <a:pt x="10306" y="6205"/>
                    </a:lnTo>
                    <a:lnTo>
                      <a:pt x="10281" y="6316"/>
                    </a:lnTo>
                    <a:lnTo>
                      <a:pt x="10249" y="6424"/>
                    </a:lnTo>
                    <a:lnTo>
                      <a:pt x="10213" y="6529"/>
                    </a:lnTo>
                    <a:lnTo>
                      <a:pt x="10173" y="6633"/>
                    </a:lnTo>
                    <a:lnTo>
                      <a:pt x="10126" y="6735"/>
                    </a:lnTo>
                    <a:lnTo>
                      <a:pt x="10076" y="6833"/>
                    </a:lnTo>
                    <a:lnTo>
                      <a:pt x="10021" y="6928"/>
                    </a:lnTo>
                    <a:lnTo>
                      <a:pt x="9961" y="7021"/>
                    </a:lnTo>
                    <a:lnTo>
                      <a:pt x="9898" y="7110"/>
                    </a:lnTo>
                    <a:lnTo>
                      <a:pt x="9829" y="7197"/>
                    </a:lnTo>
                    <a:lnTo>
                      <a:pt x="9757" y="7280"/>
                    </a:lnTo>
                    <a:lnTo>
                      <a:pt x="9682" y="7359"/>
                    </a:lnTo>
                    <a:lnTo>
                      <a:pt x="9602" y="7435"/>
                    </a:lnTo>
                    <a:lnTo>
                      <a:pt x="9519" y="7507"/>
                    </a:lnTo>
                    <a:lnTo>
                      <a:pt x="9433" y="7575"/>
                    </a:lnTo>
                    <a:lnTo>
                      <a:pt x="9343" y="7638"/>
                    </a:lnTo>
                    <a:lnTo>
                      <a:pt x="9250" y="7698"/>
                    </a:lnTo>
                    <a:lnTo>
                      <a:pt x="9154" y="7753"/>
                    </a:lnTo>
                    <a:lnTo>
                      <a:pt x="9056" y="7803"/>
                    </a:lnTo>
                    <a:lnTo>
                      <a:pt x="8955" y="7850"/>
                    </a:lnTo>
                    <a:lnTo>
                      <a:pt x="8851" y="7890"/>
                    </a:lnTo>
                    <a:lnTo>
                      <a:pt x="8745" y="7926"/>
                    </a:lnTo>
                    <a:lnTo>
                      <a:pt x="8636" y="7957"/>
                    </a:lnTo>
                    <a:lnTo>
                      <a:pt x="8526" y="7983"/>
                    </a:lnTo>
                    <a:lnTo>
                      <a:pt x="8413" y="8003"/>
                    </a:lnTo>
                    <a:lnTo>
                      <a:pt x="8299" y="8018"/>
                    </a:lnTo>
                    <a:lnTo>
                      <a:pt x="8183" y="8026"/>
                    </a:lnTo>
                    <a:lnTo>
                      <a:pt x="8067" y="8029"/>
                    </a:lnTo>
                    <a:lnTo>
                      <a:pt x="7950" y="8026"/>
                    </a:lnTo>
                    <a:lnTo>
                      <a:pt x="7834" y="8018"/>
                    </a:lnTo>
                    <a:lnTo>
                      <a:pt x="7719" y="8003"/>
                    </a:lnTo>
                    <a:lnTo>
                      <a:pt x="7607" y="7983"/>
                    </a:lnTo>
                    <a:lnTo>
                      <a:pt x="7496" y="7957"/>
                    </a:lnTo>
                    <a:lnTo>
                      <a:pt x="7388" y="7926"/>
                    </a:lnTo>
                    <a:lnTo>
                      <a:pt x="7282" y="7890"/>
                    </a:lnTo>
                    <a:lnTo>
                      <a:pt x="7178" y="7850"/>
                    </a:lnTo>
                    <a:lnTo>
                      <a:pt x="7076" y="7803"/>
                    </a:lnTo>
                    <a:lnTo>
                      <a:pt x="6979" y="7753"/>
                    </a:lnTo>
                    <a:lnTo>
                      <a:pt x="6883" y="7698"/>
                    </a:lnTo>
                    <a:lnTo>
                      <a:pt x="6790" y="7638"/>
                    </a:lnTo>
                    <a:lnTo>
                      <a:pt x="6700" y="7575"/>
                    </a:lnTo>
                    <a:lnTo>
                      <a:pt x="6614" y="7507"/>
                    </a:lnTo>
                    <a:lnTo>
                      <a:pt x="6531" y="7435"/>
                    </a:lnTo>
                    <a:lnTo>
                      <a:pt x="6451" y="7359"/>
                    </a:lnTo>
                    <a:lnTo>
                      <a:pt x="6376" y="7280"/>
                    </a:lnTo>
                    <a:lnTo>
                      <a:pt x="6303" y="7197"/>
                    </a:lnTo>
                    <a:lnTo>
                      <a:pt x="6235" y="7110"/>
                    </a:lnTo>
                    <a:lnTo>
                      <a:pt x="6172" y="7021"/>
                    </a:lnTo>
                    <a:lnTo>
                      <a:pt x="6112" y="6928"/>
                    </a:lnTo>
                    <a:lnTo>
                      <a:pt x="6057" y="6833"/>
                    </a:lnTo>
                    <a:lnTo>
                      <a:pt x="6007" y="6735"/>
                    </a:lnTo>
                    <a:lnTo>
                      <a:pt x="5960" y="6633"/>
                    </a:lnTo>
                    <a:lnTo>
                      <a:pt x="5920" y="6529"/>
                    </a:lnTo>
                    <a:lnTo>
                      <a:pt x="5884" y="6424"/>
                    </a:lnTo>
                    <a:lnTo>
                      <a:pt x="5852" y="6316"/>
                    </a:lnTo>
                    <a:lnTo>
                      <a:pt x="5827" y="6205"/>
                    </a:lnTo>
                    <a:lnTo>
                      <a:pt x="5807" y="6093"/>
                    </a:lnTo>
                    <a:lnTo>
                      <a:pt x="5792" y="5979"/>
                    </a:lnTo>
                    <a:lnTo>
                      <a:pt x="5784" y="5863"/>
                    </a:lnTo>
                    <a:lnTo>
                      <a:pt x="5781" y="5746"/>
                    </a:lnTo>
                    <a:lnTo>
                      <a:pt x="5784" y="5629"/>
                    </a:lnTo>
                    <a:lnTo>
                      <a:pt x="5792" y="5513"/>
                    </a:lnTo>
                    <a:lnTo>
                      <a:pt x="5807" y="5400"/>
                    </a:lnTo>
                    <a:lnTo>
                      <a:pt x="5827" y="5287"/>
                    </a:lnTo>
                    <a:lnTo>
                      <a:pt x="5852" y="5177"/>
                    </a:lnTo>
                    <a:lnTo>
                      <a:pt x="5884" y="5068"/>
                    </a:lnTo>
                    <a:lnTo>
                      <a:pt x="5920" y="4963"/>
                    </a:lnTo>
                    <a:lnTo>
                      <a:pt x="5960" y="4859"/>
                    </a:lnTo>
                    <a:lnTo>
                      <a:pt x="6007" y="4758"/>
                    </a:lnTo>
                    <a:lnTo>
                      <a:pt x="6057" y="4659"/>
                    </a:lnTo>
                    <a:lnTo>
                      <a:pt x="6112" y="4564"/>
                    </a:lnTo>
                    <a:lnTo>
                      <a:pt x="6172" y="4471"/>
                    </a:lnTo>
                    <a:lnTo>
                      <a:pt x="6235" y="4382"/>
                    </a:lnTo>
                    <a:lnTo>
                      <a:pt x="6303" y="4295"/>
                    </a:lnTo>
                    <a:lnTo>
                      <a:pt x="6376" y="4212"/>
                    </a:lnTo>
                    <a:lnTo>
                      <a:pt x="6451" y="4133"/>
                    </a:lnTo>
                    <a:lnTo>
                      <a:pt x="6531" y="4057"/>
                    </a:lnTo>
                    <a:lnTo>
                      <a:pt x="6614" y="3986"/>
                    </a:lnTo>
                    <a:lnTo>
                      <a:pt x="6700" y="3917"/>
                    </a:lnTo>
                    <a:lnTo>
                      <a:pt x="6790" y="3854"/>
                    </a:lnTo>
                    <a:lnTo>
                      <a:pt x="6883" y="3794"/>
                    </a:lnTo>
                    <a:lnTo>
                      <a:pt x="6979" y="3739"/>
                    </a:lnTo>
                    <a:lnTo>
                      <a:pt x="7076" y="3689"/>
                    </a:lnTo>
                    <a:lnTo>
                      <a:pt x="7178" y="3642"/>
                    </a:lnTo>
                    <a:lnTo>
                      <a:pt x="7282" y="3602"/>
                    </a:lnTo>
                    <a:lnTo>
                      <a:pt x="7388" y="3566"/>
                    </a:lnTo>
                    <a:lnTo>
                      <a:pt x="7496" y="3535"/>
                    </a:lnTo>
                    <a:lnTo>
                      <a:pt x="7607" y="3509"/>
                    </a:lnTo>
                    <a:lnTo>
                      <a:pt x="7719" y="3489"/>
                    </a:lnTo>
                    <a:lnTo>
                      <a:pt x="7834" y="3474"/>
                    </a:lnTo>
                    <a:lnTo>
                      <a:pt x="7950" y="3466"/>
                    </a:lnTo>
                    <a:lnTo>
                      <a:pt x="8067" y="3463"/>
                    </a:lnTo>
                    <a:close/>
                    <a:moveTo>
                      <a:pt x="16133" y="1949"/>
                    </a:moveTo>
                    <a:lnTo>
                      <a:pt x="16133" y="9543"/>
                    </a:lnTo>
                    <a:lnTo>
                      <a:pt x="0" y="9543"/>
                    </a:lnTo>
                    <a:lnTo>
                      <a:pt x="0" y="1949"/>
                    </a:lnTo>
                    <a:lnTo>
                      <a:pt x="16133" y="1949"/>
                    </a:lnTo>
                    <a:close/>
                    <a:moveTo>
                      <a:pt x="16133" y="9750"/>
                    </a:moveTo>
                    <a:lnTo>
                      <a:pt x="16133" y="10915"/>
                    </a:lnTo>
                    <a:lnTo>
                      <a:pt x="16132" y="10944"/>
                    </a:lnTo>
                    <a:lnTo>
                      <a:pt x="16130" y="10973"/>
                    </a:lnTo>
                    <a:lnTo>
                      <a:pt x="16126" y="11003"/>
                    </a:lnTo>
                    <a:lnTo>
                      <a:pt x="16121" y="11031"/>
                    </a:lnTo>
                    <a:lnTo>
                      <a:pt x="16115" y="11059"/>
                    </a:lnTo>
                    <a:lnTo>
                      <a:pt x="16107" y="11086"/>
                    </a:lnTo>
                    <a:lnTo>
                      <a:pt x="16098" y="11112"/>
                    </a:lnTo>
                    <a:lnTo>
                      <a:pt x="16088" y="11139"/>
                    </a:lnTo>
                    <a:lnTo>
                      <a:pt x="16076" y="11165"/>
                    </a:lnTo>
                    <a:lnTo>
                      <a:pt x="16062" y="11189"/>
                    </a:lnTo>
                    <a:lnTo>
                      <a:pt x="16049" y="11213"/>
                    </a:lnTo>
                    <a:lnTo>
                      <a:pt x="16034" y="11237"/>
                    </a:lnTo>
                    <a:lnTo>
                      <a:pt x="16018" y="11259"/>
                    </a:lnTo>
                    <a:lnTo>
                      <a:pt x="16001" y="11282"/>
                    </a:lnTo>
                    <a:lnTo>
                      <a:pt x="15982" y="11303"/>
                    </a:lnTo>
                    <a:lnTo>
                      <a:pt x="15964" y="11323"/>
                    </a:lnTo>
                    <a:lnTo>
                      <a:pt x="15943" y="11342"/>
                    </a:lnTo>
                    <a:lnTo>
                      <a:pt x="15922" y="11360"/>
                    </a:lnTo>
                    <a:lnTo>
                      <a:pt x="15900" y="11377"/>
                    </a:lnTo>
                    <a:lnTo>
                      <a:pt x="15878" y="11393"/>
                    </a:lnTo>
                    <a:lnTo>
                      <a:pt x="15854" y="11408"/>
                    </a:lnTo>
                    <a:lnTo>
                      <a:pt x="15829" y="11423"/>
                    </a:lnTo>
                    <a:lnTo>
                      <a:pt x="15805" y="11435"/>
                    </a:lnTo>
                    <a:lnTo>
                      <a:pt x="15779" y="11447"/>
                    </a:lnTo>
                    <a:lnTo>
                      <a:pt x="15753" y="11457"/>
                    </a:lnTo>
                    <a:lnTo>
                      <a:pt x="15727" y="11466"/>
                    </a:lnTo>
                    <a:lnTo>
                      <a:pt x="15698" y="11474"/>
                    </a:lnTo>
                    <a:lnTo>
                      <a:pt x="15671" y="11480"/>
                    </a:lnTo>
                    <a:lnTo>
                      <a:pt x="15642" y="11485"/>
                    </a:lnTo>
                    <a:lnTo>
                      <a:pt x="15614" y="11489"/>
                    </a:lnTo>
                    <a:lnTo>
                      <a:pt x="15584" y="11491"/>
                    </a:lnTo>
                    <a:lnTo>
                      <a:pt x="15555" y="11492"/>
                    </a:lnTo>
                    <a:lnTo>
                      <a:pt x="578" y="11492"/>
                    </a:lnTo>
                    <a:lnTo>
                      <a:pt x="549" y="11491"/>
                    </a:lnTo>
                    <a:lnTo>
                      <a:pt x="519" y="11489"/>
                    </a:lnTo>
                    <a:lnTo>
                      <a:pt x="490" y="11485"/>
                    </a:lnTo>
                    <a:lnTo>
                      <a:pt x="462" y="11480"/>
                    </a:lnTo>
                    <a:lnTo>
                      <a:pt x="434" y="11474"/>
                    </a:lnTo>
                    <a:lnTo>
                      <a:pt x="406" y="11466"/>
                    </a:lnTo>
                    <a:lnTo>
                      <a:pt x="380" y="11457"/>
                    </a:lnTo>
                    <a:lnTo>
                      <a:pt x="354" y="11447"/>
                    </a:lnTo>
                    <a:lnTo>
                      <a:pt x="328" y="11435"/>
                    </a:lnTo>
                    <a:lnTo>
                      <a:pt x="304" y="11423"/>
                    </a:lnTo>
                    <a:lnTo>
                      <a:pt x="279" y="11408"/>
                    </a:lnTo>
                    <a:lnTo>
                      <a:pt x="255" y="11393"/>
                    </a:lnTo>
                    <a:lnTo>
                      <a:pt x="233" y="11377"/>
                    </a:lnTo>
                    <a:lnTo>
                      <a:pt x="211" y="11360"/>
                    </a:lnTo>
                    <a:lnTo>
                      <a:pt x="190" y="11342"/>
                    </a:lnTo>
                    <a:lnTo>
                      <a:pt x="169" y="11323"/>
                    </a:lnTo>
                    <a:lnTo>
                      <a:pt x="150" y="11303"/>
                    </a:lnTo>
                    <a:lnTo>
                      <a:pt x="132" y="11282"/>
                    </a:lnTo>
                    <a:lnTo>
                      <a:pt x="115" y="11259"/>
                    </a:lnTo>
                    <a:lnTo>
                      <a:pt x="99" y="11237"/>
                    </a:lnTo>
                    <a:lnTo>
                      <a:pt x="84" y="11213"/>
                    </a:lnTo>
                    <a:lnTo>
                      <a:pt x="70" y="11189"/>
                    </a:lnTo>
                    <a:lnTo>
                      <a:pt x="57" y="11165"/>
                    </a:lnTo>
                    <a:lnTo>
                      <a:pt x="45" y="11139"/>
                    </a:lnTo>
                    <a:lnTo>
                      <a:pt x="35" y="11112"/>
                    </a:lnTo>
                    <a:lnTo>
                      <a:pt x="26" y="11086"/>
                    </a:lnTo>
                    <a:lnTo>
                      <a:pt x="18" y="11059"/>
                    </a:lnTo>
                    <a:lnTo>
                      <a:pt x="12" y="11031"/>
                    </a:lnTo>
                    <a:lnTo>
                      <a:pt x="7" y="11003"/>
                    </a:lnTo>
                    <a:lnTo>
                      <a:pt x="3" y="10973"/>
                    </a:lnTo>
                    <a:lnTo>
                      <a:pt x="1" y="10944"/>
                    </a:lnTo>
                    <a:lnTo>
                      <a:pt x="0" y="10915"/>
                    </a:lnTo>
                    <a:lnTo>
                      <a:pt x="0" y="9750"/>
                    </a:lnTo>
                    <a:lnTo>
                      <a:pt x="16133" y="9750"/>
                    </a:lnTo>
                    <a:close/>
                    <a:moveTo>
                      <a:pt x="808" y="703"/>
                    </a:moveTo>
                    <a:lnTo>
                      <a:pt x="1791" y="703"/>
                    </a:lnTo>
                    <a:lnTo>
                      <a:pt x="1791" y="1338"/>
                    </a:lnTo>
                    <a:lnTo>
                      <a:pt x="808" y="1338"/>
                    </a:lnTo>
                    <a:lnTo>
                      <a:pt x="808" y="703"/>
                    </a:lnTo>
                    <a:close/>
                    <a:moveTo>
                      <a:pt x="2500" y="703"/>
                    </a:moveTo>
                    <a:lnTo>
                      <a:pt x="3483" y="703"/>
                    </a:lnTo>
                    <a:lnTo>
                      <a:pt x="3483" y="1338"/>
                    </a:lnTo>
                    <a:lnTo>
                      <a:pt x="2500" y="1338"/>
                    </a:lnTo>
                    <a:lnTo>
                      <a:pt x="2500" y="703"/>
                    </a:lnTo>
                    <a:close/>
                    <a:moveTo>
                      <a:pt x="4192" y="703"/>
                    </a:moveTo>
                    <a:lnTo>
                      <a:pt x="5175" y="703"/>
                    </a:lnTo>
                    <a:lnTo>
                      <a:pt x="5175" y="1338"/>
                    </a:lnTo>
                    <a:lnTo>
                      <a:pt x="4192" y="1338"/>
                    </a:lnTo>
                    <a:lnTo>
                      <a:pt x="4192" y="703"/>
                    </a:lnTo>
                    <a:close/>
                    <a:moveTo>
                      <a:pt x="5884" y="703"/>
                    </a:moveTo>
                    <a:lnTo>
                      <a:pt x="6867" y="703"/>
                    </a:lnTo>
                    <a:lnTo>
                      <a:pt x="6867" y="1338"/>
                    </a:lnTo>
                    <a:lnTo>
                      <a:pt x="5884" y="1338"/>
                    </a:lnTo>
                    <a:lnTo>
                      <a:pt x="5884" y="703"/>
                    </a:lnTo>
                    <a:close/>
                    <a:moveTo>
                      <a:pt x="7575" y="703"/>
                    </a:moveTo>
                    <a:lnTo>
                      <a:pt x="8558" y="703"/>
                    </a:lnTo>
                    <a:lnTo>
                      <a:pt x="8558" y="1338"/>
                    </a:lnTo>
                    <a:lnTo>
                      <a:pt x="7575" y="1338"/>
                    </a:lnTo>
                    <a:lnTo>
                      <a:pt x="7575" y="703"/>
                    </a:lnTo>
                    <a:close/>
                    <a:moveTo>
                      <a:pt x="9266" y="703"/>
                    </a:moveTo>
                    <a:lnTo>
                      <a:pt x="10249" y="703"/>
                    </a:lnTo>
                    <a:lnTo>
                      <a:pt x="10249" y="1338"/>
                    </a:lnTo>
                    <a:lnTo>
                      <a:pt x="9266" y="1338"/>
                    </a:lnTo>
                    <a:lnTo>
                      <a:pt x="9266" y="703"/>
                    </a:lnTo>
                    <a:close/>
                    <a:moveTo>
                      <a:pt x="10958" y="703"/>
                    </a:moveTo>
                    <a:lnTo>
                      <a:pt x="11941" y="703"/>
                    </a:lnTo>
                    <a:lnTo>
                      <a:pt x="11941" y="1338"/>
                    </a:lnTo>
                    <a:lnTo>
                      <a:pt x="10958" y="1338"/>
                    </a:lnTo>
                    <a:lnTo>
                      <a:pt x="10958" y="703"/>
                    </a:lnTo>
                    <a:close/>
                    <a:moveTo>
                      <a:pt x="12650" y="703"/>
                    </a:moveTo>
                    <a:lnTo>
                      <a:pt x="13633" y="703"/>
                    </a:lnTo>
                    <a:lnTo>
                      <a:pt x="13633" y="1338"/>
                    </a:lnTo>
                    <a:lnTo>
                      <a:pt x="12650" y="1338"/>
                    </a:lnTo>
                    <a:lnTo>
                      <a:pt x="12650" y="703"/>
                    </a:lnTo>
                    <a:close/>
                    <a:moveTo>
                      <a:pt x="14342" y="703"/>
                    </a:moveTo>
                    <a:lnTo>
                      <a:pt x="15325" y="703"/>
                    </a:lnTo>
                    <a:lnTo>
                      <a:pt x="15325" y="1338"/>
                    </a:lnTo>
                    <a:lnTo>
                      <a:pt x="14342" y="1338"/>
                    </a:lnTo>
                    <a:lnTo>
                      <a:pt x="14342" y="703"/>
                    </a:lnTo>
                    <a:close/>
                    <a:moveTo>
                      <a:pt x="808" y="10232"/>
                    </a:moveTo>
                    <a:lnTo>
                      <a:pt x="1791" y="10232"/>
                    </a:lnTo>
                    <a:lnTo>
                      <a:pt x="1791" y="10868"/>
                    </a:lnTo>
                    <a:lnTo>
                      <a:pt x="808" y="10868"/>
                    </a:lnTo>
                    <a:lnTo>
                      <a:pt x="808" y="10232"/>
                    </a:lnTo>
                    <a:close/>
                    <a:moveTo>
                      <a:pt x="2500" y="10232"/>
                    </a:moveTo>
                    <a:lnTo>
                      <a:pt x="3483" y="10232"/>
                    </a:lnTo>
                    <a:lnTo>
                      <a:pt x="3483" y="10868"/>
                    </a:lnTo>
                    <a:lnTo>
                      <a:pt x="2500" y="10868"/>
                    </a:lnTo>
                    <a:lnTo>
                      <a:pt x="2500" y="10232"/>
                    </a:lnTo>
                    <a:close/>
                    <a:moveTo>
                      <a:pt x="4192" y="10232"/>
                    </a:moveTo>
                    <a:lnTo>
                      <a:pt x="5175" y="10232"/>
                    </a:lnTo>
                    <a:lnTo>
                      <a:pt x="5175" y="10868"/>
                    </a:lnTo>
                    <a:lnTo>
                      <a:pt x="4192" y="10868"/>
                    </a:lnTo>
                    <a:lnTo>
                      <a:pt x="4192" y="10232"/>
                    </a:lnTo>
                    <a:close/>
                    <a:moveTo>
                      <a:pt x="5884" y="10232"/>
                    </a:moveTo>
                    <a:lnTo>
                      <a:pt x="6867" y="10232"/>
                    </a:lnTo>
                    <a:lnTo>
                      <a:pt x="6867" y="10868"/>
                    </a:lnTo>
                    <a:lnTo>
                      <a:pt x="5884" y="10868"/>
                    </a:lnTo>
                    <a:lnTo>
                      <a:pt x="5884" y="10232"/>
                    </a:lnTo>
                    <a:close/>
                    <a:moveTo>
                      <a:pt x="7575" y="10232"/>
                    </a:moveTo>
                    <a:lnTo>
                      <a:pt x="8558" y="10232"/>
                    </a:lnTo>
                    <a:lnTo>
                      <a:pt x="8558" y="10868"/>
                    </a:lnTo>
                    <a:lnTo>
                      <a:pt x="7575" y="10868"/>
                    </a:lnTo>
                    <a:lnTo>
                      <a:pt x="7575" y="10232"/>
                    </a:lnTo>
                    <a:close/>
                    <a:moveTo>
                      <a:pt x="9266" y="10232"/>
                    </a:moveTo>
                    <a:lnTo>
                      <a:pt x="10249" y="10232"/>
                    </a:lnTo>
                    <a:lnTo>
                      <a:pt x="10249" y="10868"/>
                    </a:lnTo>
                    <a:lnTo>
                      <a:pt x="9266" y="10868"/>
                    </a:lnTo>
                    <a:lnTo>
                      <a:pt x="9266" y="10232"/>
                    </a:lnTo>
                    <a:close/>
                    <a:moveTo>
                      <a:pt x="10958" y="10232"/>
                    </a:moveTo>
                    <a:lnTo>
                      <a:pt x="11941" y="10232"/>
                    </a:lnTo>
                    <a:lnTo>
                      <a:pt x="11941" y="10868"/>
                    </a:lnTo>
                    <a:lnTo>
                      <a:pt x="10958" y="10868"/>
                    </a:lnTo>
                    <a:lnTo>
                      <a:pt x="10958" y="10232"/>
                    </a:lnTo>
                    <a:close/>
                    <a:moveTo>
                      <a:pt x="12650" y="10232"/>
                    </a:moveTo>
                    <a:lnTo>
                      <a:pt x="13633" y="10232"/>
                    </a:lnTo>
                    <a:lnTo>
                      <a:pt x="13633" y="10868"/>
                    </a:lnTo>
                    <a:lnTo>
                      <a:pt x="12650" y="10868"/>
                    </a:lnTo>
                    <a:lnTo>
                      <a:pt x="12650" y="10232"/>
                    </a:lnTo>
                    <a:close/>
                    <a:moveTo>
                      <a:pt x="14342" y="10232"/>
                    </a:moveTo>
                    <a:lnTo>
                      <a:pt x="15325" y="10232"/>
                    </a:lnTo>
                    <a:lnTo>
                      <a:pt x="15325" y="10868"/>
                    </a:lnTo>
                    <a:lnTo>
                      <a:pt x="14342" y="10868"/>
                    </a:lnTo>
                    <a:lnTo>
                      <a:pt x="14342" y="10232"/>
                    </a:lnTo>
                    <a:close/>
                  </a:path>
                </a:pathLst>
              </a:custGeom>
              <a:solidFill>
                <a:srgbClr val="5700DC"/>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000000"/>
                  </a:solidFill>
                  <a:latin typeface="Arial" pitchFamily="34" charset="0"/>
                  <a:ea typeface="宋体"/>
                  <a:cs typeface="Arial" pitchFamily="34" charset="0"/>
                </a:endParaRPr>
              </a:p>
            </p:txBody>
          </p:sp>
          <p:sp>
            <p:nvSpPr>
              <p:cNvPr id="169" name="Freeform 167"/>
              <p:cNvSpPr>
                <a:spLocks noEditPoints="1"/>
              </p:cNvSpPr>
              <p:nvPr/>
            </p:nvSpPr>
            <p:spPr bwMode="auto">
              <a:xfrm>
                <a:off x="11433353" y="3327402"/>
                <a:ext cx="237222" cy="138271"/>
              </a:xfrm>
              <a:custGeom>
                <a:avLst/>
                <a:gdLst/>
                <a:ahLst/>
                <a:cxnLst>
                  <a:cxn ang="0">
                    <a:pos x="184" y="42"/>
                  </a:cxn>
                  <a:cxn ang="0">
                    <a:pos x="184" y="26"/>
                  </a:cxn>
                  <a:cxn ang="0">
                    <a:pos x="180" y="14"/>
                  </a:cxn>
                  <a:cxn ang="0">
                    <a:pos x="172" y="6"/>
                  </a:cxn>
                  <a:cxn ang="0">
                    <a:pos x="162" y="6"/>
                  </a:cxn>
                  <a:cxn ang="0">
                    <a:pos x="94" y="18"/>
                  </a:cxn>
                  <a:cxn ang="0">
                    <a:pos x="92" y="10"/>
                  </a:cxn>
                  <a:cxn ang="0">
                    <a:pos x="80" y="0"/>
                  </a:cxn>
                  <a:cxn ang="0">
                    <a:pos x="34" y="8"/>
                  </a:cxn>
                  <a:cxn ang="0">
                    <a:pos x="30" y="10"/>
                  </a:cxn>
                  <a:cxn ang="0">
                    <a:pos x="20" y="24"/>
                  </a:cxn>
                  <a:cxn ang="0">
                    <a:pos x="20" y="32"/>
                  </a:cxn>
                  <a:cxn ang="0">
                    <a:pos x="10" y="36"/>
                  </a:cxn>
                  <a:cxn ang="0">
                    <a:pos x="0" y="58"/>
                  </a:cxn>
                  <a:cxn ang="0">
                    <a:pos x="8" y="150"/>
                  </a:cxn>
                  <a:cxn ang="0">
                    <a:pos x="10" y="158"/>
                  </a:cxn>
                  <a:cxn ang="0">
                    <a:pos x="16" y="168"/>
                  </a:cxn>
                  <a:cxn ang="0">
                    <a:pos x="20" y="172"/>
                  </a:cxn>
                  <a:cxn ang="0">
                    <a:pos x="20" y="108"/>
                  </a:cxn>
                  <a:cxn ang="0">
                    <a:pos x="18" y="102"/>
                  </a:cxn>
                  <a:cxn ang="0">
                    <a:pos x="20" y="94"/>
                  </a:cxn>
                  <a:cxn ang="0">
                    <a:pos x="24" y="80"/>
                  </a:cxn>
                  <a:cxn ang="0">
                    <a:pos x="28" y="74"/>
                  </a:cxn>
                  <a:cxn ang="0">
                    <a:pos x="40" y="64"/>
                  </a:cxn>
                  <a:cxn ang="0">
                    <a:pos x="56" y="58"/>
                  </a:cxn>
                  <a:cxn ang="0">
                    <a:pos x="224" y="64"/>
                  </a:cxn>
                  <a:cxn ang="0">
                    <a:pos x="222" y="62"/>
                  </a:cxn>
                  <a:cxn ang="0">
                    <a:pos x="218" y="62"/>
                  </a:cxn>
                  <a:cxn ang="0">
                    <a:pos x="56" y="74"/>
                  </a:cxn>
                  <a:cxn ang="0">
                    <a:pos x="48" y="78"/>
                  </a:cxn>
                  <a:cxn ang="0">
                    <a:pos x="42" y="84"/>
                  </a:cxn>
                  <a:cxn ang="0">
                    <a:pos x="36" y="102"/>
                  </a:cxn>
                  <a:cxn ang="0">
                    <a:pos x="36" y="106"/>
                  </a:cxn>
                  <a:cxn ang="0">
                    <a:pos x="36" y="170"/>
                  </a:cxn>
                  <a:cxn ang="0">
                    <a:pos x="38" y="174"/>
                  </a:cxn>
                  <a:cxn ang="0">
                    <a:pos x="42" y="178"/>
                  </a:cxn>
                  <a:cxn ang="0">
                    <a:pos x="52" y="182"/>
                  </a:cxn>
                  <a:cxn ang="0">
                    <a:pos x="164" y="170"/>
                  </a:cxn>
                  <a:cxn ang="0">
                    <a:pos x="178" y="164"/>
                  </a:cxn>
                  <a:cxn ang="0">
                    <a:pos x="184" y="158"/>
                  </a:cxn>
                  <a:cxn ang="0">
                    <a:pos x="188" y="150"/>
                  </a:cxn>
                  <a:cxn ang="0">
                    <a:pos x="222" y="86"/>
                  </a:cxn>
                  <a:cxn ang="0">
                    <a:pos x="226" y="70"/>
                  </a:cxn>
                  <a:cxn ang="0">
                    <a:pos x="226" y="66"/>
                  </a:cxn>
                  <a:cxn ang="0">
                    <a:pos x="224" y="64"/>
                  </a:cxn>
                </a:cxnLst>
                <a:rect l="0" t="0" r="r" b="b"/>
                <a:pathLst>
                  <a:path w="226" h="182">
                    <a:moveTo>
                      <a:pt x="182" y="48"/>
                    </a:moveTo>
                    <a:lnTo>
                      <a:pt x="184" y="42"/>
                    </a:lnTo>
                    <a:lnTo>
                      <a:pt x="184" y="42"/>
                    </a:lnTo>
                    <a:lnTo>
                      <a:pt x="184" y="26"/>
                    </a:lnTo>
                    <a:lnTo>
                      <a:pt x="182" y="20"/>
                    </a:lnTo>
                    <a:lnTo>
                      <a:pt x="180" y="14"/>
                    </a:lnTo>
                    <a:lnTo>
                      <a:pt x="176" y="10"/>
                    </a:lnTo>
                    <a:lnTo>
                      <a:pt x="172" y="6"/>
                    </a:lnTo>
                    <a:lnTo>
                      <a:pt x="168" y="4"/>
                    </a:lnTo>
                    <a:lnTo>
                      <a:pt x="162" y="6"/>
                    </a:lnTo>
                    <a:lnTo>
                      <a:pt x="94" y="18"/>
                    </a:lnTo>
                    <a:lnTo>
                      <a:pt x="94" y="18"/>
                    </a:lnTo>
                    <a:lnTo>
                      <a:pt x="94" y="14"/>
                    </a:lnTo>
                    <a:lnTo>
                      <a:pt x="92" y="10"/>
                    </a:lnTo>
                    <a:lnTo>
                      <a:pt x="86" y="4"/>
                    </a:lnTo>
                    <a:lnTo>
                      <a:pt x="80" y="0"/>
                    </a:lnTo>
                    <a:lnTo>
                      <a:pt x="72" y="0"/>
                    </a:lnTo>
                    <a:lnTo>
                      <a:pt x="34" y="8"/>
                    </a:lnTo>
                    <a:lnTo>
                      <a:pt x="34" y="8"/>
                    </a:lnTo>
                    <a:lnTo>
                      <a:pt x="30" y="10"/>
                    </a:lnTo>
                    <a:lnTo>
                      <a:pt x="24" y="16"/>
                    </a:lnTo>
                    <a:lnTo>
                      <a:pt x="20" y="24"/>
                    </a:lnTo>
                    <a:lnTo>
                      <a:pt x="20" y="32"/>
                    </a:lnTo>
                    <a:lnTo>
                      <a:pt x="20" y="32"/>
                    </a:lnTo>
                    <a:lnTo>
                      <a:pt x="14" y="34"/>
                    </a:lnTo>
                    <a:lnTo>
                      <a:pt x="10" y="36"/>
                    </a:lnTo>
                    <a:lnTo>
                      <a:pt x="4" y="46"/>
                    </a:lnTo>
                    <a:lnTo>
                      <a:pt x="0" y="58"/>
                    </a:lnTo>
                    <a:lnTo>
                      <a:pt x="0" y="74"/>
                    </a:lnTo>
                    <a:lnTo>
                      <a:pt x="8" y="150"/>
                    </a:lnTo>
                    <a:lnTo>
                      <a:pt x="8" y="150"/>
                    </a:lnTo>
                    <a:lnTo>
                      <a:pt x="10" y="158"/>
                    </a:lnTo>
                    <a:lnTo>
                      <a:pt x="12" y="164"/>
                    </a:lnTo>
                    <a:lnTo>
                      <a:pt x="16" y="168"/>
                    </a:lnTo>
                    <a:lnTo>
                      <a:pt x="20" y="172"/>
                    </a:lnTo>
                    <a:lnTo>
                      <a:pt x="20" y="172"/>
                    </a:lnTo>
                    <a:lnTo>
                      <a:pt x="20" y="170"/>
                    </a:lnTo>
                    <a:lnTo>
                      <a:pt x="20" y="108"/>
                    </a:lnTo>
                    <a:lnTo>
                      <a:pt x="20" y="108"/>
                    </a:lnTo>
                    <a:lnTo>
                      <a:pt x="18" y="102"/>
                    </a:lnTo>
                    <a:lnTo>
                      <a:pt x="18" y="102"/>
                    </a:lnTo>
                    <a:lnTo>
                      <a:pt x="20" y="94"/>
                    </a:lnTo>
                    <a:lnTo>
                      <a:pt x="22" y="88"/>
                    </a:lnTo>
                    <a:lnTo>
                      <a:pt x="24" y="80"/>
                    </a:lnTo>
                    <a:lnTo>
                      <a:pt x="28" y="74"/>
                    </a:lnTo>
                    <a:lnTo>
                      <a:pt x="28" y="74"/>
                    </a:lnTo>
                    <a:lnTo>
                      <a:pt x="34" y="68"/>
                    </a:lnTo>
                    <a:lnTo>
                      <a:pt x="40" y="64"/>
                    </a:lnTo>
                    <a:lnTo>
                      <a:pt x="48" y="60"/>
                    </a:lnTo>
                    <a:lnTo>
                      <a:pt x="56" y="58"/>
                    </a:lnTo>
                    <a:lnTo>
                      <a:pt x="182" y="48"/>
                    </a:lnTo>
                    <a:close/>
                    <a:moveTo>
                      <a:pt x="224" y="64"/>
                    </a:moveTo>
                    <a:lnTo>
                      <a:pt x="224" y="64"/>
                    </a:lnTo>
                    <a:lnTo>
                      <a:pt x="222" y="62"/>
                    </a:lnTo>
                    <a:lnTo>
                      <a:pt x="218" y="62"/>
                    </a:lnTo>
                    <a:lnTo>
                      <a:pt x="218" y="62"/>
                    </a:lnTo>
                    <a:lnTo>
                      <a:pt x="180" y="64"/>
                    </a:lnTo>
                    <a:lnTo>
                      <a:pt x="56" y="74"/>
                    </a:lnTo>
                    <a:lnTo>
                      <a:pt x="56" y="74"/>
                    </a:lnTo>
                    <a:lnTo>
                      <a:pt x="48" y="78"/>
                    </a:lnTo>
                    <a:lnTo>
                      <a:pt x="42" y="84"/>
                    </a:lnTo>
                    <a:lnTo>
                      <a:pt x="42" y="84"/>
                    </a:lnTo>
                    <a:lnTo>
                      <a:pt x="38" y="92"/>
                    </a:lnTo>
                    <a:lnTo>
                      <a:pt x="36" y="102"/>
                    </a:lnTo>
                    <a:lnTo>
                      <a:pt x="36" y="102"/>
                    </a:lnTo>
                    <a:lnTo>
                      <a:pt x="36" y="106"/>
                    </a:lnTo>
                    <a:lnTo>
                      <a:pt x="36" y="106"/>
                    </a:lnTo>
                    <a:lnTo>
                      <a:pt x="36" y="170"/>
                    </a:lnTo>
                    <a:lnTo>
                      <a:pt x="36" y="170"/>
                    </a:lnTo>
                    <a:lnTo>
                      <a:pt x="38" y="174"/>
                    </a:lnTo>
                    <a:lnTo>
                      <a:pt x="38" y="174"/>
                    </a:lnTo>
                    <a:lnTo>
                      <a:pt x="42" y="178"/>
                    </a:lnTo>
                    <a:lnTo>
                      <a:pt x="50" y="182"/>
                    </a:lnTo>
                    <a:lnTo>
                      <a:pt x="52" y="182"/>
                    </a:lnTo>
                    <a:lnTo>
                      <a:pt x="164" y="170"/>
                    </a:lnTo>
                    <a:lnTo>
                      <a:pt x="164" y="170"/>
                    </a:lnTo>
                    <a:lnTo>
                      <a:pt x="170" y="168"/>
                    </a:lnTo>
                    <a:lnTo>
                      <a:pt x="178" y="164"/>
                    </a:lnTo>
                    <a:lnTo>
                      <a:pt x="178" y="164"/>
                    </a:lnTo>
                    <a:lnTo>
                      <a:pt x="184" y="158"/>
                    </a:lnTo>
                    <a:lnTo>
                      <a:pt x="188" y="152"/>
                    </a:lnTo>
                    <a:lnTo>
                      <a:pt x="188" y="150"/>
                    </a:lnTo>
                    <a:lnTo>
                      <a:pt x="222" y="86"/>
                    </a:lnTo>
                    <a:lnTo>
                      <a:pt x="222" y="86"/>
                    </a:lnTo>
                    <a:lnTo>
                      <a:pt x="224" y="78"/>
                    </a:lnTo>
                    <a:lnTo>
                      <a:pt x="226" y="70"/>
                    </a:lnTo>
                    <a:lnTo>
                      <a:pt x="226" y="70"/>
                    </a:lnTo>
                    <a:lnTo>
                      <a:pt x="226" y="66"/>
                    </a:lnTo>
                    <a:lnTo>
                      <a:pt x="224" y="64"/>
                    </a:lnTo>
                    <a:lnTo>
                      <a:pt x="224" y="64"/>
                    </a:lnTo>
                    <a:close/>
                  </a:path>
                </a:pathLst>
              </a:custGeom>
              <a:solidFill>
                <a:srgbClr val="5900E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000000"/>
                  </a:solidFill>
                  <a:latin typeface="Arial" pitchFamily="34" charset="0"/>
                  <a:ea typeface="宋体"/>
                  <a:cs typeface="Arial" pitchFamily="34" charset="0"/>
                </a:endParaRPr>
              </a:p>
            </p:txBody>
          </p:sp>
          <p:pic>
            <p:nvPicPr>
              <p:cNvPr id="170" name="Picture 2028" descr="图片25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1061115" y="3631940"/>
                <a:ext cx="392602" cy="30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9"/>
              <p:cNvSpPr>
                <a:spLocks/>
              </p:cNvSpPr>
              <p:nvPr/>
            </p:nvSpPr>
            <p:spPr bwMode="auto">
              <a:xfrm>
                <a:off x="11466533" y="3764631"/>
                <a:ext cx="151533" cy="160067"/>
              </a:xfrm>
              <a:custGeom>
                <a:avLst/>
                <a:gdLst/>
                <a:ahLst/>
                <a:cxnLst>
                  <a:cxn ang="0">
                    <a:pos x="244" y="188"/>
                  </a:cxn>
                  <a:cxn ang="0">
                    <a:pos x="244" y="188"/>
                  </a:cxn>
                  <a:cxn ang="0">
                    <a:pos x="238" y="182"/>
                  </a:cxn>
                  <a:cxn ang="0">
                    <a:pos x="230" y="180"/>
                  </a:cxn>
                  <a:cxn ang="0">
                    <a:pos x="224" y="182"/>
                  </a:cxn>
                  <a:cxn ang="0">
                    <a:pos x="218" y="184"/>
                  </a:cxn>
                  <a:cxn ang="0">
                    <a:pos x="198" y="206"/>
                  </a:cxn>
                  <a:cxn ang="0">
                    <a:pos x="82" y="92"/>
                  </a:cxn>
                  <a:cxn ang="0">
                    <a:pos x="106" y="68"/>
                  </a:cxn>
                  <a:cxn ang="0">
                    <a:pos x="106" y="68"/>
                  </a:cxn>
                  <a:cxn ang="0">
                    <a:pos x="108" y="62"/>
                  </a:cxn>
                  <a:cxn ang="0">
                    <a:pos x="110" y="56"/>
                  </a:cxn>
                  <a:cxn ang="0">
                    <a:pos x="108" y="50"/>
                  </a:cxn>
                  <a:cxn ang="0">
                    <a:pos x="102" y="42"/>
                  </a:cxn>
                  <a:cxn ang="0">
                    <a:pos x="66" y="6"/>
                  </a:cxn>
                  <a:cxn ang="0">
                    <a:pos x="66" y="6"/>
                  </a:cxn>
                  <a:cxn ang="0">
                    <a:pos x="60" y="2"/>
                  </a:cxn>
                  <a:cxn ang="0">
                    <a:pos x="54" y="0"/>
                  </a:cxn>
                  <a:cxn ang="0">
                    <a:pos x="48" y="0"/>
                  </a:cxn>
                  <a:cxn ang="0">
                    <a:pos x="42" y="4"/>
                  </a:cxn>
                  <a:cxn ang="0">
                    <a:pos x="14" y="32"/>
                  </a:cxn>
                  <a:cxn ang="0">
                    <a:pos x="14" y="32"/>
                  </a:cxn>
                  <a:cxn ang="0">
                    <a:pos x="8" y="38"/>
                  </a:cxn>
                  <a:cxn ang="0">
                    <a:pos x="4" y="46"/>
                  </a:cxn>
                  <a:cxn ang="0">
                    <a:pos x="2" y="54"/>
                  </a:cxn>
                  <a:cxn ang="0">
                    <a:pos x="0" y="62"/>
                  </a:cxn>
                  <a:cxn ang="0">
                    <a:pos x="0" y="72"/>
                  </a:cxn>
                  <a:cxn ang="0">
                    <a:pos x="2" y="80"/>
                  </a:cxn>
                  <a:cxn ang="0">
                    <a:pos x="6" y="90"/>
                  </a:cxn>
                  <a:cxn ang="0">
                    <a:pos x="12" y="98"/>
                  </a:cxn>
                  <a:cxn ang="0">
                    <a:pos x="12" y="98"/>
                  </a:cxn>
                  <a:cxn ang="0">
                    <a:pos x="32" y="128"/>
                  </a:cxn>
                  <a:cxn ang="0">
                    <a:pos x="50" y="154"/>
                  </a:cxn>
                  <a:cxn ang="0">
                    <a:pos x="70" y="178"/>
                  </a:cxn>
                  <a:cxn ang="0">
                    <a:pos x="90" y="200"/>
                  </a:cxn>
                  <a:cxn ang="0">
                    <a:pos x="112" y="220"/>
                  </a:cxn>
                  <a:cxn ang="0">
                    <a:pos x="136" y="240"/>
                  </a:cxn>
                  <a:cxn ang="0">
                    <a:pos x="162" y="258"/>
                  </a:cxn>
                  <a:cxn ang="0">
                    <a:pos x="190" y="278"/>
                  </a:cxn>
                  <a:cxn ang="0">
                    <a:pos x="190" y="278"/>
                  </a:cxn>
                  <a:cxn ang="0">
                    <a:pos x="198" y="282"/>
                  </a:cxn>
                  <a:cxn ang="0">
                    <a:pos x="208" y="286"/>
                  </a:cxn>
                  <a:cxn ang="0">
                    <a:pos x="216" y="288"/>
                  </a:cxn>
                  <a:cxn ang="0">
                    <a:pos x="226" y="288"/>
                  </a:cxn>
                  <a:cxn ang="0">
                    <a:pos x="234" y="286"/>
                  </a:cxn>
                  <a:cxn ang="0">
                    <a:pos x="242" y="284"/>
                  </a:cxn>
                  <a:cxn ang="0">
                    <a:pos x="250" y="280"/>
                  </a:cxn>
                  <a:cxn ang="0">
                    <a:pos x="258" y="274"/>
                  </a:cxn>
                  <a:cxn ang="0">
                    <a:pos x="282" y="248"/>
                  </a:cxn>
                  <a:cxn ang="0">
                    <a:pos x="282" y="248"/>
                  </a:cxn>
                  <a:cxn ang="0">
                    <a:pos x="286" y="244"/>
                  </a:cxn>
                  <a:cxn ang="0">
                    <a:pos x="286" y="236"/>
                  </a:cxn>
                  <a:cxn ang="0">
                    <a:pos x="284" y="230"/>
                  </a:cxn>
                  <a:cxn ang="0">
                    <a:pos x="280" y="224"/>
                  </a:cxn>
                  <a:cxn ang="0">
                    <a:pos x="244" y="188"/>
                  </a:cxn>
                </a:cxnLst>
                <a:rect l="0" t="0" r="r" b="b"/>
                <a:pathLst>
                  <a:path w="286" h="288">
                    <a:moveTo>
                      <a:pt x="244" y="188"/>
                    </a:moveTo>
                    <a:lnTo>
                      <a:pt x="244" y="188"/>
                    </a:lnTo>
                    <a:lnTo>
                      <a:pt x="238" y="182"/>
                    </a:lnTo>
                    <a:lnTo>
                      <a:pt x="230" y="180"/>
                    </a:lnTo>
                    <a:lnTo>
                      <a:pt x="224" y="182"/>
                    </a:lnTo>
                    <a:lnTo>
                      <a:pt x="218" y="184"/>
                    </a:lnTo>
                    <a:lnTo>
                      <a:pt x="198" y="206"/>
                    </a:lnTo>
                    <a:lnTo>
                      <a:pt x="82" y="92"/>
                    </a:lnTo>
                    <a:lnTo>
                      <a:pt x="106" y="68"/>
                    </a:lnTo>
                    <a:lnTo>
                      <a:pt x="106" y="68"/>
                    </a:lnTo>
                    <a:lnTo>
                      <a:pt x="108" y="62"/>
                    </a:lnTo>
                    <a:lnTo>
                      <a:pt x="110" y="56"/>
                    </a:lnTo>
                    <a:lnTo>
                      <a:pt x="108" y="50"/>
                    </a:lnTo>
                    <a:lnTo>
                      <a:pt x="102" y="42"/>
                    </a:lnTo>
                    <a:lnTo>
                      <a:pt x="66" y="6"/>
                    </a:lnTo>
                    <a:lnTo>
                      <a:pt x="66" y="6"/>
                    </a:lnTo>
                    <a:lnTo>
                      <a:pt x="60" y="2"/>
                    </a:lnTo>
                    <a:lnTo>
                      <a:pt x="54" y="0"/>
                    </a:lnTo>
                    <a:lnTo>
                      <a:pt x="48" y="0"/>
                    </a:lnTo>
                    <a:lnTo>
                      <a:pt x="42" y="4"/>
                    </a:lnTo>
                    <a:lnTo>
                      <a:pt x="14" y="32"/>
                    </a:lnTo>
                    <a:lnTo>
                      <a:pt x="14" y="32"/>
                    </a:lnTo>
                    <a:lnTo>
                      <a:pt x="8" y="38"/>
                    </a:lnTo>
                    <a:lnTo>
                      <a:pt x="4" y="46"/>
                    </a:lnTo>
                    <a:lnTo>
                      <a:pt x="2" y="54"/>
                    </a:lnTo>
                    <a:lnTo>
                      <a:pt x="0" y="62"/>
                    </a:lnTo>
                    <a:lnTo>
                      <a:pt x="0" y="72"/>
                    </a:lnTo>
                    <a:lnTo>
                      <a:pt x="2" y="80"/>
                    </a:lnTo>
                    <a:lnTo>
                      <a:pt x="6" y="90"/>
                    </a:lnTo>
                    <a:lnTo>
                      <a:pt x="12" y="98"/>
                    </a:lnTo>
                    <a:lnTo>
                      <a:pt x="12" y="98"/>
                    </a:lnTo>
                    <a:lnTo>
                      <a:pt x="32" y="128"/>
                    </a:lnTo>
                    <a:lnTo>
                      <a:pt x="50" y="154"/>
                    </a:lnTo>
                    <a:lnTo>
                      <a:pt x="70" y="178"/>
                    </a:lnTo>
                    <a:lnTo>
                      <a:pt x="90" y="200"/>
                    </a:lnTo>
                    <a:lnTo>
                      <a:pt x="112" y="220"/>
                    </a:lnTo>
                    <a:lnTo>
                      <a:pt x="136" y="240"/>
                    </a:lnTo>
                    <a:lnTo>
                      <a:pt x="162" y="258"/>
                    </a:lnTo>
                    <a:lnTo>
                      <a:pt x="190" y="278"/>
                    </a:lnTo>
                    <a:lnTo>
                      <a:pt x="190" y="278"/>
                    </a:lnTo>
                    <a:lnTo>
                      <a:pt x="198" y="282"/>
                    </a:lnTo>
                    <a:lnTo>
                      <a:pt x="208" y="286"/>
                    </a:lnTo>
                    <a:lnTo>
                      <a:pt x="216" y="288"/>
                    </a:lnTo>
                    <a:lnTo>
                      <a:pt x="226" y="288"/>
                    </a:lnTo>
                    <a:lnTo>
                      <a:pt x="234" y="286"/>
                    </a:lnTo>
                    <a:lnTo>
                      <a:pt x="242" y="284"/>
                    </a:lnTo>
                    <a:lnTo>
                      <a:pt x="250" y="280"/>
                    </a:lnTo>
                    <a:lnTo>
                      <a:pt x="258" y="274"/>
                    </a:lnTo>
                    <a:lnTo>
                      <a:pt x="282" y="248"/>
                    </a:lnTo>
                    <a:lnTo>
                      <a:pt x="282" y="248"/>
                    </a:lnTo>
                    <a:lnTo>
                      <a:pt x="286" y="244"/>
                    </a:lnTo>
                    <a:lnTo>
                      <a:pt x="286" y="236"/>
                    </a:lnTo>
                    <a:lnTo>
                      <a:pt x="284" y="230"/>
                    </a:lnTo>
                    <a:lnTo>
                      <a:pt x="280" y="224"/>
                    </a:lnTo>
                    <a:lnTo>
                      <a:pt x="244" y="188"/>
                    </a:lnTo>
                    <a:close/>
                  </a:path>
                </a:pathLst>
              </a:custGeom>
              <a:solidFill>
                <a:srgbClr val="5900E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000000"/>
                  </a:solidFill>
                  <a:latin typeface="Arial" pitchFamily="34" charset="0"/>
                  <a:ea typeface="宋体"/>
                  <a:cs typeface="Arial" pitchFamily="34" charset="0"/>
                </a:endParaRPr>
              </a:p>
            </p:txBody>
          </p:sp>
          <p:sp>
            <p:nvSpPr>
              <p:cNvPr id="172" name="椭圆 171"/>
              <p:cNvSpPr/>
              <p:nvPr/>
            </p:nvSpPr>
            <p:spPr>
              <a:xfrm>
                <a:off x="9085676" y="4072499"/>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73" name="文本框 172"/>
              <p:cNvSpPr txBox="1"/>
              <p:nvPr/>
            </p:nvSpPr>
            <p:spPr>
              <a:xfrm>
                <a:off x="9087538" y="4039528"/>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8</a:t>
                </a:r>
                <a:endParaRPr lang="zh-CN" altLang="en-US" b="1" dirty="0">
                  <a:solidFill>
                    <a:srgbClr val="FFFFFF"/>
                  </a:solidFill>
                  <a:latin typeface="Arial"/>
                  <a:ea typeface="宋体"/>
                </a:endParaRPr>
              </a:p>
            </p:txBody>
          </p:sp>
          <p:cxnSp>
            <p:nvCxnSpPr>
              <p:cNvPr id="174" name="直接箭头连接符 173"/>
              <p:cNvCxnSpPr>
                <a:stCxn id="113" idx="2"/>
              </p:cNvCxnSpPr>
              <p:nvPr/>
            </p:nvCxnSpPr>
            <p:spPr>
              <a:xfrm flipH="1">
                <a:off x="8617006" y="3246096"/>
                <a:ext cx="183042" cy="1123903"/>
              </a:xfrm>
              <a:prstGeom prst="straightConnector1">
                <a:avLst/>
              </a:prstGeom>
              <a:noFill/>
              <a:ln w="9525" cap="flat" cmpd="sng" algn="ctr">
                <a:solidFill>
                  <a:srgbClr val="BBE0E3">
                    <a:lumMod val="50000"/>
                  </a:srgbClr>
                </a:solidFill>
                <a:prstDash val="dash"/>
                <a:tailEnd type="triangle"/>
              </a:ln>
              <a:effectLst/>
            </p:spPr>
          </p:cxnSp>
          <p:sp>
            <p:nvSpPr>
              <p:cNvPr id="175" name="文本框 174"/>
              <p:cNvSpPr txBox="1"/>
              <p:nvPr/>
            </p:nvSpPr>
            <p:spPr>
              <a:xfrm>
                <a:off x="8837145" y="3201894"/>
                <a:ext cx="887138"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创建</a:t>
                </a:r>
                <a:r>
                  <a:rPr lang="en-US" altLang="zh-CN" sz="1200" dirty="0">
                    <a:solidFill>
                      <a:srgbClr val="000000"/>
                    </a:solidFill>
                    <a:latin typeface="Arial"/>
                    <a:ea typeface="宋体"/>
                  </a:rPr>
                  <a:t>SR Tunnel</a:t>
                </a:r>
                <a:endParaRPr lang="zh-CN" altLang="en-US" sz="1200" dirty="0">
                  <a:solidFill>
                    <a:srgbClr val="000000"/>
                  </a:solidFill>
                  <a:latin typeface="Arial"/>
                  <a:ea typeface="宋体"/>
                </a:endParaRPr>
              </a:p>
            </p:txBody>
          </p:sp>
          <p:sp>
            <p:nvSpPr>
              <p:cNvPr id="176" name="椭圆 175"/>
              <p:cNvSpPr/>
              <p:nvPr/>
            </p:nvSpPr>
            <p:spPr>
              <a:xfrm>
                <a:off x="8658147" y="3196811"/>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77" name="文本框 176"/>
              <p:cNvSpPr txBox="1"/>
              <p:nvPr/>
            </p:nvSpPr>
            <p:spPr>
              <a:xfrm>
                <a:off x="8660009" y="3163840"/>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3</a:t>
                </a:r>
                <a:endParaRPr lang="zh-CN" altLang="en-US" b="1" dirty="0">
                  <a:solidFill>
                    <a:srgbClr val="FFFFFF"/>
                  </a:solidFill>
                  <a:latin typeface="Arial"/>
                  <a:ea typeface="宋体"/>
                </a:endParaRPr>
              </a:p>
            </p:txBody>
          </p:sp>
          <p:sp>
            <p:nvSpPr>
              <p:cNvPr id="178" name="文本框 177"/>
              <p:cNvSpPr txBox="1"/>
              <p:nvPr/>
            </p:nvSpPr>
            <p:spPr>
              <a:xfrm>
                <a:off x="8912174" y="1447572"/>
                <a:ext cx="600023" cy="201605"/>
              </a:xfrm>
              <a:prstGeom prst="rect">
                <a:avLst/>
              </a:prstGeom>
              <a:noFill/>
            </p:spPr>
            <p:txBody>
              <a:bodyPr wrap="none" rtlCol="0">
                <a:spAutoFit/>
              </a:bodyPr>
              <a:lstStyle/>
              <a:p>
                <a:pPr defTabSz="914400"/>
                <a:r>
                  <a:rPr lang="zh-CN" altLang="en-US" sz="1200" dirty="0">
                    <a:solidFill>
                      <a:srgbClr val="FFFFFF"/>
                    </a:solidFill>
                    <a:latin typeface="Arial"/>
                    <a:ea typeface="宋体"/>
                  </a:rPr>
                  <a:t>使用</a:t>
                </a:r>
                <a:r>
                  <a:rPr lang="en-US" altLang="zh-CN" sz="1200" dirty="0">
                    <a:solidFill>
                      <a:srgbClr val="FFFFFF"/>
                    </a:solidFill>
                    <a:latin typeface="Arial"/>
                    <a:ea typeface="宋体"/>
                  </a:rPr>
                  <a:t>SLA </a:t>
                </a:r>
                <a:endParaRPr lang="zh-CN" altLang="en-US" sz="1200" dirty="0">
                  <a:solidFill>
                    <a:srgbClr val="FFFFFF"/>
                  </a:solidFill>
                  <a:latin typeface="Arial"/>
                  <a:ea typeface="宋体"/>
                </a:endParaRPr>
              </a:p>
            </p:txBody>
          </p:sp>
        </p:grpSp>
        <p:sp>
          <p:nvSpPr>
            <p:cNvPr id="273" name="圆角矩形 272"/>
            <p:cNvSpPr/>
            <p:nvPr/>
          </p:nvSpPr>
          <p:spPr>
            <a:xfrm>
              <a:off x="5991786" y="785506"/>
              <a:ext cx="6023293" cy="5585236"/>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74" name="矩形 32"/>
            <p:cNvSpPr/>
            <p:nvPr>
              <p:custDataLst>
                <p:tags r:id="rId1"/>
              </p:custDataLst>
            </p:nvPr>
          </p:nvSpPr>
          <p:spPr>
            <a:xfrm>
              <a:off x="7226432" y="618920"/>
              <a:ext cx="3425154" cy="338554"/>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              SRv6</a:t>
              </a:r>
              <a:r>
                <a:rPr lang="zh-CN" altLang="en-US" sz="1600" b="1" dirty="0">
                  <a:solidFill>
                    <a:prstClr val="black"/>
                  </a:solidFill>
                  <a:latin typeface="微软雅黑" panose="020B0503020204020204" pitchFamily="34" charset="-122"/>
                  <a:ea typeface="微软雅黑" panose="020B0503020204020204" pitchFamily="34" charset="-122"/>
                </a:rPr>
                <a:t> </a:t>
              </a:r>
              <a:r>
                <a:rPr lang="en-US" altLang="zh-CN" sz="1600" b="1" dirty="0">
                  <a:solidFill>
                    <a:prstClr val="black"/>
                  </a:solidFill>
                  <a:latin typeface="微软雅黑" panose="020B0503020204020204" pitchFamily="34" charset="-122"/>
                  <a:ea typeface="微软雅黑" panose="020B0503020204020204" pitchFamily="34" charset="-122"/>
                </a:rPr>
                <a:t>SD-WAN</a:t>
              </a:r>
              <a:endParaRPr lang="zh-CN" altLang="en-US" sz="1600" b="1" dirty="0">
                <a:solidFill>
                  <a:prstClr val="black"/>
                </a:solidFill>
                <a:latin typeface="微软雅黑" panose="020B0503020204020204" pitchFamily="34" charset="-122"/>
                <a:ea typeface="微软雅黑" panose="020B0503020204020204" pitchFamily="34" charset="-122"/>
              </a:endParaRPr>
            </a:p>
          </p:txBody>
        </p:sp>
        <p:sp>
          <p:nvSpPr>
            <p:cNvPr id="275" name="文本框 274"/>
            <p:cNvSpPr txBox="1"/>
            <p:nvPr/>
          </p:nvSpPr>
          <p:spPr>
            <a:xfrm>
              <a:off x="6349877" y="3838088"/>
              <a:ext cx="5429713" cy="2391814"/>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统一</a:t>
              </a:r>
              <a:r>
                <a:rPr lang="en-US" altLang="zh-CN" b="1" dirty="0">
                  <a:solidFill>
                    <a:schemeClr val="tx1"/>
                  </a:solidFill>
                  <a:latin typeface="Arial" panose="020B0604020202020204" pitchFamily="34" charset="0"/>
                  <a:ea typeface="Microsoft YaHei" panose="020B0503020204020204" pitchFamily="34" charset="-122"/>
                  <a:sym typeface="Arial" panose="020B0604020202020204" pitchFamily="34" charset="0"/>
                </a:rPr>
                <a:t>Underlay/Overlay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Overlay: </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利用</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SRv6</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的原生</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IPv6</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能力可以穿越多个</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Underlay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网络。</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Underlay: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利用</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SRv6</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可编程能力提供应用级选路能力</a:t>
              </a:r>
              <a:endPar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endParaRPr>
            </a:p>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网络服务化：</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 </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网络可以把连接服务开放出去，用户可以方便远程访问网络服务</a:t>
              </a:r>
              <a:endParaRPr lang="en-US" altLang="zh-CN" b="1" dirty="0">
                <a:solidFill>
                  <a:schemeClr val="tx1"/>
                </a:solidFill>
                <a:latin typeface="Arial" panose="020B0604020202020204" pitchFamily="34" charset="0"/>
                <a:ea typeface="Microsoft YaHei"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4178440006"/>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normAutofit/>
          </a:bodyPr>
          <a:lstStyle/>
          <a:p>
            <a:pPr defTabSz="913212"/>
            <a:r>
              <a:rPr kumimoji="1" lang="en-US" altLang="zh-CN" dirty="0">
                <a:sym typeface="微软雅黑" panose="020B0503020204020204" pitchFamily="34" charset="-122"/>
              </a:rPr>
              <a:t>SRv6</a:t>
            </a:r>
            <a:r>
              <a:rPr kumimoji="1" lang="zh-CN" altLang="en-US" dirty="0">
                <a:sym typeface="微软雅黑" panose="020B0503020204020204" pitchFamily="34" charset="-122"/>
              </a:rPr>
              <a:t>应用：</a:t>
            </a:r>
            <a:r>
              <a:rPr kumimoji="1" lang="zh-CN" altLang="en-US" dirty="0"/>
              <a:t>路径编程</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5" name="组合 4"/>
          <p:cNvGrpSpPr/>
          <p:nvPr/>
        </p:nvGrpSpPr>
        <p:grpSpPr>
          <a:xfrm>
            <a:off x="131805" y="1334713"/>
            <a:ext cx="11953777" cy="5191534"/>
            <a:chOff x="131805" y="1297769"/>
            <a:chExt cx="11953777" cy="5404022"/>
          </a:xfrm>
        </p:grpSpPr>
        <p:sp>
          <p:nvSpPr>
            <p:cNvPr id="276" name="椭圆 275"/>
            <p:cNvSpPr/>
            <p:nvPr/>
          </p:nvSpPr>
          <p:spPr>
            <a:xfrm>
              <a:off x="4894539" y="1894908"/>
              <a:ext cx="1788934" cy="136818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7" name="Rectangle 124"/>
            <p:cNvSpPr/>
            <p:nvPr>
              <p:custDataLst>
                <p:tags r:id="rId1"/>
              </p:custDataLst>
            </p:nvPr>
          </p:nvSpPr>
          <p:spPr>
            <a:xfrm>
              <a:off x="447282" y="5095382"/>
              <a:ext cx="2954096" cy="1345570"/>
            </a:xfrm>
            <a:prstGeom prst="rect">
              <a:avLst/>
            </a:prstGeom>
            <a:noFill/>
          </p:spPr>
          <p:txBody>
            <a:bodyPr wrap="square" lIns="0" tIns="0" rIns="0" bIns="0" anchor="ctr">
              <a:spAutoFit/>
            </a:bodyPr>
            <a:lstStyle/>
            <a:p>
              <a:pPr marL="285750" indent="-285750" defTabSz="914470" fontAlgn="ctr">
                <a:lnSpc>
                  <a:spcPct val="200000"/>
                </a:lnSpc>
                <a:spcBef>
                  <a:spcPct val="0"/>
                </a:spcBef>
                <a:spcAft>
                  <a:spcPct val="0"/>
                </a:spcAft>
                <a:buFont typeface="Wingdings" panose="05000000000000000000" pitchFamily="2" charset="2"/>
                <a:buChar char="Ø"/>
              </a:pPr>
              <a:r>
                <a:rPr lang="zh-CN" altLang="en-US" sz="1400" kern="0" dirty="0">
                  <a:solidFill>
                    <a:prstClr val="black"/>
                  </a:solidFill>
                  <a:latin typeface="微软雅黑"/>
                  <a:ea typeface="微软雅黑"/>
                </a:rPr>
                <a:t>无状态流量工程</a:t>
              </a:r>
            </a:p>
            <a:p>
              <a:pPr marL="285750" indent="-285750" defTabSz="914470" fontAlgn="ctr">
                <a:lnSpc>
                  <a:spcPct val="200000"/>
                </a:lnSpc>
                <a:spcBef>
                  <a:spcPct val="0"/>
                </a:spcBef>
                <a:spcAft>
                  <a:spcPct val="0"/>
                </a:spcAft>
                <a:buFont typeface="Wingdings" panose="05000000000000000000" pitchFamily="2" charset="2"/>
                <a:buChar char="Ø"/>
              </a:pPr>
              <a:r>
                <a:rPr lang="zh-CN" altLang="en-US" sz="1400" kern="0" dirty="0">
                  <a:solidFill>
                    <a:prstClr val="black"/>
                  </a:solidFill>
                  <a:latin typeface="微软雅黑"/>
                  <a:ea typeface="微软雅黑"/>
                </a:rPr>
                <a:t>百万级连接</a:t>
              </a:r>
              <a:endParaRPr lang="en-US" altLang="zh-CN" sz="1400" kern="0" dirty="0">
                <a:solidFill>
                  <a:prstClr val="black"/>
                </a:solidFill>
                <a:latin typeface="微软雅黑"/>
                <a:ea typeface="微软雅黑"/>
              </a:endParaRPr>
            </a:p>
            <a:p>
              <a:pPr marL="285750" indent="-285750" defTabSz="914470" fontAlgn="ctr">
                <a:lnSpc>
                  <a:spcPct val="200000"/>
                </a:lnSpc>
                <a:spcBef>
                  <a:spcPct val="0"/>
                </a:spcBef>
                <a:spcAft>
                  <a:spcPct val="0"/>
                </a:spcAft>
                <a:buFont typeface="Wingdings" panose="05000000000000000000" pitchFamily="2" charset="2"/>
                <a:buChar char="Ø"/>
              </a:pPr>
              <a:r>
                <a:rPr lang="zh-CN" altLang="en-US" sz="1400" kern="0" dirty="0">
                  <a:solidFill>
                    <a:prstClr val="black"/>
                  </a:solidFill>
                  <a:latin typeface="微软雅黑"/>
                  <a:ea typeface="微软雅黑"/>
                  <a:sym typeface="+mn-lt"/>
                </a:rPr>
                <a:t>端到端</a:t>
              </a:r>
              <a:endParaRPr lang="en-US" altLang="zh-CN" sz="1400" kern="0" dirty="0">
                <a:solidFill>
                  <a:prstClr val="black"/>
                </a:solidFill>
                <a:latin typeface="微软雅黑"/>
                <a:ea typeface="微软雅黑"/>
              </a:endParaRPr>
            </a:p>
          </p:txBody>
        </p:sp>
        <p:sp>
          <p:nvSpPr>
            <p:cNvPr id="278" name="文本框 277"/>
            <p:cNvSpPr txBox="1"/>
            <p:nvPr/>
          </p:nvSpPr>
          <p:spPr>
            <a:xfrm>
              <a:off x="5555322" y="2265389"/>
              <a:ext cx="533702" cy="316370"/>
            </a:xfrm>
            <a:prstGeom prst="rect">
              <a:avLst/>
            </a:prstGeom>
            <a:noFill/>
          </p:spPr>
          <p:txBody>
            <a:bodyPr wrap="none" rtlCol="0">
              <a:spAutoFit/>
            </a:bodyPr>
            <a:lstStyle/>
            <a:p>
              <a:r>
                <a:rPr lang="en-US" altLang="zh-CN" sz="1600" dirty="0">
                  <a:solidFill>
                    <a:prstClr val="black"/>
                  </a:solidFill>
                </a:rPr>
                <a:t>CN2</a:t>
              </a:r>
              <a:endParaRPr lang="zh-CN" altLang="en-US" sz="1600" dirty="0">
                <a:solidFill>
                  <a:prstClr val="black"/>
                </a:solidFill>
              </a:endParaRPr>
            </a:p>
          </p:txBody>
        </p:sp>
        <p:sp>
          <p:nvSpPr>
            <p:cNvPr id="279" name="圆角矩形 278"/>
            <p:cNvSpPr/>
            <p:nvPr/>
          </p:nvSpPr>
          <p:spPr>
            <a:xfrm>
              <a:off x="131805" y="1443348"/>
              <a:ext cx="3485904" cy="5258443"/>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80" name="矩形 32"/>
            <p:cNvSpPr/>
            <p:nvPr>
              <p:custDataLst>
                <p:tags r:id="rId2"/>
              </p:custDataLst>
            </p:nvPr>
          </p:nvSpPr>
          <p:spPr>
            <a:xfrm>
              <a:off x="492239" y="1304921"/>
              <a:ext cx="2957338" cy="338554"/>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SRv6</a:t>
              </a:r>
              <a:r>
                <a:rPr lang="zh-CN" altLang="en-US" sz="1600" b="1" dirty="0">
                  <a:solidFill>
                    <a:prstClr val="black"/>
                  </a:solidFill>
                  <a:latin typeface="微软雅黑" panose="020B0503020204020204" pitchFamily="34" charset="-122"/>
                  <a:ea typeface="微软雅黑" panose="020B0503020204020204" pitchFamily="34" charset="-122"/>
                </a:rPr>
                <a:t> </a:t>
              </a:r>
              <a:r>
                <a:rPr lang="en-US" altLang="zh-CN" sz="1600" b="1" dirty="0">
                  <a:solidFill>
                    <a:prstClr val="black"/>
                  </a:solidFill>
                  <a:latin typeface="微软雅黑" panose="020B0503020204020204" pitchFamily="34" charset="-122"/>
                  <a:ea typeface="微软雅黑" panose="020B0503020204020204" pitchFamily="34" charset="-122"/>
                </a:rPr>
                <a:t>Traffic Engineering</a:t>
              </a:r>
              <a:endParaRPr lang="zh-CN" altLang="en-US" sz="1600" b="1" dirty="0">
                <a:solidFill>
                  <a:prstClr val="black"/>
                </a:solidFill>
                <a:latin typeface="微软雅黑" panose="020B0503020204020204" pitchFamily="34" charset="-122"/>
                <a:ea typeface="微软雅黑" panose="020B0503020204020204" pitchFamily="34" charset="-122"/>
              </a:endParaRPr>
            </a:p>
          </p:txBody>
        </p:sp>
        <p:sp>
          <p:nvSpPr>
            <p:cNvPr id="281" name="圆角矩形 280"/>
            <p:cNvSpPr/>
            <p:nvPr/>
          </p:nvSpPr>
          <p:spPr>
            <a:xfrm>
              <a:off x="3973311" y="1461194"/>
              <a:ext cx="3485904" cy="5240597"/>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82" name="矩形 32"/>
            <p:cNvSpPr/>
            <p:nvPr>
              <p:custDataLst>
                <p:tags r:id="rId3"/>
              </p:custDataLst>
            </p:nvPr>
          </p:nvSpPr>
          <p:spPr>
            <a:xfrm>
              <a:off x="4227202" y="1302871"/>
              <a:ext cx="3078505" cy="316370"/>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SRv6</a:t>
              </a:r>
              <a:r>
                <a:rPr lang="zh-CN" altLang="en-US" sz="1600" b="1" dirty="0">
                  <a:solidFill>
                    <a:prstClr val="black"/>
                  </a:solidFill>
                  <a:latin typeface="微软雅黑" panose="020B0503020204020204" pitchFamily="34" charset="-122"/>
                  <a:ea typeface="微软雅黑" panose="020B0503020204020204" pitchFamily="34" charset="-122"/>
                </a:rPr>
                <a:t>可靠性：</a:t>
              </a:r>
              <a:r>
                <a:rPr lang="en-US" altLang="zh-CN" sz="1600" b="1" dirty="0">
                  <a:solidFill>
                    <a:prstClr val="black"/>
                  </a:solidFill>
                  <a:latin typeface="微软雅黑" panose="020B0503020204020204" pitchFamily="34" charset="-122"/>
                  <a:ea typeface="微软雅黑" panose="020B0503020204020204" pitchFamily="34" charset="-122"/>
                </a:rPr>
                <a:t>50ms</a:t>
              </a:r>
              <a:r>
                <a:rPr lang="zh-CN" altLang="en-US" sz="1600" b="1" dirty="0">
                  <a:solidFill>
                    <a:prstClr val="black"/>
                  </a:solidFill>
                  <a:latin typeface="微软雅黑" panose="020B0503020204020204" pitchFamily="34" charset="-122"/>
                  <a:ea typeface="微软雅黑" panose="020B0503020204020204" pitchFamily="34" charset="-122"/>
                </a:rPr>
                <a:t>保护倒换</a:t>
              </a:r>
            </a:p>
          </p:txBody>
        </p:sp>
        <p:sp>
          <p:nvSpPr>
            <p:cNvPr id="283" name="圆角矩形 282"/>
            <p:cNvSpPr/>
            <p:nvPr/>
          </p:nvSpPr>
          <p:spPr>
            <a:xfrm>
              <a:off x="7701282" y="1456420"/>
              <a:ext cx="4384300" cy="5245371"/>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84" name="矩形 32"/>
            <p:cNvSpPr/>
            <p:nvPr>
              <p:custDataLst>
                <p:tags r:id="rId4"/>
              </p:custDataLst>
            </p:nvPr>
          </p:nvSpPr>
          <p:spPr>
            <a:xfrm>
              <a:off x="8681794" y="1297769"/>
              <a:ext cx="2691465" cy="338554"/>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SRv6</a:t>
              </a:r>
              <a:r>
                <a:rPr lang="zh-CN" altLang="en-US" sz="1600" b="1" dirty="0">
                  <a:solidFill>
                    <a:prstClr val="black"/>
                  </a:solidFill>
                  <a:latin typeface="微软雅黑" panose="020B0503020204020204" pitchFamily="34" charset="-122"/>
                  <a:ea typeface="微软雅黑" panose="020B0503020204020204" pitchFamily="34" charset="-122"/>
                </a:rPr>
                <a:t>业务链：</a:t>
              </a:r>
              <a:r>
                <a:rPr lang="en-US" altLang="zh-CN" sz="1600" b="1" dirty="0">
                  <a:solidFill>
                    <a:prstClr val="black"/>
                  </a:solidFill>
                  <a:latin typeface="微软雅黑" panose="020B0503020204020204" pitchFamily="34" charset="-122"/>
                  <a:ea typeface="微软雅黑" panose="020B0503020204020204" pitchFamily="34" charset="-122"/>
                </a:rPr>
                <a:t>SRv6 SFC</a:t>
              </a:r>
              <a:endParaRPr lang="zh-CN" altLang="en-US" sz="1600" b="1" dirty="0">
                <a:solidFill>
                  <a:prstClr val="black"/>
                </a:solidFill>
                <a:latin typeface="微软雅黑" panose="020B0503020204020204" pitchFamily="34" charset="-122"/>
                <a:ea typeface="微软雅黑" panose="020B0503020204020204" pitchFamily="34" charset="-122"/>
              </a:endParaRPr>
            </a:p>
          </p:txBody>
        </p:sp>
        <p:grpSp>
          <p:nvGrpSpPr>
            <p:cNvPr id="285" name="组合 42"/>
            <p:cNvGrpSpPr/>
            <p:nvPr/>
          </p:nvGrpSpPr>
          <p:grpSpPr>
            <a:xfrm rot="336509">
              <a:off x="5219089" y="2032777"/>
              <a:ext cx="1158467" cy="1109441"/>
              <a:chOff x="6673651" y="3189143"/>
              <a:chExt cx="949381" cy="959937"/>
            </a:xfrm>
            <a:solidFill>
              <a:schemeClr val="bg2">
                <a:lumMod val="50000"/>
              </a:schemeClr>
            </a:solidFill>
          </p:grpSpPr>
          <p:sp>
            <p:nvSpPr>
              <p:cNvPr id="286" name="椭圆 670"/>
              <p:cNvSpPr/>
              <p:nvPr/>
            </p:nvSpPr>
            <p:spPr bwMode="auto">
              <a:xfrm>
                <a:off x="7033691" y="3189143"/>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87" name="椭圆 671"/>
              <p:cNvSpPr/>
              <p:nvPr/>
            </p:nvSpPr>
            <p:spPr bwMode="auto">
              <a:xfrm>
                <a:off x="6889675" y="4014931"/>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88" name="椭圆 672"/>
              <p:cNvSpPr/>
              <p:nvPr/>
            </p:nvSpPr>
            <p:spPr bwMode="auto">
              <a:xfrm>
                <a:off x="7479016" y="3524758"/>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89" name="椭圆 673"/>
              <p:cNvSpPr/>
              <p:nvPr/>
            </p:nvSpPr>
            <p:spPr bwMode="auto">
              <a:xfrm>
                <a:off x="7346875" y="3980556"/>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90" name="椭圆 674"/>
              <p:cNvSpPr/>
              <p:nvPr/>
            </p:nvSpPr>
            <p:spPr bwMode="auto">
              <a:xfrm>
                <a:off x="6673651" y="3573016"/>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cxnSp>
            <p:nvCxnSpPr>
              <p:cNvPr id="291" name="直接连接符 675"/>
              <p:cNvCxnSpPr>
                <a:stCxn id="286" idx="3"/>
                <a:endCxn id="290" idx="7"/>
              </p:cNvCxnSpPr>
              <p:nvPr/>
            </p:nvCxnSpPr>
            <p:spPr bwMode="auto">
              <a:xfrm flipH="1">
                <a:off x="6796576" y="3303646"/>
                <a:ext cx="258206" cy="289016"/>
              </a:xfrm>
              <a:prstGeom prst="line">
                <a:avLst/>
              </a:prstGeom>
              <a:grpFill/>
              <a:ln w="9525">
                <a:solidFill>
                  <a:schemeClr val="tx1">
                    <a:lumMod val="75000"/>
                    <a:lumOff val="25000"/>
                    <a:alpha val="40000"/>
                  </a:schemeClr>
                </a:solidFill>
                <a:round/>
                <a:headEnd/>
                <a:tailEnd/>
              </a:ln>
            </p:spPr>
          </p:cxnSp>
          <p:cxnSp>
            <p:nvCxnSpPr>
              <p:cNvPr id="292" name="直接连接符 676"/>
              <p:cNvCxnSpPr>
                <a:stCxn id="290" idx="4"/>
                <a:endCxn id="287" idx="1"/>
              </p:cNvCxnSpPr>
              <p:nvPr/>
            </p:nvCxnSpPr>
            <p:spPr bwMode="auto">
              <a:xfrm>
                <a:off x="6745659" y="3707165"/>
                <a:ext cx="165107" cy="327412"/>
              </a:xfrm>
              <a:prstGeom prst="line">
                <a:avLst/>
              </a:prstGeom>
              <a:grpFill/>
              <a:ln w="9525">
                <a:solidFill>
                  <a:schemeClr val="tx1">
                    <a:lumMod val="75000"/>
                    <a:lumOff val="25000"/>
                    <a:alpha val="40000"/>
                  </a:schemeClr>
                </a:solidFill>
                <a:round/>
                <a:headEnd/>
                <a:tailEnd/>
              </a:ln>
            </p:spPr>
          </p:cxnSp>
          <p:cxnSp>
            <p:nvCxnSpPr>
              <p:cNvPr id="293" name="直接连接符 677"/>
              <p:cNvCxnSpPr>
                <a:stCxn id="287" idx="6"/>
                <a:endCxn id="289" idx="2"/>
              </p:cNvCxnSpPr>
              <p:nvPr/>
            </p:nvCxnSpPr>
            <p:spPr bwMode="auto">
              <a:xfrm flipV="1">
                <a:off x="7033691" y="4047631"/>
                <a:ext cx="313184" cy="34375"/>
              </a:xfrm>
              <a:prstGeom prst="line">
                <a:avLst/>
              </a:prstGeom>
              <a:grpFill/>
              <a:ln w="9525">
                <a:solidFill>
                  <a:schemeClr val="tx1">
                    <a:lumMod val="75000"/>
                    <a:lumOff val="25000"/>
                    <a:alpha val="40000"/>
                  </a:schemeClr>
                </a:solidFill>
                <a:round/>
                <a:headEnd/>
                <a:tailEnd/>
              </a:ln>
            </p:spPr>
          </p:cxnSp>
          <p:cxnSp>
            <p:nvCxnSpPr>
              <p:cNvPr id="294" name="直接连接符 678"/>
              <p:cNvCxnSpPr>
                <a:stCxn id="289" idx="0"/>
                <a:endCxn id="288" idx="4"/>
              </p:cNvCxnSpPr>
              <p:nvPr/>
            </p:nvCxnSpPr>
            <p:spPr bwMode="auto">
              <a:xfrm flipV="1">
                <a:off x="7418883" y="3658907"/>
                <a:ext cx="132141" cy="321649"/>
              </a:xfrm>
              <a:prstGeom prst="line">
                <a:avLst/>
              </a:prstGeom>
              <a:grpFill/>
              <a:ln w="9525">
                <a:solidFill>
                  <a:schemeClr val="tx1">
                    <a:lumMod val="75000"/>
                    <a:lumOff val="25000"/>
                    <a:alpha val="40000"/>
                  </a:schemeClr>
                </a:solidFill>
                <a:round/>
                <a:headEnd/>
                <a:tailEnd/>
              </a:ln>
            </p:spPr>
          </p:cxnSp>
          <p:cxnSp>
            <p:nvCxnSpPr>
              <p:cNvPr id="295" name="直接连接符 679"/>
              <p:cNvCxnSpPr>
                <a:stCxn id="288" idx="1"/>
                <a:endCxn id="286" idx="5"/>
              </p:cNvCxnSpPr>
              <p:nvPr/>
            </p:nvCxnSpPr>
            <p:spPr bwMode="auto">
              <a:xfrm flipH="1" flipV="1">
                <a:off x="7156616" y="3303646"/>
                <a:ext cx="343491" cy="240758"/>
              </a:xfrm>
              <a:prstGeom prst="line">
                <a:avLst/>
              </a:prstGeom>
              <a:grpFill/>
              <a:ln w="9525">
                <a:solidFill>
                  <a:schemeClr val="tx1">
                    <a:lumMod val="75000"/>
                    <a:lumOff val="25000"/>
                    <a:alpha val="40000"/>
                  </a:schemeClr>
                </a:solidFill>
                <a:round/>
                <a:headEnd/>
                <a:tailEnd/>
              </a:ln>
            </p:spPr>
          </p:cxnSp>
          <p:cxnSp>
            <p:nvCxnSpPr>
              <p:cNvPr id="296" name="直接连接符 680"/>
              <p:cNvCxnSpPr>
                <a:stCxn id="288" idx="2"/>
                <a:endCxn id="290" idx="5"/>
              </p:cNvCxnSpPr>
              <p:nvPr/>
            </p:nvCxnSpPr>
            <p:spPr bwMode="auto">
              <a:xfrm flipH="1">
                <a:off x="6796576" y="3591833"/>
                <a:ext cx="682440" cy="95686"/>
              </a:xfrm>
              <a:prstGeom prst="line">
                <a:avLst/>
              </a:prstGeom>
              <a:grpFill/>
              <a:ln w="9525">
                <a:solidFill>
                  <a:schemeClr val="tx1">
                    <a:lumMod val="75000"/>
                    <a:lumOff val="25000"/>
                    <a:alpha val="40000"/>
                  </a:schemeClr>
                </a:solidFill>
                <a:round/>
                <a:headEnd/>
                <a:tailEnd/>
              </a:ln>
            </p:spPr>
          </p:cxnSp>
          <p:cxnSp>
            <p:nvCxnSpPr>
              <p:cNvPr id="297" name="直接连接符 681"/>
              <p:cNvCxnSpPr>
                <a:stCxn id="288" idx="3"/>
                <a:endCxn id="287" idx="7"/>
              </p:cNvCxnSpPr>
              <p:nvPr/>
            </p:nvCxnSpPr>
            <p:spPr bwMode="auto">
              <a:xfrm flipH="1">
                <a:off x="7012600" y="3639261"/>
                <a:ext cx="487507" cy="395316"/>
              </a:xfrm>
              <a:prstGeom prst="line">
                <a:avLst/>
              </a:prstGeom>
              <a:grpFill/>
              <a:ln w="9525">
                <a:solidFill>
                  <a:schemeClr val="tx1">
                    <a:lumMod val="75000"/>
                    <a:lumOff val="25000"/>
                    <a:alpha val="40000"/>
                  </a:schemeClr>
                </a:solidFill>
                <a:round/>
                <a:headEnd/>
                <a:tailEnd/>
              </a:ln>
            </p:spPr>
          </p:cxnSp>
          <p:cxnSp>
            <p:nvCxnSpPr>
              <p:cNvPr id="298" name="直接连接符 682"/>
              <p:cNvCxnSpPr>
                <a:stCxn id="286" idx="4"/>
                <a:endCxn id="289" idx="1"/>
              </p:cNvCxnSpPr>
              <p:nvPr/>
            </p:nvCxnSpPr>
            <p:spPr bwMode="auto">
              <a:xfrm>
                <a:off x="7105699" y="3323292"/>
                <a:ext cx="262267" cy="676910"/>
              </a:xfrm>
              <a:prstGeom prst="line">
                <a:avLst/>
              </a:prstGeom>
              <a:grpFill/>
              <a:ln w="9525">
                <a:solidFill>
                  <a:schemeClr val="tx1">
                    <a:lumMod val="75000"/>
                    <a:lumOff val="25000"/>
                    <a:alpha val="40000"/>
                  </a:schemeClr>
                </a:solidFill>
                <a:round/>
                <a:headEnd/>
                <a:tailEnd/>
              </a:ln>
            </p:spPr>
          </p:cxnSp>
          <p:cxnSp>
            <p:nvCxnSpPr>
              <p:cNvPr id="299" name="直接连接符 683"/>
              <p:cNvCxnSpPr>
                <a:stCxn id="286" idx="4"/>
                <a:endCxn id="287" idx="7"/>
              </p:cNvCxnSpPr>
              <p:nvPr/>
            </p:nvCxnSpPr>
            <p:spPr bwMode="auto">
              <a:xfrm flipH="1">
                <a:off x="7012600" y="3323292"/>
                <a:ext cx="93099" cy="711285"/>
              </a:xfrm>
              <a:prstGeom prst="line">
                <a:avLst/>
              </a:prstGeom>
              <a:grpFill/>
              <a:ln w="9525">
                <a:solidFill>
                  <a:schemeClr val="tx1">
                    <a:lumMod val="75000"/>
                    <a:lumOff val="25000"/>
                    <a:alpha val="40000"/>
                  </a:schemeClr>
                </a:solidFill>
                <a:round/>
                <a:headEnd/>
                <a:tailEnd/>
              </a:ln>
            </p:spPr>
          </p:cxnSp>
          <p:cxnSp>
            <p:nvCxnSpPr>
              <p:cNvPr id="300" name="直接连接符 684"/>
              <p:cNvCxnSpPr>
                <a:stCxn id="290" idx="5"/>
                <a:endCxn id="289" idx="2"/>
              </p:cNvCxnSpPr>
              <p:nvPr/>
            </p:nvCxnSpPr>
            <p:spPr bwMode="auto">
              <a:xfrm>
                <a:off x="6796576" y="3687519"/>
                <a:ext cx="550299" cy="360112"/>
              </a:xfrm>
              <a:prstGeom prst="line">
                <a:avLst/>
              </a:prstGeom>
              <a:grpFill/>
              <a:ln w="9525">
                <a:solidFill>
                  <a:schemeClr val="tx1">
                    <a:lumMod val="75000"/>
                    <a:lumOff val="25000"/>
                    <a:alpha val="40000"/>
                  </a:schemeClr>
                </a:solidFill>
                <a:round/>
                <a:headEnd/>
                <a:tailEnd/>
              </a:ln>
            </p:spPr>
          </p:cxnSp>
        </p:grpSp>
        <p:sp>
          <p:nvSpPr>
            <p:cNvPr id="301" name="椭圆 670"/>
            <p:cNvSpPr/>
            <p:nvPr/>
          </p:nvSpPr>
          <p:spPr bwMode="auto">
            <a:xfrm rot="336509">
              <a:off x="5721883" y="1638918"/>
              <a:ext cx="175734" cy="155041"/>
            </a:xfrm>
            <a:prstGeom prst="ellipse">
              <a:avLst/>
            </a:prstGeom>
            <a:solidFill>
              <a:schemeClr val="bg2">
                <a:lumMod val="50000"/>
              </a:schemeClr>
            </a:solid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302" name="椭圆 670"/>
            <p:cNvSpPr/>
            <p:nvPr/>
          </p:nvSpPr>
          <p:spPr bwMode="auto">
            <a:xfrm rot="336509">
              <a:off x="5693017" y="3342525"/>
              <a:ext cx="175734" cy="155041"/>
            </a:xfrm>
            <a:prstGeom prst="ellipse">
              <a:avLst/>
            </a:prstGeom>
            <a:solidFill>
              <a:schemeClr val="bg2">
                <a:lumMod val="50000"/>
              </a:schemeClr>
            </a:solid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303" name="椭圆 302"/>
            <p:cNvSpPr/>
            <p:nvPr/>
          </p:nvSpPr>
          <p:spPr>
            <a:xfrm>
              <a:off x="5397826" y="2143422"/>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1</a:t>
              </a:r>
              <a:endParaRPr lang="zh-CN" altLang="en-US" sz="1400" dirty="0">
                <a:solidFill>
                  <a:prstClr val="white"/>
                </a:solidFill>
                <a:cs typeface="+mn-ea"/>
                <a:sym typeface="+mn-lt"/>
              </a:endParaRPr>
            </a:p>
          </p:txBody>
        </p:sp>
        <p:sp>
          <p:nvSpPr>
            <p:cNvPr id="304" name="椭圆 303"/>
            <p:cNvSpPr/>
            <p:nvPr/>
          </p:nvSpPr>
          <p:spPr>
            <a:xfrm>
              <a:off x="5050402" y="2483054"/>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2</a:t>
              </a:r>
              <a:endParaRPr lang="zh-CN" altLang="en-US" sz="1400" dirty="0">
                <a:solidFill>
                  <a:prstClr val="white"/>
                </a:solidFill>
                <a:cs typeface="+mn-ea"/>
                <a:sym typeface="+mn-lt"/>
              </a:endParaRPr>
            </a:p>
          </p:txBody>
        </p:sp>
        <p:sp>
          <p:nvSpPr>
            <p:cNvPr id="305" name="椭圆 304"/>
            <p:cNvSpPr/>
            <p:nvPr/>
          </p:nvSpPr>
          <p:spPr>
            <a:xfrm>
              <a:off x="5259769" y="3043054"/>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3</a:t>
              </a:r>
              <a:endParaRPr lang="zh-CN" altLang="en-US" sz="1400" dirty="0">
                <a:solidFill>
                  <a:prstClr val="white"/>
                </a:solidFill>
                <a:cs typeface="+mn-ea"/>
                <a:sym typeface="+mn-lt"/>
              </a:endParaRPr>
            </a:p>
          </p:txBody>
        </p:sp>
        <p:sp>
          <p:nvSpPr>
            <p:cNvPr id="306" name="椭圆 305"/>
            <p:cNvSpPr/>
            <p:nvPr/>
          </p:nvSpPr>
          <p:spPr>
            <a:xfrm>
              <a:off x="5661798" y="2755674"/>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4</a:t>
              </a:r>
              <a:endParaRPr lang="zh-CN" altLang="en-US" sz="1400" dirty="0">
                <a:solidFill>
                  <a:prstClr val="white"/>
                </a:solidFill>
                <a:cs typeface="+mn-ea"/>
                <a:sym typeface="+mn-lt"/>
              </a:endParaRPr>
            </a:p>
          </p:txBody>
        </p:sp>
        <p:cxnSp>
          <p:nvCxnSpPr>
            <p:cNvPr id="307" name="直接连接符 306"/>
            <p:cNvCxnSpPr>
              <a:stCxn id="301" idx="4"/>
              <a:endCxn id="286" idx="0"/>
            </p:cNvCxnSpPr>
            <p:nvPr/>
          </p:nvCxnSpPr>
          <p:spPr>
            <a:xfrm>
              <a:off x="5801600" y="1793588"/>
              <a:ext cx="3257" cy="23711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直接连接符 307"/>
            <p:cNvCxnSpPr>
              <a:endCxn id="302" idx="1"/>
            </p:cNvCxnSpPr>
            <p:nvPr/>
          </p:nvCxnSpPr>
          <p:spPr>
            <a:xfrm>
              <a:off x="5510222" y="2849937"/>
              <a:ext cx="214591" cy="50991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直接连接符 308"/>
            <p:cNvCxnSpPr>
              <a:endCxn id="302" idx="7"/>
            </p:cNvCxnSpPr>
            <p:nvPr/>
          </p:nvCxnSpPr>
          <p:spPr>
            <a:xfrm flipH="1">
              <a:off x="5848481" y="2887502"/>
              <a:ext cx="156907" cy="483634"/>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直接连接符 309"/>
            <p:cNvCxnSpPr/>
            <p:nvPr/>
          </p:nvCxnSpPr>
          <p:spPr bwMode="auto">
            <a:xfrm>
              <a:off x="4249077" y="3784155"/>
              <a:ext cx="2887285" cy="3815"/>
            </a:xfrm>
            <a:prstGeom prst="line">
              <a:avLst/>
            </a:prstGeom>
            <a:noFill/>
            <a:ln w="9525" cap="flat" cmpd="sng" algn="ctr">
              <a:solidFill>
                <a:schemeClr val="tx1"/>
              </a:solidFill>
              <a:prstDash val="solid"/>
              <a:round/>
              <a:headEnd type="none" w="med" len="med"/>
              <a:tailEnd type="none" w="med" len="med"/>
            </a:ln>
            <a:effectLst/>
          </p:spPr>
        </p:cxnSp>
        <p:cxnSp>
          <p:nvCxnSpPr>
            <p:cNvPr id="311" name="直接连接符 310"/>
            <p:cNvCxnSpPr/>
            <p:nvPr/>
          </p:nvCxnSpPr>
          <p:spPr bwMode="auto">
            <a:xfrm>
              <a:off x="4696993" y="3467749"/>
              <a:ext cx="0" cy="1846824"/>
            </a:xfrm>
            <a:prstGeom prst="line">
              <a:avLst/>
            </a:prstGeom>
            <a:noFill/>
            <a:ln w="9525" cap="flat" cmpd="sng" algn="ctr">
              <a:solidFill>
                <a:schemeClr val="tx1"/>
              </a:solidFill>
              <a:prstDash val="solid"/>
              <a:round/>
              <a:headEnd type="none" w="med" len="med"/>
              <a:tailEnd type="none" w="med" len="med"/>
            </a:ln>
            <a:effectLst/>
          </p:spPr>
        </p:cxnSp>
        <p:sp>
          <p:nvSpPr>
            <p:cNvPr id="312" name="椭圆 311"/>
            <p:cNvSpPr/>
            <p:nvPr/>
          </p:nvSpPr>
          <p:spPr>
            <a:xfrm>
              <a:off x="4346228" y="4197410"/>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2</a:t>
              </a:r>
              <a:endParaRPr lang="zh-CN" altLang="en-US" sz="1400" dirty="0">
                <a:solidFill>
                  <a:prstClr val="white"/>
                </a:solidFill>
                <a:cs typeface="+mn-ea"/>
                <a:sym typeface="+mn-lt"/>
              </a:endParaRPr>
            </a:p>
          </p:txBody>
        </p:sp>
        <p:sp>
          <p:nvSpPr>
            <p:cNvPr id="313" name="文本框 312"/>
            <p:cNvSpPr txBox="1"/>
            <p:nvPr/>
          </p:nvSpPr>
          <p:spPr>
            <a:xfrm>
              <a:off x="4672524" y="4135726"/>
              <a:ext cx="1957433" cy="431414"/>
            </a:xfrm>
            <a:prstGeom prst="rect">
              <a:avLst/>
            </a:prstGeom>
            <a:noFill/>
          </p:spPr>
          <p:txBody>
            <a:bodyPr wrap="square" rtlCol="0">
              <a:spAutoFit/>
            </a:bodyPr>
            <a:lstStyle/>
            <a:p>
              <a:r>
                <a:rPr lang="en-US" sz="1200" dirty="0">
                  <a:solidFill>
                    <a:prstClr val="black"/>
                  </a:solidFill>
                </a:rPr>
                <a:t>SRv6 Mid</a:t>
              </a:r>
              <a:r>
                <a:rPr lang="en-US" altLang="zh-CN" sz="1200" dirty="0">
                  <a:solidFill>
                    <a:prstClr val="black"/>
                  </a:solidFill>
                </a:rPr>
                <a:t>p</a:t>
              </a:r>
              <a:r>
                <a:rPr lang="en-US" sz="1200" dirty="0">
                  <a:solidFill>
                    <a:prstClr val="black"/>
                  </a:solidFill>
                </a:rPr>
                <a:t>oint </a:t>
              </a:r>
            </a:p>
            <a:p>
              <a:r>
                <a:rPr lang="en-US" altLang="zh-CN" sz="1200" dirty="0">
                  <a:solidFill>
                    <a:prstClr val="black"/>
                  </a:solidFill>
                </a:rPr>
                <a:t>protection</a:t>
              </a:r>
              <a:endParaRPr lang="en-US" sz="1200" dirty="0">
                <a:solidFill>
                  <a:prstClr val="black"/>
                </a:solidFill>
              </a:endParaRPr>
            </a:p>
          </p:txBody>
        </p:sp>
        <p:sp>
          <p:nvSpPr>
            <p:cNvPr id="314" name="文本框 313"/>
            <p:cNvSpPr txBox="1"/>
            <p:nvPr/>
          </p:nvSpPr>
          <p:spPr>
            <a:xfrm>
              <a:off x="5937344" y="4206796"/>
              <a:ext cx="562707" cy="258848"/>
            </a:xfrm>
            <a:prstGeom prst="rect">
              <a:avLst/>
            </a:prstGeom>
            <a:noFill/>
          </p:spPr>
          <p:txBody>
            <a:bodyPr wrap="none" rtlCol="0">
              <a:spAutoFit/>
            </a:bodyPr>
            <a:lstStyle>
              <a:defPPr>
                <a:defRPr lang="zh-CN"/>
              </a:defPPr>
              <a:lvl1pPr>
                <a:defRPr sz="1200"/>
              </a:lvl1pPr>
            </a:lstStyle>
            <a:p>
              <a:r>
                <a:rPr lang="en-US" dirty="0">
                  <a:solidFill>
                    <a:prstClr val="black"/>
                  </a:solidFill>
                </a:rPr>
                <a:t>50ms</a:t>
              </a:r>
            </a:p>
          </p:txBody>
        </p:sp>
        <p:sp>
          <p:nvSpPr>
            <p:cNvPr id="315" name="椭圆 314"/>
            <p:cNvSpPr/>
            <p:nvPr/>
          </p:nvSpPr>
          <p:spPr>
            <a:xfrm>
              <a:off x="4346227" y="4607207"/>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3</a:t>
              </a:r>
              <a:endParaRPr lang="zh-CN" altLang="en-US" sz="1400" dirty="0">
                <a:solidFill>
                  <a:prstClr val="white"/>
                </a:solidFill>
                <a:cs typeface="+mn-ea"/>
                <a:sym typeface="+mn-lt"/>
              </a:endParaRPr>
            </a:p>
          </p:txBody>
        </p:sp>
        <p:sp>
          <p:nvSpPr>
            <p:cNvPr id="316" name="文本框 315"/>
            <p:cNvSpPr txBox="1"/>
            <p:nvPr/>
          </p:nvSpPr>
          <p:spPr>
            <a:xfrm>
              <a:off x="4666393" y="4560274"/>
              <a:ext cx="1009070" cy="431414"/>
            </a:xfrm>
            <a:prstGeom prst="rect">
              <a:avLst/>
            </a:prstGeom>
            <a:noFill/>
          </p:spPr>
          <p:txBody>
            <a:bodyPr wrap="none" rtlCol="0">
              <a:spAutoFit/>
            </a:bodyPr>
            <a:lstStyle/>
            <a:p>
              <a:r>
                <a:rPr lang="en-US" sz="1200" dirty="0">
                  <a:solidFill>
                    <a:prstClr val="black"/>
                  </a:solidFill>
                </a:rPr>
                <a:t>SRv6 Mirror</a:t>
              </a:r>
            </a:p>
            <a:p>
              <a:r>
                <a:rPr lang="en-US" altLang="zh-CN" sz="1200" dirty="0">
                  <a:solidFill>
                    <a:prstClr val="black"/>
                  </a:solidFill>
                </a:rPr>
                <a:t>protection</a:t>
              </a:r>
            </a:p>
          </p:txBody>
        </p:sp>
        <p:sp>
          <p:nvSpPr>
            <p:cNvPr id="317" name="文本框 316"/>
            <p:cNvSpPr txBox="1"/>
            <p:nvPr/>
          </p:nvSpPr>
          <p:spPr>
            <a:xfrm>
              <a:off x="5937344" y="4615012"/>
              <a:ext cx="562707" cy="258848"/>
            </a:xfrm>
            <a:prstGeom prst="rect">
              <a:avLst/>
            </a:prstGeom>
            <a:noFill/>
          </p:spPr>
          <p:txBody>
            <a:bodyPr wrap="none" rtlCol="0">
              <a:spAutoFit/>
            </a:bodyPr>
            <a:lstStyle/>
            <a:p>
              <a:r>
                <a:rPr lang="en-US" sz="1200" dirty="0">
                  <a:solidFill>
                    <a:prstClr val="black"/>
                  </a:solidFill>
                </a:rPr>
                <a:t>50ms</a:t>
              </a:r>
            </a:p>
          </p:txBody>
        </p:sp>
        <p:cxnSp>
          <p:nvCxnSpPr>
            <p:cNvPr id="318" name="直接连接符 317"/>
            <p:cNvCxnSpPr/>
            <p:nvPr/>
          </p:nvCxnSpPr>
          <p:spPr bwMode="auto">
            <a:xfrm flipV="1">
              <a:off x="4265918" y="5316284"/>
              <a:ext cx="2870445" cy="1326"/>
            </a:xfrm>
            <a:prstGeom prst="line">
              <a:avLst/>
            </a:prstGeom>
            <a:noFill/>
            <a:ln w="9525" cap="flat" cmpd="sng" algn="ctr">
              <a:solidFill>
                <a:schemeClr val="tx1"/>
              </a:solidFill>
              <a:prstDash val="solid"/>
              <a:round/>
              <a:headEnd type="none" w="med" len="med"/>
              <a:tailEnd type="none" w="med" len="med"/>
            </a:ln>
            <a:effectLst/>
          </p:spPr>
        </p:cxnSp>
        <p:sp>
          <p:nvSpPr>
            <p:cNvPr id="319" name="椭圆 318"/>
            <p:cNvSpPr/>
            <p:nvPr/>
          </p:nvSpPr>
          <p:spPr>
            <a:xfrm>
              <a:off x="4345613" y="4978375"/>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4</a:t>
              </a:r>
              <a:endParaRPr lang="zh-CN" altLang="en-US" sz="1400" dirty="0">
                <a:solidFill>
                  <a:prstClr val="white"/>
                </a:solidFill>
                <a:cs typeface="+mn-ea"/>
                <a:sym typeface="+mn-lt"/>
              </a:endParaRPr>
            </a:p>
          </p:txBody>
        </p:sp>
        <p:sp>
          <p:nvSpPr>
            <p:cNvPr id="320" name="文本框 319"/>
            <p:cNvSpPr txBox="1"/>
            <p:nvPr/>
          </p:nvSpPr>
          <p:spPr>
            <a:xfrm>
              <a:off x="4666682" y="3826560"/>
              <a:ext cx="1068692" cy="258848"/>
            </a:xfrm>
            <a:prstGeom prst="rect">
              <a:avLst/>
            </a:prstGeom>
            <a:noFill/>
          </p:spPr>
          <p:txBody>
            <a:bodyPr wrap="none" rtlCol="0">
              <a:spAutoFit/>
            </a:bodyPr>
            <a:lstStyle/>
            <a:p>
              <a:r>
                <a:rPr lang="en-US" sz="1200" dirty="0">
                  <a:solidFill>
                    <a:prstClr val="black"/>
                  </a:solidFill>
                </a:rPr>
                <a:t>SRv6 TI-LFA</a:t>
              </a:r>
            </a:p>
          </p:txBody>
        </p:sp>
        <p:sp>
          <p:nvSpPr>
            <p:cNvPr id="321" name="椭圆 320"/>
            <p:cNvSpPr/>
            <p:nvPr/>
          </p:nvSpPr>
          <p:spPr>
            <a:xfrm>
              <a:off x="4346229" y="3813468"/>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1</a:t>
              </a:r>
              <a:endParaRPr lang="zh-CN" altLang="en-US" sz="1400" dirty="0">
                <a:solidFill>
                  <a:prstClr val="white"/>
                </a:solidFill>
                <a:cs typeface="+mn-ea"/>
                <a:sym typeface="+mn-lt"/>
              </a:endParaRPr>
            </a:p>
          </p:txBody>
        </p:sp>
        <p:sp>
          <p:nvSpPr>
            <p:cNvPr id="322" name="文本框 321"/>
            <p:cNvSpPr txBox="1"/>
            <p:nvPr/>
          </p:nvSpPr>
          <p:spPr>
            <a:xfrm>
              <a:off x="5025647" y="3510537"/>
              <a:ext cx="546593" cy="287610"/>
            </a:xfrm>
            <a:prstGeom prst="rect">
              <a:avLst/>
            </a:prstGeom>
            <a:noFill/>
          </p:spPr>
          <p:txBody>
            <a:bodyPr wrap="none" rtlCol="0">
              <a:spAutoFit/>
            </a:bodyPr>
            <a:lstStyle/>
            <a:p>
              <a:r>
                <a:rPr lang="zh-CN" altLang="en-US" sz="1400" dirty="0">
                  <a:solidFill>
                    <a:prstClr val="black"/>
                  </a:solidFill>
                  <a:latin typeface="微软雅黑" panose="020B0503020204020204" pitchFamily="34" charset="-122"/>
                  <a:ea typeface="微软雅黑" panose="020B0503020204020204" pitchFamily="34" charset="-122"/>
                </a:rPr>
                <a:t>技术</a:t>
              </a:r>
              <a:endParaRPr lang="en-US" sz="1400" dirty="0">
                <a:solidFill>
                  <a:prstClr val="black"/>
                </a:solidFill>
                <a:latin typeface="微软雅黑" panose="020B0503020204020204" pitchFamily="34" charset="-122"/>
                <a:ea typeface="微软雅黑" panose="020B0503020204020204" pitchFamily="34" charset="-122"/>
              </a:endParaRPr>
            </a:p>
          </p:txBody>
        </p:sp>
        <p:cxnSp>
          <p:nvCxnSpPr>
            <p:cNvPr id="323" name="直接连接符 322"/>
            <p:cNvCxnSpPr/>
            <p:nvPr/>
          </p:nvCxnSpPr>
          <p:spPr bwMode="auto">
            <a:xfrm flipH="1">
              <a:off x="5905801" y="3504331"/>
              <a:ext cx="0" cy="1810242"/>
            </a:xfrm>
            <a:prstGeom prst="line">
              <a:avLst/>
            </a:prstGeom>
            <a:noFill/>
            <a:ln w="9525" cap="flat" cmpd="sng" algn="ctr">
              <a:solidFill>
                <a:schemeClr val="tx1"/>
              </a:solidFill>
              <a:prstDash val="solid"/>
              <a:round/>
              <a:headEnd type="none" w="med" len="med"/>
              <a:tailEnd type="none" w="med" len="med"/>
            </a:ln>
            <a:effectLst/>
          </p:spPr>
        </p:cxnSp>
        <p:sp>
          <p:nvSpPr>
            <p:cNvPr id="324" name="文本框 323"/>
            <p:cNvSpPr txBox="1"/>
            <p:nvPr/>
          </p:nvSpPr>
          <p:spPr>
            <a:xfrm>
              <a:off x="5905801" y="3518366"/>
              <a:ext cx="578563" cy="287610"/>
            </a:xfrm>
            <a:prstGeom prst="rect">
              <a:avLst/>
            </a:prstGeom>
            <a:noFill/>
          </p:spPr>
          <p:txBody>
            <a:bodyPr wrap="none" rtlCol="0">
              <a:spAutoFit/>
            </a:bodyPr>
            <a:lstStyle/>
            <a:p>
              <a:r>
                <a:rPr lang="en-US" sz="1400" dirty="0">
                  <a:solidFill>
                    <a:prstClr val="black"/>
                  </a:solidFill>
                </a:rPr>
                <a:t>Time</a:t>
              </a:r>
            </a:p>
          </p:txBody>
        </p:sp>
        <p:cxnSp>
          <p:nvCxnSpPr>
            <p:cNvPr id="325" name="直接连接符 324"/>
            <p:cNvCxnSpPr/>
            <p:nvPr/>
          </p:nvCxnSpPr>
          <p:spPr bwMode="auto">
            <a:xfrm>
              <a:off x="6484889" y="3560523"/>
              <a:ext cx="15162" cy="1760113"/>
            </a:xfrm>
            <a:prstGeom prst="line">
              <a:avLst/>
            </a:prstGeom>
            <a:noFill/>
            <a:ln w="9525" cap="flat" cmpd="sng" algn="ctr">
              <a:solidFill>
                <a:schemeClr val="tx1"/>
              </a:solidFill>
              <a:prstDash val="solid"/>
              <a:round/>
              <a:headEnd type="none" w="med" len="med"/>
              <a:tailEnd type="none" w="med" len="med"/>
            </a:ln>
            <a:effectLst/>
          </p:spPr>
        </p:cxnSp>
        <p:sp>
          <p:nvSpPr>
            <p:cNvPr id="326" name="文本框 325"/>
            <p:cNvSpPr txBox="1"/>
            <p:nvPr/>
          </p:nvSpPr>
          <p:spPr>
            <a:xfrm>
              <a:off x="5907136" y="3841959"/>
              <a:ext cx="562707" cy="258848"/>
            </a:xfrm>
            <a:prstGeom prst="rect">
              <a:avLst/>
            </a:prstGeom>
            <a:noFill/>
          </p:spPr>
          <p:txBody>
            <a:bodyPr wrap="none" rtlCol="0">
              <a:spAutoFit/>
            </a:bodyPr>
            <a:lstStyle/>
            <a:p>
              <a:r>
                <a:rPr lang="en-US" sz="1200" dirty="0">
                  <a:solidFill>
                    <a:prstClr val="black"/>
                  </a:solidFill>
                </a:rPr>
                <a:t>50ms</a:t>
              </a:r>
            </a:p>
          </p:txBody>
        </p:sp>
        <p:sp>
          <p:nvSpPr>
            <p:cNvPr id="327" name="文本框 326"/>
            <p:cNvSpPr txBox="1"/>
            <p:nvPr/>
          </p:nvSpPr>
          <p:spPr>
            <a:xfrm>
              <a:off x="6004233" y="5001088"/>
              <a:ext cx="271041" cy="258848"/>
            </a:xfrm>
            <a:prstGeom prst="rect">
              <a:avLst/>
            </a:prstGeom>
            <a:noFill/>
          </p:spPr>
          <p:txBody>
            <a:bodyPr wrap="none" rtlCol="0">
              <a:spAutoFit/>
            </a:bodyPr>
            <a:lstStyle/>
            <a:p>
              <a:r>
                <a:rPr lang="en-US" sz="1200" dirty="0">
                  <a:solidFill>
                    <a:prstClr val="black"/>
                  </a:solidFill>
                </a:rPr>
                <a:t>0</a:t>
              </a:r>
            </a:p>
          </p:txBody>
        </p:sp>
        <p:cxnSp>
          <p:nvCxnSpPr>
            <p:cNvPr id="328" name="直接箭头连接符 327"/>
            <p:cNvCxnSpPr/>
            <p:nvPr/>
          </p:nvCxnSpPr>
          <p:spPr bwMode="auto">
            <a:xfrm>
              <a:off x="6637985" y="3770884"/>
              <a:ext cx="0" cy="1533455"/>
            </a:xfrm>
            <a:prstGeom prst="straightConnector1">
              <a:avLst/>
            </a:prstGeom>
            <a:noFill/>
            <a:ln w="9525" cap="flat" cmpd="sng" algn="ctr">
              <a:solidFill>
                <a:schemeClr val="tx1"/>
              </a:solidFill>
              <a:prstDash val="solid"/>
              <a:round/>
              <a:headEnd type="triangle"/>
              <a:tailEnd type="triangle"/>
            </a:ln>
            <a:effectLst/>
          </p:spPr>
        </p:cxnSp>
        <p:sp>
          <p:nvSpPr>
            <p:cNvPr id="329" name="文本框 328"/>
            <p:cNvSpPr txBox="1"/>
            <p:nvPr/>
          </p:nvSpPr>
          <p:spPr>
            <a:xfrm>
              <a:off x="6591983" y="4384073"/>
              <a:ext cx="780249" cy="287610"/>
            </a:xfrm>
            <a:prstGeom prst="rect">
              <a:avLst/>
            </a:prstGeom>
            <a:noFill/>
          </p:spPr>
          <p:txBody>
            <a:bodyPr wrap="none" rtlCol="0">
              <a:spAutoFit/>
            </a:bodyPr>
            <a:lstStyle/>
            <a:p>
              <a:r>
                <a:rPr lang="en-US" sz="1400" dirty="0">
                  <a:solidFill>
                    <a:prstClr val="black"/>
                  </a:solidFill>
                </a:rPr>
                <a:t>&lt; 50ms</a:t>
              </a:r>
            </a:p>
          </p:txBody>
        </p:sp>
        <p:cxnSp>
          <p:nvCxnSpPr>
            <p:cNvPr id="330" name="直接连接符 329"/>
            <p:cNvCxnSpPr/>
            <p:nvPr/>
          </p:nvCxnSpPr>
          <p:spPr bwMode="auto">
            <a:xfrm>
              <a:off x="4234992" y="4118827"/>
              <a:ext cx="2265059" cy="0"/>
            </a:xfrm>
            <a:prstGeom prst="line">
              <a:avLst/>
            </a:prstGeom>
            <a:noFill/>
            <a:ln w="9525" cap="flat" cmpd="sng" algn="ctr">
              <a:solidFill>
                <a:schemeClr val="tx1"/>
              </a:solidFill>
              <a:prstDash val="solid"/>
              <a:round/>
              <a:headEnd type="none" w="med" len="med"/>
              <a:tailEnd type="none" w="med" len="med"/>
            </a:ln>
            <a:effectLst/>
          </p:spPr>
        </p:cxnSp>
        <p:cxnSp>
          <p:nvCxnSpPr>
            <p:cNvPr id="331" name="直接连接符 330"/>
            <p:cNvCxnSpPr/>
            <p:nvPr/>
          </p:nvCxnSpPr>
          <p:spPr bwMode="auto">
            <a:xfrm flipV="1">
              <a:off x="4234992" y="4540944"/>
              <a:ext cx="2265059" cy="3613"/>
            </a:xfrm>
            <a:prstGeom prst="line">
              <a:avLst/>
            </a:prstGeom>
            <a:noFill/>
            <a:ln w="9525" cap="flat" cmpd="sng" algn="ctr">
              <a:solidFill>
                <a:schemeClr val="tx1"/>
              </a:solidFill>
              <a:prstDash val="solid"/>
              <a:round/>
              <a:headEnd type="none" w="med" len="med"/>
              <a:tailEnd type="none" w="med" len="med"/>
            </a:ln>
            <a:effectLst/>
          </p:spPr>
        </p:cxnSp>
        <p:cxnSp>
          <p:nvCxnSpPr>
            <p:cNvPr id="332" name="直接连接符 331"/>
            <p:cNvCxnSpPr/>
            <p:nvPr/>
          </p:nvCxnSpPr>
          <p:spPr bwMode="auto">
            <a:xfrm>
              <a:off x="4234992" y="4959093"/>
              <a:ext cx="2265059" cy="0"/>
            </a:xfrm>
            <a:prstGeom prst="line">
              <a:avLst/>
            </a:prstGeom>
            <a:noFill/>
            <a:ln w="9525" cap="flat" cmpd="sng" algn="ctr">
              <a:solidFill>
                <a:schemeClr val="tx1"/>
              </a:solidFill>
              <a:prstDash val="solid"/>
              <a:round/>
              <a:headEnd type="none" w="med" len="med"/>
              <a:tailEnd type="none" w="med" len="med"/>
            </a:ln>
            <a:effectLst/>
          </p:spPr>
        </p:cxnSp>
        <p:sp>
          <p:nvSpPr>
            <p:cNvPr id="333" name="文本框 332"/>
            <p:cNvSpPr txBox="1"/>
            <p:nvPr/>
          </p:nvSpPr>
          <p:spPr>
            <a:xfrm>
              <a:off x="4663324" y="4943653"/>
              <a:ext cx="1273342" cy="431414"/>
            </a:xfrm>
            <a:prstGeom prst="rect">
              <a:avLst/>
            </a:prstGeom>
            <a:noFill/>
          </p:spPr>
          <p:txBody>
            <a:bodyPr wrap="none" rtlCol="0">
              <a:spAutoFit/>
            </a:bodyPr>
            <a:lstStyle/>
            <a:p>
              <a:r>
                <a:rPr lang="en-US" sz="1200" dirty="0">
                  <a:solidFill>
                    <a:prstClr val="black"/>
                  </a:solidFill>
                </a:rPr>
                <a:t>SRv6 </a:t>
              </a:r>
              <a:r>
                <a:rPr lang="en-US" sz="1200" dirty="0" err="1">
                  <a:solidFill>
                    <a:prstClr val="black"/>
                  </a:solidFill>
                </a:rPr>
                <a:t>microloop</a:t>
              </a:r>
              <a:endParaRPr lang="en-US" sz="1200" dirty="0">
                <a:solidFill>
                  <a:prstClr val="black"/>
                </a:solidFill>
              </a:endParaRPr>
            </a:p>
            <a:p>
              <a:r>
                <a:rPr lang="en-US" sz="1200" dirty="0">
                  <a:solidFill>
                    <a:prstClr val="black"/>
                  </a:solidFill>
                </a:rPr>
                <a:t>avoid</a:t>
              </a:r>
            </a:p>
          </p:txBody>
        </p:sp>
        <p:sp>
          <p:nvSpPr>
            <p:cNvPr id="334" name="矩形 333"/>
            <p:cNvSpPr/>
            <p:nvPr/>
          </p:nvSpPr>
          <p:spPr>
            <a:xfrm>
              <a:off x="8996889" y="4328832"/>
              <a:ext cx="1495161" cy="377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chorCtr="1"/>
            <a:lstStyle/>
            <a:p>
              <a:pPr algn="ctr">
                <a:lnSpc>
                  <a:spcPts val="3440"/>
                </a:lnSpc>
              </a:pPr>
              <a:r>
                <a:rPr lang="en-US" altLang="zh-CN" sz="1400" b="1" i="1" dirty="0">
                  <a:solidFill>
                    <a:srgbClr val="FFFFFF"/>
                  </a:solidFill>
                  <a:latin typeface="Arial" panose="020B0604020202020204" pitchFamily="34" charset="0"/>
                  <a:ea typeface="Microsoft YaHei" panose="020B0503020204020204" pitchFamily="34" charset="-122"/>
                  <a:sym typeface="Arial" panose="020B0604020202020204" pitchFamily="34" charset="0"/>
                </a:rPr>
                <a:t>SRv6 SFC</a:t>
              </a:r>
              <a:endParaRPr lang="zh-CN" altLang="en-US" sz="1400" b="1" i="1" dirty="0">
                <a:solidFill>
                  <a:srgbClr val="FFFFFF"/>
                </a:solidFill>
                <a:latin typeface="Arial" panose="020B0604020202020204" pitchFamily="34" charset="0"/>
                <a:ea typeface="Microsoft YaHei" panose="020B0503020204020204" pitchFamily="34" charset="-122"/>
                <a:sym typeface="Arial" panose="020B0604020202020204" pitchFamily="34" charset="0"/>
              </a:endParaRPr>
            </a:p>
          </p:txBody>
        </p:sp>
        <p:sp>
          <p:nvSpPr>
            <p:cNvPr id="335" name="文本框 334"/>
            <p:cNvSpPr txBox="1"/>
            <p:nvPr/>
          </p:nvSpPr>
          <p:spPr>
            <a:xfrm>
              <a:off x="7883588" y="4728532"/>
              <a:ext cx="3970737" cy="1794093"/>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无状态业务链</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：基于</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SRv6 Policy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提供路径编排能力，中间结点不需要维护业务链状态</a:t>
              </a:r>
              <a:endPar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endParaRPr>
            </a:p>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业务一次解析多次使用</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：业务深度识别，通过</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Metadata</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携带元属性信息，所有</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VAS</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都可使用</a:t>
              </a:r>
            </a:p>
          </p:txBody>
        </p:sp>
        <p:sp>
          <p:nvSpPr>
            <p:cNvPr id="336" name="矩形 335"/>
            <p:cNvSpPr/>
            <p:nvPr/>
          </p:nvSpPr>
          <p:spPr>
            <a:xfrm>
              <a:off x="4046569" y="5599545"/>
              <a:ext cx="714752" cy="305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AS-IS</a:t>
              </a:r>
              <a:endParaRPr lang="zh-CN" altLang="en-US" sz="1400" dirty="0">
                <a:solidFill>
                  <a:prstClr val="white"/>
                </a:solidFill>
              </a:endParaRPr>
            </a:p>
          </p:txBody>
        </p:sp>
        <p:sp>
          <p:nvSpPr>
            <p:cNvPr id="337" name="矩形 336"/>
            <p:cNvSpPr/>
            <p:nvPr/>
          </p:nvSpPr>
          <p:spPr>
            <a:xfrm>
              <a:off x="4012713" y="6304942"/>
              <a:ext cx="782464" cy="298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TO-BE</a:t>
              </a:r>
              <a:endParaRPr lang="zh-CN" altLang="en-US" sz="1400" dirty="0">
                <a:solidFill>
                  <a:prstClr val="white"/>
                </a:solidFill>
              </a:endParaRPr>
            </a:p>
          </p:txBody>
        </p:sp>
        <p:sp>
          <p:nvSpPr>
            <p:cNvPr id="338" name="文本框 337"/>
            <p:cNvSpPr txBox="1"/>
            <p:nvPr/>
          </p:nvSpPr>
          <p:spPr>
            <a:xfrm>
              <a:off x="4867122" y="5489574"/>
              <a:ext cx="2561847" cy="603980"/>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buFont typeface="Wingdings" panose="05000000000000000000" pitchFamily="2" charset="2"/>
                <a:buChar char="Ø"/>
              </a:pPr>
              <a:r>
                <a:rPr lang="zh-CN" altLang="en-US" dirty="0"/>
                <a:t>无</a:t>
              </a:r>
              <a:r>
                <a:rPr lang="en-US" altLang="zh-CN" dirty="0"/>
                <a:t>TE FRR</a:t>
              </a:r>
              <a:r>
                <a:rPr lang="zh-CN" altLang="en-US" dirty="0"/>
                <a:t>，</a:t>
              </a:r>
              <a:r>
                <a:rPr lang="en-US" altLang="zh-CN" dirty="0"/>
                <a:t>BFD</a:t>
              </a:r>
              <a:r>
                <a:rPr lang="zh-CN" altLang="en-US" dirty="0"/>
                <a:t>受限，平均倒换丢包时间大于</a:t>
              </a:r>
              <a:r>
                <a:rPr lang="en-US" altLang="zh-CN" dirty="0"/>
                <a:t>200ms</a:t>
              </a:r>
            </a:p>
          </p:txBody>
        </p:sp>
        <p:sp>
          <p:nvSpPr>
            <p:cNvPr id="339" name="文本框 338"/>
            <p:cNvSpPr txBox="1"/>
            <p:nvPr/>
          </p:nvSpPr>
          <p:spPr>
            <a:xfrm>
              <a:off x="4889674" y="6283934"/>
              <a:ext cx="2416034" cy="336392"/>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buFont typeface="Wingdings" panose="05000000000000000000" pitchFamily="2" charset="2"/>
                <a:buChar char="Ø"/>
              </a:pPr>
              <a:r>
                <a:rPr lang="zh-CN" altLang="en-US" dirty="0"/>
                <a:t>端到端</a:t>
              </a:r>
              <a:r>
                <a:rPr lang="en-US" altLang="zh-CN" dirty="0"/>
                <a:t>50ms</a:t>
              </a:r>
              <a:r>
                <a:rPr lang="zh-CN" altLang="en-US" dirty="0"/>
                <a:t>保护</a:t>
              </a:r>
              <a:endParaRPr lang="en-US" altLang="zh-CN" dirty="0"/>
            </a:p>
          </p:txBody>
        </p:sp>
        <p:sp>
          <p:nvSpPr>
            <p:cNvPr id="340" name="任意多边形 339"/>
            <p:cNvSpPr/>
            <p:nvPr/>
          </p:nvSpPr>
          <p:spPr>
            <a:xfrm>
              <a:off x="5095040" y="1614139"/>
              <a:ext cx="507025" cy="1916054"/>
            </a:xfrm>
            <a:custGeom>
              <a:avLst/>
              <a:gdLst>
                <a:gd name="connsiteX0" fmla="*/ 437219 w 504377"/>
                <a:gd name="connsiteY0" fmla="*/ 0 h 2199503"/>
                <a:gd name="connsiteX1" fmla="*/ 478409 w 504377"/>
                <a:gd name="connsiteY1" fmla="*/ 477795 h 2199503"/>
                <a:gd name="connsiteX2" fmla="*/ 91230 w 504377"/>
                <a:gd name="connsiteY2" fmla="*/ 947351 h 2199503"/>
                <a:gd name="connsiteX3" fmla="*/ 614 w 504377"/>
                <a:gd name="connsiteY3" fmla="*/ 1235676 h 2199503"/>
                <a:gd name="connsiteX4" fmla="*/ 115944 w 504377"/>
                <a:gd name="connsiteY4" fmla="*/ 1688757 h 2199503"/>
                <a:gd name="connsiteX5" fmla="*/ 503122 w 504377"/>
                <a:gd name="connsiteY5" fmla="*/ 2199503 h 219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77" h="2199503">
                  <a:moveTo>
                    <a:pt x="437219" y="0"/>
                  </a:moveTo>
                  <a:cubicBezTo>
                    <a:pt x="486646" y="159951"/>
                    <a:pt x="536074" y="319903"/>
                    <a:pt x="478409" y="477795"/>
                  </a:cubicBezTo>
                  <a:cubicBezTo>
                    <a:pt x="420744" y="635687"/>
                    <a:pt x="170862" y="821038"/>
                    <a:pt x="91230" y="947351"/>
                  </a:cubicBezTo>
                  <a:cubicBezTo>
                    <a:pt x="11598" y="1073664"/>
                    <a:pt x="-3505" y="1112108"/>
                    <a:pt x="614" y="1235676"/>
                  </a:cubicBezTo>
                  <a:cubicBezTo>
                    <a:pt x="4733" y="1359244"/>
                    <a:pt x="32193" y="1528119"/>
                    <a:pt x="115944" y="1688757"/>
                  </a:cubicBezTo>
                  <a:cubicBezTo>
                    <a:pt x="199695" y="1849395"/>
                    <a:pt x="435846" y="2118498"/>
                    <a:pt x="503122" y="2199503"/>
                  </a:cubicBezTo>
                </a:path>
              </a:pathLst>
            </a:custGeom>
            <a:noFill/>
            <a:ln w="28575">
              <a:solidFill>
                <a:srgbClr val="0000F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41" name="右箭头 340"/>
            <p:cNvSpPr/>
            <p:nvPr/>
          </p:nvSpPr>
          <p:spPr>
            <a:xfrm rot="16200000" flipH="1" flipV="1">
              <a:off x="4314305" y="5964589"/>
              <a:ext cx="276772" cy="283187"/>
            </a:xfrm>
            <a:prstGeom prst="rightArrow">
              <a:avLst/>
            </a:prstGeom>
            <a:gradFill flip="none" rotWithShape="1">
              <a:gsLst>
                <a:gs pos="0">
                  <a:srgbClr val="FFCF01"/>
                </a:gs>
                <a:gs pos="90000">
                  <a:srgbClr val="E22000"/>
                </a:gs>
              </a:gsLst>
              <a:lin ang="0" scaled="1"/>
              <a:tileRect/>
            </a:gradFill>
            <a:ln w="25400">
              <a:noFill/>
            </a:ln>
            <a:effectLst>
              <a:outerShdw blurRad="225425" dist="38100" dir="5220000" algn="ctr">
                <a:srgbClr val="000000">
                  <a:alpha val="33000"/>
                </a:srgbClr>
              </a:outerShdw>
            </a:effectLst>
            <a:scene3d>
              <a:camera prst="orthographicFront"/>
              <a:lightRig rig="flat" dir="t"/>
            </a:scene3d>
            <a:sp3d extrusionH="304800" contourW="19050">
              <a:bevelT w="101600" prst="convex"/>
              <a:bevelB w="0" h="63500"/>
              <a:contourClr>
                <a:srgbClr val="FFE593"/>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defRPr/>
              </a:pPr>
              <a:endParaRPr lang="zh-CN" altLang="en-US" sz="1600" b="1">
                <a:solidFill>
                  <a:prstClr val="white"/>
                </a:solidFill>
                <a:latin typeface="微软雅黑" pitchFamily="34" charset="-122"/>
                <a:ea typeface="微软雅黑" pitchFamily="34" charset="-122"/>
              </a:endParaRPr>
            </a:p>
          </p:txBody>
        </p:sp>
        <p:grpSp>
          <p:nvGrpSpPr>
            <p:cNvPr id="342" name="组合 341"/>
            <p:cNvGrpSpPr/>
            <p:nvPr/>
          </p:nvGrpSpPr>
          <p:grpSpPr>
            <a:xfrm>
              <a:off x="471865" y="1759718"/>
              <a:ext cx="3044158" cy="3366006"/>
              <a:chOff x="532524" y="1712244"/>
              <a:chExt cx="3028262" cy="3356202"/>
            </a:xfrm>
          </p:grpSpPr>
          <p:grpSp>
            <p:nvGrpSpPr>
              <p:cNvPr id="343" name="组合 342"/>
              <p:cNvGrpSpPr/>
              <p:nvPr/>
            </p:nvGrpSpPr>
            <p:grpSpPr>
              <a:xfrm>
                <a:off x="532524" y="1712244"/>
                <a:ext cx="3028262" cy="3356202"/>
                <a:chOff x="6363244" y="2379512"/>
                <a:chExt cx="4331490" cy="3356202"/>
              </a:xfrm>
            </p:grpSpPr>
            <p:grpSp>
              <p:nvGrpSpPr>
                <p:cNvPr id="345" name="组合 262"/>
                <p:cNvGrpSpPr/>
                <p:nvPr>
                  <p:custDataLst>
                    <p:tags r:id="rId5"/>
                  </p:custDataLst>
                </p:nvPr>
              </p:nvGrpSpPr>
              <p:grpSpPr>
                <a:xfrm>
                  <a:off x="6363244" y="2379512"/>
                  <a:ext cx="4331490" cy="3356202"/>
                  <a:chOff x="5041590" y="1723888"/>
                  <a:chExt cx="4100576" cy="2835981"/>
                </a:xfrm>
              </p:grpSpPr>
              <p:sp>
                <p:nvSpPr>
                  <p:cNvPr id="377" name="梯形 59"/>
                  <p:cNvSpPr/>
                  <p:nvPr>
                    <p:custDataLst>
                      <p:tags r:id="rId37"/>
                    </p:custDataLst>
                  </p:nvPr>
                </p:nvSpPr>
                <p:spPr bwMode="auto">
                  <a:xfrm rot="10800000" flipV="1">
                    <a:off x="5656014" y="3003777"/>
                    <a:ext cx="2718490" cy="264789"/>
                  </a:xfrm>
                  <a:prstGeom prst="trapezoid">
                    <a:avLst>
                      <a:gd name="adj" fmla="val 149245"/>
                    </a:avLst>
                  </a:prstGeom>
                  <a:gradFill rotWithShape="1">
                    <a:gsLst>
                      <a:gs pos="0">
                        <a:srgbClr val="FFFFFF">
                          <a:alpha val="0"/>
                        </a:srgbClr>
                      </a:gs>
                      <a:gs pos="100000">
                        <a:srgbClr val="00B0F0"/>
                      </a:gs>
                    </a:gsLst>
                    <a:lin ang="16200000" scaled="0"/>
                    <a:tileRect/>
                  </a:gradFill>
                  <a:ln w="9525" algn="ctr">
                    <a:noFill/>
                    <a:miter lim="800000"/>
                  </a:ln>
                </p:spPr>
                <p:txBody>
                  <a:bodyPr rot="10800000" vert="eaVert" lIns="65129" tIns="32565" rIns="65129" bIns="32565" anchor="ctr"/>
                  <a:lstStyle/>
                  <a:p>
                    <a:pPr indent="-190082" defTabSz="965809">
                      <a:lnSpc>
                        <a:spcPts val="2956"/>
                      </a:lnSpc>
                      <a:buClr>
                        <a:srgbClr val="CC9900"/>
                      </a:buClr>
                      <a:buSzPct val="80000"/>
                      <a:buFont typeface="Arial" pitchFamily="34" charset="0"/>
                      <a:buChar char="•"/>
                      <a:defRPr/>
                    </a:pPr>
                    <a:endParaRPr lang="zh-CN" altLang="en-US" sz="1162" kern="0">
                      <a:solidFill>
                        <a:srgbClr val="272727"/>
                      </a:solidFill>
                      <a:latin typeface="微软雅黑" panose="020B0503020204020204" pitchFamily="34" charset="-122"/>
                      <a:ea typeface="微软雅黑" panose="020B0503020204020204" pitchFamily="34" charset="-122"/>
                      <a:cs typeface="+mn-ea"/>
                      <a:sym typeface="+mn-lt"/>
                    </a:endParaRPr>
                  </a:p>
                </p:txBody>
              </p:sp>
              <p:pic>
                <p:nvPicPr>
                  <p:cNvPr id="378" name="Picture 74" descr="C:\Users\Administrator\Desktop\云.png"/>
                  <p:cNvPicPr>
                    <a:picLocks noChangeAspect="1" noChangeArrowheads="1"/>
                  </p:cNvPicPr>
                  <p:nvPr>
                    <p:custDataLst>
                      <p:tags r:id="rId38"/>
                    </p:custDataLst>
                  </p:nvPr>
                </p:nvPicPr>
                <p:blipFill>
                  <a:blip r:embed="rId97">
                    <a:extLst>
                      <a:ext uri="{BEBA8EAE-BF5A-486C-A8C5-ECC9F3942E4B}">
                        <a14:imgProps xmlns:a14="http://schemas.microsoft.com/office/drawing/2010/main">
                          <a14:imgLayer r:embed="rId98">
                            <a14:imgEffect>
                              <a14:brightnessContrast bright="-28000"/>
                            </a14:imgEffect>
                          </a14:imgLayer>
                        </a14:imgProps>
                      </a:ext>
                      <a:ext uri="{28A0092B-C50C-407E-A947-70E740481C1C}">
                        <a14:useLocalDpi xmlns:a14="http://schemas.microsoft.com/office/drawing/2010/main"/>
                      </a:ext>
                    </a:extLst>
                  </a:blip>
                  <a:srcRect l="12464" t="16187" r="12429" b="20356"/>
                  <a:stretch>
                    <a:fillRect/>
                  </a:stretch>
                </p:blipFill>
                <p:spPr bwMode="auto">
                  <a:xfrm>
                    <a:off x="5663059" y="1723888"/>
                    <a:ext cx="2754328" cy="1278581"/>
                  </a:xfrm>
                  <a:prstGeom prst="round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9" name="组合 265"/>
                  <p:cNvGrpSpPr/>
                  <p:nvPr>
                    <p:custDataLst>
                      <p:tags r:id="rId39"/>
                    </p:custDataLst>
                  </p:nvPr>
                </p:nvGrpSpPr>
                <p:grpSpPr>
                  <a:xfrm>
                    <a:off x="5041590" y="3388597"/>
                    <a:ext cx="4100576" cy="1171272"/>
                    <a:chOff x="6777369" y="3982535"/>
                    <a:chExt cx="2582929" cy="1009851"/>
                  </a:xfrm>
                </p:grpSpPr>
                <p:sp>
                  <p:nvSpPr>
                    <p:cNvPr id="380" name="Freeform 204"/>
                    <p:cNvSpPr/>
                    <p:nvPr>
                      <p:custDataLst>
                        <p:tags r:id="rId40"/>
                      </p:custDataLst>
                    </p:nvPr>
                  </p:nvSpPr>
                  <p:spPr bwMode="auto">
                    <a:xfrm>
                      <a:off x="6898957" y="3982535"/>
                      <a:ext cx="2235643" cy="1009851"/>
                    </a:xfrm>
                    <a:custGeom>
                      <a:avLst/>
                      <a:gdLst/>
                      <a:ahLst/>
                      <a:cxnLst>
                        <a:cxn ang="0">
                          <a:pos x="1072" y="405"/>
                        </a:cxn>
                        <a:cxn ang="0">
                          <a:pos x="1055" y="374"/>
                        </a:cxn>
                        <a:cxn ang="0">
                          <a:pos x="1027" y="349"/>
                        </a:cxn>
                        <a:cxn ang="0">
                          <a:pos x="1031" y="332"/>
                        </a:cxn>
                        <a:cxn ang="0">
                          <a:pos x="1033" y="314"/>
                        </a:cxn>
                        <a:cxn ang="0">
                          <a:pos x="1027" y="271"/>
                        </a:cxn>
                        <a:cxn ang="0">
                          <a:pos x="965" y="194"/>
                        </a:cxn>
                        <a:cxn ang="0">
                          <a:pos x="854" y="151"/>
                        </a:cxn>
                        <a:cxn ang="0">
                          <a:pos x="781" y="82"/>
                        </a:cxn>
                        <a:cxn ang="0">
                          <a:pos x="680" y="17"/>
                        </a:cxn>
                        <a:cxn ang="0">
                          <a:pos x="536" y="0"/>
                        </a:cxn>
                        <a:cxn ang="0">
                          <a:pos x="427" y="24"/>
                        </a:cxn>
                        <a:cxn ang="0">
                          <a:pos x="345" y="74"/>
                        </a:cxn>
                        <a:cxn ang="0">
                          <a:pos x="300" y="118"/>
                        </a:cxn>
                        <a:cxn ang="0">
                          <a:pos x="277" y="117"/>
                        </a:cxn>
                        <a:cxn ang="0">
                          <a:pos x="255" y="118"/>
                        </a:cxn>
                        <a:cxn ang="0">
                          <a:pos x="146" y="140"/>
                        </a:cxn>
                        <a:cxn ang="0">
                          <a:pos x="36" y="214"/>
                        </a:cxn>
                        <a:cxn ang="0">
                          <a:pos x="0" y="316"/>
                        </a:cxn>
                        <a:cxn ang="0">
                          <a:pos x="18" y="372"/>
                        </a:cxn>
                        <a:cxn ang="0">
                          <a:pos x="62" y="419"/>
                        </a:cxn>
                        <a:cxn ang="0">
                          <a:pos x="91" y="454"/>
                        </a:cxn>
                        <a:cxn ang="0">
                          <a:pos x="59" y="491"/>
                        </a:cxn>
                        <a:cxn ang="0">
                          <a:pos x="46" y="532"/>
                        </a:cxn>
                        <a:cxn ang="0">
                          <a:pos x="66" y="598"/>
                        </a:cxn>
                        <a:cxn ang="0">
                          <a:pos x="143" y="651"/>
                        </a:cxn>
                        <a:cxn ang="0">
                          <a:pos x="257" y="666"/>
                        </a:cxn>
                        <a:cxn ang="0">
                          <a:pos x="261" y="665"/>
                        </a:cxn>
                        <a:cxn ang="0">
                          <a:pos x="265" y="665"/>
                        </a:cxn>
                        <a:cxn ang="0">
                          <a:pos x="269" y="666"/>
                        </a:cxn>
                        <a:cxn ang="0">
                          <a:pos x="268" y="670"/>
                        </a:cxn>
                        <a:cxn ang="0">
                          <a:pos x="269" y="674"/>
                        </a:cxn>
                        <a:cxn ang="0">
                          <a:pos x="287" y="724"/>
                        </a:cxn>
                        <a:cxn ang="0">
                          <a:pos x="362" y="775"/>
                        </a:cxn>
                        <a:cxn ang="0">
                          <a:pos x="471" y="790"/>
                        </a:cxn>
                        <a:cxn ang="0">
                          <a:pos x="548" y="772"/>
                        </a:cxn>
                        <a:cxn ang="0">
                          <a:pos x="609" y="737"/>
                        </a:cxn>
                        <a:cxn ang="0">
                          <a:pos x="648" y="711"/>
                        </a:cxn>
                        <a:cxn ang="0">
                          <a:pos x="689" y="720"/>
                        </a:cxn>
                        <a:cxn ang="0">
                          <a:pos x="735" y="723"/>
                        </a:cxn>
                        <a:cxn ang="0">
                          <a:pos x="825" y="706"/>
                        </a:cxn>
                        <a:cxn ang="0">
                          <a:pos x="905" y="653"/>
                        </a:cxn>
                        <a:cxn ang="0">
                          <a:pos x="932" y="578"/>
                        </a:cxn>
                        <a:cxn ang="0">
                          <a:pos x="931" y="573"/>
                        </a:cxn>
                        <a:cxn ang="0">
                          <a:pos x="931" y="569"/>
                        </a:cxn>
                        <a:cxn ang="0">
                          <a:pos x="963" y="558"/>
                        </a:cxn>
                        <a:cxn ang="0">
                          <a:pos x="1039" y="513"/>
                        </a:cxn>
                        <a:cxn ang="0">
                          <a:pos x="1075" y="450"/>
                        </a:cxn>
                      </a:cxnLst>
                      <a:rect l="0" t="0" r="r" b="b"/>
                      <a:pathLst>
                        <a:path w="1078" h="791">
                          <a:moveTo>
                            <a:pt x="1077" y="428"/>
                          </a:moveTo>
                          <a:lnTo>
                            <a:pt x="1075" y="416"/>
                          </a:lnTo>
                          <a:lnTo>
                            <a:pt x="1072" y="405"/>
                          </a:lnTo>
                          <a:lnTo>
                            <a:pt x="1068" y="395"/>
                          </a:lnTo>
                          <a:lnTo>
                            <a:pt x="1062" y="384"/>
                          </a:lnTo>
                          <a:lnTo>
                            <a:pt x="1055" y="374"/>
                          </a:lnTo>
                          <a:lnTo>
                            <a:pt x="1046" y="366"/>
                          </a:lnTo>
                          <a:lnTo>
                            <a:pt x="1037" y="357"/>
                          </a:lnTo>
                          <a:lnTo>
                            <a:pt x="1027" y="349"/>
                          </a:lnTo>
                          <a:lnTo>
                            <a:pt x="1029" y="344"/>
                          </a:lnTo>
                          <a:lnTo>
                            <a:pt x="1030" y="337"/>
                          </a:lnTo>
                          <a:lnTo>
                            <a:pt x="1031" y="332"/>
                          </a:lnTo>
                          <a:lnTo>
                            <a:pt x="1032" y="325"/>
                          </a:lnTo>
                          <a:lnTo>
                            <a:pt x="1033" y="320"/>
                          </a:lnTo>
                          <a:lnTo>
                            <a:pt x="1033" y="314"/>
                          </a:lnTo>
                          <a:lnTo>
                            <a:pt x="1033" y="307"/>
                          </a:lnTo>
                          <a:lnTo>
                            <a:pt x="1033" y="302"/>
                          </a:lnTo>
                          <a:lnTo>
                            <a:pt x="1027" y="271"/>
                          </a:lnTo>
                          <a:lnTo>
                            <a:pt x="1012" y="242"/>
                          </a:lnTo>
                          <a:lnTo>
                            <a:pt x="992" y="217"/>
                          </a:lnTo>
                          <a:lnTo>
                            <a:pt x="965" y="194"/>
                          </a:lnTo>
                          <a:lnTo>
                            <a:pt x="932" y="176"/>
                          </a:lnTo>
                          <a:lnTo>
                            <a:pt x="895" y="161"/>
                          </a:lnTo>
                          <a:lnTo>
                            <a:pt x="854" y="151"/>
                          </a:lnTo>
                          <a:lnTo>
                            <a:pt x="811" y="146"/>
                          </a:lnTo>
                          <a:lnTo>
                            <a:pt x="801" y="113"/>
                          </a:lnTo>
                          <a:lnTo>
                            <a:pt x="781" y="82"/>
                          </a:lnTo>
                          <a:lnTo>
                            <a:pt x="754" y="56"/>
                          </a:lnTo>
                          <a:lnTo>
                            <a:pt x="720" y="34"/>
                          </a:lnTo>
                          <a:lnTo>
                            <a:pt x="680" y="17"/>
                          </a:lnTo>
                          <a:lnTo>
                            <a:pt x="636" y="5"/>
                          </a:lnTo>
                          <a:lnTo>
                            <a:pt x="587" y="0"/>
                          </a:lnTo>
                          <a:lnTo>
                            <a:pt x="536" y="0"/>
                          </a:lnTo>
                          <a:lnTo>
                            <a:pt x="498" y="5"/>
                          </a:lnTo>
                          <a:lnTo>
                            <a:pt x="461" y="14"/>
                          </a:lnTo>
                          <a:lnTo>
                            <a:pt x="427" y="24"/>
                          </a:lnTo>
                          <a:lnTo>
                            <a:pt x="397" y="39"/>
                          </a:lnTo>
                          <a:lnTo>
                            <a:pt x="369" y="56"/>
                          </a:lnTo>
                          <a:lnTo>
                            <a:pt x="345" y="74"/>
                          </a:lnTo>
                          <a:lnTo>
                            <a:pt x="324" y="95"/>
                          </a:lnTo>
                          <a:lnTo>
                            <a:pt x="308" y="118"/>
                          </a:lnTo>
                          <a:lnTo>
                            <a:pt x="300" y="118"/>
                          </a:lnTo>
                          <a:lnTo>
                            <a:pt x="293" y="117"/>
                          </a:lnTo>
                          <a:lnTo>
                            <a:pt x="285" y="117"/>
                          </a:lnTo>
                          <a:lnTo>
                            <a:pt x="277" y="117"/>
                          </a:lnTo>
                          <a:lnTo>
                            <a:pt x="270" y="117"/>
                          </a:lnTo>
                          <a:lnTo>
                            <a:pt x="263" y="117"/>
                          </a:lnTo>
                          <a:lnTo>
                            <a:pt x="255" y="118"/>
                          </a:lnTo>
                          <a:lnTo>
                            <a:pt x="248" y="118"/>
                          </a:lnTo>
                          <a:lnTo>
                            <a:pt x="195" y="126"/>
                          </a:lnTo>
                          <a:lnTo>
                            <a:pt x="146" y="140"/>
                          </a:lnTo>
                          <a:lnTo>
                            <a:pt x="104" y="160"/>
                          </a:lnTo>
                          <a:lnTo>
                            <a:pt x="66" y="184"/>
                          </a:lnTo>
                          <a:lnTo>
                            <a:pt x="36" y="214"/>
                          </a:lnTo>
                          <a:lnTo>
                            <a:pt x="15" y="245"/>
                          </a:lnTo>
                          <a:lnTo>
                            <a:pt x="2" y="279"/>
                          </a:lnTo>
                          <a:lnTo>
                            <a:pt x="0" y="316"/>
                          </a:lnTo>
                          <a:lnTo>
                            <a:pt x="3" y="335"/>
                          </a:lnTo>
                          <a:lnTo>
                            <a:pt x="9" y="354"/>
                          </a:lnTo>
                          <a:lnTo>
                            <a:pt x="18" y="372"/>
                          </a:lnTo>
                          <a:lnTo>
                            <a:pt x="31" y="389"/>
                          </a:lnTo>
                          <a:lnTo>
                            <a:pt x="45" y="405"/>
                          </a:lnTo>
                          <a:lnTo>
                            <a:pt x="62" y="419"/>
                          </a:lnTo>
                          <a:lnTo>
                            <a:pt x="82" y="432"/>
                          </a:lnTo>
                          <a:lnTo>
                            <a:pt x="104" y="443"/>
                          </a:lnTo>
                          <a:lnTo>
                            <a:pt x="91" y="454"/>
                          </a:lnTo>
                          <a:lnTo>
                            <a:pt x="79" y="466"/>
                          </a:lnTo>
                          <a:lnTo>
                            <a:pt x="68" y="478"/>
                          </a:lnTo>
                          <a:lnTo>
                            <a:pt x="59" y="491"/>
                          </a:lnTo>
                          <a:lnTo>
                            <a:pt x="53" y="504"/>
                          </a:lnTo>
                          <a:lnTo>
                            <a:pt x="48" y="518"/>
                          </a:lnTo>
                          <a:lnTo>
                            <a:pt x="46" y="532"/>
                          </a:lnTo>
                          <a:lnTo>
                            <a:pt x="46" y="547"/>
                          </a:lnTo>
                          <a:lnTo>
                            <a:pt x="53" y="573"/>
                          </a:lnTo>
                          <a:lnTo>
                            <a:pt x="66" y="598"/>
                          </a:lnTo>
                          <a:lnTo>
                            <a:pt x="86" y="619"/>
                          </a:lnTo>
                          <a:lnTo>
                            <a:pt x="112" y="637"/>
                          </a:lnTo>
                          <a:lnTo>
                            <a:pt x="143" y="651"/>
                          </a:lnTo>
                          <a:lnTo>
                            <a:pt x="179" y="661"/>
                          </a:lnTo>
                          <a:lnTo>
                            <a:pt x="217" y="666"/>
                          </a:lnTo>
                          <a:lnTo>
                            <a:pt x="257" y="666"/>
                          </a:lnTo>
                          <a:lnTo>
                            <a:pt x="258" y="665"/>
                          </a:lnTo>
                          <a:lnTo>
                            <a:pt x="260" y="665"/>
                          </a:lnTo>
                          <a:lnTo>
                            <a:pt x="261" y="665"/>
                          </a:lnTo>
                          <a:lnTo>
                            <a:pt x="262" y="665"/>
                          </a:lnTo>
                          <a:lnTo>
                            <a:pt x="264" y="665"/>
                          </a:lnTo>
                          <a:lnTo>
                            <a:pt x="265" y="665"/>
                          </a:lnTo>
                          <a:lnTo>
                            <a:pt x="267" y="665"/>
                          </a:lnTo>
                          <a:lnTo>
                            <a:pt x="269" y="663"/>
                          </a:lnTo>
                          <a:lnTo>
                            <a:pt x="269" y="666"/>
                          </a:lnTo>
                          <a:lnTo>
                            <a:pt x="268" y="667"/>
                          </a:lnTo>
                          <a:lnTo>
                            <a:pt x="268" y="668"/>
                          </a:lnTo>
                          <a:lnTo>
                            <a:pt x="268" y="670"/>
                          </a:lnTo>
                          <a:lnTo>
                            <a:pt x="268" y="671"/>
                          </a:lnTo>
                          <a:lnTo>
                            <a:pt x="269" y="673"/>
                          </a:lnTo>
                          <a:lnTo>
                            <a:pt x="269" y="674"/>
                          </a:lnTo>
                          <a:lnTo>
                            <a:pt x="269" y="675"/>
                          </a:lnTo>
                          <a:lnTo>
                            <a:pt x="274" y="701"/>
                          </a:lnTo>
                          <a:lnTo>
                            <a:pt x="287" y="724"/>
                          </a:lnTo>
                          <a:lnTo>
                            <a:pt x="307" y="745"/>
                          </a:lnTo>
                          <a:lnTo>
                            <a:pt x="332" y="762"/>
                          </a:lnTo>
                          <a:lnTo>
                            <a:pt x="362" y="775"/>
                          </a:lnTo>
                          <a:lnTo>
                            <a:pt x="395" y="785"/>
                          </a:lnTo>
                          <a:lnTo>
                            <a:pt x="432" y="790"/>
                          </a:lnTo>
                          <a:lnTo>
                            <a:pt x="471" y="790"/>
                          </a:lnTo>
                          <a:lnTo>
                            <a:pt x="498" y="785"/>
                          </a:lnTo>
                          <a:lnTo>
                            <a:pt x="524" y="780"/>
                          </a:lnTo>
                          <a:lnTo>
                            <a:pt x="548" y="772"/>
                          </a:lnTo>
                          <a:lnTo>
                            <a:pt x="571" y="762"/>
                          </a:lnTo>
                          <a:lnTo>
                            <a:pt x="590" y="750"/>
                          </a:lnTo>
                          <a:lnTo>
                            <a:pt x="609" y="737"/>
                          </a:lnTo>
                          <a:lnTo>
                            <a:pt x="624" y="722"/>
                          </a:lnTo>
                          <a:lnTo>
                            <a:pt x="636" y="706"/>
                          </a:lnTo>
                          <a:lnTo>
                            <a:pt x="648" y="711"/>
                          </a:lnTo>
                          <a:lnTo>
                            <a:pt x="662" y="715"/>
                          </a:lnTo>
                          <a:lnTo>
                            <a:pt x="675" y="718"/>
                          </a:lnTo>
                          <a:lnTo>
                            <a:pt x="689" y="720"/>
                          </a:lnTo>
                          <a:lnTo>
                            <a:pt x="704" y="722"/>
                          </a:lnTo>
                          <a:lnTo>
                            <a:pt x="719" y="723"/>
                          </a:lnTo>
                          <a:lnTo>
                            <a:pt x="735" y="723"/>
                          </a:lnTo>
                          <a:lnTo>
                            <a:pt x="750" y="722"/>
                          </a:lnTo>
                          <a:lnTo>
                            <a:pt x="789" y="717"/>
                          </a:lnTo>
                          <a:lnTo>
                            <a:pt x="825" y="706"/>
                          </a:lnTo>
                          <a:lnTo>
                            <a:pt x="856" y="692"/>
                          </a:lnTo>
                          <a:lnTo>
                            <a:pt x="883" y="673"/>
                          </a:lnTo>
                          <a:lnTo>
                            <a:pt x="905" y="653"/>
                          </a:lnTo>
                          <a:lnTo>
                            <a:pt x="921" y="629"/>
                          </a:lnTo>
                          <a:lnTo>
                            <a:pt x="930" y="604"/>
                          </a:lnTo>
                          <a:lnTo>
                            <a:pt x="932" y="578"/>
                          </a:lnTo>
                          <a:lnTo>
                            <a:pt x="932" y="577"/>
                          </a:lnTo>
                          <a:lnTo>
                            <a:pt x="931" y="574"/>
                          </a:lnTo>
                          <a:lnTo>
                            <a:pt x="931" y="573"/>
                          </a:lnTo>
                          <a:lnTo>
                            <a:pt x="931" y="572"/>
                          </a:lnTo>
                          <a:lnTo>
                            <a:pt x="931" y="571"/>
                          </a:lnTo>
                          <a:lnTo>
                            <a:pt x="931" y="569"/>
                          </a:lnTo>
                          <a:lnTo>
                            <a:pt x="930" y="568"/>
                          </a:lnTo>
                          <a:lnTo>
                            <a:pt x="930" y="567"/>
                          </a:lnTo>
                          <a:lnTo>
                            <a:pt x="963" y="558"/>
                          </a:lnTo>
                          <a:lnTo>
                            <a:pt x="991" y="546"/>
                          </a:lnTo>
                          <a:lnTo>
                            <a:pt x="1017" y="531"/>
                          </a:lnTo>
                          <a:lnTo>
                            <a:pt x="1039" y="513"/>
                          </a:lnTo>
                          <a:lnTo>
                            <a:pt x="1056" y="495"/>
                          </a:lnTo>
                          <a:lnTo>
                            <a:pt x="1069" y="473"/>
                          </a:lnTo>
                          <a:lnTo>
                            <a:pt x="1075" y="450"/>
                          </a:lnTo>
                          <a:lnTo>
                            <a:pt x="1077" y="428"/>
                          </a:lnTo>
                        </a:path>
                      </a:pathLst>
                    </a:custGeom>
                    <a:gradFill rotWithShape="1">
                      <a:gsLst>
                        <a:gs pos="0">
                          <a:srgbClr val="FFFFFF"/>
                        </a:gs>
                        <a:gs pos="100000">
                          <a:srgbClr val="AFCDEF"/>
                        </a:gs>
                      </a:gsLst>
                      <a:path path="rect">
                        <a:fillToRect l="50000" t="50000" r="50000" b="50000"/>
                      </a:path>
                      <a:tileRect/>
                    </a:gradFill>
                    <a:ln w="9525" cap="rnd">
                      <a:solidFill>
                        <a:srgbClr val="FFFFFF">
                          <a:lumMod val="65000"/>
                        </a:srgbClr>
                      </a:solidFill>
                      <a:round/>
                    </a:ln>
                  </p:spPr>
                  <p:txBody>
                    <a:bodyPr lIns="96604" tIns="48303" rIns="96604" bIns="48303"/>
                    <a:lstStyle>
                      <a:defPPr>
                        <a:defRPr lang="zh-CN"/>
                      </a:defPPr>
                      <a:lvl1pPr algn="l" rtl="0" fontAlgn="base">
                        <a:spcBef>
                          <a:spcPct val="0"/>
                        </a:spcBef>
                        <a:spcAft>
                          <a:spcPct val="0"/>
                        </a:spcAft>
                        <a:defRPr kern="1200">
                          <a:solidFill>
                            <a:schemeClr val="tx1"/>
                          </a:solidFill>
                          <a:latin typeface="Arial" pitchFamily="34" charset="0"/>
                          <a:ea typeface="宋体" pitchFamily="2" charset="-122"/>
                          <a:cs typeface="+mn-cs"/>
                        </a:defRPr>
                      </a:lvl1pPr>
                      <a:lvl2pPr marL="449263" indent="1588" algn="l" rtl="0" fontAlgn="base">
                        <a:spcBef>
                          <a:spcPct val="0"/>
                        </a:spcBef>
                        <a:spcAft>
                          <a:spcPct val="0"/>
                        </a:spcAft>
                        <a:defRPr kern="1200">
                          <a:solidFill>
                            <a:schemeClr val="tx1"/>
                          </a:solidFill>
                          <a:latin typeface="Arial" pitchFamily="34" charset="0"/>
                          <a:ea typeface="宋体" pitchFamily="2" charset="-122"/>
                          <a:cs typeface="+mn-cs"/>
                        </a:defRPr>
                      </a:lvl2pPr>
                      <a:lvl3pPr marL="906463" indent="1588" algn="l" rtl="0" fontAlgn="base">
                        <a:spcBef>
                          <a:spcPct val="0"/>
                        </a:spcBef>
                        <a:spcAft>
                          <a:spcPct val="0"/>
                        </a:spcAft>
                        <a:defRPr kern="1200">
                          <a:solidFill>
                            <a:schemeClr val="tx1"/>
                          </a:solidFill>
                          <a:latin typeface="Arial" pitchFamily="34" charset="0"/>
                          <a:ea typeface="宋体" pitchFamily="2" charset="-122"/>
                          <a:cs typeface="+mn-cs"/>
                        </a:defRPr>
                      </a:lvl3pPr>
                      <a:lvl4pPr marL="1362075" indent="1588" algn="l" rtl="0" fontAlgn="base">
                        <a:spcBef>
                          <a:spcPct val="0"/>
                        </a:spcBef>
                        <a:spcAft>
                          <a:spcPct val="0"/>
                        </a:spcAft>
                        <a:defRPr kern="1200">
                          <a:solidFill>
                            <a:schemeClr val="tx1"/>
                          </a:solidFill>
                          <a:latin typeface="Arial" pitchFamily="34" charset="0"/>
                          <a:ea typeface="宋体" pitchFamily="2" charset="-122"/>
                          <a:cs typeface="+mn-cs"/>
                        </a:defRPr>
                      </a:lvl4pPr>
                      <a:lvl5pPr marL="1819275" indent="1588" algn="l" rtl="0" fontAlgn="base">
                        <a:spcBef>
                          <a:spcPct val="0"/>
                        </a:spcBef>
                        <a:spcAft>
                          <a:spcPct val="0"/>
                        </a:spcAft>
                        <a:defRPr kern="1200">
                          <a:solidFill>
                            <a:schemeClr val="tx1"/>
                          </a:solidFill>
                          <a:latin typeface="Arial" pitchFamily="34" charset="0"/>
                          <a:ea typeface="宋体" pitchFamily="2" charset="-122"/>
                          <a:cs typeface="+mn-cs"/>
                        </a:defRPr>
                      </a:lvl5pPr>
                      <a:lvl6pPr marL="2286000" algn="l" defTabSz="914400" rtl="0" eaLnBrk="1" latinLnBrk="0" hangingPunct="1">
                        <a:defRPr kern="1200">
                          <a:solidFill>
                            <a:schemeClr val="tx1"/>
                          </a:solidFill>
                          <a:latin typeface="Arial" pitchFamily="34" charset="0"/>
                          <a:ea typeface="宋体" pitchFamily="2" charset="-122"/>
                          <a:cs typeface="+mn-cs"/>
                        </a:defRPr>
                      </a:lvl6pPr>
                      <a:lvl7pPr marL="2743200" algn="l" defTabSz="914400" rtl="0" eaLnBrk="1" latinLnBrk="0" hangingPunct="1">
                        <a:defRPr kern="1200">
                          <a:solidFill>
                            <a:schemeClr val="tx1"/>
                          </a:solidFill>
                          <a:latin typeface="Arial" pitchFamily="34" charset="0"/>
                          <a:ea typeface="宋体" pitchFamily="2" charset="-122"/>
                          <a:cs typeface="+mn-cs"/>
                        </a:defRPr>
                      </a:lvl7pPr>
                      <a:lvl8pPr marL="3200400" algn="l" defTabSz="914400" rtl="0" eaLnBrk="1" latinLnBrk="0" hangingPunct="1">
                        <a:defRPr kern="1200">
                          <a:solidFill>
                            <a:schemeClr val="tx1"/>
                          </a:solidFill>
                          <a:latin typeface="Arial" pitchFamily="34" charset="0"/>
                          <a:ea typeface="宋体" pitchFamily="2" charset="-122"/>
                          <a:cs typeface="+mn-cs"/>
                        </a:defRPr>
                      </a:lvl8pPr>
                      <a:lvl9pPr marL="3657600" algn="l" defTabSz="914400" rtl="0" eaLnBrk="1" latinLnBrk="0" hangingPunct="1">
                        <a:defRPr kern="1200">
                          <a:solidFill>
                            <a:schemeClr val="tx1"/>
                          </a:solidFill>
                          <a:latin typeface="Arial" pitchFamily="34" charset="0"/>
                          <a:ea typeface="宋体" pitchFamily="2" charset="-122"/>
                          <a:cs typeface="+mn-cs"/>
                        </a:defRPr>
                      </a:lvl9pPr>
                    </a:lstStyle>
                    <a:p>
                      <a:pPr defTabSz="1287692">
                        <a:defRPr/>
                      </a:pPr>
                      <a:endParaRPr lang="zh-CN" altLang="en-US" sz="1162">
                        <a:solidFill>
                          <a:srgbClr val="272727"/>
                        </a:solidFill>
                        <a:latin typeface="微软雅黑" panose="020B0503020204020204" pitchFamily="34" charset="-122"/>
                        <a:ea typeface="微软雅黑" panose="020B0503020204020204" pitchFamily="34" charset="-122"/>
                        <a:cs typeface="+mn-ea"/>
                        <a:sym typeface="+mn-lt"/>
                      </a:endParaRPr>
                    </a:p>
                  </p:txBody>
                </p:sp>
                <p:cxnSp>
                  <p:nvCxnSpPr>
                    <p:cNvPr id="381" name="直接连接符 267"/>
                    <p:cNvCxnSpPr/>
                    <p:nvPr>
                      <p:custDataLst>
                        <p:tags r:id="rId41"/>
                      </p:custDataLst>
                    </p:nvPr>
                  </p:nvCxnSpPr>
                  <p:spPr>
                    <a:xfrm>
                      <a:off x="7251550" y="4262427"/>
                      <a:ext cx="617349" cy="5305"/>
                    </a:xfrm>
                    <a:prstGeom prst="line">
                      <a:avLst/>
                    </a:prstGeom>
                    <a:noFill/>
                    <a:ln w="9525" cap="flat" cmpd="sng" algn="ctr">
                      <a:solidFill>
                        <a:srgbClr val="FFFFFF">
                          <a:lumMod val="65000"/>
                        </a:srgbClr>
                      </a:solidFill>
                      <a:prstDash val="solid"/>
                    </a:ln>
                  </p:spPr>
                </p:cxnSp>
                <p:cxnSp>
                  <p:nvCxnSpPr>
                    <p:cNvPr id="382" name="直接连接符 268"/>
                    <p:cNvCxnSpPr/>
                    <p:nvPr>
                      <p:custDataLst>
                        <p:tags r:id="rId42"/>
                      </p:custDataLst>
                    </p:nvPr>
                  </p:nvCxnSpPr>
                  <p:spPr>
                    <a:xfrm flipV="1">
                      <a:off x="7237508" y="4799061"/>
                      <a:ext cx="631390" cy="4095"/>
                    </a:xfrm>
                    <a:prstGeom prst="line">
                      <a:avLst/>
                    </a:prstGeom>
                    <a:noFill/>
                    <a:ln w="9525" cap="flat" cmpd="sng" algn="ctr">
                      <a:solidFill>
                        <a:srgbClr val="00B0F0">
                          <a:alpha val="45000"/>
                        </a:srgbClr>
                      </a:solidFill>
                      <a:prstDash val="solid"/>
                    </a:ln>
                  </p:spPr>
                </p:cxnSp>
                <p:cxnSp>
                  <p:nvCxnSpPr>
                    <p:cNvPr id="383" name="直接连接符 269"/>
                    <p:cNvCxnSpPr/>
                    <p:nvPr>
                      <p:custDataLst>
                        <p:tags r:id="rId43"/>
                      </p:custDataLst>
                    </p:nvPr>
                  </p:nvCxnSpPr>
                  <p:spPr>
                    <a:xfrm>
                      <a:off x="8184327" y="4799061"/>
                      <a:ext cx="572745" cy="7868"/>
                    </a:xfrm>
                    <a:prstGeom prst="line">
                      <a:avLst/>
                    </a:prstGeom>
                    <a:noFill/>
                    <a:ln w="9525" cap="flat" cmpd="sng" algn="ctr">
                      <a:solidFill>
                        <a:srgbClr val="00B0F0">
                          <a:alpha val="35000"/>
                        </a:srgbClr>
                      </a:solidFill>
                      <a:prstDash val="solid"/>
                    </a:ln>
                  </p:spPr>
                </p:cxnSp>
                <p:cxnSp>
                  <p:nvCxnSpPr>
                    <p:cNvPr id="384" name="直接连接符 270"/>
                    <p:cNvCxnSpPr/>
                    <p:nvPr>
                      <p:custDataLst>
                        <p:tags r:id="rId44"/>
                      </p:custDataLst>
                    </p:nvPr>
                  </p:nvCxnSpPr>
                  <p:spPr>
                    <a:xfrm flipV="1">
                      <a:off x="8184327" y="4262427"/>
                      <a:ext cx="572745" cy="5305"/>
                    </a:xfrm>
                    <a:prstGeom prst="line">
                      <a:avLst/>
                    </a:prstGeom>
                    <a:noFill/>
                    <a:ln w="9525" cap="flat" cmpd="sng" algn="ctr">
                      <a:solidFill>
                        <a:srgbClr val="00B0F0">
                          <a:alpha val="35000"/>
                        </a:srgbClr>
                      </a:solidFill>
                      <a:prstDash val="solid"/>
                    </a:ln>
                  </p:spPr>
                </p:cxnSp>
                <p:cxnSp>
                  <p:nvCxnSpPr>
                    <p:cNvPr id="385" name="直接连接符 271"/>
                    <p:cNvCxnSpPr/>
                    <p:nvPr>
                      <p:custDataLst>
                        <p:tags r:id="rId45"/>
                      </p:custDataLst>
                    </p:nvPr>
                  </p:nvCxnSpPr>
                  <p:spPr>
                    <a:xfrm>
                      <a:off x="7251550" y="4262427"/>
                      <a:ext cx="617349" cy="536634"/>
                    </a:xfrm>
                    <a:prstGeom prst="line">
                      <a:avLst/>
                    </a:prstGeom>
                    <a:noFill/>
                    <a:ln w="9525" cap="flat" cmpd="sng" algn="ctr">
                      <a:solidFill>
                        <a:srgbClr val="00B0F0">
                          <a:alpha val="35000"/>
                        </a:srgbClr>
                      </a:solidFill>
                      <a:prstDash val="solid"/>
                    </a:ln>
                  </p:spPr>
                </p:cxnSp>
                <p:cxnSp>
                  <p:nvCxnSpPr>
                    <p:cNvPr id="386" name="直接连接符 272"/>
                    <p:cNvCxnSpPr/>
                    <p:nvPr>
                      <p:custDataLst>
                        <p:tags r:id="rId46"/>
                      </p:custDataLst>
                    </p:nvPr>
                  </p:nvCxnSpPr>
                  <p:spPr>
                    <a:xfrm flipV="1">
                      <a:off x="7237508" y="4267731"/>
                      <a:ext cx="631390" cy="535426"/>
                    </a:xfrm>
                    <a:prstGeom prst="line">
                      <a:avLst/>
                    </a:prstGeom>
                    <a:noFill/>
                    <a:ln w="9525" cap="flat" cmpd="sng" algn="ctr">
                      <a:solidFill>
                        <a:srgbClr val="00B0F0">
                          <a:alpha val="35000"/>
                        </a:srgbClr>
                      </a:solidFill>
                      <a:prstDash val="solid"/>
                    </a:ln>
                  </p:spPr>
                </p:cxnSp>
                <p:cxnSp>
                  <p:nvCxnSpPr>
                    <p:cNvPr id="387" name="直接连接符 273"/>
                    <p:cNvCxnSpPr/>
                    <p:nvPr>
                      <p:custDataLst>
                        <p:tags r:id="rId47"/>
                      </p:custDataLst>
                    </p:nvPr>
                  </p:nvCxnSpPr>
                  <p:spPr>
                    <a:xfrm>
                      <a:off x="8184327" y="4267730"/>
                      <a:ext cx="572745" cy="539199"/>
                    </a:xfrm>
                    <a:prstGeom prst="line">
                      <a:avLst/>
                    </a:prstGeom>
                    <a:noFill/>
                    <a:ln w="9525" cap="flat" cmpd="sng" algn="ctr">
                      <a:solidFill>
                        <a:srgbClr val="00B0F0">
                          <a:alpha val="35000"/>
                        </a:srgbClr>
                      </a:solidFill>
                      <a:prstDash val="solid"/>
                    </a:ln>
                  </p:spPr>
                </p:cxnSp>
                <p:cxnSp>
                  <p:nvCxnSpPr>
                    <p:cNvPr id="388" name="直接连接符 274"/>
                    <p:cNvCxnSpPr/>
                    <p:nvPr>
                      <p:custDataLst>
                        <p:tags r:id="rId48"/>
                      </p:custDataLst>
                    </p:nvPr>
                  </p:nvCxnSpPr>
                  <p:spPr>
                    <a:xfrm flipV="1">
                      <a:off x="8184327" y="4262427"/>
                      <a:ext cx="572745" cy="536634"/>
                    </a:xfrm>
                    <a:prstGeom prst="line">
                      <a:avLst/>
                    </a:prstGeom>
                    <a:noFill/>
                    <a:ln w="9525" cap="flat" cmpd="sng" algn="ctr">
                      <a:solidFill>
                        <a:srgbClr val="FFFFFF">
                          <a:lumMod val="65000"/>
                        </a:srgbClr>
                      </a:solidFill>
                      <a:prstDash val="solid"/>
                    </a:ln>
                  </p:spPr>
                </p:cxnSp>
                <p:cxnSp>
                  <p:nvCxnSpPr>
                    <p:cNvPr id="389" name="直接连接符 275"/>
                    <p:cNvCxnSpPr/>
                    <p:nvPr>
                      <p:custDataLst>
                        <p:tags r:id="rId49"/>
                      </p:custDataLst>
                    </p:nvPr>
                  </p:nvCxnSpPr>
                  <p:spPr>
                    <a:xfrm flipH="1">
                      <a:off x="8026614" y="4378516"/>
                      <a:ext cx="0" cy="309756"/>
                    </a:xfrm>
                    <a:prstGeom prst="line">
                      <a:avLst/>
                    </a:prstGeom>
                    <a:noFill/>
                    <a:ln w="9525" cap="flat" cmpd="sng" algn="ctr">
                      <a:solidFill>
                        <a:srgbClr val="00B0F0">
                          <a:alpha val="35000"/>
                        </a:srgbClr>
                      </a:solidFill>
                      <a:prstDash val="solid"/>
                    </a:ln>
                  </p:spPr>
                </p:cxnSp>
                <p:sp>
                  <p:nvSpPr>
                    <p:cNvPr id="390" name="TextBox 107"/>
                    <p:cNvSpPr txBox="1"/>
                    <p:nvPr>
                      <p:custDataLst>
                        <p:tags r:id="rId50"/>
                      </p:custDataLst>
                    </p:nvPr>
                  </p:nvSpPr>
                  <p:spPr>
                    <a:xfrm>
                      <a:off x="6777369" y="4172957"/>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sp>
                  <p:nvSpPr>
                    <p:cNvPr id="391" name="TextBox 107"/>
                    <p:cNvSpPr txBox="1"/>
                    <p:nvPr>
                      <p:custDataLst>
                        <p:tags r:id="rId51"/>
                      </p:custDataLst>
                    </p:nvPr>
                  </p:nvSpPr>
                  <p:spPr>
                    <a:xfrm>
                      <a:off x="6791558" y="4764663"/>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sp>
                  <p:nvSpPr>
                    <p:cNvPr id="392" name="TextBox 107"/>
                    <p:cNvSpPr txBox="1"/>
                    <p:nvPr>
                      <p:custDataLst>
                        <p:tags r:id="rId52"/>
                      </p:custDataLst>
                    </p:nvPr>
                  </p:nvSpPr>
                  <p:spPr>
                    <a:xfrm>
                      <a:off x="8065467" y="4365745"/>
                      <a:ext cx="278864" cy="117365"/>
                    </a:xfrm>
                    <a:prstGeom prst="rect">
                      <a:avLst/>
                    </a:prstGeom>
                    <a:noFill/>
                  </p:spPr>
                  <p:txBody>
                    <a:bodyPr wrap="square" lIns="0" tIns="0" rIns="0" bIns="0" rtlCol="0">
                      <a:spAutoFit/>
                    </a:bodyPr>
                    <a:lstStyle/>
                    <a:p>
                      <a:pPr algn="ct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a:t>
                      </a:r>
                    </a:p>
                  </p:txBody>
                </p:sp>
                <p:sp>
                  <p:nvSpPr>
                    <p:cNvPr id="393" name="TextBox 107"/>
                    <p:cNvSpPr txBox="1"/>
                    <p:nvPr>
                      <p:custDataLst>
                        <p:tags r:id="rId53"/>
                      </p:custDataLst>
                    </p:nvPr>
                  </p:nvSpPr>
                  <p:spPr>
                    <a:xfrm>
                      <a:off x="8065467" y="4612115"/>
                      <a:ext cx="278864" cy="117365"/>
                    </a:xfrm>
                    <a:prstGeom prst="rect">
                      <a:avLst/>
                    </a:prstGeom>
                    <a:noFill/>
                  </p:spPr>
                  <p:txBody>
                    <a:bodyPr wrap="square" lIns="0" tIns="0" rIns="0" bIns="0" rtlCol="0">
                      <a:spAutoFit/>
                    </a:bodyPr>
                    <a:lstStyle/>
                    <a:p>
                      <a:pPr algn="ct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a:t>
                      </a:r>
                    </a:p>
                  </p:txBody>
                </p:sp>
                <p:sp>
                  <p:nvSpPr>
                    <p:cNvPr id="394" name="TextBox 107"/>
                    <p:cNvSpPr txBox="1"/>
                    <p:nvPr>
                      <p:custDataLst>
                        <p:tags r:id="rId54"/>
                      </p:custDataLst>
                    </p:nvPr>
                  </p:nvSpPr>
                  <p:spPr>
                    <a:xfrm>
                      <a:off x="9081434" y="4211815"/>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sp>
                  <p:nvSpPr>
                    <p:cNvPr id="395" name="TextBox 107"/>
                    <p:cNvSpPr txBox="1"/>
                    <p:nvPr>
                      <p:custDataLst>
                        <p:tags r:id="rId55"/>
                      </p:custDataLst>
                    </p:nvPr>
                  </p:nvSpPr>
                  <p:spPr>
                    <a:xfrm>
                      <a:off x="9081434" y="4755235"/>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cxnSp>
                  <p:nvCxnSpPr>
                    <p:cNvPr id="396" name="Straight Connector 51"/>
                    <p:cNvCxnSpPr/>
                    <p:nvPr>
                      <p:custDataLst>
                        <p:tags r:id="rId56"/>
                      </p:custDataLst>
                    </p:nvPr>
                  </p:nvCxnSpPr>
                  <p:spPr>
                    <a:xfrm flipV="1">
                      <a:off x="7262234" y="4283386"/>
                      <a:ext cx="1494838" cy="24731"/>
                    </a:xfrm>
                    <a:prstGeom prst="line">
                      <a:avLst/>
                    </a:prstGeom>
                    <a:noFill/>
                    <a:ln w="41275" cap="rnd" cmpd="sng" algn="ctr">
                      <a:solidFill>
                        <a:srgbClr val="ED5326"/>
                      </a:solidFill>
                      <a:prstDash val="sysDot"/>
                      <a:headEnd type="none"/>
                      <a:tailEnd type="stealth" w="med" len="med"/>
                    </a:ln>
                  </p:spPr>
                </p:cxnSp>
                <p:grpSp>
                  <p:nvGrpSpPr>
                    <p:cNvPr id="397" name="组合 283"/>
                    <p:cNvGrpSpPr/>
                    <p:nvPr>
                      <p:custDataLst>
                        <p:tags r:id="rId57"/>
                      </p:custDataLst>
                    </p:nvPr>
                  </p:nvGrpSpPr>
                  <p:grpSpPr>
                    <a:xfrm>
                      <a:off x="6927921" y="4152603"/>
                      <a:ext cx="276849" cy="237558"/>
                      <a:chOff x="6853238" y="830263"/>
                      <a:chExt cx="536574" cy="523875"/>
                    </a:xfrm>
                    <a:solidFill>
                      <a:srgbClr val="4099C3"/>
                    </a:solidFill>
                  </p:grpSpPr>
                  <p:sp>
                    <p:nvSpPr>
                      <p:cNvPr id="431" name="Freeform 77"/>
                      <p:cNvSpPr>
                        <a:spLocks noEditPoints="1"/>
                      </p:cNvSpPr>
                      <p:nvPr>
                        <p:custDataLst>
                          <p:tags r:id="rId91"/>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2" name="Freeform 78"/>
                      <p:cNvSpPr/>
                      <p:nvPr>
                        <p:custDataLst>
                          <p:tags r:id="rId92"/>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3" name="Freeform 79"/>
                      <p:cNvSpPr/>
                      <p:nvPr>
                        <p:custDataLst>
                          <p:tags r:id="rId93"/>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4" name="Freeform 80"/>
                      <p:cNvSpPr/>
                      <p:nvPr>
                        <p:custDataLst>
                          <p:tags r:id="rId94"/>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5" name="Freeform 81"/>
                      <p:cNvSpPr/>
                      <p:nvPr>
                        <p:custDataLst>
                          <p:tags r:id="rId95"/>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398" name="组合 284"/>
                    <p:cNvGrpSpPr/>
                    <p:nvPr>
                      <p:custDataLst>
                        <p:tags r:id="rId58"/>
                      </p:custDataLst>
                    </p:nvPr>
                  </p:nvGrpSpPr>
                  <p:grpSpPr>
                    <a:xfrm>
                      <a:off x="6926694" y="4685177"/>
                      <a:ext cx="276849" cy="237558"/>
                      <a:chOff x="6853238" y="830263"/>
                      <a:chExt cx="536574" cy="523875"/>
                    </a:xfrm>
                    <a:solidFill>
                      <a:srgbClr val="4099C3"/>
                    </a:solidFill>
                  </p:grpSpPr>
                  <p:sp>
                    <p:nvSpPr>
                      <p:cNvPr id="426" name="Freeform 77"/>
                      <p:cNvSpPr>
                        <a:spLocks noEditPoints="1"/>
                      </p:cNvSpPr>
                      <p:nvPr>
                        <p:custDataLst>
                          <p:tags r:id="rId86"/>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7" name="Freeform 78"/>
                      <p:cNvSpPr/>
                      <p:nvPr>
                        <p:custDataLst>
                          <p:tags r:id="rId87"/>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8" name="Freeform 79"/>
                      <p:cNvSpPr/>
                      <p:nvPr>
                        <p:custDataLst>
                          <p:tags r:id="rId88"/>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9" name="Freeform 80"/>
                      <p:cNvSpPr/>
                      <p:nvPr>
                        <p:custDataLst>
                          <p:tags r:id="rId89"/>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0" name="Freeform 81"/>
                      <p:cNvSpPr/>
                      <p:nvPr>
                        <p:custDataLst>
                          <p:tags r:id="rId90"/>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399" name="组合 285"/>
                    <p:cNvGrpSpPr/>
                    <p:nvPr>
                      <p:custDataLst>
                        <p:tags r:id="rId59"/>
                      </p:custDataLst>
                    </p:nvPr>
                  </p:nvGrpSpPr>
                  <p:grpSpPr>
                    <a:xfrm>
                      <a:off x="7897308" y="4685177"/>
                      <a:ext cx="276849" cy="237558"/>
                      <a:chOff x="6884246" y="830263"/>
                      <a:chExt cx="536574" cy="523875"/>
                    </a:xfrm>
                    <a:solidFill>
                      <a:srgbClr val="4099C3"/>
                    </a:solidFill>
                  </p:grpSpPr>
                  <p:sp>
                    <p:nvSpPr>
                      <p:cNvPr id="421" name="Freeform 77"/>
                      <p:cNvSpPr>
                        <a:spLocks noEditPoints="1"/>
                      </p:cNvSpPr>
                      <p:nvPr>
                        <p:custDataLst>
                          <p:tags r:id="rId81"/>
                        </p:custDataLst>
                      </p:nvPr>
                    </p:nvSpPr>
                    <p:spPr bwMode="auto">
                      <a:xfrm>
                        <a:off x="6884246"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2" name="Freeform 78"/>
                      <p:cNvSpPr/>
                      <p:nvPr>
                        <p:custDataLst>
                          <p:tags r:id="rId82"/>
                        </p:custDataLst>
                      </p:nvPr>
                    </p:nvSpPr>
                    <p:spPr bwMode="auto">
                      <a:xfrm>
                        <a:off x="7074746" y="995363"/>
                        <a:ext cx="152399" cy="87314"/>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3" name="Freeform 79"/>
                      <p:cNvSpPr/>
                      <p:nvPr>
                        <p:custDataLst>
                          <p:tags r:id="rId83"/>
                        </p:custDataLst>
                      </p:nvPr>
                    </p:nvSpPr>
                    <p:spPr bwMode="auto">
                      <a:xfrm>
                        <a:off x="7074746" y="873126"/>
                        <a:ext cx="150812" cy="87314"/>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4" name="Freeform 80"/>
                      <p:cNvSpPr/>
                      <p:nvPr>
                        <p:custDataLst>
                          <p:tags r:id="rId84"/>
                        </p:custDataLst>
                      </p:nvPr>
                    </p:nvSpPr>
                    <p:spPr bwMode="auto">
                      <a:xfrm>
                        <a:off x="6969971" y="930276"/>
                        <a:ext cx="139700" cy="93662"/>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5" name="Freeform 81"/>
                      <p:cNvSpPr/>
                      <p:nvPr>
                        <p:custDataLst>
                          <p:tags r:id="rId85"/>
                        </p:custDataLst>
                      </p:nvPr>
                    </p:nvSpPr>
                    <p:spPr bwMode="auto">
                      <a:xfrm>
                        <a:off x="7190633" y="930276"/>
                        <a:ext cx="141287" cy="93662"/>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400" name="组合 286"/>
                    <p:cNvGrpSpPr/>
                    <p:nvPr>
                      <p:custDataLst>
                        <p:tags r:id="rId60"/>
                      </p:custDataLst>
                    </p:nvPr>
                  </p:nvGrpSpPr>
                  <p:grpSpPr>
                    <a:xfrm>
                      <a:off x="7889523" y="4140960"/>
                      <a:ext cx="276849" cy="237558"/>
                      <a:chOff x="6818354" y="830263"/>
                      <a:chExt cx="536574" cy="523875"/>
                    </a:xfrm>
                    <a:solidFill>
                      <a:srgbClr val="4099C3"/>
                    </a:solidFill>
                  </p:grpSpPr>
                  <p:sp>
                    <p:nvSpPr>
                      <p:cNvPr id="416" name="Freeform 77"/>
                      <p:cNvSpPr>
                        <a:spLocks noEditPoints="1"/>
                      </p:cNvSpPr>
                      <p:nvPr>
                        <p:custDataLst>
                          <p:tags r:id="rId76"/>
                        </p:custDataLst>
                      </p:nvPr>
                    </p:nvSpPr>
                    <p:spPr bwMode="auto">
                      <a:xfrm>
                        <a:off x="6818354"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7" name="Freeform 78"/>
                      <p:cNvSpPr/>
                      <p:nvPr>
                        <p:custDataLst>
                          <p:tags r:id="rId77"/>
                        </p:custDataLst>
                      </p:nvPr>
                    </p:nvSpPr>
                    <p:spPr bwMode="auto">
                      <a:xfrm>
                        <a:off x="7008854" y="995363"/>
                        <a:ext cx="152399" cy="87314"/>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8" name="Freeform 79"/>
                      <p:cNvSpPr/>
                      <p:nvPr>
                        <p:custDataLst>
                          <p:tags r:id="rId78"/>
                        </p:custDataLst>
                      </p:nvPr>
                    </p:nvSpPr>
                    <p:spPr bwMode="auto">
                      <a:xfrm>
                        <a:off x="7008854" y="873126"/>
                        <a:ext cx="150812" cy="87314"/>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9" name="Freeform 80"/>
                      <p:cNvSpPr/>
                      <p:nvPr>
                        <p:custDataLst>
                          <p:tags r:id="rId79"/>
                        </p:custDataLst>
                      </p:nvPr>
                    </p:nvSpPr>
                    <p:spPr bwMode="auto">
                      <a:xfrm>
                        <a:off x="6904079" y="930276"/>
                        <a:ext cx="139700" cy="93662"/>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0" name="Freeform 81"/>
                      <p:cNvSpPr/>
                      <p:nvPr>
                        <p:custDataLst>
                          <p:tags r:id="rId80"/>
                        </p:custDataLst>
                      </p:nvPr>
                    </p:nvSpPr>
                    <p:spPr bwMode="auto">
                      <a:xfrm>
                        <a:off x="7124741" y="930276"/>
                        <a:ext cx="141287" cy="93662"/>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401" name="组合 287"/>
                    <p:cNvGrpSpPr/>
                    <p:nvPr>
                      <p:custDataLst>
                        <p:tags r:id="rId61"/>
                      </p:custDataLst>
                    </p:nvPr>
                  </p:nvGrpSpPr>
                  <p:grpSpPr>
                    <a:xfrm>
                      <a:off x="8771204" y="4151173"/>
                      <a:ext cx="276849" cy="237558"/>
                      <a:chOff x="6853238" y="830263"/>
                      <a:chExt cx="536574" cy="523875"/>
                    </a:xfrm>
                    <a:solidFill>
                      <a:srgbClr val="4099C3"/>
                    </a:solidFill>
                  </p:grpSpPr>
                  <p:sp>
                    <p:nvSpPr>
                      <p:cNvPr id="411" name="Freeform 77"/>
                      <p:cNvSpPr>
                        <a:spLocks noEditPoints="1"/>
                      </p:cNvSpPr>
                      <p:nvPr>
                        <p:custDataLst>
                          <p:tags r:id="rId71"/>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2" name="Freeform 78"/>
                      <p:cNvSpPr/>
                      <p:nvPr>
                        <p:custDataLst>
                          <p:tags r:id="rId72"/>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3" name="Freeform 79"/>
                      <p:cNvSpPr/>
                      <p:nvPr>
                        <p:custDataLst>
                          <p:tags r:id="rId73"/>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4" name="Freeform 80"/>
                      <p:cNvSpPr/>
                      <p:nvPr>
                        <p:custDataLst>
                          <p:tags r:id="rId74"/>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5" name="Freeform 81"/>
                      <p:cNvSpPr/>
                      <p:nvPr>
                        <p:custDataLst>
                          <p:tags r:id="rId75"/>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402" name="组合 288"/>
                    <p:cNvGrpSpPr/>
                    <p:nvPr>
                      <p:custDataLst>
                        <p:tags r:id="rId62"/>
                      </p:custDataLst>
                    </p:nvPr>
                  </p:nvGrpSpPr>
                  <p:grpSpPr>
                    <a:xfrm>
                      <a:off x="8770216" y="4705442"/>
                      <a:ext cx="276849" cy="237558"/>
                      <a:chOff x="6853238" y="830263"/>
                      <a:chExt cx="536574" cy="523875"/>
                    </a:xfrm>
                    <a:solidFill>
                      <a:srgbClr val="4099C3"/>
                    </a:solidFill>
                  </p:grpSpPr>
                  <p:sp>
                    <p:nvSpPr>
                      <p:cNvPr id="406" name="Freeform 77"/>
                      <p:cNvSpPr>
                        <a:spLocks noEditPoints="1"/>
                      </p:cNvSpPr>
                      <p:nvPr>
                        <p:custDataLst>
                          <p:tags r:id="rId66"/>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7" name="Freeform 78"/>
                      <p:cNvSpPr/>
                      <p:nvPr>
                        <p:custDataLst>
                          <p:tags r:id="rId67"/>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8" name="Freeform 79"/>
                      <p:cNvSpPr/>
                      <p:nvPr>
                        <p:custDataLst>
                          <p:tags r:id="rId68"/>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9" name="Freeform 80"/>
                      <p:cNvSpPr/>
                      <p:nvPr>
                        <p:custDataLst>
                          <p:tags r:id="rId69"/>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0" name="Freeform 81"/>
                      <p:cNvSpPr/>
                      <p:nvPr>
                        <p:custDataLst>
                          <p:tags r:id="rId70"/>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sp>
                  <p:nvSpPr>
                    <p:cNvPr id="403" name="Freeform 5"/>
                    <p:cNvSpPr/>
                    <p:nvPr>
                      <p:custDataLst>
                        <p:tags r:id="rId63"/>
                      </p:custDataLst>
                    </p:nvPr>
                  </p:nvSpPr>
                  <p:spPr bwMode="auto">
                    <a:xfrm rot="8656569">
                      <a:off x="7621735" y="4462574"/>
                      <a:ext cx="190633" cy="135536"/>
                    </a:xfrm>
                    <a:custGeom>
                      <a:avLst/>
                      <a:gdLst>
                        <a:gd name="T0" fmla="*/ 768 w 768"/>
                        <a:gd name="T1" fmla="*/ 100 h 744"/>
                        <a:gd name="T2" fmla="*/ 609 w 768"/>
                        <a:gd name="T3" fmla="*/ 283 h 744"/>
                        <a:gd name="T4" fmla="*/ 589 w 768"/>
                        <a:gd name="T5" fmla="*/ 202 h 744"/>
                        <a:gd name="T6" fmla="*/ 36 w 768"/>
                        <a:gd name="T7" fmla="*/ 744 h 744"/>
                        <a:gd name="T8" fmla="*/ 560 w 768"/>
                        <a:gd name="T9" fmla="*/ 83 h 744"/>
                        <a:gd name="T10" fmla="*/ 540 w 768"/>
                        <a:gd name="T11" fmla="*/ 0 h 744"/>
                        <a:gd name="T12" fmla="*/ 768 w 768"/>
                        <a:gd name="T13" fmla="*/ 100 h 744"/>
                      </a:gdLst>
                      <a:ahLst/>
                      <a:cxnLst>
                        <a:cxn ang="0">
                          <a:pos x="T0" y="T1"/>
                        </a:cxn>
                        <a:cxn ang="0">
                          <a:pos x="T2" y="T3"/>
                        </a:cxn>
                        <a:cxn ang="0">
                          <a:pos x="T4" y="T5"/>
                        </a:cxn>
                        <a:cxn ang="0">
                          <a:pos x="T6" y="T7"/>
                        </a:cxn>
                        <a:cxn ang="0">
                          <a:pos x="T8" y="T9"/>
                        </a:cxn>
                        <a:cxn ang="0">
                          <a:pos x="T10" y="T11"/>
                        </a:cxn>
                        <a:cxn ang="0">
                          <a:pos x="T12" y="T13"/>
                        </a:cxn>
                      </a:cxnLst>
                      <a:rect l="0" t="0" r="r" b="b"/>
                      <a:pathLst>
                        <a:path w="768" h="744">
                          <a:moveTo>
                            <a:pt x="768" y="100"/>
                          </a:moveTo>
                          <a:cubicBezTo>
                            <a:pt x="609" y="283"/>
                            <a:pt x="609" y="283"/>
                            <a:pt x="609" y="283"/>
                          </a:cubicBezTo>
                          <a:cubicBezTo>
                            <a:pt x="609" y="283"/>
                            <a:pt x="590" y="202"/>
                            <a:pt x="589" y="202"/>
                          </a:cubicBezTo>
                          <a:cubicBezTo>
                            <a:pt x="65" y="361"/>
                            <a:pt x="36" y="744"/>
                            <a:pt x="36" y="744"/>
                          </a:cubicBezTo>
                          <a:cubicBezTo>
                            <a:pt x="36" y="744"/>
                            <a:pt x="0" y="260"/>
                            <a:pt x="560" y="83"/>
                          </a:cubicBezTo>
                          <a:cubicBezTo>
                            <a:pt x="561" y="80"/>
                            <a:pt x="540" y="0"/>
                            <a:pt x="540" y="0"/>
                          </a:cubicBezTo>
                          <a:lnTo>
                            <a:pt x="768" y="100"/>
                          </a:lnTo>
                          <a:close/>
                        </a:path>
                      </a:pathLst>
                    </a:custGeom>
                    <a:solidFill>
                      <a:srgbClr val="E66C7D">
                        <a:lumMod val="75000"/>
                      </a:srgbClr>
                    </a:solidFill>
                    <a:ln>
                      <a:noFill/>
                    </a:ln>
                    <a:effectLst>
                      <a:outerShdw blurRad="63500" sx="101000" sy="101000" algn="ctr" rotWithShape="0">
                        <a:srgbClr val="000000">
                          <a:alpha val="20000"/>
                        </a:srgbClr>
                      </a:outerShdw>
                    </a:effectLst>
                  </p:spPr>
                  <p:txBody>
                    <a:bodyPr lIns="96572" tIns="48287" rIns="96572" bIns="48287"/>
                    <a:lstStyle/>
                    <a:p>
                      <a:pPr defTabSz="912605" eaLnBrk="0" hangingPunct="0">
                        <a:spcBef>
                          <a:spcPct val="20000"/>
                        </a:spcBef>
                        <a:buClr>
                          <a:srgbClr val="990000"/>
                        </a:buClr>
                        <a:buSzPct val="60000"/>
                        <a:defRPr/>
                      </a:pPr>
                      <a:endParaRPr lang="zh-CN" altLang="en-US" sz="211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4" name="TextBox 109"/>
                    <p:cNvSpPr txBox="1"/>
                    <p:nvPr>
                      <p:custDataLst>
                        <p:tags r:id="rId64"/>
                      </p:custDataLst>
                    </p:nvPr>
                  </p:nvSpPr>
                  <p:spPr>
                    <a:xfrm>
                      <a:off x="7235919" y="4109260"/>
                      <a:ext cx="607878" cy="195830"/>
                    </a:xfrm>
                    <a:prstGeom prst="rect">
                      <a:avLst/>
                    </a:prstGeom>
                    <a:noFill/>
                  </p:spPr>
                  <p:txBody>
                    <a:bodyPr wrap="square" rtlCol="0">
                      <a:spAutoFit/>
                    </a:bodyPr>
                    <a:lstStyle/>
                    <a:p>
                      <a:pPr algn="ctr" defTabSz="1287692">
                        <a:defRPr/>
                      </a:pPr>
                      <a:r>
                        <a:rPr lang="en-US" altLang="zh-CN" sz="1162" b="1" kern="0" dirty="0">
                          <a:solidFill>
                            <a:srgbClr val="272727"/>
                          </a:solidFill>
                          <a:latin typeface="微软雅黑" panose="020B0503020204020204" pitchFamily="34" charset="-122"/>
                          <a:ea typeface="微软雅黑" panose="020B0503020204020204" pitchFamily="34" charset="-122"/>
                          <a:cs typeface="+mn-ea"/>
                          <a:sym typeface="+mn-lt"/>
                        </a:rPr>
                        <a:t>80%</a:t>
                      </a:r>
                    </a:p>
                  </p:txBody>
                </p:sp>
                <p:sp>
                  <p:nvSpPr>
                    <p:cNvPr id="405" name="TextBox 111"/>
                    <p:cNvSpPr txBox="1"/>
                    <p:nvPr>
                      <p:custDataLst>
                        <p:tags r:id="rId65"/>
                      </p:custDataLst>
                    </p:nvPr>
                  </p:nvSpPr>
                  <p:spPr>
                    <a:xfrm rot="2159219">
                      <a:off x="7314266" y="4585037"/>
                      <a:ext cx="320416" cy="209327"/>
                    </a:xfrm>
                    <a:prstGeom prst="rect">
                      <a:avLst/>
                    </a:prstGeom>
                    <a:noFill/>
                  </p:spPr>
                  <p:txBody>
                    <a:bodyPr wrap="none" rtlCol="0">
                      <a:spAutoFit/>
                    </a:bodyPr>
                    <a:lstStyle/>
                    <a:p>
                      <a:pPr defTabSz="1287692">
                        <a:defRPr/>
                      </a:pPr>
                      <a:r>
                        <a:rPr lang="en-US" altLang="zh-CN" sz="1267" b="1" kern="0" dirty="0">
                          <a:solidFill>
                            <a:srgbClr val="272727"/>
                          </a:solidFill>
                          <a:latin typeface="微软雅黑" panose="020B0503020204020204" pitchFamily="34" charset="-122"/>
                          <a:ea typeface="微软雅黑" panose="020B0503020204020204" pitchFamily="34" charset="-122"/>
                          <a:cs typeface="+mn-ea"/>
                          <a:sym typeface="+mn-lt"/>
                        </a:rPr>
                        <a:t>20%</a:t>
                      </a:r>
                    </a:p>
                  </p:txBody>
                </p:sp>
              </p:grpSp>
            </p:grpSp>
            <p:sp>
              <p:nvSpPr>
                <p:cNvPr id="346" name="任意多边形 325"/>
                <p:cNvSpPr/>
                <p:nvPr>
                  <p:custDataLst>
                    <p:tags r:id="rId6"/>
                  </p:custDataLst>
                </p:nvPr>
              </p:nvSpPr>
              <p:spPr>
                <a:xfrm>
                  <a:off x="6958429" y="4596083"/>
                  <a:ext cx="2529719" cy="645547"/>
                </a:xfrm>
                <a:custGeom>
                  <a:avLst/>
                  <a:gdLst>
                    <a:gd name="connsiteX0" fmla="*/ 0 w 2420983"/>
                    <a:gd name="connsiteY0" fmla="*/ 113211 h 679271"/>
                    <a:gd name="connsiteX1" fmla="*/ 1088572 w 2420983"/>
                    <a:gd name="connsiteY1" fmla="*/ 679268 h 679271"/>
                    <a:gd name="connsiteX2" fmla="*/ 1201783 w 2420983"/>
                    <a:gd name="connsiteY2" fmla="*/ 121920 h 679271"/>
                    <a:gd name="connsiteX3" fmla="*/ 2420983 w 2420983"/>
                    <a:gd name="connsiteY3" fmla="*/ 0 h 679271"/>
                    <a:gd name="connsiteX0dup0" fmla="*/ 0 w 2394857"/>
                    <a:gd name="connsiteY0dup0" fmla="*/ 12316 h 679794"/>
                    <a:gd name="connsiteX1dup0" fmla="*/ 1062446 w 2394857"/>
                    <a:gd name="connsiteY1dup0" fmla="*/ 679268 h 679794"/>
                    <a:gd name="connsiteX2dup0" fmla="*/ 1175657 w 2394857"/>
                    <a:gd name="connsiteY2dup0" fmla="*/ 121920 h 679794"/>
                    <a:gd name="connsiteX3dup0" fmla="*/ 2394857 w 2394857"/>
                    <a:gd name="connsiteY3dup0" fmla="*/ 0 h 679794"/>
                    <a:gd name="connsiteX0dup0dup1" fmla="*/ 0 w 2394857"/>
                    <a:gd name="connsiteY0dup0dup1" fmla="*/ 41076 h 708041"/>
                    <a:gd name="connsiteX1dup0dup1" fmla="*/ 1062446 w 2394857"/>
                    <a:gd name="connsiteY1dup0dup1" fmla="*/ 708028 h 708041"/>
                    <a:gd name="connsiteX2dup0dup1" fmla="*/ 1245326 w 2394857"/>
                    <a:gd name="connsiteY2dup0dup1" fmla="*/ 59874 h 708041"/>
                    <a:gd name="connsiteX3dup0dup1" fmla="*/ 2394857 w 2394857"/>
                    <a:gd name="connsiteY3dup0dup1" fmla="*/ 28760 h 708041"/>
                  </a:gdLst>
                  <a:ahLst/>
                  <a:cxnLst>
                    <a:cxn ang="0">
                      <a:pos x="connsiteX0dup0dup1" y="connsiteY0dup0dup1"/>
                    </a:cxn>
                    <a:cxn ang="0">
                      <a:pos x="connsiteX1dup0dup1" y="connsiteY1dup0dup1"/>
                    </a:cxn>
                    <a:cxn ang="0">
                      <a:pos x="connsiteX2dup0dup1" y="connsiteY2dup0dup1"/>
                    </a:cxn>
                    <a:cxn ang="0">
                      <a:pos x="connsiteX3dup0dup1" y="connsiteY3dup0dup1"/>
                    </a:cxn>
                  </a:cxnLst>
                  <a:rect l="l" t="t" r="r" b="b"/>
                  <a:pathLst>
                    <a:path w="2394857" h="708041">
                      <a:moveTo>
                        <a:pt x="0" y="41076"/>
                      </a:moveTo>
                      <a:cubicBezTo>
                        <a:pt x="444137" y="323379"/>
                        <a:pt x="854892" y="704895"/>
                        <a:pt x="1062446" y="708028"/>
                      </a:cubicBezTo>
                      <a:cubicBezTo>
                        <a:pt x="1270000" y="711161"/>
                        <a:pt x="1023258" y="173085"/>
                        <a:pt x="1245326" y="59874"/>
                      </a:cubicBezTo>
                      <a:cubicBezTo>
                        <a:pt x="1467395" y="-53337"/>
                        <a:pt x="2394857" y="28760"/>
                        <a:pt x="2394857" y="28760"/>
                      </a:cubicBezTo>
                    </a:path>
                  </a:pathLst>
                </a:custGeom>
                <a:noFill/>
                <a:ln w="41275" cap="flat" cmpd="sng" algn="ctr">
                  <a:solidFill>
                    <a:srgbClr val="92D050"/>
                  </a:solidFill>
                  <a:prstDash val="sysDot"/>
                  <a:tailEnd type="stealth" w="med" len="med"/>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grpSp>
              <p:nvGrpSpPr>
                <p:cNvPr id="347" name="组合 326"/>
                <p:cNvGrpSpPr>
                  <a:grpSpLocks noChangeAspect="1"/>
                </p:cNvGrpSpPr>
                <p:nvPr>
                  <p:custDataLst>
                    <p:tags r:id="rId7"/>
                  </p:custDataLst>
                </p:nvPr>
              </p:nvGrpSpPr>
              <p:grpSpPr>
                <a:xfrm>
                  <a:off x="6992774" y="2508496"/>
                  <a:ext cx="2365011" cy="1092454"/>
                  <a:chOff x="5100721" y="1762934"/>
                  <a:chExt cx="3160123" cy="1329700"/>
                </a:xfrm>
              </p:grpSpPr>
              <p:sp>
                <p:nvSpPr>
                  <p:cNvPr id="355" name="矩形 327"/>
                  <p:cNvSpPr/>
                  <p:nvPr>
                    <p:custDataLst>
                      <p:tags r:id="rId15"/>
                    </p:custDataLst>
                  </p:nvPr>
                </p:nvSpPr>
                <p:spPr>
                  <a:xfrm>
                    <a:off x="5736548" y="1762934"/>
                    <a:ext cx="2524296" cy="1329700"/>
                  </a:xfrm>
                  <a:prstGeom prst="rect">
                    <a:avLst/>
                  </a:prstGeom>
                  <a:noFill/>
                  <a:ln w="9525" cap="flat" cmpd="sng" algn="ctr">
                    <a:solidFill>
                      <a:srgbClr val="00CCFF"/>
                    </a:solidFill>
                    <a:prstDash val="dash"/>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grpSp>
                <p:nvGrpSpPr>
                  <p:cNvPr id="356" name="组合 328"/>
                  <p:cNvGrpSpPr/>
                  <p:nvPr>
                    <p:custDataLst>
                      <p:tags r:id="rId16"/>
                    </p:custDataLst>
                  </p:nvPr>
                </p:nvGrpSpPr>
                <p:grpSpPr>
                  <a:xfrm>
                    <a:off x="5100721" y="1864303"/>
                    <a:ext cx="3070735" cy="1137475"/>
                    <a:chOff x="4917656" y="1793086"/>
                    <a:chExt cx="3070735" cy="1137475"/>
                  </a:xfrm>
                </p:grpSpPr>
                <p:grpSp>
                  <p:nvGrpSpPr>
                    <p:cNvPr id="357" name="组合 329"/>
                    <p:cNvGrpSpPr/>
                    <p:nvPr>
                      <p:custDataLst>
                        <p:tags r:id="rId17"/>
                      </p:custDataLst>
                    </p:nvPr>
                  </p:nvGrpSpPr>
                  <p:grpSpPr>
                    <a:xfrm>
                      <a:off x="5734796" y="2295388"/>
                      <a:ext cx="2253595" cy="635173"/>
                      <a:chOff x="5412016" y="4409640"/>
                      <a:chExt cx="2432834" cy="863838"/>
                    </a:xfrm>
                  </p:grpSpPr>
                  <p:grpSp>
                    <p:nvGrpSpPr>
                      <p:cNvPr id="362" name="组合 334"/>
                      <p:cNvGrpSpPr/>
                      <p:nvPr>
                        <p:custDataLst>
                          <p:tags r:id="rId22"/>
                        </p:custDataLst>
                      </p:nvPr>
                    </p:nvGrpSpPr>
                    <p:grpSpPr>
                      <a:xfrm>
                        <a:off x="5412016" y="5225349"/>
                        <a:ext cx="2432834" cy="48129"/>
                        <a:chOff x="6385619" y="6293798"/>
                        <a:chExt cx="2192582" cy="45204"/>
                      </a:xfrm>
                    </p:grpSpPr>
                    <p:cxnSp>
                      <p:nvCxnSpPr>
                        <p:cNvPr id="365" name="直接连接符 337"/>
                        <p:cNvCxnSpPr/>
                        <p:nvPr>
                          <p:custDataLst>
                            <p:tags r:id="rId25"/>
                          </p:custDataLst>
                        </p:nvPr>
                      </p:nvCxnSpPr>
                      <p:spPr>
                        <a:xfrm>
                          <a:off x="6385619" y="6293798"/>
                          <a:ext cx="2192582" cy="0"/>
                        </a:xfrm>
                        <a:prstGeom prst="line">
                          <a:avLst/>
                        </a:prstGeom>
                        <a:noFill/>
                        <a:ln w="9525" cap="flat" cmpd="sng" algn="ctr">
                          <a:solidFill>
                            <a:srgbClr val="FFFFFF">
                              <a:lumMod val="95000"/>
                              <a:alpha val="47000"/>
                            </a:srgbClr>
                          </a:solidFill>
                          <a:prstDash val="solid"/>
                        </a:ln>
                      </p:spPr>
                    </p:cxnSp>
                    <p:cxnSp>
                      <p:nvCxnSpPr>
                        <p:cNvPr id="366" name="直接连接符 338"/>
                        <p:cNvCxnSpPr/>
                        <p:nvPr>
                          <p:custDataLst>
                            <p:tags r:id="rId26"/>
                          </p:custDataLst>
                        </p:nvPr>
                      </p:nvCxnSpPr>
                      <p:spPr>
                        <a:xfrm flipH="1">
                          <a:off x="6385619" y="6294159"/>
                          <a:ext cx="0" cy="44843"/>
                        </a:xfrm>
                        <a:prstGeom prst="line">
                          <a:avLst/>
                        </a:prstGeom>
                        <a:noFill/>
                        <a:ln w="9525" cap="flat" cmpd="sng" algn="ctr">
                          <a:solidFill>
                            <a:srgbClr val="FFFFFF">
                              <a:lumMod val="95000"/>
                              <a:alpha val="47000"/>
                            </a:srgbClr>
                          </a:solidFill>
                          <a:prstDash val="solid"/>
                        </a:ln>
                      </p:spPr>
                    </p:cxnSp>
                    <p:cxnSp>
                      <p:nvCxnSpPr>
                        <p:cNvPr id="367" name="直接连接符 339"/>
                        <p:cNvCxnSpPr/>
                        <p:nvPr>
                          <p:custDataLst>
                            <p:tags r:id="rId27"/>
                          </p:custDataLst>
                        </p:nvPr>
                      </p:nvCxnSpPr>
                      <p:spPr>
                        <a:xfrm flipH="1">
                          <a:off x="8578201" y="6294159"/>
                          <a:ext cx="0" cy="44843"/>
                        </a:xfrm>
                        <a:prstGeom prst="line">
                          <a:avLst/>
                        </a:prstGeom>
                        <a:noFill/>
                        <a:ln w="9525" cap="flat" cmpd="sng" algn="ctr">
                          <a:solidFill>
                            <a:srgbClr val="FFFFFF">
                              <a:lumMod val="95000"/>
                              <a:alpha val="47000"/>
                            </a:srgbClr>
                          </a:solidFill>
                          <a:prstDash val="solid"/>
                        </a:ln>
                      </p:spPr>
                    </p:cxnSp>
                    <p:cxnSp>
                      <p:nvCxnSpPr>
                        <p:cNvPr id="368" name="直接连接符 340"/>
                        <p:cNvCxnSpPr/>
                        <p:nvPr>
                          <p:custDataLst>
                            <p:tags r:id="rId28"/>
                          </p:custDataLst>
                        </p:nvPr>
                      </p:nvCxnSpPr>
                      <p:spPr>
                        <a:xfrm flipH="1">
                          <a:off x="6604877" y="6294159"/>
                          <a:ext cx="0" cy="44843"/>
                        </a:xfrm>
                        <a:prstGeom prst="line">
                          <a:avLst/>
                        </a:prstGeom>
                        <a:noFill/>
                        <a:ln w="9525" cap="flat" cmpd="sng" algn="ctr">
                          <a:solidFill>
                            <a:srgbClr val="FFFFFF">
                              <a:lumMod val="95000"/>
                              <a:alpha val="47000"/>
                            </a:srgbClr>
                          </a:solidFill>
                          <a:prstDash val="solid"/>
                        </a:ln>
                      </p:spPr>
                    </p:cxnSp>
                    <p:cxnSp>
                      <p:nvCxnSpPr>
                        <p:cNvPr id="369" name="直接连接符 341"/>
                        <p:cNvCxnSpPr/>
                        <p:nvPr>
                          <p:custDataLst>
                            <p:tags r:id="rId29"/>
                          </p:custDataLst>
                        </p:nvPr>
                      </p:nvCxnSpPr>
                      <p:spPr>
                        <a:xfrm flipH="1">
                          <a:off x="6824135" y="6294159"/>
                          <a:ext cx="0" cy="44843"/>
                        </a:xfrm>
                        <a:prstGeom prst="line">
                          <a:avLst/>
                        </a:prstGeom>
                        <a:noFill/>
                        <a:ln w="9525" cap="flat" cmpd="sng" algn="ctr">
                          <a:solidFill>
                            <a:srgbClr val="FFFFFF">
                              <a:lumMod val="95000"/>
                              <a:alpha val="47000"/>
                            </a:srgbClr>
                          </a:solidFill>
                          <a:prstDash val="solid"/>
                        </a:ln>
                      </p:spPr>
                    </p:cxnSp>
                    <p:cxnSp>
                      <p:nvCxnSpPr>
                        <p:cNvPr id="370" name="直接连接符 342"/>
                        <p:cNvCxnSpPr/>
                        <p:nvPr>
                          <p:custDataLst>
                            <p:tags r:id="rId30"/>
                          </p:custDataLst>
                        </p:nvPr>
                      </p:nvCxnSpPr>
                      <p:spPr>
                        <a:xfrm flipH="1">
                          <a:off x="7043393" y="6294159"/>
                          <a:ext cx="0" cy="44843"/>
                        </a:xfrm>
                        <a:prstGeom prst="line">
                          <a:avLst/>
                        </a:prstGeom>
                        <a:noFill/>
                        <a:ln w="9525" cap="flat" cmpd="sng" algn="ctr">
                          <a:solidFill>
                            <a:srgbClr val="FFFFFF">
                              <a:lumMod val="95000"/>
                              <a:alpha val="47000"/>
                            </a:srgbClr>
                          </a:solidFill>
                          <a:prstDash val="solid"/>
                        </a:ln>
                      </p:spPr>
                    </p:cxnSp>
                    <p:cxnSp>
                      <p:nvCxnSpPr>
                        <p:cNvPr id="371" name="直接连接符 343"/>
                        <p:cNvCxnSpPr/>
                        <p:nvPr>
                          <p:custDataLst>
                            <p:tags r:id="rId31"/>
                          </p:custDataLst>
                        </p:nvPr>
                      </p:nvCxnSpPr>
                      <p:spPr>
                        <a:xfrm flipH="1">
                          <a:off x="7262651" y="6294159"/>
                          <a:ext cx="0" cy="44843"/>
                        </a:xfrm>
                        <a:prstGeom prst="line">
                          <a:avLst/>
                        </a:prstGeom>
                        <a:noFill/>
                        <a:ln w="9525" cap="flat" cmpd="sng" algn="ctr">
                          <a:solidFill>
                            <a:srgbClr val="FFFFFF">
                              <a:lumMod val="95000"/>
                              <a:alpha val="47000"/>
                            </a:srgbClr>
                          </a:solidFill>
                          <a:prstDash val="solid"/>
                        </a:ln>
                      </p:spPr>
                    </p:cxnSp>
                    <p:cxnSp>
                      <p:nvCxnSpPr>
                        <p:cNvPr id="372" name="直接连接符 344"/>
                        <p:cNvCxnSpPr/>
                        <p:nvPr>
                          <p:custDataLst>
                            <p:tags r:id="rId32"/>
                          </p:custDataLst>
                        </p:nvPr>
                      </p:nvCxnSpPr>
                      <p:spPr>
                        <a:xfrm flipH="1">
                          <a:off x="7481909" y="6294159"/>
                          <a:ext cx="0" cy="44843"/>
                        </a:xfrm>
                        <a:prstGeom prst="line">
                          <a:avLst/>
                        </a:prstGeom>
                        <a:noFill/>
                        <a:ln w="9525" cap="flat" cmpd="sng" algn="ctr">
                          <a:solidFill>
                            <a:srgbClr val="FFFFFF">
                              <a:lumMod val="95000"/>
                              <a:alpha val="47000"/>
                            </a:srgbClr>
                          </a:solidFill>
                          <a:prstDash val="solid"/>
                        </a:ln>
                      </p:spPr>
                    </p:cxnSp>
                    <p:cxnSp>
                      <p:nvCxnSpPr>
                        <p:cNvPr id="373" name="直接连接符 345"/>
                        <p:cNvCxnSpPr/>
                        <p:nvPr>
                          <p:custDataLst>
                            <p:tags r:id="rId33"/>
                          </p:custDataLst>
                        </p:nvPr>
                      </p:nvCxnSpPr>
                      <p:spPr>
                        <a:xfrm flipH="1">
                          <a:off x="7701167" y="6294159"/>
                          <a:ext cx="0" cy="44843"/>
                        </a:xfrm>
                        <a:prstGeom prst="line">
                          <a:avLst/>
                        </a:prstGeom>
                        <a:noFill/>
                        <a:ln w="9525" cap="flat" cmpd="sng" algn="ctr">
                          <a:solidFill>
                            <a:srgbClr val="FFFFFF">
                              <a:lumMod val="95000"/>
                              <a:alpha val="47000"/>
                            </a:srgbClr>
                          </a:solidFill>
                          <a:prstDash val="solid"/>
                        </a:ln>
                      </p:spPr>
                    </p:cxnSp>
                    <p:cxnSp>
                      <p:nvCxnSpPr>
                        <p:cNvPr id="374" name="直接连接符 346"/>
                        <p:cNvCxnSpPr/>
                        <p:nvPr>
                          <p:custDataLst>
                            <p:tags r:id="rId34"/>
                          </p:custDataLst>
                        </p:nvPr>
                      </p:nvCxnSpPr>
                      <p:spPr>
                        <a:xfrm flipH="1">
                          <a:off x="7920425" y="6294159"/>
                          <a:ext cx="0" cy="44843"/>
                        </a:xfrm>
                        <a:prstGeom prst="line">
                          <a:avLst/>
                        </a:prstGeom>
                        <a:noFill/>
                        <a:ln w="9525" cap="flat" cmpd="sng" algn="ctr">
                          <a:solidFill>
                            <a:srgbClr val="FFFFFF">
                              <a:lumMod val="95000"/>
                              <a:alpha val="47000"/>
                            </a:srgbClr>
                          </a:solidFill>
                          <a:prstDash val="solid"/>
                        </a:ln>
                      </p:spPr>
                    </p:cxnSp>
                    <p:cxnSp>
                      <p:nvCxnSpPr>
                        <p:cNvPr id="375" name="直接连接符 347"/>
                        <p:cNvCxnSpPr/>
                        <p:nvPr>
                          <p:custDataLst>
                            <p:tags r:id="rId35"/>
                          </p:custDataLst>
                        </p:nvPr>
                      </p:nvCxnSpPr>
                      <p:spPr>
                        <a:xfrm flipH="1">
                          <a:off x="8139683" y="6294159"/>
                          <a:ext cx="0" cy="44843"/>
                        </a:xfrm>
                        <a:prstGeom prst="line">
                          <a:avLst/>
                        </a:prstGeom>
                        <a:noFill/>
                        <a:ln w="9525" cap="flat" cmpd="sng" algn="ctr">
                          <a:solidFill>
                            <a:srgbClr val="FFFFFF">
                              <a:lumMod val="95000"/>
                              <a:alpha val="47000"/>
                            </a:srgbClr>
                          </a:solidFill>
                          <a:prstDash val="solid"/>
                        </a:ln>
                      </p:spPr>
                    </p:cxnSp>
                    <p:cxnSp>
                      <p:nvCxnSpPr>
                        <p:cNvPr id="376" name="直接连接符 348"/>
                        <p:cNvCxnSpPr/>
                        <p:nvPr>
                          <p:custDataLst>
                            <p:tags r:id="rId36"/>
                          </p:custDataLst>
                        </p:nvPr>
                      </p:nvCxnSpPr>
                      <p:spPr>
                        <a:xfrm flipH="1">
                          <a:off x="8358941" y="6294159"/>
                          <a:ext cx="0" cy="44843"/>
                        </a:xfrm>
                        <a:prstGeom prst="line">
                          <a:avLst/>
                        </a:prstGeom>
                        <a:noFill/>
                        <a:ln w="9525" cap="flat" cmpd="sng" algn="ctr">
                          <a:solidFill>
                            <a:srgbClr val="FFFFFF">
                              <a:lumMod val="95000"/>
                              <a:alpha val="47000"/>
                            </a:srgbClr>
                          </a:solidFill>
                          <a:prstDash val="solid"/>
                        </a:ln>
                      </p:spPr>
                    </p:cxnSp>
                  </p:grpSp>
                  <p:cxnSp>
                    <p:nvCxnSpPr>
                      <p:cNvPr id="363" name="直接连接符 335"/>
                      <p:cNvCxnSpPr/>
                      <p:nvPr>
                        <p:custDataLst>
                          <p:tags r:id="rId23"/>
                        </p:custDataLst>
                      </p:nvPr>
                    </p:nvCxnSpPr>
                    <p:spPr>
                      <a:xfrm>
                        <a:off x="5412016" y="4976444"/>
                        <a:ext cx="2432834" cy="0"/>
                      </a:xfrm>
                      <a:prstGeom prst="line">
                        <a:avLst/>
                      </a:prstGeom>
                      <a:noFill/>
                      <a:ln w="9525" cap="flat" cmpd="sng" algn="ctr">
                        <a:solidFill>
                          <a:srgbClr val="FFFFFF">
                            <a:lumMod val="95000"/>
                            <a:alpha val="47000"/>
                          </a:srgbClr>
                        </a:solidFill>
                        <a:prstDash val="solid"/>
                      </a:ln>
                    </p:spPr>
                  </p:cxnSp>
                  <p:cxnSp>
                    <p:nvCxnSpPr>
                      <p:cNvPr id="364" name="直接连接符 336"/>
                      <p:cNvCxnSpPr/>
                      <p:nvPr>
                        <p:custDataLst>
                          <p:tags r:id="rId24"/>
                        </p:custDataLst>
                      </p:nvPr>
                    </p:nvCxnSpPr>
                    <p:spPr>
                      <a:xfrm>
                        <a:off x="5412016" y="4409640"/>
                        <a:ext cx="2432834" cy="0"/>
                      </a:xfrm>
                      <a:prstGeom prst="line">
                        <a:avLst/>
                      </a:prstGeom>
                      <a:noFill/>
                      <a:ln w="12700" cap="flat" cmpd="sng" algn="ctr">
                        <a:solidFill>
                          <a:srgbClr val="C00000">
                            <a:alpha val="47000"/>
                          </a:srgbClr>
                        </a:solidFill>
                        <a:prstDash val="solid"/>
                      </a:ln>
                    </p:spPr>
                  </p:cxnSp>
                </p:grpSp>
                <p:grpSp>
                  <p:nvGrpSpPr>
                    <p:cNvPr id="358" name="组合 330"/>
                    <p:cNvGrpSpPr/>
                    <p:nvPr>
                      <p:custDataLst>
                        <p:tags r:id="rId18"/>
                      </p:custDataLst>
                    </p:nvPr>
                  </p:nvGrpSpPr>
                  <p:grpSpPr>
                    <a:xfrm>
                      <a:off x="4917656" y="1793086"/>
                      <a:ext cx="1788377" cy="929223"/>
                      <a:chOff x="4917656" y="1793086"/>
                      <a:chExt cx="1788377" cy="929223"/>
                    </a:xfrm>
                  </p:grpSpPr>
                  <p:sp>
                    <p:nvSpPr>
                      <p:cNvPr id="359" name="矩形 331"/>
                      <p:cNvSpPr/>
                      <p:nvPr>
                        <p:custDataLst>
                          <p:tags r:id="rId19"/>
                        </p:custDataLst>
                      </p:nvPr>
                    </p:nvSpPr>
                    <p:spPr>
                      <a:xfrm>
                        <a:off x="4917656" y="1793086"/>
                        <a:ext cx="1788377" cy="287966"/>
                      </a:xfrm>
                      <a:prstGeom prst="rect">
                        <a:avLst/>
                      </a:prstGeom>
                    </p:spPr>
                    <p:txBody>
                      <a:bodyPr wrap="square">
                        <a:spAutoFit/>
                      </a:bodyPr>
                      <a:lstStyle/>
                      <a:p>
                        <a:pPr algn="ctr" defTabSz="912605">
                          <a:defRPr/>
                        </a:pPr>
                        <a:r>
                          <a:rPr lang="zh-CN" altLang="en-US" sz="1050" b="1" kern="0" dirty="0">
                            <a:latin typeface="微软雅黑" panose="020B0503020204020204" pitchFamily="34" charset="-122"/>
                            <a:ea typeface="微软雅黑" panose="020B0503020204020204" pitchFamily="34" charset="-122"/>
                            <a:cs typeface="+mn-ea"/>
                            <a:sym typeface="+mn-lt"/>
                          </a:rPr>
                          <a:t>带宽</a:t>
                        </a:r>
                        <a:r>
                          <a:rPr lang="en-US" altLang="zh-CN" sz="1050" b="1" kern="0" dirty="0" err="1">
                            <a:latin typeface="微软雅黑" panose="020B0503020204020204" pitchFamily="34" charset="-122"/>
                            <a:ea typeface="微软雅黑" panose="020B0503020204020204" pitchFamily="34" charset="-122"/>
                            <a:cs typeface="+mn-ea"/>
                            <a:sym typeface="+mn-lt"/>
                          </a:rPr>
                          <a:t>利用率</a:t>
                        </a:r>
                        <a:endParaRPr lang="en-US" altLang="zh-CN" sz="1050" b="1" kern="0" dirty="0">
                          <a:latin typeface="微软雅黑" panose="020B0503020204020204" pitchFamily="34" charset="-122"/>
                          <a:ea typeface="微软雅黑" panose="020B0503020204020204" pitchFamily="34" charset="-122"/>
                          <a:cs typeface="+mn-ea"/>
                          <a:sym typeface="+mn-lt"/>
                        </a:endParaRPr>
                      </a:p>
                    </p:txBody>
                  </p:sp>
                  <p:sp>
                    <p:nvSpPr>
                      <p:cNvPr id="360" name="矩形 332"/>
                      <p:cNvSpPr/>
                      <p:nvPr>
                        <p:custDataLst>
                          <p:tags r:id="rId20"/>
                        </p:custDataLst>
                      </p:nvPr>
                    </p:nvSpPr>
                    <p:spPr>
                      <a:xfrm>
                        <a:off x="5493300" y="2028810"/>
                        <a:ext cx="546621" cy="270816"/>
                      </a:xfrm>
                      <a:prstGeom prst="rect">
                        <a:avLst/>
                      </a:prstGeom>
                    </p:spPr>
                    <p:txBody>
                      <a:bodyPr wrap="none">
                        <a:spAutoFit/>
                      </a:bodyPr>
                      <a:lstStyle/>
                      <a:p>
                        <a:pPr algn="ctr" defTabSz="912605">
                          <a:defRPr/>
                        </a:pPr>
                        <a:r>
                          <a:rPr lang="en-US" altLang="zh-CN" sz="846" kern="0" dirty="0">
                            <a:solidFill>
                              <a:srgbClr val="272727"/>
                            </a:solidFill>
                            <a:latin typeface="微软雅黑" panose="020B0503020204020204" pitchFamily="34" charset="-122"/>
                            <a:ea typeface="微软雅黑" panose="020B0503020204020204" pitchFamily="34" charset="-122"/>
                            <a:cs typeface="+mn-ea"/>
                            <a:sym typeface="+mn-lt"/>
                          </a:rPr>
                          <a:t>70%</a:t>
                        </a:r>
                      </a:p>
                    </p:txBody>
                  </p:sp>
                  <p:sp>
                    <p:nvSpPr>
                      <p:cNvPr id="361" name="矩形 333"/>
                      <p:cNvSpPr/>
                      <p:nvPr>
                        <p:custDataLst>
                          <p:tags r:id="rId21"/>
                        </p:custDataLst>
                      </p:nvPr>
                    </p:nvSpPr>
                    <p:spPr>
                      <a:xfrm>
                        <a:off x="5493300" y="2451493"/>
                        <a:ext cx="546621" cy="270816"/>
                      </a:xfrm>
                      <a:prstGeom prst="rect">
                        <a:avLst/>
                      </a:prstGeom>
                    </p:spPr>
                    <p:txBody>
                      <a:bodyPr wrap="none">
                        <a:spAutoFit/>
                      </a:bodyPr>
                      <a:lstStyle/>
                      <a:p>
                        <a:pPr algn="ctr" defTabSz="912605">
                          <a:defRPr/>
                        </a:pPr>
                        <a:r>
                          <a:rPr lang="en-US" altLang="zh-CN" sz="846" kern="0" dirty="0">
                            <a:solidFill>
                              <a:srgbClr val="272727"/>
                            </a:solidFill>
                            <a:latin typeface="微软雅黑" panose="020B0503020204020204" pitchFamily="34" charset="-122"/>
                            <a:ea typeface="微软雅黑" panose="020B0503020204020204" pitchFamily="34" charset="-122"/>
                            <a:cs typeface="+mn-ea"/>
                            <a:sym typeface="+mn-lt"/>
                          </a:rPr>
                          <a:t>50%</a:t>
                        </a:r>
                      </a:p>
                    </p:txBody>
                  </p:sp>
                </p:grpSp>
              </p:grpSp>
            </p:grpSp>
            <p:sp>
              <p:nvSpPr>
                <p:cNvPr id="348" name="任意多边形 349"/>
                <p:cNvSpPr/>
                <p:nvPr>
                  <p:custDataLst>
                    <p:tags r:id="rId8"/>
                  </p:custDataLst>
                </p:nvPr>
              </p:nvSpPr>
              <p:spPr>
                <a:xfrm>
                  <a:off x="7787007" y="2976030"/>
                  <a:ext cx="722446" cy="203336"/>
                </a:xfrm>
                <a:custGeom>
                  <a:avLst/>
                  <a:gdLst>
                    <a:gd name="connsiteX0" fmla="*/ 0 w 1009650"/>
                    <a:gd name="connsiteY0" fmla="*/ 319087 h 319087"/>
                    <a:gd name="connsiteX1" fmla="*/ 157163 w 1009650"/>
                    <a:gd name="connsiteY1" fmla="*/ 290512 h 319087"/>
                    <a:gd name="connsiteX2" fmla="*/ 338138 w 1009650"/>
                    <a:gd name="connsiteY2" fmla="*/ 252412 h 319087"/>
                    <a:gd name="connsiteX3" fmla="*/ 461963 w 1009650"/>
                    <a:gd name="connsiteY3" fmla="*/ 271462 h 319087"/>
                    <a:gd name="connsiteX4" fmla="*/ 538163 w 1009650"/>
                    <a:gd name="connsiteY4" fmla="*/ 214312 h 319087"/>
                    <a:gd name="connsiteX5" fmla="*/ 657225 w 1009650"/>
                    <a:gd name="connsiteY5" fmla="*/ 128587 h 319087"/>
                    <a:gd name="connsiteX6" fmla="*/ 781050 w 1009650"/>
                    <a:gd name="connsiteY6" fmla="*/ 61912 h 319087"/>
                    <a:gd name="connsiteX7" fmla="*/ 881063 w 1009650"/>
                    <a:gd name="connsiteY7" fmla="*/ 33337 h 319087"/>
                    <a:gd name="connsiteX8" fmla="*/ 1009650 w 1009650"/>
                    <a:gd name="connsiteY8" fmla="*/ 0 h 319087"/>
                    <a:gd name="connsiteX0dup0" fmla="*/ 0 w 1009650"/>
                    <a:gd name="connsiteY0dup0" fmla="*/ 319087 h 319087"/>
                    <a:gd name="connsiteX1dup0" fmla="*/ 157163 w 1009650"/>
                    <a:gd name="connsiteY1dup0" fmla="*/ 290512 h 319087"/>
                    <a:gd name="connsiteX2dup0" fmla="*/ 338138 w 1009650"/>
                    <a:gd name="connsiteY2dup0" fmla="*/ 252412 h 319087"/>
                    <a:gd name="connsiteX3dup0" fmla="*/ 461963 w 1009650"/>
                    <a:gd name="connsiteY3dup0" fmla="*/ 271462 h 319087"/>
                    <a:gd name="connsiteX4dup0" fmla="*/ 538163 w 1009650"/>
                    <a:gd name="connsiteY4dup0" fmla="*/ 214312 h 319087"/>
                    <a:gd name="connsiteX5dup0" fmla="*/ 681037 w 1009650"/>
                    <a:gd name="connsiteY5dup0" fmla="*/ 157162 h 319087"/>
                    <a:gd name="connsiteX6dup0" fmla="*/ 781050 w 1009650"/>
                    <a:gd name="connsiteY6dup0" fmla="*/ 61912 h 319087"/>
                    <a:gd name="connsiteX7dup0" fmla="*/ 881063 w 1009650"/>
                    <a:gd name="connsiteY7dup0" fmla="*/ 33337 h 319087"/>
                    <a:gd name="connsiteX8dup0" fmla="*/ 1009650 w 1009650"/>
                    <a:gd name="connsiteY8dup0" fmla="*/ 0 h 319087"/>
                    <a:gd name="connsiteX0dup0dup1" fmla="*/ 0 w 1009650"/>
                    <a:gd name="connsiteY0dup0dup1" fmla="*/ 319087 h 319087"/>
                    <a:gd name="connsiteX1dup0dup1" fmla="*/ 157163 w 1009650"/>
                    <a:gd name="connsiteY1dup0dup1" fmla="*/ 290512 h 319087"/>
                    <a:gd name="connsiteX2dup0dup1" fmla="*/ 309563 w 1009650"/>
                    <a:gd name="connsiteY2dup0dup1" fmla="*/ 242887 h 319087"/>
                    <a:gd name="connsiteX3dup0dup1" fmla="*/ 461963 w 1009650"/>
                    <a:gd name="connsiteY3dup0dup1" fmla="*/ 271462 h 319087"/>
                    <a:gd name="connsiteX4dup0dup1" fmla="*/ 538163 w 1009650"/>
                    <a:gd name="connsiteY4dup0dup1" fmla="*/ 214312 h 319087"/>
                    <a:gd name="connsiteX5dup0dup1" fmla="*/ 681037 w 1009650"/>
                    <a:gd name="connsiteY5dup0dup1" fmla="*/ 157162 h 319087"/>
                    <a:gd name="connsiteX6dup0dup1" fmla="*/ 781050 w 1009650"/>
                    <a:gd name="connsiteY6dup0dup1" fmla="*/ 61912 h 319087"/>
                    <a:gd name="connsiteX7dup0dup1" fmla="*/ 881063 w 1009650"/>
                    <a:gd name="connsiteY7dup0dup1" fmla="*/ 33337 h 319087"/>
                    <a:gd name="connsiteX8dup0dup1" fmla="*/ 1009650 w 1009650"/>
                    <a:gd name="connsiteY8dup0dup1" fmla="*/ 0 h 319087"/>
                    <a:gd name="connsiteX0dup0dup1dup2" fmla="*/ 0 w 1009650"/>
                    <a:gd name="connsiteY0dup0dup1dup2" fmla="*/ 319087 h 319087"/>
                    <a:gd name="connsiteX1dup0dup1dup2" fmla="*/ 157163 w 1009650"/>
                    <a:gd name="connsiteY1dup0dup1dup2" fmla="*/ 290512 h 319087"/>
                    <a:gd name="connsiteX2dup0dup1dup2" fmla="*/ 309563 w 1009650"/>
                    <a:gd name="connsiteY2dup0dup1dup2" fmla="*/ 242887 h 319087"/>
                    <a:gd name="connsiteX3dup0dup1dup2" fmla="*/ 461963 w 1009650"/>
                    <a:gd name="connsiteY3dup0dup1dup2" fmla="*/ 257174 h 319087"/>
                    <a:gd name="connsiteX4dup0dup1dup2" fmla="*/ 538163 w 1009650"/>
                    <a:gd name="connsiteY4dup0dup1dup2" fmla="*/ 214312 h 319087"/>
                    <a:gd name="connsiteX5dup0dup1dup2" fmla="*/ 681037 w 1009650"/>
                    <a:gd name="connsiteY5dup0dup1dup2" fmla="*/ 157162 h 319087"/>
                    <a:gd name="connsiteX6dup0dup1dup2" fmla="*/ 781050 w 1009650"/>
                    <a:gd name="connsiteY6dup0dup1dup2" fmla="*/ 61912 h 319087"/>
                    <a:gd name="connsiteX7dup0dup1dup2" fmla="*/ 881063 w 1009650"/>
                    <a:gd name="connsiteY7dup0dup1dup2" fmla="*/ 33337 h 319087"/>
                    <a:gd name="connsiteX8dup0dup1dup2" fmla="*/ 1009650 w 1009650"/>
                    <a:gd name="connsiteY8dup0dup1dup2" fmla="*/ 0 h 319087"/>
                    <a:gd name="connsiteX0dup0dup1dup2dup3" fmla="*/ 0 w 1009650"/>
                    <a:gd name="connsiteY0dup0dup1dup2dup3" fmla="*/ 319087 h 319087"/>
                    <a:gd name="connsiteX1dup0dup1dup2dup3" fmla="*/ 157163 w 1009650"/>
                    <a:gd name="connsiteY1dup0dup1dup2dup3" fmla="*/ 290512 h 319087"/>
                    <a:gd name="connsiteX2dup0dup1dup2dup3" fmla="*/ 309563 w 1009650"/>
                    <a:gd name="connsiteY2dup0dup1dup2dup3" fmla="*/ 242887 h 319087"/>
                    <a:gd name="connsiteX3dup0dup1dup2dup3" fmla="*/ 461963 w 1009650"/>
                    <a:gd name="connsiteY3dup0dup1dup2dup3" fmla="*/ 257174 h 319087"/>
                    <a:gd name="connsiteX4dup0dup1dup2dup3" fmla="*/ 538163 w 1009650"/>
                    <a:gd name="connsiteY4dup0dup1dup2dup3" fmla="*/ 214312 h 319087"/>
                    <a:gd name="connsiteX5dup0dup1dup2dup3" fmla="*/ 681037 w 1009650"/>
                    <a:gd name="connsiteY5dup0dup1dup2dup3" fmla="*/ 157162 h 319087"/>
                    <a:gd name="connsiteX6dup0dup1dup2dup3" fmla="*/ 814387 w 1009650"/>
                    <a:gd name="connsiteY6dup0dup1dup2dup3" fmla="*/ 90487 h 319087"/>
                    <a:gd name="connsiteX7dup0dup1dup2dup3" fmla="*/ 881063 w 1009650"/>
                    <a:gd name="connsiteY7dup0dup1dup2dup3" fmla="*/ 33337 h 319087"/>
                    <a:gd name="connsiteX8dup0dup1dup2dup3" fmla="*/ 1009650 w 1009650"/>
                    <a:gd name="connsiteY8dup0dup1dup2dup3" fmla="*/ 0 h 319087"/>
                  </a:gdLst>
                  <a:ahLst/>
                  <a:cxnLst>
                    <a:cxn ang="0">
                      <a:pos x="connsiteX0dup0dup1dup2dup3" y="connsiteY0dup0dup1dup2dup3"/>
                    </a:cxn>
                    <a:cxn ang="0">
                      <a:pos x="connsiteX1dup0dup1dup2dup3" y="connsiteY1dup0dup1dup2dup3"/>
                    </a:cxn>
                    <a:cxn ang="0">
                      <a:pos x="connsiteX2dup0dup1dup2dup3" y="connsiteY2dup0dup1dup2dup3"/>
                    </a:cxn>
                    <a:cxn ang="0">
                      <a:pos x="connsiteX3dup0dup1dup2dup3" y="connsiteY3dup0dup1dup2dup3"/>
                    </a:cxn>
                    <a:cxn ang="0">
                      <a:pos x="connsiteX4dup0dup1dup2dup3" y="connsiteY4dup0dup1dup2dup3"/>
                    </a:cxn>
                    <a:cxn ang="0">
                      <a:pos x="connsiteX5dup0dup1dup2dup3" y="connsiteY5dup0dup1dup2dup3"/>
                    </a:cxn>
                    <a:cxn ang="0">
                      <a:pos x="connsiteX6dup0dup1dup2dup3" y="connsiteY6dup0dup1dup2dup3"/>
                    </a:cxn>
                    <a:cxn ang="0">
                      <a:pos x="connsiteX7dup0dup1dup2dup3" y="connsiteY7dup0dup1dup2dup3"/>
                    </a:cxn>
                    <a:cxn ang="0">
                      <a:pos x="connsiteX8dup0dup1dup2dup3" y="connsiteY8dup0dup1dup2dup3"/>
                    </a:cxn>
                  </a:cxnLst>
                  <a:rect l="l" t="t" r="r" b="b"/>
                  <a:pathLst>
                    <a:path w="1009650" h="319087">
                      <a:moveTo>
                        <a:pt x="0" y="319087"/>
                      </a:moveTo>
                      <a:cubicBezTo>
                        <a:pt x="52388" y="309562"/>
                        <a:pt x="105569" y="303212"/>
                        <a:pt x="157163" y="290512"/>
                      </a:cubicBezTo>
                      <a:cubicBezTo>
                        <a:pt x="208757" y="277812"/>
                        <a:pt x="258763" y="248443"/>
                        <a:pt x="309563" y="242887"/>
                      </a:cubicBezTo>
                      <a:cubicBezTo>
                        <a:pt x="360363" y="237331"/>
                        <a:pt x="423863" y="261937"/>
                        <a:pt x="461963" y="257174"/>
                      </a:cubicBezTo>
                      <a:cubicBezTo>
                        <a:pt x="500063" y="252412"/>
                        <a:pt x="501651" y="230981"/>
                        <a:pt x="538163" y="214312"/>
                      </a:cubicBezTo>
                      <a:cubicBezTo>
                        <a:pt x="574675" y="197643"/>
                        <a:pt x="635000" y="177800"/>
                        <a:pt x="681037" y="157162"/>
                      </a:cubicBezTo>
                      <a:cubicBezTo>
                        <a:pt x="727074" y="136525"/>
                        <a:pt x="781049" y="111125"/>
                        <a:pt x="814387" y="90487"/>
                      </a:cubicBezTo>
                      <a:cubicBezTo>
                        <a:pt x="847725" y="69849"/>
                        <a:pt x="848519" y="48418"/>
                        <a:pt x="881063" y="33337"/>
                      </a:cubicBezTo>
                      <a:cubicBezTo>
                        <a:pt x="913607" y="18256"/>
                        <a:pt x="964406" y="11509"/>
                        <a:pt x="1009650" y="0"/>
                      </a:cubicBezTo>
                    </a:path>
                  </a:pathLst>
                </a:custGeom>
                <a:noFill/>
                <a:ln w="19050" cap="flat" cmpd="sng" algn="ctr">
                  <a:solidFill>
                    <a:srgbClr val="FFC000"/>
                  </a:solidFill>
                  <a:prstDash val="solid"/>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49" name="任意多边形 350"/>
                <p:cNvSpPr/>
                <p:nvPr>
                  <p:custDataLst>
                    <p:tags r:id="rId9"/>
                  </p:custDataLst>
                </p:nvPr>
              </p:nvSpPr>
              <p:spPr>
                <a:xfrm>
                  <a:off x="8529983" y="2776455"/>
                  <a:ext cx="325419" cy="189917"/>
                </a:xfrm>
                <a:custGeom>
                  <a:avLst/>
                  <a:gdLst>
                    <a:gd name="connsiteX0" fmla="*/ 0 w 1009650"/>
                    <a:gd name="connsiteY0" fmla="*/ 319087 h 319087"/>
                    <a:gd name="connsiteX1" fmla="*/ 157163 w 1009650"/>
                    <a:gd name="connsiteY1" fmla="*/ 290512 h 319087"/>
                    <a:gd name="connsiteX2" fmla="*/ 338138 w 1009650"/>
                    <a:gd name="connsiteY2" fmla="*/ 252412 h 319087"/>
                    <a:gd name="connsiteX3" fmla="*/ 461963 w 1009650"/>
                    <a:gd name="connsiteY3" fmla="*/ 271462 h 319087"/>
                    <a:gd name="connsiteX4" fmla="*/ 538163 w 1009650"/>
                    <a:gd name="connsiteY4" fmla="*/ 214312 h 319087"/>
                    <a:gd name="connsiteX5" fmla="*/ 657225 w 1009650"/>
                    <a:gd name="connsiteY5" fmla="*/ 128587 h 319087"/>
                    <a:gd name="connsiteX6" fmla="*/ 781050 w 1009650"/>
                    <a:gd name="connsiteY6" fmla="*/ 61912 h 319087"/>
                    <a:gd name="connsiteX7" fmla="*/ 881063 w 1009650"/>
                    <a:gd name="connsiteY7" fmla="*/ 33337 h 319087"/>
                    <a:gd name="connsiteX8" fmla="*/ 1009650 w 1009650"/>
                    <a:gd name="connsiteY8" fmla="*/ 0 h 319087"/>
                    <a:gd name="connsiteX0dup0" fmla="*/ 0 w 1009650"/>
                    <a:gd name="connsiteY0dup0" fmla="*/ 319087 h 319087"/>
                    <a:gd name="connsiteX1dup0" fmla="*/ 157163 w 1009650"/>
                    <a:gd name="connsiteY1dup0" fmla="*/ 290512 h 319087"/>
                    <a:gd name="connsiteX2dup0" fmla="*/ 338138 w 1009650"/>
                    <a:gd name="connsiteY2dup0" fmla="*/ 252412 h 319087"/>
                    <a:gd name="connsiteX3dup0" fmla="*/ 461963 w 1009650"/>
                    <a:gd name="connsiteY3dup0" fmla="*/ 271462 h 319087"/>
                    <a:gd name="connsiteX4dup0" fmla="*/ 538163 w 1009650"/>
                    <a:gd name="connsiteY4dup0" fmla="*/ 214312 h 319087"/>
                    <a:gd name="connsiteX5dup0" fmla="*/ 681037 w 1009650"/>
                    <a:gd name="connsiteY5dup0" fmla="*/ 157162 h 319087"/>
                    <a:gd name="connsiteX6dup0" fmla="*/ 781050 w 1009650"/>
                    <a:gd name="connsiteY6dup0" fmla="*/ 61912 h 319087"/>
                    <a:gd name="connsiteX7dup0" fmla="*/ 881063 w 1009650"/>
                    <a:gd name="connsiteY7dup0" fmla="*/ 33337 h 319087"/>
                    <a:gd name="connsiteX8dup0" fmla="*/ 1009650 w 1009650"/>
                    <a:gd name="connsiteY8dup0" fmla="*/ 0 h 319087"/>
                    <a:gd name="connsiteX0dup0dup1" fmla="*/ 0 w 1009650"/>
                    <a:gd name="connsiteY0dup0dup1" fmla="*/ 319087 h 319087"/>
                    <a:gd name="connsiteX1dup0dup1" fmla="*/ 157163 w 1009650"/>
                    <a:gd name="connsiteY1dup0dup1" fmla="*/ 290512 h 319087"/>
                    <a:gd name="connsiteX2dup0dup1" fmla="*/ 309563 w 1009650"/>
                    <a:gd name="connsiteY2dup0dup1" fmla="*/ 242887 h 319087"/>
                    <a:gd name="connsiteX3dup0dup1" fmla="*/ 461963 w 1009650"/>
                    <a:gd name="connsiteY3dup0dup1" fmla="*/ 271462 h 319087"/>
                    <a:gd name="connsiteX4dup0dup1" fmla="*/ 538163 w 1009650"/>
                    <a:gd name="connsiteY4dup0dup1" fmla="*/ 214312 h 319087"/>
                    <a:gd name="connsiteX5dup0dup1" fmla="*/ 681037 w 1009650"/>
                    <a:gd name="connsiteY5dup0dup1" fmla="*/ 157162 h 319087"/>
                    <a:gd name="connsiteX6dup0dup1" fmla="*/ 781050 w 1009650"/>
                    <a:gd name="connsiteY6dup0dup1" fmla="*/ 61912 h 319087"/>
                    <a:gd name="connsiteX7dup0dup1" fmla="*/ 881063 w 1009650"/>
                    <a:gd name="connsiteY7dup0dup1" fmla="*/ 33337 h 319087"/>
                    <a:gd name="connsiteX8dup0dup1" fmla="*/ 1009650 w 1009650"/>
                    <a:gd name="connsiteY8dup0dup1" fmla="*/ 0 h 319087"/>
                    <a:gd name="connsiteX0dup0dup1dup2" fmla="*/ 0 w 1009650"/>
                    <a:gd name="connsiteY0dup0dup1dup2" fmla="*/ 319087 h 319087"/>
                    <a:gd name="connsiteX1dup0dup1dup2" fmla="*/ 157163 w 1009650"/>
                    <a:gd name="connsiteY1dup0dup1dup2" fmla="*/ 290512 h 319087"/>
                    <a:gd name="connsiteX2dup0dup1dup2" fmla="*/ 309563 w 1009650"/>
                    <a:gd name="connsiteY2dup0dup1dup2" fmla="*/ 242887 h 319087"/>
                    <a:gd name="connsiteX3dup0dup1dup2" fmla="*/ 461963 w 1009650"/>
                    <a:gd name="connsiteY3dup0dup1dup2" fmla="*/ 257174 h 319087"/>
                    <a:gd name="connsiteX4dup0dup1dup2" fmla="*/ 538163 w 1009650"/>
                    <a:gd name="connsiteY4dup0dup1dup2" fmla="*/ 214312 h 319087"/>
                    <a:gd name="connsiteX5dup0dup1dup2" fmla="*/ 681037 w 1009650"/>
                    <a:gd name="connsiteY5dup0dup1dup2" fmla="*/ 157162 h 319087"/>
                    <a:gd name="connsiteX6dup0dup1dup2" fmla="*/ 781050 w 1009650"/>
                    <a:gd name="connsiteY6dup0dup1dup2" fmla="*/ 61912 h 319087"/>
                    <a:gd name="connsiteX7dup0dup1dup2" fmla="*/ 881063 w 1009650"/>
                    <a:gd name="connsiteY7dup0dup1dup2" fmla="*/ 33337 h 319087"/>
                    <a:gd name="connsiteX8dup0dup1dup2" fmla="*/ 1009650 w 1009650"/>
                    <a:gd name="connsiteY8dup0dup1dup2" fmla="*/ 0 h 319087"/>
                    <a:gd name="connsiteX0dup0dup1dup2dup3" fmla="*/ 0 w 1009650"/>
                    <a:gd name="connsiteY0dup0dup1dup2dup3" fmla="*/ 319087 h 319087"/>
                    <a:gd name="connsiteX1dup0dup1dup2dup3" fmla="*/ 157163 w 1009650"/>
                    <a:gd name="connsiteY1dup0dup1dup2dup3" fmla="*/ 290512 h 319087"/>
                    <a:gd name="connsiteX2dup0dup1dup2dup3" fmla="*/ 309563 w 1009650"/>
                    <a:gd name="connsiteY2dup0dup1dup2dup3" fmla="*/ 242887 h 319087"/>
                    <a:gd name="connsiteX3dup0dup1dup2dup3" fmla="*/ 461963 w 1009650"/>
                    <a:gd name="connsiteY3dup0dup1dup2dup3" fmla="*/ 257174 h 319087"/>
                    <a:gd name="connsiteX4dup0dup1dup2dup3" fmla="*/ 538163 w 1009650"/>
                    <a:gd name="connsiteY4dup0dup1dup2dup3" fmla="*/ 214312 h 319087"/>
                    <a:gd name="connsiteX5dup0dup1dup2dup3" fmla="*/ 681037 w 1009650"/>
                    <a:gd name="connsiteY5dup0dup1dup2dup3" fmla="*/ 157162 h 319087"/>
                    <a:gd name="connsiteX6dup0dup1dup2dup3" fmla="*/ 814387 w 1009650"/>
                    <a:gd name="connsiteY6dup0dup1dup2dup3" fmla="*/ 90487 h 319087"/>
                    <a:gd name="connsiteX7dup0dup1dup2dup3" fmla="*/ 881063 w 1009650"/>
                    <a:gd name="connsiteY7dup0dup1dup2dup3" fmla="*/ 33337 h 319087"/>
                    <a:gd name="connsiteX8dup0dup1dup2dup3" fmla="*/ 1009650 w 1009650"/>
                    <a:gd name="connsiteY8dup0dup1dup2dup3" fmla="*/ 0 h 319087"/>
                  </a:gdLst>
                  <a:ahLst/>
                  <a:cxnLst>
                    <a:cxn ang="0">
                      <a:pos x="connsiteX0dup0dup1dup2dup3" y="connsiteY0dup0dup1dup2dup3"/>
                    </a:cxn>
                    <a:cxn ang="0">
                      <a:pos x="connsiteX1dup0dup1dup2dup3" y="connsiteY1dup0dup1dup2dup3"/>
                    </a:cxn>
                    <a:cxn ang="0">
                      <a:pos x="connsiteX2dup0dup1dup2dup3" y="connsiteY2dup0dup1dup2dup3"/>
                    </a:cxn>
                    <a:cxn ang="0">
                      <a:pos x="connsiteX3dup0dup1dup2dup3" y="connsiteY3dup0dup1dup2dup3"/>
                    </a:cxn>
                    <a:cxn ang="0">
                      <a:pos x="connsiteX4dup0dup1dup2dup3" y="connsiteY4dup0dup1dup2dup3"/>
                    </a:cxn>
                    <a:cxn ang="0">
                      <a:pos x="connsiteX5dup0dup1dup2dup3" y="connsiteY5dup0dup1dup2dup3"/>
                    </a:cxn>
                    <a:cxn ang="0">
                      <a:pos x="connsiteX6dup0dup1dup2dup3" y="connsiteY6dup0dup1dup2dup3"/>
                    </a:cxn>
                    <a:cxn ang="0">
                      <a:pos x="connsiteX7dup0dup1dup2dup3" y="connsiteY7dup0dup1dup2dup3"/>
                    </a:cxn>
                    <a:cxn ang="0">
                      <a:pos x="connsiteX8dup0dup1dup2dup3" y="connsiteY8dup0dup1dup2dup3"/>
                    </a:cxn>
                  </a:cxnLst>
                  <a:rect l="l" t="t" r="r" b="b"/>
                  <a:pathLst>
                    <a:path w="1009650" h="319087">
                      <a:moveTo>
                        <a:pt x="0" y="319087"/>
                      </a:moveTo>
                      <a:cubicBezTo>
                        <a:pt x="52388" y="309562"/>
                        <a:pt x="105569" y="303212"/>
                        <a:pt x="157163" y="290512"/>
                      </a:cubicBezTo>
                      <a:cubicBezTo>
                        <a:pt x="208757" y="277812"/>
                        <a:pt x="258763" y="248443"/>
                        <a:pt x="309563" y="242887"/>
                      </a:cubicBezTo>
                      <a:cubicBezTo>
                        <a:pt x="360363" y="237331"/>
                        <a:pt x="423863" y="261937"/>
                        <a:pt x="461963" y="257174"/>
                      </a:cubicBezTo>
                      <a:cubicBezTo>
                        <a:pt x="500063" y="252412"/>
                        <a:pt x="501651" y="230981"/>
                        <a:pt x="538163" y="214312"/>
                      </a:cubicBezTo>
                      <a:cubicBezTo>
                        <a:pt x="574675" y="197643"/>
                        <a:pt x="635000" y="177800"/>
                        <a:pt x="681037" y="157162"/>
                      </a:cubicBezTo>
                      <a:cubicBezTo>
                        <a:pt x="727074" y="136525"/>
                        <a:pt x="781049" y="111125"/>
                        <a:pt x="814387" y="90487"/>
                      </a:cubicBezTo>
                      <a:cubicBezTo>
                        <a:pt x="847725" y="69849"/>
                        <a:pt x="848519" y="48418"/>
                        <a:pt x="881063" y="33337"/>
                      </a:cubicBezTo>
                      <a:cubicBezTo>
                        <a:pt x="913607" y="18256"/>
                        <a:pt x="964406" y="11509"/>
                        <a:pt x="1009650" y="0"/>
                      </a:cubicBezTo>
                    </a:path>
                  </a:pathLst>
                </a:custGeom>
                <a:noFill/>
                <a:ln w="19050" cap="flat" cmpd="sng" algn="ctr">
                  <a:solidFill>
                    <a:srgbClr val="FFC000"/>
                  </a:solidFill>
                  <a:prstDash val="sysDot"/>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0" name="矩形 352"/>
                <p:cNvSpPr/>
                <p:nvPr>
                  <p:custDataLst>
                    <p:tags r:id="rId10"/>
                  </p:custDataLst>
                </p:nvPr>
              </p:nvSpPr>
              <p:spPr>
                <a:xfrm>
                  <a:off x="9202284" y="3754229"/>
                  <a:ext cx="184731" cy="261162"/>
                </a:xfrm>
                <a:prstGeom prst="rect">
                  <a:avLst/>
                </a:prstGeom>
              </p:spPr>
              <p:txBody>
                <a:bodyPr wrap="none">
                  <a:spAutoFit/>
                </a:bodyPr>
                <a:lstStyle/>
                <a:p>
                  <a:pPr defTabSz="912696">
                    <a:defRPr/>
                  </a:pPr>
                  <a:endParaRPr lang="zh-CN" altLang="en-US" sz="1097" b="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1" name="矩形 353"/>
                <p:cNvSpPr/>
                <p:nvPr>
                  <p:custDataLst>
                    <p:tags r:id="rId11"/>
                  </p:custDataLst>
                </p:nvPr>
              </p:nvSpPr>
              <p:spPr>
                <a:xfrm>
                  <a:off x="8617674" y="3957644"/>
                  <a:ext cx="1608919" cy="400644"/>
                </a:xfrm>
                <a:prstGeom prst="rect">
                  <a:avLst/>
                </a:prstGeom>
              </p:spPr>
              <p:txBody>
                <a:bodyPr wrap="square">
                  <a:spAutoFit/>
                </a:bodyPr>
                <a:lstStyle/>
                <a:p>
                  <a:pPr algn="ctr" defTabSz="912696">
                    <a:buClr>
                      <a:srgbClr val="C00000"/>
                    </a:buClr>
                    <a:defRPr/>
                  </a:pPr>
                  <a:r>
                    <a:rPr lang="zh-CN" altLang="en-US" sz="1097" b="1" kern="0" dirty="0">
                      <a:solidFill>
                        <a:srgbClr val="272727"/>
                      </a:solidFill>
                      <a:latin typeface="微软雅黑" panose="020B0503020204020204" pitchFamily="34" charset="-122"/>
                      <a:ea typeface="微软雅黑" panose="020B0503020204020204" pitchFamily="34" charset="-122"/>
                      <a:cs typeface="+mn-ea"/>
                      <a:sym typeface="+mn-lt"/>
                    </a:rPr>
                    <a:t>采</a:t>
                  </a:r>
                  <a:r>
                    <a:rPr lang="en-US" altLang="zh-CN" sz="1097" b="1" kern="0" dirty="0" err="1">
                      <a:solidFill>
                        <a:srgbClr val="272727"/>
                      </a:solidFill>
                      <a:latin typeface="微软雅黑" panose="020B0503020204020204" pitchFamily="34" charset="-122"/>
                      <a:ea typeface="微软雅黑" panose="020B0503020204020204" pitchFamily="34" charset="-122"/>
                      <a:cs typeface="+mn-ea"/>
                      <a:sym typeface="+mn-lt"/>
                    </a:rPr>
                    <a:t>集链路带宽利用率</a:t>
                  </a:r>
                  <a:r>
                    <a:rPr lang="zh-CN" altLang="en-US" sz="1097" b="1" kern="0" dirty="0">
                      <a:solidFill>
                        <a:srgbClr val="272727"/>
                      </a:solidFill>
                      <a:latin typeface="微软雅黑" panose="020B0503020204020204" pitchFamily="34" charset="-122"/>
                      <a:ea typeface="微软雅黑" panose="020B0503020204020204" pitchFamily="34" charset="-122"/>
                      <a:cs typeface="+mn-ea"/>
                      <a:sym typeface="+mn-lt"/>
                    </a:rPr>
                    <a:t>等信息</a:t>
                  </a:r>
                  <a:endParaRPr lang="en-US" altLang="zh-CN" sz="1097" b="1" kern="0" dirty="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2" name="矩形 354"/>
                <p:cNvSpPr/>
                <p:nvPr>
                  <p:custDataLst>
                    <p:tags r:id="rId12"/>
                  </p:custDataLst>
                </p:nvPr>
              </p:nvSpPr>
              <p:spPr>
                <a:xfrm>
                  <a:off x="7304416" y="3971123"/>
                  <a:ext cx="851515" cy="429990"/>
                </a:xfrm>
                <a:prstGeom prst="rect">
                  <a:avLst/>
                </a:prstGeom>
              </p:spPr>
              <p:txBody>
                <a:bodyPr wrap="none">
                  <a:spAutoFit/>
                </a:bodyPr>
                <a:lstStyle/>
                <a:p>
                  <a:pPr algn="ctr" defTabSz="912500">
                    <a:buClr>
                      <a:srgbClr val="C00000"/>
                    </a:buClr>
                  </a:pPr>
                  <a:r>
                    <a:rPr lang="zh-CN" altLang="en-US" sz="1097" b="1" dirty="0">
                      <a:solidFill>
                        <a:srgbClr val="272727"/>
                      </a:solidFill>
                      <a:latin typeface="微软雅黑" panose="020B0503020204020204" pitchFamily="34" charset="-122"/>
                      <a:ea typeface="微软雅黑" panose="020B0503020204020204" pitchFamily="34" charset="-122"/>
                      <a:cs typeface="+mn-ea"/>
                      <a:sym typeface="+mn-lt"/>
                    </a:rPr>
                    <a:t>基于</a:t>
                  </a:r>
                  <a:r>
                    <a:rPr lang="en-US" altLang="zh-CN" sz="1097" b="1" dirty="0">
                      <a:solidFill>
                        <a:srgbClr val="272727"/>
                      </a:solidFill>
                      <a:latin typeface="微软雅黑" panose="020B0503020204020204" pitchFamily="34" charset="-122"/>
                      <a:ea typeface="微软雅黑" panose="020B0503020204020204" pitchFamily="34" charset="-122"/>
                      <a:cs typeface="+mn-ea"/>
                      <a:sym typeface="+mn-lt"/>
                    </a:rPr>
                    <a:t>PCEP</a:t>
                  </a:r>
                </a:p>
                <a:p>
                  <a:pPr algn="ctr" defTabSz="912500">
                    <a:buClr>
                      <a:srgbClr val="C00000"/>
                    </a:buClr>
                  </a:pPr>
                  <a:r>
                    <a:rPr lang="en-US" altLang="zh-CN" sz="1097" b="1" dirty="0" err="1">
                      <a:solidFill>
                        <a:srgbClr val="272727"/>
                      </a:solidFill>
                      <a:latin typeface="微软雅黑" panose="020B0503020204020204" pitchFamily="34" charset="-122"/>
                      <a:ea typeface="微软雅黑" panose="020B0503020204020204" pitchFamily="34" charset="-122"/>
                      <a:cs typeface="+mn-ea"/>
                      <a:sym typeface="+mn-lt"/>
                    </a:rPr>
                    <a:t>优化</a:t>
                  </a:r>
                  <a:r>
                    <a:rPr lang="zh-CN" altLang="en-US" sz="1097" b="1" dirty="0">
                      <a:solidFill>
                        <a:srgbClr val="272727"/>
                      </a:solidFill>
                      <a:latin typeface="微软雅黑" panose="020B0503020204020204" pitchFamily="34" charset="-122"/>
                      <a:ea typeface="微软雅黑" panose="020B0503020204020204" pitchFamily="34" charset="-122"/>
                      <a:cs typeface="+mn-ea"/>
                      <a:sym typeface="+mn-lt"/>
                    </a:rPr>
                    <a:t>路径</a:t>
                  </a:r>
                  <a:endParaRPr lang="en-US" altLang="zh-CN" sz="1097" b="1" dirty="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3" name="上箭头 355"/>
                <p:cNvSpPr/>
                <p:nvPr>
                  <p:custDataLst>
                    <p:tags r:id="rId13"/>
                  </p:custDataLst>
                </p:nvPr>
              </p:nvSpPr>
              <p:spPr>
                <a:xfrm>
                  <a:off x="8589572" y="3992918"/>
                  <a:ext cx="163433" cy="252000"/>
                </a:xfrm>
                <a:prstGeom prst="upArrow">
                  <a:avLst/>
                </a:prstGeom>
                <a:solidFill>
                  <a:srgbClr val="FFC000"/>
                </a:solidFill>
                <a:ln w="12700" cap="flat" cmpd="sng" algn="ctr">
                  <a:noFill/>
                  <a:prstDash val="solid"/>
                  <a:miter lim="800000"/>
                </a:ln>
              </p:spPr>
              <p:txBody>
                <a:bodyPr rtlCol="0" anchor="ctr"/>
                <a:lstStyle/>
                <a:p>
                  <a:pPr algn="ctr" defTabSz="912500">
                    <a:defRPr/>
                  </a:pPr>
                  <a:endParaRPr lang="en-US" sz="1796"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4" name="上箭头 356"/>
                <p:cNvSpPr/>
                <p:nvPr>
                  <p:custDataLst>
                    <p:tags r:id="rId14"/>
                  </p:custDataLst>
                </p:nvPr>
              </p:nvSpPr>
              <p:spPr>
                <a:xfrm flipV="1">
                  <a:off x="8259997" y="4009053"/>
                  <a:ext cx="163433" cy="252000"/>
                </a:xfrm>
                <a:prstGeom prst="upArrow">
                  <a:avLst/>
                </a:prstGeom>
                <a:solidFill>
                  <a:srgbClr val="FFC000"/>
                </a:solidFill>
                <a:ln w="12700" cap="flat" cmpd="sng" algn="ctr">
                  <a:noFill/>
                  <a:prstDash val="solid"/>
                  <a:miter lim="800000"/>
                </a:ln>
              </p:spPr>
              <p:txBody>
                <a:bodyPr rtlCol="0" anchor="ctr"/>
                <a:lstStyle/>
                <a:p>
                  <a:pPr algn="ctr" defTabSz="912500">
                    <a:defRPr/>
                  </a:pPr>
                  <a:endParaRPr lang="en-US" sz="1796" kern="0">
                    <a:solidFill>
                      <a:srgbClr val="272727"/>
                    </a:solidFill>
                    <a:latin typeface="微软雅黑" panose="020B0503020204020204" pitchFamily="34" charset="-122"/>
                    <a:ea typeface="微软雅黑" panose="020B0503020204020204" pitchFamily="34" charset="-122"/>
                    <a:cs typeface="+mn-ea"/>
                    <a:sym typeface="+mn-lt"/>
                  </a:endParaRPr>
                </a:p>
              </p:txBody>
            </p:sp>
          </p:grpSp>
          <p:sp>
            <p:nvSpPr>
              <p:cNvPr id="344" name="文本框 343"/>
              <p:cNvSpPr txBox="1"/>
              <p:nvPr/>
            </p:nvSpPr>
            <p:spPr>
              <a:xfrm>
                <a:off x="1466987" y="2849299"/>
                <a:ext cx="1253968" cy="369332"/>
              </a:xfrm>
              <a:prstGeom prst="rect">
                <a:avLst/>
              </a:prstGeom>
              <a:noFill/>
            </p:spPr>
            <p:txBody>
              <a:bodyPr wrap="square" rtlCol="0">
                <a:spAutoFit/>
              </a:bodyPr>
              <a:lstStyle/>
              <a:p>
                <a:r>
                  <a:rPr lang="zh-CN" altLang="en-US" dirty="0">
                    <a:solidFill>
                      <a:schemeClr val="bg1"/>
                    </a:solidFill>
                  </a:rPr>
                  <a:t>智能管控</a:t>
                </a:r>
              </a:p>
            </p:txBody>
          </p:sp>
        </p:grpSp>
        <p:grpSp>
          <p:nvGrpSpPr>
            <p:cNvPr id="436" name="组合 435"/>
            <p:cNvGrpSpPr/>
            <p:nvPr/>
          </p:nvGrpSpPr>
          <p:grpSpPr>
            <a:xfrm>
              <a:off x="7874397" y="1713982"/>
              <a:ext cx="4103051" cy="2362830"/>
              <a:chOff x="1510913" y="978858"/>
              <a:chExt cx="9524953" cy="2960370"/>
            </a:xfrm>
          </p:grpSpPr>
          <p:sp>
            <p:nvSpPr>
              <p:cNvPr id="437" name="圆角矩形 436"/>
              <p:cNvSpPr/>
              <p:nvPr/>
            </p:nvSpPr>
            <p:spPr bwMode="auto">
              <a:xfrm>
                <a:off x="6848931" y="1005150"/>
                <a:ext cx="1403656" cy="480497"/>
              </a:xfrm>
              <a:prstGeom prst="roundRect">
                <a:avLst/>
              </a:prstGeom>
              <a:solidFill>
                <a:srgbClr val="B2B2B2">
                  <a:lumMod val="20000"/>
                  <a:lumOff val="80000"/>
                </a:srgbClr>
              </a:solidFill>
              <a:ln>
                <a:solidFill>
                  <a:srgbClr val="B2B2B2"/>
                </a:solidFill>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216" tIns="45609" rIns="91216" bIns="45609" numCol="1" rtlCol="0" anchor="t" anchorCtr="0" compatLnSpc="1">
                <a:prstTxWarp prst="textNoShape">
                  <a:avLst/>
                </a:prstTxWarp>
              </a:bodyPr>
              <a:lstStyle/>
              <a:p>
                <a:pPr algn="ctr" defTabSz="965484">
                  <a:buClr>
                    <a:srgbClr val="CC9900"/>
                  </a:buClr>
                </a:pPr>
                <a:r>
                  <a:rPr lang="en-US" altLang="zh-CN" sz="700" kern="0" dirty="0">
                    <a:solidFill>
                      <a:srgbClr val="000000"/>
                    </a:solidFill>
                    <a:latin typeface="Arial"/>
                    <a:ea typeface="宋体"/>
                    <a:cs typeface="+mn-ea"/>
                    <a:sym typeface="+mn-lt"/>
                  </a:rPr>
                  <a:t>VAS2</a:t>
                </a:r>
                <a:endParaRPr lang="zh-CN" altLang="en-US" sz="700" kern="0" dirty="0">
                  <a:solidFill>
                    <a:srgbClr val="000000"/>
                  </a:solidFill>
                  <a:latin typeface="Arial"/>
                  <a:ea typeface="宋体"/>
                  <a:cs typeface="+mn-ea"/>
                  <a:sym typeface="+mn-lt"/>
                </a:endParaRPr>
              </a:p>
            </p:txBody>
          </p:sp>
          <p:sp>
            <p:nvSpPr>
              <p:cNvPr id="438" name="Rectangle 76"/>
              <p:cNvSpPr/>
              <p:nvPr/>
            </p:nvSpPr>
            <p:spPr>
              <a:xfrm>
                <a:off x="6891012" y="2207525"/>
                <a:ext cx="1612026" cy="698380"/>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zh-CN" altLang="en-US" sz="700" kern="0" dirty="0">
                    <a:solidFill>
                      <a:srgbClr val="000000"/>
                    </a:solidFill>
                    <a:latin typeface="Arial"/>
                    <a:ea typeface="宋体"/>
                    <a:cs typeface="+mn-ea"/>
                    <a:sym typeface="+mn-lt"/>
                  </a:rPr>
                  <a:t>转发器</a:t>
                </a:r>
                <a:endParaRPr lang="en-US" altLang="zh-CN" sz="700" kern="0" dirty="0">
                  <a:solidFill>
                    <a:srgbClr val="000000"/>
                  </a:solidFill>
                  <a:latin typeface="Arial"/>
                  <a:ea typeface="宋体"/>
                  <a:cs typeface="+mn-ea"/>
                  <a:sym typeface="+mn-lt"/>
                </a:endParaRPr>
              </a:p>
            </p:txBody>
          </p:sp>
          <p:sp>
            <p:nvSpPr>
              <p:cNvPr id="439" name="Rectangle 76"/>
              <p:cNvSpPr/>
              <p:nvPr/>
            </p:nvSpPr>
            <p:spPr>
              <a:xfrm>
                <a:off x="1628209" y="2202397"/>
                <a:ext cx="1352839" cy="710072"/>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zh-CN" altLang="en-US" sz="700" kern="0" dirty="0">
                    <a:solidFill>
                      <a:srgbClr val="000000"/>
                    </a:solidFill>
                    <a:latin typeface="Arial"/>
                    <a:ea typeface="宋体"/>
                    <a:cs typeface="+mn-ea"/>
                    <a:sym typeface="+mn-lt"/>
                  </a:rPr>
                  <a:t>流分类器</a:t>
                </a:r>
                <a:endParaRPr lang="en-US" altLang="zh-CN" sz="700" kern="0" dirty="0">
                  <a:solidFill>
                    <a:srgbClr val="000000"/>
                  </a:solidFill>
                  <a:latin typeface="Arial"/>
                  <a:ea typeface="宋体"/>
                  <a:cs typeface="+mn-ea"/>
                  <a:sym typeface="+mn-lt"/>
                </a:endParaRPr>
              </a:p>
              <a:p>
                <a:pPr algn="ctr" defTabSz="542654">
                  <a:buClr>
                    <a:srgbClr val="CC9900"/>
                  </a:buClr>
                </a:pPr>
                <a:r>
                  <a:rPr lang="en-US" altLang="zh-CN" sz="700" kern="0" dirty="0">
                    <a:solidFill>
                      <a:srgbClr val="000000"/>
                    </a:solidFill>
                    <a:latin typeface="Arial"/>
                    <a:ea typeface="宋体"/>
                    <a:cs typeface="+mn-ea"/>
                    <a:sym typeface="+mn-lt"/>
                  </a:rPr>
                  <a:t>(SC)</a:t>
                </a:r>
              </a:p>
            </p:txBody>
          </p:sp>
          <p:sp>
            <p:nvSpPr>
              <p:cNvPr id="440" name="Rectangle 76"/>
              <p:cNvSpPr/>
              <p:nvPr/>
            </p:nvSpPr>
            <p:spPr>
              <a:xfrm>
                <a:off x="3865122" y="2207525"/>
                <a:ext cx="1859981" cy="698380"/>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zh-CN" altLang="en-US" sz="700" kern="0" dirty="0">
                    <a:solidFill>
                      <a:srgbClr val="000000"/>
                    </a:solidFill>
                    <a:latin typeface="Arial"/>
                    <a:ea typeface="宋体"/>
                    <a:cs typeface="+mn-ea"/>
                    <a:sym typeface="+mn-lt"/>
                  </a:rPr>
                  <a:t>转发器</a:t>
                </a:r>
                <a:endParaRPr lang="en-US" altLang="zh-CN" sz="700" kern="0" dirty="0">
                  <a:solidFill>
                    <a:srgbClr val="000000"/>
                  </a:solidFill>
                  <a:latin typeface="Arial"/>
                  <a:ea typeface="宋体"/>
                  <a:cs typeface="+mn-ea"/>
                  <a:sym typeface="+mn-lt"/>
                </a:endParaRPr>
              </a:p>
            </p:txBody>
          </p:sp>
          <p:sp>
            <p:nvSpPr>
              <p:cNvPr id="441" name="Rectangle 76"/>
              <p:cNvSpPr/>
              <p:nvPr/>
            </p:nvSpPr>
            <p:spPr>
              <a:xfrm>
                <a:off x="9471687" y="2207525"/>
                <a:ext cx="1564179" cy="698380"/>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en-US" altLang="zh-CN" sz="700" kern="0" dirty="0">
                    <a:solidFill>
                      <a:srgbClr val="000000"/>
                    </a:solidFill>
                    <a:latin typeface="Arial"/>
                    <a:ea typeface="宋体"/>
                    <a:cs typeface="+mn-ea"/>
                    <a:sym typeface="+mn-lt"/>
                  </a:rPr>
                  <a:t>End</a:t>
                </a:r>
              </a:p>
            </p:txBody>
          </p:sp>
          <p:cxnSp>
            <p:nvCxnSpPr>
              <p:cNvPr id="442" name="Straight Connector 90"/>
              <p:cNvCxnSpPr>
                <a:stCxn id="439" idx="3"/>
                <a:endCxn id="440" idx="1"/>
              </p:cNvCxnSpPr>
              <p:nvPr/>
            </p:nvCxnSpPr>
            <p:spPr bwMode="auto">
              <a:xfrm flipV="1">
                <a:off x="2981047" y="2556715"/>
                <a:ext cx="884074" cy="718"/>
              </a:xfrm>
              <a:prstGeom prst="line">
                <a:avLst/>
              </a:prstGeom>
              <a:noFill/>
              <a:ln w="12700" cap="flat" cmpd="sng" algn="ctr">
                <a:solidFill>
                  <a:srgbClr val="FFFFFF">
                    <a:lumMod val="65000"/>
                  </a:srgbClr>
                </a:solidFill>
                <a:prstDash val="dash"/>
                <a:tailEnd type="arrow"/>
              </a:ln>
              <a:effectLst/>
            </p:spPr>
          </p:cxnSp>
          <p:cxnSp>
            <p:nvCxnSpPr>
              <p:cNvPr id="443" name="Straight Connector 90"/>
              <p:cNvCxnSpPr>
                <a:stCxn id="440" idx="3"/>
                <a:endCxn id="438" idx="1"/>
              </p:cNvCxnSpPr>
              <p:nvPr/>
            </p:nvCxnSpPr>
            <p:spPr bwMode="auto">
              <a:xfrm>
                <a:off x="5725102" y="2556715"/>
                <a:ext cx="1165910" cy="0"/>
              </a:xfrm>
              <a:prstGeom prst="line">
                <a:avLst/>
              </a:prstGeom>
              <a:noFill/>
              <a:ln w="12700" cap="flat" cmpd="sng" algn="ctr">
                <a:solidFill>
                  <a:srgbClr val="FFFFFF">
                    <a:lumMod val="65000"/>
                  </a:srgbClr>
                </a:solidFill>
                <a:prstDash val="dash"/>
                <a:tailEnd type="arrow"/>
              </a:ln>
              <a:effectLst/>
            </p:spPr>
          </p:cxnSp>
          <p:cxnSp>
            <p:nvCxnSpPr>
              <p:cNvPr id="444" name="Straight Connector 90"/>
              <p:cNvCxnSpPr>
                <a:stCxn id="438" idx="3"/>
                <a:endCxn id="441" idx="1"/>
              </p:cNvCxnSpPr>
              <p:nvPr/>
            </p:nvCxnSpPr>
            <p:spPr bwMode="auto">
              <a:xfrm>
                <a:off x="8503038" y="2556715"/>
                <a:ext cx="968648" cy="0"/>
              </a:xfrm>
              <a:prstGeom prst="line">
                <a:avLst/>
              </a:prstGeom>
              <a:noFill/>
              <a:ln w="12700" cap="flat" cmpd="sng" algn="ctr">
                <a:solidFill>
                  <a:srgbClr val="FFFFFF">
                    <a:lumMod val="65000"/>
                  </a:srgbClr>
                </a:solidFill>
                <a:prstDash val="dash"/>
                <a:tailEnd type="arrow"/>
              </a:ln>
              <a:effectLst/>
            </p:spPr>
          </p:cxnSp>
          <p:sp>
            <p:nvSpPr>
              <p:cNvPr id="445" name="圆角矩形 444"/>
              <p:cNvSpPr/>
              <p:nvPr/>
            </p:nvSpPr>
            <p:spPr bwMode="auto">
              <a:xfrm>
                <a:off x="4115993" y="1005150"/>
                <a:ext cx="1403656" cy="480497"/>
              </a:xfrm>
              <a:prstGeom prst="roundRect">
                <a:avLst/>
              </a:prstGeom>
              <a:solidFill>
                <a:srgbClr val="B2B2B2">
                  <a:lumMod val="20000"/>
                  <a:lumOff val="80000"/>
                </a:srgbClr>
              </a:solidFill>
              <a:ln>
                <a:solidFill>
                  <a:srgbClr val="B2B2B2"/>
                </a:solidFill>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216" tIns="45609" rIns="91216" bIns="45609" numCol="1" rtlCol="0" anchor="t" anchorCtr="0" compatLnSpc="1">
                <a:prstTxWarp prst="textNoShape">
                  <a:avLst/>
                </a:prstTxWarp>
              </a:bodyPr>
              <a:lstStyle/>
              <a:p>
                <a:pPr algn="ctr" defTabSz="965484">
                  <a:buClr>
                    <a:srgbClr val="CC9900"/>
                  </a:buClr>
                </a:pPr>
                <a:r>
                  <a:rPr lang="en-US" altLang="zh-CN" sz="700" kern="0" dirty="0">
                    <a:solidFill>
                      <a:srgbClr val="000000"/>
                    </a:solidFill>
                    <a:latin typeface="Arial"/>
                    <a:ea typeface="宋体"/>
                    <a:cs typeface="+mn-ea"/>
                    <a:sym typeface="+mn-lt"/>
                  </a:rPr>
                  <a:t>VAS1</a:t>
                </a:r>
                <a:endParaRPr lang="zh-CN" altLang="en-US" sz="700" kern="0" dirty="0">
                  <a:solidFill>
                    <a:srgbClr val="000000"/>
                  </a:solidFill>
                  <a:latin typeface="Arial"/>
                  <a:ea typeface="宋体"/>
                  <a:cs typeface="+mn-ea"/>
                  <a:sym typeface="+mn-lt"/>
                </a:endParaRPr>
              </a:p>
            </p:txBody>
          </p:sp>
          <p:cxnSp>
            <p:nvCxnSpPr>
              <p:cNvPr id="446" name="直接连接符 445"/>
              <p:cNvCxnSpPr/>
              <p:nvPr/>
            </p:nvCxnSpPr>
            <p:spPr>
              <a:xfrm flipV="1">
                <a:off x="1577053" y="2791331"/>
                <a:ext cx="6090165" cy="0"/>
              </a:xfrm>
              <a:prstGeom prst="line">
                <a:avLst/>
              </a:prstGeom>
              <a:noFill/>
              <a:ln w="31750" cap="flat" cmpd="sng" algn="ctr">
                <a:solidFill>
                  <a:srgbClr val="92D050"/>
                </a:solidFill>
                <a:prstDash val="solid"/>
              </a:ln>
              <a:effectLst/>
            </p:spPr>
          </p:cxnSp>
          <p:cxnSp>
            <p:nvCxnSpPr>
              <p:cNvPr id="447" name="直接连接符 446"/>
              <p:cNvCxnSpPr/>
              <p:nvPr/>
            </p:nvCxnSpPr>
            <p:spPr>
              <a:xfrm>
                <a:off x="7884040" y="2775065"/>
                <a:ext cx="2908174" cy="0"/>
              </a:xfrm>
              <a:prstGeom prst="line">
                <a:avLst/>
              </a:prstGeom>
              <a:noFill/>
              <a:ln w="31750" cap="flat" cmpd="sng" algn="ctr">
                <a:solidFill>
                  <a:srgbClr val="92D050"/>
                </a:solidFill>
                <a:prstDash val="solid"/>
                <a:headEnd type="none" w="med" len="med"/>
                <a:tailEnd type="triangle" w="med" len="med"/>
              </a:ln>
              <a:effectLst/>
            </p:spPr>
          </p:cxnSp>
          <p:cxnSp>
            <p:nvCxnSpPr>
              <p:cNvPr id="448" name="直接连接符 447"/>
              <p:cNvCxnSpPr/>
              <p:nvPr/>
            </p:nvCxnSpPr>
            <p:spPr>
              <a:xfrm>
                <a:off x="7667215" y="1269622"/>
                <a:ext cx="216823" cy="0"/>
              </a:xfrm>
              <a:prstGeom prst="line">
                <a:avLst/>
              </a:prstGeom>
              <a:noFill/>
              <a:ln w="31750" cap="flat" cmpd="sng" algn="ctr">
                <a:solidFill>
                  <a:srgbClr val="92D050"/>
                </a:solidFill>
                <a:prstDash val="solid"/>
              </a:ln>
              <a:effectLst/>
            </p:spPr>
          </p:cxnSp>
          <p:cxnSp>
            <p:nvCxnSpPr>
              <p:cNvPr id="449" name="直接连接符 448"/>
              <p:cNvCxnSpPr/>
              <p:nvPr/>
            </p:nvCxnSpPr>
            <p:spPr>
              <a:xfrm>
                <a:off x="1577051" y="2657223"/>
                <a:ext cx="2895763" cy="620"/>
              </a:xfrm>
              <a:prstGeom prst="line">
                <a:avLst/>
              </a:prstGeom>
              <a:noFill/>
              <a:ln w="31750" cap="flat" cmpd="sng" algn="ctr">
                <a:solidFill>
                  <a:srgbClr val="0070C0"/>
                </a:solidFill>
                <a:prstDash val="solid"/>
              </a:ln>
              <a:effectLst/>
            </p:spPr>
          </p:cxnSp>
          <p:cxnSp>
            <p:nvCxnSpPr>
              <p:cNvPr id="450" name="直接连接符 449"/>
              <p:cNvCxnSpPr/>
              <p:nvPr/>
            </p:nvCxnSpPr>
            <p:spPr>
              <a:xfrm flipV="1">
                <a:off x="7550758" y="2654941"/>
                <a:ext cx="3241454" cy="0"/>
              </a:xfrm>
              <a:prstGeom prst="line">
                <a:avLst/>
              </a:prstGeom>
              <a:noFill/>
              <a:ln w="31750" cap="flat" cmpd="sng" algn="ctr">
                <a:solidFill>
                  <a:srgbClr val="0070C0"/>
                </a:solidFill>
                <a:prstDash val="solid"/>
                <a:headEnd type="none" w="med" len="med"/>
                <a:tailEnd type="triangle" w="med" len="med"/>
              </a:ln>
              <a:effectLst/>
            </p:spPr>
          </p:cxnSp>
          <p:cxnSp>
            <p:nvCxnSpPr>
              <p:cNvPr id="451" name="直接连接符 450"/>
              <p:cNvCxnSpPr/>
              <p:nvPr/>
            </p:nvCxnSpPr>
            <p:spPr>
              <a:xfrm>
                <a:off x="4472815" y="1269622"/>
                <a:ext cx="205913" cy="0"/>
              </a:xfrm>
              <a:prstGeom prst="line">
                <a:avLst/>
              </a:prstGeom>
              <a:noFill/>
              <a:ln w="31750" cap="flat" cmpd="sng" algn="ctr">
                <a:solidFill>
                  <a:srgbClr val="0070C0"/>
                </a:solidFill>
                <a:prstDash val="solid"/>
              </a:ln>
              <a:effectLst/>
            </p:spPr>
          </p:cxnSp>
          <p:grpSp>
            <p:nvGrpSpPr>
              <p:cNvPr id="452" name="组合 451"/>
              <p:cNvGrpSpPr/>
              <p:nvPr/>
            </p:nvGrpSpPr>
            <p:grpSpPr>
              <a:xfrm>
                <a:off x="4472811" y="1259093"/>
                <a:ext cx="3411229" cy="1522212"/>
                <a:chOff x="4345574" y="1330023"/>
                <a:chExt cx="3411229" cy="1954476"/>
              </a:xfrm>
            </p:grpSpPr>
            <p:cxnSp>
              <p:nvCxnSpPr>
                <p:cNvPr id="488" name="直接连接符 487"/>
                <p:cNvCxnSpPr/>
                <p:nvPr/>
              </p:nvCxnSpPr>
              <p:spPr>
                <a:xfrm flipH="1" flipV="1">
                  <a:off x="7539977" y="1330642"/>
                  <a:ext cx="1" cy="1953857"/>
                </a:xfrm>
                <a:prstGeom prst="line">
                  <a:avLst/>
                </a:prstGeom>
                <a:noFill/>
                <a:ln w="31750" cap="flat" cmpd="sng" algn="ctr">
                  <a:solidFill>
                    <a:srgbClr val="92D050"/>
                  </a:solidFill>
                  <a:prstDash val="solid"/>
                </a:ln>
                <a:effectLst/>
              </p:spPr>
            </p:cxnSp>
            <p:cxnSp>
              <p:nvCxnSpPr>
                <p:cNvPr id="489" name="直接连接符 488"/>
                <p:cNvCxnSpPr/>
                <p:nvPr/>
              </p:nvCxnSpPr>
              <p:spPr>
                <a:xfrm flipH="1" flipV="1">
                  <a:off x="7756802" y="1330642"/>
                  <a:ext cx="1" cy="1953857"/>
                </a:xfrm>
                <a:prstGeom prst="line">
                  <a:avLst/>
                </a:prstGeom>
                <a:noFill/>
                <a:ln w="31750" cap="flat" cmpd="sng" algn="ctr">
                  <a:solidFill>
                    <a:srgbClr val="92D050"/>
                  </a:solidFill>
                  <a:prstDash val="solid"/>
                </a:ln>
                <a:effectLst/>
              </p:spPr>
            </p:cxnSp>
            <p:cxnSp>
              <p:nvCxnSpPr>
                <p:cNvPr id="490" name="直接连接符 489"/>
                <p:cNvCxnSpPr/>
                <p:nvPr/>
              </p:nvCxnSpPr>
              <p:spPr>
                <a:xfrm flipH="1" flipV="1">
                  <a:off x="4345574" y="1330642"/>
                  <a:ext cx="1" cy="1830395"/>
                </a:xfrm>
                <a:prstGeom prst="line">
                  <a:avLst/>
                </a:prstGeom>
                <a:noFill/>
                <a:ln w="31750" cap="flat" cmpd="sng" algn="ctr">
                  <a:solidFill>
                    <a:srgbClr val="0070C0"/>
                  </a:solidFill>
                  <a:prstDash val="solid"/>
                </a:ln>
                <a:effectLst/>
              </p:spPr>
            </p:cxnSp>
            <p:cxnSp>
              <p:nvCxnSpPr>
                <p:cNvPr id="491" name="直接连接符 490"/>
                <p:cNvCxnSpPr/>
                <p:nvPr/>
              </p:nvCxnSpPr>
              <p:spPr>
                <a:xfrm flipH="1" flipV="1">
                  <a:off x="4551491" y="1330642"/>
                  <a:ext cx="1" cy="1830395"/>
                </a:xfrm>
                <a:prstGeom prst="line">
                  <a:avLst/>
                </a:prstGeom>
                <a:noFill/>
                <a:ln w="31750" cap="flat" cmpd="sng" algn="ctr">
                  <a:solidFill>
                    <a:srgbClr val="0070C0"/>
                  </a:solidFill>
                  <a:prstDash val="solid"/>
                </a:ln>
                <a:effectLst/>
              </p:spPr>
            </p:cxnSp>
            <p:cxnSp>
              <p:nvCxnSpPr>
                <p:cNvPr id="492" name="直接连接符 491"/>
                <p:cNvCxnSpPr/>
                <p:nvPr/>
              </p:nvCxnSpPr>
              <p:spPr>
                <a:xfrm flipH="1" flipV="1">
                  <a:off x="7423522" y="1330642"/>
                  <a:ext cx="1" cy="1830395"/>
                </a:xfrm>
                <a:prstGeom prst="line">
                  <a:avLst/>
                </a:prstGeom>
                <a:noFill/>
                <a:ln w="31750" cap="flat" cmpd="sng" algn="ctr">
                  <a:solidFill>
                    <a:srgbClr val="0070C0"/>
                  </a:solidFill>
                  <a:prstDash val="solid"/>
                </a:ln>
                <a:effectLst/>
              </p:spPr>
            </p:cxnSp>
            <p:cxnSp>
              <p:nvCxnSpPr>
                <p:cNvPr id="493" name="直接连接符 492"/>
                <p:cNvCxnSpPr/>
                <p:nvPr/>
              </p:nvCxnSpPr>
              <p:spPr>
                <a:xfrm flipH="1" flipV="1">
                  <a:off x="7233891" y="1330023"/>
                  <a:ext cx="1" cy="1830395"/>
                </a:xfrm>
                <a:prstGeom prst="line">
                  <a:avLst/>
                </a:prstGeom>
                <a:noFill/>
                <a:ln w="31750" cap="flat" cmpd="sng" algn="ctr">
                  <a:solidFill>
                    <a:srgbClr val="0070C0"/>
                  </a:solidFill>
                  <a:prstDash val="solid"/>
                </a:ln>
                <a:effectLst/>
              </p:spPr>
            </p:cxnSp>
          </p:grpSp>
          <p:cxnSp>
            <p:nvCxnSpPr>
              <p:cNvPr id="453" name="直接连接符 452"/>
              <p:cNvCxnSpPr/>
              <p:nvPr/>
            </p:nvCxnSpPr>
            <p:spPr>
              <a:xfrm>
                <a:off x="7344847" y="1269622"/>
                <a:ext cx="205913" cy="0"/>
              </a:xfrm>
              <a:prstGeom prst="line">
                <a:avLst/>
              </a:prstGeom>
              <a:noFill/>
              <a:ln w="31750" cap="flat" cmpd="sng" algn="ctr">
                <a:solidFill>
                  <a:srgbClr val="0070C0"/>
                </a:solidFill>
                <a:prstDash val="solid"/>
              </a:ln>
              <a:effectLst/>
            </p:spPr>
          </p:cxnSp>
          <p:cxnSp>
            <p:nvCxnSpPr>
              <p:cNvPr id="454" name="直接连接符 453"/>
              <p:cNvCxnSpPr/>
              <p:nvPr/>
            </p:nvCxnSpPr>
            <p:spPr>
              <a:xfrm>
                <a:off x="4678728" y="2657843"/>
                <a:ext cx="2682401" cy="0"/>
              </a:xfrm>
              <a:prstGeom prst="line">
                <a:avLst/>
              </a:prstGeom>
              <a:noFill/>
              <a:ln w="31750" cap="flat" cmpd="sng" algn="ctr">
                <a:solidFill>
                  <a:srgbClr val="0070C0"/>
                </a:solidFill>
                <a:prstDash val="solid"/>
              </a:ln>
              <a:effectLst/>
            </p:spPr>
          </p:cxnSp>
          <p:cxnSp>
            <p:nvCxnSpPr>
              <p:cNvPr id="455" name="直接连接符 454"/>
              <p:cNvCxnSpPr/>
              <p:nvPr/>
            </p:nvCxnSpPr>
            <p:spPr>
              <a:xfrm>
                <a:off x="1510913" y="1446960"/>
                <a:ext cx="202782" cy="0"/>
              </a:xfrm>
              <a:prstGeom prst="line">
                <a:avLst/>
              </a:prstGeom>
              <a:noFill/>
              <a:ln w="19050" cap="flat" cmpd="sng" algn="ctr">
                <a:solidFill>
                  <a:srgbClr val="0070C0"/>
                </a:solidFill>
                <a:prstDash val="solid"/>
              </a:ln>
              <a:effectLst/>
            </p:spPr>
          </p:cxnSp>
          <p:cxnSp>
            <p:nvCxnSpPr>
              <p:cNvPr id="456" name="直接连接符 455"/>
              <p:cNvCxnSpPr/>
              <p:nvPr/>
            </p:nvCxnSpPr>
            <p:spPr>
              <a:xfrm flipH="1" flipV="1">
                <a:off x="1713695" y="1168591"/>
                <a:ext cx="0" cy="282559"/>
              </a:xfrm>
              <a:prstGeom prst="line">
                <a:avLst/>
              </a:prstGeom>
              <a:noFill/>
              <a:ln w="19050" cap="flat" cmpd="sng" algn="ctr">
                <a:solidFill>
                  <a:srgbClr val="0070C0"/>
                </a:solidFill>
                <a:prstDash val="solid"/>
              </a:ln>
              <a:effectLst/>
            </p:spPr>
          </p:cxnSp>
          <p:cxnSp>
            <p:nvCxnSpPr>
              <p:cNvPr id="457" name="直接连接符 456"/>
              <p:cNvCxnSpPr/>
              <p:nvPr/>
            </p:nvCxnSpPr>
            <p:spPr>
              <a:xfrm flipH="1" flipV="1">
                <a:off x="1779850" y="1168591"/>
                <a:ext cx="0" cy="282559"/>
              </a:xfrm>
              <a:prstGeom prst="line">
                <a:avLst/>
              </a:prstGeom>
              <a:noFill/>
              <a:ln w="19050" cap="flat" cmpd="sng" algn="ctr">
                <a:solidFill>
                  <a:srgbClr val="0070C0"/>
                </a:solidFill>
                <a:prstDash val="solid"/>
              </a:ln>
              <a:effectLst/>
            </p:spPr>
          </p:cxnSp>
          <p:cxnSp>
            <p:nvCxnSpPr>
              <p:cNvPr id="458" name="直接连接符 457"/>
              <p:cNvCxnSpPr/>
              <p:nvPr/>
            </p:nvCxnSpPr>
            <p:spPr>
              <a:xfrm flipV="1">
                <a:off x="1779853" y="1446960"/>
                <a:ext cx="493571" cy="3286"/>
              </a:xfrm>
              <a:prstGeom prst="line">
                <a:avLst/>
              </a:prstGeom>
              <a:noFill/>
              <a:ln w="19050" cap="flat" cmpd="sng" algn="ctr">
                <a:solidFill>
                  <a:srgbClr val="0070C0"/>
                </a:solidFill>
                <a:prstDash val="solid"/>
                <a:headEnd type="none" w="med" len="med"/>
                <a:tailEnd type="triangle" w="med" len="med"/>
              </a:ln>
              <a:effectLst/>
            </p:spPr>
          </p:cxnSp>
          <p:cxnSp>
            <p:nvCxnSpPr>
              <p:cNvPr id="459" name="直接连接符 458"/>
              <p:cNvCxnSpPr/>
              <p:nvPr/>
            </p:nvCxnSpPr>
            <p:spPr>
              <a:xfrm>
                <a:off x="1713697" y="1177930"/>
                <a:ext cx="66154" cy="0"/>
              </a:xfrm>
              <a:prstGeom prst="line">
                <a:avLst/>
              </a:prstGeom>
              <a:noFill/>
              <a:ln w="19050" cap="flat" cmpd="sng" algn="ctr">
                <a:solidFill>
                  <a:srgbClr val="0070C0"/>
                </a:solidFill>
                <a:prstDash val="solid"/>
              </a:ln>
              <a:effectLst/>
            </p:spPr>
          </p:cxnSp>
          <p:sp>
            <p:nvSpPr>
              <p:cNvPr id="460" name="文本框 459"/>
              <p:cNvSpPr txBox="1"/>
              <p:nvPr/>
            </p:nvSpPr>
            <p:spPr>
              <a:xfrm>
                <a:off x="2233352" y="978858"/>
                <a:ext cx="680645" cy="702748"/>
              </a:xfrm>
              <a:prstGeom prst="rect">
                <a:avLst/>
              </a:prstGeom>
              <a:noFill/>
            </p:spPr>
            <p:txBody>
              <a:bodyPr wrap="square" rtlCol="0">
                <a:spAutoFit/>
              </a:bodyPr>
              <a:lstStyle/>
              <a:p>
                <a:pPr defTabSz="912375"/>
                <a:r>
                  <a:rPr lang="zh-CN" altLang="en-US" sz="800" dirty="0">
                    <a:solidFill>
                      <a:srgbClr val="2D2015"/>
                    </a:solidFill>
                    <a:latin typeface="Arial"/>
                    <a:ea typeface="宋体"/>
                    <a:cs typeface="+mn-ea"/>
                    <a:sym typeface="+mn-lt"/>
                  </a:rPr>
                  <a:t>业务链</a:t>
                </a:r>
              </a:p>
            </p:txBody>
          </p:sp>
          <p:grpSp>
            <p:nvGrpSpPr>
              <p:cNvPr id="461" name="组合 460"/>
              <p:cNvGrpSpPr/>
              <p:nvPr/>
            </p:nvGrpSpPr>
            <p:grpSpPr>
              <a:xfrm>
                <a:off x="3567135" y="3066169"/>
                <a:ext cx="1208816" cy="873059"/>
                <a:chOff x="3611902" y="4236689"/>
                <a:chExt cx="1208816" cy="873059"/>
              </a:xfrm>
            </p:grpSpPr>
            <p:sp>
              <p:nvSpPr>
                <p:cNvPr id="482" name="Rectángulo redondeado 64"/>
                <p:cNvSpPr/>
                <p:nvPr/>
              </p:nvSpPr>
              <p:spPr>
                <a:xfrm rot="16200000">
                  <a:off x="3675212" y="4174473"/>
                  <a:ext cx="198909" cy="323341"/>
                </a:xfrm>
                <a:prstGeom prst="round1Rect">
                  <a:avLst/>
                </a:prstGeom>
                <a:solidFill>
                  <a:srgbClr val="FFFFFF">
                    <a:lumMod val="85000"/>
                  </a:srgbClr>
                </a:solidFill>
                <a:ln w="9525" cap="flat" cmpd="sng" algn="ctr">
                  <a:solidFill>
                    <a:srgbClr val="000000">
                      <a:lumMod val="50000"/>
                      <a:lumOff val="50000"/>
                    </a:srgbClr>
                  </a:solidFill>
                  <a:prstDash val="solid"/>
                </a:ln>
                <a:effectLst/>
              </p:spPr>
              <p:txBody>
                <a:bodyPr vert="vert" lIns="0" tIns="0" rIns="0" bIns="0" rtlCol="0" anchor="ctr"/>
                <a:lstStyle/>
                <a:p>
                  <a:pPr algn="ctr">
                    <a:defRPr/>
                  </a:pPr>
                  <a:r>
                    <a:rPr lang="es-ES_tradnl" sz="400" kern="0" dirty="0">
                      <a:solidFill>
                        <a:srgbClr val="B2B2B2">
                          <a:lumMod val="50000"/>
                        </a:srgbClr>
                      </a:solidFill>
                      <a:latin typeface="Calibri"/>
                      <a:ea typeface=""/>
                    </a:rPr>
                    <a:t>IPv6</a:t>
                  </a:r>
                  <a:endParaRPr lang="es-ES_tradnl" sz="400" b="1" kern="0" dirty="0">
                    <a:solidFill>
                      <a:srgbClr val="B2B2B2">
                        <a:lumMod val="50000"/>
                      </a:srgbClr>
                    </a:solidFill>
                    <a:latin typeface="Calibri"/>
                    <a:ea typeface=""/>
                  </a:endParaRPr>
                </a:p>
              </p:txBody>
            </p:sp>
            <p:sp>
              <p:nvSpPr>
                <p:cNvPr id="483" name="Rectángulo redondeado 64"/>
                <p:cNvSpPr/>
                <p:nvPr/>
              </p:nvSpPr>
              <p:spPr>
                <a:xfrm>
                  <a:off x="3936338" y="4236689"/>
                  <a:ext cx="881209" cy="198910"/>
                </a:xfrm>
                <a:prstGeom prst="round1Rect">
                  <a:avLst/>
                </a:prstGeom>
                <a:solidFill>
                  <a:srgbClr val="FFFFFF"/>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zh-CN" altLang="en-US" sz="400" kern="0" dirty="0">
                      <a:solidFill>
                        <a:srgbClr val="B2B2B2">
                          <a:lumMod val="50000"/>
                        </a:srgbClr>
                      </a:solidFill>
                      <a:latin typeface="Calibri"/>
                      <a:ea typeface=""/>
                    </a:rPr>
                    <a:t>源</a:t>
                  </a:r>
                  <a:r>
                    <a:rPr lang="es-ES_tradnl" sz="400" kern="0" dirty="0">
                      <a:solidFill>
                        <a:srgbClr val="B2B2B2">
                          <a:lumMod val="50000"/>
                        </a:srgbClr>
                      </a:solidFill>
                      <a:latin typeface="Calibri"/>
                      <a:ea typeface=""/>
                    </a:rPr>
                    <a:t>: SC, </a:t>
                  </a:r>
                  <a:r>
                    <a:rPr lang="zh-CN" altLang="en-US" sz="400" kern="0" dirty="0">
                      <a:solidFill>
                        <a:srgbClr val="B2B2B2">
                          <a:lumMod val="50000"/>
                        </a:srgbClr>
                      </a:solidFill>
                      <a:latin typeface="Calibri"/>
                      <a:ea typeface=""/>
                    </a:rPr>
                    <a:t>目的</a:t>
                  </a:r>
                  <a:r>
                    <a:rPr lang="es-ES_tradnl" sz="400" kern="0" dirty="0">
                      <a:solidFill>
                        <a:srgbClr val="B2B2B2">
                          <a:lumMod val="50000"/>
                        </a:srgbClr>
                      </a:solidFill>
                      <a:latin typeface="Calibri"/>
                      <a:ea typeface=""/>
                    </a:rPr>
                    <a:t>:</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 </a:t>
                  </a:r>
                  <a:endParaRPr lang="es-ES_tradnl" sz="400" b="1" kern="0" dirty="0">
                    <a:solidFill>
                      <a:srgbClr val="B2B2B2">
                        <a:lumMod val="50000"/>
                      </a:srgbClr>
                    </a:solidFill>
                    <a:latin typeface="Calibri"/>
                    <a:ea typeface=""/>
                  </a:endParaRPr>
                </a:p>
              </p:txBody>
            </p:sp>
            <p:sp>
              <p:nvSpPr>
                <p:cNvPr id="484" name="Rectángulo redondeado 65"/>
                <p:cNvSpPr/>
                <p:nvPr/>
              </p:nvSpPr>
              <p:spPr>
                <a:xfrm>
                  <a:off x="3612995" y="4435604"/>
                  <a:ext cx="323343" cy="197254"/>
                </a:xfrm>
                <a:prstGeom prst="rect">
                  <a:avLst/>
                </a:prstGeom>
                <a:solidFill>
                  <a:srgbClr val="FFFFFF">
                    <a:lumMod val="85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SRH</a:t>
                  </a:r>
                </a:p>
              </p:txBody>
            </p:sp>
            <p:sp>
              <p:nvSpPr>
                <p:cNvPr id="485" name="Rectángulo redondeado 65"/>
                <p:cNvSpPr/>
                <p:nvPr/>
              </p:nvSpPr>
              <p:spPr>
                <a:xfrm>
                  <a:off x="3936338" y="4435601"/>
                  <a:ext cx="881209" cy="197254"/>
                </a:xfrm>
                <a:prstGeom prst="rect">
                  <a:avLst/>
                </a:prstGeom>
                <a:solidFill>
                  <a:srgbClr val="FFFFFF"/>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(End,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2,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a:t>
                  </a:r>
                </a:p>
              </p:txBody>
            </p:sp>
            <p:sp>
              <p:nvSpPr>
                <p:cNvPr id="486" name="Rectángulo redondeado 65"/>
                <p:cNvSpPr/>
                <p:nvPr/>
              </p:nvSpPr>
              <p:spPr>
                <a:xfrm>
                  <a:off x="3611902" y="4626058"/>
                  <a:ext cx="1208816" cy="167060"/>
                </a:xfrm>
                <a:prstGeom prst="rect">
                  <a:avLst/>
                </a:prstGeom>
                <a:solidFill>
                  <a:srgbClr val="B2B2B2">
                    <a:lumMod val="40000"/>
                    <a:lumOff val="60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n-US" altLang="zh-CN" sz="400" kern="0" dirty="0">
                      <a:solidFill>
                        <a:srgbClr val="990000">
                          <a:lumMod val="50000"/>
                        </a:srgbClr>
                      </a:solidFill>
                      <a:latin typeface="Calibri"/>
                      <a:ea typeface=""/>
                    </a:rPr>
                    <a:t>Metadata</a:t>
                  </a:r>
                  <a:endParaRPr lang="es-ES_tradnl" sz="400" kern="0" dirty="0">
                    <a:solidFill>
                      <a:srgbClr val="990000">
                        <a:lumMod val="50000"/>
                      </a:srgbClr>
                    </a:solidFill>
                    <a:latin typeface="Calibri"/>
                    <a:ea typeface=""/>
                  </a:endParaRPr>
                </a:p>
              </p:txBody>
            </p:sp>
            <p:sp>
              <p:nvSpPr>
                <p:cNvPr id="487" name="Rectángulo redondeado 65"/>
                <p:cNvSpPr/>
                <p:nvPr/>
              </p:nvSpPr>
              <p:spPr>
                <a:xfrm>
                  <a:off x="3611902" y="4795348"/>
                  <a:ext cx="1205646" cy="314400"/>
                </a:xfrm>
                <a:prstGeom prst="rect">
                  <a:avLst/>
                </a:prstGeom>
                <a:solidFill>
                  <a:srgbClr val="0070C0">
                    <a:alpha val="80000"/>
                  </a:srgbClr>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en-US" altLang="zh-CN" sz="500" kern="0" dirty="0">
                      <a:solidFill>
                        <a:srgbClr val="FFFFFF"/>
                      </a:solidFill>
                      <a:ea typeface=""/>
                    </a:rPr>
                    <a:t>flow1</a:t>
                  </a:r>
                  <a:endParaRPr lang="es-ES_tradnl" sz="500" kern="0" dirty="0">
                    <a:solidFill>
                      <a:srgbClr val="FFFFFF"/>
                    </a:solidFill>
                    <a:ea typeface=""/>
                  </a:endParaRPr>
                </a:p>
              </p:txBody>
            </p:sp>
          </p:grpSp>
          <p:sp>
            <p:nvSpPr>
              <p:cNvPr id="462" name="Rectángulo redondeado 65"/>
              <p:cNvSpPr/>
              <p:nvPr/>
            </p:nvSpPr>
            <p:spPr>
              <a:xfrm>
                <a:off x="1688725" y="3066168"/>
                <a:ext cx="1205647" cy="314400"/>
              </a:xfrm>
              <a:prstGeom prst="rect">
                <a:avLst/>
              </a:prstGeom>
              <a:solidFill>
                <a:srgbClr val="0070C0">
                  <a:alpha val="80000"/>
                </a:srgbClr>
              </a:solidFill>
              <a:ln w="25400" cap="flat" cmpd="sng" algn="ctr">
                <a:noFill/>
                <a:prstDash val="solid"/>
              </a:ln>
              <a:effectLst/>
            </p:spPr>
            <p:txBody>
              <a:bodyPr vert="horz" lIns="0" tIns="0" rIns="0" bIns="0" rtlCol="0" anchor="ctr"/>
              <a:lstStyle/>
              <a:p>
                <a:pPr algn="ctr"/>
                <a:r>
                  <a:rPr lang="en-US" altLang="zh-CN" sz="500" kern="0" dirty="0">
                    <a:solidFill>
                      <a:srgbClr val="FFFFFF"/>
                    </a:solidFill>
                    <a:ea typeface=""/>
                  </a:rPr>
                  <a:t>flow1</a:t>
                </a:r>
                <a:endParaRPr lang="es-ES_tradnl" sz="500" kern="0" dirty="0">
                  <a:solidFill>
                    <a:srgbClr val="FFFFFF"/>
                  </a:solidFill>
                  <a:ea typeface=""/>
                </a:endParaRPr>
              </a:p>
            </p:txBody>
          </p:sp>
          <p:grpSp>
            <p:nvGrpSpPr>
              <p:cNvPr id="463" name="组合 462"/>
              <p:cNvGrpSpPr/>
              <p:nvPr/>
            </p:nvGrpSpPr>
            <p:grpSpPr>
              <a:xfrm>
                <a:off x="6195019" y="3066169"/>
                <a:ext cx="1208817" cy="873059"/>
                <a:chOff x="6126054" y="4236689"/>
                <a:chExt cx="1208817" cy="873059"/>
              </a:xfrm>
            </p:grpSpPr>
            <p:sp>
              <p:nvSpPr>
                <p:cNvPr id="476" name="Rectángulo redondeado 64"/>
                <p:cNvSpPr/>
                <p:nvPr/>
              </p:nvSpPr>
              <p:spPr>
                <a:xfrm rot="16200000">
                  <a:off x="6189365" y="4174473"/>
                  <a:ext cx="198909" cy="323341"/>
                </a:xfrm>
                <a:prstGeom prst="round1Rect">
                  <a:avLst/>
                </a:prstGeom>
                <a:solidFill>
                  <a:srgbClr val="FFFFFF">
                    <a:lumMod val="85000"/>
                  </a:srgbClr>
                </a:solidFill>
                <a:ln w="9525" cap="flat" cmpd="sng" algn="ctr">
                  <a:solidFill>
                    <a:srgbClr val="000000">
                      <a:lumMod val="50000"/>
                      <a:lumOff val="50000"/>
                    </a:srgbClr>
                  </a:solidFill>
                  <a:prstDash val="solid"/>
                </a:ln>
                <a:effectLst/>
              </p:spPr>
              <p:txBody>
                <a:bodyPr vert="vert" lIns="0" tIns="0" rIns="0" bIns="0" rtlCol="0" anchor="ctr"/>
                <a:lstStyle/>
                <a:p>
                  <a:pPr algn="ctr">
                    <a:defRPr/>
                  </a:pPr>
                  <a:r>
                    <a:rPr lang="es-ES_tradnl" sz="400" kern="0" dirty="0">
                      <a:solidFill>
                        <a:srgbClr val="B2B2B2">
                          <a:lumMod val="50000"/>
                        </a:srgbClr>
                      </a:solidFill>
                      <a:latin typeface="Calibri"/>
                      <a:ea typeface=""/>
                    </a:rPr>
                    <a:t>IPv6</a:t>
                  </a:r>
                  <a:endParaRPr lang="es-ES_tradnl" sz="400" b="1" kern="0" dirty="0">
                    <a:solidFill>
                      <a:srgbClr val="B2B2B2">
                        <a:lumMod val="50000"/>
                      </a:srgbClr>
                    </a:solidFill>
                    <a:latin typeface="Calibri"/>
                    <a:ea typeface=""/>
                  </a:endParaRPr>
                </a:p>
              </p:txBody>
            </p:sp>
            <p:sp>
              <p:nvSpPr>
                <p:cNvPr id="477" name="Rectángulo redondeado 64"/>
                <p:cNvSpPr/>
                <p:nvPr/>
              </p:nvSpPr>
              <p:spPr>
                <a:xfrm>
                  <a:off x="6450491" y="4236689"/>
                  <a:ext cx="881209" cy="198910"/>
                </a:xfrm>
                <a:prstGeom prst="round1Rect">
                  <a:avLst/>
                </a:prstGeom>
                <a:solidFill>
                  <a:srgbClr val="FFFFFF"/>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zh-CN" altLang="en-US" sz="400" kern="0" dirty="0">
                      <a:solidFill>
                        <a:srgbClr val="B2B2B2">
                          <a:lumMod val="50000"/>
                        </a:srgbClr>
                      </a:solidFill>
                      <a:latin typeface="Calibri"/>
                      <a:ea typeface=""/>
                    </a:rPr>
                    <a:t>源</a:t>
                  </a:r>
                  <a:r>
                    <a:rPr lang="es-ES_tradnl" sz="400" kern="0" dirty="0">
                      <a:solidFill>
                        <a:srgbClr val="B2B2B2">
                          <a:lumMod val="50000"/>
                        </a:srgbClr>
                      </a:solidFill>
                      <a:latin typeface="Calibri"/>
                      <a:ea typeface=""/>
                    </a:rPr>
                    <a:t>: SC, </a:t>
                  </a:r>
                  <a:r>
                    <a:rPr lang="zh-CN" altLang="en-US" sz="400" kern="0" dirty="0">
                      <a:solidFill>
                        <a:srgbClr val="B2B2B2">
                          <a:lumMod val="50000"/>
                        </a:srgbClr>
                      </a:solidFill>
                      <a:latin typeface="Calibri"/>
                      <a:ea typeface=""/>
                    </a:rPr>
                    <a:t>目的</a:t>
                  </a:r>
                  <a:r>
                    <a:rPr lang="es-ES_tradnl" sz="400" kern="0" dirty="0">
                      <a:solidFill>
                        <a:srgbClr val="B2B2B2">
                          <a:lumMod val="50000"/>
                        </a:srgbClr>
                      </a:solidFill>
                      <a:latin typeface="Calibri"/>
                      <a:ea typeface=""/>
                    </a:rPr>
                    <a:t>:</a:t>
                  </a:r>
                  <a:r>
                    <a:rPr lang="en-US" altLang="zh-CN" sz="400" kern="0" dirty="0">
                      <a:solidFill>
                        <a:srgbClr val="B2B2B2">
                          <a:lumMod val="50000"/>
                        </a:srgbClr>
                      </a:solidFill>
                      <a:latin typeface="Calibri"/>
                      <a:ea typeface=""/>
                    </a:rPr>
                    <a:t>VAS2</a:t>
                  </a:r>
                  <a:r>
                    <a:rPr lang="es-ES_tradnl" sz="400" kern="0" dirty="0">
                      <a:solidFill>
                        <a:srgbClr val="B2B2B2">
                          <a:lumMod val="50000"/>
                        </a:srgbClr>
                      </a:solidFill>
                      <a:latin typeface="Calibri"/>
                      <a:ea typeface=""/>
                    </a:rPr>
                    <a:t> </a:t>
                  </a:r>
                  <a:endParaRPr lang="es-ES_tradnl" sz="400" b="1" kern="0" dirty="0">
                    <a:solidFill>
                      <a:srgbClr val="B2B2B2">
                        <a:lumMod val="50000"/>
                      </a:srgbClr>
                    </a:solidFill>
                    <a:latin typeface="Calibri"/>
                    <a:ea typeface=""/>
                  </a:endParaRPr>
                </a:p>
              </p:txBody>
            </p:sp>
            <p:sp>
              <p:nvSpPr>
                <p:cNvPr id="478" name="Rectángulo redondeado 65"/>
                <p:cNvSpPr/>
                <p:nvPr/>
              </p:nvSpPr>
              <p:spPr>
                <a:xfrm>
                  <a:off x="6127148" y="4435604"/>
                  <a:ext cx="323343" cy="197254"/>
                </a:xfrm>
                <a:prstGeom prst="rect">
                  <a:avLst/>
                </a:prstGeom>
                <a:solidFill>
                  <a:srgbClr val="FFFFFF">
                    <a:lumMod val="85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SRH</a:t>
                  </a:r>
                </a:p>
              </p:txBody>
            </p:sp>
            <p:sp>
              <p:nvSpPr>
                <p:cNvPr id="479" name="Rectángulo redondeado 65"/>
                <p:cNvSpPr/>
                <p:nvPr/>
              </p:nvSpPr>
              <p:spPr>
                <a:xfrm>
                  <a:off x="6450491" y="4435601"/>
                  <a:ext cx="881209" cy="197254"/>
                </a:xfrm>
                <a:prstGeom prst="rect">
                  <a:avLst/>
                </a:prstGeom>
                <a:solidFill>
                  <a:srgbClr val="FFFFFF"/>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(End,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2,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a:t>
                  </a:r>
                </a:p>
              </p:txBody>
            </p:sp>
            <p:sp>
              <p:nvSpPr>
                <p:cNvPr id="480" name="Rectángulo redondeado 65"/>
                <p:cNvSpPr/>
                <p:nvPr/>
              </p:nvSpPr>
              <p:spPr>
                <a:xfrm>
                  <a:off x="6126054" y="4626058"/>
                  <a:ext cx="1208817" cy="167060"/>
                </a:xfrm>
                <a:prstGeom prst="rect">
                  <a:avLst/>
                </a:prstGeom>
                <a:solidFill>
                  <a:srgbClr val="B2B2B2">
                    <a:lumMod val="40000"/>
                    <a:lumOff val="60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n-US" altLang="zh-CN" sz="400" kern="0" dirty="0">
                      <a:solidFill>
                        <a:srgbClr val="990000">
                          <a:lumMod val="50000"/>
                        </a:srgbClr>
                      </a:solidFill>
                      <a:latin typeface="Calibri"/>
                      <a:ea typeface=""/>
                    </a:rPr>
                    <a:t>Metadata</a:t>
                  </a:r>
                  <a:endParaRPr lang="es-ES_tradnl" sz="400" kern="0" dirty="0">
                    <a:solidFill>
                      <a:srgbClr val="990000">
                        <a:lumMod val="50000"/>
                      </a:srgbClr>
                    </a:solidFill>
                    <a:latin typeface="Calibri"/>
                    <a:ea typeface=""/>
                  </a:endParaRPr>
                </a:p>
              </p:txBody>
            </p:sp>
            <p:sp>
              <p:nvSpPr>
                <p:cNvPr id="481" name="Rectángulo redondeado 65"/>
                <p:cNvSpPr/>
                <p:nvPr/>
              </p:nvSpPr>
              <p:spPr>
                <a:xfrm>
                  <a:off x="6126054" y="4795348"/>
                  <a:ext cx="1205647" cy="314400"/>
                </a:xfrm>
                <a:prstGeom prst="rect">
                  <a:avLst/>
                </a:prstGeom>
                <a:solidFill>
                  <a:srgbClr val="0070C0">
                    <a:alpha val="80000"/>
                  </a:srgbClr>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en-US" altLang="zh-CN" sz="500" kern="0" dirty="0">
                      <a:solidFill>
                        <a:srgbClr val="FFFFFF"/>
                      </a:solidFill>
                      <a:ea typeface=""/>
                    </a:rPr>
                    <a:t>flow1</a:t>
                  </a:r>
                  <a:endParaRPr lang="es-ES_tradnl" sz="500" kern="0" dirty="0">
                    <a:solidFill>
                      <a:srgbClr val="FFFFFF"/>
                    </a:solidFill>
                    <a:ea typeface=""/>
                  </a:endParaRPr>
                </a:p>
              </p:txBody>
            </p:sp>
          </p:grpSp>
          <p:grpSp>
            <p:nvGrpSpPr>
              <p:cNvPr id="464" name="组合 463"/>
              <p:cNvGrpSpPr/>
              <p:nvPr/>
            </p:nvGrpSpPr>
            <p:grpSpPr>
              <a:xfrm>
                <a:off x="8518643" y="3066169"/>
                <a:ext cx="1205646" cy="873059"/>
                <a:chOff x="8446508" y="4202878"/>
                <a:chExt cx="1205646" cy="873059"/>
              </a:xfrm>
            </p:grpSpPr>
            <p:sp>
              <p:nvSpPr>
                <p:cNvPr id="470" name="Rectángulo redondeado 64"/>
                <p:cNvSpPr/>
                <p:nvPr/>
              </p:nvSpPr>
              <p:spPr>
                <a:xfrm rot="16200000">
                  <a:off x="8509818" y="4140662"/>
                  <a:ext cx="198909" cy="323341"/>
                </a:xfrm>
                <a:prstGeom prst="round1Rect">
                  <a:avLst/>
                </a:prstGeom>
                <a:solidFill>
                  <a:srgbClr val="FFFFFF">
                    <a:lumMod val="85000"/>
                  </a:srgbClr>
                </a:solidFill>
                <a:ln w="9525" cap="flat" cmpd="sng" algn="ctr">
                  <a:solidFill>
                    <a:srgbClr val="000000">
                      <a:lumMod val="50000"/>
                      <a:lumOff val="50000"/>
                    </a:srgbClr>
                  </a:solidFill>
                  <a:prstDash val="solid"/>
                </a:ln>
                <a:effectLst/>
              </p:spPr>
              <p:txBody>
                <a:bodyPr vert="vert" lIns="0" tIns="0" rIns="0" bIns="0" rtlCol="0" anchor="ctr"/>
                <a:lstStyle/>
                <a:p>
                  <a:pPr algn="ctr">
                    <a:defRPr/>
                  </a:pPr>
                  <a:r>
                    <a:rPr lang="es-ES_tradnl" sz="400" kern="0" dirty="0">
                      <a:solidFill>
                        <a:srgbClr val="B2B2B2">
                          <a:lumMod val="50000"/>
                        </a:srgbClr>
                      </a:solidFill>
                      <a:latin typeface="Calibri"/>
                      <a:ea typeface=""/>
                    </a:rPr>
                    <a:t>IPv6</a:t>
                  </a:r>
                  <a:endParaRPr lang="es-ES_tradnl" sz="400" b="1" kern="0" dirty="0">
                    <a:solidFill>
                      <a:srgbClr val="B2B2B2">
                        <a:lumMod val="50000"/>
                      </a:srgbClr>
                    </a:solidFill>
                    <a:latin typeface="Calibri"/>
                    <a:ea typeface=""/>
                  </a:endParaRPr>
                </a:p>
              </p:txBody>
            </p:sp>
            <p:sp>
              <p:nvSpPr>
                <p:cNvPr id="471" name="Rectángulo redondeado 64"/>
                <p:cNvSpPr/>
                <p:nvPr/>
              </p:nvSpPr>
              <p:spPr>
                <a:xfrm>
                  <a:off x="8770944" y="4202878"/>
                  <a:ext cx="881209" cy="198910"/>
                </a:xfrm>
                <a:prstGeom prst="round1Rect">
                  <a:avLst/>
                </a:prstGeom>
                <a:solidFill>
                  <a:srgbClr val="FFFFFF"/>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zh-CN" altLang="en-US" sz="400" kern="0" dirty="0">
                      <a:solidFill>
                        <a:srgbClr val="B2B2B2">
                          <a:lumMod val="50000"/>
                        </a:srgbClr>
                      </a:solidFill>
                      <a:latin typeface="Calibri"/>
                      <a:ea typeface=""/>
                    </a:rPr>
                    <a:t>源</a:t>
                  </a:r>
                  <a:r>
                    <a:rPr lang="es-ES_tradnl" sz="400" kern="0" dirty="0">
                      <a:solidFill>
                        <a:srgbClr val="B2B2B2">
                          <a:lumMod val="50000"/>
                        </a:srgbClr>
                      </a:solidFill>
                      <a:latin typeface="Calibri"/>
                      <a:ea typeface=""/>
                    </a:rPr>
                    <a:t>: SC, </a:t>
                  </a:r>
                  <a:r>
                    <a:rPr lang="zh-CN" altLang="en-US" sz="400" kern="0" dirty="0">
                      <a:solidFill>
                        <a:srgbClr val="B2B2B2">
                          <a:lumMod val="50000"/>
                        </a:srgbClr>
                      </a:solidFill>
                      <a:latin typeface="Calibri"/>
                      <a:ea typeface=""/>
                    </a:rPr>
                    <a:t>目的</a:t>
                  </a:r>
                  <a:r>
                    <a:rPr lang="es-ES_tradnl" sz="400" kern="0" dirty="0">
                      <a:solidFill>
                        <a:srgbClr val="B2B2B2">
                          <a:lumMod val="50000"/>
                        </a:srgbClr>
                      </a:solidFill>
                      <a:latin typeface="Calibri"/>
                      <a:ea typeface=""/>
                    </a:rPr>
                    <a:t>:</a:t>
                  </a:r>
                  <a:r>
                    <a:rPr lang="en-US" altLang="zh-CN" sz="400" kern="0" dirty="0">
                      <a:solidFill>
                        <a:srgbClr val="B2B2B2">
                          <a:lumMod val="50000"/>
                        </a:srgbClr>
                      </a:solidFill>
                      <a:latin typeface="Calibri"/>
                      <a:ea typeface=""/>
                    </a:rPr>
                    <a:t>End</a:t>
                  </a:r>
                  <a:r>
                    <a:rPr lang="es-ES_tradnl" sz="400" kern="0" dirty="0">
                      <a:solidFill>
                        <a:srgbClr val="B2B2B2">
                          <a:lumMod val="50000"/>
                        </a:srgbClr>
                      </a:solidFill>
                      <a:latin typeface="Calibri"/>
                      <a:ea typeface=""/>
                    </a:rPr>
                    <a:t> </a:t>
                  </a:r>
                  <a:endParaRPr lang="es-ES_tradnl" sz="400" b="1" kern="0" dirty="0">
                    <a:solidFill>
                      <a:srgbClr val="B2B2B2">
                        <a:lumMod val="50000"/>
                      </a:srgbClr>
                    </a:solidFill>
                    <a:latin typeface="Calibri"/>
                    <a:ea typeface=""/>
                  </a:endParaRPr>
                </a:p>
              </p:txBody>
            </p:sp>
            <p:sp>
              <p:nvSpPr>
                <p:cNvPr id="472" name="Rectángulo redondeado 65"/>
                <p:cNvSpPr/>
                <p:nvPr/>
              </p:nvSpPr>
              <p:spPr>
                <a:xfrm>
                  <a:off x="8447601" y="4401793"/>
                  <a:ext cx="323343" cy="197254"/>
                </a:xfrm>
                <a:prstGeom prst="rect">
                  <a:avLst/>
                </a:prstGeom>
                <a:solidFill>
                  <a:srgbClr val="FFFFFF">
                    <a:lumMod val="85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SRH</a:t>
                  </a:r>
                </a:p>
              </p:txBody>
            </p:sp>
            <p:sp>
              <p:nvSpPr>
                <p:cNvPr id="473" name="Rectángulo redondeado 65"/>
                <p:cNvSpPr/>
                <p:nvPr/>
              </p:nvSpPr>
              <p:spPr>
                <a:xfrm>
                  <a:off x="8770944" y="4401790"/>
                  <a:ext cx="881209" cy="197254"/>
                </a:xfrm>
                <a:prstGeom prst="rect">
                  <a:avLst/>
                </a:prstGeom>
                <a:solidFill>
                  <a:srgbClr val="FFFFFF"/>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a:t>
                  </a:r>
                  <a:r>
                    <a:rPr lang="es-ES_tradnl" altLang="zh-CN" sz="400" kern="0" dirty="0">
                      <a:solidFill>
                        <a:srgbClr val="B2B2B2">
                          <a:lumMod val="50000"/>
                        </a:srgbClr>
                      </a:solidFill>
                      <a:latin typeface="Calibri"/>
                      <a:ea typeface=""/>
                    </a:rPr>
                    <a:t>End,</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2,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a:t>
                  </a:r>
                </a:p>
              </p:txBody>
            </p:sp>
            <p:sp>
              <p:nvSpPr>
                <p:cNvPr id="474" name="Rectángulo redondeado 65"/>
                <p:cNvSpPr/>
                <p:nvPr/>
              </p:nvSpPr>
              <p:spPr>
                <a:xfrm>
                  <a:off x="8446508" y="4592247"/>
                  <a:ext cx="1205646" cy="167060"/>
                </a:xfrm>
                <a:prstGeom prst="rect">
                  <a:avLst/>
                </a:prstGeom>
                <a:solidFill>
                  <a:srgbClr val="B2B2B2">
                    <a:lumMod val="40000"/>
                    <a:lumOff val="60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n-US" altLang="zh-CN" sz="400" kern="0" dirty="0">
                      <a:solidFill>
                        <a:srgbClr val="990000">
                          <a:lumMod val="50000"/>
                        </a:srgbClr>
                      </a:solidFill>
                      <a:latin typeface="Calibri"/>
                      <a:ea typeface=""/>
                    </a:rPr>
                    <a:t>Metadata</a:t>
                  </a:r>
                  <a:endParaRPr lang="es-ES_tradnl" sz="400" kern="0" dirty="0">
                    <a:solidFill>
                      <a:srgbClr val="990000">
                        <a:lumMod val="50000"/>
                      </a:srgbClr>
                    </a:solidFill>
                    <a:latin typeface="Calibri"/>
                    <a:ea typeface=""/>
                  </a:endParaRPr>
                </a:p>
              </p:txBody>
            </p:sp>
            <p:sp>
              <p:nvSpPr>
                <p:cNvPr id="475" name="Rectángulo redondeado 65"/>
                <p:cNvSpPr/>
                <p:nvPr/>
              </p:nvSpPr>
              <p:spPr>
                <a:xfrm>
                  <a:off x="8446508" y="4761537"/>
                  <a:ext cx="1205646" cy="314400"/>
                </a:xfrm>
                <a:prstGeom prst="rect">
                  <a:avLst/>
                </a:prstGeom>
                <a:solidFill>
                  <a:srgbClr val="0070C0">
                    <a:alpha val="80000"/>
                  </a:srgbClr>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en-US" altLang="zh-CN" sz="500" kern="0" dirty="0">
                      <a:solidFill>
                        <a:srgbClr val="FFFFFF"/>
                      </a:solidFill>
                      <a:ea typeface=""/>
                    </a:rPr>
                    <a:t>flow1</a:t>
                  </a:r>
                  <a:endParaRPr lang="es-ES_tradnl" sz="500" kern="0" dirty="0">
                    <a:solidFill>
                      <a:srgbClr val="FFFFFF"/>
                    </a:solidFill>
                    <a:ea typeface=""/>
                  </a:endParaRPr>
                </a:p>
              </p:txBody>
            </p:sp>
          </p:grpSp>
          <p:sp>
            <p:nvSpPr>
              <p:cNvPr id="465" name="右箭头 464"/>
              <p:cNvSpPr/>
              <p:nvPr/>
            </p:nvSpPr>
            <p:spPr bwMode="auto">
              <a:xfrm>
                <a:off x="3017205" y="3121727"/>
                <a:ext cx="432001" cy="607855"/>
              </a:xfrm>
              <a:prstGeom prst="rightArrow">
                <a:avLst/>
              </a:prstGeom>
              <a:noFill/>
              <a:ln w="9525" cap="flat" cmpd="sng" algn="ctr">
                <a:solidFill>
                  <a:srgbClr val="C00000"/>
                </a:solidFill>
                <a:prstDash val="solid"/>
                <a:round/>
                <a:headEnd type="none" w="med" len="med"/>
                <a:tailEnd type="none" w="med" len="med"/>
              </a:ln>
              <a:effectLst/>
            </p:spPr>
            <p:txBody>
              <a:bodyPr wrap="square" lIns="77161" tIns="38580" rIns="77161" bIns="38580">
                <a:spAutoFit/>
              </a:bodyPr>
              <a:lstStyle/>
              <a:p>
                <a:pPr defTabSz="781069">
                  <a:defRPr/>
                </a:pPr>
                <a:endParaRPr lang="zh-CN" altLang="en-US" sz="800" kern="0">
                  <a:solidFill>
                    <a:srgbClr val="FFFFFF"/>
                  </a:solidFill>
                  <a:latin typeface="Calibri" panose="020F0502020204030204" pitchFamily="34" charset="0"/>
                  <a:ea typeface="华文细黑"/>
                  <a:cs typeface="Calibri" panose="020F0502020204030204" pitchFamily="34" charset="0"/>
                  <a:sym typeface="+mn-lt"/>
                </a:endParaRPr>
              </a:p>
            </p:txBody>
          </p:sp>
          <p:sp>
            <p:nvSpPr>
              <p:cNvPr id="466" name="右箭头 465"/>
              <p:cNvSpPr/>
              <p:nvPr/>
            </p:nvSpPr>
            <p:spPr bwMode="auto">
              <a:xfrm>
                <a:off x="5172370" y="3121727"/>
                <a:ext cx="432001" cy="607855"/>
              </a:xfrm>
              <a:prstGeom prst="rightArrow">
                <a:avLst/>
              </a:prstGeom>
              <a:noFill/>
              <a:ln w="9525" cap="flat" cmpd="sng" algn="ctr">
                <a:solidFill>
                  <a:srgbClr val="C00000"/>
                </a:solidFill>
                <a:prstDash val="solid"/>
                <a:round/>
                <a:headEnd type="none" w="med" len="med"/>
                <a:tailEnd type="none" w="med" len="med"/>
              </a:ln>
              <a:effectLst/>
            </p:spPr>
            <p:txBody>
              <a:bodyPr wrap="square" lIns="77161" tIns="38580" rIns="77161" bIns="38580">
                <a:spAutoFit/>
              </a:bodyPr>
              <a:lstStyle/>
              <a:p>
                <a:pPr defTabSz="781069">
                  <a:defRPr/>
                </a:pPr>
                <a:endParaRPr lang="zh-CN" altLang="en-US" sz="800" kern="0">
                  <a:solidFill>
                    <a:srgbClr val="FFFFFF"/>
                  </a:solidFill>
                  <a:latin typeface="Calibri" panose="020F0502020204030204" pitchFamily="34" charset="0"/>
                  <a:ea typeface="华文细黑"/>
                  <a:cs typeface="Calibri" panose="020F0502020204030204" pitchFamily="34" charset="0"/>
                  <a:sym typeface="+mn-lt"/>
                </a:endParaRPr>
              </a:p>
            </p:txBody>
          </p:sp>
          <p:sp>
            <p:nvSpPr>
              <p:cNvPr id="467" name="右箭头 466"/>
              <p:cNvSpPr/>
              <p:nvPr/>
            </p:nvSpPr>
            <p:spPr bwMode="auto">
              <a:xfrm>
                <a:off x="7621260" y="3121727"/>
                <a:ext cx="432001" cy="607855"/>
              </a:xfrm>
              <a:prstGeom prst="rightArrow">
                <a:avLst/>
              </a:prstGeom>
              <a:noFill/>
              <a:ln w="9525" cap="flat" cmpd="sng" algn="ctr">
                <a:solidFill>
                  <a:srgbClr val="C00000"/>
                </a:solidFill>
                <a:prstDash val="solid"/>
                <a:round/>
                <a:headEnd type="none" w="med" len="med"/>
                <a:tailEnd type="none" w="med" len="med"/>
              </a:ln>
              <a:effectLst/>
            </p:spPr>
            <p:txBody>
              <a:bodyPr wrap="square" lIns="77161" tIns="38580" rIns="77161" bIns="38580">
                <a:spAutoFit/>
              </a:bodyPr>
              <a:lstStyle/>
              <a:p>
                <a:pPr defTabSz="781069">
                  <a:defRPr/>
                </a:pPr>
                <a:endParaRPr lang="zh-CN" altLang="en-US" sz="800" kern="0">
                  <a:solidFill>
                    <a:srgbClr val="FFFFFF"/>
                  </a:solidFill>
                  <a:latin typeface="Calibri" panose="020F0502020204030204" pitchFamily="34" charset="0"/>
                  <a:ea typeface="华文细黑"/>
                  <a:cs typeface="Calibri" panose="020F0502020204030204" pitchFamily="34" charset="0"/>
                  <a:sym typeface="+mn-lt"/>
                </a:endParaRPr>
              </a:p>
            </p:txBody>
          </p:sp>
          <p:sp>
            <p:nvSpPr>
              <p:cNvPr id="468" name="矩形 467"/>
              <p:cNvSpPr/>
              <p:nvPr/>
            </p:nvSpPr>
            <p:spPr>
              <a:xfrm>
                <a:off x="4362128" y="1230238"/>
                <a:ext cx="1867481" cy="327950"/>
              </a:xfrm>
              <a:prstGeom prst="rect">
                <a:avLst/>
              </a:prstGeom>
            </p:spPr>
            <p:txBody>
              <a:bodyPr wrap="none">
                <a:spAutoFit/>
              </a:bodyPr>
              <a:lstStyle/>
              <a:p>
                <a:r>
                  <a:rPr lang="en-US" altLang="zh-CN" sz="800" dirty="0">
                    <a:solidFill>
                      <a:schemeClr val="tx1">
                        <a:lumMod val="65000"/>
                        <a:lumOff val="35000"/>
                      </a:schemeClr>
                    </a:solidFill>
                    <a:latin typeface="Arial" panose="020B0604020202020204" pitchFamily="34" charset="0"/>
                    <a:ea typeface="Microsoft YaHei" panose="020B0503020204020204" pitchFamily="34" charset="-122"/>
                    <a:sym typeface="Arial" panose="020B0604020202020204" pitchFamily="34" charset="0"/>
                  </a:rPr>
                  <a:t>SRv6 Aware</a:t>
                </a:r>
                <a:endParaRPr lang="zh-CN" altLang="en-US" sz="800" dirty="0">
                  <a:solidFill>
                    <a:schemeClr val="tx1">
                      <a:lumMod val="65000"/>
                      <a:lumOff val="35000"/>
                    </a:schemeClr>
                  </a:solidFill>
                </a:endParaRPr>
              </a:p>
            </p:txBody>
          </p:sp>
          <p:sp>
            <p:nvSpPr>
              <p:cNvPr id="469" name="矩形 468"/>
              <p:cNvSpPr/>
              <p:nvPr/>
            </p:nvSpPr>
            <p:spPr>
              <a:xfrm>
                <a:off x="7011412" y="1255027"/>
                <a:ext cx="1867481" cy="327950"/>
              </a:xfrm>
              <a:prstGeom prst="rect">
                <a:avLst/>
              </a:prstGeom>
            </p:spPr>
            <p:txBody>
              <a:bodyPr wrap="none">
                <a:spAutoFit/>
              </a:bodyPr>
              <a:lstStyle/>
              <a:p>
                <a:r>
                  <a:rPr lang="en-US" altLang="zh-CN" sz="800" dirty="0">
                    <a:solidFill>
                      <a:schemeClr val="tx1">
                        <a:lumMod val="65000"/>
                        <a:lumOff val="35000"/>
                      </a:schemeClr>
                    </a:solidFill>
                    <a:latin typeface="Arial" panose="020B0604020202020204" pitchFamily="34" charset="0"/>
                    <a:ea typeface="Microsoft YaHei" panose="020B0503020204020204" pitchFamily="34" charset="-122"/>
                    <a:sym typeface="Arial" panose="020B0604020202020204" pitchFamily="34" charset="0"/>
                  </a:rPr>
                  <a:t>SRv6 Aware</a:t>
                </a:r>
                <a:endParaRPr lang="zh-CN" altLang="en-US" sz="800" dirty="0">
                  <a:solidFill>
                    <a:schemeClr val="tx1">
                      <a:lumMod val="65000"/>
                      <a:lumOff val="35000"/>
                    </a:schemeClr>
                  </a:solidFill>
                </a:endParaRPr>
              </a:p>
            </p:txBody>
          </p:sp>
        </p:grpSp>
      </p:grpSp>
    </p:spTree>
    <p:extLst>
      <p:ext uri="{BB962C8B-B14F-4D97-AF65-F5344CB8AC3E}">
        <p14:creationId xmlns:p14="http://schemas.microsoft.com/office/powerpoint/2010/main" val="604980577"/>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id="{EAE97F77-16B3-2043-B14E-0B774467C142}"/>
              </a:ext>
            </a:extLst>
          </p:cNvPr>
          <p:cNvSpPr>
            <a:spLocks noGrp="1"/>
          </p:cNvSpPr>
          <p:nvPr>
            <p:ph idx="1"/>
          </p:nvPr>
        </p:nvSpPr>
        <p:spPr>
          <a:xfrm>
            <a:off x="1307508" y="1510758"/>
            <a:ext cx="10046292" cy="5183956"/>
          </a:xfrm>
        </p:spPr>
        <p:txBody>
          <a:bodyPr>
            <a:normAutofit fontScale="92500" lnSpcReduction="2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5.3</a:t>
            </a:r>
            <a:r>
              <a:rPr kumimoji="1" lang="zh-CN" altLang="en-US" dirty="0">
                <a:sym typeface="+mn-ea"/>
              </a:rPr>
              <a:t> 网络层流量管理</a:t>
            </a:r>
            <a:endParaRPr kumimoji="1" lang="zh-CN" altLang="en-US" dirty="0"/>
          </a:p>
          <a:p>
            <a:pPr marL="0" indent="0">
              <a:lnSpc>
                <a:spcPct val="130000"/>
              </a:lnSpc>
              <a:buNone/>
            </a:pPr>
            <a:r>
              <a:rPr kumimoji="1" lang="en-US" altLang="zh-CN" dirty="0">
                <a:sym typeface="+mn-ea"/>
              </a:rPr>
              <a:t>5.4</a:t>
            </a:r>
            <a:r>
              <a:rPr kumimoji="1" lang="zh-CN" altLang="en-US" dirty="0">
                <a:sym typeface="+mn-ea"/>
              </a:rPr>
              <a:t> 服务质量</a:t>
            </a:r>
            <a:endParaRPr kumimoji="1" lang="en-US" altLang="zh-CN" dirty="0">
              <a:sym typeface="+mn-ea"/>
            </a:endParaRPr>
          </a:p>
          <a:p>
            <a:pPr marL="0" indent="0">
              <a:lnSpc>
                <a:spcPct val="130000"/>
              </a:lnSpc>
              <a:buNone/>
            </a:pPr>
            <a:r>
              <a:rPr kumimoji="1" lang="en-US" altLang="zh-CN" dirty="0">
                <a:sym typeface="+mn-ea"/>
              </a:rPr>
              <a:t>5.5 </a:t>
            </a:r>
            <a:r>
              <a:rPr kumimoji="1" lang="zh-CN" altLang="en-US" dirty="0">
                <a:sym typeface="+mn-ea"/>
              </a:rPr>
              <a:t>软件定义网络</a:t>
            </a:r>
            <a:endParaRPr kumimoji="1" lang="en-US" altLang="zh-CN" dirty="0">
              <a:sym typeface="+mn-ea"/>
            </a:endParaRPr>
          </a:p>
          <a:p>
            <a:pPr marL="0" indent="0">
              <a:lnSpc>
                <a:spcPct val="130000"/>
              </a:lnSpc>
              <a:buNone/>
            </a:pPr>
            <a:r>
              <a:rPr kumimoji="1" lang="en-US" altLang="zh-CN" dirty="0">
                <a:sym typeface="+mn-ea"/>
              </a:rPr>
              <a:t>5.6</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sym typeface="+mn-ea"/>
            </a:endParaRPr>
          </a:p>
          <a:p>
            <a:pPr marL="0" indent="0">
              <a:lnSpc>
                <a:spcPct val="130000"/>
              </a:lnSpc>
              <a:buNone/>
            </a:pPr>
            <a:r>
              <a:rPr kumimoji="1" lang="en-US" altLang="zh-CN" dirty="0">
                <a:sym typeface="+mn-ea"/>
              </a:rPr>
              <a:t>5.7 IPv6</a:t>
            </a:r>
            <a:r>
              <a:rPr kumimoji="1" lang="zh-CN" altLang="en-US" dirty="0">
                <a:sym typeface="+mn-ea"/>
              </a:rPr>
              <a:t>技术</a:t>
            </a:r>
            <a:endParaRPr kumimoji="1" lang="en-US" altLang="zh-CN" dirty="0">
              <a:sym typeface="+mn-ea"/>
            </a:endParaRPr>
          </a:p>
          <a:p>
            <a:pPr marL="0" indent="0">
              <a:lnSpc>
                <a:spcPct val="130000"/>
              </a:lnSpc>
              <a:buNone/>
            </a:pPr>
            <a:r>
              <a:rPr kumimoji="1" lang="en-US" altLang="zh-CN" dirty="0">
                <a:sym typeface="+mn-ea"/>
              </a:rPr>
              <a:t>5.8</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sym typeface="+mn-ea"/>
            </a:endParaRPr>
          </a:p>
          <a:p>
            <a:pPr marL="0" indent="0">
              <a:lnSpc>
                <a:spcPct val="130000"/>
              </a:lnSpc>
              <a:buNone/>
            </a:pPr>
            <a:r>
              <a:rPr kumimoji="1" lang="en-US" altLang="zh-CN" dirty="0">
                <a:sym typeface="+mn-ea"/>
              </a:rPr>
              <a:t>5.9</a:t>
            </a:r>
            <a:r>
              <a:rPr kumimoji="1" lang="zh-CN" altLang="en-US" dirty="0">
                <a:sym typeface="+mn-ea"/>
              </a:rPr>
              <a:t> 路由器工作原理</a:t>
            </a:r>
            <a:endParaRPr kumimoji="1" lang="en-US" altLang="zh-CN" dirty="0"/>
          </a:p>
          <a:p>
            <a:pPr marL="0">
              <a:lnSpc>
                <a:spcPct val="130000"/>
              </a:lnSpc>
              <a:buNone/>
            </a:pPr>
            <a:r>
              <a:rPr kumimoji="1" lang="zh-CN" altLang="en-US" dirty="0">
                <a:solidFill>
                  <a:srgbClr val="C00000"/>
                </a:solidFill>
                <a:sym typeface="+mn-ea"/>
              </a:rPr>
              <a:t>5.</a:t>
            </a:r>
            <a:r>
              <a:rPr kumimoji="1" lang="en-US" altLang="zh-CN" dirty="0">
                <a:solidFill>
                  <a:srgbClr val="C00000"/>
                </a:solidFill>
                <a:sym typeface="+mn-ea"/>
              </a:rPr>
              <a:t>10</a:t>
            </a:r>
            <a:r>
              <a:rPr kumimoji="1" lang="zh-CN" altLang="en-US" dirty="0">
                <a:solidFill>
                  <a:srgbClr val="C00000"/>
                </a:solidFill>
                <a:sym typeface="+mn-ea"/>
              </a:rPr>
              <a:t> 三层交换与</a:t>
            </a:r>
            <a:r>
              <a:rPr kumimoji="1" lang="en-US" altLang="zh-CN" dirty="0">
                <a:solidFill>
                  <a:srgbClr val="C00000"/>
                </a:solidFill>
                <a:sym typeface="+mn-ea"/>
              </a:rPr>
              <a:t>VPN</a:t>
            </a:r>
          </a:p>
        </p:txBody>
      </p:sp>
      <p:sp>
        <p:nvSpPr>
          <p:cNvPr id="10" name="灯片编号占位符 9">
            <a:extLst>
              <a:ext uri="{FF2B5EF4-FFF2-40B4-BE49-F238E27FC236}">
                <a16:creationId xmlns:a16="http://schemas.microsoft.com/office/drawing/2014/main" id="{81955D56-458B-2941-A60C-A60B6824D7F3}"/>
              </a:ext>
            </a:extLst>
          </p:cNvPr>
          <p:cNvSpPr>
            <a:spLocks noGrp="1"/>
          </p:cNvSpPr>
          <p:nvPr>
            <p:ph type="sldNum" sz="quarter" idx="12"/>
          </p:nvPr>
        </p:nvSpPr>
        <p:spPr/>
        <p:txBody>
          <a:bodyPr/>
          <a:lstStyle/>
          <a:p>
            <a:fld id="{8D4D1E41-7A09-AB4A-A4E1-09765ADA2698}" type="slidenum">
              <a:rPr kumimoji="1" lang="zh-CN" altLang="en-US" smtClean="0"/>
              <a:t>231</a:t>
            </a:fld>
            <a:endParaRPr kumimoji="1" lang="zh-CN" altLang="en-US" dirty="0"/>
          </a:p>
        </p:txBody>
      </p:sp>
      <p:sp>
        <p:nvSpPr>
          <p:cNvPr id="7" name="矩形标注 6">
            <a:extLst>
              <a:ext uri="{FF2B5EF4-FFF2-40B4-BE49-F238E27FC236}">
                <a16:creationId xmlns:a16="http://schemas.microsoft.com/office/drawing/2014/main" id="{981187B3-3584-BA4E-A14C-4B26773516C6}"/>
              </a:ext>
            </a:extLst>
          </p:cNvPr>
          <p:cNvSpPr/>
          <p:nvPr/>
        </p:nvSpPr>
        <p:spPr>
          <a:xfrm>
            <a:off x="6040294" y="4853615"/>
            <a:ext cx="2351412" cy="1189611"/>
          </a:xfrm>
          <a:prstGeom prst="wedgeRectCallout">
            <a:avLst>
              <a:gd name="adj1" fmla="val -106766"/>
              <a:gd name="adj2" fmla="val 71265"/>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三层交换</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VPN</a:t>
            </a:r>
            <a:r>
              <a:rPr kumimoji="1" lang="zh-CN" altLang="en-US" sz="2400" dirty="0">
                <a:solidFill>
                  <a:prstClr val="black"/>
                </a:solidFill>
                <a:latin typeface="Microsoft YaHei" panose="020B0503020204020204" pitchFamily="34" charset="-122"/>
                <a:ea typeface="Microsoft YaHei" panose="020B0503020204020204" pitchFamily="34" charset="-122"/>
              </a:rPr>
              <a:t>技术</a:t>
            </a:r>
          </a:p>
        </p:txBody>
      </p:sp>
    </p:spTree>
    <p:extLst>
      <p:ext uri="{BB962C8B-B14F-4D97-AF65-F5344CB8AC3E}">
        <p14:creationId xmlns:p14="http://schemas.microsoft.com/office/powerpoint/2010/main" val="142516166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id="{D92A9FC6-B96A-4E23-8A25-078A6B3BE9A5}"/>
              </a:ext>
            </a:extLst>
          </p:cNvPr>
          <p:cNvSpPr>
            <a:spLocks noGrp="1"/>
          </p:cNvSpPr>
          <p:nvPr>
            <p:ph idx="1"/>
          </p:nvPr>
        </p:nvSpPr>
        <p:spPr>
          <a:xfrm>
            <a:off x="838200" y="1510758"/>
            <a:ext cx="10654145" cy="4982116"/>
          </a:xfrm>
        </p:spPr>
        <p:txBody>
          <a:bodyPr>
            <a:normAutofit/>
          </a:bodyPr>
          <a:lstStyle/>
          <a:p>
            <a:pPr algn="just"/>
            <a:r>
              <a:rPr lang="zh-CN" altLang="en-US" dirty="0"/>
              <a:t>二层交换网络中的广播，</a:t>
            </a:r>
            <a:r>
              <a:rPr kumimoji="1" lang="zh-CN" altLang="en-US" dirty="0"/>
              <a:t>限制了网络规模的扩展</a:t>
            </a:r>
            <a:endParaRPr lang="en-US" altLang="zh-CN" dirty="0"/>
          </a:p>
          <a:p>
            <a:pPr lvl="1" algn="just">
              <a:lnSpc>
                <a:spcPct val="110000"/>
              </a:lnSpc>
            </a:pPr>
            <a:r>
              <a:rPr lang="zh-CN" altLang="en-US" dirty="0"/>
              <a:t>交换机对目标地址无法匹配的数据帧进行广播转发</a:t>
            </a:r>
            <a:endParaRPr lang="en-US" altLang="zh-CN" dirty="0"/>
          </a:p>
          <a:p>
            <a:pPr lvl="1" algn="just">
              <a:lnSpc>
                <a:spcPct val="110000"/>
              </a:lnSpc>
            </a:pPr>
            <a:r>
              <a:rPr lang="zh-CN" altLang="en-US" dirty="0"/>
              <a:t>交换机对目标地址为广播地址的数据帧进行广播转发</a:t>
            </a:r>
            <a:endParaRPr lang="en-US" altLang="zh-CN" dirty="0"/>
          </a:p>
          <a:p>
            <a:pPr lvl="1" algn="just">
              <a:lnSpc>
                <a:spcPct val="110000"/>
              </a:lnSpc>
            </a:pPr>
            <a:r>
              <a:rPr lang="zh-CN" altLang="en-US" dirty="0"/>
              <a:t>交换机为维护生成树状态产生大量的桥协议数据单元</a:t>
            </a:r>
            <a:r>
              <a:rPr lang="en-US" altLang="zh-CN" dirty="0"/>
              <a:t>(Bridge Protocol Data Unit</a:t>
            </a:r>
            <a:r>
              <a:rPr lang="zh-CN" altLang="en-US" dirty="0"/>
              <a:t>，</a:t>
            </a:r>
            <a:r>
              <a:rPr lang="en-US" altLang="zh-CN" dirty="0"/>
              <a:t>BPDU)</a:t>
            </a:r>
          </a:p>
          <a:p>
            <a:pPr lvl="1" algn="just">
              <a:lnSpc>
                <a:spcPct val="110000"/>
              </a:lnSpc>
            </a:pPr>
            <a:r>
              <a:rPr lang="zh-CN" altLang="en-US" dirty="0"/>
              <a:t>这些广播帧会大量消耗网络资源，并频繁影响用户的数据通信</a:t>
            </a:r>
            <a:endParaRPr lang="en-US" altLang="zh-CN" dirty="0"/>
          </a:p>
          <a:p>
            <a:pPr marL="360363" marR="0" lvl="0" indent="-360363" algn="just" defTabSz="914400" rtl="0" eaLnBrk="1" fontAlgn="auto" latinLnBrk="0" hangingPunct="1">
              <a:lnSpc>
                <a:spcPct val="100000"/>
              </a:lnSpc>
              <a:spcBef>
                <a:spcPts val="600"/>
              </a:spcBef>
              <a:spcAft>
                <a:spcPts val="0"/>
              </a:spcAft>
              <a:buClrTx/>
              <a:buSzTx/>
              <a:buFont typeface="Wingdings" pitchFamily="2" charset="2"/>
              <a:buChar char="Ø"/>
              <a:tabLst/>
              <a:defRPr/>
            </a:pPr>
            <a:r>
              <a:rPr kumimoji="0" lang="en-US" altLang="zh-CN"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rPr>
              <a:t>VLAN</a:t>
            </a:r>
            <a:r>
              <a:rPr kumimoji="0" lang="zh-CN" altLang="en-US"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rPr>
              <a:t>虽然可以将广播的影响限定在一定范围内，但同时也隔离了正常的用户间数据通信</a:t>
            </a:r>
            <a:endParaRPr kumimoji="0" lang="en-US" altLang="zh-CN"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endParaRPr>
          </a:p>
          <a:p>
            <a:pPr marL="360363" marR="0" lvl="0" indent="-360363" algn="just" defTabSz="914400" rtl="0" eaLnBrk="1" fontAlgn="auto" latinLnBrk="0" hangingPunct="1">
              <a:lnSpc>
                <a:spcPct val="100000"/>
              </a:lnSpc>
              <a:spcBef>
                <a:spcPts val="600"/>
              </a:spcBef>
              <a:spcAft>
                <a:spcPts val="0"/>
              </a:spcAft>
              <a:buClrTx/>
              <a:buSzTx/>
              <a:buFont typeface="Wingdings" pitchFamily="2" charset="2"/>
              <a:buChar char="Ø"/>
              <a:tabLst/>
              <a:defRPr/>
            </a:pPr>
            <a:r>
              <a:rPr lang="zh-CN" altLang="en-US" dirty="0">
                <a:solidFill>
                  <a:prstClr val="black"/>
                </a:solidFill>
              </a:rPr>
              <a:t>传统路由器致力于解决</a:t>
            </a:r>
            <a:r>
              <a:rPr lang="en-US" altLang="zh-CN" dirty="0">
                <a:solidFill>
                  <a:prstClr val="black"/>
                </a:solidFill>
              </a:rPr>
              <a:t>VLAN</a:t>
            </a:r>
            <a:r>
              <a:rPr lang="zh-CN" altLang="en-US" dirty="0">
                <a:solidFill>
                  <a:prstClr val="black"/>
                </a:solidFill>
              </a:rPr>
              <a:t>间互联互通，但是其转发效率和拓扑</a:t>
            </a:r>
            <a:r>
              <a:rPr lang="zh-CN" altLang="en-US" b="0" i="0" dirty="0">
                <a:solidFill>
                  <a:srgbClr val="333333"/>
                </a:solidFill>
                <a:effectLst/>
                <a:latin typeface="arial" panose="020B0604020202020204" pitchFamily="34" charset="0"/>
              </a:rPr>
              <a:t>复杂性带来的网络通信瓶颈无法有效应对规模扩展</a:t>
            </a:r>
            <a:endParaRPr kumimoji="0" lang="en-US" altLang="zh-CN"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endParaRPr>
          </a:p>
          <a:p>
            <a:pPr marL="360363" marR="0" lvl="0" indent="-360363" algn="just" defTabSz="914400" rtl="0" eaLnBrk="1" fontAlgn="auto" latinLnBrk="0" hangingPunct="1">
              <a:lnSpc>
                <a:spcPct val="100000"/>
              </a:lnSpc>
              <a:spcBef>
                <a:spcPts val="600"/>
              </a:spcBef>
              <a:spcAft>
                <a:spcPts val="0"/>
              </a:spcAft>
              <a:buClrTx/>
              <a:buSzTx/>
              <a:buFont typeface="Wingdings" pitchFamily="2" charset="2"/>
              <a:buChar char="Ø"/>
              <a:tabLst/>
              <a:defRPr/>
            </a:pPr>
            <a:endParaRPr lang="en-US" altLang="zh-CN" dirty="0"/>
          </a:p>
          <a:p>
            <a:pPr lvl="1" algn="just">
              <a:lnSpc>
                <a:spcPct val="110000"/>
              </a:lnSpc>
            </a:pPr>
            <a:endParaRPr lang="en-US" altLang="zh-CN" dirty="0"/>
          </a:p>
          <a:p>
            <a:pPr marL="914400" lvl="2" indent="0" algn="just">
              <a:buNone/>
            </a:pPr>
            <a:endParaRPr kumimoji="1" lang="en-US" altLang="zh-CN" dirty="0">
              <a:solidFill>
                <a:srgbClr val="C00000"/>
              </a:solidFill>
            </a:endParaRPr>
          </a:p>
        </p:txBody>
      </p:sp>
      <p:sp>
        <p:nvSpPr>
          <p:cNvPr id="4" name="灯片编号占位符 3">
            <a:extLst>
              <a:ext uri="{FF2B5EF4-FFF2-40B4-BE49-F238E27FC236}">
                <a16:creationId xmlns:a16="http://schemas.microsoft.com/office/drawing/2014/main" id="{8A105F95-D422-4086-B916-15C1BE9E4864}"/>
              </a:ext>
            </a:extLst>
          </p:cNvPr>
          <p:cNvSpPr>
            <a:spLocks noGrp="1"/>
          </p:cNvSpPr>
          <p:nvPr>
            <p:ph type="sldNum" sz="quarter" idx="12"/>
          </p:nvPr>
        </p:nvSpPr>
        <p:spPr/>
        <p:txBody>
          <a:bodyPr/>
          <a:lstStyle/>
          <a:p>
            <a:fld id="{8D4D1E41-7A09-AB4A-A4E1-09765ADA2698}" type="slidenum">
              <a:rPr kumimoji="1" lang="zh-CN" altLang="en-US" smtClean="0"/>
              <a:t>232</a:t>
            </a:fld>
            <a:endParaRPr kumimoji="1" lang="zh-CN" altLang="en-US" dirty="0"/>
          </a:p>
        </p:txBody>
      </p:sp>
      <p:sp>
        <p:nvSpPr>
          <p:cNvPr id="96" name="标题 1">
            <a:extLst>
              <a:ext uri="{FF2B5EF4-FFF2-40B4-BE49-F238E27FC236}">
                <a16:creationId xmlns:a16="http://schemas.microsoft.com/office/drawing/2014/main" id="{B3EC1525-8913-4029-9E34-054D7B6777AD}"/>
              </a:ext>
            </a:extLst>
          </p:cNvPr>
          <p:cNvSpPr>
            <a:spLocks noGrp="1"/>
          </p:cNvSpPr>
          <p:nvPr>
            <p:ph type="title"/>
          </p:nvPr>
        </p:nvSpPr>
        <p:spPr>
          <a:xfrm>
            <a:off x="1307508" y="365126"/>
            <a:ext cx="8220812" cy="879086"/>
          </a:xfrm>
        </p:spPr>
        <p:txBody>
          <a:bodyPr>
            <a:normAutofit/>
          </a:bodyPr>
          <a:lstStyle/>
          <a:p>
            <a:r>
              <a:rPr kumimoji="1" lang="zh-CN" altLang="en-US" dirty="0"/>
              <a:t>三层交换的技术背景</a:t>
            </a:r>
          </a:p>
        </p:txBody>
      </p:sp>
      <p:sp>
        <p:nvSpPr>
          <p:cNvPr id="2" name="日期占位符 1">
            <a:extLst>
              <a:ext uri="{FF2B5EF4-FFF2-40B4-BE49-F238E27FC236}">
                <a16:creationId xmlns:a16="http://schemas.microsoft.com/office/drawing/2014/main" id="{922A9DF4-DA30-4A3F-907B-883A3BEFFE08}"/>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3071280846"/>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id="{D92A9FC6-B96A-4E23-8A25-078A6B3BE9A5}"/>
              </a:ext>
            </a:extLst>
          </p:cNvPr>
          <p:cNvSpPr>
            <a:spLocks noGrp="1"/>
          </p:cNvSpPr>
          <p:nvPr>
            <p:ph idx="1"/>
          </p:nvPr>
        </p:nvSpPr>
        <p:spPr>
          <a:xfrm>
            <a:off x="838200" y="1510758"/>
            <a:ext cx="10654145" cy="4982116"/>
          </a:xfrm>
        </p:spPr>
        <p:txBody>
          <a:bodyPr>
            <a:normAutofit/>
          </a:bodyPr>
          <a:lstStyle/>
          <a:p>
            <a:pPr algn="just"/>
            <a:r>
              <a:rPr lang="zh-CN" altLang="en-US" dirty="0"/>
              <a:t>二层交换网络中的广播，</a:t>
            </a:r>
            <a:r>
              <a:rPr kumimoji="1" lang="zh-CN" altLang="en-US" dirty="0"/>
              <a:t>限制了网络规模的扩展</a:t>
            </a:r>
            <a:endParaRPr lang="en-US" altLang="zh-CN" dirty="0"/>
          </a:p>
          <a:p>
            <a:pPr lvl="1" algn="just">
              <a:lnSpc>
                <a:spcPct val="110000"/>
              </a:lnSpc>
            </a:pPr>
            <a:r>
              <a:rPr lang="zh-CN" altLang="en-US" dirty="0"/>
              <a:t>交换机对目标地址无法匹配的数据帧进行广播转发</a:t>
            </a:r>
            <a:endParaRPr lang="en-US" altLang="zh-CN" dirty="0"/>
          </a:p>
          <a:p>
            <a:pPr marL="717550" lvl="2" indent="0" algn="just">
              <a:lnSpc>
                <a:spcPct val="110000"/>
              </a:lnSpc>
              <a:buNone/>
            </a:pPr>
            <a:r>
              <a:rPr kumimoji="1" lang="zh-CN" altLang="en-US" dirty="0">
                <a:solidFill>
                  <a:srgbClr val="C00000"/>
                </a:solidFill>
              </a:rPr>
              <a:t>当待转发数据帧的目标地址在转发表中没有可以匹配的记录，交换机会向除来源端口之外的所有端口复制该数据帧</a:t>
            </a:r>
            <a:endParaRPr lang="en-US" altLang="zh-CN" dirty="0">
              <a:solidFill>
                <a:srgbClr val="C00000"/>
              </a:solidFill>
            </a:endParaRPr>
          </a:p>
          <a:p>
            <a:pPr marL="914400" lvl="2" indent="0" algn="just">
              <a:buNone/>
            </a:pPr>
            <a:endParaRPr kumimoji="1" lang="en-US" altLang="zh-CN" dirty="0">
              <a:solidFill>
                <a:srgbClr val="C00000"/>
              </a:solidFill>
            </a:endParaRPr>
          </a:p>
        </p:txBody>
      </p:sp>
      <p:sp>
        <p:nvSpPr>
          <p:cNvPr id="4" name="灯片编号占位符 3">
            <a:extLst>
              <a:ext uri="{FF2B5EF4-FFF2-40B4-BE49-F238E27FC236}">
                <a16:creationId xmlns:a16="http://schemas.microsoft.com/office/drawing/2014/main" id="{8A105F95-D422-4086-B916-15C1BE9E4864}"/>
              </a:ext>
            </a:extLst>
          </p:cNvPr>
          <p:cNvSpPr>
            <a:spLocks noGrp="1"/>
          </p:cNvSpPr>
          <p:nvPr>
            <p:ph type="sldNum" sz="quarter" idx="12"/>
          </p:nvPr>
        </p:nvSpPr>
        <p:spPr/>
        <p:txBody>
          <a:bodyPr/>
          <a:lstStyle/>
          <a:p>
            <a:fld id="{8D4D1E41-7A09-AB4A-A4E1-09765ADA2698}" type="slidenum">
              <a:rPr kumimoji="1" lang="zh-CN" altLang="en-US" smtClean="0"/>
              <a:t>233</a:t>
            </a:fld>
            <a:endParaRPr kumimoji="1" lang="zh-CN" altLang="en-US" dirty="0"/>
          </a:p>
        </p:txBody>
      </p:sp>
      <p:sp>
        <p:nvSpPr>
          <p:cNvPr id="96" name="标题 1">
            <a:extLst>
              <a:ext uri="{FF2B5EF4-FFF2-40B4-BE49-F238E27FC236}">
                <a16:creationId xmlns:a16="http://schemas.microsoft.com/office/drawing/2014/main" id="{B3EC1525-8913-4029-9E34-054D7B6777AD}"/>
              </a:ext>
            </a:extLst>
          </p:cNvPr>
          <p:cNvSpPr>
            <a:spLocks noGrp="1"/>
          </p:cNvSpPr>
          <p:nvPr>
            <p:ph type="title"/>
          </p:nvPr>
        </p:nvSpPr>
        <p:spPr>
          <a:xfrm>
            <a:off x="1307508" y="365126"/>
            <a:ext cx="8220812" cy="879086"/>
          </a:xfrm>
        </p:spPr>
        <p:txBody>
          <a:bodyPr>
            <a:normAutofit/>
          </a:bodyPr>
          <a:lstStyle/>
          <a:p>
            <a:r>
              <a:rPr kumimoji="1" lang="zh-CN" altLang="en-US" dirty="0"/>
              <a:t>三层交换的技术背景</a:t>
            </a:r>
          </a:p>
        </p:txBody>
      </p:sp>
      <p:pic>
        <p:nvPicPr>
          <p:cNvPr id="94" name="mac表为空的广播">
            <a:hlinkClick r:id="" action="ppaction://media"/>
            <a:extLst>
              <a:ext uri="{FF2B5EF4-FFF2-40B4-BE49-F238E27FC236}">
                <a16:creationId xmlns:a16="http://schemas.microsoft.com/office/drawing/2014/main" id="{DC12F052-6046-4A84-8177-553EB36B0EB1}"/>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3439877" y="3222508"/>
            <a:ext cx="5430008" cy="2648320"/>
          </a:xfrm>
          <a:prstGeom prst="rect">
            <a:avLst/>
          </a:prstGeom>
        </p:spPr>
      </p:pic>
      <p:sp>
        <p:nvSpPr>
          <p:cNvPr id="2" name="日期占位符 1">
            <a:extLst>
              <a:ext uri="{FF2B5EF4-FFF2-40B4-BE49-F238E27FC236}">
                <a16:creationId xmlns:a16="http://schemas.microsoft.com/office/drawing/2014/main" id="{922A9DF4-DA30-4A3F-907B-883A3BEFFE08}"/>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3086691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651" fill="hold"/>
                                        <p:tgtEl>
                                          <p:spTgt spid="9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94"/>
                </p:tgtEl>
              </p:cMediaNode>
            </p:video>
            <p:seq concurrent="1" nextAc="seek">
              <p:cTn id="8" restart="whenNotActive" fill="hold" evtFilter="cancelBubble" nodeType="interactiveSeq">
                <p:stCondLst>
                  <p:cond evt="onClick" delay="0">
                    <p:tgtEl>
                      <p:spTgt spid="9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94"/>
                                        </p:tgtEl>
                                      </p:cBhvr>
                                    </p:cmd>
                                  </p:childTnLst>
                                </p:cTn>
                              </p:par>
                            </p:childTnLst>
                          </p:cTn>
                        </p:par>
                      </p:childTnLst>
                    </p:cTn>
                  </p:par>
                </p:childTnLst>
              </p:cTn>
              <p:nextCondLst>
                <p:cond evt="onClick" delay="0">
                  <p:tgtEl>
                    <p:spTgt spid="94"/>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8440646-1A31-47B8-81EF-565C7CD3B51A}"/>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C00000"/>
              </a:solidFill>
            </a:endParaRPr>
          </a:p>
        </p:txBody>
      </p:sp>
      <p:sp>
        <p:nvSpPr>
          <p:cNvPr id="4" name="灯片编号占位符 3">
            <a:extLst>
              <a:ext uri="{FF2B5EF4-FFF2-40B4-BE49-F238E27FC236}">
                <a16:creationId xmlns:a16="http://schemas.microsoft.com/office/drawing/2014/main" id="{4FB07593-B61F-4721-9943-9256CB734672}"/>
              </a:ext>
            </a:extLst>
          </p:cNvPr>
          <p:cNvSpPr>
            <a:spLocks noGrp="1"/>
          </p:cNvSpPr>
          <p:nvPr>
            <p:ph type="sldNum" sz="quarter" idx="12"/>
          </p:nvPr>
        </p:nvSpPr>
        <p:spPr/>
        <p:txBody>
          <a:bodyPr/>
          <a:lstStyle/>
          <a:p>
            <a:fld id="{8D4D1E41-7A09-AB4A-A4E1-09765ADA2698}" type="slidenum">
              <a:rPr kumimoji="1" lang="zh-CN" altLang="en-US" smtClean="0"/>
              <a:t>234</a:t>
            </a:fld>
            <a:endParaRPr kumimoji="1" lang="zh-CN" altLang="en-US" dirty="0"/>
          </a:p>
        </p:txBody>
      </p:sp>
      <p:pic>
        <p:nvPicPr>
          <p:cNvPr id="17" name="arp广播">
            <a:hlinkClick r:id="" action="ppaction://media"/>
            <a:extLst>
              <a:ext uri="{FF2B5EF4-FFF2-40B4-BE49-F238E27FC236}">
                <a16:creationId xmlns:a16="http://schemas.microsoft.com/office/drawing/2014/main" id="{4A83FBDD-8EF3-4F45-B483-37FF27B1B047}"/>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5"/>
          <a:srcRect t="1409" b="-1409"/>
          <a:stretch/>
        </p:blipFill>
        <p:spPr>
          <a:xfrm>
            <a:off x="3109128" y="3408218"/>
            <a:ext cx="6001588" cy="2629267"/>
          </a:xfrm>
          <a:prstGeom prst="rect">
            <a:avLst/>
          </a:prstGeom>
        </p:spPr>
      </p:pic>
      <p:sp>
        <p:nvSpPr>
          <p:cNvPr id="13" name="内容占位符 2">
            <a:extLst>
              <a:ext uri="{FF2B5EF4-FFF2-40B4-BE49-F238E27FC236}">
                <a16:creationId xmlns:a16="http://schemas.microsoft.com/office/drawing/2014/main" id="{DF373212-B948-4041-A3DB-551ACB814540}"/>
              </a:ext>
            </a:extLst>
          </p:cNvPr>
          <p:cNvSpPr txBox="1">
            <a:spLocks/>
          </p:cNvSpPr>
          <p:nvPr/>
        </p:nvSpPr>
        <p:spPr>
          <a:xfrm>
            <a:off x="838200" y="1510758"/>
            <a:ext cx="10654145" cy="4982116"/>
          </a:xfrm>
          <a:prstGeom prst="rect">
            <a:avLst/>
          </a:prstGeom>
        </p:spPr>
        <p:txBody>
          <a:bodyPr vert="horz" lIns="91440" tIns="45720" rIns="91440" bIns="45720" rtlCol="0">
            <a:normAutofit/>
          </a:bodyPr>
          <a:lstStyle>
            <a:lvl1pPr marL="361950" indent="-361950"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zh-CN" altLang="en-US" dirty="0"/>
              <a:t>二层交换网络中的广播，</a:t>
            </a:r>
            <a:r>
              <a:rPr kumimoji="1" lang="zh-CN" altLang="en-US" dirty="0"/>
              <a:t>限制了网络规模的扩展</a:t>
            </a:r>
            <a:endParaRPr kumimoji="1" lang="en-US" altLang="zh-CN" dirty="0"/>
          </a:p>
          <a:p>
            <a:pPr lvl="1" algn="just">
              <a:lnSpc>
                <a:spcPct val="110000"/>
              </a:lnSpc>
            </a:pPr>
            <a:r>
              <a:rPr lang="zh-CN" altLang="en-US" dirty="0"/>
              <a:t>交换机对目标地址为广播地址的数据帧进行广播转发</a:t>
            </a:r>
            <a:endParaRPr lang="en-US" altLang="zh-CN" dirty="0"/>
          </a:p>
          <a:p>
            <a:pPr marL="717550" lvl="2" indent="0" algn="just">
              <a:lnSpc>
                <a:spcPct val="110000"/>
              </a:lnSpc>
              <a:buFont typeface="Arial" panose="020B0604020202020204" pitchFamily="34" charset="0"/>
              <a:buNone/>
            </a:pPr>
            <a:r>
              <a:rPr kumimoji="1" lang="zh-CN" altLang="en-US" dirty="0">
                <a:solidFill>
                  <a:srgbClr val="C00000"/>
                </a:solidFill>
              </a:rPr>
              <a:t>端系统间传送</a:t>
            </a:r>
            <a:r>
              <a:rPr kumimoji="1" lang="en-US" altLang="zh-CN" dirty="0">
                <a:solidFill>
                  <a:srgbClr val="C00000"/>
                </a:solidFill>
              </a:rPr>
              <a:t>IP</a:t>
            </a:r>
            <a:r>
              <a:rPr kumimoji="1" lang="zh-CN" altLang="en-US" dirty="0">
                <a:solidFill>
                  <a:srgbClr val="C00000"/>
                </a:solidFill>
              </a:rPr>
              <a:t>报文时，经常需要用</a:t>
            </a:r>
            <a:r>
              <a:rPr kumimoji="1" lang="en-US" altLang="zh-CN" dirty="0">
                <a:solidFill>
                  <a:srgbClr val="C00000"/>
                </a:solidFill>
              </a:rPr>
              <a:t>ARP</a:t>
            </a:r>
            <a:r>
              <a:rPr kumimoji="1" lang="zh-CN" altLang="en-US" dirty="0">
                <a:solidFill>
                  <a:srgbClr val="C00000"/>
                </a:solidFill>
              </a:rPr>
              <a:t>请求的广播帧来获取目标</a:t>
            </a:r>
            <a:r>
              <a:rPr kumimoji="1" lang="en-US" altLang="zh-CN" dirty="0">
                <a:solidFill>
                  <a:srgbClr val="C00000"/>
                </a:solidFill>
              </a:rPr>
              <a:t>IP</a:t>
            </a:r>
            <a:r>
              <a:rPr kumimoji="1" lang="zh-CN" altLang="en-US" dirty="0">
                <a:solidFill>
                  <a:srgbClr val="C00000"/>
                </a:solidFill>
              </a:rPr>
              <a:t>的物理地址，这种频繁产生的广播帧会大量占用网络资源</a:t>
            </a:r>
            <a:endParaRPr lang="en-US" altLang="zh-CN" dirty="0">
              <a:solidFill>
                <a:srgbClr val="C00000"/>
              </a:solidFill>
            </a:endParaRPr>
          </a:p>
          <a:p>
            <a:pPr marL="914400" lvl="2" indent="0" algn="just">
              <a:buFont typeface="Arial" panose="020B0604020202020204" pitchFamily="34" charset="0"/>
              <a:buNone/>
            </a:pPr>
            <a:endParaRPr kumimoji="1" lang="en-US" altLang="zh-CN" dirty="0">
              <a:solidFill>
                <a:srgbClr val="C00000"/>
              </a:solidFill>
            </a:endParaRPr>
          </a:p>
        </p:txBody>
      </p:sp>
      <p:sp>
        <p:nvSpPr>
          <p:cNvPr id="8" name="文本框 7">
            <a:extLst>
              <a:ext uri="{FF2B5EF4-FFF2-40B4-BE49-F238E27FC236}">
                <a16:creationId xmlns:a16="http://schemas.microsoft.com/office/drawing/2014/main" id="{6C717E95-B5A8-4252-89A3-B8C3CF84FF18}"/>
              </a:ext>
            </a:extLst>
          </p:cNvPr>
          <p:cNvSpPr txBox="1"/>
          <p:nvPr/>
        </p:nvSpPr>
        <p:spPr>
          <a:xfrm>
            <a:off x="3119519" y="5981297"/>
            <a:ext cx="6094268" cy="382541"/>
          </a:xfrm>
          <a:prstGeom prst="rect">
            <a:avLst/>
          </a:prstGeom>
          <a:noFill/>
        </p:spPr>
        <p:txBody>
          <a:bodyPr wrap="square">
            <a:spAutoFit/>
          </a:bodyPr>
          <a:lstStyle/>
          <a:p>
            <a:pPr marL="717550" lvl="2" indent="0" algn="just">
              <a:lnSpc>
                <a:spcPct val="110000"/>
              </a:lnSpc>
              <a:buFont typeface="Arial" panose="020B0604020202020204" pitchFamily="34" charset="0"/>
              <a:buNone/>
            </a:pPr>
            <a:r>
              <a:rPr lang="en-US" altLang="zh-CN" dirty="0">
                <a:solidFill>
                  <a:srgbClr val="002060"/>
                </a:solidFill>
              </a:rPr>
              <a:t>PS</a:t>
            </a:r>
            <a:r>
              <a:rPr lang="zh-CN" altLang="en-US" dirty="0">
                <a:solidFill>
                  <a:srgbClr val="002060"/>
                </a:solidFill>
              </a:rPr>
              <a:t>：视频中紫色为</a:t>
            </a:r>
            <a:r>
              <a:rPr lang="en-US" altLang="zh-CN" dirty="0">
                <a:solidFill>
                  <a:srgbClr val="002060"/>
                </a:solidFill>
              </a:rPr>
              <a:t>ARP</a:t>
            </a:r>
            <a:r>
              <a:rPr lang="zh-CN" altLang="en-US" dirty="0">
                <a:solidFill>
                  <a:srgbClr val="002060"/>
                </a:solidFill>
              </a:rPr>
              <a:t>报文，绿色为数据报文</a:t>
            </a:r>
            <a:endParaRPr lang="en-US" altLang="zh-CN" dirty="0">
              <a:solidFill>
                <a:srgbClr val="002060"/>
              </a:solidFill>
            </a:endParaRPr>
          </a:p>
        </p:txBody>
      </p:sp>
      <p:sp>
        <p:nvSpPr>
          <p:cNvPr id="3" name="日期占位符 2">
            <a:extLst>
              <a:ext uri="{FF2B5EF4-FFF2-40B4-BE49-F238E27FC236}">
                <a16:creationId xmlns:a16="http://schemas.microsoft.com/office/drawing/2014/main" id="{CCA36BBA-AE7A-4B98-A2D5-7F4D8C50F651}"/>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1415937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220" fill="hold"/>
                                        <p:tgtEl>
                                          <p:spTgt spid="17"/>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7"/>
                </p:tgtEl>
              </p:cMediaNode>
            </p:video>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7"/>
                                        </p:tgtEl>
                                      </p:cBhvr>
                                    </p:cmd>
                                  </p:childTnLst>
                                </p:cTn>
                              </p:par>
                            </p:childTnLst>
                          </p:cTn>
                        </p:par>
                      </p:childTnLst>
                    </p:cTn>
                  </p:par>
                </p:childTnLst>
              </p:cTn>
              <p:nextCondLst>
                <p:cond evt="onClick" delay="0">
                  <p:tgtEl>
                    <p:spTgt spid="17"/>
                  </p:tgtEl>
                </p:cond>
              </p:nextCondLst>
            </p:seq>
          </p:childTnLst>
        </p:cTn>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8440646-1A31-47B8-81EF-565C7CD3B51A}"/>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C00000"/>
              </a:solidFill>
            </a:endParaRPr>
          </a:p>
        </p:txBody>
      </p:sp>
      <p:sp>
        <p:nvSpPr>
          <p:cNvPr id="4" name="灯片编号占位符 3">
            <a:extLst>
              <a:ext uri="{FF2B5EF4-FFF2-40B4-BE49-F238E27FC236}">
                <a16:creationId xmlns:a16="http://schemas.microsoft.com/office/drawing/2014/main" id="{4FB07593-B61F-4721-9943-9256CB734672}"/>
              </a:ext>
            </a:extLst>
          </p:cNvPr>
          <p:cNvSpPr>
            <a:spLocks noGrp="1"/>
          </p:cNvSpPr>
          <p:nvPr>
            <p:ph type="sldNum" sz="quarter" idx="12"/>
          </p:nvPr>
        </p:nvSpPr>
        <p:spPr/>
        <p:txBody>
          <a:bodyPr/>
          <a:lstStyle/>
          <a:p>
            <a:fld id="{8D4D1E41-7A09-AB4A-A4E1-09765ADA2698}" type="slidenum">
              <a:rPr kumimoji="1" lang="zh-CN" altLang="en-US" smtClean="0"/>
              <a:t>235</a:t>
            </a:fld>
            <a:endParaRPr kumimoji="1" lang="zh-CN" altLang="en-US" dirty="0"/>
          </a:p>
        </p:txBody>
      </p:sp>
      <p:pic>
        <p:nvPicPr>
          <p:cNvPr id="9" name="stp广播">
            <a:hlinkClick r:id="" action="ppaction://media"/>
            <a:extLst>
              <a:ext uri="{FF2B5EF4-FFF2-40B4-BE49-F238E27FC236}">
                <a16:creationId xmlns:a16="http://schemas.microsoft.com/office/drawing/2014/main" id="{A30FC536-7785-4B02-8619-F776B1DEBC90}"/>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3411361" y="3204371"/>
            <a:ext cx="5468113" cy="2743583"/>
          </a:xfrm>
          <a:prstGeom prst="rect">
            <a:avLst/>
          </a:prstGeom>
        </p:spPr>
      </p:pic>
      <p:sp>
        <p:nvSpPr>
          <p:cNvPr id="13" name="内容占位符 2">
            <a:extLst>
              <a:ext uri="{FF2B5EF4-FFF2-40B4-BE49-F238E27FC236}">
                <a16:creationId xmlns:a16="http://schemas.microsoft.com/office/drawing/2014/main" id="{87B64CBE-B043-4B1B-A68D-77C2E114A66C}"/>
              </a:ext>
            </a:extLst>
          </p:cNvPr>
          <p:cNvSpPr txBox="1">
            <a:spLocks/>
          </p:cNvSpPr>
          <p:nvPr/>
        </p:nvSpPr>
        <p:spPr>
          <a:xfrm>
            <a:off x="838200" y="1510758"/>
            <a:ext cx="10656000" cy="4982116"/>
          </a:xfrm>
          <a:prstGeom prst="rect">
            <a:avLst/>
          </a:prstGeom>
        </p:spPr>
        <p:txBody>
          <a:bodyPr vert="horz" lIns="91440" tIns="45720" rIns="91440" bIns="45720" rtlCol="0">
            <a:normAutofit/>
          </a:bodyPr>
          <a:lstStyle>
            <a:lvl1pPr marL="361950" indent="-361950"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zh-CN" altLang="en-US" dirty="0"/>
              <a:t>二层交换网络中的广播，</a:t>
            </a:r>
            <a:r>
              <a:rPr kumimoji="1" lang="zh-CN" altLang="en-US" dirty="0"/>
              <a:t>限制了网络规模的扩展</a:t>
            </a:r>
            <a:endParaRPr kumimoji="1" lang="en-US" altLang="zh-CN" dirty="0"/>
          </a:p>
          <a:p>
            <a:pPr lvl="1" algn="just">
              <a:lnSpc>
                <a:spcPct val="110000"/>
              </a:lnSpc>
            </a:pPr>
            <a:r>
              <a:rPr lang="zh-CN" altLang="en-US" dirty="0"/>
              <a:t>生成树协议带来的广播</a:t>
            </a:r>
            <a:endParaRPr lang="en-US" altLang="zh-CN" dirty="0"/>
          </a:p>
          <a:p>
            <a:pPr marL="717550" lvl="2" indent="0" algn="just">
              <a:lnSpc>
                <a:spcPct val="110000"/>
              </a:lnSpc>
              <a:buNone/>
            </a:pPr>
            <a:r>
              <a:rPr kumimoji="1" lang="zh-CN" altLang="en-US" dirty="0">
                <a:solidFill>
                  <a:srgbClr val="C00000"/>
                </a:solidFill>
              </a:rPr>
              <a:t>交换机为维护生成树状态产生大量的桥协议数据单元</a:t>
            </a:r>
            <a:r>
              <a:rPr kumimoji="1" lang="en-US" altLang="zh-CN" dirty="0">
                <a:solidFill>
                  <a:srgbClr val="C00000"/>
                </a:solidFill>
              </a:rPr>
              <a:t> (Bridge Protocol Data Unit</a:t>
            </a:r>
            <a:r>
              <a:rPr kumimoji="1" lang="zh-CN" altLang="en-US" dirty="0">
                <a:solidFill>
                  <a:srgbClr val="C00000"/>
                </a:solidFill>
              </a:rPr>
              <a:t>，</a:t>
            </a:r>
            <a:r>
              <a:rPr kumimoji="1" lang="en-US" altLang="zh-CN" dirty="0">
                <a:solidFill>
                  <a:srgbClr val="C00000"/>
                </a:solidFill>
              </a:rPr>
              <a:t>BPDU)</a:t>
            </a:r>
            <a:r>
              <a:rPr kumimoji="1" lang="zh-CN" altLang="en-US" dirty="0">
                <a:solidFill>
                  <a:srgbClr val="C00000"/>
                </a:solidFill>
              </a:rPr>
              <a:t>，例如</a:t>
            </a:r>
            <a:r>
              <a:rPr kumimoji="1" lang="en-US" altLang="zh-CN" dirty="0">
                <a:solidFill>
                  <a:srgbClr val="C00000"/>
                </a:solidFill>
              </a:rPr>
              <a:t>802.1d</a:t>
            </a:r>
            <a:r>
              <a:rPr kumimoji="1" lang="zh-CN" altLang="en-US" dirty="0">
                <a:solidFill>
                  <a:srgbClr val="C00000"/>
                </a:solidFill>
              </a:rPr>
              <a:t>协议周期性每隔</a:t>
            </a:r>
            <a:r>
              <a:rPr kumimoji="1" lang="en-US" altLang="zh-CN" dirty="0">
                <a:solidFill>
                  <a:srgbClr val="C00000"/>
                </a:solidFill>
              </a:rPr>
              <a:t>2</a:t>
            </a:r>
            <a:r>
              <a:rPr kumimoji="1" lang="zh-CN" altLang="en-US" dirty="0">
                <a:solidFill>
                  <a:srgbClr val="C00000"/>
                </a:solidFill>
              </a:rPr>
              <a:t>秒会向其所有</a:t>
            </a:r>
            <a:r>
              <a:rPr kumimoji="1" lang="en-US" altLang="zh-CN" dirty="0">
                <a:solidFill>
                  <a:srgbClr val="C00000"/>
                </a:solidFill>
              </a:rPr>
              <a:t>UP</a:t>
            </a:r>
            <a:r>
              <a:rPr kumimoji="1" lang="zh-CN" altLang="en-US" dirty="0">
                <a:solidFill>
                  <a:srgbClr val="C00000"/>
                </a:solidFill>
              </a:rPr>
              <a:t>状态的端口发出</a:t>
            </a:r>
            <a:r>
              <a:rPr kumimoji="1" lang="en-US" altLang="zh-CN" dirty="0">
                <a:solidFill>
                  <a:srgbClr val="C00000"/>
                </a:solidFill>
              </a:rPr>
              <a:t>BPDU</a:t>
            </a:r>
            <a:r>
              <a:rPr kumimoji="1" lang="zh-CN" altLang="en-US" dirty="0">
                <a:solidFill>
                  <a:srgbClr val="C00000"/>
                </a:solidFill>
              </a:rPr>
              <a:t>，这些</a:t>
            </a:r>
            <a:r>
              <a:rPr kumimoji="1" lang="en-US" altLang="zh-CN" dirty="0">
                <a:solidFill>
                  <a:srgbClr val="C00000"/>
                </a:solidFill>
              </a:rPr>
              <a:t>BPDU</a:t>
            </a:r>
            <a:r>
              <a:rPr kumimoji="1" lang="zh-CN" altLang="en-US" dirty="0">
                <a:solidFill>
                  <a:srgbClr val="C00000"/>
                </a:solidFill>
              </a:rPr>
              <a:t>会与端系统争用网络带宽资源</a:t>
            </a:r>
            <a:endParaRPr kumimoji="1" lang="en-US" altLang="zh-CN" dirty="0">
              <a:solidFill>
                <a:srgbClr val="C00000"/>
              </a:solidFill>
            </a:endParaRPr>
          </a:p>
          <a:p>
            <a:pPr marL="914400" lvl="2" indent="0" algn="just">
              <a:buFont typeface="Arial" panose="020B0604020202020204" pitchFamily="34" charset="0"/>
              <a:buNone/>
            </a:pPr>
            <a:endParaRPr kumimoji="1" lang="en-US" altLang="zh-CN" dirty="0">
              <a:solidFill>
                <a:srgbClr val="C00000"/>
              </a:solidFill>
            </a:endParaRPr>
          </a:p>
        </p:txBody>
      </p:sp>
      <p:sp>
        <p:nvSpPr>
          <p:cNvPr id="3" name="日期占位符 2">
            <a:extLst>
              <a:ext uri="{FF2B5EF4-FFF2-40B4-BE49-F238E27FC236}">
                <a16:creationId xmlns:a16="http://schemas.microsoft.com/office/drawing/2014/main" id="{B5ACAD34-837B-4BE6-B077-4FAA10F1EFA4}"/>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240526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421"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9"/>
                </p:tgtEl>
              </p:cMediaNode>
            </p:video>
            <p:seq concurrent="1" nextAc="seek">
              <p:cTn id="8" restart="whenNotActive" fill="hold" evtFilter="cancelBubble" nodeType="interactiveSeq">
                <p:stCondLst>
                  <p:cond evt="onClick" delay="0">
                    <p:tgtEl>
                      <p:spTgt spid="9"/>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9"/>
                                        </p:tgtEl>
                                      </p:cBhvr>
                                    </p:cmd>
                                  </p:childTnLst>
                                </p:cTn>
                              </p:par>
                            </p:childTnLst>
                          </p:cTn>
                        </p:par>
                      </p:childTnLst>
                    </p:cTn>
                  </p:par>
                </p:childTnLst>
              </p:cTn>
              <p:nextCondLst>
                <p:cond evt="onClick" delay="0">
                  <p:tgtEl>
                    <p:spTgt spid="9"/>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8761D83-4D3B-4BAB-A874-388E6E9ABA97}"/>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7030A0"/>
              </a:solidFill>
            </a:endParaRPr>
          </a:p>
        </p:txBody>
      </p:sp>
      <p:sp>
        <p:nvSpPr>
          <p:cNvPr id="3" name="内容占位符 2">
            <a:extLst>
              <a:ext uri="{FF2B5EF4-FFF2-40B4-BE49-F238E27FC236}">
                <a16:creationId xmlns:a16="http://schemas.microsoft.com/office/drawing/2014/main" id="{3D891C83-F194-46DB-BBBD-4A083E8CFAE9}"/>
              </a:ext>
            </a:extLst>
          </p:cNvPr>
          <p:cNvSpPr>
            <a:spLocks noGrp="1"/>
          </p:cNvSpPr>
          <p:nvPr>
            <p:ph idx="1"/>
          </p:nvPr>
        </p:nvSpPr>
        <p:spPr>
          <a:xfrm>
            <a:off x="838201" y="1510759"/>
            <a:ext cx="6045592" cy="3728216"/>
          </a:xfrm>
        </p:spPr>
        <p:txBody>
          <a:bodyPr/>
          <a:lstStyle/>
          <a:p>
            <a:r>
              <a:rPr lang="en-US" altLang="zh-CN" dirty="0"/>
              <a:t>VLAN</a:t>
            </a:r>
            <a:r>
              <a:rPr lang="zh-CN" altLang="en-US" dirty="0"/>
              <a:t>不能解决的问题</a:t>
            </a:r>
            <a:endParaRPr lang="en-US" altLang="zh-CN" dirty="0"/>
          </a:p>
          <a:p>
            <a:pPr lvl="1">
              <a:lnSpc>
                <a:spcPct val="150000"/>
              </a:lnSpc>
            </a:pPr>
            <a:r>
              <a:rPr lang="en-US" altLang="zh-CN" dirty="0"/>
              <a:t>VLAN</a:t>
            </a:r>
            <a:r>
              <a:rPr lang="zh-CN" altLang="en-US" dirty="0"/>
              <a:t>为了实现广播的隔离将通信限定在一定范围内，造成信息孤岛</a:t>
            </a:r>
            <a:endParaRPr lang="en-US" altLang="zh-CN" dirty="0"/>
          </a:p>
          <a:p>
            <a:pPr lvl="1">
              <a:lnSpc>
                <a:spcPct val="150000"/>
              </a:lnSpc>
            </a:pPr>
            <a:r>
              <a:rPr lang="zh-CN" altLang="en-US" dirty="0"/>
              <a:t>没有第三层路由技术的辅助，不同</a:t>
            </a:r>
            <a:r>
              <a:rPr lang="en-US" altLang="zh-CN" dirty="0"/>
              <a:t>VLAN</a:t>
            </a:r>
            <a:r>
              <a:rPr lang="zh-CN" altLang="en-US" dirty="0"/>
              <a:t>之间无法通信</a:t>
            </a:r>
            <a:endParaRPr lang="en-US" altLang="zh-CN" dirty="0"/>
          </a:p>
          <a:p>
            <a:endParaRPr lang="zh-CN" altLang="en-US" dirty="0"/>
          </a:p>
        </p:txBody>
      </p:sp>
      <p:sp>
        <p:nvSpPr>
          <p:cNvPr id="4" name="灯片编号占位符 3">
            <a:extLst>
              <a:ext uri="{FF2B5EF4-FFF2-40B4-BE49-F238E27FC236}">
                <a16:creationId xmlns:a16="http://schemas.microsoft.com/office/drawing/2014/main" id="{7728CFF4-632A-42C2-BAC1-383577E5B2BB}"/>
              </a:ext>
            </a:extLst>
          </p:cNvPr>
          <p:cNvSpPr>
            <a:spLocks noGrp="1"/>
          </p:cNvSpPr>
          <p:nvPr>
            <p:ph type="sldNum" sz="quarter" idx="12"/>
          </p:nvPr>
        </p:nvSpPr>
        <p:spPr/>
        <p:txBody>
          <a:bodyPr/>
          <a:lstStyle/>
          <a:p>
            <a:fld id="{8D4D1E41-7A09-AB4A-A4E1-09765ADA2698}" type="slidenum">
              <a:rPr kumimoji="1" lang="zh-CN" altLang="en-US" smtClean="0"/>
              <a:t>236</a:t>
            </a:fld>
            <a:endParaRPr kumimoji="1" lang="zh-CN" altLang="en-US" dirty="0"/>
          </a:p>
        </p:txBody>
      </p:sp>
      <p:pic>
        <p:nvPicPr>
          <p:cNvPr id="7" name="Picture 5" descr="通用交换机">
            <a:extLst>
              <a:ext uri="{FF2B5EF4-FFF2-40B4-BE49-F238E27FC236}">
                <a16:creationId xmlns:a16="http://schemas.microsoft.com/office/drawing/2014/main" id="{66BF161C-5A2B-4506-A29C-8C78F0210A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31044" y="3211476"/>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5" descr="通用交换机">
            <a:extLst>
              <a:ext uri="{FF2B5EF4-FFF2-40B4-BE49-F238E27FC236}">
                <a16:creationId xmlns:a16="http://schemas.microsoft.com/office/drawing/2014/main" id="{F738AA2F-8020-40C1-9B7E-48CD36D69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8038" y="3098611"/>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5" descr="通用交换机">
            <a:extLst>
              <a:ext uri="{FF2B5EF4-FFF2-40B4-BE49-F238E27FC236}">
                <a16:creationId xmlns:a16="http://schemas.microsoft.com/office/drawing/2014/main" id="{35359820-067D-4880-B977-FA3F7615C7B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32380" y="3088986"/>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3" name="直接连接符 12">
            <a:extLst>
              <a:ext uri="{FF2B5EF4-FFF2-40B4-BE49-F238E27FC236}">
                <a16:creationId xmlns:a16="http://schemas.microsoft.com/office/drawing/2014/main" id="{E417366E-FDF2-4D85-8154-6E0717550FBB}"/>
              </a:ext>
            </a:extLst>
          </p:cNvPr>
          <p:cNvCxnSpPr>
            <a:cxnSpLocks/>
            <a:stCxn id="10" idx="0"/>
            <a:endCxn id="213" idx="1"/>
          </p:cNvCxnSpPr>
          <p:nvPr/>
        </p:nvCxnSpPr>
        <p:spPr>
          <a:xfrm flipV="1">
            <a:off x="8136649" y="2745220"/>
            <a:ext cx="798610" cy="353391"/>
          </a:xfrm>
          <a:prstGeom prst="line">
            <a:avLst/>
          </a:prstGeom>
          <a:ln w="12700"/>
        </p:spPr>
        <p:style>
          <a:lnRef idx="2">
            <a:schemeClr val="dk1"/>
          </a:lnRef>
          <a:fillRef idx="0">
            <a:schemeClr val="dk1"/>
          </a:fillRef>
          <a:effectRef idx="1">
            <a:schemeClr val="dk1"/>
          </a:effectRef>
          <a:fontRef idx="minor">
            <a:schemeClr val="tx1"/>
          </a:fontRef>
        </p:style>
      </p:cxnSp>
      <p:grpSp>
        <p:nvGrpSpPr>
          <p:cNvPr id="14" name="组合 13">
            <a:extLst>
              <a:ext uri="{FF2B5EF4-FFF2-40B4-BE49-F238E27FC236}">
                <a16:creationId xmlns:a16="http://schemas.microsoft.com/office/drawing/2014/main" id="{7BD73CC5-ED46-4A07-8AAF-0C16478F67DB}"/>
              </a:ext>
            </a:extLst>
          </p:cNvPr>
          <p:cNvGrpSpPr/>
          <p:nvPr/>
        </p:nvGrpSpPr>
        <p:grpSpPr>
          <a:xfrm>
            <a:off x="7119736" y="3964266"/>
            <a:ext cx="1183583" cy="380941"/>
            <a:chOff x="237507" y="4460516"/>
            <a:chExt cx="1183583" cy="380941"/>
          </a:xfrm>
        </p:grpSpPr>
        <p:pic>
          <p:nvPicPr>
            <p:cNvPr id="49" name="Picture 35" descr="Terminal">
              <a:extLst>
                <a:ext uri="{FF2B5EF4-FFF2-40B4-BE49-F238E27FC236}">
                  <a16:creationId xmlns:a16="http://schemas.microsoft.com/office/drawing/2014/main" id="{B8480900-337C-410B-A797-3EE656BF90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507" y="446051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35" descr="Terminal">
              <a:extLst>
                <a:ext uri="{FF2B5EF4-FFF2-40B4-BE49-F238E27FC236}">
                  <a16:creationId xmlns:a16="http://schemas.microsoft.com/office/drawing/2014/main" id="{81D3ADBF-715B-451E-9E59-E41AE31ECAF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654"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5" descr="Terminal">
              <a:extLst>
                <a:ext uri="{FF2B5EF4-FFF2-40B4-BE49-F238E27FC236}">
                  <a16:creationId xmlns:a16="http://schemas.microsoft.com/office/drawing/2014/main" id="{741B217F-FB1F-419D-83BB-929CF8B462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022"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文本框 51">
              <a:extLst>
                <a:ext uri="{FF2B5EF4-FFF2-40B4-BE49-F238E27FC236}">
                  <a16:creationId xmlns:a16="http://schemas.microsoft.com/office/drawing/2014/main" id="{B4EC0459-6399-40DA-AD4C-312042414748}"/>
                </a:ext>
              </a:extLst>
            </p:cNvPr>
            <p:cNvSpPr txBox="1"/>
            <p:nvPr/>
          </p:nvSpPr>
          <p:spPr>
            <a:xfrm>
              <a:off x="838200" y="4472125"/>
              <a:ext cx="372218" cy="369332"/>
            </a:xfrm>
            <a:prstGeom prst="rect">
              <a:avLst/>
            </a:prstGeom>
            <a:noFill/>
          </p:spPr>
          <p:txBody>
            <a:bodyPr wrap="none" rtlCol="0">
              <a:spAutoFit/>
            </a:bodyPr>
            <a:lstStyle/>
            <a:p>
              <a:r>
                <a:rPr lang="en-US" altLang="zh-CN" b="1" dirty="0"/>
                <a:t>…</a:t>
              </a:r>
              <a:endParaRPr lang="zh-CN" altLang="en-US" b="1" dirty="0"/>
            </a:p>
          </p:txBody>
        </p:sp>
      </p:grpSp>
      <p:grpSp>
        <p:nvGrpSpPr>
          <p:cNvPr id="15" name="组合 14">
            <a:extLst>
              <a:ext uri="{FF2B5EF4-FFF2-40B4-BE49-F238E27FC236}">
                <a16:creationId xmlns:a16="http://schemas.microsoft.com/office/drawing/2014/main" id="{FB455606-D37D-4C9A-9BA2-A48930FDA334}"/>
              </a:ext>
            </a:extLst>
          </p:cNvPr>
          <p:cNvGrpSpPr/>
          <p:nvPr/>
        </p:nvGrpSpPr>
        <p:grpSpPr>
          <a:xfrm>
            <a:off x="8643689" y="3972225"/>
            <a:ext cx="1183583" cy="380941"/>
            <a:chOff x="237507" y="4460516"/>
            <a:chExt cx="1183583" cy="380941"/>
          </a:xfrm>
        </p:grpSpPr>
        <p:pic>
          <p:nvPicPr>
            <p:cNvPr id="45" name="Picture 35" descr="Terminal">
              <a:extLst>
                <a:ext uri="{FF2B5EF4-FFF2-40B4-BE49-F238E27FC236}">
                  <a16:creationId xmlns:a16="http://schemas.microsoft.com/office/drawing/2014/main" id="{709F3B59-D3E2-4A79-B2BF-1E42B7B82D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507" y="446051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35" descr="Terminal">
              <a:extLst>
                <a:ext uri="{FF2B5EF4-FFF2-40B4-BE49-F238E27FC236}">
                  <a16:creationId xmlns:a16="http://schemas.microsoft.com/office/drawing/2014/main" id="{2AB77089-5520-4575-81DB-BFDEB25D68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654"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35" descr="Terminal">
              <a:extLst>
                <a:ext uri="{FF2B5EF4-FFF2-40B4-BE49-F238E27FC236}">
                  <a16:creationId xmlns:a16="http://schemas.microsoft.com/office/drawing/2014/main" id="{8D7C4123-2D07-4ADE-9801-A95280055E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022"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文本框 47">
              <a:extLst>
                <a:ext uri="{FF2B5EF4-FFF2-40B4-BE49-F238E27FC236}">
                  <a16:creationId xmlns:a16="http://schemas.microsoft.com/office/drawing/2014/main" id="{599A78FA-356B-4604-8DFE-AEE591C2120D}"/>
                </a:ext>
              </a:extLst>
            </p:cNvPr>
            <p:cNvSpPr txBox="1"/>
            <p:nvPr/>
          </p:nvSpPr>
          <p:spPr>
            <a:xfrm>
              <a:off x="838200" y="4472125"/>
              <a:ext cx="372218" cy="369332"/>
            </a:xfrm>
            <a:prstGeom prst="rect">
              <a:avLst/>
            </a:prstGeom>
            <a:noFill/>
          </p:spPr>
          <p:txBody>
            <a:bodyPr wrap="none" rtlCol="0">
              <a:spAutoFit/>
            </a:bodyPr>
            <a:lstStyle/>
            <a:p>
              <a:r>
                <a:rPr lang="en-US" altLang="zh-CN" b="1" dirty="0"/>
                <a:t>…</a:t>
              </a:r>
              <a:endParaRPr lang="zh-CN" altLang="en-US" b="1" dirty="0"/>
            </a:p>
          </p:txBody>
        </p:sp>
      </p:grpSp>
      <p:grpSp>
        <p:nvGrpSpPr>
          <p:cNvPr id="16" name="组合 15">
            <a:extLst>
              <a:ext uri="{FF2B5EF4-FFF2-40B4-BE49-F238E27FC236}">
                <a16:creationId xmlns:a16="http://schemas.microsoft.com/office/drawing/2014/main" id="{E812BD0F-26E3-4110-8F77-12DFE0CB5698}"/>
              </a:ext>
            </a:extLst>
          </p:cNvPr>
          <p:cNvGrpSpPr/>
          <p:nvPr/>
        </p:nvGrpSpPr>
        <p:grpSpPr>
          <a:xfrm>
            <a:off x="10262935" y="3951581"/>
            <a:ext cx="1183583" cy="380941"/>
            <a:chOff x="237507" y="4460516"/>
            <a:chExt cx="1183583" cy="380941"/>
          </a:xfrm>
        </p:grpSpPr>
        <p:pic>
          <p:nvPicPr>
            <p:cNvPr id="41" name="Picture 35" descr="Terminal">
              <a:extLst>
                <a:ext uri="{FF2B5EF4-FFF2-40B4-BE49-F238E27FC236}">
                  <a16:creationId xmlns:a16="http://schemas.microsoft.com/office/drawing/2014/main" id="{3E129A85-B254-434C-A703-F245ECDDC9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507" y="446051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35" descr="Terminal">
              <a:extLst>
                <a:ext uri="{FF2B5EF4-FFF2-40B4-BE49-F238E27FC236}">
                  <a16:creationId xmlns:a16="http://schemas.microsoft.com/office/drawing/2014/main" id="{A922A7CB-C6B4-430C-A1B5-289AA537F2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654"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35" descr="Terminal">
              <a:extLst>
                <a:ext uri="{FF2B5EF4-FFF2-40B4-BE49-F238E27FC236}">
                  <a16:creationId xmlns:a16="http://schemas.microsoft.com/office/drawing/2014/main" id="{65DBDA80-1A69-4271-BD3B-97951E9701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022"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文本框 43">
              <a:extLst>
                <a:ext uri="{FF2B5EF4-FFF2-40B4-BE49-F238E27FC236}">
                  <a16:creationId xmlns:a16="http://schemas.microsoft.com/office/drawing/2014/main" id="{6B59A524-0CCD-4EC5-A97B-2DF83014A849}"/>
                </a:ext>
              </a:extLst>
            </p:cNvPr>
            <p:cNvSpPr txBox="1"/>
            <p:nvPr/>
          </p:nvSpPr>
          <p:spPr>
            <a:xfrm>
              <a:off x="838200" y="4472125"/>
              <a:ext cx="372218" cy="369332"/>
            </a:xfrm>
            <a:prstGeom prst="rect">
              <a:avLst/>
            </a:prstGeom>
            <a:noFill/>
          </p:spPr>
          <p:txBody>
            <a:bodyPr wrap="none" rtlCol="0">
              <a:spAutoFit/>
            </a:bodyPr>
            <a:lstStyle/>
            <a:p>
              <a:r>
                <a:rPr lang="en-US" altLang="zh-CN" b="1" dirty="0"/>
                <a:t>…</a:t>
              </a:r>
              <a:endParaRPr lang="zh-CN" altLang="en-US" b="1" dirty="0"/>
            </a:p>
          </p:txBody>
        </p:sp>
      </p:grpSp>
      <p:cxnSp>
        <p:nvCxnSpPr>
          <p:cNvPr id="17" name="直接连接符 16">
            <a:extLst>
              <a:ext uri="{FF2B5EF4-FFF2-40B4-BE49-F238E27FC236}">
                <a16:creationId xmlns:a16="http://schemas.microsoft.com/office/drawing/2014/main" id="{1E503BFC-9404-4527-83CF-B93ADBED80A1}"/>
              </a:ext>
            </a:extLst>
          </p:cNvPr>
          <p:cNvCxnSpPr>
            <a:cxnSpLocks/>
            <a:stCxn id="10" idx="1"/>
            <a:endCxn id="49" idx="0"/>
          </p:cNvCxnSpPr>
          <p:nvPr/>
        </p:nvCxnSpPr>
        <p:spPr>
          <a:xfrm flipH="1">
            <a:off x="7287770" y="3264874"/>
            <a:ext cx="620268" cy="699392"/>
          </a:xfrm>
          <a:prstGeom prst="line">
            <a:avLst/>
          </a:prstGeom>
          <a:ln w="12700"/>
        </p:spPr>
        <p:style>
          <a:lnRef idx="2">
            <a:schemeClr val="dk1"/>
          </a:lnRef>
          <a:fillRef idx="0">
            <a:schemeClr val="dk1"/>
          </a:fillRef>
          <a:effectRef idx="1">
            <a:schemeClr val="dk1"/>
          </a:effectRef>
          <a:fontRef idx="minor">
            <a:schemeClr val="tx1"/>
          </a:fontRef>
        </p:style>
      </p:cxnSp>
      <p:cxnSp>
        <p:nvCxnSpPr>
          <p:cNvPr id="20" name="直接连接符 19">
            <a:extLst>
              <a:ext uri="{FF2B5EF4-FFF2-40B4-BE49-F238E27FC236}">
                <a16:creationId xmlns:a16="http://schemas.microsoft.com/office/drawing/2014/main" id="{D7C923A5-6C2C-4E18-81A4-4D71EB18432D}"/>
              </a:ext>
            </a:extLst>
          </p:cNvPr>
          <p:cNvCxnSpPr>
            <a:cxnSpLocks/>
            <a:stCxn id="213" idx="2"/>
            <a:endCxn id="7" idx="0"/>
          </p:cNvCxnSpPr>
          <p:nvPr/>
        </p:nvCxnSpPr>
        <p:spPr>
          <a:xfrm flipH="1">
            <a:off x="9159655" y="2911482"/>
            <a:ext cx="4215" cy="299994"/>
          </a:xfrm>
          <a:prstGeom prst="line">
            <a:avLst/>
          </a:prstGeom>
        </p:spPr>
        <p:style>
          <a:lnRef idx="2">
            <a:schemeClr val="dk1"/>
          </a:lnRef>
          <a:fillRef idx="0">
            <a:schemeClr val="dk1"/>
          </a:fillRef>
          <a:effectRef idx="1">
            <a:schemeClr val="dk1"/>
          </a:effectRef>
          <a:fontRef idx="minor">
            <a:schemeClr val="tx1"/>
          </a:fontRef>
        </p:style>
      </p:cxnSp>
      <p:cxnSp>
        <p:nvCxnSpPr>
          <p:cNvPr id="21" name="直接连接符 20">
            <a:extLst>
              <a:ext uri="{FF2B5EF4-FFF2-40B4-BE49-F238E27FC236}">
                <a16:creationId xmlns:a16="http://schemas.microsoft.com/office/drawing/2014/main" id="{DED1BC37-C3DA-44B0-9DA2-B90BA2DAF54C}"/>
              </a:ext>
            </a:extLst>
          </p:cNvPr>
          <p:cNvCxnSpPr>
            <a:cxnSpLocks/>
            <a:endCxn id="50" idx="0"/>
          </p:cNvCxnSpPr>
          <p:nvPr/>
        </p:nvCxnSpPr>
        <p:spPr>
          <a:xfrm flipH="1">
            <a:off x="7639917" y="3339858"/>
            <a:ext cx="350706" cy="649777"/>
          </a:xfrm>
          <a:prstGeom prst="line">
            <a:avLst/>
          </a:prstGeom>
          <a:ln w="12700"/>
        </p:spPr>
        <p:style>
          <a:lnRef idx="2">
            <a:schemeClr val="dk1"/>
          </a:lnRef>
          <a:fillRef idx="0">
            <a:schemeClr val="dk1"/>
          </a:fillRef>
          <a:effectRef idx="1">
            <a:schemeClr val="dk1"/>
          </a:effectRef>
          <a:fontRef idx="minor">
            <a:schemeClr val="tx1"/>
          </a:fontRef>
        </p:style>
      </p:cxnSp>
      <p:cxnSp>
        <p:nvCxnSpPr>
          <p:cNvPr id="23" name="直接连接符 22">
            <a:extLst>
              <a:ext uri="{FF2B5EF4-FFF2-40B4-BE49-F238E27FC236}">
                <a16:creationId xmlns:a16="http://schemas.microsoft.com/office/drawing/2014/main" id="{2E2331BF-123B-49AB-B56F-3A964F492E6A}"/>
              </a:ext>
            </a:extLst>
          </p:cNvPr>
          <p:cNvCxnSpPr>
            <a:cxnSpLocks/>
            <a:stCxn id="213" idx="3"/>
            <a:endCxn id="11" idx="0"/>
          </p:cNvCxnSpPr>
          <p:nvPr/>
        </p:nvCxnSpPr>
        <p:spPr>
          <a:xfrm>
            <a:off x="9392481" y="2745220"/>
            <a:ext cx="968510" cy="343766"/>
          </a:xfrm>
          <a:prstGeom prst="line">
            <a:avLst/>
          </a:prstGeom>
          <a:ln w="12700"/>
        </p:spPr>
        <p:style>
          <a:lnRef idx="2">
            <a:schemeClr val="dk1"/>
          </a:lnRef>
          <a:fillRef idx="0">
            <a:schemeClr val="dk1"/>
          </a:fillRef>
          <a:effectRef idx="1">
            <a:schemeClr val="dk1"/>
          </a:effectRef>
          <a:fontRef idx="minor">
            <a:schemeClr val="tx1"/>
          </a:fontRef>
        </p:style>
      </p:cxnSp>
      <p:cxnSp>
        <p:nvCxnSpPr>
          <p:cNvPr id="24" name="直接连接符 23">
            <a:extLst>
              <a:ext uri="{FF2B5EF4-FFF2-40B4-BE49-F238E27FC236}">
                <a16:creationId xmlns:a16="http://schemas.microsoft.com/office/drawing/2014/main" id="{20FB2587-C71D-4CC2-B8D8-4F59A0F7F5E6}"/>
              </a:ext>
            </a:extLst>
          </p:cNvPr>
          <p:cNvCxnSpPr>
            <a:cxnSpLocks/>
            <a:stCxn id="10" idx="2"/>
            <a:endCxn id="51" idx="0"/>
          </p:cNvCxnSpPr>
          <p:nvPr/>
        </p:nvCxnSpPr>
        <p:spPr>
          <a:xfrm flipH="1">
            <a:off x="8135285" y="3431136"/>
            <a:ext cx="1364" cy="558499"/>
          </a:xfrm>
          <a:prstGeom prst="line">
            <a:avLst/>
          </a:prstGeom>
          <a:ln w="12700"/>
        </p:spPr>
        <p:style>
          <a:lnRef idx="2">
            <a:schemeClr val="dk1"/>
          </a:lnRef>
          <a:fillRef idx="0">
            <a:schemeClr val="dk1"/>
          </a:fillRef>
          <a:effectRef idx="1">
            <a:schemeClr val="dk1"/>
          </a:effectRef>
          <a:fontRef idx="minor">
            <a:schemeClr val="tx1"/>
          </a:fontRef>
        </p:style>
      </p:cxnSp>
      <p:cxnSp>
        <p:nvCxnSpPr>
          <p:cNvPr id="26" name="直接连接符 25">
            <a:extLst>
              <a:ext uri="{FF2B5EF4-FFF2-40B4-BE49-F238E27FC236}">
                <a16:creationId xmlns:a16="http://schemas.microsoft.com/office/drawing/2014/main" id="{31252572-4E32-4CA6-879A-F2DD5AFD2193}"/>
              </a:ext>
            </a:extLst>
          </p:cNvPr>
          <p:cNvCxnSpPr>
            <a:cxnSpLocks/>
            <a:stCxn id="7" idx="1"/>
            <a:endCxn id="45" idx="0"/>
          </p:cNvCxnSpPr>
          <p:nvPr/>
        </p:nvCxnSpPr>
        <p:spPr>
          <a:xfrm flipH="1">
            <a:off x="8811723" y="3377739"/>
            <a:ext cx="119321" cy="594486"/>
          </a:xfrm>
          <a:prstGeom prst="line">
            <a:avLst/>
          </a:prstGeom>
          <a:ln w="12700"/>
        </p:spPr>
        <p:style>
          <a:lnRef idx="2">
            <a:schemeClr val="dk1"/>
          </a:lnRef>
          <a:fillRef idx="0">
            <a:schemeClr val="dk1"/>
          </a:fillRef>
          <a:effectRef idx="1">
            <a:schemeClr val="dk1"/>
          </a:effectRef>
          <a:fontRef idx="minor">
            <a:schemeClr val="tx1"/>
          </a:fontRef>
        </p:style>
      </p:cxnSp>
      <p:cxnSp>
        <p:nvCxnSpPr>
          <p:cNvPr id="27" name="直接连接符 26">
            <a:extLst>
              <a:ext uri="{FF2B5EF4-FFF2-40B4-BE49-F238E27FC236}">
                <a16:creationId xmlns:a16="http://schemas.microsoft.com/office/drawing/2014/main" id="{F4A61981-5D9C-4858-A87A-363EB8FF182C}"/>
              </a:ext>
            </a:extLst>
          </p:cNvPr>
          <p:cNvCxnSpPr>
            <a:cxnSpLocks/>
            <a:stCxn id="7" idx="2"/>
            <a:endCxn id="46" idx="0"/>
          </p:cNvCxnSpPr>
          <p:nvPr/>
        </p:nvCxnSpPr>
        <p:spPr>
          <a:xfrm>
            <a:off x="9159655" y="3544001"/>
            <a:ext cx="4215" cy="453593"/>
          </a:xfrm>
          <a:prstGeom prst="line">
            <a:avLst/>
          </a:prstGeom>
          <a:ln w="12700"/>
        </p:spPr>
        <p:style>
          <a:lnRef idx="2">
            <a:schemeClr val="dk1"/>
          </a:lnRef>
          <a:fillRef idx="0">
            <a:schemeClr val="dk1"/>
          </a:fillRef>
          <a:effectRef idx="1">
            <a:schemeClr val="dk1"/>
          </a:effectRef>
          <a:fontRef idx="minor">
            <a:schemeClr val="tx1"/>
          </a:fontRef>
        </p:style>
      </p:cxnSp>
      <p:cxnSp>
        <p:nvCxnSpPr>
          <p:cNvPr id="28" name="直接连接符 27">
            <a:extLst>
              <a:ext uri="{FF2B5EF4-FFF2-40B4-BE49-F238E27FC236}">
                <a16:creationId xmlns:a16="http://schemas.microsoft.com/office/drawing/2014/main" id="{563AC6B9-D146-405C-B1BA-0FEF7BA58F99}"/>
              </a:ext>
            </a:extLst>
          </p:cNvPr>
          <p:cNvCxnSpPr>
            <a:cxnSpLocks/>
            <a:stCxn id="7" idx="3"/>
            <a:endCxn id="47" idx="0"/>
          </p:cNvCxnSpPr>
          <p:nvPr/>
        </p:nvCxnSpPr>
        <p:spPr>
          <a:xfrm>
            <a:off x="9388266" y="3377739"/>
            <a:ext cx="270972" cy="619855"/>
          </a:xfrm>
          <a:prstGeom prst="line">
            <a:avLst/>
          </a:prstGeom>
          <a:ln w="12700"/>
        </p:spPr>
        <p:style>
          <a:lnRef idx="2">
            <a:schemeClr val="dk1"/>
          </a:lnRef>
          <a:fillRef idx="0">
            <a:schemeClr val="dk1"/>
          </a:fillRef>
          <a:effectRef idx="1">
            <a:schemeClr val="dk1"/>
          </a:effectRef>
          <a:fontRef idx="minor">
            <a:schemeClr val="tx1"/>
          </a:fontRef>
        </p:style>
      </p:cxnSp>
      <p:cxnSp>
        <p:nvCxnSpPr>
          <p:cNvPr id="29" name="直接连接符 28">
            <a:extLst>
              <a:ext uri="{FF2B5EF4-FFF2-40B4-BE49-F238E27FC236}">
                <a16:creationId xmlns:a16="http://schemas.microsoft.com/office/drawing/2014/main" id="{3FD0FFC8-F645-423A-89EF-059ABD180500}"/>
              </a:ext>
            </a:extLst>
          </p:cNvPr>
          <p:cNvCxnSpPr>
            <a:cxnSpLocks/>
            <a:endCxn id="42" idx="0"/>
          </p:cNvCxnSpPr>
          <p:nvPr/>
        </p:nvCxnSpPr>
        <p:spPr>
          <a:xfrm>
            <a:off x="10506246" y="3351090"/>
            <a:ext cx="276870" cy="625860"/>
          </a:xfrm>
          <a:prstGeom prst="line">
            <a:avLst/>
          </a:prstGeom>
          <a:ln w="12700"/>
        </p:spPr>
        <p:style>
          <a:lnRef idx="2">
            <a:schemeClr val="dk1"/>
          </a:lnRef>
          <a:fillRef idx="0">
            <a:schemeClr val="dk1"/>
          </a:fillRef>
          <a:effectRef idx="1">
            <a:schemeClr val="dk1"/>
          </a:effectRef>
          <a:fontRef idx="minor">
            <a:schemeClr val="tx1"/>
          </a:fontRef>
        </p:style>
      </p:cxnSp>
      <p:cxnSp>
        <p:nvCxnSpPr>
          <p:cNvPr id="30" name="直接连接符 29">
            <a:extLst>
              <a:ext uri="{FF2B5EF4-FFF2-40B4-BE49-F238E27FC236}">
                <a16:creationId xmlns:a16="http://schemas.microsoft.com/office/drawing/2014/main" id="{B10E644A-8CC8-4448-B2FF-4FC18F31494B}"/>
              </a:ext>
            </a:extLst>
          </p:cNvPr>
          <p:cNvCxnSpPr>
            <a:cxnSpLocks/>
            <a:stCxn id="11" idx="2"/>
            <a:endCxn id="41" idx="0"/>
          </p:cNvCxnSpPr>
          <p:nvPr/>
        </p:nvCxnSpPr>
        <p:spPr>
          <a:xfrm>
            <a:off x="10360991" y="3421511"/>
            <a:ext cx="69978" cy="530070"/>
          </a:xfrm>
          <a:prstGeom prst="line">
            <a:avLst/>
          </a:prstGeom>
          <a:ln w="12700"/>
        </p:spPr>
        <p:style>
          <a:lnRef idx="2">
            <a:schemeClr val="dk1"/>
          </a:lnRef>
          <a:fillRef idx="0">
            <a:schemeClr val="dk1"/>
          </a:fillRef>
          <a:effectRef idx="1">
            <a:schemeClr val="dk1"/>
          </a:effectRef>
          <a:fontRef idx="minor">
            <a:schemeClr val="tx1"/>
          </a:fontRef>
        </p:style>
      </p:cxnSp>
      <p:cxnSp>
        <p:nvCxnSpPr>
          <p:cNvPr id="31" name="直接连接符 30">
            <a:extLst>
              <a:ext uri="{FF2B5EF4-FFF2-40B4-BE49-F238E27FC236}">
                <a16:creationId xmlns:a16="http://schemas.microsoft.com/office/drawing/2014/main" id="{5D26A06C-BB54-4743-84DE-BFEEBA9103D5}"/>
              </a:ext>
            </a:extLst>
          </p:cNvPr>
          <p:cNvCxnSpPr>
            <a:cxnSpLocks/>
            <a:stCxn id="11" idx="3"/>
            <a:endCxn id="43" idx="0"/>
          </p:cNvCxnSpPr>
          <p:nvPr/>
        </p:nvCxnSpPr>
        <p:spPr>
          <a:xfrm>
            <a:off x="10589602" y="3255249"/>
            <a:ext cx="688882" cy="721701"/>
          </a:xfrm>
          <a:prstGeom prst="line">
            <a:avLst/>
          </a:prstGeom>
          <a:ln w="12700"/>
        </p:spPr>
        <p:style>
          <a:lnRef idx="2">
            <a:schemeClr val="dk1"/>
          </a:lnRef>
          <a:fillRef idx="0">
            <a:schemeClr val="dk1"/>
          </a:fillRef>
          <a:effectRef idx="1">
            <a:schemeClr val="dk1"/>
          </a:effectRef>
          <a:fontRef idx="minor">
            <a:schemeClr val="tx1"/>
          </a:fontRef>
        </p:style>
      </p:cxnSp>
      <p:sp>
        <p:nvSpPr>
          <p:cNvPr id="118" name="椭圆 117">
            <a:extLst>
              <a:ext uri="{FF2B5EF4-FFF2-40B4-BE49-F238E27FC236}">
                <a16:creationId xmlns:a16="http://schemas.microsoft.com/office/drawing/2014/main" id="{F296B9B9-9C46-49E8-BBC5-0BD5643B686A}"/>
              </a:ext>
            </a:extLst>
          </p:cNvPr>
          <p:cNvSpPr/>
          <p:nvPr/>
        </p:nvSpPr>
        <p:spPr>
          <a:xfrm>
            <a:off x="6964321" y="3621062"/>
            <a:ext cx="2379202" cy="121963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文本框 123">
            <a:extLst>
              <a:ext uri="{FF2B5EF4-FFF2-40B4-BE49-F238E27FC236}">
                <a16:creationId xmlns:a16="http://schemas.microsoft.com/office/drawing/2014/main" id="{5FF90A44-0CB2-4765-8293-4836995A4949}"/>
              </a:ext>
            </a:extLst>
          </p:cNvPr>
          <p:cNvSpPr txBox="1"/>
          <p:nvPr/>
        </p:nvSpPr>
        <p:spPr>
          <a:xfrm>
            <a:off x="7494150" y="4396684"/>
            <a:ext cx="1164533" cy="338554"/>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r>
              <a:rPr lang="en-US" altLang="zh-CN" sz="1600" dirty="0"/>
              <a:t>VLAN 100</a:t>
            </a:r>
            <a:endParaRPr lang="zh-CN" altLang="en-US" sz="1600" dirty="0"/>
          </a:p>
        </p:txBody>
      </p:sp>
      <p:sp>
        <p:nvSpPr>
          <p:cNvPr id="125" name="文本框 124">
            <a:extLst>
              <a:ext uri="{FF2B5EF4-FFF2-40B4-BE49-F238E27FC236}">
                <a16:creationId xmlns:a16="http://schemas.microsoft.com/office/drawing/2014/main" id="{776C112A-4B9B-455F-80C1-D1DA60EC34FD}"/>
              </a:ext>
            </a:extLst>
          </p:cNvPr>
          <p:cNvSpPr txBox="1"/>
          <p:nvPr/>
        </p:nvSpPr>
        <p:spPr>
          <a:xfrm>
            <a:off x="10020322" y="4396684"/>
            <a:ext cx="1444655" cy="338554"/>
          </a:xfrm>
          <a:prstGeom prst="rect">
            <a:avLst/>
          </a:prstGeom>
          <a:noFill/>
        </p:spPr>
        <p:txBody>
          <a:bodyPr wrap="square" rtlCol="0">
            <a:spAutoFit/>
          </a:bodyPr>
          <a:lstStyle/>
          <a:p>
            <a:pPr marL="0" lvl="2">
              <a:spcBef>
                <a:spcPts val="600"/>
              </a:spcBef>
            </a:pPr>
            <a:r>
              <a:rPr kumimoji="1" lang="en-US" altLang="zh-CN" sz="1600" dirty="0">
                <a:solidFill>
                  <a:srgbClr val="7030A0"/>
                </a:solidFill>
                <a:latin typeface="Microsoft YaHei" panose="020B0503020204020204" pitchFamily="34" charset="-122"/>
                <a:ea typeface="Microsoft YaHei" panose="020B0503020204020204" pitchFamily="34" charset="-122"/>
              </a:rPr>
              <a:t>VLAN 200</a:t>
            </a:r>
            <a:endParaRPr kumimoji="1" lang="zh-CN" altLang="en-US" sz="1600" dirty="0">
              <a:solidFill>
                <a:srgbClr val="7030A0"/>
              </a:solidFill>
              <a:latin typeface="Microsoft YaHei" panose="020B0503020204020204" pitchFamily="34" charset="-122"/>
              <a:ea typeface="Microsoft YaHei" panose="020B0503020204020204" pitchFamily="34" charset="-122"/>
            </a:endParaRPr>
          </a:p>
        </p:txBody>
      </p:sp>
      <p:grpSp>
        <p:nvGrpSpPr>
          <p:cNvPr id="182" name="组合 181">
            <a:extLst>
              <a:ext uri="{FF2B5EF4-FFF2-40B4-BE49-F238E27FC236}">
                <a16:creationId xmlns:a16="http://schemas.microsoft.com/office/drawing/2014/main" id="{038539BE-1323-4349-AB06-EA7B92D4377A}"/>
              </a:ext>
            </a:extLst>
          </p:cNvPr>
          <p:cNvGrpSpPr/>
          <p:nvPr/>
        </p:nvGrpSpPr>
        <p:grpSpPr>
          <a:xfrm>
            <a:off x="8095583" y="5154972"/>
            <a:ext cx="2464909" cy="787523"/>
            <a:chOff x="7587556" y="5309929"/>
            <a:chExt cx="2464909" cy="787523"/>
          </a:xfrm>
        </p:grpSpPr>
        <p:sp>
          <p:nvSpPr>
            <p:cNvPr id="91" name="文本框 90">
              <a:extLst>
                <a:ext uri="{FF2B5EF4-FFF2-40B4-BE49-F238E27FC236}">
                  <a16:creationId xmlns:a16="http://schemas.microsoft.com/office/drawing/2014/main" id="{E9132A23-1BF6-49BD-95A9-EEF3E3DF759E}"/>
                </a:ext>
              </a:extLst>
            </p:cNvPr>
            <p:cNvSpPr txBox="1"/>
            <p:nvPr/>
          </p:nvSpPr>
          <p:spPr>
            <a:xfrm>
              <a:off x="8072436" y="5309929"/>
              <a:ext cx="1980029" cy="787523"/>
            </a:xfrm>
            <a:prstGeom prst="rect">
              <a:avLst/>
            </a:prstGeom>
            <a:noFill/>
          </p:spPr>
          <p:txBody>
            <a:bodyPr wrap="none" rtlCol="0">
              <a:spAutoFit/>
            </a:bodyPr>
            <a:lstStyle/>
            <a:p>
              <a:pPr>
                <a:lnSpc>
                  <a:spcPct val="150000"/>
                </a:lnSpc>
              </a:pPr>
              <a:r>
                <a:rPr lang="zh-CN" altLang="en-US" sz="1600" dirty="0">
                  <a:latin typeface="微软雅黑" panose="020B0503020204020204" pitchFamily="34" charset="-122"/>
                  <a:ea typeface="微软雅黑" panose="020B0503020204020204" pitchFamily="34" charset="-122"/>
                </a:rPr>
                <a:t>被广播的数据帧</a:t>
              </a:r>
              <a:endParaRPr lang="en-US" altLang="zh-CN" sz="1600" dirty="0">
                <a:latin typeface="微软雅黑" panose="020B0503020204020204" pitchFamily="34" charset="-122"/>
                <a:ea typeface="微软雅黑" panose="020B0503020204020204" pitchFamily="34" charset="-122"/>
              </a:endParaRPr>
            </a:p>
            <a:p>
              <a:pPr>
                <a:lnSpc>
                  <a:spcPct val="150000"/>
                </a:lnSpc>
              </a:pPr>
              <a:r>
                <a:rPr lang="zh-CN" altLang="en-US" sz="1600" dirty="0">
                  <a:latin typeface="微软雅黑" panose="020B0503020204020204" pitchFamily="34" charset="-122"/>
                  <a:ea typeface="微软雅黑" panose="020B0503020204020204" pitchFamily="34" charset="-122"/>
                </a:rPr>
                <a:t>交换机发送的</a:t>
              </a:r>
              <a:r>
                <a:rPr lang="en-US" altLang="zh-CN" sz="1600" dirty="0">
                  <a:latin typeface="微软雅黑" panose="020B0503020204020204" pitchFamily="34" charset="-122"/>
                  <a:ea typeface="微软雅黑" panose="020B0503020204020204" pitchFamily="34" charset="-122"/>
                </a:rPr>
                <a:t>BPDU</a:t>
              </a:r>
              <a:endParaRPr lang="zh-CN" altLang="en-US" sz="1600" dirty="0">
                <a:latin typeface="微软雅黑" panose="020B0503020204020204" pitchFamily="34" charset="-122"/>
                <a:ea typeface="微软雅黑" panose="020B0503020204020204" pitchFamily="34" charset="-122"/>
              </a:endParaRPr>
            </a:p>
          </p:txBody>
        </p:sp>
        <p:cxnSp>
          <p:nvCxnSpPr>
            <p:cNvPr id="53" name="直接箭头连接符 52">
              <a:extLst>
                <a:ext uri="{FF2B5EF4-FFF2-40B4-BE49-F238E27FC236}">
                  <a16:creationId xmlns:a16="http://schemas.microsoft.com/office/drawing/2014/main" id="{2286162A-5E78-4733-B8DC-F3A82364F9C6}"/>
                </a:ext>
              </a:extLst>
            </p:cNvPr>
            <p:cNvCxnSpPr/>
            <p:nvPr/>
          </p:nvCxnSpPr>
          <p:spPr>
            <a:xfrm>
              <a:off x="7595028" y="5901785"/>
              <a:ext cx="400528" cy="0"/>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80" name="直接箭头连接符 79">
              <a:extLst>
                <a:ext uri="{FF2B5EF4-FFF2-40B4-BE49-F238E27FC236}">
                  <a16:creationId xmlns:a16="http://schemas.microsoft.com/office/drawing/2014/main" id="{3A96B0A9-DC66-4AB7-90EE-1C51369D4695}"/>
                </a:ext>
              </a:extLst>
            </p:cNvPr>
            <p:cNvCxnSpPr/>
            <p:nvPr/>
          </p:nvCxnSpPr>
          <p:spPr>
            <a:xfrm>
              <a:off x="7587556" y="5584820"/>
              <a:ext cx="400528" cy="0"/>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grpSp>
      <p:pic>
        <p:nvPicPr>
          <p:cNvPr id="81" name="Picture 30" descr="通用路由器">
            <a:extLst>
              <a:ext uri="{FF2B5EF4-FFF2-40B4-BE49-F238E27FC236}">
                <a16:creationId xmlns:a16="http://schemas.microsoft.com/office/drawing/2014/main" id="{CCEEBA06-E0A4-403F-A189-03187144BB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80046" y="1985557"/>
            <a:ext cx="548027" cy="269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椭圆 180">
            <a:extLst>
              <a:ext uri="{FF2B5EF4-FFF2-40B4-BE49-F238E27FC236}">
                <a16:creationId xmlns:a16="http://schemas.microsoft.com/office/drawing/2014/main" id="{8F3A3CF4-1364-4B9C-B1B8-DE738AC2030B}"/>
              </a:ext>
            </a:extLst>
          </p:cNvPr>
          <p:cNvSpPr/>
          <p:nvPr/>
        </p:nvSpPr>
        <p:spPr>
          <a:xfrm>
            <a:off x="9486797" y="3608756"/>
            <a:ext cx="2040249" cy="1219639"/>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13" name="Picture 5" descr="通用交换机">
            <a:extLst>
              <a:ext uri="{FF2B5EF4-FFF2-40B4-BE49-F238E27FC236}">
                <a16:creationId xmlns:a16="http://schemas.microsoft.com/office/drawing/2014/main" id="{EE19F80C-A82D-41AE-90F2-90514F0097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35259" y="2578957"/>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19" name="直接连接符 218">
            <a:extLst>
              <a:ext uri="{FF2B5EF4-FFF2-40B4-BE49-F238E27FC236}">
                <a16:creationId xmlns:a16="http://schemas.microsoft.com/office/drawing/2014/main" id="{542653C2-CE53-45FD-81F8-31C34BBDE838}"/>
              </a:ext>
            </a:extLst>
          </p:cNvPr>
          <p:cNvCxnSpPr>
            <a:cxnSpLocks/>
          </p:cNvCxnSpPr>
          <p:nvPr/>
        </p:nvCxnSpPr>
        <p:spPr>
          <a:xfrm>
            <a:off x="9239227" y="2224839"/>
            <a:ext cx="0" cy="405351"/>
          </a:xfrm>
          <a:prstGeom prst="line">
            <a:avLst/>
          </a:prstGeom>
          <a:ln w="1270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233" name="直接连接符 232">
            <a:extLst>
              <a:ext uri="{FF2B5EF4-FFF2-40B4-BE49-F238E27FC236}">
                <a16:creationId xmlns:a16="http://schemas.microsoft.com/office/drawing/2014/main" id="{BC89CC00-049A-45ED-BDC0-C7A394040A03}"/>
              </a:ext>
            </a:extLst>
          </p:cNvPr>
          <p:cNvCxnSpPr>
            <a:cxnSpLocks/>
          </p:cNvCxnSpPr>
          <p:nvPr/>
        </p:nvCxnSpPr>
        <p:spPr>
          <a:xfrm>
            <a:off x="9082059" y="2234354"/>
            <a:ext cx="0" cy="40535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5" name="直接箭头连接符 234">
            <a:extLst>
              <a:ext uri="{FF2B5EF4-FFF2-40B4-BE49-F238E27FC236}">
                <a16:creationId xmlns:a16="http://schemas.microsoft.com/office/drawing/2014/main" id="{7627047F-2FC4-4B0B-8EEB-1B51DD376C83}"/>
              </a:ext>
            </a:extLst>
          </p:cNvPr>
          <p:cNvCxnSpPr>
            <a:cxnSpLocks/>
          </p:cNvCxnSpPr>
          <p:nvPr/>
        </p:nvCxnSpPr>
        <p:spPr>
          <a:xfrm flipV="1">
            <a:off x="7704305" y="3582980"/>
            <a:ext cx="231432" cy="403094"/>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37" name="直接箭头连接符 236">
            <a:extLst>
              <a:ext uri="{FF2B5EF4-FFF2-40B4-BE49-F238E27FC236}">
                <a16:creationId xmlns:a16="http://schemas.microsoft.com/office/drawing/2014/main" id="{511D7F1D-4697-4855-AA7D-DD4529804201}"/>
              </a:ext>
            </a:extLst>
          </p:cNvPr>
          <p:cNvCxnSpPr>
            <a:cxnSpLocks/>
          </p:cNvCxnSpPr>
          <p:nvPr/>
        </p:nvCxnSpPr>
        <p:spPr>
          <a:xfrm flipV="1">
            <a:off x="8389614" y="2842881"/>
            <a:ext cx="404779" cy="183459"/>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49" name="直接箭头连接符 248">
            <a:extLst>
              <a:ext uri="{FF2B5EF4-FFF2-40B4-BE49-F238E27FC236}">
                <a16:creationId xmlns:a16="http://schemas.microsoft.com/office/drawing/2014/main" id="{79CA41CB-F08E-4ADB-85A5-14F4854CE07A}"/>
              </a:ext>
            </a:extLst>
          </p:cNvPr>
          <p:cNvCxnSpPr>
            <a:cxnSpLocks/>
          </p:cNvCxnSpPr>
          <p:nvPr/>
        </p:nvCxnSpPr>
        <p:spPr>
          <a:xfrm>
            <a:off x="8193561" y="3553767"/>
            <a:ext cx="0" cy="455390"/>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0" name="直接箭头连接符 259">
            <a:extLst>
              <a:ext uri="{FF2B5EF4-FFF2-40B4-BE49-F238E27FC236}">
                <a16:creationId xmlns:a16="http://schemas.microsoft.com/office/drawing/2014/main" id="{8A2916EC-FF14-40E2-8DC4-257763BD7EE7}"/>
              </a:ext>
            </a:extLst>
          </p:cNvPr>
          <p:cNvCxnSpPr>
            <a:cxnSpLocks/>
          </p:cNvCxnSpPr>
          <p:nvPr/>
        </p:nvCxnSpPr>
        <p:spPr>
          <a:xfrm flipH="1">
            <a:off x="7373904" y="3600931"/>
            <a:ext cx="293670" cy="361062"/>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2" name="直接箭头连接符 261">
            <a:extLst>
              <a:ext uri="{FF2B5EF4-FFF2-40B4-BE49-F238E27FC236}">
                <a16:creationId xmlns:a16="http://schemas.microsoft.com/office/drawing/2014/main" id="{BB0D8C11-0897-46B0-A3F5-691A474CA81B}"/>
              </a:ext>
            </a:extLst>
          </p:cNvPr>
          <p:cNvCxnSpPr>
            <a:cxnSpLocks/>
          </p:cNvCxnSpPr>
          <p:nvPr/>
        </p:nvCxnSpPr>
        <p:spPr>
          <a:xfrm flipH="1">
            <a:off x="8871173" y="3635636"/>
            <a:ext cx="82939" cy="361124"/>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5" name="直接箭头连接符 264">
            <a:extLst>
              <a:ext uri="{FF2B5EF4-FFF2-40B4-BE49-F238E27FC236}">
                <a16:creationId xmlns:a16="http://schemas.microsoft.com/office/drawing/2014/main" id="{1A37329F-80C0-4FD0-ACA1-9914DB028AFE}"/>
              </a:ext>
            </a:extLst>
          </p:cNvPr>
          <p:cNvCxnSpPr>
            <a:cxnSpLocks/>
          </p:cNvCxnSpPr>
          <p:nvPr/>
        </p:nvCxnSpPr>
        <p:spPr>
          <a:xfrm>
            <a:off x="9225767" y="3667787"/>
            <a:ext cx="2491" cy="369291"/>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9" name="直接箭头连接符 268">
            <a:extLst>
              <a:ext uri="{FF2B5EF4-FFF2-40B4-BE49-F238E27FC236}">
                <a16:creationId xmlns:a16="http://schemas.microsoft.com/office/drawing/2014/main" id="{24F937D9-96D6-46E5-8AA2-4A408D5B1ED8}"/>
              </a:ext>
            </a:extLst>
          </p:cNvPr>
          <p:cNvCxnSpPr>
            <a:cxnSpLocks/>
          </p:cNvCxnSpPr>
          <p:nvPr/>
        </p:nvCxnSpPr>
        <p:spPr>
          <a:xfrm>
            <a:off x="8091690" y="3420948"/>
            <a:ext cx="0" cy="455390"/>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71" name="直接箭头连接符 270">
            <a:extLst>
              <a:ext uri="{FF2B5EF4-FFF2-40B4-BE49-F238E27FC236}">
                <a16:creationId xmlns:a16="http://schemas.microsoft.com/office/drawing/2014/main" id="{9B9A79BD-1071-43F3-B9B4-352383336B37}"/>
              </a:ext>
            </a:extLst>
          </p:cNvPr>
          <p:cNvCxnSpPr>
            <a:cxnSpLocks/>
          </p:cNvCxnSpPr>
          <p:nvPr/>
        </p:nvCxnSpPr>
        <p:spPr>
          <a:xfrm flipH="1">
            <a:off x="7539857" y="3296629"/>
            <a:ext cx="293449" cy="326406"/>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74" name="直接箭头连接符 273">
            <a:extLst>
              <a:ext uri="{FF2B5EF4-FFF2-40B4-BE49-F238E27FC236}">
                <a16:creationId xmlns:a16="http://schemas.microsoft.com/office/drawing/2014/main" id="{93D25ABE-1857-4FC4-B3DC-003FD4B1258A}"/>
              </a:ext>
            </a:extLst>
          </p:cNvPr>
          <p:cNvCxnSpPr>
            <a:cxnSpLocks/>
          </p:cNvCxnSpPr>
          <p:nvPr/>
        </p:nvCxnSpPr>
        <p:spPr>
          <a:xfrm flipH="1">
            <a:off x="7729482" y="3364348"/>
            <a:ext cx="213149" cy="386707"/>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80" name="直接箭头连接符 279">
            <a:extLst>
              <a:ext uri="{FF2B5EF4-FFF2-40B4-BE49-F238E27FC236}">
                <a16:creationId xmlns:a16="http://schemas.microsoft.com/office/drawing/2014/main" id="{4C360827-A7CB-4409-BFEF-860D0B8A7403}"/>
              </a:ext>
            </a:extLst>
          </p:cNvPr>
          <p:cNvCxnSpPr>
            <a:cxnSpLocks/>
          </p:cNvCxnSpPr>
          <p:nvPr/>
        </p:nvCxnSpPr>
        <p:spPr>
          <a:xfrm flipV="1">
            <a:off x="8173261" y="2869916"/>
            <a:ext cx="324000" cy="149153"/>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85" name="直接箭头连接符 284">
            <a:extLst>
              <a:ext uri="{FF2B5EF4-FFF2-40B4-BE49-F238E27FC236}">
                <a16:creationId xmlns:a16="http://schemas.microsoft.com/office/drawing/2014/main" id="{E87AA27E-8B0C-4C4B-9806-D392F465E52C}"/>
              </a:ext>
            </a:extLst>
          </p:cNvPr>
          <p:cNvCxnSpPr>
            <a:cxnSpLocks/>
          </p:cNvCxnSpPr>
          <p:nvPr/>
        </p:nvCxnSpPr>
        <p:spPr>
          <a:xfrm flipV="1">
            <a:off x="9058389" y="3023515"/>
            <a:ext cx="0" cy="266878"/>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93" name="直接箭头连接符 292">
            <a:extLst>
              <a:ext uri="{FF2B5EF4-FFF2-40B4-BE49-F238E27FC236}">
                <a16:creationId xmlns:a16="http://schemas.microsoft.com/office/drawing/2014/main" id="{C3A736F5-9565-455A-B374-57726091CDA3}"/>
              </a:ext>
            </a:extLst>
          </p:cNvPr>
          <p:cNvCxnSpPr>
            <a:cxnSpLocks/>
          </p:cNvCxnSpPr>
          <p:nvPr/>
        </p:nvCxnSpPr>
        <p:spPr>
          <a:xfrm flipV="1">
            <a:off x="9217139" y="2926537"/>
            <a:ext cx="0" cy="266878"/>
          </a:xfrm>
          <a:prstGeom prst="straightConnector1">
            <a:avLst/>
          </a:prstGeom>
          <a:ln w="19050">
            <a:solidFill>
              <a:srgbClr val="FFC000"/>
            </a:solidFill>
            <a:headEnd type="triangle" w="med" len="med"/>
            <a:tailEnd type="none" w="med" len="med"/>
          </a:ln>
        </p:spPr>
        <p:style>
          <a:lnRef idx="1">
            <a:schemeClr val="accent6"/>
          </a:lnRef>
          <a:fillRef idx="0">
            <a:schemeClr val="accent6"/>
          </a:fillRef>
          <a:effectRef idx="0">
            <a:schemeClr val="accent6"/>
          </a:effectRef>
          <a:fontRef idx="minor">
            <a:schemeClr val="tx1"/>
          </a:fontRef>
        </p:style>
      </p:cxnSp>
      <p:cxnSp>
        <p:nvCxnSpPr>
          <p:cNvPr id="295" name="直接箭头连接符 294">
            <a:extLst>
              <a:ext uri="{FF2B5EF4-FFF2-40B4-BE49-F238E27FC236}">
                <a16:creationId xmlns:a16="http://schemas.microsoft.com/office/drawing/2014/main" id="{B3A3CD79-FBD3-469E-ABEC-E21314C40886}"/>
              </a:ext>
            </a:extLst>
          </p:cNvPr>
          <p:cNvCxnSpPr>
            <a:cxnSpLocks/>
          </p:cNvCxnSpPr>
          <p:nvPr/>
        </p:nvCxnSpPr>
        <p:spPr>
          <a:xfrm flipV="1">
            <a:off x="9110748" y="2895732"/>
            <a:ext cx="0" cy="266878"/>
          </a:xfrm>
          <a:prstGeom prst="straightConnector1">
            <a:avLst/>
          </a:prstGeom>
          <a:ln w="19050">
            <a:solidFill>
              <a:srgbClr val="00B0F0"/>
            </a:solidFill>
            <a:headEnd type="triangle" w="med" len="med"/>
            <a:tailEnd type="none" w="med" len="med"/>
          </a:ln>
        </p:spPr>
        <p:style>
          <a:lnRef idx="1">
            <a:schemeClr val="accent6"/>
          </a:lnRef>
          <a:fillRef idx="0">
            <a:schemeClr val="accent6"/>
          </a:fillRef>
          <a:effectRef idx="0">
            <a:schemeClr val="accent6"/>
          </a:effectRef>
          <a:fontRef idx="minor">
            <a:schemeClr val="tx1"/>
          </a:fontRef>
        </p:style>
      </p:cxnSp>
      <p:cxnSp>
        <p:nvCxnSpPr>
          <p:cNvPr id="302" name="直接箭头连接符 301">
            <a:extLst>
              <a:ext uri="{FF2B5EF4-FFF2-40B4-BE49-F238E27FC236}">
                <a16:creationId xmlns:a16="http://schemas.microsoft.com/office/drawing/2014/main" id="{6EDDA8BD-7DD0-4D3A-BA12-DAA3B30C1D80}"/>
              </a:ext>
            </a:extLst>
          </p:cNvPr>
          <p:cNvCxnSpPr>
            <a:cxnSpLocks/>
          </p:cNvCxnSpPr>
          <p:nvPr/>
        </p:nvCxnSpPr>
        <p:spPr>
          <a:xfrm flipV="1">
            <a:off x="8584699" y="2696033"/>
            <a:ext cx="324000" cy="149153"/>
          </a:xfrm>
          <a:prstGeom prst="straightConnector1">
            <a:avLst/>
          </a:prstGeom>
          <a:ln w="19050">
            <a:solidFill>
              <a:srgbClr val="00B0F0"/>
            </a:solidFill>
            <a:headEnd type="triangle" w="med" len="med"/>
            <a:tailEnd type="none" w="med" len="med"/>
          </a:ln>
        </p:spPr>
        <p:style>
          <a:lnRef idx="1">
            <a:schemeClr val="accent6"/>
          </a:lnRef>
          <a:fillRef idx="0">
            <a:schemeClr val="accent6"/>
          </a:fillRef>
          <a:effectRef idx="0">
            <a:schemeClr val="accent6"/>
          </a:effectRef>
          <a:fontRef idx="minor">
            <a:schemeClr val="tx1"/>
          </a:fontRef>
        </p:style>
      </p:cxnSp>
      <p:cxnSp>
        <p:nvCxnSpPr>
          <p:cNvPr id="303" name="直接箭头连接符 302">
            <a:extLst>
              <a:ext uri="{FF2B5EF4-FFF2-40B4-BE49-F238E27FC236}">
                <a16:creationId xmlns:a16="http://schemas.microsoft.com/office/drawing/2014/main" id="{BE131C22-3FD9-4BFD-9B44-6A851DE33644}"/>
              </a:ext>
            </a:extLst>
          </p:cNvPr>
          <p:cNvCxnSpPr>
            <a:cxnSpLocks/>
          </p:cNvCxnSpPr>
          <p:nvPr/>
        </p:nvCxnSpPr>
        <p:spPr>
          <a:xfrm flipH="1">
            <a:off x="8791421" y="3392769"/>
            <a:ext cx="82939" cy="361124"/>
          </a:xfrm>
          <a:prstGeom prst="straightConnector1">
            <a:avLst/>
          </a:prstGeom>
          <a:ln w="19050">
            <a:solidFill>
              <a:srgbClr val="00B0F0"/>
            </a:solidFill>
            <a:tailEnd type="triangle"/>
          </a:ln>
        </p:spPr>
        <p:style>
          <a:lnRef idx="1">
            <a:schemeClr val="accent4"/>
          </a:lnRef>
          <a:fillRef idx="0">
            <a:schemeClr val="accent4"/>
          </a:fillRef>
          <a:effectRef idx="0">
            <a:schemeClr val="accent4"/>
          </a:effectRef>
          <a:fontRef idx="minor">
            <a:schemeClr val="tx1"/>
          </a:fontRef>
        </p:style>
      </p:cxnSp>
      <p:cxnSp>
        <p:nvCxnSpPr>
          <p:cNvPr id="304" name="直接箭头连接符 303">
            <a:extLst>
              <a:ext uri="{FF2B5EF4-FFF2-40B4-BE49-F238E27FC236}">
                <a16:creationId xmlns:a16="http://schemas.microsoft.com/office/drawing/2014/main" id="{A1DA1C75-7E99-4AC6-A2D8-91229B5EC413}"/>
              </a:ext>
            </a:extLst>
          </p:cNvPr>
          <p:cNvCxnSpPr>
            <a:cxnSpLocks/>
          </p:cNvCxnSpPr>
          <p:nvPr/>
        </p:nvCxnSpPr>
        <p:spPr>
          <a:xfrm>
            <a:off x="9110719" y="3525739"/>
            <a:ext cx="2491" cy="369291"/>
          </a:xfrm>
          <a:prstGeom prst="straightConnector1">
            <a:avLst/>
          </a:prstGeom>
          <a:ln w="19050">
            <a:solidFill>
              <a:srgbClr val="00B0F0"/>
            </a:solidFill>
            <a:tailEnd type="triangle"/>
          </a:ln>
        </p:spPr>
        <p:style>
          <a:lnRef idx="1">
            <a:schemeClr val="accent4"/>
          </a:lnRef>
          <a:fillRef idx="0">
            <a:schemeClr val="accent4"/>
          </a:fillRef>
          <a:effectRef idx="0">
            <a:schemeClr val="accent4"/>
          </a:effectRef>
          <a:fontRef idx="minor">
            <a:schemeClr val="tx1"/>
          </a:fontRef>
        </p:style>
      </p:cxnSp>
      <p:cxnSp>
        <p:nvCxnSpPr>
          <p:cNvPr id="306" name="直接箭头连接符 305">
            <a:extLst>
              <a:ext uri="{FF2B5EF4-FFF2-40B4-BE49-F238E27FC236}">
                <a16:creationId xmlns:a16="http://schemas.microsoft.com/office/drawing/2014/main" id="{BC8A5856-86DF-4256-811A-EAB5255AD65C}"/>
              </a:ext>
            </a:extLst>
          </p:cNvPr>
          <p:cNvCxnSpPr>
            <a:cxnSpLocks/>
          </p:cNvCxnSpPr>
          <p:nvPr/>
        </p:nvCxnSpPr>
        <p:spPr>
          <a:xfrm>
            <a:off x="9393784" y="3511648"/>
            <a:ext cx="154461" cy="377728"/>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08" name="直接箭头连接符 307">
            <a:extLst>
              <a:ext uri="{FF2B5EF4-FFF2-40B4-BE49-F238E27FC236}">
                <a16:creationId xmlns:a16="http://schemas.microsoft.com/office/drawing/2014/main" id="{64D817E4-5C1E-4881-9722-71DFADEB9FAF}"/>
              </a:ext>
            </a:extLst>
          </p:cNvPr>
          <p:cNvCxnSpPr/>
          <p:nvPr/>
        </p:nvCxnSpPr>
        <p:spPr>
          <a:xfrm>
            <a:off x="8100029" y="5825337"/>
            <a:ext cx="400528" cy="0"/>
          </a:xfrm>
          <a:prstGeom prst="straightConnector1">
            <a:avLst/>
          </a:prstGeom>
          <a:ln w="19050">
            <a:solidFill>
              <a:srgbClr val="00B0F0"/>
            </a:solidFill>
            <a:prstDash val="dashDot"/>
            <a:tailEnd type="triangle"/>
          </a:ln>
        </p:spPr>
        <p:style>
          <a:lnRef idx="1">
            <a:schemeClr val="accent6"/>
          </a:lnRef>
          <a:fillRef idx="0">
            <a:schemeClr val="accent6"/>
          </a:fillRef>
          <a:effectRef idx="0">
            <a:schemeClr val="accent6"/>
          </a:effectRef>
          <a:fontRef idx="minor">
            <a:schemeClr val="tx1"/>
          </a:fontRef>
        </p:style>
      </p:cxnSp>
      <p:cxnSp>
        <p:nvCxnSpPr>
          <p:cNvPr id="309" name="直接箭头连接符 308">
            <a:extLst>
              <a:ext uri="{FF2B5EF4-FFF2-40B4-BE49-F238E27FC236}">
                <a16:creationId xmlns:a16="http://schemas.microsoft.com/office/drawing/2014/main" id="{89130C62-5A9A-4819-B9E6-E969E08914C8}"/>
              </a:ext>
            </a:extLst>
          </p:cNvPr>
          <p:cNvCxnSpPr>
            <a:cxnSpLocks/>
          </p:cNvCxnSpPr>
          <p:nvPr/>
        </p:nvCxnSpPr>
        <p:spPr>
          <a:xfrm>
            <a:off x="9462139" y="2703715"/>
            <a:ext cx="365133" cy="140179"/>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11" name="直接箭头连接符 310">
            <a:extLst>
              <a:ext uri="{FF2B5EF4-FFF2-40B4-BE49-F238E27FC236}">
                <a16:creationId xmlns:a16="http://schemas.microsoft.com/office/drawing/2014/main" id="{B3053659-48B5-4447-85F6-9AF5CF45371C}"/>
              </a:ext>
            </a:extLst>
          </p:cNvPr>
          <p:cNvCxnSpPr>
            <a:cxnSpLocks/>
          </p:cNvCxnSpPr>
          <p:nvPr/>
        </p:nvCxnSpPr>
        <p:spPr>
          <a:xfrm>
            <a:off x="9878207" y="2967697"/>
            <a:ext cx="335151" cy="147603"/>
          </a:xfrm>
          <a:prstGeom prst="straightConnector1">
            <a:avLst/>
          </a:prstGeom>
          <a:ln w="19050">
            <a:solidFill>
              <a:srgbClr val="00B0F0"/>
            </a:solidFill>
            <a:prstDash val="dashDot"/>
            <a:headEnd type="triangle" w="med" len="med"/>
            <a:tailEnd type="none" w="med" len="med"/>
          </a:ln>
        </p:spPr>
        <p:style>
          <a:lnRef idx="1">
            <a:schemeClr val="accent4"/>
          </a:lnRef>
          <a:fillRef idx="0">
            <a:schemeClr val="accent4"/>
          </a:fillRef>
          <a:effectRef idx="0">
            <a:schemeClr val="accent4"/>
          </a:effectRef>
          <a:fontRef idx="minor">
            <a:schemeClr val="tx1"/>
          </a:fontRef>
        </p:style>
      </p:cxnSp>
      <p:cxnSp>
        <p:nvCxnSpPr>
          <p:cNvPr id="314" name="直接箭头连接符 313">
            <a:extLst>
              <a:ext uri="{FF2B5EF4-FFF2-40B4-BE49-F238E27FC236}">
                <a16:creationId xmlns:a16="http://schemas.microsoft.com/office/drawing/2014/main" id="{A0E49FFE-7724-4F1B-93E9-89323E922C1D}"/>
              </a:ext>
            </a:extLst>
          </p:cNvPr>
          <p:cNvCxnSpPr>
            <a:cxnSpLocks/>
          </p:cNvCxnSpPr>
          <p:nvPr/>
        </p:nvCxnSpPr>
        <p:spPr>
          <a:xfrm>
            <a:off x="10307969" y="3511042"/>
            <a:ext cx="60779" cy="365296"/>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18" name="直接箭头连接符 317">
            <a:extLst>
              <a:ext uri="{FF2B5EF4-FFF2-40B4-BE49-F238E27FC236}">
                <a16:creationId xmlns:a16="http://schemas.microsoft.com/office/drawing/2014/main" id="{ACD5D8E1-255D-4C61-9088-BC24054D3A12}"/>
              </a:ext>
            </a:extLst>
          </p:cNvPr>
          <p:cNvCxnSpPr>
            <a:cxnSpLocks/>
          </p:cNvCxnSpPr>
          <p:nvPr/>
        </p:nvCxnSpPr>
        <p:spPr>
          <a:xfrm>
            <a:off x="10490758" y="3488004"/>
            <a:ext cx="153923" cy="374046"/>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20" name="直接箭头连接符 319">
            <a:extLst>
              <a:ext uri="{FF2B5EF4-FFF2-40B4-BE49-F238E27FC236}">
                <a16:creationId xmlns:a16="http://schemas.microsoft.com/office/drawing/2014/main" id="{14E2A6BB-F22F-423E-A147-CD6EADD7D121}"/>
              </a:ext>
            </a:extLst>
          </p:cNvPr>
          <p:cNvCxnSpPr>
            <a:cxnSpLocks/>
          </p:cNvCxnSpPr>
          <p:nvPr/>
        </p:nvCxnSpPr>
        <p:spPr>
          <a:xfrm>
            <a:off x="10687682" y="3438236"/>
            <a:ext cx="311325" cy="341797"/>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sp>
        <p:nvSpPr>
          <p:cNvPr id="5" name="日期占位符 4">
            <a:extLst>
              <a:ext uri="{FF2B5EF4-FFF2-40B4-BE49-F238E27FC236}">
                <a16:creationId xmlns:a16="http://schemas.microsoft.com/office/drawing/2014/main" id="{8D8122F9-3E3B-4207-9448-2A638FD983C4}"/>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240160635"/>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D5ABF7A-EA34-4A89-A54D-2C1D86FEBEB6}"/>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7030A0"/>
              </a:solidFill>
            </a:endParaRPr>
          </a:p>
        </p:txBody>
      </p:sp>
      <p:sp>
        <p:nvSpPr>
          <p:cNvPr id="3" name="内容占位符 2">
            <a:extLst>
              <a:ext uri="{FF2B5EF4-FFF2-40B4-BE49-F238E27FC236}">
                <a16:creationId xmlns:a16="http://schemas.microsoft.com/office/drawing/2014/main" id="{F1B1C611-94F8-4C69-BCA4-80AF20CAF75E}"/>
              </a:ext>
            </a:extLst>
          </p:cNvPr>
          <p:cNvSpPr>
            <a:spLocks noGrp="1"/>
          </p:cNvSpPr>
          <p:nvPr>
            <p:ph idx="1"/>
          </p:nvPr>
        </p:nvSpPr>
        <p:spPr>
          <a:xfrm>
            <a:off x="838200" y="1510758"/>
            <a:ext cx="10747664" cy="4586694"/>
          </a:xfrm>
        </p:spPr>
        <p:txBody>
          <a:bodyPr/>
          <a:lstStyle/>
          <a:p>
            <a:r>
              <a:rPr lang="zh-CN" altLang="en-US" dirty="0"/>
              <a:t>路由器的局限性</a:t>
            </a:r>
            <a:endParaRPr lang="en-US" altLang="zh-CN" dirty="0"/>
          </a:p>
          <a:p>
            <a:pPr marL="457200" lvl="1" indent="-93663">
              <a:buNone/>
            </a:pPr>
            <a:r>
              <a:rPr lang="zh-CN" altLang="en-US" dirty="0"/>
              <a:t>每个</a:t>
            </a:r>
            <a:r>
              <a:rPr lang="en-US" altLang="zh-CN" dirty="0"/>
              <a:t>VLAN</a:t>
            </a:r>
            <a:r>
              <a:rPr lang="zh-CN" altLang="en-US" dirty="0"/>
              <a:t>需要一个到路由器的物理连接，增加网络拓扑复杂性和部署成本</a:t>
            </a:r>
            <a:endParaRPr lang="en-US" altLang="zh-CN" dirty="0"/>
          </a:p>
        </p:txBody>
      </p:sp>
      <p:sp>
        <p:nvSpPr>
          <p:cNvPr id="4" name="灯片编号占位符 3">
            <a:extLst>
              <a:ext uri="{FF2B5EF4-FFF2-40B4-BE49-F238E27FC236}">
                <a16:creationId xmlns:a16="http://schemas.microsoft.com/office/drawing/2014/main" id="{3EA0DB22-346D-42D0-B146-3F0A6ED798DC}"/>
              </a:ext>
            </a:extLst>
          </p:cNvPr>
          <p:cNvSpPr>
            <a:spLocks noGrp="1"/>
          </p:cNvSpPr>
          <p:nvPr>
            <p:ph type="sldNum" sz="quarter" idx="12"/>
          </p:nvPr>
        </p:nvSpPr>
        <p:spPr/>
        <p:txBody>
          <a:bodyPr/>
          <a:lstStyle/>
          <a:p>
            <a:fld id="{8D4D1E41-7A09-AB4A-A4E1-09765ADA2698}" type="slidenum">
              <a:rPr kumimoji="1" lang="zh-CN" altLang="en-US" smtClean="0"/>
              <a:t>237</a:t>
            </a:fld>
            <a:endParaRPr kumimoji="1" lang="zh-CN" altLang="en-US" dirty="0"/>
          </a:p>
        </p:txBody>
      </p:sp>
      <p:grpSp>
        <p:nvGrpSpPr>
          <p:cNvPr id="30" name="组合 29">
            <a:extLst>
              <a:ext uri="{FF2B5EF4-FFF2-40B4-BE49-F238E27FC236}">
                <a16:creationId xmlns:a16="http://schemas.microsoft.com/office/drawing/2014/main" id="{EE7609C7-8603-4E57-9279-7888B990D205}"/>
              </a:ext>
            </a:extLst>
          </p:cNvPr>
          <p:cNvGrpSpPr/>
          <p:nvPr/>
        </p:nvGrpSpPr>
        <p:grpSpPr>
          <a:xfrm>
            <a:off x="1857614" y="2767450"/>
            <a:ext cx="7452640" cy="3352514"/>
            <a:chOff x="2508346" y="2828574"/>
            <a:chExt cx="7452640" cy="3352514"/>
          </a:xfrm>
        </p:grpSpPr>
        <p:sp>
          <p:nvSpPr>
            <p:cNvPr id="5" name="椭圆 4">
              <a:extLst>
                <a:ext uri="{FF2B5EF4-FFF2-40B4-BE49-F238E27FC236}">
                  <a16:creationId xmlns:a16="http://schemas.microsoft.com/office/drawing/2014/main" id="{3F67E60F-44FD-4A36-8791-0DD820A6E933}"/>
                </a:ext>
              </a:extLst>
            </p:cNvPr>
            <p:cNvSpPr/>
            <p:nvPr/>
          </p:nvSpPr>
          <p:spPr>
            <a:xfrm>
              <a:off x="6634695" y="2832172"/>
              <a:ext cx="2562048" cy="1776216"/>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a:extLst>
                <a:ext uri="{FF2B5EF4-FFF2-40B4-BE49-F238E27FC236}">
                  <a16:creationId xmlns:a16="http://schemas.microsoft.com/office/drawing/2014/main" id="{867FEB48-B64A-43FF-80D3-91B94FD26D72}"/>
                </a:ext>
              </a:extLst>
            </p:cNvPr>
            <p:cNvSpPr/>
            <p:nvPr/>
          </p:nvSpPr>
          <p:spPr>
            <a:xfrm>
              <a:off x="3626735" y="2828574"/>
              <a:ext cx="2562048" cy="1776215"/>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7" name="Picture 30" descr="通用路由器">
              <a:extLst>
                <a:ext uri="{FF2B5EF4-FFF2-40B4-BE49-F238E27FC236}">
                  <a16:creationId xmlns:a16="http://schemas.microsoft.com/office/drawing/2014/main" id="{C08D853F-39CF-40D6-AAE8-F6A0593D34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39228" y="5086578"/>
              <a:ext cx="762695" cy="37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5" descr="通用交换机">
              <a:extLst>
                <a:ext uri="{FF2B5EF4-FFF2-40B4-BE49-F238E27FC236}">
                  <a16:creationId xmlns:a16="http://schemas.microsoft.com/office/drawing/2014/main" id="{4C4F630C-278C-41C6-9467-93CA20E881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6090" y="3950399"/>
              <a:ext cx="729452" cy="530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5" descr="通用交换机">
              <a:extLst>
                <a:ext uri="{FF2B5EF4-FFF2-40B4-BE49-F238E27FC236}">
                  <a16:creationId xmlns:a16="http://schemas.microsoft.com/office/drawing/2014/main" id="{80FF5259-2AC1-436C-92D5-579EC2091E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50065" y="3954667"/>
              <a:ext cx="766585" cy="557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组合 9">
              <a:extLst>
                <a:ext uri="{FF2B5EF4-FFF2-40B4-BE49-F238E27FC236}">
                  <a16:creationId xmlns:a16="http://schemas.microsoft.com/office/drawing/2014/main" id="{60CB4F7E-102F-4F93-A0EA-553A66E251BF}"/>
                </a:ext>
              </a:extLst>
            </p:cNvPr>
            <p:cNvGrpSpPr/>
            <p:nvPr/>
          </p:nvGrpSpPr>
          <p:grpSpPr>
            <a:xfrm>
              <a:off x="4648255" y="3531908"/>
              <a:ext cx="1183583" cy="380941"/>
              <a:chOff x="4647761" y="5430943"/>
              <a:chExt cx="1183583" cy="380941"/>
            </a:xfrm>
          </p:grpSpPr>
          <p:pic>
            <p:nvPicPr>
              <p:cNvPr id="11" name="Picture 35" descr="Terminal">
                <a:extLst>
                  <a:ext uri="{FF2B5EF4-FFF2-40B4-BE49-F238E27FC236}">
                    <a16:creationId xmlns:a16="http://schemas.microsoft.com/office/drawing/2014/main" id="{FF36C602-A2FB-49E4-8355-B213652BDE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30943"/>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5" descr="Terminal">
                <a:extLst>
                  <a:ext uri="{FF2B5EF4-FFF2-40B4-BE49-F238E27FC236}">
                    <a16:creationId xmlns:a16="http://schemas.microsoft.com/office/drawing/2014/main" id="{292FFF6B-595F-48D7-A79F-239919145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456312"/>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5" descr="Terminal">
                <a:extLst>
                  <a:ext uri="{FF2B5EF4-FFF2-40B4-BE49-F238E27FC236}">
                    <a16:creationId xmlns:a16="http://schemas.microsoft.com/office/drawing/2014/main" id="{0933D19E-CF40-4F9C-9F51-CA390BE947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456312"/>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文本框 13">
                <a:extLst>
                  <a:ext uri="{FF2B5EF4-FFF2-40B4-BE49-F238E27FC236}">
                    <a16:creationId xmlns:a16="http://schemas.microsoft.com/office/drawing/2014/main" id="{6E581B68-54D8-4791-A51C-75DE0960BFD9}"/>
                  </a:ext>
                </a:extLst>
              </p:cNvPr>
              <p:cNvSpPr txBox="1"/>
              <p:nvPr/>
            </p:nvSpPr>
            <p:spPr>
              <a:xfrm>
                <a:off x="5248454" y="5442552"/>
                <a:ext cx="372218" cy="369332"/>
              </a:xfrm>
              <a:prstGeom prst="rect">
                <a:avLst/>
              </a:prstGeom>
              <a:noFill/>
            </p:spPr>
            <p:txBody>
              <a:bodyPr wrap="none" rtlCol="0">
                <a:spAutoFit/>
              </a:bodyPr>
              <a:lstStyle/>
              <a:p>
                <a:r>
                  <a:rPr lang="en-US" altLang="zh-CN" b="1" dirty="0"/>
                  <a:t>…</a:t>
                </a:r>
                <a:endParaRPr lang="zh-CN" altLang="en-US" b="1" dirty="0"/>
              </a:p>
            </p:txBody>
          </p:sp>
        </p:grpSp>
        <p:grpSp>
          <p:nvGrpSpPr>
            <p:cNvPr id="15" name="组合 14">
              <a:extLst>
                <a:ext uri="{FF2B5EF4-FFF2-40B4-BE49-F238E27FC236}">
                  <a16:creationId xmlns:a16="http://schemas.microsoft.com/office/drawing/2014/main" id="{554B75AE-9E4B-4614-A66E-EAD707D20775}"/>
                </a:ext>
              </a:extLst>
            </p:cNvPr>
            <p:cNvGrpSpPr/>
            <p:nvPr/>
          </p:nvGrpSpPr>
          <p:grpSpPr>
            <a:xfrm>
              <a:off x="6984979" y="3580051"/>
              <a:ext cx="1183583" cy="380941"/>
              <a:chOff x="4625946" y="5529951"/>
              <a:chExt cx="1183583" cy="380941"/>
            </a:xfrm>
          </p:grpSpPr>
          <p:pic>
            <p:nvPicPr>
              <p:cNvPr id="16" name="Picture 35" descr="Terminal">
                <a:extLst>
                  <a:ext uri="{FF2B5EF4-FFF2-40B4-BE49-F238E27FC236}">
                    <a16:creationId xmlns:a16="http://schemas.microsoft.com/office/drawing/2014/main" id="{6D39C244-78B9-41EC-99A6-E9AB267407B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25946" y="552995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35" descr="Terminal">
                <a:extLst>
                  <a:ext uri="{FF2B5EF4-FFF2-40B4-BE49-F238E27FC236}">
                    <a16:creationId xmlns:a16="http://schemas.microsoft.com/office/drawing/2014/main" id="{65D2B861-554A-4D84-B768-2F3C944705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78093" y="55553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35" descr="Terminal">
                <a:extLst>
                  <a:ext uri="{FF2B5EF4-FFF2-40B4-BE49-F238E27FC236}">
                    <a16:creationId xmlns:a16="http://schemas.microsoft.com/office/drawing/2014/main" id="{C5EE6E5E-3E83-4D28-8C06-2E534E81A4E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73461" y="55553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文本框 18">
                <a:extLst>
                  <a:ext uri="{FF2B5EF4-FFF2-40B4-BE49-F238E27FC236}">
                    <a16:creationId xmlns:a16="http://schemas.microsoft.com/office/drawing/2014/main" id="{EB5FB4C4-CCA1-4200-993B-D03256581979}"/>
                  </a:ext>
                </a:extLst>
              </p:cNvPr>
              <p:cNvSpPr txBox="1"/>
              <p:nvPr/>
            </p:nvSpPr>
            <p:spPr>
              <a:xfrm>
                <a:off x="5226639" y="5541560"/>
                <a:ext cx="372218" cy="369332"/>
              </a:xfrm>
              <a:prstGeom prst="rect">
                <a:avLst/>
              </a:prstGeom>
              <a:noFill/>
            </p:spPr>
            <p:txBody>
              <a:bodyPr wrap="none" rtlCol="0">
                <a:spAutoFit/>
              </a:bodyPr>
              <a:lstStyle/>
              <a:p>
                <a:r>
                  <a:rPr lang="en-US" altLang="zh-CN" b="1" dirty="0"/>
                  <a:t>…</a:t>
                </a:r>
                <a:endParaRPr lang="zh-CN" altLang="en-US" b="1" dirty="0"/>
              </a:p>
            </p:txBody>
          </p:sp>
        </p:grpSp>
        <p:cxnSp>
          <p:nvCxnSpPr>
            <p:cNvPr id="20" name="连接符: 肘形 19">
              <a:extLst>
                <a:ext uri="{FF2B5EF4-FFF2-40B4-BE49-F238E27FC236}">
                  <a16:creationId xmlns:a16="http://schemas.microsoft.com/office/drawing/2014/main" id="{37512E7C-6DB1-4460-A011-E28E71A98F2E}"/>
                </a:ext>
              </a:extLst>
            </p:cNvPr>
            <p:cNvCxnSpPr>
              <a:cxnSpLocks/>
            </p:cNvCxnSpPr>
            <p:nvPr/>
          </p:nvCxnSpPr>
          <p:spPr>
            <a:xfrm rot="16200000" flipH="1">
              <a:off x="5625105" y="4433841"/>
              <a:ext cx="1274680" cy="120946"/>
            </a:xfrm>
            <a:prstGeom prst="bentConnector3">
              <a:avLst>
                <a:gd name="adj1" fmla="val -1334"/>
              </a:avLst>
            </a:prstGeom>
            <a:ln>
              <a:solidFill>
                <a:srgbClr val="C00000"/>
              </a:solidFill>
            </a:ln>
          </p:spPr>
          <p:style>
            <a:lnRef idx="3">
              <a:schemeClr val="accent6"/>
            </a:lnRef>
            <a:fillRef idx="0">
              <a:schemeClr val="accent6"/>
            </a:fillRef>
            <a:effectRef idx="2">
              <a:schemeClr val="accent6"/>
            </a:effectRef>
            <a:fontRef idx="minor">
              <a:schemeClr val="tx1"/>
            </a:fontRef>
          </p:style>
        </p:cxnSp>
        <p:sp>
          <p:nvSpPr>
            <p:cNvPr id="22" name="文本框 21">
              <a:extLst>
                <a:ext uri="{FF2B5EF4-FFF2-40B4-BE49-F238E27FC236}">
                  <a16:creationId xmlns:a16="http://schemas.microsoft.com/office/drawing/2014/main" id="{1BF93509-E0DA-462F-99F2-31381BA3E98F}"/>
                </a:ext>
              </a:extLst>
            </p:cNvPr>
            <p:cNvSpPr txBox="1"/>
            <p:nvPr/>
          </p:nvSpPr>
          <p:spPr>
            <a:xfrm>
              <a:off x="4063643" y="2966563"/>
              <a:ext cx="1612308"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sp>
          <p:nvSpPr>
            <p:cNvPr id="23" name="文本框 22">
              <a:extLst>
                <a:ext uri="{FF2B5EF4-FFF2-40B4-BE49-F238E27FC236}">
                  <a16:creationId xmlns:a16="http://schemas.microsoft.com/office/drawing/2014/main" id="{5135C2EE-C5F3-43F5-AD0D-0B37B7F1C624}"/>
                </a:ext>
              </a:extLst>
            </p:cNvPr>
            <p:cNvSpPr txBox="1"/>
            <p:nvPr/>
          </p:nvSpPr>
          <p:spPr>
            <a:xfrm>
              <a:off x="7307172" y="2966563"/>
              <a:ext cx="1483189" cy="523220"/>
            </a:xfrm>
            <a:prstGeom prst="rect">
              <a:avLst/>
            </a:prstGeom>
            <a:noFill/>
          </p:spPr>
          <p:txBody>
            <a:bodyPr wrap="square" rtlCol="0">
              <a:spAutoFit/>
            </a:bodyPr>
            <a:lstStyle>
              <a:defPPr>
                <a:defRPr lang="zh-CN"/>
              </a:defPPr>
              <a:lvl3pPr marL="0" lvl="2">
                <a:spcBef>
                  <a:spcPts val="0"/>
                </a:spcBef>
                <a:defRPr kumimoji="1" sz="1400">
                  <a:solidFill>
                    <a:srgbClr val="C00000"/>
                  </a:solidFill>
                  <a:latin typeface="Microsoft YaHei" panose="020B0503020204020204" pitchFamily="34" charset="-122"/>
                  <a:ea typeface="Microsoft YaHei" panose="020B0503020204020204" pitchFamily="34" charset="-122"/>
                </a:defRPr>
              </a:lvl3pPr>
            </a:lstStyle>
            <a:p>
              <a:pPr lvl="2" algn="ctr"/>
              <a:r>
                <a:rPr lang="en-US" altLang="zh-CN" dirty="0">
                  <a:solidFill>
                    <a:srgbClr val="7030A0"/>
                  </a:solidFill>
                </a:rPr>
                <a:t>VLAN 200</a:t>
              </a:r>
            </a:p>
            <a:p>
              <a:pPr lvl="2" algn="ctr"/>
              <a:r>
                <a:rPr lang="en-US" altLang="zh-CN" dirty="0">
                  <a:solidFill>
                    <a:srgbClr val="7030A0"/>
                  </a:solidFill>
                </a:rPr>
                <a:t>192.168.2.0/24</a:t>
              </a:r>
              <a:endParaRPr lang="zh-CN" altLang="en-US" dirty="0">
                <a:solidFill>
                  <a:srgbClr val="7030A0"/>
                </a:solidFill>
              </a:endParaRPr>
            </a:p>
          </p:txBody>
        </p:sp>
        <p:grpSp>
          <p:nvGrpSpPr>
            <p:cNvPr id="24" name="组合 23">
              <a:extLst>
                <a:ext uri="{FF2B5EF4-FFF2-40B4-BE49-F238E27FC236}">
                  <a16:creationId xmlns:a16="http://schemas.microsoft.com/office/drawing/2014/main" id="{94F702A0-C017-453D-B9FD-AEF012E48C81}"/>
                </a:ext>
              </a:extLst>
            </p:cNvPr>
            <p:cNvGrpSpPr/>
            <p:nvPr/>
          </p:nvGrpSpPr>
          <p:grpSpPr>
            <a:xfrm>
              <a:off x="7307171" y="5581735"/>
              <a:ext cx="2653815" cy="599353"/>
              <a:chOff x="10202957" y="5621843"/>
              <a:chExt cx="2653815" cy="599353"/>
            </a:xfrm>
          </p:grpSpPr>
          <p:sp>
            <p:nvSpPr>
              <p:cNvPr id="25" name="对话气泡: 圆角矩形 24">
                <a:extLst>
                  <a:ext uri="{FF2B5EF4-FFF2-40B4-BE49-F238E27FC236}">
                    <a16:creationId xmlns:a16="http://schemas.microsoft.com/office/drawing/2014/main" id="{E3525F7C-44EA-4B34-9A13-8B2F5E7D077A}"/>
                  </a:ext>
                </a:extLst>
              </p:cNvPr>
              <p:cNvSpPr/>
              <p:nvPr/>
            </p:nvSpPr>
            <p:spPr>
              <a:xfrm>
                <a:off x="10216834" y="5621843"/>
                <a:ext cx="2463294" cy="599353"/>
              </a:xfrm>
              <a:prstGeom prst="wedgeRoundRectCallout">
                <a:avLst>
                  <a:gd name="adj1" fmla="val -82025"/>
                  <a:gd name="adj2" fmla="val -71455"/>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52C2A9B7-9651-4014-B366-8AF797ACDC30}"/>
                  </a:ext>
                </a:extLst>
              </p:cNvPr>
              <p:cNvSpPr txBox="1"/>
              <p:nvPr/>
            </p:nvSpPr>
            <p:spPr>
              <a:xfrm>
                <a:off x="10202957" y="5697976"/>
                <a:ext cx="2653815" cy="523220"/>
              </a:xfrm>
              <a:prstGeom prst="rect">
                <a:avLst/>
              </a:prstGeom>
              <a:noFill/>
            </p:spPr>
            <p:txBody>
              <a:bodyPr wrap="square" rtlCol="0">
                <a:spAutoFit/>
              </a:bodyPr>
              <a:lstStyle/>
              <a:p>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192.168.1.1/24</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配置在接口</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0</a:t>
                </a:r>
              </a:p>
              <a:p>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192.168.2.1/24</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配置在接口</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a:t>
                </a:r>
              </a:p>
            </p:txBody>
          </p:sp>
        </p:grpSp>
        <p:grpSp>
          <p:nvGrpSpPr>
            <p:cNvPr id="27" name="组合 26">
              <a:extLst>
                <a:ext uri="{FF2B5EF4-FFF2-40B4-BE49-F238E27FC236}">
                  <a16:creationId xmlns:a16="http://schemas.microsoft.com/office/drawing/2014/main" id="{37330D56-ED15-4283-B069-986C5FF99128}"/>
                </a:ext>
              </a:extLst>
            </p:cNvPr>
            <p:cNvGrpSpPr/>
            <p:nvPr/>
          </p:nvGrpSpPr>
          <p:grpSpPr>
            <a:xfrm>
              <a:off x="2508346" y="4512183"/>
              <a:ext cx="1917604" cy="590528"/>
              <a:chOff x="8881698" y="4635126"/>
              <a:chExt cx="1688045" cy="590528"/>
            </a:xfrm>
          </p:grpSpPr>
          <p:sp>
            <p:nvSpPr>
              <p:cNvPr id="28" name="对话气泡: 圆角矩形 27">
                <a:extLst>
                  <a:ext uri="{FF2B5EF4-FFF2-40B4-BE49-F238E27FC236}">
                    <a16:creationId xmlns:a16="http://schemas.microsoft.com/office/drawing/2014/main" id="{9EF09288-825F-46F1-B4A1-F5F6547DD2D1}"/>
                  </a:ext>
                </a:extLst>
              </p:cNvPr>
              <p:cNvSpPr/>
              <p:nvPr/>
            </p:nvSpPr>
            <p:spPr>
              <a:xfrm>
                <a:off x="8881698" y="4635126"/>
                <a:ext cx="1590018" cy="590052"/>
              </a:xfrm>
              <a:prstGeom prst="wedgeRoundRectCallout">
                <a:avLst>
                  <a:gd name="adj1" fmla="val 72400"/>
                  <a:gd name="adj2" fmla="val -148857"/>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9" name="文本框 28">
                <a:extLst>
                  <a:ext uri="{FF2B5EF4-FFF2-40B4-BE49-F238E27FC236}">
                    <a16:creationId xmlns:a16="http://schemas.microsoft.com/office/drawing/2014/main" id="{CE63E6B7-D006-44D2-ACD1-7295BFB47F9B}"/>
                  </a:ext>
                </a:extLst>
              </p:cNvPr>
              <p:cNvSpPr txBox="1"/>
              <p:nvPr/>
            </p:nvSpPr>
            <p:spPr>
              <a:xfrm>
                <a:off x="8881698" y="4702434"/>
                <a:ext cx="1688045" cy="523220"/>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间接交付通信使用默认网关</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a:t>
                </a:r>
              </a:p>
            </p:txBody>
          </p:sp>
        </p:grpSp>
      </p:grpSp>
      <p:sp>
        <p:nvSpPr>
          <p:cNvPr id="31" name="对话气泡: 圆角矩形 30">
            <a:extLst>
              <a:ext uri="{FF2B5EF4-FFF2-40B4-BE49-F238E27FC236}">
                <a16:creationId xmlns:a16="http://schemas.microsoft.com/office/drawing/2014/main" id="{8B18293C-A429-4BB3-95B0-B6E880BDBB53}"/>
              </a:ext>
            </a:extLst>
          </p:cNvPr>
          <p:cNvSpPr/>
          <p:nvPr/>
        </p:nvSpPr>
        <p:spPr>
          <a:xfrm>
            <a:off x="8159517" y="4478470"/>
            <a:ext cx="1924396" cy="592013"/>
          </a:xfrm>
          <a:prstGeom prst="wedgeRoundRectCallout">
            <a:avLst>
              <a:gd name="adj1" fmla="val -85991"/>
              <a:gd name="adj2" fmla="val -150654"/>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文本框 31">
            <a:extLst>
              <a:ext uri="{FF2B5EF4-FFF2-40B4-BE49-F238E27FC236}">
                <a16:creationId xmlns:a16="http://schemas.microsoft.com/office/drawing/2014/main" id="{BB0CAC6E-FBCE-402C-8B86-8B82A39CE595}"/>
              </a:ext>
            </a:extLst>
          </p:cNvPr>
          <p:cNvSpPr txBox="1"/>
          <p:nvPr/>
        </p:nvSpPr>
        <p:spPr>
          <a:xfrm>
            <a:off x="8217242" y="4547264"/>
            <a:ext cx="1808947" cy="523220"/>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间接交付通信使用默认网关</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192.168.2.1</a:t>
            </a:r>
          </a:p>
        </p:txBody>
      </p:sp>
      <p:cxnSp>
        <p:nvCxnSpPr>
          <p:cNvPr id="39" name="连接符: 肘形 38">
            <a:extLst>
              <a:ext uri="{FF2B5EF4-FFF2-40B4-BE49-F238E27FC236}">
                <a16:creationId xmlns:a16="http://schemas.microsoft.com/office/drawing/2014/main" id="{20C926DA-0694-4AD9-8B1D-E667A1960B2D}"/>
              </a:ext>
            </a:extLst>
          </p:cNvPr>
          <p:cNvCxnSpPr>
            <a:cxnSpLocks/>
          </p:cNvCxnSpPr>
          <p:nvPr/>
        </p:nvCxnSpPr>
        <p:spPr>
          <a:xfrm rot="5400000">
            <a:off x="5273283" y="4341015"/>
            <a:ext cx="1274681" cy="122400"/>
          </a:xfrm>
          <a:prstGeom prst="bentConnector3">
            <a:avLst>
              <a:gd name="adj1" fmla="val 1089"/>
            </a:avLst>
          </a:prstGeom>
          <a:ln>
            <a:solidFill>
              <a:srgbClr val="7030A0"/>
            </a:solidFill>
          </a:ln>
        </p:spPr>
        <p:style>
          <a:lnRef idx="3">
            <a:schemeClr val="accent6"/>
          </a:lnRef>
          <a:fillRef idx="0">
            <a:schemeClr val="accent6"/>
          </a:fillRef>
          <a:effectRef idx="2">
            <a:schemeClr val="accent6"/>
          </a:effectRef>
          <a:fontRef idx="minor">
            <a:schemeClr val="tx1"/>
          </a:fontRef>
        </p:style>
      </p:cxnSp>
      <p:sp>
        <p:nvSpPr>
          <p:cNvPr id="21" name="日期占位符 20">
            <a:extLst>
              <a:ext uri="{FF2B5EF4-FFF2-40B4-BE49-F238E27FC236}">
                <a16:creationId xmlns:a16="http://schemas.microsoft.com/office/drawing/2014/main" id="{5AF39DFB-F652-4107-8763-69DE7BC4FDF9}"/>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223870729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D5ABF7A-EA34-4A89-A54D-2C1D86FEBEB6}"/>
              </a:ext>
            </a:extLst>
          </p:cNvPr>
          <p:cNvSpPr>
            <a:spLocks noGrp="1"/>
          </p:cNvSpPr>
          <p:nvPr>
            <p:ph type="title"/>
          </p:nvPr>
        </p:nvSpPr>
        <p:spPr/>
        <p:txBody>
          <a:bodyPr/>
          <a:lstStyle/>
          <a:p>
            <a:r>
              <a:rPr kumimoji="1" lang="zh-CN" altLang="en-US" dirty="0"/>
              <a:t>三层交换的技术背景</a:t>
            </a:r>
            <a:endParaRPr lang="zh-CN" altLang="en-US" dirty="0"/>
          </a:p>
        </p:txBody>
      </p:sp>
      <p:sp>
        <p:nvSpPr>
          <p:cNvPr id="3" name="内容占位符 2">
            <a:extLst>
              <a:ext uri="{FF2B5EF4-FFF2-40B4-BE49-F238E27FC236}">
                <a16:creationId xmlns:a16="http://schemas.microsoft.com/office/drawing/2014/main" id="{F1B1C611-94F8-4C69-BCA4-80AF20CAF75E}"/>
              </a:ext>
            </a:extLst>
          </p:cNvPr>
          <p:cNvSpPr>
            <a:spLocks noGrp="1"/>
          </p:cNvSpPr>
          <p:nvPr>
            <p:ph idx="1"/>
          </p:nvPr>
        </p:nvSpPr>
        <p:spPr>
          <a:xfrm>
            <a:off x="838200" y="1510758"/>
            <a:ext cx="4286394" cy="4586694"/>
          </a:xfrm>
        </p:spPr>
        <p:txBody>
          <a:bodyPr/>
          <a:lstStyle/>
          <a:p>
            <a:pPr algn="just"/>
            <a:r>
              <a:rPr lang="zh-CN" altLang="en-US" dirty="0"/>
              <a:t>路由器的局限性</a:t>
            </a:r>
            <a:endParaRPr lang="en-US" altLang="zh-CN" dirty="0"/>
          </a:p>
          <a:p>
            <a:pPr marL="706437" lvl="1" indent="-342900" algn="just"/>
            <a:r>
              <a:rPr lang="zh-CN" altLang="en-US" sz="2000" dirty="0"/>
              <a:t>单臂路由技术通过在路由器的一个物理接口上通过配置逻辑子接口（不存在物理接口）的方式，实现原来相互隔离的不同</a:t>
            </a:r>
            <a:r>
              <a:rPr lang="en-US" altLang="zh-CN" sz="2000" dirty="0"/>
              <a:t>VLAN</a:t>
            </a:r>
            <a:r>
              <a:rPr lang="zh-CN" altLang="en-US" sz="2000" dirty="0"/>
              <a:t>之间的互联互通</a:t>
            </a:r>
            <a:endParaRPr lang="en-US" altLang="zh-CN" sz="2000" dirty="0"/>
          </a:p>
          <a:p>
            <a:pPr marL="706437" lvl="1" indent="-342900" algn="just"/>
            <a:r>
              <a:rPr lang="zh-CN" altLang="en-US" sz="2000" dirty="0"/>
              <a:t>单臂路由（</a:t>
            </a:r>
            <a:r>
              <a:rPr lang="en-US" altLang="zh-CN" sz="2000" dirty="0"/>
              <a:t>router-on-a-stick</a:t>
            </a:r>
            <a:r>
              <a:rPr lang="zh-CN" altLang="en-US" sz="2000" dirty="0"/>
              <a:t>）虽然简化物理拓扑但不能应对流量瓶颈</a:t>
            </a:r>
            <a:endParaRPr lang="en-US" altLang="zh-CN" sz="2000" dirty="0"/>
          </a:p>
        </p:txBody>
      </p:sp>
      <p:sp>
        <p:nvSpPr>
          <p:cNvPr id="4" name="灯片编号占位符 3">
            <a:extLst>
              <a:ext uri="{FF2B5EF4-FFF2-40B4-BE49-F238E27FC236}">
                <a16:creationId xmlns:a16="http://schemas.microsoft.com/office/drawing/2014/main" id="{3EA0DB22-346D-42D0-B146-3F0A6ED798DC}"/>
              </a:ext>
            </a:extLst>
          </p:cNvPr>
          <p:cNvSpPr>
            <a:spLocks noGrp="1"/>
          </p:cNvSpPr>
          <p:nvPr>
            <p:ph type="sldNum" sz="quarter" idx="12"/>
          </p:nvPr>
        </p:nvSpPr>
        <p:spPr/>
        <p:txBody>
          <a:bodyPr/>
          <a:lstStyle/>
          <a:p>
            <a:fld id="{8D4D1E41-7A09-AB4A-A4E1-09765ADA2698}" type="slidenum">
              <a:rPr kumimoji="1" lang="zh-CN" altLang="en-US" smtClean="0"/>
              <a:t>238</a:t>
            </a:fld>
            <a:endParaRPr kumimoji="1" lang="zh-CN" altLang="en-US" dirty="0"/>
          </a:p>
        </p:txBody>
      </p:sp>
      <p:pic>
        <p:nvPicPr>
          <p:cNvPr id="7" name="Picture 30" descr="通用路由器">
            <a:extLst>
              <a:ext uri="{FF2B5EF4-FFF2-40B4-BE49-F238E27FC236}">
                <a16:creationId xmlns:a16="http://schemas.microsoft.com/office/drawing/2014/main" id="{C08D853F-39CF-40D6-AAE8-F6A0593D34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83389" y="5684241"/>
            <a:ext cx="687559" cy="337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5" descr="通用交换机">
            <a:extLst>
              <a:ext uri="{FF2B5EF4-FFF2-40B4-BE49-F238E27FC236}">
                <a16:creationId xmlns:a16="http://schemas.microsoft.com/office/drawing/2014/main" id="{4C4F630C-278C-41C6-9467-93CA20E881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50836" y="4166994"/>
            <a:ext cx="729452" cy="530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椭圆 4">
            <a:extLst>
              <a:ext uri="{FF2B5EF4-FFF2-40B4-BE49-F238E27FC236}">
                <a16:creationId xmlns:a16="http://schemas.microsoft.com/office/drawing/2014/main" id="{3F67E60F-44FD-4A36-8791-0DD820A6E933}"/>
              </a:ext>
            </a:extLst>
          </p:cNvPr>
          <p:cNvSpPr/>
          <p:nvPr/>
        </p:nvSpPr>
        <p:spPr>
          <a:xfrm>
            <a:off x="7955383" y="3999166"/>
            <a:ext cx="2681098" cy="1268646"/>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id="{554B75AE-9E4B-4614-A66E-EAD707D20775}"/>
              </a:ext>
            </a:extLst>
          </p:cNvPr>
          <p:cNvGrpSpPr/>
          <p:nvPr/>
        </p:nvGrpSpPr>
        <p:grpSpPr>
          <a:xfrm>
            <a:off x="8755769" y="4695679"/>
            <a:ext cx="1183583" cy="380941"/>
            <a:chOff x="4647761" y="5488796"/>
            <a:chExt cx="1183583" cy="380941"/>
          </a:xfrm>
        </p:grpSpPr>
        <p:pic>
          <p:nvPicPr>
            <p:cNvPr id="16" name="Picture 35" descr="Terminal">
              <a:extLst>
                <a:ext uri="{FF2B5EF4-FFF2-40B4-BE49-F238E27FC236}">
                  <a16:creationId xmlns:a16="http://schemas.microsoft.com/office/drawing/2014/main" id="{6D39C244-78B9-41EC-99A6-E9AB267407B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8879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35" descr="Terminal">
              <a:extLst>
                <a:ext uri="{FF2B5EF4-FFF2-40B4-BE49-F238E27FC236}">
                  <a16:creationId xmlns:a16="http://schemas.microsoft.com/office/drawing/2014/main" id="{65D2B861-554A-4D84-B768-2F3C944705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35" descr="Terminal">
              <a:extLst>
                <a:ext uri="{FF2B5EF4-FFF2-40B4-BE49-F238E27FC236}">
                  <a16:creationId xmlns:a16="http://schemas.microsoft.com/office/drawing/2014/main" id="{C5EE6E5E-3E83-4D28-8C06-2E534E81A4E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文本框 18">
              <a:extLst>
                <a:ext uri="{FF2B5EF4-FFF2-40B4-BE49-F238E27FC236}">
                  <a16:creationId xmlns:a16="http://schemas.microsoft.com/office/drawing/2014/main" id="{EB5FB4C4-CCA1-4200-993B-D03256581979}"/>
                </a:ext>
              </a:extLst>
            </p:cNvPr>
            <p:cNvSpPr txBox="1"/>
            <p:nvPr/>
          </p:nvSpPr>
          <p:spPr>
            <a:xfrm>
              <a:off x="5251730" y="5500405"/>
              <a:ext cx="372218" cy="369332"/>
            </a:xfrm>
            <a:prstGeom prst="rect">
              <a:avLst/>
            </a:prstGeom>
            <a:noFill/>
          </p:spPr>
          <p:txBody>
            <a:bodyPr wrap="none" rtlCol="0">
              <a:spAutoFit/>
            </a:bodyPr>
            <a:lstStyle/>
            <a:p>
              <a:r>
                <a:rPr lang="en-US" altLang="zh-CN" b="1" dirty="0"/>
                <a:t>…</a:t>
              </a:r>
              <a:endParaRPr lang="zh-CN" altLang="en-US" b="1" dirty="0"/>
            </a:p>
          </p:txBody>
        </p:sp>
      </p:grpSp>
      <p:sp>
        <p:nvSpPr>
          <p:cNvPr id="23" name="文本框 22">
            <a:extLst>
              <a:ext uri="{FF2B5EF4-FFF2-40B4-BE49-F238E27FC236}">
                <a16:creationId xmlns:a16="http://schemas.microsoft.com/office/drawing/2014/main" id="{5135C2EE-C5F3-43F5-AD0D-0B37B7F1C624}"/>
              </a:ext>
            </a:extLst>
          </p:cNvPr>
          <p:cNvSpPr txBox="1"/>
          <p:nvPr/>
        </p:nvSpPr>
        <p:spPr>
          <a:xfrm>
            <a:off x="8545369" y="4061261"/>
            <a:ext cx="1449436" cy="523220"/>
          </a:xfrm>
          <a:prstGeom prst="rect">
            <a:avLst/>
          </a:prstGeom>
          <a:noFill/>
        </p:spPr>
        <p:txBody>
          <a:bodyPr wrap="none" rtlCol="0">
            <a:spAutoFit/>
          </a:bodyPr>
          <a:lstStyle/>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VLAN</a:t>
            </a:r>
            <a:r>
              <a:rPr lang="en-US" altLang="zh-CN" sz="1400" dirty="0">
                <a:solidFill>
                  <a:srgbClr val="7030A0"/>
                </a:solidFill>
                <a:latin typeface="微软雅黑" panose="020B0503020204020204" pitchFamily="34" charset="-122"/>
                <a:ea typeface="微软雅黑" panose="020B0503020204020204" pitchFamily="34" charset="-122"/>
              </a:rPr>
              <a:t> </a:t>
            </a:r>
            <a:r>
              <a:rPr kumimoji="1" lang="en-US" altLang="zh-CN" sz="1400" dirty="0">
                <a:solidFill>
                  <a:srgbClr val="7030A0"/>
                </a:solidFill>
                <a:latin typeface="Microsoft YaHei" panose="020B0503020204020204" pitchFamily="34" charset="-122"/>
                <a:ea typeface="Microsoft YaHei" panose="020B0503020204020204" pitchFamily="34" charset="-122"/>
              </a:rPr>
              <a:t>200</a:t>
            </a:r>
          </a:p>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192.168.2.0/24</a:t>
            </a:r>
            <a:endParaRPr kumimoji="1" lang="zh-CN" altLang="en-US" sz="1400" dirty="0">
              <a:solidFill>
                <a:srgbClr val="7030A0"/>
              </a:solidFill>
              <a:latin typeface="Microsoft YaHei" panose="020B0503020204020204" pitchFamily="34" charset="-122"/>
              <a:ea typeface="Microsoft YaHei" panose="020B0503020204020204" pitchFamily="34" charset="-122"/>
            </a:endParaRPr>
          </a:p>
        </p:txBody>
      </p:sp>
      <p:grpSp>
        <p:nvGrpSpPr>
          <p:cNvPr id="24" name="组合 23">
            <a:extLst>
              <a:ext uri="{FF2B5EF4-FFF2-40B4-BE49-F238E27FC236}">
                <a16:creationId xmlns:a16="http://schemas.microsoft.com/office/drawing/2014/main" id="{94F702A0-C017-453D-B9FD-AEF012E48C81}"/>
              </a:ext>
            </a:extLst>
          </p:cNvPr>
          <p:cNvGrpSpPr/>
          <p:nvPr/>
        </p:nvGrpSpPr>
        <p:grpSpPr>
          <a:xfrm>
            <a:off x="8964198" y="5419609"/>
            <a:ext cx="2431220" cy="1204634"/>
            <a:chOff x="10291476" y="4865015"/>
            <a:chExt cx="2851818" cy="1885731"/>
          </a:xfrm>
        </p:grpSpPr>
        <p:sp>
          <p:nvSpPr>
            <p:cNvPr id="25" name="对话气泡: 圆角矩形 24">
              <a:extLst>
                <a:ext uri="{FF2B5EF4-FFF2-40B4-BE49-F238E27FC236}">
                  <a16:creationId xmlns:a16="http://schemas.microsoft.com/office/drawing/2014/main" id="{E3525F7C-44EA-4B34-9A13-8B2F5E7D077A}"/>
                </a:ext>
              </a:extLst>
            </p:cNvPr>
            <p:cNvSpPr/>
            <p:nvPr/>
          </p:nvSpPr>
          <p:spPr>
            <a:xfrm>
              <a:off x="10291476" y="4865015"/>
              <a:ext cx="2851818" cy="1885731"/>
            </a:xfrm>
            <a:prstGeom prst="wedgeRoundRectCallout">
              <a:avLst>
                <a:gd name="adj1" fmla="val -87454"/>
                <a:gd name="adj2" fmla="val -15970"/>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6" name="文本框 25">
              <a:extLst>
                <a:ext uri="{FF2B5EF4-FFF2-40B4-BE49-F238E27FC236}">
                  <a16:creationId xmlns:a16="http://schemas.microsoft.com/office/drawing/2014/main" id="{52C2A9B7-9651-4014-B366-8AF797ACDC30}"/>
                </a:ext>
              </a:extLst>
            </p:cNvPr>
            <p:cNvSpPr txBox="1"/>
            <p:nvPr/>
          </p:nvSpPr>
          <p:spPr>
            <a:xfrm>
              <a:off x="10398201" y="4919934"/>
              <a:ext cx="2653931" cy="1830812"/>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设置物理接口为</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trunk</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模式</a:t>
              </a:r>
              <a:endParaRPr lang="en-US" altLang="zh-CN" sz="1400" dirty="0">
                <a:solidFill>
                  <a:schemeClr val="accent1">
                    <a:lumMod val="75000"/>
                  </a:schemeClr>
                </a:solidFill>
                <a:latin typeface="微软雅黑" panose="020B0503020204020204" pitchFamily="34" charset="-122"/>
                <a:ea typeface="微软雅黑" panose="020B0503020204020204" pitchFamily="34" charset="-122"/>
              </a:endParaRPr>
            </a:p>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还需要设置</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3</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个逻辑子接口：</a:t>
              </a:r>
              <a:endParaRPr lang="en-US" altLang="zh-CN" sz="1400" dirty="0">
                <a:solidFill>
                  <a:schemeClr val="accent1">
                    <a:lumMod val="75000"/>
                  </a:schemeClr>
                </a:solidFill>
                <a:latin typeface="微软雅黑" panose="020B0503020204020204" pitchFamily="34" charset="-122"/>
                <a:ea typeface="微软雅黑" panose="020B0503020204020204" pitchFamily="34" charset="-122"/>
              </a:endParaRPr>
            </a:p>
            <a:p>
              <a:pPr algn="ct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a:t>
              </a:r>
            </a:p>
            <a:p>
              <a:pPr algn="ct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192.168.2.1</a:t>
              </a:r>
            </a:p>
            <a:p>
              <a:pPr algn="ct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192.168.3.1</a:t>
              </a:r>
            </a:p>
          </p:txBody>
        </p:sp>
      </p:grpSp>
      <p:sp>
        <p:nvSpPr>
          <p:cNvPr id="6" name="椭圆 5">
            <a:extLst>
              <a:ext uri="{FF2B5EF4-FFF2-40B4-BE49-F238E27FC236}">
                <a16:creationId xmlns:a16="http://schemas.microsoft.com/office/drawing/2014/main" id="{867FEB48-B64A-43FF-80D3-91B94FD26D72}"/>
              </a:ext>
            </a:extLst>
          </p:cNvPr>
          <p:cNvSpPr/>
          <p:nvPr/>
        </p:nvSpPr>
        <p:spPr>
          <a:xfrm>
            <a:off x="4937856" y="3999167"/>
            <a:ext cx="2519012" cy="1268646"/>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a:extLst>
              <a:ext uri="{FF2B5EF4-FFF2-40B4-BE49-F238E27FC236}">
                <a16:creationId xmlns:a16="http://schemas.microsoft.com/office/drawing/2014/main" id="{60CB4F7E-102F-4F93-A0EA-553A66E251BF}"/>
              </a:ext>
            </a:extLst>
          </p:cNvPr>
          <p:cNvGrpSpPr/>
          <p:nvPr/>
        </p:nvGrpSpPr>
        <p:grpSpPr>
          <a:xfrm>
            <a:off x="5589675" y="4710759"/>
            <a:ext cx="1183583" cy="380941"/>
            <a:chOff x="4647761" y="5488796"/>
            <a:chExt cx="1183583" cy="380941"/>
          </a:xfrm>
        </p:grpSpPr>
        <p:pic>
          <p:nvPicPr>
            <p:cNvPr id="11" name="Picture 35" descr="Terminal">
              <a:extLst>
                <a:ext uri="{FF2B5EF4-FFF2-40B4-BE49-F238E27FC236}">
                  <a16:creationId xmlns:a16="http://schemas.microsoft.com/office/drawing/2014/main" id="{FF36C602-A2FB-49E4-8355-B213652BDE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8879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5" descr="Terminal">
              <a:extLst>
                <a:ext uri="{FF2B5EF4-FFF2-40B4-BE49-F238E27FC236}">
                  <a16:creationId xmlns:a16="http://schemas.microsoft.com/office/drawing/2014/main" id="{292FFF6B-595F-48D7-A79F-239919145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5" descr="Terminal">
              <a:extLst>
                <a:ext uri="{FF2B5EF4-FFF2-40B4-BE49-F238E27FC236}">
                  <a16:creationId xmlns:a16="http://schemas.microsoft.com/office/drawing/2014/main" id="{0933D19E-CF40-4F9C-9F51-CA390BE947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文本框 13">
              <a:extLst>
                <a:ext uri="{FF2B5EF4-FFF2-40B4-BE49-F238E27FC236}">
                  <a16:creationId xmlns:a16="http://schemas.microsoft.com/office/drawing/2014/main" id="{6E581B68-54D8-4791-A51C-75DE0960BFD9}"/>
                </a:ext>
              </a:extLst>
            </p:cNvPr>
            <p:cNvSpPr txBox="1"/>
            <p:nvPr/>
          </p:nvSpPr>
          <p:spPr>
            <a:xfrm>
              <a:off x="5248454" y="5500405"/>
              <a:ext cx="372218" cy="369332"/>
            </a:xfrm>
            <a:prstGeom prst="rect">
              <a:avLst/>
            </a:prstGeom>
            <a:noFill/>
          </p:spPr>
          <p:txBody>
            <a:bodyPr wrap="none" rtlCol="0">
              <a:spAutoFit/>
            </a:bodyPr>
            <a:lstStyle/>
            <a:p>
              <a:r>
                <a:rPr lang="en-US" altLang="zh-CN" b="1" dirty="0"/>
                <a:t>…</a:t>
              </a:r>
              <a:endParaRPr lang="zh-CN" altLang="en-US" b="1" dirty="0"/>
            </a:p>
          </p:txBody>
        </p:sp>
      </p:grpSp>
      <p:sp>
        <p:nvSpPr>
          <p:cNvPr id="22" name="文本框 21">
            <a:extLst>
              <a:ext uri="{FF2B5EF4-FFF2-40B4-BE49-F238E27FC236}">
                <a16:creationId xmlns:a16="http://schemas.microsoft.com/office/drawing/2014/main" id="{1BF93509-E0DA-462F-99F2-31381BA3E98F}"/>
              </a:ext>
            </a:extLst>
          </p:cNvPr>
          <p:cNvSpPr txBox="1"/>
          <p:nvPr/>
        </p:nvSpPr>
        <p:spPr>
          <a:xfrm>
            <a:off x="5086664" y="4061115"/>
            <a:ext cx="2221395"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grpSp>
        <p:nvGrpSpPr>
          <p:cNvPr id="27" name="组合 26">
            <a:extLst>
              <a:ext uri="{FF2B5EF4-FFF2-40B4-BE49-F238E27FC236}">
                <a16:creationId xmlns:a16="http://schemas.microsoft.com/office/drawing/2014/main" id="{37330D56-ED15-4283-B069-986C5FF99128}"/>
              </a:ext>
            </a:extLst>
          </p:cNvPr>
          <p:cNvGrpSpPr/>
          <p:nvPr/>
        </p:nvGrpSpPr>
        <p:grpSpPr>
          <a:xfrm>
            <a:off x="3639714" y="5354539"/>
            <a:ext cx="2017767" cy="559303"/>
            <a:chOff x="9960844" y="5028812"/>
            <a:chExt cx="1888668" cy="669185"/>
          </a:xfrm>
        </p:grpSpPr>
        <p:sp>
          <p:nvSpPr>
            <p:cNvPr id="28" name="对话气泡: 圆角矩形 27">
              <a:extLst>
                <a:ext uri="{FF2B5EF4-FFF2-40B4-BE49-F238E27FC236}">
                  <a16:creationId xmlns:a16="http://schemas.microsoft.com/office/drawing/2014/main" id="{9EF09288-825F-46F1-B4A1-F5F6547DD2D1}"/>
                </a:ext>
              </a:extLst>
            </p:cNvPr>
            <p:cNvSpPr/>
            <p:nvPr/>
          </p:nvSpPr>
          <p:spPr>
            <a:xfrm>
              <a:off x="9960844" y="5028812"/>
              <a:ext cx="1765850" cy="669185"/>
            </a:xfrm>
            <a:prstGeom prst="wedgeRoundRectCallout">
              <a:avLst>
                <a:gd name="adj1" fmla="val 57758"/>
                <a:gd name="adj2" fmla="val -149837"/>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140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id="{CE63E6B7-D006-44D2-ACD1-7295BFB47F9B}"/>
                </a:ext>
              </a:extLst>
            </p:cNvPr>
            <p:cNvSpPr txBox="1"/>
            <p:nvPr/>
          </p:nvSpPr>
          <p:spPr>
            <a:xfrm>
              <a:off x="9984568" y="5098364"/>
              <a:ext cx="1864944" cy="470315"/>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间接交付通信使用默认网关</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a:t>
              </a:r>
            </a:p>
          </p:txBody>
        </p:sp>
      </p:grpSp>
      <p:sp>
        <p:nvSpPr>
          <p:cNvPr id="32" name="圆柱体 31">
            <a:extLst>
              <a:ext uri="{FF2B5EF4-FFF2-40B4-BE49-F238E27FC236}">
                <a16:creationId xmlns:a16="http://schemas.microsoft.com/office/drawing/2014/main" id="{F91CDDA5-9B81-46EC-BFCA-68E736667FBE}"/>
              </a:ext>
            </a:extLst>
          </p:cNvPr>
          <p:cNvSpPr/>
          <p:nvPr/>
        </p:nvSpPr>
        <p:spPr>
          <a:xfrm rot="10800000">
            <a:off x="7529963" y="4667179"/>
            <a:ext cx="395177" cy="1025726"/>
          </a:xfrm>
          <a:prstGeom prst="can">
            <a:avLst>
              <a:gd name="adj" fmla="val 54944"/>
            </a:avLst>
          </a:prstGeom>
          <a:noFill/>
          <a:ln w="190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4" name="直接连接符 33">
            <a:extLst>
              <a:ext uri="{FF2B5EF4-FFF2-40B4-BE49-F238E27FC236}">
                <a16:creationId xmlns:a16="http://schemas.microsoft.com/office/drawing/2014/main" id="{2F560152-8BD2-41B9-8617-CFBCF31F5A50}"/>
              </a:ext>
            </a:extLst>
          </p:cNvPr>
          <p:cNvCxnSpPr/>
          <p:nvPr/>
        </p:nvCxnSpPr>
        <p:spPr>
          <a:xfrm>
            <a:off x="7724251" y="4676704"/>
            <a:ext cx="0" cy="1008000"/>
          </a:xfrm>
          <a:prstGeom prst="line">
            <a:avLst/>
          </a:prstGeom>
          <a:ln w="28575"/>
        </p:spPr>
        <p:style>
          <a:lnRef idx="1">
            <a:schemeClr val="accent5"/>
          </a:lnRef>
          <a:fillRef idx="0">
            <a:schemeClr val="accent5"/>
          </a:fillRef>
          <a:effectRef idx="0">
            <a:schemeClr val="accent5"/>
          </a:effectRef>
          <a:fontRef idx="minor">
            <a:schemeClr val="tx1"/>
          </a:fontRef>
        </p:style>
      </p:cxnSp>
      <p:cxnSp>
        <p:nvCxnSpPr>
          <p:cNvPr id="35" name="直接连接符 34">
            <a:extLst>
              <a:ext uri="{FF2B5EF4-FFF2-40B4-BE49-F238E27FC236}">
                <a16:creationId xmlns:a16="http://schemas.microsoft.com/office/drawing/2014/main" id="{D8EAC268-D65C-4000-A1CC-D92EFD217A22}"/>
              </a:ext>
            </a:extLst>
          </p:cNvPr>
          <p:cNvCxnSpPr/>
          <p:nvPr/>
        </p:nvCxnSpPr>
        <p:spPr>
          <a:xfrm>
            <a:off x="7616675" y="4685837"/>
            <a:ext cx="0" cy="982670"/>
          </a:xfrm>
          <a:prstGeom prst="line">
            <a:avLst/>
          </a:prstGeom>
          <a:ln w="28575">
            <a:solidFill>
              <a:srgbClr val="C00000"/>
            </a:solidFill>
          </a:ln>
        </p:spPr>
        <p:style>
          <a:lnRef idx="1">
            <a:schemeClr val="accent5"/>
          </a:lnRef>
          <a:fillRef idx="0">
            <a:schemeClr val="accent5"/>
          </a:fillRef>
          <a:effectRef idx="0">
            <a:schemeClr val="accent5"/>
          </a:effectRef>
          <a:fontRef idx="minor">
            <a:schemeClr val="tx1"/>
          </a:fontRef>
        </p:style>
      </p:cxnSp>
      <p:cxnSp>
        <p:nvCxnSpPr>
          <p:cNvPr id="36" name="直接连接符 35">
            <a:extLst>
              <a:ext uri="{FF2B5EF4-FFF2-40B4-BE49-F238E27FC236}">
                <a16:creationId xmlns:a16="http://schemas.microsoft.com/office/drawing/2014/main" id="{93C21E21-F24B-4771-9BC2-94A8668BBAE8}"/>
              </a:ext>
            </a:extLst>
          </p:cNvPr>
          <p:cNvCxnSpPr/>
          <p:nvPr/>
        </p:nvCxnSpPr>
        <p:spPr>
          <a:xfrm>
            <a:off x="7843144" y="4679371"/>
            <a:ext cx="0" cy="982670"/>
          </a:xfrm>
          <a:prstGeom prst="line">
            <a:avLst/>
          </a:prstGeom>
          <a:ln w="28575">
            <a:solidFill>
              <a:srgbClr val="7030A0"/>
            </a:solidFill>
          </a:ln>
        </p:spPr>
        <p:style>
          <a:lnRef idx="1">
            <a:schemeClr val="accent5"/>
          </a:lnRef>
          <a:fillRef idx="0">
            <a:schemeClr val="accent5"/>
          </a:fillRef>
          <a:effectRef idx="0">
            <a:schemeClr val="accent5"/>
          </a:effectRef>
          <a:fontRef idx="minor">
            <a:schemeClr val="tx1"/>
          </a:fontRef>
        </p:style>
      </p:cxnSp>
      <p:grpSp>
        <p:nvGrpSpPr>
          <p:cNvPr id="46" name="组合 45">
            <a:extLst>
              <a:ext uri="{FF2B5EF4-FFF2-40B4-BE49-F238E27FC236}">
                <a16:creationId xmlns:a16="http://schemas.microsoft.com/office/drawing/2014/main" id="{FEDF90B4-5B17-4817-BA94-6FF5592B18B6}"/>
              </a:ext>
            </a:extLst>
          </p:cNvPr>
          <p:cNvGrpSpPr/>
          <p:nvPr/>
        </p:nvGrpSpPr>
        <p:grpSpPr>
          <a:xfrm>
            <a:off x="6424412" y="2883830"/>
            <a:ext cx="2560739" cy="1289051"/>
            <a:chOff x="7807847" y="1943183"/>
            <a:chExt cx="2309477" cy="1356427"/>
          </a:xfrm>
        </p:grpSpPr>
        <p:sp>
          <p:nvSpPr>
            <p:cNvPr id="37" name="椭圆 36">
              <a:extLst>
                <a:ext uri="{FF2B5EF4-FFF2-40B4-BE49-F238E27FC236}">
                  <a16:creationId xmlns:a16="http://schemas.microsoft.com/office/drawing/2014/main" id="{7641D2E2-1B7A-4E85-BC7B-4B82E74BB91E}"/>
                </a:ext>
              </a:extLst>
            </p:cNvPr>
            <p:cNvSpPr/>
            <p:nvPr/>
          </p:nvSpPr>
          <p:spPr>
            <a:xfrm>
              <a:off x="7807847" y="1943183"/>
              <a:ext cx="2309477" cy="1356427"/>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43" name="文本框 42">
              <a:extLst>
                <a:ext uri="{FF2B5EF4-FFF2-40B4-BE49-F238E27FC236}">
                  <a16:creationId xmlns:a16="http://schemas.microsoft.com/office/drawing/2014/main" id="{4AD6699E-94E4-497D-9BB8-1C19ADA21B66}"/>
                </a:ext>
              </a:extLst>
            </p:cNvPr>
            <p:cNvSpPr txBox="1"/>
            <p:nvPr/>
          </p:nvSpPr>
          <p:spPr>
            <a:xfrm>
              <a:off x="8072971" y="2021553"/>
              <a:ext cx="1837479" cy="550568"/>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70C0"/>
                  </a:solidFill>
                </a:rPr>
                <a:t>VLAN 300</a:t>
              </a:r>
            </a:p>
            <a:p>
              <a:pPr lvl="2" algn="ctr">
                <a:spcBef>
                  <a:spcPts val="0"/>
                </a:spcBef>
              </a:pPr>
              <a:r>
                <a:rPr lang="en-US" altLang="zh-CN" sz="1400" dirty="0">
                  <a:solidFill>
                    <a:srgbClr val="0070C0"/>
                  </a:solidFill>
                </a:rPr>
                <a:t>192.168.3.0/24</a:t>
              </a:r>
              <a:endParaRPr lang="zh-CN" altLang="en-US" sz="1400" dirty="0">
                <a:solidFill>
                  <a:srgbClr val="0070C0"/>
                </a:solidFill>
              </a:endParaRPr>
            </a:p>
          </p:txBody>
        </p:sp>
      </p:grpSp>
      <p:sp>
        <p:nvSpPr>
          <p:cNvPr id="47" name="对话气泡: 圆角矩形 46">
            <a:extLst>
              <a:ext uri="{FF2B5EF4-FFF2-40B4-BE49-F238E27FC236}">
                <a16:creationId xmlns:a16="http://schemas.microsoft.com/office/drawing/2014/main" id="{AD0DFF72-A559-494E-AF83-13545C67F9EB}"/>
              </a:ext>
            </a:extLst>
          </p:cNvPr>
          <p:cNvSpPr/>
          <p:nvPr/>
        </p:nvSpPr>
        <p:spPr>
          <a:xfrm>
            <a:off x="8098173" y="2022657"/>
            <a:ext cx="1878489" cy="549290"/>
          </a:xfrm>
          <a:prstGeom prst="wedgeRoundRectCallout">
            <a:avLst>
              <a:gd name="adj1" fmla="val -39722"/>
              <a:gd name="adj2" fmla="val 249118"/>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dirty="0"/>
          </a:p>
        </p:txBody>
      </p:sp>
      <p:sp>
        <p:nvSpPr>
          <p:cNvPr id="49" name="矩形 48">
            <a:extLst>
              <a:ext uri="{FF2B5EF4-FFF2-40B4-BE49-F238E27FC236}">
                <a16:creationId xmlns:a16="http://schemas.microsoft.com/office/drawing/2014/main" id="{47467366-B6FC-42D6-B3B8-A03DFD47CB70}"/>
              </a:ext>
            </a:extLst>
          </p:cNvPr>
          <p:cNvSpPr/>
          <p:nvPr/>
        </p:nvSpPr>
        <p:spPr>
          <a:xfrm>
            <a:off x="8162002" y="2044284"/>
            <a:ext cx="1843896" cy="520244"/>
          </a:xfrm>
          <a:prstGeom prst="rect">
            <a:avLst/>
          </a:prstGeom>
        </p:spPr>
        <p:txBody>
          <a:bodyPr wrap="square">
            <a:spAutoFit/>
          </a:bodyPr>
          <a:lstStyle/>
          <a:p>
            <a:pPr lvl="0"/>
            <a:r>
              <a:rPr lang="zh-CN" altLang="en-US" sz="1400" dirty="0">
                <a:solidFill>
                  <a:srgbClr val="4472C4">
                    <a:lumMod val="75000"/>
                  </a:srgbClr>
                </a:solidFill>
                <a:latin typeface="微软雅黑" panose="020B0503020204020204" pitchFamily="34" charset="-122"/>
                <a:ea typeface="微软雅黑" panose="020B0503020204020204" pitchFamily="34" charset="-122"/>
              </a:rPr>
              <a:t>间接交付通信使用默认网关</a:t>
            </a:r>
            <a:r>
              <a:rPr lang="en-US" altLang="zh-CN" sz="1400" dirty="0">
                <a:solidFill>
                  <a:srgbClr val="4472C4">
                    <a:lumMod val="75000"/>
                  </a:srgbClr>
                </a:solidFill>
                <a:latin typeface="微软雅黑" panose="020B0503020204020204" pitchFamily="34" charset="-122"/>
                <a:ea typeface="微软雅黑" panose="020B0503020204020204" pitchFamily="34" charset="-122"/>
              </a:rPr>
              <a:t>192.168.3.1</a:t>
            </a:r>
          </a:p>
        </p:txBody>
      </p:sp>
      <p:sp>
        <p:nvSpPr>
          <p:cNvPr id="52" name="对话气泡: 圆角矩形 51">
            <a:extLst>
              <a:ext uri="{FF2B5EF4-FFF2-40B4-BE49-F238E27FC236}">
                <a16:creationId xmlns:a16="http://schemas.microsoft.com/office/drawing/2014/main" id="{8C5A8DA6-B7BA-4D1D-B52B-0CB1CB451564}"/>
              </a:ext>
            </a:extLst>
          </p:cNvPr>
          <p:cNvSpPr/>
          <p:nvPr/>
        </p:nvSpPr>
        <p:spPr>
          <a:xfrm>
            <a:off x="10029789" y="3038561"/>
            <a:ext cx="1937472" cy="584002"/>
          </a:xfrm>
          <a:prstGeom prst="wedgeRoundRectCallout">
            <a:avLst>
              <a:gd name="adj1" fmla="val -57753"/>
              <a:gd name="adj2" fmla="val 250965"/>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DD98339F-238F-4E64-9C4F-36E0FBE5E135}"/>
              </a:ext>
            </a:extLst>
          </p:cNvPr>
          <p:cNvSpPr/>
          <p:nvPr/>
        </p:nvSpPr>
        <p:spPr>
          <a:xfrm>
            <a:off x="10144897" y="3057276"/>
            <a:ext cx="1863594" cy="523220"/>
          </a:xfrm>
          <a:prstGeom prst="rect">
            <a:avLst/>
          </a:prstGeom>
        </p:spPr>
        <p:txBody>
          <a:bodyPr wrap="square">
            <a:spAutoFit/>
          </a:bodyPr>
          <a:lstStyle/>
          <a:p>
            <a:pPr lvl="0"/>
            <a:r>
              <a:rPr lang="zh-CN" altLang="en-US" sz="1400" dirty="0">
                <a:solidFill>
                  <a:srgbClr val="4472C4">
                    <a:lumMod val="75000"/>
                  </a:srgbClr>
                </a:solidFill>
                <a:latin typeface="微软雅黑" panose="020B0503020204020204" pitchFamily="34" charset="-122"/>
                <a:ea typeface="微软雅黑" panose="020B0503020204020204" pitchFamily="34" charset="-122"/>
              </a:rPr>
              <a:t>间接交付通信使用默认网关</a:t>
            </a:r>
            <a:r>
              <a:rPr lang="en-US" altLang="zh-CN" sz="1400" dirty="0">
                <a:solidFill>
                  <a:srgbClr val="4472C4">
                    <a:lumMod val="75000"/>
                  </a:srgbClr>
                </a:solidFill>
                <a:latin typeface="微软雅黑" panose="020B0503020204020204" pitchFamily="34" charset="-122"/>
                <a:ea typeface="微软雅黑" panose="020B0503020204020204" pitchFamily="34" charset="-122"/>
              </a:rPr>
              <a:t>192.168.2.1</a:t>
            </a:r>
          </a:p>
        </p:txBody>
      </p:sp>
      <p:grpSp>
        <p:nvGrpSpPr>
          <p:cNvPr id="45" name="组合 44">
            <a:extLst>
              <a:ext uri="{FF2B5EF4-FFF2-40B4-BE49-F238E27FC236}">
                <a16:creationId xmlns:a16="http://schemas.microsoft.com/office/drawing/2014/main" id="{4715DBB3-8AE5-4D61-B8FC-C0AB304FAD42}"/>
              </a:ext>
            </a:extLst>
          </p:cNvPr>
          <p:cNvGrpSpPr/>
          <p:nvPr/>
        </p:nvGrpSpPr>
        <p:grpSpPr>
          <a:xfrm>
            <a:off x="7185312" y="3580496"/>
            <a:ext cx="1183583" cy="380941"/>
            <a:chOff x="4647761" y="5488796"/>
            <a:chExt cx="1183583" cy="380941"/>
          </a:xfrm>
        </p:grpSpPr>
        <p:pic>
          <p:nvPicPr>
            <p:cNvPr id="48" name="Picture 35" descr="Terminal">
              <a:extLst>
                <a:ext uri="{FF2B5EF4-FFF2-40B4-BE49-F238E27FC236}">
                  <a16:creationId xmlns:a16="http://schemas.microsoft.com/office/drawing/2014/main" id="{119B7416-BFA8-488E-8677-95987ACD56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8879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35" descr="Terminal">
              <a:extLst>
                <a:ext uri="{FF2B5EF4-FFF2-40B4-BE49-F238E27FC236}">
                  <a16:creationId xmlns:a16="http://schemas.microsoft.com/office/drawing/2014/main" id="{AEF3D6EE-CB28-4747-8F90-AE584EFECD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5" descr="Terminal">
              <a:extLst>
                <a:ext uri="{FF2B5EF4-FFF2-40B4-BE49-F238E27FC236}">
                  <a16:creationId xmlns:a16="http://schemas.microsoft.com/office/drawing/2014/main" id="{90BA2A74-3CBF-4010-8449-D991205C78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文本框 53">
              <a:extLst>
                <a:ext uri="{FF2B5EF4-FFF2-40B4-BE49-F238E27FC236}">
                  <a16:creationId xmlns:a16="http://schemas.microsoft.com/office/drawing/2014/main" id="{AC974CE5-E128-44F7-90D9-020A945CE0C9}"/>
                </a:ext>
              </a:extLst>
            </p:cNvPr>
            <p:cNvSpPr txBox="1"/>
            <p:nvPr/>
          </p:nvSpPr>
          <p:spPr>
            <a:xfrm>
              <a:off x="5248454" y="5500405"/>
              <a:ext cx="372218" cy="369332"/>
            </a:xfrm>
            <a:prstGeom prst="rect">
              <a:avLst/>
            </a:prstGeom>
            <a:noFill/>
          </p:spPr>
          <p:txBody>
            <a:bodyPr wrap="none" rtlCol="0">
              <a:spAutoFit/>
            </a:bodyPr>
            <a:lstStyle/>
            <a:p>
              <a:r>
                <a:rPr lang="en-US" altLang="zh-CN" b="1" dirty="0"/>
                <a:t>…</a:t>
              </a:r>
              <a:endParaRPr lang="zh-CN" altLang="en-US" b="1" dirty="0"/>
            </a:p>
          </p:txBody>
        </p:sp>
      </p:grpSp>
      <p:sp>
        <p:nvSpPr>
          <p:cNvPr id="9" name="日期占位符 8">
            <a:extLst>
              <a:ext uri="{FF2B5EF4-FFF2-40B4-BE49-F238E27FC236}">
                <a16:creationId xmlns:a16="http://schemas.microsoft.com/office/drawing/2014/main" id="{9F54BF92-A567-4884-B48A-89B3C94A76D5}"/>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3700087983"/>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直接连接符 63">
            <a:extLst>
              <a:ext uri="{FF2B5EF4-FFF2-40B4-BE49-F238E27FC236}">
                <a16:creationId xmlns:a16="http://schemas.microsoft.com/office/drawing/2014/main" id="{98660992-FDDE-4A4C-91AF-852D987F652F}"/>
              </a:ext>
            </a:extLst>
          </p:cNvPr>
          <p:cNvCxnSpPr>
            <a:cxnSpLocks/>
            <a:endCxn id="57" idx="0"/>
          </p:cNvCxnSpPr>
          <p:nvPr/>
        </p:nvCxnSpPr>
        <p:spPr>
          <a:xfrm>
            <a:off x="7272113" y="3839709"/>
            <a:ext cx="433623" cy="1081557"/>
          </a:xfrm>
          <a:prstGeom prst="line">
            <a:avLst/>
          </a:prstGeom>
          <a:ln w="12700"/>
        </p:spPr>
        <p:style>
          <a:lnRef idx="3">
            <a:schemeClr val="dk1"/>
          </a:lnRef>
          <a:fillRef idx="0">
            <a:schemeClr val="dk1"/>
          </a:fillRef>
          <a:effectRef idx="2">
            <a:schemeClr val="dk1"/>
          </a:effectRef>
          <a:fontRef idx="minor">
            <a:schemeClr val="tx1"/>
          </a:fontRef>
        </p:style>
      </p:cxnSp>
      <p:grpSp>
        <p:nvGrpSpPr>
          <p:cNvPr id="5" name="组合 4">
            <a:extLst>
              <a:ext uri="{FF2B5EF4-FFF2-40B4-BE49-F238E27FC236}">
                <a16:creationId xmlns:a16="http://schemas.microsoft.com/office/drawing/2014/main" id="{58C5CEBD-F87B-43BE-BD3B-CDFBD627D467}"/>
              </a:ext>
            </a:extLst>
          </p:cNvPr>
          <p:cNvGrpSpPr/>
          <p:nvPr/>
        </p:nvGrpSpPr>
        <p:grpSpPr>
          <a:xfrm>
            <a:off x="7168123" y="3003016"/>
            <a:ext cx="158365" cy="611934"/>
            <a:chOff x="5249341" y="4516567"/>
            <a:chExt cx="395177" cy="1025726"/>
          </a:xfrm>
        </p:grpSpPr>
        <p:sp>
          <p:nvSpPr>
            <p:cNvPr id="87" name="圆柱体 86">
              <a:extLst>
                <a:ext uri="{FF2B5EF4-FFF2-40B4-BE49-F238E27FC236}">
                  <a16:creationId xmlns:a16="http://schemas.microsoft.com/office/drawing/2014/main" id="{F5283133-C6D4-4BB8-B214-E015F485723E}"/>
                </a:ext>
              </a:extLst>
            </p:cNvPr>
            <p:cNvSpPr/>
            <p:nvPr/>
          </p:nvSpPr>
          <p:spPr>
            <a:xfrm rot="10800000">
              <a:off x="5249341" y="4516567"/>
              <a:ext cx="395177" cy="1025726"/>
            </a:xfrm>
            <a:prstGeom prst="can">
              <a:avLst>
                <a:gd name="adj" fmla="val 54944"/>
              </a:avLst>
            </a:prstGeom>
            <a:noFill/>
            <a:ln w="190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8" name="直接连接符 87">
              <a:extLst>
                <a:ext uri="{FF2B5EF4-FFF2-40B4-BE49-F238E27FC236}">
                  <a16:creationId xmlns:a16="http://schemas.microsoft.com/office/drawing/2014/main" id="{C587C8F8-DD5C-4C26-88D8-FDFC926DCED3}"/>
                </a:ext>
              </a:extLst>
            </p:cNvPr>
            <p:cNvCxnSpPr/>
            <p:nvPr/>
          </p:nvCxnSpPr>
          <p:spPr>
            <a:xfrm>
              <a:off x="5443629" y="4526092"/>
              <a:ext cx="0" cy="1008000"/>
            </a:xfrm>
            <a:prstGeom prst="line">
              <a:avLst/>
            </a:prstGeom>
            <a:ln w="28575"/>
          </p:spPr>
          <p:style>
            <a:lnRef idx="1">
              <a:schemeClr val="accent5"/>
            </a:lnRef>
            <a:fillRef idx="0">
              <a:schemeClr val="accent5"/>
            </a:fillRef>
            <a:effectRef idx="0">
              <a:schemeClr val="accent5"/>
            </a:effectRef>
            <a:fontRef idx="minor">
              <a:schemeClr val="tx1"/>
            </a:fontRef>
          </p:style>
        </p:cxnSp>
        <p:cxnSp>
          <p:nvCxnSpPr>
            <p:cNvPr id="90" name="直接连接符 89">
              <a:extLst>
                <a:ext uri="{FF2B5EF4-FFF2-40B4-BE49-F238E27FC236}">
                  <a16:creationId xmlns:a16="http://schemas.microsoft.com/office/drawing/2014/main" id="{38AD5A6C-F83E-425A-8594-FA980E56E596}"/>
                </a:ext>
              </a:extLst>
            </p:cNvPr>
            <p:cNvCxnSpPr/>
            <p:nvPr/>
          </p:nvCxnSpPr>
          <p:spPr>
            <a:xfrm>
              <a:off x="5336053" y="4535225"/>
              <a:ext cx="0" cy="982670"/>
            </a:xfrm>
            <a:prstGeom prst="line">
              <a:avLst/>
            </a:prstGeom>
            <a:ln w="28575">
              <a:solidFill>
                <a:srgbClr val="C00000"/>
              </a:solidFill>
            </a:ln>
          </p:spPr>
          <p:style>
            <a:lnRef idx="1">
              <a:schemeClr val="accent5"/>
            </a:lnRef>
            <a:fillRef idx="0">
              <a:schemeClr val="accent5"/>
            </a:fillRef>
            <a:effectRef idx="0">
              <a:schemeClr val="accent5"/>
            </a:effectRef>
            <a:fontRef idx="minor">
              <a:schemeClr val="tx1"/>
            </a:fontRef>
          </p:style>
        </p:cxnSp>
        <p:cxnSp>
          <p:nvCxnSpPr>
            <p:cNvPr id="91" name="直接连接符 90">
              <a:extLst>
                <a:ext uri="{FF2B5EF4-FFF2-40B4-BE49-F238E27FC236}">
                  <a16:creationId xmlns:a16="http://schemas.microsoft.com/office/drawing/2014/main" id="{E504CC08-B8EA-4E6D-A6DF-41E505557770}"/>
                </a:ext>
              </a:extLst>
            </p:cNvPr>
            <p:cNvCxnSpPr/>
            <p:nvPr/>
          </p:nvCxnSpPr>
          <p:spPr>
            <a:xfrm>
              <a:off x="5562522" y="4528759"/>
              <a:ext cx="0" cy="982670"/>
            </a:xfrm>
            <a:prstGeom prst="line">
              <a:avLst/>
            </a:prstGeom>
            <a:ln w="28575">
              <a:solidFill>
                <a:srgbClr val="7030A0"/>
              </a:solidFill>
            </a:ln>
          </p:spPr>
          <p:style>
            <a:lnRef idx="1">
              <a:schemeClr val="accent5"/>
            </a:lnRef>
            <a:fillRef idx="0">
              <a:schemeClr val="accent5"/>
            </a:fillRef>
            <a:effectRef idx="0">
              <a:schemeClr val="accent5"/>
            </a:effectRef>
            <a:fontRef idx="minor">
              <a:schemeClr val="tx1"/>
            </a:fontRef>
          </p:style>
        </p:cxnSp>
      </p:grpSp>
      <p:sp>
        <p:nvSpPr>
          <p:cNvPr id="76" name="椭圆 75">
            <a:extLst>
              <a:ext uri="{FF2B5EF4-FFF2-40B4-BE49-F238E27FC236}">
                <a16:creationId xmlns:a16="http://schemas.microsoft.com/office/drawing/2014/main" id="{8C6DB3A6-1B2D-4E74-BD65-6DE1D3E5F71C}"/>
              </a:ext>
            </a:extLst>
          </p:cNvPr>
          <p:cNvSpPr/>
          <p:nvPr/>
        </p:nvSpPr>
        <p:spPr>
          <a:xfrm>
            <a:off x="3556282" y="3439593"/>
            <a:ext cx="2861965" cy="1871299"/>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DE6A9965-D8B4-4BE8-956A-63D6675FC8D0}"/>
              </a:ext>
            </a:extLst>
          </p:cNvPr>
          <p:cNvSpPr/>
          <p:nvPr/>
        </p:nvSpPr>
        <p:spPr>
          <a:xfrm>
            <a:off x="8277787" y="3442512"/>
            <a:ext cx="2861965" cy="1871299"/>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85" name="文本框 84">
            <a:extLst>
              <a:ext uri="{FF2B5EF4-FFF2-40B4-BE49-F238E27FC236}">
                <a16:creationId xmlns:a16="http://schemas.microsoft.com/office/drawing/2014/main" id="{2446297D-0BFB-4E1C-BED7-D14311647986}"/>
              </a:ext>
            </a:extLst>
          </p:cNvPr>
          <p:cNvSpPr txBox="1"/>
          <p:nvPr/>
        </p:nvSpPr>
        <p:spPr>
          <a:xfrm>
            <a:off x="8936546" y="3579250"/>
            <a:ext cx="1954562" cy="1384995"/>
          </a:xfrm>
          <a:prstGeom prst="rect">
            <a:avLst/>
          </a:prstGeom>
          <a:noFill/>
        </p:spPr>
        <p:txBody>
          <a:bodyPr wrap="square" rtlCol="0">
            <a:spAutoFit/>
          </a:bodyPr>
          <a:lstStyle/>
          <a:p>
            <a:pPr marL="88900" lvl="2" algn="ctr"/>
            <a:r>
              <a:rPr kumimoji="1" lang="en-US" altLang="zh-CN" sz="1400" dirty="0">
                <a:solidFill>
                  <a:srgbClr val="0070C0"/>
                </a:solidFill>
                <a:latin typeface="Microsoft YaHei" panose="020B0503020204020204" pitchFamily="34" charset="-122"/>
                <a:ea typeface="Microsoft YaHei" panose="020B0503020204020204" pitchFamily="34" charset="-122"/>
              </a:rPr>
              <a:t>VLAN 300</a:t>
            </a:r>
          </a:p>
          <a:p>
            <a:pPr marL="88900" lvl="2" algn="ctr"/>
            <a:endParaRPr kumimoji="1" lang="en-US" altLang="zh-CN" sz="1400" dirty="0">
              <a:solidFill>
                <a:srgbClr val="0070C0"/>
              </a:solidFill>
              <a:latin typeface="Microsoft YaHei" panose="020B0503020204020204" pitchFamily="34" charset="-122"/>
              <a:ea typeface="Microsoft YaHei" panose="020B0503020204020204" pitchFamily="34" charset="-122"/>
            </a:endParaRPr>
          </a:p>
          <a:p>
            <a:pPr marL="88900" lvl="2" algn="ctr"/>
            <a:endParaRPr kumimoji="1" lang="en-US" altLang="zh-CN" sz="1400" dirty="0">
              <a:solidFill>
                <a:srgbClr val="0070C0"/>
              </a:solidFill>
              <a:latin typeface="Microsoft YaHei" panose="020B0503020204020204" pitchFamily="34" charset="-122"/>
              <a:ea typeface="Microsoft YaHei" panose="020B0503020204020204" pitchFamily="34" charset="-122"/>
            </a:endParaRPr>
          </a:p>
          <a:p>
            <a:pPr marL="88900" lvl="2" algn="ctr"/>
            <a:endParaRPr kumimoji="1" lang="en-US" altLang="zh-CN" sz="1400" dirty="0">
              <a:solidFill>
                <a:srgbClr val="0070C0"/>
              </a:solidFill>
              <a:latin typeface="Microsoft YaHei" panose="020B0503020204020204" pitchFamily="34" charset="-122"/>
              <a:ea typeface="Microsoft YaHei" panose="020B0503020204020204" pitchFamily="34" charset="-122"/>
            </a:endParaRPr>
          </a:p>
          <a:p>
            <a:pPr marL="88900" lvl="2"/>
            <a:r>
              <a:rPr kumimoji="1" lang="en-US" altLang="zh-CN" sz="1400" dirty="0">
                <a:solidFill>
                  <a:srgbClr val="0070C0"/>
                </a:solidFill>
                <a:latin typeface="Microsoft YaHei" panose="020B0503020204020204" pitchFamily="34" charset="-122"/>
                <a:ea typeface="Microsoft YaHei" panose="020B0503020204020204" pitchFamily="34" charset="-122"/>
              </a:rPr>
              <a:t>       PC3</a:t>
            </a:r>
          </a:p>
          <a:p>
            <a:pPr marL="0" lvl="2" algn="ctr"/>
            <a:r>
              <a:rPr kumimoji="1" lang="en-US" altLang="zh-CN" sz="1400" dirty="0">
                <a:solidFill>
                  <a:srgbClr val="0070C0"/>
                </a:solidFill>
                <a:latin typeface="Microsoft YaHei" panose="020B0503020204020204" pitchFamily="34" charset="-122"/>
                <a:ea typeface="Microsoft YaHei" panose="020B0503020204020204" pitchFamily="34" charset="-122"/>
              </a:rPr>
              <a:t>192.168.3.254/24</a:t>
            </a:r>
            <a:endParaRPr kumimoji="1" lang="zh-CN" altLang="en-US" sz="1400" dirty="0">
              <a:solidFill>
                <a:srgbClr val="0070C0"/>
              </a:solidFill>
              <a:latin typeface="Microsoft YaHei" panose="020B0503020204020204" pitchFamily="34" charset="-122"/>
              <a:ea typeface="Microsoft YaHei" panose="020B0503020204020204" pitchFamily="34" charset="-122"/>
            </a:endParaRPr>
          </a:p>
        </p:txBody>
      </p:sp>
      <p:sp>
        <p:nvSpPr>
          <p:cNvPr id="82" name="椭圆 81">
            <a:extLst>
              <a:ext uri="{FF2B5EF4-FFF2-40B4-BE49-F238E27FC236}">
                <a16:creationId xmlns:a16="http://schemas.microsoft.com/office/drawing/2014/main" id="{7F4182B0-5C29-4C61-A49C-A75EBA0A1DDB}"/>
              </a:ext>
            </a:extLst>
          </p:cNvPr>
          <p:cNvSpPr/>
          <p:nvPr/>
        </p:nvSpPr>
        <p:spPr>
          <a:xfrm>
            <a:off x="5971707" y="4607734"/>
            <a:ext cx="2723552" cy="1871299"/>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id="{2D5ABF7A-EA34-4A89-A54D-2C1D86FEBEB6}"/>
              </a:ext>
            </a:extLst>
          </p:cNvPr>
          <p:cNvSpPr>
            <a:spLocks noGrp="1"/>
          </p:cNvSpPr>
          <p:nvPr>
            <p:ph type="title"/>
          </p:nvPr>
        </p:nvSpPr>
        <p:spPr/>
        <p:txBody>
          <a:bodyPr/>
          <a:lstStyle/>
          <a:p>
            <a:r>
              <a:rPr kumimoji="1" lang="zh-CN" altLang="en-US" dirty="0"/>
              <a:t>三层交换的技术背景</a:t>
            </a:r>
            <a:endParaRPr lang="zh-CN" altLang="en-US" dirty="0"/>
          </a:p>
        </p:txBody>
      </p:sp>
      <p:sp>
        <p:nvSpPr>
          <p:cNvPr id="3" name="内容占位符 2">
            <a:extLst>
              <a:ext uri="{FF2B5EF4-FFF2-40B4-BE49-F238E27FC236}">
                <a16:creationId xmlns:a16="http://schemas.microsoft.com/office/drawing/2014/main" id="{F1B1C611-94F8-4C69-BCA4-80AF20CAF75E}"/>
              </a:ext>
            </a:extLst>
          </p:cNvPr>
          <p:cNvSpPr>
            <a:spLocks noGrp="1"/>
          </p:cNvSpPr>
          <p:nvPr>
            <p:ph idx="1"/>
          </p:nvPr>
        </p:nvSpPr>
        <p:spPr>
          <a:xfrm>
            <a:off x="838807" y="1510758"/>
            <a:ext cx="10934701" cy="1627857"/>
          </a:xfrm>
        </p:spPr>
        <p:txBody>
          <a:bodyPr/>
          <a:lstStyle/>
          <a:p>
            <a:r>
              <a:rPr lang="zh-CN" altLang="en-US" dirty="0"/>
              <a:t>路由器的局限性</a:t>
            </a:r>
            <a:endParaRPr lang="en-US" altLang="zh-CN" dirty="0"/>
          </a:p>
          <a:p>
            <a:pPr marL="363538" lvl="1" indent="0">
              <a:buNone/>
            </a:pPr>
            <a:r>
              <a:rPr lang="en-US" altLang="zh-CN" dirty="0"/>
              <a:t>IP</a:t>
            </a:r>
            <a:r>
              <a:rPr lang="zh-CN" altLang="en-US" dirty="0"/>
              <a:t>报文转发过程中产生大量</a:t>
            </a:r>
            <a:r>
              <a:rPr lang="en-US" altLang="zh-CN" dirty="0"/>
              <a:t>ARP</a:t>
            </a:r>
            <a:r>
              <a:rPr lang="zh-CN" altLang="en-US" dirty="0"/>
              <a:t>报文会消耗网络带宽资源，影响路由器转发性能，增加通信总时延</a:t>
            </a:r>
            <a:endParaRPr lang="en-US" altLang="zh-CN" dirty="0"/>
          </a:p>
        </p:txBody>
      </p:sp>
      <p:pic>
        <p:nvPicPr>
          <p:cNvPr id="48" name="Picture 30" descr="通用路由器">
            <a:extLst>
              <a:ext uri="{FF2B5EF4-FFF2-40B4-BE49-F238E27FC236}">
                <a16:creationId xmlns:a16="http://schemas.microsoft.com/office/drawing/2014/main" id="{9D4263B9-FC3F-46F8-AF94-CA2DB26FA3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63249" y="2585137"/>
            <a:ext cx="541184" cy="404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5" descr="通用交换机">
            <a:extLst>
              <a:ext uri="{FF2B5EF4-FFF2-40B4-BE49-F238E27FC236}">
                <a16:creationId xmlns:a16="http://schemas.microsoft.com/office/drawing/2014/main" id="{478F9A28-C043-4F24-8047-5FD20593E89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72069" y="3587554"/>
            <a:ext cx="548666" cy="39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5" descr="Terminal">
            <a:extLst>
              <a:ext uri="{FF2B5EF4-FFF2-40B4-BE49-F238E27FC236}">
                <a16:creationId xmlns:a16="http://schemas.microsoft.com/office/drawing/2014/main" id="{69261CE8-7CC5-4E1A-97F1-D809E760000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52797" y="4271748"/>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35" descr="Terminal">
            <a:extLst>
              <a:ext uri="{FF2B5EF4-FFF2-40B4-BE49-F238E27FC236}">
                <a16:creationId xmlns:a16="http://schemas.microsoft.com/office/drawing/2014/main" id="{3F17349A-08C2-4B28-8875-7AB41933A2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485" y="3587554"/>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35" descr="Terminal">
            <a:extLst>
              <a:ext uri="{FF2B5EF4-FFF2-40B4-BE49-F238E27FC236}">
                <a16:creationId xmlns:a16="http://schemas.microsoft.com/office/drawing/2014/main" id="{3183C066-24CA-4A45-8BCB-9260F48B59F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75044" y="4862812"/>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35" descr="Terminal">
            <a:extLst>
              <a:ext uri="{FF2B5EF4-FFF2-40B4-BE49-F238E27FC236}">
                <a16:creationId xmlns:a16="http://schemas.microsoft.com/office/drawing/2014/main" id="{6766591C-341F-4C3A-8AF9-CE6EE1DE32C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26415" y="4921266"/>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35" descr="Terminal">
            <a:extLst>
              <a:ext uri="{FF2B5EF4-FFF2-40B4-BE49-F238E27FC236}">
                <a16:creationId xmlns:a16="http://schemas.microsoft.com/office/drawing/2014/main" id="{9586B44C-2F9F-4154-B3FC-66E53F68928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87902" y="4271748"/>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35" descr="Terminal">
            <a:extLst>
              <a:ext uri="{FF2B5EF4-FFF2-40B4-BE49-F238E27FC236}">
                <a16:creationId xmlns:a16="http://schemas.microsoft.com/office/drawing/2014/main" id="{8AA7C21E-CADE-41A2-B13F-0E95A2FEC7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33677" y="3587554"/>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0" name="直接连接符 59">
            <a:extLst>
              <a:ext uri="{FF2B5EF4-FFF2-40B4-BE49-F238E27FC236}">
                <a16:creationId xmlns:a16="http://schemas.microsoft.com/office/drawing/2014/main" id="{78CB6363-C61C-4894-8634-32D2F0156763}"/>
              </a:ext>
            </a:extLst>
          </p:cNvPr>
          <p:cNvCxnSpPr>
            <a:cxnSpLocks/>
            <a:stCxn id="50" idx="1"/>
            <a:endCxn id="55" idx="3"/>
          </p:cNvCxnSpPr>
          <p:nvPr/>
        </p:nvCxnSpPr>
        <p:spPr>
          <a:xfrm flipH="1">
            <a:off x="5659127" y="3787069"/>
            <a:ext cx="1312942" cy="96017"/>
          </a:xfrm>
          <a:prstGeom prst="line">
            <a:avLst/>
          </a:prstGeom>
          <a:ln w="12700"/>
        </p:spPr>
        <p:style>
          <a:lnRef idx="3">
            <a:schemeClr val="dk1"/>
          </a:lnRef>
          <a:fillRef idx="0">
            <a:schemeClr val="dk1"/>
          </a:fillRef>
          <a:effectRef idx="2">
            <a:schemeClr val="dk1"/>
          </a:effectRef>
          <a:fontRef idx="minor">
            <a:schemeClr val="tx1"/>
          </a:fontRef>
        </p:style>
      </p:cxnSp>
      <p:cxnSp>
        <p:nvCxnSpPr>
          <p:cNvPr id="62" name="直接连接符 61">
            <a:extLst>
              <a:ext uri="{FF2B5EF4-FFF2-40B4-BE49-F238E27FC236}">
                <a16:creationId xmlns:a16="http://schemas.microsoft.com/office/drawing/2014/main" id="{FBF10BD3-FEFC-498A-B539-4AD3507C1367}"/>
              </a:ext>
            </a:extLst>
          </p:cNvPr>
          <p:cNvCxnSpPr>
            <a:cxnSpLocks/>
            <a:endCxn id="51" idx="0"/>
          </p:cNvCxnSpPr>
          <p:nvPr/>
        </p:nvCxnSpPr>
        <p:spPr>
          <a:xfrm flipH="1">
            <a:off x="5732118" y="3883086"/>
            <a:ext cx="1326939" cy="388662"/>
          </a:xfrm>
          <a:prstGeom prst="line">
            <a:avLst/>
          </a:prstGeom>
          <a:ln w="12700"/>
        </p:spPr>
        <p:style>
          <a:lnRef idx="3">
            <a:schemeClr val="dk1"/>
          </a:lnRef>
          <a:fillRef idx="0">
            <a:schemeClr val="dk1"/>
          </a:fillRef>
          <a:effectRef idx="2">
            <a:schemeClr val="dk1"/>
          </a:effectRef>
          <a:fontRef idx="minor">
            <a:schemeClr val="tx1"/>
          </a:fontRef>
        </p:style>
      </p:cxnSp>
      <p:cxnSp>
        <p:nvCxnSpPr>
          <p:cNvPr id="63" name="直接连接符 62">
            <a:extLst>
              <a:ext uri="{FF2B5EF4-FFF2-40B4-BE49-F238E27FC236}">
                <a16:creationId xmlns:a16="http://schemas.microsoft.com/office/drawing/2014/main" id="{EF46310A-9D7D-40B6-A38B-77FA9D388028}"/>
              </a:ext>
            </a:extLst>
          </p:cNvPr>
          <p:cNvCxnSpPr>
            <a:cxnSpLocks/>
            <a:stCxn id="50" idx="2"/>
            <a:endCxn id="56" idx="0"/>
          </p:cNvCxnSpPr>
          <p:nvPr/>
        </p:nvCxnSpPr>
        <p:spPr>
          <a:xfrm flipH="1">
            <a:off x="6854365" y="3986584"/>
            <a:ext cx="392037" cy="876228"/>
          </a:xfrm>
          <a:prstGeom prst="line">
            <a:avLst/>
          </a:prstGeom>
          <a:ln w="12700"/>
        </p:spPr>
        <p:style>
          <a:lnRef idx="3">
            <a:schemeClr val="dk1"/>
          </a:lnRef>
          <a:fillRef idx="0">
            <a:schemeClr val="dk1"/>
          </a:fillRef>
          <a:effectRef idx="2">
            <a:schemeClr val="dk1"/>
          </a:effectRef>
          <a:fontRef idx="minor">
            <a:schemeClr val="tx1"/>
          </a:fontRef>
        </p:style>
      </p:cxnSp>
      <p:cxnSp>
        <p:nvCxnSpPr>
          <p:cNvPr id="65" name="直接连接符 64">
            <a:extLst>
              <a:ext uri="{FF2B5EF4-FFF2-40B4-BE49-F238E27FC236}">
                <a16:creationId xmlns:a16="http://schemas.microsoft.com/office/drawing/2014/main" id="{728C585F-A493-44F3-B957-1BDF8CCE19EA}"/>
              </a:ext>
            </a:extLst>
          </p:cNvPr>
          <p:cNvCxnSpPr>
            <a:cxnSpLocks/>
            <a:endCxn id="58" idx="1"/>
          </p:cNvCxnSpPr>
          <p:nvPr/>
        </p:nvCxnSpPr>
        <p:spPr>
          <a:xfrm>
            <a:off x="7375047" y="3865906"/>
            <a:ext cx="1312855" cy="701374"/>
          </a:xfrm>
          <a:prstGeom prst="line">
            <a:avLst/>
          </a:prstGeom>
          <a:ln w="12700"/>
        </p:spPr>
        <p:style>
          <a:lnRef idx="3">
            <a:schemeClr val="dk1"/>
          </a:lnRef>
          <a:fillRef idx="0">
            <a:schemeClr val="dk1"/>
          </a:fillRef>
          <a:effectRef idx="2">
            <a:schemeClr val="dk1"/>
          </a:effectRef>
          <a:fontRef idx="minor">
            <a:schemeClr val="tx1"/>
          </a:fontRef>
        </p:style>
      </p:cxnSp>
      <p:cxnSp>
        <p:nvCxnSpPr>
          <p:cNvPr id="66" name="直接连接符 65">
            <a:extLst>
              <a:ext uri="{FF2B5EF4-FFF2-40B4-BE49-F238E27FC236}">
                <a16:creationId xmlns:a16="http://schemas.microsoft.com/office/drawing/2014/main" id="{5F40CA6F-B210-4989-AC11-DE8F24AFFD36}"/>
              </a:ext>
            </a:extLst>
          </p:cNvPr>
          <p:cNvCxnSpPr>
            <a:cxnSpLocks/>
            <a:stCxn id="50" idx="3"/>
            <a:endCxn id="59" idx="1"/>
          </p:cNvCxnSpPr>
          <p:nvPr/>
        </p:nvCxnSpPr>
        <p:spPr>
          <a:xfrm>
            <a:off x="7520735" y="3787069"/>
            <a:ext cx="1312942" cy="96017"/>
          </a:xfrm>
          <a:prstGeom prst="line">
            <a:avLst/>
          </a:prstGeom>
          <a:ln w="12700"/>
        </p:spPr>
        <p:style>
          <a:lnRef idx="3">
            <a:schemeClr val="dk1"/>
          </a:lnRef>
          <a:fillRef idx="0">
            <a:schemeClr val="dk1"/>
          </a:fillRef>
          <a:effectRef idx="2">
            <a:schemeClr val="dk1"/>
          </a:effectRef>
          <a:fontRef idx="minor">
            <a:schemeClr val="tx1"/>
          </a:fontRef>
        </p:style>
      </p:cxnSp>
      <p:sp>
        <p:nvSpPr>
          <p:cNvPr id="81" name="文本框 80">
            <a:extLst>
              <a:ext uri="{FF2B5EF4-FFF2-40B4-BE49-F238E27FC236}">
                <a16:creationId xmlns:a16="http://schemas.microsoft.com/office/drawing/2014/main" id="{69FAB3CE-8A02-4CC5-9EB0-E030AC23B499}"/>
              </a:ext>
            </a:extLst>
          </p:cNvPr>
          <p:cNvSpPr txBox="1"/>
          <p:nvPr/>
        </p:nvSpPr>
        <p:spPr>
          <a:xfrm>
            <a:off x="3362224" y="3925243"/>
            <a:ext cx="2418939" cy="1169551"/>
          </a:xfrm>
          <a:prstGeom prst="rect">
            <a:avLst/>
          </a:prstGeom>
          <a:noFill/>
        </p:spPr>
        <p:txBody>
          <a:bodyPr wrap="square" rtlCol="0">
            <a:spAutoFit/>
          </a:bodyPr>
          <a:lstStyle/>
          <a:p>
            <a:pPr marL="0" lvl="2" algn="ctr"/>
            <a:r>
              <a:rPr kumimoji="1" lang="en-US" altLang="zh-CN" sz="1400" dirty="0">
                <a:solidFill>
                  <a:srgbClr val="C00000"/>
                </a:solidFill>
                <a:latin typeface="Microsoft YaHei" panose="020B0503020204020204" pitchFamily="34" charset="-122"/>
                <a:ea typeface="Microsoft YaHei" panose="020B0503020204020204" pitchFamily="34" charset="-122"/>
              </a:rPr>
              <a:t>      PC1</a:t>
            </a:r>
          </a:p>
          <a:p>
            <a:pPr marL="0" lvl="2" algn="ctr"/>
            <a:r>
              <a:rPr kumimoji="1" lang="en-US" altLang="zh-CN" sz="1400" dirty="0">
                <a:solidFill>
                  <a:srgbClr val="C00000"/>
                </a:solidFill>
                <a:latin typeface="Microsoft YaHei" panose="020B0503020204020204" pitchFamily="34" charset="-122"/>
                <a:ea typeface="Microsoft YaHei" panose="020B0503020204020204" pitchFamily="34" charset="-122"/>
              </a:rPr>
              <a:t>192.168.1.254/24</a:t>
            </a:r>
          </a:p>
          <a:p>
            <a:pPr marL="0" lvl="2" algn="ctr"/>
            <a:endParaRPr kumimoji="1" lang="en-US" altLang="zh-CN" sz="1400" dirty="0">
              <a:solidFill>
                <a:srgbClr val="C00000"/>
              </a:solidFill>
              <a:latin typeface="Microsoft YaHei" panose="020B0503020204020204" pitchFamily="34" charset="-122"/>
              <a:ea typeface="Microsoft YaHei" panose="020B0503020204020204" pitchFamily="34" charset="-122"/>
            </a:endParaRPr>
          </a:p>
          <a:p>
            <a:pPr marL="0" lvl="2" algn="ctr"/>
            <a:endParaRPr kumimoji="1" lang="en-US" altLang="zh-CN" sz="1400" dirty="0">
              <a:solidFill>
                <a:srgbClr val="C00000"/>
              </a:solidFill>
              <a:latin typeface="Microsoft YaHei" panose="020B0503020204020204" pitchFamily="34" charset="-122"/>
              <a:ea typeface="Microsoft YaHei" panose="020B0503020204020204" pitchFamily="34" charset="-122"/>
            </a:endParaRPr>
          </a:p>
          <a:p>
            <a:pPr marL="0" lvl="2" algn="ctr"/>
            <a:r>
              <a:rPr kumimoji="1" lang="en-US" altLang="zh-CN" sz="1400" dirty="0">
                <a:solidFill>
                  <a:srgbClr val="C00000"/>
                </a:solidFill>
                <a:latin typeface="Microsoft YaHei" panose="020B0503020204020204" pitchFamily="34" charset="-122"/>
                <a:ea typeface="Microsoft YaHei" panose="020B0503020204020204" pitchFamily="34" charset="-122"/>
              </a:rPr>
              <a:t>         VLAN 100  </a:t>
            </a:r>
          </a:p>
        </p:txBody>
      </p:sp>
      <p:sp>
        <p:nvSpPr>
          <p:cNvPr id="83" name="文本框 82">
            <a:extLst>
              <a:ext uri="{FF2B5EF4-FFF2-40B4-BE49-F238E27FC236}">
                <a16:creationId xmlns:a16="http://schemas.microsoft.com/office/drawing/2014/main" id="{17224167-F56B-46EF-9442-5B68B96A55E0}"/>
              </a:ext>
            </a:extLst>
          </p:cNvPr>
          <p:cNvSpPr txBox="1"/>
          <p:nvPr/>
        </p:nvSpPr>
        <p:spPr>
          <a:xfrm>
            <a:off x="5973037" y="5206430"/>
            <a:ext cx="2418939" cy="1169551"/>
          </a:xfrm>
          <a:prstGeom prst="rect">
            <a:avLst/>
          </a:prstGeom>
          <a:noFill/>
        </p:spPr>
        <p:txBody>
          <a:bodyPr wrap="square" rtlCol="0">
            <a:spAutoFit/>
          </a:bodyPr>
          <a:lstStyle/>
          <a:p>
            <a:pPr marL="88900" lvl="2" algn="ctr"/>
            <a:endParaRPr kumimoji="1" lang="en-US" altLang="zh-CN" sz="1400" dirty="0">
              <a:solidFill>
                <a:srgbClr val="7030A0"/>
              </a:solidFill>
              <a:latin typeface="Microsoft YaHei" panose="020B0503020204020204" pitchFamily="34" charset="-122"/>
              <a:ea typeface="Microsoft YaHei" panose="020B0503020204020204" pitchFamily="34" charset="-122"/>
            </a:endParaRPr>
          </a:p>
          <a:p>
            <a:pPr marL="88900" lvl="2"/>
            <a:r>
              <a:rPr kumimoji="1" lang="en-US" altLang="zh-CN" sz="1400" dirty="0">
                <a:solidFill>
                  <a:srgbClr val="7030A0"/>
                </a:solidFill>
                <a:latin typeface="Microsoft YaHei" panose="020B0503020204020204" pitchFamily="34" charset="-122"/>
                <a:ea typeface="Microsoft YaHei" panose="020B0503020204020204" pitchFamily="34" charset="-122"/>
              </a:rPr>
              <a:t>        PC2</a:t>
            </a:r>
          </a:p>
          <a:p>
            <a:pPr marL="88900" lvl="2"/>
            <a:r>
              <a:rPr kumimoji="1" lang="en-US" altLang="zh-CN" sz="1400" dirty="0">
                <a:solidFill>
                  <a:srgbClr val="7030A0"/>
                </a:solidFill>
                <a:latin typeface="Microsoft YaHei" panose="020B0503020204020204" pitchFamily="34" charset="-122"/>
                <a:ea typeface="Microsoft YaHei" panose="020B0503020204020204" pitchFamily="34" charset="-122"/>
              </a:rPr>
              <a:t>192.168.2.254/24</a:t>
            </a:r>
          </a:p>
          <a:p>
            <a:pPr marL="88900" lvl="2" algn="ctr"/>
            <a:endParaRPr kumimoji="1" lang="en-US" altLang="zh-CN" sz="1400" dirty="0">
              <a:solidFill>
                <a:srgbClr val="7030A0"/>
              </a:solidFill>
              <a:latin typeface="Microsoft YaHei" panose="020B0503020204020204" pitchFamily="34" charset="-122"/>
              <a:ea typeface="Microsoft YaHei" panose="020B0503020204020204" pitchFamily="34" charset="-122"/>
            </a:endParaRPr>
          </a:p>
          <a:p>
            <a:pPr marL="88900" lvl="2" algn="ctr"/>
            <a:r>
              <a:rPr kumimoji="1" lang="en-US" altLang="zh-CN" sz="1400" dirty="0">
                <a:solidFill>
                  <a:srgbClr val="7030A0"/>
                </a:solidFill>
                <a:latin typeface="Microsoft YaHei" panose="020B0503020204020204" pitchFamily="34" charset="-122"/>
                <a:ea typeface="Microsoft YaHei" panose="020B0503020204020204" pitchFamily="34" charset="-122"/>
              </a:rPr>
              <a:t>      VLAN 200</a:t>
            </a:r>
          </a:p>
        </p:txBody>
      </p:sp>
      <p:grpSp>
        <p:nvGrpSpPr>
          <p:cNvPr id="23" name="组合 22">
            <a:extLst>
              <a:ext uri="{FF2B5EF4-FFF2-40B4-BE49-F238E27FC236}">
                <a16:creationId xmlns:a16="http://schemas.microsoft.com/office/drawing/2014/main" id="{8AF518FE-7BC9-4E5F-BFC4-0B5049194B9B}"/>
              </a:ext>
            </a:extLst>
          </p:cNvPr>
          <p:cNvGrpSpPr/>
          <p:nvPr/>
        </p:nvGrpSpPr>
        <p:grpSpPr>
          <a:xfrm rot="21351425">
            <a:off x="5672761" y="3464480"/>
            <a:ext cx="790980" cy="315507"/>
            <a:chOff x="5974513" y="2048580"/>
            <a:chExt cx="965450" cy="294622"/>
          </a:xfrm>
        </p:grpSpPr>
        <p:sp>
          <p:nvSpPr>
            <p:cNvPr id="14" name="文本框 13">
              <a:extLst>
                <a:ext uri="{FF2B5EF4-FFF2-40B4-BE49-F238E27FC236}">
                  <a16:creationId xmlns:a16="http://schemas.microsoft.com/office/drawing/2014/main" id="{7EC2051D-1365-49AF-806C-358EA14F5CC1}"/>
                </a:ext>
              </a:extLst>
            </p:cNvPr>
            <p:cNvSpPr txBox="1"/>
            <p:nvPr/>
          </p:nvSpPr>
          <p:spPr>
            <a:xfrm>
              <a:off x="5974513" y="2048580"/>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cxnSp>
          <p:nvCxnSpPr>
            <p:cNvPr id="89" name="直接箭头连接符 88">
              <a:extLst>
                <a:ext uri="{FF2B5EF4-FFF2-40B4-BE49-F238E27FC236}">
                  <a16:creationId xmlns:a16="http://schemas.microsoft.com/office/drawing/2014/main" id="{70D254D3-3451-4E11-BB3A-73EF3F73CAE8}"/>
                </a:ext>
              </a:extLst>
            </p:cNvPr>
            <p:cNvCxnSpPr>
              <a:cxnSpLocks/>
            </p:cNvCxnSpPr>
            <p:nvPr/>
          </p:nvCxnSpPr>
          <p:spPr>
            <a:xfrm>
              <a:off x="6022967" y="2343201"/>
              <a:ext cx="862130"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grpSp>
      <p:grpSp>
        <p:nvGrpSpPr>
          <p:cNvPr id="98" name="组合 97">
            <a:extLst>
              <a:ext uri="{FF2B5EF4-FFF2-40B4-BE49-F238E27FC236}">
                <a16:creationId xmlns:a16="http://schemas.microsoft.com/office/drawing/2014/main" id="{83997FBB-FCF6-4932-B229-9E818E1D1027}"/>
              </a:ext>
            </a:extLst>
          </p:cNvPr>
          <p:cNvGrpSpPr/>
          <p:nvPr/>
        </p:nvGrpSpPr>
        <p:grpSpPr>
          <a:xfrm rot="21428157">
            <a:off x="5799395" y="3436964"/>
            <a:ext cx="721777" cy="322685"/>
            <a:chOff x="5974512" y="2007773"/>
            <a:chExt cx="965450" cy="360551"/>
          </a:xfrm>
          <a:solidFill>
            <a:srgbClr val="C9F1FF"/>
          </a:solidFill>
        </p:grpSpPr>
        <p:sp>
          <p:nvSpPr>
            <p:cNvPr id="108" name="文本框 107">
              <a:extLst>
                <a:ext uri="{FF2B5EF4-FFF2-40B4-BE49-F238E27FC236}">
                  <a16:creationId xmlns:a16="http://schemas.microsoft.com/office/drawing/2014/main" id="{DD068B33-2AA3-48B3-8A63-111579D49C8F}"/>
                </a:ext>
              </a:extLst>
            </p:cNvPr>
            <p:cNvSpPr txBox="1"/>
            <p:nvPr/>
          </p:nvSpPr>
          <p:spPr>
            <a:xfrm>
              <a:off x="5974512" y="2007773"/>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109" name="直接箭头连接符 108">
              <a:extLst>
                <a:ext uri="{FF2B5EF4-FFF2-40B4-BE49-F238E27FC236}">
                  <a16:creationId xmlns:a16="http://schemas.microsoft.com/office/drawing/2014/main" id="{7DAE02D5-A048-49A3-8B17-4938F528F8B6}"/>
                </a:ext>
              </a:extLst>
            </p:cNvPr>
            <p:cNvCxnSpPr>
              <a:cxnSpLocks/>
            </p:cNvCxnSpPr>
            <p:nvPr/>
          </p:nvCxnSpPr>
          <p:spPr>
            <a:xfrm>
              <a:off x="6021799" y="2368323"/>
              <a:ext cx="862130" cy="1"/>
            </a:xfrm>
            <a:prstGeom prst="straightConnector1">
              <a:avLst/>
            </a:prstGeom>
            <a:grpFill/>
            <a:ln w="19050">
              <a:solidFill>
                <a:srgbClr val="0070C0"/>
              </a:solidFill>
              <a:tailEnd type="triangle"/>
            </a:ln>
          </p:spPr>
          <p:style>
            <a:lnRef idx="1">
              <a:schemeClr val="accent4"/>
            </a:lnRef>
            <a:fillRef idx="0">
              <a:schemeClr val="accent4"/>
            </a:fillRef>
            <a:effectRef idx="0">
              <a:schemeClr val="accent4"/>
            </a:effectRef>
            <a:fontRef idx="minor">
              <a:schemeClr val="tx1"/>
            </a:fontRef>
          </p:style>
        </p:cxnSp>
      </p:grpSp>
      <p:grpSp>
        <p:nvGrpSpPr>
          <p:cNvPr id="146" name="组合 145">
            <a:extLst>
              <a:ext uri="{FF2B5EF4-FFF2-40B4-BE49-F238E27FC236}">
                <a16:creationId xmlns:a16="http://schemas.microsoft.com/office/drawing/2014/main" id="{64012D26-DA86-49B4-9C6A-05146B1BD849}"/>
              </a:ext>
            </a:extLst>
          </p:cNvPr>
          <p:cNvGrpSpPr/>
          <p:nvPr/>
        </p:nvGrpSpPr>
        <p:grpSpPr>
          <a:xfrm rot="16200000">
            <a:off x="6610012" y="2875724"/>
            <a:ext cx="540000" cy="790980"/>
            <a:chOff x="6162492" y="1808602"/>
            <a:chExt cx="659111" cy="738620"/>
          </a:xfrm>
        </p:grpSpPr>
        <p:cxnSp>
          <p:nvCxnSpPr>
            <p:cNvPr id="148" name="直接箭头连接符 147">
              <a:extLst>
                <a:ext uri="{FF2B5EF4-FFF2-40B4-BE49-F238E27FC236}">
                  <a16:creationId xmlns:a16="http://schemas.microsoft.com/office/drawing/2014/main" id="{6ACF1192-D6CA-4F4A-B9D6-6E31137E59FD}"/>
                </a:ext>
              </a:extLst>
            </p:cNvPr>
            <p:cNvCxnSpPr>
              <a:cxnSpLocks/>
            </p:cNvCxnSpPr>
            <p:nvPr/>
          </p:nvCxnSpPr>
          <p:spPr>
            <a:xfrm>
              <a:off x="6162492" y="2343201"/>
              <a:ext cx="659111"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sp>
          <p:nvSpPr>
            <p:cNvPr id="147" name="文本框 146">
              <a:extLst>
                <a:ext uri="{FF2B5EF4-FFF2-40B4-BE49-F238E27FC236}">
                  <a16:creationId xmlns:a16="http://schemas.microsoft.com/office/drawing/2014/main" id="{9D986860-5790-4D07-8663-F4F85820E20F}"/>
                </a:ext>
              </a:extLst>
            </p:cNvPr>
            <p:cNvSpPr txBox="1"/>
            <p:nvPr/>
          </p:nvSpPr>
          <p:spPr>
            <a:xfrm rot="5400000">
              <a:off x="6099911"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grpSp>
      <p:grpSp>
        <p:nvGrpSpPr>
          <p:cNvPr id="150" name="组合 149">
            <a:extLst>
              <a:ext uri="{FF2B5EF4-FFF2-40B4-BE49-F238E27FC236}">
                <a16:creationId xmlns:a16="http://schemas.microsoft.com/office/drawing/2014/main" id="{2CD9C802-0C40-4FBA-81DD-E473903D9573}"/>
              </a:ext>
            </a:extLst>
          </p:cNvPr>
          <p:cNvGrpSpPr/>
          <p:nvPr/>
        </p:nvGrpSpPr>
        <p:grpSpPr>
          <a:xfrm rot="5400000">
            <a:off x="6966306" y="2886034"/>
            <a:ext cx="540000" cy="790980"/>
            <a:chOff x="6111740" y="1808602"/>
            <a:chExt cx="659111" cy="738620"/>
          </a:xfrm>
        </p:grpSpPr>
        <p:cxnSp>
          <p:nvCxnSpPr>
            <p:cNvPr id="152" name="直接箭头连接符 151">
              <a:extLst>
                <a:ext uri="{FF2B5EF4-FFF2-40B4-BE49-F238E27FC236}">
                  <a16:creationId xmlns:a16="http://schemas.microsoft.com/office/drawing/2014/main" id="{56535991-7F06-4922-A448-A3DED26B42B8}"/>
                </a:ext>
              </a:extLst>
            </p:cNvPr>
            <p:cNvCxnSpPr>
              <a:cxnSpLocks/>
            </p:cNvCxnSpPr>
            <p:nvPr/>
          </p:nvCxnSpPr>
          <p:spPr>
            <a:xfrm>
              <a:off x="6111740" y="2343201"/>
              <a:ext cx="659111"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sp>
          <p:nvSpPr>
            <p:cNvPr id="151" name="文本框 150">
              <a:extLst>
                <a:ext uri="{FF2B5EF4-FFF2-40B4-BE49-F238E27FC236}">
                  <a16:creationId xmlns:a16="http://schemas.microsoft.com/office/drawing/2014/main" id="{4E4DBE34-F762-43C4-BE88-14377104E590}"/>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grpSp>
      <p:grpSp>
        <p:nvGrpSpPr>
          <p:cNvPr id="154" name="组合 153">
            <a:extLst>
              <a:ext uri="{FF2B5EF4-FFF2-40B4-BE49-F238E27FC236}">
                <a16:creationId xmlns:a16="http://schemas.microsoft.com/office/drawing/2014/main" id="{F9FE7BB7-A703-4F53-82A3-0CE00D813A5C}"/>
              </a:ext>
            </a:extLst>
          </p:cNvPr>
          <p:cNvGrpSpPr/>
          <p:nvPr/>
        </p:nvGrpSpPr>
        <p:grpSpPr>
          <a:xfrm rot="21351425">
            <a:off x="6049084" y="3432816"/>
            <a:ext cx="790980" cy="325248"/>
            <a:chOff x="5983662" y="1951925"/>
            <a:chExt cx="965450" cy="303718"/>
          </a:xfrm>
        </p:grpSpPr>
        <p:sp>
          <p:nvSpPr>
            <p:cNvPr id="155" name="文本框 154">
              <a:extLst>
                <a:ext uri="{FF2B5EF4-FFF2-40B4-BE49-F238E27FC236}">
                  <a16:creationId xmlns:a16="http://schemas.microsoft.com/office/drawing/2014/main" id="{0F1653D4-F567-4D83-9D69-9539B4F823F7}"/>
                </a:ext>
              </a:extLst>
            </p:cNvPr>
            <p:cNvSpPr txBox="1"/>
            <p:nvPr/>
          </p:nvSpPr>
          <p:spPr>
            <a:xfrm>
              <a:off x="5983662" y="1951925"/>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cxnSp>
          <p:nvCxnSpPr>
            <p:cNvPr id="156" name="直接箭头连接符 155">
              <a:extLst>
                <a:ext uri="{FF2B5EF4-FFF2-40B4-BE49-F238E27FC236}">
                  <a16:creationId xmlns:a16="http://schemas.microsoft.com/office/drawing/2014/main" id="{95EB05F6-7C52-4E85-9A49-6857A63903BA}"/>
                </a:ext>
              </a:extLst>
            </p:cNvPr>
            <p:cNvCxnSpPr>
              <a:cxnSpLocks/>
            </p:cNvCxnSpPr>
            <p:nvPr/>
          </p:nvCxnSpPr>
          <p:spPr>
            <a:xfrm>
              <a:off x="6031255" y="2255642"/>
              <a:ext cx="862130"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58" name="组合 157">
            <a:extLst>
              <a:ext uri="{FF2B5EF4-FFF2-40B4-BE49-F238E27FC236}">
                <a16:creationId xmlns:a16="http://schemas.microsoft.com/office/drawing/2014/main" id="{CF60016E-D464-43A7-B90D-2A0179B12E3C}"/>
              </a:ext>
            </a:extLst>
          </p:cNvPr>
          <p:cNvGrpSpPr/>
          <p:nvPr/>
        </p:nvGrpSpPr>
        <p:grpSpPr>
          <a:xfrm>
            <a:off x="7052867" y="3011524"/>
            <a:ext cx="721777" cy="501996"/>
            <a:chOff x="5974512" y="1914912"/>
            <a:chExt cx="965450" cy="560898"/>
          </a:xfrm>
          <a:solidFill>
            <a:srgbClr val="C9F1FF"/>
          </a:solidFill>
        </p:grpSpPr>
        <p:cxnSp>
          <p:nvCxnSpPr>
            <p:cNvPr id="160" name="直接箭头连接符 159">
              <a:extLst>
                <a:ext uri="{FF2B5EF4-FFF2-40B4-BE49-F238E27FC236}">
                  <a16:creationId xmlns:a16="http://schemas.microsoft.com/office/drawing/2014/main" id="{2BC58861-1260-4FEC-B71B-79BCFB66C4E6}"/>
                </a:ext>
              </a:extLst>
            </p:cNvPr>
            <p:cNvCxnSpPr>
              <a:cxnSpLocks/>
            </p:cNvCxnSpPr>
            <p:nvPr/>
          </p:nvCxnSpPr>
          <p:spPr>
            <a:xfrm>
              <a:off x="6408419" y="1914912"/>
              <a:ext cx="0" cy="560898"/>
            </a:xfrm>
            <a:prstGeom prst="straightConnector1">
              <a:avLst/>
            </a:prstGeom>
            <a:grpFill/>
            <a:ln w="19050">
              <a:solidFill>
                <a:srgbClr val="0070C0"/>
              </a:solidFill>
              <a:tailEnd type="triangle"/>
            </a:ln>
          </p:spPr>
          <p:style>
            <a:lnRef idx="1">
              <a:schemeClr val="accent4"/>
            </a:lnRef>
            <a:fillRef idx="0">
              <a:schemeClr val="accent4"/>
            </a:fillRef>
            <a:effectRef idx="0">
              <a:schemeClr val="accent4"/>
            </a:effectRef>
            <a:fontRef idx="minor">
              <a:schemeClr val="tx1"/>
            </a:fontRef>
          </p:style>
        </p:cxnSp>
        <p:sp>
          <p:nvSpPr>
            <p:cNvPr id="159" name="文本框 158">
              <a:extLst>
                <a:ext uri="{FF2B5EF4-FFF2-40B4-BE49-F238E27FC236}">
                  <a16:creationId xmlns:a16="http://schemas.microsoft.com/office/drawing/2014/main" id="{83985DCD-01D3-4987-8D5D-81B8C1805591}"/>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163" name="组合 162">
            <a:extLst>
              <a:ext uri="{FF2B5EF4-FFF2-40B4-BE49-F238E27FC236}">
                <a16:creationId xmlns:a16="http://schemas.microsoft.com/office/drawing/2014/main" id="{AEE45BD0-B89C-43C4-A5C7-1FCA2EDC0199}"/>
              </a:ext>
            </a:extLst>
          </p:cNvPr>
          <p:cNvGrpSpPr/>
          <p:nvPr/>
        </p:nvGrpSpPr>
        <p:grpSpPr>
          <a:xfrm>
            <a:off x="6720143" y="3018183"/>
            <a:ext cx="721777" cy="501996"/>
            <a:chOff x="5974512" y="1914912"/>
            <a:chExt cx="965450" cy="560898"/>
          </a:xfrm>
          <a:solidFill>
            <a:srgbClr val="C9F1FF"/>
          </a:solidFill>
        </p:grpSpPr>
        <p:cxnSp>
          <p:nvCxnSpPr>
            <p:cNvPr id="164" name="直接箭头连接符 163">
              <a:extLst>
                <a:ext uri="{FF2B5EF4-FFF2-40B4-BE49-F238E27FC236}">
                  <a16:creationId xmlns:a16="http://schemas.microsoft.com/office/drawing/2014/main" id="{B3E20E02-0571-40E5-9E2D-94103A3049DA}"/>
                </a:ext>
              </a:extLst>
            </p:cNvPr>
            <p:cNvCxnSpPr>
              <a:cxnSpLocks/>
            </p:cNvCxnSpPr>
            <p:nvPr/>
          </p:nvCxnSpPr>
          <p:spPr>
            <a:xfrm>
              <a:off x="6408419" y="1914912"/>
              <a:ext cx="0" cy="560898"/>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165" name="文本框 164">
              <a:extLst>
                <a:ext uri="{FF2B5EF4-FFF2-40B4-BE49-F238E27FC236}">
                  <a16:creationId xmlns:a16="http://schemas.microsoft.com/office/drawing/2014/main" id="{C04F0081-04E9-451B-A567-23A658D2EF4B}"/>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167" name="组合 166">
            <a:extLst>
              <a:ext uri="{FF2B5EF4-FFF2-40B4-BE49-F238E27FC236}">
                <a16:creationId xmlns:a16="http://schemas.microsoft.com/office/drawing/2014/main" id="{F6B98C9A-21F2-413A-89C1-2F045D3409BC}"/>
              </a:ext>
            </a:extLst>
          </p:cNvPr>
          <p:cNvGrpSpPr/>
          <p:nvPr/>
        </p:nvGrpSpPr>
        <p:grpSpPr>
          <a:xfrm rot="5400000">
            <a:off x="7294120" y="2912982"/>
            <a:ext cx="540000" cy="790980"/>
            <a:chOff x="6111740" y="1808602"/>
            <a:chExt cx="659111" cy="738620"/>
          </a:xfrm>
        </p:grpSpPr>
        <p:cxnSp>
          <p:nvCxnSpPr>
            <p:cNvPr id="168" name="直接箭头连接符 167">
              <a:extLst>
                <a:ext uri="{FF2B5EF4-FFF2-40B4-BE49-F238E27FC236}">
                  <a16:creationId xmlns:a16="http://schemas.microsoft.com/office/drawing/2014/main" id="{D9BAEE79-3E5C-44A9-BDA1-44AB31B02525}"/>
                </a:ext>
              </a:extLst>
            </p:cNvPr>
            <p:cNvCxnSpPr>
              <a:cxnSpLocks/>
            </p:cNvCxnSpPr>
            <p:nvPr/>
          </p:nvCxnSpPr>
          <p:spPr>
            <a:xfrm>
              <a:off x="6111740" y="2343201"/>
              <a:ext cx="659111"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sp>
          <p:nvSpPr>
            <p:cNvPr id="169" name="文本框 168">
              <a:extLst>
                <a:ext uri="{FF2B5EF4-FFF2-40B4-BE49-F238E27FC236}">
                  <a16:creationId xmlns:a16="http://schemas.microsoft.com/office/drawing/2014/main" id="{95AFCCCE-AC95-48A8-B66D-0B6E5A072901}"/>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grpSp>
      <p:grpSp>
        <p:nvGrpSpPr>
          <p:cNvPr id="171" name="组合 170">
            <a:extLst>
              <a:ext uri="{FF2B5EF4-FFF2-40B4-BE49-F238E27FC236}">
                <a16:creationId xmlns:a16="http://schemas.microsoft.com/office/drawing/2014/main" id="{F3D4D5C1-041F-4D59-93FD-1E17F8517528}"/>
              </a:ext>
            </a:extLst>
          </p:cNvPr>
          <p:cNvGrpSpPr/>
          <p:nvPr/>
        </p:nvGrpSpPr>
        <p:grpSpPr>
          <a:xfrm rot="17644343">
            <a:off x="6460034" y="4189023"/>
            <a:ext cx="790980" cy="315506"/>
            <a:chOff x="5974511" y="2048581"/>
            <a:chExt cx="965450" cy="294621"/>
          </a:xfrm>
        </p:grpSpPr>
        <p:sp>
          <p:nvSpPr>
            <p:cNvPr id="172" name="文本框 171">
              <a:extLst>
                <a:ext uri="{FF2B5EF4-FFF2-40B4-BE49-F238E27FC236}">
                  <a16:creationId xmlns:a16="http://schemas.microsoft.com/office/drawing/2014/main" id="{71D9C835-D642-41D0-BF90-E44579956C84}"/>
                </a:ext>
              </a:extLst>
            </p:cNvPr>
            <p:cNvSpPr txBox="1"/>
            <p:nvPr/>
          </p:nvSpPr>
          <p:spPr>
            <a:xfrm>
              <a:off x="5974511" y="2048581"/>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cxnSp>
          <p:nvCxnSpPr>
            <p:cNvPr id="173" name="直接箭头连接符 172">
              <a:extLst>
                <a:ext uri="{FF2B5EF4-FFF2-40B4-BE49-F238E27FC236}">
                  <a16:creationId xmlns:a16="http://schemas.microsoft.com/office/drawing/2014/main" id="{8B13E430-6E6B-47AA-9E0E-4DAE78F90B4A}"/>
                </a:ext>
              </a:extLst>
            </p:cNvPr>
            <p:cNvCxnSpPr>
              <a:cxnSpLocks/>
            </p:cNvCxnSpPr>
            <p:nvPr/>
          </p:nvCxnSpPr>
          <p:spPr>
            <a:xfrm>
              <a:off x="6022967" y="2343201"/>
              <a:ext cx="862130"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75" name="组合 174">
            <a:extLst>
              <a:ext uri="{FF2B5EF4-FFF2-40B4-BE49-F238E27FC236}">
                <a16:creationId xmlns:a16="http://schemas.microsoft.com/office/drawing/2014/main" id="{EC942772-328F-4B10-A19B-B02A35A03518}"/>
              </a:ext>
            </a:extLst>
          </p:cNvPr>
          <p:cNvGrpSpPr/>
          <p:nvPr/>
        </p:nvGrpSpPr>
        <p:grpSpPr>
          <a:xfrm rot="17728838">
            <a:off x="6438488" y="4239228"/>
            <a:ext cx="765079" cy="315507"/>
            <a:chOff x="6006124" y="2048580"/>
            <a:chExt cx="933836" cy="294622"/>
          </a:xfrm>
        </p:grpSpPr>
        <p:sp>
          <p:nvSpPr>
            <p:cNvPr id="176" name="文本框 175">
              <a:extLst>
                <a:ext uri="{FF2B5EF4-FFF2-40B4-BE49-F238E27FC236}">
                  <a16:creationId xmlns:a16="http://schemas.microsoft.com/office/drawing/2014/main" id="{2168795D-0FD7-4DCE-AFA5-654074EACD84}"/>
                </a:ext>
              </a:extLst>
            </p:cNvPr>
            <p:cNvSpPr txBox="1"/>
            <p:nvPr/>
          </p:nvSpPr>
          <p:spPr>
            <a:xfrm>
              <a:off x="6006124" y="2048580"/>
              <a:ext cx="933836"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cxnSp>
          <p:nvCxnSpPr>
            <p:cNvPr id="177" name="直接箭头连接符 176">
              <a:extLst>
                <a:ext uri="{FF2B5EF4-FFF2-40B4-BE49-F238E27FC236}">
                  <a16:creationId xmlns:a16="http://schemas.microsoft.com/office/drawing/2014/main" id="{8C176D71-3238-42BD-AF04-2E4E43B434D9}"/>
                </a:ext>
              </a:extLst>
            </p:cNvPr>
            <p:cNvCxnSpPr>
              <a:cxnSpLocks/>
            </p:cNvCxnSpPr>
            <p:nvPr/>
          </p:nvCxnSpPr>
          <p:spPr>
            <a:xfrm>
              <a:off x="6022967" y="2343201"/>
              <a:ext cx="862130" cy="1"/>
            </a:xfrm>
            <a:prstGeom prst="straightConnector1">
              <a:avLst/>
            </a:prstGeom>
            <a:ln w="19050">
              <a:solidFill>
                <a:srgbClr val="AC830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grpSp>
      <p:grpSp>
        <p:nvGrpSpPr>
          <p:cNvPr id="179" name="组合 178">
            <a:extLst>
              <a:ext uri="{FF2B5EF4-FFF2-40B4-BE49-F238E27FC236}">
                <a16:creationId xmlns:a16="http://schemas.microsoft.com/office/drawing/2014/main" id="{94D525B9-E3F3-4980-A416-D013B6F554E8}"/>
              </a:ext>
            </a:extLst>
          </p:cNvPr>
          <p:cNvGrpSpPr/>
          <p:nvPr/>
        </p:nvGrpSpPr>
        <p:grpSpPr>
          <a:xfrm rot="5400000">
            <a:off x="7294120" y="2895867"/>
            <a:ext cx="540000" cy="790980"/>
            <a:chOff x="6111740" y="1808602"/>
            <a:chExt cx="659111" cy="738620"/>
          </a:xfrm>
        </p:grpSpPr>
        <p:cxnSp>
          <p:nvCxnSpPr>
            <p:cNvPr id="180" name="直接箭头连接符 179">
              <a:extLst>
                <a:ext uri="{FF2B5EF4-FFF2-40B4-BE49-F238E27FC236}">
                  <a16:creationId xmlns:a16="http://schemas.microsoft.com/office/drawing/2014/main" id="{14AD8503-3828-4475-95BE-33960E95A839}"/>
                </a:ext>
              </a:extLst>
            </p:cNvPr>
            <p:cNvCxnSpPr>
              <a:cxnSpLocks/>
            </p:cNvCxnSpPr>
            <p:nvPr/>
          </p:nvCxnSpPr>
          <p:spPr>
            <a:xfrm>
              <a:off x="6111740" y="2343201"/>
              <a:ext cx="659111"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181" name="文本框 180">
              <a:extLst>
                <a:ext uri="{FF2B5EF4-FFF2-40B4-BE49-F238E27FC236}">
                  <a16:creationId xmlns:a16="http://schemas.microsoft.com/office/drawing/2014/main" id="{BED7A44D-CF96-4211-B88E-A1E9E66CC5F7}"/>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grpSp>
      <p:grpSp>
        <p:nvGrpSpPr>
          <p:cNvPr id="183" name="组合 182">
            <a:extLst>
              <a:ext uri="{FF2B5EF4-FFF2-40B4-BE49-F238E27FC236}">
                <a16:creationId xmlns:a16="http://schemas.microsoft.com/office/drawing/2014/main" id="{4315F59A-1DB3-4200-813E-BC2ABA2643A4}"/>
              </a:ext>
            </a:extLst>
          </p:cNvPr>
          <p:cNvGrpSpPr/>
          <p:nvPr/>
        </p:nvGrpSpPr>
        <p:grpSpPr>
          <a:xfrm rot="17725189">
            <a:off x="6496124" y="4192245"/>
            <a:ext cx="721777" cy="310316"/>
            <a:chOff x="5974512" y="2007773"/>
            <a:chExt cx="965450" cy="346727"/>
          </a:xfrm>
          <a:solidFill>
            <a:srgbClr val="C9F1FF"/>
          </a:solidFill>
        </p:grpSpPr>
        <p:sp>
          <p:nvSpPr>
            <p:cNvPr id="184" name="文本框 183">
              <a:extLst>
                <a:ext uri="{FF2B5EF4-FFF2-40B4-BE49-F238E27FC236}">
                  <a16:creationId xmlns:a16="http://schemas.microsoft.com/office/drawing/2014/main" id="{30BF4EED-F399-4299-9BA3-E75835213B55}"/>
                </a:ext>
              </a:extLst>
            </p:cNvPr>
            <p:cNvSpPr txBox="1"/>
            <p:nvPr/>
          </p:nvSpPr>
          <p:spPr>
            <a:xfrm>
              <a:off x="5974512" y="2007773"/>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185" name="直接箭头连接符 184">
              <a:extLst>
                <a:ext uri="{FF2B5EF4-FFF2-40B4-BE49-F238E27FC236}">
                  <a16:creationId xmlns:a16="http://schemas.microsoft.com/office/drawing/2014/main" id="{DAECD774-71D0-4752-B913-AE8A23D2D650}"/>
                </a:ext>
              </a:extLst>
            </p:cNvPr>
            <p:cNvCxnSpPr>
              <a:cxnSpLocks/>
            </p:cNvCxnSpPr>
            <p:nvPr/>
          </p:nvCxnSpPr>
          <p:spPr>
            <a:xfrm>
              <a:off x="6035815" y="2354499"/>
              <a:ext cx="862130" cy="1"/>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91" name="组合 190">
            <a:extLst>
              <a:ext uri="{FF2B5EF4-FFF2-40B4-BE49-F238E27FC236}">
                <a16:creationId xmlns:a16="http://schemas.microsoft.com/office/drawing/2014/main" id="{3473D1D5-57DB-435B-BA0A-D2C948E467BD}"/>
              </a:ext>
            </a:extLst>
          </p:cNvPr>
          <p:cNvGrpSpPr/>
          <p:nvPr/>
        </p:nvGrpSpPr>
        <p:grpSpPr>
          <a:xfrm rot="1644041">
            <a:off x="7836834" y="3934502"/>
            <a:ext cx="790980" cy="315506"/>
            <a:chOff x="5974512" y="2048581"/>
            <a:chExt cx="965450" cy="294621"/>
          </a:xfrm>
        </p:grpSpPr>
        <p:sp>
          <p:nvSpPr>
            <p:cNvPr id="192" name="文本框 191">
              <a:extLst>
                <a:ext uri="{FF2B5EF4-FFF2-40B4-BE49-F238E27FC236}">
                  <a16:creationId xmlns:a16="http://schemas.microsoft.com/office/drawing/2014/main" id="{5C25186B-E911-431F-9510-BFEC921D48FF}"/>
                </a:ext>
              </a:extLst>
            </p:cNvPr>
            <p:cNvSpPr txBox="1"/>
            <p:nvPr/>
          </p:nvSpPr>
          <p:spPr>
            <a:xfrm>
              <a:off x="5974512" y="2048581"/>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cxnSp>
          <p:nvCxnSpPr>
            <p:cNvPr id="193" name="直接箭头连接符 192">
              <a:extLst>
                <a:ext uri="{FF2B5EF4-FFF2-40B4-BE49-F238E27FC236}">
                  <a16:creationId xmlns:a16="http://schemas.microsoft.com/office/drawing/2014/main" id="{25128EE0-8607-429C-88EA-17C26A0379AF}"/>
                </a:ext>
              </a:extLst>
            </p:cNvPr>
            <p:cNvCxnSpPr>
              <a:cxnSpLocks/>
            </p:cNvCxnSpPr>
            <p:nvPr/>
          </p:nvCxnSpPr>
          <p:spPr>
            <a:xfrm>
              <a:off x="6022967" y="2343201"/>
              <a:ext cx="862130"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95" name="组合 194">
            <a:extLst>
              <a:ext uri="{FF2B5EF4-FFF2-40B4-BE49-F238E27FC236}">
                <a16:creationId xmlns:a16="http://schemas.microsoft.com/office/drawing/2014/main" id="{F3CE08E1-44DC-48B0-A45C-B320C81A610B}"/>
              </a:ext>
            </a:extLst>
          </p:cNvPr>
          <p:cNvGrpSpPr/>
          <p:nvPr/>
        </p:nvGrpSpPr>
        <p:grpSpPr>
          <a:xfrm rot="5400000">
            <a:off x="7300479" y="2889517"/>
            <a:ext cx="540000" cy="790980"/>
            <a:chOff x="6111740" y="1808602"/>
            <a:chExt cx="659111" cy="738620"/>
          </a:xfrm>
        </p:grpSpPr>
        <p:cxnSp>
          <p:nvCxnSpPr>
            <p:cNvPr id="196" name="直接箭头连接符 195">
              <a:extLst>
                <a:ext uri="{FF2B5EF4-FFF2-40B4-BE49-F238E27FC236}">
                  <a16:creationId xmlns:a16="http://schemas.microsoft.com/office/drawing/2014/main" id="{D7A00300-A760-47C1-8602-8FB45702270D}"/>
                </a:ext>
              </a:extLst>
            </p:cNvPr>
            <p:cNvCxnSpPr>
              <a:cxnSpLocks/>
            </p:cNvCxnSpPr>
            <p:nvPr/>
          </p:nvCxnSpPr>
          <p:spPr>
            <a:xfrm>
              <a:off x="6111740" y="2343201"/>
              <a:ext cx="659111"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197" name="文本框 196">
              <a:extLst>
                <a:ext uri="{FF2B5EF4-FFF2-40B4-BE49-F238E27FC236}">
                  <a16:creationId xmlns:a16="http://schemas.microsoft.com/office/drawing/2014/main" id="{63357A49-F1EF-4E3B-9E46-4779B1E7C4CB}"/>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grpSp>
      <p:grpSp>
        <p:nvGrpSpPr>
          <p:cNvPr id="199" name="组合 198">
            <a:extLst>
              <a:ext uri="{FF2B5EF4-FFF2-40B4-BE49-F238E27FC236}">
                <a16:creationId xmlns:a16="http://schemas.microsoft.com/office/drawing/2014/main" id="{3D24A444-29F9-47FE-B7F3-295BFF92199D}"/>
              </a:ext>
            </a:extLst>
          </p:cNvPr>
          <p:cNvGrpSpPr/>
          <p:nvPr/>
        </p:nvGrpSpPr>
        <p:grpSpPr>
          <a:xfrm rot="5400000">
            <a:off x="7308993" y="2910663"/>
            <a:ext cx="540000" cy="790980"/>
            <a:chOff x="6111740" y="1808602"/>
            <a:chExt cx="659111" cy="738620"/>
          </a:xfrm>
        </p:grpSpPr>
        <p:cxnSp>
          <p:nvCxnSpPr>
            <p:cNvPr id="200" name="直接箭头连接符 199">
              <a:extLst>
                <a:ext uri="{FF2B5EF4-FFF2-40B4-BE49-F238E27FC236}">
                  <a16:creationId xmlns:a16="http://schemas.microsoft.com/office/drawing/2014/main" id="{7D8ECD52-68E9-42A9-836B-A925AC5404ED}"/>
                </a:ext>
              </a:extLst>
            </p:cNvPr>
            <p:cNvCxnSpPr>
              <a:cxnSpLocks/>
            </p:cNvCxnSpPr>
            <p:nvPr/>
          </p:nvCxnSpPr>
          <p:spPr>
            <a:xfrm>
              <a:off x="6111740" y="2343201"/>
              <a:ext cx="659111" cy="1"/>
            </a:xfrm>
            <a:prstGeom prst="straightConnector1">
              <a:avLst/>
            </a:prstGeom>
            <a:ln w="19050">
              <a:solidFill>
                <a:srgbClr val="AC830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sp>
          <p:nvSpPr>
            <p:cNvPr id="201" name="文本框 200">
              <a:extLst>
                <a:ext uri="{FF2B5EF4-FFF2-40B4-BE49-F238E27FC236}">
                  <a16:creationId xmlns:a16="http://schemas.microsoft.com/office/drawing/2014/main" id="{E081CCA3-4A58-45AC-A537-B77F1FB7459A}"/>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grpSp>
      <p:grpSp>
        <p:nvGrpSpPr>
          <p:cNvPr id="203" name="组合 202">
            <a:extLst>
              <a:ext uri="{FF2B5EF4-FFF2-40B4-BE49-F238E27FC236}">
                <a16:creationId xmlns:a16="http://schemas.microsoft.com/office/drawing/2014/main" id="{EF3124F6-E9F9-4291-BF0C-5C12E9D01B2D}"/>
              </a:ext>
            </a:extLst>
          </p:cNvPr>
          <p:cNvGrpSpPr/>
          <p:nvPr/>
        </p:nvGrpSpPr>
        <p:grpSpPr>
          <a:xfrm rot="1655976">
            <a:off x="7548815" y="3778114"/>
            <a:ext cx="790980" cy="315506"/>
            <a:chOff x="5974511" y="2048581"/>
            <a:chExt cx="965450" cy="294621"/>
          </a:xfrm>
        </p:grpSpPr>
        <p:sp>
          <p:nvSpPr>
            <p:cNvPr id="204" name="文本框 203">
              <a:extLst>
                <a:ext uri="{FF2B5EF4-FFF2-40B4-BE49-F238E27FC236}">
                  <a16:creationId xmlns:a16="http://schemas.microsoft.com/office/drawing/2014/main" id="{F93AC3F1-FC11-4110-AC13-11A33F06FABC}"/>
                </a:ext>
              </a:extLst>
            </p:cNvPr>
            <p:cNvSpPr txBox="1"/>
            <p:nvPr/>
          </p:nvSpPr>
          <p:spPr>
            <a:xfrm>
              <a:off x="5974511" y="2048581"/>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cxnSp>
          <p:nvCxnSpPr>
            <p:cNvPr id="205" name="直接箭头连接符 204">
              <a:extLst>
                <a:ext uri="{FF2B5EF4-FFF2-40B4-BE49-F238E27FC236}">
                  <a16:creationId xmlns:a16="http://schemas.microsoft.com/office/drawing/2014/main" id="{BC05D2ED-63F4-4159-846D-506D43841EBB}"/>
                </a:ext>
              </a:extLst>
            </p:cNvPr>
            <p:cNvCxnSpPr>
              <a:cxnSpLocks/>
            </p:cNvCxnSpPr>
            <p:nvPr/>
          </p:nvCxnSpPr>
          <p:spPr>
            <a:xfrm>
              <a:off x="6022967" y="2343201"/>
              <a:ext cx="862130" cy="1"/>
            </a:xfrm>
            <a:prstGeom prst="straightConnector1">
              <a:avLst/>
            </a:prstGeom>
            <a:ln w="19050">
              <a:solidFill>
                <a:srgbClr val="AC830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grpSp>
      <p:grpSp>
        <p:nvGrpSpPr>
          <p:cNvPr id="207" name="组合 206">
            <a:extLst>
              <a:ext uri="{FF2B5EF4-FFF2-40B4-BE49-F238E27FC236}">
                <a16:creationId xmlns:a16="http://schemas.microsoft.com/office/drawing/2014/main" id="{C9F6BA85-0E2A-4B92-9A23-5CA273C2608E}"/>
              </a:ext>
            </a:extLst>
          </p:cNvPr>
          <p:cNvGrpSpPr/>
          <p:nvPr/>
        </p:nvGrpSpPr>
        <p:grpSpPr>
          <a:xfrm rot="1648335">
            <a:off x="7959674" y="3984895"/>
            <a:ext cx="721777" cy="319200"/>
            <a:chOff x="5974513" y="2007772"/>
            <a:chExt cx="965450" cy="356655"/>
          </a:xfrm>
          <a:solidFill>
            <a:srgbClr val="C9F1FF"/>
          </a:solidFill>
        </p:grpSpPr>
        <p:sp>
          <p:nvSpPr>
            <p:cNvPr id="208" name="文本框 207">
              <a:extLst>
                <a:ext uri="{FF2B5EF4-FFF2-40B4-BE49-F238E27FC236}">
                  <a16:creationId xmlns:a16="http://schemas.microsoft.com/office/drawing/2014/main" id="{810075C3-D589-4221-A18A-2B9703D19E66}"/>
                </a:ext>
              </a:extLst>
            </p:cNvPr>
            <p:cNvSpPr txBox="1"/>
            <p:nvPr/>
          </p:nvSpPr>
          <p:spPr>
            <a:xfrm>
              <a:off x="5974513" y="2007772"/>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209" name="直接箭头连接符 208">
              <a:extLst>
                <a:ext uri="{FF2B5EF4-FFF2-40B4-BE49-F238E27FC236}">
                  <a16:creationId xmlns:a16="http://schemas.microsoft.com/office/drawing/2014/main" id="{90FF4F18-548C-49B1-8C3A-0CB81A9FDE32}"/>
                </a:ext>
              </a:extLst>
            </p:cNvPr>
            <p:cNvCxnSpPr>
              <a:cxnSpLocks/>
            </p:cNvCxnSpPr>
            <p:nvPr/>
          </p:nvCxnSpPr>
          <p:spPr>
            <a:xfrm>
              <a:off x="6043116" y="2364426"/>
              <a:ext cx="862130" cy="1"/>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211" name="组合 210">
            <a:extLst>
              <a:ext uri="{FF2B5EF4-FFF2-40B4-BE49-F238E27FC236}">
                <a16:creationId xmlns:a16="http://schemas.microsoft.com/office/drawing/2014/main" id="{1A313B0D-7436-47F4-9618-DC5876204F7B}"/>
              </a:ext>
            </a:extLst>
          </p:cNvPr>
          <p:cNvGrpSpPr/>
          <p:nvPr/>
        </p:nvGrpSpPr>
        <p:grpSpPr>
          <a:xfrm>
            <a:off x="7060799" y="3021812"/>
            <a:ext cx="721777" cy="501996"/>
            <a:chOff x="5974512" y="1914912"/>
            <a:chExt cx="965450" cy="560898"/>
          </a:xfrm>
          <a:solidFill>
            <a:srgbClr val="C9F1FF"/>
          </a:solidFill>
        </p:grpSpPr>
        <p:cxnSp>
          <p:nvCxnSpPr>
            <p:cNvPr id="212" name="直接箭头连接符 211">
              <a:extLst>
                <a:ext uri="{FF2B5EF4-FFF2-40B4-BE49-F238E27FC236}">
                  <a16:creationId xmlns:a16="http://schemas.microsoft.com/office/drawing/2014/main" id="{204C8FBD-585B-42E5-968D-94BDB474DF40}"/>
                </a:ext>
              </a:extLst>
            </p:cNvPr>
            <p:cNvCxnSpPr>
              <a:cxnSpLocks/>
            </p:cNvCxnSpPr>
            <p:nvPr/>
          </p:nvCxnSpPr>
          <p:spPr>
            <a:xfrm>
              <a:off x="6408419" y="1914912"/>
              <a:ext cx="0" cy="560898"/>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213" name="文本框 212">
              <a:extLst>
                <a:ext uri="{FF2B5EF4-FFF2-40B4-BE49-F238E27FC236}">
                  <a16:creationId xmlns:a16="http://schemas.microsoft.com/office/drawing/2014/main" id="{F19BFD47-48CC-4E23-9639-CAE5D2003812}"/>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215" name="组合 214">
            <a:extLst>
              <a:ext uri="{FF2B5EF4-FFF2-40B4-BE49-F238E27FC236}">
                <a16:creationId xmlns:a16="http://schemas.microsoft.com/office/drawing/2014/main" id="{AD9947B0-858A-4C1F-B176-F4F61E17B126}"/>
              </a:ext>
            </a:extLst>
          </p:cNvPr>
          <p:cNvGrpSpPr/>
          <p:nvPr/>
        </p:nvGrpSpPr>
        <p:grpSpPr>
          <a:xfrm>
            <a:off x="7071208" y="3034353"/>
            <a:ext cx="721777" cy="501996"/>
            <a:chOff x="5974512" y="1914912"/>
            <a:chExt cx="965450" cy="560898"/>
          </a:xfrm>
          <a:solidFill>
            <a:srgbClr val="C9F1FF"/>
          </a:solidFill>
        </p:grpSpPr>
        <p:cxnSp>
          <p:nvCxnSpPr>
            <p:cNvPr id="216" name="直接箭头连接符 215">
              <a:extLst>
                <a:ext uri="{FF2B5EF4-FFF2-40B4-BE49-F238E27FC236}">
                  <a16:creationId xmlns:a16="http://schemas.microsoft.com/office/drawing/2014/main" id="{6C036116-0213-48E5-8AD5-8E76D209F748}"/>
                </a:ext>
              </a:extLst>
            </p:cNvPr>
            <p:cNvCxnSpPr>
              <a:cxnSpLocks/>
            </p:cNvCxnSpPr>
            <p:nvPr/>
          </p:nvCxnSpPr>
          <p:spPr>
            <a:xfrm>
              <a:off x="6408419" y="1914912"/>
              <a:ext cx="0" cy="560898"/>
            </a:xfrm>
            <a:prstGeom prst="straightConnector1">
              <a:avLst/>
            </a:prstGeom>
            <a:grpFill/>
            <a:ln w="19050">
              <a:solidFill>
                <a:srgbClr val="0070C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sp>
          <p:nvSpPr>
            <p:cNvPr id="217" name="文本框 216">
              <a:extLst>
                <a:ext uri="{FF2B5EF4-FFF2-40B4-BE49-F238E27FC236}">
                  <a16:creationId xmlns:a16="http://schemas.microsoft.com/office/drawing/2014/main" id="{06A3587C-D5E8-428F-AD5E-BB542697353C}"/>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219" name="组合 218">
            <a:extLst>
              <a:ext uri="{FF2B5EF4-FFF2-40B4-BE49-F238E27FC236}">
                <a16:creationId xmlns:a16="http://schemas.microsoft.com/office/drawing/2014/main" id="{D4E98545-0C49-4CB3-BEF7-9DDDA962A0F2}"/>
              </a:ext>
            </a:extLst>
          </p:cNvPr>
          <p:cNvGrpSpPr/>
          <p:nvPr/>
        </p:nvGrpSpPr>
        <p:grpSpPr>
          <a:xfrm rot="17715186">
            <a:off x="6499475" y="4185604"/>
            <a:ext cx="721777" cy="310339"/>
            <a:chOff x="5974510" y="2007774"/>
            <a:chExt cx="965450" cy="346753"/>
          </a:xfrm>
          <a:solidFill>
            <a:srgbClr val="C9F1FF"/>
          </a:solidFill>
        </p:grpSpPr>
        <p:sp>
          <p:nvSpPr>
            <p:cNvPr id="220" name="文本框 219">
              <a:extLst>
                <a:ext uri="{FF2B5EF4-FFF2-40B4-BE49-F238E27FC236}">
                  <a16:creationId xmlns:a16="http://schemas.microsoft.com/office/drawing/2014/main" id="{CFDEBC3E-5129-48D1-9E15-711E392B989F}"/>
                </a:ext>
              </a:extLst>
            </p:cNvPr>
            <p:cNvSpPr txBox="1"/>
            <p:nvPr/>
          </p:nvSpPr>
          <p:spPr>
            <a:xfrm>
              <a:off x="5974510" y="200777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221" name="直接箭头连接符 220">
              <a:extLst>
                <a:ext uri="{FF2B5EF4-FFF2-40B4-BE49-F238E27FC236}">
                  <a16:creationId xmlns:a16="http://schemas.microsoft.com/office/drawing/2014/main" id="{6181ADB7-C93B-4EC9-95E8-F9A572334C9B}"/>
                </a:ext>
              </a:extLst>
            </p:cNvPr>
            <p:cNvCxnSpPr>
              <a:cxnSpLocks/>
            </p:cNvCxnSpPr>
            <p:nvPr/>
          </p:nvCxnSpPr>
          <p:spPr>
            <a:xfrm>
              <a:off x="6035741" y="2354526"/>
              <a:ext cx="862130" cy="1"/>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sp>
        <p:nvSpPr>
          <p:cNvPr id="4" name="日期占位符 3">
            <a:extLst>
              <a:ext uri="{FF2B5EF4-FFF2-40B4-BE49-F238E27FC236}">
                <a16:creationId xmlns:a16="http://schemas.microsoft.com/office/drawing/2014/main" id="{67B7490F-4E35-4319-9634-9B8074EC581C}"/>
              </a:ext>
            </a:extLst>
          </p:cNvPr>
          <p:cNvSpPr>
            <a:spLocks noGrp="1"/>
          </p:cNvSpPr>
          <p:nvPr>
            <p:ph type="dt" sz="half" idx="10"/>
          </p:nvPr>
        </p:nvSpPr>
        <p:spPr/>
        <p:txBody>
          <a:bodyPr/>
          <a:lstStyle/>
          <a:p>
            <a:r>
              <a:rPr kumimoji="1" lang="en-US" altLang="zh-CN" dirty="0"/>
              <a:t>5.10.1 </a:t>
            </a:r>
            <a:r>
              <a:rPr kumimoji="1" lang="zh-CN" altLang="en-US" dirty="0"/>
              <a:t>三层交换</a:t>
            </a:r>
          </a:p>
        </p:txBody>
      </p:sp>
      <p:sp>
        <p:nvSpPr>
          <p:cNvPr id="92" name="文本框 91">
            <a:extLst>
              <a:ext uri="{FF2B5EF4-FFF2-40B4-BE49-F238E27FC236}">
                <a16:creationId xmlns:a16="http://schemas.microsoft.com/office/drawing/2014/main" id="{7FEE7738-F015-44FB-8FCC-DC25C6D8565D}"/>
              </a:ext>
            </a:extLst>
          </p:cNvPr>
          <p:cNvSpPr txBox="1"/>
          <p:nvPr/>
        </p:nvSpPr>
        <p:spPr>
          <a:xfrm>
            <a:off x="738521" y="3477803"/>
            <a:ext cx="2521844" cy="584775"/>
          </a:xfrm>
          <a:prstGeom prst="rect">
            <a:avLst/>
          </a:prstGeom>
          <a:noFill/>
          <a:ln>
            <a:solidFill>
              <a:srgbClr val="C00000"/>
            </a:solidFill>
          </a:ln>
        </p:spPr>
        <p:txBody>
          <a:bodyPr wrap="none" rtlCol="0">
            <a:spAutoFit/>
          </a:bodyPr>
          <a:lstStyle/>
          <a:p>
            <a:r>
              <a:rPr lang="zh-CN" altLang="en-US" sz="1600" dirty="0"/>
              <a:t>第一次通信</a:t>
            </a:r>
            <a:r>
              <a:rPr lang="en-US" altLang="zh-CN" sz="1600" dirty="0"/>
              <a:t>PC1</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1</a:t>
            </a:r>
            <a:r>
              <a:rPr lang="zh-CN" altLang="en-US" sz="1600" dirty="0">
                <a:solidFill>
                  <a:srgbClr val="C00000"/>
                </a:solidFill>
              </a:rPr>
              <a:t>：</a:t>
            </a:r>
            <a:r>
              <a:rPr lang="en-US" altLang="zh-CN" sz="1600" dirty="0">
                <a:solidFill>
                  <a:srgbClr val="C00000"/>
                </a:solidFill>
              </a:rPr>
              <a:t>PC1</a:t>
            </a:r>
            <a:r>
              <a:rPr lang="zh-CN" altLang="en-US" sz="1600" dirty="0">
                <a:solidFill>
                  <a:srgbClr val="C00000"/>
                </a:solidFill>
              </a:rPr>
              <a:t>与路由器通信</a:t>
            </a:r>
          </a:p>
        </p:txBody>
      </p:sp>
      <p:sp>
        <p:nvSpPr>
          <p:cNvPr id="93" name="文本框 92">
            <a:extLst>
              <a:ext uri="{FF2B5EF4-FFF2-40B4-BE49-F238E27FC236}">
                <a16:creationId xmlns:a16="http://schemas.microsoft.com/office/drawing/2014/main" id="{1283DCAE-102E-4052-9232-F41F6DCEED1A}"/>
              </a:ext>
            </a:extLst>
          </p:cNvPr>
          <p:cNvSpPr txBox="1"/>
          <p:nvPr/>
        </p:nvSpPr>
        <p:spPr>
          <a:xfrm>
            <a:off x="736755" y="3475018"/>
            <a:ext cx="2521844" cy="584775"/>
          </a:xfrm>
          <a:prstGeom prst="rect">
            <a:avLst/>
          </a:prstGeom>
          <a:noFill/>
          <a:ln>
            <a:solidFill>
              <a:srgbClr val="C00000"/>
            </a:solidFill>
          </a:ln>
        </p:spPr>
        <p:txBody>
          <a:bodyPr wrap="none" rtlCol="0">
            <a:spAutoFit/>
          </a:bodyPr>
          <a:lstStyle/>
          <a:p>
            <a:r>
              <a:rPr lang="zh-CN" altLang="en-US" sz="1600" dirty="0"/>
              <a:t>第一次通信</a:t>
            </a:r>
            <a:r>
              <a:rPr lang="en-US" altLang="zh-CN" sz="1600" dirty="0"/>
              <a:t>PC1</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2</a:t>
            </a:r>
            <a:r>
              <a:rPr lang="zh-CN" altLang="en-US" sz="1600" dirty="0">
                <a:solidFill>
                  <a:srgbClr val="C00000"/>
                </a:solidFill>
              </a:rPr>
              <a:t>：路由器 </a:t>
            </a:r>
            <a:r>
              <a:rPr lang="en-US" altLang="zh-CN" sz="1600" dirty="0">
                <a:solidFill>
                  <a:srgbClr val="C00000"/>
                </a:solidFill>
              </a:rPr>
              <a:t>PC2</a:t>
            </a:r>
            <a:r>
              <a:rPr lang="zh-CN" altLang="en-US" sz="1600" dirty="0">
                <a:solidFill>
                  <a:srgbClr val="C00000"/>
                </a:solidFill>
              </a:rPr>
              <a:t>通信</a:t>
            </a:r>
          </a:p>
        </p:txBody>
      </p:sp>
      <p:sp>
        <p:nvSpPr>
          <p:cNvPr id="94" name="文本框 93">
            <a:extLst>
              <a:ext uri="{FF2B5EF4-FFF2-40B4-BE49-F238E27FC236}">
                <a16:creationId xmlns:a16="http://schemas.microsoft.com/office/drawing/2014/main" id="{2647B04E-1587-4376-A8D8-47C5A68FB676}"/>
              </a:ext>
            </a:extLst>
          </p:cNvPr>
          <p:cNvSpPr txBox="1"/>
          <p:nvPr/>
        </p:nvSpPr>
        <p:spPr>
          <a:xfrm>
            <a:off x="742774" y="4298874"/>
            <a:ext cx="2521844" cy="584775"/>
          </a:xfrm>
          <a:prstGeom prst="rect">
            <a:avLst/>
          </a:prstGeom>
          <a:noFill/>
          <a:ln>
            <a:solidFill>
              <a:srgbClr val="C00000"/>
            </a:solidFill>
          </a:ln>
        </p:spPr>
        <p:txBody>
          <a:bodyPr wrap="none" rtlCol="0">
            <a:spAutoFit/>
          </a:bodyPr>
          <a:lstStyle/>
          <a:p>
            <a:r>
              <a:rPr lang="zh-CN" altLang="en-US" sz="1600" dirty="0"/>
              <a:t>第二次通信</a:t>
            </a:r>
            <a:r>
              <a:rPr lang="en-US" altLang="zh-CN" sz="1600" dirty="0"/>
              <a:t>PC3</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2</a:t>
            </a:r>
            <a:r>
              <a:rPr lang="zh-CN" altLang="en-US" sz="1600" dirty="0">
                <a:solidFill>
                  <a:srgbClr val="C00000"/>
                </a:solidFill>
              </a:rPr>
              <a:t>：路由器 </a:t>
            </a:r>
            <a:r>
              <a:rPr lang="en-US" altLang="zh-CN" sz="1600" dirty="0">
                <a:solidFill>
                  <a:srgbClr val="C00000"/>
                </a:solidFill>
              </a:rPr>
              <a:t>PC2</a:t>
            </a:r>
            <a:r>
              <a:rPr lang="zh-CN" altLang="en-US" sz="1600" dirty="0">
                <a:solidFill>
                  <a:srgbClr val="C00000"/>
                </a:solidFill>
              </a:rPr>
              <a:t>通信</a:t>
            </a:r>
          </a:p>
        </p:txBody>
      </p:sp>
      <p:sp>
        <p:nvSpPr>
          <p:cNvPr id="95" name="文本框 94">
            <a:extLst>
              <a:ext uri="{FF2B5EF4-FFF2-40B4-BE49-F238E27FC236}">
                <a16:creationId xmlns:a16="http://schemas.microsoft.com/office/drawing/2014/main" id="{90DB3A1C-57BC-4EC3-A66D-9857B0960B19}"/>
              </a:ext>
            </a:extLst>
          </p:cNvPr>
          <p:cNvSpPr txBox="1"/>
          <p:nvPr/>
        </p:nvSpPr>
        <p:spPr>
          <a:xfrm>
            <a:off x="742760" y="4308756"/>
            <a:ext cx="2521844" cy="584775"/>
          </a:xfrm>
          <a:prstGeom prst="rect">
            <a:avLst/>
          </a:prstGeom>
          <a:noFill/>
          <a:ln>
            <a:solidFill>
              <a:srgbClr val="C00000"/>
            </a:solidFill>
          </a:ln>
        </p:spPr>
        <p:txBody>
          <a:bodyPr wrap="none" rtlCol="0">
            <a:spAutoFit/>
          </a:bodyPr>
          <a:lstStyle/>
          <a:p>
            <a:r>
              <a:rPr lang="zh-CN" altLang="en-US" sz="1600" dirty="0"/>
              <a:t>第二次通信</a:t>
            </a:r>
            <a:r>
              <a:rPr lang="en-US" altLang="zh-CN" sz="1600" dirty="0"/>
              <a:t>PC3</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1</a:t>
            </a:r>
            <a:r>
              <a:rPr lang="zh-CN" altLang="en-US" sz="1600" dirty="0">
                <a:solidFill>
                  <a:srgbClr val="C00000"/>
                </a:solidFill>
              </a:rPr>
              <a:t>：</a:t>
            </a:r>
            <a:r>
              <a:rPr lang="en-US" altLang="zh-CN" sz="1600" dirty="0">
                <a:solidFill>
                  <a:srgbClr val="C00000"/>
                </a:solidFill>
              </a:rPr>
              <a:t>PC3</a:t>
            </a:r>
            <a:r>
              <a:rPr lang="zh-CN" altLang="en-US" sz="1600" dirty="0">
                <a:solidFill>
                  <a:srgbClr val="C00000"/>
                </a:solidFill>
              </a:rPr>
              <a:t>与路由器通信</a:t>
            </a:r>
          </a:p>
        </p:txBody>
      </p:sp>
      <p:sp>
        <p:nvSpPr>
          <p:cNvPr id="96" name="灯片编号占位符 3">
            <a:extLst>
              <a:ext uri="{FF2B5EF4-FFF2-40B4-BE49-F238E27FC236}">
                <a16:creationId xmlns:a16="http://schemas.microsoft.com/office/drawing/2014/main" id="{718BF4C4-6464-0047-B3EC-23F75F5074B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239</a:t>
            </a:fld>
            <a:endParaRPr kumimoji="1" lang="zh-CN" altLang="en-US" dirty="0"/>
          </a:p>
        </p:txBody>
      </p:sp>
    </p:spTree>
    <p:extLst>
      <p:ext uri="{BB962C8B-B14F-4D97-AF65-F5344CB8AC3E}">
        <p14:creationId xmlns:p14="http://schemas.microsoft.com/office/powerpoint/2010/main" val="440023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23"/>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14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nodeType="clickEffect">
                                  <p:stCondLst>
                                    <p:cond delay="0"/>
                                  </p:stCondLst>
                                  <p:childTnLst>
                                    <p:set>
                                      <p:cBhvr>
                                        <p:cTn id="12" dur="1" fill="hold">
                                          <p:stCondLst>
                                            <p:cond delay="0"/>
                                          </p:stCondLst>
                                        </p:cTn>
                                        <p:tgtEl>
                                          <p:spTgt spid="146"/>
                                        </p:tgtEl>
                                        <p:attrNameLst>
                                          <p:attrName>style.visibility</p:attrName>
                                        </p:attrNameLst>
                                      </p:cBhvr>
                                      <p:to>
                                        <p:strVal val="hidden"/>
                                      </p:to>
                                    </p:set>
                                  </p:childTnLst>
                                </p:cTn>
                              </p:par>
                              <p:par>
                                <p:cTn id="13" presetID="1" presetClass="entr" presetSubtype="0" fill="hold" nodeType="withEffect">
                                  <p:stCondLst>
                                    <p:cond delay="0"/>
                                  </p:stCondLst>
                                  <p:childTnLst>
                                    <p:set>
                                      <p:cBhvr>
                                        <p:cTn id="14" dur="1" fill="hold">
                                          <p:stCondLst>
                                            <p:cond delay="0"/>
                                          </p:stCondLst>
                                        </p:cTn>
                                        <p:tgtEl>
                                          <p:spTgt spid="15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150"/>
                                        </p:tgtEl>
                                        <p:attrNameLst>
                                          <p:attrName>style.visibility</p:attrName>
                                        </p:attrNameLst>
                                      </p:cBhvr>
                                      <p:to>
                                        <p:strVal val="hidden"/>
                                      </p:to>
                                    </p:set>
                                  </p:childTnLst>
                                </p:cTn>
                              </p:par>
                              <p:par>
                                <p:cTn id="19" presetID="1" presetClass="entr" presetSubtype="0" fill="hold" nodeType="withEffect">
                                  <p:stCondLst>
                                    <p:cond delay="0"/>
                                  </p:stCondLst>
                                  <p:childTnLst>
                                    <p:set>
                                      <p:cBhvr>
                                        <p:cTn id="20" dur="1" fill="hold">
                                          <p:stCondLst>
                                            <p:cond delay="0"/>
                                          </p:stCondLst>
                                        </p:cTn>
                                        <p:tgtEl>
                                          <p:spTgt spid="15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54"/>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9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xit" presetSubtype="0" fill="hold" nodeType="clickEffect">
                                  <p:stCondLst>
                                    <p:cond delay="0"/>
                                  </p:stCondLst>
                                  <p:childTnLst>
                                    <p:set>
                                      <p:cBhvr>
                                        <p:cTn id="30" dur="1" fill="hold">
                                          <p:stCondLst>
                                            <p:cond delay="0"/>
                                          </p:stCondLst>
                                        </p:cTn>
                                        <p:tgtEl>
                                          <p:spTgt spid="98"/>
                                        </p:tgtEl>
                                        <p:attrNameLst>
                                          <p:attrName>style.visibility</p:attrName>
                                        </p:attrNameLst>
                                      </p:cBhvr>
                                      <p:to>
                                        <p:strVal val="hidden"/>
                                      </p:to>
                                    </p:set>
                                  </p:childTnLst>
                                </p:cTn>
                              </p:par>
                              <p:par>
                                <p:cTn id="31" presetID="1" presetClass="entr" presetSubtype="0" fill="hold" nodeType="withEffect">
                                  <p:stCondLst>
                                    <p:cond delay="0"/>
                                  </p:stCondLst>
                                  <p:childTnLst>
                                    <p:set>
                                      <p:cBhvr>
                                        <p:cTn id="32" dur="1" fill="hold">
                                          <p:stCondLst>
                                            <p:cond delay="0"/>
                                          </p:stCondLst>
                                        </p:cTn>
                                        <p:tgtEl>
                                          <p:spTgt spid="16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nodeType="clickEffect">
                                  <p:stCondLst>
                                    <p:cond delay="0"/>
                                  </p:stCondLst>
                                  <p:childTnLst>
                                    <p:set>
                                      <p:cBhvr>
                                        <p:cTn id="36" dur="1" fill="hold">
                                          <p:stCondLst>
                                            <p:cond delay="0"/>
                                          </p:stCondLst>
                                        </p:cTn>
                                        <p:tgtEl>
                                          <p:spTgt spid="163"/>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92"/>
                                        </p:tgtEl>
                                        <p:attrNameLst>
                                          <p:attrName>style.visibility</p:attrName>
                                        </p:attrNameLst>
                                      </p:cBhvr>
                                      <p:to>
                                        <p:strVal val="hidden"/>
                                      </p:to>
                                    </p:set>
                                  </p:childTnLst>
                                </p:cTn>
                              </p:par>
                              <p:par>
                                <p:cTn id="39" presetID="1" presetClass="entr" presetSubtype="0" fill="hold" grpId="0" nodeType="withEffect">
                                  <p:stCondLst>
                                    <p:cond delay="0"/>
                                  </p:stCondLst>
                                  <p:childTnLst>
                                    <p:set>
                                      <p:cBhvr>
                                        <p:cTn id="40" dur="1" fill="hold">
                                          <p:stCondLst>
                                            <p:cond delay="0"/>
                                          </p:stCondLst>
                                        </p:cTn>
                                        <p:tgtEl>
                                          <p:spTgt spid="93"/>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6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xit" presetSubtype="0" fill="hold" nodeType="clickEffect">
                                  <p:stCondLst>
                                    <p:cond delay="0"/>
                                  </p:stCondLst>
                                  <p:childTnLst>
                                    <p:set>
                                      <p:cBhvr>
                                        <p:cTn id="46" dur="1" fill="hold">
                                          <p:stCondLst>
                                            <p:cond delay="0"/>
                                          </p:stCondLst>
                                        </p:cTn>
                                        <p:tgtEl>
                                          <p:spTgt spid="167"/>
                                        </p:tgtEl>
                                        <p:attrNameLst>
                                          <p:attrName>style.visibility</p:attrName>
                                        </p:attrNameLst>
                                      </p:cBhvr>
                                      <p:to>
                                        <p:strVal val="hidden"/>
                                      </p:to>
                                    </p:set>
                                  </p:childTnLst>
                                </p:cTn>
                              </p:par>
                              <p:par>
                                <p:cTn id="47" presetID="1" presetClass="entr" presetSubtype="0" fill="hold" nodeType="withEffect">
                                  <p:stCondLst>
                                    <p:cond delay="0"/>
                                  </p:stCondLst>
                                  <p:childTnLst>
                                    <p:set>
                                      <p:cBhvr>
                                        <p:cTn id="48" dur="1" fill="hold">
                                          <p:stCondLst>
                                            <p:cond delay="0"/>
                                          </p:stCondLst>
                                        </p:cTn>
                                        <p:tgtEl>
                                          <p:spTgt spid="171"/>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nodeType="clickEffect">
                                  <p:stCondLst>
                                    <p:cond delay="0"/>
                                  </p:stCondLst>
                                  <p:childTnLst>
                                    <p:set>
                                      <p:cBhvr>
                                        <p:cTn id="52" dur="1" fill="hold">
                                          <p:stCondLst>
                                            <p:cond delay="0"/>
                                          </p:stCondLst>
                                        </p:cTn>
                                        <p:tgtEl>
                                          <p:spTgt spid="171"/>
                                        </p:tgtEl>
                                        <p:attrNameLst>
                                          <p:attrName>style.visibility</p:attrName>
                                        </p:attrNameLst>
                                      </p:cBhvr>
                                      <p:to>
                                        <p:strVal val="hidden"/>
                                      </p:to>
                                    </p:set>
                                  </p:childTnLst>
                                </p:cTn>
                              </p:par>
                              <p:par>
                                <p:cTn id="53" presetID="1" presetClass="entr" presetSubtype="0" fill="hold" nodeType="withEffect">
                                  <p:stCondLst>
                                    <p:cond delay="0"/>
                                  </p:stCondLst>
                                  <p:childTnLst>
                                    <p:set>
                                      <p:cBhvr>
                                        <p:cTn id="54" dur="1" fill="hold">
                                          <p:stCondLst>
                                            <p:cond delay="0"/>
                                          </p:stCondLst>
                                        </p:cTn>
                                        <p:tgtEl>
                                          <p:spTgt spid="17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nodeType="clickEffect">
                                  <p:stCondLst>
                                    <p:cond delay="0"/>
                                  </p:stCondLst>
                                  <p:childTnLst>
                                    <p:set>
                                      <p:cBhvr>
                                        <p:cTn id="58" dur="1" fill="hold">
                                          <p:stCondLst>
                                            <p:cond delay="0"/>
                                          </p:stCondLst>
                                        </p:cTn>
                                        <p:tgtEl>
                                          <p:spTgt spid="175"/>
                                        </p:tgtEl>
                                        <p:attrNameLst>
                                          <p:attrName>style.visibility</p:attrName>
                                        </p:attrNameLst>
                                      </p:cBhvr>
                                      <p:to>
                                        <p:strVal val="hidden"/>
                                      </p:to>
                                    </p:set>
                                  </p:childTnLst>
                                </p:cTn>
                              </p:par>
                              <p:par>
                                <p:cTn id="59" presetID="1" presetClass="entr" presetSubtype="0" fill="hold" nodeType="withEffect">
                                  <p:stCondLst>
                                    <p:cond delay="0"/>
                                  </p:stCondLst>
                                  <p:childTnLst>
                                    <p:set>
                                      <p:cBhvr>
                                        <p:cTn id="60" dur="1" fill="hold">
                                          <p:stCondLst>
                                            <p:cond delay="0"/>
                                          </p:stCondLst>
                                        </p:cTn>
                                        <p:tgtEl>
                                          <p:spTgt spid="179"/>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xit" presetSubtype="0" fill="hold" nodeType="clickEffect">
                                  <p:stCondLst>
                                    <p:cond delay="0"/>
                                  </p:stCondLst>
                                  <p:childTnLst>
                                    <p:set>
                                      <p:cBhvr>
                                        <p:cTn id="64" dur="1" fill="hold">
                                          <p:stCondLst>
                                            <p:cond delay="0"/>
                                          </p:stCondLst>
                                        </p:cTn>
                                        <p:tgtEl>
                                          <p:spTgt spid="179"/>
                                        </p:tgtEl>
                                        <p:attrNameLst>
                                          <p:attrName>style.visibility</p:attrName>
                                        </p:attrNameLst>
                                      </p:cBhvr>
                                      <p:to>
                                        <p:strVal val="hidden"/>
                                      </p:to>
                                    </p:set>
                                  </p:childTnLst>
                                </p:cTn>
                              </p:par>
                              <p:par>
                                <p:cTn id="65" presetID="1" presetClass="entr" presetSubtype="0" fill="hold" nodeType="withEffect">
                                  <p:stCondLst>
                                    <p:cond delay="0"/>
                                  </p:stCondLst>
                                  <p:childTnLst>
                                    <p:set>
                                      <p:cBhvr>
                                        <p:cTn id="66" dur="1" fill="hold">
                                          <p:stCondLst>
                                            <p:cond delay="0"/>
                                          </p:stCondLst>
                                        </p:cTn>
                                        <p:tgtEl>
                                          <p:spTgt spid="158"/>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58"/>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83"/>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183"/>
                                        </p:tgtEl>
                                        <p:attrNameLst>
                                          <p:attrName>style.visibility</p:attrName>
                                        </p:attrNameLst>
                                      </p:cBhvr>
                                      <p:to>
                                        <p:strVal val="hidden"/>
                                      </p:to>
                                    </p:set>
                                  </p:childTnLst>
                                </p:cTn>
                              </p:par>
                              <p:par>
                                <p:cTn id="77" presetID="1" presetClass="exit" presetSubtype="0" fill="hold" grpId="1" nodeType="withEffect">
                                  <p:stCondLst>
                                    <p:cond delay="0"/>
                                  </p:stCondLst>
                                  <p:childTnLst>
                                    <p:set>
                                      <p:cBhvr>
                                        <p:cTn id="78" dur="1" fill="hold">
                                          <p:stCondLst>
                                            <p:cond delay="0"/>
                                          </p:stCondLst>
                                        </p:cTn>
                                        <p:tgtEl>
                                          <p:spTgt spid="93"/>
                                        </p:tgtEl>
                                        <p:attrNameLst>
                                          <p:attrName>style.visibility</p:attrName>
                                        </p:attrNameLst>
                                      </p:cBhvr>
                                      <p:to>
                                        <p:strVal val="hidden"/>
                                      </p:to>
                                    </p:set>
                                  </p:childTnLst>
                                </p:cTn>
                              </p:par>
                              <p:par>
                                <p:cTn id="79" presetID="1" presetClass="entr" presetSubtype="0" fill="hold" grpId="0" nodeType="withEffect">
                                  <p:stCondLst>
                                    <p:cond delay="0"/>
                                  </p:stCondLst>
                                  <p:childTnLst>
                                    <p:set>
                                      <p:cBhvr>
                                        <p:cTn id="80" dur="1" fill="hold">
                                          <p:stCondLst>
                                            <p:cond delay="0"/>
                                          </p:stCondLst>
                                        </p:cTn>
                                        <p:tgtEl>
                                          <p:spTgt spid="95"/>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191"/>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xit" presetSubtype="0" fill="hold" nodeType="clickEffect">
                                  <p:stCondLst>
                                    <p:cond delay="0"/>
                                  </p:stCondLst>
                                  <p:childTnLst>
                                    <p:set>
                                      <p:cBhvr>
                                        <p:cTn id="86" dur="1" fill="hold">
                                          <p:stCondLst>
                                            <p:cond delay="0"/>
                                          </p:stCondLst>
                                        </p:cTn>
                                        <p:tgtEl>
                                          <p:spTgt spid="191"/>
                                        </p:tgtEl>
                                        <p:attrNameLst>
                                          <p:attrName>style.visibility</p:attrName>
                                        </p:attrNameLst>
                                      </p:cBhvr>
                                      <p:to>
                                        <p:strVal val="hidden"/>
                                      </p:to>
                                    </p:set>
                                  </p:childTnLst>
                                </p:cTn>
                              </p:par>
                              <p:par>
                                <p:cTn id="87" presetID="1" presetClass="entr" presetSubtype="0" fill="hold" nodeType="withEffect">
                                  <p:stCondLst>
                                    <p:cond delay="0"/>
                                  </p:stCondLst>
                                  <p:childTnLst>
                                    <p:set>
                                      <p:cBhvr>
                                        <p:cTn id="88" dur="1" fill="hold">
                                          <p:stCondLst>
                                            <p:cond delay="0"/>
                                          </p:stCondLst>
                                        </p:cTn>
                                        <p:tgtEl>
                                          <p:spTgt spid="195"/>
                                        </p:tgtEl>
                                        <p:attrNameLst>
                                          <p:attrName>style.visibility</p:attrName>
                                        </p:attrNameLst>
                                      </p:cBhvr>
                                      <p:to>
                                        <p:strVal val="visible"/>
                                      </p:to>
                                    </p:se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nodeType="clickEffect">
                                  <p:stCondLst>
                                    <p:cond delay="0"/>
                                  </p:stCondLst>
                                  <p:childTnLst>
                                    <p:set>
                                      <p:cBhvr>
                                        <p:cTn id="92" dur="1" fill="hold">
                                          <p:stCondLst>
                                            <p:cond delay="0"/>
                                          </p:stCondLst>
                                        </p:cTn>
                                        <p:tgtEl>
                                          <p:spTgt spid="195"/>
                                        </p:tgtEl>
                                        <p:attrNameLst>
                                          <p:attrName>style.visibility</p:attrName>
                                        </p:attrNameLst>
                                      </p:cBhvr>
                                      <p:to>
                                        <p:strVal val="hidden"/>
                                      </p:to>
                                    </p:set>
                                  </p:childTnLst>
                                </p:cTn>
                              </p:par>
                              <p:par>
                                <p:cTn id="93" presetID="1" presetClass="entr" presetSubtype="0" fill="hold" nodeType="withEffect">
                                  <p:stCondLst>
                                    <p:cond delay="0"/>
                                  </p:stCondLst>
                                  <p:childTnLst>
                                    <p:set>
                                      <p:cBhvr>
                                        <p:cTn id="94" dur="1" fill="hold">
                                          <p:stCondLst>
                                            <p:cond delay="0"/>
                                          </p:stCondLst>
                                        </p:cTn>
                                        <p:tgtEl>
                                          <p:spTgt spid="199"/>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1" presetClass="exit" presetSubtype="0" fill="hold" nodeType="clickEffect">
                                  <p:stCondLst>
                                    <p:cond delay="0"/>
                                  </p:stCondLst>
                                  <p:childTnLst>
                                    <p:set>
                                      <p:cBhvr>
                                        <p:cTn id="98" dur="1" fill="hold">
                                          <p:stCondLst>
                                            <p:cond delay="0"/>
                                          </p:stCondLst>
                                        </p:cTn>
                                        <p:tgtEl>
                                          <p:spTgt spid="199"/>
                                        </p:tgtEl>
                                        <p:attrNameLst>
                                          <p:attrName>style.visibility</p:attrName>
                                        </p:attrNameLst>
                                      </p:cBhvr>
                                      <p:to>
                                        <p:strVal val="hidden"/>
                                      </p:to>
                                    </p:set>
                                  </p:childTnLst>
                                </p:cTn>
                              </p:par>
                              <p:par>
                                <p:cTn id="99" presetID="1" presetClass="entr" presetSubtype="0" fill="hold" nodeType="withEffect">
                                  <p:stCondLst>
                                    <p:cond delay="0"/>
                                  </p:stCondLst>
                                  <p:childTnLst>
                                    <p:set>
                                      <p:cBhvr>
                                        <p:cTn id="100" dur="1" fill="hold">
                                          <p:stCondLst>
                                            <p:cond delay="0"/>
                                          </p:stCondLst>
                                        </p:cTn>
                                        <p:tgtEl>
                                          <p:spTgt spid="203"/>
                                        </p:tgtEl>
                                        <p:attrNameLst>
                                          <p:attrName>style.visibility</p:attrName>
                                        </p:attrNameLst>
                                      </p:cBhvr>
                                      <p:to>
                                        <p:strVal val="visible"/>
                                      </p:to>
                                    </p:set>
                                  </p:childTnLst>
                                </p:cTn>
                              </p:par>
                            </p:childTnLst>
                          </p:cTn>
                        </p:par>
                      </p:childTnLst>
                    </p:cTn>
                  </p:par>
                  <p:par>
                    <p:cTn id="101" fill="hold">
                      <p:stCondLst>
                        <p:cond delay="indefinite"/>
                      </p:stCondLst>
                      <p:childTnLst>
                        <p:par>
                          <p:cTn id="102" fill="hold">
                            <p:stCondLst>
                              <p:cond delay="0"/>
                            </p:stCondLst>
                            <p:childTnLst>
                              <p:par>
                                <p:cTn id="103" presetID="1" presetClass="exit" presetSubtype="0" fill="hold" nodeType="clickEffect">
                                  <p:stCondLst>
                                    <p:cond delay="0"/>
                                  </p:stCondLst>
                                  <p:childTnLst>
                                    <p:set>
                                      <p:cBhvr>
                                        <p:cTn id="104" dur="1" fill="hold">
                                          <p:stCondLst>
                                            <p:cond delay="0"/>
                                          </p:stCondLst>
                                        </p:cTn>
                                        <p:tgtEl>
                                          <p:spTgt spid="203"/>
                                        </p:tgtEl>
                                        <p:attrNameLst>
                                          <p:attrName>style.visibility</p:attrName>
                                        </p:attrNameLst>
                                      </p:cBhvr>
                                      <p:to>
                                        <p:strVal val="hidden"/>
                                      </p:to>
                                    </p:set>
                                  </p:childTnLst>
                                </p:cTn>
                              </p:par>
                              <p:par>
                                <p:cTn id="105" presetID="1" presetClass="entr" presetSubtype="0" fill="hold" nodeType="withEffect">
                                  <p:stCondLst>
                                    <p:cond delay="0"/>
                                  </p:stCondLst>
                                  <p:childTnLst>
                                    <p:set>
                                      <p:cBhvr>
                                        <p:cTn id="106" dur="1" fill="hold">
                                          <p:stCondLst>
                                            <p:cond delay="0"/>
                                          </p:stCondLst>
                                        </p:cTn>
                                        <p:tgtEl>
                                          <p:spTgt spid="207"/>
                                        </p:tgtEl>
                                        <p:attrNameLst>
                                          <p:attrName>style.visibility</p:attrName>
                                        </p:attrNameLst>
                                      </p:cBhvr>
                                      <p:to>
                                        <p:strVal val="visible"/>
                                      </p:to>
                                    </p:set>
                                  </p:childTnLst>
                                </p:cTn>
                              </p:par>
                            </p:childTnLst>
                          </p:cTn>
                        </p:par>
                      </p:childTnLst>
                    </p:cTn>
                  </p:par>
                  <p:par>
                    <p:cTn id="107" fill="hold">
                      <p:stCondLst>
                        <p:cond delay="indefinite"/>
                      </p:stCondLst>
                      <p:childTnLst>
                        <p:par>
                          <p:cTn id="108" fill="hold">
                            <p:stCondLst>
                              <p:cond delay="0"/>
                            </p:stCondLst>
                            <p:childTnLst>
                              <p:par>
                                <p:cTn id="109" presetID="1" presetClass="exit" presetSubtype="0" fill="hold" nodeType="clickEffect">
                                  <p:stCondLst>
                                    <p:cond delay="0"/>
                                  </p:stCondLst>
                                  <p:childTnLst>
                                    <p:set>
                                      <p:cBhvr>
                                        <p:cTn id="110" dur="1" fill="hold">
                                          <p:stCondLst>
                                            <p:cond delay="0"/>
                                          </p:stCondLst>
                                        </p:cTn>
                                        <p:tgtEl>
                                          <p:spTgt spid="207"/>
                                        </p:tgtEl>
                                        <p:attrNameLst>
                                          <p:attrName>style.visibility</p:attrName>
                                        </p:attrNameLst>
                                      </p:cBhvr>
                                      <p:to>
                                        <p:strVal val="hidden"/>
                                      </p:to>
                                    </p:set>
                                  </p:childTnLst>
                                </p:cTn>
                              </p:par>
                              <p:par>
                                <p:cTn id="111" presetID="1" presetClass="entr" presetSubtype="0" fill="hold" nodeType="withEffect">
                                  <p:stCondLst>
                                    <p:cond delay="0"/>
                                  </p:stCondLst>
                                  <p:childTnLst>
                                    <p:set>
                                      <p:cBhvr>
                                        <p:cTn id="112" dur="1" fill="hold">
                                          <p:stCondLst>
                                            <p:cond delay="0"/>
                                          </p:stCondLst>
                                        </p:cTn>
                                        <p:tgtEl>
                                          <p:spTgt spid="211"/>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xit" presetSubtype="0" fill="hold" nodeType="clickEffect">
                                  <p:stCondLst>
                                    <p:cond delay="0"/>
                                  </p:stCondLst>
                                  <p:childTnLst>
                                    <p:set>
                                      <p:cBhvr>
                                        <p:cTn id="116" dur="1" fill="hold">
                                          <p:stCondLst>
                                            <p:cond delay="0"/>
                                          </p:stCondLst>
                                        </p:cTn>
                                        <p:tgtEl>
                                          <p:spTgt spid="211"/>
                                        </p:tgtEl>
                                        <p:attrNameLst>
                                          <p:attrName>style.visibility</p:attrName>
                                        </p:attrNameLst>
                                      </p:cBhvr>
                                      <p:to>
                                        <p:strVal val="hidden"/>
                                      </p:to>
                                    </p:set>
                                  </p:childTnLst>
                                </p:cTn>
                              </p:par>
                              <p:par>
                                <p:cTn id="117" presetID="1" presetClass="entr" presetSubtype="0" fill="hold" nodeType="withEffect">
                                  <p:stCondLst>
                                    <p:cond delay="0"/>
                                  </p:stCondLst>
                                  <p:childTnLst>
                                    <p:set>
                                      <p:cBhvr>
                                        <p:cTn id="118" dur="1" fill="hold">
                                          <p:stCondLst>
                                            <p:cond delay="0"/>
                                          </p:stCondLst>
                                        </p:cTn>
                                        <p:tgtEl>
                                          <p:spTgt spid="215"/>
                                        </p:tgtEl>
                                        <p:attrNameLst>
                                          <p:attrName>style.visibility</p:attrName>
                                        </p:attrNameLst>
                                      </p:cBhvr>
                                      <p:to>
                                        <p:strVal val="visible"/>
                                      </p:to>
                                    </p:set>
                                  </p:childTnLst>
                                </p:cTn>
                              </p:par>
                              <p:par>
                                <p:cTn id="119" presetID="1" presetClass="exit" presetSubtype="0" fill="hold" grpId="1" nodeType="withEffect">
                                  <p:stCondLst>
                                    <p:cond delay="0"/>
                                  </p:stCondLst>
                                  <p:childTnLst>
                                    <p:set>
                                      <p:cBhvr>
                                        <p:cTn id="120" dur="1" fill="hold">
                                          <p:stCondLst>
                                            <p:cond delay="0"/>
                                          </p:stCondLst>
                                        </p:cTn>
                                        <p:tgtEl>
                                          <p:spTgt spid="95"/>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94"/>
                                        </p:tgtEl>
                                        <p:attrNameLst>
                                          <p:attrName>style.visibility</p:attrName>
                                        </p:attrNameLst>
                                      </p:cBhvr>
                                      <p:to>
                                        <p:strVal val="visible"/>
                                      </p:to>
                                    </p:set>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nodeType="clickEffect">
                                  <p:stCondLst>
                                    <p:cond delay="0"/>
                                  </p:stCondLst>
                                  <p:childTnLst>
                                    <p:set>
                                      <p:cBhvr>
                                        <p:cTn id="126" dur="1" fill="hold">
                                          <p:stCondLst>
                                            <p:cond delay="0"/>
                                          </p:stCondLst>
                                        </p:cTn>
                                        <p:tgtEl>
                                          <p:spTgt spid="215"/>
                                        </p:tgtEl>
                                        <p:attrNameLst>
                                          <p:attrName>style.visibility</p:attrName>
                                        </p:attrNameLst>
                                      </p:cBhvr>
                                      <p:to>
                                        <p:strVal val="hidden"/>
                                      </p:to>
                                    </p:set>
                                  </p:childTnLst>
                                </p:cTn>
                              </p:par>
                              <p:par>
                                <p:cTn id="127" presetID="1" presetClass="entr" presetSubtype="0" fill="hold" nodeType="withEffect">
                                  <p:stCondLst>
                                    <p:cond delay="0"/>
                                  </p:stCondLst>
                                  <p:childTnLst>
                                    <p:set>
                                      <p:cBhvr>
                                        <p:cTn id="128" dur="1" fill="hold">
                                          <p:stCondLst>
                                            <p:cond delay="0"/>
                                          </p:stCondLst>
                                        </p:cTn>
                                        <p:tgtEl>
                                          <p:spTgt spid="2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93" grpId="0" animBg="1"/>
      <p:bldP spid="93" grpId="1" animBg="1"/>
      <p:bldP spid="94" grpId="0" animBg="1"/>
      <p:bldP spid="95" grpId="0" animBg="1"/>
      <p:bldP spid="95" grpId="1"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F61D58A-0418-4F99-99F3-D678BC1B15D8}"/>
              </a:ext>
            </a:extLst>
          </p:cNvPr>
          <p:cNvSpPr>
            <a:spLocks noGrp="1"/>
          </p:cNvSpPr>
          <p:nvPr>
            <p:ph type="title"/>
          </p:nvPr>
        </p:nvSpPr>
        <p:spPr/>
        <p:txBody>
          <a:bodyPr>
            <a:normAutofit/>
          </a:bodyPr>
          <a:lstStyle/>
          <a:p>
            <a:r>
              <a:rPr kumimoji="1" lang="zh-CN" altLang="en-US" dirty="0"/>
              <a:t>三层交换的动机</a:t>
            </a:r>
            <a:endParaRPr lang="zh-CN" altLang="en-US" sz="2400" dirty="0">
              <a:solidFill>
                <a:srgbClr val="C00000"/>
              </a:solidFill>
            </a:endParaRPr>
          </a:p>
        </p:txBody>
      </p:sp>
      <p:sp>
        <p:nvSpPr>
          <p:cNvPr id="3" name="内容占位符 2">
            <a:extLst>
              <a:ext uri="{FF2B5EF4-FFF2-40B4-BE49-F238E27FC236}">
                <a16:creationId xmlns:a16="http://schemas.microsoft.com/office/drawing/2014/main" id="{67D7DA4E-A8FD-49DF-BE81-A404679CF526}"/>
              </a:ext>
            </a:extLst>
          </p:cNvPr>
          <p:cNvSpPr>
            <a:spLocks noGrp="1"/>
          </p:cNvSpPr>
          <p:nvPr>
            <p:ph idx="1"/>
          </p:nvPr>
        </p:nvSpPr>
        <p:spPr>
          <a:xfrm>
            <a:off x="838199" y="1510758"/>
            <a:ext cx="11132128" cy="4586694"/>
          </a:xfrm>
        </p:spPr>
        <p:txBody>
          <a:bodyPr>
            <a:normAutofit/>
          </a:bodyPr>
          <a:lstStyle/>
          <a:p>
            <a:r>
              <a:rPr lang="zh-CN" altLang="en-US" sz="2400" dirty="0"/>
              <a:t>利用第三层协议中的信息来加强第二层交换功能，形成带有路由功能的交换</a:t>
            </a:r>
            <a:endParaRPr lang="en-US" altLang="zh-CN" sz="2400" dirty="0"/>
          </a:p>
          <a:p>
            <a:r>
              <a:rPr lang="zh-CN" altLang="en-US" sz="2400" dirty="0"/>
              <a:t>融合</a:t>
            </a:r>
            <a:r>
              <a:rPr lang="en-US" altLang="zh-CN" sz="2400" dirty="0"/>
              <a:t>VLAN </a:t>
            </a:r>
            <a:r>
              <a:rPr lang="zh-CN" altLang="en-US" sz="2400" dirty="0"/>
              <a:t>间的二层隔离和三层互通，消除大规模网络中广播对性能的影响</a:t>
            </a:r>
            <a:endParaRPr lang="en-US" altLang="zh-CN" sz="2400" dirty="0"/>
          </a:p>
          <a:p>
            <a:r>
              <a:rPr lang="zh-CN" altLang="en-US" sz="2400" dirty="0"/>
              <a:t>简化网络配置，简化网络拓扑，优化网络管理，降低网络部署成本</a:t>
            </a:r>
          </a:p>
          <a:p>
            <a:endParaRPr lang="en-US" altLang="zh-CN" sz="2400" dirty="0"/>
          </a:p>
        </p:txBody>
      </p:sp>
      <p:sp>
        <p:nvSpPr>
          <p:cNvPr id="4" name="灯片编号占位符 3">
            <a:extLst>
              <a:ext uri="{FF2B5EF4-FFF2-40B4-BE49-F238E27FC236}">
                <a16:creationId xmlns:a16="http://schemas.microsoft.com/office/drawing/2014/main" id="{9B28EAB0-1ED7-4283-BB75-48F0E3613D1A}"/>
              </a:ext>
            </a:extLst>
          </p:cNvPr>
          <p:cNvSpPr>
            <a:spLocks noGrp="1"/>
          </p:cNvSpPr>
          <p:nvPr>
            <p:ph type="sldNum" sz="quarter" idx="12"/>
          </p:nvPr>
        </p:nvSpPr>
        <p:spPr/>
        <p:txBody>
          <a:bodyPr/>
          <a:lstStyle/>
          <a:p>
            <a:fld id="{8D4D1E41-7A09-AB4A-A4E1-09765ADA2698}" type="slidenum">
              <a:rPr kumimoji="1" lang="zh-CN" altLang="en-US" smtClean="0"/>
              <a:t>240</a:t>
            </a:fld>
            <a:endParaRPr kumimoji="1" lang="zh-CN" altLang="en-US" dirty="0"/>
          </a:p>
        </p:txBody>
      </p:sp>
      <p:grpSp>
        <p:nvGrpSpPr>
          <p:cNvPr id="6" name="组合 5">
            <a:extLst>
              <a:ext uri="{FF2B5EF4-FFF2-40B4-BE49-F238E27FC236}">
                <a16:creationId xmlns:a16="http://schemas.microsoft.com/office/drawing/2014/main" id="{D9C0F66F-0E1F-4AE2-95B3-396FF52D24AD}"/>
              </a:ext>
            </a:extLst>
          </p:cNvPr>
          <p:cNvGrpSpPr/>
          <p:nvPr/>
        </p:nvGrpSpPr>
        <p:grpSpPr>
          <a:xfrm>
            <a:off x="652932" y="3056834"/>
            <a:ext cx="5078783" cy="3404093"/>
            <a:chOff x="652932" y="2547675"/>
            <a:chExt cx="5078783" cy="3404093"/>
          </a:xfrm>
        </p:grpSpPr>
        <p:pic>
          <p:nvPicPr>
            <p:cNvPr id="47" name="Picture 30" descr="通用路由器">
              <a:extLst>
                <a:ext uri="{FF2B5EF4-FFF2-40B4-BE49-F238E27FC236}">
                  <a16:creationId xmlns:a16="http://schemas.microsoft.com/office/drawing/2014/main" id="{05F26D23-4E1C-4008-BCBE-24178AC7E9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58048" y="5454009"/>
              <a:ext cx="1013485" cy="497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5" descr="通用交换机">
              <a:extLst>
                <a:ext uri="{FF2B5EF4-FFF2-40B4-BE49-F238E27FC236}">
                  <a16:creationId xmlns:a16="http://schemas.microsoft.com/office/drawing/2014/main" id="{04B5FB3C-78FB-481F-BE71-77CDF91D8E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7225" y="3928098"/>
              <a:ext cx="729452" cy="530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椭圆 48">
              <a:extLst>
                <a:ext uri="{FF2B5EF4-FFF2-40B4-BE49-F238E27FC236}">
                  <a16:creationId xmlns:a16="http://schemas.microsoft.com/office/drawing/2014/main" id="{8F786F36-A22E-443C-ADF9-3CA212D44584}"/>
                </a:ext>
              </a:extLst>
            </p:cNvPr>
            <p:cNvSpPr/>
            <p:nvPr/>
          </p:nvSpPr>
          <p:spPr>
            <a:xfrm>
              <a:off x="3495333" y="3686635"/>
              <a:ext cx="2236382" cy="1356427"/>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50" name="组合 49">
              <a:extLst>
                <a:ext uri="{FF2B5EF4-FFF2-40B4-BE49-F238E27FC236}">
                  <a16:creationId xmlns:a16="http://schemas.microsoft.com/office/drawing/2014/main" id="{141CF788-BB05-4121-8F60-F55E2C872FC8}"/>
                </a:ext>
              </a:extLst>
            </p:cNvPr>
            <p:cNvGrpSpPr/>
            <p:nvPr/>
          </p:nvGrpSpPr>
          <p:grpSpPr>
            <a:xfrm>
              <a:off x="3996851" y="4384202"/>
              <a:ext cx="1183583" cy="380941"/>
              <a:chOff x="4710107" y="5478405"/>
              <a:chExt cx="1183583" cy="380941"/>
            </a:xfrm>
          </p:grpSpPr>
          <p:pic>
            <p:nvPicPr>
              <p:cNvPr id="51" name="Picture 35" descr="Terminal">
                <a:extLst>
                  <a:ext uri="{FF2B5EF4-FFF2-40B4-BE49-F238E27FC236}">
                    <a16:creationId xmlns:a16="http://schemas.microsoft.com/office/drawing/2014/main" id="{F1ED23B9-D119-4353-BFAC-19080F2D991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10107" y="547840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35" descr="Terminal">
                <a:extLst>
                  <a:ext uri="{FF2B5EF4-FFF2-40B4-BE49-F238E27FC236}">
                    <a16:creationId xmlns:a16="http://schemas.microsoft.com/office/drawing/2014/main" id="{014CF31C-84A4-4195-8E10-A006F1E3D0C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62254"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35" descr="Terminal">
                <a:extLst>
                  <a:ext uri="{FF2B5EF4-FFF2-40B4-BE49-F238E27FC236}">
                    <a16:creationId xmlns:a16="http://schemas.microsoft.com/office/drawing/2014/main" id="{57EF1A9C-90F0-41DE-A38F-424787DBDC5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57622"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文本框 53">
                <a:extLst>
                  <a:ext uri="{FF2B5EF4-FFF2-40B4-BE49-F238E27FC236}">
                    <a16:creationId xmlns:a16="http://schemas.microsoft.com/office/drawing/2014/main" id="{6BE06A1C-9180-4D0B-8E05-34E7BE82DF0A}"/>
                  </a:ext>
                </a:extLst>
              </p:cNvPr>
              <p:cNvSpPr txBox="1"/>
              <p:nvPr/>
            </p:nvSpPr>
            <p:spPr>
              <a:xfrm>
                <a:off x="5385110" y="5550986"/>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55" name="文本框 54">
              <a:extLst>
                <a:ext uri="{FF2B5EF4-FFF2-40B4-BE49-F238E27FC236}">
                  <a16:creationId xmlns:a16="http://schemas.microsoft.com/office/drawing/2014/main" id="{9DDA9CA3-29C6-4B44-9799-39C0AFDB5FD0}"/>
                </a:ext>
              </a:extLst>
            </p:cNvPr>
            <p:cNvSpPr txBox="1"/>
            <p:nvPr/>
          </p:nvSpPr>
          <p:spPr>
            <a:xfrm>
              <a:off x="3879797" y="3771941"/>
              <a:ext cx="1449436" cy="523220"/>
            </a:xfrm>
            <a:prstGeom prst="rect">
              <a:avLst/>
            </a:prstGeom>
            <a:noFill/>
          </p:spPr>
          <p:txBody>
            <a:bodyPr wrap="none" rtlCol="0">
              <a:spAutoFit/>
            </a:bodyPr>
            <a:lstStyle/>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VLAN</a:t>
              </a:r>
              <a:r>
                <a:rPr lang="en-US" altLang="zh-CN" sz="1400" dirty="0">
                  <a:solidFill>
                    <a:srgbClr val="7030A0"/>
                  </a:solidFill>
                  <a:latin typeface="微软雅黑" panose="020B0503020204020204" pitchFamily="34" charset="-122"/>
                  <a:ea typeface="微软雅黑" panose="020B0503020204020204" pitchFamily="34" charset="-122"/>
                </a:rPr>
                <a:t> </a:t>
              </a:r>
              <a:r>
                <a:rPr kumimoji="1" lang="en-US" altLang="zh-CN" sz="1400" dirty="0">
                  <a:solidFill>
                    <a:srgbClr val="7030A0"/>
                  </a:solidFill>
                  <a:latin typeface="Microsoft YaHei" panose="020B0503020204020204" pitchFamily="34" charset="-122"/>
                  <a:ea typeface="Microsoft YaHei" panose="020B0503020204020204" pitchFamily="34" charset="-122"/>
                </a:rPr>
                <a:t>200</a:t>
              </a:r>
            </a:p>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192.168.2.0/24</a:t>
              </a:r>
              <a:endParaRPr kumimoji="1" lang="zh-CN" altLang="en-US" sz="1400" dirty="0">
                <a:solidFill>
                  <a:srgbClr val="7030A0"/>
                </a:solidFill>
                <a:latin typeface="Microsoft YaHei" panose="020B0503020204020204" pitchFamily="34" charset="-122"/>
                <a:ea typeface="Microsoft YaHei" panose="020B0503020204020204" pitchFamily="34" charset="-122"/>
              </a:endParaRPr>
            </a:p>
          </p:txBody>
        </p:sp>
        <p:sp>
          <p:nvSpPr>
            <p:cNvPr id="59" name="椭圆 58">
              <a:extLst>
                <a:ext uri="{FF2B5EF4-FFF2-40B4-BE49-F238E27FC236}">
                  <a16:creationId xmlns:a16="http://schemas.microsoft.com/office/drawing/2014/main" id="{74B3BF7B-D052-493F-9830-38CF566272D8}"/>
                </a:ext>
              </a:extLst>
            </p:cNvPr>
            <p:cNvSpPr/>
            <p:nvPr/>
          </p:nvSpPr>
          <p:spPr>
            <a:xfrm>
              <a:off x="652932" y="3679924"/>
              <a:ext cx="2226370" cy="1356427"/>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60" name="组合 59">
              <a:extLst>
                <a:ext uri="{FF2B5EF4-FFF2-40B4-BE49-F238E27FC236}">
                  <a16:creationId xmlns:a16="http://schemas.microsoft.com/office/drawing/2014/main" id="{F868853C-70F7-4E8C-84E4-5E81721423FA}"/>
                </a:ext>
              </a:extLst>
            </p:cNvPr>
            <p:cNvGrpSpPr/>
            <p:nvPr/>
          </p:nvGrpSpPr>
          <p:grpSpPr>
            <a:xfrm>
              <a:off x="1160240" y="4376141"/>
              <a:ext cx="1183583" cy="380941"/>
              <a:chOff x="4408768" y="5540751"/>
              <a:chExt cx="1183583" cy="380941"/>
            </a:xfrm>
          </p:grpSpPr>
          <p:pic>
            <p:nvPicPr>
              <p:cNvPr id="61" name="Picture 35" descr="Terminal">
                <a:extLst>
                  <a:ext uri="{FF2B5EF4-FFF2-40B4-BE49-F238E27FC236}">
                    <a16:creationId xmlns:a16="http://schemas.microsoft.com/office/drawing/2014/main" id="{705EF648-E3FB-443A-B0FE-96B1698107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08768" y="554075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35" descr="Terminal">
                <a:extLst>
                  <a:ext uri="{FF2B5EF4-FFF2-40B4-BE49-F238E27FC236}">
                    <a16:creationId xmlns:a16="http://schemas.microsoft.com/office/drawing/2014/main" id="{FE63794A-9C57-438C-AF7E-6D19300CC55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0915"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35" descr="Terminal">
                <a:extLst>
                  <a:ext uri="{FF2B5EF4-FFF2-40B4-BE49-F238E27FC236}">
                    <a16:creationId xmlns:a16="http://schemas.microsoft.com/office/drawing/2014/main" id="{44AE674D-DE5C-4E7C-9096-F16A092255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83"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文本框 63">
                <a:extLst>
                  <a:ext uri="{FF2B5EF4-FFF2-40B4-BE49-F238E27FC236}">
                    <a16:creationId xmlns:a16="http://schemas.microsoft.com/office/drawing/2014/main" id="{15A4C35B-A97F-4D38-B62B-4DF65988620A}"/>
                  </a:ext>
                </a:extLst>
              </p:cNvPr>
              <p:cNvSpPr txBox="1"/>
              <p:nvPr/>
            </p:nvSpPr>
            <p:spPr>
              <a:xfrm>
                <a:off x="5009461" y="5552360"/>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65" name="文本框 64">
              <a:extLst>
                <a:ext uri="{FF2B5EF4-FFF2-40B4-BE49-F238E27FC236}">
                  <a16:creationId xmlns:a16="http://schemas.microsoft.com/office/drawing/2014/main" id="{A014C2BF-F335-4419-8154-CF7034EEB19C}"/>
                </a:ext>
              </a:extLst>
            </p:cNvPr>
            <p:cNvSpPr txBox="1"/>
            <p:nvPr/>
          </p:nvSpPr>
          <p:spPr>
            <a:xfrm>
              <a:off x="1010583" y="3778595"/>
              <a:ext cx="1449436"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sp>
          <p:nvSpPr>
            <p:cNvPr id="69" name="圆柱体 68">
              <a:extLst>
                <a:ext uri="{FF2B5EF4-FFF2-40B4-BE49-F238E27FC236}">
                  <a16:creationId xmlns:a16="http://schemas.microsoft.com/office/drawing/2014/main" id="{048FDB8F-D73B-4875-A367-4A852B64CCCD}"/>
                </a:ext>
              </a:extLst>
            </p:cNvPr>
            <p:cNvSpPr/>
            <p:nvPr/>
          </p:nvSpPr>
          <p:spPr>
            <a:xfrm rot="10800000">
              <a:off x="3006827" y="4428283"/>
              <a:ext cx="395177" cy="1025726"/>
            </a:xfrm>
            <a:prstGeom prst="can">
              <a:avLst>
                <a:gd name="adj" fmla="val 54944"/>
              </a:avLst>
            </a:prstGeom>
            <a:noFill/>
            <a:ln w="190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cxnSp>
          <p:nvCxnSpPr>
            <p:cNvPr id="70" name="直接连接符 69">
              <a:extLst>
                <a:ext uri="{FF2B5EF4-FFF2-40B4-BE49-F238E27FC236}">
                  <a16:creationId xmlns:a16="http://schemas.microsoft.com/office/drawing/2014/main" id="{21DEBB29-F7B8-4200-9729-561E3D2F7271}"/>
                </a:ext>
              </a:extLst>
            </p:cNvPr>
            <p:cNvCxnSpPr/>
            <p:nvPr/>
          </p:nvCxnSpPr>
          <p:spPr>
            <a:xfrm>
              <a:off x="3210640" y="4437808"/>
              <a:ext cx="0" cy="1008000"/>
            </a:xfrm>
            <a:prstGeom prst="line">
              <a:avLst/>
            </a:prstGeom>
            <a:ln w="28575"/>
          </p:spPr>
          <p:style>
            <a:lnRef idx="1">
              <a:schemeClr val="accent5"/>
            </a:lnRef>
            <a:fillRef idx="0">
              <a:schemeClr val="accent5"/>
            </a:fillRef>
            <a:effectRef idx="0">
              <a:schemeClr val="accent5"/>
            </a:effectRef>
            <a:fontRef idx="minor">
              <a:schemeClr val="tx1"/>
            </a:fontRef>
          </p:style>
        </p:cxnSp>
        <p:cxnSp>
          <p:nvCxnSpPr>
            <p:cNvPr id="71" name="直接连接符 70">
              <a:extLst>
                <a:ext uri="{FF2B5EF4-FFF2-40B4-BE49-F238E27FC236}">
                  <a16:creationId xmlns:a16="http://schemas.microsoft.com/office/drawing/2014/main" id="{E322FB61-4B6C-4115-BF81-2DFF7A809BBF}"/>
                </a:ext>
              </a:extLst>
            </p:cNvPr>
            <p:cNvCxnSpPr/>
            <p:nvPr/>
          </p:nvCxnSpPr>
          <p:spPr>
            <a:xfrm>
              <a:off x="3093539" y="4446941"/>
              <a:ext cx="0" cy="982670"/>
            </a:xfrm>
            <a:prstGeom prst="line">
              <a:avLst/>
            </a:prstGeom>
            <a:ln w="28575">
              <a:solidFill>
                <a:srgbClr val="C00000"/>
              </a:solidFill>
            </a:ln>
          </p:spPr>
          <p:style>
            <a:lnRef idx="1">
              <a:schemeClr val="accent5"/>
            </a:lnRef>
            <a:fillRef idx="0">
              <a:schemeClr val="accent5"/>
            </a:fillRef>
            <a:effectRef idx="0">
              <a:schemeClr val="accent5"/>
            </a:effectRef>
            <a:fontRef idx="minor">
              <a:schemeClr val="tx1"/>
            </a:fontRef>
          </p:style>
        </p:cxnSp>
        <p:cxnSp>
          <p:nvCxnSpPr>
            <p:cNvPr id="72" name="直接连接符 71">
              <a:extLst>
                <a:ext uri="{FF2B5EF4-FFF2-40B4-BE49-F238E27FC236}">
                  <a16:creationId xmlns:a16="http://schemas.microsoft.com/office/drawing/2014/main" id="{61581314-9561-449F-9392-B7BE26A30EAE}"/>
                </a:ext>
              </a:extLst>
            </p:cNvPr>
            <p:cNvCxnSpPr/>
            <p:nvPr/>
          </p:nvCxnSpPr>
          <p:spPr>
            <a:xfrm>
              <a:off x="3320008" y="4447333"/>
              <a:ext cx="0" cy="979200"/>
            </a:xfrm>
            <a:prstGeom prst="line">
              <a:avLst/>
            </a:prstGeom>
            <a:ln w="28575">
              <a:solidFill>
                <a:srgbClr val="7030A0"/>
              </a:solidFill>
            </a:ln>
          </p:spPr>
          <p:style>
            <a:lnRef idx="1">
              <a:schemeClr val="accent5"/>
            </a:lnRef>
            <a:fillRef idx="0">
              <a:schemeClr val="accent5"/>
            </a:fillRef>
            <a:effectRef idx="0">
              <a:schemeClr val="accent5"/>
            </a:effectRef>
            <a:fontRef idx="minor">
              <a:schemeClr val="tx1"/>
            </a:fontRef>
          </p:style>
        </p:cxnSp>
        <p:grpSp>
          <p:nvGrpSpPr>
            <p:cNvPr id="73" name="组合 72">
              <a:extLst>
                <a:ext uri="{FF2B5EF4-FFF2-40B4-BE49-F238E27FC236}">
                  <a16:creationId xmlns:a16="http://schemas.microsoft.com/office/drawing/2014/main" id="{DAA3A082-C754-4EC8-9F16-4E2EA1B770A3}"/>
                </a:ext>
              </a:extLst>
            </p:cNvPr>
            <p:cNvGrpSpPr/>
            <p:nvPr/>
          </p:nvGrpSpPr>
          <p:grpSpPr>
            <a:xfrm>
              <a:off x="2121776" y="2547675"/>
              <a:ext cx="2262301" cy="1356427"/>
              <a:chOff x="8024478" y="1913300"/>
              <a:chExt cx="1874062" cy="1356427"/>
            </a:xfrm>
          </p:grpSpPr>
          <p:sp>
            <p:nvSpPr>
              <p:cNvPr id="74" name="椭圆 73">
                <a:extLst>
                  <a:ext uri="{FF2B5EF4-FFF2-40B4-BE49-F238E27FC236}">
                    <a16:creationId xmlns:a16="http://schemas.microsoft.com/office/drawing/2014/main" id="{86AB9466-FF46-44D8-9789-56105E8664EE}"/>
                  </a:ext>
                </a:extLst>
              </p:cNvPr>
              <p:cNvSpPr/>
              <p:nvPr/>
            </p:nvSpPr>
            <p:spPr>
              <a:xfrm>
                <a:off x="8024478" y="1913300"/>
                <a:ext cx="1874062" cy="1356427"/>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75" name="组合 74">
                <a:extLst>
                  <a:ext uri="{FF2B5EF4-FFF2-40B4-BE49-F238E27FC236}">
                    <a16:creationId xmlns:a16="http://schemas.microsoft.com/office/drawing/2014/main" id="{EEFB8574-86CC-453D-A320-9DC4E4CD6900}"/>
                  </a:ext>
                </a:extLst>
              </p:cNvPr>
              <p:cNvGrpSpPr/>
              <p:nvPr/>
            </p:nvGrpSpPr>
            <p:grpSpPr>
              <a:xfrm>
                <a:off x="8406307" y="2646921"/>
                <a:ext cx="1183589" cy="380941"/>
                <a:chOff x="4355097" y="5436841"/>
                <a:chExt cx="1183589" cy="380941"/>
              </a:xfrm>
            </p:grpSpPr>
            <p:pic>
              <p:nvPicPr>
                <p:cNvPr id="77" name="Picture 35" descr="Terminal">
                  <a:extLst>
                    <a:ext uri="{FF2B5EF4-FFF2-40B4-BE49-F238E27FC236}">
                      <a16:creationId xmlns:a16="http://schemas.microsoft.com/office/drawing/2014/main" id="{CCC9CDC8-319F-4E62-8410-FC2F9ADF583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55097" y="543684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5" descr="Terminal">
                  <a:extLst>
                    <a:ext uri="{FF2B5EF4-FFF2-40B4-BE49-F238E27FC236}">
                      <a16:creationId xmlns:a16="http://schemas.microsoft.com/office/drawing/2014/main" id="{BFF3EC5F-32CA-4561-A27A-9BCF59C760F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07245"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35" descr="Terminal">
                  <a:extLst>
                    <a:ext uri="{FF2B5EF4-FFF2-40B4-BE49-F238E27FC236}">
                      <a16:creationId xmlns:a16="http://schemas.microsoft.com/office/drawing/2014/main" id="{72DEF8EE-EF78-4E9A-B981-551082FEBB2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02618"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文本框 79">
                  <a:extLst>
                    <a:ext uri="{FF2B5EF4-FFF2-40B4-BE49-F238E27FC236}">
                      <a16:creationId xmlns:a16="http://schemas.microsoft.com/office/drawing/2014/main" id="{FF17C680-14DB-409A-A2B1-229B0633DF55}"/>
                    </a:ext>
                  </a:extLst>
                </p:cNvPr>
                <p:cNvSpPr txBox="1"/>
                <p:nvPr/>
              </p:nvSpPr>
              <p:spPr>
                <a:xfrm>
                  <a:off x="4955791" y="5448450"/>
                  <a:ext cx="273815" cy="307777"/>
                </a:xfrm>
                <a:prstGeom prst="rect">
                  <a:avLst/>
                </a:prstGeom>
                <a:noFill/>
              </p:spPr>
              <p:txBody>
                <a:bodyPr wrap="none" rtlCol="0">
                  <a:spAutoFit/>
                </a:bodyPr>
                <a:lstStyle/>
                <a:p>
                  <a:r>
                    <a:rPr lang="en-US" altLang="zh-CN" sz="1400" b="1" dirty="0"/>
                    <a:t>…</a:t>
                  </a:r>
                  <a:endParaRPr lang="zh-CN" altLang="en-US" sz="1400" b="1" dirty="0"/>
                </a:p>
              </p:txBody>
            </p:sp>
          </p:grpSp>
          <p:sp>
            <p:nvSpPr>
              <p:cNvPr id="76" name="文本框 75">
                <a:extLst>
                  <a:ext uri="{FF2B5EF4-FFF2-40B4-BE49-F238E27FC236}">
                    <a16:creationId xmlns:a16="http://schemas.microsoft.com/office/drawing/2014/main" id="{7373046E-B7E4-4862-87BD-6A0741900909}"/>
                  </a:ext>
                </a:extLst>
              </p:cNvPr>
              <p:cNvSpPr txBox="1"/>
              <p:nvPr/>
            </p:nvSpPr>
            <p:spPr>
              <a:xfrm>
                <a:off x="8361162" y="2011684"/>
                <a:ext cx="1200695"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300</a:t>
                </a:r>
              </a:p>
              <a:p>
                <a:pPr lvl="2" algn="ctr">
                  <a:spcBef>
                    <a:spcPts val="0"/>
                  </a:spcBef>
                </a:pPr>
                <a:r>
                  <a:rPr lang="en-US" altLang="zh-CN" sz="1400" dirty="0">
                    <a:solidFill>
                      <a:srgbClr val="00B0F0"/>
                    </a:solidFill>
                  </a:rPr>
                  <a:t>192.168.3.0/24</a:t>
                </a:r>
                <a:endParaRPr lang="zh-CN" altLang="en-US" sz="1400" dirty="0">
                  <a:solidFill>
                    <a:srgbClr val="00B0F0"/>
                  </a:solidFill>
                </a:endParaRPr>
              </a:p>
            </p:txBody>
          </p:sp>
        </p:grpSp>
      </p:grpSp>
      <p:sp>
        <p:nvSpPr>
          <p:cNvPr id="85" name="箭头: 燕尾形 84">
            <a:extLst>
              <a:ext uri="{FF2B5EF4-FFF2-40B4-BE49-F238E27FC236}">
                <a16:creationId xmlns:a16="http://schemas.microsoft.com/office/drawing/2014/main" id="{F0C6D8C2-F097-4943-AEC8-E1765E0C218F}"/>
              </a:ext>
            </a:extLst>
          </p:cNvPr>
          <p:cNvSpPr/>
          <p:nvPr/>
        </p:nvSpPr>
        <p:spPr>
          <a:xfrm>
            <a:off x="6096000" y="4437257"/>
            <a:ext cx="1219912" cy="480483"/>
          </a:xfrm>
          <a:prstGeom prst="notchedRigh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7" name="组合 6">
            <a:extLst>
              <a:ext uri="{FF2B5EF4-FFF2-40B4-BE49-F238E27FC236}">
                <a16:creationId xmlns:a16="http://schemas.microsoft.com/office/drawing/2014/main" id="{E97DD7F3-49DE-4962-9D12-95AA4B347C24}"/>
              </a:ext>
            </a:extLst>
          </p:cNvPr>
          <p:cNvGrpSpPr/>
          <p:nvPr/>
        </p:nvGrpSpPr>
        <p:grpSpPr>
          <a:xfrm>
            <a:off x="6815383" y="3708406"/>
            <a:ext cx="5078783" cy="2495387"/>
            <a:chOff x="6642466" y="3371577"/>
            <a:chExt cx="5078783" cy="2495387"/>
          </a:xfrm>
        </p:grpSpPr>
        <p:sp>
          <p:nvSpPr>
            <p:cNvPr id="68" name="椭圆 67">
              <a:extLst>
                <a:ext uri="{FF2B5EF4-FFF2-40B4-BE49-F238E27FC236}">
                  <a16:creationId xmlns:a16="http://schemas.microsoft.com/office/drawing/2014/main" id="{47FAAECB-2EED-43DC-A45C-FC90BE58C463}"/>
                </a:ext>
              </a:extLst>
            </p:cNvPr>
            <p:cNvSpPr/>
            <p:nvPr/>
          </p:nvSpPr>
          <p:spPr>
            <a:xfrm>
              <a:off x="9484867" y="4510537"/>
              <a:ext cx="2236382" cy="1356427"/>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81" name="组合 80">
              <a:extLst>
                <a:ext uri="{FF2B5EF4-FFF2-40B4-BE49-F238E27FC236}">
                  <a16:creationId xmlns:a16="http://schemas.microsoft.com/office/drawing/2014/main" id="{7890CF77-9388-42C2-882A-50F5A83350C8}"/>
                </a:ext>
              </a:extLst>
            </p:cNvPr>
            <p:cNvGrpSpPr/>
            <p:nvPr/>
          </p:nvGrpSpPr>
          <p:grpSpPr>
            <a:xfrm>
              <a:off x="9986385" y="5208104"/>
              <a:ext cx="1183583" cy="380941"/>
              <a:chOff x="4710107" y="5478405"/>
              <a:chExt cx="1183583" cy="380941"/>
            </a:xfrm>
          </p:grpSpPr>
          <p:pic>
            <p:nvPicPr>
              <p:cNvPr id="82" name="Picture 35" descr="Terminal">
                <a:extLst>
                  <a:ext uri="{FF2B5EF4-FFF2-40B4-BE49-F238E27FC236}">
                    <a16:creationId xmlns:a16="http://schemas.microsoft.com/office/drawing/2014/main" id="{3AEE5EF6-04A4-4BDE-A36A-C12043524C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10107" y="547840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35" descr="Terminal">
                <a:extLst>
                  <a:ext uri="{FF2B5EF4-FFF2-40B4-BE49-F238E27FC236}">
                    <a16:creationId xmlns:a16="http://schemas.microsoft.com/office/drawing/2014/main" id="{0F8A2C71-9F8C-4DA3-AEAC-C998D034C2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62254"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35" descr="Terminal">
                <a:extLst>
                  <a:ext uri="{FF2B5EF4-FFF2-40B4-BE49-F238E27FC236}">
                    <a16:creationId xmlns:a16="http://schemas.microsoft.com/office/drawing/2014/main" id="{DBAA4EDF-76E1-4BEC-99AA-EF125404BB6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57622"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文本框 86">
                <a:extLst>
                  <a:ext uri="{FF2B5EF4-FFF2-40B4-BE49-F238E27FC236}">
                    <a16:creationId xmlns:a16="http://schemas.microsoft.com/office/drawing/2014/main" id="{823EBF51-2B3A-4609-99DB-9017922FD681}"/>
                  </a:ext>
                </a:extLst>
              </p:cNvPr>
              <p:cNvSpPr txBox="1"/>
              <p:nvPr/>
            </p:nvSpPr>
            <p:spPr>
              <a:xfrm>
                <a:off x="5385110" y="5550986"/>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88" name="文本框 87">
              <a:extLst>
                <a:ext uri="{FF2B5EF4-FFF2-40B4-BE49-F238E27FC236}">
                  <a16:creationId xmlns:a16="http://schemas.microsoft.com/office/drawing/2014/main" id="{705C4188-F63A-49F5-A729-0A46F6930094}"/>
                </a:ext>
              </a:extLst>
            </p:cNvPr>
            <p:cNvSpPr txBox="1"/>
            <p:nvPr/>
          </p:nvSpPr>
          <p:spPr>
            <a:xfrm>
              <a:off x="9869331" y="4595843"/>
              <a:ext cx="1449436" cy="523220"/>
            </a:xfrm>
            <a:prstGeom prst="rect">
              <a:avLst/>
            </a:prstGeom>
            <a:noFill/>
          </p:spPr>
          <p:txBody>
            <a:bodyPr wrap="none" rtlCol="0">
              <a:spAutoFit/>
            </a:bodyPr>
            <a:lstStyle/>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VLAN</a:t>
              </a:r>
              <a:r>
                <a:rPr lang="en-US" altLang="zh-CN" sz="1400" dirty="0">
                  <a:solidFill>
                    <a:srgbClr val="7030A0"/>
                  </a:solidFill>
                  <a:latin typeface="微软雅黑" panose="020B0503020204020204" pitchFamily="34" charset="-122"/>
                  <a:ea typeface="微软雅黑" panose="020B0503020204020204" pitchFamily="34" charset="-122"/>
                </a:rPr>
                <a:t> </a:t>
              </a:r>
              <a:r>
                <a:rPr kumimoji="1" lang="en-US" altLang="zh-CN" sz="1400" dirty="0">
                  <a:solidFill>
                    <a:srgbClr val="7030A0"/>
                  </a:solidFill>
                  <a:latin typeface="Microsoft YaHei" panose="020B0503020204020204" pitchFamily="34" charset="-122"/>
                  <a:ea typeface="Microsoft YaHei" panose="020B0503020204020204" pitchFamily="34" charset="-122"/>
                </a:rPr>
                <a:t>200</a:t>
              </a:r>
            </a:p>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192.168.2.0/24</a:t>
              </a:r>
              <a:endParaRPr kumimoji="1" lang="zh-CN" altLang="en-US" sz="1400" dirty="0">
                <a:solidFill>
                  <a:srgbClr val="7030A0"/>
                </a:solidFill>
                <a:latin typeface="Microsoft YaHei" panose="020B0503020204020204" pitchFamily="34" charset="-122"/>
                <a:ea typeface="Microsoft YaHei" panose="020B0503020204020204" pitchFamily="34" charset="-122"/>
              </a:endParaRPr>
            </a:p>
          </p:txBody>
        </p:sp>
        <p:sp>
          <p:nvSpPr>
            <p:cNvPr id="89" name="椭圆 88">
              <a:extLst>
                <a:ext uri="{FF2B5EF4-FFF2-40B4-BE49-F238E27FC236}">
                  <a16:creationId xmlns:a16="http://schemas.microsoft.com/office/drawing/2014/main" id="{67080C78-0BF8-4B75-AAA6-38D96BADEA21}"/>
                </a:ext>
              </a:extLst>
            </p:cNvPr>
            <p:cNvSpPr/>
            <p:nvPr/>
          </p:nvSpPr>
          <p:spPr>
            <a:xfrm>
              <a:off x="6642466" y="4503826"/>
              <a:ext cx="2226370" cy="1356427"/>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90" name="组合 89">
              <a:extLst>
                <a:ext uri="{FF2B5EF4-FFF2-40B4-BE49-F238E27FC236}">
                  <a16:creationId xmlns:a16="http://schemas.microsoft.com/office/drawing/2014/main" id="{11E5A158-D6CB-4237-A584-8E2DDB40EAC5}"/>
                </a:ext>
              </a:extLst>
            </p:cNvPr>
            <p:cNvGrpSpPr/>
            <p:nvPr/>
          </p:nvGrpSpPr>
          <p:grpSpPr>
            <a:xfrm>
              <a:off x="7149774" y="5200043"/>
              <a:ext cx="1183583" cy="380941"/>
              <a:chOff x="4408768" y="5540751"/>
              <a:chExt cx="1183583" cy="380941"/>
            </a:xfrm>
          </p:grpSpPr>
          <p:pic>
            <p:nvPicPr>
              <p:cNvPr id="91" name="Picture 35" descr="Terminal">
                <a:extLst>
                  <a:ext uri="{FF2B5EF4-FFF2-40B4-BE49-F238E27FC236}">
                    <a16:creationId xmlns:a16="http://schemas.microsoft.com/office/drawing/2014/main" id="{DE216377-418A-4BBE-B17E-91715653DD3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08768" y="554075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35" descr="Terminal">
                <a:extLst>
                  <a:ext uri="{FF2B5EF4-FFF2-40B4-BE49-F238E27FC236}">
                    <a16:creationId xmlns:a16="http://schemas.microsoft.com/office/drawing/2014/main" id="{72B3279E-09D9-4EDE-9FA0-5FE327B25C7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0915"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35" descr="Terminal">
                <a:extLst>
                  <a:ext uri="{FF2B5EF4-FFF2-40B4-BE49-F238E27FC236}">
                    <a16:creationId xmlns:a16="http://schemas.microsoft.com/office/drawing/2014/main" id="{798F175F-D044-46DB-8D11-6AA92F93F9F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83"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文本框 93">
                <a:extLst>
                  <a:ext uri="{FF2B5EF4-FFF2-40B4-BE49-F238E27FC236}">
                    <a16:creationId xmlns:a16="http://schemas.microsoft.com/office/drawing/2014/main" id="{01144D0E-902F-406B-A4AD-F8D64549E0C0}"/>
                  </a:ext>
                </a:extLst>
              </p:cNvPr>
              <p:cNvSpPr txBox="1"/>
              <p:nvPr/>
            </p:nvSpPr>
            <p:spPr>
              <a:xfrm>
                <a:off x="5009461" y="5552360"/>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95" name="文本框 94">
              <a:extLst>
                <a:ext uri="{FF2B5EF4-FFF2-40B4-BE49-F238E27FC236}">
                  <a16:creationId xmlns:a16="http://schemas.microsoft.com/office/drawing/2014/main" id="{3D05A9E7-5D23-4F94-8158-9C8F928D935D}"/>
                </a:ext>
              </a:extLst>
            </p:cNvPr>
            <p:cNvSpPr txBox="1"/>
            <p:nvPr/>
          </p:nvSpPr>
          <p:spPr>
            <a:xfrm>
              <a:off x="7000117" y="4602497"/>
              <a:ext cx="1449436"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grpSp>
          <p:nvGrpSpPr>
            <p:cNvPr id="96" name="组合 95">
              <a:extLst>
                <a:ext uri="{FF2B5EF4-FFF2-40B4-BE49-F238E27FC236}">
                  <a16:creationId xmlns:a16="http://schemas.microsoft.com/office/drawing/2014/main" id="{4B5489EA-F302-4B75-A7EF-11492C796C75}"/>
                </a:ext>
              </a:extLst>
            </p:cNvPr>
            <p:cNvGrpSpPr/>
            <p:nvPr/>
          </p:nvGrpSpPr>
          <p:grpSpPr>
            <a:xfrm>
              <a:off x="8111310" y="3371577"/>
              <a:ext cx="2262301" cy="1356427"/>
              <a:chOff x="8024478" y="1913300"/>
              <a:chExt cx="1874062" cy="1356427"/>
            </a:xfrm>
          </p:grpSpPr>
          <p:sp>
            <p:nvSpPr>
              <p:cNvPr id="97" name="椭圆 96">
                <a:extLst>
                  <a:ext uri="{FF2B5EF4-FFF2-40B4-BE49-F238E27FC236}">
                    <a16:creationId xmlns:a16="http://schemas.microsoft.com/office/drawing/2014/main" id="{75F7A340-A77A-4DE5-9458-E0271D543691}"/>
                  </a:ext>
                </a:extLst>
              </p:cNvPr>
              <p:cNvSpPr/>
              <p:nvPr/>
            </p:nvSpPr>
            <p:spPr>
              <a:xfrm>
                <a:off x="8024478" y="1913300"/>
                <a:ext cx="1874062" cy="1356427"/>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98" name="组合 97">
                <a:extLst>
                  <a:ext uri="{FF2B5EF4-FFF2-40B4-BE49-F238E27FC236}">
                    <a16:creationId xmlns:a16="http://schemas.microsoft.com/office/drawing/2014/main" id="{4055C5C3-FB02-4BF9-888A-C87F4C04BA59}"/>
                  </a:ext>
                </a:extLst>
              </p:cNvPr>
              <p:cNvGrpSpPr/>
              <p:nvPr/>
            </p:nvGrpSpPr>
            <p:grpSpPr>
              <a:xfrm>
                <a:off x="8406307" y="2646921"/>
                <a:ext cx="1183589" cy="380941"/>
                <a:chOff x="4355097" y="5436841"/>
                <a:chExt cx="1183589" cy="380941"/>
              </a:xfrm>
            </p:grpSpPr>
            <p:pic>
              <p:nvPicPr>
                <p:cNvPr id="100" name="Picture 35" descr="Terminal">
                  <a:extLst>
                    <a:ext uri="{FF2B5EF4-FFF2-40B4-BE49-F238E27FC236}">
                      <a16:creationId xmlns:a16="http://schemas.microsoft.com/office/drawing/2014/main" id="{1A08F217-A4CF-43EB-AC15-05467FA8079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55097" y="543684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35" descr="Terminal">
                  <a:extLst>
                    <a:ext uri="{FF2B5EF4-FFF2-40B4-BE49-F238E27FC236}">
                      <a16:creationId xmlns:a16="http://schemas.microsoft.com/office/drawing/2014/main" id="{50BD002E-B8E8-495A-B8FE-E114E1A5891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07245"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35" descr="Terminal">
                  <a:extLst>
                    <a:ext uri="{FF2B5EF4-FFF2-40B4-BE49-F238E27FC236}">
                      <a16:creationId xmlns:a16="http://schemas.microsoft.com/office/drawing/2014/main" id="{CBCF59CF-05BC-4147-A7EA-6986CAF0304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02618"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文本框 102">
                  <a:extLst>
                    <a:ext uri="{FF2B5EF4-FFF2-40B4-BE49-F238E27FC236}">
                      <a16:creationId xmlns:a16="http://schemas.microsoft.com/office/drawing/2014/main" id="{953EC8DE-151F-4937-88CC-6DC4F8E6B1A2}"/>
                    </a:ext>
                  </a:extLst>
                </p:cNvPr>
                <p:cNvSpPr txBox="1"/>
                <p:nvPr/>
              </p:nvSpPr>
              <p:spPr>
                <a:xfrm>
                  <a:off x="4955791" y="5448450"/>
                  <a:ext cx="273815" cy="307777"/>
                </a:xfrm>
                <a:prstGeom prst="rect">
                  <a:avLst/>
                </a:prstGeom>
                <a:noFill/>
              </p:spPr>
              <p:txBody>
                <a:bodyPr wrap="none" rtlCol="0">
                  <a:spAutoFit/>
                </a:bodyPr>
                <a:lstStyle/>
                <a:p>
                  <a:r>
                    <a:rPr lang="en-US" altLang="zh-CN" sz="1400" b="1" dirty="0"/>
                    <a:t>…</a:t>
                  </a:r>
                  <a:endParaRPr lang="zh-CN" altLang="en-US" sz="1400" b="1" dirty="0"/>
                </a:p>
              </p:txBody>
            </p:sp>
          </p:grpSp>
          <p:sp>
            <p:nvSpPr>
              <p:cNvPr id="99" name="文本框 98">
                <a:extLst>
                  <a:ext uri="{FF2B5EF4-FFF2-40B4-BE49-F238E27FC236}">
                    <a16:creationId xmlns:a16="http://schemas.microsoft.com/office/drawing/2014/main" id="{735DB0B0-061A-43AC-AA21-8B92CBE77330}"/>
                  </a:ext>
                </a:extLst>
              </p:cNvPr>
              <p:cNvSpPr txBox="1"/>
              <p:nvPr/>
            </p:nvSpPr>
            <p:spPr>
              <a:xfrm>
                <a:off x="8361162" y="2011684"/>
                <a:ext cx="1200695"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300</a:t>
                </a:r>
              </a:p>
              <a:p>
                <a:pPr lvl="2" algn="ctr">
                  <a:spcBef>
                    <a:spcPts val="0"/>
                  </a:spcBef>
                </a:pPr>
                <a:r>
                  <a:rPr lang="en-US" altLang="zh-CN" sz="1400" dirty="0">
                    <a:solidFill>
                      <a:srgbClr val="00B0F0"/>
                    </a:solidFill>
                  </a:rPr>
                  <a:t>192.168.3.0/24</a:t>
                </a:r>
                <a:endParaRPr lang="zh-CN" altLang="en-US" sz="1400" dirty="0">
                  <a:solidFill>
                    <a:srgbClr val="00B0F0"/>
                  </a:solidFill>
                </a:endParaRPr>
              </a:p>
            </p:txBody>
          </p:sp>
        </p:grpSp>
        <p:pic>
          <p:nvPicPr>
            <p:cNvPr id="44" name="Picture 9" descr="三层交换机">
              <a:extLst>
                <a:ext uri="{FF2B5EF4-FFF2-40B4-BE49-F238E27FC236}">
                  <a16:creationId xmlns:a16="http://schemas.microsoft.com/office/drawing/2014/main" id="{7231ADA5-D5D0-4B88-B85B-F81C6E86D4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83259" y="4660629"/>
              <a:ext cx="1052367" cy="764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 name="组合 16">
            <a:extLst>
              <a:ext uri="{FF2B5EF4-FFF2-40B4-BE49-F238E27FC236}">
                <a16:creationId xmlns:a16="http://schemas.microsoft.com/office/drawing/2014/main" id="{76C00CA2-EAF9-443B-A2DC-CAB2ECFC0E3B}"/>
              </a:ext>
            </a:extLst>
          </p:cNvPr>
          <p:cNvGrpSpPr/>
          <p:nvPr/>
        </p:nvGrpSpPr>
        <p:grpSpPr>
          <a:xfrm>
            <a:off x="6044835" y="3861114"/>
            <a:ext cx="2340743" cy="533175"/>
            <a:chOff x="6298663" y="3668483"/>
            <a:chExt cx="2125774" cy="533175"/>
          </a:xfrm>
        </p:grpSpPr>
        <p:sp>
          <p:nvSpPr>
            <p:cNvPr id="104" name="对话气泡: 圆角矩形 103">
              <a:extLst>
                <a:ext uri="{FF2B5EF4-FFF2-40B4-BE49-F238E27FC236}">
                  <a16:creationId xmlns:a16="http://schemas.microsoft.com/office/drawing/2014/main" id="{19ADF75D-D5E3-49CE-9DE7-72F631E4C9E8}"/>
                </a:ext>
              </a:extLst>
            </p:cNvPr>
            <p:cNvSpPr/>
            <p:nvPr/>
          </p:nvSpPr>
          <p:spPr>
            <a:xfrm>
              <a:off x="6298663" y="3668483"/>
              <a:ext cx="1955261" cy="527311"/>
            </a:xfrm>
            <a:prstGeom prst="wedgeRoundRectCallout">
              <a:avLst>
                <a:gd name="adj1" fmla="val 92199"/>
                <a:gd name="adj2" fmla="val 204293"/>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106" name="文本框 105">
              <a:extLst>
                <a:ext uri="{FF2B5EF4-FFF2-40B4-BE49-F238E27FC236}">
                  <a16:creationId xmlns:a16="http://schemas.microsoft.com/office/drawing/2014/main" id="{493AD344-45CB-4744-B512-C6EC8F317B4B}"/>
                </a:ext>
              </a:extLst>
            </p:cNvPr>
            <p:cNvSpPr txBox="1"/>
            <p:nvPr/>
          </p:nvSpPr>
          <p:spPr>
            <a:xfrm>
              <a:off x="6322426" y="3678438"/>
              <a:ext cx="2102011" cy="523220"/>
            </a:xfrm>
            <a:prstGeom prst="rect">
              <a:avLst/>
            </a:prstGeom>
            <a:noFill/>
          </p:spPr>
          <p:txBody>
            <a:bodyPr wrap="square">
              <a:spAutoFit/>
            </a:bodyPr>
            <a:lstStyle/>
            <a:p>
              <a:r>
                <a:rPr lang="zh-CN" altLang="en-US" sz="1400" dirty="0">
                  <a:latin typeface="微软雅黑" panose="020B0503020204020204" pitchFamily="34" charset="-122"/>
                  <a:ea typeface="微软雅黑" panose="020B0503020204020204" pitchFamily="34" charset="-122"/>
                </a:rPr>
                <a:t>只需要在交换机中划分</a:t>
              </a:r>
              <a:r>
                <a:rPr lang="en-US" altLang="zh-CN" sz="1400" dirty="0">
                  <a:latin typeface="微软雅黑" panose="020B0503020204020204" pitchFamily="34" charset="-122"/>
                  <a:ea typeface="微软雅黑" panose="020B0503020204020204" pitchFamily="34" charset="-122"/>
                </a:rPr>
                <a:t>VLAN</a:t>
              </a:r>
              <a:r>
                <a:rPr lang="zh-CN" altLang="en-US" sz="1400" dirty="0">
                  <a:latin typeface="微软雅黑" panose="020B0503020204020204" pitchFamily="34" charset="-122"/>
                  <a:ea typeface="微软雅黑" panose="020B0503020204020204" pitchFamily="34" charset="-122"/>
                </a:rPr>
                <a:t>并为其分配</a:t>
              </a:r>
              <a:r>
                <a:rPr lang="en-US" altLang="zh-CN" sz="1400" dirty="0">
                  <a:latin typeface="微软雅黑" panose="020B0503020204020204" pitchFamily="34" charset="-122"/>
                  <a:ea typeface="微软雅黑" panose="020B0503020204020204" pitchFamily="34" charset="-122"/>
                </a:rPr>
                <a:t>IP</a:t>
              </a:r>
              <a:r>
                <a:rPr lang="zh-CN" altLang="en-US" sz="1400" dirty="0">
                  <a:latin typeface="微软雅黑" panose="020B0503020204020204" pitchFamily="34" charset="-122"/>
                  <a:ea typeface="微软雅黑" panose="020B0503020204020204" pitchFamily="34" charset="-122"/>
                </a:rPr>
                <a:t>地址</a:t>
              </a:r>
              <a:endParaRPr lang="en-US" altLang="zh-CN" sz="1400" dirty="0">
                <a:latin typeface="微软雅黑" panose="020B0503020204020204" pitchFamily="34" charset="-122"/>
                <a:ea typeface="微软雅黑" panose="020B0503020204020204" pitchFamily="34" charset="-122"/>
              </a:endParaRPr>
            </a:p>
          </p:txBody>
        </p:sp>
      </p:grpSp>
      <p:sp>
        <p:nvSpPr>
          <p:cNvPr id="8" name="日期占位符 7">
            <a:extLst>
              <a:ext uri="{FF2B5EF4-FFF2-40B4-BE49-F238E27FC236}">
                <a16:creationId xmlns:a16="http://schemas.microsoft.com/office/drawing/2014/main" id="{880AE01E-1078-4307-823E-1542C0EE5AE6}"/>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3015655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 calcmode="lin" valueType="num">
                                      <p:cBhvr>
                                        <p:cTn id="7" dur="500" fill="hold"/>
                                        <p:tgtEl>
                                          <p:spTgt spid="85"/>
                                        </p:tgtEl>
                                        <p:attrNameLst>
                                          <p:attrName>ppt_x</p:attrName>
                                        </p:attrNameLst>
                                      </p:cBhvr>
                                      <p:tavLst>
                                        <p:tav tm="0">
                                          <p:val>
                                            <p:strVal val="#ppt_x-#ppt_w/2"/>
                                          </p:val>
                                        </p:tav>
                                        <p:tav tm="100000">
                                          <p:val>
                                            <p:strVal val="#ppt_x"/>
                                          </p:val>
                                        </p:tav>
                                      </p:tavLst>
                                    </p:anim>
                                    <p:anim calcmode="lin" valueType="num">
                                      <p:cBhvr>
                                        <p:cTn id="8" dur="500" fill="hold"/>
                                        <p:tgtEl>
                                          <p:spTgt spid="85"/>
                                        </p:tgtEl>
                                        <p:attrNameLst>
                                          <p:attrName>ppt_y</p:attrName>
                                        </p:attrNameLst>
                                      </p:cBhvr>
                                      <p:tavLst>
                                        <p:tav tm="0">
                                          <p:val>
                                            <p:strVal val="#ppt_y"/>
                                          </p:val>
                                        </p:tav>
                                        <p:tav tm="100000">
                                          <p:val>
                                            <p:strVal val="#ppt_y"/>
                                          </p:val>
                                        </p:tav>
                                      </p:tavLst>
                                    </p:anim>
                                    <p:anim calcmode="lin" valueType="num">
                                      <p:cBhvr>
                                        <p:cTn id="9" dur="500" fill="hold"/>
                                        <p:tgtEl>
                                          <p:spTgt spid="85"/>
                                        </p:tgtEl>
                                        <p:attrNameLst>
                                          <p:attrName>ppt_w</p:attrName>
                                        </p:attrNameLst>
                                      </p:cBhvr>
                                      <p:tavLst>
                                        <p:tav tm="0">
                                          <p:val>
                                            <p:fltVal val="0"/>
                                          </p:val>
                                        </p:tav>
                                        <p:tav tm="100000">
                                          <p:val>
                                            <p:strVal val="#ppt_w"/>
                                          </p:val>
                                        </p:tav>
                                      </p:tavLst>
                                    </p:anim>
                                    <p:anim calcmode="lin" valueType="num">
                                      <p:cBhvr>
                                        <p:cTn id="10" dur="500" fill="hold"/>
                                        <p:tgtEl>
                                          <p:spTgt spid="85"/>
                                        </p:tgtEl>
                                        <p:attrNameLst>
                                          <p:attrName>ppt_h</p:attrName>
                                        </p:attrNameLst>
                                      </p:cBhvr>
                                      <p:tavLst>
                                        <p:tav tm="0">
                                          <p:val>
                                            <p:strVal val="#ppt_h"/>
                                          </p:val>
                                        </p:tav>
                                        <p:tav tm="100000">
                                          <p:val>
                                            <p:strVal val="#ppt_h"/>
                                          </p:val>
                                        </p:tav>
                                      </p:tavLst>
                                    </p:anim>
                                  </p:childTnLst>
                                </p:cTn>
                              </p:par>
                            </p:childTnLst>
                          </p:cTn>
                        </p:par>
                        <p:par>
                          <p:cTn id="11" fill="hold">
                            <p:stCondLst>
                              <p:cond delay="500"/>
                            </p:stCondLst>
                            <p:childTnLst>
                              <p:par>
                                <p:cTn id="12" presetID="1" presetClass="entr" presetSubtype="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ACAD098-4B4E-4800-9FEC-B2C02589DEBC}"/>
              </a:ext>
            </a:extLst>
          </p:cNvPr>
          <p:cNvSpPr>
            <a:spLocks noGrp="1"/>
          </p:cNvSpPr>
          <p:nvPr>
            <p:ph type="title"/>
          </p:nvPr>
        </p:nvSpPr>
        <p:spPr/>
        <p:txBody>
          <a:bodyPr/>
          <a:lstStyle/>
          <a:p>
            <a:r>
              <a:rPr kumimoji="1" lang="zh-CN" altLang="en-US" dirty="0"/>
              <a:t>三层交换的动机</a:t>
            </a:r>
            <a:endParaRPr lang="zh-CN" altLang="en-US" dirty="0"/>
          </a:p>
        </p:txBody>
      </p:sp>
      <p:sp>
        <p:nvSpPr>
          <p:cNvPr id="4" name="灯片编号占位符 3">
            <a:extLst>
              <a:ext uri="{FF2B5EF4-FFF2-40B4-BE49-F238E27FC236}">
                <a16:creationId xmlns:a16="http://schemas.microsoft.com/office/drawing/2014/main" id="{F77B2CCA-5DF5-4EC9-8BE8-2307CFE27FD1}"/>
              </a:ext>
            </a:extLst>
          </p:cNvPr>
          <p:cNvSpPr>
            <a:spLocks noGrp="1"/>
          </p:cNvSpPr>
          <p:nvPr>
            <p:ph type="sldNum" sz="quarter" idx="12"/>
          </p:nvPr>
        </p:nvSpPr>
        <p:spPr/>
        <p:txBody>
          <a:bodyPr/>
          <a:lstStyle/>
          <a:p>
            <a:fld id="{8D4D1E41-7A09-AB4A-A4E1-09765ADA2698}" type="slidenum">
              <a:rPr kumimoji="1" lang="zh-CN" altLang="en-US" smtClean="0"/>
              <a:t>241</a:t>
            </a:fld>
            <a:endParaRPr kumimoji="1" lang="zh-CN" altLang="en-US" dirty="0"/>
          </a:p>
        </p:txBody>
      </p:sp>
      <p:sp>
        <p:nvSpPr>
          <p:cNvPr id="6" name="内容占位符 5">
            <a:extLst>
              <a:ext uri="{FF2B5EF4-FFF2-40B4-BE49-F238E27FC236}">
                <a16:creationId xmlns:a16="http://schemas.microsoft.com/office/drawing/2014/main" id="{65C86B69-D2B9-46EC-8FFE-34DD03C5F82D}"/>
              </a:ext>
            </a:extLst>
          </p:cNvPr>
          <p:cNvSpPr>
            <a:spLocks noGrp="1"/>
          </p:cNvSpPr>
          <p:nvPr>
            <p:ph idx="1"/>
          </p:nvPr>
        </p:nvSpPr>
        <p:spPr/>
        <p:txBody>
          <a:bodyPr>
            <a:normAutofit/>
          </a:bodyPr>
          <a:lstStyle/>
          <a:p>
            <a:pPr>
              <a:lnSpc>
                <a:spcPct val="110000"/>
              </a:lnSpc>
            </a:pPr>
            <a:r>
              <a:rPr lang="zh-CN" altLang="en-US" dirty="0"/>
              <a:t>全以太网的环境中，网络的帧长度是固定的，因此报文分片也是一个可以省略的工作</a:t>
            </a:r>
            <a:endParaRPr lang="en-US" altLang="zh-CN" dirty="0"/>
          </a:p>
          <a:p>
            <a:pPr>
              <a:lnSpc>
                <a:spcPct val="110000"/>
              </a:lnSpc>
            </a:pPr>
            <a:r>
              <a:rPr lang="zh-CN" altLang="en-US" dirty="0"/>
              <a:t>使用精确地址匹配处理，有利于硬件实现快速查找</a:t>
            </a:r>
            <a:endParaRPr lang="en-US" altLang="zh-CN" dirty="0"/>
          </a:p>
          <a:p>
            <a:pPr>
              <a:lnSpc>
                <a:spcPct val="110000"/>
              </a:lnSpc>
            </a:pPr>
            <a:r>
              <a:rPr lang="zh-CN" altLang="en-US" dirty="0"/>
              <a:t>使用高速缓存的方法，经常使用的主机路由放到硬件查找表中，只有在这个高速缓存中无法匹配的项目才通过软件去转发</a:t>
            </a:r>
            <a:endParaRPr lang="en-US" altLang="zh-CN" dirty="0"/>
          </a:p>
          <a:p>
            <a:pPr>
              <a:lnSpc>
                <a:spcPct val="110000"/>
              </a:lnSpc>
            </a:pPr>
            <a:r>
              <a:rPr lang="zh-CN" altLang="en-US" dirty="0"/>
              <a:t>使用流交换方式，对于一组具有相同源地址和目的地址的报文可以采用快速转发策略</a:t>
            </a:r>
            <a:endParaRPr lang="en-US" altLang="zh-CN" dirty="0"/>
          </a:p>
          <a:p>
            <a:pPr>
              <a:lnSpc>
                <a:spcPct val="110000"/>
              </a:lnSpc>
            </a:pPr>
            <a:r>
              <a:rPr lang="zh-CN" altLang="en-US" dirty="0"/>
              <a:t>简化的</a:t>
            </a:r>
            <a:r>
              <a:rPr lang="en-US" altLang="zh-CN" dirty="0"/>
              <a:t>IP</a:t>
            </a:r>
            <a:r>
              <a:rPr lang="zh-CN" altLang="en-US" dirty="0"/>
              <a:t>转发流程，利用专用的</a:t>
            </a:r>
            <a:r>
              <a:rPr lang="en-US" altLang="zh-CN" dirty="0"/>
              <a:t>ASIC</a:t>
            </a:r>
            <a:r>
              <a:rPr lang="zh-CN" altLang="en-US" dirty="0"/>
              <a:t>芯片实现硬件的转发</a:t>
            </a:r>
          </a:p>
          <a:p>
            <a:pPr marL="0" indent="0">
              <a:buNone/>
            </a:pPr>
            <a:endParaRPr lang="zh-CN" altLang="en-US" dirty="0"/>
          </a:p>
        </p:txBody>
      </p:sp>
      <p:sp>
        <p:nvSpPr>
          <p:cNvPr id="3" name="日期占位符 2">
            <a:extLst>
              <a:ext uri="{FF2B5EF4-FFF2-40B4-BE49-F238E27FC236}">
                <a16:creationId xmlns:a16="http://schemas.microsoft.com/office/drawing/2014/main" id="{FC721B7F-A376-4269-AB57-4B9B58CCC752}"/>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99462287"/>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7B5079C8-41F6-43B9-9836-6152AD1AEC33}"/>
              </a:ext>
            </a:extLst>
          </p:cNvPr>
          <p:cNvSpPr txBox="1"/>
          <p:nvPr/>
        </p:nvSpPr>
        <p:spPr>
          <a:xfrm>
            <a:off x="1195811" y="1867861"/>
            <a:ext cx="1209367" cy="2554545"/>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二层交换</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模块</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MAC</a:t>
            </a:r>
            <a:r>
              <a:rPr lang="zh-CN" altLang="en-US" sz="1600" dirty="0">
                <a:latin typeface="微软雅黑" panose="020B0503020204020204" pitchFamily="34" charset="-122"/>
                <a:ea typeface="微软雅黑" panose="020B0503020204020204" pitchFamily="34" charset="-122"/>
              </a:rPr>
              <a:t>表</a:t>
            </a: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VLAN</a:t>
            </a:r>
            <a:r>
              <a:rPr lang="zh-CN" altLang="en-US" sz="1600" dirty="0">
                <a:latin typeface="微软雅黑" panose="020B0503020204020204" pitchFamily="34" charset="-122"/>
                <a:ea typeface="微软雅黑" panose="020B0503020204020204" pitchFamily="34" charset="-122"/>
              </a:rPr>
              <a:t>表</a:t>
            </a:r>
            <a:endParaRPr lang="en-US" altLang="zh-CN" sz="1600" dirty="0">
              <a:latin typeface="微软雅黑" panose="020B0503020204020204" pitchFamily="34" charset="-122"/>
              <a:ea typeface="微软雅黑" panose="020B0503020204020204" pitchFamily="34" charset="-122"/>
            </a:endParaRPr>
          </a:p>
          <a:p>
            <a:pPr algn="ctr"/>
            <a:endParaRPr lang="zh-CN" altLang="en-US" sz="1600" dirty="0">
              <a:latin typeface="微软雅黑" panose="020B0503020204020204" pitchFamily="34" charset="-122"/>
              <a:ea typeface="微软雅黑" panose="020B0503020204020204" pitchFamily="34" charset="-122"/>
            </a:endParaRPr>
          </a:p>
        </p:txBody>
      </p:sp>
      <p:cxnSp>
        <p:nvCxnSpPr>
          <p:cNvPr id="4" name="直接连接符 3">
            <a:extLst>
              <a:ext uri="{FF2B5EF4-FFF2-40B4-BE49-F238E27FC236}">
                <a16:creationId xmlns:a16="http://schemas.microsoft.com/office/drawing/2014/main" id="{30B2BA2A-5D54-41D3-8DA9-E5C8392B8C27}"/>
              </a:ext>
            </a:extLst>
          </p:cNvPr>
          <p:cNvCxnSpPr>
            <a:stCxn id="2" idx="1"/>
            <a:endCxn id="2" idx="3"/>
          </p:cNvCxnSpPr>
          <p:nvPr/>
        </p:nvCxnSpPr>
        <p:spPr>
          <a:xfrm>
            <a:off x="1195811" y="3145134"/>
            <a:ext cx="1209367" cy="0"/>
          </a:xfrm>
          <a:prstGeom prst="line">
            <a:avLst/>
          </a:prstGeom>
        </p:spPr>
        <p:style>
          <a:lnRef idx="3">
            <a:schemeClr val="accent3"/>
          </a:lnRef>
          <a:fillRef idx="0">
            <a:schemeClr val="accent3"/>
          </a:fillRef>
          <a:effectRef idx="2">
            <a:schemeClr val="accent3"/>
          </a:effectRef>
          <a:fontRef idx="minor">
            <a:schemeClr val="tx1"/>
          </a:fontRef>
        </p:style>
      </p:cxnSp>
      <p:sp>
        <p:nvSpPr>
          <p:cNvPr id="5" name="箭头: 左 4">
            <a:extLst>
              <a:ext uri="{FF2B5EF4-FFF2-40B4-BE49-F238E27FC236}">
                <a16:creationId xmlns:a16="http://schemas.microsoft.com/office/drawing/2014/main" id="{79B90425-65BC-4792-B3CD-5F4A686C376F}"/>
              </a:ext>
            </a:extLst>
          </p:cNvPr>
          <p:cNvSpPr/>
          <p:nvPr/>
        </p:nvSpPr>
        <p:spPr>
          <a:xfrm>
            <a:off x="395711" y="2097998"/>
            <a:ext cx="781664" cy="1047135"/>
          </a:xfrm>
          <a:prstGeom prst="lef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6" name="箭头: 右 5">
            <a:extLst>
              <a:ext uri="{FF2B5EF4-FFF2-40B4-BE49-F238E27FC236}">
                <a16:creationId xmlns:a16="http://schemas.microsoft.com/office/drawing/2014/main" id="{26F4B360-3331-465E-8C8D-6D31A1EEB459}"/>
              </a:ext>
            </a:extLst>
          </p:cNvPr>
          <p:cNvSpPr/>
          <p:nvPr/>
        </p:nvSpPr>
        <p:spPr>
          <a:xfrm>
            <a:off x="333064" y="3350341"/>
            <a:ext cx="884903" cy="997050"/>
          </a:xfrm>
          <a:prstGeom prst="rightArrow">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7" name="矩形 6">
            <a:extLst>
              <a:ext uri="{FF2B5EF4-FFF2-40B4-BE49-F238E27FC236}">
                <a16:creationId xmlns:a16="http://schemas.microsoft.com/office/drawing/2014/main" id="{EECE2663-F76D-4BB4-9EFA-74D39802721D}"/>
              </a:ext>
            </a:extLst>
          </p:cNvPr>
          <p:cNvSpPr/>
          <p:nvPr/>
        </p:nvSpPr>
        <p:spPr>
          <a:xfrm>
            <a:off x="401982" y="2452288"/>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以太帧</a:t>
            </a:r>
            <a:endParaRPr lang="en-US" altLang="zh-CN" sz="1600" dirty="0">
              <a:latin typeface="微软雅黑" panose="020B0503020204020204" pitchFamily="34" charset="-122"/>
              <a:ea typeface="微软雅黑" panose="020B0503020204020204" pitchFamily="34" charset="-122"/>
            </a:endParaRPr>
          </a:p>
        </p:txBody>
      </p:sp>
      <p:sp>
        <p:nvSpPr>
          <p:cNvPr id="12" name="矩形 11">
            <a:extLst>
              <a:ext uri="{FF2B5EF4-FFF2-40B4-BE49-F238E27FC236}">
                <a16:creationId xmlns:a16="http://schemas.microsoft.com/office/drawing/2014/main" id="{8C9BF5DE-8EA4-4EAC-A34D-50304ACC47F0}"/>
              </a:ext>
            </a:extLst>
          </p:cNvPr>
          <p:cNvSpPr/>
          <p:nvPr/>
        </p:nvSpPr>
        <p:spPr>
          <a:xfrm>
            <a:off x="283412" y="3642750"/>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以太帧</a:t>
            </a:r>
            <a:endParaRPr lang="en-US" altLang="zh-CN" sz="1600" dirty="0">
              <a:latin typeface="微软雅黑" panose="020B0503020204020204" pitchFamily="34" charset="-122"/>
              <a:ea typeface="微软雅黑" panose="020B0503020204020204" pitchFamily="34" charset="-122"/>
            </a:endParaRPr>
          </a:p>
        </p:txBody>
      </p:sp>
      <p:sp>
        <p:nvSpPr>
          <p:cNvPr id="13" name="箭头: 右 12">
            <a:extLst>
              <a:ext uri="{FF2B5EF4-FFF2-40B4-BE49-F238E27FC236}">
                <a16:creationId xmlns:a16="http://schemas.microsoft.com/office/drawing/2014/main" id="{6EB18BFB-1232-4BF9-A148-4E2A0CE5E31D}"/>
              </a:ext>
            </a:extLst>
          </p:cNvPr>
          <p:cNvSpPr/>
          <p:nvPr/>
        </p:nvSpPr>
        <p:spPr>
          <a:xfrm>
            <a:off x="2436095" y="3923059"/>
            <a:ext cx="596945" cy="338902"/>
          </a:xfrm>
          <a:prstGeom prst="rightArrow">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grpSp>
        <p:nvGrpSpPr>
          <p:cNvPr id="8" name="组合 7">
            <a:extLst>
              <a:ext uri="{FF2B5EF4-FFF2-40B4-BE49-F238E27FC236}">
                <a16:creationId xmlns:a16="http://schemas.microsoft.com/office/drawing/2014/main" id="{3A21E453-B7A0-4C6B-90B3-3F45FBF0B9E7}"/>
              </a:ext>
            </a:extLst>
          </p:cNvPr>
          <p:cNvGrpSpPr/>
          <p:nvPr/>
        </p:nvGrpSpPr>
        <p:grpSpPr>
          <a:xfrm>
            <a:off x="3082048" y="2697662"/>
            <a:ext cx="1209367" cy="1815882"/>
            <a:chOff x="3308555" y="2984520"/>
            <a:chExt cx="1209367" cy="1815882"/>
          </a:xfrm>
        </p:grpSpPr>
        <p:sp>
          <p:nvSpPr>
            <p:cNvPr id="14" name="文本框 13">
              <a:extLst>
                <a:ext uri="{FF2B5EF4-FFF2-40B4-BE49-F238E27FC236}">
                  <a16:creationId xmlns:a16="http://schemas.microsoft.com/office/drawing/2014/main" id="{B2AA419C-6F3E-44ED-9EF0-30CC25CDA594}"/>
                </a:ext>
              </a:extLst>
            </p:cNvPr>
            <p:cNvSpPr txBox="1"/>
            <p:nvPr/>
          </p:nvSpPr>
          <p:spPr>
            <a:xfrm>
              <a:off x="3308555" y="2984520"/>
              <a:ext cx="1209367" cy="1815882"/>
            </a:xfrm>
            <a:prstGeom prst="rect">
              <a:avLst/>
            </a:prstGeom>
            <a:gradFill flip="none" rotWithShape="1">
              <a:gsLst>
                <a:gs pos="0">
                  <a:schemeClr val="accent5">
                    <a:lumMod val="40000"/>
                    <a:lumOff val="60000"/>
                  </a:schemeClr>
                </a:gs>
                <a:gs pos="50000">
                  <a:schemeClr val="accent1">
                    <a:tint val="44500"/>
                    <a:satMod val="160000"/>
                  </a:schemeClr>
                </a:gs>
                <a:gs pos="100000">
                  <a:schemeClr val="bg1"/>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三层路由</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模块</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 </a:t>
              </a:r>
              <a:r>
                <a:rPr lang="zh-CN" altLang="en-US" sz="1600" dirty="0">
                  <a:latin typeface="微软雅黑" panose="020B0503020204020204" pitchFamily="34" charset="-122"/>
                  <a:ea typeface="微软雅黑" panose="020B0503020204020204" pitchFamily="34" charset="-122"/>
                </a:rPr>
                <a:t>路由表</a:t>
              </a:r>
              <a:endParaRPr lang="en-US" altLang="zh-CN" sz="1600" dirty="0">
                <a:latin typeface="微软雅黑" panose="020B0503020204020204" pitchFamily="34" charset="-122"/>
                <a:ea typeface="微软雅黑" panose="020B0503020204020204" pitchFamily="34" charset="-122"/>
              </a:endParaRPr>
            </a:p>
            <a:p>
              <a:pPr algn="ctr"/>
              <a:endParaRPr lang="zh-CN" altLang="en-US" sz="1600"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id="{BDA03EF9-4D93-4994-A600-31E8FDE85F40}"/>
                </a:ext>
              </a:extLst>
            </p:cNvPr>
            <p:cNvCxnSpPr/>
            <p:nvPr/>
          </p:nvCxnSpPr>
          <p:spPr>
            <a:xfrm>
              <a:off x="3308555" y="4122859"/>
              <a:ext cx="1209367" cy="0"/>
            </a:xfrm>
            <a:prstGeom prst="line">
              <a:avLst/>
            </a:prstGeom>
          </p:spPr>
          <p:style>
            <a:lnRef idx="3">
              <a:schemeClr val="accent3"/>
            </a:lnRef>
            <a:fillRef idx="0">
              <a:schemeClr val="accent3"/>
            </a:fillRef>
            <a:effectRef idx="2">
              <a:schemeClr val="accent3"/>
            </a:effectRef>
            <a:fontRef idx="minor">
              <a:schemeClr val="tx1"/>
            </a:fontRef>
          </p:style>
        </p:cxnSp>
      </p:grpSp>
      <p:grpSp>
        <p:nvGrpSpPr>
          <p:cNvPr id="17" name="组合 16">
            <a:extLst>
              <a:ext uri="{FF2B5EF4-FFF2-40B4-BE49-F238E27FC236}">
                <a16:creationId xmlns:a16="http://schemas.microsoft.com/office/drawing/2014/main" id="{419F96F9-2108-47C2-8C6E-77371C664F7B}"/>
              </a:ext>
            </a:extLst>
          </p:cNvPr>
          <p:cNvGrpSpPr/>
          <p:nvPr/>
        </p:nvGrpSpPr>
        <p:grpSpPr>
          <a:xfrm>
            <a:off x="5040608" y="2697662"/>
            <a:ext cx="1209367" cy="1815882"/>
            <a:chOff x="3308555" y="2984520"/>
            <a:chExt cx="1209367" cy="1815882"/>
          </a:xfrm>
        </p:grpSpPr>
        <p:sp>
          <p:nvSpPr>
            <p:cNvPr id="18" name="文本框 17">
              <a:extLst>
                <a:ext uri="{FF2B5EF4-FFF2-40B4-BE49-F238E27FC236}">
                  <a16:creationId xmlns:a16="http://schemas.microsoft.com/office/drawing/2014/main" id="{E56F7CAF-0589-4E66-9DE6-9282F5AAF762}"/>
                </a:ext>
              </a:extLst>
            </p:cNvPr>
            <p:cNvSpPr txBox="1"/>
            <p:nvPr/>
          </p:nvSpPr>
          <p:spPr>
            <a:xfrm>
              <a:off x="3308555" y="2984520"/>
              <a:ext cx="1209367" cy="1815882"/>
            </a:xfrm>
            <a:prstGeom prst="rect">
              <a:avLst/>
            </a:prstGeom>
            <a:gradFill flip="none" rotWithShape="1">
              <a:gsLst>
                <a:gs pos="0">
                  <a:schemeClr val="accent5">
                    <a:lumMod val="40000"/>
                    <a:lumOff val="60000"/>
                  </a:schemeClr>
                </a:gs>
                <a:gs pos="50000">
                  <a:schemeClr val="accent1">
                    <a:tint val="44500"/>
                    <a:satMod val="160000"/>
                  </a:schemeClr>
                </a:gs>
                <a:gs pos="100000">
                  <a:schemeClr val="bg1"/>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多层</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流分类</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 </a:t>
              </a:r>
              <a:r>
                <a:rPr lang="zh-CN" altLang="en-US" sz="1600" dirty="0">
                  <a:latin typeface="微软雅黑" panose="020B0503020204020204" pitchFamily="34" charset="-122"/>
                  <a:ea typeface="微软雅黑" panose="020B0503020204020204" pitchFamily="34" charset="-122"/>
                </a:rPr>
                <a:t>流分类</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规则表</a:t>
              </a:r>
              <a:endParaRPr lang="en-US" altLang="zh-CN" sz="1600" dirty="0">
                <a:latin typeface="微软雅黑" panose="020B0503020204020204" pitchFamily="34" charset="-122"/>
                <a:ea typeface="微软雅黑" panose="020B0503020204020204" pitchFamily="34" charset="-122"/>
              </a:endParaRPr>
            </a:p>
          </p:txBody>
        </p:sp>
        <p:cxnSp>
          <p:nvCxnSpPr>
            <p:cNvPr id="19" name="直接连接符 18">
              <a:extLst>
                <a:ext uri="{FF2B5EF4-FFF2-40B4-BE49-F238E27FC236}">
                  <a16:creationId xmlns:a16="http://schemas.microsoft.com/office/drawing/2014/main" id="{1935E0F5-9BFC-4006-911B-8CF336ADD272}"/>
                </a:ext>
              </a:extLst>
            </p:cNvPr>
            <p:cNvCxnSpPr/>
            <p:nvPr/>
          </p:nvCxnSpPr>
          <p:spPr>
            <a:xfrm>
              <a:off x="3308555" y="4122859"/>
              <a:ext cx="1209367" cy="0"/>
            </a:xfrm>
            <a:prstGeom prst="line">
              <a:avLst/>
            </a:prstGeom>
          </p:spPr>
          <p:style>
            <a:lnRef idx="3">
              <a:schemeClr val="accent3"/>
            </a:lnRef>
            <a:fillRef idx="0">
              <a:schemeClr val="accent3"/>
            </a:fillRef>
            <a:effectRef idx="2">
              <a:schemeClr val="accent3"/>
            </a:effectRef>
            <a:fontRef idx="minor">
              <a:schemeClr val="tx1"/>
            </a:fontRef>
          </p:style>
        </p:cxnSp>
      </p:grpSp>
      <p:grpSp>
        <p:nvGrpSpPr>
          <p:cNvPr id="20" name="组合 19">
            <a:extLst>
              <a:ext uri="{FF2B5EF4-FFF2-40B4-BE49-F238E27FC236}">
                <a16:creationId xmlns:a16="http://schemas.microsoft.com/office/drawing/2014/main" id="{EC0C19A6-B9E5-4F31-83A9-B42D2BA900B9}"/>
              </a:ext>
            </a:extLst>
          </p:cNvPr>
          <p:cNvGrpSpPr/>
          <p:nvPr/>
        </p:nvGrpSpPr>
        <p:grpSpPr>
          <a:xfrm>
            <a:off x="6900778" y="2697662"/>
            <a:ext cx="3378777" cy="1815882"/>
            <a:chOff x="3308555" y="3008494"/>
            <a:chExt cx="1209367" cy="1815882"/>
          </a:xfrm>
        </p:grpSpPr>
        <p:sp>
          <p:nvSpPr>
            <p:cNvPr id="21" name="文本框 20">
              <a:extLst>
                <a:ext uri="{FF2B5EF4-FFF2-40B4-BE49-F238E27FC236}">
                  <a16:creationId xmlns:a16="http://schemas.microsoft.com/office/drawing/2014/main" id="{C87582CE-3346-42CB-A35F-9ADBB32B58B1}"/>
                </a:ext>
              </a:extLst>
            </p:cNvPr>
            <p:cNvSpPr txBox="1"/>
            <p:nvPr/>
          </p:nvSpPr>
          <p:spPr>
            <a:xfrm>
              <a:off x="3308555" y="3008494"/>
              <a:ext cx="1209367" cy="1815882"/>
            </a:xfrm>
            <a:prstGeom prst="rect">
              <a:avLst/>
            </a:prstGeom>
            <a:gradFill flip="none" rotWithShape="1">
              <a:gsLst>
                <a:gs pos="0">
                  <a:schemeClr val="accent5">
                    <a:lumMod val="40000"/>
                    <a:lumOff val="60000"/>
                  </a:schemeClr>
                </a:gs>
                <a:gs pos="50000">
                  <a:schemeClr val="accent1">
                    <a:tint val="44500"/>
                    <a:satMod val="160000"/>
                  </a:schemeClr>
                </a:gs>
                <a:gs pos="100000">
                  <a:schemeClr val="bg1"/>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多层流处理</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（接入带宽的约束、优先级）</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 </a:t>
              </a:r>
              <a:r>
                <a:rPr lang="zh-CN" altLang="en-US" sz="1600" dirty="0">
                  <a:latin typeface="微软雅黑" panose="020B0503020204020204" pitchFamily="34" charset="-122"/>
                  <a:ea typeface="微软雅黑" panose="020B0503020204020204" pitchFamily="34" charset="-122"/>
                </a:rPr>
                <a:t>流处理属性表</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p:txBody>
        </p:sp>
        <p:cxnSp>
          <p:nvCxnSpPr>
            <p:cNvPr id="22" name="直接连接符 21">
              <a:extLst>
                <a:ext uri="{FF2B5EF4-FFF2-40B4-BE49-F238E27FC236}">
                  <a16:creationId xmlns:a16="http://schemas.microsoft.com/office/drawing/2014/main" id="{4CA08FA5-095F-4F5A-97F3-CA1329EE0BA3}"/>
                </a:ext>
              </a:extLst>
            </p:cNvPr>
            <p:cNvCxnSpPr/>
            <p:nvPr/>
          </p:nvCxnSpPr>
          <p:spPr>
            <a:xfrm>
              <a:off x="3308555" y="4122859"/>
              <a:ext cx="1209367" cy="0"/>
            </a:xfrm>
            <a:prstGeom prst="line">
              <a:avLst/>
            </a:prstGeom>
          </p:spPr>
          <p:style>
            <a:lnRef idx="3">
              <a:schemeClr val="accent3"/>
            </a:lnRef>
            <a:fillRef idx="0">
              <a:schemeClr val="accent3"/>
            </a:fillRef>
            <a:effectRef idx="2">
              <a:schemeClr val="accent3"/>
            </a:effectRef>
            <a:fontRef idx="minor">
              <a:schemeClr val="tx1"/>
            </a:fontRef>
          </p:style>
        </p:cxnSp>
      </p:grpSp>
      <p:sp>
        <p:nvSpPr>
          <p:cNvPr id="23" name="箭头: 右 22">
            <a:extLst>
              <a:ext uri="{FF2B5EF4-FFF2-40B4-BE49-F238E27FC236}">
                <a16:creationId xmlns:a16="http://schemas.microsoft.com/office/drawing/2014/main" id="{69AB027F-B045-4AC5-8D9D-F12405E40B54}"/>
              </a:ext>
            </a:extLst>
          </p:cNvPr>
          <p:cNvSpPr/>
          <p:nvPr/>
        </p:nvSpPr>
        <p:spPr>
          <a:xfrm>
            <a:off x="4363738" y="3923059"/>
            <a:ext cx="596945" cy="338902"/>
          </a:xfrm>
          <a:prstGeom prst="rightArrow">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4" name="箭头: 右 23">
            <a:extLst>
              <a:ext uri="{FF2B5EF4-FFF2-40B4-BE49-F238E27FC236}">
                <a16:creationId xmlns:a16="http://schemas.microsoft.com/office/drawing/2014/main" id="{F2268620-8511-4EFA-BE83-4AF7F7018E58}"/>
              </a:ext>
            </a:extLst>
          </p:cNvPr>
          <p:cNvSpPr/>
          <p:nvPr/>
        </p:nvSpPr>
        <p:spPr>
          <a:xfrm>
            <a:off x="6266961" y="3954532"/>
            <a:ext cx="596945" cy="338902"/>
          </a:xfrm>
          <a:prstGeom prst="rightArrow">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5" name="箭头: 左 24">
            <a:extLst>
              <a:ext uri="{FF2B5EF4-FFF2-40B4-BE49-F238E27FC236}">
                <a16:creationId xmlns:a16="http://schemas.microsoft.com/office/drawing/2014/main" id="{042BA911-411D-4977-90D3-412ACF901C3B}"/>
              </a:ext>
            </a:extLst>
          </p:cNvPr>
          <p:cNvSpPr/>
          <p:nvPr/>
        </p:nvSpPr>
        <p:spPr>
          <a:xfrm>
            <a:off x="2436094" y="1774332"/>
            <a:ext cx="8763000" cy="859550"/>
          </a:xfrm>
          <a:prstGeom prst="lef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7" name="文本框 26">
            <a:extLst>
              <a:ext uri="{FF2B5EF4-FFF2-40B4-BE49-F238E27FC236}">
                <a16:creationId xmlns:a16="http://schemas.microsoft.com/office/drawing/2014/main" id="{BBAAA826-90CA-4A98-89A8-22B40CD67054}"/>
              </a:ext>
            </a:extLst>
          </p:cNvPr>
          <p:cNvSpPr txBox="1"/>
          <p:nvPr/>
        </p:nvSpPr>
        <p:spPr>
          <a:xfrm>
            <a:off x="11248746" y="1865223"/>
            <a:ext cx="641865" cy="3046988"/>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交</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换</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网</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络</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zh-CN" altLang="en-US" sz="1600" dirty="0">
              <a:latin typeface="微软雅黑" panose="020B0503020204020204" pitchFamily="34" charset="-122"/>
              <a:ea typeface="微软雅黑" panose="020B0503020204020204" pitchFamily="34" charset="-122"/>
            </a:endParaRPr>
          </a:p>
        </p:txBody>
      </p:sp>
      <p:grpSp>
        <p:nvGrpSpPr>
          <p:cNvPr id="10" name="组合 9">
            <a:extLst>
              <a:ext uri="{FF2B5EF4-FFF2-40B4-BE49-F238E27FC236}">
                <a16:creationId xmlns:a16="http://schemas.microsoft.com/office/drawing/2014/main" id="{AEB0D2C3-58B0-43C8-806C-280F5BB296C3}"/>
              </a:ext>
            </a:extLst>
          </p:cNvPr>
          <p:cNvGrpSpPr/>
          <p:nvPr/>
        </p:nvGrpSpPr>
        <p:grpSpPr>
          <a:xfrm>
            <a:off x="10314191" y="3296384"/>
            <a:ext cx="884903" cy="997050"/>
            <a:chOff x="10363199" y="3583242"/>
            <a:chExt cx="884903" cy="997050"/>
          </a:xfrm>
        </p:grpSpPr>
        <p:sp>
          <p:nvSpPr>
            <p:cNvPr id="28" name="箭头: 右 27">
              <a:extLst>
                <a:ext uri="{FF2B5EF4-FFF2-40B4-BE49-F238E27FC236}">
                  <a16:creationId xmlns:a16="http://schemas.microsoft.com/office/drawing/2014/main" id="{7C34CA02-88DE-4884-A7CB-C414389A5652}"/>
                </a:ext>
              </a:extLst>
            </p:cNvPr>
            <p:cNvSpPr/>
            <p:nvPr/>
          </p:nvSpPr>
          <p:spPr>
            <a:xfrm>
              <a:off x="10363199" y="3583242"/>
              <a:ext cx="884903" cy="997050"/>
            </a:xfrm>
            <a:prstGeom prst="rightArrow">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9" name="矩形 28">
              <a:extLst>
                <a:ext uri="{FF2B5EF4-FFF2-40B4-BE49-F238E27FC236}">
                  <a16:creationId xmlns:a16="http://schemas.microsoft.com/office/drawing/2014/main" id="{89ED6511-1D53-4629-ACE6-1E4C4489E3B5}"/>
                </a:ext>
              </a:extLst>
            </p:cNvPr>
            <p:cNvSpPr/>
            <p:nvPr/>
          </p:nvSpPr>
          <p:spPr>
            <a:xfrm>
              <a:off x="10387887" y="3872058"/>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包转发</a:t>
              </a:r>
              <a:endParaRPr lang="en-US" altLang="zh-CN" sz="1600" dirty="0">
                <a:latin typeface="微软雅黑" panose="020B0503020204020204" pitchFamily="34" charset="-122"/>
                <a:ea typeface="微软雅黑" panose="020B0503020204020204" pitchFamily="34" charset="-122"/>
              </a:endParaRPr>
            </a:p>
          </p:txBody>
        </p:sp>
      </p:grpSp>
      <p:grpSp>
        <p:nvGrpSpPr>
          <p:cNvPr id="31" name="组合 30">
            <a:extLst>
              <a:ext uri="{FF2B5EF4-FFF2-40B4-BE49-F238E27FC236}">
                <a16:creationId xmlns:a16="http://schemas.microsoft.com/office/drawing/2014/main" id="{6A934C66-959E-4B1F-A9C0-38D23EB1BECF}"/>
              </a:ext>
            </a:extLst>
          </p:cNvPr>
          <p:cNvGrpSpPr/>
          <p:nvPr/>
        </p:nvGrpSpPr>
        <p:grpSpPr>
          <a:xfrm rot="5400000">
            <a:off x="3860680" y="4770470"/>
            <a:ext cx="1466589" cy="596944"/>
            <a:chOff x="10325593" y="3371148"/>
            <a:chExt cx="884903" cy="997050"/>
          </a:xfrm>
        </p:grpSpPr>
        <p:sp>
          <p:nvSpPr>
            <p:cNvPr id="32" name="箭头: 右 31">
              <a:extLst>
                <a:ext uri="{FF2B5EF4-FFF2-40B4-BE49-F238E27FC236}">
                  <a16:creationId xmlns:a16="http://schemas.microsoft.com/office/drawing/2014/main" id="{BFC3C846-0DDA-459F-97E0-E1EC9D3EE011}"/>
                </a:ext>
              </a:extLst>
            </p:cNvPr>
            <p:cNvSpPr/>
            <p:nvPr/>
          </p:nvSpPr>
          <p:spPr>
            <a:xfrm>
              <a:off x="10325593" y="3371148"/>
              <a:ext cx="884903" cy="997050"/>
            </a:xfrm>
            <a:prstGeom prst="righ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33" name="矩形 32">
              <a:extLst>
                <a:ext uri="{FF2B5EF4-FFF2-40B4-BE49-F238E27FC236}">
                  <a16:creationId xmlns:a16="http://schemas.microsoft.com/office/drawing/2014/main" id="{25522CE8-FCB4-491E-AB66-EBA7F758BA46}"/>
                </a:ext>
              </a:extLst>
            </p:cNvPr>
            <p:cNvSpPr/>
            <p:nvPr/>
          </p:nvSpPr>
          <p:spPr>
            <a:xfrm rot="16200000">
              <a:off x="10440355" y="3696284"/>
              <a:ext cx="455506" cy="352839"/>
            </a:xfrm>
            <a:prstGeom prst="rect">
              <a:avLst/>
            </a:prstGeom>
          </p:spPr>
          <p:txBody>
            <a:bodyPr wrap="square">
              <a:spAutoFit/>
            </a:bodyPr>
            <a:lstStyle/>
            <a:p>
              <a:pPr algn="ctr"/>
              <a:r>
                <a:rPr lang="zh-CN" altLang="en-US" sz="1600" dirty="0">
                  <a:latin typeface="微软雅黑" panose="020B0503020204020204" pitchFamily="34" charset="-122"/>
                  <a:ea typeface="微软雅黑" panose="020B0503020204020204" pitchFamily="34" charset="-122"/>
                </a:rPr>
                <a:t>广</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播</a:t>
              </a:r>
              <a:endParaRPr lang="en-US" altLang="zh-CN" sz="1600" dirty="0">
                <a:latin typeface="微软雅黑" panose="020B0503020204020204" pitchFamily="34" charset="-122"/>
                <a:ea typeface="微软雅黑" panose="020B0503020204020204" pitchFamily="34" charset="-122"/>
              </a:endParaRPr>
            </a:p>
          </p:txBody>
        </p:sp>
      </p:grpSp>
      <p:sp>
        <p:nvSpPr>
          <p:cNvPr id="37" name="矩形 36">
            <a:extLst>
              <a:ext uri="{FF2B5EF4-FFF2-40B4-BE49-F238E27FC236}">
                <a16:creationId xmlns:a16="http://schemas.microsoft.com/office/drawing/2014/main" id="{32714518-DEF6-4192-B52E-92D6C73A8264}"/>
              </a:ext>
            </a:extLst>
          </p:cNvPr>
          <p:cNvSpPr/>
          <p:nvPr/>
        </p:nvSpPr>
        <p:spPr>
          <a:xfrm>
            <a:off x="6288447" y="2019441"/>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包转发</a:t>
            </a:r>
            <a:endParaRPr lang="en-US" altLang="zh-CN" sz="1600" dirty="0">
              <a:latin typeface="微软雅黑" panose="020B0503020204020204" pitchFamily="34" charset="-122"/>
              <a:ea typeface="微软雅黑" panose="020B0503020204020204" pitchFamily="34" charset="-122"/>
            </a:endParaRPr>
          </a:p>
        </p:txBody>
      </p:sp>
      <p:grpSp>
        <p:nvGrpSpPr>
          <p:cNvPr id="38" name="组合 37">
            <a:extLst>
              <a:ext uri="{FF2B5EF4-FFF2-40B4-BE49-F238E27FC236}">
                <a16:creationId xmlns:a16="http://schemas.microsoft.com/office/drawing/2014/main" id="{3917D5BB-1BD9-42C6-A5B2-2F3E1B088585}"/>
              </a:ext>
            </a:extLst>
          </p:cNvPr>
          <p:cNvGrpSpPr/>
          <p:nvPr/>
        </p:nvGrpSpPr>
        <p:grpSpPr>
          <a:xfrm rot="5400000">
            <a:off x="5767621" y="4774121"/>
            <a:ext cx="1466590" cy="596944"/>
            <a:chOff x="10325593" y="3371148"/>
            <a:chExt cx="884903" cy="997050"/>
          </a:xfrm>
        </p:grpSpPr>
        <p:sp>
          <p:nvSpPr>
            <p:cNvPr id="39" name="箭头: 右 38">
              <a:extLst>
                <a:ext uri="{FF2B5EF4-FFF2-40B4-BE49-F238E27FC236}">
                  <a16:creationId xmlns:a16="http://schemas.microsoft.com/office/drawing/2014/main" id="{3010AB76-F0B2-45DD-A0B9-3E710F7EDD1D}"/>
                </a:ext>
              </a:extLst>
            </p:cNvPr>
            <p:cNvSpPr/>
            <p:nvPr/>
          </p:nvSpPr>
          <p:spPr>
            <a:xfrm>
              <a:off x="10325593" y="3371148"/>
              <a:ext cx="884903" cy="997050"/>
            </a:xfrm>
            <a:prstGeom prst="righ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40" name="矩形 39">
              <a:extLst>
                <a:ext uri="{FF2B5EF4-FFF2-40B4-BE49-F238E27FC236}">
                  <a16:creationId xmlns:a16="http://schemas.microsoft.com/office/drawing/2014/main" id="{F88DC03B-767E-44AD-8728-DD65D560599E}"/>
                </a:ext>
              </a:extLst>
            </p:cNvPr>
            <p:cNvSpPr/>
            <p:nvPr/>
          </p:nvSpPr>
          <p:spPr>
            <a:xfrm rot="16200000">
              <a:off x="10514638" y="3622003"/>
              <a:ext cx="455506" cy="501402"/>
            </a:xfrm>
            <a:prstGeom prst="rect">
              <a:avLst/>
            </a:prstGeom>
          </p:spPr>
          <p:txBody>
            <a:bodyPr wrap="square">
              <a:spAutoFit/>
            </a:bodyPr>
            <a:lstStyle/>
            <a:p>
              <a:pPr algn="ctr"/>
              <a:r>
                <a:rPr lang="zh-CN" altLang="en-US" sz="1600" dirty="0">
                  <a:latin typeface="微软雅黑" panose="020B0503020204020204" pitchFamily="34" charset="-122"/>
                  <a:ea typeface="微软雅黑" panose="020B0503020204020204" pitchFamily="34" charset="-122"/>
                </a:rPr>
                <a:t>未知流</a:t>
              </a:r>
              <a:endParaRPr lang="en-US" altLang="zh-CN" sz="1600" dirty="0">
                <a:latin typeface="微软雅黑" panose="020B0503020204020204" pitchFamily="34" charset="-122"/>
                <a:ea typeface="微软雅黑" panose="020B0503020204020204" pitchFamily="34" charset="-122"/>
              </a:endParaRPr>
            </a:p>
          </p:txBody>
        </p:sp>
      </p:grpSp>
      <p:sp>
        <p:nvSpPr>
          <p:cNvPr id="41" name="文本框 40">
            <a:extLst>
              <a:ext uri="{FF2B5EF4-FFF2-40B4-BE49-F238E27FC236}">
                <a16:creationId xmlns:a16="http://schemas.microsoft.com/office/drawing/2014/main" id="{5FBC3BF5-95DB-4A2F-9A91-31177C58356F}"/>
              </a:ext>
            </a:extLst>
          </p:cNvPr>
          <p:cNvSpPr txBox="1"/>
          <p:nvPr/>
        </p:nvSpPr>
        <p:spPr>
          <a:xfrm>
            <a:off x="3082048" y="5824766"/>
            <a:ext cx="5629641" cy="338554"/>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solidFill>
              <a:schemeClr val="bg1">
                <a:lumMod val="65000"/>
              </a:schemeClr>
            </a:solidFill>
          </a:ln>
        </p:spPr>
        <p:txBody>
          <a:bodyPr wrap="square" rtlCol="0">
            <a:spAutoFit/>
          </a:bodyPr>
          <a:lstStyle/>
          <a:p>
            <a:pPr algn="ctr"/>
            <a:r>
              <a:rPr lang="zh-CN" altLang="en-US" sz="1600" dirty="0">
                <a:latin typeface="微软雅黑" panose="020B0503020204020204" pitchFamily="34" charset="-122"/>
                <a:ea typeface="微软雅黑" panose="020B0503020204020204" pitchFamily="34" charset="-122"/>
              </a:rPr>
              <a:t>交换策略管理模块</a:t>
            </a:r>
            <a:endParaRPr lang="en-US" altLang="zh-CN" sz="1600" dirty="0">
              <a:latin typeface="微软雅黑" panose="020B0503020204020204" pitchFamily="34" charset="-122"/>
              <a:ea typeface="微软雅黑" panose="020B0503020204020204" pitchFamily="34" charset="-122"/>
            </a:endParaRPr>
          </a:p>
        </p:txBody>
      </p:sp>
      <p:sp>
        <p:nvSpPr>
          <p:cNvPr id="11" name="矩形: 圆角 10">
            <a:extLst>
              <a:ext uri="{FF2B5EF4-FFF2-40B4-BE49-F238E27FC236}">
                <a16:creationId xmlns:a16="http://schemas.microsoft.com/office/drawing/2014/main" id="{7C8BE8B1-72A7-4890-BDD0-829C1A72ED5E}"/>
              </a:ext>
            </a:extLst>
          </p:cNvPr>
          <p:cNvSpPr/>
          <p:nvPr/>
        </p:nvSpPr>
        <p:spPr>
          <a:xfrm>
            <a:off x="4872350" y="2515336"/>
            <a:ext cx="5629641" cy="2403983"/>
          </a:xfrm>
          <a:prstGeom prst="roundRect">
            <a:avLst/>
          </a:prstGeom>
          <a:noFill/>
          <a:ln>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43" name="标题 1">
            <a:extLst>
              <a:ext uri="{FF2B5EF4-FFF2-40B4-BE49-F238E27FC236}">
                <a16:creationId xmlns:a16="http://schemas.microsoft.com/office/drawing/2014/main" id="{A7174E51-BC5C-4DEB-8F53-265464684D03}"/>
              </a:ext>
            </a:extLst>
          </p:cNvPr>
          <p:cNvSpPr>
            <a:spLocks noGrp="1"/>
          </p:cNvSpPr>
          <p:nvPr>
            <p:ph type="title"/>
          </p:nvPr>
        </p:nvSpPr>
        <p:spPr>
          <a:xfrm>
            <a:off x="1307508" y="365126"/>
            <a:ext cx="8220812" cy="879086"/>
          </a:xfrm>
        </p:spPr>
        <p:txBody>
          <a:bodyPr>
            <a:normAutofit/>
          </a:bodyPr>
          <a:lstStyle/>
          <a:p>
            <a:r>
              <a:rPr kumimoji="1" lang="zh-CN" altLang="en-US" dirty="0"/>
              <a:t>三层交换机的工作原理</a:t>
            </a:r>
          </a:p>
        </p:txBody>
      </p:sp>
      <p:sp>
        <p:nvSpPr>
          <p:cNvPr id="3" name="日期占位符 2">
            <a:extLst>
              <a:ext uri="{FF2B5EF4-FFF2-40B4-BE49-F238E27FC236}">
                <a16:creationId xmlns:a16="http://schemas.microsoft.com/office/drawing/2014/main" id="{B547E006-E7D9-4914-BFD3-B6DDAE1E5C30}"/>
              </a:ext>
            </a:extLst>
          </p:cNvPr>
          <p:cNvSpPr>
            <a:spLocks noGrp="1"/>
          </p:cNvSpPr>
          <p:nvPr>
            <p:ph type="dt" sz="half" idx="10"/>
          </p:nvPr>
        </p:nvSpPr>
        <p:spPr/>
        <p:txBody>
          <a:bodyPr/>
          <a:lstStyle/>
          <a:p>
            <a:r>
              <a:rPr kumimoji="1" lang="en-US" altLang="zh-CN" dirty="0"/>
              <a:t>5.10.1 </a:t>
            </a:r>
            <a:r>
              <a:rPr kumimoji="1" lang="zh-CN" altLang="en-US" dirty="0"/>
              <a:t>三层交换</a:t>
            </a:r>
          </a:p>
        </p:txBody>
      </p:sp>
      <p:sp>
        <p:nvSpPr>
          <p:cNvPr id="44" name="灯片编号占位符 3">
            <a:extLst>
              <a:ext uri="{FF2B5EF4-FFF2-40B4-BE49-F238E27FC236}">
                <a16:creationId xmlns:a16="http://schemas.microsoft.com/office/drawing/2014/main" id="{7EF55083-A962-774F-92BD-0C2EA2ECD43E}"/>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242</a:t>
            </a:fld>
            <a:endParaRPr kumimoji="1" lang="zh-CN" altLang="en-US" dirty="0"/>
          </a:p>
        </p:txBody>
      </p:sp>
    </p:spTree>
    <p:extLst>
      <p:ext uri="{BB962C8B-B14F-4D97-AF65-F5344CB8AC3E}">
        <p14:creationId xmlns:p14="http://schemas.microsoft.com/office/powerpoint/2010/main" val="401273386"/>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F2DE457-4386-4E4B-A11E-80CD022377D7}"/>
              </a:ext>
            </a:extLst>
          </p:cNvPr>
          <p:cNvSpPr>
            <a:spLocks noGrp="1"/>
          </p:cNvSpPr>
          <p:nvPr>
            <p:ph type="title"/>
          </p:nvPr>
        </p:nvSpPr>
        <p:spPr/>
        <p:txBody>
          <a:bodyPr>
            <a:normAutofit/>
          </a:bodyPr>
          <a:lstStyle/>
          <a:p>
            <a:r>
              <a:rPr kumimoji="1" lang="zh-CN" altLang="en-US" dirty="0"/>
              <a:t>三层交换机与路由器的比较</a:t>
            </a:r>
          </a:p>
        </p:txBody>
      </p:sp>
      <p:sp>
        <p:nvSpPr>
          <p:cNvPr id="4" name="灯片编号占位符 3">
            <a:extLst>
              <a:ext uri="{FF2B5EF4-FFF2-40B4-BE49-F238E27FC236}">
                <a16:creationId xmlns:a16="http://schemas.microsoft.com/office/drawing/2014/main" id="{A86003D0-E163-4072-AC37-B154F2659131}"/>
              </a:ext>
            </a:extLst>
          </p:cNvPr>
          <p:cNvSpPr>
            <a:spLocks noGrp="1"/>
          </p:cNvSpPr>
          <p:nvPr>
            <p:ph type="sldNum" sz="quarter" idx="12"/>
          </p:nvPr>
        </p:nvSpPr>
        <p:spPr/>
        <p:txBody>
          <a:bodyPr/>
          <a:lstStyle/>
          <a:p>
            <a:fld id="{8D4D1E41-7A09-AB4A-A4E1-09765ADA2698}" type="slidenum">
              <a:rPr kumimoji="1" lang="zh-CN" altLang="en-US" smtClean="0"/>
              <a:t>243</a:t>
            </a:fld>
            <a:endParaRPr kumimoji="1" lang="zh-CN" altLang="en-US" dirty="0"/>
          </a:p>
        </p:txBody>
      </p:sp>
      <p:sp>
        <p:nvSpPr>
          <p:cNvPr id="3" name="日期占位符 2">
            <a:extLst>
              <a:ext uri="{FF2B5EF4-FFF2-40B4-BE49-F238E27FC236}">
                <a16:creationId xmlns:a16="http://schemas.microsoft.com/office/drawing/2014/main" id="{8C313CB2-B832-47C0-86C9-743CA082B8E6}"/>
              </a:ext>
            </a:extLst>
          </p:cNvPr>
          <p:cNvSpPr>
            <a:spLocks noGrp="1"/>
          </p:cNvSpPr>
          <p:nvPr>
            <p:ph type="dt" sz="half" idx="10"/>
          </p:nvPr>
        </p:nvSpPr>
        <p:spPr/>
        <p:txBody>
          <a:bodyPr/>
          <a:lstStyle/>
          <a:p>
            <a:r>
              <a:rPr kumimoji="1" lang="en-US" altLang="zh-CN" dirty="0"/>
              <a:t>5.10.1 </a:t>
            </a:r>
            <a:r>
              <a:rPr kumimoji="1" lang="zh-CN" altLang="en-US" dirty="0"/>
              <a:t>三层交换</a:t>
            </a:r>
          </a:p>
        </p:txBody>
      </p:sp>
      <p:pic>
        <p:nvPicPr>
          <p:cNvPr id="5" name="图片 4">
            <a:extLst>
              <a:ext uri="{FF2B5EF4-FFF2-40B4-BE49-F238E27FC236}">
                <a16:creationId xmlns:a16="http://schemas.microsoft.com/office/drawing/2014/main" id="{C5AC55F7-C025-4A26-A602-FA96BFEEC576}"/>
              </a:ext>
            </a:extLst>
          </p:cNvPr>
          <p:cNvPicPr>
            <a:picLocks noChangeAspect="1"/>
          </p:cNvPicPr>
          <p:nvPr/>
        </p:nvPicPr>
        <p:blipFill>
          <a:blip r:embed="rId3"/>
          <a:stretch>
            <a:fillRect/>
          </a:stretch>
        </p:blipFill>
        <p:spPr>
          <a:xfrm>
            <a:off x="979055" y="1300051"/>
            <a:ext cx="10341670" cy="5357878"/>
          </a:xfrm>
          <a:prstGeom prst="rect">
            <a:avLst/>
          </a:prstGeom>
        </p:spPr>
      </p:pic>
    </p:spTree>
    <p:extLst>
      <p:ext uri="{BB962C8B-B14F-4D97-AF65-F5344CB8AC3E}">
        <p14:creationId xmlns:p14="http://schemas.microsoft.com/office/powerpoint/2010/main" val="3911607076"/>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F2DE457-4386-4E4B-A11E-80CD022377D7}"/>
              </a:ext>
            </a:extLst>
          </p:cNvPr>
          <p:cNvSpPr>
            <a:spLocks noGrp="1"/>
          </p:cNvSpPr>
          <p:nvPr>
            <p:ph type="title"/>
          </p:nvPr>
        </p:nvSpPr>
        <p:spPr/>
        <p:txBody>
          <a:bodyPr>
            <a:normAutofit/>
          </a:bodyPr>
          <a:lstStyle/>
          <a:p>
            <a:r>
              <a:rPr kumimoji="1" lang="zh-CN" altLang="en-US" dirty="0"/>
              <a:t>三层交换机与路由器的比较</a:t>
            </a:r>
            <a:endParaRPr lang="zh-CN" altLang="en-US" dirty="0"/>
          </a:p>
        </p:txBody>
      </p:sp>
      <p:sp>
        <p:nvSpPr>
          <p:cNvPr id="4" name="灯片编号占位符 3">
            <a:extLst>
              <a:ext uri="{FF2B5EF4-FFF2-40B4-BE49-F238E27FC236}">
                <a16:creationId xmlns:a16="http://schemas.microsoft.com/office/drawing/2014/main" id="{A86003D0-E163-4072-AC37-B154F2659131}"/>
              </a:ext>
            </a:extLst>
          </p:cNvPr>
          <p:cNvSpPr>
            <a:spLocks noGrp="1"/>
          </p:cNvSpPr>
          <p:nvPr>
            <p:ph type="sldNum" sz="quarter" idx="12"/>
          </p:nvPr>
        </p:nvSpPr>
        <p:spPr/>
        <p:txBody>
          <a:bodyPr/>
          <a:lstStyle/>
          <a:p>
            <a:fld id="{8D4D1E41-7A09-AB4A-A4E1-09765ADA2698}" type="slidenum">
              <a:rPr kumimoji="1" lang="zh-CN" altLang="en-US" smtClean="0"/>
              <a:t>244</a:t>
            </a:fld>
            <a:endParaRPr kumimoji="1" lang="zh-CN" altLang="en-US" dirty="0"/>
          </a:p>
        </p:txBody>
      </p:sp>
      <p:sp>
        <p:nvSpPr>
          <p:cNvPr id="8" name="文本框 7">
            <a:extLst>
              <a:ext uri="{FF2B5EF4-FFF2-40B4-BE49-F238E27FC236}">
                <a16:creationId xmlns:a16="http://schemas.microsoft.com/office/drawing/2014/main" id="{A9438E65-4D19-43AE-94E4-2648B3853B24}"/>
              </a:ext>
            </a:extLst>
          </p:cNvPr>
          <p:cNvSpPr txBox="1"/>
          <p:nvPr/>
        </p:nvSpPr>
        <p:spPr>
          <a:xfrm>
            <a:off x="1452447" y="5601396"/>
            <a:ext cx="4535758" cy="400110"/>
          </a:xfrm>
          <a:prstGeom prst="rect">
            <a:avLst/>
          </a:prstGeom>
          <a:noFill/>
        </p:spPr>
        <p:txBody>
          <a:bodyPr wrap="square">
            <a:spAutoFit/>
          </a:bodyPr>
          <a:lstStyle/>
          <a:p>
            <a:pPr algn="l"/>
            <a:r>
              <a:rPr lang="zh-CN" altLang="en-US" sz="2000" b="0" i="0" dirty="0">
                <a:solidFill>
                  <a:srgbClr val="333333"/>
                </a:solidFill>
                <a:effectLst/>
                <a:latin typeface="Microsoft YaHei" panose="020B0503020204020204" pitchFamily="34" charset="-122"/>
                <a:ea typeface="Microsoft YaHei" panose="020B0503020204020204" pitchFamily="34" charset="-122"/>
              </a:rPr>
              <a:t>华为</a:t>
            </a:r>
            <a:r>
              <a:rPr lang="en-US" altLang="zh-CN" sz="2000" b="0" i="0" dirty="0" err="1">
                <a:solidFill>
                  <a:srgbClr val="333333"/>
                </a:solidFill>
                <a:effectLst/>
                <a:latin typeface="Microsoft YaHei" panose="020B0503020204020204" pitchFamily="34" charset="-122"/>
                <a:ea typeface="Microsoft YaHei" panose="020B0503020204020204" pitchFamily="34" charset="-122"/>
              </a:rPr>
              <a:t>NetEngine</a:t>
            </a:r>
            <a:r>
              <a:rPr lang="en-US" altLang="zh-CN" sz="2000" b="0" i="0" dirty="0">
                <a:solidFill>
                  <a:srgbClr val="333333"/>
                </a:solidFill>
                <a:effectLst/>
                <a:latin typeface="Microsoft YaHei" panose="020B0503020204020204" pitchFamily="34" charset="-122"/>
                <a:ea typeface="Microsoft YaHei" panose="020B0503020204020204" pitchFamily="34" charset="-122"/>
              </a:rPr>
              <a:t> 8000</a:t>
            </a:r>
            <a:r>
              <a:rPr lang="zh-CN" altLang="en-US" sz="2000" b="0" i="0" dirty="0">
                <a:solidFill>
                  <a:srgbClr val="333333"/>
                </a:solidFill>
                <a:effectLst/>
                <a:latin typeface="Microsoft YaHei" panose="020B0503020204020204" pitchFamily="34" charset="-122"/>
                <a:ea typeface="Microsoft YaHei" panose="020B0503020204020204" pitchFamily="34" charset="-122"/>
              </a:rPr>
              <a:t>系列路由器</a:t>
            </a:r>
          </a:p>
        </p:txBody>
      </p:sp>
      <p:pic>
        <p:nvPicPr>
          <p:cNvPr id="12" name="图片 11">
            <a:extLst>
              <a:ext uri="{FF2B5EF4-FFF2-40B4-BE49-F238E27FC236}">
                <a16:creationId xmlns:a16="http://schemas.microsoft.com/office/drawing/2014/main" id="{0ECE84F6-B0D5-4253-BCD6-31EC2050BB40}"/>
              </a:ext>
            </a:extLst>
          </p:cNvPr>
          <p:cNvPicPr>
            <a:picLocks noChangeAspect="1"/>
          </p:cNvPicPr>
          <p:nvPr/>
        </p:nvPicPr>
        <p:blipFill>
          <a:blip r:embed="rId3"/>
          <a:stretch>
            <a:fillRect/>
          </a:stretch>
        </p:blipFill>
        <p:spPr>
          <a:xfrm>
            <a:off x="6557311" y="2965193"/>
            <a:ext cx="4524300" cy="2086767"/>
          </a:xfrm>
          <a:prstGeom prst="rect">
            <a:avLst/>
          </a:prstGeom>
        </p:spPr>
      </p:pic>
      <p:sp>
        <p:nvSpPr>
          <p:cNvPr id="14" name="文本框 13">
            <a:extLst>
              <a:ext uri="{FF2B5EF4-FFF2-40B4-BE49-F238E27FC236}">
                <a16:creationId xmlns:a16="http://schemas.microsoft.com/office/drawing/2014/main" id="{EFC6A4F2-4DCD-4237-A8BE-CC71B048A448}"/>
              </a:ext>
            </a:extLst>
          </p:cNvPr>
          <p:cNvSpPr txBox="1"/>
          <p:nvPr/>
        </p:nvSpPr>
        <p:spPr>
          <a:xfrm>
            <a:off x="7103720" y="5601396"/>
            <a:ext cx="4437791" cy="400110"/>
          </a:xfrm>
          <a:prstGeom prst="rect">
            <a:avLst/>
          </a:prstGeom>
          <a:noFill/>
        </p:spPr>
        <p:txBody>
          <a:bodyPr wrap="square">
            <a:spAutoFit/>
          </a:bodyPr>
          <a:lstStyle/>
          <a:p>
            <a:pPr algn="l"/>
            <a:r>
              <a:rPr lang="zh-CN" altLang="en-US" sz="2000" b="0" i="0" dirty="0">
                <a:solidFill>
                  <a:srgbClr val="333333"/>
                </a:solidFill>
                <a:effectLst/>
                <a:latin typeface="Microsoft YaHei" panose="020B0503020204020204" pitchFamily="34" charset="-122"/>
                <a:ea typeface="Microsoft YaHei" panose="020B0503020204020204" pitchFamily="34" charset="-122"/>
              </a:rPr>
              <a:t>华为</a:t>
            </a:r>
            <a:r>
              <a:rPr lang="en-US" altLang="zh-CN" sz="2000" b="0" i="0" dirty="0">
                <a:solidFill>
                  <a:srgbClr val="333333"/>
                </a:solidFill>
                <a:effectLst/>
                <a:latin typeface="Microsoft YaHei" panose="020B0503020204020204" pitchFamily="34" charset="-122"/>
                <a:ea typeface="Microsoft YaHei" panose="020B0503020204020204" pitchFamily="34" charset="-122"/>
              </a:rPr>
              <a:t>7900</a:t>
            </a:r>
            <a:r>
              <a:rPr lang="zh-CN" altLang="en-US" sz="2000" b="0" i="0" dirty="0">
                <a:solidFill>
                  <a:srgbClr val="333333"/>
                </a:solidFill>
                <a:effectLst/>
                <a:latin typeface="Microsoft YaHei" panose="020B0503020204020204" pitchFamily="34" charset="-122"/>
                <a:ea typeface="Microsoft YaHei" panose="020B0503020204020204" pitchFamily="34" charset="-122"/>
              </a:rPr>
              <a:t>系列企业级三层交换机</a:t>
            </a:r>
          </a:p>
        </p:txBody>
      </p:sp>
      <p:sp>
        <p:nvSpPr>
          <p:cNvPr id="9" name="内容占位符 2">
            <a:extLst>
              <a:ext uri="{FF2B5EF4-FFF2-40B4-BE49-F238E27FC236}">
                <a16:creationId xmlns:a16="http://schemas.microsoft.com/office/drawing/2014/main" id="{4C6ACC78-C071-4454-850E-4FB25CC8F655}"/>
              </a:ext>
            </a:extLst>
          </p:cNvPr>
          <p:cNvSpPr>
            <a:spLocks noGrp="1"/>
          </p:cNvSpPr>
          <p:nvPr>
            <p:ph idx="1"/>
          </p:nvPr>
        </p:nvSpPr>
        <p:spPr>
          <a:xfrm>
            <a:off x="838199" y="1510758"/>
            <a:ext cx="11132128" cy="4586694"/>
          </a:xfrm>
        </p:spPr>
        <p:txBody>
          <a:bodyPr>
            <a:normAutofit/>
          </a:bodyPr>
          <a:lstStyle/>
          <a:p>
            <a:r>
              <a:rPr lang="zh-CN" altLang="en-US" sz="2400" dirty="0"/>
              <a:t>路由器更注重网络（异构）互连，支持丰富的链路端口类型</a:t>
            </a:r>
            <a:endParaRPr lang="en-US" altLang="zh-CN" sz="2400" dirty="0"/>
          </a:p>
          <a:p>
            <a:r>
              <a:rPr lang="zh-CN" altLang="en-US" sz="2400" dirty="0"/>
              <a:t>三层交换机更注重转发效率，提供较多的端口数量，单一的以太网端口类型</a:t>
            </a:r>
          </a:p>
        </p:txBody>
      </p:sp>
      <p:sp>
        <p:nvSpPr>
          <p:cNvPr id="16" name="AutoShape 2">
            <a:extLst>
              <a:ext uri="{FF2B5EF4-FFF2-40B4-BE49-F238E27FC236}">
                <a16:creationId xmlns:a16="http://schemas.microsoft.com/office/drawing/2014/main" id="{DBDB77CB-B043-44F9-978F-E75832F30042}"/>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pic>
        <p:nvPicPr>
          <p:cNvPr id="17" name="图片 16">
            <a:extLst>
              <a:ext uri="{FF2B5EF4-FFF2-40B4-BE49-F238E27FC236}">
                <a16:creationId xmlns:a16="http://schemas.microsoft.com/office/drawing/2014/main" id="{F61B9BA1-F2EF-4940-B750-96A6B9DEB98A}"/>
              </a:ext>
            </a:extLst>
          </p:cNvPr>
          <p:cNvPicPr>
            <a:picLocks noChangeAspect="1"/>
          </p:cNvPicPr>
          <p:nvPr/>
        </p:nvPicPr>
        <p:blipFill>
          <a:blip r:embed="rId4"/>
          <a:stretch>
            <a:fillRect/>
          </a:stretch>
        </p:blipFill>
        <p:spPr>
          <a:xfrm>
            <a:off x="1720050" y="3003261"/>
            <a:ext cx="3714396" cy="2048699"/>
          </a:xfrm>
          <a:prstGeom prst="rect">
            <a:avLst/>
          </a:prstGeom>
        </p:spPr>
      </p:pic>
      <p:sp>
        <p:nvSpPr>
          <p:cNvPr id="3" name="日期占位符 2">
            <a:extLst>
              <a:ext uri="{FF2B5EF4-FFF2-40B4-BE49-F238E27FC236}">
                <a16:creationId xmlns:a16="http://schemas.microsoft.com/office/drawing/2014/main" id="{25327192-6C39-4BE4-84C9-84D3E833821C}"/>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3105585985"/>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F2DE457-4386-4E4B-A11E-80CD022377D7}"/>
              </a:ext>
            </a:extLst>
          </p:cNvPr>
          <p:cNvSpPr>
            <a:spLocks noGrp="1"/>
          </p:cNvSpPr>
          <p:nvPr>
            <p:ph type="title"/>
          </p:nvPr>
        </p:nvSpPr>
        <p:spPr/>
        <p:txBody>
          <a:bodyPr>
            <a:normAutofit/>
          </a:bodyPr>
          <a:lstStyle/>
          <a:p>
            <a:r>
              <a:rPr kumimoji="1" lang="zh-CN" altLang="en-US" dirty="0"/>
              <a:t>三层交换机与路由器的比较</a:t>
            </a:r>
            <a:endParaRPr lang="zh-CN" altLang="en-US" dirty="0"/>
          </a:p>
        </p:txBody>
      </p:sp>
      <p:sp>
        <p:nvSpPr>
          <p:cNvPr id="4" name="灯片编号占位符 3">
            <a:extLst>
              <a:ext uri="{FF2B5EF4-FFF2-40B4-BE49-F238E27FC236}">
                <a16:creationId xmlns:a16="http://schemas.microsoft.com/office/drawing/2014/main" id="{A86003D0-E163-4072-AC37-B154F2659131}"/>
              </a:ext>
            </a:extLst>
          </p:cNvPr>
          <p:cNvSpPr>
            <a:spLocks noGrp="1"/>
          </p:cNvSpPr>
          <p:nvPr>
            <p:ph type="sldNum" sz="quarter" idx="12"/>
          </p:nvPr>
        </p:nvSpPr>
        <p:spPr/>
        <p:txBody>
          <a:bodyPr/>
          <a:lstStyle/>
          <a:p>
            <a:fld id="{8D4D1E41-7A09-AB4A-A4E1-09765ADA2698}" type="slidenum">
              <a:rPr kumimoji="1" lang="zh-CN" altLang="en-US" smtClean="0"/>
              <a:t>245</a:t>
            </a:fld>
            <a:endParaRPr kumimoji="1" lang="zh-CN" altLang="en-US" dirty="0"/>
          </a:p>
        </p:txBody>
      </p:sp>
      <p:grpSp>
        <p:nvGrpSpPr>
          <p:cNvPr id="6" name="组合 5">
            <a:extLst>
              <a:ext uri="{FF2B5EF4-FFF2-40B4-BE49-F238E27FC236}">
                <a16:creationId xmlns:a16="http://schemas.microsoft.com/office/drawing/2014/main" id="{131F9193-6CED-41F8-8839-FE3E74C56B8F}"/>
              </a:ext>
            </a:extLst>
          </p:cNvPr>
          <p:cNvGrpSpPr/>
          <p:nvPr/>
        </p:nvGrpSpPr>
        <p:grpSpPr>
          <a:xfrm>
            <a:off x="525858" y="2777215"/>
            <a:ext cx="5765096" cy="2850479"/>
            <a:chOff x="344488" y="1151979"/>
            <a:chExt cx="9709152" cy="5049514"/>
          </a:xfrm>
        </p:grpSpPr>
        <p:sp>
          <p:nvSpPr>
            <p:cNvPr id="7" name="页脚占位符 4">
              <a:extLst>
                <a:ext uri="{FF2B5EF4-FFF2-40B4-BE49-F238E27FC236}">
                  <a16:creationId xmlns:a16="http://schemas.microsoft.com/office/drawing/2014/main" id="{7B502233-25D7-4AA7-809E-70CC63D63002}"/>
                </a:ext>
              </a:extLst>
            </p:cNvPr>
            <p:cNvSpPr txBox="1">
              <a:spLocks/>
            </p:cNvSpPr>
            <p:nvPr/>
          </p:nvSpPr>
          <p:spPr>
            <a:xfrm>
              <a:off x="3729038" y="5744293"/>
              <a:ext cx="3136900" cy="457200"/>
            </a:xfrm>
            <a:prstGeom prst="rect">
              <a:avLst/>
            </a:prstGeom>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00">
                  <a:solidFill>
                    <a:srgbClr val="0000CC"/>
                  </a:solidFill>
                  <a:latin typeface="微软雅黑" panose="020B0503020204020204" pitchFamily="34" charset="-122"/>
                  <a:ea typeface="微软雅黑" panose="020B0503020204020204" pitchFamily="34" charset="-122"/>
                </a:rPr>
                <a:t>课件制作人：谢希仁</a:t>
              </a:r>
            </a:p>
          </p:txBody>
        </p:sp>
        <p:sp>
          <p:nvSpPr>
            <p:cNvPr id="8" name="Rectangle 60">
              <a:extLst>
                <a:ext uri="{FF2B5EF4-FFF2-40B4-BE49-F238E27FC236}">
                  <a16:creationId xmlns:a16="http://schemas.microsoft.com/office/drawing/2014/main" id="{B0962EB0-9C5B-4B4B-8ECD-DCA3CBC51CED}"/>
                </a:ext>
              </a:extLst>
            </p:cNvPr>
            <p:cNvSpPr>
              <a:spLocks noChangeArrowheads="1"/>
            </p:cNvSpPr>
            <p:nvPr/>
          </p:nvSpPr>
          <p:spPr bwMode="auto">
            <a:xfrm>
              <a:off x="344488" y="3140967"/>
              <a:ext cx="8712968" cy="302433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9" name="Rectangle 3">
              <a:extLst>
                <a:ext uri="{FF2B5EF4-FFF2-40B4-BE49-F238E27FC236}">
                  <a16:creationId xmlns:a16="http://schemas.microsoft.com/office/drawing/2014/main" id="{BEB05A90-3449-4D3B-97D4-994D825B8D19}"/>
                </a:ext>
              </a:extLst>
            </p:cNvPr>
            <p:cNvSpPr>
              <a:spLocks noChangeArrowheads="1"/>
            </p:cNvSpPr>
            <p:nvPr/>
          </p:nvSpPr>
          <p:spPr bwMode="auto">
            <a:xfrm>
              <a:off x="3445273" y="1212304"/>
              <a:ext cx="2598605" cy="1597025"/>
            </a:xfrm>
            <a:prstGeom prst="rect">
              <a:avLst/>
            </a:prstGeom>
            <a:solidFill>
              <a:srgbClr val="99FFCC"/>
            </a:solidFill>
            <a:ln w="12700">
              <a:solidFill>
                <a:schemeClr val="tx1"/>
              </a:solidFill>
              <a:miter lim="800000"/>
              <a:headEnd/>
              <a:tailEnd/>
            </a:ln>
            <a:effectLst/>
          </p:spPr>
          <p:txBody>
            <a:bodyPr wrap="none" anchor="ctr"/>
            <a:lstStyle/>
            <a:p>
              <a:pPr algn="ctr"/>
              <a:endParaRPr kumimoji="1" lang="zh-CN" altLang="zh-CN" sz="1400">
                <a:solidFill>
                  <a:srgbClr val="0000CC"/>
                </a:solidFill>
                <a:latin typeface="微软雅黑" panose="020B0503020204020204" pitchFamily="34" charset="-122"/>
                <a:ea typeface="微软雅黑" panose="020B0503020204020204" pitchFamily="34" charset="-122"/>
              </a:endParaRPr>
            </a:p>
          </p:txBody>
        </p:sp>
        <p:sp>
          <p:nvSpPr>
            <p:cNvPr id="10" name="Line 5">
              <a:extLst>
                <a:ext uri="{FF2B5EF4-FFF2-40B4-BE49-F238E27FC236}">
                  <a16:creationId xmlns:a16="http://schemas.microsoft.com/office/drawing/2014/main" id="{09719451-77DF-4652-895A-CA7C21823C8D}"/>
                </a:ext>
              </a:extLst>
            </p:cNvPr>
            <p:cNvSpPr>
              <a:spLocks noChangeShapeType="1"/>
            </p:cNvSpPr>
            <p:nvPr/>
          </p:nvSpPr>
          <p:spPr bwMode="auto">
            <a:xfrm>
              <a:off x="9515389" y="1151979"/>
              <a:ext cx="0" cy="195421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1" name="Text Box 6">
              <a:extLst>
                <a:ext uri="{FF2B5EF4-FFF2-40B4-BE49-F238E27FC236}">
                  <a16:creationId xmlns:a16="http://schemas.microsoft.com/office/drawing/2014/main" id="{DA7241A1-DB2C-44E0-9E0D-93C796BA95AA}"/>
                </a:ext>
              </a:extLst>
            </p:cNvPr>
            <p:cNvSpPr txBox="1">
              <a:spLocks noChangeArrowheads="1"/>
            </p:cNvSpPr>
            <p:nvPr/>
          </p:nvSpPr>
          <p:spPr bwMode="auto">
            <a:xfrm>
              <a:off x="9137915" y="1879054"/>
              <a:ext cx="915725" cy="85053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dirty="0">
                  <a:solidFill>
                    <a:srgbClr val="0000CC"/>
                  </a:solidFill>
                  <a:latin typeface="微软雅黑" pitchFamily="34" charset="-122"/>
                  <a:ea typeface="微软雅黑" pitchFamily="34" charset="-122"/>
                </a:rPr>
                <a:t>路由</a:t>
              </a:r>
            </a:p>
            <a:p>
              <a:pPr>
                <a:lnSpc>
                  <a:spcPct val="90000"/>
                </a:lnSpc>
              </a:pPr>
              <a:r>
                <a:rPr kumimoji="1" lang="zh-CN" altLang="en-US" sz="1400" dirty="0">
                  <a:solidFill>
                    <a:srgbClr val="0000CC"/>
                  </a:solidFill>
                  <a:latin typeface="微软雅黑" pitchFamily="34" charset="-122"/>
                  <a:ea typeface="微软雅黑" pitchFamily="34" charset="-122"/>
                </a:rPr>
                <a:t>选择</a:t>
              </a:r>
            </a:p>
          </p:txBody>
        </p:sp>
        <p:sp>
          <p:nvSpPr>
            <p:cNvPr id="12" name="Text Box 7">
              <a:extLst>
                <a:ext uri="{FF2B5EF4-FFF2-40B4-BE49-F238E27FC236}">
                  <a16:creationId xmlns:a16="http://schemas.microsoft.com/office/drawing/2014/main" id="{8A192137-5FD1-406B-A258-40CA9B201E75}"/>
                </a:ext>
              </a:extLst>
            </p:cNvPr>
            <p:cNvSpPr txBox="1">
              <a:spLocks noChangeArrowheads="1"/>
            </p:cNvSpPr>
            <p:nvPr/>
          </p:nvSpPr>
          <p:spPr bwMode="auto">
            <a:xfrm>
              <a:off x="3503746" y="1161504"/>
              <a:ext cx="2427534"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a:latin typeface="微软雅黑" panose="020B0503020204020204" pitchFamily="34" charset="-122"/>
                  <a:ea typeface="微软雅黑" panose="020B0503020204020204" pitchFamily="34" charset="-122"/>
                </a:rPr>
                <a:t>路由选择处理机</a:t>
              </a:r>
            </a:p>
          </p:txBody>
        </p:sp>
        <p:sp>
          <p:nvSpPr>
            <p:cNvPr id="13" name="Line 8">
              <a:extLst>
                <a:ext uri="{FF2B5EF4-FFF2-40B4-BE49-F238E27FC236}">
                  <a16:creationId xmlns:a16="http://schemas.microsoft.com/office/drawing/2014/main" id="{F7B1224E-44C8-4B37-A95D-688B87C3625B}"/>
                </a:ext>
              </a:extLst>
            </p:cNvPr>
            <p:cNvSpPr>
              <a:spLocks noChangeShapeType="1"/>
            </p:cNvSpPr>
            <p:nvPr/>
          </p:nvSpPr>
          <p:spPr bwMode="auto">
            <a:xfrm>
              <a:off x="4743715" y="1979067"/>
              <a:ext cx="0" cy="2365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4" name="Rectangle 9">
              <a:extLst>
                <a:ext uri="{FF2B5EF4-FFF2-40B4-BE49-F238E27FC236}">
                  <a16:creationId xmlns:a16="http://schemas.microsoft.com/office/drawing/2014/main" id="{E7388957-90FF-42C2-8108-0EF8718707E5}"/>
                </a:ext>
              </a:extLst>
            </p:cNvPr>
            <p:cNvSpPr>
              <a:spLocks noChangeArrowheads="1"/>
            </p:cNvSpPr>
            <p:nvPr/>
          </p:nvSpPr>
          <p:spPr bwMode="auto">
            <a:xfrm>
              <a:off x="3821907" y="1685379"/>
              <a:ext cx="1843617" cy="390525"/>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dirty="0">
                  <a:solidFill>
                    <a:schemeClr val="bg1"/>
                  </a:solidFill>
                  <a:latin typeface="微软雅黑" panose="020B0503020204020204" pitchFamily="34" charset="-122"/>
                  <a:ea typeface="微软雅黑" panose="020B0503020204020204" pitchFamily="34" charset="-122"/>
                </a:rPr>
                <a:t>路由选择协议</a:t>
              </a:r>
            </a:p>
          </p:txBody>
        </p:sp>
        <p:sp>
          <p:nvSpPr>
            <p:cNvPr id="15" name="Rectangle 10">
              <a:extLst>
                <a:ext uri="{FF2B5EF4-FFF2-40B4-BE49-F238E27FC236}">
                  <a16:creationId xmlns:a16="http://schemas.microsoft.com/office/drawing/2014/main" id="{033740B8-54A7-434C-B3C5-741648CBB57F}"/>
                </a:ext>
              </a:extLst>
            </p:cNvPr>
            <p:cNvSpPr>
              <a:spLocks noChangeArrowheads="1"/>
            </p:cNvSpPr>
            <p:nvPr/>
          </p:nvSpPr>
          <p:spPr bwMode="auto">
            <a:xfrm>
              <a:off x="4115992" y="2218778"/>
              <a:ext cx="1257167" cy="412750"/>
            </a:xfrm>
            <a:prstGeom prst="rect">
              <a:avLst/>
            </a:prstGeom>
            <a:solidFill>
              <a:srgbClr val="FFFF00"/>
            </a:solidFill>
            <a:ln w="19050">
              <a:solidFill>
                <a:schemeClr val="tx1"/>
              </a:solidFill>
              <a:miter lim="800000"/>
              <a:headEnd/>
              <a:tailEnd/>
            </a:ln>
            <a:effectLst/>
          </p:spPr>
          <p:txBody>
            <a:bodyPr wrap="none" anchor="ctr"/>
            <a:lstStyle/>
            <a:p>
              <a:pPr algn="ctr"/>
              <a:r>
                <a:rPr kumimoji="1" lang="zh-CN" altLang="en-US" sz="1400" dirty="0">
                  <a:solidFill>
                    <a:srgbClr val="0000CC"/>
                  </a:solidFill>
                  <a:latin typeface="微软雅黑" panose="020B0503020204020204" pitchFamily="34" charset="-122"/>
                  <a:ea typeface="微软雅黑" panose="020B0503020204020204" pitchFamily="34" charset="-122"/>
                </a:rPr>
                <a:t>路由表</a:t>
              </a:r>
            </a:p>
          </p:txBody>
        </p:sp>
        <p:sp>
          <p:nvSpPr>
            <p:cNvPr id="16" name="Rectangle 11">
              <a:extLst>
                <a:ext uri="{FF2B5EF4-FFF2-40B4-BE49-F238E27FC236}">
                  <a16:creationId xmlns:a16="http://schemas.microsoft.com/office/drawing/2014/main" id="{8B868049-3AC5-4B94-9F7A-D521766C8F2E}"/>
                </a:ext>
              </a:extLst>
            </p:cNvPr>
            <p:cNvSpPr>
              <a:spLocks noChangeArrowheads="1"/>
            </p:cNvSpPr>
            <p:nvPr/>
          </p:nvSpPr>
          <p:spPr bwMode="auto">
            <a:xfrm>
              <a:off x="762399" y="3529906"/>
              <a:ext cx="2514335" cy="725487"/>
            </a:xfrm>
            <a:prstGeom prst="rect">
              <a:avLst/>
            </a:prstGeom>
            <a:solidFill>
              <a:srgbClr val="66FFFF"/>
            </a:solidFill>
            <a:ln w="12700" cmpd="dbl">
              <a:solidFill>
                <a:schemeClr val="tx1"/>
              </a:solidFill>
              <a:prstDash val="dash"/>
              <a:miter lim="800000"/>
              <a:headEnd/>
              <a:tailEnd/>
            </a:ln>
            <a:effec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7" name="Rectangle 12">
              <a:extLst>
                <a:ext uri="{FF2B5EF4-FFF2-40B4-BE49-F238E27FC236}">
                  <a16:creationId xmlns:a16="http://schemas.microsoft.com/office/drawing/2014/main" id="{649EDEC3-D419-4A1B-AD85-223BB10A56E8}"/>
                </a:ext>
              </a:extLst>
            </p:cNvPr>
            <p:cNvSpPr>
              <a:spLocks noChangeArrowheads="1"/>
            </p:cNvSpPr>
            <p:nvPr/>
          </p:nvSpPr>
          <p:spPr bwMode="auto">
            <a:xfrm>
              <a:off x="2553517" y="3693417"/>
              <a:ext cx="505619" cy="39528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dirty="0">
                  <a:latin typeface="微软雅黑" panose="020B0503020204020204" pitchFamily="34" charset="-122"/>
                  <a:ea typeface="微软雅黑" panose="020B0503020204020204" pitchFamily="34" charset="-122"/>
                </a:rPr>
                <a:t>3</a:t>
              </a:r>
            </a:p>
          </p:txBody>
        </p:sp>
        <p:sp>
          <p:nvSpPr>
            <p:cNvPr id="18" name="Line 13">
              <a:extLst>
                <a:ext uri="{FF2B5EF4-FFF2-40B4-BE49-F238E27FC236}">
                  <a16:creationId xmlns:a16="http://schemas.microsoft.com/office/drawing/2014/main" id="{71322D9D-1168-4DBC-9644-BBC221716791}"/>
                </a:ext>
              </a:extLst>
            </p:cNvPr>
            <p:cNvSpPr>
              <a:spLocks noChangeShapeType="1"/>
            </p:cNvSpPr>
            <p:nvPr/>
          </p:nvSpPr>
          <p:spPr bwMode="auto">
            <a:xfrm flipV="1">
              <a:off x="597298" y="3891855"/>
              <a:ext cx="38523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9" name="Line 14">
              <a:extLst>
                <a:ext uri="{FF2B5EF4-FFF2-40B4-BE49-F238E27FC236}">
                  <a16:creationId xmlns:a16="http://schemas.microsoft.com/office/drawing/2014/main" id="{5CD9403D-9667-4380-954A-2F3F6F284F06}"/>
                </a:ext>
              </a:extLst>
            </p:cNvPr>
            <p:cNvSpPr>
              <a:spLocks noChangeShapeType="1"/>
            </p:cNvSpPr>
            <p:nvPr/>
          </p:nvSpPr>
          <p:spPr bwMode="auto">
            <a:xfrm>
              <a:off x="1433117" y="3891855"/>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0" name="Line 15">
              <a:extLst>
                <a:ext uri="{FF2B5EF4-FFF2-40B4-BE49-F238E27FC236}">
                  <a16:creationId xmlns:a16="http://schemas.microsoft.com/office/drawing/2014/main" id="{A60C230A-00AF-41FB-9048-0366989C1AD4}"/>
                </a:ext>
              </a:extLst>
            </p:cNvPr>
            <p:cNvSpPr>
              <a:spLocks noChangeShapeType="1"/>
            </p:cNvSpPr>
            <p:nvPr/>
          </p:nvSpPr>
          <p:spPr bwMode="auto">
            <a:xfrm>
              <a:off x="2272375" y="3891855"/>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1" name="Line 16">
              <a:extLst>
                <a:ext uri="{FF2B5EF4-FFF2-40B4-BE49-F238E27FC236}">
                  <a16:creationId xmlns:a16="http://schemas.microsoft.com/office/drawing/2014/main" id="{D0B97023-5244-49B6-9E14-443280B8FB0A}"/>
                </a:ext>
              </a:extLst>
            </p:cNvPr>
            <p:cNvSpPr>
              <a:spLocks noChangeShapeType="1"/>
            </p:cNvSpPr>
            <p:nvPr/>
          </p:nvSpPr>
          <p:spPr bwMode="auto">
            <a:xfrm>
              <a:off x="3111634" y="3891855"/>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2" name="Text Box 17">
              <a:extLst>
                <a:ext uri="{FF2B5EF4-FFF2-40B4-BE49-F238E27FC236}">
                  <a16:creationId xmlns:a16="http://schemas.microsoft.com/office/drawing/2014/main" id="{CE902021-1D37-4F12-9BE1-728643D4C994}"/>
                </a:ext>
              </a:extLst>
            </p:cNvPr>
            <p:cNvSpPr txBox="1">
              <a:spLocks noChangeArrowheads="1"/>
            </p:cNvSpPr>
            <p:nvPr/>
          </p:nvSpPr>
          <p:spPr bwMode="auto">
            <a:xfrm>
              <a:off x="1363115" y="3067338"/>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输入端口</a:t>
              </a:r>
            </a:p>
          </p:txBody>
        </p:sp>
        <p:sp>
          <p:nvSpPr>
            <p:cNvPr id="23" name="Rectangle 18">
              <a:extLst>
                <a:ext uri="{FF2B5EF4-FFF2-40B4-BE49-F238E27FC236}">
                  <a16:creationId xmlns:a16="http://schemas.microsoft.com/office/drawing/2014/main" id="{BE896478-5E3D-4901-BFA7-549EF977F369}"/>
                </a:ext>
              </a:extLst>
            </p:cNvPr>
            <p:cNvSpPr>
              <a:spLocks noChangeArrowheads="1"/>
            </p:cNvSpPr>
            <p:nvPr/>
          </p:nvSpPr>
          <p:spPr bwMode="auto">
            <a:xfrm>
              <a:off x="762399" y="5103117"/>
              <a:ext cx="2514335" cy="725488"/>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4" name="Rectangle 19">
              <a:extLst>
                <a:ext uri="{FF2B5EF4-FFF2-40B4-BE49-F238E27FC236}">
                  <a16:creationId xmlns:a16="http://schemas.microsoft.com/office/drawing/2014/main" id="{1F8DEC71-B1E6-4272-8DE3-1FB1CB3FC387}"/>
                </a:ext>
              </a:extLst>
            </p:cNvPr>
            <p:cNvSpPr>
              <a:spLocks noChangeArrowheads="1"/>
            </p:cNvSpPr>
            <p:nvPr/>
          </p:nvSpPr>
          <p:spPr bwMode="auto">
            <a:xfrm>
              <a:off x="2553517" y="5266631"/>
              <a:ext cx="505619" cy="3968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3</a:t>
              </a:r>
            </a:p>
          </p:txBody>
        </p:sp>
        <p:sp>
          <p:nvSpPr>
            <p:cNvPr id="25" name="Line 20">
              <a:extLst>
                <a:ext uri="{FF2B5EF4-FFF2-40B4-BE49-F238E27FC236}">
                  <a16:creationId xmlns:a16="http://schemas.microsoft.com/office/drawing/2014/main" id="{8D61FA34-2FB6-4C79-95C1-B7DCEE7DD445}"/>
                </a:ext>
              </a:extLst>
            </p:cNvPr>
            <p:cNvSpPr>
              <a:spLocks noChangeShapeType="1"/>
            </p:cNvSpPr>
            <p:nvPr/>
          </p:nvSpPr>
          <p:spPr bwMode="auto">
            <a:xfrm flipV="1">
              <a:off x="597298" y="5465067"/>
              <a:ext cx="38523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6" name="Line 21">
              <a:extLst>
                <a:ext uri="{FF2B5EF4-FFF2-40B4-BE49-F238E27FC236}">
                  <a16:creationId xmlns:a16="http://schemas.microsoft.com/office/drawing/2014/main" id="{DEE54710-C066-4DE8-B708-6EB535AF7EBD}"/>
                </a:ext>
              </a:extLst>
            </p:cNvPr>
            <p:cNvSpPr>
              <a:spLocks noChangeShapeType="1"/>
            </p:cNvSpPr>
            <p:nvPr/>
          </p:nvSpPr>
          <p:spPr bwMode="auto">
            <a:xfrm>
              <a:off x="1433117" y="5465067"/>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7" name="Line 22">
              <a:extLst>
                <a:ext uri="{FF2B5EF4-FFF2-40B4-BE49-F238E27FC236}">
                  <a16:creationId xmlns:a16="http://schemas.microsoft.com/office/drawing/2014/main" id="{79F9A358-3F39-4A29-A7F0-CFA45F524F98}"/>
                </a:ext>
              </a:extLst>
            </p:cNvPr>
            <p:cNvSpPr>
              <a:spLocks noChangeShapeType="1"/>
            </p:cNvSpPr>
            <p:nvPr/>
          </p:nvSpPr>
          <p:spPr bwMode="auto">
            <a:xfrm>
              <a:off x="2272375" y="5465067"/>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8" name="Line 23">
              <a:extLst>
                <a:ext uri="{FF2B5EF4-FFF2-40B4-BE49-F238E27FC236}">
                  <a16:creationId xmlns:a16="http://schemas.microsoft.com/office/drawing/2014/main" id="{06577237-C2ED-4884-B02E-2DFDCDE6ABE0}"/>
                </a:ext>
              </a:extLst>
            </p:cNvPr>
            <p:cNvSpPr>
              <a:spLocks noChangeShapeType="1"/>
            </p:cNvSpPr>
            <p:nvPr/>
          </p:nvSpPr>
          <p:spPr bwMode="auto">
            <a:xfrm>
              <a:off x="3111634" y="5465067"/>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9" name="Rectangle 24">
              <a:extLst>
                <a:ext uri="{FF2B5EF4-FFF2-40B4-BE49-F238E27FC236}">
                  <a16:creationId xmlns:a16="http://schemas.microsoft.com/office/drawing/2014/main" id="{5156B814-E548-4F9F-8635-8760298FE517}"/>
                </a:ext>
              </a:extLst>
            </p:cNvPr>
            <p:cNvSpPr>
              <a:spLocks noChangeArrowheads="1"/>
            </p:cNvSpPr>
            <p:nvPr/>
          </p:nvSpPr>
          <p:spPr bwMode="auto">
            <a:xfrm>
              <a:off x="3445273" y="3529905"/>
              <a:ext cx="2598605" cy="2311400"/>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0" name="Rectangle 25">
              <a:extLst>
                <a:ext uri="{FF2B5EF4-FFF2-40B4-BE49-F238E27FC236}">
                  <a16:creationId xmlns:a16="http://schemas.microsoft.com/office/drawing/2014/main" id="{7290B9FE-3CE0-4ABB-AFB0-8B45D1EE025C}"/>
                </a:ext>
              </a:extLst>
            </p:cNvPr>
            <p:cNvSpPr>
              <a:spLocks noChangeArrowheads="1"/>
            </p:cNvSpPr>
            <p:nvPr/>
          </p:nvSpPr>
          <p:spPr bwMode="auto">
            <a:xfrm flipH="1">
              <a:off x="6212417" y="3529906"/>
              <a:ext cx="2510896" cy="725487"/>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1" name="Line 26">
              <a:extLst>
                <a:ext uri="{FF2B5EF4-FFF2-40B4-BE49-F238E27FC236}">
                  <a16:creationId xmlns:a16="http://schemas.microsoft.com/office/drawing/2014/main" id="{EEDB86AD-75C3-4345-AA08-273C6E199B59}"/>
                </a:ext>
              </a:extLst>
            </p:cNvPr>
            <p:cNvSpPr>
              <a:spLocks noChangeShapeType="1"/>
            </p:cNvSpPr>
            <p:nvPr/>
          </p:nvSpPr>
          <p:spPr bwMode="auto">
            <a:xfrm flipV="1">
              <a:off x="8546175" y="3891855"/>
              <a:ext cx="34567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2" name="Line 27">
              <a:extLst>
                <a:ext uri="{FF2B5EF4-FFF2-40B4-BE49-F238E27FC236}">
                  <a16:creationId xmlns:a16="http://schemas.microsoft.com/office/drawing/2014/main" id="{CD4BA89B-A26E-4845-919E-C3C74B075AEC}"/>
                </a:ext>
              </a:extLst>
            </p:cNvPr>
            <p:cNvSpPr>
              <a:spLocks noChangeShapeType="1"/>
            </p:cNvSpPr>
            <p:nvPr/>
          </p:nvSpPr>
          <p:spPr bwMode="auto">
            <a:xfrm rot="10800000" flipH="1">
              <a:off x="7718955" y="3891855"/>
              <a:ext cx="3353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3" name="Line 28">
              <a:extLst>
                <a:ext uri="{FF2B5EF4-FFF2-40B4-BE49-F238E27FC236}">
                  <a16:creationId xmlns:a16="http://schemas.microsoft.com/office/drawing/2014/main" id="{F4768560-3304-4312-939D-D6D58B037F05}"/>
                </a:ext>
              </a:extLst>
            </p:cNvPr>
            <p:cNvSpPr>
              <a:spLocks noChangeShapeType="1"/>
            </p:cNvSpPr>
            <p:nvPr/>
          </p:nvSpPr>
          <p:spPr bwMode="auto">
            <a:xfrm>
              <a:off x="6879696" y="3891855"/>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4" name="Line 29">
              <a:extLst>
                <a:ext uri="{FF2B5EF4-FFF2-40B4-BE49-F238E27FC236}">
                  <a16:creationId xmlns:a16="http://schemas.microsoft.com/office/drawing/2014/main" id="{063593DB-0F8E-4220-9ACC-EF4800667B47}"/>
                </a:ext>
              </a:extLst>
            </p:cNvPr>
            <p:cNvSpPr>
              <a:spLocks noChangeShapeType="1"/>
            </p:cNvSpPr>
            <p:nvPr/>
          </p:nvSpPr>
          <p:spPr bwMode="auto">
            <a:xfrm>
              <a:off x="6043878" y="3891855"/>
              <a:ext cx="40071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5" name="Rectangle 30">
              <a:extLst>
                <a:ext uri="{FF2B5EF4-FFF2-40B4-BE49-F238E27FC236}">
                  <a16:creationId xmlns:a16="http://schemas.microsoft.com/office/drawing/2014/main" id="{F27550A4-2EE7-4177-A85A-7E563E099669}"/>
                </a:ext>
              </a:extLst>
            </p:cNvPr>
            <p:cNvSpPr>
              <a:spLocks noChangeArrowheads="1"/>
            </p:cNvSpPr>
            <p:nvPr/>
          </p:nvSpPr>
          <p:spPr bwMode="auto">
            <a:xfrm flipH="1">
              <a:off x="6212417" y="5103117"/>
              <a:ext cx="2510896" cy="725488"/>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6" name="Line 31">
              <a:extLst>
                <a:ext uri="{FF2B5EF4-FFF2-40B4-BE49-F238E27FC236}">
                  <a16:creationId xmlns:a16="http://schemas.microsoft.com/office/drawing/2014/main" id="{5282FEE7-F31E-44AF-A43A-701C991C1805}"/>
                </a:ext>
              </a:extLst>
            </p:cNvPr>
            <p:cNvSpPr>
              <a:spLocks noChangeShapeType="1"/>
            </p:cNvSpPr>
            <p:nvPr/>
          </p:nvSpPr>
          <p:spPr bwMode="auto">
            <a:xfrm flipV="1">
              <a:off x="8546175" y="5465067"/>
              <a:ext cx="34567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7" name="Line 32">
              <a:extLst>
                <a:ext uri="{FF2B5EF4-FFF2-40B4-BE49-F238E27FC236}">
                  <a16:creationId xmlns:a16="http://schemas.microsoft.com/office/drawing/2014/main" id="{DD70CDA9-24E0-4DE3-A871-6F01ABC7B62A}"/>
                </a:ext>
              </a:extLst>
            </p:cNvPr>
            <p:cNvSpPr>
              <a:spLocks noChangeShapeType="1"/>
            </p:cNvSpPr>
            <p:nvPr/>
          </p:nvSpPr>
          <p:spPr bwMode="auto">
            <a:xfrm>
              <a:off x="7718955" y="5465067"/>
              <a:ext cx="3353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8" name="Line 33">
              <a:extLst>
                <a:ext uri="{FF2B5EF4-FFF2-40B4-BE49-F238E27FC236}">
                  <a16:creationId xmlns:a16="http://schemas.microsoft.com/office/drawing/2014/main" id="{B34CF9CA-9E2B-4B8C-BBB4-521AABA5DA67}"/>
                </a:ext>
              </a:extLst>
            </p:cNvPr>
            <p:cNvSpPr>
              <a:spLocks noChangeShapeType="1"/>
            </p:cNvSpPr>
            <p:nvPr/>
          </p:nvSpPr>
          <p:spPr bwMode="auto">
            <a:xfrm>
              <a:off x="6879696" y="5465067"/>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9" name="Line 34">
              <a:extLst>
                <a:ext uri="{FF2B5EF4-FFF2-40B4-BE49-F238E27FC236}">
                  <a16:creationId xmlns:a16="http://schemas.microsoft.com/office/drawing/2014/main" id="{6F7E9E06-7CA5-44F5-B510-AB1AA4294235}"/>
                </a:ext>
              </a:extLst>
            </p:cNvPr>
            <p:cNvSpPr>
              <a:spLocks noChangeShapeType="1"/>
            </p:cNvSpPr>
            <p:nvPr/>
          </p:nvSpPr>
          <p:spPr bwMode="auto">
            <a:xfrm flipV="1">
              <a:off x="6043877" y="5465067"/>
              <a:ext cx="38695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0" name="Text Box 35">
              <a:extLst>
                <a:ext uri="{FF2B5EF4-FFF2-40B4-BE49-F238E27FC236}">
                  <a16:creationId xmlns:a16="http://schemas.microsoft.com/office/drawing/2014/main" id="{30F94619-6707-4BA8-B208-64A37617C349}"/>
                </a:ext>
              </a:extLst>
            </p:cNvPr>
            <p:cNvSpPr txBox="1">
              <a:spLocks noChangeArrowheads="1"/>
            </p:cNvSpPr>
            <p:nvPr/>
          </p:nvSpPr>
          <p:spPr bwMode="auto">
            <a:xfrm>
              <a:off x="4048373" y="5248817"/>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anose="020B0503020204020204" pitchFamily="34" charset="-122"/>
                  <a:ea typeface="微软雅黑" panose="020B0503020204020204" pitchFamily="34" charset="-122"/>
                </a:rPr>
                <a:t>交换结构</a:t>
              </a:r>
            </a:p>
          </p:txBody>
        </p:sp>
        <p:sp>
          <p:nvSpPr>
            <p:cNvPr id="41" name="Text Box 36">
              <a:extLst>
                <a:ext uri="{FF2B5EF4-FFF2-40B4-BE49-F238E27FC236}">
                  <a16:creationId xmlns:a16="http://schemas.microsoft.com/office/drawing/2014/main" id="{69526601-4C54-4D16-9E01-9359D6ED32E2}"/>
                </a:ext>
              </a:extLst>
            </p:cNvPr>
            <p:cNvSpPr txBox="1">
              <a:spLocks noChangeArrowheads="1"/>
            </p:cNvSpPr>
            <p:nvPr/>
          </p:nvSpPr>
          <p:spPr bwMode="auto">
            <a:xfrm>
              <a:off x="1380615" y="4660206"/>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输入端口</a:t>
              </a:r>
            </a:p>
          </p:txBody>
        </p:sp>
        <p:sp>
          <p:nvSpPr>
            <p:cNvPr id="42" name="Text Box 37">
              <a:extLst>
                <a:ext uri="{FF2B5EF4-FFF2-40B4-BE49-F238E27FC236}">
                  <a16:creationId xmlns:a16="http://schemas.microsoft.com/office/drawing/2014/main" id="{F4CC0327-2F7B-4F4E-A6D7-AF6BCA463A14}"/>
                </a:ext>
              </a:extLst>
            </p:cNvPr>
            <p:cNvSpPr txBox="1">
              <a:spLocks noChangeArrowheads="1"/>
            </p:cNvSpPr>
            <p:nvPr/>
          </p:nvSpPr>
          <p:spPr bwMode="auto">
            <a:xfrm>
              <a:off x="6809699" y="3067338"/>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输出端口</a:t>
              </a:r>
            </a:p>
          </p:txBody>
        </p:sp>
        <p:sp>
          <p:nvSpPr>
            <p:cNvPr id="43" name="Line 38">
              <a:extLst>
                <a:ext uri="{FF2B5EF4-FFF2-40B4-BE49-F238E27FC236}">
                  <a16:creationId xmlns:a16="http://schemas.microsoft.com/office/drawing/2014/main" id="{6A825581-8D17-4C8C-BE80-E683EE6C24AC}"/>
                </a:ext>
              </a:extLst>
            </p:cNvPr>
            <p:cNvSpPr>
              <a:spLocks noChangeShapeType="1"/>
            </p:cNvSpPr>
            <p:nvPr/>
          </p:nvSpPr>
          <p:spPr bwMode="auto">
            <a:xfrm>
              <a:off x="344489" y="3118891"/>
              <a:ext cx="9553443"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4" name="Line 39">
              <a:extLst>
                <a:ext uri="{FF2B5EF4-FFF2-40B4-BE49-F238E27FC236}">
                  <a16:creationId xmlns:a16="http://schemas.microsoft.com/office/drawing/2014/main" id="{227FFA6C-72ED-4830-AD7D-7298F2FA343D}"/>
                </a:ext>
              </a:extLst>
            </p:cNvPr>
            <p:cNvSpPr>
              <a:spLocks noChangeShapeType="1"/>
            </p:cNvSpPr>
            <p:nvPr/>
          </p:nvSpPr>
          <p:spPr bwMode="auto">
            <a:xfrm>
              <a:off x="9515389" y="3118891"/>
              <a:ext cx="0" cy="264160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5" name="Text Box 40">
              <a:extLst>
                <a:ext uri="{FF2B5EF4-FFF2-40B4-BE49-F238E27FC236}">
                  <a16:creationId xmlns:a16="http://schemas.microsoft.com/office/drawing/2014/main" id="{16AC1361-08BA-4DFE-9447-6B39F2E202D1}"/>
                </a:ext>
              </a:extLst>
            </p:cNvPr>
            <p:cNvSpPr txBox="1">
              <a:spLocks noChangeArrowheads="1"/>
            </p:cNvSpPr>
            <p:nvPr/>
          </p:nvSpPr>
          <p:spPr bwMode="auto">
            <a:xfrm>
              <a:off x="9134314" y="4326977"/>
              <a:ext cx="915725" cy="85053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a:solidFill>
                    <a:srgbClr val="0000CC"/>
                  </a:solidFill>
                  <a:latin typeface="微软雅黑" pitchFamily="34" charset="-122"/>
                  <a:ea typeface="微软雅黑" pitchFamily="34" charset="-122"/>
                </a:rPr>
                <a:t>分组</a:t>
              </a:r>
            </a:p>
            <a:p>
              <a:pPr>
                <a:lnSpc>
                  <a:spcPct val="90000"/>
                </a:lnSpc>
              </a:pPr>
              <a:r>
                <a:rPr kumimoji="1" lang="zh-CN" altLang="en-US" sz="1400">
                  <a:solidFill>
                    <a:srgbClr val="0000CC"/>
                  </a:solidFill>
                  <a:latin typeface="微软雅黑" pitchFamily="34" charset="-122"/>
                  <a:ea typeface="微软雅黑" pitchFamily="34" charset="-122"/>
                </a:rPr>
                <a:t>转发</a:t>
              </a:r>
            </a:p>
          </p:txBody>
        </p:sp>
        <p:sp>
          <p:nvSpPr>
            <p:cNvPr id="46" name="Rectangle 41">
              <a:extLst>
                <a:ext uri="{FF2B5EF4-FFF2-40B4-BE49-F238E27FC236}">
                  <a16:creationId xmlns:a16="http://schemas.microsoft.com/office/drawing/2014/main" id="{611E287C-20B6-4A03-BD97-92CF9B843F3B}"/>
                </a:ext>
              </a:extLst>
            </p:cNvPr>
            <p:cNvSpPr>
              <a:spLocks noChangeArrowheads="1"/>
            </p:cNvSpPr>
            <p:nvPr/>
          </p:nvSpPr>
          <p:spPr bwMode="auto">
            <a:xfrm>
              <a:off x="3778913" y="3728342"/>
              <a:ext cx="1927886" cy="1385888"/>
            </a:xfrm>
            <a:prstGeom prst="rect">
              <a:avLst/>
            </a:prstGeom>
            <a:solidFill>
              <a:srgbClr val="FF99FF"/>
            </a:solidFill>
            <a:ln w="9525">
              <a:solidFill>
                <a:schemeClr val="tx1"/>
              </a:solidFill>
              <a:miter lim="800000"/>
              <a:headEnd/>
              <a:tailEnd/>
            </a:ln>
            <a:effec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7" name="Rectangle 42">
              <a:extLst>
                <a:ext uri="{FF2B5EF4-FFF2-40B4-BE49-F238E27FC236}">
                  <a16:creationId xmlns:a16="http://schemas.microsoft.com/office/drawing/2014/main" id="{C5DB7D82-1ED4-46C9-B38E-3803F33E8A8F}"/>
                </a:ext>
              </a:extLst>
            </p:cNvPr>
            <p:cNvSpPr>
              <a:spLocks noChangeArrowheads="1"/>
            </p:cNvSpPr>
            <p:nvPr/>
          </p:nvSpPr>
          <p:spPr bwMode="auto">
            <a:xfrm>
              <a:off x="4115992" y="4453831"/>
              <a:ext cx="1257168" cy="465138"/>
            </a:xfrm>
            <a:prstGeom prst="rect">
              <a:avLst/>
            </a:prstGeom>
            <a:solidFill>
              <a:srgbClr val="00B050"/>
            </a:solidFill>
            <a:ln w="19050">
              <a:solidFill>
                <a:schemeClr val="tx1"/>
              </a:solidFill>
              <a:miter lim="800000"/>
              <a:headEnd/>
              <a:tailEnd/>
            </a:ln>
            <a:effectLst/>
          </p:spPr>
          <p:txBody>
            <a:bodyPr wrap="none" anchor="ctr"/>
            <a:lstStyle/>
            <a:p>
              <a:pPr algn="ctr"/>
              <a:r>
                <a:rPr kumimoji="1" lang="zh-CN" altLang="en-US" sz="1400" dirty="0">
                  <a:solidFill>
                    <a:schemeClr val="bg1"/>
                  </a:solidFill>
                  <a:latin typeface="微软雅黑" panose="020B0503020204020204" pitchFamily="34" charset="-122"/>
                  <a:ea typeface="微软雅黑" panose="020B0503020204020204" pitchFamily="34" charset="-122"/>
                </a:rPr>
                <a:t>转发表</a:t>
              </a:r>
            </a:p>
          </p:txBody>
        </p:sp>
        <p:sp>
          <p:nvSpPr>
            <p:cNvPr id="48" name="Text Box 43">
              <a:extLst>
                <a:ext uri="{FF2B5EF4-FFF2-40B4-BE49-F238E27FC236}">
                  <a16:creationId xmlns:a16="http://schemas.microsoft.com/office/drawing/2014/main" id="{FFBBEAD7-1DB3-4565-ADB2-7347BFB8835E}"/>
                </a:ext>
              </a:extLst>
            </p:cNvPr>
            <p:cNvSpPr txBox="1">
              <a:spLocks noChangeArrowheads="1"/>
            </p:cNvSpPr>
            <p:nvPr/>
          </p:nvSpPr>
          <p:spPr bwMode="auto">
            <a:xfrm>
              <a:off x="4115990" y="3825182"/>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anose="020B0503020204020204" pitchFamily="34" charset="-122"/>
                  <a:ea typeface="微软雅黑" panose="020B0503020204020204" pitchFamily="34" charset="-122"/>
                </a:rPr>
                <a:t>分组处理</a:t>
              </a:r>
            </a:p>
          </p:txBody>
        </p:sp>
        <p:sp>
          <p:nvSpPr>
            <p:cNvPr id="49" name="Text Box 44">
              <a:extLst>
                <a:ext uri="{FF2B5EF4-FFF2-40B4-BE49-F238E27FC236}">
                  <a16:creationId xmlns:a16="http://schemas.microsoft.com/office/drawing/2014/main" id="{DAA38A47-85F3-466D-B865-B1E2E83B47AD}"/>
                </a:ext>
              </a:extLst>
            </p:cNvPr>
            <p:cNvSpPr txBox="1">
              <a:spLocks noChangeArrowheads="1"/>
            </p:cNvSpPr>
            <p:nvPr/>
          </p:nvSpPr>
          <p:spPr bwMode="auto">
            <a:xfrm>
              <a:off x="6827199" y="4660206"/>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输出端口</a:t>
              </a:r>
            </a:p>
          </p:txBody>
        </p:sp>
        <p:sp>
          <p:nvSpPr>
            <p:cNvPr id="50" name="Text Box 45">
              <a:extLst>
                <a:ext uri="{FF2B5EF4-FFF2-40B4-BE49-F238E27FC236}">
                  <a16:creationId xmlns:a16="http://schemas.microsoft.com/office/drawing/2014/main" id="{75AE3479-FD92-48AD-977D-1B30337E7596}"/>
                </a:ext>
              </a:extLst>
            </p:cNvPr>
            <p:cNvSpPr txBox="1">
              <a:spLocks noChangeArrowheads="1"/>
            </p:cNvSpPr>
            <p:nvPr/>
          </p:nvSpPr>
          <p:spPr bwMode="auto">
            <a:xfrm rot="5400000">
              <a:off x="1914255" y="4285944"/>
              <a:ext cx="585539" cy="518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solidFill>
                    <a:srgbClr val="0000CC"/>
                  </a:solidFill>
                  <a:latin typeface="微软雅黑" panose="020B0503020204020204" pitchFamily="34" charset="-122"/>
                  <a:ea typeface="微软雅黑" panose="020B0503020204020204" pitchFamily="34" charset="-122"/>
                </a:rPr>
                <a:t>…</a:t>
              </a:r>
            </a:p>
          </p:txBody>
        </p:sp>
        <p:sp>
          <p:nvSpPr>
            <p:cNvPr id="51" name="Text Box 46">
              <a:extLst>
                <a:ext uri="{FF2B5EF4-FFF2-40B4-BE49-F238E27FC236}">
                  <a16:creationId xmlns:a16="http://schemas.microsoft.com/office/drawing/2014/main" id="{76DFF110-5330-4C45-8F17-95202BB07EA6}"/>
                </a:ext>
              </a:extLst>
            </p:cNvPr>
            <p:cNvSpPr txBox="1">
              <a:spLocks noChangeArrowheads="1"/>
            </p:cNvSpPr>
            <p:nvPr/>
          </p:nvSpPr>
          <p:spPr bwMode="auto">
            <a:xfrm rot="5400000">
              <a:off x="7335038" y="4285944"/>
              <a:ext cx="585539" cy="518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solidFill>
                    <a:srgbClr val="0000CC"/>
                  </a:solidFill>
                  <a:latin typeface="微软雅黑" panose="020B0503020204020204" pitchFamily="34" charset="-122"/>
                  <a:ea typeface="微软雅黑" panose="020B0503020204020204" pitchFamily="34" charset="-122"/>
                </a:rPr>
                <a:t>…</a:t>
              </a:r>
            </a:p>
          </p:txBody>
        </p:sp>
        <p:sp>
          <p:nvSpPr>
            <p:cNvPr id="52" name="Line 47">
              <a:extLst>
                <a:ext uri="{FF2B5EF4-FFF2-40B4-BE49-F238E27FC236}">
                  <a16:creationId xmlns:a16="http://schemas.microsoft.com/office/drawing/2014/main" id="{665DF9E1-897E-484E-9830-021842AD4049}"/>
                </a:ext>
              </a:extLst>
            </p:cNvPr>
            <p:cNvSpPr>
              <a:spLocks noChangeShapeType="1"/>
            </p:cNvSpPr>
            <p:nvPr/>
          </p:nvSpPr>
          <p:spPr bwMode="auto">
            <a:xfrm flipH="1" flipV="1">
              <a:off x="2943094" y="3991868"/>
              <a:ext cx="1172898" cy="595313"/>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53" name="Line 48">
              <a:extLst>
                <a:ext uri="{FF2B5EF4-FFF2-40B4-BE49-F238E27FC236}">
                  <a16:creationId xmlns:a16="http://schemas.microsoft.com/office/drawing/2014/main" id="{58A90884-F1D8-483E-977D-A76A802C01F3}"/>
                </a:ext>
              </a:extLst>
            </p:cNvPr>
            <p:cNvSpPr>
              <a:spLocks noChangeShapeType="1"/>
            </p:cNvSpPr>
            <p:nvPr/>
          </p:nvSpPr>
          <p:spPr bwMode="auto">
            <a:xfrm flipH="1">
              <a:off x="2943094" y="4784030"/>
              <a:ext cx="1172898" cy="595312"/>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54" name="Rectangle 49">
              <a:extLst>
                <a:ext uri="{FF2B5EF4-FFF2-40B4-BE49-F238E27FC236}">
                  <a16:creationId xmlns:a16="http://schemas.microsoft.com/office/drawing/2014/main" id="{E8ECECD6-C2BD-47B8-BA0F-2F479199E4F6}"/>
                </a:ext>
              </a:extLst>
            </p:cNvPr>
            <p:cNvSpPr>
              <a:spLocks noChangeArrowheads="1"/>
            </p:cNvSpPr>
            <p:nvPr/>
          </p:nvSpPr>
          <p:spPr bwMode="auto">
            <a:xfrm>
              <a:off x="8031656" y="3761680"/>
              <a:ext cx="502180" cy="2825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1</a:t>
              </a:r>
            </a:p>
          </p:txBody>
        </p:sp>
        <p:sp>
          <p:nvSpPr>
            <p:cNvPr id="55" name="Rectangle 50">
              <a:extLst>
                <a:ext uri="{FF2B5EF4-FFF2-40B4-BE49-F238E27FC236}">
                  <a16:creationId xmlns:a16="http://schemas.microsoft.com/office/drawing/2014/main" id="{0D3A9199-A53C-416D-AA3F-00B9810BBD98}"/>
                </a:ext>
              </a:extLst>
            </p:cNvPr>
            <p:cNvSpPr>
              <a:spLocks noChangeArrowheads="1"/>
            </p:cNvSpPr>
            <p:nvPr/>
          </p:nvSpPr>
          <p:spPr bwMode="auto">
            <a:xfrm>
              <a:off x="8057453" y="5320605"/>
              <a:ext cx="502180" cy="285749"/>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1</a:t>
              </a:r>
            </a:p>
          </p:txBody>
        </p:sp>
        <p:sp>
          <p:nvSpPr>
            <p:cNvPr id="56" name="Rectangle 51">
              <a:extLst>
                <a:ext uri="{FF2B5EF4-FFF2-40B4-BE49-F238E27FC236}">
                  <a16:creationId xmlns:a16="http://schemas.microsoft.com/office/drawing/2014/main" id="{3F6CA429-809F-4167-B72C-F090F382A083}"/>
                </a:ext>
              </a:extLst>
            </p:cNvPr>
            <p:cNvSpPr>
              <a:spLocks noChangeArrowheads="1"/>
            </p:cNvSpPr>
            <p:nvPr/>
          </p:nvSpPr>
          <p:spPr bwMode="auto">
            <a:xfrm>
              <a:off x="957549" y="5320605"/>
              <a:ext cx="502180" cy="285749"/>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1</a:t>
              </a:r>
            </a:p>
          </p:txBody>
        </p:sp>
        <p:sp>
          <p:nvSpPr>
            <p:cNvPr id="57" name="Rectangle 52">
              <a:extLst>
                <a:ext uri="{FF2B5EF4-FFF2-40B4-BE49-F238E27FC236}">
                  <a16:creationId xmlns:a16="http://schemas.microsoft.com/office/drawing/2014/main" id="{80C49997-1FE2-42ED-AFBC-7AD5FFC04251}"/>
                </a:ext>
              </a:extLst>
            </p:cNvPr>
            <p:cNvSpPr>
              <a:spLocks noChangeArrowheads="1"/>
            </p:cNvSpPr>
            <p:nvPr/>
          </p:nvSpPr>
          <p:spPr bwMode="auto">
            <a:xfrm flipH="1">
              <a:off x="6411612" y="3693417"/>
              <a:ext cx="502180" cy="39528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dirty="0">
                  <a:latin typeface="微软雅黑" panose="020B0503020204020204" pitchFamily="34" charset="-122"/>
                  <a:ea typeface="微软雅黑" panose="020B0503020204020204" pitchFamily="34" charset="-122"/>
                </a:rPr>
                <a:t>3</a:t>
              </a:r>
            </a:p>
          </p:txBody>
        </p:sp>
        <p:sp>
          <p:nvSpPr>
            <p:cNvPr id="58" name="Rectangle 53">
              <a:extLst>
                <a:ext uri="{FF2B5EF4-FFF2-40B4-BE49-F238E27FC236}">
                  <a16:creationId xmlns:a16="http://schemas.microsoft.com/office/drawing/2014/main" id="{B819885E-2E20-4876-BAC4-3CE53E018C95}"/>
                </a:ext>
              </a:extLst>
            </p:cNvPr>
            <p:cNvSpPr>
              <a:spLocks noChangeArrowheads="1"/>
            </p:cNvSpPr>
            <p:nvPr/>
          </p:nvSpPr>
          <p:spPr bwMode="auto">
            <a:xfrm flipH="1">
              <a:off x="6411612" y="5266631"/>
              <a:ext cx="502180" cy="3968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3</a:t>
              </a:r>
            </a:p>
          </p:txBody>
        </p:sp>
        <p:sp>
          <p:nvSpPr>
            <p:cNvPr id="59" name="Rectangle 54">
              <a:extLst>
                <a:ext uri="{FF2B5EF4-FFF2-40B4-BE49-F238E27FC236}">
                  <a16:creationId xmlns:a16="http://schemas.microsoft.com/office/drawing/2014/main" id="{13DD2199-6976-4444-8DFB-6CFA9BAE2234}"/>
                </a:ext>
              </a:extLst>
            </p:cNvPr>
            <p:cNvSpPr>
              <a:spLocks noChangeArrowheads="1"/>
            </p:cNvSpPr>
            <p:nvPr/>
          </p:nvSpPr>
          <p:spPr bwMode="auto">
            <a:xfrm>
              <a:off x="957549" y="3761680"/>
              <a:ext cx="502180" cy="2825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dirty="0">
                  <a:latin typeface="微软雅黑" panose="020B0503020204020204" pitchFamily="34" charset="-122"/>
                  <a:ea typeface="微软雅黑" panose="020B0503020204020204" pitchFamily="34" charset="-122"/>
                </a:rPr>
                <a:t>1</a:t>
              </a:r>
            </a:p>
          </p:txBody>
        </p:sp>
        <p:sp>
          <p:nvSpPr>
            <p:cNvPr id="60" name="Rectangle 55">
              <a:extLst>
                <a:ext uri="{FF2B5EF4-FFF2-40B4-BE49-F238E27FC236}">
                  <a16:creationId xmlns:a16="http://schemas.microsoft.com/office/drawing/2014/main" id="{C3BDA895-0DC6-49E5-B4D5-6274DF62E227}"/>
                </a:ext>
              </a:extLst>
            </p:cNvPr>
            <p:cNvSpPr>
              <a:spLocks noChangeArrowheads="1"/>
            </p:cNvSpPr>
            <p:nvPr/>
          </p:nvSpPr>
          <p:spPr bwMode="auto">
            <a:xfrm>
              <a:off x="1755532" y="3728341"/>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1" name="Rectangle 56">
              <a:extLst>
                <a:ext uri="{FF2B5EF4-FFF2-40B4-BE49-F238E27FC236}">
                  <a16:creationId xmlns:a16="http://schemas.microsoft.com/office/drawing/2014/main" id="{9A943B1D-0381-4223-B4F7-D855515FA9DF}"/>
                </a:ext>
              </a:extLst>
            </p:cNvPr>
            <p:cNvSpPr>
              <a:spLocks noChangeArrowheads="1"/>
            </p:cNvSpPr>
            <p:nvPr/>
          </p:nvSpPr>
          <p:spPr bwMode="auto">
            <a:xfrm>
              <a:off x="1755532" y="5299968"/>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2" name="Rectangle 57">
              <a:extLst>
                <a:ext uri="{FF2B5EF4-FFF2-40B4-BE49-F238E27FC236}">
                  <a16:creationId xmlns:a16="http://schemas.microsoft.com/office/drawing/2014/main" id="{FEF68E79-A5D4-4AB1-A8E4-423D3D2A2344}"/>
                </a:ext>
              </a:extLst>
            </p:cNvPr>
            <p:cNvSpPr>
              <a:spLocks noChangeArrowheads="1"/>
            </p:cNvSpPr>
            <p:nvPr/>
          </p:nvSpPr>
          <p:spPr bwMode="auto">
            <a:xfrm flipH="1">
              <a:off x="7221633" y="3728341"/>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3" name="Rectangle 58">
              <a:extLst>
                <a:ext uri="{FF2B5EF4-FFF2-40B4-BE49-F238E27FC236}">
                  <a16:creationId xmlns:a16="http://schemas.microsoft.com/office/drawing/2014/main" id="{9D5CD9F2-32EF-4D3B-B456-7258BE1E6E43}"/>
                </a:ext>
              </a:extLst>
            </p:cNvPr>
            <p:cNvSpPr>
              <a:spLocks noChangeArrowheads="1"/>
            </p:cNvSpPr>
            <p:nvPr/>
          </p:nvSpPr>
          <p:spPr bwMode="auto">
            <a:xfrm flipH="1">
              <a:off x="7233671" y="5299968"/>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4" name="AutoShape 4">
              <a:extLst>
                <a:ext uri="{FF2B5EF4-FFF2-40B4-BE49-F238E27FC236}">
                  <a16:creationId xmlns:a16="http://schemas.microsoft.com/office/drawing/2014/main" id="{00AC781B-3B11-4C4E-B87D-247603AD0654}"/>
                </a:ext>
              </a:extLst>
            </p:cNvPr>
            <p:cNvSpPr>
              <a:spLocks noChangeArrowheads="1"/>
            </p:cNvSpPr>
            <p:nvPr/>
          </p:nvSpPr>
          <p:spPr bwMode="auto">
            <a:xfrm>
              <a:off x="4492626" y="2736304"/>
              <a:ext cx="502179" cy="792163"/>
            </a:xfrm>
            <a:prstGeom prst="upDownArrow">
              <a:avLst>
                <a:gd name="adj1" fmla="val 50000"/>
                <a:gd name="adj2" fmla="val 34178"/>
              </a:avLst>
            </a:prstGeom>
            <a:solidFill>
              <a:srgbClr val="CC00CC"/>
            </a:solidFill>
            <a:ln w="2857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grpSp>
      <p:grpSp>
        <p:nvGrpSpPr>
          <p:cNvPr id="100" name="组合 99">
            <a:extLst>
              <a:ext uri="{FF2B5EF4-FFF2-40B4-BE49-F238E27FC236}">
                <a16:creationId xmlns:a16="http://schemas.microsoft.com/office/drawing/2014/main" id="{18635D65-4F36-4E95-8030-854A1EDED14B}"/>
              </a:ext>
            </a:extLst>
          </p:cNvPr>
          <p:cNvGrpSpPr/>
          <p:nvPr/>
        </p:nvGrpSpPr>
        <p:grpSpPr>
          <a:xfrm>
            <a:off x="6847524" y="1782764"/>
            <a:ext cx="4904591" cy="3844700"/>
            <a:chOff x="6982607" y="2092478"/>
            <a:chExt cx="4904591" cy="3844700"/>
          </a:xfrm>
        </p:grpSpPr>
        <p:sp>
          <p:nvSpPr>
            <p:cNvPr id="3" name="文本框 2">
              <a:extLst>
                <a:ext uri="{FF2B5EF4-FFF2-40B4-BE49-F238E27FC236}">
                  <a16:creationId xmlns:a16="http://schemas.microsoft.com/office/drawing/2014/main" id="{A8101CC1-5E1D-4573-ABD7-278109A62778}"/>
                </a:ext>
              </a:extLst>
            </p:cNvPr>
            <p:cNvSpPr txBox="1"/>
            <p:nvPr/>
          </p:nvSpPr>
          <p:spPr>
            <a:xfrm>
              <a:off x="7519313" y="2092478"/>
              <a:ext cx="3864078" cy="738664"/>
            </a:xfrm>
            <a:prstGeom prst="rect">
              <a:avLst/>
            </a:prstGeom>
            <a:solidFill>
              <a:srgbClr val="8FFFD2"/>
            </a:solidFill>
            <a:ln>
              <a:solidFill>
                <a:schemeClr val="accent1"/>
              </a:solidFill>
            </a:ln>
          </p:spPr>
          <p:txBody>
            <a:bodyPr wrap="square" rtlCol="0">
              <a:spAutoFit/>
            </a:bodyPr>
            <a:lstStyle/>
            <a:p>
              <a:r>
                <a:rPr lang="zh-CN" altLang="en-US" sz="1400" dirty="0">
                  <a:latin typeface="微软雅黑" panose="020B0503020204020204" pitchFamily="34" charset="-122"/>
                  <a:ea typeface="微软雅黑" panose="020B0503020204020204" pitchFamily="34" charset="-122"/>
                </a:rPr>
                <a:t>三层路由引擎</a:t>
              </a:r>
              <a:endParaRPr lang="en-US" altLang="zh-CN" sz="1400" dirty="0">
                <a:latin typeface="微软雅黑" panose="020B0503020204020204" pitchFamily="34" charset="-122"/>
                <a:ea typeface="微软雅黑" panose="020B0503020204020204" pitchFamily="34" charset="-122"/>
              </a:endParaRPr>
            </a:p>
            <a:p>
              <a:endParaRPr lang="en-US" altLang="zh-CN" sz="1400" b="1" dirty="0">
                <a:solidFill>
                  <a:schemeClr val="bg1"/>
                </a:solidFill>
                <a:latin typeface="微软雅黑" panose="020B0503020204020204" pitchFamily="34" charset="-122"/>
                <a:ea typeface="微软雅黑" panose="020B0503020204020204" pitchFamily="34" charset="-122"/>
              </a:endParaRPr>
            </a:p>
            <a:p>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5" name="箭头: 上下 4">
              <a:extLst>
                <a:ext uri="{FF2B5EF4-FFF2-40B4-BE49-F238E27FC236}">
                  <a16:creationId xmlns:a16="http://schemas.microsoft.com/office/drawing/2014/main" id="{FB485A13-2708-4414-8E38-42D8D4664C38}"/>
                </a:ext>
              </a:extLst>
            </p:cNvPr>
            <p:cNvSpPr/>
            <p:nvPr/>
          </p:nvSpPr>
          <p:spPr>
            <a:xfrm>
              <a:off x="8726303" y="2843403"/>
              <a:ext cx="1604035" cy="625637"/>
            </a:xfrm>
            <a:prstGeom prst="upDownArrow">
              <a:avLst>
                <a:gd name="adj1" fmla="val 47172"/>
                <a:gd name="adj2" fmla="val 1747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7" name="文本框 66">
              <a:extLst>
                <a:ext uri="{FF2B5EF4-FFF2-40B4-BE49-F238E27FC236}">
                  <a16:creationId xmlns:a16="http://schemas.microsoft.com/office/drawing/2014/main" id="{B8AF5BF3-7842-41CA-8979-8B39C4037D15}"/>
                </a:ext>
              </a:extLst>
            </p:cNvPr>
            <p:cNvSpPr txBox="1"/>
            <p:nvPr/>
          </p:nvSpPr>
          <p:spPr>
            <a:xfrm>
              <a:off x="8987822" y="2880377"/>
              <a:ext cx="1052311" cy="523220"/>
            </a:xfrm>
            <a:prstGeom prst="rect">
              <a:avLst/>
            </a:prstGeom>
            <a:noFill/>
          </p:spPr>
          <p:txBody>
            <a:bodyPr wrap="square">
              <a:sp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高速背</a:t>
              </a:r>
              <a:endParaRPr lang="en-US" altLang="zh-CN" sz="1400" dirty="0">
                <a:solidFill>
                  <a:schemeClr val="bg1"/>
                </a:solidFill>
                <a:latin typeface="微软雅黑" panose="020B0503020204020204" pitchFamily="34" charset="-122"/>
                <a:ea typeface="微软雅黑" panose="020B0503020204020204" pitchFamily="34" charset="-122"/>
              </a:endParaRPr>
            </a:p>
            <a:p>
              <a:pPr algn="ctr"/>
              <a:r>
                <a:rPr lang="zh-CN" altLang="en-US" sz="1400" dirty="0">
                  <a:solidFill>
                    <a:schemeClr val="bg1"/>
                  </a:solidFill>
                  <a:latin typeface="微软雅黑" panose="020B0503020204020204" pitchFamily="34" charset="-122"/>
                  <a:ea typeface="微软雅黑" panose="020B0503020204020204" pitchFamily="34" charset="-122"/>
                </a:rPr>
                <a:t>板总线</a:t>
              </a:r>
            </a:p>
          </p:txBody>
        </p:sp>
        <p:sp>
          <p:nvSpPr>
            <p:cNvPr id="66" name="文本框 65">
              <a:extLst>
                <a:ext uri="{FF2B5EF4-FFF2-40B4-BE49-F238E27FC236}">
                  <a16:creationId xmlns:a16="http://schemas.microsoft.com/office/drawing/2014/main" id="{90C85D85-AFEE-4B02-8C5F-A11A2214E88C}"/>
                </a:ext>
              </a:extLst>
            </p:cNvPr>
            <p:cNvSpPr txBox="1"/>
            <p:nvPr/>
          </p:nvSpPr>
          <p:spPr>
            <a:xfrm>
              <a:off x="7015506" y="3483650"/>
              <a:ext cx="4871692" cy="1323439"/>
            </a:xfrm>
            <a:prstGeom prst="rect">
              <a:avLst/>
            </a:prstGeom>
            <a:ln w="38100"/>
          </p:spPr>
          <p:style>
            <a:lnRef idx="2">
              <a:schemeClr val="accent4"/>
            </a:lnRef>
            <a:fillRef idx="1">
              <a:schemeClr val="lt1"/>
            </a:fillRef>
            <a:effectRef idx="0">
              <a:schemeClr val="accent4"/>
            </a:effectRef>
            <a:fontRef idx="minor">
              <a:schemeClr val="dk1"/>
            </a:fontRef>
          </p:style>
          <p:txBody>
            <a:bodyPr wrap="square" rtlCol="0">
              <a:spAutoFit/>
            </a:bodyPr>
            <a:lstStyle/>
            <a:p>
              <a:r>
                <a:rPr lang="zh-CN" altLang="en-US" sz="1400" dirty="0">
                  <a:latin typeface="微软雅黑" panose="020B0503020204020204" pitchFamily="34" charset="-122"/>
                  <a:ea typeface="微软雅黑" panose="020B0503020204020204" pitchFamily="34" charset="-122"/>
                </a:rPr>
                <a:t>二层交换引擎</a:t>
              </a:r>
            </a:p>
            <a:p>
              <a:r>
                <a:rPr lang="zh-CN" altLang="en-US" sz="2400" dirty="0">
                  <a:latin typeface="微软雅黑" panose="020B0503020204020204" pitchFamily="34" charset="-122"/>
                  <a:ea typeface="微软雅黑" panose="020B0503020204020204" pitchFamily="34" charset="-122"/>
                </a:rPr>
                <a:t>□ □ □ □ □ □   □ □ □ □ □ □ </a:t>
              </a:r>
              <a:endParaRPr lang="en-US" altLang="zh-CN" sz="2400" dirty="0">
                <a:latin typeface="微软雅黑" panose="020B0503020204020204" pitchFamily="34" charset="-122"/>
                <a:ea typeface="微软雅黑" panose="020B0503020204020204" pitchFamily="34" charset="-122"/>
              </a:endParaRPr>
            </a:p>
            <a:p>
              <a:r>
                <a:rPr lang="zh-CN" altLang="en-US" sz="2400" dirty="0">
                  <a:latin typeface="微软雅黑" panose="020B0503020204020204" pitchFamily="34" charset="-122"/>
                  <a:ea typeface="微软雅黑" panose="020B0503020204020204" pitchFamily="34" charset="-122"/>
                </a:rPr>
                <a:t>□ □ □ □ □ □   □ □ □ □ □ □</a:t>
              </a:r>
              <a:endParaRPr lang="en-US" altLang="zh-CN" sz="2400" dirty="0">
                <a:latin typeface="微软雅黑" panose="020B0503020204020204" pitchFamily="34" charset="-122"/>
                <a:ea typeface="微软雅黑" panose="020B0503020204020204" pitchFamily="34" charset="-122"/>
              </a:endParaRPr>
            </a:p>
            <a:p>
              <a:pPr algn="ctr"/>
              <a:r>
                <a:rPr lang="zh-CN" altLang="en-US" dirty="0">
                  <a:latin typeface="微软雅黑" panose="020B0503020204020204" pitchFamily="34" charset="-122"/>
                  <a:ea typeface="微软雅黑" panose="020B0503020204020204" pitchFamily="34" charset="-122"/>
                </a:rPr>
                <a:t> </a:t>
              </a:r>
              <a:endParaRPr lang="en-US" altLang="zh-CN" dirty="0">
                <a:latin typeface="微软雅黑" panose="020B0503020204020204" pitchFamily="34" charset="-122"/>
                <a:ea typeface="微软雅黑" panose="020B0503020204020204" pitchFamily="34" charset="-122"/>
              </a:endParaRPr>
            </a:p>
          </p:txBody>
        </p:sp>
        <p:sp>
          <p:nvSpPr>
            <p:cNvPr id="69" name="文本框 68">
              <a:extLst>
                <a:ext uri="{FF2B5EF4-FFF2-40B4-BE49-F238E27FC236}">
                  <a16:creationId xmlns:a16="http://schemas.microsoft.com/office/drawing/2014/main" id="{E344259B-3E0E-4721-96F9-C4A77DEE917E}"/>
                </a:ext>
              </a:extLst>
            </p:cNvPr>
            <p:cNvSpPr txBox="1"/>
            <p:nvPr/>
          </p:nvSpPr>
          <p:spPr>
            <a:xfrm>
              <a:off x="7091033" y="3781715"/>
              <a:ext cx="1129504" cy="954107"/>
            </a:xfrm>
            <a:prstGeom prst="rect">
              <a:avLst/>
            </a:prstGeom>
            <a:noFill/>
            <a:ln w="19050">
              <a:solidFill>
                <a:srgbClr val="92D050"/>
              </a:solidFill>
              <a:prstDash val="dash"/>
            </a:ln>
          </p:spPr>
          <p:txBody>
            <a:bodyPr wrap="square" rtlCol="0">
              <a:spAutoFit/>
            </a:bodyPr>
            <a:lstStyle/>
            <a:p>
              <a:endParaRPr lang="en-US" altLang="zh-CN" sz="1400" b="1" dirty="0">
                <a:solidFill>
                  <a:srgbClr val="0070C0"/>
                </a:solidFill>
                <a:latin typeface="微软雅黑" panose="020B0503020204020204" pitchFamily="34" charset="-122"/>
                <a:ea typeface="微软雅黑" panose="020B0503020204020204" pitchFamily="34" charset="-122"/>
              </a:endParaRPr>
            </a:p>
            <a:p>
              <a:endParaRPr lang="en-US" altLang="zh-CN" sz="1400" b="1" dirty="0">
                <a:solidFill>
                  <a:srgbClr val="0070C0"/>
                </a:solidFill>
                <a:latin typeface="微软雅黑" panose="020B0503020204020204" pitchFamily="34" charset="-122"/>
                <a:ea typeface="微软雅黑" panose="020B0503020204020204" pitchFamily="34" charset="-122"/>
              </a:endParaRPr>
            </a:p>
            <a:p>
              <a:endParaRPr lang="en-US" altLang="zh-CN" sz="1400" b="1" dirty="0">
                <a:solidFill>
                  <a:srgbClr val="0070C0"/>
                </a:solidFill>
                <a:latin typeface="微软雅黑" panose="020B0503020204020204" pitchFamily="34" charset="-122"/>
                <a:ea typeface="微软雅黑" panose="020B0503020204020204" pitchFamily="34" charset="-122"/>
              </a:endParaRPr>
            </a:p>
            <a:p>
              <a:r>
                <a:rPr lang="en-US" altLang="zh-CN" sz="1400" b="1" dirty="0">
                  <a:solidFill>
                    <a:srgbClr val="0070C0"/>
                  </a:solidFill>
                  <a:latin typeface="微软雅黑" panose="020B0503020204020204" pitchFamily="34" charset="-122"/>
                  <a:ea typeface="微软雅黑" panose="020B0503020204020204" pitchFamily="34" charset="-122"/>
                </a:rPr>
                <a:t>VLAN1</a:t>
              </a:r>
              <a:endParaRPr lang="zh-CN" altLang="en-US" sz="1400" b="1" dirty="0">
                <a:solidFill>
                  <a:srgbClr val="0070C0"/>
                </a:solidFill>
                <a:latin typeface="微软雅黑" panose="020B0503020204020204" pitchFamily="34" charset="-122"/>
                <a:ea typeface="微软雅黑" panose="020B0503020204020204" pitchFamily="34" charset="-122"/>
              </a:endParaRPr>
            </a:p>
          </p:txBody>
        </p:sp>
        <p:sp>
          <p:nvSpPr>
            <p:cNvPr id="71" name="文本框 70">
              <a:extLst>
                <a:ext uri="{FF2B5EF4-FFF2-40B4-BE49-F238E27FC236}">
                  <a16:creationId xmlns:a16="http://schemas.microsoft.com/office/drawing/2014/main" id="{0B4FB14C-FCE9-4471-BA32-5992ADE58E0B}"/>
                </a:ext>
              </a:extLst>
            </p:cNvPr>
            <p:cNvSpPr txBox="1"/>
            <p:nvPr/>
          </p:nvSpPr>
          <p:spPr>
            <a:xfrm>
              <a:off x="8259222" y="3790039"/>
              <a:ext cx="1248316" cy="954107"/>
            </a:xfrm>
            <a:prstGeom prst="rect">
              <a:avLst/>
            </a:prstGeom>
            <a:noFill/>
            <a:ln w="19050">
              <a:solidFill>
                <a:srgbClr val="B348FF"/>
              </a:solidFill>
              <a:prstDash val="dash"/>
            </a:ln>
          </p:spPr>
          <p:txBody>
            <a:bodyPr wrap="square" rtlCol="0">
              <a:spAutoFit/>
            </a:bodyPr>
            <a:lstStyle/>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r>
                <a:rPr lang="en-US" altLang="zh-CN" sz="1400" b="1" dirty="0">
                  <a:solidFill>
                    <a:srgbClr val="0070C0"/>
                  </a:solidFill>
                  <a:latin typeface="微软雅黑" panose="020B0503020204020204" pitchFamily="34" charset="-122"/>
                  <a:ea typeface="微软雅黑" panose="020B0503020204020204" pitchFamily="34" charset="-122"/>
                </a:rPr>
                <a:t>VLAN2</a:t>
              </a:r>
              <a:endParaRPr lang="zh-CN" altLang="en-US" sz="1400" b="1" dirty="0">
                <a:solidFill>
                  <a:srgbClr val="0070C0"/>
                </a:solidFill>
                <a:latin typeface="微软雅黑" panose="020B0503020204020204" pitchFamily="34" charset="-122"/>
                <a:ea typeface="微软雅黑" panose="020B0503020204020204" pitchFamily="34" charset="-122"/>
              </a:endParaRPr>
            </a:p>
          </p:txBody>
        </p:sp>
        <p:sp>
          <p:nvSpPr>
            <p:cNvPr id="72" name="文本框 71">
              <a:extLst>
                <a:ext uri="{FF2B5EF4-FFF2-40B4-BE49-F238E27FC236}">
                  <a16:creationId xmlns:a16="http://schemas.microsoft.com/office/drawing/2014/main" id="{0DB9D083-087F-4787-AC98-BDDA0EA52744}"/>
                </a:ext>
              </a:extLst>
            </p:cNvPr>
            <p:cNvSpPr txBox="1"/>
            <p:nvPr/>
          </p:nvSpPr>
          <p:spPr>
            <a:xfrm>
              <a:off x="9569103" y="3794428"/>
              <a:ext cx="1129504" cy="954107"/>
            </a:xfrm>
            <a:prstGeom prst="rect">
              <a:avLst/>
            </a:prstGeom>
            <a:noFill/>
            <a:ln w="19050">
              <a:solidFill>
                <a:srgbClr val="FF0000"/>
              </a:solidFill>
              <a:prstDash val="dash"/>
            </a:ln>
          </p:spPr>
          <p:txBody>
            <a:bodyPr wrap="square" rtlCol="0">
              <a:spAutoFit/>
            </a:bodyPr>
            <a:lstStyle/>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r>
                <a:rPr lang="en-US" altLang="zh-CN" sz="1400" b="1" dirty="0">
                  <a:solidFill>
                    <a:srgbClr val="0070C0"/>
                  </a:solidFill>
                  <a:latin typeface="微软雅黑" panose="020B0503020204020204" pitchFamily="34" charset="-122"/>
                  <a:ea typeface="微软雅黑" panose="020B0503020204020204" pitchFamily="34" charset="-122"/>
                </a:rPr>
                <a:t>VLAN3</a:t>
              </a:r>
              <a:endParaRPr lang="zh-CN" altLang="en-US" sz="1400" b="1" dirty="0">
                <a:solidFill>
                  <a:srgbClr val="0070C0"/>
                </a:solidFill>
                <a:latin typeface="微软雅黑" panose="020B0503020204020204" pitchFamily="34" charset="-122"/>
                <a:ea typeface="微软雅黑" panose="020B0503020204020204" pitchFamily="34" charset="-122"/>
              </a:endParaRPr>
            </a:p>
          </p:txBody>
        </p:sp>
        <p:sp>
          <p:nvSpPr>
            <p:cNvPr id="70" name="文本框 69">
              <a:extLst>
                <a:ext uri="{FF2B5EF4-FFF2-40B4-BE49-F238E27FC236}">
                  <a16:creationId xmlns:a16="http://schemas.microsoft.com/office/drawing/2014/main" id="{9B8BC53D-BA55-4F5C-A2C5-FF31379D86E4}"/>
                </a:ext>
              </a:extLst>
            </p:cNvPr>
            <p:cNvSpPr txBox="1"/>
            <p:nvPr/>
          </p:nvSpPr>
          <p:spPr>
            <a:xfrm>
              <a:off x="7040730" y="5070765"/>
              <a:ext cx="1420664" cy="861774"/>
            </a:xfrm>
            <a:prstGeom prst="wedgeRectCallout">
              <a:avLst>
                <a:gd name="adj1" fmla="val 20078"/>
                <a:gd name="adj2" fmla="val -130681"/>
              </a:avLst>
            </a:prstGeom>
            <a:solidFill>
              <a:schemeClr val="bg2"/>
            </a:solidFill>
          </p:spPr>
          <p:txBody>
            <a:bodyPr wrap="square" rtlCol="0">
              <a:spAutoFit/>
            </a:bodyPr>
            <a:lstStyle/>
            <a:p>
              <a:r>
                <a:rPr lang="zh-CN" altLang="en-US" sz="1400" dirty="0">
                  <a:solidFill>
                    <a:srgbClr val="0000CC"/>
                  </a:solidFill>
                  <a:latin typeface="微软雅黑" panose="020B0503020204020204" pitchFamily="34" charset="-122"/>
                  <a:ea typeface="微软雅黑" panose="020B0503020204020204" pitchFamily="34" charset="-122"/>
                </a:rPr>
                <a:t>输入端口</a:t>
              </a:r>
              <a:endParaRPr lang="en-US" altLang="zh-CN" sz="1400" dirty="0">
                <a:solidFill>
                  <a:srgbClr val="0000CC"/>
                </a:solidFill>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p:txBody>
        </p:sp>
        <p:sp>
          <p:nvSpPr>
            <p:cNvPr id="75" name="Rectangle 11">
              <a:extLst>
                <a:ext uri="{FF2B5EF4-FFF2-40B4-BE49-F238E27FC236}">
                  <a16:creationId xmlns:a16="http://schemas.microsoft.com/office/drawing/2014/main" id="{0965F9FA-EE08-4C9E-9B4E-B3B22AC40358}"/>
                </a:ext>
              </a:extLst>
            </p:cNvPr>
            <p:cNvSpPr>
              <a:spLocks noChangeArrowheads="1"/>
            </p:cNvSpPr>
            <p:nvPr/>
          </p:nvSpPr>
          <p:spPr bwMode="auto">
            <a:xfrm>
              <a:off x="7091033" y="5412460"/>
              <a:ext cx="1212309" cy="409541"/>
            </a:xfrm>
            <a:prstGeom prst="rect">
              <a:avLst/>
            </a:prstGeom>
            <a:solidFill>
              <a:srgbClr val="66FFFF"/>
            </a:solidFill>
            <a:ln w="12700" cmpd="dbl">
              <a:solidFill>
                <a:schemeClr val="tx1"/>
              </a:solidFill>
              <a:prstDash val="dash"/>
              <a:miter lim="800000"/>
              <a:headEnd/>
              <a:tailEnd/>
            </a:ln>
            <a:effectLst/>
          </p:spPr>
          <p:txBody>
            <a:bodyPr wrap="none" anchor="ct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76" name="Line 13">
              <a:extLst>
                <a:ext uri="{FF2B5EF4-FFF2-40B4-BE49-F238E27FC236}">
                  <a16:creationId xmlns:a16="http://schemas.microsoft.com/office/drawing/2014/main" id="{37193668-3302-4115-833C-D3AD79A14DAA}"/>
                </a:ext>
              </a:extLst>
            </p:cNvPr>
            <p:cNvSpPr>
              <a:spLocks noChangeShapeType="1"/>
            </p:cNvSpPr>
            <p:nvPr/>
          </p:nvSpPr>
          <p:spPr bwMode="auto">
            <a:xfrm flipV="1">
              <a:off x="6982607" y="5616782"/>
              <a:ext cx="25200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77" name="Rectangle 54">
              <a:extLst>
                <a:ext uri="{FF2B5EF4-FFF2-40B4-BE49-F238E27FC236}">
                  <a16:creationId xmlns:a16="http://schemas.microsoft.com/office/drawing/2014/main" id="{BFB4E581-290E-43F4-A440-D343EBCF2735}"/>
                </a:ext>
              </a:extLst>
            </p:cNvPr>
            <p:cNvSpPr>
              <a:spLocks noChangeArrowheads="1"/>
            </p:cNvSpPr>
            <p:nvPr/>
          </p:nvSpPr>
          <p:spPr bwMode="auto">
            <a:xfrm>
              <a:off x="7238082" y="5543298"/>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anose="020B0503020204020204" pitchFamily="34" charset="-122"/>
                  <a:ea typeface="微软雅黑" panose="020B0503020204020204" pitchFamily="34" charset="-122"/>
                </a:rPr>
                <a:t>1</a:t>
              </a:r>
            </a:p>
          </p:txBody>
        </p:sp>
        <p:sp>
          <p:nvSpPr>
            <p:cNvPr id="78" name="Line 13">
              <a:extLst>
                <a:ext uri="{FF2B5EF4-FFF2-40B4-BE49-F238E27FC236}">
                  <a16:creationId xmlns:a16="http://schemas.microsoft.com/office/drawing/2014/main" id="{B81B4EFC-DE9C-4845-B30C-4AD56E845A96}"/>
                </a:ext>
              </a:extLst>
            </p:cNvPr>
            <p:cNvSpPr>
              <a:spLocks noChangeShapeType="1"/>
            </p:cNvSpPr>
            <p:nvPr/>
          </p:nvSpPr>
          <p:spPr bwMode="auto">
            <a:xfrm flipV="1">
              <a:off x="7531611" y="5616782"/>
              <a:ext cx="22874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79" name="Rectangle 54">
              <a:extLst>
                <a:ext uri="{FF2B5EF4-FFF2-40B4-BE49-F238E27FC236}">
                  <a16:creationId xmlns:a16="http://schemas.microsoft.com/office/drawing/2014/main" id="{479B6CA9-CC44-44C9-A9B6-5ACA32F3583C}"/>
                </a:ext>
              </a:extLst>
            </p:cNvPr>
            <p:cNvSpPr>
              <a:spLocks noChangeArrowheads="1"/>
            </p:cNvSpPr>
            <p:nvPr/>
          </p:nvSpPr>
          <p:spPr bwMode="auto">
            <a:xfrm>
              <a:off x="7776694" y="5543298"/>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2</a:t>
              </a:r>
            </a:p>
          </p:txBody>
        </p:sp>
        <p:sp>
          <p:nvSpPr>
            <p:cNvPr id="80" name="文本框 79">
              <a:extLst>
                <a:ext uri="{FF2B5EF4-FFF2-40B4-BE49-F238E27FC236}">
                  <a16:creationId xmlns:a16="http://schemas.microsoft.com/office/drawing/2014/main" id="{109719F9-C815-4B37-94D1-574B087EA880}"/>
                </a:ext>
              </a:extLst>
            </p:cNvPr>
            <p:cNvSpPr txBox="1"/>
            <p:nvPr/>
          </p:nvSpPr>
          <p:spPr>
            <a:xfrm>
              <a:off x="9249175" y="5075404"/>
              <a:ext cx="1422000" cy="861774"/>
            </a:xfrm>
            <a:prstGeom prst="wedgeRectCallout">
              <a:avLst>
                <a:gd name="adj1" fmla="val -18826"/>
                <a:gd name="adj2" fmla="val -127815"/>
              </a:avLst>
            </a:prstGeom>
            <a:solidFill>
              <a:schemeClr val="bg2"/>
            </a:solidFill>
          </p:spPr>
          <p:txBody>
            <a:bodyPr wrap="square" rtlCol="0">
              <a:spAutoFit/>
            </a:bodyPr>
            <a:lstStyle/>
            <a:p>
              <a:r>
                <a:rPr lang="zh-CN" altLang="en-US" sz="1400" dirty="0">
                  <a:solidFill>
                    <a:srgbClr val="0000CC"/>
                  </a:solidFill>
                  <a:latin typeface="微软雅黑" panose="020B0503020204020204" pitchFamily="34" charset="-122"/>
                  <a:ea typeface="微软雅黑" panose="020B0503020204020204" pitchFamily="34" charset="-122"/>
                </a:rPr>
                <a:t>输出端口</a:t>
              </a:r>
              <a:endParaRPr lang="en-US" altLang="zh-CN" sz="1400" dirty="0">
                <a:solidFill>
                  <a:srgbClr val="0000CC"/>
                </a:solidFill>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p:txBody>
        </p:sp>
        <p:sp>
          <p:nvSpPr>
            <p:cNvPr id="81" name="Rectangle 11">
              <a:extLst>
                <a:ext uri="{FF2B5EF4-FFF2-40B4-BE49-F238E27FC236}">
                  <a16:creationId xmlns:a16="http://schemas.microsoft.com/office/drawing/2014/main" id="{F63A06F1-92DE-43A1-ABDC-B2D71C55DDAF}"/>
                </a:ext>
              </a:extLst>
            </p:cNvPr>
            <p:cNvSpPr>
              <a:spLocks noChangeArrowheads="1"/>
            </p:cNvSpPr>
            <p:nvPr/>
          </p:nvSpPr>
          <p:spPr bwMode="auto">
            <a:xfrm>
              <a:off x="9280349" y="5417099"/>
              <a:ext cx="1212309" cy="409541"/>
            </a:xfrm>
            <a:prstGeom prst="rect">
              <a:avLst/>
            </a:prstGeom>
            <a:solidFill>
              <a:srgbClr val="66FFFF"/>
            </a:solidFill>
            <a:ln w="12700" cmpd="dbl">
              <a:solidFill>
                <a:schemeClr val="tx1"/>
              </a:solidFill>
              <a:prstDash val="dash"/>
              <a:miter lim="800000"/>
              <a:headEnd/>
              <a:tailEnd/>
            </a:ln>
            <a:effectLst/>
          </p:spPr>
          <p:txBody>
            <a:bodyPr wrap="none" anchor="ct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82" name="Line 13">
              <a:extLst>
                <a:ext uri="{FF2B5EF4-FFF2-40B4-BE49-F238E27FC236}">
                  <a16:creationId xmlns:a16="http://schemas.microsoft.com/office/drawing/2014/main" id="{8F12E25A-291A-41E6-8FCC-1A9BA0DC1DB6}"/>
                </a:ext>
              </a:extLst>
            </p:cNvPr>
            <p:cNvSpPr>
              <a:spLocks noChangeShapeType="1"/>
            </p:cNvSpPr>
            <p:nvPr/>
          </p:nvSpPr>
          <p:spPr bwMode="auto">
            <a:xfrm flipV="1">
              <a:off x="9182315" y="5621421"/>
              <a:ext cx="228743" cy="0"/>
            </a:xfrm>
            <a:prstGeom prst="line">
              <a:avLst/>
            </a:prstGeom>
            <a:noFill/>
            <a:ln w="28575">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83" name="Rectangle 54">
              <a:extLst>
                <a:ext uri="{FF2B5EF4-FFF2-40B4-BE49-F238E27FC236}">
                  <a16:creationId xmlns:a16="http://schemas.microsoft.com/office/drawing/2014/main" id="{8327CE8F-DA97-4D5E-8761-ACFBC69944CE}"/>
                </a:ext>
              </a:extLst>
            </p:cNvPr>
            <p:cNvSpPr>
              <a:spLocks noChangeArrowheads="1"/>
            </p:cNvSpPr>
            <p:nvPr/>
          </p:nvSpPr>
          <p:spPr bwMode="auto">
            <a:xfrm>
              <a:off x="9427398" y="5547937"/>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anose="020B0503020204020204" pitchFamily="34" charset="-122"/>
                  <a:ea typeface="微软雅黑" panose="020B0503020204020204" pitchFamily="34" charset="-122"/>
                </a:rPr>
                <a:t>1</a:t>
              </a:r>
            </a:p>
          </p:txBody>
        </p:sp>
        <p:sp>
          <p:nvSpPr>
            <p:cNvPr id="84" name="Line 13">
              <a:extLst>
                <a:ext uri="{FF2B5EF4-FFF2-40B4-BE49-F238E27FC236}">
                  <a16:creationId xmlns:a16="http://schemas.microsoft.com/office/drawing/2014/main" id="{9F342F65-71D7-4718-BB84-0BE9724BAC96}"/>
                </a:ext>
              </a:extLst>
            </p:cNvPr>
            <p:cNvSpPr>
              <a:spLocks noChangeShapeType="1"/>
            </p:cNvSpPr>
            <p:nvPr/>
          </p:nvSpPr>
          <p:spPr bwMode="auto">
            <a:xfrm flipV="1">
              <a:off x="9720927" y="5621421"/>
              <a:ext cx="228743" cy="0"/>
            </a:xfrm>
            <a:prstGeom prst="line">
              <a:avLst/>
            </a:prstGeom>
            <a:noFill/>
            <a:ln w="28575">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85" name="Rectangle 54">
              <a:extLst>
                <a:ext uri="{FF2B5EF4-FFF2-40B4-BE49-F238E27FC236}">
                  <a16:creationId xmlns:a16="http://schemas.microsoft.com/office/drawing/2014/main" id="{23AB355E-A102-46AC-80CD-527D330E7803}"/>
                </a:ext>
              </a:extLst>
            </p:cNvPr>
            <p:cNvSpPr>
              <a:spLocks noChangeArrowheads="1"/>
            </p:cNvSpPr>
            <p:nvPr/>
          </p:nvSpPr>
          <p:spPr bwMode="auto">
            <a:xfrm>
              <a:off x="9966010" y="5547937"/>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2</a:t>
              </a:r>
            </a:p>
          </p:txBody>
        </p:sp>
        <p:sp>
          <p:nvSpPr>
            <p:cNvPr id="86" name="Rectangle 9">
              <a:extLst>
                <a:ext uri="{FF2B5EF4-FFF2-40B4-BE49-F238E27FC236}">
                  <a16:creationId xmlns:a16="http://schemas.microsoft.com/office/drawing/2014/main" id="{5230391A-8DB6-4B67-8188-265684AA4B30}"/>
                </a:ext>
              </a:extLst>
            </p:cNvPr>
            <p:cNvSpPr>
              <a:spLocks noChangeArrowheads="1"/>
            </p:cNvSpPr>
            <p:nvPr/>
          </p:nvSpPr>
          <p:spPr bwMode="auto">
            <a:xfrm>
              <a:off x="8778160" y="2320558"/>
              <a:ext cx="1094702" cy="291504"/>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dirty="0">
                  <a:solidFill>
                    <a:schemeClr val="bg1"/>
                  </a:solidFill>
                  <a:latin typeface="微软雅黑" panose="020B0503020204020204" pitchFamily="34" charset="-122"/>
                  <a:ea typeface="微软雅黑" panose="020B0503020204020204" pitchFamily="34" charset="-122"/>
                </a:rPr>
                <a:t>路由选择协议</a:t>
              </a:r>
            </a:p>
          </p:txBody>
        </p:sp>
        <p:sp>
          <p:nvSpPr>
            <p:cNvPr id="87" name="Rectangle 10">
              <a:extLst>
                <a:ext uri="{FF2B5EF4-FFF2-40B4-BE49-F238E27FC236}">
                  <a16:creationId xmlns:a16="http://schemas.microsoft.com/office/drawing/2014/main" id="{229CE95D-D96A-468B-A9A2-87BF19AAB453}"/>
                </a:ext>
              </a:extLst>
            </p:cNvPr>
            <p:cNvSpPr>
              <a:spLocks noChangeArrowheads="1"/>
            </p:cNvSpPr>
            <p:nvPr/>
          </p:nvSpPr>
          <p:spPr bwMode="auto">
            <a:xfrm>
              <a:off x="10274329" y="2313358"/>
              <a:ext cx="746480" cy="302334"/>
            </a:xfrm>
            <a:prstGeom prst="rect">
              <a:avLst/>
            </a:prstGeom>
            <a:solidFill>
              <a:srgbClr val="FFFF00"/>
            </a:solidFill>
            <a:ln w="19050">
              <a:solidFill>
                <a:schemeClr val="tx1"/>
              </a:solidFill>
              <a:miter lim="800000"/>
              <a:headEnd/>
              <a:tailEnd/>
            </a:ln>
            <a:effectLst/>
          </p:spPr>
          <p:txBody>
            <a:bodyPr wrap="none" anchor="ctr"/>
            <a:lstStyle/>
            <a:p>
              <a:pPr algn="ctr"/>
              <a:r>
                <a:rPr kumimoji="1" lang="zh-CN" altLang="en-US" sz="1400" dirty="0">
                  <a:solidFill>
                    <a:srgbClr val="0000CC"/>
                  </a:solidFill>
                  <a:latin typeface="微软雅黑" panose="020B0503020204020204" pitchFamily="34" charset="-122"/>
                  <a:ea typeface="微软雅黑" panose="020B0503020204020204" pitchFamily="34" charset="-122"/>
                </a:rPr>
                <a:t>路由表</a:t>
              </a:r>
            </a:p>
          </p:txBody>
        </p:sp>
        <p:cxnSp>
          <p:nvCxnSpPr>
            <p:cNvPr id="88" name="直接箭头连接符 87">
              <a:extLst>
                <a:ext uri="{FF2B5EF4-FFF2-40B4-BE49-F238E27FC236}">
                  <a16:creationId xmlns:a16="http://schemas.microsoft.com/office/drawing/2014/main" id="{4717EB66-C2EC-448C-A753-85F9FEAC1371}"/>
                </a:ext>
              </a:extLst>
            </p:cNvPr>
            <p:cNvCxnSpPr>
              <a:cxnSpLocks/>
              <a:endCxn id="87" idx="1"/>
            </p:cNvCxnSpPr>
            <p:nvPr/>
          </p:nvCxnSpPr>
          <p:spPr>
            <a:xfrm>
              <a:off x="9886503" y="2461810"/>
              <a:ext cx="387826" cy="2715"/>
            </a:xfrm>
            <a:prstGeom prst="straightConnector1">
              <a:avLst/>
            </a:prstGeom>
            <a:ln>
              <a:tailEnd type="triangle"/>
            </a:ln>
          </p:spPr>
          <p:style>
            <a:lnRef idx="1">
              <a:schemeClr val="accent6"/>
            </a:lnRef>
            <a:fillRef idx="0">
              <a:schemeClr val="accent6"/>
            </a:fillRef>
            <a:effectRef idx="0">
              <a:schemeClr val="accent6"/>
            </a:effectRef>
            <a:fontRef idx="minor">
              <a:schemeClr val="tx1"/>
            </a:fontRef>
          </p:style>
        </p:cxnSp>
        <p:sp>
          <p:nvSpPr>
            <p:cNvPr id="91" name="Rectangle 10">
              <a:extLst>
                <a:ext uri="{FF2B5EF4-FFF2-40B4-BE49-F238E27FC236}">
                  <a16:creationId xmlns:a16="http://schemas.microsoft.com/office/drawing/2014/main" id="{363C3565-3372-4556-9D24-ADF4156BC006}"/>
                </a:ext>
              </a:extLst>
            </p:cNvPr>
            <p:cNvSpPr>
              <a:spLocks noChangeArrowheads="1"/>
            </p:cNvSpPr>
            <p:nvPr/>
          </p:nvSpPr>
          <p:spPr bwMode="auto">
            <a:xfrm>
              <a:off x="10919662" y="3611193"/>
              <a:ext cx="746480" cy="233000"/>
            </a:xfrm>
            <a:prstGeom prst="rect">
              <a:avLst/>
            </a:prstGeom>
            <a:solidFill>
              <a:srgbClr val="99FF33"/>
            </a:solidFill>
            <a:ln w="19050">
              <a:solidFill>
                <a:schemeClr val="tx1"/>
              </a:solidFill>
              <a:miter lim="800000"/>
              <a:headEnd/>
              <a:tailEnd/>
            </a:ln>
            <a:effectLst/>
          </p:spPr>
          <p:txBody>
            <a:bodyPr wrap="none" anchor="ctr"/>
            <a:lstStyle/>
            <a:p>
              <a:pPr algn="ctr"/>
              <a:r>
                <a:rPr kumimoji="1" lang="en-US" altLang="zh-CN" sz="1400" dirty="0">
                  <a:solidFill>
                    <a:srgbClr val="0000CC"/>
                  </a:solidFill>
                  <a:latin typeface="微软雅黑" panose="020B0503020204020204" pitchFamily="34" charset="-122"/>
                  <a:ea typeface="微软雅黑" panose="020B0503020204020204" pitchFamily="34" charset="-122"/>
                </a:rPr>
                <a:t>MAC</a:t>
              </a:r>
              <a:r>
                <a:rPr kumimoji="1" lang="zh-CN" altLang="en-US" sz="1400" dirty="0">
                  <a:solidFill>
                    <a:srgbClr val="0000CC"/>
                  </a:solidFill>
                  <a:latin typeface="微软雅黑" panose="020B0503020204020204" pitchFamily="34" charset="-122"/>
                  <a:ea typeface="微软雅黑" panose="020B0503020204020204" pitchFamily="34" charset="-122"/>
                </a:rPr>
                <a:t>表</a:t>
              </a:r>
            </a:p>
          </p:txBody>
        </p:sp>
        <p:sp>
          <p:nvSpPr>
            <p:cNvPr id="92" name="Rectangle 10">
              <a:extLst>
                <a:ext uri="{FF2B5EF4-FFF2-40B4-BE49-F238E27FC236}">
                  <a16:creationId xmlns:a16="http://schemas.microsoft.com/office/drawing/2014/main" id="{482D92A6-E3F1-41B8-B79B-5E4525FFD0A8}"/>
                </a:ext>
              </a:extLst>
            </p:cNvPr>
            <p:cNvSpPr>
              <a:spLocks noChangeArrowheads="1"/>
            </p:cNvSpPr>
            <p:nvPr/>
          </p:nvSpPr>
          <p:spPr bwMode="auto">
            <a:xfrm>
              <a:off x="10930048" y="3924971"/>
              <a:ext cx="746480" cy="233000"/>
            </a:xfrm>
            <a:prstGeom prst="rect">
              <a:avLst/>
            </a:prstGeom>
            <a:solidFill>
              <a:srgbClr val="FFFF00"/>
            </a:solidFill>
            <a:ln w="19050">
              <a:solidFill>
                <a:schemeClr val="tx1"/>
              </a:solidFill>
              <a:miter lim="800000"/>
              <a:headEnd/>
              <a:tailEnd/>
            </a:ln>
            <a:effectLst/>
          </p:spPr>
          <p:txBody>
            <a:bodyPr wrap="none" anchor="ctr"/>
            <a:lstStyle/>
            <a:p>
              <a:pPr algn="ctr"/>
              <a:r>
                <a:rPr kumimoji="1" lang="en-US" altLang="zh-CN" sz="1400" dirty="0">
                  <a:solidFill>
                    <a:srgbClr val="0000CC"/>
                  </a:solidFill>
                  <a:latin typeface="微软雅黑" panose="020B0503020204020204" pitchFamily="34" charset="-122"/>
                  <a:ea typeface="微软雅黑" panose="020B0503020204020204" pitchFamily="34" charset="-122"/>
                </a:rPr>
                <a:t>VLAN</a:t>
              </a:r>
              <a:r>
                <a:rPr kumimoji="1" lang="zh-CN" altLang="en-US" sz="1400" dirty="0">
                  <a:solidFill>
                    <a:srgbClr val="0000CC"/>
                  </a:solidFill>
                  <a:latin typeface="微软雅黑" panose="020B0503020204020204" pitchFamily="34" charset="-122"/>
                  <a:ea typeface="微软雅黑" panose="020B0503020204020204" pitchFamily="34" charset="-122"/>
                </a:rPr>
                <a:t>表</a:t>
              </a:r>
            </a:p>
          </p:txBody>
        </p:sp>
        <p:sp>
          <p:nvSpPr>
            <p:cNvPr id="93" name="Rectangle 10">
              <a:extLst>
                <a:ext uri="{FF2B5EF4-FFF2-40B4-BE49-F238E27FC236}">
                  <a16:creationId xmlns:a16="http://schemas.microsoft.com/office/drawing/2014/main" id="{F02E5121-3867-48BF-8B40-5B3AF23348E8}"/>
                </a:ext>
              </a:extLst>
            </p:cNvPr>
            <p:cNvSpPr>
              <a:spLocks noChangeArrowheads="1"/>
            </p:cNvSpPr>
            <p:nvPr/>
          </p:nvSpPr>
          <p:spPr bwMode="auto">
            <a:xfrm>
              <a:off x="10931779" y="4269496"/>
              <a:ext cx="746480" cy="233000"/>
            </a:xfrm>
            <a:prstGeom prst="rect">
              <a:avLst/>
            </a:prstGeom>
            <a:solidFill>
              <a:srgbClr val="F4D0FF"/>
            </a:solidFill>
            <a:ln w="19050">
              <a:solidFill>
                <a:schemeClr val="tx1"/>
              </a:solidFill>
              <a:miter lim="800000"/>
              <a:headEnd/>
              <a:tailEnd/>
            </a:ln>
            <a:effectLst/>
          </p:spPr>
          <p:txBody>
            <a:bodyPr wrap="none" anchor="ctr"/>
            <a:lstStyle/>
            <a:p>
              <a:pPr algn="ctr"/>
              <a:r>
                <a:rPr kumimoji="1" lang="en-US" altLang="zh-CN" sz="1400" dirty="0">
                  <a:solidFill>
                    <a:srgbClr val="0000CC"/>
                  </a:solidFill>
                  <a:latin typeface="微软雅黑" panose="020B0503020204020204" pitchFamily="34" charset="-122"/>
                  <a:ea typeface="微软雅黑" panose="020B0503020204020204" pitchFamily="34" charset="-122"/>
                </a:rPr>
                <a:t>ARP</a:t>
              </a:r>
              <a:r>
                <a:rPr kumimoji="1" lang="zh-CN" altLang="en-US" sz="1400" dirty="0">
                  <a:solidFill>
                    <a:srgbClr val="0000CC"/>
                  </a:solidFill>
                  <a:latin typeface="微软雅黑" panose="020B0503020204020204" pitchFamily="34" charset="-122"/>
                  <a:ea typeface="微软雅黑" panose="020B0503020204020204" pitchFamily="34" charset="-122"/>
                </a:rPr>
                <a:t>表</a:t>
              </a:r>
            </a:p>
          </p:txBody>
        </p:sp>
        <p:sp>
          <p:nvSpPr>
            <p:cNvPr id="94" name="Line 39">
              <a:extLst>
                <a:ext uri="{FF2B5EF4-FFF2-40B4-BE49-F238E27FC236}">
                  <a16:creationId xmlns:a16="http://schemas.microsoft.com/office/drawing/2014/main" id="{78C6B1EB-E04B-45C5-958A-1940CEE6BD4A}"/>
                </a:ext>
              </a:extLst>
            </p:cNvPr>
            <p:cNvSpPr>
              <a:spLocks noChangeShapeType="1"/>
            </p:cNvSpPr>
            <p:nvPr/>
          </p:nvSpPr>
          <p:spPr bwMode="auto">
            <a:xfrm>
              <a:off x="10504069" y="2688973"/>
              <a:ext cx="0" cy="792000"/>
            </a:xfrm>
            <a:prstGeom prst="line">
              <a:avLst/>
            </a:prstGeom>
            <a:noFill/>
            <a:ln w="28575">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97" name="Rectangle 54">
              <a:extLst>
                <a:ext uri="{FF2B5EF4-FFF2-40B4-BE49-F238E27FC236}">
                  <a16:creationId xmlns:a16="http://schemas.microsoft.com/office/drawing/2014/main" id="{5F9B8D03-052F-439C-8B83-776E010247D3}"/>
                </a:ext>
              </a:extLst>
            </p:cNvPr>
            <p:cNvSpPr>
              <a:spLocks noChangeArrowheads="1"/>
            </p:cNvSpPr>
            <p:nvPr/>
          </p:nvSpPr>
          <p:spPr bwMode="auto">
            <a:xfrm>
              <a:off x="10351781" y="2983393"/>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3</a:t>
              </a:r>
            </a:p>
          </p:txBody>
        </p:sp>
      </p:grpSp>
      <p:sp>
        <p:nvSpPr>
          <p:cNvPr id="98" name="文本框 97">
            <a:extLst>
              <a:ext uri="{FF2B5EF4-FFF2-40B4-BE49-F238E27FC236}">
                <a16:creationId xmlns:a16="http://schemas.microsoft.com/office/drawing/2014/main" id="{730CD41B-7BC7-49F1-8691-B545DB31F242}"/>
              </a:ext>
            </a:extLst>
          </p:cNvPr>
          <p:cNvSpPr txBox="1"/>
          <p:nvPr/>
        </p:nvSpPr>
        <p:spPr>
          <a:xfrm>
            <a:off x="1094299" y="5916087"/>
            <a:ext cx="4535758" cy="400110"/>
          </a:xfrm>
          <a:prstGeom prst="rect">
            <a:avLst/>
          </a:prstGeom>
          <a:noFill/>
        </p:spPr>
        <p:txBody>
          <a:bodyPr wrap="square">
            <a:spAutoFit/>
          </a:bodyPr>
          <a:lstStyle/>
          <a:p>
            <a:pPr algn="ctr"/>
            <a:r>
              <a:rPr lang="zh-CN" altLang="en-US" sz="2000" dirty="0">
                <a:solidFill>
                  <a:srgbClr val="333333"/>
                </a:solidFill>
                <a:latin typeface="微软雅黑" panose="020B0503020204020204" pitchFamily="34" charset="-122"/>
                <a:ea typeface="微软雅黑" panose="020B0503020204020204" pitchFamily="34" charset="-122"/>
              </a:rPr>
              <a:t>典型的路由器结构</a:t>
            </a:r>
            <a:endParaRPr lang="zh-CN" altLang="en-US" sz="2000" b="0" i="0" dirty="0">
              <a:solidFill>
                <a:srgbClr val="333333"/>
              </a:solidFill>
              <a:effectLst/>
              <a:latin typeface="微软雅黑" panose="020B0503020204020204" pitchFamily="34" charset="-122"/>
              <a:ea typeface="微软雅黑" panose="020B0503020204020204" pitchFamily="34" charset="-122"/>
            </a:endParaRPr>
          </a:p>
        </p:txBody>
      </p:sp>
      <p:sp>
        <p:nvSpPr>
          <p:cNvPr id="101" name="文本框 100">
            <a:extLst>
              <a:ext uri="{FF2B5EF4-FFF2-40B4-BE49-F238E27FC236}">
                <a16:creationId xmlns:a16="http://schemas.microsoft.com/office/drawing/2014/main" id="{BFF64EFD-6A52-4281-8B9B-3C12BB5B9DC7}"/>
              </a:ext>
            </a:extLst>
          </p:cNvPr>
          <p:cNvSpPr txBox="1"/>
          <p:nvPr/>
        </p:nvSpPr>
        <p:spPr>
          <a:xfrm>
            <a:off x="974953" y="1501208"/>
            <a:ext cx="5121048" cy="707886"/>
          </a:xfrm>
          <a:prstGeom prst="rect">
            <a:avLst/>
          </a:prstGeom>
          <a:noFill/>
        </p:spPr>
        <p:txBody>
          <a:bodyPr wrap="square">
            <a:spAutoFit/>
          </a:bodyPr>
          <a:lstStyle/>
          <a:p>
            <a:r>
              <a:rPr kumimoji="1" lang="zh-CN" altLang="en-US" sz="2000" dirty="0">
                <a:latin typeface="微软雅黑" pitchFamily="34" charset="-122"/>
                <a:ea typeface="微软雅黑" pitchFamily="34" charset="-122"/>
              </a:rPr>
              <a:t>图中数字</a:t>
            </a:r>
            <a:r>
              <a:rPr kumimoji="1" lang="zh-CN" altLang="zh-CN" sz="2000" dirty="0">
                <a:latin typeface="微软雅黑" pitchFamily="34" charset="-122"/>
                <a:ea typeface="微软雅黑" pitchFamily="34" charset="-122"/>
              </a:rPr>
              <a:t>表示相应层次的构件</a:t>
            </a:r>
            <a:r>
              <a:rPr kumimoji="1" lang="zh-CN" altLang="en-US" sz="2000" dirty="0">
                <a:latin typeface="微软雅黑" pitchFamily="34" charset="-122"/>
                <a:ea typeface="微软雅黑" pitchFamily="34" charset="-122"/>
              </a:rPr>
              <a:t>：</a:t>
            </a:r>
            <a:endParaRPr kumimoji="1" lang="en-US" altLang="zh-CN" sz="2000" dirty="0">
              <a:latin typeface="微软雅黑" pitchFamily="34" charset="-122"/>
              <a:ea typeface="微软雅黑" pitchFamily="34" charset="-122"/>
            </a:endParaRPr>
          </a:p>
          <a:p>
            <a:r>
              <a:rPr kumimoji="1" lang="en-US" altLang="zh-CN" sz="2000" dirty="0">
                <a:latin typeface="微软雅黑" pitchFamily="34" charset="-122"/>
                <a:ea typeface="微软雅黑" pitchFamily="34" charset="-122"/>
              </a:rPr>
              <a:t>3-</a:t>
            </a:r>
            <a:r>
              <a:rPr kumimoji="1" lang="zh-CN" altLang="en-US" sz="2000" dirty="0">
                <a:latin typeface="微软雅黑" pitchFamily="34" charset="-122"/>
                <a:ea typeface="微软雅黑" pitchFamily="34" charset="-122"/>
              </a:rPr>
              <a:t>网络层，</a:t>
            </a:r>
            <a:r>
              <a:rPr kumimoji="1" lang="en-US" altLang="zh-CN" sz="2000" dirty="0">
                <a:latin typeface="微软雅黑" pitchFamily="34" charset="-122"/>
                <a:ea typeface="微软雅黑" pitchFamily="34" charset="-122"/>
              </a:rPr>
              <a:t>2-</a:t>
            </a:r>
            <a:r>
              <a:rPr kumimoji="1" lang="zh-CN" altLang="en-US" sz="2000" dirty="0">
                <a:latin typeface="微软雅黑" pitchFamily="34" charset="-122"/>
                <a:ea typeface="微软雅黑" pitchFamily="34" charset="-122"/>
              </a:rPr>
              <a:t>数据链路层，</a:t>
            </a:r>
            <a:r>
              <a:rPr kumimoji="1" lang="en-US" altLang="zh-CN" sz="2000" dirty="0">
                <a:latin typeface="微软雅黑" pitchFamily="34" charset="-122"/>
                <a:ea typeface="微软雅黑" pitchFamily="34" charset="-122"/>
              </a:rPr>
              <a:t>1-</a:t>
            </a:r>
            <a:r>
              <a:rPr kumimoji="1" lang="zh-CN" altLang="en-US" sz="2000" dirty="0">
                <a:latin typeface="微软雅黑" pitchFamily="34" charset="-122"/>
                <a:ea typeface="微软雅黑" pitchFamily="34" charset="-122"/>
              </a:rPr>
              <a:t>物理层</a:t>
            </a:r>
          </a:p>
        </p:txBody>
      </p:sp>
      <p:sp>
        <p:nvSpPr>
          <p:cNvPr id="102" name="文本框 101">
            <a:extLst>
              <a:ext uri="{FF2B5EF4-FFF2-40B4-BE49-F238E27FC236}">
                <a16:creationId xmlns:a16="http://schemas.microsoft.com/office/drawing/2014/main" id="{C2DFE8A3-596A-4C8A-B8AC-73CBB1B1DA73}"/>
              </a:ext>
            </a:extLst>
          </p:cNvPr>
          <p:cNvSpPr txBox="1"/>
          <p:nvPr/>
        </p:nvSpPr>
        <p:spPr>
          <a:xfrm>
            <a:off x="6561943" y="5834553"/>
            <a:ext cx="4535758" cy="400110"/>
          </a:xfrm>
          <a:prstGeom prst="rect">
            <a:avLst/>
          </a:prstGeom>
          <a:noFill/>
        </p:spPr>
        <p:txBody>
          <a:bodyPr wrap="square">
            <a:spAutoFit/>
          </a:bodyPr>
          <a:lstStyle/>
          <a:p>
            <a:pPr algn="ctr"/>
            <a:r>
              <a:rPr lang="zh-CN" altLang="en-US" sz="2000" dirty="0">
                <a:solidFill>
                  <a:srgbClr val="333333"/>
                </a:solidFill>
                <a:latin typeface="微软雅黑" panose="020B0503020204020204" pitchFamily="34" charset="-122"/>
                <a:ea typeface="微软雅黑" panose="020B0503020204020204" pitchFamily="34" charset="-122"/>
              </a:rPr>
              <a:t>典型的三层交换机结构</a:t>
            </a:r>
            <a:endParaRPr lang="zh-CN" altLang="en-US" sz="2000" b="0" i="0" dirty="0">
              <a:solidFill>
                <a:srgbClr val="333333"/>
              </a:solidFill>
              <a:effectLst/>
              <a:latin typeface="微软雅黑" panose="020B0503020204020204" pitchFamily="34" charset="-122"/>
              <a:ea typeface="微软雅黑" panose="020B0503020204020204" pitchFamily="34" charset="-122"/>
            </a:endParaRPr>
          </a:p>
        </p:txBody>
      </p:sp>
      <p:sp>
        <p:nvSpPr>
          <p:cNvPr id="95" name="Line 39">
            <a:extLst>
              <a:ext uri="{FF2B5EF4-FFF2-40B4-BE49-F238E27FC236}">
                <a16:creationId xmlns:a16="http://schemas.microsoft.com/office/drawing/2014/main" id="{940542CA-DD83-4453-ABDC-2BEDD2F4A09E}"/>
              </a:ext>
            </a:extLst>
          </p:cNvPr>
          <p:cNvSpPr>
            <a:spLocks noChangeShapeType="1"/>
          </p:cNvSpPr>
          <p:nvPr/>
        </p:nvSpPr>
        <p:spPr bwMode="auto">
          <a:xfrm>
            <a:off x="10737727" y="2375471"/>
            <a:ext cx="0" cy="792000"/>
          </a:xfrm>
          <a:prstGeom prst="line">
            <a:avLst/>
          </a:prstGeom>
          <a:noFill/>
          <a:ln w="28575">
            <a:solidFill>
              <a:srgbClr val="3333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99" name="Rectangle 54">
            <a:extLst>
              <a:ext uri="{FF2B5EF4-FFF2-40B4-BE49-F238E27FC236}">
                <a16:creationId xmlns:a16="http://schemas.microsoft.com/office/drawing/2014/main" id="{F584F67B-E0D7-4634-9A71-E9850CEA553F}"/>
              </a:ext>
            </a:extLst>
          </p:cNvPr>
          <p:cNvSpPr>
            <a:spLocks noChangeArrowheads="1"/>
          </p:cNvSpPr>
          <p:nvPr/>
        </p:nvSpPr>
        <p:spPr bwMode="auto">
          <a:xfrm>
            <a:off x="10588635" y="2681974"/>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3</a:t>
            </a:r>
          </a:p>
        </p:txBody>
      </p:sp>
      <p:sp>
        <p:nvSpPr>
          <p:cNvPr id="65" name="日期占位符 64">
            <a:extLst>
              <a:ext uri="{FF2B5EF4-FFF2-40B4-BE49-F238E27FC236}">
                <a16:creationId xmlns:a16="http://schemas.microsoft.com/office/drawing/2014/main" id="{03C3E869-13C6-4D3D-89F5-250B1F5FDD94}"/>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3749052798"/>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D149CA1-0E47-492E-9372-42A2922DA6DA}"/>
              </a:ext>
            </a:extLst>
          </p:cNvPr>
          <p:cNvSpPr>
            <a:spLocks noGrp="1"/>
          </p:cNvSpPr>
          <p:nvPr>
            <p:ph type="title"/>
          </p:nvPr>
        </p:nvSpPr>
        <p:spPr/>
        <p:txBody>
          <a:bodyPr/>
          <a:lstStyle/>
          <a:p>
            <a:r>
              <a:rPr kumimoji="1" lang="zh-CN" altLang="en-US" dirty="0"/>
              <a:t>三层交换机与路由器的比较</a:t>
            </a:r>
            <a:endParaRPr lang="zh-CN" altLang="en-US" dirty="0"/>
          </a:p>
        </p:txBody>
      </p:sp>
      <p:sp>
        <p:nvSpPr>
          <p:cNvPr id="4" name="灯片编号占位符 3">
            <a:extLst>
              <a:ext uri="{FF2B5EF4-FFF2-40B4-BE49-F238E27FC236}">
                <a16:creationId xmlns:a16="http://schemas.microsoft.com/office/drawing/2014/main" id="{BCEBE09B-F840-4D56-98BD-D2697B4F54D5}"/>
              </a:ext>
            </a:extLst>
          </p:cNvPr>
          <p:cNvSpPr>
            <a:spLocks noGrp="1"/>
          </p:cNvSpPr>
          <p:nvPr>
            <p:ph type="sldNum" sz="quarter" idx="12"/>
          </p:nvPr>
        </p:nvSpPr>
        <p:spPr/>
        <p:txBody>
          <a:bodyPr/>
          <a:lstStyle/>
          <a:p>
            <a:fld id="{8D4D1E41-7A09-AB4A-A4E1-09765ADA2698}" type="slidenum">
              <a:rPr kumimoji="1" lang="zh-CN" altLang="en-US" smtClean="0"/>
              <a:t>246</a:t>
            </a:fld>
            <a:endParaRPr kumimoji="1" lang="zh-CN" altLang="en-US" dirty="0"/>
          </a:p>
        </p:txBody>
      </p:sp>
      <p:pic>
        <p:nvPicPr>
          <p:cNvPr id="9" name="3ls已知间接交付">
            <a:hlinkClick r:id="" action="ppaction://media"/>
            <a:extLst>
              <a:ext uri="{FF2B5EF4-FFF2-40B4-BE49-F238E27FC236}">
                <a16:creationId xmlns:a16="http://schemas.microsoft.com/office/drawing/2014/main" id="{A298898B-91D1-41F0-9874-D894EFCC7A67}"/>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7"/>
          <a:srcRect t="5560" b="21440"/>
          <a:stretch/>
        </p:blipFill>
        <p:spPr>
          <a:xfrm>
            <a:off x="6777512" y="2659586"/>
            <a:ext cx="4285758" cy="1951428"/>
          </a:xfrm>
          <a:prstGeom prst="rect">
            <a:avLst/>
          </a:prstGeom>
        </p:spPr>
      </p:pic>
      <p:pic>
        <p:nvPicPr>
          <p:cNvPr id="10" name="3ls间接交付">
            <a:hlinkClick r:id="" action="ppaction://media"/>
            <a:extLst>
              <a:ext uri="{FF2B5EF4-FFF2-40B4-BE49-F238E27FC236}">
                <a16:creationId xmlns:a16="http://schemas.microsoft.com/office/drawing/2014/main" id="{B2813055-A9ED-4FB4-8E03-496984EBDAD9}"/>
              </a:ext>
            </a:extLst>
          </p:cNvPr>
          <p:cNvPicPr>
            <a:picLocks noChangeAspect="1"/>
          </p:cNvPicPr>
          <p:nvPr>
            <a:videoFile r:link="rId4"/>
            <p:extLst>
              <p:ext uri="{DAA4B4D4-6D71-4841-9C94-3DE7FCFB9230}">
                <p14:media xmlns:p14="http://schemas.microsoft.com/office/powerpoint/2010/main" r:embed="rId3"/>
              </p:ext>
            </p:extLst>
          </p:nvPr>
        </p:nvPicPr>
        <p:blipFill>
          <a:blip r:embed="rId8"/>
          <a:stretch>
            <a:fillRect/>
          </a:stretch>
        </p:blipFill>
        <p:spPr>
          <a:xfrm>
            <a:off x="1240167" y="2417642"/>
            <a:ext cx="4236312" cy="2647695"/>
          </a:xfrm>
          <a:prstGeom prst="rect">
            <a:avLst/>
          </a:prstGeom>
        </p:spPr>
      </p:pic>
      <p:sp>
        <p:nvSpPr>
          <p:cNvPr id="12" name="文本框 11">
            <a:extLst>
              <a:ext uri="{FF2B5EF4-FFF2-40B4-BE49-F238E27FC236}">
                <a16:creationId xmlns:a16="http://schemas.microsoft.com/office/drawing/2014/main" id="{D44E3106-E22B-42AE-9BA3-159CCF9101F5}"/>
              </a:ext>
            </a:extLst>
          </p:cNvPr>
          <p:cNvSpPr txBox="1"/>
          <p:nvPr/>
        </p:nvSpPr>
        <p:spPr>
          <a:xfrm>
            <a:off x="1213846" y="5764219"/>
            <a:ext cx="4155625" cy="584775"/>
          </a:xfrm>
          <a:prstGeom prst="rect">
            <a:avLst/>
          </a:prstGeom>
          <a:noFill/>
        </p:spPr>
        <p:txBody>
          <a:bodyPr wrap="none" rtlCol="0">
            <a:spAutoFit/>
          </a:bodyPr>
          <a:lstStyle/>
          <a:p>
            <a:r>
              <a:rPr lang="zh-CN" altLang="en-US" sz="1600" dirty="0">
                <a:solidFill>
                  <a:srgbClr val="C00000"/>
                </a:solidFill>
                <a:latin typeface="微软雅黑" panose="020B0503020204020204" pitchFamily="34" charset="-122"/>
                <a:ea typeface="微软雅黑" panose="020B0503020204020204" pitchFamily="34" charset="-122"/>
              </a:rPr>
              <a:t>不同</a:t>
            </a:r>
            <a:r>
              <a:rPr lang="en-US" altLang="zh-CN" sz="1600" dirty="0">
                <a:solidFill>
                  <a:srgbClr val="C00000"/>
                </a:solidFill>
                <a:latin typeface="微软雅黑" panose="020B0503020204020204" pitchFamily="34" charset="-122"/>
                <a:ea typeface="微软雅黑" panose="020B0503020204020204" pitchFamily="34" charset="-122"/>
              </a:rPr>
              <a:t>VLAN</a:t>
            </a:r>
            <a:r>
              <a:rPr lang="zh-CN" altLang="en-US" sz="1600" dirty="0">
                <a:solidFill>
                  <a:srgbClr val="C00000"/>
                </a:solidFill>
                <a:latin typeface="微软雅黑" panose="020B0503020204020204" pitchFamily="34" charset="-122"/>
                <a:ea typeface="微软雅黑" panose="020B0503020204020204" pitchFamily="34" charset="-122"/>
              </a:rPr>
              <a:t>，交换机未知目标主机</a:t>
            </a:r>
            <a:r>
              <a:rPr lang="en-US" altLang="zh-CN" sz="1600" dirty="0">
                <a:solidFill>
                  <a:srgbClr val="C00000"/>
                </a:solidFill>
                <a:latin typeface="微软雅黑" panose="020B0503020204020204" pitchFamily="34" charset="-122"/>
                <a:ea typeface="微软雅黑" panose="020B0503020204020204" pitchFamily="34" charset="-122"/>
              </a:rPr>
              <a:t>MAC</a:t>
            </a:r>
            <a:r>
              <a:rPr lang="zh-CN" altLang="en-US" sz="1600" dirty="0">
                <a:solidFill>
                  <a:srgbClr val="C00000"/>
                </a:solidFill>
                <a:latin typeface="微软雅黑" panose="020B0503020204020204" pitchFamily="34" charset="-122"/>
                <a:ea typeface="微软雅黑" panose="020B0503020204020204" pitchFamily="34" charset="-122"/>
              </a:rPr>
              <a:t>地址</a:t>
            </a:r>
            <a:endParaRPr lang="en-US" altLang="zh-CN" sz="1600" dirty="0">
              <a:solidFill>
                <a:srgbClr val="C00000"/>
              </a:solidFill>
              <a:latin typeface="微软雅黑" panose="020B0503020204020204" pitchFamily="34" charset="-122"/>
              <a:ea typeface="微软雅黑" panose="020B0503020204020204" pitchFamily="34" charset="-122"/>
            </a:endParaRPr>
          </a:p>
          <a:p>
            <a:r>
              <a:rPr lang="en-US" altLang="zh-CN" sz="1600" dirty="0">
                <a:solidFill>
                  <a:srgbClr val="C00000"/>
                </a:solidFill>
                <a:latin typeface="微软雅黑" panose="020B0503020204020204" pitchFamily="34" charset="-122"/>
                <a:ea typeface="微软雅黑" panose="020B0503020204020204" pitchFamily="34" charset="-122"/>
              </a:rPr>
              <a:t>PS</a:t>
            </a:r>
            <a:r>
              <a:rPr lang="zh-CN" altLang="en-US" sz="1600" dirty="0">
                <a:solidFill>
                  <a:srgbClr val="C00000"/>
                </a:solidFill>
                <a:latin typeface="微软雅黑" panose="020B0503020204020204" pitchFamily="34" charset="-122"/>
                <a:ea typeface="微软雅黑" panose="020B0503020204020204" pitchFamily="34" charset="-122"/>
              </a:rPr>
              <a:t>：绿色为</a:t>
            </a:r>
            <a:r>
              <a:rPr lang="en-US" altLang="zh-CN" sz="1600" dirty="0">
                <a:solidFill>
                  <a:srgbClr val="C00000"/>
                </a:solidFill>
                <a:latin typeface="微软雅黑" panose="020B0503020204020204" pitchFamily="34" charset="-122"/>
                <a:ea typeface="微软雅黑" panose="020B0503020204020204" pitchFamily="34" charset="-122"/>
              </a:rPr>
              <a:t>ARP</a:t>
            </a:r>
            <a:r>
              <a:rPr lang="zh-CN" altLang="en-US" sz="1600" dirty="0">
                <a:solidFill>
                  <a:srgbClr val="C00000"/>
                </a:solidFill>
                <a:latin typeface="微软雅黑" panose="020B0503020204020204" pitchFamily="34" charset="-122"/>
                <a:ea typeface="微软雅黑" panose="020B0503020204020204" pitchFamily="34" charset="-122"/>
              </a:rPr>
              <a:t>报文，棕色为</a:t>
            </a:r>
            <a:r>
              <a:rPr lang="en-US" altLang="zh-CN" sz="1600" dirty="0">
                <a:solidFill>
                  <a:srgbClr val="C00000"/>
                </a:solidFill>
                <a:latin typeface="微软雅黑" panose="020B0503020204020204" pitchFamily="34" charset="-122"/>
                <a:ea typeface="微软雅黑" panose="020B0503020204020204" pitchFamily="34" charset="-122"/>
              </a:rPr>
              <a:t>IP</a:t>
            </a:r>
            <a:r>
              <a:rPr lang="zh-CN" altLang="en-US" sz="1600" dirty="0">
                <a:solidFill>
                  <a:srgbClr val="C00000"/>
                </a:solidFill>
                <a:latin typeface="微软雅黑" panose="020B0503020204020204" pitchFamily="34" charset="-122"/>
                <a:ea typeface="微软雅黑" panose="020B0503020204020204" pitchFamily="34" charset="-122"/>
              </a:rPr>
              <a:t>报文</a:t>
            </a:r>
          </a:p>
        </p:txBody>
      </p:sp>
      <p:sp>
        <p:nvSpPr>
          <p:cNvPr id="14" name="文本框 13">
            <a:extLst>
              <a:ext uri="{FF2B5EF4-FFF2-40B4-BE49-F238E27FC236}">
                <a16:creationId xmlns:a16="http://schemas.microsoft.com/office/drawing/2014/main" id="{39A8F4D6-0898-415B-B588-BB587E9D2729}"/>
              </a:ext>
            </a:extLst>
          </p:cNvPr>
          <p:cNvSpPr txBox="1"/>
          <p:nvPr/>
        </p:nvSpPr>
        <p:spPr>
          <a:xfrm>
            <a:off x="6885523" y="5764219"/>
            <a:ext cx="4099520" cy="584775"/>
          </a:xfrm>
          <a:prstGeom prst="rect">
            <a:avLst/>
          </a:prstGeom>
          <a:noFill/>
        </p:spPr>
        <p:txBody>
          <a:bodyPr wrap="none" rtlCol="0">
            <a:spAutoFit/>
          </a:bodyPr>
          <a:lstStyle/>
          <a:p>
            <a:r>
              <a:rPr lang="zh-CN" altLang="en-US" sz="1600" dirty="0">
                <a:solidFill>
                  <a:srgbClr val="C00000"/>
                </a:solidFill>
                <a:latin typeface="微软雅黑" panose="020B0503020204020204" pitchFamily="34" charset="-122"/>
                <a:ea typeface="微软雅黑" panose="020B0503020204020204" pitchFamily="34" charset="-122"/>
              </a:rPr>
              <a:t>不同</a:t>
            </a:r>
            <a:r>
              <a:rPr lang="en-US" altLang="zh-CN" sz="1600" dirty="0">
                <a:solidFill>
                  <a:srgbClr val="C00000"/>
                </a:solidFill>
                <a:latin typeface="微软雅黑" panose="020B0503020204020204" pitchFamily="34" charset="-122"/>
                <a:ea typeface="微软雅黑" panose="020B0503020204020204" pitchFamily="34" charset="-122"/>
              </a:rPr>
              <a:t>VLAN</a:t>
            </a:r>
            <a:r>
              <a:rPr lang="zh-CN" altLang="en-US" sz="1600" dirty="0">
                <a:solidFill>
                  <a:srgbClr val="C00000"/>
                </a:solidFill>
                <a:latin typeface="微软雅黑" panose="020B0503020204020204" pitchFamily="34" charset="-122"/>
                <a:ea typeface="微软雅黑" panose="020B0503020204020204" pitchFamily="34" charset="-122"/>
              </a:rPr>
              <a:t>，交换机已知目标主机</a:t>
            </a:r>
            <a:r>
              <a:rPr lang="en-US" altLang="zh-CN" sz="1600" dirty="0">
                <a:solidFill>
                  <a:srgbClr val="C00000"/>
                </a:solidFill>
                <a:latin typeface="微软雅黑" panose="020B0503020204020204" pitchFamily="34" charset="-122"/>
                <a:ea typeface="微软雅黑" panose="020B0503020204020204" pitchFamily="34" charset="-122"/>
              </a:rPr>
              <a:t>MAC</a:t>
            </a:r>
            <a:r>
              <a:rPr lang="zh-CN" altLang="en-US" sz="1600" dirty="0">
                <a:solidFill>
                  <a:srgbClr val="C00000"/>
                </a:solidFill>
                <a:latin typeface="微软雅黑" panose="020B0503020204020204" pitchFamily="34" charset="-122"/>
                <a:ea typeface="微软雅黑" panose="020B0503020204020204" pitchFamily="34" charset="-122"/>
              </a:rPr>
              <a:t>地址</a:t>
            </a:r>
            <a:endParaRPr lang="en-US" altLang="zh-CN" sz="1600" dirty="0">
              <a:solidFill>
                <a:srgbClr val="C00000"/>
              </a:solidFill>
              <a:latin typeface="微软雅黑" panose="020B0503020204020204" pitchFamily="34" charset="-122"/>
              <a:ea typeface="微软雅黑" panose="020B0503020204020204" pitchFamily="34" charset="-122"/>
            </a:endParaRPr>
          </a:p>
          <a:p>
            <a:r>
              <a:rPr lang="en-US" altLang="zh-CN" sz="1600" dirty="0">
                <a:solidFill>
                  <a:srgbClr val="C00000"/>
                </a:solidFill>
                <a:latin typeface="微软雅黑" panose="020B0503020204020204" pitchFamily="34" charset="-122"/>
                <a:ea typeface="微软雅黑" panose="020B0503020204020204" pitchFamily="34" charset="-122"/>
              </a:rPr>
              <a:t>PS</a:t>
            </a:r>
            <a:r>
              <a:rPr lang="zh-CN" altLang="en-US" sz="1600" dirty="0">
                <a:solidFill>
                  <a:srgbClr val="C00000"/>
                </a:solidFill>
                <a:latin typeface="微软雅黑" panose="020B0503020204020204" pitchFamily="34" charset="-122"/>
                <a:ea typeface="微软雅黑" panose="020B0503020204020204" pitchFamily="34" charset="-122"/>
              </a:rPr>
              <a:t>：绿色为</a:t>
            </a:r>
            <a:r>
              <a:rPr lang="en-US" altLang="zh-CN" sz="1600" dirty="0">
                <a:solidFill>
                  <a:srgbClr val="C00000"/>
                </a:solidFill>
                <a:latin typeface="微软雅黑" panose="020B0503020204020204" pitchFamily="34" charset="-122"/>
                <a:ea typeface="微软雅黑" panose="020B0503020204020204" pitchFamily="34" charset="-122"/>
              </a:rPr>
              <a:t>ARP</a:t>
            </a:r>
            <a:r>
              <a:rPr lang="zh-CN" altLang="en-US" sz="1600" dirty="0">
                <a:solidFill>
                  <a:srgbClr val="C00000"/>
                </a:solidFill>
                <a:latin typeface="微软雅黑" panose="020B0503020204020204" pitchFamily="34" charset="-122"/>
                <a:ea typeface="微软雅黑" panose="020B0503020204020204" pitchFamily="34" charset="-122"/>
              </a:rPr>
              <a:t>报文，蓝色为</a:t>
            </a:r>
            <a:r>
              <a:rPr lang="en-US" altLang="zh-CN" sz="1600" dirty="0">
                <a:solidFill>
                  <a:srgbClr val="C00000"/>
                </a:solidFill>
                <a:latin typeface="微软雅黑" panose="020B0503020204020204" pitchFamily="34" charset="-122"/>
                <a:ea typeface="微软雅黑" panose="020B0503020204020204" pitchFamily="34" charset="-122"/>
              </a:rPr>
              <a:t>IP</a:t>
            </a:r>
            <a:r>
              <a:rPr lang="zh-CN" altLang="en-US" sz="1600" dirty="0">
                <a:solidFill>
                  <a:srgbClr val="C00000"/>
                </a:solidFill>
                <a:latin typeface="微软雅黑" panose="020B0503020204020204" pitchFamily="34" charset="-122"/>
                <a:ea typeface="微软雅黑" panose="020B0503020204020204" pitchFamily="34" charset="-122"/>
              </a:rPr>
              <a:t>报文</a:t>
            </a:r>
          </a:p>
        </p:txBody>
      </p:sp>
      <p:sp>
        <p:nvSpPr>
          <p:cNvPr id="13" name="内容占位符 2">
            <a:extLst>
              <a:ext uri="{FF2B5EF4-FFF2-40B4-BE49-F238E27FC236}">
                <a16:creationId xmlns:a16="http://schemas.microsoft.com/office/drawing/2014/main" id="{4CD3D0A8-A1B4-4F43-BA13-F8EE1B9A8C56}"/>
              </a:ext>
            </a:extLst>
          </p:cNvPr>
          <p:cNvSpPr>
            <a:spLocks noGrp="1"/>
          </p:cNvSpPr>
          <p:nvPr>
            <p:ph idx="1"/>
          </p:nvPr>
        </p:nvSpPr>
        <p:spPr>
          <a:xfrm>
            <a:off x="838199" y="1510758"/>
            <a:ext cx="11132128" cy="1397952"/>
          </a:xfrm>
        </p:spPr>
        <p:txBody>
          <a:bodyPr>
            <a:normAutofit/>
          </a:bodyPr>
          <a:lstStyle/>
          <a:p>
            <a:r>
              <a:rPr lang="zh-CN" altLang="en-US" sz="2400" dirty="0"/>
              <a:t>与路由器相比，三层交换机通过内置的二层交换引擎及其与三层交换引擎之间的高速背板，将</a:t>
            </a:r>
            <a:r>
              <a:rPr lang="en-US" altLang="zh-CN" sz="2400" dirty="0"/>
              <a:t>ARP</a:t>
            </a:r>
            <a:r>
              <a:rPr lang="zh-CN" altLang="en-US" sz="2400" dirty="0"/>
              <a:t>过程简化并隐藏在设备内部</a:t>
            </a:r>
          </a:p>
        </p:txBody>
      </p:sp>
      <p:sp>
        <p:nvSpPr>
          <p:cNvPr id="3" name="日期占位符 2">
            <a:extLst>
              <a:ext uri="{FF2B5EF4-FFF2-40B4-BE49-F238E27FC236}">
                <a16:creationId xmlns:a16="http://schemas.microsoft.com/office/drawing/2014/main" id="{809F9414-10FE-4423-B345-0E7446DBFF18}"/>
              </a:ext>
            </a:extLst>
          </p:cNvPr>
          <p:cNvSpPr>
            <a:spLocks noGrp="1"/>
          </p:cNvSpPr>
          <p:nvPr>
            <p:ph type="dt" sz="half" idx="10"/>
          </p:nvPr>
        </p:nvSpPr>
        <p:spPr/>
        <p:txBody>
          <a:bodyPr/>
          <a:lstStyle/>
          <a:p>
            <a:r>
              <a:rPr kumimoji="1" lang="en-US" altLang="zh-CN" dirty="0"/>
              <a:t>5.10.1 </a:t>
            </a:r>
            <a:r>
              <a:rPr kumimoji="1" lang="zh-CN" altLang="en-US" dirty="0"/>
              <a:t>三层交换</a:t>
            </a:r>
          </a:p>
        </p:txBody>
      </p:sp>
      <p:sp>
        <p:nvSpPr>
          <p:cNvPr id="11" name="椭圆 10">
            <a:extLst>
              <a:ext uri="{FF2B5EF4-FFF2-40B4-BE49-F238E27FC236}">
                <a16:creationId xmlns:a16="http://schemas.microsoft.com/office/drawing/2014/main" id="{DBEE0011-3C83-4536-A22C-7419526C1A0E}"/>
              </a:ext>
            </a:extLst>
          </p:cNvPr>
          <p:cNvSpPr/>
          <p:nvPr/>
        </p:nvSpPr>
        <p:spPr>
          <a:xfrm>
            <a:off x="885490" y="2696839"/>
            <a:ext cx="1622019" cy="1852928"/>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a:extLst>
              <a:ext uri="{FF2B5EF4-FFF2-40B4-BE49-F238E27FC236}">
                <a16:creationId xmlns:a16="http://schemas.microsoft.com/office/drawing/2014/main" id="{7303C261-9ECD-4A59-92FE-FB1F060C0B20}"/>
              </a:ext>
            </a:extLst>
          </p:cNvPr>
          <p:cNvSpPr txBox="1"/>
          <p:nvPr/>
        </p:nvSpPr>
        <p:spPr>
          <a:xfrm>
            <a:off x="864519" y="3741489"/>
            <a:ext cx="751295"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a:t>
            </a:r>
          </a:p>
          <a:p>
            <a:pPr lvl="2" algn="ctr">
              <a:spcBef>
                <a:spcPts val="0"/>
              </a:spcBef>
            </a:pPr>
            <a:r>
              <a:rPr lang="en-US" altLang="zh-CN" sz="1400" dirty="0"/>
              <a:t>100</a:t>
            </a:r>
            <a:endParaRPr lang="zh-CN" altLang="en-US" sz="1400" dirty="0"/>
          </a:p>
        </p:txBody>
      </p:sp>
      <p:sp>
        <p:nvSpPr>
          <p:cNvPr id="16" name="椭圆 15">
            <a:extLst>
              <a:ext uri="{FF2B5EF4-FFF2-40B4-BE49-F238E27FC236}">
                <a16:creationId xmlns:a16="http://schemas.microsoft.com/office/drawing/2014/main" id="{4EB1C080-7BF8-41E0-A971-B626A63E6A45}"/>
              </a:ext>
            </a:extLst>
          </p:cNvPr>
          <p:cNvSpPr/>
          <p:nvPr/>
        </p:nvSpPr>
        <p:spPr>
          <a:xfrm>
            <a:off x="2291377" y="3895619"/>
            <a:ext cx="1784039" cy="1397952"/>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A0725F84-4536-40C2-88F2-48D0875B3A79}"/>
              </a:ext>
            </a:extLst>
          </p:cNvPr>
          <p:cNvSpPr txBox="1"/>
          <p:nvPr/>
        </p:nvSpPr>
        <p:spPr>
          <a:xfrm>
            <a:off x="2615411" y="4938763"/>
            <a:ext cx="1135969" cy="307777"/>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7030A0"/>
                </a:solidFill>
              </a:rPr>
              <a:t>VLAN 200</a:t>
            </a:r>
          </a:p>
        </p:txBody>
      </p:sp>
      <p:sp>
        <p:nvSpPr>
          <p:cNvPr id="19" name="文本框 18">
            <a:extLst>
              <a:ext uri="{FF2B5EF4-FFF2-40B4-BE49-F238E27FC236}">
                <a16:creationId xmlns:a16="http://schemas.microsoft.com/office/drawing/2014/main" id="{25C6CD85-C4B6-4743-8B13-FA062C4CD34D}"/>
              </a:ext>
            </a:extLst>
          </p:cNvPr>
          <p:cNvSpPr txBox="1"/>
          <p:nvPr/>
        </p:nvSpPr>
        <p:spPr>
          <a:xfrm>
            <a:off x="4738238" y="3741489"/>
            <a:ext cx="961777"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a:t>
            </a:r>
          </a:p>
          <a:p>
            <a:pPr lvl="2" algn="ctr">
              <a:spcBef>
                <a:spcPts val="0"/>
              </a:spcBef>
            </a:pPr>
            <a:r>
              <a:rPr lang="en-US" altLang="zh-CN" sz="1400" dirty="0">
                <a:solidFill>
                  <a:srgbClr val="00B0F0"/>
                </a:solidFill>
              </a:rPr>
              <a:t>300</a:t>
            </a:r>
          </a:p>
        </p:txBody>
      </p:sp>
      <p:sp>
        <p:nvSpPr>
          <p:cNvPr id="20" name="椭圆 19">
            <a:extLst>
              <a:ext uri="{FF2B5EF4-FFF2-40B4-BE49-F238E27FC236}">
                <a16:creationId xmlns:a16="http://schemas.microsoft.com/office/drawing/2014/main" id="{C82118FB-FC96-42D9-B150-97EBB803589F}"/>
              </a:ext>
            </a:extLst>
          </p:cNvPr>
          <p:cNvSpPr/>
          <p:nvPr/>
        </p:nvSpPr>
        <p:spPr>
          <a:xfrm>
            <a:off x="4075092" y="2708836"/>
            <a:ext cx="1622019" cy="1852928"/>
          </a:xfrm>
          <a:prstGeom prst="ellipse">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B5689578-D823-4844-8376-A9FD4C0AD100}"/>
              </a:ext>
            </a:extLst>
          </p:cNvPr>
          <p:cNvSpPr/>
          <p:nvPr/>
        </p:nvSpPr>
        <p:spPr>
          <a:xfrm>
            <a:off x="6516405" y="2729662"/>
            <a:ext cx="1622019" cy="1852928"/>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id="{BDFB5E4D-75EA-4059-8298-54996D092562}"/>
              </a:ext>
            </a:extLst>
          </p:cNvPr>
          <p:cNvSpPr txBox="1"/>
          <p:nvPr/>
        </p:nvSpPr>
        <p:spPr>
          <a:xfrm>
            <a:off x="6496286" y="3709680"/>
            <a:ext cx="751295"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a:t>
            </a:r>
          </a:p>
          <a:p>
            <a:pPr lvl="2" algn="ctr">
              <a:spcBef>
                <a:spcPts val="0"/>
              </a:spcBef>
            </a:pPr>
            <a:r>
              <a:rPr lang="en-US" altLang="zh-CN" sz="1400" dirty="0"/>
              <a:t>100</a:t>
            </a:r>
            <a:endParaRPr lang="zh-CN" altLang="en-US" sz="1400" dirty="0"/>
          </a:p>
        </p:txBody>
      </p:sp>
      <p:sp>
        <p:nvSpPr>
          <p:cNvPr id="23" name="椭圆 22">
            <a:extLst>
              <a:ext uri="{FF2B5EF4-FFF2-40B4-BE49-F238E27FC236}">
                <a16:creationId xmlns:a16="http://schemas.microsoft.com/office/drawing/2014/main" id="{AEA6C088-F92A-4815-9D4F-41FC1A67B9DF}"/>
              </a:ext>
            </a:extLst>
          </p:cNvPr>
          <p:cNvSpPr/>
          <p:nvPr/>
        </p:nvSpPr>
        <p:spPr>
          <a:xfrm>
            <a:off x="7933050" y="3917684"/>
            <a:ext cx="1784039" cy="1397952"/>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817F03DA-C297-4569-B21C-E161FC1B2F51}"/>
              </a:ext>
            </a:extLst>
          </p:cNvPr>
          <p:cNvSpPr txBox="1"/>
          <p:nvPr/>
        </p:nvSpPr>
        <p:spPr>
          <a:xfrm>
            <a:off x="8203294" y="4960828"/>
            <a:ext cx="1135969" cy="307777"/>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7030A0"/>
                </a:solidFill>
              </a:rPr>
              <a:t>VLAN 200</a:t>
            </a:r>
          </a:p>
        </p:txBody>
      </p:sp>
      <p:sp>
        <p:nvSpPr>
          <p:cNvPr id="25" name="文本框 24">
            <a:extLst>
              <a:ext uri="{FF2B5EF4-FFF2-40B4-BE49-F238E27FC236}">
                <a16:creationId xmlns:a16="http://schemas.microsoft.com/office/drawing/2014/main" id="{D21A4774-ABEE-4B2A-81EA-45FA1BA455EE}"/>
              </a:ext>
            </a:extLst>
          </p:cNvPr>
          <p:cNvSpPr txBox="1"/>
          <p:nvPr/>
        </p:nvSpPr>
        <p:spPr>
          <a:xfrm>
            <a:off x="10401427" y="3709764"/>
            <a:ext cx="961777"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a:t>
            </a:r>
          </a:p>
          <a:p>
            <a:pPr lvl="2" algn="ctr">
              <a:spcBef>
                <a:spcPts val="0"/>
              </a:spcBef>
            </a:pPr>
            <a:r>
              <a:rPr lang="en-US" altLang="zh-CN" sz="1400" dirty="0">
                <a:solidFill>
                  <a:srgbClr val="00B0F0"/>
                </a:solidFill>
              </a:rPr>
              <a:t>300</a:t>
            </a:r>
          </a:p>
        </p:txBody>
      </p:sp>
      <p:sp>
        <p:nvSpPr>
          <p:cNvPr id="26" name="椭圆 25">
            <a:extLst>
              <a:ext uri="{FF2B5EF4-FFF2-40B4-BE49-F238E27FC236}">
                <a16:creationId xmlns:a16="http://schemas.microsoft.com/office/drawing/2014/main" id="{8CAD224F-1DEC-4245-8BE4-6105C8C658CB}"/>
              </a:ext>
            </a:extLst>
          </p:cNvPr>
          <p:cNvSpPr/>
          <p:nvPr/>
        </p:nvSpPr>
        <p:spPr>
          <a:xfrm>
            <a:off x="9587669" y="2720143"/>
            <a:ext cx="1622019" cy="1852928"/>
          </a:xfrm>
          <a:prstGeom prst="ellipse">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114234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1197" fill="hold"/>
                                        <p:tgtEl>
                                          <p:spTgt spid="10"/>
                                        </p:tgtEl>
                                      </p:cBhvr>
                                    </p:cmd>
                                  </p:childTnLst>
                                </p:cTn>
                              </p:par>
                            </p:childTnLst>
                          </p:cTn>
                        </p:par>
                        <p:par>
                          <p:cTn id="7" fill="hold">
                            <p:stCondLst>
                              <p:cond delay="21197"/>
                            </p:stCondLst>
                            <p:childTnLst>
                              <p:par>
                                <p:cTn id="8" presetID="1" presetClass="mediacall" presetSubtype="0" fill="hold" nodeType="afterEffect">
                                  <p:stCondLst>
                                    <p:cond delay="0"/>
                                  </p:stCondLst>
                                  <p:childTnLst>
                                    <p:cmd type="call" cmd="playFrom(0.0)">
                                      <p:cBhvr>
                                        <p:cTn id="9" dur="10753"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10" fill="hold" display="0">
                  <p:stCondLst>
                    <p:cond delay="indefinite"/>
                  </p:stCondLst>
                </p:cTn>
                <p:tgtEl>
                  <p:spTgt spid="10"/>
                </p:tgtEl>
              </p:cMediaNode>
            </p:video>
            <p:seq concurrent="1" nextAc="seek">
              <p:cTn id="11" restart="whenNotActive" fill="hold" evtFilter="cancelBubble" nodeType="interactiveSeq">
                <p:stCondLst>
                  <p:cond evt="onClick" delay="0">
                    <p:tgtEl>
                      <p:spTgt spid="10"/>
                    </p:tgtEl>
                  </p:cond>
                </p:stCondLst>
                <p:endSync evt="end" delay="0">
                  <p:rtn val="all"/>
                </p:endSync>
                <p:childTnLst>
                  <p:par>
                    <p:cTn id="12" fill="hold">
                      <p:stCondLst>
                        <p:cond delay="0"/>
                      </p:stCondLst>
                      <p:childTnLst>
                        <p:par>
                          <p:cTn id="13" fill="hold">
                            <p:stCondLst>
                              <p:cond delay="0"/>
                            </p:stCondLst>
                            <p:childTnLst>
                              <p:par>
                                <p:cTn id="14" presetID="2" presetClass="mediacall" presetSubtype="0" fill="hold" nodeType="clickEffect">
                                  <p:stCondLst>
                                    <p:cond delay="0"/>
                                  </p:stCondLst>
                                  <p:childTnLst>
                                    <p:cmd type="call" cmd="togglePause">
                                      <p:cBhvr>
                                        <p:cTn id="15" dur="1" fill="hold"/>
                                        <p:tgtEl>
                                          <p:spTgt spid="10"/>
                                        </p:tgtEl>
                                      </p:cBhvr>
                                    </p:cmd>
                                  </p:childTnLst>
                                </p:cTn>
                              </p:par>
                            </p:childTnLst>
                          </p:cTn>
                        </p:par>
                      </p:childTnLst>
                    </p:cTn>
                  </p:par>
                </p:childTnLst>
              </p:cTn>
              <p:nextCondLst>
                <p:cond evt="onClick" delay="0">
                  <p:tgtEl>
                    <p:spTgt spid="10"/>
                  </p:tgtEl>
                </p:cond>
              </p:nextCondLst>
            </p:seq>
            <p:video>
              <p:cMediaNode vol="80000">
                <p:cTn id="16" fill="hold" display="0">
                  <p:stCondLst>
                    <p:cond delay="indefinite"/>
                  </p:stCondLst>
                </p:cTn>
                <p:tgtEl>
                  <p:spTgt spid="9"/>
                </p:tgtEl>
              </p:cMediaNode>
            </p:video>
            <p:seq concurrent="1" nextAc="seek">
              <p:cTn id="17" restart="whenNotActive" fill="hold" evtFilter="cancelBubble" nodeType="interactiveSeq">
                <p:stCondLst>
                  <p:cond evt="onClick" delay="0">
                    <p:tgtEl>
                      <p:spTgt spid="9"/>
                    </p:tgtEl>
                  </p:cond>
                </p:stCondLst>
                <p:endSync evt="end" delay="0">
                  <p:rtn val="all"/>
                </p:endSync>
                <p:childTnLst>
                  <p:par>
                    <p:cTn id="18" fill="hold">
                      <p:stCondLst>
                        <p:cond delay="0"/>
                      </p:stCondLst>
                      <p:childTnLst>
                        <p:par>
                          <p:cTn id="19" fill="hold">
                            <p:stCondLst>
                              <p:cond delay="0"/>
                            </p:stCondLst>
                            <p:childTnLst>
                              <p:par>
                                <p:cTn id="20" presetID="2" presetClass="mediacall" presetSubtype="0" fill="hold" nodeType="clickEffect">
                                  <p:stCondLst>
                                    <p:cond delay="0"/>
                                  </p:stCondLst>
                                  <p:childTnLst>
                                    <p:cmd type="call" cmd="togglePause">
                                      <p:cBhvr>
                                        <p:cTn id="21" dur="1" fill="hold"/>
                                        <p:tgtEl>
                                          <p:spTgt spid="9"/>
                                        </p:tgtEl>
                                      </p:cBhvr>
                                    </p:cmd>
                                  </p:childTnLst>
                                </p:cTn>
                              </p:par>
                            </p:childTnLst>
                          </p:cTn>
                        </p:par>
                      </p:childTnLst>
                    </p:cTn>
                  </p:par>
                </p:childTnLst>
              </p:cTn>
              <p:nextCondLst>
                <p:cond evt="onClick" delay="0">
                  <p:tgtEl>
                    <p:spTgt spid="9"/>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id="{67D7DA4E-A8FD-49DF-BE81-A404679CF526}"/>
              </a:ext>
            </a:extLst>
          </p:cNvPr>
          <p:cNvSpPr>
            <a:spLocks noGrp="1"/>
          </p:cNvSpPr>
          <p:nvPr>
            <p:ph idx="1"/>
          </p:nvPr>
        </p:nvSpPr>
        <p:spPr/>
        <p:txBody>
          <a:bodyPr>
            <a:normAutofit/>
          </a:bodyPr>
          <a:lstStyle/>
          <a:p>
            <a:r>
              <a:rPr lang="zh-CN" altLang="en-US" dirty="0"/>
              <a:t>流交换方式可以完成一次路由多次转发，使通信更高效</a:t>
            </a:r>
            <a:endParaRPr lang="en-US" altLang="zh-CN" dirty="0"/>
          </a:p>
          <a:p>
            <a:pPr marL="323850" lvl="1" indent="39688">
              <a:buNone/>
            </a:pPr>
            <a:r>
              <a:rPr lang="zh-CN" altLang="en-US" dirty="0"/>
              <a:t>对于一组具有相同源地址和目的地址的报文流中第一个报文完成选路，其后续报文可以不在实施路由选路操作</a:t>
            </a:r>
            <a:endParaRPr lang="en-US" altLang="zh-CN" dirty="0"/>
          </a:p>
        </p:txBody>
      </p:sp>
      <p:sp>
        <p:nvSpPr>
          <p:cNvPr id="4" name="灯片编号占位符 3">
            <a:extLst>
              <a:ext uri="{FF2B5EF4-FFF2-40B4-BE49-F238E27FC236}">
                <a16:creationId xmlns:a16="http://schemas.microsoft.com/office/drawing/2014/main" id="{9B28EAB0-1ED7-4283-BB75-48F0E3613D1A}"/>
              </a:ext>
            </a:extLst>
          </p:cNvPr>
          <p:cNvSpPr>
            <a:spLocks noGrp="1"/>
          </p:cNvSpPr>
          <p:nvPr>
            <p:ph type="sldNum" sz="quarter" idx="12"/>
          </p:nvPr>
        </p:nvSpPr>
        <p:spPr/>
        <p:txBody>
          <a:bodyPr/>
          <a:lstStyle/>
          <a:p>
            <a:fld id="{8D4D1E41-7A09-AB4A-A4E1-09765ADA2698}" type="slidenum">
              <a:rPr kumimoji="1" lang="zh-CN" altLang="en-US" smtClean="0"/>
              <a:t>247</a:t>
            </a:fld>
            <a:endParaRPr kumimoji="1" lang="zh-CN" altLang="en-US" dirty="0"/>
          </a:p>
        </p:txBody>
      </p:sp>
      <p:pic>
        <p:nvPicPr>
          <p:cNvPr id="45" name="Picture 35" descr="Terminal">
            <a:extLst>
              <a:ext uri="{FF2B5EF4-FFF2-40B4-BE49-F238E27FC236}">
                <a16:creationId xmlns:a16="http://schemas.microsoft.com/office/drawing/2014/main" id="{67E9ED70-EEE0-40E4-8793-03F5E2CBAC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2991" y="3746081"/>
            <a:ext cx="930275" cy="98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35" descr="Terminal">
            <a:extLst>
              <a:ext uri="{FF2B5EF4-FFF2-40B4-BE49-F238E27FC236}">
                <a16:creationId xmlns:a16="http://schemas.microsoft.com/office/drawing/2014/main" id="{AE72E419-7F78-4CE5-BFA8-158208AFBC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45368" y="3872895"/>
            <a:ext cx="930275" cy="98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 name="表格 6">
            <a:extLst>
              <a:ext uri="{FF2B5EF4-FFF2-40B4-BE49-F238E27FC236}">
                <a16:creationId xmlns:a16="http://schemas.microsoft.com/office/drawing/2014/main" id="{4864CACD-29D7-44C8-95AB-C58A4534A4CB}"/>
              </a:ext>
            </a:extLst>
          </p:cNvPr>
          <p:cNvGraphicFramePr>
            <a:graphicFrameLocks noGrp="1"/>
          </p:cNvGraphicFramePr>
          <p:nvPr/>
        </p:nvGraphicFramePr>
        <p:xfrm>
          <a:off x="4006748" y="3087832"/>
          <a:ext cx="4267457" cy="1112520"/>
        </p:xfrm>
        <a:graphic>
          <a:graphicData uri="http://schemas.openxmlformats.org/drawingml/2006/table">
            <a:tbl>
              <a:tblPr firstRow="1" bandRow="1">
                <a:tableStyleId>{08FB837D-C827-4EFA-A057-4D05807E0F7C}</a:tableStyleId>
              </a:tblPr>
              <a:tblGrid>
                <a:gridCol w="655282">
                  <a:extLst>
                    <a:ext uri="{9D8B030D-6E8A-4147-A177-3AD203B41FA5}">
                      <a16:colId xmlns:a16="http://schemas.microsoft.com/office/drawing/2014/main" val="3519558007"/>
                    </a:ext>
                  </a:extLst>
                </a:gridCol>
                <a:gridCol w="574492">
                  <a:extLst>
                    <a:ext uri="{9D8B030D-6E8A-4147-A177-3AD203B41FA5}">
                      <a16:colId xmlns:a16="http://schemas.microsoft.com/office/drawing/2014/main" val="1870385322"/>
                    </a:ext>
                  </a:extLst>
                </a:gridCol>
                <a:gridCol w="615016">
                  <a:extLst>
                    <a:ext uri="{9D8B030D-6E8A-4147-A177-3AD203B41FA5}">
                      <a16:colId xmlns:a16="http://schemas.microsoft.com/office/drawing/2014/main" val="1008594894"/>
                    </a:ext>
                  </a:extLst>
                </a:gridCol>
                <a:gridCol w="616169">
                  <a:extLst>
                    <a:ext uri="{9D8B030D-6E8A-4147-A177-3AD203B41FA5}">
                      <a16:colId xmlns:a16="http://schemas.microsoft.com/office/drawing/2014/main" val="1491490126"/>
                    </a:ext>
                  </a:extLst>
                </a:gridCol>
                <a:gridCol w="624469">
                  <a:extLst>
                    <a:ext uri="{9D8B030D-6E8A-4147-A177-3AD203B41FA5}">
                      <a16:colId xmlns:a16="http://schemas.microsoft.com/office/drawing/2014/main" val="1113976640"/>
                    </a:ext>
                  </a:extLst>
                </a:gridCol>
                <a:gridCol w="579863">
                  <a:extLst>
                    <a:ext uri="{9D8B030D-6E8A-4147-A177-3AD203B41FA5}">
                      <a16:colId xmlns:a16="http://schemas.microsoft.com/office/drawing/2014/main" val="2389884492"/>
                    </a:ext>
                  </a:extLst>
                </a:gridCol>
                <a:gridCol w="602166">
                  <a:extLst>
                    <a:ext uri="{9D8B030D-6E8A-4147-A177-3AD203B41FA5}">
                      <a16:colId xmlns:a16="http://schemas.microsoft.com/office/drawing/2014/main" val="138240509"/>
                    </a:ext>
                  </a:extLst>
                </a:gridCol>
              </a:tblGrid>
              <a:tr h="370840">
                <a:tc>
                  <a:txBody>
                    <a:bodyPr/>
                    <a:lstStyle/>
                    <a:p>
                      <a:endParaRPr lang="zh-CN" altLang="en-US" dirty="0"/>
                    </a:p>
                  </a:txBody>
                  <a:tcPr>
                    <a:lnL w="6350" cap="flat" cmpd="sng" algn="ctr">
                      <a:noFill/>
                      <a:prstDash val="solid"/>
                      <a:miter lim="800000"/>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tc>
                  <a:txBody>
                    <a:bodyPr/>
                    <a:lstStyle/>
                    <a:p>
                      <a:endParaRPr lang="zh-CN" altLang="en-US" dirty="0"/>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a:noFill/>
                    </a:lnL>
                    <a:lnR w="6350" cap="flat" cmpd="sng" algn="ctr">
                      <a:noFill/>
                      <a:prstDash val="solid"/>
                      <a:miter lim="800000"/>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493378751"/>
                  </a:ext>
                </a:extLst>
              </a:tr>
              <a:tr h="370840">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extLst>
                  <a:ext uri="{0D108BD9-81ED-4DB2-BD59-A6C34878D82A}">
                    <a16:rowId xmlns:a16="http://schemas.microsoft.com/office/drawing/2014/main" val="2562077575"/>
                  </a:ext>
                </a:extLst>
              </a:tr>
              <a:tr h="370840">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extLst>
                  <a:ext uri="{0D108BD9-81ED-4DB2-BD59-A6C34878D82A}">
                    <a16:rowId xmlns:a16="http://schemas.microsoft.com/office/drawing/2014/main" val="2502511622"/>
                  </a:ext>
                </a:extLst>
              </a:tr>
            </a:tbl>
          </a:graphicData>
        </a:graphic>
      </p:graphicFrame>
      <p:cxnSp>
        <p:nvCxnSpPr>
          <p:cNvPr id="29" name="直接连接符 28">
            <a:extLst>
              <a:ext uri="{FF2B5EF4-FFF2-40B4-BE49-F238E27FC236}">
                <a16:creationId xmlns:a16="http://schemas.microsoft.com/office/drawing/2014/main" id="{6C9E141F-50BC-461C-8C22-9567577132CF}"/>
              </a:ext>
            </a:extLst>
          </p:cNvPr>
          <p:cNvCxnSpPr/>
          <p:nvPr/>
        </p:nvCxnSpPr>
        <p:spPr>
          <a:xfrm>
            <a:off x="3256156" y="4438183"/>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47" name="直接连接符 46">
            <a:extLst>
              <a:ext uri="{FF2B5EF4-FFF2-40B4-BE49-F238E27FC236}">
                <a16:creationId xmlns:a16="http://schemas.microsoft.com/office/drawing/2014/main" id="{0574AB99-35D8-4C53-B5B1-12DE6610A47A}"/>
              </a:ext>
            </a:extLst>
          </p:cNvPr>
          <p:cNvCxnSpPr>
            <a:cxnSpLocks/>
          </p:cNvCxnSpPr>
          <p:nvPr/>
        </p:nvCxnSpPr>
        <p:spPr>
          <a:xfrm flipV="1">
            <a:off x="4137103" y="3267305"/>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48" name="直接连接符 47">
            <a:extLst>
              <a:ext uri="{FF2B5EF4-FFF2-40B4-BE49-F238E27FC236}">
                <a16:creationId xmlns:a16="http://schemas.microsoft.com/office/drawing/2014/main" id="{579BCD88-B540-4340-B2F6-56BF297F6228}"/>
              </a:ext>
            </a:extLst>
          </p:cNvPr>
          <p:cNvCxnSpPr>
            <a:cxnSpLocks/>
          </p:cNvCxnSpPr>
          <p:nvPr/>
        </p:nvCxnSpPr>
        <p:spPr>
          <a:xfrm>
            <a:off x="4137103" y="3277020"/>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52" name="直接连接符 51">
            <a:extLst>
              <a:ext uri="{FF2B5EF4-FFF2-40B4-BE49-F238E27FC236}">
                <a16:creationId xmlns:a16="http://schemas.microsoft.com/office/drawing/2014/main" id="{D562E8CD-A99A-4F99-B689-12D757624F84}"/>
              </a:ext>
            </a:extLst>
          </p:cNvPr>
          <p:cNvCxnSpPr>
            <a:cxnSpLocks/>
          </p:cNvCxnSpPr>
          <p:nvPr/>
        </p:nvCxnSpPr>
        <p:spPr>
          <a:xfrm flipV="1">
            <a:off x="4490225" y="3277020"/>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53" name="直接连接符 52">
            <a:extLst>
              <a:ext uri="{FF2B5EF4-FFF2-40B4-BE49-F238E27FC236}">
                <a16:creationId xmlns:a16="http://schemas.microsoft.com/office/drawing/2014/main" id="{D1960C05-9D79-4132-94F6-C974E4EB1DBB}"/>
              </a:ext>
            </a:extLst>
          </p:cNvPr>
          <p:cNvCxnSpPr/>
          <p:nvPr/>
        </p:nvCxnSpPr>
        <p:spPr>
          <a:xfrm>
            <a:off x="4490225" y="4453896"/>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66" name="直接连接符 65">
            <a:extLst>
              <a:ext uri="{FF2B5EF4-FFF2-40B4-BE49-F238E27FC236}">
                <a16:creationId xmlns:a16="http://schemas.microsoft.com/office/drawing/2014/main" id="{357BE08B-0A62-4060-B8FA-0A3C3EF6D6C4}"/>
              </a:ext>
            </a:extLst>
          </p:cNvPr>
          <p:cNvCxnSpPr>
            <a:cxnSpLocks/>
          </p:cNvCxnSpPr>
          <p:nvPr/>
        </p:nvCxnSpPr>
        <p:spPr>
          <a:xfrm flipV="1">
            <a:off x="5382323" y="3274742"/>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67" name="直接连接符 66">
            <a:extLst>
              <a:ext uri="{FF2B5EF4-FFF2-40B4-BE49-F238E27FC236}">
                <a16:creationId xmlns:a16="http://schemas.microsoft.com/office/drawing/2014/main" id="{FB42705E-2000-4266-B05B-003F200B7941}"/>
              </a:ext>
            </a:extLst>
          </p:cNvPr>
          <p:cNvCxnSpPr>
            <a:cxnSpLocks/>
          </p:cNvCxnSpPr>
          <p:nvPr/>
        </p:nvCxnSpPr>
        <p:spPr>
          <a:xfrm>
            <a:off x="5382323" y="3284457"/>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68" name="直接连接符 67">
            <a:extLst>
              <a:ext uri="{FF2B5EF4-FFF2-40B4-BE49-F238E27FC236}">
                <a16:creationId xmlns:a16="http://schemas.microsoft.com/office/drawing/2014/main" id="{BE24A496-3932-43E7-BD56-3666CCDE45C2}"/>
              </a:ext>
            </a:extLst>
          </p:cNvPr>
          <p:cNvCxnSpPr>
            <a:cxnSpLocks/>
          </p:cNvCxnSpPr>
          <p:nvPr/>
        </p:nvCxnSpPr>
        <p:spPr>
          <a:xfrm flipV="1">
            <a:off x="5735445" y="3284457"/>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69" name="直接连接符 68">
            <a:extLst>
              <a:ext uri="{FF2B5EF4-FFF2-40B4-BE49-F238E27FC236}">
                <a16:creationId xmlns:a16="http://schemas.microsoft.com/office/drawing/2014/main" id="{EFEE0392-B61F-4BAC-9649-D78576396A18}"/>
              </a:ext>
            </a:extLst>
          </p:cNvPr>
          <p:cNvCxnSpPr/>
          <p:nvPr/>
        </p:nvCxnSpPr>
        <p:spPr>
          <a:xfrm>
            <a:off x="5735445" y="4461333"/>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0" name="直接连接符 69">
            <a:extLst>
              <a:ext uri="{FF2B5EF4-FFF2-40B4-BE49-F238E27FC236}">
                <a16:creationId xmlns:a16="http://schemas.microsoft.com/office/drawing/2014/main" id="{CD3C4E81-95D2-4A85-AB5C-086F42DEE6D0}"/>
              </a:ext>
            </a:extLst>
          </p:cNvPr>
          <p:cNvCxnSpPr>
            <a:cxnSpLocks/>
          </p:cNvCxnSpPr>
          <p:nvPr/>
        </p:nvCxnSpPr>
        <p:spPr>
          <a:xfrm flipV="1">
            <a:off x="6608953" y="3285893"/>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71" name="直接连接符 70">
            <a:extLst>
              <a:ext uri="{FF2B5EF4-FFF2-40B4-BE49-F238E27FC236}">
                <a16:creationId xmlns:a16="http://schemas.microsoft.com/office/drawing/2014/main" id="{548E1A75-1AF4-49BC-842C-C1F9C7DAE47B}"/>
              </a:ext>
            </a:extLst>
          </p:cNvPr>
          <p:cNvCxnSpPr>
            <a:cxnSpLocks/>
          </p:cNvCxnSpPr>
          <p:nvPr/>
        </p:nvCxnSpPr>
        <p:spPr>
          <a:xfrm>
            <a:off x="6608953" y="3295608"/>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2" name="直接连接符 71">
            <a:extLst>
              <a:ext uri="{FF2B5EF4-FFF2-40B4-BE49-F238E27FC236}">
                <a16:creationId xmlns:a16="http://schemas.microsoft.com/office/drawing/2014/main" id="{75C797ED-F9F6-4FEB-8C48-F2BE7805EBDB}"/>
              </a:ext>
            </a:extLst>
          </p:cNvPr>
          <p:cNvCxnSpPr>
            <a:cxnSpLocks/>
          </p:cNvCxnSpPr>
          <p:nvPr/>
        </p:nvCxnSpPr>
        <p:spPr>
          <a:xfrm flipV="1">
            <a:off x="6962075" y="3295608"/>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73" name="直接连接符 72">
            <a:extLst>
              <a:ext uri="{FF2B5EF4-FFF2-40B4-BE49-F238E27FC236}">
                <a16:creationId xmlns:a16="http://schemas.microsoft.com/office/drawing/2014/main" id="{B983816A-C058-4A3F-BA88-E74B3EF3ED7C}"/>
              </a:ext>
            </a:extLst>
          </p:cNvPr>
          <p:cNvCxnSpPr/>
          <p:nvPr/>
        </p:nvCxnSpPr>
        <p:spPr>
          <a:xfrm>
            <a:off x="6962075" y="4472484"/>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4" name="直接连接符 73">
            <a:extLst>
              <a:ext uri="{FF2B5EF4-FFF2-40B4-BE49-F238E27FC236}">
                <a16:creationId xmlns:a16="http://schemas.microsoft.com/office/drawing/2014/main" id="{E68AF71F-7644-4BD1-B472-E7D566DEA299}"/>
              </a:ext>
            </a:extLst>
          </p:cNvPr>
          <p:cNvCxnSpPr>
            <a:cxnSpLocks/>
          </p:cNvCxnSpPr>
          <p:nvPr/>
        </p:nvCxnSpPr>
        <p:spPr>
          <a:xfrm flipV="1">
            <a:off x="7824434" y="3297044"/>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75" name="直接连接符 74">
            <a:extLst>
              <a:ext uri="{FF2B5EF4-FFF2-40B4-BE49-F238E27FC236}">
                <a16:creationId xmlns:a16="http://schemas.microsoft.com/office/drawing/2014/main" id="{CA2674DD-FF9D-4516-AAE6-23CBEDC564D3}"/>
              </a:ext>
            </a:extLst>
          </p:cNvPr>
          <p:cNvCxnSpPr>
            <a:cxnSpLocks/>
          </p:cNvCxnSpPr>
          <p:nvPr/>
        </p:nvCxnSpPr>
        <p:spPr>
          <a:xfrm>
            <a:off x="7824434" y="3306759"/>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6" name="直接连接符 75">
            <a:extLst>
              <a:ext uri="{FF2B5EF4-FFF2-40B4-BE49-F238E27FC236}">
                <a16:creationId xmlns:a16="http://schemas.microsoft.com/office/drawing/2014/main" id="{984D2B49-46D9-4AC1-91B0-95988D0C258B}"/>
              </a:ext>
            </a:extLst>
          </p:cNvPr>
          <p:cNvCxnSpPr>
            <a:cxnSpLocks/>
          </p:cNvCxnSpPr>
          <p:nvPr/>
        </p:nvCxnSpPr>
        <p:spPr>
          <a:xfrm flipV="1">
            <a:off x="8177556" y="3306759"/>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77" name="直接连接符 76">
            <a:extLst>
              <a:ext uri="{FF2B5EF4-FFF2-40B4-BE49-F238E27FC236}">
                <a16:creationId xmlns:a16="http://schemas.microsoft.com/office/drawing/2014/main" id="{DA4CA79E-D054-4D32-82A4-736980F94DFA}"/>
              </a:ext>
            </a:extLst>
          </p:cNvPr>
          <p:cNvCxnSpPr/>
          <p:nvPr/>
        </p:nvCxnSpPr>
        <p:spPr>
          <a:xfrm>
            <a:off x="8177556" y="4483635"/>
            <a:ext cx="880947" cy="0"/>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79" name="直接连接符 78">
            <a:extLst>
              <a:ext uri="{FF2B5EF4-FFF2-40B4-BE49-F238E27FC236}">
                <a16:creationId xmlns:a16="http://schemas.microsoft.com/office/drawing/2014/main" id="{4119031B-AF2B-4744-B67D-D2ADFCE41E0A}"/>
              </a:ext>
            </a:extLst>
          </p:cNvPr>
          <p:cNvCxnSpPr/>
          <p:nvPr/>
        </p:nvCxnSpPr>
        <p:spPr>
          <a:xfrm>
            <a:off x="3252441" y="4542303"/>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0" name="直接连接符 79">
            <a:extLst>
              <a:ext uri="{FF2B5EF4-FFF2-40B4-BE49-F238E27FC236}">
                <a16:creationId xmlns:a16="http://schemas.microsoft.com/office/drawing/2014/main" id="{B823CE3C-D549-4283-BD99-533C75F42072}"/>
              </a:ext>
            </a:extLst>
          </p:cNvPr>
          <p:cNvCxnSpPr>
            <a:cxnSpLocks/>
          </p:cNvCxnSpPr>
          <p:nvPr/>
        </p:nvCxnSpPr>
        <p:spPr>
          <a:xfrm flipV="1">
            <a:off x="4133388" y="3682808"/>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81" name="直接连接符 80">
            <a:extLst>
              <a:ext uri="{FF2B5EF4-FFF2-40B4-BE49-F238E27FC236}">
                <a16:creationId xmlns:a16="http://schemas.microsoft.com/office/drawing/2014/main" id="{AB9CA9CA-241B-46A2-B1C5-954613B766A8}"/>
              </a:ext>
            </a:extLst>
          </p:cNvPr>
          <p:cNvCxnSpPr>
            <a:cxnSpLocks/>
          </p:cNvCxnSpPr>
          <p:nvPr/>
        </p:nvCxnSpPr>
        <p:spPr>
          <a:xfrm>
            <a:off x="4133388" y="3681372"/>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2" name="直接连接符 81">
            <a:extLst>
              <a:ext uri="{FF2B5EF4-FFF2-40B4-BE49-F238E27FC236}">
                <a16:creationId xmlns:a16="http://schemas.microsoft.com/office/drawing/2014/main" id="{96C2CA64-6BD8-4A81-A179-4CBA70449B73}"/>
              </a:ext>
            </a:extLst>
          </p:cNvPr>
          <p:cNvCxnSpPr>
            <a:cxnSpLocks/>
          </p:cNvCxnSpPr>
          <p:nvPr/>
        </p:nvCxnSpPr>
        <p:spPr>
          <a:xfrm flipV="1">
            <a:off x="4486510" y="3692523"/>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83" name="直接连接符 82">
            <a:extLst>
              <a:ext uri="{FF2B5EF4-FFF2-40B4-BE49-F238E27FC236}">
                <a16:creationId xmlns:a16="http://schemas.microsoft.com/office/drawing/2014/main" id="{1CBF7BC5-91E1-44B7-B7CB-E82C1902FB96}"/>
              </a:ext>
            </a:extLst>
          </p:cNvPr>
          <p:cNvCxnSpPr/>
          <p:nvPr/>
        </p:nvCxnSpPr>
        <p:spPr>
          <a:xfrm>
            <a:off x="4486510" y="4558016"/>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4" name="直接连接符 83">
            <a:extLst>
              <a:ext uri="{FF2B5EF4-FFF2-40B4-BE49-F238E27FC236}">
                <a16:creationId xmlns:a16="http://schemas.microsoft.com/office/drawing/2014/main" id="{1B0D5757-A4EC-4E8C-BB58-8B9A01B59FC5}"/>
              </a:ext>
            </a:extLst>
          </p:cNvPr>
          <p:cNvCxnSpPr>
            <a:cxnSpLocks/>
          </p:cNvCxnSpPr>
          <p:nvPr/>
        </p:nvCxnSpPr>
        <p:spPr>
          <a:xfrm flipV="1">
            <a:off x="5378608" y="3690245"/>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85" name="直接连接符 84">
            <a:extLst>
              <a:ext uri="{FF2B5EF4-FFF2-40B4-BE49-F238E27FC236}">
                <a16:creationId xmlns:a16="http://schemas.microsoft.com/office/drawing/2014/main" id="{CB4B8215-1FAE-4968-AA6A-AE15B8BA5EC3}"/>
              </a:ext>
            </a:extLst>
          </p:cNvPr>
          <p:cNvCxnSpPr>
            <a:cxnSpLocks/>
          </p:cNvCxnSpPr>
          <p:nvPr/>
        </p:nvCxnSpPr>
        <p:spPr>
          <a:xfrm>
            <a:off x="5378608" y="3672504"/>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6" name="直接连接符 85">
            <a:extLst>
              <a:ext uri="{FF2B5EF4-FFF2-40B4-BE49-F238E27FC236}">
                <a16:creationId xmlns:a16="http://schemas.microsoft.com/office/drawing/2014/main" id="{3EAB4EBF-DACB-42F1-8F8F-C91DB39C3189}"/>
              </a:ext>
            </a:extLst>
          </p:cNvPr>
          <p:cNvCxnSpPr>
            <a:cxnSpLocks/>
          </p:cNvCxnSpPr>
          <p:nvPr/>
        </p:nvCxnSpPr>
        <p:spPr>
          <a:xfrm flipV="1">
            <a:off x="5731730" y="3699960"/>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87" name="直接连接符 86">
            <a:extLst>
              <a:ext uri="{FF2B5EF4-FFF2-40B4-BE49-F238E27FC236}">
                <a16:creationId xmlns:a16="http://schemas.microsoft.com/office/drawing/2014/main" id="{FD828243-0C42-4B41-B8D3-09FD657F9533}"/>
              </a:ext>
            </a:extLst>
          </p:cNvPr>
          <p:cNvCxnSpPr/>
          <p:nvPr/>
        </p:nvCxnSpPr>
        <p:spPr>
          <a:xfrm>
            <a:off x="5731730" y="4565453"/>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8" name="直接连接符 87">
            <a:extLst>
              <a:ext uri="{FF2B5EF4-FFF2-40B4-BE49-F238E27FC236}">
                <a16:creationId xmlns:a16="http://schemas.microsoft.com/office/drawing/2014/main" id="{CE751644-76BD-4C08-B450-EB61A3B79114}"/>
              </a:ext>
            </a:extLst>
          </p:cNvPr>
          <p:cNvCxnSpPr>
            <a:cxnSpLocks/>
          </p:cNvCxnSpPr>
          <p:nvPr/>
        </p:nvCxnSpPr>
        <p:spPr>
          <a:xfrm flipV="1">
            <a:off x="6605238" y="3701396"/>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89" name="直接连接符 88">
            <a:extLst>
              <a:ext uri="{FF2B5EF4-FFF2-40B4-BE49-F238E27FC236}">
                <a16:creationId xmlns:a16="http://schemas.microsoft.com/office/drawing/2014/main" id="{28F36C43-9807-4A66-B1A7-0E0540FD8358}"/>
              </a:ext>
            </a:extLst>
          </p:cNvPr>
          <p:cNvCxnSpPr>
            <a:cxnSpLocks/>
          </p:cNvCxnSpPr>
          <p:nvPr/>
        </p:nvCxnSpPr>
        <p:spPr>
          <a:xfrm>
            <a:off x="6616392" y="3681372"/>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90" name="直接连接符 89">
            <a:extLst>
              <a:ext uri="{FF2B5EF4-FFF2-40B4-BE49-F238E27FC236}">
                <a16:creationId xmlns:a16="http://schemas.microsoft.com/office/drawing/2014/main" id="{A858FFE4-3E56-40F3-A92D-48356AC5F2C4}"/>
              </a:ext>
            </a:extLst>
          </p:cNvPr>
          <p:cNvCxnSpPr>
            <a:cxnSpLocks/>
          </p:cNvCxnSpPr>
          <p:nvPr/>
        </p:nvCxnSpPr>
        <p:spPr>
          <a:xfrm flipV="1">
            <a:off x="6958360" y="3711111"/>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91" name="直接连接符 90">
            <a:extLst>
              <a:ext uri="{FF2B5EF4-FFF2-40B4-BE49-F238E27FC236}">
                <a16:creationId xmlns:a16="http://schemas.microsoft.com/office/drawing/2014/main" id="{062DE26E-38F8-4D8B-8264-7F1F9D715684}"/>
              </a:ext>
            </a:extLst>
          </p:cNvPr>
          <p:cNvCxnSpPr/>
          <p:nvPr/>
        </p:nvCxnSpPr>
        <p:spPr>
          <a:xfrm>
            <a:off x="6958360" y="4576604"/>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92" name="直接连接符 91">
            <a:extLst>
              <a:ext uri="{FF2B5EF4-FFF2-40B4-BE49-F238E27FC236}">
                <a16:creationId xmlns:a16="http://schemas.microsoft.com/office/drawing/2014/main" id="{A41320DB-E3C4-4D91-9098-D95F8B43C820}"/>
              </a:ext>
            </a:extLst>
          </p:cNvPr>
          <p:cNvCxnSpPr>
            <a:cxnSpLocks/>
          </p:cNvCxnSpPr>
          <p:nvPr/>
        </p:nvCxnSpPr>
        <p:spPr>
          <a:xfrm flipV="1">
            <a:off x="7820719" y="3712547"/>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93" name="直接连接符 92">
            <a:extLst>
              <a:ext uri="{FF2B5EF4-FFF2-40B4-BE49-F238E27FC236}">
                <a16:creationId xmlns:a16="http://schemas.microsoft.com/office/drawing/2014/main" id="{758BEBA4-0AF1-4919-A6B6-1F91B4FD7544}"/>
              </a:ext>
            </a:extLst>
          </p:cNvPr>
          <p:cNvCxnSpPr>
            <a:cxnSpLocks/>
          </p:cNvCxnSpPr>
          <p:nvPr/>
        </p:nvCxnSpPr>
        <p:spPr>
          <a:xfrm>
            <a:off x="7824434" y="3722262"/>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94" name="直接连接符 93">
            <a:extLst>
              <a:ext uri="{FF2B5EF4-FFF2-40B4-BE49-F238E27FC236}">
                <a16:creationId xmlns:a16="http://schemas.microsoft.com/office/drawing/2014/main" id="{9F95FD3B-2269-435A-8BED-E679DB7D2A8A}"/>
              </a:ext>
            </a:extLst>
          </p:cNvPr>
          <p:cNvCxnSpPr>
            <a:cxnSpLocks/>
          </p:cNvCxnSpPr>
          <p:nvPr/>
        </p:nvCxnSpPr>
        <p:spPr>
          <a:xfrm flipV="1">
            <a:off x="8173841" y="3722262"/>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95" name="直接连接符 94">
            <a:extLst>
              <a:ext uri="{FF2B5EF4-FFF2-40B4-BE49-F238E27FC236}">
                <a16:creationId xmlns:a16="http://schemas.microsoft.com/office/drawing/2014/main" id="{122D0779-C39D-46C2-81C5-BA79FF74599D}"/>
              </a:ext>
            </a:extLst>
          </p:cNvPr>
          <p:cNvCxnSpPr/>
          <p:nvPr/>
        </p:nvCxnSpPr>
        <p:spPr>
          <a:xfrm>
            <a:off x="8173841" y="4587755"/>
            <a:ext cx="880947" cy="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105" name="直接连接符 104">
            <a:extLst>
              <a:ext uri="{FF2B5EF4-FFF2-40B4-BE49-F238E27FC236}">
                <a16:creationId xmlns:a16="http://schemas.microsoft.com/office/drawing/2014/main" id="{23A5A995-9419-43A8-8048-6712EA65062E}"/>
              </a:ext>
            </a:extLst>
          </p:cNvPr>
          <p:cNvCxnSpPr/>
          <p:nvPr/>
        </p:nvCxnSpPr>
        <p:spPr>
          <a:xfrm>
            <a:off x="4774680" y="5440538"/>
            <a:ext cx="880947" cy="0"/>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106" name="直接连接符 105">
            <a:extLst>
              <a:ext uri="{FF2B5EF4-FFF2-40B4-BE49-F238E27FC236}">
                <a16:creationId xmlns:a16="http://schemas.microsoft.com/office/drawing/2014/main" id="{88592E4F-1673-4AC3-A5A7-FD6E4F00DBF0}"/>
              </a:ext>
            </a:extLst>
          </p:cNvPr>
          <p:cNvCxnSpPr/>
          <p:nvPr/>
        </p:nvCxnSpPr>
        <p:spPr>
          <a:xfrm>
            <a:off x="4774679" y="5926622"/>
            <a:ext cx="880947" cy="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sp>
        <p:nvSpPr>
          <p:cNvPr id="107" name="文本框 106">
            <a:extLst>
              <a:ext uri="{FF2B5EF4-FFF2-40B4-BE49-F238E27FC236}">
                <a16:creationId xmlns:a16="http://schemas.microsoft.com/office/drawing/2014/main" id="{3266DB95-9577-4BD6-B580-128576F16D60}"/>
              </a:ext>
            </a:extLst>
          </p:cNvPr>
          <p:cNvSpPr txBox="1"/>
          <p:nvPr/>
        </p:nvSpPr>
        <p:spPr>
          <a:xfrm>
            <a:off x="5655627" y="5186862"/>
            <a:ext cx="2954973" cy="961289"/>
          </a:xfrm>
          <a:prstGeom prst="rect">
            <a:avLst/>
          </a:prstGeom>
          <a:noFill/>
        </p:spPr>
        <p:txBody>
          <a:bodyPr wrap="square" rtlCol="0">
            <a:spAutoFit/>
          </a:bodyPr>
          <a:lstStyle/>
          <a:p>
            <a:pPr>
              <a:lnSpc>
                <a:spcPct val="150000"/>
              </a:lnSpc>
            </a:pPr>
            <a:r>
              <a:rPr lang="zh-CN" altLang="en-US" sz="2000" dirty="0">
                <a:solidFill>
                  <a:schemeClr val="accent1">
                    <a:lumMod val="75000"/>
                  </a:schemeClr>
                </a:solidFill>
                <a:latin typeface="微软雅黑" panose="020B0503020204020204" pitchFamily="34" charset="-122"/>
                <a:ea typeface="微软雅黑" panose="020B0503020204020204" pitchFamily="34" charset="-122"/>
              </a:rPr>
              <a:t>流中首个报文</a:t>
            </a:r>
            <a:endParaRPr lang="en-US" altLang="zh-CN" sz="2000" dirty="0">
              <a:solidFill>
                <a:schemeClr val="accent1">
                  <a:lumMod val="75000"/>
                </a:schemeClr>
              </a:solidFill>
              <a:latin typeface="微软雅黑" panose="020B0503020204020204" pitchFamily="34" charset="-122"/>
              <a:ea typeface="微软雅黑" panose="020B0503020204020204" pitchFamily="34" charset="-122"/>
            </a:endParaRPr>
          </a:p>
          <a:p>
            <a:pPr>
              <a:lnSpc>
                <a:spcPct val="150000"/>
              </a:lnSpc>
            </a:pPr>
            <a:r>
              <a:rPr lang="zh-CN" altLang="en-US" sz="2000" dirty="0">
                <a:solidFill>
                  <a:schemeClr val="accent1">
                    <a:lumMod val="75000"/>
                  </a:schemeClr>
                </a:solidFill>
                <a:latin typeface="微软雅黑" panose="020B0503020204020204" pitchFamily="34" charset="-122"/>
                <a:ea typeface="微软雅黑" panose="020B0503020204020204" pitchFamily="34" charset="-122"/>
              </a:rPr>
              <a:t>流中后续报文</a:t>
            </a:r>
            <a:endParaRPr lang="en-US" altLang="zh-CN" sz="2000"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8" name="标题 7">
            <a:extLst>
              <a:ext uri="{FF2B5EF4-FFF2-40B4-BE49-F238E27FC236}">
                <a16:creationId xmlns:a16="http://schemas.microsoft.com/office/drawing/2014/main" id="{3893C1A3-C967-4EFE-83D1-4A9C97B5D0C0}"/>
              </a:ext>
            </a:extLst>
          </p:cNvPr>
          <p:cNvSpPr>
            <a:spLocks noGrp="1"/>
          </p:cNvSpPr>
          <p:nvPr>
            <p:ph type="title"/>
          </p:nvPr>
        </p:nvSpPr>
        <p:spPr/>
        <p:txBody>
          <a:bodyPr/>
          <a:lstStyle/>
          <a:p>
            <a:r>
              <a:rPr kumimoji="1" lang="zh-CN" altLang="en-US" dirty="0"/>
              <a:t>三层交换机与路由器的比较</a:t>
            </a:r>
            <a:endParaRPr lang="zh-CN" altLang="en-US" dirty="0"/>
          </a:p>
        </p:txBody>
      </p:sp>
      <p:sp>
        <p:nvSpPr>
          <p:cNvPr id="2" name="日期占位符 1">
            <a:extLst>
              <a:ext uri="{FF2B5EF4-FFF2-40B4-BE49-F238E27FC236}">
                <a16:creationId xmlns:a16="http://schemas.microsoft.com/office/drawing/2014/main" id="{B4C8B958-349F-4D8D-8DEC-0951AEF43565}"/>
              </a:ext>
            </a:extLst>
          </p:cNvPr>
          <p:cNvSpPr>
            <a:spLocks noGrp="1"/>
          </p:cNvSpPr>
          <p:nvPr>
            <p:ph type="dt" sz="half" idx="10"/>
          </p:nvPr>
        </p:nvSpPr>
        <p:spPr/>
        <p:txBody>
          <a:bodyPr/>
          <a:lstStyle/>
          <a:p>
            <a:r>
              <a:rPr kumimoji="1" lang="en-US" altLang="zh-CN" dirty="0"/>
              <a:t>5.10.1 </a:t>
            </a:r>
            <a:r>
              <a:rPr kumimoji="1" lang="zh-CN" altLang="en-US" dirty="0"/>
              <a:t>三层交换</a:t>
            </a:r>
          </a:p>
        </p:txBody>
      </p:sp>
    </p:spTree>
    <p:extLst>
      <p:ext uri="{BB962C8B-B14F-4D97-AF65-F5344CB8AC3E}">
        <p14:creationId xmlns:p14="http://schemas.microsoft.com/office/powerpoint/2010/main" val="2372658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ppt_x</p:attrName>
                                        </p:attrNameLst>
                                      </p:cBhvr>
                                      <p:tavLst>
                                        <p:tav tm="0">
                                          <p:val>
                                            <p:strVal val="#ppt_x-#ppt_w/2"/>
                                          </p:val>
                                        </p:tav>
                                        <p:tav tm="100000">
                                          <p:val>
                                            <p:strVal val="#ppt_x"/>
                                          </p:val>
                                        </p:tav>
                                      </p:tavLst>
                                    </p:anim>
                                    <p:anim calcmode="lin" valueType="num">
                                      <p:cBhvr>
                                        <p:cTn id="8" dur="500" fill="hold"/>
                                        <p:tgtEl>
                                          <p:spTgt spid="29"/>
                                        </p:tgtEl>
                                        <p:attrNameLst>
                                          <p:attrName>ppt_y</p:attrName>
                                        </p:attrNameLst>
                                      </p:cBhvr>
                                      <p:tavLst>
                                        <p:tav tm="0">
                                          <p:val>
                                            <p:strVal val="#ppt_y"/>
                                          </p:val>
                                        </p:tav>
                                        <p:tav tm="100000">
                                          <p:val>
                                            <p:strVal val="#ppt_y"/>
                                          </p:val>
                                        </p:tav>
                                      </p:tavLst>
                                    </p:anim>
                                    <p:anim calcmode="lin" valueType="num">
                                      <p:cBhvr>
                                        <p:cTn id="9" dur="500" fill="hold"/>
                                        <p:tgtEl>
                                          <p:spTgt spid="29"/>
                                        </p:tgtEl>
                                        <p:attrNameLst>
                                          <p:attrName>ppt_w</p:attrName>
                                        </p:attrNameLst>
                                      </p:cBhvr>
                                      <p:tavLst>
                                        <p:tav tm="0">
                                          <p:val>
                                            <p:fltVal val="0"/>
                                          </p:val>
                                        </p:tav>
                                        <p:tav tm="100000">
                                          <p:val>
                                            <p:strVal val="#ppt_w"/>
                                          </p:val>
                                        </p:tav>
                                      </p:tavLst>
                                    </p:anim>
                                    <p:anim calcmode="lin" valueType="num">
                                      <p:cBhvr>
                                        <p:cTn id="10" dur="500" fill="hold"/>
                                        <p:tgtEl>
                                          <p:spTgt spid="29"/>
                                        </p:tgtEl>
                                        <p:attrNameLst>
                                          <p:attrName>ppt_h</p:attrName>
                                        </p:attrNameLst>
                                      </p:cBhvr>
                                      <p:tavLst>
                                        <p:tav tm="0">
                                          <p:val>
                                            <p:strVal val="#ppt_h"/>
                                          </p:val>
                                        </p:tav>
                                        <p:tav tm="100000">
                                          <p:val>
                                            <p:strVal val="#ppt_h"/>
                                          </p:val>
                                        </p:tav>
                                      </p:tavLst>
                                    </p:anim>
                                  </p:childTnLst>
                                </p:cTn>
                              </p:par>
                            </p:childTnLst>
                          </p:cTn>
                        </p:par>
                        <p:par>
                          <p:cTn id="11" fill="hold">
                            <p:stCondLst>
                              <p:cond delay="500"/>
                            </p:stCondLst>
                            <p:childTnLst>
                              <p:par>
                                <p:cTn id="12" presetID="17" presetClass="entr" presetSubtype="4" fill="hold" nodeType="afterEffect">
                                  <p:stCondLst>
                                    <p:cond delay="0"/>
                                  </p:stCondLst>
                                  <p:childTnLst>
                                    <p:set>
                                      <p:cBhvr>
                                        <p:cTn id="13" dur="1" fill="hold">
                                          <p:stCondLst>
                                            <p:cond delay="0"/>
                                          </p:stCondLst>
                                        </p:cTn>
                                        <p:tgtEl>
                                          <p:spTgt spid="47"/>
                                        </p:tgtEl>
                                        <p:attrNameLst>
                                          <p:attrName>style.visibility</p:attrName>
                                        </p:attrNameLst>
                                      </p:cBhvr>
                                      <p:to>
                                        <p:strVal val="visible"/>
                                      </p:to>
                                    </p:set>
                                    <p:anim calcmode="lin" valueType="num">
                                      <p:cBhvr>
                                        <p:cTn id="14" dur="500" fill="hold"/>
                                        <p:tgtEl>
                                          <p:spTgt spid="47"/>
                                        </p:tgtEl>
                                        <p:attrNameLst>
                                          <p:attrName>ppt_x</p:attrName>
                                        </p:attrNameLst>
                                      </p:cBhvr>
                                      <p:tavLst>
                                        <p:tav tm="0">
                                          <p:val>
                                            <p:strVal val="#ppt_x"/>
                                          </p:val>
                                        </p:tav>
                                        <p:tav tm="100000">
                                          <p:val>
                                            <p:strVal val="#ppt_x"/>
                                          </p:val>
                                        </p:tav>
                                      </p:tavLst>
                                    </p:anim>
                                    <p:anim calcmode="lin" valueType="num">
                                      <p:cBhvr>
                                        <p:cTn id="15" dur="500" fill="hold"/>
                                        <p:tgtEl>
                                          <p:spTgt spid="47"/>
                                        </p:tgtEl>
                                        <p:attrNameLst>
                                          <p:attrName>ppt_y</p:attrName>
                                        </p:attrNameLst>
                                      </p:cBhvr>
                                      <p:tavLst>
                                        <p:tav tm="0">
                                          <p:val>
                                            <p:strVal val="#ppt_y+#ppt_h/2"/>
                                          </p:val>
                                        </p:tav>
                                        <p:tav tm="100000">
                                          <p:val>
                                            <p:strVal val="#ppt_y"/>
                                          </p:val>
                                        </p:tav>
                                      </p:tavLst>
                                    </p:anim>
                                    <p:anim calcmode="lin" valueType="num">
                                      <p:cBhvr>
                                        <p:cTn id="16" dur="500" fill="hold"/>
                                        <p:tgtEl>
                                          <p:spTgt spid="47"/>
                                        </p:tgtEl>
                                        <p:attrNameLst>
                                          <p:attrName>ppt_w</p:attrName>
                                        </p:attrNameLst>
                                      </p:cBhvr>
                                      <p:tavLst>
                                        <p:tav tm="0">
                                          <p:val>
                                            <p:strVal val="#ppt_w"/>
                                          </p:val>
                                        </p:tav>
                                        <p:tav tm="100000">
                                          <p:val>
                                            <p:strVal val="#ppt_w"/>
                                          </p:val>
                                        </p:tav>
                                      </p:tavLst>
                                    </p:anim>
                                    <p:anim calcmode="lin" valueType="num">
                                      <p:cBhvr>
                                        <p:cTn id="17" dur="500" fill="hold"/>
                                        <p:tgtEl>
                                          <p:spTgt spid="47"/>
                                        </p:tgtEl>
                                        <p:attrNameLst>
                                          <p:attrName>ppt_h</p:attrName>
                                        </p:attrNameLst>
                                      </p:cBhvr>
                                      <p:tavLst>
                                        <p:tav tm="0">
                                          <p:val>
                                            <p:fltVal val="0"/>
                                          </p:val>
                                        </p:tav>
                                        <p:tav tm="100000">
                                          <p:val>
                                            <p:strVal val="#ppt_h"/>
                                          </p:val>
                                        </p:tav>
                                      </p:tavLst>
                                    </p:anim>
                                  </p:childTnLst>
                                </p:cTn>
                              </p:par>
                            </p:childTnLst>
                          </p:cTn>
                        </p:par>
                        <p:par>
                          <p:cTn id="18" fill="hold">
                            <p:stCondLst>
                              <p:cond delay="1000"/>
                            </p:stCondLst>
                            <p:childTnLst>
                              <p:par>
                                <p:cTn id="19" presetID="17" presetClass="entr" presetSubtype="8" fill="hold" nodeType="afterEffect">
                                  <p:stCondLst>
                                    <p:cond delay="0"/>
                                  </p:stCondLst>
                                  <p:childTnLst>
                                    <p:set>
                                      <p:cBhvr>
                                        <p:cTn id="20" dur="1" fill="hold">
                                          <p:stCondLst>
                                            <p:cond delay="0"/>
                                          </p:stCondLst>
                                        </p:cTn>
                                        <p:tgtEl>
                                          <p:spTgt spid="48"/>
                                        </p:tgtEl>
                                        <p:attrNameLst>
                                          <p:attrName>style.visibility</p:attrName>
                                        </p:attrNameLst>
                                      </p:cBhvr>
                                      <p:to>
                                        <p:strVal val="visible"/>
                                      </p:to>
                                    </p:set>
                                    <p:anim calcmode="lin" valueType="num">
                                      <p:cBhvr>
                                        <p:cTn id="21" dur="500" fill="hold"/>
                                        <p:tgtEl>
                                          <p:spTgt spid="48"/>
                                        </p:tgtEl>
                                        <p:attrNameLst>
                                          <p:attrName>ppt_x</p:attrName>
                                        </p:attrNameLst>
                                      </p:cBhvr>
                                      <p:tavLst>
                                        <p:tav tm="0">
                                          <p:val>
                                            <p:strVal val="#ppt_x-#ppt_w/2"/>
                                          </p:val>
                                        </p:tav>
                                        <p:tav tm="100000">
                                          <p:val>
                                            <p:strVal val="#ppt_x"/>
                                          </p:val>
                                        </p:tav>
                                      </p:tavLst>
                                    </p:anim>
                                    <p:anim calcmode="lin" valueType="num">
                                      <p:cBhvr>
                                        <p:cTn id="22" dur="500" fill="hold"/>
                                        <p:tgtEl>
                                          <p:spTgt spid="48"/>
                                        </p:tgtEl>
                                        <p:attrNameLst>
                                          <p:attrName>ppt_y</p:attrName>
                                        </p:attrNameLst>
                                      </p:cBhvr>
                                      <p:tavLst>
                                        <p:tav tm="0">
                                          <p:val>
                                            <p:strVal val="#ppt_y"/>
                                          </p:val>
                                        </p:tav>
                                        <p:tav tm="100000">
                                          <p:val>
                                            <p:strVal val="#ppt_y"/>
                                          </p:val>
                                        </p:tav>
                                      </p:tavLst>
                                    </p:anim>
                                    <p:anim calcmode="lin" valueType="num">
                                      <p:cBhvr>
                                        <p:cTn id="23" dur="500" fill="hold"/>
                                        <p:tgtEl>
                                          <p:spTgt spid="48"/>
                                        </p:tgtEl>
                                        <p:attrNameLst>
                                          <p:attrName>ppt_w</p:attrName>
                                        </p:attrNameLst>
                                      </p:cBhvr>
                                      <p:tavLst>
                                        <p:tav tm="0">
                                          <p:val>
                                            <p:fltVal val="0"/>
                                          </p:val>
                                        </p:tav>
                                        <p:tav tm="100000">
                                          <p:val>
                                            <p:strVal val="#ppt_w"/>
                                          </p:val>
                                        </p:tav>
                                      </p:tavLst>
                                    </p:anim>
                                    <p:anim calcmode="lin" valueType="num">
                                      <p:cBhvr>
                                        <p:cTn id="24" dur="500" fill="hold"/>
                                        <p:tgtEl>
                                          <p:spTgt spid="48"/>
                                        </p:tgtEl>
                                        <p:attrNameLst>
                                          <p:attrName>ppt_h</p:attrName>
                                        </p:attrNameLst>
                                      </p:cBhvr>
                                      <p:tavLst>
                                        <p:tav tm="0">
                                          <p:val>
                                            <p:strVal val="#ppt_h"/>
                                          </p:val>
                                        </p:tav>
                                        <p:tav tm="100000">
                                          <p:val>
                                            <p:strVal val="#ppt_h"/>
                                          </p:val>
                                        </p:tav>
                                      </p:tavLst>
                                    </p:anim>
                                  </p:childTnLst>
                                </p:cTn>
                              </p:par>
                            </p:childTnLst>
                          </p:cTn>
                        </p:par>
                        <p:par>
                          <p:cTn id="25" fill="hold">
                            <p:stCondLst>
                              <p:cond delay="1500"/>
                            </p:stCondLst>
                            <p:childTnLst>
                              <p:par>
                                <p:cTn id="26" presetID="17" presetClass="entr" presetSubtype="1" fill="hold" nodeType="afterEffect">
                                  <p:stCondLst>
                                    <p:cond delay="0"/>
                                  </p:stCondLst>
                                  <p:childTnLst>
                                    <p:set>
                                      <p:cBhvr>
                                        <p:cTn id="27" dur="1" fill="hold">
                                          <p:stCondLst>
                                            <p:cond delay="0"/>
                                          </p:stCondLst>
                                        </p:cTn>
                                        <p:tgtEl>
                                          <p:spTgt spid="52"/>
                                        </p:tgtEl>
                                        <p:attrNameLst>
                                          <p:attrName>style.visibility</p:attrName>
                                        </p:attrNameLst>
                                      </p:cBhvr>
                                      <p:to>
                                        <p:strVal val="visible"/>
                                      </p:to>
                                    </p:set>
                                    <p:anim calcmode="lin" valueType="num">
                                      <p:cBhvr>
                                        <p:cTn id="28" dur="500" fill="hold"/>
                                        <p:tgtEl>
                                          <p:spTgt spid="52"/>
                                        </p:tgtEl>
                                        <p:attrNameLst>
                                          <p:attrName>ppt_x</p:attrName>
                                        </p:attrNameLst>
                                      </p:cBhvr>
                                      <p:tavLst>
                                        <p:tav tm="0">
                                          <p:val>
                                            <p:strVal val="#ppt_x"/>
                                          </p:val>
                                        </p:tav>
                                        <p:tav tm="100000">
                                          <p:val>
                                            <p:strVal val="#ppt_x"/>
                                          </p:val>
                                        </p:tav>
                                      </p:tavLst>
                                    </p:anim>
                                    <p:anim calcmode="lin" valueType="num">
                                      <p:cBhvr>
                                        <p:cTn id="29" dur="500" fill="hold"/>
                                        <p:tgtEl>
                                          <p:spTgt spid="52"/>
                                        </p:tgtEl>
                                        <p:attrNameLst>
                                          <p:attrName>ppt_y</p:attrName>
                                        </p:attrNameLst>
                                      </p:cBhvr>
                                      <p:tavLst>
                                        <p:tav tm="0">
                                          <p:val>
                                            <p:strVal val="#ppt_y-#ppt_h/2"/>
                                          </p:val>
                                        </p:tav>
                                        <p:tav tm="100000">
                                          <p:val>
                                            <p:strVal val="#ppt_y"/>
                                          </p:val>
                                        </p:tav>
                                      </p:tavLst>
                                    </p:anim>
                                    <p:anim calcmode="lin" valueType="num">
                                      <p:cBhvr>
                                        <p:cTn id="30" dur="500" fill="hold"/>
                                        <p:tgtEl>
                                          <p:spTgt spid="52"/>
                                        </p:tgtEl>
                                        <p:attrNameLst>
                                          <p:attrName>ppt_w</p:attrName>
                                        </p:attrNameLst>
                                      </p:cBhvr>
                                      <p:tavLst>
                                        <p:tav tm="0">
                                          <p:val>
                                            <p:strVal val="#ppt_w"/>
                                          </p:val>
                                        </p:tav>
                                        <p:tav tm="100000">
                                          <p:val>
                                            <p:strVal val="#ppt_w"/>
                                          </p:val>
                                        </p:tav>
                                      </p:tavLst>
                                    </p:anim>
                                    <p:anim calcmode="lin" valueType="num">
                                      <p:cBhvr>
                                        <p:cTn id="31" dur="500" fill="hold"/>
                                        <p:tgtEl>
                                          <p:spTgt spid="52"/>
                                        </p:tgtEl>
                                        <p:attrNameLst>
                                          <p:attrName>ppt_h</p:attrName>
                                        </p:attrNameLst>
                                      </p:cBhvr>
                                      <p:tavLst>
                                        <p:tav tm="0">
                                          <p:val>
                                            <p:fltVal val="0"/>
                                          </p:val>
                                        </p:tav>
                                        <p:tav tm="100000">
                                          <p:val>
                                            <p:strVal val="#ppt_h"/>
                                          </p:val>
                                        </p:tav>
                                      </p:tavLst>
                                    </p:anim>
                                  </p:childTnLst>
                                </p:cTn>
                              </p:par>
                            </p:childTnLst>
                          </p:cTn>
                        </p:par>
                        <p:par>
                          <p:cTn id="32" fill="hold">
                            <p:stCondLst>
                              <p:cond delay="2000"/>
                            </p:stCondLst>
                            <p:childTnLst>
                              <p:par>
                                <p:cTn id="33" presetID="17" presetClass="entr" presetSubtype="8" fill="hold" nodeType="after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p:cTn id="35" dur="500" fill="hold"/>
                                        <p:tgtEl>
                                          <p:spTgt spid="53"/>
                                        </p:tgtEl>
                                        <p:attrNameLst>
                                          <p:attrName>ppt_x</p:attrName>
                                        </p:attrNameLst>
                                      </p:cBhvr>
                                      <p:tavLst>
                                        <p:tav tm="0">
                                          <p:val>
                                            <p:strVal val="#ppt_x-#ppt_w/2"/>
                                          </p:val>
                                        </p:tav>
                                        <p:tav tm="100000">
                                          <p:val>
                                            <p:strVal val="#ppt_x"/>
                                          </p:val>
                                        </p:tav>
                                      </p:tavLst>
                                    </p:anim>
                                    <p:anim calcmode="lin" valueType="num">
                                      <p:cBhvr>
                                        <p:cTn id="36" dur="500" fill="hold"/>
                                        <p:tgtEl>
                                          <p:spTgt spid="53"/>
                                        </p:tgtEl>
                                        <p:attrNameLst>
                                          <p:attrName>ppt_y</p:attrName>
                                        </p:attrNameLst>
                                      </p:cBhvr>
                                      <p:tavLst>
                                        <p:tav tm="0">
                                          <p:val>
                                            <p:strVal val="#ppt_y"/>
                                          </p:val>
                                        </p:tav>
                                        <p:tav tm="100000">
                                          <p:val>
                                            <p:strVal val="#ppt_y"/>
                                          </p:val>
                                        </p:tav>
                                      </p:tavLst>
                                    </p:anim>
                                    <p:anim calcmode="lin" valueType="num">
                                      <p:cBhvr>
                                        <p:cTn id="37" dur="500" fill="hold"/>
                                        <p:tgtEl>
                                          <p:spTgt spid="53"/>
                                        </p:tgtEl>
                                        <p:attrNameLst>
                                          <p:attrName>ppt_w</p:attrName>
                                        </p:attrNameLst>
                                      </p:cBhvr>
                                      <p:tavLst>
                                        <p:tav tm="0">
                                          <p:val>
                                            <p:fltVal val="0"/>
                                          </p:val>
                                        </p:tav>
                                        <p:tav tm="100000">
                                          <p:val>
                                            <p:strVal val="#ppt_w"/>
                                          </p:val>
                                        </p:tav>
                                      </p:tavLst>
                                    </p:anim>
                                    <p:anim calcmode="lin" valueType="num">
                                      <p:cBhvr>
                                        <p:cTn id="38" dur="500" fill="hold"/>
                                        <p:tgtEl>
                                          <p:spTgt spid="53"/>
                                        </p:tgtEl>
                                        <p:attrNameLst>
                                          <p:attrName>ppt_h</p:attrName>
                                        </p:attrNameLst>
                                      </p:cBhvr>
                                      <p:tavLst>
                                        <p:tav tm="0">
                                          <p:val>
                                            <p:strVal val="#ppt_h"/>
                                          </p:val>
                                        </p:tav>
                                        <p:tav tm="100000">
                                          <p:val>
                                            <p:strVal val="#ppt_h"/>
                                          </p:val>
                                        </p:tav>
                                      </p:tavLst>
                                    </p:anim>
                                  </p:childTnLst>
                                </p:cTn>
                              </p:par>
                            </p:childTnLst>
                          </p:cTn>
                        </p:par>
                        <p:par>
                          <p:cTn id="39" fill="hold">
                            <p:stCondLst>
                              <p:cond delay="2500"/>
                            </p:stCondLst>
                            <p:childTnLst>
                              <p:par>
                                <p:cTn id="40" presetID="17" presetClass="entr" presetSubtype="4" fill="hold" nodeType="afterEffect">
                                  <p:stCondLst>
                                    <p:cond delay="0"/>
                                  </p:stCondLst>
                                  <p:childTnLst>
                                    <p:set>
                                      <p:cBhvr>
                                        <p:cTn id="41" dur="1" fill="hold">
                                          <p:stCondLst>
                                            <p:cond delay="0"/>
                                          </p:stCondLst>
                                        </p:cTn>
                                        <p:tgtEl>
                                          <p:spTgt spid="66"/>
                                        </p:tgtEl>
                                        <p:attrNameLst>
                                          <p:attrName>style.visibility</p:attrName>
                                        </p:attrNameLst>
                                      </p:cBhvr>
                                      <p:to>
                                        <p:strVal val="visible"/>
                                      </p:to>
                                    </p:set>
                                    <p:anim calcmode="lin" valueType="num">
                                      <p:cBhvr>
                                        <p:cTn id="42" dur="500" fill="hold"/>
                                        <p:tgtEl>
                                          <p:spTgt spid="66"/>
                                        </p:tgtEl>
                                        <p:attrNameLst>
                                          <p:attrName>ppt_x</p:attrName>
                                        </p:attrNameLst>
                                      </p:cBhvr>
                                      <p:tavLst>
                                        <p:tav tm="0">
                                          <p:val>
                                            <p:strVal val="#ppt_x"/>
                                          </p:val>
                                        </p:tav>
                                        <p:tav tm="100000">
                                          <p:val>
                                            <p:strVal val="#ppt_x"/>
                                          </p:val>
                                        </p:tav>
                                      </p:tavLst>
                                    </p:anim>
                                    <p:anim calcmode="lin" valueType="num">
                                      <p:cBhvr>
                                        <p:cTn id="43" dur="500" fill="hold"/>
                                        <p:tgtEl>
                                          <p:spTgt spid="66"/>
                                        </p:tgtEl>
                                        <p:attrNameLst>
                                          <p:attrName>ppt_y</p:attrName>
                                        </p:attrNameLst>
                                      </p:cBhvr>
                                      <p:tavLst>
                                        <p:tav tm="0">
                                          <p:val>
                                            <p:strVal val="#ppt_y+#ppt_h/2"/>
                                          </p:val>
                                        </p:tav>
                                        <p:tav tm="100000">
                                          <p:val>
                                            <p:strVal val="#ppt_y"/>
                                          </p:val>
                                        </p:tav>
                                      </p:tavLst>
                                    </p:anim>
                                    <p:anim calcmode="lin" valueType="num">
                                      <p:cBhvr>
                                        <p:cTn id="44" dur="500" fill="hold"/>
                                        <p:tgtEl>
                                          <p:spTgt spid="66"/>
                                        </p:tgtEl>
                                        <p:attrNameLst>
                                          <p:attrName>ppt_w</p:attrName>
                                        </p:attrNameLst>
                                      </p:cBhvr>
                                      <p:tavLst>
                                        <p:tav tm="0">
                                          <p:val>
                                            <p:strVal val="#ppt_w"/>
                                          </p:val>
                                        </p:tav>
                                        <p:tav tm="100000">
                                          <p:val>
                                            <p:strVal val="#ppt_w"/>
                                          </p:val>
                                        </p:tav>
                                      </p:tavLst>
                                    </p:anim>
                                    <p:anim calcmode="lin" valueType="num">
                                      <p:cBhvr>
                                        <p:cTn id="45" dur="500" fill="hold"/>
                                        <p:tgtEl>
                                          <p:spTgt spid="66"/>
                                        </p:tgtEl>
                                        <p:attrNameLst>
                                          <p:attrName>ppt_h</p:attrName>
                                        </p:attrNameLst>
                                      </p:cBhvr>
                                      <p:tavLst>
                                        <p:tav tm="0">
                                          <p:val>
                                            <p:fltVal val="0"/>
                                          </p:val>
                                        </p:tav>
                                        <p:tav tm="100000">
                                          <p:val>
                                            <p:strVal val="#ppt_h"/>
                                          </p:val>
                                        </p:tav>
                                      </p:tavLst>
                                    </p:anim>
                                  </p:childTnLst>
                                </p:cTn>
                              </p:par>
                            </p:childTnLst>
                          </p:cTn>
                        </p:par>
                        <p:par>
                          <p:cTn id="46" fill="hold">
                            <p:stCondLst>
                              <p:cond delay="3000"/>
                            </p:stCondLst>
                            <p:childTnLst>
                              <p:par>
                                <p:cTn id="47" presetID="17" presetClass="entr" presetSubtype="8" fill="hold" nodeType="afterEffect">
                                  <p:stCondLst>
                                    <p:cond delay="0"/>
                                  </p:stCondLst>
                                  <p:childTnLst>
                                    <p:set>
                                      <p:cBhvr>
                                        <p:cTn id="48" dur="1" fill="hold">
                                          <p:stCondLst>
                                            <p:cond delay="0"/>
                                          </p:stCondLst>
                                        </p:cTn>
                                        <p:tgtEl>
                                          <p:spTgt spid="67"/>
                                        </p:tgtEl>
                                        <p:attrNameLst>
                                          <p:attrName>style.visibility</p:attrName>
                                        </p:attrNameLst>
                                      </p:cBhvr>
                                      <p:to>
                                        <p:strVal val="visible"/>
                                      </p:to>
                                    </p:set>
                                    <p:anim calcmode="lin" valueType="num">
                                      <p:cBhvr>
                                        <p:cTn id="49" dur="500" fill="hold"/>
                                        <p:tgtEl>
                                          <p:spTgt spid="67"/>
                                        </p:tgtEl>
                                        <p:attrNameLst>
                                          <p:attrName>ppt_x</p:attrName>
                                        </p:attrNameLst>
                                      </p:cBhvr>
                                      <p:tavLst>
                                        <p:tav tm="0">
                                          <p:val>
                                            <p:strVal val="#ppt_x-#ppt_w/2"/>
                                          </p:val>
                                        </p:tav>
                                        <p:tav tm="100000">
                                          <p:val>
                                            <p:strVal val="#ppt_x"/>
                                          </p:val>
                                        </p:tav>
                                      </p:tavLst>
                                    </p:anim>
                                    <p:anim calcmode="lin" valueType="num">
                                      <p:cBhvr>
                                        <p:cTn id="50" dur="500" fill="hold"/>
                                        <p:tgtEl>
                                          <p:spTgt spid="67"/>
                                        </p:tgtEl>
                                        <p:attrNameLst>
                                          <p:attrName>ppt_y</p:attrName>
                                        </p:attrNameLst>
                                      </p:cBhvr>
                                      <p:tavLst>
                                        <p:tav tm="0">
                                          <p:val>
                                            <p:strVal val="#ppt_y"/>
                                          </p:val>
                                        </p:tav>
                                        <p:tav tm="100000">
                                          <p:val>
                                            <p:strVal val="#ppt_y"/>
                                          </p:val>
                                        </p:tav>
                                      </p:tavLst>
                                    </p:anim>
                                    <p:anim calcmode="lin" valueType="num">
                                      <p:cBhvr>
                                        <p:cTn id="51" dur="500" fill="hold"/>
                                        <p:tgtEl>
                                          <p:spTgt spid="67"/>
                                        </p:tgtEl>
                                        <p:attrNameLst>
                                          <p:attrName>ppt_w</p:attrName>
                                        </p:attrNameLst>
                                      </p:cBhvr>
                                      <p:tavLst>
                                        <p:tav tm="0">
                                          <p:val>
                                            <p:fltVal val="0"/>
                                          </p:val>
                                        </p:tav>
                                        <p:tav tm="100000">
                                          <p:val>
                                            <p:strVal val="#ppt_w"/>
                                          </p:val>
                                        </p:tav>
                                      </p:tavLst>
                                    </p:anim>
                                    <p:anim calcmode="lin" valueType="num">
                                      <p:cBhvr>
                                        <p:cTn id="52" dur="500" fill="hold"/>
                                        <p:tgtEl>
                                          <p:spTgt spid="67"/>
                                        </p:tgtEl>
                                        <p:attrNameLst>
                                          <p:attrName>ppt_h</p:attrName>
                                        </p:attrNameLst>
                                      </p:cBhvr>
                                      <p:tavLst>
                                        <p:tav tm="0">
                                          <p:val>
                                            <p:strVal val="#ppt_h"/>
                                          </p:val>
                                        </p:tav>
                                        <p:tav tm="100000">
                                          <p:val>
                                            <p:strVal val="#ppt_h"/>
                                          </p:val>
                                        </p:tav>
                                      </p:tavLst>
                                    </p:anim>
                                  </p:childTnLst>
                                </p:cTn>
                              </p:par>
                            </p:childTnLst>
                          </p:cTn>
                        </p:par>
                        <p:par>
                          <p:cTn id="53" fill="hold">
                            <p:stCondLst>
                              <p:cond delay="3500"/>
                            </p:stCondLst>
                            <p:childTnLst>
                              <p:par>
                                <p:cTn id="54" presetID="17" presetClass="entr" presetSubtype="1"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 calcmode="lin" valueType="num">
                                      <p:cBhvr>
                                        <p:cTn id="56" dur="500" fill="hold"/>
                                        <p:tgtEl>
                                          <p:spTgt spid="68"/>
                                        </p:tgtEl>
                                        <p:attrNameLst>
                                          <p:attrName>ppt_x</p:attrName>
                                        </p:attrNameLst>
                                      </p:cBhvr>
                                      <p:tavLst>
                                        <p:tav tm="0">
                                          <p:val>
                                            <p:strVal val="#ppt_x"/>
                                          </p:val>
                                        </p:tav>
                                        <p:tav tm="100000">
                                          <p:val>
                                            <p:strVal val="#ppt_x"/>
                                          </p:val>
                                        </p:tav>
                                      </p:tavLst>
                                    </p:anim>
                                    <p:anim calcmode="lin" valueType="num">
                                      <p:cBhvr>
                                        <p:cTn id="57" dur="500" fill="hold"/>
                                        <p:tgtEl>
                                          <p:spTgt spid="68"/>
                                        </p:tgtEl>
                                        <p:attrNameLst>
                                          <p:attrName>ppt_y</p:attrName>
                                        </p:attrNameLst>
                                      </p:cBhvr>
                                      <p:tavLst>
                                        <p:tav tm="0">
                                          <p:val>
                                            <p:strVal val="#ppt_y-#ppt_h/2"/>
                                          </p:val>
                                        </p:tav>
                                        <p:tav tm="100000">
                                          <p:val>
                                            <p:strVal val="#ppt_y"/>
                                          </p:val>
                                        </p:tav>
                                      </p:tavLst>
                                    </p:anim>
                                    <p:anim calcmode="lin" valueType="num">
                                      <p:cBhvr>
                                        <p:cTn id="58" dur="500" fill="hold"/>
                                        <p:tgtEl>
                                          <p:spTgt spid="68"/>
                                        </p:tgtEl>
                                        <p:attrNameLst>
                                          <p:attrName>ppt_w</p:attrName>
                                        </p:attrNameLst>
                                      </p:cBhvr>
                                      <p:tavLst>
                                        <p:tav tm="0">
                                          <p:val>
                                            <p:strVal val="#ppt_w"/>
                                          </p:val>
                                        </p:tav>
                                        <p:tav tm="100000">
                                          <p:val>
                                            <p:strVal val="#ppt_w"/>
                                          </p:val>
                                        </p:tav>
                                      </p:tavLst>
                                    </p:anim>
                                    <p:anim calcmode="lin" valueType="num">
                                      <p:cBhvr>
                                        <p:cTn id="59" dur="500" fill="hold"/>
                                        <p:tgtEl>
                                          <p:spTgt spid="68"/>
                                        </p:tgtEl>
                                        <p:attrNameLst>
                                          <p:attrName>ppt_h</p:attrName>
                                        </p:attrNameLst>
                                      </p:cBhvr>
                                      <p:tavLst>
                                        <p:tav tm="0">
                                          <p:val>
                                            <p:fltVal val="0"/>
                                          </p:val>
                                        </p:tav>
                                        <p:tav tm="100000">
                                          <p:val>
                                            <p:strVal val="#ppt_h"/>
                                          </p:val>
                                        </p:tav>
                                      </p:tavLst>
                                    </p:anim>
                                  </p:childTnLst>
                                </p:cTn>
                              </p:par>
                            </p:childTnLst>
                          </p:cTn>
                        </p:par>
                        <p:par>
                          <p:cTn id="60" fill="hold">
                            <p:stCondLst>
                              <p:cond delay="4000"/>
                            </p:stCondLst>
                            <p:childTnLst>
                              <p:par>
                                <p:cTn id="61" presetID="17" presetClass="entr" presetSubtype="8" fill="hold" nodeType="afterEffect">
                                  <p:stCondLst>
                                    <p:cond delay="0"/>
                                  </p:stCondLst>
                                  <p:childTnLst>
                                    <p:set>
                                      <p:cBhvr>
                                        <p:cTn id="62" dur="1" fill="hold">
                                          <p:stCondLst>
                                            <p:cond delay="0"/>
                                          </p:stCondLst>
                                        </p:cTn>
                                        <p:tgtEl>
                                          <p:spTgt spid="69"/>
                                        </p:tgtEl>
                                        <p:attrNameLst>
                                          <p:attrName>style.visibility</p:attrName>
                                        </p:attrNameLst>
                                      </p:cBhvr>
                                      <p:to>
                                        <p:strVal val="visible"/>
                                      </p:to>
                                    </p:set>
                                    <p:anim calcmode="lin" valueType="num">
                                      <p:cBhvr>
                                        <p:cTn id="63" dur="500" fill="hold"/>
                                        <p:tgtEl>
                                          <p:spTgt spid="69"/>
                                        </p:tgtEl>
                                        <p:attrNameLst>
                                          <p:attrName>ppt_x</p:attrName>
                                        </p:attrNameLst>
                                      </p:cBhvr>
                                      <p:tavLst>
                                        <p:tav tm="0">
                                          <p:val>
                                            <p:strVal val="#ppt_x-#ppt_w/2"/>
                                          </p:val>
                                        </p:tav>
                                        <p:tav tm="100000">
                                          <p:val>
                                            <p:strVal val="#ppt_x"/>
                                          </p:val>
                                        </p:tav>
                                      </p:tavLst>
                                    </p:anim>
                                    <p:anim calcmode="lin" valueType="num">
                                      <p:cBhvr>
                                        <p:cTn id="64" dur="500" fill="hold"/>
                                        <p:tgtEl>
                                          <p:spTgt spid="69"/>
                                        </p:tgtEl>
                                        <p:attrNameLst>
                                          <p:attrName>ppt_y</p:attrName>
                                        </p:attrNameLst>
                                      </p:cBhvr>
                                      <p:tavLst>
                                        <p:tav tm="0">
                                          <p:val>
                                            <p:strVal val="#ppt_y"/>
                                          </p:val>
                                        </p:tav>
                                        <p:tav tm="100000">
                                          <p:val>
                                            <p:strVal val="#ppt_y"/>
                                          </p:val>
                                        </p:tav>
                                      </p:tavLst>
                                    </p:anim>
                                    <p:anim calcmode="lin" valueType="num">
                                      <p:cBhvr>
                                        <p:cTn id="65" dur="500" fill="hold"/>
                                        <p:tgtEl>
                                          <p:spTgt spid="69"/>
                                        </p:tgtEl>
                                        <p:attrNameLst>
                                          <p:attrName>ppt_w</p:attrName>
                                        </p:attrNameLst>
                                      </p:cBhvr>
                                      <p:tavLst>
                                        <p:tav tm="0">
                                          <p:val>
                                            <p:fltVal val="0"/>
                                          </p:val>
                                        </p:tav>
                                        <p:tav tm="100000">
                                          <p:val>
                                            <p:strVal val="#ppt_w"/>
                                          </p:val>
                                        </p:tav>
                                      </p:tavLst>
                                    </p:anim>
                                    <p:anim calcmode="lin" valueType="num">
                                      <p:cBhvr>
                                        <p:cTn id="66" dur="500" fill="hold"/>
                                        <p:tgtEl>
                                          <p:spTgt spid="69"/>
                                        </p:tgtEl>
                                        <p:attrNameLst>
                                          <p:attrName>ppt_h</p:attrName>
                                        </p:attrNameLst>
                                      </p:cBhvr>
                                      <p:tavLst>
                                        <p:tav tm="0">
                                          <p:val>
                                            <p:strVal val="#ppt_h"/>
                                          </p:val>
                                        </p:tav>
                                        <p:tav tm="100000">
                                          <p:val>
                                            <p:strVal val="#ppt_h"/>
                                          </p:val>
                                        </p:tav>
                                      </p:tavLst>
                                    </p:anim>
                                  </p:childTnLst>
                                </p:cTn>
                              </p:par>
                            </p:childTnLst>
                          </p:cTn>
                        </p:par>
                        <p:par>
                          <p:cTn id="67" fill="hold">
                            <p:stCondLst>
                              <p:cond delay="4500"/>
                            </p:stCondLst>
                            <p:childTnLst>
                              <p:par>
                                <p:cTn id="68" presetID="17" presetClass="entr" presetSubtype="4" fill="hold" nodeType="afterEffect">
                                  <p:stCondLst>
                                    <p:cond delay="0"/>
                                  </p:stCondLst>
                                  <p:childTnLst>
                                    <p:set>
                                      <p:cBhvr>
                                        <p:cTn id="69" dur="1" fill="hold">
                                          <p:stCondLst>
                                            <p:cond delay="0"/>
                                          </p:stCondLst>
                                        </p:cTn>
                                        <p:tgtEl>
                                          <p:spTgt spid="70"/>
                                        </p:tgtEl>
                                        <p:attrNameLst>
                                          <p:attrName>style.visibility</p:attrName>
                                        </p:attrNameLst>
                                      </p:cBhvr>
                                      <p:to>
                                        <p:strVal val="visible"/>
                                      </p:to>
                                    </p:set>
                                    <p:anim calcmode="lin" valueType="num">
                                      <p:cBhvr>
                                        <p:cTn id="70" dur="500" fill="hold"/>
                                        <p:tgtEl>
                                          <p:spTgt spid="70"/>
                                        </p:tgtEl>
                                        <p:attrNameLst>
                                          <p:attrName>ppt_x</p:attrName>
                                        </p:attrNameLst>
                                      </p:cBhvr>
                                      <p:tavLst>
                                        <p:tav tm="0">
                                          <p:val>
                                            <p:strVal val="#ppt_x"/>
                                          </p:val>
                                        </p:tav>
                                        <p:tav tm="100000">
                                          <p:val>
                                            <p:strVal val="#ppt_x"/>
                                          </p:val>
                                        </p:tav>
                                      </p:tavLst>
                                    </p:anim>
                                    <p:anim calcmode="lin" valueType="num">
                                      <p:cBhvr>
                                        <p:cTn id="71" dur="500" fill="hold"/>
                                        <p:tgtEl>
                                          <p:spTgt spid="70"/>
                                        </p:tgtEl>
                                        <p:attrNameLst>
                                          <p:attrName>ppt_y</p:attrName>
                                        </p:attrNameLst>
                                      </p:cBhvr>
                                      <p:tavLst>
                                        <p:tav tm="0">
                                          <p:val>
                                            <p:strVal val="#ppt_y+#ppt_h/2"/>
                                          </p:val>
                                        </p:tav>
                                        <p:tav tm="100000">
                                          <p:val>
                                            <p:strVal val="#ppt_y"/>
                                          </p:val>
                                        </p:tav>
                                      </p:tavLst>
                                    </p:anim>
                                    <p:anim calcmode="lin" valueType="num">
                                      <p:cBhvr>
                                        <p:cTn id="72" dur="500" fill="hold"/>
                                        <p:tgtEl>
                                          <p:spTgt spid="70"/>
                                        </p:tgtEl>
                                        <p:attrNameLst>
                                          <p:attrName>ppt_w</p:attrName>
                                        </p:attrNameLst>
                                      </p:cBhvr>
                                      <p:tavLst>
                                        <p:tav tm="0">
                                          <p:val>
                                            <p:strVal val="#ppt_w"/>
                                          </p:val>
                                        </p:tav>
                                        <p:tav tm="100000">
                                          <p:val>
                                            <p:strVal val="#ppt_w"/>
                                          </p:val>
                                        </p:tav>
                                      </p:tavLst>
                                    </p:anim>
                                    <p:anim calcmode="lin" valueType="num">
                                      <p:cBhvr>
                                        <p:cTn id="73" dur="500" fill="hold"/>
                                        <p:tgtEl>
                                          <p:spTgt spid="70"/>
                                        </p:tgtEl>
                                        <p:attrNameLst>
                                          <p:attrName>ppt_h</p:attrName>
                                        </p:attrNameLst>
                                      </p:cBhvr>
                                      <p:tavLst>
                                        <p:tav tm="0">
                                          <p:val>
                                            <p:fltVal val="0"/>
                                          </p:val>
                                        </p:tav>
                                        <p:tav tm="100000">
                                          <p:val>
                                            <p:strVal val="#ppt_h"/>
                                          </p:val>
                                        </p:tav>
                                      </p:tavLst>
                                    </p:anim>
                                  </p:childTnLst>
                                </p:cTn>
                              </p:par>
                            </p:childTnLst>
                          </p:cTn>
                        </p:par>
                        <p:par>
                          <p:cTn id="74" fill="hold">
                            <p:stCondLst>
                              <p:cond delay="5000"/>
                            </p:stCondLst>
                            <p:childTnLst>
                              <p:par>
                                <p:cTn id="75" presetID="17" presetClass="entr" presetSubtype="8" fill="hold" nodeType="afterEffect">
                                  <p:stCondLst>
                                    <p:cond delay="0"/>
                                  </p:stCondLst>
                                  <p:childTnLst>
                                    <p:set>
                                      <p:cBhvr>
                                        <p:cTn id="76" dur="1" fill="hold">
                                          <p:stCondLst>
                                            <p:cond delay="0"/>
                                          </p:stCondLst>
                                        </p:cTn>
                                        <p:tgtEl>
                                          <p:spTgt spid="71"/>
                                        </p:tgtEl>
                                        <p:attrNameLst>
                                          <p:attrName>style.visibility</p:attrName>
                                        </p:attrNameLst>
                                      </p:cBhvr>
                                      <p:to>
                                        <p:strVal val="visible"/>
                                      </p:to>
                                    </p:set>
                                    <p:anim calcmode="lin" valueType="num">
                                      <p:cBhvr>
                                        <p:cTn id="77" dur="500" fill="hold"/>
                                        <p:tgtEl>
                                          <p:spTgt spid="71"/>
                                        </p:tgtEl>
                                        <p:attrNameLst>
                                          <p:attrName>ppt_x</p:attrName>
                                        </p:attrNameLst>
                                      </p:cBhvr>
                                      <p:tavLst>
                                        <p:tav tm="0">
                                          <p:val>
                                            <p:strVal val="#ppt_x-#ppt_w/2"/>
                                          </p:val>
                                        </p:tav>
                                        <p:tav tm="100000">
                                          <p:val>
                                            <p:strVal val="#ppt_x"/>
                                          </p:val>
                                        </p:tav>
                                      </p:tavLst>
                                    </p:anim>
                                    <p:anim calcmode="lin" valueType="num">
                                      <p:cBhvr>
                                        <p:cTn id="78" dur="500" fill="hold"/>
                                        <p:tgtEl>
                                          <p:spTgt spid="71"/>
                                        </p:tgtEl>
                                        <p:attrNameLst>
                                          <p:attrName>ppt_y</p:attrName>
                                        </p:attrNameLst>
                                      </p:cBhvr>
                                      <p:tavLst>
                                        <p:tav tm="0">
                                          <p:val>
                                            <p:strVal val="#ppt_y"/>
                                          </p:val>
                                        </p:tav>
                                        <p:tav tm="100000">
                                          <p:val>
                                            <p:strVal val="#ppt_y"/>
                                          </p:val>
                                        </p:tav>
                                      </p:tavLst>
                                    </p:anim>
                                    <p:anim calcmode="lin" valueType="num">
                                      <p:cBhvr>
                                        <p:cTn id="79" dur="500" fill="hold"/>
                                        <p:tgtEl>
                                          <p:spTgt spid="71"/>
                                        </p:tgtEl>
                                        <p:attrNameLst>
                                          <p:attrName>ppt_w</p:attrName>
                                        </p:attrNameLst>
                                      </p:cBhvr>
                                      <p:tavLst>
                                        <p:tav tm="0">
                                          <p:val>
                                            <p:fltVal val="0"/>
                                          </p:val>
                                        </p:tav>
                                        <p:tav tm="100000">
                                          <p:val>
                                            <p:strVal val="#ppt_w"/>
                                          </p:val>
                                        </p:tav>
                                      </p:tavLst>
                                    </p:anim>
                                    <p:anim calcmode="lin" valueType="num">
                                      <p:cBhvr>
                                        <p:cTn id="80" dur="500" fill="hold"/>
                                        <p:tgtEl>
                                          <p:spTgt spid="71"/>
                                        </p:tgtEl>
                                        <p:attrNameLst>
                                          <p:attrName>ppt_h</p:attrName>
                                        </p:attrNameLst>
                                      </p:cBhvr>
                                      <p:tavLst>
                                        <p:tav tm="0">
                                          <p:val>
                                            <p:strVal val="#ppt_h"/>
                                          </p:val>
                                        </p:tav>
                                        <p:tav tm="100000">
                                          <p:val>
                                            <p:strVal val="#ppt_h"/>
                                          </p:val>
                                        </p:tav>
                                      </p:tavLst>
                                    </p:anim>
                                  </p:childTnLst>
                                </p:cTn>
                              </p:par>
                            </p:childTnLst>
                          </p:cTn>
                        </p:par>
                        <p:par>
                          <p:cTn id="81" fill="hold">
                            <p:stCondLst>
                              <p:cond delay="5500"/>
                            </p:stCondLst>
                            <p:childTnLst>
                              <p:par>
                                <p:cTn id="82" presetID="17" presetClass="entr" presetSubtype="1" fill="hold" nodeType="afterEffect">
                                  <p:stCondLst>
                                    <p:cond delay="0"/>
                                  </p:stCondLst>
                                  <p:childTnLst>
                                    <p:set>
                                      <p:cBhvr>
                                        <p:cTn id="83" dur="1" fill="hold">
                                          <p:stCondLst>
                                            <p:cond delay="0"/>
                                          </p:stCondLst>
                                        </p:cTn>
                                        <p:tgtEl>
                                          <p:spTgt spid="72"/>
                                        </p:tgtEl>
                                        <p:attrNameLst>
                                          <p:attrName>style.visibility</p:attrName>
                                        </p:attrNameLst>
                                      </p:cBhvr>
                                      <p:to>
                                        <p:strVal val="visible"/>
                                      </p:to>
                                    </p:set>
                                    <p:anim calcmode="lin" valueType="num">
                                      <p:cBhvr>
                                        <p:cTn id="84" dur="500" fill="hold"/>
                                        <p:tgtEl>
                                          <p:spTgt spid="72"/>
                                        </p:tgtEl>
                                        <p:attrNameLst>
                                          <p:attrName>ppt_x</p:attrName>
                                        </p:attrNameLst>
                                      </p:cBhvr>
                                      <p:tavLst>
                                        <p:tav tm="0">
                                          <p:val>
                                            <p:strVal val="#ppt_x"/>
                                          </p:val>
                                        </p:tav>
                                        <p:tav tm="100000">
                                          <p:val>
                                            <p:strVal val="#ppt_x"/>
                                          </p:val>
                                        </p:tav>
                                      </p:tavLst>
                                    </p:anim>
                                    <p:anim calcmode="lin" valueType="num">
                                      <p:cBhvr>
                                        <p:cTn id="85" dur="500" fill="hold"/>
                                        <p:tgtEl>
                                          <p:spTgt spid="72"/>
                                        </p:tgtEl>
                                        <p:attrNameLst>
                                          <p:attrName>ppt_y</p:attrName>
                                        </p:attrNameLst>
                                      </p:cBhvr>
                                      <p:tavLst>
                                        <p:tav tm="0">
                                          <p:val>
                                            <p:strVal val="#ppt_y-#ppt_h/2"/>
                                          </p:val>
                                        </p:tav>
                                        <p:tav tm="100000">
                                          <p:val>
                                            <p:strVal val="#ppt_y"/>
                                          </p:val>
                                        </p:tav>
                                      </p:tavLst>
                                    </p:anim>
                                    <p:anim calcmode="lin" valueType="num">
                                      <p:cBhvr>
                                        <p:cTn id="86" dur="500" fill="hold"/>
                                        <p:tgtEl>
                                          <p:spTgt spid="72"/>
                                        </p:tgtEl>
                                        <p:attrNameLst>
                                          <p:attrName>ppt_w</p:attrName>
                                        </p:attrNameLst>
                                      </p:cBhvr>
                                      <p:tavLst>
                                        <p:tav tm="0">
                                          <p:val>
                                            <p:strVal val="#ppt_w"/>
                                          </p:val>
                                        </p:tav>
                                        <p:tav tm="100000">
                                          <p:val>
                                            <p:strVal val="#ppt_w"/>
                                          </p:val>
                                        </p:tav>
                                      </p:tavLst>
                                    </p:anim>
                                    <p:anim calcmode="lin" valueType="num">
                                      <p:cBhvr>
                                        <p:cTn id="87" dur="500" fill="hold"/>
                                        <p:tgtEl>
                                          <p:spTgt spid="72"/>
                                        </p:tgtEl>
                                        <p:attrNameLst>
                                          <p:attrName>ppt_h</p:attrName>
                                        </p:attrNameLst>
                                      </p:cBhvr>
                                      <p:tavLst>
                                        <p:tav tm="0">
                                          <p:val>
                                            <p:fltVal val="0"/>
                                          </p:val>
                                        </p:tav>
                                        <p:tav tm="100000">
                                          <p:val>
                                            <p:strVal val="#ppt_h"/>
                                          </p:val>
                                        </p:tav>
                                      </p:tavLst>
                                    </p:anim>
                                  </p:childTnLst>
                                </p:cTn>
                              </p:par>
                            </p:childTnLst>
                          </p:cTn>
                        </p:par>
                        <p:par>
                          <p:cTn id="88" fill="hold">
                            <p:stCondLst>
                              <p:cond delay="6000"/>
                            </p:stCondLst>
                            <p:childTnLst>
                              <p:par>
                                <p:cTn id="89" presetID="17" presetClass="entr" presetSubtype="8" fill="hold" nodeType="afterEffect">
                                  <p:stCondLst>
                                    <p:cond delay="0"/>
                                  </p:stCondLst>
                                  <p:childTnLst>
                                    <p:set>
                                      <p:cBhvr>
                                        <p:cTn id="90" dur="1" fill="hold">
                                          <p:stCondLst>
                                            <p:cond delay="0"/>
                                          </p:stCondLst>
                                        </p:cTn>
                                        <p:tgtEl>
                                          <p:spTgt spid="73"/>
                                        </p:tgtEl>
                                        <p:attrNameLst>
                                          <p:attrName>style.visibility</p:attrName>
                                        </p:attrNameLst>
                                      </p:cBhvr>
                                      <p:to>
                                        <p:strVal val="visible"/>
                                      </p:to>
                                    </p:set>
                                    <p:anim calcmode="lin" valueType="num">
                                      <p:cBhvr>
                                        <p:cTn id="91" dur="500" fill="hold"/>
                                        <p:tgtEl>
                                          <p:spTgt spid="73"/>
                                        </p:tgtEl>
                                        <p:attrNameLst>
                                          <p:attrName>ppt_x</p:attrName>
                                        </p:attrNameLst>
                                      </p:cBhvr>
                                      <p:tavLst>
                                        <p:tav tm="0">
                                          <p:val>
                                            <p:strVal val="#ppt_x-#ppt_w/2"/>
                                          </p:val>
                                        </p:tav>
                                        <p:tav tm="100000">
                                          <p:val>
                                            <p:strVal val="#ppt_x"/>
                                          </p:val>
                                        </p:tav>
                                      </p:tavLst>
                                    </p:anim>
                                    <p:anim calcmode="lin" valueType="num">
                                      <p:cBhvr>
                                        <p:cTn id="92" dur="500" fill="hold"/>
                                        <p:tgtEl>
                                          <p:spTgt spid="73"/>
                                        </p:tgtEl>
                                        <p:attrNameLst>
                                          <p:attrName>ppt_y</p:attrName>
                                        </p:attrNameLst>
                                      </p:cBhvr>
                                      <p:tavLst>
                                        <p:tav tm="0">
                                          <p:val>
                                            <p:strVal val="#ppt_y"/>
                                          </p:val>
                                        </p:tav>
                                        <p:tav tm="100000">
                                          <p:val>
                                            <p:strVal val="#ppt_y"/>
                                          </p:val>
                                        </p:tav>
                                      </p:tavLst>
                                    </p:anim>
                                    <p:anim calcmode="lin" valueType="num">
                                      <p:cBhvr>
                                        <p:cTn id="93" dur="500" fill="hold"/>
                                        <p:tgtEl>
                                          <p:spTgt spid="73"/>
                                        </p:tgtEl>
                                        <p:attrNameLst>
                                          <p:attrName>ppt_w</p:attrName>
                                        </p:attrNameLst>
                                      </p:cBhvr>
                                      <p:tavLst>
                                        <p:tav tm="0">
                                          <p:val>
                                            <p:fltVal val="0"/>
                                          </p:val>
                                        </p:tav>
                                        <p:tav tm="100000">
                                          <p:val>
                                            <p:strVal val="#ppt_w"/>
                                          </p:val>
                                        </p:tav>
                                      </p:tavLst>
                                    </p:anim>
                                    <p:anim calcmode="lin" valueType="num">
                                      <p:cBhvr>
                                        <p:cTn id="94" dur="500" fill="hold"/>
                                        <p:tgtEl>
                                          <p:spTgt spid="73"/>
                                        </p:tgtEl>
                                        <p:attrNameLst>
                                          <p:attrName>ppt_h</p:attrName>
                                        </p:attrNameLst>
                                      </p:cBhvr>
                                      <p:tavLst>
                                        <p:tav tm="0">
                                          <p:val>
                                            <p:strVal val="#ppt_h"/>
                                          </p:val>
                                        </p:tav>
                                        <p:tav tm="100000">
                                          <p:val>
                                            <p:strVal val="#ppt_h"/>
                                          </p:val>
                                        </p:tav>
                                      </p:tavLst>
                                    </p:anim>
                                  </p:childTnLst>
                                </p:cTn>
                              </p:par>
                            </p:childTnLst>
                          </p:cTn>
                        </p:par>
                        <p:par>
                          <p:cTn id="95" fill="hold">
                            <p:stCondLst>
                              <p:cond delay="6500"/>
                            </p:stCondLst>
                            <p:childTnLst>
                              <p:par>
                                <p:cTn id="96" presetID="17" presetClass="entr" presetSubtype="4" fill="hold" nodeType="afterEffect">
                                  <p:stCondLst>
                                    <p:cond delay="0"/>
                                  </p:stCondLst>
                                  <p:childTnLst>
                                    <p:set>
                                      <p:cBhvr>
                                        <p:cTn id="97" dur="1" fill="hold">
                                          <p:stCondLst>
                                            <p:cond delay="0"/>
                                          </p:stCondLst>
                                        </p:cTn>
                                        <p:tgtEl>
                                          <p:spTgt spid="74"/>
                                        </p:tgtEl>
                                        <p:attrNameLst>
                                          <p:attrName>style.visibility</p:attrName>
                                        </p:attrNameLst>
                                      </p:cBhvr>
                                      <p:to>
                                        <p:strVal val="visible"/>
                                      </p:to>
                                    </p:set>
                                    <p:anim calcmode="lin" valueType="num">
                                      <p:cBhvr>
                                        <p:cTn id="98" dur="500" fill="hold"/>
                                        <p:tgtEl>
                                          <p:spTgt spid="74"/>
                                        </p:tgtEl>
                                        <p:attrNameLst>
                                          <p:attrName>ppt_x</p:attrName>
                                        </p:attrNameLst>
                                      </p:cBhvr>
                                      <p:tavLst>
                                        <p:tav tm="0">
                                          <p:val>
                                            <p:strVal val="#ppt_x"/>
                                          </p:val>
                                        </p:tav>
                                        <p:tav tm="100000">
                                          <p:val>
                                            <p:strVal val="#ppt_x"/>
                                          </p:val>
                                        </p:tav>
                                      </p:tavLst>
                                    </p:anim>
                                    <p:anim calcmode="lin" valueType="num">
                                      <p:cBhvr>
                                        <p:cTn id="99" dur="500" fill="hold"/>
                                        <p:tgtEl>
                                          <p:spTgt spid="74"/>
                                        </p:tgtEl>
                                        <p:attrNameLst>
                                          <p:attrName>ppt_y</p:attrName>
                                        </p:attrNameLst>
                                      </p:cBhvr>
                                      <p:tavLst>
                                        <p:tav tm="0">
                                          <p:val>
                                            <p:strVal val="#ppt_y+#ppt_h/2"/>
                                          </p:val>
                                        </p:tav>
                                        <p:tav tm="100000">
                                          <p:val>
                                            <p:strVal val="#ppt_y"/>
                                          </p:val>
                                        </p:tav>
                                      </p:tavLst>
                                    </p:anim>
                                    <p:anim calcmode="lin" valueType="num">
                                      <p:cBhvr>
                                        <p:cTn id="100" dur="500" fill="hold"/>
                                        <p:tgtEl>
                                          <p:spTgt spid="74"/>
                                        </p:tgtEl>
                                        <p:attrNameLst>
                                          <p:attrName>ppt_w</p:attrName>
                                        </p:attrNameLst>
                                      </p:cBhvr>
                                      <p:tavLst>
                                        <p:tav tm="0">
                                          <p:val>
                                            <p:strVal val="#ppt_w"/>
                                          </p:val>
                                        </p:tav>
                                        <p:tav tm="100000">
                                          <p:val>
                                            <p:strVal val="#ppt_w"/>
                                          </p:val>
                                        </p:tav>
                                      </p:tavLst>
                                    </p:anim>
                                    <p:anim calcmode="lin" valueType="num">
                                      <p:cBhvr>
                                        <p:cTn id="101" dur="500" fill="hold"/>
                                        <p:tgtEl>
                                          <p:spTgt spid="74"/>
                                        </p:tgtEl>
                                        <p:attrNameLst>
                                          <p:attrName>ppt_h</p:attrName>
                                        </p:attrNameLst>
                                      </p:cBhvr>
                                      <p:tavLst>
                                        <p:tav tm="0">
                                          <p:val>
                                            <p:fltVal val="0"/>
                                          </p:val>
                                        </p:tav>
                                        <p:tav tm="100000">
                                          <p:val>
                                            <p:strVal val="#ppt_h"/>
                                          </p:val>
                                        </p:tav>
                                      </p:tavLst>
                                    </p:anim>
                                  </p:childTnLst>
                                </p:cTn>
                              </p:par>
                            </p:childTnLst>
                          </p:cTn>
                        </p:par>
                        <p:par>
                          <p:cTn id="102" fill="hold">
                            <p:stCondLst>
                              <p:cond delay="7000"/>
                            </p:stCondLst>
                            <p:childTnLst>
                              <p:par>
                                <p:cTn id="103" presetID="17" presetClass="entr" presetSubtype="8" fill="hold" nodeType="afterEffect">
                                  <p:stCondLst>
                                    <p:cond delay="0"/>
                                  </p:stCondLst>
                                  <p:childTnLst>
                                    <p:set>
                                      <p:cBhvr>
                                        <p:cTn id="104" dur="1" fill="hold">
                                          <p:stCondLst>
                                            <p:cond delay="0"/>
                                          </p:stCondLst>
                                        </p:cTn>
                                        <p:tgtEl>
                                          <p:spTgt spid="75"/>
                                        </p:tgtEl>
                                        <p:attrNameLst>
                                          <p:attrName>style.visibility</p:attrName>
                                        </p:attrNameLst>
                                      </p:cBhvr>
                                      <p:to>
                                        <p:strVal val="visible"/>
                                      </p:to>
                                    </p:set>
                                    <p:anim calcmode="lin" valueType="num">
                                      <p:cBhvr>
                                        <p:cTn id="105" dur="500" fill="hold"/>
                                        <p:tgtEl>
                                          <p:spTgt spid="75"/>
                                        </p:tgtEl>
                                        <p:attrNameLst>
                                          <p:attrName>ppt_x</p:attrName>
                                        </p:attrNameLst>
                                      </p:cBhvr>
                                      <p:tavLst>
                                        <p:tav tm="0">
                                          <p:val>
                                            <p:strVal val="#ppt_x-#ppt_w/2"/>
                                          </p:val>
                                        </p:tav>
                                        <p:tav tm="100000">
                                          <p:val>
                                            <p:strVal val="#ppt_x"/>
                                          </p:val>
                                        </p:tav>
                                      </p:tavLst>
                                    </p:anim>
                                    <p:anim calcmode="lin" valueType="num">
                                      <p:cBhvr>
                                        <p:cTn id="106" dur="500" fill="hold"/>
                                        <p:tgtEl>
                                          <p:spTgt spid="75"/>
                                        </p:tgtEl>
                                        <p:attrNameLst>
                                          <p:attrName>ppt_y</p:attrName>
                                        </p:attrNameLst>
                                      </p:cBhvr>
                                      <p:tavLst>
                                        <p:tav tm="0">
                                          <p:val>
                                            <p:strVal val="#ppt_y"/>
                                          </p:val>
                                        </p:tav>
                                        <p:tav tm="100000">
                                          <p:val>
                                            <p:strVal val="#ppt_y"/>
                                          </p:val>
                                        </p:tav>
                                      </p:tavLst>
                                    </p:anim>
                                    <p:anim calcmode="lin" valueType="num">
                                      <p:cBhvr>
                                        <p:cTn id="107" dur="500" fill="hold"/>
                                        <p:tgtEl>
                                          <p:spTgt spid="75"/>
                                        </p:tgtEl>
                                        <p:attrNameLst>
                                          <p:attrName>ppt_w</p:attrName>
                                        </p:attrNameLst>
                                      </p:cBhvr>
                                      <p:tavLst>
                                        <p:tav tm="0">
                                          <p:val>
                                            <p:fltVal val="0"/>
                                          </p:val>
                                        </p:tav>
                                        <p:tav tm="100000">
                                          <p:val>
                                            <p:strVal val="#ppt_w"/>
                                          </p:val>
                                        </p:tav>
                                      </p:tavLst>
                                    </p:anim>
                                    <p:anim calcmode="lin" valueType="num">
                                      <p:cBhvr>
                                        <p:cTn id="108" dur="500" fill="hold"/>
                                        <p:tgtEl>
                                          <p:spTgt spid="75"/>
                                        </p:tgtEl>
                                        <p:attrNameLst>
                                          <p:attrName>ppt_h</p:attrName>
                                        </p:attrNameLst>
                                      </p:cBhvr>
                                      <p:tavLst>
                                        <p:tav tm="0">
                                          <p:val>
                                            <p:strVal val="#ppt_h"/>
                                          </p:val>
                                        </p:tav>
                                        <p:tav tm="100000">
                                          <p:val>
                                            <p:strVal val="#ppt_h"/>
                                          </p:val>
                                        </p:tav>
                                      </p:tavLst>
                                    </p:anim>
                                  </p:childTnLst>
                                </p:cTn>
                              </p:par>
                            </p:childTnLst>
                          </p:cTn>
                        </p:par>
                        <p:par>
                          <p:cTn id="109" fill="hold">
                            <p:stCondLst>
                              <p:cond delay="7500"/>
                            </p:stCondLst>
                            <p:childTnLst>
                              <p:par>
                                <p:cTn id="110" presetID="17" presetClass="entr" presetSubtype="1" fill="hold" nodeType="afterEffect">
                                  <p:stCondLst>
                                    <p:cond delay="0"/>
                                  </p:stCondLst>
                                  <p:childTnLst>
                                    <p:set>
                                      <p:cBhvr>
                                        <p:cTn id="111" dur="1" fill="hold">
                                          <p:stCondLst>
                                            <p:cond delay="0"/>
                                          </p:stCondLst>
                                        </p:cTn>
                                        <p:tgtEl>
                                          <p:spTgt spid="76"/>
                                        </p:tgtEl>
                                        <p:attrNameLst>
                                          <p:attrName>style.visibility</p:attrName>
                                        </p:attrNameLst>
                                      </p:cBhvr>
                                      <p:to>
                                        <p:strVal val="visible"/>
                                      </p:to>
                                    </p:set>
                                    <p:anim calcmode="lin" valueType="num">
                                      <p:cBhvr>
                                        <p:cTn id="112" dur="500" fill="hold"/>
                                        <p:tgtEl>
                                          <p:spTgt spid="76"/>
                                        </p:tgtEl>
                                        <p:attrNameLst>
                                          <p:attrName>ppt_x</p:attrName>
                                        </p:attrNameLst>
                                      </p:cBhvr>
                                      <p:tavLst>
                                        <p:tav tm="0">
                                          <p:val>
                                            <p:strVal val="#ppt_x"/>
                                          </p:val>
                                        </p:tav>
                                        <p:tav tm="100000">
                                          <p:val>
                                            <p:strVal val="#ppt_x"/>
                                          </p:val>
                                        </p:tav>
                                      </p:tavLst>
                                    </p:anim>
                                    <p:anim calcmode="lin" valueType="num">
                                      <p:cBhvr>
                                        <p:cTn id="113" dur="500" fill="hold"/>
                                        <p:tgtEl>
                                          <p:spTgt spid="76"/>
                                        </p:tgtEl>
                                        <p:attrNameLst>
                                          <p:attrName>ppt_y</p:attrName>
                                        </p:attrNameLst>
                                      </p:cBhvr>
                                      <p:tavLst>
                                        <p:tav tm="0">
                                          <p:val>
                                            <p:strVal val="#ppt_y-#ppt_h/2"/>
                                          </p:val>
                                        </p:tav>
                                        <p:tav tm="100000">
                                          <p:val>
                                            <p:strVal val="#ppt_y"/>
                                          </p:val>
                                        </p:tav>
                                      </p:tavLst>
                                    </p:anim>
                                    <p:anim calcmode="lin" valueType="num">
                                      <p:cBhvr>
                                        <p:cTn id="114" dur="500" fill="hold"/>
                                        <p:tgtEl>
                                          <p:spTgt spid="76"/>
                                        </p:tgtEl>
                                        <p:attrNameLst>
                                          <p:attrName>ppt_w</p:attrName>
                                        </p:attrNameLst>
                                      </p:cBhvr>
                                      <p:tavLst>
                                        <p:tav tm="0">
                                          <p:val>
                                            <p:strVal val="#ppt_w"/>
                                          </p:val>
                                        </p:tav>
                                        <p:tav tm="100000">
                                          <p:val>
                                            <p:strVal val="#ppt_w"/>
                                          </p:val>
                                        </p:tav>
                                      </p:tavLst>
                                    </p:anim>
                                    <p:anim calcmode="lin" valueType="num">
                                      <p:cBhvr>
                                        <p:cTn id="115" dur="500" fill="hold"/>
                                        <p:tgtEl>
                                          <p:spTgt spid="76"/>
                                        </p:tgtEl>
                                        <p:attrNameLst>
                                          <p:attrName>ppt_h</p:attrName>
                                        </p:attrNameLst>
                                      </p:cBhvr>
                                      <p:tavLst>
                                        <p:tav tm="0">
                                          <p:val>
                                            <p:fltVal val="0"/>
                                          </p:val>
                                        </p:tav>
                                        <p:tav tm="100000">
                                          <p:val>
                                            <p:strVal val="#ppt_h"/>
                                          </p:val>
                                        </p:tav>
                                      </p:tavLst>
                                    </p:anim>
                                  </p:childTnLst>
                                </p:cTn>
                              </p:par>
                            </p:childTnLst>
                          </p:cTn>
                        </p:par>
                        <p:par>
                          <p:cTn id="116" fill="hold">
                            <p:stCondLst>
                              <p:cond delay="8000"/>
                            </p:stCondLst>
                            <p:childTnLst>
                              <p:par>
                                <p:cTn id="117" presetID="17" presetClass="entr" presetSubtype="8" fill="hold" nodeType="afterEffect">
                                  <p:stCondLst>
                                    <p:cond delay="0"/>
                                  </p:stCondLst>
                                  <p:childTnLst>
                                    <p:set>
                                      <p:cBhvr>
                                        <p:cTn id="118" dur="1" fill="hold">
                                          <p:stCondLst>
                                            <p:cond delay="0"/>
                                          </p:stCondLst>
                                        </p:cTn>
                                        <p:tgtEl>
                                          <p:spTgt spid="77"/>
                                        </p:tgtEl>
                                        <p:attrNameLst>
                                          <p:attrName>style.visibility</p:attrName>
                                        </p:attrNameLst>
                                      </p:cBhvr>
                                      <p:to>
                                        <p:strVal val="visible"/>
                                      </p:to>
                                    </p:set>
                                    <p:anim calcmode="lin" valueType="num">
                                      <p:cBhvr>
                                        <p:cTn id="119" dur="500" fill="hold"/>
                                        <p:tgtEl>
                                          <p:spTgt spid="77"/>
                                        </p:tgtEl>
                                        <p:attrNameLst>
                                          <p:attrName>ppt_x</p:attrName>
                                        </p:attrNameLst>
                                      </p:cBhvr>
                                      <p:tavLst>
                                        <p:tav tm="0">
                                          <p:val>
                                            <p:strVal val="#ppt_x-#ppt_w/2"/>
                                          </p:val>
                                        </p:tav>
                                        <p:tav tm="100000">
                                          <p:val>
                                            <p:strVal val="#ppt_x"/>
                                          </p:val>
                                        </p:tav>
                                      </p:tavLst>
                                    </p:anim>
                                    <p:anim calcmode="lin" valueType="num">
                                      <p:cBhvr>
                                        <p:cTn id="120" dur="500" fill="hold"/>
                                        <p:tgtEl>
                                          <p:spTgt spid="77"/>
                                        </p:tgtEl>
                                        <p:attrNameLst>
                                          <p:attrName>ppt_y</p:attrName>
                                        </p:attrNameLst>
                                      </p:cBhvr>
                                      <p:tavLst>
                                        <p:tav tm="0">
                                          <p:val>
                                            <p:strVal val="#ppt_y"/>
                                          </p:val>
                                        </p:tav>
                                        <p:tav tm="100000">
                                          <p:val>
                                            <p:strVal val="#ppt_y"/>
                                          </p:val>
                                        </p:tav>
                                      </p:tavLst>
                                    </p:anim>
                                    <p:anim calcmode="lin" valueType="num">
                                      <p:cBhvr>
                                        <p:cTn id="121" dur="500" fill="hold"/>
                                        <p:tgtEl>
                                          <p:spTgt spid="77"/>
                                        </p:tgtEl>
                                        <p:attrNameLst>
                                          <p:attrName>ppt_w</p:attrName>
                                        </p:attrNameLst>
                                      </p:cBhvr>
                                      <p:tavLst>
                                        <p:tav tm="0">
                                          <p:val>
                                            <p:fltVal val="0"/>
                                          </p:val>
                                        </p:tav>
                                        <p:tav tm="100000">
                                          <p:val>
                                            <p:strVal val="#ppt_w"/>
                                          </p:val>
                                        </p:tav>
                                      </p:tavLst>
                                    </p:anim>
                                    <p:anim calcmode="lin" valueType="num">
                                      <p:cBhvr>
                                        <p:cTn id="122" dur="500" fill="hold"/>
                                        <p:tgtEl>
                                          <p:spTgt spid="77"/>
                                        </p:tgtEl>
                                        <p:attrNameLst>
                                          <p:attrName>ppt_h</p:attrName>
                                        </p:attrNameLst>
                                      </p:cBhvr>
                                      <p:tavLst>
                                        <p:tav tm="0">
                                          <p:val>
                                            <p:strVal val="#ppt_h"/>
                                          </p:val>
                                        </p:tav>
                                        <p:tav tm="100000">
                                          <p:val>
                                            <p:strVal val="#ppt_h"/>
                                          </p:val>
                                        </p:tav>
                                      </p:tavLst>
                                    </p:anim>
                                  </p:childTnLst>
                                </p:cTn>
                              </p:par>
                            </p:childTnLst>
                          </p:cTn>
                        </p:par>
                        <p:par>
                          <p:cTn id="123" fill="hold">
                            <p:stCondLst>
                              <p:cond delay="8500"/>
                            </p:stCondLst>
                            <p:childTnLst>
                              <p:par>
                                <p:cTn id="124" presetID="17" presetClass="entr" presetSubtype="8" fill="hold" nodeType="afterEffect">
                                  <p:stCondLst>
                                    <p:cond delay="0"/>
                                  </p:stCondLst>
                                  <p:childTnLst>
                                    <p:set>
                                      <p:cBhvr>
                                        <p:cTn id="125" dur="1" fill="hold">
                                          <p:stCondLst>
                                            <p:cond delay="0"/>
                                          </p:stCondLst>
                                        </p:cTn>
                                        <p:tgtEl>
                                          <p:spTgt spid="79"/>
                                        </p:tgtEl>
                                        <p:attrNameLst>
                                          <p:attrName>style.visibility</p:attrName>
                                        </p:attrNameLst>
                                      </p:cBhvr>
                                      <p:to>
                                        <p:strVal val="visible"/>
                                      </p:to>
                                    </p:set>
                                    <p:anim calcmode="lin" valueType="num">
                                      <p:cBhvr>
                                        <p:cTn id="126" dur="500" fill="hold"/>
                                        <p:tgtEl>
                                          <p:spTgt spid="79"/>
                                        </p:tgtEl>
                                        <p:attrNameLst>
                                          <p:attrName>ppt_x</p:attrName>
                                        </p:attrNameLst>
                                      </p:cBhvr>
                                      <p:tavLst>
                                        <p:tav tm="0">
                                          <p:val>
                                            <p:strVal val="#ppt_x-#ppt_w/2"/>
                                          </p:val>
                                        </p:tav>
                                        <p:tav tm="100000">
                                          <p:val>
                                            <p:strVal val="#ppt_x"/>
                                          </p:val>
                                        </p:tav>
                                      </p:tavLst>
                                    </p:anim>
                                    <p:anim calcmode="lin" valueType="num">
                                      <p:cBhvr>
                                        <p:cTn id="127" dur="500" fill="hold"/>
                                        <p:tgtEl>
                                          <p:spTgt spid="79"/>
                                        </p:tgtEl>
                                        <p:attrNameLst>
                                          <p:attrName>ppt_y</p:attrName>
                                        </p:attrNameLst>
                                      </p:cBhvr>
                                      <p:tavLst>
                                        <p:tav tm="0">
                                          <p:val>
                                            <p:strVal val="#ppt_y"/>
                                          </p:val>
                                        </p:tav>
                                        <p:tav tm="100000">
                                          <p:val>
                                            <p:strVal val="#ppt_y"/>
                                          </p:val>
                                        </p:tav>
                                      </p:tavLst>
                                    </p:anim>
                                    <p:anim calcmode="lin" valueType="num">
                                      <p:cBhvr>
                                        <p:cTn id="128" dur="500" fill="hold"/>
                                        <p:tgtEl>
                                          <p:spTgt spid="79"/>
                                        </p:tgtEl>
                                        <p:attrNameLst>
                                          <p:attrName>ppt_w</p:attrName>
                                        </p:attrNameLst>
                                      </p:cBhvr>
                                      <p:tavLst>
                                        <p:tav tm="0">
                                          <p:val>
                                            <p:fltVal val="0"/>
                                          </p:val>
                                        </p:tav>
                                        <p:tav tm="100000">
                                          <p:val>
                                            <p:strVal val="#ppt_w"/>
                                          </p:val>
                                        </p:tav>
                                      </p:tavLst>
                                    </p:anim>
                                    <p:anim calcmode="lin" valueType="num">
                                      <p:cBhvr>
                                        <p:cTn id="129" dur="500" fill="hold"/>
                                        <p:tgtEl>
                                          <p:spTgt spid="79"/>
                                        </p:tgtEl>
                                        <p:attrNameLst>
                                          <p:attrName>ppt_h</p:attrName>
                                        </p:attrNameLst>
                                      </p:cBhvr>
                                      <p:tavLst>
                                        <p:tav tm="0">
                                          <p:val>
                                            <p:strVal val="#ppt_h"/>
                                          </p:val>
                                        </p:tav>
                                        <p:tav tm="100000">
                                          <p:val>
                                            <p:strVal val="#ppt_h"/>
                                          </p:val>
                                        </p:tav>
                                      </p:tavLst>
                                    </p:anim>
                                  </p:childTnLst>
                                </p:cTn>
                              </p:par>
                            </p:childTnLst>
                          </p:cTn>
                        </p:par>
                        <p:par>
                          <p:cTn id="130" fill="hold">
                            <p:stCondLst>
                              <p:cond delay="9000"/>
                            </p:stCondLst>
                            <p:childTnLst>
                              <p:par>
                                <p:cTn id="131" presetID="17" presetClass="entr" presetSubtype="4" fill="hold" nodeType="afterEffect">
                                  <p:stCondLst>
                                    <p:cond delay="0"/>
                                  </p:stCondLst>
                                  <p:childTnLst>
                                    <p:set>
                                      <p:cBhvr>
                                        <p:cTn id="132" dur="1" fill="hold">
                                          <p:stCondLst>
                                            <p:cond delay="0"/>
                                          </p:stCondLst>
                                        </p:cTn>
                                        <p:tgtEl>
                                          <p:spTgt spid="80"/>
                                        </p:tgtEl>
                                        <p:attrNameLst>
                                          <p:attrName>style.visibility</p:attrName>
                                        </p:attrNameLst>
                                      </p:cBhvr>
                                      <p:to>
                                        <p:strVal val="visible"/>
                                      </p:to>
                                    </p:set>
                                    <p:anim calcmode="lin" valueType="num">
                                      <p:cBhvr>
                                        <p:cTn id="133" dur="500" fill="hold"/>
                                        <p:tgtEl>
                                          <p:spTgt spid="80"/>
                                        </p:tgtEl>
                                        <p:attrNameLst>
                                          <p:attrName>ppt_x</p:attrName>
                                        </p:attrNameLst>
                                      </p:cBhvr>
                                      <p:tavLst>
                                        <p:tav tm="0">
                                          <p:val>
                                            <p:strVal val="#ppt_x"/>
                                          </p:val>
                                        </p:tav>
                                        <p:tav tm="100000">
                                          <p:val>
                                            <p:strVal val="#ppt_x"/>
                                          </p:val>
                                        </p:tav>
                                      </p:tavLst>
                                    </p:anim>
                                    <p:anim calcmode="lin" valueType="num">
                                      <p:cBhvr>
                                        <p:cTn id="134" dur="500" fill="hold"/>
                                        <p:tgtEl>
                                          <p:spTgt spid="80"/>
                                        </p:tgtEl>
                                        <p:attrNameLst>
                                          <p:attrName>ppt_y</p:attrName>
                                        </p:attrNameLst>
                                      </p:cBhvr>
                                      <p:tavLst>
                                        <p:tav tm="0">
                                          <p:val>
                                            <p:strVal val="#ppt_y+#ppt_h/2"/>
                                          </p:val>
                                        </p:tav>
                                        <p:tav tm="100000">
                                          <p:val>
                                            <p:strVal val="#ppt_y"/>
                                          </p:val>
                                        </p:tav>
                                      </p:tavLst>
                                    </p:anim>
                                    <p:anim calcmode="lin" valueType="num">
                                      <p:cBhvr>
                                        <p:cTn id="135" dur="500" fill="hold"/>
                                        <p:tgtEl>
                                          <p:spTgt spid="80"/>
                                        </p:tgtEl>
                                        <p:attrNameLst>
                                          <p:attrName>ppt_w</p:attrName>
                                        </p:attrNameLst>
                                      </p:cBhvr>
                                      <p:tavLst>
                                        <p:tav tm="0">
                                          <p:val>
                                            <p:strVal val="#ppt_w"/>
                                          </p:val>
                                        </p:tav>
                                        <p:tav tm="100000">
                                          <p:val>
                                            <p:strVal val="#ppt_w"/>
                                          </p:val>
                                        </p:tav>
                                      </p:tavLst>
                                    </p:anim>
                                    <p:anim calcmode="lin" valueType="num">
                                      <p:cBhvr>
                                        <p:cTn id="136" dur="500" fill="hold"/>
                                        <p:tgtEl>
                                          <p:spTgt spid="80"/>
                                        </p:tgtEl>
                                        <p:attrNameLst>
                                          <p:attrName>ppt_h</p:attrName>
                                        </p:attrNameLst>
                                      </p:cBhvr>
                                      <p:tavLst>
                                        <p:tav tm="0">
                                          <p:val>
                                            <p:fltVal val="0"/>
                                          </p:val>
                                        </p:tav>
                                        <p:tav tm="100000">
                                          <p:val>
                                            <p:strVal val="#ppt_h"/>
                                          </p:val>
                                        </p:tav>
                                      </p:tavLst>
                                    </p:anim>
                                  </p:childTnLst>
                                </p:cTn>
                              </p:par>
                            </p:childTnLst>
                          </p:cTn>
                        </p:par>
                        <p:par>
                          <p:cTn id="137" fill="hold">
                            <p:stCondLst>
                              <p:cond delay="9500"/>
                            </p:stCondLst>
                            <p:childTnLst>
                              <p:par>
                                <p:cTn id="138" presetID="17" presetClass="entr" presetSubtype="8" fill="hold" nodeType="afterEffect">
                                  <p:stCondLst>
                                    <p:cond delay="0"/>
                                  </p:stCondLst>
                                  <p:childTnLst>
                                    <p:set>
                                      <p:cBhvr>
                                        <p:cTn id="139" dur="1" fill="hold">
                                          <p:stCondLst>
                                            <p:cond delay="0"/>
                                          </p:stCondLst>
                                        </p:cTn>
                                        <p:tgtEl>
                                          <p:spTgt spid="81"/>
                                        </p:tgtEl>
                                        <p:attrNameLst>
                                          <p:attrName>style.visibility</p:attrName>
                                        </p:attrNameLst>
                                      </p:cBhvr>
                                      <p:to>
                                        <p:strVal val="visible"/>
                                      </p:to>
                                    </p:set>
                                    <p:anim calcmode="lin" valueType="num">
                                      <p:cBhvr>
                                        <p:cTn id="140" dur="500" fill="hold"/>
                                        <p:tgtEl>
                                          <p:spTgt spid="81"/>
                                        </p:tgtEl>
                                        <p:attrNameLst>
                                          <p:attrName>ppt_x</p:attrName>
                                        </p:attrNameLst>
                                      </p:cBhvr>
                                      <p:tavLst>
                                        <p:tav tm="0">
                                          <p:val>
                                            <p:strVal val="#ppt_x-#ppt_w/2"/>
                                          </p:val>
                                        </p:tav>
                                        <p:tav tm="100000">
                                          <p:val>
                                            <p:strVal val="#ppt_x"/>
                                          </p:val>
                                        </p:tav>
                                      </p:tavLst>
                                    </p:anim>
                                    <p:anim calcmode="lin" valueType="num">
                                      <p:cBhvr>
                                        <p:cTn id="141" dur="500" fill="hold"/>
                                        <p:tgtEl>
                                          <p:spTgt spid="81"/>
                                        </p:tgtEl>
                                        <p:attrNameLst>
                                          <p:attrName>ppt_y</p:attrName>
                                        </p:attrNameLst>
                                      </p:cBhvr>
                                      <p:tavLst>
                                        <p:tav tm="0">
                                          <p:val>
                                            <p:strVal val="#ppt_y"/>
                                          </p:val>
                                        </p:tav>
                                        <p:tav tm="100000">
                                          <p:val>
                                            <p:strVal val="#ppt_y"/>
                                          </p:val>
                                        </p:tav>
                                      </p:tavLst>
                                    </p:anim>
                                    <p:anim calcmode="lin" valueType="num">
                                      <p:cBhvr>
                                        <p:cTn id="142" dur="500" fill="hold"/>
                                        <p:tgtEl>
                                          <p:spTgt spid="81"/>
                                        </p:tgtEl>
                                        <p:attrNameLst>
                                          <p:attrName>ppt_w</p:attrName>
                                        </p:attrNameLst>
                                      </p:cBhvr>
                                      <p:tavLst>
                                        <p:tav tm="0">
                                          <p:val>
                                            <p:fltVal val="0"/>
                                          </p:val>
                                        </p:tav>
                                        <p:tav tm="100000">
                                          <p:val>
                                            <p:strVal val="#ppt_w"/>
                                          </p:val>
                                        </p:tav>
                                      </p:tavLst>
                                    </p:anim>
                                    <p:anim calcmode="lin" valueType="num">
                                      <p:cBhvr>
                                        <p:cTn id="143" dur="500" fill="hold"/>
                                        <p:tgtEl>
                                          <p:spTgt spid="81"/>
                                        </p:tgtEl>
                                        <p:attrNameLst>
                                          <p:attrName>ppt_h</p:attrName>
                                        </p:attrNameLst>
                                      </p:cBhvr>
                                      <p:tavLst>
                                        <p:tav tm="0">
                                          <p:val>
                                            <p:strVal val="#ppt_h"/>
                                          </p:val>
                                        </p:tav>
                                        <p:tav tm="100000">
                                          <p:val>
                                            <p:strVal val="#ppt_h"/>
                                          </p:val>
                                        </p:tav>
                                      </p:tavLst>
                                    </p:anim>
                                  </p:childTnLst>
                                </p:cTn>
                              </p:par>
                            </p:childTnLst>
                          </p:cTn>
                        </p:par>
                        <p:par>
                          <p:cTn id="144" fill="hold">
                            <p:stCondLst>
                              <p:cond delay="10000"/>
                            </p:stCondLst>
                            <p:childTnLst>
                              <p:par>
                                <p:cTn id="145" presetID="17" presetClass="entr" presetSubtype="1" fill="hold" nodeType="afterEffect">
                                  <p:stCondLst>
                                    <p:cond delay="0"/>
                                  </p:stCondLst>
                                  <p:childTnLst>
                                    <p:set>
                                      <p:cBhvr>
                                        <p:cTn id="146" dur="1" fill="hold">
                                          <p:stCondLst>
                                            <p:cond delay="0"/>
                                          </p:stCondLst>
                                        </p:cTn>
                                        <p:tgtEl>
                                          <p:spTgt spid="82"/>
                                        </p:tgtEl>
                                        <p:attrNameLst>
                                          <p:attrName>style.visibility</p:attrName>
                                        </p:attrNameLst>
                                      </p:cBhvr>
                                      <p:to>
                                        <p:strVal val="visible"/>
                                      </p:to>
                                    </p:set>
                                    <p:anim calcmode="lin" valueType="num">
                                      <p:cBhvr>
                                        <p:cTn id="147" dur="500" fill="hold"/>
                                        <p:tgtEl>
                                          <p:spTgt spid="82"/>
                                        </p:tgtEl>
                                        <p:attrNameLst>
                                          <p:attrName>ppt_x</p:attrName>
                                        </p:attrNameLst>
                                      </p:cBhvr>
                                      <p:tavLst>
                                        <p:tav tm="0">
                                          <p:val>
                                            <p:strVal val="#ppt_x"/>
                                          </p:val>
                                        </p:tav>
                                        <p:tav tm="100000">
                                          <p:val>
                                            <p:strVal val="#ppt_x"/>
                                          </p:val>
                                        </p:tav>
                                      </p:tavLst>
                                    </p:anim>
                                    <p:anim calcmode="lin" valueType="num">
                                      <p:cBhvr>
                                        <p:cTn id="148" dur="500" fill="hold"/>
                                        <p:tgtEl>
                                          <p:spTgt spid="82"/>
                                        </p:tgtEl>
                                        <p:attrNameLst>
                                          <p:attrName>ppt_y</p:attrName>
                                        </p:attrNameLst>
                                      </p:cBhvr>
                                      <p:tavLst>
                                        <p:tav tm="0">
                                          <p:val>
                                            <p:strVal val="#ppt_y-#ppt_h/2"/>
                                          </p:val>
                                        </p:tav>
                                        <p:tav tm="100000">
                                          <p:val>
                                            <p:strVal val="#ppt_y"/>
                                          </p:val>
                                        </p:tav>
                                      </p:tavLst>
                                    </p:anim>
                                    <p:anim calcmode="lin" valueType="num">
                                      <p:cBhvr>
                                        <p:cTn id="149" dur="500" fill="hold"/>
                                        <p:tgtEl>
                                          <p:spTgt spid="82"/>
                                        </p:tgtEl>
                                        <p:attrNameLst>
                                          <p:attrName>ppt_w</p:attrName>
                                        </p:attrNameLst>
                                      </p:cBhvr>
                                      <p:tavLst>
                                        <p:tav tm="0">
                                          <p:val>
                                            <p:strVal val="#ppt_w"/>
                                          </p:val>
                                        </p:tav>
                                        <p:tav tm="100000">
                                          <p:val>
                                            <p:strVal val="#ppt_w"/>
                                          </p:val>
                                        </p:tav>
                                      </p:tavLst>
                                    </p:anim>
                                    <p:anim calcmode="lin" valueType="num">
                                      <p:cBhvr>
                                        <p:cTn id="150" dur="500" fill="hold"/>
                                        <p:tgtEl>
                                          <p:spTgt spid="82"/>
                                        </p:tgtEl>
                                        <p:attrNameLst>
                                          <p:attrName>ppt_h</p:attrName>
                                        </p:attrNameLst>
                                      </p:cBhvr>
                                      <p:tavLst>
                                        <p:tav tm="0">
                                          <p:val>
                                            <p:fltVal val="0"/>
                                          </p:val>
                                        </p:tav>
                                        <p:tav tm="100000">
                                          <p:val>
                                            <p:strVal val="#ppt_h"/>
                                          </p:val>
                                        </p:tav>
                                      </p:tavLst>
                                    </p:anim>
                                  </p:childTnLst>
                                </p:cTn>
                              </p:par>
                            </p:childTnLst>
                          </p:cTn>
                        </p:par>
                        <p:par>
                          <p:cTn id="151" fill="hold">
                            <p:stCondLst>
                              <p:cond delay="10500"/>
                            </p:stCondLst>
                            <p:childTnLst>
                              <p:par>
                                <p:cTn id="152" presetID="17" presetClass="entr" presetSubtype="8" fill="hold" nodeType="afterEffect">
                                  <p:stCondLst>
                                    <p:cond delay="0"/>
                                  </p:stCondLst>
                                  <p:childTnLst>
                                    <p:set>
                                      <p:cBhvr>
                                        <p:cTn id="153" dur="1" fill="hold">
                                          <p:stCondLst>
                                            <p:cond delay="0"/>
                                          </p:stCondLst>
                                        </p:cTn>
                                        <p:tgtEl>
                                          <p:spTgt spid="83"/>
                                        </p:tgtEl>
                                        <p:attrNameLst>
                                          <p:attrName>style.visibility</p:attrName>
                                        </p:attrNameLst>
                                      </p:cBhvr>
                                      <p:to>
                                        <p:strVal val="visible"/>
                                      </p:to>
                                    </p:set>
                                    <p:anim calcmode="lin" valueType="num">
                                      <p:cBhvr>
                                        <p:cTn id="154" dur="500" fill="hold"/>
                                        <p:tgtEl>
                                          <p:spTgt spid="83"/>
                                        </p:tgtEl>
                                        <p:attrNameLst>
                                          <p:attrName>ppt_x</p:attrName>
                                        </p:attrNameLst>
                                      </p:cBhvr>
                                      <p:tavLst>
                                        <p:tav tm="0">
                                          <p:val>
                                            <p:strVal val="#ppt_x-#ppt_w/2"/>
                                          </p:val>
                                        </p:tav>
                                        <p:tav tm="100000">
                                          <p:val>
                                            <p:strVal val="#ppt_x"/>
                                          </p:val>
                                        </p:tav>
                                      </p:tavLst>
                                    </p:anim>
                                    <p:anim calcmode="lin" valueType="num">
                                      <p:cBhvr>
                                        <p:cTn id="155" dur="500" fill="hold"/>
                                        <p:tgtEl>
                                          <p:spTgt spid="83"/>
                                        </p:tgtEl>
                                        <p:attrNameLst>
                                          <p:attrName>ppt_y</p:attrName>
                                        </p:attrNameLst>
                                      </p:cBhvr>
                                      <p:tavLst>
                                        <p:tav tm="0">
                                          <p:val>
                                            <p:strVal val="#ppt_y"/>
                                          </p:val>
                                        </p:tav>
                                        <p:tav tm="100000">
                                          <p:val>
                                            <p:strVal val="#ppt_y"/>
                                          </p:val>
                                        </p:tav>
                                      </p:tavLst>
                                    </p:anim>
                                    <p:anim calcmode="lin" valueType="num">
                                      <p:cBhvr>
                                        <p:cTn id="156" dur="500" fill="hold"/>
                                        <p:tgtEl>
                                          <p:spTgt spid="83"/>
                                        </p:tgtEl>
                                        <p:attrNameLst>
                                          <p:attrName>ppt_w</p:attrName>
                                        </p:attrNameLst>
                                      </p:cBhvr>
                                      <p:tavLst>
                                        <p:tav tm="0">
                                          <p:val>
                                            <p:fltVal val="0"/>
                                          </p:val>
                                        </p:tav>
                                        <p:tav tm="100000">
                                          <p:val>
                                            <p:strVal val="#ppt_w"/>
                                          </p:val>
                                        </p:tav>
                                      </p:tavLst>
                                    </p:anim>
                                    <p:anim calcmode="lin" valueType="num">
                                      <p:cBhvr>
                                        <p:cTn id="157" dur="500" fill="hold"/>
                                        <p:tgtEl>
                                          <p:spTgt spid="83"/>
                                        </p:tgtEl>
                                        <p:attrNameLst>
                                          <p:attrName>ppt_h</p:attrName>
                                        </p:attrNameLst>
                                      </p:cBhvr>
                                      <p:tavLst>
                                        <p:tav tm="0">
                                          <p:val>
                                            <p:strVal val="#ppt_h"/>
                                          </p:val>
                                        </p:tav>
                                        <p:tav tm="100000">
                                          <p:val>
                                            <p:strVal val="#ppt_h"/>
                                          </p:val>
                                        </p:tav>
                                      </p:tavLst>
                                    </p:anim>
                                  </p:childTnLst>
                                </p:cTn>
                              </p:par>
                            </p:childTnLst>
                          </p:cTn>
                        </p:par>
                        <p:par>
                          <p:cTn id="158" fill="hold">
                            <p:stCondLst>
                              <p:cond delay="11000"/>
                            </p:stCondLst>
                            <p:childTnLst>
                              <p:par>
                                <p:cTn id="159" presetID="17" presetClass="entr" presetSubtype="4" fill="hold" nodeType="afterEffect">
                                  <p:stCondLst>
                                    <p:cond delay="0"/>
                                  </p:stCondLst>
                                  <p:childTnLst>
                                    <p:set>
                                      <p:cBhvr>
                                        <p:cTn id="160" dur="1" fill="hold">
                                          <p:stCondLst>
                                            <p:cond delay="0"/>
                                          </p:stCondLst>
                                        </p:cTn>
                                        <p:tgtEl>
                                          <p:spTgt spid="84"/>
                                        </p:tgtEl>
                                        <p:attrNameLst>
                                          <p:attrName>style.visibility</p:attrName>
                                        </p:attrNameLst>
                                      </p:cBhvr>
                                      <p:to>
                                        <p:strVal val="visible"/>
                                      </p:to>
                                    </p:set>
                                    <p:anim calcmode="lin" valueType="num">
                                      <p:cBhvr>
                                        <p:cTn id="161" dur="500" fill="hold"/>
                                        <p:tgtEl>
                                          <p:spTgt spid="84"/>
                                        </p:tgtEl>
                                        <p:attrNameLst>
                                          <p:attrName>ppt_x</p:attrName>
                                        </p:attrNameLst>
                                      </p:cBhvr>
                                      <p:tavLst>
                                        <p:tav tm="0">
                                          <p:val>
                                            <p:strVal val="#ppt_x"/>
                                          </p:val>
                                        </p:tav>
                                        <p:tav tm="100000">
                                          <p:val>
                                            <p:strVal val="#ppt_x"/>
                                          </p:val>
                                        </p:tav>
                                      </p:tavLst>
                                    </p:anim>
                                    <p:anim calcmode="lin" valueType="num">
                                      <p:cBhvr>
                                        <p:cTn id="162" dur="500" fill="hold"/>
                                        <p:tgtEl>
                                          <p:spTgt spid="84"/>
                                        </p:tgtEl>
                                        <p:attrNameLst>
                                          <p:attrName>ppt_y</p:attrName>
                                        </p:attrNameLst>
                                      </p:cBhvr>
                                      <p:tavLst>
                                        <p:tav tm="0">
                                          <p:val>
                                            <p:strVal val="#ppt_y+#ppt_h/2"/>
                                          </p:val>
                                        </p:tav>
                                        <p:tav tm="100000">
                                          <p:val>
                                            <p:strVal val="#ppt_y"/>
                                          </p:val>
                                        </p:tav>
                                      </p:tavLst>
                                    </p:anim>
                                    <p:anim calcmode="lin" valueType="num">
                                      <p:cBhvr>
                                        <p:cTn id="163" dur="500" fill="hold"/>
                                        <p:tgtEl>
                                          <p:spTgt spid="84"/>
                                        </p:tgtEl>
                                        <p:attrNameLst>
                                          <p:attrName>ppt_w</p:attrName>
                                        </p:attrNameLst>
                                      </p:cBhvr>
                                      <p:tavLst>
                                        <p:tav tm="0">
                                          <p:val>
                                            <p:strVal val="#ppt_w"/>
                                          </p:val>
                                        </p:tav>
                                        <p:tav tm="100000">
                                          <p:val>
                                            <p:strVal val="#ppt_w"/>
                                          </p:val>
                                        </p:tav>
                                      </p:tavLst>
                                    </p:anim>
                                    <p:anim calcmode="lin" valueType="num">
                                      <p:cBhvr>
                                        <p:cTn id="164" dur="500" fill="hold"/>
                                        <p:tgtEl>
                                          <p:spTgt spid="84"/>
                                        </p:tgtEl>
                                        <p:attrNameLst>
                                          <p:attrName>ppt_h</p:attrName>
                                        </p:attrNameLst>
                                      </p:cBhvr>
                                      <p:tavLst>
                                        <p:tav tm="0">
                                          <p:val>
                                            <p:fltVal val="0"/>
                                          </p:val>
                                        </p:tav>
                                        <p:tav tm="100000">
                                          <p:val>
                                            <p:strVal val="#ppt_h"/>
                                          </p:val>
                                        </p:tav>
                                      </p:tavLst>
                                    </p:anim>
                                  </p:childTnLst>
                                </p:cTn>
                              </p:par>
                            </p:childTnLst>
                          </p:cTn>
                        </p:par>
                        <p:par>
                          <p:cTn id="165" fill="hold">
                            <p:stCondLst>
                              <p:cond delay="11500"/>
                            </p:stCondLst>
                            <p:childTnLst>
                              <p:par>
                                <p:cTn id="166" presetID="17" presetClass="entr" presetSubtype="8" fill="hold" nodeType="afterEffect">
                                  <p:stCondLst>
                                    <p:cond delay="0"/>
                                  </p:stCondLst>
                                  <p:childTnLst>
                                    <p:set>
                                      <p:cBhvr>
                                        <p:cTn id="167" dur="1" fill="hold">
                                          <p:stCondLst>
                                            <p:cond delay="0"/>
                                          </p:stCondLst>
                                        </p:cTn>
                                        <p:tgtEl>
                                          <p:spTgt spid="85"/>
                                        </p:tgtEl>
                                        <p:attrNameLst>
                                          <p:attrName>style.visibility</p:attrName>
                                        </p:attrNameLst>
                                      </p:cBhvr>
                                      <p:to>
                                        <p:strVal val="visible"/>
                                      </p:to>
                                    </p:set>
                                    <p:anim calcmode="lin" valueType="num">
                                      <p:cBhvr>
                                        <p:cTn id="168" dur="500" fill="hold"/>
                                        <p:tgtEl>
                                          <p:spTgt spid="85"/>
                                        </p:tgtEl>
                                        <p:attrNameLst>
                                          <p:attrName>ppt_x</p:attrName>
                                        </p:attrNameLst>
                                      </p:cBhvr>
                                      <p:tavLst>
                                        <p:tav tm="0">
                                          <p:val>
                                            <p:strVal val="#ppt_x-#ppt_w/2"/>
                                          </p:val>
                                        </p:tav>
                                        <p:tav tm="100000">
                                          <p:val>
                                            <p:strVal val="#ppt_x"/>
                                          </p:val>
                                        </p:tav>
                                      </p:tavLst>
                                    </p:anim>
                                    <p:anim calcmode="lin" valueType="num">
                                      <p:cBhvr>
                                        <p:cTn id="169" dur="500" fill="hold"/>
                                        <p:tgtEl>
                                          <p:spTgt spid="85"/>
                                        </p:tgtEl>
                                        <p:attrNameLst>
                                          <p:attrName>ppt_y</p:attrName>
                                        </p:attrNameLst>
                                      </p:cBhvr>
                                      <p:tavLst>
                                        <p:tav tm="0">
                                          <p:val>
                                            <p:strVal val="#ppt_y"/>
                                          </p:val>
                                        </p:tav>
                                        <p:tav tm="100000">
                                          <p:val>
                                            <p:strVal val="#ppt_y"/>
                                          </p:val>
                                        </p:tav>
                                      </p:tavLst>
                                    </p:anim>
                                    <p:anim calcmode="lin" valueType="num">
                                      <p:cBhvr>
                                        <p:cTn id="170" dur="500" fill="hold"/>
                                        <p:tgtEl>
                                          <p:spTgt spid="85"/>
                                        </p:tgtEl>
                                        <p:attrNameLst>
                                          <p:attrName>ppt_w</p:attrName>
                                        </p:attrNameLst>
                                      </p:cBhvr>
                                      <p:tavLst>
                                        <p:tav tm="0">
                                          <p:val>
                                            <p:fltVal val="0"/>
                                          </p:val>
                                        </p:tav>
                                        <p:tav tm="100000">
                                          <p:val>
                                            <p:strVal val="#ppt_w"/>
                                          </p:val>
                                        </p:tav>
                                      </p:tavLst>
                                    </p:anim>
                                    <p:anim calcmode="lin" valueType="num">
                                      <p:cBhvr>
                                        <p:cTn id="171" dur="500" fill="hold"/>
                                        <p:tgtEl>
                                          <p:spTgt spid="85"/>
                                        </p:tgtEl>
                                        <p:attrNameLst>
                                          <p:attrName>ppt_h</p:attrName>
                                        </p:attrNameLst>
                                      </p:cBhvr>
                                      <p:tavLst>
                                        <p:tav tm="0">
                                          <p:val>
                                            <p:strVal val="#ppt_h"/>
                                          </p:val>
                                        </p:tav>
                                        <p:tav tm="100000">
                                          <p:val>
                                            <p:strVal val="#ppt_h"/>
                                          </p:val>
                                        </p:tav>
                                      </p:tavLst>
                                    </p:anim>
                                  </p:childTnLst>
                                </p:cTn>
                              </p:par>
                            </p:childTnLst>
                          </p:cTn>
                        </p:par>
                        <p:par>
                          <p:cTn id="172" fill="hold">
                            <p:stCondLst>
                              <p:cond delay="12000"/>
                            </p:stCondLst>
                            <p:childTnLst>
                              <p:par>
                                <p:cTn id="173" presetID="17" presetClass="entr" presetSubtype="1" fill="hold" nodeType="afterEffect">
                                  <p:stCondLst>
                                    <p:cond delay="0"/>
                                  </p:stCondLst>
                                  <p:childTnLst>
                                    <p:set>
                                      <p:cBhvr>
                                        <p:cTn id="174" dur="1" fill="hold">
                                          <p:stCondLst>
                                            <p:cond delay="0"/>
                                          </p:stCondLst>
                                        </p:cTn>
                                        <p:tgtEl>
                                          <p:spTgt spid="86"/>
                                        </p:tgtEl>
                                        <p:attrNameLst>
                                          <p:attrName>style.visibility</p:attrName>
                                        </p:attrNameLst>
                                      </p:cBhvr>
                                      <p:to>
                                        <p:strVal val="visible"/>
                                      </p:to>
                                    </p:set>
                                    <p:anim calcmode="lin" valueType="num">
                                      <p:cBhvr>
                                        <p:cTn id="175" dur="500" fill="hold"/>
                                        <p:tgtEl>
                                          <p:spTgt spid="86"/>
                                        </p:tgtEl>
                                        <p:attrNameLst>
                                          <p:attrName>ppt_x</p:attrName>
                                        </p:attrNameLst>
                                      </p:cBhvr>
                                      <p:tavLst>
                                        <p:tav tm="0">
                                          <p:val>
                                            <p:strVal val="#ppt_x"/>
                                          </p:val>
                                        </p:tav>
                                        <p:tav tm="100000">
                                          <p:val>
                                            <p:strVal val="#ppt_x"/>
                                          </p:val>
                                        </p:tav>
                                      </p:tavLst>
                                    </p:anim>
                                    <p:anim calcmode="lin" valueType="num">
                                      <p:cBhvr>
                                        <p:cTn id="176" dur="500" fill="hold"/>
                                        <p:tgtEl>
                                          <p:spTgt spid="86"/>
                                        </p:tgtEl>
                                        <p:attrNameLst>
                                          <p:attrName>ppt_y</p:attrName>
                                        </p:attrNameLst>
                                      </p:cBhvr>
                                      <p:tavLst>
                                        <p:tav tm="0">
                                          <p:val>
                                            <p:strVal val="#ppt_y-#ppt_h/2"/>
                                          </p:val>
                                        </p:tav>
                                        <p:tav tm="100000">
                                          <p:val>
                                            <p:strVal val="#ppt_y"/>
                                          </p:val>
                                        </p:tav>
                                      </p:tavLst>
                                    </p:anim>
                                    <p:anim calcmode="lin" valueType="num">
                                      <p:cBhvr>
                                        <p:cTn id="177" dur="500" fill="hold"/>
                                        <p:tgtEl>
                                          <p:spTgt spid="86"/>
                                        </p:tgtEl>
                                        <p:attrNameLst>
                                          <p:attrName>ppt_w</p:attrName>
                                        </p:attrNameLst>
                                      </p:cBhvr>
                                      <p:tavLst>
                                        <p:tav tm="0">
                                          <p:val>
                                            <p:strVal val="#ppt_w"/>
                                          </p:val>
                                        </p:tav>
                                        <p:tav tm="100000">
                                          <p:val>
                                            <p:strVal val="#ppt_w"/>
                                          </p:val>
                                        </p:tav>
                                      </p:tavLst>
                                    </p:anim>
                                    <p:anim calcmode="lin" valueType="num">
                                      <p:cBhvr>
                                        <p:cTn id="178" dur="500" fill="hold"/>
                                        <p:tgtEl>
                                          <p:spTgt spid="86"/>
                                        </p:tgtEl>
                                        <p:attrNameLst>
                                          <p:attrName>ppt_h</p:attrName>
                                        </p:attrNameLst>
                                      </p:cBhvr>
                                      <p:tavLst>
                                        <p:tav tm="0">
                                          <p:val>
                                            <p:fltVal val="0"/>
                                          </p:val>
                                        </p:tav>
                                        <p:tav tm="100000">
                                          <p:val>
                                            <p:strVal val="#ppt_h"/>
                                          </p:val>
                                        </p:tav>
                                      </p:tavLst>
                                    </p:anim>
                                  </p:childTnLst>
                                </p:cTn>
                              </p:par>
                            </p:childTnLst>
                          </p:cTn>
                        </p:par>
                        <p:par>
                          <p:cTn id="179" fill="hold">
                            <p:stCondLst>
                              <p:cond delay="12500"/>
                            </p:stCondLst>
                            <p:childTnLst>
                              <p:par>
                                <p:cTn id="180" presetID="17" presetClass="entr" presetSubtype="8" fill="hold" nodeType="afterEffect">
                                  <p:stCondLst>
                                    <p:cond delay="0"/>
                                  </p:stCondLst>
                                  <p:childTnLst>
                                    <p:set>
                                      <p:cBhvr>
                                        <p:cTn id="181" dur="1" fill="hold">
                                          <p:stCondLst>
                                            <p:cond delay="0"/>
                                          </p:stCondLst>
                                        </p:cTn>
                                        <p:tgtEl>
                                          <p:spTgt spid="87"/>
                                        </p:tgtEl>
                                        <p:attrNameLst>
                                          <p:attrName>style.visibility</p:attrName>
                                        </p:attrNameLst>
                                      </p:cBhvr>
                                      <p:to>
                                        <p:strVal val="visible"/>
                                      </p:to>
                                    </p:set>
                                    <p:anim calcmode="lin" valueType="num">
                                      <p:cBhvr>
                                        <p:cTn id="182" dur="500" fill="hold"/>
                                        <p:tgtEl>
                                          <p:spTgt spid="87"/>
                                        </p:tgtEl>
                                        <p:attrNameLst>
                                          <p:attrName>ppt_x</p:attrName>
                                        </p:attrNameLst>
                                      </p:cBhvr>
                                      <p:tavLst>
                                        <p:tav tm="0">
                                          <p:val>
                                            <p:strVal val="#ppt_x-#ppt_w/2"/>
                                          </p:val>
                                        </p:tav>
                                        <p:tav tm="100000">
                                          <p:val>
                                            <p:strVal val="#ppt_x"/>
                                          </p:val>
                                        </p:tav>
                                      </p:tavLst>
                                    </p:anim>
                                    <p:anim calcmode="lin" valueType="num">
                                      <p:cBhvr>
                                        <p:cTn id="183" dur="500" fill="hold"/>
                                        <p:tgtEl>
                                          <p:spTgt spid="87"/>
                                        </p:tgtEl>
                                        <p:attrNameLst>
                                          <p:attrName>ppt_y</p:attrName>
                                        </p:attrNameLst>
                                      </p:cBhvr>
                                      <p:tavLst>
                                        <p:tav tm="0">
                                          <p:val>
                                            <p:strVal val="#ppt_y"/>
                                          </p:val>
                                        </p:tav>
                                        <p:tav tm="100000">
                                          <p:val>
                                            <p:strVal val="#ppt_y"/>
                                          </p:val>
                                        </p:tav>
                                      </p:tavLst>
                                    </p:anim>
                                    <p:anim calcmode="lin" valueType="num">
                                      <p:cBhvr>
                                        <p:cTn id="184" dur="500" fill="hold"/>
                                        <p:tgtEl>
                                          <p:spTgt spid="87"/>
                                        </p:tgtEl>
                                        <p:attrNameLst>
                                          <p:attrName>ppt_w</p:attrName>
                                        </p:attrNameLst>
                                      </p:cBhvr>
                                      <p:tavLst>
                                        <p:tav tm="0">
                                          <p:val>
                                            <p:fltVal val="0"/>
                                          </p:val>
                                        </p:tav>
                                        <p:tav tm="100000">
                                          <p:val>
                                            <p:strVal val="#ppt_w"/>
                                          </p:val>
                                        </p:tav>
                                      </p:tavLst>
                                    </p:anim>
                                    <p:anim calcmode="lin" valueType="num">
                                      <p:cBhvr>
                                        <p:cTn id="185" dur="500" fill="hold"/>
                                        <p:tgtEl>
                                          <p:spTgt spid="87"/>
                                        </p:tgtEl>
                                        <p:attrNameLst>
                                          <p:attrName>ppt_h</p:attrName>
                                        </p:attrNameLst>
                                      </p:cBhvr>
                                      <p:tavLst>
                                        <p:tav tm="0">
                                          <p:val>
                                            <p:strVal val="#ppt_h"/>
                                          </p:val>
                                        </p:tav>
                                        <p:tav tm="100000">
                                          <p:val>
                                            <p:strVal val="#ppt_h"/>
                                          </p:val>
                                        </p:tav>
                                      </p:tavLst>
                                    </p:anim>
                                  </p:childTnLst>
                                </p:cTn>
                              </p:par>
                            </p:childTnLst>
                          </p:cTn>
                        </p:par>
                        <p:par>
                          <p:cTn id="186" fill="hold">
                            <p:stCondLst>
                              <p:cond delay="13000"/>
                            </p:stCondLst>
                            <p:childTnLst>
                              <p:par>
                                <p:cTn id="187" presetID="17" presetClass="entr" presetSubtype="4" fill="hold" nodeType="afterEffect">
                                  <p:stCondLst>
                                    <p:cond delay="0"/>
                                  </p:stCondLst>
                                  <p:childTnLst>
                                    <p:set>
                                      <p:cBhvr>
                                        <p:cTn id="188" dur="1" fill="hold">
                                          <p:stCondLst>
                                            <p:cond delay="0"/>
                                          </p:stCondLst>
                                        </p:cTn>
                                        <p:tgtEl>
                                          <p:spTgt spid="88"/>
                                        </p:tgtEl>
                                        <p:attrNameLst>
                                          <p:attrName>style.visibility</p:attrName>
                                        </p:attrNameLst>
                                      </p:cBhvr>
                                      <p:to>
                                        <p:strVal val="visible"/>
                                      </p:to>
                                    </p:set>
                                    <p:anim calcmode="lin" valueType="num">
                                      <p:cBhvr>
                                        <p:cTn id="189" dur="500" fill="hold"/>
                                        <p:tgtEl>
                                          <p:spTgt spid="88"/>
                                        </p:tgtEl>
                                        <p:attrNameLst>
                                          <p:attrName>ppt_x</p:attrName>
                                        </p:attrNameLst>
                                      </p:cBhvr>
                                      <p:tavLst>
                                        <p:tav tm="0">
                                          <p:val>
                                            <p:strVal val="#ppt_x"/>
                                          </p:val>
                                        </p:tav>
                                        <p:tav tm="100000">
                                          <p:val>
                                            <p:strVal val="#ppt_x"/>
                                          </p:val>
                                        </p:tav>
                                      </p:tavLst>
                                    </p:anim>
                                    <p:anim calcmode="lin" valueType="num">
                                      <p:cBhvr>
                                        <p:cTn id="190" dur="500" fill="hold"/>
                                        <p:tgtEl>
                                          <p:spTgt spid="88"/>
                                        </p:tgtEl>
                                        <p:attrNameLst>
                                          <p:attrName>ppt_y</p:attrName>
                                        </p:attrNameLst>
                                      </p:cBhvr>
                                      <p:tavLst>
                                        <p:tav tm="0">
                                          <p:val>
                                            <p:strVal val="#ppt_y+#ppt_h/2"/>
                                          </p:val>
                                        </p:tav>
                                        <p:tav tm="100000">
                                          <p:val>
                                            <p:strVal val="#ppt_y"/>
                                          </p:val>
                                        </p:tav>
                                      </p:tavLst>
                                    </p:anim>
                                    <p:anim calcmode="lin" valueType="num">
                                      <p:cBhvr>
                                        <p:cTn id="191" dur="500" fill="hold"/>
                                        <p:tgtEl>
                                          <p:spTgt spid="88"/>
                                        </p:tgtEl>
                                        <p:attrNameLst>
                                          <p:attrName>ppt_w</p:attrName>
                                        </p:attrNameLst>
                                      </p:cBhvr>
                                      <p:tavLst>
                                        <p:tav tm="0">
                                          <p:val>
                                            <p:strVal val="#ppt_w"/>
                                          </p:val>
                                        </p:tav>
                                        <p:tav tm="100000">
                                          <p:val>
                                            <p:strVal val="#ppt_w"/>
                                          </p:val>
                                        </p:tav>
                                      </p:tavLst>
                                    </p:anim>
                                    <p:anim calcmode="lin" valueType="num">
                                      <p:cBhvr>
                                        <p:cTn id="192" dur="500" fill="hold"/>
                                        <p:tgtEl>
                                          <p:spTgt spid="88"/>
                                        </p:tgtEl>
                                        <p:attrNameLst>
                                          <p:attrName>ppt_h</p:attrName>
                                        </p:attrNameLst>
                                      </p:cBhvr>
                                      <p:tavLst>
                                        <p:tav tm="0">
                                          <p:val>
                                            <p:fltVal val="0"/>
                                          </p:val>
                                        </p:tav>
                                        <p:tav tm="100000">
                                          <p:val>
                                            <p:strVal val="#ppt_h"/>
                                          </p:val>
                                        </p:tav>
                                      </p:tavLst>
                                    </p:anim>
                                  </p:childTnLst>
                                </p:cTn>
                              </p:par>
                            </p:childTnLst>
                          </p:cTn>
                        </p:par>
                        <p:par>
                          <p:cTn id="193" fill="hold">
                            <p:stCondLst>
                              <p:cond delay="13500"/>
                            </p:stCondLst>
                            <p:childTnLst>
                              <p:par>
                                <p:cTn id="194" presetID="17" presetClass="entr" presetSubtype="8" fill="hold" nodeType="afterEffect">
                                  <p:stCondLst>
                                    <p:cond delay="0"/>
                                  </p:stCondLst>
                                  <p:childTnLst>
                                    <p:set>
                                      <p:cBhvr>
                                        <p:cTn id="195" dur="1" fill="hold">
                                          <p:stCondLst>
                                            <p:cond delay="0"/>
                                          </p:stCondLst>
                                        </p:cTn>
                                        <p:tgtEl>
                                          <p:spTgt spid="89"/>
                                        </p:tgtEl>
                                        <p:attrNameLst>
                                          <p:attrName>style.visibility</p:attrName>
                                        </p:attrNameLst>
                                      </p:cBhvr>
                                      <p:to>
                                        <p:strVal val="visible"/>
                                      </p:to>
                                    </p:set>
                                    <p:anim calcmode="lin" valueType="num">
                                      <p:cBhvr>
                                        <p:cTn id="196" dur="500" fill="hold"/>
                                        <p:tgtEl>
                                          <p:spTgt spid="89"/>
                                        </p:tgtEl>
                                        <p:attrNameLst>
                                          <p:attrName>ppt_x</p:attrName>
                                        </p:attrNameLst>
                                      </p:cBhvr>
                                      <p:tavLst>
                                        <p:tav tm="0">
                                          <p:val>
                                            <p:strVal val="#ppt_x-#ppt_w/2"/>
                                          </p:val>
                                        </p:tav>
                                        <p:tav tm="100000">
                                          <p:val>
                                            <p:strVal val="#ppt_x"/>
                                          </p:val>
                                        </p:tav>
                                      </p:tavLst>
                                    </p:anim>
                                    <p:anim calcmode="lin" valueType="num">
                                      <p:cBhvr>
                                        <p:cTn id="197" dur="500" fill="hold"/>
                                        <p:tgtEl>
                                          <p:spTgt spid="89"/>
                                        </p:tgtEl>
                                        <p:attrNameLst>
                                          <p:attrName>ppt_y</p:attrName>
                                        </p:attrNameLst>
                                      </p:cBhvr>
                                      <p:tavLst>
                                        <p:tav tm="0">
                                          <p:val>
                                            <p:strVal val="#ppt_y"/>
                                          </p:val>
                                        </p:tav>
                                        <p:tav tm="100000">
                                          <p:val>
                                            <p:strVal val="#ppt_y"/>
                                          </p:val>
                                        </p:tav>
                                      </p:tavLst>
                                    </p:anim>
                                    <p:anim calcmode="lin" valueType="num">
                                      <p:cBhvr>
                                        <p:cTn id="198" dur="500" fill="hold"/>
                                        <p:tgtEl>
                                          <p:spTgt spid="89"/>
                                        </p:tgtEl>
                                        <p:attrNameLst>
                                          <p:attrName>ppt_w</p:attrName>
                                        </p:attrNameLst>
                                      </p:cBhvr>
                                      <p:tavLst>
                                        <p:tav tm="0">
                                          <p:val>
                                            <p:fltVal val="0"/>
                                          </p:val>
                                        </p:tav>
                                        <p:tav tm="100000">
                                          <p:val>
                                            <p:strVal val="#ppt_w"/>
                                          </p:val>
                                        </p:tav>
                                      </p:tavLst>
                                    </p:anim>
                                    <p:anim calcmode="lin" valueType="num">
                                      <p:cBhvr>
                                        <p:cTn id="199" dur="500" fill="hold"/>
                                        <p:tgtEl>
                                          <p:spTgt spid="89"/>
                                        </p:tgtEl>
                                        <p:attrNameLst>
                                          <p:attrName>ppt_h</p:attrName>
                                        </p:attrNameLst>
                                      </p:cBhvr>
                                      <p:tavLst>
                                        <p:tav tm="0">
                                          <p:val>
                                            <p:strVal val="#ppt_h"/>
                                          </p:val>
                                        </p:tav>
                                        <p:tav tm="100000">
                                          <p:val>
                                            <p:strVal val="#ppt_h"/>
                                          </p:val>
                                        </p:tav>
                                      </p:tavLst>
                                    </p:anim>
                                  </p:childTnLst>
                                </p:cTn>
                              </p:par>
                            </p:childTnLst>
                          </p:cTn>
                        </p:par>
                        <p:par>
                          <p:cTn id="200" fill="hold">
                            <p:stCondLst>
                              <p:cond delay="14000"/>
                            </p:stCondLst>
                            <p:childTnLst>
                              <p:par>
                                <p:cTn id="201" presetID="17" presetClass="entr" presetSubtype="1" fill="hold" nodeType="afterEffect">
                                  <p:stCondLst>
                                    <p:cond delay="0"/>
                                  </p:stCondLst>
                                  <p:childTnLst>
                                    <p:set>
                                      <p:cBhvr>
                                        <p:cTn id="202" dur="1" fill="hold">
                                          <p:stCondLst>
                                            <p:cond delay="0"/>
                                          </p:stCondLst>
                                        </p:cTn>
                                        <p:tgtEl>
                                          <p:spTgt spid="90"/>
                                        </p:tgtEl>
                                        <p:attrNameLst>
                                          <p:attrName>style.visibility</p:attrName>
                                        </p:attrNameLst>
                                      </p:cBhvr>
                                      <p:to>
                                        <p:strVal val="visible"/>
                                      </p:to>
                                    </p:set>
                                    <p:anim calcmode="lin" valueType="num">
                                      <p:cBhvr>
                                        <p:cTn id="203" dur="500" fill="hold"/>
                                        <p:tgtEl>
                                          <p:spTgt spid="90"/>
                                        </p:tgtEl>
                                        <p:attrNameLst>
                                          <p:attrName>ppt_x</p:attrName>
                                        </p:attrNameLst>
                                      </p:cBhvr>
                                      <p:tavLst>
                                        <p:tav tm="0">
                                          <p:val>
                                            <p:strVal val="#ppt_x"/>
                                          </p:val>
                                        </p:tav>
                                        <p:tav tm="100000">
                                          <p:val>
                                            <p:strVal val="#ppt_x"/>
                                          </p:val>
                                        </p:tav>
                                      </p:tavLst>
                                    </p:anim>
                                    <p:anim calcmode="lin" valueType="num">
                                      <p:cBhvr>
                                        <p:cTn id="204" dur="500" fill="hold"/>
                                        <p:tgtEl>
                                          <p:spTgt spid="90"/>
                                        </p:tgtEl>
                                        <p:attrNameLst>
                                          <p:attrName>ppt_y</p:attrName>
                                        </p:attrNameLst>
                                      </p:cBhvr>
                                      <p:tavLst>
                                        <p:tav tm="0">
                                          <p:val>
                                            <p:strVal val="#ppt_y-#ppt_h/2"/>
                                          </p:val>
                                        </p:tav>
                                        <p:tav tm="100000">
                                          <p:val>
                                            <p:strVal val="#ppt_y"/>
                                          </p:val>
                                        </p:tav>
                                      </p:tavLst>
                                    </p:anim>
                                    <p:anim calcmode="lin" valueType="num">
                                      <p:cBhvr>
                                        <p:cTn id="205" dur="500" fill="hold"/>
                                        <p:tgtEl>
                                          <p:spTgt spid="90"/>
                                        </p:tgtEl>
                                        <p:attrNameLst>
                                          <p:attrName>ppt_w</p:attrName>
                                        </p:attrNameLst>
                                      </p:cBhvr>
                                      <p:tavLst>
                                        <p:tav tm="0">
                                          <p:val>
                                            <p:strVal val="#ppt_w"/>
                                          </p:val>
                                        </p:tav>
                                        <p:tav tm="100000">
                                          <p:val>
                                            <p:strVal val="#ppt_w"/>
                                          </p:val>
                                        </p:tav>
                                      </p:tavLst>
                                    </p:anim>
                                    <p:anim calcmode="lin" valueType="num">
                                      <p:cBhvr>
                                        <p:cTn id="206" dur="500" fill="hold"/>
                                        <p:tgtEl>
                                          <p:spTgt spid="90"/>
                                        </p:tgtEl>
                                        <p:attrNameLst>
                                          <p:attrName>ppt_h</p:attrName>
                                        </p:attrNameLst>
                                      </p:cBhvr>
                                      <p:tavLst>
                                        <p:tav tm="0">
                                          <p:val>
                                            <p:fltVal val="0"/>
                                          </p:val>
                                        </p:tav>
                                        <p:tav tm="100000">
                                          <p:val>
                                            <p:strVal val="#ppt_h"/>
                                          </p:val>
                                        </p:tav>
                                      </p:tavLst>
                                    </p:anim>
                                  </p:childTnLst>
                                </p:cTn>
                              </p:par>
                            </p:childTnLst>
                          </p:cTn>
                        </p:par>
                        <p:par>
                          <p:cTn id="207" fill="hold">
                            <p:stCondLst>
                              <p:cond delay="14500"/>
                            </p:stCondLst>
                            <p:childTnLst>
                              <p:par>
                                <p:cTn id="208" presetID="17" presetClass="entr" presetSubtype="8" fill="hold" nodeType="afterEffect">
                                  <p:stCondLst>
                                    <p:cond delay="0"/>
                                  </p:stCondLst>
                                  <p:childTnLst>
                                    <p:set>
                                      <p:cBhvr>
                                        <p:cTn id="209" dur="1" fill="hold">
                                          <p:stCondLst>
                                            <p:cond delay="0"/>
                                          </p:stCondLst>
                                        </p:cTn>
                                        <p:tgtEl>
                                          <p:spTgt spid="91"/>
                                        </p:tgtEl>
                                        <p:attrNameLst>
                                          <p:attrName>style.visibility</p:attrName>
                                        </p:attrNameLst>
                                      </p:cBhvr>
                                      <p:to>
                                        <p:strVal val="visible"/>
                                      </p:to>
                                    </p:set>
                                    <p:anim calcmode="lin" valueType="num">
                                      <p:cBhvr>
                                        <p:cTn id="210" dur="500" fill="hold"/>
                                        <p:tgtEl>
                                          <p:spTgt spid="91"/>
                                        </p:tgtEl>
                                        <p:attrNameLst>
                                          <p:attrName>ppt_x</p:attrName>
                                        </p:attrNameLst>
                                      </p:cBhvr>
                                      <p:tavLst>
                                        <p:tav tm="0">
                                          <p:val>
                                            <p:strVal val="#ppt_x-#ppt_w/2"/>
                                          </p:val>
                                        </p:tav>
                                        <p:tav tm="100000">
                                          <p:val>
                                            <p:strVal val="#ppt_x"/>
                                          </p:val>
                                        </p:tav>
                                      </p:tavLst>
                                    </p:anim>
                                    <p:anim calcmode="lin" valueType="num">
                                      <p:cBhvr>
                                        <p:cTn id="211" dur="500" fill="hold"/>
                                        <p:tgtEl>
                                          <p:spTgt spid="91"/>
                                        </p:tgtEl>
                                        <p:attrNameLst>
                                          <p:attrName>ppt_y</p:attrName>
                                        </p:attrNameLst>
                                      </p:cBhvr>
                                      <p:tavLst>
                                        <p:tav tm="0">
                                          <p:val>
                                            <p:strVal val="#ppt_y"/>
                                          </p:val>
                                        </p:tav>
                                        <p:tav tm="100000">
                                          <p:val>
                                            <p:strVal val="#ppt_y"/>
                                          </p:val>
                                        </p:tav>
                                      </p:tavLst>
                                    </p:anim>
                                    <p:anim calcmode="lin" valueType="num">
                                      <p:cBhvr>
                                        <p:cTn id="212" dur="500" fill="hold"/>
                                        <p:tgtEl>
                                          <p:spTgt spid="91"/>
                                        </p:tgtEl>
                                        <p:attrNameLst>
                                          <p:attrName>ppt_w</p:attrName>
                                        </p:attrNameLst>
                                      </p:cBhvr>
                                      <p:tavLst>
                                        <p:tav tm="0">
                                          <p:val>
                                            <p:fltVal val="0"/>
                                          </p:val>
                                        </p:tav>
                                        <p:tav tm="100000">
                                          <p:val>
                                            <p:strVal val="#ppt_w"/>
                                          </p:val>
                                        </p:tav>
                                      </p:tavLst>
                                    </p:anim>
                                    <p:anim calcmode="lin" valueType="num">
                                      <p:cBhvr>
                                        <p:cTn id="213" dur="500" fill="hold"/>
                                        <p:tgtEl>
                                          <p:spTgt spid="91"/>
                                        </p:tgtEl>
                                        <p:attrNameLst>
                                          <p:attrName>ppt_h</p:attrName>
                                        </p:attrNameLst>
                                      </p:cBhvr>
                                      <p:tavLst>
                                        <p:tav tm="0">
                                          <p:val>
                                            <p:strVal val="#ppt_h"/>
                                          </p:val>
                                        </p:tav>
                                        <p:tav tm="100000">
                                          <p:val>
                                            <p:strVal val="#ppt_h"/>
                                          </p:val>
                                        </p:tav>
                                      </p:tavLst>
                                    </p:anim>
                                  </p:childTnLst>
                                </p:cTn>
                              </p:par>
                            </p:childTnLst>
                          </p:cTn>
                        </p:par>
                        <p:par>
                          <p:cTn id="214" fill="hold">
                            <p:stCondLst>
                              <p:cond delay="15000"/>
                            </p:stCondLst>
                            <p:childTnLst>
                              <p:par>
                                <p:cTn id="215" presetID="17" presetClass="entr" presetSubtype="4" fill="hold" nodeType="afterEffect">
                                  <p:stCondLst>
                                    <p:cond delay="0"/>
                                  </p:stCondLst>
                                  <p:childTnLst>
                                    <p:set>
                                      <p:cBhvr>
                                        <p:cTn id="216" dur="1" fill="hold">
                                          <p:stCondLst>
                                            <p:cond delay="0"/>
                                          </p:stCondLst>
                                        </p:cTn>
                                        <p:tgtEl>
                                          <p:spTgt spid="92"/>
                                        </p:tgtEl>
                                        <p:attrNameLst>
                                          <p:attrName>style.visibility</p:attrName>
                                        </p:attrNameLst>
                                      </p:cBhvr>
                                      <p:to>
                                        <p:strVal val="visible"/>
                                      </p:to>
                                    </p:set>
                                    <p:anim calcmode="lin" valueType="num">
                                      <p:cBhvr>
                                        <p:cTn id="217" dur="500" fill="hold"/>
                                        <p:tgtEl>
                                          <p:spTgt spid="92"/>
                                        </p:tgtEl>
                                        <p:attrNameLst>
                                          <p:attrName>ppt_x</p:attrName>
                                        </p:attrNameLst>
                                      </p:cBhvr>
                                      <p:tavLst>
                                        <p:tav tm="0">
                                          <p:val>
                                            <p:strVal val="#ppt_x"/>
                                          </p:val>
                                        </p:tav>
                                        <p:tav tm="100000">
                                          <p:val>
                                            <p:strVal val="#ppt_x"/>
                                          </p:val>
                                        </p:tav>
                                      </p:tavLst>
                                    </p:anim>
                                    <p:anim calcmode="lin" valueType="num">
                                      <p:cBhvr>
                                        <p:cTn id="218" dur="500" fill="hold"/>
                                        <p:tgtEl>
                                          <p:spTgt spid="92"/>
                                        </p:tgtEl>
                                        <p:attrNameLst>
                                          <p:attrName>ppt_y</p:attrName>
                                        </p:attrNameLst>
                                      </p:cBhvr>
                                      <p:tavLst>
                                        <p:tav tm="0">
                                          <p:val>
                                            <p:strVal val="#ppt_y+#ppt_h/2"/>
                                          </p:val>
                                        </p:tav>
                                        <p:tav tm="100000">
                                          <p:val>
                                            <p:strVal val="#ppt_y"/>
                                          </p:val>
                                        </p:tav>
                                      </p:tavLst>
                                    </p:anim>
                                    <p:anim calcmode="lin" valueType="num">
                                      <p:cBhvr>
                                        <p:cTn id="219" dur="500" fill="hold"/>
                                        <p:tgtEl>
                                          <p:spTgt spid="92"/>
                                        </p:tgtEl>
                                        <p:attrNameLst>
                                          <p:attrName>ppt_w</p:attrName>
                                        </p:attrNameLst>
                                      </p:cBhvr>
                                      <p:tavLst>
                                        <p:tav tm="0">
                                          <p:val>
                                            <p:strVal val="#ppt_w"/>
                                          </p:val>
                                        </p:tav>
                                        <p:tav tm="100000">
                                          <p:val>
                                            <p:strVal val="#ppt_w"/>
                                          </p:val>
                                        </p:tav>
                                      </p:tavLst>
                                    </p:anim>
                                    <p:anim calcmode="lin" valueType="num">
                                      <p:cBhvr>
                                        <p:cTn id="220" dur="500" fill="hold"/>
                                        <p:tgtEl>
                                          <p:spTgt spid="92"/>
                                        </p:tgtEl>
                                        <p:attrNameLst>
                                          <p:attrName>ppt_h</p:attrName>
                                        </p:attrNameLst>
                                      </p:cBhvr>
                                      <p:tavLst>
                                        <p:tav tm="0">
                                          <p:val>
                                            <p:fltVal val="0"/>
                                          </p:val>
                                        </p:tav>
                                        <p:tav tm="100000">
                                          <p:val>
                                            <p:strVal val="#ppt_h"/>
                                          </p:val>
                                        </p:tav>
                                      </p:tavLst>
                                    </p:anim>
                                  </p:childTnLst>
                                </p:cTn>
                              </p:par>
                            </p:childTnLst>
                          </p:cTn>
                        </p:par>
                        <p:par>
                          <p:cTn id="221" fill="hold">
                            <p:stCondLst>
                              <p:cond delay="15500"/>
                            </p:stCondLst>
                            <p:childTnLst>
                              <p:par>
                                <p:cTn id="222" presetID="17" presetClass="entr" presetSubtype="8" fill="hold" nodeType="afterEffect">
                                  <p:stCondLst>
                                    <p:cond delay="0"/>
                                  </p:stCondLst>
                                  <p:childTnLst>
                                    <p:set>
                                      <p:cBhvr>
                                        <p:cTn id="223" dur="1" fill="hold">
                                          <p:stCondLst>
                                            <p:cond delay="0"/>
                                          </p:stCondLst>
                                        </p:cTn>
                                        <p:tgtEl>
                                          <p:spTgt spid="93"/>
                                        </p:tgtEl>
                                        <p:attrNameLst>
                                          <p:attrName>style.visibility</p:attrName>
                                        </p:attrNameLst>
                                      </p:cBhvr>
                                      <p:to>
                                        <p:strVal val="visible"/>
                                      </p:to>
                                    </p:set>
                                    <p:anim calcmode="lin" valueType="num">
                                      <p:cBhvr>
                                        <p:cTn id="224" dur="500" fill="hold"/>
                                        <p:tgtEl>
                                          <p:spTgt spid="93"/>
                                        </p:tgtEl>
                                        <p:attrNameLst>
                                          <p:attrName>ppt_x</p:attrName>
                                        </p:attrNameLst>
                                      </p:cBhvr>
                                      <p:tavLst>
                                        <p:tav tm="0">
                                          <p:val>
                                            <p:strVal val="#ppt_x-#ppt_w/2"/>
                                          </p:val>
                                        </p:tav>
                                        <p:tav tm="100000">
                                          <p:val>
                                            <p:strVal val="#ppt_x"/>
                                          </p:val>
                                        </p:tav>
                                      </p:tavLst>
                                    </p:anim>
                                    <p:anim calcmode="lin" valueType="num">
                                      <p:cBhvr>
                                        <p:cTn id="225" dur="500" fill="hold"/>
                                        <p:tgtEl>
                                          <p:spTgt spid="93"/>
                                        </p:tgtEl>
                                        <p:attrNameLst>
                                          <p:attrName>ppt_y</p:attrName>
                                        </p:attrNameLst>
                                      </p:cBhvr>
                                      <p:tavLst>
                                        <p:tav tm="0">
                                          <p:val>
                                            <p:strVal val="#ppt_y"/>
                                          </p:val>
                                        </p:tav>
                                        <p:tav tm="100000">
                                          <p:val>
                                            <p:strVal val="#ppt_y"/>
                                          </p:val>
                                        </p:tav>
                                      </p:tavLst>
                                    </p:anim>
                                    <p:anim calcmode="lin" valueType="num">
                                      <p:cBhvr>
                                        <p:cTn id="226" dur="500" fill="hold"/>
                                        <p:tgtEl>
                                          <p:spTgt spid="93"/>
                                        </p:tgtEl>
                                        <p:attrNameLst>
                                          <p:attrName>ppt_w</p:attrName>
                                        </p:attrNameLst>
                                      </p:cBhvr>
                                      <p:tavLst>
                                        <p:tav tm="0">
                                          <p:val>
                                            <p:fltVal val="0"/>
                                          </p:val>
                                        </p:tav>
                                        <p:tav tm="100000">
                                          <p:val>
                                            <p:strVal val="#ppt_w"/>
                                          </p:val>
                                        </p:tav>
                                      </p:tavLst>
                                    </p:anim>
                                    <p:anim calcmode="lin" valueType="num">
                                      <p:cBhvr>
                                        <p:cTn id="227" dur="500" fill="hold"/>
                                        <p:tgtEl>
                                          <p:spTgt spid="93"/>
                                        </p:tgtEl>
                                        <p:attrNameLst>
                                          <p:attrName>ppt_h</p:attrName>
                                        </p:attrNameLst>
                                      </p:cBhvr>
                                      <p:tavLst>
                                        <p:tav tm="0">
                                          <p:val>
                                            <p:strVal val="#ppt_h"/>
                                          </p:val>
                                        </p:tav>
                                        <p:tav tm="100000">
                                          <p:val>
                                            <p:strVal val="#ppt_h"/>
                                          </p:val>
                                        </p:tav>
                                      </p:tavLst>
                                    </p:anim>
                                  </p:childTnLst>
                                </p:cTn>
                              </p:par>
                            </p:childTnLst>
                          </p:cTn>
                        </p:par>
                        <p:par>
                          <p:cTn id="228" fill="hold">
                            <p:stCondLst>
                              <p:cond delay="16000"/>
                            </p:stCondLst>
                            <p:childTnLst>
                              <p:par>
                                <p:cTn id="229" presetID="17" presetClass="entr" presetSubtype="1" fill="hold" nodeType="afterEffect">
                                  <p:stCondLst>
                                    <p:cond delay="0"/>
                                  </p:stCondLst>
                                  <p:childTnLst>
                                    <p:set>
                                      <p:cBhvr>
                                        <p:cTn id="230" dur="1" fill="hold">
                                          <p:stCondLst>
                                            <p:cond delay="0"/>
                                          </p:stCondLst>
                                        </p:cTn>
                                        <p:tgtEl>
                                          <p:spTgt spid="94"/>
                                        </p:tgtEl>
                                        <p:attrNameLst>
                                          <p:attrName>style.visibility</p:attrName>
                                        </p:attrNameLst>
                                      </p:cBhvr>
                                      <p:to>
                                        <p:strVal val="visible"/>
                                      </p:to>
                                    </p:set>
                                    <p:anim calcmode="lin" valueType="num">
                                      <p:cBhvr>
                                        <p:cTn id="231" dur="500" fill="hold"/>
                                        <p:tgtEl>
                                          <p:spTgt spid="94"/>
                                        </p:tgtEl>
                                        <p:attrNameLst>
                                          <p:attrName>ppt_x</p:attrName>
                                        </p:attrNameLst>
                                      </p:cBhvr>
                                      <p:tavLst>
                                        <p:tav tm="0">
                                          <p:val>
                                            <p:strVal val="#ppt_x"/>
                                          </p:val>
                                        </p:tav>
                                        <p:tav tm="100000">
                                          <p:val>
                                            <p:strVal val="#ppt_x"/>
                                          </p:val>
                                        </p:tav>
                                      </p:tavLst>
                                    </p:anim>
                                    <p:anim calcmode="lin" valueType="num">
                                      <p:cBhvr>
                                        <p:cTn id="232" dur="500" fill="hold"/>
                                        <p:tgtEl>
                                          <p:spTgt spid="94"/>
                                        </p:tgtEl>
                                        <p:attrNameLst>
                                          <p:attrName>ppt_y</p:attrName>
                                        </p:attrNameLst>
                                      </p:cBhvr>
                                      <p:tavLst>
                                        <p:tav tm="0">
                                          <p:val>
                                            <p:strVal val="#ppt_y-#ppt_h/2"/>
                                          </p:val>
                                        </p:tav>
                                        <p:tav tm="100000">
                                          <p:val>
                                            <p:strVal val="#ppt_y"/>
                                          </p:val>
                                        </p:tav>
                                      </p:tavLst>
                                    </p:anim>
                                    <p:anim calcmode="lin" valueType="num">
                                      <p:cBhvr>
                                        <p:cTn id="233" dur="500" fill="hold"/>
                                        <p:tgtEl>
                                          <p:spTgt spid="94"/>
                                        </p:tgtEl>
                                        <p:attrNameLst>
                                          <p:attrName>ppt_w</p:attrName>
                                        </p:attrNameLst>
                                      </p:cBhvr>
                                      <p:tavLst>
                                        <p:tav tm="0">
                                          <p:val>
                                            <p:strVal val="#ppt_w"/>
                                          </p:val>
                                        </p:tav>
                                        <p:tav tm="100000">
                                          <p:val>
                                            <p:strVal val="#ppt_w"/>
                                          </p:val>
                                        </p:tav>
                                      </p:tavLst>
                                    </p:anim>
                                    <p:anim calcmode="lin" valueType="num">
                                      <p:cBhvr>
                                        <p:cTn id="234" dur="500" fill="hold"/>
                                        <p:tgtEl>
                                          <p:spTgt spid="94"/>
                                        </p:tgtEl>
                                        <p:attrNameLst>
                                          <p:attrName>ppt_h</p:attrName>
                                        </p:attrNameLst>
                                      </p:cBhvr>
                                      <p:tavLst>
                                        <p:tav tm="0">
                                          <p:val>
                                            <p:fltVal val="0"/>
                                          </p:val>
                                        </p:tav>
                                        <p:tav tm="100000">
                                          <p:val>
                                            <p:strVal val="#ppt_h"/>
                                          </p:val>
                                        </p:tav>
                                      </p:tavLst>
                                    </p:anim>
                                  </p:childTnLst>
                                </p:cTn>
                              </p:par>
                            </p:childTnLst>
                          </p:cTn>
                        </p:par>
                        <p:par>
                          <p:cTn id="235" fill="hold">
                            <p:stCondLst>
                              <p:cond delay="16500"/>
                            </p:stCondLst>
                            <p:childTnLst>
                              <p:par>
                                <p:cTn id="236" presetID="17" presetClass="entr" presetSubtype="8" fill="hold" nodeType="afterEffect">
                                  <p:stCondLst>
                                    <p:cond delay="0"/>
                                  </p:stCondLst>
                                  <p:childTnLst>
                                    <p:set>
                                      <p:cBhvr>
                                        <p:cTn id="237" dur="1" fill="hold">
                                          <p:stCondLst>
                                            <p:cond delay="0"/>
                                          </p:stCondLst>
                                        </p:cTn>
                                        <p:tgtEl>
                                          <p:spTgt spid="95"/>
                                        </p:tgtEl>
                                        <p:attrNameLst>
                                          <p:attrName>style.visibility</p:attrName>
                                        </p:attrNameLst>
                                      </p:cBhvr>
                                      <p:to>
                                        <p:strVal val="visible"/>
                                      </p:to>
                                    </p:set>
                                    <p:anim calcmode="lin" valueType="num">
                                      <p:cBhvr>
                                        <p:cTn id="238" dur="500" fill="hold"/>
                                        <p:tgtEl>
                                          <p:spTgt spid="95"/>
                                        </p:tgtEl>
                                        <p:attrNameLst>
                                          <p:attrName>ppt_x</p:attrName>
                                        </p:attrNameLst>
                                      </p:cBhvr>
                                      <p:tavLst>
                                        <p:tav tm="0">
                                          <p:val>
                                            <p:strVal val="#ppt_x-#ppt_w/2"/>
                                          </p:val>
                                        </p:tav>
                                        <p:tav tm="100000">
                                          <p:val>
                                            <p:strVal val="#ppt_x"/>
                                          </p:val>
                                        </p:tav>
                                      </p:tavLst>
                                    </p:anim>
                                    <p:anim calcmode="lin" valueType="num">
                                      <p:cBhvr>
                                        <p:cTn id="239" dur="500" fill="hold"/>
                                        <p:tgtEl>
                                          <p:spTgt spid="95"/>
                                        </p:tgtEl>
                                        <p:attrNameLst>
                                          <p:attrName>ppt_y</p:attrName>
                                        </p:attrNameLst>
                                      </p:cBhvr>
                                      <p:tavLst>
                                        <p:tav tm="0">
                                          <p:val>
                                            <p:strVal val="#ppt_y"/>
                                          </p:val>
                                        </p:tav>
                                        <p:tav tm="100000">
                                          <p:val>
                                            <p:strVal val="#ppt_y"/>
                                          </p:val>
                                        </p:tav>
                                      </p:tavLst>
                                    </p:anim>
                                    <p:anim calcmode="lin" valueType="num">
                                      <p:cBhvr>
                                        <p:cTn id="240" dur="500" fill="hold"/>
                                        <p:tgtEl>
                                          <p:spTgt spid="95"/>
                                        </p:tgtEl>
                                        <p:attrNameLst>
                                          <p:attrName>ppt_w</p:attrName>
                                        </p:attrNameLst>
                                      </p:cBhvr>
                                      <p:tavLst>
                                        <p:tav tm="0">
                                          <p:val>
                                            <p:fltVal val="0"/>
                                          </p:val>
                                        </p:tav>
                                        <p:tav tm="100000">
                                          <p:val>
                                            <p:strVal val="#ppt_w"/>
                                          </p:val>
                                        </p:tav>
                                      </p:tavLst>
                                    </p:anim>
                                    <p:anim calcmode="lin" valueType="num">
                                      <p:cBhvr>
                                        <p:cTn id="241" dur="500" fill="hold"/>
                                        <p:tgtEl>
                                          <p:spTgt spid="9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 name="内容占位符 2">
            <a:extLst>
              <a:ext uri="{FF2B5EF4-FFF2-40B4-BE49-F238E27FC236}">
                <a16:creationId xmlns:a16="http://schemas.microsoft.com/office/drawing/2014/main" id="{1473EF85-9F7D-41C9-B70C-1C9A1C81F8F4}"/>
              </a:ext>
            </a:extLst>
          </p:cNvPr>
          <p:cNvSpPr>
            <a:spLocks noGrp="1"/>
          </p:cNvSpPr>
          <p:nvPr>
            <p:ph idx="1"/>
          </p:nvPr>
        </p:nvSpPr>
        <p:spPr>
          <a:xfrm>
            <a:off x="561997" y="1498553"/>
            <a:ext cx="6249471" cy="5008498"/>
          </a:xfrm>
        </p:spPr>
        <p:txBody>
          <a:bodyPr>
            <a:normAutofit/>
          </a:bodyPr>
          <a:lstStyle/>
          <a:p>
            <a:r>
              <a:rPr lang="zh-CN" altLang="en-US" sz="2400" dirty="0"/>
              <a:t>计算机网络按用途分类</a:t>
            </a:r>
            <a:endParaRPr lang="en-US" altLang="zh-CN" sz="2400" dirty="0"/>
          </a:p>
          <a:p>
            <a:pPr lvl="1"/>
            <a:r>
              <a:rPr lang="zh-CN" altLang="en-US" sz="2000" dirty="0"/>
              <a:t>专用、公用</a:t>
            </a:r>
          </a:p>
          <a:p>
            <a:r>
              <a:rPr lang="zh-CN" altLang="en-US" sz="2400" dirty="0"/>
              <a:t>专用网络的实现方式</a:t>
            </a:r>
          </a:p>
          <a:p>
            <a:pPr lvl="1"/>
            <a:r>
              <a:rPr lang="zh-CN" altLang="en-US" sz="2000" dirty="0"/>
              <a:t>使用专用链路：铺设、租用（费用高，不灵活）</a:t>
            </a:r>
          </a:p>
          <a:p>
            <a:pPr lvl="1"/>
            <a:r>
              <a:rPr lang="zh-CN" altLang="en-US" sz="2000" dirty="0"/>
              <a:t>使用公共链路：不安全</a:t>
            </a:r>
          </a:p>
          <a:p>
            <a:r>
              <a:rPr lang="zh-CN" altLang="en-US" sz="2400" dirty="0"/>
              <a:t>虚拟专用网</a:t>
            </a:r>
            <a:r>
              <a:rPr lang="en-US" altLang="zh-CN" sz="2400" dirty="0"/>
              <a:t>VPN (Virtual Private Network)</a:t>
            </a:r>
          </a:p>
          <a:p>
            <a:pPr lvl="1"/>
            <a:r>
              <a:rPr lang="zh-CN" altLang="en-US" sz="2000" dirty="0"/>
              <a:t>专用网络的经济、可靠、灵活的解决方案</a:t>
            </a:r>
            <a:endParaRPr lang="en-US" altLang="zh-CN" sz="2000" dirty="0"/>
          </a:p>
          <a:p>
            <a:pPr lvl="1"/>
            <a:r>
              <a:rPr lang="zh-CN" altLang="en-US" sz="2000" dirty="0"/>
              <a:t>利用安全隧道技术将专用网络在公共网络上扩展</a:t>
            </a:r>
            <a:endParaRPr lang="en-US" altLang="zh-CN" sz="2000" dirty="0"/>
          </a:p>
          <a:p>
            <a:r>
              <a:rPr lang="en-US" altLang="zh-CN" sz="2400" dirty="0"/>
              <a:t>VPN</a:t>
            </a:r>
            <a:r>
              <a:rPr lang="zh-CN" altLang="en-US" sz="2400" dirty="0"/>
              <a:t>的设计原则</a:t>
            </a:r>
            <a:endParaRPr lang="en-US" altLang="zh-CN" sz="2400" dirty="0"/>
          </a:p>
          <a:p>
            <a:pPr lvl="1"/>
            <a:r>
              <a:rPr lang="zh-CN" altLang="en-US" sz="1900" dirty="0"/>
              <a:t>安全性、隧道与加密、数据验证、用户验证、防火墙与攻击检测</a:t>
            </a:r>
            <a:endParaRPr lang="en-US" altLang="zh-CN" sz="1900" dirty="0"/>
          </a:p>
        </p:txBody>
      </p:sp>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lstStyle/>
          <a:p>
            <a:r>
              <a:rPr kumimoji="1" lang="en-US" altLang="zh-CN" dirty="0"/>
              <a:t>VPN</a:t>
            </a:r>
            <a:r>
              <a:rPr kumimoji="1" lang="zh-CN" altLang="en-US" dirty="0"/>
              <a:t>的技术背景</a:t>
            </a:r>
            <a:endParaRPr kumimoji="1" lang="zh-CN" altLang="en-US" sz="2400" dirty="0">
              <a:solidFill>
                <a:srgbClr val="C00000"/>
              </a:solidFill>
            </a:endParaRPr>
          </a:p>
        </p:txBody>
      </p:sp>
      <p:sp>
        <p:nvSpPr>
          <p:cNvPr id="4" name="灯片编号占位符 3">
            <a:extLst>
              <a:ext uri="{FF2B5EF4-FFF2-40B4-BE49-F238E27FC236}">
                <a16:creationId xmlns:a16="http://schemas.microsoft.com/office/drawing/2014/main" id="{BE5C4434-6C32-D240-9DF2-915F87DB6D82}"/>
              </a:ext>
            </a:extLst>
          </p:cNvPr>
          <p:cNvSpPr>
            <a:spLocks noGrp="1"/>
          </p:cNvSpPr>
          <p:nvPr>
            <p:ph type="sldNum" sz="quarter" idx="12"/>
          </p:nvPr>
        </p:nvSpPr>
        <p:spPr/>
        <p:txBody>
          <a:bodyPr/>
          <a:lstStyle/>
          <a:p>
            <a:fld id="{8D4D1E41-7A09-AB4A-A4E1-09765ADA2698}" type="slidenum">
              <a:rPr kumimoji="1" lang="zh-CN" altLang="en-US" smtClean="0"/>
              <a:t>248</a:t>
            </a:fld>
            <a:endParaRPr kumimoji="1" lang="zh-CN" altLang="en-US" dirty="0"/>
          </a:p>
        </p:txBody>
      </p:sp>
      <p:grpSp>
        <p:nvGrpSpPr>
          <p:cNvPr id="2049" name="组合 2048">
            <a:extLst>
              <a:ext uri="{FF2B5EF4-FFF2-40B4-BE49-F238E27FC236}">
                <a16:creationId xmlns:a16="http://schemas.microsoft.com/office/drawing/2014/main" id="{5A290BD9-E2F0-4AA4-BE0B-F3EF21630881}"/>
              </a:ext>
            </a:extLst>
          </p:cNvPr>
          <p:cNvGrpSpPr/>
          <p:nvPr/>
        </p:nvGrpSpPr>
        <p:grpSpPr>
          <a:xfrm>
            <a:off x="7152389" y="1303325"/>
            <a:ext cx="1240594" cy="1530650"/>
            <a:chOff x="8517018" y="1519486"/>
            <a:chExt cx="1240594" cy="1530650"/>
          </a:xfrm>
        </p:grpSpPr>
        <p:sp>
          <p:nvSpPr>
            <p:cNvPr id="320" name="Text Box 81">
              <a:extLst>
                <a:ext uri="{FF2B5EF4-FFF2-40B4-BE49-F238E27FC236}">
                  <a16:creationId xmlns:a16="http://schemas.microsoft.com/office/drawing/2014/main" id="{2C9424E2-B9C1-4CEC-A9CC-577D77675CE6}"/>
                </a:ext>
              </a:extLst>
            </p:cNvPr>
            <p:cNvSpPr txBox="1">
              <a:spLocks noChangeArrowheads="1"/>
            </p:cNvSpPr>
            <p:nvPr/>
          </p:nvSpPr>
          <p:spPr bwMode="auto">
            <a:xfrm>
              <a:off x="8517018" y="151948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R="0" lvl="0" indent="0" fontAlgn="base">
                <a:lnSpc>
                  <a:spcPct val="100000"/>
                </a:lnSpc>
                <a:spcBef>
                  <a:spcPct val="0"/>
                </a:spcBef>
                <a:spcAft>
                  <a:spcPct val="0"/>
                </a:spcAft>
                <a:buClrTx/>
                <a:buSzTx/>
                <a:buFontTx/>
                <a:buNone/>
                <a:tabLst/>
                <a:defRPr kumimoji="1" sz="2000" i="0" u="none" strike="noStrike" cap="none" spc="0" normalizeH="0" baseline="0">
                  <a:ln>
                    <a:noFill/>
                  </a:ln>
                  <a:solidFill>
                    <a:srgbClr val="000000"/>
                  </a:solidFill>
                  <a:effectLst/>
                  <a:uLnTx/>
                  <a:uFillTx/>
                  <a:latin typeface="微软雅黑" panose="020B0503020204020204" pitchFamily="34" charset="-122"/>
                  <a:ea typeface="微软雅黑" panose="020B0503020204020204" pitchFamily="34" charset="-122"/>
                </a:defRPr>
              </a:lvl1pPr>
              <a:lvl2pPr fontAlgn="base">
                <a:spcBef>
                  <a:spcPct val="0"/>
                </a:spcBef>
                <a:spcAft>
                  <a:spcPct val="0"/>
                </a:spcAft>
                <a:defRPr kumimoji="1" sz="3200">
                  <a:latin typeface="Times New Roman" panose="02020603050405020304" pitchFamily="18" charset="0"/>
                  <a:ea typeface="宋体" panose="02010600030101010101" pitchFamily="2" charset="-122"/>
                </a:defRPr>
              </a:lvl2pPr>
              <a:lvl3pPr fontAlgn="base">
                <a:spcBef>
                  <a:spcPct val="0"/>
                </a:spcBef>
                <a:spcAft>
                  <a:spcPct val="0"/>
                </a:spcAft>
                <a:defRPr kumimoji="1" sz="3200">
                  <a:latin typeface="Times New Roman" panose="02020603050405020304" pitchFamily="18" charset="0"/>
                  <a:ea typeface="宋体" panose="02010600030101010101" pitchFamily="2" charset="-122"/>
                </a:defRPr>
              </a:lvl3pPr>
              <a:lvl4pPr fontAlgn="base">
                <a:spcBef>
                  <a:spcPct val="0"/>
                </a:spcBef>
                <a:spcAft>
                  <a:spcPct val="0"/>
                </a:spcAft>
                <a:defRPr kumimoji="1" sz="3200">
                  <a:latin typeface="Times New Roman" panose="02020603050405020304" pitchFamily="18" charset="0"/>
                  <a:ea typeface="宋体" panose="02010600030101010101" pitchFamily="2" charset="-122"/>
                </a:defRPr>
              </a:lvl4pPr>
              <a:lvl5pPr fontAlgn="base">
                <a:spcBef>
                  <a:spcPct val="0"/>
                </a:spcBef>
                <a:spcAft>
                  <a:spcPct val="0"/>
                </a:spcAft>
                <a:defRPr kumimoji="1" sz="3200">
                  <a:latin typeface="Times New Roman" panose="02020603050405020304" pitchFamily="18" charset="0"/>
                  <a:ea typeface="宋体" panose="02010600030101010101" pitchFamily="2" charset="-122"/>
                </a:defRPr>
              </a:lvl5pPr>
              <a:lvl6pPr>
                <a:defRPr kumimoji="1" sz="3200">
                  <a:latin typeface="Times New Roman" panose="02020603050405020304" pitchFamily="18" charset="0"/>
                  <a:ea typeface="宋体" panose="02010600030101010101" pitchFamily="2" charset="-122"/>
                </a:defRPr>
              </a:lvl6pPr>
              <a:lvl7pPr>
                <a:defRPr kumimoji="1" sz="3200">
                  <a:latin typeface="Times New Roman" panose="02020603050405020304" pitchFamily="18" charset="0"/>
                  <a:ea typeface="宋体" panose="02010600030101010101" pitchFamily="2" charset="-122"/>
                </a:defRPr>
              </a:lvl7pPr>
              <a:lvl8pPr>
                <a:defRPr kumimoji="1" sz="3200">
                  <a:latin typeface="Times New Roman" panose="02020603050405020304" pitchFamily="18" charset="0"/>
                  <a:ea typeface="宋体" panose="02010600030101010101" pitchFamily="2" charset="-122"/>
                </a:defRPr>
              </a:lvl8pPr>
              <a:lvl9pPr>
                <a:defRPr kumimoji="1" sz="3200">
                  <a:latin typeface="Times New Roman" panose="02020603050405020304" pitchFamily="18" charset="0"/>
                  <a:ea typeface="宋体" panose="02010600030101010101" pitchFamily="2" charset="-122"/>
                </a:defRPr>
              </a:lvl9pPr>
            </a:lstStyle>
            <a:p>
              <a:r>
                <a:rPr lang="zh-CN" altLang="en-US" sz="1400" dirty="0"/>
                <a:t>合作伙伴</a:t>
              </a:r>
            </a:p>
          </p:txBody>
        </p:sp>
        <p:grpSp>
          <p:nvGrpSpPr>
            <p:cNvPr id="322" name="Group 90">
              <a:extLst>
                <a:ext uri="{FF2B5EF4-FFF2-40B4-BE49-F238E27FC236}">
                  <a16:creationId xmlns:a16="http://schemas.microsoft.com/office/drawing/2014/main" id="{DAA5555C-0E8E-40AC-99FD-ADF975C42F9D}"/>
                </a:ext>
              </a:extLst>
            </p:cNvPr>
            <p:cNvGrpSpPr>
              <a:grpSpLocks/>
            </p:cNvGrpSpPr>
            <p:nvPr/>
          </p:nvGrpSpPr>
          <p:grpSpPr bwMode="auto">
            <a:xfrm>
              <a:off x="8640907" y="1995292"/>
              <a:ext cx="909638" cy="889001"/>
              <a:chOff x="980" y="2346"/>
              <a:chExt cx="1086" cy="816"/>
            </a:xfrm>
          </p:grpSpPr>
          <p:pic>
            <p:nvPicPr>
              <p:cNvPr id="323" name="Picture 91">
                <a:extLst>
                  <a:ext uri="{FF2B5EF4-FFF2-40B4-BE49-F238E27FC236}">
                    <a16:creationId xmlns:a16="http://schemas.microsoft.com/office/drawing/2014/main" id="{DC993F34-48AF-487A-92C9-F2B6A5061A4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0" y="2346"/>
                <a:ext cx="540" cy="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4" name="Group 92">
                <a:extLst>
                  <a:ext uri="{FF2B5EF4-FFF2-40B4-BE49-F238E27FC236}">
                    <a16:creationId xmlns:a16="http://schemas.microsoft.com/office/drawing/2014/main" id="{17A5545E-C680-40EB-9A4D-4422ADD71855}"/>
                  </a:ext>
                </a:extLst>
              </p:cNvPr>
              <p:cNvGrpSpPr>
                <a:grpSpLocks/>
              </p:cNvGrpSpPr>
              <p:nvPr/>
            </p:nvGrpSpPr>
            <p:grpSpPr bwMode="auto">
              <a:xfrm>
                <a:off x="1200" y="2631"/>
                <a:ext cx="866" cy="519"/>
                <a:chOff x="2640" y="1440"/>
                <a:chExt cx="758" cy="464"/>
              </a:xfrm>
            </p:grpSpPr>
            <p:sp>
              <p:nvSpPr>
                <p:cNvPr id="325" name="Freeform 93">
                  <a:extLst>
                    <a:ext uri="{FF2B5EF4-FFF2-40B4-BE49-F238E27FC236}">
                      <a16:creationId xmlns:a16="http://schemas.microsoft.com/office/drawing/2014/main" id="{A8EEFB8A-C943-46C6-9FD2-8404562EC285}"/>
                    </a:ext>
                  </a:extLst>
                </p:cNvPr>
                <p:cNvSpPr>
                  <a:spLocks/>
                </p:cNvSpPr>
                <p:nvPr/>
              </p:nvSpPr>
              <p:spPr bwMode="auto">
                <a:xfrm>
                  <a:off x="3229" y="1611"/>
                  <a:ext cx="169" cy="99"/>
                </a:xfrm>
                <a:custGeom>
                  <a:avLst/>
                  <a:gdLst>
                    <a:gd name="T0" fmla="*/ 124 w 169"/>
                    <a:gd name="T1" fmla="*/ 0 h 99"/>
                    <a:gd name="T2" fmla="*/ 169 w 169"/>
                    <a:gd name="T3" fmla="*/ 99 h 99"/>
                    <a:gd name="T4" fmla="*/ 59 w 169"/>
                    <a:gd name="T5" fmla="*/ 99 h 99"/>
                    <a:gd name="T6" fmla="*/ 0 w 169"/>
                    <a:gd name="T7" fmla="*/ 0 h 99"/>
                    <a:gd name="T8" fmla="*/ 124 w 169"/>
                    <a:gd name="T9" fmla="*/ 0 h 99"/>
                  </a:gdLst>
                  <a:ahLst/>
                  <a:cxnLst>
                    <a:cxn ang="0">
                      <a:pos x="T0" y="T1"/>
                    </a:cxn>
                    <a:cxn ang="0">
                      <a:pos x="T2" y="T3"/>
                    </a:cxn>
                    <a:cxn ang="0">
                      <a:pos x="T4" y="T5"/>
                    </a:cxn>
                    <a:cxn ang="0">
                      <a:pos x="T6" y="T7"/>
                    </a:cxn>
                    <a:cxn ang="0">
                      <a:pos x="T8" y="T9"/>
                    </a:cxn>
                  </a:cxnLst>
                  <a:rect l="0" t="0" r="r" b="b"/>
                  <a:pathLst>
                    <a:path w="169" h="99">
                      <a:moveTo>
                        <a:pt x="124" y="0"/>
                      </a:moveTo>
                      <a:lnTo>
                        <a:pt x="169" y="99"/>
                      </a:lnTo>
                      <a:lnTo>
                        <a:pt x="59" y="99"/>
                      </a:lnTo>
                      <a:lnTo>
                        <a:pt x="0" y="0"/>
                      </a:lnTo>
                      <a:lnTo>
                        <a:pt x="124"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6" name="Freeform 94">
                  <a:extLst>
                    <a:ext uri="{FF2B5EF4-FFF2-40B4-BE49-F238E27FC236}">
                      <a16:creationId xmlns:a16="http://schemas.microsoft.com/office/drawing/2014/main" id="{3AA1B921-D9D1-4F00-A25B-CE0F4CCC9039}"/>
                    </a:ext>
                  </a:extLst>
                </p:cNvPr>
                <p:cNvSpPr>
                  <a:spLocks/>
                </p:cNvSpPr>
                <p:nvPr/>
              </p:nvSpPr>
              <p:spPr bwMode="auto">
                <a:xfrm>
                  <a:off x="2640" y="1609"/>
                  <a:ext cx="209" cy="8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7" name="Freeform 95">
                  <a:extLst>
                    <a:ext uri="{FF2B5EF4-FFF2-40B4-BE49-F238E27FC236}">
                      <a16:creationId xmlns:a16="http://schemas.microsoft.com/office/drawing/2014/main" id="{15F52FBB-313E-4352-8320-F160CE0FDDD2}"/>
                    </a:ext>
                  </a:extLst>
                </p:cNvPr>
                <p:cNvSpPr>
                  <a:spLocks/>
                </p:cNvSpPr>
                <p:nvPr/>
              </p:nvSpPr>
              <p:spPr bwMode="auto">
                <a:xfrm>
                  <a:off x="2640" y="1609"/>
                  <a:ext cx="209" cy="8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8" name="Freeform 96">
                  <a:extLst>
                    <a:ext uri="{FF2B5EF4-FFF2-40B4-BE49-F238E27FC236}">
                      <a16:creationId xmlns:a16="http://schemas.microsoft.com/office/drawing/2014/main" id="{754B8211-202C-4937-8AA8-635F46EB7DB9}"/>
                    </a:ext>
                  </a:extLst>
                </p:cNvPr>
                <p:cNvSpPr>
                  <a:spLocks/>
                </p:cNvSpPr>
                <p:nvPr/>
              </p:nvSpPr>
              <p:spPr bwMode="auto">
                <a:xfrm>
                  <a:off x="3015" y="1444"/>
                  <a:ext cx="83" cy="326"/>
                </a:xfrm>
                <a:custGeom>
                  <a:avLst/>
                  <a:gdLst>
                    <a:gd name="T0" fmla="*/ 0 w 83"/>
                    <a:gd name="T1" fmla="*/ 83 h 326"/>
                    <a:gd name="T2" fmla="*/ 83 w 83"/>
                    <a:gd name="T3" fmla="*/ 0 h 326"/>
                    <a:gd name="T4" fmla="*/ 83 w 83"/>
                    <a:gd name="T5" fmla="*/ 236 h 326"/>
                    <a:gd name="T6" fmla="*/ 0 w 83"/>
                    <a:gd name="T7" fmla="*/ 326 h 326"/>
                    <a:gd name="T8" fmla="*/ 0 w 83"/>
                    <a:gd name="T9" fmla="*/ 83 h 326"/>
                  </a:gdLst>
                  <a:ahLst/>
                  <a:cxnLst>
                    <a:cxn ang="0">
                      <a:pos x="T0" y="T1"/>
                    </a:cxn>
                    <a:cxn ang="0">
                      <a:pos x="T2" y="T3"/>
                    </a:cxn>
                    <a:cxn ang="0">
                      <a:pos x="T4" y="T5"/>
                    </a:cxn>
                    <a:cxn ang="0">
                      <a:pos x="T6" y="T7"/>
                    </a:cxn>
                    <a:cxn ang="0">
                      <a:pos x="T8" y="T9"/>
                    </a:cxn>
                  </a:cxnLst>
                  <a:rect l="0" t="0" r="r" b="b"/>
                  <a:pathLst>
                    <a:path w="83" h="326">
                      <a:moveTo>
                        <a:pt x="0" y="83"/>
                      </a:moveTo>
                      <a:lnTo>
                        <a:pt x="83" y="0"/>
                      </a:lnTo>
                      <a:lnTo>
                        <a:pt x="83" y="236"/>
                      </a:lnTo>
                      <a:lnTo>
                        <a:pt x="0" y="326"/>
                      </a:lnTo>
                      <a:lnTo>
                        <a:pt x="0" y="83"/>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9" name="Freeform 97">
                  <a:extLst>
                    <a:ext uri="{FF2B5EF4-FFF2-40B4-BE49-F238E27FC236}">
                      <a16:creationId xmlns:a16="http://schemas.microsoft.com/office/drawing/2014/main" id="{9D59021C-934F-4EB7-9E58-E56AAB6A6736}"/>
                    </a:ext>
                  </a:extLst>
                </p:cNvPr>
                <p:cNvSpPr>
                  <a:spLocks/>
                </p:cNvSpPr>
                <p:nvPr/>
              </p:nvSpPr>
              <p:spPr bwMode="auto">
                <a:xfrm>
                  <a:off x="3015" y="1444"/>
                  <a:ext cx="83" cy="326"/>
                </a:xfrm>
                <a:custGeom>
                  <a:avLst/>
                  <a:gdLst>
                    <a:gd name="T0" fmla="*/ 0 w 83"/>
                    <a:gd name="T1" fmla="*/ 83 h 326"/>
                    <a:gd name="T2" fmla="*/ 83 w 83"/>
                    <a:gd name="T3" fmla="*/ 0 h 326"/>
                    <a:gd name="T4" fmla="*/ 83 w 83"/>
                    <a:gd name="T5" fmla="*/ 236 h 326"/>
                    <a:gd name="T6" fmla="*/ 0 w 83"/>
                    <a:gd name="T7" fmla="*/ 326 h 326"/>
                    <a:gd name="T8" fmla="*/ 0 w 83"/>
                    <a:gd name="T9" fmla="*/ 83 h 326"/>
                  </a:gdLst>
                  <a:ahLst/>
                  <a:cxnLst>
                    <a:cxn ang="0">
                      <a:pos x="T0" y="T1"/>
                    </a:cxn>
                    <a:cxn ang="0">
                      <a:pos x="T2" y="T3"/>
                    </a:cxn>
                    <a:cxn ang="0">
                      <a:pos x="T4" y="T5"/>
                    </a:cxn>
                    <a:cxn ang="0">
                      <a:pos x="T6" y="T7"/>
                    </a:cxn>
                    <a:cxn ang="0">
                      <a:pos x="T8" y="T9"/>
                    </a:cxn>
                  </a:cxnLst>
                  <a:rect l="0" t="0" r="r" b="b"/>
                  <a:pathLst>
                    <a:path w="83" h="326">
                      <a:moveTo>
                        <a:pt x="0" y="83"/>
                      </a:moveTo>
                      <a:lnTo>
                        <a:pt x="83" y="0"/>
                      </a:lnTo>
                      <a:lnTo>
                        <a:pt x="83" y="236"/>
                      </a:lnTo>
                      <a:lnTo>
                        <a:pt x="0" y="326"/>
                      </a:lnTo>
                      <a:lnTo>
                        <a:pt x="0" y="83"/>
                      </a:lnTo>
                      <a:close/>
                    </a:path>
                  </a:pathLst>
                </a:custGeom>
                <a:solidFill>
                  <a:srgbClr val="7A7A5A"/>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0" name="Freeform 98">
                  <a:extLst>
                    <a:ext uri="{FF2B5EF4-FFF2-40B4-BE49-F238E27FC236}">
                      <a16:creationId xmlns:a16="http://schemas.microsoft.com/office/drawing/2014/main" id="{1BEEAC5B-41FE-4D9F-8718-1DDCFAD63BB2}"/>
                    </a:ext>
                  </a:extLst>
                </p:cNvPr>
                <p:cNvSpPr>
                  <a:spLocks/>
                </p:cNvSpPr>
                <p:nvPr/>
              </p:nvSpPr>
              <p:spPr bwMode="auto">
                <a:xfrm>
                  <a:off x="3015" y="1534"/>
                  <a:ext cx="209" cy="83"/>
                </a:xfrm>
                <a:custGeom>
                  <a:avLst/>
                  <a:gdLst>
                    <a:gd name="T0" fmla="*/ 79 w 209"/>
                    <a:gd name="T1" fmla="*/ 0 h 83"/>
                    <a:gd name="T2" fmla="*/ 0 w 209"/>
                    <a:gd name="T3" fmla="*/ 83 h 83"/>
                    <a:gd name="T4" fmla="*/ 130 w 209"/>
                    <a:gd name="T5" fmla="*/ 83 h 83"/>
                    <a:gd name="T6" fmla="*/ 209 w 209"/>
                    <a:gd name="T7" fmla="*/ 0 h 83"/>
                    <a:gd name="T8" fmla="*/ 79 w 209"/>
                    <a:gd name="T9" fmla="*/ 0 h 83"/>
                  </a:gdLst>
                  <a:ahLst/>
                  <a:cxnLst>
                    <a:cxn ang="0">
                      <a:pos x="T0" y="T1"/>
                    </a:cxn>
                    <a:cxn ang="0">
                      <a:pos x="T2" y="T3"/>
                    </a:cxn>
                    <a:cxn ang="0">
                      <a:pos x="T4" y="T5"/>
                    </a:cxn>
                    <a:cxn ang="0">
                      <a:pos x="T6" y="T7"/>
                    </a:cxn>
                    <a:cxn ang="0">
                      <a:pos x="T8" y="T9"/>
                    </a:cxn>
                  </a:cxnLst>
                  <a:rect l="0" t="0" r="r" b="b"/>
                  <a:pathLst>
                    <a:path w="209" h="83">
                      <a:moveTo>
                        <a:pt x="79" y="0"/>
                      </a:moveTo>
                      <a:lnTo>
                        <a:pt x="0" y="83"/>
                      </a:lnTo>
                      <a:lnTo>
                        <a:pt x="130" y="83"/>
                      </a:lnTo>
                      <a:lnTo>
                        <a:pt x="209" y="0"/>
                      </a:lnTo>
                      <a:lnTo>
                        <a:pt x="79" y="0"/>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1" name="Freeform 99">
                  <a:extLst>
                    <a:ext uri="{FF2B5EF4-FFF2-40B4-BE49-F238E27FC236}">
                      <a16:creationId xmlns:a16="http://schemas.microsoft.com/office/drawing/2014/main" id="{D4938912-E978-402A-9587-22526F261DD6}"/>
                    </a:ext>
                  </a:extLst>
                </p:cNvPr>
                <p:cNvSpPr>
                  <a:spLocks/>
                </p:cNvSpPr>
                <p:nvPr/>
              </p:nvSpPr>
              <p:spPr bwMode="auto">
                <a:xfrm>
                  <a:off x="3015" y="1534"/>
                  <a:ext cx="209" cy="83"/>
                </a:xfrm>
                <a:custGeom>
                  <a:avLst/>
                  <a:gdLst>
                    <a:gd name="T0" fmla="*/ 79 w 209"/>
                    <a:gd name="T1" fmla="*/ 0 h 83"/>
                    <a:gd name="T2" fmla="*/ 0 w 209"/>
                    <a:gd name="T3" fmla="*/ 83 h 83"/>
                    <a:gd name="T4" fmla="*/ 130 w 209"/>
                    <a:gd name="T5" fmla="*/ 83 h 83"/>
                    <a:gd name="T6" fmla="*/ 209 w 209"/>
                    <a:gd name="T7" fmla="*/ 0 h 83"/>
                    <a:gd name="T8" fmla="*/ 79 w 209"/>
                    <a:gd name="T9" fmla="*/ 0 h 83"/>
                  </a:gdLst>
                  <a:ahLst/>
                  <a:cxnLst>
                    <a:cxn ang="0">
                      <a:pos x="T0" y="T1"/>
                    </a:cxn>
                    <a:cxn ang="0">
                      <a:pos x="T2" y="T3"/>
                    </a:cxn>
                    <a:cxn ang="0">
                      <a:pos x="T4" y="T5"/>
                    </a:cxn>
                    <a:cxn ang="0">
                      <a:pos x="T6" y="T7"/>
                    </a:cxn>
                    <a:cxn ang="0">
                      <a:pos x="T8" y="T9"/>
                    </a:cxn>
                  </a:cxnLst>
                  <a:rect l="0" t="0" r="r" b="b"/>
                  <a:pathLst>
                    <a:path w="209" h="83">
                      <a:moveTo>
                        <a:pt x="79" y="0"/>
                      </a:moveTo>
                      <a:lnTo>
                        <a:pt x="0" y="83"/>
                      </a:lnTo>
                      <a:lnTo>
                        <a:pt x="130" y="83"/>
                      </a:lnTo>
                      <a:lnTo>
                        <a:pt x="209" y="0"/>
                      </a:lnTo>
                      <a:lnTo>
                        <a:pt x="79"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2" name="Freeform 100">
                  <a:extLst>
                    <a:ext uri="{FF2B5EF4-FFF2-40B4-BE49-F238E27FC236}">
                      <a16:creationId xmlns:a16="http://schemas.microsoft.com/office/drawing/2014/main" id="{3086D285-DF62-4DB5-A247-1F561B11DA73}"/>
                    </a:ext>
                  </a:extLst>
                </p:cNvPr>
                <p:cNvSpPr>
                  <a:spLocks/>
                </p:cNvSpPr>
                <p:nvPr/>
              </p:nvSpPr>
              <p:spPr bwMode="auto">
                <a:xfrm>
                  <a:off x="3145" y="1534"/>
                  <a:ext cx="83" cy="370"/>
                </a:xfrm>
                <a:custGeom>
                  <a:avLst/>
                  <a:gdLst>
                    <a:gd name="T0" fmla="*/ 0 w 83"/>
                    <a:gd name="T1" fmla="*/ 83 h 370"/>
                    <a:gd name="T2" fmla="*/ 83 w 83"/>
                    <a:gd name="T3" fmla="*/ 0 h 370"/>
                    <a:gd name="T4" fmla="*/ 83 w 83"/>
                    <a:gd name="T5" fmla="*/ 284 h 370"/>
                    <a:gd name="T6" fmla="*/ 0 w 83"/>
                    <a:gd name="T7" fmla="*/ 370 h 370"/>
                    <a:gd name="T8" fmla="*/ 0 w 83"/>
                    <a:gd name="T9" fmla="*/ 83 h 370"/>
                  </a:gdLst>
                  <a:ahLst/>
                  <a:cxnLst>
                    <a:cxn ang="0">
                      <a:pos x="T0" y="T1"/>
                    </a:cxn>
                    <a:cxn ang="0">
                      <a:pos x="T2" y="T3"/>
                    </a:cxn>
                    <a:cxn ang="0">
                      <a:pos x="T4" y="T5"/>
                    </a:cxn>
                    <a:cxn ang="0">
                      <a:pos x="T6" y="T7"/>
                    </a:cxn>
                    <a:cxn ang="0">
                      <a:pos x="T8" y="T9"/>
                    </a:cxn>
                  </a:cxnLst>
                  <a:rect l="0" t="0" r="r" b="b"/>
                  <a:pathLst>
                    <a:path w="83" h="370">
                      <a:moveTo>
                        <a:pt x="0" y="83"/>
                      </a:moveTo>
                      <a:lnTo>
                        <a:pt x="83" y="0"/>
                      </a:lnTo>
                      <a:lnTo>
                        <a:pt x="83" y="284"/>
                      </a:lnTo>
                      <a:lnTo>
                        <a:pt x="0" y="370"/>
                      </a:lnTo>
                      <a:lnTo>
                        <a:pt x="0" y="83"/>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3" name="Freeform 101">
                  <a:extLst>
                    <a:ext uri="{FF2B5EF4-FFF2-40B4-BE49-F238E27FC236}">
                      <a16:creationId xmlns:a16="http://schemas.microsoft.com/office/drawing/2014/main" id="{45F04045-1E54-4533-9495-39C2CF468BD3}"/>
                    </a:ext>
                  </a:extLst>
                </p:cNvPr>
                <p:cNvSpPr>
                  <a:spLocks/>
                </p:cNvSpPr>
                <p:nvPr/>
              </p:nvSpPr>
              <p:spPr bwMode="auto">
                <a:xfrm>
                  <a:off x="3145" y="1534"/>
                  <a:ext cx="83" cy="370"/>
                </a:xfrm>
                <a:custGeom>
                  <a:avLst/>
                  <a:gdLst>
                    <a:gd name="T0" fmla="*/ 0 w 83"/>
                    <a:gd name="T1" fmla="*/ 83 h 370"/>
                    <a:gd name="T2" fmla="*/ 83 w 83"/>
                    <a:gd name="T3" fmla="*/ 0 h 370"/>
                    <a:gd name="T4" fmla="*/ 83 w 83"/>
                    <a:gd name="T5" fmla="*/ 284 h 370"/>
                    <a:gd name="T6" fmla="*/ 0 w 83"/>
                    <a:gd name="T7" fmla="*/ 370 h 370"/>
                    <a:gd name="T8" fmla="*/ 0 w 83"/>
                    <a:gd name="T9" fmla="*/ 83 h 370"/>
                  </a:gdLst>
                  <a:ahLst/>
                  <a:cxnLst>
                    <a:cxn ang="0">
                      <a:pos x="T0" y="T1"/>
                    </a:cxn>
                    <a:cxn ang="0">
                      <a:pos x="T2" y="T3"/>
                    </a:cxn>
                    <a:cxn ang="0">
                      <a:pos x="T4" y="T5"/>
                    </a:cxn>
                    <a:cxn ang="0">
                      <a:pos x="T6" y="T7"/>
                    </a:cxn>
                    <a:cxn ang="0">
                      <a:pos x="T8" y="T9"/>
                    </a:cxn>
                  </a:cxnLst>
                  <a:rect l="0" t="0" r="r" b="b"/>
                  <a:pathLst>
                    <a:path w="83" h="370">
                      <a:moveTo>
                        <a:pt x="0" y="83"/>
                      </a:moveTo>
                      <a:lnTo>
                        <a:pt x="83" y="0"/>
                      </a:lnTo>
                      <a:lnTo>
                        <a:pt x="83" y="284"/>
                      </a:lnTo>
                      <a:lnTo>
                        <a:pt x="0" y="370"/>
                      </a:lnTo>
                      <a:lnTo>
                        <a:pt x="0" y="83"/>
                      </a:lnTo>
                      <a:close/>
                    </a:path>
                  </a:pathLst>
                </a:custGeom>
                <a:solidFill>
                  <a:srgbClr val="7A7A5A"/>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4" name="Freeform 102">
                  <a:extLst>
                    <a:ext uri="{FF2B5EF4-FFF2-40B4-BE49-F238E27FC236}">
                      <a16:creationId xmlns:a16="http://schemas.microsoft.com/office/drawing/2014/main" id="{3DAE1774-F93D-42A2-8EA3-7BBF941E4395}"/>
                    </a:ext>
                  </a:extLst>
                </p:cNvPr>
                <p:cNvSpPr>
                  <a:spLocks/>
                </p:cNvSpPr>
                <p:nvPr/>
              </p:nvSpPr>
              <p:spPr bwMode="auto">
                <a:xfrm>
                  <a:off x="2770" y="1440"/>
                  <a:ext cx="328" cy="83"/>
                </a:xfrm>
                <a:custGeom>
                  <a:avLst/>
                  <a:gdLst>
                    <a:gd name="T0" fmla="*/ 83 w 328"/>
                    <a:gd name="T1" fmla="*/ 0 h 83"/>
                    <a:gd name="T2" fmla="*/ 0 w 328"/>
                    <a:gd name="T3" fmla="*/ 83 h 83"/>
                    <a:gd name="T4" fmla="*/ 0 w 328"/>
                    <a:gd name="T5" fmla="*/ 83 h 83"/>
                    <a:gd name="T6" fmla="*/ 245 w 328"/>
                    <a:gd name="T7" fmla="*/ 83 h 83"/>
                    <a:gd name="T8" fmla="*/ 328 w 328"/>
                    <a:gd name="T9" fmla="*/ 0 h 83"/>
                    <a:gd name="T10" fmla="*/ 83 w 328"/>
                    <a:gd name="T11" fmla="*/ 0 h 83"/>
                    <a:gd name="T12" fmla="*/ 83 w 328"/>
                    <a:gd name="T13" fmla="*/ 0 h 83"/>
                  </a:gdLst>
                  <a:ahLst/>
                  <a:cxnLst>
                    <a:cxn ang="0">
                      <a:pos x="T0" y="T1"/>
                    </a:cxn>
                    <a:cxn ang="0">
                      <a:pos x="T2" y="T3"/>
                    </a:cxn>
                    <a:cxn ang="0">
                      <a:pos x="T4" y="T5"/>
                    </a:cxn>
                    <a:cxn ang="0">
                      <a:pos x="T6" y="T7"/>
                    </a:cxn>
                    <a:cxn ang="0">
                      <a:pos x="T8" y="T9"/>
                    </a:cxn>
                    <a:cxn ang="0">
                      <a:pos x="T10" y="T11"/>
                    </a:cxn>
                    <a:cxn ang="0">
                      <a:pos x="T12" y="T13"/>
                    </a:cxn>
                  </a:cxnLst>
                  <a:rect l="0" t="0" r="r" b="b"/>
                  <a:pathLst>
                    <a:path w="328" h="83">
                      <a:moveTo>
                        <a:pt x="83" y="0"/>
                      </a:moveTo>
                      <a:lnTo>
                        <a:pt x="0" y="83"/>
                      </a:lnTo>
                      <a:lnTo>
                        <a:pt x="0" y="83"/>
                      </a:lnTo>
                      <a:lnTo>
                        <a:pt x="245" y="83"/>
                      </a:lnTo>
                      <a:lnTo>
                        <a:pt x="328" y="0"/>
                      </a:lnTo>
                      <a:lnTo>
                        <a:pt x="83" y="0"/>
                      </a:lnTo>
                      <a:lnTo>
                        <a:pt x="83" y="0"/>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5" name="Freeform 103">
                  <a:extLst>
                    <a:ext uri="{FF2B5EF4-FFF2-40B4-BE49-F238E27FC236}">
                      <a16:creationId xmlns:a16="http://schemas.microsoft.com/office/drawing/2014/main" id="{D12DD83E-A04A-4401-915D-5DA220CCF73D}"/>
                    </a:ext>
                  </a:extLst>
                </p:cNvPr>
                <p:cNvSpPr>
                  <a:spLocks/>
                </p:cNvSpPr>
                <p:nvPr/>
              </p:nvSpPr>
              <p:spPr bwMode="auto">
                <a:xfrm>
                  <a:off x="2770" y="1440"/>
                  <a:ext cx="328" cy="83"/>
                </a:xfrm>
                <a:custGeom>
                  <a:avLst/>
                  <a:gdLst>
                    <a:gd name="T0" fmla="*/ 83 w 328"/>
                    <a:gd name="T1" fmla="*/ 0 h 83"/>
                    <a:gd name="T2" fmla="*/ 0 w 328"/>
                    <a:gd name="T3" fmla="*/ 83 h 83"/>
                    <a:gd name="T4" fmla="*/ 245 w 328"/>
                    <a:gd name="T5" fmla="*/ 83 h 83"/>
                    <a:gd name="T6" fmla="*/ 328 w 328"/>
                    <a:gd name="T7" fmla="*/ 0 h 83"/>
                    <a:gd name="T8" fmla="*/ 83 w 328"/>
                    <a:gd name="T9" fmla="*/ 0 h 83"/>
                  </a:gdLst>
                  <a:ahLst/>
                  <a:cxnLst>
                    <a:cxn ang="0">
                      <a:pos x="T0" y="T1"/>
                    </a:cxn>
                    <a:cxn ang="0">
                      <a:pos x="T2" y="T3"/>
                    </a:cxn>
                    <a:cxn ang="0">
                      <a:pos x="T4" y="T5"/>
                    </a:cxn>
                    <a:cxn ang="0">
                      <a:pos x="T6" y="T7"/>
                    </a:cxn>
                    <a:cxn ang="0">
                      <a:pos x="T8" y="T9"/>
                    </a:cxn>
                  </a:cxnLst>
                  <a:rect l="0" t="0" r="r" b="b"/>
                  <a:pathLst>
                    <a:path w="328" h="83">
                      <a:moveTo>
                        <a:pt x="83" y="0"/>
                      </a:moveTo>
                      <a:lnTo>
                        <a:pt x="0" y="83"/>
                      </a:lnTo>
                      <a:lnTo>
                        <a:pt x="245" y="83"/>
                      </a:lnTo>
                      <a:lnTo>
                        <a:pt x="328" y="0"/>
                      </a:lnTo>
                      <a:lnTo>
                        <a:pt x="83" y="0"/>
                      </a:lnTo>
                      <a:close/>
                    </a:path>
                  </a:pathLst>
                </a:custGeom>
                <a:solidFill>
                  <a:srgbClr val="C9C9B6"/>
                </a:solidFill>
                <a:ln w="6350" cap="flat" cmpd="sng">
                  <a:solidFill>
                    <a:srgbClr val="49493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6" name="Freeform 104">
                  <a:extLst>
                    <a:ext uri="{FF2B5EF4-FFF2-40B4-BE49-F238E27FC236}">
                      <a16:creationId xmlns:a16="http://schemas.microsoft.com/office/drawing/2014/main" id="{2834A033-5023-412E-8B83-94B882AD2D7A}"/>
                    </a:ext>
                  </a:extLst>
                </p:cNvPr>
                <p:cNvSpPr>
                  <a:spLocks/>
                </p:cNvSpPr>
                <p:nvPr/>
              </p:nvSpPr>
              <p:spPr bwMode="auto">
                <a:xfrm>
                  <a:off x="2640" y="1523"/>
                  <a:ext cx="505" cy="381"/>
                </a:xfrm>
                <a:custGeom>
                  <a:avLst/>
                  <a:gdLst>
                    <a:gd name="T0" fmla="*/ 0 w 505"/>
                    <a:gd name="T1" fmla="*/ 381 h 381"/>
                    <a:gd name="T2" fmla="*/ 0 w 505"/>
                    <a:gd name="T3" fmla="*/ 169 h 381"/>
                    <a:gd name="T4" fmla="*/ 130 w 505"/>
                    <a:gd name="T5" fmla="*/ 169 h 381"/>
                    <a:gd name="T6" fmla="*/ 130 w 505"/>
                    <a:gd name="T7" fmla="*/ 0 h 381"/>
                    <a:gd name="T8" fmla="*/ 375 w 505"/>
                    <a:gd name="T9" fmla="*/ 0 h 381"/>
                    <a:gd name="T10" fmla="*/ 375 w 505"/>
                    <a:gd name="T11" fmla="*/ 94 h 381"/>
                    <a:gd name="T12" fmla="*/ 505 w 505"/>
                    <a:gd name="T13" fmla="*/ 94 h 381"/>
                    <a:gd name="T14" fmla="*/ 505 w 505"/>
                    <a:gd name="T15" fmla="*/ 381 h 381"/>
                    <a:gd name="T16" fmla="*/ 0 w 505"/>
                    <a:gd name="T17"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5" h="381">
                      <a:moveTo>
                        <a:pt x="0" y="381"/>
                      </a:moveTo>
                      <a:lnTo>
                        <a:pt x="0" y="169"/>
                      </a:lnTo>
                      <a:lnTo>
                        <a:pt x="130" y="169"/>
                      </a:lnTo>
                      <a:lnTo>
                        <a:pt x="130" y="0"/>
                      </a:lnTo>
                      <a:lnTo>
                        <a:pt x="375" y="0"/>
                      </a:lnTo>
                      <a:lnTo>
                        <a:pt x="375" y="94"/>
                      </a:lnTo>
                      <a:lnTo>
                        <a:pt x="505" y="94"/>
                      </a:lnTo>
                      <a:lnTo>
                        <a:pt x="505" y="381"/>
                      </a:lnTo>
                      <a:lnTo>
                        <a:pt x="0" y="381"/>
                      </a:lnTo>
                      <a:close/>
                    </a:path>
                  </a:pathLst>
                </a:custGeom>
                <a:solidFill>
                  <a:srgbClr val="B7B79D"/>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7" name="Freeform 105">
                  <a:extLst>
                    <a:ext uri="{FF2B5EF4-FFF2-40B4-BE49-F238E27FC236}">
                      <a16:creationId xmlns:a16="http://schemas.microsoft.com/office/drawing/2014/main" id="{C295B798-02DD-4C4D-8E51-4A0C4CF2BC15}"/>
                    </a:ext>
                  </a:extLst>
                </p:cNvPr>
                <p:cNvSpPr>
                  <a:spLocks/>
                </p:cNvSpPr>
                <p:nvPr/>
              </p:nvSpPr>
              <p:spPr bwMode="auto">
                <a:xfrm>
                  <a:off x="2640" y="1523"/>
                  <a:ext cx="505" cy="381"/>
                </a:xfrm>
                <a:custGeom>
                  <a:avLst/>
                  <a:gdLst>
                    <a:gd name="T0" fmla="*/ 0 w 505"/>
                    <a:gd name="T1" fmla="*/ 381 h 381"/>
                    <a:gd name="T2" fmla="*/ 0 w 505"/>
                    <a:gd name="T3" fmla="*/ 169 h 381"/>
                    <a:gd name="T4" fmla="*/ 130 w 505"/>
                    <a:gd name="T5" fmla="*/ 169 h 381"/>
                    <a:gd name="T6" fmla="*/ 130 w 505"/>
                    <a:gd name="T7" fmla="*/ 0 h 381"/>
                    <a:gd name="T8" fmla="*/ 375 w 505"/>
                    <a:gd name="T9" fmla="*/ 0 h 381"/>
                    <a:gd name="T10" fmla="*/ 375 w 505"/>
                    <a:gd name="T11" fmla="*/ 94 h 381"/>
                    <a:gd name="T12" fmla="*/ 505 w 505"/>
                    <a:gd name="T13" fmla="*/ 94 h 381"/>
                    <a:gd name="T14" fmla="*/ 505 w 505"/>
                    <a:gd name="T15" fmla="*/ 381 h 381"/>
                    <a:gd name="T16" fmla="*/ 0 w 505"/>
                    <a:gd name="T17"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5" h="381">
                      <a:moveTo>
                        <a:pt x="0" y="381"/>
                      </a:moveTo>
                      <a:lnTo>
                        <a:pt x="0" y="169"/>
                      </a:lnTo>
                      <a:lnTo>
                        <a:pt x="130" y="169"/>
                      </a:lnTo>
                      <a:lnTo>
                        <a:pt x="130" y="0"/>
                      </a:lnTo>
                      <a:lnTo>
                        <a:pt x="375" y="0"/>
                      </a:lnTo>
                      <a:lnTo>
                        <a:pt x="375" y="94"/>
                      </a:lnTo>
                      <a:lnTo>
                        <a:pt x="505" y="94"/>
                      </a:lnTo>
                      <a:lnTo>
                        <a:pt x="505" y="381"/>
                      </a:lnTo>
                      <a:lnTo>
                        <a:pt x="0" y="381"/>
                      </a:lnTo>
                      <a:close/>
                    </a:path>
                  </a:pathLst>
                </a:custGeom>
                <a:solidFill>
                  <a:srgbClr val="B7B79D"/>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8" name="Line 106">
                  <a:extLst>
                    <a:ext uri="{FF2B5EF4-FFF2-40B4-BE49-F238E27FC236}">
                      <a16:creationId xmlns:a16="http://schemas.microsoft.com/office/drawing/2014/main" id="{D4DAD3A5-C563-45F5-BEE5-860C949AE4AA}"/>
                    </a:ext>
                  </a:extLst>
                </p:cNvPr>
                <p:cNvSpPr>
                  <a:spLocks noChangeShapeType="1"/>
                </p:cNvSpPr>
                <p:nvPr/>
              </p:nvSpPr>
              <p:spPr bwMode="auto">
                <a:xfrm flipV="1">
                  <a:off x="2769" y="1695"/>
                  <a:ext cx="2" cy="206"/>
                </a:xfrm>
                <a:prstGeom prst="line">
                  <a:avLst/>
                </a:prstGeom>
                <a:noFill/>
                <a:ln w="6350">
                  <a:solidFill>
                    <a:srgbClr val="494936"/>
                  </a:solidFill>
                  <a:round/>
                  <a:headEnd/>
                  <a:tailEnd/>
                </a:ln>
                <a:extLst>
                  <a:ext uri="{909E8E84-426E-40DD-AFC4-6F175D3DCCD1}">
                    <a14:hiddenFill xmlns:a14="http://schemas.microsoft.com/office/drawing/2010/main">
                      <a:noFill/>
                    </a14:hiddenFill>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9" name="Line 107">
                  <a:extLst>
                    <a:ext uri="{FF2B5EF4-FFF2-40B4-BE49-F238E27FC236}">
                      <a16:creationId xmlns:a16="http://schemas.microsoft.com/office/drawing/2014/main" id="{7A69232A-1FAB-467A-95CC-AED34FA7BC03}"/>
                    </a:ext>
                  </a:extLst>
                </p:cNvPr>
                <p:cNvSpPr>
                  <a:spLocks noChangeShapeType="1"/>
                </p:cNvSpPr>
                <p:nvPr/>
              </p:nvSpPr>
              <p:spPr bwMode="auto">
                <a:xfrm flipV="1">
                  <a:off x="3013" y="1621"/>
                  <a:ext cx="1" cy="279"/>
                </a:xfrm>
                <a:prstGeom prst="line">
                  <a:avLst/>
                </a:prstGeom>
                <a:noFill/>
                <a:ln w="6350">
                  <a:solidFill>
                    <a:srgbClr val="494936"/>
                  </a:solidFill>
                  <a:round/>
                  <a:headEnd/>
                  <a:tailEnd/>
                </a:ln>
                <a:extLst>
                  <a:ext uri="{909E8E84-426E-40DD-AFC4-6F175D3DCCD1}">
                    <a14:hiddenFill xmlns:a14="http://schemas.microsoft.com/office/drawing/2010/main">
                      <a:noFill/>
                    </a14:hiddenFill>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0" name="Rectangle 108">
                  <a:extLst>
                    <a:ext uri="{FF2B5EF4-FFF2-40B4-BE49-F238E27FC236}">
                      <a16:creationId xmlns:a16="http://schemas.microsoft.com/office/drawing/2014/main" id="{4932A6B8-14AC-4378-BE02-57B8E8904A58}"/>
                    </a:ext>
                  </a:extLst>
                </p:cNvPr>
                <p:cNvSpPr>
                  <a:spLocks noChangeArrowheads="1"/>
                </p:cNvSpPr>
                <p:nvPr/>
              </p:nvSpPr>
              <p:spPr bwMode="auto">
                <a:xfrm>
                  <a:off x="2784" y="1552"/>
                  <a:ext cx="39"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1" name="Rectangle 109">
                  <a:extLst>
                    <a:ext uri="{FF2B5EF4-FFF2-40B4-BE49-F238E27FC236}">
                      <a16:creationId xmlns:a16="http://schemas.microsoft.com/office/drawing/2014/main" id="{25F33DE0-569A-41CF-BECC-665E3AD793AE}"/>
                    </a:ext>
                  </a:extLst>
                </p:cNvPr>
                <p:cNvSpPr>
                  <a:spLocks noChangeArrowheads="1"/>
                </p:cNvSpPr>
                <p:nvPr/>
              </p:nvSpPr>
              <p:spPr bwMode="auto">
                <a:xfrm>
                  <a:off x="2845" y="1552"/>
                  <a:ext cx="36"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2" name="Rectangle 110">
                  <a:extLst>
                    <a:ext uri="{FF2B5EF4-FFF2-40B4-BE49-F238E27FC236}">
                      <a16:creationId xmlns:a16="http://schemas.microsoft.com/office/drawing/2014/main" id="{B7191EE6-B7F9-4793-8FC7-EEBF3EE30B48}"/>
                    </a:ext>
                  </a:extLst>
                </p:cNvPr>
                <p:cNvSpPr>
                  <a:spLocks noChangeArrowheads="1"/>
                </p:cNvSpPr>
                <p:nvPr/>
              </p:nvSpPr>
              <p:spPr bwMode="auto">
                <a:xfrm>
                  <a:off x="2904" y="1552"/>
                  <a:ext cx="40"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3" name="Rectangle 111">
                  <a:extLst>
                    <a:ext uri="{FF2B5EF4-FFF2-40B4-BE49-F238E27FC236}">
                      <a16:creationId xmlns:a16="http://schemas.microsoft.com/office/drawing/2014/main" id="{8FAE9A1A-AF69-4686-87DB-203ADAE6D9C3}"/>
                    </a:ext>
                  </a:extLst>
                </p:cNvPr>
                <p:cNvSpPr>
                  <a:spLocks noChangeArrowheads="1"/>
                </p:cNvSpPr>
                <p:nvPr/>
              </p:nvSpPr>
              <p:spPr bwMode="auto">
                <a:xfrm>
                  <a:off x="2962" y="1552"/>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4" name="Rectangle 112">
                  <a:extLst>
                    <a:ext uri="{FF2B5EF4-FFF2-40B4-BE49-F238E27FC236}">
                      <a16:creationId xmlns:a16="http://schemas.microsoft.com/office/drawing/2014/main" id="{F3863D3C-883A-4506-9F78-C4D0E25227BC}"/>
                    </a:ext>
                  </a:extLst>
                </p:cNvPr>
                <p:cNvSpPr>
                  <a:spLocks noChangeArrowheads="1"/>
                </p:cNvSpPr>
                <p:nvPr/>
              </p:nvSpPr>
              <p:spPr bwMode="auto">
                <a:xfrm>
                  <a:off x="2784" y="1611"/>
                  <a:ext cx="97" cy="9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5" name="Rectangle 113">
                  <a:extLst>
                    <a:ext uri="{FF2B5EF4-FFF2-40B4-BE49-F238E27FC236}">
                      <a16:creationId xmlns:a16="http://schemas.microsoft.com/office/drawing/2014/main" id="{6346ED30-9FE7-4528-A0CF-B0B3C8AD5372}"/>
                    </a:ext>
                  </a:extLst>
                </p:cNvPr>
                <p:cNvSpPr>
                  <a:spLocks noChangeArrowheads="1"/>
                </p:cNvSpPr>
                <p:nvPr/>
              </p:nvSpPr>
              <p:spPr bwMode="auto">
                <a:xfrm>
                  <a:off x="2904" y="1611"/>
                  <a:ext cx="93" cy="9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6" name="Rectangle 114">
                  <a:extLst>
                    <a:ext uri="{FF2B5EF4-FFF2-40B4-BE49-F238E27FC236}">
                      <a16:creationId xmlns:a16="http://schemas.microsoft.com/office/drawing/2014/main" id="{F68C2553-B450-48B6-8FEC-57160D5FBE45}"/>
                    </a:ext>
                  </a:extLst>
                </p:cNvPr>
                <p:cNvSpPr>
                  <a:spLocks noChangeArrowheads="1"/>
                </p:cNvSpPr>
                <p:nvPr/>
              </p:nvSpPr>
              <p:spPr bwMode="auto">
                <a:xfrm>
                  <a:off x="2784" y="1725"/>
                  <a:ext cx="216" cy="178"/>
                </a:xfrm>
                <a:prstGeom prst="rect">
                  <a:avLst/>
                </a:prstGeom>
                <a:solidFill>
                  <a:srgbClr val="7A7A5A"/>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7" name="Rectangle 115">
                  <a:extLst>
                    <a:ext uri="{FF2B5EF4-FFF2-40B4-BE49-F238E27FC236}">
                      <a16:creationId xmlns:a16="http://schemas.microsoft.com/office/drawing/2014/main" id="{BD98D6ED-005F-44CF-92EE-606A58CA86EF}"/>
                    </a:ext>
                  </a:extLst>
                </p:cNvPr>
                <p:cNvSpPr>
                  <a:spLocks noChangeArrowheads="1"/>
                </p:cNvSpPr>
                <p:nvPr/>
              </p:nvSpPr>
              <p:spPr bwMode="auto">
                <a:xfrm>
                  <a:off x="2658" y="1729"/>
                  <a:ext cx="39"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8" name="Rectangle 116">
                  <a:extLst>
                    <a:ext uri="{FF2B5EF4-FFF2-40B4-BE49-F238E27FC236}">
                      <a16:creationId xmlns:a16="http://schemas.microsoft.com/office/drawing/2014/main" id="{A6CDB992-4158-464A-B4AA-EE0870ACDA01}"/>
                    </a:ext>
                  </a:extLst>
                </p:cNvPr>
                <p:cNvSpPr>
                  <a:spLocks noChangeArrowheads="1"/>
                </p:cNvSpPr>
                <p:nvPr/>
              </p:nvSpPr>
              <p:spPr bwMode="auto">
                <a:xfrm>
                  <a:off x="2717" y="1729"/>
                  <a:ext cx="35"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9" name="Rectangle 117">
                  <a:extLst>
                    <a:ext uri="{FF2B5EF4-FFF2-40B4-BE49-F238E27FC236}">
                      <a16:creationId xmlns:a16="http://schemas.microsoft.com/office/drawing/2014/main" id="{2E19FB27-6BD2-4775-A5A6-CA06738A6B90}"/>
                    </a:ext>
                  </a:extLst>
                </p:cNvPr>
                <p:cNvSpPr>
                  <a:spLocks noChangeArrowheads="1"/>
                </p:cNvSpPr>
                <p:nvPr/>
              </p:nvSpPr>
              <p:spPr bwMode="auto">
                <a:xfrm>
                  <a:off x="2658" y="1836"/>
                  <a:ext cx="90" cy="64"/>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0" name="Rectangle 118">
                  <a:extLst>
                    <a:ext uri="{FF2B5EF4-FFF2-40B4-BE49-F238E27FC236}">
                      <a16:creationId xmlns:a16="http://schemas.microsoft.com/office/drawing/2014/main" id="{44D5788E-A703-4993-9E1C-85F81261C37E}"/>
                    </a:ext>
                  </a:extLst>
                </p:cNvPr>
                <p:cNvSpPr>
                  <a:spLocks noChangeArrowheads="1"/>
                </p:cNvSpPr>
                <p:nvPr/>
              </p:nvSpPr>
              <p:spPr bwMode="auto">
                <a:xfrm>
                  <a:off x="3037" y="164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1" name="Rectangle 119">
                  <a:extLst>
                    <a:ext uri="{FF2B5EF4-FFF2-40B4-BE49-F238E27FC236}">
                      <a16:creationId xmlns:a16="http://schemas.microsoft.com/office/drawing/2014/main" id="{F12F90D0-10BC-4D56-AFA3-428BF7B7A065}"/>
                    </a:ext>
                  </a:extLst>
                </p:cNvPr>
                <p:cNvSpPr>
                  <a:spLocks noChangeArrowheads="1"/>
                </p:cNvSpPr>
                <p:nvPr/>
              </p:nvSpPr>
              <p:spPr bwMode="auto">
                <a:xfrm>
                  <a:off x="3092" y="164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2" name="Rectangle 120">
                  <a:extLst>
                    <a:ext uri="{FF2B5EF4-FFF2-40B4-BE49-F238E27FC236}">
                      <a16:creationId xmlns:a16="http://schemas.microsoft.com/office/drawing/2014/main" id="{68FAB3B5-D313-45BF-A5DB-39E3724F25BD}"/>
                    </a:ext>
                  </a:extLst>
                </p:cNvPr>
                <p:cNvSpPr>
                  <a:spLocks noChangeArrowheads="1"/>
                </p:cNvSpPr>
                <p:nvPr/>
              </p:nvSpPr>
              <p:spPr bwMode="auto">
                <a:xfrm>
                  <a:off x="3037" y="171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3" name="Rectangle 121">
                  <a:extLst>
                    <a:ext uri="{FF2B5EF4-FFF2-40B4-BE49-F238E27FC236}">
                      <a16:creationId xmlns:a16="http://schemas.microsoft.com/office/drawing/2014/main" id="{E37CBE88-8415-4194-83B1-D9455542E58A}"/>
                    </a:ext>
                  </a:extLst>
                </p:cNvPr>
                <p:cNvSpPr>
                  <a:spLocks noChangeArrowheads="1"/>
                </p:cNvSpPr>
                <p:nvPr/>
              </p:nvSpPr>
              <p:spPr bwMode="auto">
                <a:xfrm>
                  <a:off x="3092" y="171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4" name="Rectangle 122">
                  <a:extLst>
                    <a:ext uri="{FF2B5EF4-FFF2-40B4-BE49-F238E27FC236}">
                      <a16:creationId xmlns:a16="http://schemas.microsoft.com/office/drawing/2014/main" id="{422BBC78-7D9B-47B5-87DC-131F89C8F9C6}"/>
                    </a:ext>
                  </a:extLst>
                </p:cNvPr>
                <p:cNvSpPr>
                  <a:spLocks noChangeArrowheads="1"/>
                </p:cNvSpPr>
                <p:nvPr/>
              </p:nvSpPr>
              <p:spPr bwMode="auto">
                <a:xfrm>
                  <a:off x="3037" y="1788"/>
                  <a:ext cx="35"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5" name="Rectangle 123">
                  <a:extLst>
                    <a:ext uri="{FF2B5EF4-FFF2-40B4-BE49-F238E27FC236}">
                      <a16:creationId xmlns:a16="http://schemas.microsoft.com/office/drawing/2014/main" id="{B17837BD-C7E2-416A-9A20-A4B8D0E309C8}"/>
                    </a:ext>
                  </a:extLst>
                </p:cNvPr>
                <p:cNvSpPr>
                  <a:spLocks noChangeArrowheads="1"/>
                </p:cNvSpPr>
                <p:nvPr/>
              </p:nvSpPr>
              <p:spPr bwMode="auto">
                <a:xfrm>
                  <a:off x="3092" y="1788"/>
                  <a:ext cx="35"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6" name="Freeform 124">
                  <a:extLst>
                    <a:ext uri="{FF2B5EF4-FFF2-40B4-BE49-F238E27FC236}">
                      <a16:creationId xmlns:a16="http://schemas.microsoft.com/office/drawing/2014/main" id="{80670035-351C-43B9-ABD2-DE0CDA2D3DF3}"/>
                    </a:ext>
                  </a:extLst>
                </p:cNvPr>
                <p:cNvSpPr>
                  <a:spLocks/>
                </p:cNvSpPr>
                <p:nvPr/>
              </p:nvSpPr>
              <p:spPr bwMode="auto">
                <a:xfrm>
                  <a:off x="2784" y="1861"/>
                  <a:ext cx="216" cy="42"/>
                </a:xfrm>
                <a:custGeom>
                  <a:avLst/>
                  <a:gdLst>
                    <a:gd name="T0" fmla="*/ 0 w 216"/>
                    <a:gd name="T1" fmla="*/ 42 h 42"/>
                    <a:gd name="T2" fmla="*/ 48 w 216"/>
                    <a:gd name="T3" fmla="*/ 0 h 42"/>
                    <a:gd name="T4" fmla="*/ 216 w 216"/>
                    <a:gd name="T5" fmla="*/ 0 h 42"/>
                    <a:gd name="T6" fmla="*/ 216 w 216"/>
                    <a:gd name="T7" fmla="*/ 42 h 42"/>
                    <a:gd name="T8" fmla="*/ 0 w 216"/>
                    <a:gd name="T9" fmla="*/ 42 h 42"/>
                  </a:gdLst>
                  <a:ahLst/>
                  <a:cxnLst>
                    <a:cxn ang="0">
                      <a:pos x="T0" y="T1"/>
                    </a:cxn>
                    <a:cxn ang="0">
                      <a:pos x="T2" y="T3"/>
                    </a:cxn>
                    <a:cxn ang="0">
                      <a:pos x="T4" y="T5"/>
                    </a:cxn>
                    <a:cxn ang="0">
                      <a:pos x="T6" y="T7"/>
                    </a:cxn>
                    <a:cxn ang="0">
                      <a:pos x="T8" y="T9"/>
                    </a:cxn>
                  </a:cxnLst>
                  <a:rect l="0" t="0" r="r" b="b"/>
                  <a:pathLst>
                    <a:path w="216" h="42">
                      <a:moveTo>
                        <a:pt x="0" y="42"/>
                      </a:moveTo>
                      <a:lnTo>
                        <a:pt x="48" y="0"/>
                      </a:lnTo>
                      <a:lnTo>
                        <a:pt x="216" y="0"/>
                      </a:lnTo>
                      <a:lnTo>
                        <a:pt x="216" y="42"/>
                      </a:lnTo>
                      <a:lnTo>
                        <a:pt x="0" y="42"/>
                      </a:lnTo>
                      <a:close/>
                    </a:path>
                  </a:pathLst>
                </a:custGeom>
                <a:solidFill>
                  <a:srgbClr val="C9C9B6"/>
                </a:solidFill>
                <a:ln w="6350" cap="flat" cmpd="sng">
                  <a:solidFill>
                    <a:srgbClr val="49493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7" name="Rectangle 125">
                  <a:extLst>
                    <a:ext uri="{FF2B5EF4-FFF2-40B4-BE49-F238E27FC236}">
                      <a16:creationId xmlns:a16="http://schemas.microsoft.com/office/drawing/2014/main" id="{A35460C5-14DC-49A8-BA93-86912A62F1EA}"/>
                    </a:ext>
                  </a:extLst>
                </p:cNvPr>
                <p:cNvSpPr>
                  <a:spLocks noChangeArrowheads="1"/>
                </p:cNvSpPr>
                <p:nvPr/>
              </p:nvSpPr>
              <p:spPr bwMode="auto">
                <a:xfrm>
                  <a:off x="2832" y="1814"/>
                  <a:ext cx="168" cy="47"/>
                </a:xfrm>
                <a:prstGeom prst="rect">
                  <a:avLst/>
                </a:prstGeom>
                <a:solidFill>
                  <a:srgbClr val="95946E"/>
                </a:solidFill>
                <a:ln w="6350">
                  <a:solidFill>
                    <a:srgbClr val="2B2B19"/>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8" name="Rectangle 126">
                  <a:extLst>
                    <a:ext uri="{FF2B5EF4-FFF2-40B4-BE49-F238E27FC236}">
                      <a16:creationId xmlns:a16="http://schemas.microsoft.com/office/drawing/2014/main" id="{08C93A5E-3DB1-43B8-BEBF-6F4DA7DC52EF}"/>
                    </a:ext>
                  </a:extLst>
                </p:cNvPr>
                <p:cNvSpPr>
                  <a:spLocks noChangeArrowheads="1"/>
                </p:cNvSpPr>
                <p:nvPr/>
              </p:nvSpPr>
              <p:spPr bwMode="auto">
                <a:xfrm>
                  <a:off x="2860" y="1725"/>
                  <a:ext cx="140" cy="61"/>
                </a:xfrm>
                <a:prstGeom prst="rect">
                  <a:avLst/>
                </a:prstGeom>
                <a:solidFill>
                  <a:srgbClr val="7A7A5A"/>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9" name="Freeform 127">
                  <a:extLst>
                    <a:ext uri="{FF2B5EF4-FFF2-40B4-BE49-F238E27FC236}">
                      <a16:creationId xmlns:a16="http://schemas.microsoft.com/office/drawing/2014/main" id="{73BA63D7-DC7B-4D91-A177-D2F58B8EC602}"/>
                    </a:ext>
                  </a:extLst>
                </p:cNvPr>
                <p:cNvSpPr>
                  <a:spLocks/>
                </p:cNvSpPr>
                <p:nvPr/>
              </p:nvSpPr>
              <p:spPr bwMode="auto">
                <a:xfrm>
                  <a:off x="3146" y="1611"/>
                  <a:ext cx="205" cy="18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0" name="Rectangle 128">
                  <a:extLst>
                    <a:ext uri="{FF2B5EF4-FFF2-40B4-BE49-F238E27FC236}">
                      <a16:creationId xmlns:a16="http://schemas.microsoft.com/office/drawing/2014/main" id="{9090D06D-C573-44A6-9B15-40B6A98F9AA7}"/>
                    </a:ext>
                  </a:extLst>
                </p:cNvPr>
                <p:cNvSpPr>
                  <a:spLocks noChangeArrowheads="1"/>
                </p:cNvSpPr>
                <p:nvPr/>
              </p:nvSpPr>
              <p:spPr bwMode="auto">
                <a:xfrm>
                  <a:off x="3146" y="1791"/>
                  <a:ext cx="125" cy="113"/>
                </a:xfrm>
                <a:prstGeom prst="rect">
                  <a:avLst/>
                </a:prstGeom>
                <a:solidFill>
                  <a:srgbClr val="B7B79D"/>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1" name="Freeform 129">
                  <a:extLst>
                    <a:ext uri="{FF2B5EF4-FFF2-40B4-BE49-F238E27FC236}">
                      <a16:creationId xmlns:a16="http://schemas.microsoft.com/office/drawing/2014/main" id="{7465B1A1-D522-4C90-9C56-94905C64046F}"/>
                    </a:ext>
                  </a:extLst>
                </p:cNvPr>
                <p:cNvSpPr>
                  <a:spLocks/>
                </p:cNvSpPr>
                <p:nvPr/>
              </p:nvSpPr>
              <p:spPr bwMode="auto">
                <a:xfrm>
                  <a:off x="3272" y="1612"/>
                  <a:ext cx="124" cy="292"/>
                </a:xfrm>
                <a:custGeom>
                  <a:avLst/>
                  <a:gdLst>
                    <a:gd name="T0" fmla="*/ 0 w 124"/>
                    <a:gd name="T1" fmla="*/ 178 h 292"/>
                    <a:gd name="T2" fmla="*/ 0 w 124"/>
                    <a:gd name="T3" fmla="*/ 292 h 292"/>
                    <a:gd name="T4" fmla="*/ 124 w 124"/>
                    <a:gd name="T5" fmla="*/ 138 h 292"/>
                    <a:gd name="T6" fmla="*/ 124 w 124"/>
                    <a:gd name="T7" fmla="*/ 96 h 292"/>
                    <a:gd name="T8" fmla="*/ 78 w 124"/>
                    <a:gd name="T9" fmla="*/ 0 h 292"/>
                    <a:gd name="T10" fmla="*/ 0 w 124"/>
                    <a:gd name="T11" fmla="*/ 178 h 292"/>
                  </a:gdLst>
                  <a:ahLst/>
                  <a:cxnLst>
                    <a:cxn ang="0">
                      <a:pos x="T0" y="T1"/>
                    </a:cxn>
                    <a:cxn ang="0">
                      <a:pos x="T2" y="T3"/>
                    </a:cxn>
                    <a:cxn ang="0">
                      <a:pos x="T4" y="T5"/>
                    </a:cxn>
                    <a:cxn ang="0">
                      <a:pos x="T6" y="T7"/>
                    </a:cxn>
                    <a:cxn ang="0">
                      <a:pos x="T8" y="T9"/>
                    </a:cxn>
                    <a:cxn ang="0">
                      <a:pos x="T10" y="T11"/>
                    </a:cxn>
                  </a:cxnLst>
                  <a:rect l="0" t="0" r="r" b="b"/>
                  <a:pathLst>
                    <a:path w="124" h="292">
                      <a:moveTo>
                        <a:pt x="0" y="178"/>
                      </a:moveTo>
                      <a:lnTo>
                        <a:pt x="0" y="292"/>
                      </a:lnTo>
                      <a:lnTo>
                        <a:pt x="124" y="138"/>
                      </a:lnTo>
                      <a:lnTo>
                        <a:pt x="124" y="96"/>
                      </a:lnTo>
                      <a:lnTo>
                        <a:pt x="78" y="0"/>
                      </a:lnTo>
                      <a:lnTo>
                        <a:pt x="0" y="178"/>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2" name="Rectangle 130">
                  <a:extLst>
                    <a:ext uri="{FF2B5EF4-FFF2-40B4-BE49-F238E27FC236}">
                      <a16:creationId xmlns:a16="http://schemas.microsoft.com/office/drawing/2014/main" id="{25949454-EF46-4417-9B31-6BB2CE85742C}"/>
                    </a:ext>
                  </a:extLst>
                </p:cNvPr>
                <p:cNvSpPr>
                  <a:spLocks noChangeArrowheads="1"/>
                </p:cNvSpPr>
                <p:nvPr/>
              </p:nvSpPr>
              <p:spPr bwMode="auto">
                <a:xfrm>
                  <a:off x="2873" y="1735"/>
                  <a:ext cx="47" cy="47"/>
                </a:xfrm>
                <a:prstGeom prst="rect">
                  <a:avLst/>
                </a:prstGeom>
                <a:solidFill>
                  <a:srgbClr val="3F3F2F"/>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3" name="Freeform 131">
                  <a:extLst>
                    <a:ext uri="{FF2B5EF4-FFF2-40B4-BE49-F238E27FC236}">
                      <a16:creationId xmlns:a16="http://schemas.microsoft.com/office/drawing/2014/main" id="{455B237C-EFCC-424D-BA2A-37737A42AD35}"/>
                    </a:ext>
                  </a:extLst>
                </p:cNvPr>
                <p:cNvSpPr>
                  <a:spLocks/>
                </p:cNvSpPr>
                <p:nvPr/>
              </p:nvSpPr>
              <p:spPr bwMode="auto">
                <a:xfrm>
                  <a:off x="3164" y="1715"/>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4" name="Freeform 132">
                  <a:extLst>
                    <a:ext uri="{FF2B5EF4-FFF2-40B4-BE49-F238E27FC236}">
                      <a16:creationId xmlns:a16="http://schemas.microsoft.com/office/drawing/2014/main" id="{CEDACF54-9615-4A80-8A2E-20119428BDFC}"/>
                    </a:ext>
                  </a:extLst>
                </p:cNvPr>
                <p:cNvSpPr>
                  <a:spLocks/>
                </p:cNvSpPr>
                <p:nvPr/>
              </p:nvSpPr>
              <p:spPr bwMode="auto">
                <a:xfrm>
                  <a:off x="3202" y="1631"/>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5" name="Freeform 133">
                  <a:extLst>
                    <a:ext uri="{FF2B5EF4-FFF2-40B4-BE49-F238E27FC236}">
                      <a16:creationId xmlns:a16="http://schemas.microsoft.com/office/drawing/2014/main" id="{41CBAB43-51AD-4D50-88EA-EF075EBDD9C3}"/>
                    </a:ext>
                  </a:extLst>
                </p:cNvPr>
                <p:cNvSpPr>
                  <a:spLocks/>
                </p:cNvSpPr>
                <p:nvPr/>
              </p:nvSpPr>
              <p:spPr bwMode="auto">
                <a:xfrm>
                  <a:off x="3218" y="1715"/>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6" name="Freeform 134">
                  <a:extLst>
                    <a:ext uri="{FF2B5EF4-FFF2-40B4-BE49-F238E27FC236}">
                      <a16:creationId xmlns:a16="http://schemas.microsoft.com/office/drawing/2014/main" id="{AAA48654-FDAB-46E0-9338-6006C1E50553}"/>
                    </a:ext>
                  </a:extLst>
                </p:cNvPr>
                <p:cNvSpPr>
                  <a:spLocks/>
                </p:cNvSpPr>
                <p:nvPr/>
              </p:nvSpPr>
              <p:spPr bwMode="auto">
                <a:xfrm>
                  <a:off x="3256" y="1631"/>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7" name="Freeform 135">
                  <a:extLst>
                    <a:ext uri="{FF2B5EF4-FFF2-40B4-BE49-F238E27FC236}">
                      <a16:creationId xmlns:a16="http://schemas.microsoft.com/office/drawing/2014/main" id="{ADE2C08F-B1DA-4C98-99F8-56378B673CD9}"/>
                    </a:ext>
                  </a:extLst>
                </p:cNvPr>
                <p:cNvSpPr>
                  <a:spLocks/>
                </p:cNvSpPr>
                <p:nvPr/>
              </p:nvSpPr>
              <p:spPr bwMode="auto">
                <a:xfrm>
                  <a:off x="2830" y="1784"/>
                  <a:ext cx="168" cy="29"/>
                </a:xfrm>
                <a:custGeom>
                  <a:avLst/>
                  <a:gdLst>
                    <a:gd name="T0" fmla="*/ 0 w 168"/>
                    <a:gd name="T1" fmla="*/ 29 h 29"/>
                    <a:gd name="T2" fmla="*/ 30 w 168"/>
                    <a:gd name="T3" fmla="*/ 0 h 29"/>
                    <a:gd name="T4" fmla="*/ 168 w 168"/>
                    <a:gd name="T5" fmla="*/ 0 h 29"/>
                    <a:gd name="T6" fmla="*/ 168 w 168"/>
                    <a:gd name="T7" fmla="*/ 29 h 29"/>
                    <a:gd name="T8" fmla="*/ 0 w 168"/>
                    <a:gd name="T9" fmla="*/ 29 h 29"/>
                  </a:gdLst>
                  <a:ahLst/>
                  <a:cxnLst>
                    <a:cxn ang="0">
                      <a:pos x="T0" y="T1"/>
                    </a:cxn>
                    <a:cxn ang="0">
                      <a:pos x="T2" y="T3"/>
                    </a:cxn>
                    <a:cxn ang="0">
                      <a:pos x="T4" y="T5"/>
                    </a:cxn>
                    <a:cxn ang="0">
                      <a:pos x="T6" y="T7"/>
                    </a:cxn>
                    <a:cxn ang="0">
                      <a:pos x="T8" y="T9"/>
                    </a:cxn>
                  </a:cxnLst>
                  <a:rect l="0" t="0" r="r" b="b"/>
                  <a:pathLst>
                    <a:path w="168" h="29">
                      <a:moveTo>
                        <a:pt x="0" y="29"/>
                      </a:moveTo>
                      <a:lnTo>
                        <a:pt x="30" y="0"/>
                      </a:lnTo>
                      <a:lnTo>
                        <a:pt x="168" y="0"/>
                      </a:lnTo>
                      <a:lnTo>
                        <a:pt x="168" y="29"/>
                      </a:lnTo>
                      <a:lnTo>
                        <a:pt x="0" y="29"/>
                      </a:lnTo>
                      <a:close/>
                    </a:path>
                  </a:pathLst>
                </a:custGeom>
                <a:solidFill>
                  <a:srgbClr val="C9C9B6"/>
                </a:solidFill>
                <a:ln w="6350" cap="flat" cmpd="sng">
                  <a:solidFill>
                    <a:srgbClr val="49493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8" name="Rectangle 136">
                  <a:extLst>
                    <a:ext uri="{FF2B5EF4-FFF2-40B4-BE49-F238E27FC236}">
                      <a16:creationId xmlns:a16="http://schemas.microsoft.com/office/drawing/2014/main" id="{81076E49-90D2-4863-AD8A-441F75D06DA3}"/>
                    </a:ext>
                  </a:extLst>
                </p:cNvPr>
                <p:cNvSpPr>
                  <a:spLocks noChangeArrowheads="1"/>
                </p:cNvSpPr>
                <p:nvPr/>
              </p:nvSpPr>
              <p:spPr bwMode="auto">
                <a:xfrm>
                  <a:off x="3163" y="1809"/>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9" name="Rectangle 137">
                  <a:extLst>
                    <a:ext uri="{FF2B5EF4-FFF2-40B4-BE49-F238E27FC236}">
                      <a16:creationId xmlns:a16="http://schemas.microsoft.com/office/drawing/2014/main" id="{7F5CD346-0F51-4CFF-88DE-9D1E50FABE05}"/>
                    </a:ext>
                  </a:extLst>
                </p:cNvPr>
                <p:cNvSpPr>
                  <a:spLocks noChangeArrowheads="1"/>
                </p:cNvSpPr>
                <p:nvPr/>
              </p:nvSpPr>
              <p:spPr bwMode="auto">
                <a:xfrm>
                  <a:off x="3218" y="1809"/>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0" name="Rectangle 138">
                  <a:extLst>
                    <a:ext uri="{FF2B5EF4-FFF2-40B4-BE49-F238E27FC236}">
                      <a16:creationId xmlns:a16="http://schemas.microsoft.com/office/drawing/2014/main" id="{2D2348DF-97B3-466C-9027-D193F25B4F7A}"/>
                    </a:ext>
                  </a:extLst>
                </p:cNvPr>
                <p:cNvSpPr>
                  <a:spLocks noChangeArrowheads="1"/>
                </p:cNvSpPr>
                <p:nvPr/>
              </p:nvSpPr>
              <p:spPr bwMode="auto">
                <a:xfrm>
                  <a:off x="2943" y="1735"/>
                  <a:ext cx="47" cy="47"/>
                </a:xfrm>
                <a:prstGeom prst="rect">
                  <a:avLst/>
                </a:prstGeom>
                <a:solidFill>
                  <a:srgbClr val="3F3F2F"/>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grpSp>
        <p:pic>
          <p:nvPicPr>
            <p:cNvPr id="378" name="Picture 30" descr="通用路由器">
              <a:extLst>
                <a:ext uri="{FF2B5EF4-FFF2-40B4-BE49-F238E27FC236}">
                  <a16:creationId xmlns:a16="http://schemas.microsoft.com/office/drawing/2014/main" id="{A31A4484-478C-4F61-8C42-3E010329BFA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07934" y="2743266"/>
              <a:ext cx="549678" cy="3068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1" name="组合 2050">
            <a:extLst>
              <a:ext uri="{FF2B5EF4-FFF2-40B4-BE49-F238E27FC236}">
                <a16:creationId xmlns:a16="http://schemas.microsoft.com/office/drawing/2014/main" id="{FB071F5B-043B-4E1B-A8DB-3814160BBCFE}"/>
              </a:ext>
            </a:extLst>
          </p:cNvPr>
          <p:cNvGrpSpPr/>
          <p:nvPr/>
        </p:nvGrpSpPr>
        <p:grpSpPr>
          <a:xfrm>
            <a:off x="6646332" y="3907304"/>
            <a:ext cx="1198237" cy="1598289"/>
            <a:chOff x="6061296" y="3985301"/>
            <a:chExt cx="1388076" cy="1920875"/>
          </a:xfrm>
        </p:grpSpPr>
        <p:sp>
          <p:nvSpPr>
            <p:cNvPr id="309" name="Text Box 59">
              <a:extLst>
                <a:ext uri="{FF2B5EF4-FFF2-40B4-BE49-F238E27FC236}">
                  <a16:creationId xmlns:a16="http://schemas.microsoft.com/office/drawing/2014/main" id="{705B1E35-D42D-4DC0-922B-583214C40457}"/>
                </a:ext>
              </a:extLst>
            </p:cNvPr>
            <p:cNvSpPr txBox="1">
              <a:spLocks noChangeArrowheads="1"/>
            </p:cNvSpPr>
            <p:nvPr/>
          </p:nvSpPr>
          <p:spPr bwMode="auto">
            <a:xfrm>
              <a:off x="6776807" y="411999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总部</a:t>
              </a:r>
            </a:p>
          </p:txBody>
        </p:sp>
        <p:pic>
          <p:nvPicPr>
            <p:cNvPr id="310" name="Picture 60">
              <a:extLst>
                <a:ext uri="{FF2B5EF4-FFF2-40B4-BE49-F238E27FC236}">
                  <a16:creationId xmlns:a16="http://schemas.microsoft.com/office/drawing/2014/main" id="{51EB9C80-ABD1-4616-A464-F5C1FF27436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61296" y="3985301"/>
              <a:ext cx="1204913" cy="1920875"/>
            </a:xfrm>
            <a:prstGeom prst="rect">
              <a:avLst/>
            </a:prstGeom>
            <a:noFill/>
            <a:extLst>
              <a:ext uri="{909E8E84-426E-40DD-AFC4-6F175D3DCCD1}">
                <a14:hiddenFill xmlns:a14="http://schemas.microsoft.com/office/drawing/2010/main">
                  <a:solidFill>
                    <a:srgbClr val="FFFFFF"/>
                  </a:solidFill>
                </a14:hiddenFill>
              </a:ext>
            </a:extLst>
          </p:spPr>
        </p:pic>
        <p:pic>
          <p:nvPicPr>
            <p:cNvPr id="379" name="Picture 30" descr="通用路由器">
              <a:extLst>
                <a:ext uri="{FF2B5EF4-FFF2-40B4-BE49-F238E27FC236}">
                  <a16:creationId xmlns:a16="http://schemas.microsoft.com/office/drawing/2014/main" id="{952BB812-847E-4242-9101-81B549B947C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76806" y="5381373"/>
              <a:ext cx="672566" cy="330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3" name="组合 2052">
            <a:extLst>
              <a:ext uri="{FF2B5EF4-FFF2-40B4-BE49-F238E27FC236}">
                <a16:creationId xmlns:a16="http://schemas.microsoft.com/office/drawing/2014/main" id="{D45F12DC-6556-4728-8174-A05B44000C39}"/>
              </a:ext>
            </a:extLst>
          </p:cNvPr>
          <p:cNvGrpSpPr/>
          <p:nvPr/>
        </p:nvGrpSpPr>
        <p:grpSpPr>
          <a:xfrm>
            <a:off x="8914497" y="1359860"/>
            <a:ext cx="1657146" cy="1051479"/>
            <a:chOff x="8610600" y="3014447"/>
            <a:chExt cx="1675193" cy="1051479"/>
          </a:xfrm>
        </p:grpSpPr>
        <p:pic>
          <p:nvPicPr>
            <p:cNvPr id="2052" name="图片 2051">
              <a:extLst>
                <a:ext uri="{FF2B5EF4-FFF2-40B4-BE49-F238E27FC236}">
                  <a16:creationId xmlns:a16="http://schemas.microsoft.com/office/drawing/2014/main" id="{67B78FF4-42D6-4394-A29B-C8BEDB0111E7}"/>
                </a:ext>
              </a:extLst>
            </p:cNvPr>
            <p:cNvPicPr>
              <a:picLocks noChangeAspect="1"/>
            </p:cNvPicPr>
            <p:nvPr/>
          </p:nvPicPr>
          <p:blipFill>
            <a:blip r:embed="rId6"/>
            <a:stretch>
              <a:fillRect/>
            </a:stretch>
          </p:blipFill>
          <p:spPr>
            <a:xfrm>
              <a:off x="8610600" y="3014447"/>
              <a:ext cx="590550" cy="1037063"/>
            </a:xfrm>
            <a:prstGeom prst="rect">
              <a:avLst/>
            </a:prstGeom>
          </p:spPr>
        </p:pic>
        <p:pic>
          <p:nvPicPr>
            <p:cNvPr id="394" name="Picture 30" descr="通用路由器">
              <a:extLst>
                <a:ext uri="{FF2B5EF4-FFF2-40B4-BE49-F238E27FC236}">
                  <a16:creationId xmlns:a16="http://schemas.microsoft.com/office/drawing/2014/main" id="{85AF534A-A676-40BB-A0AD-9CA304A1AD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66390" y="3736018"/>
              <a:ext cx="590944" cy="329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 name="Text Box 81">
              <a:extLst>
                <a:ext uri="{FF2B5EF4-FFF2-40B4-BE49-F238E27FC236}">
                  <a16:creationId xmlns:a16="http://schemas.microsoft.com/office/drawing/2014/main" id="{D03A5E3B-1120-4F40-812A-85CAA5FB0A8E}"/>
                </a:ext>
              </a:extLst>
            </p:cNvPr>
            <p:cNvSpPr txBox="1">
              <a:spLocks noChangeArrowheads="1"/>
            </p:cNvSpPr>
            <p:nvPr/>
          </p:nvSpPr>
          <p:spPr bwMode="auto">
            <a:xfrm>
              <a:off x="9203445" y="3082846"/>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R="0" lvl="0" indent="0" fontAlgn="base">
                <a:lnSpc>
                  <a:spcPct val="100000"/>
                </a:lnSpc>
                <a:spcBef>
                  <a:spcPct val="0"/>
                </a:spcBef>
                <a:spcAft>
                  <a:spcPct val="0"/>
                </a:spcAft>
                <a:buClrTx/>
                <a:buSzTx/>
                <a:buFontTx/>
                <a:buNone/>
                <a:tabLst/>
                <a:defRPr kumimoji="1" sz="2000" i="0" u="none" strike="noStrike" cap="none" spc="0" normalizeH="0" baseline="0">
                  <a:ln>
                    <a:noFill/>
                  </a:ln>
                  <a:solidFill>
                    <a:srgbClr val="000000"/>
                  </a:solidFill>
                  <a:effectLst/>
                  <a:uLnTx/>
                  <a:uFillTx/>
                  <a:latin typeface="微软雅黑" panose="020B0503020204020204" pitchFamily="34" charset="-122"/>
                  <a:ea typeface="微软雅黑" panose="020B0503020204020204" pitchFamily="34" charset="-122"/>
                </a:defRPr>
              </a:lvl1pPr>
              <a:lvl2pPr fontAlgn="base">
                <a:spcBef>
                  <a:spcPct val="0"/>
                </a:spcBef>
                <a:spcAft>
                  <a:spcPct val="0"/>
                </a:spcAft>
                <a:defRPr kumimoji="1" sz="3200">
                  <a:latin typeface="Times New Roman" panose="02020603050405020304" pitchFamily="18" charset="0"/>
                  <a:ea typeface="宋体" panose="02010600030101010101" pitchFamily="2" charset="-122"/>
                </a:defRPr>
              </a:lvl2pPr>
              <a:lvl3pPr fontAlgn="base">
                <a:spcBef>
                  <a:spcPct val="0"/>
                </a:spcBef>
                <a:spcAft>
                  <a:spcPct val="0"/>
                </a:spcAft>
                <a:defRPr kumimoji="1" sz="3200">
                  <a:latin typeface="Times New Roman" panose="02020603050405020304" pitchFamily="18" charset="0"/>
                  <a:ea typeface="宋体" panose="02010600030101010101" pitchFamily="2" charset="-122"/>
                </a:defRPr>
              </a:lvl3pPr>
              <a:lvl4pPr fontAlgn="base">
                <a:spcBef>
                  <a:spcPct val="0"/>
                </a:spcBef>
                <a:spcAft>
                  <a:spcPct val="0"/>
                </a:spcAft>
                <a:defRPr kumimoji="1" sz="3200">
                  <a:latin typeface="Times New Roman" panose="02020603050405020304" pitchFamily="18" charset="0"/>
                  <a:ea typeface="宋体" panose="02010600030101010101" pitchFamily="2" charset="-122"/>
                </a:defRPr>
              </a:lvl4pPr>
              <a:lvl5pPr fontAlgn="base">
                <a:spcBef>
                  <a:spcPct val="0"/>
                </a:spcBef>
                <a:spcAft>
                  <a:spcPct val="0"/>
                </a:spcAft>
                <a:defRPr kumimoji="1" sz="3200">
                  <a:latin typeface="Times New Roman" panose="02020603050405020304" pitchFamily="18" charset="0"/>
                  <a:ea typeface="宋体" panose="02010600030101010101" pitchFamily="2" charset="-122"/>
                </a:defRPr>
              </a:lvl5pPr>
              <a:lvl6pPr>
                <a:defRPr kumimoji="1" sz="3200">
                  <a:latin typeface="Times New Roman" panose="02020603050405020304" pitchFamily="18" charset="0"/>
                  <a:ea typeface="宋体" panose="02010600030101010101" pitchFamily="2" charset="-122"/>
                </a:defRPr>
              </a:lvl6pPr>
              <a:lvl7pPr>
                <a:defRPr kumimoji="1" sz="3200">
                  <a:latin typeface="Times New Roman" panose="02020603050405020304" pitchFamily="18" charset="0"/>
                  <a:ea typeface="宋体" panose="02010600030101010101" pitchFamily="2" charset="-122"/>
                </a:defRPr>
              </a:lvl7pPr>
              <a:lvl8pPr>
                <a:defRPr kumimoji="1" sz="3200">
                  <a:latin typeface="Times New Roman" panose="02020603050405020304" pitchFamily="18" charset="0"/>
                  <a:ea typeface="宋体" panose="02010600030101010101" pitchFamily="2" charset="-122"/>
                </a:defRPr>
              </a:lvl8pPr>
              <a:lvl9pPr>
                <a:defRPr kumimoji="1" sz="3200">
                  <a:latin typeface="Times New Roman" panose="02020603050405020304" pitchFamily="18" charset="0"/>
                  <a:ea typeface="宋体" panose="02010600030101010101" pitchFamily="2" charset="-122"/>
                </a:defRPr>
              </a:lvl9pPr>
            </a:lstStyle>
            <a:p>
              <a:r>
                <a:rPr lang="zh-CN" altLang="en-US" sz="1400" dirty="0"/>
                <a:t>异地办事处</a:t>
              </a:r>
            </a:p>
          </p:txBody>
        </p:sp>
      </p:grpSp>
      <p:grpSp>
        <p:nvGrpSpPr>
          <p:cNvPr id="13" name="组合 12">
            <a:extLst>
              <a:ext uri="{FF2B5EF4-FFF2-40B4-BE49-F238E27FC236}">
                <a16:creationId xmlns:a16="http://schemas.microsoft.com/office/drawing/2014/main" id="{0088BEDB-2A7A-48D4-97F3-A445017FC272}"/>
              </a:ext>
            </a:extLst>
          </p:cNvPr>
          <p:cNvGrpSpPr/>
          <p:nvPr/>
        </p:nvGrpSpPr>
        <p:grpSpPr>
          <a:xfrm>
            <a:off x="11058018" y="2199738"/>
            <a:ext cx="903289" cy="876301"/>
            <a:chOff x="10694816" y="3126501"/>
            <a:chExt cx="903289" cy="876301"/>
          </a:xfrm>
        </p:grpSpPr>
        <p:pic>
          <p:nvPicPr>
            <p:cNvPr id="398" name="Picture 10">
              <a:extLst>
                <a:ext uri="{FF2B5EF4-FFF2-40B4-BE49-F238E27FC236}">
                  <a16:creationId xmlns:a16="http://schemas.microsoft.com/office/drawing/2014/main" id="{F3E2FF72-067C-49F4-A5A0-35B7C147E5AA}"/>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39266" y="3126501"/>
              <a:ext cx="515938"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 name="组合 11">
              <a:extLst>
                <a:ext uri="{FF2B5EF4-FFF2-40B4-BE49-F238E27FC236}">
                  <a16:creationId xmlns:a16="http://schemas.microsoft.com/office/drawing/2014/main" id="{C8C21C55-C19F-47BE-9190-BFF2E8D4592C}"/>
                </a:ext>
              </a:extLst>
            </p:cNvPr>
            <p:cNvGrpSpPr/>
            <p:nvPr/>
          </p:nvGrpSpPr>
          <p:grpSpPr>
            <a:xfrm>
              <a:off x="11015492" y="3202701"/>
              <a:ext cx="384471" cy="438688"/>
              <a:chOff x="11015492" y="3202701"/>
              <a:chExt cx="384471" cy="438688"/>
            </a:xfrm>
          </p:grpSpPr>
          <p:sp>
            <p:nvSpPr>
              <p:cNvPr id="401" name="Freeform 12">
                <a:extLst>
                  <a:ext uri="{FF2B5EF4-FFF2-40B4-BE49-F238E27FC236}">
                    <a16:creationId xmlns:a16="http://schemas.microsoft.com/office/drawing/2014/main" id="{0EECC305-8C1A-417E-A6E3-D62DB977D7EC}"/>
                  </a:ext>
                </a:extLst>
              </p:cNvPr>
              <p:cNvSpPr>
                <a:spLocks/>
              </p:cNvSpPr>
              <p:nvPr/>
            </p:nvSpPr>
            <p:spPr bwMode="auto">
              <a:xfrm>
                <a:off x="11384123" y="3421517"/>
                <a:ext cx="0" cy="215644"/>
              </a:xfrm>
              <a:custGeom>
                <a:avLst/>
                <a:gdLst>
                  <a:gd name="T0" fmla="*/ 69 w 128"/>
                  <a:gd name="T1" fmla="*/ 0 h 105"/>
                  <a:gd name="T2" fmla="*/ 128 w 128"/>
                  <a:gd name="T3" fmla="*/ 27 h 105"/>
                  <a:gd name="T4" fmla="*/ 43 w 128"/>
                  <a:gd name="T5" fmla="*/ 105 h 105"/>
                  <a:gd name="T6" fmla="*/ 0 w 128"/>
                  <a:gd name="T7" fmla="*/ 88 h 105"/>
                  <a:gd name="T8" fmla="*/ 69 w 128"/>
                  <a:gd name="T9" fmla="*/ 0 h 105"/>
                </a:gdLst>
                <a:ahLst/>
                <a:cxnLst>
                  <a:cxn ang="0">
                    <a:pos x="T0" y="T1"/>
                  </a:cxn>
                  <a:cxn ang="0">
                    <a:pos x="T2" y="T3"/>
                  </a:cxn>
                  <a:cxn ang="0">
                    <a:pos x="T4" y="T5"/>
                  </a:cxn>
                  <a:cxn ang="0">
                    <a:pos x="T6" y="T7"/>
                  </a:cxn>
                  <a:cxn ang="0">
                    <a:pos x="T8" y="T9"/>
                  </a:cxn>
                </a:cxnLst>
                <a:rect l="0" t="0" r="r" b="b"/>
                <a:pathLst>
                  <a:path w="128" h="105">
                    <a:moveTo>
                      <a:pt x="69" y="0"/>
                    </a:moveTo>
                    <a:lnTo>
                      <a:pt x="128" y="27"/>
                    </a:lnTo>
                    <a:lnTo>
                      <a:pt x="43" y="105"/>
                    </a:lnTo>
                    <a:lnTo>
                      <a:pt x="0" y="88"/>
                    </a:lnTo>
                    <a:lnTo>
                      <a:pt x="6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2" name="Freeform 13">
                <a:extLst>
                  <a:ext uri="{FF2B5EF4-FFF2-40B4-BE49-F238E27FC236}">
                    <a16:creationId xmlns:a16="http://schemas.microsoft.com/office/drawing/2014/main" id="{4174793C-9973-4341-AE39-A38A9216E0BB}"/>
                  </a:ext>
                </a:extLst>
              </p:cNvPr>
              <p:cNvSpPr>
                <a:spLocks/>
              </p:cNvSpPr>
              <p:nvPr/>
            </p:nvSpPr>
            <p:spPr bwMode="auto">
              <a:xfrm>
                <a:off x="11384123" y="3421517"/>
                <a:ext cx="0" cy="215644"/>
              </a:xfrm>
              <a:custGeom>
                <a:avLst/>
                <a:gdLst>
                  <a:gd name="T0" fmla="*/ 69 w 128"/>
                  <a:gd name="T1" fmla="*/ 0 h 105"/>
                  <a:gd name="T2" fmla="*/ 128 w 128"/>
                  <a:gd name="T3" fmla="*/ 27 h 105"/>
                  <a:gd name="T4" fmla="*/ 43 w 128"/>
                  <a:gd name="T5" fmla="*/ 105 h 105"/>
                  <a:gd name="T6" fmla="*/ 0 w 128"/>
                  <a:gd name="T7" fmla="*/ 88 h 105"/>
                  <a:gd name="T8" fmla="*/ 69 w 128"/>
                  <a:gd name="T9" fmla="*/ 0 h 105"/>
                </a:gdLst>
                <a:ahLst/>
                <a:cxnLst>
                  <a:cxn ang="0">
                    <a:pos x="T0" y="T1"/>
                  </a:cxn>
                  <a:cxn ang="0">
                    <a:pos x="T2" y="T3"/>
                  </a:cxn>
                  <a:cxn ang="0">
                    <a:pos x="T4" y="T5"/>
                  </a:cxn>
                  <a:cxn ang="0">
                    <a:pos x="T6" y="T7"/>
                  </a:cxn>
                  <a:cxn ang="0">
                    <a:pos x="T8" y="T9"/>
                  </a:cxn>
                </a:cxnLst>
                <a:rect l="0" t="0" r="r" b="b"/>
                <a:pathLst>
                  <a:path w="128" h="105">
                    <a:moveTo>
                      <a:pt x="69" y="0"/>
                    </a:moveTo>
                    <a:lnTo>
                      <a:pt x="128" y="27"/>
                    </a:lnTo>
                    <a:lnTo>
                      <a:pt x="43" y="105"/>
                    </a:lnTo>
                    <a:lnTo>
                      <a:pt x="0" y="88"/>
                    </a:lnTo>
                    <a:lnTo>
                      <a:pt x="6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4" name="Freeform 15">
                <a:extLst>
                  <a:ext uri="{FF2B5EF4-FFF2-40B4-BE49-F238E27FC236}">
                    <a16:creationId xmlns:a16="http://schemas.microsoft.com/office/drawing/2014/main" id="{818CAAA3-52DF-43D8-B305-4E5CBD6C7FE8}"/>
                  </a:ext>
                </a:extLst>
              </p:cNvPr>
              <p:cNvSpPr>
                <a:spLocks/>
              </p:cNvSpPr>
              <p:nvPr/>
            </p:nvSpPr>
            <p:spPr bwMode="auto">
              <a:xfrm>
                <a:off x="11024132" y="3209043"/>
                <a:ext cx="0" cy="215644"/>
              </a:xfrm>
              <a:custGeom>
                <a:avLst/>
                <a:gdLst>
                  <a:gd name="T0" fmla="*/ 1054 w 1130"/>
                  <a:gd name="T1" fmla="*/ 17 h 1799"/>
                  <a:gd name="T2" fmla="*/ 915 w 1130"/>
                  <a:gd name="T3" fmla="*/ 0 h 1799"/>
                  <a:gd name="T4" fmla="*/ 837 w 1130"/>
                  <a:gd name="T5" fmla="*/ 44 h 1799"/>
                  <a:gd name="T6" fmla="*/ 734 w 1130"/>
                  <a:gd name="T7" fmla="*/ 184 h 1799"/>
                  <a:gd name="T8" fmla="*/ 760 w 1130"/>
                  <a:gd name="T9" fmla="*/ 236 h 1799"/>
                  <a:gd name="T10" fmla="*/ 742 w 1130"/>
                  <a:gd name="T11" fmla="*/ 297 h 1799"/>
                  <a:gd name="T12" fmla="*/ 561 w 1130"/>
                  <a:gd name="T13" fmla="*/ 506 h 1799"/>
                  <a:gd name="T14" fmla="*/ 535 w 1130"/>
                  <a:gd name="T15" fmla="*/ 585 h 1799"/>
                  <a:gd name="T16" fmla="*/ 346 w 1130"/>
                  <a:gd name="T17" fmla="*/ 1040 h 1799"/>
                  <a:gd name="T18" fmla="*/ 320 w 1130"/>
                  <a:gd name="T19" fmla="*/ 1118 h 1799"/>
                  <a:gd name="T20" fmla="*/ 431 w 1130"/>
                  <a:gd name="T21" fmla="*/ 1171 h 1799"/>
                  <a:gd name="T22" fmla="*/ 190 w 1130"/>
                  <a:gd name="T23" fmla="*/ 1223 h 1799"/>
                  <a:gd name="T24" fmla="*/ 52 w 1130"/>
                  <a:gd name="T25" fmla="*/ 1214 h 1799"/>
                  <a:gd name="T26" fmla="*/ 8 w 1130"/>
                  <a:gd name="T27" fmla="*/ 1284 h 1799"/>
                  <a:gd name="T28" fmla="*/ 52 w 1130"/>
                  <a:gd name="T29" fmla="*/ 1414 h 1799"/>
                  <a:gd name="T30" fmla="*/ 129 w 1130"/>
                  <a:gd name="T31" fmla="*/ 1484 h 1799"/>
                  <a:gd name="T32" fmla="*/ 173 w 1130"/>
                  <a:gd name="T33" fmla="*/ 1344 h 1799"/>
                  <a:gd name="T34" fmla="*/ 346 w 1130"/>
                  <a:gd name="T35" fmla="*/ 1319 h 1799"/>
                  <a:gd name="T36" fmla="*/ 665 w 1130"/>
                  <a:gd name="T37" fmla="*/ 1284 h 1799"/>
                  <a:gd name="T38" fmla="*/ 621 w 1130"/>
                  <a:gd name="T39" fmla="*/ 1432 h 1799"/>
                  <a:gd name="T40" fmla="*/ 561 w 1130"/>
                  <a:gd name="T41" fmla="*/ 1668 h 1799"/>
                  <a:gd name="T42" fmla="*/ 569 w 1130"/>
                  <a:gd name="T43" fmla="*/ 1799 h 1799"/>
                  <a:gd name="T44" fmla="*/ 613 w 1130"/>
                  <a:gd name="T45" fmla="*/ 1755 h 1799"/>
                  <a:gd name="T46" fmla="*/ 829 w 1130"/>
                  <a:gd name="T47" fmla="*/ 1799 h 1799"/>
                  <a:gd name="T48" fmla="*/ 751 w 1130"/>
                  <a:gd name="T49" fmla="*/ 1703 h 1799"/>
                  <a:gd name="T50" fmla="*/ 716 w 1130"/>
                  <a:gd name="T51" fmla="*/ 1572 h 1799"/>
                  <a:gd name="T52" fmla="*/ 812 w 1130"/>
                  <a:gd name="T53" fmla="*/ 1284 h 1799"/>
                  <a:gd name="T54" fmla="*/ 846 w 1130"/>
                  <a:gd name="T55" fmla="*/ 1232 h 1799"/>
                  <a:gd name="T56" fmla="*/ 820 w 1130"/>
                  <a:gd name="T57" fmla="*/ 821 h 1799"/>
                  <a:gd name="T58" fmla="*/ 1002 w 1130"/>
                  <a:gd name="T59" fmla="*/ 865 h 1799"/>
                  <a:gd name="T60" fmla="*/ 1036 w 1130"/>
                  <a:gd name="T61" fmla="*/ 873 h 1799"/>
                  <a:gd name="T62" fmla="*/ 1104 w 1130"/>
                  <a:gd name="T63" fmla="*/ 882 h 1799"/>
                  <a:gd name="T64" fmla="*/ 1113 w 1130"/>
                  <a:gd name="T65" fmla="*/ 830 h 1799"/>
                  <a:gd name="T66" fmla="*/ 1071 w 1130"/>
                  <a:gd name="T67" fmla="*/ 777 h 1799"/>
                  <a:gd name="T68" fmla="*/ 872 w 1130"/>
                  <a:gd name="T69" fmla="*/ 620 h 1799"/>
                  <a:gd name="T70" fmla="*/ 924 w 1130"/>
                  <a:gd name="T71" fmla="*/ 559 h 1799"/>
                  <a:gd name="T72" fmla="*/ 933 w 1130"/>
                  <a:gd name="T73" fmla="*/ 480 h 1799"/>
                  <a:gd name="T74" fmla="*/ 924 w 1130"/>
                  <a:gd name="T75" fmla="*/ 341 h 1799"/>
                  <a:gd name="T76" fmla="*/ 959 w 1130"/>
                  <a:gd name="T77" fmla="*/ 289 h 1799"/>
                  <a:gd name="T78" fmla="*/ 1054 w 1130"/>
                  <a:gd name="T79" fmla="*/ 289 h 1799"/>
                  <a:gd name="T80" fmla="*/ 1071 w 1130"/>
                  <a:gd name="T81" fmla="*/ 219 h 1799"/>
                  <a:gd name="T82" fmla="*/ 1088 w 1130"/>
                  <a:gd name="T83" fmla="*/ 140 h 1799"/>
                  <a:gd name="T84" fmla="*/ 1130 w 1130"/>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0" h="1799">
                    <a:moveTo>
                      <a:pt x="1130" y="79"/>
                    </a:moveTo>
                    <a:lnTo>
                      <a:pt x="1054" y="17"/>
                    </a:lnTo>
                    <a:lnTo>
                      <a:pt x="959" y="0"/>
                    </a:lnTo>
                    <a:lnTo>
                      <a:pt x="915" y="0"/>
                    </a:lnTo>
                    <a:lnTo>
                      <a:pt x="872" y="9"/>
                    </a:lnTo>
                    <a:lnTo>
                      <a:pt x="837" y="44"/>
                    </a:lnTo>
                    <a:lnTo>
                      <a:pt x="794" y="105"/>
                    </a:lnTo>
                    <a:lnTo>
                      <a:pt x="734" y="184"/>
                    </a:lnTo>
                    <a:lnTo>
                      <a:pt x="725" y="219"/>
                    </a:lnTo>
                    <a:lnTo>
                      <a:pt x="760" y="236"/>
                    </a:lnTo>
                    <a:lnTo>
                      <a:pt x="812" y="262"/>
                    </a:lnTo>
                    <a:lnTo>
                      <a:pt x="742" y="297"/>
                    </a:lnTo>
                    <a:lnTo>
                      <a:pt x="716" y="324"/>
                    </a:lnTo>
                    <a:lnTo>
                      <a:pt x="561" y="506"/>
                    </a:lnTo>
                    <a:lnTo>
                      <a:pt x="535" y="550"/>
                    </a:lnTo>
                    <a:lnTo>
                      <a:pt x="535" y="585"/>
                    </a:lnTo>
                    <a:lnTo>
                      <a:pt x="587" y="628"/>
                    </a:lnTo>
                    <a:lnTo>
                      <a:pt x="346" y="1040"/>
                    </a:lnTo>
                    <a:lnTo>
                      <a:pt x="320" y="1092"/>
                    </a:lnTo>
                    <a:lnTo>
                      <a:pt x="320" y="1118"/>
                    </a:lnTo>
                    <a:lnTo>
                      <a:pt x="457" y="1179"/>
                    </a:lnTo>
                    <a:lnTo>
                      <a:pt x="431" y="1171"/>
                    </a:lnTo>
                    <a:lnTo>
                      <a:pt x="354" y="1188"/>
                    </a:lnTo>
                    <a:lnTo>
                      <a:pt x="190" y="1223"/>
                    </a:lnTo>
                    <a:lnTo>
                      <a:pt x="121" y="1206"/>
                    </a:lnTo>
                    <a:lnTo>
                      <a:pt x="52" y="1214"/>
                    </a:lnTo>
                    <a:lnTo>
                      <a:pt x="0" y="1258"/>
                    </a:lnTo>
                    <a:lnTo>
                      <a:pt x="8" y="1284"/>
                    </a:lnTo>
                    <a:lnTo>
                      <a:pt x="60" y="1284"/>
                    </a:lnTo>
                    <a:lnTo>
                      <a:pt x="52" y="1414"/>
                    </a:lnTo>
                    <a:lnTo>
                      <a:pt x="86" y="1502"/>
                    </a:lnTo>
                    <a:lnTo>
                      <a:pt x="129" y="1484"/>
                    </a:lnTo>
                    <a:lnTo>
                      <a:pt x="147" y="1406"/>
                    </a:lnTo>
                    <a:lnTo>
                      <a:pt x="173" y="1344"/>
                    </a:lnTo>
                    <a:lnTo>
                      <a:pt x="259" y="1319"/>
                    </a:lnTo>
                    <a:lnTo>
                      <a:pt x="346" y="1319"/>
                    </a:lnTo>
                    <a:lnTo>
                      <a:pt x="405" y="1311"/>
                    </a:lnTo>
                    <a:lnTo>
                      <a:pt x="665" y="1284"/>
                    </a:lnTo>
                    <a:lnTo>
                      <a:pt x="630" y="1353"/>
                    </a:lnTo>
                    <a:lnTo>
                      <a:pt x="621" y="1432"/>
                    </a:lnTo>
                    <a:lnTo>
                      <a:pt x="604" y="1607"/>
                    </a:lnTo>
                    <a:lnTo>
                      <a:pt x="561" y="1668"/>
                    </a:lnTo>
                    <a:lnTo>
                      <a:pt x="543" y="1729"/>
                    </a:lnTo>
                    <a:lnTo>
                      <a:pt x="569" y="1799"/>
                    </a:lnTo>
                    <a:lnTo>
                      <a:pt x="595" y="1799"/>
                    </a:lnTo>
                    <a:lnTo>
                      <a:pt x="613" y="1755"/>
                    </a:lnTo>
                    <a:lnTo>
                      <a:pt x="725" y="1799"/>
                    </a:lnTo>
                    <a:lnTo>
                      <a:pt x="829" y="1799"/>
                    </a:lnTo>
                    <a:lnTo>
                      <a:pt x="820" y="1747"/>
                    </a:lnTo>
                    <a:lnTo>
                      <a:pt x="751" y="1703"/>
                    </a:lnTo>
                    <a:lnTo>
                      <a:pt x="708" y="1659"/>
                    </a:lnTo>
                    <a:lnTo>
                      <a:pt x="716" y="1572"/>
                    </a:lnTo>
                    <a:lnTo>
                      <a:pt x="768" y="1371"/>
                    </a:lnTo>
                    <a:lnTo>
                      <a:pt x="812" y="1284"/>
                    </a:lnTo>
                    <a:lnTo>
                      <a:pt x="812" y="1249"/>
                    </a:lnTo>
                    <a:lnTo>
                      <a:pt x="846" y="1232"/>
                    </a:lnTo>
                    <a:lnTo>
                      <a:pt x="881" y="1214"/>
                    </a:lnTo>
                    <a:lnTo>
                      <a:pt x="820" y="821"/>
                    </a:lnTo>
                    <a:lnTo>
                      <a:pt x="837" y="733"/>
                    </a:lnTo>
                    <a:lnTo>
                      <a:pt x="1002" y="865"/>
                    </a:lnTo>
                    <a:lnTo>
                      <a:pt x="1019" y="847"/>
                    </a:lnTo>
                    <a:lnTo>
                      <a:pt x="1036" y="873"/>
                    </a:lnTo>
                    <a:lnTo>
                      <a:pt x="1054" y="882"/>
                    </a:lnTo>
                    <a:lnTo>
                      <a:pt x="1104" y="882"/>
                    </a:lnTo>
                    <a:lnTo>
                      <a:pt x="1113" y="856"/>
                    </a:lnTo>
                    <a:lnTo>
                      <a:pt x="1113" y="830"/>
                    </a:lnTo>
                    <a:lnTo>
                      <a:pt x="1062" y="795"/>
                    </a:lnTo>
                    <a:lnTo>
                      <a:pt x="1071" y="777"/>
                    </a:lnTo>
                    <a:lnTo>
                      <a:pt x="933" y="672"/>
                    </a:lnTo>
                    <a:lnTo>
                      <a:pt x="872" y="620"/>
                    </a:lnTo>
                    <a:lnTo>
                      <a:pt x="898" y="576"/>
                    </a:lnTo>
                    <a:lnTo>
                      <a:pt x="924" y="559"/>
                    </a:lnTo>
                    <a:lnTo>
                      <a:pt x="933" y="524"/>
                    </a:lnTo>
                    <a:lnTo>
                      <a:pt x="933" y="480"/>
                    </a:lnTo>
                    <a:lnTo>
                      <a:pt x="924" y="420"/>
                    </a:lnTo>
                    <a:lnTo>
                      <a:pt x="924" y="341"/>
                    </a:lnTo>
                    <a:lnTo>
                      <a:pt x="941" y="315"/>
                    </a:lnTo>
                    <a:lnTo>
                      <a:pt x="959" y="289"/>
                    </a:lnTo>
                    <a:lnTo>
                      <a:pt x="1036" y="306"/>
                    </a:lnTo>
                    <a:lnTo>
                      <a:pt x="1054" y="289"/>
                    </a:lnTo>
                    <a:lnTo>
                      <a:pt x="1062" y="254"/>
                    </a:lnTo>
                    <a:lnTo>
                      <a:pt x="1071" y="219"/>
                    </a:lnTo>
                    <a:lnTo>
                      <a:pt x="1096" y="210"/>
                    </a:lnTo>
                    <a:lnTo>
                      <a:pt x="1088" y="140"/>
                    </a:lnTo>
                    <a:lnTo>
                      <a:pt x="1088" y="105"/>
                    </a:lnTo>
                    <a:lnTo>
                      <a:pt x="1130" y="7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5" name="Freeform 16">
                <a:extLst>
                  <a:ext uri="{FF2B5EF4-FFF2-40B4-BE49-F238E27FC236}">
                    <a16:creationId xmlns:a16="http://schemas.microsoft.com/office/drawing/2014/main" id="{3E9376C1-47DF-48C6-84F0-64898C3ED8C9}"/>
                  </a:ext>
                </a:extLst>
              </p:cNvPr>
              <p:cNvSpPr>
                <a:spLocks/>
              </p:cNvSpPr>
              <p:nvPr/>
            </p:nvSpPr>
            <p:spPr bwMode="auto">
              <a:xfrm>
                <a:off x="11024132" y="3209043"/>
                <a:ext cx="0" cy="215644"/>
              </a:xfrm>
              <a:custGeom>
                <a:avLst/>
                <a:gdLst>
                  <a:gd name="T0" fmla="*/ 1054 w 1130"/>
                  <a:gd name="T1" fmla="*/ 17 h 1799"/>
                  <a:gd name="T2" fmla="*/ 915 w 1130"/>
                  <a:gd name="T3" fmla="*/ 0 h 1799"/>
                  <a:gd name="T4" fmla="*/ 837 w 1130"/>
                  <a:gd name="T5" fmla="*/ 44 h 1799"/>
                  <a:gd name="T6" fmla="*/ 734 w 1130"/>
                  <a:gd name="T7" fmla="*/ 184 h 1799"/>
                  <a:gd name="T8" fmla="*/ 760 w 1130"/>
                  <a:gd name="T9" fmla="*/ 236 h 1799"/>
                  <a:gd name="T10" fmla="*/ 742 w 1130"/>
                  <a:gd name="T11" fmla="*/ 297 h 1799"/>
                  <a:gd name="T12" fmla="*/ 561 w 1130"/>
                  <a:gd name="T13" fmla="*/ 506 h 1799"/>
                  <a:gd name="T14" fmla="*/ 535 w 1130"/>
                  <a:gd name="T15" fmla="*/ 585 h 1799"/>
                  <a:gd name="T16" fmla="*/ 346 w 1130"/>
                  <a:gd name="T17" fmla="*/ 1040 h 1799"/>
                  <a:gd name="T18" fmla="*/ 320 w 1130"/>
                  <a:gd name="T19" fmla="*/ 1118 h 1799"/>
                  <a:gd name="T20" fmla="*/ 431 w 1130"/>
                  <a:gd name="T21" fmla="*/ 1171 h 1799"/>
                  <a:gd name="T22" fmla="*/ 190 w 1130"/>
                  <a:gd name="T23" fmla="*/ 1223 h 1799"/>
                  <a:gd name="T24" fmla="*/ 52 w 1130"/>
                  <a:gd name="T25" fmla="*/ 1214 h 1799"/>
                  <a:gd name="T26" fmla="*/ 8 w 1130"/>
                  <a:gd name="T27" fmla="*/ 1284 h 1799"/>
                  <a:gd name="T28" fmla="*/ 52 w 1130"/>
                  <a:gd name="T29" fmla="*/ 1414 h 1799"/>
                  <a:gd name="T30" fmla="*/ 129 w 1130"/>
                  <a:gd name="T31" fmla="*/ 1484 h 1799"/>
                  <a:gd name="T32" fmla="*/ 173 w 1130"/>
                  <a:gd name="T33" fmla="*/ 1344 h 1799"/>
                  <a:gd name="T34" fmla="*/ 346 w 1130"/>
                  <a:gd name="T35" fmla="*/ 1319 h 1799"/>
                  <a:gd name="T36" fmla="*/ 665 w 1130"/>
                  <a:gd name="T37" fmla="*/ 1284 h 1799"/>
                  <a:gd name="T38" fmla="*/ 621 w 1130"/>
                  <a:gd name="T39" fmla="*/ 1432 h 1799"/>
                  <a:gd name="T40" fmla="*/ 561 w 1130"/>
                  <a:gd name="T41" fmla="*/ 1668 h 1799"/>
                  <a:gd name="T42" fmla="*/ 569 w 1130"/>
                  <a:gd name="T43" fmla="*/ 1799 h 1799"/>
                  <a:gd name="T44" fmla="*/ 613 w 1130"/>
                  <a:gd name="T45" fmla="*/ 1755 h 1799"/>
                  <a:gd name="T46" fmla="*/ 829 w 1130"/>
                  <a:gd name="T47" fmla="*/ 1799 h 1799"/>
                  <a:gd name="T48" fmla="*/ 751 w 1130"/>
                  <a:gd name="T49" fmla="*/ 1703 h 1799"/>
                  <a:gd name="T50" fmla="*/ 716 w 1130"/>
                  <a:gd name="T51" fmla="*/ 1572 h 1799"/>
                  <a:gd name="T52" fmla="*/ 812 w 1130"/>
                  <a:gd name="T53" fmla="*/ 1284 h 1799"/>
                  <a:gd name="T54" fmla="*/ 846 w 1130"/>
                  <a:gd name="T55" fmla="*/ 1232 h 1799"/>
                  <a:gd name="T56" fmla="*/ 820 w 1130"/>
                  <a:gd name="T57" fmla="*/ 821 h 1799"/>
                  <a:gd name="T58" fmla="*/ 1002 w 1130"/>
                  <a:gd name="T59" fmla="*/ 865 h 1799"/>
                  <a:gd name="T60" fmla="*/ 1036 w 1130"/>
                  <a:gd name="T61" fmla="*/ 873 h 1799"/>
                  <a:gd name="T62" fmla="*/ 1104 w 1130"/>
                  <a:gd name="T63" fmla="*/ 882 h 1799"/>
                  <a:gd name="T64" fmla="*/ 1113 w 1130"/>
                  <a:gd name="T65" fmla="*/ 830 h 1799"/>
                  <a:gd name="T66" fmla="*/ 1071 w 1130"/>
                  <a:gd name="T67" fmla="*/ 777 h 1799"/>
                  <a:gd name="T68" fmla="*/ 872 w 1130"/>
                  <a:gd name="T69" fmla="*/ 620 h 1799"/>
                  <a:gd name="T70" fmla="*/ 924 w 1130"/>
                  <a:gd name="T71" fmla="*/ 559 h 1799"/>
                  <a:gd name="T72" fmla="*/ 933 w 1130"/>
                  <a:gd name="T73" fmla="*/ 480 h 1799"/>
                  <a:gd name="T74" fmla="*/ 924 w 1130"/>
                  <a:gd name="T75" fmla="*/ 341 h 1799"/>
                  <a:gd name="T76" fmla="*/ 959 w 1130"/>
                  <a:gd name="T77" fmla="*/ 289 h 1799"/>
                  <a:gd name="T78" fmla="*/ 1054 w 1130"/>
                  <a:gd name="T79" fmla="*/ 289 h 1799"/>
                  <a:gd name="T80" fmla="*/ 1071 w 1130"/>
                  <a:gd name="T81" fmla="*/ 219 h 1799"/>
                  <a:gd name="T82" fmla="*/ 1088 w 1130"/>
                  <a:gd name="T83" fmla="*/ 140 h 1799"/>
                  <a:gd name="T84" fmla="*/ 1130 w 1130"/>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0" h="1799">
                    <a:moveTo>
                      <a:pt x="1130" y="79"/>
                    </a:moveTo>
                    <a:lnTo>
                      <a:pt x="1054" y="17"/>
                    </a:lnTo>
                    <a:lnTo>
                      <a:pt x="959" y="0"/>
                    </a:lnTo>
                    <a:lnTo>
                      <a:pt x="915" y="0"/>
                    </a:lnTo>
                    <a:lnTo>
                      <a:pt x="872" y="9"/>
                    </a:lnTo>
                    <a:lnTo>
                      <a:pt x="837" y="44"/>
                    </a:lnTo>
                    <a:lnTo>
                      <a:pt x="794" y="105"/>
                    </a:lnTo>
                    <a:lnTo>
                      <a:pt x="734" y="184"/>
                    </a:lnTo>
                    <a:lnTo>
                      <a:pt x="725" y="219"/>
                    </a:lnTo>
                    <a:lnTo>
                      <a:pt x="760" y="236"/>
                    </a:lnTo>
                    <a:lnTo>
                      <a:pt x="812" y="262"/>
                    </a:lnTo>
                    <a:lnTo>
                      <a:pt x="742" y="297"/>
                    </a:lnTo>
                    <a:lnTo>
                      <a:pt x="716" y="324"/>
                    </a:lnTo>
                    <a:lnTo>
                      <a:pt x="561" y="506"/>
                    </a:lnTo>
                    <a:lnTo>
                      <a:pt x="535" y="550"/>
                    </a:lnTo>
                    <a:lnTo>
                      <a:pt x="535" y="585"/>
                    </a:lnTo>
                    <a:lnTo>
                      <a:pt x="587" y="628"/>
                    </a:lnTo>
                    <a:lnTo>
                      <a:pt x="346" y="1040"/>
                    </a:lnTo>
                    <a:lnTo>
                      <a:pt x="320" y="1092"/>
                    </a:lnTo>
                    <a:lnTo>
                      <a:pt x="320" y="1118"/>
                    </a:lnTo>
                    <a:lnTo>
                      <a:pt x="457" y="1179"/>
                    </a:lnTo>
                    <a:lnTo>
                      <a:pt x="431" y="1171"/>
                    </a:lnTo>
                    <a:lnTo>
                      <a:pt x="354" y="1188"/>
                    </a:lnTo>
                    <a:lnTo>
                      <a:pt x="190" y="1223"/>
                    </a:lnTo>
                    <a:lnTo>
                      <a:pt x="121" y="1206"/>
                    </a:lnTo>
                    <a:lnTo>
                      <a:pt x="52" y="1214"/>
                    </a:lnTo>
                    <a:lnTo>
                      <a:pt x="0" y="1258"/>
                    </a:lnTo>
                    <a:lnTo>
                      <a:pt x="8" y="1284"/>
                    </a:lnTo>
                    <a:lnTo>
                      <a:pt x="60" y="1284"/>
                    </a:lnTo>
                    <a:lnTo>
                      <a:pt x="52" y="1414"/>
                    </a:lnTo>
                    <a:lnTo>
                      <a:pt x="86" y="1502"/>
                    </a:lnTo>
                    <a:lnTo>
                      <a:pt x="129" y="1484"/>
                    </a:lnTo>
                    <a:lnTo>
                      <a:pt x="147" y="1406"/>
                    </a:lnTo>
                    <a:lnTo>
                      <a:pt x="173" y="1344"/>
                    </a:lnTo>
                    <a:lnTo>
                      <a:pt x="259" y="1319"/>
                    </a:lnTo>
                    <a:lnTo>
                      <a:pt x="346" y="1319"/>
                    </a:lnTo>
                    <a:lnTo>
                      <a:pt x="405" y="1311"/>
                    </a:lnTo>
                    <a:lnTo>
                      <a:pt x="665" y="1284"/>
                    </a:lnTo>
                    <a:lnTo>
                      <a:pt x="630" y="1353"/>
                    </a:lnTo>
                    <a:lnTo>
                      <a:pt x="621" y="1432"/>
                    </a:lnTo>
                    <a:lnTo>
                      <a:pt x="604" y="1607"/>
                    </a:lnTo>
                    <a:lnTo>
                      <a:pt x="561" y="1668"/>
                    </a:lnTo>
                    <a:lnTo>
                      <a:pt x="543" y="1729"/>
                    </a:lnTo>
                    <a:lnTo>
                      <a:pt x="569" y="1799"/>
                    </a:lnTo>
                    <a:lnTo>
                      <a:pt x="595" y="1799"/>
                    </a:lnTo>
                    <a:lnTo>
                      <a:pt x="613" y="1755"/>
                    </a:lnTo>
                    <a:lnTo>
                      <a:pt x="725" y="1799"/>
                    </a:lnTo>
                    <a:lnTo>
                      <a:pt x="829" y="1799"/>
                    </a:lnTo>
                    <a:lnTo>
                      <a:pt x="820" y="1747"/>
                    </a:lnTo>
                    <a:lnTo>
                      <a:pt x="751" y="1703"/>
                    </a:lnTo>
                    <a:lnTo>
                      <a:pt x="708" y="1659"/>
                    </a:lnTo>
                    <a:lnTo>
                      <a:pt x="716" y="1572"/>
                    </a:lnTo>
                    <a:lnTo>
                      <a:pt x="768" y="1371"/>
                    </a:lnTo>
                    <a:lnTo>
                      <a:pt x="812" y="1284"/>
                    </a:lnTo>
                    <a:lnTo>
                      <a:pt x="812" y="1249"/>
                    </a:lnTo>
                    <a:lnTo>
                      <a:pt x="846" y="1232"/>
                    </a:lnTo>
                    <a:lnTo>
                      <a:pt x="881" y="1214"/>
                    </a:lnTo>
                    <a:lnTo>
                      <a:pt x="820" y="821"/>
                    </a:lnTo>
                    <a:lnTo>
                      <a:pt x="837" y="733"/>
                    </a:lnTo>
                    <a:lnTo>
                      <a:pt x="1002" y="865"/>
                    </a:lnTo>
                    <a:lnTo>
                      <a:pt x="1019" y="847"/>
                    </a:lnTo>
                    <a:lnTo>
                      <a:pt x="1036" y="873"/>
                    </a:lnTo>
                    <a:lnTo>
                      <a:pt x="1054" y="882"/>
                    </a:lnTo>
                    <a:lnTo>
                      <a:pt x="1104" y="882"/>
                    </a:lnTo>
                    <a:lnTo>
                      <a:pt x="1113" y="856"/>
                    </a:lnTo>
                    <a:lnTo>
                      <a:pt x="1113" y="830"/>
                    </a:lnTo>
                    <a:lnTo>
                      <a:pt x="1062" y="795"/>
                    </a:lnTo>
                    <a:lnTo>
                      <a:pt x="1071" y="777"/>
                    </a:lnTo>
                    <a:lnTo>
                      <a:pt x="933" y="672"/>
                    </a:lnTo>
                    <a:lnTo>
                      <a:pt x="872" y="620"/>
                    </a:lnTo>
                    <a:lnTo>
                      <a:pt x="898" y="576"/>
                    </a:lnTo>
                    <a:lnTo>
                      <a:pt x="924" y="559"/>
                    </a:lnTo>
                    <a:lnTo>
                      <a:pt x="933" y="524"/>
                    </a:lnTo>
                    <a:lnTo>
                      <a:pt x="933" y="480"/>
                    </a:lnTo>
                    <a:lnTo>
                      <a:pt x="924" y="420"/>
                    </a:lnTo>
                    <a:lnTo>
                      <a:pt x="924" y="341"/>
                    </a:lnTo>
                    <a:lnTo>
                      <a:pt x="941" y="315"/>
                    </a:lnTo>
                    <a:lnTo>
                      <a:pt x="959" y="289"/>
                    </a:lnTo>
                    <a:lnTo>
                      <a:pt x="1036" y="306"/>
                    </a:lnTo>
                    <a:lnTo>
                      <a:pt x="1054" y="289"/>
                    </a:lnTo>
                    <a:lnTo>
                      <a:pt x="1062" y="254"/>
                    </a:lnTo>
                    <a:lnTo>
                      <a:pt x="1071" y="219"/>
                    </a:lnTo>
                    <a:lnTo>
                      <a:pt x="1096" y="210"/>
                    </a:lnTo>
                    <a:lnTo>
                      <a:pt x="1088" y="140"/>
                    </a:lnTo>
                    <a:lnTo>
                      <a:pt x="1088" y="105"/>
                    </a:lnTo>
                    <a:lnTo>
                      <a:pt x="1130" y="79"/>
                    </a:lnTo>
                    <a:close/>
                  </a:path>
                </a:pathLst>
              </a:custGeom>
              <a:solidFill>
                <a:srgbClr val="000000"/>
              </a:solidFill>
              <a:ln w="3175">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6" name="Freeform 17">
                <a:extLst>
                  <a:ext uri="{FF2B5EF4-FFF2-40B4-BE49-F238E27FC236}">
                    <a16:creationId xmlns:a16="http://schemas.microsoft.com/office/drawing/2014/main" id="{8677D93C-BF19-4796-8AE4-C7BA6C6A7EE4}"/>
                  </a:ext>
                </a:extLst>
              </p:cNvPr>
              <p:cNvSpPr>
                <a:spLocks/>
              </p:cNvSpPr>
              <p:nvPr/>
            </p:nvSpPr>
            <p:spPr bwMode="auto">
              <a:xfrm>
                <a:off x="11359644" y="3421517"/>
                <a:ext cx="0" cy="215644"/>
              </a:xfrm>
              <a:custGeom>
                <a:avLst/>
                <a:gdLst>
                  <a:gd name="T0" fmla="*/ 86 w 526"/>
                  <a:gd name="T1" fmla="*/ 88 h 490"/>
                  <a:gd name="T2" fmla="*/ 77 w 526"/>
                  <a:gd name="T3" fmla="*/ 123 h 490"/>
                  <a:gd name="T4" fmla="*/ 95 w 526"/>
                  <a:gd name="T5" fmla="*/ 158 h 490"/>
                  <a:gd name="T6" fmla="*/ 8 w 526"/>
                  <a:gd name="T7" fmla="*/ 210 h 490"/>
                  <a:gd name="T8" fmla="*/ 0 w 526"/>
                  <a:gd name="T9" fmla="*/ 237 h 490"/>
                  <a:gd name="T10" fmla="*/ 138 w 526"/>
                  <a:gd name="T11" fmla="*/ 481 h 490"/>
                  <a:gd name="T12" fmla="*/ 163 w 526"/>
                  <a:gd name="T13" fmla="*/ 490 h 490"/>
                  <a:gd name="T14" fmla="*/ 526 w 526"/>
                  <a:gd name="T15" fmla="*/ 298 h 490"/>
                  <a:gd name="T16" fmla="*/ 526 w 526"/>
                  <a:gd name="T17" fmla="*/ 280 h 490"/>
                  <a:gd name="T18" fmla="*/ 396 w 526"/>
                  <a:gd name="T19" fmla="*/ 18 h 490"/>
                  <a:gd name="T20" fmla="*/ 362 w 526"/>
                  <a:gd name="T21" fmla="*/ 0 h 490"/>
                  <a:gd name="T22" fmla="*/ 275 w 526"/>
                  <a:gd name="T23" fmla="*/ 53 h 490"/>
                  <a:gd name="T24" fmla="*/ 241 w 526"/>
                  <a:gd name="T25" fmla="*/ 18 h 490"/>
                  <a:gd name="T26" fmla="*/ 206 w 526"/>
                  <a:gd name="T27" fmla="*/ 9 h 490"/>
                  <a:gd name="T28" fmla="*/ 86 w 526"/>
                  <a:gd name="T29" fmla="*/ 88 h 490"/>
                  <a:gd name="T30" fmla="*/ 86 w 526"/>
                  <a:gd name="T31" fmla="*/ 88 h 490"/>
                  <a:gd name="T32" fmla="*/ 129 w 526"/>
                  <a:gd name="T33" fmla="*/ 88 h 490"/>
                  <a:gd name="T34" fmla="*/ 121 w 526"/>
                  <a:gd name="T35" fmla="*/ 97 h 490"/>
                  <a:gd name="T36" fmla="*/ 121 w 526"/>
                  <a:gd name="T37" fmla="*/ 123 h 490"/>
                  <a:gd name="T38" fmla="*/ 129 w 526"/>
                  <a:gd name="T39" fmla="*/ 140 h 490"/>
                  <a:gd name="T40" fmla="*/ 249 w 526"/>
                  <a:gd name="T41" fmla="*/ 70 h 490"/>
                  <a:gd name="T42" fmla="*/ 232 w 526"/>
                  <a:gd name="T43" fmla="*/ 44 h 490"/>
                  <a:gd name="T44" fmla="*/ 206 w 526"/>
                  <a:gd name="T45" fmla="*/ 44 h 490"/>
                  <a:gd name="T46" fmla="*/ 129 w 526"/>
                  <a:gd name="T47" fmla="*/ 88 h 490"/>
                  <a:gd name="T48" fmla="*/ 86 w 526"/>
                  <a:gd name="T49" fmla="*/ 8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6" h="490">
                    <a:moveTo>
                      <a:pt x="86" y="88"/>
                    </a:moveTo>
                    <a:lnTo>
                      <a:pt x="77" y="123"/>
                    </a:lnTo>
                    <a:lnTo>
                      <a:pt x="95" y="158"/>
                    </a:lnTo>
                    <a:lnTo>
                      <a:pt x="8" y="210"/>
                    </a:lnTo>
                    <a:lnTo>
                      <a:pt x="0" y="237"/>
                    </a:lnTo>
                    <a:lnTo>
                      <a:pt x="138" y="481"/>
                    </a:lnTo>
                    <a:lnTo>
                      <a:pt x="163" y="490"/>
                    </a:lnTo>
                    <a:lnTo>
                      <a:pt x="526" y="298"/>
                    </a:lnTo>
                    <a:lnTo>
                      <a:pt x="526" y="280"/>
                    </a:lnTo>
                    <a:lnTo>
                      <a:pt x="396" y="18"/>
                    </a:lnTo>
                    <a:lnTo>
                      <a:pt x="362" y="0"/>
                    </a:lnTo>
                    <a:lnTo>
                      <a:pt x="275" y="53"/>
                    </a:lnTo>
                    <a:lnTo>
                      <a:pt x="241" y="18"/>
                    </a:lnTo>
                    <a:lnTo>
                      <a:pt x="206" y="9"/>
                    </a:lnTo>
                    <a:lnTo>
                      <a:pt x="86" y="88"/>
                    </a:lnTo>
                    <a:lnTo>
                      <a:pt x="86" y="88"/>
                    </a:lnTo>
                    <a:lnTo>
                      <a:pt x="129" y="88"/>
                    </a:lnTo>
                    <a:lnTo>
                      <a:pt x="121" y="97"/>
                    </a:lnTo>
                    <a:lnTo>
                      <a:pt x="121" y="123"/>
                    </a:lnTo>
                    <a:lnTo>
                      <a:pt x="129" y="140"/>
                    </a:lnTo>
                    <a:lnTo>
                      <a:pt x="249" y="70"/>
                    </a:lnTo>
                    <a:lnTo>
                      <a:pt x="232" y="44"/>
                    </a:lnTo>
                    <a:lnTo>
                      <a:pt x="206" y="44"/>
                    </a:lnTo>
                    <a:lnTo>
                      <a:pt x="129" y="88"/>
                    </a:lnTo>
                    <a:lnTo>
                      <a:pt x="86" y="8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0" name="Freeform 21">
                <a:extLst>
                  <a:ext uri="{FF2B5EF4-FFF2-40B4-BE49-F238E27FC236}">
                    <a16:creationId xmlns:a16="http://schemas.microsoft.com/office/drawing/2014/main" id="{F7DB5B84-E9BF-409D-80CB-67B8523F6D35}"/>
                  </a:ext>
                </a:extLst>
              </p:cNvPr>
              <p:cNvSpPr>
                <a:spLocks/>
              </p:cNvSpPr>
              <p:nvPr/>
            </p:nvSpPr>
            <p:spPr bwMode="auto">
              <a:xfrm>
                <a:off x="11399963" y="3425745"/>
                <a:ext cx="0" cy="215644"/>
              </a:xfrm>
              <a:custGeom>
                <a:avLst/>
                <a:gdLst>
                  <a:gd name="T0" fmla="*/ 85 w 94"/>
                  <a:gd name="T1" fmla="*/ 9 h 79"/>
                  <a:gd name="T2" fmla="*/ 43 w 94"/>
                  <a:gd name="T3" fmla="*/ 0 h 79"/>
                  <a:gd name="T4" fmla="*/ 17 w 94"/>
                  <a:gd name="T5" fmla="*/ 35 h 79"/>
                  <a:gd name="T6" fmla="*/ 0 w 94"/>
                  <a:gd name="T7" fmla="*/ 61 h 79"/>
                  <a:gd name="T8" fmla="*/ 17 w 94"/>
                  <a:gd name="T9" fmla="*/ 79 h 79"/>
                  <a:gd name="T10" fmla="*/ 43 w 94"/>
                  <a:gd name="T11" fmla="*/ 79 h 79"/>
                  <a:gd name="T12" fmla="*/ 68 w 94"/>
                  <a:gd name="T13" fmla="*/ 70 h 79"/>
                  <a:gd name="T14" fmla="*/ 85 w 94"/>
                  <a:gd name="T15" fmla="*/ 52 h 79"/>
                  <a:gd name="T16" fmla="*/ 94 w 94"/>
                  <a:gd name="T17" fmla="*/ 35 h 79"/>
                  <a:gd name="T18" fmla="*/ 85 w 94"/>
                  <a:gd name="T19" fmla="*/ 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9">
                    <a:moveTo>
                      <a:pt x="85" y="9"/>
                    </a:moveTo>
                    <a:lnTo>
                      <a:pt x="43" y="0"/>
                    </a:lnTo>
                    <a:lnTo>
                      <a:pt x="17" y="35"/>
                    </a:lnTo>
                    <a:lnTo>
                      <a:pt x="0" y="61"/>
                    </a:lnTo>
                    <a:lnTo>
                      <a:pt x="17" y="79"/>
                    </a:lnTo>
                    <a:lnTo>
                      <a:pt x="43" y="79"/>
                    </a:lnTo>
                    <a:lnTo>
                      <a:pt x="68" y="70"/>
                    </a:lnTo>
                    <a:lnTo>
                      <a:pt x="85" y="52"/>
                    </a:lnTo>
                    <a:lnTo>
                      <a:pt x="94" y="35"/>
                    </a:lnTo>
                    <a:lnTo>
                      <a:pt x="85"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2" name="Freeform 23">
                <a:extLst>
                  <a:ext uri="{FF2B5EF4-FFF2-40B4-BE49-F238E27FC236}">
                    <a16:creationId xmlns:a16="http://schemas.microsoft.com/office/drawing/2014/main" id="{CB8A361E-FAC3-425E-A7C9-D60AFEC094C6}"/>
                  </a:ext>
                </a:extLst>
              </p:cNvPr>
              <p:cNvSpPr>
                <a:spLocks/>
              </p:cNvSpPr>
              <p:nvPr/>
            </p:nvSpPr>
            <p:spPr bwMode="auto">
              <a:xfrm>
                <a:off x="11376924" y="3415174"/>
                <a:ext cx="0" cy="215644"/>
              </a:xfrm>
              <a:custGeom>
                <a:avLst/>
                <a:gdLst>
                  <a:gd name="T0" fmla="*/ 69 w 129"/>
                  <a:gd name="T1" fmla="*/ 0 h 105"/>
                  <a:gd name="T2" fmla="*/ 129 w 129"/>
                  <a:gd name="T3" fmla="*/ 27 h 105"/>
                  <a:gd name="T4" fmla="*/ 43 w 129"/>
                  <a:gd name="T5" fmla="*/ 105 h 105"/>
                  <a:gd name="T6" fmla="*/ 0 w 129"/>
                  <a:gd name="T7" fmla="*/ 88 h 105"/>
                  <a:gd name="T8" fmla="*/ 69 w 129"/>
                  <a:gd name="T9" fmla="*/ 0 h 105"/>
                </a:gdLst>
                <a:ahLst/>
                <a:cxnLst>
                  <a:cxn ang="0">
                    <a:pos x="T0" y="T1"/>
                  </a:cxn>
                  <a:cxn ang="0">
                    <a:pos x="T2" y="T3"/>
                  </a:cxn>
                  <a:cxn ang="0">
                    <a:pos x="T4" y="T5"/>
                  </a:cxn>
                  <a:cxn ang="0">
                    <a:pos x="T6" y="T7"/>
                  </a:cxn>
                  <a:cxn ang="0">
                    <a:pos x="T8" y="T9"/>
                  </a:cxn>
                </a:cxnLst>
                <a:rect l="0" t="0" r="r" b="b"/>
                <a:pathLst>
                  <a:path w="129" h="105">
                    <a:moveTo>
                      <a:pt x="69" y="0"/>
                    </a:moveTo>
                    <a:lnTo>
                      <a:pt x="129" y="27"/>
                    </a:lnTo>
                    <a:lnTo>
                      <a:pt x="43" y="105"/>
                    </a:lnTo>
                    <a:lnTo>
                      <a:pt x="0" y="88"/>
                    </a:lnTo>
                    <a:lnTo>
                      <a:pt x="6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3" name="Freeform 24">
                <a:extLst>
                  <a:ext uri="{FF2B5EF4-FFF2-40B4-BE49-F238E27FC236}">
                    <a16:creationId xmlns:a16="http://schemas.microsoft.com/office/drawing/2014/main" id="{5A00C031-F69C-462F-A4FD-0C318FEA0B4F}"/>
                  </a:ext>
                </a:extLst>
              </p:cNvPr>
              <p:cNvSpPr>
                <a:spLocks/>
              </p:cNvSpPr>
              <p:nvPr/>
            </p:nvSpPr>
            <p:spPr bwMode="auto">
              <a:xfrm>
                <a:off x="11376924" y="3415174"/>
                <a:ext cx="0" cy="215644"/>
              </a:xfrm>
              <a:custGeom>
                <a:avLst/>
                <a:gdLst>
                  <a:gd name="T0" fmla="*/ 69 w 129"/>
                  <a:gd name="T1" fmla="*/ 0 h 105"/>
                  <a:gd name="T2" fmla="*/ 129 w 129"/>
                  <a:gd name="T3" fmla="*/ 27 h 105"/>
                  <a:gd name="T4" fmla="*/ 43 w 129"/>
                  <a:gd name="T5" fmla="*/ 105 h 105"/>
                  <a:gd name="T6" fmla="*/ 0 w 129"/>
                  <a:gd name="T7" fmla="*/ 88 h 105"/>
                  <a:gd name="T8" fmla="*/ 69 w 129"/>
                  <a:gd name="T9" fmla="*/ 0 h 105"/>
                </a:gdLst>
                <a:ahLst/>
                <a:cxnLst>
                  <a:cxn ang="0">
                    <a:pos x="T0" y="T1"/>
                  </a:cxn>
                  <a:cxn ang="0">
                    <a:pos x="T2" y="T3"/>
                  </a:cxn>
                  <a:cxn ang="0">
                    <a:pos x="T4" y="T5"/>
                  </a:cxn>
                  <a:cxn ang="0">
                    <a:pos x="T6" y="T7"/>
                  </a:cxn>
                  <a:cxn ang="0">
                    <a:pos x="T8" y="T9"/>
                  </a:cxn>
                </a:cxnLst>
                <a:rect l="0" t="0" r="r" b="b"/>
                <a:pathLst>
                  <a:path w="129" h="105">
                    <a:moveTo>
                      <a:pt x="69" y="0"/>
                    </a:moveTo>
                    <a:lnTo>
                      <a:pt x="129" y="27"/>
                    </a:lnTo>
                    <a:lnTo>
                      <a:pt x="43" y="105"/>
                    </a:lnTo>
                    <a:lnTo>
                      <a:pt x="0" y="88"/>
                    </a:lnTo>
                    <a:lnTo>
                      <a:pt x="6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5" name="Freeform 26">
                <a:extLst>
                  <a:ext uri="{FF2B5EF4-FFF2-40B4-BE49-F238E27FC236}">
                    <a16:creationId xmlns:a16="http://schemas.microsoft.com/office/drawing/2014/main" id="{B2297963-C022-48AE-8C1F-5174B3C00AE1}"/>
                  </a:ext>
                </a:extLst>
              </p:cNvPr>
              <p:cNvSpPr>
                <a:spLocks/>
              </p:cNvSpPr>
              <p:nvPr/>
            </p:nvSpPr>
            <p:spPr bwMode="auto">
              <a:xfrm>
                <a:off x="11015492" y="3202701"/>
                <a:ext cx="0" cy="215644"/>
              </a:xfrm>
              <a:custGeom>
                <a:avLst/>
                <a:gdLst>
                  <a:gd name="T0" fmla="*/ 1054 w 1131"/>
                  <a:gd name="T1" fmla="*/ 17 h 1799"/>
                  <a:gd name="T2" fmla="*/ 916 w 1131"/>
                  <a:gd name="T3" fmla="*/ 0 h 1799"/>
                  <a:gd name="T4" fmla="*/ 838 w 1131"/>
                  <a:gd name="T5" fmla="*/ 44 h 1799"/>
                  <a:gd name="T6" fmla="*/ 734 w 1131"/>
                  <a:gd name="T7" fmla="*/ 184 h 1799"/>
                  <a:gd name="T8" fmla="*/ 760 w 1131"/>
                  <a:gd name="T9" fmla="*/ 236 h 1799"/>
                  <a:gd name="T10" fmla="*/ 743 w 1131"/>
                  <a:gd name="T11" fmla="*/ 297 h 1799"/>
                  <a:gd name="T12" fmla="*/ 561 w 1131"/>
                  <a:gd name="T13" fmla="*/ 506 h 1799"/>
                  <a:gd name="T14" fmla="*/ 535 w 1131"/>
                  <a:gd name="T15" fmla="*/ 585 h 1799"/>
                  <a:gd name="T16" fmla="*/ 346 w 1131"/>
                  <a:gd name="T17" fmla="*/ 1040 h 1799"/>
                  <a:gd name="T18" fmla="*/ 320 w 1131"/>
                  <a:gd name="T19" fmla="*/ 1118 h 1799"/>
                  <a:gd name="T20" fmla="*/ 431 w 1131"/>
                  <a:gd name="T21" fmla="*/ 1171 h 1799"/>
                  <a:gd name="T22" fmla="*/ 190 w 1131"/>
                  <a:gd name="T23" fmla="*/ 1223 h 1799"/>
                  <a:gd name="T24" fmla="*/ 52 w 1131"/>
                  <a:gd name="T25" fmla="*/ 1214 h 1799"/>
                  <a:gd name="T26" fmla="*/ 9 w 1131"/>
                  <a:gd name="T27" fmla="*/ 1284 h 1799"/>
                  <a:gd name="T28" fmla="*/ 52 w 1131"/>
                  <a:gd name="T29" fmla="*/ 1414 h 1799"/>
                  <a:gd name="T30" fmla="*/ 130 w 1131"/>
                  <a:gd name="T31" fmla="*/ 1484 h 1799"/>
                  <a:gd name="T32" fmla="*/ 173 w 1131"/>
                  <a:gd name="T33" fmla="*/ 1345 h 1799"/>
                  <a:gd name="T34" fmla="*/ 346 w 1131"/>
                  <a:gd name="T35" fmla="*/ 1319 h 1799"/>
                  <a:gd name="T36" fmla="*/ 665 w 1131"/>
                  <a:gd name="T37" fmla="*/ 1284 h 1799"/>
                  <a:gd name="T38" fmla="*/ 622 w 1131"/>
                  <a:gd name="T39" fmla="*/ 1432 h 1799"/>
                  <a:gd name="T40" fmla="*/ 561 w 1131"/>
                  <a:gd name="T41" fmla="*/ 1668 h 1799"/>
                  <a:gd name="T42" fmla="*/ 570 w 1131"/>
                  <a:gd name="T43" fmla="*/ 1799 h 1799"/>
                  <a:gd name="T44" fmla="*/ 613 w 1131"/>
                  <a:gd name="T45" fmla="*/ 1756 h 1799"/>
                  <a:gd name="T46" fmla="*/ 829 w 1131"/>
                  <a:gd name="T47" fmla="*/ 1799 h 1799"/>
                  <a:gd name="T48" fmla="*/ 751 w 1131"/>
                  <a:gd name="T49" fmla="*/ 1703 h 1799"/>
                  <a:gd name="T50" fmla="*/ 717 w 1131"/>
                  <a:gd name="T51" fmla="*/ 1572 h 1799"/>
                  <a:gd name="T52" fmla="*/ 812 w 1131"/>
                  <a:gd name="T53" fmla="*/ 1284 h 1799"/>
                  <a:gd name="T54" fmla="*/ 846 w 1131"/>
                  <a:gd name="T55" fmla="*/ 1232 h 1799"/>
                  <a:gd name="T56" fmla="*/ 820 w 1131"/>
                  <a:gd name="T57" fmla="*/ 821 h 1799"/>
                  <a:gd name="T58" fmla="*/ 1002 w 1131"/>
                  <a:gd name="T59" fmla="*/ 865 h 1799"/>
                  <a:gd name="T60" fmla="*/ 1037 w 1131"/>
                  <a:gd name="T61" fmla="*/ 873 h 1799"/>
                  <a:gd name="T62" fmla="*/ 1105 w 1131"/>
                  <a:gd name="T63" fmla="*/ 882 h 1799"/>
                  <a:gd name="T64" fmla="*/ 1113 w 1131"/>
                  <a:gd name="T65" fmla="*/ 830 h 1799"/>
                  <a:gd name="T66" fmla="*/ 1071 w 1131"/>
                  <a:gd name="T67" fmla="*/ 777 h 1799"/>
                  <a:gd name="T68" fmla="*/ 872 w 1131"/>
                  <a:gd name="T69" fmla="*/ 620 h 1799"/>
                  <a:gd name="T70" fmla="*/ 924 w 1131"/>
                  <a:gd name="T71" fmla="*/ 559 h 1799"/>
                  <a:gd name="T72" fmla="*/ 933 w 1131"/>
                  <a:gd name="T73" fmla="*/ 480 h 1799"/>
                  <a:gd name="T74" fmla="*/ 924 w 1131"/>
                  <a:gd name="T75" fmla="*/ 341 h 1799"/>
                  <a:gd name="T76" fmla="*/ 959 w 1131"/>
                  <a:gd name="T77" fmla="*/ 289 h 1799"/>
                  <a:gd name="T78" fmla="*/ 1054 w 1131"/>
                  <a:gd name="T79" fmla="*/ 289 h 1799"/>
                  <a:gd name="T80" fmla="*/ 1071 w 1131"/>
                  <a:gd name="T81" fmla="*/ 219 h 1799"/>
                  <a:gd name="T82" fmla="*/ 1089 w 1131"/>
                  <a:gd name="T83" fmla="*/ 140 h 1799"/>
                  <a:gd name="T84" fmla="*/ 1131 w 1131"/>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1" h="1799">
                    <a:moveTo>
                      <a:pt x="1131" y="79"/>
                    </a:moveTo>
                    <a:lnTo>
                      <a:pt x="1054" y="17"/>
                    </a:lnTo>
                    <a:lnTo>
                      <a:pt x="959" y="0"/>
                    </a:lnTo>
                    <a:lnTo>
                      <a:pt x="916" y="0"/>
                    </a:lnTo>
                    <a:lnTo>
                      <a:pt x="872" y="9"/>
                    </a:lnTo>
                    <a:lnTo>
                      <a:pt x="838" y="44"/>
                    </a:lnTo>
                    <a:lnTo>
                      <a:pt x="795" y="105"/>
                    </a:lnTo>
                    <a:lnTo>
                      <a:pt x="734" y="184"/>
                    </a:lnTo>
                    <a:lnTo>
                      <a:pt x="725" y="219"/>
                    </a:lnTo>
                    <a:lnTo>
                      <a:pt x="760" y="236"/>
                    </a:lnTo>
                    <a:lnTo>
                      <a:pt x="812" y="262"/>
                    </a:lnTo>
                    <a:lnTo>
                      <a:pt x="743" y="297"/>
                    </a:lnTo>
                    <a:lnTo>
                      <a:pt x="717" y="324"/>
                    </a:lnTo>
                    <a:lnTo>
                      <a:pt x="561" y="506"/>
                    </a:lnTo>
                    <a:lnTo>
                      <a:pt x="535" y="550"/>
                    </a:lnTo>
                    <a:lnTo>
                      <a:pt x="535" y="585"/>
                    </a:lnTo>
                    <a:lnTo>
                      <a:pt x="587" y="629"/>
                    </a:lnTo>
                    <a:lnTo>
                      <a:pt x="346" y="1040"/>
                    </a:lnTo>
                    <a:lnTo>
                      <a:pt x="320" y="1092"/>
                    </a:lnTo>
                    <a:lnTo>
                      <a:pt x="320" y="1118"/>
                    </a:lnTo>
                    <a:lnTo>
                      <a:pt x="457" y="1179"/>
                    </a:lnTo>
                    <a:lnTo>
                      <a:pt x="431" y="1171"/>
                    </a:lnTo>
                    <a:lnTo>
                      <a:pt x="355" y="1188"/>
                    </a:lnTo>
                    <a:lnTo>
                      <a:pt x="190" y="1223"/>
                    </a:lnTo>
                    <a:lnTo>
                      <a:pt x="121" y="1206"/>
                    </a:lnTo>
                    <a:lnTo>
                      <a:pt x="52" y="1214"/>
                    </a:lnTo>
                    <a:lnTo>
                      <a:pt x="0" y="1258"/>
                    </a:lnTo>
                    <a:lnTo>
                      <a:pt x="9" y="1284"/>
                    </a:lnTo>
                    <a:lnTo>
                      <a:pt x="61" y="1284"/>
                    </a:lnTo>
                    <a:lnTo>
                      <a:pt x="52" y="1414"/>
                    </a:lnTo>
                    <a:lnTo>
                      <a:pt x="86" y="1502"/>
                    </a:lnTo>
                    <a:lnTo>
                      <a:pt x="130" y="1484"/>
                    </a:lnTo>
                    <a:lnTo>
                      <a:pt x="147" y="1406"/>
                    </a:lnTo>
                    <a:lnTo>
                      <a:pt x="173" y="1345"/>
                    </a:lnTo>
                    <a:lnTo>
                      <a:pt x="259" y="1319"/>
                    </a:lnTo>
                    <a:lnTo>
                      <a:pt x="346" y="1319"/>
                    </a:lnTo>
                    <a:lnTo>
                      <a:pt x="405" y="1311"/>
                    </a:lnTo>
                    <a:lnTo>
                      <a:pt x="665" y="1284"/>
                    </a:lnTo>
                    <a:lnTo>
                      <a:pt x="630" y="1353"/>
                    </a:lnTo>
                    <a:lnTo>
                      <a:pt x="622" y="1432"/>
                    </a:lnTo>
                    <a:lnTo>
                      <a:pt x="604" y="1607"/>
                    </a:lnTo>
                    <a:lnTo>
                      <a:pt x="561" y="1668"/>
                    </a:lnTo>
                    <a:lnTo>
                      <a:pt x="544" y="1729"/>
                    </a:lnTo>
                    <a:lnTo>
                      <a:pt x="570" y="1799"/>
                    </a:lnTo>
                    <a:lnTo>
                      <a:pt x="596" y="1799"/>
                    </a:lnTo>
                    <a:lnTo>
                      <a:pt x="613" y="1756"/>
                    </a:lnTo>
                    <a:lnTo>
                      <a:pt x="725" y="1799"/>
                    </a:lnTo>
                    <a:lnTo>
                      <a:pt x="829" y="1799"/>
                    </a:lnTo>
                    <a:lnTo>
                      <a:pt x="820" y="1747"/>
                    </a:lnTo>
                    <a:lnTo>
                      <a:pt x="751" y="1703"/>
                    </a:lnTo>
                    <a:lnTo>
                      <a:pt x="708" y="1659"/>
                    </a:lnTo>
                    <a:lnTo>
                      <a:pt x="717" y="1572"/>
                    </a:lnTo>
                    <a:lnTo>
                      <a:pt x="769" y="1371"/>
                    </a:lnTo>
                    <a:lnTo>
                      <a:pt x="812" y="1284"/>
                    </a:lnTo>
                    <a:lnTo>
                      <a:pt x="812" y="1249"/>
                    </a:lnTo>
                    <a:lnTo>
                      <a:pt x="846" y="1232"/>
                    </a:lnTo>
                    <a:lnTo>
                      <a:pt x="881" y="1214"/>
                    </a:lnTo>
                    <a:lnTo>
                      <a:pt x="820" y="821"/>
                    </a:lnTo>
                    <a:lnTo>
                      <a:pt x="838" y="733"/>
                    </a:lnTo>
                    <a:lnTo>
                      <a:pt x="1002" y="865"/>
                    </a:lnTo>
                    <a:lnTo>
                      <a:pt x="1019" y="847"/>
                    </a:lnTo>
                    <a:lnTo>
                      <a:pt x="1037" y="873"/>
                    </a:lnTo>
                    <a:lnTo>
                      <a:pt x="1054" y="882"/>
                    </a:lnTo>
                    <a:lnTo>
                      <a:pt x="1105" y="882"/>
                    </a:lnTo>
                    <a:lnTo>
                      <a:pt x="1113" y="856"/>
                    </a:lnTo>
                    <a:lnTo>
                      <a:pt x="1113" y="830"/>
                    </a:lnTo>
                    <a:lnTo>
                      <a:pt x="1063" y="795"/>
                    </a:lnTo>
                    <a:lnTo>
                      <a:pt x="1071" y="777"/>
                    </a:lnTo>
                    <a:lnTo>
                      <a:pt x="933" y="672"/>
                    </a:lnTo>
                    <a:lnTo>
                      <a:pt x="872" y="620"/>
                    </a:lnTo>
                    <a:lnTo>
                      <a:pt x="898" y="576"/>
                    </a:lnTo>
                    <a:lnTo>
                      <a:pt x="924" y="559"/>
                    </a:lnTo>
                    <a:lnTo>
                      <a:pt x="933" y="524"/>
                    </a:lnTo>
                    <a:lnTo>
                      <a:pt x="933" y="480"/>
                    </a:lnTo>
                    <a:lnTo>
                      <a:pt x="924" y="420"/>
                    </a:lnTo>
                    <a:lnTo>
                      <a:pt x="924" y="341"/>
                    </a:lnTo>
                    <a:lnTo>
                      <a:pt x="942" y="315"/>
                    </a:lnTo>
                    <a:lnTo>
                      <a:pt x="959" y="289"/>
                    </a:lnTo>
                    <a:lnTo>
                      <a:pt x="1037" y="306"/>
                    </a:lnTo>
                    <a:lnTo>
                      <a:pt x="1054" y="289"/>
                    </a:lnTo>
                    <a:lnTo>
                      <a:pt x="1063" y="254"/>
                    </a:lnTo>
                    <a:lnTo>
                      <a:pt x="1071" y="219"/>
                    </a:lnTo>
                    <a:lnTo>
                      <a:pt x="1096" y="210"/>
                    </a:lnTo>
                    <a:lnTo>
                      <a:pt x="1089" y="140"/>
                    </a:lnTo>
                    <a:lnTo>
                      <a:pt x="1089" y="105"/>
                    </a:lnTo>
                    <a:lnTo>
                      <a:pt x="1131" y="79"/>
                    </a:lnTo>
                    <a:close/>
                  </a:path>
                </a:pathLst>
              </a:custGeom>
              <a:solidFill>
                <a:srgbClr val="FFD255"/>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6" name="Freeform 27">
                <a:extLst>
                  <a:ext uri="{FF2B5EF4-FFF2-40B4-BE49-F238E27FC236}">
                    <a16:creationId xmlns:a16="http://schemas.microsoft.com/office/drawing/2014/main" id="{88E171E2-C8C7-4E72-BFB9-7A4580F8FBC1}"/>
                  </a:ext>
                </a:extLst>
              </p:cNvPr>
              <p:cNvSpPr>
                <a:spLocks/>
              </p:cNvSpPr>
              <p:nvPr/>
            </p:nvSpPr>
            <p:spPr bwMode="auto">
              <a:xfrm>
                <a:off x="11015492" y="3202701"/>
                <a:ext cx="0" cy="215644"/>
              </a:xfrm>
              <a:custGeom>
                <a:avLst/>
                <a:gdLst>
                  <a:gd name="T0" fmla="*/ 1054 w 1131"/>
                  <a:gd name="T1" fmla="*/ 17 h 1799"/>
                  <a:gd name="T2" fmla="*/ 916 w 1131"/>
                  <a:gd name="T3" fmla="*/ 0 h 1799"/>
                  <a:gd name="T4" fmla="*/ 838 w 1131"/>
                  <a:gd name="T5" fmla="*/ 44 h 1799"/>
                  <a:gd name="T6" fmla="*/ 734 w 1131"/>
                  <a:gd name="T7" fmla="*/ 184 h 1799"/>
                  <a:gd name="T8" fmla="*/ 760 w 1131"/>
                  <a:gd name="T9" fmla="*/ 236 h 1799"/>
                  <a:gd name="T10" fmla="*/ 743 w 1131"/>
                  <a:gd name="T11" fmla="*/ 297 h 1799"/>
                  <a:gd name="T12" fmla="*/ 561 w 1131"/>
                  <a:gd name="T13" fmla="*/ 506 h 1799"/>
                  <a:gd name="T14" fmla="*/ 535 w 1131"/>
                  <a:gd name="T15" fmla="*/ 585 h 1799"/>
                  <a:gd name="T16" fmla="*/ 346 w 1131"/>
                  <a:gd name="T17" fmla="*/ 1040 h 1799"/>
                  <a:gd name="T18" fmla="*/ 320 w 1131"/>
                  <a:gd name="T19" fmla="*/ 1118 h 1799"/>
                  <a:gd name="T20" fmla="*/ 431 w 1131"/>
                  <a:gd name="T21" fmla="*/ 1171 h 1799"/>
                  <a:gd name="T22" fmla="*/ 190 w 1131"/>
                  <a:gd name="T23" fmla="*/ 1223 h 1799"/>
                  <a:gd name="T24" fmla="*/ 52 w 1131"/>
                  <a:gd name="T25" fmla="*/ 1214 h 1799"/>
                  <a:gd name="T26" fmla="*/ 9 w 1131"/>
                  <a:gd name="T27" fmla="*/ 1284 h 1799"/>
                  <a:gd name="T28" fmla="*/ 52 w 1131"/>
                  <a:gd name="T29" fmla="*/ 1414 h 1799"/>
                  <a:gd name="T30" fmla="*/ 130 w 1131"/>
                  <a:gd name="T31" fmla="*/ 1484 h 1799"/>
                  <a:gd name="T32" fmla="*/ 173 w 1131"/>
                  <a:gd name="T33" fmla="*/ 1345 h 1799"/>
                  <a:gd name="T34" fmla="*/ 346 w 1131"/>
                  <a:gd name="T35" fmla="*/ 1319 h 1799"/>
                  <a:gd name="T36" fmla="*/ 665 w 1131"/>
                  <a:gd name="T37" fmla="*/ 1284 h 1799"/>
                  <a:gd name="T38" fmla="*/ 622 w 1131"/>
                  <a:gd name="T39" fmla="*/ 1432 h 1799"/>
                  <a:gd name="T40" fmla="*/ 561 w 1131"/>
                  <a:gd name="T41" fmla="*/ 1668 h 1799"/>
                  <a:gd name="T42" fmla="*/ 570 w 1131"/>
                  <a:gd name="T43" fmla="*/ 1799 h 1799"/>
                  <a:gd name="T44" fmla="*/ 613 w 1131"/>
                  <a:gd name="T45" fmla="*/ 1756 h 1799"/>
                  <a:gd name="T46" fmla="*/ 829 w 1131"/>
                  <a:gd name="T47" fmla="*/ 1799 h 1799"/>
                  <a:gd name="T48" fmla="*/ 751 w 1131"/>
                  <a:gd name="T49" fmla="*/ 1703 h 1799"/>
                  <a:gd name="T50" fmla="*/ 717 w 1131"/>
                  <a:gd name="T51" fmla="*/ 1572 h 1799"/>
                  <a:gd name="T52" fmla="*/ 812 w 1131"/>
                  <a:gd name="T53" fmla="*/ 1284 h 1799"/>
                  <a:gd name="T54" fmla="*/ 846 w 1131"/>
                  <a:gd name="T55" fmla="*/ 1232 h 1799"/>
                  <a:gd name="T56" fmla="*/ 820 w 1131"/>
                  <a:gd name="T57" fmla="*/ 821 h 1799"/>
                  <a:gd name="T58" fmla="*/ 1002 w 1131"/>
                  <a:gd name="T59" fmla="*/ 865 h 1799"/>
                  <a:gd name="T60" fmla="*/ 1037 w 1131"/>
                  <a:gd name="T61" fmla="*/ 873 h 1799"/>
                  <a:gd name="T62" fmla="*/ 1105 w 1131"/>
                  <a:gd name="T63" fmla="*/ 882 h 1799"/>
                  <a:gd name="T64" fmla="*/ 1113 w 1131"/>
                  <a:gd name="T65" fmla="*/ 830 h 1799"/>
                  <a:gd name="T66" fmla="*/ 1071 w 1131"/>
                  <a:gd name="T67" fmla="*/ 777 h 1799"/>
                  <a:gd name="T68" fmla="*/ 872 w 1131"/>
                  <a:gd name="T69" fmla="*/ 620 h 1799"/>
                  <a:gd name="T70" fmla="*/ 924 w 1131"/>
                  <a:gd name="T71" fmla="*/ 559 h 1799"/>
                  <a:gd name="T72" fmla="*/ 933 w 1131"/>
                  <a:gd name="T73" fmla="*/ 480 h 1799"/>
                  <a:gd name="T74" fmla="*/ 924 w 1131"/>
                  <a:gd name="T75" fmla="*/ 341 h 1799"/>
                  <a:gd name="T76" fmla="*/ 959 w 1131"/>
                  <a:gd name="T77" fmla="*/ 289 h 1799"/>
                  <a:gd name="T78" fmla="*/ 1054 w 1131"/>
                  <a:gd name="T79" fmla="*/ 289 h 1799"/>
                  <a:gd name="T80" fmla="*/ 1071 w 1131"/>
                  <a:gd name="T81" fmla="*/ 219 h 1799"/>
                  <a:gd name="T82" fmla="*/ 1089 w 1131"/>
                  <a:gd name="T83" fmla="*/ 140 h 1799"/>
                  <a:gd name="T84" fmla="*/ 1131 w 1131"/>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1" h="1799">
                    <a:moveTo>
                      <a:pt x="1131" y="79"/>
                    </a:moveTo>
                    <a:lnTo>
                      <a:pt x="1054" y="17"/>
                    </a:lnTo>
                    <a:lnTo>
                      <a:pt x="959" y="0"/>
                    </a:lnTo>
                    <a:lnTo>
                      <a:pt x="916" y="0"/>
                    </a:lnTo>
                    <a:lnTo>
                      <a:pt x="872" y="9"/>
                    </a:lnTo>
                    <a:lnTo>
                      <a:pt x="838" y="44"/>
                    </a:lnTo>
                    <a:lnTo>
                      <a:pt x="795" y="105"/>
                    </a:lnTo>
                    <a:lnTo>
                      <a:pt x="734" y="184"/>
                    </a:lnTo>
                    <a:lnTo>
                      <a:pt x="725" y="219"/>
                    </a:lnTo>
                    <a:lnTo>
                      <a:pt x="760" y="236"/>
                    </a:lnTo>
                    <a:lnTo>
                      <a:pt x="812" y="262"/>
                    </a:lnTo>
                    <a:lnTo>
                      <a:pt x="743" y="297"/>
                    </a:lnTo>
                    <a:lnTo>
                      <a:pt x="717" y="324"/>
                    </a:lnTo>
                    <a:lnTo>
                      <a:pt x="561" y="506"/>
                    </a:lnTo>
                    <a:lnTo>
                      <a:pt x="535" y="550"/>
                    </a:lnTo>
                    <a:lnTo>
                      <a:pt x="535" y="585"/>
                    </a:lnTo>
                    <a:lnTo>
                      <a:pt x="587" y="629"/>
                    </a:lnTo>
                    <a:lnTo>
                      <a:pt x="346" y="1040"/>
                    </a:lnTo>
                    <a:lnTo>
                      <a:pt x="320" y="1092"/>
                    </a:lnTo>
                    <a:lnTo>
                      <a:pt x="320" y="1118"/>
                    </a:lnTo>
                    <a:lnTo>
                      <a:pt x="457" y="1179"/>
                    </a:lnTo>
                    <a:lnTo>
                      <a:pt x="431" y="1171"/>
                    </a:lnTo>
                    <a:lnTo>
                      <a:pt x="355" y="1188"/>
                    </a:lnTo>
                    <a:lnTo>
                      <a:pt x="190" y="1223"/>
                    </a:lnTo>
                    <a:lnTo>
                      <a:pt x="121" y="1206"/>
                    </a:lnTo>
                    <a:lnTo>
                      <a:pt x="52" y="1214"/>
                    </a:lnTo>
                    <a:lnTo>
                      <a:pt x="0" y="1258"/>
                    </a:lnTo>
                    <a:lnTo>
                      <a:pt x="9" y="1284"/>
                    </a:lnTo>
                    <a:lnTo>
                      <a:pt x="61" y="1284"/>
                    </a:lnTo>
                    <a:lnTo>
                      <a:pt x="52" y="1414"/>
                    </a:lnTo>
                    <a:lnTo>
                      <a:pt x="86" y="1502"/>
                    </a:lnTo>
                    <a:lnTo>
                      <a:pt x="130" y="1484"/>
                    </a:lnTo>
                    <a:lnTo>
                      <a:pt x="147" y="1406"/>
                    </a:lnTo>
                    <a:lnTo>
                      <a:pt x="173" y="1345"/>
                    </a:lnTo>
                    <a:lnTo>
                      <a:pt x="259" y="1319"/>
                    </a:lnTo>
                    <a:lnTo>
                      <a:pt x="346" y="1319"/>
                    </a:lnTo>
                    <a:lnTo>
                      <a:pt x="405" y="1311"/>
                    </a:lnTo>
                    <a:lnTo>
                      <a:pt x="665" y="1284"/>
                    </a:lnTo>
                    <a:lnTo>
                      <a:pt x="630" y="1353"/>
                    </a:lnTo>
                    <a:lnTo>
                      <a:pt x="622" y="1432"/>
                    </a:lnTo>
                    <a:lnTo>
                      <a:pt x="604" y="1607"/>
                    </a:lnTo>
                    <a:lnTo>
                      <a:pt x="561" y="1668"/>
                    </a:lnTo>
                    <a:lnTo>
                      <a:pt x="544" y="1729"/>
                    </a:lnTo>
                    <a:lnTo>
                      <a:pt x="570" y="1799"/>
                    </a:lnTo>
                    <a:lnTo>
                      <a:pt x="596" y="1799"/>
                    </a:lnTo>
                    <a:lnTo>
                      <a:pt x="613" y="1756"/>
                    </a:lnTo>
                    <a:lnTo>
                      <a:pt x="725" y="1799"/>
                    </a:lnTo>
                    <a:lnTo>
                      <a:pt x="829" y="1799"/>
                    </a:lnTo>
                    <a:lnTo>
                      <a:pt x="820" y="1747"/>
                    </a:lnTo>
                    <a:lnTo>
                      <a:pt x="751" y="1703"/>
                    </a:lnTo>
                    <a:lnTo>
                      <a:pt x="708" y="1659"/>
                    </a:lnTo>
                    <a:lnTo>
                      <a:pt x="717" y="1572"/>
                    </a:lnTo>
                    <a:lnTo>
                      <a:pt x="769" y="1371"/>
                    </a:lnTo>
                    <a:lnTo>
                      <a:pt x="812" y="1284"/>
                    </a:lnTo>
                    <a:lnTo>
                      <a:pt x="812" y="1249"/>
                    </a:lnTo>
                    <a:lnTo>
                      <a:pt x="846" y="1232"/>
                    </a:lnTo>
                    <a:lnTo>
                      <a:pt x="881" y="1214"/>
                    </a:lnTo>
                    <a:lnTo>
                      <a:pt x="820" y="821"/>
                    </a:lnTo>
                    <a:lnTo>
                      <a:pt x="838" y="733"/>
                    </a:lnTo>
                    <a:lnTo>
                      <a:pt x="1002" y="865"/>
                    </a:lnTo>
                    <a:lnTo>
                      <a:pt x="1019" y="847"/>
                    </a:lnTo>
                    <a:lnTo>
                      <a:pt x="1037" y="873"/>
                    </a:lnTo>
                    <a:lnTo>
                      <a:pt x="1054" y="882"/>
                    </a:lnTo>
                    <a:lnTo>
                      <a:pt x="1105" y="882"/>
                    </a:lnTo>
                    <a:lnTo>
                      <a:pt x="1113" y="856"/>
                    </a:lnTo>
                    <a:lnTo>
                      <a:pt x="1113" y="830"/>
                    </a:lnTo>
                    <a:lnTo>
                      <a:pt x="1063" y="795"/>
                    </a:lnTo>
                    <a:lnTo>
                      <a:pt x="1071" y="777"/>
                    </a:lnTo>
                    <a:lnTo>
                      <a:pt x="933" y="672"/>
                    </a:lnTo>
                    <a:lnTo>
                      <a:pt x="872" y="620"/>
                    </a:lnTo>
                    <a:lnTo>
                      <a:pt x="898" y="576"/>
                    </a:lnTo>
                    <a:lnTo>
                      <a:pt x="924" y="559"/>
                    </a:lnTo>
                    <a:lnTo>
                      <a:pt x="933" y="524"/>
                    </a:lnTo>
                    <a:lnTo>
                      <a:pt x="933" y="480"/>
                    </a:lnTo>
                    <a:lnTo>
                      <a:pt x="924" y="420"/>
                    </a:lnTo>
                    <a:lnTo>
                      <a:pt x="924" y="341"/>
                    </a:lnTo>
                    <a:lnTo>
                      <a:pt x="942" y="315"/>
                    </a:lnTo>
                    <a:lnTo>
                      <a:pt x="959" y="289"/>
                    </a:lnTo>
                    <a:lnTo>
                      <a:pt x="1037" y="306"/>
                    </a:lnTo>
                    <a:lnTo>
                      <a:pt x="1054" y="289"/>
                    </a:lnTo>
                    <a:lnTo>
                      <a:pt x="1063" y="254"/>
                    </a:lnTo>
                    <a:lnTo>
                      <a:pt x="1071" y="219"/>
                    </a:lnTo>
                    <a:lnTo>
                      <a:pt x="1096" y="210"/>
                    </a:lnTo>
                    <a:lnTo>
                      <a:pt x="1089" y="140"/>
                    </a:lnTo>
                    <a:lnTo>
                      <a:pt x="1089" y="105"/>
                    </a:lnTo>
                    <a:lnTo>
                      <a:pt x="1131" y="79"/>
                    </a:lnTo>
                    <a:close/>
                  </a:path>
                </a:pathLst>
              </a:custGeom>
              <a:solidFill>
                <a:srgbClr val="FFD255"/>
              </a:solidFill>
              <a:ln w="3175">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7" name="Freeform 28">
                <a:extLst>
                  <a:ext uri="{FF2B5EF4-FFF2-40B4-BE49-F238E27FC236}">
                    <a16:creationId xmlns:a16="http://schemas.microsoft.com/office/drawing/2014/main" id="{7FD65B8C-6753-4142-8957-029961E4B980}"/>
                  </a:ext>
                </a:extLst>
              </p:cNvPr>
              <p:cNvSpPr>
                <a:spLocks/>
              </p:cNvSpPr>
              <p:nvPr/>
            </p:nvSpPr>
            <p:spPr bwMode="auto">
              <a:xfrm>
                <a:off x="11351004" y="3415174"/>
                <a:ext cx="0" cy="215644"/>
              </a:xfrm>
              <a:custGeom>
                <a:avLst/>
                <a:gdLst>
                  <a:gd name="T0" fmla="*/ 86 w 526"/>
                  <a:gd name="T1" fmla="*/ 88 h 490"/>
                  <a:gd name="T2" fmla="*/ 78 w 526"/>
                  <a:gd name="T3" fmla="*/ 123 h 490"/>
                  <a:gd name="T4" fmla="*/ 95 w 526"/>
                  <a:gd name="T5" fmla="*/ 158 h 490"/>
                  <a:gd name="T6" fmla="*/ 9 w 526"/>
                  <a:gd name="T7" fmla="*/ 210 h 490"/>
                  <a:gd name="T8" fmla="*/ 0 w 526"/>
                  <a:gd name="T9" fmla="*/ 237 h 490"/>
                  <a:gd name="T10" fmla="*/ 138 w 526"/>
                  <a:gd name="T11" fmla="*/ 481 h 490"/>
                  <a:gd name="T12" fmla="*/ 163 w 526"/>
                  <a:gd name="T13" fmla="*/ 490 h 490"/>
                  <a:gd name="T14" fmla="*/ 526 w 526"/>
                  <a:gd name="T15" fmla="*/ 298 h 490"/>
                  <a:gd name="T16" fmla="*/ 526 w 526"/>
                  <a:gd name="T17" fmla="*/ 280 h 490"/>
                  <a:gd name="T18" fmla="*/ 397 w 526"/>
                  <a:gd name="T19" fmla="*/ 18 h 490"/>
                  <a:gd name="T20" fmla="*/ 362 w 526"/>
                  <a:gd name="T21" fmla="*/ 0 h 490"/>
                  <a:gd name="T22" fmla="*/ 276 w 526"/>
                  <a:gd name="T23" fmla="*/ 53 h 490"/>
                  <a:gd name="T24" fmla="*/ 241 w 526"/>
                  <a:gd name="T25" fmla="*/ 18 h 490"/>
                  <a:gd name="T26" fmla="*/ 206 w 526"/>
                  <a:gd name="T27" fmla="*/ 9 h 490"/>
                  <a:gd name="T28" fmla="*/ 86 w 526"/>
                  <a:gd name="T29" fmla="*/ 88 h 490"/>
                  <a:gd name="T30" fmla="*/ 86 w 526"/>
                  <a:gd name="T31" fmla="*/ 88 h 490"/>
                  <a:gd name="T32" fmla="*/ 130 w 526"/>
                  <a:gd name="T33" fmla="*/ 88 h 490"/>
                  <a:gd name="T34" fmla="*/ 121 w 526"/>
                  <a:gd name="T35" fmla="*/ 97 h 490"/>
                  <a:gd name="T36" fmla="*/ 121 w 526"/>
                  <a:gd name="T37" fmla="*/ 123 h 490"/>
                  <a:gd name="T38" fmla="*/ 130 w 526"/>
                  <a:gd name="T39" fmla="*/ 140 h 490"/>
                  <a:gd name="T40" fmla="*/ 250 w 526"/>
                  <a:gd name="T41" fmla="*/ 70 h 490"/>
                  <a:gd name="T42" fmla="*/ 232 w 526"/>
                  <a:gd name="T43" fmla="*/ 44 h 490"/>
                  <a:gd name="T44" fmla="*/ 206 w 526"/>
                  <a:gd name="T45" fmla="*/ 44 h 490"/>
                  <a:gd name="T46" fmla="*/ 130 w 526"/>
                  <a:gd name="T47" fmla="*/ 88 h 490"/>
                  <a:gd name="T48" fmla="*/ 86 w 526"/>
                  <a:gd name="T49" fmla="*/ 8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6" h="490">
                    <a:moveTo>
                      <a:pt x="86" y="88"/>
                    </a:moveTo>
                    <a:lnTo>
                      <a:pt x="78" y="123"/>
                    </a:lnTo>
                    <a:lnTo>
                      <a:pt x="95" y="158"/>
                    </a:lnTo>
                    <a:lnTo>
                      <a:pt x="9" y="210"/>
                    </a:lnTo>
                    <a:lnTo>
                      <a:pt x="0" y="237"/>
                    </a:lnTo>
                    <a:lnTo>
                      <a:pt x="138" y="481"/>
                    </a:lnTo>
                    <a:lnTo>
                      <a:pt x="163" y="490"/>
                    </a:lnTo>
                    <a:lnTo>
                      <a:pt x="526" y="298"/>
                    </a:lnTo>
                    <a:lnTo>
                      <a:pt x="526" y="280"/>
                    </a:lnTo>
                    <a:lnTo>
                      <a:pt x="397" y="18"/>
                    </a:lnTo>
                    <a:lnTo>
                      <a:pt x="362" y="0"/>
                    </a:lnTo>
                    <a:lnTo>
                      <a:pt x="276" y="53"/>
                    </a:lnTo>
                    <a:lnTo>
                      <a:pt x="241" y="18"/>
                    </a:lnTo>
                    <a:lnTo>
                      <a:pt x="206" y="9"/>
                    </a:lnTo>
                    <a:lnTo>
                      <a:pt x="86" y="88"/>
                    </a:lnTo>
                    <a:lnTo>
                      <a:pt x="86" y="88"/>
                    </a:lnTo>
                    <a:lnTo>
                      <a:pt x="130" y="88"/>
                    </a:lnTo>
                    <a:lnTo>
                      <a:pt x="121" y="97"/>
                    </a:lnTo>
                    <a:lnTo>
                      <a:pt x="121" y="123"/>
                    </a:lnTo>
                    <a:lnTo>
                      <a:pt x="130" y="140"/>
                    </a:lnTo>
                    <a:lnTo>
                      <a:pt x="250" y="70"/>
                    </a:lnTo>
                    <a:lnTo>
                      <a:pt x="232" y="44"/>
                    </a:lnTo>
                    <a:lnTo>
                      <a:pt x="206" y="44"/>
                    </a:lnTo>
                    <a:lnTo>
                      <a:pt x="130" y="88"/>
                    </a:lnTo>
                    <a:lnTo>
                      <a:pt x="86" y="88"/>
                    </a:lnTo>
                    <a:close/>
                  </a:path>
                </a:pathLst>
              </a:custGeom>
              <a:solidFill>
                <a:srgbClr val="9DB4B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21" name="Freeform 32">
                <a:extLst>
                  <a:ext uri="{FF2B5EF4-FFF2-40B4-BE49-F238E27FC236}">
                    <a16:creationId xmlns:a16="http://schemas.microsoft.com/office/drawing/2014/main" id="{06C402BA-9B78-4D42-8D68-AA414D18B5AF}"/>
                  </a:ext>
                </a:extLst>
              </p:cNvPr>
              <p:cNvSpPr>
                <a:spLocks/>
              </p:cNvSpPr>
              <p:nvPr/>
            </p:nvSpPr>
            <p:spPr bwMode="auto">
              <a:xfrm>
                <a:off x="11391323" y="3419403"/>
                <a:ext cx="0" cy="215644"/>
              </a:xfrm>
              <a:custGeom>
                <a:avLst/>
                <a:gdLst>
                  <a:gd name="T0" fmla="*/ 86 w 94"/>
                  <a:gd name="T1" fmla="*/ 9 h 79"/>
                  <a:gd name="T2" fmla="*/ 44 w 94"/>
                  <a:gd name="T3" fmla="*/ 0 h 79"/>
                  <a:gd name="T4" fmla="*/ 18 w 94"/>
                  <a:gd name="T5" fmla="*/ 35 h 79"/>
                  <a:gd name="T6" fmla="*/ 0 w 94"/>
                  <a:gd name="T7" fmla="*/ 61 h 79"/>
                  <a:gd name="T8" fmla="*/ 18 w 94"/>
                  <a:gd name="T9" fmla="*/ 79 h 79"/>
                  <a:gd name="T10" fmla="*/ 44 w 94"/>
                  <a:gd name="T11" fmla="*/ 79 h 79"/>
                  <a:gd name="T12" fmla="*/ 68 w 94"/>
                  <a:gd name="T13" fmla="*/ 70 h 79"/>
                  <a:gd name="T14" fmla="*/ 86 w 94"/>
                  <a:gd name="T15" fmla="*/ 52 h 79"/>
                  <a:gd name="T16" fmla="*/ 94 w 94"/>
                  <a:gd name="T17" fmla="*/ 35 h 79"/>
                  <a:gd name="T18" fmla="*/ 86 w 94"/>
                  <a:gd name="T19" fmla="*/ 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9">
                    <a:moveTo>
                      <a:pt x="86" y="9"/>
                    </a:moveTo>
                    <a:lnTo>
                      <a:pt x="44" y="0"/>
                    </a:lnTo>
                    <a:lnTo>
                      <a:pt x="18" y="35"/>
                    </a:lnTo>
                    <a:lnTo>
                      <a:pt x="0" y="61"/>
                    </a:lnTo>
                    <a:lnTo>
                      <a:pt x="18" y="79"/>
                    </a:lnTo>
                    <a:lnTo>
                      <a:pt x="44" y="79"/>
                    </a:lnTo>
                    <a:lnTo>
                      <a:pt x="68" y="70"/>
                    </a:lnTo>
                    <a:lnTo>
                      <a:pt x="86" y="52"/>
                    </a:lnTo>
                    <a:lnTo>
                      <a:pt x="94" y="35"/>
                    </a:lnTo>
                    <a:lnTo>
                      <a:pt x="86" y="9"/>
                    </a:lnTo>
                    <a:close/>
                  </a:path>
                </a:pathLst>
              </a:custGeom>
              <a:solidFill>
                <a:srgbClr val="FFD255"/>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sp>
          <p:nvSpPr>
            <p:cNvPr id="400" name="Text Box 34">
              <a:extLst>
                <a:ext uri="{FF2B5EF4-FFF2-40B4-BE49-F238E27FC236}">
                  <a16:creationId xmlns:a16="http://schemas.microsoft.com/office/drawing/2014/main" id="{6E8508BC-1353-4179-9668-5B244F205343}"/>
                </a:ext>
              </a:extLst>
            </p:cNvPr>
            <p:cNvSpPr txBox="1">
              <a:spLocks noChangeArrowheads="1"/>
            </p:cNvSpPr>
            <p:nvPr/>
          </p:nvSpPr>
          <p:spPr bwMode="auto">
            <a:xfrm>
              <a:off x="10694816" y="3694827"/>
              <a:ext cx="903289"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出差员工</a:t>
              </a:r>
            </a:p>
          </p:txBody>
        </p:sp>
      </p:grpSp>
      <p:grpSp>
        <p:nvGrpSpPr>
          <p:cNvPr id="2054" name="组合 2053">
            <a:extLst>
              <a:ext uri="{FF2B5EF4-FFF2-40B4-BE49-F238E27FC236}">
                <a16:creationId xmlns:a16="http://schemas.microsoft.com/office/drawing/2014/main" id="{8C8C1E50-4DA8-49AA-875F-E62FA3F719EA}"/>
              </a:ext>
            </a:extLst>
          </p:cNvPr>
          <p:cNvGrpSpPr/>
          <p:nvPr/>
        </p:nvGrpSpPr>
        <p:grpSpPr>
          <a:xfrm>
            <a:off x="9873477" y="4008092"/>
            <a:ext cx="1764831" cy="1058601"/>
            <a:chOff x="7708727" y="5045179"/>
            <a:chExt cx="2059480" cy="1295400"/>
          </a:xfrm>
        </p:grpSpPr>
        <p:pic>
          <p:nvPicPr>
            <p:cNvPr id="426" name="Picture 79">
              <a:extLst>
                <a:ext uri="{FF2B5EF4-FFF2-40B4-BE49-F238E27FC236}">
                  <a16:creationId xmlns:a16="http://schemas.microsoft.com/office/drawing/2014/main" id="{A3425DD9-6E55-402E-8DB9-114F6D7B1571}"/>
                </a:ext>
              </a:extLst>
            </p:cNvPr>
            <p:cNvPicPr>
              <a:picLocks noChangeAspect="1" noChangeArrowheads="1"/>
            </p:cNvPicPr>
            <p:nvPr/>
          </p:nvPicPr>
          <p:blipFill>
            <a:blip r:embed="rId8">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a:stretch>
              <a:fillRect/>
            </a:stretch>
          </p:blipFill>
          <p:spPr bwMode="auto">
            <a:xfrm>
              <a:off x="8173246" y="5045179"/>
              <a:ext cx="692150" cy="1295400"/>
            </a:xfrm>
            <a:prstGeom prst="rect">
              <a:avLst/>
            </a:prstGeom>
            <a:noFill/>
            <a:extLst>
              <a:ext uri="{909E8E84-426E-40DD-AFC4-6F175D3DCCD1}">
                <a14:hiddenFill xmlns:a14="http://schemas.microsoft.com/office/drawing/2010/main">
                  <a:solidFill>
                    <a:srgbClr val="FFFFFF"/>
                  </a:solidFill>
                </a14:hiddenFill>
              </a:ext>
            </a:extLst>
          </p:spPr>
        </p:pic>
        <p:sp>
          <p:nvSpPr>
            <p:cNvPr id="434" name="Text Box 34">
              <a:extLst>
                <a:ext uri="{FF2B5EF4-FFF2-40B4-BE49-F238E27FC236}">
                  <a16:creationId xmlns:a16="http://schemas.microsoft.com/office/drawing/2014/main" id="{2D8ED1CE-8555-40EB-894A-32B55C59BB5E}"/>
                </a:ext>
              </a:extLst>
            </p:cNvPr>
            <p:cNvSpPr txBox="1">
              <a:spLocks noChangeArrowheads="1"/>
            </p:cNvSpPr>
            <p:nvPr/>
          </p:nvSpPr>
          <p:spPr bwMode="auto">
            <a:xfrm>
              <a:off x="8865396" y="5281978"/>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分支机构</a:t>
              </a:r>
            </a:p>
          </p:txBody>
        </p:sp>
        <p:pic>
          <p:nvPicPr>
            <p:cNvPr id="435" name="Picture 30" descr="通用路由器">
              <a:extLst>
                <a:ext uri="{FF2B5EF4-FFF2-40B4-BE49-F238E27FC236}">
                  <a16:creationId xmlns:a16="http://schemas.microsoft.com/office/drawing/2014/main" id="{49D5DBC1-A4EB-443F-9211-263AB794D2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08727" y="5835781"/>
              <a:ext cx="651570" cy="36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5" name="组合 2054">
            <a:extLst>
              <a:ext uri="{FF2B5EF4-FFF2-40B4-BE49-F238E27FC236}">
                <a16:creationId xmlns:a16="http://schemas.microsoft.com/office/drawing/2014/main" id="{7C18DE66-1477-4207-92F0-B2450F917C97}"/>
              </a:ext>
            </a:extLst>
          </p:cNvPr>
          <p:cNvGrpSpPr/>
          <p:nvPr/>
        </p:nvGrpSpPr>
        <p:grpSpPr>
          <a:xfrm>
            <a:off x="8759419" y="5017360"/>
            <a:ext cx="1598550" cy="763589"/>
            <a:chOff x="7968542" y="5602497"/>
            <a:chExt cx="1598550" cy="763589"/>
          </a:xfrm>
        </p:grpSpPr>
        <p:pic>
          <p:nvPicPr>
            <p:cNvPr id="448" name="Picture 30" descr="通用路由器">
              <a:extLst>
                <a:ext uri="{FF2B5EF4-FFF2-40B4-BE49-F238E27FC236}">
                  <a16:creationId xmlns:a16="http://schemas.microsoft.com/office/drawing/2014/main" id="{965AB873-5F2F-4339-B018-5FF12443580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68542" y="5949484"/>
              <a:ext cx="551305" cy="307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57">
              <a:extLst>
                <a:ext uri="{FF2B5EF4-FFF2-40B4-BE49-F238E27FC236}">
                  <a16:creationId xmlns:a16="http://schemas.microsoft.com/office/drawing/2014/main" id="{DE4F924D-2D2F-4A31-9E6F-EF7C9F3FADA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198200" y="5602497"/>
              <a:ext cx="573088" cy="763589"/>
            </a:xfrm>
            <a:prstGeom prst="rect">
              <a:avLst/>
            </a:prstGeom>
            <a:noFill/>
            <a:extLst>
              <a:ext uri="{909E8E84-426E-40DD-AFC4-6F175D3DCCD1}">
                <a14:hiddenFill xmlns:a14="http://schemas.microsoft.com/office/drawing/2010/main">
                  <a:solidFill>
                    <a:srgbClr val="FFFFFF"/>
                  </a:solidFill>
                </a14:hiddenFill>
              </a:ext>
            </a:extLst>
          </p:spPr>
        </p:pic>
        <p:sp>
          <p:nvSpPr>
            <p:cNvPr id="449" name="Text Box 34">
              <a:extLst>
                <a:ext uri="{FF2B5EF4-FFF2-40B4-BE49-F238E27FC236}">
                  <a16:creationId xmlns:a16="http://schemas.microsoft.com/office/drawing/2014/main" id="{1F18072E-F991-4718-92A5-41F8777F3F00}"/>
                </a:ext>
              </a:extLst>
            </p:cNvPr>
            <p:cNvSpPr txBox="1">
              <a:spLocks noChangeArrowheads="1"/>
            </p:cNvSpPr>
            <p:nvPr/>
          </p:nvSpPr>
          <p:spPr bwMode="auto">
            <a:xfrm>
              <a:off x="8484744" y="5979739"/>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本地办事处</a:t>
              </a:r>
            </a:p>
          </p:txBody>
        </p:sp>
      </p:grpSp>
      <p:grpSp>
        <p:nvGrpSpPr>
          <p:cNvPr id="451" name="Group 2">
            <a:extLst>
              <a:ext uri="{FF2B5EF4-FFF2-40B4-BE49-F238E27FC236}">
                <a16:creationId xmlns:a16="http://schemas.microsoft.com/office/drawing/2014/main" id="{9E24DBE8-E758-43B9-B63E-35BB875FF5FF}"/>
              </a:ext>
            </a:extLst>
          </p:cNvPr>
          <p:cNvGrpSpPr>
            <a:grpSpLocks/>
          </p:cNvGrpSpPr>
          <p:nvPr/>
        </p:nvGrpSpPr>
        <p:grpSpPr bwMode="auto">
          <a:xfrm>
            <a:off x="7776805" y="3093801"/>
            <a:ext cx="2550035" cy="968807"/>
            <a:chOff x="1837" y="1933"/>
            <a:chExt cx="1637" cy="590"/>
          </a:xfrm>
        </p:grpSpPr>
        <p:pic>
          <p:nvPicPr>
            <p:cNvPr id="452" name="Picture 3">
              <a:extLst>
                <a:ext uri="{FF2B5EF4-FFF2-40B4-BE49-F238E27FC236}">
                  <a16:creationId xmlns:a16="http://schemas.microsoft.com/office/drawing/2014/main" id="{9C2D73A4-5B07-4E61-A6D4-ECC5B12B42E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37" y="1933"/>
              <a:ext cx="1637" cy="590"/>
            </a:xfrm>
            <a:prstGeom prst="rect">
              <a:avLst/>
            </a:prstGeom>
            <a:noFill/>
            <a:extLst>
              <a:ext uri="{909E8E84-426E-40DD-AFC4-6F175D3DCCD1}">
                <a14:hiddenFill xmlns:a14="http://schemas.microsoft.com/office/drawing/2010/main">
                  <a:solidFill>
                    <a:srgbClr val="FFFFFF"/>
                  </a:solidFill>
                </a14:hiddenFill>
              </a:ext>
            </a:extLst>
          </p:spPr>
        </p:pic>
        <p:sp>
          <p:nvSpPr>
            <p:cNvPr id="453" name="Text Box 4">
              <a:extLst>
                <a:ext uri="{FF2B5EF4-FFF2-40B4-BE49-F238E27FC236}">
                  <a16:creationId xmlns:a16="http://schemas.microsoft.com/office/drawing/2014/main" id="{B87DF3AE-FDC5-4E7C-9AC2-7FCE75C94E35}"/>
                </a:ext>
              </a:extLst>
            </p:cNvPr>
            <p:cNvSpPr txBox="1">
              <a:spLocks noChangeArrowheads="1"/>
            </p:cNvSpPr>
            <p:nvPr/>
          </p:nvSpPr>
          <p:spPr bwMode="auto">
            <a:xfrm>
              <a:off x="2234" y="2026"/>
              <a:ext cx="615" cy="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r>
                <a:rPr lang="en-US" altLang="zh-CN" sz="2000" dirty="0">
                  <a:solidFill>
                    <a:srgbClr val="C00000"/>
                  </a:solidFill>
                  <a:latin typeface="Arial" panose="020B0604020202020204" pitchFamily="34" charset="0"/>
                </a:rPr>
                <a:t>Internet</a:t>
              </a:r>
            </a:p>
          </p:txBody>
        </p:sp>
      </p:grpSp>
      <p:cxnSp>
        <p:nvCxnSpPr>
          <p:cNvPr id="2064" name="直接连接符 2063">
            <a:extLst>
              <a:ext uri="{FF2B5EF4-FFF2-40B4-BE49-F238E27FC236}">
                <a16:creationId xmlns:a16="http://schemas.microsoft.com/office/drawing/2014/main" id="{80ABE08C-3B78-4629-BC9D-CBF60173D648}"/>
              </a:ext>
            </a:extLst>
          </p:cNvPr>
          <p:cNvCxnSpPr>
            <a:cxnSpLocks/>
            <a:stCxn id="379" idx="3"/>
            <a:endCxn id="448" idx="1"/>
          </p:cNvCxnSpPr>
          <p:nvPr/>
        </p:nvCxnSpPr>
        <p:spPr>
          <a:xfrm>
            <a:off x="7844569" y="5206348"/>
            <a:ext cx="914850" cy="31188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65" name="直接连接符 464">
            <a:extLst>
              <a:ext uri="{FF2B5EF4-FFF2-40B4-BE49-F238E27FC236}">
                <a16:creationId xmlns:a16="http://schemas.microsoft.com/office/drawing/2014/main" id="{9DC87E73-98EA-47DC-9281-05C0294B6351}"/>
              </a:ext>
            </a:extLst>
          </p:cNvPr>
          <p:cNvCxnSpPr>
            <a:cxnSpLocks/>
            <a:stCxn id="379" idx="3"/>
            <a:endCxn id="435" idx="1"/>
          </p:cNvCxnSpPr>
          <p:nvPr/>
        </p:nvCxnSpPr>
        <p:spPr>
          <a:xfrm flipV="1">
            <a:off x="7844569" y="4802802"/>
            <a:ext cx="2028908" cy="40354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72" name="直接连接符 471">
            <a:extLst>
              <a:ext uri="{FF2B5EF4-FFF2-40B4-BE49-F238E27FC236}">
                <a16:creationId xmlns:a16="http://schemas.microsoft.com/office/drawing/2014/main" id="{41B30407-2518-4831-AFEF-BAEF6AA40E6C}"/>
              </a:ext>
            </a:extLst>
          </p:cNvPr>
          <p:cNvCxnSpPr>
            <a:cxnSpLocks/>
            <a:stCxn id="435" idx="2"/>
          </p:cNvCxnSpPr>
          <p:nvPr/>
        </p:nvCxnSpPr>
        <p:spPr>
          <a:xfrm flipH="1">
            <a:off x="9562165" y="4951431"/>
            <a:ext cx="590487" cy="628857"/>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2080" name="组合 2079">
            <a:extLst>
              <a:ext uri="{FF2B5EF4-FFF2-40B4-BE49-F238E27FC236}">
                <a16:creationId xmlns:a16="http://schemas.microsoft.com/office/drawing/2014/main" id="{6104890F-8226-407A-A3C7-3B4B20AAAD35}"/>
              </a:ext>
            </a:extLst>
          </p:cNvPr>
          <p:cNvGrpSpPr/>
          <p:nvPr/>
        </p:nvGrpSpPr>
        <p:grpSpPr>
          <a:xfrm>
            <a:off x="8532835" y="6016924"/>
            <a:ext cx="1990970" cy="700576"/>
            <a:chOff x="1323539" y="4455228"/>
            <a:chExt cx="2239107" cy="700576"/>
          </a:xfrm>
        </p:grpSpPr>
        <p:cxnSp>
          <p:nvCxnSpPr>
            <p:cNvPr id="2079" name="直接连接符 2078">
              <a:extLst>
                <a:ext uri="{FF2B5EF4-FFF2-40B4-BE49-F238E27FC236}">
                  <a16:creationId xmlns:a16="http://schemas.microsoft.com/office/drawing/2014/main" id="{42B3CB01-5333-4B81-AA7C-2E6D9CEBFD00}"/>
                </a:ext>
              </a:extLst>
            </p:cNvPr>
            <p:cNvCxnSpPr>
              <a:cxnSpLocks/>
            </p:cNvCxnSpPr>
            <p:nvPr/>
          </p:nvCxnSpPr>
          <p:spPr>
            <a:xfrm>
              <a:off x="1323539" y="4671246"/>
              <a:ext cx="416128" cy="0"/>
            </a:xfrm>
            <a:prstGeom prst="line">
              <a:avLst/>
            </a:prstGeom>
            <a:ln w="19050">
              <a:solidFill>
                <a:srgbClr val="FDCB0B"/>
              </a:solidFill>
              <a:prstDash val="dash"/>
            </a:ln>
          </p:spPr>
          <p:style>
            <a:lnRef idx="1">
              <a:schemeClr val="accent1"/>
            </a:lnRef>
            <a:fillRef idx="0">
              <a:schemeClr val="accent1"/>
            </a:fillRef>
            <a:effectRef idx="0">
              <a:schemeClr val="accent1"/>
            </a:effectRef>
            <a:fontRef idx="minor">
              <a:schemeClr val="tx1"/>
            </a:fontRef>
          </p:style>
        </p:cxnSp>
        <p:cxnSp>
          <p:nvCxnSpPr>
            <p:cNvPr id="480" name="直接连接符 479">
              <a:extLst>
                <a:ext uri="{FF2B5EF4-FFF2-40B4-BE49-F238E27FC236}">
                  <a16:creationId xmlns:a16="http://schemas.microsoft.com/office/drawing/2014/main" id="{FA935C58-64A2-4E32-A77A-B7ED5470E635}"/>
                </a:ext>
              </a:extLst>
            </p:cNvPr>
            <p:cNvCxnSpPr>
              <a:cxnSpLocks/>
            </p:cNvCxnSpPr>
            <p:nvPr/>
          </p:nvCxnSpPr>
          <p:spPr>
            <a:xfrm>
              <a:off x="1323539" y="5024763"/>
              <a:ext cx="416128"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481" name="Text Box 34">
              <a:extLst>
                <a:ext uri="{FF2B5EF4-FFF2-40B4-BE49-F238E27FC236}">
                  <a16:creationId xmlns:a16="http://schemas.microsoft.com/office/drawing/2014/main" id="{2DD46389-62F8-41D7-B8BF-B33E1362BEBC}"/>
                </a:ext>
              </a:extLst>
            </p:cNvPr>
            <p:cNvSpPr txBox="1">
              <a:spLocks noChangeArrowheads="1"/>
            </p:cNvSpPr>
            <p:nvPr/>
          </p:nvSpPr>
          <p:spPr bwMode="auto">
            <a:xfrm>
              <a:off x="1739667" y="4455228"/>
              <a:ext cx="1822979" cy="700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公共链路上的隧道</a:t>
              </a:r>
              <a:endParaRPr kumimoji="1" lang="en-US" altLang="zh-CN"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150000"/>
                </a:lnSpc>
                <a:spcBef>
                  <a:spcPct val="0"/>
                </a:spcBef>
                <a:spcAft>
                  <a:spcPct val="0"/>
                </a:spcAft>
                <a:buClrTx/>
                <a:buSzTx/>
                <a:buFontTx/>
                <a:buNone/>
                <a:tabLst/>
                <a:defRPr/>
              </a:pPr>
              <a:r>
                <a:rPr lang="zh-CN" altLang="en-US" sz="1400" dirty="0">
                  <a:solidFill>
                    <a:srgbClr val="000000"/>
                  </a:solidFill>
                  <a:latin typeface="微软雅黑" panose="020B0503020204020204" pitchFamily="34" charset="-122"/>
                  <a:ea typeface="微软雅黑" panose="020B0503020204020204" pitchFamily="34" charset="-122"/>
                </a:rPr>
                <a:t>专用链路</a:t>
              </a:r>
              <a:endPar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2087" name="任意多边形: 形状 2086">
            <a:extLst>
              <a:ext uri="{FF2B5EF4-FFF2-40B4-BE49-F238E27FC236}">
                <a16:creationId xmlns:a16="http://schemas.microsoft.com/office/drawing/2014/main" id="{349BBC43-A8C6-43F0-9A0B-7145F7741F3E}"/>
              </a:ext>
            </a:extLst>
          </p:cNvPr>
          <p:cNvSpPr/>
          <p:nvPr/>
        </p:nvSpPr>
        <p:spPr>
          <a:xfrm>
            <a:off x="7545259" y="2730837"/>
            <a:ext cx="1099948" cy="2394858"/>
          </a:xfrm>
          <a:custGeom>
            <a:avLst/>
            <a:gdLst>
              <a:gd name="connsiteX0" fmla="*/ 0 w 1403223"/>
              <a:gd name="connsiteY0" fmla="*/ 2473036 h 2473036"/>
              <a:gd name="connsiteX1" fmla="*/ 1350818 w 1403223"/>
              <a:gd name="connsiteY1" fmla="*/ 852055 h 2473036"/>
              <a:gd name="connsiteX2" fmla="*/ 997527 w 1403223"/>
              <a:gd name="connsiteY2" fmla="*/ 0 h 2473036"/>
            </a:gdLst>
            <a:ahLst/>
            <a:cxnLst>
              <a:cxn ang="0">
                <a:pos x="connsiteX0" y="connsiteY0"/>
              </a:cxn>
              <a:cxn ang="0">
                <a:pos x="connsiteX1" y="connsiteY1"/>
              </a:cxn>
              <a:cxn ang="0">
                <a:pos x="connsiteX2" y="connsiteY2"/>
              </a:cxn>
            </a:cxnLst>
            <a:rect l="l" t="t" r="r" b="b"/>
            <a:pathLst>
              <a:path w="1403223" h="2473036">
                <a:moveTo>
                  <a:pt x="0" y="2473036"/>
                </a:moveTo>
                <a:cubicBezTo>
                  <a:pt x="592282" y="1868632"/>
                  <a:pt x="1184564" y="1264228"/>
                  <a:pt x="1350818" y="852055"/>
                </a:cubicBezTo>
                <a:cubicBezTo>
                  <a:pt x="1517072" y="439882"/>
                  <a:pt x="1257299" y="219941"/>
                  <a:pt x="997527" y="0"/>
                </a:cubicBezTo>
              </a:path>
            </a:pathLst>
          </a:custGeom>
          <a:noFill/>
          <a:ln w="190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8" name="任意多边形: 形状 2087">
            <a:extLst>
              <a:ext uri="{FF2B5EF4-FFF2-40B4-BE49-F238E27FC236}">
                <a16:creationId xmlns:a16="http://schemas.microsoft.com/office/drawing/2014/main" id="{EF101F3A-CC16-45E5-92B2-F18DF1CEAF64}"/>
              </a:ext>
            </a:extLst>
          </p:cNvPr>
          <p:cNvSpPr/>
          <p:nvPr/>
        </p:nvSpPr>
        <p:spPr>
          <a:xfrm>
            <a:off x="7602179" y="2346373"/>
            <a:ext cx="2126710" cy="2722551"/>
          </a:xfrm>
          <a:custGeom>
            <a:avLst/>
            <a:gdLst>
              <a:gd name="connsiteX0" fmla="*/ 0 w 2393387"/>
              <a:gd name="connsiteY0" fmla="*/ 2878282 h 2878282"/>
              <a:gd name="connsiteX1" fmla="*/ 2067791 w 2393387"/>
              <a:gd name="connsiteY1" fmla="*/ 862446 h 2878282"/>
              <a:gd name="connsiteX2" fmla="*/ 2358736 w 2393387"/>
              <a:gd name="connsiteY2" fmla="*/ 0 h 2878282"/>
            </a:gdLst>
            <a:ahLst/>
            <a:cxnLst>
              <a:cxn ang="0">
                <a:pos x="connsiteX0" y="connsiteY0"/>
              </a:cxn>
              <a:cxn ang="0">
                <a:pos x="connsiteX1" y="connsiteY1"/>
              </a:cxn>
              <a:cxn ang="0">
                <a:pos x="connsiteX2" y="connsiteY2"/>
              </a:cxn>
            </a:cxnLst>
            <a:rect l="l" t="t" r="r" b="b"/>
            <a:pathLst>
              <a:path w="2393387" h="2878282">
                <a:moveTo>
                  <a:pt x="0" y="2878282"/>
                </a:moveTo>
                <a:cubicBezTo>
                  <a:pt x="837334" y="2110221"/>
                  <a:pt x="1674668" y="1342160"/>
                  <a:pt x="2067791" y="862446"/>
                </a:cubicBezTo>
                <a:cubicBezTo>
                  <a:pt x="2460914" y="382732"/>
                  <a:pt x="2409825" y="191366"/>
                  <a:pt x="2358736" y="0"/>
                </a:cubicBezTo>
              </a:path>
            </a:pathLst>
          </a:custGeom>
          <a:noFill/>
          <a:ln w="190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9" name="任意多边形: 形状 2088">
            <a:extLst>
              <a:ext uri="{FF2B5EF4-FFF2-40B4-BE49-F238E27FC236}">
                <a16:creationId xmlns:a16="http://schemas.microsoft.com/office/drawing/2014/main" id="{67C89CD6-7F97-493F-92AF-AC1D5EE65781}"/>
              </a:ext>
            </a:extLst>
          </p:cNvPr>
          <p:cNvSpPr/>
          <p:nvPr/>
        </p:nvSpPr>
        <p:spPr>
          <a:xfrm>
            <a:off x="7629109" y="2502237"/>
            <a:ext cx="3665329" cy="2623458"/>
          </a:xfrm>
          <a:custGeom>
            <a:avLst/>
            <a:gdLst>
              <a:gd name="connsiteX0" fmla="*/ 0 w 3875809"/>
              <a:gd name="connsiteY0" fmla="*/ 2784764 h 2784764"/>
              <a:gd name="connsiteX1" fmla="*/ 2587337 w 3875809"/>
              <a:gd name="connsiteY1" fmla="*/ 581891 h 2784764"/>
              <a:gd name="connsiteX2" fmla="*/ 3875809 w 3875809"/>
              <a:gd name="connsiteY2" fmla="*/ 0 h 2784764"/>
            </a:gdLst>
            <a:ahLst/>
            <a:cxnLst>
              <a:cxn ang="0">
                <a:pos x="connsiteX0" y="connsiteY0"/>
              </a:cxn>
              <a:cxn ang="0">
                <a:pos x="connsiteX1" y="connsiteY1"/>
              </a:cxn>
              <a:cxn ang="0">
                <a:pos x="connsiteX2" y="connsiteY2"/>
              </a:cxn>
            </a:cxnLst>
            <a:rect l="l" t="t" r="r" b="b"/>
            <a:pathLst>
              <a:path w="3875809" h="2784764">
                <a:moveTo>
                  <a:pt x="0" y="2784764"/>
                </a:moveTo>
                <a:cubicBezTo>
                  <a:pt x="970684" y="1915391"/>
                  <a:pt x="1941369" y="1046018"/>
                  <a:pt x="2587337" y="581891"/>
                </a:cubicBezTo>
                <a:cubicBezTo>
                  <a:pt x="3233305" y="117764"/>
                  <a:pt x="3554557" y="58882"/>
                  <a:pt x="3875809" y="0"/>
                </a:cubicBezTo>
              </a:path>
            </a:pathLst>
          </a:custGeom>
          <a:noFill/>
          <a:ln w="190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日期占位符 2">
            <a:extLst>
              <a:ext uri="{FF2B5EF4-FFF2-40B4-BE49-F238E27FC236}">
                <a16:creationId xmlns:a16="http://schemas.microsoft.com/office/drawing/2014/main" id="{2D4AE752-4983-441B-9E9F-0BEF2B4575A9}"/>
              </a:ext>
            </a:extLst>
          </p:cNvPr>
          <p:cNvSpPr>
            <a:spLocks noGrp="1"/>
          </p:cNvSpPr>
          <p:nvPr>
            <p:ph type="dt" sz="half" idx="10"/>
          </p:nvPr>
        </p:nvSpPr>
        <p:spPr/>
        <p:txBody>
          <a:bodyPr/>
          <a:lstStyle/>
          <a:p>
            <a:r>
              <a:rPr kumimoji="1" lang="en-US" altLang="zh-CN" dirty="0"/>
              <a:t>5.10.2 VPN</a:t>
            </a:r>
            <a:r>
              <a:rPr kumimoji="1" lang="zh-CN" altLang="en-US" dirty="0"/>
              <a:t>技术</a:t>
            </a:r>
          </a:p>
        </p:txBody>
      </p:sp>
      <p:pic>
        <p:nvPicPr>
          <p:cNvPr id="103" name="Picture 28" descr="015">
            <a:extLst>
              <a:ext uri="{FF2B5EF4-FFF2-40B4-BE49-F238E27FC236}">
                <a16:creationId xmlns:a16="http://schemas.microsoft.com/office/drawing/2014/main" id="{CAF5EEDE-BB86-4B7B-A12B-903F292161D2}"/>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36799574"/>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lstStyle/>
          <a:p>
            <a:r>
              <a:rPr kumimoji="1" lang="en-US" altLang="zh-CN" dirty="0"/>
              <a:t>VPN</a:t>
            </a:r>
            <a:r>
              <a:rPr kumimoji="1" lang="zh-CN" altLang="en-US" dirty="0"/>
              <a:t>的原理</a:t>
            </a:r>
          </a:p>
        </p:txBody>
      </p:sp>
      <p:sp>
        <p:nvSpPr>
          <p:cNvPr id="3" name="内容占位符 2">
            <a:extLst>
              <a:ext uri="{FF2B5EF4-FFF2-40B4-BE49-F238E27FC236}">
                <a16:creationId xmlns:a16="http://schemas.microsoft.com/office/drawing/2014/main" id="{EF3F4F3D-A29F-C542-9C8A-E338A2E76276}"/>
              </a:ext>
            </a:extLst>
          </p:cNvPr>
          <p:cNvSpPr>
            <a:spLocks noGrp="1"/>
          </p:cNvSpPr>
          <p:nvPr>
            <p:ph idx="1"/>
          </p:nvPr>
        </p:nvSpPr>
        <p:spPr>
          <a:xfrm>
            <a:off x="811876" y="1427179"/>
            <a:ext cx="10586951" cy="5248662"/>
          </a:xfrm>
        </p:spPr>
        <p:txBody>
          <a:bodyPr>
            <a:normAutofit/>
          </a:bodyPr>
          <a:lstStyle/>
          <a:p>
            <a:r>
              <a:rPr lang="en-US" altLang="zh-CN" sz="2400" dirty="0"/>
              <a:t>VPN</a:t>
            </a:r>
            <a:r>
              <a:rPr lang="zh-CN" altLang="en-US" sz="2400" dirty="0"/>
              <a:t>指利用公用网络架设专用网络的远程访问技术</a:t>
            </a:r>
            <a:endParaRPr lang="en-US" altLang="zh-CN" sz="2400" dirty="0"/>
          </a:p>
          <a:p>
            <a:r>
              <a:rPr lang="en-US" altLang="zh-CN" sz="2400" dirty="0"/>
              <a:t>VPN</a:t>
            </a:r>
            <a:r>
              <a:rPr lang="zh-CN" altLang="en-US" sz="2400" dirty="0"/>
              <a:t>通过隧道技术在公共网络上模拟出一条点到点的逻辑专线，从而达到安全数据传输的目的</a:t>
            </a:r>
          </a:p>
        </p:txBody>
      </p:sp>
      <p:grpSp>
        <p:nvGrpSpPr>
          <p:cNvPr id="197" name="组合 196">
            <a:extLst>
              <a:ext uri="{FF2B5EF4-FFF2-40B4-BE49-F238E27FC236}">
                <a16:creationId xmlns:a16="http://schemas.microsoft.com/office/drawing/2014/main" id="{6BA78B96-8164-4620-94C9-DB4BA8177D06}"/>
              </a:ext>
            </a:extLst>
          </p:cNvPr>
          <p:cNvGrpSpPr/>
          <p:nvPr/>
        </p:nvGrpSpPr>
        <p:grpSpPr>
          <a:xfrm>
            <a:off x="9619167" y="3570034"/>
            <a:ext cx="1338851" cy="1485573"/>
            <a:chOff x="6476168" y="1753752"/>
            <a:chExt cx="1168918" cy="1200192"/>
          </a:xfrm>
        </p:grpSpPr>
        <p:grpSp>
          <p:nvGrpSpPr>
            <p:cNvPr id="198" name="Group 65">
              <a:extLst>
                <a:ext uri="{FF2B5EF4-FFF2-40B4-BE49-F238E27FC236}">
                  <a16:creationId xmlns:a16="http://schemas.microsoft.com/office/drawing/2014/main" id="{7226AB23-B53C-4726-BBB7-380C7A2600C6}"/>
                </a:ext>
              </a:extLst>
            </p:cNvPr>
            <p:cNvGrpSpPr>
              <a:grpSpLocks/>
            </p:cNvGrpSpPr>
            <p:nvPr/>
          </p:nvGrpSpPr>
          <p:grpSpPr bwMode="auto">
            <a:xfrm>
              <a:off x="6476168" y="1933292"/>
              <a:ext cx="1168918" cy="822867"/>
              <a:chOff x="4656" y="1528"/>
              <a:chExt cx="1070" cy="816"/>
            </a:xfrm>
          </p:grpSpPr>
          <p:sp>
            <p:nvSpPr>
              <p:cNvPr id="202" name="Line 66">
                <a:extLst>
                  <a:ext uri="{FF2B5EF4-FFF2-40B4-BE49-F238E27FC236}">
                    <a16:creationId xmlns:a16="http://schemas.microsoft.com/office/drawing/2014/main" id="{E5D5A43C-29B2-46A3-8949-54D57FE54103}"/>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3" name="Line 67">
                <a:extLst>
                  <a:ext uri="{FF2B5EF4-FFF2-40B4-BE49-F238E27FC236}">
                    <a16:creationId xmlns:a16="http://schemas.microsoft.com/office/drawing/2014/main" id="{B4AD8058-09CC-4CAF-BEE0-CE9DF971F30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4" name="Line 68">
                <a:extLst>
                  <a:ext uri="{FF2B5EF4-FFF2-40B4-BE49-F238E27FC236}">
                    <a16:creationId xmlns:a16="http://schemas.microsoft.com/office/drawing/2014/main" id="{93626002-427D-4CD0-B644-23FB4A8B18E6}"/>
                  </a:ext>
                </a:extLst>
              </p:cNvPr>
              <p:cNvSpPr>
                <a:spLocks noChangeShapeType="1"/>
              </p:cNvSpPr>
              <p:nvPr/>
            </p:nvSpPr>
            <p:spPr bwMode="auto">
              <a:xfrm flipH="1">
                <a:off x="4744" y="1528"/>
                <a:ext cx="296" cy="14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5" name="Text Box 70">
                <a:extLst>
                  <a:ext uri="{FF2B5EF4-FFF2-40B4-BE49-F238E27FC236}">
                    <a16:creationId xmlns:a16="http://schemas.microsoft.com/office/drawing/2014/main" id="{E09C8CA4-DFC9-4978-9000-32755FC5D93F}"/>
                  </a:ext>
                </a:extLst>
              </p:cNvPr>
              <p:cNvSpPr txBox="1">
                <a:spLocks noChangeArrowheads="1"/>
              </p:cNvSpPr>
              <p:nvPr/>
            </p:nvSpPr>
            <p:spPr bwMode="auto">
              <a:xfrm>
                <a:off x="5316" y="1729"/>
                <a:ext cx="241"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206" name="Text Box 71">
                <a:extLst>
                  <a:ext uri="{FF2B5EF4-FFF2-40B4-BE49-F238E27FC236}">
                    <a16:creationId xmlns:a16="http://schemas.microsoft.com/office/drawing/2014/main" id="{7BDAA9A4-B22E-482D-AA56-CA6354859FEC}"/>
                  </a:ext>
                </a:extLst>
              </p:cNvPr>
              <p:cNvSpPr txBox="1">
                <a:spLocks noChangeArrowheads="1"/>
              </p:cNvSpPr>
              <p:nvPr/>
            </p:nvSpPr>
            <p:spPr bwMode="auto">
              <a:xfrm>
                <a:off x="4798" y="1955"/>
                <a:ext cx="92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CC00CC"/>
                    </a:solidFill>
                    <a:latin typeface="微软雅黑" pitchFamily="34" charset="-122"/>
                    <a:ea typeface="微软雅黑" pitchFamily="34" charset="-122"/>
                  </a:rPr>
                  <a:t>192.168.1.3</a:t>
                </a:r>
              </a:p>
            </p:txBody>
          </p:sp>
        </p:grpSp>
        <p:pic>
          <p:nvPicPr>
            <p:cNvPr id="199" name="Picture 246" descr="jisuanji">
              <a:extLst>
                <a:ext uri="{FF2B5EF4-FFF2-40B4-BE49-F238E27FC236}">
                  <a16:creationId xmlns:a16="http://schemas.microsoft.com/office/drawing/2014/main" id="{4CD01802-9BCE-4942-8F4C-60E8E90200D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0" name="Picture 246" descr="jisuanji">
              <a:extLst>
                <a:ext uri="{FF2B5EF4-FFF2-40B4-BE49-F238E27FC236}">
                  <a16:creationId xmlns:a16="http://schemas.microsoft.com/office/drawing/2014/main" id="{FAEF29B1-FB5F-4207-81E1-3BC9C8C67C5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1" name="Picture 246" descr="jisuanji">
              <a:extLst>
                <a:ext uri="{FF2B5EF4-FFF2-40B4-BE49-F238E27FC236}">
                  <a16:creationId xmlns:a16="http://schemas.microsoft.com/office/drawing/2014/main" id="{F8BDF833-5241-4D05-B404-C0309F7137C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07" name="组合 206">
            <a:extLst>
              <a:ext uri="{FF2B5EF4-FFF2-40B4-BE49-F238E27FC236}">
                <a16:creationId xmlns:a16="http://schemas.microsoft.com/office/drawing/2014/main" id="{01EBE2E2-6D24-41B5-B398-773583C69BFD}"/>
              </a:ext>
            </a:extLst>
          </p:cNvPr>
          <p:cNvGrpSpPr/>
          <p:nvPr/>
        </p:nvGrpSpPr>
        <p:grpSpPr>
          <a:xfrm>
            <a:off x="854546" y="3440365"/>
            <a:ext cx="1536558" cy="1597460"/>
            <a:chOff x="1060915" y="1735816"/>
            <a:chExt cx="1341528" cy="1290585"/>
          </a:xfrm>
        </p:grpSpPr>
        <p:grpSp>
          <p:nvGrpSpPr>
            <p:cNvPr id="208" name="Group 2">
              <a:extLst>
                <a:ext uri="{FF2B5EF4-FFF2-40B4-BE49-F238E27FC236}">
                  <a16:creationId xmlns:a16="http://schemas.microsoft.com/office/drawing/2014/main" id="{CCFBA41F-8C6F-45C0-AF41-4C02CE9D8C57}"/>
                </a:ext>
              </a:extLst>
            </p:cNvPr>
            <p:cNvGrpSpPr>
              <a:grpSpLocks/>
            </p:cNvGrpSpPr>
            <p:nvPr/>
          </p:nvGrpSpPr>
          <p:grpSpPr bwMode="auto">
            <a:xfrm>
              <a:off x="1060915" y="1981695"/>
              <a:ext cx="1341528" cy="848077"/>
              <a:chOff x="-301" y="1576"/>
              <a:chExt cx="1228" cy="841"/>
            </a:xfrm>
          </p:grpSpPr>
          <p:sp>
            <p:nvSpPr>
              <p:cNvPr id="212" name="Line 3">
                <a:extLst>
                  <a:ext uri="{FF2B5EF4-FFF2-40B4-BE49-F238E27FC236}">
                    <a16:creationId xmlns:a16="http://schemas.microsoft.com/office/drawing/2014/main" id="{8F989353-5171-4813-A769-C2F29EB8BF43}"/>
                  </a:ext>
                </a:extLst>
              </p:cNvPr>
              <p:cNvSpPr>
                <a:spLocks noChangeShapeType="1"/>
              </p:cNvSpPr>
              <p:nvPr/>
            </p:nvSpPr>
            <p:spPr bwMode="auto">
              <a:xfrm flipV="1">
                <a:off x="665" y="2166"/>
                <a:ext cx="262" cy="251"/>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3" name="Line 4">
                <a:extLst>
                  <a:ext uri="{FF2B5EF4-FFF2-40B4-BE49-F238E27FC236}">
                    <a16:creationId xmlns:a16="http://schemas.microsoft.com/office/drawing/2014/main" id="{533BC560-0EFA-40A7-8703-ED0A6526BD59}"/>
                  </a:ext>
                </a:extLst>
              </p:cNvPr>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4" name="Line 5">
                <a:extLst>
                  <a:ext uri="{FF2B5EF4-FFF2-40B4-BE49-F238E27FC236}">
                    <a16:creationId xmlns:a16="http://schemas.microsoft.com/office/drawing/2014/main" id="{E9C0C8B2-CD5C-4041-9FE9-81A30215234F}"/>
                  </a:ext>
                </a:extLst>
              </p:cNvPr>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5" name="Text Box 7">
                <a:extLst>
                  <a:ext uri="{FF2B5EF4-FFF2-40B4-BE49-F238E27FC236}">
                    <a16:creationId xmlns:a16="http://schemas.microsoft.com/office/drawing/2014/main" id="{9C263610-97FE-4726-885D-F54EC581C244}"/>
                  </a:ext>
                </a:extLst>
              </p:cNvPr>
              <p:cNvSpPr txBox="1">
                <a:spLocks noChangeArrowheads="1"/>
              </p:cNvSpPr>
              <p:nvPr/>
            </p:nvSpPr>
            <p:spPr bwMode="auto">
              <a:xfrm>
                <a:off x="-11" y="1748"/>
                <a:ext cx="327"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X</a:t>
                </a:r>
              </a:p>
            </p:txBody>
          </p:sp>
          <p:sp>
            <p:nvSpPr>
              <p:cNvPr id="216" name="Text Box 8">
                <a:extLst>
                  <a:ext uri="{FF2B5EF4-FFF2-40B4-BE49-F238E27FC236}">
                    <a16:creationId xmlns:a16="http://schemas.microsoft.com/office/drawing/2014/main" id="{CC9095A4-A29D-4883-899D-D806EF974E21}"/>
                  </a:ext>
                </a:extLst>
              </p:cNvPr>
              <p:cNvSpPr txBox="1">
                <a:spLocks noChangeArrowheads="1"/>
              </p:cNvSpPr>
              <p:nvPr/>
            </p:nvSpPr>
            <p:spPr bwMode="auto">
              <a:xfrm>
                <a:off x="-301" y="2065"/>
                <a:ext cx="843"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BB159B"/>
                    </a:solidFill>
                    <a:latin typeface="微软雅黑" pitchFamily="34" charset="-122"/>
                    <a:ea typeface="微软雅黑" pitchFamily="34" charset="-122"/>
                  </a:rPr>
                  <a:t>172.16.0.3</a:t>
                </a:r>
              </a:p>
            </p:txBody>
          </p:sp>
        </p:grpSp>
        <p:pic>
          <p:nvPicPr>
            <p:cNvPr id="209" name="Picture 246" descr="jisuanji">
              <a:extLst>
                <a:ext uri="{FF2B5EF4-FFF2-40B4-BE49-F238E27FC236}">
                  <a16:creationId xmlns:a16="http://schemas.microsoft.com/office/drawing/2014/main" id="{3E1DDE4F-DAE9-4E4F-8E92-279DF0F96E3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0" name="Picture 246" descr="jisuanji">
              <a:extLst>
                <a:ext uri="{FF2B5EF4-FFF2-40B4-BE49-F238E27FC236}">
                  <a16:creationId xmlns:a16="http://schemas.microsoft.com/office/drawing/2014/main" id="{20C35ABA-7286-453F-BCF3-D388C0983B4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1" name="Picture 246" descr="jisuanji">
              <a:extLst>
                <a:ext uri="{FF2B5EF4-FFF2-40B4-BE49-F238E27FC236}">
                  <a16:creationId xmlns:a16="http://schemas.microsoft.com/office/drawing/2014/main" id="{91197EBC-D062-406C-8C85-FC8B925BFF2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59206"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17" name="Group 12">
            <a:extLst>
              <a:ext uri="{FF2B5EF4-FFF2-40B4-BE49-F238E27FC236}">
                <a16:creationId xmlns:a16="http://schemas.microsoft.com/office/drawing/2014/main" id="{8557448D-3F95-4B4E-A589-25DCE0EEF369}"/>
              </a:ext>
            </a:extLst>
          </p:cNvPr>
          <p:cNvGrpSpPr>
            <a:grpSpLocks/>
          </p:cNvGrpSpPr>
          <p:nvPr/>
        </p:nvGrpSpPr>
        <p:grpSpPr bwMode="auto">
          <a:xfrm>
            <a:off x="2087746" y="3706622"/>
            <a:ext cx="1452965" cy="963607"/>
            <a:chOff x="385" y="2795"/>
            <a:chExt cx="1769" cy="816"/>
          </a:xfrm>
          <a:solidFill>
            <a:schemeClr val="accent6">
              <a:lumMod val="20000"/>
              <a:lumOff val="80000"/>
            </a:schemeClr>
          </a:solidFill>
        </p:grpSpPr>
        <p:sp>
          <p:nvSpPr>
            <p:cNvPr id="218" name="Oval 13">
              <a:extLst>
                <a:ext uri="{FF2B5EF4-FFF2-40B4-BE49-F238E27FC236}">
                  <a16:creationId xmlns:a16="http://schemas.microsoft.com/office/drawing/2014/main" id="{2AA96533-9A6A-4925-9012-5E3EFA5A4E10}"/>
                </a:ext>
              </a:extLst>
            </p:cNvPr>
            <p:cNvSpPr>
              <a:spLocks noChangeArrowheads="1"/>
            </p:cNvSpPr>
            <p:nvPr/>
          </p:nvSpPr>
          <p:spPr bwMode="auto">
            <a:xfrm>
              <a:off x="1589" y="3060"/>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19" name="Oval 14">
              <a:extLst>
                <a:ext uri="{FF2B5EF4-FFF2-40B4-BE49-F238E27FC236}">
                  <a16:creationId xmlns:a16="http://schemas.microsoft.com/office/drawing/2014/main" id="{5583F31B-4F10-4B11-8A83-18B71A89BB9F}"/>
                </a:ext>
              </a:extLst>
            </p:cNvPr>
            <p:cNvSpPr>
              <a:spLocks noChangeArrowheads="1"/>
            </p:cNvSpPr>
            <p:nvPr/>
          </p:nvSpPr>
          <p:spPr bwMode="auto">
            <a:xfrm>
              <a:off x="928" y="3274"/>
              <a:ext cx="884" cy="33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0" name="Oval 15">
              <a:extLst>
                <a:ext uri="{FF2B5EF4-FFF2-40B4-BE49-F238E27FC236}">
                  <a16:creationId xmlns:a16="http://schemas.microsoft.com/office/drawing/2014/main" id="{733B964B-E462-46BA-B8C7-85E30ED9B38C}"/>
                </a:ext>
              </a:extLst>
            </p:cNvPr>
            <p:cNvSpPr>
              <a:spLocks noChangeArrowheads="1"/>
            </p:cNvSpPr>
            <p:nvPr/>
          </p:nvSpPr>
          <p:spPr bwMode="auto">
            <a:xfrm>
              <a:off x="502" y="3204"/>
              <a:ext cx="586" cy="28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1" name="Oval 16">
              <a:extLst>
                <a:ext uri="{FF2B5EF4-FFF2-40B4-BE49-F238E27FC236}">
                  <a16:creationId xmlns:a16="http://schemas.microsoft.com/office/drawing/2014/main" id="{DE43520C-3082-4191-81F9-AD285EDDA80B}"/>
                </a:ext>
              </a:extLst>
            </p:cNvPr>
            <p:cNvSpPr>
              <a:spLocks noChangeArrowheads="1"/>
            </p:cNvSpPr>
            <p:nvPr/>
          </p:nvSpPr>
          <p:spPr bwMode="auto">
            <a:xfrm>
              <a:off x="385" y="3084"/>
              <a:ext cx="384"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2" name="Oval 17">
              <a:extLst>
                <a:ext uri="{FF2B5EF4-FFF2-40B4-BE49-F238E27FC236}">
                  <a16:creationId xmlns:a16="http://schemas.microsoft.com/office/drawing/2014/main" id="{638B717F-C215-489F-9CB9-569A8363052C}"/>
                </a:ext>
              </a:extLst>
            </p:cNvPr>
            <p:cNvSpPr>
              <a:spLocks noChangeArrowheads="1"/>
            </p:cNvSpPr>
            <p:nvPr/>
          </p:nvSpPr>
          <p:spPr bwMode="auto">
            <a:xfrm>
              <a:off x="566" y="2883"/>
              <a:ext cx="57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3" name="Oval 18">
              <a:extLst>
                <a:ext uri="{FF2B5EF4-FFF2-40B4-BE49-F238E27FC236}">
                  <a16:creationId xmlns:a16="http://schemas.microsoft.com/office/drawing/2014/main" id="{F17782CC-2D12-4780-8340-0052C6690484}"/>
                </a:ext>
              </a:extLst>
            </p:cNvPr>
            <p:cNvSpPr>
              <a:spLocks noChangeArrowheads="1"/>
            </p:cNvSpPr>
            <p:nvPr/>
          </p:nvSpPr>
          <p:spPr bwMode="auto">
            <a:xfrm>
              <a:off x="992" y="2795"/>
              <a:ext cx="757"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4" name="Oval 19">
              <a:extLst>
                <a:ext uri="{FF2B5EF4-FFF2-40B4-BE49-F238E27FC236}">
                  <a16:creationId xmlns:a16="http://schemas.microsoft.com/office/drawing/2014/main" id="{22C9B977-53CF-4B73-A3C0-0B133098253D}"/>
                </a:ext>
              </a:extLst>
            </p:cNvPr>
            <p:cNvSpPr>
              <a:spLocks noChangeArrowheads="1"/>
            </p:cNvSpPr>
            <p:nvPr/>
          </p:nvSpPr>
          <p:spPr bwMode="auto">
            <a:xfrm>
              <a:off x="1504" y="2891"/>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5" name="Oval 20">
              <a:extLst>
                <a:ext uri="{FF2B5EF4-FFF2-40B4-BE49-F238E27FC236}">
                  <a16:creationId xmlns:a16="http://schemas.microsoft.com/office/drawing/2014/main" id="{478E04DD-7A38-412B-B086-56566C07047E}"/>
                </a:ext>
              </a:extLst>
            </p:cNvPr>
            <p:cNvSpPr>
              <a:spLocks noChangeArrowheads="1"/>
            </p:cNvSpPr>
            <p:nvPr/>
          </p:nvSpPr>
          <p:spPr bwMode="auto">
            <a:xfrm>
              <a:off x="704" y="2987"/>
              <a:ext cx="1141" cy="41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6" name="Oval 21">
              <a:extLst>
                <a:ext uri="{FF2B5EF4-FFF2-40B4-BE49-F238E27FC236}">
                  <a16:creationId xmlns:a16="http://schemas.microsoft.com/office/drawing/2014/main" id="{D9E9E8B8-8272-44D0-9B1A-B4A76B4011AF}"/>
                </a:ext>
              </a:extLst>
            </p:cNvPr>
            <p:cNvSpPr>
              <a:spLocks noChangeArrowheads="1"/>
            </p:cNvSpPr>
            <p:nvPr/>
          </p:nvSpPr>
          <p:spPr bwMode="auto">
            <a:xfrm rot="1336630">
              <a:off x="1474" y="3067"/>
              <a:ext cx="555"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7" name="Oval 22">
              <a:extLst>
                <a:ext uri="{FF2B5EF4-FFF2-40B4-BE49-F238E27FC236}">
                  <a16:creationId xmlns:a16="http://schemas.microsoft.com/office/drawing/2014/main" id="{05F4EF58-E147-48A0-8F77-B3517670AE16}"/>
                </a:ext>
              </a:extLst>
            </p:cNvPr>
            <p:cNvSpPr>
              <a:spLocks noChangeArrowheads="1"/>
            </p:cNvSpPr>
            <p:nvPr/>
          </p:nvSpPr>
          <p:spPr bwMode="auto">
            <a:xfrm>
              <a:off x="1004" y="2811"/>
              <a:ext cx="75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8" name="Oval 23">
              <a:extLst>
                <a:ext uri="{FF2B5EF4-FFF2-40B4-BE49-F238E27FC236}">
                  <a16:creationId xmlns:a16="http://schemas.microsoft.com/office/drawing/2014/main" id="{200F1FC2-0EA0-4309-B5A8-10D504F50395}"/>
                </a:ext>
              </a:extLst>
            </p:cNvPr>
            <p:cNvSpPr>
              <a:spLocks noChangeArrowheads="1"/>
            </p:cNvSpPr>
            <p:nvPr/>
          </p:nvSpPr>
          <p:spPr bwMode="auto">
            <a:xfrm>
              <a:off x="577" y="2899"/>
              <a:ext cx="575" cy="320"/>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9" name="Oval 24">
              <a:extLst>
                <a:ext uri="{FF2B5EF4-FFF2-40B4-BE49-F238E27FC236}">
                  <a16:creationId xmlns:a16="http://schemas.microsoft.com/office/drawing/2014/main" id="{0440E371-8728-4B60-80E7-1406C3ED08A5}"/>
                </a:ext>
              </a:extLst>
            </p:cNvPr>
            <p:cNvSpPr>
              <a:spLocks noChangeArrowheads="1"/>
            </p:cNvSpPr>
            <p:nvPr/>
          </p:nvSpPr>
          <p:spPr bwMode="auto">
            <a:xfrm>
              <a:off x="396" y="3100"/>
              <a:ext cx="383"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0" name="Oval 25">
              <a:extLst>
                <a:ext uri="{FF2B5EF4-FFF2-40B4-BE49-F238E27FC236}">
                  <a16:creationId xmlns:a16="http://schemas.microsoft.com/office/drawing/2014/main" id="{C33B9C1E-1054-491D-84E1-010FF9758E54}"/>
                </a:ext>
              </a:extLst>
            </p:cNvPr>
            <p:cNvSpPr>
              <a:spLocks noChangeArrowheads="1"/>
            </p:cNvSpPr>
            <p:nvPr/>
          </p:nvSpPr>
          <p:spPr bwMode="auto">
            <a:xfrm>
              <a:off x="1515" y="2908"/>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1" name="Oval 26">
              <a:extLst>
                <a:ext uri="{FF2B5EF4-FFF2-40B4-BE49-F238E27FC236}">
                  <a16:creationId xmlns:a16="http://schemas.microsoft.com/office/drawing/2014/main" id="{79D60E3F-C031-444C-9352-C102F2D0B26E}"/>
                </a:ext>
              </a:extLst>
            </p:cNvPr>
            <p:cNvSpPr>
              <a:spLocks noChangeArrowheads="1"/>
            </p:cNvSpPr>
            <p:nvPr/>
          </p:nvSpPr>
          <p:spPr bwMode="auto">
            <a:xfrm>
              <a:off x="1599" y="3075"/>
              <a:ext cx="555" cy="249"/>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2" name="Oval 27">
              <a:extLst>
                <a:ext uri="{FF2B5EF4-FFF2-40B4-BE49-F238E27FC236}">
                  <a16:creationId xmlns:a16="http://schemas.microsoft.com/office/drawing/2014/main" id="{0F8DCF45-7FD7-4313-BD5F-A40CC5B3C49C}"/>
                </a:ext>
              </a:extLst>
            </p:cNvPr>
            <p:cNvSpPr>
              <a:spLocks noChangeArrowheads="1"/>
            </p:cNvSpPr>
            <p:nvPr/>
          </p:nvSpPr>
          <p:spPr bwMode="auto">
            <a:xfrm>
              <a:off x="715" y="3003"/>
              <a:ext cx="1141"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3" name="Oval 28">
              <a:extLst>
                <a:ext uri="{FF2B5EF4-FFF2-40B4-BE49-F238E27FC236}">
                  <a16:creationId xmlns:a16="http://schemas.microsoft.com/office/drawing/2014/main" id="{E628B1EB-EED5-4CB4-9754-14CA83343B2B}"/>
                </a:ext>
              </a:extLst>
            </p:cNvPr>
            <p:cNvSpPr>
              <a:spLocks noChangeArrowheads="1"/>
            </p:cNvSpPr>
            <p:nvPr/>
          </p:nvSpPr>
          <p:spPr bwMode="auto">
            <a:xfrm>
              <a:off x="513" y="3219"/>
              <a:ext cx="586" cy="282"/>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4" name="Freeform 29">
              <a:extLst>
                <a:ext uri="{FF2B5EF4-FFF2-40B4-BE49-F238E27FC236}">
                  <a16:creationId xmlns:a16="http://schemas.microsoft.com/office/drawing/2014/main" id="{B7DD7EFF-49E8-4634-8EF8-8029D4CC67F9}"/>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235" name="Group 30">
            <a:extLst>
              <a:ext uri="{FF2B5EF4-FFF2-40B4-BE49-F238E27FC236}">
                <a16:creationId xmlns:a16="http://schemas.microsoft.com/office/drawing/2014/main" id="{50E0A610-15E2-43E8-BCD8-3E1856BEF329}"/>
              </a:ext>
            </a:extLst>
          </p:cNvPr>
          <p:cNvGrpSpPr>
            <a:grpSpLocks/>
          </p:cNvGrpSpPr>
          <p:nvPr/>
        </p:nvGrpSpPr>
        <p:grpSpPr bwMode="auto">
          <a:xfrm>
            <a:off x="8219589" y="3783217"/>
            <a:ext cx="1635071" cy="963607"/>
            <a:chOff x="385" y="2795"/>
            <a:chExt cx="1769" cy="816"/>
          </a:xfrm>
          <a:solidFill>
            <a:schemeClr val="accent6">
              <a:lumMod val="20000"/>
              <a:lumOff val="80000"/>
            </a:schemeClr>
          </a:solidFill>
        </p:grpSpPr>
        <p:sp>
          <p:nvSpPr>
            <p:cNvPr id="236" name="Oval 31">
              <a:extLst>
                <a:ext uri="{FF2B5EF4-FFF2-40B4-BE49-F238E27FC236}">
                  <a16:creationId xmlns:a16="http://schemas.microsoft.com/office/drawing/2014/main" id="{FF5AD793-EFC7-48CA-8CCB-325C79AE7439}"/>
                </a:ext>
              </a:extLst>
            </p:cNvPr>
            <p:cNvSpPr>
              <a:spLocks noChangeArrowheads="1"/>
            </p:cNvSpPr>
            <p:nvPr/>
          </p:nvSpPr>
          <p:spPr bwMode="auto">
            <a:xfrm>
              <a:off x="1589" y="3060"/>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7" name="Oval 32">
              <a:extLst>
                <a:ext uri="{FF2B5EF4-FFF2-40B4-BE49-F238E27FC236}">
                  <a16:creationId xmlns:a16="http://schemas.microsoft.com/office/drawing/2014/main" id="{9F73C553-E06E-4DA8-BA09-84FE1A606D1B}"/>
                </a:ext>
              </a:extLst>
            </p:cNvPr>
            <p:cNvSpPr>
              <a:spLocks noChangeArrowheads="1"/>
            </p:cNvSpPr>
            <p:nvPr/>
          </p:nvSpPr>
          <p:spPr bwMode="auto">
            <a:xfrm>
              <a:off x="928" y="3274"/>
              <a:ext cx="884" cy="33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8" name="Oval 33">
              <a:extLst>
                <a:ext uri="{FF2B5EF4-FFF2-40B4-BE49-F238E27FC236}">
                  <a16:creationId xmlns:a16="http://schemas.microsoft.com/office/drawing/2014/main" id="{FDE356F3-BE97-4EDC-BAE1-A796335E5725}"/>
                </a:ext>
              </a:extLst>
            </p:cNvPr>
            <p:cNvSpPr>
              <a:spLocks noChangeArrowheads="1"/>
            </p:cNvSpPr>
            <p:nvPr/>
          </p:nvSpPr>
          <p:spPr bwMode="auto">
            <a:xfrm>
              <a:off x="502" y="3204"/>
              <a:ext cx="586" cy="28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9" name="Oval 34">
              <a:extLst>
                <a:ext uri="{FF2B5EF4-FFF2-40B4-BE49-F238E27FC236}">
                  <a16:creationId xmlns:a16="http://schemas.microsoft.com/office/drawing/2014/main" id="{4DD85630-F25B-4435-96D5-BB00F7D4EEC3}"/>
                </a:ext>
              </a:extLst>
            </p:cNvPr>
            <p:cNvSpPr>
              <a:spLocks noChangeArrowheads="1"/>
            </p:cNvSpPr>
            <p:nvPr/>
          </p:nvSpPr>
          <p:spPr bwMode="auto">
            <a:xfrm>
              <a:off x="385" y="3084"/>
              <a:ext cx="384"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0" name="Oval 35">
              <a:extLst>
                <a:ext uri="{FF2B5EF4-FFF2-40B4-BE49-F238E27FC236}">
                  <a16:creationId xmlns:a16="http://schemas.microsoft.com/office/drawing/2014/main" id="{470AC153-1E10-446D-92C4-E684856BD1EC}"/>
                </a:ext>
              </a:extLst>
            </p:cNvPr>
            <p:cNvSpPr>
              <a:spLocks noChangeArrowheads="1"/>
            </p:cNvSpPr>
            <p:nvPr/>
          </p:nvSpPr>
          <p:spPr bwMode="auto">
            <a:xfrm>
              <a:off x="566" y="2883"/>
              <a:ext cx="57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1" name="Oval 36">
              <a:extLst>
                <a:ext uri="{FF2B5EF4-FFF2-40B4-BE49-F238E27FC236}">
                  <a16:creationId xmlns:a16="http://schemas.microsoft.com/office/drawing/2014/main" id="{C76B93DA-1B28-4675-AAB9-D8D35E472743}"/>
                </a:ext>
              </a:extLst>
            </p:cNvPr>
            <p:cNvSpPr>
              <a:spLocks noChangeArrowheads="1"/>
            </p:cNvSpPr>
            <p:nvPr/>
          </p:nvSpPr>
          <p:spPr bwMode="auto">
            <a:xfrm>
              <a:off x="992" y="2795"/>
              <a:ext cx="757"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2" name="Oval 37">
              <a:extLst>
                <a:ext uri="{FF2B5EF4-FFF2-40B4-BE49-F238E27FC236}">
                  <a16:creationId xmlns:a16="http://schemas.microsoft.com/office/drawing/2014/main" id="{69DECBD1-687B-43B0-87A4-E424A751C83C}"/>
                </a:ext>
              </a:extLst>
            </p:cNvPr>
            <p:cNvSpPr>
              <a:spLocks noChangeArrowheads="1"/>
            </p:cNvSpPr>
            <p:nvPr/>
          </p:nvSpPr>
          <p:spPr bwMode="auto">
            <a:xfrm>
              <a:off x="1504" y="2891"/>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3" name="Oval 38">
              <a:extLst>
                <a:ext uri="{FF2B5EF4-FFF2-40B4-BE49-F238E27FC236}">
                  <a16:creationId xmlns:a16="http://schemas.microsoft.com/office/drawing/2014/main" id="{DBFA8D59-D239-40D1-A847-A8720C41A0E4}"/>
                </a:ext>
              </a:extLst>
            </p:cNvPr>
            <p:cNvSpPr>
              <a:spLocks noChangeArrowheads="1"/>
            </p:cNvSpPr>
            <p:nvPr/>
          </p:nvSpPr>
          <p:spPr bwMode="auto">
            <a:xfrm>
              <a:off x="704" y="2987"/>
              <a:ext cx="1141" cy="41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4" name="Oval 39">
              <a:extLst>
                <a:ext uri="{FF2B5EF4-FFF2-40B4-BE49-F238E27FC236}">
                  <a16:creationId xmlns:a16="http://schemas.microsoft.com/office/drawing/2014/main" id="{F3E67F87-FD0C-46AF-830B-3CAC0D86DAF6}"/>
                </a:ext>
              </a:extLst>
            </p:cNvPr>
            <p:cNvSpPr>
              <a:spLocks noChangeArrowheads="1"/>
            </p:cNvSpPr>
            <p:nvPr/>
          </p:nvSpPr>
          <p:spPr bwMode="auto">
            <a:xfrm rot="1336630">
              <a:off x="1474" y="3067"/>
              <a:ext cx="555"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5" name="Oval 40">
              <a:extLst>
                <a:ext uri="{FF2B5EF4-FFF2-40B4-BE49-F238E27FC236}">
                  <a16:creationId xmlns:a16="http://schemas.microsoft.com/office/drawing/2014/main" id="{BA402EB0-3526-405C-B573-50C4CFE580EF}"/>
                </a:ext>
              </a:extLst>
            </p:cNvPr>
            <p:cNvSpPr>
              <a:spLocks noChangeArrowheads="1"/>
            </p:cNvSpPr>
            <p:nvPr/>
          </p:nvSpPr>
          <p:spPr bwMode="auto">
            <a:xfrm>
              <a:off x="1004" y="2811"/>
              <a:ext cx="75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6" name="Oval 41">
              <a:extLst>
                <a:ext uri="{FF2B5EF4-FFF2-40B4-BE49-F238E27FC236}">
                  <a16:creationId xmlns:a16="http://schemas.microsoft.com/office/drawing/2014/main" id="{BDF617F5-8634-475C-8A6D-AC29620817C5}"/>
                </a:ext>
              </a:extLst>
            </p:cNvPr>
            <p:cNvSpPr>
              <a:spLocks noChangeArrowheads="1"/>
            </p:cNvSpPr>
            <p:nvPr/>
          </p:nvSpPr>
          <p:spPr bwMode="auto">
            <a:xfrm>
              <a:off x="577" y="2899"/>
              <a:ext cx="575" cy="320"/>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7" name="Oval 42">
              <a:extLst>
                <a:ext uri="{FF2B5EF4-FFF2-40B4-BE49-F238E27FC236}">
                  <a16:creationId xmlns:a16="http://schemas.microsoft.com/office/drawing/2014/main" id="{C392AAA9-E205-4103-BB47-EF8FE917B92F}"/>
                </a:ext>
              </a:extLst>
            </p:cNvPr>
            <p:cNvSpPr>
              <a:spLocks noChangeArrowheads="1"/>
            </p:cNvSpPr>
            <p:nvPr/>
          </p:nvSpPr>
          <p:spPr bwMode="auto">
            <a:xfrm>
              <a:off x="396" y="3100"/>
              <a:ext cx="383"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8" name="Oval 43">
              <a:extLst>
                <a:ext uri="{FF2B5EF4-FFF2-40B4-BE49-F238E27FC236}">
                  <a16:creationId xmlns:a16="http://schemas.microsoft.com/office/drawing/2014/main" id="{147D3BA9-8B15-445E-B873-744534B7BC63}"/>
                </a:ext>
              </a:extLst>
            </p:cNvPr>
            <p:cNvSpPr>
              <a:spLocks noChangeArrowheads="1"/>
            </p:cNvSpPr>
            <p:nvPr/>
          </p:nvSpPr>
          <p:spPr bwMode="auto">
            <a:xfrm>
              <a:off x="1515" y="2908"/>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9" name="Oval 44">
              <a:extLst>
                <a:ext uri="{FF2B5EF4-FFF2-40B4-BE49-F238E27FC236}">
                  <a16:creationId xmlns:a16="http://schemas.microsoft.com/office/drawing/2014/main" id="{316DB786-F9C4-4B71-9C13-64CD474A9F01}"/>
                </a:ext>
              </a:extLst>
            </p:cNvPr>
            <p:cNvSpPr>
              <a:spLocks noChangeArrowheads="1"/>
            </p:cNvSpPr>
            <p:nvPr/>
          </p:nvSpPr>
          <p:spPr bwMode="auto">
            <a:xfrm>
              <a:off x="1599" y="3075"/>
              <a:ext cx="555" cy="249"/>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0" name="Oval 45">
              <a:extLst>
                <a:ext uri="{FF2B5EF4-FFF2-40B4-BE49-F238E27FC236}">
                  <a16:creationId xmlns:a16="http://schemas.microsoft.com/office/drawing/2014/main" id="{F6FFAD80-A56F-4A65-A311-DC0DCA3A1151}"/>
                </a:ext>
              </a:extLst>
            </p:cNvPr>
            <p:cNvSpPr>
              <a:spLocks noChangeArrowheads="1"/>
            </p:cNvSpPr>
            <p:nvPr/>
          </p:nvSpPr>
          <p:spPr bwMode="auto">
            <a:xfrm>
              <a:off x="715" y="3003"/>
              <a:ext cx="1141"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1" name="Oval 46">
              <a:extLst>
                <a:ext uri="{FF2B5EF4-FFF2-40B4-BE49-F238E27FC236}">
                  <a16:creationId xmlns:a16="http://schemas.microsoft.com/office/drawing/2014/main" id="{59FFC015-F033-4E70-BE4D-4570D0264350}"/>
                </a:ext>
              </a:extLst>
            </p:cNvPr>
            <p:cNvSpPr>
              <a:spLocks noChangeArrowheads="1"/>
            </p:cNvSpPr>
            <p:nvPr/>
          </p:nvSpPr>
          <p:spPr bwMode="auto">
            <a:xfrm>
              <a:off x="513" y="3219"/>
              <a:ext cx="586" cy="282"/>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2" name="Freeform 47">
              <a:extLst>
                <a:ext uri="{FF2B5EF4-FFF2-40B4-BE49-F238E27FC236}">
                  <a16:creationId xmlns:a16="http://schemas.microsoft.com/office/drawing/2014/main" id="{F92821D5-D671-4D8E-BD87-5183678173BB}"/>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253" name="Object 48">
            <a:extLst>
              <a:ext uri="{FF2B5EF4-FFF2-40B4-BE49-F238E27FC236}">
                <a16:creationId xmlns:a16="http://schemas.microsoft.com/office/drawing/2014/main" id="{238C142D-862D-41E9-BBC4-2BBDA30E0754}"/>
              </a:ext>
            </a:extLst>
          </p:cNvPr>
          <p:cNvGraphicFramePr>
            <a:graphicFrameLocks noChangeAspect="1"/>
          </p:cNvGraphicFramePr>
          <p:nvPr/>
        </p:nvGraphicFramePr>
        <p:xfrm>
          <a:off x="4180377" y="3570035"/>
          <a:ext cx="3310378" cy="151615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253" name="Object 48">
                        <a:extLst>
                          <a:ext uri="{FF2B5EF4-FFF2-40B4-BE49-F238E27FC236}">
                            <a16:creationId xmlns:a16="http://schemas.microsoft.com/office/drawing/2014/main" id="{238C142D-862D-41E9-BBC4-2BBDA30E075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80377" y="3570035"/>
                        <a:ext cx="3310378" cy="1516158"/>
                      </a:xfrm>
                      <a:prstGeom prst="rect">
                        <a:avLst/>
                      </a:prstGeom>
                      <a:noFill/>
                      <a:ln>
                        <a:noFill/>
                      </a:ln>
                      <a:effectLst/>
                    </p:spPr>
                  </p:pic>
                </p:oleObj>
              </mc:Fallback>
            </mc:AlternateContent>
          </a:graphicData>
        </a:graphic>
      </p:graphicFrame>
      <p:sp>
        <p:nvSpPr>
          <p:cNvPr id="256" name="Text Box 51">
            <a:extLst>
              <a:ext uri="{FF2B5EF4-FFF2-40B4-BE49-F238E27FC236}">
                <a16:creationId xmlns:a16="http://schemas.microsoft.com/office/drawing/2014/main" id="{362D3B0C-AA74-4C16-99E0-1D5EBCE7EA8A}"/>
              </a:ext>
            </a:extLst>
          </p:cNvPr>
          <p:cNvSpPr txBox="1">
            <a:spLocks noChangeArrowheads="1"/>
          </p:cNvSpPr>
          <p:nvPr/>
        </p:nvSpPr>
        <p:spPr bwMode="auto">
          <a:xfrm>
            <a:off x="2277174" y="4005804"/>
            <a:ext cx="10783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A</a:t>
            </a:r>
          </a:p>
        </p:txBody>
      </p:sp>
      <p:sp>
        <p:nvSpPr>
          <p:cNvPr id="258" name="Text Box 53">
            <a:extLst>
              <a:ext uri="{FF2B5EF4-FFF2-40B4-BE49-F238E27FC236}">
                <a16:creationId xmlns:a16="http://schemas.microsoft.com/office/drawing/2014/main" id="{6276A899-6E84-400A-A510-6CC00B2F3115}"/>
              </a:ext>
            </a:extLst>
          </p:cNvPr>
          <p:cNvSpPr txBox="1">
            <a:spLocks noChangeArrowheads="1"/>
          </p:cNvSpPr>
          <p:nvPr/>
        </p:nvSpPr>
        <p:spPr bwMode="auto">
          <a:xfrm>
            <a:off x="5429736" y="4583498"/>
            <a:ext cx="136130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dirty="0">
                <a:solidFill>
                  <a:schemeClr val="accent2">
                    <a:lumMod val="75000"/>
                  </a:schemeClr>
                </a:solidFill>
                <a:latin typeface="微软雅黑" pitchFamily="34" charset="-122"/>
                <a:ea typeface="微软雅黑" pitchFamily="34" charset="-122"/>
              </a:rPr>
              <a:t>Internet</a:t>
            </a:r>
            <a:endParaRPr kumimoji="1" lang="zh-CN" altLang="en-US" sz="1400" dirty="0">
              <a:solidFill>
                <a:schemeClr val="accent2">
                  <a:lumMod val="75000"/>
                </a:schemeClr>
              </a:solidFill>
              <a:latin typeface="微软雅黑" pitchFamily="34" charset="-122"/>
              <a:ea typeface="微软雅黑" pitchFamily="34" charset="-122"/>
            </a:endParaRPr>
          </a:p>
        </p:txBody>
      </p:sp>
      <p:sp>
        <p:nvSpPr>
          <p:cNvPr id="259" name="Text Box 54">
            <a:extLst>
              <a:ext uri="{FF2B5EF4-FFF2-40B4-BE49-F238E27FC236}">
                <a16:creationId xmlns:a16="http://schemas.microsoft.com/office/drawing/2014/main" id="{E59B285A-4E94-40AF-AAF4-F1380ADBF8D9}"/>
              </a:ext>
            </a:extLst>
          </p:cNvPr>
          <p:cNvSpPr txBox="1">
            <a:spLocks noChangeArrowheads="1"/>
          </p:cNvSpPr>
          <p:nvPr/>
        </p:nvSpPr>
        <p:spPr bwMode="auto">
          <a:xfrm>
            <a:off x="8700544" y="4086132"/>
            <a:ext cx="10080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B</a:t>
            </a:r>
          </a:p>
        </p:txBody>
      </p:sp>
      <p:sp>
        <p:nvSpPr>
          <p:cNvPr id="260" name="Text Box 55">
            <a:extLst>
              <a:ext uri="{FF2B5EF4-FFF2-40B4-BE49-F238E27FC236}">
                <a16:creationId xmlns:a16="http://schemas.microsoft.com/office/drawing/2014/main" id="{E2206F7C-E9B4-4152-B094-30ED48B4DAA1}"/>
              </a:ext>
            </a:extLst>
          </p:cNvPr>
          <p:cNvSpPr txBox="1">
            <a:spLocks noChangeArrowheads="1"/>
          </p:cNvSpPr>
          <p:nvPr/>
        </p:nvSpPr>
        <p:spPr bwMode="auto">
          <a:xfrm>
            <a:off x="3320752" y="4384849"/>
            <a:ext cx="584769"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61" name="Text Box 56">
            <a:extLst>
              <a:ext uri="{FF2B5EF4-FFF2-40B4-BE49-F238E27FC236}">
                <a16:creationId xmlns:a16="http://schemas.microsoft.com/office/drawing/2014/main" id="{FD26D5E1-1067-483F-9C6E-C876DF93B460}"/>
              </a:ext>
            </a:extLst>
          </p:cNvPr>
          <p:cNvSpPr txBox="1">
            <a:spLocks noChangeArrowheads="1"/>
          </p:cNvSpPr>
          <p:nvPr/>
        </p:nvSpPr>
        <p:spPr bwMode="auto">
          <a:xfrm>
            <a:off x="7760427" y="4468188"/>
            <a:ext cx="62738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p:txBody>
      </p:sp>
      <p:sp>
        <p:nvSpPr>
          <p:cNvPr id="264" name="Line 59">
            <a:extLst>
              <a:ext uri="{FF2B5EF4-FFF2-40B4-BE49-F238E27FC236}">
                <a16:creationId xmlns:a16="http://schemas.microsoft.com/office/drawing/2014/main" id="{FD8E03DF-455B-450D-8873-21AE499F44E1}"/>
              </a:ext>
            </a:extLst>
          </p:cNvPr>
          <p:cNvSpPr>
            <a:spLocks noChangeShapeType="1"/>
          </p:cNvSpPr>
          <p:nvPr/>
        </p:nvSpPr>
        <p:spPr bwMode="auto">
          <a:xfrm>
            <a:off x="7408803" y="4242996"/>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65" name="Group 60">
            <a:extLst>
              <a:ext uri="{FF2B5EF4-FFF2-40B4-BE49-F238E27FC236}">
                <a16:creationId xmlns:a16="http://schemas.microsoft.com/office/drawing/2014/main" id="{C923C0F1-BAD9-47C6-A12D-C4B67E02250D}"/>
              </a:ext>
            </a:extLst>
          </p:cNvPr>
          <p:cNvGrpSpPr>
            <a:grpSpLocks/>
          </p:cNvGrpSpPr>
          <p:nvPr/>
        </p:nvGrpSpPr>
        <p:grpSpPr bwMode="auto">
          <a:xfrm>
            <a:off x="3541157" y="3457849"/>
            <a:ext cx="4524591" cy="657803"/>
            <a:chOff x="626" y="1527"/>
            <a:chExt cx="3616" cy="527"/>
          </a:xfrm>
        </p:grpSpPr>
        <p:sp>
          <p:nvSpPr>
            <p:cNvPr id="266" name="Text Box 61">
              <a:extLst>
                <a:ext uri="{FF2B5EF4-FFF2-40B4-BE49-F238E27FC236}">
                  <a16:creationId xmlns:a16="http://schemas.microsoft.com/office/drawing/2014/main" id="{F2F3540E-F0A7-4770-BAF5-C611F356B1AF}"/>
                </a:ext>
              </a:extLst>
            </p:cNvPr>
            <p:cNvSpPr txBox="1">
              <a:spLocks noChangeArrowheads="1"/>
            </p:cNvSpPr>
            <p:nvPr/>
          </p:nvSpPr>
          <p:spPr bwMode="auto">
            <a:xfrm>
              <a:off x="626" y="1527"/>
              <a:ext cx="759"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0070C0"/>
                  </a:solidFill>
                  <a:latin typeface="微软雅黑" pitchFamily="34" charset="-122"/>
                  <a:ea typeface="微软雅黑" pitchFamily="34" charset="-122"/>
                </a:rPr>
                <a:t>125.1.2.3</a:t>
              </a:r>
            </a:p>
          </p:txBody>
        </p:sp>
        <p:sp>
          <p:nvSpPr>
            <p:cNvPr id="267" name="Line 62">
              <a:extLst>
                <a:ext uri="{FF2B5EF4-FFF2-40B4-BE49-F238E27FC236}">
                  <a16:creationId xmlns:a16="http://schemas.microsoft.com/office/drawing/2014/main" id="{A10F7041-947E-48CC-81E9-571F2A3B8A09}"/>
                </a:ext>
              </a:extLst>
            </p:cNvPr>
            <p:cNvSpPr>
              <a:spLocks noChangeShapeType="1"/>
            </p:cNvSpPr>
            <p:nvPr/>
          </p:nvSpPr>
          <p:spPr bwMode="auto">
            <a:xfrm flipH="1">
              <a:off x="864" y="1770"/>
              <a:ext cx="109" cy="261"/>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8" name="Text Box 63">
              <a:extLst>
                <a:ext uri="{FF2B5EF4-FFF2-40B4-BE49-F238E27FC236}">
                  <a16:creationId xmlns:a16="http://schemas.microsoft.com/office/drawing/2014/main" id="{F1409CC8-661A-4CCF-9D4F-1E7793F82562}"/>
                </a:ext>
              </a:extLst>
            </p:cNvPr>
            <p:cNvSpPr txBox="1">
              <a:spLocks noChangeArrowheads="1"/>
            </p:cNvSpPr>
            <p:nvPr/>
          </p:nvSpPr>
          <p:spPr bwMode="auto">
            <a:xfrm>
              <a:off x="3483" y="1583"/>
              <a:ext cx="75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solidFill>
                    <a:srgbClr val="0070C0"/>
                  </a:solidFill>
                  <a:latin typeface="微软雅黑" pitchFamily="34" charset="-122"/>
                  <a:ea typeface="微软雅黑" pitchFamily="34" charset="-122"/>
                </a:rPr>
                <a:t>194.4.5.6</a:t>
              </a:r>
            </a:p>
          </p:txBody>
        </p:sp>
        <p:sp>
          <p:nvSpPr>
            <p:cNvPr id="269" name="Line 64">
              <a:extLst>
                <a:ext uri="{FF2B5EF4-FFF2-40B4-BE49-F238E27FC236}">
                  <a16:creationId xmlns:a16="http://schemas.microsoft.com/office/drawing/2014/main" id="{DFF996A9-6330-4CE2-B8E9-8C02608AE19D}"/>
                </a:ext>
              </a:extLst>
            </p:cNvPr>
            <p:cNvSpPr>
              <a:spLocks noChangeShapeType="1"/>
            </p:cNvSpPr>
            <p:nvPr/>
          </p:nvSpPr>
          <p:spPr bwMode="auto">
            <a:xfrm>
              <a:off x="3930" y="1812"/>
              <a:ext cx="120" cy="242"/>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73" name="Text Box 77">
            <a:extLst>
              <a:ext uri="{FF2B5EF4-FFF2-40B4-BE49-F238E27FC236}">
                <a16:creationId xmlns:a16="http://schemas.microsoft.com/office/drawing/2014/main" id="{68274FCB-1005-468E-A88A-99004F90290D}"/>
              </a:ext>
            </a:extLst>
          </p:cNvPr>
          <p:cNvSpPr txBox="1">
            <a:spLocks noChangeArrowheads="1"/>
          </p:cNvSpPr>
          <p:nvPr/>
        </p:nvSpPr>
        <p:spPr bwMode="auto">
          <a:xfrm>
            <a:off x="5157244" y="3129524"/>
            <a:ext cx="1256161" cy="307777"/>
          </a:xfrm>
          <a:prstGeom prst="rect">
            <a:avLst/>
          </a:prstGeom>
          <a:solidFill>
            <a:srgbClr val="00B0F0"/>
          </a:solidFill>
          <a:ln w="9525">
            <a:noFill/>
            <a:miter lim="800000"/>
            <a:headEnd/>
            <a:tailEnd/>
          </a:ln>
          <a:effectLst/>
        </p:spPr>
        <p:txBody>
          <a:bodyPr wrap="square">
            <a:spAutoFit/>
          </a:bodyPr>
          <a:lstStyle/>
          <a:p>
            <a:pPr algn="ctr" eaLnBrk="0" hangingPunct="0"/>
            <a:r>
              <a:rPr kumimoji="1" lang="zh-CN" altLang="en-US" sz="1400" dirty="0">
                <a:solidFill>
                  <a:srgbClr val="002060"/>
                </a:solidFill>
                <a:latin typeface="Arial Black" panose="020B0A04020102020204" pitchFamily="34" charset="0"/>
                <a:ea typeface="微软雅黑" pitchFamily="34" charset="-122"/>
              </a:rPr>
              <a:t>公共网络</a:t>
            </a:r>
          </a:p>
        </p:txBody>
      </p:sp>
      <p:sp>
        <p:nvSpPr>
          <p:cNvPr id="274" name="AutoShape 78">
            <a:extLst>
              <a:ext uri="{FF2B5EF4-FFF2-40B4-BE49-F238E27FC236}">
                <a16:creationId xmlns:a16="http://schemas.microsoft.com/office/drawing/2014/main" id="{CD05B114-6DCB-4292-B067-846BFF4DE298}"/>
              </a:ext>
            </a:extLst>
          </p:cNvPr>
          <p:cNvSpPr>
            <a:spLocks noChangeArrowheads="1"/>
          </p:cNvSpPr>
          <p:nvPr/>
        </p:nvSpPr>
        <p:spPr bwMode="auto">
          <a:xfrm>
            <a:off x="1823949" y="5233089"/>
            <a:ext cx="1544424" cy="548812"/>
          </a:xfrm>
          <a:prstGeom prst="wedgeRoundRectCallout">
            <a:avLst>
              <a:gd name="adj1" fmla="val 27596"/>
              <a:gd name="adj2" fmla="val -158526"/>
              <a:gd name="adj3" fmla="val 16667"/>
            </a:avLst>
          </a:prstGeom>
          <a:gradFill flip="none" rotWithShape="1">
            <a:gsLst>
              <a:gs pos="0">
                <a:srgbClr val="BB159B">
                  <a:tint val="66000"/>
                  <a:satMod val="160000"/>
                </a:srgbClr>
              </a:gs>
              <a:gs pos="50000">
                <a:srgbClr val="BB159B">
                  <a:tint val="44500"/>
                  <a:satMod val="160000"/>
                </a:srgbClr>
              </a:gs>
              <a:gs pos="100000">
                <a:srgbClr val="BB159B">
                  <a:tint val="23500"/>
                  <a:satMod val="160000"/>
                </a:srgbClr>
              </a:gs>
            </a:gsLst>
            <a:lin ang="135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275" name="Text Box 81">
            <a:extLst>
              <a:ext uri="{FF2B5EF4-FFF2-40B4-BE49-F238E27FC236}">
                <a16:creationId xmlns:a16="http://schemas.microsoft.com/office/drawing/2014/main" id="{7218EFCC-9A61-4FB4-B3FF-24A4ABC3C670}"/>
              </a:ext>
            </a:extLst>
          </p:cNvPr>
          <p:cNvSpPr txBox="1">
            <a:spLocks noChangeArrowheads="1"/>
          </p:cNvSpPr>
          <p:nvPr/>
        </p:nvSpPr>
        <p:spPr bwMode="auto">
          <a:xfrm>
            <a:off x="1217415" y="5279374"/>
            <a:ext cx="271171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latin typeface="微软雅黑" pitchFamily="34" charset="-122"/>
                <a:ea typeface="微软雅黑" pitchFamily="34" charset="-122"/>
              </a:rPr>
              <a:t>172.16.0.0/20</a:t>
            </a:r>
          </a:p>
          <a:p>
            <a:pPr algn="ctr"/>
            <a:r>
              <a:rPr lang="zh-CN" altLang="en-US" sz="1400" dirty="0">
                <a:latin typeface="微软雅黑" pitchFamily="34" charset="-122"/>
                <a:ea typeface="微软雅黑" pitchFamily="34" charset="-122"/>
              </a:rPr>
              <a:t>（本地地址）</a:t>
            </a:r>
          </a:p>
        </p:txBody>
      </p:sp>
      <p:sp>
        <p:nvSpPr>
          <p:cNvPr id="276" name="AutoShape 83">
            <a:extLst>
              <a:ext uri="{FF2B5EF4-FFF2-40B4-BE49-F238E27FC236}">
                <a16:creationId xmlns:a16="http://schemas.microsoft.com/office/drawing/2014/main" id="{C2643757-6C6C-4DC8-B891-7751361288CB}"/>
              </a:ext>
            </a:extLst>
          </p:cNvPr>
          <p:cNvSpPr>
            <a:spLocks noChangeArrowheads="1"/>
          </p:cNvSpPr>
          <p:nvPr/>
        </p:nvSpPr>
        <p:spPr bwMode="auto">
          <a:xfrm>
            <a:off x="8681733" y="5229279"/>
            <a:ext cx="1594589" cy="552621"/>
          </a:xfrm>
          <a:prstGeom prst="wedgeRoundRectCallout">
            <a:avLst>
              <a:gd name="adj1" fmla="val -22857"/>
              <a:gd name="adj2" fmla="val -144580"/>
              <a:gd name="adj3" fmla="val 16667"/>
            </a:avLst>
          </a:prstGeom>
          <a:gradFill flip="none" rotWithShape="1">
            <a:gsLst>
              <a:gs pos="0">
                <a:srgbClr val="BB159B">
                  <a:tint val="66000"/>
                  <a:satMod val="160000"/>
                </a:srgbClr>
              </a:gs>
              <a:gs pos="50000">
                <a:srgbClr val="BB159B">
                  <a:tint val="44500"/>
                  <a:satMod val="160000"/>
                </a:srgbClr>
              </a:gs>
              <a:gs pos="100000">
                <a:srgbClr val="BB159B">
                  <a:tint val="23500"/>
                  <a:satMod val="160000"/>
                </a:srgbClr>
              </a:gs>
            </a:gsLst>
            <a:lin ang="135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277" name="Text Box 82">
            <a:extLst>
              <a:ext uri="{FF2B5EF4-FFF2-40B4-BE49-F238E27FC236}">
                <a16:creationId xmlns:a16="http://schemas.microsoft.com/office/drawing/2014/main" id="{F3AAADBB-D03A-4CAF-A200-F3EEFBAF326D}"/>
              </a:ext>
            </a:extLst>
          </p:cNvPr>
          <p:cNvSpPr txBox="1">
            <a:spLocks noChangeArrowheads="1"/>
          </p:cNvSpPr>
          <p:nvPr/>
        </p:nvSpPr>
        <p:spPr bwMode="auto">
          <a:xfrm>
            <a:off x="8485465" y="5279200"/>
            <a:ext cx="198971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solidFill>
                  <a:srgbClr val="002060"/>
                </a:solidFill>
                <a:latin typeface="微软雅黑" pitchFamily="34" charset="-122"/>
                <a:ea typeface="微软雅黑" pitchFamily="34" charset="-122"/>
              </a:rPr>
              <a:t>192.168.1.0/24</a:t>
            </a:r>
          </a:p>
          <a:p>
            <a:pPr algn="ctr"/>
            <a:r>
              <a:rPr lang="zh-CN" altLang="en-US" sz="1400" dirty="0">
                <a:solidFill>
                  <a:srgbClr val="002060"/>
                </a:solidFill>
                <a:latin typeface="微软雅黑" pitchFamily="34" charset="-122"/>
                <a:ea typeface="微软雅黑" pitchFamily="34" charset="-122"/>
              </a:rPr>
              <a:t>（本地地址）</a:t>
            </a:r>
          </a:p>
        </p:txBody>
      </p:sp>
      <p:pic>
        <p:nvPicPr>
          <p:cNvPr id="280" name="Picture 30" descr="通用路由器">
            <a:extLst>
              <a:ext uri="{FF2B5EF4-FFF2-40B4-BE49-F238E27FC236}">
                <a16:creationId xmlns:a16="http://schemas.microsoft.com/office/drawing/2014/main" id="{F4243C29-0280-4DDA-8AA3-5F8ABD60E46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22698" y="4014390"/>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30" descr="通用路由器">
            <a:extLst>
              <a:ext uri="{FF2B5EF4-FFF2-40B4-BE49-F238E27FC236}">
                <a16:creationId xmlns:a16="http://schemas.microsoft.com/office/drawing/2014/main" id="{CE5B3BC9-27F4-40C2-B121-ECE592D3BD9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90412" y="4066794"/>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Line 59">
            <a:extLst>
              <a:ext uri="{FF2B5EF4-FFF2-40B4-BE49-F238E27FC236}">
                <a16:creationId xmlns:a16="http://schemas.microsoft.com/office/drawing/2014/main" id="{778FE696-5BA6-4BD5-981B-D07C55383473}"/>
              </a:ext>
            </a:extLst>
          </p:cNvPr>
          <p:cNvSpPr>
            <a:spLocks noChangeShapeType="1"/>
          </p:cNvSpPr>
          <p:nvPr/>
        </p:nvSpPr>
        <p:spPr bwMode="auto">
          <a:xfrm>
            <a:off x="3905521" y="4224944"/>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cxnSp>
        <p:nvCxnSpPr>
          <p:cNvPr id="6" name="直接箭头连接符 5">
            <a:extLst>
              <a:ext uri="{FF2B5EF4-FFF2-40B4-BE49-F238E27FC236}">
                <a16:creationId xmlns:a16="http://schemas.microsoft.com/office/drawing/2014/main" id="{4057135E-1DD3-4A5E-A916-90F0A0C81043}"/>
              </a:ext>
            </a:extLst>
          </p:cNvPr>
          <p:cNvCxnSpPr>
            <a:stCxn id="273" idx="2"/>
          </p:cNvCxnSpPr>
          <p:nvPr/>
        </p:nvCxnSpPr>
        <p:spPr>
          <a:xfrm flipH="1">
            <a:off x="5785324" y="3437301"/>
            <a:ext cx="1" cy="41947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5" name="组合 4">
            <a:extLst>
              <a:ext uri="{FF2B5EF4-FFF2-40B4-BE49-F238E27FC236}">
                <a16:creationId xmlns:a16="http://schemas.microsoft.com/office/drawing/2014/main" id="{B8428936-E62D-41CB-B31C-3D97BA1F361C}"/>
              </a:ext>
            </a:extLst>
          </p:cNvPr>
          <p:cNvGrpSpPr/>
          <p:nvPr/>
        </p:nvGrpSpPr>
        <p:grpSpPr>
          <a:xfrm>
            <a:off x="4023997" y="4003077"/>
            <a:ext cx="3534381" cy="389253"/>
            <a:chOff x="4023997" y="4003077"/>
            <a:chExt cx="3534381" cy="389253"/>
          </a:xfrm>
        </p:grpSpPr>
        <p:sp>
          <p:nvSpPr>
            <p:cNvPr id="257" name="AutoShape 52">
              <a:extLst>
                <a:ext uri="{FF2B5EF4-FFF2-40B4-BE49-F238E27FC236}">
                  <a16:creationId xmlns:a16="http://schemas.microsoft.com/office/drawing/2014/main" id="{C02AF835-582A-49F6-A253-C56DE5B446A4}"/>
                </a:ext>
              </a:extLst>
            </p:cNvPr>
            <p:cNvSpPr>
              <a:spLocks noChangeArrowheads="1"/>
            </p:cNvSpPr>
            <p:nvPr/>
          </p:nvSpPr>
          <p:spPr bwMode="auto">
            <a:xfrm rot="16200000">
              <a:off x="5596561" y="2430513"/>
              <a:ext cx="389253" cy="3534381"/>
            </a:xfrm>
            <a:prstGeom prst="can">
              <a:avLst>
                <a:gd name="adj" fmla="val 25521"/>
              </a:avLst>
            </a:prstGeom>
            <a:gradFill rotWithShape="1">
              <a:gsLst>
                <a:gs pos="0">
                  <a:srgbClr val="33CCFF">
                    <a:gamma/>
                    <a:shade val="46275"/>
                    <a:invGamma/>
                  </a:srgbClr>
                </a:gs>
                <a:gs pos="50000">
                  <a:schemeClr val="accent5">
                    <a:lumMod val="20000"/>
                    <a:lumOff val="80000"/>
                  </a:schemeClr>
                </a:gs>
                <a:gs pos="100000">
                  <a:srgbClr val="33CCFF">
                    <a:gamma/>
                    <a:shade val="46275"/>
                    <a:invGamma/>
                  </a:srgbClr>
                </a:gs>
              </a:gsLst>
              <a:lin ang="0" scaled="1"/>
            </a:gradFill>
            <a:ln w="9525">
              <a:solidFill>
                <a:schemeClr val="tx1"/>
              </a:solidFill>
              <a:round/>
              <a:headEnd/>
              <a:tailEnd/>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2" name="Text Box 57">
              <a:extLst>
                <a:ext uri="{FF2B5EF4-FFF2-40B4-BE49-F238E27FC236}">
                  <a16:creationId xmlns:a16="http://schemas.microsoft.com/office/drawing/2014/main" id="{C6DC2ECE-F32B-4E2E-B929-E1BEDB4854E0}"/>
                </a:ext>
              </a:extLst>
            </p:cNvPr>
            <p:cNvSpPr txBox="1">
              <a:spLocks noChangeArrowheads="1"/>
            </p:cNvSpPr>
            <p:nvPr/>
          </p:nvSpPr>
          <p:spPr bwMode="auto">
            <a:xfrm>
              <a:off x="5495705" y="4032642"/>
              <a:ext cx="898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7030A0"/>
                  </a:solidFill>
                  <a:latin typeface="微软雅黑" pitchFamily="34" charset="-122"/>
                  <a:ea typeface="微软雅黑" pitchFamily="34" charset="-122"/>
                </a:rPr>
                <a:t>隧道</a:t>
              </a:r>
            </a:p>
          </p:txBody>
        </p:sp>
      </p:grpSp>
      <p:sp>
        <p:nvSpPr>
          <p:cNvPr id="89" name="Text Box 77">
            <a:extLst>
              <a:ext uri="{FF2B5EF4-FFF2-40B4-BE49-F238E27FC236}">
                <a16:creationId xmlns:a16="http://schemas.microsoft.com/office/drawing/2014/main" id="{79CDE28D-5844-4E88-BAD2-29F51E15389F}"/>
              </a:ext>
            </a:extLst>
          </p:cNvPr>
          <p:cNvSpPr txBox="1">
            <a:spLocks noChangeArrowheads="1"/>
          </p:cNvSpPr>
          <p:nvPr/>
        </p:nvSpPr>
        <p:spPr bwMode="auto">
          <a:xfrm>
            <a:off x="2258207" y="3146311"/>
            <a:ext cx="1256161" cy="307777"/>
          </a:xfrm>
          <a:prstGeom prst="rect">
            <a:avLst/>
          </a:prstGeom>
          <a:solidFill>
            <a:schemeClr val="accent4">
              <a:lumMod val="20000"/>
              <a:lumOff val="80000"/>
            </a:schemeClr>
          </a:solidFill>
          <a:ln w="9525">
            <a:noFill/>
            <a:miter lim="800000"/>
            <a:headEnd/>
            <a:tailEnd/>
          </a:ln>
          <a:effectLst/>
        </p:spPr>
        <p:txBody>
          <a:bodyPr wrap="square">
            <a:spAutoFit/>
          </a:bodyPr>
          <a:lstStyle/>
          <a:p>
            <a:pPr algn="ctr" eaLnBrk="0" hangingPunct="0"/>
            <a:r>
              <a:rPr kumimoji="1" lang="zh-CN" altLang="en-US" sz="1400" dirty="0">
                <a:solidFill>
                  <a:srgbClr val="002060"/>
                </a:solidFill>
                <a:latin typeface="Arial Black" panose="020B0A04020102020204" pitchFamily="34" charset="0"/>
                <a:ea typeface="微软雅黑" pitchFamily="34" charset="-122"/>
              </a:rPr>
              <a:t>专用网络</a:t>
            </a:r>
          </a:p>
        </p:txBody>
      </p:sp>
      <p:cxnSp>
        <p:nvCxnSpPr>
          <p:cNvPr id="90" name="直接箭头连接符 89">
            <a:extLst>
              <a:ext uri="{FF2B5EF4-FFF2-40B4-BE49-F238E27FC236}">
                <a16:creationId xmlns:a16="http://schemas.microsoft.com/office/drawing/2014/main" id="{F14E5244-73C7-41B9-A7AD-8A47AB7FDF6F}"/>
              </a:ext>
            </a:extLst>
          </p:cNvPr>
          <p:cNvCxnSpPr>
            <a:stCxn id="89" idx="2"/>
          </p:cNvCxnSpPr>
          <p:nvPr/>
        </p:nvCxnSpPr>
        <p:spPr>
          <a:xfrm>
            <a:off x="2886288" y="3454088"/>
            <a:ext cx="0" cy="419471"/>
          </a:xfrm>
          <a:prstGeom prst="straightConnector1">
            <a:avLst/>
          </a:prstGeom>
          <a:ln>
            <a:solidFill>
              <a:schemeClr val="accent4">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1" name="Text Box 77">
            <a:extLst>
              <a:ext uri="{FF2B5EF4-FFF2-40B4-BE49-F238E27FC236}">
                <a16:creationId xmlns:a16="http://schemas.microsoft.com/office/drawing/2014/main" id="{AFF967F4-4E8E-4287-A176-ECA9C52F9E4F}"/>
              </a:ext>
            </a:extLst>
          </p:cNvPr>
          <p:cNvSpPr txBox="1">
            <a:spLocks noChangeArrowheads="1"/>
          </p:cNvSpPr>
          <p:nvPr/>
        </p:nvSpPr>
        <p:spPr bwMode="auto">
          <a:xfrm>
            <a:off x="8523867" y="3148048"/>
            <a:ext cx="1256161" cy="307777"/>
          </a:xfrm>
          <a:prstGeom prst="rect">
            <a:avLst/>
          </a:prstGeom>
          <a:solidFill>
            <a:schemeClr val="accent4">
              <a:lumMod val="20000"/>
              <a:lumOff val="80000"/>
            </a:schemeClr>
          </a:solidFill>
          <a:ln w="9525">
            <a:noFill/>
            <a:miter lim="800000"/>
            <a:headEnd/>
            <a:tailEnd/>
          </a:ln>
          <a:effectLst/>
        </p:spPr>
        <p:txBody>
          <a:bodyPr wrap="square">
            <a:spAutoFit/>
          </a:bodyPr>
          <a:lstStyle/>
          <a:p>
            <a:pPr algn="ctr" eaLnBrk="0" hangingPunct="0"/>
            <a:r>
              <a:rPr kumimoji="1" lang="zh-CN" altLang="en-US" sz="1400" dirty="0">
                <a:solidFill>
                  <a:srgbClr val="002060"/>
                </a:solidFill>
                <a:latin typeface="Arial Black" panose="020B0A04020102020204" pitchFamily="34" charset="0"/>
                <a:ea typeface="微软雅黑" pitchFamily="34" charset="-122"/>
              </a:rPr>
              <a:t>专用网络</a:t>
            </a:r>
          </a:p>
        </p:txBody>
      </p:sp>
      <p:cxnSp>
        <p:nvCxnSpPr>
          <p:cNvPr id="92" name="直接箭头连接符 91">
            <a:extLst>
              <a:ext uri="{FF2B5EF4-FFF2-40B4-BE49-F238E27FC236}">
                <a16:creationId xmlns:a16="http://schemas.microsoft.com/office/drawing/2014/main" id="{D922F624-02C2-46C3-9CEE-C0439566FCD3}"/>
              </a:ext>
            </a:extLst>
          </p:cNvPr>
          <p:cNvCxnSpPr>
            <a:stCxn id="91" idx="2"/>
          </p:cNvCxnSpPr>
          <p:nvPr/>
        </p:nvCxnSpPr>
        <p:spPr>
          <a:xfrm>
            <a:off x="9151948" y="3455825"/>
            <a:ext cx="0" cy="419471"/>
          </a:xfrm>
          <a:prstGeom prst="straightConnector1">
            <a:avLst/>
          </a:prstGeom>
          <a:ln>
            <a:solidFill>
              <a:schemeClr val="accent4">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 name="日期占位符 3">
            <a:extLst>
              <a:ext uri="{FF2B5EF4-FFF2-40B4-BE49-F238E27FC236}">
                <a16:creationId xmlns:a16="http://schemas.microsoft.com/office/drawing/2014/main" id="{D1C4487B-D00E-4693-B146-674FA0E2A888}"/>
              </a:ext>
            </a:extLst>
          </p:cNvPr>
          <p:cNvSpPr>
            <a:spLocks noGrp="1"/>
          </p:cNvSpPr>
          <p:nvPr>
            <p:ph type="dt" sz="half" idx="10"/>
          </p:nvPr>
        </p:nvSpPr>
        <p:spPr/>
        <p:txBody>
          <a:bodyPr/>
          <a:lstStyle/>
          <a:p>
            <a:r>
              <a:rPr kumimoji="1" lang="en-US" altLang="zh-CN" dirty="0"/>
              <a:t>5.10.2 VPN</a:t>
            </a:r>
            <a:r>
              <a:rPr kumimoji="1" lang="zh-CN" altLang="en-US" dirty="0"/>
              <a:t>技术</a:t>
            </a:r>
          </a:p>
        </p:txBody>
      </p:sp>
      <p:sp>
        <p:nvSpPr>
          <p:cNvPr id="93" name="灯片编号占位符 3">
            <a:extLst>
              <a:ext uri="{FF2B5EF4-FFF2-40B4-BE49-F238E27FC236}">
                <a16:creationId xmlns:a16="http://schemas.microsoft.com/office/drawing/2014/main" id="{83CFB643-8462-1D4A-808E-778B446E4E00}"/>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249</a:t>
            </a:fld>
            <a:endParaRPr kumimoji="1" lang="zh-CN" altLang="en-US" dirty="0"/>
          </a:p>
        </p:txBody>
      </p:sp>
      <p:pic>
        <p:nvPicPr>
          <p:cNvPr id="94" name="Picture 28" descr="015">
            <a:extLst>
              <a:ext uri="{FF2B5EF4-FFF2-40B4-BE49-F238E27FC236}">
                <a16:creationId xmlns:a16="http://schemas.microsoft.com/office/drawing/2014/main" id="{C219AAAF-556F-4678-BD2C-357C24D3973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68185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ppt_x</p:attrName>
                                        </p:attrNameLst>
                                      </p:cBhvr>
                                      <p:tavLst>
                                        <p:tav tm="0">
                                          <p:val>
                                            <p:strVal val="#ppt_x-#ppt_w/2"/>
                                          </p:val>
                                        </p:tav>
                                        <p:tav tm="100000">
                                          <p:val>
                                            <p:strVal val="#ppt_x"/>
                                          </p:val>
                                        </p:tav>
                                      </p:tavLst>
                                    </p:anim>
                                    <p:anim calcmode="lin" valueType="num">
                                      <p:cBhvr>
                                        <p:cTn id="8" dur="500" fill="hold"/>
                                        <p:tgtEl>
                                          <p:spTgt spid="5"/>
                                        </p:tgtEl>
                                        <p:attrNameLst>
                                          <p:attrName>ppt_y</p:attrName>
                                        </p:attrNameLst>
                                      </p:cBhvr>
                                      <p:tavLst>
                                        <p:tav tm="0">
                                          <p:val>
                                            <p:strVal val="#ppt_y"/>
                                          </p:val>
                                        </p:tav>
                                        <p:tav tm="100000">
                                          <p:val>
                                            <p:strVal val="#ppt_y"/>
                                          </p:val>
                                        </p:tav>
                                      </p:tavLst>
                                    </p:anim>
                                    <p:anim calcmode="lin" valueType="num">
                                      <p:cBhvr>
                                        <p:cTn id="9" dur="500" fill="hold"/>
                                        <p:tgtEl>
                                          <p:spTgt spid="5"/>
                                        </p:tgtEl>
                                        <p:attrNameLst>
                                          <p:attrName>ppt_w</p:attrName>
                                        </p:attrNameLst>
                                      </p:cBhvr>
                                      <p:tavLst>
                                        <p:tav tm="0">
                                          <p:val>
                                            <p:fltVal val="0"/>
                                          </p:val>
                                        </p:tav>
                                        <p:tav tm="100000">
                                          <p:val>
                                            <p:strVal val="#ppt_w"/>
                                          </p:val>
                                        </p:tav>
                                      </p:tavLst>
                                    </p:anim>
                                    <p:anim calcmode="lin" valueType="num">
                                      <p:cBhvr>
                                        <p:cTn id="10" dur="500" fill="hold"/>
                                        <p:tgtEl>
                                          <p:spTgt spid="5"/>
                                        </p:tgtEl>
                                        <p:attrNameLst>
                                          <p:attrName>ppt_h</p:attrName>
                                        </p:attrNameLst>
                                      </p:cBhvr>
                                      <p:tavLst>
                                        <p:tav tm="0">
                                          <p:val>
                                            <p:strVal val="#ppt_h"/>
                                          </p:val>
                                        </p:tav>
                                        <p:tav tm="100000">
                                          <p:val>
                                            <p:strVal val="#ppt_h"/>
                                          </p:val>
                                        </p:tav>
                                      </p:tavLst>
                                    </p:anim>
                                  </p:childTnLst>
                                </p:cTn>
                              </p:par>
                            </p:childTnLst>
                          </p:cTn>
                        </p:par>
                        <p:par>
                          <p:cTn id="11" fill="hold">
                            <p:stCondLst>
                              <p:cond delay="500"/>
                            </p:stCondLst>
                            <p:childTnLst>
                              <p:par>
                                <p:cTn id="12" presetID="1" presetClass="entr" presetSubtype="0" fill="hold" nodeType="afterEffect">
                                  <p:stCondLst>
                                    <p:cond delay="0"/>
                                  </p:stCondLst>
                                  <p:childTnLst>
                                    <p:set>
                                      <p:cBhvr>
                                        <p:cTn id="13" dur="1" fill="hold">
                                          <p:stCondLst>
                                            <p:cond delay="0"/>
                                          </p:stCondLst>
                                        </p:cTn>
                                        <p:tgtEl>
                                          <p:spTgt spid="2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normAutofit/>
          </a:bodyPr>
          <a:lstStyle/>
          <a:p>
            <a:r>
              <a:rPr kumimoji="1" lang="en-US" altLang="zh-CN" dirty="0"/>
              <a:t>VPN</a:t>
            </a:r>
            <a:r>
              <a:rPr kumimoji="1" lang="zh-CN" altLang="en-US" dirty="0"/>
              <a:t>的原理</a:t>
            </a:r>
          </a:p>
        </p:txBody>
      </p:sp>
      <p:grpSp>
        <p:nvGrpSpPr>
          <p:cNvPr id="197" name="组合 196">
            <a:extLst>
              <a:ext uri="{FF2B5EF4-FFF2-40B4-BE49-F238E27FC236}">
                <a16:creationId xmlns:a16="http://schemas.microsoft.com/office/drawing/2014/main" id="{6BA78B96-8164-4620-94C9-DB4BA8177D06}"/>
              </a:ext>
            </a:extLst>
          </p:cNvPr>
          <p:cNvGrpSpPr/>
          <p:nvPr/>
        </p:nvGrpSpPr>
        <p:grpSpPr>
          <a:xfrm>
            <a:off x="9576635" y="3202396"/>
            <a:ext cx="1338851" cy="1485573"/>
            <a:chOff x="6476168" y="1753752"/>
            <a:chExt cx="1168918" cy="1200192"/>
          </a:xfrm>
        </p:grpSpPr>
        <p:grpSp>
          <p:nvGrpSpPr>
            <p:cNvPr id="198" name="Group 65">
              <a:extLst>
                <a:ext uri="{FF2B5EF4-FFF2-40B4-BE49-F238E27FC236}">
                  <a16:creationId xmlns:a16="http://schemas.microsoft.com/office/drawing/2014/main" id="{7226AB23-B53C-4726-BBB7-380C7A2600C6}"/>
                </a:ext>
              </a:extLst>
            </p:cNvPr>
            <p:cNvGrpSpPr>
              <a:grpSpLocks/>
            </p:cNvGrpSpPr>
            <p:nvPr/>
          </p:nvGrpSpPr>
          <p:grpSpPr bwMode="auto">
            <a:xfrm>
              <a:off x="6476168" y="1933292"/>
              <a:ext cx="1168918" cy="822867"/>
              <a:chOff x="4656" y="1528"/>
              <a:chExt cx="1070" cy="816"/>
            </a:xfrm>
          </p:grpSpPr>
          <p:sp>
            <p:nvSpPr>
              <p:cNvPr id="202" name="Line 66">
                <a:extLst>
                  <a:ext uri="{FF2B5EF4-FFF2-40B4-BE49-F238E27FC236}">
                    <a16:creationId xmlns:a16="http://schemas.microsoft.com/office/drawing/2014/main" id="{E5D5A43C-29B2-46A3-8949-54D57FE54103}"/>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3" name="Line 67">
                <a:extLst>
                  <a:ext uri="{FF2B5EF4-FFF2-40B4-BE49-F238E27FC236}">
                    <a16:creationId xmlns:a16="http://schemas.microsoft.com/office/drawing/2014/main" id="{B4AD8058-09CC-4CAF-BEE0-CE9DF971F30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4" name="Line 68">
                <a:extLst>
                  <a:ext uri="{FF2B5EF4-FFF2-40B4-BE49-F238E27FC236}">
                    <a16:creationId xmlns:a16="http://schemas.microsoft.com/office/drawing/2014/main" id="{93626002-427D-4CD0-B644-23FB4A8B18E6}"/>
                  </a:ext>
                </a:extLst>
              </p:cNvPr>
              <p:cNvSpPr>
                <a:spLocks noChangeShapeType="1"/>
              </p:cNvSpPr>
              <p:nvPr/>
            </p:nvSpPr>
            <p:spPr bwMode="auto">
              <a:xfrm flipH="1">
                <a:off x="4744" y="1528"/>
                <a:ext cx="296" cy="14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5" name="Text Box 70">
                <a:extLst>
                  <a:ext uri="{FF2B5EF4-FFF2-40B4-BE49-F238E27FC236}">
                    <a16:creationId xmlns:a16="http://schemas.microsoft.com/office/drawing/2014/main" id="{E09C8CA4-DFC9-4978-9000-32755FC5D93F}"/>
                  </a:ext>
                </a:extLst>
              </p:cNvPr>
              <p:cNvSpPr txBox="1">
                <a:spLocks noChangeArrowheads="1"/>
              </p:cNvSpPr>
              <p:nvPr/>
            </p:nvSpPr>
            <p:spPr bwMode="auto">
              <a:xfrm>
                <a:off x="5316" y="1729"/>
                <a:ext cx="34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400" b="1" dirty="0">
                    <a:latin typeface="微软雅黑" panose="020B0503020204020204" pitchFamily="34" charset="-122"/>
                    <a:ea typeface="微软雅黑" panose="020B0503020204020204" pitchFamily="34" charset="-122"/>
                  </a:rPr>
                  <a:t>Y</a:t>
                </a:r>
              </a:p>
            </p:txBody>
          </p:sp>
          <p:sp>
            <p:nvSpPr>
              <p:cNvPr id="206" name="Text Box 71">
                <a:extLst>
                  <a:ext uri="{FF2B5EF4-FFF2-40B4-BE49-F238E27FC236}">
                    <a16:creationId xmlns:a16="http://schemas.microsoft.com/office/drawing/2014/main" id="{7BDAA9A4-B22E-482D-AA56-CA6354859FEC}"/>
                  </a:ext>
                </a:extLst>
              </p:cNvPr>
              <p:cNvSpPr txBox="1">
                <a:spLocks noChangeArrowheads="1"/>
              </p:cNvSpPr>
              <p:nvPr/>
            </p:nvSpPr>
            <p:spPr bwMode="auto">
              <a:xfrm>
                <a:off x="4798" y="1955"/>
                <a:ext cx="92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CC00CC"/>
                    </a:solidFill>
                    <a:latin typeface="微软雅黑" panose="020B0503020204020204" pitchFamily="34" charset="-122"/>
                    <a:ea typeface="微软雅黑" panose="020B0503020204020204" pitchFamily="34" charset="-122"/>
                  </a:rPr>
                  <a:t>192.168.1.3</a:t>
                </a:r>
              </a:p>
            </p:txBody>
          </p:sp>
        </p:grpSp>
        <p:pic>
          <p:nvPicPr>
            <p:cNvPr id="199" name="Picture 246" descr="jisuanji">
              <a:extLst>
                <a:ext uri="{FF2B5EF4-FFF2-40B4-BE49-F238E27FC236}">
                  <a16:creationId xmlns:a16="http://schemas.microsoft.com/office/drawing/2014/main" id="{4CD01802-9BCE-4942-8F4C-60E8E90200D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0" name="Picture 246" descr="jisuanji">
              <a:extLst>
                <a:ext uri="{FF2B5EF4-FFF2-40B4-BE49-F238E27FC236}">
                  <a16:creationId xmlns:a16="http://schemas.microsoft.com/office/drawing/2014/main" id="{FAEF29B1-FB5F-4207-81E1-3BC9C8C67C5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1" name="Picture 246" descr="jisuanji">
              <a:extLst>
                <a:ext uri="{FF2B5EF4-FFF2-40B4-BE49-F238E27FC236}">
                  <a16:creationId xmlns:a16="http://schemas.microsoft.com/office/drawing/2014/main" id="{F8BDF833-5241-4D05-B404-C0309F7137C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07" name="组合 206">
            <a:extLst>
              <a:ext uri="{FF2B5EF4-FFF2-40B4-BE49-F238E27FC236}">
                <a16:creationId xmlns:a16="http://schemas.microsoft.com/office/drawing/2014/main" id="{01EBE2E2-6D24-41B5-B398-773583C69BFD}"/>
              </a:ext>
            </a:extLst>
          </p:cNvPr>
          <p:cNvGrpSpPr/>
          <p:nvPr/>
        </p:nvGrpSpPr>
        <p:grpSpPr>
          <a:xfrm>
            <a:off x="864568" y="3072727"/>
            <a:ext cx="1645418" cy="1555075"/>
            <a:chOff x="1106798" y="1735816"/>
            <a:chExt cx="1436570" cy="1256342"/>
          </a:xfrm>
        </p:grpSpPr>
        <p:grpSp>
          <p:nvGrpSpPr>
            <p:cNvPr id="208" name="Group 2">
              <a:extLst>
                <a:ext uri="{FF2B5EF4-FFF2-40B4-BE49-F238E27FC236}">
                  <a16:creationId xmlns:a16="http://schemas.microsoft.com/office/drawing/2014/main" id="{CCFBA41F-8C6F-45C0-AF41-4C02CE9D8C57}"/>
                </a:ext>
              </a:extLst>
            </p:cNvPr>
            <p:cNvGrpSpPr>
              <a:grpSpLocks/>
            </p:cNvGrpSpPr>
            <p:nvPr/>
          </p:nvGrpSpPr>
          <p:grpSpPr bwMode="auto">
            <a:xfrm>
              <a:off x="1106798" y="1981696"/>
              <a:ext cx="1436570" cy="871271"/>
              <a:chOff x="-259" y="1576"/>
              <a:chExt cx="1315" cy="864"/>
            </a:xfrm>
          </p:grpSpPr>
          <p:sp>
            <p:nvSpPr>
              <p:cNvPr id="212" name="Line 3">
                <a:extLst>
                  <a:ext uri="{FF2B5EF4-FFF2-40B4-BE49-F238E27FC236}">
                    <a16:creationId xmlns:a16="http://schemas.microsoft.com/office/drawing/2014/main" id="{8F989353-5171-4813-A769-C2F29EB8BF43}"/>
                  </a:ext>
                </a:extLst>
              </p:cNvPr>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3" name="Line 4">
                <a:extLst>
                  <a:ext uri="{FF2B5EF4-FFF2-40B4-BE49-F238E27FC236}">
                    <a16:creationId xmlns:a16="http://schemas.microsoft.com/office/drawing/2014/main" id="{533BC560-0EFA-40A7-8703-ED0A6526BD59}"/>
                  </a:ext>
                </a:extLst>
              </p:cNvPr>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4" name="Line 5">
                <a:extLst>
                  <a:ext uri="{FF2B5EF4-FFF2-40B4-BE49-F238E27FC236}">
                    <a16:creationId xmlns:a16="http://schemas.microsoft.com/office/drawing/2014/main" id="{E9C0C8B2-CD5C-4041-9FE9-81A30215234F}"/>
                  </a:ext>
                </a:extLst>
              </p:cNvPr>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5" name="Text Box 7">
                <a:extLst>
                  <a:ext uri="{FF2B5EF4-FFF2-40B4-BE49-F238E27FC236}">
                    <a16:creationId xmlns:a16="http://schemas.microsoft.com/office/drawing/2014/main" id="{9C263610-97FE-4726-885D-F54EC581C244}"/>
                  </a:ext>
                </a:extLst>
              </p:cNvPr>
              <p:cNvSpPr txBox="1">
                <a:spLocks noChangeArrowheads="1"/>
              </p:cNvSpPr>
              <p:nvPr/>
            </p:nvSpPr>
            <p:spPr bwMode="auto">
              <a:xfrm>
                <a:off x="-11" y="1805"/>
                <a:ext cx="327"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X</a:t>
                </a:r>
              </a:p>
            </p:txBody>
          </p:sp>
          <p:sp>
            <p:nvSpPr>
              <p:cNvPr id="216" name="Text Box 8">
                <a:extLst>
                  <a:ext uri="{FF2B5EF4-FFF2-40B4-BE49-F238E27FC236}">
                    <a16:creationId xmlns:a16="http://schemas.microsoft.com/office/drawing/2014/main" id="{CC9095A4-A29D-4883-899D-D806EF974E21}"/>
                  </a:ext>
                </a:extLst>
              </p:cNvPr>
              <p:cNvSpPr txBox="1">
                <a:spLocks noChangeArrowheads="1"/>
              </p:cNvSpPr>
              <p:nvPr/>
            </p:nvSpPr>
            <p:spPr bwMode="auto">
              <a:xfrm>
                <a:off x="-259" y="2058"/>
                <a:ext cx="843"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BB159B"/>
                    </a:solidFill>
                    <a:latin typeface="微软雅黑" panose="020B0503020204020204" pitchFamily="34" charset="-122"/>
                    <a:ea typeface="微软雅黑" panose="020B0503020204020204" pitchFamily="34" charset="-122"/>
                  </a:rPr>
                  <a:t>172.16.0.3</a:t>
                </a:r>
              </a:p>
            </p:txBody>
          </p:sp>
        </p:grpSp>
        <p:pic>
          <p:nvPicPr>
            <p:cNvPr id="209" name="Picture 246" descr="jisuanji">
              <a:extLst>
                <a:ext uri="{FF2B5EF4-FFF2-40B4-BE49-F238E27FC236}">
                  <a16:creationId xmlns:a16="http://schemas.microsoft.com/office/drawing/2014/main" id="{3E1DDE4F-DAE9-4E4F-8E92-279DF0F96E3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0" name="Picture 246" descr="jisuanji">
              <a:extLst>
                <a:ext uri="{FF2B5EF4-FFF2-40B4-BE49-F238E27FC236}">
                  <a16:creationId xmlns:a16="http://schemas.microsoft.com/office/drawing/2014/main" id="{20C35ABA-7286-453F-BCF3-D388C0983B4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0325" y="2230485"/>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1" name="Picture 246" descr="jisuanji">
              <a:extLst>
                <a:ext uri="{FF2B5EF4-FFF2-40B4-BE49-F238E27FC236}">
                  <a16:creationId xmlns:a16="http://schemas.microsoft.com/office/drawing/2014/main" id="{91197EBC-D062-406C-8C85-FC8B925BFF2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31434" y="2713776"/>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17" name="Group 12">
            <a:extLst>
              <a:ext uri="{FF2B5EF4-FFF2-40B4-BE49-F238E27FC236}">
                <a16:creationId xmlns:a16="http://schemas.microsoft.com/office/drawing/2014/main" id="{8557448D-3F95-4B4E-A589-25DCE0EEF369}"/>
              </a:ext>
            </a:extLst>
          </p:cNvPr>
          <p:cNvGrpSpPr>
            <a:grpSpLocks/>
          </p:cNvGrpSpPr>
          <p:nvPr/>
        </p:nvGrpSpPr>
        <p:grpSpPr bwMode="auto">
          <a:xfrm>
            <a:off x="2045214" y="3338984"/>
            <a:ext cx="1452965" cy="963607"/>
            <a:chOff x="385" y="2795"/>
            <a:chExt cx="1769" cy="816"/>
          </a:xfrm>
          <a:solidFill>
            <a:schemeClr val="accent6">
              <a:lumMod val="20000"/>
              <a:lumOff val="80000"/>
            </a:schemeClr>
          </a:solidFill>
        </p:grpSpPr>
        <p:sp>
          <p:nvSpPr>
            <p:cNvPr id="218" name="Oval 13">
              <a:extLst>
                <a:ext uri="{FF2B5EF4-FFF2-40B4-BE49-F238E27FC236}">
                  <a16:creationId xmlns:a16="http://schemas.microsoft.com/office/drawing/2014/main" id="{2AA96533-9A6A-4925-9012-5E3EFA5A4E10}"/>
                </a:ext>
              </a:extLst>
            </p:cNvPr>
            <p:cNvSpPr>
              <a:spLocks noChangeArrowheads="1"/>
            </p:cNvSpPr>
            <p:nvPr/>
          </p:nvSpPr>
          <p:spPr bwMode="auto">
            <a:xfrm>
              <a:off x="1589" y="3060"/>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9" name="Oval 14">
              <a:extLst>
                <a:ext uri="{FF2B5EF4-FFF2-40B4-BE49-F238E27FC236}">
                  <a16:creationId xmlns:a16="http://schemas.microsoft.com/office/drawing/2014/main" id="{5583F31B-4F10-4B11-8A83-18B71A89BB9F}"/>
                </a:ext>
              </a:extLst>
            </p:cNvPr>
            <p:cNvSpPr>
              <a:spLocks noChangeArrowheads="1"/>
            </p:cNvSpPr>
            <p:nvPr/>
          </p:nvSpPr>
          <p:spPr bwMode="auto">
            <a:xfrm>
              <a:off x="928" y="3274"/>
              <a:ext cx="884" cy="33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0" name="Oval 15">
              <a:extLst>
                <a:ext uri="{FF2B5EF4-FFF2-40B4-BE49-F238E27FC236}">
                  <a16:creationId xmlns:a16="http://schemas.microsoft.com/office/drawing/2014/main" id="{733B964B-E462-46BA-B8C7-85E30ED9B38C}"/>
                </a:ext>
              </a:extLst>
            </p:cNvPr>
            <p:cNvSpPr>
              <a:spLocks noChangeArrowheads="1"/>
            </p:cNvSpPr>
            <p:nvPr/>
          </p:nvSpPr>
          <p:spPr bwMode="auto">
            <a:xfrm>
              <a:off x="502" y="3204"/>
              <a:ext cx="586" cy="28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1" name="Oval 16">
              <a:extLst>
                <a:ext uri="{FF2B5EF4-FFF2-40B4-BE49-F238E27FC236}">
                  <a16:creationId xmlns:a16="http://schemas.microsoft.com/office/drawing/2014/main" id="{DE43520C-3082-4191-81F9-AD285EDDA80B}"/>
                </a:ext>
              </a:extLst>
            </p:cNvPr>
            <p:cNvSpPr>
              <a:spLocks noChangeArrowheads="1"/>
            </p:cNvSpPr>
            <p:nvPr/>
          </p:nvSpPr>
          <p:spPr bwMode="auto">
            <a:xfrm>
              <a:off x="385" y="3084"/>
              <a:ext cx="384"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2" name="Oval 17">
              <a:extLst>
                <a:ext uri="{FF2B5EF4-FFF2-40B4-BE49-F238E27FC236}">
                  <a16:creationId xmlns:a16="http://schemas.microsoft.com/office/drawing/2014/main" id="{638B717F-C215-489F-9CB9-569A8363052C}"/>
                </a:ext>
              </a:extLst>
            </p:cNvPr>
            <p:cNvSpPr>
              <a:spLocks noChangeArrowheads="1"/>
            </p:cNvSpPr>
            <p:nvPr/>
          </p:nvSpPr>
          <p:spPr bwMode="auto">
            <a:xfrm>
              <a:off x="566" y="2883"/>
              <a:ext cx="57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3" name="Oval 18">
              <a:extLst>
                <a:ext uri="{FF2B5EF4-FFF2-40B4-BE49-F238E27FC236}">
                  <a16:creationId xmlns:a16="http://schemas.microsoft.com/office/drawing/2014/main" id="{F17782CC-2D12-4780-8340-0052C6690484}"/>
                </a:ext>
              </a:extLst>
            </p:cNvPr>
            <p:cNvSpPr>
              <a:spLocks noChangeArrowheads="1"/>
            </p:cNvSpPr>
            <p:nvPr/>
          </p:nvSpPr>
          <p:spPr bwMode="auto">
            <a:xfrm>
              <a:off x="992" y="2795"/>
              <a:ext cx="757"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4" name="Oval 19">
              <a:extLst>
                <a:ext uri="{FF2B5EF4-FFF2-40B4-BE49-F238E27FC236}">
                  <a16:creationId xmlns:a16="http://schemas.microsoft.com/office/drawing/2014/main" id="{22C9B977-53CF-4B73-A3C0-0B133098253D}"/>
                </a:ext>
              </a:extLst>
            </p:cNvPr>
            <p:cNvSpPr>
              <a:spLocks noChangeArrowheads="1"/>
            </p:cNvSpPr>
            <p:nvPr/>
          </p:nvSpPr>
          <p:spPr bwMode="auto">
            <a:xfrm>
              <a:off x="1504" y="2891"/>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5" name="Oval 20">
              <a:extLst>
                <a:ext uri="{FF2B5EF4-FFF2-40B4-BE49-F238E27FC236}">
                  <a16:creationId xmlns:a16="http://schemas.microsoft.com/office/drawing/2014/main" id="{478E04DD-7A38-412B-B086-56566C07047E}"/>
                </a:ext>
              </a:extLst>
            </p:cNvPr>
            <p:cNvSpPr>
              <a:spLocks noChangeArrowheads="1"/>
            </p:cNvSpPr>
            <p:nvPr/>
          </p:nvSpPr>
          <p:spPr bwMode="auto">
            <a:xfrm>
              <a:off x="704" y="2987"/>
              <a:ext cx="1141" cy="41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6" name="Oval 21">
              <a:extLst>
                <a:ext uri="{FF2B5EF4-FFF2-40B4-BE49-F238E27FC236}">
                  <a16:creationId xmlns:a16="http://schemas.microsoft.com/office/drawing/2014/main" id="{D9E9E8B8-8272-44D0-9B1A-B4A76B4011AF}"/>
                </a:ext>
              </a:extLst>
            </p:cNvPr>
            <p:cNvSpPr>
              <a:spLocks noChangeArrowheads="1"/>
            </p:cNvSpPr>
            <p:nvPr/>
          </p:nvSpPr>
          <p:spPr bwMode="auto">
            <a:xfrm rot="1336630">
              <a:off x="1474" y="3067"/>
              <a:ext cx="555"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7" name="Oval 22">
              <a:extLst>
                <a:ext uri="{FF2B5EF4-FFF2-40B4-BE49-F238E27FC236}">
                  <a16:creationId xmlns:a16="http://schemas.microsoft.com/office/drawing/2014/main" id="{05F4EF58-E147-48A0-8F77-B3517670AE16}"/>
                </a:ext>
              </a:extLst>
            </p:cNvPr>
            <p:cNvSpPr>
              <a:spLocks noChangeArrowheads="1"/>
            </p:cNvSpPr>
            <p:nvPr/>
          </p:nvSpPr>
          <p:spPr bwMode="auto">
            <a:xfrm>
              <a:off x="1004" y="2811"/>
              <a:ext cx="75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8" name="Oval 23">
              <a:extLst>
                <a:ext uri="{FF2B5EF4-FFF2-40B4-BE49-F238E27FC236}">
                  <a16:creationId xmlns:a16="http://schemas.microsoft.com/office/drawing/2014/main" id="{200F1FC2-0EA0-4309-B5A8-10D504F50395}"/>
                </a:ext>
              </a:extLst>
            </p:cNvPr>
            <p:cNvSpPr>
              <a:spLocks noChangeArrowheads="1"/>
            </p:cNvSpPr>
            <p:nvPr/>
          </p:nvSpPr>
          <p:spPr bwMode="auto">
            <a:xfrm>
              <a:off x="577" y="2899"/>
              <a:ext cx="575" cy="320"/>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9" name="Oval 24">
              <a:extLst>
                <a:ext uri="{FF2B5EF4-FFF2-40B4-BE49-F238E27FC236}">
                  <a16:creationId xmlns:a16="http://schemas.microsoft.com/office/drawing/2014/main" id="{0440E371-8728-4B60-80E7-1406C3ED08A5}"/>
                </a:ext>
              </a:extLst>
            </p:cNvPr>
            <p:cNvSpPr>
              <a:spLocks noChangeArrowheads="1"/>
            </p:cNvSpPr>
            <p:nvPr/>
          </p:nvSpPr>
          <p:spPr bwMode="auto">
            <a:xfrm>
              <a:off x="396" y="3100"/>
              <a:ext cx="383"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0" name="Oval 25">
              <a:extLst>
                <a:ext uri="{FF2B5EF4-FFF2-40B4-BE49-F238E27FC236}">
                  <a16:creationId xmlns:a16="http://schemas.microsoft.com/office/drawing/2014/main" id="{C33B9C1E-1054-491D-84E1-010FF9758E54}"/>
                </a:ext>
              </a:extLst>
            </p:cNvPr>
            <p:cNvSpPr>
              <a:spLocks noChangeArrowheads="1"/>
            </p:cNvSpPr>
            <p:nvPr/>
          </p:nvSpPr>
          <p:spPr bwMode="auto">
            <a:xfrm>
              <a:off x="1515" y="2908"/>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1" name="Oval 26">
              <a:extLst>
                <a:ext uri="{FF2B5EF4-FFF2-40B4-BE49-F238E27FC236}">
                  <a16:creationId xmlns:a16="http://schemas.microsoft.com/office/drawing/2014/main" id="{79D60E3F-C031-444C-9352-C102F2D0B26E}"/>
                </a:ext>
              </a:extLst>
            </p:cNvPr>
            <p:cNvSpPr>
              <a:spLocks noChangeArrowheads="1"/>
            </p:cNvSpPr>
            <p:nvPr/>
          </p:nvSpPr>
          <p:spPr bwMode="auto">
            <a:xfrm>
              <a:off x="1599" y="3075"/>
              <a:ext cx="555" cy="249"/>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2" name="Oval 27">
              <a:extLst>
                <a:ext uri="{FF2B5EF4-FFF2-40B4-BE49-F238E27FC236}">
                  <a16:creationId xmlns:a16="http://schemas.microsoft.com/office/drawing/2014/main" id="{0F8DCF45-7FD7-4313-BD5F-A40CC5B3C49C}"/>
                </a:ext>
              </a:extLst>
            </p:cNvPr>
            <p:cNvSpPr>
              <a:spLocks noChangeArrowheads="1"/>
            </p:cNvSpPr>
            <p:nvPr/>
          </p:nvSpPr>
          <p:spPr bwMode="auto">
            <a:xfrm>
              <a:off x="715" y="3003"/>
              <a:ext cx="1141"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3" name="Oval 28">
              <a:extLst>
                <a:ext uri="{FF2B5EF4-FFF2-40B4-BE49-F238E27FC236}">
                  <a16:creationId xmlns:a16="http://schemas.microsoft.com/office/drawing/2014/main" id="{E628B1EB-EED5-4CB4-9754-14CA83343B2B}"/>
                </a:ext>
              </a:extLst>
            </p:cNvPr>
            <p:cNvSpPr>
              <a:spLocks noChangeArrowheads="1"/>
            </p:cNvSpPr>
            <p:nvPr/>
          </p:nvSpPr>
          <p:spPr bwMode="auto">
            <a:xfrm>
              <a:off x="513" y="3219"/>
              <a:ext cx="586" cy="282"/>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4" name="Freeform 29">
              <a:extLst>
                <a:ext uri="{FF2B5EF4-FFF2-40B4-BE49-F238E27FC236}">
                  <a16:creationId xmlns:a16="http://schemas.microsoft.com/office/drawing/2014/main" id="{B7DD7EFF-49E8-4634-8EF8-8029D4CC67F9}"/>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35" name="Group 30">
            <a:extLst>
              <a:ext uri="{FF2B5EF4-FFF2-40B4-BE49-F238E27FC236}">
                <a16:creationId xmlns:a16="http://schemas.microsoft.com/office/drawing/2014/main" id="{50E0A610-15E2-43E8-BCD8-3E1856BEF329}"/>
              </a:ext>
            </a:extLst>
          </p:cNvPr>
          <p:cNvGrpSpPr>
            <a:grpSpLocks/>
          </p:cNvGrpSpPr>
          <p:nvPr/>
        </p:nvGrpSpPr>
        <p:grpSpPr bwMode="auto">
          <a:xfrm>
            <a:off x="8177057" y="3415579"/>
            <a:ext cx="1635071" cy="963607"/>
            <a:chOff x="385" y="2795"/>
            <a:chExt cx="1769" cy="816"/>
          </a:xfrm>
          <a:solidFill>
            <a:schemeClr val="accent6">
              <a:lumMod val="20000"/>
              <a:lumOff val="80000"/>
            </a:schemeClr>
          </a:solidFill>
        </p:grpSpPr>
        <p:sp>
          <p:nvSpPr>
            <p:cNvPr id="236" name="Oval 31">
              <a:extLst>
                <a:ext uri="{FF2B5EF4-FFF2-40B4-BE49-F238E27FC236}">
                  <a16:creationId xmlns:a16="http://schemas.microsoft.com/office/drawing/2014/main" id="{FF5AD793-EFC7-48CA-8CCB-325C79AE7439}"/>
                </a:ext>
              </a:extLst>
            </p:cNvPr>
            <p:cNvSpPr>
              <a:spLocks noChangeArrowheads="1"/>
            </p:cNvSpPr>
            <p:nvPr/>
          </p:nvSpPr>
          <p:spPr bwMode="auto">
            <a:xfrm>
              <a:off x="1589" y="3060"/>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7" name="Oval 32">
              <a:extLst>
                <a:ext uri="{FF2B5EF4-FFF2-40B4-BE49-F238E27FC236}">
                  <a16:creationId xmlns:a16="http://schemas.microsoft.com/office/drawing/2014/main" id="{9F73C553-E06E-4DA8-BA09-84FE1A606D1B}"/>
                </a:ext>
              </a:extLst>
            </p:cNvPr>
            <p:cNvSpPr>
              <a:spLocks noChangeArrowheads="1"/>
            </p:cNvSpPr>
            <p:nvPr/>
          </p:nvSpPr>
          <p:spPr bwMode="auto">
            <a:xfrm>
              <a:off x="928" y="3274"/>
              <a:ext cx="884" cy="33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8" name="Oval 33">
              <a:extLst>
                <a:ext uri="{FF2B5EF4-FFF2-40B4-BE49-F238E27FC236}">
                  <a16:creationId xmlns:a16="http://schemas.microsoft.com/office/drawing/2014/main" id="{FDE356F3-BE97-4EDC-BAE1-A796335E5725}"/>
                </a:ext>
              </a:extLst>
            </p:cNvPr>
            <p:cNvSpPr>
              <a:spLocks noChangeArrowheads="1"/>
            </p:cNvSpPr>
            <p:nvPr/>
          </p:nvSpPr>
          <p:spPr bwMode="auto">
            <a:xfrm>
              <a:off x="502" y="3204"/>
              <a:ext cx="586" cy="28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9" name="Oval 34">
              <a:extLst>
                <a:ext uri="{FF2B5EF4-FFF2-40B4-BE49-F238E27FC236}">
                  <a16:creationId xmlns:a16="http://schemas.microsoft.com/office/drawing/2014/main" id="{4DD85630-F25B-4435-96D5-BB00F7D4EEC3}"/>
                </a:ext>
              </a:extLst>
            </p:cNvPr>
            <p:cNvSpPr>
              <a:spLocks noChangeArrowheads="1"/>
            </p:cNvSpPr>
            <p:nvPr/>
          </p:nvSpPr>
          <p:spPr bwMode="auto">
            <a:xfrm>
              <a:off x="385" y="3084"/>
              <a:ext cx="384"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0" name="Oval 35">
              <a:extLst>
                <a:ext uri="{FF2B5EF4-FFF2-40B4-BE49-F238E27FC236}">
                  <a16:creationId xmlns:a16="http://schemas.microsoft.com/office/drawing/2014/main" id="{470AC153-1E10-446D-92C4-E684856BD1EC}"/>
                </a:ext>
              </a:extLst>
            </p:cNvPr>
            <p:cNvSpPr>
              <a:spLocks noChangeArrowheads="1"/>
            </p:cNvSpPr>
            <p:nvPr/>
          </p:nvSpPr>
          <p:spPr bwMode="auto">
            <a:xfrm>
              <a:off x="566" y="2883"/>
              <a:ext cx="57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1" name="Oval 36">
              <a:extLst>
                <a:ext uri="{FF2B5EF4-FFF2-40B4-BE49-F238E27FC236}">
                  <a16:creationId xmlns:a16="http://schemas.microsoft.com/office/drawing/2014/main" id="{C76B93DA-1B28-4675-AAB9-D8D35E472743}"/>
                </a:ext>
              </a:extLst>
            </p:cNvPr>
            <p:cNvSpPr>
              <a:spLocks noChangeArrowheads="1"/>
            </p:cNvSpPr>
            <p:nvPr/>
          </p:nvSpPr>
          <p:spPr bwMode="auto">
            <a:xfrm>
              <a:off x="992" y="2795"/>
              <a:ext cx="757"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2" name="Oval 37">
              <a:extLst>
                <a:ext uri="{FF2B5EF4-FFF2-40B4-BE49-F238E27FC236}">
                  <a16:creationId xmlns:a16="http://schemas.microsoft.com/office/drawing/2014/main" id="{69DECBD1-687B-43B0-87A4-E424A751C83C}"/>
                </a:ext>
              </a:extLst>
            </p:cNvPr>
            <p:cNvSpPr>
              <a:spLocks noChangeArrowheads="1"/>
            </p:cNvSpPr>
            <p:nvPr/>
          </p:nvSpPr>
          <p:spPr bwMode="auto">
            <a:xfrm>
              <a:off x="1504" y="2891"/>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3" name="Oval 38">
              <a:extLst>
                <a:ext uri="{FF2B5EF4-FFF2-40B4-BE49-F238E27FC236}">
                  <a16:creationId xmlns:a16="http://schemas.microsoft.com/office/drawing/2014/main" id="{DBFA8D59-D239-40D1-A847-A8720C41A0E4}"/>
                </a:ext>
              </a:extLst>
            </p:cNvPr>
            <p:cNvSpPr>
              <a:spLocks noChangeArrowheads="1"/>
            </p:cNvSpPr>
            <p:nvPr/>
          </p:nvSpPr>
          <p:spPr bwMode="auto">
            <a:xfrm>
              <a:off x="704" y="2987"/>
              <a:ext cx="1141" cy="41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4" name="Oval 39">
              <a:extLst>
                <a:ext uri="{FF2B5EF4-FFF2-40B4-BE49-F238E27FC236}">
                  <a16:creationId xmlns:a16="http://schemas.microsoft.com/office/drawing/2014/main" id="{F3E67F87-FD0C-46AF-830B-3CAC0D86DAF6}"/>
                </a:ext>
              </a:extLst>
            </p:cNvPr>
            <p:cNvSpPr>
              <a:spLocks noChangeArrowheads="1"/>
            </p:cNvSpPr>
            <p:nvPr/>
          </p:nvSpPr>
          <p:spPr bwMode="auto">
            <a:xfrm rot="1336630">
              <a:off x="1474" y="3067"/>
              <a:ext cx="555"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5" name="Oval 40">
              <a:extLst>
                <a:ext uri="{FF2B5EF4-FFF2-40B4-BE49-F238E27FC236}">
                  <a16:creationId xmlns:a16="http://schemas.microsoft.com/office/drawing/2014/main" id="{BA402EB0-3526-405C-B573-50C4CFE580EF}"/>
                </a:ext>
              </a:extLst>
            </p:cNvPr>
            <p:cNvSpPr>
              <a:spLocks noChangeArrowheads="1"/>
            </p:cNvSpPr>
            <p:nvPr/>
          </p:nvSpPr>
          <p:spPr bwMode="auto">
            <a:xfrm>
              <a:off x="1004" y="2811"/>
              <a:ext cx="75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6" name="Oval 41">
              <a:extLst>
                <a:ext uri="{FF2B5EF4-FFF2-40B4-BE49-F238E27FC236}">
                  <a16:creationId xmlns:a16="http://schemas.microsoft.com/office/drawing/2014/main" id="{BDF617F5-8634-475C-8A6D-AC29620817C5}"/>
                </a:ext>
              </a:extLst>
            </p:cNvPr>
            <p:cNvSpPr>
              <a:spLocks noChangeArrowheads="1"/>
            </p:cNvSpPr>
            <p:nvPr/>
          </p:nvSpPr>
          <p:spPr bwMode="auto">
            <a:xfrm>
              <a:off x="577" y="2899"/>
              <a:ext cx="575" cy="320"/>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7" name="Oval 42">
              <a:extLst>
                <a:ext uri="{FF2B5EF4-FFF2-40B4-BE49-F238E27FC236}">
                  <a16:creationId xmlns:a16="http://schemas.microsoft.com/office/drawing/2014/main" id="{C392AAA9-E205-4103-BB47-EF8FE917B92F}"/>
                </a:ext>
              </a:extLst>
            </p:cNvPr>
            <p:cNvSpPr>
              <a:spLocks noChangeArrowheads="1"/>
            </p:cNvSpPr>
            <p:nvPr/>
          </p:nvSpPr>
          <p:spPr bwMode="auto">
            <a:xfrm>
              <a:off x="396" y="3100"/>
              <a:ext cx="383"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8" name="Oval 43">
              <a:extLst>
                <a:ext uri="{FF2B5EF4-FFF2-40B4-BE49-F238E27FC236}">
                  <a16:creationId xmlns:a16="http://schemas.microsoft.com/office/drawing/2014/main" id="{147D3BA9-8B15-445E-B873-744534B7BC63}"/>
                </a:ext>
              </a:extLst>
            </p:cNvPr>
            <p:cNvSpPr>
              <a:spLocks noChangeArrowheads="1"/>
            </p:cNvSpPr>
            <p:nvPr/>
          </p:nvSpPr>
          <p:spPr bwMode="auto">
            <a:xfrm>
              <a:off x="1515" y="2908"/>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9" name="Oval 44">
              <a:extLst>
                <a:ext uri="{FF2B5EF4-FFF2-40B4-BE49-F238E27FC236}">
                  <a16:creationId xmlns:a16="http://schemas.microsoft.com/office/drawing/2014/main" id="{316DB786-F9C4-4B71-9C13-64CD474A9F01}"/>
                </a:ext>
              </a:extLst>
            </p:cNvPr>
            <p:cNvSpPr>
              <a:spLocks noChangeArrowheads="1"/>
            </p:cNvSpPr>
            <p:nvPr/>
          </p:nvSpPr>
          <p:spPr bwMode="auto">
            <a:xfrm>
              <a:off x="1599" y="3075"/>
              <a:ext cx="555" cy="249"/>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0" name="Oval 45">
              <a:extLst>
                <a:ext uri="{FF2B5EF4-FFF2-40B4-BE49-F238E27FC236}">
                  <a16:creationId xmlns:a16="http://schemas.microsoft.com/office/drawing/2014/main" id="{F6FFAD80-A56F-4A65-A311-DC0DCA3A1151}"/>
                </a:ext>
              </a:extLst>
            </p:cNvPr>
            <p:cNvSpPr>
              <a:spLocks noChangeArrowheads="1"/>
            </p:cNvSpPr>
            <p:nvPr/>
          </p:nvSpPr>
          <p:spPr bwMode="auto">
            <a:xfrm>
              <a:off x="715" y="3003"/>
              <a:ext cx="1141"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1" name="Oval 46">
              <a:extLst>
                <a:ext uri="{FF2B5EF4-FFF2-40B4-BE49-F238E27FC236}">
                  <a16:creationId xmlns:a16="http://schemas.microsoft.com/office/drawing/2014/main" id="{59FFC015-F033-4E70-BE4D-4570D0264350}"/>
                </a:ext>
              </a:extLst>
            </p:cNvPr>
            <p:cNvSpPr>
              <a:spLocks noChangeArrowheads="1"/>
            </p:cNvSpPr>
            <p:nvPr/>
          </p:nvSpPr>
          <p:spPr bwMode="auto">
            <a:xfrm>
              <a:off x="513" y="3219"/>
              <a:ext cx="586" cy="282"/>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2" name="Freeform 47">
              <a:extLst>
                <a:ext uri="{FF2B5EF4-FFF2-40B4-BE49-F238E27FC236}">
                  <a16:creationId xmlns:a16="http://schemas.microsoft.com/office/drawing/2014/main" id="{F92821D5-D671-4D8E-BD87-5183678173BB}"/>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aphicFrame>
        <p:nvGraphicFramePr>
          <p:cNvPr id="253" name="Object 48">
            <a:extLst>
              <a:ext uri="{FF2B5EF4-FFF2-40B4-BE49-F238E27FC236}">
                <a16:creationId xmlns:a16="http://schemas.microsoft.com/office/drawing/2014/main" id="{238C142D-862D-41E9-BBC4-2BBDA30E0754}"/>
              </a:ext>
            </a:extLst>
          </p:cNvPr>
          <p:cNvGraphicFramePr>
            <a:graphicFrameLocks noChangeAspect="1"/>
          </p:cNvGraphicFramePr>
          <p:nvPr/>
        </p:nvGraphicFramePr>
        <p:xfrm>
          <a:off x="4199469" y="3132628"/>
          <a:ext cx="3345170" cy="191739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253" name="Object 48">
                        <a:extLst>
                          <a:ext uri="{FF2B5EF4-FFF2-40B4-BE49-F238E27FC236}">
                            <a16:creationId xmlns:a16="http://schemas.microsoft.com/office/drawing/2014/main" id="{238C142D-862D-41E9-BBC4-2BBDA30E075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99469" y="3132628"/>
                        <a:ext cx="3345170" cy="1917398"/>
                      </a:xfrm>
                      <a:prstGeom prst="rect">
                        <a:avLst/>
                      </a:prstGeom>
                      <a:noFill/>
                      <a:ln>
                        <a:noFill/>
                      </a:ln>
                      <a:effectLst/>
                    </p:spPr>
                  </p:pic>
                </p:oleObj>
              </mc:Fallback>
            </mc:AlternateContent>
          </a:graphicData>
        </a:graphic>
      </p:graphicFrame>
      <p:sp>
        <p:nvSpPr>
          <p:cNvPr id="256" name="Text Box 51">
            <a:extLst>
              <a:ext uri="{FF2B5EF4-FFF2-40B4-BE49-F238E27FC236}">
                <a16:creationId xmlns:a16="http://schemas.microsoft.com/office/drawing/2014/main" id="{362D3B0C-AA74-4C16-99E0-1D5EBCE7EA8A}"/>
              </a:ext>
            </a:extLst>
          </p:cNvPr>
          <p:cNvSpPr txBox="1">
            <a:spLocks noChangeArrowheads="1"/>
          </p:cNvSpPr>
          <p:nvPr/>
        </p:nvSpPr>
        <p:spPr bwMode="auto">
          <a:xfrm>
            <a:off x="2231286" y="3688953"/>
            <a:ext cx="10783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A</a:t>
            </a:r>
          </a:p>
        </p:txBody>
      </p:sp>
      <p:sp>
        <p:nvSpPr>
          <p:cNvPr id="257" name="AutoShape 52">
            <a:extLst>
              <a:ext uri="{FF2B5EF4-FFF2-40B4-BE49-F238E27FC236}">
                <a16:creationId xmlns:a16="http://schemas.microsoft.com/office/drawing/2014/main" id="{C02AF835-582A-49F6-A253-C56DE5B446A4}"/>
              </a:ext>
            </a:extLst>
          </p:cNvPr>
          <p:cNvSpPr>
            <a:spLocks noChangeArrowheads="1"/>
          </p:cNvSpPr>
          <p:nvPr/>
        </p:nvSpPr>
        <p:spPr bwMode="auto">
          <a:xfrm rot="16200000">
            <a:off x="5526079" y="2281145"/>
            <a:ext cx="485899" cy="3194488"/>
          </a:xfrm>
          <a:prstGeom prst="can">
            <a:avLst>
              <a:gd name="adj" fmla="val 25521"/>
            </a:avLst>
          </a:prstGeom>
          <a:gradFill rotWithShape="1">
            <a:gsLst>
              <a:gs pos="0">
                <a:srgbClr val="33CCFF">
                  <a:gamma/>
                  <a:shade val="46275"/>
                  <a:invGamma/>
                </a:srgbClr>
              </a:gs>
              <a:gs pos="50000">
                <a:schemeClr val="accent5">
                  <a:lumMod val="20000"/>
                  <a:lumOff val="80000"/>
                </a:schemeClr>
              </a:gs>
              <a:gs pos="100000">
                <a:srgbClr val="33CCFF">
                  <a:gamma/>
                  <a:shade val="46275"/>
                  <a:invGamma/>
                </a:srgbClr>
              </a:gs>
            </a:gsLst>
            <a:lin ang="0" scaled="1"/>
          </a:gradFill>
          <a:ln w="9525">
            <a:solidFill>
              <a:schemeClr val="tx1"/>
            </a:solidFill>
            <a:round/>
            <a:headEnd/>
            <a:tailEnd/>
          </a:ln>
          <a:effectLst/>
        </p:spPr>
        <p:txBody>
          <a:bodyPr wrap="none" anchor="ctr"/>
          <a:lstStyle/>
          <a:p>
            <a:endParaRPr lang="zh-CN" altLang="en-US" sz="2000" b="1" dirty="0">
              <a:solidFill>
                <a:srgbClr val="000099"/>
              </a:solidFill>
              <a:latin typeface="微软雅黑" panose="020B0503020204020204" pitchFamily="34" charset="-122"/>
              <a:ea typeface="微软雅黑" panose="020B0503020204020204" pitchFamily="34" charset="-122"/>
            </a:endParaRPr>
          </a:p>
        </p:txBody>
      </p:sp>
      <p:sp>
        <p:nvSpPr>
          <p:cNvPr id="258" name="Text Box 53">
            <a:extLst>
              <a:ext uri="{FF2B5EF4-FFF2-40B4-BE49-F238E27FC236}">
                <a16:creationId xmlns:a16="http://schemas.microsoft.com/office/drawing/2014/main" id="{6276A899-6E84-400A-A510-6CC00B2F3115}"/>
              </a:ext>
            </a:extLst>
          </p:cNvPr>
          <p:cNvSpPr txBox="1">
            <a:spLocks noChangeArrowheads="1"/>
          </p:cNvSpPr>
          <p:nvPr/>
        </p:nvSpPr>
        <p:spPr bwMode="auto">
          <a:xfrm>
            <a:off x="5334269" y="4215860"/>
            <a:ext cx="136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solidFill>
                  <a:schemeClr val="accent2">
                    <a:lumMod val="75000"/>
                  </a:schemeClr>
                </a:solidFill>
                <a:latin typeface="微软雅黑" pitchFamily="34" charset="-122"/>
                <a:ea typeface="微软雅黑" pitchFamily="34" charset="-122"/>
              </a:rPr>
              <a:t>Internet</a:t>
            </a:r>
            <a:endParaRPr kumimoji="1" lang="zh-CN" altLang="en-US" sz="1600" b="1" dirty="0">
              <a:solidFill>
                <a:schemeClr val="accent2">
                  <a:lumMod val="75000"/>
                </a:schemeClr>
              </a:solidFill>
              <a:latin typeface="微软雅黑" pitchFamily="34" charset="-122"/>
              <a:ea typeface="微软雅黑" pitchFamily="34" charset="-122"/>
            </a:endParaRPr>
          </a:p>
        </p:txBody>
      </p:sp>
      <p:sp>
        <p:nvSpPr>
          <p:cNvPr id="259" name="Text Box 54">
            <a:extLst>
              <a:ext uri="{FF2B5EF4-FFF2-40B4-BE49-F238E27FC236}">
                <a16:creationId xmlns:a16="http://schemas.microsoft.com/office/drawing/2014/main" id="{E59B285A-4E94-40AF-AAF4-F1380ADBF8D9}"/>
              </a:ext>
            </a:extLst>
          </p:cNvPr>
          <p:cNvSpPr txBox="1">
            <a:spLocks noChangeArrowheads="1"/>
          </p:cNvSpPr>
          <p:nvPr/>
        </p:nvSpPr>
        <p:spPr bwMode="auto">
          <a:xfrm>
            <a:off x="8726541" y="3769264"/>
            <a:ext cx="10080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B</a:t>
            </a:r>
          </a:p>
        </p:txBody>
      </p:sp>
      <p:sp>
        <p:nvSpPr>
          <p:cNvPr id="260" name="Text Box 55">
            <a:extLst>
              <a:ext uri="{FF2B5EF4-FFF2-40B4-BE49-F238E27FC236}">
                <a16:creationId xmlns:a16="http://schemas.microsoft.com/office/drawing/2014/main" id="{E2206F7C-E9B4-4152-B094-30ED48B4DAA1}"/>
              </a:ext>
            </a:extLst>
          </p:cNvPr>
          <p:cNvSpPr txBox="1">
            <a:spLocks noChangeArrowheads="1"/>
          </p:cNvSpPr>
          <p:nvPr/>
        </p:nvSpPr>
        <p:spPr bwMode="auto">
          <a:xfrm>
            <a:off x="3278220" y="4017211"/>
            <a:ext cx="584769"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anose="020B0503020204020204" pitchFamily="34" charset="-122"/>
                <a:ea typeface="微软雅黑" panose="020B0503020204020204"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61" name="Text Box 56">
            <a:extLst>
              <a:ext uri="{FF2B5EF4-FFF2-40B4-BE49-F238E27FC236}">
                <a16:creationId xmlns:a16="http://schemas.microsoft.com/office/drawing/2014/main" id="{FD26D5E1-1067-483F-9C6E-C876DF93B460}"/>
              </a:ext>
            </a:extLst>
          </p:cNvPr>
          <p:cNvSpPr txBox="1">
            <a:spLocks noChangeArrowheads="1"/>
          </p:cNvSpPr>
          <p:nvPr/>
        </p:nvSpPr>
        <p:spPr bwMode="auto">
          <a:xfrm>
            <a:off x="7717895" y="4100550"/>
            <a:ext cx="62738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anose="020B0503020204020204" pitchFamily="34" charset="-122"/>
                <a:ea typeface="微软雅黑" panose="020B0503020204020204" pitchFamily="34" charset="-122"/>
              </a:rPr>
              <a:t>R</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p:txBody>
      </p:sp>
      <p:sp>
        <p:nvSpPr>
          <p:cNvPr id="262" name="Text Box 57">
            <a:extLst>
              <a:ext uri="{FF2B5EF4-FFF2-40B4-BE49-F238E27FC236}">
                <a16:creationId xmlns:a16="http://schemas.microsoft.com/office/drawing/2014/main" id="{C6DC2ECE-F32B-4E2E-B929-E1BEDB4854E0}"/>
              </a:ext>
            </a:extLst>
          </p:cNvPr>
          <p:cNvSpPr txBox="1">
            <a:spLocks noChangeArrowheads="1"/>
          </p:cNvSpPr>
          <p:nvPr/>
        </p:nvSpPr>
        <p:spPr bwMode="auto">
          <a:xfrm>
            <a:off x="5522092" y="3727200"/>
            <a:ext cx="898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chemeClr val="bg2">
                    <a:lumMod val="25000"/>
                  </a:schemeClr>
                </a:solidFill>
                <a:latin typeface="微软雅黑" panose="020B0503020204020204" pitchFamily="34" charset="-122"/>
                <a:ea typeface="微软雅黑" panose="020B0503020204020204" pitchFamily="34" charset="-122"/>
              </a:rPr>
              <a:t>隧道</a:t>
            </a:r>
          </a:p>
        </p:txBody>
      </p:sp>
      <p:sp>
        <p:nvSpPr>
          <p:cNvPr id="264" name="Line 59">
            <a:extLst>
              <a:ext uri="{FF2B5EF4-FFF2-40B4-BE49-F238E27FC236}">
                <a16:creationId xmlns:a16="http://schemas.microsoft.com/office/drawing/2014/main" id="{FD8E03DF-455B-450D-8873-21AE499F44E1}"/>
              </a:ext>
            </a:extLst>
          </p:cNvPr>
          <p:cNvSpPr>
            <a:spLocks noChangeShapeType="1"/>
          </p:cNvSpPr>
          <p:nvPr/>
        </p:nvSpPr>
        <p:spPr bwMode="auto">
          <a:xfrm>
            <a:off x="7366271" y="3875358"/>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65" name="Group 60">
            <a:extLst>
              <a:ext uri="{FF2B5EF4-FFF2-40B4-BE49-F238E27FC236}">
                <a16:creationId xmlns:a16="http://schemas.microsoft.com/office/drawing/2014/main" id="{C923C0F1-BAD9-47C6-A12D-C4B67E02250D}"/>
              </a:ext>
            </a:extLst>
          </p:cNvPr>
          <p:cNvGrpSpPr>
            <a:grpSpLocks/>
          </p:cNvGrpSpPr>
          <p:nvPr/>
        </p:nvGrpSpPr>
        <p:grpSpPr bwMode="auto">
          <a:xfrm>
            <a:off x="3645023" y="3202547"/>
            <a:ext cx="4236799" cy="636583"/>
            <a:chOff x="743" y="1617"/>
            <a:chExt cx="3386" cy="510"/>
          </a:xfrm>
        </p:grpSpPr>
        <p:sp>
          <p:nvSpPr>
            <p:cNvPr id="266" name="Text Box 61">
              <a:extLst>
                <a:ext uri="{FF2B5EF4-FFF2-40B4-BE49-F238E27FC236}">
                  <a16:creationId xmlns:a16="http://schemas.microsoft.com/office/drawing/2014/main" id="{F2F3540E-F0A7-4770-BAF5-C611F356B1AF}"/>
                </a:ext>
              </a:extLst>
            </p:cNvPr>
            <p:cNvSpPr txBox="1">
              <a:spLocks noChangeArrowheads="1"/>
            </p:cNvSpPr>
            <p:nvPr/>
          </p:nvSpPr>
          <p:spPr bwMode="auto">
            <a:xfrm>
              <a:off x="743" y="1617"/>
              <a:ext cx="759"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0070C0"/>
                  </a:solidFill>
                  <a:latin typeface="微软雅黑" panose="020B0503020204020204" pitchFamily="34" charset="-122"/>
                  <a:ea typeface="微软雅黑" panose="020B0503020204020204" pitchFamily="34" charset="-122"/>
                </a:rPr>
                <a:t>125.1.2.3</a:t>
              </a:r>
            </a:p>
          </p:txBody>
        </p:sp>
        <p:sp>
          <p:nvSpPr>
            <p:cNvPr id="267" name="Line 62">
              <a:extLst>
                <a:ext uri="{FF2B5EF4-FFF2-40B4-BE49-F238E27FC236}">
                  <a16:creationId xmlns:a16="http://schemas.microsoft.com/office/drawing/2014/main" id="{A10F7041-947E-48CC-81E9-571F2A3B8A09}"/>
                </a:ext>
              </a:extLst>
            </p:cNvPr>
            <p:cNvSpPr>
              <a:spLocks noChangeShapeType="1"/>
            </p:cNvSpPr>
            <p:nvPr/>
          </p:nvSpPr>
          <p:spPr bwMode="auto">
            <a:xfrm flipH="1">
              <a:off x="957" y="1876"/>
              <a:ext cx="91" cy="251"/>
            </a:xfrm>
            <a:prstGeom prst="line">
              <a:avLst/>
            </a:prstGeom>
            <a:ln w="28575">
              <a:headEnd/>
              <a:tailEnd type="triangle" w="sm" len="med"/>
            </a:ln>
          </p:spPr>
          <p:style>
            <a:lnRef idx="1">
              <a:schemeClr val="accent5"/>
            </a:lnRef>
            <a:fillRef idx="0">
              <a:schemeClr val="accent5"/>
            </a:fillRef>
            <a:effectRef idx="0">
              <a:schemeClr val="accent5"/>
            </a:effectRef>
            <a:fontRef idx="minor">
              <a:schemeClr val="tx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8" name="Text Box 63">
              <a:extLst>
                <a:ext uri="{FF2B5EF4-FFF2-40B4-BE49-F238E27FC236}">
                  <a16:creationId xmlns:a16="http://schemas.microsoft.com/office/drawing/2014/main" id="{F1409CC8-661A-4CCF-9D4F-1E7793F82562}"/>
                </a:ext>
              </a:extLst>
            </p:cNvPr>
            <p:cNvSpPr txBox="1">
              <a:spLocks noChangeArrowheads="1"/>
            </p:cNvSpPr>
            <p:nvPr/>
          </p:nvSpPr>
          <p:spPr bwMode="auto">
            <a:xfrm>
              <a:off x="3370" y="1657"/>
              <a:ext cx="75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solidFill>
                    <a:srgbClr val="0070C0"/>
                  </a:solidFill>
                  <a:latin typeface="微软雅黑" panose="020B0503020204020204" pitchFamily="34" charset="-122"/>
                  <a:ea typeface="微软雅黑" panose="020B0503020204020204" pitchFamily="34" charset="-122"/>
                </a:rPr>
                <a:t>194.4.5.6</a:t>
              </a:r>
            </a:p>
          </p:txBody>
        </p:sp>
        <p:sp>
          <p:nvSpPr>
            <p:cNvPr id="269" name="Line 64">
              <a:extLst>
                <a:ext uri="{FF2B5EF4-FFF2-40B4-BE49-F238E27FC236}">
                  <a16:creationId xmlns:a16="http://schemas.microsoft.com/office/drawing/2014/main" id="{DFF996A9-6330-4CE2-B8E9-8C02608AE19D}"/>
                </a:ext>
              </a:extLst>
            </p:cNvPr>
            <p:cNvSpPr>
              <a:spLocks noChangeShapeType="1"/>
            </p:cNvSpPr>
            <p:nvPr/>
          </p:nvSpPr>
          <p:spPr bwMode="auto">
            <a:xfrm>
              <a:off x="3776" y="1871"/>
              <a:ext cx="120" cy="242"/>
            </a:xfrm>
            <a:prstGeom prst="line">
              <a:avLst/>
            </a:prstGeom>
            <a:noFill/>
            <a:ln w="28575">
              <a:solidFill>
                <a:srgbClr val="0070C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74" name="AutoShape 78">
            <a:extLst>
              <a:ext uri="{FF2B5EF4-FFF2-40B4-BE49-F238E27FC236}">
                <a16:creationId xmlns:a16="http://schemas.microsoft.com/office/drawing/2014/main" id="{CD05B114-6DCB-4292-B067-846BFF4DE298}"/>
              </a:ext>
            </a:extLst>
          </p:cNvPr>
          <p:cNvSpPr>
            <a:spLocks noChangeArrowheads="1"/>
          </p:cNvSpPr>
          <p:nvPr/>
        </p:nvSpPr>
        <p:spPr bwMode="auto">
          <a:xfrm>
            <a:off x="2211274" y="4557710"/>
            <a:ext cx="1380256" cy="522000"/>
          </a:xfrm>
          <a:prstGeom prst="wedgeRoundRectCallout">
            <a:avLst>
              <a:gd name="adj1" fmla="val 7863"/>
              <a:gd name="adj2" fmla="val -119555"/>
              <a:gd name="adj3" fmla="val 16667"/>
            </a:avLst>
          </a:prstGeom>
          <a:gradFill flip="none" rotWithShape="1">
            <a:gsLst>
              <a:gs pos="0">
                <a:srgbClr val="F9BC12">
                  <a:tint val="66000"/>
                  <a:satMod val="160000"/>
                </a:srgbClr>
              </a:gs>
              <a:gs pos="50000">
                <a:srgbClr val="F9BC12">
                  <a:tint val="44500"/>
                  <a:satMod val="160000"/>
                </a:srgbClr>
              </a:gs>
              <a:gs pos="100000">
                <a:srgbClr val="F9BC12">
                  <a:tint val="23500"/>
                  <a:satMod val="160000"/>
                </a:srgbClr>
              </a:gs>
            </a:gsLst>
            <a:lin ang="189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anose="020B0503020204020204" pitchFamily="34" charset="-122"/>
              <a:ea typeface="微软雅黑" panose="020B0503020204020204" pitchFamily="34" charset="-122"/>
            </a:endParaRPr>
          </a:p>
        </p:txBody>
      </p:sp>
      <p:sp>
        <p:nvSpPr>
          <p:cNvPr id="275" name="Text Box 81">
            <a:extLst>
              <a:ext uri="{FF2B5EF4-FFF2-40B4-BE49-F238E27FC236}">
                <a16:creationId xmlns:a16="http://schemas.microsoft.com/office/drawing/2014/main" id="{7218EFCC-9A61-4FB4-B3FF-24A4ABC3C670}"/>
              </a:ext>
            </a:extLst>
          </p:cNvPr>
          <p:cNvSpPr txBox="1">
            <a:spLocks noChangeArrowheads="1"/>
          </p:cNvSpPr>
          <p:nvPr/>
        </p:nvSpPr>
        <p:spPr bwMode="auto">
          <a:xfrm>
            <a:off x="2173227" y="4587024"/>
            <a:ext cx="145634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latin typeface="微软雅黑" pitchFamily="34" charset="-122"/>
                <a:ea typeface="微软雅黑" pitchFamily="34" charset="-122"/>
              </a:rPr>
              <a:t>172.16.0.0/20</a:t>
            </a:r>
          </a:p>
          <a:p>
            <a:pPr algn="ctr"/>
            <a:r>
              <a:rPr lang="zh-CN" altLang="en-US" sz="1400" dirty="0">
                <a:latin typeface="微软雅黑" pitchFamily="34" charset="-122"/>
                <a:ea typeface="微软雅黑" pitchFamily="34" charset="-122"/>
              </a:rPr>
              <a:t>（本地地址）</a:t>
            </a:r>
          </a:p>
        </p:txBody>
      </p:sp>
      <p:sp>
        <p:nvSpPr>
          <p:cNvPr id="276" name="AutoShape 83">
            <a:extLst>
              <a:ext uri="{FF2B5EF4-FFF2-40B4-BE49-F238E27FC236}">
                <a16:creationId xmlns:a16="http://schemas.microsoft.com/office/drawing/2014/main" id="{C2643757-6C6C-4DC8-B891-7751361288CB}"/>
              </a:ext>
            </a:extLst>
          </p:cNvPr>
          <p:cNvSpPr>
            <a:spLocks noChangeArrowheads="1"/>
          </p:cNvSpPr>
          <p:nvPr/>
        </p:nvSpPr>
        <p:spPr bwMode="auto">
          <a:xfrm>
            <a:off x="8354521" y="4646075"/>
            <a:ext cx="1533161" cy="523220"/>
          </a:xfrm>
          <a:prstGeom prst="wedgeRoundRectCallout">
            <a:avLst>
              <a:gd name="adj1" fmla="val -14675"/>
              <a:gd name="adj2" fmla="val -124108"/>
              <a:gd name="adj3" fmla="val 16667"/>
            </a:avLst>
          </a:prstGeom>
          <a:gradFill flip="none" rotWithShape="1">
            <a:gsLst>
              <a:gs pos="0">
                <a:srgbClr val="BB159B">
                  <a:tint val="66000"/>
                  <a:satMod val="160000"/>
                </a:srgbClr>
              </a:gs>
              <a:gs pos="50000">
                <a:srgbClr val="BB159B">
                  <a:tint val="44500"/>
                  <a:satMod val="160000"/>
                </a:srgbClr>
              </a:gs>
              <a:gs pos="100000">
                <a:srgbClr val="BB159B">
                  <a:tint val="23500"/>
                  <a:satMod val="160000"/>
                </a:srgbClr>
              </a:gs>
            </a:gsLst>
            <a:lin ang="135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anose="020B0503020204020204" pitchFamily="34" charset="-122"/>
              <a:ea typeface="微软雅黑" panose="020B0503020204020204" pitchFamily="34" charset="-122"/>
            </a:endParaRPr>
          </a:p>
        </p:txBody>
      </p:sp>
      <p:sp>
        <p:nvSpPr>
          <p:cNvPr id="277" name="Text Box 82">
            <a:extLst>
              <a:ext uri="{FF2B5EF4-FFF2-40B4-BE49-F238E27FC236}">
                <a16:creationId xmlns:a16="http://schemas.microsoft.com/office/drawing/2014/main" id="{F3AAADBB-D03A-4CAF-A200-F3EEFBAF326D}"/>
              </a:ext>
            </a:extLst>
          </p:cNvPr>
          <p:cNvSpPr txBox="1">
            <a:spLocks noChangeArrowheads="1"/>
          </p:cNvSpPr>
          <p:nvPr/>
        </p:nvSpPr>
        <p:spPr bwMode="auto">
          <a:xfrm>
            <a:off x="8023287" y="4688297"/>
            <a:ext cx="21210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solidFill>
                  <a:srgbClr val="002060"/>
                </a:solidFill>
                <a:latin typeface="微软雅黑" pitchFamily="34" charset="-122"/>
                <a:ea typeface="微软雅黑" pitchFamily="34" charset="-122"/>
              </a:rPr>
              <a:t>192.168.1.0/24</a:t>
            </a:r>
          </a:p>
          <a:p>
            <a:pPr algn="ctr"/>
            <a:r>
              <a:rPr lang="zh-CN" altLang="en-US" sz="1400" dirty="0">
                <a:solidFill>
                  <a:srgbClr val="002060"/>
                </a:solidFill>
                <a:latin typeface="微软雅黑" pitchFamily="34" charset="-122"/>
                <a:ea typeface="微软雅黑" pitchFamily="34" charset="-122"/>
              </a:rPr>
              <a:t>（本地地址）</a:t>
            </a:r>
          </a:p>
        </p:txBody>
      </p:sp>
      <p:pic>
        <p:nvPicPr>
          <p:cNvPr id="280" name="Picture 30" descr="通用路由器">
            <a:extLst>
              <a:ext uri="{FF2B5EF4-FFF2-40B4-BE49-F238E27FC236}">
                <a16:creationId xmlns:a16="http://schemas.microsoft.com/office/drawing/2014/main" id="{F4243C29-0280-4DDA-8AA3-5F8ABD60E46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80166" y="3646752"/>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30" descr="通用路由器">
            <a:extLst>
              <a:ext uri="{FF2B5EF4-FFF2-40B4-BE49-F238E27FC236}">
                <a16:creationId xmlns:a16="http://schemas.microsoft.com/office/drawing/2014/main" id="{CE5B3BC9-27F4-40C2-B121-ECE592D3BD9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7880" y="3699156"/>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Line 59">
            <a:extLst>
              <a:ext uri="{FF2B5EF4-FFF2-40B4-BE49-F238E27FC236}">
                <a16:creationId xmlns:a16="http://schemas.microsoft.com/office/drawing/2014/main" id="{778FE696-5BA6-4BD5-981B-D07C55383473}"/>
              </a:ext>
            </a:extLst>
          </p:cNvPr>
          <p:cNvSpPr>
            <a:spLocks noChangeShapeType="1"/>
          </p:cNvSpPr>
          <p:nvPr/>
        </p:nvSpPr>
        <p:spPr bwMode="auto">
          <a:xfrm>
            <a:off x="3862989" y="3857306"/>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3" name="Rectangle 76">
            <a:extLst>
              <a:ext uri="{FF2B5EF4-FFF2-40B4-BE49-F238E27FC236}">
                <a16:creationId xmlns:a16="http://schemas.microsoft.com/office/drawing/2014/main" id="{D725975F-82E8-4092-910C-4B0EF6384A58}"/>
              </a:ext>
            </a:extLst>
          </p:cNvPr>
          <p:cNvSpPr>
            <a:spLocks noChangeArrowheads="1"/>
          </p:cNvSpPr>
          <p:nvPr/>
        </p:nvSpPr>
        <p:spPr bwMode="auto">
          <a:xfrm>
            <a:off x="6014921" y="1711874"/>
            <a:ext cx="3167242" cy="532800"/>
          </a:xfrm>
          <a:prstGeom prst="wedgeRoundRectCallout">
            <a:avLst>
              <a:gd name="adj1" fmla="val -24723"/>
              <a:gd name="adj2" fmla="val 91420"/>
              <a:gd name="adj3" fmla="val 16667"/>
            </a:avLst>
          </a:prstGeom>
          <a:gradFill flip="none" rotWithShape="1">
            <a:gsLst>
              <a:gs pos="73000">
                <a:schemeClr val="bg1"/>
              </a:gs>
              <a:gs pos="0">
                <a:srgbClr val="00B0F0"/>
              </a:gs>
            </a:gsLst>
            <a:lin ang="5400000" scaled="1"/>
            <a:tileRect/>
          </a:gradFill>
          <a:ln w="9525">
            <a:solidFill>
              <a:schemeClr val="accent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被安全封装的从 </a:t>
            </a:r>
            <a:r>
              <a:rPr kumimoji="1" lang="en-US" altLang="zh-CN" sz="1400" dirty="0">
                <a:latin typeface="微软雅黑" pitchFamily="34" charset="-122"/>
                <a:ea typeface="微软雅黑" pitchFamily="34" charset="-122"/>
              </a:rPr>
              <a:t>X </a:t>
            </a:r>
            <a:r>
              <a:rPr kumimoji="1" lang="zh-CN" altLang="en-US" sz="1400" dirty="0">
                <a:latin typeface="微软雅黑" pitchFamily="34" charset="-122"/>
                <a:ea typeface="微软雅黑" pitchFamily="34" charset="-122"/>
              </a:rPr>
              <a:t>到 </a:t>
            </a:r>
            <a:r>
              <a:rPr kumimoji="1" lang="en-US" altLang="zh-CN" sz="1400" dirty="0">
                <a:latin typeface="微软雅黑" pitchFamily="34" charset="-122"/>
                <a:ea typeface="微软雅黑" pitchFamily="34" charset="-122"/>
              </a:rPr>
              <a:t>Y </a:t>
            </a:r>
            <a:r>
              <a:rPr kumimoji="1" lang="zh-CN" altLang="en-US" sz="1400" dirty="0">
                <a:latin typeface="微软雅黑" pitchFamily="34" charset="-122"/>
                <a:ea typeface="微软雅黑" pitchFamily="34" charset="-122"/>
              </a:rPr>
              <a:t>的内部数据报</a:t>
            </a:r>
          </a:p>
        </p:txBody>
      </p:sp>
      <p:sp>
        <p:nvSpPr>
          <p:cNvPr id="155" name="Text Box 79">
            <a:extLst>
              <a:ext uri="{FF2B5EF4-FFF2-40B4-BE49-F238E27FC236}">
                <a16:creationId xmlns:a16="http://schemas.microsoft.com/office/drawing/2014/main" id="{55975E92-1D89-4776-84F8-A09A9518680B}"/>
              </a:ext>
            </a:extLst>
          </p:cNvPr>
          <p:cNvSpPr txBox="1">
            <a:spLocks noChangeArrowheads="1"/>
          </p:cNvSpPr>
          <p:nvPr/>
        </p:nvSpPr>
        <p:spPr bwMode="auto">
          <a:xfrm>
            <a:off x="3009837" y="1714979"/>
            <a:ext cx="2726685" cy="531209"/>
          </a:xfrm>
          <a:prstGeom prst="wedgeRoundRectCallout">
            <a:avLst>
              <a:gd name="adj1" fmla="val 16706"/>
              <a:gd name="adj2" fmla="val 93078"/>
              <a:gd name="adj3" fmla="val 16667"/>
            </a:avLst>
          </a:prstGeom>
          <a:gradFill>
            <a:gsLst>
              <a:gs pos="0">
                <a:srgbClr val="FFFF00"/>
              </a:gs>
              <a:gs pos="100000">
                <a:schemeClr val="bg1"/>
              </a:gs>
            </a:gsLst>
            <a:lin ang="5400000" scaled="1"/>
          </a:gradFill>
          <a:ln w="9525">
            <a:solidFill>
              <a:srgbClr val="0070C0"/>
            </a:solidFill>
            <a:miter lim="800000"/>
            <a:headEnd/>
            <a:tailEnd/>
          </a:ln>
          <a:effectLst/>
        </p:spPr>
        <p:txBody>
          <a:bodyPr wrap="square">
            <a:spAutoFit/>
          </a:bodyPr>
          <a:lstStyle/>
          <a:p>
            <a:pPr>
              <a:lnSpc>
                <a:spcPct val="90000"/>
              </a:lnSpc>
            </a:pPr>
            <a:r>
              <a:rPr kumimoji="1" lang="zh-CN" altLang="en-US" sz="1400" dirty="0">
                <a:solidFill>
                  <a:srgbClr val="002060"/>
                </a:solidFill>
                <a:latin typeface="微软雅黑" pitchFamily="34" charset="-122"/>
                <a:ea typeface="微软雅黑" pitchFamily="34" charset="-122"/>
              </a:rPr>
              <a:t>源地址</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隧道起点</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a:t>
            </a:r>
            <a:r>
              <a:rPr kumimoji="1" lang="en-US" altLang="zh-CN" sz="1400" dirty="0">
                <a:solidFill>
                  <a:srgbClr val="002060"/>
                </a:solidFill>
                <a:latin typeface="微软雅黑" pitchFamily="34" charset="-122"/>
                <a:ea typeface="微软雅黑" pitchFamily="34" charset="-122"/>
              </a:rPr>
              <a:t>125.1.2.3</a:t>
            </a:r>
          </a:p>
          <a:p>
            <a:pPr>
              <a:lnSpc>
                <a:spcPct val="90000"/>
              </a:lnSpc>
            </a:pPr>
            <a:r>
              <a:rPr kumimoji="1" lang="zh-CN" altLang="en-US" sz="1400" dirty="0">
                <a:solidFill>
                  <a:srgbClr val="002060"/>
                </a:solidFill>
                <a:latin typeface="微软雅黑" pitchFamily="34" charset="-122"/>
                <a:ea typeface="微软雅黑" pitchFamily="34" charset="-122"/>
              </a:rPr>
              <a:t>目的地址</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隧道终点</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a:t>
            </a:r>
            <a:r>
              <a:rPr kumimoji="1" lang="en-US" altLang="zh-CN" sz="1400" dirty="0">
                <a:solidFill>
                  <a:srgbClr val="002060"/>
                </a:solidFill>
                <a:latin typeface="微软雅黑" pitchFamily="34" charset="-122"/>
                <a:ea typeface="微软雅黑" pitchFamily="34" charset="-122"/>
              </a:rPr>
              <a:t>194.4.5.6</a:t>
            </a:r>
          </a:p>
        </p:txBody>
      </p:sp>
      <p:grpSp>
        <p:nvGrpSpPr>
          <p:cNvPr id="10" name="组合 9">
            <a:extLst>
              <a:ext uri="{FF2B5EF4-FFF2-40B4-BE49-F238E27FC236}">
                <a16:creationId xmlns:a16="http://schemas.microsoft.com/office/drawing/2014/main" id="{ECC9FB8F-7ECD-4335-86C4-05301EEAFE3D}"/>
              </a:ext>
            </a:extLst>
          </p:cNvPr>
          <p:cNvGrpSpPr/>
          <p:nvPr/>
        </p:nvGrpSpPr>
        <p:grpSpPr>
          <a:xfrm>
            <a:off x="3894008" y="2361348"/>
            <a:ext cx="6413951" cy="1389772"/>
            <a:chOff x="3894008" y="2361348"/>
            <a:chExt cx="6413951" cy="1389772"/>
          </a:xfrm>
        </p:grpSpPr>
        <p:sp>
          <p:nvSpPr>
            <p:cNvPr id="152" name="AutoShape 75">
              <a:extLst>
                <a:ext uri="{FF2B5EF4-FFF2-40B4-BE49-F238E27FC236}">
                  <a16:creationId xmlns:a16="http://schemas.microsoft.com/office/drawing/2014/main" id="{8C4585CE-6B88-403E-B332-A6343C6BA720}"/>
                </a:ext>
              </a:extLst>
            </p:cNvPr>
            <p:cNvSpPr>
              <a:spLocks noChangeArrowheads="1"/>
            </p:cNvSpPr>
            <p:nvPr/>
          </p:nvSpPr>
          <p:spPr bwMode="auto">
            <a:xfrm>
              <a:off x="8025479" y="2581719"/>
              <a:ext cx="468244" cy="163605"/>
            </a:xfrm>
            <a:prstGeom prst="rightArrow">
              <a:avLst>
                <a:gd name="adj1" fmla="val 50000"/>
                <a:gd name="adj2" fmla="val 75000"/>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6" name="组合 5">
              <a:extLst>
                <a:ext uri="{FF2B5EF4-FFF2-40B4-BE49-F238E27FC236}">
                  <a16:creationId xmlns:a16="http://schemas.microsoft.com/office/drawing/2014/main" id="{2E9B9223-F229-4651-8F40-F24C5F6F1801}"/>
                </a:ext>
              </a:extLst>
            </p:cNvPr>
            <p:cNvGrpSpPr/>
            <p:nvPr/>
          </p:nvGrpSpPr>
          <p:grpSpPr>
            <a:xfrm>
              <a:off x="3894008" y="2473344"/>
              <a:ext cx="4137819" cy="1277776"/>
              <a:chOff x="3894008" y="2473344"/>
              <a:chExt cx="4137819" cy="1277776"/>
            </a:xfrm>
          </p:grpSpPr>
          <p:sp>
            <p:nvSpPr>
              <p:cNvPr id="154" name="Rectangle 77">
                <a:extLst>
                  <a:ext uri="{FF2B5EF4-FFF2-40B4-BE49-F238E27FC236}">
                    <a16:creationId xmlns:a16="http://schemas.microsoft.com/office/drawing/2014/main" id="{32226CF8-56A3-4B5F-88B8-BBE9714972F9}"/>
                  </a:ext>
                </a:extLst>
              </p:cNvPr>
              <p:cNvSpPr>
                <a:spLocks noChangeArrowheads="1"/>
              </p:cNvSpPr>
              <p:nvPr/>
            </p:nvSpPr>
            <p:spPr bwMode="auto">
              <a:xfrm>
                <a:off x="5251637" y="2473344"/>
                <a:ext cx="2780190" cy="419563"/>
              </a:xfrm>
              <a:prstGeom prst="rect">
                <a:avLst/>
              </a:prstGeom>
              <a:gradFill>
                <a:gsLst>
                  <a:gs pos="0">
                    <a:srgbClr val="00B0F0">
                      <a:alpha val="52000"/>
                    </a:srgbClr>
                  </a:gs>
                  <a:gs pos="50000">
                    <a:schemeClr val="bg1"/>
                  </a:gs>
                  <a:gs pos="100000">
                    <a:srgbClr val="00B0F0">
                      <a:alpha val="64000"/>
                    </a:srgbClr>
                  </a:gs>
                </a:gsLst>
                <a:lin ang="0" scaled="1"/>
              </a:gradFill>
              <a:ln w="9525">
                <a:solidFill>
                  <a:schemeClr val="tx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外部数据报的数据部分</a:t>
                </a:r>
              </a:p>
            </p:txBody>
          </p:sp>
          <p:sp>
            <p:nvSpPr>
              <p:cNvPr id="157" name="Rectangle 81">
                <a:extLst>
                  <a:ext uri="{FF2B5EF4-FFF2-40B4-BE49-F238E27FC236}">
                    <a16:creationId xmlns:a16="http://schemas.microsoft.com/office/drawing/2014/main" id="{18B5DA82-2A51-4D3C-8676-1E04096FD9FA}"/>
                  </a:ext>
                </a:extLst>
              </p:cNvPr>
              <p:cNvSpPr>
                <a:spLocks noChangeArrowheads="1"/>
              </p:cNvSpPr>
              <p:nvPr/>
            </p:nvSpPr>
            <p:spPr bwMode="auto">
              <a:xfrm>
                <a:off x="3894010" y="2473344"/>
                <a:ext cx="1357628" cy="419563"/>
              </a:xfrm>
              <a:prstGeom prst="rect">
                <a:avLst/>
              </a:prstGeom>
              <a:gradFill flip="none" rotWithShape="1">
                <a:gsLst>
                  <a:gs pos="0">
                    <a:srgbClr val="FFFF00"/>
                  </a:gs>
                  <a:gs pos="50000">
                    <a:schemeClr val="bg1"/>
                  </a:gs>
                  <a:gs pos="100000">
                    <a:srgbClr val="FFFF00"/>
                  </a:gs>
                </a:gsLst>
                <a:lin ang="0" scaled="1"/>
                <a:tileRect/>
              </a:gradFill>
              <a:ln w="9525">
                <a:solidFill>
                  <a:schemeClr val="tx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数据报首部</a:t>
                </a:r>
              </a:p>
            </p:txBody>
          </p:sp>
          <p:sp>
            <p:nvSpPr>
              <p:cNvPr id="9" name="右大括号 8">
                <a:extLst>
                  <a:ext uri="{FF2B5EF4-FFF2-40B4-BE49-F238E27FC236}">
                    <a16:creationId xmlns:a16="http://schemas.microsoft.com/office/drawing/2014/main" id="{9FDD884F-9A16-43CD-86E1-08A8F385FBBF}"/>
                  </a:ext>
                </a:extLst>
              </p:cNvPr>
              <p:cNvSpPr/>
              <p:nvPr/>
            </p:nvSpPr>
            <p:spPr>
              <a:xfrm rot="5400000">
                <a:off x="5738817" y="1084065"/>
                <a:ext cx="448199" cy="4137817"/>
              </a:xfrm>
              <a:prstGeom prst="rightBrace">
                <a:avLst>
                  <a:gd name="adj1" fmla="val 47745"/>
                  <a:gd name="adj2" fmla="val 52511"/>
                </a:avLst>
              </a:prstGeom>
              <a:ln>
                <a:solidFill>
                  <a:srgbClr val="BB159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16" name="任意多边形: 形状 15">
                <a:extLst>
                  <a:ext uri="{FF2B5EF4-FFF2-40B4-BE49-F238E27FC236}">
                    <a16:creationId xmlns:a16="http://schemas.microsoft.com/office/drawing/2014/main" id="{3ED870E7-1834-48F4-8064-BE8A671BC549}"/>
                  </a:ext>
                </a:extLst>
              </p:cNvPr>
              <p:cNvSpPr/>
              <p:nvPr/>
            </p:nvSpPr>
            <p:spPr>
              <a:xfrm>
                <a:off x="5843591" y="3345875"/>
                <a:ext cx="224700" cy="405245"/>
              </a:xfrm>
              <a:custGeom>
                <a:avLst/>
                <a:gdLst>
                  <a:gd name="connsiteX0" fmla="*/ 27273 w 224700"/>
                  <a:gd name="connsiteY0" fmla="*/ 0 h 405245"/>
                  <a:gd name="connsiteX1" fmla="*/ 16882 w 224700"/>
                  <a:gd name="connsiteY1" fmla="*/ 218209 h 405245"/>
                  <a:gd name="connsiteX2" fmla="*/ 224700 w 224700"/>
                  <a:gd name="connsiteY2" fmla="*/ 405245 h 405245"/>
                </a:gdLst>
                <a:ahLst/>
                <a:cxnLst>
                  <a:cxn ang="0">
                    <a:pos x="connsiteX0" y="connsiteY0"/>
                  </a:cxn>
                  <a:cxn ang="0">
                    <a:pos x="connsiteX1" y="connsiteY1"/>
                  </a:cxn>
                  <a:cxn ang="0">
                    <a:pos x="connsiteX2" y="connsiteY2"/>
                  </a:cxn>
                </a:cxnLst>
                <a:rect l="l" t="t" r="r" b="b"/>
                <a:pathLst>
                  <a:path w="224700" h="405245">
                    <a:moveTo>
                      <a:pt x="27273" y="0"/>
                    </a:moveTo>
                    <a:cubicBezTo>
                      <a:pt x="5625" y="75334"/>
                      <a:pt x="-16022" y="150668"/>
                      <a:pt x="16882" y="218209"/>
                    </a:cubicBezTo>
                    <a:cubicBezTo>
                      <a:pt x="49786" y="285750"/>
                      <a:pt x="137243" y="345497"/>
                      <a:pt x="224700" y="405245"/>
                    </a:cubicBezTo>
                  </a:path>
                </a:pathLst>
              </a:custGeom>
              <a:noFill/>
              <a:ln w="38100">
                <a:solidFill>
                  <a:srgbClr val="BB159B"/>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grpSp>
        <p:sp>
          <p:nvSpPr>
            <p:cNvPr id="17" name="文本框 16">
              <a:extLst>
                <a:ext uri="{FF2B5EF4-FFF2-40B4-BE49-F238E27FC236}">
                  <a16:creationId xmlns:a16="http://schemas.microsoft.com/office/drawing/2014/main" id="{B7363588-20A2-4911-A87A-9F0D68882DF9}"/>
                </a:ext>
              </a:extLst>
            </p:cNvPr>
            <p:cNvSpPr txBox="1"/>
            <p:nvPr/>
          </p:nvSpPr>
          <p:spPr>
            <a:xfrm>
              <a:off x="8393257" y="2361348"/>
              <a:ext cx="1914702" cy="523220"/>
            </a:xfrm>
            <a:prstGeom prst="rect">
              <a:avLst/>
            </a:prstGeom>
            <a:noFill/>
          </p:spPr>
          <p:txBody>
            <a:bodyPr wrap="square" rtlCol="0">
              <a:spAutoFit/>
            </a:bodyPr>
            <a:lstStyle/>
            <a:p>
              <a:r>
                <a:rPr lang="zh-CN" altLang="en-US" sz="1400" dirty="0">
                  <a:latin typeface="微软雅黑" panose="020B0503020204020204" pitchFamily="34" charset="-122"/>
                  <a:ea typeface="微软雅黑" panose="020B0503020204020204" pitchFamily="34" charset="-122"/>
                </a:rPr>
                <a:t>公共网络上看到的被隧道封装后的数据报</a:t>
              </a:r>
            </a:p>
          </p:txBody>
        </p:sp>
      </p:grpSp>
      <p:grpSp>
        <p:nvGrpSpPr>
          <p:cNvPr id="11" name="组合 10">
            <a:extLst>
              <a:ext uri="{FF2B5EF4-FFF2-40B4-BE49-F238E27FC236}">
                <a16:creationId xmlns:a16="http://schemas.microsoft.com/office/drawing/2014/main" id="{27C3D114-6A5E-4E2A-AB1C-AF19204E7D5F}"/>
              </a:ext>
            </a:extLst>
          </p:cNvPr>
          <p:cNvGrpSpPr/>
          <p:nvPr/>
        </p:nvGrpSpPr>
        <p:grpSpPr>
          <a:xfrm>
            <a:off x="2878216" y="5301918"/>
            <a:ext cx="6075400" cy="1179595"/>
            <a:chOff x="2878216" y="5301918"/>
            <a:chExt cx="6075400" cy="1179595"/>
          </a:xfrm>
        </p:grpSpPr>
        <p:grpSp>
          <p:nvGrpSpPr>
            <p:cNvPr id="86" name="组合 85">
              <a:extLst>
                <a:ext uri="{FF2B5EF4-FFF2-40B4-BE49-F238E27FC236}">
                  <a16:creationId xmlns:a16="http://schemas.microsoft.com/office/drawing/2014/main" id="{7993AB69-BA6F-4146-AE12-82D0DB8F1215}"/>
                </a:ext>
              </a:extLst>
            </p:cNvPr>
            <p:cNvGrpSpPr/>
            <p:nvPr/>
          </p:nvGrpSpPr>
          <p:grpSpPr>
            <a:xfrm>
              <a:off x="2878216" y="5301918"/>
              <a:ext cx="6075400" cy="1179595"/>
              <a:chOff x="1528958" y="2870292"/>
              <a:chExt cx="6075400" cy="1179595"/>
            </a:xfrm>
          </p:grpSpPr>
          <p:sp>
            <p:nvSpPr>
              <p:cNvPr id="87" name="AutoShape 85">
                <a:extLst>
                  <a:ext uri="{FF2B5EF4-FFF2-40B4-BE49-F238E27FC236}">
                    <a16:creationId xmlns:a16="http://schemas.microsoft.com/office/drawing/2014/main" id="{26089E35-8F95-4957-BD54-4C863EBA23B8}"/>
                  </a:ext>
                </a:extLst>
              </p:cNvPr>
              <p:cNvSpPr>
                <a:spLocks noChangeArrowheads="1"/>
              </p:cNvSpPr>
              <p:nvPr/>
            </p:nvSpPr>
            <p:spPr bwMode="auto">
              <a:xfrm>
                <a:off x="1528958" y="2876603"/>
                <a:ext cx="6075400" cy="1149280"/>
              </a:xfrm>
              <a:prstGeom prst="roundRect">
                <a:avLst>
                  <a:gd name="adj" fmla="val 16667"/>
                </a:avLst>
              </a:prstGeom>
              <a:solidFill>
                <a:srgbClr val="FFFFAF"/>
              </a:solidFill>
              <a:ln w="12700"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微软雅黑" pitchFamily="34" charset="-122"/>
                  <a:ea typeface="微软雅黑" pitchFamily="34" charset="-122"/>
                </a:endParaRPr>
              </a:p>
            </p:txBody>
          </p:sp>
          <p:sp>
            <p:nvSpPr>
              <p:cNvPr id="88" name="Line 86">
                <a:extLst>
                  <a:ext uri="{FF2B5EF4-FFF2-40B4-BE49-F238E27FC236}">
                    <a16:creationId xmlns:a16="http://schemas.microsoft.com/office/drawing/2014/main" id="{909B262C-79DA-4571-A088-F608CAEA6831}"/>
                  </a:ext>
                </a:extLst>
              </p:cNvPr>
              <p:cNvSpPr>
                <a:spLocks noChangeShapeType="1"/>
              </p:cNvSpPr>
              <p:nvPr/>
            </p:nvSpPr>
            <p:spPr bwMode="auto">
              <a:xfrm>
                <a:off x="3503175" y="3344828"/>
                <a:ext cx="1994391" cy="0"/>
              </a:xfrm>
              <a:prstGeom prst="line">
                <a:avLst/>
              </a:prstGeom>
              <a:noFill/>
              <a:ln w="38100">
                <a:solidFill>
                  <a:srgbClr val="0070C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89" name="Line 87">
                <a:extLst>
                  <a:ext uri="{FF2B5EF4-FFF2-40B4-BE49-F238E27FC236}">
                    <a16:creationId xmlns:a16="http://schemas.microsoft.com/office/drawing/2014/main" id="{528EB91B-9522-418A-AE02-1EB236759216}"/>
                  </a:ext>
                </a:extLst>
              </p:cNvPr>
              <p:cNvSpPr>
                <a:spLocks noChangeShapeType="1"/>
              </p:cNvSpPr>
              <p:nvPr/>
            </p:nvSpPr>
            <p:spPr bwMode="auto">
              <a:xfrm flipV="1">
                <a:off x="2592441" y="3727922"/>
                <a:ext cx="230565"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0" name="Line 88">
                <a:extLst>
                  <a:ext uri="{FF2B5EF4-FFF2-40B4-BE49-F238E27FC236}">
                    <a16:creationId xmlns:a16="http://schemas.microsoft.com/office/drawing/2014/main" id="{4BDA85F2-35A5-4399-8270-24B9DFA5E0A9}"/>
                  </a:ext>
                </a:extLst>
              </p:cNvPr>
              <p:cNvSpPr>
                <a:spLocks noChangeShapeType="1"/>
              </p:cNvSpPr>
              <p:nvPr/>
            </p:nvSpPr>
            <p:spPr bwMode="auto">
              <a:xfrm>
                <a:off x="2407989" y="3131999"/>
                <a:ext cx="230565" cy="12769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1" name="Line 89">
                <a:extLst>
                  <a:ext uri="{FF2B5EF4-FFF2-40B4-BE49-F238E27FC236}">
                    <a16:creationId xmlns:a16="http://schemas.microsoft.com/office/drawing/2014/main" id="{74DF1292-5B1D-4B62-A59F-AB1F7B4AF34C}"/>
                  </a:ext>
                </a:extLst>
              </p:cNvPr>
              <p:cNvSpPr>
                <a:spLocks noChangeShapeType="1"/>
              </p:cNvSpPr>
              <p:nvPr/>
            </p:nvSpPr>
            <p:spPr bwMode="auto">
              <a:xfrm flipV="1">
                <a:off x="2223536" y="3478733"/>
                <a:ext cx="2766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grpSp>
            <p:nvGrpSpPr>
              <p:cNvPr id="92" name="Group 90">
                <a:extLst>
                  <a:ext uri="{FF2B5EF4-FFF2-40B4-BE49-F238E27FC236}">
                    <a16:creationId xmlns:a16="http://schemas.microsoft.com/office/drawing/2014/main" id="{CCC58E17-663D-44C3-A75E-80852A78FA83}"/>
                  </a:ext>
                </a:extLst>
              </p:cNvPr>
              <p:cNvGrpSpPr>
                <a:grpSpLocks/>
              </p:cNvGrpSpPr>
              <p:nvPr/>
            </p:nvGrpSpPr>
            <p:grpSpPr bwMode="auto">
              <a:xfrm>
                <a:off x="2439692" y="3070810"/>
                <a:ext cx="914576" cy="684602"/>
                <a:chOff x="385" y="2795"/>
                <a:chExt cx="1769" cy="816"/>
              </a:xfrm>
              <a:solidFill>
                <a:srgbClr val="3399FF"/>
              </a:solidFill>
            </p:grpSpPr>
            <p:sp>
              <p:nvSpPr>
                <p:cNvPr id="135" name="Oval 91">
                  <a:extLst>
                    <a:ext uri="{FF2B5EF4-FFF2-40B4-BE49-F238E27FC236}">
                      <a16:creationId xmlns:a16="http://schemas.microsoft.com/office/drawing/2014/main" id="{F65165D7-878B-4298-834C-48AA34C5EDC6}"/>
                    </a:ext>
                  </a:extLst>
                </p:cNvPr>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6" name="Oval 92">
                  <a:extLst>
                    <a:ext uri="{FF2B5EF4-FFF2-40B4-BE49-F238E27FC236}">
                      <a16:creationId xmlns:a16="http://schemas.microsoft.com/office/drawing/2014/main" id="{F2111E11-EE30-4BCC-BAA3-55492D9AF8D5}"/>
                    </a:ext>
                  </a:extLst>
                </p:cNvPr>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7" name="Oval 93">
                  <a:extLst>
                    <a:ext uri="{FF2B5EF4-FFF2-40B4-BE49-F238E27FC236}">
                      <a16:creationId xmlns:a16="http://schemas.microsoft.com/office/drawing/2014/main" id="{9C560004-0419-4C8F-BBB2-C100F9E51761}"/>
                    </a:ext>
                  </a:extLst>
                </p:cNvPr>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8" name="Oval 94">
                  <a:extLst>
                    <a:ext uri="{FF2B5EF4-FFF2-40B4-BE49-F238E27FC236}">
                      <a16:creationId xmlns:a16="http://schemas.microsoft.com/office/drawing/2014/main" id="{2A291BD9-D7E2-4B86-8A85-3D5962B1CF9B}"/>
                    </a:ext>
                  </a:extLst>
                </p:cNvPr>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9" name="Oval 95">
                  <a:extLst>
                    <a:ext uri="{FF2B5EF4-FFF2-40B4-BE49-F238E27FC236}">
                      <a16:creationId xmlns:a16="http://schemas.microsoft.com/office/drawing/2014/main" id="{A3CF0E81-54DE-4EDD-A7E2-797E60F1DB05}"/>
                    </a:ext>
                  </a:extLst>
                </p:cNvPr>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0" name="Oval 96">
                  <a:extLst>
                    <a:ext uri="{FF2B5EF4-FFF2-40B4-BE49-F238E27FC236}">
                      <a16:creationId xmlns:a16="http://schemas.microsoft.com/office/drawing/2014/main" id="{13F9FCCC-5703-4BF1-AA13-1FD9B85EBB2F}"/>
                    </a:ext>
                  </a:extLst>
                </p:cNvPr>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1" name="Oval 97">
                  <a:extLst>
                    <a:ext uri="{FF2B5EF4-FFF2-40B4-BE49-F238E27FC236}">
                      <a16:creationId xmlns:a16="http://schemas.microsoft.com/office/drawing/2014/main" id="{B4991A8D-23C1-4C5E-B5E9-621B9D78C873}"/>
                    </a:ext>
                  </a:extLst>
                </p:cNvPr>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2" name="Oval 98">
                  <a:extLst>
                    <a:ext uri="{FF2B5EF4-FFF2-40B4-BE49-F238E27FC236}">
                      <a16:creationId xmlns:a16="http://schemas.microsoft.com/office/drawing/2014/main" id="{679B6A9E-3E0D-48C2-AF0A-4087DD0507F5}"/>
                    </a:ext>
                  </a:extLst>
                </p:cNvPr>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3" name="Oval 99">
                  <a:extLst>
                    <a:ext uri="{FF2B5EF4-FFF2-40B4-BE49-F238E27FC236}">
                      <a16:creationId xmlns:a16="http://schemas.microsoft.com/office/drawing/2014/main" id="{ECB41D60-5E25-4941-912C-8EA5A1D4B2DA}"/>
                    </a:ext>
                  </a:extLst>
                </p:cNvPr>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4" name="Oval 100">
                  <a:extLst>
                    <a:ext uri="{FF2B5EF4-FFF2-40B4-BE49-F238E27FC236}">
                      <a16:creationId xmlns:a16="http://schemas.microsoft.com/office/drawing/2014/main" id="{E81DA1CA-1C28-4D6F-8C62-CC38A39C9939}"/>
                    </a:ext>
                  </a:extLst>
                </p:cNvPr>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5" name="Oval 101">
                  <a:extLst>
                    <a:ext uri="{FF2B5EF4-FFF2-40B4-BE49-F238E27FC236}">
                      <a16:creationId xmlns:a16="http://schemas.microsoft.com/office/drawing/2014/main" id="{966556E4-EE78-44EF-92B7-B1097A70E6EB}"/>
                    </a:ext>
                  </a:extLst>
                </p:cNvPr>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6" name="Oval 102">
                  <a:extLst>
                    <a:ext uri="{FF2B5EF4-FFF2-40B4-BE49-F238E27FC236}">
                      <a16:creationId xmlns:a16="http://schemas.microsoft.com/office/drawing/2014/main" id="{2B3CD785-6323-4972-B1DB-B92C7992C87C}"/>
                    </a:ext>
                  </a:extLst>
                </p:cNvPr>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7" name="Oval 103">
                  <a:extLst>
                    <a:ext uri="{FF2B5EF4-FFF2-40B4-BE49-F238E27FC236}">
                      <a16:creationId xmlns:a16="http://schemas.microsoft.com/office/drawing/2014/main" id="{E7A351F0-129D-48D0-AF72-153D2D755850}"/>
                    </a:ext>
                  </a:extLst>
                </p:cNvPr>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8" name="Oval 104">
                  <a:extLst>
                    <a:ext uri="{FF2B5EF4-FFF2-40B4-BE49-F238E27FC236}">
                      <a16:creationId xmlns:a16="http://schemas.microsoft.com/office/drawing/2014/main" id="{4EBAD236-CF87-40DC-995A-0AD0670869F7}"/>
                    </a:ext>
                  </a:extLst>
                </p:cNvPr>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9" name="Oval 105">
                  <a:extLst>
                    <a:ext uri="{FF2B5EF4-FFF2-40B4-BE49-F238E27FC236}">
                      <a16:creationId xmlns:a16="http://schemas.microsoft.com/office/drawing/2014/main" id="{3FDAE440-AE5A-4A37-A113-871562EFE2B6}"/>
                    </a:ext>
                  </a:extLst>
                </p:cNvPr>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50" name="Oval 106">
                  <a:extLst>
                    <a:ext uri="{FF2B5EF4-FFF2-40B4-BE49-F238E27FC236}">
                      <a16:creationId xmlns:a16="http://schemas.microsoft.com/office/drawing/2014/main" id="{BAF77059-DAFC-442B-837A-DFBF8215AF6C}"/>
                    </a:ext>
                  </a:extLst>
                </p:cNvPr>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51" name="Freeform 107">
                  <a:extLst>
                    <a:ext uri="{FF2B5EF4-FFF2-40B4-BE49-F238E27FC236}">
                      <a16:creationId xmlns:a16="http://schemas.microsoft.com/office/drawing/2014/main" id="{A397CC72-1CC7-497F-8201-0AE4432C2C7A}"/>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grpSp>
          <p:sp>
            <p:nvSpPr>
              <p:cNvPr id="93" name="Line 108">
                <a:extLst>
                  <a:ext uri="{FF2B5EF4-FFF2-40B4-BE49-F238E27FC236}">
                    <a16:creationId xmlns:a16="http://schemas.microsoft.com/office/drawing/2014/main" id="{B2E05656-40DC-4AE8-8271-57DF2D5440DB}"/>
                  </a:ext>
                </a:extLst>
              </p:cNvPr>
              <p:cNvSpPr>
                <a:spLocks noChangeShapeType="1"/>
              </p:cNvSpPr>
              <p:nvPr/>
            </p:nvSpPr>
            <p:spPr bwMode="auto">
              <a:xfrm flipH="1">
                <a:off x="6419828" y="3089433"/>
                <a:ext cx="230565" cy="85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4" name="Line 109">
                <a:extLst>
                  <a:ext uri="{FF2B5EF4-FFF2-40B4-BE49-F238E27FC236}">
                    <a16:creationId xmlns:a16="http://schemas.microsoft.com/office/drawing/2014/main" id="{847D51D0-E16C-4AA7-B309-3E22268045A4}"/>
                  </a:ext>
                </a:extLst>
              </p:cNvPr>
              <p:cNvSpPr>
                <a:spLocks noChangeShapeType="1"/>
              </p:cNvSpPr>
              <p:nvPr/>
            </p:nvSpPr>
            <p:spPr bwMode="auto">
              <a:xfrm flipH="1" flipV="1">
                <a:off x="6281489" y="3642790"/>
                <a:ext cx="322792"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5" name="Line 110">
                <a:extLst>
                  <a:ext uri="{FF2B5EF4-FFF2-40B4-BE49-F238E27FC236}">
                    <a16:creationId xmlns:a16="http://schemas.microsoft.com/office/drawing/2014/main" id="{7CE04160-8EA2-4FBB-BE19-392E7FAD20CA}"/>
                  </a:ext>
                </a:extLst>
              </p:cNvPr>
              <p:cNvSpPr>
                <a:spLocks noChangeShapeType="1"/>
              </p:cNvSpPr>
              <p:nvPr/>
            </p:nvSpPr>
            <p:spPr bwMode="auto">
              <a:xfrm flipH="1" flipV="1">
                <a:off x="6419828" y="3429960"/>
                <a:ext cx="33432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grpSp>
            <p:nvGrpSpPr>
              <p:cNvPr id="96" name="Group 111">
                <a:extLst>
                  <a:ext uri="{FF2B5EF4-FFF2-40B4-BE49-F238E27FC236}">
                    <a16:creationId xmlns:a16="http://schemas.microsoft.com/office/drawing/2014/main" id="{555343B0-08F2-49D5-B35D-E4E12E8EC976}"/>
                  </a:ext>
                </a:extLst>
              </p:cNvPr>
              <p:cNvGrpSpPr>
                <a:grpSpLocks/>
              </p:cNvGrpSpPr>
              <p:nvPr/>
            </p:nvGrpSpPr>
            <p:grpSpPr bwMode="auto">
              <a:xfrm>
                <a:off x="5621495" y="3030904"/>
                <a:ext cx="914576" cy="684602"/>
                <a:chOff x="385" y="2795"/>
                <a:chExt cx="1769" cy="816"/>
              </a:xfrm>
              <a:solidFill>
                <a:srgbClr val="3399FF"/>
              </a:solidFill>
            </p:grpSpPr>
            <p:sp>
              <p:nvSpPr>
                <p:cNvPr id="118" name="Oval 112">
                  <a:extLst>
                    <a:ext uri="{FF2B5EF4-FFF2-40B4-BE49-F238E27FC236}">
                      <a16:creationId xmlns:a16="http://schemas.microsoft.com/office/drawing/2014/main" id="{EF7AC3D4-66FA-42D5-AC81-2A6C06DE1B33}"/>
                    </a:ext>
                  </a:extLst>
                </p:cNvPr>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19" name="Oval 113">
                  <a:extLst>
                    <a:ext uri="{FF2B5EF4-FFF2-40B4-BE49-F238E27FC236}">
                      <a16:creationId xmlns:a16="http://schemas.microsoft.com/office/drawing/2014/main" id="{91C2441B-F261-4437-98B5-A689DDE714E5}"/>
                    </a:ext>
                  </a:extLst>
                </p:cNvPr>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0" name="Oval 114">
                  <a:extLst>
                    <a:ext uri="{FF2B5EF4-FFF2-40B4-BE49-F238E27FC236}">
                      <a16:creationId xmlns:a16="http://schemas.microsoft.com/office/drawing/2014/main" id="{7B722481-6E89-4D78-BE27-31DA0EA13E00}"/>
                    </a:ext>
                  </a:extLst>
                </p:cNvPr>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1" name="Oval 115">
                  <a:extLst>
                    <a:ext uri="{FF2B5EF4-FFF2-40B4-BE49-F238E27FC236}">
                      <a16:creationId xmlns:a16="http://schemas.microsoft.com/office/drawing/2014/main" id="{CA982D4A-1722-48A2-99FC-3C3C24169ED0}"/>
                    </a:ext>
                  </a:extLst>
                </p:cNvPr>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2" name="Oval 116">
                  <a:extLst>
                    <a:ext uri="{FF2B5EF4-FFF2-40B4-BE49-F238E27FC236}">
                      <a16:creationId xmlns:a16="http://schemas.microsoft.com/office/drawing/2014/main" id="{8639A46C-0934-444F-A851-189E19B87D46}"/>
                    </a:ext>
                  </a:extLst>
                </p:cNvPr>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3" name="Oval 117">
                  <a:extLst>
                    <a:ext uri="{FF2B5EF4-FFF2-40B4-BE49-F238E27FC236}">
                      <a16:creationId xmlns:a16="http://schemas.microsoft.com/office/drawing/2014/main" id="{68E40CD0-384D-4A93-B3CF-08DFC9D327F8}"/>
                    </a:ext>
                  </a:extLst>
                </p:cNvPr>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4" name="Oval 118">
                  <a:extLst>
                    <a:ext uri="{FF2B5EF4-FFF2-40B4-BE49-F238E27FC236}">
                      <a16:creationId xmlns:a16="http://schemas.microsoft.com/office/drawing/2014/main" id="{B70DCACB-B6E6-4BA5-8BD0-13D67FEDF17A}"/>
                    </a:ext>
                  </a:extLst>
                </p:cNvPr>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5" name="Oval 119">
                  <a:extLst>
                    <a:ext uri="{FF2B5EF4-FFF2-40B4-BE49-F238E27FC236}">
                      <a16:creationId xmlns:a16="http://schemas.microsoft.com/office/drawing/2014/main" id="{8E31D507-DB60-4C36-BEBA-C8A7CC39F65A}"/>
                    </a:ext>
                  </a:extLst>
                </p:cNvPr>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6" name="Oval 120">
                  <a:extLst>
                    <a:ext uri="{FF2B5EF4-FFF2-40B4-BE49-F238E27FC236}">
                      <a16:creationId xmlns:a16="http://schemas.microsoft.com/office/drawing/2014/main" id="{4E427D46-FA5E-4C61-91BB-C43442FAE1ED}"/>
                    </a:ext>
                  </a:extLst>
                </p:cNvPr>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7" name="Oval 121">
                  <a:extLst>
                    <a:ext uri="{FF2B5EF4-FFF2-40B4-BE49-F238E27FC236}">
                      <a16:creationId xmlns:a16="http://schemas.microsoft.com/office/drawing/2014/main" id="{91B1572E-DD00-4305-B9FE-C04C6EF35999}"/>
                    </a:ext>
                  </a:extLst>
                </p:cNvPr>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8" name="Oval 122">
                  <a:extLst>
                    <a:ext uri="{FF2B5EF4-FFF2-40B4-BE49-F238E27FC236}">
                      <a16:creationId xmlns:a16="http://schemas.microsoft.com/office/drawing/2014/main" id="{5C6730B4-EFF0-402F-B3DB-7B0E9665F279}"/>
                    </a:ext>
                  </a:extLst>
                </p:cNvPr>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9" name="Oval 123">
                  <a:extLst>
                    <a:ext uri="{FF2B5EF4-FFF2-40B4-BE49-F238E27FC236}">
                      <a16:creationId xmlns:a16="http://schemas.microsoft.com/office/drawing/2014/main" id="{1DBD9604-BF32-410B-A393-2FE6149DC885}"/>
                    </a:ext>
                  </a:extLst>
                </p:cNvPr>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0" name="Oval 124">
                  <a:extLst>
                    <a:ext uri="{FF2B5EF4-FFF2-40B4-BE49-F238E27FC236}">
                      <a16:creationId xmlns:a16="http://schemas.microsoft.com/office/drawing/2014/main" id="{A166C364-8954-41ED-A6A5-08A4D711B3DD}"/>
                    </a:ext>
                  </a:extLst>
                </p:cNvPr>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1" name="Oval 125">
                  <a:extLst>
                    <a:ext uri="{FF2B5EF4-FFF2-40B4-BE49-F238E27FC236}">
                      <a16:creationId xmlns:a16="http://schemas.microsoft.com/office/drawing/2014/main" id="{20A32730-9E46-4A9D-8BE4-9B55C6C0FFB0}"/>
                    </a:ext>
                  </a:extLst>
                </p:cNvPr>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2" name="Oval 126">
                  <a:extLst>
                    <a:ext uri="{FF2B5EF4-FFF2-40B4-BE49-F238E27FC236}">
                      <a16:creationId xmlns:a16="http://schemas.microsoft.com/office/drawing/2014/main" id="{857BB602-44A0-4BB4-B003-768FFCE09228}"/>
                    </a:ext>
                  </a:extLst>
                </p:cNvPr>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3" name="Oval 127">
                  <a:extLst>
                    <a:ext uri="{FF2B5EF4-FFF2-40B4-BE49-F238E27FC236}">
                      <a16:creationId xmlns:a16="http://schemas.microsoft.com/office/drawing/2014/main" id="{D5E5184B-16E2-4646-B5F7-F991A327EB0E}"/>
                    </a:ext>
                  </a:extLst>
                </p:cNvPr>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4" name="Freeform 128">
                  <a:extLst>
                    <a:ext uri="{FF2B5EF4-FFF2-40B4-BE49-F238E27FC236}">
                      <a16:creationId xmlns:a16="http://schemas.microsoft.com/office/drawing/2014/main" id="{A9261CB3-78FA-4273-9AE0-02B215295D64}"/>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grpSp>
          <p:sp>
            <p:nvSpPr>
              <p:cNvPr id="99" name="Text Box 132">
                <a:extLst>
                  <a:ext uri="{FF2B5EF4-FFF2-40B4-BE49-F238E27FC236}">
                    <a16:creationId xmlns:a16="http://schemas.microsoft.com/office/drawing/2014/main" id="{42697487-95B6-4C8B-AE54-CF09335DDA0F}"/>
                  </a:ext>
                </a:extLst>
              </p:cNvPr>
              <p:cNvSpPr txBox="1">
                <a:spLocks noChangeArrowheads="1"/>
              </p:cNvSpPr>
              <p:nvPr/>
            </p:nvSpPr>
            <p:spPr bwMode="auto">
              <a:xfrm>
                <a:off x="2587349" y="3194519"/>
                <a:ext cx="654230"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chemeClr val="bg1"/>
                    </a:solidFill>
                    <a:latin typeface="微软雅黑" pitchFamily="34" charset="-122"/>
                    <a:ea typeface="微软雅黑" pitchFamily="34" charset="-122"/>
                  </a:rPr>
                  <a:t>部门 </a:t>
                </a:r>
                <a:r>
                  <a:rPr kumimoji="1" lang="en-US" altLang="zh-CN" sz="1200" dirty="0">
                    <a:solidFill>
                      <a:schemeClr val="bg1"/>
                    </a:solidFill>
                    <a:latin typeface="微软雅黑" pitchFamily="34" charset="-122"/>
                    <a:ea typeface="微软雅黑" pitchFamily="34" charset="-122"/>
                  </a:rPr>
                  <a:t>A</a:t>
                </a:r>
              </a:p>
              <a:p>
                <a:pPr algn="ctr"/>
                <a:r>
                  <a:rPr kumimoji="1" lang="zh-CN" altLang="en-US" sz="1200" dirty="0">
                    <a:solidFill>
                      <a:schemeClr val="bg1"/>
                    </a:solidFill>
                    <a:latin typeface="微软雅黑" pitchFamily="34" charset="-122"/>
                    <a:ea typeface="微软雅黑" pitchFamily="34" charset="-122"/>
                  </a:rPr>
                  <a:t>网络</a:t>
                </a:r>
                <a:endParaRPr kumimoji="1" lang="en-US" altLang="zh-CN" sz="1200" dirty="0">
                  <a:solidFill>
                    <a:schemeClr val="bg1"/>
                  </a:solidFill>
                  <a:latin typeface="微软雅黑" pitchFamily="34" charset="-122"/>
                  <a:ea typeface="微软雅黑" pitchFamily="34" charset="-122"/>
                </a:endParaRPr>
              </a:p>
            </p:txBody>
          </p:sp>
          <p:sp>
            <p:nvSpPr>
              <p:cNvPr id="100" name="Text Box 134">
                <a:extLst>
                  <a:ext uri="{FF2B5EF4-FFF2-40B4-BE49-F238E27FC236}">
                    <a16:creationId xmlns:a16="http://schemas.microsoft.com/office/drawing/2014/main" id="{03CD87BB-48EA-4485-9785-2347BD0D6215}"/>
                  </a:ext>
                </a:extLst>
              </p:cNvPr>
              <p:cNvSpPr txBox="1">
                <a:spLocks noChangeArrowheads="1"/>
              </p:cNvSpPr>
              <p:nvPr/>
            </p:nvSpPr>
            <p:spPr bwMode="auto">
              <a:xfrm>
                <a:off x="5767231" y="3153727"/>
                <a:ext cx="644623"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chemeClr val="bg1"/>
                    </a:solidFill>
                    <a:latin typeface="微软雅黑" pitchFamily="34" charset="-122"/>
                    <a:ea typeface="微软雅黑" pitchFamily="34" charset="-122"/>
                  </a:rPr>
                  <a:t>部门 </a:t>
                </a:r>
                <a:r>
                  <a:rPr kumimoji="1" lang="en-US" altLang="zh-CN" sz="1200" dirty="0">
                    <a:solidFill>
                      <a:schemeClr val="bg1"/>
                    </a:solidFill>
                    <a:latin typeface="微软雅黑" pitchFamily="34" charset="-122"/>
                    <a:ea typeface="微软雅黑" pitchFamily="34" charset="-122"/>
                  </a:rPr>
                  <a:t>B</a:t>
                </a:r>
              </a:p>
              <a:p>
                <a:pPr algn="ctr"/>
                <a:r>
                  <a:rPr kumimoji="1" lang="zh-CN" altLang="en-US" sz="1200" dirty="0">
                    <a:solidFill>
                      <a:schemeClr val="bg1"/>
                    </a:solidFill>
                    <a:latin typeface="微软雅黑" pitchFamily="34" charset="-122"/>
                    <a:ea typeface="微软雅黑" pitchFamily="34" charset="-122"/>
                  </a:rPr>
                  <a:t>网络</a:t>
                </a:r>
                <a:endParaRPr kumimoji="1" lang="en-US" altLang="zh-CN" sz="1200" dirty="0">
                  <a:solidFill>
                    <a:schemeClr val="bg1"/>
                  </a:solidFill>
                  <a:latin typeface="微软雅黑" pitchFamily="34" charset="-122"/>
                  <a:ea typeface="微软雅黑" pitchFamily="34" charset="-122"/>
                </a:endParaRPr>
              </a:p>
            </p:txBody>
          </p:sp>
          <p:sp>
            <p:nvSpPr>
              <p:cNvPr id="101" name="Text Box 135">
                <a:extLst>
                  <a:ext uri="{FF2B5EF4-FFF2-40B4-BE49-F238E27FC236}">
                    <a16:creationId xmlns:a16="http://schemas.microsoft.com/office/drawing/2014/main" id="{77C7B8C8-DD90-42DE-AA3A-D0EA9964DFDB}"/>
                  </a:ext>
                </a:extLst>
              </p:cNvPr>
              <p:cNvSpPr txBox="1">
                <a:spLocks noChangeArrowheads="1"/>
              </p:cNvSpPr>
              <p:nvPr/>
            </p:nvSpPr>
            <p:spPr bwMode="auto">
              <a:xfrm>
                <a:off x="1820647" y="3349804"/>
                <a:ext cx="292050"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微软雅黑" pitchFamily="34" charset="-122"/>
                    <a:ea typeface="微软雅黑" pitchFamily="34" charset="-122"/>
                  </a:rPr>
                  <a:t>X</a:t>
                </a:r>
              </a:p>
            </p:txBody>
          </p:sp>
          <p:sp>
            <p:nvSpPr>
              <p:cNvPr id="102" name="Text Box 136">
                <a:extLst>
                  <a:ext uri="{FF2B5EF4-FFF2-40B4-BE49-F238E27FC236}">
                    <a16:creationId xmlns:a16="http://schemas.microsoft.com/office/drawing/2014/main" id="{6E3BAF33-5B83-4FFE-ACC9-60FC1469F2D3}"/>
                  </a:ext>
                </a:extLst>
              </p:cNvPr>
              <p:cNvSpPr txBox="1">
                <a:spLocks noChangeArrowheads="1"/>
              </p:cNvSpPr>
              <p:nvPr/>
            </p:nvSpPr>
            <p:spPr bwMode="auto">
              <a:xfrm>
                <a:off x="6973735" y="3257680"/>
                <a:ext cx="284364"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微软雅黑" pitchFamily="34" charset="-122"/>
                    <a:ea typeface="微软雅黑" pitchFamily="34" charset="-122"/>
                  </a:rPr>
                  <a:t>Y</a:t>
                </a:r>
              </a:p>
            </p:txBody>
          </p:sp>
          <p:sp>
            <p:nvSpPr>
              <p:cNvPr id="103" name="Text Box 137">
                <a:extLst>
                  <a:ext uri="{FF2B5EF4-FFF2-40B4-BE49-F238E27FC236}">
                    <a16:creationId xmlns:a16="http://schemas.microsoft.com/office/drawing/2014/main" id="{2058319F-3EB0-4EAC-B6EA-AEE12E4206DA}"/>
                  </a:ext>
                </a:extLst>
              </p:cNvPr>
              <p:cNvSpPr txBox="1">
                <a:spLocks noChangeArrowheads="1"/>
              </p:cNvSpPr>
              <p:nvPr/>
            </p:nvSpPr>
            <p:spPr bwMode="auto">
              <a:xfrm>
                <a:off x="3275598" y="3066644"/>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dirty="0">
                    <a:latin typeface="微软雅黑" pitchFamily="34" charset="-122"/>
                    <a:ea typeface="微软雅黑" pitchFamily="34" charset="-122"/>
                  </a:rPr>
                  <a:t>R</a:t>
                </a:r>
                <a:r>
                  <a:rPr kumimoji="1" lang="en-US" altLang="zh-CN" sz="1200" baseline="-25000" dirty="0">
                    <a:latin typeface="微软雅黑" pitchFamily="34" charset="-122"/>
                    <a:ea typeface="微软雅黑" pitchFamily="34" charset="-122"/>
                  </a:rPr>
                  <a:t>1</a:t>
                </a:r>
                <a:endParaRPr kumimoji="1" lang="en-US" altLang="zh-CN" sz="1200" dirty="0">
                  <a:latin typeface="微软雅黑" pitchFamily="34" charset="-122"/>
                  <a:ea typeface="微软雅黑" pitchFamily="34" charset="-122"/>
                </a:endParaRPr>
              </a:p>
            </p:txBody>
          </p:sp>
          <p:sp>
            <p:nvSpPr>
              <p:cNvPr id="104" name="Text Box 138">
                <a:extLst>
                  <a:ext uri="{FF2B5EF4-FFF2-40B4-BE49-F238E27FC236}">
                    <a16:creationId xmlns:a16="http://schemas.microsoft.com/office/drawing/2014/main" id="{9C09C762-5D8B-4945-98E9-008A394C7F37}"/>
                  </a:ext>
                </a:extLst>
              </p:cNvPr>
              <p:cNvSpPr txBox="1">
                <a:spLocks noChangeArrowheads="1"/>
              </p:cNvSpPr>
              <p:nvPr/>
            </p:nvSpPr>
            <p:spPr bwMode="auto">
              <a:xfrm>
                <a:off x="5425514" y="3064603"/>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a:latin typeface="微软雅黑" pitchFamily="34" charset="-122"/>
                    <a:ea typeface="微软雅黑" pitchFamily="34" charset="-122"/>
                  </a:rPr>
                  <a:t>R</a:t>
                </a:r>
                <a:r>
                  <a:rPr kumimoji="1" lang="en-US" altLang="zh-CN" sz="1200" baseline="-25000">
                    <a:latin typeface="微软雅黑" pitchFamily="34" charset="-122"/>
                    <a:ea typeface="微软雅黑" pitchFamily="34" charset="-122"/>
                  </a:rPr>
                  <a:t>2</a:t>
                </a:r>
                <a:endParaRPr kumimoji="1" lang="en-US" altLang="zh-CN" sz="1200">
                  <a:latin typeface="微软雅黑" pitchFamily="34" charset="-122"/>
                  <a:ea typeface="微软雅黑" pitchFamily="34" charset="-122"/>
                </a:endParaRPr>
              </a:p>
            </p:txBody>
          </p:sp>
          <p:sp>
            <p:nvSpPr>
              <p:cNvPr id="105" name="Text Box 139">
                <a:extLst>
                  <a:ext uri="{FF2B5EF4-FFF2-40B4-BE49-F238E27FC236}">
                    <a16:creationId xmlns:a16="http://schemas.microsoft.com/office/drawing/2014/main" id="{1DCCC0F8-D028-495A-BFCE-1EC5BA95E3FD}"/>
                  </a:ext>
                </a:extLst>
              </p:cNvPr>
              <p:cNvSpPr txBox="1">
                <a:spLocks noChangeArrowheads="1"/>
              </p:cNvSpPr>
              <p:nvPr/>
            </p:nvSpPr>
            <p:spPr bwMode="auto">
              <a:xfrm>
                <a:off x="3362047" y="2870292"/>
                <a:ext cx="8338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dirty="0">
                    <a:latin typeface="微软雅黑" pitchFamily="34" charset="-122"/>
                    <a:ea typeface="微软雅黑" pitchFamily="34" charset="-122"/>
                  </a:rPr>
                  <a:t>125.1.2.3</a:t>
                </a:r>
              </a:p>
            </p:txBody>
          </p:sp>
          <p:sp>
            <p:nvSpPr>
              <p:cNvPr id="106" name="Line 140">
                <a:extLst>
                  <a:ext uri="{FF2B5EF4-FFF2-40B4-BE49-F238E27FC236}">
                    <a16:creationId xmlns:a16="http://schemas.microsoft.com/office/drawing/2014/main" id="{DAA97ACA-FB26-4D2A-8C9D-2323354E6181}"/>
                  </a:ext>
                </a:extLst>
              </p:cNvPr>
              <p:cNvSpPr>
                <a:spLocks noChangeShapeType="1"/>
              </p:cNvSpPr>
              <p:nvPr/>
            </p:nvSpPr>
            <p:spPr bwMode="auto">
              <a:xfrm flipH="1">
                <a:off x="3579898" y="3104733"/>
                <a:ext cx="92249" cy="17978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107" name="Text Box 141">
                <a:extLst>
                  <a:ext uri="{FF2B5EF4-FFF2-40B4-BE49-F238E27FC236}">
                    <a16:creationId xmlns:a16="http://schemas.microsoft.com/office/drawing/2014/main" id="{A629DC65-4DA5-4DED-96F0-65A32621E399}"/>
                  </a:ext>
                </a:extLst>
              </p:cNvPr>
              <p:cNvSpPr txBox="1">
                <a:spLocks noChangeArrowheads="1"/>
              </p:cNvSpPr>
              <p:nvPr/>
            </p:nvSpPr>
            <p:spPr bwMode="auto">
              <a:xfrm>
                <a:off x="4750080" y="2894339"/>
                <a:ext cx="833882"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dirty="0">
                    <a:latin typeface="微软雅黑" pitchFamily="34" charset="-122"/>
                    <a:ea typeface="微软雅黑" pitchFamily="34" charset="-122"/>
                  </a:rPr>
                  <a:t>194.4.5.6</a:t>
                </a:r>
              </a:p>
            </p:txBody>
          </p:sp>
          <p:sp>
            <p:nvSpPr>
              <p:cNvPr id="108" name="Line 142">
                <a:extLst>
                  <a:ext uri="{FF2B5EF4-FFF2-40B4-BE49-F238E27FC236}">
                    <a16:creationId xmlns:a16="http://schemas.microsoft.com/office/drawing/2014/main" id="{B5BAC20E-C372-4B08-9217-F7A2A1D742FE}"/>
                  </a:ext>
                </a:extLst>
              </p:cNvPr>
              <p:cNvSpPr>
                <a:spLocks noChangeShapeType="1"/>
              </p:cNvSpPr>
              <p:nvPr/>
            </p:nvSpPr>
            <p:spPr bwMode="auto">
              <a:xfrm>
                <a:off x="5237188" y="3094885"/>
                <a:ext cx="64398" cy="219121"/>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109" name="Text Box 143">
                <a:extLst>
                  <a:ext uri="{FF2B5EF4-FFF2-40B4-BE49-F238E27FC236}">
                    <a16:creationId xmlns:a16="http://schemas.microsoft.com/office/drawing/2014/main" id="{F0E57621-814D-4C58-9731-9F69B0FEA80E}"/>
                  </a:ext>
                </a:extLst>
              </p:cNvPr>
              <p:cNvSpPr txBox="1">
                <a:spLocks noChangeArrowheads="1"/>
              </p:cNvSpPr>
              <p:nvPr/>
            </p:nvSpPr>
            <p:spPr bwMode="auto">
              <a:xfrm>
                <a:off x="1543930" y="3601323"/>
                <a:ext cx="9236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dirty="0">
                    <a:latin typeface="微软雅黑" pitchFamily="34" charset="-122"/>
                    <a:ea typeface="微软雅黑" pitchFamily="34" charset="-122"/>
                  </a:rPr>
                  <a:t>172.16.0.3</a:t>
                </a:r>
              </a:p>
            </p:txBody>
          </p:sp>
          <p:sp>
            <p:nvSpPr>
              <p:cNvPr id="110" name="Text Box 144">
                <a:extLst>
                  <a:ext uri="{FF2B5EF4-FFF2-40B4-BE49-F238E27FC236}">
                    <a16:creationId xmlns:a16="http://schemas.microsoft.com/office/drawing/2014/main" id="{2B7607B5-8F80-4F42-9DF8-F58DB1EB2592}"/>
                  </a:ext>
                </a:extLst>
              </p:cNvPr>
              <p:cNvSpPr txBox="1">
                <a:spLocks noChangeArrowheads="1"/>
              </p:cNvSpPr>
              <p:nvPr/>
            </p:nvSpPr>
            <p:spPr bwMode="auto">
              <a:xfrm>
                <a:off x="6587335" y="3544379"/>
                <a:ext cx="10134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dirty="0">
                    <a:latin typeface="微软雅黑" pitchFamily="34" charset="-122"/>
                    <a:ea typeface="微软雅黑" pitchFamily="34" charset="-122"/>
                  </a:rPr>
                  <a:t>192.168.1.3</a:t>
                </a:r>
              </a:p>
            </p:txBody>
          </p:sp>
          <p:sp>
            <p:nvSpPr>
              <p:cNvPr id="111" name="Text Box 149">
                <a:extLst>
                  <a:ext uri="{FF2B5EF4-FFF2-40B4-BE49-F238E27FC236}">
                    <a16:creationId xmlns:a16="http://schemas.microsoft.com/office/drawing/2014/main" id="{D9C248EC-4C66-45DA-A4FA-A670B3E3BC1E}"/>
                  </a:ext>
                </a:extLst>
              </p:cNvPr>
              <p:cNvSpPr txBox="1">
                <a:spLocks noChangeArrowheads="1"/>
              </p:cNvSpPr>
              <p:nvPr/>
            </p:nvSpPr>
            <p:spPr bwMode="auto">
              <a:xfrm>
                <a:off x="3766169" y="3742110"/>
                <a:ext cx="15135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dirty="0">
                    <a:solidFill>
                      <a:schemeClr val="bg2">
                        <a:lumMod val="25000"/>
                      </a:schemeClr>
                    </a:solidFill>
                    <a:latin typeface="微软雅黑" pitchFamily="34" charset="-122"/>
                    <a:ea typeface="微软雅黑" pitchFamily="34" charset="-122"/>
                  </a:rPr>
                  <a:t>虚拟专用网 </a:t>
                </a:r>
                <a:r>
                  <a:rPr kumimoji="1" lang="en-US" altLang="zh-CN" sz="1400" dirty="0">
                    <a:solidFill>
                      <a:schemeClr val="bg2">
                        <a:lumMod val="25000"/>
                      </a:schemeClr>
                    </a:solidFill>
                    <a:latin typeface="微软雅黑" pitchFamily="34" charset="-122"/>
                    <a:ea typeface="微软雅黑" pitchFamily="34" charset="-122"/>
                  </a:rPr>
                  <a:t>VPN</a:t>
                </a:r>
              </a:p>
            </p:txBody>
          </p:sp>
          <p:pic>
            <p:nvPicPr>
              <p:cNvPr id="112" name="Picture 246" descr="jisuanji">
                <a:extLst>
                  <a:ext uri="{FF2B5EF4-FFF2-40B4-BE49-F238E27FC236}">
                    <a16:creationId xmlns:a16="http://schemas.microsoft.com/office/drawing/2014/main" id="{0E10A0A8-CCB2-450F-917E-F9A50C45543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21833"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3" name="Picture 246" descr="jisuanji">
                <a:extLst>
                  <a:ext uri="{FF2B5EF4-FFF2-40B4-BE49-F238E27FC236}">
                    <a16:creationId xmlns:a16="http://schemas.microsoft.com/office/drawing/2014/main" id="{60714C7B-412A-42CA-B3E9-FC409CBA5E2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35808" y="3363838"/>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246" descr="jisuanji">
                <a:extLst>
                  <a:ext uri="{FF2B5EF4-FFF2-40B4-BE49-F238E27FC236}">
                    <a16:creationId xmlns:a16="http://schemas.microsoft.com/office/drawing/2014/main" id="{F3000FE3-09A3-42DE-8DE5-595F8E300F7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7682"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5" name="Picture 246" descr="jisuanji">
                <a:extLst>
                  <a:ext uri="{FF2B5EF4-FFF2-40B4-BE49-F238E27FC236}">
                    <a16:creationId xmlns:a16="http://schemas.microsoft.com/office/drawing/2014/main" id="{C0EB2767-FD29-446E-BFC8-4AFF1F45ED5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39415" y="32687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6" name="Picture 246" descr="jisuanji">
                <a:extLst>
                  <a:ext uri="{FF2B5EF4-FFF2-40B4-BE49-F238E27FC236}">
                    <a16:creationId xmlns:a16="http://schemas.microsoft.com/office/drawing/2014/main" id="{5D4113E4-07B9-49DC-8C40-B1764F72809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6785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7" name="Picture 246" descr="jisuanji">
                <a:extLst>
                  <a:ext uri="{FF2B5EF4-FFF2-40B4-BE49-F238E27FC236}">
                    <a16:creationId xmlns:a16="http://schemas.microsoft.com/office/drawing/2014/main" id="{D69BB2C1-1553-4319-AEDF-82A93EC7EEB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2829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grpSp>
        <p:pic>
          <p:nvPicPr>
            <p:cNvPr id="159" name="Picture 30" descr="通用路由器">
              <a:extLst>
                <a:ext uri="{FF2B5EF4-FFF2-40B4-BE49-F238E27FC236}">
                  <a16:creationId xmlns:a16="http://schemas.microsoft.com/office/drawing/2014/main" id="{34D6AB3D-E4C1-4252-9501-C02A29B402E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27706" y="5697442"/>
              <a:ext cx="319557" cy="17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30" descr="通用路由器">
              <a:extLst>
                <a:ext uri="{FF2B5EF4-FFF2-40B4-BE49-F238E27FC236}">
                  <a16:creationId xmlns:a16="http://schemas.microsoft.com/office/drawing/2014/main" id="{599F53C3-9F51-43E8-8246-D96C42233C9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45164" y="5716148"/>
              <a:ext cx="319557" cy="17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 name="日期占位符 2">
            <a:extLst>
              <a:ext uri="{FF2B5EF4-FFF2-40B4-BE49-F238E27FC236}">
                <a16:creationId xmlns:a16="http://schemas.microsoft.com/office/drawing/2014/main" id="{77A7ECE8-4B24-409E-A608-E88DCB66EF95}"/>
              </a:ext>
            </a:extLst>
          </p:cNvPr>
          <p:cNvSpPr>
            <a:spLocks noGrp="1"/>
          </p:cNvSpPr>
          <p:nvPr>
            <p:ph type="dt" sz="half" idx="10"/>
          </p:nvPr>
        </p:nvSpPr>
        <p:spPr/>
        <p:txBody>
          <a:bodyPr/>
          <a:lstStyle/>
          <a:p>
            <a:r>
              <a:rPr kumimoji="1" lang="en-US" altLang="zh-CN" dirty="0"/>
              <a:t>5.10.2 VPN</a:t>
            </a:r>
            <a:r>
              <a:rPr kumimoji="1" lang="zh-CN" altLang="en-US" dirty="0"/>
              <a:t>技术</a:t>
            </a:r>
          </a:p>
        </p:txBody>
      </p:sp>
      <p:sp>
        <p:nvSpPr>
          <p:cNvPr id="5" name="文本框 4">
            <a:extLst>
              <a:ext uri="{FF2B5EF4-FFF2-40B4-BE49-F238E27FC236}">
                <a16:creationId xmlns:a16="http://schemas.microsoft.com/office/drawing/2014/main" id="{10BF1F90-589C-41DF-A38D-B88C6E259801}"/>
              </a:ext>
            </a:extLst>
          </p:cNvPr>
          <p:cNvSpPr txBox="1"/>
          <p:nvPr/>
        </p:nvSpPr>
        <p:spPr>
          <a:xfrm>
            <a:off x="6096000" y="3718050"/>
            <a:ext cx="783080" cy="307777"/>
          </a:xfrm>
          <a:prstGeom prst="rect">
            <a:avLst/>
          </a:prstGeom>
          <a:gradFill flip="none" rotWithShape="1">
            <a:gsLst>
              <a:gs pos="100000">
                <a:srgbClr val="FFFF00">
                  <a:tint val="44500"/>
                  <a:satMod val="160000"/>
                  <a:alpha val="61000"/>
                </a:srgbClr>
              </a:gs>
              <a:gs pos="6000">
                <a:schemeClr val="bg1"/>
              </a:gs>
            </a:gsLst>
            <a:path path="circle">
              <a:fillToRect l="50000" t="50000" r="50000" b="50000"/>
            </a:path>
            <a:tileRect/>
          </a:gradFill>
        </p:spPr>
        <p:txBody>
          <a:bodyPr wrap="square" rtlCol="0">
            <a:spAutoFit/>
          </a:bodyPr>
          <a:lstStyle/>
          <a:p>
            <a:r>
              <a:rPr lang="zh-CN" altLang="en-US" sz="1400" dirty="0">
                <a:solidFill>
                  <a:srgbClr val="C00000"/>
                </a:solidFill>
                <a:latin typeface="微软雅黑" panose="020B0503020204020204" pitchFamily="34" charset="-122"/>
                <a:ea typeface="微软雅黑" panose="020B0503020204020204" pitchFamily="34" charset="-122"/>
              </a:rPr>
              <a:t>数据报</a:t>
            </a:r>
          </a:p>
        </p:txBody>
      </p:sp>
      <p:sp>
        <p:nvSpPr>
          <p:cNvPr id="161" name="灯片编号占位符 3">
            <a:extLst>
              <a:ext uri="{FF2B5EF4-FFF2-40B4-BE49-F238E27FC236}">
                <a16:creationId xmlns:a16="http://schemas.microsoft.com/office/drawing/2014/main" id="{11EEB20E-1613-2D43-AE11-0EDE910FD68F}"/>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250</a:t>
            </a:fld>
            <a:endParaRPr kumimoji="1" lang="zh-CN" altLang="en-US" dirty="0"/>
          </a:p>
        </p:txBody>
      </p:sp>
      <p:pic>
        <p:nvPicPr>
          <p:cNvPr id="162" name="Picture 28" descr="015">
            <a:extLst>
              <a:ext uri="{FF2B5EF4-FFF2-40B4-BE49-F238E27FC236}">
                <a16:creationId xmlns:a16="http://schemas.microsoft.com/office/drawing/2014/main" id="{BF12D1DE-E984-4071-A6F3-A6E1B530A7A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50047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afterEffect">
                                  <p:stCondLst>
                                    <p:cond delay="0"/>
                                  </p:stCondLst>
                                  <p:childTnLst>
                                    <p:animMotion origin="layout" path="M -0.22487 -0.00254 L -6.25E-7 2.59259E-6 " pathEditMode="relative" rAng="0" ptsTypes="AA">
                                      <p:cBhvr>
                                        <p:cTn id="6" dur="2000" fill="hold"/>
                                        <p:tgtEl>
                                          <p:spTgt spid="5"/>
                                        </p:tgtEl>
                                        <p:attrNameLst>
                                          <p:attrName>ppt_x</p:attrName>
                                          <p:attrName>ppt_y</p:attrName>
                                        </p:attrNameLst>
                                      </p:cBhvr>
                                      <p:rCtr x="10286" y="69"/>
                                    </p:animMotion>
                                  </p:childTnLst>
                                </p:cTn>
                              </p:par>
                            </p:childTnLst>
                          </p:cTn>
                        </p:par>
                      </p:childTnLst>
                    </p:cTn>
                  </p:par>
                  <p:par>
                    <p:cTn id="7" fill="hold">
                      <p:stCondLst>
                        <p:cond delay="indefinite"/>
                      </p:stCondLst>
                      <p:childTnLst>
                        <p:par>
                          <p:cTn id="8" fill="hold">
                            <p:stCondLst>
                              <p:cond delay="0"/>
                            </p:stCondLst>
                            <p:childTnLst>
                              <p:par>
                                <p:cTn id="9" presetID="17" presetClass="entr" presetSubtype="1"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p:cTn id="11" dur="500" fill="hold"/>
                                        <p:tgtEl>
                                          <p:spTgt spid="10"/>
                                        </p:tgtEl>
                                        <p:attrNameLst>
                                          <p:attrName>ppt_x</p:attrName>
                                        </p:attrNameLst>
                                      </p:cBhvr>
                                      <p:tavLst>
                                        <p:tav tm="0">
                                          <p:val>
                                            <p:strVal val="#ppt_x"/>
                                          </p:val>
                                        </p:tav>
                                        <p:tav tm="100000">
                                          <p:val>
                                            <p:strVal val="#ppt_x"/>
                                          </p:val>
                                        </p:tav>
                                      </p:tavLst>
                                    </p:anim>
                                    <p:anim calcmode="lin" valueType="num">
                                      <p:cBhvr>
                                        <p:cTn id="12" dur="500" fill="hold"/>
                                        <p:tgtEl>
                                          <p:spTgt spid="10"/>
                                        </p:tgtEl>
                                        <p:attrNameLst>
                                          <p:attrName>ppt_y</p:attrName>
                                        </p:attrNameLst>
                                      </p:cBhvr>
                                      <p:tavLst>
                                        <p:tav tm="0">
                                          <p:val>
                                            <p:strVal val="#ppt_y-#ppt_h/2"/>
                                          </p:val>
                                        </p:tav>
                                        <p:tav tm="100000">
                                          <p:val>
                                            <p:strVal val="#ppt_y"/>
                                          </p:val>
                                        </p:tav>
                                      </p:tavLst>
                                    </p:anim>
                                    <p:anim calcmode="lin" valueType="num">
                                      <p:cBhvr>
                                        <p:cTn id="13" dur="500" fill="hold"/>
                                        <p:tgtEl>
                                          <p:spTgt spid="10"/>
                                        </p:tgtEl>
                                        <p:attrNameLst>
                                          <p:attrName>ppt_w</p:attrName>
                                        </p:attrNameLst>
                                      </p:cBhvr>
                                      <p:tavLst>
                                        <p:tav tm="0">
                                          <p:val>
                                            <p:strVal val="#ppt_w"/>
                                          </p:val>
                                        </p:tav>
                                        <p:tav tm="100000">
                                          <p:val>
                                            <p:strVal val="#ppt_w"/>
                                          </p:val>
                                        </p:tav>
                                      </p:tavLst>
                                    </p:anim>
                                    <p:anim calcmode="lin" valueType="num">
                                      <p:cBhvr>
                                        <p:cTn id="14"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5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155" grpId="0" animBg="1"/>
      <p:bldP spid="5"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4438864-8B81-4553-A0DC-910DF854A2CF}"/>
              </a:ext>
            </a:extLst>
          </p:cNvPr>
          <p:cNvSpPr>
            <a:spLocks noGrp="1"/>
          </p:cNvSpPr>
          <p:nvPr>
            <p:ph type="title"/>
          </p:nvPr>
        </p:nvSpPr>
        <p:spPr/>
        <p:txBody>
          <a:bodyPr>
            <a:normAutofit/>
          </a:bodyPr>
          <a:lstStyle/>
          <a:p>
            <a:r>
              <a:rPr kumimoji="1" lang="en-US" altLang="zh-CN" dirty="0"/>
              <a:t>VPN</a:t>
            </a:r>
            <a:r>
              <a:rPr kumimoji="1" lang="zh-CN" altLang="en-US" dirty="0"/>
              <a:t>的原理</a:t>
            </a:r>
            <a:endParaRPr lang="zh-CN" altLang="en-US" dirty="0"/>
          </a:p>
        </p:txBody>
      </p:sp>
      <p:sp>
        <p:nvSpPr>
          <p:cNvPr id="963" name="内容占位符 2">
            <a:extLst>
              <a:ext uri="{FF2B5EF4-FFF2-40B4-BE49-F238E27FC236}">
                <a16:creationId xmlns:a16="http://schemas.microsoft.com/office/drawing/2014/main" id="{F53559EE-B1BD-48A7-9760-36A3F9D03F64}"/>
              </a:ext>
            </a:extLst>
          </p:cNvPr>
          <p:cNvSpPr>
            <a:spLocks noGrp="1"/>
          </p:cNvSpPr>
          <p:nvPr>
            <p:ph idx="1"/>
          </p:nvPr>
        </p:nvSpPr>
        <p:spPr>
          <a:xfrm>
            <a:off x="811876" y="1427179"/>
            <a:ext cx="10586951" cy="569204"/>
          </a:xfrm>
        </p:spPr>
        <p:txBody>
          <a:bodyPr>
            <a:normAutofit/>
          </a:bodyPr>
          <a:lstStyle/>
          <a:p>
            <a:r>
              <a:rPr lang="en-US" altLang="zh-CN" sz="2400" dirty="0"/>
              <a:t>VPN</a:t>
            </a:r>
            <a:r>
              <a:rPr lang="zh-CN" altLang="en-US" sz="2400" dirty="0"/>
              <a:t>对数据机密性和完整性的保护</a:t>
            </a:r>
          </a:p>
        </p:txBody>
      </p:sp>
      <p:sp>
        <p:nvSpPr>
          <p:cNvPr id="5" name="Line 3">
            <a:extLst>
              <a:ext uri="{FF2B5EF4-FFF2-40B4-BE49-F238E27FC236}">
                <a16:creationId xmlns:a16="http://schemas.microsoft.com/office/drawing/2014/main" id="{0904ED98-4AE7-4865-9560-9609473AFD99}"/>
              </a:ext>
            </a:extLst>
          </p:cNvPr>
          <p:cNvSpPr>
            <a:spLocks noChangeShapeType="1"/>
          </p:cNvSpPr>
          <p:nvPr/>
        </p:nvSpPr>
        <p:spPr bwMode="auto">
          <a:xfrm>
            <a:off x="3652121" y="3378628"/>
            <a:ext cx="1019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 name="Line 4">
            <a:extLst>
              <a:ext uri="{FF2B5EF4-FFF2-40B4-BE49-F238E27FC236}">
                <a16:creationId xmlns:a16="http://schemas.microsoft.com/office/drawing/2014/main" id="{6D4262FD-ACF9-4D46-A2D9-DE78D480C83A}"/>
              </a:ext>
            </a:extLst>
          </p:cNvPr>
          <p:cNvSpPr>
            <a:spLocks noChangeShapeType="1"/>
          </p:cNvSpPr>
          <p:nvPr/>
        </p:nvSpPr>
        <p:spPr bwMode="auto">
          <a:xfrm>
            <a:off x="7110519" y="4644562"/>
            <a:ext cx="1279159" cy="97292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 name="Rectangle 8">
            <a:extLst>
              <a:ext uri="{FF2B5EF4-FFF2-40B4-BE49-F238E27FC236}">
                <a16:creationId xmlns:a16="http://schemas.microsoft.com/office/drawing/2014/main" id="{7768E910-9104-4BB5-9875-0C356EC1A9AD}"/>
              </a:ext>
            </a:extLst>
          </p:cNvPr>
          <p:cNvSpPr>
            <a:spLocks noChangeArrowheads="1"/>
          </p:cNvSpPr>
          <p:nvPr/>
        </p:nvSpPr>
        <p:spPr bwMode="auto">
          <a:xfrm>
            <a:off x="1574072" y="2128731"/>
            <a:ext cx="1609789" cy="3603365"/>
          </a:xfrm>
          <a:prstGeom prst="rect">
            <a:avLst/>
          </a:prstGeom>
          <a:solidFill>
            <a:srgbClr val="FFFFEB"/>
          </a:solidFill>
          <a:ln w="57150" cap="rnd">
            <a:solidFill>
              <a:schemeClr val="tx1"/>
            </a:solidFill>
            <a:miter lim="800000"/>
            <a:headEnd/>
            <a:tailEnd/>
          </a:ln>
          <a:effec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r>
              <a:rPr kumimoji="0" lang="zh-CN" altLang="en-US" sz="1400" dirty="0">
                <a:solidFill>
                  <a:schemeClr val="accent2"/>
                </a:solidFill>
                <a:latin typeface="微软雅黑" panose="020B0503020204020204" pitchFamily="34" charset="-122"/>
                <a:ea typeface="微软雅黑" panose="020B0503020204020204" pitchFamily="34" charset="-122"/>
              </a:rPr>
              <a:t>内部子网</a:t>
            </a:r>
          </a:p>
        </p:txBody>
      </p:sp>
      <p:grpSp>
        <p:nvGrpSpPr>
          <p:cNvPr id="11" name="Group 9">
            <a:extLst>
              <a:ext uri="{FF2B5EF4-FFF2-40B4-BE49-F238E27FC236}">
                <a16:creationId xmlns:a16="http://schemas.microsoft.com/office/drawing/2014/main" id="{7D438A46-ABF4-4FBF-BB28-F82B104FA4DD}"/>
              </a:ext>
            </a:extLst>
          </p:cNvPr>
          <p:cNvGrpSpPr>
            <a:grpSpLocks/>
          </p:cNvGrpSpPr>
          <p:nvPr/>
        </p:nvGrpSpPr>
        <p:grpSpPr bwMode="auto">
          <a:xfrm>
            <a:off x="1884556" y="3956209"/>
            <a:ext cx="839787" cy="545068"/>
            <a:chOff x="288" y="1248"/>
            <a:chExt cx="672" cy="436"/>
          </a:xfrm>
        </p:grpSpPr>
        <p:pic>
          <p:nvPicPr>
            <p:cNvPr id="12" name="Picture 10">
              <a:extLst>
                <a:ext uri="{FF2B5EF4-FFF2-40B4-BE49-F238E27FC236}">
                  <a16:creationId xmlns:a16="http://schemas.microsoft.com/office/drawing/2014/main" id="{D353650A-509E-44F3-A9DC-A0AFAECA5EE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 name="Picture 11">
              <a:extLst>
                <a:ext uri="{FF2B5EF4-FFF2-40B4-BE49-F238E27FC236}">
                  <a16:creationId xmlns:a16="http://schemas.microsoft.com/office/drawing/2014/main" id="{2491CD59-0415-4F60-852B-14D6713BB7E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2">
              <a:extLst>
                <a:ext uri="{FF2B5EF4-FFF2-40B4-BE49-F238E27FC236}">
                  <a16:creationId xmlns:a16="http://schemas.microsoft.com/office/drawing/2014/main" id="{B5FA0EC5-3DFD-49AE-8B60-B7EF1995590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 name="Picture 13">
              <a:extLst>
                <a:ext uri="{FF2B5EF4-FFF2-40B4-BE49-F238E27FC236}">
                  <a16:creationId xmlns:a16="http://schemas.microsoft.com/office/drawing/2014/main" id="{FB496793-B813-4DCC-AFF8-C5D05D31459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 name="Line 14">
              <a:extLst>
                <a:ext uri="{FF2B5EF4-FFF2-40B4-BE49-F238E27FC236}">
                  <a16:creationId xmlns:a16="http://schemas.microsoft.com/office/drawing/2014/main" id="{EE9E3675-B8A3-411A-A75C-ADD9B929EEF2}"/>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7" name="Line 15">
              <a:extLst>
                <a:ext uri="{FF2B5EF4-FFF2-40B4-BE49-F238E27FC236}">
                  <a16:creationId xmlns:a16="http://schemas.microsoft.com/office/drawing/2014/main" id="{AFA3EA01-37FA-4F2C-BFA4-A4C85D806918}"/>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8" name="Line 16">
              <a:extLst>
                <a:ext uri="{FF2B5EF4-FFF2-40B4-BE49-F238E27FC236}">
                  <a16:creationId xmlns:a16="http://schemas.microsoft.com/office/drawing/2014/main" id="{F0422705-2C26-4912-A4CD-119E22BBB1FD}"/>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9" name="Line 17">
              <a:extLst>
                <a:ext uri="{FF2B5EF4-FFF2-40B4-BE49-F238E27FC236}">
                  <a16:creationId xmlns:a16="http://schemas.microsoft.com/office/drawing/2014/main" id="{0DC000BD-56F2-4418-85D5-7A36159A39CD}"/>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0" name="Line 18">
              <a:extLst>
                <a:ext uri="{FF2B5EF4-FFF2-40B4-BE49-F238E27FC236}">
                  <a16:creationId xmlns:a16="http://schemas.microsoft.com/office/drawing/2014/main" id="{ABCA5148-E395-4A18-8C02-933CF7EEA27C}"/>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2" name="Line 20">
              <a:extLst>
                <a:ext uri="{FF2B5EF4-FFF2-40B4-BE49-F238E27FC236}">
                  <a16:creationId xmlns:a16="http://schemas.microsoft.com/office/drawing/2014/main" id="{D3E8FB59-0D53-4B7E-B7AC-4BC303EBADE4}"/>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3" name="Rectangle 21">
              <a:extLst>
                <a:ext uri="{FF2B5EF4-FFF2-40B4-BE49-F238E27FC236}">
                  <a16:creationId xmlns:a16="http://schemas.microsoft.com/office/drawing/2014/main" id="{DB88E8B7-C0DF-418F-904F-43E1A1A0973F}"/>
                </a:ext>
              </a:extLst>
            </p:cNvPr>
            <p:cNvSpPr>
              <a:spLocks noChangeArrowheads="1"/>
            </p:cNvSpPr>
            <p:nvPr/>
          </p:nvSpPr>
          <p:spPr bwMode="auto">
            <a:xfrm>
              <a:off x="390" y="1540"/>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管理子网</a:t>
              </a:r>
            </a:p>
          </p:txBody>
        </p:sp>
      </p:grpSp>
      <p:grpSp>
        <p:nvGrpSpPr>
          <p:cNvPr id="24" name="Group 22">
            <a:extLst>
              <a:ext uri="{FF2B5EF4-FFF2-40B4-BE49-F238E27FC236}">
                <a16:creationId xmlns:a16="http://schemas.microsoft.com/office/drawing/2014/main" id="{41197E98-9A8F-4D1C-9004-CD1DCDA9E611}"/>
              </a:ext>
            </a:extLst>
          </p:cNvPr>
          <p:cNvGrpSpPr>
            <a:grpSpLocks/>
          </p:cNvGrpSpPr>
          <p:nvPr/>
        </p:nvGrpSpPr>
        <p:grpSpPr bwMode="auto">
          <a:xfrm>
            <a:off x="1865063" y="3184498"/>
            <a:ext cx="839787" cy="535067"/>
            <a:chOff x="288" y="1248"/>
            <a:chExt cx="672" cy="428"/>
          </a:xfrm>
        </p:grpSpPr>
        <p:pic>
          <p:nvPicPr>
            <p:cNvPr id="25" name="Picture 23">
              <a:extLst>
                <a:ext uri="{FF2B5EF4-FFF2-40B4-BE49-F238E27FC236}">
                  <a16:creationId xmlns:a16="http://schemas.microsoft.com/office/drawing/2014/main" id="{9BA753F8-0FE6-4A4E-9D51-95A09C9F108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a:extLst>
                <a:ext uri="{FF2B5EF4-FFF2-40B4-BE49-F238E27FC236}">
                  <a16:creationId xmlns:a16="http://schemas.microsoft.com/office/drawing/2014/main" id="{6811D29D-6064-4F24-B936-2E2860DD28D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7" name="Picture 25">
              <a:extLst>
                <a:ext uri="{FF2B5EF4-FFF2-40B4-BE49-F238E27FC236}">
                  <a16:creationId xmlns:a16="http://schemas.microsoft.com/office/drawing/2014/main" id="{81647B0D-0DD0-4326-BD2D-64A2A878C5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8" name="Picture 26">
              <a:extLst>
                <a:ext uri="{FF2B5EF4-FFF2-40B4-BE49-F238E27FC236}">
                  <a16:creationId xmlns:a16="http://schemas.microsoft.com/office/drawing/2014/main" id="{EE363261-5FA2-43D2-9E81-D528DC04C35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 name="Line 27">
              <a:extLst>
                <a:ext uri="{FF2B5EF4-FFF2-40B4-BE49-F238E27FC236}">
                  <a16:creationId xmlns:a16="http://schemas.microsoft.com/office/drawing/2014/main" id="{32ECDE95-87AC-42FE-9F74-0D2BAD7F9F21}"/>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0" name="Line 28">
              <a:extLst>
                <a:ext uri="{FF2B5EF4-FFF2-40B4-BE49-F238E27FC236}">
                  <a16:creationId xmlns:a16="http://schemas.microsoft.com/office/drawing/2014/main" id="{8349A5CC-F28B-43FE-9FA7-C1FADE8B06C7}"/>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1" name="Line 29">
              <a:extLst>
                <a:ext uri="{FF2B5EF4-FFF2-40B4-BE49-F238E27FC236}">
                  <a16:creationId xmlns:a16="http://schemas.microsoft.com/office/drawing/2014/main" id="{15DC78FF-F8B8-4078-A8C1-CEADC18C9877}"/>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2" name="Line 30">
              <a:extLst>
                <a:ext uri="{FF2B5EF4-FFF2-40B4-BE49-F238E27FC236}">
                  <a16:creationId xmlns:a16="http://schemas.microsoft.com/office/drawing/2014/main" id="{E79D1A4F-FEB2-4045-8C46-487B8470F08C}"/>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3" name="Line 31">
              <a:extLst>
                <a:ext uri="{FF2B5EF4-FFF2-40B4-BE49-F238E27FC236}">
                  <a16:creationId xmlns:a16="http://schemas.microsoft.com/office/drawing/2014/main" id="{C053036E-4797-4377-99B4-323BB313719B}"/>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5" name="Line 33">
              <a:extLst>
                <a:ext uri="{FF2B5EF4-FFF2-40B4-BE49-F238E27FC236}">
                  <a16:creationId xmlns:a16="http://schemas.microsoft.com/office/drawing/2014/main" id="{211A38FB-AE2C-45AF-A30A-F28C22E91662}"/>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6" name="Rectangle 34">
              <a:extLst>
                <a:ext uri="{FF2B5EF4-FFF2-40B4-BE49-F238E27FC236}">
                  <a16:creationId xmlns:a16="http://schemas.microsoft.com/office/drawing/2014/main" id="{B42A74F2-D692-4FA9-BF06-C2837EA5D177}"/>
                </a:ext>
              </a:extLst>
            </p:cNvPr>
            <p:cNvSpPr>
              <a:spLocks noChangeArrowheads="1"/>
            </p:cNvSpPr>
            <p:nvPr/>
          </p:nvSpPr>
          <p:spPr bwMode="auto">
            <a:xfrm>
              <a:off x="374" y="1532"/>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一般子网</a:t>
              </a:r>
            </a:p>
          </p:txBody>
        </p:sp>
      </p:grpSp>
      <p:grpSp>
        <p:nvGrpSpPr>
          <p:cNvPr id="37" name="Group 35">
            <a:extLst>
              <a:ext uri="{FF2B5EF4-FFF2-40B4-BE49-F238E27FC236}">
                <a16:creationId xmlns:a16="http://schemas.microsoft.com/office/drawing/2014/main" id="{039D064F-C4E0-4D3D-98E9-35DD93F18F10}"/>
              </a:ext>
            </a:extLst>
          </p:cNvPr>
          <p:cNvGrpSpPr>
            <a:grpSpLocks/>
          </p:cNvGrpSpPr>
          <p:nvPr/>
        </p:nvGrpSpPr>
        <p:grpSpPr bwMode="auto">
          <a:xfrm>
            <a:off x="1897506" y="2409457"/>
            <a:ext cx="839787" cy="523815"/>
            <a:chOff x="288" y="1248"/>
            <a:chExt cx="672" cy="419"/>
          </a:xfrm>
        </p:grpSpPr>
        <p:pic>
          <p:nvPicPr>
            <p:cNvPr id="38" name="Picture 36">
              <a:extLst>
                <a:ext uri="{FF2B5EF4-FFF2-40B4-BE49-F238E27FC236}">
                  <a16:creationId xmlns:a16="http://schemas.microsoft.com/office/drawing/2014/main" id="{BAF8E054-A4B5-4353-8506-B6D2221B306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9" name="Picture 37">
              <a:extLst>
                <a:ext uri="{FF2B5EF4-FFF2-40B4-BE49-F238E27FC236}">
                  <a16:creationId xmlns:a16="http://schemas.microsoft.com/office/drawing/2014/main" id="{55340355-50CD-4B4D-A3A3-9F8E4FD4D85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0" name="Picture 38">
              <a:extLst>
                <a:ext uri="{FF2B5EF4-FFF2-40B4-BE49-F238E27FC236}">
                  <a16:creationId xmlns:a16="http://schemas.microsoft.com/office/drawing/2014/main" id="{F3E0EAA7-CE95-4703-997F-C273312BA0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39">
              <a:extLst>
                <a:ext uri="{FF2B5EF4-FFF2-40B4-BE49-F238E27FC236}">
                  <a16:creationId xmlns:a16="http://schemas.microsoft.com/office/drawing/2014/main" id="{BDAD4927-61A7-43E1-9FC6-0C7E58C9652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2" name="Line 40">
              <a:extLst>
                <a:ext uri="{FF2B5EF4-FFF2-40B4-BE49-F238E27FC236}">
                  <a16:creationId xmlns:a16="http://schemas.microsoft.com/office/drawing/2014/main" id="{D1A118CD-54FB-49BA-900A-0D59406B53AB}"/>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3" name="Line 41">
              <a:extLst>
                <a:ext uri="{FF2B5EF4-FFF2-40B4-BE49-F238E27FC236}">
                  <a16:creationId xmlns:a16="http://schemas.microsoft.com/office/drawing/2014/main" id="{F1AFE63F-68DD-4321-81EF-E22D5F3E887A}"/>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4" name="Line 42">
              <a:extLst>
                <a:ext uri="{FF2B5EF4-FFF2-40B4-BE49-F238E27FC236}">
                  <a16:creationId xmlns:a16="http://schemas.microsoft.com/office/drawing/2014/main" id="{043E7932-CBCB-47B2-88C3-F3DBA2F60F4B}"/>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5" name="Line 43">
              <a:extLst>
                <a:ext uri="{FF2B5EF4-FFF2-40B4-BE49-F238E27FC236}">
                  <a16:creationId xmlns:a16="http://schemas.microsoft.com/office/drawing/2014/main" id="{259326A1-DF8E-4C6D-B4AD-77FAF4A8F9D5}"/>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6" name="Line 44">
              <a:extLst>
                <a:ext uri="{FF2B5EF4-FFF2-40B4-BE49-F238E27FC236}">
                  <a16:creationId xmlns:a16="http://schemas.microsoft.com/office/drawing/2014/main" id="{733553D9-79C5-4C7C-BDCC-3874C5230720}"/>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8" name="Line 46">
              <a:extLst>
                <a:ext uri="{FF2B5EF4-FFF2-40B4-BE49-F238E27FC236}">
                  <a16:creationId xmlns:a16="http://schemas.microsoft.com/office/drawing/2014/main" id="{F8FB9B94-160C-49C3-B491-ED27EE942B48}"/>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9" name="Rectangle 47">
              <a:extLst>
                <a:ext uri="{FF2B5EF4-FFF2-40B4-BE49-F238E27FC236}">
                  <a16:creationId xmlns:a16="http://schemas.microsoft.com/office/drawing/2014/main" id="{2CD690D7-1056-46E1-A074-3BF6B014BA08}"/>
                </a:ext>
              </a:extLst>
            </p:cNvPr>
            <p:cNvSpPr>
              <a:spLocks noChangeArrowheads="1"/>
            </p:cNvSpPr>
            <p:nvPr/>
          </p:nvSpPr>
          <p:spPr bwMode="auto">
            <a:xfrm>
              <a:off x="366" y="1523"/>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服务子网</a:t>
              </a:r>
              <a:endParaRPr kumimoji="0" lang="en-US" altLang="zh-CN" sz="1400" dirty="0">
                <a:latin typeface="微软雅黑" panose="020B0503020204020204" pitchFamily="34" charset="-122"/>
                <a:ea typeface="微软雅黑" panose="020B0503020204020204" pitchFamily="34" charset="-122"/>
              </a:endParaRPr>
            </a:p>
          </p:txBody>
        </p:sp>
      </p:grpSp>
      <p:sp>
        <p:nvSpPr>
          <p:cNvPr id="51" name="Line 49">
            <a:extLst>
              <a:ext uri="{FF2B5EF4-FFF2-40B4-BE49-F238E27FC236}">
                <a16:creationId xmlns:a16="http://schemas.microsoft.com/office/drawing/2014/main" id="{1D81AC4D-F5E9-42B0-80D8-41392F09AA3A}"/>
              </a:ext>
            </a:extLst>
          </p:cNvPr>
          <p:cNvSpPr>
            <a:spLocks noChangeShapeType="1"/>
          </p:cNvSpPr>
          <p:nvPr/>
        </p:nvSpPr>
        <p:spPr bwMode="auto">
          <a:xfrm>
            <a:off x="2641663" y="4043020"/>
            <a:ext cx="42068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 name="Line 50">
            <a:extLst>
              <a:ext uri="{FF2B5EF4-FFF2-40B4-BE49-F238E27FC236}">
                <a16:creationId xmlns:a16="http://schemas.microsoft.com/office/drawing/2014/main" id="{3011AD18-8BA7-4593-A537-FC4E92351E99}"/>
              </a:ext>
            </a:extLst>
          </p:cNvPr>
          <p:cNvSpPr>
            <a:spLocks noChangeShapeType="1"/>
          </p:cNvSpPr>
          <p:nvPr/>
        </p:nvSpPr>
        <p:spPr bwMode="auto">
          <a:xfrm>
            <a:off x="2641663" y="3280847"/>
            <a:ext cx="776311"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54" name="Group 52">
            <a:extLst>
              <a:ext uri="{FF2B5EF4-FFF2-40B4-BE49-F238E27FC236}">
                <a16:creationId xmlns:a16="http://schemas.microsoft.com/office/drawing/2014/main" id="{172D9B9B-179B-489A-B3D7-6EAA1375F33D}"/>
              </a:ext>
            </a:extLst>
          </p:cNvPr>
          <p:cNvGrpSpPr>
            <a:grpSpLocks/>
          </p:cNvGrpSpPr>
          <p:nvPr/>
        </p:nvGrpSpPr>
        <p:grpSpPr bwMode="auto">
          <a:xfrm>
            <a:off x="1879752" y="4760022"/>
            <a:ext cx="841375" cy="576322"/>
            <a:chOff x="288" y="1248"/>
            <a:chExt cx="672" cy="461"/>
          </a:xfrm>
        </p:grpSpPr>
        <p:pic>
          <p:nvPicPr>
            <p:cNvPr id="55" name="Picture 53">
              <a:extLst>
                <a:ext uri="{FF2B5EF4-FFF2-40B4-BE49-F238E27FC236}">
                  <a16:creationId xmlns:a16="http://schemas.microsoft.com/office/drawing/2014/main" id="{ABB996D9-62BF-4D65-B594-2E2B853B3C2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4">
              <a:extLst>
                <a:ext uri="{FF2B5EF4-FFF2-40B4-BE49-F238E27FC236}">
                  <a16:creationId xmlns:a16="http://schemas.microsoft.com/office/drawing/2014/main" id="{E86C5E05-0E07-4BF4-90C6-91545B75314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5">
              <a:extLst>
                <a:ext uri="{FF2B5EF4-FFF2-40B4-BE49-F238E27FC236}">
                  <a16:creationId xmlns:a16="http://schemas.microsoft.com/office/drawing/2014/main" id="{4D52E36D-8D4D-4398-9CBF-E2E3C432300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6">
              <a:extLst>
                <a:ext uri="{FF2B5EF4-FFF2-40B4-BE49-F238E27FC236}">
                  <a16:creationId xmlns:a16="http://schemas.microsoft.com/office/drawing/2014/main" id="{FD79AB69-C75E-4AB6-B767-518F9A196AF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9" name="Line 57">
              <a:extLst>
                <a:ext uri="{FF2B5EF4-FFF2-40B4-BE49-F238E27FC236}">
                  <a16:creationId xmlns:a16="http://schemas.microsoft.com/office/drawing/2014/main" id="{FA00FF5A-7C6B-4CB1-BB90-BF2F3EAFC61F}"/>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0" name="Line 58">
              <a:extLst>
                <a:ext uri="{FF2B5EF4-FFF2-40B4-BE49-F238E27FC236}">
                  <a16:creationId xmlns:a16="http://schemas.microsoft.com/office/drawing/2014/main" id="{AAF21477-7B8C-4807-AB2C-55179D8B91EB}"/>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1" name="Line 59">
              <a:extLst>
                <a:ext uri="{FF2B5EF4-FFF2-40B4-BE49-F238E27FC236}">
                  <a16:creationId xmlns:a16="http://schemas.microsoft.com/office/drawing/2014/main" id="{E4A43DE8-E024-40E7-A7BF-9DA17354F6FA}"/>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2" name="Line 60">
              <a:extLst>
                <a:ext uri="{FF2B5EF4-FFF2-40B4-BE49-F238E27FC236}">
                  <a16:creationId xmlns:a16="http://schemas.microsoft.com/office/drawing/2014/main" id="{5155AC28-46F4-451A-9533-BE53E5C84056}"/>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3" name="Line 61">
              <a:extLst>
                <a:ext uri="{FF2B5EF4-FFF2-40B4-BE49-F238E27FC236}">
                  <a16:creationId xmlns:a16="http://schemas.microsoft.com/office/drawing/2014/main" id="{426BDBEB-EF4A-454A-A864-FA709D48A576}"/>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5" name="Line 63">
              <a:extLst>
                <a:ext uri="{FF2B5EF4-FFF2-40B4-BE49-F238E27FC236}">
                  <a16:creationId xmlns:a16="http://schemas.microsoft.com/office/drawing/2014/main" id="{6ACB89C6-F4F3-4D11-AF61-EC1657FAC1DF}"/>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6" name="Rectangle 64">
              <a:extLst>
                <a:ext uri="{FF2B5EF4-FFF2-40B4-BE49-F238E27FC236}">
                  <a16:creationId xmlns:a16="http://schemas.microsoft.com/office/drawing/2014/main" id="{E203EED2-C474-4019-BE82-1B8C2709C3A3}"/>
                </a:ext>
              </a:extLst>
            </p:cNvPr>
            <p:cNvSpPr>
              <a:spLocks noChangeArrowheads="1"/>
            </p:cNvSpPr>
            <p:nvPr/>
          </p:nvSpPr>
          <p:spPr bwMode="auto">
            <a:xfrm>
              <a:off x="366" y="1565"/>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重点子网</a:t>
              </a:r>
            </a:p>
          </p:txBody>
        </p:sp>
      </p:grpSp>
      <p:grpSp>
        <p:nvGrpSpPr>
          <p:cNvPr id="68" name="Group 66">
            <a:extLst>
              <a:ext uri="{FF2B5EF4-FFF2-40B4-BE49-F238E27FC236}">
                <a16:creationId xmlns:a16="http://schemas.microsoft.com/office/drawing/2014/main" id="{0FF9B098-AD26-4D9F-BDA8-15CED2C1B739}"/>
              </a:ext>
            </a:extLst>
          </p:cNvPr>
          <p:cNvGrpSpPr>
            <a:grpSpLocks/>
          </p:cNvGrpSpPr>
          <p:nvPr/>
        </p:nvGrpSpPr>
        <p:grpSpPr bwMode="auto">
          <a:xfrm>
            <a:off x="8020473" y="5491653"/>
            <a:ext cx="1773114" cy="1356641"/>
            <a:chOff x="4602" y="3301"/>
            <a:chExt cx="1302" cy="944"/>
          </a:xfrm>
        </p:grpSpPr>
        <p:pic>
          <p:nvPicPr>
            <p:cNvPr id="69" name="Picture 67">
              <a:extLst>
                <a:ext uri="{FF2B5EF4-FFF2-40B4-BE49-F238E27FC236}">
                  <a16:creationId xmlns:a16="http://schemas.microsoft.com/office/drawing/2014/main" id="{FDC67CFB-C1D9-4734-AD51-F6457031EA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02" y="3301"/>
              <a:ext cx="1024" cy="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0" name="Rectangle 68">
              <a:extLst>
                <a:ext uri="{FF2B5EF4-FFF2-40B4-BE49-F238E27FC236}">
                  <a16:creationId xmlns:a16="http://schemas.microsoft.com/office/drawing/2014/main" id="{9A4D0AB6-6857-42D4-A189-33C82D60E02C}"/>
                </a:ext>
              </a:extLst>
            </p:cNvPr>
            <p:cNvSpPr>
              <a:spLocks noChangeArrowheads="1"/>
            </p:cNvSpPr>
            <p:nvPr/>
          </p:nvSpPr>
          <p:spPr bwMode="auto">
            <a:xfrm>
              <a:off x="4787" y="3976"/>
              <a:ext cx="1117" cy="2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p>
              <a:pPr algn="just" defTabSz="720725" eaLnBrk="0" hangingPunct="0">
                <a:spcBef>
                  <a:spcPct val="50000"/>
                </a:spcBef>
              </a:pPr>
              <a:r>
                <a:rPr lang="zh-CN" altLang="en-US" sz="1400" dirty="0">
                  <a:latin typeface="微软雅黑" panose="020B0503020204020204" pitchFamily="34" charset="-122"/>
                  <a:ea typeface="微软雅黑" panose="020B0503020204020204" pitchFamily="34" charset="-122"/>
                </a:rPr>
                <a:t>下属机构</a:t>
              </a:r>
            </a:p>
          </p:txBody>
        </p:sp>
      </p:grpSp>
      <p:grpSp>
        <p:nvGrpSpPr>
          <p:cNvPr id="973" name="组合 972">
            <a:extLst>
              <a:ext uri="{FF2B5EF4-FFF2-40B4-BE49-F238E27FC236}">
                <a16:creationId xmlns:a16="http://schemas.microsoft.com/office/drawing/2014/main" id="{06C9256C-F919-4738-9660-7874ED7E3DF9}"/>
              </a:ext>
            </a:extLst>
          </p:cNvPr>
          <p:cNvGrpSpPr/>
          <p:nvPr/>
        </p:nvGrpSpPr>
        <p:grpSpPr>
          <a:xfrm>
            <a:off x="3618202" y="5742519"/>
            <a:ext cx="1949902" cy="712221"/>
            <a:chOff x="2903970" y="5862018"/>
            <a:chExt cx="1949902" cy="712221"/>
          </a:xfrm>
        </p:grpSpPr>
        <p:pic>
          <p:nvPicPr>
            <p:cNvPr id="73" name="Picture 71">
              <a:extLst>
                <a:ext uri="{FF2B5EF4-FFF2-40B4-BE49-F238E27FC236}">
                  <a16:creationId xmlns:a16="http://schemas.microsoft.com/office/drawing/2014/main" id="{E230BC3D-2E4B-4CD9-8F07-EB1A9664F91F}"/>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03970" y="5862018"/>
              <a:ext cx="1949902" cy="712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4" name="Rectangle 72">
              <a:extLst>
                <a:ext uri="{FF2B5EF4-FFF2-40B4-BE49-F238E27FC236}">
                  <a16:creationId xmlns:a16="http://schemas.microsoft.com/office/drawing/2014/main" id="{534D0F58-BD70-4FE1-8287-F51DA2BC2570}"/>
                </a:ext>
              </a:extLst>
            </p:cNvPr>
            <p:cNvSpPr>
              <a:spLocks noChangeArrowheads="1"/>
            </p:cNvSpPr>
            <p:nvPr/>
          </p:nvSpPr>
          <p:spPr bwMode="auto">
            <a:xfrm>
              <a:off x="3404980" y="6123328"/>
              <a:ext cx="1381125" cy="318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p>
              <a:pPr algn="just" defTabSz="720725" eaLnBrk="0" hangingPunct="0">
                <a:spcBef>
                  <a:spcPct val="50000"/>
                </a:spcBef>
              </a:pPr>
              <a:r>
                <a:rPr lang="en-US" altLang="zh-CN" sz="1600" dirty="0">
                  <a:latin typeface="微软雅黑" panose="020B0503020204020204" pitchFamily="34" charset="-122"/>
                  <a:ea typeface="微软雅黑" panose="020B0503020204020204" pitchFamily="34" charset="-122"/>
                </a:rPr>
                <a:t>Internet</a:t>
              </a:r>
              <a:endParaRPr lang="zh-CN" altLang="en-US" sz="1600" dirty="0">
                <a:latin typeface="微软雅黑" panose="020B0503020204020204" pitchFamily="34" charset="-122"/>
                <a:ea typeface="微软雅黑" panose="020B0503020204020204" pitchFamily="34" charset="-122"/>
              </a:endParaRPr>
            </a:p>
          </p:txBody>
        </p:sp>
      </p:grpSp>
      <p:pic>
        <p:nvPicPr>
          <p:cNvPr id="76" name="Picture 74">
            <a:extLst>
              <a:ext uri="{FF2B5EF4-FFF2-40B4-BE49-F238E27FC236}">
                <a16:creationId xmlns:a16="http://schemas.microsoft.com/office/drawing/2014/main" id="{1A583BB3-7547-4154-B2C4-8CDF42C675EA}"/>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17974" y="2959566"/>
            <a:ext cx="369477" cy="571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75">
            <a:extLst>
              <a:ext uri="{FF2B5EF4-FFF2-40B4-BE49-F238E27FC236}">
                <a16:creationId xmlns:a16="http://schemas.microsoft.com/office/drawing/2014/main" id="{25DFFF78-D037-4D47-97B6-F1C779D77516}"/>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83759" y="4717496"/>
            <a:ext cx="119062"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8" name="Line 76">
            <a:extLst>
              <a:ext uri="{FF2B5EF4-FFF2-40B4-BE49-F238E27FC236}">
                <a16:creationId xmlns:a16="http://schemas.microsoft.com/office/drawing/2014/main" id="{5781CA0D-562C-4501-BC7F-F27A1814897C}"/>
              </a:ext>
            </a:extLst>
          </p:cNvPr>
          <p:cNvSpPr>
            <a:spLocks noChangeShapeType="1"/>
          </p:cNvSpPr>
          <p:nvPr/>
        </p:nvSpPr>
        <p:spPr bwMode="auto">
          <a:xfrm>
            <a:off x="3762229" y="3337532"/>
            <a:ext cx="828000"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993" name="组合 992">
            <a:extLst>
              <a:ext uri="{FF2B5EF4-FFF2-40B4-BE49-F238E27FC236}">
                <a16:creationId xmlns:a16="http://schemas.microsoft.com/office/drawing/2014/main" id="{0F82C873-823F-48C0-9F69-64F6853A3C08}"/>
              </a:ext>
            </a:extLst>
          </p:cNvPr>
          <p:cNvGrpSpPr/>
          <p:nvPr/>
        </p:nvGrpSpPr>
        <p:grpSpPr>
          <a:xfrm>
            <a:off x="4135015" y="3508306"/>
            <a:ext cx="586345" cy="1900581"/>
            <a:chOff x="3071669" y="3698175"/>
            <a:chExt cx="586345" cy="1900581"/>
          </a:xfrm>
        </p:grpSpPr>
        <p:grpSp>
          <p:nvGrpSpPr>
            <p:cNvPr id="91" name="Group 89">
              <a:extLst>
                <a:ext uri="{FF2B5EF4-FFF2-40B4-BE49-F238E27FC236}">
                  <a16:creationId xmlns:a16="http://schemas.microsoft.com/office/drawing/2014/main" id="{69FF2E72-72FC-4BB6-8648-F8D98F23434A}"/>
                </a:ext>
              </a:extLst>
            </p:cNvPr>
            <p:cNvGrpSpPr>
              <a:grpSpLocks/>
            </p:cNvGrpSpPr>
            <p:nvPr/>
          </p:nvGrpSpPr>
          <p:grpSpPr bwMode="auto">
            <a:xfrm rot="17297288">
              <a:off x="2312795" y="4514688"/>
              <a:ext cx="1891485" cy="258460"/>
              <a:chOff x="2736" y="2106"/>
              <a:chExt cx="1513" cy="207"/>
            </a:xfrm>
          </p:grpSpPr>
          <p:sp>
            <p:nvSpPr>
              <p:cNvPr id="92" name="Text Box 90">
                <a:extLst>
                  <a:ext uri="{FF2B5EF4-FFF2-40B4-BE49-F238E27FC236}">
                    <a16:creationId xmlns:a16="http://schemas.microsoft.com/office/drawing/2014/main" id="{8AD1A31D-EEA1-4EBE-8ECB-05E79B4A6D2D}"/>
                  </a:ext>
                </a:extLst>
              </p:cNvPr>
              <p:cNvSpPr txBox="1">
                <a:spLocks noChangeArrowheads="1"/>
              </p:cNvSpPr>
              <p:nvPr/>
            </p:nvSpPr>
            <p:spPr bwMode="auto">
              <a:xfrm>
                <a:off x="2736" y="2106"/>
                <a:ext cx="1123" cy="196"/>
              </a:xfrm>
              <a:prstGeom prst="rect">
                <a:avLst/>
              </a:prstGeom>
              <a:solidFill>
                <a:srgbClr val="C1EFFF"/>
              </a:solidFill>
              <a:ln>
                <a:noFill/>
              </a:ln>
              <a:effectLst/>
            </p:spPr>
            <p:txBody>
              <a:bodyPr wrap="square" lIns="72007" tIns="36004" rIns="72007" bIns="36004">
                <a:spAutoFit/>
              </a:bodyPr>
              <a:lstStyle>
                <a:defPPr>
                  <a:defRPr lang="zh-CN"/>
                </a:defPPr>
                <a:lvl1pPr defTabSz="720725" eaLnBrk="0" hangingPunct="0">
                  <a:lnSpc>
                    <a:spcPct val="77000"/>
                  </a:lnSpc>
                  <a:spcBef>
                    <a:spcPct val="50000"/>
                  </a:spcBef>
                  <a:buClr>
                    <a:srgbClr val="A50021"/>
                  </a:buClr>
                  <a:buSzPct val="114000"/>
                  <a:defRPr kumimoji="0" sz="1400" b="1">
                    <a:solidFill>
                      <a:schemeClr val="accent6">
                        <a:lumMod val="75000"/>
                      </a:schemeClr>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spcBef>
                    <a:spcPts val="0"/>
                  </a:spcBef>
                </a:pPr>
                <a:r>
                  <a:rPr lang="zh-CN" altLang="en-US" b="0" dirty="0">
                    <a:solidFill>
                      <a:srgbClr val="002060"/>
                    </a:solidFill>
                  </a:rPr>
                  <a:t>加密后的数据包</a:t>
                </a:r>
              </a:p>
            </p:txBody>
          </p:sp>
          <p:sp>
            <p:nvSpPr>
              <p:cNvPr id="93" name="Text Box 91">
                <a:extLst>
                  <a:ext uri="{FF2B5EF4-FFF2-40B4-BE49-F238E27FC236}">
                    <a16:creationId xmlns:a16="http://schemas.microsoft.com/office/drawing/2014/main" id="{AD9F87FE-620B-4289-932E-DBDD4DCE99B6}"/>
                  </a:ext>
                </a:extLst>
              </p:cNvPr>
              <p:cNvSpPr txBox="1">
                <a:spLocks noChangeArrowheads="1"/>
              </p:cNvSpPr>
              <p:nvPr/>
            </p:nvSpPr>
            <p:spPr bwMode="auto">
              <a:xfrm>
                <a:off x="3829" y="2117"/>
                <a:ext cx="420" cy="196"/>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ts val="0"/>
                  </a:spcBef>
                  <a:defRPr kumimoji="0" sz="14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t>摘要</a:t>
                </a:r>
              </a:p>
            </p:txBody>
          </p:sp>
        </p:grpSp>
        <p:sp>
          <p:nvSpPr>
            <p:cNvPr id="79" name="Line 77">
              <a:extLst>
                <a:ext uri="{FF2B5EF4-FFF2-40B4-BE49-F238E27FC236}">
                  <a16:creationId xmlns:a16="http://schemas.microsoft.com/office/drawing/2014/main" id="{A4B5C3B5-903D-44DF-A9D1-1969A09E7415}"/>
                </a:ext>
              </a:extLst>
            </p:cNvPr>
            <p:cNvSpPr>
              <a:spLocks noChangeShapeType="1"/>
            </p:cNvSpPr>
            <p:nvPr/>
          </p:nvSpPr>
          <p:spPr bwMode="auto">
            <a:xfrm flipH="1">
              <a:off x="3071669" y="3764833"/>
              <a:ext cx="586345" cy="1833923"/>
            </a:xfrm>
            <a:prstGeom prst="line">
              <a:avLst/>
            </a:prstGeom>
            <a:noFill/>
            <a:ln w="38100" cmpd="tri">
              <a:pattFill prst="sphere">
                <a:fgClr>
                  <a:srgbClr val="FF3399"/>
                </a:fgClr>
                <a:bgClr>
                  <a:srgbClr val="9966FF"/>
                </a:bgClr>
              </a:patt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994" name="组合 993">
            <a:extLst>
              <a:ext uri="{FF2B5EF4-FFF2-40B4-BE49-F238E27FC236}">
                <a16:creationId xmlns:a16="http://schemas.microsoft.com/office/drawing/2014/main" id="{4BA24AB1-06AD-45D2-8FAA-F8734FB205E6}"/>
              </a:ext>
            </a:extLst>
          </p:cNvPr>
          <p:cNvGrpSpPr/>
          <p:nvPr/>
        </p:nvGrpSpPr>
        <p:grpSpPr>
          <a:xfrm rot="2270820">
            <a:off x="7174794" y="4933406"/>
            <a:ext cx="1448139" cy="245066"/>
            <a:chOff x="6367827" y="5043369"/>
            <a:chExt cx="1448139" cy="245066"/>
          </a:xfrm>
        </p:grpSpPr>
        <p:sp>
          <p:nvSpPr>
            <p:cNvPr id="980" name="Text Box 87">
              <a:extLst>
                <a:ext uri="{FF2B5EF4-FFF2-40B4-BE49-F238E27FC236}">
                  <a16:creationId xmlns:a16="http://schemas.microsoft.com/office/drawing/2014/main" id="{A5E4163F-9F37-468F-9B8F-4B445899D7A1}"/>
                </a:ext>
              </a:extLst>
            </p:cNvPr>
            <p:cNvSpPr txBox="1">
              <a:spLocks noChangeArrowheads="1"/>
            </p:cNvSpPr>
            <p:nvPr/>
          </p:nvSpPr>
          <p:spPr bwMode="auto">
            <a:xfrm>
              <a:off x="6367827" y="5043369"/>
              <a:ext cx="1411965" cy="245066"/>
            </a:xfrm>
            <a:prstGeom prst="rect">
              <a:avLst/>
            </a:prstGeom>
            <a:solidFill>
              <a:srgbClr val="FFFFCC"/>
            </a:solidFill>
            <a:ln w="9525">
              <a:noFill/>
              <a:miter lim="800000"/>
              <a:headEnd/>
              <a:tailEnd/>
            </a:ln>
            <a:effectLst/>
          </p:spPr>
          <p:txBody>
            <a:bodyPr wrap="square" lIns="72007" tIns="36004" rIns="72007" bIns="36004">
              <a:spAutoFit/>
            </a:bodyPr>
            <a:lstStyle>
              <a:defPPr>
                <a:defRPr lang="zh-CN"/>
              </a:defPPr>
              <a:lvl1pPr algn="ctr" defTabSz="720725" eaLnBrk="0" hangingPunct="0">
                <a:buClr>
                  <a:srgbClr val="A50021"/>
                </a:buClr>
                <a:buSzPct val="114000"/>
                <a:defRPr kumimoji="0" sz="1400">
                  <a:solidFill>
                    <a:srgbClr val="002060"/>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solidFill>
                    <a:srgbClr val="00B0F0"/>
                  </a:solidFill>
                </a:rPr>
                <a:t>原始数据包</a:t>
              </a:r>
            </a:p>
          </p:txBody>
        </p:sp>
        <p:sp>
          <p:nvSpPr>
            <p:cNvPr id="87" name="Line 85">
              <a:extLst>
                <a:ext uri="{FF2B5EF4-FFF2-40B4-BE49-F238E27FC236}">
                  <a16:creationId xmlns:a16="http://schemas.microsoft.com/office/drawing/2014/main" id="{91B4223B-ACA2-4A51-9BDC-8745F69635B4}"/>
                </a:ext>
              </a:extLst>
            </p:cNvPr>
            <p:cNvSpPr>
              <a:spLocks noChangeShapeType="1"/>
            </p:cNvSpPr>
            <p:nvPr/>
          </p:nvSpPr>
          <p:spPr bwMode="auto">
            <a:xfrm>
              <a:off x="6404766" y="5271971"/>
              <a:ext cx="1411200" cy="0"/>
            </a:xfrm>
            <a:prstGeom prst="line">
              <a:avLst/>
            </a:prstGeom>
            <a:noFill/>
            <a:ln w="19050">
              <a:solidFill>
                <a:srgbClr val="66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89" name="Text Box 87">
            <a:extLst>
              <a:ext uri="{FF2B5EF4-FFF2-40B4-BE49-F238E27FC236}">
                <a16:creationId xmlns:a16="http://schemas.microsoft.com/office/drawing/2014/main" id="{8E389925-AC8D-45CE-81CD-E11D01B1722E}"/>
              </a:ext>
            </a:extLst>
          </p:cNvPr>
          <p:cNvSpPr txBox="1">
            <a:spLocks noChangeArrowheads="1"/>
          </p:cNvSpPr>
          <p:nvPr/>
        </p:nvSpPr>
        <p:spPr bwMode="auto">
          <a:xfrm>
            <a:off x="3816536" y="2827253"/>
            <a:ext cx="710188" cy="503598"/>
          </a:xfrm>
          <a:prstGeom prst="rect">
            <a:avLst/>
          </a:prstGeom>
          <a:solidFill>
            <a:srgbClr val="FFFFCC"/>
          </a:solidFill>
          <a:ln w="9525">
            <a:noFill/>
            <a:miter lim="800000"/>
            <a:headEnd/>
            <a:tailEnd/>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buClr>
                <a:srgbClr val="A50021"/>
              </a:buClr>
              <a:buSzPct val="114000"/>
            </a:pPr>
            <a:r>
              <a:rPr kumimoji="0" lang="zh-CN" altLang="en-US" sz="1400" dirty="0">
                <a:solidFill>
                  <a:srgbClr val="00B0F0"/>
                </a:solidFill>
                <a:latin typeface="微软雅黑" panose="020B0503020204020204" pitchFamily="34" charset="-122"/>
                <a:ea typeface="微软雅黑" panose="020B0503020204020204" pitchFamily="34" charset="-122"/>
              </a:rPr>
              <a:t>原始</a:t>
            </a:r>
            <a:endParaRPr kumimoji="0" lang="en-US" altLang="zh-CN" sz="1400" dirty="0">
              <a:solidFill>
                <a:srgbClr val="00B0F0"/>
              </a:solidFill>
              <a:latin typeface="微软雅黑" panose="020B0503020204020204" pitchFamily="34" charset="-122"/>
              <a:ea typeface="微软雅黑" panose="020B0503020204020204" pitchFamily="34" charset="-122"/>
            </a:endParaRPr>
          </a:p>
          <a:p>
            <a:pPr algn="ctr" eaLnBrk="0" hangingPunct="0">
              <a:buClr>
                <a:srgbClr val="A50021"/>
              </a:buClr>
              <a:buSzPct val="114000"/>
            </a:pPr>
            <a:r>
              <a:rPr kumimoji="0" lang="zh-CN" altLang="en-US" sz="1400" dirty="0">
                <a:solidFill>
                  <a:srgbClr val="00B0F0"/>
                </a:solidFill>
                <a:latin typeface="微软雅黑" panose="020B0503020204020204" pitchFamily="34" charset="-122"/>
                <a:ea typeface="微软雅黑" panose="020B0503020204020204" pitchFamily="34" charset="-122"/>
              </a:rPr>
              <a:t>数据包</a:t>
            </a:r>
          </a:p>
        </p:txBody>
      </p:sp>
      <p:sp>
        <p:nvSpPr>
          <p:cNvPr id="90" name="Text Box 88">
            <a:extLst>
              <a:ext uri="{FF2B5EF4-FFF2-40B4-BE49-F238E27FC236}">
                <a16:creationId xmlns:a16="http://schemas.microsoft.com/office/drawing/2014/main" id="{6D1A6D0E-6CD8-4D95-B55E-9CE0C4DF4AAA}"/>
              </a:ext>
            </a:extLst>
          </p:cNvPr>
          <p:cNvSpPr txBox="1">
            <a:spLocks noChangeArrowheads="1"/>
          </p:cNvSpPr>
          <p:nvPr/>
        </p:nvSpPr>
        <p:spPr bwMode="auto">
          <a:xfrm>
            <a:off x="5011716" y="2253434"/>
            <a:ext cx="2083474" cy="288155"/>
          </a:xfrm>
          <a:prstGeom prst="rect">
            <a:avLst/>
          </a:prstGeom>
          <a:solidFill>
            <a:srgbClr val="D5D5FF"/>
          </a:solidFill>
          <a:ln>
            <a:noFill/>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0" hangingPunct="0">
              <a:buClr>
                <a:srgbClr val="A50021"/>
              </a:buClr>
              <a:buSzPct val="114000"/>
            </a:pPr>
            <a:r>
              <a:rPr kumimoji="0" lang="zh-CN" altLang="en-US" sz="1400" dirty="0">
                <a:solidFill>
                  <a:srgbClr val="7030A0"/>
                </a:solidFill>
                <a:latin typeface="微软雅黑" panose="020B0503020204020204" pitchFamily="34" charset="-122"/>
                <a:ea typeface="微软雅黑" panose="020B0503020204020204" pitchFamily="34" charset="-122"/>
              </a:rPr>
              <a:t>对原始数据包进行</a:t>
            </a:r>
            <a:r>
              <a:rPr kumimoji="0" lang="en-US" altLang="zh-CN" sz="1400" dirty="0">
                <a:solidFill>
                  <a:srgbClr val="7030A0"/>
                </a:solidFill>
                <a:latin typeface="微软雅黑" panose="020B0503020204020204" pitchFamily="34" charset="-122"/>
                <a:ea typeface="微软雅黑" panose="020B0503020204020204" pitchFamily="34" charset="-122"/>
              </a:rPr>
              <a:t>Hash</a:t>
            </a:r>
          </a:p>
        </p:txBody>
      </p:sp>
      <p:sp>
        <p:nvSpPr>
          <p:cNvPr id="94" name="Line 92">
            <a:extLst>
              <a:ext uri="{FF2B5EF4-FFF2-40B4-BE49-F238E27FC236}">
                <a16:creationId xmlns:a16="http://schemas.microsoft.com/office/drawing/2014/main" id="{244663B0-D535-4343-861E-C1BB96AA8387}"/>
              </a:ext>
            </a:extLst>
          </p:cNvPr>
          <p:cNvSpPr>
            <a:spLocks noChangeShapeType="1"/>
          </p:cNvSpPr>
          <p:nvPr/>
        </p:nvSpPr>
        <p:spPr bwMode="auto">
          <a:xfrm>
            <a:off x="7096129" y="2361258"/>
            <a:ext cx="855337"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 name="Text Box 93">
            <a:extLst>
              <a:ext uri="{FF2B5EF4-FFF2-40B4-BE49-F238E27FC236}">
                <a16:creationId xmlns:a16="http://schemas.microsoft.com/office/drawing/2014/main" id="{79180975-A85D-4584-AE98-53D81128A575}"/>
              </a:ext>
            </a:extLst>
          </p:cNvPr>
          <p:cNvSpPr txBox="1">
            <a:spLocks noChangeArrowheads="1"/>
          </p:cNvSpPr>
          <p:nvPr/>
        </p:nvSpPr>
        <p:spPr bwMode="auto">
          <a:xfrm>
            <a:off x="7234034" y="2049181"/>
            <a:ext cx="593983"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just" eaLnBrk="0" hangingPunct="0">
              <a:spcBef>
                <a:spcPct val="50000"/>
              </a:spcBef>
            </a:pPr>
            <a:r>
              <a:rPr kumimoji="0" lang="en-US" altLang="zh-CN" sz="1400" dirty="0">
                <a:latin typeface="微软雅黑" panose="020B0503020204020204" pitchFamily="34" charset="-122"/>
                <a:ea typeface="微软雅黑" panose="020B0503020204020204" pitchFamily="34" charset="-122"/>
              </a:rPr>
              <a:t>Hash</a:t>
            </a:r>
          </a:p>
        </p:txBody>
      </p:sp>
      <p:sp>
        <p:nvSpPr>
          <p:cNvPr id="96" name="Text Box 94">
            <a:extLst>
              <a:ext uri="{FF2B5EF4-FFF2-40B4-BE49-F238E27FC236}">
                <a16:creationId xmlns:a16="http://schemas.microsoft.com/office/drawing/2014/main" id="{AC5F8493-CF65-4921-A063-A0B40750B361}"/>
              </a:ext>
            </a:extLst>
          </p:cNvPr>
          <p:cNvSpPr txBox="1">
            <a:spLocks noChangeArrowheads="1"/>
          </p:cNvSpPr>
          <p:nvPr/>
        </p:nvSpPr>
        <p:spPr bwMode="auto">
          <a:xfrm>
            <a:off x="7951467" y="2185047"/>
            <a:ext cx="564506" cy="288155"/>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spcBef>
                <a:spcPts val="0"/>
              </a:spcBef>
            </a:pPr>
            <a:r>
              <a:rPr lang="zh-CN" altLang="en-US" sz="1400" dirty="0"/>
              <a:t>摘要</a:t>
            </a:r>
          </a:p>
        </p:txBody>
      </p:sp>
      <p:sp>
        <p:nvSpPr>
          <p:cNvPr id="97" name="Text Box 95">
            <a:extLst>
              <a:ext uri="{FF2B5EF4-FFF2-40B4-BE49-F238E27FC236}">
                <a16:creationId xmlns:a16="http://schemas.microsoft.com/office/drawing/2014/main" id="{DDF773BA-9C98-410D-AC8B-9D9E77849B03}"/>
              </a:ext>
            </a:extLst>
          </p:cNvPr>
          <p:cNvSpPr txBox="1">
            <a:spLocks noChangeArrowheads="1"/>
          </p:cNvSpPr>
          <p:nvPr/>
        </p:nvSpPr>
        <p:spPr bwMode="auto">
          <a:xfrm>
            <a:off x="5013567" y="2597578"/>
            <a:ext cx="2081623" cy="288155"/>
          </a:xfrm>
          <a:prstGeom prst="rect">
            <a:avLst/>
          </a:prstGeom>
          <a:solidFill>
            <a:srgbClr val="D5D5FF"/>
          </a:solidFill>
          <a:ln>
            <a:noFill/>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0" hangingPunct="0">
              <a:buClr>
                <a:srgbClr val="A50021"/>
              </a:buClr>
              <a:buSzPct val="114000"/>
            </a:pPr>
            <a:r>
              <a:rPr kumimoji="0" lang="zh-CN" altLang="en-US" sz="1400" dirty="0">
                <a:solidFill>
                  <a:srgbClr val="7030A0"/>
                </a:solidFill>
                <a:latin typeface="微软雅黑" panose="020B0503020204020204" pitchFamily="34" charset="-122"/>
                <a:ea typeface="微软雅黑" panose="020B0503020204020204" pitchFamily="34" charset="-122"/>
              </a:rPr>
              <a:t>对原始数据包进行加密</a:t>
            </a:r>
          </a:p>
        </p:txBody>
      </p:sp>
      <p:sp>
        <p:nvSpPr>
          <p:cNvPr id="99" name="Text Box 97">
            <a:extLst>
              <a:ext uri="{FF2B5EF4-FFF2-40B4-BE49-F238E27FC236}">
                <a16:creationId xmlns:a16="http://schemas.microsoft.com/office/drawing/2014/main" id="{14B22403-5B1D-46EB-900E-8471D3BFDC3F}"/>
              </a:ext>
            </a:extLst>
          </p:cNvPr>
          <p:cNvSpPr txBox="1">
            <a:spLocks noChangeArrowheads="1"/>
          </p:cNvSpPr>
          <p:nvPr/>
        </p:nvSpPr>
        <p:spPr bwMode="auto">
          <a:xfrm>
            <a:off x="7938224" y="2608466"/>
            <a:ext cx="1421042" cy="288155"/>
          </a:xfrm>
          <a:prstGeom prst="rect">
            <a:avLst/>
          </a:prstGeom>
          <a:solidFill>
            <a:srgbClr val="C1EFFF"/>
          </a:solidFill>
          <a:ln>
            <a:noFill/>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0" hangingPunct="0">
              <a:buClr>
                <a:srgbClr val="A50021"/>
              </a:buClr>
              <a:buSzPct val="114000"/>
            </a:pPr>
            <a:r>
              <a:rPr kumimoji="0" lang="zh-CN" altLang="en-US" sz="1400" dirty="0">
                <a:solidFill>
                  <a:srgbClr val="002060"/>
                </a:solidFill>
                <a:latin typeface="微软雅黑" panose="020B0503020204020204" pitchFamily="34" charset="-122"/>
                <a:ea typeface="微软雅黑" panose="020B0503020204020204" pitchFamily="34" charset="-122"/>
              </a:rPr>
              <a:t>加密后的数据包</a:t>
            </a:r>
          </a:p>
        </p:txBody>
      </p:sp>
      <p:sp>
        <p:nvSpPr>
          <p:cNvPr id="100" name="Line 98">
            <a:extLst>
              <a:ext uri="{FF2B5EF4-FFF2-40B4-BE49-F238E27FC236}">
                <a16:creationId xmlns:a16="http://schemas.microsoft.com/office/drawing/2014/main" id="{970A34D6-38E3-4F91-8E06-B94B32BA931F}"/>
              </a:ext>
            </a:extLst>
          </p:cNvPr>
          <p:cNvSpPr>
            <a:spLocks noChangeShapeType="1"/>
          </p:cNvSpPr>
          <p:nvPr/>
        </p:nvSpPr>
        <p:spPr bwMode="auto">
          <a:xfrm flipV="1">
            <a:off x="8521668" y="2312684"/>
            <a:ext cx="1135315"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1" name="Line 99">
            <a:extLst>
              <a:ext uri="{FF2B5EF4-FFF2-40B4-BE49-F238E27FC236}">
                <a16:creationId xmlns:a16="http://schemas.microsoft.com/office/drawing/2014/main" id="{E4A01FFF-C3CA-4378-9356-A98407A3EDC1}"/>
              </a:ext>
            </a:extLst>
          </p:cNvPr>
          <p:cNvSpPr>
            <a:spLocks noChangeShapeType="1"/>
          </p:cNvSpPr>
          <p:nvPr/>
        </p:nvSpPr>
        <p:spPr bwMode="auto">
          <a:xfrm>
            <a:off x="9354300" y="2726590"/>
            <a:ext cx="324000"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4" name="Text Box 102">
            <a:extLst>
              <a:ext uri="{FF2B5EF4-FFF2-40B4-BE49-F238E27FC236}">
                <a16:creationId xmlns:a16="http://schemas.microsoft.com/office/drawing/2014/main" id="{4FDAC2C0-B326-4E17-B716-697E16D0D470}"/>
              </a:ext>
            </a:extLst>
          </p:cNvPr>
          <p:cNvSpPr txBox="1">
            <a:spLocks noChangeArrowheads="1"/>
          </p:cNvSpPr>
          <p:nvPr/>
        </p:nvSpPr>
        <p:spPr bwMode="auto">
          <a:xfrm>
            <a:off x="7261514" y="2470017"/>
            <a:ext cx="720725" cy="288155"/>
          </a:xfrm>
          <a:prstGeom prst="rect">
            <a:avLst/>
          </a:prstGeom>
          <a:noFill/>
          <a:ln>
            <a:noFill/>
          </a:ln>
          <a:effec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sz="1400" dirty="0"/>
              <a:t>加密</a:t>
            </a:r>
          </a:p>
        </p:txBody>
      </p:sp>
      <p:sp>
        <p:nvSpPr>
          <p:cNvPr id="105" name="Line 103">
            <a:extLst>
              <a:ext uri="{FF2B5EF4-FFF2-40B4-BE49-F238E27FC236}">
                <a16:creationId xmlns:a16="http://schemas.microsoft.com/office/drawing/2014/main" id="{7707CEEF-63DE-45DD-B5A7-63BE42CAAE04}"/>
              </a:ext>
            </a:extLst>
          </p:cNvPr>
          <p:cNvSpPr>
            <a:spLocks noChangeShapeType="1"/>
          </p:cNvSpPr>
          <p:nvPr/>
        </p:nvSpPr>
        <p:spPr bwMode="auto">
          <a:xfrm flipV="1">
            <a:off x="4791946" y="2478515"/>
            <a:ext cx="0" cy="779463"/>
          </a:xfrm>
          <a:prstGeom prst="line">
            <a:avLst/>
          </a:prstGeom>
          <a:noFill/>
          <a:ln w="19050">
            <a:solidFill>
              <a:schemeClr val="accent2"/>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6" name="Line 104">
            <a:extLst>
              <a:ext uri="{FF2B5EF4-FFF2-40B4-BE49-F238E27FC236}">
                <a16:creationId xmlns:a16="http://schemas.microsoft.com/office/drawing/2014/main" id="{B1DC02D7-69E5-47CC-ACB4-705B84ADCF13}"/>
              </a:ext>
            </a:extLst>
          </p:cNvPr>
          <p:cNvSpPr>
            <a:spLocks noChangeShapeType="1"/>
          </p:cNvSpPr>
          <p:nvPr/>
        </p:nvSpPr>
        <p:spPr bwMode="auto">
          <a:xfrm>
            <a:off x="4791946" y="2478515"/>
            <a:ext cx="239713"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7" name="Line 105">
            <a:extLst>
              <a:ext uri="{FF2B5EF4-FFF2-40B4-BE49-F238E27FC236}">
                <a16:creationId xmlns:a16="http://schemas.microsoft.com/office/drawing/2014/main" id="{B239BFAB-2501-4B21-A42A-5FD62A14B474}"/>
              </a:ext>
            </a:extLst>
          </p:cNvPr>
          <p:cNvSpPr>
            <a:spLocks noChangeShapeType="1"/>
          </p:cNvSpPr>
          <p:nvPr/>
        </p:nvSpPr>
        <p:spPr bwMode="auto">
          <a:xfrm>
            <a:off x="4791946" y="2718228"/>
            <a:ext cx="239713"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8" name="Line 106">
            <a:extLst>
              <a:ext uri="{FF2B5EF4-FFF2-40B4-BE49-F238E27FC236}">
                <a16:creationId xmlns:a16="http://schemas.microsoft.com/office/drawing/2014/main" id="{0528AF4E-539C-4960-B68C-A2692FF89202}"/>
              </a:ext>
            </a:extLst>
          </p:cNvPr>
          <p:cNvSpPr>
            <a:spLocks noChangeShapeType="1"/>
          </p:cNvSpPr>
          <p:nvPr/>
        </p:nvSpPr>
        <p:spPr bwMode="auto">
          <a:xfrm flipH="1">
            <a:off x="4096801" y="3348794"/>
            <a:ext cx="746074" cy="23050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6" name="Text Box 114">
            <a:extLst>
              <a:ext uri="{FF2B5EF4-FFF2-40B4-BE49-F238E27FC236}">
                <a16:creationId xmlns:a16="http://schemas.microsoft.com/office/drawing/2014/main" id="{D60EFF51-DA15-4CC1-801F-21D5E7D5858E}"/>
              </a:ext>
            </a:extLst>
          </p:cNvPr>
          <p:cNvSpPr txBox="1">
            <a:spLocks noChangeArrowheads="1"/>
          </p:cNvSpPr>
          <p:nvPr/>
        </p:nvSpPr>
        <p:spPr bwMode="auto">
          <a:xfrm>
            <a:off x="10109940" y="3806648"/>
            <a:ext cx="897586" cy="288155"/>
          </a:xfrm>
          <a:prstGeom prst="rect">
            <a:avLst/>
          </a:prstGeom>
          <a:noFill/>
          <a:ln>
            <a:solidFill>
              <a:schemeClr val="accent6">
                <a:lumMod val="60000"/>
                <a:lumOff val="40000"/>
              </a:schemeClr>
            </a:solidFill>
          </a:ln>
          <a:effec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sz="1400" dirty="0"/>
              <a:t>来源认证</a:t>
            </a:r>
          </a:p>
        </p:txBody>
      </p:sp>
      <p:sp>
        <p:nvSpPr>
          <p:cNvPr id="117" name="Line 115">
            <a:extLst>
              <a:ext uri="{FF2B5EF4-FFF2-40B4-BE49-F238E27FC236}">
                <a16:creationId xmlns:a16="http://schemas.microsoft.com/office/drawing/2014/main" id="{0C29F06A-FB72-4DE3-A3C8-C3D8F5B97844}"/>
              </a:ext>
            </a:extLst>
          </p:cNvPr>
          <p:cNvSpPr>
            <a:spLocks noChangeShapeType="1"/>
          </p:cNvSpPr>
          <p:nvPr/>
        </p:nvSpPr>
        <p:spPr bwMode="auto">
          <a:xfrm>
            <a:off x="8706439" y="4013528"/>
            <a:ext cx="0" cy="396000"/>
          </a:xfrm>
          <a:prstGeom prst="line">
            <a:avLst/>
          </a:prstGeom>
          <a:noFill/>
          <a:ln w="19050">
            <a:solidFill>
              <a:srgbClr val="66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9" name="Text Box 117">
            <a:extLst>
              <a:ext uri="{FF2B5EF4-FFF2-40B4-BE49-F238E27FC236}">
                <a16:creationId xmlns:a16="http://schemas.microsoft.com/office/drawing/2014/main" id="{76377222-40FE-4625-94BE-35CA2092E0A6}"/>
              </a:ext>
            </a:extLst>
          </p:cNvPr>
          <p:cNvSpPr txBox="1">
            <a:spLocks noChangeArrowheads="1"/>
          </p:cNvSpPr>
          <p:nvPr/>
        </p:nvSpPr>
        <p:spPr bwMode="auto">
          <a:xfrm>
            <a:off x="8711707" y="4079445"/>
            <a:ext cx="781069"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sz="1400" dirty="0"/>
              <a:t>解密</a:t>
            </a:r>
          </a:p>
        </p:txBody>
      </p:sp>
      <p:sp>
        <p:nvSpPr>
          <p:cNvPr id="122" name="Text Box 120">
            <a:extLst>
              <a:ext uri="{FF2B5EF4-FFF2-40B4-BE49-F238E27FC236}">
                <a16:creationId xmlns:a16="http://schemas.microsoft.com/office/drawing/2014/main" id="{2575CA96-E328-46CD-B4C1-FC5215505D0D}"/>
              </a:ext>
            </a:extLst>
          </p:cNvPr>
          <p:cNvSpPr txBox="1">
            <a:spLocks noChangeArrowheads="1"/>
          </p:cNvSpPr>
          <p:nvPr/>
        </p:nvSpPr>
        <p:spPr bwMode="auto">
          <a:xfrm>
            <a:off x="9464138" y="3593392"/>
            <a:ext cx="662970"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just" eaLnBrk="0" hangingPunct="0">
              <a:spcBef>
                <a:spcPct val="50000"/>
              </a:spcBef>
            </a:pPr>
            <a:r>
              <a:rPr kumimoji="0" lang="en-US" altLang="zh-CN" sz="1400" dirty="0">
                <a:latin typeface="微软雅黑" panose="020B0503020204020204" pitchFamily="34" charset="-122"/>
                <a:ea typeface="微软雅黑" panose="020B0503020204020204" pitchFamily="34" charset="-122"/>
              </a:rPr>
              <a:t>Hash</a:t>
            </a:r>
          </a:p>
        </p:txBody>
      </p:sp>
      <p:grpSp>
        <p:nvGrpSpPr>
          <p:cNvPr id="130" name="Group 128">
            <a:extLst>
              <a:ext uri="{FF2B5EF4-FFF2-40B4-BE49-F238E27FC236}">
                <a16:creationId xmlns:a16="http://schemas.microsoft.com/office/drawing/2014/main" id="{065E1523-C156-46B5-90FF-50FD5BA87E74}"/>
              </a:ext>
            </a:extLst>
          </p:cNvPr>
          <p:cNvGrpSpPr>
            <a:grpSpLocks/>
          </p:cNvGrpSpPr>
          <p:nvPr/>
        </p:nvGrpSpPr>
        <p:grpSpPr bwMode="auto">
          <a:xfrm>
            <a:off x="4596632" y="3214045"/>
            <a:ext cx="541338" cy="266700"/>
            <a:chOff x="3272" y="3473"/>
            <a:chExt cx="1086" cy="536"/>
          </a:xfrm>
        </p:grpSpPr>
        <p:grpSp>
          <p:nvGrpSpPr>
            <p:cNvPr id="131" name="Group 129">
              <a:extLst>
                <a:ext uri="{FF2B5EF4-FFF2-40B4-BE49-F238E27FC236}">
                  <a16:creationId xmlns:a16="http://schemas.microsoft.com/office/drawing/2014/main" id="{45BC8175-5279-4C50-9FA7-10C7B35AB541}"/>
                </a:ext>
              </a:extLst>
            </p:cNvPr>
            <p:cNvGrpSpPr>
              <a:grpSpLocks/>
            </p:cNvGrpSpPr>
            <p:nvPr/>
          </p:nvGrpSpPr>
          <p:grpSpPr bwMode="auto">
            <a:xfrm>
              <a:off x="3272" y="3628"/>
              <a:ext cx="903" cy="380"/>
              <a:chOff x="3272" y="3628"/>
              <a:chExt cx="903" cy="380"/>
            </a:xfrm>
          </p:grpSpPr>
          <p:sp>
            <p:nvSpPr>
              <p:cNvPr id="413" name="Rectangle 130">
                <a:extLst>
                  <a:ext uri="{FF2B5EF4-FFF2-40B4-BE49-F238E27FC236}">
                    <a16:creationId xmlns:a16="http://schemas.microsoft.com/office/drawing/2014/main" id="{F6AB14AA-45AC-4D84-B7B1-9772FF689A00}"/>
                  </a:ext>
                </a:extLst>
              </p:cNvPr>
              <p:cNvSpPr>
                <a:spLocks noChangeArrowheads="1"/>
              </p:cNvSpPr>
              <p:nvPr/>
            </p:nvSpPr>
            <p:spPr bwMode="auto">
              <a:xfrm>
                <a:off x="3277" y="3632"/>
                <a:ext cx="893" cy="371"/>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4" name="Rectangle 131">
                <a:extLst>
                  <a:ext uri="{FF2B5EF4-FFF2-40B4-BE49-F238E27FC236}">
                    <a16:creationId xmlns:a16="http://schemas.microsoft.com/office/drawing/2014/main" id="{19CBF455-432A-4FA0-84FE-38C300279C5F}"/>
                  </a:ext>
                </a:extLst>
              </p:cNvPr>
              <p:cNvSpPr>
                <a:spLocks noChangeArrowheads="1"/>
              </p:cNvSpPr>
              <p:nvPr/>
            </p:nvSpPr>
            <p:spPr bwMode="auto">
              <a:xfrm>
                <a:off x="3272" y="363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5" name="Rectangle 132">
                <a:extLst>
                  <a:ext uri="{FF2B5EF4-FFF2-40B4-BE49-F238E27FC236}">
                    <a16:creationId xmlns:a16="http://schemas.microsoft.com/office/drawing/2014/main" id="{7AA27745-292B-4919-9FEE-B72446C57642}"/>
                  </a:ext>
                </a:extLst>
              </p:cNvPr>
              <p:cNvSpPr>
                <a:spLocks noChangeArrowheads="1"/>
              </p:cNvSpPr>
              <p:nvPr/>
            </p:nvSpPr>
            <p:spPr bwMode="auto">
              <a:xfrm>
                <a:off x="3272" y="3652"/>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6" name="Rectangle 133">
                <a:extLst>
                  <a:ext uri="{FF2B5EF4-FFF2-40B4-BE49-F238E27FC236}">
                    <a16:creationId xmlns:a16="http://schemas.microsoft.com/office/drawing/2014/main" id="{25EE64F9-E8A1-4714-B400-347E3A2C15DC}"/>
                  </a:ext>
                </a:extLst>
              </p:cNvPr>
              <p:cNvSpPr>
                <a:spLocks noChangeArrowheads="1"/>
              </p:cNvSpPr>
              <p:nvPr/>
            </p:nvSpPr>
            <p:spPr bwMode="auto">
              <a:xfrm>
                <a:off x="3272" y="367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7" name="Rectangle 134">
                <a:extLst>
                  <a:ext uri="{FF2B5EF4-FFF2-40B4-BE49-F238E27FC236}">
                    <a16:creationId xmlns:a16="http://schemas.microsoft.com/office/drawing/2014/main" id="{B13C3D28-DDC4-42DF-A47E-F140AEDDC6C2}"/>
                  </a:ext>
                </a:extLst>
              </p:cNvPr>
              <p:cNvSpPr>
                <a:spLocks noChangeArrowheads="1"/>
              </p:cNvSpPr>
              <p:nvPr/>
            </p:nvSpPr>
            <p:spPr bwMode="auto">
              <a:xfrm>
                <a:off x="3272" y="3690"/>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8" name="Rectangle 135">
                <a:extLst>
                  <a:ext uri="{FF2B5EF4-FFF2-40B4-BE49-F238E27FC236}">
                    <a16:creationId xmlns:a16="http://schemas.microsoft.com/office/drawing/2014/main" id="{F75971A3-8799-4E89-830B-715BF5493F84}"/>
                  </a:ext>
                </a:extLst>
              </p:cNvPr>
              <p:cNvSpPr>
                <a:spLocks noChangeArrowheads="1"/>
              </p:cNvSpPr>
              <p:nvPr/>
            </p:nvSpPr>
            <p:spPr bwMode="auto">
              <a:xfrm>
                <a:off x="3272" y="370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9" name="Rectangle 136">
                <a:extLst>
                  <a:ext uri="{FF2B5EF4-FFF2-40B4-BE49-F238E27FC236}">
                    <a16:creationId xmlns:a16="http://schemas.microsoft.com/office/drawing/2014/main" id="{524E4029-BA3C-4FF9-B113-78042E17D47F}"/>
                  </a:ext>
                </a:extLst>
              </p:cNvPr>
              <p:cNvSpPr>
                <a:spLocks noChangeArrowheads="1"/>
              </p:cNvSpPr>
              <p:nvPr/>
            </p:nvSpPr>
            <p:spPr bwMode="auto">
              <a:xfrm>
                <a:off x="3272" y="372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0" name="Rectangle 137">
                <a:extLst>
                  <a:ext uri="{FF2B5EF4-FFF2-40B4-BE49-F238E27FC236}">
                    <a16:creationId xmlns:a16="http://schemas.microsoft.com/office/drawing/2014/main" id="{8278CCC6-42EF-4F78-8496-AC2069C4750B}"/>
                  </a:ext>
                </a:extLst>
              </p:cNvPr>
              <p:cNvSpPr>
                <a:spLocks noChangeArrowheads="1"/>
              </p:cNvSpPr>
              <p:nvPr/>
            </p:nvSpPr>
            <p:spPr bwMode="auto">
              <a:xfrm>
                <a:off x="3272" y="374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1" name="Rectangle 138">
                <a:extLst>
                  <a:ext uri="{FF2B5EF4-FFF2-40B4-BE49-F238E27FC236}">
                    <a16:creationId xmlns:a16="http://schemas.microsoft.com/office/drawing/2014/main" id="{BBA6B46E-3652-409B-8EB3-A4364DB97E3C}"/>
                  </a:ext>
                </a:extLst>
              </p:cNvPr>
              <p:cNvSpPr>
                <a:spLocks noChangeArrowheads="1"/>
              </p:cNvSpPr>
              <p:nvPr/>
            </p:nvSpPr>
            <p:spPr bwMode="auto">
              <a:xfrm>
                <a:off x="3272" y="3767"/>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2" name="Rectangle 139">
                <a:extLst>
                  <a:ext uri="{FF2B5EF4-FFF2-40B4-BE49-F238E27FC236}">
                    <a16:creationId xmlns:a16="http://schemas.microsoft.com/office/drawing/2014/main" id="{D089B35F-577C-4B11-8814-E6C57894E1B2}"/>
                  </a:ext>
                </a:extLst>
              </p:cNvPr>
              <p:cNvSpPr>
                <a:spLocks noChangeArrowheads="1"/>
              </p:cNvSpPr>
              <p:nvPr/>
            </p:nvSpPr>
            <p:spPr bwMode="auto">
              <a:xfrm>
                <a:off x="3272" y="3786"/>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3" name="Rectangle 140">
                <a:extLst>
                  <a:ext uri="{FF2B5EF4-FFF2-40B4-BE49-F238E27FC236}">
                    <a16:creationId xmlns:a16="http://schemas.microsoft.com/office/drawing/2014/main" id="{5F63A1D7-8A3B-4130-AA99-CA33FAF7784D}"/>
                  </a:ext>
                </a:extLst>
              </p:cNvPr>
              <p:cNvSpPr>
                <a:spLocks noChangeArrowheads="1"/>
              </p:cNvSpPr>
              <p:nvPr/>
            </p:nvSpPr>
            <p:spPr bwMode="auto">
              <a:xfrm>
                <a:off x="3272" y="3805"/>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4" name="Rectangle 141">
                <a:extLst>
                  <a:ext uri="{FF2B5EF4-FFF2-40B4-BE49-F238E27FC236}">
                    <a16:creationId xmlns:a16="http://schemas.microsoft.com/office/drawing/2014/main" id="{FDFB82AB-F0B3-433B-B0CC-B9655513E592}"/>
                  </a:ext>
                </a:extLst>
              </p:cNvPr>
              <p:cNvSpPr>
                <a:spLocks noChangeArrowheads="1"/>
              </p:cNvSpPr>
              <p:nvPr/>
            </p:nvSpPr>
            <p:spPr bwMode="auto">
              <a:xfrm>
                <a:off x="3272" y="3825"/>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5" name="Rectangle 142">
                <a:extLst>
                  <a:ext uri="{FF2B5EF4-FFF2-40B4-BE49-F238E27FC236}">
                    <a16:creationId xmlns:a16="http://schemas.microsoft.com/office/drawing/2014/main" id="{E00BF18D-158B-4E6E-B0C5-918EC91F35C0}"/>
                  </a:ext>
                </a:extLst>
              </p:cNvPr>
              <p:cNvSpPr>
                <a:spLocks noChangeArrowheads="1"/>
              </p:cNvSpPr>
              <p:nvPr/>
            </p:nvSpPr>
            <p:spPr bwMode="auto">
              <a:xfrm>
                <a:off x="3272" y="3844"/>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6" name="Rectangle 143">
                <a:extLst>
                  <a:ext uri="{FF2B5EF4-FFF2-40B4-BE49-F238E27FC236}">
                    <a16:creationId xmlns:a16="http://schemas.microsoft.com/office/drawing/2014/main" id="{8A96C277-4298-43E2-8FC8-EA7E2F116AD2}"/>
                  </a:ext>
                </a:extLst>
              </p:cNvPr>
              <p:cNvSpPr>
                <a:spLocks noChangeArrowheads="1"/>
              </p:cNvSpPr>
              <p:nvPr/>
            </p:nvSpPr>
            <p:spPr bwMode="auto">
              <a:xfrm>
                <a:off x="3272" y="3863"/>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7" name="Rectangle 144">
                <a:extLst>
                  <a:ext uri="{FF2B5EF4-FFF2-40B4-BE49-F238E27FC236}">
                    <a16:creationId xmlns:a16="http://schemas.microsoft.com/office/drawing/2014/main" id="{A2B4BDFF-2DE7-4171-9B17-2E127E7511EC}"/>
                  </a:ext>
                </a:extLst>
              </p:cNvPr>
              <p:cNvSpPr>
                <a:spLocks noChangeArrowheads="1"/>
              </p:cNvSpPr>
              <p:nvPr/>
            </p:nvSpPr>
            <p:spPr bwMode="auto">
              <a:xfrm>
                <a:off x="3272" y="388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8" name="Rectangle 145">
                <a:extLst>
                  <a:ext uri="{FF2B5EF4-FFF2-40B4-BE49-F238E27FC236}">
                    <a16:creationId xmlns:a16="http://schemas.microsoft.com/office/drawing/2014/main" id="{B9B121D8-7EF9-4E9A-9AB2-A19D978BB32C}"/>
                  </a:ext>
                </a:extLst>
              </p:cNvPr>
              <p:cNvSpPr>
                <a:spLocks noChangeArrowheads="1"/>
              </p:cNvSpPr>
              <p:nvPr/>
            </p:nvSpPr>
            <p:spPr bwMode="auto">
              <a:xfrm>
                <a:off x="3272" y="3901"/>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9" name="Rectangle 146">
                <a:extLst>
                  <a:ext uri="{FF2B5EF4-FFF2-40B4-BE49-F238E27FC236}">
                    <a16:creationId xmlns:a16="http://schemas.microsoft.com/office/drawing/2014/main" id="{411A0886-1834-4B98-9E39-FDDF1774A1D1}"/>
                  </a:ext>
                </a:extLst>
              </p:cNvPr>
              <p:cNvSpPr>
                <a:spLocks noChangeArrowheads="1"/>
              </p:cNvSpPr>
              <p:nvPr/>
            </p:nvSpPr>
            <p:spPr bwMode="auto">
              <a:xfrm>
                <a:off x="3272" y="392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0" name="Rectangle 147">
                <a:extLst>
                  <a:ext uri="{FF2B5EF4-FFF2-40B4-BE49-F238E27FC236}">
                    <a16:creationId xmlns:a16="http://schemas.microsoft.com/office/drawing/2014/main" id="{A6B18C61-B239-4AC9-B72A-1319D5875359}"/>
                  </a:ext>
                </a:extLst>
              </p:cNvPr>
              <p:cNvSpPr>
                <a:spLocks noChangeArrowheads="1"/>
              </p:cNvSpPr>
              <p:nvPr/>
            </p:nvSpPr>
            <p:spPr bwMode="auto">
              <a:xfrm>
                <a:off x="3272" y="3940"/>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1" name="Rectangle 148">
                <a:extLst>
                  <a:ext uri="{FF2B5EF4-FFF2-40B4-BE49-F238E27FC236}">
                    <a16:creationId xmlns:a16="http://schemas.microsoft.com/office/drawing/2014/main" id="{36DB68E8-8856-4DB5-970B-6BD9505C3567}"/>
                  </a:ext>
                </a:extLst>
              </p:cNvPr>
              <p:cNvSpPr>
                <a:spLocks noChangeArrowheads="1"/>
              </p:cNvSpPr>
              <p:nvPr/>
            </p:nvSpPr>
            <p:spPr bwMode="auto">
              <a:xfrm>
                <a:off x="3272" y="395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2" name="Rectangle 149">
                <a:extLst>
                  <a:ext uri="{FF2B5EF4-FFF2-40B4-BE49-F238E27FC236}">
                    <a16:creationId xmlns:a16="http://schemas.microsoft.com/office/drawing/2014/main" id="{4EE7B72C-1A09-4989-B4C5-5E614ADC10E8}"/>
                  </a:ext>
                </a:extLst>
              </p:cNvPr>
              <p:cNvSpPr>
                <a:spLocks noChangeArrowheads="1"/>
              </p:cNvSpPr>
              <p:nvPr/>
            </p:nvSpPr>
            <p:spPr bwMode="auto">
              <a:xfrm>
                <a:off x="3272" y="397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3" name="Freeform 150">
                <a:extLst>
                  <a:ext uri="{FF2B5EF4-FFF2-40B4-BE49-F238E27FC236}">
                    <a16:creationId xmlns:a16="http://schemas.microsoft.com/office/drawing/2014/main" id="{252E1B37-EC8E-4A50-964F-6364958015A7}"/>
                  </a:ext>
                </a:extLst>
              </p:cNvPr>
              <p:cNvSpPr>
                <a:spLocks/>
              </p:cNvSpPr>
              <p:nvPr/>
            </p:nvSpPr>
            <p:spPr bwMode="auto">
              <a:xfrm>
                <a:off x="3272" y="3997"/>
                <a:ext cx="9" cy="11"/>
              </a:xfrm>
              <a:custGeom>
                <a:avLst/>
                <a:gdLst>
                  <a:gd name="T0" fmla="*/ 9 w 9"/>
                  <a:gd name="T1" fmla="*/ 0 h 11"/>
                  <a:gd name="T2" fmla="*/ 0 w 9"/>
                  <a:gd name="T3" fmla="*/ 0 h 11"/>
                  <a:gd name="T4" fmla="*/ 0 w 9"/>
                  <a:gd name="T5" fmla="*/ 6 h 11"/>
                  <a:gd name="T6" fmla="*/ 0 w 9"/>
                  <a:gd name="T7" fmla="*/ 11 h 11"/>
                  <a:gd name="T8" fmla="*/ 5 w 9"/>
                  <a:gd name="T9" fmla="*/ 11 h 11"/>
                  <a:gd name="T10" fmla="*/ 8 w 9"/>
                  <a:gd name="T11" fmla="*/ 11 h 11"/>
                  <a:gd name="T12" fmla="*/ 8 w 9"/>
                  <a:gd name="T13" fmla="*/ 2 h 11"/>
                  <a:gd name="T14" fmla="*/ 5 w 9"/>
                  <a:gd name="T15" fmla="*/ 2 h 11"/>
                  <a:gd name="T16" fmla="*/ 5 w 9"/>
                  <a:gd name="T17" fmla="*/ 6 h 11"/>
                  <a:gd name="T18" fmla="*/ 9 w 9"/>
                  <a:gd name="T19" fmla="*/ 6 h 11"/>
                  <a:gd name="T20" fmla="*/ 9 w 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9" y="0"/>
                    </a:moveTo>
                    <a:lnTo>
                      <a:pt x="0" y="0"/>
                    </a:lnTo>
                    <a:lnTo>
                      <a:pt x="0" y="6"/>
                    </a:lnTo>
                    <a:lnTo>
                      <a:pt x="0" y="11"/>
                    </a:lnTo>
                    <a:lnTo>
                      <a:pt x="5" y="11"/>
                    </a:lnTo>
                    <a:lnTo>
                      <a:pt x="8" y="11"/>
                    </a:lnTo>
                    <a:lnTo>
                      <a:pt x="8" y="2"/>
                    </a:lnTo>
                    <a:lnTo>
                      <a:pt x="5" y="2"/>
                    </a:lnTo>
                    <a:lnTo>
                      <a:pt x="5" y="6"/>
                    </a:lnTo>
                    <a:lnTo>
                      <a:pt x="9" y="6"/>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4" name="Rectangle 151">
                <a:extLst>
                  <a:ext uri="{FF2B5EF4-FFF2-40B4-BE49-F238E27FC236}">
                    <a16:creationId xmlns:a16="http://schemas.microsoft.com/office/drawing/2014/main" id="{9099E86C-E992-4291-ACAE-6A9308A9F2AE}"/>
                  </a:ext>
                </a:extLst>
              </p:cNvPr>
              <p:cNvSpPr>
                <a:spLocks noChangeArrowheads="1"/>
              </p:cNvSpPr>
              <p:nvPr/>
            </p:nvSpPr>
            <p:spPr bwMode="auto">
              <a:xfrm>
                <a:off x="329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5" name="Rectangle 152">
                <a:extLst>
                  <a:ext uri="{FF2B5EF4-FFF2-40B4-BE49-F238E27FC236}">
                    <a16:creationId xmlns:a16="http://schemas.microsoft.com/office/drawing/2014/main" id="{64828CEF-5E60-4334-91F7-87ADE0CBCA75}"/>
                  </a:ext>
                </a:extLst>
              </p:cNvPr>
              <p:cNvSpPr>
                <a:spLocks noChangeArrowheads="1"/>
              </p:cNvSpPr>
              <p:nvPr/>
            </p:nvSpPr>
            <p:spPr bwMode="auto">
              <a:xfrm>
                <a:off x="330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6" name="Rectangle 153">
                <a:extLst>
                  <a:ext uri="{FF2B5EF4-FFF2-40B4-BE49-F238E27FC236}">
                    <a16:creationId xmlns:a16="http://schemas.microsoft.com/office/drawing/2014/main" id="{4E0C0CEB-181F-4F07-B3DE-9E00DC56AEA8}"/>
                  </a:ext>
                </a:extLst>
              </p:cNvPr>
              <p:cNvSpPr>
                <a:spLocks noChangeArrowheads="1"/>
              </p:cNvSpPr>
              <p:nvPr/>
            </p:nvSpPr>
            <p:spPr bwMode="auto">
              <a:xfrm>
                <a:off x="332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7" name="Rectangle 154">
                <a:extLst>
                  <a:ext uri="{FF2B5EF4-FFF2-40B4-BE49-F238E27FC236}">
                    <a16:creationId xmlns:a16="http://schemas.microsoft.com/office/drawing/2014/main" id="{049352B0-5A94-4FAF-AB7C-E124161C52CF}"/>
                  </a:ext>
                </a:extLst>
              </p:cNvPr>
              <p:cNvSpPr>
                <a:spLocks noChangeArrowheads="1"/>
              </p:cNvSpPr>
              <p:nvPr/>
            </p:nvSpPr>
            <p:spPr bwMode="auto">
              <a:xfrm>
                <a:off x="334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8" name="Rectangle 155">
                <a:extLst>
                  <a:ext uri="{FF2B5EF4-FFF2-40B4-BE49-F238E27FC236}">
                    <a16:creationId xmlns:a16="http://schemas.microsoft.com/office/drawing/2014/main" id="{72C155C1-93B2-40A5-89B0-0E66E11E35CD}"/>
                  </a:ext>
                </a:extLst>
              </p:cNvPr>
              <p:cNvSpPr>
                <a:spLocks noChangeArrowheads="1"/>
              </p:cNvSpPr>
              <p:nvPr/>
            </p:nvSpPr>
            <p:spPr bwMode="auto">
              <a:xfrm>
                <a:off x="336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9" name="Rectangle 156">
                <a:extLst>
                  <a:ext uri="{FF2B5EF4-FFF2-40B4-BE49-F238E27FC236}">
                    <a16:creationId xmlns:a16="http://schemas.microsoft.com/office/drawing/2014/main" id="{7A8A5A81-1397-49AD-955F-F6735CA652FA}"/>
                  </a:ext>
                </a:extLst>
              </p:cNvPr>
              <p:cNvSpPr>
                <a:spLocks noChangeArrowheads="1"/>
              </p:cNvSpPr>
              <p:nvPr/>
            </p:nvSpPr>
            <p:spPr bwMode="auto">
              <a:xfrm>
                <a:off x="338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0" name="Rectangle 157">
                <a:extLst>
                  <a:ext uri="{FF2B5EF4-FFF2-40B4-BE49-F238E27FC236}">
                    <a16:creationId xmlns:a16="http://schemas.microsoft.com/office/drawing/2014/main" id="{021DB3D2-E6C8-4E9E-BDCF-653F7D6F7FA4}"/>
                  </a:ext>
                </a:extLst>
              </p:cNvPr>
              <p:cNvSpPr>
                <a:spLocks noChangeArrowheads="1"/>
              </p:cNvSpPr>
              <p:nvPr/>
            </p:nvSpPr>
            <p:spPr bwMode="auto">
              <a:xfrm>
                <a:off x="340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1" name="Rectangle 158">
                <a:extLst>
                  <a:ext uri="{FF2B5EF4-FFF2-40B4-BE49-F238E27FC236}">
                    <a16:creationId xmlns:a16="http://schemas.microsoft.com/office/drawing/2014/main" id="{F4264947-3502-4792-A94D-FBEF4AC0CBF1}"/>
                  </a:ext>
                </a:extLst>
              </p:cNvPr>
              <p:cNvSpPr>
                <a:spLocks noChangeArrowheads="1"/>
              </p:cNvSpPr>
              <p:nvPr/>
            </p:nvSpPr>
            <p:spPr bwMode="auto">
              <a:xfrm>
                <a:off x="342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2" name="Rectangle 159">
                <a:extLst>
                  <a:ext uri="{FF2B5EF4-FFF2-40B4-BE49-F238E27FC236}">
                    <a16:creationId xmlns:a16="http://schemas.microsoft.com/office/drawing/2014/main" id="{E292F662-C575-401C-A3BE-4370D6FAA9F4}"/>
                  </a:ext>
                </a:extLst>
              </p:cNvPr>
              <p:cNvSpPr>
                <a:spLocks noChangeArrowheads="1"/>
              </p:cNvSpPr>
              <p:nvPr/>
            </p:nvSpPr>
            <p:spPr bwMode="auto">
              <a:xfrm>
                <a:off x="344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3" name="Rectangle 160">
                <a:extLst>
                  <a:ext uri="{FF2B5EF4-FFF2-40B4-BE49-F238E27FC236}">
                    <a16:creationId xmlns:a16="http://schemas.microsoft.com/office/drawing/2014/main" id="{257E076B-BC3E-41F2-8ACB-CE5EF83DB0AB}"/>
                  </a:ext>
                </a:extLst>
              </p:cNvPr>
              <p:cNvSpPr>
                <a:spLocks noChangeArrowheads="1"/>
              </p:cNvSpPr>
              <p:nvPr/>
            </p:nvSpPr>
            <p:spPr bwMode="auto">
              <a:xfrm>
                <a:off x="346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4" name="Rectangle 161">
                <a:extLst>
                  <a:ext uri="{FF2B5EF4-FFF2-40B4-BE49-F238E27FC236}">
                    <a16:creationId xmlns:a16="http://schemas.microsoft.com/office/drawing/2014/main" id="{D7930293-6920-46D3-9570-DDD731B898FB}"/>
                  </a:ext>
                </a:extLst>
              </p:cNvPr>
              <p:cNvSpPr>
                <a:spLocks noChangeArrowheads="1"/>
              </p:cNvSpPr>
              <p:nvPr/>
            </p:nvSpPr>
            <p:spPr bwMode="auto">
              <a:xfrm>
                <a:off x="348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5" name="Rectangle 162">
                <a:extLst>
                  <a:ext uri="{FF2B5EF4-FFF2-40B4-BE49-F238E27FC236}">
                    <a16:creationId xmlns:a16="http://schemas.microsoft.com/office/drawing/2014/main" id="{22E5C87D-4C83-4A42-A834-4E9CC0414C21}"/>
                  </a:ext>
                </a:extLst>
              </p:cNvPr>
              <p:cNvSpPr>
                <a:spLocks noChangeArrowheads="1"/>
              </p:cNvSpPr>
              <p:nvPr/>
            </p:nvSpPr>
            <p:spPr bwMode="auto">
              <a:xfrm>
                <a:off x="350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6" name="Rectangle 163">
                <a:extLst>
                  <a:ext uri="{FF2B5EF4-FFF2-40B4-BE49-F238E27FC236}">
                    <a16:creationId xmlns:a16="http://schemas.microsoft.com/office/drawing/2014/main" id="{980B354E-656F-4D30-A4E4-DE561C9F06B9}"/>
                  </a:ext>
                </a:extLst>
              </p:cNvPr>
              <p:cNvSpPr>
                <a:spLocks noChangeArrowheads="1"/>
              </p:cNvSpPr>
              <p:nvPr/>
            </p:nvSpPr>
            <p:spPr bwMode="auto">
              <a:xfrm>
                <a:off x="352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7" name="Rectangle 164">
                <a:extLst>
                  <a:ext uri="{FF2B5EF4-FFF2-40B4-BE49-F238E27FC236}">
                    <a16:creationId xmlns:a16="http://schemas.microsoft.com/office/drawing/2014/main" id="{CC7EAC1E-BF82-4C1D-9DFF-FBC6EAFD6A8F}"/>
                  </a:ext>
                </a:extLst>
              </p:cNvPr>
              <p:cNvSpPr>
                <a:spLocks noChangeArrowheads="1"/>
              </p:cNvSpPr>
              <p:nvPr/>
            </p:nvSpPr>
            <p:spPr bwMode="auto">
              <a:xfrm>
                <a:off x="354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8" name="Rectangle 165">
                <a:extLst>
                  <a:ext uri="{FF2B5EF4-FFF2-40B4-BE49-F238E27FC236}">
                    <a16:creationId xmlns:a16="http://schemas.microsoft.com/office/drawing/2014/main" id="{FB973CB5-308E-4A85-9A7D-5CB9DD526CC7}"/>
                  </a:ext>
                </a:extLst>
              </p:cNvPr>
              <p:cNvSpPr>
                <a:spLocks noChangeArrowheads="1"/>
              </p:cNvSpPr>
              <p:nvPr/>
            </p:nvSpPr>
            <p:spPr bwMode="auto">
              <a:xfrm>
                <a:off x="355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9" name="Rectangle 166">
                <a:extLst>
                  <a:ext uri="{FF2B5EF4-FFF2-40B4-BE49-F238E27FC236}">
                    <a16:creationId xmlns:a16="http://schemas.microsoft.com/office/drawing/2014/main" id="{9AAFC08F-846B-411B-B47F-78F30FB8EADB}"/>
                  </a:ext>
                </a:extLst>
              </p:cNvPr>
              <p:cNvSpPr>
                <a:spLocks noChangeArrowheads="1"/>
              </p:cNvSpPr>
              <p:nvPr/>
            </p:nvSpPr>
            <p:spPr bwMode="auto">
              <a:xfrm>
                <a:off x="357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0" name="Rectangle 167">
                <a:extLst>
                  <a:ext uri="{FF2B5EF4-FFF2-40B4-BE49-F238E27FC236}">
                    <a16:creationId xmlns:a16="http://schemas.microsoft.com/office/drawing/2014/main" id="{0F2D0CE6-E2EA-4BD0-8D2E-F4F8646ED8F8}"/>
                  </a:ext>
                </a:extLst>
              </p:cNvPr>
              <p:cNvSpPr>
                <a:spLocks noChangeArrowheads="1"/>
              </p:cNvSpPr>
              <p:nvPr/>
            </p:nvSpPr>
            <p:spPr bwMode="auto">
              <a:xfrm>
                <a:off x="359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1" name="Rectangle 168">
                <a:extLst>
                  <a:ext uri="{FF2B5EF4-FFF2-40B4-BE49-F238E27FC236}">
                    <a16:creationId xmlns:a16="http://schemas.microsoft.com/office/drawing/2014/main" id="{04815EFC-FE08-489B-8677-EF2B40A5EB6E}"/>
                  </a:ext>
                </a:extLst>
              </p:cNvPr>
              <p:cNvSpPr>
                <a:spLocks noChangeArrowheads="1"/>
              </p:cNvSpPr>
              <p:nvPr/>
            </p:nvSpPr>
            <p:spPr bwMode="auto">
              <a:xfrm>
                <a:off x="361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2" name="Rectangle 169">
                <a:extLst>
                  <a:ext uri="{FF2B5EF4-FFF2-40B4-BE49-F238E27FC236}">
                    <a16:creationId xmlns:a16="http://schemas.microsoft.com/office/drawing/2014/main" id="{0CB90148-99A2-43F3-9924-CAA5A234F637}"/>
                  </a:ext>
                </a:extLst>
              </p:cNvPr>
              <p:cNvSpPr>
                <a:spLocks noChangeArrowheads="1"/>
              </p:cNvSpPr>
              <p:nvPr/>
            </p:nvSpPr>
            <p:spPr bwMode="auto">
              <a:xfrm>
                <a:off x="363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3" name="Rectangle 170">
                <a:extLst>
                  <a:ext uri="{FF2B5EF4-FFF2-40B4-BE49-F238E27FC236}">
                    <a16:creationId xmlns:a16="http://schemas.microsoft.com/office/drawing/2014/main" id="{D6777A9D-CCB4-446D-898B-3425EEB760C3}"/>
                  </a:ext>
                </a:extLst>
              </p:cNvPr>
              <p:cNvSpPr>
                <a:spLocks noChangeArrowheads="1"/>
              </p:cNvSpPr>
              <p:nvPr/>
            </p:nvSpPr>
            <p:spPr bwMode="auto">
              <a:xfrm>
                <a:off x="3655"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4" name="Rectangle 171">
                <a:extLst>
                  <a:ext uri="{FF2B5EF4-FFF2-40B4-BE49-F238E27FC236}">
                    <a16:creationId xmlns:a16="http://schemas.microsoft.com/office/drawing/2014/main" id="{B5B388A2-9614-4211-BB59-945E6CCCCCCF}"/>
                  </a:ext>
                </a:extLst>
              </p:cNvPr>
              <p:cNvSpPr>
                <a:spLocks noChangeArrowheads="1"/>
              </p:cNvSpPr>
              <p:nvPr/>
            </p:nvSpPr>
            <p:spPr bwMode="auto">
              <a:xfrm>
                <a:off x="367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5" name="Rectangle 172">
                <a:extLst>
                  <a:ext uri="{FF2B5EF4-FFF2-40B4-BE49-F238E27FC236}">
                    <a16:creationId xmlns:a16="http://schemas.microsoft.com/office/drawing/2014/main" id="{EDB4573A-91A3-4BF1-876B-830BBFDF713A}"/>
                  </a:ext>
                </a:extLst>
              </p:cNvPr>
              <p:cNvSpPr>
                <a:spLocks noChangeArrowheads="1"/>
              </p:cNvSpPr>
              <p:nvPr/>
            </p:nvSpPr>
            <p:spPr bwMode="auto">
              <a:xfrm>
                <a:off x="369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6" name="Rectangle 173">
                <a:extLst>
                  <a:ext uri="{FF2B5EF4-FFF2-40B4-BE49-F238E27FC236}">
                    <a16:creationId xmlns:a16="http://schemas.microsoft.com/office/drawing/2014/main" id="{665AD1C9-B688-4F25-83B1-088292EFCFFA}"/>
                  </a:ext>
                </a:extLst>
              </p:cNvPr>
              <p:cNvSpPr>
                <a:spLocks noChangeArrowheads="1"/>
              </p:cNvSpPr>
              <p:nvPr/>
            </p:nvSpPr>
            <p:spPr bwMode="auto">
              <a:xfrm>
                <a:off x="371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7" name="Rectangle 174">
                <a:extLst>
                  <a:ext uri="{FF2B5EF4-FFF2-40B4-BE49-F238E27FC236}">
                    <a16:creationId xmlns:a16="http://schemas.microsoft.com/office/drawing/2014/main" id="{0D97961D-A0F0-4679-B3E6-2103523FD9F6}"/>
                  </a:ext>
                </a:extLst>
              </p:cNvPr>
              <p:cNvSpPr>
                <a:spLocks noChangeArrowheads="1"/>
              </p:cNvSpPr>
              <p:nvPr/>
            </p:nvSpPr>
            <p:spPr bwMode="auto">
              <a:xfrm>
                <a:off x="373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8" name="Rectangle 175">
                <a:extLst>
                  <a:ext uri="{FF2B5EF4-FFF2-40B4-BE49-F238E27FC236}">
                    <a16:creationId xmlns:a16="http://schemas.microsoft.com/office/drawing/2014/main" id="{A279C2D6-2605-484F-8C32-6614CB5D35F2}"/>
                  </a:ext>
                </a:extLst>
              </p:cNvPr>
              <p:cNvSpPr>
                <a:spLocks noChangeArrowheads="1"/>
              </p:cNvSpPr>
              <p:nvPr/>
            </p:nvSpPr>
            <p:spPr bwMode="auto">
              <a:xfrm>
                <a:off x="3751"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9" name="Rectangle 176">
                <a:extLst>
                  <a:ext uri="{FF2B5EF4-FFF2-40B4-BE49-F238E27FC236}">
                    <a16:creationId xmlns:a16="http://schemas.microsoft.com/office/drawing/2014/main" id="{CCADB8E9-0D10-4779-895D-FE1D19712477}"/>
                  </a:ext>
                </a:extLst>
              </p:cNvPr>
              <p:cNvSpPr>
                <a:spLocks noChangeArrowheads="1"/>
              </p:cNvSpPr>
              <p:nvPr/>
            </p:nvSpPr>
            <p:spPr bwMode="auto">
              <a:xfrm>
                <a:off x="377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0" name="Rectangle 177">
                <a:extLst>
                  <a:ext uri="{FF2B5EF4-FFF2-40B4-BE49-F238E27FC236}">
                    <a16:creationId xmlns:a16="http://schemas.microsoft.com/office/drawing/2014/main" id="{2960D6F5-E072-4A13-A9E3-560060DE8258}"/>
                  </a:ext>
                </a:extLst>
              </p:cNvPr>
              <p:cNvSpPr>
                <a:spLocks noChangeArrowheads="1"/>
              </p:cNvSpPr>
              <p:nvPr/>
            </p:nvSpPr>
            <p:spPr bwMode="auto">
              <a:xfrm>
                <a:off x="378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1" name="Rectangle 178">
                <a:extLst>
                  <a:ext uri="{FF2B5EF4-FFF2-40B4-BE49-F238E27FC236}">
                    <a16:creationId xmlns:a16="http://schemas.microsoft.com/office/drawing/2014/main" id="{6B327308-62B3-4FB0-86A3-56253D4F27FD}"/>
                  </a:ext>
                </a:extLst>
              </p:cNvPr>
              <p:cNvSpPr>
                <a:spLocks noChangeArrowheads="1"/>
              </p:cNvSpPr>
              <p:nvPr/>
            </p:nvSpPr>
            <p:spPr bwMode="auto">
              <a:xfrm>
                <a:off x="380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2" name="Rectangle 179">
                <a:extLst>
                  <a:ext uri="{FF2B5EF4-FFF2-40B4-BE49-F238E27FC236}">
                    <a16:creationId xmlns:a16="http://schemas.microsoft.com/office/drawing/2014/main" id="{6004E3B5-BB30-4220-9E97-A7A4822ED57F}"/>
                  </a:ext>
                </a:extLst>
              </p:cNvPr>
              <p:cNvSpPr>
                <a:spLocks noChangeArrowheads="1"/>
              </p:cNvSpPr>
              <p:nvPr/>
            </p:nvSpPr>
            <p:spPr bwMode="auto">
              <a:xfrm>
                <a:off x="3828"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3" name="Rectangle 180">
                <a:extLst>
                  <a:ext uri="{FF2B5EF4-FFF2-40B4-BE49-F238E27FC236}">
                    <a16:creationId xmlns:a16="http://schemas.microsoft.com/office/drawing/2014/main" id="{E93AAE75-425E-4D61-9E0A-A053B5CFDD83}"/>
                  </a:ext>
                </a:extLst>
              </p:cNvPr>
              <p:cNvSpPr>
                <a:spLocks noChangeArrowheads="1"/>
              </p:cNvSpPr>
              <p:nvPr/>
            </p:nvSpPr>
            <p:spPr bwMode="auto">
              <a:xfrm>
                <a:off x="384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4" name="Rectangle 181">
                <a:extLst>
                  <a:ext uri="{FF2B5EF4-FFF2-40B4-BE49-F238E27FC236}">
                    <a16:creationId xmlns:a16="http://schemas.microsoft.com/office/drawing/2014/main" id="{4AC71F5D-3A4A-4648-A7E0-EDFBCB22FDF5}"/>
                  </a:ext>
                </a:extLst>
              </p:cNvPr>
              <p:cNvSpPr>
                <a:spLocks noChangeArrowheads="1"/>
              </p:cNvSpPr>
              <p:nvPr/>
            </p:nvSpPr>
            <p:spPr bwMode="auto">
              <a:xfrm>
                <a:off x="386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5" name="Rectangle 182">
                <a:extLst>
                  <a:ext uri="{FF2B5EF4-FFF2-40B4-BE49-F238E27FC236}">
                    <a16:creationId xmlns:a16="http://schemas.microsoft.com/office/drawing/2014/main" id="{C0F5B586-A46C-4E1C-96B1-570629DCB921}"/>
                  </a:ext>
                </a:extLst>
              </p:cNvPr>
              <p:cNvSpPr>
                <a:spLocks noChangeArrowheads="1"/>
              </p:cNvSpPr>
              <p:nvPr/>
            </p:nvSpPr>
            <p:spPr bwMode="auto">
              <a:xfrm>
                <a:off x="388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6" name="Rectangle 183">
                <a:extLst>
                  <a:ext uri="{FF2B5EF4-FFF2-40B4-BE49-F238E27FC236}">
                    <a16:creationId xmlns:a16="http://schemas.microsoft.com/office/drawing/2014/main" id="{02D9EE12-4FA3-4383-8239-E488684D7133}"/>
                  </a:ext>
                </a:extLst>
              </p:cNvPr>
              <p:cNvSpPr>
                <a:spLocks noChangeArrowheads="1"/>
              </p:cNvSpPr>
              <p:nvPr/>
            </p:nvSpPr>
            <p:spPr bwMode="auto">
              <a:xfrm>
                <a:off x="390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7" name="Rectangle 184">
                <a:extLst>
                  <a:ext uri="{FF2B5EF4-FFF2-40B4-BE49-F238E27FC236}">
                    <a16:creationId xmlns:a16="http://schemas.microsoft.com/office/drawing/2014/main" id="{E2ADADB5-A5B8-4639-B0A3-28043C966DBC}"/>
                  </a:ext>
                </a:extLst>
              </p:cNvPr>
              <p:cNvSpPr>
                <a:spLocks noChangeArrowheads="1"/>
              </p:cNvSpPr>
              <p:nvPr/>
            </p:nvSpPr>
            <p:spPr bwMode="auto">
              <a:xfrm>
                <a:off x="3924"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8" name="Rectangle 185">
                <a:extLst>
                  <a:ext uri="{FF2B5EF4-FFF2-40B4-BE49-F238E27FC236}">
                    <a16:creationId xmlns:a16="http://schemas.microsoft.com/office/drawing/2014/main" id="{B2CD6233-9856-4B88-B9F3-82D02B2C38F9}"/>
                  </a:ext>
                </a:extLst>
              </p:cNvPr>
              <p:cNvSpPr>
                <a:spLocks noChangeArrowheads="1"/>
              </p:cNvSpPr>
              <p:nvPr/>
            </p:nvSpPr>
            <p:spPr bwMode="auto">
              <a:xfrm>
                <a:off x="394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9" name="Rectangle 186">
                <a:extLst>
                  <a:ext uri="{FF2B5EF4-FFF2-40B4-BE49-F238E27FC236}">
                    <a16:creationId xmlns:a16="http://schemas.microsoft.com/office/drawing/2014/main" id="{6DC4A7E6-686F-4DC6-9E0A-9C1AD8E23719}"/>
                  </a:ext>
                </a:extLst>
              </p:cNvPr>
              <p:cNvSpPr>
                <a:spLocks noChangeArrowheads="1"/>
              </p:cNvSpPr>
              <p:nvPr/>
            </p:nvSpPr>
            <p:spPr bwMode="auto">
              <a:xfrm>
                <a:off x="396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0" name="Rectangle 187">
                <a:extLst>
                  <a:ext uri="{FF2B5EF4-FFF2-40B4-BE49-F238E27FC236}">
                    <a16:creationId xmlns:a16="http://schemas.microsoft.com/office/drawing/2014/main" id="{FF9B83DB-0F72-4F0F-9EF7-5C89B81CA093}"/>
                  </a:ext>
                </a:extLst>
              </p:cNvPr>
              <p:cNvSpPr>
                <a:spLocks noChangeArrowheads="1"/>
              </p:cNvSpPr>
              <p:nvPr/>
            </p:nvSpPr>
            <p:spPr bwMode="auto">
              <a:xfrm>
                <a:off x="398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1" name="Rectangle 188">
                <a:extLst>
                  <a:ext uri="{FF2B5EF4-FFF2-40B4-BE49-F238E27FC236}">
                    <a16:creationId xmlns:a16="http://schemas.microsoft.com/office/drawing/2014/main" id="{C1298BA3-5189-4259-94F4-46F5433E34C2}"/>
                  </a:ext>
                </a:extLst>
              </p:cNvPr>
              <p:cNvSpPr>
                <a:spLocks noChangeArrowheads="1"/>
              </p:cNvSpPr>
              <p:nvPr/>
            </p:nvSpPr>
            <p:spPr bwMode="auto">
              <a:xfrm>
                <a:off x="400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2" name="Rectangle 189">
                <a:extLst>
                  <a:ext uri="{FF2B5EF4-FFF2-40B4-BE49-F238E27FC236}">
                    <a16:creationId xmlns:a16="http://schemas.microsoft.com/office/drawing/2014/main" id="{6278DA7E-1EE4-45F4-B0D4-9B8FBC0E50B0}"/>
                  </a:ext>
                </a:extLst>
              </p:cNvPr>
              <p:cNvSpPr>
                <a:spLocks noChangeArrowheads="1"/>
              </p:cNvSpPr>
              <p:nvPr/>
            </p:nvSpPr>
            <p:spPr bwMode="auto">
              <a:xfrm>
                <a:off x="402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3" name="Rectangle 190">
                <a:extLst>
                  <a:ext uri="{FF2B5EF4-FFF2-40B4-BE49-F238E27FC236}">
                    <a16:creationId xmlns:a16="http://schemas.microsoft.com/office/drawing/2014/main" id="{588DC446-4579-4DBB-8B73-4565E0A23C70}"/>
                  </a:ext>
                </a:extLst>
              </p:cNvPr>
              <p:cNvSpPr>
                <a:spLocks noChangeArrowheads="1"/>
              </p:cNvSpPr>
              <p:nvPr/>
            </p:nvSpPr>
            <p:spPr bwMode="auto">
              <a:xfrm>
                <a:off x="403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4" name="Rectangle 191">
                <a:extLst>
                  <a:ext uri="{FF2B5EF4-FFF2-40B4-BE49-F238E27FC236}">
                    <a16:creationId xmlns:a16="http://schemas.microsoft.com/office/drawing/2014/main" id="{0FAB912D-2340-4B26-A22C-9737D2186E36}"/>
                  </a:ext>
                </a:extLst>
              </p:cNvPr>
              <p:cNvSpPr>
                <a:spLocks noChangeArrowheads="1"/>
              </p:cNvSpPr>
              <p:nvPr/>
            </p:nvSpPr>
            <p:spPr bwMode="auto">
              <a:xfrm>
                <a:off x="405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5" name="Rectangle 192">
                <a:extLst>
                  <a:ext uri="{FF2B5EF4-FFF2-40B4-BE49-F238E27FC236}">
                    <a16:creationId xmlns:a16="http://schemas.microsoft.com/office/drawing/2014/main" id="{E7FD3646-59DF-4B6F-B0F8-E8ACFFD64858}"/>
                  </a:ext>
                </a:extLst>
              </p:cNvPr>
              <p:cNvSpPr>
                <a:spLocks noChangeArrowheads="1"/>
              </p:cNvSpPr>
              <p:nvPr/>
            </p:nvSpPr>
            <p:spPr bwMode="auto">
              <a:xfrm>
                <a:off x="407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6" name="Rectangle 193">
                <a:extLst>
                  <a:ext uri="{FF2B5EF4-FFF2-40B4-BE49-F238E27FC236}">
                    <a16:creationId xmlns:a16="http://schemas.microsoft.com/office/drawing/2014/main" id="{09C9290E-E93B-485A-8443-BF9F92C1CCC0}"/>
                  </a:ext>
                </a:extLst>
              </p:cNvPr>
              <p:cNvSpPr>
                <a:spLocks noChangeArrowheads="1"/>
              </p:cNvSpPr>
              <p:nvPr/>
            </p:nvSpPr>
            <p:spPr bwMode="auto">
              <a:xfrm>
                <a:off x="409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7" name="Rectangle 194">
                <a:extLst>
                  <a:ext uri="{FF2B5EF4-FFF2-40B4-BE49-F238E27FC236}">
                    <a16:creationId xmlns:a16="http://schemas.microsoft.com/office/drawing/2014/main" id="{FD4DD7DE-DD52-4385-8C1E-2AA9A4B0FB13}"/>
                  </a:ext>
                </a:extLst>
              </p:cNvPr>
              <p:cNvSpPr>
                <a:spLocks noChangeArrowheads="1"/>
              </p:cNvSpPr>
              <p:nvPr/>
            </p:nvSpPr>
            <p:spPr bwMode="auto">
              <a:xfrm>
                <a:off x="411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8" name="Rectangle 195">
                <a:extLst>
                  <a:ext uri="{FF2B5EF4-FFF2-40B4-BE49-F238E27FC236}">
                    <a16:creationId xmlns:a16="http://schemas.microsoft.com/office/drawing/2014/main" id="{FC5D8574-1A6E-4F91-ABB4-B6D5F20521B1}"/>
                  </a:ext>
                </a:extLst>
              </p:cNvPr>
              <p:cNvSpPr>
                <a:spLocks noChangeArrowheads="1"/>
              </p:cNvSpPr>
              <p:nvPr/>
            </p:nvSpPr>
            <p:spPr bwMode="auto">
              <a:xfrm>
                <a:off x="413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9" name="Rectangle 196">
                <a:extLst>
                  <a:ext uri="{FF2B5EF4-FFF2-40B4-BE49-F238E27FC236}">
                    <a16:creationId xmlns:a16="http://schemas.microsoft.com/office/drawing/2014/main" id="{AACBBD53-5C03-4B36-8946-1086F9B818AD}"/>
                  </a:ext>
                </a:extLst>
              </p:cNvPr>
              <p:cNvSpPr>
                <a:spLocks noChangeArrowheads="1"/>
              </p:cNvSpPr>
              <p:nvPr/>
            </p:nvSpPr>
            <p:spPr bwMode="auto">
              <a:xfrm>
                <a:off x="415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0" name="Rectangle 197">
                <a:extLst>
                  <a:ext uri="{FF2B5EF4-FFF2-40B4-BE49-F238E27FC236}">
                    <a16:creationId xmlns:a16="http://schemas.microsoft.com/office/drawing/2014/main" id="{00272E4F-3343-4E08-B8DA-63EC8E0F1E0C}"/>
                  </a:ext>
                </a:extLst>
              </p:cNvPr>
              <p:cNvSpPr>
                <a:spLocks noChangeArrowheads="1"/>
              </p:cNvSpPr>
              <p:nvPr/>
            </p:nvSpPr>
            <p:spPr bwMode="auto">
              <a:xfrm>
                <a:off x="4165" y="399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1" name="Rectangle 198">
                <a:extLst>
                  <a:ext uri="{FF2B5EF4-FFF2-40B4-BE49-F238E27FC236}">
                    <a16:creationId xmlns:a16="http://schemas.microsoft.com/office/drawing/2014/main" id="{8D1F3AD5-CE48-4A61-A98A-6630A09D54C4}"/>
                  </a:ext>
                </a:extLst>
              </p:cNvPr>
              <p:cNvSpPr>
                <a:spLocks noChangeArrowheads="1"/>
              </p:cNvSpPr>
              <p:nvPr/>
            </p:nvSpPr>
            <p:spPr bwMode="auto">
              <a:xfrm>
                <a:off x="4165" y="397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2" name="Rectangle 199">
                <a:extLst>
                  <a:ext uri="{FF2B5EF4-FFF2-40B4-BE49-F238E27FC236}">
                    <a16:creationId xmlns:a16="http://schemas.microsoft.com/office/drawing/2014/main" id="{3A4ACB3A-1383-4016-941D-68D7386AAFE1}"/>
                  </a:ext>
                </a:extLst>
              </p:cNvPr>
              <p:cNvSpPr>
                <a:spLocks noChangeArrowheads="1"/>
              </p:cNvSpPr>
              <p:nvPr/>
            </p:nvSpPr>
            <p:spPr bwMode="auto">
              <a:xfrm>
                <a:off x="4165" y="3952"/>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3" name="Rectangle 200">
                <a:extLst>
                  <a:ext uri="{FF2B5EF4-FFF2-40B4-BE49-F238E27FC236}">
                    <a16:creationId xmlns:a16="http://schemas.microsoft.com/office/drawing/2014/main" id="{1B1E5813-1535-4ABC-B7EA-7FB0833A47B0}"/>
                  </a:ext>
                </a:extLst>
              </p:cNvPr>
              <p:cNvSpPr>
                <a:spLocks noChangeArrowheads="1"/>
              </p:cNvSpPr>
              <p:nvPr/>
            </p:nvSpPr>
            <p:spPr bwMode="auto">
              <a:xfrm>
                <a:off x="4165" y="393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4" name="Rectangle 201">
                <a:extLst>
                  <a:ext uri="{FF2B5EF4-FFF2-40B4-BE49-F238E27FC236}">
                    <a16:creationId xmlns:a16="http://schemas.microsoft.com/office/drawing/2014/main" id="{4EF69114-BCE4-4B30-B2B9-00AF7C6A1F69}"/>
                  </a:ext>
                </a:extLst>
              </p:cNvPr>
              <p:cNvSpPr>
                <a:spLocks noChangeArrowheads="1"/>
              </p:cNvSpPr>
              <p:nvPr/>
            </p:nvSpPr>
            <p:spPr bwMode="auto">
              <a:xfrm>
                <a:off x="4165" y="3913"/>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5" name="Rectangle 202">
                <a:extLst>
                  <a:ext uri="{FF2B5EF4-FFF2-40B4-BE49-F238E27FC236}">
                    <a16:creationId xmlns:a16="http://schemas.microsoft.com/office/drawing/2014/main" id="{429F91AA-69A4-4378-9C97-C675B8AF5622}"/>
                  </a:ext>
                </a:extLst>
              </p:cNvPr>
              <p:cNvSpPr>
                <a:spLocks noChangeArrowheads="1"/>
              </p:cNvSpPr>
              <p:nvPr/>
            </p:nvSpPr>
            <p:spPr bwMode="auto">
              <a:xfrm>
                <a:off x="4165" y="389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6" name="Rectangle 203">
                <a:extLst>
                  <a:ext uri="{FF2B5EF4-FFF2-40B4-BE49-F238E27FC236}">
                    <a16:creationId xmlns:a16="http://schemas.microsoft.com/office/drawing/2014/main" id="{6BE192FD-4B0A-41E3-8BF1-E75A13D45F64}"/>
                  </a:ext>
                </a:extLst>
              </p:cNvPr>
              <p:cNvSpPr>
                <a:spLocks noChangeArrowheads="1"/>
              </p:cNvSpPr>
              <p:nvPr/>
            </p:nvSpPr>
            <p:spPr bwMode="auto">
              <a:xfrm>
                <a:off x="4165" y="3875"/>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7" name="Rectangle 204">
                <a:extLst>
                  <a:ext uri="{FF2B5EF4-FFF2-40B4-BE49-F238E27FC236}">
                    <a16:creationId xmlns:a16="http://schemas.microsoft.com/office/drawing/2014/main" id="{BD24FCDA-4794-4244-A102-EB44CB39C220}"/>
                  </a:ext>
                </a:extLst>
              </p:cNvPr>
              <p:cNvSpPr>
                <a:spLocks noChangeArrowheads="1"/>
              </p:cNvSpPr>
              <p:nvPr/>
            </p:nvSpPr>
            <p:spPr bwMode="auto">
              <a:xfrm>
                <a:off x="4165" y="3856"/>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8" name="Rectangle 205">
                <a:extLst>
                  <a:ext uri="{FF2B5EF4-FFF2-40B4-BE49-F238E27FC236}">
                    <a16:creationId xmlns:a16="http://schemas.microsoft.com/office/drawing/2014/main" id="{7F17F58A-01D7-4B42-9975-86C61240EE2B}"/>
                  </a:ext>
                </a:extLst>
              </p:cNvPr>
              <p:cNvSpPr>
                <a:spLocks noChangeArrowheads="1"/>
              </p:cNvSpPr>
              <p:nvPr/>
            </p:nvSpPr>
            <p:spPr bwMode="auto">
              <a:xfrm>
                <a:off x="4165" y="3837"/>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9" name="Rectangle 206">
                <a:extLst>
                  <a:ext uri="{FF2B5EF4-FFF2-40B4-BE49-F238E27FC236}">
                    <a16:creationId xmlns:a16="http://schemas.microsoft.com/office/drawing/2014/main" id="{255558C9-FD9B-44C3-81EE-620AF15BBD40}"/>
                  </a:ext>
                </a:extLst>
              </p:cNvPr>
              <p:cNvSpPr>
                <a:spLocks noChangeArrowheads="1"/>
              </p:cNvSpPr>
              <p:nvPr/>
            </p:nvSpPr>
            <p:spPr bwMode="auto">
              <a:xfrm>
                <a:off x="4165" y="3817"/>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0" name="Rectangle 207">
                <a:extLst>
                  <a:ext uri="{FF2B5EF4-FFF2-40B4-BE49-F238E27FC236}">
                    <a16:creationId xmlns:a16="http://schemas.microsoft.com/office/drawing/2014/main" id="{B02B1036-AFD0-42A7-981A-CBB213FA3814}"/>
                  </a:ext>
                </a:extLst>
              </p:cNvPr>
              <p:cNvSpPr>
                <a:spLocks noChangeArrowheads="1"/>
              </p:cNvSpPr>
              <p:nvPr/>
            </p:nvSpPr>
            <p:spPr bwMode="auto">
              <a:xfrm>
                <a:off x="4165" y="3798"/>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1" name="Rectangle 208">
                <a:extLst>
                  <a:ext uri="{FF2B5EF4-FFF2-40B4-BE49-F238E27FC236}">
                    <a16:creationId xmlns:a16="http://schemas.microsoft.com/office/drawing/2014/main" id="{BE90A24B-DAD7-4F09-A15C-7D2F1D974C7F}"/>
                  </a:ext>
                </a:extLst>
              </p:cNvPr>
              <p:cNvSpPr>
                <a:spLocks noChangeArrowheads="1"/>
              </p:cNvSpPr>
              <p:nvPr/>
            </p:nvSpPr>
            <p:spPr bwMode="auto">
              <a:xfrm>
                <a:off x="4165" y="377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2" name="Rectangle 209">
                <a:extLst>
                  <a:ext uri="{FF2B5EF4-FFF2-40B4-BE49-F238E27FC236}">
                    <a16:creationId xmlns:a16="http://schemas.microsoft.com/office/drawing/2014/main" id="{14B94F59-B654-48EF-918F-CB652DDB6CF5}"/>
                  </a:ext>
                </a:extLst>
              </p:cNvPr>
              <p:cNvSpPr>
                <a:spLocks noChangeArrowheads="1"/>
              </p:cNvSpPr>
              <p:nvPr/>
            </p:nvSpPr>
            <p:spPr bwMode="auto">
              <a:xfrm>
                <a:off x="4165" y="3760"/>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3" name="Rectangle 210">
                <a:extLst>
                  <a:ext uri="{FF2B5EF4-FFF2-40B4-BE49-F238E27FC236}">
                    <a16:creationId xmlns:a16="http://schemas.microsoft.com/office/drawing/2014/main" id="{20A4DE30-FCAD-4EF2-B59D-1FCAF39482F9}"/>
                  </a:ext>
                </a:extLst>
              </p:cNvPr>
              <p:cNvSpPr>
                <a:spLocks noChangeArrowheads="1"/>
              </p:cNvSpPr>
              <p:nvPr/>
            </p:nvSpPr>
            <p:spPr bwMode="auto">
              <a:xfrm>
                <a:off x="4165" y="374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4" name="Rectangle 211">
                <a:extLst>
                  <a:ext uri="{FF2B5EF4-FFF2-40B4-BE49-F238E27FC236}">
                    <a16:creationId xmlns:a16="http://schemas.microsoft.com/office/drawing/2014/main" id="{1988A9C3-1567-4B65-A6AB-19C890AA16DE}"/>
                  </a:ext>
                </a:extLst>
              </p:cNvPr>
              <p:cNvSpPr>
                <a:spLocks noChangeArrowheads="1"/>
              </p:cNvSpPr>
              <p:nvPr/>
            </p:nvSpPr>
            <p:spPr bwMode="auto">
              <a:xfrm>
                <a:off x="4165" y="372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5" name="Rectangle 212">
                <a:extLst>
                  <a:ext uri="{FF2B5EF4-FFF2-40B4-BE49-F238E27FC236}">
                    <a16:creationId xmlns:a16="http://schemas.microsoft.com/office/drawing/2014/main" id="{793DC720-6B0A-41BF-801A-321B0BF75767}"/>
                  </a:ext>
                </a:extLst>
              </p:cNvPr>
              <p:cNvSpPr>
                <a:spLocks noChangeArrowheads="1"/>
              </p:cNvSpPr>
              <p:nvPr/>
            </p:nvSpPr>
            <p:spPr bwMode="auto">
              <a:xfrm>
                <a:off x="4165" y="3702"/>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6" name="Rectangle 213">
                <a:extLst>
                  <a:ext uri="{FF2B5EF4-FFF2-40B4-BE49-F238E27FC236}">
                    <a16:creationId xmlns:a16="http://schemas.microsoft.com/office/drawing/2014/main" id="{C70A71CB-18E8-4129-A3EF-22077D042797}"/>
                  </a:ext>
                </a:extLst>
              </p:cNvPr>
              <p:cNvSpPr>
                <a:spLocks noChangeArrowheads="1"/>
              </p:cNvSpPr>
              <p:nvPr/>
            </p:nvSpPr>
            <p:spPr bwMode="auto">
              <a:xfrm>
                <a:off x="4165" y="368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7" name="Rectangle 214">
                <a:extLst>
                  <a:ext uri="{FF2B5EF4-FFF2-40B4-BE49-F238E27FC236}">
                    <a16:creationId xmlns:a16="http://schemas.microsoft.com/office/drawing/2014/main" id="{FD04F077-9A0A-4FC6-9EA4-3E6BF29A999F}"/>
                  </a:ext>
                </a:extLst>
              </p:cNvPr>
              <p:cNvSpPr>
                <a:spLocks noChangeArrowheads="1"/>
              </p:cNvSpPr>
              <p:nvPr/>
            </p:nvSpPr>
            <p:spPr bwMode="auto">
              <a:xfrm>
                <a:off x="4165" y="3664"/>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8" name="Rectangle 215">
                <a:extLst>
                  <a:ext uri="{FF2B5EF4-FFF2-40B4-BE49-F238E27FC236}">
                    <a16:creationId xmlns:a16="http://schemas.microsoft.com/office/drawing/2014/main" id="{57BDE72B-B336-4120-A6A4-811980FE651B}"/>
                  </a:ext>
                </a:extLst>
              </p:cNvPr>
              <p:cNvSpPr>
                <a:spLocks noChangeArrowheads="1"/>
              </p:cNvSpPr>
              <p:nvPr/>
            </p:nvSpPr>
            <p:spPr bwMode="auto">
              <a:xfrm>
                <a:off x="4165" y="364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9" name="Freeform 216">
                <a:extLst>
                  <a:ext uri="{FF2B5EF4-FFF2-40B4-BE49-F238E27FC236}">
                    <a16:creationId xmlns:a16="http://schemas.microsoft.com/office/drawing/2014/main" id="{1EF25AC0-CE13-4A6B-85F0-95EC68C09B1C}"/>
                  </a:ext>
                </a:extLst>
              </p:cNvPr>
              <p:cNvSpPr>
                <a:spLocks/>
              </p:cNvSpPr>
              <p:nvPr/>
            </p:nvSpPr>
            <p:spPr bwMode="auto">
              <a:xfrm>
                <a:off x="4163" y="3628"/>
                <a:ext cx="12" cy="9"/>
              </a:xfrm>
              <a:custGeom>
                <a:avLst/>
                <a:gdLst>
                  <a:gd name="T0" fmla="*/ 2 w 12"/>
                  <a:gd name="T1" fmla="*/ 7 h 9"/>
                  <a:gd name="T2" fmla="*/ 12 w 12"/>
                  <a:gd name="T3" fmla="*/ 7 h 9"/>
                  <a:gd name="T4" fmla="*/ 12 w 12"/>
                  <a:gd name="T5" fmla="*/ 4 h 9"/>
                  <a:gd name="T6" fmla="*/ 12 w 12"/>
                  <a:gd name="T7" fmla="*/ 0 h 9"/>
                  <a:gd name="T8" fmla="*/ 7 w 12"/>
                  <a:gd name="T9" fmla="*/ 0 h 9"/>
                  <a:gd name="T10" fmla="*/ 0 w 12"/>
                  <a:gd name="T11" fmla="*/ 0 h 9"/>
                  <a:gd name="T12" fmla="*/ 0 w 12"/>
                  <a:gd name="T13" fmla="*/ 9 h 9"/>
                  <a:gd name="T14" fmla="*/ 7 w 12"/>
                  <a:gd name="T15" fmla="*/ 9 h 9"/>
                  <a:gd name="T16" fmla="*/ 7 w 12"/>
                  <a:gd name="T17" fmla="*/ 4 h 9"/>
                  <a:gd name="T18" fmla="*/ 2 w 12"/>
                  <a:gd name="T19" fmla="*/ 4 h 9"/>
                  <a:gd name="T20" fmla="*/ 2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2" y="7"/>
                    </a:moveTo>
                    <a:lnTo>
                      <a:pt x="12" y="7"/>
                    </a:lnTo>
                    <a:lnTo>
                      <a:pt x="12" y="4"/>
                    </a:lnTo>
                    <a:lnTo>
                      <a:pt x="12" y="0"/>
                    </a:lnTo>
                    <a:lnTo>
                      <a:pt x="7" y="0"/>
                    </a:lnTo>
                    <a:lnTo>
                      <a:pt x="0" y="0"/>
                    </a:lnTo>
                    <a:lnTo>
                      <a:pt x="0" y="9"/>
                    </a:lnTo>
                    <a:lnTo>
                      <a:pt x="7" y="9"/>
                    </a:lnTo>
                    <a:lnTo>
                      <a:pt x="7" y="4"/>
                    </a:lnTo>
                    <a:lnTo>
                      <a:pt x="2" y="4"/>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0" name="Rectangle 217">
                <a:extLst>
                  <a:ext uri="{FF2B5EF4-FFF2-40B4-BE49-F238E27FC236}">
                    <a16:creationId xmlns:a16="http://schemas.microsoft.com/office/drawing/2014/main" id="{CFD866B1-EFB0-4BA1-97BD-02A14D7910E1}"/>
                  </a:ext>
                </a:extLst>
              </p:cNvPr>
              <p:cNvSpPr>
                <a:spLocks noChangeArrowheads="1"/>
              </p:cNvSpPr>
              <p:nvPr/>
            </p:nvSpPr>
            <p:spPr bwMode="auto">
              <a:xfrm>
                <a:off x="414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1" name="Rectangle 218">
                <a:extLst>
                  <a:ext uri="{FF2B5EF4-FFF2-40B4-BE49-F238E27FC236}">
                    <a16:creationId xmlns:a16="http://schemas.microsoft.com/office/drawing/2014/main" id="{EA617FDF-8543-4CCC-BFD1-63E09385A877}"/>
                  </a:ext>
                </a:extLst>
              </p:cNvPr>
              <p:cNvSpPr>
                <a:spLocks noChangeArrowheads="1"/>
              </p:cNvSpPr>
              <p:nvPr/>
            </p:nvSpPr>
            <p:spPr bwMode="auto">
              <a:xfrm>
                <a:off x="412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2" name="Rectangle 219">
                <a:extLst>
                  <a:ext uri="{FF2B5EF4-FFF2-40B4-BE49-F238E27FC236}">
                    <a16:creationId xmlns:a16="http://schemas.microsoft.com/office/drawing/2014/main" id="{F06984F5-2A43-40ED-843C-2C954CDEBCED}"/>
                  </a:ext>
                </a:extLst>
              </p:cNvPr>
              <p:cNvSpPr>
                <a:spLocks noChangeArrowheads="1"/>
              </p:cNvSpPr>
              <p:nvPr/>
            </p:nvSpPr>
            <p:spPr bwMode="auto">
              <a:xfrm>
                <a:off x="410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3" name="Rectangle 220">
                <a:extLst>
                  <a:ext uri="{FF2B5EF4-FFF2-40B4-BE49-F238E27FC236}">
                    <a16:creationId xmlns:a16="http://schemas.microsoft.com/office/drawing/2014/main" id="{D6CC2EDA-8956-40A3-916D-251C1F4DD9B2}"/>
                  </a:ext>
                </a:extLst>
              </p:cNvPr>
              <p:cNvSpPr>
                <a:spLocks noChangeArrowheads="1"/>
              </p:cNvSpPr>
              <p:nvPr/>
            </p:nvSpPr>
            <p:spPr bwMode="auto">
              <a:xfrm>
                <a:off x="408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4" name="Rectangle 221">
                <a:extLst>
                  <a:ext uri="{FF2B5EF4-FFF2-40B4-BE49-F238E27FC236}">
                    <a16:creationId xmlns:a16="http://schemas.microsoft.com/office/drawing/2014/main" id="{31659C70-C9FC-44B7-91B0-AFC73D304DEF}"/>
                  </a:ext>
                </a:extLst>
              </p:cNvPr>
              <p:cNvSpPr>
                <a:spLocks noChangeArrowheads="1"/>
              </p:cNvSpPr>
              <p:nvPr/>
            </p:nvSpPr>
            <p:spPr bwMode="auto">
              <a:xfrm>
                <a:off x="406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5" name="Rectangle 222">
                <a:extLst>
                  <a:ext uri="{FF2B5EF4-FFF2-40B4-BE49-F238E27FC236}">
                    <a16:creationId xmlns:a16="http://schemas.microsoft.com/office/drawing/2014/main" id="{F8D916B1-27DC-4C21-A23A-A7013E3ED517}"/>
                  </a:ext>
                </a:extLst>
              </p:cNvPr>
              <p:cNvSpPr>
                <a:spLocks noChangeArrowheads="1"/>
              </p:cNvSpPr>
              <p:nvPr/>
            </p:nvSpPr>
            <p:spPr bwMode="auto">
              <a:xfrm>
                <a:off x="404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6" name="Rectangle 223">
                <a:extLst>
                  <a:ext uri="{FF2B5EF4-FFF2-40B4-BE49-F238E27FC236}">
                    <a16:creationId xmlns:a16="http://schemas.microsoft.com/office/drawing/2014/main" id="{AD8ADA50-A0A6-483A-A2B8-8595B293E77A}"/>
                  </a:ext>
                </a:extLst>
              </p:cNvPr>
              <p:cNvSpPr>
                <a:spLocks noChangeArrowheads="1"/>
              </p:cNvSpPr>
              <p:nvPr/>
            </p:nvSpPr>
            <p:spPr bwMode="auto">
              <a:xfrm>
                <a:off x="402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7" name="Rectangle 224">
                <a:extLst>
                  <a:ext uri="{FF2B5EF4-FFF2-40B4-BE49-F238E27FC236}">
                    <a16:creationId xmlns:a16="http://schemas.microsoft.com/office/drawing/2014/main" id="{A19C8C57-F710-4AEA-98EC-69A5405CAD1A}"/>
                  </a:ext>
                </a:extLst>
              </p:cNvPr>
              <p:cNvSpPr>
                <a:spLocks noChangeArrowheads="1"/>
              </p:cNvSpPr>
              <p:nvPr/>
            </p:nvSpPr>
            <p:spPr bwMode="auto">
              <a:xfrm>
                <a:off x="400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8" name="Rectangle 225">
                <a:extLst>
                  <a:ext uri="{FF2B5EF4-FFF2-40B4-BE49-F238E27FC236}">
                    <a16:creationId xmlns:a16="http://schemas.microsoft.com/office/drawing/2014/main" id="{46708B6E-681D-4E54-95E1-8554E844E458}"/>
                  </a:ext>
                </a:extLst>
              </p:cNvPr>
              <p:cNvSpPr>
                <a:spLocks noChangeArrowheads="1"/>
              </p:cNvSpPr>
              <p:nvPr/>
            </p:nvSpPr>
            <p:spPr bwMode="auto">
              <a:xfrm>
                <a:off x="3990"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9" name="Rectangle 226">
                <a:extLst>
                  <a:ext uri="{FF2B5EF4-FFF2-40B4-BE49-F238E27FC236}">
                    <a16:creationId xmlns:a16="http://schemas.microsoft.com/office/drawing/2014/main" id="{D11BF613-C69C-4F48-8C61-7A93C4F08325}"/>
                  </a:ext>
                </a:extLst>
              </p:cNvPr>
              <p:cNvSpPr>
                <a:spLocks noChangeArrowheads="1"/>
              </p:cNvSpPr>
              <p:nvPr/>
            </p:nvSpPr>
            <p:spPr bwMode="auto">
              <a:xfrm>
                <a:off x="397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0" name="Rectangle 227">
                <a:extLst>
                  <a:ext uri="{FF2B5EF4-FFF2-40B4-BE49-F238E27FC236}">
                    <a16:creationId xmlns:a16="http://schemas.microsoft.com/office/drawing/2014/main" id="{1389EDCB-9198-48DA-8C98-87260A8F8217}"/>
                  </a:ext>
                </a:extLst>
              </p:cNvPr>
              <p:cNvSpPr>
                <a:spLocks noChangeArrowheads="1"/>
              </p:cNvSpPr>
              <p:nvPr/>
            </p:nvSpPr>
            <p:spPr bwMode="auto">
              <a:xfrm>
                <a:off x="395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1" name="Rectangle 228">
                <a:extLst>
                  <a:ext uri="{FF2B5EF4-FFF2-40B4-BE49-F238E27FC236}">
                    <a16:creationId xmlns:a16="http://schemas.microsoft.com/office/drawing/2014/main" id="{42D177B9-3614-44DE-85A3-752E3F23E3BA}"/>
                  </a:ext>
                </a:extLst>
              </p:cNvPr>
              <p:cNvSpPr>
                <a:spLocks noChangeArrowheads="1"/>
              </p:cNvSpPr>
              <p:nvPr/>
            </p:nvSpPr>
            <p:spPr bwMode="auto">
              <a:xfrm>
                <a:off x="393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2" name="Rectangle 229">
                <a:extLst>
                  <a:ext uri="{FF2B5EF4-FFF2-40B4-BE49-F238E27FC236}">
                    <a16:creationId xmlns:a16="http://schemas.microsoft.com/office/drawing/2014/main" id="{C902C037-2E47-419D-8472-31158274E86A}"/>
                  </a:ext>
                </a:extLst>
              </p:cNvPr>
              <p:cNvSpPr>
                <a:spLocks noChangeArrowheads="1"/>
              </p:cNvSpPr>
              <p:nvPr/>
            </p:nvSpPr>
            <p:spPr bwMode="auto">
              <a:xfrm>
                <a:off x="391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3" name="Rectangle 230">
                <a:extLst>
                  <a:ext uri="{FF2B5EF4-FFF2-40B4-BE49-F238E27FC236}">
                    <a16:creationId xmlns:a16="http://schemas.microsoft.com/office/drawing/2014/main" id="{3EFF7EF7-224E-4B99-A4CA-B6F6E63D2EAC}"/>
                  </a:ext>
                </a:extLst>
              </p:cNvPr>
              <p:cNvSpPr>
                <a:spLocks noChangeArrowheads="1"/>
              </p:cNvSpPr>
              <p:nvPr/>
            </p:nvSpPr>
            <p:spPr bwMode="auto">
              <a:xfrm>
                <a:off x="3894"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4" name="Rectangle 231">
                <a:extLst>
                  <a:ext uri="{FF2B5EF4-FFF2-40B4-BE49-F238E27FC236}">
                    <a16:creationId xmlns:a16="http://schemas.microsoft.com/office/drawing/2014/main" id="{A3D2C98D-1CBA-4796-8498-1263D45B794B}"/>
                  </a:ext>
                </a:extLst>
              </p:cNvPr>
              <p:cNvSpPr>
                <a:spLocks noChangeArrowheads="1"/>
              </p:cNvSpPr>
              <p:nvPr/>
            </p:nvSpPr>
            <p:spPr bwMode="auto">
              <a:xfrm>
                <a:off x="387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5" name="Rectangle 232">
                <a:extLst>
                  <a:ext uri="{FF2B5EF4-FFF2-40B4-BE49-F238E27FC236}">
                    <a16:creationId xmlns:a16="http://schemas.microsoft.com/office/drawing/2014/main" id="{F111C903-EB43-49E0-A8AF-C58448F6A0D8}"/>
                  </a:ext>
                </a:extLst>
              </p:cNvPr>
              <p:cNvSpPr>
                <a:spLocks noChangeArrowheads="1"/>
              </p:cNvSpPr>
              <p:nvPr/>
            </p:nvSpPr>
            <p:spPr bwMode="auto">
              <a:xfrm>
                <a:off x="385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6" name="Rectangle 233">
                <a:extLst>
                  <a:ext uri="{FF2B5EF4-FFF2-40B4-BE49-F238E27FC236}">
                    <a16:creationId xmlns:a16="http://schemas.microsoft.com/office/drawing/2014/main" id="{94684722-0449-4751-BBC5-C7466AEE3D6F}"/>
                  </a:ext>
                </a:extLst>
              </p:cNvPr>
              <p:cNvSpPr>
                <a:spLocks noChangeArrowheads="1"/>
              </p:cNvSpPr>
              <p:nvPr/>
            </p:nvSpPr>
            <p:spPr bwMode="auto">
              <a:xfrm>
                <a:off x="383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7" name="Rectangle 234">
                <a:extLst>
                  <a:ext uri="{FF2B5EF4-FFF2-40B4-BE49-F238E27FC236}">
                    <a16:creationId xmlns:a16="http://schemas.microsoft.com/office/drawing/2014/main" id="{E36030C9-C869-441C-8141-5E01A7AB6294}"/>
                  </a:ext>
                </a:extLst>
              </p:cNvPr>
              <p:cNvSpPr>
                <a:spLocks noChangeArrowheads="1"/>
              </p:cNvSpPr>
              <p:nvPr/>
            </p:nvSpPr>
            <p:spPr bwMode="auto">
              <a:xfrm>
                <a:off x="381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8" name="Rectangle 235">
                <a:extLst>
                  <a:ext uri="{FF2B5EF4-FFF2-40B4-BE49-F238E27FC236}">
                    <a16:creationId xmlns:a16="http://schemas.microsoft.com/office/drawing/2014/main" id="{A6FCB3F4-842B-4C77-B78C-6FEC057957E3}"/>
                  </a:ext>
                </a:extLst>
              </p:cNvPr>
              <p:cNvSpPr>
                <a:spLocks noChangeArrowheads="1"/>
              </p:cNvSpPr>
              <p:nvPr/>
            </p:nvSpPr>
            <p:spPr bwMode="auto">
              <a:xfrm>
                <a:off x="3798"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9" name="Rectangle 236">
                <a:extLst>
                  <a:ext uri="{FF2B5EF4-FFF2-40B4-BE49-F238E27FC236}">
                    <a16:creationId xmlns:a16="http://schemas.microsoft.com/office/drawing/2014/main" id="{D65A5D4D-0193-431E-A587-D4FB7D3C39E2}"/>
                  </a:ext>
                </a:extLst>
              </p:cNvPr>
              <p:cNvSpPr>
                <a:spLocks noChangeArrowheads="1"/>
              </p:cNvSpPr>
              <p:nvPr/>
            </p:nvSpPr>
            <p:spPr bwMode="auto">
              <a:xfrm>
                <a:off x="377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0" name="Rectangle 237">
                <a:extLst>
                  <a:ext uri="{FF2B5EF4-FFF2-40B4-BE49-F238E27FC236}">
                    <a16:creationId xmlns:a16="http://schemas.microsoft.com/office/drawing/2014/main" id="{62FA5391-F531-4270-8A22-8C2C64007BDC}"/>
                  </a:ext>
                </a:extLst>
              </p:cNvPr>
              <p:cNvSpPr>
                <a:spLocks noChangeArrowheads="1"/>
              </p:cNvSpPr>
              <p:nvPr/>
            </p:nvSpPr>
            <p:spPr bwMode="auto">
              <a:xfrm>
                <a:off x="375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1" name="Rectangle 238">
                <a:extLst>
                  <a:ext uri="{FF2B5EF4-FFF2-40B4-BE49-F238E27FC236}">
                    <a16:creationId xmlns:a16="http://schemas.microsoft.com/office/drawing/2014/main" id="{74303841-4E9C-4122-899D-9310E9850987}"/>
                  </a:ext>
                </a:extLst>
              </p:cNvPr>
              <p:cNvSpPr>
                <a:spLocks noChangeArrowheads="1"/>
              </p:cNvSpPr>
              <p:nvPr/>
            </p:nvSpPr>
            <p:spPr bwMode="auto">
              <a:xfrm>
                <a:off x="374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2" name="Rectangle 239">
                <a:extLst>
                  <a:ext uri="{FF2B5EF4-FFF2-40B4-BE49-F238E27FC236}">
                    <a16:creationId xmlns:a16="http://schemas.microsoft.com/office/drawing/2014/main" id="{F33BD563-7A19-4658-AF75-236E2383551F}"/>
                  </a:ext>
                </a:extLst>
              </p:cNvPr>
              <p:cNvSpPr>
                <a:spLocks noChangeArrowheads="1"/>
              </p:cNvSpPr>
              <p:nvPr/>
            </p:nvSpPr>
            <p:spPr bwMode="auto">
              <a:xfrm>
                <a:off x="3721"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3" name="Rectangle 240">
                <a:extLst>
                  <a:ext uri="{FF2B5EF4-FFF2-40B4-BE49-F238E27FC236}">
                    <a16:creationId xmlns:a16="http://schemas.microsoft.com/office/drawing/2014/main" id="{2E2BAFBC-7A0A-4ED6-BE61-41751B1D5089}"/>
                  </a:ext>
                </a:extLst>
              </p:cNvPr>
              <p:cNvSpPr>
                <a:spLocks noChangeArrowheads="1"/>
              </p:cNvSpPr>
              <p:nvPr/>
            </p:nvSpPr>
            <p:spPr bwMode="auto">
              <a:xfrm>
                <a:off x="370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4" name="Rectangle 241">
                <a:extLst>
                  <a:ext uri="{FF2B5EF4-FFF2-40B4-BE49-F238E27FC236}">
                    <a16:creationId xmlns:a16="http://schemas.microsoft.com/office/drawing/2014/main" id="{F02D8B3E-894F-4BFC-AEF8-4425DD19FA5F}"/>
                  </a:ext>
                </a:extLst>
              </p:cNvPr>
              <p:cNvSpPr>
                <a:spLocks noChangeArrowheads="1"/>
              </p:cNvSpPr>
              <p:nvPr/>
            </p:nvSpPr>
            <p:spPr bwMode="auto">
              <a:xfrm>
                <a:off x="368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5" name="Rectangle 242">
                <a:extLst>
                  <a:ext uri="{FF2B5EF4-FFF2-40B4-BE49-F238E27FC236}">
                    <a16:creationId xmlns:a16="http://schemas.microsoft.com/office/drawing/2014/main" id="{090EBE91-C349-4F32-AC74-AD610BE5D8FD}"/>
                  </a:ext>
                </a:extLst>
              </p:cNvPr>
              <p:cNvSpPr>
                <a:spLocks noChangeArrowheads="1"/>
              </p:cNvSpPr>
              <p:nvPr/>
            </p:nvSpPr>
            <p:spPr bwMode="auto">
              <a:xfrm>
                <a:off x="366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6" name="Rectangle 243">
                <a:extLst>
                  <a:ext uri="{FF2B5EF4-FFF2-40B4-BE49-F238E27FC236}">
                    <a16:creationId xmlns:a16="http://schemas.microsoft.com/office/drawing/2014/main" id="{88DD0F8B-F451-402D-8E65-308F2D1DCDF2}"/>
                  </a:ext>
                </a:extLst>
              </p:cNvPr>
              <p:cNvSpPr>
                <a:spLocks noChangeArrowheads="1"/>
              </p:cNvSpPr>
              <p:nvPr/>
            </p:nvSpPr>
            <p:spPr bwMode="auto">
              <a:xfrm>
                <a:off x="364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7" name="Rectangle 244">
                <a:extLst>
                  <a:ext uri="{FF2B5EF4-FFF2-40B4-BE49-F238E27FC236}">
                    <a16:creationId xmlns:a16="http://schemas.microsoft.com/office/drawing/2014/main" id="{8FD970E5-BDF6-4E61-9227-B5C315ED7AE4}"/>
                  </a:ext>
                </a:extLst>
              </p:cNvPr>
              <p:cNvSpPr>
                <a:spLocks noChangeArrowheads="1"/>
              </p:cNvSpPr>
              <p:nvPr/>
            </p:nvSpPr>
            <p:spPr bwMode="auto">
              <a:xfrm>
                <a:off x="3625"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8" name="Rectangle 245">
                <a:extLst>
                  <a:ext uri="{FF2B5EF4-FFF2-40B4-BE49-F238E27FC236}">
                    <a16:creationId xmlns:a16="http://schemas.microsoft.com/office/drawing/2014/main" id="{083D5484-C201-42CB-8CDC-9BEAA840C0DD}"/>
                  </a:ext>
                </a:extLst>
              </p:cNvPr>
              <p:cNvSpPr>
                <a:spLocks noChangeArrowheads="1"/>
              </p:cNvSpPr>
              <p:nvPr/>
            </p:nvSpPr>
            <p:spPr bwMode="auto">
              <a:xfrm>
                <a:off x="360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9" name="Rectangle 246">
                <a:extLst>
                  <a:ext uri="{FF2B5EF4-FFF2-40B4-BE49-F238E27FC236}">
                    <a16:creationId xmlns:a16="http://schemas.microsoft.com/office/drawing/2014/main" id="{A84DAF0B-BF43-4DB5-937A-F237C1C6B4B3}"/>
                  </a:ext>
                </a:extLst>
              </p:cNvPr>
              <p:cNvSpPr>
                <a:spLocks noChangeArrowheads="1"/>
              </p:cNvSpPr>
              <p:nvPr/>
            </p:nvSpPr>
            <p:spPr bwMode="auto">
              <a:xfrm>
                <a:off x="358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0" name="Rectangle 247">
                <a:extLst>
                  <a:ext uri="{FF2B5EF4-FFF2-40B4-BE49-F238E27FC236}">
                    <a16:creationId xmlns:a16="http://schemas.microsoft.com/office/drawing/2014/main" id="{AEE16481-BC1D-4F32-89C7-49C9948EFB3E}"/>
                  </a:ext>
                </a:extLst>
              </p:cNvPr>
              <p:cNvSpPr>
                <a:spLocks noChangeArrowheads="1"/>
              </p:cNvSpPr>
              <p:nvPr/>
            </p:nvSpPr>
            <p:spPr bwMode="auto">
              <a:xfrm>
                <a:off x="356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1" name="Rectangle 248">
                <a:extLst>
                  <a:ext uri="{FF2B5EF4-FFF2-40B4-BE49-F238E27FC236}">
                    <a16:creationId xmlns:a16="http://schemas.microsoft.com/office/drawing/2014/main" id="{1D4236D7-B191-4A48-BD88-DC526C537382}"/>
                  </a:ext>
                </a:extLst>
              </p:cNvPr>
              <p:cNvSpPr>
                <a:spLocks noChangeArrowheads="1"/>
              </p:cNvSpPr>
              <p:nvPr/>
            </p:nvSpPr>
            <p:spPr bwMode="auto">
              <a:xfrm>
                <a:off x="354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2" name="Rectangle 249">
                <a:extLst>
                  <a:ext uri="{FF2B5EF4-FFF2-40B4-BE49-F238E27FC236}">
                    <a16:creationId xmlns:a16="http://schemas.microsoft.com/office/drawing/2014/main" id="{7743C56E-2C43-4AF3-981D-564EBA40DB9C}"/>
                  </a:ext>
                </a:extLst>
              </p:cNvPr>
              <p:cNvSpPr>
                <a:spLocks noChangeArrowheads="1"/>
              </p:cNvSpPr>
              <p:nvPr/>
            </p:nvSpPr>
            <p:spPr bwMode="auto">
              <a:xfrm>
                <a:off x="352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3" name="Rectangle 250">
                <a:extLst>
                  <a:ext uri="{FF2B5EF4-FFF2-40B4-BE49-F238E27FC236}">
                    <a16:creationId xmlns:a16="http://schemas.microsoft.com/office/drawing/2014/main" id="{7EC0044F-1664-463B-AEFE-4BCB7204449C}"/>
                  </a:ext>
                </a:extLst>
              </p:cNvPr>
              <p:cNvSpPr>
                <a:spLocks noChangeArrowheads="1"/>
              </p:cNvSpPr>
              <p:nvPr/>
            </p:nvSpPr>
            <p:spPr bwMode="auto">
              <a:xfrm>
                <a:off x="350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4" name="Rectangle 251">
                <a:extLst>
                  <a:ext uri="{FF2B5EF4-FFF2-40B4-BE49-F238E27FC236}">
                    <a16:creationId xmlns:a16="http://schemas.microsoft.com/office/drawing/2014/main" id="{EF468C12-DA9A-4A4C-A24D-93AAAF49B7E0}"/>
                  </a:ext>
                </a:extLst>
              </p:cNvPr>
              <p:cNvSpPr>
                <a:spLocks noChangeArrowheads="1"/>
              </p:cNvSpPr>
              <p:nvPr/>
            </p:nvSpPr>
            <p:spPr bwMode="auto">
              <a:xfrm>
                <a:off x="349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5" name="Rectangle 252">
                <a:extLst>
                  <a:ext uri="{FF2B5EF4-FFF2-40B4-BE49-F238E27FC236}">
                    <a16:creationId xmlns:a16="http://schemas.microsoft.com/office/drawing/2014/main" id="{DA33482C-F6E3-4101-8A30-C622ADACBF0E}"/>
                  </a:ext>
                </a:extLst>
              </p:cNvPr>
              <p:cNvSpPr>
                <a:spLocks noChangeArrowheads="1"/>
              </p:cNvSpPr>
              <p:nvPr/>
            </p:nvSpPr>
            <p:spPr bwMode="auto">
              <a:xfrm>
                <a:off x="347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6" name="Rectangle 253">
                <a:extLst>
                  <a:ext uri="{FF2B5EF4-FFF2-40B4-BE49-F238E27FC236}">
                    <a16:creationId xmlns:a16="http://schemas.microsoft.com/office/drawing/2014/main" id="{0EC36663-2BC1-412F-827D-E6D182CB36FF}"/>
                  </a:ext>
                </a:extLst>
              </p:cNvPr>
              <p:cNvSpPr>
                <a:spLocks noChangeArrowheads="1"/>
              </p:cNvSpPr>
              <p:nvPr/>
            </p:nvSpPr>
            <p:spPr bwMode="auto">
              <a:xfrm>
                <a:off x="345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7" name="Rectangle 254">
                <a:extLst>
                  <a:ext uri="{FF2B5EF4-FFF2-40B4-BE49-F238E27FC236}">
                    <a16:creationId xmlns:a16="http://schemas.microsoft.com/office/drawing/2014/main" id="{2B5A884E-84C9-47CB-824B-A044909334A0}"/>
                  </a:ext>
                </a:extLst>
              </p:cNvPr>
              <p:cNvSpPr>
                <a:spLocks noChangeArrowheads="1"/>
              </p:cNvSpPr>
              <p:nvPr/>
            </p:nvSpPr>
            <p:spPr bwMode="auto">
              <a:xfrm>
                <a:off x="343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8" name="Rectangle 255">
                <a:extLst>
                  <a:ext uri="{FF2B5EF4-FFF2-40B4-BE49-F238E27FC236}">
                    <a16:creationId xmlns:a16="http://schemas.microsoft.com/office/drawing/2014/main" id="{02A63188-7745-40DE-9ED6-8F7F80050F8C}"/>
                  </a:ext>
                </a:extLst>
              </p:cNvPr>
              <p:cNvSpPr>
                <a:spLocks noChangeArrowheads="1"/>
              </p:cNvSpPr>
              <p:nvPr/>
            </p:nvSpPr>
            <p:spPr bwMode="auto">
              <a:xfrm>
                <a:off x="341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9" name="Rectangle 256">
                <a:extLst>
                  <a:ext uri="{FF2B5EF4-FFF2-40B4-BE49-F238E27FC236}">
                    <a16:creationId xmlns:a16="http://schemas.microsoft.com/office/drawing/2014/main" id="{AF9BA2C8-B513-4EB2-8967-82ACBD22F95C}"/>
                  </a:ext>
                </a:extLst>
              </p:cNvPr>
              <p:cNvSpPr>
                <a:spLocks noChangeArrowheads="1"/>
              </p:cNvSpPr>
              <p:nvPr/>
            </p:nvSpPr>
            <p:spPr bwMode="auto">
              <a:xfrm>
                <a:off x="339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0" name="Rectangle 257">
                <a:extLst>
                  <a:ext uri="{FF2B5EF4-FFF2-40B4-BE49-F238E27FC236}">
                    <a16:creationId xmlns:a16="http://schemas.microsoft.com/office/drawing/2014/main" id="{B86FF24C-971A-485F-83F4-A0D308E789AE}"/>
                  </a:ext>
                </a:extLst>
              </p:cNvPr>
              <p:cNvSpPr>
                <a:spLocks noChangeArrowheads="1"/>
              </p:cNvSpPr>
              <p:nvPr/>
            </p:nvSpPr>
            <p:spPr bwMode="auto">
              <a:xfrm>
                <a:off x="337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1" name="Rectangle 258">
                <a:extLst>
                  <a:ext uri="{FF2B5EF4-FFF2-40B4-BE49-F238E27FC236}">
                    <a16:creationId xmlns:a16="http://schemas.microsoft.com/office/drawing/2014/main" id="{E42E97A6-4AD6-4E18-8700-17DE99057E06}"/>
                  </a:ext>
                </a:extLst>
              </p:cNvPr>
              <p:cNvSpPr>
                <a:spLocks noChangeArrowheads="1"/>
              </p:cNvSpPr>
              <p:nvPr/>
            </p:nvSpPr>
            <p:spPr bwMode="auto">
              <a:xfrm>
                <a:off x="335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2" name="Rectangle 259">
                <a:extLst>
                  <a:ext uri="{FF2B5EF4-FFF2-40B4-BE49-F238E27FC236}">
                    <a16:creationId xmlns:a16="http://schemas.microsoft.com/office/drawing/2014/main" id="{F6BF5EE8-FDB2-4991-A0E2-6EF81752CF47}"/>
                  </a:ext>
                </a:extLst>
              </p:cNvPr>
              <p:cNvSpPr>
                <a:spLocks noChangeArrowheads="1"/>
              </p:cNvSpPr>
              <p:nvPr/>
            </p:nvSpPr>
            <p:spPr bwMode="auto">
              <a:xfrm>
                <a:off x="333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3" name="Rectangle 260">
                <a:extLst>
                  <a:ext uri="{FF2B5EF4-FFF2-40B4-BE49-F238E27FC236}">
                    <a16:creationId xmlns:a16="http://schemas.microsoft.com/office/drawing/2014/main" id="{A77C0182-B293-4E6D-8740-7B7AA5EC22BD}"/>
                  </a:ext>
                </a:extLst>
              </p:cNvPr>
              <p:cNvSpPr>
                <a:spLocks noChangeArrowheads="1"/>
              </p:cNvSpPr>
              <p:nvPr/>
            </p:nvSpPr>
            <p:spPr bwMode="auto">
              <a:xfrm>
                <a:off x="331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4" name="Rectangle 261">
                <a:extLst>
                  <a:ext uri="{FF2B5EF4-FFF2-40B4-BE49-F238E27FC236}">
                    <a16:creationId xmlns:a16="http://schemas.microsoft.com/office/drawing/2014/main" id="{2A56BC3B-CFEE-4B12-B5DA-915218C6241E}"/>
                  </a:ext>
                </a:extLst>
              </p:cNvPr>
              <p:cNvSpPr>
                <a:spLocks noChangeArrowheads="1"/>
              </p:cNvSpPr>
              <p:nvPr/>
            </p:nvSpPr>
            <p:spPr bwMode="auto">
              <a:xfrm>
                <a:off x="329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5" name="Rectangle 262">
                <a:extLst>
                  <a:ext uri="{FF2B5EF4-FFF2-40B4-BE49-F238E27FC236}">
                    <a16:creationId xmlns:a16="http://schemas.microsoft.com/office/drawing/2014/main" id="{E081A10D-9EA1-4E58-BF8E-5F1DF7D822A0}"/>
                  </a:ext>
                </a:extLst>
              </p:cNvPr>
              <p:cNvSpPr>
                <a:spLocks noChangeArrowheads="1"/>
              </p:cNvSpPr>
              <p:nvPr/>
            </p:nvSpPr>
            <p:spPr bwMode="auto">
              <a:xfrm>
                <a:off x="327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32" name="Group 263">
              <a:extLst>
                <a:ext uri="{FF2B5EF4-FFF2-40B4-BE49-F238E27FC236}">
                  <a16:creationId xmlns:a16="http://schemas.microsoft.com/office/drawing/2014/main" id="{4BFA199A-A284-4797-BCF4-CB235B7ACF3A}"/>
                </a:ext>
              </a:extLst>
            </p:cNvPr>
            <p:cNvGrpSpPr>
              <a:grpSpLocks/>
            </p:cNvGrpSpPr>
            <p:nvPr/>
          </p:nvGrpSpPr>
          <p:grpSpPr bwMode="auto">
            <a:xfrm>
              <a:off x="3273" y="3473"/>
              <a:ext cx="1085" cy="168"/>
              <a:chOff x="3273" y="3473"/>
              <a:chExt cx="1085" cy="168"/>
            </a:xfrm>
          </p:grpSpPr>
          <p:sp>
            <p:nvSpPr>
              <p:cNvPr id="294" name="Freeform 264">
                <a:extLst>
                  <a:ext uri="{FF2B5EF4-FFF2-40B4-BE49-F238E27FC236}">
                    <a16:creationId xmlns:a16="http://schemas.microsoft.com/office/drawing/2014/main" id="{3702B625-D2A6-4108-8704-E56320EE88D0}"/>
                  </a:ext>
                </a:extLst>
              </p:cNvPr>
              <p:cNvSpPr>
                <a:spLocks/>
              </p:cNvSpPr>
              <p:nvPr/>
            </p:nvSpPr>
            <p:spPr bwMode="auto">
              <a:xfrm>
                <a:off x="3278" y="3478"/>
                <a:ext cx="1075" cy="158"/>
              </a:xfrm>
              <a:custGeom>
                <a:avLst/>
                <a:gdLst>
                  <a:gd name="T0" fmla="*/ 0 w 1075"/>
                  <a:gd name="T1" fmla="*/ 158 h 158"/>
                  <a:gd name="T2" fmla="*/ 888 w 1075"/>
                  <a:gd name="T3" fmla="*/ 158 h 158"/>
                  <a:gd name="T4" fmla="*/ 1075 w 1075"/>
                  <a:gd name="T5" fmla="*/ 0 h 158"/>
                  <a:gd name="T6" fmla="*/ 206 w 1075"/>
                  <a:gd name="T7" fmla="*/ 0 h 158"/>
                  <a:gd name="T8" fmla="*/ 0 w 1075"/>
                  <a:gd name="T9" fmla="*/ 150 h 158"/>
                  <a:gd name="T10" fmla="*/ 0 w 1075"/>
                  <a:gd name="T11" fmla="*/ 158 h 158"/>
                </a:gdLst>
                <a:ahLst/>
                <a:cxnLst>
                  <a:cxn ang="0">
                    <a:pos x="T0" y="T1"/>
                  </a:cxn>
                  <a:cxn ang="0">
                    <a:pos x="T2" y="T3"/>
                  </a:cxn>
                  <a:cxn ang="0">
                    <a:pos x="T4" y="T5"/>
                  </a:cxn>
                  <a:cxn ang="0">
                    <a:pos x="T6" y="T7"/>
                  </a:cxn>
                  <a:cxn ang="0">
                    <a:pos x="T8" y="T9"/>
                  </a:cxn>
                  <a:cxn ang="0">
                    <a:pos x="T10" y="T11"/>
                  </a:cxn>
                </a:cxnLst>
                <a:rect l="0" t="0" r="r" b="b"/>
                <a:pathLst>
                  <a:path w="1075" h="158">
                    <a:moveTo>
                      <a:pt x="0" y="158"/>
                    </a:moveTo>
                    <a:lnTo>
                      <a:pt x="888" y="158"/>
                    </a:lnTo>
                    <a:lnTo>
                      <a:pt x="1075" y="0"/>
                    </a:lnTo>
                    <a:lnTo>
                      <a:pt x="206" y="0"/>
                    </a:lnTo>
                    <a:lnTo>
                      <a:pt x="0" y="150"/>
                    </a:lnTo>
                    <a:lnTo>
                      <a:pt x="0" y="158"/>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5" name="Freeform 265">
                <a:extLst>
                  <a:ext uri="{FF2B5EF4-FFF2-40B4-BE49-F238E27FC236}">
                    <a16:creationId xmlns:a16="http://schemas.microsoft.com/office/drawing/2014/main" id="{80A7AC1B-EE9E-4E89-82F2-9972FEB07181}"/>
                  </a:ext>
                </a:extLst>
              </p:cNvPr>
              <p:cNvSpPr>
                <a:spLocks/>
              </p:cNvSpPr>
              <p:nvPr/>
            </p:nvSpPr>
            <p:spPr bwMode="auto">
              <a:xfrm>
                <a:off x="327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6" name="Freeform 266">
                <a:extLst>
                  <a:ext uri="{FF2B5EF4-FFF2-40B4-BE49-F238E27FC236}">
                    <a16:creationId xmlns:a16="http://schemas.microsoft.com/office/drawing/2014/main" id="{985C1790-BD84-4F66-B226-A3355264560C}"/>
                  </a:ext>
                </a:extLst>
              </p:cNvPr>
              <p:cNvSpPr>
                <a:spLocks/>
              </p:cNvSpPr>
              <p:nvPr/>
            </p:nvSpPr>
            <p:spPr bwMode="auto">
              <a:xfrm>
                <a:off x="329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7" name="Freeform 267">
                <a:extLst>
                  <a:ext uri="{FF2B5EF4-FFF2-40B4-BE49-F238E27FC236}">
                    <a16:creationId xmlns:a16="http://schemas.microsoft.com/office/drawing/2014/main" id="{181B43C0-4CF9-4C38-9CCE-D5C93383D7AB}"/>
                  </a:ext>
                </a:extLst>
              </p:cNvPr>
              <p:cNvSpPr>
                <a:spLocks/>
              </p:cNvSpPr>
              <p:nvPr/>
            </p:nvSpPr>
            <p:spPr bwMode="auto">
              <a:xfrm>
                <a:off x="3311"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8" name="Freeform 268">
                <a:extLst>
                  <a:ext uri="{FF2B5EF4-FFF2-40B4-BE49-F238E27FC236}">
                    <a16:creationId xmlns:a16="http://schemas.microsoft.com/office/drawing/2014/main" id="{B83B95BC-D1E1-4C62-A313-4A81D31AC534}"/>
                  </a:ext>
                </a:extLst>
              </p:cNvPr>
              <p:cNvSpPr>
                <a:spLocks/>
              </p:cNvSpPr>
              <p:nvPr/>
            </p:nvSpPr>
            <p:spPr bwMode="auto">
              <a:xfrm>
                <a:off x="3331"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9" name="Freeform 269">
                <a:extLst>
                  <a:ext uri="{FF2B5EF4-FFF2-40B4-BE49-F238E27FC236}">
                    <a16:creationId xmlns:a16="http://schemas.microsoft.com/office/drawing/2014/main" id="{5C841B01-1BE6-401E-980D-244CA9AEA49E}"/>
                  </a:ext>
                </a:extLst>
              </p:cNvPr>
              <p:cNvSpPr>
                <a:spLocks/>
              </p:cNvSpPr>
              <p:nvPr/>
            </p:nvSpPr>
            <p:spPr bwMode="auto">
              <a:xfrm>
                <a:off x="335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0" name="Freeform 270">
                <a:extLst>
                  <a:ext uri="{FF2B5EF4-FFF2-40B4-BE49-F238E27FC236}">
                    <a16:creationId xmlns:a16="http://schemas.microsoft.com/office/drawing/2014/main" id="{51FEC699-37E4-408C-80C8-6C985582875D}"/>
                  </a:ext>
                </a:extLst>
              </p:cNvPr>
              <p:cNvSpPr>
                <a:spLocks/>
              </p:cNvSpPr>
              <p:nvPr/>
            </p:nvSpPr>
            <p:spPr bwMode="auto">
              <a:xfrm>
                <a:off x="336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1" name="Freeform 271">
                <a:extLst>
                  <a:ext uri="{FF2B5EF4-FFF2-40B4-BE49-F238E27FC236}">
                    <a16:creationId xmlns:a16="http://schemas.microsoft.com/office/drawing/2014/main" id="{E780D712-D3F5-4DC7-966B-D517AD63C668}"/>
                  </a:ext>
                </a:extLst>
              </p:cNvPr>
              <p:cNvSpPr>
                <a:spLocks/>
              </p:cNvSpPr>
              <p:nvPr/>
            </p:nvSpPr>
            <p:spPr bwMode="auto">
              <a:xfrm>
                <a:off x="338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2" name="Freeform 272">
                <a:extLst>
                  <a:ext uri="{FF2B5EF4-FFF2-40B4-BE49-F238E27FC236}">
                    <a16:creationId xmlns:a16="http://schemas.microsoft.com/office/drawing/2014/main" id="{0D2FBBCC-79A9-4CA1-A14F-6E3DF1709039}"/>
                  </a:ext>
                </a:extLst>
              </p:cNvPr>
              <p:cNvSpPr>
                <a:spLocks/>
              </p:cNvSpPr>
              <p:nvPr/>
            </p:nvSpPr>
            <p:spPr bwMode="auto">
              <a:xfrm>
                <a:off x="340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3" name="Freeform 273">
                <a:extLst>
                  <a:ext uri="{FF2B5EF4-FFF2-40B4-BE49-F238E27FC236}">
                    <a16:creationId xmlns:a16="http://schemas.microsoft.com/office/drawing/2014/main" id="{B314F019-9C50-4090-9EBE-5A8CB6938134}"/>
                  </a:ext>
                </a:extLst>
              </p:cNvPr>
              <p:cNvSpPr>
                <a:spLocks/>
              </p:cNvSpPr>
              <p:nvPr/>
            </p:nvSpPr>
            <p:spPr bwMode="auto">
              <a:xfrm>
                <a:off x="342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4" name="Freeform 274">
                <a:extLst>
                  <a:ext uri="{FF2B5EF4-FFF2-40B4-BE49-F238E27FC236}">
                    <a16:creationId xmlns:a16="http://schemas.microsoft.com/office/drawing/2014/main" id="{D494BFC7-4D2D-409A-AAC5-6AD8489006C8}"/>
                  </a:ext>
                </a:extLst>
              </p:cNvPr>
              <p:cNvSpPr>
                <a:spLocks/>
              </p:cNvSpPr>
              <p:nvPr/>
            </p:nvSpPr>
            <p:spPr bwMode="auto">
              <a:xfrm>
                <a:off x="3446"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5" name="Freeform 275">
                <a:extLst>
                  <a:ext uri="{FF2B5EF4-FFF2-40B4-BE49-F238E27FC236}">
                    <a16:creationId xmlns:a16="http://schemas.microsoft.com/office/drawing/2014/main" id="{03C8EC6D-D82B-4BB9-8E51-6539EA839DEE}"/>
                  </a:ext>
                </a:extLst>
              </p:cNvPr>
              <p:cNvSpPr>
                <a:spLocks/>
              </p:cNvSpPr>
              <p:nvPr/>
            </p:nvSpPr>
            <p:spPr bwMode="auto">
              <a:xfrm>
                <a:off x="346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6" name="Freeform 276">
                <a:extLst>
                  <a:ext uri="{FF2B5EF4-FFF2-40B4-BE49-F238E27FC236}">
                    <a16:creationId xmlns:a16="http://schemas.microsoft.com/office/drawing/2014/main" id="{EEE1891E-05FB-475B-A536-3C8680EA227B}"/>
                  </a:ext>
                </a:extLst>
              </p:cNvPr>
              <p:cNvSpPr>
                <a:spLocks/>
              </p:cNvSpPr>
              <p:nvPr/>
            </p:nvSpPr>
            <p:spPr bwMode="auto">
              <a:xfrm>
                <a:off x="348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7" name="Freeform 277">
                <a:extLst>
                  <a:ext uri="{FF2B5EF4-FFF2-40B4-BE49-F238E27FC236}">
                    <a16:creationId xmlns:a16="http://schemas.microsoft.com/office/drawing/2014/main" id="{C0B1B9F1-EA15-4E32-A127-448E066A1FDC}"/>
                  </a:ext>
                </a:extLst>
              </p:cNvPr>
              <p:cNvSpPr>
                <a:spLocks/>
              </p:cNvSpPr>
              <p:nvPr/>
            </p:nvSpPr>
            <p:spPr bwMode="auto">
              <a:xfrm>
                <a:off x="3503"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8" name="Freeform 278">
                <a:extLst>
                  <a:ext uri="{FF2B5EF4-FFF2-40B4-BE49-F238E27FC236}">
                    <a16:creationId xmlns:a16="http://schemas.microsoft.com/office/drawing/2014/main" id="{A08C65D2-8742-4FE0-ABBF-C67B15F11B60}"/>
                  </a:ext>
                </a:extLst>
              </p:cNvPr>
              <p:cNvSpPr>
                <a:spLocks/>
              </p:cNvSpPr>
              <p:nvPr/>
            </p:nvSpPr>
            <p:spPr bwMode="auto">
              <a:xfrm>
                <a:off x="352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9" name="Freeform 279">
                <a:extLst>
                  <a:ext uri="{FF2B5EF4-FFF2-40B4-BE49-F238E27FC236}">
                    <a16:creationId xmlns:a16="http://schemas.microsoft.com/office/drawing/2014/main" id="{1815DEAC-E79C-4601-8DF8-5E69A609ECE8}"/>
                  </a:ext>
                </a:extLst>
              </p:cNvPr>
              <p:cNvSpPr>
                <a:spLocks/>
              </p:cNvSpPr>
              <p:nvPr/>
            </p:nvSpPr>
            <p:spPr bwMode="auto">
              <a:xfrm>
                <a:off x="354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0" name="Freeform 280">
                <a:extLst>
                  <a:ext uri="{FF2B5EF4-FFF2-40B4-BE49-F238E27FC236}">
                    <a16:creationId xmlns:a16="http://schemas.microsoft.com/office/drawing/2014/main" id="{5D12FB07-7D59-424C-A228-39103FF50DC4}"/>
                  </a:ext>
                </a:extLst>
              </p:cNvPr>
              <p:cNvSpPr>
                <a:spLocks/>
              </p:cNvSpPr>
              <p:nvPr/>
            </p:nvSpPr>
            <p:spPr bwMode="auto">
              <a:xfrm>
                <a:off x="356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1" name="Freeform 281">
                <a:extLst>
                  <a:ext uri="{FF2B5EF4-FFF2-40B4-BE49-F238E27FC236}">
                    <a16:creationId xmlns:a16="http://schemas.microsoft.com/office/drawing/2014/main" id="{0BF7874A-A193-4E88-8159-55663254ACAF}"/>
                  </a:ext>
                </a:extLst>
              </p:cNvPr>
              <p:cNvSpPr>
                <a:spLocks/>
              </p:cNvSpPr>
              <p:nvPr/>
            </p:nvSpPr>
            <p:spPr bwMode="auto">
              <a:xfrm>
                <a:off x="358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2" name="Freeform 282">
                <a:extLst>
                  <a:ext uri="{FF2B5EF4-FFF2-40B4-BE49-F238E27FC236}">
                    <a16:creationId xmlns:a16="http://schemas.microsoft.com/office/drawing/2014/main" id="{A0C2C2D2-9A3A-4E97-A962-3E0EE422EE36}"/>
                  </a:ext>
                </a:extLst>
              </p:cNvPr>
              <p:cNvSpPr>
                <a:spLocks/>
              </p:cNvSpPr>
              <p:nvPr/>
            </p:nvSpPr>
            <p:spPr bwMode="auto">
              <a:xfrm>
                <a:off x="3600"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3" name="Freeform 283">
                <a:extLst>
                  <a:ext uri="{FF2B5EF4-FFF2-40B4-BE49-F238E27FC236}">
                    <a16:creationId xmlns:a16="http://schemas.microsoft.com/office/drawing/2014/main" id="{C8252A4D-9A00-4ACF-8623-C3A142F24CE3}"/>
                  </a:ext>
                </a:extLst>
              </p:cNvPr>
              <p:cNvSpPr>
                <a:spLocks/>
              </p:cNvSpPr>
              <p:nvPr/>
            </p:nvSpPr>
            <p:spPr bwMode="auto">
              <a:xfrm>
                <a:off x="3619"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4" name="Freeform 284">
                <a:extLst>
                  <a:ext uri="{FF2B5EF4-FFF2-40B4-BE49-F238E27FC236}">
                    <a16:creationId xmlns:a16="http://schemas.microsoft.com/office/drawing/2014/main" id="{5CDFFEF4-F9D5-430F-B915-AB44F77871C3}"/>
                  </a:ext>
                </a:extLst>
              </p:cNvPr>
              <p:cNvSpPr>
                <a:spLocks/>
              </p:cNvSpPr>
              <p:nvPr/>
            </p:nvSpPr>
            <p:spPr bwMode="auto">
              <a:xfrm>
                <a:off x="363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5" name="Freeform 285">
                <a:extLst>
                  <a:ext uri="{FF2B5EF4-FFF2-40B4-BE49-F238E27FC236}">
                    <a16:creationId xmlns:a16="http://schemas.microsoft.com/office/drawing/2014/main" id="{EC07CE94-5FC5-4671-88A0-E02D398FCE42}"/>
                  </a:ext>
                </a:extLst>
              </p:cNvPr>
              <p:cNvSpPr>
                <a:spLocks/>
              </p:cNvSpPr>
              <p:nvPr/>
            </p:nvSpPr>
            <p:spPr bwMode="auto">
              <a:xfrm>
                <a:off x="3657"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6" name="Freeform 286">
                <a:extLst>
                  <a:ext uri="{FF2B5EF4-FFF2-40B4-BE49-F238E27FC236}">
                    <a16:creationId xmlns:a16="http://schemas.microsoft.com/office/drawing/2014/main" id="{73504234-ED00-4CC3-AE0A-A811E4BA56ED}"/>
                  </a:ext>
                </a:extLst>
              </p:cNvPr>
              <p:cNvSpPr>
                <a:spLocks/>
              </p:cNvSpPr>
              <p:nvPr/>
            </p:nvSpPr>
            <p:spPr bwMode="auto">
              <a:xfrm>
                <a:off x="3676"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7" name="Freeform 287">
                <a:extLst>
                  <a:ext uri="{FF2B5EF4-FFF2-40B4-BE49-F238E27FC236}">
                    <a16:creationId xmlns:a16="http://schemas.microsoft.com/office/drawing/2014/main" id="{A771B70E-5424-4675-A628-7A6621EBC332}"/>
                  </a:ext>
                </a:extLst>
              </p:cNvPr>
              <p:cNvSpPr>
                <a:spLocks/>
              </p:cNvSpPr>
              <p:nvPr/>
            </p:nvSpPr>
            <p:spPr bwMode="auto">
              <a:xfrm>
                <a:off x="3696"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8" name="Freeform 288">
                <a:extLst>
                  <a:ext uri="{FF2B5EF4-FFF2-40B4-BE49-F238E27FC236}">
                    <a16:creationId xmlns:a16="http://schemas.microsoft.com/office/drawing/2014/main" id="{B528D5A1-AE7A-4D3C-AC5C-791424F4ECEF}"/>
                  </a:ext>
                </a:extLst>
              </p:cNvPr>
              <p:cNvSpPr>
                <a:spLocks/>
              </p:cNvSpPr>
              <p:nvPr/>
            </p:nvSpPr>
            <p:spPr bwMode="auto">
              <a:xfrm>
                <a:off x="3715"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9" name="Freeform 289">
                <a:extLst>
                  <a:ext uri="{FF2B5EF4-FFF2-40B4-BE49-F238E27FC236}">
                    <a16:creationId xmlns:a16="http://schemas.microsoft.com/office/drawing/2014/main" id="{E072567C-B108-41E9-8170-81397D9044AD}"/>
                  </a:ext>
                </a:extLst>
              </p:cNvPr>
              <p:cNvSpPr>
                <a:spLocks/>
              </p:cNvSpPr>
              <p:nvPr/>
            </p:nvSpPr>
            <p:spPr bwMode="auto">
              <a:xfrm>
                <a:off x="373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0" name="Freeform 290">
                <a:extLst>
                  <a:ext uri="{FF2B5EF4-FFF2-40B4-BE49-F238E27FC236}">
                    <a16:creationId xmlns:a16="http://schemas.microsoft.com/office/drawing/2014/main" id="{FB8FA01F-A2C4-4E98-BCF0-C0B044092D2D}"/>
                  </a:ext>
                </a:extLst>
              </p:cNvPr>
              <p:cNvSpPr>
                <a:spLocks/>
              </p:cNvSpPr>
              <p:nvPr/>
            </p:nvSpPr>
            <p:spPr bwMode="auto">
              <a:xfrm>
                <a:off x="375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1" name="Freeform 291">
                <a:extLst>
                  <a:ext uri="{FF2B5EF4-FFF2-40B4-BE49-F238E27FC236}">
                    <a16:creationId xmlns:a16="http://schemas.microsoft.com/office/drawing/2014/main" id="{7D3564A7-E7AB-4F57-B06B-312CE8390375}"/>
                  </a:ext>
                </a:extLst>
              </p:cNvPr>
              <p:cNvSpPr>
                <a:spLocks/>
              </p:cNvSpPr>
              <p:nvPr/>
            </p:nvSpPr>
            <p:spPr bwMode="auto">
              <a:xfrm>
                <a:off x="3772"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2" name="Freeform 292">
                <a:extLst>
                  <a:ext uri="{FF2B5EF4-FFF2-40B4-BE49-F238E27FC236}">
                    <a16:creationId xmlns:a16="http://schemas.microsoft.com/office/drawing/2014/main" id="{4C46B98A-FC53-4C48-ADFB-A81FEABCB502}"/>
                  </a:ext>
                </a:extLst>
              </p:cNvPr>
              <p:cNvSpPr>
                <a:spLocks/>
              </p:cNvSpPr>
              <p:nvPr/>
            </p:nvSpPr>
            <p:spPr bwMode="auto">
              <a:xfrm>
                <a:off x="3792"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3" name="Freeform 293">
                <a:extLst>
                  <a:ext uri="{FF2B5EF4-FFF2-40B4-BE49-F238E27FC236}">
                    <a16:creationId xmlns:a16="http://schemas.microsoft.com/office/drawing/2014/main" id="{20F04981-670B-4FE5-9ED0-6D26FF490666}"/>
                  </a:ext>
                </a:extLst>
              </p:cNvPr>
              <p:cNvSpPr>
                <a:spLocks/>
              </p:cNvSpPr>
              <p:nvPr/>
            </p:nvSpPr>
            <p:spPr bwMode="auto">
              <a:xfrm>
                <a:off x="3811"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4" name="Freeform 294">
                <a:extLst>
                  <a:ext uri="{FF2B5EF4-FFF2-40B4-BE49-F238E27FC236}">
                    <a16:creationId xmlns:a16="http://schemas.microsoft.com/office/drawing/2014/main" id="{59FE9452-503B-472A-87DB-B5D64252D352}"/>
                  </a:ext>
                </a:extLst>
              </p:cNvPr>
              <p:cNvSpPr>
                <a:spLocks/>
              </p:cNvSpPr>
              <p:nvPr/>
            </p:nvSpPr>
            <p:spPr bwMode="auto">
              <a:xfrm>
                <a:off x="3830"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5" name="Freeform 295">
                <a:extLst>
                  <a:ext uri="{FF2B5EF4-FFF2-40B4-BE49-F238E27FC236}">
                    <a16:creationId xmlns:a16="http://schemas.microsoft.com/office/drawing/2014/main" id="{5250072E-9063-4AB8-8DEC-3AC4E148ABEB}"/>
                  </a:ext>
                </a:extLst>
              </p:cNvPr>
              <p:cNvSpPr>
                <a:spLocks/>
              </p:cNvSpPr>
              <p:nvPr/>
            </p:nvSpPr>
            <p:spPr bwMode="auto">
              <a:xfrm>
                <a:off x="384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6" name="Freeform 296">
                <a:extLst>
                  <a:ext uri="{FF2B5EF4-FFF2-40B4-BE49-F238E27FC236}">
                    <a16:creationId xmlns:a16="http://schemas.microsoft.com/office/drawing/2014/main" id="{AA78B3CF-5DC3-4CC6-88F3-A96BFBE2F93A}"/>
                  </a:ext>
                </a:extLst>
              </p:cNvPr>
              <p:cNvSpPr>
                <a:spLocks/>
              </p:cNvSpPr>
              <p:nvPr/>
            </p:nvSpPr>
            <p:spPr bwMode="auto">
              <a:xfrm>
                <a:off x="3868"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7" name="Freeform 297">
                <a:extLst>
                  <a:ext uri="{FF2B5EF4-FFF2-40B4-BE49-F238E27FC236}">
                    <a16:creationId xmlns:a16="http://schemas.microsoft.com/office/drawing/2014/main" id="{062283A7-9B57-41C5-87B7-E6561D857B7F}"/>
                  </a:ext>
                </a:extLst>
              </p:cNvPr>
              <p:cNvSpPr>
                <a:spLocks/>
              </p:cNvSpPr>
              <p:nvPr/>
            </p:nvSpPr>
            <p:spPr bwMode="auto">
              <a:xfrm>
                <a:off x="3888"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8" name="Freeform 298">
                <a:extLst>
                  <a:ext uri="{FF2B5EF4-FFF2-40B4-BE49-F238E27FC236}">
                    <a16:creationId xmlns:a16="http://schemas.microsoft.com/office/drawing/2014/main" id="{8FD1F5B8-585C-446B-9F91-A09AB24B1E88}"/>
                  </a:ext>
                </a:extLst>
              </p:cNvPr>
              <p:cNvSpPr>
                <a:spLocks/>
              </p:cNvSpPr>
              <p:nvPr/>
            </p:nvSpPr>
            <p:spPr bwMode="auto">
              <a:xfrm>
                <a:off x="3907"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9" name="Freeform 299">
                <a:extLst>
                  <a:ext uri="{FF2B5EF4-FFF2-40B4-BE49-F238E27FC236}">
                    <a16:creationId xmlns:a16="http://schemas.microsoft.com/office/drawing/2014/main" id="{FC6814E7-2BDA-41E9-9174-060EF1C0ED4D}"/>
                  </a:ext>
                </a:extLst>
              </p:cNvPr>
              <p:cNvSpPr>
                <a:spLocks/>
              </p:cNvSpPr>
              <p:nvPr/>
            </p:nvSpPr>
            <p:spPr bwMode="auto">
              <a:xfrm>
                <a:off x="3926"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0" name="Freeform 300">
                <a:extLst>
                  <a:ext uri="{FF2B5EF4-FFF2-40B4-BE49-F238E27FC236}">
                    <a16:creationId xmlns:a16="http://schemas.microsoft.com/office/drawing/2014/main" id="{4A7D4EAD-7A16-47B5-9AAF-C91BE5CD92F7}"/>
                  </a:ext>
                </a:extLst>
              </p:cNvPr>
              <p:cNvSpPr>
                <a:spLocks/>
              </p:cNvSpPr>
              <p:nvPr/>
            </p:nvSpPr>
            <p:spPr bwMode="auto">
              <a:xfrm>
                <a:off x="394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1" name="Freeform 301">
                <a:extLst>
                  <a:ext uri="{FF2B5EF4-FFF2-40B4-BE49-F238E27FC236}">
                    <a16:creationId xmlns:a16="http://schemas.microsoft.com/office/drawing/2014/main" id="{D7F9F259-284E-493D-A607-A5C4879E96AE}"/>
                  </a:ext>
                </a:extLst>
              </p:cNvPr>
              <p:cNvSpPr>
                <a:spLocks/>
              </p:cNvSpPr>
              <p:nvPr/>
            </p:nvSpPr>
            <p:spPr bwMode="auto">
              <a:xfrm>
                <a:off x="3964"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2" name="Freeform 302">
                <a:extLst>
                  <a:ext uri="{FF2B5EF4-FFF2-40B4-BE49-F238E27FC236}">
                    <a16:creationId xmlns:a16="http://schemas.microsoft.com/office/drawing/2014/main" id="{39C38B87-5278-48B1-BED3-0C4EBED03242}"/>
                  </a:ext>
                </a:extLst>
              </p:cNvPr>
              <p:cNvSpPr>
                <a:spLocks/>
              </p:cNvSpPr>
              <p:nvPr/>
            </p:nvSpPr>
            <p:spPr bwMode="auto">
              <a:xfrm>
                <a:off x="3984"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3" name="Freeform 303">
                <a:extLst>
                  <a:ext uri="{FF2B5EF4-FFF2-40B4-BE49-F238E27FC236}">
                    <a16:creationId xmlns:a16="http://schemas.microsoft.com/office/drawing/2014/main" id="{2889AB5B-DA52-4427-B50D-1C51CDC0FD46}"/>
                  </a:ext>
                </a:extLst>
              </p:cNvPr>
              <p:cNvSpPr>
                <a:spLocks/>
              </p:cNvSpPr>
              <p:nvPr/>
            </p:nvSpPr>
            <p:spPr bwMode="auto">
              <a:xfrm>
                <a:off x="400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4" name="Freeform 304">
                <a:extLst>
                  <a:ext uri="{FF2B5EF4-FFF2-40B4-BE49-F238E27FC236}">
                    <a16:creationId xmlns:a16="http://schemas.microsoft.com/office/drawing/2014/main" id="{2C1FE050-5FA0-430B-AED2-F64EB05F4405}"/>
                  </a:ext>
                </a:extLst>
              </p:cNvPr>
              <p:cNvSpPr>
                <a:spLocks/>
              </p:cNvSpPr>
              <p:nvPr/>
            </p:nvSpPr>
            <p:spPr bwMode="auto">
              <a:xfrm>
                <a:off x="402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5" name="Freeform 305">
                <a:extLst>
                  <a:ext uri="{FF2B5EF4-FFF2-40B4-BE49-F238E27FC236}">
                    <a16:creationId xmlns:a16="http://schemas.microsoft.com/office/drawing/2014/main" id="{CF31C515-CDF5-4DDE-9578-3AB1BAB55E9E}"/>
                  </a:ext>
                </a:extLst>
              </p:cNvPr>
              <p:cNvSpPr>
                <a:spLocks/>
              </p:cNvSpPr>
              <p:nvPr/>
            </p:nvSpPr>
            <p:spPr bwMode="auto">
              <a:xfrm>
                <a:off x="404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6" name="Freeform 306">
                <a:extLst>
                  <a:ext uri="{FF2B5EF4-FFF2-40B4-BE49-F238E27FC236}">
                    <a16:creationId xmlns:a16="http://schemas.microsoft.com/office/drawing/2014/main" id="{57D205D8-61DE-4763-9291-6701E9773447}"/>
                  </a:ext>
                </a:extLst>
              </p:cNvPr>
              <p:cNvSpPr>
                <a:spLocks/>
              </p:cNvSpPr>
              <p:nvPr/>
            </p:nvSpPr>
            <p:spPr bwMode="auto">
              <a:xfrm>
                <a:off x="406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7" name="Freeform 307">
                <a:extLst>
                  <a:ext uri="{FF2B5EF4-FFF2-40B4-BE49-F238E27FC236}">
                    <a16:creationId xmlns:a16="http://schemas.microsoft.com/office/drawing/2014/main" id="{D892E20E-CB1A-484D-9F56-7DD75CC5D7AC}"/>
                  </a:ext>
                </a:extLst>
              </p:cNvPr>
              <p:cNvSpPr>
                <a:spLocks/>
              </p:cNvSpPr>
              <p:nvPr/>
            </p:nvSpPr>
            <p:spPr bwMode="auto">
              <a:xfrm>
                <a:off x="408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8" name="Freeform 308">
                <a:extLst>
                  <a:ext uri="{FF2B5EF4-FFF2-40B4-BE49-F238E27FC236}">
                    <a16:creationId xmlns:a16="http://schemas.microsoft.com/office/drawing/2014/main" id="{D05A3996-502D-44C3-A040-114655E140F8}"/>
                  </a:ext>
                </a:extLst>
              </p:cNvPr>
              <p:cNvSpPr>
                <a:spLocks/>
              </p:cNvSpPr>
              <p:nvPr/>
            </p:nvSpPr>
            <p:spPr bwMode="auto">
              <a:xfrm>
                <a:off x="409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9" name="Freeform 309">
                <a:extLst>
                  <a:ext uri="{FF2B5EF4-FFF2-40B4-BE49-F238E27FC236}">
                    <a16:creationId xmlns:a16="http://schemas.microsoft.com/office/drawing/2014/main" id="{740A296A-40DB-4AA2-BF82-4F984A762112}"/>
                  </a:ext>
                </a:extLst>
              </p:cNvPr>
              <p:cNvSpPr>
                <a:spLocks/>
              </p:cNvSpPr>
              <p:nvPr/>
            </p:nvSpPr>
            <p:spPr bwMode="auto">
              <a:xfrm>
                <a:off x="411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0" name="Freeform 310">
                <a:extLst>
                  <a:ext uri="{FF2B5EF4-FFF2-40B4-BE49-F238E27FC236}">
                    <a16:creationId xmlns:a16="http://schemas.microsoft.com/office/drawing/2014/main" id="{349EABA0-635B-43A3-BFBC-70046045A07A}"/>
                  </a:ext>
                </a:extLst>
              </p:cNvPr>
              <p:cNvSpPr>
                <a:spLocks/>
              </p:cNvSpPr>
              <p:nvPr/>
            </p:nvSpPr>
            <p:spPr bwMode="auto">
              <a:xfrm>
                <a:off x="413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1" name="Freeform 311">
                <a:extLst>
                  <a:ext uri="{FF2B5EF4-FFF2-40B4-BE49-F238E27FC236}">
                    <a16:creationId xmlns:a16="http://schemas.microsoft.com/office/drawing/2014/main" id="{28C70D88-1FF6-4193-AE09-F913A850FB3E}"/>
                  </a:ext>
                </a:extLst>
              </p:cNvPr>
              <p:cNvSpPr>
                <a:spLocks/>
              </p:cNvSpPr>
              <p:nvPr/>
            </p:nvSpPr>
            <p:spPr bwMode="auto">
              <a:xfrm>
                <a:off x="415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2" name="Freeform 312">
                <a:extLst>
                  <a:ext uri="{FF2B5EF4-FFF2-40B4-BE49-F238E27FC236}">
                    <a16:creationId xmlns:a16="http://schemas.microsoft.com/office/drawing/2014/main" id="{F9008F89-5C8D-47CC-8685-CC00045734EC}"/>
                  </a:ext>
                </a:extLst>
              </p:cNvPr>
              <p:cNvSpPr>
                <a:spLocks/>
              </p:cNvSpPr>
              <p:nvPr/>
            </p:nvSpPr>
            <p:spPr bwMode="auto">
              <a:xfrm>
                <a:off x="4172" y="3622"/>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9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3" name="Freeform 313">
                <a:extLst>
                  <a:ext uri="{FF2B5EF4-FFF2-40B4-BE49-F238E27FC236}">
                    <a16:creationId xmlns:a16="http://schemas.microsoft.com/office/drawing/2014/main" id="{8B279B21-09DF-4CB1-9921-42EA71C89AD2}"/>
                  </a:ext>
                </a:extLst>
              </p:cNvPr>
              <p:cNvSpPr>
                <a:spLocks/>
              </p:cNvSpPr>
              <p:nvPr/>
            </p:nvSpPr>
            <p:spPr bwMode="auto">
              <a:xfrm>
                <a:off x="4187" y="3610"/>
                <a:ext cx="9" cy="9"/>
              </a:xfrm>
              <a:custGeom>
                <a:avLst/>
                <a:gdLst>
                  <a:gd name="T0" fmla="*/ 1 w 9"/>
                  <a:gd name="T1" fmla="*/ 1 h 9"/>
                  <a:gd name="T2" fmla="*/ 0 w 9"/>
                  <a:gd name="T3" fmla="*/ 4 h 9"/>
                  <a:gd name="T4" fmla="*/ 1 w 9"/>
                  <a:gd name="T5" fmla="*/ 8 h 9"/>
                  <a:gd name="T6" fmla="*/ 4 w 9"/>
                  <a:gd name="T7" fmla="*/ 9 h 9"/>
                  <a:gd name="T8" fmla="*/ 8 w 9"/>
                  <a:gd name="T9" fmla="*/ 8 h 9"/>
                  <a:gd name="T10" fmla="*/ 8 w 9"/>
                  <a:gd name="T11" fmla="*/ 8 h 9"/>
                  <a:gd name="T12" fmla="*/ 9 w 9"/>
                  <a:gd name="T13" fmla="*/ 4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4" y="9"/>
                    </a:lnTo>
                    <a:lnTo>
                      <a:pt x="8" y="8"/>
                    </a:lnTo>
                    <a:lnTo>
                      <a:pt x="8" y="8"/>
                    </a:lnTo>
                    <a:lnTo>
                      <a:pt x="9" y="4"/>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4" name="Freeform 314">
                <a:extLst>
                  <a:ext uri="{FF2B5EF4-FFF2-40B4-BE49-F238E27FC236}">
                    <a16:creationId xmlns:a16="http://schemas.microsoft.com/office/drawing/2014/main" id="{3D55CB2F-EB9B-44AA-8300-8B719379651E}"/>
                  </a:ext>
                </a:extLst>
              </p:cNvPr>
              <p:cNvSpPr>
                <a:spLocks/>
              </p:cNvSpPr>
              <p:nvPr/>
            </p:nvSpPr>
            <p:spPr bwMode="auto">
              <a:xfrm>
                <a:off x="4202" y="3598"/>
                <a:ext cx="10" cy="9"/>
              </a:xfrm>
              <a:custGeom>
                <a:avLst/>
                <a:gdLst>
                  <a:gd name="T0" fmla="*/ 1 w 10"/>
                  <a:gd name="T1" fmla="*/ 1 h 9"/>
                  <a:gd name="T2" fmla="*/ 0 w 10"/>
                  <a:gd name="T3" fmla="*/ 4 h 9"/>
                  <a:gd name="T4" fmla="*/ 1 w 10"/>
                  <a:gd name="T5" fmla="*/ 7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7"/>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5" name="Freeform 315">
                <a:extLst>
                  <a:ext uri="{FF2B5EF4-FFF2-40B4-BE49-F238E27FC236}">
                    <a16:creationId xmlns:a16="http://schemas.microsoft.com/office/drawing/2014/main" id="{728EC5CF-7BA0-4F71-83D5-32E101F8F7E2}"/>
                  </a:ext>
                </a:extLst>
              </p:cNvPr>
              <p:cNvSpPr>
                <a:spLocks/>
              </p:cNvSpPr>
              <p:nvPr/>
            </p:nvSpPr>
            <p:spPr bwMode="auto">
              <a:xfrm>
                <a:off x="4217" y="3584"/>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6" name="Freeform 316">
                <a:extLst>
                  <a:ext uri="{FF2B5EF4-FFF2-40B4-BE49-F238E27FC236}">
                    <a16:creationId xmlns:a16="http://schemas.microsoft.com/office/drawing/2014/main" id="{029A6294-1673-4D91-93BF-7EDC6A4C8C52}"/>
                  </a:ext>
                </a:extLst>
              </p:cNvPr>
              <p:cNvSpPr>
                <a:spLocks/>
              </p:cNvSpPr>
              <p:nvPr/>
            </p:nvSpPr>
            <p:spPr bwMode="auto">
              <a:xfrm>
                <a:off x="4231" y="3572"/>
                <a:ext cx="10" cy="10"/>
              </a:xfrm>
              <a:custGeom>
                <a:avLst/>
                <a:gdLst>
                  <a:gd name="T0" fmla="*/ 1 w 10"/>
                  <a:gd name="T1" fmla="*/ 2 h 10"/>
                  <a:gd name="T2" fmla="*/ 0 w 10"/>
                  <a:gd name="T3" fmla="*/ 5 h 10"/>
                  <a:gd name="T4" fmla="*/ 1 w 10"/>
                  <a:gd name="T5" fmla="*/ 9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7" name="Freeform 317">
                <a:extLst>
                  <a:ext uri="{FF2B5EF4-FFF2-40B4-BE49-F238E27FC236}">
                    <a16:creationId xmlns:a16="http://schemas.microsoft.com/office/drawing/2014/main" id="{D92C05CC-1134-4328-9CD1-25191542799A}"/>
                  </a:ext>
                </a:extLst>
              </p:cNvPr>
              <p:cNvSpPr>
                <a:spLocks/>
              </p:cNvSpPr>
              <p:nvPr/>
            </p:nvSpPr>
            <p:spPr bwMode="auto">
              <a:xfrm>
                <a:off x="4245" y="3560"/>
                <a:ext cx="10" cy="10"/>
              </a:xfrm>
              <a:custGeom>
                <a:avLst/>
                <a:gdLst>
                  <a:gd name="T0" fmla="*/ 2 w 10"/>
                  <a:gd name="T1" fmla="*/ 2 h 10"/>
                  <a:gd name="T2" fmla="*/ 0 w 10"/>
                  <a:gd name="T3" fmla="*/ 5 h 10"/>
                  <a:gd name="T4" fmla="*/ 2 w 10"/>
                  <a:gd name="T5" fmla="*/ 8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8"/>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8" name="Freeform 318">
                <a:extLst>
                  <a:ext uri="{FF2B5EF4-FFF2-40B4-BE49-F238E27FC236}">
                    <a16:creationId xmlns:a16="http://schemas.microsoft.com/office/drawing/2014/main" id="{6A8F3BE1-096C-4CE0-8520-1864384BFB55}"/>
                  </a:ext>
                </a:extLst>
              </p:cNvPr>
              <p:cNvSpPr>
                <a:spLocks/>
              </p:cNvSpPr>
              <p:nvPr/>
            </p:nvSpPr>
            <p:spPr bwMode="auto">
              <a:xfrm>
                <a:off x="4260" y="3547"/>
                <a:ext cx="9" cy="10"/>
              </a:xfrm>
              <a:custGeom>
                <a:avLst/>
                <a:gdLst>
                  <a:gd name="T0" fmla="*/ 1 w 9"/>
                  <a:gd name="T1" fmla="*/ 1 h 10"/>
                  <a:gd name="T2" fmla="*/ 0 w 9"/>
                  <a:gd name="T3" fmla="*/ 5 h 10"/>
                  <a:gd name="T4" fmla="*/ 2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2"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9" name="Freeform 319">
                <a:extLst>
                  <a:ext uri="{FF2B5EF4-FFF2-40B4-BE49-F238E27FC236}">
                    <a16:creationId xmlns:a16="http://schemas.microsoft.com/office/drawing/2014/main" id="{21D89146-9A07-46A7-8E94-7F83A47FB558}"/>
                  </a:ext>
                </a:extLst>
              </p:cNvPr>
              <p:cNvSpPr>
                <a:spLocks/>
              </p:cNvSpPr>
              <p:nvPr/>
            </p:nvSpPr>
            <p:spPr bwMode="auto">
              <a:xfrm>
                <a:off x="4275" y="3535"/>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0" name="Freeform 320">
                <a:extLst>
                  <a:ext uri="{FF2B5EF4-FFF2-40B4-BE49-F238E27FC236}">
                    <a16:creationId xmlns:a16="http://schemas.microsoft.com/office/drawing/2014/main" id="{CC7DDC4C-7317-4130-8BFE-AAC75C78BB3B}"/>
                  </a:ext>
                </a:extLst>
              </p:cNvPr>
              <p:cNvSpPr>
                <a:spLocks/>
              </p:cNvSpPr>
              <p:nvPr/>
            </p:nvSpPr>
            <p:spPr bwMode="auto">
              <a:xfrm>
                <a:off x="4290" y="3523"/>
                <a:ext cx="9" cy="10"/>
              </a:xfrm>
              <a:custGeom>
                <a:avLst/>
                <a:gdLst>
                  <a:gd name="T0" fmla="*/ 1 w 9"/>
                  <a:gd name="T1" fmla="*/ 1 h 10"/>
                  <a:gd name="T2" fmla="*/ 0 w 9"/>
                  <a:gd name="T3" fmla="*/ 5 h 10"/>
                  <a:gd name="T4" fmla="*/ 1 w 9"/>
                  <a:gd name="T5" fmla="*/ 7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7"/>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1" name="Freeform 321">
                <a:extLst>
                  <a:ext uri="{FF2B5EF4-FFF2-40B4-BE49-F238E27FC236}">
                    <a16:creationId xmlns:a16="http://schemas.microsoft.com/office/drawing/2014/main" id="{E807C5E8-22EF-4C0A-A7BA-05970CD889B0}"/>
                  </a:ext>
                </a:extLst>
              </p:cNvPr>
              <p:cNvSpPr>
                <a:spLocks/>
              </p:cNvSpPr>
              <p:nvPr/>
            </p:nvSpPr>
            <p:spPr bwMode="auto">
              <a:xfrm>
                <a:off x="4304" y="3510"/>
                <a:ext cx="10" cy="10"/>
              </a:xfrm>
              <a:custGeom>
                <a:avLst/>
                <a:gdLst>
                  <a:gd name="T0" fmla="*/ 1 w 10"/>
                  <a:gd name="T1" fmla="*/ 1 h 10"/>
                  <a:gd name="T2" fmla="*/ 0 w 10"/>
                  <a:gd name="T3" fmla="*/ 5 h 10"/>
                  <a:gd name="T4" fmla="*/ 1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2" name="Freeform 322">
                <a:extLst>
                  <a:ext uri="{FF2B5EF4-FFF2-40B4-BE49-F238E27FC236}">
                    <a16:creationId xmlns:a16="http://schemas.microsoft.com/office/drawing/2014/main" id="{8A9AB1BC-217B-452A-81F0-FA71A7F033B9}"/>
                  </a:ext>
                </a:extLst>
              </p:cNvPr>
              <p:cNvSpPr>
                <a:spLocks/>
              </p:cNvSpPr>
              <p:nvPr/>
            </p:nvSpPr>
            <p:spPr bwMode="auto">
              <a:xfrm>
                <a:off x="4319" y="3498"/>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3" name="Freeform 323">
                <a:extLst>
                  <a:ext uri="{FF2B5EF4-FFF2-40B4-BE49-F238E27FC236}">
                    <a16:creationId xmlns:a16="http://schemas.microsoft.com/office/drawing/2014/main" id="{8B21597C-F42D-466D-A278-7149EECCBF5F}"/>
                  </a:ext>
                </a:extLst>
              </p:cNvPr>
              <p:cNvSpPr>
                <a:spLocks/>
              </p:cNvSpPr>
              <p:nvPr/>
            </p:nvSpPr>
            <p:spPr bwMode="auto">
              <a:xfrm>
                <a:off x="4334" y="3486"/>
                <a:ext cx="10" cy="10"/>
              </a:xfrm>
              <a:custGeom>
                <a:avLst/>
                <a:gdLst>
                  <a:gd name="T0" fmla="*/ 1 w 10"/>
                  <a:gd name="T1" fmla="*/ 1 h 10"/>
                  <a:gd name="T2" fmla="*/ 0 w 10"/>
                  <a:gd name="T3" fmla="*/ 5 h 10"/>
                  <a:gd name="T4" fmla="*/ 1 w 10"/>
                  <a:gd name="T5" fmla="*/ 7 h 10"/>
                  <a:gd name="T6" fmla="*/ 5 w 10"/>
                  <a:gd name="T7" fmla="*/ 10 h 10"/>
                  <a:gd name="T8" fmla="*/ 9 w 10"/>
                  <a:gd name="T9" fmla="*/ 8 h 10"/>
                  <a:gd name="T10" fmla="*/ 9 w 10"/>
                  <a:gd name="T11" fmla="*/ 8 h 10"/>
                  <a:gd name="T12" fmla="*/ 10 w 10"/>
                  <a:gd name="T13" fmla="*/ 5 h 10"/>
                  <a:gd name="T14" fmla="*/ 7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8"/>
                    </a:lnTo>
                    <a:lnTo>
                      <a:pt x="9" y="8"/>
                    </a:lnTo>
                    <a:lnTo>
                      <a:pt x="10" y="5"/>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4" name="Freeform 324">
                <a:extLst>
                  <a:ext uri="{FF2B5EF4-FFF2-40B4-BE49-F238E27FC236}">
                    <a16:creationId xmlns:a16="http://schemas.microsoft.com/office/drawing/2014/main" id="{A152F8E3-650F-4F53-A1A2-39B8345E730D}"/>
                  </a:ext>
                </a:extLst>
              </p:cNvPr>
              <p:cNvSpPr>
                <a:spLocks/>
              </p:cNvSpPr>
              <p:nvPr/>
            </p:nvSpPr>
            <p:spPr bwMode="auto">
              <a:xfrm>
                <a:off x="4349" y="3473"/>
                <a:ext cx="9" cy="9"/>
              </a:xfrm>
              <a:custGeom>
                <a:avLst/>
                <a:gdLst>
                  <a:gd name="T0" fmla="*/ 1 w 9"/>
                  <a:gd name="T1" fmla="*/ 1 h 9"/>
                  <a:gd name="T2" fmla="*/ 0 w 9"/>
                  <a:gd name="T3" fmla="*/ 5 h 9"/>
                  <a:gd name="T4" fmla="*/ 1 w 9"/>
                  <a:gd name="T5" fmla="*/ 8 h 9"/>
                  <a:gd name="T6" fmla="*/ 4 w 9"/>
                  <a:gd name="T7" fmla="*/ 9 h 9"/>
                  <a:gd name="T8" fmla="*/ 8 w 9"/>
                  <a:gd name="T9" fmla="*/ 8 h 9"/>
                  <a:gd name="T10" fmla="*/ 8 w 9"/>
                  <a:gd name="T11" fmla="*/ 8 h 9"/>
                  <a:gd name="T12" fmla="*/ 9 w 9"/>
                  <a:gd name="T13" fmla="*/ 5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5"/>
                    </a:lnTo>
                    <a:lnTo>
                      <a:pt x="1" y="8"/>
                    </a:lnTo>
                    <a:lnTo>
                      <a:pt x="4" y="9"/>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5" name="Freeform 325">
                <a:extLst>
                  <a:ext uri="{FF2B5EF4-FFF2-40B4-BE49-F238E27FC236}">
                    <a16:creationId xmlns:a16="http://schemas.microsoft.com/office/drawing/2014/main" id="{FA957A9C-1F68-48F3-BB16-3E8005D9A490}"/>
                  </a:ext>
                </a:extLst>
              </p:cNvPr>
              <p:cNvSpPr>
                <a:spLocks/>
              </p:cNvSpPr>
              <p:nvPr/>
            </p:nvSpPr>
            <p:spPr bwMode="auto">
              <a:xfrm>
                <a:off x="432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6" name="Freeform 326">
                <a:extLst>
                  <a:ext uri="{FF2B5EF4-FFF2-40B4-BE49-F238E27FC236}">
                    <a16:creationId xmlns:a16="http://schemas.microsoft.com/office/drawing/2014/main" id="{4AF84777-DC7A-4CC0-9965-830B82B59C88}"/>
                  </a:ext>
                </a:extLst>
              </p:cNvPr>
              <p:cNvSpPr>
                <a:spLocks/>
              </p:cNvSpPr>
              <p:nvPr/>
            </p:nvSpPr>
            <p:spPr bwMode="auto">
              <a:xfrm>
                <a:off x="431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7" name="Freeform 327">
                <a:extLst>
                  <a:ext uri="{FF2B5EF4-FFF2-40B4-BE49-F238E27FC236}">
                    <a16:creationId xmlns:a16="http://schemas.microsoft.com/office/drawing/2014/main" id="{927D5270-E8F6-4B92-BBF5-E301AAB26B4F}"/>
                  </a:ext>
                </a:extLst>
              </p:cNvPr>
              <p:cNvSpPr>
                <a:spLocks/>
              </p:cNvSpPr>
              <p:nvPr/>
            </p:nvSpPr>
            <p:spPr bwMode="auto">
              <a:xfrm>
                <a:off x="4291"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8" name="Freeform 328">
                <a:extLst>
                  <a:ext uri="{FF2B5EF4-FFF2-40B4-BE49-F238E27FC236}">
                    <a16:creationId xmlns:a16="http://schemas.microsoft.com/office/drawing/2014/main" id="{545740AA-3BC5-4505-9C91-46924D8CFB86}"/>
                  </a:ext>
                </a:extLst>
              </p:cNvPr>
              <p:cNvSpPr>
                <a:spLocks/>
              </p:cNvSpPr>
              <p:nvPr/>
            </p:nvSpPr>
            <p:spPr bwMode="auto">
              <a:xfrm>
                <a:off x="4272"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9" name="Freeform 329">
                <a:extLst>
                  <a:ext uri="{FF2B5EF4-FFF2-40B4-BE49-F238E27FC236}">
                    <a16:creationId xmlns:a16="http://schemas.microsoft.com/office/drawing/2014/main" id="{B439B899-E6E5-48ED-8607-426CF308CE88}"/>
                  </a:ext>
                </a:extLst>
              </p:cNvPr>
              <p:cNvSpPr>
                <a:spLocks/>
              </p:cNvSpPr>
              <p:nvPr/>
            </p:nvSpPr>
            <p:spPr bwMode="auto">
              <a:xfrm>
                <a:off x="4253"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0" name="Freeform 330">
                <a:extLst>
                  <a:ext uri="{FF2B5EF4-FFF2-40B4-BE49-F238E27FC236}">
                    <a16:creationId xmlns:a16="http://schemas.microsoft.com/office/drawing/2014/main" id="{F1626A57-2A1D-4CFE-A316-A44921EAD92C}"/>
                  </a:ext>
                </a:extLst>
              </p:cNvPr>
              <p:cNvSpPr>
                <a:spLocks/>
              </p:cNvSpPr>
              <p:nvPr/>
            </p:nvSpPr>
            <p:spPr bwMode="auto">
              <a:xfrm>
                <a:off x="423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1" name="Freeform 331">
                <a:extLst>
                  <a:ext uri="{FF2B5EF4-FFF2-40B4-BE49-F238E27FC236}">
                    <a16:creationId xmlns:a16="http://schemas.microsoft.com/office/drawing/2014/main" id="{CA223DA1-1EBF-45E9-9A82-6F6274002882}"/>
                  </a:ext>
                </a:extLst>
              </p:cNvPr>
              <p:cNvSpPr>
                <a:spLocks/>
              </p:cNvSpPr>
              <p:nvPr/>
            </p:nvSpPr>
            <p:spPr bwMode="auto">
              <a:xfrm>
                <a:off x="421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2" name="Freeform 332">
                <a:extLst>
                  <a:ext uri="{FF2B5EF4-FFF2-40B4-BE49-F238E27FC236}">
                    <a16:creationId xmlns:a16="http://schemas.microsoft.com/office/drawing/2014/main" id="{79B3D5A5-DCB3-4D18-8D7B-B8A894E3BAE5}"/>
                  </a:ext>
                </a:extLst>
              </p:cNvPr>
              <p:cNvSpPr>
                <a:spLocks/>
              </p:cNvSpPr>
              <p:nvPr/>
            </p:nvSpPr>
            <p:spPr bwMode="auto">
              <a:xfrm>
                <a:off x="4195"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3" name="Freeform 333">
                <a:extLst>
                  <a:ext uri="{FF2B5EF4-FFF2-40B4-BE49-F238E27FC236}">
                    <a16:creationId xmlns:a16="http://schemas.microsoft.com/office/drawing/2014/main" id="{21075A04-100E-400B-8BB1-7C5DEFF9F4C8}"/>
                  </a:ext>
                </a:extLst>
              </p:cNvPr>
              <p:cNvSpPr>
                <a:spLocks/>
              </p:cNvSpPr>
              <p:nvPr/>
            </p:nvSpPr>
            <p:spPr bwMode="auto">
              <a:xfrm>
                <a:off x="4176"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4" name="Freeform 334">
                <a:extLst>
                  <a:ext uri="{FF2B5EF4-FFF2-40B4-BE49-F238E27FC236}">
                    <a16:creationId xmlns:a16="http://schemas.microsoft.com/office/drawing/2014/main" id="{1D8C0F81-47CD-45AB-B039-3BC117A36C6A}"/>
                  </a:ext>
                </a:extLst>
              </p:cNvPr>
              <p:cNvSpPr>
                <a:spLocks/>
              </p:cNvSpPr>
              <p:nvPr/>
            </p:nvSpPr>
            <p:spPr bwMode="auto">
              <a:xfrm>
                <a:off x="4157"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5" name="Freeform 335">
                <a:extLst>
                  <a:ext uri="{FF2B5EF4-FFF2-40B4-BE49-F238E27FC236}">
                    <a16:creationId xmlns:a16="http://schemas.microsoft.com/office/drawing/2014/main" id="{04466BD4-C4DB-452A-A5E2-F8904515A886}"/>
                  </a:ext>
                </a:extLst>
              </p:cNvPr>
              <p:cNvSpPr>
                <a:spLocks/>
              </p:cNvSpPr>
              <p:nvPr/>
            </p:nvSpPr>
            <p:spPr bwMode="auto">
              <a:xfrm>
                <a:off x="413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6" name="Freeform 336">
                <a:extLst>
                  <a:ext uri="{FF2B5EF4-FFF2-40B4-BE49-F238E27FC236}">
                    <a16:creationId xmlns:a16="http://schemas.microsoft.com/office/drawing/2014/main" id="{255B48FB-98F1-4700-ADCA-093B560A0B64}"/>
                  </a:ext>
                </a:extLst>
              </p:cNvPr>
              <p:cNvSpPr>
                <a:spLocks/>
              </p:cNvSpPr>
              <p:nvPr/>
            </p:nvSpPr>
            <p:spPr bwMode="auto">
              <a:xfrm>
                <a:off x="411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7" name="Freeform 337">
                <a:extLst>
                  <a:ext uri="{FF2B5EF4-FFF2-40B4-BE49-F238E27FC236}">
                    <a16:creationId xmlns:a16="http://schemas.microsoft.com/office/drawing/2014/main" id="{A417CEF5-7656-40AB-90B5-6C6DCA2D105E}"/>
                  </a:ext>
                </a:extLst>
              </p:cNvPr>
              <p:cNvSpPr>
                <a:spLocks/>
              </p:cNvSpPr>
              <p:nvPr/>
            </p:nvSpPr>
            <p:spPr bwMode="auto">
              <a:xfrm>
                <a:off x="4099"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8" name="Freeform 338">
                <a:extLst>
                  <a:ext uri="{FF2B5EF4-FFF2-40B4-BE49-F238E27FC236}">
                    <a16:creationId xmlns:a16="http://schemas.microsoft.com/office/drawing/2014/main" id="{5C5D0B83-F8A5-4216-962F-71D1911CEFF3}"/>
                  </a:ext>
                </a:extLst>
              </p:cNvPr>
              <p:cNvSpPr>
                <a:spLocks/>
              </p:cNvSpPr>
              <p:nvPr/>
            </p:nvSpPr>
            <p:spPr bwMode="auto">
              <a:xfrm>
                <a:off x="4080"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9" name="Freeform 339">
                <a:extLst>
                  <a:ext uri="{FF2B5EF4-FFF2-40B4-BE49-F238E27FC236}">
                    <a16:creationId xmlns:a16="http://schemas.microsoft.com/office/drawing/2014/main" id="{C3912ADD-C4AD-497B-8381-D9F2E8BFC2A3}"/>
                  </a:ext>
                </a:extLst>
              </p:cNvPr>
              <p:cNvSpPr>
                <a:spLocks/>
              </p:cNvSpPr>
              <p:nvPr/>
            </p:nvSpPr>
            <p:spPr bwMode="auto">
              <a:xfrm>
                <a:off x="406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0" name="Freeform 340">
                <a:extLst>
                  <a:ext uri="{FF2B5EF4-FFF2-40B4-BE49-F238E27FC236}">
                    <a16:creationId xmlns:a16="http://schemas.microsoft.com/office/drawing/2014/main" id="{60F5CD70-1881-4F24-9028-4AC052EADC75}"/>
                  </a:ext>
                </a:extLst>
              </p:cNvPr>
              <p:cNvSpPr>
                <a:spLocks/>
              </p:cNvSpPr>
              <p:nvPr/>
            </p:nvSpPr>
            <p:spPr bwMode="auto">
              <a:xfrm>
                <a:off x="404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1" name="Freeform 341">
                <a:extLst>
                  <a:ext uri="{FF2B5EF4-FFF2-40B4-BE49-F238E27FC236}">
                    <a16:creationId xmlns:a16="http://schemas.microsoft.com/office/drawing/2014/main" id="{80C6EEDA-D623-461E-B72C-C5F5375DC7E7}"/>
                  </a:ext>
                </a:extLst>
              </p:cNvPr>
              <p:cNvSpPr>
                <a:spLocks/>
              </p:cNvSpPr>
              <p:nvPr/>
            </p:nvSpPr>
            <p:spPr bwMode="auto">
              <a:xfrm>
                <a:off x="402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2" name="Freeform 342">
                <a:extLst>
                  <a:ext uri="{FF2B5EF4-FFF2-40B4-BE49-F238E27FC236}">
                    <a16:creationId xmlns:a16="http://schemas.microsoft.com/office/drawing/2014/main" id="{4E8D3D37-484E-48BC-AE4C-AA226C745EE9}"/>
                  </a:ext>
                </a:extLst>
              </p:cNvPr>
              <p:cNvSpPr>
                <a:spLocks/>
              </p:cNvSpPr>
              <p:nvPr/>
            </p:nvSpPr>
            <p:spPr bwMode="auto">
              <a:xfrm>
                <a:off x="400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3" name="Freeform 343">
                <a:extLst>
                  <a:ext uri="{FF2B5EF4-FFF2-40B4-BE49-F238E27FC236}">
                    <a16:creationId xmlns:a16="http://schemas.microsoft.com/office/drawing/2014/main" id="{4CB71FCC-4D3A-4F09-9424-34CBBA03BF6F}"/>
                  </a:ext>
                </a:extLst>
              </p:cNvPr>
              <p:cNvSpPr>
                <a:spLocks/>
              </p:cNvSpPr>
              <p:nvPr/>
            </p:nvSpPr>
            <p:spPr bwMode="auto">
              <a:xfrm>
                <a:off x="3984"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4" name="Freeform 344">
                <a:extLst>
                  <a:ext uri="{FF2B5EF4-FFF2-40B4-BE49-F238E27FC236}">
                    <a16:creationId xmlns:a16="http://schemas.microsoft.com/office/drawing/2014/main" id="{B69C3876-F55A-4F41-A846-66A81AA8619D}"/>
                  </a:ext>
                </a:extLst>
              </p:cNvPr>
              <p:cNvSpPr>
                <a:spLocks/>
              </p:cNvSpPr>
              <p:nvPr/>
            </p:nvSpPr>
            <p:spPr bwMode="auto">
              <a:xfrm>
                <a:off x="396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5" name="Freeform 345">
                <a:extLst>
                  <a:ext uri="{FF2B5EF4-FFF2-40B4-BE49-F238E27FC236}">
                    <a16:creationId xmlns:a16="http://schemas.microsoft.com/office/drawing/2014/main" id="{A969F451-1C80-4DF7-8842-9DD74D526903}"/>
                  </a:ext>
                </a:extLst>
              </p:cNvPr>
              <p:cNvSpPr>
                <a:spLocks/>
              </p:cNvSpPr>
              <p:nvPr/>
            </p:nvSpPr>
            <p:spPr bwMode="auto">
              <a:xfrm>
                <a:off x="3945"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6" name="Freeform 346">
                <a:extLst>
                  <a:ext uri="{FF2B5EF4-FFF2-40B4-BE49-F238E27FC236}">
                    <a16:creationId xmlns:a16="http://schemas.microsoft.com/office/drawing/2014/main" id="{D38F1F9C-E42D-4DF0-B061-DF3885422256}"/>
                  </a:ext>
                </a:extLst>
              </p:cNvPr>
              <p:cNvSpPr>
                <a:spLocks/>
              </p:cNvSpPr>
              <p:nvPr/>
            </p:nvSpPr>
            <p:spPr bwMode="auto">
              <a:xfrm>
                <a:off x="3926"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7" name="Freeform 347">
                <a:extLst>
                  <a:ext uri="{FF2B5EF4-FFF2-40B4-BE49-F238E27FC236}">
                    <a16:creationId xmlns:a16="http://schemas.microsoft.com/office/drawing/2014/main" id="{0028DB4B-10D9-488A-8E89-AB09F47AB4EB}"/>
                  </a:ext>
                </a:extLst>
              </p:cNvPr>
              <p:cNvSpPr>
                <a:spLocks/>
              </p:cNvSpPr>
              <p:nvPr/>
            </p:nvSpPr>
            <p:spPr bwMode="auto">
              <a:xfrm>
                <a:off x="3907"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8" name="Freeform 348">
                <a:extLst>
                  <a:ext uri="{FF2B5EF4-FFF2-40B4-BE49-F238E27FC236}">
                    <a16:creationId xmlns:a16="http://schemas.microsoft.com/office/drawing/2014/main" id="{D2EC3FBD-5397-4DD6-B6EC-F86E01ECF778}"/>
                  </a:ext>
                </a:extLst>
              </p:cNvPr>
              <p:cNvSpPr>
                <a:spLocks/>
              </p:cNvSpPr>
              <p:nvPr/>
            </p:nvSpPr>
            <p:spPr bwMode="auto">
              <a:xfrm>
                <a:off x="3888"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9" name="Freeform 349">
                <a:extLst>
                  <a:ext uri="{FF2B5EF4-FFF2-40B4-BE49-F238E27FC236}">
                    <a16:creationId xmlns:a16="http://schemas.microsoft.com/office/drawing/2014/main" id="{C03DC300-28E7-428E-A748-314D5E3B6A9E}"/>
                  </a:ext>
                </a:extLst>
              </p:cNvPr>
              <p:cNvSpPr>
                <a:spLocks/>
              </p:cNvSpPr>
              <p:nvPr/>
            </p:nvSpPr>
            <p:spPr bwMode="auto">
              <a:xfrm>
                <a:off x="386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0" name="Freeform 350">
                <a:extLst>
                  <a:ext uri="{FF2B5EF4-FFF2-40B4-BE49-F238E27FC236}">
                    <a16:creationId xmlns:a16="http://schemas.microsoft.com/office/drawing/2014/main" id="{42360E0E-C23E-48DC-86A1-31E01527C405}"/>
                  </a:ext>
                </a:extLst>
              </p:cNvPr>
              <p:cNvSpPr>
                <a:spLocks/>
              </p:cNvSpPr>
              <p:nvPr/>
            </p:nvSpPr>
            <p:spPr bwMode="auto">
              <a:xfrm>
                <a:off x="384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1" name="Freeform 351">
                <a:extLst>
                  <a:ext uri="{FF2B5EF4-FFF2-40B4-BE49-F238E27FC236}">
                    <a16:creationId xmlns:a16="http://schemas.microsoft.com/office/drawing/2014/main" id="{850B90EC-9F1A-49EF-B464-60CF052A1B04}"/>
                  </a:ext>
                </a:extLst>
              </p:cNvPr>
              <p:cNvSpPr>
                <a:spLocks/>
              </p:cNvSpPr>
              <p:nvPr/>
            </p:nvSpPr>
            <p:spPr bwMode="auto">
              <a:xfrm>
                <a:off x="3830"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2" name="Freeform 352">
                <a:extLst>
                  <a:ext uri="{FF2B5EF4-FFF2-40B4-BE49-F238E27FC236}">
                    <a16:creationId xmlns:a16="http://schemas.microsoft.com/office/drawing/2014/main" id="{21D7130F-296E-4D52-A17A-0EEB33912FE1}"/>
                  </a:ext>
                </a:extLst>
              </p:cNvPr>
              <p:cNvSpPr>
                <a:spLocks/>
              </p:cNvSpPr>
              <p:nvPr/>
            </p:nvSpPr>
            <p:spPr bwMode="auto">
              <a:xfrm>
                <a:off x="3811"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3" name="Freeform 353">
                <a:extLst>
                  <a:ext uri="{FF2B5EF4-FFF2-40B4-BE49-F238E27FC236}">
                    <a16:creationId xmlns:a16="http://schemas.microsoft.com/office/drawing/2014/main" id="{AF710C2B-8F83-481E-83DF-274AC05EC073}"/>
                  </a:ext>
                </a:extLst>
              </p:cNvPr>
              <p:cNvSpPr>
                <a:spLocks/>
              </p:cNvSpPr>
              <p:nvPr/>
            </p:nvSpPr>
            <p:spPr bwMode="auto">
              <a:xfrm>
                <a:off x="3792"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4" name="Freeform 354">
                <a:extLst>
                  <a:ext uri="{FF2B5EF4-FFF2-40B4-BE49-F238E27FC236}">
                    <a16:creationId xmlns:a16="http://schemas.microsoft.com/office/drawing/2014/main" id="{D329B1B4-2476-4FA2-B186-7F2A4E7BE68A}"/>
                  </a:ext>
                </a:extLst>
              </p:cNvPr>
              <p:cNvSpPr>
                <a:spLocks/>
              </p:cNvSpPr>
              <p:nvPr/>
            </p:nvSpPr>
            <p:spPr bwMode="auto">
              <a:xfrm>
                <a:off x="3772"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5" name="Freeform 355">
                <a:extLst>
                  <a:ext uri="{FF2B5EF4-FFF2-40B4-BE49-F238E27FC236}">
                    <a16:creationId xmlns:a16="http://schemas.microsoft.com/office/drawing/2014/main" id="{C81483F5-ECD2-4368-AB47-C76498DE13A9}"/>
                  </a:ext>
                </a:extLst>
              </p:cNvPr>
              <p:cNvSpPr>
                <a:spLocks/>
              </p:cNvSpPr>
              <p:nvPr/>
            </p:nvSpPr>
            <p:spPr bwMode="auto">
              <a:xfrm>
                <a:off x="375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6" name="Freeform 356">
                <a:extLst>
                  <a:ext uri="{FF2B5EF4-FFF2-40B4-BE49-F238E27FC236}">
                    <a16:creationId xmlns:a16="http://schemas.microsoft.com/office/drawing/2014/main" id="{12F68EE0-1E22-4031-9167-BC8E725FCF94}"/>
                  </a:ext>
                </a:extLst>
              </p:cNvPr>
              <p:cNvSpPr>
                <a:spLocks/>
              </p:cNvSpPr>
              <p:nvPr/>
            </p:nvSpPr>
            <p:spPr bwMode="auto">
              <a:xfrm>
                <a:off x="3734"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7" name="Freeform 357">
                <a:extLst>
                  <a:ext uri="{FF2B5EF4-FFF2-40B4-BE49-F238E27FC236}">
                    <a16:creationId xmlns:a16="http://schemas.microsoft.com/office/drawing/2014/main" id="{29B1260C-3DE6-4E96-8479-E8A8F4548F49}"/>
                  </a:ext>
                </a:extLst>
              </p:cNvPr>
              <p:cNvSpPr>
                <a:spLocks/>
              </p:cNvSpPr>
              <p:nvPr/>
            </p:nvSpPr>
            <p:spPr bwMode="auto">
              <a:xfrm>
                <a:off x="3715"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8" name="Freeform 358">
                <a:extLst>
                  <a:ext uri="{FF2B5EF4-FFF2-40B4-BE49-F238E27FC236}">
                    <a16:creationId xmlns:a16="http://schemas.microsoft.com/office/drawing/2014/main" id="{FA641C1A-DF46-4337-A683-ECD0CC9B13FA}"/>
                  </a:ext>
                </a:extLst>
              </p:cNvPr>
              <p:cNvSpPr>
                <a:spLocks/>
              </p:cNvSpPr>
              <p:nvPr/>
            </p:nvSpPr>
            <p:spPr bwMode="auto">
              <a:xfrm>
                <a:off x="3696"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9" name="Freeform 359">
                <a:extLst>
                  <a:ext uri="{FF2B5EF4-FFF2-40B4-BE49-F238E27FC236}">
                    <a16:creationId xmlns:a16="http://schemas.microsoft.com/office/drawing/2014/main" id="{5F3A9D3F-5221-4D86-8116-75FA6AEFECEF}"/>
                  </a:ext>
                </a:extLst>
              </p:cNvPr>
              <p:cNvSpPr>
                <a:spLocks/>
              </p:cNvSpPr>
              <p:nvPr/>
            </p:nvSpPr>
            <p:spPr bwMode="auto">
              <a:xfrm>
                <a:off x="3676"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0" name="Freeform 360">
                <a:extLst>
                  <a:ext uri="{FF2B5EF4-FFF2-40B4-BE49-F238E27FC236}">
                    <a16:creationId xmlns:a16="http://schemas.microsoft.com/office/drawing/2014/main" id="{D1FFAD95-B031-471D-8086-AF873D9A2C66}"/>
                  </a:ext>
                </a:extLst>
              </p:cNvPr>
              <p:cNvSpPr>
                <a:spLocks/>
              </p:cNvSpPr>
              <p:nvPr/>
            </p:nvSpPr>
            <p:spPr bwMode="auto">
              <a:xfrm>
                <a:off x="365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1" name="Freeform 361">
                <a:extLst>
                  <a:ext uri="{FF2B5EF4-FFF2-40B4-BE49-F238E27FC236}">
                    <a16:creationId xmlns:a16="http://schemas.microsoft.com/office/drawing/2014/main" id="{EC89D853-CEE7-4485-BD38-706266CD70FD}"/>
                  </a:ext>
                </a:extLst>
              </p:cNvPr>
              <p:cNvSpPr>
                <a:spLocks/>
              </p:cNvSpPr>
              <p:nvPr/>
            </p:nvSpPr>
            <p:spPr bwMode="auto">
              <a:xfrm>
                <a:off x="3638"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2" name="Freeform 362">
                <a:extLst>
                  <a:ext uri="{FF2B5EF4-FFF2-40B4-BE49-F238E27FC236}">
                    <a16:creationId xmlns:a16="http://schemas.microsoft.com/office/drawing/2014/main" id="{0BEA2E00-35CF-4DA7-989F-5CCA5575530A}"/>
                  </a:ext>
                </a:extLst>
              </p:cNvPr>
              <p:cNvSpPr>
                <a:spLocks/>
              </p:cNvSpPr>
              <p:nvPr/>
            </p:nvSpPr>
            <p:spPr bwMode="auto">
              <a:xfrm>
                <a:off x="3619"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3" name="Freeform 363">
                <a:extLst>
                  <a:ext uri="{FF2B5EF4-FFF2-40B4-BE49-F238E27FC236}">
                    <a16:creationId xmlns:a16="http://schemas.microsoft.com/office/drawing/2014/main" id="{65224D0B-74A2-4271-A8D0-D5A11FE93C03}"/>
                  </a:ext>
                </a:extLst>
              </p:cNvPr>
              <p:cNvSpPr>
                <a:spLocks/>
              </p:cNvSpPr>
              <p:nvPr/>
            </p:nvSpPr>
            <p:spPr bwMode="auto">
              <a:xfrm>
                <a:off x="3600"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4" name="Freeform 364">
                <a:extLst>
                  <a:ext uri="{FF2B5EF4-FFF2-40B4-BE49-F238E27FC236}">
                    <a16:creationId xmlns:a16="http://schemas.microsoft.com/office/drawing/2014/main" id="{A91B09DF-7691-4B15-8073-A79A41F6B8EE}"/>
                  </a:ext>
                </a:extLst>
              </p:cNvPr>
              <p:cNvSpPr>
                <a:spLocks/>
              </p:cNvSpPr>
              <p:nvPr/>
            </p:nvSpPr>
            <p:spPr bwMode="auto">
              <a:xfrm>
                <a:off x="358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5" name="Freeform 365">
                <a:extLst>
                  <a:ext uri="{FF2B5EF4-FFF2-40B4-BE49-F238E27FC236}">
                    <a16:creationId xmlns:a16="http://schemas.microsoft.com/office/drawing/2014/main" id="{A592419B-8514-45CB-B02A-7B6FDB18ED5C}"/>
                  </a:ext>
                </a:extLst>
              </p:cNvPr>
              <p:cNvSpPr>
                <a:spLocks/>
              </p:cNvSpPr>
              <p:nvPr/>
            </p:nvSpPr>
            <p:spPr bwMode="auto">
              <a:xfrm>
                <a:off x="356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6" name="Freeform 366">
                <a:extLst>
                  <a:ext uri="{FF2B5EF4-FFF2-40B4-BE49-F238E27FC236}">
                    <a16:creationId xmlns:a16="http://schemas.microsoft.com/office/drawing/2014/main" id="{CA24C58B-0DA6-438C-8CAC-26747D093C1D}"/>
                  </a:ext>
                </a:extLst>
              </p:cNvPr>
              <p:cNvSpPr>
                <a:spLocks/>
              </p:cNvSpPr>
              <p:nvPr/>
            </p:nvSpPr>
            <p:spPr bwMode="auto">
              <a:xfrm>
                <a:off x="354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7" name="Freeform 367">
                <a:extLst>
                  <a:ext uri="{FF2B5EF4-FFF2-40B4-BE49-F238E27FC236}">
                    <a16:creationId xmlns:a16="http://schemas.microsoft.com/office/drawing/2014/main" id="{400B2C7D-88D4-4EB4-A3FD-B8B18DA8F1D3}"/>
                  </a:ext>
                </a:extLst>
              </p:cNvPr>
              <p:cNvSpPr>
                <a:spLocks/>
              </p:cNvSpPr>
              <p:nvPr/>
            </p:nvSpPr>
            <p:spPr bwMode="auto">
              <a:xfrm>
                <a:off x="352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8" name="Freeform 368">
                <a:extLst>
                  <a:ext uri="{FF2B5EF4-FFF2-40B4-BE49-F238E27FC236}">
                    <a16:creationId xmlns:a16="http://schemas.microsoft.com/office/drawing/2014/main" id="{63093CEA-A6E0-4F0A-A19B-1B8CE09DBBA1}"/>
                  </a:ext>
                </a:extLst>
              </p:cNvPr>
              <p:cNvSpPr>
                <a:spLocks/>
              </p:cNvSpPr>
              <p:nvPr/>
            </p:nvSpPr>
            <p:spPr bwMode="auto">
              <a:xfrm>
                <a:off x="350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9" name="Freeform 369">
                <a:extLst>
                  <a:ext uri="{FF2B5EF4-FFF2-40B4-BE49-F238E27FC236}">
                    <a16:creationId xmlns:a16="http://schemas.microsoft.com/office/drawing/2014/main" id="{2931FB52-9D7A-4BDF-8AF0-59D3AE59673C}"/>
                  </a:ext>
                </a:extLst>
              </p:cNvPr>
              <p:cNvSpPr>
                <a:spLocks/>
              </p:cNvSpPr>
              <p:nvPr/>
            </p:nvSpPr>
            <p:spPr bwMode="auto">
              <a:xfrm>
                <a:off x="348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0" name="Freeform 370">
                <a:extLst>
                  <a:ext uri="{FF2B5EF4-FFF2-40B4-BE49-F238E27FC236}">
                    <a16:creationId xmlns:a16="http://schemas.microsoft.com/office/drawing/2014/main" id="{7940E3C8-E5C0-4433-B3D0-32216C710881}"/>
                  </a:ext>
                </a:extLst>
              </p:cNvPr>
              <p:cNvSpPr>
                <a:spLocks/>
              </p:cNvSpPr>
              <p:nvPr/>
            </p:nvSpPr>
            <p:spPr bwMode="auto">
              <a:xfrm>
                <a:off x="3469" y="3481"/>
                <a:ext cx="9" cy="10"/>
              </a:xfrm>
              <a:custGeom>
                <a:avLst/>
                <a:gdLst>
                  <a:gd name="T0" fmla="*/ 8 w 9"/>
                  <a:gd name="T1" fmla="*/ 9 h 10"/>
                  <a:gd name="T2" fmla="*/ 9 w 9"/>
                  <a:gd name="T3" fmla="*/ 5 h 10"/>
                  <a:gd name="T4" fmla="*/ 7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7"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1" name="Freeform 371">
                <a:extLst>
                  <a:ext uri="{FF2B5EF4-FFF2-40B4-BE49-F238E27FC236}">
                    <a16:creationId xmlns:a16="http://schemas.microsoft.com/office/drawing/2014/main" id="{D87FFCFA-2B34-434C-A5CB-9C1D11D512ED}"/>
                  </a:ext>
                </a:extLst>
              </p:cNvPr>
              <p:cNvSpPr>
                <a:spLocks/>
              </p:cNvSpPr>
              <p:nvPr/>
            </p:nvSpPr>
            <p:spPr bwMode="auto">
              <a:xfrm>
                <a:off x="3453" y="3492"/>
                <a:ext cx="10" cy="10"/>
              </a:xfrm>
              <a:custGeom>
                <a:avLst/>
                <a:gdLst>
                  <a:gd name="T0" fmla="*/ 8 w 10"/>
                  <a:gd name="T1" fmla="*/ 8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8 h 10"/>
                  <a:gd name="T16" fmla="*/ 5 w 10"/>
                  <a:gd name="T17" fmla="*/ 10 h 10"/>
                  <a:gd name="T18" fmla="*/ 8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8"/>
                    </a:moveTo>
                    <a:lnTo>
                      <a:pt x="10" y="5"/>
                    </a:lnTo>
                    <a:lnTo>
                      <a:pt x="8" y="1"/>
                    </a:lnTo>
                    <a:lnTo>
                      <a:pt x="5" y="0"/>
                    </a:lnTo>
                    <a:lnTo>
                      <a:pt x="1" y="1"/>
                    </a:lnTo>
                    <a:lnTo>
                      <a:pt x="1" y="1"/>
                    </a:lnTo>
                    <a:lnTo>
                      <a:pt x="0" y="5"/>
                    </a:lnTo>
                    <a:lnTo>
                      <a:pt x="1"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2" name="Freeform 372">
                <a:extLst>
                  <a:ext uri="{FF2B5EF4-FFF2-40B4-BE49-F238E27FC236}">
                    <a16:creationId xmlns:a16="http://schemas.microsoft.com/office/drawing/2014/main" id="{B632BB13-8ECA-43C7-8AF2-9A132A1350BC}"/>
                  </a:ext>
                </a:extLst>
              </p:cNvPr>
              <p:cNvSpPr>
                <a:spLocks/>
              </p:cNvSpPr>
              <p:nvPr/>
            </p:nvSpPr>
            <p:spPr bwMode="auto">
              <a:xfrm>
                <a:off x="3437" y="350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7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7"/>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3" name="Freeform 373">
                <a:extLst>
                  <a:ext uri="{FF2B5EF4-FFF2-40B4-BE49-F238E27FC236}">
                    <a16:creationId xmlns:a16="http://schemas.microsoft.com/office/drawing/2014/main" id="{B954334B-7583-45B2-9129-C3AE1E13A5F8}"/>
                  </a:ext>
                </a:extLst>
              </p:cNvPr>
              <p:cNvSpPr>
                <a:spLocks/>
              </p:cNvSpPr>
              <p:nvPr/>
            </p:nvSpPr>
            <p:spPr bwMode="auto">
              <a:xfrm>
                <a:off x="3422" y="3515"/>
                <a:ext cx="9" cy="9"/>
              </a:xfrm>
              <a:custGeom>
                <a:avLst/>
                <a:gdLst>
                  <a:gd name="T0" fmla="*/ 8 w 9"/>
                  <a:gd name="T1" fmla="*/ 8 h 9"/>
                  <a:gd name="T2" fmla="*/ 9 w 9"/>
                  <a:gd name="T3" fmla="*/ 5 h 9"/>
                  <a:gd name="T4" fmla="*/ 8 w 9"/>
                  <a:gd name="T5" fmla="*/ 1 h 9"/>
                  <a:gd name="T6" fmla="*/ 5 w 9"/>
                  <a:gd name="T7" fmla="*/ 0 h 9"/>
                  <a:gd name="T8" fmla="*/ 1 w 9"/>
                  <a:gd name="T9" fmla="*/ 1 h 9"/>
                  <a:gd name="T10" fmla="*/ 1 w 9"/>
                  <a:gd name="T11" fmla="*/ 1 h 9"/>
                  <a:gd name="T12" fmla="*/ 0 w 9"/>
                  <a:gd name="T13" fmla="*/ 5 h 9"/>
                  <a:gd name="T14" fmla="*/ 1 w 9"/>
                  <a:gd name="T15" fmla="*/ 8 h 9"/>
                  <a:gd name="T16" fmla="*/ 5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5"/>
                    </a:lnTo>
                    <a:lnTo>
                      <a:pt x="8" y="1"/>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4" name="Freeform 374">
                <a:extLst>
                  <a:ext uri="{FF2B5EF4-FFF2-40B4-BE49-F238E27FC236}">
                    <a16:creationId xmlns:a16="http://schemas.microsoft.com/office/drawing/2014/main" id="{D4C4772A-DA4B-4492-B9D2-BB3651B63315}"/>
                  </a:ext>
                </a:extLst>
              </p:cNvPr>
              <p:cNvSpPr>
                <a:spLocks/>
              </p:cNvSpPr>
              <p:nvPr/>
            </p:nvSpPr>
            <p:spPr bwMode="auto">
              <a:xfrm>
                <a:off x="3406" y="3526"/>
                <a:ext cx="10" cy="9"/>
              </a:xfrm>
              <a:custGeom>
                <a:avLst/>
                <a:gdLst>
                  <a:gd name="T0" fmla="*/ 9 w 10"/>
                  <a:gd name="T1" fmla="*/ 8 h 9"/>
                  <a:gd name="T2" fmla="*/ 10 w 10"/>
                  <a:gd name="T3" fmla="*/ 4 h 9"/>
                  <a:gd name="T4" fmla="*/ 9 w 10"/>
                  <a:gd name="T5" fmla="*/ 2 h 9"/>
                  <a:gd name="T6" fmla="*/ 5 w 10"/>
                  <a:gd name="T7" fmla="*/ 0 h 9"/>
                  <a:gd name="T8" fmla="*/ 1 w 10"/>
                  <a:gd name="T9" fmla="*/ 1 h 9"/>
                  <a:gd name="T10" fmla="*/ 1 w 10"/>
                  <a:gd name="T11" fmla="*/ 1 h 9"/>
                  <a:gd name="T12" fmla="*/ 0 w 10"/>
                  <a:gd name="T13" fmla="*/ 4 h 9"/>
                  <a:gd name="T14" fmla="*/ 1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4"/>
                    </a:lnTo>
                    <a:lnTo>
                      <a:pt x="9" y="2"/>
                    </a:lnTo>
                    <a:lnTo>
                      <a:pt x="5" y="0"/>
                    </a:lnTo>
                    <a:lnTo>
                      <a:pt x="1" y="1"/>
                    </a:lnTo>
                    <a:lnTo>
                      <a:pt x="1" y="1"/>
                    </a:lnTo>
                    <a:lnTo>
                      <a:pt x="0" y="4"/>
                    </a:lnTo>
                    <a:lnTo>
                      <a:pt x="1"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5" name="Freeform 375">
                <a:extLst>
                  <a:ext uri="{FF2B5EF4-FFF2-40B4-BE49-F238E27FC236}">
                    <a16:creationId xmlns:a16="http://schemas.microsoft.com/office/drawing/2014/main" id="{4161BFAB-259F-4426-8D84-9F3336438ECD}"/>
                  </a:ext>
                </a:extLst>
              </p:cNvPr>
              <p:cNvSpPr>
                <a:spLocks/>
              </p:cNvSpPr>
              <p:nvPr/>
            </p:nvSpPr>
            <p:spPr bwMode="auto">
              <a:xfrm>
                <a:off x="3391" y="3538"/>
                <a:ext cx="9" cy="9"/>
              </a:xfrm>
              <a:custGeom>
                <a:avLst/>
                <a:gdLst>
                  <a:gd name="T0" fmla="*/ 8 w 9"/>
                  <a:gd name="T1" fmla="*/ 8 h 9"/>
                  <a:gd name="T2" fmla="*/ 9 w 9"/>
                  <a:gd name="T3" fmla="*/ 4 h 9"/>
                  <a:gd name="T4" fmla="*/ 8 w 9"/>
                  <a:gd name="T5" fmla="*/ 1 h 9"/>
                  <a:gd name="T6" fmla="*/ 4 w 9"/>
                  <a:gd name="T7" fmla="*/ 0 h 9"/>
                  <a:gd name="T8" fmla="*/ 1 w 9"/>
                  <a:gd name="T9" fmla="*/ 1 h 9"/>
                  <a:gd name="T10" fmla="*/ 1 w 9"/>
                  <a:gd name="T11" fmla="*/ 1 h 9"/>
                  <a:gd name="T12" fmla="*/ 0 w 9"/>
                  <a:gd name="T13" fmla="*/ 4 h 9"/>
                  <a:gd name="T14" fmla="*/ 1 w 9"/>
                  <a:gd name="T15" fmla="*/ 8 h 9"/>
                  <a:gd name="T16" fmla="*/ 4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4"/>
                    </a:lnTo>
                    <a:lnTo>
                      <a:pt x="8" y="1"/>
                    </a:lnTo>
                    <a:lnTo>
                      <a:pt x="4" y="0"/>
                    </a:lnTo>
                    <a:lnTo>
                      <a:pt x="1" y="1"/>
                    </a:lnTo>
                    <a:lnTo>
                      <a:pt x="1" y="1"/>
                    </a:lnTo>
                    <a:lnTo>
                      <a:pt x="0" y="4"/>
                    </a:lnTo>
                    <a:lnTo>
                      <a:pt x="1" y="8"/>
                    </a:lnTo>
                    <a:lnTo>
                      <a:pt x="4"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6" name="Freeform 376">
                <a:extLst>
                  <a:ext uri="{FF2B5EF4-FFF2-40B4-BE49-F238E27FC236}">
                    <a16:creationId xmlns:a16="http://schemas.microsoft.com/office/drawing/2014/main" id="{298F09C2-B4FE-4B7C-983C-F39687B366A0}"/>
                  </a:ext>
                </a:extLst>
              </p:cNvPr>
              <p:cNvSpPr>
                <a:spLocks/>
              </p:cNvSpPr>
              <p:nvPr/>
            </p:nvSpPr>
            <p:spPr bwMode="auto">
              <a:xfrm>
                <a:off x="3375" y="3548"/>
                <a:ext cx="10" cy="10"/>
              </a:xfrm>
              <a:custGeom>
                <a:avLst/>
                <a:gdLst>
                  <a:gd name="T0" fmla="*/ 8 w 10"/>
                  <a:gd name="T1" fmla="*/ 9 h 10"/>
                  <a:gd name="T2" fmla="*/ 10 w 10"/>
                  <a:gd name="T3" fmla="*/ 5 h 10"/>
                  <a:gd name="T4" fmla="*/ 8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2"/>
                    </a:lnTo>
                    <a:lnTo>
                      <a:pt x="5" y="0"/>
                    </a:lnTo>
                    <a:lnTo>
                      <a:pt x="1" y="2"/>
                    </a:lnTo>
                    <a:lnTo>
                      <a:pt x="1" y="2"/>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7" name="Freeform 377">
                <a:extLst>
                  <a:ext uri="{FF2B5EF4-FFF2-40B4-BE49-F238E27FC236}">
                    <a16:creationId xmlns:a16="http://schemas.microsoft.com/office/drawing/2014/main" id="{41BA7837-03B2-461B-AAE8-24F5844D101A}"/>
                  </a:ext>
                </a:extLst>
              </p:cNvPr>
              <p:cNvSpPr>
                <a:spLocks/>
              </p:cNvSpPr>
              <p:nvPr/>
            </p:nvSpPr>
            <p:spPr bwMode="auto">
              <a:xfrm>
                <a:off x="3359" y="3560"/>
                <a:ext cx="10" cy="10"/>
              </a:xfrm>
              <a:custGeom>
                <a:avLst/>
                <a:gdLst>
                  <a:gd name="T0" fmla="*/ 9 w 10"/>
                  <a:gd name="T1" fmla="*/ 9 h 10"/>
                  <a:gd name="T2" fmla="*/ 10 w 10"/>
                  <a:gd name="T3" fmla="*/ 5 h 10"/>
                  <a:gd name="T4" fmla="*/ 9 w 10"/>
                  <a:gd name="T5" fmla="*/ 2 h 10"/>
                  <a:gd name="T6" fmla="*/ 5 w 10"/>
                  <a:gd name="T7" fmla="*/ 0 h 10"/>
                  <a:gd name="T8" fmla="*/ 2 w 10"/>
                  <a:gd name="T9" fmla="*/ 2 h 10"/>
                  <a:gd name="T10" fmla="*/ 2 w 10"/>
                  <a:gd name="T11" fmla="*/ 2 h 10"/>
                  <a:gd name="T12" fmla="*/ 0 w 10"/>
                  <a:gd name="T13" fmla="*/ 5 h 10"/>
                  <a:gd name="T14" fmla="*/ 2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2" y="2"/>
                    </a:lnTo>
                    <a:lnTo>
                      <a:pt x="2" y="2"/>
                    </a:lnTo>
                    <a:lnTo>
                      <a:pt x="0" y="5"/>
                    </a:lnTo>
                    <a:lnTo>
                      <a:pt x="2"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8" name="Freeform 378">
                <a:extLst>
                  <a:ext uri="{FF2B5EF4-FFF2-40B4-BE49-F238E27FC236}">
                    <a16:creationId xmlns:a16="http://schemas.microsoft.com/office/drawing/2014/main" id="{ECFC4DDA-C251-46E8-B8F4-CAFDF1A84319}"/>
                  </a:ext>
                </a:extLst>
              </p:cNvPr>
              <p:cNvSpPr>
                <a:spLocks/>
              </p:cNvSpPr>
              <p:nvPr/>
            </p:nvSpPr>
            <p:spPr bwMode="auto">
              <a:xfrm>
                <a:off x="3344" y="3571"/>
                <a:ext cx="9" cy="10"/>
              </a:xfrm>
              <a:custGeom>
                <a:avLst/>
                <a:gdLst>
                  <a:gd name="T0" fmla="*/ 8 w 9"/>
                  <a:gd name="T1" fmla="*/ 9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1 w 9"/>
                  <a:gd name="T15" fmla="*/ 9 h 10"/>
                  <a:gd name="T16" fmla="*/ 5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9" name="Freeform 379">
                <a:extLst>
                  <a:ext uri="{FF2B5EF4-FFF2-40B4-BE49-F238E27FC236}">
                    <a16:creationId xmlns:a16="http://schemas.microsoft.com/office/drawing/2014/main" id="{3BCC90BF-ECB2-4909-8523-C21281B222A5}"/>
                  </a:ext>
                </a:extLst>
              </p:cNvPr>
              <p:cNvSpPr>
                <a:spLocks/>
              </p:cNvSpPr>
              <p:nvPr/>
            </p:nvSpPr>
            <p:spPr bwMode="auto">
              <a:xfrm>
                <a:off x="3328" y="3583"/>
                <a:ext cx="10" cy="10"/>
              </a:xfrm>
              <a:custGeom>
                <a:avLst/>
                <a:gdLst>
                  <a:gd name="T0" fmla="*/ 9 w 10"/>
                  <a:gd name="T1" fmla="*/ 9 h 10"/>
                  <a:gd name="T2" fmla="*/ 10 w 10"/>
                  <a:gd name="T3" fmla="*/ 5 h 10"/>
                  <a:gd name="T4" fmla="*/ 9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1" y="1"/>
                    </a:lnTo>
                    <a:lnTo>
                      <a:pt x="1" y="1"/>
                    </a:lnTo>
                    <a:lnTo>
                      <a:pt x="0" y="5"/>
                    </a:lnTo>
                    <a:lnTo>
                      <a:pt x="1" y="7"/>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0" name="Freeform 380">
                <a:extLst>
                  <a:ext uri="{FF2B5EF4-FFF2-40B4-BE49-F238E27FC236}">
                    <a16:creationId xmlns:a16="http://schemas.microsoft.com/office/drawing/2014/main" id="{0687B676-6BBB-4100-9E81-A33D856A2CF3}"/>
                  </a:ext>
                </a:extLst>
              </p:cNvPr>
              <p:cNvSpPr>
                <a:spLocks/>
              </p:cNvSpPr>
              <p:nvPr/>
            </p:nvSpPr>
            <p:spPr bwMode="auto">
              <a:xfrm>
                <a:off x="3313" y="3594"/>
                <a:ext cx="9" cy="10"/>
              </a:xfrm>
              <a:custGeom>
                <a:avLst/>
                <a:gdLst>
                  <a:gd name="T0" fmla="*/ 8 w 9"/>
                  <a:gd name="T1" fmla="*/ 8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8 h 10"/>
                  <a:gd name="T16" fmla="*/ 4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4" y="0"/>
                    </a:lnTo>
                    <a:lnTo>
                      <a:pt x="1" y="1"/>
                    </a:lnTo>
                    <a:lnTo>
                      <a:pt x="1" y="1"/>
                    </a:lnTo>
                    <a:lnTo>
                      <a:pt x="0" y="5"/>
                    </a:lnTo>
                    <a:lnTo>
                      <a:pt x="1" y="8"/>
                    </a:lnTo>
                    <a:lnTo>
                      <a:pt x="4"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1" name="Freeform 381">
                <a:extLst>
                  <a:ext uri="{FF2B5EF4-FFF2-40B4-BE49-F238E27FC236}">
                    <a16:creationId xmlns:a16="http://schemas.microsoft.com/office/drawing/2014/main" id="{EEFED190-416E-495F-9802-68A0AB53390F}"/>
                  </a:ext>
                </a:extLst>
              </p:cNvPr>
              <p:cNvSpPr>
                <a:spLocks/>
              </p:cNvSpPr>
              <p:nvPr/>
            </p:nvSpPr>
            <p:spPr bwMode="auto">
              <a:xfrm>
                <a:off x="3297" y="3605"/>
                <a:ext cx="10" cy="9"/>
              </a:xfrm>
              <a:custGeom>
                <a:avLst/>
                <a:gdLst>
                  <a:gd name="T0" fmla="*/ 8 w 10"/>
                  <a:gd name="T1" fmla="*/ 8 h 9"/>
                  <a:gd name="T2" fmla="*/ 10 w 10"/>
                  <a:gd name="T3" fmla="*/ 5 h 9"/>
                  <a:gd name="T4" fmla="*/ 8 w 10"/>
                  <a:gd name="T5" fmla="*/ 2 h 9"/>
                  <a:gd name="T6" fmla="*/ 5 w 10"/>
                  <a:gd name="T7" fmla="*/ 0 h 9"/>
                  <a:gd name="T8" fmla="*/ 1 w 10"/>
                  <a:gd name="T9" fmla="*/ 1 h 9"/>
                  <a:gd name="T10" fmla="*/ 1 w 10"/>
                  <a:gd name="T11" fmla="*/ 1 h 9"/>
                  <a:gd name="T12" fmla="*/ 0 w 10"/>
                  <a:gd name="T13" fmla="*/ 5 h 9"/>
                  <a:gd name="T14" fmla="*/ 1 w 10"/>
                  <a:gd name="T15" fmla="*/ 8 h 9"/>
                  <a:gd name="T16" fmla="*/ 5 w 10"/>
                  <a:gd name="T17" fmla="*/ 9 h 9"/>
                  <a:gd name="T18" fmla="*/ 8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8" y="8"/>
                    </a:moveTo>
                    <a:lnTo>
                      <a:pt x="10" y="5"/>
                    </a:lnTo>
                    <a:lnTo>
                      <a:pt x="8" y="2"/>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2" name="Freeform 382">
                <a:extLst>
                  <a:ext uri="{FF2B5EF4-FFF2-40B4-BE49-F238E27FC236}">
                    <a16:creationId xmlns:a16="http://schemas.microsoft.com/office/drawing/2014/main" id="{6031187A-7989-4784-9BC9-32AE0886B425}"/>
                  </a:ext>
                </a:extLst>
              </p:cNvPr>
              <p:cNvSpPr>
                <a:spLocks/>
              </p:cNvSpPr>
              <p:nvPr/>
            </p:nvSpPr>
            <p:spPr bwMode="auto">
              <a:xfrm>
                <a:off x="3281" y="3617"/>
                <a:ext cx="10" cy="9"/>
              </a:xfrm>
              <a:custGeom>
                <a:avLst/>
                <a:gdLst>
                  <a:gd name="T0" fmla="*/ 9 w 10"/>
                  <a:gd name="T1" fmla="*/ 8 h 9"/>
                  <a:gd name="T2" fmla="*/ 10 w 10"/>
                  <a:gd name="T3" fmla="*/ 5 h 9"/>
                  <a:gd name="T4" fmla="*/ 9 w 10"/>
                  <a:gd name="T5" fmla="*/ 1 h 9"/>
                  <a:gd name="T6" fmla="*/ 5 w 10"/>
                  <a:gd name="T7" fmla="*/ 0 h 9"/>
                  <a:gd name="T8" fmla="*/ 2 w 10"/>
                  <a:gd name="T9" fmla="*/ 1 h 9"/>
                  <a:gd name="T10" fmla="*/ 2 w 10"/>
                  <a:gd name="T11" fmla="*/ 1 h 9"/>
                  <a:gd name="T12" fmla="*/ 0 w 10"/>
                  <a:gd name="T13" fmla="*/ 5 h 9"/>
                  <a:gd name="T14" fmla="*/ 2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5"/>
                    </a:lnTo>
                    <a:lnTo>
                      <a:pt x="9" y="1"/>
                    </a:lnTo>
                    <a:lnTo>
                      <a:pt x="5" y="0"/>
                    </a:lnTo>
                    <a:lnTo>
                      <a:pt x="2" y="1"/>
                    </a:lnTo>
                    <a:lnTo>
                      <a:pt x="2" y="1"/>
                    </a:lnTo>
                    <a:lnTo>
                      <a:pt x="0" y="5"/>
                    </a:lnTo>
                    <a:lnTo>
                      <a:pt x="2"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33" name="Group 383">
              <a:extLst>
                <a:ext uri="{FF2B5EF4-FFF2-40B4-BE49-F238E27FC236}">
                  <a16:creationId xmlns:a16="http://schemas.microsoft.com/office/drawing/2014/main" id="{17208B54-AF14-4F87-859F-92A180F3836A}"/>
                </a:ext>
              </a:extLst>
            </p:cNvPr>
            <p:cNvGrpSpPr>
              <a:grpSpLocks/>
            </p:cNvGrpSpPr>
            <p:nvPr/>
          </p:nvGrpSpPr>
          <p:grpSpPr bwMode="auto">
            <a:xfrm>
              <a:off x="4160" y="3474"/>
              <a:ext cx="198" cy="535"/>
              <a:chOff x="4160" y="3474"/>
              <a:chExt cx="198" cy="535"/>
            </a:xfrm>
          </p:grpSpPr>
          <p:sp>
            <p:nvSpPr>
              <p:cNvPr id="229" name="Freeform 384">
                <a:extLst>
                  <a:ext uri="{FF2B5EF4-FFF2-40B4-BE49-F238E27FC236}">
                    <a16:creationId xmlns:a16="http://schemas.microsoft.com/office/drawing/2014/main" id="{27517CCE-22AB-487A-86B4-C31AC4592357}"/>
                  </a:ext>
                </a:extLst>
              </p:cNvPr>
              <p:cNvSpPr>
                <a:spLocks/>
              </p:cNvSpPr>
              <p:nvPr/>
            </p:nvSpPr>
            <p:spPr bwMode="auto">
              <a:xfrm>
                <a:off x="4165" y="3478"/>
                <a:ext cx="188" cy="531"/>
              </a:xfrm>
              <a:custGeom>
                <a:avLst/>
                <a:gdLst>
                  <a:gd name="T0" fmla="*/ 0 w 188"/>
                  <a:gd name="T1" fmla="*/ 156 h 531"/>
                  <a:gd name="T2" fmla="*/ 0 w 188"/>
                  <a:gd name="T3" fmla="*/ 531 h 531"/>
                  <a:gd name="T4" fmla="*/ 188 w 188"/>
                  <a:gd name="T5" fmla="*/ 313 h 531"/>
                  <a:gd name="T6" fmla="*/ 188 w 188"/>
                  <a:gd name="T7" fmla="*/ 0 h 531"/>
                  <a:gd name="T8" fmla="*/ 0 w 188"/>
                  <a:gd name="T9" fmla="*/ 156 h 531"/>
                </a:gdLst>
                <a:ahLst/>
                <a:cxnLst>
                  <a:cxn ang="0">
                    <a:pos x="T0" y="T1"/>
                  </a:cxn>
                  <a:cxn ang="0">
                    <a:pos x="T2" y="T3"/>
                  </a:cxn>
                  <a:cxn ang="0">
                    <a:pos x="T4" y="T5"/>
                  </a:cxn>
                  <a:cxn ang="0">
                    <a:pos x="T6" y="T7"/>
                  </a:cxn>
                  <a:cxn ang="0">
                    <a:pos x="T8" y="T9"/>
                  </a:cxn>
                </a:cxnLst>
                <a:rect l="0" t="0" r="r" b="b"/>
                <a:pathLst>
                  <a:path w="188" h="531">
                    <a:moveTo>
                      <a:pt x="0" y="156"/>
                    </a:moveTo>
                    <a:lnTo>
                      <a:pt x="0" y="531"/>
                    </a:lnTo>
                    <a:lnTo>
                      <a:pt x="188" y="313"/>
                    </a:lnTo>
                    <a:lnTo>
                      <a:pt x="188" y="0"/>
                    </a:lnTo>
                    <a:lnTo>
                      <a:pt x="0" y="156"/>
                    </a:lnTo>
                    <a:close/>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0" name="Freeform 385">
                <a:extLst>
                  <a:ext uri="{FF2B5EF4-FFF2-40B4-BE49-F238E27FC236}">
                    <a16:creationId xmlns:a16="http://schemas.microsoft.com/office/drawing/2014/main" id="{C25D15DC-AD78-4355-98F9-BF0D3500CB1E}"/>
                  </a:ext>
                </a:extLst>
              </p:cNvPr>
              <p:cNvSpPr>
                <a:spLocks/>
              </p:cNvSpPr>
              <p:nvPr/>
            </p:nvSpPr>
            <p:spPr bwMode="auto">
              <a:xfrm>
                <a:off x="4160" y="3629"/>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1" name="Freeform 386">
                <a:extLst>
                  <a:ext uri="{FF2B5EF4-FFF2-40B4-BE49-F238E27FC236}">
                    <a16:creationId xmlns:a16="http://schemas.microsoft.com/office/drawing/2014/main" id="{091343A8-F94D-4DA2-BCDE-899A16F3B6B6}"/>
                  </a:ext>
                </a:extLst>
              </p:cNvPr>
              <p:cNvSpPr>
                <a:spLocks/>
              </p:cNvSpPr>
              <p:nvPr/>
            </p:nvSpPr>
            <p:spPr bwMode="auto">
              <a:xfrm>
                <a:off x="4160" y="3648"/>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2" name="Freeform 387">
                <a:extLst>
                  <a:ext uri="{FF2B5EF4-FFF2-40B4-BE49-F238E27FC236}">
                    <a16:creationId xmlns:a16="http://schemas.microsoft.com/office/drawing/2014/main" id="{F097F6AB-E3CE-499F-89FE-41D726CD8EAE}"/>
                  </a:ext>
                </a:extLst>
              </p:cNvPr>
              <p:cNvSpPr>
                <a:spLocks/>
              </p:cNvSpPr>
              <p:nvPr/>
            </p:nvSpPr>
            <p:spPr bwMode="auto">
              <a:xfrm>
                <a:off x="4160" y="366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3" name="Freeform 388">
                <a:extLst>
                  <a:ext uri="{FF2B5EF4-FFF2-40B4-BE49-F238E27FC236}">
                    <a16:creationId xmlns:a16="http://schemas.microsoft.com/office/drawing/2014/main" id="{3D4DBAD1-143A-489D-8568-CEA68F319B2A}"/>
                  </a:ext>
                </a:extLst>
              </p:cNvPr>
              <p:cNvSpPr>
                <a:spLocks/>
              </p:cNvSpPr>
              <p:nvPr/>
            </p:nvSpPr>
            <p:spPr bwMode="auto">
              <a:xfrm>
                <a:off x="4160" y="3686"/>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4" name="Freeform 389">
                <a:extLst>
                  <a:ext uri="{FF2B5EF4-FFF2-40B4-BE49-F238E27FC236}">
                    <a16:creationId xmlns:a16="http://schemas.microsoft.com/office/drawing/2014/main" id="{6DE715DF-A9E3-4B39-8EEA-D2E24D33503A}"/>
                  </a:ext>
                </a:extLst>
              </p:cNvPr>
              <p:cNvSpPr>
                <a:spLocks/>
              </p:cNvSpPr>
              <p:nvPr/>
            </p:nvSpPr>
            <p:spPr bwMode="auto">
              <a:xfrm>
                <a:off x="4160" y="3706"/>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5" name="Freeform 390">
                <a:extLst>
                  <a:ext uri="{FF2B5EF4-FFF2-40B4-BE49-F238E27FC236}">
                    <a16:creationId xmlns:a16="http://schemas.microsoft.com/office/drawing/2014/main" id="{8EE3E67D-7CA4-47CE-8A6E-D14BBFC9FB56}"/>
                  </a:ext>
                </a:extLst>
              </p:cNvPr>
              <p:cNvSpPr>
                <a:spLocks/>
              </p:cNvSpPr>
              <p:nvPr/>
            </p:nvSpPr>
            <p:spPr bwMode="auto">
              <a:xfrm>
                <a:off x="4160" y="3725"/>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6" name="Freeform 391">
                <a:extLst>
                  <a:ext uri="{FF2B5EF4-FFF2-40B4-BE49-F238E27FC236}">
                    <a16:creationId xmlns:a16="http://schemas.microsoft.com/office/drawing/2014/main" id="{C2C21B41-29FC-419F-99CC-B6EF23FDC809}"/>
                  </a:ext>
                </a:extLst>
              </p:cNvPr>
              <p:cNvSpPr>
                <a:spLocks/>
              </p:cNvSpPr>
              <p:nvPr/>
            </p:nvSpPr>
            <p:spPr bwMode="auto">
              <a:xfrm>
                <a:off x="4160" y="3744"/>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7" name="Freeform 392">
                <a:extLst>
                  <a:ext uri="{FF2B5EF4-FFF2-40B4-BE49-F238E27FC236}">
                    <a16:creationId xmlns:a16="http://schemas.microsoft.com/office/drawing/2014/main" id="{10D7CC1C-9FE0-4A29-8CE0-38B2D2A0C5EC}"/>
                  </a:ext>
                </a:extLst>
              </p:cNvPr>
              <p:cNvSpPr>
                <a:spLocks/>
              </p:cNvSpPr>
              <p:nvPr/>
            </p:nvSpPr>
            <p:spPr bwMode="auto">
              <a:xfrm>
                <a:off x="4160" y="3763"/>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8" name="Freeform 393">
                <a:extLst>
                  <a:ext uri="{FF2B5EF4-FFF2-40B4-BE49-F238E27FC236}">
                    <a16:creationId xmlns:a16="http://schemas.microsoft.com/office/drawing/2014/main" id="{F744AC11-8BE2-446B-9AFC-5613F7728162}"/>
                  </a:ext>
                </a:extLst>
              </p:cNvPr>
              <p:cNvSpPr>
                <a:spLocks/>
              </p:cNvSpPr>
              <p:nvPr/>
            </p:nvSpPr>
            <p:spPr bwMode="auto">
              <a:xfrm>
                <a:off x="4160" y="3782"/>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9" name="Freeform 394">
                <a:extLst>
                  <a:ext uri="{FF2B5EF4-FFF2-40B4-BE49-F238E27FC236}">
                    <a16:creationId xmlns:a16="http://schemas.microsoft.com/office/drawing/2014/main" id="{7840B148-19E6-48D2-81C9-DAF652092D6D}"/>
                  </a:ext>
                </a:extLst>
              </p:cNvPr>
              <p:cNvSpPr>
                <a:spLocks/>
              </p:cNvSpPr>
              <p:nvPr/>
            </p:nvSpPr>
            <p:spPr bwMode="auto">
              <a:xfrm>
                <a:off x="4160" y="3802"/>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0" name="Freeform 395">
                <a:extLst>
                  <a:ext uri="{FF2B5EF4-FFF2-40B4-BE49-F238E27FC236}">
                    <a16:creationId xmlns:a16="http://schemas.microsoft.com/office/drawing/2014/main" id="{43C7388E-21D4-4E26-A793-6F8A421C26FE}"/>
                  </a:ext>
                </a:extLst>
              </p:cNvPr>
              <p:cNvSpPr>
                <a:spLocks/>
              </p:cNvSpPr>
              <p:nvPr/>
            </p:nvSpPr>
            <p:spPr bwMode="auto">
              <a:xfrm>
                <a:off x="4160" y="3821"/>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1" name="Freeform 396">
                <a:extLst>
                  <a:ext uri="{FF2B5EF4-FFF2-40B4-BE49-F238E27FC236}">
                    <a16:creationId xmlns:a16="http://schemas.microsoft.com/office/drawing/2014/main" id="{298462BC-B0A7-4F50-95E0-2C57E5A1C183}"/>
                  </a:ext>
                </a:extLst>
              </p:cNvPr>
              <p:cNvSpPr>
                <a:spLocks/>
              </p:cNvSpPr>
              <p:nvPr/>
            </p:nvSpPr>
            <p:spPr bwMode="auto">
              <a:xfrm>
                <a:off x="4160" y="3840"/>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2" name="Freeform 397">
                <a:extLst>
                  <a:ext uri="{FF2B5EF4-FFF2-40B4-BE49-F238E27FC236}">
                    <a16:creationId xmlns:a16="http://schemas.microsoft.com/office/drawing/2014/main" id="{8A09779A-AB2B-42F4-B305-88FDA94566B4}"/>
                  </a:ext>
                </a:extLst>
              </p:cNvPr>
              <p:cNvSpPr>
                <a:spLocks/>
              </p:cNvSpPr>
              <p:nvPr/>
            </p:nvSpPr>
            <p:spPr bwMode="auto">
              <a:xfrm>
                <a:off x="4160" y="3859"/>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3" name="Freeform 398">
                <a:extLst>
                  <a:ext uri="{FF2B5EF4-FFF2-40B4-BE49-F238E27FC236}">
                    <a16:creationId xmlns:a16="http://schemas.microsoft.com/office/drawing/2014/main" id="{8B07C003-DB79-402C-A949-B2F5DE578B49}"/>
                  </a:ext>
                </a:extLst>
              </p:cNvPr>
              <p:cNvSpPr>
                <a:spLocks/>
              </p:cNvSpPr>
              <p:nvPr/>
            </p:nvSpPr>
            <p:spPr bwMode="auto">
              <a:xfrm>
                <a:off x="4160" y="3879"/>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4" name="Freeform 399">
                <a:extLst>
                  <a:ext uri="{FF2B5EF4-FFF2-40B4-BE49-F238E27FC236}">
                    <a16:creationId xmlns:a16="http://schemas.microsoft.com/office/drawing/2014/main" id="{ECA121DC-DFD5-4E0B-8964-D1E281084665}"/>
                  </a:ext>
                </a:extLst>
              </p:cNvPr>
              <p:cNvSpPr>
                <a:spLocks/>
              </p:cNvSpPr>
              <p:nvPr/>
            </p:nvSpPr>
            <p:spPr bwMode="auto">
              <a:xfrm>
                <a:off x="4160" y="3898"/>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5" name="Freeform 400">
                <a:extLst>
                  <a:ext uri="{FF2B5EF4-FFF2-40B4-BE49-F238E27FC236}">
                    <a16:creationId xmlns:a16="http://schemas.microsoft.com/office/drawing/2014/main" id="{F688BC82-64C7-4845-9A50-B65A8943C15C}"/>
                  </a:ext>
                </a:extLst>
              </p:cNvPr>
              <p:cNvSpPr>
                <a:spLocks/>
              </p:cNvSpPr>
              <p:nvPr/>
            </p:nvSpPr>
            <p:spPr bwMode="auto">
              <a:xfrm>
                <a:off x="4160" y="391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6" name="Freeform 401">
                <a:extLst>
                  <a:ext uri="{FF2B5EF4-FFF2-40B4-BE49-F238E27FC236}">
                    <a16:creationId xmlns:a16="http://schemas.microsoft.com/office/drawing/2014/main" id="{A9F80147-2591-434B-AA0B-94A598191675}"/>
                  </a:ext>
                </a:extLst>
              </p:cNvPr>
              <p:cNvSpPr>
                <a:spLocks/>
              </p:cNvSpPr>
              <p:nvPr/>
            </p:nvSpPr>
            <p:spPr bwMode="auto">
              <a:xfrm>
                <a:off x="4160" y="3936"/>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7" name="Freeform 402">
                <a:extLst>
                  <a:ext uri="{FF2B5EF4-FFF2-40B4-BE49-F238E27FC236}">
                    <a16:creationId xmlns:a16="http://schemas.microsoft.com/office/drawing/2014/main" id="{00D8A429-AE50-401C-9203-C83FEBEAA234}"/>
                  </a:ext>
                </a:extLst>
              </p:cNvPr>
              <p:cNvSpPr>
                <a:spLocks/>
              </p:cNvSpPr>
              <p:nvPr/>
            </p:nvSpPr>
            <p:spPr bwMode="auto">
              <a:xfrm>
                <a:off x="4160" y="3955"/>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8" name="Freeform 403">
                <a:extLst>
                  <a:ext uri="{FF2B5EF4-FFF2-40B4-BE49-F238E27FC236}">
                    <a16:creationId xmlns:a16="http://schemas.microsoft.com/office/drawing/2014/main" id="{5BBFA491-E323-449B-AA79-CB653504AE50}"/>
                  </a:ext>
                </a:extLst>
              </p:cNvPr>
              <p:cNvSpPr>
                <a:spLocks/>
              </p:cNvSpPr>
              <p:nvPr/>
            </p:nvSpPr>
            <p:spPr bwMode="auto">
              <a:xfrm>
                <a:off x="4160" y="3975"/>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9" name="Freeform 404">
                <a:extLst>
                  <a:ext uri="{FF2B5EF4-FFF2-40B4-BE49-F238E27FC236}">
                    <a16:creationId xmlns:a16="http://schemas.microsoft.com/office/drawing/2014/main" id="{4358554D-652E-4172-B46C-D1DBC14F24C5}"/>
                  </a:ext>
                </a:extLst>
              </p:cNvPr>
              <p:cNvSpPr>
                <a:spLocks/>
              </p:cNvSpPr>
              <p:nvPr/>
            </p:nvSpPr>
            <p:spPr bwMode="auto">
              <a:xfrm>
                <a:off x="4160" y="3994"/>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0" name="Freeform 405">
                <a:extLst>
                  <a:ext uri="{FF2B5EF4-FFF2-40B4-BE49-F238E27FC236}">
                    <a16:creationId xmlns:a16="http://schemas.microsoft.com/office/drawing/2014/main" id="{7A2322B6-5657-4574-8465-76635F66B7E9}"/>
                  </a:ext>
                </a:extLst>
              </p:cNvPr>
              <p:cNvSpPr>
                <a:spLocks/>
              </p:cNvSpPr>
              <p:nvPr/>
            </p:nvSpPr>
            <p:spPr bwMode="auto">
              <a:xfrm>
                <a:off x="4166" y="3999"/>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1" name="Freeform 406">
                <a:extLst>
                  <a:ext uri="{FF2B5EF4-FFF2-40B4-BE49-F238E27FC236}">
                    <a16:creationId xmlns:a16="http://schemas.microsoft.com/office/drawing/2014/main" id="{430CAFF4-EC03-4B29-966B-85F02B431C5E}"/>
                  </a:ext>
                </a:extLst>
              </p:cNvPr>
              <p:cNvSpPr>
                <a:spLocks/>
              </p:cNvSpPr>
              <p:nvPr/>
            </p:nvSpPr>
            <p:spPr bwMode="auto">
              <a:xfrm>
                <a:off x="4178" y="3984"/>
                <a:ext cx="10" cy="10"/>
              </a:xfrm>
              <a:custGeom>
                <a:avLst/>
                <a:gdLst>
                  <a:gd name="T0" fmla="*/ 1 w 10"/>
                  <a:gd name="T1" fmla="*/ 1 h 10"/>
                  <a:gd name="T2" fmla="*/ 0 w 10"/>
                  <a:gd name="T3" fmla="*/ 5 h 10"/>
                  <a:gd name="T4" fmla="*/ 1 w 10"/>
                  <a:gd name="T5" fmla="*/ 7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9"/>
                    </a:lnTo>
                    <a:lnTo>
                      <a:pt x="9" y="9"/>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2" name="Freeform 407">
                <a:extLst>
                  <a:ext uri="{FF2B5EF4-FFF2-40B4-BE49-F238E27FC236}">
                    <a16:creationId xmlns:a16="http://schemas.microsoft.com/office/drawing/2014/main" id="{2B381CEA-FA98-45E1-9741-ED936F11768A}"/>
                  </a:ext>
                </a:extLst>
              </p:cNvPr>
              <p:cNvSpPr>
                <a:spLocks/>
              </p:cNvSpPr>
              <p:nvPr/>
            </p:nvSpPr>
            <p:spPr bwMode="auto">
              <a:xfrm>
                <a:off x="4190" y="3969"/>
                <a:ext cx="10" cy="9"/>
              </a:xfrm>
              <a:custGeom>
                <a:avLst/>
                <a:gdLst>
                  <a:gd name="T0" fmla="*/ 1 w 10"/>
                  <a:gd name="T1" fmla="*/ 1 h 9"/>
                  <a:gd name="T2" fmla="*/ 0 w 10"/>
                  <a:gd name="T3" fmla="*/ 4 h 9"/>
                  <a:gd name="T4" fmla="*/ 3 w 10"/>
                  <a:gd name="T5" fmla="*/ 8 h 9"/>
                  <a:gd name="T6" fmla="*/ 5 w 10"/>
                  <a:gd name="T7" fmla="*/ 9 h 9"/>
                  <a:gd name="T8" fmla="*/ 9 w 10"/>
                  <a:gd name="T9" fmla="*/ 8 h 9"/>
                  <a:gd name="T10" fmla="*/ 9 w 10"/>
                  <a:gd name="T11" fmla="*/ 8 h 9"/>
                  <a:gd name="T12" fmla="*/ 10 w 10"/>
                  <a:gd name="T13" fmla="*/ 4 h 9"/>
                  <a:gd name="T14" fmla="*/ 9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3" y="8"/>
                    </a:lnTo>
                    <a:lnTo>
                      <a:pt x="5" y="9"/>
                    </a:lnTo>
                    <a:lnTo>
                      <a:pt x="9" y="8"/>
                    </a:lnTo>
                    <a:lnTo>
                      <a:pt x="9" y="8"/>
                    </a:lnTo>
                    <a:lnTo>
                      <a:pt x="10" y="4"/>
                    </a:lnTo>
                    <a:lnTo>
                      <a:pt x="9"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3" name="Freeform 408">
                <a:extLst>
                  <a:ext uri="{FF2B5EF4-FFF2-40B4-BE49-F238E27FC236}">
                    <a16:creationId xmlns:a16="http://schemas.microsoft.com/office/drawing/2014/main" id="{20E651F1-1D53-447C-9E20-6065C868305C}"/>
                  </a:ext>
                </a:extLst>
              </p:cNvPr>
              <p:cNvSpPr>
                <a:spLocks/>
              </p:cNvSpPr>
              <p:nvPr/>
            </p:nvSpPr>
            <p:spPr bwMode="auto">
              <a:xfrm>
                <a:off x="4203" y="3954"/>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3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3"/>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4" name="Freeform 409">
                <a:extLst>
                  <a:ext uri="{FF2B5EF4-FFF2-40B4-BE49-F238E27FC236}">
                    <a16:creationId xmlns:a16="http://schemas.microsoft.com/office/drawing/2014/main" id="{1C0BE4AD-5D35-47E0-B997-659CEEA8944F}"/>
                  </a:ext>
                </a:extLst>
              </p:cNvPr>
              <p:cNvSpPr>
                <a:spLocks/>
              </p:cNvSpPr>
              <p:nvPr/>
            </p:nvSpPr>
            <p:spPr bwMode="auto">
              <a:xfrm>
                <a:off x="4215" y="3940"/>
                <a:ext cx="10" cy="9"/>
              </a:xfrm>
              <a:custGeom>
                <a:avLst/>
                <a:gdLst>
                  <a:gd name="T0" fmla="*/ 2 w 10"/>
                  <a:gd name="T1" fmla="*/ 1 h 9"/>
                  <a:gd name="T2" fmla="*/ 0 w 10"/>
                  <a:gd name="T3" fmla="*/ 5 h 9"/>
                  <a:gd name="T4" fmla="*/ 3 w 10"/>
                  <a:gd name="T5" fmla="*/ 8 h 9"/>
                  <a:gd name="T6" fmla="*/ 5 w 10"/>
                  <a:gd name="T7" fmla="*/ 9 h 9"/>
                  <a:gd name="T8" fmla="*/ 9 w 10"/>
                  <a:gd name="T9" fmla="*/ 8 h 9"/>
                  <a:gd name="T10" fmla="*/ 9 w 10"/>
                  <a:gd name="T11" fmla="*/ 8 h 9"/>
                  <a:gd name="T12" fmla="*/ 10 w 10"/>
                  <a:gd name="T13" fmla="*/ 5 h 9"/>
                  <a:gd name="T14" fmla="*/ 9 w 10"/>
                  <a:gd name="T15" fmla="*/ 1 h 9"/>
                  <a:gd name="T16" fmla="*/ 5 w 10"/>
                  <a:gd name="T17" fmla="*/ 0 h 9"/>
                  <a:gd name="T18" fmla="*/ 2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2" y="1"/>
                    </a:moveTo>
                    <a:lnTo>
                      <a:pt x="0" y="5"/>
                    </a:lnTo>
                    <a:lnTo>
                      <a:pt x="3" y="8"/>
                    </a:lnTo>
                    <a:lnTo>
                      <a:pt x="5" y="9"/>
                    </a:lnTo>
                    <a:lnTo>
                      <a:pt x="9" y="8"/>
                    </a:lnTo>
                    <a:lnTo>
                      <a:pt x="9" y="8"/>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5" name="Freeform 410">
                <a:extLst>
                  <a:ext uri="{FF2B5EF4-FFF2-40B4-BE49-F238E27FC236}">
                    <a16:creationId xmlns:a16="http://schemas.microsoft.com/office/drawing/2014/main" id="{8BB4C195-4FA2-427F-9FCD-93618C7F4DA3}"/>
                  </a:ext>
                </a:extLst>
              </p:cNvPr>
              <p:cNvSpPr>
                <a:spLocks/>
              </p:cNvSpPr>
              <p:nvPr/>
            </p:nvSpPr>
            <p:spPr bwMode="auto">
              <a:xfrm>
                <a:off x="4229" y="3925"/>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6" name="Freeform 411">
                <a:extLst>
                  <a:ext uri="{FF2B5EF4-FFF2-40B4-BE49-F238E27FC236}">
                    <a16:creationId xmlns:a16="http://schemas.microsoft.com/office/drawing/2014/main" id="{5CB5A36E-2207-494C-AB2B-FFB898D0F8DE}"/>
                  </a:ext>
                </a:extLst>
              </p:cNvPr>
              <p:cNvSpPr>
                <a:spLocks/>
              </p:cNvSpPr>
              <p:nvPr/>
            </p:nvSpPr>
            <p:spPr bwMode="auto">
              <a:xfrm>
                <a:off x="4241" y="3911"/>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7" name="Freeform 412">
                <a:extLst>
                  <a:ext uri="{FF2B5EF4-FFF2-40B4-BE49-F238E27FC236}">
                    <a16:creationId xmlns:a16="http://schemas.microsoft.com/office/drawing/2014/main" id="{263C0868-4F66-429C-96D1-2AE4F13686F3}"/>
                  </a:ext>
                </a:extLst>
              </p:cNvPr>
              <p:cNvSpPr>
                <a:spLocks/>
              </p:cNvSpPr>
              <p:nvPr/>
            </p:nvSpPr>
            <p:spPr bwMode="auto">
              <a:xfrm>
                <a:off x="4254" y="3897"/>
                <a:ext cx="9" cy="9"/>
              </a:xfrm>
              <a:custGeom>
                <a:avLst/>
                <a:gdLst>
                  <a:gd name="T0" fmla="*/ 1 w 9"/>
                  <a:gd name="T1" fmla="*/ 1 h 9"/>
                  <a:gd name="T2" fmla="*/ 0 w 9"/>
                  <a:gd name="T3" fmla="*/ 4 h 9"/>
                  <a:gd name="T4" fmla="*/ 1 w 9"/>
                  <a:gd name="T5" fmla="*/ 8 h 9"/>
                  <a:gd name="T6" fmla="*/ 5 w 9"/>
                  <a:gd name="T7" fmla="*/ 9 h 9"/>
                  <a:gd name="T8" fmla="*/ 8 w 9"/>
                  <a:gd name="T9" fmla="*/ 8 h 9"/>
                  <a:gd name="T10" fmla="*/ 8 w 9"/>
                  <a:gd name="T11" fmla="*/ 8 h 9"/>
                  <a:gd name="T12" fmla="*/ 9 w 9"/>
                  <a:gd name="T13" fmla="*/ 4 h 9"/>
                  <a:gd name="T14" fmla="*/ 8 w 9"/>
                  <a:gd name="T15" fmla="*/ 1 h 9"/>
                  <a:gd name="T16" fmla="*/ 5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5" y="9"/>
                    </a:lnTo>
                    <a:lnTo>
                      <a:pt x="8" y="8"/>
                    </a:lnTo>
                    <a:lnTo>
                      <a:pt x="8" y="8"/>
                    </a:lnTo>
                    <a:lnTo>
                      <a:pt x="9" y="4"/>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8" name="Freeform 413">
                <a:extLst>
                  <a:ext uri="{FF2B5EF4-FFF2-40B4-BE49-F238E27FC236}">
                    <a16:creationId xmlns:a16="http://schemas.microsoft.com/office/drawing/2014/main" id="{5EFAA9F1-72C9-4370-9713-7C02345EB4AC}"/>
                  </a:ext>
                </a:extLst>
              </p:cNvPr>
              <p:cNvSpPr>
                <a:spLocks/>
              </p:cNvSpPr>
              <p:nvPr/>
            </p:nvSpPr>
            <p:spPr bwMode="auto">
              <a:xfrm>
                <a:off x="4266" y="3882"/>
                <a:ext cx="9" cy="10"/>
              </a:xfrm>
              <a:custGeom>
                <a:avLst/>
                <a:gdLst>
                  <a:gd name="T0" fmla="*/ 1 w 9"/>
                  <a:gd name="T1" fmla="*/ 1 h 10"/>
                  <a:gd name="T2" fmla="*/ 0 w 9"/>
                  <a:gd name="T3" fmla="*/ 5 h 10"/>
                  <a:gd name="T4" fmla="*/ 1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9" name="Freeform 414">
                <a:extLst>
                  <a:ext uri="{FF2B5EF4-FFF2-40B4-BE49-F238E27FC236}">
                    <a16:creationId xmlns:a16="http://schemas.microsoft.com/office/drawing/2014/main" id="{EE4AB8A6-6F8E-4F34-914B-C30404EEFDED}"/>
                  </a:ext>
                </a:extLst>
              </p:cNvPr>
              <p:cNvSpPr>
                <a:spLocks/>
              </p:cNvSpPr>
              <p:nvPr/>
            </p:nvSpPr>
            <p:spPr bwMode="auto">
              <a:xfrm>
                <a:off x="4279" y="3868"/>
                <a:ext cx="10" cy="9"/>
              </a:xfrm>
              <a:custGeom>
                <a:avLst/>
                <a:gdLst>
                  <a:gd name="T0" fmla="*/ 1 w 10"/>
                  <a:gd name="T1" fmla="*/ 1 h 9"/>
                  <a:gd name="T2" fmla="*/ 0 w 10"/>
                  <a:gd name="T3" fmla="*/ 5 h 9"/>
                  <a:gd name="T4" fmla="*/ 1 w 10"/>
                  <a:gd name="T5" fmla="*/ 7 h 9"/>
                  <a:gd name="T6" fmla="*/ 5 w 10"/>
                  <a:gd name="T7" fmla="*/ 9 h 9"/>
                  <a:gd name="T8" fmla="*/ 8 w 10"/>
                  <a:gd name="T9" fmla="*/ 8 h 9"/>
                  <a:gd name="T10" fmla="*/ 8 w 10"/>
                  <a:gd name="T11" fmla="*/ 8 h 9"/>
                  <a:gd name="T12" fmla="*/ 10 w 10"/>
                  <a:gd name="T13" fmla="*/ 5 h 9"/>
                  <a:gd name="T14" fmla="*/ 8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7"/>
                    </a:lnTo>
                    <a:lnTo>
                      <a:pt x="5" y="9"/>
                    </a:lnTo>
                    <a:lnTo>
                      <a:pt x="8" y="8"/>
                    </a:lnTo>
                    <a:lnTo>
                      <a:pt x="8" y="8"/>
                    </a:lnTo>
                    <a:lnTo>
                      <a:pt x="10"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0" name="Freeform 415">
                <a:extLst>
                  <a:ext uri="{FF2B5EF4-FFF2-40B4-BE49-F238E27FC236}">
                    <a16:creationId xmlns:a16="http://schemas.microsoft.com/office/drawing/2014/main" id="{D4A83EB6-8534-4462-93DC-60FA4996F3C4}"/>
                  </a:ext>
                </a:extLst>
              </p:cNvPr>
              <p:cNvSpPr>
                <a:spLocks/>
              </p:cNvSpPr>
              <p:nvPr/>
            </p:nvSpPr>
            <p:spPr bwMode="auto">
              <a:xfrm>
                <a:off x="4291" y="3853"/>
                <a:ext cx="10" cy="10"/>
              </a:xfrm>
              <a:custGeom>
                <a:avLst/>
                <a:gdLst>
                  <a:gd name="T0" fmla="*/ 1 w 10"/>
                  <a:gd name="T1" fmla="*/ 2 h 10"/>
                  <a:gd name="T2" fmla="*/ 0 w 10"/>
                  <a:gd name="T3" fmla="*/ 5 h 10"/>
                  <a:gd name="T4" fmla="*/ 1 w 10"/>
                  <a:gd name="T5" fmla="*/ 8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8"/>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1" name="Freeform 416">
                <a:extLst>
                  <a:ext uri="{FF2B5EF4-FFF2-40B4-BE49-F238E27FC236}">
                    <a16:creationId xmlns:a16="http://schemas.microsoft.com/office/drawing/2014/main" id="{61F4A395-79C7-4736-881C-57B4ECFC83DD}"/>
                  </a:ext>
                </a:extLst>
              </p:cNvPr>
              <p:cNvSpPr>
                <a:spLocks/>
              </p:cNvSpPr>
              <p:nvPr/>
            </p:nvSpPr>
            <p:spPr bwMode="auto">
              <a:xfrm>
                <a:off x="4304" y="3838"/>
                <a:ext cx="10" cy="9"/>
              </a:xfrm>
              <a:custGeom>
                <a:avLst/>
                <a:gdLst>
                  <a:gd name="T0" fmla="*/ 1 w 10"/>
                  <a:gd name="T1" fmla="*/ 1 h 9"/>
                  <a:gd name="T2" fmla="*/ 0 w 10"/>
                  <a:gd name="T3" fmla="*/ 5 h 9"/>
                  <a:gd name="T4" fmla="*/ 1 w 10"/>
                  <a:gd name="T5" fmla="*/ 8 h 9"/>
                  <a:gd name="T6" fmla="*/ 5 w 10"/>
                  <a:gd name="T7" fmla="*/ 9 h 9"/>
                  <a:gd name="T8" fmla="*/ 9 w 10"/>
                  <a:gd name="T9" fmla="*/ 8 h 9"/>
                  <a:gd name="T10" fmla="*/ 9 w 10"/>
                  <a:gd name="T11" fmla="*/ 8 h 9"/>
                  <a:gd name="T12" fmla="*/ 10 w 10"/>
                  <a:gd name="T13" fmla="*/ 5 h 9"/>
                  <a:gd name="T14" fmla="*/ 7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8"/>
                    </a:lnTo>
                    <a:lnTo>
                      <a:pt x="5" y="9"/>
                    </a:lnTo>
                    <a:lnTo>
                      <a:pt x="9" y="8"/>
                    </a:lnTo>
                    <a:lnTo>
                      <a:pt x="9" y="8"/>
                    </a:lnTo>
                    <a:lnTo>
                      <a:pt x="10" y="5"/>
                    </a:lnTo>
                    <a:lnTo>
                      <a:pt x="7"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2" name="Freeform 417">
                <a:extLst>
                  <a:ext uri="{FF2B5EF4-FFF2-40B4-BE49-F238E27FC236}">
                    <a16:creationId xmlns:a16="http://schemas.microsoft.com/office/drawing/2014/main" id="{4FD318E8-3A44-4545-80CA-A2CE02919AB6}"/>
                  </a:ext>
                </a:extLst>
              </p:cNvPr>
              <p:cNvSpPr>
                <a:spLocks/>
              </p:cNvSpPr>
              <p:nvPr/>
            </p:nvSpPr>
            <p:spPr bwMode="auto">
              <a:xfrm>
                <a:off x="4316" y="3823"/>
                <a:ext cx="10" cy="10"/>
              </a:xfrm>
              <a:custGeom>
                <a:avLst/>
                <a:gdLst>
                  <a:gd name="T0" fmla="*/ 1 w 10"/>
                  <a:gd name="T1" fmla="*/ 2 h 10"/>
                  <a:gd name="T2" fmla="*/ 0 w 10"/>
                  <a:gd name="T3" fmla="*/ 5 h 10"/>
                  <a:gd name="T4" fmla="*/ 1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9" y="9"/>
                    </a:lnTo>
                    <a:lnTo>
                      <a:pt x="9" y="9"/>
                    </a:lnTo>
                    <a:lnTo>
                      <a:pt x="10" y="5"/>
                    </a:lnTo>
                    <a:lnTo>
                      <a:pt x="9"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3" name="Freeform 418">
                <a:extLst>
                  <a:ext uri="{FF2B5EF4-FFF2-40B4-BE49-F238E27FC236}">
                    <a16:creationId xmlns:a16="http://schemas.microsoft.com/office/drawing/2014/main" id="{B7C158FA-B4FD-475A-BAE8-3E3D17974388}"/>
                  </a:ext>
                </a:extLst>
              </p:cNvPr>
              <p:cNvSpPr>
                <a:spLocks/>
              </p:cNvSpPr>
              <p:nvPr/>
            </p:nvSpPr>
            <p:spPr bwMode="auto">
              <a:xfrm>
                <a:off x="4328" y="3809"/>
                <a:ext cx="10" cy="10"/>
              </a:xfrm>
              <a:custGeom>
                <a:avLst/>
                <a:gdLst>
                  <a:gd name="T0" fmla="*/ 1 w 10"/>
                  <a:gd name="T1" fmla="*/ 1 h 10"/>
                  <a:gd name="T2" fmla="*/ 0 w 10"/>
                  <a:gd name="T3" fmla="*/ 5 h 10"/>
                  <a:gd name="T4" fmla="*/ 3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3"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4" name="Freeform 419">
                <a:extLst>
                  <a:ext uri="{FF2B5EF4-FFF2-40B4-BE49-F238E27FC236}">
                    <a16:creationId xmlns:a16="http://schemas.microsoft.com/office/drawing/2014/main" id="{DAA94025-1424-4F5A-9A28-10E202B6A484}"/>
                  </a:ext>
                </a:extLst>
              </p:cNvPr>
              <p:cNvSpPr>
                <a:spLocks/>
              </p:cNvSpPr>
              <p:nvPr/>
            </p:nvSpPr>
            <p:spPr bwMode="auto">
              <a:xfrm>
                <a:off x="4341" y="3794"/>
                <a:ext cx="10" cy="10"/>
              </a:xfrm>
              <a:custGeom>
                <a:avLst/>
                <a:gdLst>
                  <a:gd name="T0" fmla="*/ 2 w 10"/>
                  <a:gd name="T1" fmla="*/ 2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9"/>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5" name="Freeform 420">
                <a:extLst>
                  <a:ext uri="{FF2B5EF4-FFF2-40B4-BE49-F238E27FC236}">
                    <a16:creationId xmlns:a16="http://schemas.microsoft.com/office/drawing/2014/main" id="{AAB73201-F062-480B-8047-1DD4EEE62449}"/>
                  </a:ext>
                </a:extLst>
              </p:cNvPr>
              <p:cNvSpPr>
                <a:spLocks/>
              </p:cNvSpPr>
              <p:nvPr/>
            </p:nvSpPr>
            <p:spPr bwMode="auto">
              <a:xfrm>
                <a:off x="4349" y="3778"/>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6" name="Freeform 421">
                <a:extLst>
                  <a:ext uri="{FF2B5EF4-FFF2-40B4-BE49-F238E27FC236}">
                    <a16:creationId xmlns:a16="http://schemas.microsoft.com/office/drawing/2014/main" id="{0917942B-4F11-4DC7-8F3F-E8FD1CB54791}"/>
                  </a:ext>
                </a:extLst>
              </p:cNvPr>
              <p:cNvSpPr>
                <a:spLocks/>
              </p:cNvSpPr>
              <p:nvPr/>
            </p:nvSpPr>
            <p:spPr bwMode="auto">
              <a:xfrm>
                <a:off x="4349" y="3758"/>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7" name="Freeform 422">
                <a:extLst>
                  <a:ext uri="{FF2B5EF4-FFF2-40B4-BE49-F238E27FC236}">
                    <a16:creationId xmlns:a16="http://schemas.microsoft.com/office/drawing/2014/main" id="{31742003-F18F-4102-AF44-D4CA47AA1221}"/>
                  </a:ext>
                </a:extLst>
              </p:cNvPr>
              <p:cNvSpPr>
                <a:spLocks/>
              </p:cNvSpPr>
              <p:nvPr/>
            </p:nvSpPr>
            <p:spPr bwMode="auto">
              <a:xfrm>
                <a:off x="4349" y="3739"/>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8" name="Freeform 423">
                <a:extLst>
                  <a:ext uri="{FF2B5EF4-FFF2-40B4-BE49-F238E27FC236}">
                    <a16:creationId xmlns:a16="http://schemas.microsoft.com/office/drawing/2014/main" id="{6B1B4A08-5396-4A71-B2A5-7B5DB34EC209}"/>
                  </a:ext>
                </a:extLst>
              </p:cNvPr>
              <p:cNvSpPr>
                <a:spLocks/>
              </p:cNvSpPr>
              <p:nvPr/>
            </p:nvSpPr>
            <p:spPr bwMode="auto">
              <a:xfrm>
                <a:off x="4349" y="3720"/>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9" name="Freeform 424">
                <a:extLst>
                  <a:ext uri="{FF2B5EF4-FFF2-40B4-BE49-F238E27FC236}">
                    <a16:creationId xmlns:a16="http://schemas.microsoft.com/office/drawing/2014/main" id="{DACC8A8C-9AEF-49E7-BA59-32E3EBD9922C}"/>
                  </a:ext>
                </a:extLst>
              </p:cNvPr>
              <p:cNvSpPr>
                <a:spLocks/>
              </p:cNvSpPr>
              <p:nvPr/>
            </p:nvSpPr>
            <p:spPr bwMode="auto">
              <a:xfrm>
                <a:off x="4349" y="3701"/>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0" name="Freeform 425">
                <a:extLst>
                  <a:ext uri="{FF2B5EF4-FFF2-40B4-BE49-F238E27FC236}">
                    <a16:creationId xmlns:a16="http://schemas.microsoft.com/office/drawing/2014/main" id="{2724D9F5-A595-407F-88A9-256701B30806}"/>
                  </a:ext>
                </a:extLst>
              </p:cNvPr>
              <p:cNvSpPr>
                <a:spLocks/>
              </p:cNvSpPr>
              <p:nvPr/>
            </p:nvSpPr>
            <p:spPr bwMode="auto">
              <a:xfrm>
                <a:off x="4349" y="3682"/>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1" name="Freeform 426">
                <a:extLst>
                  <a:ext uri="{FF2B5EF4-FFF2-40B4-BE49-F238E27FC236}">
                    <a16:creationId xmlns:a16="http://schemas.microsoft.com/office/drawing/2014/main" id="{50C96B98-2BBE-447A-962F-F2E970CA75BF}"/>
                  </a:ext>
                </a:extLst>
              </p:cNvPr>
              <p:cNvSpPr>
                <a:spLocks/>
              </p:cNvSpPr>
              <p:nvPr/>
            </p:nvSpPr>
            <p:spPr bwMode="auto">
              <a:xfrm>
                <a:off x="4349" y="3662"/>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2" name="Freeform 427">
                <a:extLst>
                  <a:ext uri="{FF2B5EF4-FFF2-40B4-BE49-F238E27FC236}">
                    <a16:creationId xmlns:a16="http://schemas.microsoft.com/office/drawing/2014/main" id="{2F662D7A-9409-4B4B-85A0-E63CC84F51A0}"/>
                  </a:ext>
                </a:extLst>
              </p:cNvPr>
              <p:cNvSpPr>
                <a:spLocks/>
              </p:cNvSpPr>
              <p:nvPr/>
            </p:nvSpPr>
            <p:spPr bwMode="auto">
              <a:xfrm>
                <a:off x="4349" y="3643"/>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3" name="Freeform 428">
                <a:extLst>
                  <a:ext uri="{FF2B5EF4-FFF2-40B4-BE49-F238E27FC236}">
                    <a16:creationId xmlns:a16="http://schemas.microsoft.com/office/drawing/2014/main" id="{BDB3EDA0-850A-45C0-B8E2-B9F2765728F2}"/>
                  </a:ext>
                </a:extLst>
              </p:cNvPr>
              <p:cNvSpPr>
                <a:spLocks/>
              </p:cNvSpPr>
              <p:nvPr/>
            </p:nvSpPr>
            <p:spPr bwMode="auto">
              <a:xfrm>
                <a:off x="4349" y="3624"/>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4" name="Freeform 429">
                <a:extLst>
                  <a:ext uri="{FF2B5EF4-FFF2-40B4-BE49-F238E27FC236}">
                    <a16:creationId xmlns:a16="http://schemas.microsoft.com/office/drawing/2014/main" id="{93A0F80E-14EC-4C4E-9DB4-F110B4C57C52}"/>
                  </a:ext>
                </a:extLst>
              </p:cNvPr>
              <p:cNvSpPr>
                <a:spLocks/>
              </p:cNvSpPr>
              <p:nvPr/>
            </p:nvSpPr>
            <p:spPr bwMode="auto">
              <a:xfrm>
                <a:off x="4349" y="3605"/>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5" name="Freeform 430">
                <a:extLst>
                  <a:ext uri="{FF2B5EF4-FFF2-40B4-BE49-F238E27FC236}">
                    <a16:creationId xmlns:a16="http://schemas.microsoft.com/office/drawing/2014/main" id="{1B29B918-FFDA-4272-89D0-DE179130FEB7}"/>
                  </a:ext>
                </a:extLst>
              </p:cNvPr>
              <p:cNvSpPr>
                <a:spLocks/>
              </p:cNvSpPr>
              <p:nvPr/>
            </p:nvSpPr>
            <p:spPr bwMode="auto">
              <a:xfrm>
                <a:off x="4349" y="3586"/>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6" name="Freeform 431">
                <a:extLst>
                  <a:ext uri="{FF2B5EF4-FFF2-40B4-BE49-F238E27FC236}">
                    <a16:creationId xmlns:a16="http://schemas.microsoft.com/office/drawing/2014/main" id="{9736C57F-EC73-473B-91CB-4EB8E573C79F}"/>
                  </a:ext>
                </a:extLst>
              </p:cNvPr>
              <p:cNvSpPr>
                <a:spLocks/>
              </p:cNvSpPr>
              <p:nvPr/>
            </p:nvSpPr>
            <p:spPr bwMode="auto">
              <a:xfrm>
                <a:off x="4349" y="3566"/>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7" name="Freeform 432">
                <a:extLst>
                  <a:ext uri="{FF2B5EF4-FFF2-40B4-BE49-F238E27FC236}">
                    <a16:creationId xmlns:a16="http://schemas.microsoft.com/office/drawing/2014/main" id="{EF2DED55-EE55-41D5-A8C9-566A0EBD7A20}"/>
                  </a:ext>
                </a:extLst>
              </p:cNvPr>
              <p:cNvSpPr>
                <a:spLocks/>
              </p:cNvSpPr>
              <p:nvPr/>
            </p:nvSpPr>
            <p:spPr bwMode="auto">
              <a:xfrm>
                <a:off x="4349" y="3547"/>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8" name="Freeform 433">
                <a:extLst>
                  <a:ext uri="{FF2B5EF4-FFF2-40B4-BE49-F238E27FC236}">
                    <a16:creationId xmlns:a16="http://schemas.microsoft.com/office/drawing/2014/main" id="{4CBDFCD9-7BBF-4FC1-BF3D-88FDB925C695}"/>
                  </a:ext>
                </a:extLst>
              </p:cNvPr>
              <p:cNvSpPr>
                <a:spLocks/>
              </p:cNvSpPr>
              <p:nvPr/>
            </p:nvSpPr>
            <p:spPr bwMode="auto">
              <a:xfrm>
                <a:off x="4349" y="3528"/>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9" name="Freeform 434">
                <a:extLst>
                  <a:ext uri="{FF2B5EF4-FFF2-40B4-BE49-F238E27FC236}">
                    <a16:creationId xmlns:a16="http://schemas.microsoft.com/office/drawing/2014/main" id="{2E36BE8F-496F-46E9-B0A0-E6EA10644308}"/>
                  </a:ext>
                </a:extLst>
              </p:cNvPr>
              <p:cNvSpPr>
                <a:spLocks/>
              </p:cNvSpPr>
              <p:nvPr/>
            </p:nvSpPr>
            <p:spPr bwMode="auto">
              <a:xfrm>
                <a:off x="4349" y="3509"/>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0" name="Freeform 435">
                <a:extLst>
                  <a:ext uri="{FF2B5EF4-FFF2-40B4-BE49-F238E27FC236}">
                    <a16:creationId xmlns:a16="http://schemas.microsoft.com/office/drawing/2014/main" id="{BBEDBB87-5134-418F-AFE4-4CD1756CE654}"/>
                  </a:ext>
                </a:extLst>
              </p:cNvPr>
              <p:cNvSpPr>
                <a:spLocks/>
              </p:cNvSpPr>
              <p:nvPr/>
            </p:nvSpPr>
            <p:spPr bwMode="auto">
              <a:xfrm>
                <a:off x="4349" y="3490"/>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1" name="Freeform 436">
                <a:extLst>
                  <a:ext uri="{FF2B5EF4-FFF2-40B4-BE49-F238E27FC236}">
                    <a16:creationId xmlns:a16="http://schemas.microsoft.com/office/drawing/2014/main" id="{665C42B7-DF44-4E1D-8BDF-4AE031ACCA13}"/>
                  </a:ext>
                </a:extLst>
              </p:cNvPr>
              <p:cNvSpPr>
                <a:spLocks/>
              </p:cNvSpPr>
              <p:nvPr/>
            </p:nvSpPr>
            <p:spPr bwMode="auto">
              <a:xfrm>
                <a:off x="4347" y="347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2" name="Freeform 437">
                <a:extLst>
                  <a:ext uri="{FF2B5EF4-FFF2-40B4-BE49-F238E27FC236}">
                    <a16:creationId xmlns:a16="http://schemas.microsoft.com/office/drawing/2014/main" id="{DA7F48AC-CDC9-4F15-8DA6-DA69EF3C3A3B}"/>
                  </a:ext>
                </a:extLst>
              </p:cNvPr>
              <p:cNvSpPr>
                <a:spLocks/>
              </p:cNvSpPr>
              <p:nvPr/>
            </p:nvSpPr>
            <p:spPr bwMode="auto">
              <a:xfrm>
                <a:off x="4332" y="3486"/>
                <a:ext cx="9" cy="10"/>
              </a:xfrm>
              <a:custGeom>
                <a:avLst/>
                <a:gdLst>
                  <a:gd name="T0" fmla="*/ 8 w 9"/>
                  <a:gd name="T1" fmla="*/ 8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2 w 9"/>
                  <a:gd name="T15" fmla="*/ 8 h 10"/>
                  <a:gd name="T16" fmla="*/ 5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5" y="0"/>
                    </a:lnTo>
                    <a:lnTo>
                      <a:pt x="1" y="1"/>
                    </a:lnTo>
                    <a:lnTo>
                      <a:pt x="1" y="1"/>
                    </a:lnTo>
                    <a:lnTo>
                      <a:pt x="0" y="5"/>
                    </a:lnTo>
                    <a:lnTo>
                      <a:pt x="2"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3" name="Freeform 438">
                <a:extLst>
                  <a:ext uri="{FF2B5EF4-FFF2-40B4-BE49-F238E27FC236}">
                    <a16:creationId xmlns:a16="http://schemas.microsoft.com/office/drawing/2014/main" id="{97D5B647-DE30-4BCD-8774-34BAEA3DC863}"/>
                  </a:ext>
                </a:extLst>
              </p:cNvPr>
              <p:cNvSpPr>
                <a:spLocks/>
              </p:cNvSpPr>
              <p:nvPr/>
            </p:nvSpPr>
            <p:spPr bwMode="auto">
              <a:xfrm>
                <a:off x="4317" y="3498"/>
                <a:ext cx="10" cy="10"/>
              </a:xfrm>
              <a:custGeom>
                <a:avLst/>
                <a:gdLst>
                  <a:gd name="T0" fmla="*/ 9 w 10"/>
                  <a:gd name="T1" fmla="*/ 8 h 10"/>
                  <a:gd name="T2" fmla="*/ 10 w 10"/>
                  <a:gd name="T3" fmla="*/ 5 h 10"/>
                  <a:gd name="T4" fmla="*/ 9 w 10"/>
                  <a:gd name="T5" fmla="*/ 2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2"/>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4" name="Freeform 439">
                <a:extLst>
                  <a:ext uri="{FF2B5EF4-FFF2-40B4-BE49-F238E27FC236}">
                    <a16:creationId xmlns:a16="http://schemas.microsoft.com/office/drawing/2014/main" id="{9F69B662-485C-4005-BDD1-39A35F11FED5}"/>
                  </a:ext>
                </a:extLst>
              </p:cNvPr>
              <p:cNvSpPr>
                <a:spLocks/>
              </p:cNvSpPr>
              <p:nvPr/>
            </p:nvSpPr>
            <p:spPr bwMode="auto">
              <a:xfrm>
                <a:off x="4303" y="3511"/>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7"/>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5" name="Freeform 440">
                <a:extLst>
                  <a:ext uri="{FF2B5EF4-FFF2-40B4-BE49-F238E27FC236}">
                    <a16:creationId xmlns:a16="http://schemas.microsoft.com/office/drawing/2014/main" id="{27273373-3E99-4B55-BA7A-CD8509843FD4}"/>
                  </a:ext>
                </a:extLst>
              </p:cNvPr>
              <p:cNvSpPr>
                <a:spLocks/>
              </p:cNvSpPr>
              <p:nvPr/>
            </p:nvSpPr>
            <p:spPr bwMode="auto">
              <a:xfrm>
                <a:off x="4287" y="3523"/>
                <a:ext cx="10" cy="10"/>
              </a:xfrm>
              <a:custGeom>
                <a:avLst/>
                <a:gdLst>
                  <a:gd name="T0" fmla="*/ 9 w 10"/>
                  <a:gd name="T1" fmla="*/ 9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3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2" y="1"/>
                    </a:lnTo>
                    <a:lnTo>
                      <a:pt x="2" y="1"/>
                    </a:lnTo>
                    <a:lnTo>
                      <a:pt x="0" y="5"/>
                    </a:lnTo>
                    <a:lnTo>
                      <a:pt x="3"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6" name="Freeform 441">
                <a:extLst>
                  <a:ext uri="{FF2B5EF4-FFF2-40B4-BE49-F238E27FC236}">
                    <a16:creationId xmlns:a16="http://schemas.microsoft.com/office/drawing/2014/main" id="{F09B03AC-3030-4300-B840-FD8903BF931B}"/>
                  </a:ext>
                </a:extLst>
              </p:cNvPr>
              <p:cNvSpPr>
                <a:spLocks/>
              </p:cNvSpPr>
              <p:nvPr/>
            </p:nvSpPr>
            <p:spPr bwMode="auto">
              <a:xfrm>
                <a:off x="4273" y="3535"/>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7" name="Freeform 442">
                <a:extLst>
                  <a:ext uri="{FF2B5EF4-FFF2-40B4-BE49-F238E27FC236}">
                    <a16:creationId xmlns:a16="http://schemas.microsoft.com/office/drawing/2014/main" id="{E188B49A-5010-4AC0-A609-27323B61456A}"/>
                  </a:ext>
                </a:extLst>
              </p:cNvPr>
              <p:cNvSpPr>
                <a:spLocks/>
              </p:cNvSpPr>
              <p:nvPr/>
            </p:nvSpPr>
            <p:spPr bwMode="auto">
              <a:xfrm>
                <a:off x="4259" y="3547"/>
                <a:ext cx="9" cy="10"/>
              </a:xfrm>
              <a:custGeom>
                <a:avLst/>
                <a:gdLst>
                  <a:gd name="T0" fmla="*/ 8 w 9"/>
                  <a:gd name="T1" fmla="*/ 9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8" name="Freeform 443">
                <a:extLst>
                  <a:ext uri="{FF2B5EF4-FFF2-40B4-BE49-F238E27FC236}">
                    <a16:creationId xmlns:a16="http://schemas.microsoft.com/office/drawing/2014/main" id="{90CAECB7-E03E-45F4-BEC6-707BBC84BD12}"/>
                  </a:ext>
                </a:extLst>
              </p:cNvPr>
              <p:cNvSpPr>
                <a:spLocks/>
              </p:cNvSpPr>
              <p:nvPr/>
            </p:nvSpPr>
            <p:spPr bwMode="auto">
              <a:xfrm>
                <a:off x="4243" y="3559"/>
                <a:ext cx="10" cy="10"/>
              </a:xfrm>
              <a:custGeom>
                <a:avLst/>
                <a:gdLst>
                  <a:gd name="T0" fmla="*/ 8 w 10"/>
                  <a:gd name="T1" fmla="*/ 9 h 10"/>
                  <a:gd name="T2" fmla="*/ 10 w 10"/>
                  <a:gd name="T3" fmla="*/ 5 h 10"/>
                  <a:gd name="T4" fmla="*/ 8 w 10"/>
                  <a:gd name="T5" fmla="*/ 3 h 10"/>
                  <a:gd name="T6" fmla="*/ 5 w 10"/>
                  <a:gd name="T7" fmla="*/ 0 h 10"/>
                  <a:gd name="T8" fmla="*/ 1 w 10"/>
                  <a:gd name="T9" fmla="*/ 1 h 10"/>
                  <a:gd name="T10" fmla="*/ 1 w 10"/>
                  <a:gd name="T11" fmla="*/ 1 h 10"/>
                  <a:gd name="T12" fmla="*/ 0 w 10"/>
                  <a:gd name="T13" fmla="*/ 5 h 10"/>
                  <a:gd name="T14" fmla="*/ 2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3"/>
                    </a:lnTo>
                    <a:lnTo>
                      <a:pt x="5" y="0"/>
                    </a:lnTo>
                    <a:lnTo>
                      <a:pt x="1" y="1"/>
                    </a:lnTo>
                    <a:lnTo>
                      <a:pt x="1" y="1"/>
                    </a:lnTo>
                    <a:lnTo>
                      <a:pt x="0" y="5"/>
                    </a:lnTo>
                    <a:lnTo>
                      <a:pt x="2"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9" name="Freeform 444">
                <a:extLst>
                  <a:ext uri="{FF2B5EF4-FFF2-40B4-BE49-F238E27FC236}">
                    <a16:creationId xmlns:a16="http://schemas.microsoft.com/office/drawing/2014/main" id="{5FCE7251-009C-4EBD-A67B-DE85ED0D8C21}"/>
                  </a:ext>
                </a:extLst>
              </p:cNvPr>
              <p:cNvSpPr>
                <a:spLocks/>
              </p:cNvSpPr>
              <p:nvPr/>
            </p:nvSpPr>
            <p:spPr bwMode="auto">
              <a:xfrm>
                <a:off x="4229" y="3572"/>
                <a:ext cx="9" cy="10"/>
              </a:xfrm>
              <a:custGeom>
                <a:avLst/>
                <a:gdLst>
                  <a:gd name="T0" fmla="*/ 8 w 9"/>
                  <a:gd name="T1" fmla="*/ 9 h 10"/>
                  <a:gd name="T2" fmla="*/ 9 w 9"/>
                  <a:gd name="T3" fmla="*/ 5 h 10"/>
                  <a:gd name="T4" fmla="*/ 8 w 9"/>
                  <a:gd name="T5" fmla="*/ 2 h 10"/>
                  <a:gd name="T6" fmla="*/ 4 w 9"/>
                  <a:gd name="T7" fmla="*/ 0 h 10"/>
                  <a:gd name="T8" fmla="*/ 1 w 9"/>
                  <a:gd name="T9" fmla="*/ 2 h 10"/>
                  <a:gd name="T10" fmla="*/ 1 w 9"/>
                  <a:gd name="T11" fmla="*/ 2 h 10"/>
                  <a:gd name="T12" fmla="*/ 0 w 9"/>
                  <a:gd name="T13" fmla="*/ 5 h 10"/>
                  <a:gd name="T14" fmla="*/ 1 w 9"/>
                  <a:gd name="T15" fmla="*/ 8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2"/>
                    </a:lnTo>
                    <a:lnTo>
                      <a:pt x="4" y="0"/>
                    </a:lnTo>
                    <a:lnTo>
                      <a:pt x="1" y="2"/>
                    </a:lnTo>
                    <a:lnTo>
                      <a:pt x="1" y="2"/>
                    </a:lnTo>
                    <a:lnTo>
                      <a:pt x="0" y="5"/>
                    </a:lnTo>
                    <a:lnTo>
                      <a:pt x="1" y="8"/>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0" name="Freeform 445">
                <a:extLst>
                  <a:ext uri="{FF2B5EF4-FFF2-40B4-BE49-F238E27FC236}">
                    <a16:creationId xmlns:a16="http://schemas.microsoft.com/office/drawing/2014/main" id="{814454F2-2426-4774-9D36-94B6ADF46E26}"/>
                  </a:ext>
                </a:extLst>
              </p:cNvPr>
              <p:cNvSpPr>
                <a:spLocks/>
              </p:cNvSpPr>
              <p:nvPr/>
            </p:nvSpPr>
            <p:spPr bwMode="auto">
              <a:xfrm>
                <a:off x="4214" y="3584"/>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1" name="Freeform 446">
                <a:extLst>
                  <a:ext uri="{FF2B5EF4-FFF2-40B4-BE49-F238E27FC236}">
                    <a16:creationId xmlns:a16="http://schemas.microsoft.com/office/drawing/2014/main" id="{35CE5100-C1E6-45E0-8260-4EEAA2466848}"/>
                  </a:ext>
                </a:extLst>
              </p:cNvPr>
              <p:cNvSpPr>
                <a:spLocks/>
              </p:cNvSpPr>
              <p:nvPr/>
            </p:nvSpPr>
            <p:spPr bwMode="auto">
              <a:xfrm>
                <a:off x="4199" y="3596"/>
                <a:ext cx="10" cy="10"/>
              </a:xfrm>
              <a:custGeom>
                <a:avLst/>
                <a:gdLst>
                  <a:gd name="T0" fmla="*/ 9 w 10"/>
                  <a:gd name="T1" fmla="*/ 9 h 10"/>
                  <a:gd name="T2" fmla="*/ 10 w 10"/>
                  <a:gd name="T3" fmla="*/ 5 h 10"/>
                  <a:gd name="T4" fmla="*/ 8 w 10"/>
                  <a:gd name="T5" fmla="*/ 2 h 10"/>
                  <a:gd name="T6" fmla="*/ 6 w 10"/>
                  <a:gd name="T7" fmla="*/ 0 h 10"/>
                  <a:gd name="T8" fmla="*/ 2 w 10"/>
                  <a:gd name="T9" fmla="*/ 2 h 10"/>
                  <a:gd name="T10" fmla="*/ 1 w 10"/>
                  <a:gd name="T11" fmla="*/ 2 h 10"/>
                  <a:gd name="T12" fmla="*/ 0 w 10"/>
                  <a:gd name="T13" fmla="*/ 5 h 10"/>
                  <a:gd name="T14" fmla="*/ 2 w 10"/>
                  <a:gd name="T15" fmla="*/ 9 h 10"/>
                  <a:gd name="T16" fmla="*/ 4 w 10"/>
                  <a:gd name="T17" fmla="*/ 10 h 10"/>
                  <a:gd name="T18" fmla="*/ 8 w 10"/>
                  <a:gd name="T19" fmla="*/ 9 h 10"/>
                  <a:gd name="T20" fmla="*/ 9 w 10"/>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0">
                    <a:moveTo>
                      <a:pt x="9" y="9"/>
                    </a:moveTo>
                    <a:lnTo>
                      <a:pt x="10" y="5"/>
                    </a:lnTo>
                    <a:lnTo>
                      <a:pt x="8" y="2"/>
                    </a:lnTo>
                    <a:lnTo>
                      <a:pt x="6" y="0"/>
                    </a:lnTo>
                    <a:lnTo>
                      <a:pt x="2" y="2"/>
                    </a:lnTo>
                    <a:lnTo>
                      <a:pt x="1" y="2"/>
                    </a:lnTo>
                    <a:lnTo>
                      <a:pt x="0" y="5"/>
                    </a:lnTo>
                    <a:lnTo>
                      <a:pt x="2" y="9"/>
                    </a:lnTo>
                    <a:lnTo>
                      <a:pt x="4" y="10"/>
                    </a:lnTo>
                    <a:lnTo>
                      <a:pt x="8" y="9"/>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2" name="Freeform 447">
                <a:extLst>
                  <a:ext uri="{FF2B5EF4-FFF2-40B4-BE49-F238E27FC236}">
                    <a16:creationId xmlns:a16="http://schemas.microsoft.com/office/drawing/2014/main" id="{7F732B79-33C7-4E38-80C8-63F8E81C620C}"/>
                  </a:ext>
                </a:extLst>
              </p:cNvPr>
              <p:cNvSpPr>
                <a:spLocks/>
              </p:cNvSpPr>
              <p:nvPr/>
            </p:nvSpPr>
            <p:spPr bwMode="auto">
              <a:xfrm>
                <a:off x="4184" y="3608"/>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3" name="Freeform 448">
                <a:extLst>
                  <a:ext uri="{FF2B5EF4-FFF2-40B4-BE49-F238E27FC236}">
                    <a16:creationId xmlns:a16="http://schemas.microsoft.com/office/drawing/2014/main" id="{E29E306A-85EF-44F7-97B5-6C6CE6D136F0}"/>
                  </a:ext>
                </a:extLst>
              </p:cNvPr>
              <p:cNvSpPr>
                <a:spLocks/>
              </p:cNvSpPr>
              <p:nvPr/>
            </p:nvSpPr>
            <p:spPr bwMode="auto">
              <a:xfrm>
                <a:off x="4170" y="3620"/>
                <a:ext cx="9" cy="11"/>
              </a:xfrm>
              <a:custGeom>
                <a:avLst/>
                <a:gdLst>
                  <a:gd name="T0" fmla="*/ 8 w 9"/>
                  <a:gd name="T1" fmla="*/ 9 h 11"/>
                  <a:gd name="T2" fmla="*/ 9 w 9"/>
                  <a:gd name="T3" fmla="*/ 5 h 11"/>
                  <a:gd name="T4" fmla="*/ 8 w 9"/>
                  <a:gd name="T5" fmla="*/ 3 h 11"/>
                  <a:gd name="T6" fmla="*/ 5 w 9"/>
                  <a:gd name="T7" fmla="*/ 0 h 11"/>
                  <a:gd name="T8" fmla="*/ 1 w 9"/>
                  <a:gd name="T9" fmla="*/ 2 h 11"/>
                  <a:gd name="T10" fmla="*/ 1 w 9"/>
                  <a:gd name="T11" fmla="*/ 3 h 11"/>
                  <a:gd name="T12" fmla="*/ 0 w 9"/>
                  <a:gd name="T13" fmla="*/ 6 h 11"/>
                  <a:gd name="T14" fmla="*/ 1 w 9"/>
                  <a:gd name="T15" fmla="*/ 9 h 11"/>
                  <a:gd name="T16" fmla="*/ 5 w 9"/>
                  <a:gd name="T17" fmla="*/ 11 h 11"/>
                  <a:gd name="T18" fmla="*/ 8 w 9"/>
                  <a:gd name="T19" fmla="*/ 10 h 11"/>
                  <a:gd name="T20" fmla="*/ 8 w 9"/>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8" y="9"/>
                    </a:moveTo>
                    <a:lnTo>
                      <a:pt x="9" y="5"/>
                    </a:lnTo>
                    <a:lnTo>
                      <a:pt x="8" y="3"/>
                    </a:lnTo>
                    <a:lnTo>
                      <a:pt x="5" y="0"/>
                    </a:lnTo>
                    <a:lnTo>
                      <a:pt x="1" y="2"/>
                    </a:lnTo>
                    <a:lnTo>
                      <a:pt x="1" y="3"/>
                    </a:lnTo>
                    <a:lnTo>
                      <a:pt x="0" y="6"/>
                    </a:lnTo>
                    <a:lnTo>
                      <a:pt x="1" y="9"/>
                    </a:lnTo>
                    <a:lnTo>
                      <a:pt x="5" y="11"/>
                    </a:lnTo>
                    <a:lnTo>
                      <a:pt x="8"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34" name="Oval 449">
              <a:extLst>
                <a:ext uri="{FF2B5EF4-FFF2-40B4-BE49-F238E27FC236}">
                  <a16:creationId xmlns:a16="http://schemas.microsoft.com/office/drawing/2014/main" id="{4C677D68-813B-460F-8C16-74BF1A9090BA}"/>
                </a:ext>
              </a:extLst>
            </p:cNvPr>
            <p:cNvSpPr>
              <a:spLocks noChangeArrowheads="1"/>
            </p:cNvSpPr>
            <p:nvPr/>
          </p:nvSpPr>
          <p:spPr bwMode="auto">
            <a:xfrm>
              <a:off x="3907" y="3958"/>
              <a:ext cx="2"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Oval 450">
              <a:extLst>
                <a:ext uri="{FF2B5EF4-FFF2-40B4-BE49-F238E27FC236}">
                  <a16:creationId xmlns:a16="http://schemas.microsoft.com/office/drawing/2014/main" id="{0218B1F3-2D9D-44DE-A5AC-4620125B0D8C}"/>
                </a:ext>
              </a:extLst>
            </p:cNvPr>
            <p:cNvSpPr>
              <a:spLocks noChangeArrowheads="1"/>
            </p:cNvSpPr>
            <p:nvPr/>
          </p:nvSpPr>
          <p:spPr bwMode="auto">
            <a:xfrm>
              <a:off x="3949"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6" name="Oval 451">
              <a:extLst>
                <a:ext uri="{FF2B5EF4-FFF2-40B4-BE49-F238E27FC236}">
                  <a16:creationId xmlns:a16="http://schemas.microsoft.com/office/drawing/2014/main" id="{7F03B678-F308-47DA-8E3D-36AE98B26BC0}"/>
                </a:ext>
              </a:extLst>
            </p:cNvPr>
            <p:cNvSpPr>
              <a:spLocks noChangeArrowheads="1"/>
            </p:cNvSpPr>
            <p:nvPr/>
          </p:nvSpPr>
          <p:spPr bwMode="auto">
            <a:xfrm>
              <a:off x="3967"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7" name="Rectangle 452">
              <a:extLst>
                <a:ext uri="{FF2B5EF4-FFF2-40B4-BE49-F238E27FC236}">
                  <a16:creationId xmlns:a16="http://schemas.microsoft.com/office/drawing/2014/main" id="{12C4970E-5DF3-4BE0-A373-680A0BB1EF99}"/>
                </a:ext>
              </a:extLst>
            </p:cNvPr>
            <p:cNvSpPr>
              <a:spLocks noChangeArrowheads="1"/>
            </p:cNvSpPr>
            <p:nvPr/>
          </p:nvSpPr>
          <p:spPr bwMode="auto">
            <a:xfrm>
              <a:off x="3294" y="3677"/>
              <a:ext cx="819" cy="31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8" name="Line 453">
              <a:extLst>
                <a:ext uri="{FF2B5EF4-FFF2-40B4-BE49-F238E27FC236}">
                  <a16:creationId xmlns:a16="http://schemas.microsoft.com/office/drawing/2014/main" id="{498CA2B3-00C9-46B3-9ED8-B7538368E03B}"/>
                </a:ext>
              </a:extLst>
            </p:cNvPr>
            <p:cNvSpPr>
              <a:spLocks noChangeShapeType="1"/>
            </p:cNvSpPr>
            <p:nvPr/>
          </p:nvSpPr>
          <p:spPr bwMode="auto">
            <a:xfrm>
              <a:off x="4076"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9" name="Line 454">
              <a:extLst>
                <a:ext uri="{FF2B5EF4-FFF2-40B4-BE49-F238E27FC236}">
                  <a16:creationId xmlns:a16="http://schemas.microsoft.com/office/drawing/2014/main" id="{CAF39325-7C85-48A3-9620-E84B83410876}"/>
                </a:ext>
              </a:extLst>
            </p:cNvPr>
            <p:cNvSpPr>
              <a:spLocks noChangeShapeType="1"/>
            </p:cNvSpPr>
            <p:nvPr/>
          </p:nvSpPr>
          <p:spPr bwMode="auto">
            <a:xfrm>
              <a:off x="401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0" name="Line 455">
              <a:extLst>
                <a:ext uri="{FF2B5EF4-FFF2-40B4-BE49-F238E27FC236}">
                  <a16:creationId xmlns:a16="http://schemas.microsoft.com/office/drawing/2014/main" id="{F992B74F-9EEC-4F2B-9884-99599AB0DC78}"/>
                </a:ext>
              </a:extLst>
            </p:cNvPr>
            <p:cNvSpPr>
              <a:spLocks noChangeShapeType="1"/>
            </p:cNvSpPr>
            <p:nvPr/>
          </p:nvSpPr>
          <p:spPr bwMode="auto">
            <a:xfrm>
              <a:off x="329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1" name="Line 456">
              <a:extLst>
                <a:ext uri="{FF2B5EF4-FFF2-40B4-BE49-F238E27FC236}">
                  <a16:creationId xmlns:a16="http://schemas.microsoft.com/office/drawing/2014/main" id="{D7F8F7E9-7A59-432E-97D7-2A313A8013D4}"/>
                </a:ext>
              </a:extLst>
            </p:cNvPr>
            <p:cNvSpPr>
              <a:spLocks noChangeShapeType="1"/>
            </p:cNvSpPr>
            <p:nvPr/>
          </p:nvSpPr>
          <p:spPr bwMode="auto">
            <a:xfrm flipH="1">
              <a:off x="3278" y="3947"/>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2" name="Rectangle 457">
              <a:extLst>
                <a:ext uri="{FF2B5EF4-FFF2-40B4-BE49-F238E27FC236}">
                  <a16:creationId xmlns:a16="http://schemas.microsoft.com/office/drawing/2014/main" id="{6CD99362-6426-4278-8A35-172F6712A7AE}"/>
                </a:ext>
              </a:extLst>
            </p:cNvPr>
            <p:cNvSpPr>
              <a:spLocks noChangeArrowheads="1"/>
            </p:cNvSpPr>
            <p:nvPr/>
          </p:nvSpPr>
          <p:spPr bwMode="auto">
            <a:xfrm>
              <a:off x="3349" y="3894"/>
              <a:ext cx="8"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3" name="Rectangle 458">
              <a:extLst>
                <a:ext uri="{FF2B5EF4-FFF2-40B4-BE49-F238E27FC236}">
                  <a16:creationId xmlns:a16="http://schemas.microsoft.com/office/drawing/2014/main" id="{AC1D05D1-8EA8-41D5-ABB7-EBF3CD59AEF4}"/>
                </a:ext>
              </a:extLst>
            </p:cNvPr>
            <p:cNvSpPr>
              <a:spLocks noChangeArrowheads="1"/>
            </p:cNvSpPr>
            <p:nvPr/>
          </p:nvSpPr>
          <p:spPr bwMode="auto">
            <a:xfrm>
              <a:off x="3362" y="3889"/>
              <a:ext cx="9" cy="3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4" name="Rectangle 459">
              <a:extLst>
                <a:ext uri="{FF2B5EF4-FFF2-40B4-BE49-F238E27FC236}">
                  <a16:creationId xmlns:a16="http://schemas.microsoft.com/office/drawing/2014/main" id="{59656830-23AE-4ACD-BC98-EB58EC3C6DCE}"/>
                </a:ext>
              </a:extLst>
            </p:cNvPr>
            <p:cNvSpPr>
              <a:spLocks noChangeArrowheads="1"/>
            </p:cNvSpPr>
            <p:nvPr/>
          </p:nvSpPr>
          <p:spPr bwMode="auto">
            <a:xfrm>
              <a:off x="3415"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5" name="Rectangle 460">
              <a:extLst>
                <a:ext uri="{FF2B5EF4-FFF2-40B4-BE49-F238E27FC236}">
                  <a16:creationId xmlns:a16="http://schemas.microsoft.com/office/drawing/2014/main" id="{BF6A3640-2C1D-40D5-8DA4-F5DF1CF8B873}"/>
                </a:ext>
              </a:extLst>
            </p:cNvPr>
            <p:cNvSpPr>
              <a:spLocks noChangeArrowheads="1"/>
            </p:cNvSpPr>
            <p:nvPr/>
          </p:nvSpPr>
          <p:spPr bwMode="auto">
            <a:xfrm>
              <a:off x="3426"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6" name="Rectangle 461">
              <a:extLst>
                <a:ext uri="{FF2B5EF4-FFF2-40B4-BE49-F238E27FC236}">
                  <a16:creationId xmlns:a16="http://schemas.microsoft.com/office/drawing/2014/main" id="{6BB49281-9149-4123-A7A1-9ED57B97E3A2}"/>
                </a:ext>
              </a:extLst>
            </p:cNvPr>
            <p:cNvSpPr>
              <a:spLocks noChangeArrowheads="1"/>
            </p:cNvSpPr>
            <p:nvPr/>
          </p:nvSpPr>
          <p:spPr bwMode="auto">
            <a:xfrm>
              <a:off x="3446" y="3894"/>
              <a:ext cx="4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7" name="Rectangle 462">
              <a:extLst>
                <a:ext uri="{FF2B5EF4-FFF2-40B4-BE49-F238E27FC236}">
                  <a16:creationId xmlns:a16="http://schemas.microsoft.com/office/drawing/2014/main" id="{C09F0D99-FAC5-4718-86C5-BA89DDD5A8FA}"/>
                </a:ext>
              </a:extLst>
            </p:cNvPr>
            <p:cNvSpPr>
              <a:spLocks noChangeArrowheads="1"/>
            </p:cNvSpPr>
            <p:nvPr/>
          </p:nvSpPr>
          <p:spPr bwMode="auto">
            <a:xfrm>
              <a:off x="3495"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8" name="Rectangle 463">
              <a:extLst>
                <a:ext uri="{FF2B5EF4-FFF2-40B4-BE49-F238E27FC236}">
                  <a16:creationId xmlns:a16="http://schemas.microsoft.com/office/drawing/2014/main" id="{BF73D4BE-5394-4599-9C6A-0441D4C99E81}"/>
                </a:ext>
              </a:extLst>
            </p:cNvPr>
            <p:cNvSpPr>
              <a:spLocks noChangeArrowheads="1"/>
            </p:cNvSpPr>
            <p:nvPr/>
          </p:nvSpPr>
          <p:spPr bwMode="auto">
            <a:xfrm>
              <a:off x="3514" y="3894"/>
              <a:ext cx="1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9" name="Rectangle 464">
              <a:extLst>
                <a:ext uri="{FF2B5EF4-FFF2-40B4-BE49-F238E27FC236}">
                  <a16:creationId xmlns:a16="http://schemas.microsoft.com/office/drawing/2014/main" id="{147BC7D4-3750-422F-B9B0-A6092B81B04F}"/>
                </a:ext>
              </a:extLst>
            </p:cNvPr>
            <p:cNvSpPr>
              <a:spLocks noChangeArrowheads="1"/>
            </p:cNvSpPr>
            <p:nvPr/>
          </p:nvSpPr>
          <p:spPr bwMode="auto">
            <a:xfrm>
              <a:off x="3545" y="3894"/>
              <a:ext cx="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0" name="Rectangle 465">
              <a:extLst>
                <a:ext uri="{FF2B5EF4-FFF2-40B4-BE49-F238E27FC236}">
                  <a16:creationId xmlns:a16="http://schemas.microsoft.com/office/drawing/2014/main" id="{3F19A7B7-7646-468A-9B79-3D8D15D83E5B}"/>
                </a:ext>
              </a:extLst>
            </p:cNvPr>
            <p:cNvSpPr>
              <a:spLocks noChangeArrowheads="1"/>
            </p:cNvSpPr>
            <p:nvPr/>
          </p:nvSpPr>
          <p:spPr bwMode="auto">
            <a:xfrm>
              <a:off x="3573" y="3894"/>
              <a:ext cx="4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1" name="Rectangle 466">
              <a:extLst>
                <a:ext uri="{FF2B5EF4-FFF2-40B4-BE49-F238E27FC236}">
                  <a16:creationId xmlns:a16="http://schemas.microsoft.com/office/drawing/2014/main" id="{9D4D5ABA-0568-4820-A47E-AF66FBC9B134}"/>
                </a:ext>
              </a:extLst>
            </p:cNvPr>
            <p:cNvSpPr>
              <a:spLocks noChangeArrowheads="1"/>
            </p:cNvSpPr>
            <p:nvPr/>
          </p:nvSpPr>
          <p:spPr bwMode="auto">
            <a:xfrm>
              <a:off x="3631"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2" name="Rectangle 467">
              <a:extLst>
                <a:ext uri="{FF2B5EF4-FFF2-40B4-BE49-F238E27FC236}">
                  <a16:creationId xmlns:a16="http://schemas.microsoft.com/office/drawing/2014/main" id="{21BB9329-70C3-403F-9E50-9E9C5FF10863}"/>
                </a:ext>
              </a:extLst>
            </p:cNvPr>
            <p:cNvSpPr>
              <a:spLocks noChangeArrowheads="1"/>
            </p:cNvSpPr>
            <p:nvPr/>
          </p:nvSpPr>
          <p:spPr bwMode="auto">
            <a:xfrm>
              <a:off x="3672" y="3894"/>
              <a:ext cx="1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3" name="Rectangle 468">
              <a:extLst>
                <a:ext uri="{FF2B5EF4-FFF2-40B4-BE49-F238E27FC236}">
                  <a16:creationId xmlns:a16="http://schemas.microsoft.com/office/drawing/2014/main" id="{FB0CC05E-DF86-4662-A42C-7370CFECA430}"/>
                </a:ext>
              </a:extLst>
            </p:cNvPr>
            <p:cNvSpPr>
              <a:spLocks noChangeArrowheads="1"/>
            </p:cNvSpPr>
            <p:nvPr/>
          </p:nvSpPr>
          <p:spPr bwMode="auto">
            <a:xfrm>
              <a:off x="3693"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4" name="Oval 469">
              <a:extLst>
                <a:ext uri="{FF2B5EF4-FFF2-40B4-BE49-F238E27FC236}">
                  <a16:creationId xmlns:a16="http://schemas.microsoft.com/office/drawing/2014/main" id="{307B45CC-1956-4B96-BB49-0E56B6C980F6}"/>
                </a:ext>
              </a:extLst>
            </p:cNvPr>
            <p:cNvSpPr>
              <a:spLocks noChangeArrowheads="1"/>
            </p:cNvSpPr>
            <p:nvPr/>
          </p:nvSpPr>
          <p:spPr bwMode="auto">
            <a:xfrm>
              <a:off x="3344"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5" name="Oval 470">
              <a:extLst>
                <a:ext uri="{FF2B5EF4-FFF2-40B4-BE49-F238E27FC236}">
                  <a16:creationId xmlns:a16="http://schemas.microsoft.com/office/drawing/2014/main" id="{38AE6A0C-5DD3-45B7-B5EB-3F7A4663BFDC}"/>
                </a:ext>
              </a:extLst>
            </p:cNvPr>
            <p:cNvSpPr>
              <a:spLocks noChangeArrowheads="1"/>
            </p:cNvSpPr>
            <p:nvPr/>
          </p:nvSpPr>
          <p:spPr bwMode="auto">
            <a:xfrm>
              <a:off x="3362" y="3881"/>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6" name="Oval 471">
              <a:extLst>
                <a:ext uri="{FF2B5EF4-FFF2-40B4-BE49-F238E27FC236}">
                  <a16:creationId xmlns:a16="http://schemas.microsoft.com/office/drawing/2014/main" id="{A955110A-58B1-48B7-BBDE-1598BBF5964F}"/>
                </a:ext>
              </a:extLst>
            </p:cNvPr>
            <p:cNvSpPr>
              <a:spLocks noChangeArrowheads="1"/>
            </p:cNvSpPr>
            <p:nvPr/>
          </p:nvSpPr>
          <p:spPr bwMode="auto">
            <a:xfrm>
              <a:off x="3405" y="3876"/>
              <a:ext cx="20"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7" name="Oval 472">
              <a:extLst>
                <a:ext uri="{FF2B5EF4-FFF2-40B4-BE49-F238E27FC236}">
                  <a16:creationId xmlns:a16="http://schemas.microsoft.com/office/drawing/2014/main" id="{793974AE-FC37-48A8-AB0E-36DAB65FC0DE}"/>
                </a:ext>
              </a:extLst>
            </p:cNvPr>
            <p:cNvSpPr>
              <a:spLocks noChangeArrowheads="1"/>
            </p:cNvSpPr>
            <p:nvPr/>
          </p:nvSpPr>
          <p:spPr bwMode="auto">
            <a:xfrm>
              <a:off x="3421"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8" name="Oval 473">
              <a:extLst>
                <a:ext uri="{FF2B5EF4-FFF2-40B4-BE49-F238E27FC236}">
                  <a16:creationId xmlns:a16="http://schemas.microsoft.com/office/drawing/2014/main" id="{3F97D5B0-4136-43D0-ADFF-606139277721}"/>
                </a:ext>
              </a:extLst>
            </p:cNvPr>
            <p:cNvSpPr>
              <a:spLocks noChangeArrowheads="1"/>
            </p:cNvSpPr>
            <p:nvPr/>
          </p:nvSpPr>
          <p:spPr bwMode="auto">
            <a:xfrm>
              <a:off x="3446" y="3886"/>
              <a:ext cx="3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9" name="Oval 474">
              <a:extLst>
                <a:ext uri="{FF2B5EF4-FFF2-40B4-BE49-F238E27FC236}">
                  <a16:creationId xmlns:a16="http://schemas.microsoft.com/office/drawing/2014/main" id="{AE02F629-07A3-4186-A831-B73520F15E1A}"/>
                </a:ext>
              </a:extLst>
            </p:cNvPr>
            <p:cNvSpPr>
              <a:spLocks noChangeArrowheads="1"/>
            </p:cNvSpPr>
            <p:nvPr/>
          </p:nvSpPr>
          <p:spPr bwMode="auto">
            <a:xfrm>
              <a:off x="3495"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0" name="Oval 475">
              <a:extLst>
                <a:ext uri="{FF2B5EF4-FFF2-40B4-BE49-F238E27FC236}">
                  <a16:creationId xmlns:a16="http://schemas.microsoft.com/office/drawing/2014/main" id="{89CEC263-DB8B-4468-BB00-9E2788628392}"/>
                </a:ext>
              </a:extLst>
            </p:cNvPr>
            <p:cNvSpPr>
              <a:spLocks noChangeArrowheads="1"/>
            </p:cNvSpPr>
            <p:nvPr/>
          </p:nvSpPr>
          <p:spPr bwMode="auto">
            <a:xfrm>
              <a:off x="3514" y="3886"/>
              <a:ext cx="11"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1" name="Oval 476">
              <a:extLst>
                <a:ext uri="{FF2B5EF4-FFF2-40B4-BE49-F238E27FC236}">
                  <a16:creationId xmlns:a16="http://schemas.microsoft.com/office/drawing/2014/main" id="{F113BCD7-AC36-4AA7-AF15-79ECAC49F0D7}"/>
                </a:ext>
              </a:extLst>
            </p:cNvPr>
            <p:cNvSpPr>
              <a:spLocks noChangeArrowheads="1"/>
            </p:cNvSpPr>
            <p:nvPr/>
          </p:nvSpPr>
          <p:spPr bwMode="auto">
            <a:xfrm>
              <a:off x="3540"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2" name="Oval 477">
              <a:extLst>
                <a:ext uri="{FF2B5EF4-FFF2-40B4-BE49-F238E27FC236}">
                  <a16:creationId xmlns:a16="http://schemas.microsoft.com/office/drawing/2014/main" id="{B703C6C7-A9CA-4843-ABEF-7F88EDB162FC}"/>
                </a:ext>
              </a:extLst>
            </p:cNvPr>
            <p:cNvSpPr>
              <a:spLocks noChangeArrowheads="1"/>
            </p:cNvSpPr>
            <p:nvPr/>
          </p:nvSpPr>
          <p:spPr bwMode="auto">
            <a:xfrm>
              <a:off x="3619"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3" name="Oval 478">
              <a:extLst>
                <a:ext uri="{FF2B5EF4-FFF2-40B4-BE49-F238E27FC236}">
                  <a16:creationId xmlns:a16="http://schemas.microsoft.com/office/drawing/2014/main" id="{EA4A24C7-6134-4A6C-B6F7-725D84380C0E}"/>
                </a:ext>
              </a:extLst>
            </p:cNvPr>
            <p:cNvSpPr>
              <a:spLocks noChangeArrowheads="1"/>
            </p:cNvSpPr>
            <p:nvPr/>
          </p:nvSpPr>
          <p:spPr bwMode="auto">
            <a:xfrm>
              <a:off x="3631"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4" name="Oval 479">
              <a:extLst>
                <a:ext uri="{FF2B5EF4-FFF2-40B4-BE49-F238E27FC236}">
                  <a16:creationId xmlns:a16="http://schemas.microsoft.com/office/drawing/2014/main" id="{55D59F89-77F5-4C28-921A-CCBEC83872E6}"/>
                </a:ext>
              </a:extLst>
            </p:cNvPr>
            <p:cNvSpPr>
              <a:spLocks noChangeArrowheads="1"/>
            </p:cNvSpPr>
            <p:nvPr/>
          </p:nvSpPr>
          <p:spPr bwMode="auto">
            <a:xfrm>
              <a:off x="3682" y="3876"/>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5" name="Oval 480">
              <a:extLst>
                <a:ext uri="{FF2B5EF4-FFF2-40B4-BE49-F238E27FC236}">
                  <a16:creationId xmlns:a16="http://schemas.microsoft.com/office/drawing/2014/main" id="{F668F332-7318-4951-9ADE-AFC86FD2E02F}"/>
                </a:ext>
              </a:extLst>
            </p:cNvPr>
            <p:cNvSpPr>
              <a:spLocks noChangeArrowheads="1"/>
            </p:cNvSpPr>
            <p:nvPr/>
          </p:nvSpPr>
          <p:spPr bwMode="auto">
            <a:xfrm>
              <a:off x="3693"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6" name="Line 481">
              <a:extLst>
                <a:ext uri="{FF2B5EF4-FFF2-40B4-BE49-F238E27FC236}">
                  <a16:creationId xmlns:a16="http://schemas.microsoft.com/office/drawing/2014/main" id="{58309EE8-4591-48C4-BDF0-F45342924EB8}"/>
                </a:ext>
              </a:extLst>
            </p:cNvPr>
            <p:cNvSpPr>
              <a:spLocks noChangeShapeType="1"/>
            </p:cNvSpPr>
            <p:nvPr/>
          </p:nvSpPr>
          <p:spPr bwMode="auto">
            <a:xfrm>
              <a:off x="3278" y="384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67" name="Group 482">
              <a:extLst>
                <a:ext uri="{FF2B5EF4-FFF2-40B4-BE49-F238E27FC236}">
                  <a16:creationId xmlns:a16="http://schemas.microsoft.com/office/drawing/2014/main" id="{ACBCFFF7-7ED9-4B88-AEAC-368EF24902EF}"/>
                </a:ext>
              </a:extLst>
            </p:cNvPr>
            <p:cNvGrpSpPr>
              <a:grpSpLocks/>
            </p:cNvGrpSpPr>
            <p:nvPr/>
          </p:nvGrpSpPr>
          <p:grpSpPr bwMode="auto">
            <a:xfrm>
              <a:off x="3349" y="3796"/>
              <a:ext cx="345" cy="20"/>
              <a:chOff x="3349" y="3796"/>
              <a:chExt cx="345" cy="20"/>
            </a:xfrm>
          </p:grpSpPr>
          <p:sp>
            <p:nvSpPr>
              <p:cNvPr id="217" name="Rectangle 483">
                <a:extLst>
                  <a:ext uri="{FF2B5EF4-FFF2-40B4-BE49-F238E27FC236}">
                    <a16:creationId xmlns:a16="http://schemas.microsoft.com/office/drawing/2014/main" id="{96217F87-4156-4B42-B416-EEE510399BE2}"/>
                  </a:ext>
                </a:extLst>
              </p:cNvPr>
              <p:cNvSpPr>
                <a:spLocks noChangeArrowheads="1"/>
              </p:cNvSpPr>
              <p:nvPr/>
            </p:nvSpPr>
            <p:spPr bwMode="auto">
              <a:xfrm>
                <a:off x="3349" y="3801"/>
                <a:ext cx="8"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8" name="Rectangle 484">
                <a:extLst>
                  <a:ext uri="{FF2B5EF4-FFF2-40B4-BE49-F238E27FC236}">
                    <a16:creationId xmlns:a16="http://schemas.microsoft.com/office/drawing/2014/main" id="{F7B6956A-F626-4013-93CA-0E911B357169}"/>
                  </a:ext>
                </a:extLst>
              </p:cNvPr>
              <p:cNvSpPr>
                <a:spLocks noChangeArrowheads="1"/>
              </p:cNvSpPr>
              <p:nvPr/>
            </p:nvSpPr>
            <p:spPr bwMode="auto">
              <a:xfrm>
                <a:off x="3362" y="3796"/>
                <a:ext cx="8" cy="2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9" name="Rectangle 485">
                <a:extLst>
                  <a:ext uri="{FF2B5EF4-FFF2-40B4-BE49-F238E27FC236}">
                    <a16:creationId xmlns:a16="http://schemas.microsoft.com/office/drawing/2014/main" id="{A307E96D-86BA-4B52-874A-3D05FB64803F}"/>
                  </a:ext>
                </a:extLst>
              </p:cNvPr>
              <p:cNvSpPr>
                <a:spLocks noChangeArrowheads="1"/>
              </p:cNvSpPr>
              <p:nvPr/>
            </p:nvSpPr>
            <p:spPr bwMode="auto">
              <a:xfrm>
                <a:off x="3415"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0" name="Rectangle 486">
                <a:extLst>
                  <a:ext uri="{FF2B5EF4-FFF2-40B4-BE49-F238E27FC236}">
                    <a16:creationId xmlns:a16="http://schemas.microsoft.com/office/drawing/2014/main" id="{2752D002-5011-4BF9-8924-70D065DA67E7}"/>
                  </a:ext>
                </a:extLst>
              </p:cNvPr>
              <p:cNvSpPr>
                <a:spLocks noChangeArrowheads="1"/>
              </p:cNvSpPr>
              <p:nvPr/>
            </p:nvSpPr>
            <p:spPr bwMode="auto">
              <a:xfrm>
                <a:off x="3426"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1" name="Rectangle 487">
                <a:extLst>
                  <a:ext uri="{FF2B5EF4-FFF2-40B4-BE49-F238E27FC236}">
                    <a16:creationId xmlns:a16="http://schemas.microsoft.com/office/drawing/2014/main" id="{B8B4F7E5-AFB0-43F3-864A-00274C9ACCB9}"/>
                  </a:ext>
                </a:extLst>
              </p:cNvPr>
              <p:cNvSpPr>
                <a:spLocks noChangeArrowheads="1"/>
              </p:cNvSpPr>
              <p:nvPr/>
            </p:nvSpPr>
            <p:spPr bwMode="auto">
              <a:xfrm>
                <a:off x="3446" y="3801"/>
                <a:ext cx="4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2" name="Rectangle 488">
                <a:extLst>
                  <a:ext uri="{FF2B5EF4-FFF2-40B4-BE49-F238E27FC236}">
                    <a16:creationId xmlns:a16="http://schemas.microsoft.com/office/drawing/2014/main" id="{82FB8957-2FEC-4D0B-8307-25404F818CCC}"/>
                  </a:ext>
                </a:extLst>
              </p:cNvPr>
              <p:cNvSpPr>
                <a:spLocks noChangeArrowheads="1"/>
              </p:cNvSpPr>
              <p:nvPr/>
            </p:nvSpPr>
            <p:spPr bwMode="auto">
              <a:xfrm>
                <a:off x="3495"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3" name="Rectangle 489">
                <a:extLst>
                  <a:ext uri="{FF2B5EF4-FFF2-40B4-BE49-F238E27FC236}">
                    <a16:creationId xmlns:a16="http://schemas.microsoft.com/office/drawing/2014/main" id="{7B69BFE6-C69A-41AD-9BB1-224EF7F46BEA}"/>
                  </a:ext>
                </a:extLst>
              </p:cNvPr>
              <p:cNvSpPr>
                <a:spLocks noChangeArrowheads="1"/>
              </p:cNvSpPr>
              <p:nvPr/>
            </p:nvSpPr>
            <p:spPr bwMode="auto">
              <a:xfrm>
                <a:off x="3514" y="3801"/>
                <a:ext cx="1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4" name="Rectangle 490">
                <a:extLst>
                  <a:ext uri="{FF2B5EF4-FFF2-40B4-BE49-F238E27FC236}">
                    <a16:creationId xmlns:a16="http://schemas.microsoft.com/office/drawing/2014/main" id="{4498CDE2-F03F-44E3-94A4-52405D0BD1C1}"/>
                  </a:ext>
                </a:extLst>
              </p:cNvPr>
              <p:cNvSpPr>
                <a:spLocks noChangeArrowheads="1"/>
              </p:cNvSpPr>
              <p:nvPr/>
            </p:nvSpPr>
            <p:spPr bwMode="auto">
              <a:xfrm>
                <a:off x="3545" y="3801"/>
                <a:ext cx="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5" name="Rectangle 491">
                <a:extLst>
                  <a:ext uri="{FF2B5EF4-FFF2-40B4-BE49-F238E27FC236}">
                    <a16:creationId xmlns:a16="http://schemas.microsoft.com/office/drawing/2014/main" id="{10B18236-28B5-4A8F-9C15-51D454B01BAD}"/>
                  </a:ext>
                </a:extLst>
              </p:cNvPr>
              <p:cNvSpPr>
                <a:spLocks noChangeArrowheads="1"/>
              </p:cNvSpPr>
              <p:nvPr/>
            </p:nvSpPr>
            <p:spPr bwMode="auto">
              <a:xfrm>
                <a:off x="3573" y="3801"/>
                <a:ext cx="4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6" name="Rectangle 492">
                <a:extLst>
                  <a:ext uri="{FF2B5EF4-FFF2-40B4-BE49-F238E27FC236}">
                    <a16:creationId xmlns:a16="http://schemas.microsoft.com/office/drawing/2014/main" id="{CA5F869F-2A59-4D5C-91D8-A87BB23B69B0}"/>
                  </a:ext>
                </a:extLst>
              </p:cNvPr>
              <p:cNvSpPr>
                <a:spLocks noChangeArrowheads="1"/>
              </p:cNvSpPr>
              <p:nvPr/>
            </p:nvSpPr>
            <p:spPr bwMode="auto">
              <a:xfrm>
                <a:off x="3631"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7" name="Rectangle 493">
                <a:extLst>
                  <a:ext uri="{FF2B5EF4-FFF2-40B4-BE49-F238E27FC236}">
                    <a16:creationId xmlns:a16="http://schemas.microsoft.com/office/drawing/2014/main" id="{82FB6523-A9A1-46A7-9844-3B59EB4465C0}"/>
                  </a:ext>
                </a:extLst>
              </p:cNvPr>
              <p:cNvSpPr>
                <a:spLocks noChangeArrowheads="1"/>
              </p:cNvSpPr>
              <p:nvPr/>
            </p:nvSpPr>
            <p:spPr bwMode="auto">
              <a:xfrm>
                <a:off x="3672" y="3801"/>
                <a:ext cx="1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8" name="Rectangle 494">
                <a:extLst>
                  <a:ext uri="{FF2B5EF4-FFF2-40B4-BE49-F238E27FC236}">
                    <a16:creationId xmlns:a16="http://schemas.microsoft.com/office/drawing/2014/main" id="{4C6903EC-BC32-4411-9367-CCE1294E0709}"/>
                  </a:ext>
                </a:extLst>
              </p:cNvPr>
              <p:cNvSpPr>
                <a:spLocks noChangeArrowheads="1"/>
              </p:cNvSpPr>
              <p:nvPr/>
            </p:nvSpPr>
            <p:spPr bwMode="auto">
              <a:xfrm>
                <a:off x="3693"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68" name="Oval 495">
              <a:extLst>
                <a:ext uri="{FF2B5EF4-FFF2-40B4-BE49-F238E27FC236}">
                  <a16:creationId xmlns:a16="http://schemas.microsoft.com/office/drawing/2014/main" id="{A59D6FD6-43A3-4C29-AA70-2D7B21E442F7}"/>
                </a:ext>
              </a:extLst>
            </p:cNvPr>
            <p:cNvSpPr>
              <a:spLocks noChangeArrowheads="1"/>
            </p:cNvSpPr>
            <p:nvPr/>
          </p:nvSpPr>
          <p:spPr bwMode="auto">
            <a:xfrm>
              <a:off x="3344"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9" name="Oval 496">
              <a:extLst>
                <a:ext uri="{FF2B5EF4-FFF2-40B4-BE49-F238E27FC236}">
                  <a16:creationId xmlns:a16="http://schemas.microsoft.com/office/drawing/2014/main" id="{79495983-C4D0-49C3-8B0A-D3D060EF4442}"/>
                </a:ext>
              </a:extLst>
            </p:cNvPr>
            <p:cNvSpPr>
              <a:spLocks noChangeArrowheads="1"/>
            </p:cNvSpPr>
            <p:nvPr/>
          </p:nvSpPr>
          <p:spPr bwMode="auto">
            <a:xfrm>
              <a:off x="3362"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0" name="Oval 497">
              <a:extLst>
                <a:ext uri="{FF2B5EF4-FFF2-40B4-BE49-F238E27FC236}">
                  <a16:creationId xmlns:a16="http://schemas.microsoft.com/office/drawing/2014/main" id="{40E551BA-65A4-4FE3-9DD4-6DEE7F655693}"/>
                </a:ext>
              </a:extLst>
            </p:cNvPr>
            <p:cNvSpPr>
              <a:spLocks noChangeArrowheads="1"/>
            </p:cNvSpPr>
            <p:nvPr/>
          </p:nvSpPr>
          <p:spPr bwMode="auto">
            <a:xfrm>
              <a:off x="341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1" name="Oval 498">
              <a:extLst>
                <a:ext uri="{FF2B5EF4-FFF2-40B4-BE49-F238E27FC236}">
                  <a16:creationId xmlns:a16="http://schemas.microsoft.com/office/drawing/2014/main" id="{1296375C-829A-4ED8-9A59-33AFB4D65203}"/>
                </a:ext>
              </a:extLst>
            </p:cNvPr>
            <p:cNvSpPr>
              <a:spLocks noChangeArrowheads="1"/>
            </p:cNvSpPr>
            <p:nvPr/>
          </p:nvSpPr>
          <p:spPr bwMode="auto">
            <a:xfrm>
              <a:off x="3421"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2" name="Oval 499">
              <a:extLst>
                <a:ext uri="{FF2B5EF4-FFF2-40B4-BE49-F238E27FC236}">
                  <a16:creationId xmlns:a16="http://schemas.microsoft.com/office/drawing/2014/main" id="{FEAA0646-0649-48B6-A958-5660AA906DF2}"/>
                </a:ext>
              </a:extLst>
            </p:cNvPr>
            <p:cNvSpPr>
              <a:spLocks noChangeArrowheads="1"/>
            </p:cNvSpPr>
            <p:nvPr/>
          </p:nvSpPr>
          <p:spPr bwMode="auto">
            <a:xfrm>
              <a:off x="3436" y="3768"/>
              <a:ext cx="49"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3" name="Oval 500">
              <a:extLst>
                <a:ext uri="{FF2B5EF4-FFF2-40B4-BE49-F238E27FC236}">
                  <a16:creationId xmlns:a16="http://schemas.microsoft.com/office/drawing/2014/main" id="{311008F6-680D-4B86-94A4-A4307E63BCCB}"/>
                </a:ext>
              </a:extLst>
            </p:cNvPr>
            <p:cNvSpPr>
              <a:spLocks noChangeArrowheads="1"/>
            </p:cNvSpPr>
            <p:nvPr/>
          </p:nvSpPr>
          <p:spPr bwMode="auto">
            <a:xfrm>
              <a:off x="3484" y="3768"/>
              <a:ext cx="22"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4" name="Oval 501">
              <a:extLst>
                <a:ext uri="{FF2B5EF4-FFF2-40B4-BE49-F238E27FC236}">
                  <a16:creationId xmlns:a16="http://schemas.microsoft.com/office/drawing/2014/main" id="{B95B68BC-56BB-4CDA-8143-76A5A7E7098C}"/>
                </a:ext>
              </a:extLst>
            </p:cNvPr>
            <p:cNvSpPr>
              <a:spLocks noChangeArrowheads="1"/>
            </p:cNvSpPr>
            <p:nvPr/>
          </p:nvSpPr>
          <p:spPr bwMode="auto">
            <a:xfrm>
              <a:off x="3505" y="3768"/>
              <a:ext cx="31"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5" name="Oval 502">
              <a:extLst>
                <a:ext uri="{FF2B5EF4-FFF2-40B4-BE49-F238E27FC236}">
                  <a16:creationId xmlns:a16="http://schemas.microsoft.com/office/drawing/2014/main" id="{86706FD1-BA9D-4E9B-877C-98ED8896DE1F}"/>
                </a:ext>
              </a:extLst>
            </p:cNvPr>
            <p:cNvSpPr>
              <a:spLocks noChangeArrowheads="1"/>
            </p:cNvSpPr>
            <p:nvPr/>
          </p:nvSpPr>
          <p:spPr bwMode="auto">
            <a:xfrm>
              <a:off x="354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6" name="Oval 503">
              <a:extLst>
                <a:ext uri="{FF2B5EF4-FFF2-40B4-BE49-F238E27FC236}">
                  <a16:creationId xmlns:a16="http://schemas.microsoft.com/office/drawing/2014/main" id="{D959809B-08FA-40EC-8101-6438F6793B47}"/>
                </a:ext>
              </a:extLst>
            </p:cNvPr>
            <p:cNvSpPr>
              <a:spLocks noChangeArrowheads="1"/>
            </p:cNvSpPr>
            <p:nvPr/>
          </p:nvSpPr>
          <p:spPr bwMode="auto">
            <a:xfrm>
              <a:off x="3619" y="3773"/>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7" name="Oval 504">
              <a:extLst>
                <a:ext uri="{FF2B5EF4-FFF2-40B4-BE49-F238E27FC236}">
                  <a16:creationId xmlns:a16="http://schemas.microsoft.com/office/drawing/2014/main" id="{BA6FEDEB-EB3C-49A0-9041-90204D33C846}"/>
                </a:ext>
              </a:extLst>
            </p:cNvPr>
            <p:cNvSpPr>
              <a:spLocks noChangeArrowheads="1"/>
            </p:cNvSpPr>
            <p:nvPr/>
          </p:nvSpPr>
          <p:spPr bwMode="auto">
            <a:xfrm>
              <a:off x="3631"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8" name="Oval 505">
              <a:extLst>
                <a:ext uri="{FF2B5EF4-FFF2-40B4-BE49-F238E27FC236}">
                  <a16:creationId xmlns:a16="http://schemas.microsoft.com/office/drawing/2014/main" id="{B18826B4-1B0E-4780-A3C1-8305A4CAC34D}"/>
                </a:ext>
              </a:extLst>
            </p:cNvPr>
            <p:cNvSpPr>
              <a:spLocks noChangeArrowheads="1"/>
            </p:cNvSpPr>
            <p:nvPr/>
          </p:nvSpPr>
          <p:spPr bwMode="auto">
            <a:xfrm>
              <a:off x="3682" y="3768"/>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9" name="Oval 506">
              <a:extLst>
                <a:ext uri="{FF2B5EF4-FFF2-40B4-BE49-F238E27FC236}">
                  <a16:creationId xmlns:a16="http://schemas.microsoft.com/office/drawing/2014/main" id="{24242138-1055-447F-9E16-15331716103E}"/>
                </a:ext>
              </a:extLst>
            </p:cNvPr>
            <p:cNvSpPr>
              <a:spLocks noChangeArrowheads="1"/>
            </p:cNvSpPr>
            <p:nvPr/>
          </p:nvSpPr>
          <p:spPr bwMode="auto">
            <a:xfrm>
              <a:off x="3693"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0" name="Line 507">
              <a:extLst>
                <a:ext uri="{FF2B5EF4-FFF2-40B4-BE49-F238E27FC236}">
                  <a16:creationId xmlns:a16="http://schemas.microsoft.com/office/drawing/2014/main" id="{45D96A8D-250D-465A-96D0-2B8EA97C7D67}"/>
                </a:ext>
              </a:extLst>
            </p:cNvPr>
            <p:cNvSpPr>
              <a:spLocks noChangeShapeType="1"/>
            </p:cNvSpPr>
            <p:nvPr/>
          </p:nvSpPr>
          <p:spPr bwMode="auto">
            <a:xfrm>
              <a:off x="3278" y="3768"/>
              <a:ext cx="798" cy="1"/>
            </a:xfrm>
            <a:prstGeom prst="line">
              <a:avLst/>
            </a:prstGeom>
            <a:noFill/>
            <a:ln w="15875">
              <a:solidFill>
                <a:srgbClr val="0054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81" name="Group 508">
              <a:extLst>
                <a:ext uri="{FF2B5EF4-FFF2-40B4-BE49-F238E27FC236}">
                  <a16:creationId xmlns:a16="http://schemas.microsoft.com/office/drawing/2014/main" id="{60C4DC3E-5E7E-48D3-8387-C5DEC6C7A642}"/>
                </a:ext>
              </a:extLst>
            </p:cNvPr>
            <p:cNvGrpSpPr>
              <a:grpSpLocks/>
            </p:cNvGrpSpPr>
            <p:nvPr/>
          </p:nvGrpSpPr>
          <p:grpSpPr bwMode="auto">
            <a:xfrm>
              <a:off x="3349" y="3725"/>
              <a:ext cx="345" cy="14"/>
              <a:chOff x="3349" y="3725"/>
              <a:chExt cx="345" cy="14"/>
            </a:xfrm>
          </p:grpSpPr>
          <p:sp>
            <p:nvSpPr>
              <p:cNvPr id="205" name="Rectangle 509">
                <a:extLst>
                  <a:ext uri="{FF2B5EF4-FFF2-40B4-BE49-F238E27FC236}">
                    <a16:creationId xmlns:a16="http://schemas.microsoft.com/office/drawing/2014/main" id="{945AC7CD-543B-4D60-B2B0-96A76ABEA2C6}"/>
                  </a:ext>
                </a:extLst>
              </p:cNvPr>
              <p:cNvSpPr>
                <a:spLocks noChangeArrowheads="1"/>
              </p:cNvSpPr>
              <p:nvPr/>
            </p:nvSpPr>
            <p:spPr bwMode="auto">
              <a:xfrm>
                <a:off x="3349" y="3730"/>
                <a:ext cx="8"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6" name="Rectangle 510">
                <a:extLst>
                  <a:ext uri="{FF2B5EF4-FFF2-40B4-BE49-F238E27FC236}">
                    <a16:creationId xmlns:a16="http://schemas.microsoft.com/office/drawing/2014/main" id="{45C516F6-7F3B-40C8-A146-1BD3CE674E94}"/>
                  </a:ext>
                </a:extLst>
              </p:cNvPr>
              <p:cNvSpPr>
                <a:spLocks noChangeArrowheads="1"/>
              </p:cNvSpPr>
              <p:nvPr/>
            </p:nvSpPr>
            <p:spPr bwMode="auto">
              <a:xfrm>
                <a:off x="3362" y="3725"/>
                <a:ext cx="8" cy="1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7" name="Rectangle 511">
                <a:extLst>
                  <a:ext uri="{FF2B5EF4-FFF2-40B4-BE49-F238E27FC236}">
                    <a16:creationId xmlns:a16="http://schemas.microsoft.com/office/drawing/2014/main" id="{57FABBA7-1934-4C0A-B4D5-978104BFB4D5}"/>
                  </a:ext>
                </a:extLst>
              </p:cNvPr>
              <p:cNvSpPr>
                <a:spLocks noChangeArrowheads="1"/>
              </p:cNvSpPr>
              <p:nvPr/>
            </p:nvSpPr>
            <p:spPr bwMode="auto">
              <a:xfrm>
                <a:off x="3415"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8" name="Rectangle 512">
                <a:extLst>
                  <a:ext uri="{FF2B5EF4-FFF2-40B4-BE49-F238E27FC236}">
                    <a16:creationId xmlns:a16="http://schemas.microsoft.com/office/drawing/2014/main" id="{F27F7D18-09C5-438A-AE1F-5F5C3CB95FA8}"/>
                  </a:ext>
                </a:extLst>
              </p:cNvPr>
              <p:cNvSpPr>
                <a:spLocks noChangeArrowheads="1"/>
              </p:cNvSpPr>
              <p:nvPr/>
            </p:nvSpPr>
            <p:spPr bwMode="auto">
              <a:xfrm>
                <a:off x="3426"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9" name="Rectangle 513">
                <a:extLst>
                  <a:ext uri="{FF2B5EF4-FFF2-40B4-BE49-F238E27FC236}">
                    <a16:creationId xmlns:a16="http://schemas.microsoft.com/office/drawing/2014/main" id="{DE238753-EA13-410E-A2E4-58A47E9821CE}"/>
                  </a:ext>
                </a:extLst>
              </p:cNvPr>
              <p:cNvSpPr>
                <a:spLocks noChangeArrowheads="1"/>
              </p:cNvSpPr>
              <p:nvPr/>
            </p:nvSpPr>
            <p:spPr bwMode="auto">
              <a:xfrm>
                <a:off x="3446" y="3730"/>
                <a:ext cx="4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0" name="Rectangle 514">
                <a:extLst>
                  <a:ext uri="{FF2B5EF4-FFF2-40B4-BE49-F238E27FC236}">
                    <a16:creationId xmlns:a16="http://schemas.microsoft.com/office/drawing/2014/main" id="{B4E52D4E-7BE8-4C36-BA79-8520B3868106}"/>
                  </a:ext>
                </a:extLst>
              </p:cNvPr>
              <p:cNvSpPr>
                <a:spLocks noChangeArrowheads="1"/>
              </p:cNvSpPr>
              <p:nvPr/>
            </p:nvSpPr>
            <p:spPr bwMode="auto">
              <a:xfrm>
                <a:off x="3495"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1" name="Rectangle 515">
                <a:extLst>
                  <a:ext uri="{FF2B5EF4-FFF2-40B4-BE49-F238E27FC236}">
                    <a16:creationId xmlns:a16="http://schemas.microsoft.com/office/drawing/2014/main" id="{099FC02A-1695-4FF3-B9C0-7EA1906E10C2}"/>
                  </a:ext>
                </a:extLst>
              </p:cNvPr>
              <p:cNvSpPr>
                <a:spLocks noChangeArrowheads="1"/>
              </p:cNvSpPr>
              <p:nvPr/>
            </p:nvSpPr>
            <p:spPr bwMode="auto">
              <a:xfrm>
                <a:off x="3514" y="3730"/>
                <a:ext cx="1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2" name="Rectangle 516">
                <a:extLst>
                  <a:ext uri="{FF2B5EF4-FFF2-40B4-BE49-F238E27FC236}">
                    <a16:creationId xmlns:a16="http://schemas.microsoft.com/office/drawing/2014/main" id="{8E16A1BE-3CCA-442D-9D3F-6EA430AC3ADF}"/>
                  </a:ext>
                </a:extLst>
              </p:cNvPr>
              <p:cNvSpPr>
                <a:spLocks noChangeArrowheads="1"/>
              </p:cNvSpPr>
              <p:nvPr/>
            </p:nvSpPr>
            <p:spPr bwMode="auto">
              <a:xfrm>
                <a:off x="3545" y="3730"/>
                <a:ext cx="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3" name="Rectangle 517">
                <a:extLst>
                  <a:ext uri="{FF2B5EF4-FFF2-40B4-BE49-F238E27FC236}">
                    <a16:creationId xmlns:a16="http://schemas.microsoft.com/office/drawing/2014/main" id="{FDBA5162-ED70-4E4A-9E36-8046C9126378}"/>
                  </a:ext>
                </a:extLst>
              </p:cNvPr>
              <p:cNvSpPr>
                <a:spLocks noChangeArrowheads="1"/>
              </p:cNvSpPr>
              <p:nvPr/>
            </p:nvSpPr>
            <p:spPr bwMode="auto">
              <a:xfrm>
                <a:off x="3573" y="3730"/>
                <a:ext cx="4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4" name="Rectangle 518">
                <a:extLst>
                  <a:ext uri="{FF2B5EF4-FFF2-40B4-BE49-F238E27FC236}">
                    <a16:creationId xmlns:a16="http://schemas.microsoft.com/office/drawing/2014/main" id="{CC9083CD-12F7-4C43-BF99-81D124143A4C}"/>
                  </a:ext>
                </a:extLst>
              </p:cNvPr>
              <p:cNvSpPr>
                <a:spLocks noChangeArrowheads="1"/>
              </p:cNvSpPr>
              <p:nvPr/>
            </p:nvSpPr>
            <p:spPr bwMode="auto">
              <a:xfrm>
                <a:off x="3631"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5" name="Rectangle 519">
                <a:extLst>
                  <a:ext uri="{FF2B5EF4-FFF2-40B4-BE49-F238E27FC236}">
                    <a16:creationId xmlns:a16="http://schemas.microsoft.com/office/drawing/2014/main" id="{027FAABF-0308-45CA-86BA-29EB8159FD40}"/>
                  </a:ext>
                </a:extLst>
              </p:cNvPr>
              <p:cNvSpPr>
                <a:spLocks noChangeArrowheads="1"/>
              </p:cNvSpPr>
              <p:nvPr/>
            </p:nvSpPr>
            <p:spPr bwMode="auto">
              <a:xfrm>
                <a:off x="3672" y="3730"/>
                <a:ext cx="1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6" name="Rectangle 520">
                <a:extLst>
                  <a:ext uri="{FF2B5EF4-FFF2-40B4-BE49-F238E27FC236}">
                    <a16:creationId xmlns:a16="http://schemas.microsoft.com/office/drawing/2014/main" id="{064CED26-450F-4F87-ACD7-B71B00CE62BB}"/>
                  </a:ext>
                </a:extLst>
              </p:cNvPr>
              <p:cNvSpPr>
                <a:spLocks noChangeArrowheads="1"/>
              </p:cNvSpPr>
              <p:nvPr/>
            </p:nvSpPr>
            <p:spPr bwMode="auto">
              <a:xfrm>
                <a:off x="3693"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82" name="Oval 521">
              <a:extLst>
                <a:ext uri="{FF2B5EF4-FFF2-40B4-BE49-F238E27FC236}">
                  <a16:creationId xmlns:a16="http://schemas.microsoft.com/office/drawing/2014/main" id="{DA5844B5-6C22-4447-9159-30B08F1E4CD2}"/>
                </a:ext>
              </a:extLst>
            </p:cNvPr>
            <p:cNvSpPr>
              <a:spLocks noChangeArrowheads="1"/>
            </p:cNvSpPr>
            <p:nvPr/>
          </p:nvSpPr>
          <p:spPr bwMode="auto">
            <a:xfrm>
              <a:off x="3344"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3" name="Oval 522">
              <a:extLst>
                <a:ext uri="{FF2B5EF4-FFF2-40B4-BE49-F238E27FC236}">
                  <a16:creationId xmlns:a16="http://schemas.microsoft.com/office/drawing/2014/main" id="{5479A48C-C73E-457E-8314-06FDE010C211}"/>
                </a:ext>
              </a:extLst>
            </p:cNvPr>
            <p:cNvSpPr>
              <a:spLocks noChangeArrowheads="1"/>
            </p:cNvSpPr>
            <p:nvPr/>
          </p:nvSpPr>
          <p:spPr bwMode="auto">
            <a:xfrm>
              <a:off x="3362"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4" name="Oval 523">
              <a:extLst>
                <a:ext uri="{FF2B5EF4-FFF2-40B4-BE49-F238E27FC236}">
                  <a16:creationId xmlns:a16="http://schemas.microsoft.com/office/drawing/2014/main" id="{D8E814EE-9782-4C46-AB1D-110372DA752C}"/>
                </a:ext>
              </a:extLst>
            </p:cNvPr>
            <p:cNvSpPr>
              <a:spLocks noChangeArrowheads="1"/>
            </p:cNvSpPr>
            <p:nvPr/>
          </p:nvSpPr>
          <p:spPr bwMode="auto">
            <a:xfrm>
              <a:off x="341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5" name="Oval 524">
              <a:extLst>
                <a:ext uri="{FF2B5EF4-FFF2-40B4-BE49-F238E27FC236}">
                  <a16:creationId xmlns:a16="http://schemas.microsoft.com/office/drawing/2014/main" id="{50797AF6-E0F2-4FCF-ABEA-19A6F695B2E9}"/>
                </a:ext>
              </a:extLst>
            </p:cNvPr>
            <p:cNvSpPr>
              <a:spLocks noChangeArrowheads="1"/>
            </p:cNvSpPr>
            <p:nvPr/>
          </p:nvSpPr>
          <p:spPr bwMode="auto">
            <a:xfrm>
              <a:off x="3421"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6" name="Oval 525">
              <a:extLst>
                <a:ext uri="{FF2B5EF4-FFF2-40B4-BE49-F238E27FC236}">
                  <a16:creationId xmlns:a16="http://schemas.microsoft.com/office/drawing/2014/main" id="{68D11A98-0FEF-4ACE-B2CB-85D80CF8CB2C}"/>
                </a:ext>
              </a:extLst>
            </p:cNvPr>
            <p:cNvSpPr>
              <a:spLocks noChangeArrowheads="1"/>
            </p:cNvSpPr>
            <p:nvPr/>
          </p:nvSpPr>
          <p:spPr bwMode="auto">
            <a:xfrm>
              <a:off x="3446" y="3677"/>
              <a:ext cx="3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7" name="Oval 526">
              <a:extLst>
                <a:ext uri="{FF2B5EF4-FFF2-40B4-BE49-F238E27FC236}">
                  <a16:creationId xmlns:a16="http://schemas.microsoft.com/office/drawing/2014/main" id="{C58E8701-0FE6-4D8B-957C-0C3ED8231F70}"/>
                </a:ext>
              </a:extLst>
            </p:cNvPr>
            <p:cNvSpPr>
              <a:spLocks noChangeArrowheads="1"/>
            </p:cNvSpPr>
            <p:nvPr/>
          </p:nvSpPr>
          <p:spPr bwMode="auto">
            <a:xfrm>
              <a:off x="3495"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8" name="Oval 527">
              <a:extLst>
                <a:ext uri="{FF2B5EF4-FFF2-40B4-BE49-F238E27FC236}">
                  <a16:creationId xmlns:a16="http://schemas.microsoft.com/office/drawing/2014/main" id="{DDFA494C-6EBE-44B0-831E-A4F8449942CA}"/>
                </a:ext>
              </a:extLst>
            </p:cNvPr>
            <p:cNvSpPr>
              <a:spLocks noChangeArrowheads="1"/>
            </p:cNvSpPr>
            <p:nvPr/>
          </p:nvSpPr>
          <p:spPr bwMode="auto">
            <a:xfrm>
              <a:off x="3505" y="3666"/>
              <a:ext cx="31" cy="49"/>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9" name="Oval 528">
              <a:extLst>
                <a:ext uri="{FF2B5EF4-FFF2-40B4-BE49-F238E27FC236}">
                  <a16:creationId xmlns:a16="http://schemas.microsoft.com/office/drawing/2014/main" id="{F0FD9172-6A11-41D6-8E5E-775E56EFF8AD}"/>
                </a:ext>
              </a:extLst>
            </p:cNvPr>
            <p:cNvSpPr>
              <a:spLocks noChangeArrowheads="1"/>
            </p:cNvSpPr>
            <p:nvPr/>
          </p:nvSpPr>
          <p:spPr bwMode="auto">
            <a:xfrm>
              <a:off x="354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0" name="Oval 529">
              <a:extLst>
                <a:ext uri="{FF2B5EF4-FFF2-40B4-BE49-F238E27FC236}">
                  <a16:creationId xmlns:a16="http://schemas.microsoft.com/office/drawing/2014/main" id="{FE2E06B6-0478-4AF0-9E82-0D95B26F1750}"/>
                </a:ext>
              </a:extLst>
            </p:cNvPr>
            <p:cNvSpPr>
              <a:spLocks noChangeArrowheads="1"/>
            </p:cNvSpPr>
            <p:nvPr/>
          </p:nvSpPr>
          <p:spPr bwMode="auto">
            <a:xfrm>
              <a:off x="3619"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1" name="Oval 530">
              <a:extLst>
                <a:ext uri="{FF2B5EF4-FFF2-40B4-BE49-F238E27FC236}">
                  <a16:creationId xmlns:a16="http://schemas.microsoft.com/office/drawing/2014/main" id="{0F6981FB-6585-43E7-8202-744BE4084933}"/>
                </a:ext>
              </a:extLst>
            </p:cNvPr>
            <p:cNvSpPr>
              <a:spLocks noChangeArrowheads="1"/>
            </p:cNvSpPr>
            <p:nvPr/>
          </p:nvSpPr>
          <p:spPr bwMode="auto">
            <a:xfrm>
              <a:off x="3631"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2" name="Oval 531">
              <a:extLst>
                <a:ext uri="{FF2B5EF4-FFF2-40B4-BE49-F238E27FC236}">
                  <a16:creationId xmlns:a16="http://schemas.microsoft.com/office/drawing/2014/main" id="{936FBE6F-181A-4213-B4E7-1EE39CE69537}"/>
                </a:ext>
              </a:extLst>
            </p:cNvPr>
            <p:cNvSpPr>
              <a:spLocks noChangeArrowheads="1"/>
            </p:cNvSpPr>
            <p:nvPr/>
          </p:nvSpPr>
          <p:spPr bwMode="auto">
            <a:xfrm>
              <a:off x="3682" y="3666"/>
              <a:ext cx="21" cy="49"/>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3" name="Oval 532">
              <a:extLst>
                <a:ext uri="{FF2B5EF4-FFF2-40B4-BE49-F238E27FC236}">
                  <a16:creationId xmlns:a16="http://schemas.microsoft.com/office/drawing/2014/main" id="{853622E8-4BA8-4903-8465-AE6EF9E9B224}"/>
                </a:ext>
              </a:extLst>
            </p:cNvPr>
            <p:cNvSpPr>
              <a:spLocks noChangeArrowheads="1"/>
            </p:cNvSpPr>
            <p:nvPr/>
          </p:nvSpPr>
          <p:spPr bwMode="auto">
            <a:xfrm>
              <a:off x="3693"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4" name="Line 533">
              <a:extLst>
                <a:ext uri="{FF2B5EF4-FFF2-40B4-BE49-F238E27FC236}">
                  <a16:creationId xmlns:a16="http://schemas.microsoft.com/office/drawing/2014/main" id="{7CE038A3-914D-413E-918A-3D5A9F0FF23E}"/>
                </a:ext>
              </a:extLst>
            </p:cNvPr>
            <p:cNvSpPr>
              <a:spLocks noChangeShapeType="1"/>
            </p:cNvSpPr>
            <p:nvPr/>
          </p:nvSpPr>
          <p:spPr bwMode="auto">
            <a:xfrm>
              <a:off x="3278" y="366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5" name="Rectangle 534">
              <a:extLst>
                <a:ext uri="{FF2B5EF4-FFF2-40B4-BE49-F238E27FC236}">
                  <a16:creationId xmlns:a16="http://schemas.microsoft.com/office/drawing/2014/main" id="{504271C2-2D98-4496-B1A7-C31645974D9C}"/>
                </a:ext>
              </a:extLst>
            </p:cNvPr>
            <p:cNvSpPr>
              <a:spLocks noChangeArrowheads="1"/>
            </p:cNvSpPr>
            <p:nvPr/>
          </p:nvSpPr>
          <p:spPr bwMode="auto">
            <a:xfrm>
              <a:off x="4028" y="3691"/>
              <a:ext cx="30"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6" name="Rectangle 535">
              <a:extLst>
                <a:ext uri="{FF2B5EF4-FFF2-40B4-BE49-F238E27FC236}">
                  <a16:creationId xmlns:a16="http://schemas.microsoft.com/office/drawing/2014/main" id="{F982FB10-CAAD-4DEC-9A18-DC95A3293B5E}"/>
                </a:ext>
              </a:extLst>
            </p:cNvPr>
            <p:cNvSpPr>
              <a:spLocks noChangeArrowheads="1"/>
            </p:cNvSpPr>
            <p:nvPr/>
          </p:nvSpPr>
          <p:spPr bwMode="auto">
            <a:xfrm>
              <a:off x="4028" y="3778"/>
              <a:ext cx="30" cy="11"/>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7" name="Rectangle 536">
              <a:extLst>
                <a:ext uri="{FF2B5EF4-FFF2-40B4-BE49-F238E27FC236}">
                  <a16:creationId xmlns:a16="http://schemas.microsoft.com/office/drawing/2014/main" id="{544BE865-5509-4CE7-8B65-F73F09683F9B}"/>
                </a:ext>
              </a:extLst>
            </p:cNvPr>
            <p:cNvSpPr>
              <a:spLocks noChangeArrowheads="1"/>
            </p:cNvSpPr>
            <p:nvPr/>
          </p:nvSpPr>
          <p:spPr bwMode="auto">
            <a:xfrm>
              <a:off x="4028" y="3894"/>
              <a:ext cx="30"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8" name="Rectangle 537">
              <a:extLst>
                <a:ext uri="{FF2B5EF4-FFF2-40B4-BE49-F238E27FC236}">
                  <a16:creationId xmlns:a16="http://schemas.microsoft.com/office/drawing/2014/main" id="{42E05B84-F5B2-4DB6-8304-C33BE37A7BF9}"/>
                </a:ext>
              </a:extLst>
            </p:cNvPr>
            <p:cNvSpPr>
              <a:spLocks noChangeArrowheads="1"/>
            </p:cNvSpPr>
            <p:nvPr/>
          </p:nvSpPr>
          <p:spPr bwMode="auto">
            <a:xfrm>
              <a:off x="3307" y="3691"/>
              <a:ext cx="22"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9" name="Rectangle 538">
              <a:extLst>
                <a:ext uri="{FF2B5EF4-FFF2-40B4-BE49-F238E27FC236}">
                  <a16:creationId xmlns:a16="http://schemas.microsoft.com/office/drawing/2014/main" id="{4410DD82-48FA-4BF2-AE4A-BF78E73DC70C}"/>
                </a:ext>
              </a:extLst>
            </p:cNvPr>
            <p:cNvSpPr>
              <a:spLocks noChangeArrowheads="1"/>
            </p:cNvSpPr>
            <p:nvPr/>
          </p:nvSpPr>
          <p:spPr bwMode="auto">
            <a:xfrm>
              <a:off x="3307" y="3778"/>
              <a:ext cx="22" cy="3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0" name="Rectangle 539">
              <a:extLst>
                <a:ext uri="{FF2B5EF4-FFF2-40B4-BE49-F238E27FC236}">
                  <a16:creationId xmlns:a16="http://schemas.microsoft.com/office/drawing/2014/main" id="{8AF73ADB-5368-4B2A-9024-DCF6FD2BDDB8}"/>
                </a:ext>
              </a:extLst>
            </p:cNvPr>
            <p:cNvSpPr>
              <a:spLocks noChangeArrowheads="1"/>
            </p:cNvSpPr>
            <p:nvPr/>
          </p:nvSpPr>
          <p:spPr bwMode="auto">
            <a:xfrm>
              <a:off x="3307" y="3894"/>
              <a:ext cx="22"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1" name="Rectangle 540">
              <a:extLst>
                <a:ext uri="{FF2B5EF4-FFF2-40B4-BE49-F238E27FC236}">
                  <a16:creationId xmlns:a16="http://schemas.microsoft.com/office/drawing/2014/main" id="{C1300587-914E-460A-8F24-FEBF5408E3DB}"/>
                </a:ext>
              </a:extLst>
            </p:cNvPr>
            <p:cNvSpPr>
              <a:spLocks noChangeArrowheads="1"/>
            </p:cNvSpPr>
            <p:nvPr/>
          </p:nvSpPr>
          <p:spPr bwMode="auto">
            <a:xfrm>
              <a:off x="3362" y="3953"/>
              <a:ext cx="9" cy="4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2" name="Rectangle 541">
              <a:extLst>
                <a:ext uri="{FF2B5EF4-FFF2-40B4-BE49-F238E27FC236}">
                  <a16:creationId xmlns:a16="http://schemas.microsoft.com/office/drawing/2014/main" id="{40A27216-6E0F-429A-BA83-5360E52B889B}"/>
                </a:ext>
              </a:extLst>
            </p:cNvPr>
            <p:cNvSpPr>
              <a:spLocks noChangeArrowheads="1"/>
            </p:cNvSpPr>
            <p:nvPr/>
          </p:nvSpPr>
          <p:spPr bwMode="auto">
            <a:xfrm>
              <a:off x="3475" y="3958"/>
              <a:ext cx="11" cy="3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3" name="Oval 542">
              <a:extLst>
                <a:ext uri="{FF2B5EF4-FFF2-40B4-BE49-F238E27FC236}">
                  <a16:creationId xmlns:a16="http://schemas.microsoft.com/office/drawing/2014/main" id="{09FCD7AF-F3B3-426E-9CBA-C444017182E0}"/>
                </a:ext>
              </a:extLst>
            </p:cNvPr>
            <p:cNvSpPr>
              <a:spLocks noChangeArrowheads="1"/>
            </p:cNvSpPr>
            <p:nvPr/>
          </p:nvSpPr>
          <p:spPr bwMode="auto">
            <a:xfrm>
              <a:off x="3410" y="3953"/>
              <a:ext cx="9" cy="3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4" name="Oval 543">
              <a:extLst>
                <a:ext uri="{FF2B5EF4-FFF2-40B4-BE49-F238E27FC236}">
                  <a16:creationId xmlns:a16="http://schemas.microsoft.com/office/drawing/2014/main" id="{D2D294DE-7156-4F81-8E94-446573B69316}"/>
                </a:ext>
              </a:extLst>
            </p:cNvPr>
            <p:cNvSpPr>
              <a:spLocks noChangeArrowheads="1"/>
            </p:cNvSpPr>
            <p:nvPr/>
          </p:nvSpPr>
          <p:spPr bwMode="auto">
            <a:xfrm>
              <a:off x="3495" y="3958"/>
              <a:ext cx="0" cy="2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546" name="Group 544">
            <a:extLst>
              <a:ext uri="{FF2B5EF4-FFF2-40B4-BE49-F238E27FC236}">
                <a16:creationId xmlns:a16="http://schemas.microsoft.com/office/drawing/2014/main" id="{C61303CF-6809-48E3-B0E9-3A56F32BD989}"/>
              </a:ext>
            </a:extLst>
          </p:cNvPr>
          <p:cNvGrpSpPr>
            <a:grpSpLocks/>
          </p:cNvGrpSpPr>
          <p:nvPr/>
        </p:nvGrpSpPr>
        <p:grpSpPr bwMode="auto">
          <a:xfrm>
            <a:off x="6839650" y="4369927"/>
            <a:ext cx="539750" cy="266700"/>
            <a:chOff x="3272" y="3473"/>
            <a:chExt cx="1086" cy="536"/>
          </a:xfrm>
        </p:grpSpPr>
        <p:grpSp>
          <p:nvGrpSpPr>
            <p:cNvPr id="547" name="Group 545">
              <a:extLst>
                <a:ext uri="{FF2B5EF4-FFF2-40B4-BE49-F238E27FC236}">
                  <a16:creationId xmlns:a16="http://schemas.microsoft.com/office/drawing/2014/main" id="{8621B49F-693D-412D-90CA-7EC423D73E8B}"/>
                </a:ext>
              </a:extLst>
            </p:cNvPr>
            <p:cNvGrpSpPr>
              <a:grpSpLocks/>
            </p:cNvGrpSpPr>
            <p:nvPr/>
          </p:nvGrpSpPr>
          <p:grpSpPr bwMode="auto">
            <a:xfrm>
              <a:off x="3272" y="3628"/>
              <a:ext cx="903" cy="380"/>
              <a:chOff x="3272" y="3628"/>
              <a:chExt cx="903" cy="380"/>
            </a:xfrm>
          </p:grpSpPr>
          <p:sp>
            <p:nvSpPr>
              <p:cNvPr id="829" name="Rectangle 546">
                <a:extLst>
                  <a:ext uri="{FF2B5EF4-FFF2-40B4-BE49-F238E27FC236}">
                    <a16:creationId xmlns:a16="http://schemas.microsoft.com/office/drawing/2014/main" id="{6EC6067A-CA7C-481F-886D-73DB0171AE43}"/>
                  </a:ext>
                </a:extLst>
              </p:cNvPr>
              <p:cNvSpPr>
                <a:spLocks noChangeArrowheads="1"/>
              </p:cNvSpPr>
              <p:nvPr/>
            </p:nvSpPr>
            <p:spPr bwMode="auto">
              <a:xfrm>
                <a:off x="3277" y="3632"/>
                <a:ext cx="893" cy="371"/>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0" name="Rectangle 547">
                <a:extLst>
                  <a:ext uri="{FF2B5EF4-FFF2-40B4-BE49-F238E27FC236}">
                    <a16:creationId xmlns:a16="http://schemas.microsoft.com/office/drawing/2014/main" id="{F5B8CCBC-FCB4-4932-9A52-2EAB3205DC9D}"/>
                  </a:ext>
                </a:extLst>
              </p:cNvPr>
              <p:cNvSpPr>
                <a:spLocks noChangeArrowheads="1"/>
              </p:cNvSpPr>
              <p:nvPr/>
            </p:nvSpPr>
            <p:spPr bwMode="auto">
              <a:xfrm>
                <a:off x="3272" y="363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1" name="Rectangle 548">
                <a:extLst>
                  <a:ext uri="{FF2B5EF4-FFF2-40B4-BE49-F238E27FC236}">
                    <a16:creationId xmlns:a16="http://schemas.microsoft.com/office/drawing/2014/main" id="{CF9DFDC0-CA69-46E8-99FA-4367AF8C7378}"/>
                  </a:ext>
                </a:extLst>
              </p:cNvPr>
              <p:cNvSpPr>
                <a:spLocks noChangeArrowheads="1"/>
              </p:cNvSpPr>
              <p:nvPr/>
            </p:nvSpPr>
            <p:spPr bwMode="auto">
              <a:xfrm>
                <a:off x="3272" y="3652"/>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2" name="Rectangle 549">
                <a:extLst>
                  <a:ext uri="{FF2B5EF4-FFF2-40B4-BE49-F238E27FC236}">
                    <a16:creationId xmlns:a16="http://schemas.microsoft.com/office/drawing/2014/main" id="{D75CE77A-CC2D-4F9B-AFFF-C4D633639CDA}"/>
                  </a:ext>
                </a:extLst>
              </p:cNvPr>
              <p:cNvSpPr>
                <a:spLocks noChangeArrowheads="1"/>
              </p:cNvSpPr>
              <p:nvPr/>
            </p:nvSpPr>
            <p:spPr bwMode="auto">
              <a:xfrm>
                <a:off x="3272" y="367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3" name="Rectangle 550">
                <a:extLst>
                  <a:ext uri="{FF2B5EF4-FFF2-40B4-BE49-F238E27FC236}">
                    <a16:creationId xmlns:a16="http://schemas.microsoft.com/office/drawing/2014/main" id="{531EC83A-8367-4AA1-9112-97CB91A6CF2E}"/>
                  </a:ext>
                </a:extLst>
              </p:cNvPr>
              <p:cNvSpPr>
                <a:spLocks noChangeArrowheads="1"/>
              </p:cNvSpPr>
              <p:nvPr/>
            </p:nvSpPr>
            <p:spPr bwMode="auto">
              <a:xfrm>
                <a:off x="3272" y="3690"/>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4" name="Rectangle 551">
                <a:extLst>
                  <a:ext uri="{FF2B5EF4-FFF2-40B4-BE49-F238E27FC236}">
                    <a16:creationId xmlns:a16="http://schemas.microsoft.com/office/drawing/2014/main" id="{D720ECA4-3ABF-4A4A-8CD3-4586DF26BF1F}"/>
                  </a:ext>
                </a:extLst>
              </p:cNvPr>
              <p:cNvSpPr>
                <a:spLocks noChangeArrowheads="1"/>
              </p:cNvSpPr>
              <p:nvPr/>
            </p:nvSpPr>
            <p:spPr bwMode="auto">
              <a:xfrm>
                <a:off x="3272" y="370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5" name="Rectangle 552">
                <a:extLst>
                  <a:ext uri="{FF2B5EF4-FFF2-40B4-BE49-F238E27FC236}">
                    <a16:creationId xmlns:a16="http://schemas.microsoft.com/office/drawing/2014/main" id="{E8DFEAAB-0EAD-4ACE-9D57-F632DBC9FCDE}"/>
                  </a:ext>
                </a:extLst>
              </p:cNvPr>
              <p:cNvSpPr>
                <a:spLocks noChangeArrowheads="1"/>
              </p:cNvSpPr>
              <p:nvPr/>
            </p:nvSpPr>
            <p:spPr bwMode="auto">
              <a:xfrm>
                <a:off x="3272" y="372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6" name="Rectangle 553">
                <a:extLst>
                  <a:ext uri="{FF2B5EF4-FFF2-40B4-BE49-F238E27FC236}">
                    <a16:creationId xmlns:a16="http://schemas.microsoft.com/office/drawing/2014/main" id="{5CBCB276-A836-4C0A-A1BD-BB4EE8260F7D}"/>
                  </a:ext>
                </a:extLst>
              </p:cNvPr>
              <p:cNvSpPr>
                <a:spLocks noChangeArrowheads="1"/>
              </p:cNvSpPr>
              <p:nvPr/>
            </p:nvSpPr>
            <p:spPr bwMode="auto">
              <a:xfrm>
                <a:off x="3272" y="374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7" name="Rectangle 554">
                <a:extLst>
                  <a:ext uri="{FF2B5EF4-FFF2-40B4-BE49-F238E27FC236}">
                    <a16:creationId xmlns:a16="http://schemas.microsoft.com/office/drawing/2014/main" id="{2E39C2B6-9777-424C-B6BF-B04FF96B8190}"/>
                  </a:ext>
                </a:extLst>
              </p:cNvPr>
              <p:cNvSpPr>
                <a:spLocks noChangeArrowheads="1"/>
              </p:cNvSpPr>
              <p:nvPr/>
            </p:nvSpPr>
            <p:spPr bwMode="auto">
              <a:xfrm>
                <a:off x="3272" y="3767"/>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8" name="Rectangle 555">
                <a:extLst>
                  <a:ext uri="{FF2B5EF4-FFF2-40B4-BE49-F238E27FC236}">
                    <a16:creationId xmlns:a16="http://schemas.microsoft.com/office/drawing/2014/main" id="{1C91C9CC-4FD6-4CC4-BD12-49A7A504BDCA}"/>
                  </a:ext>
                </a:extLst>
              </p:cNvPr>
              <p:cNvSpPr>
                <a:spLocks noChangeArrowheads="1"/>
              </p:cNvSpPr>
              <p:nvPr/>
            </p:nvSpPr>
            <p:spPr bwMode="auto">
              <a:xfrm>
                <a:off x="3272" y="3786"/>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9" name="Rectangle 556">
                <a:extLst>
                  <a:ext uri="{FF2B5EF4-FFF2-40B4-BE49-F238E27FC236}">
                    <a16:creationId xmlns:a16="http://schemas.microsoft.com/office/drawing/2014/main" id="{ABDEBF48-9507-43EF-B5E1-A29A847DBA07}"/>
                  </a:ext>
                </a:extLst>
              </p:cNvPr>
              <p:cNvSpPr>
                <a:spLocks noChangeArrowheads="1"/>
              </p:cNvSpPr>
              <p:nvPr/>
            </p:nvSpPr>
            <p:spPr bwMode="auto">
              <a:xfrm>
                <a:off x="3272" y="3805"/>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0" name="Rectangle 557">
                <a:extLst>
                  <a:ext uri="{FF2B5EF4-FFF2-40B4-BE49-F238E27FC236}">
                    <a16:creationId xmlns:a16="http://schemas.microsoft.com/office/drawing/2014/main" id="{14AFF9E3-0A6B-47E2-AA7F-5B88C3E24B41}"/>
                  </a:ext>
                </a:extLst>
              </p:cNvPr>
              <p:cNvSpPr>
                <a:spLocks noChangeArrowheads="1"/>
              </p:cNvSpPr>
              <p:nvPr/>
            </p:nvSpPr>
            <p:spPr bwMode="auto">
              <a:xfrm>
                <a:off x="3272" y="3825"/>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1" name="Rectangle 558">
                <a:extLst>
                  <a:ext uri="{FF2B5EF4-FFF2-40B4-BE49-F238E27FC236}">
                    <a16:creationId xmlns:a16="http://schemas.microsoft.com/office/drawing/2014/main" id="{6B7C53B3-E91A-4615-9993-8809A5FEC8C5}"/>
                  </a:ext>
                </a:extLst>
              </p:cNvPr>
              <p:cNvSpPr>
                <a:spLocks noChangeArrowheads="1"/>
              </p:cNvSpPr>
              <p:nvPr/>
            </p:nvSpPr>
            <p:spPr bwMode="auto">
              <a:xfrm>
                <a:off x="3272" y="3844"/>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2" name="Rectangle 559">
                <a:extLst>
                  <a:ext uri="{FF2B5EF4-FFF2-40B4-BE49-F238E27FC236}">
                    <a16:creationId xmlns:a16="http://schemas.microsoft.com/office/drawing/2014/main" id="{88502472-931E-4574-BF63-C52780EA323D}"/>
                  </a:ext>
                </a:extLst>
              </p:cNvPr>
              <p:cNvSpPr>
                <a:spLocks noChangeArrowheads="1"/>
              </p:cNvSpPr>
              <p:nvPr/>
            </p:nvSpPr>
            <p:spPr bwMode="auto">
              <a:xfrm>
                <a:off x="3272" y="3863"/>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3" name="Rectangle 560">
                <a:extLst>
                  <a:ext uri="{FF2B5EF4-FFF2-40B4-BE49-F238E27FC236}">
                    <a16:creationId xmlns:a16="http://schemas.microsoft.com/office/drawing/2014/main" id="{3FB58A0A-DE59-4F92-9EAE-12F7C0B3141E}"/>
                  </a:ext>
                </a:extLst>
              </p:cNvPr>
              <p:cNvSpPr>
                <a:spLocks noChangeArrowheads="1"/>
              </p:cNvSpPr>
              <p:nvPr/>
            </p:nvSpPr>
            <p:spPr bwMode="auto">
              <a:xfrm>
                <a:off x="3272" y="388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4" name="Rectangle 561">
                <a:extLst>
                  <a:ext uri="{FF2B5EF4-FFF2-40B4-BE49-F238E27FC236}">
                    <a16:creationId xmlns:a16="http://schemas.microsoft.com/office/drawing/2014/main" id="{BB4FDF0E-3919-4CE2-80F9-EC9E9DA0A3AF}"/>
                  </a:ext>
                </a:extLst>
              </p:cNvPr>
              <p:cNvSpPr>
                <a:spLocks noChangeArrowheads="1"/>
              </p:cNvSpPr>
              <p:nvPr/>
            </p:nvSpPr>
            <p:spPr bwMode="auto">
              <a:xfrm>
                <a:off x="3272" y="3901"/>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5" name="Rectangle 562">
                <a:extLst>
                  <a:ext uri="{FF2B5EF4-FFF2-40B4-BE49-F238E27FC236}">
                    <a16:creationId xmlns:a16="http://schemas.microsoft.com/office/drawing/2014/main" id="{82324A36-AF4F-40C3-80A6-C0A6444BC2CB}"/>
                  </a:ext>
                </a:extLst>
              </p:cNvPr>
              <p:cNvSpPr>
                <a:spLocks noChangeArrowheads="1"/>
              </p:cNvSpPr>
              <p:nvPr/>
            </p:nvSpPr>
            <p:spPr bwMode="auto">
              <a:xfrm>
                <a:off x="3272" y="392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6" name="Rectangle 563">
                <a:extLst>
                  <a:ext uri="{FF2B5EF4-FFF2-40B4-BE49-F238E27FC236}">
                    <a16:creationId xmlns:a16="http://schemas.microsoft.com/office/drawing/2014/main" id="{F02F0807-43E2-45BF-BF81-57244445B13E}"/>
                  </a:ext>
                </a:extLst>
              </p:cNvPr>
              <p:cNvSpPr>
                <a:spLocks noChangeArrowheads="1"/>
              </p:cNvSpPr>
              <p:nvPr/>
            </p:nvSpPr>
            <p:spPr bwMode="auto">
              <a:xfrm>
                <a:off x="3272" y="3940"/>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7" name="Rectangle 564">
                <a:extLst>
                  <a:ext uri="{FF2B5EF4-FFF2-40B4-BE49-F238E27FC236}">
                    <a16:creationId xmlns:a16="http://schemas.microsoft.com/office/drawing/2014/main" id="{07D23004-C7F5-4D30-904C-783B4269A1FC}"/>
                  </a:ext>
                </a:extLst>
              </p:cNvPr>
              <p:cNvSpPr>
                <a:spLocks noChangeArrowheads="1"/>
              </p:cNvSpPr>
              <p:nvPr/>
            </p:nvSpPr>
            <p:spPr bwMode="auto">
              <a:xfrm>
                <a:off x="3272" y="395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8" name="Rectangle 565">
                <a:extLst>
                  <a:ext uri="{FF2B5EF4-FFF2-40B4-BE49-F238E27FC236}">
                    <a16:creationId xmlns:a16="http://schemas.microsoft.com/office/drawing/2014/main" id="{757ED65D-CCAD-48F8-9587-5AAF5D350284}"/>
                  </a:ext>
                </a:extLst>
              </p:cNvPr>
              <p:cNvSpPr>
                <a:spLocks noChangeArrowheads="1"/>
              </p:cNvSpPr>
              <p:nvPr/>
            </p:nvSpPr>
            <p:spPr bwMode="auto">
              <a:xfrm>
                <a:off x="3272" y="397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9" name="Freeform 566">
                <a:extLst>
                  <a:ext uri="{FF2B5EF4-FFF2-40B4-BE49-F238E27FC236}">
                    <a16:creationId xmlns:a16="http://schemas.microsoft.com/office/drawing/2014/main" id="{BAE221D7-C144-40B2-8903-82BE46565997}"/>
                  </a:ext>
                </a:extLst>
              </p:cNvPr>
              <p:cNvSpPr>
                <a:spLocks/>
              </p:cNvSpPr>
              <p:nvPr/>
            </p:nvSpPr>
            <p:spPr bwMode="auto">
              <a:xfrm>
                <a:off x="3272" y="3997"/>
                <a:ext cx="9" cy="11"/>
              </a:xfrm>
              <a:custGeom>
                <a:avLst/>
                <a:gdLst>
                  <a:gd name="T0" fmla="*/ 9 w 9"/>
                  <a:gd name="T1" fmla="*/ 0 h 11"/>
                  <a:gd name="T2" fmla="*/ 0 w 9"/>
                  <a:gd name="T3" fmla="*/ 0 h 11"/>
                  <a:gd name="T4" fmla="*/ 0 w 9"/>
                  <a:gd name="T5" fmla="*/ 6 h 11"/>
                  <a:gd name="T6" fmla="*/ 0 w 9"/>
                  <a:gd name="T7" fmla="*/ 11 h 11"/>
                  <a:gd name="T8" fmla="*/ 5 w 9"/>
                  <a:gd name="T9" fmla="*/ 11 h 11"/>
                  <a:gd name="T10" fmla="*/ 8 w 9"/>
                  <a:gd name="T11" fmla="*/ 11 h 11"/>
                  <a:gd name="T12" fmla="*/ 8 w 9"/>
                  <a:gd name="T13" fmla="*/ 2 h 11"/>
                  <a:gd name="T14" fmla="*/ 5 w 9"/>
                  <a:gd name="T15" fmla="*/ 2 h 11"/>
                  <a:gd name="T16" fmla="*/ 5 w 9"/>
                  <a:gd name="T17" fmla="*/ 6 h 11"/>
                  <a:gd name="T18" fmla="*/ 9 w 9"/>
                  <a:gd name="T19" fmla="*/ 6 h 11"/>
                  <a:gd name="T20" fmla="*/ 9 w 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9" y="0"/>
                    </a:moveTo>
                    <a:lnTo>
                      <a:pt x="0" y="0"/>
                    </a:lnTo>
                    <a:lnTo>
                      <a:pt x="0" y="6"/>
                    </a:lnTo>
                    <a:lnTo>
                      <a:pt x="0" y="11"/>
                    </a:lnTo>
                    <a:lnTo>
                      <a:pt x="5" y="11"/>
                    </a:lnTo>
                    <a:lnTo>
                      <a:pt x="8" y="11"/>
                    </a:lnTo>
                    <a:lnTo>
                      <a:pt x="8" y="2"/>
                    </a:lnTo>
                    <a:lnTo>
                      <a:pt x="5" y="2"/>
                    </a:lnTo>
                    <a:lnTo>
                      <a:pt x="5" y="6"/>
                    </a:lnTo>
                    <a:lnTo>
                      <a:pt x="9" y="6"/>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0" name="Rectangle 567">
                <a:extLst>
                  <a:ext uri="{FF2B5EF4-FFF2-40B4-BE49-F238E27FC236}">
                    <a16:creationId xmlns:a16="http://schemas.microsoft.com/office/drawing/2014/main" id="{14129AFB-E6DD-417C-B58C-09B55A19C0EF}"/>
                  </a:ext>
                </a:extLst>
              </p:cNvPr>
              <p:cNvSpPr>
                <a:spLocks noChangeArrowheads="1"/>
              </p:cNvSpPr>
              <p:nvPr/>
            </p:nvSpPr>
            <p:spPr bwMode="auto">
              <a:xfrm>
                <a:off x="329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1" name="Rectangle 568">
                <a:extLst>
                  <a:ext uri="{FF2B5EF4-FFF2-40B4-BE49-F238E27FC236}">
                    <a16:creationId xmlns:a16="http://schemas.microsoft.com/office/drawing/2014/main" id="{B3D407FD-44EA-499B-8E1C-28AA7B3C5C2E}"/>
                  </a:ext>
                </a:extLst>
              </p:cNvPr>
              <p:cNvSpPr>
                <a:spLocks noChangeArrowheads="1"/>
              </p:cNvSpPr>
              <p:nvPr/>
            </p:nvSpPr>
            <p:spPr bwMode="auto">
              <a:xfrm>
                <a:off x="330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2" name="Rectangle 569">
                <a:extLst>
                  <a:ext uri="{FF2B5EF4-FFF2-40B4-BE49-F238E27FC236}">
                    <a16:creationId xmlns:a16="http://schemas.microsoft.com/office/drawing/2014/main" id="{8614EC42-4D0E-4E1B-9D34-1BF179BE675E}"/>
                  </a:ext>
                </a:extLst>
              </p:cNvPr>
              <p:cNvSpPr>
                <a:spLocks noChangeArrowheads="1"/>
              </p:cNvSpPr>
              <p:nvPr/>
            </p:nvSpPr>
            <p:spPr bwMode="auto">
              <a:xfrm>
                <a:off x="332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3" name="Rectangle 570">
                <a:extLst>
                  <a:ext uri="{FF2B5EF4-FFF2-40B4-BE49-F238E27FC236}">
                    <a16:creationId xmlns:a16="http://schemas.microsoft.com/office/drawing/2014/main" id="{F5956BB9-1E95-4F47-BAFD-CAEE827AA7AE}"/>
                  </a:ext>
                </a:extLst>
              </p:cNvPr>
              <p:cNvSpPr>
                <a:spLocks noChangeArrowheads="1"/>
              </p:cNvSpPr>
              <p:nvPr/>
            </p:nvSpPr>
            <p:spPr bwMode="auto">
              <a:xfrm>
                <a:off x="334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4" name="Rectangle 571">
                <a:extLst>
                  <a:ext uri="{FF2B5EF4-FFF2-40B4-BE49-F238E27FC236}">
                    <a16:creationId xmlns:a16="http://schemas.microsoft.com/office/drawing/2014/main" id="{25C99176-4ED2-408E-B969-A1D5F6DC2186}"/>
                  </a:ext>
                </a:extLst>
              </p:cNvPr>
              <p:cNvSpPr>
                <a:spLocks noChangeArrowheads="1"/>
              </p:cNvSpPr>
              <p:nvPr/>
            </p:nvSpPr>
            <p:spPr bwMode="auto">
              <a:xfrm>
                <a:off x="336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5" name="Rectangle 572">
                <a:extLst>
                  <a:ext uri="{FF2B5EF4-FFF2-40B4-BE49-F238E27FC236}">
                    <a16:creationId xmlns:a16="http://schemas.microsoft.com/office/drawing/2014/main" id="{086F277C-95C5-4884-8762-D7FDF1B9EBF8}"/>
                  </a:ext>
                </a:extLst>
              </p:cNvPr>
              <p:cNvSpPr>
                <a:spLocks noChangeArrowheads="1"/>
              </p:cNvSpPr>
              <p:nvPr/>
            </p:nvSpPr>
            <p:spPr bwMode="auto">
              <a:xfrm>
                <a:off x="338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6" name="Rectangle 573">
                <a:extLst>
                  <a:ext uri="{FF2B5EF4-FFF2-40B4-BE49-F238E27FC236}">
                    <a16:creationId xmlns:a16="http://schemas.microsoft.com/office/drawing/2014/main" id="{0A6B3DB4-89E7-4615-B22F-2964719284DC}"/>
                  </a:ext>
                </a:extLst>
              </p:cNvPr>
              <p:cNvSpPr>
                <a:spLocks noChangeArrowheads="1"/>
              </p:cNvSpPr>
              <p:nvPr/>
            </p:nvSpPr>
            <p:spPr bwMode="auto">
              <a:xfrm>
                <a:off x="340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7" name="Rectangle 574">
                <a:extLst>
                  <a:ext uri="{FF2B5EF4-FFF2-40B4-BE49-F238E27FC236}">
                    <a16:creationId xmlns:a16="http://schemas.microsoft.com/office/drawing/2014/main" id="{979EE8A9-E8DF-4D36-A55D-096D48C4CE0A}"/>
                  </a:ext>
                </a:extLst>
              </p:cNvPr>
              <p:cNvSpPr>
                <a:spLocks noChangeArrowheads="1"/>
              </p:cNvSpPr>
              <p:nvPr/>
            </p:nvSpPr>
            <p:spPr bwMode="auto">
              <a:xfrm>
                <a:off x="342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8" name="Rectangle 575">
                <a:extLst>
                  <a:ext uri="{FF2B5EF4-FFF2-40B4-BE49-F238E27FC236}">
                    <a16:creationId xmlns:a16="http://schemas.microsoft.com/office/drawing/2014/main" id="{81610BCB-9BFE-420D-9390-5B35C38A91EB}"/>
                  </a:ext>
                </a:extLst>
              </p:cNvPr>
              <p:cNvSpPr>
                <a:spLocks noChangeArrowheads="1"/>
              </p:cNvSpPr>
              <p:nvPr/>
            </p:nvSpPr>
            <p:spPr bwMode="auto">
              <a:xfrm>
                <a:off x="344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9" name="Rectangle 576">
                <a:extLst>
                  <a:ext uri="{FF2B5EF4-FFF2-40B4-BE49-F238E27FC236}">
                    <a16:creationId xmlns:a16="http://schemas.microsoft.com/office/drawing/2014/main" id="{16DD93A0-808C-41E1-8719-5AEC1279A35E}"/>
                  </a:ext>
                </a:extLst>
              </p:cNvPr>
              <p:cNvSpPr>
                <a:spLocks noChangeArrowheads="1"/>
              </p:cNvSpPr>
              <p:nvPr/>
            </p:nvSpPr>
            <p:spPr bwMode="auto">
              <a:xfrm>
                <a:off x="346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0" name="Rectangle 577">
                <a:extLst>
                  <a:ext uri="{FF2B5EF4-FFF2-40B4-BE49-F238E27FC236}">
                    <a16:creationId xmlns:a16="http://schemas.microsoft.com/office/drawing/2014/main" id="{3014E285-2BB2-4D4B-A91E-0CA856979CA3}"/>
                  </a:ext>
                </a:extLst>
              </p:cNvPr>
              <p:cNvSpPr>
                <a:spLocks noChangeArrowheads="1"/>
              </p:cNvSpPr>
              <p:nvPr/>
            </p:nvSpPr>
            <p:spPr bwMode="auto">
              <a:xfrm>
                <a:off x="348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1" name="Rectangle 578">
                <a:extLst>
                  <a:ext uri="{FF2B5EF4-FFF2-40B4-BE49-F238E27FC236}">
                    <a16:creationId xmlns:a16="http://schemas.microsoft.com/office/drawing/2014/main" id="{B804584F-F4AA-49C7-A697-3717958D53B7}"/>
                  </a:ext>
                </a:extLst>
              </p:cNvPr>
              <p:cNvSpPr>
                <a:spLocks noChangeArrowheads="1"/>
              </p:cNvSpPr>
              <p:nvPr/>
            </p:nvSpPr>
            <p:spPr bwMode="auto">
              <a:xfrm>
                <a:off x="350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2" name="Rectangle 579">
                <a:extLst>
                  <a:ext uri="{FF2B5EF4-FFF2-40B4-BE49-F238E27FC236}">
                    <a16:creationId xmlns:a16="http://schemas.microsoft.com/office/drawing/2014/main" id="{56B22C1F-B01D-4E89-B6A0-A79094117FE6}"/>
                  </a:ext>
                </a:extLst>
              </p:cNvPr>
              <p:cNvSpPr>
                <a:spLocks noChangeArrowheads="1"/>
              </p:cNvSpPr>
              <p:nvPr/>
            </p:nvSpPr>
            <p:spPr bwMode="auto">
              <a:xfrm>
                <a:off x="352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3" name="Rectangle 580">
                <a:extLst>
                  <a:ext uri="{FF2B5EF4-FFF2-40B4-BE49-F238E27FC236}">
                    <a16:creationId xmlns:a16="http://schemas.microsoft.com/office/drawing/2014/main" id="{85FC7FE4-EB0D-4777-854D-276AF695D06B}"/>
                  </a:ext>
                </a:extLst>
              </p:cNvPr>
              <p:cNvSpPr>
                <a:spLocks noChangeArrowheads="1"/>
              </p:cNvSpPr>
              <p:nvPr/>
            </p:nvSpPr>
            <p:spPr bwMode="auto">
              <a:xfrm>
                <a:off x="354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4" name="Rectangle 581">
                <a:extLst>
                  <a:ext uri="{FF2B5EF4-FFF2-40B4-BE49-F238E27FC236}">
                    <a16:creationId xmlns:a16="http://schemas.microsoft.com/office/drawing/2014/main" id="{93D661E4-D5D4-4316-B3ED-8383EB495E7E}"/>
                  </a:ext>
                </a:extLst>
              </p:cNvPr>
              <p:cNvSpPr>
                <a:spLocks noChangeArrowheads="1"/>
              </p:cNvSpPr>
              <p:nvPr/>
            </p:nvSpPr>
            <p:spPr bwMode="auto">
              <a:xfrm>
                <a:off x="355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5" name="Rectangle 582">
                <a:extLst>
                  <a:ext uri="{FF2B5EF4-FFF2-40B4-BE49-F238E27FC236}">
                    <a16:creationId xmlns:a16="http://schemas.microsoft.com/office/drawing/2014/main" id="{76D55432-8A7F-4106-94E0-A79753FC2A32}"/>
                  </a:ext>
                </a:extLst>
              </p:cNvPr>
              <p:cNvSpPr>
                <a:spLocks noChangeArrowheads="1"/>
              </p:cNvSpPr>
              <p:nvPr/>
            </p:nvSpPr>
            <p:spPr bwMode="auto">
              <a:xfrm>
                <a:off x="357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6" name="Rectangle 583">
                <a:extLst>
                  <a:ext uri="{FF2B5EF4-FFF2-40B4-BE49-F238E27FC236}">
                    <a16:creationId xmlns:a16="http://schemas.microsoft.com/office/drawing/2014/main" id="{C6E83C04-ACEF-4A23-9D90-0BA3D6915C1F}"/>
                  </a:ext>
                </a:extLst>
              </p:cNvPr>
              <p:cNvSpPr>
                <a:spLocks noChangeArrowheads="1"/>
              </p:cNvSpPr>
              <p:nvPr/>
            </p:nvSpPr>
            <p:spPr bwMode="auto">
              <a:xfrm>
                <a:off x="359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7" name="Rectangle 584">
                <a:extLst>
                  <a:ext uri="{FF2B5EF4-FFF2-40B4-BE49-F238E27FC236}">
                    <a16:creationId xmlns:a16="http://schemas.microsoft.com/office/drawing/2014/main" id="{2293A474-D12F-4537-BB1D-3DBA8BEA725F}"/>
                  </a:ext>
                </a:extLst>
              </p:cNvPr>
              <p:cNvSpPr>
                <a:spLocks noChangeArrowheads="1"/>
              </p:cNvSpPr>
              <p:nvPr/>
            </p:nvSpPr>
            <p:spPr bwMode="auto">
              <a:xfrm>
                <a:off x="361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8" name="Rectangle 585">
                <a:extLst>
                  <a:ext uri="{FF2B5EF4-FFF2-40B4-BE49-F238E27FC236}">
                    <a16:creationId xmlns:a16="http://schemas.microsoft.com/office/drawing/2014/main" id="{6B511FFA-069E-40E8-99F9-1A5752DD9201}"/>
                  </a:ext>
                </a:extLst>
              </p:cNvPr>
              <p:cNvSpPr>
                <a:spLocks noChangeArrowheads="1"/>
              </p:cNvSpPr>
              <p:nvPr/>
            </p:nvSpPr>
            <p:spPr bwMode="auto">
              <a:xfrm>
                <a:off x="363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9" name="Rectangle 586">
                <a:extLst>
                  <a:ext uri="{FF2B5EF4-FFF2-40B4-BE49-F238E27FC236}">
                    <a16:creationId xmlns:a16="http://schemas.microsoft.com/office/drawing/2014/main" id="{66AD3141-1352-4B4A-9A00-C97CC84DDC5A}"/>
                  </a:ext>
                </a:extLst>
              </p:cNvPr>
              <p:cNvSpPr>
                <a:spLocks noChangeArrowheads="1"/>
              </p:cNvSpPr>
              <p:nvPr/>
            </p:nvSpPr>
            <p:spPr bwMode="auto">
              <a:xfrm>
                <a:off x="3655"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0" name="Rectangle 587">
                <a:extLst>
                  <a:ext uri="{FF2B5EF4-FFF2-40B4-BE49-F238E27FC236}">
                    <a16:creationId xmlns:a16="http://schemas.microsoft.com/office/drawing/2014/main" id="{17D137A2-6588-4AE4-AFBF-531A92C2E0D3}"/>
                  </a:ext>
                </a:extLst>
              </p:cNvPr>
              <p:cNvSpPr>
                <a:spLocks noChangeArrowheads="1"/>
              </p:cNvSpPr>
              <p:nvPr/>
            </p:nvSpPr>
            <p:spPr bwMode="auto">
              <a:xfrm>
                <a:off x="367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1" name="Rectangle 588">
                <a:extLst>
                  <a:ext uri="{FF2B5EF4-FFF2-40B4-BE49-F238E27FC236}">
                    <a16:creationId xmlns:a16="http://schemas.microsoft.com/office/drawing/2014/main" id="{88EF5197-4C5A-45ED-A3E8-8D9403CBA1BF}"/>
                  </a:ext>
                </a:extLst>
              </p:cNvPr>
              <p:cNvSpPr>
                <a:spLocks noChangeArrowheads="1"/>
              </p:cNvSpPr>
              <p:nvPr/>
            </p:nvSpPr>
            <p:spPr bwMode="auto">
              <a:xfrm>
                <a:off x="369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2" name="Rectangle 589">
                <a:extLst>
                  <a:ext uri="{FF2B5EF4-FFF2-40B4-BE49-F238E27FC236}">
                    <a16:creationId xmlns:a16="http://schemas.microsoft.com/office/drawing/2014/main" id="{6B03DC01-C4C2-487E-B229-FAFE6528FB1C}"/>
                  </a:ext>
                </a:extLst>
              </p:cNvPr>
              <p:cNvSpPr>
                <a:spLocks noChangeArrowheads="1"/>
              </p:cNvSpPr>
              <p:nvPr/>
            </p:nvSpPr>
            <p:spPr bwMode="auto">
              <a:xfrm>
                <a:off x="371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3" name="Rectangle 590">
                <a:extLst>
                  <a:ext uri="{FF2B5EF4-FFF2-40B4-BE49-F238E27FC236}">
                    <a16:creationId xmlns:a16="http://schemas.microsoft.com/office/drawing/2014/main" id="{C1A8ED5B-A6EA-44FD-9440-87EDBE0DC545}"/>
                  </a:ext>
                </a:extLst>
              </p:cNvPr>
              <p:cNvSpPr>
                <a:spLocks noChangeArrowheads="1"/>
              </p:cNvSpPr>
              <p:nvPr/>
            </p:nvSpPr>
            <p:spPr bwMode="auto">
              <a:xfrm>
                <a:off x="373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4" name="Rectangle 591">
                <a:extLst>
                  <a:ext uri="{FF2B5EF4-FFF2-40B4-BE49-F238E27FC236}">
                    <a16:creationId xmlns:a16="http://schemas.microsoft.com/office/drawing/2014/main" id="{0F1A8616-A6DD-48D5-838B-4852E7BB5A10}"/>
                  </a:ext>
                </a:extLst>
              </p:cNvPr>
              <p:cNvSpPr>
                <a:spLocks noChangeArrowheads="1"/>
              </p:cNvSpPr>
              <p:nvPr/>
            </p:nvSpPr>
            <p:spPr bwMode="auto">
              <a:xfrm>
                <a:off x="3751"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5" name="Rectangle 592">
                <a:extLst>
                  <a:ext uri="{FF2B5EF4-FFF2-40B4-BE49-F238E27FC236}">
                    <a16:creationId xmlns:a16="http://schemas.microsoft.com/office/drawing/2014/main" id="{53AC3E9D-3ECB-4943-83FC-7F05DB1E2116}"/>
                  </a:ext>
                </a:extLst>
              </p:cNvPr>
              <p:cNvSpPr>
                <a:spLocks noChangeArrowheads="1"/>
              </p:cNvSpPr>
              <p:nvPr/>
            </p:nvSpPr>
            <p:spPr bwMode="auto">
              <a:xfrm>
                <a:off x="377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6" name="Rectangle 593">
                <a:extLst>
                  <a:ext uri="{FF2B5EF4-FFF2-40B4-BE49-F238E27FC236}">
                    <a16:creationId xmlns:a16="http://schemas.microsoft.com/office/drawing/2014/main" id="{120D768E-DA6A-4246-96B7-63123E917EB1}"/>
                  </a:ext>
                </a:extLst>
              </p:cNvPr>
              <p:cNvSpPr>
                <a:spLocks noChangeArrowheads="1"/>
              </p:cNvSpPr>
              <p:nvPr/>
            </p:nvSpPr>
            <p:spPr bwMode="auto">
              <a:xfrm>
                <a:off x="378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7" name="Rectangle 594">
                <a:extLst>
                  <a:ext uri="{FF2B5EF4-FFF2-40B4-BE49-F238E27FC236}">
                    <a16:creationId xmlns:a16="http://schemas.microsoft.com/office/drawing/2014/main" id="{33444660-683E-4501-8CFF-22BC34076F2D}"/>
                  </a:ext>
                </a:extLst>
              </p:cNvPr>
              <p:cNvSpPr>
                <a:spLocks noChangeArrowheads="1"/>
              </p:cNvSpPr>
              <p:nvPr/>
            </p:nvSpPr>
            <p:spPr bwMode="auto">
              <a:xfrm>
                <a:off x="380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8" name="Rectangle 595">
                <a:extLst>
                  <a:ext uri="{FF2B5EF4-FFF2-40B4-BE49-F238E27FC236}">
                    <a16:creationId xmlns:a16="http://schemas.microsoft.com/office/drawing/2014/main" id="{05D1B355-EC2A-4748-89A5-8CBEB1DDB56F}"/>
                  </a:ext>
                </a:extLst>
              </p:cNvPr>
              <p:cNvSpPr>
                <a:spLocks noChangeArrowheads="1"/>
              </p:cNvSpPr>
              <p:nvPr/>
            </p:nvSpPr>
            <p:spPr bwMode="auto">
              <a:xfrm>
                <a:off x="3828"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9" name="Rectangle 596">
                <a:extLst>
                  <a:ext uri="{FF2B5EF4-FFF2-40B4-BE49-F238E27FC236}">
                    <a16:creationId xmlns:a16="http://schemas.microsoft.com/office/drawing/2014/main" id="{03242B8E-C5C0-4CD4-A872-62B78CBC98AE}"/>
                  </a:ext>
                </a:extLst>
              </p:cNvPr>
              <p:cNvSpPr>
                <a:spLocks noChangeArrowheads="1"/>
              </p:cNvSpPr>
              <p:nvPr/>
            </p:nvSpPr>
            <p:spPr bwMode="auto">
              <a:xfrm>
                <a:off x="384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0" name="Rectangle 597">
                <a:extLst>
                  <a:ext uri="{FF2B5EF4-FFF2-40B4-BE49-F238E27FC236}">
                    <a16:creationId xmlns:a16="http://schemas.microsoft.com/office/drawing/2014/main" id="{0672A72F-ECF6-4B72-8F94-6238EF090326}"/>
                  </a:ext>
                </a:extLst>
              </p:cNvPr>
              <p:cNvSpPr>
                <a:spLocks noChangeArrowheads="1"/>
              </p:cNvSpPr>
              <p:nvPr/>
            </p:nvSpPr>
            <p:spPr bwMode="auto">
              <a:xfrm>
                <a:off x="386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1" name="Rectangle 598">
                <a:extLst>
                  <a:ext uri="{FF2B5EF4-FFF2-40B4-BE49-F238E27FC236}">
                    <a16:creationId xmlns:a16="http://schemas.microsoft.com/office/drawing/2014/main" id="{ACDC3C69-A800-4A76-971C-2E092CC59135}"/>
                  </a:ext>
                </a:extLst>
              </p:cNvPr>
              <p:cNvSpPr>
                <a:spLocks noChangeArrowheads="1"/>
              </p:cNvSpPr>
              <p:nvPr/>
            </p:nvSpPr>
            <p:spPr bwMode="auto">
              <a:xfrm>
                <a:off x="388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2" name="Rectangle 599">
                <a:extLst>
                  <a:ext uri="{FF2B5EF4-FFF2-40B4-BE49-F238E27FC236}">
                    <a16:creationId xmlns:a16="http://schemas.microsoft.com/office/drawing/2014/main" id="{84344D01-2517-4CAE-BDBD-7D2309CD1A78}"/>
                  </a:ext>
                </a:extLst>
              </p:cNvPr>
              <p:cNvSpPr>
                <a:spLocks noChangeArrowheads="1"/>
              </p:cNvSpPr>
              <p:nvPr/>
            </p:nvSpPr>
            <p:spPr bwMode="auto">
              <a:xfrm>
                <a:off x="390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3" name="Rectangle 600">
                <a:extLst>
                  <a:ext uri="{FF2B5EF4-FFF2-40B4-BE49-F238E27FC236}">
                    <a16:creationId xmlns:a16="http://schemas.microsoft.com/office/drawing/2014/main" id="{FC5CEC46-4CB6-4A04-8122-B67AB9D80029}"/>
                  </a:ext>
                </a:extLst>
              </p:cNvPr>
              <p:cNvSpPr>
                <a:spLocks noChangeArrowheads="1"/>
              </p:cNvSpPr>
              <p:nvPr/>
            </p:nvSpPr>
            <p:spPr bwMode="auto">
              <a:xfrm>
                <a:off x="3924"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4" name="Rectangle 601">
                <a:extLst>
                  <a:ext uri="{FF2B5EF4-FFF2-40B4-BE49-F238E27FC236}">
                    <a16:creationId xmlns:a16="http://schemas.microsoft.com/office/drawing/2014/main" id="{0D90F6D5-0006-462E-9E94-2B3712D4B2E8}"/>
                  </a:ext>
                </a:extLst>
              </p:cNvPr>
              <p:cNvSpPr>
                <a:spLocks noChangeArrowheads="1"/>
              </p:cNvSpPr>
              <p:nvPr/>
            </p:nvSpPr>
            <p:spPr bwMode="auto">
              <a:xfrm>
                <a:off x="394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5" name="Rectangle 602">
                <a:extLst>
                  <a:ext uri="{FF2B5EF4-FFF2-40B4-BE49-F238E27FC236}">
                    <a16:creationId xmlns:a16="http://schemas.microsoft.com/office/drawing/2014/main" id="{443C39DC-4CBD-42F3-8D6F-C519607B8D52}"/>
                  </a:ext>
                </a:extLst>
              </p:cNvPr>
              <p:cNvSpPr>
                <a:spLocks noChangeArrowheads="1"/>
              </p:cNvSpPr>
              <p:nvPr/>
            </p:nvSpPr>
            <p:spPr bwMode="auto">
              <a:xfrm>
                <a:off x="396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6" name="Rectangle 603">
                <a:extLst>
                  <a:ext uri="{FF2B5EF4-FFF2-40B4-BE49-F238E27FC236}">
                    <a16:creationId xmlns:a16="http://schemas.microsoft.com/office/drawing/2014/main" id="{C4478169-E98A-46CB-A42B-C89FDAD9D4BE}"/>
                  </a:ext>
                </a:extLst>
              </p:cNvPr>
              <p:cNvSpPr>
                <a:spLocks noChangeArrowheads="1"/>
              </p:cNvSpPr>
              <p:nvPr/>
            </p:nvSpPr>
            <p:spPr bwMode="auto">
              <a:xfrm>
                <a:off x="398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7" name="Rectangle 604">
                <a:extLst>
                  <a:ext uri="{FF2B5EF4-FFF2-40B4-BE49-F238E27FC236}">
                    <a16:creationId xmlns:a16="http://schemas.microsoft.com/office/drawing/2014/main" id="{D489D085-AD26-4C3E-9EF9-8DBF8BD0328F}"/>
                  </a:ext>
                </a:extLst>
              </p:cNvPr>
              <p:cNvSpPr>
                <a:spLocks noChangeArrowheads="1"/>
              </p:cNvSpPr>
              <p:nvPr/>
            </p:nvSpPr>
            <p:spPr bwMode="auto">
              <a:xfrm>
                <a:off x="400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8" name="Rectangle 605">
                <a:extLst>
                  <a:ext uri="{FF2B5EF4-FFF2-40B4-BE49-F238E27FC236}">
                    <a16:creationId xmlns:a16="http://schemas.microsoft.com/office/drawing/2014/main" id="{D3347632-0A2E-471B-B883-CBB7391DE6A3}"/>
                  </a:ext>
                </a:extLst>
              </p:cNvPr>
              <p:cNvSpPr>
                <a:spLocks noChangeArrowheads="1"/>
              </p:cNvSpPr>
              <p:nvPr/>
            </p:nvSpPr>
            <p:spPr bwMode="auto">
              <a:xfrm>
                <a:off x="402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9" name="Rectangle 606">
                <a:extLst>
                  <a:ext uri="{FF2B5EF4-FFF2-40B4-BE49-F238E27FC236}">
                    <a16:creationId xmlns:a16="http://schemas.microsoft.com/office/drawing/2014/main" id="{73143AF6-8357-4BCC-9F1E-9B146E841222}"/>
                  </a:ext>
                </a:extLst>
              </p:cNvPr>
              <p:cNvSpPr>
                <a:spLocks noChangeArrowheads="1"/>
              </p:cNvSpPr>
              <p:nvPr/>
            </p:nvSpPr>
            <p:spPr bwMode="auto">
              <a:xfrm>
                <a:off x="403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0" name="Rectangle 607">
                <a:extLst>
                  <a:ext uri="{FF2B5EF4-FFF2-40B4-BE49-F238E27FC236}">
                    <a16:creationId xmlns:a16="http://schemas.microsoft.com/office/drawing/2014/main" id="{1BABB6E8-3AA3-4EE6-B4E2-BCA189BC58A9}"/>
                  </a:ext>
                </a:extLst>
              </p:cNvPr>
              <p:cNvSpPr>
                <a:spLocks noChangeArrowheads="1"/>
              </p:cNvSpPr>
              <p:nvPr/>
            </p:nvSpPr>
            <p:spPr bwMode="auto">
              <a:xfrm>
                <a:off x="405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1" name="Rectangle 608">
                <a:extLst>
                  <a:ext uri="{FF2B5EF4-FFF2-40B4-BE49-F238E27FC236}">
                    <a16:creationId xmlns:a16="http://schemas.microsoft.com/office/drawing/2014/main" id="{BBEA67D3-6087-45DE-9D3F-75F2CFD8B807}"/>
                  </a:ext>
                </a:extLst>
              </p:cNvPr>
              <p:cNvSpPr>
                <a:spLocks noChangeArrowheads="1"/>
              </p:cNvSpPr>
              <p:nvPr/>
            </p:nvSpPr>
            <p:spPr bwMode="auto">
              <a:xfrm>
                <a:off x="407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2" name="Rectangle 609">
                <a:extLst>
                  <a:ext uri="{FF2B5EF4-FFF2-40B4-BE49-F238E27FC236}">
                    <a16:creationId xmlns:a16="http://schemas.microsoft.com/office/drawing/2014/main" id="{AE3439E1-A26C-4E95-8817-26D780666A70}"/>
                  </a:ext>
                </a:extLst>
              </p:cNvPr>
              <p:cNvSpPr>
                <a:spLocks noChangeArrowheads="1"/>
              </p:cNvSpPr>
              <p:nvPr/>
            </p:nvSpPr>
            <p:spPr bwMode="auto">
              <a:xfrm>
                <a:off x="409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3" name="Rectangle 610">
                <a:extLst>
                  <a:ext uri="{FF2B5EF4-FFF2-40B4-BE49-F238E27FC236}">
                    <a16:creationId xmlns:a16="http://schemas.microsoft.com/office/drawing/2014/main" id="{F59761A6-4268-40D6-A06B-F94FCD069CEB}"/>
                  </a:ext>
                </a:extLst>
              </p:cNvPr>
              <p:cNvSpPr>
                <a:spLocks noChangeArrowheads="1"/>
              </p:cNvSpPr>
              <p:nvPr/>
            </p:nvSpPr>
            <p:spPr bwMode="auto">
              <a:xfrm>
                <a:off x="411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4" name="Rectangle 611">
                <a:extLst>
                  <a:ext uri="{FF2B5EF4-FFF2-40B4-BE49-F238E27FC236}">
                    <a16:creationId xmlns:a16="http://schemas.microsoft.com/office/drawing/2014/main" id="{F74B03AC-0E4B-44B8-8B01-A66F2DA56D68}"/>
                  </a:ext>
                </a:extLst>
              </p:cNvPr>
              <p:cNvSpPr>
                <a:spLocks noChangeArrowheads="1"/>
              </p:cNvSpPr>
              <p:nvPr/>
            </p:nvSpPr>
            <p:spPr bwMode="auto">
              <a:xfrm>
                <a:off x="413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5" name="Rectangle 612">
                <a:extLst>
                  <a:ext uri="{FF2B5EF4-FFF2-40B4-BE49-F238E27FC236}">
                    <a16:creationId xmlns:a16="http://schemas.microsoft.com/office/drawing/2014/main" id="{39E2E79E-575B-4EA7-8CA8-39F9F191D15C}"/>
                  </a:ext>
                </a:extLst>
              </p:cNvPr>
              <p:cNvSpPr>
                <a:spLocks noChangeArrowheads="1"/>
              </p:cNvSpPr>
              <p:nvPr/>
            </p:nvSpPr>
            <p:spPr bwMode="auto">
              <a:xfrm>
                <a:off x="415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6" name="Rectangle 613">
                <a:extLst>
                  <a:ext uri="{FF2B5EF4-FFF2-40B4-BE49-F238E27FC236}">
                    <a16:creationId xmlns:a16="http://schemas.microsoft.com/office/drawing/2014/main" id="{BB8497CA-7CA9-489A-86B0-0C481C127035}"/>
                  </a:ext>
                </a:extLst>
              </p:cNvPr>
              <p:cNvSpPr>
                <a:spLocks noChangeArrowheads="1"/>
              </p:cNvSpPr>
              <p:nvPr/>
            </p:nvSpPr>
            <p:spPr bwMode="auto">
              <a:xfrm>
                <a:off x="4165" y="399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7" name="Rectangle 614">
                <a:extLst>
                  <a:ext uri="{FF2B5EF4-FFF2-40B4-BE49-F238E27FC236}">
                    <a16:creationId xmlns:a16="http://schemas.microsoft.com/office/drawing/2014/main" id="{FE934898-73B9-4749-A0A2-8261C58EB4CF}"/>
                  </a:ext>
                </a:extLst>
              </p:cNvPr>
              <p:cNvSpPr>
                <a:spLocks noChangeArrowheads="1"/>
              </p:cNvSpPr>
              <p:nvPr/>
            </p:nvSpPr>
            <p:spPr bwMode="auto">
              <a:xfrm>
                <a:off x="4165" y="397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8" name="Rectangle 615">
                <a:extLst>
                  <a:ext uri="{FF2B5EF4-FFF2-40B4-BE49-F238E27FC236}">
                    <a16:creationId xmlns:a16="http://schemas.microsoft.com/office/drawing/2014/main" id="{34B3A108-1A19-4536-A0CE-5BA6FF4294F4}"/>
                  </a:ext>
                </a:extLst>
              </p:cNvPr>
              <p:cNvSpPr>
                <a:spLocks noChangeArrowheads="1"/>
              </p:cNvSpPr>
              <p:nvPr/>
            </p:nvSpPr>
            <p:spPr bwMode="auto">
              <a:xfrm>
                <a:off x="4165" y="3952"/>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9" name="Rectangle 616">
                <a:extLst>
                  <a:ext uri="{FF2B5EF4-FFF2-40B4-BE49-F238E27FC236}">
                    <a16:creationId xmlns:a16="http://schemas.microsoft.com/office/drawing/2014/main" id="{26383CE3-B8A8-4C66-969C-4F9B28CE3B33}"/>
                  </a:ext>
                </a:extLst>
              </p:cNvPr>
              <p:cNvSpPr>
                <a:spLocks noChangeArrowheads="1"/>
              </p:cNvSpPr>
              <p:nvPr/>
            </p:nvSpPr>
            <p:spPr bwMode="auto">
              <a:xfrm>
                <a:off x="4165" y="393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0" name="Rectangle 617">
                <a:extLst>
                  <a:ext uri="{FF2B5EF4-FFF2-40B4-BE49-F238E27FC236}">
                    <a16:creationId xmlns:a16="http://schemas.microsoft.com/office/drawing/2014/main" id="{6F9A423B-0969-4B16-8FFD-B32223C9F175}"/>
                  </a:ext>
                </a:extLst>
              </p:cNvPr>
              <p:cNvSpPr>
                <a:spLocks noChangeArrowheads="1"/>
              </p:cNvSpPr>
              <p:nvPr/>
            </p:nvSpPr>
            <p:spPr bwMode="auto">
              <a:xfrm>
                <a:off x="4165" y="3913"/>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1" name="Rectangle 618">
                <a:extLst>
                  <a:ext uri="{FF2B5EF4-FFF2-40B4-BE49-F238E27FC236}">
                    <a16:creationId xmlns:a16="http://schemas.microsoft.com/office/drawing/2014/main" id="{0C6B46D9-E917-4907-A0BA-9047A400695B}"/>
                  </a:ext>
                </a:extLst>
              </p:cNvPr>
              <p:cNvSpPr>
                <a:spLocks noChangeArrowheads="1"/>
              </p:cNvSpPr>
              <p:nvPr/>
            </p:nvSpPr>
            <p:spPr bwMode="auto">
              <a:xfrm>
                <a:off x="4165" y="389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2" name="Rectangle 619">
                <a:extLst>
                  <a:ext uri="{FF2B5EF4-FFF2-40B4-BE49-F238E27FC236}">
                    <a16:creationId xmlns:a16="http://schemas.microsoft.com/office/drawing/2014/main" id="{FE7EC74F-6DB4-4882-B55D-A88D8C867B2D}"/>
                  </a:ext>
                </a:extLst>
              </p:cNvPr>
              <p:cNvSpPr>
                <a:spLocks noChangeArrowheads="1"/>
              </p:cNvSpPr>
              <p:nvPr/>
            </p:nvSpPr>
            <p:spPr bwMode="auto">
              <a:xfrm>
                <a:off x="4165" y="3875"/>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3" name="Rectangle 620">
                <a:extLst>
                  <a:ext uri="{FF2B5EF4-FFF2-40B4-BE49-F238E27FC236}">
                    <a16:creationId xmlns:a16="http://schemas.microsoft.com/office/drawing/2014/main" id="{798CBC86-1F7C-4108-9E21-D3F400C1E950}"/>
                  </a:ext>
                </a:extLst>
              </p:cNvPr>
              <p:cNvSpPr>
                <a:spLocks noChangeArrowheads="1"/>
              </p:cNvSpPr>
              <p:nvPr/>
            </p:nvSpPr>
            <p:spPr bwMode="auto">
              <a:xfrm>
                <a:off x="4165" y="3856"/>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4" name="Rectangle 621">
                <a:extLst>
                  <a:ext uri="{FF2B5EF4-FFF2-40B4-BE49-F238E27FC236}">
                    <a16:creationId xmlns:a16="http://schemas.microsoft.com/office/drawing/2014/main" id="{DB9218A7-E606-4D09-BA0D-275B3F345FD5}"/>
                  </a:ext>
                </a:extLst>
              </p:cNvPr>
              <p:cNvSpPr>
                <a:spLocks noChangeArrowheads="1"/>
              </p:cNvSpPr>
              <p:nvPr/>
            </p:nvSpPr>
            <p:spPr bwMode="auto">
              <a:xfrm>
                <a:off x="4165" y="3837"/>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5" name="Rectangle 622">
                <a:extLst>
                  <a:ext uri="{FF2B5EF4-FFF2-40B4-BE49-F238E27FC236}">
                    <a16:creationId xmlns:a16="http://schemas.microsoft.com/office/drawing/2014/main" id="{8B77D2C6-AC53-4B24-BE8C-90E9E25E59E4}"/>
                  </a:ext>
                </a:extLst>
              </p:cNvPr>
              <p:cNvSpPr>
                <a:spLocks noChangeArrowheads="1"/>
              </p:cNvSpPr>
              <p:nvPr/>
            </p:nvSpPr>
            <p:spPr bwMode="auto">
              <a:xfrm>
                <a:off x="4165" y="3817"/>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6" name="Rectangle 623">
                <a:extLst>
                  <a:ext uri="{FF2B5EF4-FFF2-40B4-BE49-F238E27FC236}">
                    <a16:creationId xmlns:a16="http://schemas.microsoft.com/office/drawing/2014/main" id="{E63E1202-29C6-4248-B19A-103CE2139BAD}"/>
                  </a:ext>
                </a:extLst>
              </p:cNvPr>
              <p:cNvSpPr>
                <a:spLocks noChangeArrowheads="1"/>
              </p:cNvSpPr>
              <p:nvPr/>
            </p:nvSpPr>
            <p:spPr bwMode="auto">
              <a:xfrm>
                <a:off x="4165" y="3798"/>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7" name="Rectangle 624">
                <a:extLst>
                  <a:ext uri="{FF2B5EF4-FFF2-40B4-BE49-F238E27FC236}">
                    <a16:creationId xmlns:a16="http://schemas.microsoft.com/office/drawing/2014/main" id="{D3FC0DD2-C59C-44E0-87AB-DDF7C7998F55}"/>
                  </a:ext>
                </a:extLst>
              </p:cNvPr>
              <p:cNvSpPr>
                <a:spLocks noChangeArrowheads="1"/>
              </p:cNvSpPr>
              <p:nvPr/>
            </p:nvSpPr>
            <p:spPr bwMode="auto">
              <a:xfrm>
                <a:off x="4165" y="377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8" name="Rectangle 625">
                <a:extLst>
                  <a:ext uri="{FF2B5EF4-FFF2-40B4-BE49-F238E27FC236}">
                    <a16:creationId xmlns:a16="http://schemas.microsoft.com/office/drawing/2014/main" id="{C7D06B51-DC55-47CD-81A9-4E95FCE23E34}"/>
                  </a:ext>
                </a:extLst>
              </p:cNvPr>
              <p:cNvSpPr>
                <a:spLocks noChangeArrowheads="1"/>
              </p:cNvSpPr>
              <p:nvPr/>
            </p:nvSpPr>
            <p:spPr bwMode="auto">
              <a:xfrm>
                <a:off x="4165" y="3760"/>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9" name="Rectangle 626">
                <a:extLst>
                  <a:ext uri="{FF2B5EF4-FFF2-40B4-BE49-F238E27FC236}">
                    <a16:creationId xmlns:a16="http://schemas.microsoft.com/office/drawing/2014/main" id="{E8999B68-4BE2-4C01-A2DE-5B1300956586}"/>
                  </a:ext>
                </a:extLst>
              </p:cNvPr>
              <p:cNvSpPr>
                <a:spLocks noChangeArrowheads="1"/>
              </p:cNvSpPr>
              <p:nvPr/>
            </p:nvSpPr>
            <p:spPr bwMode="auto">
              <a:xfrm>
                <a:off x="4165" y="374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0" name="Rectangle 627">
                <a:extLst>
                  <a:ext uri="{FF2B5EF4-FFF2-40B4-BE49-F238E27FC236}">
                    <a16:creationId xmlns:a16="http://schemas.microsoft.com/office/drawing/2014/main" id="{954C8C71-EBC4-4902-A473-FD57D3F9A85E}"/>
                  </a:ext>
                </a:extLst>
              </p:cNvPr>
              <p:cNvSpPr>
                <a:spLocks noChangeArrowheads="1"/>
              </p:cNvSpPr>
              <p:nvPr/>
            </p:nvSpPr>
            <p:spPr bwMode="auto">
              <a:xfrm>
                <a:off x="4165" y="372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1" name="Rectangle 628">
                <a:extLst>
                  <a:ext uri="{FF2B5EF4-FFF2-40B4-BE49-F238E27FC236}">
                    <a16:creationId xmlns:a16="http://schemas.microsoft.com/office/drawing/2014/main" id="{7C866E04-17D5-4148-990D-5E40C180A31C}"/>
                  </a:ext>
                </a:extLst>
              </p:cNvPr>
              <p:cNvSpPr>
                <a:spLocks noChangeArrowheads="1"/>
              </p:cNvSpPr>
              <p:nvPr/>
            </p:nvSpPr>
            <p:spPr bwMode="auto">
              <a:xfrm>
                <a:off x="4165" y="3702"/>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2" name="Rectangle 629">
                <a:extLst>
                  <a:ext uri="{FF2B5EF4-FFF2-40B4-BE49-F238E27FC236}">
                    <a16:creationId xmlns:a16="http://schemas.microsoft.com/office/drawing/2014/main" id="{1F9641AA-1DEC-41D0-A2A3-86C12BC7D2EC}"/>
                  </a:ext>
                </a:extLst>
              </p:cNvPr>
              <p:cNvSpPr>
                <a:spLocks noChangeArrowheads="1"/>
              </p:cNvSpPr>
              <p:nvPr/>
            </p:nvSpPr>
            <p:spPr bwMode="auto">
              <a:xfrm>
                <a:off x="4165" y="368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3" name="Rectangle 630">
                <a:extLst>
                  <a:ext uri="{FF2B5EF4-FFF2-40B4-BE49-F238E27FC236}">
                    <a16:creationId xmlns:a16="http://schemas.microsoft.com/office/drawing/2014/main" id="{64D7E690-EF4E-4AE4-BBC3-117FC87F2047}"/>
                  </a:ext>
                </a:extLst>
              </p:cNvPr>
              <p:cNvSpPr>
                <a:spLocks noChangeArrowheads="1"/>
              </p:cNvSpPr>
              <p:nvPr/>
            </p:nvSpPr>
            <p:spPr bwMode="auto">
              <a:xfrm>
                <a:off x="4165" y="3664"/>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4" name="Rectangle 631">
                <a:extLst>
                  <a:ext uri="{FF2B5EF4-FFF2-40B4-BE49-F238E27FC236}">
                    <a16:creationId xmlns:a16="http://schemas.microsoft.com/office/drawing/2014/main" id="{7C969160-A926-4D7B-9062-6C191D137FEA}"/>
                  </a:ext>
                </a:extLst>
              </p:cNvPr>
              <p:cNvSpPr>
                <a:spLocks noChangeArrowheads="1"/>
              </p:cNvSpPr>
              <p:nvPr/>
            </p:nvSpPr>
            <p:spPr bwMode="auto">
              <a:xfrm>
                <a:off x="4165" y="364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5" name="Freeform 632">
                <a:extLst>
                  <a:ext uri="{FF2B5EF4-FFF2-40B4-BE49-F238E27FC236}">
                    <a16:creationId xmlns:a16="http://schemas.microsoft.com/office/drawing/2014/main" id="{76CF2C8C-2AF2-46B4-AF29-A0751B445069}"/>
                  </a:ext>
                </a:extLst>
              </p:cNvPr>
              <p:cNvSpPr>
                <a:spLocks/>
              </p:cNvSpPr>
              <p:nvPr/>
            </p:nvSpPr>
            <p:spPr bwMode="auto">
              <a:xfrm>
                <a:off x="4163" y="3628"/>
                <a:ext cx="12" cy="9"/>
              </a:xfrm>
              <a:custGeom>
                <a:avLst/>
                <a:gdLst>
                  <a:gd name="T0" fmla="*/ 2 w 12"/>
                  <a:gd name="T1" fmla="*/ 7 h 9"/>
                  <a:gd name="T2" fmla="*/ 12 w 12"/>
                  <a:gd name="T3" fmla="*/ 7 h 9"/>
                  <a:gd name="T4" fmla="*/ 12 w 12"/>
                  <a:gd name="T5" fmla="*/ 4 h 9"/>
                  <a:gd name="T6" fmla="*/ 12 w 12"/>
                  <a:gd name="T7" fmla="*/ 0 h 9"/>
                  <a:gd name="T8" fmla="*/ 7 w 12"/>
                  <a:gd name="T9" fmla="*/ 0 h 9"/>
                  <a:gd name="T10" fmla="*/ 0 w 12"/>
                  <a:gd name="T11" fmla="*/ 0 h 9"/>
                  <a:gd name="T12" fmla="*/ 0 w 12"/>
                  <a:gd name="T13" fmla="*/ 9 h 9"/>
                  <a:gd name="T14" fmla="*/ 7 w 12"/>
                  <a:gd name="T15" fmla="*/ 9 h 9"/>
                  <a:gd name="T16" fmla="*/ 7 w 12"/>
                  <a:gd name="T17" fmla="*/ 4 h 9"/>
                  <a:gd name="T18" fmla="*/ 2 w 12"/>
                  <a:gd name="T19" fmla="*/ 4 h 9"/>
                  <a:gd name="T20" fmla="*/ 2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2" y="7"/>
                    </a:moveTo>
                    <a:lnTo>
                      <a:pt x="12" y="7"/>
                    </a:lnTo>
                    <a:lnTo>
                      <a:pt x="12" y="4"/>
                    </a:lnTo>
                    <a:lnTo>
                      <a:pt x="12" y="0"/>
                    </a:lnTo>
                    <a:lnTo>
                      <a:pt x="7" y="0"/>
                    </a:lnTo>
                    <a:lnTo>
                      <a:pt x="0" y="0"/>
                    </a:lnTo>
                    <a:lnTo>
                      <a:pt x="0" y="9"/>
                    </a:lnTo>
                    <a:lnTo>
                      <a:pt x="7" y="9"/>
                    </a:lnTo>
                    <a:lnTo>
                      <a:pt x="7" y="4"/>
                    </a:lnTo>
                    <a:lnTo>
                      <a:pt x="2" y="4"/>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6" name="Rectangle 633">
                <a:extLst>
                  <a:ext uri="{FF2B5EF4-FFF2-40B4-BE49-F238E27FC236}">
                    <a16:creationId xmlns:a16="http://schemas.microsoft.com/office/drawing/2014/main" id="{2437E359-7AAF-4610-BE5B-8D259AE41C8E}"/>
                  </a:ext>
                </a:extLst>
              </p:cNvPr>
              <p:cNvSpPr>
                <a:spLocks noChangeArrowheads="1"/>
              </p:cNvSpPr>
              <p:nvPr/>
            </p:nvSpPr>
            <p:spPr bwMode="auto">
              <a:xfrm>
                <a:off x="414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7" name="Rectangle 634">
                <a:extLst>
                  <a:ext uri="{FF2B5EF4-FFF2-40B4-BE49-F238E27FC236}">
                    <a16:creationId xmlns:a16="http://schemas.microsoft.com/office/drawing/2014/main" id="{A0C25BEF-BDDB-4D92-A8EB-9F19282EED56}"/>
                  </a:ext>
                </a:extLst>
              </p:cNvPr>
              <p:cNvSpPr>
                <a:spLocks noChangeArrowheads="1"/>
              </p:cNvSpPr>
              <p:nvPr/>
            </p:nvSpPr>
            <p:spPr bwMode="auto">
              <a:xfrm>
                <a:off x="412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8" name="Rectangle 635">
                <a:extLst>
                  <a:ext uri="{FF2B5EF4-FFF2-40B4-BE49-F238E27FC236}">
                    <a16:creationId xmlns:a16="http://schemas.microsoft.com/office/drawing/2014/main" id="{8ADEC9E1-FF76-4F37-BE42-419CEFA70FFF}"/>
                  </a:ext>
                </a:extLst>
              </p:cNvPr>
              <p:cNvSpPr>
                <a:spLocks noChangeArrowheads="1"/>
              </p:cNvSpPr>
              <p:nvPr/>
            </p:nvSpPr>
            <p:spPr bwMode="auto">
              <a:xfrm>
                <a:off x="410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9" name="Rectangle 636">
                <a:extLst>
                  <a:ext uri="{FF2B5EF4-FFF2-40B4-BE49-F238E27FC236}">
                    <a16:creationId xmlns:a16="http://schemas.microsoft.com/office/drawing/2014/main" id="{DFEB7604-C00E-4618-B2A7-ACE7647BB830}"/>
                  </a:ext>
                </a:extLst>
              </p:cNvPr>
              <p:cNvSpPr>
                <a:spLocks noChangeArrowheads="1"/>
              </p:cNvSpPr>
              <p:nvPr/>
            </p:nvSpPr>
            <p:spPr bwMode="auto">
              <a:xfrm>
                <a:off x="408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0" name="Rectangle 637">
                <a:extLst>
                  <a:ext uri="{FF2B5EF4-FFF2-40B4-BE49-F238E27FC236}">
                    <a16:creationId xmlns:a16="http://schemas.microsoft.com/office/drawing/2014/main" id="{9B8F0993-6BAC-4D86-904B-1E6E03A5E3B1}"/>
                  </a:ext>
                </a:extLst>
              </p:cNvPr>
              <p:cNvSpPr>
                <a:spLocks noChangeArrowheads="1"/>
              </p:cNvSpPr>
              <p:nvPr/>
            </p:nvSpPr>
            <p:spPr bwMode="auto">
              <a:xfrm>
                <a:off x="406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1" name="Rectangle 638">
                <a:extLst>
                  <a:ext uri="{FF2B5EF4-FFF2-40B4-BE49-F238E27FC236}">
                    <a16:creationId xmlns:a16="http://schemas.microsoft.com/office/drawing/2014/main" id="{898EEF9D-E5EF-4DBF-AE4E-B53B43A4B035}"/>
                  </a:ext>
                </a:extLst>
              </p:cNvPr>
              <p:cNvSpPr>
                <a:spLocks noChangeArrowheads="1"/>
              </p:cNvSpPr>
              <p:nvPr/>
            </p:nvSpPr>
            <p:spPr bwMode="auto">
              <a:xfrm>
                <a:off x="404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2" name="Rectangle 639">
                <a:extLst>
                  <a:ext uri="{FF2B5EF4-FFF2-40B4-BE49-F238E27FC236}">
                    <a16:creationId xmlns:a16="http://schemas.microsoft.com/office/drawing/2014/main" id="{BF34835B-E175-41C8-BDAA-72A9218C211C}"/>
                  </a:ext>
                </a:extLst>
              </p:cNvPr>
              <p:cNvSpPr>
                <a:spLocks noChangeArrowheads="1"/>
              </p:cNvSpPr>
              <p:nvPr/>
            </p:nvSpPr>
            <p:spPr bwMode="auto">
              <a:xfrm>
                <a:off x="402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3" name="Rectangle 640">
                <a:extLst>
                  <a:ext uri="{FF2B5EF4-FFF2-40B4-BE49-F238E27FC236}">
                    <a16:creationId xmlns:a16="http://schemas.microsoft.com/office/drawing/2014/main" id="{170F80AD-1AAB-45F0-AE9D-045E53CE49D9}"/>
                  </a:ext>
                </a:extLst>
              </p:cNvPr>
              <p:cNvSpPr>
                <a:spLocks noChangeArrowheads="1"/>
              </p:cNvSpPr>
              <p:nvPr/>
            </p:nvSpPr>
            <p:spPr bwMode="auto">
              <a:xfrm>
                <a:off x="400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4" name="Rectangle 641">
                <a:extLst>
                  <a:ext uri="{FF2B5EF4-FFF2-40B4-BE49-F238E27FC236}">
                    <a16:creationId xmlns:a16="http://schemas.microsoft.com/office/drawing/2014/main" id="{2331DAEF-94E9-46C1-922A-0F20900403FE}"/>
                  </a:ext>
                </a:extLst>
              </p:cNvPr>
              <p:cNvSpPr>
                <a:spLocks noChangeArrowheads="1"/>
              </p:cNvSpPr>
              <p:nvPr/>
            </p:nvSpPr>
            <p:spPr bwMode="auto">
              <a:xfrm>
                <a:off x="3990"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5" name="Rectangle 642">
                <a:extLst>
                  <a:ext uri="{FF2B5EF4-FFF2-40B4-BE49-F238E27FC236}">
                    <a16:creationId xmlns:a16="http://schemas.microsoft.com/office/drawing/2014/main" id="{54D6B1DE-E6C7-4F98-AA63-90DA5662B08F}"/>
                  </a:ext>
                </a:extLst>
              </p:cNvPr>
              <p:cNvSpPr>
                <a:spLocks noChangeArrowheads="1"/>
              </p:cNvSpPr>
              <p:nvPr/>
            </p:nvSpPr>
            <p:spPr bwMode="auto">
              <a:xfrm>
                <a:off x="397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6" name="Rectangle 643">
                <a:extLst>
                  <a:ext uri="{FF2B5EF4-FFF2-40B4-BE49-F238E27FC236}">
                    <a16:creationId xmlns:a16="http://schemas.microsoft.com/office/drawing/2014/main" id="{BB8FD339-8154-4DA3-83DD-CB0CC96B36AB}"/>
                  </a:ext>
                </a:extLst>
              </p:cNvPr>
              <p:cNvSpPr>
                <a:spLocks noChangeArrowheads="1"/>
              </p:cNvSpPr>
              <p:nvPr/>
            </p:nvSpPr>
            <p:spPr bwMode="auto">
              <a:xfrm>
                <a:off x="395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7" name="Rectangle 644">
                <a:extLst>
                  <a:ext uri="{FF2B5EF4-FFF2-40B4-BE49-F238E27FC236}">
                    <a16:creationId xmlns:a16="http://schemas.microsoft.com/office/drawing/2014/main" id="{C10C36AA-1965-493E-B832-19A4D1E1E951}"/>
                  </a:ext>
                </a:extLst>
              </p:cNvPr>
              <p:cNvSpPr>
                <a:spLocks noChangeArrowheads="1"/>
              </p:cNvSpPr>
              <p:nvPr/>
            </p:nvSpPr>
            <p:spPr bwMode="auto">
              <a:xfrm>
                <a:off x="393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8" name="Rectangle 645">
                <a:extLst>
                  <a:ext uri="{FF2B5EF4-FFF2-40B4-BE49-F238E27FC236}">
                    <a16:creationId xmlns:a16="http://schemas.microsoft.com/office/drawing/2014/main" id="{F3BCEC67-0790-49F1-A099-D1727B47EAD9}"/>
                  </a:ext>
                </a:extLst>
              </p:cNvPr>
              <p:cNvSpPr>
                <a:spLocks noChangeArrowheads="1"/>
              </p:cNvSpPr>
              <p:nvPr/>
            </p:nvSpPr>
            <p:spPr bwMode="auto">
              <a:xfrm>
                <a:off x="391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9" name="Rectangle 646">
                <a:extLst>
                  <a:ext uri="{FF2B5EF4-FFF2-40B4-BE49-F238E27FC236}">
                    <a16:creationId xmlns:a16="http://schemas.microsoft.com/office/drawing/2014/main" id="{2BD55A44-D47A-4C4E-9BE1-0CF91F26179E}"/>
                  </a:ext>
                </a:extLst>
              </p:cNvPr>
              <p:cNvSpPr>
                <a:spLocks noChangeArrowheads="1"/>
              </p:cNvSpPr>
              <p:nvPr/>
            </p:nvSpPr>
            <p:spPr bwMode="auto">
              <a:xfrm>
                <a:off x="3894"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0" name="Rectangle 647">
                <a:extLst>
                  <a:ext uri="{FF2B5EF4-FFF2-40B4-BE49-F238E27FC236}">
                    <a16:creationId xmlns:a16="http://schemas.microsoft.com/office/drawing/2014/main" id="{4EC9C880-042D-4B4D-9084-A35F7859D4CA}"/>
                  </a:ext>
                </a:extLst>
              </p:cNvPr>
              <p:cNvSpPr>
                <a:spLocks noChangeArrowheads="1"/>
              </p:cNvSpPr>
              <p:nvPr/>
            </p:nvSpPr>
            <p:spPr bwMode="auto">
              <a:xfrm>
                <a:off x="387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1" name="Rectangle 648">
                <a:extLst>
                  <a:ext uri="{FF2B5EF4-FFF2-40B4-BE49-F238E27FC236}">
                    <a16:creationId xmlns:a16="http://schemas.microsoft.com/office/drawing/2014/main" id="{B7BB0F1F-DBDB-4BC9-975C-718FAA9B6EF0}"/>
                  </a:ext>
                </a:extLst>
              </p:cNvPr>
              <p:cNvSpPr>
                <a:spLocks noChangeArrowheads="1"/>
              </p:cNvSpPr>
              <p:nvPr/>
            </p:nvSpPr>
            <p:spPr bwMode="auto">
              <a:xfrm>
                <a:off x="385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2" name="Rectangle 649">
                <a:extLst>
                  <a:ext uri="{FF2B5EF4-FFF2-40B4-BE49-F238E27FC236}">
                    <a16:creationId xmlns:a16="http://schemas.microsoft.com/office/drawing/2014/main" id="{E0FB06F9-108E-4CA7-9D02-5809F6CDAB79}"/>
                  </a:ext>
                </a:extLst>
              </p:cNvPr>
              <p:cNvSpPr>
                <a:spLocks noChangeArrowheads="1"/>
              </p:cNvSpPr>
              <p:nvPr/>
            </p:nvSpPr>
            <p:spPr bwMode="auto">
              <a:xfrm>
                <a:off x="383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3" name="Rectangle 650">
                <a:extLst>
                  <a:ext uri="{FF2B5EF4-FFF2-40B4-BE49-F238E27FC236}">
                    <a16:creationId xmlns:a16="http://schemas.microsoft.com/office/drawing/2014/main" id="{7D3822F6-3EEA-4206-A03E-F4C546B15346}"/>
                  </a:ext>
                </a:extLst>
              </p:cNvPr>
              <p:cNvSpPr>
                <a:spLocks noChangeArrowheads="1"/>
              </p:cNvSpPr>
              <p:nvPr/>
            </p:nvSpPr>
            <p:spPr bwMode="auto">
              <a:xfrm>
                <a:off x="381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4" name="Rectangle 651">
                <a:extLst>
                  <a:ext uri="{FF2B5EF4-FFF2-40B4-BE49-F238E27FC236}">
                    <a16:creationId xmlns:a16="http://schemas.microsoft.com/office/drawing/2014/main" id="{FAEDF71D-E0A0-4AC4-B1DA-A5EEE88B3E1D}"/>
                  </a:ext>
                </a:extLst>
              </p:cNvPr>
              <p:cNvSpPr>
                <a:spLocks noChangeArrowheads="1"/>
              </p:cNvSpPr>
              <p:nvPr/>
            </p:nvSpPr>
            <p:spPr bwMode="auto">
              <a:xfrm>
                <a:off x="3798"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5" name="Rectangle 652">
                <a:extLst>
                  <a:ext uri="{FF2B5EF4-FFF2-40B4-BE49-F238E27FC236}">
                    <a16:creationId xmlns:a16="http://schemas.microsoft.com/office/drawing/2014/main" id="{B7B167B4-E25A-43B1-910A-CFB8E058A763}"/>
                  </a:ext>
                </a:extLst>
              </p:cNvPr>
              <p:cNvSpPr>
                <a:spLocks noChangeArrowheads="1"/>
              </p:cNvSpPr>
              <p:nvPr/>
            </p:nvSpPr>
            <p:spPr bwMode="auto">
              <a:xfrm>
                <a:off x="377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6" name="Rectangle 653">
                <a:extLst>
                  <a:ext uri="{FF2B5EF4-FFF2-40B4-BE49-F238E27FC236}">
                    <a16:creationId xmlns:a16="http://schemas.microsoft.com/office/drawing/2014/main" id="{9830D1A5-A655-43C9-A601-AB2D53E26607}"/>
                  </a:ext>
                </a:extLst>
              </p:cNvPr>
              <p:cNvSpPr>
                <a:spLocks noChangeArrowheads="1"/>
              </p:cNvSpPr>
              <p:nvPr/>
            </p:nvSpPr>
            <p:spPr bwMode="auto">
              <a:xfrm>
                <a:off x="375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7" name="Rectangle 654">
                <a:extLst>
                  <a:ext uri="{FF2B5EF4-FFF2-40B4-BE49-F238E27FC236}">
                    <a16:creationId xmlns:a16="http://schemas.microsoft.com/office/drawing/2014/main" id="{37E31F34-C372-4EEF-865B-E9F94D45448B}"/>
                  </a:ext>
                </a:extLst>
              </p:cNvPr>
              <p:cNvSpPr>
                <a:spLocks noChangeArrowheads="1"/>
              </p:cNvSpPr>
              <p:nvPr/>
            </p:nvSpPr>
            <p:spPr bwMode="auto">
              <a:xfrm>
                <a:off x="374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8" name="Rectangle 655">
                <a:extLst>
                  <a:ext uri="{FF2B5EF4-FFF2-40B4-BE49-F238E27FC236}">
                    <a16:creationId xmlns:a16="http://schemas.microsoft.com/office/drawing/2014/main" id="{C4CC30DB-90D4-4816-8269-77A00F555C75}"/>
                  </a:ext>
                </a:extLst>
              </p:cNvPr>
              <p:cNvSpPr>
                <a:spLocks noChangeArrowheads="1"/>
              </p:cNvSpPr>
              <p:nvPr/>
            </p:nvSpPr>
            <p:spPr bwMode="auto">
              <a:xfrm>
                <a:off x="3721"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9" name="Rectangle 656">
                <a:extLst>
                  <a:ext uri="{FF2B5EF4-FFF2-40B4-BE49-F238E27FC236}">
                    <a16:creationId xmlns:a16="http://schemas.microsoft.com/office/drawing/2014/main" id="{7A6B796B-A4A4-4546-BBEB-214E5B413CFB}"/>
                  </a:ext>
                </a:extLst>
              </p:cNvPr>
              <p:cNvSpPr>
                <a:spLocks noChangeArrowheads="1"/>
              </p:cNvSpPr>
              <p:nvPr/>
            </p:nvSpPr>
            <p:spPr bwMode="auto">
              <a:xfrm>
                <a:off x="370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0" name="Rectangle 657">
                <a:extLst>
                  <a:ext uri="{FF2B5EF4-FFF2-40B4-BE49-F238E27FC236}">
                    <a16:creationId xmlns:a16="http://schemas.microsoft.com/office/drawing/2014/main" id="{3197621D-37EC-4002-87D0-FF03E7FE0E04}"/>
                  </a:ext>
                </a:extLst>
              </p:cNvPr>
              <p:cNvSpPr>
                <a:spLocks noChangeArrowheads="1"/>
              </p:cNvSpPr>
              <p:nvPr/>
            </p:nvSpPr>
            <p:spPr bwMode="auto">
              <a:xfrm>
                <a:off x="368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1" name="Rectangle 658">
                <a:extLst>
                  <a:ext uri="{FF2B5EF4-FFF2-40B4-BE49-F238E27FC236}">
                    <a16:creationId xmlns:a16="http://schemas.microsoft.com/office/drawing/2014/main" id="{09B69B70-7974-43AB-BF4D-1E0C109249FD}"/>
                  </a:ext>
                </a:extLst>
              </p:cNvPr>
              <p:cNvSpPr>
                <a:spLocks noChangeArrowheads="1"/>
              </p:cNvSpPr>
              <p:nvPr/>
            </p:nvSpPr>
            <p:spPr bwMode="auto">
              <a:xfrm>
                <a:off x="366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2" name="Rectangle 659">
                <a:extLst>
                  <a:ext uri="{FF2B5EF4-FFF2-40B4-BE49-F238E27FC236}">
                    <a16:creationId xmlns:a16="http://schemas.microsoft.com/office/drawing/2014/main" id="{9FBFE329-6EA5-414E-ACC3-4AA8287FCBA4}"/>
                  </a:ext>
                </a:extLst>
              </p:cNvPr>
              <p:cNvSpPr>
                <a:spLocks noChangeArrowheads="1"/>
              </p:cNvSpPr>
              <p:nvPr/>
            </p:nvSpPr>
            <p:spPr bwMode="auto">
              <a:xfrm>
                <a:off x="364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3" name="Rectangle 660">
                <a:extLst>
                  <a:ext uri="{FF2B5EF4-FFF2-40B4-BE49-F238E27FC236}">
                    <a16:creationId xmlns:a16="http://schemas.microsoft.com/office/drawing/2014/main" id="{1541C9EB-12D6-44EE-96C8-1C2EC6BA4793}"/>
                  </a:ext>
                </a:extLst>
              </p:cNvPr>
              <p:cNvSpPr>
                <a:spLocks noChangeArrowheads="1"/>
              </p:cNvSpPr>
              <p:nvPr/>
            </p:nvSpPr>
            <p:spPr bwMode="auto">
              <a:xfrm>
                <a:off x="3625"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4" name="Rectangle 661">
                <a:extLst>
                  <a:ext uri="{FF2B5EF4-FFF2-40B4-BE49-F238E27FC236}">
                    <a16:creationId xmlns:a16="http://schemas.microsoft.com/office/drawing/2014/main" id="{0E7FC5EE-FE55-4766-8998-C56CC29729D9}"/>
                  </a:ext>
                </a:extLst>
              </p:cNvPr>
              <p:cNvSpPr>
                <a:spLocks noChangeArrowheads="1"/>
              </p:cNvSpPr>
              <p:nvPr/>
            </p:nvSpPr>
            <p:spPr bwMode="auto">
              <a:xfrm>
                <a:off x="360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5" name="Rectangle 662">
                <a:extLst>
                  <a:ext uri="{FF2B5EF4-FFF2-40B4-BE49-F238E27FC236}">
                    <a16:creationId xmlns:a16="http://schemas.microsoft.com/office/drawing/2014/main" id="{4BEC81B5-EF92-4EA8-8247-FE0B6C954B7E}"/>
                  </a:ext>
                </a:extLst>
              </p:cNvPr>
              <p:cNvSpPr>
                <a:spLocks noChangeArrowheads="1"/>
              </p:cNvSpPr>
              <p:nvPr/>
            </p:nvSpPr>
            <p:spPr bwMode="auto">
              <a:xfrm>
                <a:off x="358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6" name="Rectangle 663">
                <a:extLst>
                  <a:ext uri="{FF2B5EF4-FFF2-40B4-BE49-F238E27FC236}">
                    <a16:creationId xmlns:a16="http://schemas.microsoft.com/office/drawing/2014/main" id="{842BD609-7B46-4B8E-B689-B505E3AB988D}"/>
                  </a:ext>
                </a:extLst>
              </p:cNvPr>
              <p:cNvSpPr>
                <a:spLocks noChangeArrowheads="1"/>
              </p:cNvSpPr>
              <p:nvPr/>
            </p:nvSpPr>
            <p:spPr bwMode="auto">
              <a:xfrm>
                <a:off x="356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7" name="Rectangle 664">
                <a:extLst>
                  <a:ext uri="{FF2B5EF4-FFF2-40B4-BE49-F238E27FC236}">
                    <a16:creationId xmlns:a16="http://schemas.microsoft.com/office/drawing/2014/main" id="{4D5B0514-A435-4073-AB66-E7C81DC6BC86}"/>
                  </a:ext>
                </a:extLst>
              </p:cNvPr>
              <p:cNvSpPr>
                <a:spLocks noChangeArrowheads="1"/>
              </p:cNvSpPr>
              <p:nvPr/>
            </p:nvSpPr>
            <p:spPr bwMode="auto">
              <a:xfrm>
                <a:off x="354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8" name="Rectangle 665">
                <a:extLst>
                  <a:ext uri="{FF2B5EF4-FFF2-40B4-BE49-F238E27FC236}">
                    <a16:creationId xmlns:a16="http://schemas.microsoft.com/office/drawing/2014/main" id="{01054F70-CA57-4320-9B55-F5CE42F72538}"/>
                  </a:ext>
                </a:extLst>
              </p:cNvPr>
              <p:cNvSpPr>
                <a:spLocks noChangeArrowheads="1"/>
              </p:cNvSpPr>
              <p:nvPr/>
            </p:nvSpPr>
            <p:spPr bwMode="auto">
              <a:xfrm>
                <a:off x="352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9" name="Rectangle 666">
                <a:extLst>
                  <a:ext uri="{FF2B5EF4-FFF2-40B4-BE49-F238E27FC236}">
                    <a16:creationId xmlns:a16="http://schemas.microsoft.com/office/drawing/2014/main" id="{1448C883-4DB8-45DA-BEB5-D89B8F67CB2D}"/>
                  </a:ext>
                </a:extLst>
              </p:cNvPr>
              <p:cNvSpPr>
                <a:spLocks noChangeArrowheads="1"/>
              </p:cNvSpPr>
              <p:nvPr/>
            </p:nvSpPr>
            <p:spPr bwMode="auto">
              <a:xfrm>
                <a:off x="350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0" name="Rectangle 667">
                <a:extLst>
                  <a:ext uri="{FF2B5EF4-FFF2-40B4-BE49-F238E27FC236}">
                    <a16:creationId xmlns:a16="http://schemas.microsoft.com/office/drawing/2014/main" id="{6904166A-18CD-4C78-989A-7BD44569269B}"/>
                  </a:ext>
                </a:extLst>
              </p:cNvPr>
              <p:cNvSpPr>
                <a:spLocks noChangeArrowheads="1"/>
              </p:cNvSpPr>
              <p:nvPr/>
            </p:nvSpPr>
            <p:spPr bwMode="auto">
              <a:xfrm>
                <a:off x="349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1" name="Rectangle 668">
                <a:extLst>
                  <a:ext uri="{FF2B5EF4-FFF2-40B4-BE49-F238E27FC236}">
                    <a16:creationId xmlns:a16="http://schemas.microsoft.com/office/drawing/2014/main" id="{929E1291-B3B7-4EF7-A48D-5572C66850F8}"/>
                  </a:ext>
                </a:extLst>
              </p:cNvPr>
              <p:cNvSpPr>
                <a:spLocks noChangeArrowheads="1"/>
              </p:cNvSpPr>
              <p:nvPr/>
            </p:nvSpPr>
            <p:spPr bwMode="auto">
              <a:xfrm>
                <a:off x="347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2" name="Rectangle 669">
                <a:extLst>
                  <a:ext uri="{FF2B5EF4-FFF2-40B4-BE49-F238E27FC236}">
                    <a16:creationId xmlns:a16="http://schemas.microsoft.com/office/drawing/2014/main" id="{1763304E-1B66-4E3B-8B25-0AD3C1B42350}"/>
                  </a:ext>
                </a:extLst>
              </p:cNvPr>
              <p:cNvSpPr>
                <a:spLocks noChangeArrowheads="1"/>
              </p:cNvSpPr>
              <p:nvPr/>
            </p:nvSpPr>
            <p:spPr bwMode="auto">
              <a:xfrm>
                <a:off x="345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3" name="Rectangle 670">
                <a:extLst>
                  <a:ext uri="{FF2B5EF4-FFF2-40B4-BE49-F238E27FC236}">
                    <a16:creationId xmlns:a16="http://schemas.microsoft.com/office/drawing/2014/main" id="{5EC4589E-0CE2-4918-B3ED-A01DEB0E9BB2}"/>
                  </a:ext>
                </a:extLst>
              </p:cNvPr>
              <p:cNvSpPr>
                <a:spLocks noChangeArrowheads="1"/>
              </p:cNvSpPr>
              <p:nvPr/>
            </p:nvSpPr>
            <p:spPr bwMode="auto">
              <a:xfrm>
                <a:off x="343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4" name="Rectangle 671">
                <a:extLst>
                  <a:ext uri="{FF2B5EF4-FFF2-40B4-BE49-F238E27FC236}">
                    <a16:creationId xmlns:a16="http://schemas.microsoft.com/office/drawing/2014/main" id="{7DC65ADD-FBAC-4DCF-9383-575D6433259F}"/>
                  </a:ext>
                </a:extLst>
              </p:cNvPr>
              <p:cNvSpPr>
                <a:spLocks noChangeArrowheads="1"/>
              </p:cNvSpPr>
              <p:nvPr/>
            </p:nvSpPr>
            <p:spPr bwMode="auto">
              <a:xfrm>
                <a:off x="341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5" name="Rectangle 672">
                <a:extLst>
                  <a:ext uri="{FF2B5EF4-FFF2-40B4-BE49-F238E27FC236}">
                    <a16:creationId xmlns:a16="http://schemas.microsoft.com/office/drawing/2014/main" id="{81C8DDC5-C732-4474-A507-502BEC6389C8}"/>
                  </a:ext>
                </a:extLst>
              </p:cNvPr>
              <p:cNvSpPr>
                <a:spLocks noChangeArrowheads="1"/>
              </p:cNvSpPr>
              <p:nvPr/>
            </p:nvSpPr>
            <p:spPr bwMode="auto">
              <a:xfrm>
                <a:off x="339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6" name="Rectangle 673">
                <a:extLst>
                  <a:ext uri="{FF2B5EF4-FFF2-40B4-BE49-F238E27FC236}">
                    <a16:creationId xmlns:a16="http://schemas.microsoft.com/office/drawing/2014/main" id="{DAAF2E55-5B1D-47D0-8F32-B3F8DF6EF7CC}"/>
                  </a:ext>
                </a:extLst>
              </p:cNvPr>
              <p:cNvSpPr>
                <a:spLocks noChangeArrowheads="1"/>
              </p:cNvSpPr>
              <p:nvPr/>
            </p:nvSpPr>
            <p:spPr bwMode="auto">
              <a:xfrm>
                <a:off x="337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7" name="Rectangle 674">
                <a:extLst>
                  <a:ext uri="{FF2B5EF4-FFF2-40B4-BE49-F238E27FC236}">
                    <a16:creationId xmlns:a16="http://schemas.microsoft.com/office/drawing/2014/main" id="{1278A3AC-7798-47B7-89F1-102F4EBADF61}"/>
                  </a:ext>
                </a:extLst>
              </p:cNvPr>
              <p:cNvSpPr>
                <a:spLocks noChangeArrowheads="1"/>
              </p:cNvSpPr>
              <p:nvPr/>
            </p:nvSpPr>
            <p:spPr bwMode="auto">
              <a:xfrm>
                <a:off x="335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8" name="Rectangle 675">
                <a:extLst>
                  <a:ext uri="{FF2B5EF4-FFF2-40B4-BE49-F238E27FC236}">
                    <a16:creationId xmlns:a16="http://schemas.microsoft.com/office/drawing/2014/main" id="{5EEB9FAE-4FF5-419F-888E-86256EC582F0}"/>
                  </a:ext>
                </a:extLst>
              </p:cNvPr>
              <p:cNvSpPr>
                <a:spLocks noChangeArrowheads="1"/>
              </p:cNvSpPr>
              <p:nvPr/>
            </p:nvSpPr>
            <p:spPr bwMode="auto">
              <a:xfrm>
                <a:off x="333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9" name="Rectangle 676">
                <a:extLst>
                  <a:ext uri="{FF2B5EF4-FFF2-40B4-BE49-F238E27FC236}">
                    <a16:creationId xmlns:a16="http://schemas.microsoft.com/office/drawing/2014/main" id="{C0C107C9-4C44-4787-9B7F-F01CCE2F8688}"/>
                  </a:ext>
                </a:extLst>
              </p:cNvPr>
              <p:cNvSpPr>
                <a:spLocks noChangeArrowheads="1"/>
              </p:cNvSpPr>
              <p:nvPr/>
            </p:nvSpPr>
            <p:spPr bwMode="auto">
              <a:xfrm>
                <a:off x="331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60" name="Rectangle 677">
                <a:extLst>
                  <a:ext uri="{FF2B5EF4-FFF2-40B4-BE49-F238E27FC236}">
                    <a16:creationId xmlns:a16="http://schemas.microsoft.com/office/drawing/2014/main" id="{7F86FACC-18A8-4760-8FF9-06D5D945B79F}"/>
                  </a:ext>
                </a:extLst>
              </p:cNvPr>
              <p:cNvSpPr>
                <a:spLocks noChangeArrowheads="1"/>
              </p:cNvSpPr>
              <p:nvPr/>
            </p:nvSpPr>
            <p:spPr bwMode="auto">
              <a:xfrm>
                <a:off x="329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61" name="Rectangle 678">
                <a:extLst>
                  <a:ext uri="{FF2B5EF4-FFF2-40B4-BE49-F238E27FC236}">
                    <a16:creationId xmlns:a16="http://schemas.microsoft.com/office/drawing/2014/main" id="{C2F70595-1B2E-45D0-B7CB-8C4FF3BC9900}"/>
                  </a:ext>
                </a:extLst>
              </p:cNvPr>
              <p:cNvSpPr>
                <a:spLocks noChangeArrowheads="1"/>
              </p:cNvSpPr>
              <p:nvPr/>
            </p:nvSpPr>
            <p:spPr bwMode="auto">
              <a:xfrm>
                <a:off x="327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548" name="Group 679">
              <a:extLst>
                <a:ext uri="{FF2B5EF4-FFF2-40B4-BE49-F238E27FC236}">
                  <a16:creationId xmlns:a16="http://schemas.microsoft.com/office/drawing/2014/main" id="{E166C80A-2C7F-411D-B56C-C44913E9552F}"/>
                </a:ext>
              </a:extLst>
            </p:cNvPr>
            <p:cNvGrpSpPr>
              <a:grpSpLocks/>
            </p:cNvGrpSpPr>
            <p:nvPr/>
          </p:nvGrpSpPr>
          <p:grpSpPr bwMode="auto">
            <a:xfrm>
              <a:off x="3273" y="3473"/>
              <a:ext cx="1085" cy="168"/>
              <a:chOff x="3273" y="3473"/>
              <a:chExt cx="1085" cy="168"/>
            </a:xfrm>
          </p:grpSpPr>
          <p:sp>
            <p:nvSpPr>
              <p:cNvPr id="710" name="Freeform 680">
                <a:extLst>
                  <a:ext uri="{FF2B5EF4-FFF2-40B4-BE49-F238E27FC236}">
                    <a16:creationId xmlns:a16="http://schemas.microsoft.com/office/drawing/2014/main" id="{67D36A74-53A2-4D25-9B47-BE14AC1B9A10}"/>
                  </a:ext>
                </a:extLst>
              </p:cNvPr>
              <p:cNvSpPr>
                <a:spLocks/>
              </p:cNvSpPr>
              <p:nvPr/>
            </p:nvSpPr>
            <p:spPr bwMode="auto">
              <a:xfrm>
                <a:off x="3278" y="3478"/>
                <a:ext cx="1075" cy="158"/>
              </a:xfrm>
              <a:custGeom>
                <a:avLst/>
                <a:gdLst>
                  <a:gd name="T0" fmla="*/ 0 w 1075"/>
                  <a:gd name="T1" fmla="*/ 158 h 158"/>
                  <a:gd name="T2" fmla="*/ 888 w 1075"/>
                  <a:gd name="T3" fmla="*/ 158 h 158"/>
                  <a:gd name="T4" fmla="*/ 1075 w 1075"/>
                  <a:gd name="T5" fmla="*/ 0 h 158"/>
                  <a:gd name="T6" fmla="*/ 206 w 1075"/>
                  <a:gd name="T7" fmla="*/ 0 h 158"/>
                  <a:gd name="T8" fmla="*/ 0 w 1075"/>
                  <a:gd name="T9" fmla="*/ 150 h 158"/>
                  <a:gd name="T10" fmla="*/ 0 w 1075"/>
                  <a:gd name="T11" fmla="*/ 158 h 158"/>
                </a:gdLst>
                <a:ahLst/>
                <a:cxnLst>
                  <a:cxn ang="0">
                    <a:pos x="T0" y="T1"/>
                  </a:cxn>
                  <a:cxn ang="0">
                    <a:pos x="T2" y="T3"/>
                  </a:cxn>
                  <a:cxn ang="0">
                    <a:pos x="T4" y="T5"/>
                  </a:cxn>
                  <a:cxn ang="0">
                    <a:pos x="T6" y="T7"/>
                  </a:cxn>
                  <a:cxn ang="0">
                    <a:pos x="T8" y="T9"/>
                  </a:cxn>
                  <a:cxn ang="0">
                    <a:pos x="T10" y="T11"/>
                  </a:cxn>
                </a:cxnLst>
                <a:rect l="0" t="0" r="r" b="b"/>
                <a:pathLst>
                  <a:path w="1075" h="158">
                    <a:moveTo>
                      <a:pt x="0" y="158"/>
                    </a:moveTo>
                    <a:lnTo>
                      <a:pt x="888" y="158"/>
                    </a:lnTo>
                    <a:lnTo>
                      <a:pt x="1075" y="0"/>
                    </a:lnTo>
                    <a:lnTo>
                      <a:pt x="206" y="0"/>
                    </a:lnTo>
                    <a:lnTo>
                      <a:pt x="0" y="150"/>
                    </a:lnTo>
                    <a:lnTo>
                      <a:pt x="0" y="158"/>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1" name="Freeform 681">
                <a:extLst>
                  <a:ext uri="{FF2B5EF4-FFF2-40B4-BE49-F238E27FC236}">
                    <a16:creationId xmlns:a16="http://schemas.microsoft.com/office/drawing/2014/main" id="{35E25E7E-50C5-43C7-9387-29C613794732}"/>
                  </a:ext>
                </a:extLst>
              </p:cNvPr>
              <p:cNvSpPr>
                <a:spLocks/>
              </p:cNvSpPr>
              <p:nvPr/>
            </p:nvSpPr>
            <p:spPr bwMode="auto">
              <a:xfrm>
                <a:off x="327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2" name="Freeform 682">
                <a:extLst>
                  <a:ext uri="{FF2B5EF4-FFF2-40B4-BE49-F238E27FC236}">
                    <a16:creationId xmlns:a16="http://schemas.microsoft.com/office/drawing/2014/main" id="{CBA74898-C2F4-4A32-8B2C-0530374CE277}"/>
                  </a:ext>
                </a:extLst>
              </p:cNvPr>
              <p:cNvSpPr>
                <a:spLocks/>
              </p:cNvSpPr>
              <p:nvPr/>
            </p:nvSpPr>
            <p:spPr bwMode="auto">
              <a:xfrm>
                <a:off x="329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3" name="Freeform 683">
                <a:extLst>
                  <a:ext uri="{FF2B5EF4-FFF2-40B4-BE49-F238E27FC236}">
                    <a16:creationId xmlns:a16="http://schemas.microsoft.com/office/drawing/2014/main" id="{15A69491-7F36-45E0-9CE0-DAA4D9E8AA5F}"/>
                  </a:ext>
                </a:extLst>
              </p:cNvPr>
              <p:cNvSpPr>
                <a:spLocks/>
              </p:cNvSpPr>
              <p:nvPr/>
            </p:nvSpPr>
            <p:spPr bwMode="auto">
              <a:xfrm>
                <a:off x="3311"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4" name="Freeform 684">
                <a:extLst>
                  <a:ext uri="{FF2B5EF4-FFF2-40B4-BE49-F238E27FC236}">
                    <a16:creationId xmlns:a16="http://schemas.microsoft.com/office/drawing/2014/main" id="{B244038E-B9F4-474D-8FFD-636B155456BF}"/>
                  </a:ext>
                </a:extLst>
              </p:cNvPr>
              <p:cNvSpPr>
                <a:spLocks/>
              </p:cNvSpPr>
              <p:nvPr/>
            </p:nvSpPr>
            <p:spPr bwMode="auto">
              <a:xfrm>
                <a:off x="3331"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5" name="Freeform 685">
                <a:extLst>
                  <a:ext uri="{FF2B5EF4-FFF2-40B4-BE49-F238E27FC236}">
                    <a16:creationId xmlns:a16="http://schemas.microsoft.com/office/drawing/2014/main" id="{04E305C4-0820-4DAF-85CD-E747AF33B945}"/>
                  </a:ext>
                </a:extLst>
              </p:cNvPr>
              <p:cNvSpPr>
                <a:spLocks/>
              </p:cNvSpPr>
              <p:nvPr/>
            </p:nvSpPr>
            <p:spPr bwMode="auto">
              <a:xfrm>
                <a:off x="335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6" name="Freeform 686">
                <a:extLst>
                  <a:ext uri="{FF2B5EF4-FFF2-40B4-BE49-F238E27FC236}">
                    <a16:creationId xmlns:a16="http://schemas.microsoft.com/office/drawing/2014/main" id="{5DB778BD-D0DF-4D16-971D-EDA77D973171}"/>
                  </a:ext>
                </a:extLst>
              </p:cNvPr>
              <p:cNvSpPr>
                <a:spLocks/>
              </p:cNvSpPr>
              <p:nvPr/>
            </p:nvSpPr>
            <p:spPr bwMode="auto">
              <a:xfrm>
                <a:off x="336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7" name="Freeform 687">
                <a:extLst>
                  <a:ext uri="{FF2B5EF4-FFF2-40B4-BE49-F238E27FC236}">
                    <a16:creationId xmlns:a16="http://schemas.microsoft.com/office/drawing/2014/main" id="{9A20C204-AA98-4DAA-9754-1FDAF36EF3C3}"/>
                  </a:ext>
                </a:extLst>
              </p:cNvPr>
              <p:cNvSpPr>
                <a:spLocks/>
              </p:cNvSpPr>
              <p:nvPr/>
            </p:nvSpPr>
            <p:spPr bwMode="auto">
              <a:xfrm>
                <a:off x="338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8" name="Freeform 688">
                <a:extLst>
                  <a:ext uri="{FF2B5EF4-FFF2-40B4-BE49-F238E27FC236}">
                    <a16:creationId xmlns:a16="http://schemas.microsoft.com/office/drawing/2014/main" id="{4B6CC63E-B713-4467-A014-58E2CC316CF3}"/>
                  </a:ext>
                </a:extLst>
              </p:cNvPr>
              <p:cNvSpPr>
                <a:spLocks/>
              </p:cNvSpPr>
              <p:nvPr/>
            </p:nvSpPr>
            <p:spPr bwMode="auto">
              <a:xfrm>
                <a:off x="340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9" name="Freeform 689">
                <a:extLst>
                  <a:ext uri="{FF2B5EF4-FFF2-40B4-BE49-F238E27FC236}">
                    <a16:creationId xmlns:a16="http://schemas.microsoft.com/office/drawing/2014/main" id="{FC106487-18FE-4886-956C-EC305C470FA9}"/>
                  </a:ext>
                </a:extLst>
              </p:cNvPr>
              <p:cNvSpPr>
                <a:spLocks/>
              </p:cNvSpPr>
              <p:nvPr/>
            </p:nvSpPr>
            <p:spPr bwMode="auto">
              <a:xfrm>
                <a:off x="342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0" name="Freeform 690">
                <a:extLst>
                  <a:ext uri="{FF2B5EF4-FFF2-40B4-BE49-F238E27FC236}">
                    <a16:creationId xmlns:a16="http://schemas.microsoft.com/office/drawing/2014/main" id="{59C68CF8-C04F-464E-8435-5B6119B4075F}"/>
                  </a:ext>
                </a:extLst>
              </p:cNvPr>
              <p:cNvSpPr>
                <a:spLocks/>
              </p:cNvSpPr>
              <p:nvPr/>
            </p:nvSpPr>
            <p:spPr bwMode="auto">
              <a:xfrm>
                <a:off x="3446"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1" name="Freeform 691">
                <a:extLst>
                  <a:ext uri="{FF2B5EF4-FFF2-40B4-BE49-F238E27FC236}">
                    <a16:creationId xmlns:a16="http://schemas.microsoft.com/office/drawing/2014/main" id="{8F4314F4-2A0E-48E3-8A21-90ECADE4BF9B}"/>
                  </a:ext>
                </a:extLst>
              </p:cNvPr>
              <p:cNvSpPr>
                <a:spLocks/>
              </p:cNvSpPr>
              <p:nvPr/>
            </p:nvSpPr>
            <p:spPr bwMode="auto">
              <a:xfrm>
                <a:off x="346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2" name="Freeform 692">
                <a:extLst>
                  <a:ext uri="{FF2B5EF4-FFF2-40B4-BE49-F238E27FC236}">
                    <a16:creationId xmlns:a16="http://schemas.microsoft.com/office/drawing/2014/main" id="{00117286-7A0B-4252-85B4-237FEC4412D8}"/>
                  </a:ext>
                </a:extLst>
              </p:cNvPr>
              <p:cNvSpPr>
                <a:spLocks/>
              </p:cNvSpPr>
              <p:nvPr/>
            </p:nvSpPr>
            <p:spPr bwMode="auto">
              <a:xfrm>
                <a:off x="348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3" name="Freeform 693">
                <a:extLst>
                  <a:ext uri="{FF2B5EF4-FFF2-40B4-BE49-F238E27FC236}">
                    <a16:creationId xmlns:a16="http://schemas.microsoft.com/office/drawing/2014/main" id="{1245DE7E-85C5-4619-B1ED-65B7A46D0930}"/>
                  </a:ext>
                </a:extLst>
              </p:cNvPr>
              <p:cNvSpPr>
                <a:spLocks/>
              </p:cNvSpPr>
              <p:nvPr/>
            </p:nvSpPr>
            <p:spPr bwMode="auto">
              <a:xfrm>
                <a:off x="3503"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4" name="Freeform 694">
                <a:extLst>
                  <a:ext uri="{FF2B5EF4-FFF2-40B4-BE49-F238E27FC236}">
                    <a16:creationId xmlns:a16="http://schemas.microsoft.com/office/drawing/2014/main" id="{B8B34B48-FA0C-4AFC-A379-398A548DB53B}"/>
                  </a:ext>
                </a:extLst>
              </p:cNvPr>
              <p:cNvSpPr>
                <a:spLocks/>
              </p:cNvSpPr>
              <p:nvPr/>
            </p:nvSpPr>
            <p:spPr bwMode="auto">
              <a:xfrm>
                <a:off x="352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5" name="Freeform 695">
                <a:extLst>
                  <a:ext uri="{FF2B5EF4-FFF2-40B4-BE49-F238E27FC236}">
                    <a16:creationId xmlns:a16="http://schemas.microsoft.com/office/drawing/2014/main" id="{E64C24B3-FCE0-4773-A448-63ED8455E349}"/>
                  </a:ext>
                </a:extLst>
              </p:cNvPr>
              <p:cNvSpPr>
                <a:spLocks/>
              </p:cNvSpPr>
              <p:nvPr/>
            </p:nvSpPr>
            <p:spPr bwMode="auto">
              <a:xfrm>
                <a:off x="354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6" name="Freeform 696">
                <a:extLst>
                  <a:ext uri="{FF2B5EF4-FFF2-40B4-BE49-F238E27FC236}">
                    <a16:creationId xmlns:a16="http://schemas.microsoft.com/office/drawing/2014/main" id="{A3435F7D-3078-48A6-9241-4DCFB6B2FE22}"/>
                  </a:ext>
                </a:extLst>
              </p:cNvPr>
              <p:cNvSpPr>
                <a:spLocks/>
              </p:cNvSpPr>
              <p:nvPr/>
            </p:nvSpPr>
            <p:spPr bwMode="auto">
              <a:xfrm>
                <a:off x="356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7" name="Freeform 697">
                <a:extLst>
                  <a:ext uri="{FF2B5EF4-FFF2-40B4-BE49-F238E27FC236}">
                    <a16:creationId xmlns:a16="http://schemas.microsoft.com/office/drawing/2014/main" id="{4EFAD695-3025-4D5C-9B67-FA77A72FB830}"/>
                  </a:ext>
                </a:extLst>
              </p:cNvPr>
              <p:cNvSpPr>
                <a:spLocks/>
              </p:cNvSpPr>
              <p:nvPr/>
            </p:nvSpPr>
            <p:spPr bwMode="auto">
              <a:xfrm>
                <a:off x="358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8" name="Freeform 698">
                <a:extLst>
                  <a:ext uri="{FF2B5EF4-FFF2-40B4-BE49-F238E27FC236}">
                    <a16:creationId xmlns:a16="http://schemas.microsoft.com/office/drawing/2014/main" id="{0A369E56-D453-4827-A5BC-0074701AC540}"/>
                  </a:ext>
                </a:extLst>
              </p:cNvPr>
              <p:cNvSpPr>
                <a:spLocks/>
              </p:cNvSpPr>
              <p:nvPr/>
            </p:nvSpPr>
            <p:spPr bwMode="auto">
              <a:xfrm>
                <a:off x="3600"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9" name="Freeform 699">
                <a:extLst>
                  <a:ext uri="{FF2B5EF4-FFF2-40B4-BE49-F238E27FC236}">
                    <a16:creationId xmlns:a16="http://schemas.microsoft.com/office/drawing/2014/main" id="{60D22AF1-A492-4103-B6EE-792362EB8D58}"/>
                  </a:ext>
                </a:extLst>
              </p:cNvPr>
              <p:cNvSpPr>
                <a:spLocks/>
              </p:cNvSpPr>
              <p:nvPr/>
            </p:nvSpPr>
            <p:spPr bwMode="auto">
              <a:xfrm>
                <a:off x="3619"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0" name="Freeform 700">
                <a:extLst>
                  <a:ext uri="{FF2B5EF4-FFF2-40B4-BE49-F238E27FC236}">
                    <a16:creationId xmlns:a16="http://schemas.microsoft.com/office/drawing/2014/main" id="{2CBD4D07-6D0B-4E59-A1E1-0BBE85FA538E}"/>
                  </a:ext>
                </a:extLst>
              </p:cNvPr>
              <p:cNvSpPr>
                <a:spLocks/>
              </p:cNvSpPr>
              <p:nvPr/>
            </p:nvSpPr>
            <p:spPr bwMode="auto">
              <a:xfrm>
                <a:off x="363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1" name="Freeform 701">
                <a:extLst>
                  <a:ext uri="{FF2B5EF4-FFF2-40B4-BE49-F238E27FC236}">
                    <a16:creationId xmlns:a16="http://schemas.microsoft.com/office/drawing/2014/main" id="{60E5BD9F-B504-4046-94F3-319AAD897E72}"/>
                  </a:ext>
                </a:extLst>
              </p:cNvPr>
              <p:cNvSpPr>
                <a:spLocks/>
              </p:cNvSpPr>
              <p:nvPr/>
            </p:nvSpPr>
            <p:spPr bwMode="auto">
              <a:xfrm>
                <a:off x="3657"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2" name="Freeform 702">
                <a:extLst>
                  <a:ext uri="{FF2B5EF4-FFF2-40B4-BE49-F238E27FC236}">
                    <a16:creationId xmlns:a16="http://schemas.microsoft.com/office/drawing/2014/main" id="{E29B70F8-F6F3-4915-893E-070F15792126}"/>
                  </a:ext>
                </a:extLst>
              </p:cNvPr>
              <p:cNvSpPr>
                <a:spLocks/>
              </p:cNvSpPr>
              <p:nvPr/>
            </p:nvSpPr>
            <p:spPr bwMode="auto">
              <a:xfrm>
                <a:off x="3676"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3" name="Freeform 703">
                <a:extLst>
                  <a:ext uri="{FF2B5EF4-FFF2-40B4-BE49-F238E27FC236}">
                    <a16:creationId xmlns:a16="http://schemas.microsoft.com/office/drawing/2014/main" id="{0606058A-7B10-4260-9ADB-0282985E9753}"/>
                  </a:ext>
                </a:extLst>
              </p:cNvPr>
              <p:cNvSpPr>
                <a:spLocks/>
              </p:cNvSpPr>
              <p:nvPr/>
            </p:nvSpPr>
            <p:spPr bwMode="auto">
              <a:xfrm>
                <a:off x="3696"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4" name="Freeform 704">
                <a:extLst>
                  <a:ext uri="{FF2B5EF4-FFF2-40B4-BE49-F238E27FC236}">
                    <a16:creationId xmlns:a16="http://schemas.microsoft.com/office/drawing/2014/main" id="{834E9DA7-CE87-4CD8-9EC6-2B975FB5430B}"/>
                  </a:ext>
                </a:extLst>
              </p:cNvPr>
              <p:cNvSpPr>
                <a:spLocks/>
              </p:cNvSpPr>
              <p:nvPr/>
            </p:nvSpPr>
            <p:spPr bwMode="auto">
              <a:xfrm>
                <a:off x="3715"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5" name="Freeform 705">
                <a:extLst>
                  <a:ext uri="{FF2B5EF4-FFF2-40B4-BE49-F238E27FC236}">
                    <a16:creationId xmlns:a16="http://schemas.microsoft.com/office/drawing/2014/main" id="{1F19C32E-1198-4BBB-B941-387E7E418BF5}"/>
                  </a:ext>
                </a:extLst>
              </p:cNvPr>
              <p:cNvSpPr>
                <a:spLocks/>
              </p:cNvSpPr>
              <p:nvPr/>
            </p:nvSpPr>
            <p:spPr bwMode="auto">
              <a:xfrm>
                <a:off x="373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6" name="Freeform 706">
                <a:extLst>
                  <a:ext uri="{FF2B5EF4-FFF2-40B4-BE49-F238E27FC236}">
                    <a16:creationId xmlns:a16="http://schemas.microsoft.com/office/drawing/2014/main" id="{9C9613C4-2A4C-4B8F-A874-48F2D5078F23}"/>
                  </a:ext>
                </a:extLst>
              </p:cNvPr>
              <p:cNvSpPr>
                <a:spLocks/>
              </p:cNvSpPr>
              <p:nvPr/>
            </p:nvSpPr>
            <p:spPr bwMode="auto">
              <a:xfrm>
                <a:off x="375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7" name="Freeform 707">
                <a:extLst>
                  <a:ext uri="{FF2B5EF4-FFF2-40B4-BE49-F238E27FC236}">
                    <a16:creationId xmlns:a16="http://schemas.microsoft.com/office/drawing/2014/main" id="{78AE0AB8-4A4F-4F4F-906C-F2964AA9E00E}"/>
                  </a:ext>
                </a:extLst>
              </p:cNvPr>
              <p:cNvSpPr>
                <a:spLocks/>
              </p:cNvSpPr>
              <p:nvPr/>
            </p:nvSpPr>
            <p:spPr bwMode="auto">
              <a:xfrm>
                <a:off x="3772"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8" name="Freeform 708">
                <a:extLst>
                  <a:ext uri="{FF2B5EF4-FFF2-40B4-BE49-F238E27FC236}">
                    <a16:creationId xmlns:a16="http://schemas.microsoft.com/office/drawing/2014/main" id="{E59ECAC5-90D4-4B4B-9DFC-D14425AD5C84}"/>
                  </a:ext>
                </a:extLst>
              </p:cNvPr>
              <p:cNvSpPr>
                <a:spLocks/>
              </p:cNvSpPr>
              <p:nvPr/>
            </p:nvSpPr>
            <p:spPr bwMode="auto">
              <a:xfrm>
                <a:off x="3792"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9" name="Freeform 709">
                <a:extLst>
                  <a:ext uri="{FF2B5EF4-FFF2-40B4-BE49-F238E27FC236}">
                    <a16:creationId xmlns:a16="http://schemas.microsoft.com/office/drawing/2014/main" id="{1A52D84B-758F-4022-A432-2B15BA645455}"/>
                  </a:ext>
                </a:extLst>
              </p:cNvPr>
              <p:cNvSpPr>
                <a:spLocks/>
              </p:cNvSpPr>
              <p:nvPr/>
            </p:nvSpPr>
            <p:spPr bwMode="auto">
              <a:xfrm>
                <a:off x="3811"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0" name="Freeform 710">
                <a:extLst>
                  <a:ext uri="{FF2B5EF4-FFF2-40B4-BE49-F238E27FC236}">
                    <a16:creationId xmlns:a16="http://schemas.microsoft.com/office/drawing/2014/main" id="{AC602AE0-75FF-47DF-ADA8-C0B37760D5D5}"/>
                  </a:ext>
                </a:extLst>
              </p:cNvPr>
              <p:cNvSpPr>
                <a:spLocks/>
              </p:cNvSpPr>
              <p:nvPr/>
            </p:nvSpPr>
            <p:spPr bwMode="auto">
              <a:xfrm>
                <a:off x="3830"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1" name="Freeform 711">
                <a:extLst>
                  <a:ext uri="{FF2B5EF4-FFF2-40B4-BE49-F238E27FC236}">
                    <a16:creationId xmlns:a16="http://schemas.microsoft.com/office/drawing/2014/main" id="{66E5E78B-EA75-4B35-98A4-08C9F43B7D5C}"/>
                  </a:ext>
                </a:extLst>
              </p:cNvPr>
              <p:cNvSpPr>
                <a:spLocks/>
              </p:cNvSpPr>
              <p:nvPr/>
            </p:nvSpPr>
            <p:spPr bwMode="auto">
              <a:xfrm>
                <a:off x="384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2" name="Freeform 712">
                <a:extLst>
                  <a:ext uri="{FF2B5EF4-FFF2-40B4-BE49-F238E27FC236}">
                    <a16:creationId xmlns:a16="http://schemas.microsoft.com/office/drawing/2014/main" id="{0FA9D5C5-C059-42B1-9EB9-4209D82ECFC0}"/>
                  </a:ext>
                </a:extLst>
              </p:cNvPr>
              <p:cNvSpPr>
                <a:spLocks/>
              </p:cNvSpPr>
              <p:nvPr/>
            </p:nvSpPr>
            <p:spPr bwMode="auto">
              <a:xfrm>
                <a:off x="3868"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3" name="Freeform 713">
                <a:extLst>
                  <a:ext uri="{FF2B5EF4-FFF2-40B4-BE49-F238E27FC236}">
                    <a16:creationId xmlns:a16="http://schemas.microsoft.com/office/drawing/2014/main" id="{02A324AE-172B-4E6C-950D-F2E5D11F3BF5}"/>
                  </a:ext>
                </a:extLst>
              </p:cNvPr>
              <p:cNvSpPr>
                <a:spLocks/>
              </p:cNvSpPr>
              <p:nvPr/>
            </p:nvSpPr>
            <p:spPr bwMode="auto">
              <a:xfrm>
                <a:off x="3888"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4" name="Freeform 714">
                <a:extLst>
                  <a:ext uri="{FF2B5EF4-FFF2-40B4-BE49-F238E27FC236}">
                    <a16:creationId xmlns:a16="http://schemas.microsoft.com/office/drawing/2014/main" id="{CCB368A4-052A-4E67-8B46-5DA02E019BE1}"/>
                  </a:ext>
                </a:extLst>
              </p:cNvPr>
              <p:cNvSpPr>
                <a:spLocks/>
              </p:cNvSpPr>
              <p:nvPr/>
            </p:nvSpPr>
            <p:spPr bwMode="auto">
              <a:xfrm>
                <a:off x="3907"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5" name="Freeform 715">
                <a:extLst>
                  <a:ext uri="{FF2B5EF4-FFF2-40B4-BE49-F238E27FC236}">
                    <a16:creationId xmlns:a16="http://schemas.microsoft.com/office/drawing/2014/main" id="{9F804B1C-1D88-4424-AE1E-949740A74BCC}"/>
                  </a:ext>
                </a:extLst>
              </p:cNvPr>
              <p:cNvSpPr>
                <a:spLocks/>
              </p:cNvSpPr>
              <p:nvPr/>
            </p:nvSpPr>
            <p:spPr bwMode="auto">
              <a:xfrm>
                <a:off x="3926"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6" name="Freeform 716">
                <a:extLst>
                  <a:ext uri="{FF2B5EF4-FFF2-40B4-BE49-F238E27FC236}">
                    <a16:creationId xmlns:a16="http://schemas.microsoft.com/office/drawing/2014/main" id="{2A690C38-0604-4163-B4F4-8759FD74739D}"/>
                  </a:ext>
                </a:extLst>
              </p:cNvPr>
              <p:cNvSpPr>
                <a:spLocks/>
              </p:cNvSpPr>
              <p:nvPr/>
            </p:nvSpPr>
            <p:spPr bwMode="auto">
              <a:xfrm>
                <a:off x="394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7" name="Freeform 717">
                <a:extLst>
                  <a:ext uri="{FF2B5EF4-FFF2-40B4-BE49-F238E27FC236}">
                    <a16:creationId xmlns:a16="http://schemas.microsoft.com/office/drawing/2014/main" id="{41FAF1AE-CEE9-407C-B429-B6115BAAEA01}"/>
                  </a:ext>
                </a:extLst>
              </p:cNvPr>
              <p:cNvSpPr>
                <a:spLocks/>
              </p:cNvSpPr>
              <p:nvPr/>
            </p:nvSpPr>
            <p:spPr bwMode="auto">
              <a:xfrm>
                <a:off x="3964"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8" name="Freeform 718">
                <a:extLst>
                  <a:ext uri="{FF2B5EF4-FFF2-40B4-BE49-F238E27FC236}">
                    <a16:creationId xmlns:a16="http://schemas.microsoft.com/office/drawing/2014/main" id="{3A7C8484-3968-454D-908B-F86140AECBF4}"/>
                  </a:ext>
                </a:extLst>
              </p:cNvPr>
              <p:cNvSpPr>
                <a:spLocks/>
              </p:cNvSpPr>
              <p:nvPr/>
            </p:nvSpPr>
            <p:spPr bwMode="auto">
              <a:xfrm>
                <a:off x="3984"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9" name="Freeform 719">
                <a:extLst>
                  <a:ext uri="{FF2B5EF4-FFF2-40B4-BE49-F238E27FC236}">
                    <a16:creationId xmlns:a16="http://schemas.microsoft.com/office/drawing/2014/main" id="{0ADE7DFD-0A92-4C80-878A-CBEE0518350F}"/>
                  </a:ext>
                </a:extLst>
              </p:cNvPr>
              <p:cNvSpPr>
                <a:spLocks/>
              </p:cNvSpPr>
              <p:nvPr/>
            </p:nvSpPr>
            <p:spPr bwMode="auto">
              <a:xfrm>
                <a:off x="400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0" name="Freeform 720">
                <a:extLst>
                  <a:ext uri="{FF2B5EF4-FFF2-40B4-BE49-F238E27FC236}">
                    <a16:creationId xmlns:a16="http://schemas.microsoft.com/office/drawing/2014/main" id="{9E116D03-8DF1-455C-8333-9EFEBB15A4EE}"/>
                  </a:ext>
                </a:extLst>
              </p:cNvPr>
              <p:cNvSpPr>
                <a:spLocks/>
              </p:cNvSpPr>
              <p:nvPr/>
            </p:nvSpPr>
            <p:spPr bwMode="auto">
              <a:xfrm>
                <a:off x="402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1" name="Freeform 721">
                <a:extLst>
                  <a:ext uri="{FF2B5EF4-FFF2-40B4-BE49-F238E27FC236}">
                    <a16:creationId xmlns:a16="http://schemas.microsoft.com/office/drawing/2014/main" id="{92D9429B-00C1-4F0B-9D30-4A2A985DEE5F}"/>
                  </a:ext>
                </a:extLst>
              </p:cNvPr>
              <p:cNvSpPr>
                <a:spLocks/>
              </p:cNvSpPr>
              <p:nvPr/>
            </p:nvSpPr>
            <p:spPr bwMode="auto">
              <a:xfrm>
                <a:off x="404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2" name="Freeform 722">
                <a:extLst>
                  <a:ext uri="{FF2B5EF4-FFF2-40B4-BE49-F238E27FC236}">
                    <a16:creationId xmlns:a16="http://schemas.microsoft.com/office/drawing/2014/main" id="{C58A9894-88BD-4FB5-86BB-84D22EA8C720}"/>
                  </a:ext>
                </a:extLst>
              </p:cNvPr>
              <p:cNvSpPr>
                <a:spLocks/>
              </p:cNvSpPr>
              <p:nvPr/>
            </p:nvSpPr>
            <p:spPr bwMode="auto">
              <a:xfrm>
                <a:off x="406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3" name="Freeform 723">
                <a:extLst>
                  <a:ext uri="{FF2B5EF4-FFF2-40B4-BE49-F238E27FC236}">
                    <a16:creationId xmlns:a16="http://schemas.microsoft.com/office/drawing/2014/main" id="{D9D295F2-6528-4644-AB62-79604C9738A8}"/>
                  </a:ext>
                </a:extLst>
              </p:cNvPr>
              <p:cNvSpPr>
                <a:spLocks/>
              </p:cNvSpPr>
              <p:nvPr/>
            </p:nvSpPr>
            <p:spPr bwMode="auto">
              <a:xfrm>
                <a:off x="408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4" name="Freeform 724">
                <a:extLst>
                  <a:ext uri="{FF2B5EF4-FFF2-40B4-BE49-F238E27FC236}">
                    <a16:creationId xmlns:a16="http://schemas.microsoft.com/office/drawing/2014/main" id="{8E8869FA-436C-467D-8F73-EADDAF126B13}"/>
                  </a:ext>
                </a:extLst>
              </p:cNvPr>
              <p:cNvSpPr>
                <a:spLocks/>
              </p:cNvSpPr>
              <p:nvPr/>
            </p:nvSpPr>
            <p:spPr bwMode="auto">
              <a:xfrm>
                <a:off x="409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5" name="Freeform 725">
                <a:extLst>
                  <a:ext uri="{FF2B5EF4-FFF2-40B4-BE49-F238E27FC236}">
                    <a16:creationId xmlns:a16="http://schemas.microsoft.com/office/drawing/2014/main" id="{7937F6C9-BB92-4006-BC6D-468E9875BC20}"/>
                  </a:ext>
                </a:extLst>
              </p:cNvPr>
              <p:cNvSpPr>
                <a:spLocks/>
              </p:cNvSpPr>
              <p:nvPr/>
            </p:nvSpPr>
            <p:spPr bwMode="auto">
              <a:xfrm>
                <a:off x="411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6" name="Freeform 726">
                <a:extLst>
                  <a:ext uri="{FF2B5EF4-FFF2-40B4-BE49-F238E27FC236}">
                    <a16:creationId xmlns:a16="http://schemas.microsoft.com/office/drawing/2014/main" id="{F67D190C-522C-49E7-95EA-5266AE7A053C}"/>
                  </a:ext>
                </a:extLst>
              </p:cNvPr>
              <p:cNvSpPr>
                <a:spLocks/>
              </p:cNvSpPr>
              <p:nvPr/>
            </p:nvSpPr>
            <p:spPr bwMode="auto">
              <a:xfrm>
                <a:off x="413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7" name="Freeform 727">
                <a:extLst>
                  <a:ext uri="{FF2B5EF4-FFF2-40B4-BE49-F238E27FC236}">
                    <a16:creationId xmlns:a16="http://schemas.microsoft.com/office/drawing/2014/main" id="{C88025D8-9C42-4FE6-9DD6-ACD59D9D7E50}"/>
                  </a:ext>
                </a:extLst>
              </p:cNvPr>
              <p:cNvSpPr>
                <a:spLocks/>
              </p:cNvSpPr>
              <p:nvPr/>
            </p:nvSpPr>
            <p:spPr bwMode="auto">
              <a:xfrm>
                <a:off x="415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8" name="Freeform 728">
                <a:extLst>
                  <a:ext uri="{FF2B5EF4-FFF2-40B4-BE49-F238E27FC236}">
                    <a16:creationId xmlns:a16="http://schemas.microsoft.com/office/drawing/2014/main" id="{37F87D6D-607E-4334-8085-65F20520FCEB}"/>
                  </a:ext>
                </a:extLst>
              </p:cNvPr>
              <p:cNvSpPr>
                <a:spLocks/>
              </p:cNvSpPr>
              <p:nvPr/>
            </p:nvSpPr>
            <p:spPr bwMode="auto">
              <a:xfrm>
                <a:off x="4172" y="3622"/>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9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9" name="Freeform 729">
                <a:extLst>
                  <a:ext uri="{FF2B5EF4-FFF2-40B4-BE49-F238E27FC236}">
                    <a16:creationId xmlns:a16="http://schemas.microsoft.com/office/drawing/2014/main" id="{3DE0DD22-36F4-4E6C-86E3-E9608321E43B}"/>
                  </a:ext>
                </a:extLst>
              </p:cNvPr>
              <p:cNvSpPr>
                <a:spLocks/>
              </p:cNvSpPr>
              <p:nvPr/>
            </p:nvSpPr>
            <p:spPr bwMode="auto">
              <a:xfrm>
                <a:off x="4187" y="3610"/>
                <a:ext cx="9" cy="9"/>
              </a:xfrm>
              <a:custGeom>
                <a:avLst/>
                <a:gdLst>
                  <a:gd name="T0" fmla="*/ 1 w 9"/>
                  <a:gd name="T1" fmla="*/ 1 h 9"/>
                  <a:gd name="T2" fmla="*/ 0 w 9"/>
                  <a:gd name="T3" fmla="*/ 4 h 9"/>
                  <a:gd name="T4" fmla="*/ 1 w 9"/>
                  <a:gd name="T5" fmla="*/ 8 h 9"/>
                  <a:gd name="T6" fmla="*/ 4 w 9"/>
                  <a:gd name="T7" fmla="*/ 9 h 9"/>
                  <a:gd name="T8" fmla="*/ 8 w 9"/>
                  <a:gd name="T9" fmla="*/ 8 h 9"/>
                  <a:gd name="T10" fmla="*/ 8 w 9"/>
                  <a:gd name="T11" fmla="*/ 8 h 9"/>
                  <a:gd name="T12" fmla="*/ 9 w 9"/>
                  <a:gd name="T13" fmla="*/ 4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4" y="9"/>
                    </a:lnTo>
                    <a:lnTo>
                      <a:pt x="8" y="8"/>
                    </a:lnTo>
                    <a:lnTo>
                      <a:pt x="8" y="8"/>
                    </a:lnTo>
                    <a:lnTo>
                      <a:pt x="9" y="4"/>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0" name="Freeform 730">
                <a:extLst>
                  <a:ext uri="{FF2B5EF4-FFF2-40B4-BE49-F238E27FC236}">
                    <a16:creationId xmlns:a16="http://schemas.microsoft.com/office/drawing/2014/main" id="{5AB0CE87-9DF1-43D5-825B-379C3E2BD114}"/>
                  </a:ext>
                </a:extLst>
              </p:cNvPr>
              <p:cNvSpPr>
                <a:spLocks/>
              </p:cNvSpPr>
              <p:nvPr/>
            </p:nvSpPr>
            <p:spPr bwMode="auto">
              <a:xfrm>
                <a:off x="4202" y="3598"/>
                <a:ext cx="10" cy="9"/>
              </a:xfrm>
              <a:custGeom>
                <a:avLst/>
                <a:gdLst>
                  <a:gd name="T0" fmla="*/ 1 w 10"/>
                  <a:gd name="T1" fmla="*/ 1 h 9"/>
                  <a:gd name="T2" fmla="*/ 0 w 10"/>
                  <a:gd name="T3" fmla="*/ 4 h 9"/>
                  <a:gd name="T4" fmla="*/ 1 w 10"/>
                  <a:gd name="T5" fmla="*/ 7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7"/>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1" name="Freeform 731">
                <a:extLst>
                  <a:ext uri="{FF2B5EF4-FFF2-40B4-BE49-F238E27FC236}">
                    <a16:creationId xmlns:a16="http://schemas.microsoft.com/office/drawing/2014/main" id="{5137BE6A-8DEA-47EA-95C1-2F22E5FB5546}"/>
                  </a:ext>
                </a:extLst>
              </p:cNvPr>
              <p:cNvSpPr>
                <a:spLocks/>
              </p:cNvSpPr>
              <p:nvPr/>
            </p:nvSpPr>
            <p:spPr bwMode="auto">
              <a:xfrm>
                <a:off x="4217" y="3584"/>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2" name="Freeform 732">
                <a:extLst>
                  <a:ext uri="{FF2B5EF4-FFF2-40B4-BE49-F238E27FC236}">
                    <a16:creationId xmlns:a16="http://schemas.microsoft.com/office/drawing/2014/main" id="{8481F0FE-E002-480E-A92B-0B9D8D191EC6}"/>
                  </a:ext>
                </a:extLst>
              </p:cNvPr>
              <p:cNvSpPr>
                <a:spLocks/>
              </p:cNvSpPr>
              <p:nvPr/>
            </p:nvSpPr>
            <p:spPr bwMode="auto">
              <a:xfrm>
                <a:off x="4231" y="3572"/>
                <a:ext cx="10" cy="10"/>
              </a:xfrm>
              <a:custGeom>
                <a:avLst/>
                <a:gdLst>
                  <a:gd name="T0" fmla="*/ 1 w 10"/>
                  <a:gd name="T1" fmla="*/ 2 h 10"/>
                  <a:gd name="T2" fmla="*/ 0 w 10"/>
                  <a:gd name="T3" fmla="*/ 5 h 10"/>
                  <a:gd name="T4" fmla="*/ 1 w 10"/>
                  <a:gd name="T5" fmla="*/ 9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3" name="Freeform 733">
                <a:extLst>
                  <a:ext uri="{FF2B5EF4-FFF2-40B4-BE49-F238E27FC236}">
                    <a16:creationId xmlns:a16="http://schemas.microsoft.com/office/drawing/2014/main" id="{95F32B64-1084-4B46-BCC8-043B1AAECA78}"/>
                  </a:ext>
                </a:extLst>
              </p:cNvPr>
              <p:cNvSpPr>
                <a:spLocks/>
              </p:cNvSpPr>
              <p:nvPr/>
            </p:nvSpPr>
            <p:spPr bwMode="auto">
              <a:xfrm>
                <a:off x="4245" y="3560"/>
                <a:ext cx="10" cy="10"/>
              </a:xfrm>
              <a:custGeom>
                <a:avLst/>
                <a:gdLst>
                  <a:gd name="T0" fmla="*/ 2 w 10"/>
                  <a:gd name="T1" fmla="*/ 2 h 10"/>
                  <a:gd name="T2" fmla="*/ 0 w 10"/>
                  <a:gd name="T3" fmla="*/ 5 h 10"/>
                  <a:gd name="T4" fmla="*/ 2 w 10"/>
                  <a:gd name="T5" fmla="*/ 8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8"/>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4" name="Freeform 734">
                <a:extLst>
                  <a:ext uri="{FF2B5EF4-FFF2-40B4-BE49-F238E27FC236}">
                    <a16:creationId xmlns:a16="http://schemas.microsoft.com/office/drawing/2014/main" id="{047C4535-B344-4489-8F1F-9969E46B235D}"/>
                  </a:ext>
                </a:extLst>
              </p:cNvPr>
              <p:cNvSpPr>
                <a:spLocks/>
              </p:cNvSpPr>
              <p:nvPr/>
            </p:nvSpPr>
            <p:spPr bwMode="auto">
              <a:xfrm>
                <a:off x="4260" y="3547"/>
                <a:ext cx="9" cy="10"/>
              </a:xfrm>
              <a:custGeom>
                <a:avLst/>
                <a:gdLst>
                  <a:gd name="T0" fmla="*/ 1 w 9"/>
                  <a:gd name="T1" fmla="*/ 1 h 10"/>
                  <a:gd name="T2" fmla="*/ 0 w 9"/>
                  <a:gd name="T3" fmla="*/ 5 h 10"/>
                  <a:gd name="T4" fmla="*/ 2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2"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5" name="Freeform 735">
                <a:extLst>
                  <a:ext uri="{FF2B5EF4-FFF2-40B4-BE49-F238E27FC236}">
                    <a16:creationId xmlns:a16="http://schemas.microsoft.com/office/drawing/2014/main" id="{861C4C27-62A2-4C7D-8F90-789F0C6AD9B2}"/>
                  </a:ext>
                </a:extLst>
              </p:cNvPr>
              <p:cNvSpPr>
                <a:spLocks/>
              </p:cNvSpPr>
              <p:nvPr/>
            </p:nvSpPr>
            <p:spPr bwMode="auto">
              <a:xfrm>
                <a:off x="4275" y="3535"/>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6" name="Freeform 736">
                <a:extLst>
                  <a:ext uri="{FF2B5EF4-FFF2-40B4-BE49-F238E27FC236}">
                    <a16:creationId xmlns:a16="http://schemas.microsoft.com/office/drawing/2014/main" id="{147AEC55-B8D1-4C14-B240-46CC5FEB8689}"/>
                  </a:ext>
                </a:extLst>
              </p:cNvPr>
              <p:cNvSpPr>
                <a:spLocks/>
              </p:cNvSpPr>
              <p:nvPr/>
            </p:nvSpPr>
            <p:spPr bwMode="auto">
              <a:xfrm>
                <a:off x="4290" y="3523"/>
                <a:ext cx="9" cy="10"/>
              </a:xfrm>
              <a:custGeom>
                <a:avLst/>
                <a:gdLst>
                  <a:gd name="T0" fmla="*/ 1 w 9"/>
                  <a:gd name="T1" fmla="*/ 1 h 10"/>
                  <a:gd name="T2" fmla="*/ 0 w 9"/>
                  <a:gd name="T3" fmla="*/ 5 h 10"/>
                  <a:gd name="T4" fmla="*/ 1 w 9"/>
                  <a:gd name="T5" fmla="*/ 7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7"/>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7" name="Freeform 737">
                <a:extLst>
                  <a:ext uri="{FF2B5EF4-FFF2-40B4-BE49-F238E27FC236}">
                    <a16:creationId xmlns:a16="http://schemas.microsoft.com/office/drawing/2014/main" id="{A0EAA2B1-58BC-404A-858B-FDDC17ADFFB1}"/>
                  </a:ext>
                </a:extLst>
              </p:cNvPr>
              <p:cNvSpPr>
                <a:spLocks/>
              </p:cNvSpPr>
              <p:nvPr/>
            </p:nvSpPr>
            <p:spPr bwMode="auto">
              <a:xfrm>
                <a:off x="4304" y="3510"/>
                <a:ext cx="10" cy="10"/>
              </a:xfrm>
              <a:custGeom>
                <a:avLst/>
                <a:gdLst>
                  <a:gd name="T0" fmla="*/ 1 w 10"/>
                  <a:gd name="T1" fmla="*/ 1 h 10"/>
                  <a:gd name="T2" fmla="*/ 0 w 10"/>
                  <a:gd name="T3" fmla="*/ 5 h 10"/>
                  <a:gd name="T4" fmla="*/ 1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8" name="Freeform 738">
                <a:extLst>
                  <a:ext uri="{FF2B5EF4-FFF2-40B4-BE49-F238E27FC236}">
                    <a16:creationId xmlns:a16="http://schemas.microsoft.com/office/drawing/2014/main" id="{3CB3C847-0073-40FF-8D77-8C970E2AD2AF}"/>
                  </a:ext>
                </a:extLst>
              </p:cNvPr>
              <p:cNvSpPr>
                <a:spLocks/>
              </p:cNvSpPr>
              <p:nvPr/>
            </p:nvSpPr>
            <p:spPr bwMode="auto">
              <a:xfrm>
                <a:off x="4319" y="3498"/>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9" name="Freeform 739">
                <a:extLst>
                  <a:ext uri="{FF2B5EF4-FFF2-40B4-BE49-F238E27FC236}">
                    <a16:creationId xmlns:a16="http://schemas.microsoft.com/office/drawing/2014/main" id="{AAE4F13E-F199-40D2-8494-F4DDB4BE09D4}"/>
                  </a:ext>
                </a:extLst>
              </p:cNvPr>
              <p:cNvSpPr>
                <a:spLocks/>
              </p:cNvSpPr>
              <p:nvPr/>
            </p:nvSpPr>
            <p:spPr bwMode="auto">
              <a:xfrm>
                <a:off x="4334" y="3486"/>
                <a:ext cx="10" cy="10"/>
              </a:xfrm>
              <a:custGeom>
                <a:avLst/>
                <a:gdLst>
                  <a:gd name="T0" fmla="*/ 1 w 10"/>
                  <a:gd name="T1" fmla="*/ 1 h 10"/>
                  <a:gd name="T2" fmla="*/ 0 w 10"/>
                  <a:gd name="T3" fmla="*/ 5 h 10"/>
                  <a:gd name="T4" fmla="*/ 1 w 10"/>
                  <a:gd name="T5" fmla="*/ 7 h 10"/>
                  <a:gd name="T6" fmla="*/ 5 w 10"/>
                  <a:gd name="T7" fmla="*/ 10 h 10"/>
                  <a:gd name="T8" fmla="*/ 9 w 10"/>
                  <a:gd name="T9" fmla="*/ 8 h 10"/>
                  <a:gd name="T10" fmla="*/ 9 w 10"/>
                  <a:gd name="T11" fmla="*/ 8 h 10"/>
                  <a:gd name="T12" fmla="*/ 10 w 10"/>
                  <a:gd name="T13" fmla="*/ 5 h 10"/>
                  <a:gd name="T14" fmla="*/ 7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8"/>
                    </a:lnTo>
                    <a:lnTo>
                      <a:pt x="9" y="8"/>
                    </a:lnTo>
                    <a:lnTo>
                      <a:pt x="10" y="5"/>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0" name="Freeform 740">
                <a:extLst>
                  <a:ext uri="{FF2B5EF4-FFF2-40B4-BE49-F238E27FC236}">
                    <a16:creationId xmlns:a16="http://schemas.microsoft.com/office/drawing/2014/main" id="{AE4C0859-41B6-4AB9-A7FA-47B5099E1B69}"/>
                  </a:ext>
                </a:extLst>
              </p:cNvPr>
              <p:cNvSpPr>
                <a:spLocks/>
              </p:cNvSpPr>
              <p:nvPr/>
            </p:nvSpPr>
            <p:spPr bwMode="auto">
              <a:xfrm>
                <a:off x="4349" y="3473"/>
                <a:ext cx="9" cy="9"/>
              </a:xfrm>
              <a:custGeom>
                <a:avLst/>
                <a:gdLst>
                  <a:gd name="T0" fmla="*/ 1 w 9"/>
                  <a:gd name="T1" fmla="*/ 1 h 9"/>
                  <a:gd name="T2" fmla="*/ 0 w 9"/>
                  <a:gd name="T3" fmla="*/ 5 h 9"/>
                  <a:gd name="T4" fmla="*/ 1 w 9"/>
                  <a:gd name="T5" fmla="*/ 8 h 9"/>
                  <a:gd name="T6" fmla="*/ 4 w 9"/>
                  <a:gd name="T7" fmla="*/ 9 h 9"/>
                  <a:gd name="T8" fmla="*/ 8 w 9"/>
                  <a:gd name="T9" fmla="*/ 8 h 9"/>
                  <a:gd name="T10" fmla="*/ 8 w 9"/>
                  <a:gd name="T11" fmla="*/ 8 h 9"/>
                  <a:gd name="T12" fmla="*/ 9 w 9"/>
                  <a:gd name="T13" fmla="*/ 5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5"/>
                    </a:lnTo>
                    <a:lnTo>
                      <a:pt x="1" y="8"/>
                    </a:lnTo>
                    <a:lnTo>
                      <a:pt x="4" y="9"/>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1" name="Freeform 741">
                <a:extLst>
                  <a:ext uri="{FF2B5EF4-FFF2-40B4-BE49-F238E27FC236}">
                    <a16:creationId xmlns:a16="http://schemas.microsoft.com/office/drawing/2014/main" id="{8F5BF059-15C8-4D01-8326-053FDF48624F}"/>
                  </a:ext>
                </a:extLst>
              </p:cNvPr>
              <p:cNvSpPr>
                <a:spLocks/>
              </p:cNvSpPr>
              <p:nvPr/>
            </p:nvSpPr>
            <p:spPr bwMode="auto">
              <a:xfrm>
                <a:off x="432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2" name="Freeform 742">
                <a:extLst>
                  <a:ext uri="{FF2B5EF4-FFF2-40B4-BE49-F238E27FC236}">
                    <a16:creationId xmlns:a16="http://schemas.microsoft.com/office/drawing/2014/main" id="{757FD976-CDBC-455B-9158-565B11554123}"/>
                  </a:ext>
                </a:extLst>
              </p:cNvPr>
              <p:cNvSpPr>
                <a:spLocks/>
              </p:cNvSpPr>
              <p:nvPr/>
            </p:nvSpPr>
            <p:spPr bwMode="auto">
              <a:xfrm>
                <a:off x="431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3" name="Freeform 743">
                <a:extLst>
                  <a:ext uri="{FF2B5EF4-FFF2-40B4-BE49-F238E27FC236}">
                    <a16:creationId xmlns:a16="http://schemas.microsoft.com/office/drawing/2014/main" id="{0A388FCA-E1B0-4FF7-ABFE-40C86B8BA87B}"/>
                  </a:ext>
                </a:extLst>
              </p:cNvPr>
              <p:cNvSpPr>
                <a:spLocks/>
              </p:cNvSpPr>
              <p:nvPr/>
            </p:nvSpPr>
            <p:spPr bwMode="auto">
              <a:xfrm>
                <a:off x="4291"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4" name="Freeform 744">
                <a:extLst>
                  <a:ext uri="{FF2B5EF4-FFF2-40B4-BE49-F238E27FC236}">
                    <a16:creationId xmlns:a16="http://schemas.microsoft.com/office/drawing/2014/main" id="{3744817D-B9B9-4456-85C1-5863316BC127}"/>
                  </a:ext>
                </a:extLst>
              </p:cNvPr>
              <p:cNvSpPr>
                <a:spLocks/>
              </p:cNvSpPr>
              <p:nvPr/>
            </p:nvSpPr>
            <p:spPr bwMode="auto">
              <a:xfrm>
                <a:off x="4272"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5" name="Freeform 745">
                <a:extLst>
                  <a:ext uri="{FF2B5EF4-FFF2-40B4-BE49-F238E27FC236}">
                    <a16:creationId xmlns:a16="http://schemas.microsoft.com/office/drawing/2014/main" id="{3BF30968-C4C3-422A-8975-B8F11F2D568D}"/>
                  </a:ext>
                </a:extLst>
              </p:cNvPr>
              <p:cNvSpPr>
                <a:spLocks/>
              </p:cNvSpPr>
              <p:nvPr/>
            </p:nvSpPr>
            <p:spPr bwMode="auto">
              <a:xfrm>
                <a:off x="4253"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6" name="Freeform 746">
                <a:extLst>
                  <a:ext uri="{FF2B5EF4-FFF2-40B4-BE49-F238E27FC236}">
                    <a16:creationId xmlns:a16="http://schemas.microsoft.com/office/drawing/2014/main" id="{EDC41B95-DAD5-4896-8EC5-8E2023BD18BA}"/>
                  </a:ext>
                </a:extLst>
              </p:cNvPr>
              <p:cNvSpPr>
                <a:spLocks/>
              </p:cNvSpPr>
              <p:nvPr/>
            </p:nvSpPr>
            <p:spPr bwMode="auto">
              <a:xfrm>
                <a:off x="423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7" name="Freeform 747">
                <a:extLst>
                  <a:ext uri="{FF2B5EF4-FFF2-40B4-BE49-F238E27FC236}">
                    <a16:creationId xmlns:a16="http://schemas.microsoft.com/office/drawing/2014/main" id="{5AA57323-4D55-4DE9-B207-B3EF6E08F7CE}"/>
                  </a:ext>
                </a:extLst>
              </p:cNvPr>
              <p:cNvSpPr>
                <a:spLocks/>
              </p:cNvSpPr>
              <p:nvPr/>
            </p:nvSpPr>
            <p:spPr bwMode="auto">
              <a:xfrm>
                <a:off x="421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8" name="Freeform 748">
                <a:extLst>
                  <a:ext uri="{FF2B5EF4-FFF2-40B4-BE49-F238E27FC236}">
                    <a16:creationId xmlns:a16="http://schemas.microsoft.com/office/drawing/2014/main" id="{35E93C49-05F5-4834-A60A-1D016947F2E2}"/>
                  </a:ext>
                </a:extLst>
              </p:cNvPr>
              <p:cNvSpPr>
                <a:spLocks/>
              </p:cNvSpPr>
              <p:nvPr/>
            </p:nvSpPr>
            <p:spPr bwMode="auto">
              <a:xfrm>
                <a:off x="4195"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9" name="Freeform 749">
                <a:extLst>
                  <a:ext uri="{FF2B5EF4-FFF2-40B4-BE49-F238E27FC236}">
                    <a16:creationId xmlns:a16="http://schemas.microsoft.com/office/drawing/2014/main" id="{1A2978F3-B363-44CE-890A-7F783A6731E5}"/>
                  </a:ext>
                </a:extLst>
              </p:cNvPr>
              <p:cNvSpPr>
                <a:spLocks/>
              </p:cNvSpPr>
              <p:nvPr/>
            </p:nvSpPr>
            <p:spPr bwMode="auto">
              <a:xfrm>
                <a:off x="4176"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0" name="Freeform 750">
                <a:extLst>
                  <a:ext uri="{FF2B5EF4-FFF2-40B4-BE49-F238E27FC236}">
                    <a16:creationId xmlns:a16="http://schemas.microsoft.com/office/drawing/2014/main" id="{4D443DFC-1BAC-45F7-8CE9-65450C92325C}"/>
                  </a:ext>
                </a:extLst>
              </p:cNvPr>
              <p:cNvSpPr>
                <a:spLocks/>
              </p:cNvSpPr>
              <p:nvPr/>
            </p:nvSpPr>
            <p:spPr bwMode="auto">
              <a:xfrm>
                <a:off x="4157"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1" name="Freeform 751">
                <a:extLst>
                  <a:ext uri="{FF2B5EF4-FFF2-40B4-BE49-F238E27FC236}">
                    <a16:creationId xmlns:a16="http://schemas.microsoft.com/office/drawing/2014/main" id="{8B02A45C-7E58-4B73-9F14-A589600D092C}"/>
                  </a:ext>
                </a:extLst>
              </p:cNvPr>
              <p:cNvSpPr>
                <a:spLocks/>
              </p:cNvSpPr>
              <p:nvPr/>
            </p:nvSpPr>
            <p:spPr bwMode="auto">
              <a:xfrm>
                <a:off x="413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2" name="Freeform 752">
                <a:extLst>
                  <a:ext uri="{FF2B5EF4-FFF2-40B4-BE49-F238E27FC236}">
                    <a16:creationId xmlns:a16="http://schemas.microsoft.com/office/drawing/2014/main" id="{963D2024-0E88-4417-8BA1-AFD92366CBBA}"/>
                  </a:ext>
                </a:extLst>
              </p:cNvPr>
              <p:cNvSpPr>
                <a:spLocks/>
              </p:cNvSpPr>
              <p:nvPr/>
            </p:nvSpPr>
            <p:spPr bwMode="auto">
              <a:xfrm>
                <a:off x="411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3" name="Freeform 753">
                <a:extLst>
                  <a:ext uri="{FF2B5EF4-FFF2-40B4-BE49-F238E27FC236}">
                    <a16:creationId xmlns:a16="http://schemas.microsoft.com/office/drawing/2014/main" id="{733224B3-21E8-43E0-B16C-19E252FEE54A}"/>
                  </a:ext>
                </a:extLst>
              </p:cNvPr>
              <p:cNvSpPr>
                <a:spLocks/>
              </p:cNvSpPr>
              <p:nvPr/>
            </p:nvSpPr>
            <p:spPr bwMode="auto">
              <a:xfrm>
                <a:off x="4099"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4" name="Freeform 754">
                <a:extLst>
                  <a:ext uri="{FF2B5EF4-FFF2-40B4-BE49-F238E27FC236}">
                    <a16:creationId xmlns:a16="http://schemas.microsoft.com/office/drawing/2014/main" id="{081A8C95-C7C6-4F8B-A7CC-334054277F30}"/>
                  </a:ext>
                </a:extLst>
              </p:cNvPr>
              <p:cNvSpPr>
                <a:spLocks/>
              </p:cNvSpPr>
              <p:nvPr/>
            </p:nvSpPr>
            <p:spPr bwMode="auto">
              <a:xfrm>
                <a:off x="4080"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5" name="Freeform 755">
                <a:extLst>
                  <a:ext uri="{FF2B5EF4-FFF2-40B4-BE49-F238E27FC236}">
                    <a16:creationId xmlns:a16="http://schemas.microsoft.com/office/drawing/2014/main" id="{C576EABE-B9D1-4594-9648-8E8C738E6ED0}"/>
                  </a:ext>
                </a:extLst>
              </p:cNvPr>
              <p:cNvSpPr>
                <a:spLocks/>
              </p:cNvSpPr>
              <p:nvPr/>
            </p:nvSpPr>
            <p:spPr bwMode="auto">
              <a:xfrm>
                <a:off x="406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6" name="Freeform 756">
                <a:extLst>
                  <a:ext uri="{FF2B5EF4-FFF2-40B4-BE49-F238E27FC236}">
                    <a16:creationId xmlns:a16="http://schemas.microsoft.com/office/drawing/2014/main" id="{62DFD89B-4B2E-44B6-BA90-DEA01ACACC5D}"/>
                  </a:ext>
                </a:extLst>
              </p:cNvPr>
              <p:cNvSpPr>
                <a:spLocks/>
              </p:cNvSpPr>
              <p:nvPr/>
            </p:nvSpPr>
            <p:spPr bwMode="auto">
              <a:xfrm>
                <a:off x="404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7" name="Freeform 757">
                <a:extLst>
                  <a:ext uri="{FF2B5EF4-FFF2-40B4-BE49-F238E27FC236}">
                    <a16:creationId xmlns:a16="http://schemas.microsoft.com/office/drawing/2014/main" id="{406BF5E1-6DD0-462B-BB0C-2A97C307696F}"/>
                  </a:ext>
                </a:extLst>
              </p:cNvPr>
              <p:cNvSpPr>
                <a:spLocks/>
              </p:cNvSpPr>
              <p:nvPr/>
            </p:nvSpPr>
            <p:spPr bwMode="auto">
              <a:xfrm>
                <a:off x="402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8" name="Freeform 758">
                <a:extLst>
                  <a:ext uri="{FF2B5EF4-FFF2-40B4-BE49-F238E27FC236}">
                    <a16:creationId xmlns:a16="http://schemas.microsoft.com/office/drawing/2014/main" id="{F9DF7D76-1F7C-41DD-9240-6BDC12B72F56}"/>
                  </a:ext>
                </a:extLst>
              </p:cNvPr>
              <p:cNvSpPr>
                <a:spLocks/>
              </p:cNvSpPr>
              <p:nvPr/>
            </p:nvSpPr>
            <p:spPr bwMode="auto">
              <a:xfrm>
                <a:off x="400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9" name="Freeform 759">
                <a:extLst>
                  <a:ext uri="{FF2B5EF4-FFF2-40B4-BE49-F238E27FC236}">
                    <a16:creationId xmlns:a16="http://schemas.microsoft.com/office/drawing/2014/main" id="{4F2BD107-0121-40D6-97F9-E429AA14497B}"/>
                  </a:ext>
                </a:extLst>
              </p:cNvPr>
              <p:cNvSpPr>
                <a:spLocks/>
              </p:cNvSpPr>
              <p:nvPr/>
            </p:nvSpPr>
            <p:spPr bwMode="auto">
              <a:xfrm>
                <a:off x="3984"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0" name="Freeform 760">
                <a:extLst>
                  <a:ext uri="{FF2B5EF4-FFF2-40B4-BE49-F238E27FC236}">
                    <a16:creationId xmlns:a16="http://schemas.microsoft.com/office/drawing/2014/main" id="{76D49EF6-4B10-4EA9-B49D-F0C3AC160F54}"/>
                  </a:ext>
                </a:extLst>
              </p:cNvPr>
              <p:cNvSpPr>
                <a:spLocks/>
              </p:cNvSpPr>
              <p:nvPr/>
            </p:nvSpPr>
            <p:spPr bwMode="auto">
              <a:xfrm>
                <a:off x="396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1" name="Freeform 761">
                <a:extLst>
                  <a:ext uri="{FF2B5EF4-FFF2-40B4-BE49-F238E27FC236}">
                    <a16:creationId xmlns:a16="http://schemas.microsoft.com/office/drawing/2014/main" id="{EB09D043-F693-40F2-B715-2354E13C7D27}"/>
                  </a:ext>
                </a:extLst>
              </p:cNvPr>
              <p:cNvSpPr>
                <a:spLocks/>
              </p:cNvSpPr>
              <p:nvPr/>
            </p:nvSpPr>
            <p:spPr bwMode="auto">
              <a:xfrm>
                <a:off x="3945"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2" name="Freeform 762">
                <a:extLst>
                  <a:ext uri="{FF2B5EF4-FFF2-40B4-BE49-F238E27FC236}">
                    <a16:creationId xmlns:a16="http://schemas.microsoft.com/office/drawing/2014/main" id="{2C20EF57-9C59-4F9E-A247-918042014559}"/>
                  </a:ext>
                </a:extLst>
              </p:cNvPr>
              <p:cNvSpPr>
                <a:spLocks/>
              </p:cNvSpPr>
              <p:nvPr/>
            </p:nvSpPr>
            <p:spPr bwMode="auto">
              <a:xfrm>
                <a:off x="3926"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3" name="Freeform 763">
                <a:extLst>
                  <a:ext uri="{FF2B5EF4-FFF2-40B4-BE49-F238E27FC236}">
                    <a16:creationId xmlns:a16="http://schemas.microsoft.com/office/drawing/2014/main" id="{47DBA14B-3546-4E3A-90EF-03AFFA25D38C}"/>
                  </a:ext>
                </a:extLst>
              </p:cNvPr>
              <p:cNvSpPr>
                <a:spLocks/>
              </p:cNvSpPr>
              <p:nvPr/>
            </p:nvSpPr>
            <p:spPr bwMode="auto">
              <a:xfrm>
                <a:off x="3907"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4" name="Freeform 764">
                <a:extLst>
                  <a:ext uri="{FF2B5EF4-FFF2-40B4-BE49-F238E27FC236}">
                    <a16:creationId xmlns:a16="http://schemas.microsoft.com/office/drawing/2014/main" id="{0F2CFD7E-D4BE-4156-9973-CB43AE0FFB04}"/>
                  </a:ext>
                </a:extLst>
              </p:cNvPr>
              <p:cNvSpPr>
                <a:spLocks/>
              </p:cNvSpPr>
              <p:nvPr/>
            </p:nvSpPr>
            <p:spPr bwMode="auto">
              <a:xfrm>
                <a:off x="3888"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5" name="Freeform 765">
                <a:extLst>
                  <a:ext uri="{FF2B5EF4-FFF2-40B4-BE49-F238E27FC236}">
                    <a16:creationId xmlns:a16="http://schemas.microsoft.com/office/drawing/2014/main" id="{2A142529-4E82-44D9-A741-EFFCC76F6F01}"/>
                  </a:ext>
                </a:extLst>
              </p:cNvPr>
              <p:cNvSpPr>
                <a:spLocks/>
              </p:cNvSpPr>
              <p:nvPr/>
            </p:nvSpPr>
            <p:spPr bwMode="auto">
              <a:xfrm>
                <a:off x="386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6" name="Freeform 766">
                <a:extLst>
                  <a:ext uri="{FF2B5EF4-FFF2-40B4-BE49-F238E27FC236}">
                    <a16:creationId xmlns:a16="http://schemas.microsoft.com/office/drawing/2014/main" id="{99623423-76E4-4FD5-8AB5-FAFB0DF28AA9}"/>
                  </a:ext>
                </a:extLst>
              </p:cNvPr>
              <p:cNvSpPr>
                <a:spLocks/>
              </p:cNvSpPr>
              <p:nvPr/>
            </p:nvSpPr>
            <p:spPr bwMode="auto">
              <a:xfrm>
                <a:off x="384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7" name="Freeform 767">
                <a:extLst>
                  <a:ext uri="{FF2B5EF4-FFF2-40B4-BE49-F238E27FC236}">
                    <a16:creationId xmlns:a16="http://schemas.microsoft.com/office/drawing/2014/main" id="{05B0BC90-C997-4CEE-8356-7AFF2B384694}"/>
                  </a:ext>
                </a:extLst>
              </p:cNvPr>
              <p:cNvSpPr>
                <a:spLocks/>
              </p:cNvSpPr>
              <p:nvPr/>
            </p:nvSpPr>
            <p:spPr bwMode="auto">
              <a:xfrm>
                <a:off x="3830"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8" name="Freeform 768">
                <a:extLst>
                  <a:ext uri="{FF2B5EF4-FFF2-40B4-BE49-F238E27FC236}">
                    <a16:creationId xmlns:a16="http://schemas.microsoft.com/office/drawing/2014/main" id="{50C83D30-C974-44BF-9F45-6176F8870412}"/>
                  </a:ext>
                </a:extLst>
              </p:cNvPr>
              <p:cNvSpPr>
                <a:spLocks/>
              </p:cNvSpPr>
              <p:nvPr/>
            </p:nvSpPr>
            <p:spPr bwMode="auto">
              <a:xfrm>
                <a:off x="3811"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9" name="Freeform 769">
                <a:extLst>
                  <a:ext uri="{FF2B5EF4-FFF2-40B4-BE49-F238E27FC236}">
                    <a16:creationId xmlns:a16="http://schemas.microsoft.com/office/drawing/2014/main" id="{B9B9CE66-C018-4B59-ABE6-F7F849BC0578}"/>
                  </a:ext>
                </a:extLst>
              </p:cNvPr>
              <p:cNvSpPr>
                <a:spLocks/>
              </p:cNvSpPr>
              <p:nvPr/>
            </p:nvSpPr>
            <p:spPr bwMode="auto">
              <a:xfrm>
                <a:off x="3792"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0" name="Freeform 770">
                <a:extLst>
                  <a:ext uri="{FF2B5EF4-FFF2-40B4-BE49-F238E27FC236}">
                    <a16:creationId xmlns:a16="http://schemas.microsoft.com/office/drawing/2014/main" id="{B233BA0F-DD32-4D4C-8C9C-987FF6223725}"/>
                  </a:ext>
                </a:extLst>
              </p:cNvPr>
              <p:cNvSpPr>
                <a:spLocks/>
              </p:cNvSpPr>
              <p:nvPr/>
            </p:nvSpPr>
            <p:spPr bwMode="auto">
              <a:xfrm>
                <a:off x="3772"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1" name="Freeform 771">
                <a:extLst>
                  <a:ext uri="{FF2B5EF4-FFF2-40B4-BE49-F238E27FC236}">
                    <a16:creationId xmlns:a16="http://schemas.microsoft.com/office/drawing/2014/main" id="{B86FE084-910D-4951-879D-31889B4A19D1}"/>
                  </a:ext>
                </a:extLst>
              </p:cNvPr>
              <p:cNvSpPr>
                <a:spLocks/>
              </p:cNvSpPr>
              <p:nvPr/>
            </p:nvSpPr>
            <p:spPr bwMode="auto">
              <a:xfrm>
                <a:off x="375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2" name="Freeform 772">
                <a:extLst>
                  <a:ext uri="{FF2B5EF4-FFF2-40B4-BE49-F238E27FC236}">
                    <a16:creationId xmlns:a16="http://schemas.microsoft.com/office/drawing/2014/main" id="{0BB6A84D-7523-4848-B76B-2E9C84B9B0C2}"/>
                  </a:ext>
                </a:extLst>
              </p:cNvPr>
              <p:cNvSpPr>
                <a:spLocks/>
              </p:cNvSpPr>
              <p:nvPr/>
            </p:nvSpPr>
            <p:spPr bwMode="auto">
              <a:xfrm>
                <a:off x="3734"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3" name="Freeform 773">
                <a:extLst>
                  <a:ext uri="{FF2B5EF4-FFF2-40B4-BE49-F238E27FC236}">
                    <a16:creationId xmlns:a16="http://schemas.microsoft.com/office/drawing/2014/main" id="{832FCBED-4C53-4A2B-879B-3F94EBEEAC2E}"/>
                  </a:ext>
                </a:extLst>
              </p:cNvPr>
              <p:cNvSpPr>
                <a:spLocks/>
              </p:cNvSpPr>
              <p:nvPr/>
            </p:nvSpPr>
            <p:spPr bwMode="auto">
              <a:xfrm>
                <a:off x="3715"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4" name="Freeform 774">
                <a:extLst>
                  <a:ext uri="{FF2B5EF4-FFF2-40B4-BE49-F238E27FC236}">
                    <a16:creationId xmlns:a16="http://schemas.microsoft.com/office/drawing/2014/main" id="{D94B87AF-0A23-4E6A-A4B8-F4BE43ACFF64}"/>
                  </a:ext>
                </a:extLst>
              </p:cNvPr>
              <p:cNvSpPr>
                <a:spLocks/>
              </p:cNvSpPr>
              <p:nvPr/>
            </p:nvSpPr>
            <p:spPr bwMode="auto">
              <a:xfrm>
                <a:off x="3696"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5" name="Freeform 775">
                <a:extLst>
                  <a:ext uri="{FF2B5EF4-FFF2-40B4-BE49-F238E27FC236}">
                    <a16:creationId xmlns:a16="http://schemas.microsoft.com/office/drawing/2014/main" id="{5D83B48A-E8CF-4AE8-B95A-C6D2FCB066E9}"/>
                  </a:ext>
                </a:extLst>
              </p:cNvPr>
              <p:cNvSpPr>
                <a:spLocks/>
              </p:cNvSpPr>
              <p:nvPr/>
            </p:nvSpPr>
            <p:spPr bwMode="auto">
              <a:xfrm>
                <a:off x="3676"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6" name="Freeform 776">
                <a:extLst>
                  <a:ext uri="{FF2B5EF4-FFF2-40B4-BE49-F238E27FC236}">
                    <a16:creationId xmlns:a16="http://schemas.microsoft.com/office/drawing/2014/main" id="{714642B7-7193-4FC1-B095-07E0207C5AF2}"/>
                  </a:ext>
                </a:extLst>
              </p:cNvPr>
              <p:cNvSpPr>
                <a:spLocks/>
              </p:cNvSpPr>
              <p:nvPr/>
            </p:nvSpPr>
            <p:spPr bwMode="auto">
              <a:xfrm>
                <a:off x="365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7" name="Freeform 777">
                <a:extLst>
                  <a:ext uri="{FF2B5EF4-FFF2-40B4-BE49-F238E27FC236}">
                    <a16:creationId xmlns:a16="http://schemas.microsoft.com/office/drawing/2014/main" id="{5428DE87-7472-492A-9967-8317734180F3}"/>
                  </a:ext>
                </a:extLst>
              </p:cNvPr>
              <p:cNvSpPr>
                <a:spLocks/>
              </p:cNvSpPr>
              <p:nvPr/>
            </p:nvSpPr>
            <p:spPr bwMode="auto">
              <a:xfrm>
                <a:off x="3638"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8" name="Freeform 778">
                <a:extLst>
                  <a:ext uri="{FF2B5EF4-FFF2-40B4-BE49-F238E27FC236}">
                    <a16:creationId xmlns:a16="http://schemas.microsoft.com/office/drawing/2014/main" id="{9D7A908B-973C-4808-A58F-ABF304D51FC6}"/>
                  </a:ext>
                </a:extLst>
              </p:cNvPr>
              <p:cNvSpPr>
                <a:spLocks/>
              </p:cNvSpPr>
              <p:nvPr/>
            </p:nvSpPr>
            <p:spPr bwMode="auto">
              <a:xfrm>
                <a:off x="3619"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9" name="Freeform 779">
                <a:extLst>
                  <a:ext uri="{FF2B5EF4-FFF2-40B4-BE49-F238E27FC236}">
                    <a16:creationId xmlns:a16="http://schemas.microsoft.com/office/drawing/2014/main" id="{DDB4F658-B4F9-430B-868F-0ABF7317735B}"/>
                  </a:ext>
                </a:extLst>
              </p:cNvPr>
              <p:cNvSpPr>
                <a:spLocks/>
              </p:cNvSpPr>
              <p:nvPr/>
            </p:nvSpPr>
            <p:spPr bwMode="auto">
              <a:xfrm>
                <a:off x="3600"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0" name="Freeform 780">
                <a:extLst>
                  <a:ext uri="{FF2B5EF4-FFF2-40B4-BE49-F238E27FC236}">
                    <a16:creationId xmlns:a16="http://schemas.microsoft.com/office/drawing/2014/main" id="{57969679-6303-468B-9E4F-603ECDD53513}"/>
                  </a:ext>
                </a:extLst>
              </p:cNvPr>
              <p:cNvSpPr>
                <a:spLocks/>
              </p:cNvSpPr>
              <p:nvPr/>
            </p:nvSpPr>
            <p:spPr bwMode="auto">
              <a:xfrm>
                <a:off x="358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1" name="Freeform 781">
                <a:extLst>
                  <a:ext uri="{FF2B5EF4-FFF2-40B4-BE49-F238E27FC236}">
                    <a16:creationId xmlns:a16="http://schemas.microsoft.com/office/drawing/2014/main" id="{1DCECB91-43DD-4969-A0A0-2E9FF73C16FF}"/>
                  </a:ext>
                </a:extLst>
              </p:cNvPr>
              <p:cNvSpPr>
                <a:spLocks/>
              </p:cNvSpPr>
              <p:nvPr/>
            </p:nvSpPr>
            <p:spPr bwMode="auto">
              <a:xfrm>
                <a:off x="356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2" name="Freeform 782">
                <a:extLst>
                  <a:ext uri="{FF2B5EF4-FFF2-40B4-BE49-F238E27FC236}">
                    <a16:creationId xmlns:a16="http://schemas.microsoft.com/office/drawing/2014/main" id="{1AB6F9C5-AEA4-416D-8A6B-B4A94F020EAC}"/>
                  </a:ext>
                </a:extLst>
              </p:cNvPr>
              <p:cNvSpPr>
                <a:spLocks/>
              </p:cNvSpPr>
              <p:nvPr/>
            </p:nvSpPr>
            <p:spPr bwMode="auto">
              <a:xfrm>
                <a:off x="354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3" name="Freeform 783">
                <a:extLst>
                  <a:ext uri="{FF2B5EF4-FFF2-40B4-BE49-F238E27FC236}">
                    <a16:creationId xmlns:a16="http://schemas.microsoft.com/office/drawing/2014/main" id="{97FBC021-4459-438C-AF5A-653A5414D4E1}"/>
                  </a:ext>
                </a:extLst>
              </p:cNvPr>
              <p:cNvSpPr>
                <a:spLocks/>
              </p:cNvSpPr>
              <p:nvPr/>
            </p:nvSpPr>
            <p:spPr bwMode="auto">
              <a:xfrm>
                <a:off x="352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4" name="Freeform 784">
                <a:extLst>
                  <a:ext uri="{FF2B5EF4-FFF2-40B4-BE49-F238E27FC236}">
                    <a16:creationId xmlns:a16="http://schemas.microsoft.com/office/drawing/2014/main" id="{2A059485-EFDD-418B-897F-8617EC3A0CD5}"/>
                  </a:ext>
                </a:extLst>
              </p:cNvPr>
              <p:cNvSpPr>
                <a:spLocks/>
              </p:cNvSpPr>
              <p:nvPr/>
            </p:nvSpPr>
            <p:spPr bwMode="auto">
              <a:xfrm>
                <a:off x="350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5" name="Freeform 785">
                <a:extLst>
                  <a:ext uri="{FF2B5EF4-FFF2-40B4-BE49-F238E27FC236}">
                    <a16:creationId xmlns:a16="http://schemas.microsoft.com/office/drawing/2014/main" id="{E395CEE2-1309-4DCD-A838-C823B952B549}"/>
                  </a:ext>
                </a:extLst>
              </p:cNvPr>
              <p:cNvSpPr>
                <a:spLocks/>
              </p:cNvSpPr>
              <p:nvPr/>
            </p:nvSpPr>
            <p:spPr bwMode="auto">
              <a:xfrm>
                <a:off x="348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6" name="Freeform 786">
                <a:extLst>
                  <a:ext uri="{FF2B5EF4-FFF2-40B4-BE49-F238E27FC236}">
                    <a16:creationId xmlns:a16="http://schemas.microsoft.com/office/drawing/2014/main" id="{697F0801-DC2D-47CC-B400-A6DC7BE0C0E6}"/>
                  </a:ext>
                </a:extLst>
              </p:cNvPr>
              <p:cNvSpPr>
                <a:spLocks/>
              </p:cNvSpPr>
              <p:nvPr/>
            </p:nvSpPr>
            <p:spPr bwMode="auto">
              <a:xfrm>
                <a:off x="3469" y="3481"/>
                <a:ext cx="9" cy="10"/>
              </a:xfrm>
              <a:custGeom>
                <a:avLst/>
                <a:gdLst>
                  <a:gd name="T0" fmla="*/ 8 w 9"/>
                  <a:gd name="T1" fmla="*/ 9 h 10"/>
                  <a:gd name="T2" fmla="*/ 9 w 9"/>
                  <a:gd name="T3" fmla="*/ 5 h 10"/>
                  <a:gd name="T4" fmla="*/ 7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7"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7" name="Freeform 787">
                <a:extLst>
                  <a:ext uri="{FF2B5EF4-FFF2-40B4-BE49-F238E27FC236}">
                    <a16:creationId xmlns:a16="http://schemas.microsoft.com/office/drawing/2014/main" id="{E0D6DE2F-870C-4EBD-86F2-8B76886E3C40}"/>
                  </a:ext>
                </a:extLst>
              </p:cNvPr>
              <p:cNvSpPr>
                <a:spLocks/>
              </p:cNvSpPr>
              <p:nvPr/>
            </p:nvSpPr>
            <p:spPr bwMode="auto">
              <a:xfrm>
                <a:off x="3453" y="3492"/>
                <a:ext cx="10" cy="10"/>
              </a:xfrm>
              <a:custGeom>
                <a:avLst/>
                <a:gdLst>
                  <a:gd name="T0" fmla="*/ 8 w 10"/>
                  <a:gd name="T1" fmla="*/ 8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8 h 10"/>
                  <a:gd name="T16" fmla="*/ 5 w 10"/>
                  <a:gd name="T17" fmla="*/ 10 h 10"/>
                  <a:gd name="T18" fmla="*/ 8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8"/>
                    </a:moveTo>
                    <a:lnTo>
                      <a:pt x="10" y="5"/>
                    </a:lnTo>
                    <a:lnTo>
                      <a:pt x="8" y="1"/>
                    </a:lnTo>
                    <a:lnTo>
                      <a:pt x="5" y="0"/>
                    </a:lnTo>
                    <a:lnTo>
                      <a:pt x="1" y="1"/>
                    </a:lnTo>
                    <a:lnTo>
                      <a:pt x="1" y="1"/>
                    </a:lnTo>
                    <a:lnTo>
                      <a:pt x="0" y="5"/>
                    </a:lnTo>
                    <a:lnTo>
                      <a:pt x="1"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8" name="Freeform 788">
                <a:extLst>
                  <a:ext uri="{FF2B5EF4-FFF2-40B4-BE49-F238E27FC236}">
                    <a16:creationId xmlns:a16="http://schemas.microsoft.com/office/drawing/2014/main" id="{57A38EF6-4B8A-48EE-91BA-0C494FBB49EB}"/>
                  </a:ext>
                </a:extLst>
              </p:cNvPr>
              <p:cNvSpPr>
                <a:spLocks/>
              </p:cNvSpPr>
              <p:nvPr/>
            </p:nvSpPr>
            <p:spPr bwMode="auto">
              <a:xfrm>
                <a:off x="3437" y="350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7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7"/>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9" name="Freeform 789">
                <a:extLst>
                  <a:ext uri="{FF2B5EF4-FFF2-40B4-BE49-F238E27FC236}">
                    <a16:creationId xmlns:a16="http://schemas.microsoft.com/office/drawing/2014/main" id="{F48908D4-11B7-4E5D-99DD-FC26D70C127D}"/>
                  </a:ext>
                </a:extLst>
              </p:cNvPr>
              <p:cNvSpPr>
                <a:spLocks/>
              </p:cNvSpPr>
              <p:nvPr/>
            </p:nvSpPr>
            <p:spPr bwMode="auto">
              <a:xfrm>
                <a:off x="3422" y="3515"/>
                <a:ext cx="9" cy="9"/>
              </a:xfrm>
              <a:custGeom>
                <a:avLst/>
                <a:gdLst>
                  <a:gd name="T0" fmla="*/ 8 w 9"/>
                  <a:gd name="T1" fmla="*/ 8 h 9"/>
                  <a:gd name="T2" fmla="*/ 9 w 9"/>
                  <a:gd name="T3" fmla="*/ 5 h 9"/>
                  <a:gd name="T4" fmla="*/ 8 w 9"/>
                  <a:gd name="T5" fmla="*/ 1 h 9"/>
                  <a:gd name="T6" fmla="*/ 5 w 9"/>
                  <a:gd name="T7" fmla="*/ 0 h 9"/>
                  <a:gd name="T8" fmla="*/ 1 w 9"/>
                  <a:gd name="T9" fmla="*/ 1 h 9"/>
                  <a:gd name="T10" fmla="*/ 1 w 9"/>
                  <a:gd name="T11" fmla="*/ 1 h 9"/>
                  <a:gd name="T12" fmla="*/ 0 w 9"/>
                  <a:gd name="T13" fmla="*/ 5 h 9"/>
                  <a:gd name="T14" fmla="*/ 1 w 9"/>
                  <a:gd name="T15" fmla="*/ 8 h 9"/>
                  <a:gd name="T16" fmla="*/ 5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5"/>
                    </a:lnTo>
                    <a:lnTo>
                      <a:pt x="8" y="1"/>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0" name="Freeform 790">
                <a:extLst>
                  <a:ext uri="{FF2B5EF4-FFF2-40B4-BE49-F238E27FC236}">
                    <a16:creationId xmlns:a16="http://schemas.microsoft.com/office/drawing/2014/main" id="{C784A6CE-D467-4DF3-B8EB-EC6FFCE223DF}"/>
                  </a:ext>
                </a:extLst>
              </p:cNvPr>
              <p:cNvSpPr>
                <a:spLocks/>
              </p:cNvSpPr>
              <p:nvPr/>
            </p:nvSpPr>
            <p:spPr bwMode="auto">
              <a:xfrm>
                <a:off x="3406" y="3526"/>
                <a:ext cx="10" cy="9"/>
              </a:xfrm>
              <a:custGeom>
                <a:avLst/>
                <a:gdLst>
                  <a:gd name="T0" fmla="*/ 9 w 10"/>
                  <a:gd name="T1" fmla="*/ 8 h 9"/>
                  <a:gd name="T2" fmla="*/ 10 w 10"/>
                  <a:gd name="T3" fmla="*/ 4 h 9"/>
                  <a:gd name="T4" fmla="*/ 9 w 10"/>
                  <a:gd name="T5" fmla="*/ 2 h 9"/>
                  <a:gd name="T6" fmla="*/ 5 w 10"/>
                  <a:gd name="T7" fmla="*/ 0 h 9"/>
                  <a:gd name="T8" fmla="*/ 1 w 10"/>
                  <a:gd name="T9" fmla="*/ 1 h 9"/>
                  <a:gd name="T10" fmla="*/ 1 w 10"/>
                  <a:gd name="T11" fmla="*/ 1 h 9"/>
                  <a:gd name="T12" fmla="*/ 0 w 10"/>
                  <a:gd name="T13" fmla="*/ 4 h 9"/>
                  <a:gd name="T14" fmla="*/ 1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4"/>
                    </a:lnTo>
                    <a:lnTo>
                      <a:pt x="9" y="2"/>
                    </a:lnTo>
                    <a:lnTo>
                      <a:pt x="5" y="0"/>
                    </a:lnTo>
                    <a:lnTo>
                      <a:pt x="1" y="1"/>
                    </a:lnTo>
                    <a:lnTo>
                      <a:pt x="1" y="1"/>
                    </a:lnTo>
                    <a:lnTo>
                      <a:pt x="0" y="4"/>
                    </a:lnTo>
                    <a:lnTo>
                      <a:pt x="1"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1" name="Freeform 791">
                <a:extLst>
                  <a:ext uri="{FF2B5EF4-FFF2-40B4-BE49-F238E27FC236}">
                    <a16:creationId xmlns:a16="http://schemas.microsoft.com/office/drawing/2014/main" id="{5D6C0554-37D2-4E2A-B58B-6A3C30FD16AD}"/>
                  </a:ext>
                </a:extLst>
              </p:cNvPr>
              <p:cNvSpPr>
                <a:spLocks/>
              </p:cNvSpPr>
              <p:nvPr/>
            </p:nvSpPr>
            <p:spPr bwMode="auto">
              <a:xfrm>
                <a:off x="3391" y="3538"/>
                <a:ext cx="9" cy="9"/>
              </a:xfrm>
              <a:custGeom>
                <a:avLst/>
                <a:gdLst>
                  <a:gd name="T0" fmla="*/ 8 w 9"/>
                  <a:gd name="T1" fmla="*/ 8 h 9"/>
                  <a:gd name="T2" fmla="*/ 9 w 9"/>
                  <a:gd name="T3" fmla="*/ 4 h 9"/>
                  <a:gd name="T4" fmla="*/ 8 w 9"/>
                  <a:gd name="T5" fmla="*/ 1 h 9"/>
                  <a:gd name="T6" fmla="*/ 4 w 9"/>
                  <a:gd name="T7" fmla="*/ 0 h 9"/>
                  <a:gd name="T8" fmla="*/ 1 w 9"/>
                  <a:gd name="T9" fmla="*/ 1 h 9"/>
                  <a:gd name="T10" fmla="*/ 1 w 9"/>
                  <a:gd name="T11" fmla="*/ 1 h 9"/>
                  <a:gd name="T12" fmla="*/ 0 w 9"/>
                  <a:gd name="T13" fmla="*/ 4 h 9"/>
                  <a:gd name="T14" fmla="*/ 1 w 9"/>
                  <a:gd name="T15" fmla="*/ 8 h 9"/>
                  <a:gd name="T16" fmla="*/ 4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4"/>
                    </a:lnTo>
                    <a:lnTo>
                      <a:pt x="8" y="1"/>
                    </a:lnTo>
                    <a:lnTo>
                      <a:pt x="4" y="0"/>
                    </a:lnTo>
                    <a:lnTo>
                      <a:pt x="1" y="1"/>
                    </a:lnTo>
                    <a:lnTo>
                      <a:pt x="1" y="1"/>
                    </a:lnTo>
                    <a:lnTo>
                      <a:pt x="0" y="4"/>
                    </a:lnTo>
                    <a:lnTo>
                      <a:pt x="1" y="8"/>
                    </a:lnTo>
                    <a:lnTo>
                      <a:pt x="4"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2" name="Freeform 792">
                <a:extLst>
                  <a:ext uri="{FF2B5EF4-FFF2-40B4-BE49-F238E27FC236}">
                    <a16:creationId xmlns:a16="http://schemas.microsoft.com/office/drawing/2014/main" id="{C3090BC6-B40F-4AAC-AFB3-F3BD9893A336}"/>
                  </a:ext>
                </a:extLst>
              </p:cNvPr>
              <p:cNvSpPr>
                <a:spLocks/>
              </p:cNvSpPr>
              <p:nvPr/>
            </p:nvSpPr>
            <p:spPr bwMode="auto">
              <a:xfrm>
                <a:off x="3375" y="3548"/>
                <a:ext cx="10" cy="10"/>
              </a:xfrm>
              <a:custGeom>
                <a:avLst/>
                <a:gdLst>
                  <a:gd name="T0" fmla="*/ 8 w 10"/>
                  <a:gd name="T1" fmla="*/ 9 h 10"/>
                  <a:gd name="T2" fmla="*/ 10 w 10"/>
                  <a:gd name="T3" fmla="*/ 5 h 10"/>
                  <a:gd name="T4" fmla="*/ 8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2"/>
                    </a:lnTo>
                    <a:lnTo>
                      <a:pt x="5" y="0"/>
                    </a:lnTo>
                    <a:lnTo>
                      <a:pt x="1" y="2"/>
                    </a:lnTo>
                    <a:lnTo>
                      <a:pt x="1" y="2"/>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3" name="Freeform 793">
                <a:extLst>
                  <a:ext uri="{FF2B5EF4-FFF2-40B4-BE49-F238E27FC236}">
                    <a16:creationId xmlns:a16="http://schemas.microsoft.com/office/drawing/2014/main" id="{5322992D-F7D8-49B9-AF09-9C50470DAE81}"/>
                  </a:ext>
                </a:extLst>
              </p:cNvPr>
              <p:cNvSpPr>
                <a:spLocks/>
              </p:cNvSpPr>
              <p:nvPr/>
            </p:nvSpPr>
            <p:spPr bwMode="auto">
              <a:xfrm>
                <a:off x="3359" y="3560"/>
                <a:ext cx="10" cy="10"/>
              </a:xfrm>
              <a:custGeom>
                <a:avLst/>
                <a:gdLst>
                  <a:gd name="T0" fmla="*/ 9 w 10"/>
                  <a:gd name="T1" fmla="*/ 9 h 10"/>
                  <a:gd name="T2" fmla="*/ 10 w 10"/>
                  <a:gd name="T3" fmla="*/ 5 h 10"/>
                  <a:gd name="T4" fmla="*/ 9 w 10"/>
                  <a:gd name="T5" fmla="*/ 2 h 10"/>
                  <a:gd name="T6" fmla="*/ 5 w 10"/>
                  <a:gd name="T7" fmla="*/ 0 h 10"/>
                  <a:gd name="T8" fmla="*/ 2 w 10"/>
                  <a:gd name="T9" fmla="*/ 2 h 10"/>
                  <a:gd name="T10" fmla="*/ 2 w 10"/>
                  <a:gd name="T11" fmla="*/ 2 h 10"/>
                  <a:gd name="T12" fmla="*/ 0 w 10"/>
                  <a:gd name="T13" fmla="*/ 5 h 10"/>
                  <a:gd name="T14" fmla="*/ 2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2" y="2"/>
                    </a:lnTo>
                    <a:lnTo>
                      <a:pt x="2" y="2"/>
                    </a:lnTo>
                    <a:lnTo>
                      <a:pt x="0" y="5"/>
                    </a:lnTo>
                    <a:lnTo>
                      <a:pt x="2"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4" name="Freeform 794">
                <a:extLst>
                  <a:ext uri="{FF2B5EF4-FFF2-40B4-BE49-F238E27FC236}">
                    <a16:creationId xmlns:a16="http://schemas.microsoft.com/office/drawing/2014/main" id="{BC053440-7221-48CD-8FAA-D3BDB456461D}"/>
                  </a:ext>
                </a:extLst>
              </p:cNvPr>
              <p:cNvSpPr>
                <a:spLocks/>
              </p:cNvSpPr>
              <p:nvPr/>
            </p:nvSpPr>
            <p:spPr bwMode="auto">
              <a:xfrm>
                <a:off x="3344" y="3571"/>
                <a:ext cx="9" cy="10"/>
              </a:xfrm>
              <a:custGeom>
                <a:avLst/>
                <a:gdLst>
                  <a:gd name="T0" fmla="*/ 8 w 9"/>
                  <a:gd name="T1" fmla="*/ 9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1 w 9"/>
                  <a:gd name="T15" fmla="*/ 9 h 10"/>
                  <a:gd name="T16" fmla="*/ 5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5" name="Freeform 795">
                <a:extLst>
                  <a:ext uri="{FF2B5EF4-FFF2-40B4-BE49-F238E27FC236}">
                    <a16:creationId xmlns:a16="http://schemas.microsoft.com/office/drawing/2014/main" id="{F8523487-DF3A-48D8-A06A-58DFFC27AEA9}"/>
                  </a:ext>
                </a:extLst>
              </p:cNvPr>
              <p:cNvSpPr>
                <a:spLocks/>
              </p:cNvSpPr>
              <p:nvPr/>
            </p:nvSpPr>
            <p:spPr bwMode="auto">
              <a:xfrm>
                <a:off x="3328" y="3583"/>
                <a:ext cx="10" cy="10"/>
              </a:xfrm>
              <a:custGeom>
                <a:avLst/>
                <a:gdLst>
                  <a:gd name="T0" fmla="*/ 9 w 10"/>
                  <a:gd name="T1" fmla="*/ 9 h 10"/>
                  <a:gd name="T2" fmla="*/ 10 w 10"/>
                  <a:gd name="T3" fmla="*/ 5 h 10"/>
                  <a:gd name="T4" fmla="*/ 9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1" y="1"/>
                    </a:lnTo>
                    <a:lnTo>
                      <a:pt x="1" y="1"/>
                    </a:lnTo>
                    <a:lnTo>
                      <a:pt x="0" y="5"/>
                    </a:lnTo>
                    <a:lnTo>
                      <a:pt x="1" y="7"/>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6" name="Freeform 796">
                <a:extLst>
                  <a:ext uri="{FF2B5EF4-FFF2-40B4-BE49-F238E27FC236}">
                    <a16:creationId xmlns:a16="http://schemas.microsoft.com/office/drawing/2014/main" id="{2ED3AC95-2351-43AF-8D77-496F16C2E5A0}"/>
                  </a:ext>
                </a:extLst>
              </p:cNvPr>
              <p:cNvSpPr>
                <a:spLocks/>
              </p:cNvSpPr>
              <p:nvPr/>
            </p:nvSpPr>
            <p:spPr bwMode="auto">
              <a:xfrm>
                <a:off x="3313" y="3594"/>
                <a:ext cx="9" cy="10"/>
              </a:xfrm>
              <a:custGeom>
                <a:avLst/>
                <a:gdLst>
                  <a:gd name="T0" fmla="*/ 8 w 9"/>
                  <a:gd name="T1" fmla="*/ 8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8 h 10"/>
                  <a:gd name="T16" fmla="*/ 4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4" y="0"/>
                    </a:lnTo>
                    <a:lnTo>
                      <a:pt x="1" y="1"/>
                    </a:lnTo>
                    <a:lnTo>
                      <a:pt x="1" y="1"/>
                    </a:lnTo>
                    <a:lnTo>
                      <a:pt x="0" y="5"/>
                    </a:lnTo>
                    <a:lnTo>
                      <a:pt x="1" y="8"/>
                    </a:lnTo>
                    <a:lnTo>
                      <a:pt x="4"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7" name="Freeform 797">
                <a:extLst>
                  <a:ext uri="{FF2B5EF4-FFF2-40B4-BE49-F238E27FC236}">
                    <a16:creationId xmlns:a16="http://schemas.microsoft.com/office/drawing/2014/main" id="{87683E1F-2C71-4CF2-AD6B-068675D289E4}"/>
                  </a:ext>
                </a:extLst>
              </p:cNvPr>
              <p:cNvSpPr>
                <a:spLocks/>
              </p:cNvSpPr>
              <p:nvPr/>
            </p:nvSpPr>
            <p:spPr bwMode="auto">
              <a:xfrm>
                <a:off x="3297" y="3605"/>
                <a:ext cx="10" cy="9"/>
              </a:xfrm>
              <a:custGeom>
                <a:avLst/>
                <a:gdLst>
                  <a:gd name="T0" fmla="*/ 8 w 10"/>
                  <a:gd name="T1" fmla="*/ 8 h 9"/>
                  <a:gd name="T2" fmla="*/ 10 w 10"/>
                  <a:gd name="T3" fmla="*/ 5 h 9"/>
                  <a:gd name="T4" fmla="*/ 8 w 10"/>
                  <a:gd name="T5" fmla="*/ 2 h 9"/>
                  <a:gd name="T6" fmla="*/ 5 w 10"/>
                  <a:gd name="T7" fmla="*/ 0 h 9"/>
                  <a:gd name="T8" fmla="*/ 1 w 10"/>
                  <a:gd name="T9" fmla="*/ 1 h 9"/>
                  <a:gd name="T10" fmla="*/ 1 w 10"/>
                  <a:gd name="T11" fmla="*/ 1 h 9"/>
                  <a:gd name="T12" fmla="*/ 0 w 10"/>
                  <a:gd name="T13" fmla="*/ 5 h 9"/>
                  <a:gd name="T14" fmla="*/ 1 w 10"/>
                  <a:gd name="T15" fmla="*/ 8 h 9"/>
                  <a:gd name="T16" fmla="*/ 5 w 10"/>
                  <a:gd name="T17" fmla="*/ 9 h 9"/>
                  <a:gd name="T18" fmla="*/ 8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8" y="8"/>
                    </a:moveTo>
                    <a:lnTo>
                      <a:pt x="10" y="5"/>
                    </a:lnTo>
                    <a:lnTo>
                      <a:pt x="8" y="2"/>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8" name="Freeform 798">
                <a:extLst>
                  <a:ext uri="{FF2B5EF4-FFF2-40B4-BE49-F238E27FC236}">
                    <a16:creationId xmlns:a16="http://schemas.microsoft.com/office/drawing/2014/main" id="{526EC5BC-CA69-4E8D-A634-D56A874ED759}"/>
                  </a:ext>
                </a:extLst>
              </p:cNvPr>
              <p:cNvSpPr>
                <a:spLocks/>
              </p:cNvSpPr>
              <p:nvPr/>
            </p:nvSpPr>
            <p:spPr bwMode="auto">
              <a:xfrm>
                <a:off x="3281" y="3617"/>
                <a:ext cx="10" cy="9"/>
              </a:xfrm>
              <a:custGeom>
                <a:avLst/>
                <a:gdLst>
                  <a:gd name="T0" fmla="*/ 9 w 10"/>
                  <a:gd name="T1" fmla="*/ 8 h 9"/>
                  <a:gd name="T2" fmla="*/ 10 w 10"/>
                  <a:gd name="T3" fmla="*/ 5 h 9"/>
                  <a:gd name="T4" fmla="*/ 9 w 10"/>
                  <a:gd name="T5" fmla="*/ 1 h 9"/>
                  <a:gd name="T6" fmla="*/ 5 w 10"/>
                  <a:gd name="T7" fmla="*/ 0 h 9"/>
                  <a:gd name="T8" fmla="*/ 2 w 10"/>
                  <a:gd name="T9" fmla="*/ 1 h 9"/>
                  <a:gd name="T10" fmla="*/ 2 w 10"/>
                  <a:gd name="T11" fmla="*/ 1 h 9"/>
                  <a:gd name="T12" fmla="*/ 0 w 10"/>
                  <a:gd name="T13" fmla="*/ 5 h 9"/>
                  <a:gd name="T14" fmla="*/ 2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5"/>
                    </a:lnTo>
                    <a:lnTo>
                      <a:pt x="9" y="1"/>
                    </a:lnTo>
                    <a:lnTo>
                      <a:pt x="5" y="0"/>
                    </a:lnTo>
                    <a:lnTo>
                      <a:pt x="2" y="1"/>
                    </a:lnTo>
                    <a:lnTo>
                      <a:pt x="2" y="1"/>
                    </a:lnTo>
                    <a:lnTo>
                      <a:pt x="0" y="5"/>
                    </a:lnTo>
                    <a:lnTo>
                      <a:pt x="2"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549" name="Group 799">
              <a:extLst>
                <a:ext uri="{FF2B5EF4-FFF2-40B4-BE49-F238E27FC236}">
                  <a16:creationId xmlns:a16="http://schemas.microsoft.com/office/drawing/2014/main" id="{0EE9C5E4-9ED4-4347-B657-FE0C562B6806}"/>
                </a:ext>
              </a:extLst>
            </p:cNvPr>
            <p:cNvGrpSpPr>
              <a:grpSpLocks/>
            </p:cNvGrpSpPr>
            <p:nvPr/>
          </p:nvGrpSpPr>
          <p:grpSpPr bwMode="auto">
            <a:xfrm>
              <a:off x="4160" y="3474"/>
              <a:ext cx="198" cy="535"/>
              <a:chOff x="4160" y="3474"/>
              <a:chExt cx="198" cy="535"/>
            </a:xfrm>
          </p:grpSpPr>
          <p:sp>
            <p:nvSpPr>
              <p:cNvPr id="645" name="Freeform 800">
                <a:extLst>
                  <a:ext uri="{FF2B5EF4-FFF2-40B4-BE49-F238E27FC236}">
                    <a16:creationId xmlns:a16="http://schemas.microsoft.com/office/drawing/2014/main" id="{BA932B9B-0BA5-442D-8F92-F738C262645A}"/>
                  </a:ext>
                </a:extLst>
              </p:cNvPr>
              <p:cNvSpPr>
                <a:spLocks/>
              </p:cNvSpPr>
              <p:nvPr/>
            </p:nvSpPr>
            <p:spPr bwMode="auto">
              <a:xfrm>
                <a:off x="4165" y="3478"/>
                <a:ext cx="188" cy="531"/>
              </a:xfrm>
              <a:custGeom>
                <a:avLst/>
                <a:gdLst>
                  <a:gd name="T0" fmla="*/ 0 w 188"/>
                  <a:gd name="T1" fmla="*/ 156 h 531"/>
                  <a:gd name="T2" fmla="*/ 0 w 188"/>
                  <a:gd name="T3" fmla="*/ 531 h 531"/>
                  <a:gd name="T4" fmla="*/ 188 w 188"/>
                  <a:gd name="T5" fmla="*/ 313 h 531"/>
                  <a:gd name="T6" fmla="*/ 188 w 188"/>
                  <a:gd name="T7" fmla="*/ 0 h 531"/>
                  <a:gd name="T8" fmla="*/ 0 w 188"/>
                  <a:gd name="T9" fmla="*/ 156 h 531"/>
                </a:gdLst>
                <a:ahLst/>
                <a:cxnLst>
                  <a:cxn ang="0">
                    <a:pos x="T0" y="T1"/>
                  </a:cxn>
                  <a:cxn ang="0">
                    <a:pos x="T2" y="T3"/>
                  </a:cxn>
                  <a:cxn ang="0">
                    <a:pos x="T4" y="T5"/>
                  </a:cxn>
                  <a:cxn ang="0">
                    <a:pos x="T6" y="T7"/>
                  </a:cxn>
                  <a:cxn ang="0">
                    <a:pos x="T8" y="T9"/>
                  </a:cxn>
                </a:cxnLst>
                <a:rect l="0" t="0" r="r" b="b"/>
                <a:pathLst>
                  <a:path w="188" h="531">
                    <a:moveTo>
                      <a:pt x="0" y="156"/>
                    </a:moveTo>
                    <a:lnTo>
                      <a:pt x="0" y="531"/>
                    </a:lnTo>
                    <a:lnTo>
                      <a:pt x="188" y="313"/>
                    </a:lnTo>
                    <a:lnTo>
                      <a:pt x="188" y="0"/>
                    </a:lnTo>
                    <a:lnTo>
                      <a:pt x="0" y="156"/>
                    </a:lnTo>
                    <a:close/>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6" name="Freeform 801">
                <a:extLst>
                  <a:ext uri="{FF2B5EF4-FFF2-40B4-BE49-F238E27FC236}">
                    <a16:creationId xmlns:a16="http://schemas.microsoft.com/office/drawing/2014/main" id="{2C097A54-4B22-4F6E-A297-550BBDDD4BCF}"/>
                  </a:ext>
                </a:extLst>
              </p:cNvPr>
              <p:cNvSpPr>
                <a:spLocks/>
              </p:cNvSpPr>
              <p:nvPr/>
            </p:nvSpPr>
            <p:spPr bwMode="auto">
              <a:xfrm>
                <a:off x="4160" y="3629"/>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7" name="Freeform 802">
                <a:extLst>
                  <a:ext uri="{FF2B5EF4-FFF2-40B4-BE49-F238E27FC236}">
                    <a16:creationId xmlns:a16="http://schemas.microsoft.com/office/drawing/2014/main" id="{7D607EF5-A7CF-46E9-8FC4-EB91CEAF7D47}"/>
                  </a:ext>
                </a:extLst>
              </p:cNvPr>
              <p:cNvSpPr>
                <a:spLocks/>
              </p:cNvSpPr>
              <p:nvPr/>
            </p:nvSpPr>
            <p:spPr bwMode="auto">
              <a:xfrm>
                <a:off x="4160" y="3648"/>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8" name="Freeform 803">
                <a:extLst>
                  <a:ext uri="{FF2B5EF4-FFF2-40B4-BE49-F238E27FC236}">
                    <a16:creationId xmlns:a16="http://schemas.microsoft.com/office/drawing/2014/main" id="{AC62D38F-01E8-47A5-B25A-35DB8894283F}"/>
                  </a:ext>
                </a:extLst>
              </p:cNvPr>
              <p:cNvSpPr>
                <a:spLocks/>
              </p:cNvSpPr>
              <p:nvPr/>
            </p:nvSpPr>
            <p:spPr bwMode="auto">
              <a:xfrm>
                <a:off x="4160" y="366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9" name="Freeform 804">
                <a:extLst>
                  <a:ext uri="{FF2B5EF4-FFF2-40B4-BE49-F238E27FC236}">
                    <a16:creationId xmlns:a16="http://schemas.microsoft.com/office/drawing/2014/main" id="{53FD2E85-A626-4DF8-8F71-BA549368DADF}"/>
                  </a:ext>
                </a:extLst>
              </p:cNvPr>
              <p:cNvSpPr>
                <a:spLocks/>
              </p:cNvSpPr>
              <p:nvPr/>
            </p:nvSpPr>
            <p:spPr bwMode="auto">
              <a:xfrm>
                <a:off x="4160" y="3686"/>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0" name="Freeform 805">
                <a:extLst>
                  <a:ext uri="{FF2B5EF4-FFF2-40B4-BE49-F238E27FC236}">
                    <a16:creationId xmlns:a16="http://schemas.microsoft.com/office/drawing/2014/main" id="{8CB07249-DA0E-4390-BBB6-66A0EBC47664}"/>
                  </a:ext>
                </a:extLst>
              </p:cNvPr>
              <p:cNvSpPr>
                <a:spLocks/>
              </p:cNvSpPr>
              <p:nvPr/>
            </p:nvSpPr>
            <p:spPr bwMode="auto">
              <a:xfrm>
                <a:off x="4160" y="3706"/>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1" name="Freeform 806">
                <a:extLst>
                  <a:ext uri="{FF2B5EF4-FFF2-40B4-BE49-F238E27FC236}">
                    <a16:creationId xmlns:a16="http://schemas.microsoft.com/office/drawing/2014/main" id="{B1095BFB-E1F1-47EA-A15E-19D4FBFE55D9}"/>
                  </a:ext>
                </a:extLst>
              </p:cNvPr>
              <p:cNvSpPr>
                <a:spLocks/>
              </p:cNvSpPr>
              <p:nvPr/>
            </p:nvSpPr>
            <p:spPr bwMode="auto">
              <a:xfrm>
                <a:off x="4160" y="3725"/>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2" name="Freeform 807">
                <a:extLst>
                  <a:ext uri="{FF2B5EF4-FFF2-40B4-BE49-F238E27FC236}">
                    <a16:creationId xmlns:a16="http://schemas.microsoft.com/office/drawing/2014/main" id="{6471F102-9D84-457D-8512-3B58EAE012D8}"/>
                  </a:ext>
                </a:extLst>
              </p:cNvPr>
              <p:cNvSpPr>
                <a:spLocks/>
              </p:cNvSpPr>
              <p:nvPr/>
            </p:nvSpPr>
            <p:spPr bwMode="auto">
              <a:xfrm>
                <a:off x="4160" y="3744"/>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3" name="Freeform 808">
                <a:extLst>
                  <a:ext uri="{FF2B5EF4-FFF2-40B4-BE49-F238E27FC236}">
                    <a16:creationId xmlns:a16="http://schemas.microsoft.com/office/drawing/2014/main" id="{9EB4625B-2F87-4552-97EC-8B93BBF6A95C}"/>
                  </a:ext>
                </a:extLst>
              </p:cNvPr>
              <p:cNvSpPr>
                <a:spLocks/>
              </p:cNvSpPr>
              <p:nvPr/>
            </p:nvSpPr>
            <p:spPr bwMode="auto">
              <a:xfrm>
                <a:off x="4160" y="3763"/>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4" name="Freeform 809">
                <a:extLst>
                  <a:ext uri="{FF2B5EF4-FFF2-40B4-BE49-F238E27FC236}">
                    <a16:creationId xmlns:a16="http://schemas.microsoft.com/office/drawing/2014/main" id="{F56B6555-2D49-4F66-8771-5D87CB6D1CB5}"/>
                  </a:ext>
                </a:extLst>
              </p:cNvPr>
              <p:cNvSpPr>
                <a:spLocks/>
              </p:cNvSpPr>
              <p:nvPr/>
            </p:nvSpPr>
            <p:spPr bwMode="auto">
              <a:xfrm>
                <a:off x="4160" y="3782"/>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5" name="Freeform 810">
                <a:extLst>
                  <a:ext uri="{FF2B5EF4-FFF2-40B4-BE49-F238E27FC236}">
                    <a16:creationId xmlns:a16="http://schemas.microsoft.com/office/drawing/2014/main" id="{420E2C88-65DD-44A8-B60F-94057A64137F}"/>
                  </a:ext>
                </a:extLst>
              </p:cNvPr>
              <p:cNvSpPr>
                <a:spLocks/>
              </p:cNvSpPr>
              <p:nvPr/>
            </p:nvSpPr>
            <p:spPr bwMode="auto">
              <a:xfrm>
                <a:off x="4160" y="3802"/>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6" name="Freeform 811">
                <a:extLst>
                  <a:ext uri="{FF2B5EF4-FFF2-40B4-BE49-F238E27FC236}">
                    <a16:creationId xmlns:a16="http://schemas.microsoft.com/office/drawing/2014/main" id="{B0FD108A-809D-4BC7-9CDC-41407FDCAE77}"/>
                  </a:ext>
                </a:extLst>
              </p:cNvPr>
              <p:cNvSpPr>
                <a:spLocks/>
              </p:cNvSpPr>
              <p:nvPr/>
            </p:nvSpPr>
            <p:spPr bwMode="auto">
              <a:xfrm>
                <a:off x="4160" y="3821"/>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7" name="Freeform 812">
                <a:extLst>
                  <a:ext uri="{FF2B5EF4-FFF2-40B4-BE49-F238E27FC236}">
                    <a16:creationId xmlns:a16="http://schemas.microsoft.com/office/drawing/2014/main" id="{53188D12-FBEE-4C3A-91A6-AA391DEE21C1}"/>
                  </a:ext>
                </a:extLst>
              </p:cNvPr>
              <p:cNvSpPr>
                <a:spLocks/>
              </p:cNvSpPr>
              <p:nvPr/>
            </p:nvSpPr>
            <p:spPr bwMode="auto">
              <a:xfrm>
                <a:off x="4160" y="3840"/>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8" name="Freeform 813">
                <a:extLst>
                  <a:ext uri="{FF2B5EF4-FFF2-40B4-BE49-F238E27FC236}">
                    <a16:creationId xmlns:a16="http://schemas.microsoft.com/office/drawing/2014/main" id="{9C39F371-61FB-4109-8925-C5BBCAAD9944}"/>
                  </a:ext>
                </a:extLst>
              </p:cNvPr>
              <p:cNvSpPr>
                <a:spLocks/>
              </p:cNvSpPr>
              <p:nvPr/>
            </p:nvSpPr>
            <p:spPr bwMode="auto">
              <a:xfrm>
                <a:off x="4160" y="3859"/>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9" name="Freeform 814">
                <a:extLst>
                  <a:ext uri="{FF2B5EF4-FFF2-40B4-BE49-F238E27FC236}">
                    <a16:creationId xmlns:a16="http://schemas.microsoft.com/office/drawing/2014/main" id="{25C50F13-709D-4B28-940F-183919470350}"/>
                  </a:ext>
                </a:extLst>
              </p:cNvPr>
              <p:cNvSpPr>
                <a:spLocks/>
              </p:cNvSpPr>
              <p:nvPr/>
            </p:nvSpPr>
            <p:spPr bwMode="auto">
              <a:xfrm>
                <a:off x="4160" y="3879"/>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0" name="Freeform 815">
                <a:extLst>
                  <a:ext uri="{FF2B5EF4-FFF2-40B4-BE49-F238E27FC236}">
                    <a16:creationId xmlns:a16="http://schemas.microsoft.com/office/drawing/2014/main" id="{584ACDA4-1B3E-4FE3-AF37-0ACD82E07259}"/>
                  </a:ext>
                </a:extLst>
              </p:cNvPr>
              <p:cNvSpPr>
                <a:spLocks/>
              </p:cNvSpPr>
              <p:nvPr/>
            </p:nvSpPr>
            <p:spPr bwMode="auto">
              <a:xfrm>
                <a:off x="4160" y="3898"/>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1" name="Freeform 816">
                <a:extLst>
                  <a:ext uri="{FF2B5EF4-FFF2-40B4-BE49-F238E27FC236}">
                    <a16:creationId xmlns:a16="http://schemas.microsoft.com/office/drawing/2014/main" id="{819E45BC-6AC0-4255-B16C-88BC1D3F8DD3}"/>
                  </a:ext>
                </a:extLst>
              </p:cNvPr>
              <p:cNvSpPr>
                <a:spLocks/>
              </p:cNvSpPr>
              <p:nvPr/>
            </p:nvSpPr>
            <p:spPr bwMode="auto">
              <a:xfrm>
                <a:off x="4160" y="391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2" name="Freeform 817">
                <a:extLst>
                  <a:ext uri="{FF2B5EF4-FFF2-40B4-BE49-F238E27FC236}">
                    <a16:creationId xmlns:a16="http://schemas.microsoft.com/office/drawing/2014/main" id="{138E9473-8494-446F-AE01-400977CB5921}"/>
                  </a:ext>
                </a:extLst>
              </p:cNvPr>
              <p:cNvSpPr>
                <a:spLocks/>
              </p:cNvSpPr>
              <p:nvPr/>
            </p:nvSpPr>
            <p:spPr bwMode="auto">
              <a:xfrm>
                <a:off x="4160" y="3936"/>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3" name="Freeform 818">
                <a:extLst>
                  <a:ext uri="{FF2B5EF4-FFF2-40B4-BE49-F238E27FC236}">
                    <a16:creationId xmlns:a16="http://schemas.microsoft.com/office/drawing/2014/main" id="{DFBFCEFC-D03F-49E7-A36F-DE4B01E51E8E}"/>
                  </a:ext>
                </a:extLst>
              </p:cNvPr>
              <p:cNvSpPr>
                <a:spLocks/>
              </p:cNvSpPr>
              <p:nvPr/>
            </p:nvSpPr>
            <p:spPr bwMode="auto">
              <a:xfrm>
                <a:off x="4160" y="3955"/>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4" name="Freeform 819">
                <a:extLst>
                  <a:ext uri="{FF2B5EF4-FFF2-40B4-BE49-F238E27FC236}">
                    <a16:creationId xmlns:a16="http://schemas.microsoft.com/office/drawing/2014/main" id="{895BF8DE-A7F4-489C-9E82-9E51B292F1BB}"/>
                  </a:ext>
                </a:extLst>
              </p:cNvPr>
              <p:cNvSpPr>
                <a:spLocks/>
              </p:cNvSpPr>
              <p:nvPr/>
            </p:nvSpPr>
            <p:spPr bwMode="auto">
              <a:xfrm>
                <a:off x="4160" y="3975"/>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5" name="Freeform 820">
                <a:extLst>
                  <a:ext uri="{FF2B5EF4-FFF2-40B4-BE49-F238E27FC236}">
                    <a16:creationId xmlns:a16="http://schemas.microsoft.com/office/drawing/2014/main" id="{5988D1BC-9678-4725-903D-8B4D16458D73}"/>
                  </a:ext>
                </a:extLst>
              </p:cNvPr>
              <p:cNvSpPr>
                <a:spLocks/>
              </p:cNvSpPr>
              <p:nvPr/>
            </p:nvSpPr>
            <p:spPr bwMode="auto">
              <a:xfrm>
                <a:off x="4160" y="3994"/>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6" name="Freeform 821">
                <a:extLst>
                  <a:ext uri="{FF2B5EF4-FFF2-40B4-BE49-F238E27FC236}">
                    <a16:creationId xmlns:a16="http://schemas.microsoft.com/office/drawing/2014/main" id="{424C4BB7-1DB2-4B71-A93A-1313B62C5D20}"/>
                  </a:ext>
                </a:extLst>
              </p:cNvPr>
              <p:cNvSpPr>
                <a:spLocks/>
              </p:cNvSpPr>
              <p:nvPr/>
            </p:nvSpPr>
            <p:spPr bwMode="auto">
              <a:xfrm>
                <a:off x="4166" y="3999"/>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7" name="Freeform 822">
                <a:extLst>
                  <a:ext uri="{FF2B5EF4-FFF2-40B4-BE49-F238E27FC236}">
                    <a16:creationId xmlns:a16="http://schemas.microsoft.com/office/drawing/2014/main" id="{04B93BC4-506D-492E-9189-A6A57E19C0A2}"/>
                  </a:ext>
                </a:extLst>
              </p:cNvPr>
              <p:cNvSpPr>
                <a:spLocks/>
              </p:cNvSpPr>
              <p:nvPr/>
            </p:nvSpPr>
            <p:spPr bwMode="auto">
              <a:xfrm>
                <a:off x="4178" y="3984"/>
                <a:ext cx="10" cy="10"/>
              </a:xfrm>
              <a:custGeom>
                <a:avLst/>
                <a:gdLst>
                  <a:gd name="T0" fmla="*/ 1 w 10"/>
                  <a:gd name="T1" fmla="*/ 1 h 10"/>
                  <a:gd name="T2" fmla="*/ 0 w 10"/>
                  <a:gd name="T3" fmla="*/ 5 h 10"/>
                  <a:gd name="T4" fmla="*/ 1 w 10"/>
                  <a:gd name="T5" fmla="*/ 7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9"/>
                    </a:lnTo>
                    <a:lnTo>
                      <a:pt x="9" y="9"/>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8" name="Freeform 823">
                <a:extLst>
                  <a:ext uri="{FF2B5EF4-FFF2-40B4-BE49-F238E27FC236}">
                    <a16:creationId xmlns:a16="http://schemas.microsoft.com/office/drawing/2014/main" id="{3A170900-FB43-4BAA-9F6F-6C61FE9E3C2F}"/>
                  </a:ext>
                </a:extLst>
              </p:cNvPr>
              <p:cNvSpPr>
                <a:spLocks/>
              </p:cNvSpPr>
              <p:nvPr/>
            </p:nvSpPr>
            <p:spPr bwMode="auto">
              <a:xfrm>
                <a:off x="4190" y="3969"/>
                <a:ext cx="10" cy="9"/>
              </a:xfrm>
              <a:custGeom>
                <a:avLst/>
                <a:gdLst>
                  <a:gd name="T0" fmla="*/ 1 w 10"/>
                  <a:gd name="T1" fmla="*/ 1 h 9"/>
                  <a:gd name="T2" fmla="*/ 0 w 10"/>
                  <a:gd name="T3" fmla="*/ 4 h 9"/>
                  <a:gd name="T4" fmla="*/ 3 w 10"/>
                  <a:gd name="T5" fmla="*/ 8 h 9"/>
                  <a:gd name="T6" fmla="*/ 5 w 10"/>
                  <a:gd name="T7" fmla="*/ 9 h 9"/>
                  <a:gd name="T8" fmla="*/ 9 w 10"/>
                  <a:gd name="T9" fmla="*/ 8 h 9"/>
                  <a:gd name="T10" fmla="*/ 9 w 10"/>
                  <a:gd name="T11" fmla="*/ 8 h 9"/>
                  <a:gd name="T12" fmla="*/ 10 w 10"/>
                  <a:gd name="T13" fmla="*/ 4 h 9"/>
                  <a:gd name="T14" fmla="*/ 9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3" y="8"/>
                    </a:lnTo>
                    <a:lnTo>
                      <a:pt x="5" y="9"/>
                    </a:lnTo>
                    <a:lnTo>
                      <a:pt x="9" y="8"/>
                    </a:lnTo>
                    <a:lnTo>
                      <a:pt x="9" y="8"/>
                    </a:lnTo>
                    <a:lnTo>
                      <a:pt x="10" y="4"/>
                    </a:lnTo>
                    <a:lnTo>
                      <a:pt x="9"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9" name="Freeform 824">
                <a:extLst>
                  <a:ext uri="{FF2B5EF4-FFF2-40B4-BE49-F238E27FC236}">
                    <a16:creationId xmlns:a16="http://schemas.microsoft.com/office/drawing/2014/main" id="{CDD6E23E-9D9B-458E-A762-2ADB3CF81D76}"/>
                  </a:ext>
                </a:extLst>
              </p:cNvPr>
              <p:cNvSpPr>
                <a:spLocks/>
              </p:cNvSpPr>
              <p:nvPr/>
            </p:nvSpPr>
            <p:spPr bwMode="auto">
              <a:xfrm>
                <a:off x="4203" y="3954"/>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3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3"/>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0" name="Freeform 825">
                <a:extLst>
                  <a:ext uri="{FF2B5EF4-FFF2-40B4-BE49-F238E27FC236}">
                    <a16:creationId xmlns:a16="http://schemas.microsoft.com/office/drawing/2014/main" id="{0095ADF3-7450-41C6-8761-42DB7266EAD4}"/>
                  </a:ext>
                </a:extLst>
              </p:cNvPr>
              <p:cNvSpPr>
                <a:spLocks/>
              </p:cNvSpPr>
              <p:nvPr/>
            </p:nvSpPr>
            <p:spPr bwMode="auto">
              <a:xfrm>
                <a:off x="4215" y="3940"/>
                <a:ext cx="10" cy="9"/>
              </a:xfrm>
              <a:custGeom>
                <a:avLst/>
                <a:gdLst>
                  <a:gd name="T0" fmla="*/ 2 w 10"/>
                  <a:gd name="T1" fmla="*/ 1 h 9"/>
                  <a:gd name="T2" fmla="*/ 0 w 10"/>
                  <a:gd name="T3" fmla="*/ 5 h 9"/>
                  <a:gd name="T4" fmla="*/ 3 w 10"/>
                  <a:gd name="T5" fmla="*/ 8 h 9"/>
                  <a:gd name="T6" fmla="*/ 5 w 10"/>
                  <a:gd name="T7" fmla="*/ 9 h 9"/>
                  <a:gd name="T8" fmla="*/ 9 w 10"/>
                  <a:gd name="T9" fmla="*/ 8 h 9"/>
                  <a:gd name="T10" fmla="*/ 9 w 10"/>
                  <a:gd name="T11" fmla="*/ 8 h 9"/>
                  <a:gd name="T12" fmla="*/ 10 w 10"/>
                  <a:gd name="T13" fmla="*/ 5 h 9"/>
                  <a:gd name="T14" fmla="*/ 9 w 10"/>
                  <a:gd name="T15" fmla="*/ 1 h 9"/>
                  <a:gd name="T16" fmla="*/ 5 w 10"/>
                  <a:gd name="T17" fmla="*/ 0 h 9"/>
                  <a:gd name="T18" fmla="*/ 2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2" y="1"/>
                    </a:moveTo>
                    <a:lnTo>
                      <a:pt x="0" y="5"/>
                    </a:lnTo>
                    <a:lnTo>
                      <a:pt x="3" y="8"/>
                    </a:lnTo>
                    <a:lnTo>
                      <a:pt x="5" y="9"/>
                    </a:lnTo>
                    <a:lnTo>
                      <a:pt x="9" y="8"/>
                    </a:lnTo>
                    <a:lnTo>
                      <a:pt x="9" y="8"/>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1" name="Freeform 826">
                <a:extLst>
                  <a:ext uri="{FF2B5EF4-FFF2-40B4-BE49-F238E27FC236}">
                    <a16:creationId xmlns:a16="http://schemas.microsoft.com/office/drawing/2014/main" id="{176BEA25-1C09-42BA-82A3-28222C7A62E8}"/>
                  </a:ext>
                </a:extLst>
              </p:cNvPr>
              <p:cNvSpPr>
                <a:spLocks/>
              </p:cNvSpPr>
              <p:nvPr/>
            </p:nvSpPr>
            <p:spPr bwMode="auto">
              <a:xfrm>
                <a:off x="4229" y="3925"/>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2" name="Freeform 827">
                <a:extLst>
                  <a:ext uri="{FF2B5EF4-FFF2-40B4-BE49-F238E27FC236}">
                    <a16:creationId xmlns:a16="http://schemas.microsoft.com/office/drawing/2014/main" id="{D650B983-AC56-48F9-BA0B-271D31E0BFE0}"/>
                  </a:ext>
                </a:extLst>
              </p:cNvPr>
              <p:cNvSpPr>
                <a:spLocks/>
              </p:cNvSpPr>
              <p:nvPr/>
            </p:nvSpPr>
            <p:spPr bwMode="auto">
              <a:xfrm>
                <a:off x="4241" y="3911"/>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3" name="Freeform 828">
                <a:extLst>
                  <a:ext uri="{FF2B5EF4-FFF2-40B4-BE49-F238E27FC236}">
                    <a16:creationId xmlns:a16="http://schemas.microsoft.com/office/drawing/2014/main" id="{9EE376B0-EBEC-42F0-B035-B81268794541}"/>
                  </a:ext>
                </a:extLst>
              </p:cNvPr>
              <p:cNvSpPr>
                <a:spLocks/>
              </p:cNvSpPr>
              <p:nvPr/>
            </p:nvSpPr>
            <p:spPr bwMode="auto">
              <a:xfrm>
                <a:off x="4254" y="3897"/>
                <a:ext cx="9" cy="9"/>
              </a:xfrm>
              <a:custGeom>
                <a:avLst/>
                <a:gdLst>
                  <a:gd name="T0" fmla="*/ 1 w 9"/>
                  <a:gd name="T1" fmla="*/ 1 h 9"/>
                  <a:gd name="T2" fmla="*/ 0 w 9"/>
                  <a:gd name="T3" fmla="*/ 4 h 9"/>
                  <a:gd name="T4" fmla="*/ 1 w 9"/>
                  <a:gd name="T5" fmla="*/ 8 h 9"/>
                  <a:gd name="T6" fmla="*/ 5 w 9"/>
                  <a:gd name="T7" fmla="*/ 9 h 9"/>
                  <a:gd name="T8" fmla="*/ 8 w 9"/>
                  <a:gd name="T9" fmla="*/ 8 h 9"/>
                  <a:gd name="T10" fmla="*/ 8 w 9"/>
                  <a:gd name="T11" fmla="*/ 8 h 9"/>
                  <a:gd name="T12" fmla="*/ 9 w 9"/>
                  <a:gd name="T13" fmla="*/ 4 h 9"/>
                  <a:gd name="T14" fmla="*/ 8 w 9"/>
                  <a:gd name="T15" fmla="*/ 1 h 9"/>
                  <a:gd name="T16" fmla="*/ 5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5" y="9"/>
                    </a:lnTo>
                    <a:lnTo>
                      <a:pt x="8" y="8"/>
                    </a:lnTo>
                    <a:lnTo>
                      <a:pt x="8" y="8"/>
                    </a:lnTo>
                    <a:lnTo>
                      <a:pt x="9" y="4"/>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4" name="Freeform 829">
                <a:extLst>
                  <a:ext uri="{FF2B5EF4-FFF2-40B4-BE49-F238E27FC236}">
                    <a16:creationId xmlns:a16="http://schemas.microsoft.com/office/drawing/2014/main" id="{F8D41E6B-4617-4E27-B53B-2E7C7E3F8E8E}"/>
                  </a:ext>
                </a:extLst>
              </p:cNvPr>
              <p:cNvSpPr>
                <a:spLocks/>
              </p:cNvSpPr>
              <p:nvPr/>
            </p:nvSpPr>
            <p:spPr bwMode="auto">
              <a:xfrm>
                <a:off x="4266" y="3882"/>
                <a:ext cx="9" cy="10"/>
              </a:xfrm>
              <a:custGeom>
                <a:avLst/>
                <a:gdLst>
                  <a:gd name="T0" fmla="*/ 1 w 9"/>
                  <a:gd name="T1" fmla="*/ 1 h 10"/>
                  <a:gd name="T2" fmla="*/ 0 w 9"/>
                  <a:gd name="T3" fmla="*/ 5 h 10"/>
                  <a:gd name="T4" fmla="*/ 1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5" name="Freeform 830">
                <a:extLst>
                  <a:ext uri="{FF2B5EF4-FFF2-40B4-BE49-F238E27FC236}">
                    <a16:creationId xmlns:a16="http://schemas.microsoft.com/office/drawing/2014/main" id="{87327DEB-932B-4CF9-A8EF-C9ACF2BB8600}"/>
                  </a:ext>
                </a:extLst>
              </p:cNvPr>
              <p:cNvSpPr>
                <a:spLocks/>
              </p:cNvSpPr>
              <p:nvPr/>
            </p:nvSpPr>
            <p:spPr bwMode="auto">
              <a:xfrm>
                <a:off x="4279" y="3868"/>
                <a:ext cx="10" cy="9"/>
              </a:xfrm>
              <a:custGeom>
                <a:avLst/>
                <a:gdLst>
                  <a:gd name="T0" fmla="*/ 1 w 10"/>
                  <a:gd name="T1" fmla="*/ 1 h 9"/>
                  <a:gd name="T2" fmla="*/ 0 w 10"/>
                  <a:gd name="T3" fmla="*/ 5 h 9"/>
                  <a:gd name="T4" fmla="*/ 1 w 10"/>
                  <a:gd name="T5" fmla="*/ 7 h 9"/>
                  <a:gd name="T6" fmla="*/ 5 w 10"/>
                  <a:gd name="T7" fmla="*/ 9 h 9"/>
                  <a:gd name="T8" fmla="*/ 8 w 10"/>
                  <a:gd name="T9" fmla="*/ 8 h 9"/>
                  <a:gd name="T10" fmla="*/ 8 w 10"/>
                  <a:gd name="T11" fmla="*/ 8 h 9"/>
                  <a:gd name="T12" fmla="*/ 10 w 10"/>
                  <a:gd name="T13" fmla="*/ 5 h 9"/>
                  <a:gd name="T14" fmla="*/ 8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7"/>
                    </a:lnTo>
                    <a:lnTo>
                      <a:pt x="5" y="9"/>
                    </a:lnTo>
                    <a:lnTo>
                      <a:pt x="8" y="8"/>
                    </a:lnTo>
                    <a:lnTo>
                      <a:pt x="8" y="8"/>
                    </a:lnTo>
                    <a:lnTo>
                      <a:pt x="10"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6" name="Freeform 831">
                <a:extLst>
                  <a:ext uri="{FF2B5EF4-FFF2-40B4-BE49-F238E27FC236}">
                    <a16:creationId xmlns:a16="http://schemas.microsoft.com/office/drawing/2014/main" id="{919EA3C7-EFCA-4BDC-9248-B6979DD37402}"/>
                  </a:ext>
                </a:extLst>
              </p:cNvPr>
              <p:cNvSpPr>
                <a:spLocks/>
              </p:cNvSpPr>
              <p:nvPr/>
            </p:nvSpPr>
            <p:spPr bwMode="auto">
              <a:xfrm>
                <a:off x="4291" y="3853"/>
                <a:ext cx="10" cy="10"/>
              </a:xfrm>
              <a:custGeom>
                <a:avLst/>
                <a:gdLst>
                  <a:gd name="T0" fmla="*/ 1 w 10"/>
                  <a:gd name="T1" fmla="*/ 2 h 10"/>
                  <a:gd name="T2" fmla="*/ 0 w 10"/>
                  <a:gd name="T3" fmla="*/ 5 h 10"/>
                  <a:gd name="T4" fmla="*/ 1 w 10"/>
                  <a:gd name="T5" fmla="*/ 8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8"/>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7" name="Freeform 832">
                <a:extLst>
                  <a:ext uri="{FF2B5EF4-FFF2-40B4-BE49-F238E27FC236}">
                    <a16:creationId xmlns:a16="http://schemas.microsoft.com/office/drawing/2014/main" id="{32B98D1D-B353-4CC7-BB50-57C2B0A2A168}"/>
                  </a:ext>
                </a:extLst>
              </p:cNvPr>
              <p:cNvSpPr>
                <a:spLocks/>
              </p:cNvSpPr>
              <p:nvPr/>
            </p:nvSpPr>
            <p:spPr bwMode="auto">
              <a:xfrm>
                <a:off x="4304" y="3838"/>
                <a:ext cx="10" cy="9"/>
              </a:xfrm>
              <a:custGeom>
                <a:avLst/>
                <a:gdLst>
                  <a:gd name="T0" fmla="*/ 1 w 10"/>
                  <a:gd name="T1" fmla="*/ 1 h 9"/>
                  <a:gd name="T2" fmla="*/ 0 w 10"/>
                  <a:gd name="T3" fmla="*/ 5 h 9"/>
                  <a:gd name="T4" fmla="*/ 1 w 10"/>
                  <a:gd name="T5" fmla="*/ 8 h 9"/>
                  <a:gd name="T6" fmla="*/ 5 w 10"/>
                  <a:gd name="T7" fmla="*/ 9 h 9"/>
                  <a:gd name="T8" fmla="*/ 9 w 10"/>
                  <a:gd name="T9" fmla="*/ 8 h 9"/>
                  <a:gd name="T10" fmla="*/ 9 w 10"/>
                  <a:gd name="T11" fmla="*/ 8 h 9"/>
                  <a:gd name="T12" fmla="*/ 10 w 10"/>
                  <a:gd name="T13" fmla="*/ 5 h 9"/>
                  <a:gd name="T14" fmla="*/ 7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8"/>
                    </a:lnTo>
                    <a:lnTo>
                      <a:pt x="5" y="9"/>
                    </a:lnTo>
                    <a:lnTo>
                      <a:pt x="9" y="8"/>
                    </a:lnTo>
                    <a:lnTo>
                      <a:pt x="9" y="8"/>
                    </a:lnTo>
                    <a:lnTo>
                      <a:pt x="10" y="5"/>
                    </a:lnTo>
                    <a:lnTo>
                      <a:pt x="7"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8" name="Freeform 833">
                <a:extLst>
                  <a:ext uri="{FF2B5EF4-FFF2-40B4-BE49-F238E27FC236}">
                    <a16:creationId xmlns:a16="http://schemas.microsoft.com/office/drawing/2014/main" id="{0272A18D-89CC-45FD-BA76-DBA343DDB632}"/>
                  </a:ext>
                </a:extLst>
              </p:cNvPr>
              <p:cNvSpPr>
                <a:spLocks/>
              </p:cNvSpPr>
              <p:nvPr/>
            </p:nvSpPr>
            <p:spPr bwMode="auto">
              <a:xfrm>
                <a:off x="4316" y="3823"/>
                <a:ext cx="10" cy="10"/>
              </a:xfrm>
              <a:custGeom>
                <a:avLst/>
                <a:gdLst>
                  <a:gd name="T0" fmla="*/ 1 w 10"/>
                  <a:gd name="T1" fmla="*/ 2 h 10"/>
                  <a:gd name="T2" fmla="*/ 0 w 10"/>
                  <a:gd name="T3" fmla="*/ 5 h 10"/>
                  <a:gd name="T4" fmla="*/ 1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9" y="9"/>
                    </a:lnTo>
                    <a:lnTo>
                      <a:pt x="9" y="9"/>
                    </a:lnTo>
                    <a:lnTo>
                      <a:pt x="10" y="5"/>
                    </a:lnTo>
                    <a:lnTo>
                      <a:pt x="9"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9" name="Freeform 834">
                <a:extLst>
                  <a:ext uri="{FF2B5EF4-FFF2-40B4-BE49-F238E27FC236}">
                    <a16:creationId xmlns:a16="http://schemas.microsoft.com/office/drawing/2014/main" id="{EF4B6A37-669A-4BE1-BF70-9C9E2825738F}"/>
                  </a:ext>
                </a:extLst>
              </p:cNvPr>
              <p:cNvSpPr>
                <a:spLocks/>
              </p:cNvSpPr>
              <p:nvPr/>
            </p:nvSpPr>
            <p:spPr bwMode="auto">
              <a:xfrm>
                <a:off x="4328" y="3809"/>
                <a:ext cx="10" cy="10"/>
              </a:xfrm>
              <a:custGeom>
                <a:avLst/>
                <a:gdLst>
                  <a:gd name="T0" fmla="*/ 1 w 10"/>
                  <a:gd name="T1" fmla="*/ 1 h 10"/>
                  <a:gd name="T2" fmla="*/ 0 w 10"/>
                  <a:gd name="T3" fmla="*/ 5 h 10"/>
                  <a:gd name="T4" fmla="*/ 3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3"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0" name="Freeform 835">
                <a:extLst>
                  <a:ext uri="{FF2B5EF4-FFF2-40B4-BE49-F238E27FC236}">
                    <a16:creationId xmlns:a16="http://schemas.microsoft.com/office/drawing/2014/main" id="{B7E17970-AE5D-4469-A62F-DF31902F8170}"/>
                  </a:ext>
                </a:extLst>
              </p:cNvPr>
              <p:cNvSpPr>
                <a:spLocks/>
              </p:cNvSpPr>
              <p:nvPr/>
            </p:nvSpPr>
            <p:spPr bwMode="auto">
              <a:xfrm>
                <a:off x="4341" y="3794"/>
                <a:ext cx="10" cy="10"/>
              </a:xfrm>
              <a:custGeom>
                <a:avLst/>
                <a:gdLst>
                  <a:gd name="T0" fmla="*/ 2 w 10"/>
                  <a:gd name="T1" fmla="*/ 2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9"/>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1" name="Freeform 836">
                <a:extLst>
                  <a:ext uri="{FF2B5EF4-FFF2-40B4-BE49-F238E27FC236}">
                    <a16:creationId xmlns:a16="http://schemas.microsoft.com/office/drawing/2014/main" id="{3ACF5BF0-1537-48C3-84E2-1EE2C12DC951}"/>
                  </a:ext>
                </a:extLst>
              </p:cNvPr>
              <p:cNvSpPr>
                <a:spLocks/>
              </p:cNvSpPr>
              <p:nvPr/>
            </p:nvSpPr>
            <p:spPr bwMode="auto">
              <a:xfrm>
                <a:off x="4349" y="3778"/>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2" name="Freeform 837">
                <a:extLst>
                  <a:ext uri="{FF2B5EF4-FFF2-40B4-BE49-F238E27FC236}">
                    <a16:creationId xmlns:a16="http://schemas.microsoft.com/office/drawing/2014/main" id="{4DD41F16-D180-48BB-AC91-32DB29AF687A}"/>
                  </a:ext>
                </a:extLst>
              </p:cNvPr>
              <p:cNvSpPr>
                <a:spLocks/>
              </p:cNvSpPr>
              <p:nvPr/>
            </p:nvSpPr>
            <p:spPr bwMode="auto">
              <a:xfrm>
                <a:off x="4349" y="3758"/>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3" name="Freeform 838">
                <a:extLst>
                  <a:ext uri="{FF2B5EF4-FFF2-40B4-BE49-F238E27FC236}">
                    <a16:creationId xmlns:a16="http://schemas.microsoft.com/office/drawing/2014/main" id="{B654AA8B-E8DC-4E04-AF30-A2DC7B92E528}"/>
                  </a:ext>
                </a:extLst>
              </p:cNvPr>
              <p:cNvSpPr>
                <a:spLocks/>
              </p:cNvSpPr>
              <p:nvPr/>
            </p:nvSpPr>
            <p:spPr bwMode="auto">
              <a:xfrm>
                <a:off x="4349" y="3739"/>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4" name="Freeform 839">
                <a:extLst>
                  <a:ext uri="{FF2B5EF4-FFF2-40B4-BE49-F238E27FC236}">
                    <a16:creationId xmlns:a16="http://schemas.microsoft.com/office/drawing/2014/main" id="{C280D0A6-7408-47E7-BA00-7A2B3EDF8F12}"/>
                  </a:ext>
                </a:extLst>
              </p:cNvPr>
              <p:cNvSpPr>
                <a:spLocks/>
              </p:cNvSpPr>
              <p:nvPr/>
            </p:nvSpPr>
            <p:spPr bwMode="auto">
              <a:xfrm>
                <a:off x="4349" y="3720"/>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5" name="Freeform 840">
                <a:extLst>
                  <a:ext uri="{FF2B5EF4-FFF2-40B4-BE49-F238E27FC236}">
                    <a16:creationId xmlns:a16="http://schemas.microsoft.com/office/drawing/2014/main" id="{59188A8F-2124-4C02-B9E4-E2D3A44FDF77}"/>
                  </a:ext>
                </a:extLst>
              </p:cNvPr>
              <p:cNvSpPr>
                <a:spLocks/>
              </p:cNvSpPr>
              <p:nvPr/>
            </p:nvSpPr>
            <p:spPr bwMode="auto">
              <a:xfrm>
                <a:off x="4349" y="3701"/>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6" name="Freeform 841">
                <a:extLst>
                  <a:ext uri="{FF2B5EF4-FFF2-40B4-BE49-F238E27FC236}">
                    <a16:creationId xmlns:a16="http://schemas.microsoft.com/office/drawing/2014/main" id="{B4226D47-0D2C-41FB-B9CA-E5863341B3FA}"/>
                  </a:ext>
                </a:extLst>
              </p:cNvPr>
              <p:cNvSpPr>
                <a:spLocks/>
              </p:cNvSpPr>
              <p:nvPr/>
            </p:nvSpPr>
            <p:spPr bwMode="auto">
              <a:xfrm>
                <a:off x="4349" y="3682"/>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7" name="Freeform 842">
                <a:extLst>
                  <a:ext uri="{FF2B5EF4-FFF2-40B4-BE49-F238E27FC236}">
                    <a16:creationId xmlns:a16="http://schemas.microsoft.com/office/drawing/2014/main" id="{C9711F80-3041-49FA-AE96-4F492C86ADB0}"/>
                  </a:ext>
                </a:extLst>
              </p:cNvPr>
              <p:cNvSpPr>
                <a:spLocks/>
              </p:cNvSpPr>
              <p:nvPr/>
            </p:nvSpPr>
            <p:spPr bwMode="auto">
              <a:xfrm>
                <a:off x="4349" y="3662"/>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8" name="Freeform 843">
                <a:extLst>
                  <a:ext uri="{FF2B5EF4-FFF2-40B4-BE49-F238E27FC236}">
                    <a16:creationId xmlns:a16="http://schemas.microsoft.com/office/drawing/2014/main" id="{DB8E3E3A-7F38-4680-B09A-519DBAEFF926}"/>
                  </a:ext>
                </a:extLst>
              </p:cNvPr>
              <p:cNvSpPr>
                <a:spLocks/>
              </p:cNvSpPr>
              <p:nvPr/>
            </p:nvSpPr>
            <p:spPr bwMode="auto">
              <a:xfrm>
                <a:off x="4349" y="3643"/>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9" name="Freeform 844">
                <a:extLst>
                  <a:ext uri="{FF2B5EF4-FFF2-40B4-BE49-F238E27FC236}">
                    <a16:creationId xmlns:a16="http://schemas.microsoft.com/office/drawing/2014/main" id="{FB4D8AD0-5A80-43BB-BB8A-DE8C83858546}"/>
                  </a:ext>
                </a:extLst>
              </p:cNvPr>
              <p:cNvSpPr>
                <a:spLocks/>
              </p:cNvSpPr>
              <p:nvPr/>
            </p:nvSpPr>
            <p:spPr bwMode="auto">
              <a:xfrm>
                <a:off x="4349" y="3624"/>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0" name="Freeform 845">
                <a:extLst>
                  <a:ext uri="{FF2B5EF4-FFF2-40B4-BE49-F238E27FC236}">
                    <a16:creationId xmlns:a16="http://schemas.microsoft.com/office/drawing/2014/main" id="{0A3482F9-26F9-4AB6-B52E-E858616D9772}"/>
                  </a:ext>
                </a:extLst>
              </p:cNvPr>
              <p:cNvSpPr>
                <a:spLocks/>
              </p:cNvSpPr>
              <p:nvPr/>
            </p:nvSpPr>
            <p:spPr bwMode="auto">
              <a:xfrm>
                <a:off x="4349" y="3605"/>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1" name="Freeform 846">
                <a:extLst>
                  <a:ext uri="{FF2B5EF4-FFF2-40B4-BE49-F238E27FC236}">
                    <a16:creationId xmlns:a16="http://schemas.microsoft.com/office/drawing/2014/main" id="{F4D3AE8E-7A31-40DC-8088-1F92248879F2}"/>
                  </a:ext>
                </a:extLst>
              </p:cNvPr>
              <p:cNvSpPr>
                <a:spLocks/>
              </p:cNvSpPr>
              <p:nvPr/>
            </p:nvSpPr>
            <p:spPr bwMode="auto">
              <a:xfrm>
                <a:off x="4349" y="3586"/>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2" name="Freeform 847">
                <a:extLst>
                  <a:ext uri="{FF2B5EF4-FFF2-40B4-BE49-F238E27FC236}">
                    <a16:creationId xmlns:a16="http://schemas.microsoft.com/office/drawing/2014/main" id="{00DA39A2-49A0-4474-A23B-00AE594C208C}"/>
                  </a:ext>
                </a:extLst>
              </p:cNvPr>
              <p:cNvSpPr>
                <a:spLocks/>
              </p:cNvSpPr>
              <p:nvPr/>
            </p:nvSpPr>
            <p:spPr bwMode="auto">
              <a:xfrm>
                <a:off x="4349" y="3566"/>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3" name="Freeform 848">
                <a:extLst>
                  <a:ext uri="{FF2B5EF4-FFF2-40B4-BE49-F238E27FC236}">
                    <a16:creationId xmlns:a16="http://schemas.microsoft.com/office/drawing/2014/main" id="{995D9C72-A822-4688-84F4-AB5995076BD9}"/>
                  </a:ext>
                </a:extLst>
              </p:cNvPr>
              <p:cNvSpPr>
                <a:spLocks/>
              </p:cNvSpPr>
              <p:nvPr/>
            </p:nvSpPr>
            <p:spPr bwMode="auto">
              <a:xfrm>
                <a:off x="4349" y="3547"/>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4" name="Freeform 849">
                <a:extLst>
                  <a:ext uri="{FF2B5EF4-FFF2-40B4-BE49-F238E27FC236}">
                    <a16:creationId xmlns:a16="http://schemas.microsoft.com/office/drawing/2014/main" id="{6BAB55F2-6D94-4050-8F1A-3BF0D52C6DD1}"/>
                  </a:ext>
                </a:extLst>
              </p:cNvPr>
              <p:cNvSpPr>
                <a:spLocks/>
              </p:cNvSpPr>
              <p:nvPr/>
            </p:nvSpPr>
            <p:spPr bwMode="auto">
              <a:xfrm>
                <a:off x="4349" y="3528"/>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5" name="Freeform 850">
                <a:extLst>
                  <a:ext uri="{FF2B5EF4-FFF2-40B4-BE49-F238E27FC236}">
                    <a16:creationId xmlns:a16="http://schemas.microsoft.com/office/drawing/2014/main" id="{ECEF2EB0-D31D-4AB2-AA06-2EB3184B2E5B}"/>
                  </a:ext>
                </a:extLst>
              </p:cNvPr>
              <p:cNvSpPr>
                <a:spLocks/>
              </p:cNvSpPr>
              <p:nvPr/>
            </p:nvSpPr>
            <p:spPr bwMode="auto">
              <a:xfrm>
                <a:off x="4349" y="3509"/>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6" name="Freeform 851">
                <a:extLst>
                  <a:ext uri="{FF2B5EF4-FFF2-40B4-BE49-F238E27FC236}">
                    <a16:creationId xmlns:a16="http://schemas.microsoft.com/office/drawing/2014/main" id="{BA2250E8-60BA-46EF-82DC-863F6D3C47DE}"/>
                  </a:ext>
                </a:extLst>
              </p:cNvPr>
              <p:cNvSpPr>
                <a:spLocks/>
              </p:cNvSpPr>
              <p:nvPr/>
            </p:nvSpPr>
            <p:spPr bwMode="auto">
              <a:xfrm>
                <a:off x="4349" y="3490"/>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7" name="Freeform 852">
                <a:extLst>
                  <a:ext uri="{FF2B5EF4-FFF2-40B4-BE49-F238E27FC236}">
                    <a16:creationId xmlns:a16="http://schemas.microsoft.com/office/drawing/2014/main" id="{4CAB87E3-416D-4D47-8217-A1FB59F5CAF7}"/>
                  </a:ext>
                </a:extLst>
              </p:cNvPr>
              <p:cNvSpPr>
                <a:spLocks/>
              </p:cNvSpPr>
              <p:nvPr/>
            </p:nvSpPr>
            <p:spPr bwMode="auto">
              <a:xfrm>
                <a:off x="4347" y="347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8" name="Freeform 853">
                <a:extLst>
                  <a:ext uri="{FF2B5EF4-FFF2-40B4-BE49-F238E27FC236}">
                    <a16:creationId xmlns:a16="http://schemas.microsoft.com/office/drawing/2014/main" id="{C4359DA7-0F0F-41E2-8598-A4AAFDA15B18}"/>
                  </a:ext>
                </a:extLst>
              </p:cNvPr>
              <p:cNvSpPr>
                <a:spLocks/>
              </p:cNvSpPr>
              <p:nvPr/>
            </p:nvSpPr>
            <p:spPr bwMode="auto">
              <a:xfrm>
                <a:off x="4332" y="3486"/>
                <a:ext cx="9" cy="10"/>
              </a:xfrm>
              <a:custGeom>
                <a:avLst/>
                <a:gdLst>
                  <a:gd name="T0" fmla="*/ 8 w 9"/>
                  <a:gd name="T1" fmla="*/ 8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2 w 9"/>
                  <a:gd name="T15" fmla="*/ 8 h 10"/>
                  <a:gd name="T16" fmla="*/ 5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5" y="0"/>
                    </a:lnTo>
                    <a:lnTo>
                      <a:pt x="1" y="1"/>
                    </a:lnTo>
                    <a:lnTo>
                      <a:pt x="1" y="1"/>
                    </a:lnTo>
                    <a:lnTo>
                      <a:pt x="0" y="5"/>
                    </a:lnTo>
                    <a:lnTo>
                      <a:pt x="2"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9" name="Freeform 854">
                <a:extLst>
                  <a:ext uri="{FF2B5EF4-FFF2-40B4-BE49-F238E27FC236}">
                    <a16:creationId xmlns:a16="http://schemas.microsoft.com/office/drawing/2014/main" id="{70373562-DBE0-4781-BC54-578BA68554C2}"/>
                  </a:ext>
                </a:extLst>
              </p:cNvPr>
              <p:cNvSpPr>
                <a:spLocks/>
              </p:cNvSpPr>
              <p:nvPr/>
            </p:nvSpPr>
            <p:spPr bwMode="auto">
              <a:xfrm>
                <a:off x="4317" y="3498"/>
                <a:ext cx="10" cy="10"/>
              </a:xfrm>
              <a:custGeom>
                <a:avLst/>
                <a:gdLst>
                  <a:gd name="T0" fmla="*/ 9 w 10"/>
                  <a:gd name="T1" fmla="*/ 8 h 10"/>
                  <a:gd name="T2" fmla="*/ 10 w 10"/>
                  <a:gd name="T3" fmla="*/ 5 h 10"/>
                  <a:gd name="T4" fmla="*/ 9 w 10"/>
                  <a:gd name="T5" fmla="*/ 2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2"/>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0" name="Freeform 855">
                <a:extLst>
                  <a:ext uri="{FF2B5EF4-FFF2-40B4-BE49-F238E27FC236}">
                    <a16:creationId xmlns:a16="http://schemas.microsoft.com/office/drawing/2014/main" id="{EE4B4A52-D731-49B9-A208-D5E2008B3C4E}"/>
                  </a:ext>
                </a:extLst>
              </p:cNvPr>
              <p:cNvSpPr>
                <a:spLocks/>
              </p:cNvSpPr>
              <p:nvPr/>
            </p:nvSpPr>
            <p:spPr bwMode="auto">
              <a:xfrm>
                <a:off x="4303" y="3511"/>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7"/>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1" name="Freeform 856">
                <a:extLst>
                  <a:ext uri="{FF2B5EF4-FFF2-40B4-BE49-F238E27FC236}">
                    <a16:creationId xmlns:a16="http://schemas.microsoft.com/office/drawing/2014/main" id="{9181ECE8-6E42-4411-BB89-F9E376E06449}"/>
                  </a:ext>
                </a:extLst>
              </p:cNvPr>
              <p:cNvSpPr>
                <a:spLocks/>
              </p:cNvSpPr>
              <p:nvPr/>
            </p:nvSpPr>
            <p:spPr bwMode="auto">
              <a:xfrm>
                <a:off x="4287" y="3523"/>
                <a:ext cx="10" cy="10"/>
              </a:xfrm>
              <a:custGeom>
                <a:avLst/>
                <a:gdLst>
                  <a:gd name="T0" fmla="*/ 9 w 10"/>
                  <a:gd name="T1" fmla="*/ 9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3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2" y="1"/>
                    </a:lnTo>
                    <a:lnTo>
                      <a:pt x="2" y="1"/>
                    </a:lnTo>
                    <a:lnTo>
                      <a:pt x="0" y="5"/>
                    </a:lnTo>
                    <a:lnTo>
                      <a:pt x="3"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2" name="Freeform 857">
                <a:extLst>
                  <a:ext uri="{FF2B5EF4-FFF2-40B4-BE49-F238E27FC236}">
                    <a16:creationId xmlns:a16="http://schemas.microsoft.com/office/drawing/2014/main" id="{4B7EFF5A-8525-4F72-B886-5C55E1FF3D75}"/>
                  </a:ext>
                </a:extLst>
              </p:cNvPr>
              <p:cNvSpPr>
                <a:spLocks/>
              </p:cNvSpPr>
              <p:nvPr/>
            </p:nvSpPr>
            <p:spPr bwMode="auto">
              <a:xfrm>
                <a:off x="4273" y="3535"/>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3" name="Freeform 858">
                <a:extLst>
                  <a:ext uri="{FF2B5EF4-FFF2-40B4-BE49-F238E27FC236}">
                    <a16:creationId xmlns:a16="http://schemas.microsoft.com/office/drawing/2014/main" id="{F6EE95A7-0900-4590-A2E3-172A0708E462}"/>
                  </a:ext>
                </a:extLst>
              </p:cNvPr>
              <p:cNvSpPr>
                <a:spLocks/>
              </p:cNvSpPr>
              <p:nvPr/>
            </p:nvSpPr>
            <p:spPr bwMode="auto">
              <a:xfrm>
                <a:off x="4259" y="3547"/>
                <a:ext cx="9" cy="10"/>
              </a:xfrm>
              <a:custGeom>
                <a:avLst/>
                <a:gdLst>
                  <a:gd name="T0" fmla="*/ 8 w 9"/>
                  <a:gd name="T1" fmla="*/ 9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4" name="Freeform 859">
                <a:extLst>
                  <a:ext uri="{FF2B5EF4-FFF2-40B4-BE49-F238E27FC236}">
                    <a16:creationId xmlns:a16="http://schemas.microsoft.com/office/drawing/2014/main" id="{D74F553C-7255-4EF3-8E7B-B1E0F1271CDA}"/>
                  </a:ext>
                </a:extLst>
              </p:cNvPr>
              <p:cNvSpPr>
                <a:spLocks/>
              </p:cNvSpPr>
              <p:nvPr/>
            </p:nvSpPr>
            <p:spPr bwMode="auto">
              <a:xfrm>
                <a:off x="4243" y="3559"/>
                <a:ext cx="10" cy="10"/>
              </a:xfrm>
              <a:custGeom>
                <a:avLst/>
                <a:gdLst>
                  <a:gd name="T0" fmla="*/ 8 w 10"/>
                  <a:gd name="T1" fmla="*/ 9 h 10"/>
                  <a:gd name="T2" fmla="*/ 10 w 10"/>
                  <a:gd name="T3" fmla="*/ 5 h 10"/>
                  <a:gd name="T4" fmla="*/ 8 w 10"/>
                  <a:gd name="T5" fmla="*/ 3 h 10"/>
                  <a:gd name="T6" fmla="*/ 5 w 10"/>
                  <a:gd name="T7" fmla="*/ 0 h 10"/>
                  <a:gd name="T8" fmla="*/ 1 w 10"/>
                  <a:gd name="T9" fmla="*/ 1 h 10"/>
                  <a:gd name="T10" fmla="*/ 1 w 10"/>
                  <a:gd name="T11" fmla="*/ 1 h 10"/>
                  <a:gd name="T12" fmla="*/ 0 w 10"/>
                  <a:gd name="T13" fmla="*/ 5 h 10"/>
                  <a:gd name="T14" fmla="*/ 2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3"/>
                    </a:lnTo>
                    <a:lnTo>
                      <a:pt x="5" y="0"/>
                    </a:lnTo>
                    <a:lnTo>
                      <a:pt x="1" y="1"/>
                    </a:lnTo>
                    <a:lnTo>
                      <a:pt x="1" y="1"/>
                    </a:lnTo>
                    <a:lnTo>
                      <a:pt x="0" y="5"/>
                    </a:lnTo>
                    <a:lnTo>
                      <a:pt x="2"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5" name="Freeform 860">
                <a:extLst>
                  <a:ext uri="{FF2B5EF4-FFF2-40B4-BE49-F238E27FC236}">
                    <a16:creationId xmlns:a16="http://schemas.microsoft.com/office/drawing/2014/main" id="{C2D76FFB-4B9D-47CE-B116-73FE29B75114}"/>
                  </a:ext>
                </a:extLst>
              </p:cNvPr>
              <p:cNvSpPr>
                <a:spLocks/>
              </p:cNvSpPr>
              <p:nvPr/>
            </p:nvSpPr>
            <p:spPr bwMode="auto">
              <a:xfrm>
                <a:off x="4229" y="3572"/>
                <a:ext cx="9" cy="10"/>
              </a:xfrm>
              <a:custGeom>
                <a:avLst/>
                <a:gdLst>
                  <a:gd name="T0" fmla="*/ 8 w 9"/>
                  <a:gd name="T1" fmla="*/ 9 h 10"/>
                  <a:gd name="T2" fmla="*/ 9 w 9"/>
                  <a:gd name="T3" fmla="*/ 5 h 10"/>
                  <a:gd name="T4" fmla="*/ 8 w 9"/>
                  <a:gd name="T5" fmla="*/ 2 h 10"/>
                  <a:gd name="T6" fmla="*/ 4 w 9"/>
                  <a:gd name="T7" fmla="*/ 0 h 10"/>
                  <a:gd name="T8" fmla="*/ 1 w 9"/>
                  <a:gd name="T9" fmla="*/ 2 h 10"/>
                  <a:gd name="T10" fmla="*/ 1 w 9"/>
                  <a:gd name="T11" fmla="*/ 2 h 10"/>
                  <a:gd name="T12" fmla="*/ 0 w 9"/>
                  <a:gd name="T13" fmla="*/ 5 h 10"/>
                  <a:gd name="T14" fmla="*/ 1 w 9"/>
                  <a:gd name="T15" fmla="*/ 8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2"/>
                    </a:lnTo>
                    <a:lnTo>
                      <a:pt x="4" y="0"/>
                    </a:lnTo>
                    <a:lnTo>
                      <a:pt x="1" y="2"/>
                    </a:lnTo>
                    <a:lnTo>
                      <a:pt x="1" y="2"/>
                    </a:lnTo>
                    <a:lnTo>
                      <a:pt x="0" y="5"/>
                    </a:lnTo>
                    <a:lnTo>
                      <a:pt x="1" y="8"/>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6" name="Freeform 861">
                <a:extLst>
                  <a:ext uri="{FF2B5EF4-FFF2-40B4-BE49-F238E27FC236}">
                    <a16:creationId xmlns:a16="http://schemas.microsoft.com/office/drawing/2014/main" id="{38FDA2F7-1AAD-4535-8361-04BEF809ABFB}"/>
                  </a:ext>
                </a:extLst>
              </p:cNvPr>
              <p:cNvSpPr>
                <a:spLocks/>
              </p:cNvSpPr>
              <p:nvPr/>
            </p:nvSpPr>
            <p:spPr bwMode="auto">
              <a:xfrm>
                <a:off x="4214" y="3584"/>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7" name="Freeform 862">
                <a:extLst>
                  <a:ext uri="{FF2B5EF4-FFF2-40B4-BE49-F238E27FC236}">
                    <a16:creationId xmlns:a16="http://schemas.microsoft.com/office/drawing/2014/main" id="{FC8B09AB-02F8-4618-AC4C-C53D7F5BAC88}"/>
                  </a:ext>
                </a:extLst>
              </p:cNvPr>
              <p:cNvSpPr>
                <a:spLocks/>
              </p:cNvSpPr>
              <p:nvPr/>
            </p:nvSpPr>
            <p:spPr bwMode="auto">
              <a:xfrm>
                <a:off x="4199" y="3596"/>
                <a:ext cx="10" cy="10"/>
              </a:xfrm>
              <a:custGeom>
                <a:avLst/>
                <a:gdLst>
                  <a:gd name="T0" fmla="*/ 9 w 10"/>
                  <a:gd name="T1" fmla="*/ 9 h 10"/>
                  <a:gd name="T2" fmla="*/ 10 w 10"/>
                  <a:gd name="T3" fmla="*/ 5 h 10"/>
                  <a:gd name="T4" fmla="*/ 8 w 10"/>
                  <a:gd name="T5" fmla="*/ 2 h 10"/>
                  <a:gd name="T6" fmla="*/ 6 w 10"/>
                  <a:gd name="T7" fmla="*/ 0 h 10"/>
                  <a:gd name="T8" fmla="*/ 2 w 10"/>
                  <a:gd name="T9" fmla="*/ 2 h 10"/>
                  <a:gd name="T10" fmla="*/ 1 w 10"/>
                  <a:gd name="T11" fmla="*/ 2 h 10"/>
                  <a:gd name="T12" fmla="*/ 0 w 10"/>
                  <a:gd name="T13" fmla="*/ 5 h 10"/>
                  <a:gd name="T14" fmla="*/ 2 w 10"/>
                  <a:gd name="T15" fmla="*/ 9 h 10"/>
                  <a:gd name="T16" fmla="*/ 4 w 10"/>
                  <a:gd name="T17" fmla="*/ 10 h 10"/>
                  <a:gd name="T18" fmla="*/ 8 w 10"/>
                  <a:gd name="T19" fmla="*/ 9 h 10"/>
                  <a:gd name="T20" fmla="*/ 9 w 10"/>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0">
                    <a:moveTo>
                      <a:pt x="9" y="9"/>
                    </a:moveTo>
                    <a:lnTo>
                      <a:pt x="10" y="5"/>
                    </a:lnTo>
                    <a:lnTo>
                      <a:pt x="8" y="2"/>
                    </a:lnTo>
                    <a:lnTo>
                      <a:pt x="6" y="0"/>
                    </a:lnTo>
                    <a:lnTo>
                      <a:pt x="2" y="2"/>
                    </a:lnTo>
                    <a:lnTo>
                      <a:pt x="1" y="2"/>
                    </a:lnTo>
                    <a:lnTo>
                      <a:pt x="0" y="5"/>
                    </a:lnTo>
                    <a:lnTo>
                      <a:pt x="2" y="9"/>
                    </a:lnTo>
                    <a:lnTo>
                      <a:pt x="4" y="10"/>
                    </a:lnTo>
                    <a:lnTo>
                      <a:pt x="8" y="9"/>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8" name="Freeform 863">
                <a:extLst>
                  <a:ext uri="{FF2B5EF4-FFF2-40B4-BE49-F238E27FC236}">
                    <a16:creationId xmlns:a16="http://schemas.microsoft.com/office/drawing/2014/main" id="{1E5F605A-0839-4DB7-947C-567CE3547214}"/>
                  </a:ext>
                </a:extLst>
              </p:cNvPr>
              <p:cNvSpPr>
                <a:spLocks/>
              </p:cNvSpPr>
              <p:nvPr/>
            </p:nvSpPr>
            <p:spPr bwMode="auto">
              <a:xfrm>
                <a:off x="4184" y="3608"/>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9" name="Freeform 864">
                <a:extLst>
                  <a:ext uri="{FF2B5EF4-FFF2-40B4-BE49-F238E27FC236}">
                    <a16:creationId xmlns:a16="http://schemas.microsoft.com/office/drawing/2014/main" id="{230C441D-1497-456E-934A-51F69C7D2FE9}"/>
                  </a:ext>
                </a:extLst>
              </p:cNvPr>
              <p:cNvSpPr>
                <a:spLocks/>
              </p:cNvSpPr>
              <p:nvPr/>
            </p:nvSpPr>
            <p:spPr bwMode="auto">
              <a:xfrm>
                <a:off x="4170" y="3620"/>
                <a:ext cx="9" cy="11"/>
              </a:xfrm>
              <a:custGeom>
                <a:avLst/>
                <a:gdLst>
                  <a:gd name="T0" fmla="*/ 8 w 9"/>
                  <a:gd name="T1" fmla="*/ 9 h 11"/>
                  <a:gd name="T2" fmla="*/ 9 w 9"/>
                  <a:gd name="T3" fmla="*/ 5 h 11"/>
                  <a:gd name="T4" fmla="*/ 8 w 9"/>
                  <a:gd name="T5" fmla="*/ 3 h 11"/>
                  <a:gd name="T6" fmla="*/ 5 w 9"/>
                  <a:gd name="T7" fmla="*/ 0 h 11"/>
                  <a:gd name="T8" fmla="*/ 1 w 9"/>
                  <a:gd name="T9" fmla="*/ 2 h 11"/>
                  <a:gd name="T10" fmla="*/ 1 w 9"/>
                  <a:gd name="T11" fmla="*/ 3 h 11"/>
                  <a:gd name="T12" fmla="*/ 0 w 9"/>
                  <a:gd name="T13" fmla="*/ 6 h 11"/>
                  <a:gd name="T14" fmla="*/ 1 w 9"/>
                  <a:gd name="T15" fmla="*/ 9 h 11"/>
                  <a:gd name="T16" fmla="*/ 5 w 9"/>
                  <a:gd name="T17" fmla="*/ 11 h 11"/>
                  <a:gd name="T18" fmla="*/ 8 w 9"/>
                  <a:gd name="T19" fmla="*/ 10 h 11"/>
                  <a:gd name="T20" fmla="*/ 8 w 9"/>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8" y="9"/>
                    </a:moveTo>
                    <a:lnTo>
                      <a:pt x="9" y="5"/>
                    </a:lnTo>
                    <a:lnTo>
                      <a:pt x="8" y="3"/>
                    </a:lnTo>
                    <a:lnTo>
                      <a:pt x="5" y="0"/>
                    </a:lnTo>
                    <a:lnTo>
                      <a:pt x="1" y="2"/>
                    </a:lnTo>
                    <a:lnTo>
                      <a:pt x="1" y="3"/>
                    </a:lnTo>
                    <a:lnTo>
                      <a:pt x="0" y="6"/>
                    </a:lnTo>
                    <a:lnTo>
                      <a:pt x="1" y="9"/>
                    </a:lnTo>
                    <a:lnTo>
                      <a:pt x="5" y="11"/>
                    </a:lnTo>
                    <a:lnTo>
                      <a:pt x="8"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550" name="Oval 865">
              <a:extLst>
                <a:ext uri="{FF2B5EF4-FFF2-40B4-BE49-F238E27FC236}">
                  <a16:creationId xmlns:a16="http://schemas.microsoft.com/office/drawing/2014/main" id="{E6551A0F-17C5-4E66-8CE6-8604AE24FABC}"/>
                </a:ext>
              </a:extLst>
            </p:cNvPr>
            <p:cNvSpPr>
              <a:spLocks noChangeArrowheads="1"/>
            </p:cNvSpPr>
            <p:nvPr/>
          </p:nvSpPr>
          <p:spPr bwMode="auto">
            <a:xfrm>
              <a:off x="3907" y="3958"/>
              <a:ext cx="2"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1" name="Oval 866">
              <a:extLst>
                <a:ext uri="{FF2B5EF4-FFF2-40B4-BE49-F238E27FC236}">
                  <a16:creationId xmlns:a16="http://schemas.microsoft.com/office/drawing/2014/main" id="{DB1F8518-5C76-4C49-AC42-57921EE516D2}"/>
                </a:ext>
              </a:extLst>
            </p:cNvPr>
            <p:cNvSpPr>
              <a:spLocks noChangeArrowheads="1"/>
            </p:cNvSpPr>
            <p:nvPr/>
          </p:nvSpPr>
          <p:spPr bwMode="auto">
            <a:xfrm>
              <a:off x="3949"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2" name="Oval 867">
              <a:extLst>
                <a:ext uri="{FF2B5EF4-FFF2-40B4-BE49-F238E27FC236}">
                  <a16:creationId xmlns:a16="http://schemas.microsoft.com/office/drawing/2014/main" id="{2CC877A9-329E-4BB7-BDFF-5C3E5C84E934}"/>
                </a:ext>
              </a:extLst>
            </p:cNvPr>
            <p:cNvSpPr>
              <a:spLocks noChangeArrowheads="1"/>
            </p:cNvSpPr>
            <p:nvPr/>
          </p:nvSpPr>
          <p:spPr bwMode="auto">
            <a:xfrm>
              <a:off x="3967"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3" name="Rectangle 868">
              <a:extLst>
                <a:ext uri="{FF2B5EF4-FFF2-40B4-BE49-F238E27FC236}">
                  <a16:creationId xmlns:a16="http://schemas.microsoft.com/office/drawing/2014/main" id="{BDC94BC3-8688-437F-BAB5-189C0B8E76BB}"/>
                </a:ext>
              </a:extLst>
            </p:cNvPr>
            <p:cNvSpPr>
              <a:spLocks noChangeArrowheads="1"/>
            </p:cNvSpPr>
            <p:nvPr/>
          </p:nvSpPr>
          <p:spPr bwMode="auto">
            <a:xfrm>
              <a:off x="3294" y="3677"/>
              <a:ext cx="819" cy="31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4" name="Line 869">
              <a:extLst>
                <a:ext uri="{FF2B5EF4-FFF2-40B4-BE49-F238E27FC236}">
                  <a16:creationId xmlns:a16="http://schemas.microsoft.com/office/drawing/2014/main" id="{083A7432-0CBF-4133-92AF-C382755E2CA9}"/>
                </a:ext>
              </a:extLst>
            </p:cNvPr>
            <p:cNvSpPr>
              <a:spLocks noChangeShapeType="1"/>
            </p:cNvSpPr>
            <p:nvPr/>
          </p:nvSpPr>
          <p:spPr bwMode="auto">
            <a:xfrm>
              <a:off x="4076"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5" name="Line 870">
              <a:extLst>
                <a:ext uri="{FF2B5EF4-FFF2-40B4-BE49-F238E27FC236}">
                  <a16:creationId xmlns:a16="http://schemas.microsoft.com/office/drawing/2014/main" id="{12F3F584-4B0F-4E21-80AC-760061342372}"/>
                </a:ext>
              </a:extLst>
            </p:cNvPr>
            <p:cNvSpPr>
              <a:spLocks noChangeShapeType="1"/>
            </p:cNvSpPr>
            <p:nvPr/>
          </p:nvSpPr>
          <p:spPr bwMode="auto">
            <a:xfrm>
              <a:off x="401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6" name="Line 871">
              <a:extLst>
                <a:ext uri="{FF2B5EF4-FFF2-40B4-BE49-F238E27FC236}">
                  <a16:creationId xmlns:a16="http://schemas.microsoft.com/office/drawing/2014/main" id="{F47FAB09-E900-43D6-9392-D2DD3FC0AA9F}"/>
                </a:ext>
              </a:extLst>
            </p:cNvPr>
            <p:cNvSpPr>
              <a:spLocks noChangeShapeType="1"/>
            </p:cNvSpPr>
            <p:nvPr/>
          </p:nvSpPr>
          <p:spPr bwMode="auto">
            <a:xfrm>
              <a:off x="329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7" name="Line 872">
              <a:extLst>
                <a:ext uri="{FF2B5EF4-FFF2-40B4-BE49-F238E27FC236}">
                  <a16:creationId xmlns:a16="http://schemas.microsoft.com/office/drawing/2014/main" id="{E331EDC0-F08D-446D-876E-85DF0AC1AC85}"/>
                </a:ext>
              </a:extLst>
            </p:cNvPr>
            <p:cNvSpPr>
              <a:spLocks noChangeShapeType="1"/>
            </p:cNvSpPr>
            <p:nvPr/>
          </p:nvSpPr>
          <p:spPr bwMode="auto">
            <a:xfrm flipH="1">
              <a:off x="3278" y="3947"/>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8" name="Rectangle 873">
              <a:extLst>
                <a:ext uri="{FF2B5EF4-FFF2-40B4-BE49-F238E27FC236}">
                  <a16:creationId xmlns:a16="http://schemas.microsoft.com/office/drawing/2014/main" id="{141FF101-D72D-45D9-9524-49C0BF81C462}"/>
                </a:ext>
              </a:extLst>
            </p:cNvPr>
            <p:cNvSpPr>
              <a:spLocks noChangeArrowheads="1"/>
            </p:cNvSpPr>
            <p:nvPr/>
          </p:nvSpPr>
          <p:spPr bwMode="auto">
            <a:xfrm>
              <a:off x="3349" y="3894"/>
              <a:ext cx="8"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9" name="Rectangle 874">
              <a:extLst>
                <a:ext uri="{FF2B5EF4-FFF2-40B4-BE49-F238E27FC236}">
                  <a16:creationId xmlns:a16="http://schemas.microsoft.com/office/drawing/2014/main" id="{4FA4A6BD-BEB7-47DE-9690-4DB942C9DB65}"/>
                </a:ext>
              </a:extLst>
            </p:cNvPr>
            <p:cNvSpPr>
              <a:spLocks noChangeArrowheads="1"/>
            </p:cNvSpPr>
            <p:nvPr/>
          </p:nvSpPr>
          <p:spPr bwMode="auto">
            <a:xfrm>
              <a:off x="3362" y="3889"/>
              <a:ext cx="9" cy="3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0" name="Rectangle 875">
              <a:extLst>
                <a:ext uri="{FF2B5EF4-FFF2-40B4-BE49-F238E27FC236}">
                  <a16:creationId xmlns:a16="http://schemas.microsoft.com/office/drawing/2014/main" id="{EC29DE13-89E1-4801-9100-86B91A3FCD4A}"/>
                </a:ext>
              </a:extLst>
            </p:cNvPr>
            <p:cNvSpPr>
              <a:spLocks noChangeArrowheads="1"/>
            </p:cNvSpPr>
            <p:nvPr/>
          </p:nvSpPr>
          <p:spPr bwMode="auto">
            <a:xfrm>
              <a:off x="3415"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1" name="Rectangle 876">
              <a:extLst>
                <a:ext uri="{FF2B5EF4-FFF2-40B4-BE49-F238E27FC236}">
                  <a16:creationId xmlns:a16="http://schemas.microsoft.com/office/drawing/2014/main" id="{832E28A6-19E9-4098-B350-E56B3F14FD60}"/>
                </a:ext>
              </a:extLst>
            </p:cNvPr>
            <p:cNvSpPr>
              <a:spLocks noChangeArrowheads="1"/>
            </p:cNvSpPr>
            <p:nvPr/>
          </p:nvSpPr>
          <p:spPr bwMode="auto">
            <a:xfrm>
              <a:off x="3426"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2" name="Rectangle 877">
              <a:extLst>
                <a:ext uri="{FF2B5EF4-FFF2-40B4-BE49-F238E27FC236}">
                  <a16:creationId xmlns:a16="http://schemas.microsoft.com/office/drawing/2014/main" id="{93510026-7D43-428D-886F-0487CE19C1B9}"/>
                </a:ext>
              </a:extLst>
            </p:cNvPr>
            <p:cNvSpPr>
              <a:spLocks noChangeArrowheads="1"/>
            </p:cNvSpPr>
            <p:nvPr/>
          </p:nvSpPr>
          <p:spPr bwMode="auto">
            <a:xfrm>
              <a:off x="3446" y="3894"/>
              <a:ext cx="4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3" name="Rectangle 878">
              <a:extLst>
                <a:ext uri="{FF2B5EF4-FFF2-40B4-BE49-F238E27FC236}">
                  <a16:creationId xmlns:a16="http://schemas.microsoft.com/office/drawing/2014/main" id="{F8360CF7-F9DB-4512-B6F0-A5EDFE09B2C9}"/>
                </a:ext>
              </a:extLst>
            </p:cNvPr>
            <p:cNvSpPr>
              <a:spLocks noChangeArrowheads="1"/>
            </p:cNvSpPr>
            <p:nvPr/>
          </p:nvSpPr>
          <p:spPr bwMode="auto">
            <a:xfrm>
              <a:off x="3495"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4" name="Rectangle 879">
              <a:extLst>
                <a:ext uri="{FF2B5EF4-FFF2-40B4-BE49-F238E27FC236}">
                  <a16:creationId xmlns:a16="http://schemas.microsoft.com/office/drawing/2014/main" id="{2CEF264A-F577-4C49-8D99-B08AEC92D05F}"/>
                </a:ext>
              </a:extLst>
            </p:cNvPr>
            <p:cNvSpPr>
              <a:spLocks noChangeArrowheads="1"/>
            </p:cNvSpPr>
            <p:nvPr/>
          </p:nvSpPr>
          <p:spPr bwMode="auto">
            <a:xfrm>
              <a:off x="3514" y="3894"/>
              <a:ext cx="1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5" name="Rectangle 880">
              <a:extLst>
                <a:ext uri="{FF2B5EF4-FFF2-40B4-BE49-F238E27FC236}">
                  <a16:creationId xmlns:a16="http://schemas.microsoft.com/office/drawing/2014/main" id="{8343114E-73E7-4C81-8CAD-48890C6058BC}"/>
                </a:ext>
              </a:extLst>
            </p:cNvPr>
            <p:cNvSpPr>
              <a:spLocks noChangeArrowheads="1"/>
            </p:cNvSpPr>
            <p:nvPr/>
          </p:nvSpPr>
          <p:spPr bwMode="auto">
            <a:xfrm>
              <a:off x="3545" y="3894"/>
              <a:ext cx="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6" name="Rectangle 881">
              <a:extLst>
                <a:ext uri="{FF2B5EF4-FFF2-40B4-BE49-F238E27FC236}">
                  <a16:creationId xmlns:a16="http://schemas.microsoft.com/office/drawing/2014/main" id="{DF2393C8-985B-4C19-9ED3-D97633874C50}"/>
                </a:ext>
              </a:extLst>
            </p:cNvPr>
            <p:cNvSpPr>
              <a:spLocks noChangeArrowheads="1"/>
            </p:cNvSpPr>
            <p:nvPr/>
          </p:nvSpPr>
          <p:spPr bwMode="auto">
            <a:xfrm>
              <a:off x="3573" y="3894"/>
              <a:ext cx="4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7" name="Rectangle 882">
              <a:extLst>
                <a:ext uri="{FF2B5EF4-FFF2-40B4-BE49-F238E27FC236}">
                  <a16:creationId xmlns:a16="http://schemas.microsoft.com/office/drawing/2014/main" id="{444E4D43-E8BF-4D34-8E67-D6CAFC120C1B}"/>
                </a:ext>
              </a:extLst>
            </p:cNvPr>
            <p:cNvSpPr>
              <a:spLocks noChangeArrowheads="1"/>
            </p:cNvSpPr>
            <p:nvPr/>
          </p:nvSpPr>
          <p:spPr bwMode="auto">
            <a:xfrm>
              <a:off x="3631"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8" name="Rectangle 883">
              <a:extLst>
                <a:ext uri="{FF2B5EF4-FFF2-40B4-BE49-F238E27FC236}">
                  <a16:creationId xmlns:a16="http://schemas.microsoft.com/office/drawing/2014/main" id="{2EDA997F-A8C8-4819-808B-7F9FD8CFD318}"/>
                </a:ext>
              </a:extLst>
            </p:cNvPr>
            <p:cNvSpPr>
              <a:spLocks noChangeArrowheads="1"/>
            </p:cNvSpPr>
            <p:nvPr/>
          </p:nvSpPr>
          <p:spPr bwMode="auto">
            <a:xfrm>
              <a:off x="3672" y="3894"/>
              <a:ext cx="1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9" name="Rectangle 884">
              <a:extLst>
                <a:ext uri="{FF2B5EF4-FFF2-40B4-BE49-F238E27FC236}">
                  <a16:creationId xmlns:a16="http://schemas.microsoft.com/office/drawing/2014/main" id="{D8FE7FA2-C1F6-4C99-AAAD-AB7FA663D14B}"/>
                </a:ext>
              </a:extLst>
            </p:cNvPr>
            <p:cNvSpPr>
              <a:spLocks noChangeArrowheads="1"/>
            </p:cNvSpPr>
            <p:nvPr/>
          </p:nvSpPr>
          <p:spPr bwMode="auto">
            <a:xfrm>
              <a:off x="3693"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0" name="Oval 885">
              <a:extLst>
                <a:ext uri="{FF2B5EF4-FFF2-40B4-BE49-F238E27FC236}">
                  <a16:creationId xmlns:a16="http://schemas.microsoft.com/office/drawing/2014/main" id="{59CECC62-B783-4796-941E-C940DF645C74}"/>
                </a:ext>
              </a:extLst>
            </p:cNvPr>
            <p:cNvSpPr>
              <a:spLocks noChangeArrowheads="1"/>
            </p:cNvSpPr>
            <p:nvPr/>
          </p:nvSpPr>
          <p:spPr bwMode="auto">
            <a:xfrm>
              <a:off x="3344"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1" name="Oval 886">
              <a:extLst>
                <a:ext uri="{FF2B5EF4-FFF2-40B4-BE49-F238E27FC236}">
                  <a16:creationId xmlns:a16="http://schemas.microsoft.com/office/drawing/2014/main" id="{583EA535-16EC-46D4-BDE5-1FEEB5C4745B}"/>
                </a:ext>
              </a:extLst>
            </p:cNvPr>
            <p:cNvSpPr>
              <a:spLocks noChangeArrowheads="1"/>
            </p:cNvSpPr>
            <p:nvPr/>
          </p:nvSpPr>
          <p:spPr bwMode="auto">
            <a:xfrm>
              <a:off x="3362" y="3881"/>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2" name="Oval 887">
              <a:extLst>
                <a:ext uri="{FF2B5EF4-FFF2-40B4-BE49-F238E27FC236}">
                  <a16:creationId xmlns:a16="http://schemas.microsoft.com/office/drawing/2014/main" id="{031D19CE-4513-4E46-A612-0F2146C950F7}"/>
                </a:ext>
              </a:extLst>
            </p:cNvPr>
            <p:cNvSpPr>
              <a:spLocks noChangeArrowheads="1"/>
            </p:cNvSpPr>
            <p:nvPr/>
          </p:nvSpPr>
          <p:spPr bwMode="auto">
            <a:xfrm>
              <a:off x="3405" y="3876"/>
              <a:ext cx="20"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3" name="Oval 888">
              <a:extLst>
                <a:ext uri="{FF2B5EF4-FFF2-40B4-BE49-F238E27FC236}">
                  <a16:creationId xmlns:a16="http://schemas.microsoft.com/office/drawing/2014/main" id="{6C70FA75-CBC0-457A-B0F4-BFB098D9B137}"/>
                </a:ext>
              </a:extLst>
            </p:cNvPr>
            <p:cNvSpPr>
              <a:spLocks noChangeArrowheads="1"/>
            </p:cNvSpPr>
            <p:nvPr/>
          </p:nvSpPr>
          <p:spPr bwMode="auto">
            <a:xfrm>
              <a:off x="3421"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4" name="Oval 889">
              <a:extLst>
                <a:ext uri="{FF2B5EF4-FFF2-40B4-BE49-F238E27FC236}">
                  <a16:creationId xmlns:a16="http://schemas.microsoft.com/office/drawing/2014/main" id="{035066B4-0AB9-4988-96BD-47391DDF3FFB}"/>
                </a:ext>
              </a:extLst>
            </p:cNvPr>
            <p:cNvSpPr>
              <a:spLocks noChangeArrowheads="1"/>
            </p:cNvSpPr>
            <p:nvPr/>
          </p:nvSpPr>
          <p:spPr bwMode="auto">
            <a:xfrm>
              <a:off x="3446" y="3886"/>
              <a:ext cx="3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5" name="Oval 890">
              <a:extLst>
                <a:ext uri="{FF2B5EF4-FFF2-40B4-BE49-F238E27FC236}">
                  <a16:creationId xmlns:a16="http://schemas.microsoft.com/office/drawing/2014/main" id="{78E3C3F2-29CA-48AD-9709-7DE19C7F8115}"/>
                </a:ext>
              </a:extLst>
            </p:cNvPr>
            <p:cNvSpPr>
              <a:spLocks noChangeArrowheads="1"/>
            </p:cNvSpPr>
            <p:nvPr/>
          </p:nvSpPr>
          <p:spPr bwMode="auto">
            <a:xfrm>
              <a:off x="3495"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6" name="Oval 891">
              <a:extLst>
                <a:ext uri="{FF2B5EF4-FFF2-40B4-BE49-F238E27FC236}">
                  <a16:creationId xmlns:a16="http://schemas.microsoft.com/office/drawing/2014/main" id="{9817305C-3EEB-4D80-90F9-CE6A4148F01F}"/>
                </a:ext>
              </a:extLst>
            </p:cNvPr>
            <p:cNvSpPr>
              <a:spLocks noChangeArrowheads="1"/>
            </p:cNvSpPr>
            <p:nvPr/>
          </p:nvSpPr>
          <p:spPr bwMode="auto">
            <a:xfrm>
              <a:off x="3514" y="3886"/>
              <a:ext cx="11"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7" name="Oval 892">
              <a:extLst>
                <a:ext uri="{FF2B5EF4-FFF2-40B4-BE49-F238E27FC236}">
                  <a16:creationId xmlns:a16="http://schemas.microsoft.com/office/drawing/2014/main" id="{4DD3EA75-E10C-478D-B573-CAE3B00E4262}"/>
                </a:ext>
              </a:extLst>
            </p:cNvPr>
            <p:cNvSpPr>
              <a:spLocks noChangeArrowheads="1"/>
            </p:cNvSpPr>
            <p:nvPr/>
          </p:nvSpPr>
          <p:spPr bwMode="auto">
            <a:xfrm>
              <a:off x="3540"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8" name="Oval 893">
              <a:extLst>
                <a:ext uri="{FF2B5EF4-FFF2-40B4-BE49-F238E27FC236}">
                  <a16:creationId xmlns:a16="http://schemas.microsoft.com/office/drawing/2014/main" id="{458F55C9-5181-4D90-A45D-A85733C0974C}"/>
                </a:ext>
              </a:extLst>
            </p:cNvPr>
            <p:cNvSpPr>
              <a:spLocks noChangeArrowheads="1"/>
            </p:cNvSpPr>
            <p:nvPr/>
          </p:nvSpPr>
          <p:spPr bwMode="auto">
            <a:xfrm>
              <a:off x="3619"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9" name="Oval 894">
              <a:extLst>
                <a:ext uri="{FF2B5EF4-FFF2-40B4-BE49-F238E27FC236}">
                  <a16:creationId xmlns:a16="http://schemas.microsoft.com/office/drawing/2014/main" id="{F1939AE0-9263-4CFF-9840-09407B14EDC7}"/>
                </a:ext>
              </a:extLst>
            </p:cNvPr>
            <p:cNvSpPr>
              <a:spLocks noChangeArrowheads="1"/>
            </p:cNvSpPr>
            <p:nvPr/>
          </p:nvSpPr>
          <p:spPr bwMode="auto">
            <a:xfrm>
              <a:off x="3631"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0" name="Oval 895">
              <a:extLst>
                <a:ext uri="{FF2B5EF4-FFF2-40B4-BE49-F238E27FC236}">
                  <a16:creationId xmlns:a16="http://schemas.microsoft.com/office/drawing/2014/main" id="{A485FAD3-1A4C-46F6-AB4B-28A6A1C07FEA}"/>
                </a:ext>
              </a:extLst>
            </p:cNvPr>
            <p:cNvSpPr>
              <a:spLocks noChangeArrowheads="1"/>
            </p:cNvSpPr>
            <p:nvPr/>
          </p:nvSpPr>
          <p:spPr bwMode="auto">
            <a:xfrm>
              <a:off x="3682" y="3876"/>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1" name="Oval 896">
              <a:extLst>
                <a:ext uri="{FF2B5EF4-FFF2-40B4-BE49-F238E27FC236}">
                  <a16:creationId xmlns:a16="http://schemas.microsoft.com/office/drawing/2014/main" id="{F441EA92-3A85-478B-BF40-194DA4444EE9}"/>
                </a:ext>
              </a:extLst>
            </p:cNvPr>
            <p:cNvSpPr>
              <a:spLocks noChangeArrowheads="1"/>
            </p:cNvSpPr>
            <p:nvPr/>
          </p:nvSpPr>
          <p:spPr bwMode="auto">
            <a:xfrm>
              <a:off x="3693"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2" name="Line 897">
              <a:extLst>
                <a:ext uri="{FF2B5EF4-FFF2-40B4-BE49-F238E27FC236}">
                  <a16:creationId xmlns:a16="http://schemas.microsoft.com/office/drawing/2014/main" id="{B3BE75B1-CA07-492A-B05B-45E82680B7EA}"/>
                </a:ext>
              </a:extLst>
            </p:cNvPr>
            <p:cNvSpPr>
              <a:spLocks noChangeShapeType="1"/>
            </p:cNvSpPr>
            <p:nvPr/>
          </p:nvSpPr>
          <p:spPr bwMode="auto">
            <a:xfrm>
              <a:off x="3278" y="384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583" name="Group 898">
              <a:extLst>
                <a:ext uri="{FF2B5EF4-FFF2-40B4-BE49-F238E27FC236}">
                  <a16:creationId xmlns:a16="http://schemas.microsoft.com/office/drawing/2014/main" id="{24CD4DC1-6C4D-4E90-B623-F33D8D2267A9}"/>
                </a:ext>
              </a:extLst>
            </p:cNvPr>
            <p:cNvGrpSpPr>
              <a:grpSpLocks/>
            </p:cNvGrpSpPr>
            <p:nvPr/>
          </p:nvGrpSpPr>
          <p:grpSpPr bwMode="auto">
            <a:xfrm>
              <a:off x="3349" y="3796"/>
              <a:ext cx="345" cy="20"/>
              <a:chOff x="3349" y="3796"/>
              <a:chExt cx="345" cy="20"/>
            </a:xfrm>
          </p:grpSpPr>
          <p:sp>
            <p:nvSpPr>
              <p:cNvPr id="633" name="Rectangle 899">
                <a:extLst>
                  <a:ext uri="{FF2B5EF4-FFF2-40B4-BE49-F238E27FC236}">
                    <a16:creationId xmlns:a16="http://schemas.microsoft.com/office/drawing/2014/main" id="{0CB6C920-7C98-4761-9A65-DF9D1E29435F}"/>
                  </a:ext>
                </a:extLst>
              </p:cNvPr>
              <p:cNvSpPr>
                <a:spLocks noChangeArrowheads="1"/>
              </p:cNvSpPr>
              <p:nvPr/>
            </p:nvSpPr>
            <p:spPr bwMode="auto">
              <a:xfrm>
                <a:off x="3349" y="3801"/>
                <a:ext cx="8"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4" name="Rectangle 900">
                <a:extLst>
                  <a:ext uri="{FF2B5EF4-FFF2-40B4-BE49-F238E27FC236}">
                    <a16:creationId xmlns:a16="http://schemas.microsoft.com/office/drawing/2014/main" id="{0693BD47-1663-45D8-983F-B5C0775AC408}"/>
                  </a:ext>
                </a:extLst>
              </p:cNvPr>
              <p:cNvSpPr>
                <a:spLocks noChangeArrowheads="1"/>
              </p:cNvSpPr>
              <p:nvPr/>
            </p:nvSpPr>
            <p:spPr bwMode="auto">
              <a:xfrm>
                <a:off x="3362" y="3796"/>
                <a:ext cx="8" cy="2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5" name="Rectangle 901">
                <a:extLst>
                  <a:ext uri="{FF2B5EF4-FFF2-40B4-BE49-F238E27FC236}">
                    <a16:creationId xmlns:a16="http://schemas.microsoft.com/office/drawing/2014/main" id="{307584E9-4B22-4459-A91F-9EFE68F1DC7F}"/>
                  </a:ext>
                </a:extLst>
              </p:cNvPr>
              <p:cNvSpPr>
                <a:spLocks noChangeArrowheads="1"/>
              </p:cNvSpPr>
              <p:nvPr/>
            </p:nvSpPr>
            <p:spPr bwMode="auto">
              <a:xfrm>
                <a:off x="3415"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6" name="Rectangle 902">
                <a:extLst>
                  <a:ext uri="{FF2B5EF4-FFF2-40B4-BE49-F238E27FC236}">
                    <a16:creationId xmlns:a16="http://schemas.microsoft.com/office/drawing/2014/main" id="{E77C6011-41D9-4CB5-A08B-EEB463F6BFAB}"/>
                  </a:ext>
                </a:extLst>
              </p:cNvPr>
              <p:cNvSpPr>
                <a:spLocks noChangeArrowheads="1"/>
              </p:cNvSpPr>
              <p:nvPr/>
            </p:nvSpPr>
            <p:spPr bwMode="auto">
              <a:xfrm>
                <a:off x="3426"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7" name="Rectangle 903">
                <a:extLst>
                  <a:ext uri="{FF2B5EF4-FFF2-40B4-BE49-F238E27FC236}">
                    <a16:creationId xmlns:a16="http://schemas.microsoft.com/office/drawing/2014/main" id="{A2BF31F5-9A63-4D92-841C-17ABA6E31DC2}"/>
                  </a:ext>
                </a:extLst>
              </p:cNvPr>
              <p:cNvSpPr>
                <a:spLocks noChangeArrowheads="1"/>
              </p:cNvSpPr>
              <p:nvPr/>
            </p:nvSpPr>
            <p:spPr bwMode="auto">
              <a:xfrm>
                <a:off x="3446" y="3801"/>
                <a:ext cx="4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8" name="Rectangle 904">
                <a:extLst>
                  <a:ext uri="{FF2B5EF4-FFF2-40B4-BE49-F238E27FC236}">
                    <a16:creationId xmlns:a16="http://schemas.microsoft.com/office/drawing/2014/main" id="{AF2D1D94-3D24-451B-8BB0-792AB7F97F97}"/>
                  </a:ext>
                </a:extLst>
              </p:cNvPr>
              <p:cNvSpPr>
                <a:spLocks noChangeArrowheads="1"/>
              </p:cNvSpPr>
              <p:nvPr/>
            </p:nvSpPr>
            <p:spPr bwMode="auto">
              <a:xfrm>
                <a:off x="3495"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9" name="Rectangle 905">
                <a:extLst>
                  <a:ext uri="{FF2B5EF4-FFF2-40B4-BE49-F238E27FC236}">
                    <a16:creationId xmlns:a16="http://schemas.microsoft.com/office/drawing/2014/main" id="{0A4C927B-496E-4DF1-BD11-AFF9CF99EC6F}"/>
                  </a:ext>
                </a:extLst>
              </p:cNvPr>
              <p:cNvSpPr>
                <a:spLocks noChangeArrowheads="1"/>
              </p:cNvSpPr>
              <p:nvPr/>
            </p:nvSpPr>
            <p:spPr bwMode="auto">
              <a:xfrm>
                <a:off x="3514" y="3801"/>
                <a:ext cx="1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0" name="Rectangle 906">
                <a:extLst>
                  <a:ext uri="{FF2B5EF4-FFF2-40B4-BE49-F238E27FC236}">
                    <a16:creationId xmlns:a16="http://schemas.microsoft.com/office/drawing/2014/main" id="{AD454D14-5E66-49FD-A86F-6BC371DCD34A}"/>
                  </a:ext>
                </a:extLst>
              </p:cNvPr>
              <p:cNvSpPr>
                <a:spLocks noChangeArrowheads="1"/>
              </p:cNvSpPr>
              <p:nvPr/>
            </p:nvSpPr>
            <p:spPr bwMode="auto">
              <a:xfrm>
                <a:off x="3545" y="3801"/>
                <a:ext cx="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1" name="Rectangle 907">
                <a:extLst>
                  <a:ext uri="{FF2B5EF4-FFF2-40B4-BE49-F238E27FC236}">
                    <a16:creationId xmlns:a16="http://schemas.microsoft.com/office/drawing/2014/main" id="{675F90A4-4306-47C1-ACF3-23E963B10A48}"/>
                  </a:ext>
                </a:extLst>
              </p:cNvPr>
              <p:cNvSpPr>
                <a:spLocks noChangeArrowheads="1"/>
              </p:cNvSpPr>
              <p:nvPr/>
            </p:nvSpPr>
            <p:spPr bwMode="auto">
              <a:xfrm>
                <a:off x="3573" y="3801"/>
                <a:ext cx="4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2" name="Rectangle 908">
                <a:extLst>
                  <a:ext uri="{FF2B5EF4-FFF2-40B4-BE49-F238E27FC236}">
                    <a16:creationId xmlns:a16="http://schemas.microsoft.com/office/drawing/2014/main" id="{5CF10830-E6CE-4ADE-A872-98E8D4831B0A}"/>
                  </a:ext>
                </a:extLst>
              </p:cNvPr>
              <p:cNvSpPr>
                <a:spLocks noChangeArrowheads="1"/>
              </p:cNvSpPr>
              <p:nvPr/>
            </p:nvSpPr>
            <p:spPr bwMode="auto">
              <a:xfrm>
                <a:off x="3631"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3" name="Rectangle 909">
                <a:extLst>
                  <a:ext uri="{FF2B5EF4-FFF2-40B4-BE49-F238E27FC236}">
                    <a16:creationId xmlns:a16="http://schemas.microsoft.com/office/drawing/2014/main" id="{DC243E59-F415-4FD7-943C-90FF4A9423DA}"/>
                  </a:ext>
                </a:extLst>
              </p:cNvPr>
              <p:cNvSpPr>
                <a:spLocks noChangeArrowheads="1"/>
              </p:cNvSpPr>
              <p:nvPr/>
            </p:nvSpPr>
            <p:spPr bwMode="auto">
              <a:xfrm>
                <a:off x="3672" y="3801"/>
                <a:ext cx="1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4" name="Rectangle 910">
                <a:extLst>
                  <a:ext uri="{FF2B5EF4-FFF2-40B4-BE49-F238E27FC236}">
                    <a16:creationId xmlns:a16="http://schemas.microsoft.com/office/drawing/2014/main" id="{DF087ACE-65BA-4121-B849-2DF17191184C}"/>
                  </a:ext>
                </a:extLst>
              </p:cNvPr>
              <p:cNvSpPr>
                <a:spLocks noChangeArrowheads="1"/>
              </p:cNvSpPr>
              <p:nvPr/>
            </p:nvSpPr>
            <p:spPr bwMode="auto">
              <a:xfrm>
                <a:off x="3693"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584" name="Oval 911">
              <a:extLst>
                <a:ext uri="{FF2B5EF4-FFF2-40B4-BE49-F238E27FC236}">
                  <a16:creationId xmlns:a16="http://schemas.microsoft.com/office/drawing/2014/main" id="{ED82907C-7F16-439A-B03B-44EE727B3A0E}"/>
                </a:ext>
              </a:extLst>
            </p:cNvPr>
            <p:cNvSpPr>
              <a:spLocks noChangeArrowheads="1"/>
            </p:cNvSpPr>
            <p:nvPr/>
          </p:nvSpPr>
          <p:spPr bwMode="auto">
            <a:xfrm>
              <a:off x="3344"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5" name="Oval 912">
              <a:extLst>
                <a:ext uri="{FF2B5EF4-FFF2-40B4-BE49-F238E27FC236}">
                  <a16:creationId xmlns:a16="http://schemas.microsoft.com/office/drawing/2014/main" id="{EE06A452-715C-48A1-8C8E-9D2E0D8EE013}"/>
                </a:ext>
              </a:extLst>
            </p:cNvPr>
            <p:cNvSpPr>
              <a:spLocks noChangeArrowheads="1"/>
            </p:cNvSpPr>
            <p:nvPr/>
          </p:nvSpPr>
          <p:spPr bwMode="auto">
            <a:xfrm>
              <a:off x="3362"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6" name="Oval 913">
              <a:extLst>
                <a:ext uri="{FF2B5EF4-FFF2-40B4-BE49-F238E27FC236}">
                  <a16:creationId xmlns:a16="http://schemas.microsoft.com/office/drawing/2014/main" id="{126D64E6-D545-43D1-90E1-6F3553D6153C}"/>
                </a:ext>
              </a:extLst>
            </p:cNvPr>
            <p:cNvSpPr>
              <a:spLocks noChangeArrowheads="1"/>
            </p:cNvSpPr>
            <p:nvPr/>
          </p:nvSpPr>
          <p:spPr bwMode="auto">
            <a:xfrm>
              <a:off x="341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7" name="Oval 914">
              <a:extLst>
                <a:ext uri="{FF2B5EF4-FFF2-40B4-BE49-F238E27FC236}">
                  <a16:creationId xmlns:a16="http://schemas.microsoft.com/office/drawing/2014/main" id="{52FEC886-A166-48C0-A0FA-640339389BB4}"/>
                </a:ext>
              </a:extLst>
            </p:cNvPr>
            <p:cNvSpPr>
              <a:spLocks noChangeArrowheads="1"/>
            </p:cNvSpPr>
            <p:nvPr/>
          </p:nvSpPr>
          <p:spPr bwMode="auto">
            <a:xfrm>
              <a:off x="3421"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8" name="Oval 915">
              <a:extLst>
                <a:ext uri="{FF2B5EF4-FFF2-40B4-BE49-F238E27FC236}">
                  <a16:creationId xmlns:a16="http://schemas.microsoft.com/office/drawing/2014/main" id="{93FDC597-6E6E-4BD3-8E38-8D9E832EE2DA}"/>
                </a:ext>
              </a:extLst>
            </p:cNvPr>
            <p:cNvSpPr>
              <a:spLocks noChangeArrowheads="1"/>
            </p:cNvSpPr>
            <p:nvPr/>
          </p:nvSpPr>
          <p:spPr bwMode="auto">
            <a:xfrm>
              <a:off x="3436" y="3768"/>
              <a:ext cx="49"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9" name="Oval 916">
              <a:extLst>
                <a:ext uri="{FF2B5EF4-FFF2-40B4-BE49-F238E27FC236}">
                  <a16:creationId xmlns:a16="http://schemas.microsoft.com/office/drawing/2014/main" id="{6DAC4ABE-7BAB-4A63-A626-E006633065AB}"/>
                </a:ext>
              </a:extLst>
            </p:cNvPr>
            <p:cNvSpPr>
              <a:spLocks noChangeArrowheads="1"/>
            </p:cNvSpPr>
            <p:nvPr/>
          </p:nvSpPr>
          <p:spPr bwMode="auto">
            <a:xfrm>
              <a:off x="3484" y="3768"/>
              <a:ext cx="22"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0" name="Oval 917">
              <a:extLst>
                <a:ext uri="{FF2B5EF4-FFF2-40B4-BE49-F238E27FC236}">
                  <a16:creationId xmlns:a16="http://schemas.microsoft.com/office/drawing/2014/main" id="{B803DD95-31E3-4541-AD9C-4C077751325F}"/>
                </a:ext>
              </a:extLst>
            </p:cNvPr>
            <p:cNvSpPr>
              <a:spLocks noChangeArrowheads="1"/>
            </p:cNvSpPr>
            <p:nvPr/>
          </p:nvSpPr>
          <p:spPr bwMode="auto">
            <a:xfrm>
              <a:off x="3505" y="3768"/>
              <a:ext cx="31"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1" name="Oval 918">
              <a:extLst>
                <a:ext uri="{FF2B5EF4-FFF2-40B4-BE49-F238E27FC236}">
                  <a16:creationId xmlns:a16="http://schemas.microsoft.com/office/drawing/2014/main" id="{FB9A189A-B82F-4490-9102-07CA8AE6733D}"/>
                </a:ext>
              </a:extLst>
            </p:cNvPr>
            <p:cNvSpPr>
              <a:spLocks noChangeArrowheads="1"/>
            </p:cNvSpPr>
            <p:nvPr/>
          </p:nvSpPr>
          <p:spPr bwMode="auto">
            <a:xfrm>
              <a:off x="354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2" name="Oval 919">
              <a:extLst>
                <a:ext uri="{FF2B5EF4-FFF2-40B4-BE49-F238E27FC236}">
                  <a16:creationId xmlns:a16="http://schemas.microsoft.com/office/drawing/2014/main" id="{FB5B9F5A-0FBF-4F2C-91F3-90D0EB6B29D5}"/>
                </a:ext>
              </a:extLst>
            </p:cNvPr>
            <p:cNvSpPr>
              <a:spLocks noChangeArrowheads="1"/>
            </p:cNvSpPr>
            <p:nvPr/>
          </p:nvSpPr>
          <p:spPr bwMode="auto">
            <a:xfrm>
              <a:off x="3619" y="3773"/>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3" name="Oval 920">
              <a:extLst>
                <a:ext uri="{FF2B5EF4-FFF2-40B4-BE49-F238E27FC236}">
                  <a16:creationId xmlns:a16="http://schemas.microsoft.com/office/drawing/2014/main" id="{279A85E1-2105-4B21-AF5F-F3BC91FF26FF}"/>
                </a:ext>
              </a:extLst>
            </p:cNvPr>
            <p:cNvSpPr>
              <a:spLocks noChangeArrowheads="1"/>
            </p:cNvSpPr>
            <p:nvPr/>
          </p:nvSpPr>
          <p:spPr bwMode="auto">
            <a:xfrm>
              <a:off x="3631"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4" name="Oval 921">
              <a:extLst>
                <a:ext uri="{FF2B5EF4-FFF2-40B4-BE49-F238E27FC236}">
                  <a16:creationId xmlns:a16="http://schemas.microsoft.com/office/drawing/2014/main" id="{92E894BF-A772-4338-856F-A9D0D3EAE3EC}"/>
                </a:ext>
              </a:extLst>
            </p:cNvPr>
            <p:cNvSpPr>
              <a:spLocks noChangeArrowheads="1"/>
            </p:cNvSpPr>
            <p:nvPr/>
          </p:nvSpPr>
          <p:spPr bwMode="auto">
            <a:xfrm>
              <a:off x="3682" y="3768"/>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5" name="Oval 922">
              <a:extLst>
                <a:ext uri="{FF2B5EF4-FFF2-40B4-BE49-F238E27FC236}">
                  <a16:creationId xmlns:a16="http://schemas.microsoft.com/office/drawing/2014/main" id="{6B1F3DA4-CEF8-471D-A197-4751ADB15FEA}"/>
                </a:ext>
              </a:extLst>
            </p:cNvPr>
            <p:cNvSpPr>
              <a:spLocks noChangeArrowheads="1"/>
            </p:cNvSpPr>
            <p:nvPr/>
          </p:nvSpPr>
          <p:spPr bwMode="auto">
            <a:xfrm>
              <a:off x="3693"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6" name="Line 923">
              <a:extLst>
                <a:ext uri="{FF2B5EF4-FFF2-40B4-BE49-F238E27FC236}">
                  <a16:creationId xmlns:a16="http://schemas.microsoft.com/office/drawing/2014/main" id="{21E72B62-D233-4A28-B302-39C9D8D9BFF8}"/>
                </a:ext>
              </a:extLst>
            </p:cNvPr>
            <p:cNvSpPr>
              <a:spLocks noChangeShapeType="1"/>
            </p:cNvSpPr>
            <p:nvPr/>
          </p:nvSpPr>
          <p:spPr bwMode="auto">
            <a:xfrm>
              <a:off x="3278" y="3768"/>
              <a:ext cx="798" cy="1"/>
            </a:xfrm>
            <a:prstGeom prst="line">
              <a:avLst/>
            </a:prstGeom>
            <a:noFill/>
            <a:ln w="15875">
              <a:solidFill>
                <a:srgbClr val="0054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597" name="Group 924">
              <a:extLst>
                <a:ext uri="{FF2B5EF4-FFF2-40B4-BE49-F238E27FC236}">
                  <a16:creationId xmlns:a16="http://schemas.microsoft.com/office/drawing/2014/main" id="{A629D153-0222-4E49-81C4-9CA1CCED7E2D}"/>
                </a:ext>
              </a:extLst>
            </p:cNvPr>
            <p:cNvGrpSpPr>
              <a:grpSpLocks/>
            </p:cNvGrpSpPr>
            <p:nvPr/>
          </p:nvGrpSpPr>
          <p:grpSpPr bwMode="auto">
            <a:xfrm>
              <a:off x="3349" y="3725"/>
              <a:ext cx="345" cy="14"/>
              <a:chOff x="3349" y="3725"/>
              <a:chExt cx="345" cy="14"/>
            </a:xfrm>
          </p:grpSpPr>
          <p:sp>
            <p:nvSpPr>
              <p:cNvPr id="621" name="Rectangle 925">
                <a:extLst>
                  <a:ext uri="{FF2B5EF4-FFF2-40B4-BE49-F238E27FC236}">
                    <a16:creationId xmlns:a16="http://schemas.microsoft.com/office/drawing/2014/main" id="{ECC35FAA-1518-4087-B1C6-955667A4FC68}"/>
                  </a:ext>
                </a:extLst>
              </p:cNvPr>
              <p:cNvSpPr>
                <a:spLocks noChangeArrowheads="1"/>
              </p:cNvSpPr>
              <p:nvPr/>
            </p:nvSpPr>
            <p:spPr bwMode="auto">
              <a:xfrm>
                <a:off x="3349" y="3730"/>
                <a:ext cx="8"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2" name="Rectangle 926">
                <a:extLst>
                  <a:ext uri="{FF2B5EF4-FFF2-40B4-BE49-F238E27FC236}">
                    <a16:creationId xmlns:a16="http://schemas.microsoft.com/office/drawing/2014/main" id="{3665CE18-B2A5-4526-924D-4C4B22E56DBB}"/>
                  </a:ext>
                </a:extLst>
              </p:cNvPr>
              <p:cNvSpPr>
                <a:spLocks noChangeArrowheads="1"/>
              </p:cNvSpPr>
              <p:nvPr/>
            </p:nvSpPr>
            <p:spPr bwMode="auto">
              <a:xfrm>
                <a:off x="3362" y="3725"/>
                <a:ext cx="8" cy="1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3" name="Rectangle 927">
                <a:extLst>
                  <a:ext uri="{FF2B5EF4-FFF2-40B4-BE49-F238E27FC236}">
                    <a16:creationId xmlns:a16="http://schemas.microsoft.com/office/drawing/2014/main" id="{1603203F-E04E-405B-82B8-4099683716C0}"/>
                  </a:ext>
                </a:extLst>
              </p:cNvPr>
              <p:cNvSpPr>
                <a:spLocks noChangeArrowheads="1"/>
              </p:cNvSpPr>
              <p:nvPr/>
            </p:nvSpPr>
            <p:spPr bwMode="auto">
              <a:xfrm>
                <a:off x="3415"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4" name="Rectangle 928">
                <a:extLst>
                  <a:ext uri="{FF2B5EF4-FFF2-40B4-BE49-F238E27FC236}">
                    <a16:creationId xmlns:a16="http://schemas.microsoft.com/office/drawing/2014/main" id="{DCDE6A20-1E06-4616-92AF-79DEC2733857}"/>
                  </a:ext>
                </a:extLst>
              </p:cNvPr>
              <p:cNvSpPr>
                <a:spLocks noChangeArrowheads="1"/>
              </p:cNvSpPr>
              <p:nvPr/>
            </p:nvSpPr>
            <p:spPr bwMode="auto">
              <a:xfrm>
                <a:off x="3426"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5" name="Rectangle 929">
                <a:extLst>
                  <a:ext uri="{FF2B5EF4-FFF2-40B4-BE49-F238E27FC236}">
                    <a16:creationId xmlns:a16="http://schemas.microsoft.com/office/drawing/2014/main" id="{E2C733B1-B70D-41A0-AA55-40298C145EA1}"/>
                  </a:ext>
                </a:extLst>
              </p:cNvPr>
              <p:cNvSpPr>
                <a:spLocks noChangeArrowheads="1"/>
              </p:cNvSpPr>
              <p:nvPr/>
            </p:nvSpPr>
            <p:spPr bwMode="auto">
              <a:xfrm>
                <a:off x="3446" y="3730"/>
                <a:ext cx="4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6" name="Rectangle 930">
                <a:extLst>
                  <a:ext uri="{FF2B5EF4-FFF2-40B4-BE49-F238E27FC236}">
                    <a16:creationId xmlns:a16="http://schemas.microsoft.com/office/drawing/2014/main" id="{0CF931A1-AA1F-4CAD-AFB6-74C72B90576E}"/>
                  </a:ext>
                </a:extLst>
              </p:cNvPr>
              <p:cNvSpPr>
                <a:spLocks noChangeArrowheads="1"/>
              </p:cNvSpPr>
              <p:nvPr/>
            </p:nvSpPr>
            <p:spPr bwMode="auto">
              <a:xfrm>
                <a:off x="3495"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7" name="Rectangle 931">
                <a:extLst>
                  <a:ext uri="{FF2B5EF4-FFF2-40B4-BE49-F238E27FC236}">
                    <a16:creationId xmlns:a16="http://schemas.microsoft.com/office/drawing/2014/main" id="{4601CD92-31F9-4F5D-A53A-C72A9EE0AF8A}"/>
                  </a:ext>
                </a:extLst>
              </p:cNvPr>
              <p:cNvSpPr>
                <a:spLocks noChangeArrowheads="1"/>
              </p:cNvSpPr>
              <p:nvPr/>
            </p:nvSpPr>
            <p:spPr bwMode="auto">
              <a:xfrm>
                <a:off x="3514" y="3730"/>
                <a:ext cx="1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8" name="Rectangle 932">
                <a:extLst>
                  <a:ext uri="{FF2B5EF4-FFF2-40B4-BE49-F238E27FC236}">
                    <a16:creationId xmlns:a16="http://schemas.microsoft.com/office/drawing/2014/main" id="{A66F08BB-F816-42BE-9402-568EF620C0E5}"/>
                  </a:ext>
                </a:extLst>
              </p:cNvPr>
              <p:cNvSpPr>
                <a:spLocks noChangeArrowheads="1"/>
              </p:cNvSpPr>
              <p:nvPr/>
            </p:nvSpPr>
            <p:spPr bwMode="auto">
              <a:xfrm>
                <a:off x="3545" y="3730"/>
                <a:ext cx="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9" name="Rectangle 933">
                <a:extLst>
                  <a:ext uri="{FF2B5EF4-FFF2-40B4-BE49-F238E27FC236}">
                    <a16:creationId xmlns:a16="http://schemas.microsoft.com/office/drawing/2014/main" id="{2E504DC3-58BD-48EF-A6EF-1CE047C0B2AC}"/>
                  </a:ext>
                </a:extLst>
              </p:cNvPr>
              <p:cNvSpPr>
                <a:spLocks noChangeArrowheads="1"/>
              </p:cNvSpPr>
              <p:nvPr/>
            </p:nvSpPr>
            <p:spPr bwMode="auto">
              <a:xfrm>
                <a:off x="3573" y="3730"/>
                <a:ext cx="4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0" name="Rectangle 934">
                <a:extLst>
                  <a:ext uri="{FF2B5EF4-FFF2-40B4-BE49-F238E27FC236}">
                    <a16:creationId xmlns:a16="http://schemas.microsoft.com/office/drawing/2014/main" id="{32FF05F8-8051-4EFC-A64C-F870953F7640}"/>
                  </a:ext>
                </a:extLst>
              </p:cNvPr>
              <p:cNvSpPr>
                <a:spLocks noChangeArrowheads="1"/>
              </p:cNvSpPr>
              <p:nvPr/>
            </p:nvSpPr>
            <p:spPr bwMode="auto">
              <a:xfrm>
                <a:off x="3631"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1" name="Rectangle 935">
                <a:extLst>
                  <a:ext uri="{FF2B5EF4-FFF2-40B4-BE49-F238E27FC236}">
                    <a16:creationId xmlns:a16="http://schemas.microsoft.com/office/drawing/2014/main" id="{C3770AB6-5B3E-4C4C-8643-62BBFB869353}"/>
                  </a:ext>
                </a:extLst>
              </p:cNvPr>
              <p:cNvSpPr>
                <a:spLocks noChangeArrowheads="1"/>
              </p:cNvSpPr>
              <p:nvPr/>
            </p:nvSpPr>
            <p:spPr bwMode="auto">
              <a:xfrm>
                <a:off x="3672" y="3730"/>
                <a:ext cx="1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2" name="Rectangle 936">
                <a:extLst>
                  <a:ext uri="{FF2B5EF4-FFF2-40B4-BE49-F238E27FC236}">
                    <a16:creationId xmlns:a16="http://schemas.microsoft.com/office/drawing/2014/main" id="{562FDC45-861D-42D0-B7EB-2774F5D51ED6}"/>
                  </a:ext>
                </a:extLst>
              </p:cNvPr>
              <p:cNvSpPr>
                <a:spLocks noChangeArrowheads="1"/>
              </p:cNvSpPr>
              <p:nvPr/>
            </p:nvSpPr>
            <p:spPr bwMode="auto">
              <a:xfrm>
                <a:off x="3693"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598" name="Oval 937">
              <a:extLst>
                <a:ext uri="{FF2B5EF4-FFF2-40B4-BE49-F238E27FC236}">
                  <a16:creationId xmlns:a16="http://schemas.microsoft.com/office/drawing/2014/main" id="{2D8AE7E6-AE75-4601-A301-C378BFBB15A8}"/>
                </a:ext>
              </a:extLst>
            </p:cNvPr>
            <p:cNvSpPr>
              <a:spLocks noChangeArrowheads="1"/>
            </p:cNvSpPr>
            <p:nvPr/>
          </p:nvSpPr>
          <p:spPr bwMode="auto">
            <a:xfrm>
              <a:off x="3344"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9" name="Oval 938">
              <a:extLst>
                <a:ext uri="{FF2B5EF4-FFF2-40B4-BE49-F238E27FC236}">
                  <a16:creationId xmlns:a16="http://schemas.microsoft.com/office/drawing/2014/main" id="{9DF1BA9C-C6E2-48DA-B523-BDFD29CD200A}"/>
                </a:ext>
              </a:extLst>
            </p:cNvPr>
            <p:cNvSpPr>
              <a:spLocks noChangeArrowheads="1"/>
            </p:cNvSpPr>
            <p:nvPr/>
          </p:nvSpPr>
          <p:spPr bwMode="auto">
            <a:xfrm>
              <a:off x="3362"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0" name="Oval 939">
              <a:extLst>
                <a:ext uri="{FF2B5EF4-FFF2-40B4-BE49-F238E27FC236}">
                  <a16:creationId xmlns:a16="http://schemas.microsoft.com/office/drawing/2014/main" id="{99F3F4BC-96B6-4E91-B71F-B9ABB1FABCE4}"/>
                </a:ext>
              </a:extLst>
            </p:cNvPr>
            <p:cNvSpPr>
              <a:spLocks noChangeArrowheads="1"/>
            </p:cNvSpPr>
            <p:nvPr/>
          </p:nvSpPr>
          <p:spPr bwMode="auto">
            <a:xfrm>
              <a:off x="341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1" name="Oval 940">
              <a:extLst>
                <a:ext uri="{FF2B5EF4-FFF2-40B4-BE49-F238E27FC236}">
                  <a16:creationId xmlns:a16="http://schemas.microsoft.com/office/drawing/2014/main" id="{EFF2909F-9892-404E-8C61-DECB5844C924}"/>
                </a:ext>
              </a:extLst>
            </p:cNvPr>
            <p:cNvSpPr>
              <a:spLocks noChangeArrowheads="1"/>
            </p:cNvSpPr>
            <p:nvPr/>
          </p:nvSpPr>
          <p:spPr bwMode="auto">
            <a:xfrm>
              <a:off x="3421"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2" name="Oval 941">
              <a:extLst>
                <a:ext uri="{FF2B5EF4-FFF2-40B4-BE49-F238E27FC236}">
                  <a16:creationId xmlns:a16="http://schemas.microsoft.com/office/drawing/2014/main" id="{D9CC811C-42D7-4D2A-A170-02381182E339}"/>
                </a:ext>
              </a:extLst>
            </p:cNvPr>
            <p:cNvSpPr>
              <a:spLocks noChangeArrowheads="1"/>
            </p:cNvSpPr>
            <p:nvPr/>
          </p:nvSpPr>
          <p:spPr bwMode="auto">
            <a:xfrm>
              <a:off x="3446" y="3677"/>
              <a:ext cx="3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3" name="Oval 942">
              <a:extLst>
                <a:ext uri="{FF2B5EF4-FFF2-40B4-BE49-F238E27FC236}">
                  <a16:creationId xmlns:a16="http://schemas.microsoft.com/office/drawing/2014/main" id="{AD6C6A73-6977-42D2-B23E-33AC2CF82E6B}"/>
                </a:ext>
              </a:extLst>
            </p:cNvPr>
            <p:cNvSpPr>
              <a:spLocks noChangeArrowheads="1"/>
            </p:cNvSpPr>
            <p:nvPr/>
          </p:nvSpPr>
          <p:spPr bwMode="auto">
            <a:xfrm>
              <a:off x="3495"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4" name="Oval 943">
              <a:extLst>
                <a:ext uri="{FF2B5EF4-FFF2-40B4-BE49-F238E27FC236}">
                  <a16:creationId xmlns:a16="http://schemas.microsoft.com/office/drawing/2014/main" id="{65F2489B-9652-4E7B-9FDC-741043AE01A6}"/>
                </a:ext>
              </a:extLst>
            </p:cNvPr>
            <p:cNvSpPr>
              <a:spLocks noChangeArrowheads="1"/>
            </p:cNvSpPr>
            <p:nvPr/>
          </p:nvSpPr>
          <p:spPr bwMode="auto">
            <a:xfrm>
              <a:off x="3505" y="3666"/>
              <a:ext cx="31" cy="49"/>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5" name="Oval 944">
              <a:extLst>
                <a:ext uri="{FF2B5EF4-FFF2-40B4-BE49-F238E27FC236}">
                  <a16:creationId xmlns:a16="http://schemas.microsoft.com/office/drawing/2014/main" id="{484C9875-FF79-4671-8816-86FE7B4B638A}"/>
                </a:ext>
              </a:extLst>
            </p:cNvPr>
            <p:cNvSpPr>
              <a:spLocks noChangeArrowheads="1"/>
            </p:cNvSpPr>
            <p:nvPr/>
          </p:nvSpPr>
          <p:spPr bwMode="auto">
            <a:xfrm>
              <a:off x="354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6" name="Oval 945">
              <a:extLst>
                <a:ext uri="{FF2B5EF4-FFF2-40B4-BE49-F238E27FC236}">
                  <a16:creationId xmlns:a16="http://schemas.microsoft.com/office/drawing/2014/main" id="{4F982E1F-357D-4D8C-BA11-DB192AB918F0}"/>
                </a:ext>
              </a:extLst>
            </p:cNvPr>
            <p:cNvSpPr>
              <a:spLocks noChangeArrowheads="1"/>
            </p:cNvSpPr>
            <p:nvPr/>
          </p:nvSpPr>
          <p:spPr bwMode="auto">
            <a:xfrm>
              <a:off x="3619"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7" name="Oval 946">
              <a:extLst>
                <a:ext uri="{FF2B5EF4-FFF2-40B4-BE49-F238E27FC236}">
                  <a16:creationId xmlns:a16="http://schemas.microsoft.com/office/drawing/2014/main" id="{46326CED-DDB7-41EA-B126-17B839320EFE}"/>
                </a:ext>
              </a:extLst>
            </p:cNvPr>
            <p:cNvSpPr>
              <a:spLocks noChangeArrowheads="1"/>
            </p:cNvSpPr>
            <p:nvPr/>
          </p:nvSpPr>
          <p:spPr bwMode="auto">
            <a:xfrm>
              <a:off x="3631"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8" name="Oval 947">
              <a:extLst>
                <a:ext uri="{FF2B5EF4-FFF2-40B4-BE49-F238E27FC236}">
                  <a16:creationId xmlns:a16="http://schemas.microsoft.com/office/drawing/2014/main" id="{F6F8C04E-7CCC-425D-A830-73B0015F93F4}"/>
                </a:ext>
              </a:extLst>
            </p:cNvPr>
            <p:cNvSpPr>
              <a:spLocks noChangeArrowheads="1"/>
            </p:cNvSpPr>
            <p:nvPr/>
          </p:nvSpPr>
          <p:spPr bwMode="auto">
            <a:xfrm>
              <a:off x="3682" y="3666"/>
              <a:ext cx="21" cy="49"/>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9" name="Oval 948">
              <a:extLst>
                <a:ext uri="{FF2B5EF4-FFF2-40B4-BE49-F238E27FC236}">
                  <a16:creationId xmlns:a16="http://schemas.microsoft.com/office/drawing/2014/main" id="{F96A4A3B-8915-4148-8832-EC4F39B76938}"/>
                </a:ext>
              </a:extLst>
            </p:cNvPr>
            <p:cNvSpPr>
              <a:spLocks noChangeArrowheads="1"/>
            </p:cNvSpPr>
            <p:nvPr/>
          </p:nvSpPr>
          <p:spPr bwMode="auto">
            <a:xfrm>
              <a:off x="3693"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0" name="Line 949">
              <a:extLst>
                <a:ext uri="{FF2B5EF4-FFF2-40B4-BE49-F238E27FC236}">
                  <a16:creationId xmlns:a16="http://schemas.microsoft.com/office/drawing/2014/main" id="{7F9E759C-ECDD-45EC-B089-01FF60A49C90}"/>
                </a:ext>
              </a:extLst>
            </p:cNvPr>
            <p:cNvSpPr>
              <a:spLocks noChangeShapeType="1"/>
            </p:cNvSpPr>
            <p:nvPr/>
          </p:nvSpPr>
          <p:spPr bwMode="auto">
            <a:xfrm>
              <a:off x="3278" y="366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1" name="Rectangle 950">
              <a:extLst>
                <a:ext uri="{FF2B5EF4-FFF2-40B4-BE49-F238E27FC236}">
                  <a16:creationId xmlns:a16="http://schemas.microsoft.com/office/drawing/2014/main" id="{84278E67-5282-4A81-BF80-8E5D750AF9E3}"/>
                </a:ext>
              </a:extLst>
            </p:cNvPr>
            <p:cNvSpPr>
              <a:spLocks noChangeArrowheads="1"/>
            </p:cNvSpPr>
            <p:nvPr/>
          </p:nvSpPr>
          <p:spPr bwMode="auto">
            <a:xfrm>
              <a:off x="4028" y="3691"/>
              <a:ext cx="30"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2" name="Rectangle 951">
              <a:extLst>
                <a:ext uri="{FF2B5EF4-FFF2-40B4-BE49-F238E27FC236}">
                  <a16:creationId xmlns:a16="http://schemas.microsoft.com/office/drawing/2014/main" id="{A7A175B3-3DD7-4B37-AE27-67A388704E45}"/>
                </a:ext>
              </a:extLst>
            </p:cNvPr>
            <p:cNvSpPr>
              <a:spLocks noChangeArrowheads="1"/>
            </p:cNvSpPr>
            <p:nvPr/>
          </p:nvSpPr>
          <p:spPr bwMode="auto">
            <a:xfrm>
              <a:off x="4028" y="3778"/>
              <a:ext cx="30" cy="11"/>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3" name="Rectangle 952">
              <a:extLst>
                <a:ext uri="{FF2B5EF4-FFF2-40B4-BE49-F238E27FC236}">
                  <a16:creationId xmlns:a16="http://schemas.microsoft.com/office/drawing/2014/main" id="{EDF27E75-BB7A-41F9-B922-8A325E50033F}"/>
                </a:ext>
              </a:extLst>
            </p:cNvPr>
            <p:cNvSpPr>
              <a:spLocks noChangeArrowheads="1"/>
            </p:cNvSpPr>
            <p:nvPr/>
          </p:nvSpPr>
          <p:spPr bwMode="auto">
            <a:xfrm>
              <a:off x="4028" y="3894"/>
              <a:ext cx="30"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4" name="Rectangle 953">
              <a:extLst>
                <a:ext uri="{FF2B5EF4-FFF2-40B4-BE49-F238E27FC236}">
                  <a16:creationId xmlns:a16="http://schemas.microsoft.com/office/drawing/2014/main" id="{29B49022-813D-4EA5-BD7B-F22B2648FB50}"/>
                </a:ext>
              </a:extLst>
            </p:cNvPr>
            <p:cNvSpPr>
              <a:spLocks noChangeArrowheads="1"/>
            </p:cNvSpPr>
            <p:nvPr/>
          </p:nvSpPr>
          <p:spPr bwMode="auto">
            <a:xfrm>
              <a:off x="3307" y="3691"/>
              <a:ext cx="22"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5" name="Rectangle 954">
              <a:extLst>
                <a:ext uri="{FF2B5EF4-FFF2-40B4-BE49-F238E27FC236}">
                  <a16:creationId xmlns:a16="http://schemas.microsoft.com/office/drawing/2014/main" id="{E31D501F-3FD7-49F9-ACEC-89DEC0A9F505}"/>
                </a:ext>
              </a:extLst>
            </p:cNvPr>
            <p:cNvSpPr>
              <a:spLocks noChangeArrowheads="1"/>
            </p:cNvSpPr>
            <p:nvPr/>
          </p:nvSpPr>
          <p:spPr bwMode="auto">
            <a:xfrm>
              <a:off x="3307" y="3778"/>
              <a:ext cx="22" cy="3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6" name="Rectangle 955">
              <a:extLst>
                <a:ext uri="{FF2B5EF4-FFF2-40B4-BE49-F238E27FC236}">
                  <a16:creationId xmlns:a16="http://schemas.microsoft.com/office/drawing/2014/main" id="{5D1C6608-3B66-411D-BB5A-FB1384BE5F4D}"/>
                </a:ext>
              </a:extLst>
            </p:cNvPr>
            <p:cNvSpPr>
              <a:spLocks noChangeArrowheads="1"/>
            </p:cNvSpPr>
            <p:nvPr/>
          </p:nvSpPr>
          <p:spPr bwMode="auto">
            <a:xfrm>
              <a:off x="3307" y="3894"/>
              <a:ext cx="22"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7" name="Rectangle 956">
              <a:extLst>
                <a:ext uri="{FF2B5EF4-FFF2-40B4-BE49-F238E27FC236}">
                  <a16:creationId xmlns:a16="http://schemas.microsoft.com/office/drawing/2014/main" id="{6B2679DA-3444-41B5-A3F4-D7BFD9D3735C}"/>
                </a:ext>
              </a:extLst>
            </p:cNvPr>
            <p:cNvSpPr>
              <a:spLocks noChangeArrowheads="1"/>
            </p:cNvSpPr>
            <p:nvPr/>
          </p:nvSpPr>
          <p:spPr bwMode="auto">
            <a:xfrm>
              <a:off x="3362" y="3953"/>
              <a:ext cx="9" cy="4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8" name="Rectangle 957">
              <a:extLst>
                <a:ext uri="{FF2B5EF4-FFF2-40B4-BE49-F238E27FC236}">
                  <a16:creationId xmlns:a16="http://schemas.microsoft.com/office/drawing/2014/main" id="{8F63CA1E-1CE1-40CA-86F8-3F45042E30F5}"/>
                </a:ext>
              </a:extLst>
            </p:cNvPr>
            <p:cNvSpPr>
              <a:spLocks noChangeArrowheads="1"/>
            </p:cNvSpPr>
            <p:nvPr/>
          </p:nvSpPr>
          <p:spPr bwMode="auto">
            <a:xfrm>
              <a:off x="3475" y="3958"/>
              <a:ext cx="11" cy="3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9" name="Oval 958">
              <a:extLst>
                <a:ext uri="{FF2B5EF4-FFF2-40B4-BE49-F238E27FC236}">
                  <a16:creationId xmlns:a16="http://schemas.microsoft.com/office/drawing/2014/main" id="{0851169A-AC89-4ED1-89D2-A7785973B763}"/>
                </a:ext>
              </a:extLst>
            </p:cNvPr>
            <p:cNvSpPr>
              <a:spLocks noChangeArrowheads="1"/>
            </p:cNvSpPr>
            <p:nvPr/>
          </p:nvSpPr>
          <p:spPr bwMode="auto">
            <a:xfrm>
              <a:off x="3410" y="3953"/>
              <a:ext cx="9" cy="3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0" name="Oval 959">
              <a:extLst>
                <a:ext uri="{FF2B5EF4-FFF2-40B4-BE49-F238E27FC236}">
                  <a16:creationId xmlns:a16="http://schemas.microsoft.com/office/drawing/2014/main" id="{3A340CD4-50E3-4D7E-9426-B14F26130DCE}"/>
                </a:ext>
              </a:extLst>
            </p:cNvPr>
            <p:cNvSpPr>
              <a:spLocks noChangeArrowheads="1"/>
            </p:cNvSpPr>
            <p:nvPr/>
          </p:nvSpPr>
          <p:spPr bwMode="auto">
            <a:xfrm>
              <a:off x="3495" y="3958"/>
              <a:ext cx="0" cy="2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964" name="Line 92">
            <a:extLst>
              <a:ext uri="{FF2B5EF4-FFF2-40B4-BE49-F238E27FC236}">
                <a16:creationId xmlns:a16="http://schemas.microsoft.com/office/drawing/2014/main" id="{D7ECCBBD-60C0-41A4-9E72-8EA5EA800D6A}"/>
              </a:ext>
            </a:extLst>
          </p:cNvPr>
          <p:cNvSpPr>
            <a:spLocks noChangeShapeType="1"/>
          </p:cNvSpPr>
          <p:nvPr/>
        </p:nvSpPr>
        <p:spPr bwMode="auto">
          <a:xfrm>
            <a:off x="7089124" y="2734249"/>
            <a:ext cx="855337"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965" name="Group 89">
            <a:extLst>
              <a:ext uri="{FF2B5EF4-FFF2-40B4-BE49-F238E27FC236}">
                <a16:creationId xmlns:a16="http://schemas.microsoft.com/office/drawing/2014/main" id="{EA91FDF4-CBAD-4B67-9F4B-76A4755D66DA}"/>
              </a:ext>
            </a:extLst>
          </p:cNvPr>
          <p:cNvGrpSpPr>
            <a:grpSpLocks/>
          </p:cNvGrpSpPr>
          <p:nvPr/>
        </p:nvGrpSpPr>
        <p:grpSpPr bwMode="auto">
          <a:xfrm>
            <a:off x="7485424" y="3833222"/>
            <a:ext cx="1948823" cy="245973"/>
            <a:chOff x="3189" y="2351"/>
            <a:chExt cx="1506" cy="197"/>
          </a:xfrm>
        </p:grpSpPr>
        <p:sp>
          <p:nvSpPr>
            <p:cNvPr id="966" name="Text Box 90">
              <a:extLst>
                <a:ext uri="{FF2B5EF4-FFF2-40B4-BE49-F238E27FC236}">
                  <a16:creationId xmlns:a16="http://schemas.microsoft.com/office/drawing/2014/main" id="{B0BFD453-E5AA-4053-B49C-7F9D67A444DF}"/>
                </a:ext>
              </a:extLst>
            </p:cNvPr>
            <p:cNvSpPr txBox="1">
              <a:spLocks noChangeArrowheads="1"/>
            </p:cNvSpPr>
            <p:nvPr/>
          </p:nvSpPr>
          <p:spPr bwMode="auto">
            <a:xfrm>
              <a:off x="3189" y="2351"/>
              <a:ext cx="1186" cy="196"/>
            </a:xfrm>
            <a:prstGeom prst="rect">
              <a:avLst/>
            </a:prstGeom>
            <a:solidFill>
              <a:srgbClr val="C1EFFF"/>
            </a:solidFill>
            <a:ln>
              <a:noFill/>
            </a:ln>
            <a:effectLst/>
          </p:spPr>
          <p:txBody>
            <a:bodyPr wrap="square" lIns="72007" tIns="36004" rIns="72007" bIns="36004">
              <a:spAutoFit/>
            </a:bodyPr>
            <a:lstStyle>
              <a:defPPr>
                <a:defRPr lang="zh-CN"/>
              </a:defPPr>
              <a:lvl1pPr defTabSz="720725" eaLnBrk="0" hangingPunct="0">
                <a:lnSpc>
                  <a:spcPct val="77000"/>
                </a:lnSpc>
                <a:spcBef>
                  <a:spcPct val="50000"/>
                </a:spcBef>
                <a:buClr>
                  <a:srgbClr val="A50021"/>
                </a:buClr>
                <a:buSzPct val="114000"/>
                <a:defRPr kumimoji="0" sz="1400" b="1">
                  <a:solidFill>
                    <a:schemeClr val="accent6">
                      <a:lumMod val="75000"/>
                    </a:schemeClr>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b="0" dirty="0">
                  <a:solidFill>
                    <a:srgbClr val="002060"/>
                  </a:solidFill>
                </a:rPr>
                <a:t>加密后的数据包</a:t>
              </a:r>
            </a:p>
          </p:txBody>
        </p:sp>
        <p:sp>
          <p:nvSpPr>
            <p:cNvPr id="967" name="Text Box 91">
              <a:extLst>
                <a:ext uri="{FF2B5EF4-FFF2-40B4-BE49-F238E27FC236}">
                  <a16:creationId xmlns:a16="http://schemas.microsoft.com/office/drawing/2014/main" id="{3A1FF486-0A68-4523-A1F0-15700A6DCAE4}"/>
                </a:ext>
              </a:extLst>
            </p:cNvPr>
            <p:cNvSpPr txBox="1">
              <a:spLocks noChangeArrowheads="1"/>
            </p:cNvSpPr>
            <p:nvPr/>
          </p:nvSpPr>
          <p:spPr bwMode="auto">
            <a:xfrm>
              <a:off x="4277" y="2352"/>
              <a:ext cx="418" cy="196"/>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ts val="0"/>
                </a:spcBef>
                <a:defRPr kumimoji="0" sz="14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t>摘要</a:t>
              </a:r>
            </a:p>
          </p:txBody>
        </p:sp>
      </p:grpSp>
      <p:grpSp>
        <p:nvGrpSpPr>
          <p:cNvPr id="64" name="组合 63">
            <a:extLst>
              <a:ext uri="{FF2B5EF4-FFF2-40B4-BE49-F238E27FC236}">
                <a16:creationId xmlns:a16="http://schemas.microsoft.com/office/drawing/2014/main" id="{C12C66E4-1879-4635-9E08-21324ECD270C}"/>
              </a:ext>
            </a:extLst>
          </p:cNvPr>
          <p:cNvGrpSpPr/>
          <p:nvPr/>
        </p:nvGrpSpPr>
        <p:grpSpPr>
          <a:xfrm rot="18941322">
            <a:off x="5210303" y="5140757"/>
            <a:ext cx="1889153" cy="267755"/>
            <a:chOff x="5954132" y="555823"/>
            <a:chExt cx="1889153" cy="267755"/>
          </a:xfrm>
        </p:grpSpPr>
        <p:grpSp>
          <p:nvGrpSpPr>
            <p:cNvPr id="968" name="Group 89">
              <a:extLst>
                <a:ext uri="{FF2B5EF4-FFF2-40B4-BE49-F238E27FC236}">
                  <a16:creationId xmlns:a16="http://schemas.microsoft.com/office/drawing/2014/main" id="{280A2496-A98A-4A1A-9A75-4B45AFC366E7}"/>
                </a:ext>
              </a:extLst>
            </p:cNvPr>
            <p:cNvGrpSpPr>
              <a:grpSpLocks/>
            </p:cNvGrpSpPr>
            <p:nvPr/>
          </p:nvGrpSpPr>
          <p:grpSpPr bwMode="auto">
            <a:xfrm>
              <a:off x="5954132" y="555823"/>
              <a:ext cx="1863983" cy="247222"/>
              <a:chOff x="4280" y="-2167"/>
              <a:chExt cx="1491" cy="198"/>
            </a:xfrm>
          </p:grpSpPr>
          <p:sp>
            <p:nvSpPr>
              <p:cNvPr id="969" name="Text Box 90">
                <a:extLst>
                  <a:ext uri="{FF2B5EF4-FFF2-40B4-BE49-F238E27FC236}">
                    <a16:creationId xmlns:a16="http://schemas.microsoft.com/office/drawing/2014/main" id="{491B9F50-AF95-4AC8-9D84-6B61089CFF9B}"/>
                  </a:ext>
                </a:extLst>
              </p:cNvPr>
              <p:cNvSpPr txBox="1">
                <a:spLocks noChangeArrowheads="1"/>
              </p:cNvSpPr>
              <p:nvPr/>
            </p:nvSpPr>
            <p:spPr bwMode="auto">
              <a:xfrm>
                <a:off x="4280" y="-2165"/>
                <a:ext cx="1165" cy="196"/>
              </a:xfrm>
              <a:prstGeom prst="rect">
                <a:avLst/>
              </a:prstGeom>
              <a:solidFill>
                <a:srgbClr val="C1EFFF"/>
              </a:solidFill>
              <a:ln>
                <a:noFill/>
              </a:ln>
              <a:effectLst/>
            </p:spPr>
            <p:txBody>
              <a:bodyPr wrap="square" lIns="72007" tIns="36004" rIns="72007" bIns="36004">
                <a:spAutoFit/>
              </a:bodyPr>
              <a:lstStyle>
                <a:defPPr>
                  <a:defRPr lang="zh-CN"/>
                </a:defPPr>
                <a:lvl1pPr defTabSz="720725" eaLnBrk="0" hangingPunct="0">
                  <a:lnSpc>
                    <a:spcPct val="77000"/>
                  </a:lnSpc>
                  <a:spcBef>
                    <a:spcPct val="50000"/>
                  </a:spcBef>
                  <a:buClr>
                    <a:srgbClr val="A50021"/>
                  </a:buClr>
                  <a:buSzPct val="114000"/>
                  <a:defRPr kumimoji="0" sz="1400" b="1">
                    <a:solidFill>
                      <a:schemeClr val="accent6">
                        <a:lumMod val="75000"/>
                      </a:schemeClr>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b="0" dirty="0">
                    <a:solidFill>
                      <a:srgbClr val="002060"/>
                    </a:solidFill>
                  </a:rPr>
                  <a:t>加密后的数据包</a:t>
                </a:r>
              </a:p>
            </p:txBody>
          </p:sp>
          <p:sp>
            <p:nvSpPr>
              <p:cNvPr id="970" name="Text Box 91">
                <a:extLst>
                  <a:ext uri="{FF2B5EF4-FFF2-40B4-BE49-F238E27FC236}">
                    <a16:creationId xmlns:a16="http://schemas.microsoft.com/office/drawing/2014/main" id="{AB8A5CD5-41EB-468A-8809-8A7E4D2C6096}"/>
                  </a:ext>
                </a:extLst>
              </p:cNvPr>
              <p:cNvSpPr txBox="1">
                <a:spLocks noChangeArrowheads="1"/>
              </p:cNvSpPr>
              <p:nvPr/>
            </p:nvSpPr>
            <p:spPr bwMode="auto">
              <a:xfrm>
                <a:off x="5361" y="-2167"/>
                <a:ext cx="410" cy="196"/>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ts val="0"/>
                  </a:spcBef>
                  <a:defRPr kumimoji="0" sz="14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t>摘要</a:t>
                </a:r>
              </a:p>
            </p:txBody>
          </p:sp>
        </p:grpSp>
        <p:sp>
          <p:nvSpPr>
            <p:cNvPr id="110" name="Line 108">
              <a:extLst>
                <a:ext uri="{FF2B5EF4-FFF2-40B4-BE49-F238E27FC236}">
                  <a16:creationId xmlns:a16="http://schemas.microsoft.com/office/drawing/2014/main" id="{40C7EAC1-9612-4B59-92E2-9B28EE5996E0}"/>
                </a:ext>
              </a:extLst>
            </p:cNvPr>
            <p:cNvSpPr>
              <a:spLocks noChangeShapeType="1"/>
            </p:cNvSpPr>
            <p:nvPr/>
          </p:nvSpPr>
          <p:spPr bwMode="auto">
            <a:xfrm flipH="1">
              <a:off x="5994625" y="813625"/>
              <a:ext cx="1848660" cy="9953"/>
            </a:xfrm>
            <a:prstGeom prst="line">
              <a:avLst/>
            </a:prstGeom>
            <a:noFill/>
            <a:ln w="38100" cmpd="tri">
              <a:pattFill prst="sphere">
                <a:fgClr>
                  <a:srgbClr val="FF3399"/>
                </a:fgClr>
                <a:bgClr>
                  <a:srgbClr val="9966FF"/>
                </a:bgClr>
              </a:patt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971" name="Text Box 87">
            <a:extLst>
              <a:ext uri="{FF2B5EF4-FFF2-40B4-BE49-F238E27FC236}">
                <a16:creationId xmlns:a16="http://schemas.microsoft.com/office/drawing/2014/main" id="{23165463-2118-4845-8A2F-58775D2A7F27}"/>
              </a:ext>
            </a:extLst>
          </p:cNvPr>
          <p:cNvSpPr txBox="1">
            <a:spLocks noChangeArrowheads="1"/>
          </p:cNvSpPr>
          <p:nvPr/>
        </p:nvSpPr>
        <p:spPr bwMode="auto">
          <a:xfrm>
            <a:off x="8107340" y="4378228"/>
            <a:ext cx="1131937" cy="245084"/>
          </a:xfrm>
          <a:prstGeom prst="rect">
            <a:avLst/>
          </a:prstGeom>
          <a:solidFill>
            <a:srgbClr val="FFFFCC"/>
          </a:solidFill>
          <a:ln w="9525">
            <a:noFill/>
            <a:miter lim="800000"/>
            <a:headEnd/>
            <a:tailEnd/>
          </a:ln>
          <a:effectLst/>
        </p:spPr>
        <p:txBody>
          <a:bodyPr wrap="square" lIns="72007" tIns="36004" rIns="72007" bIns="36004">
            <a:spAutoFit/>
          </a:bodyPr>
          <a:lstStyle>
            <a:defPPr>
              <a:defRPr lang="zh-CN"/>
            </a:defPPr>
            <a:lvl1pPr algn="ctr" defTabSz="720725" eaLnBrk="0" hangingPunct="0">
              <a:buClr>
                <a:srgbClr val="A50021"/>
              </a:buClr>
              <a:buSzPct val="114000"/>
              <a:defRPr kumimoji="0" sz="1400">
                <a:solidFill>
                  <a:srgbClr val="002060"/>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solidFill>
                  <a:srgbClr val="00B0F0"/>
                </a:solidFill>
              </a:rPr>
              <a:t>原始数据包</a:t>
            </a:r>
          </a:p>
        </p:txBody>
      </p:sp>
      <p:sp>
        <p:nvSpPr>
          <p:cNvPr id="972" name="Line 115">
            <a:extLst>
              <a:ext uri="{FF2B5EF4-FFF2-40B4-BE49-F238E27FC236}">
                <a16:creationId xmlns:a16="http://schemas.microsoft.com/office/drawing/2014/main" id="{2C0D6582-78E5-4861-807C-5F295B8F0A77}"/>
              </a:ext>
            </a:extLst>
          </p:cNvPr>
          <p:cNvSpPr>
            <a:spLocks noChangeShapeType="1"/>
          </p:cNvSpPr>
          <p:nvPr/>
        </p:nvSpPr>
        <p:spPr bwMode="auto">
          <a:xfrm flipV="1">
            <a:off x="9415115" y="3953355"/>
            <a:ext cx="702649" cy="0"/>
          </a:xfrm>
          <a:prstGeom prst="line">
            <a:avLst/>
          </a:prstGeom>
          <a:noFill/>
          <a:ln w="19050">
            <a:solidFill>
              <a:srgbClr val="66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974" name="Picture 5" descr="通用交换机">
            <a:extLst>
              <a:ext uri="{FF2B5EF4-FFF2-40B4-BE49-F238E27FC236}">
                <a16:creationId xmlns:a16="http://schemas.microsoft.com/office/drawing/2014/main" id="{36C5B54E-FF76-4F85-97FB-D4E642E511C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37603" y="2253433"/>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5" name="Picture 5" descr="通用交换机">
            <a:extLst>
              <a:ext uri="{FF2B5EF4-FFF2-40B4-BE49-F238E27FC236}">
                <a16:creationId xmlns:a16="http://schemas.microsoft.com/office/drawing/2014/main" id="{C5C58E31-C002-4A2C-AC77-75BBD6E8D9F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83291" y="3041015"/>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6" name="Picture 5" descr="通用交换机">
            <a:extLst>
              <a:ext uri="{FF2B5EF4-FFF2-40B4-BE49-F238E27FC236}">
                <a16:creationId xmlns:a16="http://schemas.microsoft.com/office/drawing/2014/main" id="{27022B2E-49BD-485F-A8F1-F28499C45F0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10961" y="3787764"/>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7" name="Picture 5" descr="通用交换机">
            <a:extLst>
              <a:ext uri="{FF2B5EF4-FFF2-40B4-BE49-F238E27FC236}">
                <a16:creationId xmlns:a16="http://schemas.microsoft.com/office/drawing/2014/main" id="{8D285FC0-0C20-48E1-8A68-C5CE54B3647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98333" y="4605784"/>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9" name="Picture 30" descr="通用路由器">
            <a:extLst>
              <a:ext uri="{FF2B5EF4-FFF2-40B4-BE49-F238E27FC236}">
                <a16:creationId xmlns:a16="http://schemas.microsoft.com/office/drawing/2014/main" id="{6CF3F850-961C-4119-A2CE-C68B73369A5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39885" y="5998917"/>
            <a:ext cx="612810" cy="342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 name="Picture 30" descr="通用路由器">
            <a:extLst>
              <a:ext uri="{FF2B5EF4-FFF2-40B4-BE49-F238E27FC236}">
                <a16:creationId xmlns:a16="http://schemas.microsoft.com/office/drawing/2014/main" id="{A4C8A6D6-7D33-4E08-85B8-DE132BB34C58}"/>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28558" y="5656762"/>
            <a:ext cx="586345" cy="327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8" name="Text Box 93">
            <a:extLst>
              <a:ext uri="{FF2B5EF4-FFF2-40B4-BE49-F238E27FC236}">
                <a16:creationId xmlns:a16="http://schemas.microsoft.com/office/drawing/2014/main" id="{B48AEDFB-033D-47EE-817F-6B99B1379E65}"/>
              </a:ext>
            </a:extLst>
          </p:cNvPr>
          <p:cNvSpPr txBox="1">
            <a:spLocks noChangeArrowheads="1"/>
          </p:cNvSpPr>
          <p:nvPr/>
        </p:nvSpPr>
        <p:spPr bwMode="auto">
          <a:xfrm>
            <a:off x="9656983" y="2455968"/>
            <a:ext cx="379111" cy="5035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just" eaLnBrk="0" hangingPunct="0">
              <a:spcBef>
                <a:spcPct val="50000"/>
              </a:spcBef>
            </a:pPr>
            <a:r>
              <a:rPr kumimoji="0" lang="zh-CN" altLang="en-US" sz="1400" dirty="0">
                <a:latin typeface="微软雅黑" panose="020B0503020204020204" pitchFamily="34" charset="-122"/>
                <a:ea typeface="微软雅黑" panose="020B0503020204020204" pitchFamily="34" charset="-122"/>
              </a:rPr>
              <a:t>合并</a:t>
            </a:r>
            <a:endParaRPr kumimoji="0" lang="en-US" altLang="zh-CN" sz="1400" dirty="0">
              <a:latin typeface="微软雅黑" panose="020B0503020204020204" pitchFamily="34" charset="-122"/>
              <a:ea typeface="微软雅黑" panose="020B0503020204020204" pitchFamily="34" charset="-122"/>
            </a:endParaRPr>
          </a:p>
        </p:txBody>
      </p:sp>
      <p:cxnSp>
        <p:nvCxnSpPr>
          <p:cNvPr id="72" name="连接符: 肘形 71">
            <a:extLst>
              <a:ext uri="{FF2B5EF4-FFF2-40B4-BE49-F238E27FC236}">
                <a16:creationId xmlns:a16="http://schemas.microsoft.com/office/drawing/2014/main" id="{EBCFC903-A94B-4155-979C-FFDE4B3F607E}"/>
              </a:ext>
            </a:extLst>
          </p:cNvPr>
          <p:cNvCxnSpPr>
            <a:stCxn id="100" idx="1"/>
            <a:endCxn id="267" idx="8"/>
          </p:cNvCxnSpPr>
          <p:nvPr/>
        </p:nvCxnSpPr>
        <p:spPr>
          <a:xfrm rot="5400000">
            <a:off x="6877878" y="568788"/>
            <a:ext cx="1035210" cy="4523001"/>
          </a:xfrm>
          <a:prstGeom prst="bentConnector2">
            <a:avLst/>
          </a:prstGeom>
          <a:ln w="19050">
            <a:solidFill>
              <a:srgbClr val="FF9966"/>
            </a:solidFill>
            <a:tailEnd type="triangle"/>
          </a:ln>
        </p:spPr>
        <p:style>
          <a:lnRef idx="1">
            <a:schemeClr val="accent1"/>
          </a:lnRef>
          <a:fillRef idx="0">
            <a:schemeClr val="accent1"/>
          </a:fillRef>
          <a:effectRef idx="0">
            <a:schemeClr val="accent1"/>
          </a:effectRef>
          <a:fontRef idx="minor">
            <a:schemeClr val="tx1"/>
          </a:fontRef>
        </p:style>
      </p:cxnSp>
      <p:cxnSp>
        <p:nvCxnSpPr>
          <p:cNvPr id="996" name="连接符: 肘形 995">
            <a:extLst>
              <a:ext uri="{FF2B5EF4-FFF2-40B4-BE49-F238E27FC236}">
                <a16:creationId xmlns:a16="http://schemas.microsoft.com/office/drawing/2014/main" id="{395B54C1-1A1A-4122-A2CF-6FECA9E0091C}"/>
              </a:ext>
            </a:extLst>
          </p:cNvPr>
          <p:cNvCxnSpPr>
            <a:cxnSpLocks/>
            <a:endCxn id="76" idx="1"/>
          </p:cNvCxnSpPr>
          <p:nvPr/>
        </p:nvCxnSpPr>
        <p:spPr>
          <a:xfrm>
            <a:off x="2729535" y="2635011"/>
            <a:ext cx="688439" cy="610336"/>
          </a:xfrm>
          <a:prstGeom prst="bentConnector3">
            <a:avLst>
              <a:gd name="adj1" fmla="val 50000"/>
            </a:avLst>
          </a:prstGeom>
          <a:ln>
            <a:solidFill>
              <a:srgbClr val="FF9966"/>
            </a:solidFill>
            <a:tailEnd type="triangle"/>
          </a:ln>
        </p:spPr>
        <p:style>
          <a:lnRef idx="1">
            <a:schemeClr val="accent1"/>
          </a:lnRef>
          <a:fillRef idx="0">
            <a:schemeClr val="accent1"/>
          </a:fillRef>
          <a:effectRef idx="0">
            <a:schemeClr val="accent1"/>
          </a:effectRef>
          <a:fontRef idx="minor">
            <a:schemeClr val="tx1"/>
          </a:fontRef>
        </p:style>
      </p:cxnSp>
      <p:cxnSp>
        <p:nvCxnSpPr>
          <p:cNvPr id="1005" name="连接符: 肘形 1004">
            <a:extLst>
              <a:ext uri="{FF2B5EF4-FFF2-40B4-BE49-F238E27FC236}">
                <a16:creationId xmlns:a16="http://schemas.microsoft.com/office/drawing/2014/main" id="{394B1C2B-52BD-4EE4-8E9E-1F6738769F6C}"/>
              </a:ext>
            </a:extLst>
          </p:cNvPr>
          <p:cNvCxnSpPr/>
          <p:nvPr/>
        </p:nvCxnSpPr>
        <p:spPr>
          <a:xfrm rot="16200000" flipH="1">
            <a:off x="2496501" y="2737583"/>
            <a:ext cx="793691" cy="338007"/>
          </a:xfrm>
          <a:prstGeom prst="bentConnector3">
            <a:avLst>
              <a:gd name="adj1" fmla="val -485"/>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7" name="连接符: 肘形 1006">
            <a:extLst>
              <a:ext uri="{FF2B5EF4-FFF2-40B4-BE49-F238E27FC236}">
                <a16:creationId xmlns:a16="http://schemas.microsoft.com/office/drawing/2014/main" id="{AE9FF2BA-F7DC-4B8E-BC69-416A79AE0CBA}"/>
              </a:ext>
            </a:extLst>
          </p:cNvPr>
          <p:cNvCxnSpPr>
            <a:cxnSpLocks/>
          </p:cNvCxnSpPr>
          <p:nvPr/>
        </p:nvCxnSpPr>
        <p:spPr>
          <a:xfrm rot="5400000" flipH="1" flipV="1">
            <a:off x="2085587" y="3858885"/>
            <a:ext cx="1555200" cy="403200"/>
          </a:xfrm>
          <a:prstGeom prst="bentConnector3">
            <a:avLst>
              <a:gd name="adj1" fmla="val -154"/>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21" name="文本框 1020">
            <a:extLst>
              <a:ext uri="{FF2B5EF4-FFF2-40B4-BE49-F238E27FC236}">
                <a16:creationId xmlns:a16="http://schemas.microsoft.com/office/drawing/2014/main" id="{4C5E1712-00AD-4EF6-B474-083480CBBD7A}"/>
              </a:ext>
            </a:extLst>
          </p:cNvPr>
          <p:cNvSpPr txBox="1"/>
          <p:nvPr/>
        </p:nvSpPr>
        <p:spPr>
          <a:xfrm>
            <a:off x="4759938" y="3442316"/>
            <a:ext cx="1060281" cy="307777"/>
          </a:xfrm>
          <a:prstGeom prst="rect">
            <a:avLst/>
          </a:prstGeom>
          <a:noFill/>
        </p:spPr>
        <p:txBody>
          <a:bodyPr wrap="square">
            <a:spAutoFit/>
          </a:bodyPr>
          <a:lstStyle/>
          <a:p>
            <a:pPr algn="ctr" eaLnBrk="0" hangingPunct="0">
              <a:spcBef>
                <a:spcPct val="50000"/>
              </a:spcBef>
              <a:buFont typeface="Wingdings" panose="05000000000000000000" pitchFamily="2" charset="2"/>
              <a:buNone/>
            </a:pPr>
            <a:r>
              <a:rPr kumimoji="0" lang="en-US" altLang="zh-CN" sz="1400" dirty="0">
                <a:solidFill>
                  <a:srgbClr val="002060"/>
                </a:solidFill>
                <a:latin typeface="微软雅黑" panose="020B0503020204020204" pitchFamily="34" charset="-122"/>
                <a:ea typeface="微软雅黑" panose="020B0503020204020204" pitchFamily="34" charset="-122"/>
              </a:rPr>
              <a:t>VPN</a:t>
            </a:r>
            <a:r>
              <a:rPr kumimoji="0" lang="zh-CN" altLang="en-US" sz="1400" dirty="0">
                <a:solidFill>
                  <a:srgbClr val="002060"/>
                </a:solidFill>
                <a:latin typeface="微软雅黑" panose="020B0503020204020204" pitchFamily="34" charset="-122"/>
                <a:ea typeface="微软雅黑" panose="020B0503020204020204" pitchFamily="34" charset="-122"/>
              </a:rPr>
              <a:t>网关</a:t>
            </a:r>
            <a:r>
              <a:rPr kumimoji="0" lang="en-US" altLang="zh-CN" sz="1400" dirty="0">
                <a:solidFill>
                  <a:srgbClr val="002060"/>
                </a:solidFill>
                <a:latin typeface="微软雅黑" panose="020B0503020204020204" pitchFamily="34" charset="-122"/>
                <a:ea typeface="微软雅黑" panose="020B0503020204020204" pitchFamily="34" charset="-122"/>
              </a:rPr>
              <a:t>A</a:t>
            </a:r>
          </a:p>
        </p:txBody>
      </p:sp>
      <p:sp>
        <p:nvSpPr>
          <p:cNvPr id="1023" name="文本框 1022">
            <a:extLst>
              <a:ext uri="{FF2B5EF4-FFF2-40B4-BE49-F238E27FC236}">
                <a16:creationId xmlns:a16="http://schemas.microsoft.com/office/drawing/2014/main" id="{B6BFAFB0-C502-4943-BF85-8156CD168852}"/>
              </a:ext>
            </a:extLst>
          </p:cNvPr>
          <p:cNvSpPr txBox="1"/>
          <p:nvPr/>
        </p:nvSpPr>
        <p:spPr>
          <a:xfrm>
            <a:off x="5919009" y="4219836"/>
            <a:ext cx="1029963" cy="307777"/>
          </a:xfrm>
          <a:prstGeom prst="rect">
            <a:avLst/>
          </a:prstGeom>
          <a:noFill/>
        </p:spPr>
        <p:txBody>
          <a:bodyPr wrap="square">
            <a:spAutoFit/>
          </a:bodyPr>
          <a:lstStyle/>
          <a:p>
            <a:pPr algn="ctr" eaLnBrk="0" hangingPunct="0">
              <a:spcBef>
                <a:spcPct val="50000"/>
              </a:spcBef>
              <a:buFont typeface="Wingdings" panose="05000000000000000000" pitchFamily="2" charset="2"/>
              <a:buNone/>
            </a:pPr>
            <a:r>
              <a:rPr kumimoji="0" lang="en-US" altLang="zh-CN" sz="1400" dirty="0">
                <a:solidFill>
                  <a:srgbClr val="002060"/>
                </a:solidFill>
                <a:latin typeface="微软雅黑" panose="020B0503020204020204" pitchFamily="34" charset="-122"/>
                <a:ea typeface="微软雅黑" panose="020B0503020204020204" pitchFamily="34" charset="-122"/>
              </a:rPr>
              <a:t>VPN</a:t>
            </a:r>
            <a:r>
              <a:rPr kumimoji="0" lang="zh-CN" altLang="en-US" sz="1400" dirty="0">
                <a:solidFill>
                  <a:srgbClr val="002060"/>
                </a:solidFill>
                <a:latin typeface="微软雅黑" panose="020B0503020204020204" pitchFamily="34" charset="-122"/>
                <a:ea typeface="微软雅黑" panose="020B0503020204020204" pitchFamily="34" charset="-122"/>
              </a:rPr>
              <a:t>网关</a:t>
            </a:r>
            <a:r>
              <a:rPr kumimoji="0" lang="en-US" altLang="zh-CN" sz="1400" dirty="0">
                <a:solidFill>
                  <a:srgbClr val="002060"/>
                </a:solidFill>
                <a:latin typeface="微软雅黑" panose="020B0503020204020204" pitchFamily="34" charset="-122"/>
                <a:ea typeface="微软雅黑" panose="020B0503020204020204" pitchFamily="34" charset="-122"/>
              </a:rPr>
              <a:t>B</a:t>
            </a:r>
          </a:p>
        </p:txBody>
      </p:sp>
      <p:cxnSp>
        <p:nvCxnSpPr>
          <p:cNvPr id="7" name="直接连接符 6">
            <a:extLst>
              <a:ext uri="{FF2B5EF4-FFF2-40B4-BE49-F238E27FC236}">
                <a16:creationId xmlns:a16="http://schemas.microsoft.com/office/drawing/2014/main" id="{5EFB5533-E02B-40AE-AAAA-A63F11B5CB1A}"/>
              </a:ext>
            </a:extLst>
          </p:cNvPr>
          <p:cNvCxnSpPr>
            <a:cxnSpLocks/>
            <a:stCxn id="979" idx="0"/>
            <a:endCxn id="553" idx="2"/>
          </p:cNvCxnSpPr>
          <p:nvPr/>
        </p:nvCxnSpPr>
        <p:spPr>
          <a:xfrm flipV="1">
            <a:off x="5646290" y="4628168"/>
            <a:ext cx="1407819" cy="1370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4" name="连接符: 肘形 983">
            <a:extLst>
              <a:ext uri="{FF2B5EF4-FFF2-40B4-BE49-F238E27FC236}">
                <a16:creationId xmlns:a16="http://schemas.microsoft.com/office/drawing/2014/main" id="{7AF56CD4-1790-4DEB-AF8A-CEF42BFA4AA5}"/>
              </a:ext>
            </a:extLst>
          </p:cNvPr>
          <p:cNvCxnSpPr>
            <a:cxnSpLocks/>
            <a:stCxn id="806" idx="3"/>
            <a:endCxn id="966" idx="1"/>
          </p:cNvCxnSpPr>
          <p:nvPr/>
        </p:nvCxnSpPr>
        <p:spPr>
          <a:xfrm flipV="1">
            <a:off x="7035471" y="3955584"/>
            <a:ext cx="449953" cy="414841"/>
          </a:xfrm>
          <a:prstGeom prst="bentConnector3">
            <a:avLst>
              <a:gd name="adj1" fmla="val 2049"/>
            </a:avLst>
          </a:prstGeom>
          <a:ln w="19050">
            <a:solidFill>
              <a:srgbClr val="6600FF"/>
            </a:solidFill>
            <a:tailEnd type="triangle"/>
          </a:ln>
        </p:spPr>
        <p:style>
          <a:lnRef idx="1">
            <a:schemeClr val="accent1"/>
          </a:lnRef>
          <a:fillRef idx="0">
            <a:schemeClr val="accent1"/>
          </a:fillRef>
          <a:effectRef idx="0">
            <a:schemeClr val="accent1"/>
          </a:effectRef>
          <a:fontRef idx="minor">
            <a:schemeClr val="tx1"/>
          </a:fontRef>
        </p:style>
      </p:cxnSp>
      <p:sp>
        <p:nvSpPr>
          <p:cNvPr id="990" name="Line 115">
            <a:extLst>
              <a:ext uri="{FF2B5EF4-FFF2-40B4-BE49-F238E27FC236}">
                <a16:creationId xmlns:a16="http://schemas.microsoft.com/office/drawing/2014/main" id="{E083231F-7829-4EAB-AD16-51EA8144ECF7}"/>
              </a:ext>
            </a:extLst>
          </p:cNvPr>
          <p:cNvSpPr>
            <a:spLocks noChangeShapeType="1"/>
          </p:cNvSpPr>
          <p:nvPr/>
        </p:nvSpPr>
        <p:spPr bwMode="auto">
          <a:xfrm flipV="1">
            <a:off x="7379734" y="4475365"/>
            <a:ext cx="702649" cy="0"/>
          </a:xfrm>
          <a:prstGeom prst="line">
            <a:avLst/>
          </a:prstGeom>
          <a:noFill/>
          <a:ln w="19050">
            <a:solidFill>
              <a:srgbClr val="6600FF"/>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 name="日期占位符 2">
            <a:extLst>
              <a:ext uri="{FF2B5EF4-FFF2-40B4-BE49-F238E27FC236}">
                <a16:creationId xmlns:a16="http://schemas.microsoft.com/office/drawing/2014/main" id="{72FBE73E-0CE3-49C2-9045-68F79AE31433}"/>
              </a:ext>
            </a:extLst>
          </p:cNvPr>
          <p:cNvSpPr>
            <a:spLocks noGrp="1"/>
          </p:cNvSpPr>
          <p:nvPr>
            <p:ph type="dt" sz="half" idx="10"/>
          </p:nvPr>
        </p:nvSpPr>
        <p:spPr/>
        <p:txBody>
          <a:bodyPr/>
          <a:lstStyle/>
          <a:p>
            <a:r>
              <a:rPr kumimoji="1" lang="en-US" altLang="zh-CN" dirty="0"/>
              <a:t>5.10.2 VPN</a:t>
            </a:r>
            <a:r>
              <a:rPr kumimoji="1" lang="zh-CN" altLang="en-US" dirty="0"/>
              <a:t>技术</a:t>
            </a:r>
          </a:p>
        </p:txBody>
      </p:sp>
      <p:sp>
        <p:nvSpPr>
          <p:cNvPr id="962" name="灯片编号占位符 3">
            <a:extLst>
              <a:ext uri="{FF2B5EF4-FFF2-40B4-BE49-F238E27FC236}">
                <a16:creationId xmlns:a16="http://schemas.microsoft.com/office/drawing/2014/main" id="{C1D8332A-7D9C-0F42-982C-FF9922FB7798}"/>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251</a:t>
            </a:fld>
            <a:endParaRPr kumimoji="1" lang="zh-CN" altLang="en-US" dirty="0"/>
          </a:p>
        </p:txBody>
      </p:sp>
      <p:pic>
        <p:nvPicPr>
          <p:cNvPr id="981" name="Picture 28" descr="015">
            <a:extLst>
              <a:ext uri="{FF2B5EF4-FFF2-40B4-BE49-F238E27FC236}">
                <a16:creationId xmlns:a16="http://schemas.microsoft.com/office/drawing/2014/main" id="{D0A2D22E-7F46-46FA-A8DE-CD3C27786228}"/>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57473472"/>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lstStyle/>
          <a:p>
            <a:r>
              <a:rPr kumimoji="1" lang="en-US" altLang="zh-CN" dirty="0"/>
              <a:t>VPN</a:t>
            </a:r>
            <a:r>
              <a:rPr kumimoji="1" lang="zh-CN" altLang="en-US" dirty="0"/>
              <a:t>的实现方式</a:t>
            </a:r>
          </a:p>
        </p:txBody>
      </p:sp>
      <p:sp>
        <p:nvSpPr>
          <p:cNvPr id="3" name="内容占位符 2">
            <a:extLst>
              <a:ext uri="{FF2B5EF4-FFF2-40B4-BE49-F238E27FC236}">
                <a16:creationId xmlns:a16="http://schemas.microsoft.com/office/drawing/2014/main" id="{EF3F4F3D-A29F-C542-9C8A-E338A2E76276}"/>
              </a:ext>
            </a:extLst>
          </p:cNvPr>
          <p:cNvSpPr>
            <a:spLocks noGrp="1"/>
          </p:cNvSpPr>
          <p:nvPr>
            <p:ph idx="1"/>
          </p:nvPr>
        </p:nvSpPr>
        <p:spPr>
          <a:xfrm>
            <a:off x="811877" y="1427179"/>
            <a:ext cx="5377802" cy="615934"/>
          </a:xfrm>
        </p:spPr>
        <p:txBody>
          <a:bodyPr>
            <a:normAutofit/>
          </a:bodyPr>
          <a:lstStyle/>
          <a:p>
            <a:r>
              <a:rPr lang="zh-CN" altLang="en-US" dirty="0">
                <a:latin typeface="微软雅黑" panose="020B0503020204020204" pitchFamily="34" charset="-122"/>
                <a:ea typeface="微软雅黑" panose="020B0503020204020204" pitchFamily="34" charset="-122"/>
              </a:rPr>
              <a:t>用</a:t>
            </a:r>
            <a:r>
              <a:rPr lang="en-US" altLang="zh-CN" dirty="0">
                <a:latin typeface="微软雅黑" panose="020B0503020204020204" pitchFamily="34" charset="-122"/>
                <a:ea typeface="微软雅黑" panose="020B0503020204020204" pitchFamily="34" charset="-122"/>
              </a:rPr>
              <a:t>VPN</a:t>
            </a:r>
            <a:r>
              <a:rPr lang="zh-CN" altLang="en-US" dirty="0">
                <a:latin typeface="微软雅黑" panose="020B0503020204020204" pitchFamily="34" charset="-122"/>
                <a:ea typeface="微软雅黑" panose="020B0503020204020204" pitchFamily="34" charset="-122"/>
              </a:rPr>
              <a:t>连接分支机构</a:t>
            </a:r>
            <a:endParaRPr lang="en-US" altLang="zh-CN" dirty="0">
              <a:latin typeface="微软雅黑" panose="020B0503020204020204" pitchFamily="34" charset="-122"/>
              <a:ea typeface="微软雅黑" panose="020B0503020204020204" pitchFamily="34" charset="-122"/>
            </a:endParaRPr>
          </a:p>
          <a:p>
            <a:pPr marL="457200" lvl="1" indent="0">
              <a:buNone/>
            </a:pPr>
            <a:endParaRPr kumimoji="1" lang="zh-CN" altLang="en-US" dirty="0"/>
          </a:p>
        </p:txBody>
      </p:sp>
      <p:sp>
        <p:nvSpPr>
          <p:cNvPr id="4" name="灯片编号占位符 3">
            <a:extLst>
              <a:ext uri="{FF2B5EF4-FFF2-40B4-BE49-F238E27FC236}">
                <a16:creationId xmlns:a16="http://schemas.microsoft.com/office/drawing/2014/main" id="{BE5C4434-6C32-D240-9DF2-915F87DB6D82}"/>
              </a:ext>
            </a:extLst>
          </p:cNvPr>
          <p:cNvSpPr>
            <a:spLocks noGrp="1"/>
          </p:cNvSpPr>
          <p:nvPr>
            <p:ph type="sldNum" sz="quarter" idx="12"/>
          </p:nvPr>
        </p:nvSpPr>
        <p:spPr/>
        <p:txBody>
          <a:bodyPr/>
          <a:lstStyle/>
          <a:p>
            <a:fld id="{8D4D1E41-7A09-AB4A-A4E1-09765ADA2698}" type="slidenum">
              <a:rPr kumimoji="1" lang="zh-CN" altLang="en-US" smtClean="0"/>
              <a:t>252</a:t>
            </a:fld>
            <a:endParaRPr kumimoji="1" lang="zh-CN" altLang="en-US" dirty="0"/>
          </a:p>
        </p:txBody>
      </p:sp>
      <p:sp>
        <p:nvSpPr>
          <p:cNvPr id="67" name="Line 3">
            <a:extLst>
              <a:ext uri="{FF2B5EF4-FFF2-40B4-BE49-F238E27FC236}">
                <a16:creationId xmlns:a16="http://schemas.microsoft.com/office/drawing/2014/main" id="{6992340E-5018-405A-AC53-111AF60E5284}"/>
              </a:ext>
            </a:extLst>
          </p:cNvPr>
          <p:cNvSpPr>
            <a:spLocks noChangeShapeType="1"/>
          </p:cNvSpPr>
          <p:nvPr/>
        </p:nvSpPr>
        <p:spPr bwMode="auto">
          <a:xfrm flipV="1">
            <a:off x="2993946" y="3110420"/>
            <a:ext cx="0" cy="240030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 name="Line 4">
            <a:extLst>
              <a:ext uri="{FF2B5EF4-FFF2-40B4-BE49-F238E27FC236}">
                <a16:creationId xmlns:a16="http://schemas.microsoft.com/office/drawing/2014/main" id="{A363E9F5-FD5E-4B59-9D00-8FF0FFDD5A62}"/>
              </a:ext>
            </a:extLst>
          </p:cNvPr>
          <p:cNvSpPr>
            <a:spLocks noChangeShapeType="1"/>
          </p:cNvSpPr>
          <p:nvPr/>
        </p:nvSpPr>
        <p:spPr bwMode="auto">
          <a:xfrm>
            <a:off x="3392408" y="5617082"/>
            <a:ext cx="1081088" cy="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 name="Line 5">
            <a:extLst>
              <a:ext uri="{FF2B5EF4-FFF2-40B4-BE49-F238E27FC236}">
                <a16:creationId xmlns:a16="http://schemas.microsoft.com/office/drawing/2014/main" id="{0EA6AB46-2D7F-4AA5-A854-DFD604F63E43}"/>
              </a:ext>
            </a:extLst>
          </p:cNvPr>
          <p:cNvSpPr>
            <a:spLocks noChangeShapeType="1"/>
          </p:cNvSpPr>
          <p:nvPr/>
        </p:nvSpPr>
        <p:spPr bwMode="auto">
          <a:xfrm>
            <a:off x="8215233" y="3051682"/>
            <a:ext cx="0" cy="240030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 name="Line 6">
            <a:extLst>
              <a:ext uri="{FF2B5EF4-FFF2-40B4-BE49-F238E27FC236}">
                <a16:creationId xmlns:a16="http://schemas.microsoft.com/office/drawing/2014/main" id="{B37A28C0-025E-4225-BC51-A239C9213113}"/>
              </a:ext>
            </a:extLst>
          </p:cNvPr>
          <p:cNvSpPr>
            <a:spLocks noChangeShapeType="1"/>
          </p:cNvSpPr>
          <p:nvPr/>
        </p:nvSpPr>
        <p:spPr bwMode="auto">
          <a:xfrm>
            <a:off x="7053183" y="5617082"/>
            <a:ext cx="960438" cy="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71" name="Object 10">
            <a:extLst>
              <a:ext uri="{FF2B5EF4-FFF2-40B4-BE49-F238E27FC236}">
                <a16:creationId xmlns:a16="http://schemas.microsoft.com/office/drawing/2014/main" id="{0B865A1D-6F4E-460D-94DF-80AD11B1542A}"/>
              </a:ext>
            </a:extLst>
          </p:cNvPr>
          <p:cNvGraphicFramePr>
            <a:graphicFrameLocks noChangeAspect="1"/>
          </p:cNvGraphicFramePr>
          <p:nvPr/>
        </p:nvGraphicFramePr>
        <p:xfrm>
          <a:off x="2733596" y="5498020"/>
          <a:ext cx="658812" cy="292100"/>
        </p:xfrm>
        <a:graphic>
          <a:graphicData uri="http://schemas.openxmlformats.org/presentationml/2006/ole">
            <mc:AlternateContent xmlns:mc="http://schemas.openxmlformats.org/markup-compatibility/2006">
              <mc:Choice xmlns:v="urn:schemas-microsoft-com:vml" Requires="v">
                <p:oleObj name="文档" r:id="rId3" imgW="886320" imgH="937800" progId="Word.Document.8">
                  <p:embed/>
                </p:oleObj>
              </mc:Choice>
              <mc:Fallback>
                <p:oleObj name="文档" r:id="rId3" imgW="886320" imgH="937800" progId="Word.Document.8">
                  <p:embed/>
                  <p:pic>
                    <p:nvPicPr>
                      <p:cNvPr id="71" name="Object 10">
                        <a:extLst>
                          <a:ext uri="{FF2B5EF4-FFF2-40B4-BE49-F238E27FC236}">
                            <a16:creationId xmlns:a16="http://schemas.microsoft.com/office/drawing/2014/main" id="{0B865A1D-6F4E-460D-94DF-80AD11B154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33596" y="5498020"/>
                        <a:ext cx="658812"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2" name="Object 11">
            <a:extLst>
              <a:ext uri="{FF2B5EF4-FFF2-40B4-BE49-F238E27FC236}">
                <a16:creationId xmlns:a16="http://schemas.microsoft.com/office/drawing/2014/main" id="{96B661FC-3CB9-4157-9491-4A0CF9444A61}"/>
              </a:ext>
            </a:extLst>
          </p:cNvPr>
          <p:cNvGraphicFramePr>
            <a:graphicFrameLocks noChangeAspect="1"/>
          </p:cNvGraphicFramePr>
          <p:nvPr/>
        </p:nvGraphicFramePr>
        <p:xfrm>
          <a:off x="8013621" y="5437695"/>
          <a:ext cx="660400" cy="292100"/>
        </p:xfrm>
        <a:graphic>
          <a:graphicData uri="http://schemas.openxmlformats.org/presentationml/2006/ole">
            <mc:AlternateContent xmlns:mc="http://schemas.openxmlformats.org/markup-compatibility/2006">
              <mc:Choice xmlns:v="urn:schemas-microsoft-com:vml" Requires="v">
                <p:oleObj name="文档" r:id="rId3" imgW="886320" imgH="937800" progId="Word.Document.8">
                  <p:embed/>
                </p:oleObj>
              </mc:Choice>
              <mc:Fallback>
                <p:oleObj name="文档" r:id="rId3" imgW="886320" imgH="937800" progId="Word.Document.8">
                  <p:embed/>
                  <p:pic>
                    <p:nvPicPr>
                      <p:cNvPr id="72" name="Object 11">
                        <a:extLst>
                          <a:ext uri="{FF2B5EF4-FFF2-40B4-BE49-F238E27FC236}">
                            <a16:creationId xmlns:a16="http://schemas.microsoft.com/office/drawing/2014/main" id="{96B661FC-3CB9-4157-9491-4A0CF9444A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13621" y="5437695"/>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3" name="Group 12">
            <a:extLst>
              <a:ext uri="{FF2B5EF4-FFF2-40B4-BE49-F238E27FC236}">
                <a16:creationId xmlns:a16="http://schemas.microsoft.com/office/drawing/2014/main" id="{4F3F18DA-D272-4E70-89F9-13B913B4E647}"/>
              </a:ext>
            </a:extLst>
          </p:cNvPr>
          <p:cNvGrpSpPr>
            <a:grpSpLocks/>
          </p:cNvGrpSpPr>
          <p:nvPr/>
        </p:nvGrpSpPr>
        <p:grpSpPr bwMode="auto">
          <a:xfrm>
            <a:off x="7254110" y="1985683"/>
            <a:ext cx="2432263" cy="1381125"/>
            <a:chOff x="1152" y="1824"/>
            <a:chExt cx="1200" cy="1104"/>
          </a:xfrm>
        </p:grpSpPr>
        <p:sp>
          <p:nvSpPr>
            <p:cNvPr id="74" name="Oval 13">
              <a:extLst>
                <a:ext uri="{FF2B5EF4-FFF2-40B4-BE49-F238E27FC236}">
                  <a16:creationId xmlns:a16="http://schemas.microsoft.com/office/drawing/2014/main" id="{033900AB-59EA-45AB-B166-354E853DFF18}"/>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75" name="Line 14">
              <a:extLst>
                <a:ext uri="{FF2B5EF4-FFF2-40B4-BE49-F238E27FC236}">
                  <a16:creationId xmlns:a16="http://schemas.microsoft.com/office/drawing/2014/main" id="{E24386CF-5508-4056-B616-A7B5FEE57F14}"/>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 name="Line 15">
              <a:extLst>
                <a:ext uri="{FF2B5EF4-FFF2-40B4-BE49-F238E27FC236}">
                  <a16:creationId xmlns:a16="http://schemas.microsoft.com/office/drawing/2014/main" id="{47CF00B0-FAC4-4CBF-B9BD-C669E24B3135}"/>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 name="Line 16">
              <a:extLst>
                <a:ext uri="{FF2B5EF4-FFF2-40B4-BE49-F238E27FC236}">
                  <a16:creationId xmlns:a16="http://schemas.microsoft.com/office/drawing/2014/main" id="{4BEE90C9-C55B-4753-A54A-997D0D1B600E}"/>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 name="Line 17">
              <a:extLst>
                <a:ext uri="{FF2B5EF4-FFF2-40B4-BE49-F238E27FC236}">
                  <a16:creationId xmlns:a16="http://schemas.microsoft.com/office/drawing/2014/main" id="{0253CA9D-DBE5-4680-9E3E-B4C45C106772}"/>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79" name="Picture 18">
              <a:extLst>
                <a:ext uri="{FF2B5EF4-FFF2-40B4-BE49-F238E27FC236}">
                  <a16:creationId xmlns:a16="http://schemas.microsoft.com/office/drawing/2014/main" id="{42123E04-D08D-45FB-94A2-2CC9BAC068FD}"/>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80" name="Object 19">
              <a:extLst>
                <a:ext uri="{FF2B5EF4-FFF2-40B4-BE49-F238E27FC236}">
                  <a16:creationId xmlns:a16="http://schemas.microsoft.com/office/drawing/2014/main" id="{4F0EF2E6-E916-4B39-8318-0C21278B1D34}"/>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name="Clip" r:id="rId6" imgW="2734920" imgH="3825360" progId="MS_ClipArt_Gallery.5">
                    <p:embed/>
                  </p:oleObj>
                </mc:Choice>
                <mc:Fallback>
                  <p:oleObj name="Clip" r:id="rId6" imgW="2734920" imgH="3825360" progId="MS_ClipArt_Gallery.5">
                    <p:embed/>
                    <p:pic>
                      <p:nvPicPr>
                        <p:cNvPr id="80" name="Object 19">
                          <a:extLst>
                            <a:ext uri="{FF2B5EF4-FFF2-40B4-BE49-F238E27FC236}">
                              <a16:creationId xmlns:a16="http://schemas.microsoft.com/office/drawing/2014/main" id="{4F0EF2E6-E916-4B39-8318-0C21278B1D3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81" name="Picture 20">
              <a:extLst>
                <a:ext uri="{FF2B5EF4-FFF2-40B4-BE49-F238E27FC236}">
                  <a16:creationId xmlns:a16="http://schemas.microsoft.com/office/drawing/2014/main" id="{52D6E6D6-50F7-4273-8FB2-59EB1213ACF3}"/>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2" name="Picture 21">
              <a:extLst>
                <a:ext uri="{FF2B5EF4-FFF2-40B4-BE49-F238E27FC236}">
                  <a16:creationId xmlns:a16="http://schemas.microsoft.com/office/drawing/2014/main" id="{CE8FF062-324E-4678-BC3E-F16FE8408B6F}"/>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3" name="Picture 22">
              <a:extLst>
                <a:ext uri="{FF2B5EF4-FFF2-40B4-BE49-F238E27FC236}">
                  <a16:creationId xmlns:a16="http://schemas.microsoft.com/office/drawing/2014/main" id="{2621864A-C6EE-495B-ACC2-7593E37F6F10}"/>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4" name="Rectangle 23">
              <a:extLst>
                <a:ext uri="{FF2B5EF4-FFF2-40B4-BE49-F238E27FC236}">
                  <a16:creationId xmlns:a16="http://schemas.microsoft.com/office/drawing/2014/main" id="{19279CF1-8EF5-4CEB-BA4E-52BCD888DFE3}"/>
                </a:ext>
              </a:extLst>
            </p:cNvPr>
            <p:cNvSpPr>
              <a:spLocks noChangeArrowheads="1"/>
            </p:cNvSpPr>
            <p:nvPr/>
          </p:nvSpPr>
          <p:spPr bwMode="auto">
            <a:xfrm>
              <a:off x="1542" y="1958"/>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分支机构</a:t>
              </a:r>
            </a:p>
          </p:txBody>
        </p:sp>
        <p:sp>
          <p:nvSpPr>
            <p:cNvPr id="85" name="Line 24">
              <a:extLst>
                <a:ext uri="{FF2B5EF4-FFF2-40B4-BE49-F238E27FC236}">
                  <a16:creationId xmlns:a16="http://schemas.microsoft.com/office/drawing/2014/main" id="{08C91D47-30BA-42D7-BA0A-FD2EC98E47BC}"/>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 name="Line 25">
              <a:extLst>
                <a:ext uri="{FF2B5EF4-FFF2-40B4-BE49-F238E27FC236}">
                  <a16:creationId xmlns:a16="http://schemas.microsoft.com/office/drawing/2014/main" id="{E2DB9409-871E-4013-A5B2-5F03D5EF0C05}"/>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87" name="Object 26">
              <a:extLst>
                <a:ext uri="{FF2B5EF4-FFF2-40B4-BE49-F238E27FC236}">
                  <a16:creationId xmlns:a16="http://schemas.microsoft.com/office/drawing/2014/main" id="{4F8D9A94-FCD2-4F27-AB50-2C119979DAA5}"/>
                </a:ext>
              </a:extLst>
            </p:cNvPr>
            <p:cNvGraphicFramePr>
              <a:graphicFrameLocks/>
            </p:cNvGraphicFramePr>
            <p:nvPr/>
          </p:nvGraphicFramePr>
          <p:xfrm>
            <a:off x="1783" y="2544"/>
            <a:ext cx="288" cy="239"/>
          </p:xfrm>
          <a:graphic>
            <a:graphicData uri="http://schemas.openxmlformats.org/presentationml/2006/ole">
              <mc:AlternateContent xmlns:mc="http://schemas.openxmlformats.org/markup-compatibility/2006">
                <mc:Choice xmlns:v="urn:schemas-microsoft-com:vml" Requires="v">
                  <p:oleObj name="剪辑" r:id="rId10" imgW="1012680" imgH="809280" progId="MS_ClipArt_Gallery.2">
                    <p:embed/>
                  </p:oleObj>
                </mc:Choice>
                <mc:Fallback>
                  <p:oleObj name="剪辑" r:id="rId10" imgW="1012680" imgH="809280" progId="MS_ClipArt_Gallery.2">
                    <p:embed/>
                    <p:pic>
                      <p:nvPicPr>
                        <p:cNvPr id="87" name="Object 26">
                          <a:extLst>
                            <a:ext uri="{FF2B5EF4-FFF2-40B4-BE49-F238E27FC236}">
                              <a16:creationId xmlns:a16="http://schemas.microsoft.com/office/drawing/2014/main" id="{4F8D9A94-FCD2-4F27-AB50-2C119979DAA5}"/>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83"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8" name="Line 27">
              <a:extLst>
                <a:ext uri="{FF2B5EF4-FFF2-40B4-BE49-F238E27FC236}">
                  <a16:creationId xmlns:a16="http://schemas.microsoft.com/office/drawing/2014/main" id="{BF1A0914-9CC5-4787-93DA-4E1AE812FA28}"/>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89" name="Text Box 28">
            <a:extLst>
              <a:ext uri="{FF2B5EF4-FFF2-40B4-BE49-F238E27FC236}">
                <a16:creationId xmlns:a16="http://schemas.microsoft.com/office/drawing/2014/main" id="{762C2DBB-3F2E-4707-A3D2-F52B63F22962}"/>
              </a:ext>
            </a:extLst>
          </p:cNvPr>
          <p:cNvSpPr txBox="1">
            <a:spLocks noChangeArrowheads="1"/>
          </p:cNvSpPr>
          <p:nvPr/>
        </p:nvSpPr>
        <p:spPr bwMode="auto">
          <a:xfrm>
            <a:off x="2106067" y="5798057"/>
            <a:ext cx="1406991"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A</a:t>
            </a:r>
          </a:p>
        </p:txBody>
      </p:sp>
      <p:sp>
        <p:nvSpPr>
          <p:cNvPr id="90" name="Text Box 29">
            <a:extLst>
              <a:ext uri="{FF2B5EF4-FFF2-40B4-BE49-F238E27FC236}">
                <a16:creationId xmlns:a16="http://schemas.microsoft.com/office/drawing/2014/main" id="{BEE53F12-100B-4B45-8AB1-E2C3DD060950}"/>
              </a:ext>
            </a:extLst>
          </p:cNvPr>
          <p:cNvSpPr txBox="1">
            <a:spLocks noChangeArrowheads="1"/>
          </p:cNvSpPr>
          <p:nvPr/>
        </p:nvSpPr>
        <p:spPr bwMode="auto">
          <a:xfrm>
            <a:off x="7654637" y="5810752"/>
            <a:ext cx="1514699"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B</a:t>
            </a:r>
          </a:p>
        </p:txBody>
      </p:sp>
      <p:grpSp>
        <p:nvGrpSpPr>
          <p:cNvPr id="91" name="Group 30">
            <a:extLst>
              <a:ext uri="{FF2B5EF4-FFF2-40B4-BE49-F238E27FC236}">
                <a16:creationId xmlns:a16="http://schemas.microsoft.com/office/drawing/2014/main" id="{D94AF32E-D092-4509-9CEF-AACD43320AD3}"/>
              </a:ext>
            </a:extLst>
          </p:cNvPr>
          <p:cNvGrpSpPr>
            <a:grpSpLocks/>
          </p:cNvGrpSpPr>
          <p:nvPr/>
        </p:nvGrpSpPr>
        <p:grpSpPr bwMode="auto">
          <a:xfrm>
            <a:off x="2079647" y="2030920"/>
            <a:ext cx="2286200" cy="1379537"/>
            <a:chOff x="1152" y="1824"/>
            <a:chExt cx="1200" cy="1104"/>
          </a:xfrm>
        </p:grpSpPr>
        <p:sp>
          <p:nvSpPr>
            <p:cNvPr id="92" name="Oval 31">
              <a:extLst>
                <a:ext uri="{FF2B5EF4-FFF2-40B4-BE49-F238E27FC236}">
                  <a16:creationId xmlns:a16="http://schemas.microsoft.com/office/drawing/2014/main" id="{61EC0887-6F2F-4B20-96FD-4294560409FB}"/>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3" name="Line 32">
              <a:extLst>
                <a:ext uri="{FF2B5EF4-FFF2-40B4-BE49-F238E27FC236}">
                  <a16:creationId xmlns:a16="http://schemas.microsoft.com/office/drawing/2014/main" id="{21B37719-F244-4616-8EFC-2A233D02D09A}"/>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 name="Line 33">
              <a:extLst>
                <a:ext uri="{FF2B5EF4-FFF2-40B4-BE49-F238E27FC236}">
                  <a16:creationId xmlns:a16="http://schemas.microsoft.com/office/drawing/2014/main" id="{011BD9FA-D827-48D9-9C04-5EB63922CFA5}"/>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 name="Line 34">
              <a:extLst>
                <a:ext uri="{FF2B5EF4-FFF2-40B4-BE49-F238E27FC236}">
                  <a16:creationId xmlns:a16="http://schemas.microsoft.com/office/drawing/2014/main" id="{F712B1FF-013B-47E2-B0F7-A21B4A7C8B66}"/>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6" name="Line 35">
              <a:extLst>
                <a:ext uri="{FF2B5EF4-FFF2-40B4-BE49-F238E27FC236}">
                  <a16:creationId xmlns:a16="http://schemas.microsoft.com/office/drawing/2014/main" id="{BF963AFD-EE17-46E2-ACCA-39280AFAE0E5}"/>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97" name="Picture 36">
              <a:extLst>
                <a:ext uri="{FF2B5EF4-FFF2-40B4-BE49-F238E27FC236}">
                  <a16:creationId xmlns:a16="http://schemas.microsoft.com/office/drawing/2014/main" id="{CA9A35D9-789B-41EA-AD6C-A24B527D591F}"/>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98" name="Object 37">
              <a:extLst>
                <a:ext uri="{FF2B5EF4-FFF2-40B4-BE49-F238E27FC236}">
                  <a16:creationId xmlns:a16="http://schemas.microsoft.com/office/drawing/2014/main" id="{E35D2E08-EFAB-45A6-8C55-88AEE50A1EB4}"/>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name="Clip" r:id="rId6" imgW="2734920" imgH="3825360" progId="MS_ClipArt_Gallery.5">
                    <p:embed/>
                  </p:oleObj>
                </mc:Choice>
                <mc:Fallback>
                  <p:oleObj name="Clip" r:id="rId6" imgW="2734920" imgH="3825360" progId="MS_ClipArt_Gallery.5">
                    <p:embed/>
                    <p:pic>
                      <p:nvPicPr>
                        <p:cNvPr id="98" name="Object 37">
                          <a:extLst>
                            <a:ext uri="{FF2B5EF4-FFF2-40B4-BE49-F238E27FC236}">
                              <a16:creationId xmlns:a16="http://schemas.microsoft.com/office/drawing/2014/main" id="{E35D2E08-EFAB-45A6-8C55-88AEE50A1EB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99" name="Picture 38">
              <a:extLst>
                <a:ext uri="{FF2B5EF4-FFF2-40B4-BE49-F238E27FC236}">
                  <a16:creationId xmlns:a16="http://schemas.microsoft.com/office/drawing/2014/main" id="{8A9CC85B-4843-419D-9313-73906240130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 name="Picture 39">
              <a:extLst>
                <a:ext uri="{FF2B5EF4-FFF2-40B4-BE49-F238E27FC236}">
                  <a16:creationId xmlns:a16="http://schemas.microsoft.com/office/drawing/2014/main" id="{4DF49D1A-8897-4CED-BB2C-B1E009E94064}"/>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40">
              <a:extLst>
                <a:ext uri="{FF2B5EF4-FFF2-40B4-BE49-F238E27FC236}">
                  <a16:creationId xmlns:a16="http://schemas.microsoft.com/office/drawing/2014/main" id="{4400E893-50BE-4619-B0DA-8C941B4FEE8B}"/>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2" name="Rectangle 41">
              <a:extLst>
                <a:ext uri="{FF2B5EF4-FFF2-40B4-BE49-F238E27FC236}">
                  <a16:creationId xmlns:a16="http://schemas.microsoft.com/office/drawing/2014/main" id="{2715C7D4-C1B4-4169-8BE3-9C5B2E84A5A9}"/>
                </a:ext>
              </a:extLst>
            </p:cNvPr>
            <p:cNvSpPr>
              <a:spLocks noChangeArrowheads="1"/>
            </p:cNvSpPr>
            <p:nvPr/>
          </p:nvSpPr>
          <p:spPr bwMode="auto">
            <a:xfrm>
              <a:off x="1535" y="1934"/>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总部</a:t>
              </a:r>
            </a:p>
          </p:txBody>
        </p:sp>
        <p:sp>
          <p:nvSpPr>
            <p:cNvPr id="103" name="Line 42">
              <a:extLst>
                <a:ext uri="{FF2B5EF4-FFF2-40B4-BE49-F238E27FC236}">
                  <a16:creationId xmlns:a16="http://schemas.microsoft.com/office/drawing/2014/main" id="{50AF1E77-FAD0-42A7-B007-FB03B920672A}"/>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4" name="Line 43">
              <a:extLst>
                <a:ext uri="{FF2B5EF4-FFF2-40B4-BE49-F238E27FC236}">
                  <a16:creationId xmlns:a16="http://schemas.microsoft.com/office/drawing/2014/main" id="{908D3C08-5450-43EC-80EC-5840EEE7C5AF}"/>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05" name="Object 44">
              <a:extLst>
                <a:ext uri="{FF2B5EF4-FFF2-40B4-BE49-F238E27FC236}">
                  <a16:creationId xmlns:a16="http://schemas.microsoft.com/office/drawing/2014/main" id="{74F79544-CB71-4E79-8D82-26958B17594D}"/>
                </a:ext>
              </a:extLst>
            </p:cNvPr>
            <p:cNvGraphicFramePr>
              <a:graphicFrameLocks/>
            </p:cNvGraphicFramePr>
            <p:nvPr/>
          </p:nvGraphicFramePr>
          <p:xfrm>
            <a:off x="1776" y="2544"/>
            <a:ext cx="288" cy="239"/>
          </p:xfrm>
          <a:graphic>
            <a:graphicData uri="http://schemas.openxmlformats.org/presentationml/2006/ole">
              <mc:AlternateContent xmlns:mc="http://schemas.openxmlformats.org/markup-compatibility/2006">
                <mc:Choice xmlns:v="urn:schemas-microsoft-com:vml" Requires="v">
                  <p:oleObj name="剪辑" r:id="rId10" imgW="1012680" imgH="809280" progId="MS_ClipArt_Gallery.2">
                    <p:embed/>
                  </p:oleObj>
                </mc:Choice>
                <mc:Fallback>
                  <p:oleObj name="剪辑" r:id="rId10" imgW="1012680" imgH="809280" progId="MS_ClipArt_Gallery.2">
                    <p:embed/>
                    <p:pic>
                      <p:nvPicPr>
                        <p:cNvPr id="105" name="Object 44">
                          <a:extLst>
                            <a:ext uri="{FF2B5EF4-FFF2-40B4-BE49-F238E27FC236}">
                              <a16:creationId xmlns:a16="http://schemas.microsoft.com/office/drawing/2014/main" id="{74F79544-CB71-4E79-8D82-26958B17594D}"/>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76"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6" name="Line 45">
              <a:extLst>
                <a:ext uri="{FF2B5EF4-FFF2-40B4-BE49-F238E27FC236}">
                  <a16:creationId xmlns:a16="http://schemas.microsoft.com/office/drawing/2014/main" id="{D4DAF1D8-3CD2-4C26-BBED-5AEF8F7CBEAF}"/>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07" name="Line 46">
            <a:extLst>
              <a:ext uri="{FF2B5EF4-FFF2-40B4-BE49-F238E27FC236}">
                <a16:creationId xmlns:a16="http://schemas.microsoft.com/office/drawing/2014/main" id="{FAAA4BF1-13A8-4836-8316-0CB34CE50A5B}"/>
              </a:ext>
            </a:extLst>
          </p:cNvPr>
          <p:cNvSpPr>
            <a:spLocks noChangeShapeType="1"/>
          </p:cNvSpPr>
          <p:nvPr/>
        </p:nvSpPr>
        <p:spPr bwMode="auto">
          <a:xfrm>
            <a:off x="2993946" y="3110420"/>
            <a:ext cx="0" cy="2400300"/>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dirty="0">
              <a:latin typeface="微软雅黑" panose="020B0503020204020204" pitchFamily="34" charset="-122"/>
              <a:ea typeface="微软雅黑" panose="020B0503020204020204" pitchFamily="34" charset="-122"/>
            </a:endParaRPr>
          </a:p>
        </p:txBody>
      </p:sp>
      <p:sp>
        <p:nvSpPr>
          <p:cNvPr id="108" name="Line 47">
            <a:extLst>
              <a:ext uri="{FF2B5EF4-FFF2-40B4-BE49-F238E27FC236}">
                <a16:creationId xmlns:a16="http://schemas.microsoft.com/office/drawing/2014/main" id="{5E5B8EDB-F3E9-4857-8CA2-AB38ABA271AB}"/>
              </a:ext>
            </a:extLst>
          </p:cNvPr>
          <p:cNvSpPr>
            <a:spLocks noChangeShapeType="1"/>
          </p:cNvSpPr>
          <p:nvPr/>
        </p:nvSpPr>
        <p:spPr bwMode="auto">
          <a:xfrm>
            <a:off x="3392408" y="5617082"/>
            <a:ext cx="4621213" cy="0"/>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9" name="Text Box 48">
            <a:extLst>
              <a:ext uri="{FF2B5EF4-FFF2-40B4-BE49-F238E27FC236}">
                <a16:creationId xmlns:a16="http://schemas.microsoft.com/office/drawing/2014/main" id="{50C50348-AD50-4A46-A6D0-7D4146A8BD7D}"/>
              </a:ext>
            </a:extLst>
          </p:cNvPr>
          <p:cNvSpPr txBox="1">
            <a:spLocks noChangeArrowheads="1"/>
          </p:cNvSpPr>
          <p:nvPr/>
        </p:nvSpPr>
        <p:spPr bwMode="auto">
          <a:xfrm>
            <a:off x="3813884" y="4610607"/>
            <a:ext cx="3600450" cy="288155"/>
          </a:xfrm>
          <a:prstGeom prst="rect">
            <a:avLst/>
          </a:prstGeom>
          <a:noFill/>
          <a:ln w="19050" cmpd="thinThick">
            <a:solidFill>
              <a:srgbClr val="D5D5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隧道只需定义在两边的网关上</a:t>
            </a:r>
          </a:p>
        </p:txBody>
      </p:sp>
      <p:sp>
        <p:nvSpPr>
          <p:cNvPr id="110" name="Line 49">
            <a:extLst>
              <a:ext uri="{FF2B5EF4-FFF2-40B4-BE49-F238E27FC236}">
                <a16:creationId xmlns:a16="http://schemas.microsoft.com/office/drawing/2014/main" id="{5A29ED90-E581-416E-9F75-D814AD9B8207}"/>
              </a:ext>
            </a:extLst>
          </p:cNvPr>
          <p:cNvSpPr>
            <a:spLocks noChangeShapeType="1"/>
          </p:cNvSpPr>
          <p:nvPr/>
        </p:nvSpPr>
        <p:spPr bwMode="auto">
          <a:xfrm flipH="1">
            <a:off x="3348750" y="4896363"/>
            <a:ext cx="493711" cy="700075"/>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2" name="Line 52">
            <a:extLst>
              <a:ext uri="{FF2B5EF4-FFF2-40B4-BE49-F238E27FC236}">
                <a16:creationId xmlns:a16="http://schemas.microsoft.com/office/drawing/2014/main" id="{C930EF24-9EB3-4677-81AE-441A0F60279C}"/>
              </a:ext>
            </a:extLst>
          </p:cNvPr>
          <p:cNvSpPr>
            <a:spLocks noChangeShapeType="1"/>
          </p:cNvSpPr>
          <p:nvPr/>
        </p:nvSpPr>
        <p:spPr bwMode="auto">
          <a:xfrm flipV="1">
            <a:off x="8215233" y="3051682"/>
            <a:ext cx="0" cy="2400300"/>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13" name="Group 53">
            <a:extLst>
              <a:ext uri="{FF2B5EF4-FFF2-40B4-BE49-F238E27FC236}">
                <a16:creationId xmlns:a16="http://schemas.microsoft.com/office/drawing/2014/main" id="{A0926422-4F64-47CF-B5D3-3C7CA14F2827}"/>
              </a:ext>
            </a:extLst>
          </p:cNvPr>
          <p:cNvGrpSpPr>
            <a:grpSpLocks/>
          </p:cNvGrpSpPr>
          <p:nvPr/>
        </p:nvGrpSpPr>
        <p:grpSpPr bwMode="auto">
          <a:xfrm>
            <a:off x="3114596" y="3591432"/>
            <a:ext cx="4979987" cy="1919288"/>
            <a:chOff x="768" y="1968"/>
            <a:chExt cx="3984" cy="1536"/>
          </a:xfrm>
        </p:grpSpPr>
        <p:sp>
          <p:nvSpPr>
            <p:cNvPr id="114" name="Line 54">
              <a:extLst>
                <a:ext uri="{FF2B5EF4-FFF2-40B4-BE49-F238E27FC236}">
                  <a16:creationId xmlns:a16="http://schemas.microsoft.com/office/drawing/2014/main" id="{A0C0C9AF-2D85-48AF-AAA4-53C4E25A82EC}"/>
                </a:ext>
              </a:extLst>
            </p:cNvPr>
            <p:cNvSpPr>
              <a:spLocks noChangeShapeType="1"/>
            </p:cNvSpPr>
            <p:nvPr/>
          </p:nvSpPr>
          <p:spPr bwMode="auto">
            <a:xfrm flipV="1">
              <a:off x="768" y="2064"/>
              <a:ext cx="0" cy="1440"/>
            </a:xfrm>
            <a:prstGeom prst="line">
              <a:avLst/>
            </a:prstGeom>
            <a:noFill/>
            <a:ln w="19050">
              <a:solidFill>
                <a:srgbClr val="FF99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15" name="Line 55">
              <a:extLst>
                <a:ext uri="{FF2B5EF4-FFF2-40B4-BE49-F238E27FC236}">
                  <a16:creationId xmlns:a16="http://schemas.microsoft.com/office/drawing/2014/main" id="{CDBA2BD3-D647-41C3-9201-72D22161EB2E}"/>
                </a:ext>
              </a:extLst>
            </p:cNvPr>
            <p:cNvSpPr>
              <a:spLocks noChangeShapeType="1"/>
            </p:cNvSpPr>
            <p:nvPr/>
          </p:nvSpPr>
          <p:spPr bwMode="auto">
            <a:xfrm flipV="1">
              <a:off x="4752" y="1968"/>
              <a:ext cx="0" cy="1488"/>
            </a:xfrm>
            <a:prstGeom prst="line">
              <a:avLst/>
            </a:prstGeom>
            <a:noFill/>
            <a:ln w="19050">
              <a:solidFill>
                <a:srgbClr val="FF99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16" name="Line 56">
            <a:extLst>
              <a:ext uri="{FF2B5EF4-FFF2-40B4-BE49-F238E27FC236}">
                <a16:creationId xmlns:a16="http://schemas.microsoft.com/office/drawing/2014/main" id="{997A4CB2-4C9F-4DC8-9E52-F99C0A6DA858}"/>
              </a:ext>
            </a:extLst>
          </p:cNvPr>
          <p:cNvSpPr>
            <a:spLocks noChangeShapeType="1"/>
          </p:cNvSpPr>
          <p:nvPr/>
        </p:nvSpPr>
        <p:spPr bwMode="auto">
          <a:xfrm>
            <a:off x="3114596" y="4370895"/>
            <a:ext cx="4979987" cy="0"/>
          </a:xfrm>
          <a:prstGeom prst="line">
            <a:avLst/>
          </a:prstGeom>
          <a:noFill/>
          <a:ln w="19050">
            <a:solidFill>
              <a:srgbClr val="FF99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17" name="Line 57">
            <a:extLst>
              <a:ext uri="{FF2B5EF4-FFF2-40B4-BE49-F238E27FC236}">
                <a16:creationId xmlns:a16="http://schemas.microsoft.com/office/drawing/2014/main" id="{BE320D6D-73AD-41CE-8E10-EC9D1087B2A0}"/>
              </a:ext>
            </a:extLst>
          </p:cNvPr>
          <p:cNvSpPr>
            <a:spLocks noChangeShapeType="1"/>
          </p:cNvSpPr>
          <p:nvPr/>
        </p:nvSpPr>
        <p:spPr bwMode="auto">
          <a:xfrm>
            <a:off x="3114596" y="3951795"/>
            <a:ext cx="4979987" cy="0"/>
          </a:xfrm>
          <a:prstGeom prst="line">
            <a:avLst/>
          </a:prstGeom>
          <a:noFill/>
          <a:ln w="19050">
            <a:solidFill>
              <a:srgbClr val="FF99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18" name="Text Box 58">
            <a:extLst>
              <a:ext uri="{FF2B5EF4-FFF2-40B4-BE49-F238E27FC236}">
                <a16:creationId xmlns:a16="http://schemas.microsoft.com/office/drawing/2014/main" id="{3FD9833E-CF57-4E4F-804D-B338A26DF316}"/>
              </a:ext>
            </a:extLst>
          </p:cNvPr>
          <p:cNvSpPr txBox="1">
            <a:spLocks noChangeArrowheads="1"/>
          </p:cNvSpPr>
          <p:nvPr/>
        </p:nvSpPr>
        <p:spPr bwMode="auto">
          <a:xfrm>
            <a:off x="3156766" y="4036434"/>
            <a:ext cx="4888800"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19" name="Text Box 59">
            <a:extLst>
              <a:ext uri="{FF2B5EF4-FFF2-40B4-BE49-F238E27FC236}">
                <a16:creationId xmlns:a16="http://schemas.microsoft.com/office/drawing/2014/main" id="{025DCD2F-088F-47A5-9467-D3D33D5BE395}"/>
              </a:ext>
            </a:extLst>
          </p:cNvPr>
          <p:cNvSpPr txBox="1">
            <a:spLocks noChangeArrowheads="1"/>
          </p:cNvSpPr>
          <p:nvPr/>
        </p:nvSpPr>
        <p:spPr bwMode="auto">
          <a:xfrm>
            <a:off x="3156066" y="3613622"/>
            <a:ext cx="4888529"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pic>
        <p:nvPicPr>
          <p:cNvPr id="120" name="Picture 60">
            <a:extLst>
              <a:ext uri="{FF2B5EF4-FFF2-40B4-BE49-F238E27FC236}">
                <a16:creationId xmlns:a16="http://schemas.microsoft.com/office/drawing/2014/main" id="{B85A22D3-5284-4A71-A36E-F6E4AD548DC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54346" y="5151945"/>
            <a:ext cx="493712"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 name="Text Box 61">
            <a:extLst>
              <a:ext uri="{FF2B5EF4-FFF2-40B4-BE49-F238E27FC236}">
                <a16:creationId xmlns:a16="http://schemas.microsoft.com/office/drawing/2014/main" id="{FFD42684-7482-4826-AC3C-31E89ADC2AD0}"/>
              </a:ext>
            </a:extLst>
          </p:cNvPr>
          <p:cNvSpPr txBox="1">
            <a:spLocks noChangeArrowheads="1"/>
          </p:cNvSpPr>
          <p:nvPr/>
        </p:nvSpPr>
        <p:spPr bwMode="auto">
          <a:xfrm>
            <a:off x="3515219" y="5805994"/>
            <a:ext cx="634997"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pic>
        <p:nvPicPr>
          <p:cNvPr id="122" name="Picture 62">
            <a:extLst>
              <a:ext uri="{FF2B5EF4-FFF2-40B4-BE49-F238E27FC236}">
                <a16:creationId xmlns:a16="http://schemas.microsoft.com/office/drawing/2014/main" id="{8B4951EF-BD25-43D8-8DAA-A086D0E59CE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15083" y="5210682"/>
            <a:ext cx="493713"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Text Box 63">
            <a:extLst>
              <a:ext uri="{FF2B5EF4-FFF2-40B4-BE49-F238E27FC236}">
                <a16:creationId xmlns:a16="http://schemas.microsoft.com/office/drawing/2014/main" id="{5252D7CB-AE66-4051-A284-D97C8EC28159}"/>
              </a:ext>
            </a:extLst>
          </p:cNvPr>
          <p:cNvSpPr txBox="1">
            <a:spLocks noChangeArrowheads="1"/>
          </p:cNvSpPr>
          <p:nvPr/>
        </p:nvSpPr>
        <p:spPr bwMode="auto">
          <a:xfrm>
            <a:off x="6980653" y="5861095"/>
            <a:ext cx="539750"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sp>
        <p:nvSpPr>
          <p:cNvPr id="124" name="Line 49">
            <a:extLst>
              <a:ext uri="{FF2B5EF4-FFF2-40B4-BE49-F238E27FC236}">
                <a16:creationId xmlns:a16="http://schemas.microsoft.com/office/drawing/2014/main" id="{DB7DEBA0-1961-4234-BEC0-AB755CC83FED}"/>
              </a:ext>
            </a:extLst>
          </p:cNvPr>
          <p:cNvSpPr>
            <a:spLocks noChangeShapeType="1"/>
          </p:cNvSpPr>
          <p:nvPr/>
        </p:nvSpPr>
        <p:spPr bwMode="auto">
          <a:xfrm>
            <a:off x="7414334" y="4912068"/>
            <a:ext cx="586190" cy="620076"/>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 name="Text Box 48">
            <a:extLst>
              <a:ext uri="{FF2B5EF4-FFF2-40B4-BE49-F238E27FC236}">
                <a16:creationId xmlns:a16="http://schemas.microsoft.com/office/drawing/2014/main" id="{C264EDFF-1CF6-42E4-ABCB-20D48092104D}"/>
              </a:ext>
            </a:extLst>
          </p:cNvPr>
          <p:cNvSpPr txBox="1">
            <a:spLocks noChangeArrowheads="1"/>
          </p:cNvSpPr>
          <p:nvPr/>
        </p:nvSpPr>
        <p:spPr bwMode="auto">
          <a:xfrm>
            <a:off x="4182772" y="6191325"/>
            <a:ext cx="2743200" cy="288155"/>
          </a:xfrm>
          <a:prstGeom prst="rect">
            <a:avLst/>
          </a:prstGeom>
          <a:noFill/>
          <a:ln w="19050" cmpd="thinThick">
            <a:solidFill>
              <a:srgbClr val="D5D5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r>
              <a:rPr kumimoji="0" lang="zh-CN" altLang="en-US" sz="1400" dirty="0">
                <a:latin typeface="微软雅黑" panose="020B0503020204020204" pitchFamily="34" charset="-122"/>
                <a:ea typeface="微软雅黑" panose="020B0503020204020204" pitchFamily="34" charset="-122"/>
              </a:rPr>
              <a:t>网关必须支持隧道的承载协议</a:t>
            </a:r>
            <a:endParaRPr kumimoji="0" lang="en-US" altLang="zh-CN" sz="1400" dirty="0">
              <a:latin typeface="微软雅黑" panose="020B0503020204020204" pitchFamily="34" charset="-122"/>
              <a:ea typeface="微软雅黑" panose="020B0503020204020204" pitchFamily="34" charset="-122"/>
            </a:endParaRPr>
          </a:p>
        </p:txBody>
      </p:sp>
      <p:sp>
        <p:nvSpPr>
          <p:cNvPr id="65" name="Line 49">
            <a:extLst>
              <a:ext uri="{FF2B5EF4-FFF2-40B4-BE49-F238E27FC236}">
                <a16:creationId xmlns:a16="http://schemas.microsoft.com/office/drawing/2014/main" id="{D54D23A6-35FF-474F-96BC-297F6A594504}"/>
              </a:ext>
            </a:extLst>
          </p:cNvPr>
          <p:cNvSpPr>
            <a:spLocks noChangeShapeType="1"/>
          </p:cNvSpPr>
          <p:nvPr/>
        </p:nvSpPr>
        <p:spPr bwMode="auto">
          <a:xfrm flipH="1" flipV="1">
            <a:off x="4061474" y="5796469"/>
            <a:ext cx="121297" cy="394856"/>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 name="Line 49">
            <a:extLst>
              <a:ext uri="{FF2B5EF4-FFF2-40B4-BE49-F238E27FC236}">
                <a16:creationId xmlns:a16="http://schemas.microsoft.com/office/drawing/2014/main" id="{DA16F609-B49C-452F-9394-02F8F0CADE19}"/>
              </a:ext>
            </a:extLst>
          </p:cNvPr>
          <p:cNvSpPr>
            <a:spLocks noChangeShapeType="1"/>
          </p:cNvSpPr>
          <p:nvPr/>
        </p:nvSpPr>
        <p:spPr bwMode="auto">
          <a:xfrm flipV="1">
            <a:off x="6909931" y="5818181"/>
            <a:ext cx="121298" cy="394854"/>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25" name="Group 6">
            <a:extLst>
              <a:ext uri="{FF2B5EF4-FFF2-40B4-BE49-F238E27FC236}">
                <a16:creationId xmlns:a16="http://schemas.microsoft.com/office/drawing/2014/main" id="{F31E9E0E-E907-4D16-A09C-CBB0185960BA}"/>
              </a:ext>
            </a:extLst>
          </p:cNvPr>
          <p:cNvGrpSpPr>
            <a:grpSpLocks/>
          </p:cNvGrpSpPr>
          <p:nvPr/>
        </p:nvGrpSpPr>
        <p:grpSpPr bwMode="auto">
          <a:xfrm>
            <a:off x="4839965" y="5283317"/>
            <a:ext cx="1669966" cy="668108"/>
            <a:chOff x="1917" y="2805"/>
            <a:chExt cx="1981" cy="975"/>
          </a:xfrm>
        </p:grpSpPr>
        <p:pic>
          <p:nvPicPr>
            <p:cNvPr id="126" name="Picture 7">
              <a:extLst>
                <a:ext uri="{FF2B5EF4-FFF2-40B4-BE49-F238E27FC236}">
                  <a16:creationId xmlns:a16="http://schemas.microsoft.com/office/drawing/2014/main" id="{F4741FFB-F6DC-4092-A3C6-006E30F6224A}"/>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917" y="2805"/>
              <a:ext cx="1981" cy="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7" name="Text Box 8">
              <a:extLst>
                <a:ext uri="{FF2B5EF4-FFF2-40B4-BE49-F238E27FC236}">
                  <a16:creationId xmlns:a16="http://schemas.microsoft.com/office/drawing/2014/main" id="{F5810B2D-879E-427C-9907-A1AA92A387BA}"/>
                </a:ext>
              </a:extLst>
            </p:cNvPr>
            <p:cNvSpPr txBox="1">
              <a:spLocks noChangeArrowheads="1"/>
            </p:cNvSpPr>
            <p:nvPr/>
          </p:nvSpPr>
          <p:spPr bwMode="auto">
            <a:xfrm>
              <a:off x="2114" y="3081"/>
              <a:ext cx="1600"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pPr>
              <a:r>
                <a:rPr kumimoji="0" lang="en-US" altLang="zh-CN" sz="1600" dirty="0">
                  <a:latin typeface="微软雅黑" panose="020B0503020204020204" pitchFamily="34" charset="-122"/>
                  <a:ea typeface="微软雅黑" panose="020B0503020204020204" pitchFamily="34" charset="-122"/>
                </a:rPr>
                <a:t>Internet</a:t>
              </a:r>
            </a:p>
          </p:txBody>
        </p:sp>
      </p:grpSp>
      <p:sp>
        <p:nvSpPr>
          <p:cNvPr id="5" name="日期占位符 4">
            <a:extLst>
              <a:ext uri="{FF2B5EF4-FFF2-40B4-BE49-F238E27FC236}">
                <a16:creationId xmlns:a16="http://schemas.microsoft.com/office/drawing/2014/main" id="{098C21F6-C259-4004-8DA9-2A558296D977}"/>
              </a:ext>
            </a:extLst>
          </p:cNvPr>
          <p:cNvSpPr>
            <a:spLocks noGrp="1"/>
          </p:cNvSpPr>
          <p:nvPr>
            <p:ph type="dt" sz="half" idx="10"/>
          </p:nvPr>
        </p:nvSpPr>
        <p:spPr/>
        <p:txBody>
          <a:bodyPr/>
          <a:lstStyle/>
          <a:p>
            <a:r>
              <a:rPr kumimoji="1" lang="en-US" altLang="zh-CN" dirty="0"/>
              <a:t>5.10.2 VPN</a:t>
            </a:r>
            <a:r>
              <a:rPr kumimoji="1" lang="zh-CN" altLang="en-US" dirty="0"/>
              <a:t>技术</a:t>
            </a:r>
          </a:p>
        </p:txBody>
      </p:sp>
      <p:pic>
        <p:nvPicPr>
          <p:cNvPr id="111" name="Picture 28" descr="015">
            <a:extLst>
              <a:ext uri="{FF2B5EF4-FFF2-40B4-BE49-F238E27FC236}">
                <a16:creationId xmlns:a16="http://schemas.microsoft.com/office/drawing/2014/main" id="{522472A2-DD48-42D8-8954-BEDFD0F0CAB7}"/>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63035717"/>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lstStyle/>
          <a:p>
            <a:r>
              <a:rPr kumimoji="1" lang="en-US" altLang="zh-CN" dirty="0"/>
              <a:t>VPN</a:t>
            </a:r>
            <a:r>
              <a:rPr kumimoji="1" lang="zh-CN" altLang="en-US" dirty="0"/>
              <a:t>的实现方式</a:t>
            </a:r>
          </a:p>
        </p:txBody>
      </p:sp>
      <p:sp>
        <p:nvSpPr>
          <p:cNvPr id="3" name="内容占位符 2">
            <a:extLst>
              <a:ext uri="{FF2B5EF4-FFF2-40B4-BE49-F238E27FC236}">
                <a16:creationId xmlns:a16="http://schemas.microsoft.com/office/drawing/2014/main" id="{EF3F4F3D-A29F-C542-9C8A-E338A2E76276}"/>
              </a:ext>
            </a:extLst>
          </p:cNvPr>
          <p:cNvSpPr>
            <a:spLocks noGrp="1"/>
          </p:cNvSpPr>
          <p:nvPr>
            <p:ph idx="1"/>
          </p:nvPr>
        </p:nvSpPr>
        <p:spPr>
          <a:xfrm>
            <a:off x="811877" y="1427179"/>
            <a:ext cx="5377802" cy="615934"/>
          </a:xfrm>
        </p:spPr>
        <p:txBody>
          <a:bodyPr>
            <a:normAutofit/>
          </a:bodyPr>
          <a:lstStyle/>
          <a:p>
            <a:r>
              <a:rPr lang="zh-CN" altLang="en-US" dirty="0">
                <a:latin typeface="微软雅黑" panose="020B0503020204020204" pitchFamily="34" charset="-122"/>
                <a:ea typeface="微软雅黑" panose="020B0503020204020204" pitchFamily="34" charset="-122"/>
              </a:rPr>
              <a:t>用</a:t>
            </a:r>
            <a:r>
              <a:rPr lang="en-US" altLang="zh-CN" dirty="0">
                <a:latin typeface="微软雅黑" panose="020B0503020204020204" pitchFamily="34" charset="-122"/>
                <a:ea typeface="微软雅黑" panose="020B0503020204020204" pitchFamily="34" charset="-122"/>
              </a:rPr>
              <a:t>VPN</a:t>
            </a:r>
            <a:r>
              <a:rPr lang="zh-CN" altLang="en-US" dirty="0">
                <a:latin typeface="微软雅黑" panose="020B0503020204020204" pitchFamily="34" charset="-122"/>
                <a:ea typeface="微软雅黑" panose="020B0503020204020204" pitchFamily="34" charset="-122"/>
              </a:rPr>
              <a:t>连接合作伙伴</a:t>
            </a:r>
            <a:endParaRPr kumimoji="1" lang="zh-CN" altLang="en-US" dirty="0"/>
          </a:p>
        </p:txBody>
      </p:sp>
      <p:sp>
        <p:nvSpPr>
          <p:cNvPr id="4" name="灯片编号占位符 3">
            <a:extLst>
              <a:ext uri="{FF2B5EF4-FFF2-40B4-BE49-F238E27FC236}">
                <a16:creationId xmlns:a16="http://schemas.microsoft.com/office/drawing/2014/main" id="{BE5C4434-6C32-D240-9DF2-915F87DB6D82}"/>
              </a:ext>
            </a:extLst>
          </p:cNvPr>
          <p:cNvSpPr>
            <a:spLocks noGrp="1"/>
          </p:cNvSpPr>
          <p:nvPr>
            <p:ph type="sldNum" sz="quarter" idx="12"/>
          </p:nvPr>
        </p:nvSpPr>
        <p:spPr/>
        <p:txBody>
          <a:bodyPr/>
          <a:lstStyle/>
          <a:p>
            <a:fld id="{8D4D1E41-7A09-AB4A-A4E1-09765ADA2698}" type="slidenum">
              <a:rPr kumimoji="1" lang="zh-CN" altLang="en-US" smtClean="0"/>
              <a:t>253</a:t>
            </a:fld>
            <a:endParaRPr kumimoji="1" lang="zh-CN" altLang="en-US" dirty="0"/>
          </a:p>
        </p:txBody>
      </p:sp>
      <p:graphicFrame>
        <p:nvGraphicFramePr>
          <p:cNvPr id="129" name="Object 9">
            <a:extLst>
              <a:ext uri="{FF2B5EF4-FFF2-40B4-BE49-F238E27FC236}">
                <a16:creationId xmlns:a16="http://schemas.microsoft.com/office/drawing/2014/main" id="{DD95D94B-AAD6-4CF0-BAD0-BD776AAE5A74}"/>
              </a:ext>
            </a:extLst>
          </p:cNvPr>
          <p:cNvGraphicFramePr>
            <a:graphicFrameLocks noChangeAspect="1"/>
          </p:cNvGraphicFramePr>
          <p:nvPr/>
        </p:nvGraphicFramePr>
        <p:xfrm>
          <a:off x="1799534" y="6035094"/>
          <a:ext cx="660400" cy="292100"/>
        </p:xfrm>
        <a:graphic>
          <a:graphicData uri="http://schemas.openxmlformats.org/presentationml/2006/ole">
            <mc:AlternateContent xmlns:mc="http://schemas.openxmlformats.org/markup-compatibility/2006">
              <mc:Choice xmlns:v="urn:schemas-microsoft-com:vml" Requires="v">
                <p:oleObj name="文档" r:id="rId3" imgW="886320" imgH="937800" progId="Word.Document.8">
                  <p:embed/>
                </p:oleObj>
              </mc:Choice>
              <mc:Fallback>
                <p:oleObj name="文档" r:id="rId3" imgW="886320" imgH="937800" progId="Word.Document.8">
                  <p:embed/>
                  <p:pic>
                    <p:nvPicPr>
                      <p:cNvPr id="129" name="Object 9">
                        <a:extLst>
                          <a:ext uri="{FF2B5EF4-FFF2-40B4-BE49-F238E27FC236}">
                            <a16:creationId xmlns:a16="http://schemas.microsoft.com/office/drawing/2014/main" id="{DD95D94B-AAD6-4CF0-BAD0-BD776AAE5A7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9534" y="6035094"/>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 name="Object 10">
            <a:extLst>
              <a:ext uri="{FF2B5EF4-FFF2-40B4-BE49-F238E27FC236}">
                <a16:creationId xmlns:a16="http://schemas.microsoft.com/office/drawing/2014/main" id="{E0DFA56B-C13B-431E-9D72-1941BC42896E}"/>
              </a:ext>
            </a:extLst>
          </p:cNvPr>
          <p:cNvGraphicFramePr>
            <a:graphicFrameLocks noChangeAspect="1"/>
          </p:cNvGraphicFramePr>
          <p:nvPr/>
        </p:nvGraphicFramePr>
        <p:xfrm>
          <a:off x="8934322" y="5967417"/>
          <a:ext cx="660400" cy="292100"/>
        </p:xfrm>
        <a:graphic>
          <a:graphicData uri="http://schemas.openxmlformats.org/presentationml/2006/ole">
            <mc:AlternateContent xmlns:mc="http://schemas.openxmlformats.org/markup-compatibility/2006">
              <mc:Choice xmlns:v="urn:schemas-microsoft-com:vml" Requires="v">
                <p:oleObj name="文档" r:id="rId3" imgW="886320" imgH="937800" progId="Word.Document.8">
                  <p:embed/>
                </p:oleObj>
              </mc:Choice>
              <mc:Fallback>
                <p:oleObj name="文档" r:id="rId3" imgW="886320" imgH="937800" progId="Word.Document.8">
                  <p:embed/>
                  <p:pic>
                    <p:nvPicPr>
                      <p:cNvPr id="130" name="Object 10">
                        <a:extLst>
                          <a:ext uri="{FF2B5EF4-FFF2-40B4-BE49-F238E27FC236}">
                            <a16:creationId xmlns:a16="http://schemas.microsoft.com/office/drawing/2014/main" id="{E0DFA56B-C13B-431E-9D72-1941BC42896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34322" y="5967417"/>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31" name="Group 11">
            <a:extLst>
              <a:ext uri="{FF2B5EF4-FFF2-40B4-BE49-F238E27FC236}">
                <a16:creationId xmlns:a16="http://schemas.microsoft.com/office/drawing/2014/main" id="{0DBC0A24-5CAA-4EE8-A4EA-D85730D147F5}"/>
              </a:ext>
            </a:extLst>
          </p:cNvPr>
          <p:cNvGrpSpPr>
            <a:grpSpLocks/>
          </p:cNvGrpSpPr>
          <p:nvPr/>
        </p:nvGrpSpPr>
        <p:grpSpPr bwMode="auto">
          <a:xfrm>
            <a:off x="8023761" y="1855229"/>
            <a:ext cx="2019766" cy="1611594"/>
            <a:chOff x="1152" y="1824"/>
            <a:chExt cx="1200" cy="1104"/>
          </a:xfrm>
        </p:grpSpPr>
        <p:sp>
          <p:nvSpPr>
            <p:cNvPr id="132" name="Oval 12">
              <a:extLst>
                <a:ext uri="{FF2B5EF4-FFF2-40B4-BE49-F238E27FC236}">
                  <a16:creationId xmlns:a16="http://schemas.microsoft.com/office/drawing/2014/main" id="{FF724A11-6C38-41EF-839E-2B7E2957D731}"/>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3" name="Line 13">
              <a:extLst>
                <a:ext uri="{FF2B5EF4-FFF2-40B4-BE49-F238E27FC236}">
                  <a16:creationId xmlns:a16="http://schemas.microsoft.com/office/drawing/2014/main" id="{731A5F17-659E-41D6-9ABF-903635896519}"/>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4" name="Line 14">
              <a:extLst>
                <a:ext uri="{FF2B5EF4-FFF2-40B4-BE49-F238E27FC236}">
                  <a16:creationId xmlns:a16="http://schemas.microsoft.com/office/drawing/2014/main" id="{C29DFE1C-0BA7-46C2-A2B9-AB23ED25DD0F}"/>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Line 15">
              <a:extLst>
                <a:ext uri="{FF2B5EF4-FFF2-40B4-BE49-F238E27FC236}">
                  <a16:creationId xmlns:a16="http://schemas.microsoft.com/office/drawing/2014/main" id="{CCE8CBEE-D54F-4572-9CD1-402E61CD4E7A}"/>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6" name="Line 16">
              <a:extLst>
                <a:ext uri="{FF2B5EF4-FFF2-40B4-BE49-F238E27FC236}">
                  <a16:creationId xmlns:a16="http://schemas.microsoft.com/office/drawing/2014/main" id="{A89F6578-86DA-4BB9-8504-8AC2805784F1}"/>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37" name="Picture 17">
              <a:extLst>
                <a:ext uri="{FF2B5EF4-FFF2-40B4-BE49-F238E27FC236}">
                  <a16:creationId xmlns:a16="http://schemas.microsoft.com/office/drawing/2014/main" id="{EB2FC7D9-0171-413C-BA4F-0A5A7355F67E}"/>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38" name="Object 18">
              <a:extLst>
                <a:ext uri="{FF2B5EF4-FFF2-40B4-BE49-F238E27FC236}">
                  <a16:creationId xmlns:a16="http://schemas.microsoft.com/office/drawing/2014/main" id="{65A5D051-E039-4B57-95E6-E9CB7AB2EC35}"/>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name="Clip" r:id="rId6" imgW="2734920" imgH="3825360" progId="MS_ClipArt_Gallery.5">
                    <p:embed/>
                  </p:oleObj>
                </mc:Choice>
                <mc:Fallback>
                  <p:oleObj name="Clip" r:id="rId6" imgW="2734920" imgH="3825360" progId="MS_ClipArt_Gallery.5">
                    <p:embed/>
                    <p:pic>
                      <p:nvPicPr>
                        <p:cNvPr id="138" name="Object 18">
                          <a:extLst>
                            <a:ext uri="{FF2B5EF4-FFF2-40B4-BE49-F238E27FC236}">
                              <a16:creationId xmlns:a16="http://schemas.microsoft.com/office/drawing/2014/main" id="{65A5D051-E039-4B57-95E6-E9CB7AB2EC3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39" name="Picture 19">
              <a:extLst>
                <a:ext uri="{FF2B5EF4-FFF2-40B4-BE49-F238E27FC236}">
                  <a16:creationId xmlns:a16="http://schemas.microsoft.com/office/drawing/2014/main" id="{A83EBCA4-F425-4CA3-B3B2-0B664606CC07}"/>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0" name="Picture 20">
              <a:extLst>
                <a:ext uri="{FF2B5EF4-FFF2-40B4-BE49-F238E27FC236}">
                  <a16:creationId xmlns:a16="http://schemas.microsoft.com/office/drawing/2014/main" id="{3B2F988F-F3B0-4BB0-9136-9435311EE682}"/>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1" name="Picture 21">
              <a:extLst>
                <a:ext uri="{FF2B5EF4-FFF2-40B4-BE49-F238E27FC236}">
                  <a16:creationId xmlns:a16="http://schemas.microsoft.com/office/drawing/2014/main" id="{EB9C9338-E423-4A5A-B99E-43AF3EF23187}"/>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66"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2" name="Rectangle 22">
              <a:extLst>
                <a:ext uri="{FF2B5EF4-FFF2-40B4-BE49-F238E27FC236}">
                  <a16:creationId xmlns:a16="http://schemas.microsoft.com/office/drawing/2014/main" id="{7E2D36B0-3B92-4379-B946-6BB96814E643}"/>
                </a:ext>
              </a:extLst>
            </p:cNvPr>
            <p:cNvSpPr>
              <a:spLocks noChangeArrowheads="1"/>
            </p:cNvSpPr>
            <p:nvPr/>
          </p:nvSpPr>
          <p:spPr bwMode="auto">
            <a:xfrm>
              <a:off x="1516" y="1925"/>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业务伙伴</a:t>
              </a:r>
            </a:p>
          </p:txBody>
        </p:sp>
        <p:sp>
          <p:nvSpPr>
            <p:cNvPr id="143" name="Line 23">
              <a:extLst>
                <a:ext uri="{FF2B5EF4-FFF2-40B4-BE49-F238E27FC236}">
                  <a16:creationId xmlns:a16="http://schemas.microsoft.com/office/drawing/2014/main" id="{86D1F443-DC66-43C5-820C-EC764A83DF59}"/>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4" name="Line 24">
              <a:extLst>
                <a:ext uri="{FF2B5EF4-FFF2-40B4-BE49-F238E27FC236}">
                  <a16:creationId xmlns:a16="http://schemas.microsoft.com/office/drawing/2014/main" id="{12893508-AD75-413B-90FB-681DF05506FE}"/>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45" name="Object 25">
              <a:extLst>
                <a:ext uri="{FF2B5EF4-FFF2-40B4-BE49-F238E27FC236}">
                  <a16:creationId xmlns:a16="http://schemas.microsoft.com/office/drawing/2014/main" id="{A758EE30-8D81-4236-8BDA-AE4EA60B08E9}"/>
                </a:ext>
              </a:extLst>
            </p:cNvPr>
            <p:cNvGraphicFramePr>
              <a:graphicFrameLocks/>
            </p:cNvGraphicFramePr>
            <p:nvPr/>
          </p:nvGraphicFramePr>
          <p:xfrm>
            <a:off x="1513" y="2487"/>
            <a:ext cx="288" cy="239"/>
          </p:xfrm>
          <a:graphic>
            <a:graphicData uri="http://schemas.openxmlformats.org/presentationml/2006/ole">
              <mc:AlternateContent xmlns:mc="http://schemas.openxmlformats.org/markup-compatibility/2006">
                <mc:Choice xmlns:v="urn:schemas-microsoft-com:vml" Requires="v">
                  <p:oleObj name="剪辑" r:id="rId10" imgW="1012680" imgH="809280" progId="MS_ClipArt_Gallery.2">
                    <p:embed/>
                  </p:oleObj>
                </mc:Choice>
                <mc:Fallback>
                  <p:oleObj name="剪辑" r:id="rId10" imgW="1012680" imgH="809280" progId="MS_ClipArt_Gallery.2">
                    <p:embed/>
                    <p:pic>
                      <p:nvPicPr>
                        <p:cNvPr id="145" name="Object 25">
                          <a:extLst>
                            <a:ext uri="{FF2B5EF4-FFF2-40B4-BE49-F238E27FC236}">
                              <a16:creationId xmlns:a16="http://schemas.microsoft.com/office/drawing/2014/main" id="{A758EE30-8D81-4236-8BDA-AE4EA60B08E9}"/>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13" y="2487"/>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6" name="Line 26">
              <a:extLst>
                <a:ext uri="{FF2B5EF4-FFF2-40B4-BE49-F238E27FC236}">
                  <a16:creationId xmlns:a16="http://schemas.microsoft.com/office/drawing/2014/main" id="{0B3D7E23-383A-4703-862E-59F61D9F6816}"/>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47" name="Text Box 27">
            <a:extLst>
              <a:ext uri="{FF2B5EF4-FFF2-40B4-BE49-F238E27FC236}">
                <a16:creationId xmlns:a16="http://schemas.microsoft.com/office/drawing/2014/main" id="{7475F847-B526-42F6-80AC-2E8205767666}"/>
              </a:ext>
            </a:extLst>
          </p:cNvPr>
          <p:cNvSpPr txBox="1">
            <a:spLocks noChangeArrowheads="1"/>
          </p:cNvSpPr>
          <p:nvPr/>
        </p:nvSpPr>
        <p:spPr bwMode="auto">
          <a:xfrm>
            <a:off x="1343910" y="6385776"/>
            <a:ext cx="1535112"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A</a:t>
            </a:r>
          </a:p>
        </p:txBody>
      </p:sp>
      <p:sp>
        <p:nvSpPr>
          <p:cNvPr id="148" name="Text Box 28">
            <a:extLst>
              <a:ext uri="{FF2B5EF4-FFF2-40B4-BE49-F238E27FC236}">
                <a16:creationId xmlns:a16="http://schemas.microsoft.com/office/drawing/2014/main" id="{B85ABB30-8985-4C17-9C09-2EC59D4CDEE1}"/>
              </a:ext>
            </a:extLst>
          </p:cNvPr>
          <p:cNvSpPr txBox="1">
            <a:spLocks noChangeArrowheads="1"/>
          </p:cNvSpPr>
          <p:nvPr/>
        </p:nvSpPr>
        <p:spPr bwMode="auto">
          <a:xfrm>
            <a:off x="8649844" y="6322554"/>
            <a:ext cx="1535111"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B</a:t>
            </a:r>
          </a:p>
        </p:txBody>
      </p:sp>
      <p:grpSp>
        <p:nvGrpSpPr>
          <p:cNvPr id="149" name="Group 29">
            <a:extLst>
              <a:ext uri="{FF2B5EF4-FFF2-40B4-BE49-F238E27FC236}">
                <a16:creationId xmlns:a16="http://schemas.microsoft.com/office/drawing/2014/main" id="{46AEA733-E30A-425F-9CC9-FF878E8DB54B}"/>
              </a:ext>
            </a:extLst>
          </p:cNvPr>
          <p:cNvGrpSpPr>
            <a:grpSpLocks/>
          </p:cNvGrpSpPr>
          <p:nvPr/>
        </p:nvGrpSpPr>
        <p:grpSpPr bwMode="auto">
          <a:xfrm>
            <a:off x="1343910" y="1866957"/>
            <a:ext cx="1868024" cy="1552873"/>
            <a:chOff x="1152" y="1824"/>
            <a:chExt cx="1200" cy="1104"/>
          </a:xfrm>
        </p:grpSpPr>
        <p:sp>
          <p:nvSpPr>
            <p:cNvPr id="150" name="Oval 30">
              <a:extLst>
                <a:ext uri="{FF2B5EF4-FFF2-40B4-BE49-F238E27FC236}">
                  <a16:creationId xmlns:a16="http://schemas.microsoft.com/office/drawing/2014/main" id="{9044E39B-91C0-45EE-B876-24889DC26E8A}"/>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51" name="Line 31">
              <a:extLst>
                <a:ext uri="{FF2B5EF4-FFF2-40B4-BE49-F238E27FC236}">
                  <a16:creationId xmlns:a16="http://schemas.microsoft.com/office/drawing/2014/main" id="{91F5D634-5E6D-48D4-B6B7-4CB1BCBDAAB5}"/>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2" name="Line 32">
              <a:extLst>
                <a:ext uri="{FF2B5EF4-FFF2-40B4-BE49-F238E27FC236}">
                  <a16:creationId xmlns:a16="http://schemas.microsoft.com/office/drawing/2014/main" id="{B30E5950-57ED-4D5C-BA2D-7C7436435059}"/>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3" name="Line 33">
              <a:extLst>
                <a:ext uri="{FF2B5EF4-FFF2-40B4-BE49-F238E27FC236}">
                  <a16:creationId xmlns:a16="http://schemas.microsoft.com/office/drawing/2014/main" id="{271C2A87-889E-436F-A678-D9ACC175D66C}"/>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4" name="Line 34">
              <a:extLst>
                <a:ext uri="{FF2B5EF4-FFF2-40B4-BE49-F238E27FC236}">
                  <a16:creationId xmlns:a16="http://schemas.microsoft.com/office/drawing/2014/main" id="{41E6DF26-7355-4FD8-919B-8905FA6A3854}"/>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55" name="Picture 35">
              <a:extLst>
                <a:ext uri="{FF2B5EF4-FFF2-40B4-BE49-F238E27FC236}">
                  <a16:creationId xmlns:a16="http://schemas.microsoft.com/office/drawing/2014/main" id="{F9462705-0A6C-4F98-96C3-795D02A22BE1}"/>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56" name="Object 36">
              <a:extLst>
                <a:ext uri="{FF2B5EF4-FFF2-40B4-BE49-F238E27FC236}">
                  <a16:creationId xmlns:a16="http://schemas.microsoft.com/office/drawing/2014/main" id="{EA66326B-B8FF-4B27-86B5-632A92FE5CAB}"/>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name="Clip" r:id="rId6" imgW="2734920" imgH="3825360" progId="MS_ClipArt_Gallery.5">
                    <p:embed/>
                  </p:oleObj>
                </mc:Choice>
                <mc:Fallback>
                  <p:oleObj name="Clip" r:id="rId6" imgW="2734920" imgH="3825360" progId="MS_ClipArt_Gallery.5">
                    <p:embed/>
                    <p:pic>
                      <p:nvPicPr>
                        <p:cNvPr id="156" name="Object 36">
                          <a:extLst>
                            <a:ext uri="{FF2B5EF4-FFF2-40B4-BE49-F238E27FC236}">
                              <a16:creationId xmlns:a16="http://schemas.microsoft.com/office/drawing/2014/main" id="{EA66326B-B8FF-4B27-86B5-632A92FE5CA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57" name="Picture 37">
              <a:extLst>
                <a:ext uri="{FF2B5EF4-FFF2-40B4-BE49-F238E27FC236}">
                  <a16:creationId xmlns:a16="http://schemas.microsoft.com/office/drawing/2014/main" id="{A7C72A07-4636-40A9-B667-5798EBFF73C0}"/>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8" name="Picture 38">
              <a:extLst>
                <a:ext uri="{FF2B5EF4-FFF2-40B4-BE49-F238E27FC236}">
                  <a16:creationId xmlns:a16="http://schemas.microsoft.com/office/drawing/2014/main" id="{7914E756-9B1A-4A4D-83D4-023C23A7CA90}"/>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9" name="Picture 39">
              <a:extLst>
                <a:ext uri="{FF2B5EF4-FFF2-40B4-BE49-F238E27FC236}">
                  <a16:creationId xmlns:a16="http://schemas.microsoft.com/office/drawing/2014/main" id="{0A959C3F-821F-4DF8-AA0A-CCC0714AE917}"/>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0" name="Rectangle 40">
              <a:extLst>
                <a:ext uri="{FF2B5EF4-FFF2-40B4-BE49-F238E27FC236}">
                  <a16:creationId xmlns:a16="http://schemas.microsoft.com/office/drawing/2014/main" id="{4E16F8A5-2A01-46B2-9AAF-53122A540CF8}"/>
                </a:ext>
              </a:extLst>
            </p:cNvPr>
            <p:cNvSpPr>
              <a:spLocks noChangeArrowheads="1"/>
            </p:cNvSpPr>
            <p:nvPr/>
          </p:nvSpPr>
          <p:spPr bwMode="auto">
            <a:xfrm>
              <a:off x="1527" y="1921"/>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公司</a:t>
              </a:r>
              <a:r>
                <a:rPr kumimoji="0" lang="en-US" altLang="zh-CN" sz="1400" dirty="0">
                  <a:latin typeface="微软雅黑" panose="020B0503020204020204" pitchFamily="34" charset="-122"/>
                  <a:ea typeface="微软雅黑" panose="020B0503020204020204" pitchFamily="34" charset="-122"/>
                </a:rPr>
                <a:t>A</a:t>
              </a:r>
            </a:p>
          </p:txBody>
        </p:sp>
        <p:sp>
          <p:nvSpPr>
            <p:cNvPr id="161" name="Line 41">
              <a:extLst>
                <a:ext uri="{FF2B5EF4-FFF2-40B4-BE49-F238E27FC236}">
                  <a16:creationId xmlns:a16="http://schemas.microsoft.com/office/drawing/2014/main" id="{0F923289-43E0-41D2-9BA4-A427FCBB8183}"/>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2" name="Line 42">
              <a:extLst>
                <a:ext uri="{FF2B5EF4-FFF2-40B4-BE49-F238E27FC236}">
                  <a16:creationId xmlns:a16="http://schemas.microsoft.com/office/drawing/2014/main" id="{EF5CE3E9-7725-4C8E-A233-573AAD70C868}"/>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63" name="Object 43">
              <a:extLst>
                <a:ext uri="{FF2B5EF4-FFF2-40B4-BE49-F238E27FC236}">
                  <a16:creationId xmlns:a16="http://schemas.microsoft.com/office/drawing/2014/main" id="{D7597F5D-2E3A-4679-8D53-88B3562E5267}"/>
                </a:ext>
              </a:extLst>
            </p:cNvPr>
            <p:cNvGraphicFramePr>
              <a:graphicFrameLocks/>
            </p:cNvGraphicFramePr>
            <p:nvPr/>
          </p:nvGraphicFramePr>
          <p:xfrm>
            <a:off x="1776" y="2544"/>
            <a:ext cx="288" cy="239"/>
          </p:xfrm>
          <a:graphic>
            <a:graphicData uri="http://schemas.openxmlformats.org/presentationml/2006/ole">
              <mc:AlternateContent xmlns:mc="http://schemas.openxmlformats.org/markup-compatibility/2006">
                <mc:Choice xmlns:v="urn:schemas-microsoft-com:vml" Requires="v">
                  <p:oleObj name="剪辑" r:id="rId10" imgW="1012680" imgH="809280" progId="MS_ClipArt_Gallery.2">
                    <p:embed/>
                  </p:oleObj>
                </mc:Choice>
                <mc:Fallback>
                  <p:oleObj name="剪辑" r:id="rId10" imgW="1012680" imgH="809280" progId="MS_ClipArt_Gallery.2">
                    <p:embed/>
                    <p:pic>
                      <p:nvPicPr>
                        <p:cNvPr id="163" name="Object 43">
                          <a:extLst>
                            <a:ext uri="{FF2B5EF4-FFF2-40B4-BE49-F238E27FC236}">
                              <a16:creationId xmlns:a16="http://schemas.microsoft.com/office/drawing/2014/main" id="{D7597F5D-2E3A-4679-8D53-88B3562E5267}"/>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76"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4" name="Line 44">
              <a:extLst>
                <a:ext uri="{FF2B5EF4-FFF2-40B4-BE49-F238E27FC236}">
                  <a16:creationId xmlns:a16="http://schemas.microsoft.com/office/drawing/2014/main" id="{7A66B3D3-0533-4F06-BB33-338038215C50}"/>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65" name="Line 45">
            <a:extLst>
              <a:ext uri="{FF2B5EF4-FFF2-40B4-BE49-F238E27FC236}">
                <a16:creationId xmlns:a16="http://schemas.microsoft.com/office/drawing/2014/main" id="{BDDDB8B4-2F07-4E3C-A848-6AC41377AC4F}"/>
              </a:ext>
            </a:extLst>
          </p:cNvPr>
          <p:cNvSpPr>
            <a:spLocks noChangeShapeType="1"/>
          </p:cNvSpPr>
          <p:nvPr/>
        </p:nvSpPr>
        <p:spPr bwMode="auto">
          <a:xfrm>
            <a:off x="2111466" y="3080155"/>
            <a:ext cx="0" cy="2953638"/>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6" name="Line 46">
            <a:extLst>
              <a:ext uri="{FF2B5EF4-FFF2-40B4-BE49-F238E27FC236}">
                <a16:creationId xmlns:a16="http://schemas.microsoft.com/office/drawing/2014/main" id="{C5B757E3-B90A-4BF4-997B-D55A2B3147B1}"/>
              </a:ext>
            </a:extLst>
          </p:cNvPr>
          <p:cNvSpPr>
            <a:spLocks noChangeShapeType="1"/>
          </p:cNvSpPr>
          <p:nvPr/>
        </p:nvSpPr>
        <p:spPr bwMode="auto">
          <a:xfrm flipV="1">
            <a:off x="2453710" y="6143622"/>
            <a:ext cx="6480611" cy="0"/>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7" name="Line 47">
            <a:extLst>
              <a:ext uri="{FF2B5EF4-FFF2-40B4-BE49-F238E27FC236}">
                <a16:creationId xmlns:a16="http://schemas.microsoft.com/office/drawing/2014/main" id="{FCF849A1-2652-4D83-B627-4A485ACDA59B}"/>
              </a:ext>
            </a:extLst>
          </p:cNvPr>
          <p:cNvSpPr>
            <a:spLocks noChangeShapeType="1"/>
          </p:cNvSpPr>
          <p:nvPr/>
        </p:nvSpPr>
        <p:spPr bwMode="auto">
          <a:xfrm flipV="1">
            <a:off x="9264525" y="3131247"/>
            <a:ext cx="0" cy="2851118"/>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8" name="AutoShape 48">
            <a:extLst>
              <a:ext uri="{FF2B5EF4-FFF2-40B4-BE49-F238E27FC236}">
                <a16:creationId xmlns:a16="http://schemas.microsoft.com/office/drawing/2014/main" id="{C147249C-59F0-430C-8EDD-F3942A7D20DB}"/>
              </a:ext>
            </a:extLst>
          </p:cNvPr>
          <p:cNvSpPr>
            <a:spLocks/>
          </p:cNvSpPr>
          <p:nvPr/>
        </p:nvSpPr>
        <p:spPr bwMode="auto">
          <a:xfrm>
            <a:off x="3680777" y="1993296"/>
            <a:ext cx="1122986" cy="479425"/>
          </a:xfrm>
          <a:prstGeom prst="accentCallout1">
            <a:avLst>
              <a:gd name="adj1" fmla="val 18750"/>
              <a:gd name="adj2" fmla="val -6454"/>
              <a:gd name="adj3" fmla="val 196246"/>
              <a:gd name="adj4" fmla="val -92972"/>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主机必须支持隧道协议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69" name="AutoShape 49">
            <a:extLst>
              <a:ext uri="{FF2B5EF4-FFF2-40B4-BE49-F238E27FC236}">
                <a16:creationId xmlns:a16="http://schemas.microsoft.com/office/drawing/2014/main" id="{3F666B08-8499-44A2-A2C9-F3C131B65C75}"/>
              </a:ext>
            </a:extLst>
          </p:cNvPr>
          <p:cNvSpPr>
            <a:spLocks/>
          </p:cNvSpPr>
          <p:nvPr/>
        </p:nvSpPr>
        <p:spPr bwMode="auto">
          <a:xfrm>
            <a:off x="6599849" y="1974196"/>
            <a:ext cx="1044564" cy="479425"/>
          </a:xfrm>
          <a:prstGeom prst="accentCallout1">
            <a:avLst>
              <a:gd name="adj1" fmla="val 18750"/>
              <a:gd name="adj2" fmla="val 106454"/>
              <a:gd name="adj3" fmla="val 187803"/>
              <a:gd name="adj4" fmla="val 208511"/>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主机必须支持隧道协议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70" name="Line 50">
            <a:extLst>
              <a:ext uri="{FF2B5EF4-FFF2-40B4-BE49-F238E27FC236}">
                <a16:creationId xmlns:a16="http://schemas.microsoft.com/office/drawing/2014/main" id="{49212CFB-B4B3-4A80-8B62-B7B3ABEF276E}"/>
              </a:ext>
            </a:extLst>
          </p:cNvPr>
          <p:cNvSpPr>
            <a:spLocks noChangeShapeType="1"/>
          </p:cNvSpPr>
          <p:nvPr/>
        </p:nvSpPr>
        <p:spPr bwMode="auto">
          <a:xfrm flipV="1">
            <a:off x="2636950" y="3012810"/>
            <a:ext cx="6087984" cy="0"/>
          </a:xfrm>
          <a:prstGeom prst="line">
            <a:avLst/>
          </a:prstGeom>
          <a:noFill/>
          <a:ln w="38100" cmpd="tri">
            <a:pattFill prst="lgConfetti">
              <a:fgClr>
                <a:srgbClr val="00FF99"/>
              </a:fgClr>
              <a:bgClr>
                <a:srgbClr val="FF9933"/>
              </a:bgClr>
            </a:patt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71" name="Group 51">
            <a:extLst>
              <a:ext uri="{FF2B5EF4-FFF2-40B4-BE49-F238E27FC236}">
                <a16:creationId xmlns:a16="http://schemas.microsoft.com/office/drawing/2014/main" id="{A493B99A-D49F-4042-926D-E2DCE51AC6CF}"/>
              </a:ext>
            </a:extLst>
          </p:cNvPr>
          <p:cNvGrpSpPr>
            <a:grpSpLocks/>
          </p:cNvGrpSpPr>
          <p:nvPr/>
        </p:nvGrpSpPr>
        <p:grpSpPr bwMode="auto">
          <a:xfrm>
            <a:off x="2359791" y="4781315"/>
            <a:ext cx="6714248" cy="1258888"/>
            <a:chOff x="864" y="2496"/>
            <a:chExt cx="3744" cy="1008"/>
          </a:xfrm>
        </p:grpSpPr>
        <p:sp>
          <p:nvSpPr>
            <p:cNvPr id="172" name="Line 52">
              <a:extLst>
                <a:ext uri="{FF2B5EF4-FFF2-40B4-BE49-F238E27FC236}">
                  <a16:creationId xmlns:a16="http://schemas.microsoft.com/office/drawing/2014/main" id="{1991BAEB-0AD7-4AC3-9131-65378E014B7E}"/>
                </a:ext>
              </a:extLst>
            </p:cNvPr>
            <p:cNvSpPr>
              <a:spLocks noChangeShapeType="1"/>
            </p:cNvSpPr>
            <p:nvPr/>
          </p:nvSpPr>
          <p:spPr bwMode="auto">
            <a:xfrm flipV="1">
              <a:off x="864" y="2496"/>
              <a:ext cx="0" cy="1008"/>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3" name="Line 53">
              <a:extLst>
                <a:ext uri="{FF2B5EF4-FFF2-40B4-BE49-F238E27FC236}">
                  <a16:creationId xmlns:a16="http://schemas.microsoft.com/office/drawing/2014/main" id="{451D90B3-3A51-4301-BBA5-EBEEC09CA19B}"/>
                </a:ext>
              </a:extLst>
            </p:cNvPr>
            <p:cNvSpPr>
              <a:spLocks noChangeShapeType="1"/>
            </p:cNvSpPr>
            <p:nvPr/>
          </p:nvSpPr>
          <p:spPr bwMode="auto">
            <a:xfrm flipV="1">
              <a:off x="4608" y="2496"/>
              <a:ext cx="0" cy="960"/>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74" name="Line 54">
            <a:extLst>
              <a:ext uri="{FF2B5EF4-FFF2-40B4-BE49-F238E27FC236}">
                <a16:creationId xmlns:a16="http://schemas.microsoft.com/office/drawing/2014/main" id="{C3FF8082-0008-44A7-BA96-E955F10DDD81}"/>
              </a:ext>
            </a:extLst>
          </p:cNvPr>
          <p:cNvSpPr>
            <a:spLocks noChangeShapeType="1"/>
          </p:cNvSpPr>
          <p:nvPr/>
        </p:nvSpPr>
        <p:spPr bwMode="auto">
          <a:xfrm flipV="1">
            <a:off x="2373424" y="5165338"/>
            <a:ext cx="6681707" cy="0"/>
          </a:xfrm>
          <a:prstGeom prst="line">
            <a:avLst/>
          </a:prstGeom>
          <a:noFill/>
          <a:ln w="28575">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76" name="Group 56">
            <a:extLst>
              <a:ext uri="{FF2B5EF4-FFF2-40B4-BE49-F238E27FC236}">
                <a16:creationId xmlns:a16="http://schemas.microsoft.com/office/drawing/2014/main" id="{9FC3FF06-0675-467E-8604-26291527A2C4}"/>
              </a:ext>
            </a:extLst>
          </p:cNvPr>
          <p:cNvGrpSpPr>
            <a:grpSpLocks/>
          </p:cNvGrpSpPr>
          <p:nvPr/>
        </p:nvGrpSpPr>
        <p:grpSpPr bwMode="auto">
          <a:xfrm>
            <a:off x="1147535" y="3045468"/>
            <a:ext cx="779463" cy="3128977"/>
            <a:chOff x="48" y="1536"/>
            <a:chExt cx="624" cy="2016"/>
          </a:xfrm>
        </p:grpSpPr>
        <p:sp>
          <p:nvSpPr>
            <p:cNvPr id="177" name="Line 57">
              <a:extLst>
                <a:ext uri="{FF2B5EF4-FFF2-40B4-BE49-F238E27FC236}">
                  <a16:creationId xmlns:a16="http://schemas.microsoft.com/office/drawing/2014/main" id="{E0341FAF-C18D-4750-B01F-BB68C10E345D}"/>
                </a:ext>
              </a:extLst>
            </p:cNvPr>
            <p:cNvSpPr>
              <a:spLocks noChangeShapeType="1"/>
            </p:cNvSpPr>
            <p:nvPr/>
          </p:nvSpPr>
          <p:spPr bwMode="auto">
            <a:xfrm flipH="1">
              <a:off x="48" y="3552"/>
              <a:ext cx="528"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8" name="Line 58">
              <a:extLst>
                <a:ext uri="{FF2B5EF4-FFF2-40B4-BE49-F238E27FC236}">
                  <a16:creationId xmlns:a16="http://schemas.microsoft.com/office/drawing/2014/main" id="{0C2D3A19-7A3A-4390-8E81-E89F0CE35A1F}"/>
                </a:ext>
              </a:extLst>
            </p:cNvPr>
            <p:cNvSpPr>
              <a:spLocks noChangeShapeType="1"/>
            </p:cNvSpPr>
            <p:nvPr/>
          </p:nvSpPr>
          <p:spPr bwMode="auto">
            <a:xfrm flipH="1">
              <a:off x="48" y="1536"/>
              <a:ext cx="624"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79" name="Line 59">
            <a:extLst>
              <a:ext uri="{FF2B5EF4-FFF2-40B4-BE49-F238E27FC236}">
                <a16:creationId xmlns:a16="http://schemas.microsoft.com/office/drawing/2014/main" id="{D90295E6-310E-49D8-9236-477401F6B141}"/>
              </a:ext>
            </a:extLst>
          </p:cNvPr>
          <p:cNvSpPr>
            <a:spLocks noChangeShapeType="1"/>
          </p:cNvSpPr>
          <p:nvPr/>
        </p:nvSpPr>
        <p:spPr bwMode="auto">
          <a:xfrm flipH="1">
            <a:off x="1626959" y="3045468"/>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80" name="Line 60">
            <a:extLst>
              <a:ext uri="{FF2B5EF4-FFF2-40B4-BE49-F238E27FC236}">
                <a16:creationId xmlns:a16="http://schemas.microsoft.com/office/drawing/2014/main" id="{30793653-8E6B-4ACA-BE7A-67BB15B8373C}"/>
              </a:ext>
            </a:extLst>
          </p:cNvPr>
          <p:cNvSpPr>
            <a:spLocks noChangeShapeType="1"/>
          </p:cNvSpPr>
          <p:nvPr/>
        </p:nvSpPr>
        <p:spPr bwMode="auto">
          <a:xfrm flipH="1">
            <a:off x="1326922" y="3045468"/>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86" name="Text Box 66">
            <a:extLst>
              <a:ext uri="{FF2B5EF4-FFF2-40B4-BE49-F238E27FC236}">
                <a16:creationId xmlns:a16="http://schemas.microsoft.com/office/drawing/2014/main" id="{979372C6-403E-4B2D-A733-51157697C78E}"/>
              </a:ext>
            </a:extLst>
          </p:cNvPr>
          <p:cNvSpPr txBox="1">
            <a:spLocks noChangeArrowheads="1"/>
          </p:cNvSpPr>
          <p:nvPr/>
        </p:nvSpPr>
        <p:spPr bwMode="auto">
          <a:xfrm>
            <a:off x="3479844" y="2713022"/>
            <a:ext cx="4852794" cy="6113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隧道建立在两边的主机之间</a:t>
            </a:r>
            <a:endParaRPr kumimoji="0" lang="en-US" altLang="zh-CN" sz="1400" dirty="0">
              <a:latin typeface="微软雅黑" panose="020B0503020204020204" pitchFamily="34" charset="-122"/>
              <a:ea typeface="微软雅黑" panose="020B0503020204020204" pitchFamily="34" charset="-122"/>
            </a:endParaRPr>
          </a:p>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业务伙伴内的主机不都是可以信任的</a:t>
            </a:r>
          </a:p>
        </p:txBody>
      </p:sp>
      <p:sp>
        <p:nvSpPr>
          <p:cNvPr id="187" name="Text Box 67">
            <a:extLst>
              <a:ext uri="{FF2B5EF4-FFF2-40B4-BE49-F238E27FC236}">
                <a16:creationId xmlns:a16="http://schemas.microsoft.com/office/drawing/2014/main" id="{ED5B8B53-B0D6-4359-BCF6-E4BACD1A258A}"/>
              </a:ext>
            </a:extLst>
          </p:cNvPr>
          <p:cNvSpPr txBox="1">
            <a:spLocks noChangeArrowheads="1"/>
          </p:cNvSpPr>
          <p:nvPr/>
        </p:nvSpPr>
        <p:spPr bwMode="auto">
          <a:xfrm>
            <a:off x="4373720" y="4414860"/>
            <a:ext cx="3154223"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sp>
        <p:nvSpPr>
          <p:cNvPr id="188" name="Text Box 68">
            <a:extLst>
              <a:ext uri="{FF2B5EF4-FFF2-40B4-BE49-F238E27FC236}">
                <a16:creationId xmlns:a16="http://schemas.microsoft.com/office/drawing/2014/main" id="{3B7B6189-E4B5-4F3C-9E05-8F0E348A8D77}"/>
              </a:ext>
            </a:extLst>
          </p:cNvPr>
          <p:cNvSpPr txBox="1">
            <a:spLocks noChangeArrowheads="1"/>
          </p:cNvSpPr>
          <p:nvPr/>
        </p:nvSpPr>
        <p:spPr bwMode="auto">
          <a:xfrm>
            <a:off x="4501624" y="4832480"/>
            <a:ext cx="2920333"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89" name="Text Box 69">
            <a:extLst>
              <a:ext uri="{FF2B5EF4-FFF2-40B4-BE49-F238E27FC236}">
                <a16:creationId xmlns:a16="http://schemas.microsoft.com/office/drawing/2014/main" id="{25C2497C-636C-451E-9F4D-DDA68B97EF6F}"/>
              </a:ext>
            </a:extLst>
          </p:cNvPr>
          <p:cNvSpPr txBox="1">
            <a:spLocks noChangeArrowheads="1"/>
          </p:cNvSpPr>
          <p:nvPr/>
        </p:nvSpPr>
        <p:spPr bwMode="auto">
          <a:xfrm>
            <a:off x="1313088" y="3228095"/>
            <a:ext cx="360864" cy="278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92" name="Text Box 72">
            <a:extLst>
              <a:ext uri="{FF2B5EF4-FFF2-40B4-BE49-F238E27FC236}">
                <a16:creationId xmlns:a16="http://schemas.microsoft.com/office/drawing/2014/main" id="{4DFAD6C2-6BAF-4CDE-B7AE-F427A52E97C9}"/>
              </a:ext>
            </a:extLst>
          </p:cNvPr>
          <p:cNvSpPr txBox="1">
            <a:spLocks noChangeArrowheads="1"/>
          </p:cNvSpPr>
          <p:nvPr/>
        </p:nvSpPr>
        <p:spPr bwMode="auto">
          <a:xfrm>
            <a:off x="1001758" y="3251751"/>
            <a:ext cx="360864" cy="27318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pic>
        <p:nvPicPr>
          <p:cNvPr id="193" name="Picture 73">
            <a:extLst>
              <a:ext uri="{FF2B5EF4-FFF2-40B4-BE49-F238E27FC236}">
                <a16:creationId xmlns:a16="http://schemas.microsoft.com/office/drawing/2014/main" id="{C654D5F4-FA64-4458-A8FF-7C75DBDDEE80}"/>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11552" y="5742204"/>
            <a:ext cx="493713"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 name="Text Box 74">
            <a:extLst>
              <a:ext uri="{FF2B5EF4-FFF2-40B4-BE49-F238E27FC236}">
                <a16:creationId xmlns:a16="http://schemas.microsoft.com/office/drawing/2014/main" id="{F6D11A68-EC4F-4076-A2A5-AD61D77AD3B9}"/>
              </a:ext>
            </a:extLst>
          </p:cNvPr>
          <p:cNvSpPr txBox="1">
            <a:spLocks noChangeArrowheads="1"/>
          </p:cNvSpPr>
          <p:nvPr/>
        </p:nvSpPr>
        <p:spPr bwMode="auto">
          <a:xfrm>
            <a:off x="2780899" y="6414334"/>
            <a:ext cx="541338"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pic>
        <p:nvPicPr>
          <p:cNvPr id="195" name="Picture 75">
            <a:extLst>
              <a:ext uri="{FF2B5EF4-FFF2-40B4-BE49-F238E27FC236}">
                <a16:creationId xmlns:a16="http://schemas.microsoft.com/office/drawing/2014/main" id="{696F4D83-E541-43ED-9A28-D0265FE32595}"/>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28278" y="5717438"/>
            <a:ext cx="493712"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6" name="Text Box 76">
            <a:extLst>
              <a:ext uri="{FF2B5EF4-FFF2-40B4-BE49-F238E27FC236}">
                <a16:creationId xmlns:a16="http://schemas.microsoft.com/office/drawing/2014/main" id="{73ED2B1C-86AF-4093-A932-F9E36A7744E2}"/>
              </a:ext>
            </a:extLst>
          </p:cNvPr>
          <p:cNvSpPr txBox="1">
            <a:spLocks noChangeArrowheads="1"/>
          </p:cNvSpPr>
          <p:nvPr/>
        </p:nvSpPr>
        <p:spPr bwMode="auto">
          <a:xfrm>
            <a:off x="8004465" y="6385776"/>
            <a:ext cx="541337"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sp>
        <p:nvSpPr>
          <p:cNvPr id="204" name="Line 54">
            <a:extLst>
              <a:ext uri="{FF2B5EF4-FFF2-40B4-BE49-F238E27FC236}">
                <a16:creationId xmlns:a16="http://schemas.microsoft.com/office/drawing/2014/main" id="{A68C0B88-DDE8-4EF1-BBBD-E2F9ABBE3778}"/>
              </a:ext>
            </a:extLst>
          </p:cNvPr>
          <p:cNvSpPr>
            <a:spLocks noChangeShapeType="1"/>
          </p:cNvSpPr>
          <p:nvPr/>
        </p:nvSpPr>
        <p:spPr bwMode="auto">
          <a:xfrm flipV="1">
            <a:off x="2381215" y="4769442"/>
            <a:ext cx="6692819" cy="0"/>
          </a:xfrm>
          <a:prstGeom prst="line">
            <a:avLst/>
          </a:prstGeom>
          <a:noFill/>
          <a:ln w="28575">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77" name="Group 56">
            <a:extLst>
              <a:ext uri="{FF2B5EF4-FFF2-40B4-BE49-F238E27FC236}">
                <a16:creationId xmlns:a16="http://schemas.microsoft.com/office/drawing/2014/main" id="{458039DF-CC39-4E08-BF38-81841B76DC7B}"/>
              </a:ext>
            </a:extLst>
          </p:cNvPr>
          <p:cNvGrpSpPr>
            <a:grpSpLocks/>
          </p:cNvGrpSpPr>
          <p:nvPr/>
        </p:nvGrpSpPr>
        <p:grpSpPr bwMode="auto">
          <a:xfrm>
            <a:off x="9599735" y="2948620"/>
            <a:ext cx="779463" cy="3128977"/>
            <a:chOff x="48" y="1536"/>
            <a:chExt cx="624" cy="2016"/>
          </a:xfrm>
        </p:grpSpPr>
        <p:sp>
          <p:nvSpPr>
            <p:cNvPr id="78" name="Line 57">
              <a:extLst>
                <a:ext uri="{FF2B5EF4-FFF2-40B4-BE49-F238E27FC236}">
                  <a16:creationId xmlns:a16="http://schemas.microsoft.com/office/drawing/2014/main" id="{73189780-B847-44D9-B8CF-3B5F61B4120F}"/>
                </a:ext>
              </a:extLst>
            </p:cNvPr>
            <p:cNvSpPr>
              <a:spLocks noChangeShapeType="1"/>
            </p:cNvSpPr>
            <p:nvPr/>
          </p:nvSpPr>
          <p:spPr bwMode="auto">
            <a:xfrm flipH="1">
              <a:off x="48" y="3552"/>
              <a:ext cx="528"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79" name="Line 58">
              <a:extLst>
                <a:ext uri="{FF2B5EF4-FFF2-40B4-BE49-F238E27FC236}">
                  <a16:creationId xmlns:a16="http://schemas.microsoft.com/office/drawing/2014/main" id="{0D5E1471-7036-489B-BC02-459E14F5985B}"/>
                </a:ext>
              </a:extLst>
            </p:cNvPr>
            <p:cNvSpPr>
              <a:spLocks noChangeShapeType="1"/>
            </p:cNvSpPr>
            <p:nvPr/>
          </p:nvSpPr>
          <p:spPr bwMode="auto">
            <a:xfrm flipH="1">
              <a:off x="48" y="1536"/>
              <a:ext cx="624"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80" name="Line 59">
            <a:extLst>
              <a:ext uri="{FF2B5EF4-FFF2-40B4-BE49-F238E27FC236}">
                <a16:creationId xmlns:a16="http://schemas.microsoft.com/office/drawing/2014/main" id="{AD38827D-96C5-4AEB-AE93-9DE03F346452}"/>
              </a:ext>
            </a:extLst>
          </p:cNvPr>
          <p:cNvSpPr>
            <a:spLocks noChangeShapeType="1"/>
          </p:cNvSpPr>
          <p:nvPr/>
        </p:nvSpPr>
        <p:spPr bwMode="auto">
          <a:xfrm flipH="1">
            <a:off x="10079159" y="2948620"/>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81" name="Line 60">
            <a:extLst>
              <a:ext uri="{FF2B5EF4-FFF2-40B4-BE49-F238E27FC236}">
                <a16:creationId xmlns:a16="http://schemas.microsoft.com/office/drawing/2014/main" id="{88AD80E9-2C2A-4C57-8476-49815E1469AD}"/>
              </a:ext>
            </a:extLst>
          </p:cNvPr>
          <p:cNvSpPr>
            <a:spLocks noChangeShapeType="1"/>
          </p:cNvSpPr>
          <p:nvPr/>
        </p:nvSpPr>
        <p:spPr bwMode="auto">
          <a:xfrm flipH="1">
            <a:off x="9779122" y="2948620"/>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82" name="Text Box 69">
            <a:extLst>
              <a:ext uri="{FF2B5EF4-FFF2-40B4-BE49-F238E27FC236}">
                <a16:creationId xmlns:a16="http://schemas.microsoft.com/office/drawing/2014/main" id="{7FE36BFE-5B01-411F-8F5E-9AAD86D2E938}"/>
              </a:ext>
            </a:extLst>
          </p:cNvPr>
          <p:cNvSpPr txBox="1">
            <a:spLocks noChangeArrowheads="1"/>
          </p:cNvSpPr>
          <p:nvPr/>
        </p:nvSpPr>
        <p:spPr bwMode="auto">
          <a:xfrm>
            <a:off x="10042482" y="3141521"/>
            <a:ext cx="360864" cy="278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83" name="Text Box 72">
            <a:extLst>
              <a:ext uri="{FF2B5EF4-FFF2-40B4-BE49-F238E27FC236}">
                <a16:creationId xmlns:a16="http://schemas.microsoft.com/office/drawing/2014/main" id="{7A5B1064-7B85-420E-96FF-DFA85EB162B6}"/>
              </a:ext>
            </a:extLst>
          </p:cNvPr>
          <p:cNvSpPr txBox="1">
            <a:spLocks noChangeArrowheads="1"/>
          </p:cNvSpPr>
          <p:nvPr/>
        </p:nvSpPr>
        <p:spPr bwMode="auto">
          <a:xfrm>
            <a:off x="9737196" y="3387149"/>
            <a:ext cx="360864" cy="23070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grpSp>
        <p:nvGrpSpPr>
          <p:cNvPr id="126" name="Group 6">
            <a:extLst>
              <a:ext uri="{FF2B5EF4-FFF2-40B4-BE49-F238E27FC236}">
                <a16:creationId xmlns:a16="http://schemas.microsoft.com/office/drawing/2014/main" id="{E6C5F9AD-539C-44BA-9D51-DA554456AE33}"/>
              </a:ext>
            </a:extLst>
          </p:cNvPr>
          <p:cNvGrpSpPr>
            <a:grpSpLocks/>
          </p:cNvGrpSpPr>
          <p:nvPr/>
        </p:nvGrpSpPr>
        <p:grpSpPr bwMode="auto">
          <a:xfrm>
            <a:off x="4747946" y="5632403"/>
            <a:ext cx="2098993" cy="753428"/>
            <a:chOff x="1844" y="2780"/>
            <a:chExt cx="2023" cy="970"/>
          </a:xfrm>
        </p:grpSpPr>
        <p:pic>
          <p:nvPicPr>
            <p:cNvPr id="127" name="Picture 7">
              <a:extLst>
                <a:ext uri="{FF2B5EF4-FFF2-40B4-BE49-F238E27FC236}">
                  <a16:creationId xmlns:a16="http://schemas.microsoft.com/office/drawing/2014/main" id="{F071D0A3-9C45-4417-866C-F4E3A5704D34}"/>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844" y="2780"/>
              <a:ext cx="2023" cy="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8" name="Text Box 8">
              <a:extLst>
                <a:ext uri="{FF2B5EF4-FFF2-40B4-BE49-F238E27FC236}">
                  <a16:creationId xmlns:a16="http://schemas.microsoft.com/office/drawing/2014/main" id="{9E19225A-3931-431A-9A71-EAE15CA7763C}"/>
                </a:ext>
              </a:extLst>
            </p:cNvPr>
            <p:cNvSpPr txBox="1">
              <a:spLocks noChangeArrowheads="1"/>
            </p:cNvSpPr>
            <p:nvPr/>
          </p:nvSpPr>
          <p:spPr bwMode="auto">
            <a:xfrm>
              <a:off x="2304" y="3055"/>
              <a:ext cx="1169" cy="4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pPr>
              <a:r>
                <a:rPr kumimoji="0" lang="en-US" altLang="zh-CN" sz="1600" dirty="0">
                  <a:latin typeface="微软雅黑" panose="020B0503020204020204" pitchFamily="34" charset="-122"/>
                  <a:ea typeface="微软雅黑" panose="020B0503020204020204" pitchFamily="34" charset="-122"/>
                </a:rPr>
                <a:t>Internet</a:t>
              </a:r>
            </a:p>
          </p:txBody>
        </p:sp>
      </p:grpSp>
      <p:sp>
        <p:nvSpPr>
          <p:cNvPr id="5" name="日期占位符 4">
            <a:extLst>
              <a:ext uri="{FF2B5EF4-FFF2-40B4-BE49-F238E27FC236}">
                <a16:creationId xmlns:a16="http://schemas.microsoft.com/office/drawing/2014/main" id="{BAFA6289-DB69-44AC-BCFB-F9847B688F27}"/>
              </a:ext>
            </a:extLst>
          </p:cNvPr>
          <p:cNvSpPr>
            <a:spLocks noGrp="1"/>
          </p:cNvSpPr>
          <p:nvPr>
            <p:ph type="dt" sz="half" idx="10"/>
          </p:nvPr>
        </p:nvSpPr>
        <p:spPr/>
        <p:txBody>
          <a:bodyPr/>
          <a:lstStyle/>
          <a:p>
            <a:r>
              <a:rPr kumimoji="1" lang="en-US" altLang="zh-CN" dirty="0"/>
              <a:t>5.10.2 VPN</a:t>
            </a:r>
            <a:r>
              <a:rPr kumimoji="1" lang="zh-CN" altLang="en-US" dirty="0"/>
              <a:t>技术</a:t>
            </a:r>
          </a:p>
        </p:txBody>
      </p:sp>
      <p:pic>
        <p:nvPicPr>
          <p:cNvPr id="84" name="Picture 28" descr="015">
            <a:extLst>
              <a:ext uri="{FF2B5EF4-FFF2-40B4-BE49-F238E27FC236}">
                <a16:creationId xmlns:a16="http://schemas.microsoft.com/office/drawing/2014/main" id="{B55F4C86-C221-4005-8C4E-017669DC3524}"/>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94741266"/>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 name="Line 28">
            <a:extLst>
              <a:ext uri="{FF2B5EF4-FFF2-40B4-BE49-F238E27FC236}">
                <a16:creationId xmlns:a16="http://schemas.microsoft.com/office/drawing/2014/main" id="{9C74BC99-2C6E-43E7-8AEF-A642C6A354A3}"/>
              </a:ext>
            </a:extLst>
          </p:cNvPr>
          <p:cNvSpPr>
            <a:spLocks noChangeShapeType="1"/>
          </p:cNvSpPr>
          <p:nvPr/>
        </p:nvSpPr>
        <p:spPr bwMode="auto">
          <a:xfrm flipV="1">
            <a:off x="3946090" y="5714419"/>
            <a:ext cx="5652947" cy="2"/>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0" name="Line 40">
            <a:extLst>
              <a:ext uri="{FF2B5EF4-FFF2-40B4-BE49-F238E27FC236}">
                <a16:creationId xmlns:a16="http://schemas.microsoft.com/office/drawing/2014/main" id="{CB8E32A7-F4B5-4DE2-AD56-23C29027B51B}"/>
              </a:ext>
            </a:extLst>
          </p:cNvPr>
          <p:cNvSpPr>
            <a:spLocks noChangeShapeType="1"/>
          </p:cNvSpPr>
          <p:nvPr/>
        </p:nvSpPr>
        <p:spPr bwMode="auto">
          <a:xfrm>
            <a:off x="3623826" y="4276725"/>
            <a:ext cx="0" cy="1200150"/>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1" name="Line 41">
            <a:extLst>
              <a:ext uri="{FF2B5EF4-FFF2-40B4-BE49-F238E27FC236}">
                <a16:creationId xmlns:a16="http://schemas.microsoft.com/office/drawing/2014/main" id="{84BCA1DE-792F-4E22-91BC-39F0A3138742}"/>
              </a:ext>
            </a:extLst>
          </p:cNvPr>
          <p:cNvSpPr>
            <a:spLocks noChangeShapeType="1"/>
          </p:cNvSpPr>
          <p:nvPr/>
        </p:nvSpPr>
        <p:spPr bwMode="auto">
          <a:xfrm>
            <a:off x="2663389" y="2955925"/>
            <a:ext cx="960437" cy="1260475"/>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lstStyle/>
          <a:p>
            <a:r>
              <a:rPr kumimoji="1" lang="en-US" altLang="zh-CN" dirty="0"/>
              <a:t>VPN</a:t>
            </a:r>
            <a:r>
              <a:rPr kumimoji="1" lang="zh-CN" altLang="en-US" dirty="0"/>
              <a:t>的实现方式</a:t>
            </a:r>
          </a:p>
        </p:txBody>
      </p:sp>
      <p:sp>
        <p:nvSpPr>
          <p:cNvPr id="3" name="内容占位符 2">
            <a:extLst>
              <a:ext uri="{FF2B5EF4-FFF2-40B4-BE49-F238E27FC236}">
                <a16:creationId xmlns:a16="http://schemas.microsoft.com/office/drawing/2014/main" id="{EF3F4F3D-A29F-C542-9C8A-E338A2E76276}"/>
              </a:ext>
            </a:extLst>
          </p:cNvPr>
          <p:cNvSpPr>
            <a:spLocks noGrp="1"/>
          </p:cNvSpPr>
          <p:nvPr>
            <p:ph idx="1"/>
          </p:nvPr>
        </p:nvSpPr>
        <p:spPr>
          <a:xfrm>
            <a:off x="811877" y="1427179"/>
            <a:ext cx="5377802" cy="615934"/>
          </a:xfrm>
        </p:spPr>
        <p:txBody>
          <a:bodyPr>
            <a:normAutofit fontScale="92500"/>
          </a:bodyPr>
          <a:lstStyle/>
          <a:p>
            <a:r>
              <a:rPr lang="zh-CN" altLang="en-US" dirty="0">
                <a:latin typeface="微软雅黑" panose="020B0503020204020204" pitchFamily="34" charset="-122"/>
                <a:ea typeface="微软雅黑" panose="020B0503020204020204" pitchFamily="34" charset="-122"/>
              </a:rPr>
              <a:t>用</a:t>
            </a:r>
            <a:r>
              <a:rPr lang="en-US" altLang="zh-CN" dirty="0">
                <a:latin typeface="微软雅黑" panose="020B0503020204020204" pitchFamily="34" charset="-122"/>
                <a:ea typeface="微软雅黑" panose="020B0503020204020204" pitchFamily="34" charset="-122"/>
              </a:rPr>
              <a:t>VPN</a:t>
            </a:r>
            <a:r>
              <a:rPr lang="zh-CN" altLang="en-US" dirty="0">
                <a:latin typeface="微软雅黑" panose="020B0503020204020204" pitchFamily="34" charset="-122"/>
                <a:ea typeface="微软雅黑" panose="020B0503020204020204" pitchFamily="34" charset="-122"/>
              </a:rPr>
              <a:t>实现专用网络的远程访问</a:t>
            </a:r>
            <a:endParaRPr kumimoji="1" lang="zh-CN" altLang="en-US" dirty="0"/>
          </a:p>
        </p:txBody>
      </p:sp>
      <p:sp>
        <p:nvSpPr>
          <p:cNvPr id="4" name="灯片编号占位符 3">
            <a:extLst>
              <a:ext uri="{FF2B5EF4-FFF2-40B4-BE49-F238E27FC236}">
                <a16:creationId xmlns:a16="http://schemas.microsoft.com/office/drawing/2014/main" id="{BE5C4434-6C32-D240-9DF2-915F87DB6D82}"/>
              </a:ext>
            </a:extLst>
          </p:cNvPr>
          <p:cNvSpPr>
            <a:spLocks noGrp="1"/>
          </p:cNvSpPr>
          <p:nvPr>
            <p:ph type="sldNum" sz="quarter" idx="12"/>
          </p:nvPr>
        </p:nvSpPr>
        <p:spPr/>
        <p:txBody>
          <a:bodyPr/>
          <a:lstStyle/>
          <a:p>
            <a:fld id="{8D4D1E41-7A09-AB4A-A4E1-09765ADA2698}" type="slidenum">
              <a:rPr kumimoji="1" lang="zh-CN" altLang="en-US" smtClean="0"/>
              <a:t>254</a:t>
            </a:fld>
            <a:endParaRPr kumimoji="1" lang="zh-CN" altLang="en-US" dirty="0"/>
          </a:p>
        </p:txBody>
      </p:sp>
      <p:sp>
        <p:nvSpPr>
          <p:cNvPr id="64" name="Line 2">
            <a:extLst>
              <a:ext uri="{FF2B5EF4-FFF2-40B4-BE49-F238E27FC236}">
                <a16:creationId xmlns:a16="http://schemas.microsoft.com/office/drawing/2014/main" id="{D4C1EC09-6401-4612-93D6-53E35606B0A1}"/>
              </a:ext>
            </a:extLst>
          </p:cNvPr>
          <p:cNvSpPr>
            <a:spLocks noChangeShapeType="1"/>
          </p:cNvSpPr>
          <p:nvPr/>
        </p:nvSpPr>
        <p:spPr bwMode="auto">
          <a:xfrm flipV="1">
            <a:off x="3396378" y="4423651"/>
            <a:ext cx="0" cy="105322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26" name="Group 6">
            <a:extLst>
              <a:ext uri="{FF2B5EF4-FFF2-40B4-BE49-F238E27FC236}">
                <a16:creationId xmlns:a16="http://schemas.microsoft.com/office/drawing/2014/main" id="{5AEBC40F-31B0-4AA0-A9AD-83A7F62C45B2}"/>
              </a:ext>
            </a:extLst>
          </p:cNvPr>
          <p:cNvGrpSpPr>
            <a:grpSpLocks/>
          </p:cNvGrpSpPr>
          <p:nvPr/>
        </p:nvGrpSpPr>
        <p:grpSpPr bwMode="auto">
          <a:xfrm>
            <a:off x="5436856" y="5258785"/>
            <a:ext cx="1892887" cy="789319"/>
            <a:chOff x="1793" y="2699"/>
            <a:chExt cx="2160" cy="1152"/>
          </a:xfrm>
        </p:grpSpPr>
        <p:pic>
          <p:nvPicPr>
            <p:cNvPr id="127" name="Picture 7">
              <a:extLst>
                <a:ext uri="{FF2B5EF4-FFF2-40B4-BE49-F238E27FC236}">
                  <a16:creationId xmlns:a16="http://schemas.microsoft.com/office/drawing/2014/main" id="{199EB298-CDBF-46AF-A82D-A0A5D523FD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3" y="2699"/>
              <a:ext cx="2160"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8" name="Text Box 8">
              <a:extLst>
                <a:ext uri="{FF2B5EF4-FFF2-40B4-BE49-F238E27FC236}">
                  <a16:creationId xmlns:a16="http://schemas.microsoft.com/office/drawing/2014/main" id="{463D6E9F-E4AE-46CF-8104-C641FB358DFB}"/>
                </a:ext>
              </a:extLst>
            </p:cNvPr>
            <p:cNvSpPr txBox="1">
              <a:spLocks noChangeArrowheads="1"/>
            </p:cNvSpPr>
            <p:nvPr/>
          </p:nvSpPr>
          <p:spPr bwMode="auto">
            <a:xfrm>
              <a:off x="2304" y="2976"/>
              <a:ext cx="1169" cy="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pPr>
              <a:r>
                <a:rPr kumimoji="0" lang="en-US" altLang="zh-CN" sz="1600">
                  <a:latin typeface="微软雅黑" panose="020B0503020204020204" pitchFamily="34" charset="-122"/>
                  <a:ea typeface="微软雅黑" panose="020B0503020204020204" pitchFamily="34" charset="-122"/>
                </a:rPr>
                <a:t>Internet</a:t>
              </a:r>
            </a:p>
          </p:txBody>
        </p:sp>
      </p:grpSp>
      <p:graphicFrame>
        <p:nvGraphicFramePr>
          <p:cNvPr id="129" name="Object 9">
            <a:extLst>
              <a:ext uri="{FF2B5EF4-FFF2-40B4-BE49-F238E27FC236}">
                <a16:creationId xmlns:a16="http://schemas.microsoft.com/office/drawing/2014/main" id="{B8101E36-491D-4CE0-915D-BA421B19038E}"/>
              </a:ext>
            </a:extLst>
          </p:cNvPr>
          <p:cNvGraphicFramePr>
            <a:graphicFrameLocks noChangeAspect="1"/>
          </p:cNvGraphicFramePr>
          <p:nvPr/>
        </p:nvGraphicFramePr>
        <p:xfrm>
          <a:off x="9396048" y="5554790"/>
          <a:ext cx="660400" cy="292100"/>
        </p:xfrm>
        <a:graphic>
          <a:graphicData uri="http://schemas.openxmlformats.org/presentationml/2006/ole">
            <mc:AlternateContent xmlns:mc="http://schemas.openxmlformats.org/markup-compatibility/2006">
              <mc:Choice xmlns:v="urn:schemas-microsoft-com:vml" Requires="v">
                <p:oleObj name="文档" r:id="rId4" imgW="886320" imgH="937800" progId="Word.Document.8">
                  <p:embed/>
                </p:oleObj>
              </mc:Choice>
              <mc:Fallback>
                <p:oleObj name="文档" r:id="rId4" imgW="886320" imgH="937800" progId="Word.Document.8">
                  <p:embed/>
                  <p:pic>
                    <p:nvPicPr>
                      <p:cNvPr id="129" name="Object 9">
                        <a:extLst>
                          <a:ext uri="{FF2B5EF4-FFF2-40B4-BE49-F238E27FC236}">
                            <a16:creationId xmlns:a16="http://schemas.microsoft.com/office/drawing/2014/main" id="{B8101E36-491D-4CE0-915D-BA421B1903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6048" y="5554790"/>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30" name="Group 10">
            <a:extLst>
              <a:ext uri="{FF2B5EF4-FFF2-40B4-BE49-F238E27FC236}">
                <a16:creationId xmlns:a16="http://schemas.microsoft.com/office/drawing/2014/main" id="{33A2E7EB-B45C-4AB0-8C13-7601E6C5ED7B}"/>
              </a:ext>
            </a:extLst>
          </p:cNvPr>
          <p:cNvGrpSpPr>
            <a:grpSpLocks/>
          </p:cNvGrpSpPr>
          <p:nvPr/>
        </p:nvGrpSpPr>
        <p:grpSpPr bwMode="auto">
          <a:xfrm>
            <a:off x="9024493" y="1659360"/>
            <a:ext cx="1899305" cy="1634734"/>
            <a:chOff x="1152" y="1824"/>
            <a:chExt cx="1200" cy="1104"/>
          </a:xfrm>
        </p:grpSpPr>
        <p:sp>
          <p:nvSpPr>
            <p:cNvPr id="131" name="Oval 11">
              <a:extLst>
                <a:ext uri="{FF2B5EF4-FFF2-40B4-BE49-F238E27FC236}">
                  <a16:creationId xmlns:a16="http://schemas.microsoft.com/office/drawing/2014/main" id="{0A98A913-07C1-4E77-9FAE-67EF546D58DA}"/>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2" name="Line 12">
              <a:extLst>
                <a:ext uri="{FF2B5EF4-FFF2-40B4-BE49-F238E27FC236}">
                  <a16:creationId xmlns:a16="http://schemas.microsoft.com/office/drawing/2014/main" id="{368E4440-E2BC-4A9E-9911-1FC7E3B1C04D}"/>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3" name="Line 13">
              <a:extLst>
                <a:ext uri="{FF2B5EF4-FFF2-40B4-BE49-F238E27FC236}">
                  <a16:creationId xmlns:a16="http://schemas.microsoft.com/office/drawing/2014/main" id="{55692C81-693F-4F5A-B0C8-C1FC844FB743}"/>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4" name="Line 14">
              <a:extLst>
                <a:ext uri="{FF2B5EF4-FFF2-40B4-BE49-F238E27FC236}">
                  <a16:creationId xmlns:a16="http://schemas.microsoft.com/office/drawing/2014/main" id="{8560FD69-3A73-464A-A06B-AB6272CEBFCC}"/>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Line 15">
              <a:extLst>
                <a:ext uri="{FF2B5EF4-FFF2-40B4-BE49-F238E27FC236}">
                  <a16:creationId xmlns:a16="http://schemas.microsoft.com/office/drawing/2014/main" id="{50E7EB91-20DC-42D3-84FD-DDEDF0F1658B}"/>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36" name="Picture 16">
              <a:extLst>
                <a:ext uri="{FF2B5EF4-FFF2-40B4-BE49-F238E27FC236}">
                  <a16:creationId xmlns:a16="http://schemas.microsoft.com/office/drawing/2014/main" id="{30BF3FCB-7EEB-4E48-9959-C7F3470137F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37" name="Object 17">
              <a:extLst>
                <a:ext uri="{FF2B5EF4-FFF2-40B4-BE49-F238E27FC236}">
                  <a16:creationId xmlns:a16="http://schemas.microsoft.com/office/drawing/2014/main" id="{C14DD4F9-7E19-4651-A8A2-A32E479EAE54}"/>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name="Clip" r:id="rId7" imgW="2734920" imgH="3825360" progId="MS_ClipArt_Gallery.5">
                    <p:embed/>
                  </p:oleObj>
                </mc:Choice>
                <mc:Fallback>
                  <p:oleObj name="Clip" r:id="rId7" imgW="2734920" imgH="3825360" progId="MS_ClipArt_Gallery.5">
                    <p:embed/>
                    <p:pic>
                      <p:nvPicPr>
                        <p:cNvPr id="137" name="Object 17">
                          <a:extLst>
                            <a:ext uri="{FF2B5EF4-FFF2-40B4-BE49-F238E27FC236}">
                              <a16:creationId xmlns:a16="http://schemas.microsoft.com/office/drawing/2014/main" id="{C14DD4F9-7E19-4651-A8A2-A32E479EAE5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38" name="Picture 18">
              <a:extLst>
                <a:ext uri="{FF2B5EF4-FFF2-40B4-BE49-F238E27FC236}">
                  <a16:creationId xmlns:a16="http://schemas.microsoft.com/office/drawing/2014/main" id="{B6C7F64A-AFAE-4919-BA18-37ECD71EAA49}"/>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9" name="Picture 19">
              <a:extLst>
                <a:ext uri="{FF2B5EF4-FFF2-40B4-BE49-F238E27FC236}">
                  <a16:creationId xmlns:a16="http://schemas.microsoft.com/office/drawing/2014/main" id="{5546A2E6-4A33-4BBE-AB79-B6866888FE6E}"/>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0" name="Picture 20">
              <a:extLst>
                <a:ext uri="{FF2B5EF4-FFF2-40B4-BE49-F238E27FC236}">
                  <a16:creationId xmlns:a16="http://schemas.microsoft.com/office/drawing/2014/main" id="{5F4BDF48-5A3A-44D9-B98D-9E6F9BBA5498}"/>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1" name="Rectangle 21">
              <a:extLst>
                <a:ext uri="{FF2B5EF4-FFF2-40B4-BE49-F238E27FC236}">
                  <a16:creationId xmlns:a16="http://schemas.microsoft.com/office/drawing/2014/main" id="{307724E0-C093-4C3C-ABAA-7B7A03AF8D77}"/>
                </a:ext>
              </a:extLst>
            </p:cNvPr>
            <p:cNvSpPr>
              <a:spLocks noChangeArrowheads="1"/>
            </p:cNvSpPr>
            <p:nvPr/>
          </p:nvSpPr>
          <p:spPr bwMode="auto">
            <a:xfrm>
              <a:off x="1553" y="2016"/>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a:latin typeface="微软雅黑" panose="020B0503020204020204" pitchFamily="34" charset="-122"/>
                  <a:ea typeface="微软雅黑" panose="020B0503020204020204" pitchFamily="34" charset="-122"/>
                </a:rPr>
                <a:t>公司</a:t>
              </a:r>
              <a:r>
                <a:rPr kumimoji="0" lang="en-US" altLang="zh-CN" sz="1400">
                  <a:latin typeface="微软雅黑" panose="020B0503020204020204" pitchFamily="34" charset="-122"/>
                  <a:ea typeface="微软雅黑" panose="020B0503020204020204" pitchFamily="34" charset="-122"/>
                </a:rPr>
                <a:t>B</a:t>
              </a:r>
            </a:p>
          </p:txBody>
        </p:sp>
        <p:sp>
          <p:nvSpPr>
            <p:cNvPr id="142" name="Line 22">
              <a:extLst>
                <a:ext uri="{FF2B5EF4-FFF2-40B4-BE49-F238E27FC236}">
                  <a16:creationId xmlns:a16="http://schemas.microsoft.com/office/drawing/2014/main" id="{B39671D8-7A6B-4B4B-99A4-DA22D03F2BAB}"/>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3" name="Line 23">
              <a:extLst>
                <a:ext uri="{FF2B5EF4-FFF2-40B4-BE49-F238E27FC236}">
                  <a16:creationId xmlns:a16="http://schemas.microsoft.com/office/drawing/2014/main" id="{6B22CF28-A0DD-44A0-B91D-1DC5A9838499}"/>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44" name="Object 24">
              <a:extLst>
                <a:ext uri="{FF2B5EF4-FFF2-40B4-BE49-F238E27FC236}">
                  <a16:creationId xmlns:a16="http://schemas.microsoft.com/office/drawing/2014/main" id="{3FA1B938-36C2-4F86-A308-1630BD58FBB0}"/>
                </a:ext>
              </a:extLst>
            </p:cNvPr>
            <p:cNvGraphicFramePr>
              <a:graphicFrameLocks/>
            </p:cNvGraphicFramePr>
            <p:nvPr/>
          </p:nvGraphicFramePr>
          <p:xfrm>
            <a:off x="1776" y="2544"/>
            <a:ext cx="288" cy="239"/>
          </p:xfrm>
          <a:graphic>
            <a:graphicData uri="http://schemas.openxmlformats.org/presentationml/2006/ole">
              <mc:AlternateContent xmlns:mc="http://schemas.openxmlformats.org/markup-compatibility/2006">
                <mc:Choice xmlns:v="urn:schemas-microsoft-com:vml" Requires="v">
                  <p:oleObj name="剪辑" r:id="rId11" imgW="1012680" imgH="809280" progId="MS_ClipArt_Gallery.2">
                    <p:embed/>
                  </p:oleObj>
                </mc:Choice>
                <mc:Fallback>
                  <p:oleObj name="剪辑" r:id="rId11" imgW="1012680" imgH="809280" progId="MS_ClipArt_Gallery.2">
                    <p:embed/>
                    <p:pic>
                      <p:nvPicPr>
                        <p:cNvPr id="144" name="Object 24">
                          <a:extLst>
                            <a:ext uri="{FF2B5EF4-FFF2-40B4-BE49-F238E27FC236}">
                              <a16:creationId xmlns:a16="http://schemas.microsoft.com/office/drawing/2014/main" id="{3FA1B938-36C2-4F86-A308-1630BD58FBB0}"/>
                            </a:ext>
                          </a:extLst>
                        </p:cNvPr>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776"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5" name="Line 25">
              <a:extLst>
                <a:ext uri="{FF2B5EF4-FFF2-40B4-BE49-F238E27FC236}">
                  <a16:creationId xmlns:a16="http://schemas.microsoft.com/office/drawing/2014/main" id="{5FEDB363-0A56-4AB2-9443-B7B2815785C1}"/>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46" name="Text Box 26">
            <a:extLst>
              <a:ext uri="{FF2B5EF4-FFF2-40B4-BE49-F238E27FC236}">
                <a16:creationId xmlns:a16="http://schemas.microsoft.com/office/drawing/2014/main" id="{248BC73F-D462-4ED9-A415-8B232E74CBFF}"/>
              </a:ext>
            </a:extLst>
          </p:cNvPr>
          <p:cNvSpPr txBox="1">
            <a:spLocks noChangeArrowheads="1"/>
          </p:cNvSpPr>
          <p:nvPr/>
        </p:nvSpPr>
        <p:spPr bwMode="auto">
          <a:xfrm>
            <a:off x="2635966" y="5891995"/>
            <a:ext cx="1777995"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r>
              <a:rPr kumimoji="0" lang="zh-CN" altLang="en-US" sz="1400" dirty="0">
                <a:latin typeface="微软雅黑" panose="020B0503020204020204" pitchFamily="34" charset="-122"/>
                <a:ea typeface="微软雅黑" panose="020B0503020204020204" pitchFamily="34" charset="-122"/>
              </a:rPr>
              <a:t>接入网关</a:t>
            </a:r>
          </a:p>
        </p:txBody>
      </p:sp>
      <p:sp>
        <p:nvSpPr>
          <p:cNvPr id="147" name="Text Box 27">
            <a:extLst>
              <a:ext uri="{FF2B5EF4-FFF2-40B4-BE49-F238E27FC236}">
                <a16:creationId xmlns:a16="http://schemas.microsoft.com/office/drawing/2014/main" id="{05DE420D-53E7-4A3B-9D2A-09DC50A4A309}"/>
              </a:ext>
            </a:extLst>
          </p:cNvPr>
          <p:cNvSpPr txBox="1">
            <a:spLocks noChangeArrowheads="1"/>
          </p:cNvSpPr>
          <p:nvPr/>
        </p:nvSpPr>
        <p:spPr bwMode="auto">
          <a:xfrm>
            <a:off x="8989804" y="5989538"/>
            <a:ext cx="1500188"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B</a:t>
            </a:r>
          </a:p>
        </p:txBody>
      </p:sp>
      <p:sp>
        <p:nvSpPr>
          <p:cNvPr id="149" name="AutoShape 29">
            <a:extLst>
              <a:ext uri="{FF2B5EF4-FFF2-40B4-BE49-F238E27FC236}">
                <a16:creationId xmlns:a16="http://schemas.microsoft.com/office/drawing/2014/main" id="{B80E4297-678D-43A6-BF11-4564E52A02B5}"/>
              </a:ext>
            </a:extLst>
          </p:cNvPr>
          <p:cNvSpPr>
            <a:spLocks/>
          </p:cNvSpPr>
          <p:nvPr/>
        </p:nvSpPr>
        <p:spPr bwMode="auto">
          <a:xfrm>
            <a:off x="3023751" y="2055813"/>
            <a:ext cx="1075638" cy="479425"/>
          </a:xfrm>
          <a:prstGeom prst="accentCallout1">
            <a:avLst>
              <a:gd name="adj1" fmla="val 18750"/>
              <a:gd name="adj2" fmla="val -6454"/>
              <a:gd name="adj3" fmla="val 80268"/>
              <a:gd name="adj4" fmla="val -32575"/>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主机必须支持隧道协议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50" name="AutoShape 30">
            <a:extLst>
              <a:ext uri="{FF2B5EF4-FFF2-40B4-BE49-F238E27FC236}">
                <a16:creationId xmlns:a16="http://schemas.microsoft.com/office/drawing/2014/main" id="{490A93E6-BF43-4D4E-A171-C7D3C26DC468}"/>
              </a:ext>
            </a:extLst>
          </p:cNvPr>
          <p:cNvSpPr>
            <a:spLocks/>
          </p:cNvSpPr>
          <p:nvPr/>
        </p:nvSpPr>
        <p:spPr bwMode="auto">
          <a:xfrm>
            <a:off x="10389171" y="4680387"/>
            <a:ext cx="1196306" cy="539750"/>
          </a:xfrm>
          <a:prstGeom prst="accentCallout1">
            <a:avLst>
              <a:gd name="adj1" fmla="val 28088"/>
              <a:gd name="adj2" fmla="val 6831"/>
              <a:gd name="adj3" fmla="val 182283"/>
              <a:gd name="adj4" fmla="val -35726"/>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网关必须支持隧道协议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51" name="Line 31">
            <a:extLst>
              <a:ext uri="{FF2B5EF4-FFF2-40B4-BE49-F238E27FC236}">
                <a16:creationId xmlns:a16="http://schemas.microsoft.com/office/drawing/2014/main" id="{63A567DD-DB1D-4BBC-9D18-90D3DF99D550}"/>
              </a:ext>
            </a:extLst>
          </p:cNvPr>
          <p:cNvSpPr>
            <a:spLocks noChangeShapeType="1"/>
          </p:cNvSpPr>
          <p:nvPr/>
        </p:nvSpPr>
        <p:spPr bwMode="auto">
          <a:xfrm flipV="1">
            <a:off x="9831698" y="2927373"/>
            <a:ext cx="0" cy="2640049"/>
          </a:xfrm>
          <a:prstGeom prst="line">
            <a:avLst/>
          </a:prstGeom>
          <a:noFill/>
          <a:ln w="38100">
            <a:solidFill>
              <a:srgbClr val="99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52" name="Picture 32">
            <a:extLst>
              <a:ext uri="{FF2B5EF4-FFF2-40B4-BE49-F238E27FC236}">
                <a16:creationId xmlns:a16="http://schemas.microsoft.com/office/drawing/2014/main" id="{CFCA5188-4013-4285-A0D8-96BD6731AF21}"/>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63314" y="2355850"/>
            <a:ext cx="642937" cy="91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5" name="Picture 35">
            <a:extLst>
              <a:ext uri="{FF2B5EF4-FFF2-40B4-BE49-F238E27FC236}">
                <a16:creationId xmlns:a16="http://schemas.microsoft.com/office/drawing/2014/main" id="{1B92F74D-8C0F-49B2-89DF-64D4C184387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6087" y="3966369"/>
            <a:ext cx="1118289" cy="5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57" name="Group 37">
            <a:extLst>
              <a:ext uri="{FF2B5EF4-FFF2-40B4-BE49-F238E27FC236}">
                <a16:creationId xmlns:a16="http://schemas.microsoft.com/office/drawing/2014/main" id="{4D665CAC-7C0E-45BC-B773-094A921CC620}"/>
              </a:ext>
            </a:extLst>
          </p:cNvPr>
          <p:cNvGrpSpPr>
            <a:grpSpLocks/>
          </p:cNvGrpSpPr>
          <p:nvPr/>
        </p:nvGrpSpPr>
        <p:grpSpPr bwMode="auto">
          <a:xfrm flipH="1">
            <a:off x="2423676" y="3195638"/>
            <a:ext cx="720725" cy="839787"/>
            <a:chOff x="7079" y="10379"/>
            <a:chExt cx="2370" cy="843"/>
          </a:xfrm>
        </p:grpSpPr>
        <p:sp>
          <p:nvSpPr>
            <p:cNvPr id="158" name="Freeform 38">
              <a:extLst>
                <a:ext uri="{FF2B5EF4-FFF2-40B4-BE49-F238E27FC236}">
                  <a16:creationId xmlns:a16="http://schemas.microsoft.com/office/drawing/2014/main" id="{52E59D5B-29D1-4533-8F8F-EA1554BAA66A}"/>
                </a:ext>
              </a:extLst>
            </p:cNvPr>
            <p:cNvSpPr>
              <a:spLocks/>
            </p:cNvSpPr>
            <p:nvPr/>
          </p:nvSpPr>
          <p:spPr bwMode="auto">
            <a:xfrm>
              <a:off x="7079" y="10379"/>
              <a:ext cx="2370" cy="843"/>
            </a:xfrm>
            <a:custGeom>
              <a:avLst/>
              <a:gdLst>
                <a:gd name="T0" fmla="*/ 0 w 2370"/>
                <a:gd name="T1" fmla="*/ 843 h 843"/>
                <a:gd name="T2" fmla="*/ 1028 w 2370"/>
                <a:gd name="T3" fmla="*/ 446 h 843"/>
                <a:gd name="T4" fmla="*/ 1068 w 2370"/>
                <a:gd name="T5" fmla="*/ 604 h 843"/>
                <a:gd name="T6" fmla="*/ 2370 w 2370"/>
                <a:gd name="T7" fmla="*/ 0 h 843"/>
                <a:gd name="T8" fmla="*/ 1185 w 2370"/>
                <a:gd name="T9" fmla="*/ 421 h 843"/>
                <a:gd name="T10" fmla="*/ 1147 w 2370"/>
                <a:gd name="T11" fmla="*/ 266 h 843"/>
                <a:gd name="T12" fmla="*/ 0 w 2370"/>
                <a:gd name="T13" fmla="*/ 843 h 843"/>
              </a:gdLst>
              <a:ahLst/>
              <a:cxnLst>
                <a:cxn ang="0">
                  <a:pos x="T0" y="T1"/>
                </a:cxn>
                <a:cxn ang="0">
                  <a:pos x="T2" y="T3"/>
                </a:cxn>
                <a:cxn ang="0">
                  <a:pos x="T4" y="T5"/>
                </a:cxn>
                <a:cxn ang="0">
                  <a:pos x="T6" y="T7"/>
                </a:cxn>
                <a:cxn ang="0">
                  <a:pos x="T8" y="T9"/>
                </a:cxn>
                <a:cxn ang="0">
                  <a:pos x="T10" y="T11"/>
                </a:cxn>
                <a:cxn ang="0">
                  <a:pos x="T12" y="T13"/>
                </a:cxn>
              </a:cxnLst>
              <a:rect l="0" t="0" r="r" b="b"/>
              <a:pathLst>
                <a:path w="2370" h="843">
                  <a:moveTo>
                    <a:pt x="0" y="843"/>
                  </a:moveTo>
                  <a:lnTo>
                    <a:pt x="1028" y="446"/>
                  </a:lnTo>
                  <a:lnTo>
                    <a:pt x="1068" y="604"/>
                  </a:lnTo>
                  <a:lnTo>
                    <a:pt x="2370" y="0"/>
                  </a:lnTo>
                  <a:lnTo>
                    <a:pt x="1185" y="421"/>
                  </a:lnTo>
                  <a:lnTo>
                    <a:pt x="1147" y="266"/>
                  </a:lnTo>
                  <a:lnTo>
                    <a:pt x="0" y="84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9" name="Freeform 39">
              <a:extLst>
                <a:ext uri="{FF2B5EF4-FFF2-40B4-BE49-F238E27FC236}">
                  <a16:creationId xmlns:a16="http://schemas.microsoft.com/office/drawing/2014/main" id="{6A658225-16F3-4718-BAA9-177BB471FE66}"/>
                </a:ext>
              </a:extLst>
            </p:cNvPr>
            <p:cNvSpPr>
              <a:spLocks/>
            </p:cNvSpPr>
            <p:nvPr/>
          </p:nvSpPr>
          <p:spPr bwMode="auto">
            <a:xfrm>
              <a:off x="7079" y="10379"/>
              <a:ext cx="2370" cy="843"/>
            </a:xfrm>
            <a:custGeom>
              <a:avLst/>
              <a:gdLst>
                <a:gd name="T0" fmla="*/ 0 w 2370"/>
                <a:gd name="T1" fmla="*/ 843 h 843"/>
                <a:gd name="T2" fmla="*/ 1028 w 2370"/>
                <a:gd name="T3" fmla="*/ 446 h 843"/>
                <a:gd name="T4" fmla="*/ 1068 w 2370"/>
                <a:gd name="T5" fmla="*/ 604 h 843"/>
                <a:gd name="T6" fmla="*/ 2370 w 2370"/>
                <a:gd name="T7" fmla="*/ 0 h 843"/>
                <a:gd name="T8" fmla="*/ 1185 w 2370"/>
                <a:gd name="T9" fmla="*/ 421 h 843"/>
                <a:gd name="T10" fmla="*/ 1147 w 2370"/>
                <a:gd name="T11" fmla="*/ 266 h 843"/>
                <a:gd name="T12" fmla="*/ 0 w 2370"/>
                <a:gd name="T13" fmla="*/ 843 h 843"/>
              </a:gdLst>
              <a:ahLst/>
              <a:cxnLst>
                <a:cxn ang="0">
                  <a:pos x="T0" y="T1"/>
                </a:cxn>
                <a:cxn ang="0">
                  <a:pos x="T2" y="T3"/>
                </a:cxn>
                <a:cxn ang="0">
                  <a:pos x="T4" y="T5"/>
                </a:cxn>
                <a:cxn ang="0">
                  <a:pos x="T6" y="T7"/>
                </a:cxn>
                <a:cxn ang="0">
                  <a:pos x="T8" y="T9"/>
                </a:cxn>
                <a:cxn ang="0">
                  <a:pos x="T10" y="T11"/>
                </a:cxn>
                <a:cxn ang="0">
                  <a:pos x="T12" y="T13"/>
                </a:cxn>
              </a:cxnLst>
              <a:rect l="0" t="0" r="r" b="b"/>
              <a:pathLst>
                <a:path w="2370" h="843">
                  <a:moveTo>
                    <a:pt x="0" y="843"/>
                  </a:moveTo>
                  <a:lnTo>
                    <a:pt x="1028" y="446"/>
                  </a:lnTo>
                  <a:lnTo>
                    <a:pt x="1068" y="604"/>
                  </a:lnTo>
                  <a:lnTo>
                    <a:pt x="2370" y="0"/>
                  </a:lnTo>
                  <a:lnTo>
                    <a:pt x="1185" y="421"/>
                  </a:lnTo>
                  <a:lnTo>
                    <a:pt x="1147" y="266"/>
                  </a:lnTo>
                  <a:lnTo>
                    <a:pt x="0" y="843"/>
                  </a:lnTo>
                </a:path>
              </a:pathLst>
            </a:custGeom>
            <a:noFill/>
            <a:ln w="5715">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62" name="Line 42">
            <a:extLst>
              <a:ext uri="{FF2B5EF4-FFF2-40B4-BE49-F238E27FC236}">
                <a16:creationId xmlns:a16="http://schemas.microsoft.com/office/drawing/2014/main" id="{CFC5DDDA-4C0F-45A9-9C12-39BC439201CB}"/>
              </a:ext>
            </a:extLst>
          </p:cNvPr>
          <p:cNvSpPr>
            <a:spLocks noChangeShapeType="1"/>
          </p:cNvSpPr>
          <p:nvPr/>
        </p:nvSpPr>
        <p:spPr bwMode="auto">
          <a:xfrm flipV="1">
            <a:off x="2604652" y="2787732"/>
            <a:ext cx="3676908" cy="0"/>
          </a:xfrm>
          <a:prstGeom prst="line">
            <a:avLst/>
          </a:prstGeom>
          <a:noFill/>
          <a:ln w="38100" cmpd="tri">
            <a:pattFill prst="sphere">
              <a:fgClr>
                <a:srgbClr val="00FF99"/>
              </a:fgClr>
              <a:bgClr>
                <a:srgbClr val="FFFFFF"/>
              </a:bgClr>
            </a:patt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63" name="Line 43">
            <a:extLst>
              <a:ext uri="{FF2B5EF4-FFF2-40B4-BE49-F238E27FC236}">
                <a16:creationId xmlns:a16="http://schemas.microsoft.com/office/drawing/2014/main" id="{D55E3FE8-682A-4085-BCF6-7F1E8530D489}"/>
              </a:ext>
            </a:extLst>
          </p:cNvPr>
          <p:cNvSpPr>
            <a:spLocks noChangeShapeType="1"/>
          </p:cNvSpPr>
          <p:nvPr/>
        </p:nvSpPr>
        <p:spPr bwMode="auto">
          <a:xfrm>
            <a:off x="6281561" y="2765532"/>
            <a:ext cx="3225676" cy="2778975"/>
          </a:xfrm>
          <a:prstGeom prst="line">
            <a:avLst/>
          </a:prstGeom>
          <a:noFill/>
          <a:ln w="38100" cmpd="tri">
            <a:pattFill prst="sphere">
              <a:fgClr>
                <a:srgbClr val="00FF99"/>
              </a:fgClr>
              <a:bgClr>
                <a:srgbClr val="FFFFFF"/>
              </a:bgClr>
            </a:patt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64" name="Group 44">
            <a:extLst>
              <a:ext uri="{FF2B5EF4-FFF2-40B4-BE49-F238E27FC236}">
                <a16:creationId xmlns:a16="http://schemas.microsoft.com/office/drawing/2014/main" id="{E1E3C754-4D73-43B7-A48E-8E3C2C1255D8}"/>
              </a:ext>
            </a:extLst>
          </p:cNvPr>
          <p:cNvGrpSpPr>
            <a:grpSpLocks/>
          </p:cNvGrpSpPr>
          <p:nvPr/>
        </p:nvGrpSpPr>
        <p:grpSpPr bwMode="auto">
          <a:xfrm>
            <a:off x="3863539" y="4329518"/>
            <a:ext cx="5735498" cy="1260475"/>
            <a:chOff x="1584" y="2448"/>
            <a:chExt cx="10829421" cy="1008"/>
          </a:xfrm>
        </p:grpSpPr>
        <p:sp>
          <p:nvSpPr>
            <p:cNvPr id="165" name="Line 45">
              <a:extLst>
                <a:ext uri="{FF2B5EF4-FFF2-40B4-BE49-F238E27FC236}">
                  <a16:creationId xmlns:a16="http://schemas.microsoft.com/office/drawing/2014/main" id="{5ADEE7B3-25AA-48D8-A734-0F9D129DC796}"/>
                </a:ext>
              </a:extLst>
            </p:cNvPr>
            <p:cNvSpPr>
              <a:spLocks noChangeShapeType="1"/>
            </p:cNvSpPr>
            <p:nvPr/>
          </p:nvSpPr>
          <p:spPr bwMode="auto">
            <a:xfrm flipV="1">
              <a:off x="10831005" y="2448"/>
              <a:ext cx="0" cy="1008"/>
            </a:xfrm>
            <a:prstGeom prst="line">
              <a:avLst/>
            </a:prstGeom>
            <a:noFill/>
            <a:ln w="1905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66" name="Line 46">
              <a:extLst>
                <a:ext uri="{FF2B5EF4-FFF2-40B4-BE49-F238E27FC236}">
                  <a16:creationId xmlns:a16="http://schemas.microsoft.com/office/drawing/2014/main" id="{4DA462FE-5EC3-4DCD-A7C1-FDED4D0D9A94}"/>
                </a:ext>
              </a:extLst>
            </p:cNvPr>
            <p:cNvSpPr>
              <a:spLocks noChangeShapeType="1"/>
            </p:cNvSpPr>
            <p:nvPr/>
          </p:nvSpPr>
          <p:spPr bwMode="auto">
            <a:xfrm flipV="1">
              <a:off x="1584" y="2448"/>
              <a:ext cx="0" cy="960"/>
            </a:xfrm>
            <a:prstGeom prst="line">
              <a:avLst/>
            </a:prstGeom>
            <a:noFill/>
            <a:ln w="1905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67" name="Line 47">
            <a:extLst>
              <a:ext uri="{FF2B5EF4-FFF2-40B4-BE49-F238E27FC236}">
                <a16:creationId xmlns:a16="http://schemas.microsoft.com/office/drawing/2014/main" id="{A77E85AE-6EDB-4DD9-8295-B08CD1838C9E}"/>
              </a:ext>
            </a:extLst>
          </p:cNvPr>
          <p:cNvSpPr>
            <a:spLocks noChangeShapeType="1"/>
          </p:cNvSpPr>
          <p:nvPr/>
        </p:nvSpPr>
        <p:spPr bwMode="auto">
          <a:xfrm flipV="1">
            <a:off x="3863538" y="4844037"/>
            <a:ext cx="5735497" cy="0"/>
          </a:xfrm>
          <a:prstGeom prst="line">
            <a:avLst/>
          </a:prstGeom>
          <a:noFill/>
          <a:ln w="19050">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68" name="Line 48">
            <a:extLst>
              <a:ext uri="{FF2B5EF4-FFF2-40B4-BE49-F238E27FC236}">
                <a16:creationId xmlns:a16="http://schemas.microsoft.com/office/drawing/2014/main" id="{4FDAFAA6-800B-473B-8AA3-2B1C63EC0FF7}"/>
              </a:ext>
            </a:extLst>
          </p:cNvPr>
          <p:cNvSpPr>
            <a:spLocks noChangeShapeType="1"/>
          </p:cNvSpPr>
          <p:nvPr/>
        </p:nvSpPr>
        <p:spPr bwMode="auto">
          <a:xfrm flipV="1">
            <a:off x="3863538" y="4440765"/>
            <a:ext cx="5716537" cy="0"/>
          </a:xfrm>
          <a:prstGeom prst="line">
            <a:avLst/>
          </a:prstGeom>
          <a:noFill/>
          <a:ln w="19050">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69" name="Group 49">
            <a:extLst>
              <a:ext uri="{FF2B5EF4-FFF2-40B4-BE49-F238E27FC236}">
                <a16:creationId xmlns:a16="http://schemas.microsoft.com/office/drawing/2014/main" id="{4204CE6C-219B-4173-A008-3A071649CD8F}"/>
              </a:ext>
            </a:extLst>
          </p:cNvPr>
          <p:cNvGrpSpPr>
            <a:grpSpLocks/>
          </p:cNvGrpSpPr>
          <p:nvPr/>
        </p:nvGrpSpPr>
        <p:grpSpPr bwMode="auto">
          <a:xfrm>
            <a:off x="1691830" y="3065098"/>
            <a:ext cx="1508093" cy="2650909"/>
            <a:chOff x="144" y="1488"/>
            <a:chExt cx="960" cy="2064"/>
          </a:xfrm>
        </p:grpSpPr>
        <p:sp>
          <p:nvSpPr>
            <p:cNvPr id="170" name="Line 50">
              <a:extLst>
                <a:ext uri="{FF2B5EF4-FFF2-40B4-BE49-F238E27FC236}">
                  <a16:creationId xmlns:a16="http://schemas.microsoft.com/office/drawing/2014/main" id="{3B7C39D7-60B5-43AE-8FE6-EFC395FB9D1D}"/>
                </a:ext>
              </a:extLst>
            </p:cNvPr>
            <p:cNvSpPr>
              <a:spLocks noChangeShapeType="1"/>
            </p:cNvSpPr>
            <p:nvPr/>
          </p:nvSpPr>
          <p:spPr bwMode="auto">
            <a:xfrm flipV="1">
              <a:off x="144" y="1488"/>
              <a:ext cx="480" cy="0"/>
            </a:xfrm>
            <a:prstGeom prst="line">
              <a:avLst/>
            </a:prstGeom>
            <a:noFill/>
            <a:ln w="1905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1" name="Line 51">
              <a:extLst>
                <a:ext uri="{FF2B5EF4-FFF2-40B4-BE49-F238E27FC236}">
                  <a16:creationId xmlns:a16="http://schemas.microsoft.com/office/drawing/2014/main" id="{EE89A854-AF83-47C5-A81A-643A15608E94}"/>
                </a:ext>
              </a:extLst>
            </p:cNvPr>
            <p:cNvSpPr>
              <a:spLocks noChangeShapeType="1"/>
            </p:cNvSpPr>
            <p:nvPr/>
          </p:nvSpPr>
          <p:spPr bwMode="auto">
            <a:xfrm flipH="1">
              <a:off x="144" y="3552"/>
              <a:ext cx="960" cy="0"/>
            </a:xfrm>
            <a:prstGeom prst="line">
              <a:avLst/>
            </a:prstGeom>
            <a:noFill/>
            <a:ln w="1905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72" name="Line 52">
            <a:extLst>
              <a:ext uri="{FF2B5EF4-FFF2-40B4-BE49-F238E27FC236}">
                <a16:creationId xmlns:a16="http://schemas.microsoft.com/office/drawing/2014/main" id="{F7E8F474-A8B2-4617-A8BA-3437EE718D3D}"/>
              </a:ext>
            </a:extLst>
          </p:cNvPr>
          <p:cNvSpPr>
            <a:spLocks noChangeShapeType="1"/>
          </p:cNvSpPr>
          <p:nvPr/>
        </p:nvSpPr>
        <p:spPr bwMode="auto">
          <a:xfrm>
            <a:off x="2237486" y="3130127"/>
            <a:ext cx="0" cy="2579688"/>
          </a:xfrm>
          <a:prstGeom prst="line">
            <a:avLst/>
          </a:prstGeom>
          <a:noFill/>
          <a:ln w="19050">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3" name="Line 53">
            <a:extLst>
              <a:ext uri="{FF2B5EF4-FFF2-40B4-BE49-F238E27FC236}">
                <a16:creationId xmlns:a16="http://schemas.microsoft.com/office/drawing/2014/main" id="{973D2336-5451-4B7C-B34D-BF38BBD03CF1}"/>
              </a:ext>
            </a:extLst>
          </p:cNvPr>
          <p:cNvSpPr>
            <a:spLocks noChangeShapeType="1"/>
          </p:cNvSpPr>
          <p:nvPr/>
        </p:nvSpPr>
        <p:spPr bwMode="auto">
          <a:xfrm>
            <a:off x="1872806" y="3109314"/>
            <a:ext cx="0" cy="2579688"/>
          </a:xfrm>
          <a:prstGeom prst="line">
            <a:avLst/>
          </a:prstGeom>
          <a:noFill/>
          <a:ln w="19050">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4" name="Text Box 54">
            <a:extLst>
              <a:ext uri="{FF2B5EF4-FFF2-40B4-BE49-F238E27FC236}">
                <a16:creationId xmlns:a16="http://schemas.microsoft.com/office/drawing/2014/main" id="{45BF9591-D42A-4B89-82A7-228DC1634C6F}"/>
              </a:ext>
            </a:extLst>
          </p:cNvPr>
          <p:cNvSpPr txBox="1">
            <a:spLocks noChangeArrowheads="1"/>
          </p:cNvSpPr>
          <p:nvPr/>
        </p:nvSpPr>
        <p:spPr bwMode="auto">
          <a:xfrm>
            <a:off x="1524973" y="3195638"/>
            <a:ext cx="360864" cy="22755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sp>
        <p:nvSpPr>
          <p:cNvPr id="175" name="Text Box 55">
            <a:extLst>
              <a:ext uri="{FF2B5EF4-FFF2-40B4-BE49-F238E27FC236}">
                <a16:creationId xmlns:a16="http://schemas.microsoft.com/office/drawing/2014/main" id="{91670205-BE81-4FC9-9363-3AA18C8BBBF3}"/>
              </a:ext>
            </a:extLst>
          </p:cNvPr>
          <p:cNvSpPr txBox="1">
            <a:spLocks noChangeArrowheads="1"/>
          </p:cNvSpPr>
          <p:nvPr/>
        </p:nvSpPr>
        <p:spPr bwMode="auto">
          <a:xfrm>
            <a:off x="1903512" y="3019798"/>
            <a:ext cx="360864" cy="2622177"/>
          </a:xfrm>
          <a:prstGeom prst="rect">
            <a:avLst/>
          </a:prstGeom>
          <a:noFill/>
          <a:ln w="19050">
            <a:no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76" name="Text Box 56">
            <a:extLst>
              <a:ext uri="{FF2B5EF4-FFF2-40B4-BE49-F238E27FC236}">
                <a16:creationId xmlns:a16="http://schemas.microsoft.com/office/drawing/2014/main" id="{6F179761-C198-47EA-A0D8-4DBB57FF555C}"/>
              </a:ext>
            </a:extLst>
          </p:cNvPr>
          <p:cNvSpPr txBox="1">
            <a:spLocks noChangeArrowheads="1"/>
          </p:cNvSpPr>
          <p:nvPr/>
        </p:nvSpPr>
        <p:spPr bwMode="auto">
          <a:xfrm>
            <a:off x="5236150" y="4567360"/>
            <a:ext cx="2820986"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sp>
        <p:nvSpPr>
          <p:cNvPr id="177" name="Text Box 57">
            <a:extLst>
              <a:ext uri="{FF2B5EF4-FFF2-40B4-BE49-F238E27FC236}">
                <a16:creationId xmlns:a16="http://schemas.microsoft.com/office/drawing/2014/main" id="{03FA9833-2DDA-4541-8401-F31EB8F92405}"/>
              </a:ext>
            </a:extLst>
          </p:cNvPr>
          <p:cNvSpPr txBox="1">
            <a:spLocks noChangeArrowheads="1"/>
          </p:cNvSpPr>
          <p:nvPr/>
        </p:nvSpPr>
        <p:spPr bwMode="auto">
          <a:xfrm>
            <a:off x="5132424" y="4092468"/>
            <a:ext cx="3108755"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78" name="Text Box 58">
            <a:extLst>
              <a:ext uri="{FF2B5EF4-FFF2-40B4-BE49-F238E27FC236}">
                <a16:creationId xmlns:a16="http://schemas.microsoft.com/office/drawing/2014/main" id="{E863ECDE-A588-4175-A247-163FADAAD201}"/>
              </a:ext>
            </a:extLst>
          </p:cNvPr>
          <p:cNvSpPr txBox="1">
            <a:spLocks noChangeArrowheads="1"/>
          </p:cNvSpPr>
          <p:nvPr/>
        </p:nvSpPr>
        <p:spPr bwMode="auto">
          <a:xfrm>
            <a:off x="5403749" y="2261934"/>
            <a:ext cx="2030784" cy="5035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隧道建立在移动用户与公司内部网的网关处</a:t>
            </a:r>
          </a:p>
        </p:txBody>
      </p:sp>
      <p:pic>
        <p:nvPicPr>
          <p:cNvPr id="179" name="Picture 30" descr="通用路由器">
            <a:extLst>
              <a:ext uri="{FF2B5EF4-FFF2-40B4-BE49-F238E27FC236}">
                <a16:creationId xmlns:a16="http://schemas.microsoft.com/office/drawing/2014/main" id="{810BB2C7-FC32-41B6-AE84-F92C2C704A6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63731" y="5455298"/>
            <a:ext cx="862531"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日期占位符 4">
            <a:extLst>
              <a:ext uri="{FF2B5EF4-FFF2-40B4-BE49-F238E27FC236}">
                <a16:creationId xmlns:a16="http://schemas.microsoft.com/office/drawing/2014/main" id="{FE9618E8-2B5F-4D79-B025-15FEF0865148}"/>
              </a:ext>
            </a:extLst>
          </p:cNvPr>
          <p:cNvSpPr>
            <a:spLocks noGrp="1"/>
          </p:cNvSpPr>
          <p:nvPr>
            <p:ph type="dt" sz="half" idx="10"/>
          </p:nvPr>
        </p:nvSpPr>
        <p:spPr/>
        <p:txBody>
          <a:bodyPr/>
          <a:lstStyle/>
          <a:p>
            <a:r>
              <a:rPr kumimoji="1" lang="en-US" altLang="zh-CN" dirty="0"/>
              <a:t>5.10.2 VPN</a:t>
            </a:r>
            <a:r>
              <a:rPr kumimoji="1" lang="zh-CN" altLang="en-US" dirty="0"/>
              <a:t>技术</a:t>
            </a:r>
          </a:p>
        </p:txBody>
      </p:sp>
      <p:pic>
        <p:nvPicPr>
          <p:cNvPr id="58" name="Picture 28" descr="015">
            <a:extLst>
              <a:ext uri="{FF2B5EF4-FFF2-40B4-BE49-F238E27FC236}">
                <a16:creationId xmlns:a16="http://schemas.microsoft.com/office/drawing/2014/main" id="{84B1E3B4-0763-4B37-8089-29BA01A4FB0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0791508" y="6390924"/>
            <a:ext cx="791784" cy="459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0701485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8F2FDD-E41F-A443-9BB8-E9310606BF36}"/>
              </a:ext>
            </a:extLst>
          </p:cNvPr>
          <p:cNvSpPr>
            <a:spLocks noGrp="1"/>
          </p:cNvSpPr>
          <p:nvPr>
            <p:ph type="title"/>
          </p:nvPr>
        </p:nvSpPr>
        <p:spPr/>
        <p:txBody>
          <a:bodyPr>
            <a:normAutofit/>
          </a:bodyPr>
          <a:lstStyle/>
          <a:p>
            <a:r>
              <a:rPr kumimoji="1" lang="en-US" altLang="zh-CN" dirty="0"/>
              <a:t>VPN</a:t>
            </a:r>
            <a:r>
              <a:rPr kumimoji="1" lang="zh-CN" altLang="en-US" dirty="0"/>
              <a:t>的分类</a:t>
            </a:r>
          </a:p>
        </p:txBody>
      </p:sp>
      <p:sp>
        <p:nvSpPr>
          <p:cNvPr id="3" name="内容占位符 2">
            <a:extLst>
              <a:ext uri="{FF2B5EF4-FFF2-40B4-BE49-F238E27FC236}">
                <a16:creationId xmlns:a16="http://schemas.microsoft.com/office/drawing/2014/main" id="{EF3F4F3D-A29F-C542-9C8A-E338A2E76276}"/>
              </a:ext>
            </a:extLst>
          </p:cNvPr>
          <p:cNvSpPr>
            <a:spLocks noGrp="1"/>
          </p:cNvSpPr>
          <p:nvPr>
            <p:ph idx="1"/>
          </p:nvPr>
        </p:nvSpPr>
        <p:spPr>
          <a:xfrm>
            <a:off x="811877" y="1684065"/>
            <a:ext cx="5560348" cy="4641112"/>
          </a:xfrm>
        </p:spPr>
        <p:txBody>
          <a:bodyPr>
            <a:normAutofit/>
          </a:bodyPr>
          <a:lstStyle/>
          <a:p>
            <a:r>
              <a:rPr lang="zh-CN" altLang="en-US" dirty="0"/>
              <a:t>按功能位置</a:t>
            </a:r>
            <a:endParaRPr lang="en-US" altLang="zh-CN" dirty="0"/>
          </a:p>
          <a:p>
            <a:pPr lvl="1"/>
            <a:r>
              <a:rPr lang="en-US" altLang="zh-CN" sz="2000" dirty="0"/>
              <a:t>CPE-based VPN</a:t>
            </a:r>
            <a:r>
              <a:rPr lang="zh-CN" altLang="en-US" sz="2000" dirty="0"/>
              <a:t>（基于客户端设备）</a:t>
            </a:r>
          </a:p>
          <a:p>
            <a:pPr lvl="1"/>
            <a:r>
              <a:rPr lang="en-US" altLang="zh-CN" sz="2000" dirty="0"/>
              <a:t>Network-based VPN</a:t>
            </a:r>
            <a:r>
              <a:rPr lang="zh-CN" altLang="en-US" sz="2000" dirty="0"/>
              <a:t>（基于网络）</a:t>
            </a:r>
          </a:p>
          <a:p>
            <a:r>
              <a:rPr lang="zh-CN" altLang="en-US" dirty="0"/>
              <a:t>按业务构成</a:t>
            </a:r>
            <a:endParaRPr lang="en-US" altLang="zh-CN" dirty="0"/>
          </a:p>
          <a:p>
            <a:pPr lvl="1"/>
            <a:r>
              <a:rPr lang="en-US" altLang="zh-CN" sz="2000" dirty="0"/>
              <a:t>Access VPN</a:t>
            </a:r>
            <a:r>
              <a:rPr lang="zh-CN" altLang="en-US" sz="2000" dirty="0"/>
              <a:t>（远程访问虚拟网）</a:t>
            </a:r>
          </a:p>
          <a:p>
            <a:pPr lvl="1"/>
            <a:r>
              <a:rPr lang="en-US" altLang="zh-CN" sz="2000" dirty="0"/>
              <a:t>Intranet VPN</a:t>
            </a:r>
            <a:r>
              <a:rPr lang="zh-CN" altLang="en-US" sz="2000" dirty="0"/>
              <a:t>（企业内部虚拟网）</a:t>
            </a:r>
          </a:p>
          <a:p>
            <a:pPr lvl="1"/>
            <a:r>
              <a:rPr lang="en-US" altLang="zh-CN" sz="2000" dirty="0"/>
              <a:t>Extranet VPN</a:t>
            </a:r>
            <a:r>
              <a:rPr lang="zh-CN" altLang="en-US" sz="2000" dirty="0"/>
              <a:t>（企业扩展虚拟网）</a:t>
            </a:r>
          </a:p>
          <a:p>
            <a:r>
              <a:rPr lang="zh-CN" altLang="en-US" dirty="0"/>
              <a:t>按实现层次</a:t>
            </a:r>
            <a:endParaRPr lang="en-US" altLang="zh-CN" dirty="0"/>
          </a:p>
          <a:p>
            <a:pPr lvl="1"/>
            <a:r>
              <a:rPr lang="zh-CN" altLang="en-US" sz="2000" dirty="0"/>
              <a:t>二层隧道</a:t>
            </a:r>
            <a:r>
              <a:rPr lang="en-US" altLang="zh-CN" sz="2000" dirty="0"/>
              <a:t>VPN</a:t>
            </a:r>
            <a:r>
              <a:rPr lang="zh-CN" altLang="en-US" sz="2000" dirty="0"/>
              <a:t>（</a:t>
            </a:r>
            <a:r>
              <a:rPr lang="en-US" altLang="zh-CN" sz="2000" dirty="0"/>
              <a:t> L2TP </a:t>
            </a:r>
            <a:r>
              <a:rPr lang="zh-CN" altLang="en-US" sz="2000" dirty="0"/>
              <a:t>、</a:t>
            </a:r>
            <a:r>
              <a:rPr lang="en-US" altLang="zh-CN" sz="2000" dirty="0"/>
              <a:t> PPTP </a:t>
            </a:r>
            <a:r>
              <a:rPr lang="zh-CN" altLang="en-US" sz="2000" dirty="0"/>
              <a:t>、</a:t>
            </a:r>
            <a:r>
              <a:rPr lang="en-US" altLang="zh-CN" sz="2000" dirty="0"/>
              <a:t> L2F </a:t>
            </a:r>
            <a:r>
              <a:rPr lang="zh-CN" altLang="en-US" sz="2000" dirty="0"/>
              <a:t>）</a:t>
            </a:r>
            <a:endParaRPr lang="en-US" altLang="zh-CN" sz="2000" dirty="0"/>
          </a:p>
          <a:p>
            <a:pPr lvl="1"/>
            <a:r>
              <a:rPr lang="zh-CN" altLang="en-US" sz="2000" dirty="0"/>
              <a:t>三层隧道</a:t>
            </a:r>
            <a:r>
              <a:rPr lang="en-US" altLang="zh-CN" sz="2000" dirty="0"/>
              <a:t>VPN</a:t>
            </a:r>
            <a:r>
              <a:rPr lang="zh-CN" altLang="en-US" sz="2000" dirty="0"/>
              <a:t>（</a:t>
            </a:r>
            <a:r>
              <a:rPr lang="en-US" altLang="zh-CN" sz="2000" dirty="0"/>
              <a:t>GRE</a:t>
            </a:r>
            <a:r>
              <a:rPr lang="zh-CN" altLang="en-US" sz="2000" dirty="0"/>
              <a:t>、</a:t>
            </a:r>
            <a:r>
              <a:rPr lang="en-US" altLang="zh-CN" sz="2000" dirty="0" err="1"/>
              <a:t>IPSec</a:t>
            </a:r>
            <a:r>
              <a:rPr lang="zh-CN" altLang="en-US" sz="2000" dirty="0"/>
              <a:t>）</a:t>
            </a:r>
            <a:endParaRPr lang="en-US" altLang="zh-CN" sz="2000" dirty="0"/>
          </a:p>
          <a:p>
            <a:pPr lvl="1"/>
            <a:r>
              <a:rPr lang="zh-CN" altLang="en-US" sz="2000" dirty="0"/>
              <a:t>传输层隧道</a:t>
            </a:r>
            <a:r>
              <a:rPr lang="en-US" altLang="zh-CN" sz="2000" dirty="0"/>
              <a:t>VPN</a:t>
            </a:r>
            <a:r>
              <a:rPr lang="zh-CN" altLang="en-US" sz="2000" dirty="0"/>
              <a:t>（</a:t>
            </a:r>
            <a:r>
              <a:rPr lang="en-US" altLang="zh-CN" sz="2000" dirty="0"/>
              <a:t>SSL</a:t>
            </a:r>
            <a:r>
              <a:rPr lang="zh-CN" altLang="en-US" sz="2000" dirty="0"/>
              <a:t>、</a:t>
            </a:r>
            <a:r>
              <a:rPr lang="en-US" altLang="zh-CN" sz="2000" dirty="0"/>
              <a:t>TLS</a:t>
            </a:r>
            <a:r>
              <a:rPr lang="zh-CN" altLang="en-US" sz="2000" dirty="0"/>
              <a:t>）</a:t>
            </a:r>
          </a:p>
          <a:p>
            <a:pPr marL="0" indent="0">
              <a:buNone/>
            </a:pPr>
            <a:endParaRPr lang="en-US" altLang="zh-CN" dirty="0"/>
          </a:p>
          <a:p>
            <a:pPr lvl="1"/>
            <a:endParaRPr kumimoji="1" lang="zh-CN" altLang="en-US" dirty="0"/>
          </a:p>
        </p:txBody>
      </p:sp>
      <p:sp>
        <p:nvSpPr>
          <p:cNvPr id="4" name="灯片编号占位符 3">
            <a:extLst>
              <a:ext uri="{FF2B5EF4-FFF2-40B4-BE49-F238E27FC236}">
                <a16:creationId xmlns:a16="http://schemas.microsoft.com/office/drawing/2014/main" id="{BE5C4434-6C32-D240-9DF2-915F87DB6D82}"/>
              </a:ext>
            </a:extLst>
          </p:cNvPr>
          <p:cNvSpPr>
            <a:spLocks noGrp="1"/>
          </p:cNvSpPr>
          <p:nvPr>
            <p:ph type="sldNum" sz="quarter" idx="12"/>
          </p:nvPr>
        </p:nvSpPr>
        <p:spPr/>
        <p:txBody>
          <a:bodyPr/>
          <a:lstStyle/>
          <a:p>
            <a:fld id="{8D4D1E41-7A09-AB4A-A4E1-09765ADA2698}" type="slidenum">
              <a:rPr kumimoji="1" lang="zh-CN" altLang="en-US" smtClean="0"/>
              <a:t>255</a:t>
            </a:fld>
            <a:endParaRPr kumimoji="1" lang="zh-CN" altLang="en-US" dirty="0"/>
          </a:p>
        </p:txBody>
      </p:sp>
      <p:sp>
        <p:nvSpPr>
          <p:cNvPr id="113" name="内容占位符 2">
            <a:extLst>
              <a:ext uri="{FF2B5EF4-FFF2-40B4-BE49-F238E27FC236}">
                <a16:creationId xmlns:a16="http://schemas.microsoft.com/office/drawing/2014/main" id="{9AC44925-8BFF-4878-B416-E7C08D33F9E3}"/>
              </a:ext>
            </a:extLst>
          </p:cNvPr>
          <p:cNvSpPr txBox="1">
            <a:spLocks/>
          </p:cNvSpPr>
          <p:nvPr/>
        </p:nvSpPr>
        <p:spPr>
          <a:xfrm>
            <a:off x="5981700" y="1634637"/>
            <a:ext cx="6158233" cy="4095206"/>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r>
              <a:rPr lang="en-US" altLang="zh-CN" sz="3300" dirty="0"/>
              <a:t> </a:t>
            </a:r>
            <a:r>
              <a:rPr lang="zh-CN" altLang="en-US" dirty="0"/>
              <a:t>按组网模型</a:t>
            </a:r>
          </a:p>
          <a:p>
            <a:pPr marL="969963" lvl="1" indent="-342900"/>
            <a:r>
              <a:rPr lang="en-US" altLang="zh-CN" sz="2000" dirty="0"/>
              <a:t>VPDN</a:t>
            </a:r>
            <a:r>
              <a:rPr lang="zh-CN" altLang="en-US" sz="2000" dirty="0"/>
              <a:t>：</a:t>
            </a:r>
            <a:r>
              <a:rPr lang="en-US" altLang="zh-CN" sz="2000" dirty="0"/>
              <a:t>Virtual Private Dial Networks</a:t>
            </a:r>
          </a:p>
          <a:p>
            <a:pPr marL="1084263" lvl="2" indent="0">
              <a:buNone/>
            </a:pPr>
            <a:r>
              <a:rPr lang="zh-CN" altLang="en-US" dirty="0"/>
              <a:t>虚拟专用拨号网络</a:t>
            </a:r>
          </a:p>
          <a:p>
            <a:pPr marL="969963" lvl="1" indent="-342900"/>
            <a:r>
              <a:rPr lang="en-US" altLang="zh-CN" sz="2000" dirty="0"/>
              <a:t>VPRN</a:t>
            </a:r>
            <a:r>
              <a:rPr lang="zh-CN" altLang="en-US" sz="2000" dirty="0"/>
              <a:t>：</a:t>
            </a:r>
            <a:r>
              <a:rPr lang="en-US" altLang="zh-CN" sz="2000" dirty="0"/>
              <a:t>Virtual Private Routed Networks</a:t>
            </a:r>
          </a:p>
          <a:p>
            <a:pPr marL="1084263" lvl="2" indent="0">
              <a:buNone/>
            </a:pPr>
            <a:r>
              <a:rPr lang="zh-CN" altLang="en-US" dirty="0"/>
              <a:t>虚拟专用路由网络</a:t>
            </a:r>
          </a:p>
          <a:p>
            <a:pPr marL="969963" lvl="1" indent="-342900"/>
            <a:r>
              <a:rPr lang="en-US" altLang="zh-CN" sz="2000" dirty="0"/>
              <a:t>VPLS</a:t>
            </a:r>
            <a:r>
              <a:rPr lang="zh-CN" altLang="en-US" sz="2000" dirty="0"/>
              <a:t>：</a:t>
            </a:r>
            <a:r>
              <a:rPr lang="en-US" altLang="zh-CN" sz="2000" dirty="0"/>
              <a:t>Virtual Private LAN Segment</a:t>
            </a:r>
          </a:p>
          <a:p>
            <a:pPr marL="1084263" lvl="2" indent="0">
              <a:buNone/>
            </a:pPr>
            <a:r>
              <a:rPr lang="zh-CN" altLang="en-US" dirty="0"/>
              <a:t>虚拟专用</a:t>
            </a:r>
            <a:r>
              <a:rPr lang="en-US" altLang="zh-CN" dirty="0"/>
              <a:t>LAN </a:t>
            </a:r>
            <a:r>
              <a:rPr lang="zh-CN" altLang="en-US" dirty="0"/>
              <a:t>网段</a:t>
            </a:r>
          </a:p>
          <a:p>
            <a:pPr marL="969963" lvl="1" indent="-342900"/>
            <a:r>
              <a:rPr lang="en-US" altLang="zh-CN" sz="2000" dirty="0"/>
              <a:t>VLL</a:t>
            </a:r>
            <a:r>
              <a:rPr lang="zh-CN" altLang="en-US" sz="2000" dirty="0"/>
              <a:t>：</a:t>
            </a:r>
            <a:r>
              <a:rPr lang="en-US" altLang="zh-CN" sz="2000" dirty="0"/>
              <a:t>Virtual Leased Lines</a:t>
            </a:r>
          </a:p>
          <a:p>
            <a:pPr marL="1084263" lvl="2" indent="0">
              <a:buNone/>
            </a:pPr>
            <a:r>
              <a:rPr lang="zh-CN" altLang="en-US" dirty="0"/>
              <a:t>虚拟租用线</a:t>
            </a:r>
          </a:p>
          <a:p>
            <a:pPr marL="0" indent="0">
              <a:buFont typeface="Wingdings" pitchFamily="2" charset="2"/>
              <a:buNone/>
            </a:pPr>
            <a:endParaRPr lang="en-US" altLang="zh-CN" dirty="0"/>
          </a:p>
        </p:txBody>
      </p:sp>
      <p:sp>
        <p:nvSpPr>
          <p:cNvPr id="5" name="日期占位符 4">
            <a:extLst>
              <a:ext uri="{FF2B5EF4-FFF2-40B4-BE49-F238E27FC236}">
                <a16:creationId xmlns:a16="http://schemas.microsoft.com/office/drawing/2014/main" id="{24AAA302-A5C6-4CB7-B067-A71CD20A01C4}"/>
              </a:ext>
            </a:extLst>
          </p:cNvPr>
          <p:cNvSpPr>
            <a:spLocks noGrp="1"/>
          </p:cNvSpPr>
          <p:nvPr>
            <p:ph type="dt" sz="half" idx="10"/>
          </p:nvPr>
        </p:nvSpPr>
        <p:spPr/>
        <p:txBody>
          <a:bodyPr/>
          <a:lstStyle/>
          <a:p>
            <a:r>
              <a:rPr kumimoji="1" lang="en-US" altLang="zh-CN" dirty="0"/>
              <a:t>5.10.2 VPN</a:t>
            </a:r>
            <a:r>
              <a:rPr kumimoji="1" lang="zh-CN" altLang="en-US" dirty="0"/>
              <a:t>技术</a:t>
            </a:r>
          </a:p>
        </p:txBody>
      </p:sp>
    </p:spTree>
    <p:extLst>
      <p:ext uri="{BB962C8B-B14F-4D97-AF65-F5344CB8AC3E}">
        <p14:creationId xmlns:p14="http://schemas.microsoft.com/office/powerpoint/2010/main" val="241554918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M_UNIT_TABLE_BEAUTIFY" val="smartTable{a09a7624-1679-49ae-96d5-dde12530a4a1}"/>
</p:tagLst>
</file>

<file path=ppt/tags/tag2.xml><?xml version="1.0" encoding="utf-8"?>
<p:tagLst xmlns:a="http://schemas.openxmlformats.org/drawingml/2006/main" xmlns:r="http://schemas.openxmlformats.org/officeDocument/2006/relationships" xmlns:p="http://schemas.openxmlformats.org/presentationml/2006/main">
  <p:tag name="KSO_WM_UNIT_TABLE_BEAUTIFY" val="smartTable{57705dbf-d580-48bc-b942-7b8997f89d24}"/>
</p:tagLst>
</file>

<file path=ppt/tags/tag3.xml><?xml version="1.0" encoding="utf-8"?>
<p:tagLst xmlns:a="http://schemas.openxmlformats.org/drawingml/2006/main" xmlns:r="http://schemas.openxmlformats.org/officeDocument/2006/relationships" xmlns:p="http://schemas.openxmlformats.org/presentationml/2006/main">
  <p:tag name="KSO_WM_UNIT_TABLE_BEAUTIFY" val="smartTable{e863ade7-5b7a-4f22-b3f5-b08ddaf54ef7}"/>
</p:tagLst>
</file>

<file path=ppt/tags/tag4.xml><?xml version="1.0" encoding="utf-8"?>
<p:tagLst xmlns:a="http://schemas.openxmlformats.org/drawingml/2006/main" xmlns:r="http://schemas.openxmlformats.org/officeDocument/2006/relationships" xmlns:p="http://schemas.openxmlformats.org/presentationml/2006/main">
  <p:tag name="KSO_WM_UNIT_TABLE_BEAUTIFY" val="smartTable{a09a7624-1679-49ae-96d5-dde12530a4a1}"/>
</p:tagLst>
</file>

<file path=ppt/tags/tag5.xml><?xml version="1.0" encoding="utf-8"?>
<p:tagLst xmlns:a="http://schemas.openxmlformats.org/drawingml/2006/main" xmlns:r="http://schemas.openxmlformats.org/officeDocument/2006/relationships" xmlns:p="http://schemas.openxmlformats.org/presentationml/2006/main">
  <p:tag name="KSO_WM_UNIT_TABLE_BEAUTIFY" val="smartTable{57705dbf-d580-48bc-b942-7b8997f89d24}"/>
</p:tagLst>
</file>

<file path=ppt/tags/tag6.xml><?xml version="1.0" encoding="utf-8"?>
<p:tagLst xmlns:a="http://schemas.openxmlformats.org/drawingml/2006/main" xmlns:r="http://schemas.openxmlformats.org/officeDocument/2006/relationships" xmlns:p="http://schemas.openxmlformats.org/presentationml/2006/main">
  <p:tag name="KSO_WM_UNIT_TABLE_BEAUTIFY" val="smartTable{d5b0b357-1608-41ca-a391-745a4fb95b50}"/>
</p:tagLst>
</file>

<file path=ppt/tags/tag7.xml><?xml version="1.0" encoding="utf-8"?>
<p:tagLst xmlns:a="http://schemas.openxmlformats.org/drawingml/2006/main" xmlns:r="http://schemas.openxmlformats.org/officeDocument/2006/relationships" xmlns:p="http://schemas.openxmlformats.org/presentationml/2006/main">
  <p:tag name="AS_UNIQUEID" val="13145"/>
</p:tagLst>
</file>

<file path=ppt/tags/tag8.xml><?xml version="1.0" encoding="utf-8"?>
<p:tagLst xmlns:a="http://schemas.openxmlformats.org/drawingml/2006/main" xmlns:r="http://schemas.openxmlformats.org/officeDocument/2006/relationships" xmlns:p="http://schemas.openxmlformats.org/presentationml/2006/main">
  <p:tag name="AS_UNIQUEID" val="13145"/>
</p:tagLst>
</file>

<file path=ppt/tags/tag9.xml><?xml version="1.0" encoding="utf-8"?>
<p:tagLst xmlns:a="http://schemas.openxmlformats.org/drawingml/2006/main" xmlns:r="http://schemas.openxmlformats.org/officeDocument/2006/relationships" xmlns:p="http://schemas.openxmlformats.org/presentationml/2006/main">
  <p:tag name="AS_UNIQUEID" val="3987"/>
</p:tagLst>
</file>

<file path=ppt/tags/tag10.xml><?xml version="1.0" encoding="utf-8"?>
<p:tagLst xmlns:a="http://schemas.openxmlformats.org/drawingml/2006/main" xmlns:r="http://schemas.openxmlformats.org/officeDocument/2006/relationships" xmlns:p="http://schemas.openxmlformats.org/presentationml/2006/main">
  <p:tag name="AS_UNIQUEID" val="3987"/>
</p:tagLst>
</file>

<file path=ppt/tags/tag11.xml><?xml version="1.0" encoding="utf-8"?>
<p:tagLst xmlns:a="http://schemas.openxmlformats.org/drawingml/2006/main" xmlns:r="http://schemas.openxmlformats.org/officeDocument/2006/relationships" xmlns:p="http://schemas.openxmlformats.org/presentationml/2006/main">
  <p:tag name="AS_UNIQUEID" val="3986"/>
</p:tagLst>
</file>

<file path=ppt/tags/tag12.xml><?xml version="1.0" encoding="utf-8"?>
<p:tagLst xmlns:a="http://schemas.openxmlformats.org/drawingml/2006/main" xmlns:r="http://schemas.openxmlformats.org/officeDocument/2006/relationships" xmlns:p="http://schemas.openxmlformats.org/presentationml/2006/main">
  <p:tag name="AS_UNIQUEID" val="3987"/>
</p:tagLst>
</file>

<file path=ppt/tags/tag13.xml><?xml version="1.0" encoding="utf-8"?>
<p:tagLst xmlns:a="http://schemas.openxmlformats.org/drawingml/2006/main" xmlns:r="http://schemas.openxmlformats.org/officeDocument/2006/relationships" xmlns:p="http://schemas.openxmlformats.org/presentationml/2006/main">
  <p:tag name="AS_UNIQUEID" val="3987"/>
</p:tagLst>
</file>

<file path=ppt/tags/tag14.xml><?xml version="1.0" encoding="utf-8"?>
<p:tagLst xmlns:a="http://schemas.openxmlformats.org/drawingml/2006/main" xmlns:r="http://schemas.openxmlformats.org/officeDocument/2006/relationships" xmlns:p="http://schemas.openxmlformats.org/presentationml/2006/main">
  <p:tag name="AS_UNIQUEID" val="3987"/>
</p:tagLst>
</file>

<file path=ppt/tags/tag15.xml><?xml version="1.0" encoding="utf-8"?>
<p:tagLst xmlns:a="http://schemas.openxmlformats.org/drawingml/2006/main" xmlns:r="http://schemas.openxmlformats.org/officeDocument/2006/relationships" xmlns:p="http://schemas.openxmlformats.org/presentationml/2006/main">
  <p:tag name="AS_UNIQUEID" val="8420"/>
</p:tagLst>
</file>

<file path=ppt/tags/tag16.xml><?xml version="1.0" encoding="utf-8"?>
<p:tagLst xmlns:a="http://schemas.openxmlformats.org/drawingml/2006/main" xmlns:r="http://schemas.openxmlformats.org/officeDocument/2006/relationships" xmlns:p="http://schemas.openxmlformats.org/presentationml/2006/main">
  <p:tag name="AS_UNIQUEID" val="8483"/>
</p:tagLst>
</file>

<file path=ppt/tags/tag17.xml><?xml version="1.0" encoding="utf-8"?>
<p:tagLst xmlns:a="http://schemas.openxmlformats.org/drawingml/2006/main" xmlns:r="http://schemas.openxmlformats.org/officeDocument/2006/relationships" xmlns:p="http://schemas.openxmlformats.org/presentationml/2006/main">
  <p:tag name="AS_UNIQUEID" val="8484"/>
</p:tagLst>
</file>

<file path=ppt/tags/tag18.xml><?xml version="1.0" encoding="utf-8"?>
<p:tagLst xmlns:a="http://schemas.openxmlformats.org/drawingml/2006/main" xmlns:r="http://schemas.openxmlformats.org/officeDocument/2006/relationships" xmlns:p="http://schemas.openxmlformats.org/presentationml/2006/main">
  <p:tag name="AS_UNIQUEID" val="8507"/>
</p:tagLst>
</file>

<file path=ppt/tags/tag19.xml><?xml version="1.0" encoding="utf-8"?>
<p:tagLst xmlns:a="http://schemas.openxmlformats.org/drawingml/2006/main" xmlns:r="http://schemas.openxmlformats.org/officeDocument/2006/relationships" xmlns:p="http://schemas.openxmlformats.org/presentationml/2006/main">
  <p:tag name="AS_UNIQUEID" val="8508"/>
</p:tagLst>
</file>

<file path=ppt/tags/tag20.xml><?xml version="1.0" encoding="utf-8"?>
<p:tagLst xmlns:a="http://schemas.openxmlformats.org/drawingml/2006/main" xmlns:r="http://schemas.openxmlformats.org/officeDocument/2006/relationships" xmlns:p="http://schemas.openxmlformats.org/presentationml/2006/main">
  <p:tag name="AS_UNIQUEID" val="8510"/>
</p:tagLst>
</file>

<file path=ppt/tags/tag21.xml><?xml version="1.0" encoding="utf-8"?>
<p:tagLst xmlns:a="http://schemas.openxmlformats.org/drawingml/2006/main" xmlns:r="http://schemas.openxmlformats.org/officeDocument/2006/relationships" xmlns:p="http://schemas.openxmlformats.org/presentationml/2006/main">
  <p:tag name="AS_UNIQUEID" val="8511"/>
</p:tagLst>
</file>

<file path=ppt/tags/tag22.xml><?xml version="1.0" encoding="utf-8"?>
<p:tagLst xmlns:a="http://schemas.openxmlformats.org/drawingml/2006/main" xmlns:r="http://schemas.openxmlformats.org/officeDocument/2006/relationships" xmlns:p="http://schemas.openxmlformats.org/presentationml/2006/main">
  <p:tag name="AS_UNIQUEID" val="8512"/>
</p:tagLst>
</file>

<file path=ppt/tags/tag23.xml><?xml version="1.0" encoding="utf-8"?>
<p:tagLst xmlns:a="http://schemas.openxmlformats.org/drawingml/2006/main" xmlns:r="http://schemas.openxmlformats.org/officeDocument/2006/relationships" xmlns:p="http://schemas.openxmlformats.org/presentationml/2006/main">
  <p:tag name="AS_UNIQUEID" val="8513"/>
</p:tagLst>
</file>

<file path=ppt/tags/tag24.xml><?xml version="1.0" encoding="utf-8"?>
<p:tagLst xmlns:a="http://schemas.openxmlformats.org/drawingml/2006/main" xmlns:r="http://schemas.openxmlformats.org/officeDocument/2006/relationships" xmlns:p="http://schemas.openxmlformats.org/presentationml/2006/main">
  <p:tag name="AS_UNIQUEID" val="8514"/>
</p:tagLst>
</file>

<file path=ppt/tags/tag25.xml><?xml version="1.0" encoding="utf-8"?>
<p:tagLst xmlns:a="http://schemas.openxmlformats.org/drawingml/2006/main" xmlns:r="http://schemas.openxmlformats.org/officeDocument/2006/relationships" xmlns:p="http://schemas.openxmlformats.org/presentationml/2006/main">
  <p:tag name="AS_UNIQUEID" val="8485"/>
</p:tagLst>
</file>

<file path=ppt/tags/tag26.xml><?xml version="1.0" encoding="utf-8"?>
<p:tagLst xmlns:a="http://schemas.openxmlformats.org/drawingml/2006/main" xmlns:r="http://schemas.openxmlformats.org/officeDocument/2006/relationships" xmlns:p="http://schemas.openxmlformats.org/presentationml/2006/main">
  <p:tag name="AS_UNIQUEID" val="8486"/>
</p:tagLst>
</file>

<file path=ppt/tags/tag27.xml><?xml version="1.0" encoding="utf-8"?>
<p:tagLst xmlns:a="http://schemas.openxmlformats.org/drawingml/2006/main" xmlns:r="http://schemas.openxmlformats.org/officeDocument/2006/relationships" xmlns:p="http://schemas.openxmlformats.org/presentationml/2006/main">
  <p:tag name="AS_UNIQUEID" val="8487"/>
</p:tagLst>
</file>

<file path=ppt/tags/tag28.xml><?xml version="1.0" encoding="utf-8"?>
<p:tagLst xmlns:a="http://schemas.openxmlformats.org/drawingml/2006/main" xmlns:r="http://schemas.openxmlformats.org/officeDocument/2006/relationships" xmlns:p="http://schemas.openxmlformats.org/presentationml/2006/main">
  <p:tag name="AS_UNIQUEID" val="8503"/>
</p:tagLst>
</file>

<file path=ppt/tags/tag29.xml><?xml version="1.0" encoding="utf-8"?>
<p:tagLst xmlns:a="http://schemas.openxmlformats.org/drawingml/2006/main" xmlns:r="http://schemas.openxmlformats.org/officeDocument/2006/relationships" xmlns:p="http://schemas.openxmlformats.org/presentationml/2006/main">
  <p:tag name="AS_UNIQUEID" val="8504"/>
</p:tagLst>
</file>

<file path=ppt/tags/tag30.xml><?xml version="1.0" encoding="utf-8"?>
<p:tagLst xmlns:a="http://schemas.openxmlformats.org/drawingml/2006/main" xmlns:r="http://schemas.openxmlformats.org/officeDocument/2006/relationships" xmlns:p="http://schemas.openxmlformats.org/presentationml/2006/main">
  <p:tag name="AS_UNIQUEID" val="8505"/>
</p:tagLst>
</file>

<file path=ppt/tags/tag31.xml><?xml version="1.0" encoding="utf-8"?>
<p:tagLst xmlns:a="http://schemas.openxmlformats.org/drawingml/2006/main" xmlns:r="http://schemas.openxmlformats.org/officeDocument/2006/relationships" xmlns:p="http://schemas.openxmlformats.org/presentationml/2006/main">
  <p:tag name="AS_UNIQUEID" val="8506"/>
</p:tagLst>
</file>

<file path=ppt/tags/tag32.xml><?xml version="1.0" encoding="utf-8"?>
<p:tagLst xmlns:a="http://schemas.openxmlformats.org/drawingml/2006/main" xmlns:r="http://schemas.openxmlformats.org/officeDocument/2006/relationships" xmlns:p="http://schemas.openxmlformats.org/presentationml/2006/main">
  <p:tag name="AS_UNIQUEID" val="8488"/>
</p:tagLst>
</file>

<file path=ppt/tags/tag33.xml><?xml version="1.0" encoding="utf-8"?>
<p:tagLst xmlns:a="http://schemas.openxmlformats.org/drawingml/2006/main" xmlns:r="http://schemas.openxmlformats.org/officeDocument/2006/relationships" xmlns:p="http://schemas.openxmlformats.org/presentationml/2006/main">
  <p:tag name="AS_UNIQUEID" val="8501"/>
</p:tagLst>
</file>

<file path=ppt/tags/tag34.xml><?xml version="1.0" encoding="utf-8"?>
<p:tagLst xmlns:a="http://schemas.openxmlformats.org/drawingml/2006/main" xmlns:r="http://schemas.openxmlformats.org/officeDocument/2006/relationships" xmlns:p="http://schemas.openxmlformats.org/presentationml/2006/main">
  <p:tag name="AS_UNIQUEID" val="8502"/>
</p:tagLst>
</file>

<file path=ppt/tags/tag35.xml><?xml version="1.0" encoding="utf-8"?>
<p:tagLst xmlns:a="http://schemas.openxmlformats.org/drawingml/2006/main" xmlns:r="http://schemas.openxmlformats.org/officeDocument/2006/relationships" xmlns:p="http://schemas.openxmlformats.org/presentationml/2006/main">
  <p:tag name="AS_UNIQUEID" val="8489"/>
</p:tagLst>
</file>

<file path=ppt/tags/tag36.xml><?xml version="1.0" encoding="utf-8"?>
<p:tagLst xmlns:a="http://schemas.openxmlformats.org/drawingml/2006/main" xmlns:r="http://schemas.openxmlformats.org/officeDocument/2006/relationships" xmlns:p="http://schemas.openxmlformats.org/presentationml/2006/main">
  <p:tag name="AS_UNIQUEID" val="8490"/>
</p:tagLst>
</file>

<file path=ppt/tags/tag37.xml><?xml version="1.0" encoding="utf-8"?>
<p:tagLst xmlns:a="http://schemas.openxmlformats.org/drawingml/2006/main" xmlns:r="http://schemas.openxmlformats.org/officeDocument/2006/relationships" xmlns:p="http://schemas.openxmlformats.org/presentationml/2006/main">
  <p:tag name="AS_UNIQUEID" val="8491"/>
</p:tagLst>
</file>

<file path=ppt/tags/tag38.xml><?xml version="1.0" encoding="utf-8"?>
<p:tagLst xmlns:a="http://schemas.openxmlformats.org/drawingml/2006/main" xmlns:r="http://schemas.openxmlformats.org/officeDocument/2006/relationships" xmlns:p="http://schemas.openxmlformats.org/presentationml/2006/main">
  <p:tag name="AS_UNIQUEID" val="8492"/>
</p:tagLst>
</file>

<file path=ppt/tags/tag39.xml><?xml version="1.0" encoding="utf-8"?>
<p:tagLst xmlns:a="http://schemas.openxmlformats.org/drawingml/2006/main" xmlns:r="http://schemas.openxmlformats.org/officeDocument/2006/relationships" xmlns:p="http://schemas.openxmlformats.org/presentationml/2006/main">
  <p:tag name="AS_UNIQUEID" val="8493"/>
</p:tagLst>
</file>

<file path=ppt/tags/tag40.xml><?xml version="1.0" encoding="utf-8"?>
<p:tagLst xmlns:a="http://schemas.openxmlformats.org/drawingml/2006/main" xmlns:r="http://schemas.openxmlformats.org/officeDocument/2006/relationships" xmlns:p="http://schemas.openxmlformats.org/presentationml/2006/main">
  <p:tag name="AS_UNIQUEID" val="8494"/>
</p:tagLst>
</file>

<file path=ppt/tags/tag41.xml><?xml version="1.0" encoding="utf-8"?>
<p:tagLst xmlns:a="http://schemas.openxmlformats.org/drawingml/2006/main" xmlns:r="http://schemas.openxmlformats.org/officeDocument/2006/relationships" xmlns:p="http://schemas.openxmlformats.org/presentationml/2006/main">
  <p:tag name="AS_UNIQUEID" val="8495"/>
</p:tagLst>
</file>

<file path=ppt/tags/tag42.xml><?xml version="1.0" encoding="utf-8"?>
<p:tagLst xmlns:a="http://schemas.openxmlformats.org/drawingml/2006/main" xmlns:r="http://schemas.openxmlformats.org/officeDocument/2006/relationships" xmlns:p="http://schemas.openxmlformats.org/presentationml/2006/main">
  <p:tag name="AS_UNIQUEID" val="8496"/>
</p:tagLst>
</file>

<file path=ppt/tags/tag43.xml><?xml version="1.0" encoding="utf-8"?>
<p:tagLst xmlns:a="http://schemas.openxmlformats.org/drawingml/2006/main" xmlns:r="http://schemas.openxmlformats.org/officeDocument/2006/relationships" xmlns:p="http://schemas.openxmlformats.org/presentationml/2006/main">
  <p:tag name="AS_UNIQUEID" val="8497"/>
</p:tagLst>
</file>

<file path=ppt/tags/tag44.xml><?xml version="1.0" encoding="utf-8"?>
<p:tagLst xmlns:a="http://schemas.openxmlformats.org/drawingml/2006/main" xmlns:r="http://schemas.openxmlformats.org/officeDocument/2006/relationships" xmlns:p="http://schemas.openxmlformats.org/presentationml/2006/main">
  <p:tag name="AS_UNIQUEID" val="8498"/>
</p:tagLst>
</file>

<file path=ppt/tags/tag45.xml><?xml version="1.0" encoding="utf-8"?>
<p:tagLst xmlns:a="http://schemas.openxmlformats.org/drawingml/2006/main" xmlns:r="http://schemas.openxmlformats.org/officeDocument/2006/relationships" xmlns:p="http://schemas.openxmlformats.org/presentationml/2006/main">
  <p:tag name="AS_UNIQUEID" val="8499"/>
</p:tagLst>
</file>

<file path=ppt/tags/tag46.xml><?xml version="1.0" encoding="utf-8"?>
<p:tagLst xmlns:a="http://schemas.openxmlformats.org/drawingml/2006/main" xmlns:r="http://schemas.openxmlformats.org/officeDocument/2006/relationships" xmlns:p="http://schemas.openxmlformats.org/presentationml/2006/main">
  <p:tag name="AS_UNIQUEID" val="8500"/>
</p:tagLst>
</file>

<file path=ppt/tags/tag47.xml><?xml version="1.0" encoding="utf-8"?>
<p:tagLst xmlns:a="http://schemas.openxmlformats.org/drawingml/2006/main" xmlns:r="http://schemas.openxmlformats.org/officeDocument/2006/relationships" xmlns:p="http://schemas.openxmlformats.org/presentationml/2006/main">
  <p:tag name="AS_UNIQUEID" val="8421"/>
</p:tagLst>
</file>

<file path=ppt/tags/tag48.xml><?xml version="1.0" encoding="utf-8"?>
<p:tagLst xmlns:a="http://schemas.openxmlformats.org/drawingml/2006/main" xmlns:r="http://schemas.openxmlformats.org/officeDocument/2006/relationships" xmlns:p="http://schemas.openxmlformats.org/presentationml/2006/main">
  <p:tag name="AS_UNIQUEID" val="8423"/>
</p:tagLst>
</file>

<file path=ppt/tags/tag49.xml><?xml version="1.0" encoding="utf-8"?>
<p:tagLst xmlns:a="http://schemas.openxmlformats.org/drawingml/2006/main" xmlns:r="http://schemas.openxmlformats.org/officeDocument/2006/relationships" xmlns:p="http://schemas.openxmlformats.org/presentationml/2006/main">
  <p:tag name="AS_UNIQUEID" val="8425"/>
</p:tagLst>
</file>

<file path=ppt/tags/tag50.xml><?xml version="1.0" encoding="utf-8"?>
<p:tagLst xmlns:a="http://schemas.openxmlformats.org/drawingml/2006/main" xmlns:r="http://schemas.openxmlformats.org/officeDocument/2006/relationships" xmlns:p="http://schemas.openxmlformats.org/presentationml/2006/main">
  <p:tag name="AS_UNIQUEID" val="8426"/>
</p:tagLst>
</file>

<file path=ppt/tags/tag51.xml><?xml version="1.0" encoding="utf-8"?>
<p:tagLst xmlns:a="http://schemas.openxmlformats.org/drawingml/2006/main" xmlns:r="http://schemas.openxmlformats.org/officeDocument/2006/relationships" xmlns:p="http://schemas.openxmlformats.org/presentationml/2006/main">
  <p:tag name="AS_UNIQUEID" val="8427"/>
</p:tagLst>
</file>

<file path=ppt/tags/tag52.xml><?xml version="1.0" encoding="utf-8"?>
<p:tagLst xmlns:a="http://schemas.openxmlformats.org/drawingml/2006/main" xmlns:r="http://schemas.openxmlformats.org/officeDocument/2006/relationships" xmlns:p="http://schemas.openxmlformats.org/presentationml/2006/main">
  <p:tag name="AS_UNIQUEID" val="8428"/>
</p:tagLst>
</file>

<file path=ppt/tags/tag53.xml><?xml version="1.0" encoding="utf-8"?>
<p:tagLst xmlns:a="http://schemas.openxmlformats.org/drawingml/2006/main" xmlns:r="http://schemas.openxmlformats.org/officeDocument/2006/relationships" xmlns:p="http://schemas.openxmlformats.org/presentationml/2006/main">
  <p:tag name="AS_UNIQUEID" val="8429"/>
</p:tagLst>
</file>

<file path=ppt/tags/tag54.xml><?xml version="1.0" encoding="utf-8"?>
<p:tagLst xmlns:a="http://schemas.openxmlformats.org/drawingml/2006/main" xmlns:r="http://schemas.openxmlformats.org/officeDocument/2006/relationships" xmlns:p="http://schemas.openxmlformats.org/presentationml/2006/main">
  <p:tag name="AS_UNIQUEID" val="8430"/>
</p:tagLst>
</file>

<file path=ppt/tags/tag55.xml><?xml version="1.0" encoding="utf-8"?>
<p:tagLst xmlns:a="http://schemas.openxmlformats.org/drawingml/2006/main" xmlns:r="http://schemas.openxmlformats.org/officeDocument/2006/relationships" xmlns:p="http://schemas.openxmlformats.org/presentationml/2006/main">
  <p:tag name="AS_UNIQUEID" val="8431"/>
</p:tagLst>
</file>

<file path=ppt/tags/tag56.xml><?xml version="1.0" encoding="utf-8"?>
<p:tagLst xmlns:a="http://schemas.openxmlformats.org/drawingml/2006/main" xmlns:r="http://schemas.openxmlformats.org/officeDocument/2006/relationships" xmlns:p="http://schemas.openxmlformats.org/presentationml/2006/main">
  <p:tag name="AS_UNIQUEID" val="8432"/>
</p:tagLst>
</file>

<file path=ppt/tags/tag57.xml><?xml version="1.0" encoding="utf-8"?>
<p:tagLst xmlns:a="http://schemas.openxmlformats.org/drawingml/2006/main" xmlns:r="http://schemas.openxmlformats.org/officeDocument/2006/relationships" xmlns:p="http://schemas.openxmlformats.org/presentationml/2006/main">
  <p:tag name="AS_UNIQUEID" val="8433"/>
</p:tagLst>
</file>

<file path=ppt/tags/tag58.xml><?xml version="1.0" encoding="utf-8"?>
<p:tagLst xmlns:a="http://schemas.openxmlformats.org/drawingml/2006/main" xmlns:r="http://schemas.openxmlformats.org/officeDocument/2006/relationships" xmlns:p="http://schemas.openxmlformats.org/presentationml/2006/main">
  <p:tag name="AS_UNIQUEID" val="8434"/>
</p:tagLst>
</file>

<file path=ppt/tags/tag59.xml><?xml version="1.0" encoding="utf-8"?>
<p:tagLst xmlns:a="http://schemas.openxmlformats.org/drawingml/2006/main" xmlns:r="http://schemas.openxmlformats.org/officeDocument/2006/relationships" xmlns:p="http://schemas.openxmlformats.org/presentationml/2006/main">
  <p:tag name="AS_UNIQUEID" val="8435"/>
</p:tagLst>
</file>

<file path=ppt/tags/tag60.xml><?xml version="1.0" encoding="utf-8"?>
<p:tagLst xmlns:a="http://schemas.openxmlformats.org/drawingml/2006/main" xmlns:r="http://schemas.openxmlformats.org/officeDocument/2006/relationships" xmlns:p="http://schemas.openxmlformats.org/presentationml/2006/main">
  <p:tag name="AS_UNIQUEID" val="8436"/>
</p:tagLst>
</file>

<file path=ppt/tags/tag61.xml><?xml version="1.0" encoding="utf-8"?>
<p:tagLst xmlns:a="http://schemas.openxmlformats.org/drawingml/2006/main" xmlns:r="http://schemas.openxmlformats.org/officeDocument/2006/relationships" xmlns:p="http://schemas.openxmlformats.org/presentationml/2006/main">
  <p:tag name="AS_UNIQUEID" val="8437"/>
</p:tagLst>
</file>

<file path=ppt/tags/tag62.xml><?xml version="1.0" encoding="utf-8"?>
<p:tagLst xmlns:a="http://schemas.openxmlformats.org/drawingml/2006/main" xmlns:r="http://schemas.openxmlformats.org/officeDocument/2006/relationships" xmlns:p="http://schemas.openxmlformats.org/presentationml/2006/main">
  <p:tag name="AS_UNIQUEID" val="8438"/>
</p:tagLst>
</file>

<file path=ppt/tags/tag63.xml><?xml version="1.0" encoding="utf-8"?>
<p:tagLst xmlns:a="http://schemas.openxmlformats.org/drawingml/2006/main" xmlns:r="http://schemas.openxmlformats.org/officeDocument/2006/relationships" xmlns:p="http://schemas.openxmlformats.org/presentationml/2006/main">
  <p:tag name="AS_UNIQUEID" val="8439"/>
</p:tagLst>
</file>

<file path=ppt/tags/tag64.xml><?xml version="1.0" encoding="utf-8"?>
<p:tagLst xmlns:a="http://schemas.openxmlformats.org/drawingml/2006/main" xmlns:r="http://schemas.openxmlformats.org/officeDocument/2006/relationships" xmlns:p="http://schemas.openxmlformats.org/presentationml/2006/main">
  <p:tag name="AS_UNIQUEID" val="8440"/>
</p:tagLst>
</file>

<file path=ppt/tags/tag65.xml><?xml version="1.0" encoding="utf-8"?>
<p:tagLst xmlns:a="http://schemas.openxmlformats.org/drawingml/2006/main" xmlns:r="http://schemas.openxmlformats.org/officeDocument/2006/relationships" xmlns:p="http://schemas.openxmlformats.org/presentationml/2006/main">
  <p:tag name="AS_UNIQUEID" val="8441"/>
</p:tagLst>
</file>

<file path=ppt/tags/tag66.xml><?xml version="1.0" encoding="utf-8"?>
<p:tagLst xmlns:a="http://schemas.openxmlformats.org/drawingml/2006/main" xmlns:r="http://schemas.openxmlformats.org/officeDocument/2006/relationships" xmlns:p="http://schemas.openxmlformats.org/presentationml/2006/main">
  <p:tag name="AS_UNIQUEID" val="8442"/>
</p:tagLst>
</file>

<file path=ppt/tags/tag67.xml><?xml version="1.0" encoding="utf-8"?>
<p:tagLst xmlns:a="http://schemas.openxmlformats.org/drawingml/2006/main" xmlns:r="http://schemas.openxmlformats.org/officeDocument/2006/relationships" xmlns:p="http://schemas.openxmlformats.org/presentationml/2006/main">
  <p:tag name="AS_UNIQUEID" val="8443"/>
</p:tagLst>
</file>

<file path=ppt/tags/tag68.xml><?xml version="1.0" encoding="utf-8"?>
<p:tagLst xmlns:a="http://schemas.openxmlformats.org/drawingml/2006/main" xmlns:r="http://schemas.openxmlformats.org/officeDocument/2006/relationships" xmlns:p="http://schemas.openxmlformats.org/presentationml/2006/main">
  <p:tag name="AS_UNIQUEID" val="8449"/>
</p:tagLst>
</file>

<file path=ppt/tags/tag69.xml><?xml version="1.0" encoding="utf-8"?>
<p:tagLst xmlns:a="http://schemas.openxmlformats.org/drawingml/2006/main" xmlns:r="http://schemas.openxmlformats.org/officeDocument/2006/relationships" xmlns:p="http://schemas.openxmlformats.org/presentationml/2006/main">
  <p:tag name="AS_UNIQUEID" val="8455"/>
</p:tagLst>
</file>

<file path=ppt/tags/tag70.xml><?xml version="1.0" encoding="utf-8"?>
<p:tagLst xmlns:a="http://schemas.openxmlformats.org/drawingml/2006/main" xmlns:r="http://schemas.openxmlformats.org/officeDocument/2006/relationships" xmlns:p="http://schemas.openxmlformats.org/presentationml/2006/main">
  <p:tag name="AS_UNIQUEID" val="8461"/>
</p:tagLst>
</file>

<file path=ppt/tags/tag71.xml><?xml version="1.0" encoding="utf-8"?>
<p:tagLst xmlns:a="http://schemas.openxmlformats.org/drawingml/2006/main" xmlns:r="http://schemas.openxmlformats.org/officeDocument/2006/relationships" xmlns:p="http://schemas.openxmlformats.org/presentationml/2006/main">
  <p:tag name="AS_UNIQUEID" val="8467"/>
</p:tagLst>
</file>

<file path=ppt/tags/tag72.xml><?xml version="1.0" encoding="utf-8"?>
<p:tagLst xmlns:a="http://schemas.openxmlformats.org/drawingml/2006/main" xmlns:r="http://schemas.openxmlformats.org/officeDocument/2006/relationships" xmlns:p="http://schemas.openxmlformats.org/presentationml/2006/main">
  <p:tag name="AS_UNIQUEID" val="8473"/>
</p:tagLst>
</file>

<file path=ppt/tags/tag73.xml><?xml version="1.0" encoding="utf-8"?>
<p:tagLst xmlns:a="http://schemas.openxmlformats.org/drawingml/2006/main" xmlns:r="http://schemas.openxmlformats.org/officeDocument/2006/relationships" xmlns:p="http://schemas.openxmlformats.org/presentationml/2006/main">
  <p:tag name="AS_UNIQUEID" val="8479"/>
</p:tagLst>
</file>

<file path=ppt/tags/tag74.xml><?xml version="1.0" encoding="utf-8"?>
<p:tagLst xmlns:a="http://schemas.openxmlformats.org/drawingml/2006/main" xmlns:r="http://schemas.openxmlformats.org/officeDocument/2006/relationships" xmlns:p="http://schemas.openxmlformats.org/presentationml/2006/main">
  <p:tag name="AS_UNIQUEID" val="8480"/>
</p:tagLst>
</file>

<file path=ppt/tags/tag75.xml><?xml version="1.0" encoding="utf-8"?>
<p:tagLst xmlns:a="http://schemas.openxmlformats.org/drawingml/2006/main" xmlns:r="http://schemas.openxmlformats.org/officeDocument/2006/relationships" xmlns:p="http://schemas.openxmlformats.org/presentationml/2006/main">
  <p:tag name="AS_UNIQUEID" val="8481"/>
</p:tagLst>
</file>

<file path=ppt/tags/tag76.xml><?xml version="1.0" encoding="utf-8"?>
<p:tagLst xmlns:a="http://schemas.openxmlformats.org/drawingml/2006/main" xmlns:r="http://schemas.openxmlformats.org/officeDocument/2006/relationships" xmlns:p="http://schemas.openxmlformats.org/presentationml/2006/main">
  <p:tag name="AS_UNIQUEID" val="8474"/>
</p:tagLst>
</file>

<file path=ppt/tags/tag77.xml><?xml version="1.0" encoding="utf-8"?>
<p:tagLst xmlns:a="http://schemas.openxmlformats.org/drawingml/2006/main" xmlns:r="http://schemas.openxmlformats.org/officeDocument/2006/relationships" xmlns:p="http://schemas.openxmlformats.org/presentationml/2006/main">
  <p:tag name="AS_UNIQUEID" val="8475"/>
</p:tagLst>
</file>

<file path=ppt/tags/tag78.xml><?xml version="1.0" encoding="utf-8"?>
<p:tagLst xmlns:a="http://schemas.openxmlformats.org/drawingml/2006/main" xmlns:r="http://schemas.openxmlformats.org/officeDocument/2006/relationships" xmlns:p="http://schemas.openxmlformats.org/presentationml/2006/main">
  <p:tag name="AS_UNIQUEID" val="8476"/>
</p:tagLst>
</file>

<file path=ppt/tags/tag79.xml><?xml version="1.0" encoding="utf-8"?>
<p:tagLst xmlns:a="http://schemas.openxmlformats.org/drawingml/2006/main" xmlns:r="http://schemas.openxmlformats.org/officeDocument/2006/relationships" xmlns:p="http://schemas.openxmlformats.org/presentationml/2006/main">
  <p:tag name="AS_UNIQUEID" val="8477"/>
</p:tagLst>
</file>

<file path=ppt/tags/tag80.xml><?xml version="1.0" encoding="utf-8"?>
<p:tagLst xmlns:a="http://schemas.openxmlformats.org/drawingml/2006/main" xmlns:r="http://schemas.openxmlformats.org/officeDocument/2006/relationships" xmlns:p="http://schemas.openxmlformats.org/presentationml/2006/main">
  <p:tag name="AS_UNIQUEID" val="8478"/>
</p:tagLst>
</file>

<file path=ppt/tags/tag81.xml><?xml version="1.0" encoding="utf-8"?>
<p:tagLst xmlns:a="http://schemas.openxmlformats.org/drawingml/2006/main" xmlns:r="http://schemas.openxmlformats.org/officeDocument/2006/relationships" xmlns:p="http://schemas.openxmlformats.org/presentationml/2006/main">
  <p:tag name="AS_UNIQUEID" val="8468"/>
</p:tagLst>
</file>

<file path=ppt/tags/tag82.xml><?xml version="1.0" encoding="utf-8"?>
<p:tagLst xmlns:a="http://schemas.openxmlformats.org/drawingml/2006/main" xmlns:r="http://schemas.openxmlformats.org/officeDocument/2006/relationships" xmlns:p="http://schemas.openxmlformats.org/presentationml/2006/main">
  <p:tag name="AS_UNIQUEID" val="8469"/>
</p:tagLst>
</file>

<file path=ppt/tags/tag83.xml><?xml version="1.0" encoding="utf-8"?>
<p:tagLst xmlns:a="http://schemas.openxmlformats.org/drawingml/2006/main" xmlns:r="http://schemas.openxmlformats.org/officeDocument/2006/relationships" xmlns:p="http://schemas.openxmlformats.org/presentationml/2006/main">
  <p:tag name="AS_UNIQUEID" val="8470"/>
</p:tagLst>
</file>

<file path=ppt/tags/tag84.xml><?xml version="1.0" encoding="utf-8"?>
<p:tagLst xmlns:a="http://schemas.openxmlformats.org/drawingml/2006/main" xmlns:r="http://schemas.openxmlformats.org/officeDocument/2006/relationships" xmlns:p="http://schemas.openxmlformats.org/presentationml/2006/main">
  <p:tag name="AS_UNIQUEID" val="8471"/>
</p:tagLst>
</file>

<file path=ppt/tags/tag85.xml><?xml version="1.0" encoding="utf-8"?>
<p:tagLst xmlns:a="http://schemas.openxmlformats.org/drawingml/2006/main" xmlns:r="http://schemas.openxmlformats.org/officeDocument/2006/relationships" xmlns:p="http://schemas.openxmlformats.org/presentationml/2006/main">
  <p:tag name="AS_UNIQUEID" val="8472"/>
</p:tagLst>
</file>

<file path=ppt/tags/tag86.xml><?xml version="1.0" encoding="utf-8"?>
<p:tagLst xmlns:a="http://schemas.openxmlformats.org/drawingml/2006/main" xmlns:r="http://schemas.openxmlformats.org/officeDocument/2006/relationships" xmlns:p="http://schemas.openxmlformats.org/presentationml/2006/main">
  <p:tag name="AS_UNIQUEID" val="8462"/>
</p:tagLst>
</file>

<file path=ppt/tags/tag87.xml><?xml version="1.0" encoding="utf-8"?>
<p:tagLst xmlns:a="http://schemas.openxmlformats.org/drawingml/2006/main" xmlns:r="http://schemas.openxmlformats.org/officeDocument/2006/relationships" xmlns:p="http://schemas.openxmlformats.org/presentationml/2006/main">
  <p:tag name="AS_UNIQUEID" val="8463"/>
</p:tagLst>
</file>

<file path=ppt/tags/tag88.xml><?xml version="1.0" encoding="utf-8"?>
<p:tagLst xmlns:a="http://schemas.openxmlformats.org/drawingml/2006/main" xmlns:r="http://schemas.openxmlformats.org/officeDocument/2006/relationships" xmlns:p="http://schemas.openxmlformats.org/presentationml/2006/main">
  <p:tag name="AS_UNIQUEID" val="8464"/>
</p:tagLst>
</file>

<file path=ppt/tags/tag89.xml><?xml version="1.0" encoding="utf-8"?>
<p:tagLst xmlns:a="http://schemas.openxmlformats.org/drawingml/2006/main" xmlns:r="http://schemas.openxmlformats.org/officeDocument/2006/relationships" xmlns:p="http://schemas.openxmlformats.org/presentationml/2006/main">
  <p:tag name="AS_UNIQUEID" val="8465"/>
</p:tagLst>
</file>

<file path=ppt/tags/tag90.xml><?xml version="1.0" encoding="utf-8"?>
<p:tagLst xmlns:a="http://schemas.openxmlformats.org/drawingml/2006/main" xmlns:r="http://schemas.openxmlformats.org/officeDocument/2006/relationships" xmlns:p="http://schemas.openxmlformats.org/presentationml/2006/main">
  <p:tag name="AS_UNIQUEID" val="8466"/>
</p:tagLst>
</file>

<file path=ppt/tags/tag91.xml><?xml version="1.0" encoding="utf-8"?>
<p:tagLst xmlns:a="http://schemas.openxmlformats.org/drawingml/2006/main" xmlns:r="http://schemas.openxmlformats.org/officeDocument/2006/relationships" xmlns:p="http://schemas.openxmlformats.org/presentationml/2006/main">
  <p:tag name="AS_UNIQUEID" val="8456"/>
</p:tagLst>
</file>

<file path=ppt/tags/tag92.xml><?xml version="1.0" encoding="utf-8"?>
<p:tagLst xmlns:a="http://schemas.openxmlformats.org/drawingml/2006/main" xmlns:r="http://schemas.openxmlformats.org/officeDocument/2006/relationships" xmlns:p="http://schemas.openxmlformats.org/presentationml/2006/main">
  <p:tag name="AS_UNIQUEID" val="8457"/>
</p:tagLst>
</file>

<file path=ppt/tags/tag93.xml><?xml version="1.0" encoding="utf-8"?>
<p:tagLst xmlns:a="http://schemas.openxmlformats.org/drawingml/2006/main" xmlns:r="http://schemas.openxmlformats.org/officeDocument/2006/relationships" xmlns:p="http://schemas.openxmlformats.org/presentationml/2006/main">
  <p:tag name="AS_UNIQUEID" val="8458"/>
</p:tagLst>
</file>

<file path=ppt/tags/tag94.xml><?xml version="1.0" encoding="utf-8"?>
<p:tagLst xmlns:a="http://schemas.openxmlformats.org/drawingml/2006/main" xmlns:r="http://schemas.openxmlformats.org/officeDocument/2006/relationships" xmlns:p="http://schemas.openxmlformats.org/presentationml/2006/main">
  <p:tag name="AS_UNIQUEID" val="8459"/>
</p:tagLst>
</file>

<file path=ppt/tags/tag95.xml><?xml version="1.0" encoding="utf-8"?>
<p:tagLst xmlns:a="http://schemas.openxmlformats.org/drawingml/2006/main" xmlns:r="http://schemas.openxmlformats.org/officeDocument/2006/relationships" xmlns:p="http://schemas.openxmlformats.org/presentationml/2006/main">
  <p:tag name="AS_UNIQUEID" val="8460"/>
</p:tagLst>
</file>

<file path=ppt/tags/tag96.xml><?xml version="1.0" encoding="utf-8"?>
<p:tagLst xmlns:a="http://schemas.openxmlformats.org/drawingml/2006/main" xmlns:r="http://schemas.openxmlformats.org/officeDocument/2006/relationships" xmlns:p="http://schemas.openxmlformats.org/presentationml/2006/main">
  <p:tag name="AS_UNIQUEID" val="8450"/>
</p:tagLst>
</file>

<file path=ppt/tags/tag97.xml><?xml version="1.0" encoding="utf-8"?>
<p:tagLst xmlns:a="http://schemas.openxmlformats.org/drawingml/2006/main" xmlns:r="http://schemas.openxmlformats.org/officeDocument/2006/relationships" xmlns:p="http://schemas.openxmlformats.org/presentationml/2006/main">
  <p:tag name="AS_UNIQUEID" val="8451"/>
</p:tagLst>
</file>

<file path=ppt/tags/tag98.xml><?xml version="1.0" encoding="utf-8"?>
<p:tagLst xmlns:a="http://schemas.openxmlformats.org/drawingml/2006/main" xmlns:r="http://schemas.openxmlformats.org/officeDocument/2006/relationships" xmlns:p="http://schemas.openxmlformats.org/presentationml/2006/main">
  <p:tag name="AS_UNIQUEID" val="8452"/>
</p:tagLst>
</file>

<file path=ppt/tags/tag99.xml><?xml version="1.0" encoding="utf-8"?>
<p:tagLst xmlns:a="http://schemas.openxmlformats.org/drawingml/2006/main" xmlns:r="http://schemas.openxmlformats.org/officeDocument/2006/relationships" xmlns:p="http://schemas.openxmlformats.org/presentationml/2006/main">
  <p:tag name="AS_UNIQUEID" val="8453"/>
</p:tagLst>
</file>

<file path=ppt/tags/tag100.xml><?xml version="1.0" encoding="utf-8"?>
<p:tagLst xmlns:a="http://schemas.openxmlformats.org/drawingml/2006/main" xmlns:r="http://schemas.openxmlformats.org/officeDocument/2006/relationships" xmlns:p="http://schemas.openxmlformats.org/presentationml/2006/main">
  <p:tag name="AS_UNIQUEID" val="8454"/>
</p:tagLst>
</file>

<file path=ppt/tags/tag101.xml><?xml version="1.0" encoding="utf-8"?>
<p:tagLst xmlns:a="http://schemas.openxmlformats.org/drawingml/2006/main" xmlns:r="http://schemas.openxmlformats.org/officeDocument/2006/relationships" xmlns:p="http://schemas.openxmlformats.org/presentationml/2006/main">
  <p:tag name="AS_UNIQUEID" val="8444"/>
</p:tagLst>
</file>

<file path=ppt/tags/tag102.xml><?xml version="1.0" encoding="utf-8"?>
<p:tagLst xmlns:a="http://schemas.openxmlformats.org/drawingml/2006/main" xmlns:r="http://schemas.openxmlformats.org/officeDocument/2006/relationships" xmlns:p="http://schemas.openxmlformats.org/presentationml/2006/main">
  <p:tag name="AS_UNIQUEID" val="8445"/>
</p:tagLst>
</file>

<file path=ppt/tags/tag103.xml><?xml version="1.0" encoding="utf-8"?>
<p:tagLst xmlns:a="http://schemas.openxmlformats.org/drawingml/2006/main" xmlns:r="http://schemas.openxmlformats.org/officeDocument/2006/relationships" xmlns:p="http://schemas.openxmlformats.org/presentationml/2006/main">
  <p:tag name="AS_UNIQUEID" val="8446"/>
</p:tagLst>
</file>

<file path=ppt/tags/tag104.xml><?xml version="1.0" encoding="utf-8"?>
<p:tagLst xmlns:a="http://schemas.openxmlformats.org/drawingml/2006/main" xmlns:r="http://schemas.openxmlformats.org/officeDocument/2006/relationships" xmlns:p="http://schemas.openxmlformats.org/presentationml/2006/main">
  <p:tag name="AS_UNIQUEID" val="8447"/>
</p:tagLst>
</file>

<file path=ppt/tags/tag105.xml><?xml version="1.0" encoding="utf-8"?>
<p:tagLst xmlns:a="http://schemas.openxmlformats.org/drawingml/2006/main" xmlns:r="http://schemas.openxmlformats.org/officeDocument/2006/relationships" xmlns:p="http://schemas.openxmlformats.org/presentationml/2006/main">
  <p:tag name="AS_UNIQUEID" val="8448"/>
</p:tagLst>
</file>

<file path=ppt/theme/theme1.xml><?xml version="1.0" encoding="utf-8"?>
<a:theme xmlns:a="http://schemas.openxmlformats.org/drawingml/2006/main" name="Office 主题​​">
  <a:themeElements>
    <a:clrScheme name="蓝色 II">
      <a:dk1>
        <a:sysClr val="windowText" lastClr="000000"/>
      </a:dk1>
      <a:lt1>
        <a:sysClr val="window" lastClr="FFFFFF"/>
      </a:lt1>
      <a:dk2>
        <a:srgbClr val="335B74"/>
      </a:dk2>
      <a:lt2>
        <a:srgbClr val="DFE3E5"/>
      </a:lt2>
      <a:accent1>
        <a:srgbClr val="1CADE4"/>
      </a:accent1>
      <a:accent2>
        <a:srgbClr val="2683C6"/>
      </a:accent2>
      <a:accent3>
        <a:srgbClr val="27CED7"/>
      </a:accent3>
      <a:accent4>
        <a:srgbClr val="42BA97"/>
      </a:accent4>
      <a:accent5>
        <a:srgbClr val="3E8853"/>
      </a:accent5>
      <a:accent6>
        <a:srgbClr val="62A39F"/>
      </a:accent6>
      <a:hlink>
        <a:srgbClr val="6EAC1C"/>
      </a:hlink>
      <a:folHlink>
        <a:srgbClr val="B26B0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10071</TotalTime>
  <Words>30933</Words>
  <Application>Microsoft Office PowerPoint</Application>
  <PresentationFormat>宽屏</PresentationFormat>
  <Paragraphs>5683</Paragraphs>
  <Slides>255</Slides>
  <Notes>147</Notes>
  <HiddenSlides>0</HiddenSlides>
  <MMClips>5</MMClips>
  <ScaleCrop>false</ScaleCrop>
  <HeadingPairs>
    <vt:vector size="10" baseType="variant">
      <vt:variant>
        <vt:lpstr>已用的字体</vt:lpstr>
      </vt:variant>
      <vt:variant>
        <vt:i4>26</vt:i4>
      </vt:variant>
      <vt:variant>
        <vt:lpstr>主题</vt:lpstr>
      </vt:variant>
      <vt:variant>
        <vt:i4>1</vt:i4>
      </vt:variant>
      <vt:variant>
        <vt:lpstr>链接</vt:lpstr>
      </vt:variant>
      <vt:variant>
        <vt:i4>7</vt:i4>
      </vt:variant>
      <vt:variant>
        <vt:lpstr>嵌入 OLE 服务器</vt:lpstr>
      </vt:variant>
      <vt:variant>
        <vt:i4>6</vt:i4>
      </vt:variant>
      <vt:variant>
        <vt:lpstr>幻灯片标题</vt:lpstr>
      </vt:variant>
      <vt:variant>
        <vt:i4>255</vt:i4>
      </vt:variant>
    </vt:vector>
  </HeadingPairs>
  <TitlesOfParts>
    <vt:vector size="295" baseType="lpstr">
      <vt:lpstr>Arial Unicode MS</vt:lpstr>
      <vt:lpstr>FrutigerNext LT Regular</vt:lpstr>
      <vt:lpstr>MS Mincho</vt:lpstr>
      <vt:lpstr>MS PGothic</vt:lpstr>
      <vt:lpstr>ZapfDingbats</vt:lpstr>
      <vt:lpstr>等线</vt:lpstr>
      <vt:lpstr>方正兰亭黑简体</vt:lpstr>
      <vt:lpstr>黑体</vt:lpstr>
      <vt:lpstr>华文细黑</vt:lpstr>
      <vt:lpstr>楷体_GB2312</vt:lpstr>
      <vt:lpstr>宋体</vt:lpstr>
      <vt:lpstr>微软雅黑</vt:lpstr>
      <vt:lpstr>微软雅黑</vt:lpstr>
      <vt:lpstr>微软雅黑</vt:lpstr>
      <vt:lpstr>微软雅黑</vt:lpstr>
      <vt:lpstr>Arial</vt:lpstr>
      <vt:lpstr>Arial</vt:lpstr>
      <vt:lpstr>Arial Black</vt:lpstr>
      <vt:lpstr>Calibri</vt:lpstr>
      <vt:lpstr>Comic Sans MS</vt:lpstr>
      <vt:lpstr>Helvetica</vt:lpstr>
      <vt:lpstr>Symbol</vt:lpstr>
      <vt:lpstr>Tahoma</vt:lpstr>
      <vt:lpstr>Times</vt:lpstr>
      <vt:lpstr>Times New Roman</vt:lpstr>
      <vt:lpstr>Wingdings</vt:lpstr>
      <vt:lpstr>Office 主题​​</vt:lpstr>
      <vt:lpstr>???</vt:lpstr>
      <vt:lpstr>???</vt:lpstr>
      <vt:lpstr>???</vt:lpstr>
      <vt:lpstr>???</vt:lpstr>
      <vt:lpstr>???</vt:lpstr>
      <vt:lpstr>???</vt:lpstr>
      <vt:lpstr>???</vt:lpstr>
      <vt:lpstr>Visio</vt:lpstr>
      <vt:lpstr>Clip</vt:lpstr>
      <vt:lpstr>CorelDRAW</vt:lpstr>
      <vt:lpstr>VISIO</vt:lpstr>
      <vt:lpstr>文档</vt:lpstr>
      <vt:lpstr>剪辑</vt:lpstr>
      <vt:lpstr>第五章 网络层</vt:lpstr>
      <vt:lpstr>本章目标</vt:lpstr>
      <vt:lpstr>本章内容</vt:lpstr>
      <vt:lpstr>本章内容</vt:lpstr>
      <vt:lpstr>网络层服务概述</vt:lpstr>
      <vt:lpstr>网络层服务的实现</vt:lpstr>
      <vt:lpstr>网络层关键功能</vt:lpstr>
      <vt:lpstr>提供给传输层的服务</vt:lpstr>
      <vt:lpstr>无连接服务的实现</vt:lpstr>
      <vt:lpstr>无连接服务的实现</vt:lpstr>
      <vt:lpstr>无连接的数据报</vt:lpstr>
      <vt:lpstr>数据报的转发策略</vt:lpstr>
      <vt:lpstr>面向连接服务的实现</vt:lpstr>
      <vt:lpstr>面向连接服务的实现</vt:lpstr>
      <vt:lpstr>面向连接的虚电路</vt:lpstr>
      <vt:lpstr>虚电路转发策略</vt:lpstr>
      <vt:lpstr>面向连接的虚电路</vt:lpstr>
      <vt:lpstr>面向连接的虚电路</vt:lpstr>
      <vt:lpstr>面向连接的虚电路</vt:lpstr>
      <vt:lpstr>虚电路与数据报网络的比较</vt:lpstr>
      <vt:lpstr>虚电路与数据报网络的比较</vt:lpstr>
      <vt:lpstr>虚电路与数据报网络的性能比较</vt:lpstr>
      <vt:lpstr>虚电路与数据报网络的性能比较</vt:lpstr>
      <vt:lpstr>虚电路与数据报网络的性能比较</vt:lpstr>
      <vt:lpstr>虚电路与数据报网络的效率比较</vt:lpstr>
      <vt:lpstr>虚电路与数据报网络的发展历史</vt:lpstr>
      <vt:lpstr>本章内容</vt:lpstr>
      <vt:lpstr>路由算法</vt:lpstr>
      <vt:lpstr>优化原则</vt:lpstr>
      <vt:lpstr>最短路径算法</vt:lpstr>
      <vt:lpstr>最短路径算法</vt:lpstr>
      <vt:lpstr>距离向量路由</vt:lpstr>
      <vt:lpstr>距离向量路由</vt:lpstr>
      <vt:lpstr>距离向量路由</vt:lpstr>
      <vt:lpstr>距离向量路由</vt:lpstr>
      <vt:lpstr>距离向量路由</vt:lpstr>
      <vt:lpstr>距离向量路由</vt:lpstr>
      <vt:lpstr>距离向量路由</vt:lpstr>
      <vt:lpstr>距离向量路由</vt:lpstr>
      <vt:lpstr>距离向量路由</vt:lpstr>
      <vt:lpstr>链路状态路由</vt:lpstr>
      <vt:lpstr>链路状态路由</vt:lpstr>
      <vt:lpstr>链路状态路由</vt:lpstr>
      <vt:lpstr>链路状态路由</vt:lpstr>
      <vt:lpstr>链路状态路由</vt:lpstr>
      <vt:lpstr>链路状态路由</vt:lpstr>
      <vt:lpstr>链路状态路由</vt:lpstr>
      <vt:lpstr>层次路由-产生原因</vt:lpstr>
      <vt:lpstr>层次路由-产生原因</vt:lpstr>
      <vt:lpstr>层次路由-产生原因</vt:lpstr>
      <vt:lpstr>层次路由-基本思路</vt:lpstr>
      <vt:lpstr>层次路由-基本思路</vt:lpstr>
      <vt:lpstr>层次路由-效果</vt:lpstr>
      <vt:lpstr>广播路由</vt:lpstr>
      <vt:lpstr>广播路由</vt:lpstr>
      <vt:lpstr>广播路由</vt:lpstr>
      <vt:lpstr>广播路由</vt:lpstr>
      <vt:lpstr>广播路由</vt:lpstr>
      <vt:lpstr>广播路由</vt:lpstr>
      <vt:lpstr>广播路由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组播的应用</vt:lpstr>
      <vt:lpstr>选播路由</vt:lpstr>
      <vt:lpstr>选播路由</vt:lpstr>
      <vt:lpstr>选播路由</vt:lpstr>
      <vt:lpstr>本章内容</vt:lpstr>
      <vt:lpstr>流量管理的必要性：拥塞</vt:lpstr>
      <vt:lpstr>流量管理的必要性：拥塞</vt:lpstr>
      <vt:lpstr>流量管理的必要性：拥塞</vt:lpstr>
      <vt:lpstr>流量感知路由</vt:lpstr>
      <vt:lpstr>准入控制（预防式）</vt:lpstr>
      <vt:lpstr>准入控制（预防式）</vt:lpstr>
      <vt:lpstr>负载脱落/丢弃（消除式）</vt:lpstr>
      <vt:lpstr>流量整形</vt:lpstr>
      <vt:lpstr>流量整形</vt:lpstr>
      <vt:lpstr>流量整形</vt:lpstr>
      <vt:lpstr>主动队列管理：随机早期检测</vt:lpstr>
      <vt:lpstr>主动队列管理：随机早期检测</vt:lpstr>
      <vt:lpstr>主动队列管理：随机早期检测</vt:lpstr>
      <vt:lpstr>抑制数据包（避免式）</vt:lpstr>
      <vt:lpstr>逐跳后压（避免式）</vt:lpstr>
      <vt:lpstr>显式拥塞通知（避免式）</vt:lpstr>
      <vt:lpstr>本章内容</vt:lpstr>
      <vt:lpstr>网络服务质量概述</vt:lpstr>
      <vt:lpstr>网络服务质量概述</vt:lpstr>
      <vt:lpstr>数据包调度</vt:lpstr>
      <vt:lpstr>综合服务</vt:lpstr>
      <vt:lpstr>区分服务</vt:lpstr>
      <vt:lpstr>区分服务</vt:lpstr>
      <vt:lpstr>本章内容</vt:lpstr>
      <vt:lpstr>SDN概述</vt:lpstr>
      <vt:lpstr>SDN概述</vt:lpstr>
      <vt:lpstr>SDN控制平面</vt:lpstr>
      <vt:lpstr>SDN控制平面</vt:lpstr>
      <vt:lpstr>SDN控制平面</vt:lpstr>
      <vt:lpstr>Openflow节点匹配</vt:lpstr>
      <vt:lpstr>Openflow-交换机的底层结构</vt:lpstr>
      <vt:lpstr>Openflow例子</vt:lpstr>
      <vt:lpstr>OpenFlow转发表配置例子</vt:lpstr>
      <vt:lpstr>SDN数据平面</vt:lpstr>
      <vt:lpstr>SDN数据平面</vt:lpstr>
      <vt:lpstr>可编程网络测量</vt:lpstr>
      <vt:lpstr>本章内容</vt:lpstr>
      <vt:lpstr>IPv4协议</vt:lpstr>
      <vt:lpstr>IPv4数据报格式</vt:lpstr>
      <vt:lpstr>IPv4数据报格式</vt:lpstr>
      <vt:lpstr>数据报分片</vt:lpstr>
      <vt:lpstr>数据报分片</vt:lpstr>
      <vt:lpstr>数据报分片</vt:lpstr>
      <vt:lpstr>IP协议功能及报头字段总结</vt:lpstr>
      <vt:lpstr>IP地址</vt:lpstr>
      <vt:lpstr>分类的IP地址</vt:lpstr>
      <vt:lpstr>IP特殊地址</vt:lpstr>
      <vt:lpstr>子网划分</vt:lpstr>
      <vt:lpstr>子网划分</vt:lpstr>
      <vt:lpstr>无类域间路由</vt:lpstr>
      <vt:lpstr>最长前缀匹配</vt:lpstr>
      <vt:lpstr>最长前缀匹配</vt:lpstr>
      <vt:lpstr>IP包转发</vt:lpstr>
      <vt:lpstr>IP包转发</vt:lpstr>
      <vt:lpstr>IPv4地址如何获取</vt:lpstr>
      <vt:lpstr>DHCP动态主机配置协议</vt:lpstr>
      <vt:lpstr>DHCP 工作过程</vt:lpstr>
      <vt:lpstr>DHCP 工作过程式</vt:lpstr>
      <vt:lpstr>DHCP 工作过程</vt:lpstr>
      <vt:lpstr>DHCP 完整工作过程</vt:lpstr>
      <vt:lpstr>IP 与 MAC地址</vt:lpstr>
      <vt:lpstr>ARP地址解析协议</vt:lpstr>
      <vt:lpstr>ARP地址解析协议</vt:lpstr>
      <vt:lpstr>ARP协议工作过程</vt:lpstr>
      <vt:lpstr>路由到另一个局域网</vt:lpstr>
      <vt:lpstr>网络地址转换</vt:lpstr>
      <vt:lpstr>NAT工作机制</vt:lpstr>
      <vt:lpstr>NAT工作机制</vt:lpstr>
      <vt:lpstr>NAT工作机制</vt:lpstr>
      <vt:lpstr>网络地址转换</vt:lpstr>
      <vt:lpstr>ICMP协议</vt:lpstr>
      <vt:lpstr>PowerPoint 演示文稿</vt:lpstr>
      <vt:lpstr>ICMP报文类型及功能</vt:lpstr>
      <vt:lpstr>差错报告报文</vt:lpstr>
      <vt:lpstr>Ping和ICMP</vt:lpstr>
      <vt:lpstr>Traceroute和ICMP</vt:lpstr>
      <vt:lpstr>Traceroute和ICMP</vt:lpstr>
      <vt:lpstr>本章内容</vt:lpstr>
      <vt:lpstr>OSPF-概述</vt:lpstr>
      <vt:lpstr>OSPF-链路状态</vt:lpstr>
      <vt:lpstr>OSPF-五种报文</vt:lpstr>
      <vt:lpstr>OSPF-邻居状态机</vt:lpstr>
      <vt:lpstr>OSPF-报文交互</vt:lpstr>
      <vt:lpstr>OSPF-报文交互</vt:lpstr>
      <vt:lpstr>OSPF-区域的概念</vt:lpstr>
      <vt:lpstr>OSPF-区域的概念</vt:lpstr>
      <vt:lpstr>OSPF-报文格式</vt:lpstr>
      <vt:lpstr>OSPF-报文格式</vt:lpstr>
      <vt:lpstr>OSPF-小结</vt:lpstr>
      <vt:lpstr>RIP-概述</vt:lpstr>
      <vt:lpstr>RIP-工作过程</vt:lpstr>
      <vt:lpstr>RIP-工作过程</vt:lpstr>
      <vt:lpstr>RIP-报文格式(V2)</vt:lpstr>
      <vt:lpstr>RIP-报文格式</vt:lpstr>
      <vt:lpstr>RIP-小结</vt:lpstr>
      <vt:lpstr>BGP-外部网关路由协议</vt:lpstr>
      <vt:lpstr>eBGP&amp;iBGP连接</vt:lpstr>
      <vt:lpstr>BGP基础</vt:lpstr>
      <vt:lpstr>BGP路径通告</vt:lpstr>
      <vt:lpstr>BGP路径通告</vt:lpstr>
      <vt:lpstr>BGP协议的特点</vt:lpstr>
      <vt:lpstr>BGP报文</vt:lpstr>
      <vt:lpstr>BGP路径属性</vt:lpstr>
      <vt:lpstr>BGP 路由选择</vt:lpstr>
      <vt:lpstr>BGP路由策略</vt:lpstr>
      <vt:lpstr>BGP路由策略</vt:lpstr>
      <vt:lpstr>BGP配置实例</vt:lpstr>
      <vt:lpstr>标签交换和MPLS-概述</vt:lpstr>
      <vt:lpstr>标签交换和MPLS</vt:lpstr>
      <vt:lpstr>标签交换和MPLS-工作过程</vt:lpstr>
      <vt:lpstr>标签交换和MPLS-标签</vt:lpstr>
      <vt:lpstr>标签交换和MPLS-转发等价类</vt:lpstr>
      <vt:lpstr>标签交换和MPLS-报文结构</vt:lpstr>
      <vt:lpstr>标签交换和MPLS-应用</vt:lpstr>
      <vt:lpstr>标签交换和MPLS-应用</vt:lpstr>
      <vt:lpstr>本章内容</vt:lpstr>
      <vt:lpstr>路由器概述</vt:lpstr>
      <vt:lpstr>路由器控制层</vt:lpstr>
      <vt:lpstr>路由器控制层</vt:lpstr>
      <vt:lpstr>路由器数据层</vt:lpstr>
      <vt:lpstr>路由器数据层</vt:lpstr>
      <vt:lpstr>3种典型的交换结构</vt:lpstr>
      <vt:lpstr>路由器扩展知识</vt:lpstr>
      <vt:lpstr>本章内容</vt:lpstr>
      <vt:lpstr>IPv6协议</vt:lpstr>
      <vt:lpstr>IPv6头部</vt:lpstr>
      <vt:lpstr>IPv6头部</vt:lpstr>
      <vt:lpstr>IPv6头部字段分析</vt:lpstr>
      <vt:lpstr>IPv6扩展头</vt:lpstr>
      <vt:lpstr>邻居发现</vt:lpstr>
      <vt:lpstr>IPv6地址及配置</vt:lpstr>
      <vt:lpstr>IPv6路由协议</vt:lpstr>
      <vt:lpstr>IPv4到IPv6迁移及过渡技术</vt:lpstr>
      <vt:lpstr>隧道技术</vt:lpstr>
      <vt:lpstr>隧道技术</vt:lpstr>
      <vt:lpstr>隧道配置(参考华三交换机)</vt:lpstr>
      <vt:lpstr>IPv4/IPv6翻译</vt:lpstr>
      <vt:lpstr>IPv4/IPv6翻译的问题</vt:lpstr>
      <vt:lpstr>SR背景：IP/MPLS遇到瓶颈</vt:lpstr>
      <vt:lpstr>SR背景：追求更高的FRR覆盖率</vt:lpstr>
      <vt:lpstr>SR背景：经典SDN遇到扩展性问题</vt:lpstr>
      <vt:lpstr>SR原理：源路由技术</vt:lpstr>
      <vt:lpstr>SRv6原理：SRv6 段ID</vt:lpstr>
      <vt:lpstr>SRv6原理：SRv6 报文格式</vt:lpstr>
      <vt:lpstr>SRv6原理：SRv6 网络编程</vt:lpstr>
      <vt:lpstr>SRv6原理：SRv6 转发</vt:lpstr>
      <vt:lpstr>SRv6原理：SRv6 转发</vt:lpstr>
      <vt:lpstr>SRv6原理：SRv6 转发</vt:lpstr>
      <vt:lpstr>SRv6原理：SRv6 转发</vt:lpstr>
      <vt:lpstr>SRv6原理：SRv6 转发</vt:lpstr>
      <vt:lpstr>SRv6应用：Native IPv6能力</vt:lpstr>
      <vt:lpstr>SRv6应用：路径编程</vt:lpstr>
      <vt:lpstr>本章内容</vt:lpstr>
      <vt:lpstr>三层交换的技术背景</vt:lpstr>
      <vt:lpstr>三层交换的技术背景</vt:lpstr>
      <vt:lpstr>三层交换的技术背景</vt:lpstr>
      <vt:lpstr>三层交换的技术背景</vt:lpstr>
      <vt:lpstr>三层交换的技术背景</vt:lpstr>
      <vt:lpstr>三层交换的技术背景</vt:lpstr>
      <vt:lpstr>三层交换的技术背景</vt:lpstr>
      <vt:lpstr>三层交换的技术背景</vt:lpstr>
      <vt:lpstr>三层交换的动机</vt:lpstr>
      <vt:lpstr>三层交换的动机</vt:lpstr>
      <vt:lpstr>三层交换机的工作原理</vt:lpstr>
      <vt:lpstr>三层交换机与路由器的比较</vt:lpstr>
      <vt:lpstr>三层交换机与路由器的比较</vt:lpstr>
      <vt:lpstr>三层交换机与路由器的比较</vt:lpstr>
      <vt:lpstr>三层交换机与路由器的比较</vt:lpstr>
      <vt:lpstr>三层交换机与路由器的比较</vt:lpstr>
      <vt:lpstr>VPN的技术背景</vt:lpstr>
      <vt:lpstr>VPN的原理</vt:lpstr>
      <vt:lpstr>VPN的原理</vt:lpstr>
      <vt:lpstr>VPN的原理</vt:lpstr>
      <vt:lpstr>VPN的实现方式</vt:lpstr>
      <vt:lpstr>VPN的实现方式</vt:lpstr>
      <vt:lpstr>VPN的实现方式</vt:lpstr>
      <vt:lpstr>VPN的分类</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Yong Cui</dc:creator>
  <cp:lastModifiedBy>豪宇 胡</cp:lastModifiedBy>
  <cp:revision>1099</cp:revision>
  <dcterms:created xsi:type="dcterms:W3CDTF">2021-01-06T05:35:51Z</dcterms:created>
  <dcterms:modified xsi:type="dcterms:W3CDTF">2025-11-30T13:51:00Z</dcterms:modified>
</cp:coreProperties>
</file>